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gif" ContentType="image/gif"/>
  <Default Extension="emf" ContentType="image/x-emf"/>
  <Default Extension="jpeg" ContentType="image/jpeg"/>
  <Default Extension="JPG" ContentType="image/.jpg"/>
  <Default Extension="wmf" ContentType="image/x-w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56"/>
  </p:handoutMasterIdLst>
  <p:sldIdLst>
    <p:sldId id="938" r:id="rId3"/>
    <p:sldId id="1523" r:id="rId5"/>
    <p:sldId id="1524" r:id="rId6"/>
    <p:sldId id="1816" r:id="rId7"/>
    <p:sldId id="1805" r:id="rId8"/>
    <p:sldId id="1618" r:id="rId9"/>
    <p:sldId id="1806" r:id="rId10"/>
    <p:sldId id="1807" r:id="rId11"/>
    <p:sldId id="1808" r:id="rId12"/>
    <p:sldId id="1809" r:id="rId13"/>
    <p:sldId id="1810" r:id="rId14"/>
    <p:sldId id="1811" r:id="rId15"/>
    <p:sldId id="1812" r:id="rId16"/>
    <p:sldId id="1813" r:id="rId17"/>
    <p:sldId id="1814" r:id="rId18"/>
    <p:sldId id="1621" r:id="rId19"/>
    <p:sldId id="1622" r:id="rId20"/>
    <p:sldId id="1623" r:id="rId21"/>
    <p:sldId id="1624" r:id="rId22"/>
    <p:sldId id="1625" r:id="rId23"/>
    <p:sldId id="1626" r:id="rId24"/>
    <p:sldId id="1627" r:id="rId25"/>
    <p:sldId id="1628" r:id="rId26"/>
    <p:sldId id="1629" r:id="rId27"/>
    <p:sldId id="1630" r:id="rId28"/>
    <p:sldId id="1631" r:id="rId29"/>
    <p:sldId id="1525" r:id="rId30"/>
    <p:sldId id="1632" r:id="rId31"/>
    <p:sldId id="1633" r:id="rId32"/>
    <p:sldId id="1634" r:id="rId33"/>
    <p:sldId id="1635" r:id="rId34"/>
    <p:sldId id="1526" r:id="rId35"/>
    <p:sldId id="1636" r:id="rId36"/>
    <p:sldId id="1637" r:id="rId37"/>
    <p:sldId id="1527" r:id="rId38"/>
    <p:sldId id="1638" r:id="rId39"/>
    <p:sldId id="1639" r:id="rId40"/>
    <p:sldId id="1640" r:id="rId41"/>
    <p:sldId id="1641" r:id="rId42"/>
    <p:sldId id="1642" r:id="rId43"/>
    <p:sldId id="1643" r:id="rId44"/>
    <p:sldId id="1644" r:id="rId45"/>
    <p:sldId id="1645" r:id="rId46"/>
    <p:sldId id="1646" r:id="rId47"/>
    <p:sldId id="1647" r:id="rId48"/>
    <p:sldId id="1648" r:id="rId49"/>
    <p:sldId id="1649" r:id="rId50"/>
    <p:sldId id="1650" r:id="rId51"/>
    <p:sldId id="1651" r:id="rId52"/>
    <p:sldId id="1652" r:id="rId53"/>
    <p:sldId id="1704" r:id="rId54"/>
    <p:sldId id="1674" r:id="rId55"/>
    <p:sldId id="1675" r:id="rId56"/>
    <p:sldId id="1681" r:id="rId57"/>
    <p:sldId id="1682" r:id="rId58"/>
    <p:sldId id="1683" r:id="rId59"/>
    <p:sldId id="1684" r:id="rId60"/>
    <p:sldId id="1685" r:id="rId61"/>
    <p:sldId id="1686" r:id="rId62"/>
    <p:sldId id="1687" r:id="rId63"/>
    <p:sldId id="1688" r:id="rId64"/>
    <p:sldId id="1689" r:id="rId65"/>
    <p:sldId id="1690" r:id="rId66"/>
    <p:sldId id="1691" r:id="rId67"/>
    <p:sldId id="1692" r:id="rId68"/>
    <p:sldId id="1693" r:id="rId69"/>
    <p:sldId id="1694" r:id="rId70"/>
    <p:sldId id="1695" r:id="rId71"/>
    <p:sldId id="1696" r:id="rId72"/>
    <p:sldId id="1697" r:id="rId73"/>
    <p:sldId id="1698" r:id="rId74"/>
    <p:sldId id="1699" r:id="rId75"/>
    <p:sldId id="1700" r:id="rId76"/>
    <p:sldId id="1701" r:id="rId77"/>
    <p:sldId id="1702" r:id="rId78"/>
    <p:sldId id="1672" r:id="rId79"/>
    <p:sldId id="1529" r:id="rId80"/>
    <p:sldId id="1530" r:id="rId81"/>
    <p:sldId id="1531" r:id="rId82"/>
    <p:sldId id="1532" r:id="rId83"/>
    <p:sldId id="1655" r:id="rId84"/>
    <p:sldId id="1656" r:id="rId85"/>
    <p:sldId id="1657" r:id="rId86"/>
    <p:sldId id="1658" r:id="rId87"/>
    <p:sldId id="1659" r:id="rId88"/>
    <p:sldId id="1660" r:id="rId89"/>
    <p:sldId id="1661" r:id="rId90"/>
    <p:sldId id="1662" r:id="rId91"/>
    <p:sldId id="1663" r:id="rId92"/>
    <p:sldId id="1664" r:id="rId93"/>
    <p:sldId id="1665" r:id="rId94"/>
    <p:sldId id="1666" r:id="rId95"/>
    <p:sldId id="1667" r:id="rId96"/>
    <p:sldId id="1668" r:id="rId97"/>
    <p:sldId id="1669" r:id="rId98"/>
    <p:sldId id="1670" r:id="rId99"/>
    <p:sldId id="1562" r:id="rId100"/>
    <p:sldId id="1564" r:id="rId101"/>
    <p:sldId id="1565" r:id="rId102"/>
    <p:sldId id="1566" r:id="rId103"/>
    <p:sldId id="1567" r:id="rId104"/>
    <p:sldId id="1568" r:id="rId105"/>
    <p:sldId id="1569" r:id="rId106"/>
    <p:sldId id="1570" r:id="rId107"/>
    <p:sldId id="1571" r:id="rId108"/>
    <p:sldId id="1572" r:id="rId109"/>
    <p:sldId id="1573" r:id="rId110"/>
    <p:sldId id="1574" r:id="rId111"/>
    <p:sldId id="1817" r:id="rId112"/>
    <p:sldId id="1575" r:id="rId113"/>
    <p:sldId id="1576" r:id="rId114"/>
    <p:sldId id="1577" r:id="rId115"/>
    <p:sldId id="1578" r:id="rId116"/>
    <p:sldId id="1579" r:id="rId117"/>
    <p:sldId id="1580" r:id="rId118"/>
    <p:sldId id="1581" r:id="rId119"/>
    <p:sldId id="1582" r:id="rId120"/>
    <p:sldId id="1583" r:id="rId121"/>
    <p:sldId id="1584" r:id="rId122"/>
    <p:sldId id="1585" r:id="rId123"/>
    <p:sldId id="1586" r:id="rId124"/>
    <p:sldId id="1587" r:id="rId125"/>
    <p:sldId id="1588" r:id="rId126"/>
    <p:sldId id="1589" r:id="rId127"/>
    <p:sldId id="1590" r:id="rId128"/>
    <p:sldId id="1591" r:id="rId129"/>
    <p:sldId id="1592" r:id="rId130"/>
    <p:sldId id="1593" r:id="rId131"/>
    <p:sldId id="1594" r:id="rId132"/>
    <p:sldId id="1595" r:id="rId133"/>
    <p:sldId id="1596" r:id="rId134"/>
    <p:sldId id="1597" r:id="rId135"/>
    <p:sldId id="1598" r:id="rId136"/>
    <p:sldId id="1599" r:id="rId137"/>
    <p:sldId id="1600" r:id="rId138"/>
    <p:sldId id="1601" r:id="rId139"/>
    <p:sldId id="1602" r:id="rId140"/>
    <p:sldId id="1603" r:id="rId141"/>
    <p:sldId id="1604" r:id="rId142"/>
    <p:sldId id="1605" r:id="rId143"/>
    <p:sldId id="1606" r:id="rId144"/>
    <p:sldId id="1607" r:id="rId145"/>
    <p:sldId id="1608" r:id="rId146"/>
    <p:sldId id="1609" r:id="rId147"/>
    <p:sldId id="1610" r:id="rId148"/>
    <p:sldId id="1611" r:id="rId149"/>
    <p:sldId id="1612" r:id="rId150"/>
    <p:sldId id="1613" r:id="rId151"/>
    <p:sldId id="1614" r:id="rId152"/>
    <p:sldId id="1615" r:id="rId153"/>
    <p:sldId id="1616" r:id="rId154"/>
    <p:sldId id="1052" r:id="rId155"/>
  </p:sldIdLst>
  <p:sldSz cx="9144000" cy="5143500" type="screen16x9"/>
  <p:notesSz cx="6858000" cy="9144000"/>
  <p:custDataLst>
    <p:tags r:id="rId16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42"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70938" autoAdjust="0"/>
  </p:normalViewPr>
  <p:slideViewPr>
    <p:cSldViewPr snapToGrid="0" showGuides="1">
      <p:cViewPr varScale="1">
        <p:scale>
          <a:sx n="108" d="100"/>
          <a:sy n="108" d="100"/>
        </p:scale>
        <p:origin x="1452" y="72"/>
      </p:cViewPr>
      <p:guideLst>
        <p:guide orient="horz" pos="1642"/>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1" d="100"/>
          <a:sy n="51" d="100"/>
        </p:scale>
        <p:origin x="776" y="5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0" Type="http://schemas.openxmlformats.org/officeDocument/2006/relationships/tags" Target="tags/tag24.xml"/><Relationship Id="rId16" Type="http://schemas.openxmlformats.org/officeDocument/2006/relationships/slide" Target="slides/slide13.xml"/><Relationship Id="rId159" Type="http://schemas.openxmlformats.org/officeDocument/2006/relationships/tableStyles" Target="tableStyles.xml"/><Relationship Id="rId158" Type="http://schemas.openxmlformats.org/officeDocument/2006/relationships/viewProps" Target="viewProps.xml"/><Relationship Id="rId157" Type="http://schemas.openxmlformats.org/officeDocument/2006/relationships/presProps" Target="presProps.xml"/><Relationship Id="rId156" Type="http://schemas.openxmlformats.org/officeDocument/2006/relationships/handoutMaster" Target="handoutMasters/handoutMaster1.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2_5#2">
  <dgm:title val=""/>
  <dgm:desc val=""/>
  <dgm:catLst>
    <dgm:cat type="accent2" pri="11500"/>
  </dgm:catLst>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B606B7D-B445-492A-9029-A938B6501506}" type="doc">
      <dgm:prSet loTypeId="urn:microsoft.com/office/officeart/2005/8/layout/chevron2" loCatId="list" qsTypeId="urn:microsoft.com/office/officeart/2005/8/quickstyle/3d1#3" qsCatId="3D" csTypeId="urn:microsoft.com/office/officeart/2005/8/colors/accent2_5#2" csCatId="accent2" phldr="1"/>
      <dgm:spPr/>
      <dgm:t>
        <a:bodyPr/>
        <a:lstStyle/>
        <a:p>
          <a:endParaRPr lang="zh-CN" altLang="en-US"/>
        </a:p>
      </dgm:t>
    </dgm:pt>
    <dgm:pt modelId="{3DC85149-B769-4876-9FE2-BC1762CFB37C}">
      <dgm:prSet phldrT="[文本]" custT="1"/>
      <dgm:spPr/>
      <dgm:t>
        <a:bodyPr/>
        <a:lstStyle/>
        <a:p>
          <a:endParaRPr lang="zh-CN" altLang="en-US" sz="1800" dirty="0">
            <a:latin typeface="+mj-ea"/>
            <a:ea typeface="+mj-ea"/>
          </a:endParaRPr>
        </a:p>
      </dgm:t>
    </dgm:pt>
    <dgm:pt modelId="{B8E5C93D-F663-4696-B44F-DDB57EB86D0E}" cxnId="{62A6BA5D-81C3-4DC0-ABAB-6FBC63B53FB5}" type="parTrans">
      <dgm:prSet/>
      <dgm:spPr/>
      <dgm:t>
        <a:bodyPr/>
        <a:lstStyle/>
        <a:p>
          <a:endParaRPr lang="zh-CN" altLang="en-US" sz="2000">
            <a:latin typeface="+mj-ea"/>
            <a:ea typeface="+mj-ea"/>
          </a:endParaRPr>
        </a:p>
      </dgm:t>
    </dgm:pt>
    <dgm:pt modelId="{8E7184A3-2200-46DD-B236-8042E18ECF06}" cxnId="{62A6BA5D-81C3-4DC0-ABAB-6FBC63B53FB5}" type="sibTrans">
      <dgm:prSet/>
      <dgm:spPr/>
      <dgm:t>
        <a:bodyPr/>
        <a:lstStyle/>
        <a:p>
          <a:endParaRPr lang="zh-CN" altLang="en-US" sz="2000">
            <a:latin typeface="+mj-ea"/>
            <a:ea typeface="+mj-ea"/>
          </a:endParaRPr>
        </a:p>
      </dgm:t>
    </dgm:pt>
    <dgm:pt modelId="{EF8B2495-E13A-4BDF-AF16-EF824CFDD26F}">
      <dgm:prSet phldrT="[文本]" custT="1"/>
      <dgm:spPr/>
      <dgm:t>
        <a:bodyPr/>
        <a:lstStyle/>
        <a:p>
          <a:r>
            <a:rPr lang="zh-CN" altLang="en-US" sz="1800" b="1" dirty="0">
              <a:solidFill>
                <a:srgbClr val="0070C0"/>
              </a:solidFill>
              <a:latin typeface="+mj-ea"/>
              <a:ea typeface="+mj-ea"/>
            </a:rPr>
            <a:t>可行：</a:t>
          </a:r>
          <a:r>
            <a:rPr lang="zh-CN" altLang="en-US" sz="1800" dirty="0">
              <a:latin typeface="+mj-ea"/>
              <a:ea typeface="+mj-ea"/>
            </a:rPr>
            <a:t>可以按计划进行软件项目的开发。</a:t>
          </a:r>
        </a:p>
      </dgm:t>
    </dgm:pt>
    <dgm:pt modelId="{54F46BCC-DCEF-4299-8F24-B6E892461243}" cxnId="{F63D12B2-500A-4270-BC9A-275A7C49A038}" type="parTrans">
      <dgm:prSet/>
      <dgm:spPr/>
      <dgm:t>
        <a:bodyPr/>
        <a:lstStyle/>
        <a:p>
          <a:endParaRPr lang="zh-CN" altLang="en-US" sz="2000">
            <a:latin typeface="+mj-ea"/>
            <a:ea typeface="+mj-ea"/>
          </a:endParaRPr>
        </a:p>
      </dgm:t>
    </dgm:pt>
    <dgm:pt modelId="{92E41831-27DC-41AE-99D8-F6D021328B09}" cxnId="{F63D12B2-500A-4270-BC9A-275A7C49A038}" type="sibTrans">
      <dgm:prSet/>
      <dgm:spPr/>
      <dgm:t>
        <a:bodyPr/>
        <a:lstStyle/>
        <a:p>
          <a:endParaRPr lang="zh-CN" altLang="en-US" sz="2000">
            <a:latin typeface="+mj-ea"/>
            <a:ea typeface="+mj-ea"/>
          </a:endParaRPr>
        </a:p>
      </dgm:t>
    </dgm:pt>
    <dgm:pt modelId="{093B32BC-DD9D-4B44-A4EE-18DEB321DF08}">
      <dgm:prSet phldrT="[文本]" custT="1"/>
      <dgm:spPr/>
      <dgm:t>
        <a:bodyPr/>
        <a:lstStyle/>
        <a:p>
          <a:endParaRPr lang="zh-CN" altLang="en-US" sz="1800" dirty="0">
            <a:latin typeface="+mj-ea"/>
            <a:ea typeface="+mj-ea"/>
          </a:endParaRPr>
        </a:p>
      </dgm:t>
    </dgm:pt>
    <dgm:pt modelId="{379985BC-D729-4C86-A02B-F053A9960375}" cxnId="{C204D57B-3D4B-4E08-8AD0-92027591536D}" type="parTrans">
      <dgm:prSet/>
      <dgm:spPr/>
      <dgm:t>
        <a:bodyPr/>
        <a:lstStyle/>
        <a:p>
          <a:endParaRPr lang="zh-CN" altLang="en-US" sz="2000">
            <a:latin typeface="+mj-ea"/>
            <a:ea typeface="+mj-ea"/>
          </a:endParaRPr>
        </a:p>
      </dgm:t>
    </dgm:pt>
    <dgm:pt modelId="{720ED0FA-AEF8-4808-8BD9-68CBD6113A4D}" cxnId="{C204D57B-3D4B-4E08-8AD0-92027591536D}" type="sibTrans">
      <dgm:prSet/>
      <dgm:spPr/>
      <dgm:t>
        <a:bodyPr/>
        <a:lstStyle/>
        <a:p>
          <a:endParaRPr lang="zh-CN" altLang="en-US" sz="2000">
            <a:latin typeface="+mj-ea"/>
            <a:ea typeface="+mj-ea"/>
          </a:endParaRPr>
        </a:p>
      </dgm:t>
    </dgm:pt>
    <dgm:pt modelId="{88CDC233-2B0F-4489-B799-E2755E05B21C}">
      <dgm:prSet phldrT="[文本]" custT="1"/>
      <dgm:spPr/>
      <dgm:t>
        <a:bodyPr/>
        <a:lstStyle/>
        <a:p>
          <a:r>
            <a:rPr lang="zh-CN" altLang="en-US" sz="1800" b="1" dirty="0">
              <a:solidFill>
                <a:srgbClr val="0070C0"/>
              </a:solidFill>
              <a:latin typeface="+mj-ea"/>
              <a:ea typeface="+mj-ea"/>
            </a:rPr>
            <a:t>基本可行：</a:t>
          </a:r>
          <a:r>
            <a:rPr lang="zh-CN" altLang="en-US" sz="1800" dirty="0">
              <a:latin typeface="+mj-ea"/>
              <a:ea typeface="+mj-ea"/>
            </a:rPr>
            <a:t>需要解决某些存在的问题或者需要对现有的解决方案进行一些调整或改善后才能进行软件项目的开发。</a:t>
          </a:r>
        </a:p>
      </dgm:t>
    </dgm:pt>
    <dgm:pt modelId="{5406BFD0-7BF0-4556-A312-256F1C40E3C4}" cxnId="{28D8E3AB-DD3E-4EDC-87B9-6D0E7424042B}" type="parTrans">
      <dgm:prSet/>
      <dgm:spPr/>
      <dgm:t>
        <a:bodyPr/>
        <a:lstStyle/>
        <a:p>
          <a:endParaRPr lang="zh-CN" altLang="en-US" sz="2000">
            <a:latin typeface="+mj-ea"/>
            <a:ea typeface="+mj-ea"/>
          </a:endParaRPr>
        </a:p>
      </dgm:t>
    </dgm:pt>
    <dgm:pt modelId="{4783D330-7B69-4DA8-B698-7C57A0AA2E9A}" cxnId="{28D8E3AB-DD3E-4EDC-87B9-6D0E7424042B}" type="sibTrans">
      <dgm:prSet/>
      <dgm:spPr/>
      <dgm:t>
        <a:bodyPr/>
        <a:lstStyle/>
        <a:p>
          <a:endParaRPr lang="zh-CN" altLang="en-US" sz="2000">
            <a:latin typeface="+mj-ea"/>
            <a:ea typeface="+mj-ea"/>
          </a:endParaRPr>
        </a:p>
      </dgm:t>
    </dgm:pt>
    <dgm:pt modelId="{5F1B73DC-1E25-4883-A0DC-F202655D74D4}">
      <dgm:prSet phldrT="[文本]" custT="1"/>
      <dgm:spPr/>
      <dgm:t>
        <a:bodyPr/>
        <a:lstStyle/>
        <a:p>
          <a:endParaRPr lang="zh-CN" altLang="en-US" sz="1800" dirty="0">
            <a:latin typeface="+mj-ea"/>
            <a:ea typeface="+mj-ea"/>
          </a:endParaRPr>
        </a:p>
      </dgm:t>
    </dgm:pt>
    <dgm:pt modelId="{5D5AC7D1-B4BE-4B37-91E8-CB5E5AE2AD5B}" cxnId="{33D1E19D-908F-4263-AC8E-457AAA6A51D7}" type="parTrans">
      <dgm:prSet/>
      <dgm:spPr/>
      <dgm:t>
        <a:bodyPr/>
        <a:lstStyle/>
        <a:p>
          <a:endParaRPr lang="zh-CN" altLang="en-US" sz="2000">
            <a:latin typeface="+mj-ea"/>
            <a:ea typeface="+mj-ea"/>
          </a:endParaRPr>
        </a:p>
      </dgm:t>
    </dgm:pt>
    <dgm:pt modelId="{0F84918A-DDAA-4226-9EDD-5B69944BE057}" cxnId="{33D1E19D-908F-4263-AC8E-457AAA6A51D7}" type="sibTrans">
      <dgm:prSet/>
      <dgm:spPr/>
      <dgm:t>
        <a:bodyPr/>
        <a:lstStyle/>
        <a:p>
          <a:endParaRPr lang="zh-CN" altLang="en-US" sz="2000">
            <a:latin typeface="+mj-ea"/>
            <a:ea typeface="+mj-ea"/>
          </a:endParaRPr>
        </a:p>
      </dgm:t>
    </dgm:pt>
    <dgm:pt modelId="{8C2B3F05-7913-43D2-B66E-88F78B25F20C}">
      <dgm:prSet phldrT="[文本]" custT="1"/>
      <dgm:spPr/>
      <dgm:t>
        <a:bodyPr/>
        <a:lstStyle/>
        <a:p>
          <a:r>
            <a:rPr lang="zh-CN" altLang="en-US" sz="1800" b="1" dirty="0">
              <a:solidFill>
                <a:srgbClr val="0070C0"/>
              </a:solidFill>
              <a:latin typeface="+mj-ea"/>
              <a:ea typeface="+mj-ea"/>
            </a:rPr>
            <a:t>不可行：</a:t>
          </a:r>
          <a:r>
            <a:rPr lang="zh-CN" altLang="en-US" sz="1800" dirty="0">
              <a:latin typeface="+mj-ea"/>
              <a:ea typeface="+mj-ea"/>
            </a:rPr>
            <a:t>待开发的软件项目不具有可行性，立即停止该软件项目。</a:t>
          </a:r>
        </a:p>
      </dgm:t>
    </dgm:pt>
    <dgm:pt modelId="{2BCCFFCA-9153-47D1-9E7A-1E395B1FD410}" cxnId="{2D31A435-FD4C-4C2F-8A11-B9E9A04AD56C}" type="parTrans">
      <dgm:prSet/>
      <dgm:spPr/>
      <dgm:t>
        <a:bodyPr/>
        <a:lstStyle/>
        <a:p>
          <a:endParaRPr lang="zh-CN" altLang="en-US" sz="2000">
            <a:latin typeface="+mj-ea"/>
            <a:ea typeface="+mj-ea"/>
          </a:endParaRPr>
        </a:p>
      </dgm:t>
    </dgm:pt>
    <dgm:pt modelId="{1D8ADF4B-04E6-4BC2-BC69-1B1A01E538B8}" cxnId="{2D31A435-FD4C-4C2F-8A11-B9E9A04AD56C}" type="sibTrans">
      <dgm:prSet/>
      <dgm:spPr/>
      <dgm:t>
        <a:bodyPr/>
        <a:lstStyle/>
        <a:p>
          <a:endParaRPr lang="zh-CN" altLang="en-US" sz="2000">
            <a:latin typeface="+mj-ea"/>
            <a:ea typeface="+mj-ea"/>
          </a:endParaRPr>
        </a:p>
      </dgm:t>
    </dgm:pt>
    <dgm:pt modelId="{B2384BCF-4AAE-4A21-BE13-F8D5586415CA}" type="pres">
      <dgm:prSet presAssocID="{5B606B7D-B445-492A-9029-A938B6501506}" presName="linearFlow" presStyleCnt="0">
        <dgm:presLayoutVars>
          <dgm:dir/>
          <dgm:animLvl val="lvl"/>
          <dgm:resizeHandles val="exact"/>
        </dgm:presLayoutVars>
      </dgm:prSet>
      <dgm:spPr/>
    </dgm:pt>
    <dgm:pt modelId="{708BCD1D-A15D-44A5-950D-16655A2F6081}" type="pres">
      <dgm:prSet presAssocID="{3DC85149-B769-4876-9FE2-BC1762CFB37C}" presName="composite" presStyleCnt="0"/>
      <dgm:spPr/>
    </dgm:pt>
    <dgm:pt modelId="{0B2BA9DD-75B8-4A4C-9076-2FA2ED24B653}" type="pres">
      <dgm:prSet presAssocID="{3DC85149-B769-4876-9FE2-BC1762CFB37C}" presName="parentText" presStyleLbl="alignNode1" presStyleIdx="0" presStyleCnt="3">
        <dgm:presLayoutVars>
          <dgm:chMax val="1"/>
          <dgm:bulletEnabled val="1"/>
        </dgm:presLayoutVars>
      </dgm:prSet>
      <dgm:spPr/>
    </dgm:pt>
    <dgm:pt modelId="{FDAE469C-A7A2-451E-A185-9924A6E281B8}" type="pres">
      <dgm:prSet presAssocID="{3DC85149-B769-4876-9FE2-BC1762CFB37C}" presName="descendantText" presStyleLbl="alignAcc1" presStyleIdx="0" presStyleCnt="3">
        <dgm:presLayoutVars>
          <dgm:bulletEnabled val="1"/>
        </dgm:presLayoutVars>
      </dgm:prSet>
      <dgm:spPr/>
    </dgm:pt>
    <dgm:pt modelId="{8076F408-67C7-4762-B41E-E2D37C3A8493}" type="pres">
      <dgm:prSet presAssocID="{8E7184A3-2200-46DD-B236-8042E18ECF06}" presName="sp" presStyleCnt="0"/>
      <dgm:spPr/>
    </dgm:pt>
    <dgm:pt modelId="{3607D92B-9BE8-4461-8905-11777FEFD334}" type="pres">
      <dgm:prSet presAssocID="{093B32BC-DD9D-4B44-A4EE-18DEB321DF08}" presName="composite" presStyleCnt="0"/>
      <dgm:spPr/>
    </dgm:pt>
    <dgm:pt modelId="{EA2BFCA6-9C6F-4571-BA72-8B76487DA343}" type="pres">
      <dgm:prSet presAssocID="{093B32BC-DD9D-4B44-A4EE-18DEB321DF08}" presName="parentText" presStyleLbl="alignNode1" presStyleIdx="1" presStyleCnt="3">
        <dgm:presLayoutVars>
          <dgm:chMax val="1"/>
          <dgm:bulletEnabled val="1"/>
        </dgm:presLayoutVars>
      </dgm:prSet>
      <dgm:spPr/>
    </dgm:pt>
    <dgm:pt modelId="{7D8B12BA-536E-4908-8AF0-59C224ADC622}" type="pres">
      <dgm:prSet presAssocID="{093B32BC-DD9D-4B44-A4EE-18DEB321DF08}" presName="descendantText" presStyleLbl="alignAcc1" presStyleIdx="1" presStyleCnt="3">
        <dgm:presLayoutVars>
          <dgm:bulletEnabled val="1"/>
        </dgm:presLayoutVars>
      </dgm:prSet>
      <dgm:spPr/>
    </dgm:pt>
    <dgm:pt modelId="{11B45E21-62C9-4810-8275-818312669368}" type="pres">
      <dgm:prSet presAssocID="{720ED0FA-AEF8-4808-8BD9-68CBD6113A4D}" presName="sp" presStyleCnt="0"/>
      <dgm:spPr/>
    </dgm:pt>
    <dgm:pt modelId="{C9473796-C7DA-4A14-B533-DEC19D93E62A}" type="pres">
      <dgm:prSet presAssocID="{5F1B73DC-1E25-4883-A0DC-F202655D74D4}" presName="composite" presStyleCnt="0"/>
      <dgm:spPr/>
    </dgm:pt>
    <dgm:pt modelId="{92105A84-0DE4-47B4-996C-54E1D7147948}" type="pres">
      <dgm:prSet presAssocID="{5F1B73DC-1E25-4883-A0DC-F202655D74D4}" presName="parentText" presStyleLbl="alignNode1" presStyleIdx="2" presStyleCnt="3">
        <dgm:presLayoutVars>
          <dgm:chMax val="1"/>
          <dgm:bulletEnabled val="1"/>
        </dgm:presLayoutVars>
      </dgm:prSet>
      <dgm:spPr/>
    </dgm:pt>
    <dgm:pt modelId="{960C9326-FA81-40C4-AABD-1602FC4707F2}" type="pres">
      <dgm:prSet presAssocID="{5F1B73DC-1E25-4883-A0DC-F202655D74D4}" presName="descendantText" presStyleLbl="alignAcc1" presStyleIdx="2" presStyleCnt="3">
        <dgm:presLayoutVars>
          <dgm:bulletEnabled val="1"/>
        </dgm:presLayoutVars>
      </dgm:prSet>
      <dgm:spPr/>
    </dgm:pt>
  </dgm:ptLst>
  <dgm:cxnLst>
    <dgm:cxn modelId="{BBC21C1C-1936-419C-8C1F-A2AEF726BB62}" type="presOf" srcId="{8C2B3F05-7913-43D2-B66E-88F78B25F20C}" destId="{960C9326-FA81-40C4-AABD-1602FC4707F2}" srcOrd="0" destOrd="0" presId="urn:microsoft.com/office/officeart/2005/8/layout/chevron2"/>
    <dgm:cxn modelId="{2D31A435-FD4C-4C2F-8A11-B9E9A04AD56C}" srcId="{5F1B73DC-1E25-4883-A0DC-F202655D74D4}" destId="{8C2B3F05-7913-43D2-B66E-88F78B25F20C}" srcOrd="0" destOrd="0" parTransId="{2BCCFFCA-9153-47D1-9E7A-1E395B1FD410}" sibTransId="{1D8ADF4B-04E6-4BC2-BC69-1B1A01E538B8}"/>
    <dgm:cxn modelId="{62A6BA5D-81C3-4DC0-ABAB-6FBC63B53FB5}" srcId="{5B606B7D-B445-492A-9029-A938B6501506}" destId="{3DC85149-B769-4876-9FE2-BC1762CFB37C}" srcOrd="0" destOrd="0" parTransId="{B8E5C93D-F663-4696-B44F-DDB57EB86D0E}" sibTransId="{8E7184A3-2200-46DD-B236-8042E18ECF06}"/>
    <dgm:cxn modelId="{8D5BF861-77FD-4437-B11D-68589C4CA64C}" type="presOf" srcId="{EF8B2495-E13A-4BDF-AF16-EF824CFDD26F}" destId="{FDAE469C-A7A2-451E-A185-9924A6E281B8}" srcOrd="0" destOrd="0" presId="urn:microsoft.com/office/officeart/2005/8/layout/chevron2"/>
    <dgm:cxn modelId="{A1028C42-526E-423D-8BC6-26249EB544AA}" type="presOf" srcId="{3DC85149-B769-4876-9FE2-BC1762CFB37C}" destId="{0B2BA9DD-75B8-4A4C-9076-2FA2ED24B653}" srcOrd="0" destOrd="0" presId="urn:microsoft.com/office/officeart/2005/8/layout/chevron2"/>
    <dgm:cxn modelId="{7F22366A-4E4E-4F22-9256-99C56FB26D6F}" type="presOf" srcId="{5B606B7D-B445-492A-9029-A938B6501506}" destId="{B2384BCF-4AAE-4A21-BE13-F8D5586415CA}" srcOrd="0" destOrd="0" presId="urn:microsoft.com/office/officeart/2005/8/layout/chevron2"/>
    <dgm:cxn modelId="{C204D57B-3D4B-4E08-8AD0-92027591536D}" srcId="{5B606B7D-B445-492A-9029-A938B6501506}" destId="{093B32BC-DD9D-4B44-A4EE-18DEB321DF08}" srcOrd="1" destOrd="0" parTransId="{379985BC-D729-4C86-A02B-F053A9960375}" sibTransId="{720ED0FA-AEF8-4808-8BD9-68CBD6113A4D}"/>
    <dgm:cxn modelId="{33D1E19D-908F-4263-AC8E-457AAA6A51D7}" srcId="{5B606B7D-B445-492A-9029-A938B6501506}" destId="{5F1B73DC-1E25-4883-A0DC-F202655D74D4}" srcOrd="2" destOrd="0" parTransId="{5D5AC7D1-B4BE-4B37-91E8-CB5E5AE2AD5B}" sibTransId="{0F84918A-DDAA-4226-9EDD-5B69944BE057}"/>
    <dgm:cxn modelId="{28D8E3AB-DD3E-4EDC-87B9-6D0E7424042B}" srcId="{093B32BC-DD9D-4B44-A4EE-18DEB321DF08}" destId="{88CDC233-2B0F-4489-B799-E2755E05B21C}" srcOrd="0" destOrd="0" parTransId="{5406BFD0-7BF0-4556-A312-256F1C40E3C4}" sibTransId="{4783D330-7B69-4DA8-B698-7C57A0AA2E9A}"/>
    <dgm:cxn modelId="{EAE5F3AC-8D57-4A99-B9B3-27F1B93FAA32}" type="presOf" srcId="{88CDC233-2B0F-4489-B799-E2755E05B21C}" destId="{7D8B12BA-536E-4908-8AF0-59C224ADC622}" srcOrd="0" destOrd="0" presId="urn:microsoft.com/office/officeart/2005/8/layout/chevron2"/>
    <dgm:cxn modelId="{F63D12B2-500A-4270-BC9A-275A7C49A038}" srcId="{3DC85149-B769-4876-9FE2-BC1762CFB37C}" destId="{EF8B2495-E13A-4BDF-AF16-EF824CFDD26F}" srcOrd="0" destOrd="0" parTransId="{54F46BCC-DCEF-4299-8F24-B6E892461243}" sibTransId="{92E41831-27DC-41AE-99D8-F6D021328B09}"/>
    <dgm:cxn modelId="{8F169ED7-3EEA-4703-9368-A6B0E7579C1E}" type="presOf" srcId="{5F1B73DC-1E25-4883-A0DC-F202655D74D4}" destId="{92105A84-0DE4-47B4-996C-54E1D7147948}" srcOrd="0" destOrd="0" presId="urn:microsoft.com/office/officeart/2005/8/layout/chevron2"/>
    <dgm:cxn modelId="{A28B92DD-9270-49BA-9699-5B3281D3CE86}" type="presOf" srcId="{093B32BC-DD9D-4B44-A4EE-18DEB321DF08}" destId="{EA2BFCA6-9C6F-4571-BA72-8B76487DA343}" srcOrd="0" destOrd="0" presId="urn:microsoft.com/office/officeart/2005/8/layout/chevron2"/>
    <dgm:cxn modelId="{D49C9912-ECE9-4646-8E0A-786BA8C15A03}" type="presParOf" srcId="{B2384BCF-4AAE-4A21-BE13-F8D5586415CA}" destId="{708BCD1D-A15D-44A5-950D-16655A2F6081}" srcOrd="0" destOrd="0" presId="urn:microsoft.com/office/officeart/2005/8/layout/chevron2"/>
    <dgm:cxn modelId="{C8866600-094F-47B2-8197-09924FB1CF4A}" type="presParOf" srcId="{708BCD1D-A15D-44A5-950D-16655A2F6081}" destId="{0B2BA9DD-75B8-4A4C-9076-2FA2ED24B653}" srcOrd="0" destOrd="0" presId="urn:microsoft.com/office/officeart/2005/8/layout/chevron2"/>
    <dgm:cxn modelId="{16EDEC5D-5F13-4ABD-8641-F1A91B4C417F}" type="presParOf" srcId="{708BCD1D-A15D-44A5-950D-16655A2F6081}" destId="{FDAE469C-A7A2-451E-A185-9924A6E281B8}" srcOrd="1" destOrd="0" presId="urn:microsoft.com/office/officeart/2005/8/layout/chevron2"/>
    <dgm:cxn modelId="{42D97101-EA42-4F4B-B1DC-C516CA74D67E}" type="presParOf" srcId="{B2384BCF-4AAE-4A21-BE13-F8D5586415CA}" destId="{8076F408-67C7-4762-B41E-E2D37C3A8493}" srcOrd="1" destOrd="0" presId="urn:microsoft.com/office/officeart/2005/8/layout/chevron2"/>
    <dgm:cxn modelId="{8AB9F598-842F-4497-ABE5-435771A10691}" type="presParOf" srcId="{B2384BCF-4AAE-4A21-BE13-F8D5586415CA}" destId="{3607D92B-9BE8-4461-8905-11777FEFD334}" srcOrd="2" destOrd="0" presId="urn:microsoft.com/office/officeart/2005/8/layout/chevron2"/>
    <dgm:cxn modelId="{CB9A038C-A21D-4D9E-A748-5CD9F6C137E5}" type="presParOf" srcId="{3607D92B-9BE8-4461-8905-11777FEFD334}" destId="{EA2BFCA6-9C6F-4571-BA72-8B76487DA343}" srcOrd="0" destOrd="0" presId="urn:microsoft.com/office/officeart/2005/8/layout/chevron2"/>
    <dgm:cxn modelId="{982BD2F5-B61C-44C7-95EB-6CE115FE16A3}" type="presParOf" srcId="{3607D92B-9BE8-4461-8905-11777FEFD334}" destId="{7D8B12BA-536E-4908-8AF0-59C224ADC622}" srcOrd="1" destOrd="0" presId="urn:microsoft.com/office/officeart/2005/8/layout/chevron2"/>
    <dgm:cxn modelId="{4F18138D-FF09-46FF-9D41-23DB62FC2AB0}" type="presParOf" srcId="{B2384BCF-4AAE-4A21-BE13-F8D5586415CA}" destId="{11B45E21-62C9-4810-8275-818312669368}" srcOrd="3" destOrd="0" presId="urn:microsoft.com/office/officeart/2005/8/layout/chevron2"/>
    <dgm:cxn modelId="{69E385F0-CEBB-42FD-88DD-B201DA85802B}" type="presParOf" srcId="{B2384BCF-4AAE-4A21-BE13-F8D5586415CA}" destId="{C9473796-C7DA-4A14-B533-DEC19D93E62A}" srcOrd="4" destOrd="0" presId="urn:microsoft.com/office/officeart/2005/8/layout/chevron2"/>
    <dgm:cxn modelId="{DA2DC07D-A4EA-4E31-A49F-E152A64E5D7C}" type="presParOf" srcId="{C9473796-C7DA-4A14-B533-DEC19D93E62A}" destId="{92105A84-0DE4-47B4-996C-54E1D7147948}" srcOrd="0" destOrd="0" presId="urn:microsoft.com/office/officeart/2005/8/layout/chevron2"/>
    <dgm:cxn modelId="{2281F8D0-9463-45EF-A4D9-98003ECE3A6D}" type="presParOf" srcId="{C9473796-C7DA-4A14-B533-DEC19D93E62A}" destId="{960C9326-FA81-40C4-AABD-1602FC4707F2}" srcOrd="1" destOrd="0" presId="urn:microsoft.com/office/officeart/2005/8/layout/chevron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7C81501-AEE1-4978-8236-2413A9018F80}" type="doc">
      <dgm:prSet loTypeId="urn:microsoft.com/office/officeart/2005/8/layout/hierarchy1" loCatId="hierarchy" qsTypeId="urn:microsoft.com/office/officeart/2005/8/quickstyle/3d1" qsCatId="3D" csTypeId="urn:microsoft.com/office/officeart/2005/8/colors/colorful4" csCatId="colorful" phldr="1"/>
      <dgm:spPr/>
      <dgm:t>
        <a:bodyPr/>
        <a:lstStyle/>
        <a:p>
          <a:endParaRPr lang="zh-CN" altLang="en-US"/>
        </a:p>
      </dgm:t>
    </dgm:pt>
    <dgm:pt modelId="{FB80F7A6-76CE-4371-8294-B317E4360993}">
      <dgm:prSet phldrT="[文本]" custT="1"/>
      <dgm:spPr/>
      <dgm:t>
        <a:bodyPr/>
        <a:lstStyle/>
        <a:p>
          <a:pPr algn="ctr"/>
          <a:r>
            <a:rPr lang="zh-CN" altLang="zh-CN" sz="1800" b="1" dirty="0" smtClean="0"/>
            <a:t>结构图</a:t>
          </a:r>
          <a:endParaRPr lang="en-US" altLang="zh-CN" sz="1800" b="1" dirty="0" smtClean="0"/>
        </a:p>
        <a:p>
          <a:pPr algn="ctr"/>
          <a:r>
            <a:rPr lang="zh-CN" altLang="en-US" sz="1800" b="1" dirty="0" smtClean="0"/>
            <a:t>（</a:t>
          </a:r>
          <a:r>
            <a:rPr lang="zh-CN" altLang="zh-CN" sz="1800" b="1" dirty="0" smtClean="0"/>
            <a:t>静态模型图</a:t>
          </a:r>
          <a:r>
            <a:rPr lang="zh-CN" altLang="en-US" sz="1800" b="1" dirty="0" smtClean="0"/>
            <a:t>）</a:t>
          </a:r>
          <a:endParaRPr lang="zh-CN" altLang="en-US" sz="1800" dirty="0"/>
        </a:p>
      </dgm:t>
    </dgm:pt>
    <dgm:pt modelId="{DDAD1373-17C4-49A8-AD5B-46F6B54D4BFE}" cxnId="{8A5EFECA-ADDD-4C40-860B-F9788508C394}" type="parTrans">
      <dgm:prSet/>
      <dgm:spPr/>
      <dgm:t>
        <a:bodyPr/>
        <a:lstStyle/>
        <a:p>
          <a:endParaRPr lang="zh-CN" altLang="en-US" sz="1800"/>
        </a:p>
      </dgm:t>
    </dgm:pt>
    <dgm:pt modelId="{C2039299-F49C-44CF-BA5F-8C9C73E0488B}" cxnId="{8A5EFECA-ADDD-4C40-860B-F9788508C394}" type="sibTrans">
      <dgm:prSet/>
      <dgm:spPr/>
      <dgm:t>
        <a:bodyPr/>
        <a:lstStyle/>
        <a:p>
          <a:endParaRPr lang="zh-CN" altLang="en-US" sz="1800"/>
        </a:p>
      </dgm:t>
    </dgm:pt>
    <dgm:pt modelId="{81EA7C87-011C-458E-8B0B-F152C45CE2D5}">
      <dgm:prSet phldrT="[文本]" custT="1"/>
      <dgm:spPr/>
      <dgm:t>
        <a:bodyPr/>
        <a:lstStyle/>
        <a:p>
          <a:r>
            <a:rPr lang="zh-CN" altLang="en-US" sz="1800" b="1" smtClean="0"/>
            <a:t>类图</a:t>
          </a:r>
          <a:endParaRPr lang="zh-CN" altLang="en-US" sz="1800" dirty="0"/>
        </a:p>
      </dgm:t>
    </dgm:pt>
    <dgm:pt modelId="{0CE6DE26-9E5A-45D1-B449-1B0F414F0891}" cxnId="{8B213B6B-4AB4-4408-B411-0BB3A1C2F688}" type="parTrans">
      <dgm:prSet/>
      <dgm:spPr/>
      <dgm:t>
        <a:bodyPr/>
        <a:lstStyle/>
        <a:p>
          <a:endParaRPr lang="zh-CN" altLang="en-US" sz="1800"/>
        </a:p>
      </dgm:t>
    </dgm:pt>
    <dgm:pt modelId="{CCA831EF-AF83-4A96-BA7D-6501FFA127F6}" cxnId="{8B213B6B-4AB4-4408-B411-0BB3A1C2F688}" type="sibTrans">
      <dgm:prSet/>
      <dgm:spPr/>
      <dgm:t>
        <a:bodyPr/>
        <a:lstStyle/>
        <a:p>
          <a:endParaRPr lang="zh-CN" altLang="en-US" sz="1800"/>
        </a:p>
      </dgm:t>
    </dgm:pt>
    <dgm:pt modelId="{D8A4AA7B-F1B1-42A2-AEF8-E8593DDE3337}">
      <dgm:prSet phldrT="[文本]" custT="1"/>
      <dgm:spPr/>
      <dgm:t>
        <a:bodyPr/>
        <a:lstStyle/>
        <a:p>
          <a:r>
            <a:rPr lang="zh-CN" altLang="en-US" sz="1800" b="1" dirty="0" smtClean="0"/>
            <a:t>组织结构图</a:t>
          </a:r>
          <a:endParaRPr lang="zh-CN" altLang="en-US" sz="1800" dirty="0"/>
        </a:p>
      </dgm:t>
    </dgm:pt>
    <dgm:pt modelId="{1652C38F-BDBC-4CDF-BFD2-A68FA726E916}" cxnId="{56E0E0B4-99D0-45E4-AF5E-D11F58B6B0FE}" type="parTrans">
      <dgm:prSet/>
      <dgm:spPr/>
      <dgm:t>
        <a:bodyPr/>
        <a:lstStyle/>
        <a:p>
          <a:endParaRPr lang="zh-CN" altLang="en-US" sz="1800"/>
        </a:p>
      </dgm:t>
    </dgm:pt>
    <dgm:pt modelId="{C210B9A4-2ABA-455B-B704-7CA94CD14F74}" cxnId="{56E0E0B4-99D0-45E4-AF5E-D11F58B6B0FE}" type="sibTrans">
      <dgm:prSet/>
      <dgm:spPr/>
      <dgm:t>
        <a:bodyPr/>
        <a:lstStyle/>
        <a:p>
          <a:endParaRPr lang="zh-CN" altLang="en-US" sz="1800"/>
        </a:p>
      </dgm:t>
    </dgm:pt>
    <dgm:pt modelId="{A1557A60-0FDE-4621-BD3E-EB63A7EDB905}">
      <dgm:prSet custT="1"/>
      <dgm:spPr/>
      <dgm:t>
        <a:bodyPr/>
        <a:lstStyle/>
        <a:p>
          <a:r>
            <a:rPr lang="zh-CN" altLang="en-US" sz="1800" b="1" dirty="0" smtClean="0"/>
            <a:t>组件图</a:t>
          </a:r>
          <a:endParaRPr lang="zh-CN" altLang="en-US" sz="1800" dirty="0"/>
        </a:p>
      </dgm:t>
    </dgm:pt>
    <dgm:pt modelId="{4D8AFBA1-C23B-4B52-89DF-6192FFAB9D08}" cxnId="{FDBC11FC-8DEA-46DD-9B22-75D9219F701B}" type="parTrans">
      <dgm:prSet/>
      <dgm:spPr/>
      <dgm:t>
        <a:bodyPr/>
        <a:lstStyle/>
        <a:p>
          <a:endParaRPr lang="zh-CN" altLang="en-US" sz="1800"/>
        </a:p>
      </dgm:t>
    </dgm:pt>
    <dgm:pt modelId="{70B50CBD-C06E-4B0C-9B74-D293A36A70B4}" cxnId="{FDBC11FC-8DEA-46DD-9B22-75D9219F701B}" type="sibTrans">
      <dgm:prSet/>
      <dgm:spPr/>
      <dgm:t>
        <a:bodyPr/>
        <a:lstStyle/>
        <a:p>
          <a:endParaRPr lang="zh-CN" altLang="en-US" sz="1800"/>
        </a:p>
      </dgm:t>
    </dgm:pt>
    <dgm:pt modelId="{8C69848C-42EB-42B6-A6D4-50362C2F8D3F}">
      <dgm:prSet custT="1"/>
      <dgm:spPr/>
      <dgm:t>
        <a:bodyPr/>
        <a:lstStyle/>
        <a:p>
          <a:r>
            <a:rPr lang="zh-CN" altLang="en-US" sz="1800" b="1" smtClean="0"/>
            <a:t>部署图</a:t>
          </a:r>
          <a:endParaRPr lang="zh-CN" altLang="en-US" sz="1800"/>
        </a:p>
      </dgm:t>
    </dgm:pt>
    <dgm:pt modelId="{6929CEE4-3128-45CD-8A09-A7EB07FCC3EE}" cxnId="{E8D7977B-CD2D-4AB9-A53E-D70179AA4AA3}" type="parTrans">
      <dgm:prSet/>
      <dgm:spPr/>
      <dgm:t>
        <a:bodyPr/>
        <a:lstStyle/>
        <a:p>
          <a:endParaRPr lang="zh-CN" altLang="en-US" sz="1800"/>
        </a:p>
      </dgm:t>
    </dgm:pt>
    <dgm:pt modelId="{9CA74973-C222-4D4D-B6AD-619CCD52E491}" cxnId="{E8D7977B-CD2D-4AB9-A53E-D70179AA4AA3}" type="sibTrans">
      <dgm:prSet/>
      <dgm:spPr/>
      <dgm:t>
        <a:bodyPr/>
        <a:lstStyle/>
        <a:p>
          <a:endParaRPr lang="zh-CN" altLang="en-US" sz="1800"/>
        </a:p>
      </dgm:t>
    </dgm:pt>
    <dgm:pt modelId="{35910A76-42C9-42AF-9D7B-42143C194B91}">
      <dgm:prSet custT="1"/>
      <dgm:spPr/>
      <dgm:t>
        <a:bodyPr/>
        <a:lstStyle/>
        <a:p>
          <a:r>
            <a:rPr lang="zh-CN" altLang="en-US" sz="1800" b="1" smtClean="0"/>
            <a:t>对象图</a:t>
          </a:r>
          <a:endParaRPr lang="zh-CN" altLang="en-US" sz="1800"/>
        </a:p>
      </dgm:t>
    </dgm:pt>
    <dgm:pt modelId="{D0C91CD0-00B3-4932-BF59-12DAE0640D16}" cxnId="{E212C1A0-5D12-4B96-8635-001173212106}" type="parTrans">
      <dgm:prSet/>
      <dgm:spPr/>
      <dgm:t>
        <a:bodyPr/>
        <a:lstStyle/>
        <a:p>
          <a:endParaRPr lang="zh-CN" altLang="en-US" sz="1800"/>
        </a:p>
      </dgm:t>
    </dgm:pt>
    <dgm:pt modelId="{9A9D684B-0D78-4702-A560-D15423ECE4B3}" cxnId="{E212C1A0-5D12-4B96-8635-001173212106}" type="sibTrans">
      <dgm:prSet/>
      <dgm:spPr/>
      <dgm:t>
        <a:bodyPr/>
        <a:lstStyle/>
        <a:p>
          <a:endParaRPr lang="zh-CN" altLang="en-US" sz="1800"/>
        </a:p>
      </dgm:t>
    </dgm:pt>
    <dgm:pt modelId="{C7FA6166-7015-48C2-BA6A-59C5823970EF}">
      <dgm:prSet custT="1"/>
      <dgm:spPr/>
      <dgm:t>
        <a:bodyPr/>
        <a:lstStyle/>
        <a:p>
          <a:r>
            <a:rPr lang="zh-CN" altLang="en-US" sz="1800" b="1" dirty="0" smtClean="0"/>
            <a:t>包图</a:t>
          </a:r>
          <a:endParaRPr lang="zh-CN" altLang="en-US" sz="1800" dirty="0"/>
        </a:p>
      </dgm:t>
    </dgm:pt>
    <dgm:pt modelId="{9576551E-9A83-4EB0-B721-4010D487FB2E}" cxnId="{691B4F8C-6EFA-4209-A550-BF53159D186F}" type="parTrans">
      <dgm:prSet/>
      <dgm:spPr/>
      <dgm:t>
        <a:bodyPr/>
        <a:lstStyle/>
        <a:p>
          <a:endParaRPr lang="zh-CN" altLang="en-US" sz="1800"/>
        </a:p>
      </dgm:t>
    </dgm:pt>
    <dgm:pt modelId="{A156CC38-A218-4DEB-BE57-64BB352AFBD7}" cxnId="{691B4F8C-6EFA-4209-A550-BF53159D186F}" type="sibTrans">
      <dgm:prSet/>
      <dgm:spPr/>
      <dgm:t>
        <a:bodyPr/>
        <a:lstStyle/>
        <a:p>
          <a:endParaRPr lang="zh-CN" altLang="en-US" sz="1800"/>
        </a:p>
      </dgm:t>
    </dgm:pt>
    <dgm:pt modelId="{A513B9BF-E7A0-4AA4-97B6-B42FD2E0955D}">
      <dgm:prSet custT="1"/>
      <dgm:spPr/>
      <dgm:t>
        <a:bodyPr/>
        <a:lstStyle/>
        <a:p>
          <a:r>
            <a:rPr lang="zh-CN" altLang="en-US" sz="1800" dirty="0" smtClean="0"/>
            <a:t>外廓图</a:t>
          </a:r>
          <a:endParaRPr lang="zh-CN" altLang="en-US" sz="1800" dirty="0"/>
        </a:p>
      </dgm:t>
    </dgm:pt>
    <dgm:pt modelId="{156ABA0B-0CEC-4038-8CA9-BDC395A61731}" cxnId="{250AF6BB-8913-4CA0-9DEF-D24B863BE302}" type="parTrans">
      <dgm:prSet/>
      <dgm:spPr/>
      <dgm:t>
        <a:bodyPr/>
        <a:lstStyle/>
        <a:p>
          <a:endParaRPr lang="zh-CN" altLang="en-US"/>
        </a:p>
      </dgm:t>
    </dgm:pt>
    <dgm:pt modelId="{8C37F98C-397A-4275-A848-634449567F9B}" cxnId="{250AF6BB-8913-4CA0-9DEF-D24B863BE302}" type="sibTrans">
      <dgm:prSet/>
      <dgm:spPr/>
      <dgm:t>
        <a:bodyPr/>
        <a:lstStyle/>
        <a:p>
          <a:endParaRPr lang="zh-CN" altLang="en-US"/>
        </a:p>
      </dgm:t>
    </dgm:pt>
    <dgm:pt modelId="{E86A13ED-713D-4093-93BA-2BAE76539737}" type="pres">
      <dgm:prSet presAssocID="{27C81501-AEE1-4978-8236-2413A9018F80}" presName="hierChild1" presStyleCnt="0">
        <dgm:presLayoutVars>
          <dgm:chPref val="1"/>
          <dgm:dir/>
          <dgm:animOne val="branch"/>
          <dgm:animLvl val="lvl"/>
          <dgm:resizeHandles/>
        </dgm:presLayoutVars>
      </dgm:prSet>
      <dgm:spPr/>
      <dgm:t>
        <a:bodyPr/>
        <a:lstStyle/>
        <a:p>
          <a:endParaRPr lang="zh-CN" altLang="en-US"/>
        </a:p>
      </dgm:t>
    </dgm:pt>
    <dgm:pt modelId="{C8672265-69C4-4953-B893-FCB9C4E30D99}" type="pres">
      <dgm:prSet presAssocID="{FB80F7A6-76CE-4371-8294-B317E4360993}" presName="hierRoot1" presStyleCnt="0"/>
      <dgm:spPr/>
    </dgm:pt>
    <dgm:pt modelId="{DF562301-A7B1-4ED1-87C6-DF83C9A165A1}" type="pres">
      <dgm:prSet presAssocID="{FB80F7A6-76CE-4371-8294-B317E4360993}" presName="composite" presStyleCnt="0"/>
      <dgm:spPr/>
    </dgm:pt>
    <dgm:pt modelId="{DD46B97C-6AA1-4CF0-9BBF-A0A521779686}" type="pres">
      <dgm:prSet presAssocID="{FB80F7A6-76CE-4371-8294-B317E4360993}" presName="background" presStyleLbl="node0" presStyleIdx="0" presStyleCnt="1"/>
      <dgm:spPr/>
    </dgm:pt>
    <dgm:pt modelId="{8E11B7AB-CEA7-4942-B784-DF60CB71ABEA}" type="pres">
      <dgm:prSet presAssocID="{FB80F7A6-76CE-4371-8294-B317E4360993}" presName="text" presStyleLbl="fgAcc0" presStyleIdx="0" presStyleCnt="1" custScaleX="249880" custLinFactNeighborX="-9791" custLinFactNeighborY="-5782">
        <dgm:presLayoutVars>
          <dgm:chPref val="3"/>
        </dgm:presLayoutVars>
      </dgm:prSet>
      <dgm:spPr/>
      <dgm:t>
        <a:bodyPr/>
        <a:lstStyle/>
        <a:p>
          <a:endParaRPr lang="zh-CN" altLang="en-US"/>
        </a:p>
      </dgm:t>
    </dgm:pt>
    <dgm:pt modelId="{202EC7BB-0C5A-4588-B8A5-F746E1797FDE}" type="pres">
      <dgm:prSet presAssocID="{FB80F7A6-76CE-4371-8294-B317E4360993}" presName="hierChild2" presStyleCnt="0"/>
      <dgm:spPr/>
    </dgm:pt>
    <dgm:pt modelId="{2F0E8B93-FEB9-4546-8A2D-410488C7EBD9}" type="pres">
      <dgm:prSet presAssocID="{0CE6DE26-9E5A-45D1-B449-1B0F414F0891}" presName="Name10" presStyleLbl="parChTrans1D2" presStyleIdx="0" presStyleCnt="7"/>
      <dgm:spPr/>
      <dgm:t>
        <a:bodyPr/>
        <a:lstStyle/>
        <a:p>
          <a:endParaRPr lang="zh-CN" altLang="en-US"/>
        </a:p>
      </dgm:t>
    </dgm:pt>
    <dgm:pt modelId="{B17B7698-5C4B-49FC-95C0-82007282E93F}" type="pres">
      <dgm:prSet presAssocID="{81EA7C87-011C-458E-8B0B-F152C45CE2D5}" presName="hierRoot2" presStyleCnt="0"/>
      <dgm:spPr/>
    </dgm:pt>
    <dgm:pt modelId="{1C5A3A99-85A1-4689-AA99-22C01E0927FA}" type="pres">
      <dgm:prSet presAssocID="{81EA7C87-011C-458E-8B0B-F152C45CE2D5}" presName="composite2" presStyleCnt="0"/>
      <dgm:spPr/>
    </dgm:pt>
    <dgm:pt modelId="{8C7512A0-AE95-4A10-B588-7BF4F439B100}" type="pres">
      <dgm:prSet presAssocID="{81EA7C87-011C-458E-8B0B-F152C45CE2D5}" presName="background2" presStyleLbl="node2" presStyleIdx="0" presStyleCnt="7"/>
      <dgm:spPr/>
    </dgm:pt>
    <dgm:pt modelId="{C383B9D6-BACE-49A3-BDA6-EDE8BECA2B5B}" type="pres">
      <dgm:prSet presAssocID="{81EA7C87-011C-458E-8B0B-F152C45CE2D5}" presName="text2" presStyleLbl="fgAcc2" presStyleIdx="0" presStyleCnt="7">
        <dgm:presLayoutVars>
          <dgm:chPref val="3"/>
        </dgm:presLayoutVars>
      </dgm:prSet>
      <dgm:spPr/>
      <dgm:t>
        <a:bodyPr/>
        <a:lstStyle/>
        <a:p>
          <a:endParaRPr lang="zh-CN" altLang="en-US"/>
        </a:p>
      </dgm:t>
    </dgm:pt>
    <dgm:pt modelId="{E4DA02BB-2744-46FC-9810-2FABE4FC405C}" type="pres">
      <dgm:prSet presAssocID="{81EA7C87-011C-458E-8B0B-F152C45CE2D5}" presName="hierChild3" presStyleCnt="0"/>
      <dgm:spPr/>
    </dgm:pt>
    <dgm:pt modelId="{4CCFDD1B-ED03-45A3-B155-0D977D45F1FC}" type="pres">
      <dgm:prSet presAssocID="{1652C38F-BDBC-4CDF-BFD2-A68FA726E916}" presName="Name10" presStyleLbl="parChTrans1D2" presStyleIdx="1" presStyleCnt="7"/>
      <dgm:spPr/>
      <dgm:t>
        <a:bodyPr/>
        <a:lstStyle/>
        <a:p>
          <a:endParaRPr lang="zh-CN" altLang="en-US"/>
        </a:p>
      </dgm:t>
    </dgm:pt>
    <dgm:pt modelId="{AFBA5303-2F60-408F-AE72-3B48264839BE}" type="pres">
      <dgm:prSet presAssocID="{D8A4AA7B-F1B1-42A2-AEF8-E8593DDE3337}" presName="hierRoot2" presStyleCnt="0"/>
      <dgm:spPr/>
    </dgm:pt>
    <dgm:pt modelId="{34F21F16-3BEF-43AB-B252-65BADEAB7012}" type="pres">
      <dgm:prSet presAssocID="{D8A4AA7B-F1B1-42A2-AEF8-E8593DDE3337}" presName="composite2" presStyleCnt="0"/>
      <dgm:spPr/>
    </dgm:pt>
    <dgm:pt modelId="{3BC9F215-AA55-4A1A-80F2-D0003DB2F985}" type="pres">
      <dgm:prSet presAssocID="{D8A4AA7B-F1B1-42A2-AEF8-E8593DDE3337}" presName="background2" presStyleLbl="node2" presStyleIdx="1" presStyleCnt="7"/>
      <dgm:spPr/>
    </dgm:pt>
    <dgm:pt modelId="{C159D7EB-93A1-4C3F-9215-9D95F99FBBAA}" type="pres">
      <dgm:prSet presAssocID="{D8A4AA7B-F1B1-42A2-AEF8-E8593DDE3337}" presName="text2" presStyleLbl="fgAcc2" presStyleIdx="1" presStyleCnt="7" custScaleX="151928">
        <dgm:presLayoutVars>
          <dgm:chPref val="3"/>
        </dgm:presLayoutVars>
      </dgm:prSet>
      <dgm:spPr/>
      <dgm:t>
        <a:bodyPr/>
        <a:lstStyle/>
        <a:p>
          <a:endParaRPr lang="zh-CN" altLang="en-US"/>
        </a:p>
      </dgm:t>
    </dgm:pt>
    <dgm:pt modelId="{5B32763F-8F58-4FFE-94D6-69F5EBA0628F}" type="pres">
      <dgm:prSet presAssocID="{D8A4AA7B-F1B1-42A2-AEF8-E8593DDE3337}" presName="hierChild3" presStyleCnt="0"/>
      <dgm:spPr/>
    </dgm:pt>
    <dgm:pt modelId="{9857FE94-28DE-4625-A8C8-A8E7ED1E3B49}" type="pres">
      <dgm:prSet presAssocID="{4D8AFBA1-C23B-4B52-89DF-6192FFAB9D08}" presName="Name10" presStyleLbl="parChTrans1D2" presStyleIdx="2" presStyleCnt="7"/>
      <dgm:spPr/>
      <dgm:t>
        <a:bodyPr/>
        <a:lstStyle/>
        <a:p>
          <a:endParaRPr lang="zh-CN" altLang="en-US"/>
        </a:p>
      </dgm:t>
    </dgm:pt>
    <dgm:pt modelId="{014DA20D-E921-4540-97F1-25F2E8D9B83F}" type="pres">
      <dgm:prSet presAssocID="{A1557A60-0FDE-4621-BD3E-EB63A7EDB905}" presName="hierRoot2" presStyleCnt="0"/>
      <dgm:spPr/>
    </dgm:pt>
    <dgm:pt modelId="{7C718CEB-BC13-48DA-B054-56B25D576904}" type="pres">
      <dgm:prSet presAssocID="{A1557A60-0FDE-4621-BD3E-EB63A7EDB905}" presName="composite2" presStyleCnt="0"/>
      <dgm:spPr/>
    </dgm:pt>
    <dgm:pt modelId="{6EB8D394-437B-4BA4-A3AC-AAE939A54A98}" type="pres">
      <dgm:prSet presAssocID="{A1557A60-0FDE-4621-BD3E-EB63A7EDB905}" presName="background2" presStyleLbl="node2" presStyleIdx="2" presStyleCnt="7"/>
      <dgm:spPr/>
    </dgm:pt>
    <dgm:pt modelId="{8AAD8D68-702A-4391-8B34-50F4F5C7B19A}" type="pres">
      <dgm:prSet presAssocID="{A1557A60-0FDE-4621-BD3E-EB63A7EDB905}" presName="text2" presStyleLbl="fgAcc2" presStyleIdx="2" presStyleCnt="7">
        <dgm:presLayoutVars>
          <dgm:chPref val="3"/>
        </dgm:presLayoutVars>
      </dgm:prSet>
      <dgm:spPr/>
      <dgm:t>
        <a:bodyPr/>
        <a:lstStyle/>
        <a:p>
          <a:endParaRPr lang="zh-CN" altLang="en-US"/>
        </a:p>
      </dgm:t>
    </dgm:pt>
    <dgm:pt modelId="{FFBB0E3C-3248-4F58-83F0-C816689F0439}" type="pres">
      <dgm:prSet presAssocID="{A1557A60-0FDE-4621-BD3E-EB63A7EDB905}" presName="hierChild3" presStyleCnt="0"/>
      <dgm:spPr/>
    </dgm:pt>
    <dgm:pt modelId="{4D97D0A5-8FA6-40CF-867F-A10DBE37697E}" type="pres">
      <dgm:prSet presAssocID="{6929CEE4-3128-45CD-8A09-A7EB07FCC3EE}" presName="Name10" presStyleLbl="parChTrans1D2" presStyleIdx="3" presStyleCnt="7"/>
      <dgm:spPr/>
      <dgm:t>
        <a:bodyPr/>
        <a:lstStyle/>
        <a:p>
          <a:endParaRPr lang="zh-CN" altLang="en-US"/>
        </a:p>
      </dgm:t>
    </dgm:pt>
    <dgm:pt modelId="{03116521-88A5-40E1-938F-912DE0D0380F}" type="pres">
      <dgm:prSet presAssocID="{8C69848C-42EB-42B6-A6D4-50362C2F8D3F}" presName="hierRoot2" presStyleCnt="0"/>
      <dgm:spPr/>
    </dgm:pt>
    <dgm:pt modelId="{757C62BB-8C3A-4D5E-AB76-C1A3E122D41F}" type="pres">
      <dgm:prSet presAssocID="{8C69848C-42EB-42B6-A6D4-50362C2F8D3F}" presName="composite2" presStyleCnt="0"/>
      <dgm:spPr/>
    </dgm:pt>
    <dgm:pt modelId="{F1F8FCE7-9F96-41F2-8800-FEFBB128A0BC}" type="pres">
      <dgm:prSet presAssocID="{8C69848C-42EB-42B6-A6D4-50362C2F8D3F}" presName="background2" presStyleLbl="node2" presStyleIdx="3" presStyleCnt="7"/>
      <dgm:spPr/>
    </dgm:pt>
    <dgm:pt modelId="{6F1D3350-AB67-43E8-8954-09E838B0371F}" type="pres">
      <dgm:prSet presAssocID="{8C69848C-42EB-42B6-A6D4-50362C2F8D3F}" presName="text2" presStyleLbl="fgAcc2" presStyleIdx="3" presStyleCnt="7">
        <dgm:presLayoutVars>
          <dgm:chPref val="3"/>
        </dgm:presLayoutVars>
      </dgm:prSet>
      <dgm:spPr/>
      <dgm:t>
        <a:bodyPr/>
        <a:lstStyle/>
        <a:p>
          <a:endParaRPr lang="zh-CN" altLang="en-US"/>
        </a:p>
      </dgm:t>
    </dgm:pt>
    <dgm:pt modelId="{5E2D4E1A-7FB2-4C74-A86F-AC5818BF33EE}" type="pres">
      <dgm:prSet presAssocID="{8C69848C-42EB-42B6-A6D4-50362C2F8D3F}" presName="hierChild3" presStyleCnt="0"/>
      <dgm:spPr/>
    </dgm:pt>
    <dgm:pt modelId="{57E2B3A0-7C16-4477-9D44-586183579800}" type="pres">
      <dgm:prSet presAssocID="{D0C91CD0-00B3-4932-BF59-12DAE0640D16}" presName="Name10" presStyleLbl="parChTrans1D2" presStyleIdx="4" presStyleCnt="7"/>
      <dgm:spPr/>
      <dgm:t>
        <a:bodyPr/>
        <a:lstStyle/>
        <a:p>
          <a:endParaRPr lang="zh-CN" altLang="en-US"/>
        </a:p>
      </dgm:t>
    </dgm:pt>
    <dgm:pt modelId="{81BCEDE4-C73D-4DB6-B8C9-0F4F625851B2}" type="pres">
      <dgm:prSet presAssocID="{35910A76-42C9-42AF-9D7B-42143C194B91}" presName="hierRoot2" presStyleCnt="0"/>
      <dgm:spPr/>
    </dgm:pt>
    <dgm:pt modelId="{BF3008CC-C073-4071-94B3-1DA8D38EC0E2}" type="pres">
      <dgm:prSet presAssocID="{35910A76-42C9-42AF-9D7B-42143C194B91}" presName="composite2" presStyleCnt="0"/>
      <dgm:spPr/>
    </dgm:pt>
    <dgm:pt modelId="{A9E2F6E7-6A81-4B24-9E94-462A95920150}" type="pres">
      <dgm:prSet presAssocID="{35910A76-42C9-42AF-9D7B-42143C194B91}" presName="background2" presStyleLbl="node2" presStyleIdx="4" presStyleCnt="7"/>
      <dgm:spPr/>
    </dgm:pt>
    <dgm:pt modelId="{0C5B3514-3644-4D91-92AA-7960CA0C2CD9}" type="pres">
      <dgm:prSet presAssocID="{35910A76-42C9-42AF-9D7B-42143C194B91}" presName="text2" presStyleLbl="fgAcc2" presStyleIdx="4" presStyleCnt="7">
        <dgm:presLayoutVars>
          <dgm:chPref val="3"/>
        </dgm:presLayoutVars>
      </dgm:prSet>
      <dgm:spPr/>
      <dgm:t>
        <a:bodyPr/>
        <a:lstStyle/>
        <a:p>
          <a:endParaRPr lang="zh-CN" altLang="en-US"/>
        </a:p>
      </dgm:t>
    </dgm:pt>
    <dgm:pt modelId="{2868A24B-34FF-477E-B8DD-E3CEB4FD2F7F}" type="pres">
      <dgm:prSet presAssocID="{35910A76-42C9-42AF-9D7B-42143C194B91}" presName="hierChild3" presStyleCnt="0"/>
      <dgm:spPr/>
    </dgm:pt>
    <dgm:pt modelId="{1815E458-692B-43C8-9883-8325FDB83688}" type="pres">
      <dgm:prSet presAssocID="{9576551E-9A83-4EB0-B721-4010D487FB2E}" presName="Name10" presStyleLbl="parChTrans1D2" presStyleIdx="5" presStyleCnt="7"/>
      <dgm:spPr/>
      <dgm:t>
        <a:bodyPr/>
        <a:lstStyle/>
        <a:p>
          <a:endParaRPr lang="zh-CN" altLang="en-US"/>
        </a:p>
      </dgm:t>
    </dgm:pt>
    <dgm:pt modelId="{B6CC9E10-08E5-4648-BDD4-501AED5E75F7}" type="pres">
      <dgm:prSet presAssocID="{C7FA6166-7015-48C2-BA6A-59C5823970EF}" presName="hierRoot2" presStyleCnt="0"/>
      <dgm:spPr/>
    </dgm:pt>
    <dgm:pt modelId="{6D540FD2-BFE6-4939-86F2-17EEB6374CC8}" type="pres">
      <dgm:prSet presAssocID="{C7FA6166-7015-48C2-BA6A-59C5823970EF}" presName="composite2" presStyleCnt="0"/>
      <dgm:spPr/>
    </dgm:pt>
    <dgm:pt modelId="{7318286B-A35A-4D28-8027-536CCDE29B3E}" type="pres">
      <dgm:prSet presAssocID="{C7FA6166-7015-48C2-BA6A-59C5823970EF}" presName="background2" presStyleLbl="node2" presStyleIdx="5" presStyleCnt="7"/>
      <dgm:spPr/>
    </dgm:pt>
    <dgm:pt modelId="{A471A39D-54B0-49A2-BDF8-0AAFEB649F43}" type="pres">
      <dgm:prSet presAssocID="{C7FA6166-7015-48C2-BA6A-59C5823970EF}" presName="text2" presStyleLbl="fgAcc2" presStyleIdx="5" presStyleCnt="7">
        <dgm:presLayoutVars>
          <dgm:chPref val="3"/>
        </dgm:presLayoutVars>
      </dgm:prSet>
      <dgm:spPr/>
      <dgm:t>
        <a:bodyPr/>
        <a:lstStyle/>
        <a:p>
          <a:endParaRPr lang="zh-CN" altLang="en-US"/>
        </a:p>
      </dgm:t>
    </dgm:pt>
    <dgm:pt modelId="{0D1CBD12-750E-4EF6-982A-C2E54DE1E9D9}" type="pres">
      <dgm:prSet presAssocID="{C7FA6166-7015-48C2-BA6A-59C5823970EF}" presName="hierChild3" presStyleCnt="0"/>
      <dgm:spPr/>
    </dgm:pt>
    <dgm:pt modelId="{63F123AC-C73F-4E32-9E00-D8C1B78E3ED2}" type="pres">
      <dgm:prSet presAssocID="{156ABA0B-0CEC-4038-8CA9-BDC395A61731}" presName="Name10" presStyleLbl="parChTrans1D2" presStyleIdx="6" presStyleCnt="7"/>
      <dgm:spPr/>
      <dgm:t>
        <a:bodyPr/>
        <a:lstStyle/>
        <a:p>
          <a:endParaRPr lang="zh-CN" altLang="en-US"/>
        </a:p>
      </dgm:t>
    </dgm:pt>
    <dgm:pt modelId="{42C60913-2876-4304-9DE7-B9D0828D18A3}" type="pres">
      <dgm:prSet presAssocID="{A513B9BF-E7A0-4AA4-97B6-B42FD2E0955D}" presName="hierRoot2" presStyleCnt="0"/>
      <dgm:spPr/>
    </dgm:pt>
    <dgm:pt modelId="{F305778A-62A8-4CAF-AE55-8D4D31316AFB}" type="pres">
      <dgm:prSet presAssocID="{A513B9BF-E7A0-4AA4-97B6-B42FD2E0955D}" presName="composite2" presStyleCnt="0"/>
      <dgm:spPr/>
    </dgm:pt>
    <dgm:pt modelId="{92B0AA23-BDD1-4454-9B30-F6158455151A}" type="pres">
      <dgm:prSet presAssocID="{A513B9BF-E7A0-4AA4-97B6-B42FD2E0955D}" presName="background2" presStyleLbl="node2" presStyleIdx="6" presStyleCnt="7"/>
      <dgm:spPr/>
    </dgm:pt>
    <dgm:pt modelId="{3305E7FC-6CB0-4157-AF03-D8612385166A}" type="pres">
      <dgm:prSet presAssocID="{A513B9BF-E7A0-4AA4-97B6-B42FD2E0955D}" presName="text2" presStyleLbl="fgAcc2" presStyleIdx="6" presStyleCnt="7">
        <dgm:presLayoutVars>
          <dgm:chPref val="3"/>
        </dgm:presLayoutVars>
      </dgm:prSet>
      <dgm:spPr/>
      <dgm:t>
        <a:bodyPr/>
        <a:lstStyle/>
        <a:p>
          <a:endParaRPr lang="zh-CN" altLang="en-US"/>
        </a:p>
      </dgm:t>
    </dgm:pt>
    <dgm:pt modelId="{59BD6819-74F7-46A4-A074-2C10CF91A22A}" type="pres">
      <dgm:prSet presAssocID="{A513B9BF-E7A0-4AA4-97B6-B42FD2E0955D}" presName="hierChild3" presStyleCnt="0"/>
      <dgm:spPr/>
    </dgm:pt>
  </dgm:ptLst>
  <dgm:cxnLst>
    <dgm:cxn modelId="{E212C1A0-5D12-4B96-8635-001173212106}" srcId="{FB80F7A6-76CE-4371-8294-B317E4360993}" destId="{35910A76-42C9-42AF-9D7B-42143C194B91}" srcOrd="4" destOrd="0" parTransId="{D0C91CD0-00B3-4932-BF59-12DAE0640D16}" sibTransId="{9A9D684B-0D78-4702-A560-D15423ECE4B3}"/>
    <dgm:cxn modelId="{F7854E29-DAEF-4FEF-986A-603700DF8EE8}" type="presOf" srcId="{8C69848C-42EB-42B6-A6D4-50362C2F8D3F}" destId="{6F1D3350-AB67-43E8-8954-09E838B0371F}" srcOrd="0" destOrd="0" presId="urn:microsoft.com/office/officeart/2005/8/layout/hierarchy1"/>
    <dgm:cxn modelId="{25C76B77-8005-4398-BA9D-5A7602AD6576}" type="presOf" srcId="{156ABA0B-0CEC-4038-8CA9-BDC395A61731}" destId="{63F123AC-C73F-4E32-9E00-D8C1B78E3ED2}" srcOrd="0" destOrd="0" presId="urn:microsoft.com/office/officeart/2005/8/layout/hierarchy1"/>
    <dgm:cxn modelId="{613E539A-4729-474E-892E-D864609A72ED}" type="presOf" srcId="{D0C91CD0-00B3-4932-BF59-12DAE0640D16}" destId="{57E2B3A0-7C16-4477-9D44-586183579800}" srcOrd="0" destOrd="0" presId="urn:microsoft.com/office/officeart/2005/8/layout/hierarchy1"/>
    <dgm:cxn modelId="{E8D7977B-CD2D-4AB9-A53E-D70179AA4AA3}" srcId="{FB80F7A6-76CE-4371-8294-B317E4360993}" destId="{8C69848C-42EB-42B6-A6D4-50362C2F8D3F}" srcOrd="3" destOrd="0" parTransId="{6929CEE4-3128-45CD-8A09-A7EB07FCC3EE}" sibTransId="{9CA74973-C222-4D4D-B6AD-619CCD52E491}"/>
    <dgm:cxn modelId="{80ABC727-5FC4-4A25-ABBE-7350026D6506}" type="presOf" srcId="{81EA7C87-011C-458E-8B0B-F152C45CE2D5}" destId="{C383B9D6-BACE-49A3-BDA6-EDE8BECA2B5B}" srcOrd="0" destOrd="0" presId="urn:microsoft.com/office/officeart/2005/8/layout/hierarchy1"/>
    <dgm:cxn modelId="{32D598A9-572F-4C57-9A92-6204B6E82FFB}" type="presOf" srcId="{A1557A60-0FDE-4621-BD3E-EB63A7EDB905}" destId="{8AAD8D68-702A-4391-8B34-50F4F5C7B19A}" srcOrd="0" destOrd="0" presId="urn:microsoft.com/office/officeart/2005/8/layout/hierarchy1"/>
    <dgm:cxn modelId="{FE823E80-5A15-470A-AC38-C482CCEE21E7}" type="presOf" srcId="{9576551E-9A83-4EB0-B721-4010D487FB2E}" destId="{1815E458-692B-43C8-9883-8325FDB83688}" srcOrd="0" destOrd="0" presId="urn:microsoft.com/office/officeart/2005/8/layout/hierarchy1"/>
    <dgm:cxn modelId="{EBBB42DA-DD72-49B4-9CD4-7E9D4EC0CBE8}" type="presOf" srcId="{6929CEE4-3128-45CD-8A09-A7EB07FCC3EE}" destId="{4D97D0A5-8FA6-40CF-867F-A10DBE37697E}" srcOrd="0" destOrd="0" presId="urn:microsoft.com/office/officeart/2005/8/layout/hierarchy1"/>
    <dgm:cxn modelId="{86C22467-E672-4620-835B-878A71875F02}" type="presOf" srcId="{D8A4AA7B-F1B1-42A2-AEF8-E8593DDE3337}" destId="{C159D7EB-93A1-4C3F-9215-9D95F99FBBAA}" srcOrd="0" destOrd="0" presId="urn:microsoft.com/office/officeart/2005/8/layout/hierarchy1"/>
    <dgm:cxn modelId="{250AF6BB-8913-4CA0-9DEF-D24B863BE302}" srcId="{FB80F7A6-76CE-4371-8294-B317E4360993}" destId="{A513B9BF-E7A0-4AA4-97B6-B42FD2E0955D}" srcOrd="6" destOrd="0" parTransId="{156ABA0B-0CEC-4038-8CA9-BDC395A61731}" sibTransId="{8C37F98C-397A-4275-A848-634449567F9B}"/>
    <dgm:cxn modelId="{8A5EFECA-ADDD-4C40-860B-F9788508C394}" srcId="{27C81501-AEE1-4978-8236-2413A9018F80}" destId="{FB80F7A6-76CE-4371-8294-B317E4360993}" srcOrd="0" destOrd="0" parTransId="{DDAD1373-17C4-49A8-AD5B-46F6B54D4BFE}" sibTransId="{C2039299-F49C-44CF-BA5F-8C9C73E0488B}"/>
    <dgm:cxn modelId="{A7ECAB50-874C-48C4-B731-10D50AF311A0}" type="presOf" srcId="{A513B9BF-E7A0-4AA4-97B6-B42FD2E0955D}" destId="{3305E7FC-6CB0-4157-AF03-D8612385166A}" srcOrd="0" destOrd="0" presId="urn:microsoft.com/office/officeart/2005/8/layout/hierarchy1"/>
    <dgm:cxn modelId="{FDBC11FC-8DEA-46DD-9B22-75D9219F701B}" srcId="{FB80F7A6-76CE-4371-8294-B317E4360993}" destId="{A1557A60-0FDE-4621-BD3E-EB63A7EDB905}" srcOrd="2" destOrd="0" parTransId="{4D8AFBA1-C23B-4B52-89DF-6192FFAB9D08}" sibTransId="{70B50CBD-C06E-4B0C-9B74-D293A36A70B4}"/>
    <dgm:cxn modelId="{2217CC8E-51EF-4839-B417-13AB86BD5437}" type="presOf" srcId="{0CE6DE26-9E5A-45D1-B449-1B0F414F0891}" destId="{2F0E8B93-FEB9-4546-8A2D-410488C7EBD9}" srcOrd="0" destOrd="0" presId="urn:microsoft.com/office/officeart/2005/8/layout/hierarchy1"/>
    <dgm:cxn modelId="{55972368-C6EE-45D5-BA78-C7126834A6E7}" type="presOf" srcId="{35910A76-42C9-42AF-9D7B-42143C194B91}" destId="{0C5B3514-3644-4D91-92AA-7960CA0C2CD9}" srcOrd="0" destOrd="0" presId="urn:microsoft.com/office/officeart/2005/8/layout/hierarchy1"/>
    <dgm:cxn modelId="{E972AC38-457F-4545-BE06-057B54806BF5}" type="presOf" srcId="{C7FA6166-7015-48C2-BA6A-59C5823970EF}" destId="{A471A39D-54B0-49A2-BDF8-0AAFEB649F43}" srcOrd="0" destOrd="0" presId="urn:microsoft.com/office/officeart/2005/8/layout/hierarchy1"/>
    <dgm:cxn modelId="{691B4F8C-6EFA-4209-A550-BF53159D186F}" srcId="{FB80F7A6-76CE-4371-8294-B317E4360993}" destId="{C7FA6166-7015-48C2-BA6A-59C5823970EF}" srcOrd="5" destOrd="0" parTransId="{9576551E-9A83-4EB0-B721-4010D487FB2E}" sibTransId="{A156CC38-A218-4DEB-BE57-64BB352AFBD7}"/>
    <dgm:cxn modelId="{08BF9A82-DB83-42ED-9EBC-5E8D54F270A3}" type="presOf" srcId="{1652C38F-BDBC-4CDF-BFD2-A68FA726E916}" destId="{4CCFDD1B-ED03-45A3-B155-0D977D45F1FC}" srcOrd="0" destOrd="0" presId="urn:microsoft.com/office/officeart/2005/8/layout/hierarchy1"/>
    <dgm:cxn modelId="{56E0E0B4-99D0-45E4-AF5E-D11F58B6B0FE}" srcId="{FB80F7A6-76CE-4371-8294-B317E4360993}" destId="{D8A4AA7B-F1B1-42A2-AEF8-E8593DDE3337}" srcOrd="1" destOrd="0" parTransId="{1652C38F-BDBC-4CDF-BFD2-A68FA726E916}" sibTransId="{C210B9A4-2ABA-455B-B704-7CA94CD14F74}"/>
    <dgm:cxn modelId="{D992C5F2-B145-4E37-9EE4-E7605B5B4C42}" type="presOf" srcId="{4D8AFBA1-C23B-4B52-89DF-6192FFAB9D08}" destId="{9857FE94-28DE-4625-A8C8-A8E7ED1E3B49}" srcOrd="0" destOrd="0" presId="urn:microsoft.com/office/officeart/2005/8/layout/hierarchy1"/>
    <dgm:cxn modelId="{8B213B6B-4AB4-4408-B411-0BB3A1C2F688}" srcId="{FB80F7A6-76CE-4371-8294-B317E4360993}" destId="{81EA7C87-011C-458E-8B0B-F152C45CE2D5}" srcOrd="0" destOrd="0" parTransId="{0CE6DE26-9E5A-45D1-B449-1B0F414F0891}" sibTransId="{CCA831EF-AF83-4A96-BA7D-6501FFA127F6}"/>
    <dgm:cxn modelId="{BF461C54-A233-463D-8BFA-AE34AC8D378C}" type="presOf" srcId="{FB80F7A6-76CE-4371-8294-B317E4360993}" destId="{8E11B7AB-CEA7-4942-B784-DF60CB71ABEA}" srcOrd="0" destOrd="0" presId="urn:microsoft.com/office/officeart/2005/8/layout/hierarchy1"/>
    <dgm:cxn modelId="{AFBDB21C-0775-4622-8166-FF6627D87550}" type="presOf" srcId="{27C81501-AEE1-4978-8236-2413A9018F80}" destId="{E86A13ED-713D-4093-93BA-2BAE76539737}" srcOrd="0" destOrd="0" presId="urn:microsoft.com/office/officeart/2005/8/layout/hierarchy1"/>
    <dgm:cxn modelId="{A9632083-8BF9-4F1C-B683-E03A5DD28FD2}" type="presParOf" srcId="{E86A13ED-713D-4093-93BA-2BAE76539737}" destId="{C8672265-69C4-4953-B893-FCB9C4E30D99}" srcOrd="0" destOrd="0" presId="urn:microsoft.com/office/officeart/2005/8/layout/hierarchy1"/>
    <dgm:cxn modelId="{291D3AA2-16C1-47A0-A3E7-979D0BFA8410}" type="presParOf" srcId="{C8672265-69C4-4953-B893-FCB9C4E30D99}" destId="{DF562301-A7B1-4ED1-87C6-DF83C9A165A1}" srcOrd="0" destOrd="0" presId="urn:microsoft.com/office/officeart/2005/8/layout/hierarchy1"/>
    <dgm:cxn modelId="{8FFB41B1-D3DC-4B85-9D82-1247F35E0B4C}" type="presParOf" srcId="{DF562301-A7B1-4ED1-87C6-DF83C9A165A1}" destId="{DD46B97C-6AA1-4CF0-9BBF-A0A521779686}" srcOrd="0" destOrd="0" presId="urn:microsoft.com/office/officeart/2005/8/layout/hierarchy1"/>
    <dgm:cxn modelId="{8BBF9015-8327-42AE-8F78-3896A1987F61}" type="presParOf" srcId="{DF562301-A7B1-4ED1-87C6-DF83C9A165A1}" destId="{8E11B7AB-CEA7-4942-B784-DF60CB71ABEA}" srcOrd="1" destOrd="0" presId="urn:microsoft.com/office/officeart/2005/8/layout/hierarchy1"/>
    <dgm:cxn modelId="{669A8C19-B933-4DDC-BAA8-011F5BA6709C}" type="presParOf" srcId="{C8672265-69C4-4953-B893-FCB9C4E30D99}" destId="{202EC7BB-0C5A-4588-B8A5-F746E1797FDE}" srcOrd="1" destOrd="0" presId="urn:microsoft.com/office/officeart/2005/8/layout/hierarchy1"/>
    <dgm:cxn modelId="{C466AD08-91FD-408D-A243-607AB1C0A868}" type="presParOf" srcId="{202EC7BB-0C5A-4588-B8A5-F746E1797FDE}" destId="{2F0E8B93-FEB9-4546-8A2D-410488C7EBD9}" srcOrd="0" destOrd="0" presId="urn:microsoft.com/office/officeart/2005/8/layout/hierarchy1"/>
    <dgm:cxn modelId="{1A63633E-BD8C-42BD-9769-A83BF24EF929}" type="presParOf" srcId="{202EC7BB-0C5A-4588-B8A5-F746E1797FDE}" destId="{B17B7698-5C4B-49FC-95C0-82007282E93F}" srcOrd="1" destOrd="0" presId="urn:microsoft.com/office/officeart/2005/8/layout/hierarchy1"/>
    <dgm:cxn modelId="{BFDC8C85-DECC-41E4-843B-9F6DCB5D3D02}" type="presParOf" srcId="{B17B7698-5C4B-49FC-95C0-82007282E93F}" destId="{1C5A3A99-85A1-4689-AA99-22C01E0927FA}" srcOrd="0" destOrd="0" presId="urn:microsoft.com/office/officeart/2005/8/layout/hierarchy1"/>
    <dgm:cxn modelId="{E720734D-F498-4A17-88AC-F56EEE5DAEF0}" type="presParOf" srcId="{1C5A3A99-85A1-4689-AA99-22C01E0927FA}" destId="{8C7512A0-AE95-4A10-B588-7BF4F439B100}" srcOrd="0" destOrd="0" presId="urn:microsoft.com/office/officeart/2005/8/layout/hierarchy1"/>
    <dgm:cxn modelId="{FDBE34B8-A5B4-4180-B2D0-2ED6B79486C5}" type="presParOf" srcId="{1C5A3A99-85A1-4689-AA99-22C01E0927FA}" destId="{C383B9D6-BACE-49A3-BDA6-EDE8BECA2B5B}" srcOrd="1" destOrd="0" presId="urn:microsoft.com/office/officeart/2005/8/layout/hierarchy1"/>
    <dgm:cxn modelId="{7EF900AF-B095-4AEE-BC2C-C2DFAF065AF9}" type="presParOf" srcId="{B17B7698-5C4B-49FC-95C0-82007282E93F}" destId="{E4DA02BB-2744-46FC-9810-2FABE4FC405C}" srcOrd="1" destOrd="0" presId="urn:microsoft.com/office/officeart/2005/8/layout/hierarchy1"/>
    <dgm:cxn modelId="{1EC08396-F71F-44A0-8396-6A5747ADDF04}" type="presParOf" srcId="{202EC7BB-0C5A-4588-B8A5-F746E1797FDE}" destId="{4CCFDD1B-ED03-45A3-B155-0D977D45F1FC}" srcOrd="2" destOrd="0" presId="urn:microsoft.com/office/officeart/2005/8/layout/hierarchy1"/>
    <dgm:cxn modelId="{63C17203-0C1F-42DB-9796-E8670C41DA67}" type="presParOf" srcId="{202EC7BB-0C5A-4588-B8A5-F746E1797FDE}" destId="{AFBA5303-2F60-408F-AE72-3B48264839BE}" srcOrd="3" destOrd="0" presId="urn:microsoft.com/office/officeart/2005/8/layout/hierarchy1"/>
    <dgm:cxn modelId="{9E36AE9E-1732-4F45-AB81-4EEF4086DB51}" type="presParOf" srcId="{AFBA5303-2F60-408F-AE72-3B48264839BE}" destId="{34F21F16-3BEF-43AB-B252-65BADEAB7012}" srcOrd="0" destOrd="0" presId="urn:microsoft.com/office/officeart/2005/8/layout/hierarchy1"/>
    <dgm:cxn modelId="{9F527A83-DF4A-4822-9622-1CEACEFA1C36}" type="presParOf" srcId="{34F21F16-3BEF-43AB-B252-65BADEAB7012}" destId="{3BC9F215-AA55-4A1A-80F2-D0003DB2F985}" srcOrd="0" destOrd="0" presId="urn:microsoft.com/office/officeart/2005/8/layout/hierarchy1"/>
    <dgm:cxn modelId="{AEE87E68-D27C-47F0-9759-37682B732599}" type="presParOf" srcId="{34F21F16-3BEF-43AB-B252-65BADEAB7012}" destId="{C159D7EB-93A1-4C3F-9215-9D95F99FBBAA}" srcOrd="1" destOrd="0" presId="urn:microsoft.com/office/officeart/2005/8/layout/hierarchy1"/>
    <dgm:cxn modelId="{67D1BFD0-F90B-4427-9CA8-FCA9D406A4FC}" type="presParOf" srcId="{AFBA5303-2F60-408F-AE72-3B48264839BE}" destId="{5B32763F-8F58-4FFE-94D6-69F5EBA0628F}" srcOrd="1" destOrd="0" presId="urn:microsoft.com/office/officeart/2005/8/layout/hierarchy1"/>
    <dgm:cxn modelId="{7A40DC11-60BA-4630-9FF2-DB739D60D251}" type="presParOf" srcId="{202EC7BB-0C5A-4588-B8A5-F746E1797FDE}" destId="{9857FE94-28DE-4625-A8C8-A8E7ED1E3B49}" srcOrd="4" destOrd="0" presId="urn:microsoft.com/office/officeart/2005/8/layout/hierarchy1"/>
    <dgm:cxn modelId="{19A9FCB3-2492-43E5-B690-6941D00ED068}" type="presParOf" srcId="{202EC7BB-0C5A-4588-B8A5-F746E1797FDE}" destId="{014DA20D-E921-4540-97F1-25F2E8D9B83F}" srcOrd="5" destOrd="0" presId="urn:microsoft.com/office/officeart/2005/8/layout/hierarchy1"/>
    <dgm:cxn modelId="{1B7C44DC-E3A6-4CD1-9066-EE3D08AA75E6}" type="presParOf" srcId="{014DA20D-E921-4540-97F1-25F2E8D9B83F}" destId="{7C718CEB-BC13-48DA-B054-56B25D576904}" srcOrd="0" destOrd="0" presId="urn:microsoft.com/office/officeart/2005/8/layout/hierarchy1"/>
    <dgm:cxn modelId="{A81167A6-AC93-4669-8102-E94B1EFCA947}" type="presParOf" srcId="{7C718CEB-BC13-48DA-B054-56B25D576904}" destId="{6EB8D394-437B-4BA4-A3AC-AAE939A54A98}" srcOrd="0" destOrd="0" presId="urn:microsoft.com/office/officeart/2005/8/layout/hierarchy1"/>
    <dgm:cxn modelId="{ED58F448-64F0-4F74-ABFE-FB9052E2E77C}" type="presParOf" srcId="{7C718CEB-BC13-48DA-B054-56B25D576904}" destId="{8AAD8D68-702A-4391-8B34-50F4F5C7B19A}" srcOrd="1" destOrd="0" presId="urn:microsoft.com/office/officeart/2005/8/layout/hierarchy1"/>
    <dgm:cxn modelId="{A1F447B4-49F8-4C90-8E48-CC6B9C6B9448}" type="presParOf" srcId="{014DA20D-E921-4540-97F1-25F2E8D9B83F}" destId="{FFBB0E3C-3248-4F58-83F0-C816689F0439}" srcOrd="1" destOrd="0" presId="urn:microsoft.com/office/officeart/2005/8/layout/hierarchy1"/>
    <dgm:cxn modelId="{6BA41794-62CE-4F3B-9BA7-BEC030F154A5}" type="presParOf" srcId="{202EC7BB-0C5A-4588-B8A5-F746E1797FDE}" destId="{4D97D0A5-8FA6-40CF-867F-A10DBE37697E}" srcOrd="6" destOrd="0" presId="urn:microsoft.com/office/officeart/2005/8/layout/hierarchy1"/>
    <dgm:cxn modelId="{FA4B37E2-A4BA-4A58-9C9C-6BC4012C88AA}" type="presParOf" srcId="{202EC7BB-0C5A-4588-B8A5-F746E1797FDE}" destId="{03116521-88A5-40E1-938F-912DE0D0380F}" srcOrd="7" destOrd="0" presId="urn:microsoft.com/office/officeart/2005/8/layout/hierarchy1"/>
    <dgm:cxn modelId="{DB14A1A0-8F5D-46EA-A5CA-93FCB375E3B2}" type="presParOf" srcId="{03116521-88A5-40E1-938F-912DE0D0380F}" destId="{757C62BB-8C3A-4D5E-AB76-C1A3E122D41F}" srcOrd="0" destOrd="0" presId="urn:microsoft.com/office/officeart/2005/8/layout/hierarchy1"/>
    <dgm:cxn modelId="{82BF8017-36E9-4DCC-949D-756AE06E69AA}" type="presParOf" srcId="{757C62BB-8C3A-4D5E-AB76-C1A3E122D41F}" destId="{F1F8FCE7-9F96-41F2-8800-FEFBB128A0BC}" srcOrd="0" destOrd="0" presId="urn:microsoft.com/office/officeart/2005/8/layout/hierarchy1"/>
    <dgm:cxn modelId="{3EBC7DE9-168D-402C-8609-101C5FB8326F}" type="presParOf" srcId="{757C62BB-8C3A-4D5E-AB76-C1A3E122D41F}" destId="{6F1D3350-AB67-43E8-8954-09E838B0371F}" srcOrd="1" destOrd="0" presId="urn:microsoft.com/office/officeart/2005/8/layout/hierarchy1"/>
    <dgm:cxn modelId="{D902D560-817B-46C1-BBA6-1A1FAE8B2168}" type="presParOf" srcId="{03116521-88A5-40E1-938F-912DE0D0380F}" destId="{5E2D4E1A-7FB2-4C74-A86F-AC5818BF33EE}" srcOrd="1" destOrd="0" presId="urn:microsoft.com/office/officeart/2005/8/layout/hierarchy1"/>
    <dgm:cxn modelId="{C11DE0D2-D4AB-4711-8AF0-65356C2181A7}" type="presParOf" srcId="{202EC7BB-0C5A-4588-B8A5-F746E1797FDE}" destId="{57E2B3A0-7C16-4477-9D44-586183579800}" srcOrd="8" destOrd="0" presId="urn:microsoft.com/office/officeart/2005/8/layout/hierarchy1"/>
    <dgm:cxn modelId="{FAC14C8D-9DD1-4EA5-B6D8-1442A66CF8E4}" type="presParOf" srcId="{202EC7BB-0C5A-4588-B8A5-F746E1797FDE}" destId="{81BCEDE4-C73D-4DB6-B8C9-0F4F625851B2}" srcOrd="9" destOrd="0" presId="urn:microsoft.com/office/officeart/2005/8/layout/hierarchy1"/>
    <dgm:cxn modelId="{CD89262C-65DF-48AE-9836-396C9D6A5D83}" type="presParOf" srcId="{81BCEDE4-C73D-4DB6-B8C9-0F4F625851B2}" destId="{BF3008CC-C073-4071-94B3-1DA8D38EC0E2}" srcOrd="0" destOrd="0" presId="urn:microsoft.com/office/officeart/2005/8/layout/hierarchy1"/>
    <dgm:cxn modelId="{1C479143-16D1-4B56-82AF-48B54607C914}" type="presParOf" srcId="{BF3008CC-C073-4071-94B3-1DA8D38EC0E2}" destId="{A9E2F6E7-6A81-4B24-9E94-462A95920150}" srcOrd="0" destOrd="0" presId="urn:microsoft.com/office/officeart/2005/8/layout/hierarchy1"/>
    <dgm:cxn modelId="{1715F604-0AA3-4694-B9F8-6E2636A98929}" type="presParOf" srcId="{BF3008CC-C073-4071-94B3-1DA8D38EC0E2}" destId="{0C5B3514-3644-4D91-92AA-7960CA0C2CD9}" srcOrd="1" destOrd="0" presId="urn:microsoft.com/office/officeart/2005/8/layout/hierarchy1"/>
    <dgm:cxn modelId="{B858833B-9EF9-459B-8DCA-AD475F768B8A}" type="presParOf" srcId="{81BCEDE4-C73D-4DB6-B8C9-0F4F625851B2}" destId="{2868A24B-34FF-477E-B8DD-E3CEB4FD2F7F}" srcOrd="1" destOrd="0" presId="urn:microsoft.com/office/officeart/2005/8/layout/hierarchy1"/>
    <dgm:cxn modelId="{8C82537D-5344-40F3-A10C-2D850A22B4A0}" type="presParOf" srcId="{202EC7BB-0C5A-4588-B8A5-F746E1797FDE}" destId="{1815E458-692B-43C8-9883-8325FDB83688}" srcOrd="10" destOrd="0" presId="urn:microsoft.com/office/officeart/2005/8/layout/hierarchy1"/>
    <dgm:cxn modelId="{41525C15-BC0A-4B4E-955E-8F626F8F9D96}" type="presParOf" srcId="{202EC7BB-0C5A-4588-B8A5-F746E1797FDE}" destId="{B6CC9E10-08E5-4648-BDD4-501AED5E75F7}" srcOrd="11" destOrd="0" presId="urn:microsoft.com/office/officeart/2005/8/layout/hierarchy1"/>
    <dgm:cxn modelId="{CFE3ED85-6885-4FD5-B92A-0F1301F2CDE8}" type="presParOf" srcId="{B6CC9E10-08E5-4648-BDD4-501AED5E75F7}" destId="{6D540FD2-BFE6-4939-86F2-17EEB6374CC8}" srcOrd="0" destOrd="0" presId="urn:microsoft.com/office/officeart/2005/8/layout/hierarchy1"/>
    <dgm:cxn modelId="{A9E2BD20-89A4-4478-A75B-A1FC326A15DA}" type="presParOf" srcId="{6D540FD2-BFE6-4939-86F2-17EEB6374CC8}" destId="{7318286B-A35A-4D28-8027-536CCDE29B3E}" srcOrd="0" destOrd="0" presId="urn:microsoft.com/office/officeart/2005/8/layout/hierarchy1"/>
    <dgm:cxn modelId="{3ED77AA0-BEF1-48C3-8BAB-9E9BF54FC631}" type="presParOf" srcId="{6D540FD2-BFE6-4939-86F2-17EEB6374CC8}" destId="{A471A39D-54B0-49A2-BDF8-0AAFEB649F43}" srcOrd="1" destOrd="0" presId="urn:microsoft.com/office/officeart/2005/8/layout/hierarchy1"/>
    <dgm:cxn modelId="{CF9794F2-4404-4F21-A08C-E684BBF8557D}" type="presParOf" srcId="{B6CC9E10-08E5-4648-BDD4-501AED5E75F7}" destId="{0D1CBD12-750E-4EF6-982A-C2E54DE1E9D9}" srcOrd="1" destOrd="0" presId="urn:microsoft.com/office/officeart/2005/8/layout/hierarchy1"/>
    <dgm:cxn modelId="{F5A33F5A-48AA-4068-B5A3-E8347A79AD8D}" type="presParOf" srcId="{202EC7BB-0C5A-4588-B8A5-F746E1797FDE}" destId="{63F123AC-C73F-4E32-9E00-D8C1B78E3ED2}" srcOrd="12" destOrd="0" presId="urn:microsoft.com/office/officeart/2005/8/layout/hierarchy1"/>
    <dgm:cxn modelId="{F2476700-4C8C-4E77-AF72-8F3CDA035E9B}" type="presParOf" srcId="{202EC7BB-0C5A-4588-B8A5-F746E1797FDE}" destId="{42C60913-2876-4304-9DE7-B9D0828D18A3}" srcOrd="13" destOrd="0" presId="urn:microsoft.com/office/officeart/2005/8/layout/hierarchy1"/>
    <dgm:cxn modelId="{1E019C90-20AB-426C-892B-7E0DFA85EB48}" type="presParOf" srcId="{42C60913-2876-4304-9DE7-B9D0828D18A3}" destId="{F305778A-62A8-4CAF-AE55-8D4D31316AFB}" srcOrd="0" destOrd="0" presId="urn:microsoft.com/office/officeart/2005/8/layout/hierarchy1"/>
    <dgm:cxn modelId="{F535D055-B4A4-4FE5-9B21-C89180921F30}" type="presParOf" srcId="{F305778A-62A8-4CAF-AE55-8D4D31316AFB}" destId="{92B0AA23-BDD1-4454-9B30-F6158455151A}" srcOrd="0" destOrd="0" presId="urn:microsoft.com/office/officeart/2005/8/layout/hierarchy1"/>
    <dgm:cxn modelId="{33356DE0-3AF6-4DCB-85FC-6F110ED0EC10}" type="presParOf" srcId="{F305778A-62A8-4CAF-AE55-8D4D31316AFB}" destId="{3305E7FC-6CB0-4157-AF03-D8612385166A}" srcOrd="1" destOrd="0" presId="urn:microsoft.com/office/officeart/2005/8/layout/hierarchy1"/>
    <dgm:cxn modelId="{D3289C5A-3E65-476A-900A-F9780A68A2BD}" type="presParOf" srcId="{42C60913-2876-4304-9DE7-B9D0828D18A3}" destId="{59BD6819-74F7-46A4-A074-2C10CF91A22A}" srcOrd="1" destOrd="0" presId="urn:microsoft.com/office/officeart/2005/8/layout/hierarchy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7C81501-AEE1-4978-8236-2413A9018F80}" type="doc">
      <dgm:prSet loTypeId="urn:microsoft.com/office/officeart/2005/8/layout/hierarchy1" loCatId="hierarchy" qsTypeId="urn:microsoft.com/office/officeart/2005/8/quickstyle/3d1" qsCatId="3D" csTypeId="urn:microsoft.com/office/officeart/2005/8/colors/colorful2" csCatId="colorful" phldr="1"/>
      <dgm:spPr/>
      <dgm:t>
        <a:bodyPr/>
        <a:lstStyle/>
        <a:p>
          <a:endParaRPr lang="zh-CN" altLang="en-US"/>
        </a:p>
      </dgm:t>
    </dgm:pt>
    <dgm:pt modelId="{FB80F7A6-76CE-4371-8294-B317E4360993}">
      <dgm:prSet phldrT="[文本]" custT="1"/>
      <dgm:spPr/>
      <dgm:t>
        <a:bodyPr/>
        <a:lstStyle/>
        <a:p>
          <a:r>
            <a:rPr lang="zh-CN" altLang="zh-CN" sz="1800" b="1" smtClean="0"/>
            <a:t>行为图</a:t>
          </a:r>
          <a:endParaRPr lang="en-US" altLang="zh-CN" sz="1800" b="1" smtClean="0"/>
        </a:p>
        <a:p>
          <a:r>
            <a:rPr lang="zh-CN" altLang="en-US" sz="1800" b="1" smtClean="0"/>
            <a:t>（</a:t>
          </a:r>
          <a:r>
            <a:rPr lang="zh-CN" altLang="zh-CN" sz="1800" b="1" smtClean="0"/>
            <a:t>动态模型图</a:t>
          </a:r>
          <a:r>
            <a:rPr lang="zh-CN" altLang="en-US" sz="1800" b="1" smtClean="0"/>
            <a:t>）</a:t>
          </a:r>
          <a:endParaRPr lang="zh-CN" altLang="en-US" sz="1800" dirty="0"/>
        </a:p>
      </dgm:t>
    </dgm:pt>
    <dgm:pt modelId="{DDAD1373-17C4-49A8-AD5B-46F6B54D4BFE}" cxnId="{8A5EFECA-ADDD-4C40-860B-F9788508C394}" type="parTrans">
      <dgm:prSet/>
      <dgm:spPr/>
      <dgm:t>
        <a:bodyPr/>
        <a:lstStyle/>
        <a:p>
          <a:endParaRPr lang="zh-CN" altLang="en-US" sz="1800"/>
        </a:p>
      </dgm:t>
    </dgm:pt>
    <dgm:pt modelId="{C2039299-F49C-44CF-BA5F-8C9C73E0488B}" cxnId="{8A5EFECA-ADDD-4C40-860B-F9788508C394}" type="sibTrans">
      <dgm:prSet/>
      <dgm:spPr/>
      <dgm:t>
        <a:bodyPr/>
        <a:lstStyle/>
        <a:p>
          <a:endParaRPr lang="zh-CN" altLang="en-US" sz="1800"/>
        </a:p>
      </dgm:t>
    </dgm:pt>
    <dgm:pt modelId="{81EA7C87-011C-458E-8B0B-F152C45CE2D5}">
      <dgm:prSet phldrT="[文本]" custT="1"/>
      <dgm:spPr/>
      <dgm:t>
        <a:bodyPr/>
        <a:lstStyle/>
        <a:p>
          <a:r>
            <a:rPr lang="zh-CN" altLang="en-US" sz="1800" b="1" smtClean="0"/>
            <a:t>活动图</a:t>
          </a:r>
          <a:endParaRPr lang="zh-CN" altLang="en-US" sz="1800" dirty="0"/>
        </a:p>
      </dgm:t>
    </dgm:pt>
    <dgm:pt modelId="{0CE6DE26-9E5A-45D1-B449-1B0F414F0891}" cxnId="{8B213B6B-4AB4-4408-B411-0BB3A1C2F688}" type="parTrans">
      <dgm:prSet/>
      <dgm:spPr/>
      <dgm:t>
        <a:bodyPr/>
        <a:lstStyle/>
        <a:p>
          <a:endParaRPr lang="zh-CN" altLang="en-US" sz="1800"/>
        </a:p>
      </dgm:t>
    </dgm:pt>
    <dgm:pt modelId="{CCA831EF-AF83-4A96-BA7D-6501FFA127F6}" cxnId="{8B213B6B-4AB4-4408-B411-0BB3A1C2F688}" type="sibTrans">
      <dgm:prSet/>
      <dgm:spPr/>
      <dgm:t>
        <a:bodyPr/>
        <a:lstStyle/>
        <a:p>
          <a:endParaRPr lang="zh-CN" altLang="en-US" sz="1800"/>
        </a:p>
      </dgm:t>
    </dgm:pt>
    <dgm:pt modelId="{D8A4AA7B-F1B1-42A2-AEF8-E8593DDE3337}">
      <dgm:prSet phldrT="[文本]" custT="1"/>
      <dgm:spPr/>
      <dgm:t>
        <a:bodyPr/>
        <a:lstStyle/>
        <a:p>
          <a:r>
            <a:rPr lang="zh-CN" altLang="en-US" sz="1800" b="1" smtClean="0"/>
            <a:t>交互图</a:t>
          </a:r>
          <a:endParaRPr lang="zh-CN" altLang="en-US" sz="1800" dirty="0"/>
        </a:p>
      </dgm:t>
    </dgm:pt>
    <dgm:pt modelId="{1652C38F-BDBC-4CDF-BFD2-A68FA726E916}" cxnId="{56E0E0B4-99D0-45E4-AF5E-D11F58B6B0FE}" type="parTrans">
      <dgm:prSet/>
      <dgm:spPr/>
      <dgm:t>
        <a:bodyPr/>
        <a:lstStyle/>
        <a:p>
          <a:endParaRPr lang="zh-CN" altLang="en-US" sz="1800"/>
        </a:p>
      </dgm:t>
    </dgm:pt>
    <dgm:pt modelId="{C210B9A4-2ABA-455B-B704-7CA94CD14F74}" cxnId="{56E0E0B4-99D0-45E4-AF5E-D11F58B6B0FE}" type="sibTrans">
      <dgm:prSet/>
      <dgm:spPr/>
      <dgm:t>
        <a:bodyPr/>
        <a:lstStyle/>
        <a:p>
          <a:endParaRPr lang="zh-CN" altLang="en-US" sz="1800"/>
        </a:p>
      </dgm:t>
    </dgm:pt>
    <dgm:pt modelId="{A1557A60-0FDE-4621-BD3E-EB63A7EDB905}">
      <dgm:prSet custT="1"/>
      <dgm:spPr/>
      <dgm:t>
        <a:bodyPr/>
        <a:lstStyle/>
        <a:p>
          <a:r>
            <a:rPr lang="zh-CN" altLang="en-US" sz="1800" b="1" smtClean="0"/>
            <a:t>用例图</a:t>
          </a:r>
          <a:endParaRPr lang="zh-CN" altLang="en-US" sz="1800" dirty="0"/>
        </a:p>
      </dgm:t>
    </dgm:pt>
    <dgm:pt modelId="{4D8AFBA1-C23B-4B52-89DF-6192FFAB9D08}" cxnId="{FDBC11FC-8DEA-46DD-9B22-75D9219F701B}" type="parTrans">
      <dgm:prSet/>
      <dgm:spPr/>
      <dgm:t>
        <a:bodyPr/>
        <a:lstStyle/>
        <a:p>
          <a:endParaRPr lang="zh-CN" altLang="en-US" sz="1800"/>
        </a:p>
      </dgm:t>
    </dgm:pt>
    <dgm:pt modelId="{70B50CBD-C06E-4B0C-9B74-D293A36A70B4}" cxnId="{FDBC11FC-8DEA-46DD-9B22-75D9219F701B}" type="sibTrans">
      <dgm:prSet/>
      <dgm:spPr/>
      <dgm:t>
        <a:bodyPr/>
        <a:lstStyle/>
        <a:p>
          <a:endParaRPr lang="zh-CN" altLang="en-US" sz="1800"/>
        </a:p>
      </dgm:t>
    </dgm:pt>
    <dgm:pt modelId="{8C69848C-42EB-42B6-A6D4-50362C2F8D3F}">
      <dgm:prSet custT="1"/>
      <dgm:spPr/>
      <dgm:t>
        <a:bodyPr/>
        <a:lstStyle/>
        <a:p>
          <a:r>
            <a:rPr lang="zh-CN" altLang="en-US" sz="1800" b="1" dirty="0" smtClean="0"/>
            <a:t>状态机图</a:t>
          </a:r>
          <a:endParaRPr lang="zh-CN" altLang="en-US" sz="1800" dirty="0"/>
        </a:p>
      </dgm:t>
    </dgm:pt>
    <dgm:pt modelId="{6929CEE4-3128-45CD-8A09-A7EB07FCC3EE}" cxnId="{E8D7977B-CD2D-4AB9-A53E-D70179AA4AA3}" type="parTrans">
      <dgm:prSet/>
      <dgm:spPr/>
      <dgm:t>
        <a:bodyPr/>
        <a:lstStyle/>
        <a:p>
          <a:endParaRPr lang="zh-CN" altLang="en-US" sz="1800"/>
        </a:p>
      </dgm:t>
    </dgm:pt>
    <dgm:pt modelId="{9CA74973-C222-4D4D-B6AD-619CCD52E491}" cxnId="{E8D7977B-CD2D-4AB9-A53E-D70179AA4AA3}" type="sibTrans">
      <dgm:prSet/>
      <dgm:spPr/>
      <dgm:t>
        <a:bodyPr/>
        <a:lstStyle/>
        <a:p>
          <a:endParaRPr lang="zh-CN" altLang="en-US" sz="1800"/>
        </a:p>
      </dgm:t>
    </dgm:pt>
    <dgm:pt modelId="{7418A793-D6CD-492C-A80C-05BDD93138B7}">
      <dgm:prSet custT="1"/>
      <dgm:spPr/>
      <dgm:t>
        <a:bodyPr/>
        <a:lstStyle/>
        <a:p>
          <a:r>
            <a:rPr lang="zh-CN" altLang="en-US" sz="1800" b="1" smtClean="0"/>
            <a:t>顺序图</a:t>
          </a:r>
          <a:endParaRPr lang="zh-CN" altLang="en-US" sz="1800" dirty="0"/>
        </a:p>
      </dgm:t>
    </dgm:pt>
    <dgm:pt modelId="{4DABCF3D-2150-4D26-8DD9-CEB831CE2977}" cxnId="{33E4D7AE-F8E4-47FE-AFB5-A539A93C9D61}" type="parTrans">
      <dgm:prSet/>
      <dgm:spPr/>
      <dgm:t>
        <a:bodyPr/>
        <a:lstStyle/>
        <a:p>
          <a:endParaRPr lang="zh-CN" altLang="en-US" sz="1800"/>
        </a:p>
      </dgm:t>
    </dgm:pt>
    <dgm:pt modelId="{C1F0FD22-65C3-4949-A141-25F46C6A1F6A}" cxnId="{33E4D7AE-F8E4-47FE-AFB5-A539A93C9D61}" type="sibTrans">
      <dgm:prSet/>
      <dgm:spPr/>
      <dgm:t>
        <a:bodyPr/>
        <a:lstStyle/>
        <a:p>
          <a:endParaRPr lang="zh-CN" altLang="en-US" sz="1800"/>
        </a:p>
      </dgm:t>
    </dgm:pt>
    <dgm:pt modelId="{5E79D49C-2706-40FA-A732-F6C972C314BC}">
      <dgm:prSet custT="1"/>
      <dgm:spPr/>
      <dgm:t>
        <a:bodyPr/>
        <a:lstStyle/>
        <a:p>
          <a:r>
            <a:rPr lang="zh-CN" altLang="en-US" sz="1800" b="1" smtClean="0"/>
            <a:t>通信图</a:t>
          </a:r>
          <a:endParaRPr lang="zh-CN" altLang="en-US" sz="1800"/>
        </a:p>
      </dgm:t>
    </dgm:pt>
    <dgm:pt modelId="{0FDDCFFC-8BED-48E3-BC07-2B818FB1A4B1}" cxnId="{BC867951-8637-4BF1-953D-2282EAB05B77}" type="parTrans">
      <dgm:prSet/>
      <dgm:spPr/>
      <dgm:t>
        <a:bodyPr/>
        <a:lstStyle/>
        <a:p>
          <a:endParaRPr lang="zh-CN" altLang="en-US" sz="1800"/>
        </a:p>
      </dgm:t>
    </dgm:pt>
    <dgm:pt modelId="{0BEBD6B5-14EC-474B-95E1-D565A0FFF0DB}" cxnId="{BC867951-8637-4BF1-953D-2282EAB05B77}" type="sibTrans">
      <dgm:prSet/>
      <dgm:spPr/>
      <dgm:t>
        <a:bodyPr/>
        <a:lstStyle/>
        <a:p>
          <a:endParaRPr lang="zh-CN" altLang="en-US" sz="1800"/>
        </a:p>
      </dgm:t>
    </dgm:pt>
    <dgm:pt modelId="{99042A33-62F4-405B-8516-760C76196416}">
      <dgm:prSet custT="1"/>
      <dgm:spPr/>
      <dgm:t>
        <a:bodyPr/>
        <a:lstStyle/>
        <a:p>
          <a:r>
            <a:rPr lang="zh-CN" altLang="en-US" sz="1800" b="1" smtClean="0"/>
            <a:t>交互概况图</a:t>
          </a:r>
          <a:endParaRPr lang="zh-CN" altLang="en-US" sz="1800"/>
        </a:p>
      </dgm:t>
    </dgm:pt>
    <dgm:pt modelId="{E7993DC9-D580-4612-A955-12790551315A}" cxnId="{4429112D-5A26-4CCE-9A94-DBC75C3B8307}" type="parTrans">
      <dgm:prSet/>
      <dgm:spPr/>
      <dgm:t>
        <a:bodyPr/>
        <a:lstStyle/>
        <a:p>
          <a:endParaRPr lang="zh-CN" altLang="en-US" sz="1800"/>
        </a:p>
      </dgm:t>
    </dgm:pt>
    <dgm:pt modelId="{BC99D463-3B98-4FAD-AFDD-D6461F652FE6}" cxnId="{4429112D-5A26-4CCE-9A94-DBC75C3B8307}" type="sibTrans">
      <dgm:prSet/>
      <dgm:spPr/>
      <dgm:t>
        <a:bodyPr/>
        <a:lstStyle/>
        <a:p>
          <a:endParaRPr lang="zh-CN" altLang="en-US" sz="1800"/>
        </a:p>
      </dgm:t>
    </dgm:pt>
    <dgm:pt modelId="{3EDD8D14-6DDA-4876-AB14-4CC09DD935B1}">
      <dgm:prSet custT="1"/>
      <dgm:spPr/>
      <dgm:t>
        <a:bodyPr/>
        <a:lstStyle/>
        <a:p>
          <a:r>
            <a:rPr lang="zh-CN" altLang="en-US" sz="1800" b="1" smtClean="0"/>
            <a:t>时序图</a:t>
          </a:r>
          <a:endParaRPr lang="zh-CN" altLang="en-US" sz="1800"/>
        </a:p>
      </dgm:t>
    </dgm:pt>
    <dgm:pt modelId="{2C93493E-6D87-4BE5-8ABE-934052108B2A}" cxnId="{0674EDCD-E775-4CBD-8F7B-1DA6041EFED4}" type="parTrans">
      <dgm:prSet/>
      <dgm:spPr/>
      <dgm:t>
        <a:bodyPr/>
        <a:lstStyle/>
        <a:p>
          <a:endParaRPr lang="zh-CN" altLang="en-US" sz="1800"/>
        </a:p>
      </dgm:t>
    </dgm:pt>
    <dgm:pt modelId="{8BE9EE1D-12FC-42CE-81C6-6BBFCAAB89B6}" cxnId="{0674EDCD-E775-4CBD-8F7B-1DA6041EFED4}" type="sibTrans">
      <dgm:prSet/>
      <dgm:spPr/>
      <dgm:t>
        <a:bodyPr/>
        <a:lstStyle/>
        <a:p>
          <a:endParaRPr lang="zh-CN" altLang="en-US" sz="1800"/>
        </a:p>
      </dgm:t>
    </dgm:pt>
    <dgm:pt modelId="{E86A13ED-713D-4093-93BA-2BAE76539737}" type="pres">
      <dgm:prSet presAssocID="{27C81501-AEE1-4978-8236-2413A9018F80}" presName="hierChild1" presStyleCnt="0">
        <dgm:presLayoutVars>
          <dgm:chPref val="1"/>
          <dgm:dir/>
          <dgm:animOne val="branch"/>
          <dgm:animLvl val="lvl"/>
          <dgm:resizeHandles/>
        </dgm:presLayoutVars>
      </dgm:prSet>
      <dgm:spPr/>
      <dgm:t>
        <a:bodyPr/>
        <a:lstStyle/>
        <a:p>
          <a:endParaRPr lang="zh-CN" altLang="en-US"/>
        </a:p>
      </dgm:t>
    </dgm:pt>
    <dgm:pt modelId="{C8672265-69C4-4953-B893-FCB9C4E30D99}" type="pres">
      <dgm:prSet presAssocID="{FB80F7A6-76CE-4371-8294-B317E4360993}" presName="hierRoot1" presStyleCnt="0"/>
      <dgm:spPr/>
    </dgm:pt>
    <dgm:pt modelId="{DF562301-A7B1-4ED1-87C6-DF83C9A165A1}" type="pres">
      <dgm:prSet presAssocID="{FB80F7A6-76CE-4371-8294-B317E4360993}" presName="composite" presStyleCnt="0"/>
      <dgm:spPr/>
    </dgm:pt>
    <dgm:pt modelId="{DD46B97C-6AA1-4CF0-9BBF-A0A521779686}" type="pres">
      <dgm:prSet presAssocID="{FB80F7A6-76CE-4371-8294-B317E4360993}" presName="background" presStyleLbl="node0" presStyleIdx="0" presStyleCnt="1"/>
      <dgm:spPr/>
    </dgm:pt>
    <dgm:pt modelId="{8E11B7AB-CEA7-4942-B784-DF60CB71ABEA}" type="pres">
      <dgm:prSet presAssocID="{FB80F7A6-76CE-4371-8294-B317E4360993}" presName="text" presStyleLbl="fgAcc0" presStyleIdx="0" presStyleCnt="1" custScaleX="261274" custLinFactNeighborX="-12767" custLinFactNeighborY="1969">
        <dgm:presLayoutVars>
          <dgm:chPref val="3"/>
        </dgm:presLayoutVars>
      </dgm:prSet>
      <dgm:spPr/>
      <dgm:t>
        <a:bodyPr/>
        <a:lstStyle/>
        <a:p>
          <a:endParaRPr lang="zh-CN" altLang="en-US"/>
        </a:p>
      </dgm:t>
    </dgm:pt>
    <dgm:pt modelId="{202EC7BB-0C5A-4588-B8A5-F746E1797FDE}" type="pres">
      <dgm:prSet presAssocID="{FB80F7A6-76CE-4371-8294-B317E4360993}" presName="hierChild2" presStyleCnt="0"/>
      <dgm:spPr/>
    </dgm:pt>
    <dgm:pt modelId="{2F0E8B93-FEB9-4546-8A2D-410488C7EBD9}" type="pres">
      <dgm:prSet presAssocID="{0CE6DE26-9E5A-45D1-B449-1B0F414F0891}" presName="Name10" presStyleLbl="parChTrans1D2" presStyleIdx="0" presStyleCnt="4"/>
      <dgm:spPr/>
      <dgm:t>
        <a:bodyPr/>
        <a:lstStyle/>
        <a:p>
          <a:endParaRPr lang="zh-CN" altLang="en-US"/>
        </a:p>
      </dgm:t>
    </dgm:pt>
    <dgm:pt modelId="{B17B7698-5C4B-49FC-95C0-82007282E93F}" type="pres">
      <dgm:prSet presAssocID="{81EA7C87-011C-458E-8B0B-F152C45CE2D5}" presName="hierRoot2" presStyleCnt="0"/>
      <dgm:spPr/>
    </dgm:pt>
    <dgm:pt modelId="{1C5A3A99-85A1-4689-AA99-22C01E0927FA}" type="pres">
      <dgm:prSet presAssocID="{81EA7C87-011C-458E-8B0B-F152C45CE2D5}" presName="composite2" presStyleCnt="0"/>
      <dgm:spPr/>
    </dgm:pt>
    <dgm:pt modelId="{8C7512A0-AE95-4A10-B588-7BF4F439B100}" type="pres">
      <dgm:prSet presAssocID="{81EA7C87-011C-458E-8B0B-F152C45CE2D5}" presName="background2" presStyleLbl="node2" presStyleIdx="0" presStyleCnt="4"/>
      <dgm:spPr/>
    </dgm:pt>
    <dgm:pt modelId="{C383B9D6-BACE-49A3-BDA6-EDE8BECA2B5B}" type="pres">
      <dgm:prSet presAssocID="{81EA7C87-011C-458E-8B0B-F152C45CE2D5}" presName="text2" presStyleLbl="fgAcc2" presStyleIdx="0" presStyleCnt="4">
        <dgm:presLayoutVars>
          <dgm:chPref val="3"/>
        </dgm:presLayoutVars>
      </dgm:prSet>
      <dgm:spPr/>
      <dgm:t>
        <a:bodyPr/>
        <a:lstStyle/>
        <a:p>
          <a:endParaRPr lang="zh-CN" altLang="en-US"/>
        </a:p>
      </dgm:t>
    </dgm:pt>
    <dgm:pt modelId="{E4DA02BB-2744-46FC-9810-2FABE4FC405C}" type="pres">
      <dgm:prSet presAssocID="{81EA7C87-011C-458E-8B0B-F152C45CE2D5}" presName="hierChild3" presStyleCnt="0"/>
      <dgm:spPr/>
    </dgm:pt>
    <dgm:pt modelId="{4CCFDD1B-ED03-45A3-B155-0D977D45F1FC}" type="pres">
      <dgm:prSet presAssocID="{1652C38F-BDBC-4CDF-BFD2-A68FA726E916}" presName="Name10" presStyleLbl="parChTrans1D2" presStyleIdx="1" presStyleCnt="4"/>
      <dgm:spPr/>
      <dgm:t>
        <a:bodyPr/>
        <a:lstStyle/>
        <a:p>
          <a:endParaRPr lang="zh-CN" altLang="en-US"/>
        </a:p>
      </dgm:t>
    </dgm:pt>
    <dgm:pt modelId="{AFBA5303-2F60-408F-AE72-3B48264839BE}" type="pres">
      <dgm:prSet presAssocID="{D8A4AA7B-F1B1-42A2-AEF8-E8593DDE3337}" presName="hierRoot2" presStyleCnt="0"/>
      <dgm:spPr/>
    </dgm:pt>
    <dgm:pt modelId="{34F21F16-3BEF-43AB-B252-65BADEAB7012}" type="pres">
      <dgm:prSet presAssocID="{D8A4AA7B-F1B1-42A2-AEF8-E8593DDE3337}" presName="composite2" presStyleCnt="0"/>
      <dgm:spPr/>
    </dgm:pt>
    <dgm:pt modelId="{3BC9F215-AA55-4A1A-80F2-D0003DB2F985}" type="pres">
      <dgm:prSet presAssocID="{D8A4AA7B-F1B1-42A2-AEF8-E8593DDE3337}" presName="background2" presStyleLbl="node2" presStyleIdx="1" presStyleCnt="4"/>
      <dgm:spPr/>
    </dgm:pt>
    <dgm:pt modelId="{C159D7EB-93A1-4C3F-9215-9D95F99FBBAA}" type="pres">
      <dgm:prSet presAssocID="{D8A4AA7B-F1B1-42A2-AEF8-E8593DDE3337}" presName="text2" presStyleLbl="fgAcc2" presStyleIdx="1" presStyleCnt="4">
        <dgm:presLayoutVars>
          <dgm:chPref val="3"/>
        </dgm:presLayoutVars>
      </dgm:prSet>
      <dgm:spPr/>
      <dgm:t>
        <a:bodyPr/>
        <a:lstStyle/>
        <a:p>
          <a:endParaRPr lang="zh-CN" altLang="en-US"/>
        </a:p>
      </dgm:t>
    </dgm:pt>
    <dgm:pt modelId="{5B32763F-8F58-4FFE-94D6-69F5EBA0628F}" type="pres">
      <dgm:prSet presAssocID="{D8A4AA7B-F1B1-42A2-AEF8-E8593DDE3337}" presName="hierChild3" presStyleCnt="0"/>
      <dgm:spPr/>
    </dgm:pt>
    <dgm:pt modelId="{3E97E1B0-8746-44F0-88F4-3097D95428A0}" type="pres">
      <dgm:prSet presAssocID="{4DABCF3D-2150-4D26-8DD9-CEB831CE2977}" presName="Name17" presStyleLbl="parChTrans1D3" presStyleIdx="0" presStyleCnt="4"/>
      <dgm:spPr/>
      <dgm:t>
        <a:bodyPr/>
        <a:lstStyle/>
        <a:p>
          <a:endParaRPr lang="zh-CN" altLang="en-US"/>
        </a:p>
      </dgm:t>
    </dgm:pt>
    <dgm:pt modelId="{8A2BC423-5FED-4DD1-9A4A-BBA6DF0A4FF7}" type="pres">
      <dgm:prSet presAssocID="{7418A793-D6CD-492C-A80C-05BDD93138B7}" presName="hierRoot3" presStyleCnt="0"/>
      <dgm:spPr/>
    </dgm:pt>
    <dgm:pt modelId="{860611D0-EB73-4E4F-BDDB-792A1648048D}" type="pres">
      <dgm:prSet presAssocID="{7418A793-D6CD-492C-A80C-05BDD93138B7}" presName="composite3" presStyleCnt="0"/>
      <dgm:spPr/>
    </dgm:pt>
    <dgm:pt modelId="{A891929F-50B8-4EB6-95BD-80C84665AFE6}" type="pres">
      <dgm:prSet presAssocID="{7418A793-D6CD-492C-A80C-05BDD93138B7}" presName="background3" presStyleLbl="node3" presStyleIdx="0" presStyleCnt="4"/>
      <dgm:spPr/>
    </dgm:pt>
    <dgm:pt modelId="{C2D8BEBE-237A-414B-9DBC-E25B49C0C1BA}" type="pres">
      <dgm:prSet presAssocID="{7418A793-D6CD-492C-A80C-05BDD93138B7}" presName="text3" presStyleLbl="fgAcc3" presStyleIdx="0" presStyleCnt="4">
        <dgm:presLayoutVars>
          <dgm:chPref val="3"/>
        </dgm:presLayoutVars>
      </dgm:prSet>
      <dgm:spPr/>
      <dgm:t>
        <a:bodyPr/>
        <a:lstStyle/>
        <a:p>
          <a:endParaRPr lang="zh-CN" altLang="en-US"/>
        </a:p>
      </dgm:t>
    </dgm:pt>
    <dgm:pt modelId="{690B498D-55E5-4746-8C9C-F8F1B335A428}" type="pres">
      <dgm:prSet presAssocID="{7418A793-D6CD-492C-A80C-05BDD93138B7}" presName="hierChild4" presStyleCnt="0"/>
      <dgm:spPr/>
    </dgm:pt>
    <dgm:pt modelId="{627FCE86-B813-4AA2-BF34-08B3A1B85BD6}" type="pres">
      <dgm:prSet presAssocID="{0FDDCFFC-8BED-48E3-BC07-2B818FB1A4B1}" presName="Name17" presStyleLbl="parChTrans1D3" presStyleIdx="1" presStyleCnt="4"/>
      <dgm:spPr/>
      <dgm:t>
        <a:bodyPr/>
        <a:lstStyle/>
        <a:p>
          <a:endParaRPr lang="zh-CN" altLang="en-US"/>
        </a:p>
      </dgm:t>
    </dgm:pt>
    <dgm:pt modelId="{584DDACB-DA34-46AF-B464-63448BA9E8E7}" type="pres">
      <dgm:prSet presAssocID="{5E79D49C-2706-40FA-A732-F6C972C314BC}" presName="hierRoot3" presStyleCnt="0"/>
      <dgm:spPr/>
    </dgm:pt>
    <dgm:pt modelId="{9703048D-5A25-43F6-8D17-2FE42260A52C}" type="pres">
      <dgm:prSet presAssocID="{5E79D49C-2706-40FA-A732-F6C972C314BC}" presName="composite3" presStyleCnt="0"/>
      <dgm:spPr/>
    </dgm:pt>
    <dgm:pt modelId="{A711716D-DC2F-4548-A0E5-7E43808B80D5}" type="pres">
      <dgm:prSet presAssocID="{5E79D49C-2706-40FA-A732-F6C972C314BC}" presName="background3" presStyleLbl="node3" presStyleIdx="1" presStyleCnt="4"/>
      <dgm:spPr/>
    </dgm:pt>
    <dgm:pt modelId="{57EB52D1-EFAA-4000-BF03-4A3C8B371B51}" type="pres">
      <dgm:prSet presAssocID="{5E79D49C-2706-40FA-A732-F6C972C314BC}" presName="text3" presStyleLbl="fgAcc3" presStyleIdx="1" presStyleCnt="4">
        <dgm:presLayoutVars>
          <dgm:chPref val="3"/>
        </dgm:presLayoutVars>
      </dgm:prSet>
      <dgm:spPr/>
      <dgm:t>
        <a:bodyPr/>
        <a:lstStyle/>
        <a:p>
          <a:endParaRPr lang="zh-CN" altLang="en-US"/>
        </a:p>
      </dgm:t>
    </dgm:pt>
    <dgm:pt modelId="{14C6AD13-BBBC-455A-A6A1-0F543EF4474A}" type="pres">
      <dgm:prSet presAssocID="{5E79D49C-2706-40FA-A732-F6C972C314BC}" presName="hierChild4" presStyleCnt="0"/>
      <dgm:spPr/>
    </dgm:pt>
    <dgm:pt modelId="{D3FFCBD5-ACE4-4224-9701-8D77F4FFDF89}" type="pres">
      <dgm:prSet presAssocID="{E7993DC9-D580-4612-A955-12790551315A}" presName="Name17" presStyleLbl="parChTrans1D3" presStyleIdx="2" presStyleCnt="4"/>
      <dgm:spPr/>
      <dgm:t>
        <a:bodyPr/>
        <a:lstStyle/>
        <a:p>
          <a:endParaRPr lang="zh-CN" altLang="en-US"/>
        </a:p>
      </dgm:t>
    </dgm:pt>
    <dgm:pt modelId="{30D77CC0-EC12-44AE-ABF3-F845B3FCD29F}" type="pres">
      <dgm:prSet presAssocID="{99042A33-62F4-405B-8516-760C76196416}" presName="hierRoot3" presStyleCnt="0"/>
      <dgm:spPr/>
    </dgm:pt>
    <dgm:pt modelId="{5ED802AC-340B-49A5-89CB-102CDDE6245E}" type="pres">
      <dgm:prSet presAssocID="{99042A33-62F4-405B-8516-760C76196416}" presName="composite3" presStyleCnt="0"/>
      <dgm:spPr/>
    </dgm:pt>
    <dgm:pt modelId="{0706A6C6-7B49-48F7-A97D-75206C32A94D}" type="pres">
      <dgm:prSet presAssocID="{99042A33-62F4-405B-8516-760C76196416}" presName="background3" presStyleLbl="node3" presStyleIdx="2" presStyleCnt="4"/>
      <dgm:spPr/>
    </dgm:pt>
    <dgm:pt modelId="{1357CB96-2D90-4057-9252-8C77BB79D1DB}" type="pres">
      <dgm:prSet presAssocID="{99042A33-62F4-405B-8516-760C76196416}" presName="text3" presStyleLbl="fgAcc3" presStyleIdx="2" presStyleCnt="4" custScaleX="172342">
        <dgm:presLayoutVars>
          <dgm:chPref val="3"/>
        </dgm:presLayoutVars>
      </dgm:prSet>
      <dgm:spPr/>
      <dgm:t>
        <a:bodyPr/>
        <a:lstStyle/>
        <a:p>
          <a:endParaRPr lang="zh-CN" altLang="en-US"/>
        </a:p>
      </dgm:t>
    </dgm:pt>
    <dgm:pt modelId="{96236D2F-C394-4768-B47B-0B825715BCE9}" type="pres">
      <dgm:prSet presAssocID="{99042A33-62F4-405B-8516-760C76196416}" presName="hierChild4" presStyleCnt="0"/>
      <dgm:spPr/>
    </dgm:pt>
    <dgm:pt modelId="{F18388E2-565F-4710-B0AF-405410CE1437}" type="pres">
      <dgm:prSet presAssocID="{2C93493E-6D87-4BE5-8ABE-934052108B2A}" presName="Name17" presStyleLbl="parChTrans1D3" presStyleIdx="3" presStyleCnt="4"/>
      <dgm:spPr/>
      <dgm:t>
        <a:bodyPr/>
        <a:lstStyle/>
        <a:p>
          <a:endParaRPr lang="zh-CN" altLang="en-US"/>
        </a:p>
      </dgm:t>
    </dgm:pt>
    <dgm:pt modelId="{1835F7E5-86EC-47E6-9B4E-6B69914A937C}" type="pres">
      <dgm:prSet presAssocID="{3EDD8D14-6DDA-4876-AB14-4CC09DD935B1}" presName="hierRoot3" presStyleCnt="0"/>
      <dgm:spPr/>
    </dgm:pt>
    <dgm:pt modelId="{4E3179C4-5FB0-4E8E-87BE-B833747C6B73}" type="pres">
      <dgm:prSet presAssocID="{3EDD8D14-6DDA-4876-AB14-4CC09DD935B1}" presName="composite3" presStyleCnt="0"/>
      <dgm:spPr/>
    </dgm:pt>
    <dgm:pt modelId="{7DCBB6E1-ED1B-4645-8F21-67AC37456406}" type="pres">
      <dgm:prSet presAssocID="{3EDD8D14-6DDA-4876-AB14-4CC09DD935B1}" presName="background3" presStyleLbl="node3" presStyleIdx="3" presStyleCnt="4"/>
      <dgm:spPr/>
    </dgm:pt>
    <dgm:pt modelId="{C220A5E9-523D-4007-AABE-88D6FD8F343C}" type="pres">
      <dgm:prSet presAssocID="{3EDD8D14-6DDA-4876-AB14-4CC09DD935B1}" presName="text3" presStyleLbl="fgAcc3" presStyleIdx="3" presStyleCnt="4">
        <dgm:presLayoutVars>
          <dgm:chPref val="3"/>
        </dgm:presLayoutVars>
      </dgm:prSet>
      <dgm:spPr/>
      <dgm:t>
        <a:bodyPr/>
        <a:lstStyle/>
        <a:p>
          <a:endParaRPr lang="zh-CN" altLang="en-US"/>
        </a:p>
      </dgm:t>
    </dgm:pt>
    <dgm:pt modelId="{45A48EA8-D1BF-42BB-A1EF-B6797AE25880}" type="pres">
      <dgm:prSet presAssocID="{3EDD8D14-6DDA-4876-AB14-4CC09DD935B1}" presName="hierChild4" presStyleCnt="0"/>
      <dgm:spPr/>
    </dgm:pt>
    <dgm:pt modelId="{9857FE94-28DE-4625-A8C8-A8E7ED1E3B49}" type="pres">
      <dgm:prSet presAssocID="{4D8AFBA1-C23B-4B52-89DF-6192FFAB9D08}" presName="Name10" presStyleLbl="parChTrans1D2" presStyleIdx="2" presStyleCnt="4"/>
      <dgm:spPr/>
      <dgm:t>
        <a:bodyPr/>
        <a:lstStyle/>
        <a:p>
          <a:endParaRPr lang="zh-CN" altLang="en-US"/>
        </a:p>
      </dgm:t>
    </dgm:pt>
    <dgm:pt modelId="{014DA20D-E921-4540-97F1-25F2E8D9B83F}" type="pres">
      <dgm:prSet presAssocID="{A1557A60-0FDE-4621-BD3E-EB63A7EDB905}" presName="hierRoot2" presStyleCnt="0"/>
      <dgm:spPr/>
    </dgm:pt>
    <dgm:pt modelId="{7C718CEB-BC13-48DA-B054-56B25D576904}" type="pres">
      <dgm:prSet presAssocID="{A1557A60-0FDE-4621-BD3E-EB63A7EDB905}" presName="composite2" presStyleCnt="0"/>
      <dgm:spPr/>
    </dgm:pt>
    <dgm:pt modelId="{6EB8D394-437B-4BA4-A3AC-AAE939A54A98}" type="pres">
      <dgm:prSet presAssocID="{A1557A60-0FDE-4621-BD3E-EB63A7EDB905}" presName="background2" presStyleLbl="node2" presStyleIdx="2" presStyleCnt="4"/>
      <dgm:spPr/>
    </dgm:pt>
    <dgm:pt modelId="{8AAD8D68-702A-4391-8B34-50F4F5C7B19A}" type="pres">
      <dgm:prSet presAssocID="{A1557A60-0FDE-4621-BD3E-EB63A7EDB905}" presName="text2" presStyleLbl="fgAcc2" presStyleIdx="2" presStyleCnt="4">
        <dgm:presLayoutVars>
          <dgm:chPref val="3"/>
        </dgm:presLayoutVars>
      </dgm:prSet>
      <dgm:spPr/>
      <dgm:t>
        <a:bodyPr/>
        <a:lstStyle/>
        <a:p>
          <a:endParaRPr lang="zh-CN" altLang="en-US"/>
        </a:p>
      </dgm:t>
    </dgm:pt>
    <dgm:pt modelId="{FFBB0E3C-3248-4F58-83F0-C816689F0439}" type="pres">
      <dgm:prSet presAssocID="{A1557A60-0FDE-4621-BD3E-EB63A7EDB905}" presName="hierChild3" presStyleCnt="0"/>
      <dgm:spPr/>
    </dgm:pt>
    <dgm:pt modelId="{4D97D0A5-8FA6-40CF-867F-A10DBE37697E}" type="pres">
      <dgm:prSet presAssocID="{6929CEE4-3128-45CD-8A09-A7EB07FCC3EE}" presName="Name10" presStyleLbl="parChTrans1D2" presStyleIdx="3" presStyleCnt="4"/>
      <dgm:spPr/>
      <dgm:t>
        <a:bodyPr/>
        <a:lstStyle/>
        <a:p>
          <a:endParaRPr lang="zh-CN" altLang="en-US"/>
        </a:p>
      </dgm:t>
    </dgm:pt>
    <dgm:pt modelId="{03116521-88A5-40E1-938F-912DE0D0380F}" type="pres">
      <dgm:prSet presAssocID="{8C69848C-42EB-42B6-A6D4-50362C2F8D3F}" presName="hierRoot2" presStyleCnt="0"/>
      <dgm:spPr/>
    </dgm:pt>
    <dgm:pt modelId="{757C62BB-8C3A-4D5E-AB76-C1A3E122D41F}" type="pres">
      <dgm:prSet presAssocID="{8C69848C-42EB-42B6-A6D4-50362C2F8D3F}" presName="composite2" presStyleCnt="0"/>
      <dgm:spPr/>
    </dgm:pt>
    <dgm:pt modelId="{F1F8FCE7-9F96-41F2-8800-FEFBB128A0BC}" type="pres">
      <dgm:prSet presAssocID="{8C69848C-42EB-42B6-A6D4-50362C2F8D3F}" presName="background2" presStyleLbl="node2" presStyleIdx="3" presStyleCnt="4"/>
      <dgm:spPr/>
    </dgm:pt>
    <dgm:pt modelId="{6F1D3350-AB67-43E8-8954-09E838B0371F}" type="pres">
      <dgm:prSet presAssocID="{8C69848C-42EB-42B6-A6D4-50362C2F8D3F}" presName="text2" presStyleLbl="fgAcc2" presStyleIdx="3" presStyleCnt="4" custScaleX="154878">
        <dgm:presLayoutVars>
          <dgm:chPref val="3"/>
        </dgm:presLayoutVars>
      </dgm:prSet>
      <dgm:spPr/>
      <dgm:t>
        <a:bodyPr/>
        <a:lstStyle/>
        <a:p>
          <a:endParaRPr lang="zh-CN" altLang="en-US"/>
        </a:p>
      </dgm:t>
    </dgm:pt>
    <dgm:pt modelId="{5E2D4E1A-7FB2-4C74-A86F-AC5818BF33EE}" type="pres">
      <dgm:prSet presAssocID="{8C69848C-42EB-42B6-A6D4-50362C2F8D3F}" presName="hierChild3" presStyleCnt="0"/>
      <dgm:spPr/>
    </dgm:pt>
  </dgm:ptLst>
  <dgm:cxnLst>
    <dgm:cxn modelId="{8A5EFECA-ADDD-4C40-860B-F9788508C394}" srcId="{27C81501-AEE1-4978-8236-2413A9018F80}" destId="{FB80F7A6-76CE-4371-8294-B317E4360993}" srcOrd="0" destOrd="0" parTransId="{DDAD1373-17C4-49A8-AD5B-46F6B54D4BFE}" sibTransId="{C2039299-F49C-44CF-BA5F-8C9C73E0488B}"/>
    <dgm:cxn modelId="{A39BDC97-AF42-4FDC-B235-CC5822E45E45}" type="presOf" srcId="{E7993DC9-D580-4612-A955-12790551315A}" destId="{D3FFCBD5-ACE4-4224-9701-8D77F4FFDF89}" srcOrd="0" destOrd="0" presId="urn:microsoft.com/office/officeart/2005/8/layout/hierarchy1"/>
    <dgm:cxn modelId="{661BDE62-2175-4018-BB29-46A0E5E9C3D1}" type="presOf" srcId="{4D8AFBA1-C23B-4B52-89DF-6192FFAB9D08}" destId="{9857FE94-28DE-4625-A8C8-A8E7ED1E3B49}" srcOrd="0" destOrd="0" presId="urn:microsoft.com/office/officeart/2005/8/layout/hierarchy1"/>
    <dgm:cxn modelId="{9D6B6FDC-C377-4DCC-B5C0-839ED2E70985}" type="presOf" srcId="{4DABCF3D-2150-4D26-8DD9-CEB831CE2977}" destId="{3E97E1B0-8746-44F0-88F4-3097D95428A0}" srcOrd="0" destOrd="0" presId="urn:microsoft.com/office/officeart/2005/8/layout/hierarchy1"/>
    <dgm:cxn modelId="{CEA47C7C-59DA-4CC0-ADC2-842A4CA613EE}" type="presOf" srcId="{D8A4AA7B-F1B1-42A2-AEF8-E8593DDE3337}" destId="{C159D7EB-93A1-4C3F-9215-9D95F99FBBAA}" srcOrd="0" destOrd="0" presId="urn:microsoft.com/office/officeart/2005/8/layout/hierarchy1"/>
    <dgm:cxn modelId="{E8D7977B-CD2D-4AB9-A53E-D70179AA4AA3}" srcId="{FB80F7A6-76CE-4371-8294-B317E4360993}" destId="{8C69848C-42EB-42B6-A6D4-50362C2F8D3F}" srcOrd="3" destOrd="0" parTransId="{6929CEE4-3128-45CD-8A09-A7EB07FCC3EE}" sibTransId="{9CA74973-C222-4D4D-B6AD-619CCD52E491}"/>
    <dgm:cxn modelId="{F63F0E05-5A46-4A92-A558-84C020E05524}" type="presOf" srcId="{0CE6DE26-9E5A-45D1-B449-1B0F414F0891}" destId="{2F0E8B93-FEB9-4546-8A2D-410488C7EBD9}" srcOrd="0" destOrd="0" presId="urn:microsoft.com/office/officeart/2005/8/layout/hierarchy1"/>
    <dgm:cxn modelId="{8B213B6B-4AB4-4408-B411-0BB3A1C2F688}" srcId="{FB80F7A6-76CE-4371-8294-B317E4360993}" destId="{81EA7C87-011C-458E-8B0B-F152C45CE2D5}" srcOrd="0" destOrd="0" parTransId="{0CE6DE26-9E5A-45D1-B449-1B0F414F0891}" sibTransId="{CCA831EF-AF83-4A96-BA7D-6501FFA127F6}"/>
    <dgm:cxn modelId="{FD8ECDC7-4CE1-499D-9097-2B1965B7BEF8}" type="presOf" srcId="{6929CEE4-3128-45CD-8A09-A7EB07FCC3EE}" destId="{4D97D0A5-8FA6-40CF-867F-A10DBE37697E}" srcOrd="0" destOrd="0" presId="urn:microsoft.com/office/officeart/2005/8/layout/hierarchy1"/>
    <dgm:cxn modelId="{FDBC11FC-8DEA-46DD-9B22-75D9219F701B}" srcId="{FB80F7A6-76CE-4371-8294-B317E4360993}" destId="{A1557A60-0FDE-4621-BD3E-EB63A7EDB905}" srcOrd="2" destOrd="0" parTransId="{4D8AFBA1-C23B-4B52-89DF-6192FFAB9D08}" sibTransId="{70B50CBD-C06E-4B0C-9B74-D293A36A70B4}"/>
    <dgm:cxn modelId="{5D298860-B143-4A0B-8FAE-79318908612C}" type="presOf" srcId="{0FDDCFFC-8BED-48E3-BC07-2B818FB1A4B1}" destId="{627FCE86-B813-4AA2-BF34-08B3A1B85BD6}" srcOrd="0" destOrd="0" presId="urn:microsoft.com/office/officeart/2005/8/layout/hierarchy1"/>
    <dgm:cxn modelId="{C056A20C-5B48-41B6-A8BE-864369C856FD}" type="presOf" srcId="{7418A793-D6CD-492C-A80C-05BDD93138B7}" destId="{C2D8BEBE-237A-414B-9DBC-E25B49C0C1BA}" srcOrd="0" destOrd="0" presId="urn:microsoft.com/office/officeart/2005/8/layout/hierarchy1"/>
    <dgm:cxn modelId="{2FB3E663-445B-46FE-9D83-197D2982D5D5}" type="presOf" srcId="{A1557A60-0FDE-4621-BD3E-EB63A7EDB905}" destId="{8AAD8D68-702A-4391-8B34-50F4F5C7B19A}" srcOrd="0" destOrd="0" presId="urn:microsoft.com/office/officeart/2005/8/layout/hierarchy1"/>
    <dgm:cxn modelId="{AF89ADE5-2670-478E-8DC3-7C202D651FCD}" type="presOf" srcId="{27C81501-AEE1-4978-8236-2413A9018F80}" destId="{E86A13ED-713D-4093-93BA-2BAE76539737}" srcOrd="0" destOrd="0" presId="urn:microsoft.com/office/officeart/2005/8/layout/hierarchy1"/>
    <dgm:cxn modelId="{64E1C9F4-857F-4D8A-9584-7EE5DD1AFE69}" type="presOf" srcId="{81EA7C87-011C-458E-8B0B-F152C45CE2D5}" destId="{C383B9D6-BACE-49A3-BDA6-EDE8BECA2B5B}" srcOrd="0" destOrd="0" presId="urn:microsoft.com/office/officeart/2005/8/layout/hierarchy1"/>
    <dgm:cxn modelId="{177DAE0F-5718-4B88-95E8-B185B1E01A5C}" type="presOf" srcId="{8C69848C-42EB-42B6-A6D4-50362C2F8D3F}" destId="{6F1D3350-AB67-43E8-8954-09E838B0371F}" srcOrd="0" destOrd="0" presId="urn:microsoft.com/office/officeart/2005/8/layout/hierarchy1"/>
    <dgm:cxn modelId="{BC867951-8637-4BF1-953D-2282EAB05B77}" srcId="{D8A4AA7B-F1B1-42A2-AEF8-E8593DDE3337}" destId="{5E79D49C-2706-40FA-A732-F6C972C314BC}" srcOrd="1" destOrd="0" parTransId="{0FDDCFFC-8BED-48E3-BC07-2B818FB1A4B1}" sibTransId="{0BEBD6B5-14EC-474B-95E1-D565A0FFF0DB}"/>
    <dgm:cxn modelId="{98E99E02-D559-4C0C-A267-3A9BFF6C1C4D}" type="presOf" srcId="{5E79D49C-2706-40FA-A732-F6C972C314BC}" destId="{57EB52D1-EFAA-4000-BF03-4A3C8B371B51}" srcOrd="0" destOrd="0" presId="urn:microsoft.com/office/officeart/2005/8/layout/hierarchy1"/>
    <dgm:cxn modelId="{0674EDCD-E775-4CBD-8F7B-1DA6041EFED4}" srcId="{D8A4AA7B-F1B1-42A2-AEF8-E8593DDE3337}" destId="{3EDD8D14-6DDA-4876-AB14-4CC09DD935B1}" srcOrd="3" destOrd="0" parTransId="{2C93493E-6D87-4BE5-8ABE-934052108B2A}" sibTransId="{8BE9EE1D-12FC-42CE-81C6-6BBFCAAB89B6}"/>
    <dgm:cxn modelId="{33E4D7AE-F8E4-47FE-AFB5-A539A93C9D61}" srcId="{D8A4AA7B-F1B1-42A2-AEF8-E8593DDE3337}" destId="{7418A793-D6CD-492C-A80C-05BDD93138B7}" srcOrd="0" destOrd="0" parTransId="{4DABCF3D-2150-4D26-8DD9-CEB831CE2977}" sibTransId="{C1F0FD22-65C3-4949-A141-25F46C6A1F6A}"/>
    <dgm:cxn modelId="{F4443E0A-8A33-44B7-9944-A829D2394DCA}" type="presOf" srcId="{2C93493E-6D87-4BE5-8ABE-934052108B2A}" destId="{F18388E2-565F-4710-B0AF-405410CE1437}" srcOrd="0" destOrd="0" presId="urn:microsoft.com/office/officeart/2005/8/layout/hierarchy1"/>
    <dgm:cxn modelId="{672E5C00-1C97-4463-B02A-9842A6F97171}" type="presOf" srcId="{1652C38F-BDBC-4CDF-BFD2-A68FA726E916}" destId="{4CCFDD1B-ED03-45A3-B155-0D977D45F1FC}" srcOrd="0" destOrd="0" presId="urn:microsoft.com/office/officeart/2005/8/layout/hierarchy1"/>
    <dgm:cxn modelId="{56E0E0B4-99D0-45E4-AF5E-D11F58B6B0FE}" srcId="{FB80F7A6-76CE-4371-8294-B317E4360993}" destId="{D8A4AA7B-F1B1-42A2-AEF8-E8593DDE3337}" srcOrd="1" destOrd="0" parTransId="{1652C38F-BDBC-4CDF-BFD2-A68FA726E916}" sibTransId="{C210B9A4-2ABA-455B-B704-7CA94CD14F74}"/>
    <dgm:cxn modelId="{18B1BE93-5423-4442-A7DE-A23F9AECAE3D}" type="presOf" srcId="{FB80F7A6-76CE-4371-8294-B317E4360993}" destId="{8E11B7AB-CEA7-4942-B784-DF60CB71ABEA}" srcOrd="0" destOrd="0" presId="urn:microsoft.com/office/officeart/2005/8/layout/hierarchy1"/>
    <dgm:cxn modelId="{75707D89-DF0C-4532-8DE7-0E10B84CFA42}" type="presOf" srcId="{3EDD8D14-6DDA-4876-AB14-4CC09DD935B1}" destId="{C220A5E9-523D-4007-AABE-88D6FD8F343C}" srcOrd="0" destOrd="0" presId="urn:microsoft.com/office/officeart/2005/8/layout/hierarchy1"/>
    <dgm:cxn modelId="{7205B3FB-7D65-461C-9DCD-62BD5960A916}" type="presOf" srcId="{99042A33-62F4-405B-8516-760C76196416}" destId="{1357CB96-2D90-4057-9252-8C77BB79D1DB}" srcOrd="0" destOrd="0" presId="urn:microsoft.com/office/officeart/2005/8/layout/hierarchy1"/>
    <dgm:cxn modelId="{4429112D-5A26-4CCE-9A94-DBC75C3B8307}" srcId="{D8A4AA7B-F1B1-42A2-AEF8-E8593DDE3337}" destId="{99042A33-62F4-405B-8516-760C76196416}" srcOrd="2" destOrd="0" parTransId="{E7993DC9-D580-4612-A955-12790551315A}" sibTransId="{BC99D463-3B98-4FAD-AFDD-D6461F652FE6}"/>
    <dgm:cxn modelId="{8EE37672-3954-41D6-B986-ABCEE06CC08F}" type="presParOf" srcId="{E86A13ED-713D-4093-93BA-2BAE76539737}" destId="{C8672265-69C4-4953-B893-FCB9C4E30D99}" srcOrd="0" destOrd="0" presId="urn:microsoft.com/office/officeart/2005/8/layout/hierarchy1"/>
    <dgm:cxn modelId="{FB10D148-1D9B-453F-9D4B-92BCCC39F6B9}" type="presParOf" srcId="{C8672265-69C4-4953-B893-FCB9C4E30D99}" destId="{DF562301-A7B1-4ED1-87C6-DF83C9A165A1}" srcOrd="0" destOrd="0" presId="urn:microsoft.com/office/officeart/2005/8/layout/hierarchy1"/>
    <dgm:cxn modelId="{DA3B73EB-8E0E-4451-845E-A0D274FBE958}" type="presParOf" srcId="{DF562301-A7B1-4ED1-87C6-DF83C9A165A1}" destId="{DD46B97C-6AA1-4CF0-9BBF-A0A521779686}" srcOrd="0" destOrd="0" presId="urn:microsoft.com/office/officeart/2005/8/layout/hierarchy1"/>
    <dgm:cxn modelId="{79B2F924-BA7A-4866-941F-3C16F5B4A1C9}" type="presParOf" srcId="{DF562301-A7B1-4ED1-87C6-DF83C9A165A1}" destId="{8E11B7AB-CEA7-4942-B784-DF60CB71ABEA}" srcOrd="1" destOrd="0" presId="urn:microsoft.com/office/officeart/2005/8/layout/hierarchy1"/>
    <dgm:cxn modelId="{3D667A9B-21F7-405E-BB32-05D98E0D53F4}" type="presParOf" srcId="{C8672265-69C4-4953-B893-FCB9C4E30D99}" destId="{202EC7BB-0C5A-4588-B8A5-F746E1797FDE}" srcOrd="1" destOrd="0" presId="urn:microsoft.com/office/officeart/2005/8/layout/hierarchy1"/>
    <dgm:cxn modelId="{FD4AF454-FD4E-47CC-BF5A-9AE55621C3C9}" type="presParOf" srcId="{202EC7BB-0C5A-4588-B8A5-F746E1797FDE}" destId="{2F0E8B93-FEB9-4546-8A2D-410488C7EBD9}" srcOrd="0" destOrd="0" presId="urn:microsoft.com/office/officeart/2005/8/layout/hierarchy1"/>
    <dgm:cxn modelId="{C314751F-C47A-41BE-A58C-8A6873197C5F}" type="presParOf" srcId="{202EC7BB-0C5A-4588-B8A5-F746E1797FDE}" destId="{B17B7698-5C4B-49FC-95C0-82007282E93F}" srcOrd="1" destOrd="0" presId="urn:microsoft.com/office/officeart/2005/8/layout/hierarchy1"/>
    <dgm:cxn modelId="{12E3E763-2A86-4755-9D69-FE55736337F2}" type="presParOf" srcId="{B17B7698-5C4B-49FC-95C0-82007282E93F}" destId="{1C5A3A99-85A1-4689-AA99-22C01E0927FA}" srcOrd="0" destOrd="0" presId="urn:microsoft.com/office/officeart/2005/8/layout/hierarchy1"/>
    <dgm:cxn modelId="{867C1A10-2A65-4832-BF73-8C9574252FE0}" type="presParOf" srcId="{1C5A3A99-85A1-4689-AA99-22C01E0927FA}" destId="{8C7512A0-AE95-4A10-B588-7BF4F439B100}" srcOrd="0" destOrd="0" presId="urn:microsoft.com/office/officeart/2005/8/layout/hierarchy1"/>
    <dgm:cxn modelId="{7999432A-1644-4D69-9E32-578A890573A8}" type="presParOf" srcId="{1C5A3A99-85A1-4689-AA99-22C01E0927FA}" destId="{C383B9D6-BACE-49A3-BDA6-EDE8BECA2B5B}" srcOrd="1" destOrd="0" presId="urn:microsoft.com/office/officeart/2005/8/layout/hierarchy1"/>
    <dgm:cxn modelId="{5CB1CACD-960A-4850-966E-DA3A65A5999E}" type="presParOf" srcId="{B17B7698-5C4B-49FC-95C0-82007282E93F}" destId="{E4DA02BB-2744-46FC-9810-2FABE4FC405C}" srcOrd="1" destOrd="0" presId="urn:microsoft.com/office/officeart/2005/8/layout/hierarchy1"/>
    <dgm:cxn modelId="{1F1EE707-C16D-4B0F-91B0-206ACB01FE14}" type="presParOf" srcId="{202EC7BB-0C5A-4588-B8A5-F746E1797FDE}" destId="{4CCFDD1B-ED03-45A3-B155-0D977D45F1FC}" srcOrd="2" destOrd="0" presId="urn:microsoft.com/office/officeart/2005/8/layout/hierarchy1"/>
    <dgm:cxn modelId="{4674EC43-DFCC-4A6B-8897-1DFD60E25790}" type="presParOf" srcId="{202EC7BB-0C5A-4588-B8A5-F746E1797FDE}" destId="{AFBA5303-2F60-408F-AE72-3B48264839BE}" srcOrd="3" destOrd="0" presId="urn:microsoft.com/office/officeart/2005/8/layout/hierarchy1"/>
    <dgm:cxn modelId="{004D0496-6972-4244-8318-A3CAEE21479D}" type="presParOf" srcId="{AFBA5303-2F60-408F-AE72-3B48264839BE}" destId="{34F21F16-3BEF-43AB-B252-65BADEAB7012}" srcOrd="0" destOrd="0" presId="urn:microsoft.com/office/officeart/2005/8/layout/hierarchy1"/>
    <dgm:cxn modelId="{E46CD50E-25D8-4C72-AF12-12646D871D53}" type="presParOf" srcId="{34F21F16-3BEF-43AB-B252-65BADEAB7012}" destId="{3BC9F215-AA55-4A1A-80F2-D0003DB2F985}" srcOrd="0" destOrd="0" presId="urn:microsoft.com/office/officeart/2005/8/layout/hierarchy1"/>
    <dgm:cxn modelId="{B3CB511B-F716-4816-BCE9-86D2E394CD49}" type="presParOf" srcId="{34F21F16-3BEF-43AB-B252-65BADEAB7012}" destId="{C159D7EB-93A1-4C3F-9215-9D95F99FBBAA}" srcOrd="1" destOrd="0" presId="urn:microsoft.com/office/officeart/2005/8/layout/hierarchy1"/>
    <dgm:cxn modelId="{3F296346-EB69-4887-AB48-7088F5A5E041}" type="presParOf" srcId="{AFBA5303-2F60-408F-AE72-3B48264839BE}" destId="{5B32763F-8F58-4FFE-94D6-69F5EBA0628F}" srcOrd="1" destOrd="0" presId="urn:microsoft.com/office/officeart/2005/8/layout/hierarchy1"/>
    <dgm:cxn modelId="{52EB15EA-487D-4514-A993-7CA0F101C46E}" type="presParOf" srcId="{5B32763F-8F58-4FFE-94D6-69F5EBA0628F}" destId="{3E97E1B0-8746-44F0-88F4-3097D95428A0}" srcOrd="0" destOrd="0" presId="urn:microsoft.com/office/officeart/2005/8/layout/hierarchy1"/>
    <dgm:cxn modelId="{996B1A40-AD44-459D-949F-58817F927073}" type="presParOf" srcId="{5B32763F-8F58-4FFE-94D6-69F5EBA0628F}" destId="{8A2BC423-5FED-4DD1-9A4A-BBA6DF0A4FF7}" srcOrd="1" destOrd="0" presId="urn:microsoft.com/office/officeart/2005/8/layout/hierarchy1"/>
    <dgm:cxn modelId="{7298504A-91D0-4670-BE81-9745087A037D}" type="presParOf" srcId="{8A2BC423-5FED-4DD1-9A4A-BBA6DF0A4FF7}" destId="{860611D0-EB73-4E4F-BDDB-792A1648048D}" srcOrd="0" destOrd="0" presId="urn:microsoft.com/office/officeart/2005/8/layout/hierarchy1"/>
    <dgm:cxn modelId="{3860617E-0455-4D25-846A-73537032A9F3}" type="presParOf" srcId="{860611D0-EB73-4E4F-BDDB-792A1648048D}" destId="{A891929F-50B8-4EB6-95BD-80C84665AFE6}" srcOrd="0" destOrd="0" presId="urn:microsoft.com/office/officeart/2005/8/layout/hierarchy1"/>
    <dgm:cxn modelId="{786CF6E1-D9B8-48C5-BCB1-57813ED8CA7D}" type="presParOf" srcId="{860611D0-EB73-4E4F-BDDB-792A1648048D}" destId="{C2D8BEBE-237A-414B-9DBC-E25B49C0C1BA}" srcOrd="1" destOrd="0" presId="urn:microsoft.com/office/officeart/2005/8/layout/hierarchy1"/>
    <dgm:cxn modelId="{66D7A008-B568-4F98-9984-504F9BB31768}" type="presParOf" srcId="{8A2BC423-5FED-4DD1-9A4A-BBA6DF0A4FF7}" destId="{690B498D-55E5-4746-8C9C-F8F1B335A428}" srcOrd="1" destOrd="0" presId="urn:microsoft.com/office/officeart/2005/8/layout/hierarchy1"/>
    <dgm:cxn modelId="{8C91FFC6-FC1D-4C32-9F0E-671FA2BF0917}" type="presParOf" srcId="{5B32763F-8F58-4FFE-94D6-69F5EBA0628F}" destId="{627FCE86-B813-4AA2-BF34-08B3A1B85BD6}" srcOrd="2" destOrd="0" presId="urn:microsoft.com/office/officeart/2005/8/layout/hierarchy1"/>
    <dgm:cxn modelId="{BBF9F367-7FBD-4889-9745-469939725190}" type="presParOf" srcId="{5B32763F-8F58-4FFE-94D6-69F5EBA0628F}" destId="{584DDACB-DA34-46AF-B464-63448BA9E8E7}" srcOrd="3" destOrd="0" presId="urn:microsoft.com/office/officeart/2005/8/layout/hierarchy1"/>
    <dgm:cxn modelId="{DEED66C1-DF32-4E33-9286-4315668D38DF}" type="presParOf" srcId="{584DDACB-DA34-46AF-B464-63448BA9E8E7}" destId="{9703048D-5A25-43F6-8D17-2FE42260A52C}" srcOrd="0" destOrd="0" presId="urn:microsoft.com/office/officeart/2005/8/layout/hierarchy1"/>
    <dgm:cxn modelId="{FD4D602D-8FF5-4B03-A146-F0513408ADE1}" type="presParOf" srcId="{9703048D-5A25-43F6-8D17-2FE42260A52C}" destId="{A711716D-DC2F-4548-A0E5-7E43808B80D5}" srcOrd="0" destOrd="0" presId="urn:microsoft.com/office/officeart/2005/8/layout/hierarchy1"/>
    <dgm:cxn modelId="{3ACB66BB-ADFA-49AF-97AF-220CE1FB860C}" type="presParOf" srcId="{9703048D-5A25-43F6-8D17-2FE42260A52C}" destId="{57EB52D1-EFAA-4000-BF03-4A3C8B371B51}" srcOrd="1" destOrd="0" presId="urn:microsoft.com/office/officeart/2005/8/layout/hierarchy1"/>
    <dgm:cxn modelId="{626B489A-42F5-4139-9FAB-E63F4ADF09B7}" type="presParOf" srcId="{584DDACB-DA34-46AF-B464-63448BA9E8E7}" destId="{14C6AD13-BBBC-455A-A6A1-0F543EF4474A}" srcOrd="1" destOrd="0" presId="urn:microsoft.com/office/officeart/2005/8/layout/hierarchy1"/>
    <dgm:cxn modelId="{1313382C-E48E-4534-9F61-9CAB52CB245D}" type="presParOf" srcId="{5B32763F-8F58-4FFE-94D6-69F5EBA0628F}" destId="{D3FFCBD5-ACE4-4224-9701-8D77F4FFDF89}" srcOrd="4" destOrd="0" presId="urn:microsoft.com/office/officeart/2005/8/layout/hierarchy1"/>
    <dgm:cxn modelId="{CF698A93-7850-4B32-A001-A8685E28A00C}" type="presParOf" srcId="{5B32763F-8F58-4FFE-94D6-69F5EBA0628F}" destId="{30D77CC0-EC12-44AE-ABF3-F845B3FCD29F}" srcOrd="5" destOrd="0" presId="urn:microsoft.com/office/officeart/2005/8/layout/hierarchy1"/>
    <dgm:cxn modelId="{94EA8088-26F8-452B-A58A-4BCC95BDA9FE}" type="presParOf" srcId="{30D77CC0-EC12-44AE-ABF3-F845B3FCD29F}" destId="{5ED802AC-340B-49A5-89CB-102CDDE6245E}" srcOrd="0" destOrd="0" presId="urn:microsoft.com/office/officeart/2005/8/layout/hierarchy1"/>
    <dgm:cxn modelId="{8B306F9E-DB7D-4421-B99A-5F210F0E286D}" type="presParOf" srcId="{5ED802AC-340B-49A5-89CB-102CDDE6245E}" destId="{0706A6C6-7B49-48F7-A97D-75206C32A94D}" srcOrd="0" destOrd="0" presId="urn:microsoft.com/office/officeart/2005/8/layout/hierarchy1"/>
    <dgm:cxn modelId="{7B618997-62E5-44F8-AB16-CB29707FD734}" type="presParOf" srcId="{5ED802AC-340B-49A5-89CB-102CDDE6245E}" destId="{1357CB96-2D90-4057-9252-8C77BB79D1DB}" srcOrd="1" destOrd="0" presId="urn:microsoft.com/office/officeart/2005/8/layout/hierarchy1"/>
    <dgm:cxn modelId="{A64EBB64-0F51-420A-937F-0DC2064374FD}" type="presParOf" srcId="{30D77CC0-EC12-44AE-ABF3-F845B3FCD29F}" destId="{96236D2F-C394-4768-B47B-0B825715BCE9}" srcOrd="1" destOrd="0" presId="urn:microsoft.com/office/officeart/2005/8/layout/hierarchy1"/>
    <dgm:cxn modelId="{6799388D-D38E-4B7D-8580-B05111EDC7F2}" type="presParOf" srcId="{5B32763F-8F58-4FFE-94D6-69F5EBA0628F}" destId="{F18388E2-565F-4710-B0AF-405410CE1437}" srcOrd="6" destOrd="0" presId="urn:microsoft.com/office/officeart/2005/8/layout/hierarchy1"/>
    <dgm:cxn modelId="{6AC10BF6-0FA8-41FC-BA4B-155129371996}" type="presParOf" srcId="{5B32763F-8F58-4FFE-94D6-69F5EBA0628F}" destId="{1835F7E5-86EC-47E6-9B4E-6B69914A937C}" srcOrd="7" destOrd="0" presId="urn:microsoft.com/office/officeart/2005/8/layout/hierarchy1"/>
    <dgm:cxn modelId="{ADC38D77-F26F-40DC-B50E-55EA218C9733}" type="presParOf" srcId="{1835F7E5-86EC-47E6-9B4E-6B69914A937C}" destId="{4E3179C4-5FB0-4E8E-87BE-B833747C6B73}" srcOrd="0" destOrd="0" presId="urn:microsoft.com/office/officeart/2005/8/layout/hierarchy1"/>
    <dgm:cxn modelId="{637FC49B-EA45-4DCB-A251-1632D9E7AA48}" type="presParOf" srcId="{4E3179C4-5FB0-4E8E-87BE-B833747C6B73}" destId="{7DCBB6E1-ED1B-4645-8F21-67AC37456406}" srcOrd="0" destOrd="0" presId="urn:microsoft.com/office/officeart/2005/8/layout/hierarchy1"/>
    <dgm:cxn modelId="{90695B9C-0E95-4C25-9521-D54AE6420B40}" type="presParOf" srcId="{4E3179C4-5FB0-4E8E-87BE-B833747C6B73}" destId="{C220A5E9-523D-4007-AABE-88D6FD8F343C}" srcOrd="1" destOrd="0" presId="urn:microsoft.com/office/officeart/2005/8/layout/hierarchy1"/>
    <dgm:cxn modelId="{5E967A9A-EF57-4FCA-842A-6087E7764CC6}" type="presParOf" srcId="{1835F7E5-86EC-47E6-9B4E-6B69914A937C}" destId="{45A48EA8-D1BF-42BB-A1EF-B6797AE25880}" srcOrd="1" destOrd="0" presId="urn:microsoft.com/office/officeart/2005/8/layout/hierarchy1"/>
    <dgm:cxn modelId="{37B748A7-F820-4954-9D30-3139647182AD}" type="presParOf" srcId="{202EC7BB-0C5A-4588-B8A5-F746E1797FDE}" destId="{9857FE94-28DE-4625-A8C8-A8E7ED1E3B49}" srcOrd="4" destOrd="0" presId="urn:microsoft.com/office/officeart/2005/8/layout/hierarchy1"/>
    <dgm:cxn modelId="{82063A01-981E-497C-93E7-48FC14B96FEA}" type="presParOf" srcId="{202EC7BB-0C5A-4588-B8A5-F746E1797FDE}" destId="{014DA20D-E921-4540-97F1-25F2E8D9B83F}" srcOrd="5" destOrd="0" presId="urn:microsoft.com/office/officeart/2005/8/layout/hierarchy1"/>
    <dgm:cxn modelId="{8C1A9A06-0696-4CB4-A994-896AE9CDFD8A}" type="presParOf" srcId="{014DA20D-E921-4540-97F1-25F2E8D9B83F}" destId="{7C718CEB-BC13-48DA-B054-56B25D576904}" srcOrd="0" destOrd="0" presId="urn:microsoft.com/office/officeart/2005/8/layout/hierarchy1"/>
    <dgm:cxn modelId="{F4A3F791-4DAA-49F4-95F7-C33CF35010F1}" type="presParOf" srcId="{7C718CEB-BC13-48DA-B054-56B25D576904}" destId="{6EB8D394-437B-4BA4-A3AC-AAE939A54A98}" srcOrd="0" destOrd="0" presId="urn:microsoft.com/office/officeart/2005/8/layout/hierarchy1"/>
    <dgm:cxn modelId="{686A1E83-5302-4A9E-9A00-F93F382BD449}" type="presParOf" srcId="{7C718CEB-BC13-48DA-B054-56B25D576904}" destId="{8AAD8D68-702A-4391-8B34-50F4F5C7B19A}" srcOrd="1" destOrd="0" presId="urn:microsoft.com/office/officeart/2005/8/layout/hierarchy1"/>
    <dgm:cxn modelId="{B6ED5FBF-D4C9-45F6-A3BC-D41ED2770B3C}" type="presParOf" srcId="{014DA20D-E921-4540-97F1-25F2E8D9B83F}" destId="{FFBB0E3C-3248-4F58-83F0-C816689F0439}" srcOrd="1" destOrd="0" presId="urn:microsoft.com/office/officeart/2005/8/layout/hierarchy1"/>
    <dgm:cxn modelId="{09CF582D-89CE-49B9-9E64-2D79379AE7C3}" type="presParOf" srcId="{202EC7BB-0C5A-4588-B8A5-F746E1797FDE}" destId="{4D97D0A5-8FA6-40CF-867F-A10DBE37697E}" srcOrd="6" destOrd="0" presId="urn:microsoft.com/office/officeart/2005/8/layout/hierarchy1"/>
    <dgm:cxn modelId="{BB2FAC3B-40D3-4E36-9C3F-CAD0F4FE1263}" type="presParOf" srcId="{202EC7BB-0C5A-4588-B8A5-F746E1797FDE}" destId="{03116521-88A5-40E1-938F-912DE0D0380F}" srcOrd="7" destOrd="0" presId="urn:microsoft.com/office/officeart/2005/8/layout/hierarchy1"/>
    <dgm:cxn modelId="{4672459D-8669-47F2-9AE4-5AA26503885A}" type="presParOf" srcId="{03116521-88A5-40E1-938F-912DE0D0380F}" destId="{757C62BB-8C3A-4D5E-AB76-C1A3E122D41F}" srcOrd="0" destOrd="0" presId="urn:microsoft.com/office/officeart/2005/8/layout/hierarchy1"/>
    <dgm:cxn modelId="{04FAAF75-8013-403B-9742-7C5FA08B296C}" type="presParOf" srcId="{757C62BB-8C3A-4D5E-AB76-C1A3E122D41F}" destId="{F1F8FCE7-9F96-41F2-8800-FEFBB128A0BC}" srcOrd="0" destOrd="0" presId="urn:microsoft.com/office/officeart/2005/8/layout/hierarchy1"/>
    <dgm:cxn modelId="{04E4701F-1270-4E05-8FC9-81A1928E1AD6}" type="presParOf" srcId="{757C62BB-8C3A-4D5E-AB76-C1A3E122D41F}" destId="{6F1D3350-AB67-43E8-8954-09E838B0371F}" srcOrd="1" destOrd="0" presId="urn:microsoft.com/office/officeart/2005/8/layout/hierarchy1"/>
    <dgm:cxn modelId="{9D41F53C-9BE0-444E-BE80-EBA513D91926}" type="presParOf" srcId="{03116521-88A5-40E1-938F-912DE0D0380F}" destId="{5E2D4E1A-7FB2-4C74-A86F-AC5818BF33EE}" srcOrd="1" destOrd="0" presId="urn:microsoft.com/office/officeart/2005/8/layout/hierarchy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322BC02-20C5-4060-B29F-FFB66800C5C3}" type="doc">
      <dgm:prSet loTypeId="urn:microsoft.com/office/officeart/2005/8/layout/default#1" loCatId="list" qsTypeId="urn:microsoft.com/office/officeart/2005/8/quickstyle/3d1#4" qsCatId="3D" csTypeId="urn:microsoft.com/office/officeart/2005/8/colors/colorful2#2" csCatId="colorful" phldr="1"/>
      <dgm:spPr/>
      <dgm:t>
        <a:bodyPr/>
        <a:lstStyle/>
        <a:p>
          <a:endParaRPr lang="zh-CN" altLang="en-US"/>
        </a:p>
      </dgm:t>
    </dgm:pt>
    <dgm:pt modelId="{C690A537-C7E8-476F-94F6-E319E907BEEC}">
      <dgm:prSet phldrT="[文本]" custT="1"/>
      <dgm:spPr>
        <a:solidFill>
          <a:schemeClr val="accent1">
            <a:lumMod val="50000"/>
          </a:schemeClr>
        </a:solidFill>
      </dgm:spPr>
      <dgm:t>
        <a:bodyPr/>
        <a:lstStyle/>
        <a:p>
          <a:r>
            <a:rPr lang="zh-CN" altLang="en-US" sz="2000" dirty="0"/>
            <a:t>用例视图</a:t>
          </a:r>
          <a:endParaRPr lang="en-US" altLang="zh-CN" sz="2000" dirty="0"/>
        </a:p>
        <a:p>
          <a:r>
            <a:rPr lang="zh-CN" altLang="en-US" sz="2000" dirty="0"/>
            <a:t>（</a:t>
          </a:r>
          <a:r>
            <a:rPr lang="en-US" altLang="zh-CN" sz="2000" dirty="0"/>
            <a:t>Use Case View</a:t>
          </a:r>
          <a:r>
            <a:rPr lang="zh-CN" altLang="en-US" sz="2000" dirty="0"/>
            <a:t>）</a:t>
          </a:r>
        </a:p>
      </dgm:t>
    </dgm:pt>
    <dgm:pt modelId="{98981666-D307-4768-8CAD-6E4196187417}" cxnId="{2FD67377-F63F-4A08-A1D6-4ECEF61669D0}" type="parTrans">
      <dgm:prSet/>
      <dgm:spPr/>
      <dgm:t>
        <a:bodyPr/>
        <a:lstStyle/>
        <a:p>
          <a:endParaRPr lang="zh-CN" altLang="en-US" sz="2000"/>
        </a:p>
      </dgm:t>
    </dgm:pt>
    <dgm:pt modelId="{43E0A226-7AF7-42A9-ACF2-E667E40275C0}" cxnId="{2FD67377-F63F-4A08-A1D6-4ECEF61669D0}" type="sibTrans">
      <dgm:prSet/>
      <dgm:spPr/>
      <dgm:t>
        <a:bodyPr/>
        <a:lstStyle/>
        <a:p>
          <a:endParaRPr lang="zh-CN" altLang="en-US" sz="2000"/>
        </a:p>
      </dgm:t>
    </dgm:pt>
    <dgm:pt modelId="{26C9B357-E57C-4B65-BF8B-08235AD9F277}">
      <dgm:prSet phldrT="[文本]" custT="1"/>
      <dgm:spPr>
        <a:solidFill>
          <a:schemeClr val="accent1">
            <a:lumMod val="75000"/>
          </a:schemeClr>
        </a:solidFill>
      </dgm:spPr>
      <dgm:t>
        <a:bodyPr/>
        <a:lstStyle/>
        <a:p>
          <a:r>
            <a:rPr lang="zh-CN" altLang="en-US" sz="2000" dirty="0"/>
            <a:t>逻辑视图</a:t>
          </a:r>
          <a:endParaRPr lang="en-US" altLang="zh-CN" sz="2000" dirty="0"/>
        </a:p>
        <a:p>
          <a:r>
            <a:rPr lang="zh-CN" altLang="en-US" sz="2000" dirty="0"/>
            <a:t>（</a:t>
          </a:r>
          <a:r>
            <a:rPr lang="en-US" altLang="zh-CN" sz="2000" dirty="0"/>
            <a:t>Logical View</a:t>
          </a:r>
          <a:r>
            <a:rPr lang="zh-CN" altLang="en-US" sz="2000" dirty="0"/>
            <a:t>）</a:t>
          </a:r>
        </a:p>
      </dgm:t>
    </dgm:pt>
    <dgm:pt modelId="{5680692C-BB1C-4687-B5CF-0AA2AF052A8B}" cxnId="{E77BC7DB-A5AB-4847-8EA7-C1271809060D}" type="parTrans">
      <dgm:prSet/>
      <dgm:spPr/>
      <dgm:t>
        <a:bodyPr/>
        <a:lstStyle/>
        <a:p>
          <a:endParaRPr lang="zh-CN" altLang="en-US" sz="2000"/>
        </a:p>
      </dgm:t>
    </dgm:pt>
    <dgm:pt modelId="{54655A1A-862A-4698-BAE1-425B17FAD5E8}" cxnId="{E77BC7DB-A5AB-4847-8EA7-C1271809060D}" type="sibTrans">
      <dgm:prSet/>
      <dgm:spPr/>
      <dgm:t>
        <a:bodyPr/>
        <a:lstStyle/>
        <a:p>
          <a:endParaRPr lang="zh-CN" altLang="en-US" sz="2000"/>
        </a:p>
      </dgm:t>
    </dgm:pt>
    <dgm:pt modelId="{7A63FAC4-F4E1-41BD-AFF0-BDD3BADBF1E6}">
      <dgm:prSet phldrT="[文本]" custT="1"/>
      <dgm:spPr>
        <a:solidFill>
          <a:schemeClr val="accent1"/>
        </a:solidFill>
      </dgm:spPr>
      <dgm:t>
        <a:bodyPr/>
        <a:lstStyle/>
        <a:p>
          <a:r>
            <a:rPr lang="zh-CN" altLang="en-US" sz="2000" dirty="0">
              <a:effectLst>
                <a:outerShdw blurRad="38100" dist="38100" dir="2700000" algn="tl">
                  <a:srgbClr val="000000">
                    <a:alpha val="43137"/>
                  </a:srgbClr>
                </a:outerShdw>
              </a:effectLst>
            </a:rPr>
            <a:t>并发视图</a:t>
          </a:r>
        </a:p>
        <a:p>
          <a:r>
            <a:rPr lang="zh-CN" altLang="en-US" sz="2000" dirty="0">
              <a:effectLst>
                <a:outerShdw blurRad="38100" dist="38100" dir="2700000" algn="tl">
                  <a:srgbClr val="000000">
                    <a:alpha val="43137"/>
                  </a:srgbClr>
                </a:outerShdw>
              </a:effectLst>
            </a:rPr>
            <a:t>（</a:t>
          </a:r>
          <a:r>
            <a:rPr lang="en-US" altLang="zh-CN" sz="2000" dirty="0">
              <a:effectLst>
                <a:outerShdw blurRad="38100" dist="38100" dir="2700000" algn="tl">
                  <a:srgbClr val="000000">
                    <a:alpha val="43137"/>
                  </a:srgbClr>
                </a:outerShdw>
              </a:effectLst>
            </a:rPr>
            <a:t>Concurrent View</a:t>
          </a:r>
          <a:r>
            <a:rPr lang="zh-CN" altLang="en-US" sz="2000" dirty="0">
              <a:effectLst>
                <a:outerShdw blurRad="38100" dist="38100" dir="2700000" algn="tl">
                  <a:srgbClr val="000000">
                    <a:alpha val="43137"/>
                  </a:srgbClr>
                </a:outerShdw>
              </a:effectLst>
            </a:rPr>
            <a:t>）</a:t>
          </a:r>
        </a:p>
      </dgm:t>
    </dgm:pt>
    <dgm:pt modelId="{D7B22AD4-3474-4F81-BC7C-00D01ACA4E3E}" cxnId="{3E44909C-6A1E-4DFD-86A3-7488D9B9F1AC}" type="parTrans">
      <dgm:prSet/>
      <dgm:spPr/>
      <dgm:t>
        <a:bodyPr/>
        <a:lstStyle/>
        <a:p>
          <a:endParaRPr lang="zh-CN" altLang="en-US" sz="2000"/>
        </a:p>
      </dgm:t>
    </dgm:pt>
    <dgm:pt modelId="{6906C942-A34C-4F25-96FD-040A8AA75B82}" cxnId="{3E44909C-6A1E-4DFD-86A3-7488D9B9F1AC}" type="sibTrans">
      <dgm:prSet/>
      <dgm:spPr/>
      <dgm:t>
        <a:bodyPr/>
        <a:lstStyle/>
        <a:p>
          <a:endParaRPr lang="zh-CN" altLang="en-US" sz="2000"/>
        </a:p>
      </dgm:t>
    </dgm:pt>
    <dgm:pt modelId="{965E8E30-6A72-4BB4-A03C-FC1A88E80C96}">
      <dgm:prSet phldrT="[文本]" custT="1">
        <dgm:style>
          <a:lnRef idx="0">
            <a:schemeClr val="accent6"/>
          </a:lnRef>
          <a:fillRef idx="3">
            <a:schemeClr val="accent6"/>
          </a:fillRef>
          <a:effectRef idx="3">
            <a:schemeClr val="accent6"/>
          </a:effectRef>
          <a:fontRef idx="minor">
            <a:schemeClr val="lt1"/>
          </a:fontRef>
        </dgm:style>
      </dgm:prSet>
      <dgm:spPr/>
      <dgm:t>
        <a:bodyPr/>
        <a:lstStyle/>
        <a:p>
          <a:r>
            <a:rPr lang="zh-CN" altLang="en-US" sz="2000" dirty="0">
              <a:effectLst>
                <a:outerShdw blurRad="38100" dist="38100" dir="2700000" algn="tl">
                  <a:srgbClr val="000000">
                    <a:alpha val="43137"/>
                  </a:srgbClr>
                </a:outerShdw>
              </a:effectLst>
            </a:rPr>
            <a:t>组件视图</a:t>
          </a:r>
          <a:endParaRPr lang="en-US" altLang="zh-CN" sz="2000" dirty="0">
            <a:effectLst>
              <a:outerShdw blurRad="38100" dist="38100" dir="2700000" algn="tl">
                <a:srgbClr val="000000">
                  <a:alpha val="43137"/>
                </a:srgbClr>
              </a:outerShdw>
            </a:effectLst>
          </a:endParaRPr>
        </a:p>
        <a:p>
          <a:r>
            <a:rPr lang="zh-CN" altLang="en-US" sz="2000" dirty="0">
              <a:effectLst>
                <a:outerShdw blurRad="38100" dist="38100" dir="2700000" algn="tl">
                  <a:srgbClr val="000000">
                    <a:alpha val="43137"/>
                  </a:srgbClr>
                </a:outerShdw>
              </a:effectLst>
            </a:rPr>
            <a:t>（</a:t>
          </a:r>
          <a:r>
            <a:rPr lang="en-US" altLang="zh-CN" sz="2000" dirty="0">
              <a:effectLst>
                <a:outerShdw blurRad="38100" dist="38100" dir="2700000" algn="tl">
                  <a:srgbClr val="000000">
                    <a:alpha val="43137"/>
                  </a:srgbClr>
                </a:outerShdw>
              </a:effectLst>
            </a:rPr>
            <a:t>Component View</a:t>
          </a:r>
          <a:r>
            <a:rPr lang="zh-CN" altLang="en-US" sz="2000" dirty="0">
              <a:effectLst>
                <a:outerShdw blurRad="38100" dist="38100" dir="2700000" algn="tl">
                  <a:srgbClr val="000000">
                    <a:alpha val="43137"/>
                  </a:srgbClr>
                </a:outerShdw>
              </a:effectLst>
            </a:rPr>
            <a:t>）</a:t>
          </a:r>
        </a:p>
      </dgm:t>
    </dgm:pt>
    <dgm:pt modelId="{636779B5-D4BD-4127-9F95-904D8E6C8CFB}" cxnId="{0990C9EB-24D7-4ABB-882C-3BB7D1C74D83}" type="parTrans">
      <dgm:prSet/>
      <dgm:spPr/>
      <dgm:t>
        <a:bodyPr/>
        <a:lstStyle/>
        <a:p>
          <a:endParaRPr lang="zh-CN" altLang="en-US" sz="2000"/>
        </a:p>
      </dgm:t>
    </dgm:pt>
    <dgm:pt modelId="{F3725EAE-66A0-4808-A3F4-B610438049F1}" cxnId="{0990C9EB-24D7-4ABB-882C-3BB7D1C74D83}" type="sibTrans">
      <dgm:prSet/>
      <dgm:spPr/>
      <dgm:t>
        <a:bodyPr/>
        <a:lstStyle/>
        <a:p>
          <a:endParaRPr lang="zh-CN" altLang="en-US" sz="2000"/>
        </a:p>
      </dgm:t>
    </dgm:pt>
    <dgm:pt modelId="{18F2DC7C-FD7D-4507-AB38-BC4489A1B0E6}">
      <dgm:prSet phldrT="[文本]" custT="1">
        <dgm:style>
          <a:lnRef idx="0">
            <a:schemeClr val="accent2"/>
          </a:lnRef>
          <a:fillRef idx="3">
            <a:schemeClr val="accent2"/>
          </a:fillRef>
          <a:effectRef idx="3">
            <a:schemeClr val="accent2"/>
          </a:effectRef>
          <a:fontRef idx="minor">
            <a:schemeClr val="lt1"/>
          </a:fontRef>
        </dgm:style>
      </dgm:prSet>
      <dgm:spPr/>
      <dgm:t>
        <a:bodyPr/>
        <a:lstStyle/>
        <a:p>
          <a:r>
            <a:rPr lang="zh-CN" altLang="en-US" sz="2000" dirty="0"/>
            <a:t>配置视图</a:t>
          </a:r>
          <a:endParaRPr lang="en-US" altLang="zh-CN" sz="2000" dirty="0"/>
        </a:p>
        <a:p>
          <a:r>
            <a:rPr lang="zh-CN" altLang="en-US" sz="2000" dirty="0"/>
            <a:t>（</a:t>
          </a:r>
          <a:r>
            <a:rPr lang="en-US" altLang="zh-CN" sz="2000" dirty="0"/>
            <a:t>Deployment View</a:t>
          </a:r>
          <a:r>
            <a:rPr lang="zh-CN" altLang="en-US" sz="2000" dirty="0"/>
            <a:t>）</a:t>
          </a:r>
        </a:p>
      </dgm:t>
    </dgm:pt>
    <dgm:pt modelId="{75B285B4-9560-42A9-BD82-FBE0555F31A3}" cxnId="{6E268A43-5F80-4BC7-8ED9-1C6C50C2B053}" type="parTrans">
      <dgm:prSet/>
      <dgm:spPr/>
      <dgm:t>
        <a:bodyPr/>
        <a:lstStyle/>
        <a:p>
          <a:endParaRPr lang="zh-CN" altLang="en-US" sz="2000"/>
        </a:p>
      </dgm:t>
    </dgm:pt>
    <dgm:pt modelId="{E57CFFBA-A67C-4F10-92A6-19D889E4412B}" cxnId="{6E268A43-5F80-4BC7-8ED9-1C6C50C2B053}" type="sibTrans">
      <dgm:prSet/>
      <dgm:spPr/>
      <dgm:t>
        <a:bodyPr/>
        <a:lstStyle/>
        <a:p>
          <a:endParaRPr lang="zh-CN" altLang="en-US" sz="2000"/>
        </a:p>
      </dgm:t>
    </dgm:pt>
    <dgm:pt modelId="{FBD2581B-99B2-462C-8F31-0A96906E3BD9}" type="pres">
      <dgm:prSet presAssocID="{4322BC02-20C5-4060-B29F-FFB66800C5C3}" presName="diagram" presStyleCnt="0">
        <dgm:presLayoutVars>
          <dgm:dir/>
          <dgm:resizeHandles val="exact"/>
        </dgm:presLayoutVars>
      </dgm:prSet>
      <dgm:spPr/>
    </dgm:pt>
    <dgm:pt modelId="{2D777079-D83D-4476-8408-E7145C42AABE}" type="pres">
      <dgm:prSet presAssocID="{C690A537-C7E8-476F-94F6-E319E907BEEC}" presName="node" presStyleLbl="node1" presStyleIdx="0" presStyleCnt="5" custScaleX="125851">
        <dgm:presLayoutVars>
          <dgm:bulletEnabled val="1"/>
        </dgm:presLayoutVars>
      </dgm:prSet>
      <dgm:spPr/>
    </dgm:pt>
    <dgm:pt modelId="{54A12B72-C147-4040-BD40-688485804178}" type="pres">
      <dgm:prSet presAssocID="{43E0A226-7AF7-42A9-ACF2-E667E40275C0}" presName="sibTrans" presStyleCnt="0"/>
      <dgm:spPr/>
    </dgm:pt>
    <dgm:pt modelId="{53D264F4-578A-47E2-8B63-E137F143A5CC}" type="pres">
      <dgm:prSet presAssocID="{26C9B357-E57C-4B65-BF8B-08235AD9F277}" presName="node" presStyleLbl="node1" presStyleIdx="1" presStyleCnt="5" custScaleX="114450">
        <dgm:presLayoutVars>
          <dgm:bulletEnabled val="1"/>
        </dgm:presLayoutVars>
      </dgm:prSet>
      <dgm:spPr/>
    </dgm:pt>
    <dgm:pt modelId="{8D7B8313-9E45-4E03-BAD0-CDAFC4BE872E}" type="pres">
      <dgm:prSet presAssocID="{54655A1A-862A-4698-BAE1-425B17FAD5E8}" presName="sibTrans" presStyleCnt="0"/>
      <dgm:spPr/>
    </dgm:pt>
    <dgm:pt modelId="{DD94AC18-2BB3-4263-8CD7-E2814C89EB06}" type="pres">
      <dgm:prSet presAssocID="{7A63FAC4-F4E1-41BD-AFF0-BDD3BADBF1E6}" presName="node" presStyleLbl="node1" presStyleIdx="2" presStyleCnt="5" custScaleX="124763" custLinFactNeighborX="30125" custLinFactNeighborY="1025">
        <dgm:presLayoutVars>
          <dgm:bulletEnabled val="1"/>
        </dgm:presLayoutVars>
      </dgm:prSet>
      <dgm:spPr/>
    </dgm:pt>
    <dgm:pt modelId="{E3C355CA-5A44-4CF2-8B48-B21D1237ED8E}" type="pres">
      <dgm:prSet presAssocID="{6906C942-A34C-4F25-96FD-040A8AA75B82}" presName="sibTrans" presStyleCnt="0"/>
      <dgm:spPr/>
    </dgm:pt>
    <dgm:pt modelId="{D9D41D01-CD7B-4165-9CE0-961C224B04F5}" type="pres">
      <dgm:prSet presAssocID="{965E8E30-6A72-4BB4-A03C-FC1A88E80C96}" presName="node" presStyleLbl="node1" presStyleIdx="3" presStyleCnt="5" custScaleX="126719" custLinFactNeighborY="35863">
        <dgm:presLayoutVars>
          <dgm:bulletEnabled val="1"/>
        </dgm:presLayoutVars>
      </dgm:prSet>
      <dgm:spPr/>
    </dgm:pt>
    <dgm:pt modelId="{D7F3F8AC-A5CD-4D78-B937-EB56CEE90869}" type="pres">
      <dgm:prSet presAssocID="{F3725EAE-66A0-4808-A3F4-B610438049F1}" presName="sibTrans" presStyleCnt="0"/>
      <dgm:spPr/>
    </dgm:pt>
    <dgm:pt modelId="{87A67EAD-03ED-42DE-B4B4-B10B4FDB968C}" type="pres">
      <dgm:prSet presAssocID="{18F2DC7C-FD7D-4507-AB38-BC4489A1B0E6}" presName="node" presStyleLbl="node1" presStyleIdx="4" presStyleCnt="5" custScaleX="127319" custLinFactNeighborY="35863">
        <dgm:presLayoutVars>
          <dgm:bulletEnabled val="1"/>
        </dgm:presLayoutVars>
      </dgm:prSet>
      <dgm:spPr/>
    </dgm:pt>
  </dgm:ptLst>
  <dgm:cxnLst>
    <dgm:cxn modelId="{6C801412-B39C-42B0-9CDA-4C58DE8F0201}" type="presOf" srcId="{26C9B357-E57C-4B65-BF8B-08235AD9F277}" destId="{53D264F4-578A-47E2-8B63-E137F143A5CC}" srcOrd="0" destOrd="0" presId="urn:microsoft.com/office/officeart/2005/8/layout/default#1"/>
    <dgm:cxn modelId="{DCF80C5D-B9D1-42F6-91FE-3F18FA7D88C2}" type="presOf" srcId="{18F2DC7C-FD7D-4507-AB38-BC4489A1B0E6}" destId="{87A67EAD-03ED-42DE-B4B4-B10B4FDB968C}" srcOrd="0" destOrd="0" presId="urn:microsoft.com/office/officeart/2005/8/layout/default#1"/>
    <dgm:cxn modelId="{6E268A43-5F80-4BC7-8ED9-1C6C50C2B053}" srcId="{4322BC02-20C5-4060-B29F-FFB66800C5C3}" destId="{18F2DC7C-FD7D-4507-AB38-BC4489A1B0E6}" srcOrd="4" destOrd="0" parTransId="{75B285B4-9560-42A9-BD82-FBE0555F31A3}" sibTransId="{E57CFFBA-A67C-4F10-92A6-19D889E4412B}"/>
    <dgm:cxn modelId="{4D57B367-41E0-4CFF-961E-2C65724FBD7D}" type="presOf" srcId="{7A63FAC4-F4E1-41BD-AFF0-BDD3BADBF1E6}" destId="{DD94AC18-2BB3-4263-8CD7-E2814C89EB06}" srcOrd="0" destOrd="0" presId="urn:microsoft.com/office/officeart/2005/8/layout/default#1"/>
    <dgm:cxn modelId="{B704EE73-8E49-4522-B2AE-5340C5EADE20}" type="presOf" srcId="{C690A537-C7E8-476F-94F6-E319E907BEEC}" destId="{2D777079-D83D-4476-8408-E7145C42AABE}" srcOrd="0" destOrd="0" presId="urn:microsoft.com/office/officeart/2005/8/layout/default#1"/>
    <dgm:cxn modelId="{2FD67377-F63F-4A08-A1D6-4ECEF61669D0}" srcId="{4322BC02-20C5-4060-B29F-FFB66800C5C3}" destId="{C690A537-C7E8-476F-94F6-E319E907BEEC}" srcOrd="0" destOrd="0" parTransId="{98981666-D307-4768-8CAD-6E4196187417}" sibTransId="{43E0A226-7AF7-42A9-ACF2-E667E40275C0}"/>
    <dgm:cxn modelId="{3E44909C-6A1E-4DFD-86A3-7488D9B9F1AC}" srcId="{4322BC02-20C5-4060-B29F-FFB66800C5C3}" destId="{7A63FAC4-F4E1-41BD-AFF0-BDD3BADBF1E6}" srcOrd="2" destOrd="0" parTransId="{D7B22AD4-3474-4F81-BC7C-00D01ACA4E3E}" sibTransId="{6906C942-A34C-4F25-96FD-040A8AA75B82}"/>
    <dgm:cxn modelId="{6FAD03B9-2656-49B2-AFC2-9AC82CD20F5C}" type="presOf" srcId="{4322BC02-20C5-4060-B29F-FFB66800C5C3}" destId="{FBD2581B-99B2-462C-8F31-0A96906E3BD9}" srcOrd="0" destOrd="0" presId="urn:microsoft.com/office/officeart/2005/8/layout/default#1"/>
    <dgm:cxn modelId="{E77BC7DB-A5AB-4847-8EA7-C1271809060D}" srcId="{4322BC02-20C5-4060-B29F-FFB66800C5C3}" destId="{26C9B357-E57C-4B65-BF8B-08235AD9F277}" srcOrd="1" destOrd="0" parTransId="{5680692C-BB1C-4687-B5CF-0AA2AF052A8B}" sibTransId="{54655A1A-862A-4698-BAE1-425B17FAD5E8}"/>
    <dgm:cxn modelId="{0990C9EB-24D7-4ABB-882C-3BB7D1C74D83}" srcId="{4322BC02-20C5-4060-B29F-FFB66800C5C3}" destId="{965E8E30-6A72-4BB4-A03C-FC1A88E80C96}" srcOrd="3" destOrd="0" parTransId="{636779B5-D4BD-4127-9F95-904D8E6C8CFB}" sibTransId="{F3725EAE-66A0-4808-A3F4-B610438049F1}"/>
    <dgm:cxn modelId="{77C4FBEB-ED5C-4E8D-905A-05A1AE2A309E}" type="presOf" srcId="{965E8E30-6A72-4BB4-A03C-FC1A88E80C96}" destId="{D9D41D01-CD7B-4165-9CE0-961C224B04F5}" srcOrd="0" destOrd="0" presId="urn:microsoft.com/office/officeart/2005/8/layout/default#1"/>
    <dgm:cxn modelId="{6BD71FD8-948F-400A-B923-D0F89E8B4A97}" type="presParOf" srcId="{FBD2581B-99B2-462C-8F31-0A96906E3BD9}" destId="{2D777079-D83D-4476-8408-E7145C42AABE}" srcOrd="0" destOrd="0" presId="urn:microsoft.com/office/officeart/2005/8/layout/default#1"/>
    <dgm:cxn modelId="{3C40638A-641A-4026-B8B7-1777B91FFA60}" type="presParOf" srcId="{FBD2581B-99B2-462C-8F31-0A96906E3BD9}" destId="{54A12B72-C147-4040-BD40-688485804178}" srcOrd="1" destOrd="0" presId="urn:microsoft.com/office/officeart/2005/8/layout/default#1"/>
    <dgm:cxn modelId="{9B5F7A6D-606B-4452-B01D-3940B5E4FD3E}" type="presParOf" srcId="{FBD2581B-99B2-462C-8F31-0A96906E3BD9}" destId="{53D264F4-578A-47E2-8B63-E137F143A5CC}" srcOrd="2" destOrd="0" presId="urn:microsoft.com/office/officeart/2005/8/layout/default#1"/>
    <dgm:cxn modelId="{7355C78E-088D-4591-A2E9-A8C2B560DE26}" type="presParOf" srcId="{FBD2581B-99B2-462C-8F31-0A96906E3BD9}" destId="{8D7B8313-9E45-4E03-BAD0-CDAFC4BE872E}" srcOrd="3" destOrd="0" presId="urn:microsoft.com/office/officeart/2005/8/layout/default#1"/>
    <dgm:cxn modelId="{96807110-579B-4CB0-86B8-D68606925B26}" type="presParOf" srcId="{FBD2581B-99B2-462C-8F31-0A96906E3BD9}" destId="{DD94AC18-2BB3-4263-8CD7-E2814C89EB06}" srcOrd="4" destOrd="0" presId="urn:microsoft.com/office/officeart/2005/8/layout/default#1"/>
    <dgm:cxn modelId="{626FFE7D-A8D2-4F51-9EEF-15BD11361608}" type="presParOf" srcId="{FBD2581B-99B2-462C-8F31-0A96906E3BD9}" destId="{E3C355CA-5A44-4CF2-8B48-B21D1237ED8E}" srcOrd="5" destOrd="0" presId="urn:microsoft.com/office/officeart/2005/8/layout/default#1"/>
    <dgm:cxn modelId="{26BD52C1-C6D6-4B0D-A7A4-E92EF3FB9C8C}" type="presParOf" srcId="{FBD2581B-99B2-462C-8F31-0A96906E3BD9}" destId="{D9D41D01-CD7B-4165-9CE0-961C224B04F5}" srcOrd="6" destOrd="0" presId="urn:microsoft.com/office/officeart/2005/8/layout/default#1"/>
    <dgm:cxn modelId="{8111BD78-07B8-492F-9760-FB742AD19916}" type="presParOf" srcId="{FBD2581B-99B2-462C-8F31-0A96906E3BD9}" destId="{D7F3F8AC-A5CD-4D78-B937-EB56CEE90869}" srcOrd="7" destOrd="0" presId="urn:microsoft.com/office/officeart/2005/8/layout/default#1"/>
    <dgm:cxn modelId="{002EAB0E-75E9-437D-A6C5-514839F0CC45}" type="presParOf" srcId="{FBD2581B-99B2-462C-8F31-0A96906E3BD9}" destId="{87A67EAD-03ED-42DE-B4B4-B10B4FDB968C}" srcOrd="8" destOrd="0" presId="urn:microsoft.com/office/officeart/2005/8/layout/defaul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237E589-E127-43B0-BF5D-47F000FFE26D}" type="doc">
      <dgm:prSet loTypeId="urn:microsoft.com/office/officeart/2005/8/layout/vList5" loCatId="list" qsTypeId="urn:microsoft.com/office/officeart/2005/8/quickstyle/simple1#2" qsCatId="simple" csTypeId="urn:microsoft.com/office/officeart/2005/8/colors/accent1_2#2" csCatId="accent1" phldr="1"/>
      <dgm:spPr/>
      <dgm:t>
        <a:bodyPr/>
        <a:lstStyle/>
        <a:p>
          <a:endParaRPr lang="zh-CN" altLang="en-US"/>
        </a:p>
      </dgm:t>
    </dgm:pt>
    <dgm:pt modelId="{13D9C9B1-D2DB-491E-A898-F3D62B118F55}">
      <dgm:prSet phldrT="[文本]" custT="1"/>
      <dgm:spPr/>
      <dgm:t>
        <a:bodyPr/>
        <a:lstStyle/>
        <a:p>
          <a:r>
            <a:rPr lang="zh-CN" altLang="en-US" sz="2000" dirty="0"/>
            <a:t>用例模型</a:t>
          </a:r>
        </a:p>
      </dgm:t>
    </dgm:pt>
    <dgm:pt modelId="{61839717-16A1-46EE-9235-6C22FD81BF99}" cxnId="{51D69409-717C-4131-AA11-102B90DA61FD}" type="parTrans">
      <dgm:prSet/>
      <dgm:spPr/>
      <dgm:t>
        <a:bodyPr/>
        <a:lstStyle/>
        <a:p>
          <a:endParaRPr lang="zh-CN" altLang="en-US" sz="1600"/>
        </a:p>
      </dgm:t>
    </dgm:pt>
    <dgm:pt modelId="{FEC7742E-8EC2-40F7-AB87-60F04745222B}" cxnId="{51D69409-717C-4131-AA11-102B90DA61FD}" type="sibTrans">
      <dgm:prSet/>
      <dgm:spPr/>
      <dgm:t>
        <a:bodyPr/>
        <a:lstStyle/>
        <a:p>
          <a:endParaRPr lang="zh-CN" altLang="en-US" sz="1600"/>
        </a:p>
      </dgm:t>
    </dgm:pt>
    <dgm:pt modelId="{4030DE58-2CC2-4734-966E-05E1A5E665C1}">
      <dgm:prSet phldrT="[文本]" custT="1"/>
      <dgm:spPr/>
      <dgm:t>
        <a:bodyPr/>
        <a:lstStyle/>
        <a:p>
          <a:r>
            <a:rPr lang="zh-CN" altLang="en-US" sz="1600" dirty="0">
              <a:latin typeface="+mj-ea"/>
              <a:ea typeface="+mj-ea"/>
            </a:rPr>
            <a:t>用例模型从用户的角度描述系统需求，是所有开发活动的指南 </a:t>
          </a:r>
        </a:p>
      </dgm:t>
    </dgm:pt>
    <dgm:pt modelId="{D3632108-3C3F-47A0-822A-E77C41C3DD71}" cxnId="{42EE8247-8B81-4C8D-B480-F427C49EC20E}" type="parTrans">
      <dgm:prSet/>
      <dgm:spPr/>
      <dgm:t>
        <a:bodyPr/>
        <a:lstStyle/>
        <a:p>
          <a:endParaRPr lang="zh-CN" altLang="en-US" sz="1600"/>
        </a:p>
      </dgm:t>
    </dgm:pt>
    <dgm:pt modelId="{0C2F4229-0C8A-4585-9671-DA8B0F50CEE0}" cxnId="{42EE8247-8B81-4C8D-B480-F427C49EC20E}" type="sibTrans">
      <dgm:prSet/>
      <dgm:spPr/>
      <dgm:t>
        <a:bodyPr/>
        <a:lstStyle/>
        <a:p>
          <a:endParaRPr lang="zh-CN" altLang="en-US" sz="1600"/>
        </a:p>
      </dgm:t>
    </dgm:pt>
    <dgm:pt modelId="{789C2C55-29D9-4E43-B84C-FFFFAD04681B}">
      <dgm:prSet phldrT="[文本]" custT="1"/>
      <dgm:spPr/>
      <dgm:t>
        <a:bodyPr/>
        <a:lstStyle/>
        <a:p>
          <a:r>
            <a:rPr lang="zh-CN" altLang="en-US" sz="2000" dirty="0"/>
            <a:t>静态模型</a:t>
          </a:r>
        </a:p>
      </dgm:t>
    </dgm:pt>
    <dgm:pt modelId="{91D6E749-A0C8-4C03-8033-37EF357FD34B}" cxnId="{489A6321-3CBB-4F4F-9AF1-6E87C10CF026}" type="parTrans">
      <dgm:prSet/>
      <dgm:spPr/>
      <dgm:t>
        <a:bodyPr/>
        <a:lstStyle/>
        <a:p>
          <a:endParaRPr lang="zh-CN" altLang="en-US" sz="1600"/>
        </a:p>
      </dgm:t>
    </dgm:pt>
    <dgm:pt modelId="{DD351B94-16C4-4F55-A62A-56DE13FFA83F}" cxnId="{489A6321-3CBB-4F4F-9AF1-6E87C10CF026}" type="sibTrans">
      <dgm:prSet/>
      <dgm:spPr/>
      <dgm:t>
        <a:bodyPr/>
        <a:lstStyle/>
        <a:p>
          <a:endParaRPr lang="zh-CN" altLang="en-US" sz="1600"/>
        </a:p>
      </dgm:t>
    </dgm:pt>
    <dgm:pt modelId="{5151DDA0-0774-4824-8237-89EFEF29FDF0}">
      <dgm:prSet phldrT="[文本]" custT="1"/>
      <dgm:spPr/>
      <dgm:t>
        <a:bodyPr/>
        <a:lstStyle/>
        <a:p>
          <a:pPr>
            <a:lnSpc>
              <a:spcPct val="80000"/>
            </a:lnSpc>
            <a:spcAft>
              <a:spcPts val="0"/>
            </a:spcAft>
          </a:pPr>
          <a:r>
            <a:rPr lang="zh-CN" altLang="zh-CN" sz="1600" dirty="0">
              <a:latin typeface="+mj-ea"/>
              <a:ea typeface="+mj-ea"/>
            </a:rPr>
            <a:t>静态模型描述系统的元素及元素间的关系</a:t>
          </a:r>
          <a:r>
            <a:rPr lang="zh-CN" altLang="en-US" sz="1600" dirty="0">
              <a:latin typeface="+mj-ea"/>
              <a:ea typeface="+mj-ea"/>
            </a:rPr>
            <a:t>，</a:t>
          </a:r>
          <a:r>
            <a:rPr lang="zh-CN" altLang="zh-CN" sz="1600" dirty="0">
              <a:latin typeface="+mj-ea"/>
              <a:ea typeface="+mj-ea"/>
            </a:rPr>
            <a:t>主要描述类、接口、用例、协作、组件、结点等体现系统结构的事物 </a:t>
          </a:r>
          <a:endParaRPr lang="zh-CN" altLang="en-US" sz="1600" dirty="0">
            <a:latin typeface="+mj-ea"/>
            <a:ea typeface="+mj-ea"/>
          </a:endParaRPr>
        </a:p>
      </dgm:t>
    </dgm:pt>
    <dgm:pt modelId="{E01F4344-099E-490D-900F-C2B6C4C363A0}" cxnId="{6F106E80-4D25-4EFD-9184-E439562431E4}" type="parTrans">
      <dgm:prSet/>
      <dgm:spPr/>
      <dgm:t>
        <a:bodyPr/>
        <a:lstStyle/>
        <a:p>
          <a:endParaRPr lang="zh-CN" altLang="en-US" sz="1600"/>
        </a:p>
      </dgm:t>
    </dgm:pt>
    <dgm:pt modelId="{7A19D988-42E3-4068-A8D8-FB1DDBF63B06}" cxnId="{6F106E80-4D25-4EFD-9184-E439562431E4}" type="sibTrans">
      <dgm:prSet/>
      <dgm:spPr/>
      <dgm:t>
        <a:bodyPr/>
        <a:lstStyle/>
        <a:p>
          <a:endParaRPr lang="zh-CN" altLang="en-US" sz="1600"/>
        </a:p>
      </dgm:t>
    </dgm:pt>
    <dgm:pt modelId="{7457F350-C43E-49D4-8059-B8C220F4EC02}">
      <dgm:prSet phldrT="[文本]" custT="1"/>
      <dgm:spPr/>
      <dgm:t>
        <a:bodyPr/>
        <a:lstStyle/>
        <a:p>
          <a:pPr>
            <a:lnSpc>
              <a:spcPct val="80000"/>
            </a:lnSpc>
            <a:spcAft>
              <a:spcPts val="0"/>
            </a:spcAft>
          </a:pPr>
          <a:r>
            <a:rPr lang="zh-CN" altLang="zh-CN" sz="1600" dirty="0">
              <a:latin typeface="+mj-ea"/>
              <a:ea typeface="+mj-ea"/>
            </a:rPr>
            <a:t>静态模型使用的图包括用例图、类图、包图、对象图、构件图、部署图 </a:t>
          </a:r>
          <a:endParaRPr lang="zh-CN" altLang="en-US" sz="1600" dirty="0">
            <a:latin typeface="+mj-ea"/>
            <a:ea typeface="+mj-ea"/>
          </a:endParaRPr>
        </a:p>
      </dgm:t>
    </dgm:pt>
    <dgm:pt modelId="{447A36A4-8E5A-4076-98AE-EBFF54F0102F}" cxnId="{037BADB3-BF7D-474F-989E-EBE6053B313E}" type="parTrans">
      <dgm:prSet/>
      <dgm:spPr/>
      <dgm:t>
        <a:bodyPr/>
        <a:lstStyle/>
        <a:p>
          <a:endParaRPr lang="zh-CN" altLang="en-US" sz="1600"/>
        </a:p>
      </dgm:t>
    </dgm:pt>
    <dgm:pt modelId="{E2F14108-D1D5-4B2C-97B7-27F7D539099A}" cxnId="{037BADB3-BF7D-474F-989E-EBE6053B313E}" type="sibTrans">
      <dgm:prSet/>
      <dgm:spPr/>
      <dgm:t>
        <a:bodyPr/>
        <a:lstStyle/>
        <a:p>
          <a:endParaRPr lang="zh-CN" altLang="en-US" sz="1600"/>
        </a:p>
      </dgm:t>
    </dgm:pt>
    <dgm:pt modelId="{61EB1708-AC08-4C27-A53B-2A88C34F3C37}">
      <dgm:prSet phldrT="[文本]" custT="1"/>
      <dgm:spPr/>
      <dgm:t>
        <a:bodyPr/>
        <a:lstStyle/>
        <a:p>
          <a:r>
            <a:rPr lang="zh-CN" altLang="en-US" sz="2000" dirty="0"/>
            <a:t>动态模型</a:t>
          </a:r>
        </a:p>
      </dgm:t>
    </dgm:pt>
    <dgm:pt modelId="{2C724602-FCC9-4A3F-9138-3F284CB988B4}" cxnId="{3442F7CA-AA8E-4A8D-B71E-70FC09EE6644}" type="parTrans">
      <dgm:prSet/>
      <dgm:spPr/>
      <dgm:t>
        <a:bodyPr/>
        <a:lstStyle/>
        <a:p>
          <a:endParaRPr lang="zh-CN" altLang="en-US" sz="1600"/>
        </a:p>
      </dgm:t>
    </dgm:pt>
    <dgm:pt modelId="{B2F37C16-91AC-4D38-A2D1-B16FA1235E96}" cxnId="{3442F7CA-AA8E-4A8D-B71E-70FC09EE6644}" type="sibTrans">
      <dgm:prSet/>
      <dgm:spPr/>
      <dgm:t>
        <a:bodyPr/>
        <a:lstStyle/>
        <a:p>
          <a:endParaRPr lang="zh-CN" altLang="en-US" sz="1600"/>
        </a:p>
      </dgm:t>
    </dgm:pt>
    <dgm:pt modelId="{8C41B95C-FFE4-4C29-B831-D9B2B98048BA}">
      <dgm:prSet phldrT="[文本]" custT="1"/>
      <dgm:spPr/>
      <dgm:t>
        <a:bodyPr/>
        <a:lstStyle/>
        <a:p>
          <a:r>
            <a:rPr lang="zh-CN" altLang="en-US" sz="1600" dirty="0">
              <a:latin typeface="+mj-ea"/>
              <a:ea typeface="+mj-ea"/>
            </a:rPr>
            <a:t>动态模型描述系统随时间的推移发生的行为</a:t>
          </a:r>
        </a:p>
      </dgm:t>
    </dgm:pt>
    <dgm:pt modelId="{E227851F-A523-4D99-8CFB-27A376F54C82}" cxnId="{C1DDFF92-8751-495C-B5D3-6E59D7DDF9F8}" type="parTrans">
      <dgm:prSet/>
      <dgm:spPr/>
      <dgm:t>
        <a:bodyPr/>
        <a:lstStyle/>
        <a:p>
          <a:endParaRPr lang="zh-CN" altLang="en-US" sz="1600"/>
        </a:p>
      </dgm:t>
    </dgm:pt>
    <dgm:pt modelId="{E28D0766-26AF-40F4-9970-36ECA5D3EE16}" cxnId="{C1DDFF92-8751-495C-B5D3-6E59D7DDF9F8}" type="sibTrans">
      <dgm:prSet/>
      <dgm:spPr/>
      <dgm:t>
        <a:bodyPr/>
        <a:lstStyle/>
        <a:p>
          <a:endParaRPr lang="zh-CN" altLang="en-US" sz="1600"/>
        </a:p>
      </dgm:t>
    </dgm:pt>
    <dgm:pt modelId="{073C00DC-EEBF-4BFC-A191-60601AC2F789}">
      <dgm:prSet custT="1"/>
      <dgm:spPr/>
      <dgm:t>
        <a:bodyPr/>
        <a:lstStyle/>
        <a:p>
          <a:r>
            <a:rPr lang="zh-CN" altLang="en-US" sz="1600" dirty="0">
              <a:latin typeface="+mj-ea"/>
              <a:ea typeface="+mj-ea"/>
            </a:rPr>
            <a:t>用例模型定义了系统的用例、行为者及行为者与用例之间的交互行为 </a:t>
          </a:r>
        </a:p>
      </dgm:t>
    </dgm:pt>
    <dgm:pt modelId="{EFA7B275-5DAC-4583-94A4-FC80ED8AC980}" cxnId="{56F3C8F0-8E84-4E52-AB64-76257A7233A9}" type="parTrans">
      <dgm:prSet/>
      <dgm:spPr/>
      <dgm:t>
        <a:bodyPr/>
        <a:lstStyle/>
        <a:p>
          <a:endParaRPr lang="zh-CN" altLang="en-US"/>
        </a:p>
      </dgm:t>
    </dgm:pt>
    <dgm:pt modelId="{C8C50BDC-8553-4E73-A557-C71CD8DB4743}" cxnId="{56F3C8F0-8E84-4E52-AB64-76257A7233A9}" type="sibTrans">
      <dgm:prSet/>
      <dgm:spPr/>
      <dgm:t>
        <a:bodyPr/>
        <a:lstStyle/>
        <a:p>
          <a:endParaRPr lang="zh-CN" altLang="en-US"/>
        </a:p>
      </dgm:t>
    </dgm:pt>
    <dgm:pt modelId="{EEC0AEB9-EFF5-4273-B346-07ADCAB84959}">
      <dgm:prSet custT="1"/>
      <dgm:spPr/>
      <dgm:t>
        <a:bodyPr/>
        <a:lstStyle/>
        <a:p>
          <a:r>
            <a:rPr lang="zh-CN" altLang="en-US" sz="1600" dirty="0">
              <a:latin typeface="+mj-ea"/>
              <a:ea typeface="+mj-ea"/>
            </a:rPr>
            <a:t>动态模型可以使用的</a:t>
          </a:r>
          <a:r>
            <a:rPr lang="en-US" altLang="en-US" sz="1600" dirty="0">
              <a:latin typeface="+mj-ea"/>
              <a:ea typeface="+mj-ea"/>
            </a:rPr>
            <a:t>UML</a:t>
          </a:r>
          <a:r>
            <a:rPr lang="zh-CN" altLang="en-US" sz="1600" dirty="0">
              <a:latin typeface="+mj-ea"/>
              <a:ea typeface="+mj-ea"/>
            </a:rPr>
            <a:t>图有状态图、顺序图、活动图、协作图 </a:t>
          </a:r>
        </a:p>
      </dgm:t>
    </dgm:pt>
    <dgm:pt modelId="{E4BA0D51-1015-485F-8EAF-E6E52F74F6CB}" cxnId="{5636A842-D3E3-402A-B94D-A6B3DDCFAE0E}" type="parTrans">
      <dgm:prSet/>
      <dgm:spPr/>
      <dgm:t>
        <a:bodyPr/>
        <a:lstStyle/>
        <a:p>
          <a:endParaRPr lang="zh-CN" altLang="en-US"/>
        </a:p>
      </dgm:t>
    </dgm:pt>
    <dgm:pt modelId="{82A56D4A-5260-4508-903A-DD25E3512576}" cxnId="{5636A842-D3E3-402A-B94D-A6B3DDCFAE0E}" type="sibTrans">
      <dgm:prSet/>
      <dgm:spPr/>
      <dgm:t>
        <a:bodyPr/>
        <a:lstStyle/>
        <a:p>
          <a:endParaRPr lang="zh-CN" altLang="en-US"/>
        </a:p>
      </dgm:t>
    </dgm:pt>
    <dgm:pt modelId="{2096838F-2823-4C99-B36A-CF5CA7652BC2}" type="pres">
      <dgm:prSet presAssocID="{1237E589-E127-43B0-BF5D-47F000FFE26D}" presName="Name0" presStyleCnt="0">
        <dgm:presLayoutVars>
          <dgm:dir/>
          <dgm:animLvl val="lvl"/>
          <dgm:resizeHandles val="exact"/>
        </dgm:presLayoutVars>
      </dgm:prSet>
      <dgm:spPr/>
    </dgm:pt>
    <dgm:pt modelId="{6A9AA3FC-69C1-4FAA-AF33-6BBC31E75DD1}" type="pres">
      <dgm:prSet presAssocID="{13D9C9B1-D2DB-491E-A898-F3D62B118F55}" presName="linNode" presStyleCnt="0"/>
      <dgm:spPr/>
    </dgm:pt>
    <dgm:pt modelId="{5519BF47-045C-497D-B67D-44D780AD017F}" type="pres">
      <dgm:prSet presAssocID="{13D9C9B1-D2DB-491E-A898-F3D62B118F55}" presName="parentText" presStyleLbl="node1" presStyleIdx="0" presStyleCnt="3" custScaleX="52867">
        <dgm:presLayoutVars>
          <dgm:chMax val="1"/>
          <dgm:bulletEnabled val="1"/>
        </dgm:presLayoutVars>
      </dgm:prSet>
      <dgm:spPr/>
    </dgm:pt>
    <dgm:pt modelId="{EE7B4099-BFA7-4528-BED6-372BBD8B0DF1}" type="pres">
      <dgm:prSet presAssocID="{13D9C9B1-D2DB-491E-A898-F3D62B118F55}" presName="descendantText" presStyleLbl="alignAccFollowNode1" presStyleIdx="0" presStyleCnt="3" custScaleX="153037" custScaleY="119181">
        <dgm:presLayoutVars>
          <dgm:bulletEnabled val="1"/>
        </dgm:presLayoutVars>
      </dgm:prSet>
      <dgm:spPr/>
    </dgm:pt>
    <dgm:pt modelId="{0F3FD6C6-C96F-48FB-AC10-C21C892F11C8}" type="pres">
      <dgm:prSet presAssocID="{FEC7742E-8EC2-40F7-AB87-60F04745222B}" presName="sp" presStyleCnt="0"/>
      <dgm:spPr/>
    </dgm:pt>
    <dgm:pt modelId="{225A437B-3C91-42C6-8E3E-53542325277D}" type="pres">
      <dgm:prSet presAssocID="{789C2C55-29D9-4E43-B84C-FFFFAD04681B}" presName="linNode" presStyleCnt="0"/>
      <dgm:spPr/>
    </dgm:pt>
    <dgm:pt modelId="{D71316F5-C96B-4A67-91E5-64400786C557}" type="pres">
      <dgm:prSet presAssocID="{789C2C55-29D9-4E43-B84C-FFFFAD04681B}" presName="parentText" presStyleLbl="node1" presStyleIdx="1" presStyleCnt="3" custScaleX="56072">
        <dgm:presLayoutVars>
          <dgm:chMax val="1"/>
          <dgm:bulletEnabled val="1"/>
        </dgm:presLayoutVars>
      </dgm:prSet>
      <dgm:spPr/>
    </dgm:pt>
    <dgm:pt modelId="{EDAD53D5-B37E-442E-B5AE-AB663CD01B3E}" type="pres">
      <dgm:prSet presAssocID="{789C2C55-29D9-4E43-B84C-FFFFAD04681B}" presName="descendantText" presStyleLbl="alignAccFollowNode1" presStyleIdx="1" presStyleCnt="3" custScaleX="157978" custScaleY="131282">
        <dgm:presLayoutVars>
          <dgm:bulletEnabled val="1"/>
        </dgm:presLayoutVars>
      </dgm:prSet>
      <dgm:spPr/>
    </dgm:pt>
    <dgm:pt modelId="{F52FF3F7-2F43-489B-B988-2E7E3DD6CB48}" type="pres">
      <dgm:prSet presAssocID="{DD351B94-16C4-4F55-A62A-56DE13FFA83F}" presName="sp" presStyleCnt="0"/>
      <dgm:spPr/>
    </dgm:pt>
    <dgm:pt modelId="{C3E3E58F-9339-4BD6-AA8D-AD0E43F3FFC1}" type="pres">
      <dgm:prSet presAssocID="{61EB1708-AC08-4C27-A53B-2A88C34F3C37}" presName="linNode" presStyleCnt="0"/>
      <dgm:spPr/>
    </dgm:pt>
    <dgm:pt modelId="{492FD039-AC58-433B-B0B9-F865639056A6}" type="pres">
      <dgm:prSet presAssocID="{61EB1708-AC08-4C27-A53B-2A88C34F3C37}" presName="parentText" presStyleLbl="node1" presStyleIdx="2" presStyleCnt="3" custScaleX="54052">
        <dgm:presLayoutVars>
          <dgm:chMax val="1"/>
          <dgm:bulletEnabled val="1"/>
        </dgm:presLayoutVars>
      </dgm:prSet>
      <dgm:spPr/>
    </dgm:pt>
    <dgm:pt modelId="{28192C03-195B-4CA5-99E4-6357B78E7B9A}" type="pres">
      <dgm:prSet presAssocID="{61EB1708-AC08-4C27-A53B-2A88C34F3C37}" presName="descendantText" presStyleLbl="alignAccFollowNode1" presStyleIdx="2" presStyleCnt="3" custScaleX="157984" custScaleY="116216">
        <dgm:presLayoutVars>
          <dgm:bulletEnabled val="1"/>
        </dgm:presLayoutVars>
      </dgm:prSet>
      <dgm:spPr/>
    </dgm:pt>
  </dgm:ptLst>
  <dgm:cxnLst>
    <dgm:cxn modelId="{51D69409-717C-4131-AA11-102B90DA61FD}" srcId="{1237E589-E127-43B0-BF5D-47F000FFE26D}" destId="{13D9C9B1-D2DB-491E-A898-F3D62B118F55}" srcOrd="0" destOrd="0" parTransId="{61839717-16A1-46EE-9235-6C22FD81BF99}" sibTransId="{FEC7742E-8EC2-40F7-AB87-60F04745222B}"/>
    <dgm:cxn modelId="{18483F0B-E80A-44ED-9996-0E46F79A8332}" type="presOf" srcId="{8C41B95C-FFE4-4C29-B831-D9B2B98048BA}" destId="{28192C03-195B-4CA5-99E4-6357B78E7B9A}" srcOrd="0" destOrd="0" presId="urn:microsoft.com/office/officeart/2005/8/layout/vList5"/>
    <dgm:cxn modelId="{6F2BDB10-81E8-4AB0-8D56-16631E76185B}" type="presOf" srcId="{EEC0AEB9-EFF5-4273-B346-07ADCAB84959}" destId="{28192C03-195B-4CA5-99E4-6357B78E7B9A}" srcOrd="0" destOrd="1" presId="urn:microsoft.com/office/officeart/2005/8/layout/vList5"/>
    <dgm:cxn modelId="{5D7ABD16-F260-43BB-B15A-3C11BA716514}" type="presOf" srcId="{1237E589-E127-43B0-BF5D-47F000FFE26D}" destId="{2096838F-2823-4C99-B36A-CF5CA7652BC2}" srcOrd="0" destOrd="0" presId="urn:microsoft.com/office/officeart/2005/8/layout/vList5"/>
    <dgm:cxn modelId="{489A6321-3CBB-4F4F-9AF1-6E87C10CF026}" srcId="{1237E589-E127-43B0-BF5D-47F000FFE26D}" destId="{789C2C55-29D9-4E43-B84C-FFFFAD04681B}" srcOrd="1" destOrd="0" parTransId="{91D6E749-A0C8-4C03-8033-37EF357FD34B}" sibTransId="{DD351B94-16C4-4F55-A62A-56DE13FFA83F}"/>
    <dgm:cxn modelId="{2084D22E-AE7A-49D9-A793-CE40C856BA12}" type="presOf" srcId="{4030DE58-2CC2-4734-966E-05E1A5E665C1}" destId="{EE7B4099-BFA7-4528-BED6-372BBD8B0DF1}" srcOrd="0" destOrd="0" presId="urn:microsoft.com/office/officeart/2005/8/layout/vList5"/>
    <dgm:cxn modelId="{5636A842-D3E3-402A-B94D-A6B3DDCFAE0E}" srcId="{61EB1708-AC08-4C27-A53B-2A88C34F3C37}" destId="{EEC0AEB9-EFF5-4273-B346-07ADCAB84959}" srcOrd="1" destOrd="0" parTransId="{E4BA0D51-1015-485F-8EAF-E6E52F74F6CB}" sibTransId="{82A56D4A-5260-4508-903A-DD25E3512576}"/>
    <dgm:cxn modelId="{8635B045-ED20-4B1F-AC2B-E06FF255ED31}" type="presOf" srcId="{13D9C9B1-D2DB-491E-A898-F3D62B118F55}" destId="{5519BF47-045C-497D-B67D-44D780AD017F}" srcOrd="0" destOrd="0" presId="urn:microsoft.com/office/officeart/2005/8/layout/vList5"/>
    <dgm:cxn modelId="{42EE8247-8B81-4C8D-B480-F427C49EC20E}" srcId="{13D9C9B1-D2DB-491E-A898-F3D62B118F55}" destId="{4030DE58-2CC2-4734-966E-05E1A5E665C1}" srcOrd="0" destOrd="0" parTransId="{D3632108-3C3F-47A0-822A-E77C41C3DD71}" sibTransId="{0C2F4229-0C8A-4585-9671-DA8B0F50CEE0}"/>
    <dgm:cxn modelId="{085EC368-8EC0-45C6-B0D7-45483BEFF023}" type="presOf" srcId="{789C2C55-29D9-4E43-B84C-FFFFAD04681B}" destId="{D71316F5-C96B-4A67-91E5-64400786C557}" srcOrd="0" destOrd="0" presId="urn:microsoft.com/office/officeart/2005/8/layout/vList5"/>
    <dgm:cxn modelId="{2050116E-6613-447A-949E-4B9885C7DE33}" type="presOf" srcId="{5151DDA0-0774-4824-8237-89EFEF29FDF0}" destId="{EDAD53D5-B37E-442E-B5AE-AB663CD01B3E}" srcOrd="0" destOrd="0" presId="urn:microsoft.com/office/officeart/2005/8/layout/vList5"/>
    <dgm:cxn modelId="{A62BE273-FE41-426C-A3E5-171A8EAD714C}" type="presOf" srcId="{073C00DC-EEBF-4BFC-A191-60601AC2F789}" destId="{EE7B4099-BFA7-4528-BED6-372BBD8B0DF1}" srcOrd="0" destOrd="1" presId="urn:microsoft.com/office/officeart/2005/8/layout/vList5"/>
    <dgm:cxn modelId="{C98BC655-B3A7-40F4-897C-90F9A57C8B92}" type="presOf" srcId="{61EB1708-AC08-4C27-A53B-2A88C34F3C37}" destId="{492FD039-AC58-433B-B0B9-F865639056A6}" srcOrd="0" destOrd="0" presId="urn:microsoft.com/office/officeart/2005/8/layout/vList5"/>
    <dgm:cxn modelId="{6F106E80-4D25-4EFD-9184-E439562431E4}" srcId="{789C2C55-29D9-4E43-B84C-FFFFAD04681B}" destId="{5151DDA0-0774-4824-8237-89EFEF29FDF0}" srcOrd="0" destOrd="0" parTransId="{E01F4344-099E-490D-900F-C2B6C4C363A0}" sibTransId="{7A19D988-42E3-4068-A8D8-FB1DDBF63B06}"/>
    <dgm:cxn modelId="{C1DDFF92-8751-495C-B5D3-6E59D7DDF9F8}" srcId="{61EB1708-AC08-4C27-A53B-2A88C34F3C37}" destId="{8C41B95C-FFE4-4C29-B831-D9B2B98048BA}" srcOrd="0" destOrd="0" parTransId="{E227851F-A523-4D99-8CFB-27A376F54C82}" sibTransId="{E28D0766-26AF-40F4-9970-36ECA5D3EE16}"/>
    <dgm:cxn modelId="{037BADB3-BF7D-474F-989E-EBE6053B313E}" srcId="{789C2C55-29D9-4E43-B84C-FFFFAD04681B}" destId="{7457F350-C43E-49D4-8059-B8C220F4EC02}" srcOrd="1" destOrd="0" parTransId="{447A36A4-8E5A-4076-98AE-EBFF54F0102F}" sibTransId="{E2F14108-D1D5-4B2C-97B7-27F7D539099A}"/>
    <dgm:cxn modelId="{128800CA-8519-4539-8A45-1634AF39338E}" type="presOf" srcId="{7457F350-C43E-49D4-8059-B8C220F4EC02}" destId="{EDAD53D5-B37E-442E-B5AE-AB663CD01B3E}" srcOrd="0" destOrd="1" presId="urn:microsoft.com/office/officeart/2005/8/layout/vList5"/>
    <dgm:cxn modelId="{3442F7CA-AA8E-4A8D-B71E-70FC09EE6644}" srcId="{1237E589-E127-43B0-BF5D-47F000FFE26D}" destId="{61EB1708-AC08-4C27-A53B-2A88C34F3C37}" srcOrd="2" destOrd="0" parTransId="{2C724602-FCC9-4A3F-9138-3F284CB988B4}" sibTransId="{B2F37C16-91AC-4D38-A2D1-B16FA1235E96}"/>
    <dgm:cxn modelId="{56F3C8F0-8E84-4E52-AB64-76257A7233A9}" srcId="{13D9C9B1-D2DB-491E-A898-F3D62B118F55}" destId="{073C00DC-EEBF-4BFC-A191-60601AC2F789}" srcOrd="1" destOrd="0" parTransId="{EFA7B275-5DAC-4583-94A4-FC80ED8AC980}" sibTransId="{C8C50BDC-8553-4E73-A557-C71CD8DB4743}"/>
    <dgm:cxn modelId="{E7136061-C43D-4184-A361-7E324839EE3F}" type="presParOf" srcId="{2096838F-2823-4C99-B36A-CF5CA7652BC2}" destId="{6A9AA3FC-69C1-4FAA-AF33-6BBC31E75DD1}" srcOrd="0" destOrd="0" presId="urn:microsoft.com/office/officeart/2005/8/layout/vList5"/>
    <dgm:cxn modelId="{0501A72C-F613-4E5E-AD80-0FC167DECD69}" type="presParOf" srcId="{6A9AA3FC-69C1-4FAA-AF33-6BBC31E75DD1}" destId="{5519BF47-045C-497D-B67D-44D780AD017F}" srcOrd="0" destOrd="0" presId="urn:microsoft.com/office/officeart/2005/8/layout/vList5"/>
    <dgm:cxn modelId="{8E96390A-DE95-40B8-9FB2-7875332840FF}" type="presParOf" srcId="{6A9AA3FC-69C1-4FAA-AF33-6BBC31E75DD1}" destId="{EE7B4099-BFA7-4528-BED6-372BBD8B0DF1}" srcOrd="1" destOrd="0" presId="urn:microsoft.com/office/officeart/2005/8/layout/vList5"/>
    <dgm:cxn modelId="{85BF940D-818A-42A1-BBAD-81C30AF914F0}" type="presParOf" srcId="{2096838F-2823-4C99-B36A-CF5CA7652BC2}" destId="{0F3FD6C6-C96F-48FB-AC10-C21C892F11C8}" srcOrd="1" destOrd="0" presId="urn:microsoft.com/office/officeart/2005/8/layout/vList5"/>
    <dgm:cxn modelId="{001BD8DF-BB53-4798-9800-BB2B0BCCA5B6}" type="presParOf" srcId="{2096838F-2823-4C99-B36A-CF5CA7652BC2}" destId="{225A437B-3C91-42C6-8E3E-53542325277D}" srcOrd="2" destOrd="0" presId="urn:microsoft.com/office/officeart/2005/8/layout/vList5"/>
    <dgm:cxn modelId="{0F031AA0-7A94-4E68-B4BD-1E048470EE7A}" type="presParOf" srcId="{225A437B-3C91-42C6-8E3E-53542325277D}" destId="{D71316F5-C96B-4A67-91E5-64400786C557}" srcOrd="0" destOrd="0" presId="urn:microsoft.com/office/officeart/2005/8/layout/vList5"/>
    <dgm:cxn modelId="{C1AFF0F6-A8C4-4E2B-B560-12DC5B53F8E9}" type="presParOf" srcId="{225A437B-3C91-42C6-8E3E-53542325277D}" destId="{EDAD53D5-B37E-442E-B5AE-AB663CD01B3E}" srcOrd="1" destOrd="0" presId="urn:microsoft.com/office/officeart/2005/8/layout/vList5"/>
    <dgm:cxn modelId="{2B1F62A7-3CB4-46B9-9700-3D21FB54B269}" type="presParOf" srcId="{2096838F-2823-4C99-B36A-CF5CA7652BC2}" destId="{F52FF3F7-2F43-489B-B988-2E7E3DD6CB48}" srcOrd="3" destOrd="0" presId="urn:microsoft.com/office/officeart/2005/8/layout/vList5"/>
    <dgm:cxn modelId="{D866E6CA-3990-4F8A-B931-535C6B6708AB}" type="presParOf" srcId="{2096838F-2823-4C99-B36A-CF5CA7652BC2}" destId="{C3E3E58F-9339-4BD6-AA8D-AD0E43F3FFC1}" srcOrd="4" destOrd="0" presId="urn:microsoft.com/office/officeart/2005/8/layout/vList5"/>
    <dgm:cxn modelId="{B4DFEDD6-C0FA-404C-B153-D24B63DF147D}" type="presParOf" srcId="{C3E3E58F-9339-4BD6-AA8D-AD0E43F3FFC1}" destId="{492FD039-AC58-433B-B0B9-F865639056A6}" srcOrd="0" destOrd="0" presId="urn:microsoft.com/office/officeart/2005/8/layout/vList5"/>
    <dgm:cxn modelId="{7182D98B-8276-48B9-AC33-104D5693D3AE}" type="presParOf" srcId="{C3E3E58F-9339-4BD6-AA8D-AD0E43F3FFC1}" destId="{28192C03-195B-4CA5-99E4-6357B78E7B9A}" srcOrd="1" destOrd="0" presId="urn:microsoft.com/office/officeart/2005/8/layout/vList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219951" cy="3048000"/>
        <a:chOff x="0" y="0"/>
        <a:chExt cx="7219951" cy="3048000"/>
      </a:xfrm>
    </dsp:grpSpPr>
    <dsp:sp modelId="{0B2BA9DD-75B8-4A4C-9076-2FA2ED24B653}">
      <dsp:nvSpPr>
        <dsp:cNvPr id="3" name="燕尾形 2"/>
        <dsp:cNvSpPr/>
      </dsp:nvSpPr>
      <dsp:spPr bwMode="white">
        <a:xfrm rot="5400000">
          <a:off x="-172626" y="172626"/>
          <a:ext cx="1150838" cy="805587"/>
        </a:xfrm>
        <a:prstGeom prst="chevron">
          <a:avLst/>
        </a:prstGeom>
        <a:sp3d prstMaterial="plastic">
          <a:bevelT w="120900" h="88900"/>
          <a:bevelB w="88900" h="31750" prst="angle"/>
        </a:sp3d>
      </dsp:spPr>
      <dsp:style>
        <a:lnRef idx="1">
          <a:schemeClr val="accent2">
            <a:alpha val="90000"/>
            <a:hueOff val="0"/>
            <a:satOff val="0"/>
            <a:lumOff val="0"/>
            <a:alpha val="90196"/>
          </a:schemeClr>
        </a:lnRef>
        <a:fillRef idx="3">
          <a:schemeClr val="accent2">
            <a:alpha val="90000"/>
            <a:hueOff val="0"/>
            <a:satOff val="0"/>
            <a:lumOff val="0"/>
            <a:alpha val="90196"/>
          </a:schemeClr>
        </a:fillRef>
        <a:effectRef idx="2">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800" dirty="0">
            <a:latin typeface="+mj-ea"/>
            <a:ea typeface="+mj-ea"/>
          </a:endParaRPr>
        </a:p>
      </dsp:txBody>
      <dsp:txXfrm rot="5400000">
        <a:off x="-172626" y="172626"/>
        <a:ext cx="1150838" cy="805587"/>
      </dsp:txXfrm>
    </dsp:sp>
    <dsp:sp modelId="{FDAE469C-A7A2-451E-A185-9924A6E281B8}">
      <dsp:nvSpPr>
        <dsp:cNvPr id="4" name="同侧圆角矩形 3"/>
        <dsp:cNvSpPr/>
      </dsp:nvSpPr>
      <dsp:spPr bwMode="white">
        <a:xfrm rot="5400000">
          <a:off x="3638746" y="-2833160"/>
          <a:ext cx="748045" cy="6414364"/>
        </a:xfrm>
        <a:prstGeom prst="round2SameRect">
          <a:avLst/>
        </a:prstGeom>
        <a:sp3d extrusionH="12700" prstMaterial="plastic">
          <a:bevelT w="50800" h="50800"/>
        </a:sp3d>
      </dsp:spPr>
      <dsp:style>
        <a:lnRef idx="1">
          <a:schemeClr val="accent2">
            <a:alpha val="90000"/>
            <a:hueOff val="0"/>
            <a:satOff val="0"/>
            <a:lumOff val="0"/>
            <a:alpha val="90196"/>
          </a:schemeClr>
        </a:lnRef>
        <a:fillRef idx="1">
          <a:schemeClr val="lt1">
            <a:alpha val="90000"/>
          </a:schemeClr>
        </a:fillRef>
        <a:effectRef idx="2">
          <a:scrgbClr r="0" g="0" b="0"/>
        </a:effectRef>
        <a:fontRef idx="minor"/>
      </dsp:style>
      <dsp:txBody>
        <a:bodyPr rot="-5400000" lIns="128016" tIns="11430" rIns="11430" bIns="1143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zh-CN" altLang="en-US" sz="1800" b="1" dirty="0">
              <a:solidFill>
                <a:srgbClr val="0070C0"/>
              </a:solidFill>
              <a:latin typeface="+mj-ea"/>
              <a:ea typeface="+mj-ea"/>
            </a:rPr>
            <a:t>可行：</a:t>
          </a:r>
          <a:r>
            <a:rPr lang="zh-CN" altLang="en-US" sz="1800" dirty="0">
              <a:solidFill>
                <a:schemeClr val="dk1"/>
              </a:solidFill>
              <a:latin typeface="+mj-ea"/>
              <a:ea typeface="+mj-ea"/>
            </a:rPr>
            <a:t>可以按计划进行软件项目的开发。</a:t>
          </a:r>
          <a:endParaRPr>
            <a:solidFill>
              <a:schemeClr val="dk1"/>
            </a:solidFill>
          </a:endParaRPr>
        </a:p>
      </dsp:txBody>
      <dsp:txXfrm rot="5400000">
        <a:off x="3638746" y="-2833160"/>
        <a:ext cx="748045" cy="6414364"/>
      </dsp:txXfrm>
    </dsp:sp>
    <dsp:sp modelId="{EA2BFCA6-9C6F-4571-BA72-8B76487DA343}">
      <dsp:nvSpPr>
        <dsp:cNvPr id="5" name="燕尾形 4"/>
        <dsp:cNvSpPr/>
      </dsp:nvSpPr>
      <dsp:spPr bwMode="white">
        <a:xfrm rot="5400000">
          <a:off x="-172626" y="1121207"/>
          <a:ext cx="1150838" cy="805587"/>
        </a:xfrm>
        <a:prstGeom prst="chevron">
          <a:avLst/>
        </a:prstGeom>
        <a:sp3d prstMaterial="plastic">
          <a:bevelT w="120900" h="88900"/>
          <a:bevelB w="88900" h="31750" prst="angle"/>
        </a:sp3d>
      </dsp:spPr>
      <dsp:style>
        <a:lnRef idx="1">
          <a:schemeClr val="accent2">
            <a:alpha val="90000"/>
            <a:hueOff val="0"/>
            <a:satOff val="0"/>
            <a:lumOff val="0"/>
            <a:alpha val="70196"/>
          </a:schemeClr>
        </a:lnRef>
        <a:fillRef idx="3">
          <a:schemeClr val="accent2">
            <a:alpha val="90000"/>
            <a:hueOff val="0"/>
            <a:satOff val="0"/>
            <a:lumOff val="0"/>
            <a:alpha val="70196"/>
          </a:schemeClr>
        </a:fillRef>
        <a:effectRef idx="2">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800" dirty="0">
            <a:latin typeface="+mj-ea"/>
            <a:ea typeface="+mj-ea"/>
          </a:endParaRPr>
        </a:p>
      </dsp:txBody>
      <dsp:txXfrm rot="5400000">
        <a:off x="-172626" y="1121207"/>
        <a:ext cx="1150838" cy="805587"/>
      </dsp:txXfrm>
    </dsp:sp>
    <dsp:sp modelId="{7D8B12BA-536E-4908-8AF0-59C224ADC622}">
      <dsp:nvSpPr>
        <dsp:cNvPr id="6" name="同侧圆角矩形 5"/>
        <dsp:cNvSpPr/>
      </dsp:nvSpPr>
      <dsp:spPr bwMode="white">
        <a:xfrm rot="5400000">
          <a:off x="3638746" y="-1884579"/>
          <a:ext cx="748045" cy="6414364"/>
        </a:xfrm>
        <a:prstGeom prst="round2SameRect">
          <a:avLst/>
        </a:prstGeom>
        <a:sp3d extrusionH="12700" prstMaterial="plastic">
          <a:bevelT w="50800" h="50800"/>
        </a:sp3d>
      </dsp:spPr>
      <dsp:style>
        <a:lnRef idx="1">
          <a:schemeClr val="accent2">
            <a:alpha val="90000"/>
            <a:hueOff val="0"/>
            <a:satOff val="0"/>
            <a:lumOff val="0"/>
            <a:alpha val="70196"/>
          </a:schemeClr>
        </a:lnRef>
        <a:fillRef idx="1">
          <a:schemeClr val="lt1">
            <a:alpha val="90000"/>
          </a:schemeClr>
        </a:fillRef>
        <a:effectRef idx="2">
          <a:scrgbClr r="0" g="0" b="0"/>
        </a:effectRef>
        <a:fontRef idx="minor"/>
      </dsp:style>
      <dsp:txBody>
        <a:bodyPr rot="-5400000" lIns="128016" tIns="11430" rIns="11430" bIns="1143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zh-CN" altLang="en-US" sz="1800" b="1" dirty="0">
              <a:solidFill>
                <a:srgbClr val="0070C0"/>
              </a:solidFill>
              <a:latin typeface="+mj-ea"/>
              <a:ea typeface="+mj-ea"/>
            </a:rPr>
            <a:t>基本可行：</a:t>
          </a:r>
          <a:r>
            <a:rPr lang="zh-CN" altLang="en-US" sz="1800" dirty="0">
              <a:solidFill>
                <a:schemeClr val="dk1"/>
              </a:solidFill>
              <a:latin typeface="+mj-ea"/>
              <a:ea typeface="+mj-ea"/>
            </a:rPr>
            <a:t>需要解决某些存在的问题或者需要对现有的解决方案进行一些调整或改善后才能进行软件项目的开发。</a:t>
          </a:r>
          <a:endParaRPr>
            <a:solidFill>
              <a:schemeClr val="dk1"/>
            </a:solidFill>
          </a:endParaRPr>
        </a:p>
      </dsp:txBody>
      <dsp:txXfrm rot="5400000">
        <a:off x="3638746" y="-1884579"/>
        <a:ext cx="748045" cy="6414364"/>
      </dsp:txXfrm>
    </dsp:sp>
    <dsp:sp modelId="{92105A84-0DE4-47B4-996C-54E1D7147948}">
      <dsp:nvSpPr>
        <dsp:cNvPr id="7" name="燕尾形 6"/>
        <dsp:cNvSpPr/>
      </dsp:nvSpPr>
      <dsp:spPr bwMode="white">
        <a:xfrm rot="5400000">
          <a:off x="-172626" y="2069787"/>
          <a:ext cx="1150838" cy="805587"/>
        </a:xfrm>
        <a:prstGeom prst="chevron">
          <a:avLst/>
        </a:prstGeom>
        <a:sp3d prstMaterial="plastic">
          <a:bevelT w="120900" h="88900"/>
          <a:bevelB w="88900" h="31750" prst="angle"/>
        </a:sp3d>
      </dsp:spPr>
      <dsp:style>
        <a:lnRef idx="1">
          <a:schemeClr val="accent2">
            <a:alpha val="90000"/>
            <a:hueOff val="0"/>
            <a:satOff val="0"/>
            <a:lumOff val="0"/>
            <a:alpha val="50196"/>
          </a:schemeClr>
        </a:lnRef>
        <a:fillRef idx="3">
          <a:schemeClr val="accent2">
            <a:alpha val="90000"/>
            <a:hueOff val="0"/>
            <a:satOff val="0"/>
            <a:lumOff val="0"/>
            <a:alpha val="50196"/>
          </a:schemeClr>
        </a:fillRef>
        <a:effectRef idx="2">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800" dirty="0">
            <a:latin typeface="+mj-ea"/>
            <a:ea typeface="+mj-ea"/>
          </a:endParaRPr>
        </a:p>
      </dsp:txBody>
      <dsp:txXfrm rot="5400000">
        <a:off x="-172626" y="2069787"/>
        <a:ext cx="1150838" cy="805587"/>
      </dsp:txXfrm>
    </dsp:sp>
    <dsp:sp modelId="{960C9326-FA81-40C4-AABD-1602FC4707F2}">
      <dsp:nvSpPr>
        <dsp:cNvPr id="8" name="同侧圆角矩形 7"/>
        <dsp:cNvSpPr/>
      </dsp:nvSpPr>
      <dsp:spPr bwMode="white">
        <a:xfrm rot="5400000">
          <a:off x="3638746" y="-935998"/>
          <a:ext cx="748045" cy="6414364"/>
        </a:xfrm>
        <a:prstGeom prst="round2SameRect">
          <a:avLst/>
        </a:prstGeom>
        <a:sp3d extrusionH="12700" prstMaterial="plastic">
          <a:bevelT w="50800" h="50800"/>
        </a:sp3d>
      </dsp:spPr>
      <dsp:style>
        <a:lnRef idx="1">
          <a:schemeClr val="accent2">
            <a:alpha val="90000"/>
            <a:hueOff val="0"/>
            <a:satOff val="0"/>
            <a:lumOff val="0"/>
            <a:alpha val="50196"/>
          </a:schemeClr>
        </a:lnRef>
        <a:fillRef idx="1">
          <a:schemeClr val="lt1">
            <a:alpha val="90000"/>
          </a:schemeClr>
        </a:fillRef>
        <a:effectRef idx="2">
          <a:scrgbClr r="0" g="0" b="0"/>
        </a:effectRef>
        <a:fontRef idx="minor"/>
      </dsp:style>
      <dsp:txBody>
        <a:bodyPr rot="-5400000" lIns="128016" tIns="11430" rIns="11430" bIns="1143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zh-CN" altLang="en-US" sz="1800" b="1" dirty="0">
              <a:solidFill>
                <a:srgbClr val="0070C0"/>
              </a:solidFill>
              <a:latin typeface="+mj-ea"/>
              <a:ea typeface="+mj-ea"/>
            </a:rPr>
            <a:t>不可行：</a:t>
          </a:r>
          <a:r>
            <a:rPr lang="zh-CN" altLang="en-US" sz="1800" dirty="0">
              <a:solidFill>
                <a:schemeClr val="dk1"/>
              </a:solidFill>
              <a:latin typeface="+mj-ea"/>
              <a:ea typeface="+mj-ea"/>
            </a:rPr>
            <a:t>待开发的软件项目不具有可行性，立即停止该软件项目。</a:t>
          </a:r>
          <a:endParaRPr>
            <a:solidFill>
              <a:schemeClr val="dk1"/>
            </a:solidFill>
          </a:endParaRPr>
        </a:p>
      </dsp:txBody>
      <dsp:txXfrm rot="5400000">
        <a:off x="3638746" y="-935998"/>
        <a:ext cx="748045" cy="6414364"/>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609114" cy="1483132"/>
        <a:chOff x="0" y="0"/>
        <a:chExt cx="7609114" cy="1483132"/>
      </a:xfrm>
    </dsp:grpSpPr>
    <dsp:sp modelId="{2F0E8B93-FEB9-4546-8A2D-410488C7EBD9}">
      <dsp:nvSpPr>
        <dsp:cNvPr id="5" name="任意多边形 4"/>
        <dsp:cNvSpPr/>
      </dsp:nvSpPr>
      <dsp:spPr bwMode="white">
        <a:xfrm>
          <a:off x="424439" y="541920"/>
          <a:ext cx="3249844" cy="278285"/>
        </a:xfrm>
        <a:custGeom>
          <a:avLst/>
          <a:gdLst/>
          <a:ahLst/>
          <a:cxnLst/>
          <a:pathLst>
            <a:path w="5118" h="438">
              <a:moveTo>
                <a:pt x="5118" y="0"/>
              </a:moveTo>
              <a:lnTo>
                <a:pt x="5118" y="264"/>
              </a:lnTo>
              <a:lnTo>
                <a:pt x="0" y="264"/>
              </a:lnTo>
              <a:lnTo>
                <a:pt x="0" y="438"/>
              </a:lnTo>
            </a:path>
          </a:pathLst>
        </a:custGeom>
        <a:sp3d prstMaterial="matte"/>
      </dsp:spPr>
      <dsp:style>
        <a:lnRef idx="2">
          <a:schemeClr val="accent5"/>
        </a:lnRef>
        <a:fillRef idx="0">
          <a:schemeClr val="accent4">
            <a:tint val="90000"/>
          </a:schemeClr>
        </a:fillRef>
        <a:effectRef idx="0">
          <a:scrgbClr r="0" g="0" b="0"/>
        </a:effectRef>
        <a:fontRef idx="minor"/>
      </dsp:style>
      <dsp:txXfrm>
        <a:off x="424439" y="541920"/>
        <a:ext cx="3249844" cy="278285"/>
      </dsp:txXfrm>
    </dsp:sp>
    <dsp:sp modelId="{4CCFDD1B-ED03-45A3-B155-0D977D45F1FC}">
      <dsp:nvSpPr>
        <dsp:cNvPr id="8" name="任意多边形 7"/>
        <dsp:cNvSpPr/>
      </dsp:nvSpPr>
      <dsp:spPr bwMode="white">
        <a:xfrm>
          <a:off x="1682360" y="541920"/>
          <a:ext cx="1991923" cy="278049"/>
        </a:xfrm>
        <a:custGeom>
          <a:avLst/>
          <a:gdLst/>
          <a:ahLst/>
          <a:cxnLst/>
          <a:pathLst>
            <a:path w="3137" h="438">
              <a:moveTo>
                <a:pt x="3137" y="0"/>
              </a:moveTo>
              <a:lnTo>
                <a:pt x="3137" y="263"/>
              </a:lnTo>
              <a:lnTo>
                <a:pt x="0" y="263"/>
              </a:lnTo>
              <a:lnTo>
                <a:pt x="0" y="438"/>
              </a:lnTo>
            </a:path>
          </a:pathLst>
        </a:custGeom>
        <a:sp3d prstMaterial="matte"/>
      </dsp:spPr>
      <dsp:style>
        <a:lnRef idx="2">
          <a:schemeClr val="accent5"/>
        </a:lnRef>
        <a:fillRef idx="0">
          <a:schemeClr val="accent4">
            <a:tint val="90000"/>
          </a:schemeClr>
        </a:fillRef>
        <a:effectRef idx="0">
          <a:scrgbClr r="0" g="0" b="0"/>
        </a:effectRef>
        <a:fontRef idx="minor"/>
      </dsp:style>
      <dsp:txXfrm>
        <a:off x="1682360" y="541920"/>
        <a:ext cx="1991923" cy="278049"/>
      </dsp:txXfrm>
    </dsp:sp>
    <dsp:sp modelId="{9857FE94-28DE-4625-A8C8-A8E7ED1E3B49}">
      <dsp:nvSpPr>
        <dsp:cNvPr id="11" name="任意多边形 10"/>
        <dsp:cNvSpPr/>
      </dsp:nvSpPr>
      <dsp:spPr bwMode="white">
        <a:xfrm>
          <a:off x="2940282" y="541920"/>
          <a:ext cx="734002" cy="278285"/>
        </a:xfrm>
        <a:custGeom>
          <a:avLst/>
          <a:gdLst/>
          <a:ahLst/>
          <a:cxnLst/>
          <a:pathLst>
            <a:path w="1156" h="438">
              <a:moveTo>
                <a:pt x="1156" y="0"/>
              </a:moveTo>
              <a:lnTo>
                <a:pt x="1156" y="264"/>
              </a:lnTo>
              <a:lnTo>
                <a:pt x="0" y="264"/>
              </a:lnTo>
              <a:lnTo>
                <a:pt x="0" y="438"/>
              </a:lnTo>
            </a:path>
          </a:pathLst>
        </a:custGeom>
        <a:sp3d prstMaterial="matte"/>
      </dsp:spPr>
      <dsp:style>
        <a:lnRef idx="2">
          <a:schemeClr val="accent5"/>
        </a:lnRef>
        <a:fillRef idx="0">
          <a:schemeClr val="accent4">
            <a:tint val="90000"/>
          </a:schemeClr>
        </a:fillRef>
        <a:effectRef idx="0">
          <a:scrgbClr r="0" g="0" b="0"/>
        </a:effectRef>
        <a:fontRef idx="minor"/>
      </dsp:style>
      <dsp:txXfrm>
        <a:off x="2940282" y="541920"/>
        <a:ext cx="734002" cy="278285"/>
      </dsp:txXfrm>
    </dsp:sp>
    <dsp:sp modelId="{4D97D0A5-8FA6-40CF-867F-A10DBE37697E}">
      <dsp:nvSpPr>
        <dsp:cNvPr id="14" name="任意多边形 13"/>
        <dsp:cNvSpPr/>
      </dsp:nvSpPr>
      <dsp:spPr bwMode="white">
        <a:xfrm>
          <a:off x="3674283" y="541920"/>
          <a:ext cx="303517" cy="278285"/>
        </a:xfrm>
        <a:custGeom>
          <a:avLst/>
          <a:gdLst/>
          <a:ahLst/>
          <a:cxnLst/>
          <a:pathLst>
            <a:path w="478" h="438">
              <a:moveTo>
                <a:pt x="0" y="0"/>
              </a:moveTo>
              <a:lnTo>
                <a:pt x="0" y="264"/>
              </a:lnTo>
              <a:lnTo>
                <a:pt x="478" y="264"/>
              </a:lnTo>
              <a:lnTo>
                <a:pt x="478" y="438"/>
              </a:lnTo>
            </a:path>
          </a:pathLst>
        </a:custGeom>
        <a:sp3d prstMaterial="matte"/>
      </dsp:spPr>
      <dsp:style>
        <a:lnRef idx="2">
          <a:schemeClr val="accent5"/>
        </a:lnRef>
        <a:fillRef idx="0">
          <a:schemeClr val="accent4">
            <a:tint val="90000"/>
          </a:schemeClr>
        </a:fillRef>
        <a:effectRef idx="0">
          <a:scrgbClr r="0" g="0" b="0"/>
        </a:effectRef>
        <a:fontRef idx="minor"/>
      </dsp:style>
      <dsp:txXfrm>
        <a:off x="3674283" y="541920"/>
        <a:ext cx="303517" cy="278285"/>
      </dsp:txXfrm>
    </dsp:sp>
    <dsp:sp modelId="{57E2B3A0-7C16-4477-9D44-586183579800}">
      <dsp:nvSpPr>
        <dsp:cNvPr id="17" name="任意多边形 16"/>
        <dsp:cNvSpPr/>
      </dsp:nvSpPr>
      <dsp:spPr bwMode="white">
        <a:xfrm>
          <a:off x="3674283" y="541920"/>
          <a:ext cx="1341035" cy="278285"/>
        </a:xfrm>
        <a:custGeom>
          <a:avLst/>
          <a:gdLst/>
          <a:ahLst/>
          <a:cxnLst/>
          <a:pathLst>
            <a:path w="2112" h="438">
              <a:moveTo>
                <a:pt x="0" y="0"/>
              </a:moveTo>
              <a:lnTo>
                <a:pt x="0" y="264"/>
              </a:lnTo>
              <a:lnTo>
                <a:pt x="2112" y="264"/>
              </a:lnTo>
              <a:lnTo>
                <a:pt x="2112" y="438"/>
              </a:lnTo>
            </a:path>
          </a:pathLst>
        </a:custGeom>
        <a:sp3d prstMaterial="matte"/>
      </dsp:spPr>
      <dsp:style>
        <a:lnRef idx="2">
          <a:schemeClr val="accent5"/>
        </a:lnRef>
        <a:fillRef idx="0">
          <a:schemeClr val="accent4">
            <a:tint val="90000"/>
          </a:schemeClr>
        </a:fillRef>
        <a:effectRef idx="0">
          <a:scrgbClr r="0" g="0" b="0"/>
        </a:effectRef>
        <a:fontRef idx="minor"/>
      </dsp:style>
      <dsp:txXfrm>
        <a:off x="3674283" y="541920"/>
        <a:ext cx="1341035" cy="278285"/>
      </dsp:txXfrm>
    </dsp:sp>
    <dsp:sp modelId="{1815E458-692B-43C8-9883-8325FDB83688}">
      <dsp:nvSpPr>
        <dsp:cNvPr id="20" name="任意多边形 19"/>
        <dsp:cNvSpPr/>
      </dsp:nvSpPr>
      <dsp:spPr bwMode="white">
        <a:xfrm>
          <a:off x="3674283" y="541920"/>
          <a:ext cx="2378553" cy="278285"/>
        </a:xfrm>
        <a:custGeom>
          <a:avLst/>
          <a:gdLst/>
          <a:ahLst/>
          <a:cxnLst/>
          <a:pathLst>
            <a:path w="3746" h="438">
              <a:moveTo>
                <a:pt x="0" y="0"/>
              </a:moveTo>
              <a:lnTo>
                <a:pt x="0" y="264"/>
              </a:lnTo>
              <a:lnTo>
                <a:pt x="3746" y="264"/>
              </a:lnTo>
              <a:lnTo>
                <a:pt x="3746" y="438"/>
              </a:lnTo>
            </a:path>
          </a:pathLst>
        </a:custGeom>
        <a:sp3d prstMaterial="matte"/>
      </dsp:spPr>
      <dsp:style>
        <a:lnRef idx="2">
          <a:schemeClr val="accent5"/>
        </a:lnRef>
        <a:fillRef idx="0">
          <a:schemeClr val="accent4">
            <a:tint val="90000"/>
          </a:schemeClr>
        </a:fillRef>
        <a:effectRef idx="0">
          <a:scrgbClr r="0" g="0" b="0"/>
        </a:effectRef>
        <a:fontRef idx="minor"/>
      </dsp:style>
      <dsp:txXfrm>
        <a:off x="3674283" y="541920"/>
        <a:ext cx="2378553" cy="278285"/>
      </dsp:txXfrm>
    </dsp:sp>
    <dsp:sp modelId="{63F123AC-C73F-4E32-9E00-D8C1B78E3ED2}">
      <dsp:nvSpPr>
        <dsp:cNvPr id="23" name="任意多边形 22"/>
        <dsp:cNvSpPr/>
      </dsp:nvSpPr>
      <dsp:spPr bwMode="white">
        <a:xfrm>
          <a:off x="3674283" y="541920"/>
          <a:ext cx="3416071" cy="278285"/>
        </a:xfrm>
        <a:custGeom>
          <a:avLst/>
          <a:gdLst/>
          <a:ahLst/>
          <a:cxnLst/>
          <a:pathLst>
            <a:path w="5380" h="438">
              <a:moveTo>
                <a:pt x="0" y="0"/>
              </a:moveTo>
              <a:lnTo>
                <a:pt x="0" y="264"/>
              </a:lnTo>
              <a:lnTo>
                <a:pt x="5380" y="264"/>
              </a:lnTo>
              <a:lnTo>
                <a:pt x="5380" y="438"/>
              </a:lnTo>
            </a:path>
          </a:pathLst>
        </a:custGeom>
        <a:sp3d prstMaterial="matte"/>
      </dsp:spPr>
      <dsp:style>
        <a:lnRef idx="2">
          <a:schemeClr val="accent5"/>
        </a:lnRef>
        <a:fillRef idx="0">
          <a:schemeClr val="accent4">
            <a:tint val="90000"/>
          </a:schemeClr>
        </a:fillRef>
        <a:effectRef idx="0">
          <a:scrgbClr r="0" g="0" b="0"/>
        </a:effectRef>
        <a:fontRef idx="minor"/>
      </dsp:style>
      <dsp:txXfrm>
        <a:off x="3674283" y="541920"/>
        <a:ext cx="3416071" cy="278285"/>
      </dsp:txXfrm>
    </dsp:sp>
    <dsp:sp modelId="{DD46B97C-6AA1-4CF0-9BBF-A0A521779686}">
      <dsp:nvSpPr>
        <dsp:cNvPr id="3" name="圆角矩形 2"/>
        <dsp:cNvSpPr/>
      </dsp:nvSpPr>
      <dsp:spPr bwMode="white">
        <a:xfrm>
          <a:off x="2613694" y="2882"/>
          <a:ext cx="2121178" cy="539038"/>
        </a:xfrm>
        <a:prstGeom prst="roundRect">
          <a:avLst>
            <a:gd name="adj" fmla="val 10000"/>
          </a:avLst>
        </a:prstGeom>
        <a:sp3d prstMaterial="plastic">
          <a:bevelT w="120900" h="88900"/>
          <a:bevelB w="88900" h="31750" prst="angle"/>
        </a:sp3d>
      </dsp:spPr>
      <dsp:style>
        <a:lnRef idx="0">
          <a:schemeClr val="lt1"/>
        </a:lnRef>
        <a:fillRef idx="3">
          <a:schemeClr val="accent3"/>
        </a:fillRef>
        <a:effectRef idx="2">
          <a:scrgbClr r="0" g="0" b="0"/>
        </a:effectRef>
        <a:fontRef idx="minor">
          <a:schemeClr val="lt1"/>
        </a:fontRef>
      </dsp:style>
      <dsp:txXfrm>
        <a:off x="2613694" y="2882"/>
        <a:ext cx="2121178" cy="539038"/>
      </dsp:txXfrm>
    </dsp:sp>
    <dsp:sp modelId="{8E11B7AB-CEA7-4942-B784-DF60CB71ABEA}">
      <dsp:nvSpPr>
        <dsp:cNvPr id="4" name="圆角矩形 3"/>
        <dsp:cNvSpPr/>
      </dsp:nvSpPr>
      <dsp:spPr bwMode="white">
        <a:xfrm>
          <a:off x="2708014" y="92486"/>
          <a:ext cx="2121178" cy="539038"/>
        </a:xfrm>
        <a:prstGeom prst="roundRect">
          <a:avLst>
            <a:gd name="adj" fmla="val 10000"/>
          </a:avLst>
        </a:prstGeom>
        <a:sp3d z="190500" extrusionH="12700" prstMaterial="plastic">
          <a:bevelT w="50800" h="50800"/>
        </a:sp3d>
      </dsp:spPr>
      <dsp:style>
        <a:lnRef idx="1">
          <a:schemeClr val="accent3"/>
        </a:lnRef>
        <a:fillRef idx="1">
          <a:schemeClr val="lt1">
            <a:alpha val="90000"/>
          </a:schemeClr>
        </a:fillRef>
        <a:effectRef idx="2">
          <a:scrgbClr r="0" g="0" b="0"/>
        </a:effectRef>
        <a:fontRef idx="minor"/>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zh-CN" sz="1800" b="1" dirty="0" smtClean="0">
              <a:solidFill>
                <a:schemeClr val="dk1"/>
              </a:solidFill>
            </a:rPr>
            <a:t>结构图</a:t>
          </a:r>
          <a:endParaRPr lang="en-US" altLang="zh-CN" sz="1800" b="1" dirty="0" smtClean="0">
            <a:solidFill>
              <a:schemeClr val="dk1"/>
            </a:solidFill>
          </a:endParaRPr>
        </a:p>
        <a:p>
          <a:pPr lvl="0" algn="ctr">
            <a:lnSpc>
              <a:spcPct val="100000"/>
            </a:lnSpc>
            <a:spcBef>
              <a:spcPct val="0"/>
            </a:spcBef>
            <a:spcAft>
              <a:spcPct val="35000"/>
            </a:spcAft>
          </a:pPr>
          <a:r>
            <a:rPr lang="zh-CN" altLang="en-US" sz="1800" b="1" dirty="0" smtClean="0">
              <a:solidFill>
                <a:schemeClr val="dk1"/>
              </a:solidFill>
            </a:rPr>
            <a:t>（</a:t>
          </a:r>
          <a:r>
            <a:rPr lang="zh-CN" altLang="zh-CN" sz="1800" b="1" dirty="0" smtClean="0">
              <a:solidFill>
                <a:schemeClr val="dk1"/>
              </a:solidFill>
            </a:rPr>
            <a:t>静态模型图</a:t>
          </a:r>
          <a:r>
            <a:rPr lang="zh-CN" altLang="en-US" sz="1800" b="1" dirty="0" smtClean="0">
              <a:solidFill>
                <a:schemeClr val="dk1"/>
              </a:solidFill>
            </a:rPr>
            <a:t>）</a:t>
          </a:r>
          <a:endParaRPr lang="zh-CN" altLang="en-US" sz="1800" dirty="0">
            <a:solidFill>
              <a:schemeClr val="dk1"/>
            </a:solidFill>
          </a:endParaRPr>
        </a:p>
      </dsp:txBody>
      <dsp:txXfrm>
        <a:off x="2708014" y="92486"/>
        <a:ext cx="2121178" cy="539038"/>
      </dsp:txXfrm>
    </dsp:sp>
    <dsp:sp modelId="{8C7512A0-AE95-4A10-B588-7BF4F439B100}">
      <dsp:nvSpPr>
        <dsp:cNvPr id="6" name="圆角矩形 5"/>
        <dsp:cNvSpPr/>
      </dsp:nvSpPr>
      <dsp:spPr bwMode="white">
        <a:xfrm>
          <a:off x="0" y="820205"/>
          <a:ext cx="848879" cy="539038"/>
        </a:xfrm>
        <a:prstGeom prst="roundRect">
          <a:avLst>
            <a:gd name="adj" fmla="val 10000"/>
          </a:avLst>
        </a:prstGeom>
        <a:sp3d prstMaterial="plastic">
          <a:bevelT w="120900" h="88900"/>
          <a:bevelB w="88900" h="31750" prst="angle"/>
        </a:sp3d>
      </dsp:spPr>
      <dsp:style>
        <a:lnRef idx="0">
          <a:schemeClr val="lt1"/>
        </a:lnRef>
        <a:fillRef idx="3">
          <a:schemeClr val="accent5">
            <a:hueOff val="0"/>
            <a:satOff val="0"/>
            <a:lumOff val="0"/>
            <a:alpha val="100000"/>
          </a:schemeClr>
        </a:fillRef>
        <a:effectRef idx="1">
          <a:scrgbClr r="0" g="0" b="0"/>
        </a:effectRef>
        <a:fontRef idx="minor">
          <a:schemeClr val="lt1"/>
        </a:fontRef>
      </dsp:style>
      <dsp:txXfrm>
        <a:off x="0" y="820205"/>
        <a:ext cx="848879" cy="539038"/>
      </dsp:txXfrm>
    </dsp:sp>
    <dsp:sp modelId="{C383B9D6-BACE-49A3-BDA6-EDE8BECA2B5B}">
      <dsp:nvSpPr>
        <dsp:cNvPr id="7" name="圆角矩形 6"/>
        <dsp:cNvSpPr/>
      </dsp:nvSpPr>
      <dsp:spPr bwMode="white">
        <a:xfrm>
          <a:off x="94320" y="909809"/>
          <a:ext cx="848879" cy="539038"/>
        </a:xfrm>
        <a:prstGeom prst="roundRect">
          <a:avLst>
            <a:gd name="adj" fmla="val 10000"/>
          </a:avLst>
        </a:prstGeom>
        <a:sp3d z="190500" extrusionH="12700" prstMaterial="plastic">
          <a:bevelT w="50800" h="50800"/>
        </a:sp3d>
      </dsp:spPr>
      <dsp:style>
        <a:lnRef idx="1">
          <a:schemeClr val="accent5">
            <a:hueOff val="0"/>
            <a:satOff val="0"/>
            <a:lumOff val="0"/>
            <a:alpha val="100000"/>
          </a:schemeClr>
        </a:lnRef>
        <a:fillRef idx="1">
          <a:schemeClr val="lt1">
            <a:alpha val="90000"/>
          </a:schemeClr>
        </a:fillRef>
        <a:effectRef idx="2">
          <a:scrgbClr r="0" g="0" b="0"/>
        </a:effectRef>
        <a:fontRef idx="minor"/>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smtClean="0">
              <a:solidFill>
                <a:schemeClr val="dk1"/>
              </a:solidFill>
            </a:rPr>
            <a:t>类图</a:t>
          </a:r>
          <a:endParaRPr lang="zh-CN" altLang="en-US" sz="1800" dirty="0">
            <a:solidFill>
              <a:schemeClr val="dk1"/>
            </a:solidFill>
          </a:endParaRPr>
        </a:p>
      </dsp:txBody>
      <dsp:txXfrm>
        <a:off x="94320" y="909809"/>
        <a:ext cx="848879" cy="539038"/>
      </dsp:txXfrm>
    </dsp:sp>
    <dsp:sp modelId="{3BC9F215-AA55-4A1A-80F2-D0003DB2F985}">
      <dsp:nvSpPr>
        <dsp:cNvPr id="9" name="圆角矩形 8"/>
        <dsp:cNvSpPr/>
      </dsp:nvSpPr>
      <dsp:spPr bwMode="white">
        <a:xfrm>
          <a:off x="1037518" y="819969"/>
          <a:ext cx="1289684" cy="539038"/>
        </a:xfrm>
        <a:prstGeom prst="roundRect">
          <a:avLst>
            <a:gd name="adj" fmla="val 10000"/>
          </a:avLst>
        </a:prstGeom>
        <a:sp3d prstMaterial="plastic">
          <a:bevelT w="120900" h="88900"/>
          <a:bevelB w="88900" h="31750" prst="angle"/>
        </a:sp3d>
      </dsp:spPr>
      <dsp:style>
        <a:lnRef idx="0">
          <a:schemeClr val="lt1"/>
        </a:lnRef>
        <a:fillRef idx="3">
          <a:schemeClr val="accent5">
            <a:hueOff val="0"/>
            <a:satOff val="0"/>
            <a:lumOff val="0"/>
            <a:alpha val="100000"/>
          </a:schemeClr>
        </a:fillRef>
        <a:effectRef idx="1">
          <a:scrgbClr r="0" g="0" b="0"/>
        </a:effectRef>
        <a:fontRef idx="minor">
          <a:schemeClr val="lt1"/>
        </a:fontRef>
      </dsp:style>
      <dsp:txXfrm>
        <a:off x="1037518" y="819969"/>
        <a:ext cx="1289684" cy="539038"/>
      </dsp:txXfrm>
    </dsp:sp>
    <dsp:sp modelId="{C159D7EB-93A1-4C3F-9215-9D95F99FBBAA}">
      <dsp:nvSpPr>
        <dsp:cNvPr id="10" name="圆角矩形 9"/>
        <dsp:cNvSpPr/>
      </dsp:nvSpPr>
      <dsp:spPr bwMode="white">
        <a:xfrm>
          <a:off x="1131838" y="909573"/>
          <a:ext cx="1289684" cy="539038"/>
        </a:xfrm>
        <a:prstGeom prst="roundRect">
          <a:avLst>
            <a:gd name="adj" fmla="val 10000"/>
          </a:avLst>
        </a:prstGeom>
        <a:sp3d z="190500" extrusionH="12700" prstMaterial="plastic">
          <a:bevelT w="50800" h="50800"/>
        </a:sp3d>
      </dsp:spPr>
      <dsp:style>
        <a:lnRef idx="1">
          <a:schemeClr val="accent5">
            <a:hueOff val="0"/>
            <a:satOff val="0"/>
            <a:lumOff val="0"/>
            <a:alpha val="100000"/>
          </a:schemeClr>
        </a:lnRef>
        <a:fillRef idx="1">
          <a:schemeClr val="lt1">
            <a:alpha val="90000"/>
          </a:schemeClr>
        </a:fillRef>
        <a:effectRef idx="2">
          <a:scrgbClr r="0" g="0" b="0"/>
        </a:effectRef>
        <a:fontRef idx="minor"/>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dirty="0" smtClean="0">
              <a:solidFill>
                <a:schemeClr val="dk1"/>
              </a:solidFill>
            </a:rPr>
            <a:t>组织结构图</a:t>
          </a:r>
          <a:endParaRPr lang="zh-CN" altLang="en-US" sz="1800" dirty="0">
            <a:solidFill>
              <a:schemeClr val="dk1"/>
            </a:solidFill>
          </a:endParaRPr>
        </a:p>
      </dsp:txBody>
      <dsp:txXfrm>
        <a:off x="1131838" y="909573"/>
        <a:ext cx="1289684" cy="539038"/>
      </dsp:txXfrm>
    </dsp:sp>
    <dsp:sp modelId="{6EB8D394-437B-4BA4-A3AC-AAE939A54A98}">
      <dsp:nvSpPr>
        <dsp:cNvPr id="12" name="圆角矩形 11"/>
        <dsp:cNvSpPr/>
      </dsp:nvSpPr>
      <dsp:spPr bwMode="white">
        <a:xfrm>
          <a:off x="2515842" y="820205"/>
          <a:ext cx="848879" cy="539038"/>
        </a:xfrm>
        <a:prstGeom prst="roundRect">
          <a:avLst>
            <a:gd name="adj" fmla="val 10000"/>
          </a:avLst>
        </a:prstGeom>
        <a:sp3d prstMaterial="plastic">
          <a:bevelT w="120900" h="88900"/>
          <a:bevelB w="88900" h="31750" prst="angle"/>
        </a:sp3d>
      </dsp:spPr>
      <dsp:style>
        <a:lnRef idx="0">
          <a:schemeClr val="lt1"/>
        </a:lnRef>
        <a:fillRef idx="3">
          <a:schemeClr val="accent5">
            <a:hueOff val="0"/>
            <a:satOff val="0"/>
            <a:lumOff val="0"/>
            <a:alpha val="100000"/>
          </a:schemeClr>
        </a:fillRef>
        <a:effectRef idx="1">
          <a:scrgbClr r="0" g="0" b="0"/>
        </a:effectRef>
        <a:fontRef idx="minor">
          <a:schemeClr val="lt1"/>
        </a:fontRef>
      </dsp:style>
      <dsp:txXfrm>
        <a:off x="2515842" y="820205"/>
        <a:ext cx="848879" cy="539038"/>
      </dsp:txXfrm>
    </dsp:sp>
    <dsp:sp modelId="{8AAD8D68-702A-4391-8B34-50F4F5C7B19A}">
      <dsp:nvSpPr>
        <dsp:cNvPr id="13" name="圆角矩形 12"/>
        <dsp:cNvSpPr/>
      </dsp:nvSpPr>
      <dsp:spPr bwMode="white">
        <a:xfrm>
          <a:off x="2610162" y="909809"/>
          <a:ext cx="848879" cy="539038"/>
        </a:xfrm>
        <a:prstGeom prst="roundRect">
          <a:avLst>
            <a:gd name="adj" fmla="val 10000"/>
          </a:avLst>
        </a:prstGeom>
        <a:sp3d z="190500" extrusionH="12700" prstMaterial="plastic">
          <a:bevelT w="50800" h="50800"/>
        </a:sp3d>
      </dsp:spPr>
      <dsp:style>
        <a:lnRef idx="1">
          <a:schemeClr val="accent5">
            <a:hueOff val="0"/>
            <a:satOff val="0"/>
            <a:lumOff val="0"/>
            <a:alpha val="100000"/>
          </a:schemeClr>
        </a:lnRef>
        <a:fillRef idx="1">
          <a:schemeClr val="lt1">
            <a:alpha val="90000"/>
          </a:schemeClr>
        </a:fillRef>
        <a:effectRef idx="2">
          <a:scrgbClr r="0" g="0" b="0"/>
        </a:effectRef>
        <a:fontRef idx="minor"/>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dirty="0" smtClean="0">
              <a:solidFill>
                <a:schemeClr val="dk1"/>
              </a:solidFill>
            </a:rPr>
            <a:t>组件图</a:t>
          </a:r>
          <a:endParaRPr lang="zh-CN" altLang="en-US" sz="1800" dirty="0">
            <a:solidFill>
              <a:schemeClr val="dk1"/>
            </a:solidFill>
          </a:endParaRPr>
        </a:p>
      </dsp:txBody>
      <dsp:txXfrm>
        <a:off x="2610162" y="909809"/>
        <a:ext cx="848879" cy="539038"/>
      </dsp:txXfrm>
    </dsp:sp>
    <dsp:sp modelId="{F1F8FCE7-9F96-41F2-8800-FEFBB128A0BC}">
      <dsp:nvSpPr>
        <dsp:cNvPr id="15" name="圆角矩形 14"/>
        <dsp:cNvSpPr/>
      </dsp:nvSpPr>
      <dsp:spPr bwMode="white">
        <a:xfrm>
          <a:off x="3553361" y="820205"/>
          <a:ext cx="848879" cy="539038"/>
        </a:xfrm>
        <a:prstGeom prst="roundRect">
          <a:avLst>
            <a:gd name="adj" fmla="val 10000"/>
          </a:avLst>
        </a:prstGeom>
        <a:sp3d prstMaterial="plastic">
          <a:bevelT w="120900" h="88900"/>
          <a:bevelB w="88900" h="31750" prst="angle"/>
        </a:sp3d>
      </dsp:spPr>
      <dsp:style>
        <a:lnRef idx="0">
          <a:schemeClr val="lt1"/>
        </a:lnRef>
        <a:fillRef idx="3">
          <a:schemeClr val="accent5">
            <a:hueOff val="0"/>
            <a:satOff val="0"/>
            <a:lumOff val="0"/>
            <a:alpha val="100000"/>
          </a:schemeClr>
        </a:fillRef>
        <a:effectRef idx="1">
          <a:scrgbClr r="0" g="0" b="0"/>
        </a:effectRef>
        <a:fontRef idx="minor">
          <a:schemeClr val="lt1"/>
        </a:fontRef>
      </dsp:style>
      <dsp:txXfrm>
        <a:off x="3553361" y="820205"/>
        <a:ext cx="848879" cy="539038"/>
      </dsp:txXfrm>
    </dsp:sp>
    <dsp:sp modelId="{6F1D3350-AB67-43E8-8954-09E838B0371F}">
      <dsp:nvSpPr>
        <dsp:cNvPr id="16" name="圆角矩形 15"/>
        <dsp:cNvSpPr/>
      </dsp:nvSpPr>
      <dsp:spPr bwMode="white">
        <a:xfrm>
          <a:off x="3647680" y="909809"/>
          <a:ext cx="848879" cy="539038"/>
        </a:xfrm>
        <a:prstGeom prst="roundRect">
          <a:avLst>
            <a:gd name="adj" fmla="val 10000"/>
          </a:avLst>
        </a:prstGeom>
        <a:sp3d z="190500" extrusionH="12700" prstMaterial="plastic">
          <a:bevelT w="50800" h="50800"/>
        </a:sp3d>
      </dsp:spPr>
      <dsp:style>
        <a:lnRef idx="1">
          <a:schemeClr val="accent5">
            <a:hueOff val="0"/>
            <a:satOff val="0"/>
            <a:lumOff val="0"/>
            <a:alpha val="100000"/>
          </a:schemeClr>
        </a:lnRef>
        <a:fillRef idx="1">
          <a:schemeClr val="lt1">
            <a:alpha val="90000"/>
          </a:schemeClr>
        </a:fillRef>
        <a:effectRef idx="2">
          <a:scrgbClr r="0" g="0" b="0"/>
        </a:effectRef>
        <a:fontRef idx="minor"/>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smtClean="0">
              <a:solidFill>
                <a:schemeClr val="dk1"/>
              </a:solidFill>
            </a:rPr>
            <a:t>部署图</a:t>
          </a:r>
          <a:endParaRPr lang="zh-CN" altLang="en-US" sz="1800">
            <a:solidFill>
              <a:schemeClr val="dk1"/>
            </a:solidFill>
          </a:endParaRPr>
        </a:p>
      </dsp:txBody>
      <dsp:txXfrm>
        <a:off x="3647680" y="909809"/>
        <a:ext cx="848879" cy="539038"/>
      </dsp:txXfrm>
    </dsp:sp>
    <dsp:sp modelId="{A9E2F6E7-6A81-4B24-9E94-462A95920150}">
      <dsp:nvSpPr>
        <dsp:cNvPr id="18" name="圆角矩形 17"/>
        <dsp:cNvSpPr/>
      </dsp:nvSpPr>
      <dsp:spPr bwMode="white">
        <a:xfrm>
          <a:off x="4590879" y="820205"/>
          <a:ext cx="848879" cy="539038"/>
        </a:xfrm>
        <a:prstGeom prst="roundRect">
          <a:avLst>
            <a:gd name="adj" fmla="val 10000"/>
          </a:avLst>
        </a:prstGeom>
        <a:sp3d prstMaterial="plastic">
          <a:bevelT w="120900" h="88900"/>
          <a:bevelB w="88900" h="31750" prst="angle"/>
        </a:sp3d>
      </dsp:spPr>
      <dsp:style>
        <a:lnRef idx="0">
          <a:schemeClr val="lt1"/>
        </a:lnRef>
        <a:fillRef idx="3">
          <a:schemeClr val="accent5">
            <a:hueOff val="0"/>
            <a:satOff val="0"/>
            <a:lumOff val="0"/>
            <a:alpha val="100000"/>
          </a:schemeClr>
        </a:fillRef>
        <a:effectRef idx="1">
          <a:scrgbClr r="0" g="0" b="0"/>
        </a:effectRef>
        <a:fontRef idx="minor">
          <a:schemeClr val="lt1"/>
        </a:fontRef>
      </dsp:style>
      <dsp:txXfrm>
        <a:off x="4590879" y="820205"/>
        <a:ext cx="848879" cy="539038"/>
      </dsp:txXfrm>
    </dsp:sp>
    <dsp:sp modelId="{0C5B3514-3644-4D91-92AA-7960CA0C2CD9}">
      <dsp:nvSpPr>
        <dsp:cNvPr id="19" name="圆角矩形 18"/>
        <dsp:cNvSpPr/>
      </dsp:nvSpPr>
      <dsp:spPr bwMode="white">
        <a:xfrm>
          <a:off x="4685199" y="909809"/>
          <a:ext cx="848879" cy="539038"/>
        </a:xfrm>
        <a:prstGeom prst="roundRect">
          <a:avLst>
            <a:gd name="adj" fmla="val 10000"/>
          </a:avLst>
        </a:prstGeom>
        <a:sp3d z="190500" extrusionH="12700" prstMaterial="plastic">
          <a:bevelT w="50800" h="50800"/>
        </a:sp3d>
      </dsp:spPr>
      <dsp:style>
        <a:lnRef idx="1">
          <a:schemeClr val="accent5">
            <a:hueOff val="0"/>
            <a:satOff val="0"/>
            <a:lumOff val="0"/>
            <a:alpha val="100000"/>
          </a:schemeClr>
        </a:lnRef>
        <a:fillRef idx="1">
          <a:schemeClr val="lt1">
            <a:alpha val="90000"/>
          </a:schemeClr>
        </a:fillRef>
        <a:effectRef idx="2">
          <a:scrgbClr r="0" g="0" b="0"/>
        </a:effectRef>
        <a:fontRef idx="minor"/>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smtClean="0">
              <a:solidFill>
                <a:schemeClr val="dk1"/>
              </a:solidFill>
            </a:rPr>
            <a:t>对象图</a:t>
          </a:r>
          <a:endParaRPr lang="zh-CN" altLang="en-US" sz="1800">
            <a:solidFill>
              <a:schemeClr val="dk1"/>
            </a:solidFill>
          </a:endParaRPr>
        </a:p>
      </dsp:txBody>
      <dsp:txXfrm>
        <a:off x="4685199" y="909809"/>
        <a:ext cx="848879" cy="539038"/>
      </dsp:txXfrm>
    </dsp:sp>
    <dsp:sp modelId="{7318286B-A35A-4D28-8027-536CCDE29B3E}">
      <dsp:nvSpPr>
        <dsp:cNvPr id="21" name="圆角矩形 20"/>
        <dsp:cNvSpPr/>
      </dsp:nvSpPr>
      <dsp:spPr bwMode="white">
        <a:xfrm>
          <a:off x="5628397" y="820205"/>
          <a:ext cx="848879" cy="539038"/>
        </a:xfrm>
        <a:prstGeom prst="roundRect">
          <a:avLst>
            <a:gd name="adj" fmla="val 10000"/>
          </a:avLst>
        </a:prstGeom>
        <a:sp3d prstMaterial="plastic">
          <a:bevelT w="120900" h="88900"/>
          <a:bevelB w="88900" h="31750" prst="angle"/>
        </a:sp3d>
      </dsp:spPr>
      <dsp:style>
        <a:lnRef idx="0">
          <a:schemeClr val="lt1"/>
        </a:lnRef>
        <a:fillRef idx="3">
          <a:schemeClr val="accent5">
            <a:hueOff val="0"/>
            <a:satOff val="0"/>
            <a:lumOff val="0"/>
            <a:alpha val="100000"/>
          </a:schemeClr>
        </a:fillRef>
        <a:effectRef idx="1">
          <a:scrgbClr r="0" g="0" b="0"/>
        </a:effectRef>
        <a:fontRef idx="minor">
          <a:schemeClr val="lt1"/>
        </a:fontRef>
      </dsp:style>
      <dsp:txXfrm>
        <a:off x="5628397" y="820205"/>
        <a:ext cx="848879" cy="539038"/>
      </dsp:txXfrm>
    </dsp:sp>
    <dsp:sp modelId="{A471A39D-54B0-49A2-BDF8-0AAFEB649F43}">
      <dsp:nvSpPr>
        <dsp:cNvPr id="22" name="圆角矩形 21"/>
        <dsp:cNvSpPr/>
      </dsp:nvSpPr>
      <dsp:spPr bwMode="white">
        <a:xfrm>
          <a:off x="5722717" y="909809"/>
          <a:ext cx="848879" cy="539038"/>
        </a:xfrm>
        <a:prstGeom prst="roundRect">
          <a:avLst>
            <a:gd name="adj" fmla="val 10000"/>
          </a:avLst>
        </a:prstGeom>
        <a:sp3d z="190500" extrusionH="12700" prstMaterial="plastic">
          <a:bevelT w="50800" h="50800"/>
        </a:sp3d>
      </dsp:spPr>
      <dsp:style>
        <a:lnRef idx="1">
          <a:schemeClr val="accent5">
            <a:hueOff val="0"/>
            <a:satOff val="0"/>
            <a:lumOff val="0"/>
            <a:alpha val="100000"/>
          </a:schemeClr>
        </a:lnRef>
        <a:fillRef idx="1">
          <a:schemeClr val="lt1">
            <a:alpha val="90000"/>
          </a:schemeClr>
        </a:fillRef>
        <a:effectRef idx="2">
          <a:scrgbClr r="0" g="0" b="0"/>
        </a:effectRef>
        <a:fontRef idx="minor"/>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dirty="0" smtClean="0">
              <a:solidFill>
                <a:schemeClr val="dk1"/>
              </a:solidFill>
            </a:rPr>
            <a:t>包图</a:t>
          </a:r>
          <a:endParaRPr lang="zh-CN" altLang="en-US" sz="1800" dirty="0">
            <a:solidFill>
              <a:schemeClr val="dk1"/>
            </a:solidFill>
          </a:endParaRPr>
        </a:p>
      </dsp:txBody>
      <dsp:txXfrm>
        <a:off x="5722717" y="909809"/>
        <a:ext cx="848879" cy="539038"/>
      </dsp:txXfrm>
    </dsp:sp>
    <dsp:sp modelId="{92B0AA23-BDD1-4454-9B30-F6158455151A}">
      <dsp:nvSpPr>
        <dsp:cNvPr id="24" name="圆角矩形 23"/>
        <dsp:cNvSpPr/>
      </dsp:nvSpPr>
      <dsp:spPr bwMode="white">
        <a:xfrm>
          <a:off x="6665916" y="820205"/>
          <a:ext cx="848879" cy="539038"/>
        </a:xfrm>
        <a:prstGeom prst="roundRect">
          <a:avLst>
            <a:gd name="adj" fmla="val 10000"/>
          </a:avLst>
        </a:prstGeom>
        <a:sp3d prstMaterial="plastic">
          <a:bevelT w="120900" h="88900"/>
          <a:bevelB w="88900" h="31750" prst="angle"/>
        </a:sp3d>
      </dsp:spPr>
      <dsp:style>
        <a:lnRef idx="0">
          <a:schemeClr val="lt1"/>
        </a:lnRef>
        <a:fillRef idx="3">
          <a:schemeClr val="accent5">
            <a:hueOff val="0"/>
            <a:satOff val="0"/>
            <a:lumOff val="0"/>
            <a:alpha val="100000"/>
          </a:schemeClr>
        </a:fillRef>
        <a:effectRef idx="1">
          <a:scrgbClr r="0" g="0" b="0"/>
        </a:effectRef>
        <a:fontRef idx="minor">
          <a:schemeClr val="lt1"/>
        </a:fontRef>
      </dsp:style>
      <dsp:txXfrm>
        <a:off x="6665916" y="820205"/>
        <a:ext cx="848879" cy="539038"/>
      </dsp:txXfrm>
    </dsp:sp>
    <dsp:sp modelId="{3305E7FC-6CB0-4157-AF03-D8612385166A}">
      <dsp:nvSpPr>
        <dsp:cNvPr id="25" name="圆角矩形 24"/>
        <dsp:cNvSpPr/>
      </dsp:nvSpPr>
      <dsp:spPr bwMode="white">
        <a:xfrm>
          <a:off x="6760235" y="909809"/>
          <a:ext cx="848879" cy="539038"/>
        </a:xfrm>
        <a:prstGeom prst="roundRect">
          <a:avLst>
            <a:gd name="adj" fmla="val 10000"/>
          </a:avLst>
        </a:prstGeom>
        <a:sp3d z="190500" extrusionH="12700" prstMaterial="plastic">
          <a:bevelT w="50800" h="50800"/>
        </a:sp3d>
      </dsp:spPr>
      <dsp:style>
        <a:lnRef idx="1">
          <a:schemeClr val="accent5">
            <a:hueOff val="0"/>
            <a:satOff val="0"/>
            <a:lumOff val="0"/>
            <a:alpha val="100000"/>
          </a:schemeClr>
        </a:lnRef>
        <a:fillRef idx="1">
          <a:schemeClr val="lt1">
            <a:alpha val="90000"/>
          </a:schemeClr>
        </a:fillRef>
        <a:effectRef idx="2">
          <a:scrgbClr r="0" g="0" b="0"/>
        </a:effectRef>
        <a:fontRef idx="minor"/>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dirty="0" smtClean="0">
              <a:solidFill>
                <a:schemeClr val="dk1"/>
              </a:solidFill>
            </a:rPr>
            <a:t>外廓图</a:t>
          </a:r>
          <a:endParaRPr lang="zh-CN" altLang="en-US" sz="1800" dirty="0">
            <a:solidFill>
              <a:schemeClr val="dk1"/>
            </a:solidFill>
          </a:endParaRPr>
        </a:p>
      </dsp:txBody>
      <dsp:txXfrm>
        <a:off x="6760235" y="909809"/>
        <a:ext cx="848879" cy="539038"/>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415662" cy="2256941"/>
        <a:chOff x="0" y="0"/>
        <a:chExt cx="7415662" cy="2256941"/>
      </a:xfrm>
    </dsp:grpSpPr>
    <dsp:sp modelId="{2F0E8B93-FEB9-4546-8A2D-410488C7EBD9}">
      <dsp:nvSpPr>
        <dsp:cNvPr id="5" name="任意多边形 4"/>
        <dsp:cNvSpPr/>
      </dsp:nvSpPr>
      <dsp:spPr bwMode="white">
        <a:xfrm>
          <a:off x="2248476" y="563513"/>
          <a:ext cx="1723212" cy="242469"/>
        </a:xfrm>
        <a:custGeom>
          <a:avLst/>
          <a:gdLst/>
          <a:ahLst/>
          <a:cxnLst/>
          <a:pathLst>
            <a:path w="2714" h="382">
              <a:moveTo>
                <a:pt x="2714" y="0"/>
              </a:moveTo>
              <a:lnTo>
                <a:pt x="2714" y="195"/>
              </a:lnTo>
              <a:lnTo>
                <a:pt x="0" y="195"/>
              </a:lnTo>
              <a:lnTo>
                <a:pt x="0" y="382"/>
              </a:lnTo>
            </a:path>
          </a:pathLst>
        </a:custGeom>
        <a:sp3d prstMaterial="matte"/>
      </dsp:spPr>
      <dsp:style>
        <a:lnRef idx="2">
          <a:schemeClr val="accent3"/>
        </a:lnRef>
        <a:fillRef idx="0">
          <a:schemeClr val="accent2">
            <a:tint val="90000"/>
          </a:schemeClr>
        </a:fillRef>
        <a:effectRef idx="0">
          <a:scrgbClr r="0" g="0" b="0"/>
        </a:effectRef>
        <a:fontRef idx="minor"/>
      </dsp:style>
      <dsp:txXfrm>
        <a:off x="2248476" y="563513"/>
        <a:ext cx="1723212" cy="242469"/>
      </dsp:txXfrm>
    </dsp:sp>
    <dsp:sp modelId="{4CCFDD1B-ED03-45A3-B155-0D977D45F1FC}">
      <dsp:nvSpPr>
        <dsp:cNvPr id="8" name="任意多边形 7"/>
        <dsp:cNvSpPr/>
      </dsp:nvSpPr>
      <dsp:spPr bwMode="white">
        <a:xfrm>
          <a:off x="3312159" y="563513"/>
          <a:ext cx="659530" cy="242469"/>
        </a:xfrm>
        <a:custGeom>
          <a:avLst/>
          <a:gdLst/>
          <a:ahLst/>
          <a:cxnLst/>
          <a:pathLst>
            <a:path w="1039" h="382">
              <a:moveTo>
                <a:pt x="1039" y="0"/>
              </a:moveTo>
              <a:lnTo>
                <a:pt x="1039" y="195"/>
              </a:lnTo>
              <a:lnTo>
                <a:pt x="0" y="195"/>
              </a:lnTo>
              <a:lnTo>
                <a:pt x="0" y="382"/>
              </a:lnTo>
            </a:path>
          </a:pathLst>
        </a:custGeom>
        <a:sp3d prstMaterial="matte"/>
      </dsp:spPr>
      <dsp:style>
        <a:lnRef idx="2">
          <a:schemeClr val="accent3"/>
        </a:lnRef>
        <a:fillRef idx="0">
          <a:schemeClr val="accent2">
            <a:tint val="90000"/>
          </a:schemeClr>
        </a:fillRef>
        <a:effectRef idx="0">
          <a:scrgbClr r="0" g="0" b="0"/>
        </a:effectRef>
        <a:fontRef idx="minor"/>
      </dsp:style>
      <dsp:txXfrm>
        <a:off x="3312159" y="563513"/>
        <a:ext cx="659530" cy="242469"/>
      </dsp:txXfrm>
    </dsp:sp>
    <dsp:sp modelId="{3E97E1B0-8746-44F0-88F4-3097D95428A0}">
      <dsp:nvSpPr>
        <dsp:cNvPr id="11" name="任意多边形 10"/>
        <dsp:cNvSpPr/>
      </dsp:nvSpPr>
      <dsp:spPr bwMode="white">
        <a:xfrm>
          <a:off x="1401844" y="1358613"/>
          <a:ext cx="1910315" cy="253592"/>
        </a:xfrm>
        <a:custGeom>
          <a:avLst/>
          <a:gdLst/>
          <a:ahLst/>
          <a:cxnLst/>
          <a:pathLst>
            <a:path w="3008" h="399">
              <a:moveTo>
                <a:pt x="3008" y="0"/>
              </a:moveTo>
              <a:lnTo>
                <a:pt x="3008" y="213"/>
              </a:lnTo>
              <a:lnTo>
                <a:pt x="0" y="213"/>
              </a:lnTo>
              <a:lnTo>
                <a:pt x="0" y="399"/>
              </a:lnTo>
            </a:path>
          </a:pathLst>
        </a:custGeom>
        <a:sp3d prstMaterial="matte"/>
      </dsp:spPr>
      <dsp:style>
        <a:lnRef idx="2">
          <a:schemeClr val="accent4"/>
        </a:lnRef>
        <a:fillRef idx="0">
          <a:schemeClr val="accent2">
            <a:tint val="70000"/>
          </a:schemeClr>
        </a:fillRef>
        <a:effectRef idx="0">
          <a:scrgbClr r="0" g="0" b="0"/>
        </a:effectRef>
        <a:fontRef idx="minor"/>
      </dsp:style>
      <dsp:txXfrm>
        <a:off x="1401844" y="1358613"/>
        <a:ext cx="1910315" cy="253592"/>
      </dsp:txXfrm>
    </dsp:sp>
    <dsp:sp modelId="{627FCE86-B813-4AA2-BF34-08B3A1B85BD6}">
      <dsp:nvSpPr>
        <dsp:cNvPr id="14" name="任意多边形 13"/>
        <dsp:cNvSpPr/>
      </dsp:nvSpPr>
      <dsp:spPr bwMode="white">
        <a:xfrm>
          <a:off x="2465527" y="1358613"/>
          <a:ext cx="846632" cy="253592"/>
        </a:xfrm>
        <a:custGeom>
          <a:avLst/>
          <a:gdLst/>
          <a:ahLst/>
          <a:cxnLst/>
          <a:pathLst>
            <a:path w="1333" h="399">
              <a:moveTo>
                <a:pt x="1333" y="0"/>
              </a:moveTo>
              <a:lnTo>
                <a:pt x="1333" y="213"/>
              </a:lnTo>
              <a:lnTo>
                <a:pt x="0" y="213"/>
              </a:lnTo>
              <a:lnTo>
                <a:pt x="0" y="399"/>
              </a:lnTo>
            </a:path>
          </a:pathLst>
        </a:custGeom>
        <a:sp3d prstMaterial="matte"/>
      </dsp:spPr>
      <dsp:style>
        <a:lnRef idx="2">
          <a:schemeClr val="accent4"/>
        </a:lnRef>
        <a:fillRef idx="0">
          <a:schemeClr val="accent2">
            <a:tint val="70000"/>
          </a:schemeClr>
        </a:fillRef>
        <a:effectRef idx="0">
          <a:scrgbClr r="0" g="0" b="0"/>
        </a:effectRef>
        <a:fontRef idx="minor"/>
      </dsp:style>
      <dsp:txXfrm>
        <a:off x="2465527" y="1358613"/>
        <a:ext cx="846632" cy="253592"/>
      </dsp:txXfrm>
    </dsp:sp>
    <dsp:sp modelId="{D3FFCBD5-ACE4-4224-9701-8D77F4FFDF89}">
      <dsp:nvSpPr>
        <dsp:cNvPr id="17" name="任意多边形 16"/>
        <dsp:cNvSpPr/>
      </dsp:nvSpPr>
      <dsp:spPr bwMode="white">
        <a:xfrm>
          <a:off x="3312159" y="1358613"/>
          <a:ext cx="531841" cy="253350"/>
        </a:xfrm>
        <a:custGeom>
          <a:avLst/>
          <a:gdLst/>
          <a:ahLst/>
          <a:cxnLst/>
          <a:pathLst>
            <a:path w="838" h="399">
              <a:moveTo>
                <a:pt x="0" y="0"/>
              </a:moveTo>
              <a:lnTo>
                <a:pt x="0" y="212"/>
              </a:lnTo>
              <a:lnTo>
                <a:pt x="838" y="212"/>
              </a:lnTo>
              <a:lnTo>
                <a:pt x="838" y="399"/>
              </a:lnTo>
            </a:path>
          </a:pathLst>
        </a:custGeom>
        <a:sp3d prstMaterial="matte"/>
      </dsp:spPr>
      <dsp:style>
        <a:lnRef idx="2">
          <a:schemeClr val="accent4"/>
        </a:lnRef>
        <a:fillRef idx="0">
          <a:schemeClr val="accent2">
            <a:tint val="70000"/>
          </a:schemeClr>
        </a:fillRef>
        <a:effectRef idx="0">
          <a:scrgbClr r="0" g="0" b="0"/>
        </a:effectRef>
        <a:fontRef idx="minor"/>
      </dsp:style>
      <dsp:txXfrm>
        <a:off x="3312159" y="1358613"/>
        <a:ext cx="531841" cy="253350"/>
      </dsp:txXfrm>
    </dsp:sp>
    <dsp:sp modelId="{F18388E2-565F-4710-B0AF-405410CE1437}">
      <dsp:nvSpPr>
        <dsp:cNvPr id="20" name="任意多边形 19"/>
        <dsp:cNvSpPr/>
      </dsp:nvSpPr>
      <dsp:spPr bwMode="white">
        <a:xfrm>
          <a:off x="3312159" y="1358613"/>
          <a:ext cx="1910315" cy="253592"/>
        </a:xfrm>
        <a:custGeom>
          <a:avLst/>
          <a:gdLst/>
          <a:ahLst/>
          <a:cxnLst/>
          <a:pathLst>
            <a:path w="3008" h="399">
              <a:moveTo>
                <a:pt x="0" y="0"/>
              </a:moveTo>
              <a:lnTo>
                <a:pt x="0" y="213"/>
              </a:lnTo>
              <a:lnTo>
                <a:pt x="3008" y="213"/>
              </a:lnTo>
              <a:lnTo>
                <a:pt x="3008" y="399"/>
              </a:lnTo>
            </a:path>
          </a:pathLst>
        </a:custGeom>
        <a:sp3d prstMaterial="matte"/>
      </dsp:spPr>
      <dsp:style>
        <a:lnRef idx="2">
          <a:schemeClr val="accent4"/>
        </a:lnRef>
        <a:fillRef idx="0">
          <a:schemeClr val="accent2">
            <a:tint val="70000"/>
          </a:schemeClr>
        </a:fillRef>
        <a:effectRef idx="0">
          <a:scrgbClr r="0" g="0" b="0"/>
        </a:effectRef>
        <a:fontRef idx="minor"/>
      </dsp:style>
      <dsp:txXfrm>
        <a:off x="3312159" y="1358613"/>
        <a:ext cx="1910315" cy="253592"/>
      </dsp:txXfrm>
    </dsp:sp>
    <dsp:sp modelId="{9857FE94-28DE-4625-A8C8-A8E7ED1E3B49}">
      <dsp:nvSpPr>
        <dsp:cNvPr id="23" name="任意多边形 22"/>
        <dsp:cNvSpPr/>
      </dsp:nvSpPr>
      <dsp:spPr bwMode="white">
        <a:xfrm>
          <a:off x="3971689" y="563513"/>
          <a:ext cx="404153" cy="242469"/>
        </a:xfrm>
        <a:custGeom>
          <a:avLst/>
          <a:gdLst/>
          <a:ahLst/>
          <a:cxnLst/>
          <a:pathLst>
            <a:path w="636" h="382">
              <a:moveTo>
                <a:pt x="0" y="0"/>
              </a:moveTo>
              <a:lnTo>
                <a:pt x="0" y="195"/>
              </a:lnTo>
              <a:lnTo>
                <a:pt x="636" y="195"/>
              </a:lnTo>
              <a:lnTo>
                <a:pt x="636" y="382"/>
              </a:lnTo>
            </a:path>
          </a:pathLst>
        </a:custGeom>
        <a:sp3d prstMaterial="matte"/>
      </dsp:spPr>
      <dsp:style>
        <a:lnRef idx="2">
          <a:schemeClr val="accent3"/>
        </a:lnRef>
        <a:fillRef idx="0">
          <a:schemeClr val="accent2">
            <a:tint val="90000"/>
          </a:schemeClr>
        </a:fillRef>
        <a:effectRef idx="0">
          <a:scrgbClr r="0" g="0" b="0"/>
        </a:effectRef>
        <a:fontRef idx="minor"/>
      </dsp:style>
      <dsp:txXfrm>
        <a:off x="3971689" y="563513"/>
        <a:ext cx="404153" cy="242469"/>
      </dsp:txXfrm>
    </dsp:sp>
    <dsp:sp modelId="{4D97D0A5-8FA6-40CF-867F-A10DBE37697E}">
      <dsp:nvSpPr>
        <dsp:cNvPr id="26" name="任意多边形 25"/>
        <dsp:cNvSpPr/>
      </dsp:nvSpPr>
      <dsp:spPr bwMode="white">
        <a:xfrm>
          <a:off x="3971689" y="563513"/>
          <a:ext cx="1706633" cy="242227"/>
        </a:xfrm>
        <a:custGeom>
          <a:avLst/>
          <a:gdLst/>
          <a:ahLst/>
          <a:cxnLst/>
          <a:pathLst>
            <a:path w="2688" h="381">
              <a:moveTo>
                <a:pt x="0" y="0"/>
              </a:moveTo>
              <a:lnTo>
                <a:pt x="0" y="195"/>
              </a:lnTo>
              <a:lnTo>
                <a:pt x="2688" y="195"/>
              </a:lnTo>
              <a:lnTo>
                <a:pt x="2688" y="381"/>
              </a:lnTo>
            </a:path>
          </a:pathLst>
        </a:custGeom>
        <a:sp3d prstMaterial="matte"/>
      </dsp:spPr>
      <dsp:style>
        <a:lnRef idx="2">
          <a:schemeClr val="accent3"/>
        </a:lnRef>
        <a:fillRef idx="0">
          <a:schemeClr val="accent2">
            <a:tint val="90000"/>
          </a:schemeClr>
        </a:fillRef>
        <a:effectRef idx="0">
          <a:scrgbClr r="0" g="0" b="0"/>
        </a:effectRef>
        <a:fontRef idx="minor"/>
      </dsp:style>
      <dsp:txXfrm>
        <a:off x="3971689" y="563513"/>
        <a:ext cx="1706633" cy="242227"/>
      </dsp:txXfrm>
    </dsp:sp>
    <dsp:sp modelId="{DD46B97C-6AA1-4CF0-9BBF-A0A521779686}">
      <dsp:nvSpPr>
        <dsp:cNvPr id="3" name="圆角矩形 2"/>
        <dsp:cNvSpPr/>
      </dsp:nvSpPr>
      <dsp:spPr bwMode="white">
        <a:xfrm>
          <a:off x="2834773" y="10881"/>
          <a:ext cx="2273830" cy="552631"/>
        </a:xfrm>
        <a:prstGeom prst="roundRect">
          <a:avLst>
            <a:gd name="adj" fmla="val 10000"/>
          </a:avLst>
        </a:prstGeom>
        <a:sp3d prstMaterial="plastic">
          <a:bevelT w="120900" h="88900"/>
          <a:bevelB w="88900" h="31750" prst="angle"/>
        </a:sp3d>
      </dsp:spPr>
      <dsp:style>
        <a:lnRef idx="0">
          <a:schemeClr val="lt1"/>
        </a:lnRef>
        <a:fillRef idx="3">
          <a:schemeClr val="accent1"/>
        </a:fillRef>
        <a:effectRef idx="2">
          <a:scrgbClr r="0" g="0" b="0"/>
        </a:effectRef>
        <a:fontRef idx="minor">
          <a:schemeClr val="lt1"/>
        </a:fontRef>
      </dsp:style>
      <dsp:txXfrm>
        <a:off x="2834773" y="10881"/>
        <a:ext cx="2273830" cy="552631"/>
      </dsp:txXfrm>
    </dsp:sp>
    <dsp:sp modelId="{8E11B7AB-CEA7-4942-B784-DF60CB71ABEA}">
      <dsp:nvSpPr>
        <dsp:cNvPr id="4" name="圆角矩形 3"/>
        <dsp:cNvSpPr/>
      </dsp:nvSpPr>
      <dsp:spPr bwMode="white">
        <a:xfrm>
          <a:off x="2931472" y="102745"/>
          <a:ext cx="2273830" cy="552631"/>
        </a:xfrm>
        <a:prstGeom prst="roundRect">
          <a:avLst>
            <a:gd name="adj" fmla="val 10000"/>
          </a:avLst>
        </a:prstGeom>
        <a:sp3d z="190500" extrusionH="12700" prstMaterial="plastic">
          <a:bevelT w="50800" h="50800"/>
        </a:sp3d>
      </dsp:spPr>
      <dsp:style>
        <a:lnRef idx="1">
          <a:schemeClr val="accent1"/>
        </a:lnRef>
        <a:fillRef idx="1">
          <a:schemeClr val="lt1">
            <a:alpha val="90000"/>
          </a:schemeClr>
        </a:fillRef>
        <a:effectRef idx="2">
          <a:scrgbClr r="0" g="0" b="0"/>
        </a:effectRef>
        <a:fontRef idx="minor"/>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zh-CN" sz="1800" b="1" smtClean="0">
              <a:solidFill>
                <a:schemeClr val="dk1"/>
              </a:solidFill>
            </a:rPr>
            <a:t>行为图</a:t>
          </a:r>
          <a:endParaRPr lang="en-US" altLang="zh-CN" sz="1800" b="1" smtClean="0">
            <a:solidFill>
              <a:schemeClr val="dk1"/>
            </a:solidFill>
          </a:endParaRPr>
        </a:p>
        <a:p>
          <a:pPr lvl="0">
            <a:lnSpc>
              <a:spcPct val="100000"/>
            </a:lnSpc>
            <a:spcBef>
              <a:spcPct val="0"/>
            </a:spcBef>
            <a:spcAft>
              <a:spcPct val="35000"/>
            </a:spcAft>
          </a:pPr>
          <a:r>
            <a:rPr lang="zh-CN" altLang="en-US" sz="1800" b="1" smtClean="0">
              <a:solidFill>
                <a:schemeClr val="dk1"/>
              </a:solidFill>
            </a:rPr>
            <a:t>（</a:t>
          </a:r>
          <a:r>
            <a:rPr lang="zh-CN" altLang="zh-CN" sz="1800" b="1" smtClean="0">
              <a:solidFill>
                <a:schemeClr val="dk1"/>
              </a:solidFill>
            </a:rPr>
            <a:t>动态模型图</a:t>
          </a:r>
          <a:r>
            <a:rPr lang="zh-CN" altLang="en-US" sz="1800" b="1" smtClean="0">
              <a:solidFill>
                <a:schemeClr val="dk1"/>
              </a:solidFill>
            </a:rPr>
            <a:t>）</a:t>
          </a:r>
          <a:endParaRPr lang="zh-CN" altLang="en-US" sz="1800" dirty="0">
            <a:solidFill>
              <a:schemeClr val="dk1"/>
            </a:solidFill>
          </a:endParaRPr>
        </a:p>
      </dsp:txBody>
      <dsp:txXfrm>
        <a:off x="2931472" y="102745"/>
        <a:ext cx="2273830" cy="552631"/>
      </dsp:txXfrm>
    </dsp:sp>
    <dsp:sp modelId="{8C7512A0-AE95-4A10-B588-7BF4F439B100}">
      <dsp:nvSpPr>
        <dsp:cNvPr id="6" name="圆角矩形 5"/>
        <dsp:cNvSpPr/>
      </dsp:nvSpPr>
      <dsp:spPr bwMode="white">
        <a:xfrm>
          <a:off x="1813334" y="805981"/>
          <a:ext cx="870286" cy="552631"/>
        </a:xfrm>
        <a:prstGeom prst="roundRect">
          <a:avLst>
            <a:gd name="adj" fmla="val 10000"/>
          </a:avLst>
        </a:prstGeom>
        <a:sp3d prstMaterial="plastic">
          <a:bevelT w="120900" h="88900"/>
          <a:bevelB w="88900" h="31750" prst="angle"/>
        </a:sp3d>
      </dsp:spPr>
      <dsp:style>
        <a:lnRef idx="0">
          <a:schemeClr val="lt1"/>
        </a:lnRef>
        <a:fillRef idx="3">
          <a:schemeClr val="accent3">
            <a:hueOff val="0"/>
            <a:satOff val="0"/>
            <a:lumOff val="0"/>
            <a:alpha val="100000"/>
          </a:schemeClr>
        </a:fillRef>
        <a:effectRef idx="1">
          <a:scrgbClr r="0" g="0" b="0"/>
        </a:effectRef>
        <a:fontRef idx="minor">
          <a:schemeClr val="lt1"/>
        </a:fontRef>
      </dsp:style>
      <dsp:txXfrm>
        <a:off x="1813334" y="805981"/>
        <a:ext cx="870286" cy="552631"/>
      </dsp:txXfrm>
    </dsp:sp>
    <dsp:sp modelId="{C383B9D6-BACE-49A3-BDA6-EDE8BECA2B5B}">
      <dsp:nvSpPr>
        <dsp:cNvPr id="7" name="圆角矩形 6"/>
        <dsp:cNvSpPr/>
      </dsp:nvSpPr>
      <dsp:spPr bwMode="white">
        <a:xfrm>
          <a:off x="1910032" y="897845"/>
          <a:ext cx="870286" cy="552631"/>
        </a:xfrm>
        <a:prstGeom prst="roundRect">
          <a:avLst>
            <a:gd name="adj" fmla="val 10000"/>
          </a:avLst>
        </a:prstGeom>
        <a:sp3d z="190500" extrusionH="12700" prstMaterial="plastic">
          <a:bevelT w="50800" h="50800"/>
        </a:sp3d>
      </dsp:spPr>
      <dsp:style>
        <a:lnRef idx="1">
          <a:schemeClr val="accent3">
            <a:hueOff val="0"/>
            <a:satOff val="0"/>
            <a:lumOff val="0"/>
            <a:alpha val="100000"/>
          </a:schemeClr>
        </a:lnRef>
        <a:fillRef idx="1">
          <a:schemeClr val="lt1">
            <a:alpha val="90000"/>
          </a:schemeClr>
        </a:fillRef>
        <a:effectRef idx="2">
          <a:scrgbClr r="0" g="0" b="0"/>
        </a:effectRef>
        <a:fontRef idx="minor"/>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smtClean="0">
              <a:solidFill>
                <a:schemeClr val="dk1"/>
              </a:solidFill>
            </a:rPr>
            <a:t>活动图</a:t>
          </a:r>
          <a:endParaRPr lang="zh-CN" altLang="en-US" sz="1800" dirty="0">
            <a:solidFill>
              <a:schemeClr val="dk1"/>
            </a:solidFill>
          </a:endParaRPr>
        </a:p>
      </dsp:txBody>
      <dsp:txXfrm>
        <a:off x="1910032" y="897845"/>
        <a:ext cx="870286" cy="552631"/>
      </dsp:txXfrm>
    </dsp:sp>
    <dsp:sp modelId="{3BC9F215-AA55-4A1A-80F2-D0003DB2F985}">
      <dsp:nvSpPr>
        <dsp:cNvPr id="9" name="圆角矩形 8"/>
        <dsp:cNvSpPr/>
      </dsp:nvSpPr>
      <dsp:spPr bwMode="white">
        <a:xfrm>
          <a:off x="2877016" y="805981"/>
          <a:ext cx="870286" cy="552631"/>
        </a:xfrm>
        <a:prstGeom prst="roundRect">
          <a:avLst>
            <a:gd name="adj" fmla="val 10000"/>
          </a:avLst>
        </a:prstGeom>
        <a:sp3d prstMaterial="plastic">
          <a:bevelT w="120900" h="88900"/>
          <a:bevelB w="88900" h="31750" prst="angle"/>
        </a:sp3d>
      </dsp:spPr>
      <dsp:style>
        <a:lnRef idx="0">
          <a:schemeClr val="lt1"/>
        </a:lnRef>
        <a:fillRef idx="3">
          <a:schemeClr val="accent3">
            <a:hueOff val="0"/>
            <a:satOff val="0"/>
            <a:lumOff val="0"/>
            <a:alpha val="100000"/>
          </a:schemeClr>
        </a:fillRef>
        <a:effectRef idx="1">
          <a:scrgbClr r="0" g="0" b="0"/>
        </a:effectRef>
        <a:fontRef idx="minor">
          <a:schemeClr val="lt1"/>
        </a:fontRef>
      </dsp:style>
      <dsp:txXfrm>
        <a:off x="2877016" y="805981"/>
        <a:ext cx="870286" cy="552631"/>
      </dsp:txXfrm>
    </dsp:sp>
    <dsp:sp modelId="{C159D7EB-93A1-4C3F-9215-9D95F99FBBAA}">
      <dsp:nvSpPr>
        <dsp:cNvPr id="10" name="圆角矩形 9"/>
        <dsp:cNvSpPr/>
      </dsp:nvSpPr>
      <dsp:spPr bwMode="white">
        <a:xfrm>
          <a:off x="2973715" y="897845"/>
          <a:ext cx="870286" cy="552631"/>
        </a:xfrm>
        <a:prstGeom prst="roundRect">
          <a:avLst>
            <a:gd name="adj" fmla="val 10000"/>
          </a:avLst>
        </a:prstGeom>
        <a:sp3d z="190500" extrusionH="12700" prstMaterial="plastic">
          <a:bevelT w="50800" h="50800"/>
        </a:sp3d>
      </dsp:spPr>
      <dsp:style>
        <a:lnRef idx="1">
          <a:schemeClr val="accent3">
            <a:hueOff val="0"/>
            <a:satOff val="0"/>
            <a:lumOff val="0"/>
            <a:alpha val="100000"/>
          </a:schemeClr>
        </a:lnRef>
        <a:fillRef idx="1">
          <a:schemeClr val="lt1">
            <a:alpha val="90000"/>
          </a:schemeClr>
        </a:fillRef>
        <a:effectRef idx="2">
          <a:scrgbClr r="0" g="0" b="0"/>
        </a:effectRef>
        <a:fontRef idx="minor"/>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smtClean="0">
              <a:solidFill>
                <a:schemeClr val="dk1"/>
              </a:solidFill>
            </a:rPr>
            <a:t>交互图</a:t>
          </a:r>
          <a:endParaRPr lang="zh-CN" altLang="en-US" sz="1800" dirty="0">
            <a:solidFill>
              <a:schemeClr val="dk1"/>
            </a:solidFill>
          </a:endParaRPr>
        </a:p>
      </dsp:txBody>
      <dsp:txXfrm>
        <a:off x="2973715" y="897845"/>
        <a:ext cx="870286" cy="552631"/>
      </dsp:txXfrm>
    </dsp:sp>
    <dsp:sp modelId="{A891929F-50B8-4EB6-95BD-80C84665AFE6}">
      <dsp:nvSpPr>
        <dsp:cNvPr id="12" name="圆角矩形 11"/>
        <dsp:cNvSpPr/>
      </dsp:nvSpPr>
      <dsp:spPr bwMode="white">
        <a:xfrm>
          <a:off x="966701" y="1612204"/>
          <a:ext cx="870286" cy="552631"/>
        </a:xfrm>
        <a:prstGeom prst="roundRect">
          <a:avLst>
            <a:gd name="adj" fmla="val 10000"/>
          </a:avLst>
        </a:prstGeom>
        <a:sp3d prstMaterial="plastic">
          <a:bevelT w="120900" h="88900"/>
          <a:bevelB w="88900" h="31750" prst="angle"/>
        </a:sp3d>
      </dsp:spPr>
      <dsp:style>
        <a:lnRef idx="0">
          <a:schemeClr val="lt1"/>
        </a:lnRef>
        <a:fillRef idx="3">
          <a:schemeClr val="accent4">
            <a:hueOff val="0"/>
            <a:satOff val="0"/>
            <a:lumOff val="0"/>
            <a:alpha val="100000"/>
          </a:schemeClr>
        </a:fillRef>
        <a:effectRef idx="1">
          <a:scrgbClr r="0" g="0" b="0"/>
        </a:effectRef>
        <a:fontRef idx="minor">
          <a:schemeClr val="lt1"/>
        </a:fontRef>
      </dsp:style>
      <dsp:txXfrm>
        <a:off x="966701" y="1612204"/>
        <a:ext cx="870286" cy="552631"/>
      </dsp:txXfrm>
    </dsp:sp>
    <dsp:sp modelId="{C2D8BEBE-237A-414B-9DBC-E25B49C0C1BA}">
      <dsp:nvSpPr>
        <dsp:cNvPr id="13" name="圆角矩形 12"/>
        <dsp:cNvSpPr/>
      </dsp:nvSpPr>
      <dsp:spPr bwMode="white">
        <a:xfrm>
          <a:off x="1063400" y="1704068"/>
          <a:ext cx="870286" cy="552631"/>
        </a:xfrm>
        <a:prstGeom prst="roundRect">
          <a:avLst>
            <a:gd name="adj" fmla="val 10000"/>
          </a:avLst>
        </a:prstGeom>
        <a:sp3d z="190500" extrusionH="12700" prstMaterial="plastic">
          <a:bevelT w="50800" h="50800"/>
        </a:sp3d>
      </dsp:spPr>
      <dsp:style>
        <a:lnRef idx="1">
          <a:schemeClr val="accent4">
            <a:hueOff val="0"/>
            <a:satOff val="0"/>
            <a:lumOff val="0"/>
            <a:alpha val="100000"/>
          </a:schemeClr>
        </a:lnRef>
        <a:fillRef idx="1">
          <a:schemeClr val="lt1">
            <a:alpha val="90000"/>
          </a:schemeClr>
        </a:fillRef>
        <a:effectRef idx="2">
          <a:scrgbClr r="0" g="0" b="0"/>
        </a:effectRef>
        <a:fontRef idx="minor"/>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smtClean="0">
              <a:solidFill>
                <a:schemeClr val="dk1"/>
              </a:solidFill>
            </a:rPr>
            <a:t>顺序图</a:t>
          </a:r>
          <a:endParaRPr lang="zh-CN" altLang="en-US" sz="1800" dirty="0">
            <a:solidFill>
              <a:schemeClr val="dk1"/>
            </a:solidFill>
          </a:endParaRPr>
        </a:p>
      </dsp:txBody>
      <dsp:txXfrm>
        <a:off x="1063400" y="1704068"/>
        <a:ext cx="870286" cy="552631"/>
      </dsp:txXfrm>
    </dsp:sp>
    <dsp:sp modelId="{A711716D-DC2F-4548-A0E5-7E43808B80D5}">
      <dsp:nvSpPr>
        <dsp:cNvPr id="15" name="圆角矩形 14"/>
        <dsp:cNvSpPr/>
      </dsp:nvSpPr>
      <dsp:spPr bwMode="white">
        <a:xfrm>
          <a:off x="2030384" y="1612204"/>
          <a:ext cx="870286" cy="552631"/>
        </a:xfrm>
        <a:prstGeom prst="roundRect">
          <a:avLst>
            <a:gd name="adj" fmla="val 10000"/>
          </a:avLst>
        </a:prstGeom>
        <a:sp3d prstMaterial="plastic">
          <a:bevelT w="120900" h="88900"/>
          <a:bevelB w="88900" h="31750" prst="angle"/>
        </a:sp3d>
      </dsp:spPr>
      <dsp:style>
        <a:lnRef idx="0">
          <a:schemeClr val="lt1"/>
        </a:lnRef>
        <a:fillRef idx="3">
          <a:schemeClr val="accent4">
            <a:hueOff val="0"/>
            <a:satOff val="0"/>
            <a:lumOff val="0"/>
            <a:alpha val="100000"/>
          </a:schemeClr>
        </a:fillRef>
        <a:effectRef idx="1">
          <a:scrgbClr r="0" g="0" b="0"/>
        </a:effectRef>
        <a:fontRef idx="minor">
          <a:schemeClr val="lt1"/>
        </a:fontRef>
      </dsp:style>
      <dsp:txXfrm>
        <a:off x="2030384" y="1612204"/>
        <a:ext cx="870286" cy="552631"/>
      </dsp:txXfrm>
    </dsp:sp>
    <dsp:sp modelId="{57EB52D1-EFAA-4000-BF03-4A3C8B371B51}">
      <dsp:nvSpPr>
        <dsp:cNvPr id="16" name="圆角矩形 15"/>
        <dsp:cNvSpPr/>
      </dsp:nvSpPr>
      <dsp:spPr bwMode="white">
        <a:xfrm>
          <a:off x="2127082" y="1704068"/>
          <a:ext cx="870286" cy="552631"/>
        </a:xfrm>
        <a:prstGeom prst="roundRect">
          <a:avLst>
            <a:gd name="adj" fmla="val 10000"/>
          </a:avLst>
        </a:prstGeom>
        <a:sp3d z="190500" extrusionH="12700" prstMaterial="plastic">
          <a:bevelT w="50800" h="50800"/>
        </a:sp3d>
      </dsp:spPr>
      <dsp:style>
        <a:lnRef idx="1">
          <a:schemeClr val="accent4">
            <a:hueOff val="0"/>
            <a:satOff val="0"/>
            <a:lumOff val="0"/>
            <a:alpha val="100000"/>
          </a:schemeClr>
        </a:lnRef>
        <a:fillRef idx="1">
          <a:schemeClr val="lt1">
            <a:alpha val="90000"/>
          </a:schemeClr>
        </a:fillRef>
        <a:effectRef idx="2">
          <a:scrgbClr r="0" g="0" b="0"/>
        </a:effectRef>
        <a:fontRef idx="minor"/>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smtClean="0">
              <a:solidFill>
                <a:schemeClr val="dk1"/>
              </a:solidFill>
            </a:rPr>
            <a:t>通信图</a:t>
          </a:r>
          <a:endParaRPr lang="zh-CN" altLang="en-US" sz="1800">
            <a:solidFill>
              <a:schemeClr val="dk1"/>
            </a:solidFill>
          </a:endParaRPr>
        </a:p>
      </dsp:txBody>
      <dsp:txXfrm>
        <a:off x="2127082" y="1704068"/>
        <a:ext cx="870286" cy="552631"/>
      </dsp:txXfrm>
    </dsp:sp>
    <dsp:sp modelId="{0706A6C6-7B49-48F7-A97D-75206C32A94D}">
      <dsp:nvSpPr>
        <dsp:cNvPr id="18" name="圆角矩形 17"/>
        <dsp:cNvSpPr/>
      </dsp:nvSpPr>
      <dsp:spPr bwMode="white">
        <a:xfrm>
          <a:off x="3094066" y="1611963"/>
          <a:ext cx="1499868" cy="552631"/>
        </a:xfrm>
        <a:prstGeom prst="roundRect">
          <a:avLst>
            <a:gd name="adj" fmla="val 10000"/>
          </a:avLst>
        </a:prstGeom>
        <a:sp3d prstMaterial="plastic">
          <a:bevelT w="120900" h="88900"/>
          <a:bevelB w="88900" h="31750" prst="angle"/>
        </a:sp3d>
      </dsp:spPr>
      <dsp:style>
        <a:lnRef idx="0">
          <a:schemeClr val="lt1"/>
        </a:lnRef>
        <a:fillRef idx="3">
          <a:schemeClr val="accent4">
            <a:hueOff val="0"/>
            <a:satOff val="0"/>
            <a:lumOff val="0"/>
            <a:alpha val="100000"/>
          </a:schemeClr>
        </a:fillRef>
        <a:effectRef idx="1">
          <a:scrgbClr r="0" g="0" b="0"/>
        </a:effectRef>
        <a:fontRef idx="minor">
          <a:schemeClr val="lt1"/>
        </a:fontRef>
      </dsp:style>
      <dsp:txXfrm>
        <a:off x="3094066" y="1611963"/>
        <a:ext cx="1499868" cy="552631"/>
      </dsp:txXfrm>
    </dsp:sp>
    <dsp:sp modelId="{1357CB96-2D90-4057-9252-8C77BB79D1DB}">
      <dsp:nvSpPr>
        <dsp:cNvPr id="19" name="圆角矩形 18"/>
        <dsp:cNvSpPr/>
      </dsp:nvSpPr>
      <dsp:spPr bwMode="white">
        <a:xfrm>
          <a:off x="3190765" y="1703826"/>
          <a:ext cx="1499868" cy="552631"/>
        </a:xfrm>
        <a:prstGeom prst="roundRect">
          <a:avLst>
            <a:gd name="adj" fmla="val 10000"/>
          </a:avLst>
        </a:prstGeom>
        <a:sp3d z="190500" extrusionH="12700" prstMaterial="plastic">
          <a:bevelT w="50800" h="50800"/>
        </a:sp3d>
      </dsp:spPr>
      <dsp:style>
        <a:lnRef idx="1">
          <a:schemeClr val="accent4">
            <a:hueOff val="0"/>
            <a:satOff val="0"/>
            <a:lumOff val="0"/>
            <a:alpha val="100000"/>
          </a:schemeClr>
        </a:lnRef>
        <a:fillRef idx="1">
          <a:schemeClr val="lt1">
            <a:alpha val="90000"/>
          </a:schemeClr>
        </a:fillRef>
        <a:effectRef idx="2">
          <a:scrgbClr r="0" g="0" b="0"/>
        </a:effectRef>
        <a:fontRef idx="minor"/>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smtClean="0">
              <a:solidFill>
                <a:schemeClr val="dk1"/>
              </a:solidFill>
            </a:rPr>
            <a:t>交互概况图</a:t>
          </a:r>
          <a:endParaRPr lang="zh-CN" altLang="en-US" sz="1800">
            <a:solidFill>
              <a:schemeClr val="dk1"/>
            </a:solidFill>
          </a:endParaRPr>
        </a:p>
      </dsp:txBody>
      <dsp:txXfrm>
        <a:off x="3190765" y="1703826"/>
        <a:ext cx="1499868" cy="552631"/>
      </dsp:txXfrm>
    </dsp:sp>
    <dsp:sp modelId="{7DCBB6E1-ED1B-4645-8F21-67AC37456406}">
      <dsp:nvSpPr>
        <dsp:cNvPr id="21" name="圆角矩形 20"/>
        <dsp:cNvSpPr/>
      </dsp:nvSpPr>
      <dsp:spPr bwMode="white">
        <a:xfrm>
          <a:off x="4787331" y="1612204"/>
          <a:ext cx="870286" cy="552631"/>
        </a:xfrm>
        <a:prstGeom prst="roundRect">
          <a:avLst>
            <a:gd name="adj" fmla="val 10000"/>
          </a:avLst>
        </a:prstGeom>
        <a:sp3d prstMaterial="plastic">
          <a:bevelT w="120900" h="88900"/>
          <a:bevelB w="88900" h="31750" prst="angle"/>
        </a:sp3d>
      </dsp:spPr>
      <dsp:style>
        <a:lnRef idx="0">
          <a:schemeClr val="lt1"/>
        </a:lnRef>
        <a:fillRef idx="3">
          <a:schemeClr val="accent4">
            <a:hueOff val="0"/>
            <a:satOff val="0"/>
            <a:lumOff val="0"/>
            <a:alpha val="100000"/>
          </a:schemeClr>
        </a:fillRef>
        <a:effectRef idx="1">
          <a:scrgbClr r="0" g="0" b="0"/>
        </a:effectRef>
        <a:fontRef idx="minor">
          <a:schemeClr val="lt1"/>
        </a:fontRef>
      </dsp:style>
      <dsp:txXfrm>
        <a:off x="4787331" y="1612204"/>
        <a:ext cx="870286" cy="552631"/>
      </dsp:txXfrm>
    </dsp:sp>
    <dsp:sp modelId="{C220A5E9-523D-4007-AABE-88D6FD8F343C}">
      <dsp:nvSpPr>
        <dsp:cNvPr id="22" name="圆角矩形 21"/>
        <dsp:cNvSpPr/>
      </dsp:nvSpPr>
      <dsp:spPr bwMode="white">
        <a:xfrm>
          <a:off x="4884029" y="1704068"/>
          <a:ext cx="870286" cy="552631"/>
        </a:xfrm>
        <a:prstGeom prst="roundRect">
          <a:avLst>
            <a:gd name="adj" fmla="val 10000"/>
          </a:avLst>
        </a:prstGeom>
        <a:sp3d z="190500" extrusionH="12700" prstMaterial="plastic">
          <a:bevelT w="50800" h="50800"/>
        </a:sp3d>
      </dsp:spPr>
      <dsp:style>
        <a:lnRef idx="1">
          <a:schemeClr val="accent4">
            <a:hueOff val="0"/>
            <a:satOff val="0"/>
            <a:lumOff val="0"/>
            <a:alpha val="100000"/>
          </a:schemeClr>
        </a:lnRef>
        <a:fillRef idx="1">
          <a:schemeClr val="lt1">
            <a:alpha val="90000"/>
          </a:schemeClr>
        </a:fillRef>
        <a:effectRef idx="2">
          <a:scrgbClr r="0" g="0" b="0"/>
        </a:effectRef>
        <a:fontRef idx="minor"/>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smtClean="0">
              <a:solidFill>
                <a:schemeClr val="dk1"/>
              </a:solidFill>
            </a:rPr>
            <a:t>时序图</a:t>
          </a:r>
          <a:endParaRPr lang="zh-CN" altLang="en-US" sz="1800">
            <a:solidFill>
              <a:schemeClr val="dk1"/>
            </a:solidFill>
          </a:endParaRPr>
        </a:p>
      </dsp:txBody>
      <dsp:txXfrm>
        <a:off x="4884029" y="1704068"/>
        <a:ext cx="870286" cy="552631"/>
      </dsp:txXfrm>
    </dsp:sp>
    <dsp:sp modelId="{6EB8D394-437B-4BA4-A3AC-AAE939A54A98}">
      <dsp:nvSpPr>
        <dsp:cNvPr id="24" name="圆角矩形 23"/>
        <dsp:cNvSpPr/>
      </dsp:nvSpPr>
      <dsp:spPr bwMode="white">
        <a:xfrm>
          <a:off x="3940699" y="805981"/>
          <a:ext cx="870286" cy="552631"/>
        </a:xfrm>
        <a:prstGeom prst="roundRect">
          <a:avLst>
            <a:gd name="adj" fmla="val 10000"/>
          </a:avLst>
        </a:prstGeom>
        <a:sp3d prstMaterial="plastic">
          <a:bevelT w="120900" h="88900"/>
          <a:bevelB w="88900" h="31750" prst="angle"/>
        </a:sp3d>
      </dsp:spPr>
      <dsp:style>
        <a:lnRef idx="0">
          <a:schemeClr val="lt1"/>
        </a:lnRef>
        <a:fillRef idx="3">
          <a:schemeClr val="accent3">
            <a:hueOff val="0"/>
            <a:satOff val="0"/>
            <a:lumOff val="0"/>
            <a:alpha val="100000"/>
          </a:schemeClr>
        </a:fillRef>
        <a:effectRef idx="1">
          <a:scrgbClr r="0" g="0" b="0"/>
        </a:effectRef>
        <a:fontRef idx="minor">
          <a:schemeClr val="lt1"/>
        </a:fontRef>
      </dsp:style>
      <dsp:txXfrm>
        <a:off x="3940699" y="805981"/>
        <a:ext cx="870286" cy="552631"/>
      </dsp:txXfrm>
    </dsp:sp>
    <dsp:sp modelId="{8AAD8D68-702A-4391-8B34-50F4F5C7B19A}">
      <dsp:nvSpPr>
        <dsp:cNvPr id="25" name="圆角矩形 24"/>
        <dsp:cNvSpPr/>
      </dsp:nvSpPr>
      <dsp:spPr bwMode="white">
        <a:xfrm>
          <a:off x="4037397" y="897845"/>
          <a:ext cx="870286" cy="552631"/>
        </a:xfrm>
        <a:prstGeom prst="roundRect">
          <a:avLst>
            <a:gd name="adj" fmla="val 10000"/>
          </a:avLst>
        </a:prstGeom>
        <a:sp3d z="190500" extrusionH="12700" prstMaterial="plastic">
          <a:bevelT w="50800" h="50800"/>
        </a:sp3d>
      </dsp:spPr>
      <dsp:style>
        <a:lnRef idx="1">
          <a:schemeClr val="accent3">
            <a:hueOff val="0"/>
            <a:satOff val="0"/>
            <a:lumOff val="0"/>
            <a:alpha val="100000"/>
          </a:schemeClr>
        </a:lnRef>
        <a:fillRef idx="1">
          <a:schemeClr val="lt1">
            <a:alpha val="90000"/>
          </a:schemeClr>
        </a:fillRef>
        <a:effectRef idx="2">
          <a:scrgbClr r="0" g="0" b="0"/>
        </a:effectRef>
        <a:fontRef idx="minor"/>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smtClean="0">
              <a:solidFill>
                <a:schemeClr val="dk1"/>
              </a:solidFill>
            </a:rPr>
            <a:t>用例图</a:t>
          </a:r>
          <a:endParaRPr lang="zh-CN" altLang="en-US" sz="1800" dirty="0">
            <a:solidFill>
              <a:schemeClr val="dk1"/>
            </a:solidFill>
          </a:endParaRPr>
        </a:p>
      </dsp:txBody>
      <dsp:txXfrm>
        <a:off x="4037397" y="897845"/>
        <a:ext cx="870286" cy="552631"/>
      </dsp:txXfrm>
    </dsp:sp>
    <dsp:sp modelId="{F1F8FCE7-9F96-41F2-8800-FEFBB128A0BC}">
      <dsp:nvSpPr>
        <dsp:cNvPr id="27" name="圆角矩形 26"/>
        <dsp:cNvSpPr/>
      </dsp:nvSpPr>
      <dsp:spPr bwMode="white">
        <a:xfrm>
          <a:off x="5004381" y="805740"/>
          <a:ext cx="1347881" cy="552631"/>
        </a:xfrm>
        <a:prstGeom prst="roundRect">
          <a:avLst>
            <a:gd name="adj" fmla="val 10000"/>
          </a:avLst>
        </a:prstGeom>
        <a:sp3d prstMaterial="plastic">
          <a:bevelT w="120900" h="88900"/>
          <a:bevelB w="88900" h="31750" prst="angle"/>
        </a:sp3d>
      </dsp:spPr>
      <dsp:style>
        <a:lnRef idx="0">
          <a:schemeClr val="lt1"/>
        </a:lnRef>
        <a:fillRef idx="3">
          <a:schemeClr val="accent3">
            <a:hueOff val="0"/>
            <a:satOff val="0"/>
            <a:lumOff val="0"/>
            <a:alpha val="100000"/>
          </a:schemeClr>
        </a:fillRef>
        <a:effectRef idx="1">
          <a:scrgbClr r="0" g="0" b="0"/>
        </a:effectRef>
        <a:fontRef idx="minor">
          <a:schemeClr val="lt1"/>
        </a:fontRef>
      </dsp:style>
      <dsp:txXfrm>
        <a:off x="5004381" y="805740"/>
        <a:ext cx="1347881" cy="552631"/>
      </dsp:txXfrm>
    </dsp:sp>
    <dsp:sp modelId="{6F1D3350-AB67-43E8-8954-09E838B0371F}">
      <dsp:nvSpPr>
        <dsp:cNvPr id="28" name="圆角矩形 27"/>
        <dsp:cNvSpPr/>
      </dsp:nvSpPr>
      <dsp:spPr bwMode="white">
        <a:xfrm>
          <a:off x="5101080" y="897603"/>
          <a:ext cx="1347881" cy="552631"/>
        </a:xfrm>
        <a:prstGeom prst="roundRect">
          <a:avLst>
            <a:gd name="adj" fmla="val 10000"/>
          </a:avLst>
        </a:prstGeom>
        <a:sp3d z="190500" extrusionH="12700" prstMaterial="plastic">
          <a:bevelT w="50800" h="50800"/>
        </a:sp3d>
      </dsp:spPr>
      <dsp:style>
        <a:lnRef idx="1">
          <a:schemeClr val="accent3">
            <a:hueOff val="0"/>
            <a:satOff val="0"/>
            <a:lumOff val="0"/>
            <a:alpha val="100000"/>
          </a:schemeClr>
        </a:lnRef>
        <a:fillRef idx="1">
          <a:schemeClr val="lt1">
            <a:alpha val="90000"/>
          </a:schemeClr>
        </a:fillRef>
        <a:effectRef idx="2">
          <a:scrgbClr r="0" g="0" b="0"/>
        </a:effectRef>
        <a:fontRef idx="minor"/>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dirty="0" smtClean="0">
              <a:solidFill>
                <a:schemeClr val="dk1"/>
              </a:solidFill>
            </a:rPr>
            <a:t>状态机图</a:t>
          </a:r>
          <a:endParaRPr lang="zh-CN" altLang="en-US" sz="1800" dirty="0">
            <a:solidFill>
              <a:schemeClr val="dk1"/>
            </a:solidFill>
          </a:endParaRPr>
        </a:p>
      </dsp:txBody>
      <dsp:txXfrm>
        <a:off x="5101080" y="897603"/>
        <a:ext cx="1347881" cy="552631"/>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832725" cy="3806825"/>
        <a:chOff x="0" y="0"/>
        <a:chExt cx="7832725" cy="3806825"/>
      </a:xfrm>
    </dsp:grpSpPr>
    <dsp:sp modelId="{2D777079-D83D-4476-8408-E7145C42AABE}">
      <dsp:nvSpPr>
        <dsp:cNvPr id="3" name="矩形 2"/>
        <dsp:cNvSpPr/>
      </dsp:nvSpPr>
      <dsp:spPr bwMode="white">
        <a:xfrm>
          <a:off x="13694" y="584509"/>
          <a:ext cx="2555843" cy="1218509"/>
        </a:xfrm>
        <a:prstGeom prst="rect">
          <a:avLst/>
        </a:prstGeom>
        <a:solidFill>
          <a:schemeClr val="accent1">
            <a:lumMod val="50000"/>
          </a:schemeClr>
        </a:solidFill>
        <a:sp3d prstMaterial="plastic">
          <a:bevelT w="120900" h="88900"/>
          <a:bevelB w="88900" h="31750" prst="angle"/>
        </a:sp3d>
      </dsp:spPr>
      <dsp:style>
        <a:lnRef idx="0">
          <a:schemeClr val="lt1"/>
        </a:lnRef>
        <a:fillRef idx="3">
          <a:schemeClr val="accent2">
            <a:hueOff val="0"/>
            <a:satOff val="0"/>
            <a:lumOff val="0"/>
            <a:alpha val="100000"/>
          </a:schemeClr>
        </a:fillRef>
        <a:effectRef idx="2">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dirty="0"/>
            <a:t>用例视图</a:t>
          </a:r>
          <a:endParaRPr lang="en-US" altLang="zh-CN" sz="2000" dirty="0"/>
        </a:p>
        <a:p>
          <a:pPr lvl="0">
            <a:lnSpc>
              <a:spcPct val="100000"/>
            </a:lnSpc>
            <a:spcBef>
              <a:spcPct val="0"/>
            </a:spcBef>
            <a:spcAft>
              <a:spcPct val="35000"/>
            </a:spcAft>
          </a:pPr>
          <a:r>
            <a:rPr lang="zh-CN" altLang="en-US" sz="2000" dirty="0"/>
            <a:t>（</a:t>
          </a:r>
          <a:r>
            <a:rPr lang="en-US" altLang="zh-CN" sz="2000" dirty="0"/>
            <a:t>Use Case View</a:t>
          </a:r>
          <a:r>
            <a:rPr lang="zh-CN" altLang="en-US" sz="2000" dirty="0"/>
            <a:t>）</a:t>
          </a:r>
        </a:p>
      </dsp:txBody>
      <dsp:txXfrm>
        <a:off x="13694" y="584509"/>
        <a:ext cx="2555843" cy="1218509"/>
      </dsp:txXfrm>
    </dsp:sp>
    <dsp:sp modelId="{53D264F4-578A-47E2-8B63-E137F143A5CC}">
      <dsp:nvSpPr>
        <dsp:cNvPr id="4" name="矩形 3"/>
        <dsp:cNvSpPr/>
      </dsp:nvSpPr>
      <dsp:spPr bwMode="white">
        <a:xfrm>
          <a:off x="2772621" y="584509"/>
          <a:ext cx="2324306" cy="1218509"/>
        </a:xfrm>
        <a:prstGeom prst="rect">
          <a:avLst/>
        </a:prstGeom>
        <a:solidFill>
          <a:schemeClr val="accent1">
            <a:lumMod val="75000"/>
          </a:schemeClr>
        </a:solidFill>
        <a:sp3d prstMaterial="plastic">
          <a:bevelT w="120900" h="88900"/>
          <a:bevelB w="88900" h="31750" prst="angle"/>
        </a:sp3d>
      </dsp:spPr>
      <dsp:style>
        <a:lnRef idx="0">
          <a:schemeClr val="lt1"/>
        </a:lnRef>
        <a:fillRef idx="3">
          <a:schemeClr val="accent2">
            <a:hueOff val="-330000"/>
            <a:satOff val="392"/>
            <a:lumOff val="882"/>
            <a:alpha val="100000"/>
          </a:schemeClr>
        </a:fillRef>
        <a:effectRef idx="2">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dirty="0"/>
            <a:t>逻辑视图</a:t>
          </a:r>
          <a:endParaRPr lang="en-US" altLang="zh-CN" sz="2000" dirty="0"/>
        </a:p>
        <a:p>
          <a:pPr lvl="0">
            <a:lnSpc>
              <a:spcPct val="100000"/>
            </a:lnSpc>
            <a:spcBef>
              <a:spcPct val="0"/>
            </a:spcBef>
            <a:spcAft>
              <a:spcPct val="35000"/>
            </a:spcAft>
          </a:pPr>
          <a:r>
            <a:rPr lang="zh-CN" altLang="en-US" sz="2000" dirty="0"/>
            <a:t>（</a:t>
          </a:r>
          <a:r>
            <a:rPr lang="en-US" altLang="zh-CN" sz="2000" dirty="0"/>
            <a:t>Logical View</a:t>
          </a:r>
          <a:r>
            <a:rPr lang="zh-CN" altLang="en-US" sz="2000" dirty="0"/>
            <a:t>）</a:t>
          </a:r>
        </a:p>
      </dsp:txBody>
      <dsp:txXfrm>
        <a:off x="2772621" y="584509"/>
        <a:ext cx="2324306" cy="1218509"/>
      </dsp:txXfrm>
    </dsp:sp>
    <dsp:sp modelId="{DD94AC18-2BB3-4263-8CD7-E2814C89EB06}">
      <dsp:nvSpPr>
        <dsp:cNvPr id="5" name="矩形 4"/>
        <dsp:cNvSpPr/>
      </dsp:nvSpPr>
      <dsp:spPr bwMode="white">
        <a:xfrm>
          <a:off x="5298978" y="596998"/>
          <a:ext cx="2533747" cy="1218509"/>
        </a:xfrm>
        <a:prstGeom prst="rect">
          <a:avLst/>
        </a:prstGeom>
        <a:solidFill>
          <a:schemeClr val="accent1"/>
        </a:solidFill>
        <a:sp3d prstMaterial="plastic">
          <a:bevelT w="120900" h="88900"/>
          <a:bevelB w="88900" h="31750" prst="angle"/>
        </a:sp3d>
      </dsp:spPr>
      <dsp:style>
        <a:lnRef idx="0">
          <a:schemeClr val="lt1"/>
        </a:lnRef>
        <a:fillRef idx="3">
          <a:schemeClr val="accent2">
            <a:hueOff val="-660000"/>
            <a:satOff val="784"/>
            <a:lumOff val="1765"/>
            <a:alpha val="100000"/>
          </a:schemeClr>
        </a:fillRef>
        <a:effectRef idx="2">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dirty="0">
              <a:effectLst>
                <a:outerShdw blurRad="38100" dist="38100" dir="2700000" algn="tl">
                  <a:srgbClr val="000000">
                    <a:alpha val="43137"/>
                  </a:srgbClr>
                </a:outerShdw>
              </a:effectLst>
            </a:rPr>
            <a:t>并发视图</a:t>
          </a:r>
          <a:endParaRPr lang="zh-CN" altLang="en-US" sz="2000" dirty="0">
            <a:effectLst>
              <a:outerShdw blurRad="38100" dist="38100" dir="2700000" algn="tl">
                <a:srgbClr val="000000">
                  <a:alpha val="43137"/>
                </a:srgbClr>
              </a:outerShdw>
            </a:effectLst>
          </a:endParaRPr>
        </a:p>
        <a:p>
          <a:pPr lvl="0">
            <a:lnSpc>
              <a:spcPct val="100000"/>
            </a:lnSpc>
            <a:spcBef>
              <a:spcPct val="0"/>
            </a:spcBef>
            <a:spcAft>
              <a:spcPct val="35000"/>
            </a:spcAft>
          </a:pPr>
          <a:r>
            <a:rPr lang="zh-CN" altLang="en-US" sz="2000" dirty="0">
              <a:effectLst>
                <a:outerShdw blurRad="38100" dist="38100" dir="2700000" algn="tl">
                  <a:srgbClr val="000000">
                    <a:alpha val="43137"/>
                  </a:srgbClr>
                </a:outerShdw>
              </a:effectLst>
            </a:rPr>
            <a:t>（</a:t>
          </a:r>
          <a:r>
            <a:rPr lang="en-US" altLang="zh-CN" sz="2000" dirty="0">
              <a:effectLst>
                <a:outerShdw blurRad="38100" dist="38100" dir="2700000" algn="tl">
                  <a:srgbClr val="000000">
                    <a:alpha val="43137"/>
                  </a:srgbClr>
                </a:outerShdw>
              </a:effectLst>
            </a:rPr>
            <a:t>Concurrent View</a:t>
          </a:r>
          <a:r>
            <a:rPr lang="zh-CN" altLang="en-US" sz="2000" dirty="0">
              <a:effectLst>
                <a:outerShdw blurRad="38100" dist="38100" dir="2700000" algn="tl">
                  <a:srgbClr val="000000">
                    <a:alpha val="43137"/>
                  </a:srgbClr>
                </a:outerShdw>
              </a:effectLst>
            </a:rPr>
            <a:t>）</a:t>
          </a:r>
        </a:p>
      </dsp:txBody>
      <dsp:txXfrm>
        <a:off x="5298978" y="596998"/>
        <a:ext cx="2533747" cy="1218509"/>
      </dsp:txXfrm>
    </dsp:sp>
    <dsp:sp modelId="{D9D41D01-CD7B-4165-9CE0-961C224B04F5}">
      <dsp:nvSpPr>
        <dsp:cNvPr id="6" name="矩形 5"/>
        <dsp:cNvSpPr/>
      </dsp:nvSpPr>
      <dsp:spPr bwMode="white">
        <a:xfrm>
          <a:off x="1240306" y="2440801"/>
          <a:ext cx="2573470" cy="1218509"/>
        </a:xfrm>
        <a:prstGeom prst="rect">
          <a:avLst/>
        </a:prstGeom>
        <a:sp3d prstMaterial="plastic">
          <a:bevelT w="120900" h="88900"/>
          <a:bevelB w="88900" h="31750" prst="angle"/>
        </a:sp3d>
      </dsp:spPr>
      <dsp:style>
        <a:lnRef idx="0">
          <a:schemeClr val="accent6"/>
        </a:lnRef>
        <a:fillRef idx="3">
          <a:schemeClr val="accent6"/>
        </a:fillRef>
        <a:effectRef idx="3">
          <a:schemeClr val="accent6"/>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dirty="0">
              <a:effectLst>
                <a:outerShdw blurRad="38100" dist="38100" dir="2700000" algn="tl">
                  <a:srgbClr val="000000">
                    <a:alpha val="43137"/>
                  </a:srgbClr>
                </a:outerShdw>
              </a:effectLst>
            </a:rPr>
            <a:t>组件视图</a:t>
          </a:r>
          <a:endParaRPr lang="en-US" altLang="zh-CN" sz="2000" dirty="0">
            <a:effectLst>
              <a:outerShdw blurRad="38100" dist="38100" dir="2700000" algn="tl">
                <a:srgbClr val="000000">
                  <a:alpha val="43137"/>
                </a:srgbClr>
              </a:outerShdw>
            </a:effectLst>
          </a:endParaRPr>
        </a:p>
        <a:p>
          <a:pPr lvl="0">
            <a:lnSpc>
              <a:spcPct val="100000"/>
            </a:lnSpc>
            <a:spcBef>
              <a:spcPct val="0"/>
            </a:spcBef>
            <a:spcAft>
              <a:spcPct val="35000"/>
            </a:spcAft>
          </a:pPr>
          <a:r>
            <a:rPr lang="zh-CN" altLang="en-US" sz="2000" dirty="0">
              <a:effectLst>
                <a:outerShdw blurRad="38100" dist="38100" dir="2700000" algn="tl">
                  <a:srgbClr val="000000">
                    <a:alpha val="43137"/>
                  </a:srgbClr>
                </a:outerShdw>
              </a:effectLst>
            </a:rPr>
            <a:t>（</a:t>
          </a:r>
          <a:r>
            <a:rPr lang="en-US" altLang="zh-CN" sz="2000" dirty="0">
              <a:effectLst>
                <a:outerShdw blurRad="38100" dist="38100" dir="2700000" algn="tl">
                  <a:srgbClr val="000000">
                    <a:alpha val="43137"/>
                  </a:srgbClr>
                </a:outerShdw>
              </a:effectLst>
            </a:rPr>
            <a:t>Component View</a:t>
          </a:r>
          <a:r>
            <a:rPr lang="zh-CN" altLang="en-US" sz="2000" dirty="0">
              <a:effectLst>
                <a:outerShdw blurRad="38100" dist="38100" dir="2700000" algn="tl">
                  <a:srgbClr val="000000">
                    <a:alpha val="43137"/>
                  </a:srgbClr>
                </a:outerShdw>
              </a:effectLst>
            </a:rPr>
            <a:t>）</a:t>
          </a:r>
        </a:p>
      </dsp:txBody>
      <dsp:txXfrm>
        <a:off x="1240306" y="2440801"/>
        <a:ext cx="2573470" cy="1218509"/>
      </dsp:txXfrm>
    </dsp:sp>
    <dsp:sp modelId="{87A67EAD-03ED-42DE-B4B4-B10B4FDB968C}">
      <dsp:nvSpPr>
        <dsp:cNvPr id="7" name="矩形 6"/>
        <dsp:cNvSpPr/>
      </dsp:nvSpPr>
      <dsp:spPr bwMode="white">
        <a:xfrm>
          <a:off x="4016862" y="2440801"/>
          <a:ext cx="2585656" cy="1218509"/>
        </a:xfrm>
        <a:prstGeom prst="rect">
          <a:avLst/>
        </a:prstGeom>
        <a:sp3d prstMaterial="plastic">
          <a:bevelT w="120900" h="88900"/>
          <a:bevelB w="88900" h="31750" prst="angle"/>
        </a:sp3d>
      </dsp:spPr>
      <dsp:style>
        <a:lnRef idx="0">
          <a:schemeClr val="accent2"/>
        </a:lnRef>
        <a:fillRef idx="3">
          <a:schemeClr val="accent2"/>
        </a:fillRef>
        <a:effectRef idx="3">
          <a:schemeClr val="accent2"/>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dirty="0"/>
            <a:t>配置视图</a:t>
          </a:r>
          <a:endParaRPr lang="en-US" altLang="zh-CN" sz="2000" dirty="0"/>
        </a:p>
        <a:p>
          <a:pPr lvl="0">
            <a:lnSpc>
              <a:spcPct val="100000"/>
            </a:lnSpc>
            <a:spcBef>
              <a:spcPct val="0"/>
            </a:spcBef>
            <a:spcAft>
              <a:spcPct val="35000"/>
            </a:spcAft>
          </a:pPr>
          <a:r>
            <a:rPr lang="zh-CN" altLang="en-US" sz="2000" dirty="0"/>
            <a:t>（</a:t>
          </a:r>
          <a:r>
            <a:rPr lang="en-US" altLang="zh-CN" sz="2000" dirty="0"/>
            <a:t>Deployment View</a:t>
          </a:r>
          <a:r>
            <a:rPr lang="zh-CN" altLang="en-US" sz="2000" dirty="0"/>
            <a:t>）</a:t>
          </a:r>
        </a:p>
      </dsp:txBody>
      <dsp:txXfrm>
        <a:off x="4016862" y="2440801"/>
        <a:ext cx="2585656" cy="1218509"/>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626623" cy="2808514"/>
        <a:chOff x="0" y="0"/>
        <a:chExt cx="8626623" cy="2808514"/>
      </a:xfrm>
    </dsp:grpSpPr>
    <dsp:sp modelId="{EE7B4099-BFA7-4528-BED6-372BBD8B0DF1}">
      <dsp:nvSpPr>
        <dsp:cNvPr id="4" name="同侧圆角矩形 3"/>
        <dsp:cNvSpPr/>
      </dsp:nvSpPr>
      <dsp:spPr bwMode="white">
        <a:xfrm rot="5400000">
          <a:off x="4590084" y="-3165770"/>
          <a:ext cx="850017" cy="7223060"/>
        </a:xfrm>
        <a:prstGeom prst="round2Same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rot="-5400000" lIns="60960" tIns="30480" rIns="60960" bIns="3048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zh-CN" altLang="en-US" sz="1600" dirty="0">
              <a:solidFill>
                <a:schemeClr val="dk1"/>
              </a:solidFill>
              <a:latin typeface="+mj-ea"/>
              <a:ea typeface="+mj-ea"/>
            </a:rPr>
            <a:t>用例模型从用户的角度描述系统需求，是所有开发活动的指南 </a:t>
          </a:r>
          <a:endParaRPr lang="zh-CN" altLang="en-US" sz="1600" dirty="0">
            <a:solidFill>
              <a:schemeClr val="dk1"/>
            </a:solidFill>
            <a:latin typeface="+mj-ea"/>
            <a:ea typeface="+mj-ea"/>
          </a:endParaRPr>
        </a:p>
        <a:p>
          <a:pPr marL="171450" lvl="1" indent="-171450">
            <a:lnSpc>
              <a:spcPct val="100000"/>
            </a:lnSpc>
            <a:spcBef>
              <a:spcPct val="0"/>
            </a:spcBef>
            <a:spcAft>
              <a:spcPct val="15000"/>
            </a:spcAft>
            <a:buChar char="•"/>
          </a:pPr>
          <a:r>
            <a:rPr lang="zh-CN" altLang="en-US" sz="1600" dirty="0">
              <a:solidFill>
                <a:schemeClr val="dk1"/>
              </a:solidFill>
              <a:latin typeface="+mj-ea"/>
              <a:ea typeface="+mj-ea"/>
            </a:rPr>
            <a:t>用例模型定义了系统的用例、行为者及行为者与用例之间的交互行为 </a:t>
          </a:r>
          <a:endParaRPr>
            <a:solidFill>
              <a:schemeClr val="dk1"/>
            </a:solidFill>
          </a:endParaRPr>
        </a:p>
      </dsp:txBody>
      <dsp:txXfrm rot="5400000">
        <a:off x="4590084" y="-3165770"/>
        <a:ext cx="850017" cy="7223060"/>
      </dsp:txXfrm>
    </dsp:sp>
    <dsp:sp modelId="{5519BF47-045C-497D-B67D-44D780AD017F}">
      <dsp:nvSpPr>
        <dsp:cNvPr id="3" name="圆角矩形 2"/>
        <dsp:cNvSpPr/>
      </dsp:nvSpPr>
      <dsp:spPr bwMode="white">
        <a:xfrm>
          <a:off x="0" y="0"/>
          <a:ext cx="1403563" cy="891519"/>
        </a:xfrm>
        <a:prstGeom prst="roundRect">
          <a:avLst/>
        </a:prstGeom>
      </dsp:spPr>
      <dsp:style>
        <a:lnRef idx="2">
          <a:schemeClr val="lt1"/>
        </a:lnRef>
        <a:fillRef idx="1">
          <a:schemeClr val="accent1"/>
        </a:fillRef>
        <a:effectRef idx="0">
          <a:scrgbClr r="0" g="0" b="0"/>
        </a:effectRef>
        <a:fontRef idx="minor">
          <a:schemeClr val="lt1"/>
        </a:fontRef>
      </dsp:style>
      <dsp:txBody>
        <a:bodyPr lIns="76200" tIns="38100" rIns="76200" bIns="381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dirty="0"/>
            <a:t>用例模型</a:t>
          </a:r>
        </a:p>
      </dsp:txBody>
      <dsp:txXfrm>
        <a:off x="0" y="0"/>
        <a:ext cx="1403563" cy="891519"/>
      </dsp:txXfrm>
    </dsp:sp>
    <dsp:sp modelId="{EDAD53D5-B37E-442E-B5AE-AB663CD01B3E}">
      <dsp:nvSpPr>
        <dsp:cNvPr id="6" name="同侧圆角矩形 5"/>
        <dsp:cNvSpPr/>
      </dsp:nvSpPr>
      <dsp:spPr bwMode="white">
        <a:xfrm rot="5400000">
          <a:off x="4562990" y="-2191214"/>
          <a:ext cx="936323" cy="7190943"/>
        </a:xfrm>
        <a:prstGeom prst="round2Same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rot="-5400000" lIns="60960" tIns="30480" rIns="60960" bIns="3048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80000"/>
            </a:lnSpc>
            <a:spcBef>
              <a:spcPct val="0"/>
            </a:spcBef>
            <a:spcAft>
              <a:spcPts val="0"/>
            </a:spcAft>
            <a:buChar char="•"/>
          </a:pPr>
          <a:r>
            <a:rPr lang="zh-CN" altLang="zh-CN" sz="1600" dirty="0">
              <a:solidFill>
                <a:schemeClr val="dk1"/>
              </a:solidFill>
              <a:latin typeface="+mj-ea"/>
              <a:ea typeface="+mj-ea"/>
            </a:rPr>
            <a:t>静态模型描述系统的元素及元素间的关系</a:t>
          </a:r>
          <a:r>
            <a:rPr lang="zh-CN" altLang="en-US" sz="1600" dirty="0">
              <a:solidFill>
                <a:schemeClr val="dk1"/>
              </a:solidFill>
              <a:latin typeface="+mj-ea"/>
              <a:ea typeface="+mj-ea"/>
            </a:rPr>
            <a:t>，</a:t>
          </a:r>
          <a:r>
            <a:rPr lang="zh-CN" altLang="zh-CN" sz="1600" dirty="0">
              <a:solidFill>
                <a:schemeClr val="dk1"/>
              </a:solidFill>
              <a:latin typeface="+mj-ea"/>
              <a:ea typeface="+mj-ea"/>
            </a:rPr>
            <a:t>主要描述类、接口、用例、协作、组件、结点等体现系统结构的事物 </a:t>
          </a:r>
          <a:endParaRPr lang="zh-CN" altLang="en-US" sz="1600" dirty="0">
            <a:solidFill>
              <a:schemeClr val="dk1"/>
            </a:solidFill>
            <a:latin typeface="+mj-ea"/>
            <a:ea typeface="+mj-ea"/>
          </a:endParaRPr>
        </a:p>
        <a:p>
          <a:pPr marL="171450" lvl="1" indent="-171450">
            <a:lnSpc>
              <a:spcPct val="80000"/>
            </a:lnSpc>
            <a:spcBef>
              <a:spcPct val="0"/>
            </a:spcBef>
            <a:spcAft>
              <a:spcPts val="0"/>
            </a:spcAft>
            <a:buChar char="•"/>
          </a:pPr>
          <a:r>
            <a:rPr lang="zh-CN" altLang="zh-CN" sz="1600" dirty="0">
              <a:solidFill>
                <a:schemeClr val="dk1"/>
              </a:solidFill>
              <a:latin typeface="+mj-ea"/>
              <a:ea typeface="+mj-ea"/>
            </a:rPr>
            <a:t>静态模型使用的图包括用例图、类图、包图、对象图、构件图、部署图 </a:t>
          </a:r>
          <a:endParaRPr lang="zh-CN" altLang="en-US" sz="1600" dirty="0">
            <a:solidFill>
              <a:schemeClr val="dk1"/>
            </a:solidFill>
            <a:latin typeface="+mj-ea"/>
            <a:ea typeface="+mj-ea"/>
          </a:endParaRPr>
        </a:p>
      </dsp:txBody>
      <dsp:txXfrm rot="5400000">
        <a:off x="4562990" y="-2191214"/>
        <a:ext cx="936323" cy="7190943"/>
      </dsp:txXfrm>
    </dsp:sp>
    <dsp:sp modelId="{D71316F5-C96B-4A67-91E5-64400786C557}">
      <dsp:nvSpPr>
        <dsp:cNvPr id="5" name="圆角矩形 4"/>
        <dsp:cNvSpPr/>
      </dsp:nvSpPr>
      <dsp:spPr bwMode="white">
        <a:xfrm>
          <a:off x="0" y="958497"/>
          <a:ext cx="1435680" cy="891519"/>
        </a:xfrm>
        <a:prstGeom prst="roundRect">
          <a:avLst/>
        </a:prstGeom>
      </dsp:spPr>
      <dsp:style>
        <a:lnRef idx="2">
          <a:schemeClr val="lt1"/>
        </a:lnRef>
        <a:fillRef idx="1">
          <a:schemeClr val="accent1"/>
        </a:fillRef>
        <a:effectRef idx="0">
          <a:scrgbClr r="0" g="0" b="0"/>
        </a:effectRef>
        <a:fontRef idx="minor">
          <a:schemeClr val="lt1"/>
        </a:fontRef>
      </dsp:style>
      <dsp:txBody>
        <a:bodyPr lIns="76200" tIns="38100" rIns="76200" bIns="381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dirty="0"/>
            <a:t>静态模型</a:t>
          </a:r>
        </a:p>
      </dsp:txBody>
      <dsp:txXfrm>
        <a:off x="0" y="958497"/>
        <a:ext cx="1435680" cy="891519"/>
      </dsp:txXfrm>
    </dsp:sp>
    <dsp:sp modelId="{28192C03-195B-4CA5-99E4-6357B78E7B9A}">
      <dsp:nvSpPr>
        <dsp:cNvPr id="8" name="同侧圆角矩形 7"/>
        <dsp:cNvSpPr/>
      </dsp:nvSpPr>
      <dsp:spPr bwMode="white">
        <a:xfrm rot="5400000">
          <a:off x="4595008" y="-1254426"/>
          <a:ext cx="828870" cy="7234360"/>
        </a:xfrm>
        <a:prstGeom prst="round2Same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rot="-5400000" lIns="60960" tIns="30480" rIns="60960" bIns="3048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zh-CN" altLang="en-US" sz="1600" dirty="0">
              <a:solidFill>
                <a:schemeClr val="dk1"/>
              </a:solidFill>
              <a:latin typeface="+mj-ea"/>
              <a:ea typeface="+mj-ea"/>
            </a:rPr>
            <a:t>动态模型描述系统随时间的推移发生的行为</a:t>
          </a:r>
          <a:endParaRPr lang="zh-CN" altLang="en-US" sz="1600" dirty="0">
            <a:solidFill>
              <a:schemeClr val="dk1"/>
            </a:solidFill>
            <a:latin typeface="+mj-ea"/>
            <a:ea typeface="+mj-ea"/>
          </a:endParaRPr>
        </a:p>
        <a:p>
          <a:pPr marL="171450" lvl="1" indent="-171450">
            <a:lnSpc>
              <a:spcPct val="100000"/>
            </a:lnSpc>
            <a:spcBef>
              <a:spcPct val="0"/>
            </a:spcBef>
            <a:spcAft>
              <a:spcPct val="15000"/>
            </a:spcAft>
            <a:buChar char="•"/>
          </a:pPr>
          <a:r>
            <a:rPr lang="zh-CN" altLang="en-US" sz="1600" dirty="0">
              <a:solidFill>
                <a:schemeClr val="dk1"/>
              </a:solidFill>
              <a:latin typeface="+mj-ea"/>
              <a:ea typeface="+mj-ea"/>
            </a:rPr>
            <a:t>动态模型可以使用的</a:t>
          </a:r>
          <a:r>
            <a:rPr lang="en-US" altLang="en-US" sz="1600" dirty="0">
              <a:solidFill>
                <a:schemeClr val="dk1"/>
              </a:solidFill>
              <a:latin typeface="+mj-ea"/>
              <a:ea typeface="+mj-ea"/>
            </a:rPr>
            <a:t>UML</a:t>
          </a:r>
          <a:r>
            <a:rPr lang="zh-CN" altLang="en-US" sz="1600" dirty="0">
              <a:solidFill>
                <a:schemeClr val="dk1"/>
              </a:solidFill>
              <a:latin typeface="+mj-ea"/>
              <a:ea typeface="+mj-ea"/>
            </a:rPr>
            <a:t>图有状态图、顺序图、活动图、协作图 </a:t>
          </a:r>
          <a:endParaRPr>
            <a:solidFill>
              <a:schemeClr val="dk1"/>
            </a:solidFill>
          </a:endParaRPr>
        </a:p>
      </dsp:txBody>
      <dsp:txXfrm rot="5400000">
        <a:off x="4595008" y="-1254426"/>
        <a:ext cx="828870" cy="7234360"/>
      </dsp:txXfrm>
    </dsp:sp>
    <dsp:sp modelId="{492FD039-AC58-433B-B0B9-F865639056A6}">
      <dsp:nvSpPr>
        <dsp:cNvPr id="7" name="圆角矩形 6"/>
        <dsp:cNvSpPr/>
      </dsp:nvSpPr>
      <dsp:spPr bwMode="white">
        <a:xfrm>
          <a:off x="0" y="1916995"/>
          <a:ext cx="1392263" cy="891519"/>
        </a:xfrm>
        <a:prstGeom prst="roundRect">
          <a:avLst/>
        </a:prstGeom>
      </dsp:spPr>
      <dsp:style>
        <a:lnRef idx="2">
          <a:schemeClr val="lt1"/>
        </a:lnRef>
        <a:fillRef idx="1">
          <a:schemeClr val="accent1"/>
        </a:fillRef>
        <a:effectRef idx="0">
          <a:scrgbClr r="0" g="0" b="0"/>
        </a:effectRef>
        <a:fontRef idx="minor">
          <a:schemeClr val="lt1"/>
        </a:fontRef>
      </dsp:style>
      <dsp:txBody>
        <a:bodyPr lIns="76200" tIns="38100" rIns="76200" bIns="381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dirty="0"/>
            <a:t>动态模型</a:t>
          </a:r>
        </a:p>
      </dsp:txBody>
      <dsp:txXfrm>
        <a:off x="0" y="1916995"/>
        <a:ext cx="1392263" cy="891519"/>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type="chevron" r:blip="" rot="90">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type="round2SameRect" r:blip="" rot="90">
                <dgm:adjLst/>
              </dgm:shape>
            </dgm:if>
            <dgm:else name="Name6">
              <dgm:alg type="tx">
                <dgm:param type="stBulletLvl" val="1"/>
                <dgm:param type="txAnchorVertCh" val="mid"/>
              </dgm:alg>
              <dgm:shape xmlns:r="http://schemas.openxmlformats.org/officeDocument/2006/relationships" type="round2SameRect" r:blip="" rot="-90">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srcNode" val="background"/>
                    <dgm:param type="dstNode" val="background2"/>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srcNode" val="background2"/>
                            <dgm:param type="dstNode" val="background3"/>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srcNode" val="background3"/>
                                        <dgm:param type="dstNode" val="background4"/>
                                        <dgm:param type="dim" val="1D"/>
                                        <dgm:param type="endSty" val="noArr"/>
                                        <dgm:param type="connRout" val="bend"/>
                                        <dgm:param type="begPts" val="bCtr"/>
                                        <dgm:param type="endPts" val="tCtr"/>
                                        <dgm:param type="bendPt" val="end"/>
                                      </dgm:alg>
                                    </dgm:if>
                                    <dgm:else name="Name26">
                                      <dgm:alg type="conn">
                                        <dgm:param type="srcNode" val="background4"/>
                                        <dgm:param type="dstNode" val="background4"/>
                                        <dgm:param type="dim" val="1D"/>
                                        <dgm:param type="endSty" val="noArr"/>
                                        <dgm:param type="connRout" val="bend"/>
                                        <dgm:param type="begPts" val="bCtr"/>
                                        <dgm:param type="endPts" val="tCtr"/>
                                        <dgm:param type="bendPt" val="end"/>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srcNode" val="background"/>
                    <dgm:param type="dstNode" val="background2"/>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srcNode" val="background2"/>
                            <dgm:param type="dstNode" val="background3"/>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srcNode" val="background3"/>
                                        <dgm:param type="dstNode" val="background4"/>
                                        <dgm:param type="dim" val="1D"/>
                                        <dgm:param type="endSty" val="noArr"/>
                                        <dgm:param type="connRout" val="bend"/>
                                        <dgm:param type="begPts" val="bCtr"/>
                                        <dgm:param type="endPts" val="tCtr"/>
                                        <dgm:param type="bendPt" val="end"/>
                                      </dgm:alg>
                                    </dgm:if>
                                    <dgm:else name="Name26">
                                      <dgm:alg type="conn">
                                        <dgm:param type="srcNode" val="background4"/>
                                        <dgm:param type="dstNode" val="background4"/>
                                        <dgm:param type="dim" val="1D"/>
                                        <dgm:param type="endSty" val="noArr"/>
                                        <dgm:param type="connRout" val="bend"/>
                                        <dgm:param type="begPts" val="bCtr"/>
                                        <dgm:param type="endPts" val="tCtr"/>
                                        <dgm:param type="bendPt" val="end"/>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3">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3d1#4">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9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7.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7.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7.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27.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2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B55A7A-C502-46B6-855A-4BBB11597EE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8659B1-BC94-4B1F-9D70-551345BF8F3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18A599-32F8-4B61-A0CD-2608407245F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849A97-A90C-496F-AD26-75D9C1389A1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514350" rtl="0" eaLnBrk="1" latinLnBrk="0" hangingPunct="1">
      <a:defRPr sz="675" kern="1200">
        <a:solidFill>
          <a:schemeClr val="tx1"/>
        </a:solidFill>
        <a:latin typeface="+mn-lt"/>
        <a:ea typeface="+mn-ea"/>
        <a:cs typeface="+mn-cs"/>
      </a:defRPr>
    </a:lvl1pPr>
    <a:lvl2pPr marL="257175" algn="l" defTabSz="514350" rtl="0" eaLnBrk="1" latinLnBrk="0" hangingPunct="1">
      <a:defRPr sz="675" kern="1200">
        <a:solidFill>
          <a:schemeClr val="tx1"/>
        </a:solidFill>
        <a:latin typeface="+mn-lt"/>
        <a:ea typeface="+mn-ea"/>
        <a:cs typeface="+mn-cs"/>
      </a:defRPr>
    </a:lvl2pPr>
    <a:lvl3pPr marL="514350" algn="l" defTabSz="514350" rtl="0" eaLnBrk="1" latinLnBrk="0" hangingPunct="1">
      <a:defRPr sz="675" kern="1200">
        <a:solidFill>
          <a:schemeClr val="tx1"/>
        </a:solidFill>
        <a:latin typeface="+mn-lt"/>
        <a:ea typeface="+mn-ea"/>
        <a:cs typeface="+mn-cs"/>
      </a:defRPr>
    </a:lvl3pPr>
    <a:lvl4pPr marL="771525" algn="l" defTabSz="514350" rtl="0" eaLnBrk="1" latinLnBrk="0" hangingPunct="1">
      <a:defRPr sz="675" kern="1200">
        <a:solidFill>
          <a:schemeClr val="tx1"/>
        </a:solidFill>
        <a:latin typeface="+mn-lt"/>
        <a:ea typeface="+mn-ea"/>
        <a:cs typeface="+mn-cs"/>
      </a:defRPr>
    </a:lvl4pPr>
    <a:lvl5pPr marL="1028700" algn="l" defTabSz="514350" rtl="0" eaLnBrk="1" latinLnBrk="0" hangingPunct="1">
      <a:defRPr sz="675" kern="1200">
        <a:solidFill>
          <a:schemeClr val="tx1"/>
        </a:solidFill>
        <a:latin typeface="+mn-lt"/>
        <a:ea typeface="+mn-ea"/>
        <a:cs typeface="+mn-cs"/>
      </a:defRPr>
    </a:lvl5pPr>
    <a:lvl6pPr marL="1285875" algn="l" defTabSz="514350" rtl="0" eaLnBrk="1" latinLnBrk="0" hangingPunct="1">
      <a:defRPr sz="675" kern="1200">
        <a:solidFill>
          <a:schemeClr val="tx1"/>
        </a:solidFill>
        <a:latin typeface="+mn-lt"/>
        <a:ea typeface="+mn-ea"/>
        <a:cs typeface="+mn-cs"/>
      </a:defRPr>
    </a:lvl6pPr>
    <a:lvl7pPr marL="1543050" algn="l" defTabSz="514350" rtl="0" eaLnBrk="1" latinLnBrk="0" hangingPunct="1">
      <a:defRPr sz="675" kern="1200">
        <a:solidFill>
          <a:schemeClr val="tx1"/>
        </a:solidFill>
        <a:latin typeface="+mn-lt"/>
        <a:ea typeface="+mn-ea"/>
        <a:cs typeface="+mn-cs"/>
      </a:defRPr>
    </a:lvl7pPr>
    <a:lvl8pPr marL="1800225" algn="l" defTabSz="514350" rtl="0" eaLnBrk="1" latinLnBrk="0" hangingPunct="1">
      <a:defRPr sz="675" kern="1200">
        <a:solidFill>
          <a:schemeClr val="tx1"/>
        </a:solidFill>
        <a:latin typeface="+mn-lt"/>
        <a:ea typeface="+mn-ea"/>
        <a:cs typeface="+mn-cs"/>
      </a:defRPr>
    </a:lvl8pPr>
    <a:lvl9pPr marL="2057400" algn="l" defTabSz="514350" rtl="0" eaLnBrk="1" latinLnBrk="0" hangingPunct="1">
      <a:defRPr sz="67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例如小朋友们刚开始踢足球的时候，大家都一窝蜂地去抢球，球在 哪里，一堆人就跟到哪里，这样的模式可以叫一窝蜂模式（</a:t>
            </a:r>
            <a:r>
              <a:rPr lang="en-US" altLang="zh-CN" b="1" dirty="0"/>
              <a:t>Chaos Team</a:t>
            </a:r>
            <a:r>
              <a:rPr lang="zh-CN" altLang="en-US" dirty="0"/>
              <a:t>）</a:t>
            </a:r>
            <a:endParaRPr lang="en-US" altLang="zh-CN" dirty="0"/>
          </a:p>
          <a:p>
            <a:r>
              <a:rPr lang="zh-CN" altLang="en-US" dirty="0"/>
              <a:t>怎么才能变成成熟的团队？成熟的团队不是一天就形成的</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514350" rtl="0" eaLnBrk="1" fontAlgn="auto" latinLnBrk="0" hangingPunct="1">
              <a:lnSpc>
                <a:spcPct val="100000"/>
              </a:lnSpc>
              <a:spcBef>
                <a:spcPts val="0"/>
              </a:spcBef>
              <a:spcAft>
                <a:spcPts val="0"/>
              </a:spcAft>
              <a:buClrTx/>
              <a:buSzTx/>
              <a:buFontTx/>
              <a:buNone/>
              <a:defRPr/>
            </a:pPr>
            <a:r>
              <a:rPr lang="zh-CN" altLang="zh-CN" sz="1200" dirty="0">
                <a:solidFill>
                  <a:schemeClr val="tx1"/>
                </a:solidFill>
                <a:latin typeface="+mn-ea"/>
                <a:ea typeface="+mn-ea"/>
              </a:rPr>
              <a:t>技术可行性使用现有的技术能实现这个系统吗</a:t>
            </a:r>
            <a:r>
              <a:rPr lang="en-US" altLang="zh-CN" sz="1200" dirty="0">
                <a:solidFill>
                  <a:schemeClr val="tx1"/>
                </a:solidFill>
                <a:latin typeface="+mn-ea"/>
                <a:ea typeface="+mn-ea"/>
              </a:rPr>
              <a:t>?</a:t>
            </a:r>
            <a:endParaRPr lang="zh-CN" altLang="en-US" sz="1200" dirty="0">
              <a:solidFill>
                <a:schemeClr val="tx1"/>
              </a:solidFill>
              <a:latin typeface="+mn-ea"/>
              <a:ea typeface="+mn-ea"/>
            </a:endParaRPr>
          </a:p>
          <a:p>
            <a:pPr marL="0" marR="0" lvl="0" indent="0" algn="l" defTabSz="514350" rtl="0" eaLnBrk="1" fontAlgn="auto" latinLnBrk="0" hangingPunct="1">
              <a:lnSpc>
                <a:spcPct val="100000"/>
              </a:lnSpc>
              <a:spcBef>
                <a:spcPts val="0"/>
              </a:spcBef>
              <a:spcAft>
                <a:spcPts val="0"/>
              </a:spcAft>
              <a:buClrTx/>
              <a:buSzTx/>
              <a:buFontTx/>
              <a:buNone/>
              <a:defRPr/>
            </a:pPr>
            <a:r>
              <a:rPr lang="zh-CN" altLang="zh-CN" sz="1200" dirty="0">
                <a:solidFill>
                  <a:schemeClr val="tx1"/>
                </a:solidFill>
                <a:latin typeface="+mn-ea"/>
                <a:ea typeface="+mn-ea"/>
              </a:rPr>
              <a:t>经济可行性这个系统的经济效益能超过它的开发成本吗</a:t>
            </a:r>
            <a:r>
              <a:rPr lang="en-US" altLang="zh-CN" sz="1200" dirty="0">
                <a:solidFill>
                  <a:schemeClr val="tx1"/>
                </a:solidFill>
                <a:latin typeface="+mn-ea"/>
                <a:ea typeface="+mn-ea"/>
              </a:rPr>
              <a:t>?</a:t>
            </a:r>
            <a:endParaRPr lang="zh-CN" altLang="en-US" sz="1200" dirty="0">
              <a:solidFill>
                <a:schemeClr val="tx1"/>
              </a:solidFill>
              <a:latin typeface="+mn-ea"/>
              <a:ea typeface="+mn-ea"/>
            </a:endParaRPr>
          </a:p>
          <a:p>
            <a:pPr marL="0" marR="0" lvl="0" indent="0" algn="l" defTabSz="514350" rtl="0" eaLnBrk="1" fontAlgn="auto" latinLnBrk="0" hangingPunct="1">
              <a:lnSpc>
                <a:spcPct val="100000"/>
              </a:lnSpc>
              <a:spcBef>
                <a:spcPts val="0"/>
              </a:spcBef>
              <a:spcAft>
                <a:spcPts val="0"/>
              </a:spcAft>
              <a:buClrTx/>
              <a:buSzTx/>
              <a:buFontTx/>
              <a:buNone/>
              <a:defRPr/>
            </a:pPr>
            <a:r>
              <a:rPr lang="zh-CN" altLang="zh-CN" sz="1200" dirty="0">
                <a:solidFill>
                  <a:schemeClr val="tx1"/>
                </a:solidFill>
                <a:latin typeface="+mn-ea"/>
                <a:ea typeface="+mn-ea"/>
              </a:rPr>
              <a:t>操作可行性系统的操作方式在这个用户组织内行得通吗</a:t>
            </a:r>
            <a:r>
              <a:rPr lang="en-US" altLang="zh-CN" sz="1200" dirty="0">
                <a:solidFill>
                  <a:schemeClr val="tx1"/>
                </a:solidFill>
                <a:latin typeface="+mn-ea"/>
                <a:ea typeface="+mn-ea"/>
              </a:rPr>
              <a:t>?</a:t>
            </a:r>
            <a:endParaRPr lang="zh-CN" altLang="en-US" sz="1200" dirty="0">
              <a:solidFill>
                <a:schemeClr val="tx1"/>
              </a:solidFill>
              <a:latin typeface="+mn-ea"/>
              <a:ea typeface="+mn-ea"/>
            </a:endParaRPr>
          </a:p>
          <a:p>
            <a:endParaRPr lang="en-US" altLang="zh-CN" sz="1200" dirty="0">
              <a:latin typeface="+mn-ea"/>
            </a:endParaRPr>
          </a:p>
          <a:p>
            <a:endParaRPr lang="en-US" altLang="zh-CN" sz="1200" dirty="0">
              <a:latin typeface="+mn-ea"/>
            </a:endParaRPr>
          </a:p>
          <a:p>
            <a:r>
              <a:rPr lang="zh-CN" altLang="en-US" sz="1200" dirty="0">
                <a:latin typeface="+mn-ea"/>
              </a:rPr>
              <a:t>这一阶段决策的失误将会给开发工作带来灾难性的影响。</a:t>
            </a:r>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514350" rtl="0" eaLnBrk="1" fontAlgn="auto" latinLnBrk="0" hangingPunct="1">
              <a:lnSpc>
                <a:spcPct val="90000"/>
              </a:lnSpc>
              <a:spcBef>
                <a:spcPts val="0"/>
              </a:spcBef>
              <a:spcAft>
                <a:spcPts val="0"/>
              </a:spcAft>
              <a:buClrTx/>
              <a:buSzTx/>
              <a:buFontTx/>
              <a:buNone/>
              <a:defRPr/>
            </a:pPr>
            <a:r>
              <a:rPr lang="zh-CN" altLang="en-US" sz="2400" b="1" dirty="0">
                <a:latin typeface="+mn-ea"/>
              </a:rPr>
              <a:t>技术可行性研究：</a:t>
            </a:r>
            <a:r>
              <a:rPr lang="zh-CN" altLang="en-US" sz="2400" dirty="0">
                <a:latin typeface="+mn-ea"/>
              </a:rPr>
              <a:t>开发方案的选择性，</a:t>
            </a:r>
            <a:r>
              <a:rPr lang="zh-CN" altLang="zh-CN" sz="2400" dirty="0">
                <a:latin typeface="+mn-ea"/>
              </a:rPr>
              <a:t>导出系统的逻辑模型</a:t>
            </a:r>
            <a:r>
              <a:rPr lang="zh-CN" altLang="en-US" sz="2400" dirty="0">
                <a:latin typeface="+mn-ea"/>
              </a:rPr>
              <a:t>；</a:t>
            </a:r>
            <a:r>
              <a:rPr lang="zh-CN" altLang="zh-CN" sz="2400" dirty="0">
                <a:latin typeface="+mn-ea"/>
              </a:rPr>
              <a:t>选择问题的若干种主要解法，研究每一种解法的可行性，如果问题没有可行的解，建议停止系统开发；如果问题有可行的解，应该推荐一个较好的解决方案。</a:t>
            </a:r>
            <a:endParaRPr lang="en-US" altLang="zh-CN" sz="2400" dirty="0">
              <a:latin typeface="+mn-ea"/>
            </a:endParaRPr>
          </a:p>
          <a:p>
            <a:pPr>
              <a:lnSpc>
                <a:spcPct val="150000"/>
              </a:lnSpc>
            </a:pPr>
            <a:r>
              <a:rPr lang="zh-CN" altLang="zh-CN" sz="2400" dirty="0"/>
              <a:t>概括地说，就是要回答使用现有的技术资源是否能实现待开发的软件系统的问题。</a:t>
            </a:r>
            <a:endParaRPr lang="en-US" altLang="zh-CN" sz="2400" dirty="0"/>
          </a:p>
          <a:p>
            <a:pPr>
              <a:lnSpc>
                <a:spcPct val="150000"/>
              </a:lnSpc>
            </a:pPr>
            <a:r>
              <a:rPr lang="zh-CN" altLang="zh-CN" sz="2400" dirty="0"/>
              <a:t>其研究内容一般包括风险分析、资源分析和技术分析。 </a:t>
            </a:r>
            <a:endParaRPr lang="zh-CN" altLang="zh-CN" sz="2400" dirty="0"/>
          </a:p>
          <a:p>
            <a:pPr marL="0" marR="0" lvl="0" indent="0" algn="l" defTabSz="514350" rtl="0" eaLnBrk="1" fontAlgn="auto" latinLnBrk="0" hangingPunct="1">
              <a:lnSpc>
                <a:spcPct val="90000"/>
              </a:lnSpc>
              <a:spcBef>
                <a:spcPts val="0"/>
              </a:spcBef>
              <a:spcAft>
                <a:spcPts val="0"/>
              </a:spcAft>
              <a:buClrTx/>
              <a:buSzTx/>
              <a:buFontTx/>
              <a:buNone/>
              <a:defRPr/>
            </a:pPr>
            <a:endParaRPr lang="en-US" altLang="zh-CN" sz="2400" dirty="0">
              <a:latin typeface="+mn-ea"/>
            </a:endParaRPr>
          </a:p>
          <a:p>
            <a:pPr marL="0" marR="0" lvl="0" indent="0" algn="l" defTabSz="514350" rtl="0" eaLnBrk="1" fontAlgn="auto" latinLnBrk="0" hangingPunct="1">
              <a:lnSpc>
                <a:spcPct val="90000"/>
              </a:lnSpc>
              <a:spcBef>
                <a:spcPts val="0"/>
              </a:spcBef>
              <a:spcAft>
                <a:spcPts val="0"/>
              </a:spcAft>
              <a:buClrTx/>
              <a:buSzTx/>
              <a:buFontTx/>
              <a:buNone/>
              <a:defRPr/>
            </a:pPr>
            <a:endParaRPr lang="zh-CN" altLang="zh-CN" sz="2400" dirty="0">
              <a:latin typeface="+mn-ea"/>
            </a:endParaRPr>
          </a:p>
          <a:p>
            <a:pPr>
              <a:lnSpc>
                <a:spcPct val="150000"/>
              </a:lnSpc>
            </a:pPr>
            <a:r>
              <a:rPr lang="zh-CN" altLang="zh-CN" sz="800" b="1" dirty="0">
                <a:solidFill>
                  <a:srgbClr val="0000FF"/>
                </a:solidFill>
              </a:rPr>
              <a:t>经济可行性</a:t>
            </a:r>
            <a:r>
              <a:rPr lang="zh-CN" altLang="zh-CN" sz="800" b="1" dirty="0"/>
              <a:t>研究</a:t>
            </a:r>
            <a:r>
              <a:rPr lang="zh-CN" altLang="en-US" sz="800" b="1" dirty="0"/>
              <a:t>：</a:t>
            </a:r>
            <a:r>
              <a:rPr lang="zh-CN" altLang="zh-CN" sz="800" dirty="0"/>
              <a:t>要对项目开发总成本与开发系统将带来的经济效益之间的差值进行度量，从经济的角度去判断是否值得为软件开发项目进行投资。</a:t>
            </a:r>
            <a:endParaRPr lang="en-US" altLang="zh-CN" sz="800" dirty="0"/>
          </a:p>
          <a:p>
            <a:pPr>
              <a:lnSpc>
                <a:spcPct val="150000"/>
              </a:lnSpc>
            </a:pPr>
            <a:r>
              <a:rPr lang="zh-CN" altLang="zh-CN" sz="800" dirty="0"/>
              <a:t>经济可行性研究也叫做成本效益分析</a:t>
            </a:r>
            <a:r>
              <a:rPr lang="zh-CN" altLang="en-US" sz="800" dirty="0"/>
              <a:t>。</a:t>
            </a:r>
            <a:endParaRPr lang="en-US" altLang="zh-CN" sz="800" dirty="0"/>
          </a:p>
          <a:p>
            <a:pPr>
              <a:lnSpc>
                <a:spcPct val="150000"/>
              </a:lnSpc>
            </a:pPr>
            <a:r>
              <a:rPr lang="zh-CN" altLang="zh-CN" sz="800" dirty="0"/>
              <a:t>简单地说，只有开发系统的总成本小于将来系统投入使用后会带来的总收益的软件开发项目才值得进行下去。</a:t>
            </a:r>
            <a:endParaRPr lang="en-US" altLang="zh-CN" sz="800" dirty="0"/>
          </a:p>
          <a:p>
            <a:pPr>
              <a:lnSpc>
                <a:spcPct val="150000"/>
              </a:lnSpc>
            </a:pPr>
            <a:endParaRPr lang="zh-CN" altLang="zh-CN" sz="800" dirty="0"/>
          </a:p>
          <a:p>
            <a:pPr>
              <a:lnSpc>
                <a:spcPct val="150000"/>
              </a:lnSpc>
            </a:pPr>
            <a:r>
              <a:rPr lang="zh-CN" altLang="zh-CN" sz="800" b="1" dirty="0">
                <a:solidFill>
                  <a:srgbClr val="0000FF"/>
                </a:solidFill>
              </a:rPr>
              <a:t>社会可行性研究</a:t>
            </a:r>
            <a:r>
              <a:rPr lang="zh-CN" altLang="en-US" sz="800" b="1" dirty="0">
                <a:solidFill>
                  <a:srgbClr val="0000FF"/>
                </a:solidFill>
              </a:rPr>
              <a:t>：</a:t>
            </a:r>
            <a:r>
              <a:rPr lang="zh-CN" altLang="zh-CN" sz="800" dirty="0"/>
              <a:t>从政策、法律和制度等社会因素方面考虑项目开发的合理性和意义。</a:t>
            </a:r>
            <a:endParaRPr lang="en-US" altLang="zh-CN" sz="800" dirty="0"/>
          </a:p>
          <a:p>
            <a:endParaRPr lang="zh-CN" altLang="en-US" b="0"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indent="-342900">
              <a:spcBef>
                <a:spcPts val="800"/>
              </a:spcBef>
              <a:buClr>
                <a:srgbClr val="00B0F0"/>
              </a:buClr>
              <a:buFont typeface="+mj-lt"/>
              <a:buAutoNum type="arabicPeriod"/>
              <a:defRPr/>
            </a:pPr>
            <a:r>
              <a:rPr kumimoji="1" lang="zh-CN" altLang="en-US" sz="800" dirty="0">
                <a:solidFill>
                  <a:schemeClr val="accent2">
                    <a:lumMod val="75000"/>
                  </a:schemeClr>
                </a:solidFill>
                <a:latin typeface="+mj-ea"/>
                <a:ea typeface="+mj-ea"/>
              </a:rPr>
              <a:t>重新检查系统定义报告中相关内容，明确对目标系统限制与约束；</a:t>
            </a:r>
            <a:endParaRPr kumimoji="1" lang="en-US" altLang="zh-CN" sz="800" dirty="0">
              <a:solidFill>
                <a:schemeClr val="accent2">
                  <a:lumMod val="75000"/>
                </a:schemeClr>
              </a:solidFill>
              <a:latin typeface="+mj-ea"/>
              <a:ea typeface="+mj-ea"/>
            </a:endParaRPr>
          </a:p>
          <a:p>
            <a:pPr marL="342900" indent="-342900">
              <a:spcBef>
                <a:spcPts val="800"/>
              </a:spcBef>
              <a:buClr>
                <a:srgbClr val="00B0F0"/>
              </a:buClr>
              <a:buFont typeface="+mj-lt"/>
              <a:buAutoNum type="arabicPeriod"/>
              <a:defRPr/>
            </a:pPr>
            <a:r>
              <a:rPr kumimoji="1" lang="zh-CN" altLang="en-US" sz="800" dirty="0">
                <a:solidFill>
                  <a:schemeClr val="accent2">
                    <a:lumMod val="75000"/>
                  </a:schemeClr>
                </a:solidFill>
                <a:latin typeface="+mj-ea"/>
                <a:ea typeface="+mj-ea"/>
              </a:rPr>
              <a:t>研究目前正在使用的系统，找出其基本功能和所需要的基本信息，绘制系统流程图；</a:t>
            </a:r>
            <a:endParaRPr kumimoji="1" lang="en-US" altLang="zh-CN" sz="800" dirty="0">
              <a:solidFill>
                <a:schemeClr val="accent2">
                  <a:lumMod val="75000"/>
                </a:schemeClr>
              </a:solidFill>
              <a:latin typeface="+mj-ea"/>
              <a:ea typeface="+mj-ea"/>
            </a:endParaRPr>
          </a:p>
          <a:p>
            <a:pPr marL="342900" indent="-342900">
              <a:spcBef>
                <a:spcPts val="800"/>
              </a:spcBef>
              <a:buClr>
                <a:srgbClr val="00B0F0"/>
              </a:buClr>
              <a:buFont typeface="+mj-lt"/>
              <a:buAutoNum type="arabicPeriod"/>
              <a:defRPr/>
            </a:pPr>
            <a:r>
              <a:rPr kumimoji="1" lang="zh-CN" altLang="en-US" sz="800" dirty="0">
                <a:solidFill>
                  <a:schemeClr val="accent2">
                    <a:lumMod val="75000"/>
                  </a:schemeClr>
                </a:solidFill>
                <a:latin typeface="+mj-ea"/>
                <a:ea typeface="+mj-ea"/>
              </a:rPr>
              <a:t>设想新系统高层逻辑模型；</a:t>
            </a:r>
            <a:endParaRPr kumimoji="1" lang="en-US" altLang="zh-CN" sz="800" dirty="0">
              <a:solidFill>
                <a:schemeClr val="accent2">
                  <a:lumMod val="75000"/>
                </a:schemeClr>
              </a:solidFill>
              <a:latin typeface="+mj-ea"/>
              <a:ea typeface="+mj-ea"/>
            </a:endParaRPr>
          </a:p>
          <a:p>
            <a:pPr marL="342900" indent="-342900">
              <a:spcBef>
                <a:spcPts val="800"/>
              </a:spcBef>
              <a:buClr>
                <a:srgbClr val="00B0F0"/>
              </a:buClr>
              <a:buFont typeface="+mj-lt"/>
              <a:buAutoNum type="arabicPeriod"/>
              <a:defRPr/>
            </a:pPr>
            <a:r>
              <a:rPr kumimoji="1" lang="zh-CN" altLang="en-US" sz="800" dirty="0">
                <a:solidFill>
                  <a:schemeClr val="accent2">
                    <a:lumMod val="75000"/>
                  </a:schemeClr>
                </a:solidFill>
                <a:latin typeface="+mj-ea"/>
                <a:ea typeface="+mj-ea"/>
              </a:rPr>
              <a:t>重新定义问题；</a:t>
            </a:r>
            <a:endParaRPr kumimoji="1" lang="zh-CN" altLang="en-US" sz="800" dirty="0">
              <a:solidFill>
                <a:schemeClr val="accent2">
                  <a:lumMod val="75000"/>
                </a:schemeClr>
              </a:solidFill>
              <a:latin typeface="+mj-ea"/>
              <a:ea typeface="+mj-ea"/>
            </a:endParaRPr>
          </a:p>
          <a:p>
            <a:pPr marL="342900" indent="-342900">
              <a:spcBef>
                <a:spcPts val="800"/>
              </a:spcBef>
              <a:buClr>
                <a:srgbClr val="00B0F0"/>
              </a:buClr>
              <a:buFont typeface="+mj-lt"/>
              <a:buAutoNum type="arabicPeriod"/>
              <a:defRPr/>
            </a:pPr>
            <a:r>
              <a:rPr kumimoji="1" lang="zh-CN" altLang="en-US" sz="800" dirty="0">
                <a:solidFill>
                  <a:schemeClr val="accent2">
                    <a:lumMod val="75000"/>
                  </a:schemeClr>
                </a:solidFill>
                <a:latin typeface="+mj-ea"/>
                <a:ea typeface="+mj-ea"/>
              </a:rPr>
              <a:t>导出各种实现方案并对方案进行评价；</a:t>
            </a:r>
            <a:endParaRPr kumimoji="1" lang="en-US" altLang="zh-CN" sz="800" dirty="0">
              <a:solidFill>
                <a:schemeClr val="accent2">
                  <a:lumMod val="75000"/>
                </a:schemeClr>
              </a:solidFill>
              <a:latin typeface="+mj-ea"/>
              <a:ea typeface="+mj-ea"/>
            </a:endParaRPr>
          </a:p>
          <a:p>
            <a:pPr marL="342900" indent="-342900">
              <a:spcBef>
                <a:spcPts val="800"/>
              </a:spcBef>
              <a:buClr>
                <a:srgbClr val="00B0F0"/>
              </a:buClr>
              <a:buFont typeface="+mj-lt"/>
              <a:buAutoNum type="arabicPeriod"/>
              <a:defRPr/>
            </a:pPr>
            <a:r>
              <a:rPr kumimoji="1" lang="zh-CN" altLang="en-US" sz="800" dirty="0">
                <a:solidFill>
                  <a:schemeClr val="accent2">
                    <a:lumMod val="75000"/>
                  </a:schemeClr>
                </a:solidFill>
                <a:latin typeface="+mj-ea"/>
                <a:ea typeface="+mj-ea"/>
              </a:rPr>
              <a:t>推荐可行性方案；</a:t>
            </a:r>
            <a:endParaRPr kumimoji="1" lang="zh-CN" altLang="en-US" sz="800" dirty="0">
              <a:solidFill>
                <a:schemeClr val="accent2">
                  <a:lumMod val="75000"/>
                </a:schemeClr>
              </a:solidFill>
              <a:latin typeface="+mj-ea"/>
              <a:ea typeface="+mj-ea"/>
            </a:endParaRPr>
          </a:p>
          <a:p>
            <a:pPr marL="342900" indent="-342900">
              <a:spcBef>
                <a:spcPts val="800"/>
              </a:spcBef>
              <a:buClr>
                <a:srgbClr val="00B0F0"/>
              </a:buClr>
              <a:buFont typeface="+mj-lt"/>
              <a:buAutoNum type="arabicPeriod"/>
              <a:defRPr/>
            </a:pPr>
            <a:r>
              <a:rPr kumimoji="1" lang="zh-CN" altLang="en-US" sz="800" dirty="0">
                <a:solidFill>
                  <a:schemeClr val="accent2">
                    <a:lumMod val="75000"/>
                  </a:schemeClr>
                </a:solidFill>
                <a:latin typeface="+mj-ea"/>
                <a:ea typeface="+mj-ea"/>
              </a:rPr>
              <a:t>估算规模、成本预算、做进度开发计划；</a:t>
            </a:r>
            <a:endParaRPr kumimoji="1" lang="en-US" altLang="zh-CN" sz="800" dirty="0">
              <a:solidFill>
                <a:schemeClr val="accent2">
                  <a:lumMod val="75000"/>
                </a:schemeClr>
              </a:solidFill>
              <a:latin typeface="+mj-ea"/>
              <a:ea typeface="+mj-ea"/>
            </a:endParaRPr>
          </a:p>
          <a:p>
            <a:pPr marL="342900" indent="-342900">
              <a:spcBef>
                <a:spcPts val="800"/>
              </a:spcBef>
              <a:buClr>
                <a:srgbClr val="00B0F0"/>
              </a:buClr>
              <a:buFont typeface="+mj-lt"/>
              <a:buAutoNum type="arabicPeriod"/>
              <a:defRPr/>
            </a:pPr>
            <a:r>
              <a:rPr kumimoji="1" lang="zh-CN" altLang="en-US" sz="800" dirty="0">
                <a:solidFill>
                  <a:schemeClr val="accent2">
                    <a:lumMod val="75000"/>
                  </a:schemeClr>
                </a:solidFill>
                <a:latin typeface="+mj-ea"/>
                <a:ea typeface="+mj-ea"/>
              </a:rPr>
              <a:t>编写</a:t>
            </a:r>
            <a:r>
              <a:rPr kumimoji="1" lang="zh-CN" altLang="en-US" sz="800" dirty="0">
                <a:solidFill>
                  <a:srgbClr val="FF0000"/>
                </a:solidFill>
                <a:latin typeface="+mj-ea"/>
                <a:ea typeface="+mj-ea"/>
              </a:rPr>
              <a:t>可行性研究报告</a:t>
            </a:r>
            <a:r>
              <a:rPr kumimoji="1" lang="zh-CN" altLang="en-US" sz="800" dirty="0">
                <a:solidFill>
                  <a:schemeClr val="accent2">
                    <a:lumMod val="75000"/>
                  </a:schemeClr>
                </a:solidFill>
                <a:latin typeface="+mj-ea"/>
                <a:ea typeface="+mj-ea"/>
              </a:rPr>
              <a:t>和</a:t>
            </a:r>
            <a:r>
              <a:rPr kumimoji="1" lang="zh-CN" altLang="en-US" sz="800" dirty="0">
                <a:solidFill>
                  <a:srgbClr val="FF0000"/>
                </a:solidFill>
                <a:latin typeface="+mj-ea"/>
                <a:ea typeface="+mj-ea"/>
              </a:rPr>
              <a:t>项目计划书</a:t>
            </a:r>
            <a:r>
              <a:rPr kumimoji="1" lang="zh-CN" altLang="en-US" sz="800" dirty="0">
                <a:solidFill>
                  <a:schemeClr val="accent2">
                    <a:lumMod val="75000"/>
                  </a:schemeClr>
                </a:solidFill>
                <a:latin typeface="+mj-ea"/>
                <a:ea typeface="+mj-ea"/>
              </a:rPr>
              <a:t>。</a:t>
            </a:r>
            <a:endParaRPr kumimoji="1" lang="en-US" altLang="zh-CN" sz="800" dirty="0">
              <a:solidFill>
                <a:schemeClr val="accent2">
                  <a:lumMod val="75000"/>
                </a:schemeClr>
              </a:solidFill>
              <a:latin typeface="+mj-ea"/>
              <a:ea typeface="+mj-ea"/>
            </a:endParaRPr>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可使用的工具有：系统流程图、数据流图、数据字典等结构化工具</a:t>
            </a:r>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514350" rtl="0" eaLnBrk="1" fontAlgn="auto" latinLnBrk="0" hangingPunct="1">
              <a:lnSpc>
                <a:spcPct val="100000"/>
              </a:lnSpc>
              <a:spcBef>
                <a:spcPts val="0"/>
              </a:spcBef>
              <a:spcAft>
                <a:spcPts val="0"/>
              </a:spcAft>
              <a:buClrTx/>
              <a:buSzTx/>
              <a:buFontTx/>
              <a:buNone/>
              <a:defRPr/>
            </a:pPr>
            <a:r>
              <a:rPr kumimoji="1" lang="zh-CN" altLang="en-US" sz="800" dirty="0">
                <a:latin typeface="+mn-ea"/>
              </a:rPr>
              <a:t>注意：系统流程图中所用的符号与程序设计语言中的程序流程图所用的符号类似。但系统流程图与程序流程图不同，系统流程图表达的是信息在系统中各个部件之间的流动情况，而程序流程图表达的是程序对信息进行加工处理的控制过程。</a:t>
            </a:r>
            <a:endParaRPr kumimoji="1" lang="en-US" altLang="zh-CN" sz="800" dirty="0">
              <a:latin typeface="+mn-ea"/>
            </a:endParaRPr>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0EFE991-DCB9-457D-8629-F13361C2A634}" type="slidenum">
              <a:rPr lang="en-US" altLang="zh-CN"/>
            </a:fld>
            <a:endParaRPr lang="en-US" altLang="zh-CN"/>
          </a:p>
        </p:txBody>
      </p:sp>
      <p:sp>
        <p:nvSpPr>
          <p:cNvPr id="49154" name="Rectangle 2"/>
          <p:cNvSpPr>
            <a:spLocks noGrp="1" noRot="1" noChangeAspect="1" noChangeArrowheads="1" noTextEdit="1"/>
          </p:cNvSpPr>
          <p:nvPr>
            <p:ph type="sldImg"/>
          </p:nvPr>
        </p:nvSpPr>
        <p:spPr>
          <a:xfrm>
            <a:off x="685800" y="1143000"/>
            <a:ext cx="5486400" cy="3086100"/>
          </a:xfrm>
        </p:spPr>
      </p:sp>
      <p:sp>
        <p:nvSpPr>
          <p:cNvPr id="49155" name="Rectangle 3"/>
          <p:cNvSpPr>
            <a:spLocks noGrp="1" noChangeArrowheads="1"/>
          </p:cNvSpPr>
          <p:nvPr>
            <p:ph type="body" idx="1"/>
          </p:nvPr>
        </p:nvSpPr>
        <p:spPr/>
        <p:txBody>
          <a:bodyPr/>
          <a:lstStyle/>
          <a:p>
            <a:r>
              <a:rPr lang="zh-CN" altLang="en-US" dirty="0"/>
              <a:t>建模是管理软件开发复杂性的有效手段，使用</a:t>
            </a:r>
            <a:r>
              <a:rPr lang="en-US" altLang="zh-CN" dirty="0"/>
              <a:t>UML</a:t>
            </a:r>
            <a:r>
              <a:rPr lang="zh-CN" altLang="en-US" dirty="0"/>
              <a:t>给出的需求规格、总体设计、概要设计、详细设计等的图形表示，有助于参加软件产品开发的各方更好的交流，沟通、讨论。由于软件的逻辑复杂、需求易变性，使得软件的开发、测试和维护活动很复杂，并且软件的发展使得软件成为市场竞争中的一个关键因素。因此，开发者需要更好的理解他们正在构建什么，建模可以提供有效的方法，并且不一定要影响开发速度。客户和业务用户始终希望软件能够按时交付，以能够像所期望的那样具有随需应变的功效。</a:t>
            </a:r>
            <a:endParaRPr lang="en-US" altLang="zh-CN" dirty="0"/>
          </a:p>
          <a:p>
            <a:r>
              <a:rPr lang="zh-CN" altLang="en-US" dirty="0"/>
              <a:t>通过软件建模，开发人员能够：</a:t>
            </a:r>
            <a:endParaRPr lang="en-US" altLang="zh-CN" dirty="0"/>
          </a:p>
          <a:p>
            <a:r>
              <a:rPr lang="en-US" altLang="zh-CN" dirty="0"/>
              <a:t>1</a:t>
            </a:r>
            <a:r>
              <a:rPr lang="zh-CN" altLang="en-US" dirty="0"/>
              <a:t>）在提交额外的资源之前创建并交流软件设计。</a:t>
            </a:r>
            <a:endParaRPr lang="en-US" altLang="zh-CN" dirty="0"/>
          </a:p>
          <a:p>
            <a:r>
              <a:rPr lang="en-US" altLang="zh-CN" dirty="0"/>
              <a:t>2</a:t>
            </a:r>
            <a:r>
              <a:rPr lang="zh-CN" altLang="en-US" dirty="0"/>
              <a:t>）从设计追溯到需求阶段，有助于确保构建正确的系统。</a:t>
            </a:r>
            <a:endParaRPr lang="en-US" altLang="zh-CN" dirty="0"/>
          </a:p>
          <a:p>
            <a:r>
              <a:rPr lang="en-US" altLang="zh-CN" dirty="0"/>
              <a:t>3</a:t>
            </a:r>
            <a:r>
              <a:rPr lang="zh-CN" altLang="en-US" dirty="0"/>
              <a:t>）进行迭代开发，在开发中，模型和其他的更高层次的抽象推动了快速而频繁的变更。</a:t>
            </a:r>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模型是对现实世界中的物体或系统的简化或图形表示。例如，地球仪、建筑模型、工程中的设计图纸、机器零件的设计图纸等。所以，我们要用工程化的方法开发软件产品，自然就引入了软件模型的概念。</a:t>
            </a:r>
            <a:r>
              <a:rPr lang="en-US" altLang="zh-CN" dirty="0"/>
              <a:t>UML</a:t>
            </a:r>
            <a:r>
              <a:rPr lang="zh-CN" altLang="en-US" dirty="0"/>
              <a:t>可以用于对任何复杂的系统建模，主要还是对软件系统建模。</a:t>
            </a:r>
            <a:endParaRPr lang="en-US" altLang="zh-CN" dirty="0"/>
          </a:p>
          <a:p>
            <a:endParaRPr lang="en-US" altLang="zh-CN" dirty="0"/>
          </a:p>
          <a:p>
            <a:r>
              <a:rPr lang="zh-CN" altLang="en-US" dirty="0"/>
              <a:t>建模应用于复杂的系统构建中，有时候是物理模型，如飞机、汽车、房子等的按照一定比例制作的实物模型，有时候是商业金融模型、市场贸易模拟以及电子电路图。</a:t>
            </a: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385CAFC-0FC6-4E68-B6AF-AF3867497DAE}" type="slidenum">
              <a:rPr lang="en-US" altLang="zh-CN"/>
            </a:fld>
            <a:endParaRPr lang="en-US" altLang="zh-CN"/>
          </a:p>
        </p:txBody>
      </p:sp>
      <p:sp>
        <p:nvSpPr>
          <p:cNvPr id="40962" name="Rectangle 2"/>
          <p:cNvSpPr>
            <a:spLocks noGrp="1" noRot="1" noChangeAspect="1" noChangeArrowheads="1" noTextEdit="1"/>
          </p:cNvSpPr>
          <p:nvPr>
            <p:ph type="sldImg"/>
          </p:nvPr>
        </p:nvSpPr>
        <p:spPr>
          <a:xfrm>
            <a:off x="685800" y="1143000"/>
            <a:ext cx="5486400" cy="3086100"/>
          </a:xfrm>
        </p:spPr>
      </p:sp>
      <p:sp>
        <p:nvSpPr>
          <p:cNvPr id="409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C457272-704E-4C53-96F2-F8CD3900DB73}" type="slidenum">
              <a:rPr lang="en-US" altLang="zh-CN"/>
            </a:fld>
            <a:endParaRPr lang="en-US" altLang="zh-CN"/>
          </a:p>
        </p:txBody>
      </p:sp>
      <p:sp>
        <p:nvSpPr>
          <p:cNvPr id="43010" name="Rectangle 2"/>
          <p:cNvSpPr>
            <a:spLocks noGrp="1" noRot="1" noChangeAspect="1" noChangeArrowheads="1" noTextEdit="1"/>
          </p:cNvSpPr>
          <p:nvPr>
            <p:ph type="sldImg"/>
          </p:nvPr>
        </p:nvSpPr>
        <p:spPr>
          <a:xfrm>
            <a:off x="685800" y="1143000"/>
            <a:ext cx="5486400" cy="3086100"/>
          </a:xfrm>
        </p:spPr>
      </p:sp>
      <p:sp>
        <p:nvSpPr>
          <p:cNvPr id="430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F253E88-D94A-4B26-8497-57967762E384}" type="slidenum">
              <a:rPr lang="en-US" altLang="zh-CN"/>
            </a:fld>
            <a:endParaRPr lang="en-US" altLang="zh-CN"/>
          </a:p>
        </p:txBody>
      </p:sp>
      <p:sp>
        <p:nvSpPr>
          <p:cNvPr id="45058" name="Rectangle 2"/>
          <p:cNvSpPr>
            <a:spLocks noGrp="1" noRot="1" noChangeAspect="1" noChangeArrowheads="1" noTextEdit="1"/>
          </p:cNvSpPr>
          <p:nvPr>
            <p:ph type="sldImg"/>
          </p:nvPr>
        </p:nvSpPr>
        <p:spPr>
          <a:xfrm>
            <a:off x="685800" y="1143000"/>
            <a:ext cx="5486400" cy="3086100"/>
          </a:xfrm>
        </p:spPr>
      </p:sp>
      <p:sp>
        <p:nvSpPr>
          <p:cNvPr id="450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1C9E580-FC59-4122-8D1F-486531DB7A9C}" type="slidenum">
              <a:rPr lang="en-US" altLang="zh-CN"/>
            </a:fld>
            <a:endParaRPr lang="en-US" altLang="zh-CN"/>
          </a:p>
        </p:txBody>
      </p:sp>
      <p:sp>
        <p:nvSpPr>
          <p:cNvPr id="47106" name="Rectangle 2"/>
          <p:cNvSpPr>
            <a:spLocks noGrp="1" noRot="1" noChangeAspect="1" noChangeArrowheads="1" noTextEdit="1"/>
          </p:cNvSpPr>
          <p:nvPr>
            <p:ph type="sldImg"/>
          </p:nvPr>
        </p:nvSpPr>
        <p:spPr>
          <a:xfrm>
            <a:off x="685800" y="1143000"/>
            <a:ext cx="5486400" cy="3086100"/>
          </a:xfrm>
        </p:spPr>
      </p:sp>
      <p:sp>
        <p:nvSpPr>
          <p:cNvPr id="47107" name="Rectangle 3"/>
          <p:cNvSpPr>
            <a:spLocks noGrp="1" noChangeArrowheads="1"/>
          </p:cNvSpPr>
          <p:nvPr>
            <p:ph type="body" idx="1"/>
          </p:nvPr>
        </p:nvSpPr>
        <p:spPr/>
        <p:txBody>
          <a:bodyPr/>
          <a:lstStyle/>
          <a:p>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8331936-52D6-4116-A247-9694DCBEA0CC}" type="slidenum">
              <a:rPr lang="en-US" altLang="zh-CN"/>
            </a:fld>
            <a:endParaRPr lang="en-US" altLang="zh-CN"/>
          </a:p>
        </p:txBody>
      </p:sp>
      <p:sp>
        <p:nvSpPr>
          <p:cNvPr id="51202" name="Rectangle 2"/>
          <p:cNvSpPr>
            <a:spLocks noGrp="1" noRot="1" noChangeAspect="1" noChangeArrowheads="1" noTextEdit="1"/>
          </p:cNvSpPr>
          <p:nvPr>
            <p:ph type="sldImg"/>
          </p:nvPr>
        </p:nvSpPr>
        <p:spPr>
          <a:xfrm>
            <a:off x="685800" y="1143000"/>
            <a:ext cx="5486400" cy="3086100"/>
          </a:xfrm>
        </p:spPr>
      </p:sp>
      <p:sp>
        <p:nvSpPr>
          <p:cNvPr id="51203" name="Rectangle 3"/>
          <p:cNvSpPr>
            <a:spLocks noGrp="1" noChangeArrowheads="1"/>
          </p:cNvSpPr>
          <p:nvPr>
            <p:ph type="body" idx="1"/>
          </p:nvPr>
        </p:nvSpPr>
        <p:spPr/>
        <p:txBody>
          <a:bodyPr/>
          <a:lstStyle/>
          <a:p>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00000"/>
              </a:lnSpc>
              <a:spcBef>
                <a:spcPts val="1200"/>
              </a:spcBef>
            </a:pPr>
            <a:r>
              <a:rPr lang="zh-CN" altLang="en-US" sz="1200" dirty="0"/>
              <a:t>作为一种建模语言，</a:t>
            </a:r>
            <a:r>
              <a:rPr lang="en-US" altLang="zh-CN" sz="1200" dirty="0"/>
              <a:t>UML</a:t>
            </a:r>
            <a:r>
              <a:rPr lang="zh-CN" altLang="en-US" sz="1200" dirty="0"/>
              <a:t>的定义包括</a:t>
            </a:r>
            <a:r>
              <a:rPr lang="en-US" altLang="zh-CN" sz="1200" dirty="0"/>
              <a:t>UML</a:t>
            </a:r>
            <a:r>
              <a:rPr lang="zh-CN" altLang="en-US" sz="1200" dirty="0"/>
              <a:t>语义和</a:t>
            </a:r>
            <a:r>
              <a:rPr lang="en-US" altLang="zh-CN" sz="1200" dirty="0"/>
              <a:t>UML</a:t>
            </a:r>
            <a:r>
              <a:rPr lang="zh-CN" altLang="en-US" sz="1200" dirty="0"/>
              <a:t>表示法两个部分。</a:t>
            </a:r>
            <a:endParaRPr lang="zh-CN" altLang="en-US" sz="1200" dirty="0"/>
          </a:p>
          <a:p>
            <a:pPr algn="just">
              <a:lnSpc>
                <a:spcPct val="100000"/>
              </a:lnSpc>
              <a:spcBef>
                <a:spcPts val="1200"/>
              </a:spcBef>
              <a:buFontTx/>
              <a:buNone/>
            </a:pPr>
            <a:r>
              <a:rPr lang="zh-CN" altLang="en-US" sz="1200" dirty="0"/>
              <a:t>     （</a:t>
            </a:r>
            <a:r>
              <a:rPr lang="en-US" altLang="zh-CN" sz="1200" dirty="0"/>
              <a:t>1</a:t>
            </a:r>
            <a:r>
              <a:rPr lang="zh-CN" altLang="en-US" sz="1200" dirty="0"/>
              <a:t>）</a:t>
            </a:r>
            <a:r>
              <a:rPr lang="en-US" altLang="zh-CN" sz="1200" dirty="0"/>
              <a:t>UML</a:t>
            </a:r>
            <a:r>
              <a:rPr lang="zh-CN" altLang="en-US" sz="1200" dirty="0">
                <a:solidFill>
                  <a:srgbClr val="FF0000"/>
                </a:solidFill>
              </a:rPr>
              <a:t>语义</a:t>
            </a:r>
            <a:endParaRPr lang="zh-CN" altLang="en-US" sz="1200" dirty="0">
              <a:solidFill>
                <a:srgbClr val="FF0000"/>
              </a:solidFill>
            </a:endParaRPr>
          </a:p>
          <a:p>
            <a:pPr algn="just">
              <a:lnSpc>
                <a:spcPct val="100000"/>
              </a:lnSpc>
              <a:spcBef>
                <a:spcPts val="1200"/>
              </a:spcBef>
              <a:buFontTx/>
              <a:buNone/>
            </a:pPr>
            <a:r>
              <a:rPr lang="zh-CN" altLang="en-US" sz="1200" dirty="0"/>
              <a:t>          指</a:t>
            </a:r>
            <a:r>
              <a:rPr lang="en-US" altLang="zh-CN" sz="1200" dirty="0"/>
              <a:t>UML</a:t>
            </a:r>
            <a:r>
              <a:rPr lang="zh-CN" altLang="en-US" sz="1200" dirty="0"/>
              <a:t>元素符号代表的含义，描述基于</a:t>
            </a:r>
            <a:r>
              <a:rPr lang="en-US" altLang="zh-CN" sz="1200" dirty="0"/>
              <a:t>UML</a:t>
            </a:r>
            <a:r>
              <a:rPr lang="zh-CN" altLang="en-US" sz="1200" dirty="0"/>
              <a:t>的精确元模型定义。元模型为</a:t>
            </a:r>
            <a:r>
              <a:rPr lang="en-US" altLang="zh-CN" sz="1200" dirty="0"/>
              <a:t>UML</a:t>
            </a:r>
            <a:r>
              <a:rPr lang="zh-CN" altLang="en-US" sz="1200" dirty="0"/>
              <a:t>的所有元素在语法和语义上提供了简单、一致和通用的定义性说明，使开发者能在语义上取得一致，消除了因人而异的表达方法所造成的影响。此外</a:t>
            </a:r>
            <a:r>
              <a:rPr lang="en-US" altLang="zh-CN" sz="1200" dirty="0"/>
              <a:t>UML</a:t>
            </a:r>
            <a:r>
              <a:rPr lang="zh-CN" altLang="en-US" sz="1200" dirty="0"/>
              <a:t>还支持对元模型的扩展定义。</a:t>
            </a:r>
            <a:endParaRPr lang="zh-CN" altLang="en-US" sz="1200" dirty="0"/>
          </a:p>
          <a:p>
            <a:pPr algn="just">
              <a:lnSpc>
                <a:spcPct val="100000"/>
              </a:lnSpc>
              <a:spcBef>
                <a:spcPts val="1200"/>
              </a:spcBef>
              <a:buFontTx/>
              <a:buNone/>
            </a:pPr>
            <a:r>
              <a:rPr lang="zh-CN" altLang="en-US" sz="1200" dirty="0"/>
              <a:t>     （</a:t>
            </a:r>
            <a:r>
              <a:rPr lang="en-US" altLang="zh-CN" sz="1200" dirty="0"/>
              <a:t>2</a:t>
            </a:r>
            <a:r>
              <a:rPr lang="zh-CN" altLang="en-US" sz="1200" dirty="0"/>
              <a:t>）</a:t>
            </a:r>
            <a:r>
              <a:rPr lang="en-US" altLang="zh-CN" sz="1200" dirty="0"/>
              <a:t>UML</a:t>
            </a:r>
            <a:r>
              <a:rPr lang="zh-CN" altLang="en-US" sz="1200" dirty="0">
                <a:solidFill>
                  <a:srgbClr val="FF0000"/>
                </a:solidFill>
              </a:rPr>
              <a:t>表示法</a:t>
            </a:r>
            <a:endParaRPr lang="zh-CN" altLang="en-US" sz="1200" dirty="0">
              <a:solidFill>
                <a:srgbClr val="FF0000"/>
              </a:solidFill>
            </a:endParaRPr>
          </a:p>
          <a:p>
            <a:pPr algn="just">
              <a:lnSpc>
                <a:spcPct val="100000"/>
              </a:lnSpc>
              <a:spcBef>
                <a:spcPts val="1200"/>
              </a:spcBef>
              <a:buFontTx/>
              <a:buNone/>
            </a:pPr>
            <a:r>
              <a:rPr lang="zh-CN" altLang="en-US" sz="1200" dirty="0"/>
              <a:t>          定义</a:t>
            </a:r>
            <a:r>
              <a:rPr lang="en-US" altLang="zh-CN" sz="1200" dirty="0"/>
              <a:t>UML</a:t>
            </a:r>
            <a:r>
              <a:rPr lang="zh-CN" altLang="en-US" sz="1200" dirty="0"/>
              <a:t>符号的表示法，为开发者或开发工具使用这些图形符号和文本语法为系统建模提供了标准。这些图形符号和文字所表达的是应用级的模型，在语义上它是</a:t>
            </a:r>
            <a:r>
              <a:rPr lang="en-US" altLang="zh-CN" sz="1200" dirty="0"/>
              <a:t>UML</a:t>
            </a:r>
            <a:r>
              <a:rPr lang="zh-CN" altLang="en-US" sz="1200" dirty="0"/>
              <a:t>元模型的实例。</a:t>
            </a:r>
            <a:endParaRPr lang="zh-CN" altLang="en-US" sz="1200" dirty="0"/>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1EB337C-B4F9-42CC-AB36-E08D2C8ECA11}" type="slidenum">
              <a:rPr lang="en-US" altLang="zh-CN"/>
            </a:fld>
            <a:endParaRPr lang="en-US" altLang="zh-CN"/>
          </a:p>
        </p:txBody>
      </p:sp>
      <p:sp>
        <p:nvSpPr>
          <p:cNvPr id="60418" name="Rectangle 2"/>
          <p:cNvSpPr>
            <a:spLocks noGrp="1" noRot="1" noChangeAspect="1" noChangeArrowheads="1" noTextEdit="1"/>
          </p:cNvSpPr>
          <p:nvPr>
            <p:ph type="sldImg"/>
          </p:nvPr>
        </p:nvSpPr>
        <p:spPr>
          <a:xfrm>
            <a:off x="838200" y="914400"/>
            <a:ext cx="5181600" cy="2914650"/>
          </a:xfrm>
        </p:spPr>
      </p:sp>
      <p:sp>
        <p:nvSpPr>
          <p:cNvPr id="60419" name="Rectangle 3"/>
          <p:cNvSpPr>
            <a:spLocks noGrp="1" noChangeArrowheads="1"/>
          </p:cNvSpPr>
          <p:nvPr>
            <p:ph type="body" idx="1"/>
          </p:nvPr>
        </p:nvSpPr>
        <p:spPr>
          <a:xfrm>
            <a:off x="460375" y="3962400"/>
            <a:ext cx="5943600" cy="4495800"/>
          </a:xfrm>
        </p:spPr>
        <p:txBody>
          <a:bodyPr lIns="89730" tIns="44865" rIns="89730" bIns="44865"/>
          <a:lstStyle/>
          <a:p>
            <a:r>
              <a:rPr lang="zh-CN" altLang="en-US" dirty="0"/>
              <a:t>在需求阶段，通过用例建模，描述用户感兴趣的系统功能。</a:t>
            </a:r>
            <a:endParaRPr lang="en-US" altLang="zh-CN" dirty="0"/>
          </a:p>
          <a:p>
            <a:r>
              <a:rPr lang="zh-CN" altLang="en-US" dirty="0"/>
              <a:t>在静态分析阶段，主要识别系统中的类及其关系，用</a:t>
            </a:r>
            <a:r>
              <a:rPr lang="en-US" altLang="zh-CN" dirty="0"/>
              <a:t>UML</a:t>
            </a:r>
            <a:r>
              <a:rPr lang="zh-CN" altLang="en-US" dirty="0"/>
              <a:t>类图来描述系统。</a:t>
            </a:r>
            <a:endParaRPr lang="en-US" altLang="zh-CN" dirty="0"/>
          </a:p>
          <a:p>
            <a:r>
              <a:rPr lang="zh-CN" altLang="en-US" dirty="0"/>
              <a:t>在动态分析阶段，尝试组织多个对象，并构思对象的交互与协作，以实现和检验用例的可行性，可以用</a:t>
            </a:r>
            <a:r>
              <a:rPr lang="en-US" altLang="zh-CN" dirty="0"/>
              <a:t>UML</a:t>
            </a:r>
            <a:r>
              <a:rPr lang="zh-CN" altLang="en-US" dirty="0"/>
              <a:t>动态模型来描述。</a:t>
            </a:r>
            <a:endParaRPr lang="en-US" altLang="zh-CN" dirty="0"/>
          </a:p>
          <a:p>
            <a:r>
              <a:rPr lang="zh-CN" altLang="en-US" dirty="0"/>
              <a:t>在测试阶段，不同的测试小组使用不同的</a:t>
            </a:r>
            <a:r>
              <a:rPr lang="en-US" altLang="zh-CN" dirty="0"/>
              <a:t>UML</a:t>
            </a:r>
            <a:r>
              <a:rPr lang="zh-CN" altLang="en-US" dirty="0"/>
              <a:t>图作为测试依据：单元测试使用类图和类规格说明；集成测试使用组件图和协作图；系统测试使用用例图来验证系统的行为；验收测试由用户进行，以验证系统测试的结果是否满足在分析阶段时确定的需求。</a:t>
            </a:r>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675" b="0" i="0" kern="1200" dirty="0">
                <a:solidFill>
                  <a:schemeClr val="tx1"/>
                </a:solidFill>
                <a:effectLst/>
                <a:latin typeface="+mn-lt"/>
                <a:ea typeface="+mn-ea"/>
                <a:cs typeface="+mn-cs"/>
              </a:rPr>
              <a:t>1</a:t>
            </a:r>
            <a:r>
              <a:rPr lang="zh-CN" altLang="en-US" sz="675" b="0" i="0" kern="1200" dirty="0">
                <a:solidFill>
                  <a:schemeClr val="tx1"/>
                </a:solidFill>
                <a:effectLst/>
                <a:latin typeface="+mn-lt"/>
                <a:ea typeface="+mn-ea"/>
                <a:cs typeface="+mn-cs"/>
              </a:rPr>
              <a:t>、用例视图。用例视图强调从系统的外部参与者（主要是用户）的角度看到的或需要的系统功能。</a:t>
            </a:r>
            <a:endParaRPr lang="zh-CN" altLang="en-US" sz="675" b="0" i="0" kern="1200" dirty="0">
              <a:solidFill>
                <a:schemeClr val="tx1"/>
              </a:solidFill>
              <a:effectLst/>
              <a:latin typeface="+mn-lt"/>
              <a:ea typeface="+mn-ea"/>
              <a:cs typeface="+mn-cs"/>
            </a:endParaRPr>
          </a:p>
          <a:p>
            <a:r>
              <a:rPr lang="en-US" altLang="zh-CN" sz="675" b="0" i="0" kern="1200" dirty="0">
                <a:solidFill>
                  <a:schemeClr val="tx1"/>
                </a:solidFill>
                <a:effectLst/>
                <a:latin typeface="+mn-lt"/>
                <a:ea typeface="+mn-ea"/>
                <a:cs typeface="+mn-cs"/>
              </a:rPr>
              <a:t>2</a:t>
            </a:r>
            <a:r>
              <a:rPr lang="zh-CN" altLang="en-US" sz="675" b="0" i="0" kern="1200" dirty="0">
                <a:solidFill>
                  <a:schemeClr val="tx1"/>
                </a:solidFill>
                <a:effectLst/>
                <a:latin typeface="+mn-lt"/>
                <a:ea typeface="+mn-ea"/>
                <a:cs typeface="+mn-cs"/>
              </a:rPr>
              <a:t>、逻辑视图。逻辑视图从系统的静态结构和动态行为角度显示如何实现系统的功能。</a:t>
            </a:r>
            <a:endParaRPr lang="zh-CN" altLang="en-US" sz="675" b="0" i="0" kern="1200" dirty="0">
              <a:solidFill>
                <a:schemeClr val="tx1"/>
              </a:solidFill>
              <a:effectLst/>
              <a:latin typeface="+mn-lt"/>
              <a:ea typeface="+mn-ea"/>
              <a:cs typeface="+mn-cs"/>
            </a:endParaRPr>
          </a:p>
          <a:p>
            <a:r>
              <a:rPr lang="en-US" altLang="zh-CN" sz="675" b="0" i="0" kern="1200" dirty="0">
                <a:solidFill>
                  <a:schemeClr val="tx1"/>
                </a:solidFill>
                <a:effectLst/>
                <a:latin typeface="+mn-lt"/>
                <a:ea typeface="+mn-ea"/>
                <a:cs typeface="+mn-cs"/>
              </a:rPr>
              <a:t>3</a:t>
            </a:r>
            <a:r>
              <a:rPr lang="zh-CN" altLang="en-US" sz="675" b="0" i="0" kern="1200" dirty="0">
                <a:solidFill>
                  <a:schemeClr val="tx1"/>
                </a:solidFill>
                <a:effectLst/>
                <a:latin typeface="+mn-lt"/>
                <a:ea typeface="+mn-ea"/>
                <a:cs typeface="+mn-cs"/>
              </a:rPr>
              <a:t>、组件视图。组件视图显示代码组件的组织结构。</a:t>
            </a:r>
            <a:endParaRPr lang="zh-CN" altLang="en-US" sz="675" b="0" i="0" kern="1200" dirty="0">
              <a:solidFill>
                <a:schemeClr val="tx1"/>
              </a:solidFill>
              <a:effectLst/>
              <a:latin typeface="+mn-lt"/>
              <a:ea typeface="+mn-ea"/>
              <a:cs typeface="+mn-cs"/>
            </a:endParaRPr>
          </a:p>
          <a:p>
            <a:r>
              <a:rPr lang="en-US" altLang="zh-CN" sz="675" b="0" i="0" kern="1200" dirty="0">
                <a:solidFill>
                  <a:schemeClr val="tx1"/>
                </a:solidFill>
                <a:effectLst/>
                <a:latin typeface="+mn-lt"/>
                <a:ea typeface="+mn-ea"/>
                <a:cs typeface="+mn-cs"/>
              </a:rPr>
              <a:t>4</a:t>
            </a:r>
            <a:r>
              <a:rPr lang="zh-CN" altLang="en-US" sz="675" b="0" i="0" kern="1200" dirty="0">
                <a:solidFill>
                  <a:schemeClr val="tx1"/>
                </a:solidFill>
                <a:effectLst/>
                <a:latin typeface="+mn-lt"/>
                <a:ea typeface="+mn-ea"/>
                <a:cs typeface="+mn-cs"/>
              </a:rPr>
              <a:t>、并发视图。并发视图显示系统的并发性，解决在并发系统中存在的通信和同步问题。</a:t>
            </a:r>
            <a:endParaRPr lang="zh-CN" altLang="en-US" sz="675" b="0" i="0" kern="1200" dirty="0">
              <a:solidFill>
                <a:schemeClr val="tx1"/>
              </a:solidFill>
              <a:effectLst/>
              <a:latin typeface="+mn-lt"/>
              <a:ea typeface="+mn-ea"/>
              <a:cs typeface="+mn-cs"/>
            </a:endParaRPr>
          </a:p>
          <a:p>
            <a:r>
              <a:rPr lang="en-US" altLang="zh-CN" sz="675" b="0" i="0" kern="1200" dirty="0">
                <a:solidFill>
                  <a:schemeClr val="tx1"/>
                </a:solidFill>
                <a:effectLst/>
                <a:latin typeface="+mn-lt"/>
                <a:ea typeface="+mn-ea"/>
                <a:cs typeface="+mn-cs"/>
              </a:rPr>
              <a:t>5</a:t>
            </a:r>
            <a:r>
              <a:rPr lang="zh-CN" altLang="en-US" sz="675" b="0" i="0" kern="1200" dirty="0">
                <a:solidFill>
                  <a:schemeClr val="tx1"/>
                </a:solidFill>
                <a:effectLst/>
                <a:latin typeface="+mn-lt"/>
                <a:ea typeface="+mn-ea"/>
                <a:cs typeface="+mn-cs"/>
              </a:rPr>
              <a:t>、配置视图。配置视图显示系统的具体部署。部署是指将系统配置到由计算机和设备组成的物理结构上。</a:t>
            </a:r>
            <a:endParaRPr lang="zh-CN" altLang="en-US" sz="675"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实现模型</a:t>
            </a:r>
            <a:endParaRPr kumimoji="1" lang="en-US" altLang="zh-CN" dirty="0"/>
          </a:p>
          <a:p>
            <a:pPr lvl="1"/>
            <a:r>
              <a:rPr lang="zh-CN" altLang="zh-CN" dirty="0"/>
              <a:t>实现模型包括构件图和部署图 </a:t>
            </a:r>
            <a:endParaRPr lang="en-US" altLang="zh-CN" dirty="0"/>
          </a:p>
          <a:p>
            <a:pPr lvl="2"/>
            <a:r>
              <a:rPr lang="zh-CN" altLang="zh-CN" dirty="0"/>
              <a:t>构件图显示代码本身的逻辑结构 </a:t>
            </a:r>
            <a:endParaRPr lang="en-US" altLang="zh-CN" dirty="0"/>
          </a:p>
          <a:p>
            <a:pPr lvl="2"/>
            <a:r>
              <a:rPr lang="zh-CN" altLang="zh-CN" dirty="0"/>
              <a:t>部署图显示系统运行时的结构 </a:t>
            </a:r>
            <a:endParaRPr kumimoji="1"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F80A570-FAFD-4443-A581-D48AA7194C01}" type="slidenum">
              <a:rPr lang="en-US" altLang="zh-CN"/>
            </a:fld>
            <a:endParaRPr lang="en-US" altLang="zh-CN"/>
          </a:p>
        </p:txBody>
      </p:sp>
      <p:sp>
        <p:nvSpPr>
          <p:cNvPr id="55298" name="Rectangle 2"/>
          <p:cNvSpPr>
            <a:spLocks noGrp="1" noRot="1" noChangeAspect="1" noChangeArrowheads="1" noTextEdit="1"/>
          </p:cNvSpPr>
          <p:nvPr>
            <p:ph type="sldImg"/>
          </p:nvPr>
        </p:nvSpPr>
        <p:spPr>
          <a:xfrm>
            <a:off x="685800" y="1143000"/>
            <a:ext cx="5486400" cy="3086100"/>
          </a:xfrm>
        </p:spPr>
      </p:sp>
      <p:sp>
        <p:nvSpPr>
          <p:cNvPr id="55299" name="Rectangle 3"/>
          <p:cNvSpPr>
            <a:spLocks noGrp="1" noChangeArrowheads="1"/>
          </p:cNvSpPr>
          <p:nvPr>
            <p:ph type="body" idx="1"/>
          </p:nvPr>
        </p:nvSpPr>
        <p:spPr/>
        <p:txBody>
          <a:bodyPr/>
          <a:lstStyle/>
          <a:p>
            <a:pPr marL="228600" indent="-228600"/>
            <a:r>
              <a:rPr lang="zh-CN" altLang="en-US" dirty="0"/>
              <a:t>建立类图的步骤</a:t>
            </a:r>
            <a:endParaRPr lang="zh-CN" altLang="en-US" dirty="0"/>
          </a:p>
          <a:p>
            <a:pPr marL="228600" indent="-228600">
              <a:buFontTx/>
              <a:buAutoNum type="arabicPeriod"/>
            </a:pPr>
            <a:r>
              <a:rPr lang="zh-CN" altLang="en-US" dirty="0"/>
              <a:t>研究分析问题领域，确定系统需求。</a:t>
            </a:r>
            <a:endParaRPr lang="zh-CN" altLang="en-US" dirty="0"/>
          </a:p>
          <a:p>
            <a:pPr marL="228600" indent="-228600">
              <a:buFontTx/>
              <a:buAutoNum type="arabicPeriod"/>
            </a:pPr>
            <a:r>
              <a:rPr lang="zh-CN" altLang="en-US" dirty="0"/>
              <a:t>发现对象和类，明确他们的含义和责任，确定属性和操作。</a:t>
            </a:r>
            <a:endParaRPr lang="zh-CN" altLang="en-US" dirty="0"/>
          </a:p>
          <a:p>
            <a:pPr marL="228600" indent="-228600">
              <a:buFontTx/>
              <a:buAutoNum type="arabicPeriod"/>
            </a:pPr>
            <a:r>
              <a:rPr lang="zh-CN" altLang="en-US" dirty="0"/>
              <a:t>发现类之间的静态联系。（关联、泛化、聚合、组合、依赖）。</a:t>
            </a:r>
            <a:endParaRPr lang="zh-CN" altLang="en-US" dirty="0"/>
          </a:p>
          <a:p>
            <a:pPr marL="228600" indent="-228600">
              <a:buFontTx/>
              <a:buAutoNum type="arabicPeriod"/>
            </a:pPr>
            <a:r>
              <a:rPr lang="zh-CN" altLang="en-US" dirty="0"/>
              <a:t>设计类和联系，调整和精化已得到的类之间的联系，解决命名冲突和功能重复问题。</a:t>
            </a:r>
            <a:endParaRPr lang="zh-CN" altLang="en-US" dirty="0"/>
          </a:p>
          <a:p>
            <a:pPr marL="228600" indent="-228600">
              <a:buFontTx/>
              <a:buAutoNum type="arabicPeriod"/>
            </a:pPr>
            <a:r>
              <a:rPr lang="zh-CN" altLang="en-US" dirty="0"/>
              <a:t>绘制类图并编制相应的说明。</a:t>
            </a:r>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C785FDC-DE62-465E-BBB3-1D356BA25874}" type="slidenum">
              <a:rPr lang="en-US" altLang="zh-CN"/>
            </a:fld>
            <a:endParaRPr lang="en-US" altLang="zh-CN"/>
          </a:p>
        </p:txBody>
      </p:sp>
      <p:sp>
        <p:nvSpPr>
          <p:cNvPr id="57346" name="Rectangle 2"/>
          <p:cNvSpPr>
            <a:spLocks noGrp="1" noRot="1" noChangeAspect="1" noChangeArrowheads="1" noTextEdit="1"/>
          </p:cNvSpPr>
          <p:nvPr>
            <p:ph type="sldImg"/>
          </p:nvPr>
        </p:nvSpPr>
        <p:spPr>
          <a:xfrm>
            <a:off x="685800" y="1143000"/>
            <a:ext cx="5486400" cy="3086100"/>
          </a:xfrm>
        </p:spPr>
      </p:sp>
      <p:sp>
        <p:nvSpPr>
          <p:cNvPr id="5734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r>
              <a:rPr lang="zh-CN" altLang="zh-CN" sz="800" dirty="0"/>
              <a:t>对象的属性类型表示属性的取值范围。</a:t>
            </a:r>
            <a:endParaRPr lang="en-US" altLang="zh-CN" sz="800" dirty="0"/>
          </a:p>
          <a:p>
            <a:pPr>
              <a:lnSpc>
                <a:spcPct val="150000"/>
              </a:lnSpc>
            </a:pPr>
            <a:r>
              <a:rPr lang="zh-CN" altLang="zh-CN" sz="800" dirty="0"/>
              <a:t>如果类定义时没有指明属性的类型，比如因为类型不是系统中已定义的基本类型，则对该属性的决策可以推迟到对象创建之时。</a:t>
            </a:r>
            <a:endParaRPr lang="en-US" altLang="zh-CN" sz="800" dirty="0"/>
          </a:p>
          <a:p>
            <a:pPr>
              <a:lnSpc>
                <a:spcPct val="150000"/>
              </a:lnSpc>
            </a:pPr>
            <a:r>
              <a:rPr lang="zh-CN" altLang="zh-CN" sz="800" dirty="0"/>
              <a:t>这样可以允许开发者在设计类时将注意力更多地放在系统功能的设计上，并在系统功能修订的时候，将细节变化的程度减少到最小。</a:t>
            </a:r>
            <a:endParaRPr lang="zh-CN" altLang="zh-CN" sz="800"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EFE5940-C79E-4E34-887F-EDE3C8965C80}" type="slidenum">
              <a:rPr lang="en-US" altLang="zh-CN"/>
            </a:fld>
            <a:endParaRPr lang="en-US" altLang="zh-CN"/>
          </a:p>
        </p:txBody>
      </p:sp>
      <p:sp>
        <p:nvSpPr>
          <p:cNvPr id="59394" name="Rectangle 2"/>
          <p:cNvSpPr>
            <a:spLocks noGrp="1" noRot="1" noChangeAspect="1" noChangeArrowheads="1" noTextEdit="1"/>
          </p:cNvSpPr>
          <p:nvPr>
            <p:ph type="sldImg"/>
          </p:nvPr>
        </p:nvSpPr>
        <p:spPr>
          <a:xfrm>
            <a:off x="685800" y="1143000"/>
            <a:ext cx="5486400" cy="3086100"/>
          </a:xfrm>
        </p:spPr>
      </p:sp>
      <p:sp>
        <p:nvSpPr>
          <p:cNvPr id="59395" name="Rectangle 3"/>
          <p:cNvSpPr>
            <a:spLocks noGrp="1" noChangeArrowheads="1"/>
          </p:cNvSpPr>
          <p:nvPr>
            <p:ph type="body" idx="1"/>
          </p:nvPr>
        </p:nvSpPr>
        <p:spPr/>
        <p:txBody>
          <a:bodyPr/>
          <a:lstStyle/>
          <a:p>
            <a:pPr marL="228600" indent="-228600"/>
            <a:r>
              <a:rPr lang="zh-CN" altLang="en-US" dirty="0"/>
              <a:t>一个</a:t>
            </a:r>
            <a:r>
              <a:rPr lang="en-US" altLang="zh-CN" dirty="0"/>
              <a:t>Use Case</a:t>
            </a:r>
            <a:r>
              <a:rPr lang="zh-CN" altLang="en-US" dirty="0"/>
              <a:t>图可以按照下列步骤建立</a:t>
            </a:r>
            <a:endParaRPr lang="zh-CN" altLang="en-US" dirty="0"/>
          </a:p>
          <a:p>
            <a:pPr marL="228600" indent="-228600">
              <a:buFontTx/>
              <a:buAutoNum type="arabicPeriod"/>
            </a:pPr>
            <a:r>
              <a:rPr lang="zh-CN" altLang="en-US" dirty="0"/>
              <a:t>找出系统外部的活动者和外部系统，确定系统的边界和范围。</a:t>
            </a:r>
            <a:endParaRPr lang="zh-CN" altLang="en-US" dirty="0"/>
          </a:p>
          <a:p>
            <a:pPr marL="228600" indent="-228600">
              <a:buFontTx/>
              <a:buAutoNum type="arabicPeriod"/>
            </a:pPr>
            <a:r>
              <a:rPr lang="zh-CN" altLang="en-US" dirty="0"/>
              <a:t>确定每一个活动者所期望的系统行为。</a:t>
            </a:r>
            <a:endParaRPr lang="zh-CN" altLang="en-US" dirty="0"/>
          </a:p>
          <a:p>
            <a:pPr marL="228600" indent="-228600">
              <a:buFontTx/>
              <a:buAutoNum type="arabicPeriod"/>
            </a:pPr>
            <a:r>
              <a:rPr lang="zh-CN" altLang="en-US" dirty="0"/>
              <a:t>把这些系统命名为</a:t>
            </a:r>
            <a:r>
              <a:rPr lang="en-US" altLang="zh-CN" dirty="0"/>
              <a:t>Use Case</a:t>
            </a:r>
            <a:r>
              <a:rPr lang="zh-CN" altLang="en-US" dirty="0"/>
              <a:t>。</a:t>
            </a:r>
            <a:endParaRPr lang="en-US" altLang="zh-CN" dirty="0"/>
          </a:p>
          <a:p>
            <a:pPr marL="228600" indent="-228600">
              <a:buFontTx/>
              <a:buAutoNum type="arabicPeriod"/>
            </a:pPr>
            <a:r>
              <a:rPr lang="zh-CN" altLang="en-US" dirty="0"/>
              <a:t>把一些公共的系统行为分解为一批新的</a:t>
            </a:r>
            <a:r>
              <a:rPr lang="en-US" altLang="zh-CN" dirty="0"/>
              <a:t>Use Case,</a:t>
            </a:r>
            <a:r>
              <a:rPr lang="zh-CN" altLang="en-US" dirty="0"/>
              <a:t>供其它的</a:t>
            </a:r>
            <a:r>
              <a:rPr lang="en-US" altLang="zh-CN" dirty="0"/>
              <a:t>Use Case</a:t>
            </a:r>
            <a:r>
              <a:rPr lang="zh-CN" altLang="en-US" dirty="0"/>
              <a:t>引用。把一些变更的行为分解为扩展的</a:t>
            </a:r>
            <a:r>
              <a:rPr lang="en-US" altLang="zh-CN" dirty="0"/>
              <a:t>Use Case</a:t>
            </a:r>
            <a:r>
              <a:rPr lang="zh-CN" altLang="en-US" dirty="0"/>
              <a:t>。</a:t>
            </a:r>
            <a:endParaRPr lang="en-US" altLang="zh-CN" dirty="0"/>
          </a:p>
          <a:p>
            <a:pPr marL="228600" indent="-228600">
              <a:buFontTx/>
              <a:buAutoNum type="arabicPeriod"/>
            </a:pPr>
            <a:r>
              <a:rPr lang="zh-CN" altLang="en-US" dirty="0"/>
              <a:t>编制每一个</a:t>
            </a:r>
            <a:r>
              <a:rPr lang="en-US" altLang="zh-CN" dirty="0"/>
              <a:t>Use Case</a:t>
            </a:r>
            <a:r>
              <a:rPr lang="zh-CN" altLang="en-US" dirty="0"/>
              <a:t>的剧本</a:t>
            </a:r>
            <a:r>
              <a:rPr lang="en-US" altLang="zh-CN" dirty="0"/>
              <a:t>(</a:t>
            </a:r>
            <a:r>
              <a:rPr lang="zh-CN" altLang="en-US" dirty="0"/>
              <a:t>一系列步骤地描述，这些步骤构成了剧本</a:t>
            </a:r>
            <a:r>
              <a:rPr lang="en-US" altLang="zh-CN" dirty="0"/>
              <a:t>)</a:t>
            </a:r>
            <a:r>
              <a:rPr lang="zh-CN" altLang="en-US" dirty="0"/>
              <a:t>。</a:t>
            </a:r>
            <a:endParaRPr lang="en-US" altLang="zh-CN" dirty="0"/>
          </a:p>
          <a:p>
            <a:pPr marL="228600" indent="-228600">
              <a:buFontTx/>
              <a:buAutoNum type="arabicPeriod"/>
            </a:pPr>
            <a:r>
              <a:rPr lang="zh-CN" altLang="en-US" dirty="0"/>
              <a:t>绘制</a:t>
            </a:r>
            <a:r>
              <a:rPr lang="en-US" altLang="zh-CN" dirty="0"/>
              <a:t>Use Case </a:t>
            </a:r>
            <a:r>
              <a:rPr lang="zh-CN" altLang="en-US" dirty="0"/>
              <a:t>图。</a:t>
            </a:r>
            <a:endParaRPr lang="zh-CN" altLang="en-US" dirty="0"/>
          </a:p>
          <a:p>
            <a:pPr marL="228600" indent="-228600">
              <a:buFontTx/>
              <a:buAutoNum type="arabicPeriod"/>
            </a:pPr>
            <a:r>
              <a:rPr lang="zh-CN" altLang="en-US" dirty="0"/>
              <a:t>区分主业物流和例外情况的事件流。可以把表达例外情况的事件流的</a:t>
            </a:r>
            <a:r>
              <a:rPr lang="en-US" altLang="zh-CN" dirty="0"/>
              <a:t>Use Case</a:t>
            </a:r>
            <a:r>
              <a:rPr lang="zh-CN" altLang="en-US" dirty="0"/>
              <a:t>画成一个单独的子</a:t>
            </a:r>
            <a:r>
              <a:rPr lang="en-US" altLang="zh-CN" dirty="0"/>
              <a:t>Use Case</a:t>
            </a:r>
            <a:r>
              <a:rPr lang="zh-CN" altLang="en-US" dirty="0"/>
              <a:t>图。</a:t>
            </a:r>
            <a:endParaRPr lang="zh-CN" altLang="en-US" dirty="0"/>
          </a:p>
          <a:p>
            <a:pPr marL="228600" indent="-228600">
              <a:buFontTx/>
              <a:buAutoNum type="arabicPeriod"/>
            </a:pPr>
            <a:r>
              <a:rPr lang="zh-CN" altLang="en-US" dirty="0"/>
              <a:t>精化</a:t>
            </a:r>
            <a:r>
              <a:rPr lang="en-US" altLang="zh-CN" dirty="0"/>
              <a:t>use Case</a:t>
            </a:r>
            <a:r>
              <a:rPr lang="zh-CN" altLang="en-US" dirty="0"/>
              <a:t>图。解决</a:t>
            </a:r>
            <a:r>
              <a:rPr lang="en-US" altLang="zh-CN" dirty="0"/>
              <a:t>Use Case</a:t>
            </a:r>
            <a:r>
              <a:rPr lang="zh-CN" altLang="en-US" dirty="0"/>
              <a:t>间的重复与冲突问题，简化</a:t>
            </a:r>
            <a:r>
              <a:rPr lang="en-US" altLang="zh-CN" dirty="0"/>
              <a:t>use Case</a:t>
            </a:r>
            <a:r>
              <a:rPr lang="zh-CN" altLang="en-US" dirty="0"/>
              <a:t>中的对话序列。</a:t>
            </a:r>
            <a:r>
              <a:rPr lang="en-US" altLang="zh-CN" dirty="0"/>
              <a:t>Use Case</a:t>
            </a:r>
            <a:r>
              <a:rPr lang="zh-CN" altLang="en-US" dirty="0"/>
              <a:t>图可以有不同的层次，高层次的</a:t>
            </a:r>
            <a:r>
              <a:rPr lang="en-US" altLang="zh-CN" dirty="0"/>
              <a:t>Use Case</a:t>
            </a:r>
            <a:r>
              <a:rPr lang="zh-CN" altLang="en-US" dirty="0"/>
              <a:t>可以分解为若干个下属子系统中的</a:t>
            </a:r>
            <a:r>
              <a:rPr lang="en-US" altLang="zh-CN" dirty="0"/>
              <a:t>Use Case</a:t>
            </a:r>
            <a:r>
              <a:rPr lang="zh-CN" altLang="en-US" dirty="0"/>
              <a:t>。</a:t>
            </a:r>
            <a:endParaRPr lang="en-US"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514350" rtl="0" eaLnBrk="1" fontAlgn="auto" latinLnBrk="0" hangingPunct="1">
              <a:lnSpc>
                <a:spcPct val="100000"/>
              </a:lnSpc>
              <a:spcBef>
                <a:spcPts val="0"/>
              </a:spcBef>
              <a:spcAft>
                <a:spcPts val="0"/>
              </a:spcAft>
              <a:buClrTx/>
              <a:buSzTx/>
              <a:buFontTx/>
              <a:buNone/>
              <a:defRPr/>
            </a:pPr>
            <a:r>
              <a:rPr lang="zh-CN" altLang="zh-CN" sz="800" dirty="0"/>
              <a:t>操作者之间可以存在泛化关系，类似的参与者可以组成一个层级结构。在网上书店的例子中，会员是游客的泛化，游客有浏览图书的用例，而会员不仅包含游客的全部用例，还具有自己特有的购买图书用例。</a:t>
            </a:r>
            <a:endParaRPr lang="zh-CN" altLang="zh-CN" sz="800" dirty="0"/>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A8D837A-1D92-4A4F-B378-5FF739F15308}" type="slidenum">
              <a:rPr lang="en-US" altLang="zh-CN"/>
            </a:fld>
            <a:endParaRPr lang="en-US" altLang="zh-CN"/>
          </a:p>
        </p:txBody>
      </p:sp>
      <p:sp>
        <p:nvSpPr>
          <p:cNvPr id="75778" name="Rectangle 2"/>
          <p:cNvSpPr>
            <a:spLocks noGrp="1" noRot="1" noChangeAspect="1" noChangeArrowheads="1" noTextEdit="1"/>
          </p:cNvSpPr>
          <p:nvPr>
            <p:ph type="sldImg"/>
          </p:nvPr>
        </p:nvSpPr>
        <p:spPr>
          <a:xfrm>
            <a:off x="685800" y="1143000"/>
            <a:ext cx="5486400" cy="3086100"/>
          </a:xfrm>
        </p:spPr>
      </p:sp>
      <p:sp>
        <p:nvSpPr>
          <p:cNvPr id="75779" name="Rectangle 3"/>
          <p:cNvSpPr>
            <a:spLocks noGrp="1" noChangeArrowheads="1"/>
          </p:cNvSpPr>
          <p:nvPr>
            <p:ph type="body" idx="1"/>
          </p:nvPr>
        </p:nvSpPr>
        <p:spPr/>
        <p:txBody>
          <a:bodyPr/>
          <a:lstStyle/>
          <a:p>
            <a:r>
              <a:rPr lang="zh-CN" altLang="en-US" dirty="0"/>
              <a:t>活动图着重描述活动和大的过程，它们可能与方法或成员函数及其活动序列相对应，也可能不对应。从这种意义上，它很像流程图，而不同之处是活动图显式支持并发活动和它们的同步。</a:t>
            </a:r>
            <a:endParaRPr lang="zh-CN" altLang="en-US" dirty="0"/>
          </a:p>
          <a:p>
            <a:endParaRPr lang="zh-CN" altLang="en-US" dirty="0"/>
          </a:p>
          <a:p>
            <a:r>
              <a:rPr lang="zh-CN" altLang="en-US" dirty="0"/>
              <a:t>活动图最大的不足之处是它们没有显式表示出哪个对象执行哪个活动以及它们之间的消息工作方式。你可以为每个活动标记上负责的对象，但那不会使对象之间的交互变得清晰（那就是你要使用交互图的时候了）。一种常能凑效的方法是，在为一个过程建模的早期，先画活动图来帮助你获得对整个过程的理解。然后你可以用交互图来帮助你将活动分配到类中。</a:t>
            </a:r>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1C9A173-70D8-40CF-87A9-4F29F95D4256}" type="slidenum">
              <a:rPr lang="en-US" altLang="zh-CN"/>
            </a:fld>
            <a:endParaRPr lang="en-US" altLang="zh-CN"/>
          </a:p>
        </p:txBody>
      </p:sp>
      <p:sp>
        <p:nvSpPr>
          <p:cNvPr id="61442" name="Rectangle 2"/>
          <p:cNvSpPr>
            <a:spLocks noGrp="1" noRot="1" noChangeAspect="1" noChangeArrowheads="1" noTextEdit="1"/>
          </p:cNvSpPr>
          <p:nvPr>
            <p:ph type="sldImg"/>
          </p:nvPr>
        </p:nvSpPr>
        <p:spPr>
          <a:xfrm>
            <a:off x="685800" y="1143000"/>
            <a:ext cx="5486400" cy="3086100"/>
          </a:xfrm>
        </p:spPr>
      </p:sp>
      <p:sp>
        <p:nvSpPr>
          <p:cNvPr id="61443" name="Rectangle 3"/>
          <p:cNvSpPr>
            <a:spLocks noGrp="1" noChangeArrowheads="1"/>
          </p:cNvSpPr>
          <p:nvPr>
            <p:ph type="body" idx="1"/>
          </p:nvPr>
        </p:nvSpPr>
        <p:spPr/>
        <p:txBody>
          <a:bodyPr/>
          <a:lstStyle/>
          <a:p>
            <a:r>
              <a:rPr lang="zh-CN" altLang="en-US" dirty="0"/>
              <a:t>描述状态之间转换的图称为状态图，是对类描述的补充，由状态、转换、事件、活动和动作组成。通过状态图可以了解一个对象所能达到的所有状态，以及对象收到的事件对对象状态的影响。</a:t>
            </a:r>
            <a:endParaRPr lang="en-US" altLang="zh-CN" dirty="0"/>
          </a:p>
          <a:p>
            <a:endParaRPr lang="en-US" altLang="zh-CN" dirty="0"/>
          </a:p>
          <a:p>
            <a:r>
              <a:rPr lang="zh-CN" altLang="en-US" dirty="0"/>
              <a:t>状态中的事件分为调用事件、变化事件、时间事件和信号事件。</a:t>
            </a:r>
            <a:endParaRPr lang="en-US" altLang="zh-CN" dirty="0"/>
          </a:p>
          <a:p>
            <a:endParaRPr lang="en-US" altLang="zh-CN" dirty="0"/>
          </a:p>
          <a:p>
            <a:pPr>
              <a:lnSpc>
                <a:spcPct val="150000"/>
              </a:lnSpc>
            </a:pPr>
            <a:r>
              <a:rPr lang="zh-CN" altLang="zh-CN" sz="800" b="1" dirty="0">
                <a:solidFill>
                  <a:srgbClr val="0000FF"/>
                </a:solidFill>
              </a:rPr>
              <a:t>状态图</a:t>
            </a:r>
            <a:r>
              <a:rPr lang="zh-CN" altLang="zh-CN" sz="800" dirty="0"/>
              <a:t>由状态机扩展而来，用来描述对象对外部对象响应的历史状态序列，即描述对象所有可能的状态，以及哪些事件将导致状态的改变。</a:t>
            </a:r>
            <a:endParaRPr lang="en-US" altLang="zh-CN" sz="800" dirty="0"/>
          </a:p>
          <a:p>
            <a:pPr>
              <a:lnSpc>
                <a:spcPct val="150000"/>
              </a:lnSpc>
            </a:pPr>
            <a:r>
              <a:rPr lang="zh-CN" altLang="zh-CN" sz="800" dirty="0"/>
              <a:t>包括对象在各个不同状态间的跳转以及这些跳转的外部触发事件，即从状态到状态的控制流。</a:t>
            </a:r>
            <a:endParaRPr lang="en-US" altLang="zh-CN" sz="800" dirty="0"/>
          </a:p>
          <a:p>
            <a:pPr>
              <a:lnSpc>
                <a:spcPct val="150000"/>
              </a:lnSpc>
            </a:pPr>
            <a:r>
              <a:rPr lang="zh-CN" altLang="zh-CN" sz="800" dirty="0"/>
              <a:t>状态图侧重于描述某个对象的动态行为，是对象的生命周期模型。</a:t>
            </a:r>
            <a:endParaRPr lang="zh-CN" altLang="zh-CN" sz="800" dirty="0"/>
          </a:p>
          <a:p>
            <a:endParaRPr lang="zh-CN" altLang="en-US" dirty="0"/>
          </a:p>
          <a:p>
            <a:endParaRPr lang="zh-CN"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8FF70CC-F378-4653-B9EB-1E874B122854}" type="slidenum">
              <a:rPr lang="en-US" altLang="zh-CN"/>
            </a:fld>
            <a:endParaRPr lang="en-US" altLang="zh-CN"/>
          </a:p>
        </p:txBody>
      </p:sp>
      <p:sp>
        <p:nvSpPr>
          <p:cNvPr id="63490" name="Rectangle 2"/>
          <p:cNvSpPr>
            <a:spLocks noGrp="1" noRot="1" noChangeAspect="1" noChangeArrowheads="1" noTextEdit="1"/>
          </p:cNvSpPr>
          <p:nvPr>
            <p:ph type="sldImg"/>
          </p:nvPr>
        </p:nvSpPr>
        <p:spPr>
          <a:xfrm>
            <a:off x="685800" y="1143000"/>
            <a:ext cx="5486400" cy="3086100"/>
          </a:xfrm>
        </p:spPr>
      </p:sp>
      <p:sp>
        <p:nvSpPr>
          <p:cNvPr id="63491" name="Rectangle 3"/>
          <p:cNvSpPr>
            <a:spLocks noGrp="1" noChangeArrowheads="1"/>
          </p:cNvSpPr>
          <p:nvPr>
            <p:ph type="body" idx="1"/>
          </p:nvPr>
        </p:nvSpPr>
        <p:spPr/>
        <p:txBody>
          <a:bodyPr/>
          <a:lstStyle/>
          <a:p>
            <a:pPr marL="228600" indent="-228600"/>
            <a:r>
              <a:rPr lang="zh-CN" altLang="en-US" b="1" dirty="0"/>
              <a:t>序列图的内容  </a:t>
            </a:r>
            <a:endParaRPr lang="zh-CN" altLang="en-US" b="1" dirty="0"/>
          </a:p>
          <a:p>
            <a:pPr marL="228600" indent="-228600"/>
            <a:r>
              <a:rPr lang="zh-CN" altLang="en-US" dirty="0"/>
              <a:t>在序列图中可以有对象和</a:t>
            </a:r>
            <a:r>
              <a:rPr lang="en-US" altLang="zh-CN" dirty="0"/>
              <a:t>actor</a:t>
            </a:r>
            <a:r>
              <a:rPr lang="zh-CN" altLang="en-US" dirty="0"/>
              <a:t>实例，以及说明它们如何交互的消息。序列图描述了在参与交互的对象中所发生的事件（从激活的角度来说明），以及这些对象如何通过相互发送消息进行通信。您可以为用例事件流的各种不同形式制作序列图。</a:t>
            </a:r>
            <a:endParaRPr lang="zh-CN" altLang="en-US" dirty="0"/>
          </a:p>
          <a:p>
            <a:pPr marL="228600" indent="-228600"/>
            <a:endParaRPr lang="zh-CN" altLang="en-US" b="1" dirty="0"/>
          </a:p>
          <a:p>
            <a:pPr marL="228600" indent="-228600"/>
            <a:r>
              <a:rPr lang="zh-CN" altLang="en-US" b="1" dirty="0"/>
              <a:t>什么时候使用</a:t>
            </a:r>
            <a:endParaRPr lang="zh-CN" altLang="en-US" b="1" dirty="0"/>
          </a:p>
          <a:p>
            <a:pPr marL="228600" indent="-228600"/>
            <a:r>
              <a:rPr lang="zh-CN" altLang="en-US" dirty="0"/>
              <a:t>在你要分析一个用例中多个对象的行为时，就应该使用交互图。它们很有效地表示对象之间的合作，但并不那么适用于精确定义行为。</a:t>
            </a:r>
            <a:endParaRPr lang="zh-CN" altLang="en-US" dirty="0"/>
          </a:p>
          <a:p>
            <a:pPr marL="228600" indent="-228600"/>
            <a:r>
              <a:rPr lang="zh-CN" altLang="en-US" dirty="0"/>
              <a:t>如果你想分析一个对象在多个用例中的行为，请使用状态转移图。如果你想分析交叉于多用例或多线程中的行为，考虑用活动图吧。</a:t>
            </a:r>
            <a:endParaRPr lang="zh-CN" altLang="en-US" dirty="0"/>
          </a:p>
          <a:p>
            <a:pPr marL="228600" indent="-228600"/>
            <a:endParaRPr lang="zh-CN" altLang="en-US" dirty="0"/>
          </a:p>
          <a:p>
            <a:pPr marL="228600" indent="-228600"/>
            <a:endParaRPr lang="en-US"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CE6583F-F84A-44FA-9766-D9F990F5BB91}" type="slidenum">
              <a:rPr lang="en-US" altLang="zh-CN"/>
            </a:fld>
            <a:endParaRPr lang="en-US" altLang="zh-CN"/>
          </a:p>
        </p:txBody>
      </p:sp>
      <p:sp>
        <p:nvSpPr>
          <p:cNvPr id="65538" name="Rectangle 2"/>
          <p:cNvSpPr>
            <a:spLocks noGrp="1" noRot="1" noChangeAspect="1" noChangeArrowheads="1" noTextEdit="1"/>
          </p:cNvSpPr>
          <p:nvPr>
            <p:ph type="sldImg"/>
          </p:nvPr>
        </p:nvSpPr>
        <p:spPr>
          <a:xfrm>
            <a:off x="685800" y="1143000"/>
            <a:ext cx="5486400" cy="3086100"/>
          </a:xfrm>
        </p:spPr>
      </p:sp>
      <p:sp>
        <p:nvSpPr>
          <p:cNvPr id="65539" name="Rectangle 3"/>
          <p:cNvSpPr>
            <a:spLocks noGrp="1" noChangeArrowheads="1"/>
          </p:cNvSpPr>
          <p:nvPr>
            <p:ph type="body" idx="1"/>
          </p:nvPr>
        </p:nvSpPr>
        <p:spPr/>
        <p:txBody>
          <a:bodyPr/>
          <a:lstStyle/>
          <a:p>
            <a:pPr marL="228600" indent="-228600"/>
            <a:endParaRPr lang="zh-CN" altLang="en-US" dirty="0"/>
          </a:p>
          <a:p>
            <a:pPr marL="228600" indent="-228600"/>
            <a:endParaRPr lang="en-US"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0BB9759-17F1-415A-B0F3-193321CD8E4A}" type="slidenum">
              <a:rPr lang="en-US" altLang="zh-CN"/>
            </a:fld>
            <a:endParaRPr lang="en-US" altLang="zh-CN"/>
          </a:p>
        </p:txBody>
      </p:sp>
      <p:sp>
        <p:nvSpPr>
          <p:cNvPr id="67586" name="Rectangle 2"/>
          <p:cNvSpPr>
            <a:spLocks noGrp="1" noRot="1" noChangeAspect="1" noChangeArrowheads="1" noTextEdit="1"/>
          </p:cNvSpPr>
          <p:nvPr>
            <p:ph type="sldImg"/>
          </p:nvPr>
        </p:nvSpPr>
        <p:spPr>
          <a:xfrm>
            <a:off x="685800" y="1143000"/>
            <a:ext cx="5486400" cy="3086100"/>
          </a:xfrm>
        </p:spPr>
      </p:sp>
      <p:sp>
        <p:nvSpPr>
          <p:cNvPr id="675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6550831-A869-4B7F-9F4A-09CCB2CC050F}" type="slidenum">
              <a:rPr lang="en-US" altLang="zh-CN"/>
            </a:fld>
            <a:endParaRPr lang="en-US" altLang="zh-CN"/>
          </a:p>
        </p:txBody>
      </p:sp>
      <p:sp>
        <p:nvSpPr>
          <p:cNvPr id="69634" name="Rectangle 2"/>
          <p:cNvSpPr>
            <a:spLocks noGrp="1" noRot="1" noChangeAspect="1" noChangeArrowheads="1" noTextEdit="1"/>
          </p:cNvSpPr>
          <p:nvPr>
            <p:ph type="sldImg"/>
          </p:nvPr>
        </p:nvSpPr>
        <p:spPr>
          <a:xfrm>
            <a:off x="685800" y="1143000"/>
            <a:ext cx="5486400" cy="3086100"/>
          </a:xfrm>
        </p:spPr>
      </p:sp>
      <p:sp>
        <p:nvSpPr>
          <p:cNvPr id="69635" name="Rectangle 3"/>
          <p:cNvSpPr>
            <a:spLocks noGrp="1" noChangeArrowheads="1"/>
          </p:cNvSpPr>
          <p:nvPr>
            <p:ph type="body" idx="1"/>
          </p:nvPr>
        </p:nvSpPr>
        <p:spPr/>
        <p:txBody>
          <a:bodyPr/>
          <a:lstStyle/>
          <a:p>
            <a:r>
              <a:rPr lang="zh-CN" altLang="en-US" dirty="0"/>
              <a:t>包含一组对象和以消息交换为纽带的关联，用于描述系统的行为是如何由系统的成分合作实现的。</a:t>
            </a:r>
            <a:endParaRPr lang="zh-CN" altLang="en-US" dirty="0"/>
          </a:p>
          <a:p>
            <a:endParaRPr lang="en-US" alt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6CCD81D-0F69-4C0B-BE9C-C3872A104FEF}" type="slidenum">
              <a:rPr lang="en-US" altLang="zh-CN"/>
            </a:fld>
            <a:endParaRPr lang="en-US" altLang="zh-CN"/>
          </a:p>
        </p:txBody>
      </p:sp>
      <p:sp>
        <p:nvSpPr>
          <p:cNvPr id="71682" name="Rectangle 2"/>
          <p:cNvSpPr>
            <a:spLocks noGrp="1" noRot="1" noChangeAspect="1" noChangeArrowheads="1" noTextEdit="1"/>
          </p:cNvSpPr>
          <p:nvPr>
            <p:ph type="sldImg"/>
          </p:nvPr>
        </p:nvSpPr>
        <p:spPr>
          <a:xfrm>
            <a:off x="685800" y="1143000"/>
            <a:ext cx="5486400" cy="3086100"/>
          </a:xfrm>
        </p:spPr>
      </p:sp>
      <p:sp>
        <p:nvSpPr>
          <p:cNvPr id="71683" name="Rectangle 3"/>
          <p:cNvSpPr>
            <a:spLocks noGrp="1" noChangeArrowheads="1"/>
          </p:cNvSpPr>
          <p:nvPr>
            <p:ph type="body" idx="1"/>
          </p:nvPr>
        </p:nvSpPr>
        <p:spPr/>
        <p:txBody>
          <a:bodyPr/>
          <a:lstStyle/>
          <a:p>
            <a:pPr marL="228600" indent="-228600"/>
            <a:r>
              <a:rPr lang="zh-CN" altLang="en-US" dirty="0"/>
              <a:t>协同图的建立步骤</a:t>
            </a:r>
            <a:endParaRPr lang="zh-CN" altLang="en-US" dirty="0"/>
          </a:p>
          <a:p>
            <a:pPr marL="228600" indent="-228600">
              <a:buFontTx/>
              <a:buAutoNum type="arabicPeriod"/>
            </a:pPr>
            <a:r>
              <a:rPr lang="zh-CN" altLang="en-US" dirty="0"/>
              <a:t>确定交互的上下文。</a:t>
            </a:r>
            <a:endParaRPr lang="zh-CN" altLang="en-US" dirty="0"/>
          </a:p>
          <a:p>
            <a:pPr marL="228600" indent="-228600">
              <a:buFontTx/>
              <a:buAutoNum type="arabicPeriod"/>
            </a:pPr>
            <a:r>
              <a:rPr lang="zh-CN" altLang="en-US" dirty="0"/>
              <a:t>找出参与交互的对象角色，把他们作为图形的节点安置在协同图中。</a:t>
            </a:r>
            <a:endParaRPr lang="zh-CN" altLang="en-US" dirty="0"/>
          </a:p>
          <a:p>
            <a:pPr marL="228600" indent="-228600">
              <a:buFontTx/>
              <a:buAutoNum type="arabicPeriod"/>
            </a:pPr>
            <a:r>
              <a:rPr lang="zh-CN" altLang="en-US" dirty="0"/>
              <a:t>设置对象的初始性质。</a:t>
            </a:r>
            <a:endParaRPr lang="zh-CN" altLang="en-US" dirty="0"/>
          </a:p>
          <a:p>
            <a:pPr marL="228600" indent="-228600">
              <a:buFontTx/>
              <a:buAutoNum type="arabicPeriod"/>
            </a:pPr>
            <a:r>
              <a:rPr lang="zh-CN" altLang="en-US" dirty="0"/>
              <a:t>说明对象之间的链接，首先给出对象之间的关联链接，然后给出其他链接。</a:t>
            </a:r>
            <a:endParaRPr lang="zh-CN" altLang="en-US" dirty="0"/>
          </a:p>
          <a:p>
            <a:pPr marL="228600" indent="-228600">
              <a:buFontTx/>
              <a:buAutoNum type="arabicPeriod"/>
            </a:pPr>
            <a:r>
              <a:rPr lang="zh-CN" altLang="en-US" dirty="0"/>
              <a:t>从初始化交互的消息开始，在链接上安置相应消息。给出消息序号。注意用箭头的形势区别同步消息和异步消息。根据协作图是属于说明曾换是属于实例层，给出消息标签的内容，以及必要的构造型约束。</a:t>
            </a:r>
            <a:endParaRPr lang="zh-CN" altLang="en-US" dirty="0"/>
          </a:p>
          <a:p>
            <a:pPr marL="228600" indent="-228600">
              <a:buFontTx/>
              <a:buAutoNum type="arabicPeriod"/>
            </a:pPr>
            <a:r>
              <a:rPr lang="zh-CN" altLang="en-US" dirty="0"/>
              <a:t>处理一些特殊情况，如循环、自调用、回调、多对象等。</a:t>
            </a:r>
            <a:endParaRPr lang="zh-CN" altLang="en-US" dirty="0"/>
          </a:p>
          <a:p>
            <a:pPr marL="228600" indent="-228600">
              <a:buFontTx/>
              <a:buAutoNum type="arabicPeriod"/>
            </a:pPr>
            <a:endParaRPr lang="en-US"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CF51543-9431-4973-B77D-6BD21E90271E}" type="slidenum">
              <a:rPr lang="en-US" altLang="zh-CN"/>
            </a:fld>
            <a:endParaRPr lang="en-US" altLang="zh-CN"/>
          </a:p>
        </p:txBody>
      </p:sp>
      <p:sp>
        <p:nvSpPr>
          <p:cNvPr id="77826" name="Rectangle 2"/>
          <p:cNvSpPr>
            <a:spLocks noGrp="1" noRot="1" noChangeAspect="1" noChangeArrowheads="1" noTextEdit="1"/>
          </p:cNvSpPr>
          <p:nvPr>
            <p:ph type="sldImg"/>
          </p:nvPr>
        </p:nvSpPr>
        <p:spPr>
          <a:xfrm>
            <a:off x="685800" y="1143000"/>
            <a:ext cx="5486400" cy="3086100"/>
          </a:xfrm>
        </p:spPr>
      </p:sp>
      <p:sp>
        <p:nvSpPr>
          <p:cNvPr id="77827" name="Rectangle 3"/>
          <p:cNvSpPr>
            <a:spLocks noGrp="1" noChangeArrowheads="1"/>
          </p:cNvSpPr>
          <p:nvPr>
            <p:ph type="body" idx="1"/>
          </p:nvPr>
        </p:nvSpPr>
        <p:spPr/>
        <p:txBody>
          <a:bodyPr/>
          <a:lstStyle/>
          <a:p>
            <a:r>
              <a:rPr lang="zh-CN" altLang="en-US" dirty="0"/>
              <a:t>构件又叫组件，可以代表从类到应用、系统中的任何事物，组件可以是一组接口、可以有实例。组件有配置组件、执行组件和工作产品组件三大类。</a:t>
            </a:r>
            <a:endParaRPr lang="en-US" altLang="zh-CN" dirty="0"/>
          </a:p>
          <a:p>
            <a:endParaRPr lang="en-US" altLang="zh-CN" dirty="0"/>
          </a:p>
          <a:p>
            <a:pPr>
              <a:lnSpc>
                <a:spcPct val="150000"/>
              </a:lnSpc>
            </a:pPr>
            <a:r>
              <a:rPr lang="zh-CN" altLang="zh-CN" sz="800" b="1" dirty="0">
                <a:solidFill>
                  <a:srgbClr val="0000FF"/>
                </a:solidFill>
              </a:rPr>
              <a:t>组件图</a:t>
            </a:r>
            <a:r>
              <a:rPr lang="zh-CN" altLang="zh-CN" sz="800" dirty="0"/>
              <a:t>根据系统的代码组件显示系统代码的物理结构。其中的组件可以是源代码组件、二进制组件或者可执行组件。</a:t>
            </a:r>
            <a:endParaRPr lang="en-US" altLang="zh-CN" sz="800" dirty="0"/>
          </a:p>
          <a:p>
            <a:pPr>
              <a:lnSpc>
                <a:spcPct val="150000"/>
              </a:lnSpc>
            </a:pPr>
            <a:r>
              <a:rPr lang="zh-CN" altLang="zh-CN" sz="800" dirty="0"/>
              <a:t>组件包含了其实现的一个或多个逻辑类信息，因此也就创建了从逻辑视图到组件视图的映射。</a:t>
            </a:r>
            <a:endParaRPr lang="en-US" altLang="zh-CN" sz="800" dirty="0"/>
          </a:p>
          <a:p>
            <a:pPr>
              <a:lnSpc>
                <a:spcPct val="150000"/>
              </a:lnSpc>
            </a:pPr>
            <a:r>
              <a:rPr lang="zh-CN" altLang="zh-CN" sz="800" dirty="0"/>
              <a:t>根据组件视图中组件之间的关系，可以轻易地看出当某一个组件发生变化时，哪些组件会受到影响。</a:t>
            </a:r>
            <a:endParaRPr lang="zh-CN" altLang="zh-CN" sz="800" dirty="0"/>
          </a:p>
          <a:p>
            <a:endParaRPr lang="zh-CN"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4F60ED4-DCC2-4E4A-99A7-ED11AD30AFE6}" type="slidenum">
              <a:rPr lang="en-US" altLang="zh-CN"/>
            </a:fld>
            <a:endParaRPr lang="en-US" altLang="zh-CN"/>
          </a:p>
        </p:txBody>
      </p:sp>
      <p:sp>
        <p:nvSpPr>
          <p:cNvPr id="79874" name="Rectangle 2"/>
          <p:cNvSpPr>
            <a:spLocks noGrp="1" noRot="1" noChangeAspect="1" noChangeArrowheads="1" noTextEdit="1"/>
          </p:cNvSpPr>
          <p:nvPr>
            <p:ph type="sldImg"/>
          </p:nvPr>
        </p:nvSpPr>
        <p:spPr>
          <a:xfrm>
            <a:off x="685800" y="1143000"/>
            <a:ext cx="5486400" cy="3086100"/>
          </a:xfrm>
        </p:spPr>
      </p:sp>
      <p:sp>
        <p:nvSpPr>
          <p:cNvPr id="798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Rectangle 6"/>
          <p:cNvSpPr/>
          <p:nvPr userDrawn="1"/>
        </p:nvSpPr>
        <p:spPr>
          <a:xfrm>
            <a:off x="0" y="-1"/>
            <a:ext cx="9144000" cy="34290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3720103"/>
            <a:ext cx="5829300" cy="1097280"/>
          </a:xfrm>
        </p:spPr>
        <p:txBody>
          <a:bodyPr anchor="ctr">
            <a:normAutofit/>
          </a:bodyPr>
          <a:lstStyle>
            <a:lvl1pPr algn="r">
              <a:defRPr sz="3750" spc="150" baseline="0"/>
            </a:lvl1pPr>
          </a:lstStyle>
          <a:p>
            <a:r>
              <a:rPr lang="zh-CN" altLang="en-US" dirty="0"/>
              <a:t>单击此处编辑母版标题样式</a:t>
            </a:r>
            <a:endParaRPr lang="en-US" dirty="0"/>
          </a:p>
        </p:txBody>
      </p:sp>
      <p:sp>
        <p:nvSpPr>
          <p:cNvPr id="3" name="Subtitle 2"/>
          <p:cNvSpPr>
            <a:spLocks noGrp="1"/>
          </p:cNvSpPr>
          <p:nvPr>
            <p:ph type="subTitle" idx="1" hasCustomPrompt="1"/>
          </p:nvPr>
        </p:nvSpPr>
        <p:spPr>
          <a:xfrm>
            <a:off x="6457950" y="3720103"/>
            <a:ext cx="2400300" cy="1097280"/>
          </a:xfrm>
        </p:spPr>
        <p:txBody>
          <a:bodyPr lIns="91440" rIns="91440" anchor="ctr">
            <a:normAutofit/>
          </a:bodyPr>
          <a:lstStyle>
            <a:lvl1pPr marL="0" indent="0" algn="l">
              <a:lnSpc>
                <a:spcPct val="100000"/>
              </a:lnSpc>
              <a:spcBef>
                <a:spcPts val="0"/>
              </a:spcBef>
              <a:buNone/>
              <a:defRPr sz="1350">
                <a:solidFill>
                  <a:schemeClr val="tx1">
                    <a:lumMod val="90000"/>
                    <a:lumOff val="10000"/>
                  </a:schemeClr>
                </a:solidFill>
              </a:defRPr>
            </a:lvl1pPr>
            <a:lvl2pPr marL="342900" indent="0" algn="ctr">
              <a:buNone/>
              <a:defRPr sz="1350"/>
            </a:lvl2pPr>
            <a:lvl3pPr marL="685800" indent="0" algn="ctr">
              <a:buNone/>
              <a:defRPr sz="1350"/>
            </a:lvl3pPr>
            <a:lvl4pPr marL="1028700" indent="0" algn="ctr">
              <a:buNone/>
              <a:defRPr sz="1350"/>
            </a:lvl4pPr>
            <a:lvl5pPr marL="1371600" indent="0" algn="ctr">
              <a:buNone/>
              <a:defRPr sz="1350"/>
            </a:lvl5pPr>
            <a:lvl6pPr marL="1714500" indent="0" algn="ctr">
              <a:buNone/>
              <a:defRPr sz="1350"/>
            </a:lvl6pPr>
            <a:lvl7pPr marL="2057400" indent="0" algn="ctr">
              <a:buNone/>
              <a:defRPr sz="1350"/>
            </a:lvl7pPr>
            <a:lvl8pPr marL="2400300" indent="0" algn="ctr">
              <a:buNone/>
              <a:defRPr sz="1350"/>
            </a:lvl8pPr>
            <a:lvl9pPr marL="2743200" indent="0" algn="ctr">
              <a:buNone/>
              <a:defRPr sz="1350"/>
            </a:lvl9pPr>
          </a:lstStyle>
          <a:p>
            <a:r>
              <a:rPr lang="zh-CN" altLang="en-US" dirty="0"/>
              <a:t>单击以编辑母版副标题样式</a:t>
            </a:r>
            <a:endParaRPr lang="en-US" dirty="0"/>
          </a:p>
        </p:txBody>
      </p:sp>
      <p:sp>
        <p:nvSpPr>
          <p:cNvPr id="4" name="Date Placeholder 3"/>
          <p:cNvSpPr>
            <a:spLocks noGrp="1"/>
          </p:cNvSpPr>
          <p:nvPr>
            <p:ph type="dt" sz="half" idx="10"/>
          </p:nvPr>
        </p:nvSpPr>
        <p:spPr/>
        <p:txBody>
          <a:bodyPr/>
          <a:lstStyle>
            <a:lvl1pPr algn="ctr">
              <a:defRPr sz="1600">
                <a:latin typeface="+mn-lt"/>
              </a:defRPr>
            </a:lvl1pPr>
          </a:lstStyle>
          <a:p>
            <a:fld id="{60FB8FB2-9769-4F22-8580-D43F76E3F213}" type="datetime1">
              <a:rPr lang="zh-CN" altLang="en-US" smtClean="0"/>
            </a:fld>
            <a:endParaRPr lang="zh-CN" altLang="en-US" dirty="0"/>
          </a:p>
        </p:txBody>
      </p:sp>
      <p:sp>
        <p:nvSpPr>
          <p:cNvPr id="5" name="Footer Placeholder 4"/>
          <p:cNvSpPr>
            <a:spLocks noGrp="1"/>
          </p:cNvSpPr>
          <p:nvPr>
            <p:ph type="ftr" sz="quarter" idx="11"/>
          </p:nvPr>
        </p:nvSpPr>
        <p:spPr>
          <a:xfrm>
            <a:off x="2298032" y="4853028"/>
            <a:ext cx="5760261" cy="205740"/>
          </a:xfrm>
        </p:spPr>
        <p:txBody>
          <a:bodyPr/>
          <a:lstStyle>
            <a:lvl1pPr algn="ctr">
              <a:defRPr sz="1600">
                <a:latin typeface="+mn-lt"/>
              </a:defRPr>
            </a:lvl1pPr>
          </a:lstStyle>
          <a:p>
            <a:r>
              <a:rPr lang="zh-CN" altLang="en-US"/>
              <a:t>软件工程</a:t>
            </a:r>
            <a:endParaRPr lang="zh-CN" altLang="en-US" dirty="0"/>
          </a:p>
        </p:txBody>
      </p:sp>
      <p:sp>
        <p:nvSpPr>
          <p:cNvPr id="6" name="Slide Number Placeholder 5"/>
          <p:cNvSpPr>
            <a:spLocks noGrp="1"/>
          </p:cNvSpPr>
          <p:nvPr>
            <p:ph type="sldNum" sz="quarter" idx="12"/>
          </p:nvPr>
        </p:nvSpPr>
        <p:spPr/>
        <p:txBody>
          <a:bodyPr/>
          <a:lstStyle>
            <a:lvl1pPr algn="ctr">
              <a:defRPr sz="1600">
                <a:latin typeface="+mn-lt"/>
              </a:defRPr>
            </a:lvl1pPr>
          </a:lstStyle>
          <a:p>
            <a:fld id="{F528F39D-B5E5-4CA7-906C-979D5A62978D}" type="slidenum">
              <a:rPr lang="zh-CN" altLang="en-US" smtClean="0"/>
            </a:fld>
            <a:endParaRPr lang="zh-CN" altLang="en-US"/>
          </a:p>
        </p:txBody>
      </p:sp>
      <p:cxnSp>
        <p:nvCxnSpPr>
          <p:cNvPr id="8" name="Straight Connector 7"/>
          <p:cNvCxnSpPr/>
          <p:nvPr/>
        </p:nvCxnSpPr>
        <p:spPr>
          <a:xfrm flipV="1">
            <a:off x="6290132" y="3948080"/>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42900" y="114820"/>
            <a:ext cx="692368" cy="69236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hasCustomPrompt="1"/>
          </p:nvPr>
        </p:nvSpPr>
        <p:spPr/>
        <p:txBody>
          <a:bodyPr/>
          <a:lstStyle>
            <a:lvl3pPr marL="1080135" indent="-288290">
              <a:buFont typeface="Wingdings 3" panose="05040102010807070707" pitchFamily="18" charset="2"/>
              <a:buChar char=""/>
              <a:defRPr/>
            </a:lvl3pPr>
            <a:lvl4pPr marL="1259840" indent="-288290">
              <a:buFont typeface="Wingdings 3" panose="05040102010807070707" pitchFamily="18" charset="2"/>
              <a:buChar char=""/>
              <a:defRPr/>
            </a:lvl4pPr>
            <a:lvl5pPr marL="1440180" indent="-288290">
              <a:buFont typeface="Wingdings 3" panose="05040102010807070707" pitchFamily="18" charset="2"/>
              <a:buChar char=""/>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p:txBody>
          <a:bodyPr/>
          <a:lstStyle>
            <a:lvl1pPr algn="ctr">
              <a:defRPr sz="1600" b="0">
                <a:solidFill>
                  <a:schemeClr val="bg1"/>
                </a:solidFill>
                <a:latin typeface="+mn-lt"/>
              </a:defRPr>
            </a:lvl1pPr>
          </a:lstStyle>
          <a:p>
            <a:fld id="{D7326FFE-7CCA-4C0D-B453-625569992FBB}" type="datetime1">
              <a:rPr lang="zh-CN" altLang="en-US" smtClean="0"/>
            </a:fld>
            <a:endParaRPr lang="zh-CN" altLang="en-US" dirty="0"/>
          </a:p>
        </p:txBody>
      </p:sp>
      <p:sp>
        <p:nvSpPr>
          <p:cNvPr id="5" name="Footer Placeholder 4"/>
          <p:cNvSpPr>
            <a:spLocks noGrp="1"/>
          </p:cNvSpPr>
          <p:nvPr>
            <p:ph type="ftr" sz="quarter" idx="11"/>
          </p:nvPr>
        </p:nvSpPr>
        <p:spPr>
          <a:xfrm>
            <a:off x="2383703" y="4853028"/>
            <a:ext cx="5674590" cy="205740"/>
          </a:xfrm>
        </p:spPr>
        <p:txBody>
          <a:bodyPr/>
          <a:lstStyle>
            <a:lvl1pPr algn="ctr">
              <a:defRPr sz="1600" b="0">
                <a:solidFill>
                  <a:schemeClr val="bg1"/>
                </a:solidFill>
                <a:latin typeface="+mn-lt"/>
              </a:defRPr>
            </a:lvl1pPr>
          </a:lstStyle>
          <a:p>
            <a:r>
              <a:rPr lang="zh-CN" altLang="en-US" dirty="0"/>
              <a:t>软件工程</a:t>
            </a:r>
            <a:endParaRPr lang="zh-CN" altLang="en-US" dirty="0"/>
          </a:p>
        </p:txBody>
      </p:sp>
      <p:sp>
        <p:nvSpPr>
          <p:cNvPr id="6" name="Slide Number Placeholder 5"/>
          <p:cNvSpPr>
            <a:spLocks noGrp="1"/>
          </p:cNvSpPr>
          <p:nvPr>
            <p:ph type="sldNum" sz="quarter" idx="12"/>
          </p:nvPr>
        </p:nvSpPr>
        <p:spPr/>
        <p:txBody>
          <a:bodyPr/>
          <a:lstStyle>
            <a:lvl1pPr algn="ctr">
              <a:defRPr sz="1600" b="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095958" y="-12032"/>
            <a:ext cx="7882609" cy="860498"/>
          </a:xfrm>
        </p:spPr>
        <p:txBody>
          <a:bodyPr/>
          <a:lstStyle/>
          <a:p>
            <a:r>
              <a:rPr lang="zh-CN" altLang="en-US" dirty="0"/>
              <a:t>单击此处编辑母版标题样式</a:t>
            </a:r>
            <a:endParaRPr lang="en-US" dirty="0"/>
          </a:p>
        </p:txBody>
      </p:sp>
      <p:sp>
        <p:nvSpPr>
          <p:cNvPr id="3" name="Content Placeholder 2"/>
          <p:cNvSpPr>
            <a:spLocks noGrp="1"/>
          </p:cNvSpPr>
          <p:nvPr>
            <p:ph sz="half" idx="1" hasCustomPrompt="1"/>
          </p:nvPr>
        </p:nvSpPr>
        <p:spPr>
          <a:xfrm>
            <a:off x="768096" y="969475"/>
            <a:ext cx="3566160" cy="3762546"/>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Content Placeholder 3"/>
          <p:cNvSpPr>
            <a:spLocks noGrp="1"/>
          </p:cNvSpPr>
          <p:nvPr>
            <p:ph sz="half" idx="2" hasCustomPrompt="1"/>
          </p:nvPr>
        </p:nvSpPr>
        <p:spPr>
          <a:xfrm>
            <a:off x="4491990" y="969473"/>
            <a:ext cx="3566160" cy="3762547"/>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5" name="Date Placeholder 4"/>
          <p:cNvSpPr>
            <a:spLocks noGrp="1"/>
          </p:cNvSpPr>
          <p:nvPr>
            <p:ph type="dt" sz="half" idx="10"/>
          </p:nvPr>
        </p:nvSpPr>
        <p:spPr/>
        <p:txBody>
          <a:bodyPr/>
          <a:lstStyle>
            <a:lvl1pPr algn="ctr">
              <a:defRPr sz="1600">
                <a:solidFill>
                  <a:schemeClr val="bg1"/>
                </a:solidFill>
                <a:latin typeface="+mn-lt"/>
              </a:defRPr>
            </a:lvl1pPr>
          </a:lstStyle>
          <a:p>
            <a:fld id="{B74AB904-11F0-40D2-A521-063F99E152E4}" type="datetime1">
              <a:rPr lang="zh-CN" altLang="en-US" smtClean="0"/>
            </a:fld>
            <a:endParaRPr lang="zh-CN" altLang="en-US" dirty="0"/>
          </a:p>
        </p:txBody>
      </p:sp>
      <p:sp>
        <p:nvSpPr>
          <p:cNvPr id="6" name="Footer Placeholder 5"/>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7" name="Slide Number Placeholder 6"/>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80918" y="0"/>
            <a:ext cx="7290054" cy="848467"/>
          </a:xfrm>
        </p:spPr>
        <p:txBody>
          <a:bodyPr/>
          <a:lstStyle/>
          <a:p>
            <a:r>
              <a:rPr lang="zh-CN" altLang="en-US" dirty="0"/>
              <a:t>单击此处编辑母版标题样式</a:t>
            </a:r>
            <a:endParaRPr lang="en-US" dirty="0"/>
          </a:p>
        </p:txBody>
      </p:sp>
      <p:sp>
        <p:nvSpPr>
          <p:cNvPr id="3" name="Text Placeholder 2"/>
          <p:cNvSpPr>
            <a:spLocks noGrp="1"/>
          </p:cNvSpPr>
          <p:nvPr>
            <p:ph type="body" idx="1" hasCustomPrompt="1"/>
          </p:nvPr>
        </p:nvSpPr>
        <p:spPr>
          <a:xfrm>
            <a:off x="768096" y="993491"/>
            <a:ext cx="3566160" cy="617220"/>
          </a:xfrm>
        </p:spPr>
        <p:txBody>
          <a:bodyPr lIns="137160" rIns="137160" anchor="ctr">
            <a:normAutofit/>
          </a:bodyPr>
          <a:lstStyle>
            <a:lvl1pPr marL="0" indent="0">
              <a:spcBef>
                <a:spcPts val="0"/>
              </a:spcBef>
              <a:spcAft>
                <a:spcPts val="0"/>
              </a:spcAft>
              <a:buNone/>
              <a:defRPr sz="1725" b="0" cap="none" baseline="0">
                <a:solidFill>
                  <a:schemeClr val="accent2">
                    <a:lumMod val="75000"/>
                  </a:schemeClr>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768096"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4491990" y="993491"/>
            <a:ext cx="3566160" cy="617220"/>
          </a:xfrm>
        </p:spPr>
        <p:txBody>
          <a:bodyPr lIns="137160" rIns="137160" anchor="ctr">
            <a:normAutofit/>
          </a:bodyPr>
          <a:lstStyle>
            <a:lvl1pPr marL="0" indent="0">
              <a:spcBef>
                <a:spcPts val="0"/>
              </a:spcBef>
              <a:spcAft>
                <a:spcPts val="0"/>
              </a:spcAft>
              <a:buNone/>
              <a:defRPr lang="en-US" sz="1725" b="0" kern="1200" cap="none" baseline="0" dirty="0">
                <a:solidFill>
                  <a:schemeClr val="accent2">
                    <a:lumMod val="75000"/>
                  </a:schemeClr>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350"/>
              </a:spcBef>
              <a:buNone/>
            </a:pPr>
            <a:r>
              <a:rPr lang="zh-CN" altLang="en-US"/>
              <a:t>编辑母版文本样式</a:t>
            </a:r>
            <a:endParaRPr lang="zh-CN" altLang="en-US"/>
          </a:p>
        </p:txBody>
      </p:sp>
      <p:sp>
        <p:nvSpPr>
          <p:cNvPr id="6" name="Content Placeholder 5"/>
          <p:cNvSpPr>
            <a:spLocks noGrp="1"/>
          </p:cNvSpPr>
          <p:nvPr>
            <p:ph sz="quarter" idx="4" hasCustomPrompt="1"/>
          </p:nvPr>
        </p:nvSpPr>
        <p:spPr>
          <a:xfrm>
            <a:off x="4491990"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lvl1pPr algn="ctr">
              <a:defRPr sz="1600">
                <a:solidFill>
                  <a:schemeClr val="bg1"/>
                </a:solidFill>
                <a:latin typeface="+mn-lt"/>
              </a:defRPr>
            </a:lvl1pPr>
          </a:lstStyle>
          <a:p>
            <a:fld id="{0529599E-9530-48C5-9CAF-172E1B800D9B}" type="datetime1">
              <a:rPr lang="zh-CN" altLang="en-US" smtClean="0"/>
            </a:fld>
            <a:endParaRPr lang="zh-CN" altLang="en-US"/>
          </a:p>
        </p:txBody>
      </p:sp>
      <p:sp>
        <p:nvSpPr>
          <p:cNvPr id="8" name="Footer Placeholder 7"/>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9" name="Slide Number Placeholder 8"/>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algn="ctr">
              <a:defRPr sz="1600">
                <a:solidFill>
                  <a:schemeClr val="bg1"/>
                </a:solidFill>
                <a:latin typeface="+mn-lt"/>
              </a:defRPr>
            </a:lvl1pPr>
          </a:lstStyle>
          <a:p>
            <a:fld id="{5902FD77-8323-485D-87E2-91A0E9C84954}" type="datetime1">
              <a:rPr lang="zh-CN" altLang="en-US" smtClean="0"/>
            </a:fld>
            <a:endParaRPr lang="zh-CN" altLang="en-US"/>
          </a:p>
        </p:txBody>
      </p:sp>
      <p:sp>
        <p:nvSpPr>
          <p:cNvPr id="4" name="Footer Placeholder 3"/>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5" name="Slide Number Placeholder 4"/>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hasCustomPrompt="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F8EDE902-01B3-453F-A2EE-45228A659E9E}" type="datetime1">
              <a:rPr lang="zh-CN" altLang="en-US" smtClean="0"/>
            </a:fld>
            <a:endParaRPr lang="zh-CN" altLang="en-US"/>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1_节标题">
    <p:spTree>
      <p:nvGrpSpPr>
        <p:cNvPr id="1" name=""/>
        <p:cNvGrpSpPr/>
        <p:nvPr/>
      </p:nvGrpSpPr>
      <p:grpSpPr>
        <a:xfrm>
          <a:off x="0" y="0"/>
          <a:ext cx="0" cy="0"/>
          <a:chOff x="0" y="0"/>
          <a:chExt cx="0" cy="0"/>
        </a:xfrm>
      </p:grpSpPr>
      <p:sp>
        <p:nvSpPr>
          <p:cNvPr id="2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DAEA8122-0D78-4844-A578-3876484268E6}"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dirty="0"/>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8342" y="-14837"/>
            <a:ext cx="692368" cy="692368"/>
          </a:xfrm>
          <a:prstGeom prst="rect">
            <a:avLst/>
          </a:prstGeom>
        </p:spPr>
      </p:pic>
      <p:cxnSp>
        <p:nvCxnSpPr>
          <p:cNvPr id="9" name="Straight Connector 6"/>
          <p:cNvCxnSpPr/>
          <p:nvPr userDrawn="1"/>
        </p:nvCxnSpPr>
        <p:spPr>
          <a:xfrm flipV="1">
            <a:off x="574526" y="677531"/>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4223189" y="780125"/>
            <a:ext cx="0" cy="386756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3" name="椭圆 22"/>
          <p:cNvSpPr/>
          <p:nvPr userDrawn="1"/>
        </p:nvSpPr>
        <p:spPr>
          <a:xfrm>
            <a:off x="835829" y="1395230"/>
            <a:ext cx="1992037" cy="1992037"/>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MH_Others_1"/>
          <p:cNvSpPr txBox="1"/>
          <p:nvPr userDrawn="1">
            <p:custDataLst>
              <p:tags r:id="rId3"/>
            </p:custDataLst>
          </p:nvPr>
        </p:nvSpPr>
        <p:spPr>
          <a:xfrm>
            <a:off x="1448688" y="1467661"/>
            <a:ext cx="1286564" cy="1847174"/>
          </a:xfrm>
          <a:prstGeom prst="rect">
            <a:avLst/>
          </a:prstGeom>
          <a:noFill/>
        </p:spPr>
        <p:txBody>
          <a:bodyPr wrap="square" lIns="0" tIns="0" rIns="0" bIns="0" rtlCol="0" anchor="ctr" anchorCtr="0">
            <a:noAutofit/>
          </a:bodyPr>
          <a:lstStyle/>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目</a:t>
            </a:r>
            <a:endParaRPr lang="en-US" altLang="zh-CN"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录</a:t>
            </a:r>
            <a:endPar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25" name="MH_Others_2"/>
          <p:cNvSpPr txBox="1"/>
          <p:nvPr userDrawn="1">
            <p:custDataLst>
              <p:tags r:id="rId4"/>
            </p:custDataLst>
          </p:nvPr>
        </p:nvSpPr>
        <p:spPr>
          <a:xfrm rot="5400000">
            <a:off x="589962" y="2191193"/>
            <a:ext cx="1932333" cy="400110"/>
          </a:xfrm>
          <a:prstGeom prst="rect">
            <a:avLst/>
          </a:prstGeom>
          <a:noFill/>
        </p:spPr>
        <p:txBody>
          <a:bodyPr wrap="square">
            <a:spAutoFit/>
          </a:bodyPr>
          <a:lstStyle/>
          <a:p>
            <a:pPr algn="ctr">
              <a:defRPr/>
            </a:pPr>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userDrawn="1"/>
        </p:nvSpPr>
        <p:spPr>
          <a:xfrm>
            <a:off x="0" y="1342074"/>
            <a:ext cx="9144000" cy="38014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标题 1"/>
          <p:cNvSpPr>
            <a:spLocks noGrp="1"/>
          </p:cNvSpPr>
          <p:nvPr>
            <p:ph type="title" hasCustomPrompt="1"/>
          </p:nvPr>
        </p:nvSpPr>
        <p:spPr>
          <a:xfrm>
            <a:off x="952609" y="385011"/>
            <a:ext cx="7886700" cy="935851"/>
          </a:xfrm>
        </p:spPr>
        <p:txBody>
          <a:bodyPr anchor="b">
            <a:normAutofit/>
          </a:bodyPr>
          <a:lstStyle>
            <a:lvl1pPr>
              <a:defRPr sz="4000">
                <a:solidFill>
                  <a:schemeClr val="tx2"/>
                </a:solidFill>
              </a:defRPr>
            </a:lvl1pPr>
          </a:lstStyle>
          <a:p>
            <a:r>
              <a:rPr lang="zh-CN" altLang="en-US" dirty="0"/>
              <a:t>编辑母版标</a:t>
            </a:r>
            <a:endParaRPr lang="zh-CN" altLang="en-US" dirty="0"/>
          </a:p>
        </p:txBody>
      </p:sp>
      <p:sp>
        <p:nvSpPr>
          <p:cNvPr id="3" name="文本占位符 2"/>
          <p:cNvSpPr>
            <a:spLocks noGrp="1"/>
          </p:cNvSpPr>
          <p:nvPr>
            <p:ph type="body" idx="1" hasCustomPrompt="1"/>
          </p:nvPr>
        </p:nvSpPr>
        <p:spPr>
          <a:xfrm>
            <a:off x="768096" y="1506009"/>
            <a:ext cx="7886700" cy="3090054"/>
          </a:xfrm>
        </p:spPr>
        <p:txBody>
          <a:bodyPr>
            <a:normAutofit/>
          </a:bodyPr>
          <a:lstStyle>
            <a:lvl1pPr marL="0" indent="0">
              <a:lnSpc>
                <a:spcPct val="120000"/>
              </a:lnSpc>
              <a:spcBef>
                <a:spcPts val="1200"/>
              </a:spcBef>
              <a:spcAft>
                <a:spcPts val="0"/>
              </a:spcAft>
              <a:buNone/>
              <a:defRPr sz="2800" b="0">
                <a:solidFill>
                  <a:schemeClr val="bg1"/>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endParaRPr lang="zh-CN" altLang="en-US" dirty="0"/>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FE1C514A-AFAF-433D-949D-3F3495E7683C}"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60241" y="17062"/>
            <a:ext cx="692368" cy="692368"/>
          </a:xfrm>
          <a:prstGeom prst="rect">
            <a:avLst/>
          </a:prstGeom>
        </p:spPr>
      </p:pic>
      <p:cxnSp>
        <p:nvCxnSpPr>
          <p:cNvPr id="9" name="Straight Connector 6"/>
          <p:cNvCxnSpPr/>
          <p:nvPr userDrawn="1"/>
        </p:nvCxnSpPr>
        <p:spPr>
          <a:xfrm flipV="1">
            <a:off x="606425" y="649706"/>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lgn="ctr">
              <a:defRPr sz="1600">
                <a:solidFill>
                  <a:schemeClr val="bg1"/>
                </a:solidFill>
                <a:latin typeface="+mn-lt"/>
              </a:defRPr>
            </a:lvl1pPr>
          </a:lstStyle>
          <a:p>
            <a:fld id="{9865EC83-5FAA-4FE9-BB65-5544193D6B0B}" type="datetime1">
              <a:rPr lang="zh-CN" altLang="en-US" smtClean="0"/>
            </a:fld>
            <a:endParaRPr lang="zh-CN" altLang="en-US"/>
          </a:p>
        </p:txBody>
      </p:sp>
      <p:sp>
        <p:nvSpPr>
          <p:cNvPr id="3" name="页脚占位符 2"/>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120" name="文本框 119"/>
          <p:cNvSpPr txBox="1"/>
          <p:nvPr userDrawn="1"/>
        </p:nvSpPr>
        <p:spPr>
          <a:xfrm>
            <a:off x="4264202" y="2007508"/>
            <a:ext cx="4241369" cy="1223412"/>
          </a:xfrm>
          <a:prstGeom prst="rect">
            <a:avLst/>
          </a:prstGeom>
          <a:noFill/>
        </p:spPr>
        <p:txBody>
          <a:bodyPr wrap="square" rtlCol="0" anchor="ct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lvl="0">
              <a:defRPr sz="11500" spc="50">
                <a:ln w="11430"/>
                <a:solidFill>
                  <a:srgbClr val="008EE6"/>
                </a:solidFill>
                <a:effectLst>
                  <a:outerShdw blurRad="38100" dist="38100" dir="2700000" algn="tl">
                    <a:srgbClr val="000000">
                      <a:alpha val="43137"/>
                    </a:srgbClr>
                  </a:outerShdw>
                </a:effectLst>
                <a:latin typeface="华康俪金黑W8(P)" pitchFamily="34" charset="-122"/>
                <a:ea typeface="华康俪金黑W8(P)" pitchFamily="34" charset="-122"/>
                <a:cs typeface="经典繁仿黑" pitchFamily="49" charset="-122"/>
              </a:defRPr>
            </a:lvl1pPr>
          </a:lstStyle>
          <a:p>
            <a:pPr lvl="0"/>
            <a:r>
              <a:rPr lang="zh-CN" altLang="en-US" sz="7350" dirty="0">
                <a:solidFill>
                  <a:schemeClr val="tx1">
                    <a:lumMod val="65000"/>
                    <a:lumOff val="35000"/>
                  </a:schemeClr>
                </a:solidFill>
              </a:rPr>
              <a:t>谢谢聆听</a:t>
            </a:r>
            <a:endParaRPr lang="en-US" altLang="zh-CN" sz="7350" dirty="0">
              <a:solidFill>
                <a:schemeClr val="tx1">
                  <a:lumMod val="65000"/>
                  <a:lumOff val="35000"/>
                </a:schemeClr>
              </a:solidFill>
            </a:endParaRPr>
          </a:p>
        </p:txBody>
      </p:sp>
      <p:grpSp>
        <p:nvGrpSpPr>
          <p:cNvPr id="4" name="组合 3"/>
          <p:cNvGrpSpPr/>
          <p:nvPr userDrawn="1"/>
        </p:nvGrpSpPr>
        <p:grpSpPr>
          <a:xfrm>
            <a:off x="833860" y="1704155"/>
            <a:ext cx="3193793" cy="2085294"/>
            <a:chOff x="705272" y="1639861"/>
            <a:chExt cx="3193793" cy="2085294"/>
          </a:xfrm>
        </p:grpSpPr>
        <p:grpSp>
          <p:nvGrpSpPr>
            <p:cNvPr id="2" name="组合 1"/>
            <p:cNvGrpSpPr/>
            <p:nvPr userDrawn="1"/>
          </p:nvGrpSpPr>
          <p:grpSpPr>
            <a:xfrm>
              <a:off x="705272" y="1639861"/>
              <a:ext cx="3193793" cy="2085294"/>
              <a:chOff x="721633" y="1980294"/>
              <a:chExt cx="3233738" cy="2111375"/>
            </a:xfrm>
          </p:grpSpPr>
          <p:sp>
            <p:nvSpPr>
              <p:cNvPr id="9" name="Freeform 148"/>
              <p:cNvSpPr/>
              <p:nvPr userDrawn="1"/>
            </p:nvSpPr>
            <p:spPr bwMode="auto">
              <a:xfrm>
                <a:off x="721633" y="1980294"/>
                <a:ext cx="3233738" cy="2111375"/>
              </a:xfrm>
              <a:custGeom>
                <a:avLst/>
                <a:gdLst>
                  <a:gd name="T0" fmla="*/ 778 w 861"/>
                  <a:gd name="T1" fmla="*/ 437 h 562"/>
                  <a:gd name="T2" fmla="*/ 778 w 861"/>
                  <a:gd name="T3" fmla="*/ 21 h 562"/>
                  <a:gd name="T4" fmla="*/ 756 w 861"/>
                  <a:gd name="T5" fmla="*/ 0 h 562"/>
                  <a:gd name="T6" fmla="*/ 105 w 861"/>
                  <a:gd name="T7" fmla="*/ 0 h 562"/>
                  <a:gd name="T8" fmla="*/ 84 w 861"/>
                  <a:gd name="T9" fmla="*/ 21 h 562"/>
                  <a:gd name="T10" fmla="*/ 84 w 861"/>
                  <a:gd name="T11" fmla="*/ 436 h 562"/>
                  <a:gd name="T12" fmla="*/ 0 w 861"/>
                  <a:gd name="T13" fmla="*/ 530 h 562"/>
                  <a:gd name="T14" fmla="*/ 24 w 861"/>
                  <a:gd name="T15" fmla="*/ 562 h 562"/>
                  <a:gd name="T16" fmla="*/ 838 w 861"/>
                  <a:gd name="T17" fmla="*/ 562 h 562"/>
                  <a:gd name="T18" fmla="*/ 861 w 861"/>
                  <a:gd name="T19" fmla="*/ 530 h 562"/>
                  <a:gd name="T20" fmla="*/ 778 w 861"/>
                  <a:gd name="T21" fmla="*/ 437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61" h="562">
                    <a:moveTo>
                      <a:pt x="778" y="437"/>
                    </a:moveTo>
                    <a:cubicBezTo>
                      <a:pt x="778" y="21"/>
                      <a:pt x="778" y="21"/>
                      <a:pt x="778" y="21"/>
                    </a:cubicBezTo>
                    <a:cubicBezTo>
                      <a:pt x="778" y="9"/>
                      <a:pt x="768" y="0"/>
                      <a:pt x="756" y="0"/>
                    </a:cubicBezTo>
                    <a:cubicBezTo>
                      <a:pt x="105" y="0"/>
                      <a:pt x="105" y="0"/>
                      <a:pt x="105" y="0"/>
                    </a:cubicBezTo>
                    <a:cubicBezTo>
                      <a:pt x="93" y="0"/>
                      <a:pt x="84" y="9"/>
                      <a:pt x="84" y="21"/>
                    </a:cubicBezTo>
                    <a:cubicBezTo>
                      <a:pt x="84" y="436"/>
                      <a:pt x="84" y="436"/>
                      <a:pt x="84" y="436"/>
                    </a:cubicBezTo>
                    <a:cubicBezTo>
                      <a:pt x="0" y="530"/>
                      <a:pt x="0" y="530"/>
                      <a:pt x="0" y="530"/>
                    </a:cubicBezTo>
                    <a:cubicBezTo>
                      <a:pt x="0" y="543"/>
                      <a:pt x="11" y="562"/>
                      <a:pt x="24" y="562"/>
                    </a:cubicBezTo>
                    <a:cubicBezTo>
                      <a:pt x="838" y="562"/>
                      <a:pt x="838" y="562"/>
                      <a:pt x="838" y="562"/>
                    </a:cubicBezTo>
                    <a:cubicBezTo>
                      <a:pt x="851" y="562"/>
                      <a:pt x="861" y="543"/>
                      <a:pt x="861" y="530"/>
                    </a:cubicBezTo>
                    <a:lnTo>
                      <a:pt x="778" y="437"/>
                    </a:lnTo>
                    <a:close/>
                  </a:path>
                </a:pathLst>
              </a:custGeom>
              <a:solidFill>
                <a:srgbClr val="68686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0" name="Rectangle 149"/>
              <p:cNvSpPr>
                <a:spLocks noChangeArrowheads="1"/>
              </p:cNvSpPr>
              <p:nvPr userDrawn="1"/>
            </p:nvSpPr>
            <p:spPr bwMode="auto">
              <a:xfrm>
                <a:off x="1169308" y="2115231"/>
                <a:ext cx="2343150" cy="1404938"/>
              </a:xfrm>
              <a:prstGeom prst="rect">
                <a:avLst/>
              </a:prstGeom>
              <a:solidFill>
                <a:srgbClr val="F9F3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1" name="Freeform 150"/>
              <p:cNvSpPr/>
              <p:nvPr userDrawn="1"/>
            </p:nvSpPr>
            <p:spPr bwMode="auto">
              <a:xfrm>
                <a:off x="2118633" y="3975781"/>
                <a:ext cx="439738" cy="74613"/>
              </a:xfrm>
              <a:custGeom>
                <a:avLst/>
                <a:gdLst>
                  <a:gd name="T0" fmla="*/ 0 w 117"/>
                  <a:gd name="T1" fmla="*/ 0 h 20"/>
                  <a:gd name="T2" fmla="*/ 0 w 117"/>
                  <a:gd name="T3" fmla="*/ 0 h 20"/>
                  <a:gd name="T4" fmla="*/ 14 w 117"/>
                  <a:gd name="T5" fmla="*/ 20 h 20"/>
                  <a:gd name="T6" fmla="*/ 104 w 117"/>
                  <a:gd name="T7" fmla="*/ 20 h 20"/>
                  <a:gd name="T8" fmla="*/ 117 w 117"/>
                  <a:gd name="T9" fmla="*/ 0 h 20"/>
                  <a:gd name="T10" fmla="*/ 117 w 117"/>
                  <a:gd name="T11" fmla="*/ 0 h 20"/>
                  <a:gd name="T12" fmla="*/ 0 w 1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17" h="20">
                    <a:moveTo>
                      <a:pt x="0" y="0"/>
                    </a:moveTo>
                    <a:cubicBezTo>
                      <a:pt x="0" y="0"/>
                      <a:pt x="0" y="0"/>
                      <a:pt x="0" y="0"/>
                    </a:cubicBezTo>
                    <a:cubicBezTo>
                      <a:pt x="0" y="7"/>
                      <a:pt x="6" y="20"/>
                      <a:pt x="14" y="20"/>
                    </a:cubicBezTo>
                    <a:cubicBezTo>
                      <a:pt x="104" y="20"/>
                      <a:pt x="104" y="20"/>
                      <a:pt x="104" y="20"/>
                    </a:cubicBezTo>
                    <a:cubicBezTo>
                      <a:pt x="111" y="20"/>
                      <a:pt x="117" y="7"/>
                      <a:pt x="117" y="0"/>
                    </a:cubicBezTo>
                    <a:cubicBezTo>
                      <a:pt x="117" y="0"/>
                      <a:pt x="117" y="0"/>
                      <a:pt x="117" y="0"/>
                    </a:cubicBezTo>
                    <a:lnTo>
                      <a:pt x="0" y="0"/>
                    </a:lnTo>
                    <a:close/>
                  </a:path>
                </a:pathLst>
              </a:custGeom>
              <a:solidFill>
                <a:srgbClr val="F9F3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sp>
          <p:nvSpPr>
            <p:cNvPr id="108" name="矩形 107"/>
            <p:cNvSpPr/>
            <p:nvPr userDrawn="1"/>
          </p:nvSpPr>
          <p:spPr>
            <a:xfrm>
              <a:off x="2091447" y="2022227"/>
              <a:ext cx="1325371" cy="369332"/>
            </a:xfrm>
            <a:prstGeom prst="rect">
              <a:avLst/>
            </a:prstGeom>
          </p:spPr>
          <p:txBody>
            <a:bodyPr wrap="square">
              <a:spAutoFit/>
            </a:bodyPr>
            <a:lstStyle/>
            <a:p>
              <a:pPr algn="l">
                <a:lnSpc>
                  <a:spcPct val="120000"/>
                </a:lnSpc>
              </a:pPr>
              <a:r>
                <a:rPr lang="en-US" altLang="zh-CN" sz="1500" kern="1200" dirty="0">
                  <a:solidFill>
                    <a:schemeClr val="tx1">
                      <a:lumMod val="65000"/>
                      <a:lumOff val="35000"/>
                    </a:schemeClr>
                  </a:solidFill>
                  <a:latin typeface="+mj-ea"/>
                  <a:ea typeface="+mj-ea"/>
                  <a:cs typeface="+mn-cs"/>
                </a:rPr>
                <a:t>Thank You</a:t>
              </a:r>
              <a:r>
                <a:rPr lang="zh-CN" altLang="en-US" sz="1500" kern="1200" dirty="0">
                  <a:solidFill>
                    <a:schemeClr val="tx1">
                      <a:lumMod val="65000"/>
                      <a:lumOff val="35000"/>
                    </a:schemeClr>
                  </a:solidFill>
                  <a:latin typeface="+mj-ea"/>
                  <a:ea typeface="+mj-ea"/>
                  <a:cs typeface="+mn-cs"/>
                </a:rPr>
                <a:t>！</a:t>
              </a:r>
              <a:endParaRPr lang="zh-CN" altLang="en-US" sz="1500" kern="1200" dirty="0">
                <a:solidFill>
                  <a:schemeClr val="tx1">
                    <a:lumMod val="65000"/>
                    <a:lumOff val="35000"/>
                  </a:schemeClr>
                </a:solidFill>
                <a:latin typeface="+mj-ea"/>
                <a:ea typeface="+mj-ea"/>
                <a:cs typeface="+mn-cs"/>
              </a:endParaRPr>
            </a:p>
          </p:txBody>
        </p:sp>
        <p:grpSp>
          <p:nvGrpSpPr>
            <p:cNvPr id="114" name="组合 113"/>
            <p:cNvGrpSpPr/>
            <p:nvPr userDrawn="1"/>
          </p:nvGrpSpPr>
          <p:grpSpPr>
            <a:xfrm>
              <a:off x="2160453" y="2672657"/>
              <a:ext cx="1134000" cy="48600"/>
              <a:chOff x="0" y="4978400"/>
              <a:chExt cx="11157019" cy="406400"/>
            </a:xfrm>
          </p:grpSpPr>
          <p:sp>
            <p:nvSpPr>
              <p:cNvPr id="115" name="矩形 114"/>
              <p:cNvSpPr/>
              <p:nvPr userDrawn="1"/>
            </p:nvSpPr>
            <p:spPr>
              <a:xfrm>
                <a:off x="0" y="4978400"/>
                <a:ext cx="2788596" cy="406400"/>
              </a:xfrm>
              <a:prstGeom prst="rect">
                <a:avLst/>
              </a:prstGeom>
              <a:solidFill>
                <a:srgbClr val="9EC4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6" name="矩形 115"/>
              <p:cNvSpPr/>
              <p:nvPr userDrawn="1"/>
            </p:nvSpPr>
            <p:spPr>
              <a:xfrm>
                <a:off x="2788596" y="4978400"/>
                <a:ext cx="2788596" cy="406400"/>
              </a:xfrm>
              <a:prstGeom prst="rect">
                <a:avLst/>
              </a:prstGeom>
              <a:solidFill>
                <a:srgbClr val="CA0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7" name="矩形 116"/>
              <p:cNvSpPr/>
              <p:nvPr userDrawn="1"/>
            </p:nvSpPr>
            <p:spPr>
              <a:xfrm>
                <a:off x="5577192" y="4978400"/>
                <a:ext cx="2788596" cy="406400"/>
              </a:xfrm>
              <a:prstGeom prst="rect">
                <a:avLst/>
              </a:prstGeom>
              <a:solidFill>
                <a:srgbClr val="FF8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8" name="矩形 117"/>
              <p:cNvSpPr/>
              <p:nvPr userDrawn="1"/>
            </p:nvSpPr>
            <p:spPr>
              <a:xfrm>
                <a:off x="8368423" y="4978400"/>
                <a:ext cx="2788596" cy="406400"/>
              </a:xfrm>
              <a:prstGeom prst="rect">
                <a:avLst/>
              </a:prstGeom>
              <a:solidFill>
                <a:srgbClr val="008E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grpSp>
        <p:pic>
          <p:nvPicPr>
            <p:cNvPr id="110" name="Picture 2"/>
            <p:cNvPicPr>
              <a:picLocks noChangeAspect="1" noChangeArrowheads="1"/>
            </p:cNvPicPr>
            <p:nvPr userDrawn="1"/>
          </p:nvPicPr>
          <p:blipFill>
            <a:blip r:embed="rId2" cstate="print">
              <a:clrChange>
                <a:clrFrom>
                  <a:srgbClr val="FFFFFF"/>
                </a:clrFrom>
                <a:clrTo>
                  <a:srgbClr val="FFFFFF">
                    <a:alpha val="0"/>
                  </a:srgbClr>
                </a:clrTo>
              </a:clrChange>
              <a:extLst>
                <a:ext uri="{BEBA8EAE-BF5A-486C-A8C5-ECC9F3942E4B}">
                  <a14:imgProps xmlns:a14="http://schemas.microsoft.com/office/drawing/2010/main">
                    <a14:imgLayer r:embed="rId3">
                      <a14:imgEffect>
                        <a14:colorTemperature colorTemp="4700"/>
                      </a14:imgEffect>
                      <a14:imgEffect>
                        <a14:saturation sat="0"/>
                      </a14:imgEffect>
                    </a14:imgLayer>
                  </a14:imgProps>
                </a:ext>
              </a:extLst>
            </a:blip>
            <a:srcRect/>
            <a:stretch>
              <a:fillRect/>
            </a:stretch>
          </p:blipFill>
          <p:spPr bwMode="auto">
            <a:xfrm>
              <a:off x="1367669" y="2007508"/>
              <a:ext cx="675000" cy="675000"/>
            </a:xfrm>
            <a:prstGeom prst="rect">
              <a:avLst/>
            </a:prstGeom>
            <a:noFill/>
            <a:ln w="9525">
              <a:noFill/>
              <a:miter lim="800000"/>
              <a:headEnd/>
              <a:tailEnd/>
            </a:ln>
            <a:effectLst/>
          </p:spPr>
        </p:pic>
      </p:grpSp>
      <p:sp>
        <p:nvSpPr>
          <p:cNvPr id="20" name="日期占位符 3"/>
          <p:cNvSpPr>
            <a:spLocks noGrp="1"/>
          </p:cNvSpPr>
          <p:nvPr>
            <p:ph type="dt" sz="half" idx="10"/>
          </p:nvPr>
        </p:nvSpPr>
        <p:spPr>
          <a:xfrm>
            <a:off x="768096" y="4853028"/>
            <a:ext cx="1615607" cy="205740"/>
          </a:xfrm>
        </p:spPr>
        <p:txBody>
          <a:bodyPr/>
          <a:lstStyle>
            <a:lvl1pPr algn="ctr">
              <a:defRPr sz="1600">
                <a:solidFill>
                  <a:schemeClr val="bg1"/>
                </a:solidFill>
                <a:latin typeface="+mn-lt"/>
              </a:defRPr>
            </a:lvl1pPr>
          </a:lstStyle>
          <a:p>
            <a:fld id="{8F98B0E8-48B0-47D3-A6C8-7E041360F69C}" type="datetime1">
              <a:rPr lang="zh-CN" altLang="en-US" smtClean="0"/>
            </a:fld>
            <a:endParaRPr lang="zh-CN" altLang="en-US" dirty="0"/>
          </a:p>
        </p:txBody>
      </p:sp>
      <p:sp>
        <p:nvSpPr>
          <p:cNvPr id="21"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22" name="灯片编号占位符 5"/>
          <p:cNvSpPr>
            <a:spLocks noGrp="1"/>
          </p:cNvSpPr>
          <p:nvPr>
            <p:ph type="sldNum" sz="quarter" idx="12"/>
          </p:nvPr>
        </p:nvSpPr>
        <p:spPr>
          <a:xfrm>
            <a:off x="8128000" y="4853028"/>
            <a:ext cx="730250" cy="205740"/>
          </a:xfrm>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transition>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6727032" y="4805958"/>
            <a:ext cx="1920240" cy="274320"/>
          </a:xfrm>
          <a:prstGeom prst="rect">
            <a:avLst/>
          </a:prstGeom>
        </p:spPr>
        <p:txBody>
          <a:bodyPr/>
          <a:lstStyle>
            <a:lvl1pPr>
              <a:defRPr sz="1050"/>
            </a:lvl1pPr>
          </a:lstStyle>
          <a:p>
            <a:fld id="{7C38504B-1AF3-4156-B61A-8DB24BEED060}" type="datetime1">
              <a:rPr lang="zh-CN" altLang="en-US" smtClean="0"/>
            </a:fld>
            <a:endParaRPr lang="zh-CN" altLang="en-US" dirty="0"/>
          </a:p>
        </p:txBody>
      </p:sp>
      <p:sp>
        <p:nvSpPr>
          <p:cNvPr id="5" name="页脚占位符 4"/>
          <p:cNvSpPr>
            <a:spLocks noGrp="1"/>
          </p:cNvSpPr>
          <p:nvPr>
            <p:ph type="ftr" sz="quarter" idx="11"/>
          </p:nvPr>
        </p:nvSpPr>
        <p:spPr>
          <a:xfrm>
            <a:off x="4380074" y="4805960"/>
            <a:ext cx="2350681" cy="273844"/>
          </a:xfrm>
          <a:prstGeom prst="rect">
            <a:avLst/>
          </a:prstGeom>
        </p:spPr>
        <p:txBody>
          <a:bodyPr/>
          <a:lstStyle>
            <a:lvl1pPr>
              <a:defRPr sz="1050"/>
            </a:lvl1pPr>
          </a:lstStyle>
          <a:p>
            <a:r>
              <a:rPr lang="zh-CN" altLang="en-US"/>
              <a:t>软件工程</a:t>
            </a:r>
            <a:endParaRPr lang="zh-CN" altLang="en-US" dirty="0"/>
          </a:p>
        </p:txBody>
      </p:sp>
      <p:sp>
        <p:nvSpPr>
          <p:cNvPr id="6" name="灯片编号占位符 5"/>
          <p:cNvSpPr>
            <a:spLocks noGrp="1"/>
          </p:cNvSpPr>
          <p:nvPr>
            <p:ph type="sldNum" sz="quarter" idx="12"/>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
        <p:nvSpPr>
          <p:cNvPr id="7" name="标题占位符"/>
          <p:cNvSpPr>
            <a:spLocks noGrp="1"/>
          </p:cNvSpPr>
          <p:nvPr>
            <p:ph type="body" sz="quarter" idx="13" hasCustomPrompt="1"/>
          </p:nvPr>
        </p:nvSpPr>
        <p:spPr>
          <a:xfrm>
            <a:off x="1052622" y="159755"/>
            <a:ext cx="6275277" cy="415498"/>
          </a:xfrm>
          <a:prstGeom prst="rect">
            <a:avLst/>
          </a:prstGeom>
        </p:spPr>
        <p:txBody>
          <a:bodyPr wrap="square" anchor="ctr">
            <a:spAutoFit/>
          </a:bodyPr>
          <a:lstStyle>
            <a:lvl1pPr marL="0" indent="0" algn="l">
              <a:lnSpc>
                <a:spcPct val="100000"/>
              </a:lnSpc>
              <a:buFontTx/>
              <a:buNone/>
              <a:defRPr lang="zh-CN" altLang="en-US" sz="2100" b="1" spc="169"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tmplLst>
          <p:tmpl lvl="0">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750"/>
                        <p:tgtEl>
                          <p:spTgt spid="7"/>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8" name="矩形"/>
          <p:cNvSpPr/>
          <p:nvPr/>
        </p:nvSpPr>
        <p:spPr>
          <a:xfrm>
            <a:off x="-3743" y="80319"/>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9" name="矩形"/>
          <p:cNvSpPr/>
          <p:nvPr/>
        </p:nvSpPr>
        <p:spPr>
          <a:xfrm>
            <a:off x="2284129" y="80319"/>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6" name="矩形"/>
          <p:cNvSpPr/>
          <p:nvPr userDrawn="1"/>
        </p:nvSpPr>
        <p:spPr>
          <a:xfrm>
            <a:off x="110557" y="309456"/>
            <a:ext cx="235878" cy="246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3" name="标题占位符"/>
          <p:cNvSpPr>
            <a:spLocks noGrp="1"/>
          </p:cNvSpPr>
          <p:nvPr>
            <p:ph type="body" sz="quarter" idx="10" hasCustomPrompt="1"/>
          </p:nvPr>
        </p:nvSpPr>
        <p:spPr>
          <a:xfrm>
            <a:off x="429992" y="234449"/>
            <a:ext cx="6897908" cy="415498"/>
          </a:xfrm>
          <a:prstGeom prst="rect">
            <a:avLst/>
          </a:prstGeom>
        </p:spPr>
        <p:txBody>
          <a:bodyPr wrap="square" anchor="ctr">
            <a:spAutoFit/>
          </a:bodyPr>
          <a:lstStyle>
            <a:lvl1pPr marL="0" indent="0" algn="l">
              <a:lnSpc>
                <a:spcPct val="100000"/>
              </a:lnSpc>
              <a:buFontTx/>
              <a:buNone/>
              <a:defRPr lang="zh-CN" altLang="en-US" sz="2100" b="1" spc="225"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
        <p:nvSpPr>
          <p:cNvPr id="4" name="文本占位符 3"/>
          <p:cNvSpPr>
            <a:spLocks noGrp="1"/>
          </p:cNvSpPr>
          <p:nvPr>
            <p:ph type="body" sz="quarter" idx="11"/>
          </p:nvPr>
        </p:nvSpPr>
        <p:spPr>
          <a:xfrm>
            <a:off x="627064" y="1009651"/>
            <a:ext cx="7615237" cy="3545681"/>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12"/>
          </p:nvPr>
        </p:nvSpPr>
        <p:spPr>
          <a:xfrm>
            <a:off x="6727032" y="4805958"/>
            <a:ext cx="1920240" cy="274320"/>
          </a:xfrm>
          <a:prstGeom prst="rect">
            <a:avLst/>
          </a:prstGeom>
        </p:spPr>
        <p:txBody>
          <a:bodyPr/>
          <a:lstStyle>
            <a:lvl1pPr>
              <a:defRPr sz="1200"/>
            </a:lvl1pPr>
          </a:lstStyle>
          <a:p>
            <a:endParaRPr lang="zh-CN" altLang="en-US"/>
          </a:p>
        </p:txBody>
      </p:sp>
      <p:sp>
        <p:nvSpPr>
          <p:cNvPr id="10" name="页脚占位符 4"/>
          <p:cNvSpPr>
            <a:spLocks noGrp="1"/>
          </p:cNvSpPr>
          <p:nvPr>
            <p:ph type="ftr" sz="quarter" idx="13"/>
          </p:nvPr>
        </p:nvSpPr>
        <p:spPr>
          <a:xfrm>
            <a:off x="4380074" y="4805960"/>
            <a:ext cx="2350681" cy="273844"/>
          </a:xfrm>
          <a:prstGeom prst="rect">
            <a:avLst/>
          </a:prstGeom>
        </p:spPr>
        <p:txBody>
          <a:bodyPr/>
          <a:lstStyle>
            <a:lvl1pPr>
              <a:defRPr sz="1200"/>
            </a:lvl1pPr>
          </a:lstStyle>
          <a:p>
            <a:endParaRPr lang="zh-CN" altLang="en-US" dirty="0"/>
          </a:p>
        </p:txBody>
      </p:sp>
      <p:sp>
        <p:nvSpPr>
          <p:cNvPr id="11" name="灯片编号占位符 5"/>
          <p:cNvSpPr>
            <a:spLocks noGrp="1"/>
          </p:cNvSpPr>
          <p:nvPr>
            <p:ph type="sldNum" sz="quarter" idx="14"/>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P spid="3" grpId="0">
        <p:tmplLst>
          <p:tmpl lvl="0">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750"/>
                        <p:tgtEl>
                          <p:spTgt spid="3"/>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2" name="矩形 1"/>
          <p:cNvSpPr/>
          <p:nvPr userDrawn="1"/>
        </p:nvSpPr>
        <p:spPr>
          <a:xfrm>
            <a:off x="1" y="17062"/>
            <a:ext cx="9144000" cy="7910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8342" y="17062"/>
            <a:ext cx="692368" cy="692368"/>
          </a:xfrm>
          <a:prstGeom prst="rect">
            <a:avLst/>
          </a:prstGeom>
        </p:spPr>
      </p:pic>
      <p:cxnSp>
        <p:nvCxnSpPr>
          <p:cNvPr id="13" name="Straight Connector 6"/>
          <p:cNvCxnSpPr>
            <a:endCxn id="12" idx="2"/>
          </p:cNvCxnSpPr>
          <p:nvPr userDrawn="1"/>
        </p:nvCxnSpPr>
        <p:spPr>
          <a:xfrm flipV="1">
            <a:off x="574526" y="709430"/>
            <a:ext cx="0" cy="626076"/>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矩形 13"/>
          <p:cNvSpPr/>
          <p:nvPr userDrawn="1"/>
        </p:nvSpPr>
        <p:spPr>
          <a:xfrm>
            <a:off x="1" y="4260998"/>
            <a:ext cx="9144000" cy="7977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日期占位符 3"/>
          <p:cNvSpPr>
            <a:spLocks noGrp="1"/>
          </p:cNvSpPr>
          <p:nvPr>
            <p:ph type="dt" sz="half" idx="10"/>
          </p:nvPr>
        </p:nvSpPr>
        <p:spPr>
          <a:xfrm>
            <a:off x="768096" y="4853028"/>
            <a:ext cx="1615607" cy="205740"/>
          </a:xfrm>
        </p:spPr>
        <p:txBody>
          <a:bodyPr/>
          <a:lstStyle>
            <a:lvl1pPr algn="ctr">
              <a:defRPr sz="1600">
                <a:solidFill>
                  <a:schemeClr val="tx1"/>
                </a:solidFill>
                <a:latin typeface="+mn-lt"/>
              </a:defRPr>
            </a:lvl1pPr>
          </a:lstStyle>
          <a:p>
            <a:fld id="{92E2F84B-4848-478B-8326-21232E0720EA}" type="datetime1">
              <a:rPr lang="zh-CN" altLang="en-US" smtClean="0"/>
            </a:fld>
            <a:endParaRPr lang="zh-CN" altLang="en-US" dirty="0"/>
          </a:p>
        </p:txBody>
      </p:sp>
      <p:sp>
        <p:nvSpPr>
          <p:cNvPr id="16" name="页脚占位符 4"/>
          <p:cNvSpPr>
            <a:spLocks noGrp="1"/>
          </p:cNvSpPr>
          <p:nvPr>
            <p:ph type="ftr" sz="quarter" idx="11"/>
          </p:nvPr>
        </p:nvSpPr>
        <p:spPr>
          <a:xfrm>
            <a:off x="2383703" y="4853028"/>
            <a:ext cx="5674590" cy="205740"/>
          </a:xfrm>
        </p:spPr>
        <p:txBody>
          <a:bodyPr/>
          <a:lstStyle>
            <a:lvl1pPr algn="ctr">
              <a:defRPr sz="1600">
                <a:solidFill>
                  <a:schemeClr val="tx1"/>
                </a:solidFill>
                <a:latin typeface="+mn-lt"/>
              </a:defRPr>
            </a:lvl1pPr>
          </a:lstStyle>
          <a:p>
            <a:r>
              <a:rPr lang="zh-CN" altLang="en-US" smtClean="0"/>
              <a:t>软件工程</a:t>
            </a:r>
            <a:endParaRPr lang="zh-CN" altLang="en-US" dirty="0"/>
          </a:p>
        </p:txBody>
      </p:sp>
      <p:sp>
        <p:nvSpPr>
          <p:cNvPr id="17" name="灯片编号占位符 5"/>
          <p:cNvSpPr>
            <a:spLocks noGrp="1"/>
          </p:cNvSpPr>
          <p:nvPr>
            <p:ph type="sldNum" sz="quarter" idx="12"/>
          </p:nvPr>
        </p:nvSpPr>
        <p:spPr>
          <a:xfrm>
            <a:off x="8128000" y="4853028"/>
            <a:ext cx="730250" cy="205740"/>
          </a:xfrm>
        </p:spPr>
        <p:txBody>
          <a:bodyPr/>
          <a:lstStyle>
            <a:lvl1pPr algn="ctr">
              <a:defRPr sz="1600">
                <a:solidFill>
                  <a:schemeClr val="tx1"/>
                </a:solidFill>
                <a:latin typeface="+mn-lt"/>
              </a:defRPr>
            </a:lvl1pPr>
          </a:lstStyle>
          <a:p>
            <a:fld id="{233B410F-ED3A-420F-9009-9AC68EA6698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68097" y="925167"/>
            <a:ext cx="7832833" cy="3806854"/>
          </a:xfrm>
          <a:prstGeom prst="rect">
            <a:avLst/>
          </a:prstGeom>
        </p:spPr>
        <p:txBody>
          <a:bodyPr vert="horz" lIns="45720" tIns="45720" rIns="4572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Date Placeholder 3"/>
          <p:cNvSpPr>
            <a:spLocks noGrp="1"/>
          </p:cNvSpPr>
          <p:nvPr>
            <p:ph type="dt" sz="half" idx="2"/>
          </p:nvPr>
        </p:nvSpPr>
        <p:spPr>
          <a:xfrm>
            <a:off x="768096" y="4853028"/>
            <a:ext cx="1615607"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4F2F4983-3602-4E3E-983A-EBA4353A8448}" type="datetime1">
              <a:rPr lang="zh-CN" altLang="en-US" smtClean="0"/>
            </a:fld>
            <a:endParaRPr lang="zh-CN" altLang="en-US"/>
          </a:p>
        </p:txBody>
      </p:sp>
      <p:sp>
        <p:nvSpPr>
          <p:cNvPr id="5" name="Footer Placeholder 4"/>
          <p:cNvSpPr>
            <a:spLocks noGrp="1"/>
          </p:cNvSpPr>
          <p:nvPr>
            <p:ph type="ftr" sz="quarter" idx="3"/>
          </p:nvPr>
        </p:nvSpPr>
        <p:spPr>
          <a:xfrm>
            <a:off x="3632199" y="4853028"/>
            <a:ext cx="4426094" cy="205740"/>
          </a:xfrm>
          <a:prstGeom prst="rect">
            <a:avLst/>
          </a:prstGeom>
        </p:spPr>
        <p:txBody>
          <a:bodyPr vert="horz" lIns="91440" tIns="45720" rIns="91440" bIns="45720" rtlCol="0" anchor="ctr"/>
          <a:lstStyle>
            <a:lvl1pPr algn="r">
              <a:defRPr sz="750" cap="all" baseline="0">
                <a:solidFill>
                  <a:schemeClr val="tx1">
                    <a:lumMod val="90000"/>
                    <a:lumOff val="10000"/>
                  </a:schemeClr>
                </a:solidFill>
                <a:latin typeface="+mj-lt"/>
              </a:defRPr>
            </a:lvl1pPr>
          </a:lstStyle>
          <a:p>
            <a:r>
              <a:rPr lang="zh-CN" altLang="en-US"/>
              <a:t>软件工程</a:t>
            </a:r>
            <a:endParaRPr lang="zh-CN" altLang="en-US"/>
          </a:p>
        </p:txBody>
      </p:sp>
      <p:sp>
        <p:nvSpPr>
          <p:cNvPr id="6" name="Slide Number Placeholder 5"/>
          <p:cNvSpPr>
            <a:spLocks noGrp="1"/>
          </p:cNvSpPr>
          <p:nvPr>
            <p:ph type="sldNum" sz="quarter" idx="4"/>
          </p:nvPr>
        </p:nvSpPr>
        <p:spPr>
          <a:xfrm>
            <a:off x="8128000" y="4853028"/>
            <a:ext cx="730250"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F528F39D-B5E5-4CA7-906C-979D5A62978D}" type="slidenum">
              <a:rPr lang="zh-CN" altLang="en-US" smtClean="0"/>
            </a:fld>
            <a:endParaRPr lang="zh-CN" altLang="en-US"/>
          </a:p>
        </p:txBody>
      </p:sp>
      <p:cxnSp>
        <p:nvCxnSpPr>
          <p:cNvPr id="7" name="Straight Connector 6"/>
          <p:cNvCxnSpPr/>
          <p:nvPr/>
        </p:nvCxnSpPr>
        <p:spPr>
          <a:xfrm flipV="1">
            <a:off x="571500" y="61974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图片 9"/>
          <p:cNvPicPr>
            <a:picLocks noChangeAspect="1"/>
          </p:cNvPicPr>
          <p:nvPr userDrawn="1"/>
        </p:nvPicPr>
        <p:blipFill>
          <a:blip r:embed="rId1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316" y="-9943"/>
            <a:ext cx="692368" cy="692368"/>
          </a:xfrm>
          <a:prstGeom prst="rect">
            <a:avLst/>
          </a:prstGeom>
        </p:spPr>
      </p:pic>
      <p:sp>
        <p:nvSpPr>
          <p:cNvPr id="2" name="Title Placeholder 1"/>
          <p:cNvSpPr>
            <a:spLocks noGrp="1"/>
          </p:cNvSpPr>
          <p:nvPr>
            <p:ph type="title"/>
          </p:nvPr>
        </p:nvSpPr>
        <p:spPr>
          <a:xfrm>
            <a:off x="1094321" y="0"/>
            <a:ext cx="7763929" cy="82891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p:txStyles>
    <p:title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p:titleStyle>
    <p:body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44577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58293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8.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15.jpeg"/><Relationship Id="rId4" Type="http://schemas.openxmlformats.org/officeDocument/2006/relationships/image" Target="../media/image14.jpeg"/><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7.png"/><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image" Target="../media/image19.png"/><Relationship Id="rId7" Type="http://schemas.openxmlformats.org/officeDocument/2006/relationships/tags" Target="../tags/tag9.xml"/><Relationship Id="rId6" Type="http://schemas.openxmlformats.org/officeDocument/2006/relationships/image" Target="../media/image18.png"/><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5" Type="http://schemas.openxmlformats.org/officeDocument/2006/relationships/slideLayout" Target="../slideLayouts/slideLayout13.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5.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image" Target="../media/image21.png"/><Relationship Id="rId11" Type="http://schemas.openxmlformats.org/officeDocument/2006/relationships/tags" Target="../tags/tag11.xml"/><Relationship Id="rId10" Type="http://schemas.openxmlformats.org/officeDocument/2006/relationships/image" Target="../media/image20.png"/><Relationship Id="rId1" Type="http://schemas.openxmlformats.org/officeDocument/2006/relationships/tags" Target="../tags/tag4.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GIF"/></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7.png"/><Relationship Id="rId1" Type="http://schemas.openxmlformats.org/officeDocument/2006/relationships/image" Target="../media/image26.png"/></Relationships>
</file>

<file path=ppt/slides/_rels/slide29.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35.png"/><Relationship Id="rId7" Type="http://schemas.openxmlformats.org/officeDocument/2006/relationships/image" Target="../media/image34.jpeg"/><Relationship Id="rId6" Type="http://schemas.openxmlformats.org/officeDocument/2006/relationships/image" Target="../media/image33.jpeg"/><Relationship Id="rId5" Type="http://schemas.openxmlformats.org/officeDocument/2006/relationships/image" Target="../media/image32.png"/><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39.png"/><Relationship Id="rId2" Type="http://schemas.openxmlformats.org/officeDocument/2006/relationships/image" Target="../media/image41.png"/><Relationship Id="rId1" Type="http://schemas.openxmlformats.org/officeDocument/2006/relationships/image" Target="../media/image40.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38.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51.png"/><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55.png"/><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2.png"/></Relationships>
</file>

<file path=ppt/slides/_rels/slide40.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60.png"/><Relationship Id="rId4" Type="http://schemas.openxmlformats.org/officeDocument/2006/relationships/image" Target="../media/image59.png"/><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image" Target="../media/image61.png"/></Relationships>
</file>

<file path=ppt/slides/_rels/slide42.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67.png"/><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64.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9.png"/><Relationship Id="rId1" Type="http://schemas.openxmlformats.org/officeDocument/2006/relationships/image" Target="../media/image68.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0.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1.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3.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75.png"/><Relationship Id="rId1" Type="http://schemas.openxmlformats.org/officeDocument/2006/relationships/image" Target="../media/image74.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76.png"/><Relationship Id="rId1" Type="http://schemas.openxmlformats.org/officeDocument/2006/relationships/image" Target="../media/image6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78.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80.png"/><Relationship Id="rId1" Type="http://schemas.openxmlformats.org/officeDocument/2006/relationships/image" Target="../media/image7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1.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3.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4.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5.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6.png"/></Relationships>
</file>

<file path=ppt/slides/_rels/slide85.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image" Target="../media/image87.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91.png"/><Relationship Id="rId1" Type="http://schemas.openxmlformats.org/officeDocument/2006/relationships/image" Target="../media/image9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94.png"/><Relationship Id="rId1" Type="http://schemas.openxmlformats.org/officeDocument/2006/relationships/oleObject" Target="../embeddings/oleObject1.bin"/></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5.pn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96.jpeg"/></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97.jpe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98.jpeg"/></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99.png"/></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00.emf"/><Relationship Id="rId1" Type="http://schemas.openxmlformats.org/officeDocument/2006/relationships/oleObject" Target="../embeddings/oleObject2.bin"/></Relationships>
</file>

<file path=ppt/slides/_rels/slide109.xml.rels><?xml version="1.0" encoding="UTF-8" standalone="yes"?>
<Relationships xmlns="http://schemas.openxmlformats.org/package/2006/relationships"><Relationship Id="rId9" Type="http://schemas.openxmlformats.org/officeDocument/2006/relationships/diagramColors" Target="../diagrams/colors3.xml"/><Relationship Id="rId8" Type="http://schemas.openxmlformats.org/officeDocument/2006/relationships/diagramQuickStyle" Target="../diagrams/quickStyle3.xml"/><Relationship Id="rId7" Type="http://schemas.openxmlformats.org/officeDocument/2006/relationships/diagramLayout" Target="../diagrams/layout3.xml"/><Relationship Id="rId6" Type="http://schemas.openxmlformats.org/officeDocument/2006/relationships/diagramData" Target="../diagrams/data3.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2" Type="http://schemas.openxmlformats.org/officeDocument/2006/relationships/notesSlide" Target="../notesSlides/notesSlide21.xml"/><Relationship Id="rId11" Type="http://schemas.openxmlformats.org/officeDocument/2006/relationships/slideLayout" Target="../slideLayouts/slideLayout14.xml"/><Relationship Id="rId10" Type="http://schemas.microsoft.com/office/2007/relationships/diagramDrawing" Target="../diagrams/drawing3.xml"/><Relationship Id="rId1" Type="http://schemas.openxmlformats.org/officeDocument/2006/relationships/diagramData" Target="../diagrams/data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2.png"/><Relationship Id="rId1" Type="http://schemas.openxmlformats.org/officeDocument/2006/relationships/image" Target="../media/image101.png"/></Relationships>
</file>

<file path=ppt/slides/_rels/slide116.xml.rels><?xml version="1.0" encoding="UTF-8" standalone="yes"?>
<Relationships xmlns="http://schemas.openxmlformats.org/package/2006/relationships"><Relationship Id="rId7" Type="http://schemas.openxmlformats.org/officeDocument/2006/relationships/notesSlide" Target="../notesSlides/notesSlide26.xml"/><Relationship Id="rId6" Type="http://schemas.openxmlformats.org/officeDocument/2006/relationships/slideLayout" Target="../slideLayouts/slideLayout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slideLayout" Target="../slideLayouts/slideLayout2.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103.png"/></Relationships>
</file>

<file path=ppt/slides/_rels/slide1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4.jpeg"/><Relationship Id="rId1" Type="http://schemas.openxmlformats.org/officeDocument/2006/relationships/hyperlink" Target="http://detail.zol.com.cn/picture_index_203/index2027381.shtml" TargetMode="External"/></Relationships>
</file>

<file path=ppt/slides/_rels/slide122.xml.rels><?xml version="1.0" encoding="UTF-8" standalone="yes"?>
<Relationships xmlns="http://schemas.openxmlformats.org/package/2006/relationships"><Relationship Id="rId7" Type="http://schemas.openxmlformats.org/officeDocument/2006/relationships/notesSlide" Target="../notesSlides/notesSlide29.xml"/><Relationship Id="rId6" Type="http://schemas.openxmlformats.org/officeDocument/2006/relationships/slideLayout" Target="../slideLayouts/slideLayout2.xml"/><Relationship Id="rId5" Type="http://schemas.openxmlformats.org/officeDocument/2006/relationships/image" Target="../media/image109.emf"/><Relationship Id="rId4" Type="http://schemas.openxmlformats.org/officeDocument/2006/relationships/image" Target="../media/image108.emf"/><Relationship Id="rId3" Type="http://schemas.openxmlformats.org/officeDocument/2006/relationships/image" Target="../media/image107.emf"/><Relationship Id="rId2" Type="http://schemas.openxmlformats.org/officeDocument/2006/relationships/image" Target="../media/image106.emf"/><Relationship Id="rId1" Type="http://schemas.openxmlformats.org/officeDocument/2006/relationships/image" Target="../media/image105.wmf"/></Relationships>
</file>

<file path=ppt/slides/_rels/slide123.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image" Target="../media/image111.wmf"/><Relationship Id="rId1" Type="http://schemas.openxmlformats.org/officeDocument/2006/relationships/image" Target="../media/image110.wmf"/></Relationships>
</file>

<file path=ppt/slides/_rels/slide12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12.emf"/><Relationship Id="rId1" Type="http://schemas.openxmlformats.org/officeDocument/2006/relationships/oleObject" Target="../embeddings/oleObject3.bin"/></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113.png"/></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114.wmf"/></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115.emf"/></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6.wmf"/></Relationships>
</file>

<file path=ppt/slides/_rels/slide1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8.png"/><Relationship Id="rId1" Type="http://schemas.openxmlformats.org/officeDocument/2006/relationships/image" Target="../media/image117.wmf"/></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119.wmf"/></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0.png"/></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121.png"/></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122.wmf"/></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123.wmf"/></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124.wmf"/></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125.png"/></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126.png"/></Relationships>
</file>

<file path=ppt/slides/_rels/slide140.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27.emf"/><Relationship Id="rId1" Type="http://schemas.openxmlformats.org/officeDocument/2006/relationships/oleObject" Target="../embeddings/oleObject4.bin"/></Relationships>
</file>

<file path=ppt/slides/_rels/slide141.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127.emf"/><Relationship Id="rId3" Type="http://schemas.openxmlformats.org/officeDocument/2006/relationships/oleObject" Target="../embeddings/oleObject5.bin"/><Relationship Id="rId2" Type="http://schemas.openxmlformats.org/officeDocument/2006/relationships/image" Target="../media/image129.jpeg"/><Relationship Id="rId1" Type="http://schemas.openxmlformats.org/officeDocument/2006/relationships/image" Target="../media/image128.png"/></Relationships>
</file>

<file path=ppt/slides/_rels/slide142.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2.xml"/><Relationship Id="rId3" Type="http://schemas.openxmlformats.org/officeDocument/2006/relationships/image" Target="../media/image127.emf"/><Relationship Id="rId2" Type="http://schemas.openxmlformats.org/officeDocument/2006/relationships/oleObject" Target="../embeddings/oleObject6.bin"/><Relationship Id="rId1" Type="http://schemas.openxmlformats.org/officeDocument/2006/relationships/image" Target="../media/image130.jpeg"/></Relationships>
</file>

<file path=ppt/slides/_rels/slide1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1.jpeg"/></Relationships>
</file>

<file path=ppt/slides/_rels/slide144.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2.xml"/><Relationship Id="rId3" Type="http://schemas.openxmlformats.org/officeDocument/2006/relationships/image" Target="../media/image127.emf"/><Relationship Id="rId2" Type="http://schemas.openxmlformats.org/officeDocument/2006/relationships/oleObject" Target="../embeddings/oleObject7.bin"/><Relationship Id="rId1" Type="http://schemas.openxmlformats.org/officeDocument/2006/relationships/image" Target="../media/image132.jpeg"/></Relationships>
</file>

<file path=ppt/slides/_rels/slide145.xml.rels><?xml version="1.0" encoding="UTF-8" standalone="yes"?>
<Relationships xmlns="http://schemas.openxmlformats.org/package/2006/relationships"><Relationship Id="rId5" Type="http://schemas.openxmlformats.org/officeDocument/2006/relationships/vmlDrawing" Target="../drawings/vmlDrawing8.vml"/><Relationship Id="rId4" Type="http://schemas.openxmlformats.org/officeDocument/2006/relationships/slideLayout" Target="../slideLayouts/slideLayout2.xml"/><Relationship Id="rId3" Type="http://schemas.openxmlformats.org/officeDocument/2006/relationships/image" Target="../media/image127.emf"/><Relationship Id="rId2" Type="http://schemas.openxmlformats.org/officeDocument/2006/relationships/oleObject" Target="../embeddings/oleObject8.bin"/><Relationship Id="rId1" Type="http://schemas.openxmlformats.org/officeDocument/2006/relationships/image" Target="../media/image133.jpeg"/></Relationships>
</file>

<file path=ppt/slides/_rels/slide146.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2.xml"/><Relationship Id="rId3" Type="http://schemas.openxmlformats.org/officeDocument/2006/relationships/image" Target="../media/image127.emf"/><Relationship Id="rId2" Type="http://schemas.openxmlformats.org/officeDocument/2006/relationships/oleObject" Target="../embeddings/oleObject9.bin"/><Relationship Id="rId1" Type="http://schemas.openxmlformats.org/officeDocument/2006/relationships/image" Target="../media/image134.jpeg"/></Relationships>
</file>

<file path=ppt/slides/_rels/slide147.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slideLayout" Target="../slideLayouts/slideLayout2.xml"/><Relationship Id="rId3" Type="http://schemas.openxmlformats.org/officeDocument/2006/relationships/image" Target="../media/image127.emf"/><Relationship Id="rId2" Type="http://schemas.openxmlformats.org/officeDocument/2006/relationships/oleObject" Target="../embeddings/oleObject10.bin"/><Relationship Id="rId1" Type="http://schemas.openxmlformats.org/officeDocument/2006/relationships/image" Target="../media/image135.png"/></Relationships>
</file>

<file path=ppt/slides/_rels/slide148.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127.emf"/><Relationship Id="rId1" Type="http://schemas.openxmlformats.org/officeDocument/2006/relationships/oleObject" Target="../embeddings/oleObject11.bin"/></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136.png"/></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75645" y="987551"/>
            <a:ext cx="8582606" cy="2468645"/>
          </a:xfrm>
        </p:spPr>
        <p:txBody>
          <a:bodyPr>
            <a:normAutofit/>
          </a:bodyPr>
          <a:lstStyle/>
          <a:p>
            <a:pPr>
              <a:lnSpc>
                <a:spcPct val="100000"/>
              </a:lnSpc>
              <a:spcBef>
                <a:spcPts val="3600"/>
              </a:spcBef>
              <a:spcAft>
                <a:spcPts val="3600"/>
              </a:spcAft>
            </a:pPr>
            <a:r>
              <a:rPr lang="zh-CN" altLang="en-US" sz="4800" dirty="0">
                <a:solidFill>
                  <a:schemeClr val="bg1"/>
                </a:solidFill>
              </a:rPr>
              <a:t>软件工程</a:t>
            </a:r>
            <a:br>
              <a:rPr lang="en-US" altLang="zh-CN" sz="4800" dirty="0">
                <a:solidFill>
                  <a:schemeClr val="bg1"/>
                </a:solidFill>
              </a:rPr>
            </a:br>
            <a:r>
              <a:rPr lang="zh-CN" altLang="en-US" sz="3200" u="sng" cap="none" dirty="0" smtClean="0">
                <a:solidFill>
                  <a:schemeClr val="bg1"/>
                </a:solidFill>
                <a:effectLst>
                  <a:outerShdw blurRad="38100" dist="38100" dir="2700000" algn="tl">
                    <a:srgbClr val="000000">
                      <a:alpha val="43137"/>
                    </a:srgbClr>
                  </a:outerShdw>
                </a:effectLst>
                <a:ea typeface="华文中宋" panose="02010600040101010101" pitchFamily="2" charset="-122"/>
              </a:rPr>
              <a:t>团队与项目管理</a:t>
            </a:r>
            <a:endParaRPr lang="zh-CN" altLang="en-US" sz="3200" u="sng" cap="none" dirty="0" smtClean="0">
              <a:solidFill>
                <a:schemeClr val="bg1"/>
              </a:solidFill>
              <a:effectLst>
                <a:outerShdw blurRad="38100" dist="38100" dir="2700000" algn="tl">
                  <a:srgbClr val="000000">
                    <a:alpha val="43137"/>
                  </a:srgbClr>
                </a:outerShdw>
              </a:effectLst>
              <a:ea typeface="华文中宋" panose="02010600040101010101" pitchFamily="2" charset="-122"/>
            </a:endParaRPr>
          </a:p>
        </p:txBody>
      </p:sp>
      <p:sp>
        <p:nvSpPr>
          <p:cNvPr id="3" name="副标题 2"/>
          <p:cNvSpPr>
            <a:spLocks noGrp="1"/>
          </p:cNvSpPr>
          <p:nvPr>
            <p:ph type="subTitle" idx="1"/>
          </p:nvPr>
        </p:nvSpPr>
        <p:spPr>
          <a:xfrm>
            <a:off x="1958907" y="3620351"/>
            <a:ext cx="6899344" cy="1380882"/>
          </a:xfrm>
        </p:spPr>
        <p:txBody>
          <a:bodyPr>
            <a:normAutofit/>
          </a:bodyPr>
          <a:lstStyle/>
          <a:p>
            <a:r>
              <a:rPr lang="zh-CN" altLang="en-US" sz="1800" dirty="0">
                <a:latin typeface="+mj-ea"/>
                <a:ea typeface="+mj-ea"/>
              </a:rPr>
              <a:t>          </a:t>
            </a:r>
            <a:r>
              <a:rPr lang="zh-CN" altLang="en-US" sz="1800" dirty="0" smtClean="0">
                <a:latin typeface="+mj-ea"/>
                <a:ea typeface="+mj-ea"/>
              </a:rPr>
              <a:t>河南大学软件学院                                          </a:t>
            </a:r>
            <a:r>
              <a:rPr lang="zh-CN" altLang="en-US" sz="1800" dirty="0" smtClean="0">
                <a:latin typeface="+mj-ea"/>
                <a:ea typeface="+mj-ea"/>
              </a:rPr>
              <a:t>李威</a:t>
            </a:r>
            <a:endParaRPr lang="zh-CN" altLang="en-US" sz="1800" dirty="0" smtClean="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前情回顾</a:t>
            </a:r>
            <a:endParaRPr lang="zh-CN" altLang="en-US" dirty="0"/>
          </a:p>
        </p:txBody>
      </p:sp>
      <p:sp>
        <p:nvSpPr>
          <p:cNvPr id="3" name="内容占位符 2"/>
          <p:cNvSpPr>
            <a:spLocks noGrp="1"/>
          </p:cNvSpPr>
          <p:nvPr>
            <p:ph idx="1"/>
          </p:nvPr>
        </p:nvSpPr>
        <p:spPr>
          <a:xfrm>
            <a:off x="1094321" y="1017271"/>
            <a:ext cx="7506609" cy="3520440"/>
          </a:xfrm>
        </p:spPr>
        <p:txBody>
          <a:bodyPr>
            <a:normAutofit/>
          </a:bodyPr>
          <a:lstStyle/>
          <a:p>
            <a:pPr>
              <a:lnSpc>
                <a:spcPct val="110000"/>
              </a:lnSpc>
            </a:pPr>
            <a:r>
              <a:rPr lang="zh-CN" altLang="en-US" dirty="0"/>
              <a:t>软件过程模型：</a:t>
            </a:r>
            <a:endParaRPr lang="en-US" altLang="zh-CN" dirty="0"/>
          </a:p>
          <a:p>
            <a:pPr lvl="1"/>
            <a:r>
              <a:rPr lang="zh-CN" altLang="en-US" dirty="0"/>
              <a:t>传统模型</a:t>
            </a:r>
            <a:endParaRPr lang="en-US" altLang="zh-CN" dirty="0"/>
          </a:p>
          <a:p>
            <a:pPr lvl="1"/>
            <a:r>
              <a:rPr lang="en-US" altLang="zh-CN" dirty="0"/>
              <a:t>RUP</a:t>
            </a:r>
            <a:r>
              <a:rPr lang="zh-CN" altLang="en-US" dirty="0"/>
              <a:t>模型</a:t>
            </a:r>
            <a:endParaRPr lang="en-US" altLang="zh-CN" dirty="0"/>
          </a:p>
          <a:p>
            <a:pPr lvl="1"/>
            <a:r>
              <a:rPr lang="zh-CN" altLang="en-US" dirty="0"/>
              <a:t>敏捷模型</a:t>
            </a:r>
            <a:endParaRPr lang="en-US" altLang="zh-CN" dirty="0"/>
          </a:p>
          <a:p>
            <a:pPr>
              <a:lnSpc>
                <a:spcPct val="110000"/>
              </a:lnSpc>
            </a:pPr>
            <a:r>
              <a:rPr lang="zh-CN" altLang="en-US" dirty="0"/>
              <a:t>项目进度：</a:t>
            </a:r>
            <a:endParaRPr lang="en-US" altLang="zh-CN" dirty="0"/>
          </a:p>
          <a:p>
            <a:pPr lvl="1">
              <a:lnSpc>
                <a:spcPct val="110000"/>
              </a:lnSpc>
            </a:pPr>
            <a:r>
              <a:rPr lang="zh-CN" altLang="en-US" dirty="0"/>
              <a:t>编写项目开发计划</a:t>
            </a:r>
            <a:endParaRPr lang="zh-CN" altLang="en-US" dirty="0"/>
          </a:p>
        </p:txBody>
      </p:sp>
      <p:sp>
        <p:nvSpPr>
          <p:cNvPr id="4" name="日期占位符 3"/>
          <p:cNvSpPr>
            <a:spLocks noGrp="1"/>
          </p:cNvSpPr>
          <p:nvPr>
            <p:ph type="dt" sz="half" idx="10"/>
          </p:nvPr>
        </p:nvSpPr>
        <p:spPr/>
        <p:txBody>
          <a:bodyPr/>
          <a:lstStyle/>
          <a:p>
            <a:fld id="{24AF38AE-A84A-4B88-A604-AFB0704FBCF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7" name="组合 6"/>
          <p:cNvGrpSpPr/>
          <p:nvPr/>
        </p:nvGrpSpPr>
        <p:grpSpPr>
          <a:xfrm>
            <a:off x="6086763" y="1752183"/>
            <a:ext cx="1925810" cy="2177574"/>
            <a:chOff x="1516062" y="3403601"/>
            <a:chExt cx="2560638" cy="2846387"/>
          </a:xfrm>
          <a:solidFill>
            <a:schemeClr val="tx1">
              <a:lumMod val="65000"/>
              <a:lumOff val="35000"/>
            </a:schemeClr>
          </a:solidFill>
        </p:grpSpPr>
        <p:sp>
          <p:nvSpPr>
            <p:cNvPr id="8" name="Freeform 6"/>
            <p:cNvSpPr/>
            <p:nvPr/>
          </p:nvSpPr>
          <p:spPr bwMode="auto">
            <a:xfrm>
              <a:off x="1516062" y="3403601"/>
              <a:ext cx="2405063" cy="2846387"/>
            </a:xfrm>
            <a:custGeom>
              <a:avLst/>
              <a:gdLst>
                <a:gd name="T0" fmla="*/ 2572 w 2702"/>
                <a:gd name="T1" fmla="*/ 0 h 3200"/>
                <a:gd name="T2" fmla="*/ 2606 w 2702"/>
                <a:gd name="T3" fmla="*/ 11 h 3200"/>
                <a:gd name="T4" fmla="*/ 2700 w 2702"/>
                <a:gd name="T5" fmla="*/ 145 h 3200"/>
                <a:gd name="T6" fmla="*/ 2700 w 2702"/>
                <a:gd name="T7" fmla="*/ 885 h 3200"/>
                <a:gd name="T8" fmla="*/ 2699 w 2702"/>
                <a:gd name="T9" fmla="*/ 898 h 3200"/>
                <a:gd name="T10" fmla="*/ 2604 w 2702"/>
                <a:gd name="T11" fmla="*/ 803 h 3200"/>
                <a:gd name="T12" fmla="*/ 2601 w 2702"/>
                <a:gd name="T13" fmla="*/ 780 h 3200"/>
                <a:gd name="T14" fmla="*/ 2600 w 2702"/>
                <a:gd name="T15" fmla="*/ 164 h 3200"/>
                <a:gd name="T16" fmla="*/ 2536 w 2702"/>
                <a:gd name="T17" fmla="*/ 100 h 3200"/>
                <a:gd name="T18" fmla="*/ 164 w 2702"/>
                <a:gd name="T19" fmla="*/ 100 h 3200"/>
                <a:gd name="T20" fmla="*/ 100 w 2702"/>
                <a:gd name="T21" fmla="*/ 163 h 3200"/>
                <a:gd name="T22" fmla="*/ 100 w 2702"/>
                <a:gd name="T23" fmla="*/ 3037 h 3200"/>
                <a:gd name="T24" fmla="*/ 162 w 2702"/>
                <a:gd name="T25" fmla="*/ 3100 h 3200"/>
                <a:gd name="T26" fmla="*/ 2538 w 2702"/>
                <a:gd name="T27" fmla="*/ 3100 h 3200"/>
                <a:gd name="T28" fmla="*/ 2600 w 2702"/>
                <a:gd name="T29" fmla="*/ 3037 h 3200"/>
                <a:gd name="T30" fmla="*/ 2600 w 2702"/>
                <a:gd name="T31" fmla="*/ 1674 h 3200"/>
                <a:gd name="T32" fmla="*/ 2615 w 2702"/>
                <a:gd name="T33" fmla="*/ 1637 h 3200"/>
                <a:gd name="T34" fmla="*/ 2696 w 2702"/>
                <a:gd name="T35" fmla="*/ 1555 h 3200"/>
                <a:gd name="T36" fmla="*/ 2700 w 2702"/>
                <a:gd name="T37" fmla="*/ 1558 h 3200"/>
                <a:gd name="T38" fmla="*/ 2700 w 2702"/>
                <a:gd name="T39" fmla="*/ 1581 h 3200"/>
                <a:gd name="T40" fmla="*/ 2702 w 2702"/>
                <a:gd name="T41" fmla="*/ 3019 h 3200"/>
                <a:gd name="T42" fmla="*/ 2572 w 2702"/>
                <a:gd name="T43" fmla="*/ 3200 h 3200"/>
                <a:gd name="T44" fmla="*/ 128 w 2702"/>
                <a:gd name="T45" fmla="*/ 3200 h 3200"/>
                <a:gd name="T46" fmla="*/ 36 w 2702"/>
                <a:gd name="T47" fmla="*/ 3146 h 3200"/>
                <a:gd name="T48" fmla="*/ 0 w 2702"/>
                <a:gd name="T49" fmla="*/ 3072 h 3200"/>
                <a:gd name="T50" fmla="*/ 0 w 2702"/>
                <a:gd name="T51" fmla="*/ 128 h 3200"/>
                <a:gd name="T52" fmla="*/ 36 w 2702"/>
                <a:gd name="T53" fmla="*/ 54 h 3200"/>
                <a:gd name="T54" fmla="*/ 128 w 2702"/>
                <a:gd name="T55" fmla="*/ 0 h 3200"/>
                <a:gd name="T56" fmla="*/ 2572 w 2702"/>
                <a:gd name="T57" fmla="*/ 0 h 3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02" h="3200">
                  <a:moveTo>
                    <a:pt x="2572" y="0"/>
                  </a:moveTo>
                  <a:cubicBezTo>
                    <a:pt x="2583" y="4"/>
                    <a:pt x="2595" y="6"/>
                    <a:pt x="2606" y="11"/>
                  </a:cubicBezTo>
                  <a:cubicBezTo>
                    <a:pt x="2664" y="37"/>
                    <a:pt x="2699" y="81"/>
                    <a:pt x="2700" y="145"/>
                  </a:cubicBezTo>
                  <a:cubicBezTo>
                    <a:pt x="2701" y="392"/>
                    <a:pt x="2700" y="639"/>
                    <a:pt x="2700" y="885"/>
                  </a:cubicBezTo>
                  <a:cubicBezTo>
                    <a:pt x="2700" y="888"/>
                    <a:pt x="2700" y="891"/>
                    <a:pt x="2699" y="898"/>
                  </a:cubicBezTo>
                  <a:cubicBezTo>
                    <a:pt x="2666" y="865"/>
                    <a:pt x="2634" y="834"/>
                    <a:pt x="2604" y="803"/>
                  </a:cubicBezTo>
                  <a:cubicBezTo>
                    <a:pt x="2600" y="798"/>
                    <a:pt x="2601" y="788"/>
                    <a:pt x="2601" y="780"/>
                  </a:cubicBezTo>
                  <a:cubicBezTo>
                    <a:pt x="2600" y="575"/>
                    <a:pt x="2600" y="370"/>
                    <a:pt x="2600" y="164"/>
                  </a:cubicBezTo>
                  <a:cubicBezTo>
                    <a:pt x="2600" y="115"/>
                    <a:pt x="2585" y="100"/>
                    <a:pt x="2536" y="100"/>
                  </a:cubicBezTo>
                  <a:cubicBezTo>
                    <a:pt x="1745" y="100"/>
                    <a:pt x="955" y="100"/>
                    <a:pt x="164" y="100"/>
                  </a:cubicBezTo>
                  <a:cubicBezTo>
                    <a:pt x="117" y="100"/>
                    <a:pt x="100" y="116"/>
                    <a:pt x="100" y="163"/>
                  </a:cubicBezTo>
                  <a:cubicBezTo>
                    <a:pt x="100" y="1121"/>
                    <a:pt x="100" y="2079"/>
                    <a:pt x="100" y="3037"/>
                  </a:cubicBezTo>
                  <a:cubicBezTo>
                    <a:pt x="100" y="3083"/>
                    <a:pt x="117" y="3100"/>
                    <a:pt x="162" y="3100"/>
                  </a:cubicBezTo>
                  <a:cubicBezTo>
                    <a:pt x="954" y="3100"/>
                    <a:pt x="1746" y="3100"/>
                    <a:pt x="2538" y="3100"/>
                  </a:cubicBezTo>
                  <a:cubicBezTo>
                    <a:pt x="2584" y="3100"/>
                    <a:pt x="2600" y="3084"/>
                    <a:pt x="2600" y="3037"/>
                  </a:cubicBezTo>
                  <a:cubicBezTo>
                    <a:pt x="2600" y="2583"/>
                    <a:pt x="2600" y="2128"/>
                    <a:pt x="2600" y="1674"/>
                  </a:cubicBezTo>
                  <a:cubicBezTo>
                    <a:pt x="2600" y="1658"/>
                    <a:pt x="2604" y="1647"/>
                    <a:pt x="2615" y="1637"/>
                  </a:cubicBezTo>
                  <a:cubicBezTo>
                    <a:pt x="2643" y="1610"/>
                    <a:pt x="2669" y="1582"/>
                    <a:pt x="2696" y="1555"/>
                  </a:cubicBezTo>
                  <a:cubicBezTo>
                    <a:pt x="2697" y="1556"/>
                    <a:pt x="2699" y="1557"/>
                    <a:pt x="2700" y="1558"/>
                  </a:cubicBezTo>
                  <a:cubicBezTo>
                    <a:pt x="2700" y="1565"/>
                    <a:pt x="2700" y="1573"/>
                    <a:pt x="2700" y="1581"/>
                  </a:cubicBezTo>
                  <a:cubicBezTo>
                    <a:pt x="2700" y="2060"/>
                    <a:pt x="2699" y="2539"/>
                    <a:pt x="2702" y="3019"/>
                  </a:cubicBezTo>
                  <a:cubicBezTo>
                    <a:pt x="2702" y="3120"/>
                    <a:pt x="2654" y="3182"/>
                    <a:pt x="2572" y="3200"/>
                  </a:cubicBezTo>
                  <a:cubicBezTo>
                    <a:pt x="1757" y="3200"/>
                    <a:pt x="943" y="3200"/>
                    <a:pt x="128" y="3200"/>
                  </a:cubicBezTo>
                  <a:cubicBezTo>
                    <a:pt x="92" y="3191"/>
                    <a:pt x="58" y="3177"/>
                    <a:pt x="36" y="3146"/>
                  </a:cubicBezTo>
                  <a:cubicBezTo>
                    <a:pt x="21" y="3123"/>
                    <a:pt x="12" y="3097"/>
                    <a:pt x="0" y="3072"/>
                  </a:cubicBezTo>
                  <a:cubicBezTo>
                    <a:pt x="0" y="2091"/>
                    <a:pt x="0" y="1109"/>
                    <a:pt x="0" y="128"/>
                  </a:cubicBezTo>
                  <a:cubicBezTo>
                    <a:pt x="12" y="103"/>
                    <a:pt x="21" y="77"/>
                    <a:pt x="36" y="54"/>
                  </a:cubicBezTo>
                  <a:cubicBezTo>
                    <a:pt x="58" y="23"/>
                    <a:pt x="92" y="9"/>
                    <a:pt x="128" y="0"/>
                  </a:cubicBezTo>
                  <a:cubicBezTo>
                    <a:pt x="943" y="0"/>
                    <a:pt x="1757" y="0"/>
                    <a:pt x="257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7"/>
            <p:cNvSpPr/>
            <p:nvPr/>
          </p:nvSpPr>
          <p:spPr bwMode="auto">
            <a:xfrm>
              <a:off x="3448050" y="4132263"/>
              <a:ext cx="628650" cy="633412"/>
            </a:xfrm>
            <a:custGeom>
              <a:avLst/>
              <a:gdLst>
                <a:gd name="T0" fmla="*/ 706 w 706"/>
                <a:gd name="T1" fmla="*/ 410 h 714"/>
                <a:gd name="T2" fmla="*/ 682 w 706"/>
                <a:gd name="T3" fmla="*/ 441 h 714"/>
                <a:gd name="T4" fmla="*/ 441 w 706"/>
                <a:gd name="T5" fmla="*/ 681 h 714"/>
                <a:gd name="T6" fmla="*/ 357 w 706"/>
                <a:gd name="T7" fmla="*/ 682 h 714"/>
                <a:gd name="T8" fmla="*/ 31 w 706"/>
                <a:gd name="T9" fmla="*/ 356 h 714"/>
                <a:gd name="T10" fmla="*/ 31 w 706"/>
                <a:gd name="T11" fmla="*/ 274 h 714"/>
                <a:gd name="T12" fmla="*/ 274 w 706"/>
                <a:gd name="T13" fmla="*/ 31 h 714"/>
                <a:gd name="T14" fmla="*/ 357 w 706"/>
                <a:gd name="T15" fmla="*/ 32 h 714"/>
                <a:gd name="T16" fmla="*/ 677 w 706"/>
                <a:gd name="T17" fmla="*/ 351 h 714"/>
                <a:gd name="T18" fmla="*/ 706 w 706"/>
                <a:gd name="T19" fmla="*/ 386 h 714"/>
                <a:gd name="T20" fmla="*/ 706 w 706"/>
                <a:gd name="T21" fmla="*/ 410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6" h="714">
                  <a:moveTo>
                    <a:pt x="706" y="410"/>
                  </a:moveTo>
                  <a:cubicBezTo>
                    <a:pt x="698" y="420"/>
                    <a:pt x="691" y="432"/>
                    <a:pt x="682" y="441"/>
                  </a:cubicBezTo>
                  <a:cubicBezTo>
                    <a:pt x="602" y="521"/>
                    <a:pt x="522" y="601"/>
                    <a:pt x="441" y="681"/>
                  </a:cubicBezTo>
                  <a:cubicBezTo>
                    <a:pt x="409" y="714"/>
                    <a:pt x="389" y="714"/>
                    <a:pt x="357" y="682"/>
                  </a:cubicBezTo>
                  <a:cubicBezTo>
                    <a:pt x="248" y="573"/>
                    <a:pt x="139" y="465"/>
                    <a:pt x="31" y="356"/>
                  </a:cubicBezTo>
                  <a:cubicBezTo>
                    <a:pt x="0" y="326"/>
                    <a:pt x="0" y="305"/>
                    <a:pt x="31" y="274"/>
                  </a:cubicBezTo>
                  <a:cubicBezTo>
                    <a:pt x="112" y="193"/>
                    <a:pt x="193" y="112"/>
                    <a:pt x="274" y="31"/>
                  </a:cubicBezTo>
                  <a:cubicBezTo>
                    <a:pt x="305" y="0"/>
                    <a:pt x="326" y="0"/>
                    <a:pt x="357" y="32"/>
                  </a:cubicBezTo>
                  <a:cubicBezTo>
                    <a:pt x="464" y="138"/>
                    <a:pt x="570" y="245"/>
                    <a:pt x="677" y="351"/>
                  </a:cubicBezTo>
                  <a:cubicBezTo>
                    <a:pt x="687" y="362"/>
                    <a:pt x="696" y="374"/>
                    <a:pt x="706" y="386"/>
                  </a:cubicBezTo>
                  <a:cubicBezTo>
                    <a:pt x="706" y="394"/>
                    <a:pt x="706" y="402"/>
                    <a:pt x="706" y="410"/>
                  </a:cubicBezTo>
                  <a:close/>
                </a:path>
              </a:pathLst>
            </a:custGeom>
            <a:solidFill>
              <a:srgbClr val="FF94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10"/>
            <p:cNvSpPr/>
            <p:nvPr/>
          </p:nvSpPr>
          <p:spPr bwMode="auto">
            <a:xfrm>
              <a:off x="2587625" y="4483100"/>
              <a:ext cx="1139825" cy="1143000"/>
            </a:xfrm>
            <a:custGeom>
              <a:avLst/>
              <a:gdLst>
                <a:gd name="T0" fmla="*/ 1281 w 1281"/>
                <a:gd name="T1" fmla="*/ 396 h 1285"/>
                <a:gd name="T2" fmla="*/ 1267 w 1281"/>
                <a:gd name="T3" fmla="*/ 426 h 1285"/>
                <a:gd name="T4" fmla="*/ 1252 w 1281"/>
                <a:gd name="T5" fmla="*/ 442 h 1285"/>
                <a:gd name="T6" fmla="*/ 443 w 1281"/>
                <a:gd name="T7" fmla="*/ 1251 h 1285"/>
                <a:gd name="T8" fmla="*/ 356 w 1281"/>
                <a:gd name="T9" fmla="*/ 1251 h 1285"/>
                <a:gd name="T10" fmla="*/ 32 w 1281"/>
                <a:gd name="T11" fmla="*/ 927 h 1285"/>
                <a:gd name="T12" fmla="*/ 32 w 1281"/>
                <a:gd name="T13" fmla="*/ 844 h 1285"/>
                <a:gd name="T14" fmla="*/ 846 w 1281"/>
                <a:gd name="T15" fmla="*/ 30 h 1285"/>
                <a:gd name="T16" fmla="*/ 928 w 1281"/>
                <a:gd name="T17" fmla="*/ 30 h 1285"/>
                <a:gd name="T18" fmla="*/ 1256 w 1281"/>
                <a:gd name="T19" fmla="*/ 358 h 1285"/>
                <a:gd name="T20" fmla="*/ 1281 w 1281"/>
                <a:gd name="T21" fmla="*/ 396 h 1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1" h="1285">
                  <a:moveTo>
                    <a:pt x="1281" y="396"/>
                  </a:moveTo>
                  <a:cubicBezTo>
                    <a:pt x="1275" y="409"/>
                    <a:pt x="1272" y="418"/>
                    <a:pt x="1267" y="426"/>
                  </a:cubicBezTo>
                  <a:cubicBezTo>
                    <a:pt x="1263" y="432"/>
                    <a:pt x="1257" y="437"/>
                    <a:pt x="1252" y="442"/>
                  </a:cubicBezTo>
                  <a:cubicBezTo>
                    <a:pt x="982" y="712"/>
                    <a:pt x="712" y="981"/>
                    <a:pt x="443" y="1251"/>
                  </a:cubicBezTo>
                  <a:cubicBezTo>
                    <a:pt x="409" y="1285"/>
                    <a:pt x="390" y="1285"/>
                    <a:pt x="356" y="1251"/>
                  </a:cubicBezTo>
                  <a:cubicBezTo>
                    <a:pt x="248" y="1143"/>
                    <a:pt x="140" y="1035"/>
                    <a:pt x="32" y="927"/>
                  </a:cubicBezTo>
                  <a:cubicBezTo>
                    <a:pt x="0" y="895"/>
                    <a:pt x="0" y="876"/>
                    <a:pt x="32" y="844"/>
                  </a:cubicBezTo>
                  <a:cubicBezTo>
                    <a:pt x="303" y="573"/>
                    <a:pt x="575" y="301"/>
                    <a:pt x="846" y="30"/>
                  </a:cubicBezTo>
                  <a:cubicBezTo>
                    <a:pt x="876" y="0"/>
                    <a:pt x="898" y="0"/>
                    <a:pt x="928" y="30"/>
                  </a:cubicBezTo>
                  <a:cubicBezTo>
                    <a:pt x="1037" y="139"/>
                    <a:pt x="1147" y="248"/>
                    <a:pt x="1256" y="358"/>
                  </a:cubicBezTo>
                  <a:cubicBezTo>
                    <a:pt x="1266" y="369"/>
                    <a:pt x="1273" y="383"/>
                    <a:pt x="1281" y="396"/>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11"/>
            <p:cNvSpPr/>
            <p:nvPr/>
          </p:nvSpPr>
          <p:spPr bwMode="auto">
            <a:xfrm>
              <a:off x="2332038" y="5340350"/>
              <a:ext cx="538163" cy="539750"/>
            </a:xfrm>
            <a:custGeom>
              <a:avLst/>
              <a:gdLst>
                <a:gd name="T0" fmla="*/ 21 w 604"/>
                <a:gd name="T1" fmla="*/ 606 h 606"/>
                <a:gd name="T2" fmla="*/ 1 w 604"/>
                <a:gd name="T3" fmla="*/ 584 h 606"/>
                <a:gd name="T4" fmla="*/ 8 w 604"/>
                <a:gd name="T5" fmla="*/ 561 h 606"/>
                <a:gd name="T6" fmla="*/ 183 w 604"/>
                <a:gd name="T7" fmla="*/ 35 h 606"/>
                <a:gd name="T8" fmla="*/ 231 w 604"/>
                <a:gd name="T9" fmla="*/ 23 h 606"/>
                <a:gd name="T10" fmla="*/ 581 w 604"/>
                <a:gd name="T11" fmla="*/ 374 h 606"/>
                <a:gd name="T12" fmla="*/ 569 w 604"/>
                <a:gd name="T13" fmla="*/ 425 h 606"/>
                <a:gd name="T14" fmla="*/ 35 w 604"/>
                <a:gd name="T15" fmla="*/ 602 h 606"/>
                <a:gd name="T16" fmla="*/ 21 w 604"/>
                <a:gd name="T17" fmla="*/ 606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4" h="606">
                  <a:moveTo>
                    <a:pt x="21" y="606"/>
                  </a:moveTo>
                  <a:cubicBezTo>
                    <a:pt x="5" y="606"/>
                    <a:pt x="0" y="596"/>
                    <a:pt x="1" y="584"/>
                  </a:cubicBezTo>
                  <a:cubicBezTo>
                    <a:pt x="2" y="576"/>
                    <a:pt x="5" y="568"/>
                    <a:pt x="8" y="561"/>
                  </a:cubicBezTo>
                  <a:cubicBezTo>
                    <a:pt x="66" y="385"/>
                    <a:pt x="124" y="210"/>
                    <a:pt x="183" y="35"/>
                  </a:cubicBezTo>
                  <a:cubicBezTo>
                    <a:pt x="193" y="3"/>
                    <a:pt x="207" y="0"/>
                    <a:pt x="231" y="23"/>
                  </a:cubicBezTo>
                  <a:cubicBezTo>
                    <a:pt x="348" y="140"/>
                    <a:pt x="464" y="257"/>
                    <a:pt x="581" y="374"/>
                  </a:cubicBezTo>
                  <a:cubicBezTo>
                    <a:pt x="604" y="397"/>
                    <a:pt x="600" y="415"/>
                    <a:pt x="569" y="425"/>
                  </a:cubicBezTo>
                  <a:cubicBezTo>
                    <a:pt x="391" y="484"/>
                    <a:pt x="213" y="543"/>
                    <a:pt x="35" y="602"/>
                  </a:cubicBezTo>
                  <a:cubicBezTo>
                    <a:pt x="30" y="604"/>
                    <a:pt x="25" y="605"/>
                    <a:pt x="21" y="6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2"/>
            <p:cNvSpPr/>
            <p:nvPr/>
          </p:nvSpPr>
          <p:spPr bwMode="auto">
            <a:xfrm>
              <a:off x="1990725" y="4032250"/>
              <a:ext cx="1454150" cy="42862"/>
            </a:xfrm>
            <a:custGeom>
              <a:avLst/>
              <a:gdLst>
                <a:gd name="T0" fmla="*/ 1634 w 1634"/>
                <a:gd name="T1" fmla="*/ 0 h 48"/>
                <a:gd name="T2" fmla="*/ 1634 w 1634"/>
                <a:gd name="T3" fmla="*/ 48 h 48"/>
                <a:gd name="T4" fmla="*/ 0 w 1634"/>
                <a:gd name="T5" fmla="*/ 48 h 48"/>
                <a:gd name="T6" fmla="*/ 0 w 1634"/>
                <a:gd name="T7" fmla="*/ 0 h 48"/>
                <a:gd name="T8" fmla="*/ 1634 w 1634"/>
                <a:gd name="T9" fmla="*/ 0 h 48"/>
              </a:gdLst>
              <a:ahLst/>
              <a:cxnLst>
                <a:cxn ang="0">
                  <a:pos x="T0" y="T1"/>
                </a:cxn>
                <a:cxn ang="0">
                  <a:pos x="T2" y="T3"/>
                </a:cxn>
                <a:cxn ang="0">
                  <a:pos x="T4" y="T5"/>
                </a:cxn>
                <a:cxn ang="0">
                  <a:pos x="T6" y="T7"/>
                </a:cxn>
                <a:cxn ang="0">
                  <a:pos x="T8" y="T9"/>
                </a:cxn>
              </a:cxnLst>
              <a:rect l="0" t="0" r="r" b="b"/>
              <a:pathLst>
                <a:path w="1634" h="48">
                  <a:moveTo>
                    <a:pt x="1634" y="0"/>
                  </a:moveTo>
                  <a:cubicBezTo>
                    <a:pt x="1634" y="17"/>
                    <a:pt x="1634" y="32"/>
                    <a:pt x="1634" y="48"/>
                  </a:cubicBezTo>
                  <a:cubicBezTo>
                    <a:pt x="1090" y="48"/>
                    <a:pt x="546" y="48"/>
                    <a:pt x="0" y="48"/>
                  </a:cubicBezTo>
                  <a:cubicBezTo>
                    <a:pt x="0" y="32"/>
                    <a:pt x="0" y="17"/>
                    <a:pt x="0" y="0"/>
                  </a:cubicBezTo>
                  <a:cubicBezTo>
                    <a:pt x="544" y="0"/>
                    <a:pt x="1088" y="0"/>
                    <a:pt x="16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3"/>
            <p:cNvSpPr/>
            <p:nvPr/>
          </p:nvSpPr>
          <p:spPr bwMode="auto">
            <a:xfrm>
              <a:off x="1992313" y="4548188"/>
              <a:ext cx="1184275" cy="44450"/>
            </a:xfrm>
            <a:custGeom>
              <a:avLst/>
              <a:gdLst>
                <a:gd name="T0" fmla="*/ 1331 w 1331"/>
                <a:gd name="T1" fmla="*/ 0 h 51"/>
                <a:gd name="T2" fmla="*/ 1245 w 1331"/>
                <a:gd name="T3" fmla="*/ 51 h 51"/>
                <a:gd name="T4" fmla="*/ 28 w 1331"/>
                <a:gd name="T5" fmla="*/ 50 h 51"/>
                <a:gd name="T6" fmla="*/ 0 w 1331"/>
                <a:gd name="T7" fmla="*/ 50 h 51"/>
                <a:gd name="T8" fmla="*/ 0 w 1331"/>
                <a:gd name="T9" fmla="*/ 0 h 51"/>
                <a:gd name="T10" fmla="*/ 1331 w 1331"/>
                <a:gd name="T11" fmla="*/ 0 h 51"/>
              </a:gdLst>
              <a:ahLst/>
              <a:cxnLst>
                <a:cxn ang="0">
                  <a:pos x="T0" y="T1"/>
                </a:cxn>
                <a:cxn ang="0">
                  <a:pos x="T2" y="T3"/>
                </a:cxn>
                <a:cxn ang="0">
                  <a:pos x="T4" y="T5"/>
                </a:cxn>
                <a:cxn ang="0">
                  <a:pos x="T6" y="T7"/>
                </a:cxn>
                <a:cxn ang="0">
                  <a:pos x="T8" y="T9"/>
                </a:cxn>
                <a:cxn ang="0">
                  <a:pos x="T10" y="T11"/>
                </a:cxn>
              </a:cxnLst>
              <a:rect l="0" t="0" r="r" b="b"/>
              <a:pathLst>
                <a:path w="1331" h="51">
                  <a:moveTo>
                    <a:pt x="1331" y="0"/>
                  </a:moveTo>
                  <a:cubicBezTo>
                    <a:pt x="1304" y="25"/>
                    <a:pt x="1287" y="51"/>
                    <a:pt x="1245" y="51"/>
                  </a:cubicBezTo>
                  <a:cubicBezTo>
                    <a:pt x="839" y="49"/>
                    <a:pt x="433" y="50"/>
                    <a:pt x="28" y="50"/>
                  </a:cubicBezTo>
                  <a:cubicBezTo>
                    <a:pt x="19" y="50"/>
                    <a:pt x="10" y="50"/>
                    <a:pt x="0" y="50"/>
                  </a:cubicBezTo>
                  <a:cubicBezTo>
                    <a:pt x="0" y="33"/>
                    <a:pt x="0" y="17"/>
                    <a:pt x="0" y="0"/>
                  </a:cubicBezTo>
                  <a:cubicBezTo>
                    <a:pt x="442" y="0"/>
                    <a:pt x="884" y="0"/>
                    <a:pt x="133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4"/>
            <p:cNvSpPr/>
            <p:nvPr/>
          </p:nvSpPr>
          <p:spPr bwMode="auto">
            <a:xfrm>
              <a:off x="1990725" y="5062538"/>
              <a:ext cx="668338" cy="44450"/>
            </a:xfrm>
            <a:custGeom>
              <a:avLst/>
              <a:gdLst>
                <a:gd name="T0" fmla="*/ 751 w 751"/>
                <a:gd name="T1" fmla="*/ 4 h 49"/>
                <a:gd name="T2" fmla="*/ 710 w 751"/>
                <a:gd name="T3" fmla="*/ 42 h 49"/>
                <a:gd name="T4" fmla="*/ 692 w 751"/>
                <a:gd name="T5" fmla="*/ 49 h 49"/>
                <a:gd name="T6" fmla="*/ 11 w 751"/>
                <a:gd name="T7" fmla="*/ 49 h 49"/>
                <a:gd name="T8" fmla="*/ 0 w 751"/>
                <a:gd name="T9" fmla="*/ 48 h 49"/>
                <a:gd name="T10" fmla="*/ 0 w 751"/>
                <a:gd name="T11" fmla="*/ 0 h 49"/>
                <a:gd name="T12" fmla="*/ 748 w 751"/>
                <a:gd name="T13" fmla="*/ 0 h 49"/>
                <a:gd name="T14" fmla="*/ 751 w 751"/>
                <a:gd name="T15" fmla="*/ 4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1" h="49">
                  <a:moveTo>
                    <a:pt x="751" y="4"/>
                  </a:moveTo>
                  <a:cubicBezTo>
                    <a:pt x="737" y="17"/>
                    <a:pt x="724" y="30"/>
                    <a:pt x="710" y="42"/>
                  </a:cubicBezTo>
                  <a:cubicBezTo>
                    <a:pt x="705" y="46"/>
                    <a:pt x="698" y="49"/>
                    <a:pt x="692" y="49"/>
                  </a:cubicBezTo>
                  <a:cubicBezTo>
                    <a:pt x="465" y="49"/>
                    <a:pt x="238" y="49"/>
                    <a:pt x="11" y="49"/>
                  </a:cubicBezTo>
                  <a:cubicBezTo>
                    <a:pt x="8" y="49"/>
                    <a:pt x="4" y="48"/>
                    <a:pt x="0" y="48"/>
                  </a:cubicBezTo>
                  <a:cubicBezTo>
                    <a:pt x="0" y="32"/>
                    <a:pt x="0" y="17"/>
                    <a:pt x="0" y="0"/>
                  </a:cubicBezTo>
                  <a:cubicBezTo>
                    <a:pt x="250" y="0"/>
                    <a:pt x="499" y="0"/>
                    <a:pt x="748" y="0"/>
                  </a:cubicBezTo>
                  <a:cubicBezTo>
                    <a:pt x="749" y="2"/>
                    <a:pt x="750" y="3"/>
                    <a:pt x="75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5"/>
            <p:cNvSpPr/>
            <p:nvPr/>
          </p:nvSpPr>
          <p:spPr bwMode="auto">
            <a:xfrm>
              <a:off x="3081338" y="5575300"/>
              <a:ext cx="363538" cy="46037"/>
            </a:xfrm>
            <a:custGeom>
              <a:avLst/>
              <a:gdLst>
                <a:gd name="T0" fmla="*/ 0 w 407"/>
                <a:gd name="T1" fmla="*/ 52 h 52"/>
                <a:gd name="T2" fmla="*/ 86 w 407"/>
                <a:gd name="T3" fmla="*/ 1 h 52"/>
                <a:gd name="T4" fmla="*/ 384 w 407"/>
                <a:gd name="T5" fmla="*/ 3 h 52"/>
                <a:gd name="T6" fmla="*/ 407 w 407"/>
                <a:gd name="T7" fmla="*/ 3 h 52"/>
                <a:gd name="T8" fmla="*/ 407 w 407"/>
                <a:gd name="T9" fmla="*/ 52 h 52"/>
                <a:gd name="T10" fmla="*/ 0 w 407"/>
                <a:gd name="T11" fmla="*/ 52 h 52"/>
              </a:gdLst>
              <a:ahLst/>
              <a:cxnLst>
                <a:cxn ang="0">
                  <a:pos x="T0" y="T1"/>
                </a:cxn>
                <a:cxn ang="0">
                  <a:pos x="T2" y="T3"/>
                </a:cxn>
                <a:cxn ang="0">
                  <a:pos x="T4" y="T5"/>
                </a:cxn>
                <a:cxn ang="0">
                  <a:pos x="T6" y="T7"/>
                </a:cxn>
                <a:cxn ang="0">
                  <a:pos x="T8" y="T9"/>
                </a:cxn>
                <a:cxn ang="0">
                  <a:pos x="T10" y="T11"/>
                </a:cxn>
              </a:cxnLst>
              <a:rect l="0" t="0" r="r" b="b"/>
              <a:pathLst>
                <a:path w="407" h="52">
                  <a:moveTo>
                    <a:pt x="0" y="52"/>
                  </a:moveTo>
                  <a:cubicBezTo>
                    <a:pt x="26" y="26"/>
                    <a:pt x="43" y="0"/>
                    <a:pt x="86" y="1"/>
                  </a:cubicBezTo>
                  <a:cubicBezTo>
                    <a:pt x="185" y="6"/>
                    <a:pt x="285" y="3"/>
                    <a:pt x="384" y="3"/>
                  </a:cubicBezTo>
                  <a:cubicBezTo>
                    <a:pt x="391" y="3"/>
                    <a:pt x="398" y="3"/>
                    <a:pt x="407" y="3"/>
                  </a:cubicBezTo>
                  <a:cubicBezTo>
                    <a:pt x="407" y="19"/>
                    <a:pt x="407" y="35"/>
                    <a:pt x="407" y="52"/>
                  </a:cubicBezTo>
                  <a:cubicBezTo>
                    <a:pt x="273" y="52"/>
                    <a:pt x="139" y="52"/>
                    <a:pt x="0"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16"/>
            <p:cNvSpPr/>
            <p:nvPr/>
          </p:nvSpPr>
          <p:spPr bwMode="auto">
            <a:xfrm>
              <a:off x="1990725" y="5578475"/>
              <a:ext cx="339725" cy="44450"/>
            </a:xfrm>
            <a:custGeom>
              <a:avLst/>
              <a:gdLst>
                <a:gd name="T0" fmla="*/ 0 w 381"/>
                <a:gd name="T1" fmla="*/ 49 h 49"/>
                <a:gd name="T2" fmla="*/ 0 w 381"/>
                <a:gd name="T3" fmla="*/ 0 h 49"/>
                <a:gd name="T4" fmla="*/ 381 w 381"/>
                <a:gd name="T5" fmla="*/ 0 h 49"/>
                <a:gd name="T6" fmla="*/ 367 w 381"/>
                <a:gd name="T7" fmla="*/ 43 h 49"/>
                <a:gd name="T8" fmla="*/ 356 w 381"/>
                <a:gd name="T9" fmla="*/ 49 h 49"/>
                <a:gd name="T10" fmla="*/ 0 w 381"/>
                <a:gd name="T11" fmla="*/ 49 h 49"/>
              </a:gdLst>
              <a:ahLst/>
              <a:cxnLst>
                <a:cxn ang="0">
                  <a:pos x="T0" y="T1"/>
                </a:cxn>
                <a:cxn ang="0">
                  <a:pos x="T2" y="T3"/>
                </a:cxn>
                <a:cxn ang="0">
                  <a:pos x="T4" y="T5"/>
                </a:cxn>
                <a:cxn ang="0">
                  <a:pos x="T6" y="T7"/>
                </a:cxn>
                <a:cxn ang="0">
                  <a:pos x="T8" y="T9"/>
                </a:cxn>
                <a:cxn ang="0">
                  <a:pos x="T10" y="T11"/>
                </a:cxn>
              </a:cxnLst>
              <a:rect l="0" t="0" r="r" b="b"/>
              <a:pathLst>
                <a:path w="381" h="49">
                  <a:moveTo>
                    <a:pt x="0" y="49"/>
                  </a:moveTo>
                  <a:cubicBezTo>
                    <a:pt x="0" y="32"/>
                    <a:pt x="0" y="17"/>
                    <a:pt x="0" y="0"/>
                  </a:cubicBezTo>
                  <a:cubicBezTo>
                    <a:pt x="126" y="0"/>
                    <a:pt x="252" y="0"/>
                    <a:pt x="381" y="0"/>
                  </a:cubicBezTo>
                  <a:cubicBezTo>
                    <a:pt x="376" y="15"/>
                    <a:pt x="372" y="29"/>
                    <a:pt x="367" y="43"/>
                  </a:cubicBezTo>
                  <a:cubicBezTo>
                    <a:pt x="366" y="46"/>
                    <a:pt x="360" y="49"/>
                    <a:pt x="356" y="49"/>
                  </a:cubicBezTo>
                  <a:cubicBezTo>
                    <a:pt x="238" y="49"/>
                    <a:pt x="120" y="49"/>
                    <a:pt x="0"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up)">
                                      <p:cBhvr>
                                        <p:cTn id="7" dur="500"/>
                                        <p:tgtEl>
                                          <p:spTgt spid="3">
                                            <p:txEl>
                                              <p:pRg st="4" end="4"/>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up)">
                                      <p:cBhvr>
                                        <p:cTn id="1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团队开发管理</a:t>
            </a:r>
            <a:endParaRPr lang="zh-CN" altLang="en-US" dirty="0"/>
          </a:p>
        </p:txBody>
      </p:sp>
      <p:sp>
        <p:nvSpPr>
          <p:cNvPr id="3" name="内容占位符 2"/>
          <p:cNvSpPr>
            <a:spLocks noGrp="1"/>
          </p:cNvSpPr>
          <p:nvPr>
            <p:ph idx="1"/>
          </p:nvPr>
        </p:nvSpPr>
        <p:spPr>
          <a:xfrm>
            <a:off x="768096" y="1007685"/>
            <a:ext cx="5301995" cy="3520738"/>
          </a:xfrm>
        </p:spPr>
        <p:txBody>
          <a:bodyPr>
            <a:normAutofit/>
          </a:bodyPr>
          <a:lstStyle/>
          <a:p>
            <a:pPr marL="0" indent="0">
              <a:buNone/>
            </a:pPr>
            <a:r>
              <a:rPr lang="en-US" altLang="zh-CN" dirty="0"/>
              <a:t>   </a:t>
            </a:r>
            <a:endParaRPr lang="en-US" altLang="zh-CN" dirty="0"/>
          </a:p>
          <a:p>
            <a:pPr marL="1108710" lvl="1" indent="-457200" algn="just"/>
            <a:r>
              <a:rPr lang="zh-CN" altLang="en-US" dirty="0"/>
              <a:t>团队组织与管理</a:t>
            </a:r>
            <a:endParaRPr lang="en-US" altLang="zh-CN" dirty="0"/>
          </a:p>
          <a:p>
            <a:pPr marL="1108710" lvl="1" indent="-457200" algn="just"/>
            <a:r>
              <a:rPr lang="zh-CN" altLang="en-US" dirty="0"/>
              <a:t>项目沟通管理</a:t>
            </a:r>
            <a:endParaRPr lang="en-US" altLang="zh-CN" dirty="0"/>
          </a:p>
          <a:p>
            <a:pPr marL="1108710" lvl="1" indent="-457200" algn="just"/>
            <a:r>
              <a:rPr lang="zh-CN" altLang="en-US" dirty="0"/>
              <a:t>软件项目计划</a:t>
            </a:r>
            <a:endParaRPr lang="en-US" altLang="zh-CN" dirty="0"/>
          </a:p>
          <a:p>
            <a:pPr marL="1108710" lvl="1" indent="-457200" algn="just"/>
            <a:r>
              <a:rPr lang="zh-CN" altLang="en-US" dirty="0"/>
              <a:t>软件项目估算</a:t>
            </a:r>
            <a:endParaRPr lang="zh-CN" altLang="en-US" dirty="0"/>
          </a:p>
        </p:txBody>
      </p:sp>
      <p:sp>
        <p:nvSpPr>
          <p:cNvPr id="4" name="日期占位符 3"/>
          <p:cNvSpPr>
            <a:spLocks noGrp="1"/>
          </p:cNvSpPr>
          <p:nvPr>
            <p:ph type="dt" sz="half" idx="10"/>
          </p:nvPr>
        </p:nvSpPr>
        <p:spPr/>
        <p:txBody>
          <a:bodyPr/>
          <a:lstStyle/>
          <a:p>
            <a:fld id="{F0A2EBC7-DC6C-44F8-978C-02F874AF65F4}"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70091" y="872579"/>
            <a:ext cx="2959608" cy="3699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 name="table 62"/>
          <p:cNvGraphicFramePr>
            <a:graphicFrameLocks noGrp="1"/>
          </p:cNvGraphicFramePr>
          <p:nvPr/>
        </p:nvGraphicFramePr>
        <p:xfrm>
          <a:off x="3524823" y="1783024"/>
          <a:ext cx="4608195" cy="2357755"/>
        </p:xfrm>
        <a:graphic>
          <a:graphicData uri="http://schemas.openxmlformats.org/drawingml/2006/table">
            <a:tbl>
              <a:tblPr/>
              <a:tblGrid>
                <a:gridCol w="4608195"/>
              </a:tblGrid>
              <a:tr h="786765">
                <a:tc>
                  <a:txBody>
                    <a:bodyPr/>
                    <a:lstStyle/>
                    <a:p>
                      <a:pPr algn="l" rtl="0" eaLnBrk="0">
                        <a:lnSpc>
                          <a:spcPct val="121000"/>
                        </a:lnSpc>
                      </a:pPr>
                      <a:endParaRPr lang="en-US" altLang="en-US" sz="750" dirty="0"/>
                    </a:p>
                    <a:p>
                      <a:pPr algn="l" rtl="0" eaLnBrk="0">
                        <a:lnSpc>
                          <a:spcPct val="121000"/>
                        </a:lnSpc>
                      </a:pPr>
                      <a:endParaRPr lang="en-US" altLang="en-US" sz="750" dirty="0"/>
                    </a:p>
                    <a:p>
                      <a:pPr algn="l" rtl="0" eaLnBrk="0">
                        <a:lnSpc>
                          <a:spcPct val="10000"/>
                        </a:lnSpc>
                      </a:pPr>
                      <a:endParaRPr lang="en-US" altLang="en-US" sz="100" dirty="0"/>
                    </a:p>
                    <a:p>
                      <a:pPr marL="61595" algn="l" rtl="0" eaLnBrk="0">
                        <a:lnSpc>
                          <a:spcPct val="96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根据项目人力资源规划 ，通过有</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效手段获得项目所需   </a:t>
                      </a:r>
                      <a:r>
                        <a:rPr sz="15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人员 ，组建项目团队的过程。</a:t>
                      </a:r>
                      <a:endParaRPr lang="en-US" altLang="en-US" sz="1500" dirty="0"/>
                    </a:p>
                  </a:txBody>
                  <a:tcPr marL="0" marR="0" marT="0" marB="0" vert="horz">
                    <a:lnL>
                      <a:noFill/>
                    </a:lnL>
                    <a:lnR>
                      <a:noFill/>
                    </a:lnR>
                    <a:lnT w="25400" cap="flat" cmpd="sng" algn="ctr">
                      <a:solidFill>
                        <a:srgbClr val="55667D"/>
                      </a:solidFill>
                      <a:prstDash val="solid"/>
                      <a:round/>
                      <a:headEnd type="none" w="med" len="med"/>
                      <a:tailEnd type="none" w="med" len="med"/>
                    </a:lnT>
                    <a:lnB w="25400" cap="flat" cmpd="sng" algn="ctr">
                      <a:solidFill>
                        <a:srgbClr val="55667D"/>
                      </a:solidFill>
                      <a:prstDash val="solid"/>
                      <a:round/>
                      <a:headEnd type="none" w="med" len="med"/>
                      <a:tailEnd type="none" w="med" len="med"/>
                    </a:lnB>
                  </a:tcPr>
                </a:tc>
              </a:tr>
              <a:tr h="774700">
                <a:tc>
                  <a:txBody>
                    <a:bodyPr/>
                    <a:lstStyle/>
                    <a:p>
                      <a:pPr algn="l" rtl="0" eaLnBrk="0">
                        <a:lnSpc>
                          <a:spcPct val="118000"/>
                        </a:lnSpc>
                      </a:pPr>
                      <a:endParaRPr lang="en-US" altLang="en-US" sz="750" dirty="0"/>
                    </a:p>
                    <a:p>
                      <a:pPr algn="l" rtl="0" eaLnBrk="0">
                        <a:lnSpc>
                          <a:spcPct val="119000"/>
                        </a:lnSpc>
                      </a:pPr>
                      <a:endParaRPr lang="en-US" altLang="en-US" sz="750" dirty="0"/>
                    </a:p>
                    <a:p>
                      <a:pPr algn="l" rtl="0" eaLnBrk="0">
                        <a:lnSpc>
                          <a:spcPct val="10000"/>
                        </a:lnSpc>
                      </a:pPr>
                      <a:endParaRPr lang="en-US" altLang="en-US" sz="100" dirty="0"/>
                    </a:p>
                    <a:p>
                      <a:pPr marL="62865" indent="-1270" algn="l" rtl="0" eaLnBrk="0">
                        <a:lnSpc>
                          <a:spcPct val="96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提高工作能力、促进团队互动和改善</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团队氛围 ，以提</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高项目绩效的过程。</a:t>
                      </a:r>
                      <a:endParaRPr lang="en-US" altLang="en-US" sz="1500" dirty="0"/>
                    </a:p>
                  </a:txBody>
                  <a:tcPr marL="0" marR="0" marT="0" marB="0" vert="horz">
                    <a:lnL>
                      <a:noFill/>
                    </a:lnL>
                    <a:lnR>
                      <a:noFill/>
                    </a:lnR>
                    <a:lnT w="25400" cap="flat" cmpd="sng" algn="ctr">
                      <a:solidFill>
                        <a:srgbClr val="55667D"/>
                      </a:solidFill>
                      <a:prstDash val="solid"/>
                      <a:round/>
                      <a:headEnd type="none" w="med" len="med"/>
                      <a:tailEnd type="none" w="med" len="med"/>
                    </a:lnT>
                    <a:lnB w="25400" cap="flat" cmpd="sng" algn="ctr">
                      <a:solidFill>
                        <a:srgbClr val="55667D"/>
                      </a:solidFill>
                      <a:prstDash val="solid"/>
                      <a:round/>
                      <a:headEnd type="none" w="med" len="med"/>
                      <a:tailEnd type="none" w="med" len="med"/>
                    </a:lnB>
                  </a:tcPr>
                </a:tc>
              </a:tr>
              <a:tr h="796290">
                <a:tc>
                  <a:txBody>
                    <a:bodyPr/>
                    <a:lstStyle/>
                    <a:p>
                      <a:pPr algn="l" rtl="0" eaLnBrk="0">
                        <a:lnSpc>
                          <a:spcPct val="116000"/>
                        </a:lnSpc>
                      </a:pPr>
                      <a:endParaRPr lang="en-US" altLang="en-US" sz="750" dirty="0"/>
                    </a:p>
                    <a:p>
                      <a:pPr algn="l" rtl="0" eaLnBrk="0">
                        <a:lnSpc>
                          <a:spcPct val="117000"/>
                        </a:lnSpc>
                      </a:pPr>
                      <a:endParaRPr lang="en-US" altLang="en-US" sz="750" dirty="0"/>
                    </a:p>
                    <a:p>
                      <a:pPr marL="62230" indent="-635" algn="l" rtl="0" eaLnBrk="0">
                        <a:lnSpc>
                          <a:spcPct val="96000"/>
                        </a:lnSpc>
                        <a:spcBef>
                          <a:spcPts val="0"/>
                        </a:spcBef>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跟踪团队成员的表现 ，提供反馈 ，解决问题并管理变</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更 ，以优化项目绩效的过程。</a:t>
                      </a:r>
                      <a:endParaRPr lang="en-US" altLang="en-US" sz="1500" dirty="0"/>
                    </a:p>
                  </a:txBody>
                  <a:tcPr marL="0" marR="0" marT="0" marB="0" vert="horz">
                    <a:lnL>
                      <a:noFill/>
                    </a:lnL>
                    <a:lnR>
                      <a:noFill/>
                    </a:lnR>
                    <a:lnT w="25400" cap="flat" cmpd="sng" algn="ctr">
                      <a:solidFill>
                        <a:srgbClr val="55667D"/>
                      </a:solidFill>
                      <a:prstDash val="solid"/>
                      <a:round/>
                      <a:headEnd type="none" w="med" len="med"/>
                      <a:tailEnd type="none" w="med" len="med"/>
                    </a:lnT>
                    <a:lnB w="25400" cap="flat" cmpd="sng" algn="ctr">
                      <a:solidFill>
                        <a:srgbClr val="55667D"/>
                      </a:solidFill>
                      <a:prstDash val="solid"/>
                      <a:round/>
                      <a:headEnd type="none" w="med" len="med"/>
                      <a:tailEnd type="none" w="med" len="med"/>
                    </a:lnB>
                  </a:tcPr>
                </a:tc>
              </a:tr>
            </a:tbl>
          </a:graphicData>
        </a:graphic>
      </p:graphicFrame>
      <p:sp>
        <p:nvSpPr>
          <p:cNvPr id="64"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66" name="textbox 66"/>
          <p:cNvSpPr/>
          <p:nvPr/>
        </p:nvSpPr>
        <p:spPr>
          <a:xfrm>
            <a:off x="3561840" y="1288368"/>
            <a:ext cx="4673441" cy="456248"/>
          </a:xfrm>
          <a:prstGeom prst="rect">
            <a:avLst/>
          </a:prstGeom>
        </p:spPr>
        <p:txBody>
          <a:bodyPr vert="horz" wrap="square" lIns="0" tIns="0" rIns="0" bIns="0"/>
          <a:lstStyle/>
          <a:p>
            <a:pPr algn="l" rtl="0" eaLnBrk="0">
              <a:lnSpc>
                <a:spcPct val="69000"/>
              </a:lnSpc>
            </a:pPr>
            <a:endParaRPr lang="en-US" altLang="en-US" sz="100" dirty="0"/>
          </a:p>
          <a:p>
            <a:pPr marL="13970" indent="-1270" algn="l" rtl="0" eaLnBrk="0">
              <a:lnSpc>
                <a:spcPct val="96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识别和记录项目角色、职</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责、所需技能以及报告关系 ，</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并编制人员配备管理计</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划的过程。</a:t>
            </a:r>
            <a:endParaRPr lang="en-US" altLang="en-US" sz="1500" dirty="0"/>
          </a:p>
        </p:txBody>
      </p:sp>
      <p:sp>
        <p:nvSpPr>
          <p:cNvPr id="82" name="textbox 82"/>
          <p:cNvSpPr/>
          <p:nvPr/>
        </p:nvSpPr>
        <p:spPr>
          <a:xfrm>
            <a:off x="1097136" y="3569369"/>
            <a:ext cx="2042159" cy="532924"/>
          </a:xfrm>
          <a:prstGeom prst="rect">
            <a:avLst/>
          </a:prstGeom>
          <a:solidFill>
            <a:srgbClr val="78A9A9">
              <a:alpha val="49411"/>
            </a:srgbClr>
          </a:solidFill>
        </p:spPr>
        <p:txBody>
          <a:bodyPr vert="horz" wrap="square" lIns="0" tIns="0" rIns="0" bIns="0"/>
          <a:lstStyle/>
          <a:p>
            <a:pPr algn="l" rtl="0" eaLnBrk="0">
              <a:lnSpc>
                <a:spcPct val="150000"/>
              </a:lnSpc>
            </a:pPr>
            <a:endParaRPr lang="en-US" altLang="en-US" sz="750" dirty="0"/>
          </a:p>
          <a:p>
            <a:pPr marL="523240" algn="l" rtl="0" eaLnBrk="0">
              <a:lnSpc>
                <a:spcPct val="91000"/>
              </a:lnSpc>
            </a:pP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项目团队管理</a:t>
            </a:r>
            <a:endParaRPr lang="en-US" altLang="en-US" sz="1650" dirty="0"/>
          </a:p>
        </p:txBody>
      </p:sp>
      <p:sp>
        <p:nvSpPr>
          <p:cNvPr id="84" name="textbox 84"/>
          <p:cNvSpPr/>
          <p:nvPr/>
        </p:nvSpPr>
        <p:spPr>
          <a:xfrm>
            <a:off x="1094927" y="1228765"/>
            <a:ext cx="2042159" cy="532924"/>
          </a:xfrm>
          <a:prstGeom prst="rect">
            <a:avLst/>
          </a:prstGeom>
          <a:solidFill>
            <a:srgbClr val="C0D1EB">
              <a:alpha val="50196"/>
            </a:srgbClr>
          </a:solidFill>
        </p:spPr>
        <p:txBody>
          <a:bodyPr vert="horz" wrap="square" lIns="0" tIns="0" rIns="0" bIns="0"/>
          <a:lstStyle/>
          <a:p>
            <a:pPr algn="l" rtl="0" eaLnBrk="0">
              <a:lnSpc>
                <a:spcPct val="149000"/>
              </a:lnSpc>
            </a:pPr>
            <a:endParaRPr lang="en-US" altLang="en-US" sz="750" dirty="0"/>
          </a:p>
          <a:p>
            <a:pPr algn="l" rtl="0" eaLnBrk="0">
              <a:lnSpc>
                <a:spcPct val="10000"/>
              </a:lnSpc>
            </a:pPr>
            <a:endParaRPr lang="en-US" altLang="en-US" sz="100" dirty="0"/>
          </a:p>
          <a:p>
            <a:pPr marL="525780" algn="l" rtl="0" eaLnBrk="0">
              <a:lnSpc>
                <a:spcPct val="91000"/>
              </a:lnSpc>
            </a:pP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人力资源规划</a:t>
            </a:r>
            <a:endParaRPr lang="en-US" altLang="en-US" sz="1650" dirty="0"/>
          </a:p>
        </p:txBody>
      </p:sp>
      <p:sp>
        <p:nvSpPr>
          <p:cNvPr id="86" name="textbox 86"/>
          <p:cNvSpPr/>
          <p:nvPr/>
        </p:nvSpPr>
        <p:spPr>
          <a:xfrm>
            <a:off x="1096120" y="2788933"/>
            <a:ext cx="2042159" cy="532924"/>
          </a:xfrm>
          <a:prstGeom prst="rect">
            <a:avLst/>
          </a:prstGeom>
          <a:solidFill>
            <a:srgbClr val="A8D4A9">
              <a:alpha val="50196"/>
            </a:srgbClr>
          </a:solidFill>
        </p:spPr>
        <p:txBody>
          <a:bodyPr vert="horz" wrap="square" lIns="0" tIns="0" rIns="0" bIns="0"/>
          <a:lstStyle/>
          <a:p>
            <a:pPr algn="l" rtl="0" eaLnBrk="0">
              <a:lnSpc>
                <a:spcPct val="152000"/>
              </a:lnSpc>
            </a:pPr>
            <a:endParaRPr lang="en-US" altLang="en-US" sz="750" dirty="0"/>
          </a:p>
          <a:p>
            <a:pPr marL="523240" algn="l" rtl="0" eaLnBrk="0">
              <a:lnSpc>
                <a:spcPct val="90000"/>
              </a:lnSpc>
              <a:spcBef>
                <a:spcPts val="0"/>
              </a:spcBef>
            </a:pP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项目团队建设</a:t>
            </a:r>
            <a:endParaRPr lang="en-US" altLang="en-US" sz="1650" dirty="0"/>
          </a:p>
        </p:txBody>
      </p:sp>
      <p:sp>
        <p:nvSpPr>
          <p:cNvPr id="88" name="textbox 88"/>
          <p:cNvSpPr/>
          <p:nvPr/>
        </p:nvSpPr>
        <p:spPr>
          <a:xfrm>
            <a:off x="1095404" y="2009156"/>
            <a:ext cx="2042159" cy="532924"/>
          </a:xfrm>
          <a:prstGeom prst="rect">
            <a:avLst/>
          </a:prstGeom>
          <a:solidFill>
            <a:srgbClr val="A9ABD6">
              <a:alpha val="50196"/>
            </a:srgbClr>
          </a:solidFill>
        </p:spPr>
        <p:txBody>
          <a:bodyPr vert="horz" wrap="square" lIns="0" tIns="0" rIns="0" bIns="0"/>
          <a:lstStyle/>
          <a:p>
            <a:pPr algn="l" rtl="0" eaLnBrk="0">
              <a:lnSpc>
                <a:spcPct val="152000"/>
              </a:lnSpc>
            </a:pPr>
            <a:endParaRPr lang="en-US" altLang="en-US" sz="750" dirty="0"/>
          </a:p>
          <a:p>
            <a:pPr marL="523240" algn="l" rtl="0" eaLnBrk="0">
              <a:lnSpc>
                <a:spcPct val="90000"/>
              </a:lnSpc>
              <a:spcBef>
                <a:spcPts val="0"/>
              </a:spcBef>
            </a:pP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项目团队组建</a:t>
            </a:r>
            <a:endParaRPr lang="en-US" altLang="en-US" sz="1650" dirty="0"/>
          </a:p>
        </p:txBody>
      </p:sp>
      <p:sp>
        <p:nvSpPr>
          <p:cNvPr id="92" name="path"/>
          <p:cNvSpPr/>
          <p:nvPr/>
        </p:nvSpPr>
        <p:spPr>
          <a:xfrm>
            <a:off x="2006600" y="3340099"/>
            <a:ext cx="215900" cy="215900"/>
          </a:xfrm>
          <a:custGeom>
            <a:avLst/>
            <a:gdLst/>
            <a:ahLst/>
            <a:cxnLst/>
            <a:rect l="0" t="0" r="0" b="0"/>
            <a:pathLst>
              <a:path w="453" h="453">
                <a:moveTo>
                  <a:pt x="0" y="226"/>
                </a:moveTo>
                <a:lnTo>
                  <a:pt x="113" y="226"/>
                </a:lnTo>
                <a:lnTo>
                  <a:pt x="113" y="0"/>
                </a:lnTo>
                <a:lnTo>
                  <a:pt x="340" y="0"/>
                </a:lnTo>
                <a:lnTo>
                  <a:pt x="340" y="226"/>
                </a:lnTo>
                <a:lnTo>
                  <a:pt x="453" y="226"/>
                </a:lnTo>
                <a:lnTo>
                  <a:pt x="226" y="453"/>
                </a:lnTo>
                <a:lnTo>
                  <a:pt x="0" y="226"/>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94" name="path"/>
          <p:cNvSpPr/>
          <p:nvPr/>
        </p:nvSpPr>
        <p:spPr>
          <a:xfrm>
            <a:off x="2006600" y="2552700"/>
            <a:ext cx="215900" cy="215900"/>
          </a:xfrm>
          <a:custGeom>
            <a:avLst/>
            <a:gdLst/>
            <a:ahLst/>
            <a:cxnLst/>
            <a:rect l="0" t="0" r="0" b="0"/>
            <a:pathLst>
              <a:path w="453" h="453">
                <a:moveTo>
                  <a:pt x="0" y="226"/>
                </a:moveTo>
                <a:lnTo>
                  <a:pt x="113" y="226"/>
                </a:lnTo>
                <a:lnTo>
                  <a:pt x="113" y="0"/>
                </a:lnTo>
                <a:lnTo>
                  <a:pt x="340" y="0"/>
                </a:lnTo>
                <a:lnTo>
                  <a:pt x="340" y="226"/>
                </a:lnTo>
                <a:lnTo>
                  <a:pt x="453" y="226"/>
                </a:lnTo>
                <a:lnTo>
                  <a:pt x="226" y="453"/>
                </a:lnTo>
                <a:lnTo>
                  <a:pt x="0" y="226"/>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96" name="path"/>
          <p:cNvSpPr/>
          <p:nvPr/>
        </p:nvSpPr>
        <p:spPr>
          <a:xfrm>
            <a:off x="2006600" y="1778000"/>
            <a:ext cx="215900" cy="215900"/>
          </a:xfrm>
          <a:custGeom>
            <a:avLst/>
            <a:gdLst/>
            <a:ahLst/>
            <a:cxnLst/>
            <a:rect l="0" t="0" r="0" b="0"/>
            <a:pathLst>
              <a:path w="453" h="453">
                <a:moveTo>
                  <a:pt x="0" y="226"/>
                </a:moveTo>
                <a:lnTo>
                  <a:pt x="113" y="226"/>
                </a:lnTo>
                <a:lnTo>
                  <a:pt x="113" y="0"/>
                </a:lnTo>
                <a:lnTo>
                  <a:pt x="340" y="0"/>
                </a:lnTo>
                <a:lnTo>
                  <a:pt x="340" y="226"/>
                </a:lnTo>
                <a:lnTo>
                  <a:pt x="453" y="226"/>
                </a:lnTo>
                <a:lnTo>
                  <a:pt x="226" y="453"/>
                </a:lnTo>
                <a:lnTo>
                  <a:pt x="0" y="226"/>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3" name="标题 2"/>
          <p:cNvSpPr>
            <a:spLocks noGrp="1"/>
          </p:cNvSpPr>
          <p:nvPr>
            <p:ph type="title"/>
          </p:nvPr>
        </p:nvSpPr>
        <p:spPr/>
        <p:txBody>
          <a:bodyPr/>
          <a:p>
            <a:r>
              <a:rPr lang="zh-CN" altLang="en-US" dirty="0"/>
              <a:t>团队的组织与管理</a:t>
            </a:r>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管理涉及的范围</a:t>
            </a:r>
            <a:endParaRPr lang="zh-CN" altLang="en-US" dirty="0"/>
          </a:p>
        </p:txBody>
      </p:sp>
      <p:sp>
        <p:nvSpPr>
          <p:cNvPr id="3" name="内容占位符 2"/>
          <p:cNvSpPr>
            <a:spLocks noGrp="1"/>
          </p:cNvSpPr>
          <p:nvPr>
            <p:ph idx="1"/>
          </p:nvPr>
        </p:nvSpPr>
        <p:spPr/>
        <p:txBody>
          <a:bodyPr/>
          <a:lstStyle/>
          <a:p>
            <a:r>
              <a:rPr lang="zh-CN" altLang="en-US" dirty="0" smtClean="0"/>
              <a:t>人员</a:t>
            </a:r>
            <a:endParaRPr lang="en-US" altLang="zh-CN" dirty="0" smtClean="0"/>
          </a:p>
          <a:p>
            <a:r>
              <a:rPr lang="zh-CN" altLang="en-US" dirty="0" smtClean="0"/>
              <a:t>产品</a:t>
            </a:r>
            <a:endParaRPr lang="en-US" altLang="zh-CN" dirty="0" smtClean="0"/>
          </a:p>
          <a:p>
            <a:r>
              <a:rPr lang="zh-CN" altLang="en-US" dirty="0" smtClean="0"/>
              <a:t>过程</a:t>
            </a:r>
            <a:endParaRPr lang="en-US" altLang="zh-CN" dirty="0" smtClean="0"/>
          </a:p>
          <a:p>
            <a:r>
              <a:rPr lang="zh-CN" altLang="en-US" dirty="0"/>
              <a:t>项目</a:t>
            </a:r>
            <a:endParaRPr lang="zh-CN" altLang="en-US" dirty="0"/>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6"/>
          <p:cNvPicPr>
            <a:picLocks noChangeAspect="1"/>
          </p:cNvPicPr>
          <p:nvPr/>
        </p:nvPicPr>
        <p:blipFill>
          <a:blip r:embed="rId1"/>
          <a:stretch>
            <a:fillRect/>
          </a:stretch>
        </p:blipFill>
        <p:spPr>
          <a:xfrm rot="21600000">
            <a:off x="1364615" y="828675"/>
            <a:ext cx="6414135" cy="3608705"/>
          </a:xfrm>
          <a:prstGeom prst="rect">
            <a:avLst/>
          </a:prstGeom>
        </p:spPr>
      </p:pic>
      <p:sp>
        <p:nvSpPr>
          <p:cNvPr id="18" name="textbox 18"/>
          <p:cNvSpPr/>
          <p:nvPr/>
        </p:nvSpPr>
        <p:spPr>
          <a:xfrm>
            <a:off x="753443" y="3080858"/>
            <a:ext cx="7960043" cy="907733"/>
          </a:xfrm>
          <a:prstGeom prst="rect">
            <a:avLst/>
          </a:prstGeom>
        </p:spPr>
        <p:txBody>
          <a:bodyPr vert="horz" wrap="square" lIns="0" tIns="0" rIns="0" bIns="0"/>
          <a:lstStyle/>
          <a:p>
            <a:pPr algn="l" rtl="0" eaLnBrk="0">
              <a:lnSpc>
                <a:spcPct val="83000"/>
              </a:lnSpc>
            </a:pPr>
            <a:endParaRPr lang="en-US" altLang="en-US" sz="100" dirty="0"/>
          </a:p>
          <a:p>
            <a:pPr algn="r" rtl="0" eaLnBrk="0">
              <a:lnSpc>
                <a:spcPts val="4650"/>
              </a:lnSpc>
            </a:pPr>
            <a:r>
              <a:rPr sz="27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《西游记》 ：唐僧师徒四人跋山涉水、</a:t>
            </a:r>
            <a:r>
              <a:rPr sz="2700" kern="0" spc="-8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7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不畏艰难 </a:t>
            </a:r>
            <a:r>
              <a:rPr sz="2700" kern="0" spc="-24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2700" dirty="0"/>
          </a:p>
          <a:p>
            <a:pPr marL="24130" algn="l" rtl="0" eaLnBrk="0">
              <a:lnSpc>
                <a:spcPts val="4680"/>
              </a:lnSpc>
            </a:pPr>
            <a:r>
              <a:rPr sz="27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历经九九八十一难 ，终于到达西天取得了</a:t>
            </a:r>
            <a:r>
              <a:rPr sz="27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真经。</a:t>
            </a:r>
            <a:endParaRPr lang="en-US" altLang="en-US" sz="2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人员</a:t>
            </a:r>
            <a:endParaRPr lang="zh-CN" altLang="en-US" dirty="0"/>
          </a:p>
        </p:txBody>
      </p:sp>
      <p:sp>
        <p:nvSpPr>
          <p:cNvPr id="3" name="内容占位符 2"/>
          <p:cNvSpPr>
            <a:spLocks noGrp="1"/>
          </p:cNvSpPr>
          <p:nvPr>
            <p:ph idx="1"/>
          </p:nvPr>
        </p:nvSpPr>
        <p:spPr/>
        <p:txBody>
          <a:bodyPr/>
          <a:lstStyle/>
          <a:p>
            <a:pPr marL="68580" lvl="1" indent="-431800">
              <a:spcAft>
                <a:spcPts val="150"/>
              </a:spcAft>
              <a:buClr>
                <a:schemeClr val="accent1"/>
              </a:buClr>
              <a:buSzPct val="80000"/>
              <a:buFont typeface="Arial" panose="020B0604020202020204" pitchFamily="34" charset="0"/>
              <a:buChar char="֍"/>
            </a:pPr>
            <a:r>
              <a:rPr lang="zh-CN" altLang="en-US" sz="2000" b="1" dirty="0">
                <a:latin typeface="微软雅黑" panose="020B0503020204020204" pitchFamily="34" charset="-122"/>
                <a:cs typeface="微软雅黑" panose="020B0503020204020204" pitchFamily="34" charset="-122"/>
                <a:sym typeface="+mn-ea"/>
              </a:rPr>
              <a:t>在</a:t>
            </a:r>
            <a:r>
              <a:rPr lang="en-US" altLang="zh-CN" sz="2000" b="1" dirty="0">
                <a:latin typeface="微软雅黑" panose="020B0503020204020204" pitchFamily="34" charset="-122"/>
                <a:cs typeface="微软雅黑" panose="020B0503020204020204" pitchFamily="34" charset="-122"/>
                <a:sym typeface="+mn-ea"/>
              </a:rPr>
              <a:t>IEEE</a:t>
            </a:r>
            <a:r>
              <a:rPr lang="zh-CN" altLang="en-US" sz="2000" b="1" dirty="0">
                <a:latin typeface="微软雅黑" panose="020B0503020204020204" pitchFamily="34" charset="-122"/>
                <a:cs typeface="微软雅黑" panose="020B0503020204020204" pitchFamily="34" charset="-122"/>
                <a:sym typeface="+mn-ea"/>
              </a:rPr>
              <a:t>发表的一项研究中提到，当向</a:t>
            </a:r>
            <a:r>
              <a:rPr lang="en-US" altLang="zh-CN" sz="2000" b="1" dirty="0">
                <a:latin typeface="微软雅黑" panose="020B0503020204020204" pitchFamily="34" charset="-122"/>
                <a:cs typeface="微软雅黑" panose="020B0503020204020204" pitchFamily="34" charset="-122"/>
                <a:sym typeface="+mn-ea"/>
              </a:rPr>
              <a:t>3</a:t>
            </a:r>
            <a:r>
              <a:rPr lang="zh-CN" altLang="en-US" sz="2000" b="1" dirty="0">
                <a:latin typeface="微软雅黑" panose="020B0503020204020204" pitchFamily="34" charset="-122"/>
                <a:cs typeface="微软雅黑" panose="020B0503020204020204" pitchFamily="34" charset="-122"/>
                <a:sym typeface="+mn-ea"/>
              </a:rPr>
              <a:t>个大型技术公司的主管问及一个成功的项目中最重要的因素是什么时，他们的回答如下：</a:t>
            </a:r>
            <a:endParaRPr lang="zh-CN" altLang="en-US" sz="2000" b="1" dirty="0">
              <a:latin typeface="微软雅黑" panose="020B0503020204020204" pitchFamily="34" charset="-122"/>
              <a:cs typeface="微软雅黑" panose="020B0503020204020204" pitchFamily="34" charset="-122"/>
              <a:sym typeface="+mn-ea"/>
            </a:endParaRPr>
          </a:p>
          <a:p>
            <a:pPr marL="68580" lvl="1" indent="-431800">
              <a:spcAft>
                <a:spcPts val="150"/>
              </a:spcAft>
              <a:buClr>
                <a:schemeClr val="accent1"/>
              </a:buClr>
              <a:buSzPct val="80000"/>
              <a:buFont typeface="Arial" panose="020B0604020202020204" pitchFamily="34" charset="0"/>
              <a:buChar char="֍"/>
            </a:pPr>
            <a:r>
              <a:rPr lang="zh-CN" altLang="en-US" sz="2000" b="1" dirty="0" smtClean="0">
                <a:solidFill>
                  <a:srgbClr val="00B0F0"/>
                </a:solidFill>
                <a:latin typeface="微软雅黑" panose="020B0503020204020204" pitchFamily="34" charset="-122"/>
                <a:cs typeface="微软雅黑" panose="020B0503020204020204" pitchFamily="34" charset="-122"/>
                <a:sym typeface="+mn-ea"/>
              </a:rPr>
              <a:t>第一位，我</a:t>
            </a:r>
            <a:r>
              <a:rPr lang="zh-CN" altLang="en-US" sz="2000" b="1" dirty="0">
                <a:solidFill>
                  <a:srgbClr val="00B0F0"/>
                </a:solidFill>
                <a:latin typeface="微软雅黑" panose="020B0503020204020204" pitchFamily="34" charset="-122"/>
                <a:cs typeface="微软雅黑" panose="020B0503020204020204" pitchFamily="34" charset="-122"/>
                <a:sym typeface="+mn-ea"/>
              </a:rPr>
              <a:t>想如果必须在我们的环境中挑出一项最重要的因素，我要说它不是我们所用的工具，而是人员。</a:t>
            </a:r>
            <a:endParaRPr lang="zh-CN" altLang="en-US" sz="2000" b="1" dirty="0">
              <a:solidFill>
                <a:srgbClr val="00B0F0"/>
              </a:solidFill>
              <a:latin typeface="微软雅黑" panose="020B0503020204020204" pitchFamily="34" charset="-122"/>
              <a:cs typeface="微软雅黑" panose="020B0503020204020204" pitchFamily="34" charset="-122"/>
              <a:sym typeface="+mn-ea"/>
            </a:endParaRPr>
          </a:p>
          <a:p>
            <a:pPr marL="68580" lvl="1" indent="-431800">
              <a:spcAft>
                <a:spcPts val="150"/>
              </a:spcAft>
              <a:buClr>
                <a:schemeClr val="accent1"/>
              </a:buClr>
              <a:buSzPct val="80000"/>
              <a:buFont typeface="Arial" panose="020B0604020202020204" pitchFamily="34" charset="0"/>
              <a:buChar char="֍"/>
            </a:pPr>
            <a:r>
              <a:rPr lang="zh-CN" altLang="en-US" sz="2000" b="1" dirty="0" smtClean="0">
                <a:solidFill>
                  <a:srgbClr val="00B0F0"/>
                </a:solidFill>
                <a:latin typeface="微软雅黑" panose="020B0503020204020204" pitchFamily="34" charset="-122"/>
                <a:cs typeface="微软雅黑" panose="020B0503020204020204" pitchFamily="34" charset="-122"/>
                <a:sym typeface="+mn-ea"/>
              </a:rPr>
              <a:t>第二位</a:t>
            </a:r>
            <a:r>
              <a:rPr lang="zh-CN" altLang="en-US" sz="2000" b="1" dirty="0">
                <a:solidFill>
                  <a:srgbClr val="00B0F0"/>
                </a:solidFill>
                <a:latin typeface="微软雅黑" panose="020B0503020204020204" pitchFamily="34" charset="-122"/>
                <a:cs typeface="微软雅黑" panose="020B0503020204020204" pitchFamily="34" charset="-122"/>
                <a:sym typeface="+mn-ea"/>
              </a:rPr>
              <a:t>：一个项目成功的最重要的因素是有聪明的人。。。我想不出其他的因素。。。一个项目最重要的事情是选择人员。。。软件开发组织的成功与其招募优秀人才的能力密切相关。</a:t>
            </a:r>
            <a:endParaRPr lang="zh-CN" altLang="en-US" sz="2000" b="1" dirty="0">
              <a:solidFill>
                <a:srgbClr val="00B0F0"/>
              </a:solidFill>
              <a:latin typeface="微软雅黑" panose="020B0503020204020204" pitchFamily="34" charset="-122"/>
              <a:cs typeface="微软雅黑" panose="020B0503020204020204" pitchFamily="34" charset="-122"/>
              <a:sym typeface="+mn-ea"/>
            </a:endParaRPr>
          </a:p>
          <a:p>
            <a:pPr marL="68580" lvl="1" indent="-431800">
              <a:spcAft>
                <a:spcPts val="150"/>
              </a:spcAft>
              <a:buClr>
                <a:schemeClr val="accent1"/>
              </a:buClr>
              <a:buSzPct val="80000"/>
              <a:buFont typeface="Arial" panose="020B0604020202020204" pitchFamily="34" charset="0"/>
              <a:buChar char="֍"/>
            </a:pPr>
            <a:r>
              <a:rPr lang="zh-CN" altLang="en-US" sz="2000" b="1" dirty="0" smtClean="0">
                <a:solidFill>
                  <a:srgbClr val="00B0F0"/>
                </a:solidFill>
                <a:latin typeface="微软雅黑" panose="020B0503020204020204" pitchFamily="34" charset="-122"/>
                <a:cs typeface="微软雅黑" panose="020B0503020204020204" pitchFamily="34" charset="-122"/>
                <a:sym typeface="+mn-ea"/>
              </a:rPr>
              <a:t>第三位</a:t>
            </a:r>
            <a:r>
              <a:rPr lang="zh-CN" altLang="en-US" sz="2000" b="1" dirty="0">
                <a:solidFill>
                  <a:srgbClr val="00B0F0"/>
                </a:solidFill>
                <a:latin typeface="微软雅黑" panose="020B0503020204020204" pitchFamily="34" charset="-122"/>
                <a:cs typeface="微软雅黑" panose="020B0503020204020204" pitchFamily="34" charset="-122"/>
                <a:sym typeface="+mn-ea"/>
              </a:rPr>
              <a:t>：我在管理上唯一的准则是确保拥有优秀的人员</a:t>
            </a:r>
            <a:r>
              <a:rPr lang="en-US" altLang="zh-CN" sz="2000" b="1" dirty="0">
                <a:solidFill>
                  <a:srgbClr val="00B0F0"/>
                </a:solidFill>
                <a:latin typeface="微软雅黑" panose="020B0503020204020204" pitchFamily="34" charset="-122"/>
                <a:cs typeface="微软雅黑" panose="020B0503020204020204" pitchFamily="34" charset="-122"/>
                <a:sym typeface="+mn-ea"/>
              </a:rPr>
              <a:t>-</a:t>
            </a:r>
            <a:r>
              <a:rPr lang="zh-CN" altLang="en-US" sz="2000" b="1" dirty="0">
                <a:solidFill>
                  <a:srgbClr val="00B0F0"/>
                </a:solidFill>
                <a:latin typeface="微软雅黑" panose="020B0503020204020204" pitchFamily="34" charset="-122"/>
                <a:cs typeface="微软雅黑" panose="020B0503020204020204" pitchFamily="34" charset="-122"/>
                <a:sym typeface="+mn-ea"/>
              </a:rPr>
              <a:t>真正优秀的人员，同时我也培养优秀的人员，提供培养优秀人员的良好环境。</a:t>
            </a:r>
            <a:endParaRPr lang="zh-CN" altLang="en-US" sz="2000" b="1" dirty="0">
              <a:solidFill>
                <a:srgbClr val="00B0F0"/>
              </a:solidFill>
              <a:latin typeface="微软雅黑" panose="020B0503020204020204" pitchFamily="34" charset="-122"/>
              <a:cs typeface="微软雅黑" panose="020B0503020204020204" pitchFamily="34" charset="-122"/>
              <a:sym typeface="+mn-ea"/>
            </a:endParaRPr>
          </a:p>
          <a:p>
            <a:endParaRPr lang="zh-CN" altLang="en-US" sz="2000" b="1" dirty="0">
              <a:solidFill>
                <a:srgbClr val="00B0F0"/>
              </a:solidFill>
              <a:latin typeface="微软雅黑" panose="020B0503020204020204" pitchFamily="34" charset="-122"/>
              <a:cs typeface="微软雅黑" panose="020B0503020204020204" pitchFamily="34" charset="-122"/>
              <a:sym typeface="+mn-ea"/>
            </a:endParaRPr>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人员</a:t>
            </a:r>
            <a:endParaRPr lang="zh-CN" altLang="en-US" dirty="0"/>
          </a:p>
        </p:txBody>
      </p:sp>
      <p:sp>
        <p:nvSpPr>
          <p:cNvPr id="3" name="内容占位符 2"/>
          <p:cNvSpPr>
            <a:spLocks noGrp="1"/>
          </p:cNvSpPr>
          <p:nvPr>
            <p:ph idx="1"/>
          </p:nvPr>
        </p:nvSpPr>
        <p:spPr/>
        <p:txBody>
          <a:bodyPr/>
          <a:lstStyle/>
          <a:p>
            <a:r>
              <a:rPr lang="zh-CN" altLang="zh-CN" sz="2400" dirty="0">
                <a:solidFill>
                  <a:schemeClr val="tx1">
                    <a:lumMod val="95000"/>
                    <a:lumOff val="5000"/>
                  </a:schemeClr>
                </a:solidFill>
                <a:latin typeface="微软雅黑" panose="020B0503020204020204" pitchFamily="34" charset="-122"/>
                <a:cs typeface="微软雅黑" panose="020B0503020204020204" pitchFamily="34" charset="-122"/>
                <a:sym typeface="+mn-ea"/>
              </a:rPr>
              <a:t>参与软件过程（及每一个软件项目）的利益相关者有以下</a:t>
            </a:r>
            <a:r>
              <a:rPr lang="en-US" altLang="zh-CN" sz="2400" dirty="0">
                <a:solidFill>
                  <a:schemeClr val="tx1">
                    <a:lumMod val="95000"/>
                    <a:lumOff val="5000"/>
                  </a:schemeClr>
                </a:solidFill>
                <a:latin typeface="微软雅黑" panose="020B0503020204020204" pitchFamily="34" charset="-122"/>
                <a:cs typeface="微软雅黑" panose="020B0503020204020204" pitchFamily="34" charset="-122"/>
                <a:sym typeface="+mn-ea"/>
              </a:rPr>
              <a:t>5</a:t>
            </a:r>
            <a:r>
              <a:rPr lang="zh-CN" altLang="en-US" sz="2400" dirty="0" smtClean="0">
                <a:solidFill>
                  <a:schemeClr val="tx1">
                    <a:lumMod val="95000"/>
                    <a:lumOff val="5000"/>
                  </a:schemeClr>
                </a:solidFill>
                <a:latin typeface="微软雅黑" panose="020B0503020204020204" pitchFamily="34" charset="-122"/>
                <a:cs typeface="微软雅黑" panose="020B0503020204020204" pitchFamily="34" charset="-122"/>
                <a:sym typeface="+mn-ea"/>
              </a:rPr>
              <a:t>类</a:t>
            </a:r>
            <a:endParaRPr lang="en-US" altLang="zh-CN" sz="2400" dirty="0" smtClean="0">
              <a:solidFill>
                <a:schemeClr val="tx1">
                  <a:lumMod val="95000"/>
                  <a:lumOff val="5000"/>
                </a:schemeClr>
              </a:solidFill>
              <a:latin typeface="微软雅黑" panose="020B0503020204020204" pitchFamily="34" charset="-122"/>
              <a:cs typeface="微软雅黑" panose="020B0503020204020204" pitchFamily="34" charset="-122"/>
              <a:sym typeface="+mn-ea"/>
            </a:endParaRPr>
          </a:p>
          <a:p>
            <a:pPr marL="914400" lvl="1" indent="-457200">
              <a:buAutoNum type="arabicPeriod"/>
            </a:pPr>
            <a:r>
              <a:rPr lang="zh-CN" altLang="en-US" sz="1800" b="1" dirty="0">
                <a:solidFill>
                  <a:schemeClr val="tx1">
                    <a:lumMod val="95000"/>
                    <a:lumOff val="5000"/>
                  </a:schemeClr>
                </a:solidFill>
                <a:latin typeface="微软雅黑" panose="020B0503020204020204" pitchFamily="34" charset="-122"/>
                <a:cs typeface="微软雅黑" panose="020B0503020204020204" pitchFamily="34" charset="-122"/>
                <a:sym typeface="+mn-ea"/>
              </a:rPr>
              <a:t>高级管理者</a:t>
            </a:r>
            <a:r>
              <a:rPr lang="en-US" altLang="zh-CN" sz="1800" b="1" dirty="0">
                <a:solidFill>
                  <a:schemeClr val="tx1">
                    <a:lumMod val="95000"/>
                    <a:lumOff val="5000"/>
                  </a:schemeClr>
                </a:solidFill>
                <a:latin typeface="微软雅黑" panose="020B0503020204020204" pitchFamily="34" charset="-122"/>
                <a:cs typeface="微软雅黑" panose="020B0503020204020204" pitchFamily="34" charset="-122"/>
                <a:sym typeface="+mn-ea"/>
              </a:rPr>
              <a:t>-</a:t>
            </a:r>
            <a:r>
              <a:rPr lang="zh-CN" altLang="en-US" sz="1800" b="1" dirty="0">
                <a:solidFill>
                  <a:schemeClr val="tx1">
                    <a:lumMod val="95000"/>
                    <a:lumOff val="5000"/>
                  </a:schemeClr>
                </a:solidFill>
                <a:latin typeface="微软雅黑" panose="020B0503020204020204" pitchFamily="34" charset="-122"/>
                <a:cs typeface="微软雅黑" panose="020B0503020204020204" pitchFamily="34" charset="-122"/>
                <a:sym typeface="+mn-ea"/>
              </a:rPr>
              <a:t>负责定义业务问题，这些问题往往对项目产生很大影响。</a:t>
            </a:r>
            <a:endParaRPr lang="zh-CN" altLang="en-US" sz="1800" b="1" dirty="0">
              <a:solidFill>
                <a:schemeClr val="tx1">
                  <a:lumMod val="95000"/>
                  <a:lumOff val="5000"/>
                </a:schemeClr>
              </a:solidFill>
              <a:latin typeface="微软雅黑" panose="020B0503020204020204" pitchFamily="34" charset="-122"/>
              <a:cs typeface="微软雅黑" panose="020B0503020204020204" pitchFamily="34" charset="-122"/>
              <a:sym typeface="+mn-ea"/>
            </a:endParaRPr>
          </a:p>
          <a:p>
            <a:pPr marL="914400" lvl="1" indent="-457200">
              <a:buAutoNum type="arabicPeriod"/>
            </a:pPr>
            <a:r>
              <a:rPr lang="zh-CN" altLang="en-US" sz="1800" b="1" dirty="0">
                <a:solidFill>
                  <a:schemeClr val="tx1">
                    <a:lumMod val="95000"/>
                    <a:lumOff val="5000"/>
                  </a:schemeClr>
                </a:solidFill>
                <a:latin typeface="微软雅黑" panose="020B0503020204020204" pitchFamily="34" charset="-122"/>
                <a:cs typeface="微软雅黑" panose="020B0503020204020204" pitchFamily="34" charset="-122"/>
                <a:sym typeface="+mn-ea"/>
              </a:rPr>
              <a:t>项目（技术）管理者</a:t>
            </a:r>
            <a:r>
              <a:rPr lang="en-US" altLang="zh-CN" sz="1800" b="1" dirty="0">
                <a:solidFill>
                  <a:schemeClr val="tx1">
                    <a:lumMod val="95000"/>
                    <a:lumOff val="5000"/>
                  </a:schemeClr>
                </a:solidFill>
                <a:latin typeface="微软雅黑" panose="020B0503020204020204" pitchFamily="34" charset="-122"/>
                <a:cs typeface="微软雅黑" panose="020B0503020204020204" pitchFamily="34" charset="-122"/>
                <a:sym typeface="+mn-ea"/>
              </a:rPr>
              <a:t>-</a:t>
            </a:r>
            <a:r>
              <a:rPr lang="zh-CN" altLang="en-US" sz="1800" b="1" dirty="0">
                <a:solidFill>
                  <a:schemeClr val="tx1">
                    <a:lumMod val="95000"/>
                    <a:lumOff val="5000"/>
                  </a:schemeClr>
                </a:solidFill>
                <a:latin typeface="微软雅黑" panose="020B0503020204020204" pitchFamily="34" charset="-122"/>
                <a:cs typeface="微软雅黑" panose="020B0503020204020204" pitchFamily="34" charset="-122"/>
                <a:sym typeface="+mn-ea"/>
              </a:rPr>
              <a:t>必须计划、激励、组织和控制软件人员。</a:t>
            </a:r>
            <a:endParaRPr lang="zh-CN" altLang="en-US" sz="1800" b="1" dirty="0">
              <a:solidFill>
                <a:schemeClr val="tx1">
                  <a:lumMod val="95000"/>
                  <a:lumOff val="5000"/>
                </a:schemeClr>
              </a:solidFill>
              <a:latin typeface="微软雅黑" panose="020B0503020204020204" pitchFamily="34" charset="-122"/>
              <a:cs typeface="微软雅黑" panose="020B0503020204020204" pitchFamily="34" charset="-122"/>
              <a:sym typeface="+mn-ea"/>
            </a:endParaRPr>
          </a:p>
          <a:p>
            <a:pPr marL="914400" lvl="1" indent="-457200">
              <a:buAutoNum type="arabicPeriod"/>
            </a:pPr>
            <a:r>
              <a:rPr lang="zh-CN" altLang="en-US" sz="1800" b="1" dirty="0">
                <a:solidFill>
                  <a:schemeClr val="tx1">
                    <a:lumMod val="95000"/>
                    <a:lumOff val="5000"/>
                  </a:schemeClr>
                </a:solidFill>
                <a:latin typeface="微软雅黑" panose="020B0503020204020204" pitchFamily="34" charset="-122"/>
                <a:cs typeface="微软雅黑" panose="020B0503020204020204" pitchFamily="34" charset="-122"/>
                <a:sym typeface="+mn-ea"/>
              </a:rPr>
              <a:t>开发人员</a:t>
            </a:r>
            <a:r>
              <a:rPr lang="en-US" altLang="zh-CN" sz="1800" b="1" dirty="0">
                <a:solidFill>
                  <a:schemeClr val="tx1">
                    <a:lumMod val="95000"/>
                    <a:lumOff val="5000"/>
                  </a:schemeClr>
                </a:solidFill>
                <a:latin typeface="微软雅黑" panose="020B0503020204020204" pitchFamily="34" charset="-122"/>
                <a:cs typeface="微软雅黑" panose="020B0503020204020204" pitchFamily="34" charset="-122"/>
                <a:sym typeface="+mn-ea"/>
              </a:rPr>
              <a:t>-</a:t>
            </a:r>
            <a:r>
              <a:rPr lang="zh-CN" altLang="en-US" sz="1800" b="1" dirty="0">
                <a:solidFill>
                  <a:schemeClr val="tx1">
                    <a:lumMod val="95000"/>
                    <a:lumOff val="5000"/>
                  </a:schemeClr>
                </a:solidFill>
                <a:latin typeface="微软雅黑" panose="020B0503020204020204" pitchFamily="34" charset="-122"/>
                <a:cs typeface="微软雅黑" panose="020B0503020204020204" pitchFamily="34" charset="-122"/>
                <a:sym typeface="+mn-ea"/>
              </a:rPr>
              <a:t>拥有开发产品或应用所需技能的人员。</a:t>
            </a:r>
            <a:endParaRPr lang="zh-CN" altLang="en-US" sz="1800" b="1" dirty="0">
              <a:solidFill>
                <a:schemeClr val="tx1">
                  <a:lumMod val="95000"/>
                  <a:lumOff val="5000"/>
                </a:schemeClr>
              </a:solidFill>
              <a:latin typeface="微软雅黑" panose="020B0503020204020204" pitchFamily="34" charset="-122"/>
              <a:cs typeface="微软雅黑" panose="020B0503020204020204" pitchFamily="34" charset="-122"/>
              <a:sym typeface="+mn-ea"/>
            </a:endParaRPr>
          </a:p>
          <a:p>
            <a:pPr marL="914400" lvl="1" indent="-457200">
              <a:buAutoNum type="arabicPeriod"/>
            </a:pPr>
            <a:r>
              <a:rPr lang="zh-CN" altLang="en-US" sz="1800" b="1" dirty="0">
                <a:solidFill>
                  <a:schemeClr val="tx1">
                    <a:lumMod val="95000"/>
                    <a:lumOff val="5000"/>
                  </a:schemeClr>
                </a:solidFill>
                <a:latin typeface="微软雅黑" panose="020B0503020204020204" pitchFamily="34" charset="-122"/>
                <a:cs typeface="微软雅黑" panose="020B0503020204020204" pitchFamily="34" charset="-122"/>
                <a:sym typeface="+mn-ea"/>
              </a:rPr>
              <a:t>客户</a:t>
            </a:r>
            <a:r>
              <a:rPr lang="en-US" altLang="zh-CN" sz="1800" b="1" dirty="0">
                <a:solidFill>
                  <a:schemeClr val="tx1">
                    <a:lumMod val="95000"/>
                    <a:lumOff val="5000"/>
                  </a:schemeClr>
                </a:solidFill>
                <a:latin typeface="微软雅黑" panose="020B0503020204020204" pitchFamily="34" charset="-122"/>
                <a:cs typeface="微软雅黑" panose="020B0503020204020204" pitchFamily="34" charset="-122"/>
                <a:sym typeface="+mn-ea"/>
              </a:rPr>
              <a:t>-</a:t>
            </a:r>
            <a:r>
              <a:rPr lang="zh-CN" altLang="en-US" sz="1800" b="1" dirty="0">
                <a:solidFill>
                  <a:schemeClr val="tx1">
                    <a:lumMod val="95000"/>
                    <a:lumOff val="5000"/>
                  </a:schemeClr>
                </a:solidFill>
                <a:latin typeface="微软雅黑" panose="020B0503020204020204" pitchFamily="34" charset="-122"/>
                <a:cs typeface="微软雅黑" panose="020B0503020204020204" pitchFamily="34" charset="-122"/>
                <a:sym typeface="+mn-ea"/>
              </a:rPr>
              <a:t>阐明待要开发软件需求的人员及关心项目成败的其他利益相关者。</a:t>
            </a:r>
            <a:endParaRPr lang="zh-CN" altLang="en-US" sz="1800" b="1" dirty="0">
              <a:solidFill>
                <a:schemeClr val="tx1">
                  <a:lumMod val="95000"/>
                  <a:lumOff val="5000"/>
                </a:schemeClr>
              </a:solidFill>
              <a:latin typeface="微软雅黑" panose="020B0503020204020204" pitchFamily="34" charset="-122"/>
              <a:cs typeface="微软雅黑" panose="020B0503020204020204" pitchFamily="34" charset="-122"/>
              <a:sym typeface="+mn-ea"/>
            </a:endParaRPr>
          </a:p>
          <a:p>
            <a:pPr marL="914400" lvl="1" indent="-457200">
              <a:buAutoNum type="arabicPeriod"/>
            </a:pPr>
            <a:r>
              <a:rPr lang="zh-CN" altLang="en-US" sz="1800" b="1" dirty="0">
                <a:solidFill>
                  <a:schemeClr val="tx1">
                    <a:lumMod val="95000"/>
                    <a:lumOff val="5000"/>
                  </a:schemeClr>
                </a:solidFill>
                <a:latin typeface="微软雅黑" panose="020B0503020204020204" pitchFamily="34" charset="-122"/>
                <a:cs typeface="微软雅黑" panose="020B0503020204020204" pitchFamily="34" charset="-122"/>
                <a:sym typeface="+mn-ea"/>
              </a:rPr>
              <a:t>最终用户</a:t>
            </a:r>
            <a:r>
              <a:rPr lang="en-US" altLang="zh-CN" sz="1800" b="1" dirty="0">
                <a:solidFill>
                  <a:schemeClr val="tx1">
                    <a:lumMod val="95000"/>
                    <a:lumOff val="5000"/>
                  </a:schemeClr>
                </a:solidFill>
                <a:latin typeface="微软雅黑" panose="020B0503020204020204" pitchFamily="34" charset="-122"/>
                <a:cs typeface="微软雅黑" panose="020B0503020204020204" pitchFamily="34" charset="-122"/>
                <a:sym typeface="+mn-ea"/>
              </a:rPr>
              <a:t>-</a:t>
            </a:r>
            <a:r>
              <a:rPr lang="zh-CN" altLang="en-US" sz="1800" b="1" dirty="0">
                <a:solidFill>
                  <a:schemeClr val="tx1">
                    <a:lumMod val="95000"/>
                    <a:lumOff val="5000"/>
                  </a:schemeClr>
                </a:solidFill>
                <a:latin typeface="微软雅黑" panose="020B0503020204020204" pitchFamily="34" charset="-122"/>
                <a:cs typeface="微软雅黑" panose="020B0503020204020204" pitchFamily="34" charset="-122"/>
                <a:sym typeface="+mn-ea"/>
              </a:rPr>
              <a:t>一旦软件发布成为产品，最终用户就是直接与软件交互的人。</a:t>
            </a:r>
            <a:endParaRPr lang="zh-CN" altLang="en-US" sz="1800" b="1" dirty="0">
              <a:solidFill>
                <a:schemeClr val="tx1">
                  <a:lumMod val="95000"/>
                  <a:lumOff val="5000"/>
                </a:schemeClr>
              </a:solidFill>
              <a:latin typeface="微软雅黑" panose="020B0503020204020204" pitchFamily="34" charset="-122"/>
              <a:cs typeface="微软雅黑" panose="020B0503020204020204" pitchFamily="34" charset="-122"/>
              <a:sym typeface="+mn-ea"/>
            </a:endParaRPr>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人员</a:t>
            </a:r>
            <a:r>
              <a:rPr lang="en-US" altLang="zh-CN" dirty="0" smtClean="0"/>
              <a:t>——</a:t>
            </a:r>
            <a:r>
              <a:rPr lang="zh-CN" altLang="zh-CN" dirty="0">
                <a:latin typeface="微软雅黑" panose="020B0503020204020204" pitchFamily="34" charset="-122"/>
                <a:cs typeface="微软雅黑" panose="020B0503020204020204" pitchFamily="34" charset="-122"/>
                <a:sym typeface="+mn-ea"/>
              </a:rPr>
              <a:t>团队负责人</a:t>
            </a:r>
            <a:endParaRPr lang="zh-CN" altLang="en-US" dirty="0"/>
          </a:p>
        </p:txBody>
      </p:sp>
      <p:sp>
        <p:nvSpPr>
          <p:cNvPr id="3" name="内容占位符 2"/>
          <p:cNvSpPr>
            <a:spLocks noGrp="1"/>
          </p:cNvSpPr>
          <p:nvPr>
            <p:ph idx="1"/>
          </p:nvPr>
        </p:nvSpPr>
        <p:spPr/>
        <p:txBody>
          <a:bodyPr/>
          <a:lstStyle/>
          <a:p>
            <a:r>
              <a:rPr lang="zh-CN" altLang="zh-CN" dirty="0">
                <a:solidFill>
                  <a:schemeClr val="tx1">
                    <a:lumMod val="95000"/>
                    <a:lumOff val="5000"/>
                  </a:schemeClr>
                </a:solidFill>
                <a:latin typeface="微软雅黑" panose="020B0503020204020204" pitchFamily="34" charset="-122"/>
                <a:cs typeface="微软雅黑" panose="020B0503020204020204" pitchFamily="34" charset="-122"/>
                <a:sym typeface="+mn-ea"/>
              </a:rPr>
              <a:t>团队负责人（</a:t>
            </a:r>
            <a:r>
              <a:rPr lang="en-US" altLang="zh-CN" dirty="0">
                <a:solidFill>
                  <a:schemeClr val="tx1">
                    <a:lumMod val="95000"/>
                    <a:lumOff val="5000"/>
                  </a:schemeClr>
                </a:solidFill>
                <a:latin typeface="微软雅黑" panose="020B0503020204020204" pitchFamily="34" charset="-122"/>
                <a:cs typeface="微软雅黑" panose="020B0503020204020204" pitchFamily="34" charset="-122"/>
                <a:sym typeface="+mn-ea"/>
              </a:rPr>
              <a:t>MOI</a:t>
            </a:r>
            <a:r>
              <a:rPr lang="zh-CN" altLang="en-US" dirty="0">
                <a:solidFill>
                  <a:schemeClr val="tx1">
                    <a:lumMod val="95000"/>
                    <a:lumOff val="5000"/>
                  </a:schemeClr>
                </a:solidFill>
                <a:latin typeface="微软雅黑" panose="020B0503020204020204" pitchFamily="34" charset="-122"/>
                <a:cs typeface="微软雅黑" panose="020B0503020204020204" pitchFamily="34" charset="-122"/>
                <a:sym typeface="+mn-ea"/>
              </a:rPr>
              <a:t>模型</a:t>
            </a:r>
            <a:r>
              <a:rPr lang="zh-CN" altLang="zh-CN" dirty="0" smtClean="0">
                <a:solidFill>
                  <a:schemeClr val="tx1">
                    <a:lumMod val="95000"/>
                    <a:lumOff val="5000"/>
                  </a:schemeClr>
                </a:solidFill>
                <a:latin typeface="微软雅黑" panose="020B0503020204020204" pitchFamily="34" charset="-122"/>
                <a:cs typeface="微软雅黑" panose="020B0503020204020204" pitchFamily="34" charset="-122"/>
                <a:sym typeface="+mn-ea"/>
              </a:rPr>
              <a:t>）</a:t>
            </a:r>
            <a:endParaRPr lang="en-US" altLang="zh-CN" dirty="0" smtClean="0">
              <a:solidFill>
                <a:schemeClr val="tx1">
                  <a:lumMod val="95000"/>
                  <a:lumOff val="5000"/>
                </a:schemeClr>
              </a:solidFill>
              <a:latin typeface="微软雅黑" panose="020B0503020204020204" pitchFamily="34" charset="-122"/>
              <a:cs typeface="微软雅黑" panose="020B0503020204020204" pitchFamily="34" charset="-122"/>
              <a:sym typeface="+mn-ea"/>
            </a:endParaRPr>
          </a:p>
          <a:p>
            <a:pPr lvl="1"/>
            <a:r>
              <a:rPr lang="zh-CN" altLang="en-US" dirty="0" smtClean="0">
                <a:solidFill>
                  <a:schemeClr val="tx1">
                    <a:lumMod val="95000"/>
                    <a:lumOff val="5000"/>
                  </a:schemeClr>
                </a:solidFill>
                <a:latin typeface="微软雅黑" panose="020B0503020204020204" pitchFamily="34" charset="-122"/>
                <a:sym typeface="+mn-ea"/>
              </a:rPr>
              <a:t>激励（</a:t>
            </a:r>
            <a:r>
              <a:rPr lang="en-US" altLang="zh-CN" dirty="0" smtClean="0">
                <a:solidFill>
                  <a:schemeClr val="tx1">
                    <a:lumMod val="95000"/>
                    <a:lumOff val="5000"/>
                  </a:schemeClr>
                </a:solidFill>
                <a:latin typeface="微软雅黑" panose="020B0503020204020204" pitchFamily="34" charset="-122"/>
                <a:sym typeface="+mn-ea"/>
              </a:rPr>
              <a:t>Motivation</a:t>
            </a:r>
            <a:r>
              <a:rPr lang="zh-CN" altLang="en-US" dirty="0" smtClean="0">
                <a:solidFill>
                  <a:schemeClr val="tx1">
                    <a:lumMod val="95000"/>
                    <a:lumOff val="5000"/>
                  </a:schemeClr>
                </a:solidFill>
                <a:latin typeface="微软雅黑" panose="020B0503020204020204" pitchFamily="34" charset="-122"/>
                <a:sym typeface="+mn-ea"/>
              </a:rPr>
              <a:t>）：鼓励技术人员发挥最大才能的一种能力。</a:t>
            </a:r>
            <a:endParaRPr lang="en-US" altLang="zh-CN" dirty="0" smtClean="0">
              <a:solidFill>
                <a:schemeClr val="tx1">
                  <a:lumMod val="95000"/>
                  <a:lumOff val="5000"/>
                </a:schemeClr>
              </a:solidFill>
              <a:latin typeface="微软雅黑" panose="020B0503020204020204" pitchFamily="34" charset="-122"/>
              <a:sym typeface="+mn-ea"/>
            </a:endParaRPr>
          </a:p>
          <a:p>
            <a:pPr lvl="1"/>
            <a:r>
              <a:rPr lang="zh-CN" altLang="en-US" dirty="0" smtClean="0">
                <a:solidFill>
                  <a:schemeClr val="tx1">
                    <a:lumMod val="95000"/>
                    <a:lumOff val="5000"/>
                  </a:schemeClr>
                </a:solidFill>
                <a:latin typeface="微软雅黑" panose="020B0503020204020204" pitchFamily="34" charset="-122"/>
                <a:sym typeface="+mn-ea"/>
              </a:rPr>
              <a:t>组织（</a:t>
            </a:r>
            <a:r>
              <a:rPr lang="en-US" altLang="zh-CN" dirty="0" smtClean="0">
                <a:solidFill>
                  <a:schemeClr val="tx1">
                    <a:lumMod val="95000"/>
                    <a:lumOff val="5000"/>
                  </a:schemeClr>
                </a:solidFill>
                <a:latin typeface="微软雅黑" panose="020B0503020204020204" pitchFamily="34" charset="-122"/>
                <a:sym typeface="+mn-ea"/>
              </a:rPr>
              <a:t>Organization</a:t>
            </a:r>
            <a:r>
              <a:rPr lang="zh-CN" altLang="en-US" dirty="0" smtClean="0">
                <a:solidFill>
                  <a:schemeClr val="tx1">
                    <a:lumMod val="95000"/>
                    <a:lumOff val="5000"/>
                  </a:schemeClr>
                </a:solidFill>
                <a:latin typeface="微软雅黑" panose="020B0503020204020204" pitchFamily="34" charset="-122"/>
                <a:sym typeface="+mn-ea"/>
              </a:rPr>
              <a:t>）：形成能够将最初概念转换成最终产品的现有过程（或创造新的过程）的能力。</a:t>
            </a:r>
            <a:endParaRPr lang="en-US" altLang="zh-CN" dirty="0" smtClean="0">
              <a:solidFill>
                <a:schemeClr val="tx1">
                  <a:lumMod val="95000"/>
                  <a:lumOff val="5000"/>
                </a:schemeClr>
              </a:solidFill>
              <a:latin typeface="微软雅黑" panose="020B0503020204020204" pitchFamily="34" charset="-122"/>
              <a:sym typeface="+mn-ea"/>
            </a:endParaRPr>
          </a:p>
          <a:p>
            <a:pPr lvl="1"/>
            <a:r>
              <a:rPr lang="zh-CN" altLang="en-US" dirty="0" smtClean="0">
                <a:solidFill>
                  <a:schemeClr val="tx1">
                    <a:lumMod val="95000"/>
                    <a:lumOff val="5000"/>
                  </a:schemeClr>
                </a:solidFill>
                <a:latin typeface="微软雅黑" panose="020B0503020204020204" pitchFamily="34" charset="-122"/>
                <a:sym typeface="+mn-ea"/>
              </a:rPr>
              <a:t>思想或创新（</a:t>
            </a:r>
            <a:r>
              <a:rPr lang="en-US" altLang="zh-CN" dirty="0" smtClean="0">
                <a:solidFill>
                  <a:schemeClr val="tx1">
                    <a:lumMod val="95000"/>
                    <a:lumOff val="5000"/>
                  </a:schemeClr>
                </a:solidFill>
                <a:latin typeface="微软雅黑" panose="020B0503020204020204" pitchFamily="34" charset="-122"/>
                <a:sym typeface="+mn-ea"/>
              </a:rPr>
              <a:t>Ideas or Innovation</a:t>
            </a:r>
            <a:r>
              <a:rPr lang="zh-CN" altLang="en-US" dirty="0" smtClean="0">
                <a:solidFill>
                  <a:schemeClr val="tx1">
                    <a:lumMod val="95000"/>
                    <a:lumOff val="5000"/>
                  </a:schemeClr>
                </a:solidFill>
                <a:latin typeface="微软雅黑" panose="020B0503020204020204" pitchFamily="34" charset="-122"/>
                <a:sym typeface="+mn-ea"/>
              </a:rPr>
              <a:t>）：即使必须在特定软件产品或应用系统的约束下工作，也能鼓励人们去创造并让人感到有创造性的一种能力。</a:t>
            </a:r>
            <a:endParaRPr lang="zh-CN" altLang="en-US" dirty="0"/>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人员</a:t>
            </a:r>
            <a:r>
              <a:rPr lang="en-US" altLang="zh-CN" dirty="0" smtClean="0"/>
              <a:t>——</a:t>
            </a:r>
            <a:r>
              <a:rPr lang="zh-CN" altLang="en-US" dirty="0">
                <a:latin typeface="微软雅黑" panose="020B0503020204020204" pitchFamily="34" charset="-122"/>
                <a:cs typeface="微软雅黑" panose="020B0503020204020204" pitchFamily="34" charset="-122"/>
                <a:sym typeface="+mn-ea"/>
              </a:rPr>
              <a:t>项目负责人</a:t>
            </a:r>
            <a:endParaRPr lang="zh-CN" altLang="en-US" dirty="0"/>
          </a:p>
        </p:txBody>
      </p:sp>
      <p:sp>
        <p:nvSpPr>
          <p:cNvPr id="3" name="内容占位符 2"/>
          <p:cNvSpPr>
            <a:spLocks noGrp="1"/>
          </p:cNvSpPr>
          <p:nvPr>
            <p:ph idx="1"/>
          </p:nvPr>
        </p:nvSpPr>
        <p:spPr/>
        <p:txBody>
          <a:bodyPr/>
          <a:lstStyle/>
          <a:p>
            <a:r>
              <a:rPr lang="en-US" altLang="zh-CN" sz="2400" dirty="0">
                <a:solidFill>
                  <a:schemeClr val="tx1">
                    <a:lumMod val="95000"/>
                    <a:lumOff val="5000"/>
                  </a:schemeClr>
                </a:solidFill>
                <a:latin typeface="微软雅黑" panose="020B0503020204020204" pitchFamily="34" charset="-122"/>
                <a:cs typeface="微软雅黑" panose="020B0503020204020204" pitchFamily="34" charset="-122"/>
                <a:sym typeface="+mn-ea"/>
              </a:rPr>
              <a:t>Weinberg</a:t>
            </a:r>
            <a:r>
              <a:rPr lang="zh-CN" altLang="en-US" sz="2400" dirty="0">
                <a:solidFill>
                  <a:schemeClr val="tx1">
                    <a:lumMod val="95000"/>
                    <a:lumOff val="5000"/>
                  </a:schemeClr>
                </a:solidFill>
                <a:latin typeface="微软雅黑" panose="020B0503020204020204" pitchFamily="34" charset="-122"/>
                <a:cs typeface="微软雅黑" panose="020B0503020204020204" pitchFamily="34" charset="-122"/>
                <a:sym typeface="+mn-ea"/>
              </a:rPr>
              <a:t>提出，成功的项目负责人应该采用一种解决问题的管理</a:t>
            </a:r>
            <a:r>
              <a:rPr lang="zh-CN" altLang="en-US" sz="2400" dirty="0" smtClean="0">
                <a:solidFill>
                  <a:schemeClr val="tx1">
                    <a:lumMod val="95000"/>
                    <a:lumOff val="5000"/>
                  </a:schemeClr>
                </a:solidFill>
                <a:latin typeface="微软雅黑" panose="020B0503020204020204" pitchFamily="34" charset="-122"/>
                <a:cs typeface="微软雅黑" panose="020B0503020204020204" pitchFamily="34" charset="-122"/>
                <a:sym typeface="+mn-ea"/>
              </a:rPr>
              <a:t>风格。</a:t>
            </a:r>
            <a:r>
              <a:rPr lang="zh-CN" altLang="en-US" sz="2400" dirty="0">
                <a:solidFill>
                  <a:schemeClr val="tx1">
                    <a:lumMod val="95000"/>
                    <a:lumOff val="5000"/>
                  </a:schemeClr>
                </a:solidFill>
                <a:latin typeface="微软雅黑" panose="020B0503020204020204" pitchFamily="34" charset="-122"/>
                <a:cs typeface="微软雅黑" panose="020B0503020204020204" pitchFamily="34" charset="-122"/>
                <a:sym typeface="+mn-ea"/>
              </a:rPr>
              <a:t>强调以下</a:t>
            </a:r>
            <a:r>
              <a:rPr lang="en-US" altLang="zh-CN" sz="2400" dirty="0">
                <a:solidFill>
                  <a:schemeClr val="tx1">
                    <a:lumMod val="95000"/>
                    <a:lumOff val="5000"/>
                  </a:schemeClr>
                </a:solidFill>
                <a:latin typeface="微软雅黑" panose="020B0503020204020204" pitchFamily="34" charset="-122"/>
                <a:cs typeface="微软雅黑" panose="020B0503020204020204" pitchFamily="34" charset="-122"/>
                <a:sym typeface="+mn-ea"/>
              </a:rPr>
              <a:t>4</a:t>
            </a:r>
            <a:r>
              <a:rPr lang="zh-CN" altLang="en-US" sz="2400" dirty="0">
                <a:solidFill>
                  <a:schemeClr val="tx1">
                    <a:lumMod val="95000"/>
                    <a:lumOff val="5000"/>
                  </a:schemeClr>
                </a:solidFill>
                <a:latin typeface="微软雅黑" panose="020B0503020204020204" pitchFamily="34" charset="-122"/>
                <a:cs typeface="微软雅黑" panose="020B0503020204020204" pitchFamily="34" charset="-122"/>
                <a:sym typeface="+mn-ea"/>
              </a:rPr>
              <a:t>种关键</a:t>
            </a:r>
            <a:r>
              <a:rPr lang="zh-CN" altLang="en-US" sz="2400" dirty="0" smtClean="0">
                <a:solidFill>
                  <a:schemeClr val="tx1">
                    <a:lumMod val="95000"/>
                    <a:lumOff val="5000"/>
                  </a:schemeClr>
                </a:solidFill>
                <a:latin typeface="微软雅黑" panose="020B0503020204020204" pitchFamily="34" charset="-122"/>
                <a:cs typeface="微软雅黑" panose="020B0503020204020204" pitchFamily="34" charset="-122"/>
                <a:sym typeface="+mn-ea"/>
              </a:rPr>
              <a:t>素质：</a:t>
            </a:r>
            <a:endParaRPr lang="en-US" altLang="zh-CN" sz="2400" dirty="0" smtClean="0">
              <a:solidFill>
                <a:schemeClr val="tx1">
                  <a:lumMod val="95000"/>
                  <a:lumOff val="5000"/>
                </a:schemeClr>
              </a:solidFill>
              <a:latin typeface="微软雅黑" panose="020B0503020204020204" pitchFamily="34" charset="-122"/>
              <a:cs typeface="微软雅黑" panose="020B0503020204020204" pitchFamily="34" charset="-122"/>
              <a:sym typeface="+mn-ea"/>
            </a:endParaRPr>
          </a:p>
          <a:p>
            <a:r>
              <a:rPr lang="zh-CN" altLang="en-US" sz="2400" dirty="0" smtClean="0">
                <a:solidFill>
                  <a:schemeClr val="tx1">
                    <a:lumMod val="95000"/>
                    <a:lumOff val="5000"/>
                  </a:schemeClr>
                </a:solidFill>
                <a:latin typeface="微软雅黑" panose="020B0503020204020204" pitchFamily="34" charset="-122"/>
                <a:sym typeface="+mn-ea"/>
              </a:rPr>
              <a:t>解决问题：技术问题和组织问题。</a:t>
            </a:r>
            <a:endParaRPr lang="en-US" altLang="zh-CN" sz="2400" dirty="0" smtClean="0">
              <a:solidFill>
                <a:schemeClr val="tx1">
                  <a:lumMod val="95000"/>
                  <a:lumOff val="5000"/>
                </a:schemeClr>
              </a:solidFill>
              <a:latin typeface="微软雅黑" panose="020B0503020204020204" pitchFamily="34" charset="-122"/>
              <a:sym typeface="+mn-ea"/>
            </a:endParaRPr>
          </a:p>
          <a:p>
            <a:r>
              <a:rPr lang="zh-CN" altLang="en-US" sz="2400" dirty="0">
                <a:solidFill>
                  <a:schemeClr val="tx1">
                    <a:lumMod val="95000"/>
                    <a:lumOff val="5000"/>
                  </a:schemeClr>
                </a:solidFill>
                <a:latin typeface="微软雅黑" panose="020B0503020204020204" pitchFamily="34" charset="-122"/>
                <a:sym typeface="+mn-ea"/>
              </a:rPr>
              <a:t>管理</a:t>
            </a:r>
            <a:r>
              <a:rPr lang="zh-CN" altLang="en-US" sz="2400" dirty="0" smtClean="0">
                <a:solidFill>
                  <a:schemeClr val="tx1">
                    <a:lumMod val="95000"/>
                    <a:lumOff val="5000"/>
                  </a:schemeClr>
                </a:solidFill>
                <a:latin typeface="微软雅黑" panose="020B0503020204020204" pitchFamily="34" charset="-122"/>
                <a:sym typeface="+mn-ea"/>
              </a:rPr>
              <a:t>者的特性：掌控整个项目（包括项目和人）。</a:t>
            </a:r>
            <a:endParaRPr lang="en-US" altLang="zh-CN" sz="2400" dirty="0" smtClean="0">
              <a:solidFill>
                <a:schemeClr val="tx1">
                  <a:lumMod val="95000"/>
                  <a:lumOff val="5000"/>
                </a:schemeClr>
              </a:solidFill>
              <a:latin typeface="微软雅黑" panose="020B0503020204020204" pitchFamily="34" charset="-122"/>
              <a:sym typeface="+mn-ea"/>
            </a:endParaRPr>
          </a:p>
          <a:p>
            <a:r>
              <a:rPr lang="zh-CN" altLang="en-US" sz="2400" dirty="0" smtClean="0">
                <a:solidFill>
                  <a:schemeClr val="tx1">
                    <a:lumMod val="95000"/>
                    <a:lumOff val="5000"/>
                  </a:schemeClr>
                </a:solidFill>
                <a:latin typeface="微软雅黑" panose="020B0503020204020204" pitchFamily="34" charset="-122"/>
                <a:sym typeface="+mn-ea"/>
              </a:rPr>
              <a:t>成就：优化项目团队的效率。</a:t>
            </a:r>
            <a:endParaRPr lang="en-US" altLang="zh-CN" sz="2400" dirty="0" smtClean="0">
              <a:solidFill>
                <a:schemeClr val="tx1">
                  <a:lumMod val="95000"/>
                  <a:lumOff val="5000"/>
                </a:schemeClr>
              </a:solidFill>
              <a:latin typeface="微软雅黑" panose="020B0503020204020204" pitchFamily="34" charset="-122"/>
              <a:sym typeface="+mn-ea"/>
            </a:endParaRPr>
          </a:p>
          <a:p>
            <a:r>
              <a:rPr lang="zh-CN" altLang="en-US" sz="2400" dirty="0" smtClean="0">
                <a:solidFill>
                  <a:schemeClr val="tx1">
                    <a:lumMod val="95000"/>
                    <a:lumOff val="5000"/>
                  </a:schemeClr>
                </a:solidFill>
                <a:latin typeface="微软雅黑" panose="020B0503020204020204" pitchFamily="34" charset="-122"/>
                <a:sym typeface="+mn-ea"/>
              </a:rPr>
              <a:t>影响和队伍建设：能够“理解”人。</a:t>
            </a:r>
            <a:endParaRPr lang="zh-CN" altLang="en-US" sz="2400" dirty="0" smtClean="0">
              <a:solidFill>
                <a:schemeClr val="tx1">
                  <a:lumMod val="95000"/>
                  <a:lumOff val="5000"/>
                </a:schemeClr>
              </a:solidFill>
              <a:latin typeface="微软雅黑" panose="020B0503020204020204" pitchFamily="34" charset="-122"/>
              <a:sym typeface="+mn-ea"/>
            </a:endParaRPr>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人员</a:t>
            </a:r>
            <a:r>
              <a:rPr lang="en-US" altLang="zh-CN" dirty="0" smtClean="0"/>
              <a:t>——</a:t>
            </a:r>
            <a:r>
              <a:rPr lang="zh-CN" altLang="en-US" dirty="0" smtClean="0"/>
              <a:t>软件团队</a:t>
            </a:r>
            <a:endParaRPr lang="zh-CN" altLang="en-US" dirty="0"/>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object 4"/>
          <p:cNvSpPr txBox="1"/>
          <p:nvPr/>
        </p:nvSpPr>
        <p:spPr>
          <a:xfrm>
            <a:off x="624840" y="1264285"/>
            <a:ext cx="2902585" cy="2910205"/>
          </a:xfrm>
          <a:prstGeom prst="rect">
            <a:avLst/>
          </a:prstGeom>
        </p:spPr>
        <p:txBody>
          <a:bodyPr vert="horz" wrap="square" lIns="0" tIns="9525" rIns="0" bIns="0" rtlCol="0">
            <a:spAutoFit/>
          </a:bodyPr>
          <a:lstStyle/>
          <a:p>
            <a:pPr marL="76200" indent="0" defTabSz="0">
              <a:spcBef>
                <a:spcPts val="1230"/>
              </a:spcBef>
              <a:buFont typeface="Wingdings" panose="05000000000000000000"/>
              <a:buNone/>
              <a:tabLst>
                <a:tab pos="349250" algn="l"/>
                <a:tab pos="349885" algn="l"/>
              </a:tabLst>
            </a:pPr>
            <a:r>
              <a:rPr lang="zh-CN" sz="2400" dirty="0">
                <a:latin typeface="微软雅黑" panose="020B0503020204020204" pitchFamily="34" charset="-122"/>
                <a:cs typeface="微软雅黑" panose="020B0503020204020204" pitchFamily="34" charset="-122"/>
              </a:rPr>
              <a:t>团队的共同特征：</a:t>
            </a:r>
            <a:endParaRPr lang="zh-CN" sz="2400" dirty="0">
              <a:latin typeface="微软雅黑" panose="020B0503020204020204" pitchFamily="34" charset="-122"/>
              <a:cs typeface="微软雅黑" panose="020B0503020204020204" pitchFamily="34" charset="-122"/>
            </a:endParaRPr>
          </a:p>
          <a:p>
            <a:pPr marL="76200" indent="0" defTabSz="0">
              <a:spcBef>
                <a:spcPts val="1230"/>
              </a:spcBef>
              <a:buFont typeface="Wingdings" panose="05000000000000000000"/>
              <a:buNone/>
              <a:tabLst>
                <a:tab pos="349250" algn="l"/>
                <a:tab pos="349885" algn="l"/>
              </a:tabLst>
            </a:pPr>
            <a:r>
              <a:rPr lang="zh-CN" sz="2400" b="1" dirty="0">
                <a:latin typeface="微软雅黑" panose="020B0503020204020204" pitchFamily="34" charset="-122"/>
                <a:cs typeface="微软雅黑" panose="020B0503020204020204" pitchFamily="34" charset="-122"/>
              </a:rPr>
              <a:t>（</a:t>
            </a:r>
            <a:r>
              <a:rPr lang="en-US" altLang="zh-CN" sz="2400" b="1" dirty="0">
                <a:latin typeface="微软雅黑" panose="020B0503020204020204" pitchFamily="34" charset="-122"/>
                <a:cs typeface="微软雅黑" panose="020B0503020204020204" pitchFamily="34" charset="-122"/>
              </a:rPr>
              <a:t>1</a:t>
            </a:r>
            <a:r>
              <a:rPr lang="zh-CN" altLang="en-US" sz="2400" b="1" dirty="0">
                <a:latin typeface="微软雅黑" panose="020B0503020204020204" pitchFamily="34" charset="-122"/>
                <a:cs typeface="微软雅黑" panose="020B0503020204020204" pitchFamily="34" charset="-122"/>
              </a:rPr>
              <a:t>）团队有一致的集体目标，团队要一起完成这目标；</a:t>
            </a:r>
            <a:endParaRPr lang="zh-CN" altLang="en-US" sz="2400" b="1" dirty="0">
              <a:latin typeface="微软雅黑" panose="020B0503020204020204" pitchFamily="34" charset="-122"/>
              <a:cs typeface="微软雅黑" panose="020B0503020204020204" pitchFamily="34" charset="-122"/>
            </a:endParaRPr>
          </a:p>
          <a:p>
            <a:pPr marL="76200" indent="0" defTabSz="0">
              <a:spcBef>
                <a:spcPts val="1230"/>
              </a:spcBef>
              <a:buFont typeface="Wingdings" panose="05000000000000000000"/>
              <a:buNone/>
              <a:tabLst>
                <a:tab pos="349250" algn="l"/>
                <a:tab pos="349885" algn="l"/>
              </a:tabLst>
            </a:pPr>
            <a:r>
              <a:rPr lang="zh-CN" altLang="en-US" sz="2400" b="1" dirty="0">
                <a:latin typeface="微软雅黑" panose="020B0503020204020204" pitchFamily="34" charset="-122"/>
                <a:cs typeface="微软雅黑" panose="020B0503020204020204" pitchFamily="34" charset="-122"/>
              </a:rPr>
              <a:t>（</a:t>
            </a:r>
            <a:r>
              <a:rPr lang="en-US" altLang="zh-CN" sz="2400" b="1" dirty="0">
                <a:latin typeface="微软雅黑" panose="020B0503020204020204" pitchFamily="34" charset="-122"/>
                <a:cs typeface="微软雅黑" panose="020B0503020204020204" pitchFamily="34" charset="-122"/>
              </a:rPr>
              <a:t>2</a:t>
            </a:r>
            <a:r>
              <a:rPr lang="zh-CN" altLang="en-US" sz="2400" b="1" dirty="0">
                <a:latin typeface="微软雅黑" panose="020B0503020204020204" pitchFamily="34" charset="-122"/>
                <a:cs typeface="微软雅黑" panose="020B0503020204020204" pitchFamily="34" charset="-122"/>
              </a:rPr>
              <a:t>）团队成员有各自的分工，互相依赖合作，共同完成任务。</a:t>
            </a:r>
            <a:endParaRPr lang="zh-CN" sz="2400" b="1" dirty="0">
              <a:latin typeface="微软雅黑" panose="020B0503020204020204" pitchFamily="34" charset="-122"/>
              <a:cs typeface="微软雅黑" panose="020B0503020204020204" pitchFamily="34" charset="-122"/>
            </a:endParaRPr>
          </a:p>
        </p:txBody>
      </p:sp>
      <p:pic>
        <p:nvPicPr>
          <p:cNvPr id="8" name="图片 7" descr="团队协作"/>
          <p:cNvPicPr>
            <a:picLocks noChangeAspect="1"/>
          </p:cNvPicPr>
          <p:nvPr/>
        </p:nvPicPr>
        <p:blipFill>
          <a:blip r:embed="rId1"/>
          <a:stretch>
            <a:fillRect/>
          </a:stretch>
        </p:blipFill>
        <p:spPr>
          <a:xfrm>
            <a:off x="3665220" y="1263650"/>
            <a:ext cx="2921000" cy="1947545"/>
          </a:xfrm>
          <a:prstGeom prst="rect">
            <a:avLst/>
          </a:prstGeom>
        </p:spPr>
      </p:pic>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4015" y="1263650"/>
            <a:ext cx="2092325" cy="261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人员</a:t>
            </a:r>
            <a:r>
              <a:rPr lang="en-US" altLang="zh-CN" dirty="0"/>
              <a:t>——</a:t>
            </a:r>
            <a:r>
              <a:rPr lang="zh-CN" altLang="en-US" dirty="0"/>
              <a:t>软件团队</a:t>
            </a:r>
            <a:endParaRPr lang="zh-CN" altLang="en-US" dirty="0"/>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object 4"/>
          <p:cNvSpPr txBox="1"/>
          <p:nvPr/>
        </p:nvSpPr>
        <p:spPr>
          <a:xfrm>
            <a:off x="568325" y="1477010"/>
            <a:ext cx="2665095" cy="1856105"/>
          </a:xfrm>
          <a:prstGeom prst="rect">
            <a:avLst/>
          </a:prstGeom>
        </p:spPr>
        <p:txBody>
          <a:bodyPr vert="horz" wrap="square" lIns="0" tIns="9525" rIns="0" bIns="0" rtlCol="0">
            <a:spAutoFit/>
          </a:bodyPr>
          <a:lstStyle/>
          <a:p>
            <a:pPr marL="76200" indent="0" defTabSz="0">
              <a:spcBef>
                <a:spcPts val="1230"/>
              </a:spcBef>
              <a:buFont typeface="Wingdings" panose="05000000000000000000"/>
              <a:buNone/>
              <a:tabLst>
                <a:tab pos="349250" algn="l"/>
                <a:tab pos="349885" algn="l"/>
              </a:tabLst>
            </a:pPr>
            <a:r>
              <a:rPr lang="zh-CN" sz="2400" b="1" dirty="0">
                <a:latin typeface="微软雅黑" panose="020B0503020204020204" pitchFamily="34" charset="-122"/>
                <a:cs typeface="微软雅黑" panose="020B0503020204020204" pitchFamily="34" charset="-122"/>
              </a:rPr>
              <a:t>构造计算机软件是一项复杂的任务，尤其是当它涉及很多人员长期共同工作的时候（团队）。</a:t>
            </a:r>
            <a:endParaRPr lang="zh-CN" sz="2400" b="1" dirty="0">
              <a:latin typeface="微软雅黑" panose="020B0503020204020204" pitchFamily="34" charset="-122"/>
              <a:cs typeface="微软雅黑" panose="020B0503020204020204" pitchFamily="34" charset="-122"/>
            </a:endParaRPr>
          </a:p>
        </p:txBody>
      </p:sp>
      <p:pic>
        <p:nvPicPr>
          <p:cNvPr id="8" name="图片 7"/>
          <p:cNvPicPr>
            <a:picLocks noChangeAspect="1"/>
          </p:cNvPicPr>
          <p:nvPr/>
        </p:nvPicPr>
        <p:blipFill>
          <a:blip r:embed="rId1"/>
          <a:stretch>
            <a:fillRect/>
          </a:stretch>
        </p:blipFill>
        <p:spPr>
          <a:xfrm>
            <a:off x="3778885" y="1327785"/>
            <a:ext cx="4011295" cy="29838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高效的团队合作</a:t>
            </a:r>
            <a:endParaRPr lang="zh-CN" altLang="en-US" dirty="0"/>
          </a:p>
        </p:txBody>
      </p:sp>
      <p:pic>
        <p:nvPicPr>
          <p:cNvPr id="7" name="内容占位符 6"/>
          <p:cNvPicPr>
            <a:picLocks noGrp="1" noChangeAspect="1"/>
          </p:cNvPicPr>
          <p:nvPr>
            <p:ph idx="1"/>
          </p:nvPr>
        </p:nvPicPr>
        <p:blipFill>
          <a:blip r:embed="rId1"/>
          <a:stretch>
            <a:fillRect/>
          </a:stretch>
        </p:blipFill>
        <p:spPr>
          <a:xfrm>
            <a:off x="2917015" y="1060132"/>
            <a:ext cx="5678488" cy="3194150"/>
          </a:xfrm>
        </p:spPr>
      </p:pic>
      <p:sp>
        <p:nvSpPr>
          <p:cNvPr id="4" name="日期占位符 3"/>
          <p:cNvSpPr>
            <a:spLocks noGrp="1"/>
          </p:cNvSpPr>
          <p:nvPr>
            <p:ph type="dt" sz="half" idx="10"/>
          </p:nvPr>
        </p:nvSpPr>
        <p:spPr/>
        <p:txBody>
          <a:bodyPr/>
          <a:lstStyle/>
          <a:p>
            <a:fld id="{CBFA4B4D-0348-4EF6-89BA-CAAF6F729574}"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8" name="文本框 7"/>
          <p:cNvSpPr txBox="1"/>
          <p:nvPr/>
        </p:nvSpPr>
        <p:spPr>
          <a:xfrm>
            <a:off x="896112" y="2057042"/>
            <a:ext cx="1723549" cy="1200329"/>
          </a:xfrm>
          <a:prstGeom prst="rect">
            <a:avLst/>
          </a:prstGeom>
          <a:noFill/>
        </p:spPr>
        <p:txBody>
          <a:bodyPr wrap="none" rtlCol="0">
            <a:spAutoFit/>
          </a:bodyPr>
          <a:lstStyle/>
          <a:p>
            <a:r>
              <a:rPr lang="zh-CN" altLang="en-US" sz="2400" spc="600" dirty="0" smtClean="0">
                <a:solidFill>
                  <a:srgbClr val="FF0000"/>
                </a:solidFill>
                <a:latin typeface="+mj-ea"/>
                <a:ea typeface="+mj-ea"/>
              </a:rPr>
              <a:t>各司其职</a:t>
            </a:r>
            <a:endParaRPr lang="en-US" altLang="zh-CN" sz="2400" spc="600" dirty="0" smtClean="0">
              <a:solidFill>
                <a:srgbClr val="FF0000"/>
              </a:solidFill>
              <a:latin typeface="+mj-ea"/>
              <a:ea typeface="+mj-ea"/>
            </a:endParaRPr>
          </a:p>
          <a:p>
            <a:r>
              <a:rPr lang="zh-CN" altLang="en-US" sz="2400" spc="600" dirty="0" smtClean="0">
                <a:solidFill>
                  <a:srgbClr val="FF0000"/>
                </a:solidFill>
                <a:latin typeface="+mj-ea"/>
                <a:ea typeface="+mj-ea"/>
              </a:rPr>
              <a:t>紧密合作</a:t>
            </a:r>
            <a:endParaRPr lang="en-US" altLang="zh-CN" sz="2400" spc="600" dirty="0" smtClean="0">
              <a:solidFill>
                <a:srgbClr val="FF0000"/>
              </a:solidFill>
              <a:latin typeface="+mj-ea"/>
              <a:ea typeface="+mj-ea"/>
            </a:endParaRPr>
          </a:p>
          <a:p>
            <a:r>
              <a:rPr lang="zh-CN" altLang="en-US" sz="2400" spc="600" dirty="0" smtClean="0">
                <a:solidFill>
                  <a:srgbClr val="FF0000"/>
                </a:solidFill>
                <a:latin typeface="+mj-ea"/>
                <a:ea typeface="+mj-ea"/>
              </a:rPr>
              <a:t>合理有序</a:t>
            </a:r>
            <a:endParaRPr lang="zh-CN" altLang="en-US" sz="2400" spc="600" dirty="0">
              <a:solidFill>
                <a:srgbClr val="FF0000"/>
              </a:solidFill>
              <a:latin typeface="+mj-ea"/>
              <a:ea typeface="+mj-ea"/>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人员</a:t>
            </a:r>
            <a:r>
              <a:rPr lang="en-US" altLang="zh-CN" dirty="0" smtClean="0"/>
              <a:t>——</a:t>
            </a:r>
            <a:r>
              <a:rPr lang="zh-CN" altLang="en-US" dirty="0" smtClean="0"/>
              <a:t>软件团队</a:t>
            </a:r>
            <a:endParaRPr lang="zh-CN" altLang="en-US" dirty="0"/>
          </a:p>
        </p:txBody>
      </p:sp>
      <p:sp>
        <p:nvSpPr>
          <p:cNvPr id="3" name="内容占位符 2"/>
          <p:cNvSpPr>
            <a:spLocks noGrp="1"/>
          </p:cNvSpPr>
          <p:nvPr>
            <p:ph idx="1"/>
          </p:nvPr>
        </p:nvSpPr>
        <p:spPr/>
        <p:txBody>
          <a:bodyPr>
            <a:noAutofit/>
          </a:bodyPr>
          <a:lstStyle/>
          <a:p>
            <a:r>
              <a:rPr lang="en-US" altLang="zh-CN" sz="2000" dirty="0" err="1" smtClean="0"/>
              <a:t>Mantei</a:t>
            </a:r>
            <a:r>
              <a:rPr lang="zh-CN" altLang="en-US" sz="2000" dirty="0" smtClean="0"/>
              <a:t>提出了规划软件工程团队结构时应该考虑的</a:t>
            </a:r>
            <a:r>
              <a:rPr lang="en-US" altLang="zh-CN" sz="2000" dirty="0" smtClean="0"/>
              <a:t>7</a:t>
            </a:r>
            <a:r>
              <a:rPr lang="zh-CN" altLang="en-US" sz="2000" dirty="0" smtClean="0"/>
              <a:t>个因素：</a:t>
            </a:r>
            <a:endParaRPr lang="en-US" altLang="zh-CN" sz="2000" dirty="0" smtClean="0"/>
          </a:p>
          <a:p>
            <a:pPr lvl="1"/>
            <a:r>
              <a:rPr lang="zh-CN" altLang="en-US" sz="1800" dirty="0" smtClean="0"/>
              <a:t>待解决问题的难度</a:t>
            </a:r>
            <a:endParaRPr lang="en-US" altLang="zh-CN" sz="1800" dirty="0" smtClean="0"/>
          </a:p>
          <a:p>
            <a:pPr lvl="1"/>
            <a:r>
              <a:rPr lang="zh-CN" altLang="en-US" sz="1800" dirty="0" smtClean="0"/>
              <a:t>开发程序的规模，以代码行或者功能点来度量</a:t>
            </a:r>
            <a:endParaRPr lang="en-US" altLang="zh-CN" sz="1800" dirty="0" smtClean="0"/>
          </a:p>
          <a:p>
            <a:pPr lvl="1"/>
            <a:r>
              <a:rPr lang="zh-CN" altLang="en-US" sz="1800" dirty="0" smtClean="0"/>
              <a:t>团队成员需要共同工作的时间</a:t>
            </a:r>
            <a:endParaRPr lang="en-US" altLang="zh-CN" sz="1800" dirty="0" smtClean="0"/>
          </a:p>
          <a:p>
            <a:pPr lvl="1"/>
            <a:r>
              <a:rPr lang="zh-CN" altLang="en-US" sz="1800" dirty="0" smtClean="0"/>
              <a:t>能够对问题做模块化划分的程度</a:t>
            </a:r>
            <a:endParaRPr lang="en-US" altLang="zh-CN" sz="1800" dirty="0" smtClean="0"/>
          </a:p>
          <a:p>
            <a:pPr lvl="1"/>
            <a:r>
              <a:rPr lang="zh-CN" altLang="en-US" sz="1800" dirty="0" smtClean="0"/>
              <a:t>待开发系统的质量要求和可靠性要求</a:t>
            </a:r>
            <a:endParaRPr lang="en-US" altLang="zh-CN" sz="1800" dirty="0" smtClean="0"/>
          </a:p>
          <a:p>
            <a:pPr lvl="1"/>
            <a:r>
              <a:rPr lang="zh-CN" altLang="en-US" sz="1800" dirty="0" smtClean="0"/>
              <a:t>交付日期的严格程度</a:t>
            </a:r>
            <a:endParaRPr lang="en-US" altLang="zh-CN" sz="1800" dirty="0" smtClean="0"/>
          </a:p>
          <a:p>
            <a:pPr lvl="1"/>
            <a:r>
              <a:rPr lang="zh-CN" altLang="en-US" sz="1800" dirty="0" smtClean="0"/>
              <a:t>项目所需要的友好交流程度</a:t>
            </a:r>
            <a:endParaRPr lang="zh-CN" altLang="en-US" sz="1800" dirty="0" smtClean="0"/>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人员</a:t>
            </a:r>
            <a:r>
              <a:rPr lang="en-US" altLang="zh-CN" dirty="0"/>
              <a:t>——</a:t>
            </a:r>
            <a:r>
              <a:rPr lang="zh-CN" altLang="en-US" dirty="0"/>
              <a:t>软件团队</a:t>
            </a:r>
            <a:endParaRPr lang="zh-CN" altLang="en-US" dirty="0"/>
          </a:p>
        </p:txBody>
      </p:sp>
      <p:sp>
        <p:nvSpPr>
          <p:cNvPr id="3" name="内容占位符 2"/>
          <p:cNvSpPr>
            <a:spLocks noGrp="1"/>
          </p:cNvSpPr>
          <p:nvPr>
            <p:ph idx="1"/>
          </p:nvPr>
        </p:nvSpPr>
        <p:spPr/>
        <p:txBody>
          <a:bodyPr/>
          <a:lstStyle/>
          <a:p>
            <a:r>
              <a:rPr lang="zh-CN" altLang="zh-CN" dirty="0">
                <a:solidFill>
                  <a:schemeClr val="tx1">
                    <a:lumMod val="95000"/>
                    <a:lumOff val="5000"/>
                  </a:schemeClr>
                </a:solidFill>
                <a:latin typeface="微软雅黑" panose="020B0503020204020204" pitchFamily="34" charset="-122"/>
                <a:cs typeface="微软雅黑" panose="020B0503020204020204" pitchFamily="34" charset="-122"/>
                <a:sym typeface="+mn-ea"/>
              </a:rPr>
              <a:t>良好的</a:t>
            </a:r>
            <a:r>
              <a:rPr lang="zh-CN" altLang="zh-CN" dirty="0" smtClean="0">
                <a:solidFill>
                  <a:schemeClr val="tx1">
                    <a:lumMod val="95000"/>
                    <a:lumOff val="5000"/>
                  </a:schemeClr>
                </a:solidFill>
                <a:latin typeface="微软雅黑" panose="020B0503020204020204" pitchFamily="34" charset="-122"/>
                <a:cs typeface="微软雅黑" panose="020B0503020204020204" pitchFamily="34" charset="-122"/>
                <a:sym typeface="+mn-ea"/>
              </a:rPr>
              <a:t>团队</a:t>
            </a:r>
            <a:r>
              <a:rPr lang="zh-CN" altLang="en-US" dirty="0" smtClean="0">
                <a:solidFill>
                  <a:schemeClr val="tx1">
                    <a:lumMod val="95000"/>
                    <a:lumOff val="5000"/>
                  </a:schemeClr>
                </a:solidFill>
                <a:latin typeface="微软雅黑" panose="020B0503020204020204" pitchFamily="34" charset="-122"/>
                <a:cs typeface="微软雅黑" panose="020B0503020204020204" pitchFamily="34" charset="-122"/>
                <a:sym typeface="+mn-ea"/>
              </a:rPr>
              <a:t>：</a:t>
            </a:r>
            <a:endParaRPr lang="en-US" altLang="zh-CN" dirty="0" smtClean="0">
              <a:solidFill>
                <a:schemeClr val="tx1">
                  <a:lumMod val="95000"/>
                  <a:lumOff val="5000"/>
                </a:schemeClr>
              </a:solidFill>
              <a:latin typeface="微软雅黑" panose="020B0503020204020204" pitchFamily="34" charset="-122"/>
              <a:cs typeface="微软雅黑" panose="020B0503020204020204" pitchFamily="34" charset="-122"/>
              <a:sym typeface="+mn-ea"/>
            </a:endParaRPr>
          </a:p>
          <a:p>
            <a:pPr lvl="1"/>
            <a:r>
              <a:rPr lang="zh-CN" altLang="zh-CN" b="1" dirty="0">
                <a:solidFill>
                  <a:schemeClr val="tx1">
                    <a:lumMod val="95000"/>
                    <a:lumOff val="5000"/>
                  </a:schemeClr>
                </a:solidFill>
                <a:latin typeface="微软雅黑" panose="020B0503020204020204" pitchFamily="34" charset="-122"/>
                <a:cs typeface="微软雅黑" panose="020B0503020204020204" pitchFamily="34" charset="-122"/>
                <a:sym typeface="+mn-ea"/>
              </a:rPr>
              <a:t>团队成员必须</a:t>
            </a:r>
            <a:r>
              <a:rPr lang="zh-CN" altLang="zh-CN" b="1" dirty="0" smtClean="0">
                <a:solidFill>
                  <a:schemeClr val="tx1">
                    <a:lumMod val="95000"/>
                    <a:lumOff val="5000"/>
                  </a:schemeClr>
                </a:solidFill>
                <a:latin typeface="微软雅黑" panose="020B0503020204020204" pitchFamily="34" charset="-122"/>
                <a:cs typeface="微软雅黑" panose="020B0503020204020204" pitchFamily="34" charset="-122"/>
                <a:sym typeface="+mn-ea"/>
              </a:rPr>
              <a:t>相互信任</a:t>
            </a:r>
            <a:endParaRPr lang="en-US" altLang="zh-CN" b="1" dirty="0" smtClean="0">
              <a:solidFill>
                <a:schemeClr val="tx1">
                  <a:lumMod val="95000"/>
                  <a:lumOff val="5000"/>
                </a:schemeClr>
              </a:solidFill>
              <a:latin typeface="微软雅黑" panose="020B0503020204020204" pitchFamily="34" charset="-122"/>
              <a:cs typeface="微软雅黑" panose="020B0503020204020204" pitchFamily="34" charset="-122"/>
              <a:sym typeface="+mn-ea"/>
            </a:endParaRPr>
          </a:p>
          <a:p>
            <a:pPr lvl="1"/>
            <a:r>
              <a:rPr lang="zh-CN" altLang="zh-CN" b="1" dirty="0">
                <a:solidFill>
                  <a:schemeClr val="tx1">
                    <a:lumMod val="95000"/>
                    <a:lumOff val="5000"/>
                  </a:schemeClr>
                </a:solidFill>
                <a:latin typeface="微软雅黑" panose="020B0503020204020204" pitchFamily="34" charset="-122"/>
                <a:cs typeface="微软雅黑" panose="020B0503020204020204" pitchFamily="34" charset="-122"/>
                <a:sym typeface="+mn-ea"/>
              </a:rPr>
              <a:t>团队成员的技能分布必须适合于要解决的</a:t>
            </a:r>
            <a:r>
              <a:rPr lang="zh-CN" altLang="zh-CN" b="1" dirty="0" smtClean="0">
                <a:solidFill>
                  <a:schemeClr val="tx1">
                    <a:lumMod val="95000"/>
                    <a:lumOff val="5000"/>
                  </a:schemeClr>
                </a:solidFill>
                <a:latin typeface="微软雅黑" panose="020B0503020204020204" pitchFamily="34" charset="-122"/>
                <a:cs typeface="微软雅黑" panose="020B0503020204020204" pitchFamily="34" charset="-122"/>
                <a:sym typeface="+mn-ea"/>
              </a:rPr>
              <a:t>问题</a:t>
            </a:r>
            <a:endParaRPr lang="en-US" altLang="zh-CN" b="1" dirty="0" smtClean="0">
              <a:solidFill>
                <a:schemeClr val="tx1">
                  <a:lumMod val="95000"/>
                  <a:lumOff val="5000"/>
                </a:schemeClr>
              </a:solidFill>
              <a:latin typeface="微软雅黑" panose="020B0503020204020204" pitchFamily="34" charset="-122"/>
              <a:cs typeface="微软雅黑" panose="020B0503020204020204" pitchFamily="34" charset="-122"/>
              <a:sym typeface="+mn-ea"/>
            </a:endParaRPr>
          </a:p>
          <a:p>
            <a:pPr lvl="1"/>
            <a:r>
              <a:rPr lang="zh-CN" altLang="zh-CN" b="1" dirty="0">
                <a:solidFill>
                  <a:schemeClr val="tx1">
                    <a:lumMod val="95000"/>
                    <a:lumOff val="5000"/>
                  </a:schemeClr>
                </a:solidFill>
                <a:latin typeface="微软雅黑" panose="020B0503020204020204" pitchFamily="34" charset="-122"/>
                <a:cs typeface="微软雅黑" panose="020B0503020204020204" pitchFamily="34" charset="-122"/>
                <a:sym typeface="+mn-ea"/>
              </a:rPr>
              <a:t>团队要有凝聚力</a:t>
            </a:r>
            <a:endParaRPr lang="zh-CN" altLang="en-US" dirty="0"/>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 name="picture 98"/>
          <p:cNvPicPr>
            <a:picLocks noChangeAspect="1"/>
          </p:cNvPicPr>
          <p:nvPr/>
        </p:nvPicPr>
        <p:blipFill>
          <a:blip r:embed="rId1"/>
          <a:stretch>
            <a:fillRect/>
          </a:stretch>
        </p:blipFill>
        <p:spPr>
          <a:xfrm rot="21600000">
            <a:off x="5842346" y="2355843"/>
            <a:ext cx="620543" cy="774912"/>
          </a:xfrm>
          <a:prstGeom prst="rect">
            <a:avLst/>
          </a:prstGeom>
        </p:spPr>
      </p:pic>
      <p:graphicFrame>
        <p:nvGraphicFramePr>
          <p:cNvPr id="100" name="table 100"/>
          <p:cNvGraphicFramePr>
            <a:graphicFrameLocks noGrp="1"/>
          </p:cNvGraphicFramePr>
          <p:nvPr/>
        </p:nvGraphicFramePr>
        <p:xfrm>
          <a:off x="3289463" y="730286"/>
          <a:ext cx="2624455" cy="3688715"/>
        </p:xfrm>
        <a:graphic>
          <a:graphicData uri="http://schemas.openxmlformats.org/drawingml/2006/table">
            <a:tbl>
              <a:tblPr/>
              <a:tblGrid>
                <a:gridCol w="368300"/>
                <a:gridCol w="243840"/>
                <a:gridCol w="229870"/>
                <a:gridCol w="229235"/>
                <a:gridCol w="1043940"/>
                <a:gridCol w="247650"/>
                <a:gridCol w="261620"/>
              </a:tblGrid>
              <a:tr h="312420">
                <a:tc>
                  <a:txBody>
                    <a:bodyPr/>
                    <a:lstStyle/>
                    <a:p>
                      <a:pPr algn="l" rtl="0" eaLnBrk="0">
                        <a:lnSpc>
                          <a:spcPct val="100000"/>
                        </a:lnSpc>
                      </a:pPr>
                      <a:endParaRPr lang="en-US" altLang="en-US" sz="75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1455">
                <a:tc>
                  <a:txBody>
                    <a:bodyPr/>
                    <a:lstStyle/>
                    <a:p>
                      <a:pPr algn="l" rtl="0" eaLnBrk="0">
                        <a:lnSpc>
                          <a:spcPct val="100000"/>
                        </a:lnSpc>
                      </a:pPr>
                      <a:endParaRPr lang="en-US" altLang="en-US" sz="75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7340">
                <a:tc>
                  <a:txBody>
                    <a:bodyPr/>
                    <a:lstStyle/>
                    <a:p>
                      <a:pPr algn="l" rtl="0" eaLnBrk="0">
                        <a:lnSpc>
                          <a:spcPct val="100000"/>
                        </a:lnSpc>
                      </a:pPr>
                      <a:endParaRPr lang="en-US" altLang="en-US" sz="75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9070">
                <a:tc>
                  <a:txBody>
                    <a:bodyPr/>
                    <a:lstStyle/>
                    <a:p>
                      <a:pPr algn="l" rtl="0" eaLnBrk="0">
                        <a:lnSpc>
                          <a:spcPct val="100000"/>
                        </a:lnSpc>
                      </a:pPr>
                      <a:endParaRPr lang="en-US" altLang="en-US" sz="75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2745">
                <a:tc>
                  <a:txBody>
                    <a:bodyPr/>
                    <a:lstStyle/>
                    <a:p>
                      <a:pPr algn="l" rtl="0" eaLnBrk="0">
                        <a:lnSpc>
                          <a:spcPct val="100000"/>
                        </a:lnSpc>
                      </a:pPr>
                      <a:endParaRPr lang="en-US" altLang="en-US" sz="75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r>
              <a:tr h="356235">
                <a:tc>
                  <a:txBody>
                    <a:bodyPr/>
                    <a:lstStyle/>
                    <a:p>
                      <a:pPr algn="l" rtl="0" eaLnBrk="0">
                        <a:lnSpc>
                          <a:spcPct val="100000"/>
                        </a:lnSpc>
                      </a:pPr>
                      <a:endParaRPr lang="en-US" altLang="en-US" sz="75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gridSpan="2">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rowSpan="2" hMerge="1">
                  <a:tcPr marL="0" marR="0" marT="0" marB="0" vert="horz">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r>
              <a:tr h="196215">
                <a:tc>
                  <a:txBody>
                    <a:bodyPr/>
                    <a:lstStyle/>
                    <a:p>
                      <a:pPr algn="l" rtl="0" eaLnBrk="0">
                        <a:lnSpc>
                          <a:spcPct val="100000"/>
                        </a:lnSpc>
                      </a:pPr>
                      <a:endParaRPr lang="en-US" altLang="en-US" sz="75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gridSpan="2">
                  <a:tcPr marL="0" marR="0" marT="0" marB="0" vert="horz">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vMerge="1" hMerge="1">
                  <a:tcPr marL="0" marR="0" marT="0" marB="0" vert="horz">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r>
              <a:tr h="372745">
                <a:tc>
                  <a:txBody>
                    <a:bodyPr/>
                    <a:lstStyle/>
                    <a:p>
                      <a:pPr algn="l" rtl="0" eaLnBrk="0">
                        <a:lnSpc>
                          <a:spcPct val="100000"/>
                        </a:lnSpc>
                      </a:pPr>
                      <a:endParaRPr lang="en-US" altLang="en-US" sz="75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r>
              <a:tr h="356235">
                <a:tc>
                  <a:txBody>
                    <a:bodyPr/>
                    <a:lstStyle/>
                    <a:p>
                      <a:pPr algn="l" rtl="0" eaLnBrk="0">
                        <a:lnSpc>
                          <a:spcPct val="100000"/>
                        </a:lnSpc>
                      </a:pPr>
                      <a:endParaRPr lang="en-US" altLang="en-US" sz="75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a:noFill/>
                    </a:lnR>
                    <a:lnT>
                      <a:noFill/>
                    </a:lnT>
                    <a:lnB>
                      <a:noFill/>
                    </a:lnB>
                  </a:tcPr>
                </a:tc>
                <a:tc hMerge="1">
                  <a:tcPr marL="0" marR="0" marT="0" marB="0" vert="horz">
                    <a:lnL w="12700" cap="flat" cmpd="sng" algn="ctr">
                      <a:solidFill>
                        <a:srgbClr val="000000"/>
                      </a:solidFill>
                      <a:prstDash val="solid"/>
                      <a:round/>
                      <a:headEnd type="none" w="med" len="med"/>
                      <a:tailEnd type="none" w="med" len="med"/>
                    </a:lnL>
                    <a:lnR>
                      <a:noFill/>
                    </a:lnR>
                    <a:lnT>
                      <a:noFill/>
                    </a:lnT>
                    <a:lnB>
                      <a:noFill/>
                    </a:lnB>
                  </a:tcPr>
                </a:tc>
              </a:tr>
              <a:tr h="620395">
                <a:tc>
                  <a:txBody>
                    <a:bodyPr/>
                    <a:lstStyle/>
                    <a:p>
                      <a:pPr algn="l" rtl="0" eaLnBrk="0">
                        <a:lnSpc>
                          <a:spcPct val="100000"/>
                        </a:lnSpc>
                      </a:pPr>
                      <a:endParaRPr lang="en-US" altLang="en-US" sz="75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3860">
                <a:tc>
                  <a:txBody>
                    <a:bodyPr/>
                    <a:lstStyle/>
                    <a:p>
                      <a:pPr algn="l" rtl="0" eaLnBrk="0">
                        <a:lnSpc>
                          <a:spcPct val="100000"/>
                        </a:lnSpc>
                      </a:pPr>
                      <a:endParaRPr lang="en-US" altLang="en-US" sz="75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r>
            </a:tbl>
          </a:graphicData>
        </a:graphic>
      </p:graphicFrame>
      <p:sp>
        <p:nvSpPr>
          <p:cNvPr id="102" name="textbox 102"/>
          <p:cNvSpPr/>
          <p:nvPr/>
        </p:nvSpPr>
        <p:spPr>
          <a:xfrm>
            <a:off x="7800380" y="1348304"/>
            <a:ext cx="621029" cy="2525078"/>
          </a:xfrm>
          <a:prstGeom prst="rect">
            <a:avLst/>
          </a:prstGeom>
          <a:solidFill>
            <a:srgbClr val="27618C"/>
          </a:solidFill>
        </p:spPr>
        <p:txBody>
          <a:bodyPr vert="eaVert" wrap="square" lIns="0" tIns="0" rIns="0" bIns="0"/>
          <a:lstStyle/>
          <a:p>
            <a:pPr algn="l" rtl="0" eaLnBrk="0">
              <a:lnSpc>
                <a:spcPct val="175000"/>
              </a:lnSpc>
            </a:pPr>
            <a:endParaRPr lang="en-US" altLang="en-US" sz="750" dirty="0"/>
          </a:p>
          <a:p>
            <a:pPr algn="l" rtl="0" eaLnBrk="0">
              <a:lnSpc>
                <a:spcPct val="8000"/>
              </a:lnSpc>
            </a:pPr>
            <a:endParaRPr lang="en-US" altLang="en-US" sz="100" dirty="0"/>
          </a:p>
          <a:p>
            <a:pPr marL="741045" algn="l" rtl="0" eaLnBrk="0">
              <a:lnSpc>
                <a:spcPct val="90000"/>
              </a:lnSpc>
            </a:pPr>
            <a:r>
              <a:rPr sz="1650" kern="0" spc="33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开发人员角色</a:t>
            </a:r>
            <a:endParaRPr lang="en-US" altLang="en-US" sz="1650" dirty="0"/>
          </a:p>
        </p:txBody>
      </p:sp>
      <p:sp>
        <p:nvSpPr>
          <p:cNvPr id="104" name="textbox 104"/>
          <p:cNvSpPr/>
          <p:nvPr/>
        </p:nvSpPr>
        <p:spPr>
          <a:xfrm>
            <a:off x="736601" y="1355493"/>
            <a:ext cx="599123" cy="2504122"/>
          </a:xfrm>
          <a:prstGeom prst="rect">
            <a:avLst/>
          </a:prstGeom>
          <a:solidFill>
            <a:srgbClr val="6C6C6C"/>
          </a:solidFill>
        </p:spPr>
        <p:txBody>
          <a:bodyPr vert="eaVert" wrap="square" lIns="0" tIns="0" rIns="0" bIns="0"/>
          <a:lstStyle/>
          <a:p>
            <a:pPr algn="l" rtl="0" eaLnBrk="0">
              <a:lnSpc>
                <a:spcPct val="167000"/>
              </a:lnSpc>
            </a:pPr>
            <a:endParaRPr lang="en-US" altLang="en-US" sz="750" dirty="0"/>
          </a:p>
          <a:p>
            <a:pPr algn="l" rtl="0" eaLnBrk="0">
              <a:lnSpc>
                <a:spcPct val="7000"/>
              </a:lnSpc>
            </a:pPr>
            <a:endParaRPr lang="en-US" altLang="en-US" sz="100" dirty="0"/>
          </a:p>
          <a:p>
            <a:pPr marL="704850" algn="l" rtl="0" eaLnBrk="0">
              <a:lnSpc>
                <a:spcPct val="90000"/>
              </a:lnSpc>
            </a:pPr>
            <a:r>
              <a:rPr sz="1650" kern="0" spc="36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软件开发活动</a:t>
            </a:r>
            <a:endParaRPr lang="en-US" altLang="en-US" sz="1650" dirty="0"/>
          </a:p>
        </p:txBody>
      </p:sp>
      <p:sp>
        <p:nvSpPr>
          <p:cNvPr id="106" name="textbox 106"/>
          <p:cNvSpPr/>
          <p:nvPr/>
        </p:nvSpPr>
        <p:spPr>
          <a:xfrm>
            <a:off x="6591935" y="778510"/>
            <a:ext cx="1185545" cy="1113155"/>
          </a:xfrm>
          <a:prstGeom prst="rect">
            <a:avLst/>
          </a:prstGeom>
        </p:spPr>
        <p:txBody>
          <a:bodyPr vert="horz" wrap="square" lIns="0" tIns="0" rIns="0" bIns="0"/>
          <a:lstStyle/>
          <a:p>
            <a:pPr algn="l" rtl="0" eaLnBrk="0">
              <a:lnSpc>
                <a:spcPct val="82000"/>
              </a:lnSpc>
            </a:pPr>
            <a:endParaRPr lang="en-US" altLang="en-US" sz="100" dirty="0"/>
          </a:p>
          <a:p>
            <a:pPr marL="16510" algn="l" rtl="0" eaLnBrk="0">
              <a:lnSpc>
                <a:spcPct val="83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系统分析员</a:t>
            </a:r>
            <a:endParaRPr lang="en-US" altLang="en-US" sz="1500" dirty="0"/>
          </a:p>
          <a:p>
            <a:pPr marL="14605" algn="l" rtl="0" eaLnBrk="0">
              <a:lnSpc>
                <a:spcPts val="5095"/>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系统架构师</a:t>
            </a:r>
            <a:endParaRPr lang="en-US" altLang="en-US" sz="1500" dirty="0"/>
          </a:p>
          <a:p>
            <a:pPr algn="l" rtl="0" eaLnBrk="0">
              <a:lnSpc>
                <a:spcPct val="103000"/>
              </a:lnSpc>
            </a:pPr>
            <a:endParaRPr lang="en-US" altLang="en-US" sz="750" dirty="0"/>
          </a:p>
          <a:p>
            <a:pPr algn="l" rtl="0" eaLnBrk="0">
              <a:lnSpc>
                <a:spcPct val="103000"/>
              </a:lnSpc>
            </a:pPr>
            <a:endParaRPr lang="en-US" altLang="en-US" sz="750" dirty="0"/>
          </a:p>
          <a:p>
            <a:pPr algn="l" rtl="0" eaLnBrk="0">
              <a:lnSpc>
                <a:spcPct val="104000"/>
              </a:lnSpc>
            </a:pPr>
            <a:endParaRPr lang="en-US" altLang="en-US" sz="750" dirty="0"/>
          </a:p>
          <a:p>
            <a:pPr algn="l" rtl="0" eaLnBrk="0">
              <a:lnSpc>
                <a:spcPct val="101000"/>
              </a:lnSpc>
            </a:pPr>
            <a:endParaRPr lang="en-US" altLang="en-US" sz="375" dirty="0"/>
          </a:p>
          <a:p>
            <a:pPr marL="12700" algn="l" rtl="0" eaLnBrk="0">
              <a:lnSpc>
                <a:spcPct val="91000"/>
              </a:lnSpc>
              <a:spcBef>
                <a:spcPts val="0"/>
              </a:spcBef>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程序员</a:t>
            </a:r>
            <a:endParaRPr lang="en-US" altLang="en-US" sz="1500" dirty="0"/>
          </a:p>
        </p:txBody>
      </p:sp>
      <p:sp>
        <p:nvSpPr>
          <p:cNvPr id="108" name="path"/>
          <p:cNvSpPr/>
          <p:nvPr/>
        </p:nvSpPr>
        <p:spPr>
          <a:xfrm>
            <a:off x="3296699" y="1014204"/>
            <a:ext cx="99848" cy="3402728"/>
          </a:xfrm>
          <a:custGeom>
            <a:avLst/>
            <a:gdLst/>
            <a:ahLst/>
            <a:cxnLst/>
            <a:rect l="0" t="0" r="0" b="0"/>
            <a:pathLst>
              <a:path w="209" h="7144">
                <a:moveTo>
                  <a:pt x="202" y="7024"/>
                </a:moveTo>
                <a:lnTo>
                  <a:pt x="2" y="7084"/>
                </a:lnTo>
                <a:lnTo>
                  <a:pt x="202" y="7144"/>
                </a:lnTo>
                <a:lnTo>
                  <a:pt x="202" y="7024"/>
                </a:lnTo>
                <a:close/>
              </a:path>
              <a:path w="209" h="7144">
                <a:moveTo>
                  <a:pt x="209" y="0"/>
                </a:moveTo>
                <a:lnTo>
                  <a:pt x="9" y="60"/>
                </a:lnTo>
                <a:lnTo>
                  <a:pt x="209" y="120"/>
                </a:lnTo>
                <a:lnTo>
                  <a:pt x="209" y="0"/>
                </a:lnTo>
                <a:close/>
              </a:path>
              <a:path w="209" h="7144">
                <a:moveTo>
                  <a:pt x="209" y="443"/>
                </a:moveTo>
                <a:lnTo>
                  <a:pt x="9" y="503"/>
                </a:lnTo>
                <a:lnTo>
                  <a:pt x="209" y="563"/>
                </a:lnTo>
                <a:lnTo>
                  <a:pt x="209" y="443"/>
                </a:lnTo>
                <a:close/>
              </a:path>
              <a:path w="209" h="7144">
                <a:moveTo>
                  <a:pt x="207" y="1089"/>
                </a:moveTo>
                <a:lnTo>
                  <a:pt x="7" y="1149"/>
                </a:lnTo>
                <a:lnTo>
                  <a:pt x="207" y="1209"/>
                </a:lnTo>
                <a:lnTo>
                  <a:pt x="207" y="1089"/>
                </a:lnTo>
                <a:close/>
              </a:path>
              <a:path w="209" h="7144">
                <a:moveTo>
                  <a:pt x="207" y="1465"/>
                </a:moveTo>
                <a:lnTo>
                  <a:pt x="7" y="1525"/>
                </a:lnTo>
                <a:lnTo>
                  <a:pt x="207" y="1585"/>
                </a:lnTo>
                <a:lnTo>
                  <a:pt x="207" y="1465"/>
                </a:lnTo>
                <a:close/>
              </a:path>
              <a:path w="209" h="7144">
                <a:moveTo>
                  <a:pt x="204" y="2247"/>
                </a:moveTo>
                <a:lnTo>
                  <a:pt x="4" y="2307"/>
                </a:lnTo>
                <a:lnTo>
                  <a:pt x="204" y="2367"/>
                </a:lnTo>
                <a:lnTo>
                  <a:pt x="204" y="2247"/>
                </a:lnTo>
                <a:close/>
              </a:path>
              <a:path w="209" h="7144">
                <a:moveTo>
                  <a:pt x="202" y="2996"/>
                </a:moveTo>
                <a:lnTo>
                  <a:pt x="2" y="3056"/>
                </a:lnTo>
                <a:lnTo>
                  <a:pt x="202" y="3116"/>
                </a:lnTo>
                <a:lnTo>
                  <a:pt x="202" y="2996"/>
                </a:lnTo>
                <a:close/>
              </a:path>
              <a:path w="209" h="7144">
                <a:moveTo>
                  <a:pt x="204" y="3408"/>
                </a:moveTo>
                <a:lnTo>
                  <a:pt x="4" y="3468"/>
                </a:lnTo>
                <a:lnTo>
                  <a:pt x="204" y="3528"/>
                </a:lnTo>
                <a:lnTo>
                  <a:pt x="204" y="3408"/>
                </a:lnTo>
                <a:close/>
              </a:path>
              <a:path w="209" h="7144">
                <a:moveTo>
                  <a:pt x="202" y="4191"/>
                </a:moveTo>
                <a:lnTo>
                  <a:pt x="2" y="4251"/>
                </a:lnTo>
                <a:lnTo>
                  <a:pt x="202" y="4311"/>
                </a:lnTo>
                <a:lnTo>
                  <a:pt x="202" y="4191"/>
                </a:lnTo>
                <a:close/>
              </a:path>
              <a:path w="209" h="7144">
                <a:moveTo>
                  <a:pt x="200" y="4939"/>
                </a:moveTo>
                <a:lnTo>
                  <a:pt x="0" y="4999"/>
                </a:lnTo>
                <a:lnTo>
                  <a:pt x="200" y="5059"/>
                </a:lnTo>
                <a:lnTo>
                  <a:pt x="200" y="4939"/>
                </a:lnTo>
                <a:close/>
              </a:path>
              <a:path w="209" h="7144">
                <a:moveTo>
                  <a:pt x="204" y="6242"/>
                </a:moveTo>
                <a:lnTo>
                  <a:pt x="4" y="6302"/>
                </a:lnTo>
                <a:lnTo>
                  <a:pt x="204" y="6362"/>
                </a:lnTo>
                <a:lnTo>
                  <a:pt x="204" y="6242"/>
                </a:lnTo>
                <a:close/>
              </a:path>
            </a:pathLst>
          </a:custGeom>
          <a:solidFill>
            <a:srgbClr val="000000">
              <a:alpha val="100000"/>
            </a:srgbClr>
          </a:solidFill>
          <a:ln cap="flat">
            <a:noFill/>
            <a:prstDash val="solid"/>
            <a:miter lim="0"/>
          </a:ln>
        </p:spPr>
        <p:txBody>
          <a:bodyPr rtlCol="0"/>
          <a:lstStyle/>
          <a:p>
            <a:pPr algn="ctr"/>
            <a:endParaRPr lang="zh-CN" altLang="en-US" sz="1350"/>
          </a:p>
        </p:txBody>
      </p:sp>
      <p:graphicFrame>
        <p:nvGraphicFramePr>
          <p:cNvPr id="110" name="table 110"/>
          <p:cNvGraphicFramePr>
            <a:graphicFrameLocks noGrp="1"/>
          </p:cNvGraphicFramePr>
          <p:nvPr/>
        </p:nvGraphicFramePr>
        <p:xfrm>
          <a:off x="1545799" y="3764126"/>
          <a:ext cx="1793240" cy="438150"/>
        </p:xfrm>
        <a:graphic>
          <a:graphicData uri="http://schemas.openxmlformats.org/drawingml/2006/table">
            <a:tbl>
              <a:tblPr>
                <a:solidFill>
                  <a:srgbClr val="E0DFE0"/>
                </a:solidFill>
              </a:tblPr>
              <a:tblGrid>
                <a:gridCol w="1793240"/>
              </a:tblGrid>
              <a:tr h="438150">
                <a:tc>
                  <a:txBody>
                    <a:bodyPr/>
                    <a:lstStyle/>
                    <a:p>
                      <a:pPr algn="l" rtl="0" eaLnBrk="0">
                        <a:lnSpc>
                          <a:spcPct val="113000"/>
                        </a:lnSpc>
                      </a:pPr>
                      <a:endParaRPr lang="en-US" altLang="en-US" sz="750" dirty="0"/>
                    </a:p>
                    <a:p>
                      <a:pPr marL="673735" algn="l" rtl="0" eaLnBrk="0">
                        <a:lnSpc>
                          <a:spcPct val="91000"/>
                        </a:lnSpc>
                        <a:spcBef>
                          <a:spcPts val="5"/>
                        </a:spcBef>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系统交付</a:t>
                      </a:r>
                      <a:endParaRPr lang="en-US" altLang="en-US" sz="1500" dirty="0"/>
                    </a:p>
                  </a:txBody>
                  <a:tcPr marL="0" marR="0" marT="0" marB="0" vert="horz">
                    <a:lnL w="6350" cap="flat" cmpd="sng" algn="ctr">
                      <a:solidFill>
                        <a:srgbClr val="CBCBCB"/>
                      </a:solidFill>
                      <a:prstDash val="solid"/>
                      <a:round/>
                      <a:headEnd type="none" w="med" len="med"/>
                      <a:tailEnd type="none" w="med" len="med"/>
                    </a:lnL>
                    <a:lnR>
                      <a:noFill/>
                    </a:lnR>
                    <a:lnT w="6350" cap="flat" cmpd="sng" algn="ctr">
                      <a:solidFill>
                        <a:srgbClr val="CBCBCB"/>
                      </a:solidFill>
                      <a:prstDash val="solid"/>
                      <a:round/>
                      <a:headEnd type="none" w="med" len="med"/>
                      <a:tailEnd type="none" w="med" len="med"/>
                    </a:lnT>
                    <a:lnB w="6350" cap="flat" cmpd="sng" algn="ctr">
                      <a:solidFill>
                        <a:srgbClr val="CBCBCB"/>
                      </a:solidFill>
                      <a:prstDash val="solid"/>
                      <a:round/>
                      <a:headEnd type="none" w="med" len="med"/>
                      <a:tailEnd type="none" w="med" len="med"/>
                    </a:lnB>
                    <a:solidFill>
                      <a:srgbClr val="E0DFE0"/>
                    </a:solidFill>
                  </a:tcPr>
                </a:tc>
              </a:tr>
            </a:tbl>
          </a:graphicData>
        </a:graphic>
      </p:graphicFrame>
      <p:sp>
        <p:nvSpPr>
          <p:cNvPr id="112" name="path"/>
          <p:cNvSpPr/>
          <p:nvPr/>
        </p:nvSpPr>
        <p:spPr>
          <a:xfrm>
            <a:off x="3302447" y="706579"/>
            <a:ext cx="95250" cy="57150"/>
          </a:xfrm>
          <a:custGeom>
            <a:avLst/>
            <a:gdLst/>
            <a:ahLst/>
            <a:cxnLst/>
            <a:rect l="0" t="0" r="0" b="0"/>
            <a:pathLst>
              <a:path w="200" h="120">
                <a:moveTo>
                  <a:pt x="200" y="0"/>
                </a:moveTo>
                <a:lnTo>
                  <a:pt x="0" y="60"/>
                </a:lnTo>
                <a:lnTo>
                  <a:pt x="200" y="120"/>
                </a:lnTo>
                <a:lnTo>
                  <a:pt x="200" y="0"/>
                </a:lnTo>
                <a:close/>
              </a:path>
            </a:pathLst>
          </a:custGeom>
          <a:solidFill>
            <a:srgbClr val="000000">
              <a:alpha val="100000"/>
            </a:srgbClr>
          </a:solidFill>
          <a:ln cap="flat">
            <a:noFill/>
            <a:prstDash val="solid"/>
            <a:miter lim="0"/>
          </a:ln>
        </p:spPr>
        <p:txBody>
          <a:bodyPr rtlCol="0"/>
          <a:lstStyle/>
          <a:p>
            <a:pPr algn="ctr"/>
            <a:endParaRPr lang="zh-CN" altLang="en-US" sz="1350"/>
          </a:p>
        </p:txBody>
      </p:sp>
      <p:graphicFrame>
        <p:nvGraphicFramePr>
          <p:cNvPr id="114" name="table 114"/>
          <p:cNvGraphicFramePr>
            <a:graphicFrameLocks noGrp="1"/>
          </p:cNvGraphicFramePr>
          <p:nvPr/>
        </p:nvGraphicFramePr>
        <p:xfrm>
          <a:off x="1539419" y="472576"/>
          <a:ext cx="1793240" cy="438150"/>
        </p:xfrm>
        <a:graphic>
          <a:graphicData uri="http://schemas.openxmlformats.org/drawingml/2006/table">
            <a:tbl>
              <a:tblPr>
                <a:solidFill>
                  <a:srgbClr val="E0DFE0"/>
                </a:solidFill>
              </a:tblPr>
              <a:tblGrid>
                <a:gridCol w="1793240"/>
              </a:tblGrid>
              <a:tr h="438150">
                <a:tc>
                  <a:txBody>
                    <a:bodyPr/>
                    <a:lstStyle/>
                    <a:p>
                      <a:pPr algn="l" rtl="0" eaLnBrk="0">
                        <a:lnSpc>
                          <a:spcPct val="113000"/>
                        </a:lnSpc>
                      </a:pPr>
                      <a:endParaRPr lang="en-US" altLang="en-US" sz="750" dirty="0"/>
                    </a:p>
                    <a:p>
                      <a:pPr marL="295275" algn="l" rtl="0" eaLnBrk="0">
                        <a:lnSpc>
                          <a:spcPct val="91000"/>
                        </a:lnSpc>
                        <a:spcBef>
                          <a:spcPts val="5"/>
                        </a:spcBef>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需求分析和定义</a:t>
                      </a:r>
                      <a:endParaRPr lang="en-US" altLang="en-US" sz="1500" dirty="0"/>
                    </a:p>
                  </a:txBody>
                  <a:tcPr marL="0" marR="0" marT="0" marB="0" vert="horz">
                    <a:lnL w="6350" cap="flat" cmpd="sng" algn="ctr">
                      <a:solidFill>
                        <a:srgbClr val="CBCBCB"/>
                      </a:solidFill>
                      <a:prstDash val="solid"/>
                      <a:round/>
                      <a:headEnd type="none" w="med" len="med"/>
                      <a:tailEnd type="none" w="med" len="med"/>
                    </a:lnL>
                    <a:lnR>
                      <a:noFill/>
                    </a:lnR>
                    <a:lnT w="6350" cap="flat" cmpd="sng" algn="ctr">
                      <a:solidFill>
                        <a:srgbClr val="CBCBCB"/>
                      </a:solidFill>
                      <a:prstDash val="solid"/>
                      <a:round/>
                      <a:headEnd type="none" w="med" len="med"/>
                      <a:tailEnd type="none" w="med" len="med"/>
                    </a:lnT>
                    <a:lnB w="6350" cap="flat" cmpd="sng" algn="ctr">
                      <a:solidFill>
                        <a:srgbClr val="CBCBCB"/>
                      </a:solidFill>
                      <a:prstDash val="solid"/>
                      <a:round/>
                      <a:headEnd type="none" w="med" len="med"/>
                      <a:tailEnd type="none" w="med" len="med"/>
                    </a:lnB>
                    <a:solidFill>
                      <a:srgbClr val="E0DFE0"/>
                    </a:solidFill>
                  </a:tcPr>
                </a:tc>
              </a:tr>
            </a:tbl>
          </a:graphicData>
        </a:graphic>
      </p:graphicFrame>
      <p:sp>
        <p:nvSpPr>
          <p:cNvPr id="116" name="rect"/>
          <p:cNvSpPr/>
          <p:nvPr/>
        </p:nvSpPr>
        <p:spPr>
          <a:xfrm>
            <a:off x="1537237" y="2355881"/>
            <a:ext cx="1791201" cy="436208"/>
          </a:xfrm>
          <a:prstGeom prst="rect">
            <a:avLst/>
          </a:prstGeom>
          <a:solidFill>
            <a:srgbClr val="E0DFE0">
              <a:alpha val="100000"/>
            </a:srgbClr>
          </a:solidFill>
          <a:ln cap="flat">
            <a:noFill/>
            <a:prstDash val="solid"/>
            <a:miter lim="0"/>
          </a:ln>
        </p:spPr>
        <p:txBody>
          <a:bodyPr rtlCol="0"/>
          <a:lstStyle/>
          <a:p>
            <a:pPr algn="ctr"/>
            <a:endParaRPr lang="zh-CN" altLang="en-US" sz="1350"/>
          </a:p>
        </p:txBody>
      </p:sp>
      <p:graphicFrame>
        <p:nvGraphicFramePr>
          <p:cNvPr id="118" name="table 118"/>
          <p:cNvGraphicFramePr>
            <a:graphicFrameLocks noGrp="1"/>
          </p:cNvGraphicFramePr>
          <p:nvPr/>
        </p:nvGraphicFramePr>
        <p:xfrm>
          <a:off x="1534817" y="2353462"/>
          <a:ext cx="1793240" cy="459740"/>
        </p:xfrm>
        <a:graphic>
          <a:graphicData uri="http://schemas.openxmlformats.org/drawingml/2006/table">
            <a:tbl>
              <a:tblPr/>
              <a:tblGrid>
                <a:gridCol w="1527175"/>
                <a:gridCol w="266065"/>
              </a:tblGrid>
              <a:tr h="0">
                <a:tc gridSpan="2">
                  <a:txBody>
                    <a:bodyPr/>
                    <a:lstStyle/>
                    <a:p>
                      <a:pPr algn="l" rtl="0" eaLnBrk="0">
                        <a:lnSpc>
                          <a:spcPts val="700"/>
                        </a:lnSpc>
                      </a:pPr>
                      <a:endParaRPr lang="en-US" altLang="en-US" sz="375" dirty="0"/>
                    </a:p>
                  </a:txBody>
                  <a:tcPr marL="0" marR="0" marT="0" marB="0" vert="horz">
                    <a:lnL w="6350" cap="flat" cmpd="sng" algn="ctr">
                      <a:solidFill>
                        <a:srgbClr val="CBCBCB"/>
                      </a:solidFill>
                      <a:prstDash val="solid"/>
                      <a:round/>
                      <a:headEnd type="none" w="med" len="med"/>
                      <a:tailEnd type="none" w="med" len="med"/>
                    </a:lnL>
                    <a:lnR>
                      <a:noFill/>
                    </a:lnR>
                    <a:lnT w="6350" cap="flat" cmpd="sng" algn="ctr">
                      <a:solidFill>
                        <a:srgbClr val="CBCBCB"/>
                      </a:solidFill>
                      <a:prstDash val="solid"/>
                      <a:round/>
                      <a:headEnd type="none" w="med" len="med"/>
                      <a:tailEnd type="none" w="med" len="med"/>
                    </a:lnT>
                    <a:lnB>
                      <a:noFill/>
                    </a:lnB>
                  </a:tcPr>
                </a:tc>
                <a:tc hMerge="1">
                  <a:tcPr marL="0" marR="0" marT="0" marB="0" vert="horz">
                    <a:lnL w="6350" cap="flat" cmpd="sng" algn="ctr">
                      <a:solidFill>
                        <a:srgbClr val="CBCBCB"/>
                      </a:solidFill>
                      <a:prstDash val="solid"/>
                      <a:round/>
                      <a:headEnd type="none" w="med" len="med"/>
                      <a:tailEnd type="none" w="med" len="med"/>
                    </a:lnL>
                    <a:lnR>
                      <a:noFill/>
                    </a:lnR>
                    <a:lnT w="6350" cap="flat" cmpd="sng" algn="ctr">
                      <a:solidFill>
                        <a:srgbClr val="CBCBCB"/>
                      </a:solidFill>
                      <a:prstDash val="solid"/>
                      <a:round/>
                      <a:headEnd type="none" w="med" len="med"/>
                      <a:tailEnd type="none" w="med" len="med"/>
                    </a:lnT>
                    <a:lnB>
                      <a:noFill/>
                    </a:lnB>
                  </a:tcPr>
                </a:tc>
              </a:tr>
              <a:tr h="370840">
                <a:tc>
                  <a:txBody>
                    <a:bodyPr/>
                    <a:lstStyle/>
                    <a:p>
                      <a:pPr algn="l" rtl="0" eaLnBrk="0">
                        <a:lnSpc>
                          <a:spcPct val="101000"/>
                        </a:lnSpc>
                      </a:pPr>
                      <a:endParaRPr lang="en-US" altLang="en-US" sz="375" dirty="0"/>
                    </a:p>
                    <a:p>
                      <a:pPr marL="676275" algn="l" rtl="0" eaLnBrk="0">
                        <a:lnSpc>
                          <a:spcPct val="91000"/>
                        </a:lnSpc>
                        <a:spcBef>
                          <a:spcPts val="5"/>
                        </a:spcBef>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单元测试</a:t>
                      </a:r>
                      <a:endParaRPr lang="en-US" altLang="en-US" sz="1500" dirty="0"/>
                    </a:p>
                  </a:txBody>
                  <a:tcPr marL="0" marR="0" marT="0" marB="0" vert="horz">
                    <a:lnL w="6350" cap="flat" cmpd="sng" algn="ctr">
                      <a:solidFill>
                        <a:srgbClr val="CBCBCB"/>
                      </a:solidFill>
                      <a:prstDash val="solid"/>
                      <a:round/>
                      <a:headEnd type="none" w="med" len="med"/>
                      <a:tailEnd type="none" w="med" len="med"/>
                    </a:lnL>
                    <a:lnR>
                      <a:noFill/>
                    </a:lnR>
                    <a:lnT>
                      <a:noFill/>
                    </a:lnT>
                    <a:lnB w="6350" cap="flat" cmpd="sng" algn="ctr">
                      <a:solidFill>
                        <a:srgbClr val="CBCBCB"/>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a:noFill/>
                    </a:lnL>
                    <a:lnR>
                      <a:noFill/>
                    </a:lnR>
                    <a:lnT>
                      <a:noFill/>
                    </a:lnT>
                    <a:lnB w="6350" cap="flat" cmpd="sng" algn="ctr">
                      <a:solidFill>
                        <a:srgbClr val="CBCBCB"/>
                      </a:solidFill>
                      <a:prstDash val="solid"/>
                      <a:round/>
                      <a:headEnd type="none" w="med" len="med"/>
                      <a:tailEnd type="none" w="med" len="med"/>
                    </a:lnB>
                  </a:tcPr>
                </a:tc>
              </a:tr>
            </a:tbl>
          </a:graphicData>
        </a:graphic>
      </p:graphicFrame>
      <p:sp>
        <p:nvSpPr>
          <p:cNvPr id="120" name="textbox 120"/>
          <p:cNvSpPr/>
          <p:nvPr/>
        </p:nvSpPr>
        <p:spPr>
          <a:xfrm>
            <a:off x="1533668" y="2823683"/>
            <a:ext cx="1794034" cy="439102"/>
          </a:xfrm>
          <a:prstGeom prst="rect">
            <a:avLst/>
          </a:prstGeom>
          <a:solidFill>
            <a:srgbClr val="E0DFE0"/>
          </a:solidFill>
        </p:spPr>
        <p:txBody>
          <a:bodyPr vert="horz" wrap="square" lIns="0" tIns="0" rIns="0" bIns="0"/>
          <a:lstStyle/>
          <a:p>
            <a:pPr algn="l" rtl="0" eaLnBrk="0">
              <a:lnSpc>
                <a:spcPct val="113000"/>
              </a:lnSpc>
            </a:pPr>
            <a:endParaRPr lang="en-US" altLang="en-US" sz="750" dirty="0"/>
          </a:p>
          <a:p>
            <a:pPr marL="673735" algn="l" rtl="0" eaLnBrk="0">
              <a:lnSpc>
                <a:spcPct val="91000"/>
              </a:lnSpc>
              <a:spcBef>
                <a:spcPts val="5"/>
              </a:spcBef>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集成测试</a:t>
            </a:r>
            <a:endParaRPr lang="en-US" altLang="en-US" sz="1500" dirty="0"/>
          </a:p>
        </p:txBody>
      </p:sp>
      <p:sp>
        <p:nvSpPr>
          <p:cNvPr id="122" name="textbox 122"/>
          <p:cNvSpPr/>
          <p:nvPr/>
        </p:nvSpPr>
        <p:spPr>
          <a:xfrm>
            <a:off x="1532518" y="3293904"/>
            <a:ext cx="1794034" cy="439102"/>
          </a:xfrm>
          <a:prstGeom prst="rect">
            <a:avLst/>
          </a:prstGeom>
          <a:solidFill>
            <a:srgbClr val="E0DFE0"/>
          </a:solidFill>
        </p:spPr>
        <p:txBody>
          <a:bodyPr vert="horz" wrap="square" lIns="0" tIns="0" rIns="0" bIns="0"/>
          <a:lstStyle/>
          <a:p>
            <a:pPr algn="l" rtl="0" eaLnBrk="0">
              <a:lnSpc>
                <a:spcPct val="113000"/>
              </a:lnSpc>
            </a:pPr>
            <a:endParaRPr lang="en-US" altLang="en-US" sz="750" dirty="0"/>
          </a:p>
          <a:p>
            <a:pPr marL="673735" algn="l" rtl="0" eaLnBrk="0">
              <a:lnSpc>
                <a:spcPct val="91000"/>
              </a:lnSpc>
              <a:spcBef>
                <a:spcPts val="5"/>
              </a:spcBef>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系统测试</a:t>
            </a:r>
            <a:endParaRPr lang="en-US" altLang="en-US" sz="1500" dirty="0"/>
          </a:p>
        </p:txBody>
      </p:sp>
      <p:graphicFrame>
        <p:nvGraphicFramePr>
          <p:cNvPr id="124" name="table 124"/>
          <p:cNvGraphicFramePr>
            <a:graphicFrameLocks noGrp="1"/>
          </p:cNvGraphicFramePr>
          <p:nvPr/>
        </p:nvGraphicFramePr>
        <p:xfrm>
          <a:off x="1535968" y="1883240"/>
          <a:ext cx="1793240" cy="438150"/>
        </p:xfrm>
        <a:graphic>
          <a:graphicData uri="http://schemas.openxmlformats.org/drawingml/2006/table">
            <a:tbl>
              <a:tblPr>
                <a:solidFill>
                  <a:srgbClr val="E0DFE0"/>
                </a:solidFill>
              </a:tblPr>
              <a:tblGrid>
                <a:gridCol w="1793240"/>
              </a:tblGrid>
              <a:tr h="438150">
                <a:tc>
                  <a:txBody>
                    <a:bodyPr/>
                    <a:lstStyle/>
                    <a:p>
                      <a:pPr algn="l" rtl="0" eaLnBrk="0">
                        <a:lnSpc>
                          <a:spcPct val="113000"/>
                        </a:lnSpc>
                      </a:pPr>
                      <a:endParaRPr lang="en-US" altLang="en-US" sz="750" dirty="0"/>
                    </a:p>
                    <a:p>
                      <a:pPr marL="673100" algn="l" rtl="0" eaLnBrk="0">
                        <a:lnSpc>
                          <a:spcPct val="91000"/>
                        </a:lnSpc>
                        <a:spcBef>
                          <a:spcPts val="5"/>
                        </a:spcBef>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程序实现</a:t>
                      </a:r>
                      <a:endParaRPr lang="en-US" altLang="en-US" sz="1500" dirty="0"/>
                    </a:p>
                  </a:txBody>
                  <a:tcPr marL="0" marR="0" marT="0" marB="0" vert="horz">
                    <a:lnL w="6350" cap="flat" cmpd="sng" algn="ctr">
                      <a:solidFill>
                        <a:srgbClr val="CBCBCB"/>
                      </a:solidFill>
                      <a:prstDash val="solid"/>
                      <a:round/>
                      <a:headEnd type="none" w="med" len="med"/>
                      <a:tailEnd type="none" w="med" len="med"/>
                    </a:lnL>
                    <a:lnR>
                      <a:noFill/>
                    </a:lnR>
                    <a:lnT w="6350" cap="flat" cmpd="sng" algn="ctr">
                      <a:solidFill>
                        <a:srgbClr val="CBCBCB"/>
                      </a:solidFill>
                      <a:prstDash val="solid"/>
                      <a:round/>
                      <a:headEnd type="none" w="med" len="med"/>
                      <a:tailEnd type="none" w="med" len="med"/>
                    </a:lnT>
                    <a:lnB w="6350" cap="flat" cmpd="sng" algn="ctr">
                      <a:solidFill>
                        <a:srgbClr val="CBCBCB"/>
                      </a:solidFill>
                      <a:prstDash val="solid"/>
                      <a:round/>
                      <a:headEnd type="none" w="med" len="med"/>
                      <a:tailEnd type="none" w="med" len="med"/>
                    </a:lnB>
                    <a:solidFill>
                      <a:srgbClr val="E0DFE0"/>
                    </a:solidFill>
                  </a:tcPr>
                </a:tc>
              </a:tr>
            </a:tbl>
          </a:graphicData>
        </a:graphic>
      </p:graphicFrame>
      <p:sp>
        <p:nvSpPr>
          <p:cNvPr id="126" name="textbox 126"/>
          <p:cNvSpPr/>
          <p:nvPr/>
        </p:nvSpPr>
        <p:spPr>
          <a:xfrm>
            <a:off x="1538268" y="942797"/>
            <a:ext cx="1794034" cy="439102"/>
          </a:xfrm>
          <a:prstGeom prst="rect">
            <a:avLst/>
          </a:prstGeom>
          <a:solidFill>
            <a:srgbClr val="E0DFE0"/>
          </a:solidFill>
        </p:spPr>
        <p:txBody>
          <a:bodyPr vert="horz" wrap="square" lIns="0" tIns="0" rIns="0" bIns="0"/>
          <a:lstStyle/>
          <a:p>
            <a:pPr algn="l" rtl="0" eaLnBrk="0">
              <a:lnSpc>
                <a:spcPct val="113000"/>
              </a:lnSpc>
            </a:pPr>
            <a:endParaRPr lang="en-US" altLang="en-US" sz="750" dirty="0"/>
          </a:p>
          <a:p>
            <a:pPr marL="673735" algn="l" rtl="0" eaLnBrk="0">
              <a:lnSpc>
                <a:spcPct val="91000"/>
              </a:lnSpc>
              <a:spcBef>
                <a:spcPts val="5"/>
              </a:spcBef>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系统设计</a:t>
            </a:r>
            <a:endParaRPr lang="en-US" altLang="en-US" sz="1500" dirty="0"/>
          </a:p>
        </p:txBody>
      </p:sp>
      <p:graphicFrame>
        <p:nvGraphicFramePr>
          <p:cNvPr id="128" name="table 128"/>
          <p:cNvGraphicFramePr>
            <a:graphicFrameLocks noGrp="1"/>
          </p:cNvGraphicFramePr>
          <p:nvPr/>
        </p:nvGraphicFramePr>
        <p:xfrm>
          <a:off x="1537118" y="1413020"/>
          <a:ext cx="1793240" cy="438150"/>
        </p:xfrm>
        <a:graphic>
          <a:graphicData uri="http://schemas.openxmlformats.org/drawingml/2006/table">
            <a:tbl>
              <a:tblPr>
                <a:solidFill>
                  <a:srgbClr val="E0DFE0"/>
                </a:solidFill>
              </a:tblPr>
              <a:tblGrid>
                <a:gridCol w="1793240"/>
              </a:tblGrid>
              <a:tr h="438150">
                <a:tc>
                  <a:txBody>
                    <a:bodyPr/>
                    <a:lstStyle/>
                    <a:p>
                      <a:pPr algn="l" rtl="0" eaLnBrk="0">
                        <a:lnSpc>
                          <a:spcPct val="113000"/>
                        </a:lnSpc>
                      </a:pPr>
                      <a:endParaRPr lang="en-US" altLang="en-US" sz="750" dirty="0"/>
                    </a:p>
                    <a:p>
                      <a:pPr marL="673100" algn="l" rtl="0" eaLnBrk="0">
                        <a:lnSpc>
                          <a:spcPct val="91000"/>
                        </a:lnSpc>
                        <a:spcBef>
                          <a:spcPts val="5"/>
                        </a:spcBef>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程序设计</a:t>
                      </a:r>
                      <a:endParaRPr lang="en-US" altLang="en-US" sz="1500" dirty="0"/>
                    </a:p>
                  </a:txBody>
                  <a:tcPr marL="0" marR="0" marT="0" marB="0" vert="horz">
                    <a:lnL w="6350" cap="flat" cmpd="sng" algn="ctr">
                      <a:solidFill>
                        <a:srgbClr val="CBCBCB"/>
                      </a:solidFill>
                      <a:prstDash val="solid"/>
                      <a:round/>
                      <a:headEnd type="none" w="med" len="med"/>
                      <a:tailEnd type="none" w="med" len="med"/>
                    </a:lnL>
                    <a:lnR>
                      <a:noFill/>
                    </a:lnR>
                    <a:lnT w="6350" cap="flat" cmpd="sng" algn="ctr">
                      <a:solidFill>
                        <a:srgbClr val="CBCBCB"/>
                      </a:solidFill>
                      <a:prstDash val="solid"/>
                      <a:round/>
                      <a:headEnd type="none" w="med" len="med"/>
                      <a:tailEnd type="none" w="med" len="med"/>
                    </a:lnT>
                    <a:lnB w="6350" cap="flat" cmpd="sng" algn="ctr">
                      <a:solidFill>
                        <a:srgbClr val="CBCBCB"/>
                      </a:solidFill>
                      <a:prstDash val="solid"/>
                      <a:round/>
                      <a:headEnd type="none" w="med" len="med"/>
                      <a:tailEnd type="none" w="med" len="med"/>
                    </a:lnB>
                    <a:solidFill>
                      <a:srgbClr val="E0DFE0"/>
                    </a:solidFill>
                  </a:tcPr>
                </a:tc>
              </a:tr>
            </a:tbl>
          </a:graphicData>
        </a:graphic>
      </p:graphicFrame>
      <p:grpSp>
        <p:nvGrpSpPr>
          <p:cNvPr id="10" name="group 10"/>
          <p:cNvGrpSpPr/>
          <p:nvPr/>
        </p:nvGrpSpPr>
        <p:grpSpPr>
          <a:xfrm rot="21600000">
            <a:off x="1547069" y="4236769"/>
            <a:ext cx="1791201" cy="436208"/>
            <a:chOff x="0" y="0"/>
            <a:chExt cx="2388268" cy="581610"/>
          </a:xfrm>
        </p:grpSpPr>
        <p:grpSp>
          <p:nvGrpSpPr>
            <p:cNvPr id="12" name="group 12"/>
            <p:cNvGrpSpPr/>
            <p:nvPr/>
          </p:nvGrpSpPr>
          <p:grpSpPr>
            <a:xfrm rot="21600000">
              <a:off x="0" y="0"/>
              <a:ext cx="2388268" cy="581610"/>
              <a:chOff x="0" y="0"/>
              <a:chExt cx="2388268" cy="581610"/>
            </a:xfrm>
          </p:grpSpPr>
          <p:sp>
            <p:nvSpPr>
              <p:cNvPr id="130" name="path"/>
              <p:cNvSpPr/>
              <p:nvPr/>
            </p:nvSpPr>
            <p:spPr>
              <a:xfrm>
                <a:off x="0" y="0"/>
                <a:ext cx="2347483" cy="569275"/>
              </a:xfrm>
              <a:custGeom>
                <a:avLst/>
                <a:gdLst/>
                <a:ahLst/>
                <a:cxnLst/>
                <a:rect l="0" t="0" r="0" b="0"/>
                <a:pathLst>
                  <a:path w="3696" h="896">
                    <a:moveTo>
                      <a:pt x="0" y="149"/>
                    </a:moveTo>
                    <a:cubicBezTo>
                      <a:pt x="0" y="66"/>
                      <a:pt x="66" y="0"/>
                      <a:pt x="149" y="0"/>
                    </a:cubicBezTo>
                    <a:lnTo>
                      <a:pt x="3547" y="0"/>
                    </a:lnTo>
                    <a:cubicBezTo>
                      <a:pt x="3629" y="0"/>
                      <a:pt x="3696" y="66"/>
                      <a:pt x="3696" y="149"/>
                    </a:cubicBezTo>
                    <a:lnTo>
                      <a:pt x="3696" y="747"/>
                    </a:lnTo>
                    <a:cubicBezTo>
                      <a:pt x="3696" y="829"/>
                      <a:pt x="3629" y="896"/>
                      <a:pt x="3547" y="896"/>
                    </a:cubicBezTo>
                    <a:lnTo>
                      <a:pt x="149" y="896"/>
                    </a:lnTo>
                    <a:cubicBezTo>
                      <a:pt x="66" y="896"/>
                      <a:pt x="0" y="829"/>
                      <a:pt x="0" y="747"/>
                    </a:cubicBezTo>
                    <a:lnTo>
                      <a:pt x="0" y="149"/>
                    </a:lnTo>
                    <a:close/>
                  </a:path>
                </a:pathLst>
              </a:custGeom>
              <a:solidFill>
                <a:srgbClr val="E0DFE0">
                  <a:alpha val="100000"/>
                </a:srgbClr>
              </a:solidFill>
              <a:ln cap="flat">
                <a:noFill/>
                <a:prstDash val="solid"/>
                <a:miter lim="0"/>
              </a:ln>
            </p:spPr>
            <p:txBody>
              <a:bodyPr rtlCol="0"/>
              <a:lstStyle/>
              <a:p>
                <a:pPr algn="ctr"/>
                <a:endParaRPr lang="zh-CN" altLang="en-US" sz="1350"/>
              </a:p>
            </p:txBody>
          </p:sp>
          <p:sp>
            <p:nvSpPr>
              <p:cNvPr id="132" name="path"/>
              <p:cNvSpPr/>
              <p:nvPr/>
            </p:nvSpPr>
            <p:spPr>
              <a:xfrm>
                <a:off x="98374" y="98374"/>
                <a:ext cx="2289894" cy="483235"/>
              </a:xfrm>
              <a:custGeom>
                <a:avLst/>
                <a:gdLst/>
                <a:ahLst/>
                <a:cxnLst/>
                <a:rect l="0" t="0" r="0" b="0"/>
                <a:pathLst>
                  <a:path w="3606" h="761">
                    <a:moveTo>
                      <a:pt x="3601" y="604"/>
                    </a:moveTo>
                    <a:cubicBezTo>
                      <a:pt x="3601" y="687"/>
                      <a:pt x="3533" y="755"/>
                      <a:pt x="3449" y="755"/>
                    </a:cubicBezTo>
                  </a:path>
                </a:pathLst>
              </a:custGeom>
              <a:noFill/>
              <a:ln w="6451" cap="flat">
                <a:solidFill>
                  <a:srgbClr val="CBCBCB">
                    <a:alpha val="100000"/>
                  </a:srgbClr>
                </a:solidFill>
                <a:prstDash val="solid"/>
                <a:miter lim="800000"/>
              </a:ln>
            </p:spPr>
            <p:txBody>
              <a:bodyPr rtlCol="0"/>
              <a:lstStyle/>
              <a:p>
                <a:pPr algn="ctr"/>
                <a:endParaRPr lang="zh-CN" altLang="en-US" sz="1350"/>
              </a:p>
            </p:txBody>
          </p:sp>
        </p:grpSp>
        <p:sp>
          <p:nvSpPr>
            <p:cNvPr id="134" name="textbox 134"/>
            <p:cNvSpPr/>
            <p:nvPr/>
          </p:nvSpPr>
          <p:spPr>
            <a:xfrm>
              <a:off x="913107" y="158146"/>
              <a:ext cx="530225" cy="301625"/>
            </a:xfrm>
            <a:prstGeom prst="rect">
              <a:avLst/>
            </a:prstGeom>
          </p:spPr>
          <p:txBody>
            <a:bodyPr vert="horz" wrap="square" lIns="0" tIns="0" rIns="0" bIns="0"/>
            <a:lstStyle/>
            <a:p>
              <a:pPr algn="l" rtl="0" eaLnBrk="0">
                <a:lnSpc>
                  <a:spcPct val="75000"/>
                </a:lnSpc>
              </a:pPr>
              <a:endParaRPr lang="en-US" altLang="en-US" sz="100" dirty="0"/>
            </a:p>
            <a:p>
              <a:pPr marL="12700" algn="l" rtl="0" eaLnBrk="0">
                <a:lnSpc>
                  <a:spcPct val="91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维护</a:t>
              </a:r>
              <a:endParaRPr lang="en-US" altLang="en-US" sz="1500" dirty="0"/>
            </a:p>
          </p:txBody>
        </p:sp>
      </p:grpSp>
      <p:pic>
        <p:nvPicPr>
          <p:cNvPr id="136" name="picture 136"/>
          <p:cNvPicPr>
            <a:picLocks noChangeAspect="1"/>
          </p:cNvPicPr>
          <p:nvPr/>
        </p:nvPicPr>
        <p:blipFill>
          <a:blip r:embed="rId2"/>
          <a:stretch>
            <a:fillRect/>
          </a:stretch>
        </p:blipFill>
        <p:spPr>
          <a:xfrm rot="21600000">
            <a:off x="6044385" y="393698"/>
            <a:ext cx="389644" cy="635168"/>
          </a:xfrm>
          <a:prstGeom prst="rect">
            <a:avLst/>
          </a:prstGeom>
        </p:spPr>
      </p:pic>
      <p:pic>
        <p:nvPicPr>
          <p:cNvPr id="138" name="picture 138"/>
          <p:cNvPicPr>
            <a:picLocks noChangeAspect="1"/>
          </p:cNvPicPr>
          <p:nvPr/>
        </p:nvPicPr>
        <p:blipFill>
          <a:blip r:embed="rId3"/>
          <a:stretch>
            <a:fillRect/>
          </a:stretch>
        </p:blipFill>
        <p:spPr>
          <a:xfrm rot="21600000">
            <a:off x="6017377" y="897750"/>
            <a:ext cx="416651" cy="699168"/>
          </a:xfrm>
          <a:prstGeom prst="rect">
            <a:avLst/>
          </a:prstGeom>
        </p:spPr>
      </p:pic>
      <p:pic>
        <p:nvPicPr>
          <p:cNvPr id="140" name="picture 140"/>
          <p:cNvPicPr>
            <a:picLocks noChangeAspect="1"/>
          </p:cNvPicPr>
          <p:nvPr/>
        </p:nvPicPr>
        <p:blipFill>
          <a:blip r:embed="rId4"/>
          <a:stretch>
            <a:fillRect/>
          </a:stretch>
        </p:blipFill>
        <p:spPr>
          <a:xfrm rot="21600000">
            <a:off x="5969395" y="1531880"/>
            <a:ext cx="459221" cy="715428"/>
          </a:xfrm>
          <a:prstGeom prst="rect">
            <a:avLst/>
          </a:prstGeom>
        </p:spPr>
      </p:pic>
      <p:pic>
        <p:nvPicPr>
          <p:cNvPr id="142" name="picture 142"/>
          <p:cNvPicPr>
            <a:picLocks noChangeAspect="1"/>
          </p:cNvPicPr>
          <p:nvPr/>
        </p:nvPicPr>
        <p:blipFill>
          <a:blip r:embed="rId5"/>
          <a:stretch>
            <a:fillRect/>
          </a:stretch>
        </p:blipFill>
        <p:spPr>
          <a:xfrm rot="21600000">
            <a:off x="6045815" y="3694425"/>
            <a:ext cx="414557" cy="682908"/>
          </a:xfrm>
          <a:prstGeom prst="rect">
            <a:avLst/>
          </a:prstGeom>
        </p:spPr>
      </p:pic>
      <p:sp>
        <p:nvSpPr>
          <p:cNvPr id="144" name="textbox 144"/>
          <p:cNvSpPr/>
          <p:nvPr/>
        </p:nvSpPr>
        <p:spPr>
          <a:xfrm>
            <a:off x="6621142" y="3882218"/>
            <a:ext cx="778669" cy="226694"/>
          </a:xfrm>
          <a:prstGeom prst="rect">
            <a:avLst/>
          </a:prstGeom>
        </p:spPr>
        <p:txBody>
          <a:bodyPr vert="horz" wrap="square" lIns="0" tIns="0" rIns="0" bIns="0"/>
          <a:lstStyle/>
          <a:p>
            <a:pPr algn="l" rtl="0" eaLnBrk="0">
              <a:lnSpc>
                <a:spcPct val="78000"/>
              </a:lnSpc>
            </a:pPr>
            <a:endParaRPr lang="en-US" altLang="en-US" sz="100" dirty="0"/>
          </a:p>
          <a:p>
            <a:pPr marL="12700" algn="l" rtl="0" eaLnBrk="0">
              <a:lnSpc>
                <a:spcPct val="91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培训人员</a:t>
            </a:r>
            <a:endParaRPr lang="en-US" altLang="en-US" sz="1500" dirty="0"/>
          </a:p>
        </p:txBody>
      </p:sp>
      <p:sp>
        <p:nvSpPr>
          <p:cNvPr id="146" name="textbox 146"/>
          <p:cNvSpPr/>
          <p:nvPr/>
        </p:nvSpPr>
        <p:spPr>
          <a:xfrm>
            <a:off x="6621340" y="2550991"/>
            <a:ext cx="779621" cy="225743"/>
          </a:xfrm>
          <a:prstGeom prst="rect">
            <a:avLst/>
          </a:prstGeom>
        </p:spPr>
        <p:txBody>
          <a:bodyPr vert="horz" wrap="square" lIns="0" tIns="0" rIns="0" bIns="0"/>
          <a:lstStyle/>
          <a:p>
            <a:pPr algn="l" rtl="0" eaLnBrk="0">
              <a:lnSpc>
                <a:spcPct val="92000"/>
              </a:lnSpc>
            </a:pPr>
            <a:endParaRPr lang="en-US" altLang="en-US" sz="100" dirty="0"/>
          </a:p>
          <a:p>
            <a:pPr marL="12700" algn="l" rtl="0" eaLnBrk="0">
              <a:lnSpc>
                <a:spcPct val="90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测试人员</a:t>
            </a:r>
            <a:endParaRPr lang="en-US" altLang="en-US" sz="1500" dirty="0"/>
          </a:p>
        </p:txBody>
      </p:sp>
      <p:sp>
        <p:nvSpPr>
          <p:cNvPr id="148" name="rect"/>
          <p:cNvSpPr/>
          <p:nvPr/>
        </p:nvSpPr>
        <p:spPr>
          <a:xfrm>
            <a:off x="1619368" y="4668138"/>
            <a:ext cx="1644183" cy="4838"/>
          </a:xfrm>
          <a:prstGeom prst="rect">
            <a:avLst/>
          </a:prstGeom>
          <a:solidFill>
            <a:srgbClr val="CBCBCB">
              <a:alpha val="100000"/>
            </a:srgbClr>
          </a:solidFill>
          <a:ln cap="flat">
            <a:noFill/>
            <a:prstDash val="solid"/>
            <a:miter lim="0"/>
          </a:ln>
        </p:spPr>
        <p:txBody>
          <a:bodyPr rtlCol="0"/>
          <a:lstStyle/>
          <a:p>
            <a:pPr algn="ctr"/>
            <a:endParaRPr lang="zh-CN" altLang="en-US" sz="1350"/>
          </a:p>
        </p:txBody>
      </p:sp>
      <p:sp>
        <p:nvSpPr>
          <p:cNvPr id="150" name="path"/>
          <p:cNvSpPr/>
          <p:nvPr/>
        </p:nvSpPr>
        <p:spPr>
          <a:xfrm>
            <a:off x="3628905" y="4298099"/>
            <a:ext cx="57150" cy="95250"/>
          </a:xfrm>
          <a:custGeom>
            <a:avLst/>
            <a:gdLst/>
            <a:ahLst/>
            <a:cxnLst/>
            <a:rect l="0" t="0" r="0" b="0"/>
            <a:pathLst>
              <a:path w="120" h="200">
                <a:moveTo>
                  <a:pt x="120" y="0"/>
                </a:moveTo>
                <a:lnTo>
                  <a:pt x="60" y="200"/>
                </a:lnTo>
                <a:lnTo>
                  <a:pt x="0" y="0"/>
                </a:lnTo>
                <a:lnTo>
                  <a:pt x="120" y="0"/>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152" name="path"/>
          <p:cNvSpPr/>
          <p:nvPr/>
        </p:nvSpPr>
        <p:spPr>
          <a:xfrm>
            <a:off x="3873089" y="4293183"/>
            <a:ext cx="57150" cy="95250"/>
          </a:xfrm>
          <a:custGeom>
            <a:avLst/>
            <a:gdLst/>
            <a:ahLst/>
            <a:cxnLst/>
            <a:rect l="0" t="0" r="0" b="0"/>
            <a:pathLst>
              <a:path w="120" h="200">
                <a:moveTo>
                  <a:pt x="120" y="0"/>
                </a:moveTo>
                <a:lnTo>
                  <a:pt x="60" y="200"/>
                </a:lnTo>
                <a:lnTo>
                  <a:pt x="0" y="0"/>
                </a:lnTo>
                <a:lnTo>
                  <a:pt x="120" y="0"/>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154" name="path"/>
          <p:cNvSpPr/>
          <p:nvPr/>
        </p:nvSpPr>
        <p:spPr>
          <a:xfrm>
            <a:off x="4102841" y="4295459"/>
            <a:ext cx="57150" cy="95250"/>
          </a:xfrm>
          <a:custGeom>
            <a:avLst/>
            <a:gdLst/>
            <a:ahLst/>
            <a:cxnLst/>
            <a:rect l="0" t="0" r="0" b="0"/>
            <a:pathLst>
              <a:path w="120" h="200">
                <a:moveTo>
                  <a:pt x="120" y="0"/>
                </a:moveTo>
                <a:lnTo>
                  <a:pt x="60" y="200"/>
                </a:lnTo>
                <a:lnTo>
                  <a:pt x="0" y="0"/>
                </a:lnTo>
                <a:lnTo>
                  <a:pt x="120" y="0"/>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156" name="path"/>
          <p:cNvSpPr/>
          <p:nvPr/>
        </p:nvSpPr>
        <p:spPr>
          <a:xfrm>
            <a:off x="4332589" y="4286211"/>
            <a:ext cx="57150" cy="95250"/>
          </a:xfrm>
          <a:custGeom>
            <a:avLst/>
            <a:gdLst/>
            <a:ahLst/>
            <a:cxnLst/>
            <a:rect l="0" t="0" r="0" b="0"/>
            <a:pathLst>
              <a:path w="120" h="200">
                <a:moveTo>
                  <a:pt x="120" y="0"/>
                </a:moveTo>
                <a:lnTo>
                  <a:pt x="60" y="200"/>
                </a:lnTo>
                <a:lnTo>
                  <a:pt x="0" y="0"/>
                </a:lnTo>
                <a:lnTo>
                  <a:pt x="120" y="0"/>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158" name="rect"/>
          <p:cNvSpPr/>
          <p:nvPr/>
        </p:nvSpPr>
        <p:spPr>
          <a:xfrm>
            <a:off x="3328201" y="547295"/>
            <a:ext cx="4838" cy="289190"/>
          </a:xfrm>
          <a:prstGeom prst="rect">
            <a:avLst/>
          </a:prstGeom>
          <a:solidFill>
            <a:srgbClr val="CBCBCB">
              <a:alpha val="100000"/>
            </a:srgbClr>
          </a:solidFill>
          <a:ln cap="flat">
            <a:noFill/>
            <a:prstDash val="solid"/>
            <a:miter lim="0"/>
          </a:ln>
        </p:spPr>
        <p:txBody>
          <a:bodyPr rtlCol="0"/>
          <a:lstStyle/>
          <a:p>
            <a:pPr algn="ctr"/>
            <a:endParaRPr lang="zh-CN" altLang="en-US" sz="1350"/>
          </a:p>
        </p:txBody>
      </p:sp>
      <p:sp>
        <p:nvSpPr>
          <p:cNvPr id="160" name="rect"/>
          <p:cNvSpPr/>
          <p:nvPr/>
        </p:nvSpPr>
        <p:spPr>
          <a:xfrm>
            <a:off x="3323600" y="2428181"/>
            <a:ext cx="4838" cy="289190"/>
          </a:xfrm>
          <a:prstGeom prst="rect">
            <a:avLst/>
          </a:prstGeom>
          <a:solidFill>
            <a:srgbClr val="CBCBCB">
              <a:alpha val="100000"/>
            </a:srgbClr>
          </a:solidFill>
          <a:ln cap="flat">
            <a:noFill/>
            <a:prstDash val="solid"/>
            <a:miter lim="0"/>
          </a:ln>
        </p:spPr>
        <p:txBody>
          <a:bodyPr rtlCol="0"/>
          <a:lstStyle/>
          <a:p>
            <a:pPr algn="ctr"/>
            <a:endParaRPr lang="zh-CN" altLang="en-US" sz="135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rect"/>
          <p:cNvSpPr/>
          <p:nvPr/>
        </p:nvSpPr>
        <p:spPr>
          <a:xfrm>
            <a:off x="179072" y="4356649"/>
            <a:ext cx="8774428" cy="469357"/>
          </a:xfrm>
          <a:prstGeom prst="rect">
            <a:avLst/>
          </a:prstGeom>
          <a:solidFill>
            <a:srgbClr val="EBEBEB">
              <a:alpha val="100000"/>
            </a:srgbClr>
          </a:solidFill>
          <a:ln cap="flat">
            <a:noFill/>
            <a:prstDash val="solid"/>
            <a:miter lim="0"/>
          </a:ln>
        </p:spPr>
        <p:txBody>
          <a:bodyPr rtlCol="0"/>
          <a:lstStyle/>
          <a:p>
            <a:pPr algn="ctr"/>
            <a:endParaRPr lang="zh-CN" altLang="en-US" sz="1350"/>
          </a:p>
        </p:txBody>
      </p:sp>
      <p:grpSp>
        <p:nvGrpSpPr>
          <p:cNvPr id="14" name="group 14"/>
          <p:cNvGrpSpPr/>
          <p:nvPr/>
        </p:nvGrpSpPr>
        <p:grpSpPr>
          <a:xfrm rot="21600000">
            <a:off x="179072" y="323855"/>
            <a:ext cx="8774428" cy="1065667"/>
            <a:chOff x="0" y="0"/>
            <a:chExt cx="11699237" cy="1420889"/>
          </a:xfrm>
        </p:grpSpPr>
        <p:sp>
          <p:nvSpPr>
            <p:cNvPr id="164" name="path"/>
            <p:cNvSpPr/>
            <p:nvPr/>
          </p:nvSpPr>
          <p:spPr>
            <a:xfrm>
              <a:off x="0" y="0"/>
              <a:ext cx="11699237" cy="625809"/>
            </a:xfrm>
            <a:custGeom>
              <a:avLst/>
              <a:gdLst/>
              <a:ahLst/>
              <a:cxnLst/>
              <a:rect l="0" t="0" r="0" b="0"/>
              <a:pathLst>
                <a:path w="18423" h="985">
                  <a:moveTo>
                    <a:pt x="0" y="0"/>
                  </a:moveTo>
                  <a:lnTo>
                    <a:pt x="1064" y="0"/>
                  </a:lnTo>
                  <a:lnTo>
                    <a:pt x="1064" y="985"/>
                  </a:lnTo>
                  <a:lnTo>
                    <a:pt x="0" y="985"/>
                  </a:lnTo>
                  <a:lnTo>
                    <a:pt x="0" y="0"/>
                  </a:lnTo>
                  <a:close/>
                </a:path>
                <a:path w="18423" h="985">
                  <a:moveTo>
                    <a:pt x="1064" y="0"/>
                  </a:moveTo>
                  <a:lnTo>
                    <a:pt x="2932" y="0"/>
                  </a:lnTo>
                  <a:lnTo>
                    <a:pt x="2932" y="985"/>
                  </a:lnTo>
                  <a:lnTo>
                    <a:pt x="1064" y="985"/>
                  </a:lnTo>
                  <a:lnTo>
                    <a:pt x="1064" y="0"/>
                  </a:lnTo>
                  <a:close/>
                </a:path>
                <a:path w="18423" h="985">
                  <a:moveTo>
                    <a:pt x="2932" y="0"/>
                  </a:moveTo>
                  <a:lnTo>
                    <a:pt x="4148" y="0"/>
                  </a:lnTo>
                  <a:lnTo>
                    <a:pt x="4148" y="985"/>
                  </a:lnTo>
                  <a:lnTo>
                    <a:pt x="2932" y="985"/>
                  </a:lnTo>
                  <a:lnTo>
                    <a:pt x="2932" y="0"/>
                  </a:lnTo>
                  <a:close/>
                </a:path>
                <a:path w="18423" h="985">
                  <a:moveTo>
                    <a:pt x="4148" y="0"/>
                  </a:moveTo>
                  <a:lnTo>
                    <a:pt x="6668" y="0"/>
                  </a:lnTo>
                  <a:lnTo>
                    <a:pt x="6668" y="985"/>
                  </a:lnTo>
                  <a:lnTo>
                    <a:pt x="4148" y="985"/>
                  </a:lnTo>
                  <a:lnTo>
                    <a:pt x="4148" y="0"/>
                  </a:lnTo>
                  <a:close/>
                </a:path>
                <a:path w="18423" h="985">
                  <a:moveTo>
                    <a:pt x="6668" y="0"/>
                  </a:moveTo>
                  <a:lnTo>
                    <a:pt x="9189" y="0"/>
                  </a:lnTo>
                  <a:lnTo>
                    <a:pt x="9189" y="985"/>
                  </a:lnTo>
                  <a:lnTo>
                    <a:pt x="6668" y="985"/>
                  </a:lnTo>
                  <a:lnTo>
                    <a:pt x="6668" y="0"/>
                  </a:lnTo>
                  <a:close/>
                </a:path>
                <a:path w="18423" h="985">
                  <a:moveTo>
                    <a:pt x="9189" y="0"/>
                  </a:moveTo>
                  <a:lnTo>
                    <a:pt x="16578" y="0"/>
                  </a:lnTo>
                  <a:lnTo>
                    <a:pt x="16578" y="985"/>
                  </a:lnTo>
                  <a:lnTo>
                    <a:pt x="9189" y="985"/>
                  </a:lnTo>
                  <a:lnTo>
                    <a:pt x="9189" y="0"/>
                  </a:lnTo>
                  <a:close/>
                </a:path>
                <a:path w="18423" h="985">
                  <a:moveTo>
                    <a:pt x="16578" y="0"/>
                  </a:moveTo>
                  <a:lnTo>
                    <a:pt x="18423" y="0"/>
                  </a:lnTo>
                  <a:lnTo>
                    <a:pt x="18423" y="985"/>
                  </a:lnTo>
                  <a:lnTo>
                    <a:pt x="16578" y="985"/>
                  </a:lnTo>
                  <a:lnTo>
                    <a:pt x="16578" y="0"/>
                  </a:lnTo>
                  <a:close/>
                </a:path>
              </a:pathLst>
            </a:custGeom>
            <a:solidFill>
              <a:srgbClr val="3B69A8">
                <a:alpha val="100000"/>
              </a:srgbClr>
            </a:solidFill>
            <a:ln cap="flat">
              <a:noFill/>
              <a:prstDash val="solid"/>
              <a:miter lim="0"/>
            </a:ln>
          </p:spPr>
          <p:txBody>
            <a:bodyPr rtlCol="0"/>
            <a:lstStyle/>
            <a:p>
              <a:pPr algn="ctr"/>
              <a:endParaRPr lang="zh-CN" altLang="en-US" sz="1350"/>
            </a:p>
          </p:txBody>
        </p:sp>
        <p:sp>
          <p:nvSpPr>
            <p:cNvPr id="166" name="path"/>
            <p:cNvSpPr/>
            <p:nvPr/>
          </p:nvSpPr>
          <p:spPr>
            <a:xfrm>
              <a:off x="0" y="625809"/>
              <a:ext cx="11699237" cy="795080"/>
            </a:xfrm>
            <a:custGeom>
              <a:avLst/>
              <a:gdLst/>
              <a:ahLst/>
              <a:cxnLst/>
              <a:rect l="0" t="0" r="0" b="0"/>
              <a:pathLst>
                <a:path w="18423" h="1252">
                  <a:moveTo>
                    <a:pt x="0" y="0"/>
                  </a:moveTo>
                  <a:lnTo>
                    <a:pt x="1064" y="0"/>
                  </a:lnTo>
                  <a:lnTo>
                    <a:pt x="1064" y="1252"/>
                  </a:lnTo>
                  <a:lnTo>
                    <a:pt x="0" y="1252"/>
                  </a:lnTo>
                  <a:lnTo>
                    <a:pt x="0" y="0"/>
                  </a:lnTo>
                  <a:close/>
                </a:path>
                <a:path w="18423" h="1252">
                  <a:moveTo>
                    <a:pt x="1064" y="0"/>
                  </a:moveTo>
                  <a:lnTo>
                    <a:pt x="2932" y="0"/>
                  </a:lnTo>
                  <a:lnTo>
                    <a:pt x="2932" y="1252"/>
                  </a:lnTo>
                  <a:lnTo>
                    <a:pt x="1064" y="1252"/>
                  </a:lnTo>
                  <a:lnTo>
                    <a:pt x="1064" y="0"/>
                  </a:lnTo>
                  <a:close/>
                </a:path>
                <a:path w="18423" h="1252">
                  <a:moveTo>
                    <a:pt x="2932" y="0"/>
                  </a:moveTo>
                  <a:lnTo>
                    <a:pt x="4148" y="0"/>
                  </a:lnTo>
                  <a:lnTo>
                    <a:pt x="4148" y="1252"/>
                  </a:lnTo>
                  <a:lnTo>
                    <a:pt x="2932" y="1252"/>
                  </a:lnTo>
                  <a:lnTo>
                    <a:pt x="2932" y="0"/>
                  </a:lnTo>
                  <a:close/>
                </a:path>
                <a:path w="18423" h="1252">
                  <a:moveTo>
                    <a:pt x="4148" y="0"/>
                  </a:moveTo>
                  <a:lnTo>
                    <a:pt x="6668" y="0"/>
                  </a:lnTo>
                  <a:lnTo>
                    <a:pt x="6668" y="1252"/>
                  </a:lnTo>
                  <a:lnTo>
                    <a:pt x="4148" y="1252"/>
                  </a:lnTo>
                  <a:lnTo>
                    <a:pt x="4148" y="0"/>
                  </a:lnTo>
                  <a:close/>
                </a:path>
                <a:path w="18423" h="1252">
                  <a:moveTo>
                    <a:pt x="6668" y="0"/>
                  </a:moveTo>
                  <a:lnTo>
                    <a:pt x="9189" y="0"/>
                  </a:lnTo>
                  <a:lnTo>
                    <a:pt x="9189" y="1252"/>
                  </a:lnTo>
                  <a:lnTo>
                    <a:pt x="6668" y="1252"/>
                  </a:lnTo>
                  <a:lnTo>
                    <a:pt x="6668" y="0"/>
                  </a:lnTo>
                  <a:close/>
                </a:path>
                <a:path w="18423" h="1252">
                  <a:moveTo>
                    <a:pt x="9189" y="0"/>
                  </a:moveTo>
                  <a:lnTo>
                    <a:pt x="16578" y="0"/>
                  </a:lnTo>
                  <a:lnTo>
                    <a:pt x="16578" y="1252"/>
                  </a:lnTo>
                  <a:lnTo>
                    <a:pt x="9189" y="1252"/>
                  </a:lnTo>
                  <a:lnTo>
                    <a:pt x="9189" y="0"/>
                  </a:lnTo>
                  <a:close/>
                </a:path>
                <a:path w="18423" h="1252">
                  <a:moveTo>
                    <a:pt x="16578" y="0"/>
                  </a:moveTo>
                  <a:lnTo>
                    <a:pt x="18423" y="0"/>
                  </a:lnTo>
                  <a:lnTo>
                    <a:pt x="18423" y="1252"/>
                  </a:lnTo>
                  <a:lnTo>
                    <a:pt x="16578" y="1252"/>
                  </a:lnTo>
                  <a:lnTo>
                    <a:pt x="16578" y="0"/>
                  </a:lnTo>
                  <a:close/>
                </a:path>
              </a:pathLst>
            </a:custGeom>
            <a:solidFill>
              <a:srgbClr val="EBEBEB">
                <a:alpha val="100000"/>
              </a:srgbClr>
            </a:solidFill>
            <a:ln cap="flat">
              <a:noFill/>
              <a:prstDash val="solid"/>
              <a:miter lim="0"/>
            </a:ln>
          </p:spPr>
          <p:txBody>
            <a:bodyPr rtlCol="0"/>
            <a:lstStyle/>
            <a:p>
              <a:pPr algn="ctr"/>
              <a:endParaRPr lang="zh-CN" altLang="en-US" sz="1350"/>
            </a:p>
          </p:txBody>
        </p:sp>
      </p:grpSp>
      <p:graphicFrame>
        <p:nvGraphicFramePr>
          <p:cNvPr id="168" name="table 168"/>
          <p:cNvGraphicFramePr>
            <a:graphicFrameLocks noGrp="1"/>
          </p:cNvGraphicFramePr>
          <p:nvPr>
            <p:custDataLst>
              <p:tags r:id="rId1"/>
            </p:custDataLst>
          </p:nvPr>
        </p:nvGraphicFramePr>
        <p:xfrm>
          <a:off x="179705" y="377825"/>
          <a:ext cx="8913495" cy="4529455"/>
        </p:xfrm>
        <a:graphic>
          <a:graphicData uri="http://schemas.openxmlformats.org/drawingml/2006/table">
            <a:tbl>
              <a:tblPr/>
              <a:tblGrid>
                <a:gridCol w="507365"/>
                <a:gridCol w="889000"/>
                <a:gridCol w="579120"/>
                <a:gridCol w="1200785"/>
                <a:gridCol w="1200150"/>
                <a:gridCol w="3517900"/>
                <a:gridCol w="1019175"/>
              </a:tblGrid>
              <a:tr h="454025">
                <a:tc>
                  <a:txBody>
                    <a:bodyPr/>
                    <a:lstStyle/>
                    <a:p>
                      <a:pPr algn="l" rtl="0" eaLnBrk="0">
                        <a:lnSpc>
                          <a:spcPct val="145000"/>
                        </a:lnSpc>
                      </a:pPr>
                      <a:endParaRPr lang="en-US" altLang="en-US" sz="750" dirty="0"/>
                    </a:p>
                    <a:p>
                      <a:pPr algn="l" rtl="0" eaLnBrk="0">
                        <a:lnSpc>
                          <a:spcPct val="8000"/>
                        </a:lnSpc>
                      </a:pPr>
                      <a:endParaRPr lang="en-US" altLang="en-US" sz="100" dirty="0"/>
                    </a:p>
                    <a:p>
                      <a:pPr marL="113665" algn="l" rtl="0" eaLnBrk="0">
                        <a:lnSpc>
                          <a:spcPct val="91000"/>
                        </a:lnSpc>
                      </a:pPr>
                      <a:r>
                        <a:rPr sz="1350"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序号</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tcPr>
                </a:tc>
                <a:tc>
                  <a:txBody>
                    <a:bodyPr/>
                    <a:lstStyle/>
                    <a:p>
                      <a:pPr algn="l" rtl="0" eaLnBrk="0">
                        <a:lnSpc>
                          <a:spcPct val="147000"/>
                        </a:lnSpc>
                      </a:pPr>
                      <a:endParaRPr lang="en-US" altLang="en-US" sz="750" dirty="0"/>
                    </a:p>
                    <a:p>
                      <a:pPr algn="l" rtl="0" eaLnBrk="0">
                        <a:lnSpc>
                          <a:spcPct val="6000"/>
                        </a:lnSpc>
                      </a:pPr>
                      <a:endParaRPr lang="en-US" altLang="en-US" sz="100" dirty="0"/>
                    </a:p>
                    <a:p>
                      <a:pPr marL="142240" algn="l" rtl="0" eaLnBrk="0">
                        <a:lnSpc>
                          <a:spcPct val="90000"/>
                        </a:lnSpc>
                      </a:pPr>
                      <a:r>
                        <a:rPr sz="1350"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人员类型</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tcPr>
                </a:tc>
                <a:tc>
                  <a:txBody>
                    <a:bodyPr/>
                    <a:lstStyle/>
                    <a:p>
                      <a:pPr algn="l" rtl="0" eaLnBrk="0">
                        <a:lnSpc>
                          <a:spcPct val="147000"/>
                        </a:lnSpc>
                      </a:pPr>
                      <a:endParaRPr lang="en-US" altLang="en-US" sz="750" dirty="0"/>
                    </a:p>
                    <a:p>
                      <a:pPr algn="l" rtl="0" eaLnBrk="0">
                        <a:lnSpc>
                          <a:spcPct val="7000"/>
                        </a:lnSpc>
                      </a:pPr>
                      <a:endParaRPr lang="en-US" altLang="en-US" sz="100" dirty="0"/>
                    </a:p>
                    <a:p>
                      <a:pPr marL="161925" algn="l" rtl="0" eaLnBrk="0">
                        <a:lnSpc>
                          <a:spcPct val="90000"/>
                        </a:lnSpc>
                      </a:pPr>
                      <a:r>
                        <a:rPr sz="1350"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数量</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tcPr>
                </a:tc>
                <a:tc>
                  <a:txBody>
                    <a:bodyPr/>
                    <a:lstStyle/>
                    <a:p>
                      <a:pPr algn="l" rtl="0" eaLnBrk="0">
                        <a:lnSpc>
                          <a:spcPct val="145000"/>
                        </a:lnSpc>
                      </a:pPr>
                      <a:endParaRPr lang="en-US" altLang="en-US" sz="750" dirty="0"/>
                    </a:p>
                    <a:p>
                      <a:pPr algn="l" rtl="0" eaLnBrk="0">
                        <a:lnSpc>
                          <a:spcPct val="8000"/>
                        </a:lnSpc>
                      </a:pPr>
                      <a:endParaRPr lang="en-US" altLang="en-US" sz="100" dirty="0"/>
                    </a:p>
                    <a:p>
                      <a:pPr marL="119380" algn="l" rtl="0" eaLnBrk="0">
                        <a:lnSpc>
                          <a:spcPct val="91000"/>
                        </a:lnSpc>
                      </a:pPr>
                      <a:r>
                        <a:rPr sz="1350"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到位时间要求</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tcPr>
                </a:tc>
                <a:tc>
                  <a:txBody>
                    <a:bodyPr/>
                    <a:lstStyle/>
                    <a:p>
                      <a:pPr algn="l" rtl="0" eaLnBrk="0">
                        <a:lnSpc>
                          <a:spcPct val="145000"/>
                        </a:lnSpc>
                      </a:pPr>
                      <a:endParaRPr lang="en-US" altLang="en-US" sz="750" dirty="0"/>
                    </a:p>
                    <a:p>
                      <a:pPr algn="l" rtl="0" eaLnBrk="0">
                        <a:lnSpc>
                          <a:spcPct val="8000"/>
                        </a:lnSpc>
                      </a:pPr>
                      <a:endParaRPr lang="en-US" altLang="en-US" sz="100" dirty="0"/>
                    </a:p>
                    <a:p>
                      <a:pPr marL="119380" algn="l" rtl="0" eaLnBrk="0">
                        <a:lnSpc>
                          <a:spcPct val="91000"/>
                        </a:lnSpc>
                      </a:pPr>
                      <a:r>
                        <a:rPr sz="1350"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退出时间安排</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tcPr>
                </a:tc>
                <a:tc>
                  <a:txBody>
                    <a:bodyPr/>
                    <a:lstStyle/>
                    <a:p>
                      <a:pPr algn="l" rtl="0" eaLnBrk="0">
                        <a:lnSpc>
                          <a:spcPct val="145000"/>
                        </a:lnSpc>
                      </a:pPr>
                      <a:endParaRPr lang="en-US" altLang="en-US" sz="750" dirty="0"/>
                    </a:p>
                    <a:p>
                      <a:pPr algn="l" rtl="0" eaLnBrk="0">
                        <a:lnSpc>
                          <a:spcPct val="8000"/>
                        </a:lnSpc>
                      </a:pPr>
                      <a:endParaRPr lang="en-US" altLang="en-US" sz="100" dirty="0"/>
                    </a:p>
                    <a:p>
                      <a:pPr marL="1894205" algn="l" rtl="0" eaLnBrk="0">
                        <a:lnSpc>
                          <a:spcPct val="91000"/>
                        </a:lnSpc>
                      </a:pPr>
                      <a:r>
                        <a:rPr sz="1350"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技能要求</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tcPr>
                </a:tc>
                <a:tc>
                  <a:txBody>
                    <a:bodyPr/>
                    <a:lstStyle/>
                    <a:p>
                      <a:pPr algn="l" rtl="0" eaLnBrk="0">
                        <a:lnSpc>
                          <a:spcPct val="147000"/>
                        </a:lnSpc>
                      </a:pPr>
                      <a:endParaRPr lang="en-US" altLang="en-US" sz="750" dirty="0"/>
                    </a:p>
                    <a:p>
                      <a:pPr algn="l" rtl="0" eaLnBrk="0">
                        <a:lnSpc>
                          <a:spcPct val="6000"/>
                        </a:lnSpc>
                      </a:pPr>
                      <a:endParaRPr lang="en-US" altLang="en-US" sz="100" dirty="0"/>
                    </a:p>
                    <a:p>
                      <a:pPr marL="133985" algn="l" rtl="0" eaLnBrk="0">
                        <a:lnSpc>
                          <a:spcPct val="90000"/>
                        </a:lnSpc>
                      </a:pPr>
                      <a:r>
                        <a:rPr sz="1350"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如何获取</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tcPr>
                </a:tc>
              </a:tr>
              <a:tr h="1223010">
                <a:tc>
                  <a:txBody>
                    <a:bodyPr/>
                    <a:lstStyle/>
                    <a:p>
                      <a:pPr algn="l" rtl="0" eaLnBrk="0">
                        <a:lnSpc>
                          <a:spcPct val="103000"/>
                        </a:lnSpc>
                      </a:pPr>
                      <a:endParaRPr lang="en-US" altLang="en-US" sz="750" dirty="0"/>
                    </a:p>
                    <a:p>
                      <a:pPr algn="l" rtl="0" eaLnBrk="0">
                        <a:lnSpc>
                          <a:spcPct val="103000"/>
                        </a:lnSpc>
                      </a:pPr>
                      <a:endParaRPr lang="en-US" altLang="en-US" sz="750" dirty="0"/>
                    </a:p>
                    <a:p>
                      <a:pPr marL="301625" algn="l" rtl="0" eaLnBrk="0">
                        <a:lnSpc>
                          <a:spcPct val="80000"/>
                        </a:lnSpc>
                        <a:spcBef>
                          <a:spcPts val="0"/>
                        </a:spcBef>
                      </a:pPr>
                      <a:r>
                        <a:rPr sz="1350" kern="0" spc="-10" dirty="0">
                          <a:solidFill>
                            <a:srgbClr val="000000">
                              <a:alpha val="100000"/>
                            </a:srgbClr>
                          </a:solidFill>
                          <a:latin typeface="Arial" panose="020B0604020202020204"/>
                          <a:ea typeface="Arial" panose="020B0604020202020204"/>
                          <a:cs typeface="Arial" panose="020B0604020202020204"/>
                        </a:rPr>
                        <a:t>1</a:t>
                      </a:r>
                      <a:endParaRPr lang="en-US" altLang="en-US" sz="1350" dirty="0"/>
                    </a:p>
                    <a:p>
                      <a:pPr algn="l" rtl="0" eaLnBrk="0">
                        <a:lnSpc>
                          <a:spcPct val="110000"/>
                        </a:lnSpc>
                      </a:pPr>
                      <a:endParaRPr lang="en-US" altLang="en-US" sz="750" dirty="0"/>
                    </a:p>
                    <a:p>
                      <a:pPr algn="l" rtl="0" eaLnBrk="0">
                        <a:lnSpc>
                          <a:spcPct val="111000"/>
                        </a:lnSpc>
                      </a:pPr>
                      <a:endParaRPr lang="en-US" altLang="en-US" sz="750" dirty="0"/>
                    </a:p>
                    <a:p>
                      <a:pPr algn="l" rtl="0" eaLnBrk="0">
                        <a:lnSpc>
                          <a:spcPct val="111000"/>
                        </a:lnSpc>
                      </a:pPr>
                      <a:endParaRPr lang="en-US" altLang="en-US" sz="750" dirty="0"/>
                    </a:p>
                    <a:p>
                      <a:pPr algn="l" rtl="0" eaLnBrk="0">
                        <a:lnSpc>
                          <a:spcPct val="114000"/>
                        </a:lnSpc>
                      </a:pPr>
                      <a:endParaRPr lang="en-US" altLang="en-US" sz="300" dirty="0"/>
                    </a:p>
                    <a:p>
                      <a:pPr marL="283210" algn="l" rtl="0" eaLnBrk="0">
                        <a:lnSpc>
                          <a:spcPct val="80000"/>
                        </a:lnSpc>
                        <a:spcBef>
                          <a:spcPts val="0"/>
                        </a:spcBef>
                      </a:pPr>
                      <a:r>
                        <a:rPr sz="1350" kern="0" spc="-10" dirty="0">
                          <a:solidFill>
                            <a:srgbClr val="000000">
                              <a:alpha val="100000"/>
                            </a:srgbClr>
                          </a:solidFill>
                          <a:latin typeface="Arial" panose="020B0604020202020204"/>
                          <a:ea typeface="Arial" panose="020B0604020202020204"/>
                          <a:cs typeface="Arial" panose="020B0604020202020204"/>
                        </a:rPr>
                        <a:t>2</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a:noFill/>
                    </a:lnB>
                  </a:tcPr>
                </a:tc>
                <a:tc>
                  <a:txBody>
                    <a:bodyPr/>
                    <a:lstStyle/>
                    <a:p>
                      <a:pPr algn="l" rtl="0" eaLnBrk="0">
                        <a:lnSpc>
                          <a:spcPct val="186000"/>
                        </a:lnSpc>
                      </a:pPr>
                      <a:endParaRPr lang="en-US" altLang="en-US" sz="750" dirty="0"/>
                    </a:p>
                    <a:p>
                      <a:pPr marL="142875" algn="l" rtl="0" eaLnBrk="0">
                        <a:lnSpc>
                          <a:spcPct val="91000"/>
                        </a:lnSpc>
                        <a:spcBef>
                          <a:spcPts val="0"/>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需求分析</a:t>
                      </a:r>
                      <a:endParaRPr lang="en-US" altLang="en-US" sz="1350" dirty="0"/>
                    </a:p>
                    <a:p>
                      <a:pPr algn="l" rtl="0" eaLnBrk="0">
                        <a:lnSpc>
                          <a:spcPct val="104000"/>
                        </a:lnSpc>
                      </a:pPr>
                      <a:endParaRPr lang="en-US" altLang="en-US" sz="750" dirty="0"/>
                    </a:p>
                    <a:p>
                      <a:pPr algn="l" rtl="0" eaLnBrk="0">
                        <a:lnSpc>
                          <a:spcPct val="104000"/>
                        </a:lnSpc>
                      </a:pPr>
                      <a:endParaRPr lang="en-US" altLang="en-US" sz="750" dirty="0"/>
                    </a:p>
                    <a:p>
                      <a:pPr algn="l" rtl="0" eaLnBrk="0">
                        <a:lnSpc>
                          <a:spcPct val="104000"/>
                        </a:lnSpc>
                      </a:pPr>
                      <a:endParaRPr lang="en-US" altLang="en-US" sz="750" dirty="0"/>
                    </a:p>
                    <a:p>
                      <a:pPr algn="l" rtl="0" eaLnBrk="0">
                        <a:lnSpc>
                          <a:spcPct val="114000"/>
                        </a:lnSpc>
                      </a:pPr>
                      <a:endParaRPr lang="en-US" altLang="en-US" sz="300" dirty="0"/>
                    </a:p>
                    <a:p>
                      <a:pPr marL="141605" algn="l" rtl="0" eaLnBrk="0">
                        <a:lnSpc>
                          <a:spcPct val="91000"/>
                        </a:lnSpc>
                        <a:spcBef>
                          <a:spcPts val="5"/>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架构设计</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a:noFill/>
                    </a:lnB>
                  </a:tcPr>
                </a:tc>
                <a:tc>
                  <a:txBody>
                    <a:bodyPr/>
                    <a:lstStyle/>
                    <a:p>
                      <a:pPr algn="l" rtl="0" eaLnBrk="0">
                        <a:lnSpc>
                          <a:spcPct val="103000"/>
                        </a:lnSpc>
                      </a:pPr>
                      <a:endParaRPr lang="en-US" altLang="en-US" sz="750" dirty="0"/>
                    </a:p>
                    <a:p>
                      <a:pPr algn="l" rtl="0" eaLnBrk="0">
                        <a:lnSpc>
                          <a:spcPct val="103000"/>
                        </a:lnSpc>
                      </a:pPr>
                      <a:endParaRPr lang="en-US" altLang="en-US" sz="750" dirty="0"/>
                    </a:p>
                    <a:p>
                      <a:pPr marL="331470" algn="l" rtl="0" eaLnBrk="0">
                        <a:lnSpc>
                          <a:spcPct val="80000"/>
                        </a:lnSpc>
                        <a:spcBef>
                          <a:spcPts val="0"/>
                        </a:spcBef>
                      </a:pPr>
                      <a:r>
                        <a:rPr sz="1350" kern="0" spc="-10" dirty="0">
                          <a:solidFill>
                            <a:srgbClr val="000000">
                              <a:alpha val="100000"/>
                            </a:srgbClr>
                          </a:solidFill>
                          <a:latin typeface="Arial" panose="020B0604020202020204"/>
                          <a:ea typeface="Arial" panose="020B0604020202020204"/>
                          <a:cs typeface="Arial" panose="020B0604020202020204"/>
                        </a:rPr>
                        <a:t>2</a:t>
                      </a:r>
                      <a:endParaRPr lang="en-US" altLang="en-US" sz="1350" dirty="0"/>
                    </a:p>
                    <a:p>
                      <a:pPr algn="l" rtl="0" eaLnBrk="0">
                        <a:lnSpc>
                          <a:spcPct val="110000"/>
                        </a:lnSpc>
                      </a:pPr>
                      <a:endParaRPr lang="en-US" altLang="en-US" sz="750" dirty="0"/>
                    </a:p>
                    <a:p>
                      <a:pPr algn="l" rtl="0" eaLnBrk="0">
                        <a:lnSpc>
                          <a:spcPct val="111000"/>
                        </a:lnSpc>
                      </a:pPr>
                      <a:endParaRPr lang="en-US" altLang="en-US" sz="750" dirty="0"/>
                    </a:p>
                    <a:p>
                      <a:pPr algn="l" rtl="0" eaLnBrk="0">
                        <a:lnSpc>
                          <a:spcPct val="111000"/>
                        </a:lnSpc>
                      </a:pPr>
                      <a:endParaRPr lang="en-US" altLang="en-US" sz="750" dirty="0"/>
                    </a:p>
                    <a:p>
                      <a:pPr algn="l" rtl="0" eaLnBrk="0">
                        <a:lnSpc>
                          <a:spcPct val="114000"/>
                        </a:lnSpc>
                      </a:pPr>
                      <a:endParaRPr lang="en-US" altLang="en-US" sz="300" dirty="0"/>
                    </a:p>
                    <a:p>
                      <a:pPr marL="349885" algn="l" rtl="0" eaLnBrk="0">
                        <a:lnSpc>
                          <a:spcPct val="80000"/>
                        </a:lnSpc>
                        <a:spcBef>
                          <a:spcPts val="0"/>
                        </a:spcBef>
                      </a:pPr>
                      <a:r>
                        <a:rPr sz="1350" kern="0" spc="-10" dirty="0">
                          <a:solidFill>
                            <a:srgbClr val="000000">
                              <a:alpha val="100000"/>
                            </a:srgbClr>
                          </a:solidFill>
                          <a:latin typeface="Arial" panose="020B0604020202020204"/>
                          <a:ea typeface="Arial" panose="020B0604020202020204"/>
                          <a:cs typeface="Arial" panose="020B0604020202020204"/>
                        </a:rPr>
                        <a:t>1</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a:noFill/>
                    </a:lnB>
                  </a:tcPr>
                </a:tc>
                <a:tc>
                  <a:txBody>
                    <a:bodyPr/>
                    <a:lstStyle/>
                    <a:p>
                      <a:pPr algn="l" rtl="0" eaLnBrk="0">
                        <a:lnSpc>
                          <a:spcPct val="102000"/>
                        </a:lnSpc>
                      </a:pPr>
                      <a:endParaRPr lang="en-US" altLang="en-US" sz="750" dirty="0"/>
                    </a:p>
                    <a:p>
                      <a:pPr algn="l" rtl="0" eaLnBrk="0">
                        <a:lnSpc>
                          <a:spcPct val="103000"/>
                        </a:lnSpc>
                      </a:pPr>
                      <a:endParaRPr lang="en-US" altLang="en-US" sz="750" dirty="0"/>
                    </a:p>
                    <a:p>
                      <a:pPr algn="l" rtl="0" eaLnBrk="0">
                        <a:lnSpc>
                          <a:spcPct val="10000"/>
                        </a:lnSpc>
                      </a:pPr>
                      <a:endParaRPr lang="en-US" altLang="en-US" sz="100" dirty="0"/>
                    </a:p>
                    <a:p>
                      <a:pPr marL="459105" algn="l" rtl="0" eaLnBrk="0">
                        <a:lnSpc>
                          <a:spcPct val="80000"/>
                        </a:lnSpc>
                      </a:pPr>
                      <a:r>
                        <a:rPr sz="1350" kern="0" spc="-10" dirty="0">
                          <a:solidFill>
                            <a:srgbClr val="000000">
                              <a:alpha val="100000"/>
                            </a:srgbClr>
                          </a:solidFill>
                          <a:latin typeface="Arial" panose="020B0604020202020204"/>
                          <a:ea typeface="Arial" panose="020B0604020202020204"/>
                          <a:cs typeface="Arial" panose="020B0604020202020204"/>
                        </a:rPr>
                        <a:t>2009.1</a:t>
                      </a:r>
                      <a:endParaRPr lang="en-US" altLang="en-US" sz="1350" dirty="0"/>
                    </a:p>
                    <a:p>
                      <a:pPr algn="l" rtl="0" eaLnBrk="0">
                        <a:lnSpc>
                          <a:spcPct val="110000"/>
                        </a:lnSpc>
                      </a:pPr>
                      <a:endParaRPr lang="en-US" altLang="en-US" sz="750" dirty="0"/>
                    </a:p>
                    <a:p>
                      <a:pPr algn="l" rtl="0" eaLnBrk="0">
                        <a:lnSpc>
                          <a:spcPct val="111000"/>
                        </a:lnSpc>
                      </a:pPr>
                      <a:endParaRPr lang="en-US" altLang="en-US" sz="750" dirty="0"/>
                    </a:p>
                    <a:p>
                      <a:pPr algn="l" rtl="0" eaLnBrk="0">
                        <a:lnSpc>
                          <a:spcPct val="111000"/>
                        </a:lnSpc>
                      </a:pPr>
                      <a:endParaRPr lang="en-US" altLang="en-US" sz="750" dirty="0"/>
                    </a:p>
                    <a:p>
                      <a:pPr algn="l" rtl="0" eaLnBrk="0">
                        <a:lnSpc>
                          <a:spcPct val="114000"/>
                        </a:lnSpc>
                      </a:pPr>
                      <a:endParaRPr lang="en-US" altLang="en-US" sz="300" dirty="0"/>
                    </a:p>
                    <a:p>
                      <a:pPr marL="459105" algn="l" rtl="0" eaLnBrk="0">
                        <a:lnSpc>
                          <a:spcPct val="80000"/>
                        </a:lnSpc>
                        <a:spcBef>
                          <a:spcPts val="0"/>
                        </a:spcBef>
                      </a:pPr>
                      <a:r>
                        <a:rPr sz="1350" kern="0" spc="-10" dirty="0">
                          <a:solidFill>
                            <a:srgbClr val="000000">
                              <a:alpha val="100000"/>
                            </a:srgbClr>
                          </a:solidFill>
                          <a:latin typeface="Arial" panose="020B0604020202020204"/>
                          <a:ea typeface="Arial" panose="020B0604020202020204"/>
                          <a:cs typeface="Arial" panose="020B0604020202020204"/>
                        </a:rPr>
                        <a:t>2009.1</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a:noFill/>
                    </a:lnB>
                  </a:tcPr>
                </a:tc>
                <a:tc>
                  <a:txBody>
                    <a:bodyPr/>
                    <a:lstStyle/>
                    <a:p>
                      <a:pPr algn="l" rtl="0" eaLnBrk="0">
                        <a:lnSpc>
                          <a:spcPct val="102000"/>
                        </a:lnSpc>
                      </a:pPr>
                      <a:endParaRPr lang="en-US" altLang="en-US" sz="750" dirty="0"/>
                    </a:p>
                    <a:p>
                      <a:pPr algn="l" rtl="0" eaLnBrk="0">
                        <a:lnSpc>
                          <a:spcPct val="103000"/>
                        </a:lnSpc>
                      </a:pPr>
                      <a:endParaRPr lang="en-US" altLang="en-US" sz="750" dirty="0"/>
                    </a:p>
                    <a:p>
                      <a:pPr algn="l" rtl="0" eaLnBrk="0">
                        <a:lnSpc>
                          <a:spcPct val="10000"/>
                        </a:lnSpc>
                      </a:pPr>
                      <a:endParaRPr lang="en-US" altLang="en-US" sz="100" dirty="0"/>
                    </a:p>
                    <a:p>
                      <a:pPr marL="459105" algn="l" rtl="0" eaLnBrk="0">
                        <a:lnSpc>
                          <a:spcPct val="80000"/>
                        </a:lnSpc>
                      </a:pPr>
                      <a:r>
                        <a:rPr sz="1350" kern="0" spc="-10" dirty="0">
                          <a:solidFill>
                            <a:srgbClr val="000000">
                              <a:alpha val="100000"/>
                            </a:srgbClr>
                          </a:solidFill>
                          <a:latin typeface="Arial" panose="020B0604020202020204"/>
                          <a:ea typeface="Arial" panose="020B0604020202020204"/>
                          <a:cs typeface="Arial" panose="020B0604020202020204"/>
                        </a:rPr>
                        <a:t>2009.6</a:t>
                      </a:r>
                      <a:endParaRPr lang="en-US" altLang="en-US" sz="1350" dirty="0"/>
                    </a:p>
                    <a:p>
                      <a:pPr algn="l" rtl="0" eaLnBrk="0">
                        <a:lnSpc>
                          <a:spcPct val="110000"/>
                        </a:lnSpc>
                      </a:pPr>
                      <a:endParaRPr lang="en-US" altLang="en-US" sz="750" dirty="0"/>
                    </a:p>
                    <a:p>
                      <a:pPr algn="l" rtl="0" eaLnBrk="0">
                        <a:lnSpc>
                          <a:spcPct val="111000"/>
                        </a:lnSpc>
                      </a:pPr>
                      <a:endParaRPr lang="en-US" altLang="en-US" sz="750" dirty="0"/>
                    </a:p>
                    <a:p>
                      <a:pPr algn="l" rtl="0" eaLnBrk="0">
                        <a:lnSpc>
                          <a:spcPct val="111000"/>
                        </a:lnSpc>
                      </a:pPr>
                      <a:endParaRPr lang="en-US" altLang="en-US" sz="750" dirty="0"/>
                    </a:p>
                    <a:p>
                      <a:pPr algn="l" rtl="0" eaLnBrk="0">
                        <a:lnSpc>
                          <a:spcPct val="114000"/>
                        </a:lnSpc>
                      </a:pPr>
                      <a:endParaRPr lang="en-US" altLang="en-US" sz="300" dirty="0"/>
                    </a:p>
                    <a:p>
                      <a:pPr marL="459105" algn="l" rtl="0" eaLnBrk="0">
                        <a:lnSpc>
                          <a:spcPct val="80000"/>
                        </a:lnSpc>
                        <a:spcBef>
                          <a:spcPts val="0"/>
                        </a:spcBef>
                      </a:pPr>
                      <a:r>
                        <a:rPr sz="1350" kern="0" spc="-10" dirty="0">
                          <a:solidFill>
                            <a:srgbClr val="000000">
                              <a:alpha val="100000"/>
                            </a:srgbClr>
                          </a:solidFill>
                          <a:latin typeface="Arial" panose="020B0604020202020204"/>
                          <a:ea typeface="Arial" panose="020B0604020202020204"/>
                          <a:cs typeface="Arial" panose="020B0604020202020204"/>
                        </a:rPr>
                        <a:t>2009.6</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a:noFill/>
                    </a:lnB>
                  </a:tcPr>
                </a:tc>
                <a:tc>
                  <a:txBody>
                    <a:bodyPr/>
                    <a:lstStyle/>
                    <a:p>
                      <a:pPr algn="l" rtl="0" eaLnBrk="0">
                        <a:lnSpc>
                          <a:spcPct val="104000"/>
                        </a:lnSpc>
                      </a:pPr>
                      <a:endParaRPr lang="en-US" altLang="en-US" sz="600" dirty="0"/>
                    </a:p>
                    <a:p>
                      <a:pPr marL="116205" algn="l" rtl="0" eaLnBrk="0">
                        <a:lnSpc>
                          <a:spcPct val="91000"/>
                        </a:lnSpc>
                        <a:spcBef>
                          <a:spcPts val="5"/>
                        </a:spcBef>
                      </a:pPr>
                      <a:r>
                        <a:rPr sz="1350" kern="0" spc="-20" dirty="0">
                          <a:solidFill>
                            <a:srgbClr val="000000">
                              <a:alpha val="100000"/>
                            </a:srgbClr>
                          </a:solidFill>
                          <a:latin typeface="Arial" panose="020B0604020202020204"/>
                          <a:ea typeface="Arial" panose="020B0604020202020204"/>
                          <a:cs typeface="Arial" panose="020B0604020202020204"/>
                        </a:rPr>
                        <a:t>1.</a:t>
                      </a:r>
                      <a:r>
                        <a:rPr sz="1350" kern="0" spc="110" dirty="0">
                          <a:solidFill>
                            <a:srgbClr val="000000">
                              <a:alpha val="100000"/>
                            </a:srgbClr>
                          </a:solidFill>
                          <a:latin typeface="Arial" panose="020B0604020202020204"/>
                          <a:ea typeface="Arial" panose="020B0604020202020204"/>
                          <a:cs typeface="Arial" panose="020B0604020202020204"/>
                        </a:rPr>
                        <a:t>  </a:t>
                      </a: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熟悉</a:t>
                      </a:r>
                      <a:r>
                        <a:rPr sz="1350" kern="0" spc="-20" dirty="0">
                          <a:solidFill>
                            <a:srgbClr val="000000">
                              <a:alpha val="100000"/>
                            </a:srgbClr>
                          </a:solidFill>
                          <a:latin typeface="Arial" panose="020B0604020202020204"/>
                          <a:ea typeface="Arial" panose="020B0604020202020204"/>
                          <a:cs typeface="Arial" panose="020B0604020202020204"/>
                        </a:rPr>
                        <a:t>ERP</a:t>
                      </a: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业务</a:t>
                      </a:r>
                      <a:r>
                        <a:rPr sz="13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理念</a:t>
                      </a:r>
                      <a:endParaRPr lang="en-US" altLang="en-US" sz="1350" dirty="0"/>
                    </a:p>
                    <a:p>
                      <a:pPr marL="97790" algn="l" rtl="0" eaLnBrk="0">
                        <a:lnSpc>
                          <a:spcPct val="92000"/>
                        </a:lnSpc>
                        <a:spcBef>
                          <a:spcPts val="415"/>
                        </a:spcBef>
                      </a:pPr>
                      <a:r>
                        <a:rPr sz="1350" kern="0" spc="-10" dirty="0">
                          <a:solidFill>
                            <a:srgbClr val="000000">
                              <a:alpha val="100000"/>
                            </a:srgbClr>
                          </a:solidFill>
                          <a:latin typeface="Arial" panose="020B0604020202020204"/>
                          <a:ea typeface="Arial" panose="020B0604020202020204"/>
                          <a:cs typeface="Arial" panose="020B0604020202020204"/>
                        </a:rPr>
                        <a:t>2.</a:t>
                      </a:r>
                      <a:r>
                        <a:rPr sz="1350" kern="0" spc="130" dirty="0">
                          <a:solidFill>
                            <a:srgbClr val="000000">
                              <a:alpha val="100000"/>
                            </a:srgbClr>
                          </a:solidFill>
                          <a:latin typeface="Arial" panose="020B0604020202020204"/>
                          <a:ea typeface="Arial" panose="020B0604020202020204"/>
                          <a:cs typeface="Arial" panose="020B0604020202020204"/>
                        </a:rPr>
                        <a:t>  </a:t>
                      </a: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熟悉公司的研发业务流程</a:t>
                      </a:r>
                      <a:endParaRPr lang="en-US" altLang="en-US" sz="1350" dirty="0"/>
                    </a:p>
                    <a:p>
                      <a:pPr algn="l" rtl="0" eaLnBrk="0">
                        <a:lnSpc>
                          <a:spcPct val="112000"/>
                        </a:lnSpc>
                      </a:pPr>
                      <a:endParaRPr lang="en-US" altLang="en-US" sz="750" dirty="0"/>
                    </a:p>
                    <a:p>
                      <a:pPr marL="116205" algn="l" rtl="0" eaLnBrk="0">
                        <a:lnSpc>
                          <a:spcPct val="91000"/>
                        </a:lnSpc>
                        <a:spcBef>
                          <a:spcPts val="550"/>
                        </a:spcBef>
                      </a:pPr>
                      <a:r>
                        <a:rPr sz="1350" kern="0" spc="-30" dirty="0">
                          <a:solidFill>
                            <a:srgbClr val="000000">
                              <a:alpha val="100000"/>
                            </a:srgbClr>
                          </a:solidFill>
                          <a:latin typeface="Arial" panose="020B0604020202020204"/>
                          <a:ea typeface="Arial" panose="020B0604020202020204"/>
                          <a:cs typeface="Arial" panose="020B0604020202020204"/>
                        </a:rPr>
                        <a:t>1.</a:t>
                      </a:r>
                      <a:r>
                        <a:rPr sz="1350" kern="0" spc="110" dirty="0">
                          <a:solidFill>
                            <a:srgbClr val="000000">
                              <a:alpha val="100000"/>
                            </a:srgbClr>
                          </a:solidFill>
                          <a:latin typeface="Arial" panose="020B0604020202020204"/>
                          <a:ea typeface="Arial" panose="020B0604020202020204"/>
                          <a:cs typeface="Arial" panose="020B0604020202020204"/>
                        </a:rPr>
                        <a:t>  </a:t>
                      </a:r>
                      <a:r>
                        <a:rPr sz="13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熟悉架构设计</a:t>
                      </a:r>
                      <a:endParaRPr lang="en-US" altLang="en-US" sz="1350" dirty="0"/>
                    </a:p>
                    <a:p>
                      <a:pPr marL="97790" algn="l" rtl="0" eaLnBrk="0">
                        <a:lnSpc>
                          <a:spcPct val="92000"/>
                        </a:lnSpc>
                        <a:spcBef>
                          <a:spcPts val="415"/>
                        </a:spcBef>
                      </a:pPr>
                      <a:r>
                        <a:rPr sz="1350" kern="0" spc="-10" dirty="0">
                          <a:solidFill>
                            <a:srgbClr val="000000">
                              <a:alpha val="100000"/>
                            </a:srgbClr>
                          </a:solidFill>
                          <a:latin typeface="Arial" panose="020B0604020202020204"/>
                          <a:ea typeface="Arial" panose="020B0604020202020204"/>
                          <a:cs typeface="Arial" panose="020B0604020202020204"/>
                        </a:rPr>
                        <a:t>2.</a:t>
                      </a:r>
                      <a:r>
                        <a:rPr sz="1350" kern="0" spc="130" dirty="0">
                          <a:solidFill>
                            <a:srgbClr val="000000">
                              <a:alpha val="100000"/>
                            </a:srgbClr>
                          </a:solidFill>
                          <a:latin typeface="Arial" panose="020B0604020202020204"/>
                          <a:ea typeface="Arial" panose="020B0604020202020204"/>
                          <a:cs typeface="Arial" panose="020B0604020202020204"/>
                        </a:rPr>
                        <a:t>  </a:t>
                      </a: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熟悉权限模型和工作流原理</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a:noFill/>
                    </a:lnB>
                  </a:tcPr>
                </a:tc>
                <a:tc>
                  <a:txBody>
                    <a:bodyPr/>
                    <a:lstStyle/>
                    <a:p>
                      <a:pPr algn="l" rtl="0" eaLnBrk="0">
                        <a:lnSpc>
                          <a:spcPct val="107000"/>
                        </a:lnSpc>
                      </a:pPr>
                      <a:endParaRPr lang="en-US" altLang="en-US" sz="675" dirty="0"/>
                    </a:p>
                    <a:p>
                      <a:pPr marL="132715" algn="l" rtl="0" eaLnBrk="0">
                        <a:lnSpc>
                          <a:spcPct val="82000"/>
                        </a:lnSpc>
                        <a:spcBef>
                          <a:spcPts val="0"/>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外部招聘</a:t>
                      </a:r>
                      <a:endParaRPr lang="en-US" altLang="en-US" sz="1350" dirty="0"/>
                    </a:p>
                    <a:p>
                      <a:pPr marL="435610" algn="l" rtl="0" eaLnBrk="0">
                        <a:lnSpc>
                          <a:spcPts val="2290"/>
                        </a:lnSpc>
                      </a:pPr>
                      <a:r>
                        <a:rPr sz="1350" kern="0" spc="-110" dirty="0">
                          <a:solidFill>
                            <a:srgbClr val="000000">
                              <a:alpha val="100000"/>
                            </a:srgbClr>
                          </a:solidFill>
                          <a:latin typeface="Arial" panose="020B0604020202020204"/>
                          <a:ea typeface="Arial" panose="020B0604020202020204"/>
                          <a:cs typeface="Arial" panose="020B0604020202020204"/>
                        </a:rPr>
                        <a:t>1</a:t>
                      </a:r>
                      <a:r>
                        <a:rPr sz="1350" kern="0" spc="-1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人</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a:noFill/>
                    </a:lnB>
                  </a:tcPr>
                </a:tc>
              </a:tr>
              <a:tr h="567055">
                <a:tc>
                  <a:txBody>
                    <a:bodyPr/>
                    <a:lstStyle/>
                    <a:p>
                      <a:pPr algn="l" rtl="0" eaLnBrk="0">
                        <a:lnSpc>
                          <a:spcPct val="106000"/>
                        </a:lnSpc>
                      </a:pPr>
                      <a:endParaRPr lang="en-US" altLang="en-US" sz="750" dirty="0"/>
                    </a:p>
                    <a:p>
                      <a:pPr algn="l" rtl="0" eaLnBrk="0">
                        <a:lnSpc>
                          <a:spcPct val="106000"/>
                        </a:lnSpc>
                      </a:pPr>
                      <a:endParaRPr lang="en-US" altLang="en-US" sz="750" dirty="0"/>
                    </a:p>
                    <a:p>
                      <a:pPr algn="l" rtl="0" eaLnBrk="0">
                        <a:lnSpc>
                          <a:spcPct val="8000"/>
                        </a:lnSpc>
                      </a:pPr>
                      <a:endParaRPr lang="en-US" altLang="en-US" sz="100" dirty="0"/>
                    </a:p>
                    <a:p>
                      <a:pPr marL="286385" algn="l" rtl="0" eaLnBrk="0">
                        <a:lnSpc>
                          <a:spcPct val="80000"/>
                        </a:lnSpc>
                      </a:pPr>
                      <a:r>
                        <a:rPr sz="1350" kern="0" spc="-10" dirty="0">
                          <a:solidFill>
                            <a:srgbClr val="000000">
                              <a:alpha val="100000"/>
                            </a:srgbClr>
                          </a:solidFill>
                          <a:latin typeface="Arial" panose="020B0604020202020204"/>
                          <a:ea typeface="Arial" panose="020B0604020202020204"/>
                          <a:cs typeface="Arial" panose="020B0604020202020204"/>
                        </a:rPr>
                        <a:t>3</a:t>
                      </a:r>
                      <a:endParaRPr lang="en-US" altLang="en-US" sz="1350" dirty="0"/>
                    </a:p>
                  </a:txBody>
                  <a:tcPr marL="0" marR="0" marT="0" marB="0" vert="horz">
                    <a:lnL>
                      <a:noFill/>
                    </a:lnL>
                    <a:lnR>
                      <a:noFill/>
                    </a:lnR>
                    <a:lnT>
                      <a:noFill/>
                    </a:lnT>
                    <a:lnB>
                      <a:noFill/>
                    </a:lnB>
                    <a:solidFill>
                      <a:srgbClr val="EBEBEB"/>
                    </a:solidFill>
                  </a:tcPr>
                </a:tc>
                <a:tc>
                  <a:txBody>
                    <a:bodyPr/>
                    <a:lstStyle/>
                    <a:p>
                      <a:pPr algn="l" rtl="0" eaLnBrk="0">
                        <a:lnSpc>
                          <a:spcPct val="194000"/>
                        </a:lnSpc>
                      </a:pPr>
                      <a:endParaRPr lang="en-US" altLang="en-US" sz="750" dirty="0"/>
                    </a:p>
                    <a:p>
                      <a:pPr algn="l" rtl="0" eaLnBrk="0">
                        <a:lnSpc>
                          <a:spcPct val="7000"/>
                        </a:lnSpc>
                      </a:pPr>
                      <a:endParaRPr lang="en-US" altLang="en-US" sz="100" dirty="0"/>
                    </a:p>
                    <a:p>
                      <a:pPr marL="143510" algn="l" rtl="0" eaLnBrk="0">
                        <a:lnSpc>
                          <a:spcPct val="90000"/>
                        </a:lnSpc>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设计人员</a:t>
                      </a:r>
                      <a:endParaRPr lang="en-US" altLang="en-US" sz="1350" dirty="0"/>
                    </a:p>
                  </a:txBody>
                  <a:tcPr marL="0" marR="0" marT="0" marB="0" vert="horz">
                    <a:lnL>
                      <a:noFill/>
                    </a:lnL>
                    <a:lnR>
                      <a:noFill/>
                    </a:lnR>
                    <a:lnT>
                      <a:noFill/>
                    </a:lnT>
                    <a:lnB>
                      <a:noFill/>
                    </a:lnB>
                    <a:solidFill>
                      <a:srgbClr val="EBEBEB"/>
                    </a:solidFill>
                  </a:tcPr>
                </a:tc>
                <a:tc>
                  <a:txBody>
                    <a:bodyPr/>
                    <a:lstStyle/>
                    <a:p>
                      <a:pPr algn="l" rtl="0" eaLnBrk="0">
                        <a:lnSpc>
                          <a:spcPct val="107000"/>
                        </a:lnSpc>
                      </a:pPr>
                      <a:endParaRPr lang="en-US" altLang="en-US" sz="750" dirty="0"/>
                    </a:p>
                    <a:p>
                      <a:pPr algn="l" rtl="0" eaLnBrk="0">
                        <a:lnSpc>
                          <a:spcPct val="107000"/>
                        </a:lnSpc>
                      </a:pPr>
                      <a:endParaRPr lang="en-US" altLang="en-US" sz="750" dirty="0"/>
                    </a:p>
                    <a:p>
                      <a:pPr marL="334645" algn="l" rtl="0" eaLnBrk="0">
                        <a:lnSpc>
                          <a:spcPct val="79000"/>
                        </a:lnSpc>
                        <a:spcBef>
                          <a:spcPts val="5"/>
                        </a:spcBef>
                      </a:pPr>
                      <a:r>
                        <a:rPr sz="1350" kern="0" spc="-10" dirty="0">
                          <a:solidFill>
                            <a:srgbClr val="000000">
                              <a:alpha val="100000"/>
                            </a:srgbClr>
                          </a:solidFill>
                          <a:latin typeface="Arial" panose="020B0604020202020204"/>
                          <a:ea typeface="Arial" panose="020B0604020202020204"/>
                          <a:cs typeface="Arial" panose="020B0604020202020204"/>
                        </a:rPr>
                        <a:t>5</a:t>
                      </a:r>
                      <a:endParaRPr lang="en-US" altLang="en-US" sz="1350" dirty="0"/>
                    </a:p>
                  </a:txBody>
                  <a:tcPr marL="0" marR="0" marT="0" marB="0" vert="horz">
                    <a:lnL>
                      <a:noFill/>
                    </a:lnL>
                    <a:lnR>
                      <a:noFill/>
                    </a:lnR>
                    <a:lnT>
                      <a:noFill/>
                    </a:lnT>
                    <a:lnB>
                      <a:noFill/>
                    </a:lnB>
                    <a:solidFill>
                      <a:srgbClr val="EBEBEB"/>
                    </a:solidFill>
                  </a:tcPr>
                </a:tc>
                <a:tc>
                  <a:txBody>
                    <a:bodyPr/>
                    <a:lstStyle/>
                    <a:p>
                      <a:pPr algn="l" rtl="0" eaLnBrk="0">
                        <a:lnSpc>
                          <a:spcPct val="106000"/>
                        </a:lnSpc>
                      </a:pPr>
                      <a:endParaRPr lang="en-US" altLang="en-US" sz="750" dirty="0"/>
                    </a:p>
                    <a:p>
                      <a:pPr algn="l" rtl="0" eaLnBrk="0">
                        <a:lnSpc>
                          <a:spcPct val="106000"/>
                        </a:lnSpc>
                      </a:pPr>
                      <a:endParaRPr lang="en-US" altLang="en-US" sz="750" dirty="0"/>
                    </a:p>
                    <a:p>
                      <a:pPr algn="l" rtl="0" eaLnBrk="0">
                        <a:lnSpc>
                          <a:spcPct val="7000"/>
                        </a:lnSpc>
                      </a:pPr>
                      <a:endParaRPr lang="en-US" altLang="en-US" sz="100" dirty="0"/>
                    </a:p>
                    <a:p>
                      <a:pPr marL="459105" algn="l" rtl="0" eaLnBrk="0">
                        <a:lnSpc>
                          <a:spcPct val="80000"/>
                        </a:lnSpc>
                      </a:pPr>
                      <a:r>
                        <a:rPr sz="1350" kern="0" spc="-10" dirty="0">
                          <a:solidFill>
                            <a:srgbClr val="000000">
                              <a:alpha val="100000"/>
                            </a:srgbClr>
                          </a:solidFill>
                          <a:latin typeface="Arial" panose="020B0604020202020204"/>
                          <a:ea typeface="Arial" panose="020B0604020202020204"/>
                          <a:cs typeface="Arial" panose="020B0604020202020204"/>
                        </a:rPr>
                        <a:t>2009.1</a:t>
                      </a:r>
                      <a:endParaRPr lang="en-US" altLang="en-US" sz="1350" dirty="0"/>
                    </a:p>
                  </a:txBody>
                  <a:tcPr marL="0" marR="0" marT="0" marB="0" vert="horz">
                    <a:lnL>
                      <a:noFill/>
                    </a:lnL>
                    <a:lnR>
                      <a:noFill/>
                    </a:lnR>
                    <a:lnT>
                      <a:noFill/>
                    </a:lnT>
                    <a:lnB>
                      <a:noFill/>
                    </a:lnB>
                    <a:solidFill>
                      <a:srgbClr val="EBEBEB"/>
                    </a:solidFill>
                  </a:tcPr>
                </a:tc>
                <a:tc>
                  <a:txBody>
                    <a:bodyPr/>
                    <a:lstStyle/>
                    <a:p>
                      <a:pPr algn="l" rtl="0" eaLnBrk="0">
                        <a:lnSpc>
                          <a:spcPct val="106000"/>
                        </a:lnSpc>
                      </a:pPr>
                      <a:endParaRPr lang="en-US" altLang="en-US" sz="750" dirty="0"/>
                    </a:p>
                    <a:p>
                      <a:pPr algn="l" rtl="0" eaLnBrk="0">
                        <a:lnSpc>
                          <a:spcPct val="106000"/>
                        </a:lnSpc>
                      </a:pPr>
                      <a:endParaRPr lang="en-US" altLang="en-US" sz="750" dirty="0"/>
                    </a:p>
                    <a:p>
                      <a:pPr algn="l" rtl="0" eaLnBrk="0">
                        <a:lnSpc>
                          <a:spcPct val="7000"/>
                        </a:lnSpc>
                      </a:pPr>
                      <a:endParaRPr lang="en-US" altLang="en-US" sz="100" dirty="0"/>
                    </a:p>
                    <a:p>
                      <a:pPr marL="459105" algn="l" rtl="0" eaLnBrk="0">
                        <a:lnSpc>
                          <a:spcPct val="80000"/>
                        </a:lnSpc>
                      </a:pPr>
                      <a:r>
                        <a:rPr sz="1350" kern="0" spc="-10" dirty="0">
                          <a:solidFill>
                            <a:srgbClr val="000000">
                              <a:alpha val="100000"/>
                            </a:srgbClr>
                          </a:solidFill>
                          <a:latin typeface="Arial" panose="020B0604020202020204"/>
                          <a:ea typeface="Arial" panose="020B0604020202020204"/>
                          <a:cs typeface="Arial" panose="020B0604020202020204"/>
                        </a:rPr>
                        <a:t>2009.6</a:t>
                      </a:r>
                      <a:endParaRPr lang="en-US" altLang="en-US" sz="1350" dirty="0"/>
                    </a:p>
                  </a:txBody>
                  <a:tcPr marL="0" marR="0" marT="0" marB="0" vert="horz">
                    <a:lnL>
                      <a:noFill/>
                    </a:lnL>
                    <a:lnR>
                      <a:noFill/>
                    </a:lnR>
                    <a:lnT>
                      <a:noFill/>
                    </a:lnT>
                    <a:lnB>
                      <a:noFill/>
                    </a:lnB>
                    <a:solidFill>
                      <a:srgbClr val="EBEBEB"/>
                    </a:solidFill>
                  </a:tcPr>
                </a:tc>
                <a:tc>
                  <a:txBody>
                    <a:bodyPr/>
                    <a:lstStyle/>
                    <a:p>
                      <a:pPr algn="l" rtl="0" eaLnBrk="0">
                        <a:lnSpc>
                          <a:spcPct val="100000"/>
                        </a:lnSpc>
                      </a:pPr>
                      <a:endParaRPr lang="en-US" altLang="en-US" sz="675" dirty="0"/>
                    </a:p>
                    <a:p>
                      <a:pPr marL="116205" algn="l" rtl="0" eaLnBrk="0">
                        <a:lnSpc>
                          <a:spcPct val="91000"/>
                        </a:lnSpc>
                        <a:spcBef>
                          <a:spcPts val="5"/>
                        </a:spcBef>
                      </a:pPr>
                      <a:r>
                        <a:rPr sz="1350" kern="0" spc="-50" dirty="0">
                          <a:solidFill>
                            <a:srgbClr val="000000">
                              <a:alpha val="100000"/>
                            </a:srgbClr>
                          </a:solidFill>
                          <a:latin typeface="Arial" panose="020B0604020202020204"/>
                          <a:ea typeface="Arial" panose="020B0604020202020204"/>
                          <a:cs typeface="Arial" panose="020B0604020202020204"/>
                        </a:rPr>
                        <a:t>1.</a:t>
                      </a:r>
                      <a:r>
                        <a:rPr sz="1350" kern="0" spc="110" dirty="0">
                          <a:solidFill>
                            <a:srgbClr val="000000">
                              <a:alpha val="100000"/>
                            </a:srgbClr>
                          </a:solidFill>
                          <a:latin typeface="Arial" panose="020B0604020202020204"/>
                          <a:ea typeface="Arial" panose="020B0604020202020204"/>
                          <a:cs typeface="Arial" panose="020B0604020202020204"/>
                        </a:rPr>
                        <a:t>  </a:t>
                      </a:r>
                      <a:r>
                        <a:rPr sz="13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熟悉</a:t>
                      </a:r>
                      <a:r>
                        <a:rPr sz="1350" kern="0" spc="-50" dirty="0">
                          <a:solidFill>
                            <a:srgbClr val="000000">
                              <a:alpha val="100000"/>
                            </a:srgbClr>
                          </a:solidFill>
                          <a:latin typeface="Arial" panose="020B0604020202020204"/>
                          <a:ea typeface="Arial" panose="020B0604020202020204"/>
                          <a:cs typeface="Arial" panose="020B0604020202020204"/>
                        </a:rPr>
                        <a:t>JAVA</a:t>
                      </a:r>
                      <a:r>
                        <a:rPr sz="13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技术</a:t>
                      </a:r>
                      <a:endParaRPr lang="en-US" altLang="en-US" sz="1350" dirty="0"/>
                    </a:p>
                    <a:p>
                      <a:pPr marL="97790" algn="l" rtl="0" eaLnBrk="0">
                        <a:lnSpc>
                          <a:spcPct val="91000"/>
                        </a:lnSpc>
                        <a:spcBef>
                          <a:spcPts val="435"/>
                        </a:spcBef>
                      </a:pPr>
                      <a:r>
                        <a:rPr sz="1350" kern="0" spc="-10" dirty="0">
                          <a:solidFill>
                            <a:srgbClr val="000000">
                              <a:alpha val="100000"/>
                            </a:srgbClr>
                          </a:solidFill>
                          <a:latin typeface="Arial" panose="020B0604020202020204"/>
                          <a:ea typeface="Arial" panose="020B0604020202020204"/>
                          <a:cs typeface="Arial" panose="020B0604020202020204"/>
                        </a:rPr>
                        <a:t>2.</a:t>
                      </a:r>
                      <a:r>
                        <a:rPr sz="1350" kern="0" spc="120" dirty="0">
                          <a:solidFill>
                            <a:srgbClr val="000000">
                              <a:alpha val="100000"/>
                            </a:srgbClr>
                          </a:solidFill>
                          <a:latin typeface="Arial" panose="020B0604020202020204"/>
                          <a:ea typeface="Arial" panose="020B0604020202020204"/>
                          <a:cs typeface="Arial" panose="020B0604020202020204"/>
                        </a:rPr>
                        <a:t>  </a:t>
                      </a: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熟悉</a:t>
                      </a:r>
                      <a:r>
                        <a:rPr sz="1350" kern="0" spc="-10" dirty="0">
                          <a:solidFill>
                            <a:srgbClr val="000000">
                              <a:alpha val="100000"/>
                            </a:srgbClr>
                          </a:solidFill>
                          <a:latin typeface="Arial" panose="020B0604020202020204"/>
                          <a:ea typeface="Arial" panose="020B0604020202020204"/>
                          <a:cs typeface="Arial" panose="020B0604020202020204"/>
                        </a:rPr>
                        <a:t>UML</a:t>
                      </a: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设计工具</a:t>
                      </a:r>
                      <a:endParaRPr lang="en-US" altLang="en-US" sz="1350" dirty="0"/>
                    </a:p>
                  </a:txBody>
                  <a:tcPr marL="0" marR="0" marT="0" marB="0" vert="horz">
                    <a:lnL>
                      <a:noFill/>
                    </a:lnL>
                    <a:lnR>
                      <a:noFill/>
                    </a:lnR>
                    <a:lnT>
                      <a:noFill/>
                    </a:lnT>
                    <a:lnB>
                      <a:noFill/>
                    </a:lnB>
                    <a:solidFill>
                      <a:srgbClr val="EBEBEB"/>
                    </a:solidFill>
                  </a:tcPr>
                </a:tc>
                <a:tc>
                  <a:txBody>
                    <a:bodyPr/>
                    <a:lstStyle/>
                    <a:p>
                      <a:pPr algn="l" rtl="0" eaLnBrk="0">
                        <a:lnSpc>
                          <a:spcPct val="192000"/>
                        </a:lnSpc>
                      </a:pPr>
                      <a:endParaRPr lang="en-US" altLang="en-US" sz="750" dirty="0"/>
                    </a:p>
                    <a:p>
                      <a:pPr algn="l" rtl="0" eaLnBrk="0">
                        <a:lnSpc>
                          <a:spcPct val="9000"/>
                        </a:lnSpc>
                      </a:pPr>
                      <a:endParaRPr lang="en-US" altLang="en-US" sz="100" dirty="0"/>
                    </a:p>
                    <a:p>
                      <a:pPr marL="135890" algn="l" rtl="0" eaLnBrk="0">
                        <a:lnSpc>
                          <a:spcPct val="91000"/>
                        </a:lnSpc>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部门协调</a:t>
                      </a:r>
                      <a:endParaRPr lang="en-US" altLang="en-US" sz="1350" dirty="0"/>
                    </a:p>
                  </a:txBody>
                  <a:tcPr marL="0" marR="0" marT="0" marB="0" vert="horz">
                    <a:lnL>
                      <a:noFill/>
                    </a:lnL>
                    <a:lnR>
                      <a:noFill/>
                    </a:lnR>
                    <a:lnT>
                      <a:noFill/>
                    </a:lnT>
                    <a:lnB>
                      <a:noFill/>
                    </a:lnB>
                    <a:solidFill>
                      <a:srgbClr val="EBEBEB"/>
                    </a:solidFill>
                  </a:tcPr>
                </a:tc>
              </a:tr>
              <a:tr h="1770380">
                <a:tc>
                  <a:txBody>
                    <a:bodyPr/>
                    <a:lstStyle/>
                    <a:p>
                      <a:pPr algn="l" rtl="0" eaLnBrk="0">
                        <a:lnSpc>
                          <a:spcPct val="104000"/>
                        </a:lnSpc>
                      </a:pPr>
                      <a:endParaRPr lang="en-US" altLang="en-US" sz="750" dirty="0"/>
                    </a:p>
                    <a:p>
                      <a:pPr algn="l" rtl="0" eaLnBrk="0">
                        <a:lnSpc>
                          <a:spcPct val="104000"/>
                        </a:lnSpc>
                      </a:pPr>
                      <a:endParaRPr lang="en-US" altLang="en-US" sz="750" dirty="0"/>
                    </a:p>
                    <a:p>
                      <a:pPr algn="l" rtl="0" eaLnBrk="0">
                        <a:lnSpc>
                          <a:spcPct val="104000"/>
                        </a:lnSpc>
                      </a:pPr>
                      <a:endParaRPr lang="en-US" altLang="en-US" sz="750" dirty="0"/>
                    </a:p>
                    <a:p>
                      <a:pPr algn="l" rtl="0" eaLnBrk="0">
                        <a:lnSpc>
                          <a:spcPct val="104000"/>
                        </a:lnSpc>
                      </a:pPr>
                      <a:endParaRPr lang="en-US" altLang="en-US" sz="750" dirty="0"/>
                    </a:p>
                    <a:p>
                      <a:pPr algn="l" rtl="0" eaLnBrk="0">
                        <a:lnSpc>
                          <a:spcPct val="104000"/>
                        </a:lnSpc>
                      </a:pPr>
                      <a:endParaRPr lang="en-US" altLang="en-US" sz="750" dirty="0"/>
                    </a:p>
                    <a:p>
                      <a:pPr algn="l" rtl="0" eaLnBrk="0">
                        <a:lnSpc>
                          <a:spcPct val="104000"/>
                        </a:lnSpc>
                      </a:pPr>
                      <a:endParaRPr lang="en-US" altLang="en-US" sz="750" dirty="0"/>
                    </a:p>
                    <a:p>
                      <a:pPr algn="l" rtl="0" eaLnBrk="0">
                        <a:lnSpc>
                          <a:spcPct val="104000"/>
                        </a:lnSpc>
                      </a:pPr>
                      <a:endParaRPr lang="en-US" altLang="en-US" sz="750" dirty="0"/>
                    </a:p>
                    <a:p>
                      <a:pPr marL="280035" algn="l" rtl="0" eaLnBrk="0">
                        <a:lnSpc>
                          <a:spcPct val="80000"/>
                        </a:lnSpc>
                        <a:spcBef>
                          <a:spcPts val="5"/>
                        </a:spcBef>
                      </a:pPr>
                      <a:r>
                        <a:rPr sz="1350" kern="0" spc="-10" dirty="0">
                          <a:solidFill>
                            <a:srgbClr val="000000">
                              <a:alpha val="100000"/>
                            </a:srgbClr>
                          </a:solidFill>
                          <a:latin typeface="Arial" panose="020B0604020202020204"/>
                          <a:ea typeface="Arial" panose="020B0604020202020204"/>
                          <a:cs typeface="Arial" panose="020B0604020202020204"/>
                        </a:rPr>
                        <a:t>4</a:t>
                      </a:r>
                      <a:endParaRPr lang="en-US" altLang="en-US" sz="1350" dirty="0"/>
                    </a:p>
                  </a:txBody>
                  <a:tcPr marL="0" marR="0" marT="0" marB="0" vert="horz">
                    <a:lnL>
                      <a:noFill/>
                    </a:lnL>
                    <a:lnR>
                      <a:noFill/>
                    </a:lnR>
                    <a:lnT>
                      <a:noFill/>
                    </a:lnT>
                    <a:lnB>
                      <a:noFill/>
                    </a:lnB>
                  </a:tcPr>
                </a:tc>
                <a:tc>
                  <a:txBody>
                    <a:bodyPr/>
                    <a:lstStyle/>
                    <a:p>
                      <a:pPr algn="l" rtl="0" eaLnBrk="0">
                        <a:lnSpc>
                          <a:spcPct val="101000"/>
                        </a:lnSpc>
                      </a:pPr>
                      <a:endParaRPr lang="en-US" altLang="en-US" sz="750" dirty="0"/>
                    </a:p>
                    <a:p>
                      <a:pPr algn="l" rtl="0" eaLnBrk="0">
                        <a:lnSpc>
                          <a:spcPct val="101000"/>
                        </a:lnSpc>
                      </a:pPr>
                      <a:endParaRPr lang="en-US" altLang="en-US" sz="750" dirty="0"/>
                    </a:p>
                    <a:p>
                      <a:pPr algn="l" rtl="0" eaLnBrk="0">
                        <a:lnSpc>
                          <a:spcPct val="101000"/>
                        </a:lnSpc>
                      </a:pPr>
                      <a:endParaRPr lang="en-US" altLang="en-US" sz="750" dirty="0"/>
                    </a:p>
                    <a:p>
                      <a:pPr algn="l" rtl="0" eaLnBrk="0">
                        <a:lnSpc>
                          <a:spcPct val="101000"/>
                        </a:lnSpc>
                      </a:pPr>
                      <a:endParaRPr lang="en-US" altLang="en-US" sz="750" dirty="0"/>
                    </a:p>
                    <a:p>
                      <a:pPr algn="l" rtl="0" eaLnBrk="0">
                        <a:lnSpc>
                          <a:spcPct val="101000"/>
                        </a:lnSpc>
                      </a:pPr>
                      <a:endParaRPr lang="en-US" altLang="en-US" sz="750" dirty="0"/>
                    </a:p>
                    <a:p>
                      <a:pPr algn="l" rtl="0" eaLnBrk="0">
                        <a:lnSpc>
                          <a:spcPct val="101000"/>
                        </a:lnSpc>
                      </a:pPr>
                      <a:endParaRPr lang="en-US" altLang="en-US" sz="750" dirty="0"/>
                    </a:p>
                    <a:p>
                      <a:pPr algn="l" rtl="0" eaLnBrk="0">
                        <a:lnSpc>
                          <a:spcPct val="102000"/>
                        </a:lnSpc>
                      </a:pPr>
                      <a:endParaRPr lang="en-US" altLang="en-US" sz="750" dirty="0"/>
                    </a:p>
                    <a:p>
                      <a:pPr marL="140970" algn="l" rtl="0" eaLnBrk="0">
                        <a:lnSpc>
                          <a:spcPct val="91000"/>
                        </a:lnSpc>
                        <a:spcBef>
                          <a:spcPts val="5"/>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编程人员</a:t>
                      </a:r>
                      <a:endParaRPr lang="en-US" altLang="en-US" sz="1350" dirty="0"/>
                    </a:p>
                  </a:txBody>
                  <a:tcPr marL="0" marR="0" marT="0" marB="0" vert="horz">
                    <a:lnL>
                      <a:noFill/>
                    </a:lnL>
                    <a:lnR>
                      <a:noFill/>
                    </a:lnR>
                    <a:lnT>
                      <a:noFill/>
                    </a:lnT>
                    <a:lnB>
                      <a:noFill/>
                    </a:lnB>
                  </a:tcPr>
                </a:tc>
                <a:tc>
                  <a:txBody>
                    <a:bodyPr/>
                    <a:lstStyle/>
                    <a:p>
                      <a:pPr algn="l" rtl="0" eaLnBrk="0">
                        <a:lnSpc>
                          <a:spcPct val="104000"/>
                        </a:lnSpc>
                      </a:pPr>
                      <a:endParaRPr lang="en-US" altLang="en-US" sz="750" dirty="0"/>
                    </a:p>
                    <a:p>
                      <a:pPr algn="l" rtl="0" eaLnBrk="0">
                        <a:lnSpc>
                          <a:spcPct val="104000"/>
                        </a:lnSpc>
                      </a:pPr>
                      <a:endParaRPr lang="en-US" altLang="en-US" sz="750" dirty="0"/>
                    </a:p>
                    <a:p>
                      <a:pPr algn="l" rtl="0" eaLnBrk="0">
                        <a:lnSpc>
                          <a:spcPct val="104000"/>
                        </a:lnSpc>
                      </a:pPr>
                      <a:endParaRPr lang="en-US" altLang="en-US" sz="750" dirty="0"/>
                    </a:p>
                    <a:p>
                      <a:pPr algn="l" rtl="0" eaLnBrk="0">
                        <a:lnSpc>
                          <a:spcPct val="104000"/>
                        </a:lnSpc>
                      </a:pPr>
                      <a:endParaRPr lang="en-US" altLang="en-US" sz="750" dirty="0"/>
                    </a:p>
                    <a:p>
                      <a:pPr algn="l" rtl="0" eaLnBrk="0">
                        <a:lnSpc>
                          <a:spcPct val="104000"/>
                        </a:lnSpc>
                      </a:pPr>
                      <a:endParaRPr lang="en-US" altLang="en-US" sz="750" dirty="0"/>
                    </a:p>
                    <a:p>
                      <a:pPr algn="l" rtl="0" eaLnBrk="0">
                        <a:lnSpc>
                          <a:spcPct val="104000"/>
                        </a:lnSpc>
                      </a:pPr>
                      <a:endParaRPr lang="en-US" altLang="en-US" sz="750" dirty="0"/>
                    </a:p>
                    <a:p>
                      <a:pPr algn="l" rtl="0" eaLnBrk="0">
                        <a:lnSpc>
                          <a:spcPct val="104000"/>
                        </a:lnSpc>
                      </a:pPr>
                      <a:endParaRPr lang="en-US" altLang="en-US" sz="750" dirty="0"/>
                    </a:p>
                    <a:p>
                      <a:pPr marL="286385" algn="l" rtl="0" eaLnBrk="0">
                        <a:lnSpc>
                          <a:spcPct val="80000"/>
                        </a:lnSpc>
                        <a:spcBef>
                          <a:spcPts val="0"/>
                        </a:spcBef>
                      </a:pPr>
                      <a:r>
                        <a:rPr sz="1350" kern="0" spc="-60" dirty="0">
                          <a:solidFill>
                            <a:srgbClr val="000000">
                              <a:alpha val="100000"/>
                            </a:srgbClr>
                          </a:solidFill>
                          <a:latin typeface="Arial" panose="020B0604020202020204"/>
                          <a:ea typeface="Arial" panose="020B0604020202020204"/>
                          <a:cs typeface="Arial" panose="020B0604020202020204"/>
                        </a:rPr>
                        <a:t>10</a:t>
                      </a:r>
                      <a:endParaRPr lang="en-US" altLang="en-US" sz="1350" dirty="0"/>
                    </a:p>
                  </a:txBody>
                  <a:tcPr marL="0" marR="0" marT="0" marB="0" vert="horz">
                    <a:lnL>
                      <a:noFill/>
                    </a:lnL>
                    <a:lnR>
                      <a:noFill/>
                    </a:lnR>
                    <a:lnT>
                      <a:noFill/>
                    </a:lnT>
                    <a:lnB>
                      <a:noFill/>
                    </a:lnB>
                  </a:tcPr>
                </a:tc>
                <a:tc>
                  <a:txBody>
                    <a:bodyPr/>
                    <a:lstStyle/>
                    <a:p>
                      <a:pPr algn="l" rtl="0" eaLnBrk="0">
                        <a:lnSpc>
                          <a:spcPct val="104000"/>
                        </a:lnSpc>
                      </a:pPr>
                      <a:endParaRPr lang="en-US" altLang="en-US" sz="750" dirty="0"/>
                    </a:p>
                    <a:p>
                      <a:pPr algn="l" rtl="0" eaLnBrk="0">
                        <a:lnSpc>
                          <a:spcPct val="104000"/>
                        </a:lnSpc>
                      </a:pPr>
                      <a:endParaRPr lang="en-US" altLang="en-US" sz="750" dirty="0"/>
                    </a:p>
                    <a:p>
                      <a:pPr algn="l" rtl="0" eaLnBrk="0">
                        <a:lnSpc>
                          <a:spcPct val="104000"/>
                        </a:lnSpc>
                      </a:pPr>
                      <a:endParaRPr lang="en-US" altLang="en-US" sz="750" dirty="0"/>
                    </a:p>
                    <a:p>
                      <a:pPr algn="l" rtl="0" eaLnBrk="0">
                        <a:lnSpc>
                          <a:spcPct val="104000"/>
                        </a:lnSpc>
                      </a:pPr>
                      <a:endParaRPr lang="en-US" altLang="en-US" sz="750" dirty="0"/>
                    </a:p>
                    <a:p>
                      <a:pPr algn="l" rtl="0" eaLnBrk="0">
                        <a:lnSpc>
                          <a:spcPct val="104000"/>
                        </a:lnSpc>
                      </a:pPr>
                      <a:endParaRPr lang="en-US" altLang="en-US" sz="750" dirty="0"/>
                    </a:p>
                    <a:p>
                      <a:pPr algn="l" rtl="0" eaLnBrk="0">
                        <a:lnSpc>
                          <a:spcPct val="104000"/>
                        </a:lnSpc>
                      </a:pPr>
                      <a:endParaRPr lang="en-US" altLang="en-US" sz="750" dirty="0"/>
                    </a:p>
                    <a:p>
                      <a:pPr algn="l" rtl="0" eaLnBrk="0">
                        <a:lnSpc>
                          <a:spcPct val="104000"/>
                        </a:lnSpc>
                      </a:pPr>
                      <a:endParaRPr lang="en-US" altLang="en-US" sz="750" dirty="0"/>
                    </a:p>
                    <a:p>
                      <a:pPr marL="459105" algn="l" rtl="0" eaLnBrk="0">
                        <a:lnSpc>
                          <a:spcPct val="80000"/>
                        </a:lnSpc>
                        <a:spcBef>
                          <a:spcPts val="5"/>
                        </a:spcBef>
                      </a:pPr>
                      <a:r>
                        <a:rPr sz="1350" kern="0" spc="-10" dirty="0">
                          <a:solidFill>
                            <a:srgbClr val="000000">
                              <a:alpha val="100000"/>
                            </a:srgbClr>
                          </a:solidFill>
                          <a:latin typeface="Arial" panose="020B0604020202020204"/>
                          <a:ea typeface="Arial" panose="020B0604020202020204"/>
                          <a:cs typeface="Arial" panose="020B0604020202020204"/>
                        </a:rPr>
                        <a:t>2009.3</a:t>
                      </a:r>
                      <a:endParaRPr lang="en-US" altLang="en-US" sz="1350" dirty="0"/>
                    </a:p>
                  </a:txBody>
                  <a:tcPr marL="0" marR="0" marT="0" marB="0" vert="horz">
                    <a:lnL>
                      <a:noFill/>
                    </a:lnL>
                    <a:lnR>
                      <a:noFill/>
                    </a:lnR>
                    <a:lnT>
                      <a:noFill/>
                    </a:lnT>
                    <a:lnB>
                      <a:noFill/>
                    </a:lnB>
                  </a:tcPr>
                </a:tc>
                <a:tc>
                  <a:txBody>
                    <a:bodyPr/>
                    <a:lstStyle/>
                    <a:p>
                      <a:pPr algn="l" rtl="0" eaLnBrk="0">
                        <a:lnSpc>
                          <a:spcPct val="104000"/>
                        </a:lnSpc>
                      </a:pPr>
                      <a:endParaRPr lang="en-US" altLang="en-US" sz="750" dirty="0"/>
                    </a:p>
                    <a:p>
                      <a:pPr algn="l" rtl="0" eaLnBrk="0">
                        <a:lnSpc>
                          <a:spcPct val="104000"/>
                        </a:lnSpc>
                      </a:pPr>
                      <a:endParaRPr lang="en-US" altLang="en-US" sz="750" dirty="0"/>
                    </a:p>
                    <a:p>
                      <a:pPr algn="l" rtl="0" eaLnBrk="0">
                        <a:lnSpc>
                          <a:spcPct val="104000"/>
                        </a:lnSpc>
                      </a:pPr>
                      <a:endParaRPr lang="en-US" altLang="en-US" sz="750" dirty="0"/>
                    </a:p>
                    <a:p>
                      <a:pPr algn="l" rtl="0" eaLnBrk="0">
                        <a:lnSpc>
                          <a:spcPct val="104000"/>
                        </a:lnSpc>
                      </a:pPr>
                      <a:endParaRPr lang="en-US" altLang="en-US" sz="750" dirty="0"/>
                    </a:p>
                    <a:p>
                      <a:pPr algn="l" rtl="0" eaLnBrk="0">
                        <a:lnSpc>
                          <a:spcPct val="104000"/>
                        </a:lnSpc>
                      </a:pPr>
                      <a:endParaRPr lang="en-US" altLang="en-US" sz="750" dirty="0"/>
                    </a:p>
                    <a:p>
                      <a:pPr algn="l" rtl="0" eaLnBrk="0">
                        <a:lnSpc>
                          <a:spcPct val="104000"/>
                        </a:lnSpc>
                      </a:pPr>
                      <a:endParaRPr lang="en-US" altLang="en-US" sz="750" dirty="0"/>
                    </a:p>
                    <a:p>
                      <a:pPr algn="l" rtl="0" eaLnBrk="0">
                        <a:lnSpc>
                          <a:spcPct val="104000"/>
                        </a:lnSpc>
                      </a:pPr>
                      <a:endParaRPr lang="en-US" altLang="en-US" sz="750" dirty="0"/>
                    </a:p>
                    <a:p>
                      <a:pPr marL="459105" algn="l" rtl="0" eaLnBrk="0">
                        <a:lnSpc>
                          <a:spcPct val="80000"/>
                        </a:lnSpc>
                        <a:spcBef>
                          <a:spcPts val="0"/>
                        </a:spcBef>
                      </a:pPr>
                      <a:r>
                        <a:rPr sz="1350" kern="0" spc="-10" dirty="0">
                          <a:solidFill>
                            <a:srgbClr val="000000">
                              <a:alpha val="100000"/>
                            </a:srgbClr>
                          </a:solidFill>
                          <a:latin typeface="Arial" panose="020B0604020202020204"/>
                          <a:ea typeface="Arial" panose="020B0604020202020204"/>
                          <a:cs typeface="Arial" panose="020B0604020202020204"/>
                        </a:rPr>
                        <a:t>2009.6</a:t>
                      </a:r>
                      <a:endParaRPr lang="en-US" altLang="en-US" sz="1350" dirty="0"/>
                    </a:p>
                  </a:txBody>
                  <a:tcPr marL="0" marR="0" marT="0" marB="0" vert="horz">
                    <a:lnL>
                      <a:noFill/>
                    </a:lnL>
                    <a:lnR>
                      <a:noFill/>
                    </a:lnR>
                    <a:lnT>
                      <a:noFill/>
                    </a:lnT>
                    <a:lnB>
                      <a:noFill/>
                    </a:lnB>
                  </a:tcPr>
                </a:tc>
                <a:tc>
                  <a:txBody>
                    <a:bodyPr/>
                    <a:lstStyle/>
                    <a:p>
                      <a:pPr algn="l" rtl="0" eaLnBrk="0">
                        <a:lnSpc>
                          <a:spcPct val="141000"/>
                        </a:lnSpc>
                      </a:pPr>
                      <a:endParaRPr lang="en-US" altLang="en-US" sz="750" dirty="0"/>
                    </a:p>
                    <a:p>
                      <a:pPr algn="l" rtl="0" eaLnBrk="0">
                        <a:lnSpc>
                          <a:spcPct val="7000"/>
                        </a:lnSpc>
                      </a:pPr>
                      <a:endParaRPr lang="en-US" altLang="en-US" sz="100" dirty="0"/>
                    </a:p>
                    <a:p>
                      <a:pPr marL="435610" indent="-319405" algn="l" rtl="0" eaLnBrk="0">
                        <a:lnSpc>
                          <a:spcPct val="97000"/>
                        </a:lnSpc>
                      </a:pPr>
                      <a:r>
                        <a:rPr sz="1350" kern="0" spc="0" dirty="0">
                          <a:solidFill>
                            <a:srgbClr val="000000">
                              <a:alpha val="100000"/>
                            </a:srgbClr>
                          </a:solidFill>
                          <a:latin typeface="Arial" panose="020B0604020202020204"/>
                          <a:ea typeface="Arial" panose="020B0604020202020204"/>
                          <a:cs typeface="Arial" panose="020B0604020202020204"/>
                        </a:rPr>
                        <a:t>1.  </a:t>
                      </a: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须使用过</a:t>
                      </a:r>
                      <a:r>
                        <a:rPr sz="1350" kern="0" spc="0" dirty="0">
                          <a:solidFill>
                            <a:srgbClr val="000000">
                              <a:alpha val="100000"/>
                            </a:srgbClr>
                          </a:solidFill>
                          <a:latin typeface="Arial" panose="020B0604020202020204"/>
                          <a:ea typeface="Arial" panose="020B0604020202020204"/>
                          <a:cs typeface="Arial" panose="020B0604020202020204"/>
                        </a:rPr>
                        <a:t>Oracle</a:t>
                      </a: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数据库 ，熟练掌握常用的  </a:t>
                      </a:r>
                      <a:r>
                        <a:rPr sz="1350" kern="0" spc="0" dirty="0">
                          <a:solidFill>
                            <a:srgbClr val="000000">
                              <a:alpha val="100000"/>
                            </a:srgbClr>
                          </a:solidFill>
                          <a:latin typeface="Arial" panose="020B0604020202020204"/>
                          <a:ea typeface="Arial" panose="020B0604020202020204"/>
                          <a:cs typeface="Arial" panose="020B0604020202020204"/>
                        </a:rPr>
                        <a:t>PL</a:t>
                      </a:r>
                      <a:r>
                        <a:rPr sz="1350" kern="0" spc="70" dirty="0">
                          <a:solidFill>
                            <a:srgbClr val="000000">
                              <a:alpha val="100000"/>
                            </a:srgbClr>
                          </a:solidFill>
                          <a:latin typeface="Arial" panose="020B0604020202020204"/>
                          <a:ea typeface="Arial" panose="020B0604020202020204"/>
                          <a:cs typeface="Arial" panose="020B0604020202020204"/>
                        </a:rPr>
                        <a:t>/</a:t>
                      </a:r>
                      <a:r>
                        <a:rPr sz="1350" kern="0" spc="0" dirty="0">
                          <a:solidFill>
                            <a:srgbClr val="000000">
                              <a:alpha val="100000"/>
                            </a:srgbClr>
                          </a:solidFill>
                          <a:latin typeface="Arial" panose="020B0604020202020204"/>
                          <a:ea typeface="Arial" panose="020B0604020202020204"/>
                          <a:cs typeface="Arial" panose="020B0604020202020204"/>
                        </a:rPr>
                        <a:t>SQL</a:t>
                      </a:r>
                      <a:r>
                        <a:rPr sz="135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语法和语句 ，熟悉</a:t>
                      </a:r>
                      <a:r>
                        <a:rPr sz="1350" kern="0" spc="0" dirty="0">
                          <a:solidFill>
                            <a:srgbClr val="000000">
                              <a:alpha val="100000"/>
                            </a:srgbClr>
                          </a:solidFill>
                          <a:latin typeface="Arial" panose="020B0604020202020204"/>
                          <a:ea typeface="Arial" panose="020B0604020202020204"/>
                          <a:cs typeface="Arial" panose="020B0604020202020204"/>
                        </a:rPr>
                        <a:t>Oracle</a:t>
                      </a:r>
                      <a:r>
                        <a:rPr sz="135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包和存</a:t>
                      </a: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储过程的使用</a:t>
                      </a:r>
                      <a:endParaRPr lang="en-US" altLang="en-US" sz="1350" dirty="0"/>
                    </a:p>
                    <a:p>
                      <a:pPr marL="438785" indent="-340995" algn="l" rtl="0" eaLnBrk="0">
                        <a:lnSpc>
                          <a:spcPct val="97000"/>
                        </a:lnSpc>
                        <a:spcBef>
                          <a:spcPts val="410"/>
                        </a:spcBef>
                      </a:pPr>
                      <a:r>
                        <a:rPr sz="1350" kern="0" spc="0" dirty="0">
                          <a:solidFill>
                            <a:srgbClr val="000000">
                              <a:alpha val="100000"/>
                            </a:srgbClr>
                          </a:solidFill>
                          <a:latin typeface="Arial" panose="020B0604020202020204"/>
                          <a:ea typeface="Arial" panose="020B0604020202020204"/>
                          <a:cs typeface="Arial" panose="020B0604020202020204"/>
                        </a:rPr>
                        <a:t>2.  </a:t>
                      </a: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熟悉</a:t>
                      </a:r>
                      <a:r>
                        <a:rPr sz="1350" kern="0" spc="0" dirty="0">
                          <a:solidFill>
                            <a:srgbClr val="000000">
                              <a:alpha val="100000"/>
                            </a:srgbClr>
                          </a:solidFill>
                          <a:latin typeface="Arial" panose="020B0604020202020204"/>
                          <a:ea typeface="Arial" panose="020B0604020202020204"/>
                          <a:cs typeface="Arial" panose="020B0604020202020204"/>
                        </a:rPr>
                        <a:t>UML</a:t>
                      </a: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基础知识 ，能够根据设计人员的  设计模型进行编码</a:t>
                      </a:r>
                      <a:endParaRPr lang="en-US" altLang="en-US" sz="1350" dirty="0"/>
                    </a:p>
                    <a:p>
                      <a:pPr marL="436245" indent="-335280" algn="l" rtl="0" eaLnBrk="0">
                        <a:lnSpc>
                          <a:spcPct val="94000"/>
                        </a:lnSpc>
                        <a:spcBef>
                          <a:spcPts val="540"/>
                        </a:spcBef>
                      </a:pPr>
                      <a:r>
                        <a:rPr sz="1350" kern="0" spc="-10" dirty="0">
                          <a:solidFill>
                            <a:srgbClr val="000000">
                              <a:alpha val="100000"/>
                            </a:srgbClr>
                          </a:solidFill>
                          <a:latin typeface="Arial" panose="020B0604020202020204"/>
                          <a:ea typeface="Arial" panose="020B0604020202020204"/>
                          <a:cs typeface="Arial" panose="020B0604020202020204"/>
                        </a:rPr>
                        <a:t>3.</a:t>
                      </a:r>
                      <a:r>
                        <a:rPr sz="1350" kern="0" spc="130" dirty="0">
                          <a:solidFill>
                            <a:srgbClr val="000000">
                              <a:alpha val="100000"/>
                            </a:srgbClr>
                          </a:solidFill>
                          <a:latin typeface="Arial" panose="020B0604020202020204"/>
                          <a:ea typeface="Arial" panose="020B0604020202020204"/>
                          <a:cs typeface="Arial" panose="020B0604020202020204"/>
                        </a:rPr>
                        <a:t>  </a:t>
                      </a: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掌握面向对象基础知识 ，对面向对</a:t>
                      </a: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象设计</a:t>
                      </a: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有一定程度的理解</a:t>
                      </a:r>
                      <a:endParaRPr lang="en-US" altLang="en-US" sz="1350" dirty="0"/>
                    </a:p>
                  </a:txBody>
                  <a:tcPr marL="0" marR="0" marT="0" marB="0" vert="horz">
                    <a:lnL>
                      <a:noFill/>
                    </a:lnL>
                    <a:lnR>
                      <a:noFill/>
                    </a:lnR>
                    <a:lnT>
                      <a:noFill/>
                    </a:lnT>
                    <a:lnB>
                      <a:noFill/>
                    </a:lnB>
                  </a:tcPr>
                </a:tc>
                <a:tc>
                  <a:txBody>
                    <a:bodyPr/>
                    <a:lstStyle/>
                    <a:p>
                      <a:pPr algn="l" rtl="0" eaLnBrk="0">
                        <a:lnSpc>
                          <a:spcPct val="101000"/>
                        </a:lnSpc>
                      </a:pPr>
                      <a:endParaRPr lang="en-US" altLang="en-US" sz="750" dirty="0"/>
                    </a:p>
                    <a:p>
                      <a:pPr algn="l" rtl="0" eaLnBrk="0">
                        <a:lnSpc>
                          <a:spcPct val="101000"/>
                        </a:lnSpc>
                      </a:pPr>
                      <a:endParaRPr lang="en-US" altLang="en-US" sz="750" dirty="0"/>
                    </a:p>
                    <a:p>
                      <a:pPr algn="l" rtl="0" eaLnBrk="0">
                        <a:lnSpc>
                          <a:spcPct val="101000"/>
                        </a:lnSpc>
                      </a:pPr>
                      <a:endParaRPr lang="en-US" altLang="en-US" sz="750" dirty="0"/>
                    </a:p>
                    <a:p>
                      <a:pPr algn="l" rtl="0" eaLnBrk="0">
                        <a:lnSpc>
                          <a:spcPct val="101000"/>
                        </a:lnSpc>
                      </a:pPr>
                      <a:endParaRPr lang="en-US" altLang="en-US" sz="750" dirty="0"/>
                    </a:p>
                    <a:p>
                      <a:pPr algn="l" rtl="0" eaLnBrk="0">
                        <a:lnSpc>
                          <a:spcPct val="102000"/>
                        </a:lnSpc>
                      </a:pPr>
                      <a:endParaRPr lang="en-US" altLang="en-US" sz="750" dirty="0"/>
                    </a:p>
                    <a:p>
                      <a:pPr algn="l" rtl="0" eaLnBrk="0">
                        <a:lnSpc>
                          <a:spcPct val="102000"/>
                        </a:lnSpc>
                      </a:pPr>
                      <a:endParaRPr lang="en-US" altLang="en-US" sz="750" dirty="0"/>
                    </a:p>
                    <a:p>
                      <a:pPr algn="l" rtl="0" eaLnBrk="0">
                        <a:lnSpc>
                          <a:spcPct val="102000"/>
                        </a:lnSpc>
                      </a:pPr>
                      <a:endParaRPr lang="en-US" altLang="en-US" sz="750" dirty="0"/>
                    </a:p>
                    <a:p>
                      <a:pPr marL="183515" algn="l" rtl="0" eaLnBrk="0">
                        <a:lnSpc>
                          <a:spcPct val="90000"/>
                        </a:lnSpc>
                        <a:spcBef>
                          <a:spcPts val="0"/>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外协</a:t>
                      </a:r>
                      <a:r>
                        <a:rPr sz="1350" kern="0" spc="-10" dirty="0">
                          <a:solidFill>
                            <a:srgbClr val="000000">
                              <a:alpha val="100000"/>
                            </a:srgbClr>
                          </a:solidFill>
                          <a:latin typeface="Arial" panose="020B0604020202020204"/>
                          <a:ea typeface="Arial" panose="020B0604020202020204"/>
                          <a:cs typeface="Arial" panose="020B0604020202020204"/>
                        </a:rPr>
                        <a:t>3</a:t>
                      </a: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人</a:t>
                      </a:r>
                      <a:endParaRPr lang="en-US" altLang="en-US" sz="1350" dirty="0"/>
                    </a:p>
                  </a:txBody>
                  <a:tcPr marL="0" marR="0" marT="0" marB="0" vert="horz">
                    <a:lnL>
                      <a:noFill/>
                    </a:lnL>
                    <a:lnR>
                      <a:noFill/>
                    </a:lnR>
                    <a:lnT>
                      <a:noFill/>
                    </a:lnT>
                    <a:lnB>
                      <a:noFill/>
                    </a:lnB>
                  </a:tcPr>
                </a:tc>
              </a:tr>
              <a:tr h="514985">
                <a:tc>
                  <a:txBody>
                    <a:bodyPr/>
                    <a:lstStyle/>
                    <a:p>
                      <a:pPr algn="l" rtl="0" eaLnBrk="0">
                        <a:lnSpc>
                          <a:spcPct val="159000"/>
                        </a:lnSpc>
                      </a:pPr>
                      <a:endParaRPr lang="en-US" altLang="en-US" sz="750" dirty="0"/>
                    </a:p>
                    <a:p>
                      <a:pPr marL="286385" algn="l" rtl="0" eaLnBrk="0">
                        <a:lnSpc>
                          <a:spcPct val="79000"/>
                        </a:lnSpc>
                      </a:pPr>
                      <a:r>
                        <a:rPr sz="1350" kern="0" spc="-10" dirty="0">
                          <a:solidFill>
                            <a:srgbClr val="000000">
                              <a:alpha val="100000"/>
                            </a:srgbClr>
                          </a:solidFill>
                          <a:latin typeface="Arial" panose="020B0604020202020204"/>
                          <a:ea typeface="Arial" panose="020B0604020202020204"/>
                          <a:cs typeface="Arial" panose="020B0604020202020204"/>
                        </a:rPr>
                        <a:t>5</a:t>
                      </a:r>
                      <a:endParaRPr lang="en-US" altLang="en-US" sz="1350" dirty="0"/>
                    </a:p>
                  </a:txBody>
                  <a:tcPr marL="0" marR="0" marT="0" marB="0" vert="horz">
                    <a:lnL>
                      <a:noFill/>
                    </a:lnL>
                    <a:lnR>
                      <a:noFill/>
                    </a:lnR>
                    <a:lnT>
                      <a:noFill/>
                    </a:lnT>
                    <a:lnB w="25400" cap="flat" cmpd="sng" algn="ctr">
                      <a:solidFill>
                        <a:srgbClr val="000000"/>
                      </a:solidFill>
                      <a:prstDash val="solid"/>
                      <a:round/>
                      <a:headEnd type="none" w="med" len="med"/>
                      <a:tailEnd type="none" w="med" len="med"/>
                    </a:lnB>
                  </a:tcPr>
                </a:tc>
                <a:tc>
                  <a:txBody>
                    <a:bodyPr/>
                    <a:lstStyle/>
                    <a:p>
                      <a:pPr algn="l" rtl="0" eaLnBrk="0">
                        <a:lnSpc>
                          <a:spcPct val="139000"/>
                        </a:lnSpc>
                      </a:pPr>
                      <a:endParaRPr lang="en-US" altLang="en-US" sz="750" dirty="0"/>
                    </a:p>
                    <a:p>
                      <a:pPr marL="140335" algn="l" rtl="0" eaLnBrk="0">
                        <a:lnSpc>
                          <a:spcPct val="90000"/>
                        </a:lnSpc>
                        <a:spcBef>
                          <a:spcPts val="5"/>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测试人员</a:t>
                      </a:r>
                      <a:endParaRPr lang="en-US" altLang="en-US" sz="1350" dirty="0"/>
                    </a:p>
                  </a:txBody>
                  <a:tcPr marL="0" marR="0" marT="0" marB="0" vert="horz">
                    <a:lnL>
                      <a:noFill/>
                    </a:lnL>
                    <a:lnR>
                      <a:noFill/>
                    </a:lnR>
                    <a:lnT>
                      <a:noFill/>
                    </a:lnT>
                    <a:lnB w="25400" cap="flat" cmpd="sng" algn="ctr">
                      <a:solidFill>
                        <a:srgbClr val="000000"/>
                      </a:solidFill>
                      <a:prstDash val="solid"/>
                      <a:round/>
                      <a:headEnd type="none" w="med" len="med"/>
                      <a:tailEnd type="none" w="med" len="med"/>
                    </a:lnB>
                  </a:tcPr>
                </a:tc>
                <a:tc>
                  <a:txBody>
                    <a:bodyPr/>
                    <a:lstStyle/>
                    <a:p>
                      <a:pPr algn="l" rtl="0" eaLnBrk="0">
                        <a:lnSpc>
                          <a:spcPct val="157000"/>
                        </a:lnSpc>
                      </a:pPr>
                      <a:endParaRPr lang="en-US" altLang="en-US" sz="750" dirty="0"/>
                    </a:p>
                    <a:p>
                      <a:pPr marL="334645" algn="l" rtl="0" eaLnBrk="0">
                        <a:lnSpc>
                          <a:spcPct val="80000"/>
                        </a:lnSpc>
                        <a:spcBef>
                          <a:spcPts val="5"/>
                        </a:spcBef>
                      </a:pPr>
                      <a:r>
                        <a:rPr sz="1350" kern="0" spc="-10" dirty="0">
                          <a:solidFill>
                            <a:srgbClr val="000000">
                              <a:alpha val="100000"/>
                            </a:srgbClr>
                          </a:solidFill>
                          <a:latin typeface="Arial" panose="020B0604020202020204"/>
                          <a:ea typeface="Arial" panose="020B0604020202020204"/>
                          <a:cs typeface="Arial" panose="020B0604020202020204"/>
                        </a:rPr>
                        <a:t>3</a:t>
                      </a:r>
                      <a:endParaRPr lang="en-US" altLang="en-US" sz="1350" dirty="0"/>
                    </a:p>
                  </a:txBody>
                  <a:tcPr marL="0" marR="0" marT="0" marB="0" vert="horz">
                    <a:lnL>
                      <a:noFill/>
                    </a:lnL>
                    <a:lnR>
                      <a:noFill/>
                    </a:lnR>
                    <a:lnT>
                      <a:noFill/>
                    </a:lnT>
                    <a:lnB w="25400" cap="flat" cmpd="sng" algn="ctr">
                      <a:solidFill>
                        <a:srgbClr val="000000"/>
                      </a:solidFill>
                      <a:prstDash val="solid"/>
                      <a:round/>
                      <a:headEnd type="none" w="med" len="med"/>
                      <a:tailEnd type="none" w="med" len="med"/>
                    </a:lnB>
                  </a:tcPr>
                </a:tc>
                <a:tc>
                  <a:txBody>
                    <a:bodyPr/>
                    <a:lstStyle/>
                    <a:p>
                      <a:pPr algn="l" rtl="0" eaLnBrk="0">
                        <a:lnSpc>
                          <a:spcPct val="157000"/>
                        </a:lnSpc>
                      </a:pPr>
                      <a:endParaRPr lang="en-US" altLang="en-US" sz="750" dirty="0"/>
                    </a:p>
                    <a:p>
                      <a:pPr marL="459105" algn="l" rtl="0" eaLnBrk="0">
                        <a:lnSpc>
                          <a:spcPct val="80000"/>
                        </a:lnSpc>
                        <a:spcBef>
                          <a:spcPts val="5"/>
                        </a:spcBef>
                      </a:pPr>
                      <a:r>
                        <a:rPr sz="1350" kern="0" spc="-10" dirty="0">
                          <a:solidFill>
                            <a:srgbClr val="000000">
                              <a:alpha val="100000"/>
                            </a:srgbClr>
                          </a:solidFill>
                          <a:latin typeface="Arial" panose="020B0604020202020204"/>
                          <a:ea typeface="Arial" panose="020B0604020202020204"/>
                          <a:cs typeface="Arial" panose="020B0604020202020204"/>
                        </a:rPr>
                        <a:t>2009.3</a:t>
                      </a:r>
                      <a:endParaRPr lang="en-US" altLang="en-US" sz="1350" dirty="0"/>
                    </a:p>
                  </a:txBody>
                  <a:tcPr marL="0" marR="0" marT="0" marB="0" vert="horz">
                    <a:lnL>
                      <a:noFill/>
                    </a:lnL>
                    <a:lnR>
                      <a:noFill/>
                    </a:lnR>
                    <a:lnT>
                      <a:noFill/>
                    </a:lnT>
                    <a:lnB w="25400" cap="flat" cmpd="sng" algn="ctr">
                      <a:solidFill>
                        <a:srgbClr val="000000"/>
                      </a:solidFill>
                      <a:prstDash val="solid"/>
                      <a:round/>
                      <a:headEnd type="none" w="med" len="med"/>
                      <a:tailEnd type="none" w="med" len="med"/>
                    </a:lnB>
                  </a:tcPr>
                </a:tc>
                <a:tc>
                  <a:txBody>
                    <a:bodyPr/>
                    <a:lstStyle/>
                    <a:p>
                      <a:pPr algn="l" rtl="0" eaLnBrk="0">
                        <a:lnSpc>
                          <a:spcPct val="157000"/>
                        </a:lnSpc>
                      </a:pPr>
                      <a:endParaRPr lang="en-US" altLang="en-US" sz="750" dirty="0"/>
                    </a:p>
                    <a:p>
                      <a:pPr marL="459105" algn="l" rtl="0" eaLnBrk="0">
                        <a:lnSpc>
                          <a:spcPct val="80000"/>
                        </a:lnSpc>
                        <a:spcBef>
                          <a:spcPts val="5"/>
                        </a:spcBef>
                      </a:pPr>
                      <a:r>
                        <a:rPr sz="1350" kern="0" spc="-10" dirty="0">
                          <a:solidFill>
                            <a:srgbClr val="000000">
                              <a:alpha val="100000"/>
                            </a:srgbClr>
                          </a:solidFill>
                          <a:latin typeface="Arial" panose="020B0604020202020204"/>
                          <a:ea typeface="Arial" panose="020B0604020202020204"/>
                          <a:cs typeface="Arial" panose="020B0604020202020204"/>
                        </a:rPr>
                        <a:t>2009.6</a:t>
                      </a:r>
                      <a:endParaRPr lang="en-US" altLang="en-US" sz="1350" dirty="0"/>
                    </a:p>
                  </a:txBody>
                  <a:tcPr marL="0" marR="0" marT="0" marB="0" vert="horz">
                    <a:lnL>
                      <a:noFill/>
                    </a:lnL>
                    <a:lnR>
                      <a:noFill/>
                    </a:lnR>
                    <a:lnT>
                      <a:noFill/>
                    </a:lnT>
                    <a:lnB w="25400" cap="flat" cmpd="sng" algn="ctr">
                      <a:solidFill>
                        <a:srgbClr val="000000"/>
                      </a:solidFill>
                      <a:prstDash val="solid"/>
                      <a:round/>
                      <a:headEnd type="none" w="med" len="med"/>
                      <a:tailEnd type="none" w="med" len="med"/>
                    </a:lnB>
                  </a:tcPr>
                </a:tc>
                <a:tc>
                  <a:txBody>
                    <a:bodyPr/>
                    <a:lstStyle/>
                    <a:p>
                      <a:pPr algn="l" rtl="0" eaLnBrk="0">
                        <a:lnSpc>
                          <a:spcPct val="137000"/>
                        </a:lnSpc>
                      </a:pPr>
                      <a:endParaRPr lang="en-US" altLang="en-US" sz="750" dirty="0"/>
                    </a:p>
                    <a:p>
                      <a:pPr marL="116205" algn="l" rtl="0" eaLnBrk="0">
                        <a:lnSpc>
                          <a:spcPct val="91000"/>
                        </a:lnSpc>
                        <a:spcBef>
                          <a:spcPts val="5"/>
                        </a:spcBef>
                      </a:pPr>
                      <a:r>
                        <a:rPr sz="1350" kern="0" spc="-20" dirty="0">
                          <a:solidFill>
                            <a:srgbClr val="000000">
                              <a:alpha val="100000"/>
                            </a:srgbClr>
                          </a:solidFill>
                          <a:latin typeface="Arial" panose="020B0604020202020204"/>
                          <a:ea typeface="Arial" panose="020B0604020202020204"/>
                          <a:cs typeface="Arial" panose="020B0604020202020204"/>
                        </a:rPr>
                        <a:t>1.  </a:t>
                      </a: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熟悉</a:t>
                      </a:r>
                      <a:r>
                        <a:rPr sz="1350" kern="0" spc="-20" dirty="0">
                          <a:solidFill>
                            <a:srgbClr val="000000">
                              <a:alpha val="100000"/>
                            </a:srgbClr>
                          </a:solidFill>
                          <a:latin typeface="Arial" panose="020B0604020202020204"/>
                          <a:ea typeface="Arial" panose="020B0604020202020204"/>
                          <a:cs typeface="Arial" panose="020B0604020202020204"/>
                        </a:rPr>
                        <a:t>ERP</a:t>
                      </a: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业务理念 ，</a:t>
                      </a:r>
                      <a:r>
                        <a:rPr sz="13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具备测试基础知识</a:t>
                      </a:r>
                      <a:endParaRPr lang="en-US" altLang="en-US" sz="1350" dirty="0"/>
                    </a:p>
                  </a:txBody>
                  <a:tcPr marL="0" marR="0" marT="0" marB="0" vert="horz">
                    <a:lnL>
                      <a:noFill/>
                    </a:lnL>
                    <a:lnR>
                      <a:noFill/>
                    </a:lnR>
                    <a:lnT>
                      <a:noFill/>
                    </a:lnT>
                    <a:lnB w="254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a:noFill/>
                    </a:lnL>
                    <a:lnR>
                      <a:noFill/>
                    </a:lnR>
                    <a:lnT>
                      <a:noFill/>
                    </a:lnT>
                    <a:lnB w="254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6"/>
          <p:cNvGrpSpPr/>
          <p:nvPr/>
        </p:nvGrpSpPr>
        <p:grpSpPr>
          <a:xfrm rot="21600000">
            <a:off x="879541" y="1197925"/>
            <a:ext cx="7346269" cy="1948433"/>
            <a:chOff x="0" y="0"/>
            <a:chExt cx="9795025" cy="2597911"/>
          </a:xfrm>
        </p:grpSpPr>
        <p:sp>
          <p:nvSpPr>
            <p:cNvPr id="170" name="path"/>
            <p:cNvSpPr/>
            <p:nvPr/>
          </p:nvSpPr>
          <p:spPr>
            <a:xfrm>
              <a:off x="0" y="522828"/>
              <a:ext cx="9795025" cy="2075083"/>
            </a:xfrm>
            <a:custGeom>
              <a:avLst/>
              <a:gdLst/>
              <a:ahLst/>
              <a:cxnLst/>
              <a:rect l="0" t="0" r="0" b="0"/>
              <a:pathLst>
                <a:path w="15425" h="3267">
                  <a:moveTo>
                    <a:pt x="0" y="0"/>
                  </a:moveTo>
                  <a:lnTo>
                    <a:pt x="15425" y="0"/>
                  </a:lnTo>
                  <a:lnTo>
                    <a:pt x="15425" y="3267"/>
                  </a:lnTo>
                  <a:lnTo>
                    <a:pt x="0" y="3267"/>
                  </a:lnTo>
                  <a:lnTo>
                    <a:pt x="0" y="0"/>
                  </a:lnTo>
                  <a:close/>
                </a:path>
              </a:pathLst>
            </a:custGeom>
            <a:solidFill>
              <a:srgbClr val="CBCBCB">
                <a:alpha val="32156"/>
              </a:srgbClr>
            </a:solidFill>
            <a:ln cap="flat">
              <a:noFill/>
              <a:prstDash val="solid"/>
              <a:miter lim="0"/>
            </a:ln>
          </p:spPr>
          <p:txBody>
            <a:bodyPr rtlCol="0"/>
            <a:lstStyle/>
            <a:p>
              <a:pPr algn="ctr"/>
              <a:endParaRPr lang="zh-CN" altLang="en-US" sz="1350"/>
            </a:p>
          </p:txBody>
        </p:sp>
        <p:sp>
          <p:nvSpPr>
            <p:cNvPr id="172" name="path"/>
            <p:cNvSpPr/>
            <p:nvPr/>
          </p:nvSpPr>
          <p:spPr>
            <a:xfrm>
              <a:off x="0" y="0"/>
              <a:ext cx="9795025" cy="537095"/>
            </a:xfrm>
            <a:custGeom>
              <a:avLst/>
              <a:gdLst/>
              <a:ahLst/>
              <a:cxnLst/>
              <a:rect l="0" t="0" r="0" b="0"/>
              <a:pathLst>
                <a:path w="15425" h="845">
                  <a:moveTo>
                    <a:pt x="0" y="0"/>
                  </a:moveTo>
                  <a:lnTo>
                    <a:pt x="15425" y="0"/>
                  </a:lnTo>
                  <a:lnTo>
                    <a:pt x="15425" y="845"/>
                  </a:lnTo>
                  <a:lnTo>
                    <a:pt x="0" y="845"/>
                  </a:lnTo>
                  <a:lnTo>
                    <a:pt x="0" y="0"/>
                  </a:lnTo>
                  <a:close/>
                </a:path>
              </a:pathLst>
            </a:custGeom>
            <a:solidFill>
              <a:srgbClr val="4B4848">
                <a:alpha val="100000"/>
              </a:srgbClr>
            </a:solidFill>
            <a:ln cap="flat">
              <a:noFill/>
              <a:prstDash val="solid"/>
              <a:miter lim="0"/>
            </a:ln>
          </p:spPr>
          <p:txBody>
            <a:bodyPr rtlCol="0"/>
            <a:lstStyle/>
            <a:p>
              <a:pPr algn="ctr"/>
              <a:endParaRPr lang="zh-CN" altLang="en-US" sz="1350"/>
            </a:p>
          </p:txBody>
        </p:sp>
      </p:grpSp>
      <p:sp>
        <p:nvSpPr>
          <p:cNvPr id="174" name="textbox 174"/>
          <p:cNvSpPr/>
          <p:nvPr/>
        </p:nvSpPr>
        <p:spPr>
          <a:xfrm>
            <a:off x="1262095" y="1784720"/>
            <a:ext cx="6582251" cy="1199198"/>
          </a:xfrm>
          <a:prstGeom prst="rect">
            <a:avLst/>
          </a:prstGeom>
        </p:spPr>
        <p:txBody>
          <a:bodyPr vert="horz" wrap="square" lIns="0" tIns="0" rIns="0" bIns="0"/>
          <a:lstStyle/>
          <a:p>
            <a:pPr algn="l" rtl="0" eaLnBrk="0">
              <a:lnSpc>
                <a:spcPct val="88000"/>
              </a:lnSpc>
            </a:pPr>
            <a:endParaRPr lang="en-US" altLang="en-US" sz="100" dirty="0"/>
          </a:p>
          <a:p>
            <a:pPr marL="12700" algn="l" rtl="0" eaLnBrk="0">
              <a:lnSpc>
                <a:spcPct val="83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假设你是一个报警系统开发公司的项目经理 ，该公司希望进入帮助</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独立生活的</a:t>
            </a:r>
            <a:endParaRPr lang="en-US" altLang="en-US" sz="1500" dirty="0"/>
          </a:p>
          <a:p>
            <a:pPr marL="13335" algn="l" rtl="0" eaLnBrk="0">
              <a:lnSpc>
                <a:spcPct val="129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老年人和残疾人的技术服务市场。你需要组建一个开发团队 ，基</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于公司现有的 报警处理技术开发一个</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新产品。</a:t>
            </a:r>
            <a:endParaRPr lang="en-US" altLang="en-US" sz="1500" dirty="0"/>
          </a:p>
          <a:p>
            <a:pPr algn="l" rtl="0" eaLnBrk="0">
              <a:lnSpc>
                <a:spcPct val="118000"/>
              </a:lnSpc>
            </a:pPr>
            <a:endParaRPr lang="en-US" altLang="en-US" sz="750" dirty="0"/>
          </a:p>
          <a:p>
            <a:pPr algn="l" rtl="0" eaLnBrk="0">
              <a:lnSpc>
                <a:spcPct val="100000"/>
              </a:lnSpc>
            </a:pPr>
            <a:endParaRPr lang="en-US" altLang="en-US" sz="375" dirty="0"/>
          </a:p>
          <a:p>
            <a:pPr marL="15875" algn="l" rtl="0" eaLnBrk="0">
              <a:lnSpc>
                <a:spcPct val="91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显然 ，你的首要任务是从公司内部或者外部选择合适的</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团队成员。</a:t>
            </a:r>
            <a:endParaRPr lang="en-US" altLang="en-US" sz="1500" dirty="0"/>
          </a:p>
        </p:txBody>
      </p:sp>
      <p:sp>
        <p:nvSpPr>
          <p:cNvPr id="176"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graphicFrame>
        <p:nvGraphicFramePr>
          <p:cNvPr id="178" name="table 178"/>
          <p:cNvGraphicFramePr>
            <a:graphicFrameLocks noGrp="1"/>
          </p:cNvGraphicFramePr>
          <p:nvPr/>
        </p:nvGraphicFramePr>
        <p:xfrm>
          <a:off x="874703" y="1193086"/>
          <a:ext cx="7472680" cy="418465"/>
        </p:xfrm>
        <a:graphic>
          <a:graphicData uri="http://schemas.openxmlformats.org/drawingml/2006/table">
            <a:tbl>
              <a:tblPr/>
              <a:tblGrid>
                <a:gridCol w="7472680"/>
              </a:tblGrid>
              <a:tr h="418465">
                <a:tc>
                  <a:txBody>
                    <a:bodyPr/>
                    <a:lstStyle/>
                    <a:p>
                      <a:pPr algn="l" rtl="0" eaLnBrk="0">
                        <a:lnSpc>
                          <a:spcPct val="104000"/>
                        </a:lnSpc>
                      </a:pPr>
                      <a:endParaRPr lang="en-US" altLang="en-US" sz="750" dirty="0"/>
                    </a:p>
                    <a:p>
                      <a:pPr algn="l" rtl="0" eaLnBrk="0">
                        <a:lnSpc>
                          <a:spcPct val="9000"/>
                        </a:lnSpc>
                      </a:pPr>
                      <a:endParaRPr lang="en-US" altLang="en-US" sz="100" dirty="0"/>
                    </a:p>
                    <a:p>
                      <a:pPr marL="158750" algn="l" rtl="0" eaLnBrk="0">
                        <a:lnSpc>
                          <a:spcPct val="91000"/>
                        </a:lnSpc>
                      </a:pPr>
                      <a:r>
                        <a:rPr sz="1500"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案例描述</a:t>
                      </a:r>
                      <a:endParaRPr lang="en-US" altLang="en-US" sz="15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180" name="textbox 180"/>
          <p:cNvSpPr/>
          <p:nvPr/>
        </p:nvSpPr>
        <p:spPr>
          <a:xfrm>
            <a:off x="1758648" y="3698238"/>
            <a:ext cx="5438299" cy="340994"/>
          </a:xfrm>
          <a:prstGeom prst="rect">
            <a:avLst/>
          </a:prstGeom>
        </p:spPr>
        <p:txBody>
          <a:bodyPr vert="horz" wrap="square" lIns="0" tIns="0" rIns="0" bIns="0"/>
          <a:lstStyle/>
          <a:p>
            <a:pPr algn="l" rtl="0" eaLnBrk="0">
              <a:lnSpc>
                <a:spcPct val="83000"/>
              </a:lnSpc>
            </a:pPr>
            <a:endParaRPr lang="en-US" altLang="en-US" sz="100" dirty="0"/>
          </a:p>
          <a:p>
            <a:pPr algn="r" rtl="0" eaLnBrk="0">
              <a:lnSpc>
                <a:spcPts val="3380"/>
              </a:lnSpc>
            </a:pPr>
            <a:r>
              <a:rPr sz="2100" kern="0" spc="-110" dirty="0">
                <a:ln w="8534" cap="flat" cmpd="sng">
                  <a:solidFill>
                    <a:srgbClr val="CC0000">
                      <a:alpha val="100000"/>
                    </a:srgbClr>
                  </a:solidFill>
                  <a:prstDash val="solid"/>
                  <a:miter lim="10"/>
                </a:ln>
                <a:solidFill>
                  <a:srgbClr val="CC0000">
                    <a:alpha val="100000"/>
                  </a:srgbClr>
                </a:solidFill>
                <a:latin typeface="华文楷体" panose="02010600040101010101" pitchFamily="2" charset="-122"/>
                <a:ea typeface="华文楷体" panose="02010600040101010101" pitchFamily="2" charset="-122"/>
                <a:cs typeface="华文楷体" panose="02010600040101010101" pitchFamily="2" charset="-122"/>
              </a:rPr>
              <a:t>你如何选择团队成员</a:t>
            </a:r>
            <a:r>
              <a:rPr sz="2100" kern="0" spc="-110" dirty="0">
                <a:ln w="8534" cap="flat" cmpd="sng">
                  <a:solidFill>
                    <a:srgbClr val="D81E00">
                      <a:alpha val="100000"/>
                    </a:srgbClr>
                  </a:solidFill>
                  <a:prstDash val="solid"/>
                  <a:miter lim="10"/>
                </a:ln>
                <a:solidFill>
                  <a:srgbClr val="D81E00">
                    <a:alpha val="100000"/>
                  </a:srgbClr>
                </a:solidFill>
                <a:latin typeface="华文楷体" panose="02010600040101010101" pitchFamily="2" charset="-122"/>
                <a:ea typeface="华文楷体" panose="02010600040101010101" pitchFamily="2" charset="-122"/>
                <a:cs typeface="华文楷体" panose="02010600040101010101" pitchFamily="2" charset="-122"/>
              </a:rPr>
              <a:t>？</a:t>
            </a:r>
            <a:r>
              <a:rPr sz="2100" kern="0" spc="-320" dirty="0">
                <a:solidFill>
                  <a:srgbClr val="D81E00">
                    <a:alpha val="100000"/>
                  </a:srgbClr>
                </a:solidFill>
                <a:latin typeface="华文楷体" panose="02010600040101010101" pitchFamily="2" charset="-122"/>
                <a:ea typeface="华文楷体" panose="02010600040101010101" pitchFamily="2" charset="-122"/>
                <a:cs typeface="华文楷体" panose="02010600040101010101" pitchFamily="2" charset="-122"/>
              </a:rPr>
              <a:t> </a:t>
            </a:r>
            <a:r>
              <a:rPr sz="2100" kern="0" spc="-110" dirty="0">
                <a:ln w="8534" cap="flat" cmpd="sng">
                  <a:solidFill>
                    <a:srgbClr val="CC0000">
                      <a:alpha val="100000"/>
                    </a:srgbClr>
                  </a:solidFill>
                  <a:prstDash val="solid"/>
                  <a:miter lim="10"/>
                </a:ln>
                <a:solidFill>
                  <a:srgbClr val="CC0000">
                    <a:alpha val="100000"/>
                  </a:srgbClr>
                </a:solidFill>
                <a:latin typeface="华文楷体" panose="02010600040101010101" pitchFamily="2" charset="-122"/>
                <a:ea typeface="华文楷体" panose="02010600040101010101" pitchFamily="2" charset="-122"/>
                <a:cs typeface="华文楷体" panose="02010600040101010101" pitchFamily="2" charset="-122"/>
              </a:rPr>
              <a:t>这样选择的理由是什么</a:t>
            </a:r>
            <a:r>
              <a:rPr sz="2100" kern="0" spc="-110" dirty="0">
                <a:ln w="8534" cap="flat" cmpd="sng">
                  <a:solidFill>
                    <a:srgbClr val="D81E00">
                      <a:alpha val="100000"/>
                    </a:srgbClr>
                  </a:solidFill>
                  <a:prstDash val="solid"/>
                  <a:miter lim="10"/>
                </a:ln>
                <a:solidFill>
                  <a:srgbClr val="D81E00">
                    <a:alpha val="100000"/>
                  </a:srgbClr>
                </a:solidFill>
                <a:latin typeface="华文楷体" panose="02010600040101010101" pitchFamily="2" charset="-122"/>
                <a:ea typeface="华文楷体" panose="02010600040101010101" pitchFamily="2" charset="-122"/>
                <a:cs typeface="华文楷体" panose="02010600040101010101" pitchFamily="2" charset="-122"/>
              </a:rPr>
              <a:t>？</a:t>
            </a:r>
            <a:endParaRPr lang="en-US" altLang="en-US" sz="2100" dirty="0"/>
          </a:p>
        </p:txBody>
      </p:sp>
      <p:sp>
        <p:nvSpPr>
          <p:cNvPr id="3" name="标题 2"/>
          <p:cNvSpPr>
            <a:spLocks noGrp="1"/>
          </p:cNvSpPr>
          <p:nvPr>
            <p:ph type="title"/>
          </p:nvPr>
        </p:nvSpPr>
        <p:spPr/>
        <p:txBody>
          <a:bodyPr/>
          <a:p>
            <a:r>
              <a:rPr lang="zh-CN" altLang="en-US" dirty="0"/>
              <a:t>人员的选择</a:t>
            </a:r>
            <a:endParaRPr lang="en-US" altLang="zh-C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8" name="picture 198"/>
          <p:cNvPicPr>
            <a:picLocks noChangeAspect="1"/>
          </p:cNvPicPr>
          <p:nvPr/>
        </p:nvPicPr>
        <p:blipFill>
          <a:blip r:embed="rId1"/>
          <a:stretch>
            <a:fillRect/>
          </a:stretch>
        </p:blipFill>
        <p:spPr>
          <a:xfrm rot="21600000">
            <a:off x="752703" y="1602044"/>
            <a:ext cx="3138413" cy="2338117"/>
          </a:xfrm>
          <a:prstGeom prst="rect">
            <a:avLst/>
          </a:prstGeom>
        </p:spPr>
      </p:pic>
      <p:sp>
        <p:nvSpPr>
          <p:cNvPr id="200"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grpSp>
        <p:nvGrpSpPr>
          <p:cNvPr id="22" name="group 22"/>
          <p:cNvGrpSpPr/>
          <p:nvPr/>
        </p:nvGrpSpPr>
        <p:grpSpPr>
          <a:xfrm rot="21600000">
            <a:off x="4791673" y="1478165"/>
            <a:ext cx="1690207" cy="609676"/>
            <a:chOff x="0" y="0"/>
            <a:chExt cx="2253609" cy="812901"/>
          </a:xfrm>
        </p:grpSpPr>
        <p:sp>
          <p:nvSpPr>
            <p:cNvPr id="216" name="rect"/>
            <p:cNvSpPr/>
            <p:nvPr/>
          </p:nvSpPr>
          <p:spPr>
            <a:xfrm>
              <a:off x="19355" y="19354"/>
              <a:ext cx="2234254" cy="793547"/>
            </a:xfrm>
            <a:prstGeom prst="rect">
              <a:avLst/>
            </a:prstGeom>
            <a:solidFill>
              <a:srgbClr val="898484">
                <a:alpha val="100000"/>
              </a:srgbClr>
            </a:solidFill>
            <a:ln cap="flat">
              <a:noFill/>
              <a:prstDash val="solid"/>
              <a:miter lim="0"/>
            </a:ln>
          </p:spPr>
          <p:txBody>
            <a:bodyPr rtlCol="0"/>
            <a:lstStyle/>
            <a:p>
              <a:pPr algn="ctr"/>
              <a:endParaRPr lang="zh-CN" altLang="en-US" sz="1350"/>
            </a:p>
          </p:txBody>
        </p:sp>
        <p:sp>
          <p:nvSpPr>
            <p:cNvPr id="218" name="path"/>
            <p:cNvSpPr/>
            <p:nvPr/>
          </p:nvSpPr>
          <p:spPr>
            <a:xfrm>
              <a:off x="0" y="0"/>
              <a:ext cx="2253609" cy="812901"/>
            </a:xfrm>
            <a:custGeom>
              <a:avLst/>
              <a:gdLst/>
              <a:ahLst/>
              <a:cxnLst/>
              <a:rect l="0" t="0" r="0" b="0"/>
              <a:pathLst>
                <a:path w="3548" h="1280">
                  <a:moveTo>
                    <a:pt x="30" y="233"/>
                  </a:moveTo>
                  <a:cubicBezTo>
                    <a:pt x="30" y="121"/>
                    <a:pt x="121" y="30"/>
                    <a:pt x="233" y="30"/>
                  </a:cubicBezTo>
                  <a:lnTo>
                    <a:pt x="3315" y="30"/>
                  </a:lnTo>
                  <a:cubicBezTo>
                    <a:pt x="3427" y="30"/>
                    <a:pt x="3518" y="121"/>
                    <a:pt x="3518" y="233"/>
                  </a:cubicBezTo>
                  <a:lnTo>
                    <a:pt x="3518" y="1046"/>
                  </a:lnTo>
                  <a:moveTo>
                    <a:pt x="233" y="1249"/>
                  </a:moveTo>
                  <a:cubicBezTo>
                    <a:pt x="121" y="1249"/>
                    <a:pt x="30" y="1158"/>
                    <a:pt x="30" y="1046"/>
                  </a:cubicBezTo>
                  <a:lnTo>
                    <a:pt x="30" y="233"/>
                  </a:lnTo>
                </a:path>
              </a:pathLst>
            </a:custGeom>
            <a:noFill/>
            <a:ln w="38709" cap="flat">
              <a:solidFill>
                <a:srgbClr val="FFFFFF">
                  <a:alpha val="100000"/>
                </a:srgbClr>
              </a:solidFill>
              <a:prstDash val="solid"/>
              <a:round/>
            </a:ln>
          </p:spPr>
          <p:txBody>
            <a:bodyPr rtlCol="0"/>
            <a:lstStyle/>
            <a:p>
              <a:pPr algn="ctr"/>
              <a:endParaRPr lang="zh-CN" altLang="en-US" sz="1350"/>
            </a:p>
          </p:txBody>
        </p:sp>
        <p:sp>
          <p:nvSpPr>
            <p:cNvPr id="220" name="textbox 220"/>
            <p:cNvSpPr/>
            <p:nvPr/>
          </p:nvSpPr>
          <p:spPr>
            <a:xfrm>
              <a:off x="339509" y="272592"/>
              <a:ext cx="1548764" cy="302895"/>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ct val="91000"/>
                </a:lnSpc>
              </a:pPr>
              <a:r>
                <a:rPr sz="1500"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应用领域经验</a:t>
              </a:r>
              <a:endParaRPr lang="en-US" altLang="en-US" sz="1500" dirty="0"/>
            </a:p>
          </p:txBody>
        </p:sp>
        <p:sp>
          <p:nvSpPr>
            <p:cNvPr id="222" name="rect"/>
            <p:cNvSpPr/>
            <p:nvPr/>
          </p:nvSpPr>
          <p:spPr>
            <a:xfrm>
              <a:off x="148389" y="774192"/>
              <a:ext cx="1956829" cy="38709"/>
            </a:xfrm>
            <a:prstGeom prst="rect">
              <a:avLst/>
            </a:prstGeom>
            <a:solidFill>
              <a:srgbClr val="FFFFFF">
                <a:alpha val="70196"/>
              </a:srgbClr>
            </a:solidFill>
            <a:ln cap="flat">
              <a:noFill/>
              <a:prstDash val="solid"/>
              <a:miter lim="0"/>
            </a:ln>
          </p:spPr>
          <p:txBody>
            <a:bodyPr rtlCol="0"/>
            <a:lstStyle/>
            <a:p>
              <a:pPr algn="ctr"/>
              <a:endParaRPr lang="zh-CN" altLang="en-US" sz="1350"/>
            </a:p>
          </p:txBody>
        </p:sp>
      </p:grpSp>
      <p:grpSp>
        <p:nvGrpSpPr>
          <p:cNvPr id="24" name="group 24"/>
          <p:cNvGrpSpPr/>
          <p:nvPr/>
        </p:nvGrpSpPr>
        <p:grpSpPr>
          <a:xfrm rot="21600000">
            <a:off x="6475082" y="1246073"/>
            <a:ext cx="1690207" cy="609676"/>
            <a:chOff x="0" y="0"/>
            <a:chExt cx="2253609" cy="812901"/>
          </a:xfrm>
        </p:grpSpPr>
        <p:grpSp>
          <p:nvGrpSpPr>
            <p:cNvPr id="26" name="group 26"/>
            <p:cNvGrpSpPr/>
            <p:nvPr/>
          </p:nvGrpSpPr>
          <p:grpSpPr>
            <a:xfrm rot="21600000">
              <a:off x="19355" y="19354"/>
              <a:ext cx="2234254" cy="793547"/>
              <a:chOff x="0" y="0"/>
              <a:chExt cx="2234254" cy="793547"/>
            </a:xfrm>
          </p:grpSpPr>
          <p:sp>
            <p:nvSpPr>
              <p:cNvPr id="224" name="path"/>
              <p:cNvSpPr/>
              <p:nvPr/>
            </p:nvSpPr>
            <p:spPr>
              <a:xfrm>
                <a:off x="0" y="0"/>
                <a:ext cx="2180018" cy="762000"/>
              </a:xfrm>
              <a:custGeom>
                <a:avLst/>
                <a:gdLst/>
                <a:ahLst/>
                <a:cxnLst/>
                <a:rect l="0" t="0" r="0" b="0"/>
                <a:pathLst>
                  <a:path w="3433" h="1200">
                    <a:moveTo>
                      <a:pt x="0" y="200"/>
                    </a:moveTo>
                    <a:cubicBezTo>
                      <a:pt x="0" y="89"/>
                      <a:pt x="89" y="0"/>
                      <a:pt x="200" y="0"/>
                    </a:cubicBezTo>
                    <a:lnTo>
                      <a:pt x="3233" y="0"/>
                    </a:lnTo>
                    <a:cubicBezTo>
                      <a:pt x="3343" y="0"/>
                      <a:pt x="3433" y="89"/>
                      <a:pt x="3433" y="200"/>
                    </a:cubicBezTo>
                    <a:lnTo>
                      <a:pt x="3433" y="999"/>
                    </a:lnTo>
                    <a:cubicBezTo>
                      <a:pt x="3433" y="1110"/>
                      <a:pt x="3343" y="1200"/>
                      <a:pt x="3233" y="1200"/>
                    </a:cubicBezTo>
                    <a:lnTo>
                      <a:pt x="200" y="1200"/>
                    </a:lnTo>
                    <a:cubicBezTo>
                      <a:pt x="89" y="1200"/>
                      <a:pt x="0" y="1110"/>
                      <a:pt x="0" y="999"/>
                    </a:cubicBezTo>
                    <a:lnTo>
                      <a:pt x="0" y="200"/>
                    </a:lnTo>
                    <a:close/>
                  </a:path>
                </a:pathLst>
              </a:custGeom>
              <a:solidFill>
                <a:srgbClr val="974D0B">
                  <a:alpha val="100000"/>
                </a:srgbClr>
              </a:solidFill>
              <a:ln cap="flat">
                <a:noFill/>
                <a:prstDash val="solid"/>
                <a:miter lim="0"/>
              </a:ln>
            </p:spPr>
            <p:txBody>
              <a:bodyPr rtlCol="0"/>
              <a:lstStyle/>
              <a:p>
                <a:pPr algn="ctr"/>
                <a:endParaRPr lang="zh-CN" altLang="en-US" sz="1350"/>
              </a:p>
            </p:txBody>
          </p:sp>
          <p:sp>
            <p:nvSpPr>
              <p:cNvPr id="226" name="path"/>
              <p:cNvSpPr/>
              <p:nvPr/>
            </p:nvSpPr>
            <p:spPr>
              <a:xfrm>
                <a:off x="82245" y="82245"/>
                <a:ext cx="2152008" cy="711301"/>
              </a:xfrm>
              <a:custGeom>
                <a:avLst/>
                <a:gdLst/>
                <a:ahLst/>
                <a:cxnLst/>
                <a:rect l="0" t="0" r="0" b="0"/>
                <a:pathLst>
                  <a:path w="3388" h="1120">
                    <a:moveTo>
                      <a:pt x="3358" y="886"/>
                    </a:moveTo>
                    <a:cubicBezTo>
                      <a:pt x="3358" y="998"/>
                      <a:pt x="3267" y="1089"/>
                      <a:pt x="3155" y="1089"/>
                    </a:cubicBezTo>
                  </a:path>
                </a:pathLst>
              </a:custGeom>
              <a:noFill/>
              <a:ln w="38709" cap="flat">
                <a:solidFill>
                  <a:srgbClr val="FFFFFF">
                    <a:alpha val="100000"/>
                  </a:srgbClr>
                </a:solidFill>
                <a:prstDash val="solid"/>
                <a:round/>
              </a:ln>
            </p:spPr>
            <p:txBody>
              <a:bodyPr rtlCol="0"/>
              <a:lstStyle/>
              <a:p>
                <a:pPr algn="ctr"/>
                <a:endParaRPr lang="zh-CN" altLang="en-US" sz="1350"/>
              </a:p>
            </p:txBody>
          </p:sp>
        </p:grpSp>
        <p:sp>
          <p:nvSpPr>
            <p:cNvPr id="228" name="path"/>
            <p:cNvSpPr/>
            <p:nvPr/>
          </p:nvSpPr>
          <p:spPr>
            <a:xfrm>
              <a:off x="0" y="0"/>
              <a:ext cx="2253609" cy="812901"/>
            </a:xfrm>
            <a:custGeom>
              <a:avLst/>
              <a:gdLst/>
              <a:ahLst/>
              <a:cxnLst/>
              <a:rect l="0" t="0" r="0" b="0"/>
              <a:pathLst>
                <a:path w="3548" h="1280">
                  <a:moveTo>
                    <a:pt x="30" y="233"/>
                  </a:moveTo>
                  <a:cubicBezTo>
                    <a:pt x="30" y="121"/>
                    <a:pt x="121" y="30"/>
                    <a:pt x="233" y="30"/>
                  </a:cubicBezTo>
                  <a:lnTo>
                    <a:pt x="3315" y="30"/>
                  </a:lnTo>
                  <a:cubicBezTo>
                    <a:pt x="3427" y="30"/>
                    <a:pt x="3518" y="121"/>
                    <a:pt x="3518" y="233"/>
                  </a:cubicBezTo>
                  <a:lnTo>
                    <a:pt x="3518" y="1046"/>
                  </a:lnTo>
                  <a:moveTo>
                    <a:pt x="233" y="1249"/>
                  </a:moveTo>
                  <a:cubicBezTo>
                    <a:pt x="121" y="1249"/>
                    <a:pt x="30" y="1158"/>
                    <a:pt x="30" y="1046"/>
                  </a:cubicBezTo>
                  <a:lnTo>
                    <a:pt x="30" y="233"/>
                  </a:lnTo>
                </a:path>
              </a:pathLst>
            </a:custGeom>
            <a:noFill/>
            <a:ln w="38709" cap="flat">
              <a:solidFill>
                <a:srgbClr val="FFFFFF">
                  <a:alpha val="100000"/>
                </a:srgbClr>
              </a:solidFill>
              <a:prstDash val="solid"/>
              <a:round/>
            </a:ln>
          </p:spPr>
          <p:txBody>
            <a:bodyPr rtlCol="0"/>
            <a:lstStyle/>
            <a:p>
              <a:pPr algn="ctr"/>
              <a:endParaRPr lang="zh-CN" altLang="en-US" sz="1350"/>
            </a:p>
          </p:txBody>
        </p:sp>
        <p:sp>
          <p:nvSpPr>
            <p:cNvPr id="230" name="textbox 230"/>
            <p:cNvSpPr/>
            <p:nvPr/>
          </p:nvSpPr>
          <p:spPr>
            <a:xfrm>
              <a:off x="341540" y="271830"/>
              <a:ext cx="1546860" cy="303529"/>
            </a:xfrm>
            <a:prstGeom prst="rect">
              <a:avLst/>
            </a:prstGeom>
          </p:spPr>
          <p:txBody>
            <a:bodyPr vert="horz" wrap="square" lIns="0" tIns="0" rIns="0" bIns="0"/>
            <a:lstStyle/>
            <a:p>
              <a:pPr algn="l" rtl="0" eaLnBrk="0">
                <a:lnSpc>
                  <a:spcPct val="88000"/>
                </a:lnSpc>
              </a:pPr>
              <a:endParaRPr lang="en-US" altLang="en-US" sz="100" dirty="0"/>
            </a:p>
            <a:p>
              <a:pPr marL="12700" algn="l" rtl="0" eaLnBrk="0">
                <a:lnSpc>
                  <a:spcPct val="91000"/>
                </a:lnSpc>
              </a:pPr>
              <a:r>
                <a:rPr sz="1500"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解决问题能力</a:t>
              </a:r>
              <a:endParaRPr lang="en-US" altLang="en-US" sz="1500" dirty="0"/>
            </a:p>
          </p:txBody>
        </p:sp>
        <p:sp>
          <p:nvSpPr>
            <p:cNvPr id="232" name="rect"/>
            <p:cNvSpPr/>
            <p:nvPr/>
          </p:nvSpPr>
          <p:spPr>
            <a:xfrm>
              <a:off x="148390" y="774192"/>
              <a:ext cx="1956829" cy="38709"/>
            </a:xfrm>
            <a:prstGeom prst="rect">
              <a:avLst/>
            </a:prstGeom>
            <a:solidFill>
              <a:srgbClr val="FFFFFF">
                <a:alpha val="70196"/>
              </a:srgbClr>
            </a:solidFill>
            <a:ln cap="flat">
              <a:noFill/>
              <a:prstDash val="solid"/>
              <a:miter lim="0"/>
            </a:ln>
          </p:spPr>
          <p:txBody>
            <a:bodyPr rtlCol="0"/>
            <a:lstStyle/>
            <a:p>
              <a:pPr algn="ctr"/>
              <a:endParaRPr lang="zh-CN" altLang="en-US" sz="1350"/>
            </a:p>
          </p:txBody>
        </p:sp>
      </p:grpSp>
      <p:grpSp>
        <p:nvGrpSpPr>
          <p:cNvPr id="28" name="group 28"/>
          <p:cNvGrpSpPr/>
          <p:nvPr/>
        </p:nvGrpSpPr>
        <p:grpSpPr>
          <a:xfrm rot="21600000">
            <a:off x="4791674" y="2140202"/>
            <a:ext cx="1690206" cy="609676"/>
            <a:chOff x="0" y="0"/>
            <a:chExt cx="2253608" cy="812901"/>
          </a:xfrm>
        </p:grpSpPr>
        <p:grpSp>
          <p:nvGrpSpPr>
            <p:cNvPr id="30" name="group 30"/>
            <p:cNvGrpSpPr/>
            <p:nvPr/>
          </p:nvGrpSpPr>
          <p:grpSpPr>
            <a:xfrm rot="21600000">
              <a:off x="19354" y="19354"/>
              <a:ext cx="2234253" cy="793546"/>
              <a:chOff x="0" y="0"/>
              <a:chExt cx="2234253" cy="793546"/>
            </a:xfrm>
          </p:grpSpPr>
          <p:sp>
            <p:nvSpPr>
              <p:cNvPr id="234" name="path"/>
              <p:cNvSpPr/>
              <p:nvPr/>
            </p:nvSpPr>
            <p:spPr>
              <a:xfrm>
                <a:off x="0" y="0"/>
                <a:ext cx="2180018" cy="762000"/>
              </a:xfrm>
              <a:custGeom>
                <a:avLst/>
                <a:gdLst/>
                <a:ahLst/>
                <a:cxnLst/>
                <a:rect l="0" t="0" r="0" b="0"/>
                <a:pathLst>
                  <a:path w="3433" h="1200">
                    <a:moveTo>
                      <a:pt x="0" y="200"/>
                    </a:moveTo>
                    <a:moveTo>
                      <a:pt x="0" y="200"/>
                    </a:moveTo>
                    <a:cubicBezTo>
                      <a:pt x="0" y="89"/>
                      <a:pt x="89" y="0"/>
                      <a:pt x="200" y="0"/>
                    </a:cubicBezTo>
                    <a:lnTo>
                      <a:pt x="3233" y="0"/>
                    </a:lnTo>
                    <a:cubicBezTo>
                      <a:pt x="3343" y="0"/>
                      <a:pt x="3433" y="89"/>
                      <a:pt x="3433" y="200"/>
                    </a:cubicBezTo>
                    <a:lnTo>
                      <a:pt x="3433" y="999"/>
                    </a:lnTo>
                    <a:cubicBezTo>
                      <a:pt x="3433" y="1110"/>
                      <a:pt x="3343" y="1200"/>
                      <a:pt x="3233" y="1200"/>
                    </a:cubicBezTo>
                    <a:lnTo>
                      <a:pt x="200" y="1200"/>
                    </a:lnTo>
                    <a:cubicBezTo>
                      <a:pt x="89" y="1200"/>
                      <a:pt x="0" y="1110"/>
                      <a:pt x="0" y="999"/>
                    </a:cubicBezTo>
                    <a:lnTo>
                      <a:pt x="0" y="200"/>
                    </a:lnTo>
                    <a:close/>
                  </a:path>
                </a:pathLst>
              </a:custGeom>
              <a:solidFill>
                <a:srgbClr val="898484">
                  <a:alpha val="100000"/>
                </a:srgbClr>
              </a:solidFill>
              <a:ln cap="flat">
                <a:noFill/>
                <a:prstDash val="solid"/>
                <a:miter lim="0"/>
              </a:ln>
            </p:spPr>
            <p:txBody>
              <a:bodyPr rtlCol="0"/>
              <a:lstStyle/>
              <a:p>
                <a:pPr algn="ctr"/>
                <a:endParaRPr lang="zh-CN" altLang="en-US" sz="1350"/>
              </a:p>
            </p:txBody>
          </p:sp>
          <p:sp>
            <p:nvSpPr>
              <p:cNvPr id="236" name="path"/>
              <p:cNvSpPr/>
              <p:nvPr/>
            </p:nvSpPr>
            <p:spPr>
              <a:xfrm>
                <a:off x="82245" y="82245"/>
                <a:ext cx="2152008" cy="711301"/>
              </a:xfrm>
              <a:custGeom>
                <a:avLst/>
                <a:gdLst/>
                <a:ahLst/>
                <a:cxnLst/>
                <a:rect l="0" t="0" r="0" b="0"/>
                <a:pathLst>
                  <a:path w="3388" h="1120">
                    <a:moveTo>
                      <a:pt x="3358" y="886"/>
                    </a:moveTo>
                    <a:cubicBezTo>
                      <a:pt x="3358" y="998"/>
                      <a:pt x="3267" y="1089"/>
                      <a:pt x="3155" y="1089"/>
                    </a:cubicBezTo>
                  </a:path>
                </a:pathLst>
              </a:custGeom>
              <a:noFill/>
              <a:ln w="38709" cap="flat">
                <a:solidFill>
                  <a:srgbClr val="FFFFFF">
                    <a:alpha val="100000"/>
                  </a:srgbClr>
                </a:solidFill>
                <a:prstDash val="solid"/>
                <a:round/>
              </a:ln>
            </p:spPr>
            <p:txBody>
              <a:bodyPr rtlCol="0"/>
              <a:lstStyle/>
              <a:p>
                <a:pPr algn="ctr"/>
                <a:endParaRPr lang="zh-CN" altLang="en-US" sz="1350"/>
              </a:p>
            </p:txBody>
          </p:sp>
        </p:grpSp>
        <p:sp>
          <p:nvSpPr>
            <p:cNvPr id="238" name="path"/>
            <p:cNvSpPr/>
            <p:nvPr/>
          </p:nvSpPr>
          <p:spPr>
            <a:xfrm>
              <a:off x="0" y="0"/>
              <a:ext cx="2253608" cy="812901"/>
            </a:xfrm>
            <a:custGeom>
              <a:avLst/>
              <a:gdLst/>
              <a:ahLst/>
              <a:cxnLst/>
              <a:rect l="0" t="0" r="0" b="0"/>
              <a:pathLst>
                <a:path w="3548" h="1280">
                  <a:moveTo>
                    <a:pt x="30" y="233"/>
                  </a:moveTo>
                  <a:cubicBezTo>
                    <a:pt x="30" y="121"/>
                    <a:pt x="121" y="30"/>
                    <a:pt x="233" y="30"/>
                  </a:cubicBezTo>
                  <a:lnTo>
                    <a:pt x="3315" y="30"/>
                  </a:lnTo>
                  <a:cubicBezTo>
                    <a:pt x="3427" y="30"/>
                    <a:pt x="3518" y="121"/>
                    <a:pt x="3518" y="233"/>
                  </a:cubicBezTo>
                  <a:lnTo>
                    <a:pt x="3518" y="1046"/>
                  </a:lnTo>
                  <a:moveTo>
                    <a:pt x="233" y="1249"/>
                  </a:moveTo>
                  <a:cubicBezTo>
                    <a:pt x="121" y="1249"/>
                    <a:pt x="30" y="1158"/>
                    <a:pt x="30" y="1046"/>
                  </a:cubicBezTo>
                  <a:lnTo>
                    <a:pt x="30" y="233"/>
                  </a:lnTo>
                </a:path>
              </a:pathLst>
            </a:custGeom>
            <a:noFill/>
            <a:ln w="38709" cap="flat">
              <a:solidFill>
                <a:srgbClr val="FFFFFF">
                  <a:alpha val="100000"/>
                </a:srgbClr>
              </a:solidFill>
              <a:prstDash val="solid"/>
              <a:round/>
            </a:ln>
          </p:spPr>
          <p:txBody>
            <a:bodyPr rtlCol="0"/>
            <a:lstStyle/>
            <a:p>
              <a:pPr algn="ctr"/>
              <a:endParaRPr lang="zh-CN" altLang="en-US" sz="1350"/>
            </a:p>
          </p:txBody>
        </p:sp>
        <p:sp>
          <p:nvSpPr>
            <p:cNvPr id="240" name="textbox 240"/>
            <p:cNvSpPr/>
            <p:nvPr/>
          </p:nvSpPr>
          <p:spPr>
            <a:xfrm>
              <a:off x="599096" y="272084"/>
              <a:ext cx="1035050" cy="303529"/>
            </a:xfrm>
            <a:prstGeom prst="rect">
              <a:avLst/>
            </a:prstGeom>
          </p:spPr>
          <p:txBody>
            <a:bodyPr vert="horz" wrap="square" lIns="0" tIns="0" rIns="0" bIns="0"/>
            <a:lstStyle/>
            <a:p>
              <a:pPr algn="l" rtl="0" eaLnBrk="0">
                <a:lnSpc>
                  <a:spcPct val="86000"/>
                </a:lnSpc>
              </a:pPr>
              <a:endParaRPr lang="en-US" altLang="en-US" sz="100" dirty="0"/>
            </a:p>
            <a:p>
              <a:pPr marL="12700" algn="l" rtl="0" eaLnBrk="0">
                <a:lnSpc>
                  <a:spcPct val="91000"/>
                </a:lnSpc>
              </a:pPr>
              <a:r>
                <a:rPr sz="1500" kern="0" spc="-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平台经验</a:t>
              </a:r>
              <a:endParaRPr lang="en-US" altLang="en-US" sz="1500" dirty="0"/>
            </a:p>
          </p:txBody>
        </p:sp>
        <p:sp>
          <p:nvSpPr>
            <p:cNvPr id="242" name="rect"/>
            <p:cNvSpPr/>
            <p:nvPr/>
          </p:nvSpPr>
          <p:spPr>
            <a:xfrm>
              <a:off x="148389" y="774191"/>
              <a:ext cx="1956829" cy="38709"/>
            </a:xfrm>
            <a:prstGeom prst="rect">
              <a:avLst/>
            </a:prstGeom>
            <a:solidFill>
              <a:srgbClr val="FFFFFF">
                <a:alpha val="70196"/>
              </a:srgbClr>
            </a:solidFill>
            <a:ln cap="flat">
              <a:noFill/>
              <a:prstDash val="solid"/>
              <a:miter lim="0"/>
            </a:ln>
          </p:spPr>
          <p:txBody>
            <a:bodyPr rtlCol="0"/>
            <a:lstStyle/>
            <a:p>
              <a:pPr algn="ctr"/>
              <a:endParaRPr lang="zh-CN" altLang="en-US" sz="1350"/>
            </a:p>
          </p:txBody>
        </p:sp>
      </p:grpSp>
      <p:grpSp>
        <p:nvGrpSpPr>
          <p:cNvPr id="32" name="group 32"/>
          <p:cNvGrpSpPr/>
          <p:nvPr/>
        </p:nvGrpSpPr>
        <p:grpSpPr>
          <a:xfrm rot="21600000">
            <a:off x="6484831" y="3035271"/>
            <a:ext cx="1690206" cy="609676"/>
            <a:chOff x="0" y="0"/>
            <a:chExt cx="2253608" cy="812901"/>
          </a:xfrm>
        </p:grpSpPr>
        <p:grpSp>
          <p:nvGrpSpPr>
            <p:cNvPr id="34" name="group 34"/>
            <p:cNvGrpSpPr/>
            <p:nvPr/>
          </p:nvGrpSpPr>
          <p:grpSpPr>
            <a:xfrm rot="21600000">
              <a:off x="19354" y="19354"/>
              <a:ext cx="2234254" cy="793546"/>
              <a:chOff x="0" y="0"/>
              <a:chExt cx="2234254" cy="793546"/>
            </a:xfrm>
          </p:grpSpPr>
          <p:sp>
            <p:nvSpPr>
              <p:cNvPr id="244" name="path"/>
              <p:cNvSpPr/>
              <p:nvPr/>
            </p:nvSpPr>
            <p:spPr>
              <a:xfrm>
                <a:off x="0" y="0"/>
                <a:ext cx="2180018" cy="762000"/>
              </a:xfrm>
              <a:custGeom>
                <a:avLst/>
                <a:gdLst/>
                <a:ahLst/>
                <a:cxnLst/>
                <a:rect l="0" t="0" r="0" b="0"/>
                <a:pathLst>
                  <a:path w="3433" h="1200">
                    <a:moveTo>
                      <a:pt x="0" y="200"/>
                    </a:moveTo>
                    <a:cubicBezTo>
                      <a:pt x="0" y="89"/>
                      <a:pt x="89" y="0"/>
                      <a:pt x="200" y="0"/>
                    </a:cubicBezTo>
                    <a:lnTo>
                      <a:pt x="3233" y="0"/>
                    </a:lnTo>
                    <a:cubicBezTo>
                      <a:pt x="3343" y="0"/>
                      <a:pt x="3433" y="89"/>
                      <a:pt x="3433" y="200"/>
                    </a:cubicBezTo>
                    <a:lnTo>
                      <a:pt x="3433" y="999"/>
                    </a:lnTo>
                    <a:cubicBezTo>
                      <a:pt x="3433" y="1110"/>
                      <a:pt x="3343" y="1200"/>
                      <a:pt x="3233" y="1200"/>
                    </a:cubicBezTo>
                    <a:lnTo>
                      <a:pt x="200" y="1200"/>
                    </a:lnTo>
                    <a:cubicBezTo>
                      <a:pt x="89" y="1200"/>
                      <a:pt x="0" y="1110"/>
                      <a:pt x="0" y="999"/>
                    </a:cubicBezTo>
                    <a:lnTo>
                      <a:pt x="0" y="200"/>
                    </a:lnTo>
                    <a:close/>
                  </a:path>
                </a:pathLst>
              </a:custGeom>
              <a:solidFill>
                <a:srgbClr val="47682D">
                  <a:alpha val="100000"/>
                </a:srgbClr>
              </a:solidFill>
              <a:ln cap="flat">
                <a:noFill/>
                <a:prstDash val="solid"/>
                <a:miter lim="0"/>
              </a:ln>
            </p:spPr>
            <p:txBody>
              <a:bodyPr rtlCol="0"/>
              <a:lstStyle/>
              <a:p>
                <a:pPr algn="ctr"/>
                <a:endParaRPr lang="zh-CN" altLang="en-US" sz="1350"/>
              </a:p>
            </p:txBody>
          </p:sp>
          <p:sp>
            <p:nvSpPr>
              <p:cNvPr id="246" name="path"/>
              <p:cNvSpPr/>
              <p:nvPr/>
            </p:nvSpPr>
            <p:spPr>
              <a:xfrm>
                <a:off x="82245" y="82245"/>
                <a:ext cx="2152008" cy="711301"/>
              </a:xfrm>
              <a:custGeom>
                <a:avLst/>
                <a:gdLst/>
                <a:ahLst/>
                <a:cxnLst/>
                <a:rect l="0" t="0" r="0" b="0"/>
                <a:pathLst>
                  <a:path w="3388" h="1120">
                    <a:moveTo>
                      <a:pt x="3358" y="886"/>
                    </a:moveTo>
                    <a:cubicBezTo>
                      <a:pt x="3358" y="998"/>
                      <a:pt x="3267" y="1089"/>
                      <a:pt x="3155" y="1089"/>
                    </a:cubicBezTo>
                  </a:path>
                </a:pathLst>
              </a:custGeom>
              <a:noFill/>
              <a:ln w="38709" cap="flat">
                <a:solidFill>
                  <a:srgbClr val="FFFFFF">
                    <a:alpha val="100000"/>
                  </a:srgbClr>
                </a:solidFill>
                <a:prstDash val="solid"/>
                <a:round/>
              </a:ln>
            </p:spPr>
            <p:txBody>
              <a:bodyPr rtlCol="0"/>
              <a:lstStyle/>
              <a:p>
                <a:pPr algn="ctr"/>
                <a:endParaRPr lang="zh-CN" altLang="en-US" sz="1350"/>
              </a:p>
            </p:txBody>
          </p:sp>
        </p:grpSp>
        <p:sp>
          <p:nvSpPr>
            <p:cNvPr id="248" name="path"/>
            <p:cNvSpPr/>
            <p:nvPr/>
          </p:nvSpPr>
          <p:spPr>
            <a:xfrm>
              <a:off x="0" y="0"/>
              <a:ext cx="2253608" cy="812901"/>
            </a:xfrm>
            <a:custGeom>
              <a:avLst/>
              <a:gdLst/>
              <a:ahLst/>
              <a:cxnLst/>
              <a:rect l="0" t="0" r="0" b="0"/>
              <a:pathLst>
                <a:path w="3548" h="1280">
                  <a:moveTo>
                    <a:pt x="30" y="233"/>
                  </a:moveTo>
                  <a:cubicBezTo>
                    <a:pt x="30" y="121"/>
                    <a:pt x="121" y="30"/>
                    <a:pt x="233" y="30"/>
                  </a:cubicBezTo>
                  <a:lnTo>
                    <a:pt x="3315" y="30"/>
                  </a:lnTo>
                  <a:cubicBezTo>
                    <a:pt x="3427" y="30"/>
                    <a:pt x="3518" y="121"/>
                    <a:pt x="3518" y="233"/>
                  </a:cubicBezTo>
                  <a:lnTo>
                    <a:pt x="3518" y="1046"/>
                  </a:lnTo>
                  <a:moveTo>
                    <a:pt x="233" y="1249"/>
                  </a:moveTo>
                  <a:cubicBezTo>
                    <a:pt x="121" y="1249"/>
                    <a:pt x="30" y="1158"/>
                    <a:pt x="30" y="1046"/>
                  </a:cubicBezTo>
                  <a:lnTo>
                    <a:pt x="30" y="233"/>
                  </a:lnTo>
                </a:path>
              </a:pathLst>
            </a:custGeom>
            <a:noFill/>
            <a:ln w="38709" cap="flat">
              <a:solidFill>
                <a:srgbClr val="FFFFFF">
                  <a:alpha val="100000"/>
                </a:srgbClr>
              </a:solidFill>
              <a:prstDash val="solid"/>
              <a:round/>
            </a:ln>
          </p:spPr>
          <p:txBody>
            <a:bodyPr rtlCol="0"/>
            <a:lstStyle/>
            <a:p>
              <a:pPr algn="ctr"/>
              <a:endParaRPr lang="zh-CN" altLang="en-US" sz="1350"/>
            </a:p>
          </p:txBody>
        </p:sp>
        <p:sp>
          <p:nvSpPr>
            <p:cNvPr id="250" name="textbox 250"/>
            <p:cNvSpPr/>
            <p:nvPr/>
          </p:nvSpPr>
          <p:spPr>
            <a:xfrm>
              <a:off x="599606" y="272083"/>
              <a:ext cx="1034414" cy="303529"/>
            </a:xfrm>
            <a:prstGeom prst="rect">
              <a:avLst/>
            </a:prstGeom>
          </p:spPr>
          <p:txBody>
            <a:bodyPr vert="horz" wrap="square" lIns="0" tIns="0" rIns="0" bIns="0"/>
            <a:lstStyle/>
            <a:p>
              <a:pPr algn="l" rtl="0" eaLnBrk="0">
                <a:lnSpc>
                  <a:spcPct val="86000"/>
                </a:lnSpc>
              </a:pPr>
              <a:endParaRPr lang="en-US" altLang="en-US" sz="100" dirty="0"/>
            </a:p>
            <a:p>
              <a:pPr marL="12700" algn="l" rtl="0" eaLnBrk="0">
                <a:lnSpc>
                  <a:spcPct val="91000"/>
                </a:lnSpc>
              </a:pPr>
              <a:r>
                <a:rPr sz="1500" kern="0" spc="-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工作态度</a:t>
              </a:r>
              <a:endParaRPr lang="en-US" altLang="en-US" sz="1500" dirty="0"/>
            </a:p>
          </p:txBody>
        </p:sp>
        <p:sp>
          <p:nvSpPr>
            <p:cNvPr id="252" name="rect"/>
            <p:cNvSpPr/>
            <p:nvPr/>
          </p:nvSpPr>
          <p:spPr>
            <a:xfrm>
              <a:off x="148390" y="774191"/>
              <a:ext cx="1956828" cy="38709"/>
            </a:xfrm>
            <a:prstGeom prst="rect">
              <a:avLst/>
            </a:prstGeom>
            <a:solidFill>
              <a:srgbClr val="FFFFFF">
                <a:alpha val="70196"/>
              </a:srgbClr>
            </a:solidFill>
            <a:ln cap="flat">
              <a:noFill/>
              <a:prstDash val="solid"/>
              <a:miter lim="0"/>
            </a:ln>
          </p:spPr>
          <p:txBody>
            <a:bodyPr rtlCol="0"/>
            <a:lstStyle/>
            <a:p>
              <a:pPr algn="ctr"/>
              <a:endParaRPr lang="zh-CN" altLang="en-US" sz="1350"/>
            </a:p>
          </p:txBody>
        </p:sp>
      </p:grpSp>
      <p:grpSp>
        <p:nvGrpSpPr>
          <p:cNvPr id="36" name="group 36"/>
          <p:cNvGrpSpPr/>
          <p:nvPr/>
        </p:nvGrpSpPr>
        <p:grpSpPr>
          <a:xfrm rot="21600000">
            <a:off x="6475604" y="2433107"/>
            <a:ext cx="1690207" cy="609676"/>
            <a:chOff x="0" y="0"/>
            <a:chExt cx="2253609" cy="812901"/>
          </a:xfrm>
        </p:grpSpPr>
        <p:sp>
          <p:nvSpPr>
            <p:cNvPr id="254" name="rect"/>
            <p:cNvSpPr/>
            <p:nvPr/>
          </p:nvSpPr>
          <p:spPr>
            <a:xfrm>
              <a:off x="19354" y="19354"/>
              <a:ext cx="2234255" cy="793546"/>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256" name="path"/>
            <p:cNvSpPr/>
            <p:nvPr/>
          </p:nvSpPr>
          <p:spPr>
            <a:xfrm>
              <a:off x="0" y="0"/>
              <a:ext cx="2253609" cy="812901"/>
            </a:xfrm>
            <a:custGeom>
              <a:avLst/>
              <a:gdLst/>
              <a:ahLst/>
              <a:cxnLst/>
              <a:rect l="0" t="0" r="0" b="0"/>
              <a:pathLst>
                <a:path w="3548" h="1280">
                  <a:moveTo>
                    <a:pt x="30" y="233"/>
                  </a:moveTo>
                  <a:cubicBezTo>
                    <a:pt x="30" y="121"/>
                    <a:pt x="121" y="30"/>
                    <a:pt x="233" y="30"/>
                  </a:cubicBezTo>
                  <a:lnTo>
                    <a:pt x="3315" y="30"/>
                  </a:lnTo>
                  <a:cubicBezTo>
                    <a:pt x="3427" y="30"/>
                    <a:pt x="3518" y="121"/>
                    <a:pt x="3518" y="233"/>
                  </a:cubicBezTo>
                  <a:lnTo>
                    <a:pt x="3518" y="1046"/>
                  </a:lnTo>
                  <a:moveTo>
                    <a:pt x="233" y="1249"/>
                  </a:moveTo>
                  <a:cubicBezTo>
                    <a:pt x="121" y="1249"/>
                    <a:pt x="30" y="1158"/>
                    <a:pt x="30" y="1046"/>
                  </a:cubicBezTo>
                  <a:lnTo>
                    <a:pt x="30" y="233"/>
                  </a:lnTo>
                </a:path>
              </a:pathLst>
            </a:custGeom>
            <a:noFill/>
            <a:ln w="38709" cap="flat">
              <a:solidFill>
                <a:srgbClr val="FFFFFF">
                  <a:alpha val="100000"/>
                </a:srgbClr>
              </a:solidFill>
              <a:prstDash val="solid"/>
              <a:round/>
            </a:ln>
          </p:spPr>
          <p:txBody>
            <a:bodyPr rtlCol="0"/>
            <a:lstStyle/>
            <a:p>
              <a:pPr algn="ctr"/>
              <a:endParaRPr lang="zh-CN" altLang="en-US" sz="1350"/>
            </a:p>
          </p:txBody>
        </p:sp>
        <p:sp>
          <p:nvSpPr>
            <p:cNvPr id="258" name="textbox 258"/>
            <p:cNvSpPr/>
            <p:nvPr/>
          </p:nvSpPr>
          <p:spPr>
            <a:xfrm>
              <a:off x="722031" y="272592"/>
              <a:ext cx="784859" cy="302895"/>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ct val="91000"/>
                </a:lnSpc>
              </a:pPr>
              <a:r>
                <a:rPr sz="1500"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适应性</a:t>
              </a:r>
              <a:endParaRPr lang="en-US" altLang="en-US" sz="1500" dirty="0"/>
            </a:p>
          </p:txBody>
        </p:sp>
        <p:sp>
          <p:nvSpPr>
            <p:cNvPr id="260" name="rect"/>
            <p:cNvSpPr/>
            <p:nvPr/>
          </p:nvSpPr>
          <p:spPr>
            <a:xfrm>
              <a:off x="148389" y="774191"/>
              <a:ext cx="1956831" cy="38709"/>
            </a:xfrm>
            <a:prstGeom prst="rect">
              <a:avLst/>
            </a:prstGeom>
            <a:solidFill>
              <a:srgbClr val="FFFFFF">
                <a:alpha val="70196"/>
              </a:srgbClr>
            </a:solidFill>
            <a:ln cap="flat">
              <a:noFill/>
              <a:prstDash val="solid"/>
              <a:miter lim="0"/>
            </a:ln>
          </p:spPr>
          <p:txBody>
            <a:bodyPr rtlCol="0"/>
            <a:lstStyle/>
            <a:p>
              <a:pPr algn="ctr"/>
              <a:endParaRPr lang="zh-CN" altLang="en-US" sz="1350"/>
            </a:p>
          </p:txBody>
        </p:sp>
      </p:grpSp>
      <p:grpSp>
        <p:nvGrpSpPr>
          <p:cNvPr id="38" name="group 38"/>
          <p:cNvGrpSpPr/>
          <p:nvPr/>
        </p:nvGrpSpPr>
        <p:grpSpPr>
          <a:xfrm rot="21600000">
            <a:off x="6475076" y="1837818"/>
            <a:ext cx="1690207" cy="609676"/>
            <a:chOff x="0" y="0"/>
            <a:chExt cx="2253609" cy="812901"/>
          </a:xfrm>
        </p:grpSpPr>
        <p:grpSp>
          <p:nvGrpSpPr>
            <p:cNvPr id="40" name="group 40"/>
            <p:cNvGrpSpPr/>
            <p:nvPr/>
          </p:nvGrpSpPr>
          <p:grpSpPr>
            <a:xfrm rot="21600000">
              <a:off x="0" y="0"/>
              <a:ext cx="2253609" cy="812901"/>
              <a:chOff x="0" y="0"/>
              <a:chExt cx="2253609" cy="812901"/>
            </a:xfrm>
          </p:grpSpPr>
          <p:sp>
            <p:nvSpPr>
              <p:cNvPr id="262" name="path"/>
              <p:cNvSpPr/>
              <p:nvPr/>
            </p:nvSpPr>
            <p:spPr>
              <a:xfrm>
                <a:off x="19355" y="19354"/>
                <a:ext cx="2180019" cy="762000"/>
              </a:xfrm>
              <a:custGeom>
                <a:avLst/>
                <a:gdLst/>
                <a:ahLst/>
                <a:cxnLst/>
                <a:rect l="0" t="0" r="0" b="0"/>
                <a:pathLst>
                  <a:path w="3433" h="1200">
                    <a:moveTo>
                      <a:pt x="0" y="200"/>
                    </a:moveTo>
                    <a:cubicBezTo>
                      <a:pt x="0" y="89"/>
                      <a:pt x="89" y="0"/>
                      <a:pt x="200" y="0"/>
                    </a:cubicBezTo>
                    <a:lnTo>
                      <a:pt x="3233" y="0"/>
                    </a:lnTo>
                    <a:cubicBezTo>
                      <a:pt x="3343" y="0"/>
                      <a:pt x="3433" y="89"/>
                      <a:pt x="3433" y="200"/>
                    </a:cubicBezTo>
                    <a:lnTo>
                      <a:pt x="3433" y="999"/>
                    </a:lnTo>
                    <a:cubicBezTo>
                      <a:pt x="3433" y="1110"/>
                      <a:pt x="3343" y="1200"/>
                      <a:pt x="3233" y="1200"/>
                    </a:cubicBezTo>
                    <a:lnTo>
                      <a:pt x="200" y="1200"/>
                    </a:lnTo>
                    <a:cubicBezTo>
                      <a:pt x="89" y="1200"/>
                      <a:pt x="0" y="1110"/>
                      <a:pt x="0" y="999"/>
                    </a:cubicBezTo>
                    <a:lnTo>
                      <a:pt x="0" y="200"/>
                    </a:lnTo>
                    <a:close/>
                  </a:path>
                </a:pathLst>
              </a:custGeom>
              <a:solidFill>
                <a:srgbClr val="974D0B">
                  <a:alpha val="100000"/>
                </a:srgbClr>
              </a:solidFill>
              <a:ln cap="flat">
                <a:noFill/>
                <a:prstDash val="solid"/>
                <a:miter lim="0"/>
              </a:ln>
            </p:spPr>
            <p:txBody>
              <a:bodyPr rtlCol="0"/>
              <a:lstStyle/>
              <a:p>
                <a:pPr algn="ctr"/>
                <a:endParaRPr lang="zh-CN" altLang="en-US" sz="1350"/>
              </a:p>
            </p:txBody>
          </p:sp>
          <p:sp>
            <p:nvSpPr>
              <p:cNvPr id="264" name="path"/>
              <p:cNvSpPr/>
              <p:nvPr/>
            </p:nvSpPr>
            <p:spPr>
              <a:xfrm>
                <a:off x="0" y="0"/>
                <a:ext cx="2253609" cy="812901"/>
              </a:xfrm>
              <a:custGeom>
                <a:avLst/>
                <a:gdLst/>
                <a:ahLst/>
                <a:cxnLst/>
                <a:rect l="0" t="0" r="0" b="0"/>
                <a:pathLst>
                  <a:path w="3548" h="1280">
                    <a:moveTo>
                      <a:pt x="30" y="233"/>
                    </a:moveTo>
                    <a:cubicBezTo>
                      <a:pt x="30" y="121"/>
                      <a:pt x="121" y="30"/>
                      <a:pt x="233" y="30"/>
                    </a:cubicBezTo>
                    <a:lnTo>
                      <a:pt x="3315" y="30"/>
                    </a:lnTo>
                    <a:cubicBezTo>
                      <a:pt x="3427" y="30"/>
                      <a:pt x="3518" y="121"/>
                      <a:pt x="3518" y="233"/>
                    </a:cubicBezTo>
                    <a:lnTo>
                      <a:pt x="3518" y="1046"/>
                    </a:lnTo>
                    <a:cubicBezTo>
                      <a:pt x="3518" y="1158"/>
                      <a:pt x="3427" y="1249"/>
                      <a:pt x="3315" y="1249"/>
                    </a:cubicBezTo>
                    <a:lnTo>
                      <a:pt x="233" y="1249"/>
                    </a:lnTo>
                    <a:cubicBezTo>
                      <a:pt x="121" y="1249"/>
                      <a:pt x="30" y="1158"/>
                      <a:pt x="30" y="1046"/>
                    </a:cubicBezTo>
                    <a:lnTo>
                      <a:pt x="30" y="233"/>
                    </a:lnTo>
                    <a:close/>
                  </a:path>
                </a:pathLst>
              </a:custGeom>
              <a:noFill/>
              <a:ln w="38709" cap="flat">
                <a:solidFill>
                  <a:srgbClr val="FFFFFF">
                    <a:alpha val="100000"/>
                  </a:srgbClr>
                </a:solidFill>
                <a:prstDash val="solid"/>
                <a:round/>
              </a:ln>
            </p:spPr>
            <p:txBody>
              <a:bodyPr rtlCol="0"/>
              <a:lstStyle/>
              <a:p>
                <a:pPr algn="ctr"/>
                <a:endParaRPr lang="zh-CN" altLang="en-US" sz="1350"/>
              </a:p>
            </p:txBody>
          </p:sp>
        </p:grpSp>
        <p:sp>
          <p:nvSpPr>
            <p:cNvPr id="266" name="textbox 266"/>
            <p:cNvSpPr/>
            <p:nvPr/>
          </p:nvSpPr>
          <p:spPr>
            <a:xfrm>
              <a:off x="-12700" y="-12700"/>
              <a:ext cx="2279014" cy="866775"/>
            </a:xfrm>
            <a:prstGeom prst="rect">
              <a:avLst/>
            </a:prstGeom>
          </p:spPr>
          <p:txBody>
            <a:bodyPr vert="horz" wrap="square" lIns="0" tIns="0" rIns="0" bIns="0"/>
            <a:lstStyle/>
            <a:p>
              <a:pPr algn="l" rtl="0" eaLnBrk="0">
                <a:lnSpc>
                  <a:spcPct val="195000"/>
                </a:lnSpc>
              </a:pPr>
              <a:endParaRPr lang="en-US" altLang="en-US" sz="750" dirty="0"/>
            </a:p>
            <a:p>
              <a:pPr marL="621665" algn="l" rtl="0" eaLnBrk="0">
                <a:lnSpc>
                  <a:spcPct val="91000"/>
                </a:lnSpc>
                <a:spcBef>
                  <a:spcPts val="5"/>
                </a:spcBef>
              </a:pPr>
              <a:r>
                <a:rPr sz="1500"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沟通能力</a:t>
              </a:r>
              <a:endParaRPr lang="en-US" altLang="en-US" sz="1500" dirty="0"/>
            </a:p>
          </p:txBody>
        </p:sp>
      </p:grpSp>
      <p:grpSp>
        <p:nvGrpSpPr>
          <p:cNvPr id="42" name="group 42"/>
          <p:cNvGrpSpPr/>
          <p:nvPr/>
        </p:nvGrpSpPr>
        <p:grpSpPr>
          <a:xfrm rot="21600000">
            <a:off x="4791091" y="3467531"/>
            <a:ext cx="1690207" cy="609676"/>
            <a:chOff x="0" y="0"/>
            <a:chExt cx="2253609" cy="812901"/>
          </a:xfrm>
        </p:grpSpPr>
        <p:sp>
          <p:nvSpPr>
            <p:cNvPr id="268" name="rect"/>
            <p:cNvSpPr/>
            <p:nvPr/>
          </p:nvSpPr>
          <p:spPr>
            <a:xfrm>
              <a:off x="19355" y="19354"/>
              <a:ext cx="2234254" cy="793546"/>
            </a:xfrm>
            <a:prstGeom prst="rect">
              <a:avLst/>
            </a:prstGeom>
            <a:solidFill>
              <a:srgbClr val="27618C">
                <a:alpha val="100000"/>
              </a:srgbClr>
            </a:solidFill>
            <a:ln cap="flat">
              <a:noFill/>
              <a:prstDash val="solid"/>
              <a:miter lim="0"/>
            </a:ln>
          </p:spPr>
          <p:txBody>
            <a:bodyPr rtlCol="0"/>
            <a:lstStyle/>
            <a:p>
              <a:pPr algn="ctr"/>
              <a:endParaRPr lang="zh-CN" altLang="en-US" sz="1350"/>
            </a:p>
          </p:txBody>
        </p:sp>
        <p:sp>
          <p:nvSpPr>
            <p:cNvPr id="270" name="path"/>
            <p:cNvSpPr/>
            <p:nvPr/>
          </p:nvSpPr>
          <p:spPr>
            <a:xfrm>
              <a:off x="0" y="0"/>
              <a:ext cx="2253609" cy="812901"/>
            </a:xfrm>
            <a:custGeom>
              <a:avLst/>
              <a:gdLst/>
              <a:ahLst/>
              <a:cxnLst/>
              <a:rect l="0" t="0" r="0" b="0"/>
              <a:pathLst>
                <a:path w="3548" h="1280">
                  <a:moveTo>
                    <a:pt x="30" y="233"/>
                  </a:moveTo>
                  <a:cubicBezTo>
                    <a:pt x="30" y="121"/>
                    <a:pt x="121" y="30"/>
                    <a:pt x="233" y="30"/>
                  </a:cubicBezTo>
                  <a:lnTo>
                    <a:pt x="3315" y="30"/>
                  </a:lnTo>
                  <a:cubicBezTo>
                    <a:pt x="3427" y="30"/>
                    <a:pt x="3518" y="121"/>
                    <a:pt x="3518" y="233"/>
                  </a:cubicBezTo>
                  <a:lnTo>
                    <a:pt x="3518" y="1046"/>
                  </a:lnTo>
                  <a:moveTo>
                    <a:pt x="233" y="1249"/>
                  </a:moveTo>
                  <a:cubicBezTo>
                    <a:pt x="121" y="1249"/>
                    <a:pt x="30" y="1158"/>
                    <a:pt x="30" y="1046"/>
                  </a:cubicBezTo>
                  <a:lnTo>
                    <a:pt x="30" y="233"/>
                  </a:lnTo>
                </a:path>
              </a:pathLst>
            </a:custGeom>
            <a:noFill/>
            <a:ln w="38709" cap="flat">
              <a:solidFill>
                <a:srgbClr val="FFFFFF">
                  <a:alpha val="100000"/>
                </a:srgbClr>
              </a:solidFill>
              <a:prstDash val="solid"/>
              <a:round/>
            </a:ln>
          </p:spPr>
          <p:txBody>
            <a:bodyPr rtlCol="0"/>
            <a:lstStyle/>
            <a:p>
              <a:pPr algn="ctr"/>
              <a:endParaRPr lang="zh-CN" altLang="en-US" sz="1350"/>
            </a:p>
          </p:txBody>
        </p:sp>
        <p:sp>
          <p:nvSpPr>
            <p:cNvPr id="272" name="textbox 272"/>
            <p:cNvSpPr/>
            <p:nvPr/>
          </p:nvSpPr>
          <p:spPr>
            <a:xfrm>
              <a:off x="595540" y="273354"/>
              <a:ext cx="1038860" cy="302259"/>
            </a:xfrm>
            <a:prstGeom prst="rect">
              <a:avLst/>
            </a:prstGeom>
          </p:spPr>
          <p:txBody>
            <a:bodyPr vert="horz" wrap="square" lIns="0" tIns="0" rIns="0" bIns="0"/>
            <a:lstStyle/>
            <a:p>
              <a:pPr algn="l" rtl="0" eaLnBrk="0">
                <a:lnSpc>
                  <a:spcPct val="78000"/>
                </a:lnSpc>
              </a:pPr>
              <a:endParaRPr lang="en-US" altLang="en-US" sz="100" dirty="0"/>
            </a:p>
            <a:p>
              <a:pPr marL="12700" algn="l" rtl="0" eaLnBrk="0">
                <a:lnSpc>
                  <a:spcPct val="91000"/>
                </a:lnSpc>
              </a:pPr>
              <a:r>
                <a:rPr sz="1500"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教育背景</a:t>
              </a:r>
              <a:endParaRPr lang="en-US" altLang="en-US" sz="1500" dirty="0"/>
            </a:p>
          </p:txBody>
        </p:sp>
        <p:sp>
          <p:nvSpPr>
            <p:cNvPr id="274" name="rect"/>
            <p:cNvSpPr/>
            <p:nvPr/>
          </p:nvSpPr>
          <p:spPr>
            <a:xfrm>
              <a:off x="148389" y="774192"/>
              <a:ext cx="1956829" cy="38709"/>
            </a:xfrm>
            <a:prstGeom prst="rect">
              <a:avLst/>
            </a:prstGeom>
            <a:solidFill>
              <a:srgbClr val="FFFFFF">
                <a:alpha val="70196"/>
              </a:srgbClr>
            </a:solidFill>
            <a:ln cap="flat">
              <a:noFill/>
              <a:prstDash val="solid"/>
              <a:miter lim="0"/>
            </a:ln>
          </p:spPr>
          <p:txBody>
            <a:bodyPr rtlCol="0"/>
            <a:lstStyle/>
            <a:p>
              <a:pPr algn="ctr"/>
              <a:endParaRPr lang="zh-CN" altLang="en-US" sz="1350"/>
            </a:p>
          </p:txBody>
        </p:sp>
      </p:grpSp>
      <p:grpSp>
        <p:nvGrpSpPr>
          <p:cNvPr id="44" name="group 44"/>
          <p:cNvGrpSpPr/>
          <p:nvPr/>
        </p:nvGrpSpPr>
        <p:grpSpPr>
          <a:xfrm rot="21600000">
            <a:off x="4791673" y="2803623"/>
            <a:ext cx="1690207" cy="609676"/>
            <a:chOff x="0" y="0"/>
            <a:chExt cx="2253609" cy="812901"/>
          </a:xfrm>
        </p:grpSpPr>
        <p:grpSp>
          <p:nvGrpSpPr>
            <p:cNvPr id="46" name="group 46"/>
            <p:cNvGrpSpPr/>
            <p:nvPr/>
          </p:nvGrpSpPr>
          <p:grpSpPr>
            <a:xfrm rot="21600000">
              <a:off x="0" y="0"/>
              <a:ext cx="2253609" cy="812901"/>
              <a:chOff x="0" y="0"/>
              <a:chExt cx="2253609" cy="812901"/>
            </a:xfrm>
          </p:grpSpPr>
          <p:sp>
            <p:nvSpPr>
              <p:cNvPr id="276" name="path"/>
              <p:cNvSpPr/>
              <p:nvPr/>
            </p:nvSpPr>
            <p:spPr>
              <a:xfrm>
                <a:off x="19355" y="19354"/>
                <a:ext cx="2180018" cy="762000"/>
              </a:xfrm>
              <a:custGeom>
                <a:avLst/>
                <a:gdLst/>
                <a:ahLst/>
                <a:cxnLst/>
                <a:rect l="0" t="0" r="0" b="0"/>
                <a:pathLst>
                  <a:path w="3433" h="1200">
                    <a:moveTo>
                      <a:pt x="0" y="200"/>
                    </a:moveTo>
                    <a:cubicBezTo>
                      <a:pt x="0" y="89"/>
                      <a:pt x="89" y="0"/>
                      <a:pt x="200" y="0"/>
                    </a:cubicBezTo>
                    <a:lnTo>
                      <a:pt x="3233" y="0"/>
                    </a:lnTo>
                    <a:cubicBezTo>
                      <a:pt x="3343" y="0"/>
                      <a:pt x="3433" y="89"/>
                      <a:pt x="3433" y="200"/>
                    </a:cubicBezTo>
                    <a:lnTo>
                      <a:pt x="3433" y="999"/>
                    </a:lnTo>
                    <a:cubicBezTo>
                      <a:pt x="3433" y="1110"/>
                      <a:pt x="3343" y="1200"/>
                      <a:pt x="3233" y="1200"/>
                    </a:cubicBezTo>
                    <a:lnTo>
                      <a:pt x="200" y="1200"/>
                    </a:lnTo>
                    <a:cubicBezTo>
                      <a:pt x="89" y="1200"/>
                      <a:pt x="0" y="1110"/>
                      <a:pt x="0" y="999"/>
                    </a:cubicBezTo>
                    <a:lnTo>
                      <a:pt x="0" y="200"/>
                    </a:lnTo>
                    <a:close/>
                  </a:path>
                </a:pathLst>
              </a:custGeom>
              <a:solidFill>
                <a:srgbClr val="898484">
                  <a:alpha val="100000"/>
                </a:srgbClr>
              </a:solidFill>
              <a:ln cap="flat">
                <a:noFill/>
                <a:prstDash val="solid"/>
                <a:miter lim="0"/>
              </a:ln>
            </p:spPr>
            <p:txBody>
              <a:bodyPr rtlCol="0"/>
              <a:lstStyle/>
              <a:p>
                <a:pPr algn="ctr"/>
                <a:endParaRPr lang="zh-CN" altLang="en-US" sz="1350"/>
              </a:p>
            </p:txBody>
          </p:sp>
          <p:sp>
            <p:nvSpPr>
              <p:cNvPr id="278" name="path"/>
              <p:cNvSpPr/>
              <p:nvPr/>
            </p:nvSpPr>
            <p:spPr>
              <a:xfrm>
                <a:off x="0" y="0"/>
                <a:ext cx="2253609" cy="812901"/>
              </a:xfrm>
              <a:custGeom>
                <a:avLst/>
                <a:gdLst/>
                <a:ahLst/>
                <a:cxnLst/>
                <a:rect l="0" t="0" r="0" b="0"/>
                <a:pathLst>
                  <a:path w="3548" h="1280">
                    <a:moveTo>
                      <a:pt x="30" y="233"/>
                    </a:moveTo>
                    <a:cubicBezTo>
                      <a:pt x="30" y="121"/>
                      <a:pt x="121" y="30"/>
                      <a:pt x="233" y="30"/>
                    </a:cubicBezTo>
                    <a:lnTo>
                      <a:pt x="3315" y="30"/>
                    </a:lnTo>
                    <a:cubicBezTo>
                      <a:pt x="3427" y="30"/>
                      <a:pt x="3518" y="121"/>
                      <a:pt x="3518" y="233"/>
                    </a:cubicBezTo>
                    <a:lnTo>
                      <a:pt x="3518" y="1046"/>
                    </a:lnTo>
                    <a:cubicBezTo>
                      <a:pt x="3518" y="1158"/>
                      <a:pt x="3427" y="1249"/>
                      <a:pt x="3315" y="1249"/>
                    </a:cubicBezTo>
                    <a:lnTo>
                      <a:pt x="233" y="1249"/>
                    </a:lnTo>
                    <a:cubicBezTo>
                      <a:pt x="121" y="1249"/>
                      <a:pt x="30" y="1158"/>
                      <a:pt x="30" y="1046"/>
                    </a:cubicBezTo>
                    <a:lnTo>
                      <a:pt x="30" y="233"/>
                    </a:lnTo>
                    <a:close/>
                  </a:path>
                </a:pathLst>
              </a:custGeom>
              <a:noFill/>
              <a:ln w="38709" cap="flat">
                <a:solidFill>
                  <a:srgbClr val="FFFFFF">
                    <a:alpha val="100000"/>
                  </a:srgbClr>
                </a:solidFill>
                <a:prstDash val="solid"/>
                <a:round/>
              </a:ln>
            </p:spPr>
            <p:txBody>
              <a:bodyPr rtlCol="0"/>
              <a:lstStyle/>
              <a:p>
                <a:pPr algn="ctr"/>
                <a:endParaRPr lang="zh-CN" altLang="en-US" sz="1350"/>
              </a:p>
            </p:txBody>
          </p:sp>
        </p:grpSp>
        <p:sp>
          <p:nvSpPr>
            <p:cNvPr id="280" name="textbox 280"/>
            <p:cNvSpPr/>
            <p:nvPr/>
          </p:nvSpPr>
          <p:spPr>
            <a:xfrm>
              <a:off x="-12700" y="-12700"/>
              <a:ext cx="2279014" cy="866139"/>
            </a:xfrm>
            <a:prstGeom prst="rect">
              <a:avLst/>
            </a:prstGeom>
          </p:spPr>
          <p:txBody>
            <a:bodyPr vert="horz" wrap="square" lIns="0" tIns="0" rIns="0" bIns="0"/>
            <a:lstStyle/>
            <a:p>
              <a:pPr algn="l" rtl="0" eaLnBrk="0">
                <a:lnSpc>
                  <a:spcPct val="195000"/>
                </a:lnSpc>
              </a:pPr>
              <a:endParaRPr lang="en-US" altLang="en-US" sz="750" dirty="0"/>
            </a:p>
            <a:p>
              <a:pPr marL="366395" algn="l" rtl="0" eaLnBrk="0">
                <a:lnSpc>
                  <a:spcPct val="91000"/>
                </a:lnSpc>
                <a:spcBef>
                  <a:spcPts val="5"/>
                </a:spcBef>
              </a:pPr>
              <a:r>
                <a:rPr sz="1500"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编程语言经验</a:t>
              </a:r>
              <a:endParaRPr lang="en-US" altLang="en-US" sz="1500" dirty="0"/>
            </a:p>
          </p:txBody>
        </p:sp>
      </p:grpSp>
      <p:grpSp>
        <p:nvGrpSpPr>
          <p:cNvPr id="48" name="group 48"/>
          <p:cNvGrpSpPr/>
          <p:nvPr/>
        </p:nvGrpSpPr>
        <p:grpSpPr>
          <a:xfrm rot="21600000">
            <a:off x="6483722" y="3640286"/>
            <a:ext cx="1690206" cy="609676"/>
            <a:chOff x="0" y="0"/>
            <a:chExt cx="2253608" cy="812901"/>
          </a:xfrm>
        </p:grpSpPr>
        <p:grpSp>
          <p:nvGrpSpPr>
            <p:cNvPr id="50" name="group 50"/>
            <p:cNvGrpSpPr/>
            <p:nvPr/>
          </p:nvGrpSpPr>
          <p:grpSpPr>
            <a:xfrm rot="21600000">
              <a:off x="19354" y="19354"/>
              <a:ext cx="2234254" cy="793546"/>
              <a:chOff x="0" y="0"/>
              <a:chExt cx="2234254" cy="793546"/>
            </a:xfrm>
          </p:grpSpPr>
          <p:sp>
            <p:nvSpPr>
              <p:cNvPr id="282" name="path"/>
              <p:cNvSpPr/>
              <p:nvPr/>
            </p:nvSpPr>
            <p:spPr>
              <a:xfrm>
                <a:off x="0" y="0"/>
                <a:ext cx="2180020" cy="762000"/>
              </a:xfrm>
              <a:custGeom>
                <a:avLst/>
                <a:gdLst/>
                <a:ahLst/>
                <a:cxnLst/>
                <a:rect l="0" t="0" r="0" b="0"/>
                <a:pathLst>
                  <a:path w="3433" h="1200">
                    <a:moveTo>
                      <a:pt x="0" y="200"/>
                    </a:moveTo>
                    <a:cubicBezTo>
                      <a:pt x="0" y="89"/>
                      <a:pt x="89" y="0"/>
                      <a:pt x="200" y="0"/>
                    </a:cubicBezTo>
                    <a:lnTo>
                      <a:pt x="3233" y="0"/>
                    </a:lnTo>
                    <a:cubicBezTo>
                      <a:pt x="3343" y="0"/>
                      <a:pt x="3433" y="89"/>
                      <a:pt x="3433" y="200"/>
                    </a:cubicBezTo>
                    <a:lnTo>
                      <a:pt x="3433" y="999"/>
                    </a:lnTo>
                    <a:cubicBezTo>
                      <a:pt x="3433" y="1110"/>
                      <a:pt x="3343" y="1200"/>
                      <a:pt x="3233" y="1200"/>
                    </a:cubicBezTo>
                    <a:lnTo>
                      <a:pt x="200" y="1200"/>
                    </a:lnTo>
                    <a:cubicBezTo>
                      <a:pt x="89" y="1200"/>
                      <a:pt x="0" y="1110"/>
                      <a:pt x="0" y="999"/>
                    </a:cubicBezTo>
                    <a:lnTo>
                      <a:pt x="0" y="200"/>
                    </a:lnTo>
                    <a:close/>
                  </a:path>
                </a:pathLst>
              </a:custGeom>
              <a:solidFill>
                <a:srgbClr val="7A4779">
                  <a:alpha val="100000"/>
                </a:srgbClr>
              </a:solidFill>
              <a:ln cap="flat">
                <a:noFill/>
                <a:prstDash val="solid"/>
                <a:miter lim="0"/>
              </a:ln>
            </p:spPr>
            <p:txBody>
              <a:bodyPr rtlCol="0"/>
              <a:lstStyle/>
              <a:p>
                <a:pPr algn="ctr"/>
                <a:endParaRPr lang="zh-CN" altLang="en-US" sz="1350"/>
              </a:p>
            </p:txBody>
          </p:sp>
          <p:sp>
            <p:nvSpPr>
              <p:cNvPr id="284" name="path"/>
              <p:cNvSpPr/>
              <p:nvPr/>
            </p:nvSpPr>
            <p:spPr>
              <a:xfrm>
                <a:off x="82245" y="82245"/>
                <a:ext cx="2152008" cy="711301"/>
              </a:xfrm>
              <a:custGeom>
                <a:avLst/>
                <a:gdLst/>
                <a:ahLst/>
                <a:cxnLst/>
                <a:rect l="0" t="0" r="0" b="0"/>
                <a:pathLst>
                  <a:path w="3388" h="1120">
                    <a:moveTo>
                      <a:pt x="3358" y="886"/>
                    </a:moveTo>
                    <a:cubicBezTo>
                      <a:pt x="3358" y="998"/>
                      <a:pt x="3267" y="1089"/>
                      <a:pt x="3155" y="1089"/>
                    </a:cubicBezTo>
                  </a:path>
                </a:pathLst>
              </a:custGeom>
              <a:noFill/>
              <a:ln w="38709" cap="flat">
                <a:solidFill>
                  <a:srgbClr val="FFFFFF">
                    <a:alpha val="100000"/>
                  </a:srgbClr>
                </a:solidFill>
                <a:prstDash val="solid"/>
                <a:round/>
              </a:ln>
            </p:spPr>
            <p:txBody>
              <a:bodyPr rtlCol="0"/>
              <a:lstStyle/>
              <a:p>
                <a:pPr algn="ctr"/>
                <a:endParaRPr lang="zh-CN" altLang="en-US" sz="1350"/>
              </a:p>
            </p:txBody>
          </p:sp>
        </p:grpSp>
        <p:sp>
          <p:nvSpPr>
            <p:cNvPr id="286" name="path"/>
            <p:cNvSpPr/>
            <p:nvPr/>
          </p:nvSpPr>
          <p:spPr>
            <a:xfrm>
              <a:off x="0" y="0"/>
              <a:ext cx="2253608" cy="812901"/>
            </a:xfrm>
            <a:custGeom>
              <a:avLst/>
              <a:gdLst/>
              <a:ahLst/>
              <a:cxnLst/>
              <a:rect l="0" t="0" r="0" b="0"/>
              <a:pathLst>
                <a:path w="3548" h="1280">
                  <a:moveTo>
                    <a:pt x="30" y="233"/>
                  </a:moveTo>
                  <a:cubicBezTo>
                    <a:pt x="30" y="121"/>
                    <a:pt x="121" y="30"/>
                    <a:pt x="233" y="30"/>
                  </a:cubicBezTo>
                  <a:lnTo>
                    <a:pt x="3315" y="30"/>
                  </a:lnTo>
                  <a:cubicBezTo>
                    <a:pt x="3427" y="30"/>
                    <a:pt x="3518" y="121"/>
                    <a:pt x="3518" y="233"/>
                  </a:cubicBezTo>
                  <a:lnTo>
                    <a:pt x="3518" y="1046"/>
                  </a:lnTo>
                  <a:moveTo>
                    <a:pt x="233" y="1249"/>
                  </a:moveTo>
                  <a:cubicBezTo>
                    <a:pt x="121" y="1249"/>
                    <a:pt x="30" y="1158"/>
                    <a:pt x="30" y="1046"/>
                  </a:cubicBezTo>
                  <a:lnTo>
                    <a:pt x="30" y="233"/>
                  </a:lnTo>
                </a:path>
              </a:pathLst>
            </a:custGeom>
            <a:noFill/>
            <a:ln w="38709" cap="flat">
              <a:solidFill>
                <a:srgbClr val="FFFFFF">
                  <a:alpha val="100000"/>
                </a:srgbClr>
              </a:solidFill>
              <a:prstDash val="solid"/>
              <a:round/>
            </a:ln>
          </p:spPr>
          <p:txBody>
            <a:bodyPr rtlCol="0"/>
            <a:lstStyle/>
            <a:p>
              <a:pPr algn="ctr"/>
              <a:endParaRPr lang="zh-CN" altLang="en-US" sz="1350"/>
            </a:p>
          </p:txBody>
        </p:sp>
        <p:sp>
          <p:nvSpPr>
            <p:cNvPr id="288" name="textbox 288"/>
            <p:cNvSpPr/>
            <p:nvPr/>
          </p:nvSpPr>
          <p:spPr>
            <a:xfrm>
              <a:off x="849794" y="276148"/>
              <a:ext cx="530225" cy="299720"/>
            </a:xfrm>
            <a:prstGeom prst="rect">
              <a:avLst/>
            </a:prstGeom>
          </p:spPr>
          <p:txBody>
            <a:bodyPr vert="horz" wrap="square" lIns="0" tIns="0" rIns="0" bIns="0"/>
            <a:lstStyle/>
            <a:p>
              <a:pPr algn="l" rtl="0" eaLnBrk="0">
                <a:lnSpc>
                  <a:spcPct val="80000"/>
                </a:lnSpc>
              </a:pPr>
              <a:endParaRPr lang="en-US" altLang="en-US" sz="100" dirty="0"/>
            </a:p>
            <a:p>
              <a:pPr marL="12700" algn="l" rtl="0" eaLnBrk="0">
                <a:lnSpc>
                  <a:spcPct val="90000"/>
                </a:lnSpc>
              </a:pPr>
              <a:r>
                <a:rPr sz="1500" kern="0" spc="-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个性</a:t>
              </a:r>
              <a:endParaRPr lang="en-US" altLang="en-US" sz="1500" dirty="0"/>
            </a:p>
          </p:txBody>
        </p:sp>
        <p:sp>
          <p:nvSpPr>
            <p:cNvPr id="290" name="rect"/>
            <p:cNvSpPr/>
            <p:nvPr/>
          </p:nvSpPr>
          <p:spPr>
            <a:xfrm>
              <a:off x="148390" y="774191"/>
              <a:ext cx="1956828" cy="38709"/>
            </a:xfrm>
            <a:prstGeom prst="rect">
              <a:avLst/>
            </a:prstGeom>
            <a:solidFill>
              <a:srgbClr val="FFFFFF">
                <a:alpha val="70196"/>
              </a:srgbClr>
            </a:solidFill>
            <a:ln cap="flat">
              <a:noFill/>
              <a:prstDash val="solid"/>
              <a:miter lim="0"/>
            </a:ln>
          </p:spPr>
          <p:txBody>
            <a:bodyPr rtlCol="0"/>
            <a:lstStyle/>
            <a:p>
              <a:pPr algn="ctr"/>
              <a:endParaRPr lang="zh-CN" altLang="en-US" sz="1350"/>
            </a:p>
          </p:txBody>
        </p:sp>
      </p:grpSp>
      <p:pic>
        <p:nvPicPr>
          <p:cNvPr id="292" name="picture 292"/>
          <p:cNvPicPr>
            <a:picLocks noChangeAspect="1"/>
          </p:cNvPicPr>
          <p:nvPr/>
        </p:nvPicPr>
        <p:blipFill>
          <a:blip r:embed="rId2"/>
          <a:stretch>
            <a:fillRect/>
          </a:stretch>
        </p:blipFill>
        <p:spPr>
          <a:xfrm rot="21600000">
            <a:off x="3930173" y="2128481"/>
            <a:ext cx="502758" cy="1331117"/>
          </a:xfrm>
          <a:prstGeom prst="rect">
            <a:avLst/>
          </a:prstGeom>
        </p:spPr>
      </p:pic>
      <p:sp>
        <p:nvSpPr>
          <p:cNvPr id="3" name="标题 2"/>
          <p:cNvSpPr>
            <a:spLocks noGrp="1"/>
          </p:cNvSpPr>
          <p:nvPr>
            <p:ph type="title"/>
          </p:nvPr>
        </p:nvSpPr>
        <p:spPr/>
        <p:txBody>
          <a:bodyPr/>
          <a:p>
            <a:r>
              <a:rPr lang="zh-CN" altLang="en-US" dirty="0"/>
              <a:t>人员的选择</a:t>
            </a:r>
            <a:endParaRPr lang="en-US"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298" name="textbox 298"/>
          <p:cNvSpPr/>
          <p:nvPr>
            <p:custDataLst>
              <p:tags r:id="rId1"/>
            </p:custDataLst>
          </p:nvPr>
        </p:nvSpPr>
        <p:spPr>
          <a:xfrm>
            <a:off x="4978397" y="2946400"/>
            <a:ext cx="1866900" cy="1067276"/>
          </a:xfrm>
          <a:prstGeom prst="rect">
            <a:avLst/>
          </a:prstGeom>
          <a:solidFill>
            <a:srgbClr val="ACCEEA">
              <a:alpha val="25882"/>
            </a:srgbClr>
          </a:solidFill>
        </p:spPr>
        <p:txBody>
          <a:bodyPr vert="horz" wrap="square" lIns="0" tIns="0" rIns="0" bIns="0"/>
          <a:lstStyle/>
          <a:p>
            <a:pPr algn="l" rtl="0" eaLnBrk="0">
              <a:lnSpc>
                <a:spcPct val="101000"/>
              </a:lnSpc>
            </a:pPr>
            <a:endParaRPr lang="en-US" altLang="en-US" sz="675" dirty="0"/>
          </a:p>
          <a:p>
            <a:pPr marL="280670" algn="l" rtl="0" eaLnBrk="0">
              <a:lnSpc>
                <a:spcPct val="90000"/>
              </a:lnSpc>
              <a:spcBef>
                <a:spcPts val="0"/>
              </a:spcBef>
            </a:pPr>
            <a:r>
              <a:rPr sz="1650" kern="0" spc="-10" dirty="0">
                <a:solidFill>
                  <a:srgbClr val="99006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理性外向型的人</a:t>
            </a:r>
            <a:endParaRPr lang="en-US" altLang="en-US" sz="1650" dirty="0"/>
          </a:p>
          <a:p>
            <a:pPr marL="286385" algn="l" rtl="0" eaLnBrk="0">
              <a:lnSpc>
                <a:spcPct val="90000"/>
              </a:lnSpc>
              <a:spcBef>
                <a:spcPts val="1025"/>
              </a:spcBef>
            </a:pP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告诉别人</a:t>
            </a:r>
            <a:endParaRPr lang="en-US" altLang="en-US" sz="1650" dirty="0"/>
          </a:p>
          <a:p>
            <a:pPr algn="l" rtl="0" eaLnBrk="0">
              <a:lnSpc>
                <a:spcPct val="103000"/>
              </a:lnSpc>
            </a:pPr>
            <a:endParaRPr lang="en-US" altLang="en-US" sz="600" dirty="0"/>
          </a:p>
          <a:p>
            <a:pPr algn="l" rtl="0" eaLnBrk="0">
              <a:lnSpc>
                <a:spcPct val="8000"/>
              </a:lnSpc>
            </a:pPr>
            <a:endParaRPr lang="en-US" altLang="en-US" sz="100" dirty="0"/>
          </a:p>
          <a:p>
            <a:pPr marL="283210" algn="l" rtl="0" eaLnBrk="0">
              <a:lnSpc>
                <a:spcPct val="91000"/>
              </a:lnSpc>
            </a:pP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按逻辑做决策</a:t>
            </a:r>
            <a:endParaRPr lang="en-US" altLang="en-US" sz="1650" dirty="0"/>
          </a:p>
        </p:txBody>
      </p:sp>
      <p:sp>
        <p:nvSpPr>
          <p:cNvPr id="300" name="textbox 300"/>
          <p:cNvSpPr/>
          <p:nvPr>
            <p:custDataLst>
              <p:tags r:id="rId2"/>
            </p:custDataLst>
          </p:nvPr>
        </p:nvSpPr>
        <p:spPr>
          <a:xfrm>
            <a:off x="2298698" y="2946400"/>
            <a:ext cx="1866900" cy="1067276"/>
          </a:xfrm>
          <a:prstGeom prst="rect">
            <a:avLst/>
          </a:prstGeom>
          <a:solidFill>
            <a:srgbClr val="ACCEEA">
              <a:alpha val="26274"/>
            </a:srgbClr>
          </a:solidFill>
        </p:spPr>
        <p:txBody>
          <a:bodyPr vert="horz" wrap="square" lIns="0" tIns="0" rIns="0" bIns="0"/>
          <a:lstStyle/>
          <a:p>
            <a:pPr algn="l" rtl="0" eaLnBrk="0">
              <a:lnSpc>
                <a:spcPct val="112000"/>
              </a:lnSpc>
            </a:pPr>
            <a:endParaRPr lang="en-US" altLang="en-US" sz="600" dirty="0"/>
          </a:p>
          <a:p>
            <a:pPr marL="234950" algn="l" rtl="0" eaLnBrk="0">
              <a:lnSpc>
                <a:spcPct val="90000"/>
              </a:lnSpc>
              <a:spcBef>
                <a:spcPts val="5"/>
              </a:spcBef>
            </a:pPr>
            <a:r>
              <a:rPr sz="1650" kern="0" spc="-10" dirty="0">
                <a:solidFill>
                  <a:srgbClr val="008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理性内向型的人</a:t>
            </a:r>
            <a:endParaRPr lang="en-US" altLang="en-US" sz="1650" dirty="0"/>
          </a:p>
          <a:p>
            <a:pPr marL="516890" algn="l" rtl="0" eaLnBrk="0">
              <a:lnSpc>
                <a:spcPct val="83000"/>
              </a:lnSpc>
              <a:spcBef>
                <a:spcPts val="980"/>
              </a:spcBef>
            </a:pP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征求别人意见</a:t>
            </a:r>
            <a:endParaRPr lang="en-US" altLang="en-US" sz="1650" dirty="0"/>
          </a:p>
          <a:p>
            <a:pPr marL="516255" algn="l" rtl="0" eaLnBrk="0">
              <a:lnSpc>
                <a:spcPts val="3415"/>
              </a:lnSpc>
            </a:pP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按逻辑做决策</a:t>
            </a:r>
            <a:endParaRPr lang="en-US" altLang="en-US" sz="1650" dirty="0"/>
          </a:p>
        </p:txBody>
      </p:sp>
      <p:sp>
        <p:nvSpPr>
          <p:cNvPr id="302" name="textbox 302"/>
          <p:cNvSpPr/>
          <p:nvPr>
            <p:custDataLst>
              <p:tags r:id="rId3"/>
            </p:custDataLst>
          </p:nvPr>
        </p:nvSpPr>
        <p:spPr>
          <a:xfrm>
            <a:off x="2298701" y="1562100"/>
            <a:ext cx="1866900" cy="1066800"/>
          </a:xfrm>
          <a:prstGeom prst="rect">
            <a:avLst/>
          </a:prstGeom>
          <a:solidFill>
            <a:srgbClr val="ACCEEA">
              <a:alpha val="26666"/>
            </a:srgbClr>
          </a:solidFill>
        </p:spPr>
        <p:txBody>
          <a:bodyPr vert="horz" wrap="square" lIns="0" tIns="0" rIns="0" bIns="0"/>
          <a:lstStyle/>
          <a:p>
            <a:pPr algn="l" rtl="0" eaLnBrk="0">
              <a:lnSpc>
                <a:spcPct val="100000"/>
              </a:lnSpc>
            </a:pPr>
            <a:endParaRPr lang="en-US" altLang="en-US" sz="750" dirty="0"/>
          </a:p>
          <a:p>
            <a:pPr marL="240030" algn="l" rtl="0" eaLnBrk="0">
              <a:lnSpc>
                <a:spcPct val="91000"/>
              </a:lnSpc>
              <a:spcBef>
                <a:spcPts val="5"/>
              </a:spcBef>
            </a:pPr>
            <a:r>
              <a:rPr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感性内向型的人</a:t>
            </a:r>
            <a:endParaRPr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240030" algn="l" rtl="0" eaLnBrk="0">
              <a:lnSpc>
                <a:spcPct val="91000"/>
              </a:lnSpc>
              <a:spcBef>
                <a:spcPts val="5"/>
              </a:spcBef>
            </a:pPr>
            <a:r>
              <a:rPr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征求别人意见</a:t>
            </a:r>
            <a:endParaRPr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240030" algn="l" rtl="0" eaLnBrk="0">
              <a:lnSpc>
                <a:spcPct val="91000"/>
              </a:lnSpc>
              <a:spcBef>
                <a:spcPts val="5"/>
              </a:spcBef>
            </a:pPr>
            <a:r>
              <a:rPr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依靠感觉</a:t>
            </a:r>
            <a:endParaRPr lang="en-US" altLang="en-US"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4" name="textbox 304"/>
          <p:cNvSpPr/>
          <p:nvPr>
            <p:custDataLst>
              <p:tags r:id="rId4"/>
            </p:custDataLst>
          </p:nvPr>
        </p:nvSpPr>
        <p:spPr>
          <a:xfrm>
            <a:off x="4978397" y="1562100"/>
            <a:ext cx="1866900" cy="1066800"/>
          </a:xfrm>
          <a:prstGeom prst="rect">
            <a:avLst/>
          </a:prstGeom>
          <a:solidFill>
            <a:srgbClr val="ACCEEA">
              <a:alpha val="26274"/>
            </a:srgbClr>
          </a:solidFill>
        </p:spPr>
        <p:txBody>
          <a:bodyPr vert="horz" wrap="square" lIns="0" tIns="0" rIns="0" bIns="0"/>
          <a:lstStyle/>
          <a:p>
            <a:pPr algn="l" rtl="0" eaLnBrk="0">
              <a:lnSpc>
                <a:spcPct val="101000"/>
              </a:lnSpc>
            </a:pPr>
            <a:endParaRPr lang="en-US" altLang="en-US" sz="750" dirty="0"/>
          </a:p>
          <a:p>
            <a:pPr marL="286385" algn="l" rtl="0" eaLnBrk="0">
              <a:lnSpc>
                <a:spcPct val="91000"/>
              </a:lnSpc>
              <a:spcBef>
                <a:spcPts val="5"/>
              </a:spcBef>
            </a:pPr>
            <a:r>
              <a:rPr sz="1650" kern="0" spc="-10" dirty="0">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感性外向型的人</a:t>
            </a:r>
            <a:endParaRPr lang="en-US" altLang="en-US" sz="1650" dirty="0"/>
          </a:p>
          <a:p>
            <a:pPr marL="288290" algn="l" rtl="0" eaLnBrk="0">
              <a:lnSpc>
                <a:spcPct val="82000"/>
              </a:lnSpc>
              <a:spcBef>
                <a:spcPts val="1005"/>
              </a:spcBef>
            </a:pP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告诉别人</a:t>
            </a:r>
            <a:endParaRPr lang="en-US" altLang="en-US" sz="1650" dirty="0"/>
          </a:p>
          <a:p>
            <a:pPr marL="283845" algn="l" rtl="0" eaLnBrk="0">
              <a:lnSpc>
                <a:spcPts val="3405"/>
              </a:lnSpc>
            </a:pP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依靠感觉</a:t>
            </a:r>
            <a:endParaRPr lang="en-US" altLang="en-US" sz="1650" dirty="0"/>
          </a:p>
        </p:txBody>
      </p:sp>
      <p:pic>
        <p:nvPicPr>
          <p:cNvPr id="306" name="picture 306"/>
          <p:cNvPicPr>
            <a:picLocks noChangeAspect="1"/>
          </p:cNvPicPr>
          <p:nvPr>
            <p:custDataLst>
              <p:tags r:id="rId5"/>
            </p:custDataLst>
          </p:nvPr>
        </p:nvPicPr>
        <p:blipFill>
          <a:blip r:embed="rId6"/>
          <a:stretch>
            <a:fillRect/>
          </a:stretch>
        </p:blipFill>
        <p:spPr>
          <a:xfrm rot="21600000">
            <a:off x="7098333" y="3158146"/>
            <a:ext cx="1106023" cy="1202453"/>
          </a:xfrm>
          <a:prstGeom prst="rect">
            <a:avLst/>
          </a:prstGeom>
        </p:spPr>
      </p:pic>
      <p:pic>
        <p:nvPicPr>
          <p:cNvPr id="308" name="picture 308"/>
          <p:cNvPicPr>
            <a:picLocks noChangeAspect="1"/>
          </p:cNvPicPr>
          <p:nvPr>
            <p:custDataLst>
              <p:tags r:id="rId7"/>
            </p:custDataLst>
          </p:nvPr>
        </p:nvPicPr>
        <p:blipFill>
          <a:blip r:embed="rId8"/>
          <a:stretch>
            <a:fillRect/>
          </a:stretch>
        </p:blipFill>
        <p:spPr>
          <a:xfrm rot="21600000">
            <a:off x="963701" y="3101971"/>
            <a:ext cx="1093235" cy="1180875"/>
          </a:xfrm>
          <a:prstGeom prst="rect">
            <a:avLst/>
          </a:prstGeom>
        </p:spPr>
      </p:pic>
      <p:pic>
        <p:nvPicPr>
          <p:cNvPr id="310" name="picture 310"/>
          <p:cNvPicPr>
            <a:picLocks noChangeAspect="1"/>
          </p:cNvPicPr>
          <p:nvPr>
            <p:custDataLst>
              <p:tags r:id="rId9"/>
            </p:custDataLst>
          </p:nvPr>
        </p:nvPicPr>
        <p:blipFill>
          <a:blip r:embed="rId10"/>
          <a:stretch>
            <a:fillRect/>
          </a:stretch>
        </p:blipFill>
        <p:spPr>
          <a:xfrm rot="21600000">
            <a:off x="7054747" y="1100780"/>
            <a:ext cx="1174492" cy="1090151"/>
          </a:xfrm>
          <a:prstGeom prst="rect">
            <a:avLst/>
          </a:prstGeom>
        </p:spPr>
      </p:pic>
      <p:pic>
        <p:nvPicPr>
          <p:cNvPr id="312" name="picture 312"/>
          <p:cNvPicPr>
            <a:picLocks noChangeAspect="1"/>
          </p:cNvPicPr>
          <p:nvPr>
            <p:custDataLst>
              <p:tags r:id="rId11"/>
            </p:custDataLst>
          </p:nvPr>
        </p:nvPicPr>
        <p:blipFill>
          <a:blip r:embed="rId12"/>
          <a:stretch>
            <a:fillRect/>
          </a:stretch>
        </p:blipFill>
        <p:spPr>
          <a:xfrm rot="21600000">
            <a:off x="950996" y="1144568"/>
            <a:ext cx="1103058" cy="1052714"/>
          </a:xfrm>
          <a:prstGeom prst="rect">
            <a:avLst/>
          </a:prstGeom>
        </p:spPr>
      </p:pic>
      <p:grpSp>
        <p:nvGrpSpPr>
          <p:cNvPr id="54" name="group 54"/>
          <p:cNvGrpSpPr/>
          <p:nvPr>
            <p:custDataLst>
              <p:tags r:id="rId13"/>
            </p:custDataLst>
          </p:nvPr>
        </p:nvGrpSpPr>
        <p:grpSpPr>
          <a:xfrm rot="21600000">
            <a:off x="1935451" y="2711930"/>
            <a:ext cx="5375393" cy="57150"/>
            <a:chOff x="0" y="0"/>
            <a:chExt cx="7167190" cy="76200"/>
          </a:xfrm>
        </p:grpSpPr>
        <p:sp>
          <p:nvSpPr>
            <p:cNvPr id="330" name="path"/>
            <p:cNvSpPr/>
            <p:nvPr>
              <p:custDataLst>
                <p:tags r:id="rId14"/>
              </p:custDataLst>
            </p:nvPr>
          </p:nvSpPr>
          <p:spPr>
            <a:xfrm>
              <a:off x="0" y="28422"/>
              <a:ext cx="7167190" cy="19354"/>
            </a:xfrm>
            <a:custGeom>
              <a:avLst/>
              <a:gdLst/>
              <a:ahLst/>
              <a:cxnLst/>
              <a:rect l="0" t="0" r="0" b="0"/>
              <a:pathLst>
                <a:path w="11286" h="30">
                  <a:moveTo>
                    <a:pt x="0" y="15"/>
                  </a:moveTo>
                  <a:lnTo>
                    <a:pt x="11286" y="15"/>
                  </a:lnTo>
                </a:path>
              </a:pathLst>
            </a:custGeom>
            <a:noFill/>
            <a:ln w="19354" cap="flat">
              <a:solidFill>
                <a:srgbClr val="000000">
                  <a:alpha val="100000"/>
                </a:srgbClr>
              </a:solidFill>
              <a:prstDash val="solid"/>
              <a:miter lim="800000"/>
            </a:ln>
          </p:spPr>
          <p:txBody>
            <a:bodyPr rtlCol="0"/>
            <a:lstStyle/>
            <a:p>
              <a:pPr algn="ctr"/>
              <a:endParaRPr lang="zh-CN" altLang="en-US" sz="1350"/>
            </a:p>
          </p:txBody>
        </p:sp>
        <p:sp>
          <p:nvSpPr>
            <p:cNvPr id="332" name="path"/>
            <p:cNvSpPr/>
            <p:nvPr>
              <p:custDataLst>
                <p:tags r:id="rId15"/>
              </p:custDataLst>
            </p:nvPr>
          </p:nvSpPr>
          <p:spPr>
            <a:xfrm>
              <a:off x="6968976" y="0"/>
              <a:ext cx="127000" cy="76200"/>
            </a:xfrm>
            <a:custGeom>
              <a:avLst/>
              <a:gdLst/>
              <a:ahLst/>
              <a:cxnLst/>
              <a:rect l="0" t="0" r="0" b="0"/>
              <a:pathLst>
                <a:path w="200" h="120">
                  <a:moveTo>
                    <a:pt x="0" y="0"/>
                  </a:moveTo>
                  <a:lnTo>
                    <a:pt x="200" y="60"/>
                  </a:lnTo>
                  <a:lnTo>
                    <a:pt x="0" y="120"/>
                  </a:lnTo>
                  <a:lnTo>
                    <a:pt x="0" y="0"/>
                  </a:lnTo>
                  <a:close/>
                </a:path>
              </a:pathLst>
            </a:custGeom>
            <a:solidFill>
              <a:srgbClr val="000000">
                <a:alpha val="100000"/>
              </a:srgbClr>
            </a:solidFill>
            <a:ln cap="flat">
              <a:noFill/>
              <a:prstDash val="solid"/>
              <a:miter lim="0"/>
            </a:ln>
          </p:spPr>
          <p:txBody>
            <a:bodyPr rtlCol="0"/>
            <a:lstStyle/>
            <a:p>
              <a:pPr algn="ctr"/>
              <a:endParaRPr lang="zh-CN" altLang="en-US" sz="1350"/>
            </a:p>
          </p:txBody>
        </p:sp>
      </p:grpSp>
      <p:grpSp>
        <p:nvGrpSpPr>
          <p:cNvPr id="56" name="group 56"/>
          <p:cNvGrpSpPr/>
          <p:nvPr>
            <p:custDataLst>
              <p:tags r:id="rId16"/>
            </p:custDataLst>
          </p:nvPr>
        </p:nvGrpSpPr>
        <p:grpSpPr>
          <a:xfrm rot="21600000">
            <a:off x="4557679" y="1357999"/>
            <a:ext cx="57150" cy="2721365"/>
            <a:chOff x="0" y="0"/>
            <a:chExt cx="76200" cy="3628487"/>
          </a:xfrm>
        </p:grpSpPr>
        <p:sp>
          <p:nvSpPr>
            <p:cNvPr id="334" name="path"/>
            <p:cNvSpPr/>
            <p:nvPr>
              <p:custDataLst>
                <p:tags r:id="rId17"/>
              </p:custDataLst>
            </p:nvPr>
          </p:nvSpPr>
          <p:spPr>
            <a:xfrm>
              <a:off x="28422" y="0"/>
              <a:ext cx="19354" cy="3628487"/>
            </a:xfrm>
            <a:custGeom>
              <a:avLst/>
              <a:gdLst/>
              <a:ahLst/>
              <a:cxnLst/>
              <a:rect l="0" t="0" r="0" b="0"/>
              <a:pathLst>
                <a:path w="30" h="5714">
                  <a:moveTo>
                    <a:pt x="15" y="5714"/>
                  </a:moveTo>
                  <a:lnTo>
                    <a:pt x="15" y="0"/>
                  </a:lnTo>
                </a:path>
              </a:pathLst>
            </a:custGeom>
            <a:noFill/>
            <a:ln w="19354" cap="flat">
              <a:solidFill>
                <a:srgbClr val="000000">
                  <a:alpha val="100000"/>
                </a:srgbClr>
              </a:solidFill>
              <a:prstDash val="solid"/>
              <a:miter lim="800000"/>
            </a:ln>
          </p:spPr>
          <p:txBody>
            <a:bodyPr rtlCol="0"/>
            <a:lstStyle/>
            <a:p>
              <a:pPr algn="ctr"/>
              <a:endParaRPr lang="zh-CN" altLang="en-US" sz="1350"/>
            </a:p>
          </p:txBody>
        </p:sp>
        <p:sp>
          <p:nvSpPr>
            <p:cNvPr id="336" name="path"/>
            <p:cNvSpPr/>
            <p:nvPr>
              <p:custDataLst>
                <p:tags r:id="rId18"/>
              </p:custDataLst>
            </p:nvPr>
          </p:nvSpPr>
          <p:spPr>
            <a:xfrm>
              <a:off x="0" y="15484"/>
              <a:ext cx="76200" cy="127000"/>
            </a:xfrm>
            <a:custGeom>
              <a:avLst/>
              <a:gdLst/>
              <a:ahLst/>
              <a:cxnLst/>
              <a:rect l="0" t="0" r="0" b="0"/>
              <a:pathLst>
                <a:path w="120" h="200">
                  <a:moveTo>
                    <a:pt x="120" y="200"/>
                  </a:moveTo>
                  <a:lnTo>
                    <a:pt x="60" y="0"/>
                  </a:lnTo>
                  <a:lnTo>
                    <a:pt x="0" y="200"/>
                  </a:lnTo>
                  <a:lnTo>
                    <a:pt x="120" y="200"/>
                  </a:lnTo>
                  <a:close/>
                </a:path>
              </a:pathLst>
            </a:custGeom>
            <a:solidFill>
              <a:srgbClr val="000000">
                <a:alpha val="100000"/>
              </a:srgbClr>
            </a:solidFill>
            <a:ln cap="flat">
              <a:noFill/>
              <a:prstDash val="solid"/>
              <a:miter lim="0"/>
            </a:ln>
          </p:spPr>
          <p:txBody>
            <a:bodyPr rtlCol="0"/>
            <a:lstStyle/>
            <a:p>
              <a:pPr algn="ctr"/>
              <a:endParaRPr lang="zh-CN" altLang="en-US" sz="1350"/>
            </a:p>
          </p:txBody>
        </p:sp>
      </p:grpSp>
      <p:sp>
        <p:nvSpPr>
          <p:cNvPr id="338" name="textbox 338"/>
          <p:cNvSpPr/>
          <p:nvPr>
            <p:custDataLst>
              <p:tags r:id="rId19"/>
            </p:custDataLst>
          </p:nvPr>
        </p:nvSpPr>
        <p:spPr>
          <a:xfrm>
            <a:off x="7377776" y="2633450"/>
            <a:ext cx="437198" cy="246697"/>
          </a:xfrm>
          <a:prstGeom prst="rect">
            <a:avLst/>
          </a:prstGeom>
        </p:spPr>
        <p:txBody>
          <a:bodyPr vert="horz" wrap="square" lIns="0" tIns="0" rIns="0" bIns="0"/>
          <a:lstStyle/>
          <a:p>
            <a:pPr algn="l" rtl="0" eaLnBrk="0">
              <a:lnSpc>
                <a:spcPct val="92000"/>
              </a:lnSpc>
            </a:pPr>
            <a:endParaRPr lang="en-US" altLang="en-US" sz="100" dirty="0"/>
          </a:p>
          <a:p>
            <a:pPr marL="12700" algn="l" rtl="0" eaLnBrk="0">
              <a:lnSpc>
                <a:spcPct val="90000"/>
              </a:lnSpc>
            </a:pP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外向</a:t>
            </a:r>
            <a:endParaRPr lang="en-US" altLang="en-US" sz="1650" dirty="0"/>
          </a:p>
        </p:txBody>
      </p:sp>
      <p:sp>
        <p:nvSpPr>
          <p:cNvPr id="340" name="textbox 340"/>
          <p:cNvSpPr/>
          <p:nvPr>
            <p:custDataLst>
              <p:tags r:id="rId20"/>
            </p:custDataLst>
          </p:nvPr>
        </p:nvSpPr>
        <p:spPr>
          <a:xfrm>
            <a:off x="4378649" y="1060810"/>
            <a:ext cx="433863" cy="247174"/>
          </a:xfrm>
          <a:prstGeom prst="rect">
            <a:avLst/>
          </a:prstGeom>
        </p:spPr>
        <p:txBody>
          <a:bodyPr vert="horz" wrap="square" lIns="0" tIns="0" rIns="0" bIns="0"/>
          <a:lstStyle/>
          <a:p>
            <a:pPr algn="l" rtl="0" eaLnBrk="0">
              <a:lnSpc>
                <a:spcPct val="76000"/>
              </a:lnSpc>
            </a:pPr>
            <a:endParaRPr lang="en-US" altLang="en-US" sz="100" dirty="0"/>
          </a:p>
          <a:p>
            <a:pPr marL="12700" algn="l" rtl="0" eaLnBrk="0">
              <a:lnSpc>
                <a:spcPct val="91000"/>
              </a:lnSpc>
            </a:pP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感性</a:t>
            </a:r>
            <a:endParaRPr lang="en-US" altLang="en-US" sz="1650" dirty="0"/>
          </a:p>
        </p:txBody>
      </p:sp>
      <p:sp>
        <p:nvSpPr>
          <p:cNvPr id="342" name="textbox 342"/>
          <p:cNvSpPr/>
          <p:nvPr>
            <p:custDataLst>
              <p:tags r:id="rId21"/>
            </p:custDataLst>
          </p:nvPr>
        </p:nvSpPr>
        <p:spPr>
          <a:xfrm>
            <a:off x="4374564" y="4225993"/>
            <a:ext cx="436721" cy="245269"/>
          </a:xfrm>
          <a:prstGeom prst="rect">
            <a:avLst/>
          </a:prstGeom>
        </p:spPr>
        <p:txBody>
          <a:bodyPr vert="horz" wrap="square" lIns="0" tIns="0" rIns="0" bIns="0"/>
          <a:lstStyle/>
          <a:p>
            <a:pPr algn="l" rtl="0" eaLnBrk="0">
              <a:lnSpc>
                <a:spcPct val="79000"/>
              </a:lnSpc>
            </a:pPr>
            <a:endParaRPr lang="en-US" altLang="en-US" sz="100" dirty="0"/>
          </a:p>
          <a:p>
            <a:pPr marL="12700" algn="l" rtl="0" eaLnBrk="0">
              <a:lnSpc>
                <a:spcPct val="90000"/>
              </a:lnSpc>
            </a:pP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理性</a:t>
            </a:r>
            <a:endParaRPr lang="en-US" altLang="en-US" sz="1650" dirty="0"/>
          </a:p>
        </p:txBody>
      </p:sp>
      <p:sp>
        <p:nvSpPr>
          <p:cNvPr id="344" name="textbox 344"/>
          <p:cNvSpPr/>
          <p:nvPr>
            <p:custDataLst>
              <p:tags r:id="rId22"/>
            </p:custDataLst>
          </p:nvPr>
        </p:nvSpPr>
        <p:spPr>
          <a:xfrm>
            <a:off x="1392364" y="2635184"/>
            <a:ext cx="417671" cy="246697"/>
          </a:xfrm>
          <a:prstGeom prst="rect">
            <a:avLst/>
          </a:prstGeom>
        </p:spPr>
        <p:txBody>
          <a:bodyPr vert="horz" wrap="square" lIns="0" tIns="0" rIns="0" bIns="0"/>
          <a:lstStyle/>
          <a:p>
            <a:pPr algn="l" rtl="0" eaLnBrk="0">
              <a:lnSpc>
                <a:spcPct val="93000"/>
              </a:lnSpc>
            </a:pPr>
            <a:endParaRPr lang="en-US" altLang="en-US" sz="100" dirty="0"/>
          </a:p>
          <a:p>
            <a:pPr algn="r" rtl="0" eaLnBrk="0">
              <a:lnSpc>
                <a:spcPct val="90000"/>
              </a:lnSpc>
            </a:pPr>
            <a:r>
              <a:rPr sz="1650" kern="0" spc="-1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内向</a:t>
            </a:r>
            <a:endParaRPr lang="en-US" altLang="en-US" sz="1650" dirty="0"/>
          </a:p>
        </p:txBody>
      </p:sp>
      <p:sp>
        <p:nvSpPr>
          <p:cNvPr id="346" name="path"/>
          <p:cNvSpPr/>
          <p:nvPr>
            <p:custDataLst>
              <p:tags r:id="rId23"/>
            </p:custDataLst>
          </p:nvPr>
        </p:nvSpPr>
        <p:spPr>
          <a:xfrm>
            <a:off x="1903193" y="2711930"/>
            <a:ext cx="95250" cy="57150"/>
          </a:xfrm>
          <a:custGeom>
            <a:avLst/>
            <a:gdLst/>
            <a:ahLst/>
            <a:cxnLst/>
            <a:rect l="0" t="0" r="0" b="0"/>
            <a:pathLst>
              <a:path w="200" h="120">
                <a:moveTo>
                  <a:pt x="200" y="120"/>
                </a:moveTo>
                <a:lnTo>
                  <a:pt x="0" y="60"/>
                </a:lnTo>
                <a:lnTo>
                  <a:pt x="200" y="0"/>
                </a:lnTo>
                <a:lnTo>
                  <a:pt x="200" y="120"/>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348" name="path"/>
          <p:cNvSpPr/>
          <p:nvPr>
            <p:custDataLst>
              <p:tags r:id="rId24"/>
            </p:custDataLst>
          </p:nvPr>
        </p:nvSpPr>
        <p:spPr>
          <a:xfrm>
            <a:off x="4557679" y="4016373"/>
            <a:ext cx="57150" cy="95250"/>
          </a:xfrm>
          <a:custGeom>
            <a:avLst/>
            <a:gdLst/>
            <a:ahLst/>
            <a:cxnLst/>
            <a:rect l="0" t="0" r="0" b="0"/>
            <a:pathLst>
              <a:path w="120" h="200">
                <a:moveTo>
                  <a:pt x="0" y="0"/>
                </a:moveTo>
                <a:lnTo>
                  <a:pt x="60" y="200"/>
                </a:lnTo>
                <a:lnTo>
                  <a:pt x="120" y="0"/>
                </a:lnTo>
                <a:lnTo>
                  <a:pt x="0" y="0"/>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3" name="标题 2"/>
          <p:cNvSpPr>
            <a:spLocks noGrp="1"/>
          </p:cNvSpPr>
          <p:nvPr>
            <p:ph type="title"/>
          </p:nvPr>
        </p:nvSpPr>
        <p:spPr/>
        <p:txBody>
          <a:bodyPr/>
          <a:p>
            <a:r>
              <a:rPr lang="zh-CN" altLang="en-US" dirty="0"/>
              <a:t>人员的选择</a:t>
            </a:r>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textbox 350"/>
          <p:cNvSpPr/>
          <p:nvPr/>
        </p:nvSpPr>
        <p:spPr>
          <a:xfrm>
            <a:off x="4859210" y="1423747"/>
            <a:ext cx="3459956" cy="2543651"/>
          </a:xfrm>
          <a:prstGeom prst="rect">
            <a:avLst/>
          </a:prstGeom>
        </p:spPr>
        <p:txBody>
          <a:bodyPr vert="horz" wrap="square" lIns="0" tIns="0" rIns="0" bIns="0"/>
          <a:lstStyle/>
          <a:p>
            <a:pPr algn="l" rtl="0" eaLnBrk="0">
              <a:lnSpc>
                <a:spcPct val="79000"/>
              </a:lnSpc>
            </a:pPr>
            <a:endParaRPr lang="en-US" altLang="en-US" sz="100" dirty="0"/>
          </a:p>
          <a:p>
            <a:pPr marL="344170" indent="-331470" algn="l" rtl="0" eaLnBrk="0">
              <a:lnSpc>
                <a:spcPct val="110000"/>
              </a:lnSpc>
            </a:pPr>
            <a:r>
              <a:rPr sz="1650" kern="0" spc="20" dirty="0">
                <a:solidFill>
                  <a:srgbClr val="000000">
                    <a:alpha val="100000"/>
                  </a:srgbClr>
                </a:solidFill>
                <a:latin typeface="Arial" panose="020B0604020202020204"/>
                <a:ea typeface="Arial" panose="020B0604020202020204"/>
                <a:cs typeface="Arial" panose="020B0604020202020204"/>
              </a:rPr>
              <a:t>•   </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应该考虑团</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队中的技术、经验和    </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个性是否整体均衡 。</a:t>
            </a:r>
            <a:endParaRPr lang="en-US" altLang="en-US" sz="1650" dirty="0"/>
          </a:p>
          <a:p>
            <a:pPr algn="l" rtl="0" eaLnBrk="0">
              <a:lnSpc>
                <a:spcPct val="181000"/>
              </a:lnSpc>
            </a:pPr>
            <a:endParaRPr lang="en-US" altLang="en-US" sz="750" dirty="0"/>
          </a:p>
          <a:p>
            <a:pPr marL="346075" indent="-333375" algn="l" rtl="0" eaLnBrk="0">
              <a:lnSpc>
                <a:spcPct val="117000"/>
              </a:lnSpc>
              <a:spcBef>
                <a:spcPts val="665"/>
              </a:spcBef>
            </a:pPr>
            <a:r>
              <a:rPr sz="1650" kern="0" spc="20" dirty="0">
                <a:solidFill>
                  <a:srgbClr val="000000">
                    <a:alpha val="100000"/>
                  </a:srgbClr>
                </a:solidFill>
                <a:latin typeface="Arial" panose="020B0604020202020204"/>
                <a:ea typeface="Arial" panose="020B0604020202020204"/>
                <a:cs typeface="Arial" panose="020B0604020202020204"/>
              </a:rPr>
              <a:t>•   </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选择性格互</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补的成员组成的团队    </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可能比仅仅根据技术能</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力选择成    </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员的团队更有效率。</a:t>
            </a:r>
            <a:endParaRPr lang="en-US" altLang="en-US" sz="1650" dirty="0"/>
          </a:p>
          <a:p>
            <a:pPr algn="l" rtl="0" eaLnBrk="0">
              <a:lnSpc>
                <a:spcPct val="177000"/>
              </a:lnSpc>
            </a:pPr>
            <a:endParaRPr lang="en-US" altLang="en-US" sz="750" dirty="0"/>
          </a:p>
          <a:p>
            <a:pPr algn="l" rtl="0" eaLnBrk="0">
              <a:lnSpc>
                <a:spcPct val="111000"/>
              </a:lnSpc>
            </a:pPr>
            <a:endParaRPr lang="en-US" altLang="en-US" sz="375" dirty="0"/>
          </a:p>
          <a:p>
            <a:pPr marL="348615" indent="-335915" algn="l" rtl="0" eaLnBrk="0">
              <a:lnSpc>
                <a:spcPct val="110000"/>
              </a:lnSpc>
              <a:spcBef>
                <a:spcPts val="5"/>
              </a:spcBef>
            </a:pPr>
            <a:r>
              <a:rPr sz="1650" kern="0" spc="0" dirty="0">
                <a:solidFill>
                  <a:srgbClr val="000000">
                    <a:alpha val="100000"/>
                  </a:srgbClr>
                </a:solidFill>
                <a:latin typeface="Arial" panose="020B0604020202020204"/>
                <a:ea typeface="Arial" panose="020B0604020202020204"/>
                <a:cs typeface="Arial" panose="020B0604020202020204"/>
              </a:rPr>
              <a:t>•   </a:t>
            </a: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团队的领导力来自于成员</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的尊重 ， 而不是名义上的头衔。</a:t>
            </a:r>
            <a:endParaRPr lang="en-US" altLang="en-US" sz="1650" dirty="0"/>
          </a:p>
        </p:txBody>
      </p:sp>
      <p:pic>
        <p:nvPicPr>
          <p:cNvPr id="352" name="picture 352"/>
          <p:cNvPicPr>
            <a:picLocks noChangeAspect="1"/>
          </p:cNvPicPr>
          <p:nvPr/>
        </p:nvPicPr>
        <p:blipFill>
          <a:blip r:embed="rId1"/>
          <a:stretch>
            <a:fillRect/>
          </a:stretch>
        </p:blipFill>
        <p:spPr>
          <a:xfrm rot="21600000">
            <a:off x="1097738" y="1409378"/>
            <a:ext cx="3241046" cy="2577244"/>
          </a:xfrm>
          <a:prstGeom prst="rect">
            <a:avLst/>
          </a:prstGeom>
        </p:spPr>
      </p:pic>
      <p:sp>
        <p:nvSpPr>
          <p:cNvPr id="354"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3" name="标题 2"/>
          <p:cNvSpPr>
            <a:spLocks noGrp="1"/>
          </p:cNvSpPr>
          <p:nvPr>
            <p:ph type="title"/>
          </p:nvPr>
        </p:nvSpPr>
        <p:spPr/>
        <p:txBody>
          <a:bodyPr/>
          <a:p>
            <a:r>
              <a:rPr lang="zh-CN" altLang="en-US" dirty="0"/>
              <a:t>人员的选择</a:t>
            </a:r>
            <a:endParaRPr lang="en-US" altLang="zh-C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2" name="picture 372"/>
          <p:cNvPicPr>
            <a:picLocks noChangeAspect="1"/>
          </p:cNvPicPr>
          <p:nvPr/>
        </p:nvPicPr>
        <p:blipFill>
          <a:blip r:embed="rId1"/>
          <a:stretch>
            <a:fillRect/>
          </a:stretch>
        </p:blipFill>
        <p:spPr>
          <a:xfrm rot="21600000">
            <a:off x="1010625" y="2113818"/>
            <a:ext cx="6997085" cy="2271804"/>
          </a:xfrm>
          <a:prstGeom prst="rect">
            <a:avLst/>
          </a:prstGeom>
        </p:spPr>
      </p:pic>
      <p:sp>
        <p:nvSpPr>
          <p:cNvPr id="374" name="textbox 374"/>
          <p:cNvSpPr/>
          <p:nvPr/>
        </p:nvSpPr>
        <p:spPr>
          <a:xfrm>
            <a:off x="924434" y="1179168"/>
            <a:ext cx="7330439" cy="764858"/>
          </a:xfrm>
          <a:prstGeom prst="rect">
            <a:avLst/>
          </a:prstGeom>
          <a:solidFill>
            <a:srgbClr val="EBEAEA"/>
          </a:solidFill>
        </p:spPr>
        <p:txBody>
          <a:bodyPr vert="horz" wrap="square" lIns="0" tIns="0" rIns="0" bIns="0"/>
          <a:lstStyle/>
          <a:p>
            <a:pPr algn="l" rtl="0" eaLnBrk="0">
              <a:lnSpc>
                <a:spcPct val="136000"/>
              </a:lnSpc>
            </a:pPr>
            <a:endParaRPr lang="en-US" altLang="en-US" sz="750" dirty="0"/>
          </a:p>
          <a:p>
            <a:pPr algn="l" rtl="0" eaLnBrk="0">
              <a:lnSpc>
                <a:spcPct val="8000"/>
              </a:lnSpc>
            </a:pPr>
            <a:endParaRPr lang="en-US" altLang="en-US" sz="100" dirty="0"/>
          </a:p>
          <a:p>
            <a:pPr marL="271780" algn="l" rtl="0" eaLnBrk="0">
              <a:lnSpc>
                <a:spcPct val="83000"/>
              </a:lnSpc>
            </a:pPr>
            <a:r>
              <a:rPr sz="1650" kern="0" spc="-40" dirty="0">
                <a:solidFill>
                  <a:srgbClr val="3300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团队</a:t>
            </a:r>
            <a:r>
              <a:rPr sz="165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是由若干人组成的一个群体 ，他们具有互补的技能 ，</a:t>
            </a:r>
            <a:r>
              <a:rPr sz="16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对一个共同目的、</a:t>
            </a:r>
            <a:endParaRPr lang="en-US" altLang="en-US" sz="1650" dirty="0"/>
          </a:p>
          <a:p>
            <a:pPr marL="255905" algn="l" rtl="0" eaLnBrk="0">
              <a:lnSpc>
                <a:spcPts val="3105"/>
              </a:lnSpc>
            </a:pP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绩效目标及方法做出承诺并</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彼此负责。</a:t>
            </a:r>
            <a:endParaRPr lang="en-US" altLang="en-US" sz="1650" dirty="0"/>
          </a:p>
        </p:txBody>
      </p:sp>
      <p:sp>
        <p:nvSpPr>
          <p:cNvPr id="376"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3" name="标题 2"/>
          <p:cNvSpPr>
            <a:spLocks noGrp="1"/>
          </p:cNvSpPr>
          <p:nvPr>
            <p:ph type="title"/>
          </p:nvPr>
        </p:nvSpPr>
        <p:spPr/>
        <p:txBody>
          <a:bodyPr/>
          <a:p>
            <a:r>
              <a:rPr lang="zh-CN" altLang="en-US" dirty="0"/>
              <a:t>团队的概念</a:t>
            </a:r>
            <a:endParaRPr lang="en-US" altLang="zh-C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textbox 394"/>
          <p:cNvSpPr/>
          <p:nvPr/>
        </p:nvSpPr>
        <p:spPr>
          <a:xfrm>
            <a:off x="1052264" y="2312082"/>
            <a:ext cx="4633913" cy="1781175"/>
          </a:xfrm>
          <a:prstGeom prst="rect">
            <a:avLst/>
          </a:prstGeom>
        </p:spPr>
        <p:txBody>
          <a:bodyPr vert="horz" wrap="square" lIns="0" tIns="0" rIns="0" bIns="0"/>
          <a:lstStyle/>
          <a:p>
            <a:pPr algn="l" rtl="0" eaLnBrk="0">
              <a:lnSpc>
                <a:spcPct val="78000"/>
              </a:lnSpc>
            </a:pPr>
            <a:endParaRPr lang="en-US" altLang="en-US" sz="100" dirty="0"/>
          </a:p>
          <a:p>
            <a:pPr marL="12700" algn="l" rtl="0" eaLnBrk="0">
              <a:lnSpc>
                <a:spcPct val="91000"/>
              </a:lnSpc>
            </a:pPr>
            <a:r>
              <a:rPr sz="1650" kern="0" spc="0" dirty="0">
                <a:solidFill>
                  <a:srgbClr val="000000">
                    <a:alpha val="100000"/>
                  </a:srgbClr>
                </a:solidFill>
                <a:latin typeface="Arial" panose="020B0604020202020204"/>
                <a:ea typeface="Arial" panose="020B0604020202020204"/>
                <a:cs typeface="Arial" panose="020B0604020202020204"/>
              </a:rPr>
              <a:t>•  </a:t>
            </a: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设定具有挑战性的团队目标</a:t>
            </a:r>
            <a:endParaRPr lang="en-US" altLang="en-US" sz="1650" dirty="0"/>
          </a:p>
          <a:p>
            <a:pPr marL="12700" algn="l" rtl="0" eaLnBrk="0">
              <a:lnSpc>
                <a:spcPts val="2840"/>
              </a:lnSpc>
              <a:spcBef>
                <a:spcPts val="1195"/>
              </a:spcBef>
            </a:pPr>
            <a:r>
              <a:rPr sz="1650" kern="0" spc="-20" dirty="0">
                <a:solidFill>
                  <a:srgbClr val="000000">
                    <a:alpha val="100000"/>
                  </a:srgbClr>
                </a:solidFill>
                <a:latin typeface="Arial" panose="020B0604020202020204"/>
                <a:ea typeface="Arial" panose="020B0604020202020204"/>
                <a:cs typeface="Arial" panose="020B0604020202020204"/>
              </a:rPr>
              <a:t>•  </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营造一种支持性的环</a:t>
            </a:r>
            <a:r>
              <a:rPr sz="16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境（沟通交流 ，团队学习）</a:t>
            </a:r>
            <a:endParaRPr lang="en-US" altLang="en-US" sz="1650" dirty="0"/>
          </a:p>
          <a:p>
            <a:pPr marL="12700" algn="l" rtl="0" eaLnBrk="0">
              <a:lnSpc>
                <a:spcPct val="91000"/>
              </a:lnSpc>
              <a:spcBef>
                <a:spcPts val="1560"/>
              </a:spcBef>
            </a:pPr>
            <a:r>
              <a:rPr sz="1650" kern="0" spc="-40" dirty="0">
                <a:solidFill>
                  <a:srgbClr val="000000">
                    <a:alpha val="100000"/>
                  </a:srgbClr>
                </a:solidFill>
                <a:latin typeface="Arial" panose="020B0604020202020204"/>
                <a:ea typeface="Arial" panose="020B0604020202020204"/>
                <a:cs typeface="Arial" panose="020B0604020202020204"/>
              </a:rPr>
              <a:t>•</a:t>
            </a:r>
            <a:r>
              <a:rPr sz="1650" kern="0" spc="190" dirty="0">
                <a:solidFill>
                  <a:srgbClr val="000000">
                    <a:alpha val="100000"/>
                  </a:srgbClr>
                </a:solidFill>
                <a:latin typeface="Arial" panose="020B0604020202020204"/>
                <a:ea typeface="Arial" panose="020B0604020202020204"/>
                <a:cs typeface="Arial" panose="020B0604020202020204"/>
              </a:rPr>
              <a:t>  </a:t>
            </a:r>
            <a:r>
              <a:rPr sz="165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团队成员的自豪感</a:t>
            </a:r>
            <a:endParaRPr lang="en-US" altLang="en-US" sz="1650" dirty="0"/>
          </a:p>
          <a:p>
            <a:pPr marL="12700" algn="l" rtl="0" eaLnBrk="0">
              <a:lnSpc>
                <a:spcPct val="91000"/>
              </a:lnSpc>
              <a:spcBef>
                <a:spcPts val="1600"/>
              </a:spcBef>
            </a:pPr>
            <a:r>
              <a:rPr sz="1650" kern="0" spc="0" dirty="0">
                <a:solidFill>
                  <a:srgbClr val="000000">
                    <a:alpha val="100000"/>
                  </a:srgbClr>
                </a:solidFill>
                <a:latin typeface="Arial" panose="020B0604020202020204"/>
                <a:ea typeface="Arial" panose="020B0604020202020204"/>
                <a:cs typeface="Arial" panose="020B0604020202020204"/>
              </a:rPr>
              <a:t>•  </a:t>
            </a: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让每一位成员的才能与角色相匹配</a:t>
            </a:r>
            <a:endParaRPr lang="en-US" altLang="en-US" sz="1650" dirty="0"/>
          </a:p>
          <a:p>
            <a:pPr algn="l" rtl="0" eaLnBrk="0">
              <a:lnSpc>
                <a:spcPct val="101000"/>
              </a:lnSpc>
            </a:pPr>
            <a:endParaRPr lang="en-US" altLang="en-US" sz="1050" dirty="0"/>
          </a:p>
          <a:p>
            <a:pPr marL="12700" algn="l" rtl="0" eaLnBrk="0">
              <a:lnSpc>
                <a:spcPct val="91000"/>
              </a:lnSpc>
              <a:spcBef>
                <a:spcPts val="0"/>
              </a:spcBef>
            </a:pPr>
            <a:r>
              <a:rPr sz="1650" kern="0" spc="-20" dirty="0">
                <a:solidFill>
                  <a:srgbClr val="000000">
                    <a:alpha val="100000"/>
                  </a:srgbClr>
                </a:solidFill>
                <a:latin typeface="Arial" panose="020B0604020202020204"/>
                <a:ea typeface="Arial" panose="020B0604020202020204"/>
                <a:cs typeface="Arial" panose="020B0604020202020204"/>
              </a:rPr>
              <a:t>•</a:t>
            </a:r>
            <a:r>
              <a:rPr sz="1650" kern="0" spc="90" dirty="0">
                <a:solidFill>
                  <a:srgbClr val="000000">
                    <a:alpha val="100000"/>
                  </a:srgbClr>
                </a:solidFill>
                <a:latin typeface="Arial" panose="020B0604020202020204"/>
                <a:ea typeface="Arial" panose="020B0604020202020204"/>
                <a:cs typeface="Arial" panose="020B0604020202020204"/>
              </a:rPr>
              <a:t>  </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正确的绩效评估</a:t>
            </a:r>
            <a:endParaRPr lang="en-US" altLang="en-US" sz="1650" dirty="0"/>
          </a:p>
        </p:txBody>
      </p:sp>
      <p:sp>
        <p:nvSpPr>
          <p:cNvPr id="396" name="textbox 396"/>
          <p:cNvSpPr/>
          <p:nvPr/>
        </p:nvSpPr>
        <p:spPr>
          <a:xfrm>
            <a:off x="924434" y="1179168"/>
            <a:ext cx="7330439" cy="764858"/>
          </a:xfrm>
          <a:prstGeom prst="rect">
            <a:avLst/>
          </a:prstGeom>
          <a:solidFill>
            <a:srgbClr val="EBEAEA"/>
          </a:solidFill>
        </p:spPr>
        <p:txBody>
          <a:bodyPr vert="horz" wrap="square" lIns="0" tIns="0" rIns="0" bIns="0"/>
          <a:lstStyle/>
          <a:p>
            <a:pPr algn="l" rtl="0" eaLnBrk="0">
              <a:lnSpc>
                <a:spcPct val="136000"/>
              </a:lnSpc>
            </a:pPr>
            <a:endParaRPr lang="en-US" altLang="en-US" sz="750" dirty="0"/>
          </a:p>
          <a:p>
            <a:pPr algn="l" rtl="0" eaLnBrk="0">
              <a:lnSpc>
                <a:spcPct val="8000"/>
              </a:lnSpc>
            </a:pPr>
            <a:endParaRPr lang="en-US" altLang="en-US" sz="100" dirty="0"/>
          </a:p>
          <a:p>
            <a:pPr marL="271780" algn="l" rtl="0" eaLnBrk="0">
              <a:lnSpc>
                <a:spcPct val="83000"/>
              </a:lnSpc>
            </a:pPr>
            <a:r>
              <a:rPr sz="1650" kern="0" spc="-40" dirty="0">
                <a:solidFill>
                  <a:srgbClr val="3300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团队</a:t>
            </a:r>
            <a:r>
              <a:rPr sz="165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是由若干人组成的一个群体 ，他们具有互补的技能 ，</a:t>
            </a:r>
            <a:r>
              <a:rPr sz="16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对一个共同目的、</a:t>
            </a:r>
            <a:endParaRPr lang="en-US" altLang="en-US" sz="1650" dirty="0"/>
          </a:p>
          <a:p>
            <a:pPr marL="255905" algn="l" rtl="0" eaLnBrk="0">
              <a:lnSpc>
                <a:spcPts val="3105"/>
              </a:lnSpc>
            </a:pP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绩效目标及方法做出承诺并</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彼此负责。</a:t>
            </a:r>
            <a:endParaRPr lang="en-US" altLang="en-US" sz="1650" dirty="0"/>
          </a:p>
        </p:txBody>
      </p:sp>
      <p:pic>
        <p:nvPicPr>
          <p:cNvPr id="398" name="picture 398"/>
          <p:cNvPicPr>
            <a:picLocks noChangeAspect="1"/>
          </p:cNvPicPr>
          <p:nvPr/>
        </p:nvPicPr>
        <p:blipFill>
          <a:blip r:embed="rId1"/>
          <a:stretch>
            <a:fillRect/>
          </a:stretch>
        </p:blipFill>
        <p:spPr>
          <a:xfrm rot="21600000">
            <a:off x="5631068" y="2218185"/>
            <a:ext cx="2529227" cy="1977396"/>
          </a:xfrm>
          <a:prstGeom prst="rect">
            <a:avLst/>
          </a:prstGeom>
        </p:spPr>
      </p:pic>
      <p:sp>
        <p:nvSpPr>
          <p:cNvPr id="400"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3" name="标题 2"/>
          <p:cNvSpPr>
            <a:spLocks noGrp="1"/>
          </p:cNvSpPr>
          <p:nvPr>
            <p:ph type="title"/>
          </p:nvPr>
        </p:nvSpPr>
        <p:spPr/>
        <p:txBody>
          <a:bodyPr/>
          <a:p>
            <a:r>
              <a:rPr lang="zh-CN" altLang="en-US" dirty="0"/>
              <a:t>团队的概念</a:t>
            </a:r>
            <a:endParaRPr lang="en-US" altLang="zh-C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textbox 418"/>
          <p:cNvSpPr/>
          <p:nvPr/>
        </p:nvSpPr>
        <p:spPr>
          <a:xfrm>
            <a:off x="4353248" y="2192589"/>
            <a:ext cx="3552825" cy="1980723"/>
          </a:xfrm>
          <a:prstGeom prst="rect">
            <a:avLst/>
          </a:prstGeom>
        </p:spPr>
        <p:txBody>
          <a:bodyPr vert="horz" wrap="square" lIns="0" tIns="0" rIns="0" bIns="0"/>
          <a:lstStyle/>
          <a:p>
            <a:pPr algn="l" rtl="0" eaLnBrk="0">
              <a:lnSpc>
                <a:spcPct val="86000"/>
              </a:lnSpc>
            </a:pPr>
            <a:endParaRPr lang="en-US" altLang="en-US" sz="100" dirty="0"/>
          </a:p>
          <a:p>
            <a:pPr marL="269240" indent="-256540" algn="l" rtl="0" eaLnBrk="0">
              <a:lnSpc>
                <a:spcPct val="104000"/>
              </a:lnSpc>
            </a:pPr>
            <a:r>
              <a:rPr sz="1650" kern="0" spc="80" dirty="0">
                <a:solidFill>
                  <a:srgbClr val="000000">
                    <a:alpha val="100000"/>
                  </a:srgbClr>
                </a:solidFill>
                <a:latin typeface="Arial" panose="020B0604020202020204"/>
                <a:ea typeface="Arial" panose="020B0604020202020204"/>
                <a:cs typeface="Arial" panose="020B0604020202020204"/>
              </a:rPr>
              <a:t>•  </a:t>
            </a:r>
            <a:r>
              <a:rPr sz="1650"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小组成员完全平</a:t>
            </a:r>
            <a:r>
              <a:rPr sz="165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等 ，名义上的组长</a:t>
            </a: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与其他成员没有任何区别。</a:t>
            </a:r>
            <a:endParaRPr lang="en-US" altLang="en-US" sz="1650" dirty="0"/>
          </a:p>
          <a:p>
            <a:pPr algn="l" rtl="0" eaLnBrk="0">
              <a:lnSpc>
                <a:spcPct val="111000"/>
              </a:lnSpc>
            </a:pPr>
            <a:endParaRPr lang="en-US" altLang="en-US" sz="750" dirty="0"/>
          </a:p>
          <a:p>
            <a:pPr marL="267970" indent="-255270" algn="l" rtl="0" eaLnBrk="0">
              <a:lnSpc>
                <a:spcPct val="106000"/>
              </a:lnSpc>
              <a:spcBef>
                <a:spcPts val="670"/>
              </a:spcBef>
            </a:pPr>
            <a:r>
              <a:rPr sz="1650" kern="0" spc="80" dirty="0">
                <a:solidFill>
                  <a:srgbClr val="000000">
                    <a:alpha val="100000"/>
                  </a:srgbClr>
                </a:solidFill>
                <a:latin typeface="Arial" panose="020B0604020202020204"/>
                <a:ea typeface="Arial" panose="020B0604020202020204"/>
                <a:cs typeface="Arial" panose="020B0604020202020204"/>
              </a:rPr>
              <a:t>•  </a:t>
            </a:r>
            <a:r>
              <a:rPr sz="1650"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项目工作由全体</a:t>
            </a:r>
            <a:r>
              <a:rPr sz="165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讨论协商决定 ，并</a:t>
            </a: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根据每个人的能力和经验</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进行分配。</a:t>
            </a:r>
            <a:endParaRPr lang="en-US" altLang="en-US" sz="1650" dirty="0"/>
          </a:p>
          <a:p>
            <a:pPr algn="l" rtl="0" eaLnBrk="0">
              <a:lnSpc>
                <a:spcPct val="103000"/>
              </a:lnSpc>
            </a:pPr>
            <a:endParaRPr lang="en-US" altLang="en-US" sz="750" dirty="0"/>
          </a:p>
          <a:p>
            <a:pPr algn="l" rtl="0" eaLnBrk="0">
              <a:lnSpc>
                <a:spcPct val="111000"/>
              </a:lnSpc>
            </a:pPr>
            <a:endParaRPr lang="en-US" altLang="en-US" sz="375" dirty="0"/>
          </a:p>
          <a:p>
            <a:pPr marL="269875" indent="-257175" algn="l" rtl="0" eaLnBrk="0">
              <a:lnSpc>
                <a:spcPct val="106000"/>
              </a:lnSpc>
              <a:spcBef>
                <a:spcPts val="0"/>
              </a:spcBef>
            </a:pPr>
            <a:r>
              <a:rPr sz="1650" kern="0" spc="60" dirty="0">
                <a:solidFill>
                  <a:srgbClr val="000000">
                    <a:alpha val="100000"/>
                  </a:srgbClr>
                </a:solidFill>
                <a:latin typeface="Arial" panose="020B0604020202020204"/>
                <a:ea typeface="Arial" panose="020B0604020202020204"/>
                <a:cs typeface="Arial" panose="020B0604020202020204"/>
              </a:rPr>
              <a:t>•  </a:t>
            </a:r>
            <a:r>
              <a:rPr sz="165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特别适合于规模小</a:t>
            </a:r>
            <a:r>
              <a:rPr sz="1650" kern="0" spc="-3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65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650" kern="0" spc="-4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65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能力强</a:t>
            </a:r>
            <a:r>
              <a:rPr sz="1650" kern="0" spc="-3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65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650" kern="0" spc="-3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65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习惯</a:t>
            </a: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于共同工作的软件开发组。</a:t>
            </a:r>
            <a:endParaRPr lang="en-US" altLang="en-US" sz="1650" dirty="0"/>
          </a:p>
        </p:txBody>
      </p:sp>
      <p:grpSp>
        <p:nvGrpSpPr>
          <p:cNvPr id="64" name="group 64"/>
          <p:cNvGrpSpPr/>
          <p:nvPr/>
        </p:nvGrpSpPr>
        <p:grpSpPr>
          <a:xfrm rot="21600000">
            <a:off x="1336939" y="2186201"/>
            <a:ext cx="2297331" cy="1925684"/>
            <a:chOff x="0" y="0"/>
            <a:chExt cx="3063108" cy="2567578"/>
          </a:xfrm>
        </p:grpSpPr>
        <p:sp>
          <p:nvSpPr>
            <p:cNvPr id="420" name="path"/>
            <p:cNvSpPr/>
            <p:nvPr/>
          </p:nvSpPr>
          <p:spPr>
            <a:xfrm>
              <a:off x="653387" y="2041300"/>
              <a:ext cx="513571" cy="513227"/>
            </a:xfrm>
            <a:custGeom>
              <a:avLst/>
              <a:gdLst/>
              <a:ahLst/>
              <a:cxnLst/>
              <a:rect l="0" t="0" r="0" b="0"/>
              <a:pathLst>
                <a:path w="808" h="808">
                  <a:moveTo>
                    <a:pt x="0" y="404"/>
                  </a:moveTo>
                  <a:cubicBezTo>
                    <a:pt x="0" y="180"/>
                    <a:pt x="181" y="0"/>
                    <a:pt x="404" y="0"/>
                  </a:cubicBezTo>
                  <a:cubicBezTo>
                    <a:pt x="627" y="0"/>
                    <a:pt x="808" y="180"/>
                    <a:pt x="808" y="404"/>
                  </a:cubicBezTo>
                  <a:cubicBezTo>
                    <a:pt x="808" y="627"/>
                    <a:pt x="627" y="808"/>
                    <a:pt x="404" y="808"/>
                  </a:cubicBezTo>
                  <a:cubicBezTo>
                    <a:pt x="181" y="808"/>
                    <a:pt x="0" y="627"/>
                    <a:pt x="0" y="404"/>
                  </a:cubicBezTo>
                </a:path>
              </a:pathLst>
            </a:custGeom>
            <a:solidFill>
              <a:srgbClr val="E4E4E4">
                <a:alpha val="100000"/>
              </a:srgbClr>
            </a:solidFill>
            <a:ln cap="flat">
              <a:noFill/>
              <a:prstDash val="solid"/>
              <a:miter lim="0"/>
            </a:ln>
          </p:spPr>
          <p:txBody>
            <a:bodyPr rtlCol="0"/>
            <a:lstStyle/>
            <a:p>
              <a:pPr algn="ctr"/>
              <a:endParaRPr lang="zh-CN" altLang="en-US" sz="1350"/>
            </a:p>
          </p:txBody>
        </p:sp>
        <p:sp>
          <p:nvSpPr>
            <p:cNvPr id="422" name="path"/>
            <p:cNvSpPr/>
            <p:nvPr/>
          </p:nvSpPr>
          <p:spPr>
            <a:xfrm>
              <a:off x="648548" y="2036461"/>
              <a:ext cx="531466" cy="531116"/>
            </a:xfrm>
            <a:custGeom>
              <a:avLst/>
              <a:gdLst/>
              <a:ahLst/>
              <a:cxnLst/>
              <a:rect l="0" t="0" r="0" b="0"/>
              <a:pathLst>
                <a:path w="836" h="836">
                  <a:moveTo>
                    <a:pt x="7" y="418"/>
                  </a:moveTo>
                  <a:cubicBezTo>
                    <a:pt x="7" y="191"/>
                    <a:pt x="191" y="7"/>
                    <a:pt x="418" y="7"/>
                  </a:cubicBezTo>
                  <a:cubicBezTo>
                    <a:pt x="645" y="7"/>
                    <a:pt x="829" y="191"/>
                    <a:pt x="829" y="418"/>
                  </a:cubicBezTo>
                  <a:cubicBezTo>
                    <a:pt x="829" y="644"/>
                    <a:pt x="645" y="828"/>
                    <a:pt x="418" y="828"/>
                  </a:cubicBezTo>
                  <a:cubicBezTo>
                    <a:pt x="191" y="828"/>
                    <a:pt x="7" y="644"/>
                    <a:pt x="7" y="418"/>
                  </a:cubicBezTo>
                </a:path>
              </a:pathLst>
            </a:custGeom>
            <a:noFill/>
            <a:ln w="9677" cap="flat">
              <a:solidFill>
                <a:srgbClr val="000000">
                  <a:alpha val="100000"/>
                </a:srgbClr>
              </a:solidFill>
              <a:prstDash val="solid"/>
              <a:round/>
            </a:ln>
          </p:spPr>
          <p:txBody>
            <a:bodyPr rtlCol="0"/>
            <a:lstStyle/>
            <a:p>
              <a:pPr algn="ctr"/>
              <a:endParaRPr lang="zh-CN" altLang="en-US" sz="1350"/>
            </a:p>
          </p:txBody>
        </p:sp>
        <p:sp>
          <p:nvSpPr>
            <p:cNvPr id="424" name="path"/>
            <p:cNvSpPr/>
            <p:nvPr/>
          </p:nvSpPr>
          <p:spPr>
            <a:xfrm>
              <a:off x="4838" y="695722"/>
              <a:ext cx="513571" cy="513228"/>
            </a:xfrm>
            <a:custGeom>
              <a:avLst/>
              <a:gdLst/>
              <a:ahLst/>
              <a:cxnLst/>
              <a:rect l="0" t="0" r="0" b="0"/>
              <a:pathLst>
                <a:path w="808" h="808">
                  <a:moveTo>
                    <a:pt x="0" y="404"/>
                  </a:moveTo>
                  <a:cubicBezTo>
                    <a:pt x="0" y="180"/>
                    <a:pt x="181" y="0"/>
                    <a:pt x="404" y="0"/>
                  </a:cubicBezTo>
                  <a:cubicBezTo>
                    <a:pt x="627" y="0"/>
                    <a:pt x="808" y="180"/>
                    <a:pt x="808" y="404"/>
                  </a:cubicBezTo>
                  <a:cubicBezTo>
                    <a:pt x="808" y="627"/>
                    <a:pt x="627" y="808"/>
                    <a:pt x="404" y="808"/>
                  </a:cubicBezTo>
                  <a:cubicBezTo>
                    <a:pt x="181" y="808"/>
                    <a:pt x="0" y="627"/>
                    <a:pt x="0" y="404"/>
                  </a:cubicBezTo>
                </a:path>
              </a:pathLst>
            </a:custGeom>
            <a:solidFill>
              <a:srgbClr val="E4E4E4">
                <a:alpha val="100000"/>
              </a:srgbClr>
            </a:solidFill>
            <a:ln cap="flat">
              <a:noFill/>
              <a:prstDash val="solid"/>
              <a:miter lim="0"/>
            </a:ln>
          </p:spPr>
          <p:txBody>
            <a:bodyPr rtlCol="0"/>
            <a:lstStyle/>
            <a:p>
              <a:pPr algn="ctr"/>
              <a:endParaRPr lang="zh-CN" altLang="en-US" sz="1350"/>
            </a:p>
          </p:txBody>
        </p:sp>
        <p:sp>
          <p:nvSpPr>
            <p:cNvPr id="426" name="path"/>
            <p:cNvSpPr/>
            <p:nvPr/>
          </p:nvSpPr>
          <p:spPr>
            <a:xfrm>
              <a:off x="0" y="690884"/>
              <a:ext cx="531466" cy="531116"/>
            </a:xfrm>
            <a:custGeom>
              <a:avLst/>
              <a:gdLst/>
              <a:ahLst/>
              <a:cxnLst/>
              <a:rect l="0" t="0" r="0" b="0"/>
              <a:pathLst>
                <a:path w="836" h="836">
                  <a:moveTo>
                    <a:pt x="7" y="418"/>
                  </a:moveTo>
                  <a:cubicBezTo>
                    <a:pt x="7" y="191"/>
                    <a:pt x="191" y="7"/>
                    <a:pt x="418" y="7"/>
                  </a:cubicBezTo>
                  <a:cubicBezTo>
                    <a:pt x="645" y="7"/>
                    <a:pt x="829" y="191"/>
                    <a:pt x="829" y="418"/>
                  </a:cubicBezTo>
                  <a:cubicBezTo>
                    <a:pt x="829" y="644"/>
                    <a:pt x="645" y="828"/>
                    <a:pt x="418" y="828"/>
                  </a:cubicBezTo>
                  <a:cubicBezTo>
                    <a:pt x="191" y="828"/>
                    <a:pt x="7" y="644"/>
                    <a:pt x="7" y="418"/>
                  </a:cubicBezTo>
                </a:path>
              </a:pathLst>
            </a:custGeom>
            <a:noFill/>
            <a:ln w="9677" cap="flat">
              <a:solidFill>
                <a:srgbClr val="000000">
                  <a:alpha val="100000"/>
                </a:srgbClr>
              </a:solidFill>
              <a:prstDash val="solid"/>
              <a:round/>
            </a:ln>
          </p:spPr>
          <p:txBody>
            <a:bodyPr rtlCol="0"/>
            <a:lstStyle/>
            <a:p>
              <a:pPr algn="ctr"/>
              <a:endParaRPr lang="zh-CN" altLang="en-US" sz="1350"/>
            </a:p>
          </p:txBody>
        </p:sp>
        <p:sp>
          <p:nvSpPr>
            <p:cNvPr id="428" name="path"/>
            <p:cNvSpPr/>
            <p:nvPr/>
          </p:nvSpPr>
          <p:spPr>
            <a:xfrm>
              <a:off x="1456664" y="4838"/>
              <a:ext cx="513570" cy="513227"/>
            </a:xfrm>
            <a:custGeom>
              <a:avLst/>
              <a:gdLst/>
              <a:ahLst/>
              <a:cxnLst/>
              <a:rect l="0" t="0" r="0" b="0"/>
              <a:pathLst>
                <a:path w="808" h="808">
                  <a:moveTo>
                    <a:pt x="0" y="404"/>
                  </a:moveTo>
                  <a:cubicBezTo>
                    <a:pt x="0" y="180"/>
                    <a:pt x="181" y="0"/>
                    <a:pt x="404" y="0"/>
                  </a:cubicBezTo>
                  <a:cubicBezTo>
                    <a:pt x="627" y="0"/>
                    <a:pt x="808" y="180"/>
                    <a:pt x="808" y="404"/>
                  </a:cubicBezTo>
                  <a:cubicBezTo>
                    <a:pt x="808" y="627"/>
                    <a:pt x="627" y="808"/>
                    <a:pt x="404" y="808"/>
                  </a:cubicBezTo>
                  <a:cubicBezTo>
                    <a:pt x="181" y="808"/>
                    <a:pt x="0" y="627"/>
                    <a:pt x="0" y="404"/>
                  </a:cubicBezTo>
                </a:path>
              </a:pathLst>
            </a:custGeom>
            <a:solidFill>
              <a:srgbClr val="76D6FF">
                <a:alpha val="100000"/>
              </a:srgbClr>
            </a:solidFill>
            <a:ln cap="flat">
              <a:noFill/>
              <a:prstDash val="solid"/>
              <a:miter lim="0"/>
            </a:ln>
          </p:spPr>
          <p:txBody>
            <a:bodyPr rtlCol="0"/>
            <a:lstStyle/>
            <a:p>
              <a:pPr algn="ctr"/>
              <a:endParaRPr lang="zh-CN" altLang="en-US" sz="1350"/>
            </a:p>
          </p:txBody>
        </p:sp>
        <p:sp>
          <p:nvSpPr>
            <p:cNvPr id="430" name="path"/>
            <p:cNvSpPr/>
            <p:nvPr/>
          </p:nvSpPr>
          <p:spPr>
            <a:xfrm>
              <a:off x="1451826" y="0"/>
              <a:ext cx="531466" cy="531117"/>
            </a:xfrm>
            <a:custGeom>
              <a:avLst/>
              <a:gdLst/>
              <a:ahLst/>
              <a:cxnLst/>
              <a:rect l="0" t="0" r="0" b="0"/>
              <a:pathLst>
                <a:path w="836" h="836">
                  <a:moveTo>
                    <a:pt x="7" y="418"/>
                  </a:moveTo>
                  <a:cubicBezTo>
                    <a:pt x="7" y="191"/>
                    <a:pt x="191" y="7"/>
                    <a:pt x="418" y="7"/>
                  </a:cubicBezTo>
                  <a:cubicBezTo>
                    <a:pt x="645" y="7"/>
                    <a:pt x="829" y="191"/>
                    <a:pt x="829" y="418"/>
                  </a:cubicBezTo>
                  <a:cubicBezTo>
                    <a:pt x="829" y="644"/>
                    <a:pt x="645" y="828"/>
                    <a:pt x="418" y="828"/>
                  </a:cubicBezTo>
                  <a:cubicBezTo>
                    <a:pt x="191" y="828"/>
                    <a:pt x="7" y="644"/>
                    <a:pt x="7" y="418"/>
                  </a:cubicBezTo>
                </a:path>
              </a:pathLst>
            </a:custGeom>
            <a:noFill/>
            <a:ln w="9677" cap="flat">
              <a:solidFill>
                <a:srgbClr val="000000">
                  <a:alpha val="100000"/>
                </a:srgbClr>
              </a:solidFill>
              <a:prstDash val="solid"/>
              <a:round/>
            </a:ln>
          </p:spPr>
          <p:txBody>
            <a:bodyPr rtlCol="0"/>
            <a:lstStyle/>
            <a:p>
              <a:pPr algn="ctr"/>
              <a:endParaRPr lang="zh-CN" altLang="en-US" sz="1350"/>
            </a:p>
          </p:txBody>
        </p:sp>
        <p:sp>
          <p:nvSpPr>
            <p:cNvPr id="432" name="path"/>
            <p:cNvSpPr/>
            <p:nvPr/>
          </p:nvSpPr>
          <p:spPr>
            <a:xfrm>
              <a:off x="2536480" y="850348"/>
              <a:ext cx="513571" cy="513227"/>
            </a:xfrm>
            <a:custGeom>
              <a:avLst/>
              <a:gdLst/>
              <a:ahLst/>
              <a:cxnLst/>
              <a:rect l="0" t="0" r="0" b="0"/>
              <a:pathLst>
                <a:path w="808" h="808">
                  <a:moveTo>
                    <a:pt x="0" y="404"/>
                  </a:moveTo>
                  <a:cubicBezTo>
                    <a:pt x="0" y="180"/>
                    <a:pt x="181" y="0"/>
                    <a:pt x="404" y="0"/>
                  </a:cubicBezTo>
                  <a:cubicBezTo>
                    <a:pt x="627" y="0"/>
                    <a:pt x="808" y="180"/>
                    <a:pt x="808" y="404"/>
                  </a:cubicBezTo>
                  <a:cubicBezTo>
                    <a:pt x="808" y="627"/>
                    <a:pt x="627" y="808"/>
                    <a:pt x="404" y="808"/>
                  </a:cubicBezTo>
                  <a:cubicBezTo>
                    <a:pt x="181" y="808"/>
                    <a:pt x="0" y="627"/>
                    <a:pt x="0" y="404"/>
                  </a:cubicBezTo>
                </a:path>
              </a:pathLst>
            </a:custGeom>
            <a:solidFill>
              <a:srgbClr val="E4E4E4">
                <a:alpha val="100000"/>
              </a:srgbClr>
            </a:solidFill>
            <a:ln cap="flat">
              <a:noFill/>
              <a:prstDash val="solid"/>
              <a:miter lim="0"/>
            </a:ln>
          </p:spPr>
          <p:txBody>
            <a:bodyPr rtlCol="0"/>
            <a:lstStyle/>
            <a:p>
              <a:pPr algn="ctr"/>
              <a:endParaRPr lang="zh-CN" altLang="en-US" sz="1350"/>
            </a:p>
          </p:txBody>
        </p:sp>
        <p:sp>
          <p:nvSpPr>
            <p:cNvPr id="434" name="path"/>
            <p:cNvSpPr/>
            <p:nvPr/>
          </p:nvSpPr>
          <p:spPr>
            <a:xfrm>
              <a:off x="2531641" y="845510"/>
              <a:ext cx="531466" cy="531116"/>
            </a:xfrm>
            <a:custGeom>
              <a:avLst/>
              <a:gdLst/>
              <a:ahLst/>
              <a:cxnLst/>
              <a:rect l="0" t="0" r="0" b="0"/>
              <a:pathLst>
                <a:path w="836" h="836">
                  <a:moveTo>
                    <a:pt x="7" y="418"/>
                  </a:moveTo>
                  <a:cubicBezTo>
                    <a:pt x="7" y="191"/>
                    <a:pt x="191" y="7"/>
                    <a:pt x="418" y="7"/>
                  </a:cubicBezTo>
                  <a:cubicBezTo>
                    <a:pt x="645" y="7"/>
                    <a:pt x="829" y="191"/>
                    <a:pt x="829" y="418"/>
                  </a:cubicBezTo>
                  <a:cubicBezTo>
                    <a:pt x="829" y="644"/>
                    <a:pt x="645" y="828"/>
                    <a:pt x="418" y="828"/>
                  </a:cubicBezTo>
                  <a:cubicBezTo>
                    <a:pt x="191" y="828"/>
                    <a:pt x="7" y="644"/>
                    <a:pt x="7" y="418"/>
                  </a:cubicBezTo>
                </a:path>
              </a:pathLst>
            </a:custGeom>
            <a:noFill/>
            <a:ln w="9677" cap="flat">
              <a:solidFill>
                <a:srgbClr val="000000">
                  <a:alpha val="100000"/>
                </a:srgbClr>
              </a:solidFill>
              <a:prstDash val="solid"/>
              <a:round/>
            </a:ln>
          </p:spPr>
          <p:txBody>
            <a:bodyPr rtlCol="0"/>
            <a:lstStyle/>
            <a:p>
              <a:pPr algn="ctr"/>
              <a:endParaRPr lang="zh-CN" altLang="en-US" sz="1350"/>
            </a:p>
          </p:txBody>
        </p:sp>
        <p:sp>
          <p:nvSpPr>
            <p:cNvPr id="436" name="path"/>
            <p:cNvSpPr/>
            <p:nvPr/>
          </p:nvSpPr>
          <p:spPr>
            <a:xfrm>
              <a:off x="2082167" y="2028140"/>
              <a:ext cx="513571" cy="513228"/>
            </a:xfrm>
            <a:custGeom>
              <a:avLst/>
              <a:gdLst/>
              <a:ahLst/>
              <a:cxnLst/>
              <a:rect l="0" t="0" r="0" b="0"/>
              <a:pathLst>
                <a:path w="808" h="808">
                  <a:moveTo>
                    <a:pt x="0" y="404"/>
                  </a:moveTo>
                  <a:cubicBezTo>
                    <a:pt x="0" y="180"/>
                    <a:pt x="181" y="0"/>
                    <a:pt x="404" y="0"/>
                  </a:cubicBezTo>
                  <a:cubicBezTo>
                    <a:pt x="627" y="0"/>
                    <a:pt x="808" y="180"/>
                    <a:pt x="808" y="404"/>
                  </a:cubicBezTo>
                  <a:cubicBezTo>
                    <a:pt x="808" y="627"/>
                    <a:pt x="627" y="808"/>
                    <a:pt x="404" y="808"/>
                  </a:cubicBezTo>
                  <a:cubicBezTo>
                    <a:pt x="181" y="808"/>
                    <a:pt x="0" y="627"/>
                    <a:pt x="0" y="404"/>
                  </a:cubicBezTo>
                </a:path>
              </a:pathLst>
            </a:custGeom>
            <a:solidFill>
              <a:srgbClr val="E4E4E4">
                <a:alpha val="100000"/>
              </a:srgbClr>
            </a:solidFill>
            <a:ln cap="flat">
              <a:noFill/>
              <a:prstDash val="solid"/>
              <a:miter lim="0"/>
            </a:ln>
          </p:spPr>
          <p:txBody>
            <a:bodyPr rtlCol="0"/>
            <a:lstStyle/>
            <a:p>
              <a:pPr algn="ctr"/>
              <a:endParaRPr lang="zh-CN" altLang="en-US" sz="1350"/>
            </a:p>
          </p:txBody>
        </p:sp>
        <p:sp>
          <p:nvSpPr>
            <p:cNvPr id="438" name="path"/>
            <p:cNvSpPr/>
            <p:nvPr/>
          </p:nvSpPr>
          <p:spPr>
            <a:xfrm>
              <a:off x="463573" y="260918"/>
              <a:ext cx="2145221" cy="2293500"/>
            </a:xfrm>
            <a:custGeom>
              <a:avLst/>
              <a:gdLst/>
              <a:ahLst/>
              <a:cxnLst/>
              <a:rect l="0" t="0" r="0" b="0"/>
              <a:pathLst>
                <a:path w="3378" h="3611">
                  <a:moveTo>
                    <a:pt x="2548" y="3193"/>
                  </a:moveTo>
                  <a:cubicBezTo>
                    <a:pt x="2548" y="2966"/>
                    <a:pt x="2732" y="2783"/>
                    <a:pt x="2959" y="2783"/>
                  </a:cubicBezTo>
                  <a:cubicBezTo>
                    <a:pt x="3186" y="2783"/>
                    <a:pt x="3370" y="2966"/>
                    <a:pt x="3370" y="3193"/>
                  </a:cubicBezTo>
                  <a:cubicBezTo>
                    <a:pt x="3370" y="3420"/>
                    <a:pt x="3186" y="3604"/>
                    <a:pt x="2959" y="3604"/>
                  </a:cubicBezTo>
                  <a:cubicBezTo>
                    <a:pt x="2732" y="3604"/>
                    <a:pt x="2548" y="3420"/>
                    <a:pt x="2548" y="3193"/>
                  </a:cubicBezTo>
                  <a:moveTo>
                    <a:pt x="3" y="785"/>
                  </a:moveTo>
                  <a:lnTo>
                    <a:pt x="1552" y="6"/>
                  </a:lnTo>
                </a:path>
              </a:pathLst>
            </a:custGeom>
            <a:noFill/>
            <a:ln w="9677" cap="flat">
              <a:solidFill>
                <a:srgbClr val="000000">
                  <a:alpha val="100000"/>
                </a:srgbClr>
              </a:solidFill>
              <a:prstDash val="solid"/>
              <a:round/>
            </a:ln>
          </p:spPr>
          <p:txBody>
            <a:bodyPr rtlCol="0"/>
            <a:lstStyle/>
            <a:p>
              <a:pPr algn="ctr"/>
              <a:endParaRPr lang="zh-CN" altLang="en-US" sz="1350"/>
            </a:p>
          </p:txBody>
        </p:sp>
        <p:sp>
          <p:nvSpPr>
            <p:cNvPr id="440" name="path"/>
            <p:cNvSpPr/>
            <p:nvPr/>
          </p:nvSpPr>
          <p:spPr>
            <a:xfrm>
              <a:off x="442690" y="261803"/>
              <a:ext cx="1013619" cy="509587"/>
            </a:xfrm>
            <a:custGeom>
              <a:avLst/>
              <a:gdLst/>
              <a:ahLst/>
              <a:cxnLst/>
              <a:rect l="0" t="0" r="0" b="0"/>
              <a:pathLst>
                <a:path w="1596" h="802">
                  <a:moveTo>
                    <a:pt x="80" y="694"/>
                  </a:moveTo>
                  <a:lnTo>
                    <a:pt x="0" y="802"/>
                  </a:lnTo>
                  <a:lnTo>
                    <a:pt x="134" y="802"/>
                  </a:lnTo>
                  <a:lnTo>
                    <a:pt x="80" y="694"/>
                  </a:lnTo>
                  <a:close/>
                </a:path>
                <a:path w="1596" h="802">
                  <a:moveTo>
                    <a:pt x="1515" y="107"/>
                  </a:moveTo>
                  <a:lnTo>
                    <a:pt x="1596" y="0"/>
                  </a:lnTo>
                  <a:lnTo>
                    <a:pt x="1462" y="0"/>
                  </a:lnTo>
                  <a:lnTo>
                    <a:pt x="1515" y="107"/>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442" name="path"/>
            <p:cNvSpPr/>
            <p:nvPr/>
          </p:nvSpPr>
          <p:spPr>
            <a:xfrm>
              <a:off x="269135" y="1229680"/>
              <a:ext cx="459977" cy="881121"/>
            </a:xfrm>
            <a:custGeom>
              <a:avLst/>
              <a:gdLst/>
              <a:ahLst/>
              <a:cxnLst/>
              <a:rect l="0" t="0" r="0" b="0"/>
              <a:pathLst>
                <a:path w="724" h="1387">
                  <a:moveTo>
                    <a:pt x="6" y="3"/>
                  </a:moveTo>
                  <a:lnTo>
                    <a:pt x="717" y="1384"/>
                  </a:lnTo>
                </a:path>
              </a:pathLst>
            </a:custGeom>
            <a:noFill/>
            <a:ln w="9677" cap="flat">
              <a:solidFill>
                <a:srgbClr val="000000">
                  <a:alpha val="100000"/>
                </a:srgbClr>
              </a:solidFill>
              <a:prstDash val="solid"/>
              <a:round/>
            </a:ln>
          </p:spPr>
          <p:txBody>
            <a:bodyPr rtlCol="0"/>
            <a:lstStyle/>
            <a:p>
              <a:pPr algn="ctr"/>
              <a:endParaRPr lang="zh-CN" altLang="en-US" sz="1350"/>
            </a:p>
          </p:txBody>
        </p:sp>
        <p:sp>
          <p:nvSpPr>
            <p:cNvPr id="444" name="path"/>
            <p:cNvSpPr/>
            <p:nvPr/>
          </p:nvSpPr>
          <p:spPr>
            <a:xfrm>
              <a:off x="261625" y="1208951"/>
              <a:ext cx="467518" cy="908048"/>
            </a:xfrm>
            <a:custGeom>
              <a:avLst/>
              <a:gdLst/>
              <a:ahLst/>
              <a:cxnLst/>
              <a:rect l="0" t="0" r="0" b="0"/>
              <a:pathLst>
                <a:path w="736" h="1429">
                  <a:moveTo>
                    <a:pt x="1" y="134"/>
                  </a:moveTo>
                  <a:lnTo>
                    <a:pt x="0" y="0"/>
                  </a:lnTo>
                  <a:lnTo>
                    <a:pt x="108" y="79"/>
                  </a:lnTo>
                  <a:lnTo>
                    <a:pt x="1" y="134"/>
                  </a:lnTo>
                  <a:close/>
                </a:path>
                <a:path w="736" h="1429">
                  <a:moveTo>
                    <a:pt x="734" y="1295"/>
                  </a:moveTo>
                  <a:lnTo>
                    <a:pt x="736" y="1429"/>
                  </a:lnTo>
                  <a:lnTo>
                    <a:pt x="627" y="1350"/>
                  </a:lnTo>
                  <a:lnTo>
                    <a:pt x="734" y="1295"/>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446" name="path"/>
            <p:cNvSpPr/>
            <p:nvPr/>
          </p:nvSpPr>
          <p:spPr>
            <a:xfrm>
              <a:off x="1192689" y="2279746"/>
              <a:ext cx="878372" cy="22625"/>
            </a:xfrm>
            <a:custGeom>
              <a:avLst/>
              <a:gdLst/>
              <a:ahLst/>
              <a:cxnLst/>
              <a:rect l="0" t="0" r="0" b="0"/>
              <a:pathLst>
                <a:path w="1383" h="35">
                  <a:moveTo>
                    <a:pt x="0" y="28"/>
                  </a:moveTo>
                  <a:lnTo>
                    <a:pt x="1383" y="7"/>
                  </a:lnTo>
                </a:path>
              </a:pathLst>
            </a:custGeom>
            <a:noFill/>
            <a:ln w="9677" cap="flat">
              <a:solidFill>
                <a:srgbClr val="000000">
                  <a:alpha val="100000"/>
                </a:srgbClr>
              </a:solidFill>
              <a:prstDash val="solid"/>
              <a:round/>
            </a:ln>
          </p:spPr>
          <p:txBody>
            <a:bodyPr rtlCol="0"/>
            <a:lstStyle/>
            <a:p>
              <a:pPr algn="ctr"/>
              <a:endParaRPr lang="zh-CN" altLang="en-US" sz="1350"/>
            </a:p>
          </p:txBody>
        </p:sp>
        <p:sp>
          <p:nvSpPr>
            <p:cNvPr id="448" name="path"/>
            <p:cNvSpPr/>
            <p:nvPr/>
          </p:nvSpPr>
          <p:spPr>
            <a:xfrm>
              <a:off x="1166957" y="2247447"/>
              <a:ext cx="915193" cy="87439"/>
            </a:xfrm>
            <a:custGeom>
              <a:avLst/>
              <a:gdLst/>
              <a:ahLst/>
              <a:cxnLst/>
              <a:rect l="0" t="0" r="0" b="0"/>
              <a:pathLst>
                <a:path w="1441" h="137">
                  <a:moveTo>
                    <a:pt x="119" y="17"/>
                  </a:moveTo>
                  <a:lnTo>
                    <a:pt x="0" y="79"/>
                  </a:lnTo>
                  <a:lnTo>
                    <a:pt x="120" y="137"/>
                  </a:lnTo>
                  <a:lnTo>
                    <a:pt x="119" y="17"/>
                  </a:lnTo>
                  <a:close/>
                </a:path>
                <a:path w="1441" h="137">
                  <a:moveTo>
                    <a:pt x="1322" y="119"/>
                  </a:moveTo>
                  <a:lnTo>
                    <a:pt x="1441" y="58"/>
                  </a:lnTo>
                  <a:lnTo>
                    <a:pt x="1320" y="0"/>
                  </a:lnTo>
                  <a:lnTo>
                    <a:pt x="1322" y="119"/>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450" name="path"/>
            <p:cNvSpPr/>
            <p:nvPr/>
          </p:nvSpPr>
          <p:spPr>
            <a:xfrm>
              <a:off x="2524405" y="1373930"/>
              <a:ext cx="268644" cy="707339"/>
            </a:xfrm>
            <a:custGeom>
              <a:avLst/>
              <a:gdLst/>
              <a:ahLst/>
              <a:cxnLst/>
              <a:rect l="0" t="0" r="0" b="0"/>
              <a:pathLst>
                <a:path w="423" h="1113">
                  <a:moveTo>
                    <a:pt x="7" y="1111"/>
                  </a:moveTo>
                  <a:lnTo>
                    <a:pt x="415" y="2"/>
                  </a:lnTo>
                </a:path>
              </a:pathLst>
            </a:custGeom>
            <a:noFill/>
            <a:ln w="9677" cap="flat">
              <a:solidFill>
                <a:srgbClr val="000000">
                  <a:alpha val="100000"/>
                </a:srgbClr>
              </a:solidFill>
              <a:prstDash val="solid"/>
              <a:round/>
            </a:ln>
          </p:spPr>
          <p:txBody>
            <a:bodyPr rtlCol="0"/>
            <a:lstStyle/>
            <a:p>
              <a:pPr algn="ctr"/>
              <a:endParaRPr lang="zh-CN" altLang="en-US" sz="1350"/>
            </a:p>
          </p:txBody>
        </p:sp>
        <p:sp>
          <p:nvSpPr>
            <p:cNvPr id="452" name="path"/>
            <p:cNvSpPr/>
            <p:nvPr/>
          </p:nvSpPr>
          <p:spPr>
            <a:xfrm>
              <a:off x="2510632" y="1363240"/>
              <a:ext cx="291824" cy="740568"/>
            </a:xfrm>
            <a:custGeom>
              <a:avLst/>
              <a:gdLst/>
              <a:ahLst/>
              <a:cxnLst/>
              <a:rect l="0" t="0" r="0" b="0"/>
              <a:pathLst>
                <a:path w="459" h="1166">
                  <a:moveTo>
                    <a:pt x="0" y="1032"/>
                  </a:moveTo>
                  <a:lnTo>
                    <a:pt x="14" y="1166"/>
                  </a:lnTo>
                  <a:lnTo>
                    <a:pt x="112" y="1074"/>
                  </a:lnTo>
                  <a:lnTo>
                    <a:pt x="0" y="1032"/>
                  </a:lnTo>
                  <a:close/>
                </a:path>
                <a:path w="459" h="1166">
                  <a:moveTo>
                    <a:pt x="459" y="133"/>
                  </a:moveTo>
                  <a:lnTo>
                    <a:pt x="444" y="0"/>
                  </a:lnTo>
                  <a:lnTo>
                    <a:pt x="346" y="91"/>
                  </a:lnTo>
                  <a:lnTo>
                    <a:pt x="459" y="133"/>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454" name="path"/>
            <p:cNvSpPr/>
            <p:nvPr/>
          </p:nvSpPr>
          <p:spPr>
            <a:xfrm>
              <a:off x="1975237" y="263112"/>
              <a:ext cx="799856" cy="576155"/>
            </a:xfrm>
            <a:custGeom>
              <a:avLst/>
              <a:gdLst/>
              <a:ahLst/>
              <a:cxnLst/>
              <a:rect l="0" t="0" r="0" b="0"/>
              <a:pathLst>
                <a:path w="1259" h="907">
                  <a:moveTo>
                    <a:pt x="1255" y="901"/>
                  </a:moveTo>
                  <a:lnTo>
                    <a:pt x="4" y="6"/>
                  </a:lnTo>
                </a:path>
              </a:pathLst>
            </a:custGeom>
            <a:noFill/>
            <a:ln w="9677" cap="flat">
              <a:solidFill>
                <a:srgbClr val="000000">
                  <a:alpha val="100000"/>
                </a:srgbClr>
              </a:solidFill>
              <a:prstDash val="solid"/>
              <a:round/>
            </a:ln>
          </p:spPr>
          <p:txBody>
            <a:bodyPr rtlCol="0"/>
            <a:lstStyle/>
            <a:p>
              <a:pPr algn="ctr"/>
              <a:endParaRPr lang="zh-CN" altLang="en-US" sz="1350"/>
            </a:p>
          </p:txBody>
        </p:sp>
        <p:sp>
          <p:nvSpPr>
            <p:cNvPr id="456" name="path"/>
            <p:cNvSpPr/>
            <p:nvPr/>
          </p:nvSpPr>
          <p:spPr>
            <a:xfrm>
              <a:off x="1970234" y="261452"/>
              <a:ext cx="823031" cy="588896"/>
            </a:xfrm>
            <a:custGeom>
              <a:avLst/>
              <a:gdLst/>
              <a:ahLst/>
              <a:cxnLst/>
              <a:rect l="0" t="0" r="0" b="0"/>
              <a:pathLst>
                <a:path w="1296" h="927">
                  <a:moveTo>
                    <a:pt x="1233" y="808"/>
                  </a:moveTo>
                  <a:lnTo>
                    <a:pt x="1296" y="927"/>
                  </a:lnTo>
                  <a:lnTo>
                    <a:pt x="1163" y="906"/>
                  </a:lnTo>
                  <a:lnTo>
                    <a:pt x="1233" y="808"/>
                  </a:lnTo>
                  <a:close/>
                </a:path>
                <a:path w="1296" h="927">
                  <a:moveTo>
                    <a:pt x="62" y="118"/>
                  </a:moveTo>
                  <a:lnTo>
                    <a:pt x="0" y="0"/>
                  </a:lnTo>
                  <a:lnTo>
                    <a:pt x="132" y="21"/>
                  </a:lnTo>
                  <a:lnTo>
                    <a:pt x="62" y="118"/>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458" name="path"/>
            <p:cNvSpPr/>
            <p:nvPr/>
          </p:nvSpPr>
          <p:spPr>
            <a:xfrm>
              <a:off x="543770" y="949485"/>
              <a:ext cx="1999274" cy="162959"/>
            </a:xfrm>
            <a:custGeom>
              <a:avLst/>
              <a:gdLst/>
              <a:ahLst/>
              <a:cxnLst/>
              <a:rect l="0" t="0" r="0" b="0"/>
              <a:pathLst>
                <a:path w="3148" h="256">
                  <a:moveTo>
                    <a:pt x="0" y="7"/>
                  </a:moveTo>
                  <a:lnTo>
                    <a:pt x="3147" y="249"/>
                  </a:lnTo>
                </a:path>
              </a:pathLst>
            </a:custGeom>
            <a:noFill/>
            <a:ln w="9677" cap="flat">
              <a:solidFill>
                <a:srgbClr val="000000">
                  <a:alpha val="100000"/>
                </a:srgbClr>
              </a:solidFill>
              <a:prstDash val="solid"/>
              <a:round/>
            </a:ln>
          </p:spPr>
          <p:txBody>
            <a:bodyPr rtlCol="0"/>
            <a:lstStyle/>
            <a:p>
              <a:pPr algn="ctr"/>
              <a:endParaRPr lang="zh-CN" altLang="en-US" sz="1350"/>
            </a:p>
          </p:txBody>
        </p:sp>
        <p:sp>
          <p:nvSpPr>
            <p:cNvPr id="460" name="path"/>
            <p:cNvSpPr/>
            <p:nvPr/>
          </p:nvSpPr>
          <p:spPr>
            <a:xfrm>
              <a:off x="518410" y="920176"/>
              <a:ext cx="2017712" cy="219101"/>
            </a:xfrm>
            <a:custGeom>
              <a:avLst/>
              <a:gdLst/>
              <a:ahLst/>
              <a:cxnLst/>
              <a:rect l="0" t="0" r="0" b="0"/>
              <a:pathLst>
                <a:path w="3177" h="345">
                  <a:moveTo>
                    <a:pt x="115" y="119"/>
                  </a:moveTo>
                  <a:lnTo>
                    <a:pt x="0" y="50"/>
                  </a:lnTo>
                  <a:lnTo>
                    <a:pt x="124" y="0"/>
                  </a:lnTo>
                  <a:lnTo>
                    <a:pt x="115" y="119"/>
                  </a:lnTo>
                  <a:close/>
                </a:path>
                <a:path w="3177" h="345">
                  <a:moveTo>
                    <a:pt x="3062" y="225"/>
                  </a:moveTo>
                  <a:lnTo>
                    <a:pt x="3177" y="294"/>
                  </a:lnTo>
                  <a:lnTo>
                    <a:pt x="3053" y="345"/>
                  </a:lnTo>
                  <a:lnTo>
                    <a:pt x="3062" y="225"/>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462" name="path"/>
            <p:cNvSpPr/>
            <p:nvPr/>
          </p:nvSpPr>
          <p:spPr>
            <a:xfrm>
              <a:off x="915024" y="439403"/>
              <a:ext cx="622551" cy="1579604"/>
            </a:xfrm>
            <a:custGeom>
              <a:avLst/>
              <a:gdLst/>
              <a:ahLst/>
              <a:cxnLst/>
              <a:rect l="0" t="0" r="0" b="0"/>
              <a:pathLst>
                <a:path w="980" h="2487">
                  <a:moveTo>
                    <a:pt x="7" y="2484"/>
                  </a:moveTo>
                  <a:lnTo>
                    <a:pt x="973" y="2"/>
                  </a:lnTo>
                </a:path>
              </a:pathLst>
            </a:custGeom>
            <a:noFill/>
            <a:ln w="9677" cap="flat">
              <a:solidFill>
                <a:srgbClr val="000000">
                  <a:alpha val="100000"/>
                </a:srgbClr>
              </a:solidFill>
              <a:prstDash val="solid"/>
              <a:round/>
            </a:ln>
          </p:spPr>
          <p:txBody>
            <a:bodyPr rtlCol="0"/>
            <a:lstStyle/>
            <a:p>
              <a:pPr algn="ctr"/>
              <a:endParaRPr lang="zh-CN" altLang="en-US" sz="1350"/>
            </a:p>
          </p:txBody>
        </p:sp>
        <p:sp>
          <p:nvSpPr>
            <p:cNvPr id="464" name="path"/>
            <p:cNvSpPr/>
            <p:nvPr/>
          </p:nvSpPr>
          <p:spPr>
            <a:xfrm>
              <a:off x="902309" y="442687"/>
              <a:ext cx="638025" cy="1598612"/>
            </a:xfrm>
            <a:custGeom>
              <a:avLst/>
              <a:gdLst/>
              <a:ahLst/>
              <a:cxnLst/>
              <a:rect l="0" t="0" r="0" b="0"/>
              <a:pathLst>
                <a:path w="1004" h="2517">
                  <a:moveTo>
                    <a:pt x="0" y="2383"/>
                  </a:moveTo>
                  <a:lnTo>
                    <a:pt x="12" y="2517"/>
                  </a:lnTo>
                  <a:lnTo>
                    <a:pt x="111" y="2427"/>
                  </a:lnTo>
                  <a:lnTo>
                    <a:pt x="0" y="2383"/>
                  </a:lnTo>
                  <a:close/>
                </a:path>
                <a:path w="1004" h="2517">
                  <a:moveTo>
                    <a:pt x="1004" y="133"/>
                  </a:moveTo>
                  <a:lnTo>
                    <a:pt x="992" y="0"/>
                  </a:lnTo>
                  <a:lnTo>
                    <a:pt x="892" y="90"/>
                  </a:lnTo>
                  <a:lnTo>
                    <a:pt x="1004" y="133"/>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466" name="path"/>
            <p:cNvSpPr/>
            <p:nvPr/>
          </p:nvSpPr>
          <p:spPr>
            <a:xfrm>
              <a:off x="1708847" y="515896"/>
              <a:ext cx="624700" cy="1490254"/>
            </a:xfrm>
            <a:custGeom>
              <a:avLst/>
              <a:gdLst/>
              <a:ahLst/>
              <a:cxnLst/>
              <a:rect l="0" t="0" r="0" b="0"/>
              <a:pathLst>
                <a:path w="983" h="2346">
                  <a:moveTo>
                    <a:pt x="976" y="2343"/>
                  </a:moveTo>
                  <a:lnTo>
                    <a:pt x="7" y="2"/>
                  </a:lnTo>
                </a:path>
              </a:pathLst>
            </a:custGeom>
            <a:noFill/>
            <a:ln w="9677" cap="flat">
              <a:solidFill>
                <a:srgbClr val="000000">
                  <a:alpha val="100000"/>
                </a:srgbClr>
              </a:solidFill>
              <a:prstDash val="solid"/>
              <a:round/>
            </a:ln>
          </p:spPr>
          <p:txBody>
            <a:bodyPr rtlCol="0"/>
            <a:lstStyle/>
            <a:p>
              <a:pPr algn="ctr"/>
              <a:endParaRPr lang="zh-CN" altLang="en-US" sz="1350"/>
            </a:p>
          </p:txBody>
        </p:sp>
        <p:sp>
          <p:nvSpPr>
            <p:cNvPr id="468" name="path"/>
            <p:cNvSpPr/>
            <p:nvPr/>
          </p:nvSpPr>
          <p:spPr>
            <a:xfrm>
              <a:off x="1707410" y="518067"/>
              <a:ext cx="637580" cy="1510072"/>
            </a:xfrm>
            <a:custGeom>
              <a:avLst/>
              <a:gdLst/>
              <a:ahLst/>
              <a:cxnLst/>
              <a:rect l="0" t="0" r="0" b="0"/>
              <a:pathLst>
                <a:path w="1004" h="2378">
                  <a:moveTo>
                    <a:pt x="1004" y="2244"/>
                  </a:moveTo>
                  <a:lnTo>
                    <a:pt x="994" y="2378"/>
                  </a:lnTo>
                  <a:lnTo>
                    <a:pt x="893" y="2290"/>
                  </a:lnTo>
                  <a:lnTo>
                    <a:pt x="1004" y="2244"/>
                  </a:lnTo>
                  <a:close/>
                </a:path>
                <a:path w="1004" h="2378">
                  <a:moveTo>
                    <a:pt x="0" y="133"/>
                  </a:moveTo>
                  <a:lnTo>
                    <a:pt x="9" y="0"/>
                  </a:lnTo>
                  <a:lnTo>
                    <a:pt x="110" y="87"/>
                  </a:lnTo>
                  <a:lnTo>
                    <a:pt x="0" y="133"/>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470" name="path"/>
            <p:cNvSpPr/>
            <p:nvPr/>
          </p:nvSpPr>
          <p:spPr>
            <a:xfrm>
              <a:off x="462765" y="1141781"/>
              <a:ext cx="1702586" cy="969289"/>
            </a:xfrm>
            <a:custGeom>
              <a:avLst/>
              <a:gdLst/>
              <a:ahLst/>
              <a:cxnLst/>
              <a:rect l="0" t="0" r="0" b="0"/>
              <a:pathLst>
                <a:path w="2681" h="1526">
                  <a:moveTo>
                    <a:pt x="3" y="6"/>
                  </a:moveTo>
                  <a:lnTo>
                    <a:pt x="2677" y="1519"/>
                  </a:lnTo>
                </a:path>
              </a:pathLst>
            </a:custGeom>
            <a:noFill/>
            <a:ln w="9677" cap="flat">
              <a:solidFill>
                <a:srgbClr val="000000">
                  <a:alpha val="100000"/>
                </a:srgbClr>
              </a:solidFill>
              <a:prstDash val="solid"/>
              <a:round/>
            </a:ln>
          </p:spPr>
          <p:txBody>
            <a:bodyPr rtlCol="0"/>
            <a:lstStyle/>
            <a:p>
              <a:pPr algn="ctr"/>
              <a:endParaRPr lang="zh-CN" altLang="en-US" sz="1350"/>
            </a:p>
          </p:txBody>
        </p:sp>
        <p:sp>
          <p:nvSpPr>
            <p:cNvPr id="472" name="path"/>
            <p:cNvSpPr/>
            <p:nvPr/>
          </p:nvSpPr>
          <p:spPr>
            <a:xfrm>
              <a:off x="442690" y="1133282"/>
              <a:ext cx="1715293" cy="970756"/>
            </a:xfrm>
            <a:custGeom>
              <a:avLst/>
              <a:gdLst/>
              <a:ahLst/>
              <a:cxnLst/>
              <a:rect l="0" t="0" r="0" b="0"/>
              <a:pathLst>
                <a:path w="2701" h="1528">
                  <a:moveTo>
                    <a:pt x="74" y="111"/>
                  </a:moveTo>
                  <a:lnTo>
                    <a:pt x="0" y="0"/>
                  </a:lnTo>
                  <a:lnTo>
                    <a:pt x="133" y="6"/>
                  </a:lnTo>
                  <a:lnTo>
                    <a:pt x="74" y="111"/>
                  </a:lnTo>
                  <a:close/>
                </a:path>
                <a:path w="2701" h="1528">
                  <a:moveTo>
                    <a:pt x="2626" y="1417"/>
                  </a:moveTo>
                  <a:lnTo>
                    <a:pt x="2701" y="1528"/>
                  </a:lnTo>
                  <a:lnTo>
                    <a:pt x="2567" y="1521"/>
                  </a:lnTo>
                  <a:lnTo>
                    <a:pt x="2626" y="1417"/>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474" name="path"/>
            <p:cNvSpPr/>
            <p:nvPr/>
          </p:nvSpPr>
          <p:spPr>
            <a:xfrm>
              <a:off x="1111584" y="1283132"/>
              <a:ext cx="1504466" cy="825736"/>
            </a:xfrm>
            <a:custGeom>
              <a:avLst/>
              <a:gdLst/>
              <a:ahLst/>
              <a:cxnLst/>
              <a:rect l="0" t="0" r="0" b="0"/>
              <a:pathLst>
                <a:path w="2369" h="1300">
                  <a:moveTo>
                    <a:pt x="3" y="1293"/>
                  </a:moveTo>
                  <a:lnTo>
                    <a:pt x="2365" y="6"/>
                  </a:lnTo>
                </a:path>
              </a:pathLst>
            </a:custGeom>
            <a:noFill/>
            <a:ln w="9677" cap="flat">
              <a:solidFill>
                <a:srgbClr val="000000">
                  <a:alpha val="100000"/>
                </a:srgbClr>
              </a:solidFill>
              <a:prstDash val="solid"/>
              <a:round/>
            </a:ln>
          </p:spPr>
          <p:txBody>
            <a:bodyPr rtlCol="0"/>
            <a:lstStyle/>
            <a:p>
              <a:pPr algn="ctr"/>
              <a:endParaRPr lang="zh-CN" altLang="en-US" sz="1350"/>
            </a:p>
          </p:txBody>
        </p:sp>
        <p:sp>
          <p:nvSpPr>
            <p:cNvPr id="476" name="path"/>
            <p:cNvSpPr/>
            <p:nvPr/>
          </p:nvSpPr>
          <p:spPr>
            <a:xfrm>
              <a:off x="1091238" y="1288293"/>
              <a:ext cx="1520825" cy="828675"/>
            </a:xfrm>
            <a:custGeom>
              <a:avLst/>
              <a:gdLst/>
              <a:ahLst/>
              <a:cxnLst/>
              <a:rect l="0" t="0" r="0" b="0"/>
              <a:pathLst>
                <a:path w="2395" h="1305">
                  <a:moveTo>
                    <a:pt x="76" y="1194"/>
                  </a:moveTo>
                  <a:lnTo>
                    <a:pt x="0" y="1305"/>
                  </a:lnTo>
                  <a:lnTo>
                    <a:pt x="134" y="1300"/>
                  </a:lnTo>
                  <a:lnTo>
                    <a:pt x="76" y="1194"/>
                  </a:lnTo>
                  <a:close/>
                </a:path>
                <a:path w="2395" h="1305">
                  <a:moveTo>
                    <a:pt x="2318" y="110"/>
                  </a:moveTo>
                  <a:lnTo>
                    <a:pt x="2395" y="0"/>
                  </a:lnTo>
                  <a:lnTo>
                    <a:pt x="2260" y="4"/>
                  </a:lnTo>
                  <a:lnTo>
                    <a:pt x="2318" y="110"/>
                  </a:lnTo>
                  <a:close/>
                </a:path>
              </a:pathLst>
            </a:custGeom>
            <a:solidFill>
              <a:srgbClr val="000000">
                <a:alpha val="100000"/>
              </a:srgbClr>
            </a:solidFill>
            <a:ln cap="flat">
              <a:noFill/>
              <a:prstDash val="solid"/>
              <a:miter lim="0"/>
            </a:ln>
          </p:spPr>
          <p:txBody>
            <a:bodyPr rtlCol="0"/>
            <a:lstStyle/>
            <a:p>
              <a:pPr algn="ctr"/>
              <a:endParaRPr lang="zh-CN" altLang="en-US" sz="1350"/>
            </a:p>
          </p:txBody>
        </p:sp>
      </p:grpSp>
      <p:sp>
        <p:nvSpPr>
          <p:cNvPr id="478" name="textbox 478"/>
          <p:cNvSpPr/>
          <p:nvPr/>
        </p:nvSpPr>
        <p:spPr>
          <a:xfrm>
            <a:off x="762001" y="1281359"/>
            <a:ext cx="7721918" cy="495300"/>
          </a:xfrm>
          <a:prstGeom prst="rect">
            <a:avLst/>
          </a:prstGeom>
          <a:solidFill>
            <a:srgbClr val="EBEAEA"/>
          </a:solidFill>
        </p:spPr>
        <p:txBody>
          <a:bodyPr vert="horz" wrap="square" lIns="0" tIns="0" rIns="0" bIns="0"/>
          <a:lstStyle/>
          <a:p>
            <a:pPr algn="l" rtl="0" eaLnBrk="0">
              <a:lnSpc>
                <a:spcPct val="136000"/>
              </a:lnSpc>
            </a:pPr>
            <a:endParaRPr lang="en-US" altLang="en-US" sz="750" dirty="0"/>
          </a:p>
          <a:p>
            <a:pPr marL="239395" algn="l" rtl="0" eaLnBrk="0">
              <a:lnSpc>
                <a:spcPct val="91000"/>
              </a:lnSpc>
              <a:spcBef>
                <a:spcPts val="5"/>
              </a:spcBef>
            </a:pPr>
            <a:r>
              <a:rPr sz="1650" kern="0" spc="-50" dirty="0">
                <a:solidFill>
                  <a:srgbClr val="3300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民主式结构 </a:t>
            </a:r>
            <a:r>
              <a:rPr sz="1650" kern="0" spc="-50" dirty="0">
                <a:solidFill>
                  <a:srgbClr val="442A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6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团队成员完全</a:t>
            </a:r>
            <a:r>
              <a:rPr sz="165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平等 ，享有充分民主 ，成员之间通过协商做出决策。</a:t>
            </a:r>
            <a:endParaRPr lang="en-US" altLang="en-US" sz="1650" dirty="0"/>
          </a:p>
        </p:txBody>
      </p:sp>
      <p:sp>
        <p:nvSpPr>
          <p:cNvPr id="480"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3" name="标题 2"/>
          <p:cNvSpPr>
            <a:spLocks noGrp="1"/>
          </p:cNvSpPr>
          <p:nvPr>
            <p:ph type="title"/>
          </p:nvPr>
        </p:nvSpPr>
        <p:spPr/>
        <p:txBody>
          <a:bodyPr/>
          <a:p>
            <a:r>
              <a:rPr lang="zh-CN" altLang="en-US" dirty="0"/>
              <a:t>开发团队的组织模式</a:t>
            </a:r>
            <a:endParaRPr lang="en-US" altLang="zh-C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 name="textbox 498"/>
          <p:cNvSpPr/>
          <p:nvPr/>
        </p:nvSpPr>
        <p:spPr>
          <a:xfrm>
            <a:off x="736599" y="1235630"/>
            <a:ext cx="7696200" cy="764858"/>
          </a:xfrm>
          <a:prstGeom prst="rect">
            <a:avLst/>
          </a:prstGeom>
          <a:solidFill>
            <a:srgbClr val="EBEAEA"/>
          </a:solidFill>
        </p:spPr>
        <p:txBody>
          <a:bodyPr vert="horz" wrap="square" lIns="0" tIns="0" rIns="0" bIns="0"/>
          <a:lstStyle/>
          <a:p>
            <a:pPr algn="l" rtl="0" eaLnBrk="0">
              <a:lnSpc>
                <a:spcPct val="137000"/>
              </a:lnSpc>
            </a:pPr>
            <a:endParaRPr lang="en-US" altLang="en-US" sz="750" dirty="0"/>
          </a:p>
          <a:p>
            <a:pPr algn="l" rtl="0" eaLnBrk="0">
              <a:lnSpc>
                <a:spcPct val="7000"/>
              </a:lnSpc>
            </a:pPr>
            <a:endParaRPr lang="en-US" altLang="en-US" sz="100" dirty="0"/>
          </a:p>
          <a:p>
            <a:pPr algn="r" rtl="0" eaLnBrk="0">
              <a:lnSpc>
                <a:spcPct val="83000"/>
              </a:lnSpc>
            </a:pPr>
            <a:r>
              <a:rPr sz="1650" kern="0" spc="-80" dirty="0">
                <a:solidFill>
                  <a:srgbClr val="3300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主程序员式结构 </a:t>
            </a:r>
            <a:r>
              <a:rPr sz="1650" kern="0" spc="-80" dirty="0">
                <a:solidFill>
                  <a:srgbClr val="442A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650"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以主程序员为核心 ，主程序员既是项目管理者</a:t>
            </a:r>
            <a:r>
              <a:rPr sz="1650"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也是技术负责人 ，</a:t>
            </a:r>
            <a:endParaRPr lang="en-US" altLang="en-US" sz="1650" dirty="0"/>
          </a:p>
          <a:p>
            <a:pPr marL="236220" algn="l" rtl="0" eaLnBrk="0">
              <a:lnSpc>
                <a:spcPts val="3095"/>
              </a:lnSpc>
            </a:pP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团队其他人员的职能进行专业化分工。</a:t>
            </a:r>
            <a:endParaRPr lang="en-US" altLang="en-US" sz="1650" dirty="0"/>
          </a:p>
        </p:txBody>
      </p:sp>
      <p:pic>
        <p:nvPicPr>
          <p:cNvPr id="500" name="picture 500"/>
          <p:cNvPicPr>
            <a:picLocks noChangeAspect="1"/>
          </p:cNvPicPr>
          <p:nvPr/>
        </p:nvPicPr>
        <p:blipFill>
          <a:blip r:embed="rId1"/>
          <a:stretch>
            <a:fillRect/>
          </a:stretch>
        </p:blipFill>
        <p:spPr>
          <a:xfrm rot="21600000">
            <a:off x="1003301" y="2298700"/>
            <a:ext cx="2644948" cy="1752599"/>
          </a:xfrm>
          <a:prstGeom prst="rect">
            <a:avLst/>
          </a:prstGeom>
        </p:spPr>
      </p:pic>
      <p:sp>
        <p:nvSpPr>
          <p:cNvPr id="502"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grpSp>
        <p:nvGrpSpPr>
          <p:cNvPr id="68" name="group 68"/>
          <p:cNvGrpSpPr/>
          <p:nvPr/>
        </p:nvGrpSpPr>
        <p:grpSpPr>
          <a:xfrm rot="21600000">
            <a:off x="4606439" y="2501969"/>
            <a:ext cx="3107233" cy="969348"/>
            <a:chOff x="0" y="0"/>
            <a:chExt cx="4142977" cy="1292464"/>
          </a:xfrm>
        </p:grpSpPr>
        <p:sp>
          <p:nvSpPr>
            <p:cNvPr id="504" name="path"/>
            <p:cNvSpPr/>
            <p:nvPr/>
          </p:nvSpPr>
          <p:spPr>
            <a:xfrm>
              <a:off x="0" y="617749"/>
              <a:ext cx="4142977" cy="674714"/>
            </a:xfrm>
            <a:custGeom>
              <a:avLst/>
              <a:gdLst/>
              <a:ahLst/>
              <a:cxnLst/>
              <a:rect l="0" t="0" r="0" b="0"/>
              <a:pathLst>
                <a:path w="6524" h="1062">
                  <a:moveTo>
                    <a:pt x="2558" y="21"/>
                  </a:moveTo>
                  <a:lnTo>
                    <a:pt x="8" y="1041"/>
                  </a:lnTo>
                  <a:moveTo>
                    <a:pt x="3905" y="21"/>
                  </a:moveTo>
                  <a:lnTo>
                    <a:pt x="6516" y="995"/>
                  </a:lnTo>
                </a:path>
              </a:pathLst>
            </a:custGeom>
            <a:noFill/>
            <a:ln w="29032" cap="flat">
              <a:solidFill>
                <a:srgbClr val="919191">
                  <a:alpha val="100000"/>
                </a:srgbClr>
              </a:solidFill>
              <a:prstDash val="solid"/>
              <a:miter lim="800000"/>
            </a:ln>
          </p:spPr>
          <p:txBody>
            <a:bodyPr rtlCol="0"/>
            <a:lstStyle/>
            <a:p>
              <a:pPr algn="ctr"/>
              <a:endParaRPr lang="zh-CN" altLang="en-US" sz="1350"/>
            </a:p>
          </p:txBody>
        </p:sp>
        <p:sp>
          <p:nvSpPr>
            <p:cNvPr id="506" name="path"/>
            <p:cNvSpPr/>
            <p:nvPr/>
          </p:nvSpPr>
          <p:spPr>
            <a:xfrm>
              <a:off x="1253626" y="0"/>
              <a:ext cx="1558158" cy="644584"/>
            </a:xfrm>
            <a:custGeom>
              <a:avLst/>
              <a:gdLst/>
              <a:ahLst/>
              <a:cxnLst/>
              <a:rect l="0" t="0" r="0" b="0"/>
              <a:pathLst>
                <a:path w="2453" h="1015">
                  <a:moveTo>
                    <a:pt x="0" y="0"/>
                  </a:moveTo>
                  <a:lnTo>
                    <a:pt x="2453" y="0"/>
                  </a:lnTo>
                  <a:lnTo>
                    <a:pt x="2453" y="1015"/>
                  </a:lnTo>
                  <a:lnTo>
                    <a:pt x="0" y="1015"/>
                  </a:lnTo>
                  <a:lnTo>
                    <a:pt x="0" y="0"/>
                  </a:lnTo>
                  <a:close/>
                </a:path>
              </a:pathLst>
            </a:custGeom>
            <a:solidFill>
              <a:srgbClr val="FAD5BA">
                <a:alpha val="100000"/>
              </a:srgbClr>
            </a:solidFill>
            <a:ln cap="flat">
              <a:noFill/>
              <a:prstDash val="solid"/>
              <a:miter lim="0"/>
            </a:ln>
          </p:spPr>
          <p:txBody>
            <a:bodyPr rtlCol="0"/>
            <a:lstStyle/>
            <a:p>
              <a:pPr algn="ctr"/>
              <a:endParaRPr lang="zh-CN" altLang="en-US" sz="1350"/>
            </a:p>
          </p:txBody>
        </p:sp>
      </p:grpSp>
      <p:sp>
        <p:nvSpPr>
          <p:cNvPr id="524" name="textbox 524"/>
          <p:cNvSpPr/>
          <p:nvPr/>
        </p:nvSpPr>
        <p:spPr>
          <a:xfrm>
            <a:off x="7116635" y="3432211"/>
            <a:ext cx="1147763" cy="483869"/>
          </a:xfrm>
          <a:prstGeom prst="rect">
            <a:avLst/>
          </a:prstGeom>
          <a:solidFill>
            <a:srgbClr val="C8DFF1"/>
          </a:solidFill>
        </p:spPr>
        <p:txBody>
          <a:bodyPr vert="horz" wrap="square" lIns="0" tIns="0" rIns="0" bIns="0"/>
          <a:lstStyle/>
          <a:p>
            <a:pPr algn="l" rtl="0" eaLnBrk="0">
              <a:lnSpc>
                <a:spcPct val="143000"/>
              </a:lnSpc>
            </a:pPr>
            <a:endParaRPr lang="en-US" altLang="en-US" sz="750" dirty="0"/>
          </a:p>
          <a:p>
            <a:pPr algn="l" rtl="0" eaLnBrk="0">
              <a:lnSpc>
                <a:spcPct val="9000"/>
              </a:lnSpc>
            </a:pPr>
            <a:endParaRPr lang="en-US" altLang="en-US" sz="100" dirty="0"/>
          </a:p>
          <a:p>
            <a:pPr marL="424815" algn="l" rtl="0" eaLnBrk="0">
              <a:lnSpc>
                <a:spcPct val="91000"/>
              </a:lnSpc>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程序员</a:t>
            </a:r>
            <a:endParaRPr lang="en-US" altLang="en-US" sz="1350" dirty="0"/>
          </a:p>
        </p:txBody>
      </p:sp>
      <p:sp>
        <p:nvSpPr>
          <p:cNvPr id="526" name="textbox 526"/>
          <p:cNvSpPr/>
          <p:nvPr/>
        </p:nvSpPr>
        <p:spPr>
          <a:xfrm>
            <a:off x="7105727" y="2501900"/>
            <a:ext cx="1147763" cy="483869"/>
          </a:xfrm>
          <a:prstGeom prst="rect">
            <a:avLst/>
          </a:prstGeom>
          <a:solidFill>
            <a:srgbClr val="CFE4C0"/>
          </a:solidFill>
        </p:spPr>
        <p:txBody>
          <a:bodyPr vert="horz" wrap="square" lIns="0" tIns="0" rIns="0" bIns="0"/>
          <a:lstStyle/>
          <a:p>
            <a:pPr algn="l" rtl="0" eaLnBrk="0">
              <a:lnSpc>
                <a:spcPct val="143000"/>
              </a:lnSpc>
            </a:pPr>
            <a:endParaRPr lang="en-US" altLang="en-US" sz="750" dirty="0"/>
          </a:p>
          <a:p>
            <a:pPr algn="l" rtl="0" eaLnBrk="0">
              <a:lnSpc>
                <a:spcPct val="9000"/>
              </a:lnSpc>
            </a:pPr>
            <a:endParaRPr lang="en-US" altLang="en-US" sz="100" dirty="0"/>
          </a:p>
          <a:p>
            <a:pPr marL="196215" algn="l" rtl="0" eaLnBrk="0">
              <a:lnSpc>
                <a:spcPct val="91000"/>
              </a:lnSpc>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后备程序员</a:t>
            </a:r>
            <a:endParaRPr lang="en-US" altLang="en-US" sz="1350" dirty="0"/>
          </a:p>
        </p:txBody>
      </p:sp>
      <p:sp>
        <p:nvSpPr>
          <p:cNvPr id="528" name="textbox 528"/>
          <p:cNvSpPr/>
          <p:nvPr/>
        </p:nvSpPr>
        <p:spPr>
          <a:xfrm>
            <a:off x="5591379" y="3432283"/>
            <a:ext cx="1077277" cy="483869"/>
          </a:xfrm>
          <a:prstGeom prst="rect">
            <a:avLst/>
          </a:prstGeom>
          <a:solidFill>
            <a:srgbClr val="C8DFF1"/>
          </a:solidFill>
        </p:spPr>
        <p:txBody>
          <a:bodyPr vert="horz" wrap="square" lIns="0" tIns="0" rIns="0" bIns="0"/>
          <a:lstStyle/>
          <a:p>
            <a:pPr algn="l" rtl="0" eaLnBrk="0">
              <a:lnSpc>
                <a:spcPct val="143000"/>
              </a:lnSpc>
            </a:pPr>
            <a:endParaRPr lang="en-US" altLang="en-US" sz="750" dirty="0"/>
          </a:p>
          <a:p>
            <a:pPr algn="l" rtl="0" eaLnBrk="0">
              <a:lnSpc>
                <a:spcPct val="9000"/>
              </a:lnSpc>
            </a:pPr>
            <a:endParaRPr lang="en-US" altLang="en-US" sz="100" dirty="0"/>
          </a:p>
          <a:p>
            <a:pPr marL="376555" algn="l" rtl="0" eaLnBrk="0">
              <a:lnSpc>
                <a:spcPct val="91000"/>
              </a:lnSpc>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程序员</a:t>
            </a:r>
            <a:endParaRPr lang="en-US" altLang="en-US" sz="1350" dirty="0"/>
          </a:p>
        </p:txBody>
      </p:sp>
      <p:sp>
        <p:nvSpPr>
          <p:cNvPr id="530" name="textbox 530"/>
          <p:cNvSpPr/>
          <p:nvPr/>
        </p:nvSpPr>
        <p:spPr>
          <a:xfrm>
            <a:off x="4114587" y="3453560"/>
            <a:ext cx="1030129" cy="483869"/>
          </a:xfrm>
          <a:prstGeom prst="rect">
            <a:avLst/>
          </a:prstGeom>
          <a:solidFill>
            <a:srgbClr val="C8DFF1"/>
          </a:solidFill>
        </p:spPr>
        <p:txBody>
          <a:bodyPr vert="horz" wrap="square" lIns="0" tIns="0" rIns="0" bIns="0"/>
          <a:lstStyle/>
          <a:p>
            <a:pPr algn="l" rtl="0" eaLnBrk="0">
              <a:lnSpc>
                <a:spcPct val="143000"/>
              </a:lnSpc>
            </a:pPr>
            <a:endParaRPr lang="en-US" altLang="en-US" sz="750" dirty="0"/>
          </a:p>
          <a:p>
            <a:pPr algn="l" rtl="0" eaLnBrk="0">
              <a:lnSpc>
                <a:spcPct val="9000"/>
              </a:lnSpc>
            </a:pPr>
            <a:endParaRPr lang="en-US" altLang="en-US" sz="100" dirty="0"/>
          </a:p>
          <a:p>
            <a:pPr marL="345440" algn="l" rtl="0" eaLnBrk="0">
              <a:lnSpc>
                <a:spcPct val="91000"/>
              </a:lnSpc>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程序员</a:t>
            </a:r>
            <a:endParaRPr lang="en-US" altLang="en-US" sz="1350" dirty="0"/>
          </a:p>
        </p:txBody>
      </p:sp>
      <p:sp>
        <p:nvSpPr>
          <p:cNvPr id="532" name="rect"/>
          <p:cNvSpPr/>
          <p:nvPr/>
        </p:nvSpPr>
        <p:spPr>
          <a:xfrm>
            <a:off x="4102098" y="2501900"/>
            <a:ext cx="1030036" cy="483438"/>
          </a:xfrm>
          <a:prstGeom prst="rect">
            <a:avLst/>
          </a:prstGeom>
          <a:solidFill>
            <a:srgbClr val="A9ABD6">
              <a:alpha val="60000"/>
            </a:srgbClr>
          </a:solidFill>
          <a:ln cap="flat">
            <a:noFill/>
            <a:prstDash val="solid"/>
            <a:miter lim="0"/>
          </a:ln>
        </p:spPr>
        <p:txBody>
          <a:bodyPr rtlCol="0"/>
          <a:lstStyle/>
          <a:p>
            <a:pPr algn="ctr"/>
            <a:endParaRPr lang="zh-CN" altLang="en-US" sz="1350"/>
          </a:p>
        </p:txBody>
      </p:sp>
      <p:sp>
        <p:nvSpPr>
          <p:cNvPr id="534" name="textbox 534"/>
          <p:cNvSpPr/>
          <p:nvPr/>
        </p:nvSpPr>
        <p:spPr>
          <a:xfrm>
            <a:off x="4439354" y="2657176"/>
            <a:ext cx="1123473" cy="206216"/>
          </a:xfrm>
          <a:prstGeom prst="rect">
            <a:avLst/>
          </a:prstGeom>
        </p:spPr>
        <p:txBody>
          <a:bodyPr vert="horz" wrap="square" lIns="0" tIns="0" rIns="0" bIns="0"/>
          <a:lstStyle/>
          <a:p>
            <a:pPr algn="l" rtl="0" eaLnBrk="0">
              <a:lnSpc>
                <a:spcPct val="80000"/>
              </a:lnSpc>
            </a:pPr>
            <a:endParaRPr lang="en-US" altLang="en-US" sz="100" dirty="0"/>
          </a:p>
          <a:p>
            <a:pPr marL="12700" algn="l" rtl="0" eaLnBrk="0">
              <a:lnSpc>
                <a:spcPct val="91000"/>
              </a:lnSpc>
              <a:tabLst>
                <a:tab pos="1484630" algn="l"/>
              </a:tabLst>
            </a:pPr>
            <a:r>
              <a:rPr sz="13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秘书</a:t>
            </a:r>
            <a:r>
              <a:rPr sz="135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350" strike="sngStrike"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en-US" sz="1350" dirty="0"/>
          </a:p>
        </p:txBody>
      </p:sp>
      <p:sp>
        <p:nvSpPr>
          <p:cNvPr id="536" name="textbox 536"/>
          <p:cNvSpPr/>
          <p:nvPr/>
        </p:nvSpPr>
        <p:spPr>
          <a:xfrm>
            <a:off x="5784273" y="2656559"/>
            <a:ext cx="701039" cy="206693"/>
          </a:xfrm>
          <a:prstGeom prst="rect">
            <a:avLst/>
          </a:prstGeom>
        </p:spPr>
        <p:txBody>
          <a:bodyPr vert="horz" wrap="square" lIns="0" tIns="0" rIns="0" bIns="0"/>
          <a:lstStyle/>
          <a:p>
            <a:pPr algn="l" rtl="0" eaLnBrk="0">
              <a:lnSpc>
                <a:spcPct val="86000"/>
              </a:lnSpc>
            </a:pPr>
            <a:endParaRPr lang="en-US" altLang="en-US" sz="100" dirty="0"/>
          </a:p>
          <a:p>
            <a:pPr marL="12700" algn="l" rtl="0" eaLnBrk="0">
              <a:lnSpc>
                <a:spcPct val="91000"/>
              </a:lnSpc>
            </a:pP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主程序员</a:t>
            </a:r>
            <a:endParaRPr lang="en-US" altLang="en-US" sz="1350" dirty="0"/>
          </a:p>
        </p:txBody>
      </p:sp>
      <p:sp>
        <p:nvSpPr>
          <p:cNvPr id="538" name="rect"/>
          <p:cNvSpPr/>
          <p:nvPr/>
        </p:nvSpPr>
        <p:spPr>
          <a:xfrm>
            <a:off x="6119016" y="2985383"/>
            <a:ext cx="22840" cy="454076"/>
          </a:xfrm>
          <a:prstGeom prst="rect">
            <a:avLst/>
          </a:prstGeom>
          <a:solidFill>
            <a:srgbClr val="919191">
              <a:alpha val="100000"/>
            </a:srgbClr>
          </a:solidFill>
          <a:ln cap="flat">
            <a:noFill/>
            <a:prstDash val="solid"/>
            <a:miter lim="0"/>
          </a:ln>
        </p:spPr>
        <p:txBody>
          <a:bodyPr rtlCol="0"/>
          <a:lstStyle/>
          <a:p>
            <a:pPr algn="ctr"/>
            <a:endParaRPr lang="zh-CN" altLang="en-US" sz="1350"/>
          </a:p>
        </p:txBody>
      </p:sp>
      <p:sp>
        <p:nvSpPr>
          <p:cNvPr id="540" name="rect"/>
          <p:cNvSpPr/>
          <p:nvPr/>
        </p:nvSpPr>
        <p:spPr>
          <a:xfrm>
            <a:off x="6715277" y="2732732"/>
            <a:ext cx="396699" cy="21844"/>
          </a:xfrm>
          <a:prstGeom prst="rect">
            <a:avLst/>
          </a:prstGeom>
          <a:solidFill>
            <a:srgbClr val="919191">
              <a:alpha val="100000"/>
            </a:srgbClr>
          </a:solidFill>
          <a:ln cap="flat">
            <a:noFill/>
            <a:prstDash val="solid"/>
            <a:miter lim="0"/>
          </a:ln>
        </p:spPr>
        <p:txBody>
          <a:bodyPr rtlCol="0"/>
          <a:lstStyle/>
          <a:p>
            <a:pPr algn="ctr"/>
            <a:endParaRPr lang="zh-CN" altLang="en-US" sz="1350"/>
          </a:p>
        </p:txBody>
      </p:sp>
      <p:sp>
        <p:nvSpPr>
          <p:cNvPr id="3" name="标题 2"/>
          <p:cNvSpPr>
            <a:spLocks noGrp="1"/>
          </p:cNvSpPr>
          <p:nvPr>
            <p:ph type="title"/>
          </p:nvPr>
        </p:nvSpPr>
        <p:spPr/>
        <p:txBody>
          <a:bodyPr/>
          <a:p>
            <a:r>
              <a:rPr lang="zh-CN" altLang="en-US" dirty="0"/>
              <a:t>开发团队的组织模式</a:t>
            </a:r>
            <a:endParaRPr lang="en-US" altLang="zh-C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 name="textbox 542"/>
          <p:cNvSpPr/>
          <p:nvPr/>
        </p:nvSpPr>
        <p:spPr>
          <a:xfrm>
            <a:off x="762001" y="1146731"/>
            <a:ext cx="7721918" cy="764858"/>
          </a:xfrm>
          <a:prstGeom prst="rect">
            <a:avLst/>
          </a:prstGeom>
          <a:solidFill>
            <a:srgbClr val="EBEAEA"/>
          </a:solidFill>
        </p:spPr>
        <p:txBody>
          <a:bodyPr vert="horz" wrap="square" lIns="0" tIns="0" rIns="0" bIns="0"/>
          <a:lstStyle/>
          <a:p>
            <a:pPr algn="l" rtl="0" eaLnBrk="0">
              <a:lnSpc>
                <a:spcPct val="136000"/>
              </a:lnSpc>
            </a:pPr>
            <a:endParaRPr lang="en-US" altLang="en-US" sz="750" dirty="0"/>
          </a:p>
          <a:p>
            <a:pPr algn="l" rtl="0" eaLnBrk="0">
              <a:lnSpc>
                <a:spcPct val="8000"/>
              </a:lnSpc>
            </a:pPr>
            <a:endParaRPr lang="en-US" altLang="en-US" sz="100" dirty="0"/>
          </a:p>
          <a:p>
            <a:pPr marL="218440" algn="l" rtl="0" eaLnBrk="0">
              <a:lnSpc>
                <a:spcPct val="83000"/>
              </a:lnSpc>
            </a:pPr>
            <a:r>
              <a:rPr sz="1650" kern="0" spc="-30" dirty="0">
                <a:solidFill>
                  <a:srgbClr val="3300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矩阵式结构 </a:t>
            </a:r>
            <a:r>
              <a:rPr sz="1650" kern="0" spc="-30" dirty="0">
                <a:solidFill>
                  <a:srgbClr val="442A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6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将技术与管理工作进行分离 ，技术负责</a:t>
            </a:r>
            <a:r>
              <a:rPr sz="165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人负责技术上的决策 ，管理</a:t>
            </a:r>
            <a:endParaRPr lang="en-US" altLang="en-US" sz="1650" dirty="0"/>
          </a:p>
          <a:p>
            <a:pPr marL="219710" algn="l" rtl="0" eaLnBrk="0">
              <a:lnSpc>
                <a:spcPts val="3100"/>
              </a:lnSpc>
            </a:pP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负责人负责非技术性事务的管理决策和</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绩效评价。</a:t>
            </a:r>
            <a:endParaRPr lang="en-US" altLang="en-US" sz="1650" dirty="0"/>
          </a:p>
        </p:txBody>
      </p:sp>
      <p:sp>
        <p:nvSpPr>
          <p:cNvPr id="544" name="rect"/>
          <p:cNvSpPr/>
          <p:nvPr/>
        </p:nvSpPr>
        <p:spPr>
          <a:xfrm>
            <a:off x="5530413" y="2589503"/>
            <a:ext cx="930077" cy="410575"/>
          </a:xfrm>
          <a:prstGeom prst="rect">
            <a:avLst/>
          </a:prstGeom>
          <a:solidFill>
            <a:srgbClr val="CFE4C0">
              <a:alpha val="100000"/>
            </a:srgbClr>
          </a:solidFill>
          <a:ln cap="flat">
            <a:noFill/>
            <a:prstDash val="solid"/>
            <a:miter lim="0"/>
          </a:ln>
        </p:spPr>
        <p:txBody>
          <a:bodyPr rtlCol="0"/>
          <a:lstStyle/>
          <a:p>
            <a:pPr algn="ctr"/>
            <a:endParaRPr lang="zh-CN" altLang="en-US" sz="1350"/>
          </a:p>
        </p:txBody>
      </p:sp>
      <p:sp>
        <p:nvSpPr>
          <p:cNvPr id="546" name="rect"/>
          <p:cNvSpPr/>
          <p:nvPr/>
        </p:nvSpPr>
        <p:spPr>
          <a:xfrm>
            <a:off x="5143501" y="3663842"/>
            <a:ext cx="930076" cy="410575"/>
          </a:xfrm>
          <a:prstGeom prst="rect">
            <a:avLst/>
          </a:prstGeom>
          <a:solidFill>
            <a:srgbClr val="C8DFF1">
              <a:alpha val="100000"/>
            </a:srgbClr>
          </a:solidFill>
          <a:ln cap="flat">
            <a:noFill/>
            <a:prstDash val="solid"/>
            <a:miter lim="0"/>
          </a:ln>
        </p:spPr>
        <p:txBody>
          <a:bodyPr rtlCol="0"/>
          <a:lstStyle/>
          <a:p>
            <a:pPr algn="ctr"/>
            <a:endParaRPr lang="zh-CN" altLang="en-US" sz="1350"/>
          </a:p>
        </p:txBody>
      </p:sp>
      <p:sp>
        <p:nvSpPr>
          <p:cNvPr id="548" name="rect"/>
          <p:cNvSpPr/>
          <p:nvPr/>
        </p:nvSpPr>
        <p:spPr>
          <a:xfrm>
            <a:off x="6294316" y="3666124"/>
            <a:ext cx="930077" cy="410575"/>
          </a:xfrm>
          <a:prstGeom prst="rect">
            <a:avLst/>
          </a:prstGeom>
          <a:solidFill>
            <a:srgbClr val="C8DFF1">
              <a:alpha val="100000"/>
            </a:srgbClr>
          </a:solidFill>
          <a:ln cap="flat">
            <a:noFill/>
            <a:prstDash val="solid"/>
            <a:miter lim="0"/>
          </a:ln>
        </p:spPr>
        <p:txBody>
          <a:bodyPr rtlCol="0"/>
          <a:lstStyle/>
          <a:p>
            <a:pPr algn="ctr"/>
            <a:endParaRPr lang="zh-CN" altLang="en-US" sz="1350"/>
          </a:p>
        </p:txBody>
      </p:sp>
      <p:sp>
        <p:nvSpPr>
          <p:cNvPr id="550" name="rect"/>
          <p:cNvSpPr/>
          <p:nvPr/>
        </p:nvSpPr>
        <p:spPr>
          <a:xfrm>
            <a:off x="7426532" y="3652438"/>
            <a:ext cx="930076" cy="410575"/>
          </a:xfrm>
          <a:prstGeom prst="rect">
            <a:avLst/>
          </a:prstGeom>
          <a:solidFill>
            <a:srgbClr val="C8DFF1">
              <a:alpha val="100000"/>
            </a:srgbClr>
          </a:solidFill>
          <a:ln cap="flat">
            <a:noFill/>
            <a:prstDash val="solid"/>
            <a:miter lim="0"/>
          </a:ln>
        </p:spPr>
        <p:txBody>
          <a:bodyPr rtlCol="0"/>
          <a:lstStyle/>
          <a:p>
            <a:pPr algn="ctr"/>
            <a:endParaRPr lang="zh-CN" altLang="en-US" sz="1350"/>
          </a:p>
        </p:txBody>
      </p:sp>
      <p:sp>
        <p:nvSpPr>
          <p:cNvPr id="552" name="rect"/>
          <p:cNvSpPr/>
          <p:nvPr/>
        </p:nvSpPr>
        <p:spPr>
          <a:xfrm>
            <a:off x="6947851" y="2578098"/>
            <a:ext cx="930077" cy="410575"/>
          </a:xfrm>
          <a:prstGeom prst="rect">
            <a:avLst/>
          </a:prstGeom>
          <a:solidFill>
            <a:srgbClr val="FAD5BA">
              <a:alpha val="100000"/>
            </a:srgbClr>
          </a:solidFill>
          <a:ln cap="flat">
            <a:noFill/>
            <a:prstDash val="solid"/>
            <a:miter lim="0"/>
          </a:ln>
        </p:spPr>
        <p:txBody>
          <a:bodyPr rtlCol="0"/>
          <a:lstStyle/>
          <a:p>
            <a:pPr algn="ctr"/>
            <a:endParaRPr lang="zh-CN" altLang="en-US" sz="1350"/>
          </a:p>
        </p:txBody>
      </p:sp>
      <p:sp>
        <p:nvSpPr>
          <p:cNvPr id="554" name="textbox 554"/>
          <p:cNvSpPr/>
          <p:nvPr/>
        </p:nvSpPr>
        <p:spPr>
          <a:xfrm>
            <a:off x="5133976" y="2704250"/>
            <a:ext cx="3232309" cy="1273016"/>
          </a:xfrm>
          <a:prstGeom prst="rect">
            <a:avLst/>
          </a:prstGeom>
        </p:spPr>
        <p:txBody>
          <a:bodyPr vert="horz" wrap="square" lIns="0" tIns="0" rIns="0" bIns="0"/>
          <a:lstStyle/>
          <a:p>
            <a:pPr algn="l" rtl="0" eaLnBrk="0">
              <a:lnSpc>
                <a:spcPct val="90000"/>
              </a:lnSpc>
            </a:pPr>
            <a:endParaRPr lang="en-US" altLang="en-US" sz="100" dirty="0"/>
          </a:p>
          <a:p>
            <a:pPr marL="528320" algn="l" rtl="0" eaLnBrk="0">
              <a:lnSpc>
                <a:spcPct val="88000"/>
              </a:lnSpc>
              <a:tabLst>
                <a:tab pos="743585" algn="l"/>
              </a:tabLst>
            </a:pPr>
            <a:r>
              <a:rPr sz="12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技术组长</a:t>
            </a:r>
            <a:r>
              <a:rPr sz="12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管理组长</a:t>
            </a:r>
            <a:r>
              <a:rPr sz="12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en-US" sz="1200" dirty="0"/>
          </a:p>
          <a:p>
            <a:pPr algn="l" rtl="0" eaLnBrk="0">
              <a:lnSpc>
                <a:spcPct val="108000"/>
              </a:lnSpc>
            </a:pPr>
            <a:endParaRPr lang="en-US" altLang="en-US" sz="750" dirty="0"/>
          </a:p>
          <a:p>
            <a:pPr algn="l" rtl="0" eaLnBrk="0">
              <a:lnSpc>
                <a:spcPct val="108000"/>
              </a:lnSpc>
            </a:pPr>
            <a:endParaRPr lang="en-US" altLang="en-US" sz="750" dirty="0"/>
          </a:p>
          <a:p>
            <a:pPr algn="l" rtl="0" eaLnBrk="0">
              <a:lnSpc>
                <a:spcPct val="108000"/>
              </a:lnSpc>
            </a:pPr>
            <a:endParaRPr lang="en-US" altLang="en-US" sz="750" dirty="0"/>
          </a:p>
          <a:p>
            <a:pPr algn="l" rtl="0" eaLnBrk="0">
              <a:lnSpc>
                <a:spcPct val="108000"/>
              </a:lnSpc>
            </a:pPr>
            <a:endParaRPr lang="en-US" altLang="en-US" sz="750" dirty="0"/>
          </a:p>
          <a:p>
            <a:pPr algn="l" rtl="0" eaLnBrk="0">
              <a:lnSpc>
                <a:spcPct val="108000"/>
              </a:lnSpc>
            </a:pPr>
            <a:endParaRPr lang="en-US" altLang="en-US" sz="750" dirty="0"/>
          </a:p>
          <a:p>
            <a:pPr algn="l" rtl="0" eaLnBrk="0">
              <a:lnSpc>
                <a:spcPct val="108000"/>
              </a:lnSpc>
            </a:pPr>
            <a:endParaRPr lang="en-US" altLang="en-US" sz="750" dirty="0"/>
          </a:p>
          <a:p>
            <a:pPr algn="l" rtl="0" eaLnBrk="0">
              <a:lnSpc>
                <a:spcPct val="109000"/>
              </a:lnSpc>
            </a:pPr>
            <a:endParaRPr lang="en-US" altLang="en-US" sz="750" dirty="0"/>
          </a:p>
          <a:p>
            <a:pPr algn="l" rtl="0" eaLnBrk="0">
              <a:lnSpc>
                <a:spcPct val="100000"/>
              </a:lnSpc>
            </a:pPr>
            <a:endParaRPr lang="en-US" altLang="en-US" sz="300" dirty="0"/>
          </a:p>
          <a:p>
            <a:pPr marL="12700" algn="l" rtl="0" eaLnBrk="0">
              <a:lnSpc>
                <a:spcPct val="99000"/>
              </a:lnSpc>
              <a:spcBef>
                <a:spcPts val="0"/>
              </a:spcBef>
              <a:tabLst>
                <a:tab pos="327025" algn="l"/>
              </a:tabLst>
            </a:pPr>
            <a:r>
              <a:rPr sz="12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程序员               程</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序员               程序员      </a:t>
            </a:r>
            <a:endParaRPr lang="en-US" altLang="en-US" sz="1200" dirty="0"/>
          </a:p>
        </p:txBody>
      </p:sp>
      <p:sp>
        <p:nvSpPr>
          <p:cNvPr id="556"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grpSp>
        <p:nvGrpSpPr>
          <p:cNvPr id="72" name="group 72"/>
          <p:cNvGrpSpPr/>
          <p:nvPr/>
        </p:nvGrpSpPr>
        <p:grpSpPr>
          <a:xfrm rot="21600000">
            <a:off x="5429966" y="2992152"/>
            <a:ext cx="2543885" cy="676252"/>
            <a:chOff x="0" y="0"/>
            <a:chExt cx="3391847" cy="901669"/>
          </a:xfrm>
        </p:grpSpPr>
        <p:sp>
          <p:nvSpPr>
            <p:cNvPr id="558" name="path"/>
            <p:cNvSpPr/>
            <p:nvPr/>
          </p:nvSpPr>
          <p:spPr>
            <a:xfrm>
              <a:off x="704494" y="6930"/>
              <a:ext cx="1008749" cy="886228"/>
            </a:xfrm>
            <a:custGeom>
              <a:avLst/>
              <a:gdLst/>
              <a:ahLst/>
              <a:cxnLst/>
              <a:rect l="0" t="0" r="0" b="0"/>
              <a:pathLst>
                <a:path w="1588" h="1395">
                  <a:moveTo>
                    <a:pt x="5" y="5"/>
                  </a:moveTo>
                  <a:lnTo>
                    <a:pt x="1583" y="1389"/>
                  </a:lnTo>
                </a:path>
              </a:pathLst>
            </a:custGeom>
            <a:noFill/>
            <a:ln w="9677" cap="flat">
              <a:solidFill>
                <a:srgbClr val="000000">
                  <a:alpha val="100000"/>
                </a:srgbClr>
              </a:solidFill>
              <a:prstDash val="solid"/>
              <a:round/>
            </a:ln>
          </p:spPr>
          <p:txBody>
            <a:bodyPr rtlCol="0"/>
            <a:lstStyle/>
            <a:p>
              <a:pPr algn="ctr"/>
              <a:endParaRPr lang="zh-CN" altLang="en-US" sz="1350"/>
            </a:p>
          </p:txBody>
        </p:sp>
        <p:sp>
          <p:nvSpPr>
            <p:cNvPr id="560" name="path"/>
            <p:cNvSpPr/>
            <p:nvPr/>
          </p:nvSpPr>
          <p:spPr>
            <a:xfrm>
              <a:off x="1630953" y="813540"/>
              <a:ext cx="82412" cy="78884"/>
            </a:xfrm>
            <a:custGeom>
              <a:avLst/>
              <a:gdLst/>
              <a:ahLst/>
              <a:cxnLst/>
              <a:rect l="0" t="0" r="0" b="0"/>
              <a:pathLst>
                <a:path w="129" h="124">
                  <a:moveTo>
                    <a:pt x="79" y="0"/>
                  </a:moveTo>
                  <a:lnTo>
                    <a:pt x="129" y="124"/>
                  </a:lnTo>
                  <a:lnTo>
                    <a:pt x="0" y="90"/>
                  </a:lnTo>
                  <a:lnTo>
                    <a:pt x="79" y="0"/>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562" name="path"/>
            <p:cNvSpPr/>
            <p:nvPr/>
          </p:nvSpPr>
          <p:spPr>
            <a:xfrm>
              <a:off x="789" y="17221"/>
              <a:ext cx="517599" cy="862363"/>
            </a:xfrm>
            <a:custGeom>
              <a:avLst/>
              <a:gdLst/>
              <a:ahLst/>
              <a:cxnLst/>
              <a:rect l="0" t="0" r="0" b="0"/>
              <a:pathLst>
                <a:path w="815" h="1358">
                  <a:moveTo>
                    <a:pt x="808" y="3"/>
                  </a:moveTo>
                  <a:lnTo>
                    <a:pt x="6" y="1354"/>
                  </a:lnTo>
                </a:path>
              </a:pathLst>
            </a:custGeom>
            <a:noFill/>
            <a:ln w="9677" cap="flat">
              <a:solidFill>
                <a:srgbClr val="000000">
                  <a:alpha val="100000"/>
                </a:srgbClr>
              </a:solidFill>
              <a:prstDash val="solid"/>
              <a:round/>
            </a:ln>
          </p:spPr>
          <p:txBody>
            <a:bodyPr rtlCol="0"/>
            <a:lstStyle/>
            <a:p>
              <a:pPr algn="ctr"/>
              <a:endParaRPr lang="zh-CN" altLang="en-US" sz="1350"/>
            </a:p>
          </p:txBody>
        </p:sp>
        <p:sp>
          <p:nvSpPr>
            <p:cNvPr id="564" name="path"/>
            <p:cNvSpPr/>
            <p:nvPr/>
          </p:nvSpPr>
          <p:spPr>
            <a:xfrm>
              <a:off x="0" y="800478"/>
              <a:ext cx="71670" cy="84972"/>
            </a:xfrm>
            <a:custGeom>
              <a:avLst/>
              <a:gdLst/>
              <a:ahLst/>
              <a:cxnLst/>
              <a:rect l="0" t="0" r="0" b="0"/>
              <a:pathLst>
                <a:path w="112" h="133">
                  <a:moveTo>
                    <a:pt x="9" y="0"/>
                  </a:moveTo>
                  <a:lnTo>
                    <a:pt x="0" y="133"/>
                  </a:lnTo>
                  <a:lnTo>
                    <a:pt x="112" y="61"/>
                  </a:lnTo>
                  <a:lnTo>
                    <a:pt x="9" y="0"/>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566" name="path"/>
            <p:cNvSpPr/>
            <p:nvPr/>
          </p:nvSpPr>
          <p:spPr>
            <a:xfrm>
              <a:off x="924154" y="12154"/>
              <a:ext cx="2136852" cy="857517"/>
            </a:xfrm>
            <a:custGeom>
              <a:avLst/>
              <a:gdLst/>
              <a:ahLst/>
              <a:cxnLst/>
              <a:rect l="0" t="0" r="0" b="0"/>
              <a:pathLst>
                <a:path w="3365" h="1350">
                  <a:moveTo>
                    <a:pt x="2" y="7"/>
                  </a:moveTo>
                  <a:lnTo>
                    <a:pt x="3362" y="1343"/>
                  </a:lnTo>
                </a:path>
              </a:pathLst>
            </a:custGeom>
            <a:noFill/>
            <a:ln w="9677" cap="flat">
              <a:solidFill>
                <a:srgbClr val="000000">
                  <a:alpha val="100000"/>
                </a:srgbClr>
              </a:solidFill>
              <a:prstDash val="solid"/>
              <a:round/>
            </a:ln>
          </p:spPr>
          <p:txBody>
            <a:bodyPr rtlCol="0"/>
            <a:lstStyle/>
            <a:p>
              <a:pPr algn="ctr"/>
              <a:endParaRPr lang="zh-CN" altLang="en-US" sz="1350"/>
            </a:p>
          </p:txBody>
        </p:sp>
        <p:sp>
          <p:nvSpPr>
            <p:cNvPr id="568" name="path"/>
            <p:cNvSpPr/>
            <p:nvPr/>
          </p:nvSpPr>
          <p:spPr>
            <a:xfrm>
              <a:off x="2964337" y="797636"/>
              <a:ext cx="84885" cy="70804"/>
            </a:xfrm>
            <a:custGeom>
              <a:avLst/>
              <a:gdLst/>
              <a:ahLst/>
              <a:cxnLst/>
              <a:rect l="0" t="0" r="0" b="0"/>
              <a:pathLst>
                <a:path w="133" h="111">
                  <a:moveTo>
                    <a:pt x="44" y="0"/>
                  </a:moveTo>
                  <a:lnTo>
                    <a:pt x="133" y="100"/>
                  </a:lnTo>
                  <a:lnTo>
                    <a:pt x="0" y="111"/>
                  </a:lnTo>
                  <a:lnTo>
                    <a:pt x="44" y="0"/>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570" name="path"/>
            <p:cNvSpPr/>
            <p:nvPr/>
          </p:nvSpPr>
          <p:spPr>
            <a:xfrm>
              <a:off x="255075" y="0"/>
              <a:ext cx="2195528" cy="895384"/>
            </a:xfrm>
            <a:custGeom>
              <a:avLst/>
              <a:gdLst/>
              <a:ahLst/>
              <a:cxnLst/>
              <a:rect l="0" t="0" r="0" b="0"/>
              <a:pathLst>
                <a:path w="3457" h="1410">
                  <a:moveTo>
                    <a:pt x="3454" y="7"/>
                  </a:moveTo>
                  <a:lnTo>
                    <a:pt x="2" y="1402"/>
                  </a:lnTo>
                </a:path>
              </a:pathLst>
            </a:custGeom>
            <a:noFill/>
            <a:ln w="9677" cap="flat">
              <a:solidFill>
                <a:srgbClr val="000000">
                  <a:alpha val="100000"/>
                </a:srgbClr>
              </a:solidFill>
              <a:prstDash val="dash"/>
              <a:round/>
            </a:ln>
          </p:spPr>
          <p:txBody>
            <a:bodyPr rtlCol="0"/>
            <a:lstStyle/>
            <a:p>
              <a:pPr algn="ctr"/>
              <a:endParaRPr lang="zh-CN" altLang="en-US" sz="1350"/>
            </a:p>
          </p:txBody>
        </p:sp>
        <p:sp>
          <p:nvSpPr>
            <p:cNvPr id="572" name="path"/>
            <p:cNvSpPr/>
            <p:nvPr/>
          </p:nvSpPr>
          <p:spPr>
            <a:xfrm>
              <a:off x="267861" y="822573"/>
              <a:ext cx="84925" cy="70642"/>
            </a:xfrm>
            <a:custGeom>
              <a:avLst/>
              <a:gdLst/>
              <a:ahLst/>
              <a:cxnLst/>
              <a:rect l="0" t="0" r="0" b="0"/>
              <a:pathLst>
                <a:path w="133" h="111">
                  <a:moveTo>
                    <a:pt x="88" y="0"/>
                  </a:moveTo>
                  <a:lnTo>
                    <a:pt x="0" y="100"/>
                  </a:lnTo>
                  <a:lnTo>
                    <a:pt x="133" y="111"/>
                  </a:lnTo>
                  <a:lnTo>
                    <a:pt x="88" y="0"/>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574" name="path"/>
            <p:cNvSpPr/>
            <p:nvPr/>
          </p:nvSpPr>
          <p:spPr>
            <a:xfrm>
              <a:off x="1856109" y="16404"/>
              <a:ext cx="819449" cy="883730"/>
            </a:xfrm>
            <a:custGeom>
              <a:avLst/>
              <a:gdLst/>
              <a:ahLst/>
              <a:cxnLst/>
              <a:rect l="0" t="0" r="0" b="0"/>
              <a:pathLst>
                <a:path w="1290" h="1391">
                  <a:moveTo>
                    <a:pt x="1284" y="5"/>
                  </a:moveTo>
                  <a:lnTo>
                    <a:pt x="5" y="1386"/>
                  </a:lnTo>
                </a:path>
              </a:pathLst>
            </a:custGeom>
            <a:noFill/>
            <a:ln w="9677" cap="flat">
              <a:solidFill>
                <a:srgbClr val="000000">
                  <a:alpha val="100000"/>
                </a:srgbClr>
              </a:solidFill>
              <a:prstDash val="dash"/>
              <a:round/>
            </a:ln>
          </p:spPr>
          <p:txBody>
            <a:bodyPr rtlCol="0"/>
            <a:lstStyle/>
            <a:p>
              <a:pPr algn="ctr"/>
              <a:endParaRPr lang="zh-CN" altLang="en-US" sz="1350"/>
            </a:p>
          </p:txBody>
        </p:sp>
        <p:sp>
          <p:nvSpPr>
            <p:cNvPr id="576" name="path"/>
            <p:cNvSpPr/>
            <p:nvPr/>
          </p:nvSpPr>
          <p:spPr>
            <a:xfrm>
              <a:off x="1855193" y="819875"/>
              <a:ext cx="79731" cy="81794"/>
            </a:xfrm>
            <a:custGeom>
              <a:avLst/>
              <a:gdLst/>
              <a:ahLst/>
              <a:cxnLst/>
              <a:rect l="0" t="0" r="0" b="0"/>
              <a:pathLst>
                <a:path w="125" h="128">
                  <a:moveTo>
                    <a:pt x="37" y="0"/>
                  </a:moveTo>
                  <a:lnTo>
                    <a:pt x="0" y="128"/>
                  </a:lnTo>
                  <a:lnTo>
                    <a:pt x="125" y="81"/>
                  </a:lnTo>
                  <a:lnTo>
                    <a:pt x="37" y="0"/>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578" name="path"/>
            <p:cNvSpPr/>
            <p:nvPr/>
          </p:nvSpPr>
          <p:spPr>
            <a:xfrm>
              <a:off x="2904229" y="17334"/>
              <a:ext cx="487000" cy="862020"/>
            </a:xfrm>
            <a:custGeom>
              <a:avLst/>
              <a:gdLst/>
              <a:ahLst/>
              <a:cxnLst/>
              <a:rect l="0" t="0" r="0" b="0"/>
              <a:pathLst>
                <a:path w="766" h="1357">
                  <a:moveTo>
                    <a:pt x="6" y="3"/>
                  </a:moveTo>
                  <a:lnTo>
                    <a:pt x="760" y="1353"/>
                  </a:lnTo>
                </a:path>
              </a:pathLst>
            </a:custGeom>
            <a:noFill/>
            <a:ln w="9677" cap="flat">
              <a:solidFill>
                <a:srgbClr val="000000">
                  <a:alpha val="100000"/>
                </a:srgbClr>
              </a:solidFill>
              <a:prstDash val="dash"/>
              <a:round/>
            </a:ln>
          </p:spPr>
          <p:txBody>
            <a:bodyPr rtlCol="0"/>
            <a:lstStyle/>
            <a:p>
              <a:pPr algn="ctr"/>
              <a:endParaRPr lang="zh-CN" altLang="en-US" sz="1350"/>
            </a:p>
          </p:txBody>
        </p:sp>
        <p:sp>
          <p:nvSpPr>
            <p:cNvPr id="580" name="path"/>
            <p:cNvSpPr/>
            <p:nvPr/>
          </p:nvSpPr>
          <p:spPr>
            <a:xfrm>
              <a:off x="3321440" y="800568"/>
              <a:ext cx="70406" cy="85105"/>
            </a:xfrm>
            <a:custGeom>
              <a:avLst/>
              <a:gdLst/>
              <a:ahLst/>
              <a:cxnLst/>
              <a:rect l="0" t="0" r="0" b="0"/>
              <a:pathLst>
                <a:path w="110" h="134">
                  <a:moveTo>
                    <a:pt x="104" y="0"/>
                  </a:moveTo>
                  <a:lnTo>
                    <a:pt x="110" y="134"/>
                  </a:lnTo>
                  <a:lnTo>
                    <a:pt x="0" y="58"/>
                  </a:lnTo>
                  <a:lnTo>
                    <a:pt x="104" y="0"/>
                  </a:lnTo>
                  <a:close/>
                </a:path>
              </a:pathLst>
            </a:custGeom>
            <a:solidFill>
              <a:srgbClr val="000000">
                <a:alpha val="100000"/>
              </a:srgbClr>
            </a:solidFill>
            <a:ln cap="flat">
              <a:noFill/>
              <a:prstDash val="solid"/>
              <a:miter lim="0"/>
            </a:ln>
          </p:spPr>
          <p:txBody>
            <a:bodyPr rtlCol="0"/>
            <a:lstStyle/>
            <a:p>
              <a:pPr algn="ctr"/>
              <a:endParaRPr lang="zh-CN" altLang="en-US" sz="1350"/>
            </a:p>
          </p:txBody>
        </p:sp>
      </p:grpSp>
      <p:graphicFrame>
        <p:nvGraphicFramePr>
          <p:cNvPr id="598" name="table 598"/>
          <p:cNvGraphicFramePr>
            <a:graphicFrameLocks noGrp="1"/>
          </p:cNvGraphicFramePr>
          <p:nvPr/>
        </p:nvGraphicFramePr>
        <p:xfrm>
          <a:off x="1053149" y="2765438"/>
          <a:ext cx="1186815" cy="335915"/>
        </p:xfrm>
        <a:graphic>
          <a:graphicData uri="http://schemas.openxmlformats.org/drawingml/2006/table">
            <a:tbl>
              <a:tblPr>
                <a:solidFill>
                  <a:srgbClr val="FFF4D5"/>
                </a:solidFill>
              </a:tblPr>
              <a:tblGrid>
                <a:gridCol w="1186815"/>
              </a:tblGrid>
              <a:tr h="335915">
                <a:tc>
                  <a:txBody>
                    <a:bodyPr/>
                    <a:lstStyle/>
                    <a:p>
                      <a:pPr algn="l" rtl="0" eaLnBrk="0">
                        <a:lnSpc>
                          <a:spcPct val="105000"/>
                        </a:lnSpc>
                      </a:pPr>
                      <a:endParaRPr lang="en-US" altLang="en-US" sz="600" dirty="0"/>
                    </a:p>
                    <a:p>
                      <a:pPr marL="71755" algn="l" rtl="0" eaLnBrk="0">
                        <a:lnSpc>
                          <a:spcPct val="91000"/>
                        </a:lnSpc>
                        <a:spcBef>
                          <a:spcPts val="5"/>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项目经理部经理</a:t>
                      </a:r>
                      <a:endParaRPr lang="en-US" altLang="en-US" sz="12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D5"/>
                    </a:solidFill>
                  </a:tcPr>
                </a:tc>
              </a:tr>
            </a:tbl>
          </a:graphicData>
        </a:graphic>
      </p:graphicFrame>
      <p:graphicFrame>
        <p:nvGraphicFramePr>
          <p:cNvPr id="600" name="table 600"/>
          <p:cNvGraphicFramePr>
            <a:graphicFrameLocks noGrp="1"/>
          </p:cNvGraphicFramePr>
          <p:nvPr/>
        </p:nvGraphicFramePr>
        <p:xfrm>
          <a:off x="2449023" y="2171316"/>
          <a:ext cx="1186815" cy="335915"/>
        </p:xfrm>
        <a:graphic>
          <a:graphicData uri="http://schemas.openxmlformats.org/drawingml/2006/table">
            <a:tbl>
              <a:tblPr>
                <a:solidFill>
                  <a:srgbClr val="FFF4D5"/>
                </a:solidFill>
              </a:tblPr>
              <a:tblGrid>
                <a:gridCol w="1186815"/>
              </a:tblGrid>
              <a:tr h="335915">
                <a:tc>
                  <a:txBody>
                    <a:bodyPr/>
                    <a:lstStyle/>
                    <a:p>
                      <a:pPr algn="l" rtl="0" eaLnBrk="0">
                        <a:lnSpc>
                          <a:spcPct val="105000"/>
                        </a:lnSpc>
                      </a:pPr>
                      <a:endParaRPr lang="en-US" altLang="en-US" sz="600" dirty="0"/>
                    </a:p>
                    <a:p>
                      <a:pPr marL="278130" algn="l" rtl="0" eaLnBrk="0">
                        <a:lnSpc>
                          <a:spcPct val="91000"/>
                        </a:lnSpc>
                        <a:spcBef>
                          <a:spcPts val="5"/>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高层管理者</a:t>
                      </a:r>
                      <a:endParaRPr lang="en-US" altLang="en-US" sz="12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D5"/>
                    </a:solidFill>
                  </a:tcPr>
                </a:tc>
              </a:tr>
            </a:tbl>
          </a:graphicData>
        </a:graphic>
      </p:graphicFrame>
      <p:graphicFrame>
        <p:nvGraphicFramePr>
          <p:cNvPr id="602" name="table 602"/>
          <p:cNvGraphicFramePr>
            <a:graphicFrameLocks noGrp="1"/>
          </p:cNvGraphicFramePr>
          <p:nvPr/>
        </p:nvGraphicFramePr>
        <p:xfrm>
          <a:off x="3841975" y="2765438"/>
          <a:ext cx="1011555" cy="353695"/>
        </p:xfrm>
        <a:graphic>
          <a:graphicData uri="http://schemas.openxmlformats.org/drawingml/2006/table">
            <a:tbl>
              <a:tblPr>
                <a:solidFill>
                  <a:srgbClr val="FFF4D5"/>
                </a:solidFill>
              </a:tblPr>
              <a:tblGrid>
                <a:gridCol w="1011555"/>
              </a:tblGrid>
              <a:tr h="353695">
                <a:tc>
                  <a:txBody>
                    <a:bodyPr/>
                    <a:lstStyle/>
                    <a:p>
                      <a:pPr algn="l" rtl="0" eaLnBrk="0">
                        <a:lnSpc>
                          <a:spcPct val="102000"/>
                        </a:lnSpc>
                      </a:pPr>
                      <a:endParaRPr lang="en-US" altLang="en-US" sz="675" dirty="0"/>
                    </a:p>
                    <a:p>
                      <a:pPr algn="l" rtl="0" eaLnBrk="0">
                        <a:lnSpc>
                          <a:spcPct val="7000"/>
                        </a:lnSpc>
                      </a:pPr>
                      <a:endParaRPr lang="en-US" altLang="en-US" sz="100" dirty="0"/>
                    </a:p>
                    <a:p>
                      <a:pPr marL="264795" algn="l" rtl="0" eaLnBrk="0">
                        <a:lnSpc>
                          <a:spcPct val="91000"/>
                        </a:lnSpc>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职能经理</a:t>
                      </a:r>
                      <a:endParaRPr lang="en-US" altLang="en-US" sz="12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D5"/>
                    </a:solidFill>
                  </a:tcPr>
                </a:tc>
              </a:tr>
            </a:tbl>
          </a:graphicData>
        </a:graphic>
      </p:graphicFrame>
      <p:graphicFrame>
        <p:nvGraphicFramePr>
          <p:cNvPr id="604" name="table 604"/>
          <p:cNvGraphicFramePr>
            <a:graphicFrameLocks noGrp="1"/>
          </p:cNvGraphicFramePr>
          <p:nvPr/>
        </p:nvGraphicFramePr>
        <p:xfrm>
          <a:off x="2536463" y="2765438"/>
          <a:ext cx="1011555" cy="353695"/>
        </p:xfrm>
        <a:graphic>
          <a:graphicData uri="http://schemas.openxmlformats.org/drawingml/2006/table">
            <a:tbl>
              <a:tblPr>
                <a:solidFill>
                  <a:srgbClr val="FFF4D5"/>
                </a:solidFill>
              </a:tblPr>
              <a:tblGrid>
                <a:gridCol w="1011555"/>
              </a:tblGrid>
              <a:tr h="353695">
                <a:tc>
                  <a:txBody>
                    <a:bodyPr/>
                    <a:lstStyle/>
                    <a:p>
                      <a:pPr algn="l" rtl="0" eaLnBrk="0">
                        <a:lnSpc>
                          <a:spcPct val="102000"/>
                        </a:lnSpc>
                      </a:pPr>
                      <a:endParaRPr lang="en-US" altLang="en-US" sz="675" dirty="0"/>
                    </a:p>
                    <a:p>
                      <a:pPr algn="l" rtl="0" eaLnBrk="0">
                        <a:lnSpc>
                          <a:spcPct val="7000"/>
                        </a:lnSpc>
                      </a:pPr>
                      <a:endParaRPr lang="en-US" altLang="en-US" sz="100" dirty="0"/>
                    </a:p>
                    <a:p>
                      <a:pPr marL="264795" algn="l" rtl="0" eaLnBrk="0">
                        <a:lnSpc>
                          <a:spcPct val="91000"/>
                        </a:lnSpc>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职能经理</a:t>
                      </a:r>
                      <a:endParaRPr lang="en-US" altLang="en-US" sz="12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D5"/>
                    </a:solidFill>
                  </a:tcPr>
                </a:tc>
              </a:tr>
            </a:tbl>
          </a:graphicData>
        </a:graphic>
      </p:graphicFrame>
      <p:graphicFrame>
        <p:nvGraphicFramePr>
          <p:cNvPr id="606" name="table 606"/>
          <p:cNvGraphicFramePr>
            <a:graphicFrameLocks noGrp="1"/>
          </p:cNvGraphicFramePr>
          <p:nvPr/>
        </p:nvGraphicFramePr>
        <p:xfrm>
          <a:off x="1053149" y="3219862"/>
          <a:ext cx="942975" cy="280035"/>
        </p:xfrm>
        <a:graphic>
          <a:graphicData uri="http://schemas.openxmlformats.org/drawingml/2006/table">
            <a:tbl>
              <a:tblPr>
                <a:solidFill>
                  <a:srgbClr val="FFF4D5"/>
                </a:solidFill>
              </a:tblPr>
              <a:tblGrid>
                <a:gridCol w="942975"/>
              </a:tblGrid>
              <a:tr h="280035">
                <a:tc>
                  <a:txBody>
                    <a:bodyPr/>
                    <a:lstStyle/>
                    <a:p>
                      <a:pPr algn="l" rtl="0" eaLnBrk="0">
                        <a:lnSpc>
                          <a:spcPct val="100000"/>
                        </a:lnSpc>
                      </a:pPr>
                      <a:endParaRPr lang="en-US" altLang="en-US" sz="450" dirty="0"/>
                    </a:p>
                    <a:p>
                      <a:pPr marL="211455" algn="l" rtl="0" eaLnBrk="0">
                        <a:lnSpc>
                          <a:spcPct val="91000"/>
                        </a:lnSpc>
                        <a:spcBef>
                          <a:spcPts val="5"/>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项目经理</a:t>
                      </a:r>
                      <a:endParaRPr lang="en-US" altLang="en-US" sz="12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D5"/>
                    </a:solidFill>
                  </a:tcPr>
                </a:tc>
              </a:tr>
            </a:tbl>
          </a:graphicData>
        </a:graphic>
      </p:graphicFrame>
      <p:graphicFrame>
        <p:nvGraphicFramePr>
          <p:cNvPr id="608" name="table 608"/>
          <p:cNvGraphicFramePr>
            <a:graphicFrameLocks noGrp="1"/>
          </p:cNvGraphicFramePr>
          <p:nvPr/>
        </p:nvGraphicFramePr>
        <p:xfrm>
          <a:off x="1053149" y="3615388"/>
          <a:ext cx="942975" cy="280035"/>
        </p:xfrm>
        <a:graphic>
          <a:graphicData uri="http://schemas.openxmlformats.org/drawingml/2006/table">
            <a:tbl>
              <a:tblPr>
                <a:solidFill>
                  <a:srgbClr val="FFF4D5"/>
                </a:solidFill>
              </a:tblPr>
              <a:tblGrid>
                <a:gridCol w="942975"/>
              </a:tblGrid>
              <a:tr h="280035">
                <a:tc>
                  <a:txBody>
                    <a:bodyPr/>
                    <a:lstStyle/>
                    <a:p>
                      <a:pPr algn="l" rtl="0" eaLnBrk="0">
                        <a:lnSpc>
                          <a:spcPct val="100000"/>
                        </a:lnSpc>
                      </a:pPr>
                      <a:endParaRPr lang="en-US" altLang="en-US" sz="450" dirty="0"/>
                    </a:p>
                    <a:p>
                      <a:pPr marL="211455" algn="l" rtl="0" eaLnBrk="0">
                        <a:lnSpc>
                          <a:spcPct val="91000"/>
                        </a:lnSpc>
                        <a:spcBef>
                          <a:spcPts val="5"/>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项目经理</a:t>
                      </a:r>
                      <a:endParaRPr lang="en-US" altLang="en-US" sz="12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D5"/>
                    </a:solidFill>
                  </a:tcPr>
                </a:tc>
              </a:tr>
            </a:tbl>
          </a:graphicData>
        </a:graphic>
      </p:graphicFrame>
      <p:graphicFrame>
        <p:nvGraphicFramePr>
          <p:cNvPr id="610" name="table 610"/>
          <p:cNvGraphicFramePr>
            <a:graphicFrameLocks noGrp="1"/>
          </p:cNvGraphicFramePr>
          <p:nvPr/>
        </p:nvGraphicFramePr>
        <p:xfrm>
          <a:off x="1053146" y="4021153"/>
          <a:ext cx="942975" cy="280035"/>
        </p:xfrm>
        <a:graphic>
          <a:graphicData uri="http://schemas.openxmlformats.org/drawingml/2006/table">
            <a:tbl>
              <a:tblPr>
                <a:solidFill>
                  <a:srgbClr val="FFF4D5"/>
                </a:solidFill>
              </a:tblPr>
              <a:tblGrid>
                <a:gridCol w="942975"/>
              </a:tblGrid>
              <a:tr h="280035">
                <a:tc>
                  <a:txBody>
                    <a:bodyPr/>
                    <a:lstStyle/>
                    <a:p>
                      <a:pPr algn="l" rtl="0" eaLnBrk="0">
                        <a:lnSpc>
                          <a:spcPct val="100000"/>
                        </a:lnSpc>
                      </a:pPr>
                      <a:endParaRPr lang="en-US" altLang="en-US" sz="450" dirty="0"/>
                    </a:p>
                    <a:p>
                      <a:pPr marL="211455" algn="l" rtl="0" eaLnBrk="0">
                        <a:lnSpc>
                          <a:spcPct val="91000"/>
                        </a:lnSpc>
                        <a:spcBef>
                          <a:spcPts val="5"/>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项目经理</a:t>
                      </a:r>
                      <a:endParaRPr lang="en-US" altLang="en-US" sz="12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D5"/>
                    </a:solidFill>
                  </a:tcPr>
                </a:tc>
              </a:tr>
            </a:tbl>
          </a:graphicData>
        </a:graphic>
      </p:graphicFrame>
      <p:graphicFrame>
        <p:nvGraphicFramePr>
          <p:cNvPr id="612" name="table 612"/>
          <p:cNvGraphicFramePr>
            <a:graphicFrameLocks noGrp="1"/>
          </p:cNvGraphicFramePr>
          <p:nvPr/>
        </p:nvGraphicFramePr>
        <p:xfrm>
          <a:off x="2523763" y="3219862"/>
          <a:ext cx="857885" cy="280035"/>
        </p:xfrm>
        <a:graphic>
          <a:graphicData uri="http://schemas.openxmlformats.org/drawingml/2006/table">
            <a:tbl>
              <a:tblPr>
                <a:solidFill>
                  <a:srgbClr val="FFF4D5"/>
                </a:solidFill>
              </a:tblPr>
              <a:tblGrid>
                <a:gridCol w="857885"/>
              </a:tblGrid>
              <a:tr h="280035">
                <a:tc>
                  <a:txBody>
                    <a:bodyPr/>
                    <a:lstStyle/>
                    <a:p>
                      <a:pPr algn="l" rtl="0" eaLnBrk="0">
                        <a:lnSpc>
                          <a:spcPct val="103000"/>
                        </a:lnSpc>
                      </a:pPr>
                      <a:endParaRPr lang="en-US" altLang="en-US" sz="450" dirty="0"/>
                    </a:p>
                    <a:p>
                      <a:pPr marL="363855" algn="l" rtl="0" eaLnBrk="0">
                        <a:lnSpc>
                          <a:spcPct val="90000"/>
                        </a:lnSpc>
                        <a:spcBef>
                          <a:spcPts val="5"/>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成员</a:t>
                      </a:r>
                      <a:endParaRPr lang="en-US" altLang="en-US" sz="12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D5"/>
                    </a:solidFill>
                  </a:tcPr>
                </a:tc>
              </a:tr>
            </a:tbl>
          </a:graphicData>
        </a:graphic>
      </p:graphicFrame>
      <p:graphicFrame>
        <p:nvGraphicFramePr>
          <p:cNvPr id="614" name="table 614"/>
          <p:cNvGraphicFramePr>
            <a:graphicFrameLocks noGrp="1"/>
          </p:cNvGraphicFramePr>
          <p:nvPr/>
        </p:nvGraphicFramePr>
        <p:xfrm>
          <a:off x="2523763" y="3626818"/>
          <a:ext cx="857885" cy="280035"/>
        </p:xfrm>
        <a:graphic>
          <a:graphicData uri="http://schemas.openxmlformats.org/drawingml/2006/table">
            <a:tbl>
              <a:tblPr>
                <a:solidFill>
                  <a:srgbClr val="FFF4D5"/>
                </a:solidFill>
              </a:tblPr>
              <a:tblGrid>
                <a:gridCol w="857885"/>
              </a:tblGrid>
              <a:tr h="280035">
                <a:tc>
                  <a:txBody>
                    <a:bodyPr/>
                    <a:lstStyle/>
                    <a:p>
                      <a:pPr algn="l" rtl="0" eaLnBrk="0">
                        <a:lnSpc>
                          <a:spcPct val="103000"/>
                        </a:lnSpc>
                      </a:pPr>
                      <a:endParaRPr lang="en-US" altLang="en-US" sz="450" dirty="0"/>
                    </a:p>
                    <a:p>
                      <a:pPr marL="363855" algn="l" rtl="0" eaLnBrk="0">
                        <a:lnSpc>
                          <a:spcPct val="90000"/>
                        </a:lnSpc>
                        <a:spcBef>
                          <a:spcPts val="5"/>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成员</a:t>
                      </a:r>
                      <a:endParaRPr lang="en-US" altLang="en-US" sz="12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D5"/>
                    </a:solidFill>
                  </a:tcPr>
                </a:tc>
              </a:tr>
            </a:tbl>
          </a:graphicData>
        </a:graphic>
      </p:graphicFrame>
      <p:graphicFrame>
        <p:nvGraphicFramePr>
          <p:cNvPr id="616" name="table 616"/>
          <p:cNvGraphicFramePr>
            <a:graphicFrameLocks noGrp="1"/>
          </p:cNvGraphicFramePr>
          <p:nvPr/>
        </p:nvGraphicFramePr>
        <p:xfrm>
          <a:off x="2523763" y="4021153"/>
          <a:ext cx="857885" cy="280035"/>
        </p:xfrm>
        <a:graphic>
          <a:graphicData uri="http://schemas.openxmlformats.org/drawingml/2006/table">
            <a:tbl>
              <a:tblPr>
                <a:solidFill>
                  <a:srgbClr val="FFF4D5"/>
                </a:solidFill>
              </a:tblPr>
              <a:tblGrid>
                <a:gridCol w="857885"/>
              </a:tblGrid>
              <a:tr h="280035">
                <a:tc>
                  <a:txBody>
                    <a:bodyPr/>
                    <a:lstStyle/>
                    <a:p>
                      <a:pPr algn="l" rtl="0" eaLnBrk="0">
                        <a:lnSpc>
                          <a:spcPct val="103000"/>
                        </a:lnSpc>
                      </a:pPr>
                      <a:endParaRPr lang="en-US" altLang="en-US" sz="450" dirty="0"/>
                    </a:p>
                    <a:p>
                      <a:pPr marL="363855" algn="l" rtl="0" eaLnBrk="0">
                        <a:lnSpc>
                          <a:spcPct val="90000"/>
                        </a:lnSpc>
                        <a:spcBef>
                          <a:spcPts val="5"/>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成员</a:t>
                      </a:r>
                      <a:endParaRPr lang="en-US" altLang="en-US" sz="12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D5"/>
                    </a:solidFill>
                  </a:tcPr>
                </a:tc>
              </a:tr>
            </a:tbl>
          </a:graphicData>
        </a:graphic>
      </p:graphicFrame>
      <p:graphicFrame>
        <p:nvGraphicFramePr>
          <p:cNvPr id="618" name="table 618"/>
          <p:cNvGraphicFramePr>
            <a:graphicFrameLocks noGrp="1"/>
          </p:cNvGraphicFramePr>
          <p:nvPr/>
        </p:nvGraphicFramePr>
        <p:xfrm>
          <a:off x="3841975" y="3219862"/>
          <a:ext cx="857885" cy="280035"/>
        </p:xfrm>
        <a:graphic>
          <a:graphicData uri="http://schemas.openxmlformats.org/drawingml/2006/table">
            <a:tbl>
              <a:tblPr>
                <a:solidFill>
                  <a:srgbClr val="FFF4D5"/>
                </a:solidFill>
              </a:tblPr>
              <a:tblGrid>
                <a:gridCol w="857885"/>
              </a:tblGrid>
              <a:tr h="280035">
                <a:tc>
                  <a:txBody>
                    <a:bodyPr/>
                    <a:lstStyle/>
                    <a:p>
                      <a:pPr algn="l" rtl="0" eaLnBrk="0">
                        <a:lnSpc>
                          <a:spcPct val="103000"/>
                        </a:lnSpc>
                      </a:pPr>
                      <a:endParaRPr lang="en-US" altLang="en-US" sz="450" dirty="0"/>
                    </a:p>
                    <a:p>
                      <a:pPr marL="363855" algn="l" rtl="0" eaLnBrk="0">
                        <a:lnSpc>
                          <a:spcPct val="90000"/>
                        </a:lnSpc>
                        <a:spcBef>
                          <a:spcPts val="5"/>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成员</a:t>
                      </a:r>
                      <a:endParaRPr lang="en-US" altLang="en-US" sz="12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D5"/>
                    </a:solidFill>
                  </a:tcPr>
                </a:tc>
              </a:tr>
            </a:tbl>
          </a:graphicData>
        </a:graphic>
      </p:graphicFrame>
      <p:graphicFrame>
        <p:nvGraphicFramePr>
          <p:cNvPr id="620" name="table 620"/>
          <p:cNvGraphicFramePr>
            <a:graphicFrameLocks noGrp="1"/>
          </p:cNvGraphicFramePr>
          <p:nvPr/>
        </p:nvGraphicFramePr>
        <p:xfrm>
          <a:off x="3841975" y="3626818"/>
          <a:ext cx="857885" cy="280035"/>
        </p:xfrm>
        <a:graphic>
          <a:graphicData uri="http://schemas.openxmlformats.org/drawingml/2006/table">
            <a:tbl>
              <a:tblPr>
                <a:solidFill>
                  <a:srgbClr val="FFF4D5"/>
                </a:solidFill>
              </a:tblPr>
              <a:tblGrid>
                <a:gridCol w="857885"/>
              </a:tblGrid>
              <a:tr h="280035">
                <a:tc>
                  <a:txBody>
                    <a:bodyPr/>
                    <a:lstStyle/>
                    <a:p>
                      <a:pPr algn="l" rtl="0" eaLnBrk="0">
                        <a:lnSpc>
                          <a:spcPct val="103000"/>
                        </a:lnSpc>
                      </a:pPr>
                      <a:endParaRPr lang="en-US" altLang="en-US" sz="450" dirty="0"/>
                    </a:p>
                    <a:p>
                      <a:pPr marL="363855" algn="l" rtl="0" eaLnBrk="0">
                        <a:lnSpc>
                          <a:spcPct val="90000"/>
                        </a:lnSpc>
                        <a:spcBef>
                          <a:spcPts val="5"/>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成员</a:t>
                      </a:r>
                      <a:endParaRPr lang="en-US" altLang="en-US" sz="12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D5"/>
                    </a:solidFill>
                  </a:tcPr>
                </a:tc>
              </a:tr>
            </a:tbl>
          </a:graphicData>
        </a:graphic>
      </p:graphicFrame>
      <p:graphicFrame>
        <p:nvGraphicFramePr>
          <p:cNvPr id="622" name="table 622"/>
          <p:cNvGraphicFramePr>
            <a:graphicFrameLocks noGrp="1"/>
          </p:cNvGraphicFramePr>
          <p:nvPr/>
        </p:nvGraphicFramePr>
        <p:xfrm>
          <a:off x="3841975" y="4021153"/>
          <a:ext cx="857885" cy="280035"/>
        </p:xfrm>
        <a:graphic>
          <a:graphicData uri="http://schemas.openxmlformats.org/drawingml/2006/table">
            <a:tbl>
              <a:tblPr>
                <a:solidFill>
                  <a:srgbClr val="FFF4D5"/>
                </a:solidFill>
              </a:tblPr>
              <a:tblGrid>
                <a:gridCol w="857885"/>
              </a:tblGrid>
              <a:tr h="280035">
                <a:tc>
                  <a:txBody>
                    <a:bodyPr/>
                    <a:lstStyle/>
                    <a:p>
                      <a:pPr algn="l" rtl="0" eaLnBrk="0">
                        <a:lnSpc>
                          <a:spcPct val="103000"/>
                        </a:lnSpc>
                      </a:pPr>
                      <a:endParaRPr lang="en-US" altLang="en-US" sz="450" dirty="0"/>
                    </a:p>
                    <a:p>
                      <a:pPr marL="363855" algn="l" rtl="0" eaLnBrk="0">
                        <a:lnSpc>
                          <a:spcPct val="90000"/>
                        </a:lnSpc>
                        <a:spcBef>
                          <a:spcPts val="5"/>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成员</a:t>
                      </a:r>
                      <a:endParaRPr lang="en-US" altLang="en-US" sz="12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D5"/>
                    </a:solidFill>
                  </a:tcPr>
                </a:tc>
              </a:tr>
            </a:tbl>
          </a:graphicData>
        </a:graphic>
      </p:graphicFrame>
      <p:sp>
        <p:nvSpPr>
          <p:cNvPr id="624" name="path"/>
          <p:cNvSpPr/>
          <p:nvPr/>
        </p:nvSpPr>
        <p:spPr>
          <a:xfrm>
            <a:off x="888478" y="2927362"/>
            <a:ext cx="177822" cy="1255242"/>
          </a:xfrm>
          <a:custGeom>
            <a:avLst/>
            <a:gdLst/>
            <a:ahLst/>
            <a:cxnLst/>
            <a:rect l="0" t="0" r="0" b="0"/>
            <a:pathLst>
              <a:path w="373" h="2635">
                <a:moveTo>
                  <a:pt x="373" y="7"/>
                </a:moveTo>
                <a:lnTo>
                  <a:pt x="7" y="7"/>
                </a:lnTo>
                <a:lnTo>
                  <a:pt x="7" y="918"/>
                </a:lnTo>
                <a:lnTo>
                  <a:pt x="353" y="918"/>
                </a:lnTo>
                <a:moveTo>
                  <a:pt x="373" y="7"/>
                </a:moveTo>
                <a:lnTo>
                  <a:pt x="7" y="7"/>
                </a:lnTo>
                <a:lnTo>
                  <a:pt x="7" y="1762"/>
                </a:lnTo>
                <a:lnTo>
                  <a:pt x="353" y="1762"/>
                </a:lnTo>
                <a:moveTo>
                  <a:pt x="373" y="7"/>
                </a:moveTo>
                <a:lnTo>
                  <a:pt x="7" y="7"/>
                </a:lnTo>
                <a:lnTo>
                  <a:pt x="7" y="2628"/>
                </a:lnTo>
                <a:lnTo>
                  <a:pt x="353" y="2628"/>
                </a:lnTo>
              </a:path>
            </a:pathLst>
          </a:custGeom>
          <a:noFill/>
          <a:ln w="9677" cap="flat">
            <a:solidFill>
              <a:srgbClr val="000000">
                <a:alpha val="100000"/>
              </a:srgbClr>
            </a:solidFill>
            <a:prstDash val="solid"/>
            <a:miter lim="800000"/>
          </a:ln>
        </p:spPr>
        <p:txBody>
          <a:bodyPr rtlCol="0"/>
          <a:lstStyle/>
          <a:p>
            <a:pPr algn="ctr"/>
            <a:endParaRPr lang="zh-CN" altLang="en-US" sz="1350"/>
          </a:p>
        </p:txBody>
      </p:sp>
      <p:sp>
        <p:nvSpPr>
          <p:cNvPr id="626" name="path"/>
          <p:cNvSpPr/>
          <p:nvPr/>
        </p:nvSpPr>
        <p:spPr>
          <a:xfrm>
            <a:off x="3677307" y="2936469"/>
            <a:ext cx="177822" cy="1245990"/>
          </a:xfrm>
          <a:custGeom>
            <a:avLst/>
            <a:gdLst/>
            <a:ahLst/>
            <a:cxnLst/>
            <a:rect l="0" t="0" r="0" b="0"/>
            <a:pathLst>
              <a:path w="373" h="2616">
                <a:moveTo>
                  <a:pt x="373" y="7"/>
                </a:moveTo>
                <a:lnTo>
                  <a:pt x="7" y="7"/>
                </a:lnTo>
                <a:lnTo>
                  <a:pt x="7" y="899"/>
                </a:lnTo>
                <a:lnTo>
                  <a:pt x="353" y="899"/>
                </a:lnTo>
                <a:moveTo>
                  <a:pt x="373" y="7"/>
                </a:moveTo>
                <a:lnTo>
                  <a:pt x="7" y="7"/>
                </a:lnTo>
                <a:lnTo>
                  <a:pt x="7" y="1767"/>
                </a:lnTo>
                <a:lnTo>
                  <a:pt x="353" y="1767"/>
                </a:lnTo>
                <a:moveTo>
                  <a:pt x="373" y="7"/>
                </a:moveTo>
                <a:lnTo>
                  <a:pt x="7" y="7"/>
                </a:lnTo>
                <a:lnTo>
                  <a:pt x="7" y="2608"/>
                </a:lnTo>
                <a:lnTo>
                  <a:pt x="353" y="2608"/>
                </a:lnTo>
              </a:path>
            </a:pathLst>
          </a:custGeom>
          <a:noFill/>
          <a:ln w="9677" cap="flat">
            <a:solidFill>
              <a:srgbClr val="000000">
                <a:alpha val="100000"/>
              </a:srgbClr>
            </a:solidFill>
            <a:prstDash val="solid"/>
            <a:miter lim="800000"/>
          </a:ln>
        </p:spPr>
        <p:txBody>
          <a:bodyPr rtlCol="0"/>
          <a:lstStyle/>
          <a:p>
            <a:pPr algn="ctr"/>
            <a:endParaRPr lang="zh-CN" altLang="en-US" sz="1350"/>
          </a:p>
        </p:txBody>
      </p:sp>
      <p:sp>
        <p:nvSpPr>
          <p:cNvPr id="628" name="path"/>
          <p:cNvSpPr/>
          <p:nvPr/>
        </p:nvSpPr>
        <p:spPr>
          <a:xfrm>
            <a:off x="2352996" y="2936469"/>
            <a:ext cx="187095" cy="7259"/>
          </a:xfrm>
          <a:custGeom>
            <a:avLst/>
            <a:gdLst/>
            <a:ahLst/>
            <a:cxnLst/>
            <a:rect l="0" t="0" r="0" b="0"/>
            <a:pathLst>
              <a:path w="392" h="15">
                <a:moveTo>
                  <a:pt x="392" y="7"/>
                </a:moveTo>
                <a:lnTo>
                  <a:pt x="0" y="7"/>
                </a:lnTo>
                <a:moveTo>
                  <a:pt x="392" y="7"/>
                </a:moveTo>
                <a:lnTo>
                  <a:pt x="0" y="7"/>
                </a:lnTo>
                <a:moveTo>
                  <a:pt x="392" y="7"/>
                </a:moveTo>
                <a:lnTo>
                  <a:pt x="0" y="7"/>
                </a:lnTo>
              </a:path>
            </a:pathLst>
          </a:custGeom>
          <a:noFill/>
          <a:ln w="9677" cap="flat">
            <a:solidFill>
              <a:srgbClr val="000000">
                <a:alpha val="100000"/>
              </a:srgbClr>
            </a:solidFill>
            <a:prstDash val="solid"/>
            <a:miter lim="800000"/>
          </a:ln>
        </p:spPr>
        <p:txBody>
          <a:bodyPr rtlCol="0"/>
          <a:lstStyle/>
          <a:p>
            <a:pPr algn="ctr"/>
            <a:endParaRPr lang="zh-CN" altLang="en-US" sz="1350"/>
          </a:p>
        </p:txBody>
      </p:sp>
      <p:sp>
        <p:nvSpPr>
          <p:cNvPr id="630" name="path"/>
          <p:cNvSpPr/>
          <p:nvPr/>
        </p:nvSpPr>
        <p:spPr>
          <a:xfrm>
            <a:off x="2349368" y="2940098"/>
            <a:ext cx="177822" cy="1242361"/>
          </a:xfrm>
          <a:custGeom>
            <a:avLst/>
            <a:gdLst/>
            <a:ahLst/>
            <a:cxnLst/>
            <a:rect l="0" t="0" r="0" b="0"/>
            <a:pathLst>
              <a:path w="373" h="2608">
                <a:moveTo>
                  <a:pt x="7" y="0"/>
                </a:moveTo>
                <a:lnTo>
                  <a:pt x="7" y="891"/>
                </a:lnTo>
                <a:lnTo>
                  <a:pt x="373" y="891"/>
                </a:lnTo>
                <a:moveTo>
                  <a:pt x="7" y="0"/>
                </a:moveTo>
                <a:lnTo>
                  <a:pt x="7" y="1759"/>
                </a:lnTo>
                <a:lnTo>
                  <a:pt x="373" y="1759"/>
                </a:lnTo>
                <a:moveTo>
                  <a:pt x="7" y="0"/>
                </a:moveTo>
                <a:lnTo>
                  <a:pt x="7" y="2601"/>
                </a:lnTo>
                <a:lnTo>
                  <a:pt x="373" y="2601"/>
                </a:lnTo>
              </a:path>
            </a:pathLst>
          </a:custGeom>
          <a:noFill/>
          <a:ln w="9677" cap="flat">
            <a:solidFill>
              <a:srgbClr val="000000">
                <a:alpha val="100000"/>
              </a:srgbClr>
            </a:solidFill>
            <a:prstDash val="solid"/>
            <a:miter lim="800000"/>
          </a:ln>
        </p:spPr>
        <p:txBody>
          <a:bodyPr rtlCol="0"/>
          <a:lstStyle/>
          <a:p>
            <a:pPr algn="ctr"/>
            <a:endParaRPr lang="zh-CN" altLang="en-US" sz="1350"/>
          </a:p>
        </p:txBody>
      </p:sp>
      <p:sp>
        <p:nvSpPr>
          <p:cNvPr id="632" name="path"/>
          <p:cNvSpPr/>
          <p:nvPr/>
        </p:nvSpPr>
        <p:spPr>
          <a:xfrm>
            <a:off x="1611764" y="2632464"/>
            <a:ext cx="1421840" cy="140927"/>
          </a:xfrm>
          <a:custGeom>
            <a:avLst/>
            <a:gdLst/>
            <a:ahLst/>
            <a:cxnLst/>
            <a:rect l="0" t="0" r="0" b="0"/>
            <a:pathLst>
              <a:path w="2985" h="295">
                <a:moveTo>
                  <a:pt x="2985" y="7"/>
                </a:moveTo>
                <a:lnTo>
                  <a:pt x="7" y="7"/>
                </a:lnTo>
                <a:lnTo>
                  <a:pt x="7" y="295"/>
                </a:lnTo>
              </a:path>
            </a:pathLst>
          </a:custGeom>
          <a:noFill/>
          <a:ln w="9677" cap="flat">
            <a:solidFill>
              <a:srgbClr val="000000">
                <a:alpha val="100000"/>
              </a:srgbClr>
            </a:solidFill>
            <a:prstDash val="solid"/>
            <a:miter lim="800000"/>
          </a:ln>
        </p:spPr>
        <p:txBody>
          <a:bodyPr rtlCol="0"/>
          <a:lstStyle/>
          <a:p>
            <a:pPr algn="ctr"/>
            <a:endParaRPr lang="zh-CN" altLang="en-US" sz="1350"/>
          </a:p>
        </p:txBody>
      </p:sp>
      <p:sp>
        <p:nvSpPr>
          <p:cNvPr id="634" name="rect"/>
          <p:cNvSpPr/>
          <p:nvPr/>
        </p:nvSpPr>
        <p:spPr>
          <a:xfrm>
            <a:off x="3029976" y="2498783"/>
            <a:ext cx="8124" cy="274619"/>
          </a:xfrm>
          <a:prstGeom prst="rect">
            <a:avLst/>
          </a:prstGeom>
          <a:solidFill>
            <a:srgbClr val="000000">
              <a:alpha val="100000"/>
            </a:srgbClr>
          </a:solidFill>
          <a:ln cap="flat">
            <a:noFill/>
            <a:prstDash val="solid"/>
            <a:miter lim="0"/>
          </a:ln>
        </p:spPr>
        <p:txBody>
          <a:bodyPr rtlCol="0"/>
          <a:lstStyle/>
          <a:p>
            <a:pPr algn="ctr"/>
            <a:endParaRPr lang="zh-CN" altLang="en-US" sz="1350"/>
          </a:p>
        </p:txBody>
      </p:sp>
      <p:sp>
        <p:nvSpPr>
          <p:cNvPr id="636" name="path"/>
          <p:cNvSpPr/>
          <p:nvPr/>
        </p:nvSpPr>
        <p:spPr>
          <a:xfrm>
            <a:off x="3033606" y="2632464"/>
            <a:ext cx="1330895" cy="140927"/>
          </a:xfrm>
          <a:custGeom>
            <a:avLst/>
            <a:gdLst/>
            <a:ahLst/>
            <a:cxnLst/>
            <a:rect l="0" t="0" r="0" b="0"/>
            <a:pathLst>
              <a:path w="2794" h="295">
                <a:moveTo>
                  <a:pt x="0" y="7"/>
                </a:moveTo>
                <a:lnTo>
                  <a:pt x="2786" y="7"/>
                </a:lnTo>
                <a:lnTo>
                  <a:pt x="2786" y="295"/>
                </a:lnTo>
              </a:path>
            </a:pathLst>
          </a:custGeom>
          <a:noFill/>
          <a:ln w="9677" cap="flat">
            <a:solidFill>
              <a:srgbClr val="000000">
                <a:alpha val="100000"/>
              </a:srgbClr>
            </a:solidFill>
            <a:prstDash val="solid"/>
            <a:miter lim="800000"/>
          </a:ln>
        </p:spPr>
        <p:txBody>
          <a:bodyPr rtlCol="0"/>
          <a:lstStyle/>
          <a:p>
            <a:pPr algn="ctr"/>
            <a:endParaRPr lang="zh-CN" altLang="en-US" sz="1350"/>
          </a:p>
        </p:txBody>
      </p:sp>
      <p:sp>
        <p:nvSpPr>
          <p:cNvPr id="3" name="标题 2"/>
          <p:cNvSpPr>
            <a:spLocks noGrp="1"/>
          </p:cNvSpPr>
          <p:nvPr>
            <p:ph type="title"/>
          </p:nvPr>
        </p:nvSpPr>
        <p:spPr/>
        <p:txBody>
          <a:bodyPr/>
          <a:p>
            <a:r>
              <a:rPr lang="zh-CN" altLang="en-US" dirty="0"/>
              <a:t>开发团队的组织模式</a:t>
            </a:r>
            <a:endParaRPr lang="en-US" altLang="zh-C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高效的团队合作</a:t>
            </a:r>
            <a:endParaRPr lang="zh-CN" altLang="en-US" dirty="0"/>
          </a:p>
        </p:txBody>
      </p:sp>
      <p:pic>
        <p:nvPicPr>
          <p:cNvPr id="7" name="内容占位符 6"/>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917015" y="1060132"/>
            <a:ext cx="5678488" cy="3194150"/>
          </a:xfrm>
        </p:spPr>
      </p:pic>
      <p:sp>
        <p:nvSpPr>
          <p:cNvPr id="4" name="日期占位符 3"/>
          <p:cNvSpPr>
            <a:spLocks noGrp="1"/>
          </p:cNvSpPr>
          <p:nvPr>
            <p:ph type="dt" sz="half" idx="10"/>
          </p:nvPr>
        </p:nvSpPr>
        <p:spPr/>
        <p:txBody>
          <a:bodyPr/>
          <a:lstStyle/>
          <a:p>
            <a:fld id="{CBFA4B4D-0348-4EF6-89BA-CAAF6F729574}"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8" name="文本框 7"/>
          <p:cNvSpPr txBox="1"/>
          <p:nvPr/>
        </p:nvSpPr>
        <p:spPr>
          <a:xfrm>
            <a:off x="896112" y="2057042"/>
            <a:ext cx="1723549" cy="1200329"/>
          </a:xfrm>
          <a:prstGeom prst="rect">
            <a:avLst/>
          </a:prstGeom>
          <a:noFill/>
        </p:spPr>
        <p:txBody>
          <a:bodyPr wrap="none" rtlCol="0">
            <a:spAutoFit/>
          </a:bodyPr>
          <a:lstStyle/>
          <a:p>
            <a:r>
              <a:rPr lang="zh-CN" altLang="en-US" sz="2400" spc="600" dirty="0">
                <a:solidFill>
                  <a:srgbClr val="FF0000"/>
                </a:solidFill>
                <a:latin typeface="+mj-ea"/>
                <a:ea typeface="+mj-ea"/>
              </a:rPr>
              <a:t>各司其职</a:t>
            </a:r>
            <a:endParaRPr lang="en-US" altLang="zh-CN" sz="2400" spc="600" dirty="0">
              <a:solidFill>
                <a:srgbClr val="FF0000"/>
              </a:solidFill>
              <a:latin typeface="+mj-ea"/>
              <a:ea typeface="+mj-ea"/>
            </a:endParaRPr>
          </a:p>
          <a:p>
            <a:r>
              <a:rPr lang="zh-CN" altLang="en-US" sz="2400" spc="600" dirty="0">
                <a:solidFill>
                  <a:srgbClr val="FF0000"/>
                </a:solidFill>
                <a:latin typeface="+mj-ea"/>
                <a:ea typeface="+mj-ea"/>
              </a:rPr>
              <a:t>紧密合作</a:t>
            </a:r>
            <a:endParaRPr lang="en-US" altLang="zh-CN" sz="2400" spc="600" dirty="0">
              <a:solidFill>
                <a:srgbClr val="FF0000"/>
              </a:solidFill>
              <a:latin typeface="+mj-ea"/>
              <a:ea typeface="+mj-ea"/>
            </a:endParaRPr>
          </a:p>
          <a:p>
            <a:r>
              <a:rPr lang="zh-CN" altLang="en-US" sz="2400" spc="600" dirty="0">
                <a:solidFill>
                  <a:srgbClr val="FF0000"/>
                </a:solidFill>
                <a:latin typeface="+mj-ea"/>
                <a:ea typeface="+mj-ea"/>
              </a:rPr>
              <a:t>合理有序</a:t>
            </a:r>
            <a:endParaRPr lang="zh-CN" altLang="en-US" sz="2400" spc="600" dirty="0">
              <a:solidFill>
                <a:srgbClr val="FF0000"/>
              </a:solidFill>
              <a:latin typeface="+mj-ea"/>
              <a:ea typeface="+mj-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8" name="textbox 638"/>
          <p:cNvSpPr/>
          <p:nvPr/>
        </p:nvSpPr>
        <p:spPr>
          <a:xfrm>
            <a:off x="2646770" y="1223963"/>
            <a:ext cx="2547938" cy="2979896"/>
          </a:xfrm>
          <a:prstGeom prst="rect">
            <a:avLst/>
          </a:prstGeom>
          <a:solidFill>
            <a:srgbClr val="E4EFF9"/>
          </a:solidFill>
        </p:spPr>
        <p:txBody>
          <a:bodyPr vert="horz" wrap="square" lIns="0" tIns="0" rIns="0" bIns="0"/>
          <a:lstStyle/>
          <a:p>
            <a:pPr algn="l" rtl="0" eaLnBrk="0">
              <a:lnSpc>
                <a:spcPct val="149000"/>
              </a:lnSpc>
            </a:pPr>
            <a:endParaRPr lang="en-US" altLang="en-US" sz="750" dirty="0"/>
          </a:p>
          <a:p>
            <a:pPr marL="867410" algn="l" rtl="0" eaLnBrk="0">
              <a:lnSpc>
                <a:spcPct val="82000"/>
              </a:lnSpc>
            </a:pP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召开项目会议</a:t>
            </a:r>
            <a:endParaRPr lang="en-US" altLang="en-US" sz="1650" dirty="0"/>
          </a:p>
          <a:p>
            <a:pPr marL="852170" algn="l" rtl="0" eaLnBrk="0">
              <a:lnSpc>
                <a:spcPts val="3685"/>
              </a:lnSpc>
            </a:pP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确立团队身份</a:t>
            </a:r>
            <a:endParaRPr lang="en-US" altLang="en-US" sz="1650" dirty="0"/>
          </a:p>
          <a:p>
            <a:pPr marL="727710" algn="l" rtl="0" eaLnBrk="0">
              <a:lnSpc>
                <a:spcPts val="3785"/>
              </a:lnSpc>
            </a:pP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创建共同的目标</a:t>
            </a:r>
            <a:endParaRPr lang="en-US" altLang="en-US" sz="1650" dirty="0"/>
          </a:p>
          <a:p>
            <a:pPr marL="868045" algn="l" rtl="0" eaLnBrk="0">
              <a:lnSpc>
                <a:spcPct val="91000"/>
              </a:lnSpc>
              <a:spcBef>
                <a:spcPts val="1635"/>
              </a:spcBef>
            </a:pP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管理决策制定</a:t>
            </a:r>
            <a:endParaRPr lang="en-US" altLang="en-US" sz="1650" dirty="0"/>
          </a:p>
          <a:p>
            <a:pPr marL="867410" algn="l" rtl="0" eaLnBrk="0">
              <a:lnSpc>
                <a:spcPct val="91000"/>
              </a:lnSpc>
              <a:spcBef>
                <a:spcPts val="1300"/>
              </a:spcBef>
            </a:pP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建立奖励体系</a:t>
            </a:r>
            <a:endParaRPr lang="en-US" altLang="en-US" sz="1650" dirty="0"/>
          </a:p>
          <a:p>
            <a:pPr marL="1147445" algn="l" rtl="0" eaLnBrk="0">
              <a:lnSpc>
                <a:spcPct val="91000"/>
              </a:lnSpc>
              <a:spcBef>
                <a:spcPts val="1400"/>
              </a:spcBef>
            </a:pP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管理冲突</a:t>
            </a:r>
            <a:endParaRPr lang="en-US" altLang="en-US" sz="1650" dirty="0"/>
          </a:p>
          <a:p>
            <a:pPr algn="l" rtl="0" eaLnBrk="0">
              <a:lnSpc>
                <a:spcPct val="105000"/>
              </a:lnSpc>
            </a:pPr>
            <a:endParaRPr lang="en-US" altLang="en-US" sz="825" dirty="0"/>
          </a:p>
          <a:p>
            <a:pPr algn="l" rtl="0" eaLnBrk="0">
              <a:lnSpc>
                <a:spcPct val="10000"/>
              </a:lnSpc>
            </a:pPr>
            <a:endParaRPr lang="en-US" altLang="en-US" sz="100" dirty="0"/>
          </a:p>
          <a:p>
            <a:pPr marL="585470" algn="l" rtl="0" eaLnBrk="0">
              <a:lnSpc>
                <a:spcPct val="91000"/>
              </a:lnSpc>
            </a:pP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激发项目团队活动</a:t>
            </a:r>
            <a:endParaRPr lang="en-US" altLang="en-US" sz="1650" dirty="0"/>
          </a:p>
        </p:txBody>
      </p:sp>
      <p:sp>
        <p:nvSpPr>
          <p:cNvPr id="640"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pic>
        <p:nvPicPr>
          <p:cNvPr id="642" name="picture 642"/>
          <p:cNvPicPr>
            <a:picLocks noChangeAspect="1"/>
          </p:cNvPicPr>
          <p:nvPr/>
        </p:nvPicPr>
        <p:blipFill>
          <a:blip r:embed="rId1"/>
          <a:stretch>
            <a:fillRect/>
          </a:stretch>
        </p:blipFill>
        <p:spPr>
          <a:xfrm rot="21600000">
            <a:off x="5879648" y="2094956"/>
            <a:ext cx="2586394" cy="1128155"/>
          </a:xfrm>
          <a:prstGeom prst="rect">
            <a:avLst/>
          </a:prstGeom>
        </p:spPr>
      </p:pic>
      <p:pic>
        <p:nvPicPr>
          <p:cNvPr id="644" name="picture 644"/>
          <p:cNvPicPr>
            <a:picLocks noChangeAspect="1"/>
          </p:cNvPicPr>
          <p:nvPr/>
        </p:nvPicPr>
        <p:blipFill>
          <a:blip r:embed="rId2"/>
          <a:stretch>
            <a:fillRect/>
          </a:stretch>
        </p:blipFill>
        <p:spPr>
          <a:xfrm rot="21600000">
            <a:off x="660399" y="2089151"/>
            <a:ext cx="1358900" cy="1183558"/>
          </a:xfrm>
          <a:prstGeom prst="rect">
            <a:avLst/>
          </a:prstGeom>
        </p:spPr>
      </p:pic>
      <p:sp>
        <p:nvSpPr>
          <p:cNvPr id="662" name="path"/>
          <p:cNvSpPr/>
          <p:nvPr/>
        </p:nvSpPr>
        <p:spPr>
          <a:xfrm>
            <a:off x="2120909" y="2451099"/>
            <a:ext cx="406399" cy="393701"/>
          </a:xfrm>
          <a:custGeom>
            <a:avLst/>
            <a:gdLst/>
            <a:ahLst/>
            <a:cxnLst/>
            <a:rect l="0" t="0" r="0" b="0"/>
            <a:pathLst>
              <a:path w="853" h="826">
                <a:moveTo>
                  <a:pt x="0" y="206"/>
                </a:moveTo>
                <a:lnTo>
                  <a:pt x="439" y="206"/>
                </a:lnTo>
                <a:lnTo>
                  <a:pt x="439" y="0"/>
                </a:lnTo>
                <a:lnTo>
                  <a:pt x="853" y="413"/>
                </a:lnTo>
                <a:lnTo>
                  <a:pt x="439" y="826"/>
                </a:lnTo>
                <a:lnTo>
                  <a:pt x="439" y="620"/>
                </a:lnTo>
                <a:lnTo>
                  <a:pt x="0" y="620"/>
                </a:lnTo>
                <a:lnTo>
                  <a:pt x="0" y="206"/>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664" name="path"/>
          <p:cNvSpPr/>
          <p:nvPr/>
        </p:nvSpPr>
        <p:spPr>
          <a:xfrm>
            <a:off x="5334013" y="2451099"/>
            <a:ext cx="406399" cy="393701"/>
          </a:xfrm>
          <a:custGeom>
            <a:avLst/>
            <a:gdLst/>
            <a:ahLst/>
            <a:cxnLst/>
            <a:rect l="0" t="0" r="0" b="0"/>
            <a:pathLst>
              <a:path w="853" h="826">
                <a:moveTo>
                  <a:pt x="0" y="206"/>
                </a:moveTo>
                <a:lnTo>
                  <a:pt x="439" y="206"/>
                </a:lnTo>
                <a:lnTo>
                  <a:pt x="439" y="0"/>
                </a:lnTo>
                <a:lnTo>
                  <a:pt x="853" y="413"/>
                </a:lnTo>
                <a:lnTo>
                  <a:pt x="439" y="826"/>
                </a:lnTo>
                <a:lnTo>
                  <a:pt x="439" y="620"/>
                </a:lnTo>
                <a:lnTo>
                  <a:pt x="0" y="620"/>
                </a:lnTo>
                <a:lnTo>
                  <a:pt x="0" y="206"/>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3" name="标题 2"/>
          <p:cNvSpPr>
            <a:spLocks noGrp="1"/>
          </p:cNvSpPr>
          <p:nvPr>
            <p:ph type="title"/>
          </p:nvPr>
        </p:nvSpPr>
        <p:spPr/>
        <p:txBody>
          <a:bodyPr/>
          <a:p>
            <a:r>
              <a:rPr lang="zh-CN" altLang="en-US" dirty="0"/>
              <a:t>高效的项目团队</a:t>
            </a:r>
            <a:endParaRPr lang="en-US" altLang="zh-C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grpSp>
        <p:nvGrpSpPr>
          <p:cNvPr id="78" name="group 78"/>
          <p:cNvGrpSpPr/>
          <p:nvPr/>
        </p:nvGrpSpPr>
        <p:grpSpPr>
          <a:xfrm rot="21600000">
            <a:off x="6692894" y="1632740"/>
            <a:ext cx="1642276" cy="1642274"/>
            <a:chOff x="0" y="0"/>
            <a:chExt cx="2189701" cy="2189699"/>
          </a:xfrm>
        </p:grpSpPr>
        <p:sp>
          <p:nvSpPr>
            <p:cNvPr id="668" name="path"/>
            <p:cNvSpPr/>
            <p:nvPr/>
          </p:nvSpPr>
          <p:spPr>
            <a:xfrm>
              <a:off x="767817" y="767816"/>
              <a:ext cx="654067" cy="654066"/>
            </a:xfrm>
            <a:custGeom>
              <a:avLst/>
              <a:gdLst/>
              <a:ahLst/>
              <a:cxnLst/>
              <a:rect l="0" t="0" r="0" b="0"/>
              <a:pathLst>
                <a:path w="1030" h="1030">
                  <a:moveTo>
                    <a:pt x="0" y="515"/>
                  </a:moveTo>
                  <a:lnTo>
                    <a:pt x="0" y="515"/>
                  </a:lnTo>
                  <a:lnTo>
                    <a:pt x="0" y="565"/>
                  </a:lnTo>
                  <a:lnTo>
                    <a:pt x="11" y="621"/>
                  </a:lnTo>
                  <a:lnTo>
                    <a:pt x="22" y="666"/>
                  </a:lnTo>
                  <a:lnTo>
                    <a:pt x="39" y="716"/>
                  </a:lnTo>
                  <a:lnTo>
                    <a:pt x="61" y="761"/>
                  </a:lnTo>
                  <a:lnTo>
                    <a:pt x="89" y="800"/>
                  </a:lnTo>
                  <a:lnTo>
                    <a:pt x="117" y="839"/>
                  </a:lnTo>
                  <a:lnTo>
                    <a:pt x="151" y="878"/>
                  </a:lnTo>
                  <a:lnTo>
                    <a:pt x="190" y="912"/>
                  </a:lnTo>
                  <a:lnTo>
                    <a:pt x="229" y="940"/>
                  </a:lnTo>
                  <a:lnTo>
                    <a:pt x="268" y="968"/>
                  </a:lnTo>
                  <a:lnTo>
                    <a:pt x="313" y="990"/>
                  </a:lnTo>
                  <a:lnTo>
                    <a:pt x="363" y="1007"/>
                  </a:lnTo>
                  <a:lnTo>
                    <a:pt x="408" y="1018"/>
                  </a:lnTo>
                  <a:lnTo>
                    <a:pt x="464" y="1030"/>
                  </a:lnTo>
                  <a:lnTo>
                    <a:pt x="515" y="1030"/>
                  </a:lnTo>
                  <a:lnTo>
                    <a:pt x="515" y="1030"/>
                  </a:lnTo>
                  <a:lnTo>
                    <a:pt x="565" y="1030"/>
                  </a:lnTo>
                  <a:lnTo>
                    <a:pt x="621" y="1018"/>
                  </a:lnTo>
                  <a:lnTo>
                    <a:pt x="666" y="1007"/>
                  </a:lnTo>
                  <a:lnTo>
                    <a:pt x="716" y="990"/>
                  </a:lnTo>
                  <a:lnTo>
                    <a:pt x="761" y="968"/>
                  </a:lnTo>
                  <a:lnTo>
                    <a:pt x="800" y="940"/>
                  </a:lnTo>
                  <a:lnTo>
                    <a:pt x="839" y="912"/>
                  </a:lnTo>
                  <a:lnTo>
                    <a:pt x="878" y="878"/>
                  </a:lnTo>
                  <a:lnTo>
                    <a:pt x="912" y="839"/>
                  </a:lnTo>
                  <a:lnTo>
                    <a:pt x="940" y="800"/>
                  </a:lnTo>
                  <a:lnTo>
                    <a:pt x="968" y="761"/>
                  </a:lnTo>
                  <a:lnTo>
                    <a:pt x="990" y="716"/>
                  </a:lnTo>
                  <a:lnTo>
                    <a:pt x="1007" y="666"/>
                  </a:lnTo>
                  <a:lnTo>
                    <a:pt x="1018" y="621"/>
                  </a:lnTo>
                  <a:lnTo>
                    <a:pt x="1030" y="565"/>
                  </a:lnTo>
                  <a:lnTo>
                    <a:pt x="1030" y="515"/>
                  </a:lnTo>
                  <a:lnTo>
                    <a:pt x="1030" y="515"/>
                  </a:lnTo>
                  <a:lnTo>
                    <a:pt x="1030" y="464"/>
                  </a:lnTo>
                  <a:lnTo>
                    <a:pt x="1018" y="408"/>
                  </a:lnTo>
                  <a:lnTo>
                    <a:pt x="1007" y="363"/>
                  </a:lnTo>
                  <a:lnTo>
                    <a:pt x="990" y="313"/>
                  </a:lnTo>
                  <a:lnTo>
                    <a:pt x="968" y="268"/>
                  </a:lnTo>
                  <a:lnTo>
                    <a:pt x="940" y="229"/>
                  </a:lnTo>
                  <a:lnTo>
                    <a:pt x="912" y="190"/>
                  </a:lnTo>
                  <a:lnTo>
                    <a:pt x="878" y="151"/>
                  </a:lnTo>
                  <a:lnTo>
                    <a:pt x="839" y="117"/>
                  </a:lnTo>
                  <a:lnTo>
                    <a:pt x="800" y="89"/>
                  </a:lnTo>
                  <a:lnTo>
                    <a:pt x="761" y="61"/>
                  </a:lnTo>
                  <a:lnTo>
                    <a:pt x="716" y="39"/>
                  </a:lnTo>
                  <a:lnTo>
                    <a:pt x="666" y="22"/>
                  </a:lnTo>
                  <a:lnTo>
                    <a:pt x="621" y="11"/>
                  </a:lnTo>
                  <a:lnTo>
                    <a:pt x="565" y="0"/>
                  </a:lnTo>
                  <a:lnTo>
                    <a:pt x="515" y="0"/>
                  </a:lnTo>
                  <a:lnTo>
                    <a:pt x="515" y="0"/>
                  </a:lnTo>
                  <a:lnTo>
                    <a:pt x="464" y="0"/>
                  </a:lnTo>
                  <a:lnTo>
                    <a:pt x="408" y="11"/>
                  </a:lnTo>
                  <a:lnTo>
                    <a:pt x="363" y="22"/>
                  </a:lnTo>
                  <a:lnTo>
                    <a:pt x="313" y="39"/>
                  </a:lnTo>
                  <a:lnTo>
                    <a:pt x="268" y="61"/>
                  </a:lnTo>
                  <a:lnTo>
                    <a:pt x="229" y="89"/>
                  </a:lnTo>
                  <a:lnTo>
                    <a:pt x="190" y="117"/>
                  </a:lnTo>
                  <a:lnTo>
                    <a:pt x="151" y="151"/>
                  </a:lnTo>
                  <a:lnTo>
                    <a:pt x="117" y="190"/>
                  </a:lnTo>
                  <a:lnTo>
                    <a:pt x="89" y="229"/>
                  </a:lnTo>
                  <a:lnTo>
                    <a:pt x="61" y="268"/>
                  </a:lnTo>
                  <a:lnTo>
                    <a:pt x="39" y="313"/>
                  </a:lnTo>
                  <a:lnTo>
                    <a:pt x="22" y="363"/>
                  </a:lnTo>
                  <a:lnTo>
                    <a:pt x="11" y="408"/>
                  </a:lnTo>
                  <a:lnTo>
                    <a:pt x="0" y="464"/>
                  </a:lnTo>
                  <a:lnTo>
                    <a:pt x="0" y="515"/>
                  </a:lnTo>
                  <a:lnTo>
                    <a:pt x="0" y="515"/>
                  </a:lnTo>
                  <a:close/>
                  <a:moveTo>
                    <a:pt x="223" y="515"/>
                  </a:moveTo>
                  <a:lnTo>
                    <a:pt x="223" y="515"/>
                  </a:lnTo>
                  <a:lnTo>
                    <a:pt x="229" y="459"/>
                  </a:lnTo>
                  <a:lnTo>
                    <a:pt x="246" y="403"/>
                  </a:lnTo>
                  <a:lnTo>
                    <a:pt x="274" y="352"/>
                  </a:lnTo>
                  <a:lnTo>
                    <a:pt x="307" y="307"/>
                  </a:lnTo>
                  <a:lnTo>
                    <a:pt x="352" y="274"/>
                  </a:lnTo>
                  <a:lnTo>
                    <a:pt x="403" y="246"/>
                  </a:lnTo>
                  <a:lnTo>
                    <a:pt x="459" y="229"/>
                  </a:lnTo>
                  <a:lnTo>
                    <a:pt x="515" y="223"/>
                  </a:lnTo>
                  <a:lnTo>
                    <a:pt x="515" y="223"/>
                  </a:lnTo>
                  <a:lnTo>
                    <a:pt x="570" y="229"/>
                  </a:lnTo>
                  <a:lnTo>
                    <a:pt x="626" y="246"/>
                  </a:lnTo>
                  <a:lnTo>
                    <a:pt x="677" y="274"/>
                  </a:lnTo>
                  <a:lnTo>
                    <a:pt x="722" y="307"/>
                  </a:lnTo>
                  <a:lnTo>
                    <a:pt x="755" y="352"/>
                  </a:lnTo>
                  <a:lnTo>
                    <a:pt x="783" y="403"/>
                  </a:lnTo>
                  <a:lnTo>
                    <a:pt x="800" y="459"/>
                  </a:lnTo>
                  <a:lnTo>
                    <a:pt x="806" y="515"/>
                  </a:lnTo>
                  <a:lnTo>
                    <a:pt x="806" y="515"/>
                  </a:lnTo>
                  <a:lnTo>
                    <a:pt x="800" y="570"/>
                  </a:lnTo>
                  <a:lnTo>
                    <a:pt x="783" y="626"/>
                  </a:lnTo>
                  <a:lnTo>
                    <a:pt x="755" y="677"/>
                  </a:lnTo>
                  <a:lnTo>
                    <a:pt x="722" y="722"/>
                  </a:lnTo>
                  <a:lnTo>
                    <a:pt x="677" y="755"/>
                  </a:lnTo>
                  <a:lnTo>
                    <a:pt x="626" y="783"/>
                  </a:lnTo>
                  <a:lnTo>
                    <a:pt x="570" y="800"/>
                  </a:lnTo>
                  <a:lnTo>
                    <a:pt x="515" y="806"/>
                  </a:lnTo>
                  <a:lnTo>
                    <a:pt x="515" y="806"/>
                  </a:lnTo>
                  <a:lnTo>
                    <a:pt x="459" y="800"/>
                  </a:lnTo>
                  <a:lnTo>
                    <a:pt x="403" y="783"/>
                  </a:lnTo>
                  <a:lnTo>
                    <a:pt x="352" y="755"/>
                  </a:lnTo>
                  <a:lnTo>
                    <a:pt x="307" y="722"/>
                  </a:lnTo>
                  <a:lnTo>
                    <a:pt x="274" y="677"/>
                  </a:lnTo>
                  <a:lnTo>
                    <a:pt x="246" y="626"/>
                  </a:lnTo>
                  <a:lnTo>
                    <a:pt x="229" y="570"/>
                  </a:lnTo>
                  <a:lnTo>
                    <a:pt x="223" y="515"/>
                  </a:lnTo>
                  <a:lnTo>
                    <a:pt x="223" y="515"/>
                  </a:lnTo>
                  <a:close/>
                </a:path>
              </a:pathLst>
            </a:custGeom>
            <a:solidFill>
              <a:srgbClr val="795F31">
                <a:alpha val="40000"/>
              </a:srgbClr>
            </a:solidFill>
            <a:ln cap="flat">
              <a:noFill/>
              <a:prstDash val="solid"/>
              <a:miter lim="0"/>
            </a:ln>
          </p:spPr>
          <p:txBody>
            <a:bodyPr rtlCol="0"/>
            <a:lstStyle/>
            <a:p>
              <a:pPr algn="ctr"/>
              <a:endParaRPr lang="zh-CN" altLang="en-US" sz="1350"/>
            </a:p>
          </p:txBody>
        </p:sp>
        <p:sp>
          <p:nvSpPr>
            <p:cNvPr id="670" name="path"/>
            <p:cNvSpPr/>
            <p:nvPr/>
          </p:nvSpPr>
          <p:spPr>
            <a:xfrm>
              <a:off x="511878" y="511876"/>
              <a:ext cx="1165945" cy="1165945"/>
            </a:xfrm>
            <a:custGeom>
              <a:avLst/>
              <a:gdLst/>
              <a:ahLst/>
              <a:cxnLst/>
              <a:rect l="0" t="0" r="0" b="0"/>
              <a:pathLst>
                <a:path w="1836" h="1836">
                  <a:moveTo>
                    <a:pt x="0" y="918"/>
                  </a:moveTo>
                  <a:lnTo>
                    <a:pt x="0" y="918"/>
                  </a:lnTo>
                  <a:lnTo>
                    <a:pt x="5" y="1013"/>
                  </a:lnTo>
                  <a:lnTo>
                    <a:pt x="16" y="1102"/>
                  </a:lnTo>
                  <a:lnTo>
                    <a:pt x="39" y="1192"/>
                  </a:lnTo>
                  <a:lnTo>
                    <a:pt x="72" y="1276"/>
                  </a:lnTo>
                  <a:lnTo>
                    <a:pt x="111" y="1354"/>
                  </a:lnTo>
                  <a:lnTo>
                    <a:pt x="156" y="1433"/>
                  </a:lnTo>
                  <a:lnTo>
                    <a:pt x="207" y="1500"/>
                  </a:lnTo>
                  <a:lnTo>
                    <a:pt x="268" y="1567"/>
                  </a:lnTo>
                  <a:lnTo>
                    <a:pt x="335" y="1629"/>
                  </a:lnTo>
                  <a:lnTo>
                    <a:pt x="403" y="1679"/>
                  </a:lnTo>
                  <a:lnTo>
                    <a:pt x="481" y="1724"/>
                  </a:lnTo>
                  <a:lnTo>
                    <a:pt x="559" y="1763"/>
                  </a:lnTo>
                  <a:lnTo>
                    <a:pt x="643" y="1796"/>
                  </a:lnTo>
                  <a:lnTo>
                    <a:pt x="733" y="1819"/>
                  </a:lnTo>
                  <a:lnTo>
                    <a:pt x="822" y="1830"/>
                  </a:lnTo>
                  <a:lnTo>
                    <a:pt x="918" y="1836"/>
                  </a:lnTo>
                  <a:lnTo>
                    <a:pt x="918" y="1836"/>
                  </a:lnTo>
                  <a:lnTo>
                    <a:pt x="1013" y="1830"/>
                  </a:lnTo>
                  <a:lnTo>
                    <a:pt x="1102" y="1819"/>
                  </a:lnTo>
                  <a:lnTo>
                    <a:pt x="1192" y="1796"/>
                  </a:lnTo>
                  <a:lnTo>
                    <a:pt x="1276" y="1763"/>
                  </a:lnTo>
                  <a:lnTo>
                    <a:pt x="1354" y="1724"/>
                  </a:lnTo>
                  <a:lnTo>
                    <a:pt x="1433" y="1679"/>
                  </a:lnTo>
                  <a:lnTo>
                    <a:pt x="1500" y="1629"/>
                  </a:lnTo>
                  <a:lnTo>
                    <a:pt x="1567" y="1567"/>
                  </a:lnTo>
                  <a:lnTo>
                    <a:pt x="1629" y="1500"/>
                  </a:lnTo>
                  <a:lnTo>
                    <a:pt x="1679" y="1433"/>
                  </a:lnTo>
                  <a:lnTo>
                    <a:pt x="1724" y="1354"/>
                  </a:lnTo>
                  <a:lnTo>
                    <a:pt x="1763" y="1276"/>
                  </a:lnTo>
                  <a:lnTo>
                    <a:pt x="1796" y="1192"/>
                  </a:lnTo>
                  <a:lnTo>
                    <a:pt x="1819" y="1102"/>
                  </a:lnTo>
                  <a:lnTo>
                    <a:pt x="1830" y="1013"/>
                  </a:lnTo>
                  <a:lnTo>
                    <a:pt x="1836" y="918"/>
                  </a:lnTo>
                  <a:lnTo>
                    <a:pt x="1836" y="918"/>
                  </a:lnTo>
                  <a:lnTo>
                    <a:pt x="1830" y="822"/>
                  </a:lnTo>
                  <a:lnTo>
                    <a:pt x="1819" y="733"/>
                  </a:lnTo>
                  <a:lnTo>
                    <a:pt x="1796" y="643"/>
                  </a:lnTo>
                  <a:lnTo>
                    <a:pt x="1763" y="559"/>
                  </a:lnTo>
                  <a:lnTo>
                    <a:pt x="1724" y="481"/>
                  </a:lnTo>
                  <a:lnTo>
                    <a:pt x="1679" y="403"/>
                  </a:lnTo>
                  <a:lnTo>
                    <a:pt x="1629" y="335"/>
                  </a:lnTo>
                  <a:lnTo>
                    <a:pt x="1567" y="268"/>
                  </a:lnTo>
                  <a:lnTo>
                    <a:pt x="1500" y="207"/>
                  </a:lnTo>
                  <a:lnTo>
                    <a:pt x="1433" y="156"/>
                  </a:lnTo>
                  <a:lnTo>
                    <a:pt x="1354" y="111"/>
                  </a:lnTo>
                  <a:lnTo>
                    <a:pt x="1276" y="72"/>
                  </a:lnTo>
                  <a:lnTo>
                    <a:pt x="1192" y="39"/>
                  </a:lnTo>
                  <a:lnTo>
                    <a:pt x="1102" y="16"/>
                  </a:lnTo>
                  <a:lnTo>
                    <a:pt x="1013" y="5"/>
                  </a:lnTo>
                  <a:lnTo>
                    <a:pt x="918" y="0"/>
                  </a:lnTo>
                  <a:lnTo>
                    <a:pt x="918" y="0"/>
                  </a:lnTo>
                  <a:lnTo>
                    <a:pt x="822" y="5"/>
                  </a:lnTo>
                  <a:lnTo>
                    <a:pt x="733" y="16"/>
                  </a:lnTo>
                  <a:lnTo>
                    <a:pt x="643" y="39"/>
                  </a:lnTo>
                  <a:lnTo>
                    <a:pt x="559" y="72"/>
                  </a:lnTo>
                  <a:lnTo>
                    <a:pt x="481" y="111"/>
                  </a:lnTo>
                  <a:lnTo>
                    <a:pt x="403" y="156"/>
                  </a:lnTo>
                  <a:lnTo>
                    <a:pt x="335" y="207"/>
                  </a:lnTo>
                  <a:lnTo>
                    <a:pt x="268" y="268"/>
                  </a:lnTo>
                  <a:lnTo>
                    <a:pt x="207" y="335"/>
                  </a:lnTo>
                  <a:lnTo>
                    <a:pt x="156" y="403"/>
                  </a:lnTo>
                  <a:lnTo>
                    <a:pt x="111" y="481"/>
                  </a:lnTo>
                  <a:lnTo>
                    <a:pt x="72" y="559"/>
                  </a:lnTo>
                  <a:lnTo>
                    <a:pt x="39" y="643"/>
                  </a:lnTo>
                  <a:lnTo>
                    <a:pt x="16" y="733"/>
                  </a:lnTo>
                  <a:lnTo>
                    <a:pt x="5" y="822"/>
                  </a:lnTo>
                  <a:lnTo>
                    <a:pt x="0" y="918"/>
                  </a:lnTo>
                  <a:lnTo>
                    <a:pt x="0" y="918"/>
                  </a:lnTo>
                  <a:close/>
                  <a:moveTo>
                    <a:pt x="223" y="918"/>
                  </a:moveTo>
                  <a:lnTo>
                    <a:pt x="223" y="918"/>
                  </a:lnTo>
                  <a:lnTo>
                    <a:pt x="229" y="845"/>
                  </a:lnTo>
                  <a:lnTo>
                    <a:pt x="240" y="778"/>
                  </a:lnTo>
                  <a:lnTo>
                    <a:pt x="257" y="710"/>
                  </a:lnTo>
                  <a:lnTo>
                    <a:pt x="279" y="649"/>
                  </a:lnTo>
                  <a:lnTo>
                    <a:pt x="307" y="587"/>
                  </a:lnTo>
                  <a:lnTo>
                    <a:pt x="341" y="531"/>
                  </a:lnTo>
                  <a:lnTo>
                    <a:pt x="380" y="475"/>
                  </a:lnTo>
                  <a:lnTo>
                    <a:pt x="425" y="425"/>
                  </a:lnTo>
                  <a:lnTo>
                    <a:pt x="475" y="380"/>
                  </a:lnTo>
                  <a:lnTo>
                    <a:pt x="531" y="341"/>
                  </a:lnTo>
                  <a:lnTo>
                    <a:pt x="587" y="307"/>
                  </a:lnTo>
                  <a:lnTo>
                    <a:pt x="649" y="279"/>
                  </a:lnTo>
                  <a:lnTo>
                    <a:pt x="710" y="257"/>
                  </a:lnTo>
                  <a:lnTo>
                    <a:pt x="778" y="240"/>
                  </a:lnTo>
                  <a:lnTo>
                    <a:pt x="845" y="229"/>
                  </a:lnTo>
                  <a:lnTo>
                    <a:pt x="918" y="223"/>
                  </a:lnTo>
                  <a:lnTo>
                    <a:pt x="918" y="223"/>
                  </a:lnTo>
                  <a:lnTo>
                    <a:pt x="990" y="229"/>
                  </a:lnTo>
                  <a:lnTo>
                    <a:pt x="1058" y="240"/>
                  </a:lnTo>
                  <a:lnTo>
                    <a:pt x="1125" y="257"/>
                  </a:lnTo>
                  <a:lnTo>
                    <a:pt x="1186" y="279"/>
                  </a:lnTo>
                  <a:lnTo>
                    <a:pt x="1248" y="307"/>
                  </a:lnTo>
                  <a:lnTo>
                    <a:pt x="1304" y="341"/>
                  </a:lnTo>
                  <a:lnTo>
                    <a:pt x="1360" y="380"/>
                  </a:lnTo>
                  <a:lnTo>
                    <a:pt x="1410" y="425"/>
                  </a:lnTo>
                  <a:lnTo>
                    <a:pt x="1455" y="475"/>
                  </a:lnTo>
                  <a:lnTo>
                    <a:pt x="1494" y="531"/>
                  </a:lnTo>
                  <a:lnTo>
                    <a:pt x="1528" y="587"/>
                  </a:lnTo>
                  <a:lnTo>
                    <a:pt x="1556" y="649"/>
                  </a:lnTo>
                  <a:lnTo>
                    <a:pt x="1578" y="710"/>
                  </a:lnTo>
                  <a:lnTo>
                    <a:pt x="1595" y="778"/>
                  </a:lnTo>
                  <a:lnTo>
                    <a:pt x="1606" y="845"/>
                  </a:lnTo>
                  <a:lnTo>
                    <a:pt x="1612" y="918"/>
                  </a:lnTo>
                  <a:lnTo>
                    <a:pt x="1612" y="918"/>
                  </a:lnTo>
                  <a:lnTo>
                    <a:pt x="1606" y="990"/>
                  </a:lnTo>
                  <a:lnTo>
                    <a:pt x="1595" y="1058"/>
                  </a:lnTo>
                  <a:lnTo>
                    <a:pt x="1578" y="1125"/>
                  </a:lnTo>
                  <a:lnTo>
                    <a:pt x="1556" y="1186"/>
                  </a:lnTo>
                  <a:lnTo>
                    <a:pt x="1528" y="1248"/>
                  </a:lnTo>
                  <a:lnTo>
                    <a:pt x="1494" y="1304"/>
                  </a:lnTo>
                  <a:lnTo>
                    <a:pt x="1455" y="1360"/>
                  </a:lnTo>
                  <a:lnTo>
                    <a:pt x="1410" y="1410"/>
                  </a:lnTo>
                  <a:lnTo>
                    <a:pt x="1360" y="1455"/>
                  </a:lnTo>
                  <a:lnTo>
                    <a:pt x="1304" y="1494"/>
                  </a:lnTo>
                  <a:lnTo>
                    <a:pt x="1248" y="1528"/>
                  </a:lnTo>
                  <a:lnTo>
                    <a:pt x="1186" y="1556"/>
                  </a:lnTo>
                  <a:lnTo>
                    <a:pt x="1125" y="1578"/>
                  </a:lnTo>
                  <a:lnTo>
                    <a:pt x="1058" y="1595"/>
                  </a:lnTo>
                  <a:lnTo>
                    <a:pt x="990" y="1606"/>
                  </a:lnTo>
                  <a:lnTo>
                    <a:pt x="918" y="1612"/>
                  </a:lnTo>
                  <a:lnTo>
                    <a:pt x="918" y="1612"/>
                  </a:lnTo>
                  <a:lnTo>
                    <a:pt x="845" y="1606"/>
                  </a:lnTo>
                  <a:lnTo>
                    <a:pt x="778" y="1595"/>
                  </a:lnTo>
                  <a:lnTo>
                    <a:pt x="710" y="1578"/>
                  </a:lnTo>
                  <a:lnTo>
                    <a:pt x="649" y="1556"/>
                  </a:lnTo>
                  <a:lnTo>
                    <a:pt x="587" y="1528"/>
                  </a:lnTo>
                  <a:lnTo>
                    <a:pt x="531" y="1494"/>
                  </a:lnTo>
                  <a:lnTo>
                    <a:pt x="475" y="1455"/>
                  </a:lnTo>
                  <a:lnTo>
                    <a:pt x="425" y="1410"/>
                  </a:lnTo>
                  <a:lnTo>
                    <a:pt x="380" y="1360"/>
                  </a:lnTo>
                  <a:lnTo>
                    <a:pt x="341" y="1304"/>
                  </a:lnTo>
                  <a:lnTo>
                    <a:pt x="307" y="1248"/>
                  </a:lnTo>
                  <a:lnTo>
                    <a:pt x="279" y="1186"/>
                  </a:lnTo>
                  <a:lnTo>
                    <a:pt x="257" y="1125"/>
                  </a:lnTo>
                  <a:lnTo>
                    <a:pt x="240" y="1058"/>
                  </a:lnTo>
                  <a:lnTo>
                    <a:pt x="229" y="990"/>
                  </a:lnTo>
                  <a:lnTo>
                    <a:pt x="223" y="918"/>
                  </a:lnTo>
                  <a:lnTo>
                    <a:pt x="223" y="918"/>
                  </a:lnTo>
                  <a:close/>
                </a:path>
              </a:pathLst>
            </a:custGeom>
            <a:solidFill>
              <a:srgbClr val="795F31">
                <a:alpha val="30196"/>
              </a:srgbClr>
            </a:solidFill>
            <a:ln cap="flat">
              <a:noFill/>
              <a:prstDash val="solid"/>
              <a:miter lim="0"/>
            </a:ln>
          </p:spPr>
          <p:txBody>
            <a:bodyPr rtlCol="0"/>
            <a:lstStyle/>
            <a:p>
              <a:pPr algn="ctr"/>
              <a:endParaRPr lang="zh-CN" altLang="en-US" sz="1350"/>
            </a:p>
          </p:txBody>
        </p:sp>
        <p:sp>
          <p:nvSpPr>
            <p:cNvPr id="672" name="path"/>
            <p:cNvSpPr/>
            <p:nvPr/>
          </p:nvSpPr>
          <p:spPr>
            <a:xfrm>
              <a:off x="255939" y="255937"/>
              <a:ext cx="1677823" cy="1677823"/>
            </a:xfrm>
            <a:custGeom>
              <a:avLst/>
              <a:gdLst/>
              <a:ahLst/>
              <a:cxnLst/>
              <a:rect l="0" t="0" r="0" b="0"/>
              <a:pathLst>
                <a:path w="2642" h="2642">
                  <a:moveTo>
                    <a:pt x="0" y="1321"/>
                  </a:moveTo>
                  <a:lnTo>
                    <a:pt x="0" y="1321"/>
                  </a:lnTo>
                  <a:lnTo>
                    <a:pt x="0" y="1388"/>
                  </a:lnTo>
                  <a:lnTo>
                    <a:pt x="5" y="1455"/>
                  </a:lnTo>
                  <a:lnTo>
                    <a:pt x="16" y="1522"/>
                  </a:lnTo>
                  <a:lnTo>
                    <a:pt x="27" y="1589"/>
                  </a:lnTo>
                  <a:lnTo>
                    <a:pt x="61" y="1712"/>
                  </a:lnTo>
                  <a:lnTo>
                    <a:pt x="106" y="1836"/>
                  </a:lnTo>
                  <a:lnTo>
                    <a:pt x="162" y="1948"/>
                  </a:lnTo>
                  <a:lnTo>
                    <a:pt x="223" y="2060"/>
                  </a:lnTo>
                  <a:lnTo>
                    <a:pt x="302" y="2160"/>
                  </a:lnTo>
                  <a:lnTo>
                    <a:pt x="386" y="2255"/>
                  </a:lnTo>
                  <a:lnTo>
                    <a:pt x="481" y="2339"/>
                  </a:lnTo>
                  <a:lnTo>
                    <a:pt x="582" y="2418"/>
                  </a:lnTo>
                  <a:lnTo>
                    <a:pt x="694" y="2479"/>
                  </a:lnTo>
                  <a:lnTo>
                    <a:pt x="806" y="2535"/>
                  </a:lnTo>
                  <a:lnTo>
                    <a:pt x="929" y="2580"/>
                  </a:lnTo>
                  <a:lnTo>
                    <a:pt x="1052" y="2614"/>
                  </a:lnTo>
                  <a:lnTo>
                    <a:pt x="1119" y="2625"/>
                  </a:lnTo>
                  <a:lnTo>
                    <a:pt x="1186" y="2636"/>
                  </a:lnTo>
                  <a:lnTo>
                    <a:pt x="1253" y="2642"/>
                  </a:lnTo>
                  <a:lnTo>
                    <a:pt x="1321" y="2642"/>
                  </a:lnTo>
                  <a:lnTo>
                    <a:pt x="1321" y="2642"/>
                  </a:lnTo>
                  <a:lnTo>
                    <a:pt x="1388" y="2642"/>
                  </a:lnTo>
                  <a:lnTo>
                    <a:pt x="1455" y="2636"/>
                  </a:lnTo>
                  <a:lnTo>
                    <a:pt x="1522" y="2625"/>
                  </a:lnTo>
                  <a:lnTo>
                    <a:pt x="1589" y="2614"/>
                  </a:lnTo>
                  <a:lnTo>
                    <a:pt x="1712" y="2580"/>
                  </a:lnTo>
                  <a:lnTo>
                    <a:pt x="1836" y="2535"/>
                  </a:lnTo>
                  <a:lnTo>
                    <a:pt x="1948" y="2479"/>
                  </a:lnTo>
                  <a:lnTo>
                    <a:pt x="2060" y="2418"/>
                  </a:lnTo>
                  <a:lnTo>
                    <a:pt x="2160" y="2339"/>
                  </a:lnTo>
                  <a:lnTo>
                    <a:pt x="2255" y="2255"/>
                  </a:lnTo>
                  <a:lnTo>
                    <a:pt x="2339" y="2160"/>
                  </a:lnTo>
                  <a:lnTo>
                    <a:pt x="2418" y="2060"/>
                  </a:lnTo>
                  <a:lnTo>
                    <a:pt x="2479" y="1948"/>
                  </a:lnTo>
                  <a:lnTo>
                    <a:pt x="2535" y="1836"/>
                  </a:lnTo>
                  <a:lnTo>
                    <a:pt x="2580" y="1712"/>
                  </a:lnTo>
                  <a:lnTo>
                    <a:pt x="2614" y="1589"/>
                  </a:lnTo>
                  <a:lnTo>
                    <a:pt x="2625" y="1522"/>
                  </a:lnTo>
                  <a:lnTo>
                    <a:pt x="2636" y="1455"/>
                  </a:lnTo>
                  <a:lnTo>
                    <a:pt x="2642" y="1388"/>
                  </a:lnTo>
                  <a:lnTo>
                    <a:pt x="2642" y="1321"/>
                  </a:lnTo>
                  <a:lnTo>
                    <a:pt x="2642" y="1321"/>
                  </a:lnTo>
                  <a:lnTo>
                    <a:pt x="2642" y="1253"/>
                  </a:lnTo>
                  <a:lnTo>
                    <a:pt x="2636" y="1186"/>
                  </a:lnTo>
                  <a:lnTo>
                    <a:pt x="2625" y="1119"/>
                  </a:lnTo>
                  <a:lnTo>
                    <a:pt x="2614" y="1052"/>
                  </a:lnTo>
                  <a:lnTo>
                    <a:pt x="2580" y="929"/>
                  </a:lnTo>
                  <a:lnTo>
                    <a:pt x="2535" y="806"/>
                  </a:lnTo>
                  <a:lnTo>
                    <a:pt x="2479" y="694"/>
                  </a:lnTo>
                  <a:lnTo>
                    <a:pt x="2418" y="582"/>
                  </a:lnTo>
                  <a:lnTo>
                    <a:pt x="2339" y="481"/>
                  </a:lnTo>
                  <a:lnTo>
                    <a:pt x="2255" y="386"/>
                  </a:lnTo>
                  <a:lnTo>
                    <a:pt x="2160" y="302"/>
                  </a:lnTo>
                  <a:lnTo>
                    <a:pt x="2060" y="223"/>
                  </a:lnTo>
                  <a:lnTo>
                    <a:pt x="1948" y="162"/>
                  </a:lnTo>
                  <a:lnTo>
                    <a:pt x="1836" y="106"/>
                  </a:lnTo>
                  <a:lnTo>
                    <a:pt x="1712" y="61"/>
                  </a:lnTo>
                  <a:lnTo>
                    <a:pt x="1589" y="27"/>
                  </a:lnTo>
                  <a:lnTo>
                    <a:pt x="1522" y="16"/>
                  </a:lnTo>
                  <a:lnTo>
                    <a:pt x="1455" y="5"/>
                  </a:lnTo>
                  <a:lnTo>
                    <a:pt x="1388" y="0"/>
                  </a:lnTo>
                  <a:lnTo>
                    <a:pt x="1321" y="0"/>
                  </a:lnTo>
                  <a:lnTo>
                    <a:pt x="1321" y="0"/>
                  </a:lnTo>
                  <a:lnTo>
                    <a:pt x="1253" y="0"/>
                  </a:lnTo>
                  <a:lnTo>
                    <a:pt x="1186" y="5"/>
                  </a:lnTo>
                  <a:lnTo>
                    <a:pt x="1119" y="16"/>
                  </a:lnTo>
                  <a:lnTo>
                    <a:pt x="1052" y="27"/>
                  </a:lnTo>
                  <a:lnTo>
                    <a:pt x="929" y="61"/>
                  </a:lnTo>
                  <a:lnTo>
                    <a:pt x="806" y="106"/>
                  </a:lnTo>
                  <a:lnTo>
                    <a:pt x="694" y="162"/>
                  </a:lnTo>
                  <a:lnTo>
                    <a:pt x="582" y="223"/>
                  </a:lnTo>
                  <a:lnTo>
                    <a:pt x="481" y="302"/>
                  </a:lnTo>
                  <a:lnTo>
                    <a:pt x="386" y="386"/>
                  </a:lnTo>
                  <a:lnTo>
                    <a:pt x="302" y="481"/>
                  </a:lnTo>
                  <a:lnTo>
                    <a:pt x="223" y="582"/>
                  </a:lnTo>
                  <a:lnTo>
                    <a:pt x="162" y="694"/>
                  </a:lnTo>
                  <a:lnTo>
                    <a:pt x="106" y="806"/>
                  </a:lnTo>
                  <a:lnTo>
                    <a:pt x="61" y="929"/>
                  </a:lnTo>
                  <a:lnTo>
                    <a:pt x="27" y="1052"/>
                  </a:lnTo>
                  <a:lnTo>
                    <a:pt x="16" y="1119"/>
                  </a:lnTo>
                  <a:lnTo>
                    <a:pt x="5" y="1186"/>
                  </a:lnTo>
                  <a:lnTo>
                    <a:pt x="0" y="1253"/>
                  </a:lnTo>
                  <a:lnTo>
                    <a:pt x="0" y="1321"/>
                  </a:lnTo>
                  <a:lnTo>
                    <a:pt x="0" y="1321"/>
                  </a:lnTo>
                  <a:close/>
                  <a:moveTo>
                    <a:pt x="223" y="1321"/>
                  </a:moveTo>
                  <a:lnTo>
                    <a:pt x="223" y="1321"/>
                  </a:lnTo>
                  <a:lnTo>
                    <a:pt x="229" y="1209"/>
                  </a:lnTo>
                  <a:lnTo>
                    <a:pt x="246" y="1102"/>
                  </a:lnTo>
                  <a:lnTo>
                    <a:pt x="274" y="996"/>
                  </a:lnTo>
                  <a:lnTo>
                    <a:pt x="307" y="895"/>
                  </a:lnTo>
                  <a:lnTo>
                    <a:pt x="358" y="800"/>
                  </a:lnTo>
                  <a:lnTo>
                    <a:pt x="414" y="705"/>
                  </a:lnTo>
                  <a:lnTo>
                    <a:pt x="475" y="621"/>
                  </a:lnTo>
                  <a:lnTo>
                    <a:pt x="543" y="543"/>
                  </a:lnTo>
                  <a:lnTo>
                    <a:pt x="621" y="475"/>
                  </a:lnTo>
                  <a:lnTo>
                    <a:pt x="705" y="414"/>
                  </a:lnTo>
                  <a:lnTo>
                    <a:pt x="800" y="358"/>
                  </a:lnTo>
                  <a:lnTo>
                    <a:pt x="895" y="307"/>
                  </a:lnTo>
                  <a:lnTo>
                    <a:pt x="996" y="274"/>
                  </a:lnTo>
                  <a:lnTo>
                    <a:pt x="1102" y="246"/>
                  </a:lnTo>
                  <a:lnTo>
                    <a:pt x="1209" y="229"/>
                  </a:lnTo>
                  <a:lnTo>
                    <a:pt x="1321" y="223"/>
                  </a:lnTo>
                  <a:lnTo>
                    <a:pt x="1321" y="223"/>
                  </a:lnTo>
                  <a:lnTo>
                    <a:pt x="1433" y="229"/>
                  </a:lnTo>
                  <a:lnTo>
                    <a:pt x="1539" y="246"/>
                  </a:lnTo>
                  <a:lnTo>
                    <a:pt x="1645" y="274"/>
                  </a:lnTo>
                  <a:lnTo>
                    <a:pt x="1746" y="307"/>
                  </a:lnTo>
                  <a:lnTo>
                    <a:pt x="1841" y="358"/>
                  </a:lnTo>
                  <a:lnTo>
                    <a:pt x="1936" y="414"/>
                  </a:lnTo>
                  <a:lnTo>
                    <a:pt x="2020" y="475"/>
                  </a:lnTo>
                  <a:lnTo>
                    <a:pt x="2099" y="543"/>
                  </a:lnTo>
                  <a:lnTo>
                    <a:pt x="2166" y="621"/>
                  </a:lnTo>
                  <a:lnTo>
                    <a:pt x="2227" y="705"/>
                  </a:lnTo>
                  <a:lnTo>
                    <a:pt x="2283" y="800"/>
                  </a:lnTo>
                  <a:lnTo>
                    <a:pt x="2334" y="895"/>
                  </a:lnTo>
                  <a:lnTo>
                    <a:pt x="2367" y="996"/>
                  </a:lnTo>
                  <a:lnTo>
                    <a:pt x="2395" y="1102"/>
                  </a:lnTo>
                  <a:lnTo>
                    <a:pt x="2412" y="1209"/>
                  </a:lnTo>
                  <a:lnTo>
                    <a:pt x="2418" y="1321"/>
                  </a:lnTo>
                  <a:lnTo>
                    <a:pt x="2418" y="1321"/>
                  </a:lnTo>
                  <a:lnTo>
                    <a:pt x="2412" y="1433"/>
                  </a:lnTo>
                  <a:lnTo>
                    <a:pt x="2395" y="1539"/>
                  </a:lnTo>
                  <a:lnTo>
                    <a:pt x="2367" y="1645"/>
                  </a:lnTo>
                  <a:lnTo>
                    <a:pt x="2334" y="1746"/>
                  </a:lnTo>
                  <a:lnTo>
                    <a:pt x="2283" y="1841"/>
                  </a:lnTo>
                  <a:lnTo>
                    <a:pt x="2227" y="1936"/>
                  </a:lnTo>
                  <a:lnTo>
                    <a:pt x="2166" y="2020"/>
                  </a:lnTo>
                  <a:lnTo>
                    <a:pt x="2099" y="2099"/>
                  </a:lnTo>
                  <a:lnTo>
                    <a:pt x="2020" y="2166"/>
                  </a:lnTo>
                  <a:lnTo>
                    <a:pt x="1936" y="2227"/>
                  </a:lnTo>
                  <a:lnTo>
                    <a:pt x="1841" y="2283"/>
                  </a:lnTo>
                  <a:lnTo>
                    <a:pt x="1746" y="2334"/>
                  </a:lnTo>
                  <a:lnTo>
                    <a:pt x="1645" y="2367"/>
                  </a:lnTo>
                  <a:lnTo>
                    <a:pt x="1539" y="2395"/>
                  </a:lnTo>
                  <a:lnTo>
                    <a:pt x="1433" y="2412"/>
                  </a:lnTo>
                  <a:lnTo>
                    <a:pt x="1321" y="2418"/>
                  </a:lnTo>
                  <a:lnTo>
                    <a:pt x="1321" y="2418"/>
                  </a:lnTo>
                  <a:lnTo>
                    <a:pt x="1209" y="2412"/>
                  </a:lnTo>
                  <a:lnTo>
                    <a:pt x="1102" y="2395"/>
                  </a:lnTo>
                  <a:lnTo>
                    <a:pt x="996" y="2367"/>
                  </a:lnTo>
                  <a:lnTo>
                    <a:pt x="895" y="2334"/>
                  </a:lnTo>
                  <a:lnTo>
                    <a:pt x="800" y="2283"/>
                  </a:lnTo>
                  <a:lnTo>
                    <a:pt x="705" y="2227"/>
                  </a:lnTo>
                  <a:lnTo>
                    <a:pt x="621" y="2166"/>
                  </a:lnTo>
                  <a:lnTo>
                    <a:pt x="543" y="2099"/>
                  </a:lnTo>
                  <a:lnTo>
                    <a:pt x="475" y="2020"/>
                  </a:lnTo>
                  <a:lnTo>
                    <a:pt x="414" y="1936"/>
                  </a:lnTo>
                  <a:lnTo>
                    <a:pt x="358" y="1841"/>
                  </a:lnTo>
                  <a:lnTo>
                    <a:pt x="307" y="1746"/>
                  </a:lnTo>
                  <a:lnTo>
                    <a:pt x="274" y="1645"/>
                  </a:lnTo>
                  <a:lnTo>
                    <a:pt x="246" y="1539"/>
                  </a:lnTo>
                  <a:lnTo>
                    <a:pt x="229" y="1433"/>
                  </a:lnTo>
                  <a:lnTo>
                    <a:pt x="223" y="1321"/>
                  </a:lnTo>
                  <a:lnTo>
                    <a:pt x="223" y="1321"/>
                  </a:lnTo>
                  <a:close/>
                </a:path>
              </a:pathLst>
            </a:custGeom>
            <a:solidFill>
              <a:srgbClr val="795F31">
                <a:alpha val="20000"/>
              </a:srgbClr>
            </a:solidFill>
            <a:ln cap="flat">
              <a:noFill/>
              <a:prstDash val="solid"/>
              <a:miter lim="0"/>
            </a:ln>
          </p:spPr>
          <p:txBody>
            <a:bodyPr rtlCol="0"/>
            <a:lstStyle/>
            <a:p>
              <a:pPr algn="ctr"/>
              <a:endParaRPr lang="zh-CN" altLang="en-US" sz="1350"/>
            </a:p>
          </p:txBody>
        </p:sp>
        <p:sp>
          <p:nvSpPr>
            <p:cNvPr id="674" name="path"/>
            <p:cNvSpPr/>
            <p:nvPr/>
          </p:nvSpPr>
          <p:spPr>
            <a:xfrm>
              <a:off x="0" y="0"/>
              <a:ext cx="2189701" cy="2189699"/>
            </a:xfrm>
            <a:custGeom>
              <a:avLst/>
              <a:gdLst/>
              <a:ahLst/>
              <a:cxnLst/>
              <a:rect l="0" t="0" r="0" b="0"/>
              <a:pathLst>
                <a:path w="3448" h="3448">
                  <a:moveTo>
                    <a:pt x="0" y="1724"/>
                  </a:moveTo>
                  <a:lnTo>
                    <a:pt x="0" y="1724"/>
                  </a:lnTo>
                  <a:lnTo>
                    <a:pt x="0" y="1813"/>
                  </a:lnTo>
                  <a:lnTo>
                    <a:pt x="11" y="1897"/>
                  </a:lnTo>
                  <a:lnTo>
                    <a:pt x="22" y="1987"/>
                  </a:lnTo>
                  <a:lnTo>
                    <a:pt x="33" y="2071"/>
                  </a:lnTo>
                  <a:lnTo>
                    <a:pt x="55" y="2155"/>
                  </a:lnTo>
                  <a:lnTo>
                    <a:pt x="78" y="2233"/>
                  </a:lnTo>
                  <a:lnTo>
                    <a:pt x="106" y="2317"/>
                  </a:lnTo>
                  <a:lnTo>
                    <a:pt x="134" y="2395"/>
                  </a:lnTo>
                  <a:lnTo>
                    <a:pt x="167" y="2468"/>
                  </a:lnTo>
                  <a:lnTo>
                    <a:pt x="207" y="2547"/>
                  </a:lnTo>
                  <a:lnTo>
                    <a:pt x="251" y="2619"/>
                  </a:lnTo>
                  <a:lnTo>
                    <a:pt x="296" y="2687"/>
                  </a:lnTo>
                  <a:lnTo>
                    <a:pt x="341" y="2754"/>
                  </a:lnTo>
                  <a:lnTo>
                    <a:pt x="391" y="2821"/>
                  </a:lnTo>
                  <a:lnTo>
                    <a:pt x="447" y="2882"/>
                  </a:lnTo>
                  <a:lnTo>
                    <a:pt x="503" y="2944"/>
                  </a:lnTo>
                  <a:lnTo>
                    <a:pt x="565" y="3000"/>
                  </a:lnTo>
                  <a:lnTo>
                    <a:pt x="626" y="3056"/>
                  </a:lnTo>
                  <a:lnTo>
                    <a:pt x="694" y="3106"/>
                  </a:lnTo>
                  <a:lnTo>
                    <a:pt x="761" y="3151"/>
                  </a:lnTo>
                  <a:lnTo>
                    <a:pt x="828" y="3196"/>
                  </a:lnTo>
                  <a:lnTo>
                    <a:pt x="901" y="3241"/>
                  </a:lnTo>
                  <a:lnTo>
                    <a:pt x="979" y="3280"/>
                  </a:lnTo>
                  <a:lnTo>
                    <a:pt x="1052" y="3313"/>
                  </a:lnTo>
                  <a:lnTo>
                    <a:pt x="1130" y="3341"/>
                  </a:lnTo>
                  <a:lnTo>
                    <a:pt x="1214" y="3369"/>
                  </a:lnTo>
                  <a:lnTo>
                    <a:pt x="1293" y="3392"/>
                  </a:lnTo>
                  <a:lnTo>
                    <a:pt x="1377" y="3414"/>
                  </a:lnTo>
                  <a:lnTo>
                    <a:pt x="1461" y="3425"/>
                  </a:lnTo>
                  <a:lnTo>
                    <a:pt x="1550" y="3437"/>
                  </a:lnTo>
                  <a:lnTo>
                    <a:pt x="1634" y="3448"/>
                  </a:lnTo>
                  <a:lnTo>
                    <a:pt x="1724" y="3448"/>
                  </a:lnTo>
                  <a:lnTo>
                    <a:pt x="1724" y="3448"/>
                  </a:lnTo>
                  <a:lnTo>
                    <a:pt x="1813" y="3448"/>
                  </a:lnTo>
                  <a:lnTo>
                    <a:pt x="1897" y="3437"/>
                  </a:lnTo>
                  <a:lnTo>
                    <a:pt x="1987" y="3425"/>
                  </a:lnTo>
                  <a:lnTo>
                    <a:pt x="2071" y="3414"/>
                  </a:lnTo>
                  <a:lnTo>
                    <a:pt x="2155" y="3392"/>
                  </a:lnTo>
                  <a:lnTo>
                    <a:pt x="2233" y="3369"/>
                  </a:lnTo>
                  <a:lnTo>
                    <a:pt x="2317" y="3341"/>
                  </a:lnTo>
                  <a:lnTo>
                    <a:pt x="2395" y="3313"/>
                  </a:lnTo>
                  <a:lnTo>
                    <a:pt x="2468" y="3280"/>
                  </a:lnTo>
                  <a:lnTo>
                    <a:pt x="2547" y="3241"/>
                  </a:lnTo>
                  <a:lnTo>
                    <a:pt x="2619" y="3196"/>
                  </a:lnTo>
                  <a:lnTo>
                    <a:pt x="2687" y="3151"/>
                  </a:lnTo>
                  <a:lnTo>
                    <a:pt x="2754" y="3106"/>
                  </a:lnTo>
                  <a:lnTo>
                    <a:pt x="2821" y="3056"/>
                  </a:lnTo>
                  <a:lnTo>
                    <a:pt x="2882" y="3000"/>
                  </a:lnTo>
                  <a:lnTo>
                    <a:pt x="2944" y="2944"/>
                  </a:lnTo>
                  <a:lnTo>
                    <a:pt x="3000" y="2882"/>
                  </a:lnTo>
                  <a:lnTo>
                    <a:pt x="3056" y="2821"/>
                  </a:lnTo>
                  <a:lnTo>
                    <a:pt x="3106" y="2754"/>
                  </a:lnTo>
                  <a:lnTo>
                    <a:pt x="3151" y="2687"/>
                  </a:lnTo>
                  <a:lnTo>
                    <a:pt x="3196" y="2619"/>
                  </a:lnTo>
                  <a:lnTo>
                    <a:pt x="3241" y="2547"/>
                  </a:lnTo>
                  <a:lnTo>
                    <a:pt x="3280" y="2468"/>
                  </a:lnTo>
                  <a:lnTo>
                    <a:pt x="3313" y="2395"/>
                  </a:lnTo>
                  <a:lnTo>
                    <a:pt x="3341" y="2317"/>
                  </a:lnTo>
                  <a:lnTo>
                    <a:pt x="3369" y="2233"/>
                  </a:lnTo>
                  <a:lnTo>
                    <a:pt x="3392" y="2155"/>
                  </a:lnTo>
                  <a:lnTo>
                    <a:pt x="3414" y="2071"/>
                  </a:lnTo>
                  <a:lnTo>
                    <a:pt x="3425" y="1987"/>
                  </a:lnTo>
                  <a:lnTo>
                    <a:pt x="3437" y="1897"/>
                  </a:lnTo>
                  <a:lnTo>
                    <a:pt x="3448" y="1813"/>
                  </a:lnTo>
                  <a:lnTo>
                    <a:pt x="3448" y="1724"/>
                  </a:lnTo>
                  <a:lnTo>
                    <a:pt x="3448" y="1724"/>
                  </a:lnTo>
                  <a:lnTo>
                    <a:pt x="3448" y="1634"/>
                  </a:lnTo>
                  <a:lnTo>
                    <a:pt x="3437" y="1550"/>
                  </a:lnTo>
                  <a:lnTo>
                    <a:pt x="3425" y="1461"/>
                  </a:lnTo>
                  <a:lnTo>
                    <a:pt x="3414" y="1377"/>
                  </a:lnTo>
                  <a:lnTo>
                    <a:pt x="3392" y="1293"/>
                  </a:lnTo>
                  <a:lnTo>
                    <a:pt x="3369" y="1214"/>
                  </a:lnTo>
                  <a:lnTo>
                    <a:pt x="3341" y="1130"/>
                  </a:lnTo>
                  <a:lnTo>
                    <a:pt x="3313" y="1052"/>
                  </a:lnTo>
                  <a:lnTo>
                    <a:pt x="3280" y="979"/>
                  </a:lnTo>
                  <a:lnTo>
                    <a:pt x="3241" y="901"/>
                  </a:lnTo>
                  <a:lnTo>
                    <a:pt x="3196" y="828"/>
                  </a:lnTo>
                  <a:lnTo>
                    <a:pt x="3151" y="761"/>
                  </a:lnTo>
                  <a:lnTo>
                    <a:pt x="3106" y="694"/>
                  </a:lnTo>
                  <a:lnTo>
                    <a:pt x="3056" y="626"/>
                  </a:lnTo>
                  <a:lnTo>
                    <a:pt x="3000" y="565"/>
                  </a:lnTo>
                  <a:lnTo>
                    <a:pt x="2944" y="503"/>
                  </a:lnTo>
                  <a:lnTo>
                    <a:pt x="2882" y="447"/>
                  </a:lnTo>
                  <a:lnTo>
                    <a:pt x="2821" y="391"/>
                  </a:lnTo>
                  <a:lnTo>
                    <a:pt x="2754" y="341"/>
                  </a:lnTo>
                  <a:lnTo>
                    <a:pt x="2687" y="296"/>
                  </a:lnTo>
                  <a:lnTo>
                    <a:pt x="2619" y="251"/>
                  </a:lnTo>
                  <a:lnTo>
                    <a:pt x="2547" y="207"/>
                  </a:lnTo>
                  <a:lnTo>
                    <a:pt x="2468" y="167"/>
                  </a:lnTo>
                  <a:lnTo>
                    <a:pt x="2395" y="134"/>
                  </a:lnTo>
                  <a:lnTo>
                    <a:pt x="2317" y="106"/>
                  </a:lnTo>
                  <a:lnTo>
                    <a:pt x="2233" y="78"/>
                  </a:lnTo>
                  <a:lnTo>
                    <a:pt x="2155" y="55"/>
                  </a:lnTo>
                  <a:lnTo>
                    <a:pt x="2071" y="33"/>
                  </a:lnTo>
                  <a:lnTo>
                    <a:pt x="1987" y="22"/>
                  </a:lnTo>
                  <a:lnTo>
                    <a:pt x="1897" y="11"/>
                  </a:lnTo>
                  <a:lnTo>
                    <a:pt x="1813" y="0"/>
                  </a:lnTo>
                  <a:lnTo>
                    <a:pt x="1724" y="0"/>
                  </a:lnTo>
                  <a:lnTo>
                    <a:pt x="1724" y="0"/>
                  </a:lnTo>
                  <a:lnTo>
                    <a:pt x="1634" y="0"/>
                  </a:lnTo>
                  <a:lnTo>
                    <a:pt x="1550" y="11"/>
                  </a:lnTo>
                  <a:lnTo>
                    <a:pt x="1461" y="22"/>
                  </a:lnTo>
                  <a:lnTo>
                    <a:pt x="1377" y="33"/>
                  </a:lnTo>
                  <a:lnTo>
                    <a:pt x="1293" y="55"/>
                  </a:lnTo>
                  <a:lnTo>
                    <a:pt x="1214" y="78"/>
                  </a:lnTo>
                  <a:lnTo>
                    <a:pt x="1130" y="106"/>
                  </a:lnTo>
                  <a:lnTo>
                    <a:pt x="1052" y="134"/>
                  </a:lnTo>
                  <a:lnTo>
                    <a:pt x="979" y="167"/>
                  </a:lnTo>
                  <a:lnTo>
                    <a:pt x="901" y="207"/>
                  </a:lnTo>
                  <a:lnTo>
                    <a:pt x="828" y="251"/>
                  </a:lnTo>
                  <a:lnTo>
                    <a:pt x="761" y="296"/>
                  </a:lnTo>
                  <a:lnTo>
                    <a:pt x="694" y="341"/>
                  </a:lnTo>
                  <a:lnTo>
                    <a:pt x="626" y="391"/>
                  </a:lnTo>
                  <a:lnTo>
                    <a:pt x="565" y="447"/>
                  </a:lnTo>
                  <a:lnTo>
                    <a:pt x="503" y="503"/>
                  </a:lnTo>
                  <a:lnTo>
                    <a:pt x="447" y="565"/>
                  </a:lnTo>
                  <a:lnTo>
                    <a:pt x="391" y="626"/>
                  </a:lnTo>
                  <a:lnTo>
                    <a:pt x="341" y="694"/>
                  </a:lnTo>
                  <a:lnTo>
                    <a:pt x="296" y="761"/>
                  </a:lnTo>
                  <a:lnTo>
                    <a:pt x="251" y="828"/>
                  </a:lnTo>
                  <a:lnTo>
                    <a:pt x="207" y="901"/>
                  </a:lnTo>
                  <a:lnTo>
                    <a:pt x="167" y="979"/>
                  </a:lnTo>
                  <a:lnTo>
                    <a:pt x="134" y="1052"/>
                  </a:lnTo>
                  <a:lnTo>
                    <a:pt x="106" y="1130"/>
                  </a:lnTo>
                  <a:lnTo>
                    <a:pt x="78" y="1214"/>
                  </a:lnTo>
                  <a:lnTo>
                    <a:pt x="55" y="1293"/>
                  </a:lnTo>
                  <a:lnTo>
                    <a:pt x="33" y="1377"/>
                  </a:lnTo>
                  <a:lnTo>
                    <a:pt x="22" y="1461"/>
                  </a:lnTo>
                  <a:lnTo>
                    <a:pt x="11" y="1550"/>
                  </a:lnTo>
                  <a:lnTo>
                    <a:pt x="0" y="1634"/>
                  </a:lnTo>
                  <a:lnTo>
                    <a:pt x="0" y="1724"/>
                  </a:lnTo>
                  <a:lnTo>
                    <a:pt x="0" y="1724"/>
                  </a:lnTo>
                  <a:close/>
                  <a:moveTo>
                    <a:pt x="223" y="1724"/>
                  </a:moveTo>
                  <a:lnTo>
                    <a:pt x="223" y="1724"/>
                  </a:lnTo>
                  <a:lnTo>
                    <a:pt x="223" y="1645"/>
                  </a:lnTo>
                  <a:lnTo>
                    <a:pt x="229" y="1573"/>
                  </a:lnTo>
                  <a:lnTo>
                    <a:pt x="240" y="1494"/>
                  </a:lnTo>
                  <a:lnTo>
                    <a:pt x="251" y="1421"/>
                  </a:lnTo>
                  <a:lnTo>
                    <a:pt x="268" y="1349"/>
                  </a:lnTo>
                  <a:lnTo>
                    <a:pt x="291" y="1276"/>
                  </a:lnTo>
                  <a:lnTo>
                    <a:pt x="313" y="1209"/>
                  </a:lnTo>
                  <a:lnTo>
                    <a:pt x="341" y="1141"/>
                  </a:lnTo>
                  <a:lnTo>
                    <a:pt x="369" y="1074"/>
                  </a:lnTo>
                  <a:lnTo>
                    <a:pt x="403" y="1007"/>
                  </a:lnTo>
                  <a:lnTo>
                    <a:pt x="442" y="946"/>
                  </a:lnTo>
                  <a:lnTo>
                    <a:pt x="481" y="884"/>
                  </a:lnTo>
                  <a:lnTo>
                    <a:pt x="520" y="828"/>
                  </a:lnTo>
                  <a:lnTo>
                    <a:pt x="565" y="772"/>
                  </a:lnTo>
                  <a:lnTo>
                    <a:pt x="615" y="716"/>
                  </a:lnTo>
                  <a:lnTo>
                    <a:pt x="666" y="666"/>
                  </a:lnTo>
                  <a:lnTo>
                    <a:pt x="716" y="615"/>
                  </a:lnTo>
                  <a:lnTo>
                    <a:pt x="772" y="565"/>
                  </a:lnTo>
                  <a:lnTo>
                    <a:pt x="828" y="520"/>
                  </a:lnTo>
                  <a:lnTo>
                    <a:pt x="884" y="481"/>
                  </a:lnTo>
                  <a:lnTo>
                    <a:pt x="946" y="442"/>
                  </a:lnTo>
                  <a:lnTo>
                    <a:pt x="1007" y="403"/>
                  </a:lnTo>
                  <a:lnTo>
                    <a:pt x="1074" y="369"/>
                  </a:lnTo>
                  <a:lnTo>
                    <a:pt x="1141" y="341"/>
                  </a:lnTo>
                  <a:lnTo>
                    <a:pt x="1209" y="313"/>
                  </a:lnTo>
                  <a:lnTo>
                    <a:pt x="1276" y="291"/>
                  </a:lnTo>
                  <a:lnTo>
                    <a:pt x="1349" y="268"/>
                  </a:lnTo>
                  <a:lnTo>
                    <a:pt x="1421" y="251"/>
                  </a:lnTo>
                  <a:lnTo>
                    <a:pt x="1494" y="240"/>
                  </a:lnTo>
                  <a:lnTo>
                    <a:pt x="1573" y="229"/>
                  </a:lnTo>
                  <a:lnTo>
                    <a:pt x="1645" y="223"/>
                  </a:lnTo>
                  <a:lnTo>
                    <a:pt x="1724" y="223"/>
                  </a:lnTo>
                  <a:lnTo>
                    <a:pt x="1724" y="223"/>
                  </a:lnTo>
                  <a:lnTo>
                    <a:pt x="1802" y="223"/>
                  </a:lnTo>
                  <a:lnTo>
                    <a:pt x="1875" y="229"/>
                  </a:lnTo>
                  <a:lnTo>
                    <a:pt x="1953" y="240"/>
                  </a:lnTo>
                  <a:lnTo>
                    <a:pt x="2026" y="251"/>
                  </a:lnTo>
                  <a:lnTo>
                    <a:pt x="2099" y="268"/>
                  </a:lnTo>
                  <a:lnTo>
                    <a:pt x="2172" y="291"/>
                  </a:lnTo>
                  <a:lnTo>
                    <a:pt x="2239" y="313"/>
                  </a:lnTo>
                  <a:lnTo>
                    <a:pt x="2306" y="341"/>
                  </a:lnTo>
                  <a:lnTo>
                    <a:pt x="2373" y="369"/>
                  </a:lnTo>
                  <a:lnTo>
                    <a:pt x="2440" y="403"/>
                  </a:lnTo>
                  <a:lnTo>
                    <a:pt x="2502" y="442"/>
                  </a:lnTo>
                  <a:lnTo>
                    <a:pt x="2563" y="481"/>
                  </a:lnTo>
                  <a:lnTo>
                    <a:pt x="2619" y="520"/>
                  </a:lnTo>
                  <a:lnTo>
                    <a:pt x="2675" y="565"/>
                  </a:lnTo>
                  <a:lnTo>
                    <a:pt x="2731" y="615"/>
                  </a:lnTo>
                  <a:lnTo>
                    <a:pt x="2782" y="666"/>
                  </a:lnTo>
                  <a:lnTo>
                    <a:pt x="2832" y="716"/>
                  </a:lnTo>
                  <a:lnTo>
                    <a:pt x="2882" y="772"/>
                  </a:lnTo>
                  <a:lnTo>
                    <a:pt x="2927" y="828"/>
                  </a:lnTo>
                  <a:lnTo>
                    <a:pt x="2966" y="884"/>
                  </a:lnTo>
                  <a:lnTo>
                    <a:pt x="3006" y="946"/>
                  </a:lnTo>
                  <a:lnTo>
                    <a:pt x="3045" y="1007"/>
                  </a:lnTo>
                  <a:lnTo>
                    <a:pt x="3078" y="1074"/>
                  </a:lnTo>
                  <a:lnTo>
                    <a:pt x="3106" y="1141"/>
                  </a:lnTo>
                  <a:lnTo>
                    <a:pt x="3134" y="1209"/>
                  </a:lnTo>
                  <a:lnTo>
                    <a:pt x="3157" y="1276"/>
                  </a:lnTo>
                  <a:lnTo>
                    <a:pt x="3179" y="1349"/>
                  </a:lnTo>
                  <a:lnTo>
                    <a:pt x="3196" y="1421"/>
                  </a:lnTo>
                  <a:lnTo>
                    <a:pt x="3207" y="1494"/>
                  </a:lnTo>
                  <a:lnTo>
                    <a:pt x="3218" y="1573"/>
                  </a:lnTo>
                  <a:lnTo>
                    <a:pt x="3224" y="1645"/>
                  </a:lnTo>
                  <a:lnTo>
                    <a:pt x="3224" y="1724"/>
                  </a:lnTo>
                  <a:lnTo>
                    <a:pt x="3224" y="1724"/>
                  </a:lnTo>
                  <a:lnTo>
                    <a:pt x="3224" y="1802"/>
                  </a:lnTo>
                  <a:lnTo>
                    <a:pt x="3218" y="1875"/>
                  </a:lnTo>
                  <a:lnTo>
                    <a:pt x="3207" y="1953"/>
                  </a:lnTo>
                  <a:lnTo>
                    <a:pt x="3196" y="2026"/>
                  </a:lnTo>
                  <a:lnTo>
                    <a:pt x="3179" y="2099"/>
                  </a:lnTo>
                  <a:lnTo>
                    <a:pt x="3157" y="2172"/>
                  </a:lnTo>
                  <a:lnTo>
                    <a:pt x="3134" y="2239"/>
                  </a:lnTo>
                  <a:lnTo>
                    <a:pt x="3106" y="2306"/>
                  </a:lnTo>
                  <a:lnTo>
                    <a:pt x="3078" y="2373"/>
                  </a:lnTo>
                  <a:lnTo>
                    <a:pt x="3045" y="2440"/>
                  </a:lnTo>
                  <a:lnTo>
                    <a:pt x="3006" y="2502"/>
                  </a:lnTo>
                  <a:lnTo>
                    <a:pt x="2966" y="2563"/>
                  </a:lnTo>
                  <a:lnTo>
                    <a:pt x="2927" y="2619"/>
                  </a:lnTo>
                  <a:lnTo>
                    <a:pt x="2882" y="2675"/>
                  </a:lnTo>
                  <a:lnTo>
                    <a:pt x="2832" y="2731"/>
                  </a:lnTo>
                  <a:lnTo>
                    <a:pt x="2782" y="2782"/>
                  </a:lnTo>
                  <a:lnTo>
                    <a:pt x="2731" y="2832"/>
                  </a:lnTo>
                  <a:lnTo>
                    <a:pt x="2675" y="2882"/>
                  </a:lnTo>
                  <a:lnTo>
                    <a:pt x="2619" y="2927"/>
                  </a:lnTo>
                  <a:lnTo>
                    <a:pt x="2563" y="2966"/>
                  </a:lnTo>
                  <a:lnTo>
                    <a:pt x="2502" y="3006"/>
                  </a:lnTo>
                  <a:lnTo>
                    <a:pt x="2440" y="3045"/>
                  </a:lnTo>
                  <a:lnTo>
                    <a:pt x="2373" y="3078"/>
                  </a:lnTo>
                  <a:lnTo>
                    <a:pt x="2306" y="3106"/>
                  </a:lnTo>
                  <a:lnTo>
                    <a:pt x="2239" y="3134"/>
                  </a:lnTo>
                  <a:lnTo>
                    <a:pt x="2172" y="3157"/>
                  </a:lnTo>
                  <a:lnTo>
                    <a:pt x="2099" y="3179"/>
                  </a:lnTo>
                  <a:lnTo>
                    <a:pt x="2026" y="3196"/>
                  </a:lnTo>
                  <a:lnTo>
                    <a:pt x="1953" y="3207"/>
                  </a:lnTo>
                  <a:lnTo>
                    <a:pt x="1875" y="3218"/>
                  </a:lnTo>
                  <a:lnTo>
                    <a:pt x="1802" y="3224"/>
                  </a:lnTo>
                  <a:lnTo>
                    <a:pt x="1724" y="3224"/>
                  </a:lnTo>
                  <a:lnTo>
                    <a:pt x="1724" y="3224"/>
                  </a:lnTo>
                  <a:lnTo>
                    <a:pt x="1645" y="3224"/>
                  </a:lnTo>
                  <a:lnTo>
                    <a:pt x="1573" y="3218"/>
                  </a:lnTo>
                  <a:lnTo>
                    <a:pt x="1494" y="3207"/>
                  </a:lnTo>
                  <a:lnTo>
                    <a:pt x="1421" y="3196"/>
                  </a:lnTo>
                  <a:lnTo>
                    <a:pt x="1349" y="3179"/>
                  </a:lnTo>
                  <a:lnTo>
                    <a:pt x="1276" y="3157"/>
                  </a:lnTo>
                  <a:lnTo>
                    <a:pt x="1209" y="3134"/>
                  </a:lnTo>
                  <a:lnTo>
                    <a:pt x="1141" y="3106"/>
                  </a:lnTo>
                  <a:lnTo>
                    <a:pt x="1074" y="3078"/>
                  </a:lnTo>
                  <a:lnTo>
                    <a:pt x="1007" y="3045"/>
                  </a:lnTo>
                  <a:lnTo>
                    <a:pt x="946" y="3006"/>
                  </a:lnTo>
                  <a:lnTo>
                    <a:pt x="884" y="2966"/>
                  </a:lnTo>
                  <a:lnTo>
                    <a:pt x="828" y="2927"/>
                  </a:lnTo>
                  <a:lnTo>
                    <a:pt x="772" y="2882"/>
                  </a:lnTo>
                  <a:lnTo>
                    <a:pt x="716" y="2832"/>
                  </a:lnTo>
                  <a:lnTo>
                    <a:pt x="666" y="2782"/>
                  </a:lnTo>
                  <a:lnTo>
                    <a:pt x="615" y="2731"/>
                  </a:lnTo>
                  <a:lnTo>
                    <a:pt x="565" y="2675"/>
                  </a:lnTo>
                  <a:lnTo>
                    <a:pt x="520" y="2619"/>
                  </a:lnTo>
                  <a:lnTo>
                    <a:pt x="481" y="2563"/>
                  </a:lnTo>
                  <a:lnTo>
                    <a:pt x="442" y="2502"/>
                  </a:lnTo>
                  <a:lnTo>
                    <a:pt x="403" y="2440"/>
                  </a:lnTo>
                  <a:lnTo>
                    <a:pt x="369" y="2373"/>
                  </a:lnTo>
                  <a:lnTo>
                    <a:pt x="341" y="2306"/>
                  </a:lnTo>
                  <a:lnTo>
                    <a:pt x="313" y="2239"/>
                  </a:lnTo>
                  <a:lnTo>
                    <a:pt x="291" y="2172"/>
                  </a:lnTo>
                  <a:lnTo>
                    <a:pt x="268" y="2099"/>
                  </a:lnTo>
                  <a:lnTo>
                    <a:pt x="251" y="2026"/>
                  </a:lnTo>
                  <a:lnTo>
                    <a:pt x="240" y="1953"/>
                  </a:lnTo>
                  <a:lnTo>
                    <a:pt x="229" y="1875"/>
                  </a:lnTo>
                  <a:lnTo>
                    <a:pt x="223" y="1802"/>
                  </a:lnTo>
                  <a:lnTo>
                    <a:pt x="223" y="1724"/>
                  </a:lnTo>
                  <a:lnTo>
                    <a:pt x="223" y="1724"/>
                  </a:lnTo>
                  <a:close/>
                </a:path>
              </a:pathLst>
            </a:custGeom>
            <a:solidFill>
              <a:srgbClr val="795F31">
                <a:alpha val="10196"/>
              </a:srgbClr>
            </a:solidFill>
            <a:ln cap="flat">
              <a:noFill/>
              <a:prstDash val="solid"/>
              <a:miter lim="0"/>
            </a:ln>
          </p:spPr>
          <p:txBody>
            <a:bodyPr rtlCol="0"/>
            <a:lstStyle/>
            <a:p>
              <a:pPr algn="ctr"/>
              <a:endParaRPr lang="zh-CN" altLang="en-US" sz="1350"/>
            </a:p>
          </p:txBody>
        </p:sp>
      </p:grpSp>
      <p:pic>
        <p:nvPicPr>
          <p:cNvPr id="676" name="picture 676"/>
          <p:cNvPicPr>
            <a:picLocks noChangeAspect="1"/>
          </p:cNvPicPr>
          <p:nvPr/>
        </p:nvPicPr>
        <p:blipFill>
          <a:blip r:embed="rId1"/>
          <a:stretch>
            <a:fillRect/>
          </a:stretch>
        </p:blipFill>
        <p:spPr>
          <a:xfrm rot="21600000">
            <a:off x="838197" y="2235203"/>
            <a:ext cx="6724306" cy="470589"/>
          </a:xfrm>
          <a:prstGeom prst="rect">
            <a:avLst/>
          </a:prstGeom>
        </p:spPr>
      </p:pic>
      <p:sp>
        <p:nvSpPr>
          <p:cNvPr id="678" name="rect"/>
          <p:cNvSpPr/>
          <p:nvPr/>
        </p:nvSpPr>
        <p:spPr>
          <a:xfrm>
            <a:off x="1498601" y="1930404"/>
            <a:ext cx="4864098" cy="342900"/>
          </a:xfrm>
          <a:prstGeom prst="rect">
            <a:avLst/>
          </a:prstGeom>
          <a:solidFill>
            <a:srgbClr val="AB4500">
              <a:alpha val="100000"/>
            </a:srgbClr>
          </a:solidFill>
          <a:ln cap="flat">
            <a:noFill/>
            <a:prstDash val="solid"/>
            <a:miter lim="0"/>
          </a:ln>
        </p:spPr>
        <p:txBody>
          <a:bodyPr rtlCol="0"/>
          <a:lstStyle/>
          <a:p>
            <a:pPr algn="ctr"/>
            <a:endParaRPr lang="zh-CN" altLang="en-US" sz="1350"/>
          </a:p>
        </p:txBody>
      </p:sp>
      <p:pic>
        <p:nvPicPr>
          <p:cNvPr id="694" name="picture 694"/>
          <p:cNvPicPr>
            <a:picLocks noChangeAspect="1"/>
          </p:cNvPicPr>
          <p:nvPr/>
        </p:nvPicPr>
        <p:blipFill>
          <a:blip r:embed="rId2"/>
          <a:stretch>
            <a:fillRect/>
          </a:stretch>
        </p:blipFill>
        <p:spPr>
          <a:xfrm rot="21600000">
            <a:off x="4479047" y="1269263"/>
            <a:ext cx="552669" cy="654518"/>
          </a:xfrm>
          <a:prstGeom prst="rect">
            <a:avLst/>
          </a:prstGeom>
        </p:spPr>
      </p:pic>
      <p:pic>
        <p:nvPicPr>
          <p:cNvPr id="696" name="picture 696"/>
          <p:cNvPicPr>
            <a:picLocks noChangeAspect="1"/>
          </p:cNvPicPr>
          <p:nvPr/>
        </p:nvPicPr>
        <p:blipFill>
          <a:blip r:embed="rId3"/>
          <a:stretch>
            <a:fillRect/>
          </a:stretch>
        </p:blipFill>
        <p:spPr>
          <a:xfrm rot="21600000">
            <a:off x="4046780" y="1399571"/>
            <a:ext cx="213202" cy="435059"/>
          </a:xfrm>
          <a:prstGeom prst="rect">
            <a:avLst/>
          </a:prstGeom>
        </p:spPr>
      </p:pic>
      <p:grpSp>
        <p:nvGrpSpPr>
          <p:cNvPr id="82" name="group 82"/>
          <p:cNvGrpSpPr/>
          <p:nvPr/>
        </p:nvGrpSpPr>
        <p:grpSpPr>
          <a:xfrm rot="21600000">
            <a:off x="4041941" y="1394732"/>
            <a:ext cx="194647" cy="279616"/>
            <a:chOff x="0" y="0"/>
            <a:chExt cx="259529" cy="372821"/>
          </a:xfrm>
        </p:grpSpPr>
        <p:sp>
          <p:nvSpPr>
            <p:cNvPr id="698" name="path"/>
            <p:cNvSpPr/>
            <p:nvPr/>
          </p:nvSpPr>
          <p:spPr>
            <a:xfrm>
              <a:off x="0" y="0"/>
              <a:ext cx="236294" cy="185001"/>
            </a:xfrm>
            <a:custGeom>
              <a:avLst/>
              <a:gdLst/>
              <a:ahLst/>
              <a:cxnLst/>
              <a:rect l="0" t="0" r="0" b="0"/>
              <a:pathLst>
                <a:path w="372" h="291">
                  <a:moveTo>
                    <a:pt x="10" y="136"/>
                  </a:moveTo>
                  <a:lnTo>
                    <a:pt x="49" y="281"/>
                  </a:lnTo>
                  <a:lnTo>
                    <a:pt x="67" y="269"/>
                  </a:lnTo>
                  <a:lnTo>
                    <a:pt x="84" y="274"/>
                  </a:lnTo>
                  <a:lnTo>
                    <a:pt x="119" y="190"/>
                  </a:lnTo>
                  <a:lnTo>
                    <a:pt x="248" y="108"/>
                  </a:lnTo>
                  <a:lnTo>
                    <a:pt x="291" y="153"/>
                  </a:lnTo>
                  <a:lnTo>
                    <a:pt x="327" y="226"/>
                  </a:lnTo>
                  <a:lnTo>
                    <a:pt x="349" y="207"/>
                  </a:lnTo>
                  <a:lnTo>
                    <a:pt x="361" y="205"/>
                  </a:lnTo>
                  <a:lnTo>
                    <a:pt x="356" y="117"/>
                  </a:lnTo>
                  <a:lnTo>
                    <a:pt x="313" y="46"/>
                  </a:lnTo>
                  <a:lnTo>
                    <a:pt x="227" y="12"/>
                  </a:lnTo>
                  <a:lnTo>
                    <a:pt x="159" y="10"/>
                  </a:lnTo>
                  <a:lnTo>
                    <a:pt x="104" y="36"/>
                  </a:lnTo>
                  <a:lnTo>
                    <a:pt x="49" y="79"/>
                  </a:lnTo>
                  <a:lnTo>
                    <a:pt x="10" y="136"/>
                  </a:lnTo>
                </a:path>
              </a:pathLst>
            </a:custGeom>
            <a:noFill/>
            <a:ln w="12903" cap="rnd">
              <a:solidFill>
                <a:srgbClr val="000000">
                  <a:alpha val="100000"/>
                </a:srgbClr>
              </a:solidFill>
              <a:prstDash val="solid"/>
              <a:round/>
            </a:ln>
          </p:spPr>
          <p:txBody>
            <a:bodyPr rtlCol="0"/>
            <a:lstStyle/>
            <a:p>
              <a:pPr algn="ctr"/>
              <a:endParaRPr lang="zh-CN" altLang="en-US" sz="1350"/>
            </a:p>
          </p:txBody>
        </p:sp>
        <p:sp>
          <p:nvSpPr>
            <p:cNvPr id="700" name="path"/>
            <p:cNvSpPr/>
            <p:nvPr/>
          </p:nvSpPr>
          <p:spPr>
            <a:xfrm>
              <a:off x="181812" y="223755"/>
              <a:ext cx="70143" cy="140367"/>
            </a:xfrm>
            <a:custGeom>
              <a:avLst/>
              <a:gdLst/>
              <a:ahLst/>
              <a:cxnLst/>
              <a:rect l="0" t="0" r="0" b="0"/>
              <a:pathLst>
                <a:path w="110" h="221">
                  <a:moveTo>
                    <a:pt x="64" y="0"/>
                  </a:moveTo>
                  <a:lnTo>
                    <a:pt x="0" y="116"/>
                  </a:lnTo>
                  <a:lnTo>
                    <a:pt x="44" y="151"/>
                  </a:lnTo>
                  <a:lnTo>
                    <a:pt x="110" y="221"/>
                  </a:lnTo>
                  <a:lnTo>
                    <a:pt x="93" y="63"/>
                  </a:lnTo>
                  <a:lnTo>
                    <a:pt x="64" y="0"/>
                  </a:lnTo>
                </a:path>
              </a:pathLst>
            </a:custGeom>
            <a:solidFill>
              <a:srgbClr val="FFFFFF">
                <a:alpha val="100000"/>
              </a:srgbClr>
            </a:solidFill>
            <a:ln cap="flat">
              <a:noFill/>
              <a:prstDash val="solid"/>
              <a:miter lim="0"/>
            </a:ln>
          </p:spPr>
          <p:txBody>
            <a:bodyPr rtlCol="0"/>
            <a:lstStyle/>
            <a:p>
              <a:pPr algn="ctr"/>
              <a:endParaRPr lang="zh-CN" altLang="en-US" sz="1350"/>
            </a:p>
          </p:txBody>
        </p:sp>
        <p:sp>
          <p:nvSpPr>
            <p:cNvPr id="702" name="path"/>
            <p:cNvSpPr/>
            <p:nvPr/>
          </p:nvSpPr>
          <p:spPr>
            <a:xfrm>
              <a:off x="175361" y="217303"/>
              <a:ext cx="84168" cy="155518"/>
            </a:xfrm>
            <a:custGeom>
              <a:avLst/>
              <a:gdLst/>
              <a:ahLst/>
              <a:cxnLst/>
              <a:rect l="0" t="0" r="0" b="0"/>
              <a:pathLst>
                <a:path w="132" h="244">
                  <a:moveTo>
                    <a:pt x="75" y="10"/>
                  </a:moveTo>
                  <a:lnTo>
                    <a:pt x="10" y="128"/>
                  </a:lnTo>
                  <a:lnTo>
                    <a:pt x="55" y="164"/>
                  </a:lnTo>
                  <a:lnTo>
                    <a:pt x="122" y="234"/>
                  </a:lnTo>
                  <a:lnTo>
                    <a:pt x="105" y="74"/>
                  </a:lnTo>
                  <a:lnTo>
                    <a:pt x="75" y="10"/>
                  </a:lnTo>
                </a:path>
              </a:pathLst>
            </a:custGeom>
            <a:noFill/>
            <a:ln w="12903" cap="rnd">
              <a:solidFill>
                <a:srgbClr val="000000">
                  <a:alpha val="100000"/>
                </a:srgbClr>
              </a:solidFill>
              <a:prstDash val="solid"/>
              <a:round/>
            </a:ln>
          </p:spPr>
          <p:txBody>
            <a:bodyPr rtlCol="0"/>
            <a:lstStyle/>
            <a:p>
              <a:pPr algn="ctr"/>
              <a:endParaRPr lang="zh-CN" altLang="en-US" sz="1350"/>
            </a:p>
          </p:txBody>
        </p:sp>
      </p:grpSp>
      <p:pic>
        <p:nvPicPr>
          <p:cNvPr id="704" name="picture 704"/>
          <p:cNvPicPr>
            <a:picLocks noChangeAspect="1"/>
          </p:cNvPicPr>
          <p:nvPr/>
        </p:nvPicPr>
        <p:blipFill>
          <a:blip r:embed="rId4"/>
          <a:stretch>
            <a:fillRect/>
          </a:stretch>
        </p:blipFill>
        <p:spPr>
          <a:xfrm rot="21600000">
            <a:off x="3581402" y="1265161"/>
            <a:ext cx="1628670" cy="684778"/>
          </a:xfrm>
          <a:prstGeom prst="rect">
            <a:avLst/>
          </a:prstGeom>
        </p:spPr>
      </p:pic>
      <p:sp>
        <p:nvSpPr>
          <p:cNvPr id="706" name="textbox 706"/>
          <p:cNvSpPr/>
          <p:nvPr/>
        </p:nvSpPr>
        <p:spPr>
          <a:xfrm>
            <a:off x="1489076" y="2014318"/>
            <a:ext cx="4883468" cy="190500"/>
          </a:xfrm>
          <a:prstGeom prst="rect">
            <a:avLst/>
          </a:prstGeom>
        </p:spPr>
        <p:txBody>
          <a:bodyPr vert="horz" wrap="square" lIns="0" tIns="0" rIns="0" bIns="0"/>
          <a:lstStyle/>
          <a:p>
            <a:pPr algn="l" rtl="0" eaLnBrk="0">
              <a:lnSpc>
                <a:spcPct val="86000"/>
              </a:lnSpc>
            </a:pPr>
            <a:endParaRPr lang="en-US" altLang="en-US" sz="100" dirty="0"/>
          </a:p>
          <a:p>
            <a:pPr marL="12700" algn="l" rtl="0" eaLnBrk="0">
              <a:lnSpc>
                <a:spcPct val="83000"/>
              </a:lnSpc>
              <a:tabLst>
                <a:tab pos="307975" algn="l"/>
              </a:tabLst>
            </a:pPr>
            <a:r>
              <a:rPr sz="1350" kern="0" spc="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项目启动会                          团队作战室 </a:t>
            </a:r>
            <a:r>
              <a:rPr sz="1350"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en-US" sz="1350" dirty="0"/>
          </a:p>
        </p:txBody>
      </p:sp>
      <p:pic>
        <p:nvPicPr>
          <p:cNvPr id="708" name="picture 708"/>
          <p:cNvPicPr>
            <a:picLocks noChangeAspect="1"/>
          </p:cNvPicPr>
          <p:nvPr/>
        </p:nvPicPr>
        <p:blipFill>
          <a:blip r:embed="rId5"/>
          <a:stretch>
            <a:fillRect/>
          </a:stretch>
        </p:blipFill>
        <p:spPr>
          <a:xfrm rot="21600000">
            <a:off x="7531108" y="1536700"/>
            <a:ext cx="853136" cy="949577"/>
          </a:xfrm>
          <a:prstGeom prst="rect">
            <a:avLst/>
          </a:prstGeom>
        </p:spPr>
      </p:pic>
      <p:sp>
        <p:nvSpPr>
          <p:cNvPr id="710" name="textbox 710"/>
          <p:cNvSpPr/>
          <p:nvPr/>
        </p:nvSpPr>
        <p:spPr>
          <a:xfrm>
            <a:off x="4457699" y="3822701"/>
            <a:ext cx="2210276" cy="342900"/>
          </a:xfrm>
          <a:prstGeom prst="rect">
            <a:avLst/>
          </a:prstGeom>
          <a:solidFill>
            <a:srgbClr val="FFA900"/>
          </a:solidFill>
        </p:spPr>
        <p:txBody>
          <a:bodyPr vert="horz" wrap="square" lIns="0" tIns="0" rIns="0" bIns="0"/>
          <a:lstStyle/>
          <a:p>
            <a:pPr algn="l" rtl="0" eaLnBrk="0">
              <a:lnSpc>
                <a:spcPct val="102000"/>
              </a:lnSpc>
            </a:pPr>
            <a:endParaRPr lang="en-US" altLang="en-US" sz="600" dirty="0"/>
          </a:p>
          <a:p>
            <a:pPr marL="1021715" algn="l" rtl="0" eaLnBrk="0">
              <a:lnSpc>
                <a:spcPct val="91000"/>
              </a:lnSpc>
              <a:spcBef>
                <a:spcPts val="5"/>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绩效沟通</a:t>
            </a:r>
            <a:endParaRPr lang="en-US" altLang="en-US" sz="1350" dirty="0"/>
          </a:p>
        </p:txBody>
      </p:sp>
      <p:sp>
        <p:nvSpPr>
          <p:cNvPr id="712" name="path"/>
          <p:cNvSpPr/>
          <p:nvPr/>
        </p:nvSpPr>
        <p:spPr>
          <a:xfrm>
            <a:off x="1143001" y="2705102"/>
            <a:ext cx="2146302" cy="342900"/>
          </a:xfrm>
          <a:custGeom>
            <a:avLst/>
            <a:gdLst/>
            <a:ahLst/>
            <a:cxnLst/>
            <a:rect l="0" t="0" r="0" b="0"/>
            <a:pathLst>
              <a:path w="4506" h="720">
                <a:moveTo>
                  <a:pt x="0" y="0"/>
                </a:moveTo>
                <a:lnTo>
                  <a:pt x="2133" y="0"/>
                </a:lnTo>
                <a:lnTo>
                  <a:pt x="2133" y="720"/>
                </a:lnTo>
                <a:lnTo>
                  <a:pt x="0" y="720"/>
                </a:lnTo>
                <a:lnTo>
                  <a:pt x="0" y="0"/>
                </a:lnTo>
                <a:close/>
              </a:path>
              <a:path w="4506" h="720">
                <a:moveTo>
                  <a:pt x="2373" y="0"/>
                </a:moveTo>
                <a:lnTo>
                  <a:pt x="4506" y="0"/>
                </a:lnTo>
                <a:lnTo>
                  <a:pt x="4506" y="720"/>
                </a:lnTo>
                <a:lnTo>
                  <a:pt x="2373" y="720"/>
                </a:lnTo>
                <a:lnTo>
                  <a:pt x="2373" y="0"/>
                </a:lnTo>
                <a:close/>
              </a:path>
            </a:pathLst>
          </a:custGeom>
          <a:solidFill>
            <a:srgbClr val="27618C">
              <a:alpha val="100000"/>
            </a:srgbClr>
          </a:solidFill>
          <a:ln cap="flat">
            <a:noFill/>
            <a:prstDash val="solid"/>
            <a:miter lim="0"/>
          </a:ln>
        </p:spPr>
        <p:txBody>
          <a:bodyPr rtlCol="0"/>
          <a:lstStyle/>
          <a:p>
            <a:pPr algn="ctr"/>
            <a:endParaRPr lang="zh-CN" altLang="en-US" sz="1350"/>
          </a:p>
        </p:txBody>
      </p:sp>
      <p:pic>
        <p:nvPicPr>
          <p:cNvPr id="714" name="picture 714"/>
          <p:cNvPicPr>
            <a:picLocks noChangeAspect="1"/>
          </p:cNvPicPr>
          <p:nvPr/>
        </p:nvPicPr>
        <p:blipFill>
          <a:blip r:embed="rId6"/>
          <a:stretch>
            <a:fillRect/>
          </a:stretch>
        </p:blipFill>
        <p:spPr>
          <a:xfrm rot="21600000">
            <a:off x="1752602" y="1218488"/>
            <a:ext cx="673098" cy="695219"/>
          </a:xfrm>
          <a:prstGeom prst="rect">
            <a:avLst/>
          </a:prstGeom>
        </p:spPr>
      </p:pic>
      <p:pic>
        <p:nvPicPr>
          <p:cNvPr id="718" name="picture 718"/>
          <p:cNvPicPr>
            <a:picLocks noChangeAspect="1"/>
          </p:cNvPicPr>
          <p:nvPr/>
        </p:nvPicPr>
        <p:blipFill>
          <a:blip r:embed="rId7"/>
          <a:stretch>
            <a:fillRect/>
          </a:stretch>
        </p:blipFill>
        <p:spPr>
          <a:xfrm rot="21600000">
            <a:off x="3641282" y="3676654"/>
            <a:ext cx="671165" cy="603249"/>
          </a:xfrm>
          <a:prstGeom prst="rect">
            <a:avLst/>
          </a:prstGeom>
        </p:spPr>
      </p:pic>
      <p:grpSp>
        <p:nvGrpSpPr>
          <p:cNvPr id="84" name="group 84"/>
          <p:cNvGrpSpPr/>
          <p:nvPr/>
        </p:nvGrpSpPr>
        <p:grpSpPr>
          <a:xfrm rot="21600000">
            <a:off x="2438408" y="3200402"/>
            <a:ext cx="1054099" cy="350999"/>
            <a:chOff x="0" y="0"/>
            <a:chExt cx="1405465" cy="467999"/>
          </a:xfrm>
        </p:grpSpPr>
        <p:sp>
          <p:nvSpPr>
            <p:cNvPr id="720" name="path"/>
            <p:cNvSpPr/>
            <p:nvPr/>
          </p:nvSpPr>
          <p:spPr>
            <a:xfrm>
              <a:off x="0" y="0"/>
              <a:ext cx="1405465" cy="467999"/>
            </a:xfrm>
            <a:custGeom>
              <a:avLst/>
              <a:gdLst/>
              <a:ahLst/>
              <a:cxnLst/>
              <a:rect l="0" t="0" r="0" b="0"/>
              <a:pathLst>
                <a:path w="2213" h="737">
                  <a:moveTo>
                    <a:pt x="0" y="0"/>
                  </a:moveTo>
                  <a:lnTo>
                    <a:pt x="1844" y="0"/>
                  </a:lnTo>
                  <a:lnTo>
                    <a:pt x="2213" y="368"/>
                  </a:lnTo>
                  <a:lnTo>
                    <a:pt x="1844" y="737"/>
                  </a:lnTo>
                  <a:lnTo>
                    <a:pt x="0" y="737"/>
                  </a:lnTo>
                  <a:lnTo>
                    <a:pt x="0" y="0"/>
                  </a:lnTo>
                  <a:close/>
                </a:path>
              </a:pathLst>
            </a:custGeom>
            <a:solidFill>
              <a:srgbClr val="974D0B">
                <a:alpha val="100000"/>
              </a:srgbClr>
            </a:solidFill>
            <a:ln cap="flat">
              <a:noFill/>
              <a:prstDash val="solid"/>
              <a:miter lim="0"/>
            </a:ln>
          </p:spPr>
          <p:txBody>
            <a:bodyPr rtlCol="0"/>
            <a:lstStyle/>
            <a:p>
              <a:pPr algn="ctr"/>
              <a:endParaRPr lang="zh-CN" altLang="en-US" sz="1350"/>
            </a:p>
          </p:txBody>
        </p:sp>
        <p:sp>
          <p:nvSpPr>
            <p:cNvPr id="722" name="textbox 722"/>
            <p:cNvSpPr/>
            <p:nvPr/>
          </p:nvSpPr>
          <p:spPr>
            <a:xfrm>
              <a:off x="-12700" y="-12700"/>
              <a:ext cx="1431289" cy="516255"/>
            </a:xfrm>
            <a:prstGeom prst="rect">
              <a:avLst/>
            </a:prstGeom>
          </p:spPr>
          <p:txBody>
            <a:bodyPr vert="horz" wrap="square" lIns="0" tIns="0" rIns="0" bIns="0"/>
            <a:lstStyle/>
            <a:p>
              <a:pPr algn="l" rtl="0" eaLnBrk="0">
                <a:lnSpc>
                  <a:spcPct val="106000"/>
                </a:lnSpc>
              </a:pPr>
              <a:endParaRPr lang="en-US" altLang="en-US" sz="675" dirty="0"/>
            </a:p>
            <a:p>
              <a:pPr marL="216535" algn="l" rtl="0" eaLnBrk="0">
                <a:lnSpc>
                  <a:spcPct val="90000"/>
                </a:lnSpc>
                <a:spcBef>
                  <a:spcPts val="5"/>
                </a:spcBef>
              </a:pPr>
              <a:r>
                <a:rPr sz="1350" kern="0" spc="-3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阶段活动</a:t>
              </a:r>
              <a:endParaRPr lang="en-US" altLang="en-US" sz="1350" dirty="0"/>
            </a:p>
          </p:txBody>
        </p:sp>
      </p:grpSp>
      <p:grpSp>
        <p:nvGrpSpPr>
          <p:cNvPr id="86" name="group 86"/>
          <p:cNvGrpSpPr/>
          <p:nvPr/>
        </p:nvGrpSpPr>
        <p:grpSpPr>
          <a:xfrm rot="21600000">
            <a:off x="4203708" y="3200402"/>
            <a:ext cx="1054099" cy="350999"/>
            <a:chOff x="0" y="0"/>
            <a:chExt cx="1405465" cy="467999"/>
          </a:xfrm>
        </p:grpSpPr>
        <p:sp>
          <p:nvSpPr>
            <p:cNvPr id="724" name="path"/>
            <p:cNvSpPr/>
            <p:nvPr/>
          </p:nvSpPr>
          <p:spPr>
            <a:xfrm>
              <a:off x="0" y="0"/>
              <a:ext cx="1405465" cy="467999"/>
            </a:xfrm>
            <a:custGeom>
              <a:avLst/>
              <a:gdLst/>
              <a:ahLst/>
              <a:cxnLst/>
              <a:rect l="0" t="0" r="0" b="0"/>
              <a:pathLst>
                <a:path w="2213" h="737">
                  <a:moveTo>
                    <a:pt x="0" y="0"/>
                  </a:moveTo>
                  <a:lnTo>
                    <a:pt x="1844" y="0"/>
                  </a:lnTo>
                  <a:lnTo>
                    <a:pt x="2213" y="368"/>
                  </a:lnTo>
                  <a:lnTo>
                    <a:pt x="1844" y="737"/>
                  </a:lnTo>
                  <a:lnTo>
                    <a:pt x="0" y="737"/>
                  </a:lnTo>
                  <a:lnTo>
                    <a:pt x="0" y="0"/>
                  </a:lnTo>
                  <a:close/>
                </a:path>
              </a:pathLst>
            </a:custGeom>
            <a:solidFill>
              <a:srgbClr val="974D0B">
                <a:alpha val="100000"/>
              </a:srgbClr>
            </a:solidFill>
            <a:ln cap="flat">
              <a:noFill/>
              <a:prstDash val="solid"/>
              <a:miter lim="0"/>
            </a:ln>
          </p:spPr>
          <p:txBody>
            <a:bodyPr rtlCol="0"/>
            <a:lstStyle/>
            <a:p>
              <a:pPr algn="ctr"/>
              <a:endParaRPr lang="zh-CN" altLang="en-US" sz="1350"/>
            </a:p>
          </p:txBody>
        </p:sp>
        <p:sp>
          <p:nvSpPr>
            <p:cNvPr id="726" name="textbox 726"/>
            <p:cNvSpPr/>
            <p:nvPr/>
          </p:nvSpPr>
          <p:spPr>
            <a:xfrm>
              <a:off x="-12700" y="-12700"/>
              <a:ext cx="1431289" cy="516255"/>
            </a:xfrm>
            <a:prstGeom prst="rect">
              <a:avLst/>
            </a:prstGeom>
          </p:spPr>
          <p:txBody>
            <a:bodyPr vert="horz" wrap="square" lIns="0" tIns="0" rIns="0" bIns="0"/>
            <a:lstStyle/>
            <a:p>
              <a:pPr algn="l" rtl="0" eaLnBrk="0">
                <a:lnSpc>
                  <a:spcPct val="106000"/>
                </a:lnSpc>
              </a:pPr>
              <a:endParaRPr lang="en-US" altLang="en-US" sz="675" dirty="0"/>
            </a:p>
            <a:p>
              <a:pPr marL="216535" algn="l" rtl="0" eaLnBrk="0">
                <a:lnSpc>
                  <a:spcPct val="90000"/>
                </a:lnSpc>
                <a:spcBef>
                  <a:spcPts val="5"/>
                </a:spcBef>
              </a:pPr>
              <a:r>
                <a:rPr sz="1350" kern="0" spc="-3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阶段活动</a:t>
              </a:r>
              <a:endParaRPr lang="en-US" altLang="en-US" sz="1350" dirty="0"/>
            </a:p>
          </p:txBody>
        </p:sp>
      </p:grpSp>
      <p:sp>
        <p:nvSpPr>
          <p:cNvPr id="728" name="textbox 728"/>
          <p:cNvSpPr/>
          <p:nvPr/>
        </p:nvSpPr>
        <p:spPr>
          <a:xfrm>
            <a:off x="5816602" y="2971802"/>
            <a:ext cx="851058" cy="342900"/>
          </a:xfrm>
          <a:prstGeom prst="rect">
            <a:avLst/>
          </a:prstGeom>
          <a:solidFill>
            <a:srgbClr val="47682D"/>
          </a:solidFill>
        </p:spPr>
        <p:txBody>
          <a:bodyPr vert="horz" wrap="square" lIns="0" tIns="0" rIns="0" bIns="0"/>
          <a:lstStyle/>
          <a:p>
            <a:pPr algn="l" rtl="0" eaLnBrk="0">
              <a:lnSpc>
                <a:spcPct val="104000"/>
              </a:lnSpc>
            </a:pPr>
            <a:endParaRPr lang="en-US" altLang="en-US" sz="600" dirty="0"/>
          </a:p>
          <a:p>
            <a:pPr algn="l" rtl="0" eaLnBrk="0">
              <a:lnSpc>
                <a:spcPct val="6000"/>
              </a:lnSpc>
            </a:pPr>
            <a:endParaRPr lang="en-US" altLang="en-US" sz="100" dirty="0"/>
          </a:p>
          <a:p>
            <a:pPr marL="116205" algn="l" rtl="0" eaLnBrk="0">
              <a:lnSpc>
                <a:spcPct val="90000"/>
              </a:lnSpc>
            </a:pPr>
            <a:r>
              <a:rPr sz="1350"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庆典活动</a:t>
            </a:r>
            <a:endParaRPr lang="en-US" altLang="en-US" sz="1350" dirty="0"/>
          </a:p>
        </p:txBody>
      </p:sp>
      <p:sp>
        <p:nvSpPr>
          <p:cNvPr id="730" name="textbox 730"/>
          <p:cNvSpPr/>
          <p:nvPr/>
        </p:nvSpPr>
        <p:spPr>
          <a:xfrm>
            <a:off x="5816602" y="3365501"/>
            <a:ext cx="851058" cy="342900"/>
          </a:xfrm>
          <a:prstGeom prst="rect">
            <a:avLst/>
          </a:prstGeom>
          <a:solidFill>
            <a:srgbClr val="47682D"/>
          </a:solidFill>
        </p:spPr>
        <p:txBody>
          <a:bodyPr vert="horz" wrap="square" lIns="0" tIns="0" rIns="0" bIns="0"/>
          <a:lstStyle/>
          <a:p>
            <a:pPr algn="l" rtl="0" eaLnBrk="0">
              <a:lnSpc>
                <a:spcPct val="102000"/>
              </a:lnSpc>
            </a:pPr>
            <a:endParaRPr lang="en-US" altLang="en-US" sz="600" dirty="0"/>
          </a:p>
          <a:p>
            <a:pPr marL="116205" algn="l" rtl="0" eaLnBrk="0">
              <a:lnSpc>
                <a:spcPct val="91000"/>
              </a:lnSpc>
              <a:spcBef>
                <a:spcPts val="5"/>
              </a:spcBef>
            </a:pPr>
            <a:r>
              <a:rPr sz="1350"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奖励表彰</a:t>
            </a:r>
            <a:endParaRPr lang="en-US" altLang="en-US" sz="1350" dirty="0"/>
          </a:p>
        </p:txBody>
      </p:sp>
      <p:sp>
        <p:nvSpPr>
          <p:cNvPr id="732" name="textbox 732"/>
          <p:cNvSpPr/>
          <p:nvPr/>
        </p:nvSpPr>
        <p:spPr>
          <a:xfrm>
            <a:off x="2628902" y="3822701"/>
            <a:ext cx="851058" cy="342900"/>
          </a:xfrm>
          <a:prstGeom prst="rect">
            <a:avLst/>
          </a:prstGeom>
          <a:solidFill>
            <a:srgbClr val="FFA900"/>
          </a:solidFill>
        </p:spPr>
        <p:txBody>
          <a:bodyPr vert="horz" wrap="square" lIns="0" tIns="0" rIns="0" bIns="0"/>
          <a:lstStyle/>
          <a:p>
            <a:pPr algn="l" rtl="0" eaLnBrk="0">
              <a:lnSpc>
                <a:spcPct val="102000"/>
              </a:lnSpc>
            </a:pPr>
            <a:endParaRPr lang="en-US" altLang="en-US" sz="600" dirty="0"/>
          </a:p>
          <a:p>
            <a:pPr marL="115570" algn="l" rtl="0" eaLnBrk="0">
              <a:lnSpc>
                <a:spcPct val="91000"/>
              </a:lnSpc>
              <a:spcBef>
                <a:spcPts val="5"/>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表扬激励</a:t>
            </a:r>
            <a:endParaRPr lang="en-US" altLang="en-US" sz="1350" dirty="0"/>
          </a:p>
        </p:txBody>
      </p:sp>
      <p:pic>
        <p:nvPicPr>
          <p:cNvPr id="734" name="picture 734"/>
          <p:cNvPicPr>
            <a:picLocks noChangeAspect="1"/>
          </p:cNvPicPr>
          <p:nvPr/>
        </p:nvPicPr>
        <p:blipFill>
          <a:blip r:embed="rId8"/>
          <a:stretch>
            <a:fillRect/>
          </a:stretch>
        </p:blipFill>
        <p:spPr>
          <a:xfrm rot="21600000">
            <a:off x="3580680" y="1817412"/>
            <a:ext cx="1630115" cy="132472"/>
          </a:xfrm>
          <a:prstGeom prst="rect">
            <a:avLst/>
          </a:prstGeom>
        </p:spPr>
      </p:pic>
      <p:pic>
        <p:nvPicPr>
          <p:cNvPr id="736" name="picture 736"/>
          <p:cNvPicPr>
            <a:picLocks noChangeAspect="1"/>
          </p:cNvPicPr>
          <p:nvPr/>
        </p:nvPicPr>
        <p:blipFill>
          <a:blip r:embed="rId5"/>
          <a:stretch>
            <a:fillRect/>
          </a:stretch>
        </p:blipFill>
        <p:spPr>
          <a:xfrm rot="21600000">
            <a:off x="5270507" y="3066941"/>
            <a:ext cx="368302" cy="409935"/>
          </a:xfrm>
          <a:prstGeom prst="rect">
            <a:avLst/>
          </a:prstGeom>
        </p:spPr>
      </p:pic>
      <p:pic>
        <p:nvPicPr>
          <p:cNvPr id="738" name="picture 738"/>
          <p:cNvPicPr>
            <a:picLocks noChangeAspect="1"/>
          </p:cNvPicPr>
          <p:nvPr/>
        </p:nvPicPr>
        <p:blipFill>
          <a:blip r:embed="rId5"/>
          <a:stretch>
            <a:fillRect/>
          </a:stretch>
        </p:blipFill>
        <p:spPr>
          <a:xfrm rot="21600000">
            <a:off x="3517907" y="3066941"/>
            <a:ext cx="368301" cy="409935"/>
          </a:xfrm>
          <a:prstGeom prst="rect">
            <a:avLst/>
          </a:prstGeom>
        </p:spPr>
      </p:pic>
      <p:sp>
        <p:nvSpPr>
          <p:cNvPr id="740" name="textbox 740"/>
          <p:cNvSpPr/>
          <p:nvPr/>
        </p:nvSpPr>
        <p:spPr>
          <a:xfrm>
            <a:off x="1313393" y="2788674"/>
            <a:ext cx="692467" cy="207169"/>
          </a:xfrm>
          <a:prstGeom prst="rect">
            <a:avLst/>
          </a:prstGeom>
        </p:spPr>
        <p:txBody>
          <a:bodyPr vert="horz" wrap="square" lIns="0" tIns="0" rIns="0" bIns="0"/>
          <a:lstStyle/>
          <a:p>
            <a:pPr algn="l" rtl="0" eaLnBrk="0">
              <a:lnSpc>
                <a:spcPct val="89000"/>
              </a:lnSpc>
            </a:pPr>
            <a:endParaRPr lang="en-US" altLang="en-US" sz="100" dirty="0"/>
          </a:p>
          <a:p>
            <a:pPr marL="12700" algn="l" rtl="0" eaLnBrk="0">
              <a:lnSpc>
                <a:spcPct val="91000"/>
              </a:lnSpc>
            </a:pPr>
            <a:r>
              <a:rPr sz="1350" kern="0" spc="-3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团队章程</a:t>
            </a:r>
            <a:endParaRPr lang="en-US" altLang="en-US" sz="1350" dirty="0"/>
          </a:p>
        </p:txBody>
      </p:sp>
      <p:sp>
        <p:nvSpPr>
          <p:cNvPr id="742" name="textbox 742"/>
          <p:cNvSpPr/>
          <p:nvPr/>
        </p:nvSpPr>
        <p:spPr>
          <a:xfrm>
            <a:off x="2434953" y="2791417"/>
            <a:ext cx="701516" cy="204311"/>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ct val="90000"/>
              </a:lnSpc>
            </a:pPr>
            <a:r>
              <a:rPr sz="1350"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兴趣小组</a:t>
            </a:r>
            <a:endParaRPr lang="en-US" altLang="en-US" sz="1350" dirty="0"/>
          </a:p>
        </p:txBody>
      </p:sp>
      <p:sp>
        <p:nvSpPr>
          <p:cNvPr id="3" name="标题 2"/>
          <p:cNvSpPr>
            <a:spLocks noGrp="1"/>
          </p:cNvSpPr>
          <p:nvPr>
            <p:ph type="title"/>
          </p:nvPr>
        </p:nvSpPr>
        <p:spPr/>
        <p:txBody>
          <a:bodyPr/>
          <a:p>
            <a:r>
              <a:rPr lang="zh-CN" altLang="en-US" dirty="0"/>
              <a:t>团队建设活动</a:t>
            </a:r>
            <a:endParaRPr lang="en-US" altLang="zh-C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 name="textbox 744"/>
          <p:cNvSpPr/>
          <p:nvPr/>
        </p:nvSpPr>
        <p:spPr>
          <a:xfrm>
            <a:off x="723902" y="1146731"/>
            <a:ext cx="7721918" cy="764858"/>
          </a:xfrm>
          <a:prstGeom prst="rect">
            <a:avLst/>
          </a:prstGeom>
          <a:solidFill>
            <a:srgbClr val="EBEAEA"/>
          </a:solidFill>
        </p:spPr>
        <p:txBody>
          <a:bodyPr vert="horz" wrap="square" lIns="0" tIns="0" rIns="0" bIns="0"/>
          <a:lstStyle/>
          <a:p>
            <a:pPr algn="l" rtl="0" eaLnBrk="0">
              <a:lnSpc>
                <a:spcPct val="137000"/>
              </a:lnSpc>
            </a:pPr>
            <a:endParaRPr lang="en-US" altLang="en-US" sz="750" dirty="0"/>
          </a:p>
          <a:p>
            <a:pPr marL="219710" algn="l" rtl="0" eaLnBrk="0">
              <a:lnSpc>
                <a:spcPct val="83000"/>
              </a:lnSpc>
              <a:spcBef>
                <a:spcPts val="5"/>
              </a:spcBef>
            </a:pP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绩效评估是通过对团队成员工作绩效的考察与评价 ，反映团队成员的实际能力和</a:t>
            </a:r>
            <a:endParaRPr lang="en-US" altLang="en-US" sz="1650" dirty="0"/>
          </a:p>
          <a:p>
            <a:pPr marL="220980" algn="l" rtl="0" eaLnBrk="0">
              <a:lnSpc>
                <a:spcPts val="3095"/>
              </a:lnSpc>
            </a:pP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业绩以及对某种工作职</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位的适应度。</a:t>
            </a:r>
            <a:endParaRPr lang="en-US" altLang="en-US" sz="1650" dirty="0"/>
          </a:p>
        </p:txBody>
      </p:sp>
      <p:sp>
        <p:nvSpPr>
          <p:cNvPr id="746" name="textbox 746"/>
          <p:cNvSpPr/>
          <p:nvPr/>
        </p:nvSpPr>
        <p:spPr>
          <a:xfrm>
            <a:off x="4177925" y="2603952"/>
            <a:ext cx="3453765" cy="1293019"/>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3545"/>
              </a:lnSpc>
            </a:pPr>
            <a:r>
              <a:rPr sz="2100" kern="0" spc="-50" dirty="0">
                <a:ln w="8534" cap="flat" cmpd="sng">
                  <a:solidFill>
                    <a:srgbClr val="CC0000">
                      <a:alpha val="100000"/>
                    </a:srgbClr>
                  </a:solidFill>
                  <a:prstDash val="solid"/>
                  <a:miter lim="10"/>
                </a:ln>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个⼈⼯作量</a:t>
            </a:r>
            <a:r>
              <a:rPr sz="2100" kern="0" spc="-50" dirty="0">
                <a:ln w="8534" cap="flat" cmpd="sng">
                  <a:solidFill>
                    <a:srgbClr val="D81E00">
                      <a:alpha val="100000"/>
                    </a:srgbClr>
                  </a:solidFill>
                  <a:prstDash val="solid"/>
                  <a:miter lim="10"/>
                </a:ln>
                <a:solidFill>
                  <a:srgbClr val="D81E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2100" dirty="0"/>
          </a:p>
          <a:p>
            <a:pPr algn="r" rtl="0" eaLnBrk="0">
              <a:lnSpc>
                <a:spcPct val="100000"/>
              </a:lnSpc>
              <a:spcBef>
                <a:spcPts val="325"/>
              </a:spcBef>
            </a:pPr>
            <a:r>
              <a:rPr sz="2025" kern="0" spc="-180" dirty="0">
                <a:ln w="8534" cap="flat" cmpd="sng">
                  <a:solidFill>
                    <a:srgbClr val="CC0000">
                      <a:alpha val="100000"/>
                    </a:srgbClr>
                  </a:solidFill>
                  <a:prstDash val="solid"/>
                  <a:miter lim="10"/>
                </a:ln>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个⼈⼯作时间</a:t>
            </a:r>
            <a:r>
              <a:rPr sz="2025" kern="0" spc="-180" dirty="0">
                <a:ln w="8534" cap="flat" cmpd="sng">
                  <a:solidFill>
                    <a:srgbClr val="D81E00">
                      <a:alpha val="100000"/>
                    </a:srgbClr>
                  </a:solidFill>
                  <a:prstDash val="solid"/>
                  <a:miter lim="10"/>
                </a:ln>
                <a:solidFill>
                  <a:srgbClr val="D81E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2025" dirty="0"/>
          </a:p>
          <a:p>
            <a:pPr marL="616585" algn="l" rtl="0" eaLnBrk="0">
              <a:lnSpc>
                <a:spcPts val="6265"/>
              </a:lnSpc>
            </a:pPr>
            <a:r>
              <a:rPr sz="2100" kern="0" spc="-70" dirty="0">
                <a:ln w="8534" cap="flat" cmpd="sng">
                  <a:solidFill>
                    <a:srgbClr val="CC0000">
                      <a:alpha val="100000"/>
                    </a:srgbClr>
                  </a:solidFill>
                  <a:prstDash val="solid"/>
                  <a:miter lim="10"/>
                </a:ln>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团队平均主义</a:t>
            </a:r>
            <a:r>
              <a:rPr sz="2100" kern="0" spc="-70" dirty="0">
                <a:ln w="8534" cap="flat" cmpd="sng">
                  <a:solidFill>
                    <a:srgbClr val="D81E00">
                      <a:alpha val="100000"/>
                    </a:srgbClr>
                  </a:solidFill>
                  <a:prstDash val="solid"/>
                  <a:miter lim="10"/>
                </a:ln>
                <a:solidFill>
                  <a:srgbClr val="D81E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2100" dirty="0"/>
          </a:p>
        </p:txBody>
      </p:sp>
      <p:sp>
        <p:nvSpPr>
          <p:cNvPr id="748"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pic>
        <p:nvPicPr>
          <p:cNvPr id="750" name="picture 750"/>
          <p:cNvPicPr>
            <a:picLocks noChangeAspect="1"/>
          </p:cNvPicPr>
          <p:nvPr/>
        </p:nvPicPr>
        <p:blipFill>
          <a:blip r:embed="rId1"/>
          <a:stretch>
            <a:fillRect/>
          </a:stretch>
        </p:blipFill>
        <p:spPr>
          <a:xfrm rot="21600000">
            <a:off x="1346200" y="2298266"/>
            <a:ext cx="1714499" cy="1698222"/>
          </a:xfrm>
          <a:prstGeom prst="rect">
            <a:avLst/>
          </a:prstGeom>
        </p:spPr>
      </p:pic>
      <p:sp>
        <p:nvSpPr>
          <p:cNvPr id="3" name="标题 2"/>
          <p:cNvSpPr>
            <a:spLocks noGrp="1"/>
          </p:cNvSpPr>
          <p:nvPr>
            <p:ph type="title"/>
          </p:nvPr>
        </p:nvSpPr>
        <p:spPr/>
        <p:txBody>
          <a:bodyPr/>
          <a:p>
            <a:r>
              <a:rPr lang="zh-CN" altLang="en-US" dirty="0"/>
              <a:t>绩效评估</a:t>
            </a:r>
            <a:endParaRPr lang="en-US" altLang="zh-C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68" name="table 768"/>
          <p:cNvGraphicFramePr>
            <a:graphicFrameLocks noGrp="1"/>
          </p:cNvGraphicFramePr>
          <p:nvPr/>
        </p:nvGraphicFramePr>
        <p:xfrm>
          <a:off x="1168400" y="1438117"/>
          <a:ext cx="6954520" cy="2728595"/>
        </p:xfrm>
        <a:graphic>
          <a:graphicData uri="http://schemas.openxmlformats.org/drawingml/2006/table">
            <a:tbl>
              <a:tblPr/>
              <a:tblGrid>
                <a:gridCol w="918845"/>
                <a:gridCol w="967740"/>
                <a:gridCol w="1689100"/>
                <a:gridCol w="1689100"/>
                <a:gridCol w="1689735"/>
              </a:tblGrid>
              <a:tr h="528320">
                <a:tc rowSpan="2" gridSpan="2">
                  <a:txBody>
                    <a:bodyPr/>
                    <a:lstStyle/>
                    <a:p>
                      <a:pPr algn="l" rtl="0" eaLnBrk="0">
                        <a:lnSpc>
                          <a:spcPct val="100000"/>
                        </a:lnSpc>
                      </a:pPr>
                      <a:endParaRPr lang="en-US" altLang="en-US" sz="750" dirty="0"/>
                    </a:p>
                  </a:txBody>
                  <a:tcPr marL="0" marR="0" marT="0" marB="0" vert="horz">
                    <a:lnL>
                      <a:noFill/>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BEAEA"/>
                    </a:solidFill>
                  </a:tcPr>
                </a:tc>
                <a:tc rowSpan="2" hMerge="1">
                  <a:tcPr marL="0" marR="0" marT="0" marB="0" vert="horz">
                    <a:lnL>
                      <a:noFill/>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BEAEA"/>
                    </a:solidFill>
                  </a:tcPr>
                </a:tc>
                <a:tc gridSpan="3">
                  <a:txBody>
                    <a:bodyPr/>
                    <a:lstStyle/>
                    <a:p>
                      <a:pPr algn="l" rtl="0" eaLnBrk="0">
                        <a:lnSpc>
                          <a:spcPct val="156000"/>
                        </a:lnSpc>
                      </a:pPr>
                      <a:endParaRPr lang="en-US" altLang="en-US" sz="750" dirty="0"/>
                    </a:p>
                    <a:p>
                      <a:pPr marL="2545080" algn="l" rtl="0" eaLnBrk="0">
                        <a:lnSpc>
                          <a:spcPct val="91000"/>
                        </a:lnSpc>
                        <a:spcBef>
                          <a:spcPts val="5"/>
                        </a:spcBef>
                      </a:pP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团队贡献维度</a:t>
                      </a:r>
                      <a:endParaRPr lang="en-US" altLang="en-US" sz="1500" dirty="0"/>
                    </a:p>
                  </a:txBody>
                  <a:tcPr marL="0" marR="0" marT="0" marB="0" vert="horz">
                    <a:lnL w="12700" cap="flat" cmpd="sng" algn="ctr">
                      <a:solidFill>
                        <a:srgbClr val="000000"/>
                      </a:solidFill>
                      <a:prstDash val="solid"/>
                      <a:round/>
                      <a:headEnd type="none" w="med" len="med"/>
                      <a:tailEnd type="none" w="med" len="med"/>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BEAEA"/>
                    </a:solidFill>
                  </a:tcPr>
                </a:tc>
                <a:tc hMerge="1">
                  <a:tcPr marL="0" marR="0" marT="0" marB="0" vert="horz">
                    <a:lnL w="12700" cap="flat" cmpd="sng" algn="ctr">
                      <a:solidFill>
                        <a:srgbClr val="000000"/>
                      </a:solidFill>
                      <a:prstDash val="solid"/>
                      <a:round/>
                      <a:headEnd type="none" w="med" len="med"/>
                      <a:tailEnd type="none" w="med" len="med"/>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BEAEA"/>
                    </a:solidFill>
                  </a:tcPr>
                </a:tc>
                <a:tc hMerge="1">
                  <a:tcPr marL="0" marR="0" marT="0" marB="0" vert="horz">
                    <a:lnL w="12700" cap="flat" cmpd="sng" algn="ctr">
                      <a:solidFill>
                        <a:srgbClr val="000000"/>
                      </a:solidFill>
                      <a:prstDash val="solid"/>
                      <a:round/>
                      <a:headEnd type="none" w="med" len="med"/>
                      <a:tailEnd type="none" w="med" len="med"/>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BEAEA"/>
                    </a:solidFill>
                  </a:tcPr>
                </a:tc>
              </a:tr>
              <a:tr h="519430">
                <a:tc vMerge="1" gridSpan="2">
                  <a:tcPr marL="0" marR="0" marT="0" marB="0" vert="horz">
                    <a:lnL>
                      <a:noFill/>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hMerge="1">
                  <a:tcPr marL="0" marR="0" marT="0" marB="0" vert="horz">
                    <a:lnL>
                      <a:noFill/>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40000"/>
                        </a:lnSpc>
                      </a:pPr>
                      <a:endParaRPr lang="en-US" altLang="en-US" sz="750" dirty="0"/>
                    </a:p>
                    <a:p>
                      <a:pPr algn="l" rtl="0" eaLnBrk="0">
                        <a:lnSpc>
                          <a:spcPct val="8000"/>
                        </a:lnSpc>
                      </a:pPr>
                      <a:endParaRPr lang="en-US" altLang="en-US" sz="100" dirty="0"/>
                    </a:p>
                    <a:p>
                      <a:pPr marL="695960" algn="l" rtl="0" eaLnBrk="0">
                        <a:lnSpc>
                          <a:spcPct val="91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前</a:t>
                      </a:r>
                      <a:r>
                        <a:rPr sz="1500" kern="0" spc="-20" dirty="0">
                          <a:solidFill>
                            <a:srgbClr val="000000">
                              <a:alpha val="100000"/>
                            </a:srgbClr>
                          </a:solidFill>
                          <a:latin typeface="Arial" panose="020B0604020202020204"/>
                          <a:ea typeface="Arial" panose="020B0604020202020204"/>
                          <a:cs typeface="Arial" panose="020B0604020202020204"/>
                        </a:rPr>
                        <a:t>20%</a:t>
                      </a:r>
                      <a:endParaRPr lang="en-US" altLang="en-US" sz="15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BEAEA"/>
                    </a:solidFill>
                  </a:tcPr>
                </a:tc>
                <a:tc>
                  <a:txBody>
                    <a:bodyPr/>
                    <a:lstStyle/>
                    <a:p>
                      <a:pPr algn="l" rtl="0" eaLnBrk="0">
                        <a:lnSpc>
                          <a:spcPct val="142000"/>
                        </a:lnSpc>
                      </a:pPr>
                      <a:endParaRPr lang="en-US" altLang="en-US" sz="750" dirty="0"/>
                    </a:p>
                    <a:p>
                      <a:pPr algn="l" rtl="0" eaLnBrk="0">
                        <a:lnSpc>
                          <a:spcPct val="9000"/>
                        </a:lnSpc>
                      </a:pPr>
                      <a:endParaRPr lang="en-US" altLang="en-US" sz="100" dirty="0"/>
                    </a:p>
                    <a:p>
                      <a:pPr marL="548640" algn="l" rtl="0" eaLnBrk="0">
                        <a:lnSpc>
                          <a:spcPct val="90000"/>
                        </a:lnSpc>
                      </a:pPr>
                      <a:r>
                        <a:rPr sz="15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中间</a:t>
                      </a:r>
                      <a:r>
                        <a:rPr sz="1500" kern="0" spc="-40" dirty="0">
                          <a:solidFill>
                            <a:srgbClr val="000000">
                              <a:alpha val="100000"/>
                            </a:srgbClr>
                          </a:solidFill>
                          <a:latin typeface="Arial" panose="020B0604020202020204"/>
                          <a:ea typeface="Arial" panose="020B0604020202020204"/>
                          <a:cs typeface="Arial" panose="020B0604020202020204"/>
                        </a:rPr>
                        <a:t>70%</a:t>
                      </a:r>
                      <a:endParaRPr lang="en-US" altLang="en-US" sz="15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BEAEA"/>
                    </a:solidFill>
                  </a:tcPr>
                </a:tc>
                <a:tc>
                  <a:txBody>
                    <a:bodyPr/>
                    <a:lstStyle/>
                    <a:p>
                      <a:pPr algn="l" rtl="0" eaLnBrk="0">
                        <a:lnSpc>
                          <a:spcPct val="146000"/>
                        </a:lnSpc>
                      </a:pPr>
                      <a:endParaRPr lang="en-US" altLang="en-US" sz="750" dirty="0"/>
                    </a:p>
                    <a:p>
                      <a:pPr algn="l" rtl="0" eaLnBrk="0">
                        <a:lnSpc>
                          <a:spcPct val="8000"/>
                        </a:lnSpc>
                      </a:pPr>
                      <a:endParaRPr lang="en-US" altLang="en-US" sz="100" dirty="0"/>
                    </a:p>
                    <a:p>
                      <a:pPr marL="621665" algn="l" rtl="0" eaLnBrk="0">
                        <a:lnSpc>
                          <a:spcPct val="88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后</a:t>
                      </a:r>
                      <a:r>
                        <a:rPr sz="1500" kern="0" spc="-10" dirty="0">
                          <a:solidFill>
                            <a:srgbClr val="000000">
                              <a:alpha val="100000"/>
                            </a:srgbClr>
                          </a:solidFill>
                          <a:latin typeface="Arial" panose="020B0604020202020204"/>
                          <a:ea typeface="Arial" panose="020B0604020202020204"/>
                          <a:cs typeface="Arial" panose="020B0604020202020204"/>
                        </a:rPr>
                        <a:t>10%</a:t>
                      </a:r>
                      <a:endParaRPr lang="en-US" altLang="en-US" sz="150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BEAEA"/>
                    </a:solidFill>
                  </a:tcPr>
                </a:tc>
              </a:tr>
              <a:tr h="556895">
                <a:tc rowSpan="3">
                  <a:txBody>
                    <a:bodyPr/>
                    <a:lstStyle/>
                    <a:p>
                      <a:pPr algn="l" rtl="0" eaLnBrk="0">
                        <a:lnSpc>
                          <a:spcPct val="106000"/>
                        </a:lnSpc>
                      </a:pPr>
                      <a:endParaRPr lang="en-US" altLang="en-US" sz="750" dirty="0"/>
                    </a:p>
                    <a:p>
                      <a:pPr algn="l" rtl="0" eaLnBrk="0">
                        <a:lnSpc>
                          <a:spcPct val="106000"/>
                        </a:lnSpc>
                      </a:pPr>
                      <a:endParaRPr lang="en-US" altLang="en-US" sz="750" dirty="0"/>
                    </a:p>
                    <a:p>
                      <a:pPr algn="l" rtl="0" eaLnBrk="0">
                        <a:lnSpc>
                          <a:spcPct val="107000"/>
                        </a:lnSpc>
                      </a:pPr>
                      <a:endParaRPr lang="en-US" altLang="en-US" sz="750" dirty="0"/>
                    </a:p>
                    <a:p>
                      <a:pPr marL="316230" algn="l" rtl="0" eaLnBrk="0">
                        <a:lnSpc>
                          <a:spcPct val="90000"/>
                        </a:lnSpc>
                        <a:spcBef>
                          <a:spcPts val="5"/>
                        </a:spcBef>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完成任务维度</a:t>
                      </a:r>
                      <a:endParaRPr lang="en-US" altLang="en-US" sz="1500" dirty="0"/>
                    </a:p>
                  </a:txBody>
                  <a:tcPr marL="0" marR="0" marT="0" marB="0" vert="eaVert">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EBEAEA"/>
                    </a:solidFill>
                  </a:tcPr>
                </a:tc>
                <a:tc>
                  <a:txBody>
                    <a:bodyPr/>
                    <a:lstStyle/>
                    <a:p>
                      <a:pPr algn="l" rtl="0" eaLnBrk="0">
                        <a:lnSpc>
                          <a:spcPct val="152000"/>
                        </a:lnSpc>
                      </a:pPr>
                      <a:endParaRPr lang="en-US" altLang="en-US" sz="750" dirty="0"/>
                    </a:p>
                    <a:p>
                      <a:pPr marL="495300" algn="l" rtl="0" eaLnBrk="0">
                        <a:lnSpc>
                          <a:spcPct val="90000"/>
                        </a:lnSpc>
                        <a:spcBef>
                          <a:spcPts val="0"/>
                        </a:spcBef>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好</a:t>
                      </a:r>
                      <a:endParaRPr lang="en-US" altLang="en-US" sz="15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BEAEA"/>
                    </a:solidFill>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7530">
                <a:tc vMerge="1">
                  <a:tcPr marL="0" marR="0" marT="0" marB="0" vert="eaVert">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tcPr>
                </a:tc>
                <a:tc>
                  <a:txBody>
                    <a:bodyPr/>
                    <a:lstStyle/>
                    <a:p>
                      <a:pPr algn="l" rtl="0" eaLnBrk="0">
                        <a:lnSpc>
                          <a:spcPct val="144000"/>
                        </a:lnSpc>
                      </a:pPr>
                      <a:endParaRPr lang="en-US" altLang="en-US" sz="750" dirty="0"/>
                    </a:p>
                    <a:p>
                      <a:pPr marL="511810" algn="l" rtl="0" eaLnBrk="0">
                        <a:lnSpc>
                          <a:spcPct val="90000"/>
                        </a:lnSpc>
                        <a:spcBef>
                          <a:spcPts val="5"/>
                        </a:spcBef>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中</a:t>
                      </a:r>
                      <a:endParaRPr lang="en-US" altLang="en-US" sz="15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BEAEA"/>
                    </a:solidFill>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6420">
                <a:tc vMerge="1">
                  <a:tcPr marL="0" marR="0" marT="0" marB="0" vert="eaVert">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tcPr>
                </a:tc>
                <a:tc>
                  <a:txBody>
                    <a:bodyPr/>
                    <a:lstStyle/>
                    <a:p>
                      <a:pPr algn="l" rtl="0" eaLnBrk="0">
                        <a:lnSpc>
                          <a:spcPct val="134000"/>
                        </a:lnSpc>
                      </a:pPr>
                      <a:endParaRPr lang="en-US" altLang="en-US" sz="750" dirty="0"/>
                    </a:p>
                    <a:p>
                      <a:pPr algn="l" rtl="0" eaLnBrk="0">
                        <a:lnSpc>
                          <a:spcPct val="7000"/>
                        </a:lnSpc>
                      </a:pPr>
                      <a:endParaRPr lang="en-US" altLang="en-US" sz="100" dirty="0"/>
                    </a:p>
                    <a:p>
                      <a:pPr marL="492125" algn="l" rtl="0" eaLnBrk="0">
                        <a:lnSpc>
                          <a:spcPct val="91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差</a:t>
                      </a:r>
                      <a:endParaRPr lang="en-US" altLang="en-US" sz="15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EBEAEA"/>
                    </a:solidFill>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tcPr>
                </a:tc>
              </a:tr>
            </a:tbl>
          </a:graphicData>
        </a:graphic>
      </p:graphicFrame>
      <p:sp>
        <p:nvSpPr>
          <p:cNvPr id="770"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3" name="标题 2"/>
          <p:cNvSpPr>
            <a:spLocks noGrp="1"/>
          </p:cNvSpPr>
          <p:nvPr>
            <p:ph type="title"/>
          </p:nvPr>
        </p:nvSpPr>
        <p:spPr/>
        <p:txBody>
          <a:bodyPr/>
          <a:p>
            <a:r>
              <a:rPr lang="zh-CN" altLang="en-US" dirty="0"/>
              <a:t>绩效评估</a:t>
            </a:r>
            <a:endParaRPr lang="en-US" altLang="zh-C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项目沟通管理</a:t>
            </a:r>
            <a:endParaRPr lang="zh-CN" altLang="en-US" dirty="0"/>
          </a:p>
        </p:txBody>
      </p:sp>
      <p:sp>
        <p:nvSpPr>
          <p:cNvPr id="3" name="内容占位符 2"/>
          <p:cNvSpPr>
            <a:spLocks noGrp="1"/>
          </p:cNvSpPr>
          <p:nvPr>
            <p:ph idx="1"/>
          </p:nvPr>
        </p:nvSpPr>
        <p:spPr>
          <a:xfrm>
            <a:off x="768097" y="1140031"/>
            <a:ext cx="7832833" cy="2731325"/>
          </a:xfrm>
        </p:spPr>
        <p:txBody>
          <a:bodyPr>
            <a:normAutofit lnSpcReduction="10000"/>
          </a:bodyPr>
          <a:lstStyle/>
          <a:p>
            <a:pPr marL="342900" indent="-342900">
              <a:lnSpc>
                <a:spcPct val="120000"/>
              </a:lnSpc>
              <a:spcBef>
                <a:spcPts val="1200"/>
              </a:spcBef>
              <a:spcAft>
                <a:spcPts val="0"/>
              </a:spcAft>
            </a:pPr>
            <a:r>
              <a:rPr lang="zh-CN" altLang="en-US" sz="2400" dirty="0">
                <a:latin typeface="+mj-ea"/>
                <a:ea typeface="+mj-ea"/>
              </a:rPr>
              <a:t>普林斯顿大学研究发现：“智慧、专业技术、 经验三者只占成功因素的</a:t>
            </a:r>
            <a:r>
              <a:rPr lang="en-US" altLang="zh-CN" sz="2400" dirty="0">
                <a:latin typeface="+mj-ea"/>
                <a:ea typeface="+mj-ea"/>
              </a:rPr>
              <a:t>25%</a:t>
            </a:r>
            <a:r>
              <a:rPr lang="zh-CN" altLang="en-US" sz="2400" dirty="0">
                <a:latin typeface="+mj-ea"/>
                <a:ea typeface="+mj-ea"/>
              </a:rPr>
              <a:t>，其余</a:t>
            </a:r>
            <a:r>
              <a:rPr lang="en-US" altLang="zh-CN" sz="2400" dirty="0">
                <a:latin typeface="+mj-ea"/>
                <a:ea typeface="+mj-ea"/>
              </a:rPr>
              <a:t>75%</a:t>
            </a:r>
            <a:r>
              <a:rPr lang="zh-CN" altLang="en-US" sz="2400" dirty="0">
                <a:latin typeface="+mj-ea"/>
                <a:ea typeface="+mj-ea"/>
              </a:rPr>
              <a:t>决定 于良好的人际沟通。” </a:t>
            </a:r>
            <a:endParaRPr lang="zh-CN" altLang="en-US" sz="2400" dirty="0">
              <a:latin typeface="+mj-ea"/>
              <a:ea typeface="+mj-ea"/>
            </a:endParaRPr>
          </a:p>
          <a:p>
            <a:pPr marL="342900" indent="-342900">
              <a:lnSpc>
                <a:spcPct val="120000"/>
              </a:lnSpc>
              <a:spcBef>
                <a:spcPts val="1200"/>
              </a:spcBef>
              <a:spcAft>
                <a:spcPts val="0"/>
              </a:spcAft>
            </a:pPr>
            <a:r>
              <a:rPr lang="zh-CN" altLang="en-US" sz="2400" dirty="0">
                <a:latin typeface="+mj-ea"/>
                <a:ea typeface="+mj-ea"/>
              </a:rPr>
              <a:t>美国著名成功学专家卡耐基认为：“一个成功的企业家只有</a:t>
            </a:r>
            <a:r>
              <a:rPr lang="en-US" altLang="zh-CN" sz="2400" dirty="0">
                <a:latin typeface="+mj-ea"/>
                <a:ea typeface="+mj-ea"/>
              </a:rPr>
              <a:t>15%</a:t>
            </a:r>
            <a:r>
              <a:rPr lang="zh-CN" altLang="en-US" sz="2400" dirty="0">
                <a:latin typeface="+mj-ea"/>
                <a:ea typeface="+mj-ea"/>
              </a:rPr>
              <a:t>是靠他的专业知识，而</a:t>
            </a:r>
            <a:r>
              <a:rPr lang="en-US" altLang="zh-CN" sz="2400" dirty="0">
                <a:latin typeface="+mj-ea"/>
                <a:ea typeface="+mj-ea"/>
              </a:rPr>
              <a:t>85% </a:t>
            </a:r>
            <a:r>
              <a:rPr lang="zh-CN" altLang="en-US" sz="2400" dirty="0">
                <a:latin typeface="+mj-ea"/>
                <a:ea typeface="+mj-ea"/>
              </a:rPr>
              <a:t>是靠他的人际关系和处世技巧。” </a:t>
            </a:r>
            <a:endParaRPr lang="zh-CN" altLang="en-US" sz="2400" dirty="0">
              <a:latin typeface="+mj-ea"/>
              <a:ea typeface="+mj-ea"/>
            </a:endParaRPr>
          </a:p>
        </p:txBody>
      </p:sp>
      <p:sp>
        <p:nvSpPr>
          <p:cNvPr id="4" name="日期占位符 3"/>
          <p:cNvSpPr>
            <a:spLocks noGrp="1"/>
          </p:cNvSpPr>
          <p:nvPr>
            <p:ph type="dt" sz="half" idx="10"/>
          </p:nvPr>
        </p:nvSpPr>
        <p:spPr/>
        <p:txBody>
          <a:bodyPr/>
          <a:lstStyle/>
          <a:p>
            <a:fld id="{059D03AF-271A-40BA-8695-2B9B124D15E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9" name="矩形 8"/>
          <p:cNvSpPr/>
          <p:nvPr/>
        </p:nvSpPr>
        <p:spPr>
          <a:xfrm>
            <a:off x="1756533" y="3900526"/>
            <a:ext cx="6301760" cy="461665"/>
          </a:xfrm>
          <a:prstGeom prst="rect">
            <a:avLst/>
          </a:prstGeom>
        </p:spPr>
        <p:txBody>
          <a:bodyPr wrap="square">
            <a:spAutoFit/>
          </a:bodyPr>
          <a:lstStyle/>
          <a:p>
            <a:pPr algn="ctr"/>
            <a:r>
              <a:rPr lang="zh-CN" altLang="en-US" sz="2400" b="1" dirty="0">
                <a:solidFill>
                  <a:srgbClr val="FF0000"/>
                </a:solidFill>
                <a:latin typeface="+mj-ea"/>
                <a:ea typeface="+mj-ea"/>
              </a:rPr>
              <a:t>沟通是你被理解了什么⽽不是说了什么 </a:t>
            </a:r>
            <a:endParaRPr lang="zh-CN" altLang="en-US" sz="2400" b="1" dirty="0">
              <a:solidFill>
                <a:srgbClr val="FF0000"/>
              </a:solidFill>
              <a:latin typeface="+mj-ea"/>
              <a:ea typeface="+mj-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rot="21600000">
            <a:off x="4328279" y="1178680"/>
            <a:ext cx="3614694" cy="1316592"/>
            <a:chOff x="0" y="0"/>
            <a:chExt cx="4819592" cy="1755456"/>
          </a:xfrm>
        </p:grpSpPr>
        <p:sp>
          <p:nvSpPr>
            <p:cNvPr id="94" name="path"/>
            <p:cNvSpPr/>
            <p:nvPr/>
          </p:nvSpPr>
          <p:spPr>
            <a:xfrm>
              <a:off x="3226" y="748290"/>
              <a:ext cx="254000" cy="254000"/>
            </a:xfrm>
            <a:custGeom>
              <a:avLst/>
              <a:gdLst/>
              <a:ahLst/>
              <a:cxnLst/>
              <a:rect l="0" t="0" r="0" b="0"/>
              <a:pathLst>
                <a:path w="400" h="400">
                  <a:moveTo>
                    <a:pt x="0" y="200"/>
                  </a:moveTo>
                  <a:cubicBezTo>
                    <a:pt x="0" y="89"/>
                    <a:pt x="89" y="0"/>
                    <a:pt x="200" y="0"/>
                  </a:cubicBezTo>
                  <a:cubicBezTo>
                    <a:pt x="310" y="0"/>
                    <a:pt x="400" y="89"/>
                    <a:pt x="400" y="200"/>
                  </a:cubicBezTo>
                  <a:cubicBezTo>
                    <a:pt x="400" y="310"/>
                    <a:pt x="310" y="400"/>
                    <a:pt x="200" y="400"/>
                  </a:cubicBezTo>
                  <a:cubicBezTo>
                    <a:pt x="89" y="400"/>
                    <a:pt x="0" y="310"/>
                    <a:pt x="0" y="200"/>
                  </a:cubicBezTo>
                </a:path>
              </a:pathLst>
            </a:custGeom>
            <a:solidFill>
              <a:srgbClr val="D9D6D6">
                <a:alpha val="100000"/>
              </a:srgbClr>
            </a:solidFill>
            <a:ln cap="flat">
              <a:noFill/>
              <a:prstDash val="solid"/>
              <a:miter lim="0"/>
            </a:ln>
          </p:spPr>
          <p:txBody>
            <a:bodyPr rtlCol="0"/>
            <a:lstStyle/>
            <a:p>
              <a:pPr algn="ctr"/>
              <a:endParaRPr lang="zh-CN" altLang="en-US" sz="1350"/>
            </a:p>
          </p:txBody>
        </p:sp>
        <p:sp>
          <p:nvSpPr>
            <p:cNvPr id="96" name="path"/>
            <p:cNvSpPr/>
            <p:nvPr/>
          </p:nvSpPr>
          <p:spPr>
            <a:xfrm>
              <a:off x="0" y="745064"/>
              <a:ext cx="264515" cy="264515"/>
            </a:xfrm>
            <a:custGeom>
              <a:avLst/>
              <a:gdLst/>
              <a:ahLst/>
              <a:cxnLst/>
              <a:rect l="0" t="0" r="0" b="0"/>
              <a:pathLst>
                <a:path w="416" h="416">
                  <a:moveTo>
                    <a:pt x="5" y="208"/>
                  </a:moveTo>
                  <a:cubicBezTo>
                    <a:pt x="5" y="96"/>
                    <a:pt x="96" y="5"/>
                    <a:pt x="208" y="5"/>
                  </a:cubicBezTo>
                  <a:cubicBezTo>
                    <a:pt x="320" y="5"/>
                    <a:pt x="411" y="96"/>
                    <a:pt x="411" y="208"/>
                  </a:cubicBezTo>
                  <a:cubicBezTo>
                    <a:pt x="411" y="320"/>
                    <a:pt x="320" y="411"/>
                    <a:pt x="208" y="411"/>
                  </a:cubicBezTo>
                  <a:cubicBezTo>
                    <a:pt x="96" y="411"/>
                    <a:pt x="5" y="320"/>
                    <a:pt x="5" y="208"/>
                  </a:cubicBezTo>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98" name="path"/>
            <p:cNvSpPr/>
            <p:nvPr/>
          </p:nvSpPr>
          <p:spPr>
            <a:xfrm>
              <a:off x="1290157" y="3225"/>
              <a:ext cx="2302931" cy="304800"/>
            </a:xfrm>
            <a:custGeom>
              <a:avLst/>
              <a:gdLst/>
              <a:ahLst/>
              <a:cxnLst/>
              <a:rect l="0" t="0" r="0" b="0"/>
              <a:pathLst>
                <a:path w="3626" h="480">
                  <a:moveTo>
                    <a:pt x="0" y="0"/>
                  </a:moveTo>
                  <a:lnTo>
                    <a:pt x="3626" y="0"/>
                  </a:lnTo>
                  <a:lnTo>
                    <a:pt x="3626" y="480"/>
                  </a:lnTo>
                  <a:lnTo>
                    <a:pt x="0" y="480"/>
                  </a:lnTo>
                  <a:lnTo>
                    <a:pt x="0" y="0"/>
                  </a:lnTo>
                  <a:close/>
                </a:path>
              </a:pathLst>
            </a:custGeom>
            <a:solidFill>
              <a:srgbClr val="76D6FF">
                <a:alpha val="100000"/>
              </a:srgbClr>
            </a:solidFill>
            <a:ln cap="flat">
              <a:noFill/>
              <a:prstDash val="solid"/>
              <a:miter lim="0"/>
            </a:ln>
          </p:spPr>
          <p:txBody>
            <a:bodyPr rtlCol="0"/>
            <a:lstStyle/>
            <a:p>
              <a:pPr algn="ctr"/>
              <a:endParaRPr lang="zh-CN" altLang="en-US" sz="1350"/>
            </a:p>
          </p:txBody>
        </p:sp>
        <p:sp>
          <p:nvSpPr>
            <p:cNvPr id="100" name="path"/>
            <p:cNvSpPr/>
            <p:nvPr/>
          </p:nvSpPr>
          <p:spPr>
            <a:xfrm>
              <a:off x="1286931" y="0"/>
              <a:ext cx="2346231" cy="316128"/>
            </a:xfrm>
            <a:custGeom>
              <a:avLst/>
              <a:gdLst/>
              <a:ahLst/>
              <a:cxnLst/>
              <a:rect l="0" t="0" r="0" b="0"/>
              <a:pathLst>
                <a:path w="3694" h="497">
                  <a:moveTo>
                    <a:pt x="5" y="5"/>
                  </a:moveTo>
                  <a:lnTo>
                    <a:pt x="3689" y="5"/>
                  </a:lnTo>
                  <a:lnTo>
                    <a:pt x="3689" y="492"/>
                  </a:lnTo>
                  <a:lnTo>
                    <a:pt x="5" y="492"/>
                  </a:lnTo>
                  <a:lnTo>
                    <a:pt x="5" y="5"/>
                  </a:lnTo>
                  <a:close/>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102" name="path"/>
            <p:cNvSpPr/>
            <p:nvPr/>
          </p:nvSpPr>
          <p:spPr>
            <a:xfrm>
              <a:off x="1290157" y="494290"/>
              <a:ext cx="2302931" cy="304800"/>
            </a:xfrm>
            <a:custGeom>
              <a:avLst/>
              <a:gdLst/>
              <a:ahLst/>
              <a:cxnLst/>
              <a:rect l="0" t="0" r="0" b="0"/>
              <a:pathLst>
                <a:path w="3626" h="480">
                  <a:moveTo>
                    <a:pt x="0" y="0"/>
                  </a:moveTo>
                  <a:lnTo>
                    <a:pt x="3626" y="0"/>
                  </a:lnTo>
                  <a:lnTo>
                    <a:pt x="3626" y="480"/>
                  </a:lnTo>
                  <a:lnTo>
                    <a:pt x="0" y="480"/>
                  </a:lnTo>
                  <a:lnTo>
                    <a:pt x="0" y="0"/>
                  </a:lnTo>
                  <a:close/>
                </a:path>
              </a:pathLst>
            </a:custGeom>
            <a:solidFill>
              <a:srgbClr val="76D6FF">
                <a:alpha val="100000"/>
              </a:srgbClr>
            </a:solidFill>
            <a:ln cap="flat">
              <a:noFill/>
              <a:prstDash val="solid"/>
              <a:miter lim="0"/>
            </a:ln>
          </p:spPr>
          <p:txBody>
            <a:bodyPr rtlCol="0"/>
            <a:lstStyle/>
            <a:p>
              <a:pPr algn="ctr"/>
              <a:endParaRPr lang="zh-CN" altLang="en-US" sz="1350"/>
            </a:p>
          </p:txBody>
        </p:sp>
        <p:sp>
          <p:nvSpPr>
            <p:cNvPr id="104" name="path"/>
            <p:cNvSpPr/>
            <p:nvPr/>
          </p:nvSpPr>
          <p:spPr>
            <a:xfrm>
              <a:off x="1286931" y="491064"/>
              <a:ext cx="2346231" cy="316128"/>
            </a:xfrm>
            <a:custGeom>
              <a:avLst/>
              <a:gdLst/>
              <a:ahLst/>
              <a:cxnLst/>
              <a:rect l="0" t="0" r="0" b="0"/>
              <a:pathLst>
                <a:path w="3694" h="497">
                  <a:moveTo>
                    <a:pt x="5" y="5"/>
                  </a:moveTo>
                  <a:lnTo>
                    <a:pt x="3689" y="5"/>
                  </a:lnTo>
                  <a:lnTo>
                    <a:pt x="3689" y="492"/>
                  </a:lnTo>
                  <a:lnTo>
                    <a:pt x="5" y="492"/>
                  </a:lnTo>
                  <a:lnTo>
                    <a:pt x="5" y="5"/>
                  </a:lnTo>
                  <a:close/>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106" name="path"/>
            <p:cNvSpPr/>
            <p:nvPr/>
          </p:nvSpPr>
          <p:spPr>
            <a:xfrm>
              <a:off x="1290157" y="968421"/>
              <a:ext cx="2302931" cy="304800"/>
            </a:xfrm>
            <a:custGeom>
              <a:avLst/>
              <a:gdLst/>
              <a:ahLst/>
              <a:cxnLst/>
              <a:rect l="0" t="0" r="0" b="0"/>
              <a:pathLst>
                <a:path w="3626" h="480">
                  <a:moveTo>
                    <a:pt x="0" y="0"/>
                  </a:moveTo>
                  <a:lnTo>
                    <a:pt x="3626" y="0"/>
                  </a:lnTo>
                  <a:lnTo>
                    <a:pt x="3626" y="480"/>
                  </a:lnTo>
                  <a:lnTo>
                    <a:pt x="0" y="480"/>
                  </a:lnTo>
                  <a:lnTo>
                    <a:pt x="0" y="0"/>
                  </a:lnTo>
                  <a:close/>
                </a:path>
              </a:pathLst>
            </a:custGeom>
            <a:solidFill>
              <a:srgbClr val="76D6FF">
                <a:alpha val="100000"/>
              </a:srgbClr>
            </a:solidFill>
            <a:ln cap="flat">
              <a:noFill/>
              <a:prstDash val="solid"/>
              <a:miter lim="0"/>
            </a:ln>
          </p:spPr>
          <p:txBody>
            <a:bodyPr rtlCol="0"/>
            <a:lstStyle/>
            <a:p>
              <a:pPr algn="ctr"/>
              <a:endParaRPr lang="zh-CN" altLang="en-US" sz="1350"/>
            </a:p>
          </p:txBody>
        </p:sp>
        <p:sp>
          <p:nvSpPr>
            <p:cNvPr id="108" name="path"/>
            <p:cNvSpPr/>
            <p:nvPr/>
          </p:nvSpPr>
          <p:spPr>
            <a:xfrm>
              <a:off x="1286931" y="965196"/>
              <a:ext cx="2346231" cy="316128"/>
            </a:xfrm>
            <a:custGeom>
              <a:avLst/>
              <a:gdLst/>
              <a:ahLst/>
              <a:cxnLst/>
              <a:rect l="0" t="0" r="0" b="0"/>
              <a:pathLst>
                <a:path w="3694" h="497">
                  <a:moveTo>
                    <a:pt x="5" y="5"/>
                  </a:moveTo>
                  <a:lnTo>
                    <a:pt x="3689" y="5"/>
                  </a:lnTo>
                  <a:lnTo>
                    <a:pt x="3689" y="492"/>
                  </a:lnTo>
                  <a:lnTo>
                    <a:pt x="5" y="492"/>
                  </a:lnTo>
                  <a:lnTo>
                    <a:pt x="5" y="5"/>
                  </a:lnTo>
                  <a:close/>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110" name="path"/>
            <p:cNvSpPr/>
            <p:nvPr/>
          </p:nvSpPr>
          <p:spPr>
            <a:xfrm>
              <a:off x="1290157" y="1442553"/>
              <a:ext cx="2302931" cy="304800"/>
            </a:xfrm>
            <a:custGeom>
              <a:avLst/>
              <a:gdLst/>
              <a:ahLst/>
              <a:cxnLst/>
              <a:rect l="0" t="0" r="0" b="0"/>
              <a:pathLst>
                <a:path w="3626" h="480">
                  <a:moveTo>
                    <a:pt x="0" y="0"/>
                  </a:moveTo>
                  <a:lnTo>
                    <a:pt x="3626" y="0"/>
                  </a:lnTo>
                  <a:lnTo>
                    <a:pt x="3626" y="480"/>
                  </a:lnTo>
                  <a:lnTo>
                    <a:pt x="0" y="480"/>
                  </a:lnTo>
                  <a:lnTo>
                    <a:pt x="0" y="0"/>
                  </a:lnTo>
                  <a:close/>
                </a:path>
              </a:pathLst>
            </a:custGeom>
            <a:solidFill>
              <a:srgbClr val="76D6FF">
                <a:alpha val="100000"/>
              </a:srgbClr>
            </a:solidFill>
            <a:ln cap="flat">
              <a:noFill/>
              <a:prstDash val="solid"/>
              <a:miter lim="0"/>
            </a:ln>
          </p:spPr>
          <p:txBody>
            <a:bodyPr rtlCol="0"/>
            <a:lstStyle/>
            <a:p>
              <a:pPr algn="ctr"/>
              <a:endParaRPr lang="zh-CN" altLang="en-US" sz="1350"/>
            </a:p>
          </p:txBody>
        </p:sp>
        <p:sp>
          <p:nvSpPr>
            <p:cNvPr id="112" name="path"/>
            <p:cNvSpPr/>
            <p:nvPr/>
          </p:nvSpPr>
          <p:spPr>
            <a:xfrm>
              <a:off x="1286931" y="1439327"/>
              <a:ext cx="2346231" cy="316128"/>
            </a:xfrm>
            <a:custGeom>
              <a:avLst/>
              <a:gdLst/>
              <a:ahLst/>
              <a:cxnLst/>
              <a:rect l="0" t="0" r="0" b="0"/>
              <a:pathLst>
                <a:path w="3694" h="497">
                  <a:moveTo>
                    <a:pt x="5" y="5"/>
                  </a:moveTo>
                  <a:lnTo>
                    <a:pt x="3689" y="5"/>
                  </a:lnTo>
                  <a:lnTo>
                    <a:pt x="3689" y="492"/>
                  </a:lnTo>
                  <a:lnTo>
                    <a:pt x="5" y="492"/>
                  </a:lnTo>
                  <a:lnTo>
                    <a:pt x="5" y="5"/>
                  </a:lnTo>
                  <a:close/>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114" name="path"/>
            <p:cNvSpPr/>
            <p:nvPr/>
          </p:nvSpPr>
          <p:spPr>
            <a:xfrm>
              <a:off x="4558302" y="748290"/>
              <a:ext cx="254000" cy="254000"/>
            </a:xfrm>
            <a:custGeom>
              <a:avLst/>
              <a:gdLst/>
              <a:ahLst/>
              <a:cxnLst/>
              <a:rect l="0" t="0" r="0" b="0"/>
              <a:pathLst>
                <a:path w="400" h="400">
                  <a:moveTo>
                    <a:pt x="0" y="200"/>
                  </a:moveTo>
                  <a:cubicBezTo>
                    <a:pt x="0" y="89"/>
                    <a:pt x="89" y="0"/>
                    <a:pt x="200" y="0"/>
                  </a:cubicBezTo>
                  <a:cubicBezTo>
                    <a:pt x="310" y="0"/>
                    <a:pt x="400" y="89"/>
                    <a:pt x="400" y="200"/>
                  </a:cubicBezTo>
                  <a:cubicBezTo>
                    <a:pt x="400" y="310"/>
                    <a:pt x="310" y="400"/>
                    <a:pt x="200" y="400"/>
                  </a:cubicBezTo>
                  <a:cubicBezTo>
                    <a:pt x="89" y="400"/>
                    <a:pt x="0" y="310"/>
                    <a:pt x="0" y="200"/>
                  </a:cubicBezTo>
                </a:path>
              </a:pathLst>
            </a:custGeom>
            <a:solidFill>
              <a:srgbClr val="D81E00">
                <a:alpha val="100000"/>
              </a:srgbClr>
            </a:solidFill>
            <a:ln cap="flat">
              <a:noFill/>
              <a:prstDash val="solid"/>
              <a:miter lim="0"/>
            </a:ln>
          </p:spPr>
          <p:txBody>
            <a:bodyPr rtlCol="0"/>
            <a:lstStyle/>
            <a:p>
              <a:pPr algn="ctr"/>
              <a:endParaRPr lang="zh-CN" altLang="en-US" sz="1350"/>
            </a:p>
          </p:txBody>
        </p:sp>
        <p:sp>
          <p:nvSpPr>
            <p:cNvPr id="116" name="path"/>
            <p:cNvSpPr/>
            <p:nvPr/>
          </p:nvSpPr>
          <p:spPr>
            <a:xfrm>
              <a:off x="4555077" y="745064"/>
              <a:ext cx="264515" cy="264515"/>
            </a:xfrm>
            <a:custGeom>
              <a:avLst/>
              <a:gdLst/>
              <a:ahLst/>
              <a:cxnLst/>
              <a:rect l="0" t="0" r="0" b="0"/>
              <a:pathLst>
                <a:path w="416" h="416">
                  <a:moveTo>
                    <a:pt x="5" y="208"/>
                  </a:moveTo>
                  <a:cubicBezTo>
                    <a:pt x="5" y="96"/>
                    <a:pt x="96" y="5"/>
                    <a:pt x="208" y="5"/>
                  </a:cubicBezTo>
                  <a:cubicBezTo>
                    <a:pt x="320" y="5"/>
                    <a:pt x="411" y="96"/>
                    <a:pt x="411" y="208"/>
                  </a:cubicBezTo>
                  <a:cubicBezTo>
                    <a:pt x="411" y="320"/>
                    <a:pt x="320" y="411"/>
                    <a:pt x="208" y="411"/>
                  </a:cubicBezTo>
                  <a:cubicBezTo>
                    <a:pt x="96" y="411"/>
                    <a:pt x="5" y="320"/>
                    <a:pt x="5" y="208"/>
                  </a:cubicBezTo>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118" name="path"/>
            <p:cNvSpPr/>
            <p:nvPr/>
          </p:nvSpPr>
          <p:spPr>
            <a:xfrm>
              <a:off x="788880" y="149174"/>
              <a:ext cx="488369" cy="1475260"/>
            </a:xfrm>
            <a:custGeom>
              <a:avLst/>
              <a:gdLst/>
              <a:ahLst/>
              <a:cxnLst/>
              <a:rect l="0" t="0" r="0" b="0"/>
              <a:pathLst>
                <a:path w="769" h="2323">
                  <a:moveTo>
                    <a:pt x="769" y="10"/>
                  </a:moveTo>
                  <a:lnTo>
                    <a:pt x="10" y="10"/>
                  </a:lnTo>
                  <a:lnTo>
                    <a:pt x="10" y="2313"/>
                  </a:lnTo>
                  <a:lnTo>
                    <a:pt x="748" y="2313"/>
                  </a:lnTo>
                </a:path>
              </a:pathLst>
            </a:custGeom>
            <a:noFill/>
            <a:ln w="12903" cap="flat">
              <a:solidFill>
                <a:srgbClr val="201E1E">
                  <a:alpha val="100000"/>
                </a:srgbClr>
              </a:solidFill>
              <a:prstDash val="solid"/>
              <a:miter lim="800000"/>
            </a:ln>
          </p:spPr>
          <p:txBody>
            <a:bodyPr rtlCol="0"/>
            <a:lstStyle/>
            <a:p>
              <a:pPr algn="ctr"/>
              <a:endParaRPr lang="zh-CN" altLang="en-US" sz="1350"/>
            </a:p>
          </p:txBody>
        </p:sp>
        <p:sp>
          <p:nvSpPr>
            <p:cNvPr id="120" name="path"/>
            <p:cNvSpPr/>
            <p:nvPr/>
          </p:nvSpPr>
          <p:spPr>
            <a:xfrm>
              <a:off x="1174248" y="96670"/>
              <a:ext cx="128609" cy="1557236"/>
            </a:xfrm>
            <a:custGeom>
              <a:avLst/>
              <a:gdLst/>
              <a:ahLst/>
              <a:cxnLst/>
              <a:rect l="0" t="0" r="0" b="0"/>
              <a:pathLst>
                <a:path w="202" h="2452">
                  <a:moveTo>
                    <a:pt x="202" y="92"/>
                  </a:moveTo>
                  <a:lnTo>
                    <a:pt x="52" y="5"/>
                  </a:lnTo>
                  <a:lnTo>
                    <a:pt x="52" y="5"/>
                  </a:lnTo>
                  <a:cubicBezTo>
                    <a:pt x="43" y="0"/>
                    <a:pt x="31" y="3"/>
                    <a:pt x="25" y="12"/>
                  </a:cubicBezTo>
                  <a:lnTo>
                    <a:pt x="25" y="12"/>
                  </a:lnTo>
                  <a:cubicBezTo>
                    <a:pt x="20" y="22"/>
                    <a:pt x="23" y="34"/>
                    <a:pt x="32" y="40"/>
                  </a:cubicBezTo>
                  <a:lnTo>
                    <a:pt x="123" y="92"/>
                  </a:lnTo>
                  <a:lnTo>
                    <a:pt x="32" y="145"/>
                  </a:lnTo>
                  <a:lnTo>
                    <a:pt x="32" y="145"/>
                  </a:lnTo>
                  <a:cubicBezTo>
                    <a:pt x="23" y="151"/>
                    <a:pt x="20" y="163"/>
                    <a:pt x="25" y="172"/>
                  </a:cubicBezTo>
                  <a:cubicBezTo>
                    <a:pt x="25" y="172"/>
                    <a:pt x="25" y="172"/>
                    <a:pt x="25" y="172"/>
                  </a:cubicBezTo>
                  <a:lnTo>
                    <a:pt x="25" y="172"/>
                  </a:lnTo>
                  <a:cubicBezTo>
                    <a:pt x="31" y="182"/>
                    <a:pt x="43" y="185"/>
                    <a:pt x="52" y="180"/>
                  </a:cubicBezTo>
                  <a:lnTo>
                    <a:pt x="202" y="92"/>
                  </a:lnTo>
                  <a:close/>
                </a:path>
                <a:path w="202" h="2452">
                  <a:moveTo>
                    <a:pt x="182" y="2359"/>
                  </a:moveTo>
                  <a:lnTo>
                    <a:pt x="32" y="2272"/>
                  </a:lnTo>
                  <a:lnTo>
                    <a:pt x="32" y="2272"/>
                  </a:lnTo>
                  <a:cubicBezTo>
                    <a:pt x="23" y="2266"/>
                    <a:pt x="11" y="2269"/>
                    <a:pt x="5" y="2279"/>
                  </a:cubicBezTo>
                  <a:lnTo>
                    <a:pt x="5" y="2279"/>
                  </a:lnTo>
                  <a:cubicBezTo>
                    <a:pt x="0" y="2288"/>
                    <a:pt x="3" y="2301"/>
                    <a:pt x="12" y="2306"/>
                  </a:cubicBezTo>
                  <a:lnTo>
                    <a:pt x="103" y="2359"/>
                  </a:lnTo>
                  <a:lnTo>
                    <a:pt x="12" y="2412"/>
                  </a:lnTo>
                  <a:lnTo>
                    <a:pt x="12" y="2412"/>
                  </a:lnTo>
                  <a:cubicBezTo>
                    <a:pt x="3" y="2417"/>
                    <a:pt x="0" y="2430"/>
                    <a:pt x="5" y="2439"/>
                  </a:cubicBezTo>
                  <a:cubicBezTo>
                    <a:pt x="5" y="2439"/>
                    <a:pt x="5" y="2439"/>
                    <a:pt x="5" y="2439"/>
                  </a:cubicBezTo>
                  <a:lnTo>
                    <a:pt x="5" y="2439"/>
                  </a:lnTo>
                  <a:cubicBezTo>
                    <a:pt x="11" y="2449"/>
                    <a:pt x="23" y="2452"/>
                    <a:pt x="32" y="2446"/>
                  </a:cubicBezTo>
                  <a:lnTo>
                    <a:pt x="182" y="2359"/>
                  </a:lnTo>
                  <a:close/>
                </a:path>
              </a:pathLst>
            </a:custGeom>
            <a:solidFill>
              <a:srgbClr val="201E1E">
                <a:alpha val="100000"/>
              </a:srgbClr>
            </a:solidFill>
            <a:ln cap="flat">
              <a:noFill/>
              <a:prstDash val="solid"/>
              <a:miter lim="0"/>
            </a:ln>
          </p:spPr>
          <p:txBody>
            <a:bodyPr rtlCol="0"/>
            <a:lstStyle/>
            <a:p>
              <a:pPr algn="ctr"/>
              <a:endParaRPr lang="zh-CN" altLang="en-US" sz="1350"/>
            </a:p>
          </p:txBody>
        </p:sp>
        <p:sp>
          <p:nvSpPr>
            <p:cNvPr id="122" name="path"/>
            <p:cNvSpPr/>
            <p:nvPr/>
          </p:nvSpPr>
          <p:spPr>
            <a:xfrm>
              <a:off x="816023" y="623304"/>
              <a:ext cx="455842" cy="12903"/>
            </a:xfrm>
            <a:custGeom>
              <a:avLst/>
              <a:gdLst/>
              <a:ahLst/>
              <a:cxnLst/>
              <a:rect l="0" t="0" r="0" b="0"/>
              <a:pathLst>
                <a:path w="717" h="20">
                  <a:moveTo>
                    <a:pt x="0" y="10"/>
                  </a:moveTo>
                  <a:lnTo>
                    <a:pt x="717" y="10"/>
                  </a:lnTo>
                </a:path>
              </a:pathLst>
            </a:custGeom>
            <a:noFill/>
            <a:ln w="12903" cap="flat">
              <a:solidFill>
                <a:srgbClr val="201E1E">
                  <a:alpha val="100000"/>
                </a:srgbClr>
              </a:solidFill>
              <a:prstDash val="solid"/>
              <a:miter lim="800000"/>
            </a:ln>
          </p:spPr>
          <p:txBody>
            <a:bodyPr rtlCol="0"/>
            <a:lstStyle/>
            <a:p>
              <a:pPr algn="ctr"/>
              <a:endParaRPr lang="zh-CN" altLang="en-US" sz="1350"/>
            </a:p>
          </p:txBody>
        </p:sp>
        <p:sp>
          <p:nvSpPr>
            <p:cNvPr id="124" name="path"/>
            <p:cNvSpPr/>
            <p:nvPr/>
          </p:nvSpPr>
          <p:spPr>
            <a:xfrm>
              <a:off x="1173985" y="570802"/>
              <a:ext cx="115907" cy="117908"/>
            </a:xfrm>
            <a:custGeom>
              <a:avLst/>
              <a:gdLst/>
              <a:ahLst/>
              <a:cxnLst/>
              <a:rect l="0" t="0" r="0" b="0"/>
              <a:pathLst>
                <a:path w="182" h="185">
                  <a:moveTo>
                    <a:pt x="182" y="92"/>
                  </a:moveTo>
                  <a:lnTo>
                    <a:pt x="32" y="180"/>
                  </a:lnTo>
                  <a:lnTo>
                    <a:pt x="32" y="180"/>
                  </a:lnTo>
                  <a:cubicBezTo>
                    <a:pt x="23" y="185"/>
                    <a:pt x="11" y="182"/>
                    <a:pt x="5" y="172"/>
                  </a:cubicBezTo>
                  <a:lnTo>
                    <a:pt x="5" y="172"/>
                  </a:lnTo>
                  <a:cubicBezTo>
                    <a:pt x="0" y="163"/>
                    <a:pt x="3" y="151"/>
                    <a:pt x="12" y="145"/>
                  </a:cubicBezTo>
                  <a:lnTo>
                    <a:pt x="103" y="92"/>
                  </a:lnTo>
                  <a:lnTo>
                    <a:pt x="12" y="40"/>
                  </a:lnTo>
                  <a:lnTo>
                    <a:pt x="12" y="40"/>
                  </a:lnTo>
                  <a:cubicBezTo>
                    <a:pt x="3" y="34"/>
                    <a:pt x="0" y="22"/>
                    <a:pt x="5" y="12"/>
                  </a:cubicBezTo>
                  <a:cubicBezTo>
                    <a:pt x="5" y="12"/>
                    <a:pt x="5" y="12"/>
                    <a:pt x="5" y="12"/>
                  </a:cubicBezTo>
                  <a:lnTo>
                    <a:pt x="5" y="12"/>
                  </a:lnTo>
                  <a:cubicBezTo>
                    <a:pt x="11" y="3"/>
                    <a:pt x="23" y="0"/>
                    <a:pt x="32" y="5"/>
                  </a:cubicBezTo>
                  <a:lnTo>
                    <a:pt x="182" y="92"/>
                  </a:lnTo>
                  <a:close/>
                </a:path>
              </a:pathLst>
            </a:custGeom>
            <a:solidFill>
              <a:srgbClr val="201E1E">
                <a:alpha val="100000"/>
              </a:srgbClr>
            </a:solidFill>
            <a:ln cap="flat">
              <a:noFill/>
              <a:prstDash val="solid"/>
              <a:miter lim="0"/>
            </a:ln>
          </p:spPr>
          <p:txBody>
            <a:bodyPr rtlCol="0"/>
            <a:lstStyle/>
            <a:p>
              <a:pPr algn="ctr"/>
              <a:endParaRPr lang="zh-CN" altLang="en-US" sz="1350"/>
            </a:p>
          </p:txBody>
        </p:sp>
        <p:sp>
          <p:nvSpPr>
            <p:cNvPr id="126" name="path"/>
            <p:cNvSpPr/>
            <p:nvPr/>
          </p:nvSpPr>
          <p:spPr>
            <a:xfrm>
              <a:off x="816023" y="1114370"/>
              <a:ext cx="455842" cy="12903"/>
            </a:xfrm>
            <a:custGeom>
              <a:avLst/>
              <a:gdLst/>
              <a:ahLst/>
              <a:cxnLst/>
              <a:rect l="0" t="0" r="0" b="0"/>
              <a:pathLst>
                <a:path w="717" h="20">
                  <a:moveTo>
                    <a:pt x="0" y="10"/>
                  </a:moveTo>
                  <a:lnTo>
                    <a:pt x="717" y="10"/>
                  </a:lnTo>
                </a:path>
              </a:pathLst>
            </a:custGeom>
            <a:noFill/>
            <a:ln w="12903" cap="flat">
              <a:solidFill>
                <a:srgbClr val="201E1E">
                  <a:alpha val="100000"/>
                </a:srgbClr>
              </a:solidFill>
              <a:prstDash val="solid"/>
              <a:miter lim="800000"/>
            </a:ln>
          </p:spPr>
          <p:txBody>
            <a:bodyPr rtlCol="0"/>
            <a:lstStyle/>
            <a:p>
              <a:pPr algn="ctr"/>
              <a:endParaRPr lang="zh-CN" altLang="en-US" sz="1350"/>
            </a:p>
          </p:txBody>
        </p:sp>
        <p:sp>
          <p:nvSpPr>
            <p:cNvPr id="128" name="path"/>
            <p:cNvSpPr/>
            <p:nvPr/>
          </p:nvSpPr>
          <p:spPr>
            <a:xfrm>
              <a:off x="1173985" y="1061868"/>
              <a:ext cx="115907" cy="117908"/>
            </a:xfrm>
            <a:custGeom>
              <a:avLst/>
              <a:gdLst/>
              <a:ahLst/>
              <a:cxnLst/>
              <a:rect l="0" t="0" r="0" b="0"/>
              <a:pathLst>
                <a:path w="182" h="185">
                  <a:moveTo>
                    <a:pt x="182" y="92"/>
                  </a:moveTo>
                  <a:lnTo>
                    <a:pt x="32" y="180"/>
                  </a:lnTo>
                  <a:lnTo>
                    <a:pt x="32" y="180"/>
                  </a:lnTo>
                  <a:cubicBezTo>
                    <a:pt x="23" y="185"/>
                    <a:pt x="11" y="182"/>
                    <a:pt x="5" y="172"/>
                  </a:cubicBezTo>
                  <a:lnTo>
                    <a:pt x="5" y="172"/>
                  </a:lnTo>
                  <a:cubicBezTo>
                    <a:pt x="0" y="163"/>
                    <a:pt x="3" y="151"/>
                    <a:pt x="12" y="145"/>
                  </a:cubicBezTo>
                  <a:lnTo>
                    <a:pt x="103" y="92"/>
                  </a:lnTo>
                  <a:lnTo>
                    <a:pt x="12" y="40"/>
                  </a:lnTo>
                  <a:lnTo>
                    <a:pt x="12" y="40"/>
                  </a:lnTo>
                  <a:cubicBezTo>
                    <a:pt x="3" y="34"/>
                    <a:pt x="0" y="22"/>
                    <a:pt x="5" y="12"/>
                  </a:cubicBezTo>
                  <a:cubicBezTo>
                    <a:pt x="5" y="12"/>
                    <a:pt x="5" y="12"/>
                    <a:pt x="5" y="12"/>
                  </a:cubicBezTo>
                  <a:lnTo>
                    <a:pt x="5" y="12"/>
                  </a:lnTo>
                  <a:cubicBezTo>
                    <a:pt x="11" y="3"/>
                    <a:pt x="23" y="0"/>
                    <a:pt x="32" y="5"/>
                  </a:cubicBezTo>
                  <a:lnTo>
                    <a:pt x="182" y="92"/>
                  </a:lnTo>
                  <a:close/>
                </a:path>
              </a:pathLst>
            </a:custGeom>
            <a:solidFill>
              <a:srgbClr val="201E1E">
                <a:alpha val="100000"/>
              </a:srgbClr>
            </a:solidFill>
            <a:ln cap="flat">
              <a:noFill/>
              <a:prstDash val="solid"/>
              <a:miter lim="0"/>
            </a:ln>
          </p:spPr>
          <p:txBody>
            <a:bodyPr rtlCol="0"/>
            <a:lstStyle/>
            <a:p>
              <a:pPr algn="ctr"/>
              <a:endParaRPr lang="zh-CN" altLang="en-US" sz="1350"/>
            </a:p>
          </p:txBody>
        </p:sp>
        <p:sp>
          <p:nvSpPr>
            <p:cNvPr id="130" name="path"/>
            <p:cNvSpPr/>
            <p:nvPr/>
          </p:nvSpPr>
          <p:spPr>
            <a:xfrm>
              <a:off x="257225" y="149174"/>
              <a:ext cx="4283587" cy="1475260"/>
            </a:xfrm>
            <a:custGeom>
              <a:avLst/>
              <a:gdLst/>
              <a:ahLst/>
              <a:cxnLst/>
              <a:rect l="0" t="0" r="0" b="0"/>
              <a:pathLst>
                <a:path w="6745" h="2323">
                  <a:moveTo>
                    <a:pt x="0" y="1143"/>
                  </a:moveTo>
                  <a:lnTo>
                    <a:pt x="866" y="1143"/>
                  </a:lnTo>
                  <a:moveTo>
                    <a:pt x="5253" y="10"/>
                  </a:moveTo>
                  <a:lnTo>
                    <a:pt x="5971" y="10"/>
                  </a:lnTo>
                  <a:lnTo>
                    <a:pt x="5971" y="2313"/>
                  </a:lnTo>
                  <a:lnTo>
                    <a:pt x="5273" y="2313"/>
                  </a:lnTo>
                  <a:moveTo>
                    <a:pt x="5946" y="1143"/>
                  </a:moveTo>
                  <a:lnTo>
                    <a:pt x="6745" y="1143"/>
                  </a:lnTo>
                </a:path>
              </a:pathLst>
            </a:custGeom>
            <a:noFill/>
            <a:ln w="12903" cap="flat">
              <a:solidFill>
                <a:srgbClr val="201E1E">
                  <a:alpha val="100000"/>
                </a:srgbClr>
              </a:solidFill>
              <a:prstDash val="solid"/>
              <a:miter lim="800000"/>
            </a:ln>
          </p:spPr>
          <p:txBody>
            <a:bodyPr rtlCol="0"/>
            <a:lstStyle/>
            <a:p>
              <a:pPr algn="ctr"/>
              <a:endParaRPr lang="zh-CN" altLang="en-US" sz="1350"/>
            </a:p>
          </p:txBody>
        </p:sp>
        <p:sp>
          <p:nvSpPr>
            <p:cNvPr id="132" name="path"/>
            <p:cNvSpPr/>
            <p:nvPr/>
          </p:nvSpPr>
          <p:spPr>
            <a:xfrm>
              <a:off x="4442118" y="816335"/>
              <a:ext cx="115908" cy="117907"/>
            </a:xfrm>
            <a:custGeom>
              <a:avLst/>
              <a:gdLst/>
              <a:ahLst/>
              <a:cxnLst/>
              <a:rect l="0" t="0" r="0" b="0"/>
              <a:pathLst>
                <a:path w="182" h="185">
                  <a:moveTo>
                    <a:pt x="182" y="92"/>
                  </a:moveTo>
                  <a:lnTo>
                    <a:pt x="32" y="180"/>
                  </a:lnTo>
                  <a:lnTo>
                    <a:pt x="32" y="180"/>
                  </a:lnTo>
                  <a:cubicBezTo>
                    <a:pt x="23" y="185"/>
                    <a:pt x="11" y="182"/>
                    <a:pt x="5" y="172"/>
                  </a:cubicBezTo>
                  <a:lnTo>
                    <a:pt x="5" y="172"/>
                  </a:lnTo>
                  <a:cubicBezTo>
                    <a:pt x="0" y="163"/>
                    <a:pt x="3" y="151"/>
                    <a:pt x="12" y="145"/>
                  </a:cubicBezTo>
                  <a:lnTo>
                    <a:pt x="103" y="92"/>
                  </a:lnTo>
                  <a:lnTo>
                    <a:pt x="12" y="40"/>
                  </a:lnTo>
                  <a:lnTo>
                    <a:pt x="12" y="40"/>
                  </a:lnTo>
                  <a:cubicBezTo>
                    <a:pt x="3" y="34"/>
                    <a:pt x="0" y="22"/>
                    <a:pt x="5" y="12"/>
                  </a:cubicBezTo>
                  <a:cubicBezTo>
                    <a:pt x="5" y="12"/>
                    <a:pt x="5" y="12"/>
                    <a:pt x="5" y="12"/>
                  </a:cubicBezTo>
                  <a:lnTo>
                    <a:pt x="5" y="12"/>
                  </a:lnTo>
                  <a:cubicBezTo>
                    <a:pt x="11" y="3"/>
                    <a:pt x="23" y="0"/>
                    <a:pt x="32" y="5"/>
                  </a:cubicBezTo>
                  <a:lnTo>
                    <a:pt x="182" y="92"/>
                  </a:lnTo>
                  <a:close/>
                </a:path>
              </a:pathLst>
            </a:custGeom>
            <a:solidFill>
              <a:srgbClr val="201E1E">
                <a:alpha val="100000"/>
              </a:srgbClr>
            </a:solidFill>
            <a:ln cap="flat">
              <a:noFill/>
              <a:prstDash val="solid"/>
              <a:miter lim="0"/>
            </a:ln>
          </p:spPr>
          <p:txBody>
            <a:bodyPr rtlCol="0"/>
            <a:lstStyle/>
            <a:p>
              <a:pPr algn="ctr"/>
              <a:endParaRPr lang="zh-CN" altLang="en-US" sz="1350"/>
            </a:p>
          </p:txBody>
        </p:sp>
        <p:sp>
          <p:nvSpPr>
            <p:cNvPr id="134" name="path"/>
            <p:cNvSpPr/>
            <p:nvPr/>
          </p:nvSpPr>
          <p:spPr>
            <a:xfrm>
              <a:off x="3593090" y="614838"/>
              <a:ext cx="447311" cy="520904"/>
            </a:xfrm>
            <a:custGeom>
              <a:avLst/>
              <a:gdLst/>
              <a:ahLst/>
              <a:cxnLst/>
              <a:rect l="0" t="0" r="0" b="0"/>
              <a:pathLst>
                <a:path w="704" h="820">
                  <a:moveTo>
                    <a:pt x="0" y="10"/>
                  </a:moveTo>
                  <a:lnTo>
                    <a:pt x="704" y="10"/>
                  </a:lnTo>
                  <a:moveTo>
                    <a:pt x="0" y="810"/>
                  </a:moveTo>
                  <a:lnTo>
                    <a:pt x="704" y="810"/>
                  </a:lnTo>
                </a:path>
              </a:pathLst>
            </a:custGeom>
            <a:noFill/>
            <a:ln w="12903" cap="flat">
              <a:solidFill>
                <a:srgbClr val="201E1E">
                  <a:alpha val="100000"/>
                </a:srgbClr>
              </a:solidFill>
              <a:prstDash val="solid"/>
              <a:miter lim="800000"/>
            </a:ln>
          </p:spPr>
          <p:txBody>
            <a:bodyPr rtlCol="0"/>
            <a:lstStyle/>
            <a:p>
              <a:pPr algn="ctr"/>
              <a:endParaRPr lang="zh-CN" altLang="en-US" sz="1350"/>
            </a:p>
          </p:txBody>
        </p:sp>
      </p:grpSp>
      <p:grpSp>
        <p:nvGrpSpPr>
          <p:cNvPr id="12" name="group 12"/>
          <p:cNvGrpSpPr/>
          <p:nvPr/>
        </p:nvGrpSpPr>
        <p:grpSpPr>
          <a:xfrm rot="21600000">
            <a:off x="999882" y="961584"/>
            <a:ext cx="2834640" cy="1791398"/>
            <a:chOff x="0" y="0"/>
            <a:chExt cx="3779520" cy="2388531"/>
          </a:xfrm>
        </p:grpSpPr>
        <p:pic>
          <p:nvPicPr>
            <p:cNvPr id="136" name="picture 136"/>
            <p:cNvPicPr>
              <a:picLocks noChangeAspect="1"/>
            </p:cNvPicPr>
            <p:nvPr/>
          </p:nvPicPr>
          <p:blipFill>
            <a:blip r:embed="rId1"/>
            <a:stretch>
              <a:fillRect/>
            </a:stretch>
          </p:blipFill>
          <p:spPr>
            <a:xfrm rot="21600000">
              <a:off x="0" y="0"/>
              <a:ext cx="3395187" cy="2388531"/>
            </a:xfrm>
            <a:prstGeom prst="rect">
              <a:avLst/>
            </a:prstGeom>
          </p:spPr>
        </p:pic>
        <p:sp>
          <p:nvSpPr>
            <p:cNvPr id="138" name="textbox 138"/>
            <p:cNvSpPr/>
            <p:nvPr/>
          </p:nvSpPr>
          <p:spPr>
            <a:xfrm>
              <a:off x="85513" y="622300"/>
              <a:ext cx="3694007" cy="1737360"/>
            </a:xfrm>
            <a:prstGeom prst="rect">
              <a:avLst/>
            </a:prstGeom>
          </p:spPr>
          <p:txBody>
            <a:bodyPr vert="horz" wrap="square" lIns="0" tIns="0" rIns="0" bIns="0"/>
            <a:lstStyle/>
            <a:p>
              <a:pPr algn="l" rtl="0" eaLnBrk="0">
                <a:lnSpc>
                  <a:spcPct val="92000"/>
                </a:lnSpc>
              </a:pPr>
              <a:r>
                <a:rPr lang="zh-CN" altLang="en-US" sz="1050" dirty="0"/>
                <a:t>月</a:t>
              </a:r>
              <a:endParaRPr lang="en-US" altLang="en-US" sz="1050" dirty="0"/>
            </a:p>
            <a:p>
              <a:pPr marL="12700" indent="1052195" algn="l" rtl="0" eaLnBrk="0">
                <a:lnSpc>
                  <a:spcPct val="98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完全可分解的任务</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en-US" sz="750" dirty="0"/>
            </a:p>
            <a:p>
              <a:pPr algn="l" rtl="0" eaLnBrk="0">
                <a:lnSpc>
                  <a:spcPct val="105000"/>
                </a:lnSpc>
              </a:pPr>
              <a:endParaRPr lang="en-US" altLang="en-US" sz="750" dirty="0"/>
            </a:p>
            <a:p>
              <a:pPr algn="l" rtl="0" eaLnBrk="0">
                <a:lnSpc>
                  <a:spcPct val="105000"/>
                </a:lnSpc>
              </a:pPr>
              <a:endParaRPr lang="en-US" altLang="en-US" sz="750" dirty="0"/>
            </a:p>
            <a:p>
              <a:pPr algn="l" rtl="0" eaLnBrk="0">
                <a:lnSpc>
                  <a:spcPct val="105000"/>
                </a:lnSpc>
              </a:pPr>
              <a:endParaRPr lang="en-US" altLang="en-US" sz="750" dirty="0"/>
            </a:p>
            <a:p>
              <a:pPr algn="l" rtl="0" eaLnBrk="0">
                <a:lnSpc>
                  <a:spcPct val="105000"/>
                </a:lnSpc>
              </a:pPr>
              <a:endParaRPr lang="en-US" altLang="en-US" sz="750" dirty="0"/>
            </a:p>
            <a:p>
              <a:pPr algn="l" rtl="0" eaLnBrk="0">
                <a:lnSpc>
                  <a:spcPct val="105000"/>
                </a:lnSpc>
              </a:pPr>
              <a:endParaRPr lang="en-US" altLang="en-US" sz="750" dirty="0"/>
            </a:p>
            <a:p>
              <a:pPr algn="l" rtl="0" eaLnBrk="0">
                <a:lnSpc>
                  <a:spcPct val="118000"/>
                </a:lnSpc>
              </a:pPr>
              <a:endParaRPr lang="en-US" altLang="en-US" sz="225" dirty="0"/>
            </a:p>
            <a:p>
              <a:pPr marL="1583690" algn="l" rtl="0" eaLnBrk="0">
                <a:lnSpc>
                  <a:spcPct val="89000"/>
                </a:lnSpc>
              </a:pPr>
              <a:r>
                <a:rPr sz="10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人</a:t>
              </a:r>
              <a:endParaRPr lang="en-US" altLang="en-US" sz="1050" dirty="0"/>
            </a:p>
          </p:txBody>
        </p:sp>
      </p:grpSp>
      <p:pic>
        <p:nvPicPr>
          <p:cNvPr id="140" name="picture 140"/>
          <p:cNvPicPr>
            <a:picLocks noChangeAspect="1"/>
          </p:cNvPicPr>
          <p:nvPr/>
        </p:nvPicPr>
        <p:blipFill>
          <a:blip r:embed="rId2"/>
          <a:stretch>
            <a:fillRect/>
          </a:stretch>
        </p:blipFill>
        <p:spPr>
          <a:xfrm rot="21600000">
            <a:off x="1025279" y="2792261"/>
            <a:ext cx="2528395" cy="1764122"/>
          </a:xfrm>
          <a:prstGeom prst="rect">
            <a:avLst/>
          </a:prstGeom>
        </p:spPr>
      </p:pic>
      <p:sp>
        <p:nvSpPr>
          <p:cNvPr id="142" name="rect"/>
          <p:cNvSpPr/>
          <p:nvPr/>
        </p:nvSpPr>
        <p:spPr>
          <a:xfrm>
            <a:off x="0" y="4777964"/>
            <a:ext cx="9142961" cy="365535"/>
          </a:xfrm>
          <a:prstGeom prst="rect">
            <a:avLst/>
          </a:prstGeom>
          <a:solidFill>
            <a:srgbClr val="7A4779">
              <a:alpha val="100000"/>
            </a:srgbClr>
          </a:solidFill>
          <a:ln cap="flat">
            <a:noFill/>
            <a:prstDash val="solid"/>
            <a:miter lim="0"/>
          </a:ln>
        </p:spPr>
        <p:txBody>
          <a:bodyPr rtlCol="0"/>
          <a:lstStyle/>
          <a:p>
            <a:pPr algn="ctr"/>
            <a:endParaRPr lang="zh-CN" altLang="en-US" sz="1350"/>
          </a:p>
        </p:txBody>
      </p:sp>
      <p:grpSp>
        <p:nvGrpSpPr>
          <p:cNvPr id="16" name="group 16"/>
          <p:cNvGrpSpPr/>
          <p:nvPr/>
        </p:nvGrpSpPr>
        <p:grpSpPr>
          <a:xfrm rot="21600000">
            <a:off x="4328279" y="3617078"/>
            <a:ext cx="3614694" cy="224194"/>
            <a:chOff x="0" y="0"/>
            <a:chExt cx="4819592" cy="298925"/>
          </a:xfrm>
        </p:grpSpPr>
        <p:sp>
          <p:nvSpPr>
            <p:cNvPr id="158" name="path"/>
            <p:cNvSpPr/>
            <p:nvPr/>
          </p:nvSpPr>
          <p:spPr>
            <a:xfrm>
              <a:off x="3226" y="20158"/>
              <a:ext cx="254000" cy="254000"/>
            </a:xfrm>
            <a:custGeom>
              <a:avLst/>
              <a:gdLst/>
              <a:ahLst/>
              <a:cxnLst/>
              <a:rect l="0" t="0" r="0" b="0"/>
              <a:pathLst>
                <a:path w="400" h="400">
                  <a:moveTo>
                    <a:pt x="0" y="200"/>
                  </a:moveTo>
                  <a:cubicBezTo>
                    <a:pt x="0" y="89"/>
                    <a:pt x="89" y="0"/>
                    <a:pt x="200" y="0"/>
                  </a:cubicBezTo>
                  <a:cubicBezTo>
                    <a:pt x="310" y="0"/>
                    <a:pt x="400" y="89"/>
                    <a:pt x="400" y="200"/>
                  </a:cubicBezTo>
                  <a:cubicBezTo>
                    <a:pt x="400" y="310"/>
                    <a:pt x="310" y="400"/>
                    <a:pt x="200" y="400"/>
                  </a:cubicBezTo>
                  <a:cubicBezTo>
                    <a:pt x="89" y="400"/>
                    <a:pt x="0" y="310"/>
                    <a:pt x="0" y="200"/>
                  </a:cubicBezTo>
                </a:path>
              </a:pathLst>
            </a:custGeom>
            <a:solidFill>
              <a:srgbClr val="D9D6D6">
                <a:alpha val="100000"/>
              </a:srgbClr>
            </a:solidFill>
            <a:ln cap="flat">
              <a:noFill/>
              <a:prstDash val="solid"/>
              <a:miter lim="0"/>
            </a:ln>
          </p:spPr>
          <p:txBody>
            <a:bodyPr rtlCol="0"/>
            <a:lstStyle/>
            <a:p>
              <a:pPr algn="ctr"/>
              <a:endParaRPr lang="zh-CN" altLang="en-US" sz="1350"/>
            </a:p>
          </p:txBody>
        </p:sp>
        <p:sp>
          <p:nvSpPr>
            <p:cNvPr id="160" name="path"/>
            <p:cNvSpPr/>
            <p:nvPr/>
          </p:nvSpPr>
          <p:spPr>
            <a:xfrm>
              <a:off x="0" y="16932"/>
              <a:ext cx="264515" cy="264515"/>
            </a:xfrm>
            <a:custGeom>
              <a:avLst/>
              <a:gdLst/>
              <a:ahLst/>
              <a:cxnLst/>
              <a:rect l="0" t="0" r="0" b="0"/>
              <a:pathLst>
                <a:path w="416" h="416">
                  <a:moveTo>
                    <a:pt x="5" y="208"/>
                  </a:moveTo>
                  <a:cubicBezTo>
                    <a:pt x="5" y="96"/>
                    <a:pt x="96" y="5"/>
                    <a:pt x="208" y="5"/>
                  </a:cubicBezTo>
                  <a:cubicBezTo>
                    <a:pt x="320" y="5"/>
                    <a:pt x="411" y="96"/>
                    <a:pt x="411" y="208"/>
                  </a:cubicBezTo>
                  <a:cubicBezTo>
                    <a:pt x="411" y="320"/>
                    <a:pt x="320" y="411"/>
                    <a:pt x="208" y="411"/>
                  </a:cubicBezTo>
                  <a:cubicBezTo>
                    <a:pt x="96" y="411"/>
                    <a:pt x="5" y="320"/>
                    <a:pt x="5" y="208"/>
                  </a:cubicBezTo>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162" name="path"/>
            <p:cNvSpPr/>
            <p:nvPr/>
          </p:nvSpPr>
          <p:spPr>
            <a:xfrm>
              <a:off x="4558302" y="20158"/>
              <a:ext cx="254000" cy="254000"/>
            </a:xfrm>
            <a:custGeom>
              <a:avLst/>
              <a:gdLst/>
              <a:ahLst/>
              <a:cxnLst/>
              <a:rect l="0" t="0" r="0" b="0"/>
              <a:pathLst>
                <a:path w="400" h="400">
                  <a:moveTo>
                    <a:pt x="0" y="200"/>
                  </a:moveTo>
                  <a:cubicBezTo>
                    <a:pt x="0" y="89"/>
                    <a:pt x="89" y="0"/>
                    <a:pt x="200" y="0"/>
                  </a:cubicBezTo>
                  <a:cubicBezTo>
                    <a:pt x="310" y="0"/>
                    <a:pt x="400" y="89"/>
                    <a:pt x="400" y="200"/>
                  </a:cubicBezTo>
                  <a:cubicBezTo>
                    <a:pt x="400" y="310"/>
                    <a:pt x="310" y="400"/>
                    <a:pt x="200" y="400"/>
                  </a:cubicBezTo>
                  <a:cubicBezTo>
                    <a:pt x="89" y="400"/>
                    <a:pt x="0" y="310"/>
                    <a:pt x="0" y="200"/>
                  </a:cubicBezTo>
                </a:path>
              </a:pathLst>
            </a:custGeom>
            <a:solidFill>
              <a:srgbClr val="D81E00">
                <a:alpha val="100000"/>
              </a:srgbClr>
            </a:solidFill>
            <a:ln cap="flat">
              <a:noFill/>
              <a:prstDash val="solid"/>
              <a:miter lim="0"/>
            </a:ln>
          </p:spPr>
          <p:txBody>
            <a:bodyPr rtlCol="0"/>
            <a:lstStyle/>
            <a:p>
              <a:pPr algn="ctr"/>
              <a:endParaRPr lang="zh-CN" altLang="en-US" sz="1350"/>
            </a:p>
          </p:txBody>
        </p:sp>
        <p:sp>
          <p:nvSpPr>
            <p:cNvPr id="164" name="path"/>
            <p:cNvSpPr/>
            <p:nvPr/>
          </p:nvSpPr>
          <p:spPr>
            <a:xfrm>
              <a:off x="4555077" y="16932"/>
              <a:ext cx="264515" cy="264515"/>
            </a:xfrm>
            <a:custGeom>
              <a:avLst/>
              <a:gdLst/>
              <a:ahLst/>
              <a:cxnLst/>
              <a:rect l="0" t="0" r="0" b="0"/>
              <a:pathLst>
                <a:path w="416" h="416">
                  <a:moveTo>
                    <a:pt x="5" y="208"/>
                  </a:moveTo>
                  <a:cubicBezTo>
                    <a:pt x="5" y="96"/>
                    <a:pt x="96" y="5"/>
                    <a:pt x="208" y="5"/>
                  </a:cubicBezTo>
                  <a:cubicBezTo>
                    <a:pt x="320" y="5"/>
                    <a:pt x="411" y="96"/>
                    <a:pt x="411" y="208"/>
                  </a:cubicBezTo>
                  <a:cubicBezTo>
                    <a:pt x="411" y="320"/>
                    <a:pt x="320" y="411"/>
                    <a:pt x="208" y="411"/>
                  </a:cubicBezTo>
                  <a:cubicBezTo>
                    <a:pt x="96" y="411"/>
                    <a:pt x="5" y="320"/>
                    <a:pt x="5" y="208"/>
                  </a:cubicBezTo>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166" name="path"/>
            <p:cNvSpPr/>
            <p:nvPr/>
          </p:nvSpPr>
          <p:spPr>
            <a:xfrm>
              <a:off x="680560" y="3225"/>
              <a:ext cx="931334" cy="287866"/>
            </a:xfrm>
            <a:custGeom>
              <a:avLst/>
              <a:gdLst/>
              <a:ahLst/>
              <a:cxnLst/>
              <a:rect l="0" t="0" r="0" b="0"/>
              <a:pathLst>
                <a:path w="1466" h="453">
                  <a:moveTo>
                    <a:pt x="0" y="0"/>
                  </a:moveTo>
                  <a:lnTo>
                    <a:pt x="1466" y="0"/>
                  </a:lnTo>
                  <a:lnTo>
                    <a:pt x="1466" y="453"/>
                  </a:lnTo>
                  <a:lnTo>
                    <a:pt x="0" y="453"/>
                  </a:lnTo>
                  <a:lnTo>
                    <a:pt x="0" y="0"/>
                  </a:lnTo>
                  <a:close/>
                </a:path>
              </a:pathLst>
            </a:custGeom>
            <a:solidFill>
              <a:srgbClr val="FFD6D5">
                <a:alpha val="100000"/>
              </a:srgbClr>
            </a:solidFill>
            <a:ln cap="flat">
              <a:noFill/>
              <a:prstDash val="solid"/>
              <a:miter lim="0"/>
            </a:ln>
          </p:spPr>
          <p:txBody>
            <a:bodyPr rtlCol="0"/>
            <a:lstStyle/>
            <a:p>
              <a:pPr algn="ctr"/>
              <a:endParaRPr lang="zh-CN" altLang="en-US" sz="1350"/>
            </a:p>
          </p:txBody>
        </p:sp>
        <p:sp>
          <p:nvSpPr>
            <p:cNvPr id="168" name="path"/>
            <p:cNvSpPr/>
            <p:nvPr/>
          </p:nvSpPr>
          <p:spPr>
            <a:xfrm>
              <a:off x="677334" y="0"/>
              <a:ext cx="952687" cy="298925"/>
            </a:xfrm>
            <a:custGeom>
              <a:avLst/>
              <a:gdLst/>
              <a:ahLst/>
              <a:cxnLst/>
              <a:rect l="0" t="0" r="0" b="0"/>
              <a:pathLst>
                <a:path w="1500" h="470">
                  <a:moveTo>
                    <a:pt x="5" y="5"/>
                  </a:moveTo>
                  <a:lnTo>
                    <a:pt x="1495" y="5"/>
                  </a:lnTo>
                  <a:lnTo>
                    <a:pt x="1495" y="465"/>
                  </a:lnTo>
                  <a:lnTo>
                    <a:pt x="5" y="465"/>
                  </a:lnTo>
                  <a:lnTo>
                    <a:pt x="5" y="5"/>
                  </a:lnTo>
                  <a:close/>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170" name="path"/>
            <p:cNvSpPr/>
            <p:nvPr/>
          </p:nvSpPr>
          <p:spPr>
            <a:xfrm>
              <a:off x="1967490" y="3225"/>
              <a:ext cx="931332" cy="287866"/>
            </a:xfrm>
            <a:custGeom>
              <a:avLst/>
              <a:gdLst/>
              <a:ahLst/>
              <a:cxnLst/>
              <a:rect l="0" t="0" r="0" b="0"/>
              <a:pathLst>
                <a:path w="1466" h="453">
                  <a:moveTo>
                    <a:pt x="0" y="0"/>
                  </a:moveTo>
                  <a:lnTo>
                    <a:pt x="1466" y="0"/>
                  </a:lnTo>
                  <a:lnTo>
                    <a:pt x="1466" y="453"/>
                  </a:lnTo>
                  <a:lnTo>
                    <a:pt x="0" y="453"/>
                  </a:lnTo>
                  <a:lnTo>
                    <a:pt x="0" y="0"/>
                  </a:lnTo>
                  <a:close/>
                </a:path>
              </a:pathLst>
            </a:custGeom>
            <a:solidFill>
              <a:srgbClr val="FFD6D5">
                <a:alpha val="100000"/>
              </a:srgbClr>
            </a:solidFill>
            <a:ln cap="flat">
              <a:noFill/>
              <a:prstDash val="solid"/>
              <a:miter lim="0"/>
            </a:ln>
          </p:spPr>
          <p:txBody>
            <a:bodyPr rtlCol="0"/>
            <a:lstStyle/>
            <a:p>
              <a:pPr algn="ctr"/>
              <a:endParaRPr lang="zh-CN" altLang="en-US" sz="1350"/>
            </a:p>
          </p:txBody>
        </p:sp>
        <p:sp>
          <p:nvSpPr>
            <p:cNvPr id="172" name="path"/>
            <p:cNvSpPr/>
            <p:nvPr/>
          </p:nvSpPr>
          <p:spPr>
            <a:xfrm>
              <a:off x="1964264" y="0"/>
              <a:ext cx="952686" cy="298925"/>
            </a:xfrm>
            <a:custGeom>
              <a:avLst/>
              <a:gdLst/>
              <a:ahLst/>
              <a:cxnLst/>
              <a:rect l="0" t="0" r="0" b="0"/>
              <a:pathLst>
                <a:path w="1500" h="470">
                  <a:moveTo>
                    <a:pt x="5" y="5"/>
                  </a:moveTo>
                  <a:lnTo>
                    <a:pt x="1495" y="5"/>
                  </a:lnTo>
                  <a:lnTo>
                    <a:pt x="1495" y="465"/>
                  </a:lnTo>
                  <a:lnTo>
                    <a:pt x="5" y="465"/>
                  </a:lnTo>
                  <a:lnTo>
                    <a:pt x="5" y="5"/>
                  </a:lnTo>
                  <a:close/>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174" name="path"/>
            <p:cNvSpPr/>
            <p:nvPr/>
          </p:nvSpPr>
          <p:spPr>
            <a:xfrm>
              <a:off x="3220555" y="3225"/>
              <a:ext cx="931333" cy="287866"/>
            </a:xfrm>
            <a:custGeom>
              <a:avLst/>
              <a:gdLst/>
              <a:ahLst/>
              <a:cxnLst/>
              <a:rect l="0" t="0" r="0" b="0"/>
              <a:pathLst>
                <a:path w="1466" h="453">
                  <a:moveTo>
                    <a:pt x="0" y="0"/>
                  </a:moveTo>
                  <a:lnTo>
                    <a:pt x="1466" y="0"/>
                  </a:lnTo>
                  <a:lnTo>
                    <a:pt x="1466" y="453"/>
                  </a:lnTo>
                  <a:lnTo>
                    <a:pt x="0" y="453"/>
                  </a:lnTo>
                  <a:lnTo>
                    <a:pt x="0" y="0"/>
                  </a:lnTo>
                  <a:close/>
                </a:path>
              </a:pathLst>
            </a:custGeom>
            <a:solidFill>
              <a:srgbClr val="FFD6D5">
                <a:alpha val="100000"/>
              </a:srgbClr>
            </a:solidFill>
            <a:ln cap="flat">
              <a:noFill/>
              <a:prstDash val="solid"/>
              <a:miter lim="0"/>
            </a:ln>
          </p:spPr>
          <p:txBody>
            <a:bodyPr rtlCol="0"/>
            <a:lstStyle/>
            <a:p>
              <a:pPr algn="ctr"/>
              <a:endParaRPr lang="zh-CN" altLang="en-US" sz="1350"/>
            </a:p>
          </p:txBody>
        </p:sp>
        <p:sp>
          <p:nvSpPr>
            <p:cNvPr id="176" name="path"/>
            <p:cNvSpPr/>
            <p:nvPr/>
          </p:nvSpPr>
          <p:spPr>
            <a:xfrm>
              <a:off x="3217329" y="0"/>
              <a:ext cx="952686" cy="298925"/>
            </a:xfrm>
            <a:custGeom>
              <a:avLst/>
              <a:gdLst/>
              <a:ahLst/>
              <a:cxnLst/>
              <a:rect l="0" t="0" r="0" b="0"/>
              <a:pathLst>
                <a:path w="1500" h="470">
                  <a:moveTo>
                    <a:pt x="5" y="5"/>
                  </a:moveTo>
                  <a:lnTo>
                    <a:pt x="1495" y="5"/>
                  </a:lnTo>
                  <a:lnTo>
                    <a:pt x="1495" y="465"/>
                  </a:lnTo>
                  <a:lnTo>
                    <a:pt x="5" y="465"/>
                  </a:lnTo>
                  <a:lnTo>
                    <a:pt x="5" y="5"/>
                  </a:lnTo>
                  <a:close/>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178" name="path"/>
            <p:cNvSpPr/>
            <p:nvPr/>
          </p:nvSpPr>
          <p:spPr>
            <a:xfrm>
              <a:off x="257225" y="140707"/>
              <a:ext cx="404229" cy="12903"/>
            </a:xfrm>
            <a:custGeom>
              <a:avLst/>
              <a:gdLst/>
              <a:ahLst/>
              <a:cxnLst/>
              <a:rect l="0" t="0" r="0" b="0"/>
              <a:pathLst>
                <a:path w="636" h="20">
                  <a:moveTo>
                    <a:pt x="0" y="10"/>
                  </a:moveTo>
                  <a:lnTo>
                    <a:pt x="636" y="10"/>
                  </a:lnTo>
                </a:path>
              </a:pathLst>
            </a:custGeom>
            <a:noFill/>
            <a:ln w="12903" cap="flat">
              <a:solidFill>
                <a:srgbClr val="201E1E">
                  <a:alpha val="100000"/>
                </a:srgbClr>
              </a:solidFill>
              <a:prstDash val="solid"/>
              <a:miter lim="800000"/>
            </a:ln>
          </p:spPr>
          <p:txBody>
            <a:bodyPr rtlCol="0"/>
            <a:lstStyle/>
            <a:p>
              <a:pPr algn="ctr"/>
              <a:endParaRPr lang="zh-CN" altLang="en-US" sz="1350"/>
            </a:p>
          </p:txBody>
        </p:sp>
        <p:sp>
          <p:nvSpPr>
            <p:cNvPr id="180" name="path"/>
            <p:cNvSpPr/>
            <p:nvPr/>
          </p:nvSpPr>
          <p:spPr>
            <a:xfrm>
              <a:off x="564385" y="88203"/>
              <a:ext cx="115909" cy="117909"/>
            </a:xfrm>
            <a:custGeom>
              <a:avLst/>
              <a:gdLst/>
              <a:ahLst/>
              <a:cxnLst/>
              <a:rect l="0" t="0" r="0" b="0"/>
              <a:pathLst>
                <a:path w="182" h="185">
                  <a:moveTo>
                    <a:pt x="182" y="92"/>
                  </a:moveTo>
                  <a:lnTo>
                    <a:pt x="32" y="180"/>
                  </a:lnTo>
                  <a:lnTo>
                    <a:pt x="32" y="180"/>
                  </a:lnTo>
                  <a:cubicBezTo>
                    <a:pt x="23" y="185"/>
                    <a:pt x="11" y="182"/>
                    <a:pt x="5" y="172"/>
                  </a:cubicBezTo>
                  <a:lnTo>
                    <a:pt x="5" y="172"/>
                  </a:lnTo>
                  <a:cubicBezTo>
                    <a:pt x="0" y="163"/>
                    <a:pt x="3" y="151"/>
                    <a:pt x="12" y="145"/>
                  </a:cubicBezTo>
                  <a:lnTo>
                    <a:pt x="103" y="92"/>
                  </a:lnTo>
                  <a:lnTo>
                    <a:pt x="12" y="40"/>
                  </a:lnTo>
                  <a:lnTo>
                    <a:pt x="12" y="40"/>
                  </a:lnTo>
                  <a:cubicBezTo>
                    <a:pt x="3" y="34"/>
                    <a:pt x="0" y="22"/>
                    <a:pt x="5" y="12"/>
                  </a:cubicBezTo>
                  <a:cubicBezTo>
                    <a:pt x="5" y="12"/>
                    <a:pt x="5" y="12"/>
                    <a:pt x="5" y="12"/>
                  </a:cubicBezTo>
                  <a:lnTo>
                    <a:pt x="5" y="12"/>
                  </a:lnTo>
                  <a:cubicBezTo>
                    <a:pt x="11" y="3"/>
                    <a:pt x="23" y="0"/>
                    <a:pt x="32" y="5"/>
                  </a:cubicBezTo>
                  <a:lnTo>
                    <a:pt x="182" y="92"/>
                  </a:lnTo>
                  <a:close/>
                </a:path>
              </a:pathLst>
            </a:custGeom>
            <a:solidFill>
              <a:srgbClr val="201E1E">
                <a:alpha val="100000"/>
              </a:srgbClr>
            </a:solidFill>
            <a:ln cap="flat">
              <a:noFill/>
              <a:prstDash val="solid"/>
              <a:miter lim="0"/>
            </a:ln>
          </p:spPr>
          <p:txBody>
            <a:bodyPr rtlCol="0"/>
            <a:lstStyle/>
            <a:p>
              <a:pPr algn="ctr"/>
              <a:endParaRPr lang="zh-CN" altLang="en-US" sz="1350"/>
            </a:p>
          </p:txBody>
        </p:sp>
        <p:sp>
          <p:nvSpPr>
            <p:cNvPr id="182" name="path"/>
            <p:cNvSpPr/>
            <p:nvPr/>
          </p:nvSpPr>
          <p:spPr>
            <a:xfrm>
              <a:off x="1611894" y="140708"/>
              <a:ext cx="335681" cy="12903"/>
            </a:xfrm>
            <a:custGeom>
              <a:avLst/>
              <a:gdLst/>
              <a:ahLst/>
              <a:cxnLst/>
              <a:rect l="0" t="0" r="0" b="0"/>
              <a:pathLst>
                <a:path w="528" h="20">
                  <a:moveTo>
                    <a:pt x="0" y="10"/>
                  </a:moveTo>
                  <a:lnTo>
                    <a:pt x="528" y="10"/>
                  </a:lnTo>
                </a:path>
              </a:pathLst>
            </a:custGeom>
            <a:noFill/>
            <a:ln w="12903" cap="flat">
              <a:solidFill>
                <a:srgbClr val="201E1E">
                  <a:alpha val="100000"/>
                </a:srgbClr>
              </a:solidFill>
              <a:prstDash val="solid"/>
              <a:miter lim="800000"/>
            </a:ln>
          </p:spPr>
          <p:txBody>
            <a:bodyPr rtlCol="0"/>
            <a:lstStyle/>
            <a:p>
              <a:pPr algn="ctr"/>
              <a:endParaRPr lang="zh-CN" altLang="en-US" sz="1350"/>
            </a:p>
          </p:txBody>
        </p:sp>
        <p:sp>
          <p:nvSpPr>
            <p:cNvPr id="184" name="path"/>
            <p:cNvSpPr/>
            <p:nvPr/>
          </p:nvSpPr>
          <p:spPr>
            <a:xfrm>
              <a:off x="1851586" y="88205"/>
              <a:ext cx="115908" cy="117908"/>
            </a:xfrm>
            <a:custGeom>
              <a:avLst/>
              <a:gdLst/>
              <a:ahLst/>
              <a:cxnLst/>
              <a:rect l="0" t="0" r="0" b="0"/>
              <a:pathLst>
                <a:path w="182" h="185">
                  <a:moveTo>
                    <a:pt x="182" y="92"/>
                  </a:moveTo>
                  <a:lnTo>
                    <a:pt x="32" y="180"/>
                  </a:lnTo>
                  <a:lnTo>
                    <a:pt x="32" y="180"/>
                  </a:lnTo>
                  <a:cubicBezTo>
                    <a:pt x="23" y="185"/>
                    <a:pt x="11" y="182"/>
                    <a:pt x="5" y="172"/>
                  </a:cubicBezTo>
                  <a:lnTo>
                    <a:pt x="5" y="172"/>
                  </a:lnTo>
                  <a:cubicBezTo>
                    <a:pt x="0" y="163"/>
                    <a:pt x="3" y="151"/>
                    <a:pt x="12" y="145"/>
                  </a:cubicBezTo>
                  <a:lnTo>
                    <a:pt x="103" y="92"/>
                  </a:lnTo>
                  <a:lnTo>
                    <a:pt x="12" y="40"/>
                  </a:lnTo>
                  <a:lnTo>
                    <a:pt x="12" y="40"/>
                  </a:lnTo>
                  <a:cubicBezTo>
                    <a:pt x="3" y="34"/>
                    <a:pt x="0" y="22"/>
                    <a:pt x="5" y="12"/>
                  </a:cubicBezTo>
                  <a:cubicBezTo>
                    <a:pt x="5" y="12"/>
                    <a:pt x="5" y="12"/>
                    <a:pt x="5" y="12"/>
                  </a:cubicBezTo>
                  <a:lnTo>
                    <a:pt x="5" y="12"/>
                  </a:lnTo>
                  <a:cubicBezTo>
                    <a:pt x="11" y="3"/>
                    <a:pt x="23" y="0"/>
                    <a:pt x="32" y="5"/>
                  </a:cubicBezTo>
                  <a:lnTo>
                    <a:pt x="182" y="92"/>
                  </a:lnTo>
                  <a:close/>
                </a:path>
              </a:pathLst>
            </a:custGeom>
            <a:solidFill>
              <a:srgbClr val="201E1E">
                <a:alpha val="100000"/>
              </a:srgbClr>
            </a:solidFill>
            <a:ln cap="flat">
              <a:noFill/>
              <a:prstDash val="solid"/>
              <a:miter lim="0"/>
            </a:ln>
          </p:spPr>
          <p:txBody>
            <a:bodyPr rtlCol="0"/>
            <a:lstStyle/>
            <a:p>
              <a:pPr algn="ctr"/>
              <a:endParaRPr lang="zh-CN" altLang="en-US" sz="1350"/>
            </a:p>
          </p:txBody>
        </p:sp>
        <p:sp>
          <p:nvSpPr>
            <p:cNvPr id="186" name="path"/>
            <p:cNvSpPr/>
            <p:nvPr/>
          </p:nvSpPr>
          <p:spPr>
            <a:xfrm>
              <a:off x="2898823" y="140708"/>
              <a:ext cx="301004" cy="12903"/>
            </a:xfrm>
            <a:custGeom>
              <a:avLst/>
              <a:gdLst/>
              <a:ahLst/>
              <a:cxnLst/>
              <a:rect l="0" t="0" r="0" b="0"/>
              <a:pathLst>
                <a:path w="474" h="20">
                  <a:moveTo>
                    <a:pt x="0" y="10"/>
                  </a:moveTo>
                  <a:lnTo>
                    <a:pt x="474" y="10"/>
                  </a:lnTo>
                </a:path>
              </a:pathLst>
            </a:custGeom>
            <a:noFill/>
            <a:ln w="12903" cap="flat">
              <a:solidFill>
                <a:srgbClr val="201E1E">
                  <a:alpha val="100000"/>
                </a:srgbClr>
              </a:solidFill>
              <a:prstDash val="solid"/>
              <a:miter lim="800000"/>
            </a:ln>
          </p:spPr>
          <p:txBody>
            <a:bodyPr rtlCol="0"/>
            <a:lstStyle/>
            <a:p>
              <a:pPr algn="ctr"/>
              <a:endParaRPr lang="zh-CN" altLang="en-US" sz="1350"/>
            </a:p>
          </p:txBody>
        </p:sp>
        <p:sp>
          <p:nvSpPr>
            <p:cNvPr id="188" name="path"/>
            <p:cNvSpPr/>
            <p:nvPr/>
          </p:nvSpPr>
          <p:spPr>
            <a:xfrm>
              <a:off x="3104384" y="88205"/>
              <a:ext cx="115908" cy="117908"/>
            </a:xfrm>
            <a:custGeom>
              <a:avLst/>
              <a:gdLst/>
              <a:ahLst/>
              <a:cxnLst/>
              <a:rect l="0" t="0" r="0" b="0"/>
              <a:pathLst>
                <a:path w="182" h="185">
                  <a:moveTo>
                    <a:pt x="182" y="92"/>
                  </a:moveTo>
                  <a:lnTo>
                    <a:pt x="32" y="180"/>
                  </a:lnTo>
                  <a:lnTo>
                    <a:pt x="32" y="180"/>
                  </a:lnTo>
                  <a:cubicBezTo>
                    <a:pt x="23" y="185"/>
                    <a:pt x="11" y="182"/>
                    <a:pt x="5" y="172"/>
                  </a:cubicBezTo>
                  <a:lnTo>
                    <a:pt x="5" y="172"/>
                  </a:lnTo>
                  <a:cubicBezTo>
                    <a:pt x="0" y="163"/>
                    <a:pt x="3" y="151"/>
                    <a:pt x="12" y="145"/>
                  </a:cubicBezTo>
                  <a:lnTo>
                    <a:pt x="103" y="92"/>
                  </a:lnTo>
                  <a:lnTo>
                    <a:pt x="12" y="40"/>
                  </a:lnTo>
                  <a:lnTo>
                    <a:pt x="12" y="40"/>
                  </a:lnTo>
                  <a:cubicBezTo>
                    <a:pt x="3" y="34"/>
                    <a:pt x="0" y="22"/>
                    <a:pt x="5" y="12"/>
                  </a:cubicBezTo>
                  <a:cubicBezTo>
                    <a:pt x="5" y="12"/>
                    <a:pt x="5" y="12"/>
                    <a:pt x="5" y="12"/>
                  </a:cubicBezTo>
                  <a:lnTo>
                    <a:pt x="5" y="12"/>
                  </a:lnTo>
                  <a:cubicBezTo>
                    <a:pt x="11" y="3"/>
                    <a:pt x="23" y="0"/>
                    <a:pt x="32" y="5"/>
                  </a:cubicBezTo>
                  <a:lnTo>
                    <a:pt x="182" y="92"/>
                  </a:lnTo>
                  <a:close/>
                </a:path>
              </a:pathLst>
            </a:custGeom>
            <a:solidFill>
              <a:srgbClr val="201E1E">
                <a:alpha val="100000"/>
              </a:srgbClr>
            </a:solidFill>
            <a:ln cap="flat">
              <a:noFill/>
              <a:prstDash val="solid"/>
              <a:miter lim="0"/>
            </a:ln>
          </p:spPr>
          <p:txBody>
            <a:bodyPr rtlCol="0"/>
            <a:lstStyle/>
            <a:p>
              <a:pPr algn="ctr"/>
              <a:endParaRPr lang="zh-CN" altLang="en-US" sz="1350"/>
            </a:p>
          </p:txBody>
        </p:sp>
        <p:sp>
          <p:nvSpPr>
            <p:cNvPr id="190" name="path"/>
            <p:cNvSpPr/>
            <p:nvPr/>
          </p:nvSpPr>
          <p:spPr>
            <a:xfrm>
              <a:off x="4151888" y="140708"/>
              <a:ext cx="387294" cy="12903"/>
            </a:xfrm>
            <a:custGeom>
              <a:avLst/>
              <a:gdLst/>
              <a:ahLst/>
              <a:cxnLst/>
              <a:rect l="0" t="0" r="0" b="0"/>
              <a:pathLst>
                <a:path w="609" h="20">
                  <a:moveTo>
                    <a:pt x="0" y="10"/>
                  </a:moveTo>
                  <a:lnTo>
                    <a:pt x="609" y="10"/>
                  </a:lnTo>
                </a:path>
              </a:pathLst>
            </a:custGeom>
            <a:noFill/>
            <a:ln w="12903" cap="flat">
              <a:solidFill>
                <a:srgbClr val="201E1E">
                  <a:alpha val="100000"/>
                </a:srgbClr>
              </a:solidFill>
              <a:prstDash val="solid"/>
              <a:miter lim="800000"/>
            </a:ln>
          </p:spPr>
          <p:txBody>
            <a:bodyPr rtlCol="0"/>
            <a:lstStyle/>
            <a:p>
              <a:pPr algn="ctr"/>
              <a:endParaRPr lang="zh-CN" altLang="en-US" sz="1350"/>
            </a:p>
          </p:txBody>
        </p:sp>
        <p:sp>
          <p:nvSpPr>
            <p:cNvPr id="192" name="path"/>
            <p:cNvSpPr/>
            <p:nvPr/>
          </p:nvSpPr>
          <p:spPr>
            <a:xfrm>
              <a:off x="4442380" y="88205"/>
              <a:ext cx="115908" cy="117908"/>
            </a:xfrm>
            <a:custGeom>
              <a:avLst/>
              <a:gdLst/>
              <a:ahLst/>
              <a:cxnLst/>
              <a:rect l="0" t="0" r="0" b="0"/>
              <a:pathLst>
                <a:path w="182" h="185">
                  <a:moveTo>
                    <a:pt x="182" y="92"/>
                  </a:moveTo>
                  <a:lnTo>
                    <a:pt x="32" y="5"/>
                  </a:lnTo>
                  <a:lnTo>
                    <a:pt x="32" y="5"/>
                  </a:lnTo>
                  <a:cubicBezTo>
                    <a:pt x="23" y="0"/>
                    <a:pt x="11" y="3"/>
                    <a:pt x="5" y="12"/>
                  </a:cubicBezTo>
                  <a:lnTo>
                    <a:pt x="5" y="12"/>
                  </a:lnTo>
                  <a:cubicBezTo>
                    <a:pt x="0" y="22"/>
                    <a:pt x="3" y="34"/>
                    <a:pt x="12" y="40"/>
                  </a:cubicBezTo>
                  <a:lnTo>
                    <a:pt x="103" y="92"/>
                  </a:lnTo>
                  <a:lnTo>
                    <a:pt x="12" y="145"/>
                  </a:lnTo>
                  <a:lnTo>
                    <a:pt x="12" y="145"/>
                  </a:lnTo>
                  <a:cubicBezTo>
                    <a:pt x="3" y="151"/>
                    <a:pt x="0" y="163"/>
                    <a:pt x="5" y="172"/>
                  </a:cubicBezTo>
                  <a:cubicBezTo>
                    <a:pt x="5" y="172"/>
                    <a:pt x="5" y="172"/>
                    <a:pt x="5" y="172"/>
                  </a:cubicBezTo>
                  <a:lnTo>
                    <a:pt x="5" y="172"/>
                  </a:lnTo>
                  <a:cubicBezTo>
                    <a:pt x="11" y="182"/>
                    <a:pt x="23" y="185"/>
                    <a:pt x="32" y="180"/>
                  </a:cubicBezTo>
                  <a:lnTo>
                    <a:pt x="182" y="92"/>
                  </a:lnTo>
                  <a:close/>
                </a:path>
              </a:pathLst>
            </a:custGeom>
            <a:solidFill>
              <a:srgbClr val="201E1E">
                <a:alpha val="100000"/>
              </a:srgbClr>
            </a:solidFill>
            <a:ln cap="flat">
              <a:noFill/>
              <a:prstDash val="solid"/>
              <a:miter lim="0"/>
            </a:ln>
          </p:spPr>
          <p:txBody>
            <a:bodyPr rtlCol="0"/>
            <a:lstStyle/>
            <a:p>
              <a:pPr algn="ctr"/>
              <a:endParaRPr lang="zh-CN" altLang="en-US" sz="1350"/>
            </a:p>
          </p:txBody>
        </p:sp>
      </p:grpSp>
      <p:sp>
        <p:nvSpPr>
          <p:cNvPr id="196" name="textbox 196"/>
          <p:cNvSpPr/>
          <p:nvPr/>
        </p:nvSpPr>
        <p:spPr>
          <a:xfrm>
            <a:off x="2072076" y="3484163"/>
            <a:ext cx="1349216" cy="227647"/>
          </a:xfrm>
          <a:prstGeom prst="rect">
            <a:avLst/>
          </a:prstGeom>
        </p:spPr>
        <p:txBody>
          <a:bodyPr vert="horz" wrap="square" lIns="0" tIns="0" rIns="0" bIns="0"/>
          <a:lstStyle/>
          <a:p>
            <a:pPr algn="l" rtl="0" eaLnBrk="0">
              <a:lnSpc>
                <a:spcPct val="87000"/>
              </a:lnSpc>
            </a:pPr>
            <a:endParaRPr lang="en-US" altLang="en-US" sz="100" dirty="0"/>
          </a:p>
          <a:p>
            <a:pPr marL="12700" algn="l" rtl="0" eaLnBrk="0">
              <a:lnSpc>
                <a:spcPct val="91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无法分解的任务</a:t>
            </a:r>
            <a:endParaRPr lang="en-US" altLang="en-US" sz="1500" dirty="0"/>
          </a:p>
        </p:txBody>
      </p:sp>
      <p:pic>
        <p:nvPicPr>
          <p:cNvPr id="198" name="picture 198"/>
          <p:cNvPicPr>
            <a:picLocks noChangeAspect="1"/>
          </p:cNvPicPr>
          <p:nvPr/>
        </p:nvPicPr>
        <p:blipFill>
          <a:blip r:embed="rId3"/>
          <a:stretch>
            <a:fillRect/>
          </a:stretch>
        </p:blipFill>
        <p:spPr>
          <a:xfrm rot="21600000">
            <a:off x="0" y="4773125"/>
            <a:ext cx="9142961" cy="9677"/>
          </a:xfrm>
          <a:prstGeom prst="rect">
            <a:avLst/>
          </a:prstGeom>
        </p:spPr>
      </p:pic>
      <p:sp>
        <p:nvSpPr>
          <p:cNvPr id="200" name="textbox 200"/>
          <p:cNvSpPr/>
          <p:nvPr/>
        </p:nvSpPr>
        <p:spPr>
          <a:xfrm>
            <a:off x="2369171" y="4373251"/>
            <a:ext cx="150495" cy="161449"/>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ct val="89000"/>
              </a:lnSpc>
            </a:pPr>
            <a:r>
              <a:rPr sz="10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人</a:t>
            </a:r>
            <a:endParaRPr lang="en-US" altLang="en-US" sz="1050" dirty="0"/>
          </a:p>
        </p:txBody>
      </p:sp>
      <p:sp>
        <p:nvSpPr>
          <p:cNvPr id="202" name="textbox 202"/>
          <p:cNvSpPr/>
          <p:nvPr/>
        </p:nvSpPr>
        <p:spPr>
          <a:xfrm>
            <a:off x="1089135" y="3513119"/>
            <a:ext cx="147638" cy="158115"/>
          </a:xfrm>
          <a:prstGeom prst="rect">
            <a:avLst/>
          </a:prstGeom>
        </p:spPr>
        <p:txBody>
          <a:bodyPr vert="horz" wrap="square" lIns="0" tIns="0" rIns="0" bIns="0"/>
          <a:lstStyle/>
          <a:p>
            <a:pPr algn="l" rtl="0" eaLnBrk="0">
              <a:lnSpc>
                <a:spcPct val="80000"/>
              </a:lnSpc>
            </a:pPr>
            <a:endParaRPr lang="en-US" altLang="en-US" sz="100" dirty="0"/>
          </a:p>
          <a:p>
            <a:pPr marL="12700" algn="l" rtl="0" eaLnBrk="0">
              <a:lnSpc>
                <a:spcPct val="87000"/>
              </a:lnSpc>
            </a:pPr>
            <a:r>
              <a:rPr sz="10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en-US" sz="1050" dirty="0"/>
          </a:p>
        </p:txBody>
      </p:sp>
      <p:sp>
        <p:nvSpPr>
          <p:cNvPr id="2" name="标题 1"/>
          <p:cNvSpPr>
            <a:spLocks noGrp="1"/>
          </p:cNvSpPr>
          <p:nvPr>
            <p:ph type="title"/>
          </p:nvPr>
        </p:nvSpPr>
        <p:spPr/>
        <p:txBody>
          <a:bodyPr/>
          <a:lstStyle/>
          <a:p>
            <a:r>
              <a:rPr lang="zh-CN" altLang="en-US" dirty="0"/>
              <a:t>沟通的复杂性</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 name="picture 204"/>
          <p:cNvPicPr>
            <a:picLocks noChangeAspect="1"/>
          </p:cNvPicPr>
          <p:nvPr/>
        </p:nvPicPr>
        <p:blipFill>
          <a:blip r:embed="rId1"/>
          <a:stretch>
            <a:fillRect/>
          </a:stretch>
        </p:blipFill>
        <p:spPr>
          <a:xfrm rot="21600000">
            <a:off x="1135869" y="2711315"/>
            <a:ext cx="2392668" cy="1720158"/>
          </a:xfrm>
          <a:prstGeom prst="rect">
            <a:avLst/>
          </a:prstGeom>
        </p:spPr>
      </p:pic>
      <p:grpSp>
        <p:nvGrpSpPr>
          <p:cNvPr id="18" name="group 18"/>
          <p:cNvGrpSpPr/>
          <p:nvPr/>
        </p:nvGrpSpPr>
        <p:grpSpPr>
          <a:xfrm rot="21600000">
            <a:off x="1012587" y="964159"/>
            <a:ext cx="2566354" cy="1763424"/>
            <a:chOff x="0" y="0"/>
            <a:chExt cx="3421805" cy="2351232"/>
          </a:xfrm>
        </p:grpSpPr>
        <p:pic>
          <p:nvPicPr>
            <p:cNvPr id="206" name="picture 206"/>
            <p:cNvPicPr>
              <a:picLocks noChangeAspect="1"/>
            </p:cNvPicPr>
            <p:nvPr/>
          </p:nvPicPr>
          <p:blipFill>
            <a:blip r:embed="rId2"/>
            <a:stretch>
              <a:fillRect/>
            </a:stretch>
          </p:blipFill>
          <p:spPr>
            <a:xfrm rot="21600000">
              <a:off x="0" y="0"/>
              <a:ext cx="3380039" cy="2351232"/>
            </a:xfrm>
            <a:prstGeom prst="rect">
              <a:avLst/>
            </a:prstGeom>
          </p:spPr>
        </p:pic>
        <p:sp>
          <p:nvSpPr>
            <p:cNvPr id="208" name="textbox 208"/>
            <p:cNvSpPr/>
            <p:nvPr/>
          </p:nvSpPr>
          <p:spPr>
            <a:xfrm>
              <a:off x="85140" y="399906"/>
              <a:ext cx="3349625" cy="1922779"/>
            </a:xfrm>
            <a:prstGeom prst="rect">
              <a:avLst/>
            </a:prstGeom>
          </p:spPr>
          <p:txBody>
            <a:bodyPr vert="horz" wrap="square" lIns="0" tIns="0" rIns="0" bIns="0"/>
            <a:lstStyle/>
            <a:p>
              <a:pPr algn="l" rtl="0" eaLnBrk="0">
                <a:lnSpc>
                  <a:spcPct val="87000"/>
                </a:lnSpc>
              </a:pPr>
              <a:endParaRPr lang="en-US" altLang="en-US" sz="100" dirty="0"/>
            </a:p>
            <a:p>
              <a:pPr algn="r" rtl="0" eaLnBrk="0">
                <a:lnSpc>
                  <a:spcPct val="91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需沟通的可分解任务</a:t>
              </a:r>
              <a:endParaRPr lang="en-US" altLang="en-US" sz="1500" dirty="0"/>
            </a:p>
            <a:p>
              <a:pPr algn="l" rtl="0" eaLnBrk="0">
                <a:lnSpc>
                  <a:spcPct val="116000"/>
                </a:lnSpc>
              </a:pPr>
              <a:endParaRPr lang="en-US" altLang="en-US" sz="750" dirty="0"/>
            </a:p>
            <a:p>
              <a:pPr marL="12700" algn="l" rtl="0" eaLnBrk="0">
                <a:lnSpc>
                  <a:spcPct val="87000"/>
                </a:lnSpc>
                <a:spcBef>
                  <a:spcPts val="430"/>
                </a:spcBef>
              </a:pPr>
              <a:r>
                <a:rPr sz="10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en-US" sz="1050" dirty="0"/>
            </a:p>
            <a:p>
              <a:pPr algn="l" rtl="0" eaLnBrk="0">
                <a:lnSpc>
                  <a:spcPct val="104000"/>
                </a:lnSpc>
              </a:pPr>
              <a:endParaRPr lang="en-US" altLang="en-US" sz="750" dirty="0"/>
            </a:p>
            <a:p>
              <a:pPr algn="l" rtl="0" eaLnBrk="0">
                <a:lnSpc>
                  <a:spcPct val="105000"/>
                </a:lnSpc>
              </a:pPr>
              <a:endParaRPr lang="en-US" altLang="en-US" sz="750" dirty="0"/>
            </a:p>
            <a:p>
              <a:pPr algn="l" rtl="0" eaLnBrk="0">
                <a:lnSpc>
                  <a:spcPct val="105000"/>
                </a:lnSpc>
              </a:pPr>
              <a:endParaRPr lang="en-US" altLang="en-US" sz="750" dirty="0"/>
            </a:p>
            <a:p>
              <a:pPr algn="l" rtl="0" eaLnBrk="0">
                <a:lnSpc>
                  <a:spcPct val="105000"/>
                </a:lnSpc>
              </a:pPr>
              <a:endParaRPr lang="en-US" altLang="en-US" sz="750" dirty="0"/>
            </a:p>
            <a:p>
              <a:pPr algn="l" rtl="0" eaLnBrk="0">
                <a:lnSpc>
                  <a:spcPct val="105000"/>
                </a:lnSpc>
              </a:pPr>
              <a:endParaRPr lang="en-US" altLang="en-US" sz="750" dirty="0"/>
            </a:p>
            <a:p>
              <a:pPr algn="l" rtl="0" eaLnBrk="0">
                <a:lnSpc>
                  <a:spcPct val="105000"/>
                </a:lnSpc>
              </a:pPr>
              <a:endParaRPr lang="en-US" altLang="en-US" sz="750" dirty="0"/>
            </a:p>
            <a:p>
              <a:pPr algn="l" rtl="0" eaLnBrk="0">
                <a:lnSpc>
                  <a:spcPct val="118000"/>
                </a:lnSpc>
              </a:pPr>
              <a:endParaRPr lang="en-US" altLang="en-US" sz="225" dirty="0"/>
            </a:p>
            <a:p>
              <a:pPr marL="1753235" algn="l" rtl="0" eaLnBrk="0">
                <a:lnSpc>
                  <a:spcPct val="89000"/>
                </a:lnSpc>
              </a:pPr>
              <a:r>
                <a:rPr sz="10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人</a:t>
              </a:r>
              <a:endParaRPr lang="en-US" altLang="en-US" sz="1050" dirty="0"/>
            </a:p>
          </p:txBody>
        </p:sp>
      </p:grpSp>
      <p:grpSp>
        <p:nvGrpSpPr>
          <p:cNvPr id="20" name="group 20"/>
          <p:cNvGrpSpPr/>
          <p:nvPr/>
        </p:nvGrpSpPr>
        <p:grpSpPr>
          <a:xfrm rot="21600000">
            <a:off x="4328279" y="3121768"/>
            <a:ext cx="3614694" cy="973703"/>
            <a:chOff x="0" y="0"/>
            <a:chExt cx="4819592" cy="1298270"/>
          </a:xfrm>
        </p:grpSpPr>
        <p:sp>
          <p:nvSpPr>
            <p:cNvPr id="210" name="path"/>
            <p:cNvSpPr/>
            <p:nvPr/>
          </p:nvSpPr>
          <p:spPr>
            <a:xfrm>
              <a:off x="3226" y="528160"/>
              <a:ext cx="254000" cy="254000"/>
            </a:xfrm>
            <a:custGeom>
              <a:avLst/>
              <a:gdLst/>
              <a:ahLst/>
              <a:cxnLst/>
              <a:rect l="0" t="0" r="0" b="0"/>
              <a:pathLst>
                <a:path w="400" h="400">
                  <a:moveTo>
                    <a:pt x="0" y="200"/>
                  </a:moveTo>
                  <a:cubicBezTo>
                    <a:pt x="0" y="89"/>
                    <a:pt x="89" y="0"/>
                    <a:pt x="200" y="0"/>
                  </a:cubicBezTo>
                  <a:cubicBezTo>
                    <a:pt x="310" y="0"/>
                    <a:pt x="400" y="89"/>
                    <a:pt x="400" y="200"/>
                  </a:cubicBezTo>
                  <a:cubicBezTo>
                    <a:pt x="400" y="310"/>
                    <a:pt x="310" y="400"/>
                    <a:pt x="200" y="400"/>
                  </a:cubicBezTo>
                  <a:cubicBezTo>
                    <a:pt x="89" y="400"/>
                    <a:pt x="0" y="310"/>
                    <a:pt x="0" y="200"/>
                  </a:cubicBezTo>
                </a:path>
              </a:pathLst>
            </a:custGeom>
            <a:solidFill>
              <a:srgbClr val="D9D6D6">
                <a:alpha val="100000"/>
              </a:srgbClr>
            </a:solidFill>
            <a:ln cap="flat">
              <a:noFill/>
              <a:prstDash val="solid"/>
              <a:miter lim="0"/>
            </a:ln>
          </p:spPr>
          <p:txBody>
            <a:bodyPr rtlCol="0"/>
            <a:lstStyle/>
            <a:p>
              <a:pPr algn="ctr"/>
              <a:endParaRPr lang="zh-CN" altLang="en-US" sz="1350"/>
            </a:p>
          </p:txBody>
        </p:sp>
        <p:sp>
          <p:nvSpPr>
            <p:cNvPr id="212" name="path"/>
            <p:cNvSpPr/>
            <p:nvPr/>
          </p:nvSpPr>
          <p:spPr>
            <a:xfrm>
              <a:off x="0" y="524934"/>
              <a:ext cx="264515" cy="264515"/>
            </a:xfrm>
            <a:custGeom>
              <a:avLst/>
              <a:gdLst/>
              <a:ahLst/>
              <a:cxnLst/>
              <a:rect l="0" t="0" r="0" b="0"/>
              <a:pathLst>
                <a:path w="416" h="416">
                  <a:moveTo>
                    <a:pt x="5" y="208"/>
                  </a:moveTo>
                  <a:cubicBezTo>
                    <a:pt x="5" y="96"/>
                    <a:pt x="96" y="5"/>
                    <a:pt x="208" y="5"/>
                  </a:cubicBezTo>
                  <a:cubicBezTo>
                    <a:pt x="320" y="5"/>
                    <a:pt x="411" y="96"/>
                    <a:pt x="411" y="208"/>
                  </a:cubicBezTo>
                  <a:cubicBezTo>
                    <a:pt x="411" y="320"/>
                    <a:pt x="320" y="411"/>
                    <a:pt x="208" y="411"/>
                  </a:cubicBezTo>
                  <a:cubicBezTo>
                    <a:pt x="96" y="411"/>
                    <a:pt x="5" y="320"/>
                    <a:pt x="5" y="208"/>
                  </a:cubicBezTo>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214" name="path"/>
            <p:cNvSpPr/>
            <p:nvPr/>
          </p:nvSpPr>
          <p:spPr>
            <a:xfrm>
              <a:off x="1290159" y="3225"/>
              <a:ext cx="935996" cy="304803"/>
            </a:xfrm>
            <a:custGeom>
              <a:avLst/>
              <a:gdLst/>
              <a:ahLst/>
              <a:cxnLst/>
              <a:rect l="0" t="0" r="0" b="0"/>
              <a:pathLst>
                <a:path w="1474" h="480">
                  <a:moveTo>
                    <a:pt x="0" y="0"/>
                  </a:moveTo>
                  <a:lnTo>
                    <a:pt x="1474" y="0"/>
                  </a:lnTo>
                  <a:lnTo>
                    <a:pt x="1474" y="480"/>
                  </a:lnTo>
                  <a:lnTo>
                    <a:pt x="0" y="480"/>
                  </a:lnTo>
                  <a:lnTo>
                    <a:pt x="0" y="0"/>
                  </a:lnTo>
                  <a:close/>
                </a:path>
              </a:pathLst>
            </a:custGeom>
            <a:solidFill>
              <a:srgbClr val="C8DFF1">
                <a:alpha val="100000"/>
              </a:srgbClr>
            </a:solidFill>
            <a:ln cap="flat">
              <a:noFill/>
              <a:prstDash val="solid"/>
              <a:miter lim="0"/>
            </a:ln>
          </p:spPr>
          <p:txBody>
            <a:bodyPr rtlCol="0"/>
            <a:lstStyle/>
            <a:p>
              <a:pPr algn="ctr"/>
              <a:endParaRPr lang="zh-CN" altLang="en-US" sz="1350"/>
            </a:p>
          </p:txBody>
        </p:sp>
        <p:sp>
          <p:nvSpPr>
            <p:cNvPr id="216" name="path"/>
            <p:cNvSpPr/>
            <p:nvPr/>
          </p:nvSpPr>
          <p:spPr>
            <a:xfrm>
              <a:off x="1286933" y="0"/>
              <a:ext cx="957424" cy="316132"/>
            </a:xfrm>
            <a:custGeom>
              <a:avLst/>
              <a:gdLst/>
              <a:ahLst/>
              <a:cxnLst/>
              <a:rect l="0" t="0" r="0" b="0"/>
              <a:pathLst>
                <a:path w="1507" h="497">
                  <a:moveTo>
                    <a:pt x="5" y="5"/>
                  </a:moveTo>
                  <a:lnTo>
                    <a:pt x="1502" y="5"/>
                  </a:lnTo>
                  <a:lnTo>
                    <a:pt x="1502" y="492"/>
                  </a:lnTo>
                  <a:lnTo>
                    <a:pt x="5" y="492"/>
                  </a:lnTo>
                  <a:lnTo>
                    <a:pt x="5" y="5"/>
                  </a:lnTo>
                  <a:close/>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218" name="path"/>
            <p:cNvSpPr/>
            <p:nvPr/>
          </p:nvSpPr>
          <p:spPr>
            <a:xfrm>
              <a:off x="4558302" y="528160"/>
              <a:ext cx="254000" cy="254000"/>
            </a:xfrm>
            <a:custGeom>
              <a:avLst/>
              <a:gdLst/>
              <a:ahLst/>
              <a:cxnLst/>
              <a:rect l="0" t="0" r="0" b="0"/>
              <a:pathLst>
                <a:path w="400" h="400">
                  <a:moveTo>
                    <a:pt x="0" y="200"/>
                  </a:moveTo>
                  <a:cubicBezTo>
                    <a:pt x="0" y="89"/>
                    <a:pt x="89" y="0"/>
                    <a:pt x="200" y="0"/>
                  </a:cubicBezTo>
                  <a:cubicBezTo>
                    <a:pt x="310" y="0"/>
                    <a:pt x="400" y="89"/>
                    <a:pt x="400" y="200"/>
                  </a:cubicBezTo>
                  <a:cubicBezTo>
                    <a:pt x="400" y="310"/>
                    <a:pt x="310" y="400"/>
                    <a:pt x="200" y="400"/>
                  </a:cubicBezTo>
                  <a:cubicBezTo>
                    <a:pt x="89" y="400"/>
                    <a:pt x="0" y="310"/>
                    <a:pt x="0" y="200"/>
                  </a:cubicBezTo>
                </a:path>
              </a:pathLst>
            </a:custGeom>
            <a:solidFill>
              <a:srgbClr val="D81E00">
                <a:alpha val="100000"/>
              </a:srgbClr>
            </a:solidFill>
            <a:ln cap="flat">
              <a:noFill/>
              <a:prstDash val="solid"/>
              <a:miter lim="0"/>
            </a:ln>
          </p:spPr>
          <p:txBody>
            <a:bodyPr rtlCol="0"/>
            <a:lstStyle/>
            <a:p>
              <a:pPr algn="ctr"/>
              <a:endParaRPr lang="zh-CN" altLang="en-US" sz="1350"/>
            </a:p>
          </p:txBody>
        </p:sp>
        <p:sp>
          <p:nvSpPr>
            <p:cNvPr id="220" name="path"/>
            <p:cNvSpPr/>
            <p:nvPr/>
          </p:nvSpPr>
          <p:spPr>
            <a:xfrm>
              <a:off x="4555077" y="524934"/>
              <a:ext cx="264515" cy="264515"/>
            </a:xfrm>
            <a:custGeom>
              <a:avLst/>
              <a:gdLst/>
              <a:ahLst/>
              <a:cxnLst/>
              <a:rect l="0" t="0" r="0" b="0"/>
              <a:pathLst>
                <a:path w="416" h="416">
                  <a:moveTo>
                    <a:pt x="5" y="208"/>
                  </a:moveTo>
                  <a:cubicBezTo>
                    <a:pt x="5" y="96"/>
                    <a:pt x="96" y="5"/>
                    <a:pt x="208" y="5"/>
                  </a:cubicBezTo>
                  <a:cubicBezTo>
                    <a:pt x="320" y="5"/>
                    <a:pt x="411" y="96"/>
                    <a:pt x="411" y="208"/>
                  </a:cubicBezTo>
                  <a:cubicBezTo>
                    <a:pt x="411" y="320"/>
                    <a:pt x="320" y="411"/>
                    <a:pt x="208" y="411"/>
                  </a:cubicBezTo>
                  <a:cubicBezTo>
                    <a:pt x="96" y="411"/>
                    <a:pt x="5" y="320"/>
                    <a:pt x="5" y="208"/>
                  </a:cubicBezTo>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222" name="path"/>
            <p:cNvSpPr/>
            <p:nvPr/>
          </p:nvSpPr>
          <p:spPr>
            <a:xfrm>
              <a:off x="771676" y="149175"/>
              <a:ext cx="505574" cy="1010755"/>
            </a:xfrm>
            <a:custGeom>
              <a:avLst/>
              <a:gdLst/>
              <a:ahLst/>
              <a:cxnLst/>
              <a:rect l="0" t="0" r="0" b="0"/>
              <a:pathLst>
                <a:path w="796" h="1591">
                  <a:moveTo>
                    <a:pt x="796" y="10"/>
                  </a:moveTo>
                  <a:lnTo>
                    <a:pt x="10" y="10"/>
                  </a:lnTo>
                  <a:lnTo>
                    <a:pt x="10" y="1581"/>
                  </a:lnTo>
                  <a:lnTo>
                    <a:pt x="775" y="1581"/>
                  </a:lnTo>
                </a:path>
              </a:pathLst>
            </a:custGeom>
            <a:noFill/>
            <a:ln w="12903" cap="flat">
              <a:solidFill>
                <a:srgbClr val="201E1E">
                  <a:alpha val="100000"/>
                </a:srgbClr>
              </a:solidFill>
              <a:prstDash val="solid"/>
              <a:miter lim="800000"/>
            </a:ln>
          </p:spPr>
          <p:txBody>
            <a:bodyPr rtlCol="0"/>
            <a:lstStyle/>
            <a:p>
              <a:pPr algn="ctr"/>
              <a:endParaRPr lang="zh-CN" altLang="en-US" sz="1350"/>
            </a:p>
          </p:txBody>
        </p:sp>
        <p:sp>
          <p:nvSpPr>
            <p:cNvPr id="224" name="path"/>
            <p:cNvSpPr/>
            <p:nvPr/>
          </p:nvSpPr>
          <p:spPr>
            <a:xfrm>
              <a:off x="1174249" y="96673"/>
              <a:ext cx="128609" cy="1100046"/>
            </a:xfrm>
            <a:custGeom>
              <a:avLst/>
              <a:gdLst/>
              <a:ahLst/>
              <a:cxnLst/>
              <a:rect l="0" t="0" r="0" b="0"/>
              <a:pathLst>
                <a:path w="202" h="1732">
                  <a:moveTo>
                    <a:pt x="202" y="92"/>
                  </a:moveTo>
                  <a:lnTo>
                    <a:pt x="52" y="5"/>
                  </a:lnTo>
                  <a:lnTo>
                    <a:pt x="52" y="5"/>
                  </a:lnTo>
                  <a:cubicBezTo>
                    <a:pt x="43" y="0"/>
                    <a:pt x="31" y="3"/>
                    <a:pt x="25" y="12"/>
                  </a:cubicBezTo>
                  <a:lnTo>
                    <a:pt x="25" y="12"/>
                  </a:lnTo>
                  <a:cubicBezTo>
                    <a:pt x="20" y="22"/>
                    <a:pt x="23" y="34"/>
                    <a:pt x="32" y="40"/>
                  </a:cubicBezTo>
                  <a:lnTo>
                    <a:pt x="123" y="92"/>
                  </a:lnTo>
                  <a:lnTo>
                    <a:pt x="32" y="145"/>
                  </a:lnTo>
                  <a:lnTo>
                    <a:pt x="32" y="145"/>
                  </a:lnTo>
                  <a:cubicBezTo>
                    <a:pt x="23" y="151"/>
                    <a:pt x="20" y="163"/>
                    <a:pt x="25" y="172"/>
                  </a:cubicBezTo>
                  <a:cubicBezTo>
                    <a:pt x="25" y="172"/>
                    <a:pt x="25" y="172"/>
                    <a:pt x="25" y="172"/>
                  </a:cubicBezTo>
                  <a:lnTo>
                    <a:pt x="25" y="172"/>
                  </a:lnTo>
                  <a:cubicBezTo>
                    <a:pt x="31" y="182"/>
                    <a:pt x="43" y="185"/>
                    <a:pt x="52" y="180"/>
                  </a:cubicBezTo>
                  <a:lnTo>
                    <a:pt x="202" y="92"/>
                  </a:lnTo>
                  <a:close/>
                </a:path>
                <a:path w="202" h="1732">
                  <a:moveTo>
                    <a:pt x="182" y="1639"/>
                  </a:moveTo>
                  <a:lnTo>
                    <a:pt x="32" y="1552"/>
                  </a:lnTo>
                  <a:lnTo>
                    <a:pt x="32" y="1552"/>
                  </a:lnTo>
                  <a:cubicBezTo>
                    <a:pt x="23" y="1546"/>
                    <a:pt x="11" y="1549"/>
                    <a:pt x="5" y="1559"/>
                  </a:cubicBezTo>
                  <a:lnTo>
                    <a:pt x="5" y="1559"/>
                  </a:lnTo>
                  <a:cubicBezTo>
                    <a:pt x="0" y="1568"/>
                    <a:pt x="3" y="1581"/>
                    <a:pt x="12" y="1586"/>
                  </a:cubicBezTo>
                  <a:lnTo>
                    <a:pt x="103" y="1639"/>
                  </a:lnTo>
                  <a:lnTo>
                    <a:pt x="12" y="1692"/>
                  </a:lnTo>
                  <a:lnTo>
                    <a:pt x="12" y="1692"/>
                  </a:lnTo>
                  <a:cubicBezTo>
                    <a:pt x="3" y="1697"/>
                    <a:pt x="0" y="1710"/>
                    <a:pt x="5" y="1719"/>
                  </a:cubicBezTo>
                  <a:cubicBezTo>
                    <a:pt x="5" y="1719"/>
                    <a:pt x="5" y="1719"/>
                    <a:pt x="5" y="1719"/>
                  </a:cubicBezTo>
                  <a:lnTo>
                    <a:pt x="5" y="1719"/>
                  </a:lnTo>
                  <a:cubicBezTo>
                    <a:pt x="11" y="1729"/>
                    <a:pt x="23" y="1732"/>
                    <a:pt x="32" y="1726"/>
                  </a:cubicBezTo>
                  <a:lnTo>
                    <a:pt x="182" y="1639"/>
                  </a:lnTo>
                  <a:close/>
                </a:path>
              </a:pathLst>
            </a:custGeom>
            <a:solidFill>
              <a:srgbClr val="201E1E">
                <a:alpha val="100000"/>
              </a:srgbClr>
            </a:solidFill>
            <a:ln cap="flat">
              <a:noFill/>
              <a:prstDash val="solid"/>
              <a:miter lim="0"/>
            </a:ln>
          </p:spPr>
          <p:txBody>
            <a:bodyPr rtlCol="0"/>
            <a:lstStyle/>
            <a:p>
              <a:pPr algn="ctr"/>
              <a:endParaRPr lang="zh-CN" altLang="en-US" sz="1350"/>
            </a:p>
          </p:txBody>
        </p:sp>
        <p:sp>
          <p:nvSpPr>
            <p:cNvPr id="226" name="path"/>
            <p:cNvSpPr/>
            <p:nvPr/>
          </p:nvSpPr>
          <p:spPr>
            <a:xfrm>
              <a:off x="2226155" y="149175"/>
              <a:ext cx="296165" cy="12903"/>
            </a:xfrm>
            <a:custGeom>
              <a:avLst/>
              <a:gdLst/>
              <a:ahLst/>
              <a:cxnLst/>
              <a:rect l="0" t="0" r="0" b="0"/>
              <a:pathLst>
                <a:path w="466" h="20">
                  <a:moveTo>
                    <a:pt x="0" y="10"/>
                  </a:moveTo>
                  <a:lnTo>
                    <a:pt x="466" y="10"/>
                  </a:lnTo>
                </a:path>
              </a:pathLst>
            </a:custGeom>
            <a:noFill/>
            <a:ln w="12903" cap="flat">
              <a:solidFill>
                <a:srgbClr val="201E1E">
                  <a:alpha val="100000"/>
                </a:srgbClr>
              </a:solidFill>
              <a:prstDash val="solid"/>
              <a:miter lim="800000"/>
            </a:ln>
          </p:spPr>
          <p:txBody>
            <a:bodyPr rtlCol="0"/>
            <a:lstStyle/>
            <a:p>
              <a:pPr algn="ctr"/>
              <a:endParaRPr lang="zh-CN" altLang="en-US" sz="1350"/>
            </a:p>
          </p:txBody>
        </p:sp>
        <p:sp>
          <p:nvSpPr>
            <p:cNvPr id="228" name="path"/>
            <p:cNvSpPr/>
            <p:nvPr/>
          </p:nvSpPr>
          <p:spPr>
            <a:xfrm>
              <a:off x="2426951" y="96673"/>
              <a:ext cx="115909" cy="117907"/>
            </a:xfrm>
            <a:custGeom>
              <a:avLst/>
              <a:gdLst/>
              <a:ahLst/>
              <a:cxnLst/>
              <a:rect l="0" t="0" r="0" b="0"/>
              <a:pathLst>
                <a:path w="182" h="185">
                  <a:moveTo>
                    <a:pt x="182" y="92"/>
                  </a:moveTo>
                  <a:lnTo>
                    <a:pt x="32" y="180"/>
                  </a:lnTo>
                  <a:lnTo>
                    <a:pt x="32" y="180"/>
                  </a:lnTo>
                  <a:cubicBezTo>
                    <a:pt x="23" y="185"/>
                    <a:pt x="11" y="182"/>
                    <a:pt x="5" y="172"/>
                  </a:cubicBezTo>
                  <a:lnTo>
                    <a:pt x="5" y="172"/>
                  </a:lnTo>
                  <a:cubicBezTo>
                    <a:pt x="0" y="163"/>
                    <a:pt x="3" y="151"/>
                    <a:pt x="12" y="145"/>
                  </a:cubicBezTo>
                  <a:lnTo>
                    <a:pt x="103" y="92"/>
                  </a:lnTo>
                  <a:lnTo>
                    <a:pt x="12" y="40"/>
                  </a:lnTo>
                  <a:lnTo>
                    <a:pt x="12" y="40"/>
                  </a:lnTo>
                  <a:cubicBezTo>
                    <a:pt x="3" y="34"/>
                    <a:pt x="0" y="22"/>
                    <a:pt x="5" y="12"/>
                  </a:cubicBezTo>
                  <a:cubicBezTo>
                    <a:pt x="5" y="12"/>
                    <a:pt x="5" y="12"/>
                    <a:pt x="5" y="12"/>
                  </a:cubicBezTo>
                  <a:lnTo>
                    <a:pt x="5" y="12"/>
                  </a:lnTo>
                  <a:cubicBezTo>
                    <a:pt x="11" y="3"/>
                    <a:pt x="23" y="0"/>
                    <a:pt x="32" y="5"/>
                  </a:cubicBezTo>
                  <a:lnTo>
                    <a:pt x="182" y="92"/>
                  </a:lnTo>
                  <a:close/>
                </a:path>
              </a:pathLst>
            </a:custGeom>
            <a:solidFill>
              <a:srgbClr val="201E1E">
                <a:alpha val="100000"/>
              </a:srgbClr>
            </a:solidFill>
            <a:ln cap="flat">
              <a:noFill/>
              <a:prstDash val="solid"/>
              <a:miter lim="0"/>
            </a:ln>
          </p:spPr>
          <p:txBody>
            <a:bodyPr rtlCol="0"/>
            <a:lstStyle/>
            <a:p>
              <a:pPr algn="ctr"/>
              <a:endParaRPr lang="zh-CN" altLang="en-US" sz="1350"/>
            </a:p>
          </p:txBody>
        </p:sp>
        <p:sp>
          <p:nvSpPr>
            <p:cNvPr id="230" name="path"/>
            <p:cNvSpPr/>
            <p:nvPr/>
          </p:nvSpPr>
          <p:spPr>
            <a:xfrm>
              <a:off x="257225" y="149175"/>
              <a:ext cx="4284400" cy="1010755"/>
            </a:xfrm>
            <a:custGeom>
              <a:avLst/>
              <a:gdLst/>
              <a:ahLst/>
              <a:cxnLst/>
              <a:rect l="0" t="0" r="0" b="0"/>
              <a:pathLst>
                <a:path w="6747" h="1591">
                  <a:moveTo>
                    <a:pt x="0" y="796"/>
                  </a:moveTo>
                  <a:lnTo>
                    <a:pt x="866" y="796"/>
                  </a:lnTo>
                  <a:moveTo>
                    <a:pt x="5074" y="10"/>
                  </a:moveTo>
                  <a:lnTo>
                    <a:pt x="5900" y="10"/>
                  </a:lnTo>
                  <a:lnTo>
                    <a:pt x="5900" y="1581"/>
                  </a:lnTo>
                  <a:lnTo>
                    <a:pt x="5094" y="1581"/>
                  </a:lnTo>
                  <a:moveTo>
                    <a:pt x="5893" y="796"/>
                  </a:moveTo>
                  <a:lnTo>
                    <a:pt x="6747" y="796"/>
                  </a:lnTo>
                </a:path>
              </a:pathLst>
            </a:custGeom>
            <a:noFill/>
            <a:ln w="12903" cap="flat">
              <a:solidFill>
                <a:srgbClr val="201E1E">
                  <a:alpha val="100000"/>
                </a:srgbClr>
              </a:solidFill>
              <a:prstDash val="solid"/>
              <a:miter lim="800000"/>
            </a:ln>
          </p:spPr>
          <p:txBody>
            <a:bodyPr rtlCol="0"/>
            <a:lstStyle/>
            <a:p>
              <a:pPr algn="ctr"/>
              <a:endParaRPr lang="zh-CN" altLang="en-US" sz="1350"/>
            </a:p>
          </p:txBody>
        </p:sp>
        <p:sp>
          <p:nvSpPr>
            <p:cNvPr id="232" name="path"/>
            <p:cNvSpPr/>
            <p:nvPr/>
          </p:nvSpPr>
          <p:spPr>
            <a:xfrm>
              <a:off x="4442383" y="596206"/>
              <a:ext cx="115909" cy="117908"/>
            </a:xfrm>
            <a:custGeom>
              <a:avLst/>
              <a:gdLst/>
              <a:ahLst/>
              <a:cxnLst/>
              <a:rect l="0" t="0" r="0" b="0"/>
              <a:pathLst>
                <a:path w="182" h="185">
                  <a:moveTo>
                    <a:pt x="182" y="92"/>
                  </a:moveTo>
                  <a:lnTo>
                    <a:pt x="32" y="180"/>
                  </a:lnTo>
                  <a:lnTo>
                    <a:pt x="32" y="180"/>
                  </a:lnTo>
                  <a:cubicBezTo>
                    <a:pt x="23" y="185"/>
                    <a:pt x="11" y="182"/>
                    <a:pt x="5" y="172"/>
                  </a:cubicBezTo>
                  <a:lnTo>
                    <a:pt x="5" y="172"/>
                  </a:lnTo>
                  <a:cubicBezTo>
                    <a:pt x="0" y="163"/>
                    <a:pt x="3" y="151"/>
                    <a:pt x="12" y="145"/>
                  </a:cubicBezTo>
                  <a:lnTo>
                    <a:pt x="103" y="92"/>
                  </a:lnTo>
                  <a:lnTo>
                    <a:pt x="12" y="40"/>
                  </a:lnTo>
                  <a:lnTo>
                    <a:pt x="12" y="40"/>
                  </a:lnTo>
                  <a:cubicBezTo>
                    <a:pt x="3" y="34"/>
                    <a:pt x="0" y="22"/>
                    <a:pt x="5" y="12"/>
                  </a:cubicBezTo>
                  <a:cubicBezTo>
                    <a:pt x="5" y="12"/>
                    <a:pt x="5" y="12"/>
                    <a:pt x="5" y="12"/>
                  </a:cubicBezTo>
                  <a:lnTo>
                    <a:pt x="5" y="12"/>
                  </a:lnTo>
                  <a:cubicBezTo>
                    <a:pt x="11" y="3"/>
                    <a:pt x="23" y="0"/>
                    <a:pt x="32" y="5"/>
                  </a:cubicBezTo>
                  <a:lnTo>
                    <a:pt x="182" y="92"/>
                  </a:lnTo>
                  <a:close/>
                </a:path>
              </a:pathLst>
            </a:custGeom>
            <a:solidFill>
              <a:srgbClr val="201E1E">
                <a:alpha val="100000"/>
              </a:srgbClr>
            </a:solidFill>
            <a:ln cap="flat">
              <a:noFill/>
              <a:prstDash val="solid"/>
              <a:miter lim="0"/>
            </a:ln>
          </p:spPr>
          <p:txBody>
            <a:bodyPr rtlCol="0"/>
            <a:lstStyle/>
            <a:p>
              <a:pPr algn="ctr"/>
              <a:endParaRPr lang="zh-CN" altLang="en-US" sz="1350"/>
            </a:p>
          </p:txBody>
        </p:sp>
        <p:sp>
          <p:nvSpPr>
            <p:cNvPr id="234" name="path"/>
            <p:cNvSpPr/>
            <p:nvPr/>
          </p:nvSpPr>
          <p:spPr>
            <a:xfrm>
              <a:off x="2543225" y="3225"/>
              <a:ext cx="935997" cy="304803"/>
            </a:xfrm>
            <a:custGeom>
              <a:avLst/>
              <a:gdLst/>
              <a:ahLst/>
              <a:cxnLst/>
              <a:rect l="0" t="0" r="0" b="0"/>
              <a:pathLst>
                <a:path w="1474" h="480">
                  <a:moveTo>
                    <a:pt x="0" y="0"/>
                  </a:moveTo>
                  <a:lnTo>
                    <a:pt x="1474" y="0"/>
                  </a:lnTo>
                  <a:lnTo>
                    <a:pt x="1474" y="480"/>
                  </a:lnTo>
                  <a:lnTo>
                    <a:pt x="0" y="480"/>
                  </a:lnTo>
                  <a:lnTo>
                    <a:pt x="0" y="0"/>
                  </a:lnTo>
                  <a:close/>
                </a:path>
              </a:pathLst>
            </a:custGeom>
            <a:solidFill>
              <a:srgbClr val="C8DFF1">
                <a:alpha val="100000"/>
              </a:srgbClr>
            </a:solidFill>
            <a:ln cap="flat">
              <a:noFill/>
              <a:prstDash val="solid"/>
              <a:miter lim="0"/>
            </a:ln>
          </p:spPr>
          <p:txBody>
            <a:bodyPr rtlCol="0"/>
            <a:lstStyle/>
            <a:p>
              <a:pPr algn="ctr"/>
              <a:endParaRPr lang="zh-CN" altLang="en-US" sz="1350"/>
            </a:p>
          </p:txBody>
        </p:sp>
        <p:sp>
          <p:nvSpPr>
            <p:cNvPr id="236" name="path"/>
            <p:cNvSpPr/>
            <p:nvPr/>
          </p:nvSpPr>
          <p:spPr>
            <a:xfrm>
              <a:off x="2539999" y="0"/>
              <a:ext cx="957424" cy="316132"/>
            </a:xfrm>
            <a:custGeom>
              <a:avLst/>
              <a:gdLst/>
              <a:ahLst/>
              <a:cxnLst/>
              <a:rect l="0" t="0" r="0" b="0"/>
              <a:pathLst>
                <a:path w="1507" h="497">
                  <a:moveTo>
                    <a:pt x="5" y="5"/>
                  </a:moveTo>
                  <a:lnTo>
                    <a:pt x="1502" y="5"/>
                  </a:lnTo>
                  <a:lnTo>
                    <a:pt x="1502" y="492"/>
                  </a:lnTo>
                  <a:lnTo>
                    <a:pt x="5" y="492"/>
                  </a:lnTo>
                  <a:lnTo>
                    <a:pt x="5" y="5"/>
                  </a:lnTo>
                  <a:close/>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238" name="path"/>
            <p:cNvSpPr/>
            <p:nvPr/>
          </p:nvSpPr>
          <p:spPr>
            <a:xfrm>
              <a:off x="1290159" y="985364"/>
              <a:ext cx="935996" cy="304803"/>
            </a:xfrm>
            <a:custGeom>
              <a:avLst/>
              <a:gdLst/>
              <a:ahLst/>
              <a:cxnLst/>
              <a:rect l="0" t="0" r="0" b="0"/>
              <a:pathLst>
                <a:path w="1474" h="480">
                  <a:moveTo>
                    <a:pt x="0" y="0"/>
                  </a:moveTo>
                  <a:lnTo>
                    <a:pt x="1474" y="0"/>
                  </a:lnTo>
                  <a:lnTo>
                    <a:pt x="1474" y="480"/>
                  </a:lnTo>
                  <a:lnTo>
                    <a:pt x="0" y="480"/>
                  </a:lnTo>
                  <a:lnTo>
                    <a:pt x="0" y="0"/>
                  </a:lnTo>
                  <a:close/>
                </a:path>
              </a:pathLst>
            </a:custGeom>
            <a:solidFill>
              <a:srgbClr val="C8DFF1">
                <a:alpha val="100000"/>
              </a:srgbClr>
            </a:solidFill>
            <a:ln cap="flat">
              <a:noFill/>
              <a:prstDash val="solid"/>
              <a:miter lim="0"/>
            </a:ln>
          </p:spPr>
          <p:txBody>
            <a:bodyPr rtlCol="0"/>
            <a:lstStyle/>
            <a:p>
              <a:pPr algn="ctr"/>
              <a:endParaRPr lang="zh-CN" altLang="en-US" sz="1350"/>
            </a:p>
          </p:txBody>
        </p:sp>
        <p:sp>
          <p:nvSpPr>
            <p:cNvPr id="240" name="path"/>
            <p:cNvSpPr/>
            <p:nvPr/>
          </p:nvSpPr>
          <p:spPr>
            <a:xfrm>
              <a:off x="1286933" y="982138"/>
              <a:ext cx="957424" cy="316132"/>
            </a:xfrm>
            <a:custGeom>
              <a:avLst/>
              <a:gdLst/>
              <a:ahLst/>
              <a:cxnLst/>
              <a:rect l="0" t="0" r="0" b="0"/>
              <a:pathLst>
                <a:path w="1507" h="497">
                  <a:moveTo>
                    <a:pt x="5" y="5"/>
                  </a:moveTo>
                  <a:lnTo>
                    <a:pt x="1502" y="5"/>
                  </a:lnTo>
                  <a:lnTo>
                    <a:pt x="1502" y="492"/>
                  </a:lnTo>
                  <a:lnTo>
                    <a:pt x="5" y="492"/>
                  </a:lnTo>
                  <a:lnTo>
                    <a:pt x="5" y="5"/>
                  </a:lnTo>
                  <a:close/>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242" name="path"/>
            <p:cNvSpPr/>
            <p:nvPr/>
          </p:nvSpPr>
          <p:spPr>
            <a:xfrm>
              <a:off x="2226155" y="1131313"/>
              <a:ext cx="296165" cy="12903"/>
            </a:xfrm>
            <a:custGeom>
              <a:avLst/>
              <a:gdLst/>
              <a:ahLst/>
              <a:cxnLst/>
              <a:rect l="0" t="0" r="0" b="0"/>
              <a:pathLst>
                <a:path w="466" h="20">
                  <a:moveTo>
                    <a:pt x="0" y="10"/>
                  </a:moveTo>
                  <a:lnTo>
                    <a:pt x="466" y="10"/>
                  </a:lnTo>
                </a:path>
              </a:pathLst>
            </a:custGeom>
            <a:noFill/>
            <a:ln w="12903" cap="flat">
              <a:solidFill>
                <a:srgbClr val="201E1E">
                  <a:alpha val="100000"/>
                </a:srgbClr>
              </a:solidFill>
              <a:prstDash val="solid"/>
              <a:miter lim="800000"/>
            </a:ln>
          </p:spPr>
          <p:txBody>
            <a:bodyPr rtlCol="0"/>
            <a:lstStyle/>
            <a:p>
              <a:pPr algn="ctr"/>
              <a:endParaRPr lang="zh-CN" altLang="en-US" sz="1350"/>
            </a:p>
          </p:txBody>
        </p:sp>
        <p:sp>
          <p:nvSpPr>
            <p:cNvPr id="244" name="path"/>
            <p:cNvSpPr/>
            <p:nvPr/>
          </p:nvSpPr>
          <p:spPr>
            <a:xfrm>
              <a:off x="2426951" y="1078811"/>
              <a:ext cx="115909" cy="117908"/>
            </a:xfrm>
            <a:custGeom>
              <a:avLst/>
              <a:gdLst/>
              <a:ahLst/>
              <a:cxnLst/>
              <a:rect l="0" t="0" r="0" b="0"/>
              <a:pathLst>
                <a:path w="182" h="185">
                  <a:moveTo>
                    <a:pt x="182" y="92"/>
                  </a:moveTo>
                  <a:lnTo>
                    <a:pt x="32" y="180"/>
                  </a:lnTo>
                  <a:lnTo>
                    <a:pt x="32" y="180"/>
                  </a:lnTo>
                  <a:cubicBezTo>
                    <a:pt x="23" y="185"/>
                    <a:pt x="11" y="182"/>
                    <a:pt x="5" y="172"/>
                  </a:cubicBezTo>
                  <a:lnTo>
                    <a:pt x="5" y="172"/>
                  </a:lnTo>
                  <a:cubicBezTo>
                    <a:pt x="0" y="163"/>
                    <a:pt x="3" y="151"/>
                    <a:pt x="12" y="145"/>
                  </a:cubicBezTo>
                  <a:lnTo>
                    <a:pt x="103" y="92"/>
                  </a:lnTo>
                  <a:lnTo>
                    <a:pt x="12" y="40"/>
                  </a:lnTo>
                  <a:lnTo>
                    <a:pt x="12" y="40"/>
                  </a:lnTo>
                  <a:cubicBezTo>
                    <a:pt x="3" y="34"/>
                    <a:pt x="0" y="22"/>
                    <a:pt x="5" y="12"/>
                  </a:cubicBezTo>
                  <a:cubicBezTo>
                    <a:pt x="5" y="12"/>
                    <a:pt x="5" y="12"/>
                    <a:pt x="5" y="12"/>
                  </a:cubicBezTo>
                  <a:lnTo>
                    <a:pt x="5" y="12"/>
                  </a:lnTo>
                  <a:cubicBezTo>
                    <a:pt x="11" y="3"/>
                    <a:pt x="23" y="0"/>
                    <a:pt x="32" y="5"/>
                  </a:cubicBezTo>
                  <a:lnTo>
                    <a:pt x="182" y="92"/>
                  </a:lnTo>
                  <a:close/>
                </a:path>
              </a:pathLst>
            </a:custGeom>
            <a:solidFill>
              <a:srgbClr val="201E1E">
                <a:alpha val="100000"/>
              </a:srgbClr>
            </a:solidFill>
            <a:ln cap="flat">
              <a:noFill/>
              <a:prstDash val="solid"/>
              <a:miter lim="0"/>
            </a:ln>
          </p:spPr>
          <p:txBody>
            <a:bodyPr rtlCol="0"/>
            <a:lstStyle/>
            <a:p>
              <a:pPr algn="ctr"/>
              <a:endParaRPr lang="zh-CN" altLang="en-US" sz="1350"/>
            </a:p>
          </p:txBody>
        </p:sp>
        <p:sp>
          <p:nvSpPr>
            <p:cNvPr id="246" name="path"/>
            <p:cNvSpPr/>
            <p:nvPr/>
          </p:nvSpPr>
          <p:spPr>
            <a:xfrm>
              <a:off x="2543225" y="985364"/>
              <a:ext cx="935997" cy="304803"/>
            </a:xfrm>
            <a:custGeom>
              <a:avLst/>
              <a:gdLst/>
              <a:ahLst/>
              <a:cxnLst/>
              <a:rect l="0" t="0" r="0" b="0"/>
              <a:pathLst>
                <a:path w="1474" h="480">
                  <a:moveTo>
                    <a:pt x="0" y="0"/>
                  </a:moveTo>
                  <a:lnTo>
                    <a:pt x="1474" y="0"/>
                  </a:lnTo>
                  <a:lnTo>
                    <a:pt x="1474" y="480"/>
                  </a:lnTo>
                  <a:lnTo>
                    <a:pt x="0" y="480"/>
                  </a:lnTo>
                  <a:lnTo>
                    <a:pt x="0" y="0"/>
                  </a:lnTo>
                  <a:close/>
                </a:path>
              </a:pathLst>
            </a:custGeom>
            <a:solidFill>
              <a:srgbClr val="C8DFF1">
                <a:alpha val="100000"/>
              </a:srgbClr>
            </a:solidFill>
            <a:ln cap="flat">
              <a:noFill/>
              <a:prstDash val="solid"/>
              <a:miter lim="0"/>
            </a:ln>
          </p:spPr>
          <p:txBody>
            <a:bodyPr rtlCol="0"/>
            <a:lstStyle/>
            <a:p>
              <a:pPr algn="ctr"/>
              <a:endParaRPr lang="zh-CN" altLang="en-US" sz="1350"/>
            </a:p>
          </p:txBody>
        </p:sp>
        <p:sp>
          <p:nvSpPr>
            <p:cNvPr id="248" name="path"/>
            <p:cNvSpPr/>
            <p:nvPr/>
          </p:nvSpPr>
          <p:spPr>
            <a:xfrm>
              <a:off x="2539999" y="982138"/>
              <a:ext cx="957424" cy="316132"/>
            </a:xfrm>
            <a:custGeom>
              <a:avLst/>
              <a:gdLst/>
              <a:ahLst/>
              <a:cxnLst/>
              <a:rect l="0" t="0" r="0" b="0"/>
              <a:pathLst>
                <a:path w="1507" h="497">
                  <a:moveTo>
                    <a:pt x="5" y="5"/>
                  </a:moveTo>
                  <a:lnTo>
                    <a:pt x="1502" y="5"/>
                  </a:lnTo>
                  <a:lnTo>
                    <a:pt x="1502" y="492"/>
                  </a:lnTo>
                  <a:lnTo>
                    <a:pt x="5" y="492"/>
                  </a:lnTo>
                  <a:lnTo>
                    <a:pt x="5" y="5"/>
                  </a:lnTo>
                  <a:close/>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250" name="path"/>
            <p:cNvSpPr/>
            <p:nvPr/>
          </p:nvSpPr>
          <p:spPr>
            <a:xfrm>
              <a:off x="1929445" y="320057"/>
              <a:ext cx="797721" cy="681140"/>
            </a:xfrm>
            <a:custGeom>
              <a:avLst/>
              <a:gdLst/>
              <a:ahLst/>
              <a:cxnLst/>
              <a:rect l="0" t="0" r="0" b="0"/>
              <a:pathLst>
                <a:path w="1256" h="1072">
                  <a:moveTo>
                    <a:pt x="6" y="7"/>
                  </a:moveTo>
                  <a:lnTo>
                    <a:pt x="1249" y="1064"/>
                  </a:lnTo>
                </a:path>
              </a:pathLst>
            </a:custGeom>
            <a:noFill/>
            <a:ln w="12903" cap="flat">
              <a:solidFill>
                <a:srgbClr val="201E1E">
                  <a:alpha val="100000"/>
                </a:srgbClr>
              </a:solidFill>
              <a:prstDash val="solid"/>
              <a:miter lim="800000"/>
            </a:ln>
          </p:spPr>
          <p:txBody>
            <a:bodyPr rtlCol="0"/>
            <a:lstStyle/>
            <a:p>
              <a:pPr algn="ctr"/>
              <a:endParaRPr lang="zh-CN" altLang="en-US" sz="1350"/>
            </a:p>
          </p:txBody>
        </p:sp>
        <p:sp>
          <p:nvSpPr>
            <p:cNvPr id="252" name="path"/>
            <p:cNvSpPr/>
            <p:nvPr/>
          </p:nvSpPr>
          <p:spPr>
            <a:xfrm>
              <a:off x="2609978" y="888177"/>
              <a:ext cx="119778" cy="113863"/>
            </a:xfrm>
            <a:custGeom>
              <a:avLst/>
              <a:gdLst/>
              <a:ahLst/>
              <a:cxnLst/>
              <a:rect l="0" t="0" r="0" b="0"/>
              <a:pathLst>
                <a:path w="188" h="179">
                  <a:moveTo>
                    <a:pt x="188" y="179"/>
                  </a:moveTo>
                  <a:lnTo>
                    <a:pt x="18" y="148"/>
                  </a:lnTo>
                  <a:lnTo>
                    <a:pt x="18" y="148"/>
                  </a:lnTo>
                  <a:cubicBezTo>
                    <a:pt x="7" y="146"/>
                    <a:pt x="0" y="136"/>
                    <a:pt x="1" y="125"/>
                  </a:cubicBezTo>
                  <a:lnTo>
                    <a:pt x="1" y="125"/>
                  </a:lnTo>
                  <a:cubicBezTo>
                    <a:pt x="3" y="114"/>
                    <a:pt x="14" y="107"/>
                    <a:pt x="25" y="109"/>
                  </a:cubicBezTo>
                  <a:lnTo>
                    <a:pt x="128" y="127"/>
                  </a:lnTo>
                  <a:lnTo>
                    <a:pt x="93" y="29"/>
                  </a:lnTo>
                  <a:lnTo>
                    <a:pt x="93" y="29"/>
                  </a:lnTo>
                  <a:cubicBezTo>
                    <a:pt x="89" y="18"/>
                    <a:pt x="95" y="7"/>
                    <a:pt x="105" y="3"/>
                  </a:cubicBezTo>
                  <a:cubicBezTo>
                    <a:pt x="105" y="3"/>
                    <a:pt x="105" y="3"/>
                    <a:pt x="105" y="3"/>
                  </a:cubicBezTo>
                  <a:lnTo>
                    <a:pt x="105" y="3"/>
                  </a:lnTo>
                  <a:cubicBezTo>
                    <a:pt x="116" y="0"/>
                    <a:pt x="127" y="5"/>
                    <a:pt x="131" y="15"/>
                  </a:cubicBezTo>
                  <a:lnTo>
                    <a:pt x="188" y="179"/>
                  </a:lnTo>
                  <a:close/>
                </a:path>
              </a:pathLst>
            </a:custGeom>
            <a:solidFill>
              <a:srgbClr val="201E1E">
                <a:alpha val="100000"/>
              </a:srgbClr>
            </a:solidFill>
            <a:ln cap="flat">
              <a:noFill/>
              <a:prstDash val="solid"/>
              <a:miter lim="0"/>
            </a:ln>
          </p:spPr>
          <p:txBody>
            <a:bodyPr rtlCol="0"/>
            <a:lstStyle/>
            <a:p>
              <a:pPr algn="ctr"/>
              <a:endParaRPr lang="zh-CN" altLang="en-US" sz="1350"/>
            </a:p>
          </p:txBody>
        </p:sp>
        <p:sp>
          <p:nvSpPr>
            <p:cNvPr id="254" name="path"/>
            <p:cNvSpPr/>
            <p:nvPr/>
          </p:nvSpPr>
          <p:spPr>
            <a:xfrm>
              <a:off x="1929506" y="308857"/>
              <a:ext cx="797397" cy="664548"/>
            </a:xfrm>
            <a:custGeom>
              <a:avLst/>
              <a:gdLst/>
              <a:ahLst/>
              <a:cxnLst/>
              <a:rect l="0" t="0" r="0" b="0"/>
              <a:pathLst>
                <a:path w="1255" h="1046">
                  <a:moveTo>
                    <a:pt x="6" y="1038"/>
                  </a:moveTo>
                  <a:lnTo>
                    <a:pt x="1249" y="7"/>
                  </a:lnTo>
                </a:path>
              </a:pathLst>
            </a:custGeom>
            <a:noFill/>
            <a:ln w="12903" cap="flat">
              <a:solidFill>
                <a:srgbClr val="201E1E">
                  <a:alpha val="100000"/>
                </a:srgbClr>
              </a:solidFill>
              <a:prstDash val="solid"/>
              <a:miter lim="800000"/>
            </a:ln>
          </p:spPr>
          <p:txBody>
            <a:bodyPr rtlCol="0"/>
            <a:lstStyle/>
            <a:p>
              <a:pPr algn="ctr"/>
              <a:endParaRPr lang="zh-CN" altLang="en-US" sz="1350"/>
            </a:p>
          </p:txBody>
        </p:sp>
        <p:sp>
          <p:nvSpPr>
            <p:cNvPr id="256" name="path"/>
            <p:cNvSpPr/>
            <p:nvPr/>
          </p:nvSpPr>
          <p:spPr>
            <a:xfrm>
              <a:off x="2609654" y="308040"/>
              <a:ext cx="120102" cy="113289"/>
            </a:xfrm>
            <a:custGeom>
              <a:avLst/>
              <a:gdLst/>
              <a:ahLst/>
              <a:cxnLst/>
              <a:rect l="0" t="0" r="0" b="0"/>
              <a:pathLst>
                <a:path w="189" h="178">
                  <a:moveTo>
                    <a:pt x="189" y="0"/>
                  </a:moveTo>
                  <a:lnTo>
                    <a:pt x="18" y="28"/>
                  </a:lnTo>
                  <a:lnTo>
                    <a:pt x="18" y="28"/>
                  </a:lnTo>
                  <a:cubicBezTo>
                    <a:pt x="7" y="30"/>
                    <a:pt x="0" y="40"/>
                    <a:pt x="1" y="51"/>
                  </a:cubicBezTo>
                  <a:lnTo>
                    <a:pt x="1" y="51"/>
                  </a:lnTo>
                  <a:cubicBezTo>
                    <a:pt x="3" y="62"/>
                    <a:pt x="13" y="69"/>
                    <a:pt x="24" y="67"/>
                  </a:cubicBezTo>
                  <a:lnTo>
                    <a:pt x="128" y="50"/>
                  </a:lnTo>
                  <a:lnTo>
                    <a:pt x="92" y="148"/>
                  </a:lnTo>
                  <a:lnTo>
                    <a:pt x="92" y="148"/>
                  </a:lnTo>
                  <a:cubicBezTo>
                    <a:pt x="88" y="159"/>
                    <a:pt x="93" y="170"/>
                    <a:pt x="104" y="174"/>
                  </a:cubicBezTo>
                  <a:cubicBezTo>
                    <a:pt x="104" y="174"/>
                    <a:pt x="104" y="174"/>
                    <a:pt x="104" y="174"/>
                  </a:cubicBezTo>
                  <a:lnTo>
                    <a:pt x="104" y="174"/>
                  </a:lnTo>
                  <a:cubicBezTo>
                    <a:pt x="114" y="178"/>
                    <a:pt x="125" y="173"/>
                    <a:pt x="129" y="162"/>
                  </a:cubicBezTo>
                  <a:lnTo>
                    <a:pt x="189" y="0"/>
                  </a:lnTo>
                  <a:close/>
                </a:path>
              </a:pathLst>
            </a:custGeom>
            <a:solidFill>
              <a:srgbClr val="201E1E">
                <a:alpha val="100000"/>
              </a:srgbClr>
            </a:solidFill>
            <a:ln cap="flat">
              <a:noFill/>
              <a:prstDash val="solid"/>
              <a:miter lim="0"/>
            </a:ln>
          </p:spPr>
          <p:txBody>
            <a:bodyPr rtlCol="0"/>
            <a:lstStyle/>
            <a:p>
              <a:pPr algn="ctr"/>
              <a:endParaRPr lang="zh-CN" altLang="en-US" sz="1350"/>
            </a:p>
          </p:txBody>
        </p:sp>
      </p:grpSp>
      <p:grpSp>
        <p:nvGrpSpPr>
          <p:cNvPr id="22" name="group 22"/>
          <p:cNvGrpSpPr/>
          <p:nvPr/>
        </p:nvGrpSpPr>
        <p:grpSpPr>
          <a:xfrm rot="21600000">
            <a:off x="4328279" y="1292977"/>
            <a:ext cx="3614694" cy="973702"/>
            <a:chOff x="0" y="0"/>
            <a:chExt cx="4819592" cy="1298269"/>
          </a:xfrm>
        </p:grpSpPr>
        <p:sp>
          <p:nvSpPr>
            <p:cNvPr id="258" name="path"/>
            <p:cNvSpPr/>
            <p:nvPr/>
          </p:nvSpPr>
          <p:spPr>
            <a:xfrm>
              <a:off x="3226" y="528161"/>
              <a:ext cx="254000" cy="254000"/>
            </a:xfrm>
            <a:custGeom>
              <a:avLst/>
              <a:gdLst/>
              <a:ahLst/>
              <a:cxnLst/>
              <a:rect l="0" t="0" r="0" b="0"/>
              <a:pathLst>
                <a:path w="400" h="400">
                  <a:moveTo>
                    <a:pt x="0" y="200"/>
                  </a:moveTo>
                  <a:cubicBezTo>
                    <a:pt x="0" y="89"/>
                    <a:pt x="89" y="0"/>
                    <a:pt x="200" y="0"/>
                  </a:cubicBezTo>
                  <a:cubicBezTo>
                    <a:pt x="310" y="0"/>
                    <a:pt x="400" y="89"/>
                    <a:pt x="400" y="200"/>
                  </a:cubicBezTo>
                  <a:cubicBezTo>
                    <a:pt x="400" y="310"/>
                    <a:pt x="310" y="400"/>
                    <a:pt x="200" y="400"/>
                  </a:cubicBezTo>
                  <a:cubicBezTo>
                    <a:pt x="89" y="400"/>
                    <a:pt x="0" y="310"/>
                    <a:pt x="0" y="200"/>
                  </a:cubicBezTo>
                </a:path>
              </a:pathLst>
            </a:custGeom>
            <a:solidFill>
              <a:srgbClr val="D9D6D6">
                <a:alpha val="100000"/>
              </a:srgbClr>
            </a:solidFill>
            <a:ln cap="flat">
              <a:noFill/>
              <a:prstDash val="solid"/>
              <a:miter lim="0"/>
            </a:ln>
          </p:spPr>
          <p:txBody>
            <a:bodyPr rtlCol="0"/>
            <a:lstStyle/>
            <a:p>
              <a:pPr algn="ctr"/>
              <a:endParaRPr lang="zh-CN" altLang="en-US" sz="1350"/>
            </a:p>
          </p:txBody>
        </p:sp>
        <p:sp>
          <p:nvSpPr>
            <p:cNvPr id="260" name="path"/>
            <p:cNvSpPr/>
            <p:nvPr/>
          </p:nvSpPr>
          <p:spPr>
            <a:xfrm>
              <a:off x="0" y="524935"/>
              <a:ext cx="264515" cy="264515"/>
            </a:xfrm>
            <a:custGeom>
              <a:avLst/>
              <a:gdLst/>
              <a:ahLst/>
              <a:cxnLst/>
              <a:rect l="0" t="0" r="0" b="0"/>
              <a:pathLst>
                <a:path w="416" h="416">
                  <a:moveTo>
                    <a:pt x="5" y="208"/>
                  </a:moveTo>
                  <a:cubicBezTo>
                    <a:pt x="5" y="96"/>
                    <a:pt x="96" y="5"/>
                    <a:pt x="208" y="5"/>
                  </a:cubicBezTo>
                  <a:cubicBezTo>
                    <a:pt x="320" y="5"/>
                    <a:pt x="411" y="96"/>
                    <a:pt x="411" y="208"/>
                  </a:cubicBezTo>
                  <a:cubicBezTo>
                    <a:pt x="411" y="320"/>
                    <a:pt x="320" y="411"/>
                    <a:pt x="208" y="411"/>
                  </a:cubicBezTo>
                  <a:cubicBezTo>
                    <a:pt x="96" y="411"/>
                    <a:pt x="5" y="320"/>
                    <a:pt x="5" y="208"/>
                  </a:cubicBezTo>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262" name="path"/>
            <p:cNvSpPr/>
            <p:nvPr/>
          </p:nvSpPr>
          <p:spPr>
            <a:xfrm>
              <a:off x="1290159" y="3225"/>
              <a:ext cx="935996" cy="304803"/>
            </a:xfrm>
            <a:custGeom>
              <a:avLst/>
              <a:gdLst/>
              <a:ahLst/>
              <a:cxnLst/>
              <a:rect l="0" t="0" r="0" b="0"/>
              <a:pathLst>
                <a:path w="1474" h="480">
                  <a:moveTo>
                    <a:pt x="0" y="0"/>
                  </a:moveTo>
                  <a:lnTo>
                    <a:pt x="1474" y="0"/>
                  </a:lnTo>
                  <a:lnTo>
                    <a:pt x="1474" y="480"/>
                  </a:lnTo>
                  <a:lnTo>
                    <a:pt x="0" y="480"/>
                  </a:lnTo>
                  <a:lnTo>
                    <a:pt x="0" y="0"/>
                  </a:lnTo>
                  <a:close/>
                </a:path>
              </a:pathLst>
            </a:custGeom>
            <a:solidFill>
              <a:srgbClr val="FFE9A9">
                <a:alpha val="100000"/>
              </a:srgbClr>
            </a:solidFill>
            <a:ln cap="flat">
              <a:noFill/>
              <a:prstDash val="solid"/>
              <a:miter lim="0"/>
            </a:ln>
          </p:spPr>
          <p:txBody>
            <a:bodyPr rtlCol="0"/>
            <a:lstStyle/>
            <a:p>
              <a:pPr algn="ctr"/>
              <a:endParaRPr lang="zh-CN" altLang="en-US" sz="1350"/>
            </a:p>
          </p:txBody>
        </p:sp>
        <p:sp>
          <p:nvSpPr>
            <p:cNvPr id="264" name="path"/>
            <p:cNvSpPr/>
            <p:nvPr/>
          </p:nvSpPr>
          <p:spPr>
            <a:xfrm>
              <a:off x="1286933" y="0"/>
              <a:ext cx="957424" cy="316132"/>
            </a:xfrm>
            <a:custGeom>
              <a:avLst/>
              <a:gdLst/>
              <a:ahLst/>
              <a:cxnLst/>
              <a:rect l="0" t="0" r="0" b="0"/>
              <a:pathLst>
                <a:path w="1507" h="497">
                  <a:moveTo>
                    <a:pt x="5" y="5"/>
                  </a:moveTo>
                  <a:lnTo>
                    <a:pt x="1502" y="5"/>
                  </a:lnTo>
                  <a:lnTo>
                    <a:pt x="1502" y="492"/>
                  </a:lnTo>
                  <a:lnTo>
                    <a:pt x="5" y="492"/>
                  </a:lnTo>
                  <a:lnTo>
                    <a:pt x="5" y="5"/>
                  </a:lnTo>
                  <a:close/>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266" name="path"/>
            <p:cNvSpPr/>
            <p:nvPr/>
          </p:nvSpPr>
          <p:spPr>
            <a:xfrm>
              <a:off x="4558302" y="528161"/>
              <a:ext cx="254000" cy="254000"/>
            </a:xfrm>
            <a:custGeom>
              <a:avLst/>
              <a:gdLst/>
              <a:ahLst/>
              <a:cxnLst/>
              <a:rect l="0" t="0" r="0" b="0"/>
              <a:pathLst>
                <a:path w="400" h="400">
                  <a:moveTo>
                    <a:pt x="0" y="200"/>
                  </a:moveTo>
                  <a:cubicBezTo>
                    <a:pt x="0" y="89"/>
                    <a:pt x="89" y="0"/>
                    <a:pt x="200" y="0"/>
                  </a:cubicBezTo>
                  <a:cubicBezTo>
                    <a:pt x="310" y="0"/>
                    <a:pt x="400" y="89"/>
                    <a:pt x="400" y="200"/>
                  </a:cubicBezTo>
                  <a:cubicBezTo>
                    <a:pt x="400" y="310"/>
                    <a:pt x="310" y="400"/>
                    <a:pt x="200" y="400"/>
                  </a:cubicBezTo>
                  <a:cubicBezTo>
                    <a:pt x="89" y="400"/>
                    <a:pt x="0" y="310"/>
                    <a:pt x="0" y="200"/>
                  </a:cubicBezTo>
                </a:path>
              </a:pathLst>
            </a:custGeom>
            <a:solidFill>
              <a:srgbClr val="D81E00">
                <a:alpha val="100000"/>
              </a:srgbClr>
            </a:solidFill>
            <a:ln cap="flat">
              <a:noFill/>
              <a:prstDash val="solid"/>
              <a:miter lim="0"/>
            </a:ln>
          </p:spPr>
          <p:txBody>
            <a:bodyPr rtlCol="0"/>
            <a:lstStyle/>
            <a:p>
              <a:pPr algn="ctr"/>
              <a:endParaRPr lang="zh-CN" altLang="en-US" sz="1350"/>
            </a:p>
          </p:txBody>
        </p:sp>
        <p:sp>
          <p:nvSpPr>
            <p:cNvPr id="268" name="path"/>
            <p:cNvSpPr/>
            <p:nvPr/>
          </p:nvSpPr>
          <p:spPr>
            <a:xfrm>
              <a:off x="4555077" y="524935"/>
              <a:ext cx="264515" cy="264515"/>
            </a:xfrm>
            <a:custGeom>
              <a:avLst/>
              <a:gdLst/>
              <a:ahLst/>
              <a:cxnLst/>
              <a:rect l="0" t="0" r="0" b="0"/>
              <a:pathLst>
                <a:path w="416" h="416">
                  <a:moveTo>
                    <a:pt x="5" y="208"/>
                  </a:moveTo>
                  <a:cubicBezTo>
                    <a:pt x="5" y="96"/>
                    <a:pt x="96" y="5"/>
                    <a:pt x="208" y="5"/>
                  </a:cubicBezTo>
                  <a:cubicBezTo>
                    <a:pt x="320" y="5"/>
                    <a:pt x="411" y="96"/>
                    <a:pt x="411" y="208"/>
                  </a:cubicBezTo>
                  <a:cubicBezTo>
                    <a:pt x="411" y="320"/>
                    <a:pt x="320" y="411"/>
                    <a:pt x="208" y="411"/>
                  </a:cubicBezTo>
                  <a:cubicBezTo>
                    <a:pt x="96" y="411"/>
                    <a:pt x="5" y="320"/>
                    <a:pt x="5" y="208"/>
                  </a:cubicBezTo>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270" name="path"/>
            <p:cNvSpPr/>
            <p:nvPr/>
          </p:nvSpPr>
          <p:spPr>
            <a:xfrm>
              <a:off x="771676" y="149176"/>
              <a:ext cx="505574" cy="1010754"/>
            </a:xfrm>
            <a:custGeom>
              <a:avLst/>
              <a:gdLst/>
              <a:ahLst/>
              <a:cxnLst/>
              <a:rect l="0" t="0" r="0" b="0"/>
              <a:pathLst>
                <a:path w="796" h="1591">
                  <a:moveTo>
                    <a:pt x="796" y="10"/>
                  </a:moveTo>
                  <a:lnTo>
                    <a:pt x="10" y="10"/>
                  </a:lnTo>
                  <a:lnTo>
                    <a:pt x="10" y="1581"/>
                  </a:lnTo>
                  <a:lnTo>
                    <a:pt x="775" y="1581"/>
                  </a:lnTo>
                </a:path>
              </a:pathLst>
            </a:custGeom>
            <a:noFill/>
            <a:ln w="12903" cap="flat">
              <a:solidFill>
                <a:srgbClr val="201E1E">
                  <a:alpha val="100000"/>
                </a:srgbClr>
              </a:solidFill>
              <a:prstDash val="solid"/>
              <a:miter lim="800000"/>
            </a:ln>
          </p:spPr>
          <p:txBody>
            <a:bodyPr rtlCol="0"/>
            <a:lstStyle/>
            <a:p>
              <a:pPr algn="ctr"/>
              <a:endParaRPr lang="zh-CN" altLang="en-US" sz="1350"/>
            </a:p>
          </p:txBody>
        </p:sp>
        <p:sp>
          <p:nvSpPr>
            <p:cNvPr id="272" name="path"/>
            <p:cNvSpPr/>
            <p:nvPr/>
          </p:nvSpPr>
          <p:spPr>
            <a:xfrm>
              <a:off x="1174249" y="96674"/>
              <a:ext cx="128609" cy="1100046"/>
            </a:xfrm>
            <a:custGeom>
              <a:avLst/>
              <a:gdLst/>
              <a:ahLst/>
              <a:cxnLst/>
              <a:rect l="0" t="0" r="0" b="0"/>
              <a:pathLst>
                <a:path w="202" h="1732">
                  <a:moveTo>
                    <a:pt x="202" y="92"/>
                  </a:moveTo>
                  <a:lnTo>
                    <a:pt x="52" y="5"/>
                  </a:lnTo>
                  <a:lnTo>
                    <a:pt x="52" y="5"/>
                  </a:lnTo>
                  <a:cubicBezTo>
                    <a:pt x="43" y="0"/>
                    <a:pt x="31" y="3"/>
                    <a:pt x="25" y="12"/>
                  </a:cubicBezTo>
                  <a:lnTo>
                    <a:pt x="25" y="12"/>
                  </a:lnTo>
                  <a:cubicBezTo>
                    <a:pt x="20" y="22"/>
                    <a:pt x="23" y="34"/>
                    <a:pt x="32" y="40"/>
                  </a:cubicBezTo>
                  <a:lnTo>
                    <a:pt x="123" y="92"/>
                  </a:lnTo>
                  <a:lnTo>
                    <a:pt x="32" y="145"/>
                  </a:lnTo>
                  <a:lnTo>
                    <a:pt x="32" y="145"/>
                  </a:lnTo>
                  <a:cubicBezTo>
                    <a:pt x="23" y="151"/>
                    <a:pt x="20" y="163"/>
                    <a:pt x="25" y="172"/>
                  </a:cubicBezTo>
                  <a:cubicBezTo>
                    <a:pt x="25" y="172"/>
                    <a:pt x="25" y="172"/>
                    <a:pt x="25" y="172"/>
                  </a:cubicBezTo>
                  <a:lnTo>
                    <a:pt x="25" y="172"/>
                  </a:lnTo>
                  <a:cubicBezTo>
                    <a:pt x="31" y="182"/>
                    <a:pt x="43" y="185"/>
                    <a:pt x="52" y="180"/>
                  </a:cubicBezTo>
                  <a:lnTo>
                    <a:pt x="202" y="92"/>
                  </a:lnTo>
                  <a:close/>
                </a:path>
                <a:path w="202" h="1732">
                  <a:moveTo>
                    <a:pt x="182" y="1639"/>
                  </a:moveTo>
                  <a:lnTo>
                    <a:pt x="32" y="1552"/>
                  </a:lnTo>
                  <a:lnTo>
                    <a:pt x="32" y="1552"/>
                  </a:lnTo>
                  <a:cubicBezTo>
                    <a:pt x="23" y="1546"/>
                    <a:pt x="11" y="1549"/>
                    <a:pt x="5" y="1559"/>
                  </a:cubicBezTo>
                  <a:lnTo>
                    <a:pt x="5" y="1559"/>
                  </a:lnTo>
                  <a:cubicBezTo>
                    <a:pt x="0" y="1568"/>
                    <a:pt x="3" y="1581"/>
                    <a:pt x="12" y="1586"/>
                  </a:cubicBezTo>
                  <a:lnTo>
                    <a:pt x="103" y="1639"/>
                  </a:lnTo>
                  <a:lnTo>
                    <a:pt x="12" y="1692"/>
                  </a:lnTo>
                  <a:lnTo>
                    <a:pt x="12" y="1692"/>
                  </a:lnTo>
                  <a:cubicBezTo>
                    <a:pt x="3" y="1697"/>
                    <a:pt x="0" y="1710"/>
                    <a:pt x="5" y="1719"/>
                  </a:cubicBezTo>
                  <a:cubicBezTo>
                    <a:pt x="5" y="1719"/>
                    <a:pt x="5" y="1719"/>
                    <a:pt x="5" y="1719"/>
                  </a:cubicBezTo>
                  <a:lnTo>
                    <a:pt x="5" y="1719"/>
                  </a:lnTo>
                  <a:cubicBezTo>
                    <a:pt x="11" y="1729"/>
                    <a:pt x="23" y="1732"/>
                    <a:pt x="32" y="1726"/>
                  </a:cubicBezTo>
                  <a:lnTo>
                    <a:pt x="182" y="1639"/>
                  </a:lnTo>
                  <a:close/>
                </a:path>
              </a:pathLst>
            </a:custGeom>
            <a:solidFill>
              <a:srgbClr val="201E1E">
                <a:alpha val="100000"/>
              </a:srgbClr>
            </a:solidFill>
            <a:ln cap="flat">
              <a:noFill/>
              <a:prstDash val="solid"/>
              <a:miter lim="0"/>
            </a:ln>
          </p:spPr>
          <p:txBody>
            <a:bodyPr rtlCol="0"/>
            <a:lstStyle/>
            <a:p>
              <a:pPr algn="ctr"/>
              <a:endParaRPr lang="zh-CN" altLang="en-US" sz="1350"/>
            </a:p>
          </p:txBody>
        </p:sp>
        <p:sp>
          <p:nvSpPr>
            <p:cNvPr id="274" name="path"/>
            <p:cNvSpPr/>
            <p:nvPr/>
          </p:nvSpPr>
          <p:spPr>
            <a:xfrm>
              <a:off x="2226155" y="149176"/>
              <a:ext cx="296165" cy="12903"/>
            </a:xfrm>
            <a:custGeom>
              <a:avLst/>
              <a:gdLst/>
              <a:ahLst/>
              <a:cxnLst/>
              <a:rect l="0" t="0" r="0" b="0"/>
              <a:pathLst>
                <a:path w="466" h="20">
                  <a:moveTo>
                    <a:pt x="0" y="10"/>
                  </a:moveTo>
                  <a:lnTo>
                    <a:pt x="466" y="10"/>
                  </a:lnTo>
                </a:path>
              </a:pathLst>
            </a:custGeom>
            <a:noFill/>
            <a:ln w="12903" cap="flat">
              <a:solidFill>
                <a:srgbClr val="201E1E">
                  <a:alpha val="100000"/>
                </a:srgbClr>
              </a:solidFill>
              <a:prstDash val="solid"/>
              <a:miter lim="800000"/>
            </a:ln>
          </p:spPr>
          <p:txBody>
            <a:bodyPr rtlCol="0"/>
            <a:lstStyle/>
            <a:p>
              <a:pPr algn="ctr"/>
              <a:endParaRPr lang="zh-CN" altLang="en-US" sz="1350"/>
            </a:p>
          </p:txBody>
        </p:sp>
        <p:sp>
          <p:nvSpPr>
            <p:cNvPr id="276" name="path"/>
            <p:cNvSpPr/>
            <p:nvPr/>
          </p:nvSpPr>
          <p:spPr>
            <a:xfrm>
              <a:off x="2426951" y="96674"/>
              <a:ext cx="115909" cy="117909"/>
            </a:xfrm>
            <a:custGeom>
              <a:avLst/>
              <a:gdLst/>
              <a:ahLst/>
              <a:cxnLst/>
              <a:rect l="0" t="0" r="0" b="0"/>
              <a:pathLst>
                <a:path w="182" h="185">
                  <a:moveTo>
                    <a:pt x="182" y="92"/>
                  </a:moveTo>
                  <a:lnTo>
                    <a:pt x="32" y="180"/>
                  </a:lnTo>
                  <a:lnTo>
                    <a:pt x="32" y="180"/>
                  </a:lnTo>
                  <a:cubicBezTo>
                    <a:pt x="23" y="185"/>
                    <a:pt x="11" y="182"/>
                    <a:pt x="5" y="172"/>
                  </a:cubicBezTo>
                  <a:lnTo>
                    <a:pt x="5" y="172"/>
                  </a:lnTo>
                  <a:cubicBezTo>
                    <a:pt x="0" y="163"/>
                    <a:pt x="3" y="151"/>
                    <a:pt x="12" y="145"/>
                  </a:cubicBezTo>
                  <a:lnTo>
                    <a:pt x="103" y="92"/>
                  </a:lnTo>
                  <a:lnTo>
                    <a:pt x="12" y="40"/>
                  </a:lnTo>
                  <a:lnTo>
                    <a:pt x="12" y="40"/>
                  </a:lnTo>
                  <a:cubicBezTo>
                    <a:pt x="3" y="34"/>
                    <a:pt x="0" y="22"/>
                    <a:pt x="5" y="12"/>
                  </a:cubicBezTo>
                  <a:cubicBezTo>
                    <a:pt x="5" y="12"/>
                    <a:pt x="5" y="12"/>
                    <a:pt x="5" y="12"/>
                  </a:cubicBezTo>
                  <a:lnTo>
                    <a:pt x="5" y="12"/>
                  </a:lnTo>
                  <a:cubicBezTo>
                    <a:pt x="11" y="3"/>
                    <a:pt x="23" y="0"/>
                    <a:pt x="32" y="5"/>
                  </a:cubicBezTo>
                  <a:lnTo>
                    <a:pt x="182" y="92"/>
                  </a:lnTo>
                  <a:close/>
                </a:path>
              </a:pathLst>
            </a:custGeom>
            <a:solidFill>
              <a:srgbClr val="201E1E">
                <a:alpha val="100000"/>
              </a:srgbClr>
            </a:solidFill>
            <a:ln cap="flat">
              <a:noFill/>
              <a:prstDash val="solid"/>
              <a:miter lim="0"/>
            </a:ln>
          </p:spPr>
          <p:txBody>
            <a:bodyPr rtlCol="0"/>
            <a:lstStyle/>
            <a:p>
              <a:pPr algn="ctr"/>
              <a:endParaRPr lang="zh-CN" altLang="en-US" sz="1350"/>
            </a:p>
          </p:txBody>
        </p:sp>
        <p:sp>
          <p:nvSpPr>
            <p:cNvPr id="278" name="path"/>
            <p:cNvSpPr/>
            <p:nvPr/>
          </p:nvSpPr>
          <p:spPr>
            <a:xfrm>
              <a:off x="257225" y="149176"/>
              <a:ext cx="4284400" cy="1010754"/>
            </a:xfrm>
            <a:custGeom>
              <a:avLst/>
              <a:gdLst/>
              <a:ahLst/>
              <a:cxnLst/>
              <a:rect l="0" t="0" r="0" b="0"/>
              <a:pathLst>
                <a:path w="6747" h="1591">
                  <a:moveTo>
                    <a:pt x="0" y="796"/>
                  </a:moveTo>
                  <a:lnTo>
                    <a:pt x="866" y="796"/>
                  </a:lnTo>
                  <a:moveTo>
                    <a:pt x="5074" y="10"/>
                  </a:moveTo>
                  <a:lnTo>
                    <a:pt x="5900" y="10"/>
                  </a:lnTo>
                  <a:lnTo>
                    <a:pt x="5900" y="1581"/>
                  </a:lnTo>
                  <a:lnTo>
                    <a:pt x="5094" y="1581"/>
                  </a:lnTo>
                  <a:moveTo>
                    <a:pt x="5893" y="796"/>
                  </a:moveTo>
                  <a:lnTo>
                    <a:pt x="6747" y="796"/>
                  </a:lnTo>
                </a:path>
              </a:pathLst>
            </a:custGeom>
            <a:noFill/>
            <a:ln w="12903" cap="flat">
              <a:solidFill>
                <a:srgbClr val="201E1E">
                  <a:alpha val="100000"/>
                </a:srgbClr>
              </a:solidFill>
              <a:prstDash val="solid"/>
              <a:miter lim="800000"/>
            </a:ln>
          </p:spPr>
          <p:txBody>
            <a:bodyPr rtlCol="0"/>
            <a:lstStyle/>
            <a:p>
              <a:pPr algn="ctr"/>
              <a:endParaRPr lang="zh-CN" altLang="en-US" sz="1350"/>
            </a:p>
          </p:txBody>
        </p:sp>
        <p:sp>
          <p:nvSpPr>
            <p:cNvPr id="280" name="path"/>
            <p:cNvSpPr/>
            <p:nvPr/>
          </p:nvSpPr>
          <p:spPr>
            <a:xfrm>
              <a:off x="4442383" y="596206"/>
              <a:ext cx="115909" cy="117909"/>
            </a:xfrm>
            <a:custGeom>
              <a:avLst/>
              <a:gdLst/>
              <a:ahLst/>
              <a:cxnLst/>
              <a:rect l="0" t="0" r="0" b="0"/>
              <a:pathLst>
                <a:path w="182" h="185">
                  <a:moveTo>
                    <a:pt x="182" y="92"/>
                  </a:moveTo>
                  <a:lnTo>
                    <a:pt x="32" y="180"/>
                  </a:lnTo>
                  <a:lnTo>
                    <a:pt x="32" y="180"/>
                  </a:lnTo>
                  <a:cubicBezTo>
                    <a:pt x="23" y="185"/>
                    <a:pt x="11" y="182"/>
                    <a:pt x="5" y="172"/>
                  </a:cubicBezTo>
                  <a:lnTo>
                    <a:pt x="5" y="172"/>
                  </a:lnTo>
                  <a:cubicBezTo>
                    <a:pt x="0" y="163"/>
                    <a:pt x="3" y="151"/>
                    <a:pt x="12" y="145"/>
                  </a:cubicBezTo>
                  <a:lnTo>
                    <a:pt x="103" y="92"/>
                  </a:lnTo>
                  <a:lnTo>
                    <a:pt x="12" y="40"/>
                  </a:lnTo>
                  <a:lnTo>
                    <a:pt x="12" y="40"/>
                  </a:lnTo>
                  <a:cubicBezTo>
                    <a:pt x="3" y="34"/>
                    <a:pt x="0" y="22"/>
                    <a:pt x="5" y="12"/>
                  </a:cubicBezTo>
                  <a:cubicBezTo>
                    <a:pt x="5" y="12"/>
                    <a:pt x="5" y="12"/>
                    <a:pt x="5" y="12"/>
                  </a:cubicBezTo>
                  <a:lnTo>
                    <a:pt x="5" y="12"/>
                  </a:lnTo>
                  <a:cubicBezTo>
                    <a:pt x="11" y="3"/>
                    <a:pt x="23" y="0"/>
                    <a:pt x="32" y="5"/>
                  </a:cubicBezTo>
                  <a:lnTo>
                    <a:pt x="182" y="92"/>
                  </a:lnTo>
                  <a:close/>
                </a:path>
              </a:pathLst>
            </a:custGeom>
            <a:solidFill>
              <a:srgbClr val="201E1E">
                <a:alpha val="100000"/>
              </a:srgbClr>
            </a:solidFill>
            <a:ln cap="flat">
              <a:noFill/>
              <a:prstDash val="solid"/>
              <a:miter lim="0"/>
            </a:ln>
          </p:spPr>
          <p:txBody>
            <a:bodyPr rtlCol="0"/>
            <a:lstStyle/>
            <a:p>
              <a:pPr algn="ctr"/>
              <a:endParaRPr lang="zh-CN" altLang="en-US" sz="1350"/>
            </a:p>
          </p:txBody>
        </p:sp>
        <p:sp>
          <p:nvSpPr>
            <p:cNvPr id="282" name="path"/>
            <p:cNvSpPr/>
            <p:nvPr/>
          </p:nvSpPr>
          <p:spPr>
            <a:xfrm>
              <a:off x="2543225" y="3225"/>
              <a:ext cx="935997" cy="304803"/>
            </a:xfrm>
            <a:custGeom>
              <a:avLst/>
              <a:gdLst/>
              <a:ahLst/>
              <a:cxnLst/>
              <a:rect l="0" t="0" r="0" b="0"/>
              <a:pathLst>
                <a:path w="1474" h="480">
                  <a:moveTo>
                    <a:pt x="0" y="0"/>
                  </a:moveTo>
                  <a:lnTo>
                    <a:pt x="1474" y="0"/>
                  </a:lnTo>
                  <a:lnTo>
                    <a:pt x="1474" y="480"/>
                  </a:lnTo>
                  <a:lnTo>
                    <a:pt x="0" y="480"/>
                  </a:lnTo>
                  <a:lnTo>
                    <a:pt x="0" y="0"/>
                  </a:lnTo>
                  <a:close/>
                </a:path>
              </a:pathLst>
            </a:custGeom>
            <a:solidFill>
              <a:srgbClr val="FFE9A9">
                <a:alpha val="100000"/>
              </a:srgbClr>
            </a:solidFill>
            <a:ln cap="flat">
              <a:noFill/>
              <a:prstDash val="solid"/>
              <a:miter lim="0"/>
            </a:ln>
          </p:spPr>
          <p:txBody>
            <a:bodyPr rtlCol="0"/>
            <a:lstStyle/>
            <a:p>
              <a:pPr algn="ctr"/>
              <a:endParaRPr lang="zh-CN" altLang="en-US" sz="1350"/>
            </a:p>
          </p:txBody>
        </p:sp>
        <p:sp>
          <p:nvSpPr>
            <p:cNvPr id="284" name="path"/>
            <p:cNvSpPr/>
            <p:nvPr/>
          </p:nvSpPr>
          <p:spPr>
            <a:xfrm>
              <a:off x="2539999" y="0"/>
              <a:ext cx="957424" cy="316132"/>
            </a:xfrm>
            <a:custGeom>
              <a:avLst/>
              <a:gdLst/>
              <a:ahLst/>
              <a:cxnLst/>
              <a:rect l="0" t="0" r="0" b="0"/>
              <a:pathLst>
                <a:path w="1507" h="497">
                  <a:moveTo>
                    <a:pt x="5" y="5"/>
                  </a:moveTo>
                  <a:lnTo>
                    <a:pt x="1502" y="5"/>
                  </a:lnTo>
                  <a:lnTo>
                    <a:pt x="1502" y="492"/>
                  </a:lnTo>
                  <a:lnTo>
                    <a:pt x="5" y="492"/>
                  </a:lnTo>
                  <a:lnTo>
                    <a:pt x="5" y="5"/>
                  </a:lnTo>
                  <a:close/>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286" name="path"/>
            <p:cNvSpPr/>
            <p:nvPr/>
          </p:nvSpPr>
          <p:spPr>
            <a:xfrm>
              <a:off x="1290159" y="985363"/>
              <a:ext cx="935996" cy="304803"/>
            </a:xfrm>
            <a:custGeom>
              <a:avLst/>
              <a:gdLst/>
              <a:ahLst/>
              <a:cxnLst/>
              <a:rect l="0" t="0" r="0" b="0"/>
              <a:pathLst>
                <a:path w="1474" h="480">
                  <a:moveTo>
                    <a:pt x="0" y="0"/>
                  </a:moveTo>
                  <a:lnTo>
                    <a:pt x="1474" y="0"/>
                  </a:lnTo>
                  <a:lnTo>
                    <a:pt x="1474" y="480"/>
                  </a:lnTo>
                  <a:lnTo>
                    <a:pt x="0" y="480"/>
                  </a:lnTo>
                  <a:lnTo>
                    <a:pt x="0" y="0"/>
                  </a:lnTo>
                  <a:close/>
                </a:path>
              </a:pathLst>
            </a:custGeom>
            <a:solidFill>
              <a:srgbClr val="FFE9A9">
                <a:alpha val="100000"/>
              </a:srgbClr>
            </a:solidFill>
            <a:ln cap="flat">
              <a:noFill/>
              <a:prstDash val="solid"/>
              <a:miter lim="0"/>
            </a:ln>
          </p:spPr>
          <p:txBody>
            <a:bodyPr rtlCol="0"/>
            <a:lstStyle/>
            <a:p>
              <a:pPr algn="ctr"/>
              <a:endParaRPr lang="zh-CN" altLang="en-US" sz="1350"/>
            </a:p>
          </p:txBody>
        </p:sp>
        <p:sp>
          <p:nvSpPr>
            <p:cNvPr id="288" name="path"/>
            <p:cNvSpPr/>
            <p:nvPr/>
          </p:nvSpPr>
          <p:spPr>
            <a:xfrm>
              <a:off x="1286933" y="982137"/>
              <a:ext cx="957424" cy="316132"/>
            </a:xfrm>
            <a:custGeom>
              <a:avLst/>
              <a:gdLst/>
              <a:ahLst/>
              <a:cxnLst/>
              <a:rect l="0" t="0" r="0" b="0"/>
              <a:pathLst>
                <a:path w="1507" h="497">
                  <a:moveTo>
                    <a:pt x="5" y="5"/>
                  </a:moveTo>
                  <a:lnTo>
                    <a:pt x="1502" y="5"/>
                  </a:lnTo>
                  <a:lnTo>
                    <a:pt x="1502" y="492"/>
                  </a:lnTo>
                  <a:lnTo>
                    <a:pt x="5" y="492"/>
                  </a:lnTo>
                  <a:lnTo>
                    <a:pt x="5" y="5"/>
                  </a:lnTo>
                  <a:close/>
                </a:path>
              </a:pathLst>
            </a:custGeom>
            <a:noFill/>
            <a:ln w="6451" cap="flat">
              <a:solidFill>
                <a:srgbClr val="201E1E">
                  <a:alpha val="100000"/>
                </a:srgbClr>
              </a:solidFill>
              <a:prstDash val="solid"/>
              <a:miter lim="800000"/>
            </a:ln>
          </p:spPr>
          <p:txBody>
            <a:bodyPr rtlCol="0"/>
            <a:lstStyle/>
            <a:p>
              <a:pPr algn="ctr"/>
              <a:endParaRPr lang="zh-CN" altLang="en-US" sz="1350"/>
            </a:p>
          </p:txBody>
        </p:sp>
        <p:sp>
          <p:nvSpPr>
            <p:cNvPr id="290" name="path"/>
            <p:cNvSpPr/>
            <p:nvPr/>
          </p:nvSpPr>
          <p:spPr>
            <a:xfrm>
              <a:off x="2226155" y="1131314"/>
              <a:ext cx="296165" cy="12903"/>
            </a:xfrm>
            <a:custGeom>
              <a:avLst/>
              <a:gdLst/>
              <a:ahLst/>
              <a:cxnLst/>
              <a:rect l="0" t="0" r="0" b="0"/>
              <a:pathLst>
                <a:path w="466" h="20">
                  <a:moveTo>
                    <a:pt x="0" y="10"/>
                  </a:moveTo>
                  <a:lnTo>
                    <a:pt x="466" y="10"/>
                  </a:lnTo>
                </a:path>
              </a:pathLst>
            </a:custGeom>
            <a:noFill/>
            <a:ln w="12903" cap="flat">
              <a:solidFill>
                <a:srgbClr val="201E1E">
                  <a:alpha val="100000"/>
                </a:srgbClr>
              </a:solidFill>
              <a:prstDash val="solid"/>
              <a:miter lim="800000"/>
            </a:ln>
          </p:spPr>
          <p:txBody>
            <a:bodyPr rtlCol="0"/>
            <a:lstStyle/>
            <a:p>
              <a:pPr algn="ctr"/>
              <a:endParaRPr lang="zh-CN" altLang="en-US" sz="1350"/>
            </a:p>
          </p:txBody>
        </p:sp>
        <p:sp>
          <p:nvSpPr>
            <p:cNvPr id="292" name="path"/>
            <p:cNvSpPr/>
            <p:nvPr/>
          </p:nvSpPr>
          <p:spPr>
            <a:xfrm>
              <a:off x="2426951" y="1078811"/>
              <a:ext cx="115909" cy="117909"/>
            </a:xfrm>
            <a:custGeom>
              <a:avLst/>
              <a:gdLst/>
              <a:ahLst/>
              <a:cxnLst/>
              <a:rect l="0" t="0" r="0" b="0"/>
              <a:pathLst>
                <a:path w="182" h="185">
                  <a:moveTo>
                    <a:pt x="182" y="92"/>
                  </a:moveTo>
                  <a:lnTo>
                    <a:pt x="32" y="180"/>
                  </a:lnTo>
                  <a:lnTo>
                    <a:pt x="32" y="180"/>
                  </a:lnTo>
                  <a:cubicBezTo>
                    <a:pt x="23" y="185"/>
                    <a:pt x="11" y="182"/>
                    <a:pt x="5" y="172"/>
                  </a:cubicBezTo>
                  <a:lnTo>
                    <a:pt x="5" y="172"/>
                  </a:lnTo>
                  <a:cubicBezTo>
                    <a:pt x="0" y="163"/>
                    <a:pt x="3" y="151"/>
                    <a:pt x="12" y="145"/>
                  </a:cubicBezTo>
                  <a:lnTo>
                    <a:pt x="103" y="92"/>
                  </a:lnTo>
                  <a:lnTo>
                    <a:pt x="12" y="40"/>
                  </a:lnTo>
                  <a:lnTo>
                    <a:pt x="12" y="40"/>
                  </a:lnTo>
                  <a:cubicBezTo>
                    <a:pt x="3" y="34"/>
                    <a:pt x="0" y="22"/>
                    <a:pt x="5" y="12"/>
                  </a:cubicBezTo>
                  <a:cubicBezTo>
                    <a:pt x="5" y="12"/>
                    <a:pt x="5" y="12"/>
                    <a:pt x="5" y="12"/>
                  </a:cubicBezTo>
                  <a:lnTo>
                    <a:pt x="5" y="12"/>
                  </a:lnTo>
                  <a:cubicBezTo>
                    <a:pt x="11" y="3"/>
                    <a:pt x="23" y="0"/>
                    <a:pt x="32" y="5"/>
                  </a:cubicBezTo>
                  <a:lnTo>
                    <a:pt x="182" y="92"/>
                  </a:lnTo>
                  <a:close/>
                </a:path>
              </a:pathLst>
            </a:custGeom>
            <a:solidFill>
              <a:srgbClr val="201E1E">
                <a:alpha val="100000"/>
              </a:srgbClr>
            </a:solidFill>
            <a:ln cap="flat">
              <a:noFill/>
              <a:prstDash val="solid"/>
              <a:miter lim="0"/>
            </a:ln>
          </p:spPr>
          <p:txBody>
            <a:bodyPr rtlCol="0"/>
            <a:lstStyle/>
            <a:p>
              <a:pPr algn="ctr"/>
              <a:endParaRPr lang="zh-CN" altLang="en-US" sz="1350"/>
            </a:p>
          </p:txBody>
        </p:sp>
        <p:sp>
          <p:nvSpPr>
            <p:cNvPr id="294" name="path"/>
            <p:cNvSpPr/>
            <p:nvPr/>
          </p:nvSpPr>
          <p:spPr>
            <a:xfrm>
              <a:off x="2543225" y="985363"/>
              <a:ext cx="935997" cy="304803"/>
            </a:xfrm>
            <a:custGeom>
              <a:avLst/>
              <a:gdLst/>
              <a:ahLst/>
              <a:cxnLst/>
              <a:rect l="0" t="0" r="0" b="0"/>
              <a:pathLst>
                <a:path w="1474" h="480">
                  <a:moveTo>
                    <a:pt x="0" y="0"/>
                  </a:moveTo>
                  <a:lnTo>
                    <a:pt x="1474" y="0"/>
                  </a:lnTo>
                  <a:lnTo>
                    <a:pt x="1474" y="480"/>
                  </a:lnTo>
                  <a:lnTo>
                    <a:pt x="0" y="480"/>
                  </a:lnTo>
                  <a:lnTo>
                    <a:pt x="0" y="0"/>
                  </a:lnTo>
                  <a:close/>
                </a:path>
              </a:pathLst>
            </a:custGeom>
            <a:solidFill>
              <a:srgbClr val="FFE9A9">
                <a:alpha val="100000"/>
              </a:srgbClr>
            </a:solidFill>
            <a:ln cap="flat">
              <a:noFill/>
              <a:prstDash val="solid"/>
              <a:miter lim="0"/>
            </a:ln>
          </p:spPr>
          <p:txBody>
            <a:bodyPr rtlCol="0"/>
            <a:lstStyle/>
            <a:p>
              <a:pPr algn="ctr"/>
              <a:endParaRPr lang="zh-CN" altLang="en-US" sz="1350"/>
            </a:p>
          </p:txBody>
        </p:sp>
        <p:sp>
          <p:nvSpPr>
            <p:cNvPr id="296" name="path"/>
            <p:cNvSpPr/>
            <p:nvPr/>
          </p:nvSpPr>
          <p:spPr>
            <a:xfrm>
              <a:off x="2539999" y="982137"/>
              <a:ext cx="957424" cy="316132"/>
            </a:xfrm>
            <a:custGeom>
              <a:avLst/>
              <a:gdLst/>
              <a:ahLst/>
              <a:cxnLst/>
              <a:rect l="0" t="0" r="0" b="0"/>
              <a:pathLst>
                <a:path w="1507" h="497">
                  <a:moveTo>
                    <a:pt x="5" y="5"/>
                  </a:moveTo>
                  <a:lnTo>
                    <a:pt x="1502" y="5"/>
                  </a:lnTo>
                  <a:lnTo>
                    <a:pt x="1502" y="492"/>
                  </a:lnTo>
                  <a:lnTo>
                    <a:pt x="5" y="492"/>
                  </a:lnTo>
                  <a:lnTo>
                    <a:pt x="5" y="5"/>
                  </a:lnTo>
                  <a:close/>
                </a:path>
              </a:pathLst>
            </a:custGeom>
            <a:noFill/>
            <a:ln w="6451" cap="flat">
              <a:solidFill>
                <a:srgbClr val="201E1E">
                  <a:alpha val="100000"/>
                </a:srgbClr>
              </a:solidFill>
              <a:prstDash val="solid"/>
              <a:miter lim="800000"/>
            </a:ln>
          </p:spPr>
          <p:txBody>
            <a:bodyPr rtlCol="0"/>
            <a:lstStyle/>
            <a:p>
              <a:pPr algn="ctr"/>
              <a:endParaRPr lang="zh-CN" altLang="en-US" sz="1350"/>
            </a:p>
          </p:txBody>
        </p:sp>
      </p:grpSp>
      <p:sp>
        <p:nvSpPr>
          <p:cNvPr id="298" name="rect"/>
          <p:cNvSpPr/>
          <p:nvPr/>
        </p:nvSpPr>
        <p:spPr>
          <a:xfrm>
            <a:off x="0" y="4777964"/>
            <a:ext cx="9142961" cy="365535"/>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316" name="textbox 316"/>
          <p:cNvSpPr/>
          <p:nvPr/>
        </p:nvSpPr>
        <p:spPr>
          <a:xfrm>
            <a:off x="1780814" y="3533720"/>
            <a:ext cx="1729740" cy="227647"/>
          </a:xfrm>
          <a:prstGeom prst="rect">
            <a:avLst/>
          </a:prstGeom>
        </p:spPr>
        <p:txBody>
          <a:bodyPr vert="horz" wrap="square" lIns="0" tIns="0" rIns="0" bIns="0"/>
          <a:lstStyle/>
          <a:p>
            <a:pPr algn="l" rtl="0" eaLnBrk="0">
              <a:lnSpc>
                <a:spcPct val="88000"/>
              </a:lnSpc>
            </a:pPr>
            <a:endParaRPr lang="en-US" altLang="en-US" sz="100" dirty="0"/>
          </a:p>
          <a:p>
            <a:pPr marL="12700" algn="l" rtl="0" eaLnBrk="0">
              <a:lnSpc>
                <a:spcPct val="91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关系错综复杂的任务</a:t>
            </a:r>
            <a:endParaRPr lang="en-US" altLang="en-US" sz="1500" dirty="0"/>
          </a:p>
        </p:txBody>
      </p:sp>
      <p:pic>
        <p:nvPicPr>
          <p:cNvPr id="318" name="picture 318"/>
          <p:cNvPicPr>
            <a:picLocks noChangeAspect="1"/>
          </p:cNvPicPr>
          <p:nvPr/>
        </p:nvPicPr>
        <p:blipFill>
          <a:blip r:embed="rId3"/>
          <a:stretch>
            <a:fillRect/>
          </a:stretch>
        </p:blipFill>
        <p:spPr>
          <a:xfrm rot="21600000">
            <a:off x="0" y="4773125"/>
            <a:ext cx="9142961" cy="9677"/>
          </a:xfrm>
          <a:prstGeom prst="rect">
            <a:avLst/>
          </a:prstGeom>
        </p:spPr>
      </p:pic>
      <p:sp>
        <p:nvSpPr>
          <p:cNvPr id="320" name="textbox 320"/>
          <p:cNvSpPr/>
          <p:nvPr/>
        </p:nvSpPr>
        <p:spPr>
          <a:xfrm>
            <a:off x="987186" y="3373051"/>
            <a:ext cx="273368" cy="230981"/>
          </a:xfrm>
          <a:prstGeom prst="rect">
            <a:avLst/>
          </a:prstGeom>
          <a:solidFill>
            <a:srgbClr val="FFFFFF"/>
          </a:solidFill>
        </p:spPr>
        <p:txBody>
          <a:bodyPr vert="horz" wrap="square" lIns="0" tIns="0" rIns="0" bIns="0"/>
          <a:lstStyle/>
          <a:p>
            <a:pPr algn="l" rtl="0" eaLnBrk="0">
              <a:lnSpc>
                <a:spcPct val="105000"/>
              </a:lnSpc>
            </a:pPr>
            <a:endParaRPr lang="en-US" altLang="en-US" sz="375" dirty="0"/>
          </a:p>
          <a:p>
            <a:pPr marL="97790" algn="l" rtl="0" eaLnBrk="0">
              <a:lnSpc>
                <a:spcPct val="87000"/>
              </a:lnSpc>
              <a:spcBef>
                <a:spcPts val="5"/>
              </a:spcBef>
            </a:pPr>
            <a:r>
              <a:rPr sz="10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en-US" sz="1050" dirty="0"/>
          </a:p>
        </p:txBody>
      </p:sp>
      <p:sp>
        <p:nvSpPr>
          <p:cNvPr id="322" name="textbox 322"/>
          <p:cNvSpPr/>
          <p:nvPr/>
        </p:nvSpPr>
        <p:spPr>
          <a:xfrm>
            <a:off x="2333387" y="4287450"/>
            <a:ext cx="273368" cy="230981"/>
          </a:xfrm>
          <a:prstGeom prst="rect">
            <a:avLst/>
          </a:prstGeom>
          <a:solidFill>
            <a:srgbClr val="FFFFFF"/>
          </a:solidFill>
        </p:spPr>
        <p:txBody>
          <a:bodyPr vert="horz" wrap="square" lIns="0" tIns="0" rIns="0" bIns="0"/>
          <a:lstStyle/>
          <a:p>
            <a:pPr algn="l" rtl="0" eaLnBrk="0">
              <a:lnSpc>
                <a:spcPct val="100000"/>
              </a:lnSpc>
            </a:pPr>
            <a:endParaRPr lang="en-US" altLang="en-US" sz="375" dirty="0"/>
          </a:p>
          <a:p>
            <a:pPr marL="93980" algn="l" rtl="0" eaLnBrk="0">
              <a:lnSpc>
                <a:spcPct val="89000"/>
              </a:lnSpc>
            </a:pPr>
            <a:r>
              <a:rPr sz="10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人</a:t>
            </a:r>
            <a:endParaRPr lang="en-US" altLang="en-US" sz="1050" dirty="0"/>
          </a:p>
        </p:txBody>
      </p:sp>
      <p:sp>
        <p:nvSpPr>
          <p:cNvPr id="2" name="标题 1"/>
          <p:cNvSpPr>
            <a:spLocks noGrp="1"/>
          </p:cNvSpPr>
          <p:nvPr>
            <p:ph type="title"/>
          </p:nvPr>
        </p:nvSpPr>
        <p:spPr/>
        <p:txBody>
          <a:bodyPr/>
          <a:p>
            <a:r>
              <a:rPr lang="zh-CN" altLang="en-US" dirty="0"/>
              <a:t>沟通的复杂性</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沟通的复杂性</a:t>
            </a:r>
            <a:endParaRPr lang="zh-CN" altLang="en-US" dirty="0"/>
          </a:p>
        </p:txBody>
      </p:sp>
      <p:sp>
        <p:nvSpPr>
          <p:cNvPr id="4" name="日期占位符 3"/>
          <p:cNvSpPr>
            <a:spLocks noGrp="1"/>
          </p:cNvSpPr>
          <p:nvPr>
            <p:ph type="dt" sz="half" idx="10"/>
          </p:nvPr>
        </p:nvSpPr>
        <p:spPr/>
        <p:txBody>
          <a:bodyPr/>
          <a:lstStyle/>
          <a:p>
            <a:fld id="{03AF096A-99A4-4ECC-A678-42B769DBAC66}"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8" name="图片 7"/>
          <p:cNvPicPr>
            <a:picLocks noChangeAspect="1"/>
          </p:cNvPicPr>
          <p:nvPr/>
        </p:nvPicPr>
        <p:blipFill rotWithShape="1">
          <a:blip r:embed="rId1">
            <a:extLst>
              <a:ext uri="{28A0092B-C50C-407E-A947-70E740481C1C}">
                <a14:useLocalDpi xmlns:a14="http://schemas.microsoft.com/office/drawing/2010/main" val="0"/>
              </a:ext>
            </a:extLst>
          </a:blip>
          <a:stretch>
            <a:fillRect/>
          </a:stretch>
        </p:blipFill>
        <p:spPr>
          <a:xfrm>
            <a:off x="872142" y="828913"/>
            <a:ext cx="7620983" cy="3603347"/>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8"/>
          <p:cNvGrpSpPr/>
          <p:nvPr/>
        </p:nvGrpSpPr>
        <p:grpSpPr>
          <a:xfrm rot="21600000">
            <a:off x="2267102" y="2118853"/>
            <a:ext cx="4789708" cy="1959642"/>
            <a:chOff x="0" y="0"/>
            <a:chExt cx="6386277" cy="2612856"/>
          </a:xfrm>
        </p:grpSpPr>
        <p:grpSp>
          <p:nvGrpSpPr>
            <p:cNvPr id="30" name="group 30"/>
            <p:cNvGrpSpPr/>
            <p:nvPr/>
          </p:nvGrpSpPr>
          <p:grpSpPr>
            <a:xfrm rot="21600000">
              <a:off x="569127" y="155705"/>
              <a:ext cx="5768619" cy="2457150"/>
              <a:chOff x="0" y="0"/>
              <a:chExt cx="5768619" cy="2457150"/>
            </a:xfrm>
          </p:grpSpPr>
          <p:sp>
            <p:nvSpPr>
              <p:cNvPr id="354" name="path"/>
              <p:cNvSpPr/>
              <p:nvPr/>
            </p:nvSpPr>
            <p:spPr>
              <a:xfrm>
                <a:off x="0" y="0"/>
                <a:ext cx="5768619" cy="2250697"/>
              </a:xfrm>
              <a:custGeom>
                <a:avLst/>
                <a:gdLst/>
                <a:ahLst/>
                <a:cxnLst/>
                <a:rect l="0" t="0" r="0" b="0"/>
                <a:pathLst>
                  <a:path w="9084" h="3544">
                    <a:moveTo>
                      <a:pt x="15" y="2786"/>
                    </a:moveTo>
                    <a:cubicBezTo>
                      <a:pt x="311" y="2282"/>
                      <a:pt x="609" y="1779"/>
                      <a:pt x="918" y="1379"/>
                    </a:cubicBezTo>
                    <a:cubicBezTo>
                      <a:pt x="1227" y="978"/>
                      <a:pt x="1528" y="606"/>
                      <a:pt x="1869" y="383"/>
                    </a:cubicBezTo>
                    <a:cubicBezTo>
                      <a:pt x="2211" y="159"/>
                      <a:pt x="2533" y="79"/>
                      <a:pt x="2968" y="35"/>
                    </a:cubicBezTo>
                    <a:cubicBezTo>
                      <a:pt x="3402" y="-8"/>
                      <a:pt x="4071" y="19"/>
                      <a:pt x="4481" y="114"/>
                    </a:cubicBezTo>
                    <a:cubicBezTo>
                      <a:pt x="4891" y="209"/>
                      <a:pt x="5159" y="353"/>
                      <a:pt x="5432" y="604"/>
                    </a:cubicBezTo>
                    <a:cubicBezTo>
                      <a:pt x="5706" y="855"/>
                      <a:pt x="5864" y="1255"/>
                      <a:pt x="6116" y="1616"/>
                    </a:cubicBezTo>
                    <a:cubicBezTo>
                      <a:pt x="6368" y="1976"/>
                      <a:pt x="6669" y="2487"/>
                      <a:pt x="6946" y="2770"/>
                    </a:cubicBezTo>
                    <a:cubicBezTo>
                      <a:pt x="7222" y="3052"/>
                      <a:pt x="7422" y="3181"/>
                      <a:pt x="7775" y="3307"/>
                    </a:cubicBezTo>
                    <a:cubicBezTo>
                      <a:pt x="8128" y="3434"/>
                      <a:pt x="8599" y="3481"/>
                      <a:pt x="9069" y="3529"/>
                    </a:cubicBezTo>
                  </a:path>
                </a:pathLst>
              </a:custGeom>
              <a:noFill/>
              <a:ln w="19354" cap="flat">
                <a:solidFill>
                  <a:srgbClr val="004DD6">
                    <a:alpha val="100000"/>
                  </a:srgbClr>
                </a:solidFill>
                <a:prstDash val="solid"/>
                <a:round/>
              </a:ln>
            </p:spPr>
            <p:txBody>
              <a:bodyPr rtlCol="0"/>
              <a:lstStyle/>
              <a:p>
                <a:pPr algn="ctr"/>
                <a:endParaRPr lang="zh-CN" altLang="en-US" sz="1350"/>
              </a:p>
            </p:txBody>
          </p:sp>
          <p:sp>
            <p:nvSpPr>
              <p:cNvPr id="356" name="path"/>
              <p:cNvSpPr/>
              <p:nvPr/>
            </p:nvSpPr>
            <p:spPr>
              <a:xfrm>
                <a:off x="5659656" y="2371426"/>
                <a:ext cx="85725" cy="85724"/>
              </a:xfrm>
              <a:custGeom>
                <a:avLst/>
                <a:gdLst/>
                <a:ahLst/>
                <a:cxnLst/>
                <a:rect l="0" t="0" r="0" b="0"/>
                <a:pathLst>
                  <a:path w="135" h="134">
                    <a:moveTo>
                      <a:pt x="0" y="0"/>
                    </a:moveTo>
                    <a:lnTo>
                      <a:pt x="135" y="67"/>
                    </a:lnTo>
                    <a:lnTo>
                      <a:pt x="0" y="134"/>
                    </a:lnTo>
                    <a:lnTo>
                      <a:pt x="0" y="0"/>
                    </a:lnTo>
                    <a:close/>
                  </a:path>
                </a:pathLst>
              </a:custGeom>
              <a:solidFill>
                <a:srgbClr val="919191">
                  <a:alpha val="100000"/>
                </a:srgbClr>
              </a:solidFill>
              <a:ln cap="flat">
                <a:noFill/>
                <a:prstDash val="solid"/>
                <a:miter lim="0"/>
              </a:ln>
            </p:spPr>
            <p:txBody>
              <a:bodyPr rtlCol="0"/>
              <a:lstStyle/>
              <a:p>
                <a:pPr algn="ctr"/>
                <a:endParaRPr lang="zh-CN" altLang="en-US" sz="1350"/>
              </a:p>
            </p:txBody>
          </p:sp>
        </p:grpSp>
        <p:grpSp>
          <p:nvGrpSpPr>
            <p:cNvPr id="32" name="group 32"/>
            <p:cNvGrpSpPr/>
            <p:nvPr/>
          </p:nvGrpSpPr>
          <p:grpSpPr>
            <a:xfrm rot="21600000">
              <a:off x="0" y="0"/>
              <a:ext cx="6386277" cy="2584510"/>
              <a:chOff x="0" y="0"/>
              <a:chExt cx="6386277" cy="2584510"/>
            </a:xfrm>
          </p:grpSpPr>
          <p:sp>
            <p:nvSpPr>
              <p:cNvPr id="358" name="path"/>
              <p:cNvSpPr/>
              <p:nvPr/>
            </p:nvSpPr>
            <p:spPr>
              <a:xfrm>
                <a:off x="1688683" y="406248"/>
                <a:ext cx="2250991" cy="2163746"/>
              </a:xfrm>
              <a:custGeom>
                <a:avLst/>
                <a:gdLst/>
                <a:ahLst/>
                <a:cxnLst/>
                <a:rect l="0" t="0" r="0" b="0"/>
                <a:pathLst>
                  <a:path w="3544" h="3407">
                    <a:moveTo>
                      <a:pt x="7" y="3390"/>
                    </a:moveTo>
                    <a:lnTo>
                      <a:pt x="7" y="0"/>
                    </a:lnTo>
                    <a:moveTo>
                      <a:pt x="3537" y="3407"/>
                    </a:moveTo>
                    <a:lnTo>
                      <a:pt x="3537" y="134"/>
                    </a:lnTo>
                  </a:path>
                </a:pathLst>
              </a:custGeom>
              <a:noFill/>
              <a:ln w="9677" cap="flat">
                <a:solidFill>
                  <a:srgbClr val="000000">
                    <a:alpha val="100000"/>
                  </a:srgbClr>
                </a:solidFill>
                <a:prstDash val="dash"/>
                <a:round/>
              </a:ln>
            </p:spPr>
            <p:txBody>
              <a:bodyPr rtlCol="0"/>
              <a:lstStyle/>
              <a:p>
                <a:pPr algn="ctr"/>
                <a:endParaRPr lang="zh-CN" altLang="en-US" sz="1350"/>
              </a:p>
            </p:txBody>
          </p:sp>
          <p:sp>
            <p:nvSpPr>
              <p:cNvPr id="360" name="path"/>
              <p:cNvSpPr/>
              <p:nvPr/>
            </p:nvSpPr>
            <p:spPr>
              <a:xfrm>
                <a:off x="573966" y="2506672"/>
                <a:ext cx="4494285" cy="63321"/>
              </a:xfrm>
              <a:custGeom>
                <a:avLst/>
                <a:gdLst/>
                <a:ahLst/>
                <a:cxnLst/>
                <a:rect l="0" t="0" r="0" b="0"/>
                <a:pathLst>
                  <a:path w="7077" h="99">
                    <a:moveTo>
                      <a:pt x="7" y="99"/>
                    </a:moveTo>
                    <a:lnTo>
                      <a:pt x="7" y="0"/>
                    </a:lnTo>
                    <a:moveTo>
                      <a:pt x="5292" y="99"/>
                    </a:moveTo>
                    <a:lnTo>
                      <a:pt x="5292" y="0"/>
                    </a:lnTo>
                    <a:moveTo>
                      <a:pt x="1763" y="99"/>
                    </a:moveTo>
                    <a:lnTo>
                      <a:pt x="1763" y="0"/>
                    </a:lnTo>
                    <a:moveTo>
                      <a:pt x="2651" y="99"/>
                    </a:moveTo>
                    <a:lnTo>
                      <a:pt x="2651" y="0"/>
                    </a:lnTo>
                    <a:moveTo>
                      <a:pt x="3540" y="99"/>
                    </a:moveTo>
                    <a:lnTo>
                      <a:pt x="3540" y="0"/>
                    </a:lnTo>
                    <a:moveTo>
                      <a:pt x="4429" y="99"/>
                    </a:moveTo>
                    <a:lnTo>
                      <a:pt x="4429" y="0"/>
                    </a:lnTo>
                    <a:moveTo>
                      <a:pt x="871" y="99"/>
                    </a:moveTo>
                    <a:lnTo>
                      <a:pt x="871" y="0"/>
                    </a:lnTo>
                    <a:moveTo>
                      <a:pt x="6181" y="99"/>
                    </a:moveTo>
                    <a:lnTo>
                      <a:pt x="6181" y="0"/>
                    </a:lnTo>
                    <a:moveTo>
                      <a:pt x="7069" y="99"/>
                    </a:moveTo>
                    <a:lnTo>
                      <a:pt x="7069" y="0"/>
                    </a:lnTo>
                  </a:path>
                </a:pathLst>
              </a:custGeom>
              <a:noFill/>
              <a:ln w="9677" cap="flat">
                <a:solidFill>
                  <a:srgbClr val="000000">
                    <a:alpha val="100000"/>
                  </a:srgbClr>
                </a:solidFill>
                <a:prstDash val="solid"/>
                <a:round/>
              </a:ln>
            </p:spPr>
            <p:txBody>
              <a:bodyPr rtlCol="0"/>
              <a:lstStyle/>
              <a:p>
                <a:pPr algn="ctr"/>
                <a:endParaRPr lang="zh-CN" altLang="en-US" sz="1350"/>
              </a:p>
            </p:txBody>
          </p:sp>
          <p:sp>
            <p:nvSpPr>
              <p:cNvPr id="362" name="path"/>
              <p:cNvSpPr/>
              <p:nvPr/>
            </p:nvSpPr>
            <p:spPr>
              <a:xfrm>
                <a:off x="0" y="0"/>
                <a:ext cx="6386277" cy="2584510"/>
              </a:xfrm>
              <a:custGeom>
                <a:avLst/>
                <a:gdLst/>
                <a:ahLst/>
                <a:cxnLst/>
                <a:rect l="0" t="0" r="0" b="0"/>
                <a:pathLst>
                  <a:path w="10057" h="4070">
                    <a:moveTo>
                      <a:pt x="22" y="4047"/>
                    </a:moveTo>
                    <a:lnTo>
                      <a:pt x="10057" y="4047"/>
                    </a:lnTo>
                    <a:moveTo>
                      <a:pt x="22" y="4046"/>
                    </a:moveTo>
                    <a:lnTo>
                      <a:pt x="22" y="0"/>
                    </a:lnTo>
                  </a:path>
                </a:pathLst>
              </a:custGeom>
              <a:noFill/>
              <a:ln w="29032" cap="flat">
                <a:solidFill>
                  <a:srgbClr val="919191">
                    <a:alpha val="100000"/>
                  </a:srgbClr>
                </a:solidFill>
                <a:prstDash val="solid"/>
                <a:round/>
              </a:ln>
            </p:spPr>
            <p:txBody>
              <a:bodyPr rtlCol="0"/>
              <a:lstStyle/>
              <a:p>
                <a:pPr algn="ctr"/>
                <a:endParaRPr lang="zh-CN" altLang="en-US" sz="1350"/>
              </a:p>
            </p:txBody>
          </p:sp>
        </p:grpSp>
        <p:sp>
          <p:nvSpPr>
            <p:cNvPr id="364" name="textbox 364"/>
            <p:cNvSpPr/>
            <p:nvPr/>
          </p:nvSpPr>
          <p:spPr>
            <a:xfrm>
              <a:off x="1912652" y="783261"/>
              <a:ext cx="1800225" cy="300990"/>
            </a:xfrm>
            <a:prstGeom prst="rect">
              <a:avLst/>
            </a:prstGeom>
          </p:spPr>
          <p:txBody>
            <a:bodyPr vert="horz" wrap="square" lIns="0" tIns="0" rIns="0" bIns="0"/>
            <a:lstStyle/>
            <a:p>
              <a:pPr algn="l" rtl="0" eaLnBrk="0">
                <a:lnSpc>
                  <a:spcPct val="91000"/>
                </a:lnSpc>
              </a:pPr>
              <a:endParaRPr lang="en-US" altLang="en-US" sz="100" dirty="0"/>
            </a:p>
            <a:p>
              <a:pPr marL="12700" algn="l" rtl="0" eaLnBrk="0">
                <a:lnSpc>
                  <a:spcPct val="90000"/>
                </a:lnSpc>
              </a:pPr>
              <a:r>
                <a:rPr sz="1500" kern="0" spc="-10" dirty="0">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大概的最佳范围</a:t>
              </a:r>
              <a:endParaRPr lang="en-US" altLang="en-US" sz="1500" dirty="0"/>
            </a:p>
          </p:txBody>
        </p:sp>
      </p:grpSp>
      <p:sp>
        <p:nvSpPr>
          <p:cNvPr id="366" name="textbox 366"/>
          <p:cNvSpPr/>
          <p:nvPr/>
        </p:nvSpPr>
        <p:spPr>
          <a:xfrm>
            <a:off x="787401" y="1206371"/>
            <a:ext cx="7620000" cy="495300"/>
          </a:xfrm>
          <a:prstGeom prst="rect">
            <a:avLst/>
          </a:prstGeom>
          <a:solidFill>
            <a:srgbClr val="EBEAEA"/>
          </a:solidFill>
        </p:spPr>
        <p:txBody>
          <a:bodyPr vert="horz" wrap="square" lIns="0" tIns="0" rIns="0" bIns="0"/>
          <a:lstStyle/>
          <a:p>
            <a:pPr algn="l" rtl="0" eaLnBrk="0">
              <a:lnSpc>
                <a:spcPct val="134000"/>
              </a:lnSpc>
            </a:pPr>
            <a:endParaRPr lang="en-US" altLang="en-US" sz="750" dirty="0"/>
          </a:p>
          <a:p>
            <a:pPr marL="337820" algn="l" rtl="0" eaLnBrk="0">
              <a:lnSpc>
                <a:spcPct val="91000"/>
              </a:lnSpc>
              <a:spcBef>
                <a:spcPts val="5"/>
              </a:spcBef>
            </a:pPr>
            <a:r>
              <a:rPr sz="1650" kern="0" spc="-20" dirty="0">
                <a:solidFill>
                  <a:srgbClr val="CC0000">
                    <a:alpha val="100000"/>
                  </a:srgbClr>
                </a:solidFill>
                <a:latin typeface="Arial" panose="020B0604020202020204"/>
                <a:ea typeface="Arial" panose="020B0604020202020204"/>
                <a:cs typeface="Arial" panose="020B0604020202020204"/>
              </a:rPr>
              <a:t>Brooks</a:t>
            </a:r>
            <a:r>
              <a:rPr sz="1650" kern="0" spc="-20" dirty="0">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法则 </a:t>
            </a:r>
            <a:r>
              <a:rPr sz="1650" kern="0" spc="-20" dirty="0">
                <a:solidFill>
                  <a:srgbClr val="D81E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向一个进度延迟的软件项目中增加人员可能会使其进度</a:t>
            </a:r>
            <a:r>
              <a:rPr sz="16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更加推迟。</a:t>
            </a:r>
            <a:endParaRPr lang="en-US" altLang="en-US" sz="1650" dirty="0"/>
          </a:p>
        </p:txBody>
      </p:sp>
      <p:sp>
        <p:nvSpPr>
          <p:cNvPr id="368"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386" name="textbox 386"/>
          <p:cNvSpPr/>
          <p:nvPr/>
        </p:nvSpPr>
        <p:spPr>
          <a:xfrm rot="16200000">
            <a:off x="1334636" y="2616626"/>
            <a:ext cx="1349216" cy="245744"/>
          </a:xfrm>
          <a:prstGeom prst="rect">
            <a:avLst/>
          </a:prstGeom>
        </p:spPr>
        <p:txBody>
          <a:bodyPr vert="horz" wrap="square" lIns="0" tIns="0" rIns="0" bIns="0"/>
          <a:lstStyle/>
          <a:p>
            <a:pPr algn="l" rtl="0" eaLnBrk="0">
              <a:lnSpc>
                <a:spcPct val="122000"/>
              </a:lnSpc>
            </a:pPr>
            <a:endParaRPr lang="en-US" altLang="en-US" sz="150" dirty="0"/>
          </a:p>
          <a:p>
            <a:pPr marL="12700" algn="l" rtl="0" eaLnBrk="0">
              <a:lnSpc>
                <a:spcPct val="91000"/>
              </a:lnSpc>
              <a:spcBef>
                <a:spcPts val="0"/>
              </a:spcBef>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开发人员的效率</a:t>
            </a:r>
            <a:endParaRPr lang="en-US" altLang="en-US" sz="1500" dirty="0"/>
          </a:p>
        </p:txBody>
      </p:sp>
      <p:sp>
        <p:nvSpPr>
          <p:cNvPr id="388" name="textbox 388"/>
          <p:cNvSpPr/>
          <p:nvPr/>
        </p:nvSpPr>
        <p:spPr>
          <a:xfrm>
            <a:off x="5783348" y="4174248"/>
            <a:ext cx="1350169" cy="226219"/>
          </a:xfrm>
          <a:prstGeom prst="rect">
            <a:avLst/>
          </a:prstGeom>
        </p:spPr>
        <p:txBody>
          <a:bodyPr vert="horz" wrap="square" lIns="0" tIns="0" rIns="0" bIns="0"/>
          <a:lstStyle/>
          <a:p>
            <a:pPr algn="l" rtl="0" eaLnBrk="0">
              <a:lnSpc>
                <a:spcPct val="75000"/>
              </a:lnSpc>
            </a:pPr>
            <a:endParaRPr lang="en-US" altLang="en-US" sz="100" dirty="0"/>
          </a:p>
          <a:p>
            <a:pPr marL="12700" algn="l" rtl="0" eaLnBrk="0">
              <a:lnSpc>
                <a:spcPct val="91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定期沟通的人数</a:t>
            </a:r>
            <a:endParaRPr lang="en-US" altLang="en-US" sz="1500" dirty="0"/>
          </a:p>
        </p:txBody>
      </p:sp>
      <p:grpSp>
        <p:nvGrpSpPr>
          <p:cNvPr id="36" name="group 36"/>
          <p:cNvGrpSpPr/>
          <p:nvPr/>
        </p:nvGrpSpPr>
        <p:grpSpPr>
          <a:xfrm rot="21600000">
            <a:off x="3537244" y="2600291"/>
            <a:ext cx="1688708" cy="58259"/>
            <a:chOff x="0" y="0"/>
            <a:chExt cx="2251611" cy="77679"/>
          </a:xfrm>
        </p:grpSpPr>
        <p:sp>
          <p:nvSpPr>
            <p:cNvPr id="390" name="path"/>
            <p:cNvSpPr/>
            <p:nvPr/>
          </p:nvSpPr>
          <p:spPr>
            <a:xfrm>
              <a:off x="25803" y="33225"/>
              <a:ext cx="2225808" cy="11253"/>
            </a:xfrm>
            <a:custGeom>
              <a:avLst/>
              <a:gdLst/>
              <a:ahLst/>
              <a:cxnLst/>
              <a:rect l="0" t="0" r="0" b="0"/>
              <a:pathLst>
                <a:path w="3505" h="17">
                  <a:moveTo>
                    <a:pt x="0" y="7"/>
                  </a:moveTo>
                  <a:lnTo>
                    <a:pt x="3505" y="10"/>
                  </a:lnTo>
                </a:path>
              </a:pathLst>
            </a:custGeom>
            <a:noFill/>
            <a:ln w="9677" cap="flat">
              <a:solidFill>
                <a:srgbClr val="D81E00">
                  <a:alpha val="100000"/>
                </a:srgbClr>
              </a:solidFill>
              <a:prstDash val="solid"/>
              <a:round/>
            </a:ln>
          </p:spPr>
          <p:txBody>
            <a:bodyPr rtlCol="0"/>
            <a:lstStyle/>
            <a:p>
              <a:pPr algn="ctr"/>
              <a:endParaRPr lang="zh-CN" altLang="en-US" sz="1350"/>
            </a:p>
          </p:txBody>
        </p:sp>
        <p:sp>
          <p:nvSpPr>
            <p:cNvPr id="392" name="path"/>
            <p:cNvSpPr/>
            <p:nvPr/>
          </p:nvSpPr>
          <p:spPr>
            <a:xfrm>
              <a:off x="0" y="0"/>
              <a:ext cx="2241550" cy="77679"/>
            </a:xfrm>
            <a:custGeom>
              <a:avLst/>
              <a:gdLst/>
              <a:ahLst/>
              <a:cxnLst/>
              <a:rect l="0" t="0" r="0" b="0"/>
              <a:pathLst>
                <a:path w="3530" h="122">
                  <a:moveTo>
                    <a:pt x="119" y="120"/>
                  </a:moveTo>
                  <a:lnTo>
                    <a:pt x="0" y="59"/>
                  </a:lnTo>
                  <a:lnTo>
                    <a:pt x="120" y="0"/>
                  </a:lnTo>
                  <a:lnTo>
                    <a:pt x="119" y="120"/>
                  </a:lnTo>
                  <a:close/>
                </a:path>
                <a:path w="3530" h="122">
                  <a:moveTo>
                    <a:pt x="3410" y="2"/>
                  </a:moveTo>
                  <a:lnTo>
                    <a:pt x="3530" y="62"/>
                  </a:lnTo>
                  <a:lnTo>
                    <a:pt x="3409" y="122"/>
                  </a:lnTo>
                  <a:lnTo>
                    <a:pt x="3410" y="2"/>
                  </a:lnTo>
                  <a:close/>
                </a:path>
              </a:pathLst>
            </a:custGeom>
            <a:solidFill>
              <a:srgbClr val="D81E00">
                <a:alpha val="100000"/>
              </a:srgbClr>
            </a:solidFill>
            <a:ln cap="flat">
              <a:noFill/>
              <a:prstDash val="solid"/>
              <a:miter lim="0"/>
            </a:ln>
          </p:spPr>
          <p:txBody>
            <a:bodyPr rtlCol="0"/>
            <a:lstStyle/>
            <a:p>
              <a:pPr algn="ctr"/>
              <a:endParaRPr lang="zh-CN" altLang="en-US" sz="1350"/>
            </a:p>
          </p:txBody>
        </p:sp>
      </p:grpSp>
      <p:sp>
        <p:nvSpPr>
          <p:cNvPr id="394" name="textbox 394"/>
          <p:cNvSpPr/>
          <p:nvPr/>
        </p:nvSpPr>
        <p:spPr>
          <a:xfrm>
            <a:off x="3443924" y="4125661"/>
            <a:ext cx="117158" cy="201930"/>
          </a:xfrm>
          <a:prstGeom prst="rect">
            <a:avLst/>
          </a:prstGeom>
        </p:spPr>
        <p:txBody>
          <a:bodyPr vert="horz" wrap="square" lIns="0" tIns="0" rIns="0" bIns="0"/>
          <a:lstStyle/>
          <a:p>
            <a:pPr algn="l" rtl="0" eaLnBrk="0">
              <a:lnSpc>
                <a:spcPct val="81000"/>
              </a:lnSpc>
            </a:pPr>
            <a:endParaRPr lang="en-US" altLang="en-US" sz="100" dirty="0"/>
          </a:p>
          <a:p>
            <a:pPr algn="r" rtl="0" eaLnBrk="0">
              <a:lnSpc>
                <a:spcPct val="80000"/>
              </a:lnSpc>
            </a:pPr>
            <a:r>
              <a:rPr sz="1500" kern="0" spc="-20" dirty="0">
                <a:solidFill>
                  <a:srgbClr val="000000">
                    <a:alpha val="100000"/>
                  </a:srgbClr>
                </a:solidFill>
                <a:latin typeface="Arial" panose="020B0604020202020204"/>
                <a:ea typeface="Arial" panose="020B0604020202020204"/>
                <a:cs typeface="Arial" panose="020B0604020202020204"/>
              </a:rPr>
              <a:t>3</a:t>
            </a:r>
            <a:endParaRPr lang="en-US" altLang="en-US" sz="1500" dirty="0"/>
          </a:p>
        </p:txBody>
      </p:sp>
      <p:sp>
        <p:nvSpPr>
          <p:cNvPr id="396" name="textbox 396"/>
          <p:cNvSpPr/>
          <p:nvPr/>
        </p:nvSpPr>
        <p:spPr>
          <a:xfrm>
            <a:off x="5125862" y="4127947"/>
            <a:ext cx="116204" cy="199549"/>
          </a:xfrm>
          <a:prstGeom prst="rect">
            <a:avLst/>
          </a:prstGeom>
        </p:spPr>
        <p:txBody>
          <a:bodyPr vert="horz" wrap="square" lIns="0" tIns="0" rIns="0" bIns="0"/>
          <a:lstStyle/>
          <a:p>
            <a:pPr algn="l" rtl="0" eaLnBrk="0">
              <a:lnSpc>
                <a:spcPct val="82000"/>
              </a:lnSpc>
            </a:pPr>
            <a:endParaRPr lang="en-US" altLang="en-US" sz="100" dirty="0"/>
          </a:p>
          <a:p>
            <a:pPr algn="r" rtl="0" eaLnBrk="0">
              <a:lnSpc>
                <a:spcPct val="79000"/>
              </a:lnSpc>
            </a:pPr>
            <a:r>
              <a:rPr sz="1500" kern="0" spc="-20" dirty="0">
                <a:solidFill>
                  <a:srgbClr val="000000">
                    <a:alpha val="100000"/>
                  </a:srgbClr>
                </a:solidFill>
                <a:latin typeface="Arial" panose="020B0604020202020204"/>
                <a:ea typeface="Arial" panose="020B0604020202020204"/>
                <a:cs typeface="Arial" panose="020B0604020202020204"/>
              </a:rPr>
              <a:t>7</a:t>
            </a:r>
            <a:endParaRPr lang="en-US" altLang="en-US" sz="1500" dirty="0"/>
          </a:p>
        </p:txBody>
      </p:sp>
      <p:sp>
        <p:nvSpPr>
          <p:cNvPr id="398" name="textbox 398"/>
          <p:cNvSpPr/>
          <p:nvPr/>
        </p:nvSpPr>
        <p:spPr>
          <a:xfrm>
            <a:off x="2620648" y="4125661"/>
            <a:ext cx="104298" cy="195263"/>
          </a:xfrm>
          <a:prstGeom prst="rect">
            <a:avLst/>
          </a:prstGeom>
        </p:spPr>
        <p:txBody>
          <a:bodyPr vert="horz" wrap="square" lIns="0" tIns="0" rIns="0" bIns="0"/>
          <a:lstStyle/>
          <a:p>
            <a:pPr algn="l" rtl="0" eaLnBrk="0">
              <a:lnSpc>
                <a:spcPct val="92000"/>
              </a:lnSpc>
            </a:pPr>
            <a:endParaRPr lang="en-US" altLang="en-US" sz="100" dirty="0"/>
          </a:p>
          <a:p>
            <a:pPr algn="r" rtl="0" eaLnBrk="0">
              <a:lnSpc>
                <a:spcPct val="90000"/>
              </a:lnSpc>
            </a:pPr>
            <a:r>
              <a:rPr sz="1275" kern="0" spc="-70" dirty="0">
                <a:solidFill>
                  <a:srgbClr val="000000">
                    <a:alpha val="100000"/>
                  </a:srgbClr>
                </a:solidFill>
                <a:latin typeface="Arial" panose="020B0604020202020204"/>
                <a:ea typeface="Arial" panose="020B0604020202020204"/>
                <a:cs typeface="Arial" panose="020B0604020202020204"/>
              </a:rPr>
              <a:t>1</a:t>
            </a:r>
            <a:endParaRPr lang="en-US" altLang="en-US" sz="1275" dirty="0"/>
          </a:p>
        </p:txBody>
      </p:sp>
      <p:sp>
        <p:nvSpPr>
          <p:cNvPr id="400" name="path"/>
          <p:cNvSpPr/>
          <p:nvPr/>
        </p:nvSpPr>
        <p:spPr>
          <a:xfrm>
            <a:off x="2245842" y="2127768"/>
            <a:ext cx="64294" cy="64294"/>
          </a:xfrm>
          <a:custGeom>
            <a:avLst/>
            <a:gdLst/>
            <a:ahLst/>
            <a:cxnLst/>
            <a:rect l="0" t="0" r="0" b="0"/>
            <a:pathLst>
              <a:path w="135" h="135">
                <a:moveTo>
                  <a:pt x="135" y="135"/>
                </a:moveTo>
                <a:lnTo>
                  <a:pt x="67" y="0"/>
                </a:lnTo>
                <a:lnTo>
                  <a:pt x="0" y="135"/>
                </a:lnTo>
                <a:lnTo>
                  <a:pt x="135" y="135"/>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2" name="标题 1"/>
          <p:cNvSpPr>
            <a:spLocks noGrp="1"/>
          </p:cNvSpPr>
          <p:nvPr>
            <p:ph type="title"/>
          </p:nvPr>
        </p:nvSpPr>
        <p:spPr/>
        <p:txBody>
          <a:bodyPr/>
          <a:p>
            <a:r>
              <a:rPr lang="zh-CN" altLang="en-US" dirty="0"/>
              <a:t>沟通的复杂性</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8"/>
          <p:cNvGrpSpPr/>
          <p:nvPr/>
        </p:nvGrpSpPr>
        <p:grpSpPr>
          <a:xfrm rot="21600000">
            <a:off x="2662846" y="1066487"/>
            <a:ext cx="3592342" cy="1837738"/>
            <a:chOff x="0" y="0"/>
            <a:chExt cx="4789789" cy="2450317"/>
          </a:xfrm>
        </p:grpSpPr>
        <p:sp>
          <p:nvSpPr>
            <p:cNvPr id="402" name="path"/>
            <p:cNvSpPr/>
            <p:nvPr/>
          </p:nvSpPr>
          <p:spPr>
            <a:xfrm>
              <a:off x="9677" y="9677"/>
              <a:ext cx="4695310" cy="2392679"/>
            </a:xfrm>
            <a:custGeom>
              <a:avLst/>
              <a:gdLst/>
              <a:ahLst/>
              <a:cxnLst/>
              <a:rect l="0" t="0" r="0" b="0"/>
              <a:pathLst>
                <a:path w="7394" h="3767">
                  <a:moveTo>
                    <a:pt x="0" y="1884"/>
                  </a:moveTo>
                  <a:cubicBezTo>
                    <a:pt x="0" y="843"/>
                    <a:pt x="1655" y="0"/>
                    <a:pt x="3697" y="0"/>
                  </a:cubicBezTo>
                  <a:cubicBezTo>
                    <a:pt x="5738" y="0"/>
                    <a:pt x="7394" y="843"/>
                    <a:pt x="7394" y="1884"/>
                  </a:cubicBezTo>
                  <a:cubicBezTo>
                    <a:pt x="7394" y="2924"/>
                    <a:pt x="5738" y="3767"/>
                    <a:pt x="3697" y="3767"/>
                  </a:cubicBezTo>
                  <a:cubicBezTo>
                    <a:pt x="1655" y="3767"/>
                    <a:pt x="0" y="2924"/>
                    <a:pt x="0" y="1884"/>
                  </a:cubicBezTo>
                </a:path>
              </a:pathLst>
            </a:custGeom>
            <a:solidFill>
              <a:srgbClr val="FFD8FF">
                <a:alpha val="29803"/>
              </a:srgbClr>
            </a:solidFill>
            <a:ln cap="flat">
              <a:noFill/>
              <a:prstDash val="solid"/>
              <a:miter lim="0"/>
            </a:ln>
          </p:spPr>
          <p:txBody>
            <a:bodyPr rtlCol="0"/>
            <a:lstStyle/>
            <a:p>
              <a:pPr algn="ctr"/>
              <a:endParaRPr lang="zh-CN" altLang="en-US" sz="1350"/>
            </a:p>
          </p:txBody>
        </p:sp>
        <p:sp>
          <p:nvSpPr>
            <p:cNvPr id="404" name="path"/>
            <p:cNvSpPr/>
            <p:nvPr/>
          </p:nvSpPr>
          <p:spPr>
            <a:xfrm>
              <a:off x="0" y="0"/>
              <a:ext cx="4789789" cy="2450317"/>
            </a:xfrm>
            <a:custGeom>
              <a:avLst/>
              <a:gdLst/>
              <a:ahLst/>
              <a:cxnLst/>
              <a:rect l="0" t="0" r="0" b="0"/>
              <a:pathLst>
                <a:path w="7542" h="3858">
                  <a:moveTo>
                    <a:pt x="15" y="1929"/>
                  </a:moveTo>
                  <a:cubicBezTo>
                    <a:pt x="15" y="872"/>
                    <a:pt x="1696" y="15"/>
                    <a:pt x="3771" y="15"/>
                  </a:cubicBezTo>
                  <a:cubicBezTo>
                    <a:pt x="5846" y="15"/>
                    <a:pt x="7527" y="872"/>
                    <a:pt x="7527" y="1929"/>
                  </a:cubicBezTo>
                  <a:cubicBezTo>
                    <a:pt x="7527" y="2986"/>
                    <a:pt x="5846" y="3843"/>
                    <a:pt x="3771" y="3843"/>
                  </a:cubicBezTo>
                  <a:cubicBezTo>
                    <a:pt x="1696" y="3843"/>
                    <a:pt x="15" y="2986"/>
                    <a:pt x="15" y="1929"/>
                  </a:cubicBezTo>
                </a:path>
              </a:pathLst>
            </a:custGeom>
            <a:noFill/>
            <a:ln w="19354" cap="flat">
              <a:solidFill>
                <a:srgbClr val="919191">
                  <a:alpha val="100000"/>
                </a:srgbClr>
              </a:solidFill>
              <a:prstDash val="solid"/>
              <a:round/>
            </a:ln>
          </p:spPr>
          <p:txBody>
            <a:bodyPr rtlCol="0"/>
            <a:lstStyle/>
            <a:p>
              <a:pPr algn="ctr"/>
              <a:endParaRPr lang="zh-CN" altLang="en-US" sz="1350"/>
            </a:p>
          </p:txBody>
        </p:sp>
      </p:grpSp>
      <p:sp>
        <p:nvSpPr>
          <p:cNvPr id="406"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408" name="textbox 408"/>
          <p:cNvSpPr/>
          <p:nvPr/>
        </p:nvSpPr>
        <p:spPr>
          <a:xfrm>
            <a:off x="3667227" y="1445342"/>
            <a:ext cx="2263616" cy="1186814"/>
          </a:xfrm>
          <a:prstGeom prst="rect">
            <a:avLst/>
          </a:prstGeom>
        </p:spPr>
        <p:txBody>
          <a:bodyPr vert="horz" wrap="square" lIns="0" tIns="0" rIns="0" bIns="0"/>
          <a:lstStyle/>
          <a:p>
            <a:pPr algn="l" rtl="0" eaLnBrk="0">
              <a:lnSpc>
                <a:spcPct val="79000"/>
              </a:lnSpc>
            </a:pPr>
            <a:endParaRPr lang="en-US" altLang="en-US" sz="100" dirty="0"/>
          </a:p>
          <a:p>
            <a:pPr marL="13970" algn="l" rtl="0" eaLnBrk="0">
              <a:lnSpc>
                <a:spcPct val="91000"/>
              </a:lnSpc>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沟通双方彼此技术语言不通</a:t>
            </a:r>
            <a:endParaRPr lang="en-US" altLang="en-US" sz="1350" dirty="0"/>
          </a:p>
          <a:p>
            <a:pPr marL="13335" algn="l" rtl="0" eaLnBrk="0">
              <a:lnSpc>
                <a:spcPct val="82000"/>
              </a:lnSpc>
              <a:spcBef>
                <a:spcPts val="540"/>
              </a:spcBef>
            </a:pP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发送者与接收者存在物</a:t>
            </a: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理距离</a:t>
            </a:r>
            <a:endParaRPr lang="en-US" altLang="en-US" sz="1350" dirty="0"/>
          </a:p>
          <a:p>
            <a:pPr marL="13970" algn="l" rtl="0" eaLnBrk="0">
              <a:lnSpc>
                <a:spcPts val="2605"/>
              </a:lnSpc>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缺乏清晰的沟通渠道</a:t>
            </a:r>
            <a:endParaRPr lang="en-US" altLang="en-US" sz="1350" dirty="0"/>
          </a:p>
          <a:p>
            <a:pPr marL="12700" algn="l" rtl="0" eaLnBrk="0">
              <a:lnSpc>
                <a:spcPct val="113000"/>
              </a:lnSpc>
              <a:spcBef>
                <a:spcPts val="505"/>
              </a:spcBef>
            </a:pP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有害的态度（敌对、不</a:t>
            </a: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信任） 分散注意力的环境因素</a:t>
            </a:r>
            <a:endParaRPr lang="en-US" altLang="en-US" sz="1350" dirty="0"/>
          </a:p>
        </p:txBody>
      </p:sp>
      <p:sp>
        <p:nvSpPr>
          <p:cNvPr id="424" name="textbox 424"/>
          <p:cNvSpPr/>
          <p:nvPr/>
        </p:nvSpPr>
        <p:spPr>
          <a:xfrm>
            <a:off x="7072245" y="3106076"/>
            <a:ext cx="814864" cy="565785"/>
          </a:xfrm>
          <a:prstGeom prst="rect">
            <a:avLst/>
          </a:prstGeom>
          <a:solidFill>
            <a:srgbClr val="CFE4C0"/>
          </a:solidFill>
        </p:spPr>
        <p:txBody>
          <a:bodyPr vert="horz" wrap="square" lIns="0" tIns="0" rIns="0" bIns="0"/>
          <a:lstStyle/>
          <a:p>
            <a:pPr algn="l" rtl="0" eaLnBrk="0">
              <a:lnSpc>
                <a:spcPct val="102000"/>
              </a:lnSpc>
            </a:pPr>
            <a:endParaRPr lang="en-US" altLang="en-US" sz="525" dirty="0"/>
          </a:p>
          <a:p>
            <a:pPr algn="l" rtl="0" eaLnBrk="0">
              <a:lnSpc>
                <a:spcPct val="7000"/>
              </a:lnSpc>
            </a:pPr>
            <a:endParaRPr lang="en-US" altLang="en-US" sz="100" dirty="0"/>
          </a:p>
          <a:p>
            <a:pPr marL="294640" algn="l" rtl="0" eaLnBrk="0">
              <a:lnSpc>
                <a:spcPct val="82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信息</a:t>
            </a:r>
            <a:endParaRPr lang="en-US" altLang="en-US" sz="1500" dirty="0"/>
          </a:p>
          <a:p>
            <a:pPr marL="294005" algn="l" rtl="0" eaLnBrk="0">
              <a:lnSpc>
                <a:spcPts val="2615"/>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解码</a:t>
            </a:r>
            <a:endParaRPr lang="en-US" altLang="en-US" sz="1500" dirty="0"/>
          </a:p>
        </p:txBody>
      </p:sp>
      <p:sp>
        <p:nvSpPr>
          <p:cNvPr id="426" name="rect"/>
          <p:cNvSpPr/>
          <p:nvPr/>
        </p:nvSpPr>
        <p:spPr>
          <a:xfrm>
            <a:off x="2019851" y="3353021"/>
            <a:ext cx="5078216" cy="29032"/>
          </a:xfrm>
          <a:prstGeom prst="rect">
            <a:avLst/>
          </a:prstGeom>
          <a:solidFill>
            <a:srgbClr val="6C6C6C">
              <a:alpha val="100000"/>
            </a:srgbClr>
          </a:solidFill>
          <a:ln cap="flat">
            <a:noFill/>
            <a:prstDash val="solid"/>
            <a:miter lim="0"/>
          </a:ln>
        </p:spPr>
        <p:txBody>
          <a:bodyPr rtlCol="0"/>
          <a:lstStyle/>
          <a:p>
            <a:pPr algn="ctr"/>
            <a:endParaRPr lang="zh-CN" altLang="en-US" sz="1350"/>
          </a:p>
        </p:txBody>
      </p:sp>
      <p:sp>
        <p:nvSpPr>
          <p:cNvPr id="428" name="textbox 428"/>
          <p:cNvSpPr/>
          <p:nvPr/>
        </p:nvSpPr>
        <p:spPr>
          <a:xfrm>
            <a:off x="3441699" y="3135049"/>
            <a:ext cx="2045017" cy="459105"/>
          </a:xfrm>
          <a:prstGeom prst="rect">
            <a:avLst/>
          </a:prstGeom>
          <a:solidFill>
            <a:srgbClr val="E0DFE0"/>
          </a:solidFill>
        </p:spPr>
        <p:txBody>
          <a:bodyPr vert="horz" wrap="square" lIns="0" tIns="0" rIns="0" bIns="0"/>
          <a:lstStyle/>
          <a:p>
            <a:pPr algn="l" rtl="0" eaLnBrk="0">
              <a:lnSpc>
                <a:spcPct val="125000"/>
              </a:lnSpc>
            </a:pPr>
            <a:endParaRPr lang="en-US" altLang="en-US" sz="750" dirty="0"/>
          </a:p>
          <a:p>
            <a:pPr marL="607060" algn="l" rtl="0" eaLnBrk="0">
              <a:lnSpc>
                <a:spcPct val="91000"/>
              </a:lnSpc>
              <a:spcBef>
                <a:spcPts val="5"/>
              </a:spcBef>
            </a:pPr>
            <a:r>
              <a:rPr sz="1500"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信息发送通道</a:t>
            </a:r>
            <a:endParaRPr lang="en-US" altLang="en-US" sz="1500" dirty="0"/>
          </a:p>
        </p:txBody>
      </p:sp>
      <p:sp>
        <p:nvSpPr>
          <p:cNvPr id="430" name="rect"/>
          <p:cNvSpPr/>
          <p:nvPr/>
        </p:nvSpPr>
        <p:spPr>
          <a:xfrm>
            <a:off x="2064665" y="4048108"/>
            <a:ext cx="5081845" cy="29032"/>
          </a:xfrm>
          <a:prstGeom prst="rect">
            <a:avLst/>
          </a:prstGeom>
          <a:solidFill>
            <a:srgbClr val="6C6C6C">
              <a:alpha val="100000"/>
            </a:srgbClr>
          </a:solidFill>
          <a:ln cap="flat">
            <a:noFill/>
            <a:prstDash val="solid"/>
            <a:miter lim="0"/>
          </a:ln>
        </p:spPr>
        <p:txBody>
          <a:bodyPr rtlCol="0"/>
          <a:lstStyle/>
          <a:p>
            <a:pPr algn="ctr"/>
            <a:endParaRPr lang="zh-CN" altLang="en-US" sz="1350"/>
          </a:p>
        </p:txBody>
      </p:sp>
      <p:sp>
        <p:nvSpPr>
          <p:cNvPr id="432" name="textbox 432"/>
          <p:cNvSpPr/>
          <p:nvPr/>
        </p:nvSpPr>
        <p:spPr>
          <a:xfrm>
            <a:off x="3441699" y="3835399"/>
            <a:ext cx="2045017" cy="436721"/>
          </a:xfrm>
          <a:prstGeom prst="rect">
            <a:avLst/>
          </a:prstGeom>
          <a:solidFill>
            <a:srgbClr val="E0DFE0"/>
          </a:solidFill>
        </p:spPr>
        <p:txBody>
          <a:bodyPr vert="horz" wrap="square" lIns="0" tIns="0" rIns="0" bIns="0"/>
          <a:lstStyle/>
          <a:p>
            <a:pPr algn="l" rtl="0" eaLnBrk="0">
              <a:lnSpc>
                <a:spcPct val="115000"/>
              </a:lnSpc>
            </a:pPr>
            <a:endParaRPr lang="en-US" altLang="en-US" sz="750" dirty="0"/>
          </a:p>
          <a:p>
            <a:pPr marL="607060" algn="l" rtl="0" eaLnBrk="0">
              <a:lnSpc>
                <a:spcPct val="91000"/>
              </a:lnSpc>
              <a:spcBef>
                <a:spcPts val="5"/>
              </a:spcBef>
            </a:pPr>
            <a:r>
              <a:rPr sz="1500"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信息反馈通道</a:t>
            </a:r>
            <a:endParaRPr lang="en-US" altLang="en-US" sz="1500" dirty="0"/>
          </a:p>
        </p:txBody>
      </p:sp>
      <p:grpSp>
        <p:nvGrpSpPr>
          <p:cNvPr id="42" name="group 42"/>
          <p:cNvGrpSpPr/>
          <p:nvPr/>
        </p:nvGrpSpPr>
        <p:grpSpPr>
          <a:xfrm rot="21600000">
            <a:off x="5965370" y="2980766"/>
            <a:ext cx="791381" cy="794273"/>
            <a:chOff x="0" y="0"/>
            <a:chExt cx="1055175" cy="1059030"/>
          </a:xfrm>
        </p:grpSpPr>
        <p:grpSp>
          <p:nvGrpSpPr>
            <p:cNvPr id="44" name="group 44"/>
            <p:cNvGrpSpPr/>
            <p:nvPr/>
          </p:nvGrpSpPr>
          <p:grpSpPr>
            <a:xfrm rot="21600000">
              <a:off x="0" y="0"/>
              <a:ext cx="1055175" cy="1059030"/>
              <a:chOff x="0" y="0"/>
              <a:chExt cx="1055175" cy="1059030"/>
            </a:xfrm>
          </p:grpSpPr>
          <p:sp>
            <p:nvSpPr>
              <p:cNvPr id="434" name="path"/>
              <p:cNvSpPr/>
              <p:nvPr/>
            </p:nvSpPr>
            <p:spPr>
              <a:xfrm>
                <a:off x="4838" y="4838"/>
                <a:ext cx="1029034" cy="1032827"/>
              </a:xfrm>
              <a:custGeom>
                <a:avLst/>
                <a:gdLst/>
                <a:ahLst/>
                <a:cxnLst/>
                <a:rect l="0" t="0" r="0" b="0"/>
                <a:pathLst>
                  <a:path w="1620" h="1626">
                    <a:moveTo>
                      <a:pt x="810" y="436"/>
                    </a:moveTo>
                    <a:lnTo>
                      <a:pt x="1089" y="0"/>
                    </a:lnTo>
                    <a:lnTo>
                      <a:pt x="1061" y="400"/>
                    </a:lnTo>
                    <a:lnTo>
                      <a:pt x="1378" y="335"/>
                    </a:lnTo>
                    <a:lnTo>
                      <a:pt x="1253" y="550"/>
                    </a:lnTo>
                    <a:lnTo>
                      <a:pt x="1582" y="612"/>
                    </a:lnTo>
                    <a:lnTo>
                      <a:pt x="1320" y="788"/>
                    </a:lnTo>
                    <a:lnTo>
                      <a:pt x="1620" y="1000"/>
                    </a:lnTo>
                    <a:lnTo>
                      <a:pt x="1263" y="974"/>
                    </a:lnTo>
                    <a:lnTo>
                      <a:pt x="1361" y="1362"/>
                    </a:lnTo>
                    <a:lnTo>
                      <a:pt x="1051" y="1088"/>
                    </a:lnTo>
                    <a:lnTo>
                      <a:pt x="993" y="1486"/>
                    </a:lnTo>
                    <a:lnTo>
                      <a:pt x="790" y="1124"/>
                    </a:lnTo>
                    <a:lnTo>
                      <a:pt x="636" y="1626"/>
                    </a:lnTo>
                    <a:lnTo>
                      <a:pt x="578" y="1176"/>
                    </a:lnTo>
                    <a:lnTo>
                      <a:pt x="357" y="1326"/>
                    </a:lnTo>
                    <a:lnTo>
                      <a:pt x="425" y="1049"/>
                    </a:lnTo>
                    <a:lnTo>
                      <a:pt x="10" y="1098"/>
                    </a:lnTo>
                    <a:lnTo>
                      <a:pt x="279" y="886"/>
                    </a:lnTo>
                    <a:lnTo>
                      <a:pt x="0" y="648"/>
                    </a:lnTo>
                    <a:lnTo>
                      <a:pt x="347" y="573"/>
                    </a:lnTo>
                    <a:lnTo>
                      <a:pt x="27" y="172"/>
                    </a:lnTo>
                    <a:lnTo>
                      <a:pt x="548" y="475"/>
                    </a:lnTo>
                    <a:lnTo>
                      <a:pt x="626" y="172"/>
                    </a:lnTo>
                    <a:lnTo>
                      <a:pt x="810" y="436"/>
                    </a:lnTo>
                    <a:close/>
                  </a:path>
                </a:pathLst>
              </a:custGeom>
              <a:solidFill>
                <a:srgbClr val="FAFAFA">
                  <a:alpha val="100000"/>
                </a:srgbClr>
              </a:solidFill>
              <a:ln cap="flat">
                <a:noFill/>
                <a:prstDash val="solid"/>
                <a:miter lim="0"/>
              </a:ln>
            </p:spPr>
            <p:txBody>
              <a:bodyPr rtlCol="0"/>
              <a:lstStyle/>
              <a:p>
                <a:pPr algn="ctr"/>
                <a:endParaRPr lang="zh-CN" altLang="en-US" sz="1350"/>
              </a:p>
            </p:txBody>
          </p:sp>
          <p:sp>
            <p:nvSpPr>
              <p:cNvPr id="436" name="path"/>
              <p:cNvSpPr/>
              <p:nvPr/>
            </p:nvSpPr>
            <p:spPr>
              <a:xfrm>
                <a:off x="0" y="0"/>
                <a:ext cx="1055175" cy="1059030"/>
              </a:xfrm>
              <a:custGeom>
                <a:avLst/>
                <a:gdLst/>
                <a:ahLst/>
                <a:cxnLst/>
                <a:rect l="0" t="0" r="0" b="0"/>
                <a:pathLst>
                  <a:path w="1661" h="1667">
                    <a:moveTo>
                      <a:pt x="830" y="451"/>
                    </a:moveTo>
                    <a:lnTo>
                      <a:pt x="1114" y="7"/>
                    </a:lnTo>
                    <a:lnTo>
                      <a:pt x="1086" y="415"/>
                    </a:lnTo>
                    <a:lnTo>
                      <a:pt x="1408" y="348"/>
                    </a:lnTo>
                    <a:lnTo>
                      <a:pt x="1280" y="567"/>
                    </a:lnTo>
                    <a:lnTo>
                      <a:pt x="1615" y="630"/>
                    </a:lnTo>
                    <a:lnTo>
                      <a:pt x="1349" y="809"/>
                    </a:lnTo>
                    <a:lnTo>
                      <a:pt x="1654" y="1024"/>
                    </a:lnTo>
                    <a:lnTo>
                      <a:pt x="1291" y="997"/>
                    </a:lnTo>
                    <a:lnTo>
                      <a:pt x="1390" y="1391"/>
                    </a:lnTo>
                    <a:lnTo>
                      <a:pt x="1076" y="1113"/>
                    </a:lnTo>
                    <a:lnTo>
                      <a:pt x="1017" y="1517"/>
                    </a:lnTo>
                    <a:lnTo>
                      <a:pt x="810" y="1150"/>
                    </a:lnTo>
                    <a:lnTo>
                      <a:pt x="654" y="1660"/>
                    </a:lnTo>
                    <a:lnTo>
                      <a:pt x="595" y="1203"/>
                    </a:lnTo>
                    <a:lnTo>
                      <a:pt x="370" y="1355"/>
                    </a:lnTo>
                    <a:lnTo>
                      <a:pt x="439" y="1073"/>
                    </a:lnTo>
                    <a:lnTo>
                      <a:pt x="17" y="1123"/>
                    </a:lnTo>
                    <a:lnTo>
                      <a:pt x="291" y="908"/>
                    </a:lnTo>
                    <a:lnTo>
                      <a:pt x="7" y="666"/>
                    </a:lnTo>
                    <a:lnTo>
                      <a:pt x="360" y="590"/>
                    </a:lnTo>
                    <a:lnTo>
                      <a:pt x="35" y="183"/>
                    </a:lnTo>
                    <a:lnTo>
                      <a:pt x="564" y="491"/>
                    </a:lnTo>
                    <a:lnTo>
                      <a:pt x="644" y="183"/>
                    </a:lnTo>
                    <a:lnTo>
                      <a:pt x="830" y="451"/>
                    </a:lnTo>
                    <a:close/>
                  </a:path>
                </a:pathLst>
              </a:custGeom>
              <a:noFill/>
              <a:ln w="9677" cap="flat">
                <a:solidFill>
                  <a:srgbClr val="000000">
                    <a:alpha val="100000"/>
                  </a:srgbClr>
                </a:solidFill>
                <a:prstDash val="solid"/>
                <a:miter lim="800000"/>
              </a:ln>
            </p:spPr>
            <p:txBody>
              <a:bodyPr rtlCol="0"/>
              <a:lstStyle/>
              <a:p>
                <a:pPr algn="ctr"/>
                <a:endParaRPr lang="zh-CN" altLang="en-US" sz="1350"/>
              </a:p>
            </p:txBody>
          </p:sp>
        </p:grpSp>
        <p:sp>
          <p:nvSpPr>
            <p:cNvPr id="438" name="textbox 438"/>
            <p:cNvSpPr/>
            <p:nvPr/>
          </p:nvSpPr>
          <p:spPr>
            <a:xfrm>
              <a:off x="-12700" y="-12700"/>
              <a:ext cx="1080769" cy="1113155"/>
            </a:xfrm>
            <a:prstGeom prst="rect">
              <a:avLst/>
            </a:prstGeom>
          </p:spPr>
          <p:txBody>
            <a:bodyPr vert="horz" wrap="square" lIns="0" tIns="0" rIns="0" bIns="0"/>
            <a:lstStyle/>
            <a:p>
              <a:pPr algn="l" rtl="0" eaLnBrk="0">
                <a:lnSpc>
                  <a:spcPct val="126000"/>
                </a:lnSpc>
              </a:pPr>
              <a:endParaRPr lang="en-US" altLang="en-US" sz="750" dirty="0"/>
            </a:p>
            <a:p>
              <a:pPr algn="l" rtl="0" eaLnBrk="0">
                <a:lnSpc>
                  <a:spcPct val="127000"/>
                </a:lnSpc>
              </a:pPr>
              <a:endParaRPr lang="en-US" altLang="en-US" sz="750" dirty="0"/>
            </a:p>
            <a:p>
              <a:pPr algn="l" rtl="0" eaLnBrk="0">
                <a:lnSpc>
                  <a:spcPct val="8000"/>
                </a:lnSpc>
              </a:pPr>
              <a:endParaRPr lang="en-US" altLang="en-US" sz="100" dirty="0"/>
            </a:p>
            <a:p>
              <a:pPr marL="281305" algn="l" rtl="0" eaLnBrk="0">
                <a:lnSpc>
                  <a:spcPct val="91000"/>
                </a:lnSpc>
              </a:pPr>
              <a:r>
                <a:rPr sz="1500" kern="0" spc="-40" dirty="0">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噪音</a:t>
              </a:r>
              <a:endParaRPr lang="en-US" altLang="en-US" sz="1500" dirty="0"/>
            </a:p>
          </p:txBody>
        </p:sp>
      </p:grpSp>
      <p:grpSp>
        <p:nvGrpSpPr>
          <p:cNvPr id="46" name="group 46"/>
          <p:cNvGrpSpPr/>
          <p:nvPr/>
        </p:nvGrpSpPr>
        <p:grpSpPr>
          <a:xfrm rot="21600000">
            <a:off x="2347216" y="3666566"/>
            <a:ext cx="754276" cy="794273"/>
            <a:chOff x="0" y="0"/>
            <a:chExt cx="1005701" cy="1059030"/>
          </a:xfrm>
        </p:grpSpPr>
        <p:grpSp>
          <p:nvGrpSpPr>
            <p:cNvPr id="48" name="group 48"/>
            <p:cNvGrpSpPr/>
            <p:nvPr/>
          </p:nvGrpSpPr>
          <p:grpSpPr>
            <a:xfrm rot="21600000">
              <a:off x="0" y="0"/>
              <a:ext cx="1005701" cy="1059030"/>
              <a:chOff x="0" y="0"/>
              <a:chExt cx="1005701" cy="1059030"/>
            </a:xfrm>
          </p:grpSpPr>
          <p:sp>
            <p:nvSpPr>
              <p:cNvPr id="440" name="path"/>
              <p:cNvSpPr/>
              <p:nvPr/>
            </p:nvSpPr>
            <p:spPr>
              <a:xfrm>
                <a:off x="4838" y="4838"/>
                <a:ext cx="980339" cy="1032827"/>
              </a:xfrm>
              <a:custGeom>
                <a:avLst/>
                <a:gdLst/>
                <a:ahLst/>
                <a:cxnLst/>
                <a:rect l="0" t="0" r="0" b="0"/>
                <a:pathLst>
                  <a:path w="1543" h="1626">
                    <a:moveTo>
                      <a:pt x="771" y="436"/>
                    </a:moveTo>
                    <a:lnTo>
                      <a:pt x="1037" y="0"/>
                    </a:lnTo>
                    <a:lnTo>
                      <a:pt x="1011" y="400"/>
                    </a:lnTo>
                    <a:lnTo>
                      <a:pt x="1313" y="335"/>
                    </a:lnTo>
                    <a:lnTo>
                      <a:pt x="1193" y="550"/>
                    </a:lnTo>
                    <a:lnTo>
                      <a:pt x="1507" y="612"/>
                    </a:lnTo>
                    <a:lnTo>
                      <a:pt x="1258" y="788"/>
                    </a:lnTo>
                    <a:lnTo>
                      <a:pt x="1543" y="1000"/>
                    </a:lnTo>
                    <a:lnTo>
                      <a:pt x="1203" y="974"/>
                    </a:lnTo>
                    <a:lnTo>
                      <a:pt x="1296" y="1362"/>
                    </a:lnTo>
                    <a:lnTo>
                      <a:pt x="1002" y="1088"/>
                    </a:lnTo>
                    <a:lnTo>
                      <a:pt x="946" y="1486"/>
                    </a:lnTo>
                    <a:lnTo>
                      <a:pt x="752" y="1124"/>
                    </a:lnTo>
                    <a:lnTo>
                      <a:pt x="606" y="1626"/>
                    </a:lnTo>
                    <a:lnTo>
                      <a:pt x="551" y="1176"/>
                    </a:lnTo>
                    <a:lnTo>
                      <a:pt x="340" y="1326"/>
                    </a:lnTo>
                    <a:lnTo>
                      <a:pt x="405" y="1049"/>
                    </a:lnTo>
                    <a:lnTo>
                      <a:pt x="9" y="1098"/>
                    </a:lnTo>
                    <a:lnTo>
                      <a:pt x="266" y="886"/>
                    </a:lnTo>
                    <a:lnTo>
                      <a:pt x="0" y="648"/>
                    </a:lnTo>
                    <a:lnTo>
                      <a:pt x="330" y="573"/>
                    </a:lnTo>
                    <a:lnTo>
                      <a:pt x="26" y="172"/>
                    </a:lnTo>
                    <a:lnTo>
                      <a:pt x="522" y="475"/>
                    </a:lnTo>
                    <a:lnTo>
                      <a:pt x="596" y="172"/>
                    </a:lnTo>
                    <a:lnTo>
                      <a:pt x="771" y="436"/>
                    </a:lnTo>
                    <a:close/>
                  </a:path>
                </a:pathLst>
              </a:custGeom>
              <a:solidFill>
                <a:srgbClr val="FAFAFA">
                  <a:alpha val="100000"/>
                </a:srgbClr>
              </a:solidFill>
              <a:ln cap="flat">
                <a:noFill/>
                <a:prstDash val="solid"/>
                <a:miter lim="0"/>
              </a:ln>
            </p:spPr>
            <p:txBody>
              <a:bodyPr rtlCol="0"/>
              <a:lstStyle/>
              <a:p>
                <a:pPr algn="ctr"/>
                <a:endParaRPr lang="zh-CN" altLang="en-US" sz="1350"/>
              </a:p>
            </p:txBody>
          </p:sp>
          <p:sp>
            <p:nvSpPr>
              <p:cNvPr id="442" name="path"/>
              <p:cNvSpPr/>
              <p:nvPr/>
            </p:nvSpPr>
            <p:spPr>
              <a:xfrm>
                <a:off x="0" y="0"/>
                <a:ext cx="1005701" cy="1059030"/>
              </a:xfrm>
              <a:custGeom>
                <a:avLst/>
                <a:gdLst/>
                <a:ahLst/>
                <a:cxnLst/>
                <a:rect l="0" t="0" r="0" b="0"/>
                <a:pathLst>
                  <a:path w="1583" h="1667">
                    <a:moveTo>
                      <a:pt x="791" y="451"/>
                    </a:moveTo>
                    <a:lnTo>
                      <a:pt x="1062" y="7"/>
                    </a:lnTo>
                    <a:lnTo>
                      <a:pt x="1035" y="415"/>
                    </a:lnTo>
                    <a:lnTo>
                      <a:pt x="1342" y="348"/>
                    </a:lnTo>
                    <a:lnTo>
                      <a:pt x="1220" y="567"/>
                    </a:lnTo>
                    <a:lnTo>
                      <a:pt x="1539" y="630"/>
                    </a:lnTo>
                    <a:lnTo>
                      <a:pt x="1286" y="809"/>
                    </a:lnTo>
                    <a:lnTo>
                      <a:pt x="1576" y="1024"/>
                    </a:lnTo>
                    <a:lnTo>
                      <a:pt x="1230" y="997"/>
                    </a:lnTo>
                    <a:lnTo>
                      <a:pt x="1325" y="1391"/>
                    </a:lnTo>
                    <a:lnTo>
                      <a:pt x="1025" y="1113"/>
                    </a:lnTo>
                    <a:lnTo>
                      <a:pt x="969" y="1517"/>
                    </a:lnTo>
                    <a:lnTo>
                      <a:pt x="772" y="1150"/>
                    </a:lnTo>
                    <a:lnTo>
                      <a:pt x="623" y="1660"/>
                    </a:lnTo>
                    <a:lnTo>
                      <a:pt x="567" y="1203"/>
                    </a:lnTo>
                    <a:lnTo>
                      <a:pt x="353" y="1355"/>
                    </a:lnTo>
                    <a:lnTo>
                      <a:pt x="419" y="1073"/>
                    </a:lnTo>
                    <a:lnTo>
                      <a:pt x="17" y="1123"/>
                    </a:lnTo>
                    <a:lnTo>
                      <a:pt x="277" y="908"/>
                    </a:lnTo>
                    <a:lnTo>
                      <a:pt x="7" y="666"/>
                    </a:lnTo>
                    <a:lnTo>
                      <a:pt x="343" y="590"/>
                    </a:lnTo>
                    <a:lnTo>
                      <a:pt x="34" y="183"/>
                    </a:lnTo>
                    <a:lnTo>
                      <a:pt x="538" y="491"/>
                    </a:lnTo>
                    <a:lnTo>
                      <a:pt x="614" y="183"/>
                    </a:lnTo>
                    <a:lnTo>
                      <a:pt x="791" y="451"/>
                    </a:lnTo>
                    <a:close/>
                  </a:path>
                </a:pathLst>
              </a:custGeom>
              <a:noFill/>
              <a:ln w="9677" cap="flat">
                <a:solidFill>
                  <a:srgbClr val="000000">
                    <a:alpha val="100000"/>
                  </a:srgbClr>
                </a:solidFill>
                <a:prstDash val="solid"/>
                <a:miter lim="800000"/>
              </a:ln>
            </p:spPr>
            <p:txBody>
              <a:bodyPr rtlCol="0"/>
              <a:lstStyle/>
              <a:p>
                <a:pPr algn="ctr"/>
                <a:endParaRPr lang="zh-CN" altLang="en-US" sz="1350"/>
              </a:p>
            </p:txBody>
          </p:sp>
        </p:grpSp>
        <p:sp>
          <p:nvSpPr>
            <p:cNvPr id="444" name="textbox 444"/>
            <p:cNvSpPr/>
            <p:nvPr/>
          </p:nvSpPr>
          <p:spPr>
            <a:xfrm>
              <a:off x="-12700" y="-12700"/>
              <a:ext cx="1031239" cy="1113155"/>
            </a:xfrm>
            <a:prstGeom prst="rect">
              <a:avLst/>
            </a:prstGeom>
          </p:spPr>
          <p:txBody>
            <a:bodyPr vert="horz" wrap="square" lIns="0" tIns="0" rIns="0" bIns="0"/>
            <a:lstStyle/>
            <a:p>
              <a:pPr algn="l" rtl="0" eaLnBrk="0">
                <a:lnSpc>
                  <a:spcPct val="126000"/>
                </a:lnSpc>
              </a:pPr>
              <a:endParaRPr lang="en-US" altLang="en-US" sz="750" dirty="0"/>
            </a:p>
            <a:p>
              <a:pPr algn="l" rtl="0" eaLnBrk="0">
                <a:lnSpc>
                  <a:spcPct val="127000"/>
                </a:lnSpc>
              </a:pPr>
              <a:endParaRPr lang="en-US" altLang="en-US" sz="750" dirty="0"/>
            </a:p>
            <a:p>
              <a:pPr algn="l" rtl="0" eaLnBrk="0">
                <a:lnSpc>
                  <a:spcPct val="8000"/>
                </a:lnSpc>
              </a:pPr>
              <a:endParaRPr lang="en-US" altLang="en-US" sz="100" dirty="0"/>
            </a:p>
            <a:p>
              <a:pPr marL="257810" algn="l" rtl="0" eaLnBrk="0">
                <a:lnSpc>
                  <a:spcPct val="91000"/>
                </a:lnSpc>
              </a:pPr>
              <a:r>
                <a:rPr sz="1500" kern="0" spc="-40" dirty="0">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噪音</a:t>
              </a:r>
              <a:endParaRPr lang="en-US" altLang="en-US" sz="1500" dirty="0"/>
            </a:p>
          </p:txBody>
        </p:sp>
      </p:grpSp>
      <p:sp>
        <p:nvSpPr>
          <p:cNvPr id="446" name="path"/>
          <p:cNvSpPr/>
          <p:nvPr/>
        </p:nvSpPr>
        <p:spPr>
          <a:xfrm>
            <a:off x="2016278" y="4019761"/>
            <a:ext cx="142875" cy="85725"/>
          </a:xfrm>
          <a:custGeom>
            <a:avLst/>
            <a:gdLst/>
            <a:ahLst/>
            <a:cxnLst/>
            <a:rect l="0" t="0" r="0" b="0"/>
            <a:pathLst>
              <a:path w="300" h="180">
                <a:moveTo>
                  <a:pt x="300" y="180"/>
                </a:moveTo>
                <a:lnTo>
                  <a:pt x="0" y="90"/>
                </a:lnTo>
                <a:lnTo>
                  <a:pt x="300" y="0"/>
                </a:lnTo>
                <a:lnTo>
                  <a:pt x="300" y="180"/>
                </a:lnTo>
                <a:close/>
              </a:path>
            </a:pathLst>
          </a:custGeom>
          <a:solidFill>
            <a:srgbClr val="6C6C6C">
              <a:alpha val="100000"/>
            </a:srgbClr>
          </a:solidFill>
          <a:ln cap="flat">
            <a:noFill/>
            <a:prstDash val="solid"/>
            <a:miter lim="0"/>
          </a:ln>
        </p:spPr>
        <p:txBody>
          <a:bodyPr rtlCol="0"/>
          <a:lstStyle/>
          <a:p>
            <a:pPr algn="ctr"/>
            <a:endParaRPr lang="zh-CN" altLang="en-US" sz="1350"/>
          </a:p>
        </p:txBody>
      </p:sp>
      <p:sp>
        <p:nvSpPr>
          <p:cNvPr id="448" name="textbox 448"/>
          <p:cNvSpPr/>
          <p:nvPr/>
        </p:nvSpPr>
        <p:spPr>
          <a:xfrm>
            <a:off x="1181101" y="3780446"/>
            <a:ext cx="851535" cy="565785"/>
          </a:xfrm>
          <a:prstGeom prst="rect">
            <a:avLst/>
          </a:prstGeom>
          <a:solidFill>
            <a:srgbClr val="CFE4C0"/>
          </a:solidFill>
        </p:spPr>
        <p:txBody>
          <a:bodyPr vert="horz" wrap="square" lIns="0" tIns="0" rIns="0" bIns="0"/>
          <a:lstStyle/>
          <a:p>
            <a:pPr algn="l" rtl="0" eaLnBrk="0">
              <a:lnSpc>
                <a:spcPct val="102000"/>
              </a:lnSpc>
            </a:pPr>
            <a:endParaRPr lang="en-US" altLang="en-US" sz="525" dirty="0"/>
          </a:p>
          <a:p>
            <a:pPr algn="l" rtl="0" eaLnBrk="0">
              <a:lnSpc>
                <a:spcPct val="7000"/>
              </a:lnSpc>
            </a:pPr>
            <a:endParaRPr lang="en-US" altLang="en-US" sz="100" dirty="0"/>
          </a:p>
          <a:p>
            <a:pPr marL="318770" algn="l" rtl="0" eaLnBrk="0">
              <a:lnSpc>
                <a:spcPct val="82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信息</a:t>
            </a:r>
            <a:endParaRPr lang="en-US" altLang="en-US" sz="1500" dirty="0"/>
          </a:p>
          <a:p>
            <a:pPr marL="318770" algn="l" rtl="0" eaLnBrk="0">
              <a:lnSpc>
                <a:spcPts val="2615"/>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解码</a:t>
            </a:r>
            <a:endParaRPr lang="en-US" altLang="en-US" sz="1500" dirty="0"/>
          </a:p>
        </p:txBody>
      </p:sp>
      <p:sp>
        <p:nvSpPr>
          <p:cNvPr id="450" name="textbox 450"/>
          <p:cNvSpPr/>
          <p:nvPr/>
        </p:nvSpPr>
        <p:spPr>
          <a:xfrm>
            <a:off x="1181101" y="3101314"/>
            <a:ext cx="839152" cy="565785"/>
          </a:xfrm>
          <a:prstGeom prst="rect">
            <a:avLst/>
          </a:prstGeom>
          <a:solidFill>
            <a:srgbClr val="FFE9A9"/>
          </a:solidFill>
        </p:spPr>
        <p:txBody>
          <a:bodyPr vert="horz" wrap="square" lIns="0" tIns="0" rIns="0" bIns="0"/>
          <a:lstStyle/>
          <a:p>
            <a:pPr algn="l" rtl="0" eaLnBrk="0">
              <a:lnSpc>
                <a:spcPct val="102000"/>
              </a:lnSpc>
            </a:pPr>
            <a:endParaRPr lang="en-US" altLang="en-US" sz="525" dirty="0"/>
          </a:p>
          <a:p>
            <a:pPr algn="l" rtl="0" eaLnBrk="0">
              <a:lnSpc>
                <a:spcPct val="7000"/>
              </a:lnSpc>
            </a:pPr>
            <a:endParaRPr lang="en-US" altLang="en-US" sz="100" dirty="0"/>
          </a:p>
          <a:p>
            <a:pPr marL="311150" algn="l" rtl="0" eaLnBrk="0">
              <a:lnSpc>
                <a:spcPct val="82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信息</a:t>
            </a:r>
            <a:endParaRPr lang="en-US" altLang="en-US" sz="1500" dirty="0"/>
          </a:p>
          <a:p>
            <a:pPr marL="311150" algn="l" rtl="0" eaLnBrk="0">
              <a:lnSpc>
                <a:spcPts val="2615"/>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编码</a:t>
            </a:r>
            <a:endParaRPr lang="en-US" altLang="en-US" sz="1500" dirty="0"/>
          </a:p>
        </p:txBody>
      </p:sp>
      <p:sp>
        <p:nvSpPr>
          <p:cNvPr id="452" name="textbox 452"/>
          <p:cNvSpPr/>
          <p:nvPr/>
        </p:nvSpPr>
        <p:spPr>
          <a:xfrm>
            <a:off x="7071054" y="3775683"/>
            <a:ext cx="815816" cy="565785"/>
          </a:xfrm>
          <a:prstGeom prst="rect">
            <a:avLst/>
          </a:prstGeom>
          <a:solidFill>
            <a:srgbClr val="FFE9A9"/>
          </a:solidFill>
        </p:spPr>
        <p:txBody>
          <a:bodyPr vert="horz" wrap="square" lIns="0" tIns="0" rIns="0" bIns="0"/>
          <a:lstStyle/>
          <a:p>
            <a:pPr algn="l" rtl="0" eaLnBrk="0">
              <a:lnSpc>
                <a:spcPct val="102000"/>
              </a:lnSpc>
            </a:pPr>
            <a:endParaRPr lang="en-US" altLang="en-US" sz="525" dirty="0"/>
          </a:p>
          <a:p>
            <a:pPr algn="l" rtl="0" eaLnBrk="0">
              <a:lnSpc>
                <a:spcPct val="7000"/>
              </a:lnSpc>
            </a:pPr>
            <a:endParaRPr lang="en-US" altLang="en-US" sz="100" dirty="0"/>
          </a:p>
          <a:p>
            <a:pPr marL="295275" algn="l" rtl="0" eaLnBrk="0">
              <a:lnSpc>
                <a:spcPct val="82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信息</a:t>
            </a:r>
            <a:endParaRPr lang="en-US" altLang="en-US" sz="1500" dirty="0"/>
          </a:p>
          <a:p>
            <a:pPr marL="295275" algn="l" rtl="0" eaLnBrk="0">
              <a:lnSpc>
                <a:spcPts val="2615"/>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编码</a:t>
            </a:r>
            <a:endParaRPr lang="en-US" altLang="en-US" sz="1500" dirty="0"/>
          </a:p>
        </p:txBody>
      </p:sp>
      <p:grpSp>
        <p:nvGrpSpPr>
          <p:cNvPr id="50" name="group 50"/>
          <p:cNvGrpSpPr/>
          <p:nvPr/>
        </p:nvGrpSpPr>
        <p:grpSpPr>
          <a:xfrm rot="21600000">
            <a:off x="1421624" y="1473377"/>
            <a:ext cx="628203" cy="725774"/>
            <a:chOff x="0" y="0"/>
            <a:chExt cx="837604" cy="967699"/>
          </a:xfrm>
        </p:grpSpPr>
        <p:sp>
          <p:nvSpPr>
            <p:cNvPr id="454" name="path"/>
            <p:cNvSpPr/>
            <p:nvPr/>
          </p:nvSpPr>
          <p:spPr>
            <a:xfrm>
              <a:off x="6451" y="6451"/>
              <a:ext cx="352312" cy="579163"/>
            </a:xfrm>
            <a:custGeom>
              <a:avLst/>
              <a:gdLst/>
              <a:ahLst/>
              <a:cxnLst/>
              <a:rect l="0" t="0" r="0" b="0"/>
              <a:pathLst>
                <a:path w="554" h="912">
                  <a:moveTo>
                    <a:pt x="418" y="0"/>
                  </a:moveTo>
                  <a:lnTo>
                    <a:pt x="508" y="48"/>
                  </a:lnTo>
                  <a:lnTo>
                    <a:pt x="515" y="103"/>
                  </a:lnTo>
                  <a:lnTo>
                    <a:pt x="523" y="171"/>
                  </a:lnTo>
                  <a:lnTo>
                    <a:pt x="510" y="218"/>
                  </a:lnTo>
                  <a:lnTo>
                    <a:pt x="511" y="266"/>
                  </a:lnTo>
                  <a:lnTo>
                    <a:pt x="554" y="342"/>
                  </a:lnTo>
                  <a:lnTo>
                    <a:pt x="554" y="383"/>
                  </a:lnTo>
                  <a:lnTo>
                    <a:pt x="527" y="397"/>
                  </a:lnTo>
                  <a:lnTo>
                    <a:pt x="515" y="436"/>
                  </a:lnTo>
                  <a:lnTo>
                    <a:pt x="511" y="485"/>
                  </a:lnTo>
                  <a:lnTo>
                    <a:pt x="486" y="510"/>
                  </a:lnTo>
                  <a:lnTo>
                    <a:pt x="441" y="530"/>
                  </a:lnTo>
                  <a:lnTo>
                    <a:pt x="311" y="549"/>
                  </a:lnTo>
                  <a:lnTo>
                    <a:pt x="260" y="912"/>
                  </a:lnTo>
                  <a:lnTo>
                    <a:pt x="0" y="703"/>
                  </a:lnTo>
                  <a:lnTo>
                    <a:pt x="48" y="150"/>
                  </a:lnTo>
                  <a:lnTo>
                    <a:pt x="418" y="0"/>
                  </a:lnTo>
                </a:path>
              </a:pathLst>
            </a:custGeom>
            <a:solidFill>
              <a:srgbClr val="FFFFFF">
                <a:alpha val="100000"/>
              </a:srgbClr>
            </a:solidFill>
            <a:ln cap="flat">
              <a:noFill/>
              <a:prstDash val="solid"/>
              <a:miter lim="0"/>
            </a:ln>
          </p:spPr>
          <p:txBody>
            <a:bodyPr rtlCol="0"/>
            <a:lstStyle/>
            <a:p>
              <a:pPr algn="ctr"/>
              <a:endParaRPr lang="zh-CN" altLang="en-US" sz="1350"/>
            </a:p>
          </p:txBody>
        </p:sp>
        <p:sp>
          <p:nvSpPr>
            <p:cNvPr id="456" name="path"/>
            <p:cNvSpPr/>
            <p:nvPr/>
          </p:nvSpPr>
          <p:spPr>
            <a:xfrm>
              <a:off x="0" y="0"/>
              <a:ext cx="370852" cy="601333"/>
            </a:xfrm>
            <a:custGeom>
              <a:avLst/>
              <a:gdLst/>
              <a:ahLst/>
              <a:cxnLst/>
              <a:rect l="0" t="0" r="0" b="0"/>
              <a:pathLst>
                <a:path w="584" h="946">
                  <a:moveTo>
                    <a:pt x="435" y="10"/>
                  </a:moveTo>
                  <a:lnTo>
                    <a:pt x="526" y="59"/>
                  </a:lnTo>
                  <a:lnTo>
                    <a:pt x="534" y="115"/>
                  </a:lnTo>
                  <a:lnTo>
                    <a:pt x="542" y="184"/>
                  </a:lnTo>
                  <a:lnTo>
                    <a:pt x="528" y="231"/>
                  </a:lnTo>
                  <a:lnTo>
                    <a:pt x="530" y="281"/>
                  </a:lnTo>
                  <a:lnTo>
                    <a:pt x="573" y="358"/>
                  </a:lnTo>
                  <a:lnTo>
                    <a:pt x="573" y="400"/>
                  </a:lnTo>
                  <a:lnTo>
                    <a:pt x="546" y="414"/>
                  </a:lnTo>
                  <a:lnTo>
                    <a:pt x="534" y="453"/>
                  </a:lnTo>
                  <a:lnTo>
                    <a:pt x="530" y="503"/>
                  </a:lnTo>
                  <a:lnTo>
                    <a:pt x="504" y="528"/>
                  </a:lnTo>
                  <a:lnTo>
                    <a:pt x="459" y="548"/>
                  </a:lnTo>
                  <a:lnTo>
                    <a:pt x="326" y="568"/>
                  </a:lnTo>
                  <a:lnTo>
                    <a:pt x="275" y="936"/>
                  </a:lnTo>
                  <a:lnTo>
                    <a:pt x="10" y="724"/>
                  </a:lnTo>
                  <a:lnTo>
                    <a:pt x="59" y="162"/>
                  </a:lnTo>
                  <a:lnTo>
                    <a:pt x="435" y="10"/>
                  </a:lnTo>
                </a:path>
              </a:pathLst>
            </a:custGeom>
            <a:noFill/>
            <a:ln w="12903" cap="rnd">
              <a:solidFill>
                <a:srgbClr val="000000">
                  <a:alpha val="100000"/>
                </a:srgbClr>
              </a:solidFill>
              <a:prstDash val="solid"/>
              <a:round/>
            </a:ln>
          </p:spPr>
          <p:txBody>
            <a:bodyPr rtlCol="0"/>
            <a:lstStyle/>
            <a:p>
              <a:pPr algn="ctr"/>
              <a:endParaRPr lang="zh-CN" altLang="en-US" sz="1350"/>
            </a:p>
          </p:txBody>
        </p:sp>
        <p:sp>
          <p:nvSpPr>
            <p:cNvPr id="458" name="path"/>
            <p:cNvSpPr/>
            <p:nvPr/>
          </p:nvSpPr>
          <p:spPr>
            <a:xfrm>
              <a:off x="270993" y="369046"/>
              <a:ext cx="551338" cy="582875"/>
            </a:xfrm>
            <a:custGeom>
              <a:avLst/>
              <a:gdLst/>
              <a:ahLst/>
              <a:cxnLst/>
              <a:rect l="0" t="0" r="0" b="0"/>
              <a:pathLst>
                <a:path w="868" h="917">
                  <a:moveTo>
                    <a:pt x="144" y="190"/>
                  </a:moveTo>
                  <a:lnTo>
                    <a:pt x="327" y="645"/>
                  </a:lnTo>
                  <a:lnTo>
                    <a:pt x="426" y="317"/>
                  </a:lnTo>
                  <a:lnTo>
                    <a:pt x="455" y="196"/>
                  </a:lnTo>
                  <a:lnTo>
                    <a:pt x="615" y="0"/>
                  </a:lnTo>
                  <a:lnTo>
                    <a:pt x="626" y="76"/>
                  </a:lnTo>
                  <a:lnTo>
                    <a:pt x="562" y="165"/>
                  </a:lnTo>
                  <a:lnTo>
                    <a:pt x="661" y="155"/>
                  </a:lnTo>
                  <a:lnTo>
                    <a:pt x="817" y="37"/>
                  </a:lnTo>
                  <a:lnTo>
                    <a:pt x="868" y="35"/>
                  </a:lnTo>
                  <a:lnTo>
                    <a:pt x="821" y="93"/>
                  </a:lnTo>
                  <a:lnTo>
                    <a:pt x="800" y="241"/>
                  </a:lnTo>
                  <a:lnTo>
                    <a:pt x="749" y="300"/>
                  </a:lnTo>
                  <a:lnTo>
                    <a:pt x="570" y="319"/>
                  </a:lnTo>
                  <a:lnTo>
                    <a:pt x="519" y="368"/>
                  </a:lnTo>
                  <a:lnTo>
                    <a:pt x="494" y="608"/>
                  </a:lnTo>
                  <a:lnTo>
                    <a:pt x="447" y="834"/>
                  </a:lnTo>
                  <a:lnTo>
                    <a:pt x="412" y="917"/>
                  </a:lnTo>
                  <a:lnTo>
                    <a:pt x="124" y="884"/>
                  </a:lnTo>
                  <a:lnTo>
                    <a:pt x="0" y="600"/>
                  </a:lnTo>
                  <a:lnTo>
                    <a:pt x="48" y="249"/>
                  </a:lnTo>
                  <a:lnTo>
                    <a:pt x="144" y="190"/>
                  </a:lnTo>
                </a:path>
              </a:pathLst>
            </a:custGeom>
            <a:solidFill>
              <a:srgbClr val="FFFFFF">
                <a:alpha val="100000"/>
              </a:srgbClr>
            </a:solidFill>
            <a:ln cap="flat">
              <a:noFill/>
              <a:prstDash val="solid"/>
              <a:miter lim="0"/>
            </a:ln>
          </p:spPr>
          <p:txBody>
            <a:bodyPr rtlCol="0"/>
            <a:lstStyle/>
            <a:p>
              <a:pPr algn="ctr"/>
              <a:endParaRPr lang="zh-CN" altLang="en-US" sz="1350"/>
            </a:p>
          </p:txBody>
        </p:sp>
        <p:sp>
          <p:nvSpPr>
            <p:cNvPr id="460" name="path"/>
            <p:cNvSpPr/>
            <p:nvPr/>
          </p:nvSpPr>
          <p:spPr>
            <a:xfrm>
              <a:off x="80585" y="362594"/>
              <a:ext cx="757018" cy="605104"/>
            </a:xfrm>
            <a:custGeom>
              <a:avLst/>
              <a:gdLst/>
              <a:ahLst/>
              <a:cxnLst/>
              <a:rect l="0" t="0" r="0" b="0"/>
              <a:pathLst>
                <a:path w="1192" h="952">
                  <a:moveTo>
                    <a:pt x="446" y="204"/>
                  </a:moveTo>
                  <a:lnTo>
                    <a:pt x="632" y="665"/>
                  </a:lnTo>
                  <a:lnTo>
                    <a:pt x="733" y="332"/>
                  </a:lnTo>
                  <a:lnTo>
                    <a:pt x="762" y="210"/>
                  </a:lnTo>
                  <a:lnTo>
                    <a:pt x="924" y="10"/>
                  </a:lnTo>
                  <a:lnTo>
                    <a:pt x="936" y="87"/>
                  </a:lnTo>
                  <a:lnTo>
                    <a:pt x="871" y="178"/>
                  </a:lnTo>
                  <a:lnTo>
                    <a:pt x="972" y="168"/>
                  </a:lnTo>
                  <a:lnTo>
                    <a:pt x="1130" y="47"/>
                  </a:lnTo>
                  <a:lnTo>
                    <a:pt x="1181" y="45"/>
                  </a:lnTo>
                  <a:lnTo>
                    <a:pt x="1134" y="105"/>
                  </a:lnTo>
                  <a:lnTo>
                    <a:pt x="1112" y="255"/>
                  </a:lnTo>
                  <a:lnTo>
                    <a:pt x="1061" y="315"/>
                  </a:lnTo>
                  <a:lnTo>
                    <a:pt x="879" y="334"/>
                  </a:lnTo>
                  <a:lnTo>
                    <a:pt x="827" y="384"/>
                  </a:lnTo>
                  <a:lnTo>
                    <a:pt x="802" y="627"/>
                  </a:lnTo>
                  <a:lnTo>
                    <a:pt x="754" y="857"/>
                  </a:lnTo>
                  <a:lnTo>
                    <a:pt x="719" y="942"/>
                  </a:lnTo>
                  <a:lnTo>
                    <a:pt x="426" y="909"/>
                  </a:lnTo>
                  <a:lnTo>
                    <a:pt x="299" y="620"/>
                  </a:lnTo>
                  <a:lnTo>
                    <a:pt x="349" y="263"/>
                  </a:lnTo>
                  <a:lnTo>
                    <a:pt x="446" y="204"/>
                  </a:lnTo>
                  <a:moveTo>
                    <a:pt x="548" y="634"/>
                  </a:moveTo>
                  <a:lnTo>
                    <a:pt x="641" y="604"/>
                  </a:lnTo>
                  <a:lnTo>
                    <a:pt x="759" y="612"/>
                  </a:lnTo>
                  <a:lnTo>
                    <a:pt x="854" y="650"/>
                  </a:lnTo>
                  <a:moveTo>
                    <a:pt x="773" y="786"/>
                  </a:moveTo>
                  <a:lnTo>
                    <a:pt x="714" y="782"/>
                  </a:lnTo>
                  <a:lnTo>
                    <a:pt x="659" y="751"/>
                  </a:lnTo>
                  <a:lnTo>
                    <a:pt x="556" y="786"/>
                  </a:lnTo>
                </a:path>
              </a:pathLst>
            </a:custGeom>
            <a:noFill/>
            <a:ln w="12903" cap="rnd">
              <a:solidFill>
                <a:srgbClr val="000000">
                  <a:alpha val="100000"/>
                </a:srgbClr>
              </a:solidFill>
              <a:prstDash val="solid"/>
              <a:round/>
            </a:ln>
          </p:spPr>
          <p:txBody>
            <a:bodyPr rtlCol="0"/>
            <a:lstStyle/>
            <a:p>
              <a:pPr algn="ctr"/>
              <a:endParaRPr lang="zh-CN" altLang="en-US" sz="1350"/>
            </a:p>
          </p:txBody>
        </p:sp>
      </p:grpSp>
      <p:sp>
        <p:nvSpPr>
          <p:cNvPr id="462" name="rect"/>
          <p:cNvSpPr/>
          <p:nvPr/>
        </p:nvSpPr>
        <p:spPr>
          <a:xfrm>
            <a:off x="7323541" y="1541773"/>
            <a:ext cx="11563" cy="55211"/>
          </a:xfrm>
          <a:prstGeom prst="rect">
            <a:avLst/>
          </a:prstGeom>
          <a:solidFill>
            <a:srgbClr val="000000">
              <a:alpha val="100000"/>
            </a:srgbClr>
          </a:solidFill>
          <a:ln cap="flat">
            <a:noFill/>
            <a:prstDash val="solid"/>
            <a:miter lim="0"/>
          </a:ln>
        </p:spPr>
        <p:txBody>
          <a:bodyPr rtlCol="0"/>
          <a:lstStyle/>
          <a:p>
            <a:pPr algn="ctr"/>
            <a:endParaRPr lang="zh-CN" altLang="en-US" sz="1350"/>
          </a:p>
        </p:txBody>
      </p:sp>
      <p:pic>
        <p:nvPicPr>
          <p:cNvPr id="464" name="picture 464"/>
          <p:cNvPicPr>
            <a:picLocks noChangeAspect="1"/>
          </p:cNvPicPr>
          <p:nvPr/>
        </p:nvPicPr>
        <p:blipFill>
          <a:blip r:embed="rId1"/>
          <a:stretch>
            <a:fillRect/>
          </a:stretch>
        </p:blipFill>
        <p:spPr>
          <a:xfrm rot="21600000">
            <a:off x="7284125" y="1351495"/>
            <a:ext cx="304847" cy="767582"/>
          </a:xfrm>
          <a:prstGeom prst="rect">
            <a:avLst/>
          </a:prstGeom>
        </p:spPr>
      </p:pic>
      <p:sp>
        <p:nvSpPr>
          <p:cNvPr id="466" name="path"/>
          <p:cNvSpPr/>
          <p:nvPr/>
        </p:nvSpPr>
        <p:spPr>
          <a:xfrm>
            <a:off x="7387154" y="1714241"/>
            <a:ext cx="23822" cy="362283"/>
          </a:xfrm>
          <a:custGeom>
            <a:avLst/>
            <a:gdLst/>
            <a:ahLst/>
            <a:cxnLst/>
            <a:rect l="0" t="0" r="0" b="0"/>
            <a:pathLst>
              <a:path w="50" h="760">
                <a:moveTo>
                  <a:pt x="39" y="750"/>
                </a:moveTo>
                <a:lnTo>
                  <a:pt x="10" y="10"/>
                </a:lnTo>
              </a:path>
            </a:pathLst>
          </a:custGeom>
          <a:noFill/>
          <a:ln w="12903" cap="rnd">
            <a:solidFill>
              <a:srgbClr val="000000">
                <a:alpha val="100000"/>
              </a:srgbClr>
            </a:solidFill>
            <a:prstDash val="solid"/>
            <a:round/>
          </a:ln>
        </p:spPr>
        <p:txBody>
          <a:bodyPr rtlCol="0"/>
          <a:lstStyle/>
          <a:p>
            <a:pPr algn="ctr"/>
            <a:endParaRPr lang="zh-CN" altLang="en-US" sz="1350"/>
          </a:p>
        </p:txBody>
      </p:sp>
      <p:pic>
        <p:nvPicPr>
          <p:cNvPr id="468" name="picture 468"/>
          <p:cNvPicPr>
            <a:picLocks noChangeAspect="1"/>
          </p:cNvPicPr>
          <p:nvPr/>
        </p:nvPicPr>
        <p:blipFill>
          <a:blip r:embed="rId2"/>
          <a:stretch>
            <a:fillRect/>
          </a:stretch>
        </p:blipFill>
        <p:spPr>
          <a:xfrm rot="21600000">
            <a:off x="7088279" y="1621528"/>
            <a:ext cx="760081" cy="578354"/>
          </a:xfrm>
          <a:prstGeom prst="rect">
            <a:avLst/>
          </a:prstGeom>
        </p:spPr>
      </p:pic>
      <p:pic>
        <p:nvPicPr>
          <p:cNvPr id="472" name="picture 472"/>
          <p:cNvPicPr>
            <a:picLocks noChangeAspect="1"/>
          </p:cNvPicPr>
          <p:nvPr/>
        </p:nvPicPr>
        <p:blipFill>
          <a:blip r:embed="rId3"/>
          <a:stretch>
            <a:fillRect/>
          </a:stretch>
        </p:blipFill>
        <p:spPr>
          <a:xfrm rot="21600000">
            <a:off x="1311498" y="1765941"/>
            <a:ext cx="402377" cy="410240"/>
          </a:xfrm>
          <a:prstGeom prst="rect">
            <a:avLst/>
          </a:prstGeom>
        </p:spPr>
      </p:pic>
      <p:sp>
        <p:nvSpPr>
          <p:cNvPr id="474" name="path"/>
          <p:cNvSpPr/>
          <p:nvPr/>
        </p:nvSpPr>
        <p:spPr>
          <a:xfrm>
            <a:off x="1306659" y="1761103"/>
            <a:ext cx="418493" cy="426482"/>
          </a:xfrm>
          <a:custGeom>
            <a:avLst/>
            <a:gdLst/>
            <a:ahLst/>
            <a:cxnLst/>
            <a:rect l="0" t="0" r="0" b="0"/>
            <a:pathLst>
              <a:path w="878" h="895">
                <a:moveTo>
                  <a:pt x="459" y="212"/>
                </a:moveTo>
                <a:lnTo>
                  <a:pt x="538" y="10"/>
                </a:lnTo>
                <a:lnTo>
                  <a:pt x="660" y="24"/>
                </a:lnTo>
                <a:lnTo>
                  <a:pt x="759" y="51"/>
                </a:lnTo>
                <a:lnTo>
                  <a:pt x="821" y="107"/>
                </a:lnTo>
                <a:lnTo>
                  <a:pt x="868" y="243"/>
                </a:lnTo>
                <a:lnTo>
                  <a:pt x="769" y="299"/>
                </a:lnTo>
                <a:lnTo>
                  <a:pt x="775" y="602"/>
                </a:lnTo>
                <a:lnTo>
                  <a:pt x="813" y="885"/>
                </a:lnTo>
                <a:lnTo>
                  <a:pt x="160" y="802"/>
                </a:lnTo>
                <a:lnTo>
                  <a:pt x="10" y="580"/>
                </a:lnTo>
                <a:lnTo>
                  <a:pt x="24" y="93"/>
                </a:lnTo>
                <a:lnTo>
                  <a:pt x="332" y="107"/>
                </a:lnTo>
                <a:lnTo>
                  <a:pt x="459" y="212"/>
                </a:lnTo>
              </a:path>
            </a:pathLst>
          </a:custGeom>
          <a:noFill/>
          <a:ln w="12903" cap="rnd">
            <a:solidFill>
              <a:srgbClr val="000000">
                <a:alpha val="100000"/>
              </a:srgbClr>
            </a:solidFill>
            <a:prstDash val="solid"/>
            <a:round/>
          </a:ln>
        </p:spPr>
        <p:txBody>
          <a:bodyPr rtlCol="0"/>
          <a:lstStyle/>
          <a:p>
            <a:pPr algn="ctr"/>
            <a:endParaRPr lang="zh-CN" altLang="en-US" sz="1350"/>
          </a:p>
        </p:txBody>
      </p:sp>
      <p:pic>
        <p:nvPicPr>
          <p:cNvPr id="476" name="picture 476"/>
          <p:cNvPicPr>
            <a:picLocks noChangeAspect="1"/>
          </p:cNvPicPr>
          <p:nvPr/>
        </p:nvPicPr>
        <p:blipFill>
          <a:blip r:embed="rId4"/>
          <a:stretch>
            <a:fillRect/>
          </a:stretch>
        </p:blipFill>
        <p:spPr>
          <a:xfrm rot="21600000">
            <a:off x="1251030" y="1412179"/>
            <a:ext cx="462765" cy="474575"/>
          </a:xfrm>
          <a:prstGeom prst="rect">
            <a:avLst/>
          </a:prstGeom>
        </p:spPr>
      </p:pic>
      <p:sp>
        <p:nvSpPr>
          <p:cNvPr id="478" name="path"/>
          <p:cNvSpPr/>
          <p:nvPr/>
        </p:nvSpPr>
        <p:spPr>
          <a:xfrm>
            <a:off x="7125407" y="1683983"/>
            <a:ext cx="293530" cy="471647"/>
          </a:xfrm>
          <a:custGeom>
            <a:avLst/>
            <a:gdLst/>
            <a:ahLst/>
            <a:cxnLst/>
            <a:rect l="0" t="0" r="0" b="0"/>
            <a:pathLst>
              <a:path w="616" h="990">
                <a:moveTo>
                  <a:pt x="606" y="10"/>
                </a:moveTo>
                <a:lnTo>
                  <a:pt x="532" y="10"/>
                </a:lnTo>
                <a:moveTo>
                  <a:pt x="194" y="61"/>
                </a:moveTo>
                <a:lnTo>
                  <a:pt x="144" y="107"/>
                </a:lnTo>
                <a:moveTo>
                  <a:pt x="121" y="279"/>
                </a:moveTo>
                <a:lnTo>
                  <a:pt x="126" y="459"/>
                </a:lnTo>
                <a:lnTo>
                  <a:pt x="126" y="598"/>
                </a:lnTo>
                <a:lnTo>
                  <a:pt x="99" y="606"/>
                </a:lnTo>
                <a:lnTo>
                  <a:pt x="79" y="679"/>
                </a:lnTo>
                <a:moveTo>
                  <a:pt x="10" y="754"/>
                </a:moveTo>
                <a:lnTo>
                  <a:pt x="57" y="980"/>
                </a:lnTo>
              </a:path>
            </a:pathLst>
          </a:custGeom>
          <a:noFill/>
          <a:ln w="12903" cap="rnd">
            <a:solidFill>
              <a:srgbClr val="000000">
                <a:alpha val="100000"/>
              </a:srgbClr>
            </a:solidFill>
            <a:prstDash val="solid"/>
            <a:round/>
          </a:ln>
        </p:spPr>
        <p:txBody>
          <a:bodyPr rtlCol="0"/>
          <a:lstStyle/>
          <a:p>
            <a:pPr algn="ctr"/>
            <a:endParaRPr lang="zh-CN" altLang="en-US" sz="1350"/>
          </a:p>
        </p:txBody>
      </p:sp>
      <p:sp>
        <p:nvSpPr>
          <p:cNvPr id="480" name="textbox 480"/>
          <p:cNvSpPr/>
          <p:nvPr/>
        </p:nvSpPr>
        <p:spPr>
          <a:xfrm>
            <a:off x="3023897" y="1778156"/>
            <a:ext cx="359569" cy="424814"/>
          </a:xfrm>
          <a:prstGeom prst="rect">
            <a:avLst/>
          </a:prstGeom>
        </p:spPr>
        <p:txBody>
          <a:bodyPr vert="horz" wrap="square" lIns="0" tIns="0" rIns="0" bIns="0"/>
          <a:lstStyle/>
          <a:p>
            <a:pPr algn="l" rtl="0" eaLnBrk="0">
              <a:lnSpc>
                <a:spcPct val="66000"/>
              </a:lnSpc>
            </a:pPr>
            <a:endParaRPr lang="en-US" altLang="en-US" sz="100" dirty="0"/>
          </a:p>
          <a:p>
            <a:pPr marL="21590" indent="-8890" algn="l" rtl="0" eaLnBrk="0">
              <a:lnSpc>
                <a:spcPct val="99000"/>
              </a:lnSpc>
            </a:pP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沟通</a:t>
            </a: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35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障碍</a:t>
            </a:r>
            <a:endParaRPr lang="en-US" altLang="en-US" sz="1350" dirty="0"/>
          </a:p>
        </p:txBody>
      </p:sp>
      <p:grpSp>
        <p:nvGrpSpPr>
          <p:cNvPr id="52" name="group 52"/>
          <p:cNvGrpSpPr/>
          <p:nvPr/>
        </p:nvGrpSpPr>
        <p:grpSpPr>
          <a:xfrm rot="21600000">
            <a:off x="1405863" y="2022839"/>
            <a:ext cx="551312" cy="214307"/>
            <a:chOff x="0" y="0"/>
            <a:chExt cx="735082" cy="285743"/>
          </a:xfrm>
        </p:grpSpPr>
        <p:sp>
          <p:nvSpPr>
            <p:cNvPr id="482" name="path"/>
            <p:cNvSpPr/>
            <p:nvPr/>
          </p:nvSpPr>
          <p:spPr>
            <a:xfrm>
              <a:off x="6451" y="6451"/>
              <a:ext cx="710805" cy="268543"/>
            </a:xfrm>
            <a:custGeom>
              <a:avLst/>
              <a:gdLst/>
              <a:ahLst/>
              <a:cxnLst/>
              <a:rect l="0" t="0" r="0" b="0"/>
              <a:pathLst>
                <a:path w="1119" h="422">
                  <a:moveTo>
                    <a:pt x="0" y="120"/>
                  </a:moveTo>
                  <a:lnTo>
                    <a:pt x="188" y="0"/>
                  </a:lnTo>
                  <a:lnTo>
                    <a:pt x="311" y="194"/>
                  </a:lnTo>
                  <a:lnTo>
                    <a:pt x="687" y="40"/>
                  </a:lnTo>
                  <a:lnTo>
                    <a:pt x="778" y="11"/>
                  </a:lnTo>
                  <a:lnTo>
                    <a:pt x="895" y="19"/>
                  </a:lnTo>
                  <a:lnTo>
                    <a:pt x="988" y="56"/>
                  </a:lnTo>
                  <a:lnTo>
                    <a:pt x="1107" y="198"/>
                  </a:lnTo>
                  <a:lnTo>
                    <a:pt x="1115" y="276"/>
                  </a:lnTo>
                  <a:lnTo>
                    <a:pt x="1119" y="344"/>
                  </a:lnTo>
                  <a:lnTo>
                    <a:pt x="1086" y="327"/>
                  </a:lnTo>
                  <a:lnTo>
                    <a:pt x="1064" y="231"/>
                  </a:lnTo>
                  <a:lnTo>
                    <a:pt x="1012" y="163"/>
                  </a:lnTo>
                  <a:lnTo>
                    <a:pt x="1043" y="255"/>
                  </a:lnTo>
                  <a:lnTo>
                    <a:pt x="996" y="339"/>
                  </a:lnTo>
                  <a:lnTo>
                    <a:pt x="986" y="366"/>
                  </a:lnTo>
                  <a:lnTo>
                    <a:pt x="959" y="325"/>
                  </a:lnTo>
                  <a:lnTo>
                    <a:pt x="967" y="249"/>
                  </a:lnTo>
                  <a:lnTo>
                    <a:pt x="909" y="190"/>
                  </a:lnTo>
                  <a:lnTo>
                    <a:pt x="850" y="187"/>
                  </a:lnTo>
                  <a:lnTo>
                    <a:pt x="796" y="155"/>
                  </a:lnTo>
                  <a:lnTo>
                    <a:pt x="694" y="190"/>
                  </a:lnTo>
                  <a:lnTo>
                    <a:pt x="327" y="419"/>
                  </a:lnTo>
                  <a:lnTo>
                    <a:pt x="256" y="422"/>
                  </a:lnTo>
                  <a:lnTo>
                    <a:pt x="0" y="120"/>
                  </a:lnTo>
                </a:path>
              </a:pathLst>
            </a:custGeom>
            <a:solidFill>
              <a:srgbClr val="FFFFFF">
                <a:alpha val="100000"/>
              </a:srgbClr>
            </a:solidFill>
            <a:ln cap="flat">
              <a:noFill/>
              <a:prstDash val="solid"/>
              <a:miter lim="0"/>
            </a:ln>
          </p:spPr>
          <p:txBody>
            <a:bodyPr rtlCol="0"/>
            <a:lstStyle/>
            <a:p>
              <a:pPr algn="ctr"/>
              <a:endParaRPr lang="zh-CN" altLang="en-US" sz="1350"/>
            </a:p>
          </p:txBody>
        </p:sp>
        <p:sp>
          <p:nvSpPr>
            <p:cNvPr id="484" name="path"/>
            <p:cNvSpPr/>
            <p:nvPr/>
          </p:nvSpPr>
          <p:spPr>
            <a:xfrm>
              <a:off x="0" y="0"/>
              <a:ext cx="735082" cy="285743"/>
            </a:xfrm>
            <a:custGeom>
              <a:avLst/>
              <a:gdLst/>
              <a:ahLst/>
              <a:cxnLst/>
              <a:rect l="0" t="0" r="0" b="0"/>
              <a:pathLst>
                <a:path w="1157" h="449">
                  <a:moveTo>
                    <a:pt x="10" y="132"/>
                  </a:moveTo>
                  <a:lnTo>
                    <a:pt x="202" y="10"/>
                  </a:lnTo>
                  <a:lnTo>
                    <a:pt x="326" y="208"/>
                  </a:lnTo>
                  <a:lnTo>
                    <a:pt x="708" y="51"/>
                  </a:lnTo>
                  <a:moveTo>
                    <a:pt x="1014" y="67"/>
                  </a:moveTo>
                  <a:lnTo>
                    <a:pt x="1135" y="212"/>
                  </a:lnTo>
                  <a:lnTo>
                    <a:pt x="1143" y="291"/>
                  </a:lnTo>
                  <a:lnTo>
                    <a:pt x="1147" y="360"/>
                  </a:lnTo>
                  <a:lnTo>
                    <a:pt x="1113" y="342"/>
                  </a:lnTo>
                  <a:lnTo>
                    <a:pt x="1092" y="245"/>
                  </a:lnTo>
                  <a:lnTo>
                    <a:pt x="1038" y="176"/>
                  </a:lnTo>
                  <a:lnTo>
                    <a:pt x="1070" y="269"/>
                  </a:lnTo>
                  <a:lnTo>
                    <a:pt x="1022" y="354"/>
                  </a:lnTo>
                  <a:lnTo>
                    <a:pt x="1012" y="382"/>
                  </a:lnTo>
                  <a:lnTo>
                    <a:pt x="985" y="340"/>
                  </a:lnTo>
                  <a:lnTo>
                    <a:pt x="993" y="263"/>
                  </a:lnTo>
                  <a:lnTo>
                    <a:pt x="933" y="204"/>
                  </a:lnTo>
                  <a:moveTo>
                    <a:pt x="716" y="204"/>
                  </a:moveTo>
                  <a:lnTo>
                    <a:pt x="342" y="435"/>
                  </a:lnTo>
                  <a:lnTo>
                    <a:pt x="271" y="439"/>
                  </a:lnTo>
                  <a:lnTo>
                    <a:pt x="10" y="132"/>
                  </a:lnTo>
                </a:path>
              </a:pathLst>
            </a:custGeom>
            <a:noFill/>
            <a:ln w="12903" cap="rnd">
              <a:solidFill>
                <a:srgbClr val="000000">
                  <a:alpha val="100000"/>
                </a:srgbClr>
              </a:solidFill>
              <a:prstDash val="solid"/>
              <a:round/>
            </a:ln>
          </p:spPr>
          <p:txBody>
            <a:bodyPr rtlCol="0"/>
            <a:lstStyle/>
            <a:p>
              <a:pPr algn="ctr"/>
              <a:endParaRPr lang="zh-CN" altLang="en-US" sz="1350"/>
            </a:p>
          </p:txBody>
        </p:sp>
      </p:grpSp>
      <p:sp>
        <p:nvSpPr>
          <p:cNvPr id="486" name="textbox 486"/>
          <p:cNvSpPr/>
          <p:nvPr/>
        </p:nvSpPr>
        <p:spPr>
          <a:xfrm>
            <a:off x="1312211" y="2391748"/>
            <a:ext cx="588644" cy="225743"/>
          </a:xfrm>
          <a:prstGeom prst="rect">
            <a:avLst/>
          </a:prstGeom>
        </p:spPr>
        <p:txBody>
          <a:bodyPr vert="horz" wrap="square" lIns="0" tIns="0" rIns="0" bIns="0"/>
          <a:lstStyle/>
          <a:p>
            <a:pPr algn="l" rtl="0" eaLnBrk="0">
              <a:lnSpc>
                <a:spcPct val="91000"/>
              </a:lnSpc>
            </a:pPr>
            <a:endParaRPr lang="en-US" altLang="en-US" sz="100" dirty="0"/>
          </a:p>
          <a:p>
            <a:pPr marL="12700" algn="l" rtl="0" eaLnBrk="0">
              <a:lnSpc>
                <a:spcPct val="90000"/>
              </a:lnSpc>
            </a:pPr>
            <a:r>
              <a:rPr sz="1500" kern="0" spc="-10" dirty="0">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发送者</a:t>
            </a:r>
            <a:endParaRPr lang="en-US" altLang="en-US" sz="1500" dirty="0"/>
          </a:p>
        </p:txBody>
      </p:sp>
      <p:sp>
        <p:nvSpPr>
          <p:cNvPr id="488" name="textbox 488"/>
          <p:cNvSpPr/>
          <p:nvPr/>
        </p:nvSpPr>
        <p:spPr>
          <a:xfrm>
            <a:off x="7194035" y="2388034"/>
            <a:ext cx="587693" cy="226219"/>
          </a:xfrm>
          <a:prstGeom prst="rect">
            <a:avLst/>
          </a:prstGeom>
        </p:spPr>
        <p:txBody>
          <a:bodyPr vert="horz" wrap="square" lIns="0" tIns="0" rIns="0" bIns="0"/>
          <a:lstStyle/>
          <a:p>
            <a:pPr algn="l" rtl="0" eaLnBrk="0">
              <a:lnSpc>
                <a:spcPct val="75000"/>
              </a:lnSpc>
            </a:pPr>
            <a:endParaRPr lang="en-US" altLang="en-US" sz="100" dirty="0"/>
          </a:p>
          <a:p>
            <a:pPr marL="12700" algn="l" rtl="0" eaLnBrk="0">
              <a:lnSpc>
                <a:spcPct val="91000"/>
              </a:lnSpc>
            </a:pPr>
            <a:r>
              <a:rPr sz="1500" kern="0" spc="-20" dirty="0">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接收者</a:t>
            </a:r>
            <a:endParaRPr lang="en-US" altLang="en-US" sz="1500" dirty="0"/>
          </a:p>
        </p:txBody>
      </p:sp>
      <p:sp>
        <p:nvSpPr>
          <p:cNvPr id="490" name="path"/>
          <p:cNvSpPr/>
          <p:nvPr/>
        </p:nvSpPr>
        <p:spPr>
          <a:xfrm>
            <a:off x="7345610" y="2659115"/>
            <a:ext cx="261689" cy="347662"/>
          </a:xfrm>
          <a:custGeom>
            <a:avLst/>
            <a:gdLst/>
            <a:ahLst/>
            <a:cxnLst/>
            <a:rect l="0" t="0" r="0" b="0"/>
            <a:pathLst>
              <a:path w="549" h="729">
                <a:moveTo>
                  <a:pt x="0" y="277"/>
                </a:moveTo>
                <a:lnTo>
                  <a:pt x="137" y="277"/>
                </a:lnTo>
                <a:lnTo>
                  <a:pt x="137" y="729"/>
                </a:lnTo>
                <a:lnTo>
                  <a:pt x="412" y="729"/>
                </a:lnTo>
                <a:lnTo>
                  <a:pt x="412" y="277"/>
                </a:lnTo>
                <a:lnTo>
                  <a:pt x="549" y="277"/>
                </a:lnTo>
                <a:lnTo>
                  <a:pt x="274" y="0"/>
                </a:lnTo>
                <a:lnTo>
                  <a:pt x="0" y="277"/>
                </a:lnTo>
                <a:close/>
              </a:path>
            </a:pathLst>
          </a:custGeom>
          <a:solidFill>
            <a:srgbClr val="B4B4B4">
              <a:alpha val="100000"/>
            </a:srgbClr>
          </a:solidFill>
          <a:ln cap="flat">
            <a:noFill/>
            <a:prstDash val="solid"/>
            <a:miter lim="0"/>
          </a:ln>
        </p:spPr>
        <p:txBody>
          <a:bodyPr rtlCol="0"/>
          <a:lstStyle/>
          <a:p>
            <a:pPr algn="ctr"/>
            <a:endParaRPr lang="zh-CN" altLang="en-US" sz="1350"/>
          </a:p>
        </p:txBody>
      </p:sp>
      <p:sp>
        <p:nvSpPr>
          <p:cNvPr id="492" name="path"/>
          <p:cNvSpPr/>
          <p:nvPr/>
        </p:nvSpPr>
        <p:spPr>
          <a:xfrm>
            <a:off x="1470737" y="2663402"/>
            <a:ext cx="256461" cy="348854"/>
          </a:xfrm>
          <a:custGeom>
            <a:avLst/>
            <a:gdLst/>
            <a:ahLst/>
            <a:cxnLst/>
            <a:rect l="0" t="0" r="0" b="0"/>
            <a:pathLst>
              <a:path w="538" h="732">
                <a:moveTo>
                  <a:pt x="0" y="441"/>
                </a:moveTo>
                <a:lnTo>
                  <a:pt x="134" y="441"/>
                </a:lnTo>
                <a:lnTo>
                  <a:pt x="134" y="0"/>
                </a:lnTo>
                <a:lnTo>
                  <a:pt x="403" y="0"/>
                </a:lnTo>
                <a:lnTo>
                  <a:pt x="403" y="441"/>
                </a:lnTo>
                <a:lnTo>
                  <a:pt x="538" y="441"/>
                </a:lnTo>
                <a:lnTo>
                  <a:pt x="269" y="732"/>
                </a:lnTo>
                <a:lnTo>
                  <a:pt x="0" y="441"/>
                </a:lnTo>
                <a:close/>
              </a:path>
            </a:pathLst>
          </a:custGeom>
          <a:solidFill>
            <a:srgbClr val="B4B4B4">
              <a:alpha val="100000"/>
            </a:srgbClr>
          </a:solidFill>
          <a:ln cap="flat">
            <a:noFill/>
            <a:prstDash val="solid"/>
            <a:miter lim="0"/>
          </a:ln>
        </p:spPr>
        <p:txBody>
          <a:bodyPr rtlCol="0"/>
          <a:lstStyle/>
          <a:p>
            <a:pPr algn="ctr"/>
            <a:endParaRPr lang="zh-CN" altLang="en-US" sz="1350"/>
          </a:p>
        </p:txBody>
      </p:sp>
      <p:grpSp>
        <p:nvGrpSpPr>
          <p:cNvPr id="54" name="group 54"/>
          <p:cNvGrpSpPr/>
          <p:nvPr/>
        </p:nvGrpSpPr>
        <p:grpSpPr>
          <a:xfrm rot="21600000">
            <a:off x="3521141" y="1371600"/>
            <a:ext cx="21775" cy="1277416"/>
            <a:chOff x="0" y="0"/>
            <a:chExt cx="29033" cy="1703221"/>
          </a:xfrm>
        </p:grpSpPr>
        <p:sp>
          <p:nvSpPr>
            <p:cNvPr id="494" name="path"/>
            <p:cNvSpPr/>
            <p:nvPr/>
          </p:nvSpPr>
          <p:spPr>
            <a:xfrm>
              <a:off x="14516" y="0"/>
              <a:ext cx="1" cy="1676398"/>
            </a:xfrm>
            <a:custGeom>
              <a:avLst/>
              <a:gdLst/>
              <a:ahLst/>
              <a:cxnLst/>
              <a:rect l="0" t="0" r="0" b="0"/>
              <a:pathLst>
                <a:path h="2639">
                  <a:moveTo>
                    <a:pt x="0" y="0"/>
                  </a:moveTo>
                  <a:lnTo>
                    <a:pt x="0" y="2639"/>
                  </a:lnTo>
                </a:path>
              </a:pathLst>
            </a:custGeom>
            <a:solidFill>
              <a:srgbClr val="6BABDC">
                <a:alpha val="100000"/>
              </a:srgbClr>
            </a:solidFill>
            <a:ln cap="flat">
              <a:noFill/>
              <a:prstDash val="solid"/>
              <a:miter lim="0"/>
            </a:ln>
          </p:spPr>
          <p:txBody>
            <a:bodyPr rtlCol="0"/>
            <a:lstStyle/>
            <a:p>
              <a:pPr algn="ctr"/>
              <a:endParaRPr lang="zh-CN" altLang="en-US" sz="1350"/>
            </a:p>
          </p:txBody>
        </p:sp>
        <p:sp>
          <p:nvSpPr>
            <p:cNvPr id="496" name="path"/>
            <p:cNvSpPr/>
            <p:nvPr/>
          </p:nvSpPr>
          <p:spPr>
            <a:xfrm>
              <a:off x="0" y="0"/>
              <a:ext cx="29033" cy="1703221"/>
            </a:xfrm>
            <a:custGeom>
              <a:avLst/>
              <a:gdLst/>
              <a:ahLst/>
              <a:cxnLst/>
              <a:rect l="0" t="0" r="0" b="0"/>
              <a:pathLst>
                <a:path w="45" h="2682">
                  <a:moveTo>
                    <a:pt x="22" y="0"/>
                  </a:moveTo>
                  <a:lnTo>
                    <a:pt x="22" y="2682"/>
                  </a:lnTo>
                </a:path>
              </a:pathLst>
            </a:custGeom>
            <a:noFill/>
            <a:ln w="29032" cap="flat">
              <a:solidFill>
                <a:srgbClr val="FFA900">
                  <a:alpha val="100000"/>
                </a:srgbClr>
              </a:solidFill>
              <a:prstDash val="solid"/>
              <a:round/>
            </a:ln>
          </p:spPr>
          <p:txBody>
            <a:bodyPr rtlCol="0"/>
            <a:lstStyle/>
            <a:p>
              <a:pPr algn="ctr"/>
              <a:endParaRPr lang="zh-CN" altLang="en-US" sz="1350"/>
            </a:p>
          </p:txBody>
        </p:sp>
      </p:grpSp>
      <p:sp>
        <p:nvSpPr>
          <p:cNvPr id="498" name="path"/>
          <p:cNvSpPr/>
          <p:nvPr/>
        </p:nvSpPr>
        <p:spPr>
          <a:xfrm>
            <a:off x="6922845" y="3324674"/>
            <a:ext cx="142875" cy="85725"/>
          </a:xfrm>
          <a:custGeom>
            <a:avLst/>
            <a:gdLst/>
            <a:ahLst/>
            <a:cxnLst/>
            <a:rect l="0" t="0" r="0" b="0"/>
            <a:pathLst>
              <a:path w="300" h="180">
                <a:moveTo>
                  <a:pt x="0" y="0"/>
                </a:moveTo>
                <a:lnTo>
                  <a:pt x="300" y="90"/>
                </a:lnTo>
                <a:lnTo>
                  <a:pt x="0" y="180"/>
                </a:lnTo>
                <a:lnTo>
                  <a:pt x="0" y="0"/>
                </a:lnTo>
                <a:close/>
              </a:path>
            </a:pathLst>
          </a:custGeom>
          <a:solidFill>
            <a:srgbClr val="6C6C6C">
              <a:alpha val="100000"/>
            </a:srgbClr>
          </a:solidFill>
          <a:ln cap="flat">
            <a:noFill/>
            <a:prstDash val="solid"/>
            <a:miter lim="0"/>
          </a:ln>
        </p:spPr>
        <p:txBody>
          <a:bodyPr rtlCol="0"/>
          <a:lstStyle/>
          <a:p>
            <a:pPr algn="ctr"/>
            <a:endParaRPr lang="zh-CN" altLang="en-US" sz="1350"/>
          </a:p>
        </p:txBody>
      </p:sp>
      <p:sp>
        <p:nvSpPr>
          <p:cNvPr id="500" name="path"/>
          <p:cNvSpPr/>
          <p:nvPr/>
        </p:nvSpPr>
        <p:spPr>
          <a:xfrm>
            <a:off x="1327230" y="1408407"/>
            <a:ext cx="363958" cy="41739"/>
          </a:xfrm>
          <a:custGeom>
            <a:avLst/>
            <a:gdLst/>
            <a:ahLst/>
            <a:cxnLst/>
            <a:rect l="0" t="0" r="0" b="0"/>
            <a:pathLst>
              <a:path w="764" h="87">
                <a:moveTo>
                  <a:pt x="754" y="77"/>
                </a:moveTo>
                <a:lnTo>
                  <a:pt x="645" y="31"/>
                </a:lnTo>
                <a:lnTo>
                  <a:pt x="425" y="10"/>
                </a:lnTo>
                <a:lnTo>
                  <a:pt x="243" y="18"/>
                </a:lnTo>
              </a:path>
            </a:pathLst>
          </a:custGeom>
          <a:noFill/>
          <a:ln w="12903" cap="rnd">
            <a:solidFill>
              <a:srgbClr val="000000">
                <a:alpha val="100000"/>
              </a:srgbClr>
            </a:solidFill>
            <a:prstDash val="solid"/>
            <a:round/>
          </a:ln>
        </p:spPr>
        <p:txBody>
          <a:bodyPr rtlCol="0"/>
          <a:lstStyle/>
          <a:p>
            <a:pPr algn="ctr"/>
            <a:endParaRPr lang="zh-CN" altLang="en-US" sz="1350"/>
          </a:p>
        </p:txBody>
      </p:sp>
      <p:sp>
        <p:nvSpPr>
          <p:cNvPr id="502" name="path"/>
          <p:cNvSpPr/>
          <p:nvPr/>
        </p:nvSpPr>
        <p:spPr>
          <a:xfrm>
            <a:off x="7088279" y="2023330"/>
            <a:ext cx="69089" cy="134126"/>
          </a:xfrm>
          <a:custGeom>
            <a:avLst/>
            <a:gdLst/>
            <a:ahLst/>
            <a:cxnLst/>
            <a:rect l="0" t="0" r="0" b="0"/>
            <a:pathLst>
              <a:path w="145" h="281">
                <a:moveTo>
                  <a:pt x="103" y="10"/>
                </a:moveTo>
                <a:lnTo>
                  <a:pt x="134" y="57"/>
                </a:lnTo>
                <a:moveTo>
                  <a:pt x="14" y="271"/>
                </a:moveTo>
                <a:lnTo>
                  <a:pt x="10" y="132"/>
                </a:lnTo>
              </a:path>
            </a:pathLst>
          </a:custGeom>
          <a:noFill/>
          <a:ln w="12903" cap="rnd">
            <a:solidFill>
              <a:srgbClr val="000000">
                <a:alpha val="100000"/>
              </a:srgbClr>
            </a:solidFill>
            <a:prstDash val="solid"/>
            <a:round/>
          </a:ln>
        </p:spPr>
        <p:txBody>
          <a:bodyPr rtlCol="0"/>
          <a:lstStyle/>
          <a:p>
            <a:pPr algn="ctr"/>
            <a:endParaRPr lang="zh-CN" altLang="en-US" sz="1350"/>
          </a:p>
        </p:txBody>
      </p:sp>
      <p:sp>
        <p:nvSpPr>
          <p:cNvPr id="504" name="path"/>
          <p:cNvSpPr/>
          <p:nvPr/>
        </p:nvSpPr>
        <p:spPr>
          <a:xfrm>
            <a:off x="7125407" y="1950950"/>
            <a:ext cx="27595" cy="10619"/>
          </a:xfrm>
          <a:custGeom>
            <a:avLst/>
            <a:gdLst/>
            <a:ahLst/>
            <a:cxnLst/>
            <a:rect l="0" t="0" r="0" b="0"/>
            <a:pathLst>
              <a:path w="57" h="22">
                <a:moveTo>
                  <a:pt x="47" y="10"/>
                </a:moveTo>
                <a:lnTo>
                  <a:pt x="10" y="12"/>
                </a:lnTo>
              </a:path>
            </a:pathLst>
          </a:custGeom>
          <a:noFill/>
          <a:ln w="12903" cap="rnd">
            <a:solidFill>
              <a:srgbClr val="000000">
                <a:alpha val="100000"/>
              </a:srgbClr>
            </a:solidFill>
            <a:prstDash val="solid"/>
            <a:round/>
          </a:ln>
        </p:spPr>
        <p:txBody>
          <a:bodyPr rtlCol="0"/>
          <a:lstStyle/>
          <a:p>
            <a:pPr algn="ctr"/>
            <a:endParaRPr lang="zh-CN" altLang="en-US" sz="1350"/>
          </a:p>
        </p:txBody>
      </p:sp>
      <p:sp>
        <p:nvSpPr>
          <p:cNvPr id="2" name="标题 1"/>
          <p:cNvSpPr>
            <a:spLocks noGrp="1"/>
          </p:cNvSpPr>
          <p:nvPr>
            <p:ph type="title"/>
          </p:nvPr>
        </p:nvSpPr>
        <p:spPr/>
        <p:txBody>
          <a:bodyPr/>
          <a:lstStyle/>
          <a:p>
            <a:r>
              <a:rPr lang="zh-CN" altLang="en-US" dirty="0"/>
              <a:t>沟通的模型</a:t>
            </a:r>
            <a:endParaRPr lang="en-US" altLang="zh-C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 name="path"/>
          <p:cNvSpPr/>
          <p:nvPr/>
        </p:nvSpPr>
        <p:spPr>
          <a:xfrm>
            <a:off x="2289563" y="1387958"/>
            <a:ext cx="4456667" cy="2752787"/>
          </a:xfrm>
          <a:custGeom>
            <a:avLst/>
            <a:gdLst/>
            <a:ahLst/>
            <a:cxnLst/>
            <a:rect l="0" t="0" r="0" b="0"/>
            <a:pathLst>
              <a:path w="9357" h="5780">
                <a:moveTo>
                  <a:pt x="9112" y="205"/>
                </a:moveTo>
                <a:lnTo>
                  <a:pt x="9" y="5771"/>
                </a:lnTo>
                <a:moveTo>
                  <a:pt x="9352" y="5744"/>
                </a:moveTo>
                <a:lnTo>
                  <a:pt x="5" y="8"/>
                </a:lnTo>
              </a:path>
            </a:pathLst>
          </a:custGeom>
          <a:noFill/>
          <a:ln w="12903" cap="flat">
            <a:solidFill>
              <a:srgbClr val="A88200">
                <a:alpha val="100000"/>
              </a:srgbClr>
            </a:solidFill>
            <a:prstDash val="solid"/>
            <a:round/>
          </a:ln>
        </p:spPr>
        <p:txBody>
          <a:bodyPr rtlCol="0"/>
          <a:lstStyle/>
          <a:p>
            <a:pPr algn="ctr"/>
            <a:endParaRPr lang="zh-CN" altLang="en-US" sz="1350"/>
          </a:p>
        </p:txBody>
      </p:sp>
      <p:pic>
        <p:nvPicPr>
          <p:cNvPr id="508" name="picture 508"/>
          <p:cNvPicPr>
            <a:picLocks noChangeAspect="1"/>
          </p:cNvPicPr>
          <p:nvPr/>
        </p:nvPicPr>
        <p:blipFill>
          <a:blip r:embed="rId1"/>
          <a:stretch>
            <a:fillRect/>
          </a:stretch>
        </p:blipFill>
        <p:spPr>
          <a:xfrm rot="21600000">
            <a:off x="3526972" y="1854200"/>
            <a:ext cx="2010227" cy="1879996"/>
          </a:xfrm>
          <a:prstGeom prst="rect">
            <a:avLst/>
          </a:prstGeom>
        </p:spPr>
      </p:pic>
      <p:sp>
        <p:nvSpPr>
          <p:cNvPr id="510"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pic>
        <p:nvPicPr>
          <p:cNvPr id="512" name="picture 512"/>
          <p:cNvPicPr>
            <a:picLocks noChangeAspect="1"/>
          </p:cNvPicPr>
          <p:nvPr/>
        </p:nvPicPr>
        <p:blipFill>
          <a:blip r:embed="rId2"/>
          <a:stretch>
            <a:fillRect/>
          </a:stretch>
        </p:blipFill>
        <p:spPr>
          <a:xfrm rot="21600000">
            <a:off x="1231904" y="1917698"/>
            <a:ext cx="1422401" cy="1422401"/>
          </a:xfrm>
          <a:prstGeom prst="rect">
            <a:avLst/>
          </a:prstGeom>
        </p:spPr>
      </p:pic>
      <p:pic>
        <p:nvPicPr>
          <p:cNvPr id="514" name="picture 514"/>
          <p:cNvPicPr>
            <a:picLocks noChangeAspect="1"/>
          </p:cNvPicPr>
          <p:nvPr/>
        </p:nvPicPr>
        <p:blipFill>
          <a:blip r:embed="rId3"/>
          <a:stretch>
            <a:fillRect/>
          </a:stretch>
        </p:blipFill>
        <p:spPr>
          <a:xfrm rot="21600000">
            <a:off x="6781802" y="2019298"/>
            <a:ext cx="1165225" cy="1455111"/>
          </a:xfrm>
          <a:prstGeom prst="rect">
            <a:avLst/>
          </a:prstGeom>
        </p:spPr>
      </p:pic>
      <p:pic>
        <p:nvPicPr>
          <p:cNvPr id="516" name="picture 516"/>
          <p:cNvPicPr>
            <a:picLocks noChangeAspect="1"/>
          </p:cNvPicPr>
          <p:nvPr/>
        </p:nvPicPr>
        <p:blipFill>
          <a:blip r:embed="rId4"/>
          <a:stretch>
            <a:fillRect/>
          </a:stretch>
        </p:blipFill>
        <p:spPr>
          <a:xfrm rot="21600000">
            <a:off x="3479139" y="845112"/>
            <a:ext cx="1283789" cy="1012451"/>
          </a:xfrm>
          <a:prstGeom prst="rect">
            <a:avLst/>
          </a:prstGeom>
        </p:spPr>
      </p:pic>
      <p:pic>
        <p:nvPicPr>
          <p:cNvPr id="518" name="picture 518"/>
          <p:cNvPicPr>
            <a:picLocks noChangeAspect="1"/>
          </p:cNvPicPr>
          <p:nvPr/>
        </p:nvPicPr>
        <p:blipFill>
          <a:blip r:embed="rId5"/>
          <a:stretch>
            <a:fillRect/>
          </a:stretch>
        </p:blipFill>
        <p:spPr>
          <a:xfrm rot="21600000">
            <a:off x="4346041" y="3740150"/>
            <a:ext cx="1397530" cy="882650"/>
          </a:xfrm>
          <a:prstGeom prst="rect">
            <a:avLst/>
          </a:prstGeom>
        </p:spPr>
      </p:pic>
      <p:sp>
        <p:nvSpPr>
          <p:cNvPr id="536" name="textbox 536"/>
          <p:cNvSpPr/>
          <p:nvPr/>
        </p:nvSpPr>
        <p:spPr>
          <a:xfrm>
            <a:off x="3572403" y="3990675"/>
            <a:ext cx="472916" cy="535305"/>
          </a:xfrm>
          <a:prstGeom prst="rect">
            <a:avLst/>
          </a:prstGeom>
        </p:spPr>
        <p:txBody>
          <a:bodyPr vert="horz" wrap="square" lIns="0" tIns="0" rIns="0" bIns="0"/>
          <a:lstStyle/>
          <a:p>
            <a:pPr algn="l" rtl="0" eaLnBrk="0">
              <a:lnSpc>
                <a:spcPct val="84000"/>
              </a:lnSpc>
            </a:pPr>
            <a:endParaRPr lang="en-US" altLang="en-US" sz="100" dirty="0"/>
          </a:p>
          <a:p>
            <a:pPr marL="12700" indent="20320" algn="l" rtl="0" eaLnBrk="0">
              <a:lnSpc>
                <a:spcPct val="94000"/>
              </a:lnSpc>
            </a:pPr>
            <a:r>
              <a:rPr kern="0" spc="-1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网络</a:t>
            </a:r>
            <a:r>
              <a:rPr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沟通</a:t>
            </a:r>
            <a:endParaRPr lang="en-US" altLang="en-US" dirty="0"/>
          </a:p>
        </p:txBody>
      </p:sp>
      <p:sp>
        <p:nvSpPr>
          <p:cNvPr id="538" name="textbox 538"/>
          <p:cNvSpPr/>
          <p:nvPr/>
        </p:nvSpPr>
        <p:spPr>
          <a:xfrm>
            <a:off x="6048898" y="2608892"/>
            <a:ext cx="472916" cy="532448"/>
          </a:xfrm>
          <a:prstGeom prst="rect">
            <a:avLst/>
          </a:prstGeom>
        </p:spPr>
        <p:txBody>
          <a:bodyPr vert="horz" wrap="square" lIns="0" tIns="0" rIns="0" bIns="0"/>
          <a:lstStyle/>
          <a:p>
            <a:pPr algn="l" rtl="0" eaLnBrk="0">
              <a:lnSpc>
                <a:spcPct val="62000"/>
              </a:lnSpc>
            </a:pPr>
            <a:endParaRPr lang="en-US" altLang="en-US" sz="100" dirty="0"/>
          </a:p>
          <a:p>
            <a:pPr marL="12700" indent="14605" algn="l" rtl="0" eaLnBrk="0">
              <a:lnSpc>
                <a:spcPct val="94000"/>
              </a:lnSpc>
            </a:pPr>
            <a:r>
              <a:rPr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电话</a:t>
            </a:r>
            <a:r>
              <a:rPr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沟通</a:t>
            </a:r>
            <a:endParaRPr lang="en-US" altLang="en-US" dirty="0"/>
          </a:p>
        </p:txBody>
      </p:sp>
      <p:sp>
        <p:nvSpPr>
          <p:cNvPr id="540" name="textbox 540"/>
          <p:cNvSpPr/>
          <p:nvPr/>
        </p:nvSpPr>
        <p:spPr>
          <a:xfrm>
            <a:off x="5083702" y="1161548"/>
            <a:ext cx="472916" cy="531971"/>
          </a:xfrm>
          <a:prstGeom prst="rect">
            <a:avLst/>
          </a:prstGeom>
        </p:spPr>
        <p:txBody>
          <a:bodyPr vert="horz" wrap="square" lIns="0" tIns="0" rIns="0" bIns="0"/>
          <a:lstStyle/>
          <a:p>
            <a:pPr algn="l" rtl="0" eaLnBrk="0">
              <a:lnSpc>
                <a:spcPct val="106000"/>
              </a:lnSpc>
            </a:pPr>
            <a:endParaRPr lang="en-US" altLang="en-US" sz="100" dirty="0"/>
          </a:p>
          <a:p>
            <a:pPr marL="12700" indent="3175" algn="l" rtl="0" eaLnBrk="0">
              <a:lnSpc>
                <a:spcPct val="93000"/>
              </a:lnSpc>
            </a:pPr>
            <a:r>
              <a:rPr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书面</a:t>
            </a:r>
            <a:r>
              <a:rPr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沟通</a:t>
            </a:r>
            <a:endParaRPr lang="en-US" altLang="en-US" dirty="0"/>
          </a:p>
        </p:txBody>
      </p:sp>
      <p:sp>
        <p:nvSpPr>
          <p:cNvPr id="542" name="textbox 542"/>
          <p:cNvSpPr/>
          <p:nvPr/>
        </p:nvSpPr>
        <p:spPr>
          <a:xfrm>
            <a:off x="2594501" y="2609806"/>
            <a:ext cx="472916" cy="531494"/>
          </a:xfrm>
          <a:prstGeom prst="rect">
            <a:avLst/>
          </a:prstGeom>
        </p:spPr>
        <p:txBody>
          <a:bodyPr vert="horz" wrap="square" lIns="0" tIns="0" rIns="0" bIns="0"/>
          <a:lstStyle/>
          <a:p>
            <a:pPr algn="l" rtl="0" eaLnBrk="0">
              <a:lnSpc>
                <a:spcPct val="102000"/>
              </a:lnSpc>
            </a:pPr>
            <a:endParaRPr lang="en-US" altLang="en-US" sz="100" dirty="0"/>
          </a:p>
          <a:p>
            <a:pPr marL="12700" indent="29210" algn="l" rtl="0" eaLnBrk="0">
              <a:lnSpc>
                <a:spcPct val="93000"/>
              </a:lnSpc>
            </a:pPr>
            <a:r>
              <a:rPr kern="0" spc="-1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口头</a:t>
            </a:r>
            <a:r>
              <a:rPr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沟通</a:t>
            </a:r>
            <a:endParaRPr lang="en-US" altLang="en-US" dirty="0"/>
          </a:p>
        </p:txBody>
      </p:sp>
      <p:sp>
        <p:nvSpPr>
          <p:cNvPr id="2" name="标题 1"/>
          <p:cNvSpPr>
            <a:spLocks noGrp="1"/>
          </p:cNvSpPr>
          <p:nvPr>
            <p:ph type="title"/>
          </p:nvPr>
        </p:nvSpPr>
        <p:spPr/>
        <p:txBody>
          <a:bodyPr/>
          <a:lstStyle/>
          <a:p>
            <a:r>
              <a:rPr lang="zh-CN" altLang="en-US" dirty="0"/>
              <a:t>常用的沟通方式</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group 58"/>
          <p:cNvGrpSpPr/>
          <p:nvPr/>
        </p:nvGrpSpPr>
        <p:grpSpPr>
          <a:xfrm rot="21600000">
            <a:off x="1091426" y="1335680"/>
            <a:ext cx="7011177" cy="725329"/>
            <a:chOff x="0" y="0"/>
            <a:chExt cx="9348236" cy="967105"/>
          </a:xfrm>
        </p:grpSpPr>
        <p:grpSp>
          <p:nvGrpSpPr>
            <p:cNvPr id="60" name="group 60"/>
            <p:cNvGrpSpPr/>
            <p:nvPr/>
          </p:nvGrpSpPr>
          <p:grpSpPr>
            <a:xfrm rot="21600000">
              <a:off x="0" y="0"/>
              <a:ext cx="9348236" cy="967105"/>
              <a:chOff x="0" y="0"/>
              <a:chExt cx="9348236" cy="967105"/>
            </a:xfrm>
          </p:grpSpPr>
          <p:sp>
            <p:nvSpPr>
              <p:cNvPr id="544" name="path"/>
              <p:cNvSpPr/>
              <p:nvPr/>
            </p:nvSpPr>
            <p:spPr>
              <a:xfrm>
                <a:off x="1352020" y="0"/>
                <a:ext cx="7996215" cy="967105"/>
              </a:xfrm>
              <a:custGeom>
                <a:avLst/>
                <a:gdLst/>
                <a:ahLst/>
                <a:cxnLst/>
                <a:rect l="0" t="0" r="0" b="0"/>
                <a:pathLst>
                  <a:path w="12592" h="1523">
                    <a:moveTo>
                      <a:pt x="0" y="0"/>
                    </a:moveTo>
                    <a:lnTo>
                      <a:pt x="12592" y="0"/>
                    </a:lnTo>
                    <a:lnTo>
                      <a:pt x="12592" y="1523"/>
                    </a:lnTo>
                    <a:lnTo>
                      <a:pt x="0" y="1523"/>
                    </a:lnTo>
                    <a:lnTo>
                      <a:pt x="0" y="0"/>
                    </a:lnTo>
                    <a:close/>
                  </a:path>
                </a:pathLst>
              </a:custGeom>
              <a:solidFill>
                <a:srgbClr val="E7F2DF">
                  <a:alpha val="100000"/>
                </a:srgbClr>
              </a:solidFill>
              <a:ln cap="flat">
                <a:noFill/>
                <a:prstDash val="solid"/>
                <a:miter lim="0"/>
              </a:ln>
            </p:spPr>
            <p:txBody>
              <a:bodyPr rtlCol="0"/>
              <a:lstStyle/>
              <a:p>
                <a:pPr algn="ctr"/>
                <a:endParaRPr lang="zh-CN" altLang="en-US" sz="1350"/>
              </a:p>
            </p:txBody>
          </p:sp>
          <p:sp>
            <p:nvSpPr>
              <p:cNvPr id="546" name="path"/>
              <p:cNvSpPr/>
              <p:nvPr/>
            </p:nvSpPr>
            <p:spPr>
              <a:xfrm>
                <a:off x="0" y="0"/>
                <a:ext cx="1860633" cy="967105"/>
              </a:xfrm>
              <a:custGeom>
                <a:avLst/>
                <a:gdLst/>
                <a:ahLst/>
                <a:cxnLst/>
                <a:rect l="0" t="0" r="0" b="0"/>
                <a:pathLst>
                  <a:path w="2930" h="1523">
                    <a:moveTo>
                      <a:pt x="0" y="0"/>
                    </a:moveTo>
                    <a:lnTo>
                      <a:pt x="2930" y="0"/>
                    </a:lnTo>
                    <a:lnTo>
                      <a:pt x="2930" y="1523"/>
                    </a:lnTo>
                    <a:lnTo>
                      <a:pt x="0" y="1523"/>
                    </a:lnTo>
                    <a:lnTo>
                      <a:pt x="0" y="0"/>
                    </a:lnTo>
                    <a:close/>
                  </a:path>
                </a:pathLst>
              </a:custGeom>
              <a:solidFill>
                <a:srgbClr val="649143">
                  <a:alpha val="100000"/>
                </a:srgbClr>
              </a:solidFill>
              <a:ln cap="flat">
                <a:noFill/>
                <a:prstDash val="solid"/>
                <a:miter lim="0"/>
              </a:ln>
            </p:spPr>
            <p:txBody>
              <a:bodyPr rtlCol="0"/>
              <a:lstStyle/>
              <a:p>
                <a:pPr algn="ctr"/>
                <a:endParaRPr lang="zh-CN" altLang="en-US" sz="1350"/>
              </a:p>
            </p:txBody>
          </p:sp>
        </p:grpSp>
        <p:sp>
          <p:nvSpPr>
            <p:cNvPr id="548" name="textbox 548"/>
            <p:cNvSpPr/>
            <p:nvPr/>
          </p:nvSpPr>
          <p:spPr>
            <a:xfrm>
              <a:off x="-12700" y="-12700"/>
              <a:ext cx="9373869" cy="1022985"/>
            </a:xfrm>
            <a:prstGeom prst="rect">
              <a:avLst/>
            </a:prstGeom>
          </p:spPr>
          <p:txBody>
            <a:bodyPr vert="horz" wrap="square" lIns="0" tIns="0" rIns="0" bIns="0"/>
            <a:lstStyle/>
            <a:p>
              <a:pPr algn="l" rtl="0" eaLnBrk="0">
                <a:lnSpc>
                  <a:spcPct val="118000"/>
                </a:lnSpc>
              </a:pPr>
              <a:endParaRPr lang="en-US" altLang="en-US" sz="750" dirty="0"/>
            </a:p>
            <a:p>
              <a:pPr algn="l" rtl="0" eaLnBrk="0">
                <a:lnSpc>
                  <a:spcPct val="118000"/>
                </a:lnSpc>
              </a:pPr>
              <a:endParaRPr lang="en-US" altLang="en-US" sz="750" dirty="0"/>
            </a:p>
            <a:p>
              <a:pPr marL="366395" algn="l" rtl="0" eaLnBrk="0">
                <a:lnSpc>
                  <a:spcPct val="98000"/>
                </a:lnSpc>
                <a:spcBef>
                  <a:spcPts val="5"/>
                </a:spcBef>
              </a:pPr>
              <a:r>
                <a:rPr sz="2700" kern="0" spc="-10" baseline="400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口头沟通</a:t>
              </a:r>
              <a:r>
                <a:rPr sz="1725"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kern="0" spc="-10" dirty="0">
                  <a:solidFill>
                    <a:srgbClr val="000000">
                      <a:alpha val="100000"/>
                    </a:srgbClr>
                  </a:solidFill>
                  <a:latin typeface="Arial" panose="020B0604020202020204"/>
                  <a:ea typeface="Arial" panose="020B0604020202020204"/>
                  <a:cs typeface="Arial" panose="020B0604020202020204"/>
                </a:rPr>
                <a:t>•   </a:t>
              </a:r>
              <a:r>
                <a:rPr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谈话、讨论、演讲、汇报、谈判、会议</a:t>
              </a:r>
              <a:endParaRPr lang="en-US" altLang="en-US" dirty="0"/>
            </a:p>
          </p:txBody>
        </p:sp>
      </p:grpSp>
      <p:pic>
        <p:nvPicPr>
          <p:cNvPr id="550" name="picture 550"/>
          <p:cNvPicPr>
            <a:picLocks noChangeAspect="1"/>
          </p:cNvPicPr>
          <p:nvPr/>
        </p:nvPicPr>
        <p:blipFill>
          <a:blip r:embed="rId1"/>
          <a:stretch>
            <a:fillRect/>
          </a:stretch>
        </p:blipFill>
        <p:spPr>
          <a:xfrm rot="21600000">
            <a:off x="812798" y="2527300"/>
            <a:ext cx="2260602" cy="1695452"/>
          </a:xfrm>
          <a:prstGeom prst="rect">
            <a:avLst/>
          </a:prstGeom>
        </p:spPr>
      </p:pic>
      <p:sp>
        <p:nvSpPr>
          <p:cNvPr id="552"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pic>
        <p:nvPicPr>
          <p:cNvPr id="554" name="picture 554"/>
          <p:cNvPicPr>
            <a:picLocks noChangeAspect="1"/>
          </p:cNvPicPr>
          <p:nvPr/>
        </p:nvPicPr>
        <p:blipFill>
          <a:blip r:embed="rId2"/>
          <a:stretch>
            <a:fillRect/>
          </a:stretch>
        </p:blipFill>
        <p:spPr>
          <a:xfrm rot="21600000">
            <a:off x="6337297" y="2654300"/>
            <a:ext cx="1955800" cy="1255624"/>
          </a:xfrm>
          <a:prstGeom prst="rect">
            <a:avLst/>
          </a:prstGeom>
        </p:spPr>
      </p:pic>
      <p:pic>
        <p:nvPicPr>
          <p:cNvPr id="556" name="picture 556"/>
          <p:cNvPicPr>
            <a:picLocks noChangeAspect="1"/>
          </p:cNvPicPr>
          <p:nvPr/>
        </p:nvPicPr>
        <p:blipFill>
          <a:blip r:embed="rId3"/>
          <a:stretch>
            <a:fillRect/>
          </a:stretch>
        </p:blipFill>
        <p:spPr>
          <a:xfrm rot="21600000">
            <a:off x="4826000" y="2400302"/>
            <a:ext cx="1269998" cy="1693332"/>
          </a:xfrm>
          <a:prstGeom prst="rect">
            <a:avLst/>
          </a:prstGeom>
        </p:spPr>
      </p:pic>
      <p:pic>
        <p:nvPicPr>
          <p:cNvPr id="558" name="picture 558"/>
          <p:cNvPicPr>
            <a:picLocks noChangeAspect="1"/>
          </p:cNvPicPr>
          <p:nvPr/>
        </p:nvPicPr>
        <p:blipFill>
          <a:blip r:embed="rId4"/>
          <a:stretch>
            <a:fillRect/>
          </a:stretch>
        </p:blipFill>
        <p:spPr>
          <a:xfrm rot="21600000">
            <a:off x="3216305" y="2616203"/>
            <a:ext cx="1304892" cy="1356436"/>
          </a:xfrm>
          <a:prstGeom prst="rect">
            <a:avLst/>
          </a:prstGeom>
        </p:spPr>
      </p:pic>
      <p:sp>
        <p:nvSpPr>
          <p:cNvPr id="2" name="标题 1"/>
          <p:cNvSpPr>
            <a:spLocks noGrp="1"/>
          </p:cNvSpPr>
          <p:nvPr>
            <p:ph type="title"/>
          </p:nvPr>
        </p:nvSpPr>
        <p:spPr/>
        <p:txBody>
          <a:bodyPr/>
          <a:p>
            <a:r>
              <a:rPr lang="zh-CN" altLang="en-US" dirty="0"/>
              <a:t>常用的沟通方式</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group 64"/>
          <p:cNvGrpSpPr/>
          <p:nvPr/>
        </p:nvGrpSpPr>
        <p:grpSpPr>
          <a:xfrm rot="21600000">
            <a:off x="1091424" y="1201844"/>
            <a:ext cx="7011176" cy="725328"/>
            <a:chOff x="0" y="0"/>
            <a:chExt cx="9348234" cy="967104"/>
          </a:xfrm>
        </p:grpSpPr>
        <p:grpSp>
          <p:nvGrpSpPr>
            <p:cNvPr id="66" name="group 66"/>
            <p:cNvGrpSpPr/>
            <p:nvPr/>
          </p:nvGrpSpPr>
          <p:grpSpPr>
            <a:xfrm rot="21600000">
              <a:off x="0" y="0"/>
              <a:ext cx="9348234" cy="967104"/>
              <a:chOff x="0" y="0"/>
              <a:chExt cx="9348234" cy="967104"/>
            </a:xfrm>
          </p:grpSpPr>
          <p:sp>
            <p:nvSpPr>
              <p:cNvPr id="576" name="path"/>
              <p:cNvSpPr/>
              <p:nvPr/>
            </p:nvSpPr>
            <p:spPr>
              <a:xfrm>
                <a:off x="1352020" y="0"/>
                <a:ext cx="7996213" cy="967104"/>
              </a:xfrm>
              <a:custGeom>
                <a:avLst/>
                <a:gdLst/>
                <a:ahLst/>
                <a:cxnLst/>
                <a:rect l="0" t="0" r="0" b="0"/>
                <a:pathLst>
                  <a:path w="12592" h="1522">
                    <a:moveTo>
                      <a:pt x="0" y="0"/>
                    </a:moveTo>
                    <a:lnTo>
                      <a:pt x="12592" y="0"/>
                    </a:lnTo>
                    <a:lnTo>
                      <a:pt x="12592" y="1522"/>
                    </a:lnTo>
                    <a:lnTo>
                      <a:pt x="0" y="1522"/>
                    </a:lnTo>
                    <a:lnTo>
                      <a:pt x="0" y="0"/>
                    </a:lnTo>
                    <a:close/>
                  </a:path>
                </a:pathLst>
              </a:custGeom>
              <a:solidFill>
                <a:srgbClr val="FFD8FF">
                  <a:alpha val="50196"/>
                </a:srgbClr>
              </a:solidFill>
              <a:ln cap="flat">
                <a:noFill/>
                <a:prstDash val="solid"/>
                <a:miter lim="0"/>
              </a:ln>
            </p:spPr>
            <p:txBody>
              <a:bodyPr rtlCol="0"/>
              <a:lstStyle/>
              <a:p>
                <a:pPr algn="ctr"/>
                <a:endParaRPr lang="zh-CN" altLang="en-US" sz="1350"/>
              </a:p>
            </p:txBody>
          </p:sp>
          <p:sp>
            <p:nvSpPr>
              <p:cNvPr id="578" name="path"/>
              <p:cNvSpPr/>
              <p:nvPr/>
            </p:nvSpPr>
            <p:spPr>
              <a:xfrm>
                <a:off x="0" y="0"/>
                <a:ext cx="1860633" cy="967104"/>
              </a:xfrm>
              <a:custGeom>
                <a:avLst/>
                <a:gdLst/>
                <a:ahLst/>
                <a:cxnLst/>
                <a:rect l="0" t="0" r="0" b="0"/>
                <a:pathLst>
                  <a:path w="2930" h="1522">
                    <a:moveTo>
                      <a:pt x="0" y="0"/>
                    </a:moveTo>
                    <a:lnTo>
                      <a:pt x="2930" y="0"/>
                    </a:lnTo>
                    <a:lnTo>
                      <a:pt x="2930" y="1522"/>
                    </a:lnTo>
                    <a:lnTo>
                      <a:pt x="0" y="1522"/>
                    </a:lnTo>
                    <a:lnTo>
                      <a:pt x="0" y="0"/>
                    </a:lnTo>
                    <a:close/>
                  </a:path>
                </a:pathLst>
              </a:custGeom>
              <a:solidFill>
                <a:srgbClr val="A66485">
                  <a:alpha val="100000"/>
                </a:srgbClr>
              </a:solidFill>
              <a:ln cap="flat">
                <a:noFill/>
                <a:prstDash val="solid"/>
                <a:miter lim="0"/>
              </a:ln>
            </p:spPr>
            <p:txBody>
              <a:bodyPr rtlCol="0"/>
              <a:lstStyle/>
              <a:p>
                <a:pPr algn="ctr"/>
                <a:endParaRPr lang="zh-CN" altLang="en-US" sz="1350"/>
              </a:p>
            </p:txBody>
          </p:sp>
        </p:grpSp>
        <p:sp>
          <p:nvSpPr>
            <p:cNvPr id="580" name="textbox 580"/>
            <p:cNvSpPr/>
            <p:nvPr/>
          </p:nvSpPr>
          <p:spPr>
            <a:xfrm>
              <a:off x="-12700" y="-12700"/>
              <a:ext cx="9373869" cy="1023619"/>
            </a:xfrm>
            <a:prstGeom prst="rect">
              <a:avLst/>
            </a:prstGeom>
          </p:spPr>
          <p:txBody>
            <a:bodyPr vert="horz" wrap="square" lIns="0" tIns="0" rIns="0" bIns="0"/>
            <a:lstStyle/>
            <a:p>
              <a:pPr algn="l" rtl="0" eaLnBrk="0">
                <a:lnSpc>
                  <a:spcPct val="117000"/>
                </a:lnSpc>
              </a:pPr>
              <a:endParaRPr lang="en-US" altLang="en-US" sz="750" dirty="0"/>
            </a:p>
            <a:p>
              <a:pPr algn="l" rtl="0" eaLnBrk="0">
                <a:lnSpc>
                  <a:spcPct val="117000"/>
                </a:lnSpc>
              </a:pPr>
              <a:endParaRPr lang="en-US" altLang="en-US" sz="750" dirty="0"/>
            </a:p>
            <a:p>
              <a:pPr algn="l" rtl="0" eaLnBrk="0">
                <a:lnSpc>
                  <a:spcPct val="7000"/>
                </a:lnSpc>
              </a:pPr>
              <a:endParaRPr lang="en-US" altLang="en-US" sz="100" dirty="0"/>
            </a:p>
            <a:p>
              <a:pPr marL="338455" algn="l" rtl="0" eaLnBrk="0">
                <a:lnSpc>
                  <a:spcPct val="97000"/>
                </a:lnSpc>
              </a:pPr>
              <a:r>
                <a:rPr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肢体语言        </a:t>
              </a:r>
              <a:r>
                <a:rPr kern="0" spc="-10" dirty="0">
                  <a:solidFill>
                    <a:srgbClr val="000000">
                      <a:alpha val="100000"/>
                    </a:srgbClr>
                  </a:solidFill>
                  <a:latin typeface="Arial" panose="020B0604020202020204"/>
                  <a:ea typeface="Arial" panose="020B0604020202020204"/>
                  <a:cs typeface="Arial" panose="020B0604020202020204"/>
                </a:rPr>
                <a:t>•   </a:t>
              </a:r>
              <a:r>
                <a:rPr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面部表情、手势、</a:t>
              </a:r>
              <a:r>
                <a:rPr kern="0" spc="-5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眼神、姿态、仪表</a:t>
              </a:r>
              <a:endParaRPr lang="en-US" altLang="en-US" dirty="0"/>
            </a:p>
          </p:txBody>
        </p:sp>
      </p:grpSp>
      <p:sp>
        <p:nvSpPr>
          <p:cNvPr id="582"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pic>
        <p:nvPicPr>
          <p:cNvPr id="584" name="picture 584"/>
          <p:cNvPicPr>
            <a:picLocks noChangeAspect="1"/>
          </p:cNvPicPr>
          <p:nvPr/>
        </p:nvPicPr>
        <p:blipFill>
          <a:blip r:embed="rId1"/>
          <a:stretch>
            <a:fillRect/>
          </a:stretch>
        </p:blipFill>
        <p:spPr>
          <a:xfrm rot="21600000">
            <a:off x="2523334" y="2237587"/>
            <a:ext cx="1411352" cy="1349999"/>
          </a:xfrm>
          <a:prstGeom prst="rect">
            <a:avLst/>
          </a:prstGeom>
        </p:spPr>
      </p:pic>
      <p:pic>
        <p:nvPicPr>
          <p:cNvPr id="586" name="picture 586"/>
          <p:cNvPicPr>
            <a:picLocks noChangeAspect="1"/>
          </p:cNvPicPr>
          <p:nvPr/>
        </p:nvPicPr>
        <p:blipFill>
          <a:blip r:embed="rId2"/>
          <a:stretch>
            <a:fillRect/>
          </a:stretch>
        </p:blipFill>
        <p:spPr>
          <a:xfrm rot="21600000">
            <a:off x="1038233" y="2232822"/>
            <a:ext cx="1396394" cy="1349998"/>
          </a:xfrm>
          <a:prstGeom prst="rect">
            <a:avLst/>
          </a:prstGeom>
        </p:spPr>
      </p:pic>
      <p:pic>
        <p:nvPicPr>
          <p:cNvPr id="588" name="picture 588"/>
          <p:cNvPicPr>
            <a:picLocks noChangeAspect="1"/>
          </p:cNvPicPr>
          <p:nvPr/>
        </p:nvPicPr>
        <p:blipFill>
          <a:blip r:embed="rId3"/>
          <a:stretch>
            <a:fillRect/>
          </a:stretch>
        </p:blipFill>
        <p:spPr>
          <a:xfrm rot="21600000">
            <a:off x="4015584" y="2235205"/>
            <a:ext cx="1326952" cy="1349999"/>
          </a:xfrm>
          <a:prstGeom prst="rect">
            <a:avLst/>
          </a:prstGeom>
        </p:spPr>
      </p:pic>
      <p:pic>
        <p:nvPicPr>
          <p:cNvPr id="590" name="picture 590"/>
          <p:cNvPicPr>
            <a:picLocks noChangeAspect="1"/>
          </p:cNvPicPr>
          <p:nvPr/>
        </p:nvPicPr>
        <p:blipFill>
          <a:blip r:embed="rId4"/>
          <a:stretch>
            <a:fillRect/>
          </a:stretch>
        </p:blipFill>
        <p:spPr>
          <a:xfrm rot="21600000">
            <a:off x="6763551" y="2235203"/>
            <a:ext cx="1289435" cy="1349999"/>
          </a:xfrm>
          <a:prstGeom prst="rect">
            <a:avLst/>
          </a:prstGeom>
        </p:spPr>
      </p:pic>
      <p:pic>
        <p:nvPicPr>
          <p:cNvPr id="592" name="picture 592"/>
          <p:cNvPicPr>
            <a:picLocks noChangeAspect="1"/>
          </p:cNvPicPr>
          <p:nvPr/>
        </p:nvPicPr>
        <p:blipFill>
          <a:blip r:embed="rId5"/>
          <a:stretch>
            <a:fillRect/>
          </a:stretch>
        </p:blipFill>
        <p:spPr>
          <a:xfrm rot="21600000">
            <a:off x="5427270" y="2234408"/>
            <a:ext cx="1233618" cy="1349999"/>
          </a:xfrm>
          <a:prstGeom prst="rect">
            <a:avLst/>
          </a:prstGeom>
        </p:spPr>
      </p:pic>
      <p:sp>
        <p:nvSpPr>
          <p:cNvPr id="610" name="textbox 610"/>
          <p:cNvSpPr/>
          <p:nvPr/>
        </p:nvSpPr>
        <p:spPr>
          <a:xfrm>
            <a:off x="4114795" y="3806636"/>
            <a:ext cx="1245394" cy="367188"/>
          </a:xfrm>
          <a:prstGeom prst="rect">
            <a:avLst/>
          </a:prstGeom>
        </p:spPr>
        <p:txBody>
          <a:bodyPr vert="horz" wrap="square" lIns="0" tIns="0" rIns="0" bIns="0"/>
          <a:lstStyle/>
          <a:p>
            <a:pPr algn="l" rtl="0" eaLnBrk="0">
              <a:lnSpc>
                <a:spcPct val="87000"/>
              </a:lnSpc>
            </a:pPr>
            <a:endParaRPr lang="en-US" altLang="en-US" sz="100" dirty="0"/>
          </a:p>
          <a:p>
            <a:pPr marL="115570" indent="-102870" algn="l" rtl="0" eaLnBrk="0">
              <a:lnSpc>
                <a:spcPct val="95000"/>
              </a:lnSpc>
            </a:pPr>
            <a:r>
              <a:rPr sz="12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举起手吸引注意 ，</a:t>
            </a:r>
            <a:r>
              <a:rPr sz="12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表明对抗态度。</a:t>
            </a:r>
            <a:endParaRPr lang="en-US" altLang="en-US" sz="1200" dirty="0"/>
          </a:p>
        </p:txBody>
      </p:sp>
      <p:sp>
        <p:nvSpPr>
          <p:cNvPr id="612" name="textbox 612"/>
          <p:cNvSpPr/>
          <p:nvPr/>
        </p:nvSpPr>
        <p:spPr>
          <a:xfrm>
            <a:off x="5551008" y="3807245"/>
            <a:ext cx="1092041" cy="366713"/>
          </a:xfrm>
          <a:prstGeom prst="rect">
            <a:avLst/>
          </a:prstGeom>
        </p:spPr>
        <p:txBody>
          <a:bodyPr vert="horz" wrap="square" lIns="0" tIns="0" rIns="0" bIns="0"/>
          <a:lstStyle/>
          <a:p>
            <a:pPr algn="l" rtl="0" eaLnBrk="0">
              <a:lnSpc>
                <a:spcPct val="81000"/>
              </a:lnSpc>
            </a:pPr>
            <a:endParaRPr lang="en-US" altLang="en-US" sz="100" dirty="0"/>
          </a:p>
          <a:p>
            <a:pPr marL="12700" indent="635" algn="l" rtl="0" eaLnBrk="0">
              <a:lnSpc>
                <a:spcPct val="95000"/>
              </a:lnSpc>
            </a:pPr>
            <a:r>
              <a:rPr sz="12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无奈推辞表情 ，</a:t>
            </a:r>
            <a:r>
              <a:rPr sz="12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1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也许会找借口。</a:t>
            </a:r>
            <a:endParaRPr lang="en-US" altLang="en-US" sz="1200" dirty="0"/>
          </a:p>
        </p:txBody>
      </p:sp>
      <p:sp>
        <p:nvSpPr>
          <p:cNvPr id="614" name="textbox 614"/>
          <p:cNvSpPr/>
          <p:nvPr/>
        </p:nvSpPr>
        <p:spPr>
          <a:xfrm>
            <a:off x="6921951" y="3808912"/>
            <a:ext cx="1092517" cy="367188"/>
          </a:xfrm>
          <a:prstGeom prst="rect">
            <a:avLst/>
          </a:prstGeom>
        </p:spPr>
        <p:txBody>
          <a:bodyPr vert="horz" wrap="square" lIns="0" tIns="0" rIns="0" bIns="0"/>
          <a:lstStyle/>
          <a:p>
            <a:pPr algn="l" rtl="0" eaLnBrk="0">
              <a:lnSpc>
                <a:spcPct val="87000"/>
              </a:lnSpc>
            </a:pPr>
            <a:endParaRPr lang="en-US" altLang="en-US" sz="100" dirty="0"/>
          </a:p>
          <a:p>
            <a:pPr marL="12700" indent="-635" algn="l" rtl="0" eaLnBrk="0">
              <a:lnSpc>
                <a:spcPct val="95000"/>
              </a:lnSpc>
            </a:pPr>
            <a:r>
              <a:rPr sz="12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密切注意姿态 ，</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1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表现出感兴趣。</a:t>
            </a:r>
            <a:endParaRPr lang="en-US" altLang="en-US" sz="1200" dirty="0"/>
          </a:p>
        </p:txBody>
      </p:sp>
      <p:sp>
        <p:nvSpPr>
          <p:cNvPr id="616" name="textbox 616"/>
          <p:cNvSpPr/>
          <p:nvPr/>
        </p:nvSpPr>
        <p:spPr>
          <a:xfrm>
            <a:off x="2743043" y="3809674"/>
            <a:ext cx="1092994" cy="366236"/>
          </a:xfrm>
          <a:prstGeom prst="rect">
            <a:avLst/>
          </a:prstGeom>
        </p:spPr>
        <p:txBody>
          <a:bodyPr vert="horz" wrap="square" lIns="0" tIns="0" rIns="0" bIns="0"/>
          <a:lstStyle/>
          <a:p>
            <a:pPr algn="l" rtl="0" eaLnBrk="0">
              <a:lnSpc>
                <a:spcPct val="80000"/>
              </a:lnSpc>
            </a:pPr>
            <a:endParaRPr lang="en-US" altLang="en-US" sz="100" dirty="0"/>
          </a:p>
          <a:p>
            <a:pPr marL="13970" indent="-1270" algn="l" rtl="0" eaLnBrk="0">
              <a:lnSpc>
                <a:spcPct val="95000"/>
              </a:lnSpc>
            </a:pPr>
            <a:r>
              <a:rPr sz="12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不愉快的表情 ，</a:t>
            </a:r>
            <a:r>
              <a:rPr sz="12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1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表示出不高兴。</a:t>
            </a:r>
            <a:endParaRPr lang="en-US" altLang="en-US" sz="1200" dirty="0"/>
          </a:p>
        </p:txBody>
      </p:sp>
      <p:sp>
        <p:nvSpPr>
          <p:cNvPr id="618" name="textbox 618"/>
          <p:cNvSpPr/>
          <p:nvPr/>
        </p:nvSpPr>
        <p:spPr>
          <a:xfrm>
            <a:off x="1265147" y="3801983"/>
            <a:ext cx="1092041" cy="365760"/>
          </a:xfrm>
          <a:prstGeom prst="rect">
            <a:avLst/>
          </a:prstGeom>
        </p:spPr>
        <p:txBody>
          <a:bodyPr vert="horz" wrap="square" lIns="0" tIns="0" rIns="0" bIns="0"/>
          <a:lstStyle/>
          <a:p>
            <a:pPr algn="l" rtl="0" eaLnBrk="0">
              <a:lnSpc>
                <a:spcPct val="76000"/>
              </a:lnSpc>
            </a:pPr>
            <a:endParaRPr lang="en-US" altLang="en-US" sz="100" dirty="0"/>
          </a:p>
          <a:p>
            <a:pPr marL="12700" algn="l" rtl="0" eaLnBrk="0">
              <a:lnSpc>
                <a:spcPct val="95000"/>
              </a:lnSpc>
            </a:pPr>
            <a:r>
              <a:rPr sz="12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对方缺少兴趣 ，</a:t>
            </a:r>
            <a:r>
              <a:rPr sz="120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1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注意力不集中。</a:t>
            </a:r>
            <a:endParaRPr lang="en-US" altLang="en-US" sz="1200" dirty="0"/>
          </a:p>
        </p:txBody>
      </p:sp>
      <p:sp>
        <p:nvSpPr>
          <p:cNvPr id="2" name="标题 1"/>
          <p:cNvSpPr>
            <a:spLocks noGrp="1"/>
          </p:cNvSpPr>
          <p:nvPr>
            <p:ph type="title"/>
          </p:nvPr>
        </p:nvSpPr>
        <p:spPr/>
        <p:txBody>
          <a:bodyPr/>
          <a:lstStyle/>
          <a:p>
            <a:r>
              <a:rPr lang="zh-CN" altLang="en-US" dirty="0"/>
              <a:t>常用的沟通方式</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0" name="picture 620"/>
          <p:cNvPicPr>
            <a:picLocks noChangeAspect="1"/>
          </p:cNvPicPr>
          <p:nvPr/>
        </p:nvPicPr>
        <p:blipFill>
          <a:blip r:embed="rId1"/>
          <a:stretch>
            <a:fillRect/>
          </a:stretch>
        </p:blipFill>
        <p:spPr>
          <a:xfrm rot="21600000">
            <a:off x="952508" y="2425698"/>
            <a:ext cx="3737867" cy="1727198"/>
          </a:xfrm>
          <a:prstGeom prst="rect">
            <a:avLst/>
          </a:prstGeom>
        </p:spPr>
      </p:pic>
      <p:grpSp>
        <p:nvGrpSpPr>
          <p:cNvPr id="70" name="group 70"/>
          <p:cNvGrpSpPr/>
          <p:nvPr/>
        </p:nvGrpSpPr>
        <p:grpSpPr>
          <a:xfrm rot="21600000">
            <a:off x="1091426" y="1368848"/>
            <a:ext cx="6998475" cy="725328"/>
            <a:chOff x="0" y="0"/>
            <a:chExt cx="9331300" cy="967104"/>
          </a:xfrm>
        </p:grpSpPr>
        <p:grpSp>
          <p:nvGrpSpPr>
            <p:cNvPr id="72" name="group 72"/>
            <p:cNvGrpSpPr/>
            <p:nvPr/>
          </p:nvGrpSpPr>
          <p:grpSpPr>
            <a:xfrm rot="21600000">
              <a:off x="0" y="0"/>
              <a:ext cx="9331300" cy="967104"/>
              <a:chOff x="0" y="0"/>
              <a:chExt cx="9331300" cy="967104"/>
            </a:xfrm>
          </p:grpSpPr>
          <p:sp>
            <p:nvSpPr>
              <p:cNvPr id="622" name="path"/>
              <p:cNvSpPr/>
              <p:nvPr/>
            </p:nvSpPr>
            <p:spPr>
              <a:xfrm>
                <a:off x="1349571" y="0"/>
                <a:ext cx="7981729" cy="967104"/>
              </a:xfrm>
              <a:custGeom>
                <a:avLst/>
                <a:gdLst/>
                <a:ahLst/>
                <a:cxnLst/>
                <a:rect l="0" t="0" r="0" b="0"/>
                <a:pathLst>
                  <a:path w="12569" h="1522">
                    <a:moveTo>
                      <a:pt x="0" y="0"/>
                    </a:moveTo>
                    <a:lnTo>
                      <a:pt x="12569" y="0"/>
                    </a:lnTo>
                    <a:lnTo>
                      <a:pt x="12569" y="1522"/>
                    </a:lnTo>
                    <a:lnTo>
                      <a:pt x="0" y="1522"/>
                    </a:lnTo>
                    <a:lnTo>
                      <a:pt x="0" y="0"/>
                    </a:lnTo>
                    <a:close/>
                  </a:path>
                </a:pathLst>
              </a:custGeom>
              <a:solidFill>
                <a:srgbClr val="E4EFF9">
                  <a:alpha val="100000"/>
                </a:srgbClr>
              </a:solidFill>
              <a:ln cap="flat">
                <a:noFill/>
                <a:prstDash val="solid"/>
                <a:miter lim="0"/>
              </a:ln>
            </p:spPr>
            <p:txBody>
              <a:bodyPr rtlCol="0"/>
              <a:lstStyle/>
              <a:p>
                <a:pPr algn="ctr"/>
                <a:endParaRPr lang="zh-CN" altLang="en-US" sz="1350"/>
              </a:p>
            </p:txBody>
          </p:sp>
          <p:sp>
            <p:nvSpPr>
              <p:cNvPr id="624" name="path"/>
              <p:cNvSpPr/>
              <p:nvPr/>
            </p:nvSpPr>
            <p:spPr>
              <a:xfrm>
                <a:off x="0" y="0"/>
                <a:ext cx="1857264" cy="967104"/>
              </a:xfrm>
              <a:custGeom>
                <a:avLst/>
                <a:gdLst/>
                <a:ahLst/>
                <a:cxnLst/>
                <a:rect l="0" t="0" r="0" b="0"/>
                <a:pathLst>
                  <a:path w="2924" h="1522">
                    <a:moveTo>
                      <a:pt x="0" y="0"/>
                    </a:moveTo>
                    <a:lnTo>
                      <a:pt x="2924" y="0"/>
                    </a:lnTo>
                    <a:lnTo>
                      <a:pt x="2924" y="1522"/>
                    </a:lnTo>
                    <a:lnTo>
                      <a:pt x="0" y="1522"/>
                    </a:lnTo>
                    <a:lnTo>
                      <a:pt x="0" y="0"/>
                    </a:lnTo>
                    <a:close/>
                  </a:path>
                </a:pathLst>
              </a:custGeom>
              <a:solidFill>
                <a:srgbClr val="0079CC">
                  <a:alpha val="100000"/>
                </a:srgbClr>
              </a:solidFill>
              <a:ln cap="flat">
                <a:noFill/>
                <a:prstDash val="solid"/>
                <a:miter lim="0"/>
              </a:ln>
            </p:spPr>
            <p:txBody>
              <a:bodyPr rtlCol="0"/>
              <a:lstStyle/>
              <a:p>
                <a:pPr algn="ctr"/>
                <a:endParaRPr lang="zh-CN" altLang="en-US" sz="1350"/>
              </a:p>
            </p:txBody>
          </p:sp>
        </p:grpSp>
        <p:sp>
          <p:nvSpPr>
            <p:cNvPr id="626" name="textbox 626"/>
            <p:cNvSpPr/>
            <p:nvPr/>
          </p:nvSpPr>
          <p:spPr>
            <a:xfrm>
              <a:off x="-12700" y="-12700"/>
              <a:ext cx="9356725" cy="1022985"/>
            </a:xfrm>
            <a:prstGeom prst="rect">
              <a:avLst/>
            </a:prstGeom>
          </p:spPr>
          <p:txBody>
            <a:bodyPr vert="horz" wrap="square" lIns="0" tIns="0" rIns="0" bIns="0"/>
            <a:lstStyle/>
            <a:p>
              <a:pPr algn="l" rtl="0" eaLnBrk="0">
                <a:lnSpc>
                  <a:spcPct val="118000"/>
                </a:lnSpc>
              </a:pPr>
              <a:endParaRPr lang="en-US" altLang="en-US" sz="750" dirty="0"/>
            </a:p>
            <a:p>
              <a:pPr algn="l" rtl="0" eaLnBrk="0">
                <a:lnSpc>
                  <a:spcPct val="118000"/>
                </a:lnSpc>
              </a:pPr>
              <a:endParaRPr lang="en-US" altLang="en-US" sz="750" dirty="0"/>
            </a:p>
            <a:p>
              <a:pPr algn="l" rtl="0" eaLnBrk="0">
                <a:lnSpc>
                  <a:spcPct val="9000"/>
                </a:lnSpc>
              </a:pPr>
              <a:endParaRPr lang="en-US" altLang="en-US" sz="100" dirty="0"/>
            </a:p>
            <a:p>
              <a:pPr marL="340360" algn="l" rtl="0" eaLnBrk="0">
                <a:lnSpc>
                  <a:spcPct val="94000"/>
                </a:lnSpc>
              </a:pPr>
              <a:r>
                <a:rPr kern="0" spc="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书面沟通       </a:t>
              </a:r>
              <a:r>
                <a:rPr kern="0" spc="0" dirty="0">
                  <a:solidFill>
                    <a:srgbClr val="000000">
                      <a:alpha val="100000"/>
                    </a:srgbClr>
                  </a:solidFill>
                  <a:latin typeface="Arial" panose="020B0604020202020204"/>
                  <a:ea typeface="Arial" panose="020B0604020202020204"/>
                  <a:cs typeface="Arial" panose="020B0604020202020204"/>
                </a:rPr>
                <a:t>•  </a:t>
              </a:r>
              <a:r>
                <a:rPr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合同、报告、会议纪要、报表、备忘录、便条</a:t>
              </a:r>
              <a:endParaRPr lang="en-US" altLang="en-US" dirty="0"/>
            </a:p>
          </p:txBody>
        </p:sp>
      </p:grpSp>
      <p:sp>
        <p:nvSpPr>
          <p:cNvPr id="628"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pic>
        <p:nvPicPr>
          <p:cNvPr id="630" name="picture 630"/>
          <p:cNvPicPr>
            <a:picLocks noChangeAspect="1"/>
          </p:cNvPicPr>
          <p:nvPr/>
        </p:nvPicPr>
        <p:blipFill>
          <a:blip r:embed="rId2"/>
          <a:stretch>
            <a:fillRect/>
          </a:stretch>
        </p:blipFill>
        <p:spPr>
          <a:xfrm rot="21600000">
            <a:off x="4914896" y="2793997"/>
            <a:ext cx="1517648" cy="1279244"/>
          </a:xfrm>
          <a:prstGeom prst="rect">
            <a:avLst/>
          </a:prstGeom>
        </p:spPr>
      </p:pic>
      <p:pic>
        <p:nvPicPr>
          <p:cNvPr id="646" name="picture 646"/>
          <p:cNvPicPr>
            <a:picLocks noChangeAspect="1"/>
          </p:cNvPicPr>
          <p:nvPr/>
        </p:nvPicPr>
        <p:blipFill>
          <a:blip r:embed="rId3"/>
          <a:stretch>
            <a:fillRect/>
          </a:stretch>
        </p:blipFill>
        <p:spPr>
          <a:xfrm rot="21600000">
            <a:off x="6769100" y="2933697"/>
            <a:ext cx="990597" cy="891539"/>
          </a:xfrm>
          <a:prstGeom prst="rect">
            <a:avLst/>
          </a:prstGeom>
        </p:spPr>
      </p:pic>
      <p:sp>
        <p:nvSpPr>
          <p:cNvPr id="2" name="标题 1"/>
          <p:cNvSpPr>
            <a:spLocks noGrp="1"/>
          </p:cNvSpPr>
          <p:nvPr>
            <p:ph type="title"/>
          </p:nvPr>
        </p:nvSpPr>
        <p:spPr/>
        <p:txBody>
          <a:bodyPr/>
          <a:lstStyle/>
          <a:p>
            <a:r>
              <a:rPr lang="zh-CN" altLang="en-US" dirty="0"/>
              <a:t>常用的沟通方式</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group 76"/>
          <p:cNvGrpSpPr/>
          <p:nvPr/>
        </p:nvGrpSpPr>
        <p:grpSpPr>
          <a:xfrm rot="21600000">
            <a:off x="1091426" y="1330917"/>
            <a:ext cx="6998475" cy="739762"/>
            <a:chOff x="0" y="0"/>
            <a:chExt cx="9331300" cy="986349"/>
          </a:xfrm>
        </p:grpSpPr>
        <p:grpSp>
          <p:nvGrpSpPr>
            <p:cNvPr id="78" name="group 78"/>
            <p:cNvGrpSpPr/>
            <p:nvPr/>
          </p:nvGrpSpPr>
          <p:grpSpPr>
            <a:xfrm rot="21600000">
              <a:off x="0" y="0"/>
              <a:ext cx="9331300" cy="986349"/>
              <a:chOff x="0" y="0"/>
              <a:chExt cx="9331300" cy="986349"/>
            </a:xfrm>
          </p:grpSpPr>
          <p:sp>
            <p:nvSpPr>
              <p:cNvPr id="650" name="path"/>
              <p:cNvSpPr/>
              <p:nvPr/>
            </p:nvSpPr>
            <p:spPr>
              <a:xfrm>
                <a:off x="1349571" y="19244"/>
                <a:ext cx="7981729" cy="967104"/>
              </a:xfrm>
              <a:custGeom>
                <a:avLst/>
                <a:gdLst/>
                <a:ahLst/>
                <a:cxnLst/>
                <a:rect l="0" t="0" r="0" b="0"/>
                <a:pathLst>
                  <a:path w="12569" h="1522">
                    <a:moveTo>
                      <a:pt x="0" y="0"/>
                    </a:moveTo>
                    <a:lnTo>
                      <a:pt x="12569" y="0"/>
                    </a:lnTo>
                    <a:lnTo>
                      <a:pt x="12569" y="1522"/>
                    </a:lnTo>
                    <a:lnTo>
                      <a:pt x="0" y="1522"/>
                    </a:lnTo>
                    <a:lnTo>
                      <a:pt x="0" y="0"/>
                    </a:lnTo>
                    <a:close/>
                  </a:path>
                </a:pathLst>
              </a:custGeom>
              <a:solidFill>
                <a:srgbClr val="FFF4D5">
                  <a:alpha val="100000"/>
                </a:srgbClr>
              </a:solidFill>
              <a:ln cap="flat">
                <a:noFill/>
                <a:prstDash val="solid"/>
                <a:miter lim="0"/>
              </a:ln>
            </p:spPr>
            <p:txBody>
              <a:bodyPr rtlCol="0"/>
              <a:lstStyle/>
              <a:p>
                <a:pPr algn="ctr"/>
                <a:endParaRPr lang="zh-CN" altLang="en-US" sz="1350"/>
              </a:p>
            </p:txBody>
          </p:sp>
          <p:sp>
            <p:nvSpPr>
              <p:cNvPr id="652" name="path"/>
              <p:cNvSpPr/>
              <p:nvPr/>
            </p:nvSpPr>
            <p:spPr>
              <a:xfrm>
                <a:off x="0" y="0"/>
                <a:ext cx="1857264" cy="967105"/>
              </a:xfrm>
              <a:custGeom>
                <a:avLst/>
                <a:gdLst/>
                <a:ahLst/>
                <a:cxnLst/>
                <a:rect l="0" t="0" r="0" b="0"/>
                <a:pathLst>
                  <a:path w="2924" h="1523">
                    <a:moveTo>
                      <a:pt x="0" y="0"/>
                    </a:moveTo>
                    <a:lnTo>
                      <a:pt x="2924" y="0"/>
                    </a:lnTo>
                    <a:lnTo>
                      <a:pt x="2924" y="1523"/>
                    </a:lnTo>
                    <a:lnTo>
                      <a:pt x="0" y="1523"/>
                    </a:lnTo>
                    <a:lnTo>
                      <a:pt x="0" y="0"/>
                    </a:lnTo>
                    <a:close/>
                  </a:path>
                </a:pathLst>
              </a:custGeom>
              <a:solidFill>
                <a:srgbClr val="CBA000">
                  <a:alpha val="100000"/>
                </a:srgbClr>
              </a:solidFill>
              <a:ln cap="flat">
                <a:noFill/>
                <a:prstDash val="solid"/>
                <a:miter lim="0"/>
              </a:ln>
            </p:spPr>
            <p:txBody>
              <a:bodyPr rtlCol="0"/>
              <a:lstStyle/>
              <a:p>
                <a:pPr algn="ctr"/>
                <a:endParaRPr lang="zh-CN" altLang="en-US" sz="1350"/>
              </a:p>
            </p:txBody>
          </p:sp>
        </p:grpSp>
        <p:sp>
          <p:nvSpPr>
            <p:cNvPr id="654" name="textbox 654"/>
            <p:cNvSpPr/>
            <p:nvPr/>
          </p:nvSpPr>
          <p:spPr>
            <a:xfrm>
              <a:off x="-12700" y="-12700"/>
              <a:ext cx="9356725" cy="1021080"/>
            </a:xfrm>
            <a:prstGeom prst="rect">
              <a:avLst/>
            </a:prstGeom>
          </p:spPr>
          <p:txBody>
            <a:bodyPr vert="horz" wrap="square" lIns="0" tIns="0" rIns="0" bIns="0"/>
            <a:lstStyle/>
            <a:p>
              <a:pPr algn="l" rtl="0" eaLnBrk="0">
                <a:lnSpc>
                  <a:spcPct val="118000"/>
                </a:lnSpc>
              </a:pPr>
              <a:endParaRPr lang="en-US" altLang="en-US" sz="750" dirty="0"/>
            </a:p>
            <a:p>
              <a:pPr algn="l" rtl="0" eaLnBrk="0">
                <a:lnSpc>
                  <a:spcPct val="118000"/>
                </a:lnSpc>
              </a:pPr>
              <a:endParaRPr lang="en-US" altLang="en-US" sz="750" dirty="0"/>
            </a:p>
            <a:p>
              <a:pPr marL="351790" algn="l" rtl="0" eaLnBrk="0">
                <a:lnSpc>
                  <a:spcPts val="2915"/>
                </a:lnSpc>
                <a:spcBef>
                  <a:spcPts val="0"/>
                </a:spcBef>
              </a:pPr>
              <a:r>
                <a:rPr sz="2700" kern="0" spc="-10" baseline="1100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电子沟通</a:t>
              </a:r>
              <a:r>
                <a:rPr sz="1725"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kern="0" spc="-10" dirty="0">
                  <a:solidFill>
                    <a:srgbClr val="000000">
                      <a:alpha val="100000"/>
                    </a:srgbClr>
                  </a:solidFill>
                  <a:latin typeface="Arial" panose="020B0604020202020204"/>
                  <a:ea typeface="Arial" panose="020B0604020202020204"/>
                  <a:cs typeface="Arial" panose="020B0604020202020204"/>
                </a:rPr>
                <a:t>•  </a:t>
              </a:r>
              <a:r>
                <a:rPr kern="0" spc="-20" dirty="0">
                  <a:solidFill>
                    <a:srgbClr val="000000">
                      <a:alpha val="100000"/>
                    </a:srgbClr>
                  </a:solidFill>
                  <a:latin typeface="Arial" panose="020B0604020202020204"/>
                  <a:ea typeface="Arial" panose="020B0604020202020204"/>
                  <a:cs typeface="Arial" panose="020B0604020202020204"/>
                </a:rPr>
                <a:t> </a:t>
              </a:r>
              <a:r>
                <a:rPr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电话、</a:t>
              </a:r>
              <a:r>
                <a:rPr kern="0" spc="-5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kern="0" spc="-20" dirty="0">
                  <a:solidFill>
                    <a:srgbClr val="000000">
                      <a:alpha val="100000"/>
                    </a:srgbClr>
                  </a:solidFill>
                  <a:latin typeface="Arial" panose="020B0604020202020204"/>
                  <a:ea typeface="Arial" panose="020B0604020202020204"/>
                  <a:cs typeface="Arial" panose="020B0604020202020204"/>
                </a:rPr>
                <a:t>Email</a:t>
              </a:r>
              <a:r>
                <a:rPr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kern="0" spc="-5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kern="0" spc="-20" dirty="0">
                  <a:solidFill>
                    <a:srgbClr val="000000">
                      <a:alpha val="100000"/>
                    </a:srgbClr>
                  </a:solidFill>
                  <a:latin typeface="Arial" panose="020B0604020202020204"/>
                  <a:ea typeface="Arial" panose="020B0604020202020204"/>
                  <a:cs typeface="Arial" panose="020B0604020202020204"/>
                </a:rPr>
                <a:t>BBS</a:t>
              </a:r>
              <a:r>
                <a:rPr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kern="0" spc="-5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kern="0" spc="-20" dirty="0">
                  <a:solidFill>
                    <a:srgbClr val="000000">
                      <a:alpha val="100000"/>
                    </a:srgbClr>
                  </a:solidFill>
                  <a:latin typeface="Arial" panose="020B0604020202020204"/>
                  <a:ea typeface="Arial" panose="020B0604020202020204"/>
                  <a:cs typeface="Arial" panose="020B0604020202020204"/>
                </a:rPr>
                <a:t>Blog</a:t>
              </a:r>
              <a:r>
                <a:rPr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kern="0" spc="-6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即时通讯、协作工具</a:t>
              </a:r>
              <a:endParaRPr lang="en-US" altLang="en-US" dirty="0"/>
            </a:p>
          </p:txBody>
        </p:sp>
      </p:grpSp>
      <p:graphicFrame>
        <p:nvGraphicFramePr>
          <p:cNvPr id="656" name="table 656"/>
          <p:cNvGraphicFramePr>
            <a:graphicFrameLocks noGrp="1"/>
          </p:cNvGraphicFramePr>
          <p:nvPr/>
        </p:nvGraphicFramePr>
        <p:xfrm>
          <a:off x="5263245" y="2535917"/>
          <a:ext cx="2749550" cy="1550670"/>
        </p:xfrm>
        <a:graphic>
          <a:graphicData uri="http://schemas.openxmlformats.org/drawingml/2006/table">
            <a:tbl>
              <a:tblPr/>
              <a:tblGrid>
                <a:gridCol w="2749550"/>
              </a:tblGrid>
              <a:tr h="1550670">
                <a:tc>
                  <a:txBody>
                    <a:bodyPr/>
                    <a:lstStyle/>
                    <a:p>
                      <a:pPr algn="l" rtl="0" eaLnBrk="0">
                        <a:lnSpc>
                          <a:spcPct val="100000"/>
                        </a:lnSpc>
                      </a:pPr>
                      <a:endParaRPr lang="en-US" altLang="en-US" sz="750" dirty="0"/>
                    </a:p>
                  </a:txBody>
                  <a:tcPr marL="0" marR="0" marT="0" marB="0" vert="horz">
                    <a:lnL w="9525" cap="flat" cmpd="sng" algn="ctr">
                      <a:solidFill>
                        <a:srgbClr val="919191"/>
                      </a:solidFill>
                      <a:prstDash val="solid"/>
                      <a:round/>
                      <a:headEnd type="none" w="med" len="med"/>
                      <a:tailEnd type="none" w="med" len="med"/>
                    </a:lnL>
                    <a:lnR w="9525" cap="flat" cmpd="sng" algn="ctr">
                      <a:solidFill>
                        <a:srgbClr val="919191"/>
                      </a:solidFill>
                      <a:prstDash val="solid"/>
                      <a:round/>
                      <a:headEnd type="none" w="med" len="med"/>
                      <a:tailEnd type="none" w="med" len="med"/>
                    </a:lnR>
                    <a:lnT w="9525" cap="flat" cmpd="sng" algn="ctr">
                      <a:solidFill>
                        <a:srgbClr val="919191"/>
                      </a:solidFill>
                      <a:prstDash val="solid"/>
                      <a:round/>
                      <a:headEnd type="none" w="med" len="med"/>
                      <a:tailEnd type="none" w="med" len="med"/>
                    </a:lnT>
                    <a:lnB w="9525" cap="flat" cmpd="sng" algn="ctr">
                      <a:solidFill>
                        <a:srgbClr val="919191"/>
                      </a:solidFill>
                      <a:prstDash val="solid"/>
                      <a:round/>
                      <a:headEnd type="none" w="med" len="med"/>
                      <a:tailEnd type="none" w="med" len="med"/>
                    </a:lnB>
                  </a:tcPr>
                </a:tc>
              </a:tr>
            </a:tbl>
          </a:graphicData>
        </a:graphic>
      </p:graphicFrame>
      <p:pic>
        <p:nvPicPr>
          <p:cNvPr id="658" name="picture 658"/>
          <p:cNvPicPr>
            <a:picLocks noChangeAspect="1"/>
          </p:cNvPicPr>
          <p:nvPr/>
        </p:nvPicPr>
        <p:blipFill>
          <a:blip r:embed="rId1"/>
          <a:stretch>
            <a:fillRect/>
          </a:stretch>
        </p:blipFill>
        <p:spPr>
          <a:xfrm rot="21600000">
            <a:off x="5270503" y="2543175"/>
            <a:ext cx="2692400" cy="1512494"/>
          </a:xfrm>
          <a:prstGeom prst="rect">
            <a:avLst/>
          </a:prstGeom>
        </p:spPr>
      </p:pic>
      <p:sp>
        <p:nvSpPr>
          <p:cNvPr id="660"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pic>
        <p:nvPicPr>
          <p:cNvPr id="662" name="picture 662"/>
          <p:cNvPicPr>
            <a:picLocks noChangeAspect="1"/>
          </p:cNvPicPr>
          <p:nvPr/>
        </p:nvPicPr>
        <p:blipFill>
          <a:blip r:embed="rId2"/>
          <a:stretch>
            <a:fillRect/>
          </a:stretch>
        </p:blipFill>
        <p:spPr>
          <a:xfrm rot="21600000">
            <a:off x="1066800" y="2612714"/>
            <a:ext cx="1623857" cy="1273482"/>
          </a:xfrm>
          <a:prstGeom prst="rect">
            <a:avLst/>
          </a:prstGeom>
        </p:spPr>
      </p:pic>
      <p:pic>
        <p:nvPicPr>
          <p:cNvPr id="664" name="picture 664"/>
          <p:cNvPicPr>
            <a:picLocks noChangeAspect="1"/>
          </p:cNvPicPr>
          <p:nvPr/>
        </p:nvPicPr>
        <p:blipFill>
          <a:blip r:embed="rId3"/>
          <a:stretch>
            <a:fillRect/>
          </a:stretch>
        </p:blipFill>
        <p:spPr>
          <a:xfrm rot="21600000">
            <a:off x="3822704" y="2651127"/>
            <a:ext cx="1295393" cy="1296072"/>
          </a:xfrm>
          <a:prstGeom prst="rect">
            <a:avLst/>
          </a:prstGeom>
        </p:spPr>
      </p:pic>
      <p:pic>
        <p:nvPicPr>
          <p:cNvPr id="680" name="picture 680"/>
          <p:cNvPicPr>
            <a:picLocks noChangeAspect="1"/>
          </p:cNvPicPr>
          <p:nvPr/>
        </p:nvPicPr>
        <p:blipFill>
          <a:blip r:embed="rId4"/>
          <a:stretch>
            <a:fillRect/>
          </a:stretch>
        </p:blipFill>
        <p:spPr>
          <a:xfrm rot="21600000">
            <a:off x="2840292" y="2717798"/>
            <a:ext cx="715706" cy="1163751"/>
          </a:xfrm>
          <a:prstGeom prst="rect">
            <a:avLst/>
          </a:prstGeom>
        </p:spPr>
      </p:pic>
      <p:sp>
        <p:nvSpPr>
          <p:cNvPr id="2" name="标题 1"/>
          <p:cNvSpPr>
            <a:spLocks noGrp="1"/>
          </p:cNvSpPr>
          <p:nvPr>
            <p:ph type="title"/>
          </p:nvPr>
        </p:nvSpPr>
        <p:spPr/>
        <p:txBody>
          <a:bodyPr/>
          <a:lstStyle/>
          <a:p>
            <a:r>
              <a:rPr lang="zh-CN" altLang="en-US" dirty="0"/>
              <a:t>常用的沟通方式</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 name="rect"/>
          <p:cNvSpPr/>
          <p:nvPr/>
        </p:nvSpPr>
        <p:spPr>
          <a:xfrm>
            <a:off x="3305723" y="1892141"/>
            <a:ext cx="2478327" cy="470058"/>
          </a:xfrm>
          <a:prstGeom prst="rect">
            <a:avLst/>
          </a:prstGeom>
          <a:solidFill>
            <a:srgbClr val="C8DFF1">
              <a:alpha val="100000"/>
            </a:srgbClr>
          </a:solidFill>
          <a:ln cap="flat">
            <a:noFill/>
            <a:prstDash val="solid"/>
            <a:miter lim="0"/>
          </a:ln>
        </p:spPr>
        <p:txBody>
          <a:bodyPr rtlCol="0"/>
          <a:lstStyle/>
          <a:p>
            <a:pPr algn="ctr"/>
            <a:endParaRPr lang="zh-CN" altLang="en-US" sz="1350"/>
          </a:p>
        </p:txBody>
      </p:sp>
      <p:sp>
        <p:nvSpPr>
          <p:cNvPr id="686" name="rect"/>
          <p:cNvSpPr/>
          <p:nvPr/>
        </p:nvSpPr>
        <p:spPr>
          <a:xfrm>
            <a:off x="1257288" y="2752801"/>
            <a:ext cx="1808778" cy="685799"/>
          </a:xfrm>
          <a:prstGeom prst="rect">
            <a:avLst/>
          </a:prstGeom>
          <a:solidFill>
            <a:srgbClr val="CFE4C0">
              <a:alpha val="100000"/>
            </a:srgbClr>
          </a:solidFill>
          <a:ln cap="flat">
            <a:noFill/>
            <a:prstDash val="solid"/>
            <a:miter lim="0"/>
          </a:ln>
        </p:spPr>
        <p:txBody>
          <a:bodyPr rtlCol="0"/>
          <a:lstStyle/>
          <a:p>
            <a:pPr algn="ctr"/>
            <a:endParaRPr lang="zh-CN" altLang="en-US" sz="1350"/>
          </a:p>
        </p:txBody>
      </p:sp>
      <p:sp>
        <p:nvSpPr>
          <p:cNvPr id="688" name="rect"/>
          <p:cNvSpPr/>
          <p:nvPr/>
        </p:nvSpPr>
        <p:spPr>
          <a:xfrm>
            <a:off x="6068411" y="2743196"/>
            <a:ext cx="1808780" cy="701994"/>
          </a:xfrm>
          <a:prstGeom prst="rect">
            <a:avLst/>
          </a:prstGeom>
          <a:solidFill>
            <a:srgbClr val="CFE4C0">
              <a:alpha val="100000"/>
            </a:srgbClr>
          </a:solidFill>
          <a:ln cap="flat">
            <a:noFill/>
            <a:prstDash val="solid"/>
            <a:miter lim="0"/>
          </a:ln>
        </p:spPr>
        <p:txBody>
          <a:bodyPr rtlCol="0"/>
          <a:lstStyle/>
          <a:p>
            <a:pPr algn="ctr"/>
            <a:endParaRPr lang="zh-CN" altLang="en-US" sz="1350"/>
          </a:p>
        </p:txBody>
      </p:sp>
      <p:sp>
        <p:nvSpPr>
          <p:cNvPr id="690" name="rect"/>
          <p:cNvSpPr/>
          <p:nvPr/>
        </p:nvSpPr>
        <p:spPr>
          <a:xfrm>
            <a:off x="3311590" y="3842382"/>
            <a:ext cx="2478328" cy="475614"/>
          </a:xfrm>
          <a:prstGeom prst="rect">
            <a:avLst/>
          </a:prstGeom>
          <a:solidFill>
            <a:srgbClr val="C8DFF1">
              <a:alpha val="100000"/>
            </a:srgbClr>
          </a:solidFill>
          <a:ln cap="flat">
            <a:noFill/>
            <a:prstDash val="solid"/>
            <a:miter lim="0"/>
          </a:ln>
        </p:spPr>
        <p:txBody>
          <a:bodyPr rtlCol="0"/>
          <a:lstStyle/>
          <a:p>
            <a:pPr algn="ctr"/>
            <a:endParaRPr lang="zh-CN" altLang="en-US" sz="1350"/>
          </a:p>
        </p:txBody>
      </p:sp>
      <p:sp>
        <p:nvSpPr>
          <p:cNvPr id="692" name="textbox 692"/>
          <p:cNvSpPr/>
          <p:nvPr/>
        </p:nvSpPr>
        <p:spPr>
          <a:xfrm>
            <a:off x="1247763" y="2030587"/>
            <a:ext cx="6639401" cy="2181225"/>
          </a:xfrm>
          <a:prstGeom prst="rect">
            <a:avLst/>
          </a:prstGeom>
        </p:spPr>
        <p:txBody>
          <a:bodyPr vert="horz" wrap="square" lIns="0" tIns="0" rIns="0" bIns="0"/>
          <a:lstStyle/>
          <a:p>
            <a:pPr algn="l" rtl="0" eaLnBrk="0">
              <a:lnSpc>
                <a:spcPct val="77000"/>
              </a:lnSpc>
            </a:pPr>
            <a:r>
              <a:rPr lang="en-US"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与高层管理者的沟通       </a:t>
            </a:r>
            <a:endParaRPr lang="en-US" altLang="en-US" sz="1500" dirty="0"/>
          </a:p>
          <a:p>
            <a:pPr algn="l" rtl="0" eaLnBrk="0">
              <a:lnSpc>
                <a:spcPct val="108000"/>
              </a:lnSpc>
            </a:pPr>
            <a:endParaRPr lang="en-US" altLang="en-US" sz="750" dirty="0"/>
          </a:p>
          <a:p>
            <a:pPr algn="l" rtl="0" eaLnBrk="0">
              <a:lnSpc>
                <a:spcPct val="108000"/>
              </a:lnSpc>
            </a:pPr>
            <a:endParaRPr lang="en-US" altLang="en-US" sz="750" dirty="0"/>
          </a:p>
          <a:p>
            <a:pPr algn="l" rtl="0" eaLnBrk="0">
              <a:lnSpc>
                <a:spcPct val="108000"/>
              </a:lnSpc>
            </a:pPr>
            <a:endParaRPr lang="en-US" altLang="en-US" sz="750" dirty="0"/>
          </a:p>
          <a:p>
            <a:pPr algn="l" rtl="0" eaLnBrk="0">
              <a:lnSpc>
                <a:spcPct val="108000"/>
              </a:lnSpc>
            </a:pPr>
            <a:endParaRPr lang="en-US" altLang="en-US" sz="750" dirty="0"/>
          </a:p>
          <a:p>
            <a:pPr marL="12700" algn="l" rtl="0" eaLnBrk="0">
              <a:lnSpc>
                <a:spcPts val="4395"/>
              </a:lnSpc>
              <a:spcBef>
                <a:spcPts val="590"/>
              </a:spcBef>
              <a:tabLst>
                <a:tab pos="206375" algn="l"/>
              </a:tabLst>
            </a:pPr>
            <a:r>
              <a:rPr sz="1425"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250" kern="0" spc="0" baseline="960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横向</a:t>
            </a:r>
            <a:r>
              <a:rPr sz="1425"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250" kern="0" spc="0" baseline="130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目经理</a:t>
            </a:r>
            <a:r>
              <a:rPr sz="1425"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250" kern="0" spc="0" baseline="960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横向</a:t>
            </a:r>
            <a:r>
              <a:rPr sz="1425"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en-US" sz="1425" dirty="0"/>
          </a:p>
          <a:p>
            <a:pPr algn="l" rtl="0" eaLnBrk="0">
              <a:lnSpc>
                <a:spcPct val="107000"/>
              </a:lnSpc>
            </a:pPr>
            <a:endParaRPr lang="en-US" altLang="en-US" sz="750" dirty="0"/>
          </a:p>
          <a:p>
            <a:pPr algn="l" rtl="0" eaLnBrk="0">
              <a:lnSpc>
                <a:spcPct val="107000"/>
              </a:lnSpc>
            </a:pPr>
            <a:endParaRPr lang="en-US" altLang="en-US" sz="750" dirty="0"/>
          </a:p>
          <a:p>
            <a:pPr algn="l" rtl="0" eaLnBrk="0">
              <a:lnSpc>
                <a:spcPct val="107000"/>
              </a:lnSpc>
            </a:pPr>
            <a:endParaRPr lang="en-US" altLang="en-US" sz="750" dirty="0"/>
          </a:p>
          <a:p>
            <a:pPr algn="l" rtl="0" eaLnBrk="0">
              <a:lnSpc>
                <a:spcPct val="107000"/>
              </a:lnSpc>
            </a:pPr>
            <a:endParaRPr lang="en-US" altLang="en-US" sz="750" dirty="0"/>
          </a:p>
          <a:p>
            <a:pPr algn="l" rtl="0" eaLnBrk="0">
              <a:lnSpc>
                <a:spcPct val="108000"/>
              </a:lnSpc>
            </a:pPr>
            <a:endParaRPr lang="en-US" altLang="en-US" sz="750" dirty="0"/>
          </a:p>
          <a:p>
            <a:pPr algn="l" rtl="0" eaLnBrk="0">
              <a:lnSpc>
                <a:spcPct val="108000"/>
              </a:lnSpc>
            </a:pPr>
            <a:endParaRPr lang="en-US" altLang="en-US" sz="750" dirty="0"/>
          </a:p>
          <a:p>
            <a:pPr marL="1828800" lvl="4" indent="457200" algn="l" rtl="0" eaLnBrk="0">
              <a:lnSpc>
                <a:spcPct val="101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与项目团队成员的交流</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en-US" sz="1500" dirty="0"/>
          </a:p>
        </p:txBody>
      </p:sp>
      <p:sp>
        <p:nvSpPr>
          <p:cNvPr id="694" name="textbox 694"/>
          <p:cNvSpPr/>
          <p:nvPr/>
        </p:nvSpPr>
        <p:spPr>
          <a:xfrm>
            <a:off x="7537062" y="3118005"/>
            <a:ext cx="207644" cy="221932"/>
          </a:xfrm>
          <a:prstGeom prst="rect">
            <a:avLst/>
          </a:prstGeom>
        </p:spPr>
        <p:txBody>
          <a:bodyPr vert="horz" wrap="square" lIns="0" tIns="0" rIns="0" bIns="0"/>
          <a:lstStyle/>
          <a:p>
            <a:pPr algn="l" rtl="0" eaLnBrk="0">
              <a:lnSpc>
                <a:spcPct val="77000"/>
              </a:lnSpc>
            </a:pPr>
            <a:endParaRPr lang="en-US" altLang="en-US" sz="100" dirty="0"/>
          </a:p>
          <a:p>
            <a:pPr marL="12700" algn="l" rtl="0" eaLnBrk="0">
              <a:lnSpc>
                <a:spcPct val="89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a:t>
            </a:r>
            <a:endParaRPr lang="en-US" altLang="en-US" sz="1500" dirty="0"/>
          </a:p>
        </p:txBody>
      </p:sp>
      <p:sp>
        <p:nvSpPr>
          <p:cNvPr id="696" name="textbox 696"/>
          <p:cNvSpPr/>
          <p:nvPr/>
        </p:nvSpPr>
        <p:spPr>
          <a:xfrm>
            <a:off x="7546754" y="2895502"/>
            <a:ext cx="195738" cy="215741"/>
          </a:xfrm>
          <a:prstGeom prst="rect">
            <a:avLst/>
          </a:prstGeom>
        </p:spPr>
        <p:txBody>
          <a:bodyPr vert="horz" wrap="square" lIns="0" tIns="0" rIns="0" bIns="0"/>
          <a:lstStyle/>
          <a:p>
            <a:pPr algn="l" rtl="0" eaLnBrk="0">
              <a:lnSpc>
                <a:spcPct val="83000"/>
              </a:lnSpc>
            </a:pPr>
            <a:endParaRPr lang="en-US" altLang="en-US" sz="100" dirty="0"/>
          </a:p>
          <a:p>
            <a:pPr algn="r" rtl="0" eaLnBrk="0">
              <a:lnSpc>
                <a:spcPct val="86000"/>
              </a:lnSpc>
            </a:pPr>
            <a:r>
              <a:rPr sz="1500" kern="0" spc="-1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团</a:t>
            </a:r>
            <a:endParaRPr lang="en-US" altLang="en-US" sz="1500" dirty="0"/>
          </a:p>
        </p:txBody>
      </p:sp>
      <p:sp>
        <p:nvSpPr>
          <p:cNvPr id="698" name="textbox 698"/>
          <p:cNvSpPr/>
          <p:nvPr/>
        </p:nvSpPr>
        <p:spPr>
          <a:xfrm>
            <a:off x="7347134" y="3113624"/>
            <a:ext cx="207169" cy="226219"/>
          </a:xfrm>
          <a:prstGeom prst="rect">
            <a:avLst/>
          </a:prstGeom>
        </p:spPr>
        <p:txBody>
          <a:bodyPr vert="horz" wrap="square" lIns="0" tIns="0" rIns="0" bIns="0"/>
          <a:lstStyle/>
          <a:p>
            <a:pPr algn="l" rtl="0" eaLnBrk="0">
              <a:lnSpc>
                <a:spcPct val="74000"/>
              </a:lnSpc>
            </a:pPr>
            <a:endParaRPr lang="en-US" altLang="en-US" sz="100" dirty="0"/>
          </a:p>
          <a:p>
            <a:pPr marL="12700" algn="l" rtl="0" eaLnBrk="0">
              <a:lnSpc>
                <a:spcPct val="91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沟</a:t>
            </a:r>
            <a:endParaRPr lang="en-US" altLang="en-US" sz="1500" dirty="0"/>
          </a:p>
        </p:txBody>
      </p:sp>
      <p:sp>
        <p:nvSpPr>
          <p:cNvPr id="700" name="textbox 700"/>
          <p:cNvSpPr/>
          <p:nvPr/>
        </p:nvSpPr>
        <p:spPr>
          <a:xfrm>
            <a:off x="7355492" y="2887882"/>
            <a:ext cx="208121" cy="223361"/>
          </a:xfrm>
          <a:prstGeom prst="rect">
            <a:avLst/>
          </a:prstGeom>
        </p:spPr>
        <p:txBody>
          <a:bodyPr vert="horz" wrap="square" lIns="0" tIns="0" rIns="0" bIns="0"/>
          <a:lstStyle/>
          <a:p>
            <a:pPr algn="l" rtl="0" eaLnBrk="0">
              <a:lnSpc>
                <a:spcPct val="90000"/>
              </a:lnSpc>
            </a:pPr>
            <a:endParaRPr lang="en-US" altLang="en-US" sz="100" dirty="0"/>
          </a:p>
          <a:p>
            <a:pPr marL="12700" algn="l" rtl="0" eaLnBrk="0">
              <a:lnSpc>
                <a:spcPct val="89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会</a:t>
            </a:r>
            <a:endParaRPr lang="en-US" altLang="en-US" sz="1500" dirty="0"/>
          </a:p>
        </p:txBody>
      </p:sp>
      <p:sp>
        <p:nvSpPr>
          <p:cNvPr id="702" name="textbox 702"/>
          <p:cNvSpPr/>
          <p:nvPr/>
        </p:nvSpPr>
        <p:spPr>
          <a:xfrm>
            <a:off x="7164444" y="3114196"/>
            <a:ext cx="199072" cy="225743"/>
          </a:xfrm>
          <a:prstGeom prst="rect">
            <a:avLst/>
          </a:prstGeom>
        </p:spPr>
        <p:txBody>
          <a:bodyPr vert="horz" wrap="square" lIns="0" tIns="0" rIns="0" bIns="0"/>
          <a:lstStyle/>
          <a:p>
            <a:pPr algn="l" rtl="0" eaLnBrk="0">
              <a:lnSpc>
                <a:spcPct val="91000"/>
              </a:lnSpc>
            </a:pPr>
            <a:endParaRPr lang="en-US" altLang="en-US" sz="100" dirty="0"/>
          </a:p>
          <a:p>
            <a:pPr algn="r" rtl="0" eaLnBrk="0">
              <a:lnSpc>
                <a:spcPct val="90000"/>
              </a:lnSpc>
            </a:pPr>
            <a:r>
              <a:rPr sz="1500" kern="0" spc="-1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a:t>
            </a:r>
            <a:endParaRPr lang="en-US" altLang="en-US" sz="1500" dirty="0"/>
          </a:p>
        </p:txBody>
      </p:sp>
      <p:sp>
        <p:nvSpPr>
          <p:cNvPr id="704" name="textbox 704"/>
          <p:cNvSpPr/>
          <p:nvPr/>
        </p:nvSpPr>
        <p:spPr>
          <a:xfrm>
            <a:off x="7165945" y="2886357"/>
            <a:ext cx="207169" cy="225266"/>
          </a:xfrm>
          <a:prstGeom prst="rect">
            <a:avLst/>
          </a:prstGeom>
        </p:spPr>
        <p:txBody>
          <a:bodyPr vert="horz" wrap="square" lIns="0" tIns="0" rIns="0" bIns="0"/>
          <a:lstStyle/>
          <a:p>
            <a:pPr algn="l" rtl="0" eaLnBrk="0">
              <a:lnSpc>
                <a:spcPct val="84000"/>
              </a:lnSpc>
            </a:pPr>
            <a:endParaRPr lang="en-US" altLang="en-US" sz="100" dirty="0"/>
          </a:p>
          <a:p>
            <a:pPr marL="12700" algn="l" rtl="0" eaLnBrk="0">
              <a:lnSpc>
                <a:spcPct val="90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社</a:t>
            </a:r>
            <a:endParaRPr lang="en-US" altLang="en-US" sz="1500" dirty="0"/>
          </a:p>
        </p:txBody>
      </p:sp>
      <p:sp>
        <p:nvSpPr>
          <p:cNvPr id="706" name="textbox 706"/>
          <p:cNvSpPr/>
          <p:nvPr/>
        </p:nvSpPr>
        <p:spPr>
          <a:xfrm>
            <a:off x="6965562" y="3113624"/>
            <a:ext cx="207644" cy="226219"/>
          </a:xfrm>
          <a:prstGeom prst="rect">
            <a:avLst/>
          </a:prstGeom>
        </p:spPr>
        <p:txBody>
          <a:bodyPr vert="horz" wrap="square" lIns="0" tIns="0" rIns="0" bIns="0"/>
          <a:lstStyle/>
          <a:p>
            <a:pPr algn="l" rtl="0" eaLnBrk="0">
              <a:lnSpc>
                <a:spcPct val="76000"/>
              </a:lnSpc>
            </a:pPr>
            <a:endParaRPr lang="en-US" altLang="en-US" sz="100" dirty="0"/>
          </a:p>
          <a:p>
            <a:pPr marL="12700" algn="l" rtl="0" eaLnBrk="0">
              <a:lnSpc>
                <a:spcPct val="91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等</a:t>
            </a:r>
            <a:endParaRPr lang="en-US" altLang="en-US" sz="1500" dirty="0"/>
          </a:p>
        </p:txBody>
      </p:sp>
      <p:sp>
        <p:nvSpPr>
          <p:cNvPr id="708" name="textbox 708"/>
          <p:cNvSpPr/>
          <p:nvPr/>
        </p:nvSpPr>
        <p:spPr>
          <a:xfrm>
            <a:off x="6975254" y="3026946"/>
            <a:ext cx="64770" cy="68104"/>
          </a:xfrm>
          <a:prstGeom prst="rect">
            <a:avLst/>
          </a:prstGeom>
        </p:spPr>
        <p:txBody>
          <a:bodyPr vert="horz" wrap="square" lIns="0" tIns="0" rIns="0" bIns="0"/>
          <a:lstStyle/>
          <a:p>
            <a:pPr algn="l" rtl="0" eaLnBrk="0">
              <a:lnSpc>
                <a:spcPct val="84000"/>
              </a:lnSpc>
            </a:pPr>
            <a:endParaRPr lang="en-US" altLang="en-US" sz="100" dirty="0"/>
          </a:p>
          <a:p>
            <a:pPr algn="r" rtl="0" eaLnBrk="0">
              <a:lnSpc>
                <a:spcPct val="85000"/>
              </a:lnSpc>
            </a:pPr>
            <a:r>
              <a:rPr sz="375"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375" dirty="0"/>
          </a:p>
        </p:txBody>
      </p:sp>
      <p:sp>
        <p:nvSpPr>
          <p:cNvPr id="710" name="textbox 710"/>
          <p:cNvSpPr/>
          <p:nvPr/>
        </p:nvSpPr>
        <p:spPr>
          <a:xfrm>
            <a:off x="6774110" y="3117053"/>
            <a:ext cx="208597" cy="222884"/>
          </a:xfrm>
          <a:prstGeom prst="rect">
            <a:avLst/>
          </a:prstGeom>
        </p:spPr>
        <p:txBody>
          <a:bodyPr vert="horz" wrap="square" lIns="0" tIns="0" rIns="0" bIns="0"/>
          <a:lstStyle/>
          <a:p>
            <a:pPr algn="l" rtl="0" eaLnBrk="0">
              <a:lnSpc>
                <a:spcPct val="85000"/>
              </a:lnSpc>
            </a:pPr>
            <a:endParaRPr lang="en-US" altLang="en-US" sz="100" dirty="0"/>
          </a:p>
          <a:p>
            <a:pPr marL="12700" algn="l" rtl="0" eaLnBrk="0">
              <a:lnSpc>
                <a:spcPct val="89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众</a:t>
            </a:r>
            <a:endParaRPr lang="en-US" altLang="en-US" sz="1500" dirty="0"/>
          </a:p>
        </p:txBody>
      </p:sp>
      <p:sp>
        <p:nvSpPr>
          <p:cNvPr id="712" name="textbox 712"/>
          <p:cNvSpPr/>
          <p:nvPr/>
        </p:nvSpPr>
        <p:spPr>
          <a:xfrm>
            <a:off x="6783802" y="2884643"/>
            <a:ext cx="205740" cy="226694"/>
          </a:xfrm>
          <a:prstGeom prst="rect">
            <a:avLst/>
          </a:prstGeom>
        </p:spPr>
        <p:txBody>
          <a:bodyPr vert="horz" wrap="square" lIns="0" tIns="0" rIns="0" bIns="0"/>
          <a:lstStyle/>
          <a:p>
            <a:pPr algn="l" rtl="0" eaLnBrk="0">
              <a:lnSpc>
                <a:spcPct val="78000"/>
              </a:lnSpc>
            </a:pPr>
            <a:endParaRPr lang="en-US" altLang="en-US" sz="100" dirty="0"/>
          </a:p>
          <a:p>
            <a:pPr marL="12700" algn="l" rtl="0" eaLnBrk="0">
              <a:lnSpc>
                <a:spcPct val="91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商</a:t>
            </a:r>
            <a:endParaRPr lang="en-US" altLang="en-US" sz="1500" dirty="0"/>
          </a:p>
        </p:txBody>
      </p:sp>
      <p:sp>
        <p:nvSpPr>
          <p:cNvPr id="714" name="textbox 714"/>
          <p:cNvSpPr/>
          <p:nvPr/>
        </p:nvSpPr>
        <p:spPr>
          <a:xfrm>
            <a:off x="6584562" y="3120101"/>
            <a:ext cx="207644" cy="220028"/>
          </a:xfrm>
          <a:prstGeom prst="rect">
            <a:avLst/>
          </a:prstGeom>
        </p:spPr>
        <p:txBody>
          <a:bodyPr vert="horz" wrap="square" lIns="0" tIns="0" rIns="0" bIns="0"/>
          <a:lstStyle/>
          <a:p>
            <a:pPr algn="l" rtl="0" eaLnBrk="0">
              <a:lnSpc>
                <a:spcPct val="78000"/>
              </a:lnSpc>
            </a:pPr>
            <a:endParaRPr lang="en-US" altLang="en-US" sz="100" dirty="0"/>
          </a:p>
          <a:p>
            <a:pPr marL="12700" algn="l" rtl="0" eaLnBrk="0">
              <a:lnSpc>
                <a:spcPct val="88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公</a:t>
            </a:r>
            <a:endParaRPr lang="en-US" altLang="en-US" sz="1500" dirty="0"/>
          </a:p>
        </p:txBody>
      </p:sp>
      <p:sp>
        <p:nvSpPr>
          <p:cNvPr id="716" name="textbox 716"/>
          <p:cNvSpPr/>
          <p:nvPr/>
        </p:nvSpPr>
        <p:spPr>
          <a:xfrm>
            <a:off x="6592730" y="2884071"/>
            <a:ext cx="209074" cy="227171"/>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ct val="91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应</a:t>
            </a:r>
            <a:endParaRPr lang="en-US" altLang="en-US" sz="1500" dirty="0"/>
          </a:p>
        </p:txBody>
      </p:sp>
      <p:pic>
        <p:nvPicPr>
          <p:cNvPr id="718" name="picture 718"/>
          <p:cNvPicPr>
            <a:picLocks noChangeAspect="1"/>
          </p:cNvPicPr>
          <p:nvPr/>
        </p:nvPicPr>
        <p:blipFill>
          <a:blip r:embed="rId1"/>
          <a:stretch>
            <a:fillRect/>
          </a:stretch>
        </p:blipFill>
        <p:spPr>
          <a:xfrm rot="21600000">
            <a:off x="6402230" y="2895502"/>
            <a:ext cx="189737" cy="412623"/>
          </a:xfrm>
          <a:prstGeom prst="rect">
            <a:avLst/>
          </a:prstGeom>
        </p:spPr>
      </p:pic>
      <p:sp>
        <p:nvSpPr>
          <p:cNvPr id="720" name="textbox 720"/>
          <p:cNvSpPr/>
          <p:nvPr/>
        </p:nvSpPr>
        <p:spPr>
          <a:xfrm>
            <a:off x="6202991" y="3114577"/>
            <a:ext cx="208121" cy="225266"/>
          </a:xfrm>
          <a:prstGeom prst="rect">
            <a:avLst/>
          </a:prstGeom>
        </p:spPr>
        <p:txBody>
          <a:bodyPr vert="horz" wrap="square" lIns="0" tIns="0" rIns="0" bIns="0"/>
          <a:lstStyle/>
          <a:p>
            <a:pPr algn="l" rtl="0" eaLnBrk="0">
              <a:lnSpc>
                <a:spcPct val="86000"/>
              </a:lnSpc>
            </a:pPr>
            <a:endParaRPr lang="en-US" altLang="en-US" sz="100" dirty="0"/>
          </a:p>
          <a:p>
            <a:pPr marL="12700" algn="l" rtl="0" eaLnBrk="0">
              <a:lnSpc>
                <a:spcPct val="90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体</a:t>
            </a:r>
            <a:endParaRPr lang="en-US" altLang="en-US" sz="1500" dirty="0"/>
          </a:p>
        </p:txBody>
      </p:sp>
      <p:sp>
        <p:nvSpPr>
          <p:cNvPr id="722" name="textbox 722"/>
          <p:cNvSpPr/>
          <p:nvPr/>
        </p:nvSpPr>
        <p:spPr>
          <a:xfrm>
            <a:off x="6212683" y="2885405"/>
            <a:ext cx="206693" cy="226219"/>
          </a:xfrm>
          <a:prstGeom prst="rect">
            <a:avLst/>
          </a:prstGeom>
        </p:spPr>
        <p:txBody>
          <a:bodyPr vert="horz" wrap="square" lIns="0" tIns="0" rIns="0" bIns="0"/>
          <a:lstStyle/>
          <a:p>
            <a:pPr algn="l" rtl="0" eaLnBrk="0">
              <a:lnSpc>
                <a:spcPct val="92000"/>
              </a:lnSpc>
            </a:pPr>
            <a:endParaRPr lang="en-US" altLang="en-US" sz="100" dirty="0"/>
          </a:p>
          <a:p>
            <a:pPr marL="12700" algn="l" rtl="0" eaLnBrk="0">
              <a:lnSpc>
                <a:spcPct val="90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与</a:t>
            </a:r>
            <a:endParaRPr lang="en-US" altLang="en-US" sz="1500" dirty="0"/>
          </a:p>
        </p:txBody>
      </p:sp>
      <p:sp>
        <p:nvSpPr>
          <p:cNvPr id="724" name="path"/>
          <p:cNvSpPr/>
          <p:nvPr/>
        </p:nvSpPr>
        <p:spPr>
          <a:xfrm>
            <a:off x="6013130" y="3007991"/>
            <a:ext cx="57150" cy="57150"/>
          </a:xfrm>
          <a:custGeom>
            <a:avLst/>
            <a:gdLst/>
            <a:ahLst/>
            <a:cxnLst/>
            <a:rect l="0" t="0" r="0" b="0"/>
            <a:pathLst>
              <a:path w="120" h="120">
                <a:moveTo>
                  <a:pt x="0" y="120"/>
                </a:moveTo>
                <a:lnTo>
                  <a:pt x="120" y="60"/>
                </a:lnTo>
                <a:lnTo>
                  <a:pt x="0" y="0"/>
                </a:lnTo>
                <a:lnTo>
                  <a:pt x="0" y="120"/>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726" name="path"/>
          <p:cNvSpPr/>
          <p:nvPr/>
        </p:nvSpPr>
        <p:spPr>
          <a:xfrm>
            <a:off x="5215783" y="3122293"/>
            <a:ext cx="57150" cy="57150"/>
          </a:xfrm>
          <a:custGeom>
            <a:avLst/>
            <a:gdLst/>
            <a:ahLst/>
            <a:cxnLst/>
            <a:rect l="0" t="0" r="0" b="0"/>
            <a:pathLst>
              <a:path w="120" h="120">
                <a:moveTo>
                  <a:pt x="120" y="0"/>
                </a:moveTo>
                <a:lnTo>
                  <a:pt x="0" y="60"/>
                </a:lnTo>
                <a:lnTo>
                  <a:pt x="120" y="120"/>
                </a:lnTo>
                <a:lnTo>
                  <a:pt x="120" y="0"/>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728" name="path"/>
          <p:cNvSpPr/>
          <p:nvPr/>
        </p:nvSpPr>
        <p:spPr>
          <a:xfrm>
            <a:off x="4636662" y="3377190"/>
            <a:ext cx="7259" cy="467095"/>
          </a:xfrm>
          <a:custGeom>
            <a:avLst/>
            <a:gdLst/>
            <a:ahLst/>
            <a:cxnLst/>
            <a:rect l="0" t="0" r="0" b="0"/>
            <a:pathLst>
              <a:path w="15" h="980">
                <a:moveTo>
                  <a:pt x="7" y="980"/>
                </a:moveTo>
                <a:lnTo>
                  <a:pt x="7" y="0"/>
                </a:lnTo>
              </a:path>
            </a:pathLst>
          </a:custGeom>
          <a:noFill/>
          <a:ln w="9677" cap="flat">
            <a:solidFill>
              <a:srgbClr val="000000">
                <a:alpha val="100000"/>
              </a:srgbClr>
            </a:solidFill>
            <a:prstDash val="solid"/>
            <a:round/>
          </a:ln>
        </p:spPr>
        <p:txBody>
          <a:bodyPr rtlCol="0"/>
          <a:lstStyle/>
          <a:p>
            <a:pPr algn="ctr"/>
            <a:endParaRPr lang="zh-CN" altLang="en-US" sz="1350"/>
          </a:p>
        </p:txBody>
      </p:sp>
      <p:sp>
        <p:nvSpPr>
          <p:cNvPr id="730" name="path"/>
          <p:cNvSpPr/>
          <p:nvPr/>
        </p:nvSpPr>
        <p:spPr>
          <a:xfrm>
            <a:off x="4630319" y="2335600"/>
            <a:ext cx="7258" cy="474192"/>
          </a:xfrm>
          <a:custGeom>
            <a:avLst/>
            <a:gdLst/>
            <a:ahLst/>
            <a:cxnLst/>
            <a:rect l="0" t="0" r="0" b="0"/>
            <a:pathLst>
              <a:path w="15" h="995">
                <a:moveTo>
                  <a:pt x="7" y="995"/>
                </a:moveTo>
                <a:lnTo>
                  <a:pt x="7" y="0"/>
                </a:lnTo>
              </a:path>
            </a:pathLst>
          </a:custGeom>
          <a:noFill/>
          <a:ln w="9677" cap="flat">
            <a:solidFill>
              <a:srgbClr val="000000">
                <a:alpha val="100000"/>
              </a:srgbClr>
            </a:solidFill>
            <a:prstDash val="solid"/>
            <a:round/>
          </a:ln>
        </p:spPr>
        <p:txBody>
          <a:bodyPr rtlCol="0"/>
          <a:lstStyle/>
          <a:p>
            <a:pPr algn="ctr"/>
            <a:endParaRPr lang="zh-CN" altLang="en-US" sz="1350"/>
          </a:p>
        </p:txBody>
      </p:sp>
      <p:sp>
        <p:nvSpPr>
          <p:cNvPr id="732" name="path"/>
          <p:cNvSpPr/>
          <p:nvPr/>
        </p:nvSpPr>
        <p:spPr>
          <a:xfrm>
            <a:off x="4486549" y="2354955"/>
            <a:ext cx="9684" cy="1481405"/>
          </a:xfrm>
          <a:custGeom>
            <a:avLst/>
            <a:gdLst/>
            <a:ahLst/>
            <a:cxnLst/>
            <a:rect l="0" t="0" r="0" b="0"/>
            <a:pathLst>
              <a:path w="20" h="3110">
                <a:moveTo>
                  <a:pt x="12" y="995"/>
                </a:moveTo>
                <a:lnTo>
                  <a:pt x="12" y="0"/>
                </a:lnTo>
                <a:moveTo>
                  <a:pt x="7" y="3110"/>
                </a:moveTo>
                <a:lnTo>
                  <a:pt x="7" y="2132"/>
                </a:lnTo>
              </a:path>
            </a:pathLst>
          </a:custGeom>
          <a:noFill/>
          <a:ln w="9677" cap="flat">
            <a:solidFill>
              <a:srgbClr val="000000">
                <a:alpha val="100000"/>
              </a:srgbClr>
            </a:solidFill>
            <a:prstDash val="solid"/>
            <a:round/>
          </a:ln>
        </p:spPr>
        <p:txBody>
          <a:bodyPr rtlCol="0"/>
          <a:lstStyle/>
          <a:p>
            <a:pPr algn="ctr"/>
            <a:endParaRPr lang="zh-CN" altLang="en-US" sz="1350"/>
          </a:p>
        </p:txBody>
      </p:sp>
      <p:sp>
        <p:nvSpPr>
          <p:cNvPr id="734" name="textbox 734"/>
          <p:cNvSpPr/>
          <p:nvPr/>
        </p:nvSpPr>
        <p:spPr>
          <a:xfrm>
            <a:off x="4226624" y="3508817"/>
            <a:ext cx="193357" cy="226219"/>
          </a:xfrm>
          <a:prstGeom prst="rect">
            <a:avLst/>
          </a:prstGeom>
        </p:spPr>
        <p:txBody>
          <a:bodyPr vert="horz" wrap="square" lIns="0" tIns="0" rIns="0" bIns="0"/>
          <a:lstStyle/>
          <a:p>
            <a:pPr algn="l" rtl="0" eaLnBrk="0">
              <a:lnSpc>
                <a:spcPct val="92000"/>
              </a:lnSpc>
            </a:pPr>
            <a:endParaRPr lang="en-US" altLang="en-US" sz="100" dirty="0"/>
          </a:p>
          <a:p>
            <a:pPr algn="r" rtl="0" eaLnBrk="0">
              <a:lnSpc>
                <a:spcPct val="90000"/>
              </a:lnSpc>
            </a:pPr>
            <a:r>
              <a:rPr sz="1500" kern="0" spc="-1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向</a:t>
            </a:r>
            <a:endParaRPr lang="en-US" altLang="en-US" sz="1500" dirty="0"/>
          </a:p>
        </p:txBody>
      </p:sp>
      <p:sp>
        <p:nvSpPr>
          <p:cNvPr id="736" name="textbox 736"/>
          <p:cNvSpPr/>
          <p:nvPr/>
        </p:nvSpPr>
        <p:spPr>
          <a:xfrm>
            <a:off x="4172301" y="3015929"/>
            <a:ext cx="208597" cy="214313"/>
          </a:xfrm>
          <a:prstGeom prst="rect">
            <a:avLst/>
          </a:prstGeom>
        </p:spPr>
        <p:txBody>
          <a:bodyPr vert="horz" wrap="square" lIns="0" tIns="0" rIns="0" bIns="0"/>
          <a:lstStyle/>
          <a:p>
            <a:pPr algn="l" rtl="0" eaLnBrk="0">
              <a:lnSpc>
                <a:spcPct val="90000"/>
              </a:lnSpc>
            </a:pPr>
            <a:endParaRPr lang="en-US" altLang="en-US" sz="100" dirty="0"/>
          </a:p>
          <a:p>
            <a:pPr marL="12700" algn="l" rtl="0" eaLnBrk="0">
              <a:lnSpc>
                <a:spcPct val="85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a:t>
            </a:r>
            <a:endParaRPr lang="en-US" altLang="en-US" sz="1500" dirty="0"/>
          </a:p>
        </p:txBody>
      </p:sp>
      <p:sp>
        <p:nvSpPr>
          <p:cNvPr id="738" name="textbox 738"/>
          <p:cNvSpPr/>
          <p:nvPr/>
        </p:nvSpPr>
        <p:spPr>
          <a:xfrm>
            <a:off x="4173182" y="2494805"/>
            <a:ext cx="193357" cy="226219"/>
          </a:xfrm>
          <a:prstGeom prst="rect">
            <a:avLst/>
          </a:prstGeom>
        </p:spPr>
        <p:txBody>
          <a:bodyPr vert="horz" wrap="square" lIns="0" tIns="0" rIns="0" bIns="0"/>
          <a:lstStyle/>
          <a:p>
            <a:pPr algn="l" rtl="0" eaLnBrk="0">
              <a:lnSpc>
                <a:spcPct val="92000"/>
              </a:lnSpc>
            </a:pPr>
            <a:endParaRPr lang="en-US" altLang="en-US" sz="100" dirty="0"/>
          </a:p>
          <a:p>
            <a:pPr algn="r" rtl="0" eaLnBrk="0">
              <a:lnSpc>
                <a:spcPct val="90000"/>
              </a:lnSpc>
            </a:pPr>
            <a:r>
              <a:rPr sz="1500" kern="0" spc="-1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向</a:t>
            </a:r>
            <a:endParaRPr lang="en-US" altLang="en-US" sz="1500" dirty="0"/>
          </a:p>
        </p:txBody>
      </p:sp>
      <p:sp>
        <p:nvSpPr>
          <p:cNvPr id="740" name="textbox 740"/>
          <p:cNvSpPr/>
          <p:nvPr/>
        </p:nvSpPr>
        <p:spPr>
          <a:xfrm>
            <a:off x="4022408" y="3508436"/>
            <a:ext cx="207169" cy="226219"/>
          </a:xfrm>
          <a:prstGeom prst="rect">
            <a:avLst/>
          </a:prstGeom>
        </p:spPr>
        <p:txBody>
          <a:bodyPr vert="horz" wrap="square" lIns="0" tIns="0" rIns="0" bIns="0"/>
          <a:lstStyle/>
          <a:p>
            <a:pPr algn="l" rtl="0" eaLnBrk="0">
              <a:lnSpc>
                <a:spcPct val="75000"/>
              </a:lnSpc>
            </a:pPr>
            <a:endParaRPr lang="en-US" altLang="en-US" sz="100" dirty="0"/>
          </a:p>
          <a:p>
            <a:pPr marL="12700" algn="l" rtl="0" eaLnBrk="0">
              <a:lnSpc>
                <a:spcPct val="91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纵</a:t>
            </a:r>
            <a:endParaRPr lang="en-US" altLang="en-US" sz="1500" dirty="0"/>
          </a:p>
        </p:txBody>
      </p:sp>
      <p:sp>
        <p:nvSpPr>
          <p:cNvPr id="742" name="textbox 742"/>
          <p:cNvSpPr/>
          <p:nvPr/>
        </p:nvSpPr>
        <p:spPr>
          <a:xfrm>
            <a:off x="4015470" y="2494424"/>
            <a:ext cx="207169" cy="226219"/>
          </a:xfrm>
          <a:prstGeom prst="rect">
            <a:avLst/>
          </a:prstGeom>
        </p:spPr>
        <p:txBody>
          <a:bodyPr vert="horz" wrap="square" lIns="0" tIns="0" rIns="0" bIns="0"/>
          <a:lstStyle/>
          <a:p>
            <a:pPr algn="l" rtl="0" eaLnBrk="0">
              <a:lnSpc>
                <a:spcPct val="75000"/>
              </a:lnSpc>
            </a:pPr>
            <a:endParaRPr lang="en-US" altLang="en-US" sz="100" dirty="0"/>
          </a:p>
          <a:p>
            <a:pPr marL="12700" algn="l" rtl="0" eaLnBrk="0">
              <a:lnSpc>
                <a:spcPct val="91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纵</a:t>
            </a:r>
            <a:endParaRPr lang="en-US" altLang="en-US" sz="1500" dirty="0"/>
          </a:p>
        </p:txBody>
      </p:sp>
      <p:sp>
        <p:nvSpPr>
          <p:cNvPr id="744" name="path"/>
          <p:cNvSpPr/>
          <p:nvPr/>
        </p:nvSpPr>
        <p:spPr>
          <a:xfrm>
            <a:off x="3858902" y="3138960"/>
            <a:ext cx="57150" cy="57150"/>
          </a:xfrm>
          <a:custGeom>
            <a:avLst/>
            <a:gdLst/>
            <a:ahLst/>
            <a:cxnLst/>
            <a:rect l="0" t="0" r="0" b="0"/>
            <a:pathLst>
              <a:path w="120" h="120">
                <a:moveTo>
                  <a:pt x="0" y="120"/>
                </a:moveTo>
                <a:lnTo>
                  <a:pt x="120" y="60"/>
                </a:lnTo>
                <a:lnTo>
                  <a:pt x="0" y="0"/>
                </a:lnTo>
                <a:lnTo>
                  <a:pt x="0" y="120"/>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746" name="path"/>
          <p:cNvSpPr/>
          <p:nvPr/>
        </p:nvSpPr>
        <p:spPr>
          <a:xfrm>
            <a:off x="3047996" y="3013946"/>
            <a:ext cx="57150" cy="57150"/>
          </a:xfrm>
          <a:custGeom>
            <a:avLst/>
            <a:gdLst/>
            <a:ahLst/>
            <a:cxnLst/>
            <a:rect l="0" t="0" r="0" b="0"/>
            <a:pathLst>
              <a:path w="120" h="120">
                <a:moveTo>
                  <a:pt x="120" y="0"/>
                </a:moveTo>
                <a:lnTo>
                  <a:pt x="0" y="60"/>
                </a:lnTo>
                <a:lnTo>
                  <a:pt x="120" y="120"/>
                </a:lnTo>
                <a:lnTo>
                  <a:pt x="120" y="0"/>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748" name="textbox 748"/>
          <p:cNvSpPr/>
          <p:nvPr/>
        </p:nvSpPr>
        <p:spPr>
          <a:xfrm>
            <a:off x="2725938" y="3119513"/>
            <a:ext cx="207644" cy="221932"/>
          </a:xfrm>
          <a:prstGeom prst="rect">
            <a:avLst/>
          </a:prstGeom>
        </p:spPr>
        <p:txBody>
          <a:bodyPr vert="horz" wrap="square" lIns="0" tIns="0" rIns="0" bIns="0"/>
          <a:lstStyle/>
          <a:p>
            <a:pPr algn="l" rtl="0" eaLnBrk="0">
              <a:lnSpc>
                <a:spcPct val="77000"/>
              </a:lnSpc>
            </a:pPr>
            <a:endParaRPr lang="en-US" altLang="en-US" sz="100" dirty="0"/>
          </a:p>
          <a:p>
            <a:pPr marL="12700" algn="l" rtl="0" eaLnBrk="0">
              <a:lnSpc>
                <a:spcPct val="89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a:t>
            </a:r>
            <a:endParaRPr lang="en-US" altLang="en-US" sz="1500" dirty="0"/>
          </a:p>
        </p:txBody>
      </p:sp>
      <p:sp>
        <p:nvSpPr>
          <p:cNvPr id="750" name="textbox 750"/>
          <p:cNvSpPr/>
          <p:nvPr/>
        </p:nvSpPr>
        <p:spPr>
          <a:xfrm>
            <a:off x="2727081" y="2885008"/>
            <a:ext cx="206216" cy="228124"/>
          </a:xfrm>
          <a:prstGeom prst="rect">
            <a:avLst/>
          </a:prstGeom>
        </p:spPr>
        <p:txBody>
          <a:bodyPr vert="horz" wrap="square" lIns="0" tIns="0" rIns="0" bIns="0"/>
          <a:lstStyle/>
          <a:p>
            <a:pPr algn="l" rtl="0" eaLnBrk="0">
              <a:lnSpc>
                <a:spcPct val="89000"/>
              </a:lnSpc>
            </a:pPr>
            <a:endParaRPr lang="en-US" altLang="en-US" sz="100" dirty="0"/>
          </a:p>
          <a:p>
            <a:pPr marL="12700" algn="l" rtl="0" eaLnBrk="0">
              <a:lnSpc>
                <a:spcPct val="91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能</a:t>
            </a:r>
            <a:endParaRPr lang="en-US" altLang="en-US" sz="1500" dirty="0"/>
          </a:p>
        </p:txBody>
      </p:sp>
      <p:sp>
        <p:nvSpPr>
          <p:cNvPr id="752" name="textbox 752"/>
          <p:cNvSpPr/>
          <p:nvPr/>
        </p:nvSpPr>
        <p:spPr>
          <a:xfrm>
            <a:off x="2536010" y="3115132"/>
            <a:ext cx="207169" cy="226219"/>
          </a:xfrm>
          <a:prstGeom prst="rect">
            <a:avLst/>
          </a:prstGeom>
        </p:spPr>
        <p:txBody>
          <a:bodyPr vert="horz" wrap="square" lIns="0" tIns="0" rIns="0" bIns="0"/>
          <a:lstStyle/>
          <a:p>
            <a:pPr algn="l" rtl="0" eaLnBrk="0">
              <a:lnSpc>
                <a:spcPct val="74000"/>
              </a:lnSpc>
            </a:pPr>
            <a:endParaRPr lang="en-US" altLang="en-US" sz="100" dirty="0"/>
          </a:p>
          <a:p>
            <a:pPr marL="12700" algn="l" rtl="0" eaLnBrk="0">
              <a:lnSpc>
                <a:spcPct val="91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沟</a:t>
            </a:r>
            <a:endParaRPr lang="en-US" altLang="en-US" sz="1500" dirty="0"/>
          </a:p>
        </p:txBody>
      </p:sp>
      <p:sp>
        <p:nvSpPr>
          <p:cNvPr id="754" name="textbox 754"/>
          <p:cNvSpPr/>
          <p:nvPr/>
        </p:nvSpPr>
        <p:spPr>
          <a:xfrm>
            <a:off x="2536772" y="2900248"/>
            <a:ext cx="206216" cy="212884"/>
          </a:xfrm>
          <a:prstGeom prst="rect">
            <a:avLst/>
          </a:prstGeom>
        </p:spPr>
        <p:txBody>
          <a:bodyPr vert="horz" wrap="square" lIns="0" tIns="0" rIns="0" bIns="0"/>
          <a:lstStyle/>
          <a:p>
            <a:pPr algn="l" rtl="0" eaLnBrk="0">
              <a:lnSpc>
                <a:spcPct val="76000"/>
              </a:lnSpc>
            </a:pPr>
            <a:endParaRPr lang="en-US" altLang="en-US" sz="100" dirty="0"/>
          </a:p>
          <a:p>
            <a:pPr marL="12700" algn="l" rtl="0" eaLnBrk="0">
              <a:lnSpc>
                <a:spcPct val="85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职</a:t>
            </a:r>
            <a:endParaRPr lang="en-US" altLang="en-US" sz="1500" dirty="0"/>
          </a:p>
        </p:txBody>
      </p:sp>
      <p:sp>
        <p:nvSpPr>
          <p:cNvPr id="756" name="textbox 756"/>
          <p:cNvSpPr/>
          <p:nvPr/>
        </p:nvSpPr>
        <p:spPr>
          <a:xfrm>
            <a:off x="2353320" y="3115704"/>
            <a:ext cx="199072" cy="225743"/>
          </a:xfrm>
          <a:prstGeom prst="rect">
            <a:avLst/>
          </a:prstGeom>
        </p:spPr>
        <p:txBody>
          <a:bodyPr vert="horz" wrap="square" lIns="0" tIns="0" rIns="0" bIns="0"/>
          <a:lstStyle/>
          <a:p>
            <a:pPr algn="l" rtl="0" eaLnBrk="0">
              <a:lnSpc>
                <a:spcPct val="91000"/>
              </a:lnSpc>
            </a:pPr>
            <a:endParaRPr lang="en-US" altLang="en-US" sz="100" dirty="0"/>
          </a:p>
          <a:p>
            <a:pPr algn="r" rtl="0" eaLnBrk="0">
              <a:lnSpc>
                <a:spcPct val="90000"/>
              </a:lnSpc>
            </a:pPr>
            <a:r>
              <a:rPr sz="1500" kern="0" spc="-1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a:t>
            </a:r>
            <a:endParaRPr lang="en-US" altLang="en-US" sz="1500" dirty="0"/>
          </a:p>
        </p:txBody>
      </p:sp>
      <p:sp>
        <p:nvSpPr>
          <p:cNvPr id="758" name="textbox 758"/>
          <p:cNvSpPr/>
          <p:nvPr/>
        </p:nvSpPr>
        <p:spPr>
          <a:xfrm>
            <a:off x="2344176" y="2887104"/>
            <a:ext cx="208121" cy="225743"/>
          </a:xfrm>
          <a:prstGeom prst="rect">
            <a:avLst/>
          </a:prstGeom>
        </p:spPr>
        <p:txBody>
          <a:bodyPr vert="horz" wrap="square" lIns="0" tIns="0" rIns="0" bIns="0"/>
          <a:lstStyle/>
          <a:p>
            <a:pPr algn="l" rtl="0" eaLnBrk="0">
              <a:lnSpc>
                <a:spcPct val="89000"/>
              </a:lnSpc>
            </a:pPr>
            <a:endParaRPr lang="en-US" altLang="en-US" sz="100" dirty="0"/>
          </a:p>
          <a:p>
            <a:pPr marL="12700" algn="l" rtl="0" eaLnBrk="0">
              <a:lnSpc>
                <a:spcPct val="90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他</a:t>
            </a:r>
            <a:endParaRPr lang="en-US" altLang="en-US" sz="1500" dirty="0"/>
          </a:p>
        </p:txBody>
      </p:sp>
      <p:sp>
        <p:nvSpPr>
          <p:cNvPr id="760" name="textbox 760"/>
          <p:cNvSpPr/>
          <p:nvPr/>
        </p:nvSpPr>
        <p:spPr>
          <a:xfrm>
            <a:off x="2156343" y="3115704"/>
            <a:ext cx="205740" cy="225743"/>
          </a:xfrm>
          <a:prstGeom prst="rect">
            <a:avLst/>
          </a:prstGeom>
        </p:spPr>
        <p:txBody>
          <a:bodyPr vert="horz" wrap="square" lIns="0" tIns="0" rIns="0" bIns="0"/>
          <a:lstStyle/>
          <a:p>
            <a:pPr algn="l" rtl="0" eaLnBrk="0">
              <a:lnSpc>
                <a:spcPct val="91000"/>
              </a:lnSpc>
            </a:pPr>
            <a:endParaRPr lang="en-US" altLang="en-US" sz="100" dirty="0"/>
          </a:p>
          <a:p>
            <a:pPr marL="12700" algn="l" rtl="0" eaLnBrk="0">
              <a:lnSpc>
                <a:spcPct val="90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事</a:t>
            </a:r>
            <a:endParaRPr lang="en-US" altLang="en-US" sz="1500" dirty="0"/>
          </a:p>
        </p:txBody>
      </p:sp>
      <p:sp>
        <p:nvSpPr>
          <p:cNvPr id="762" name="textbox 762"/>
          <p:cNvSpPr/>
          <p:nvPr/>
        </p:nvSpPr>
        <p:spPr>
          <a:xfrm>
            <a:off x="2155010" y="2888437"/>
            <a:ext cx="206693" cy="224313"/>
          </a:xfrm>
          <a:prstGeom prst="rect">
            <a:avLst/>
          </a:prstGeom>
        </p:spPr>
        <p:txBody>
          <a:bodyPr vert="horz" wrap="square" lIns="0" tIns="0" rIns="0" bIns="0"/>
          <a:lstStyle/>
          <a:p>
            <a:pPr algn="l" rtl="0" eaLnBrk="0">
              <a:lnSpc>
                <a:spcPct val="78000"/>
              </a:lnSpc>
            </a:pPr>
            <a:endParaRPr lang="en-US" altLang="en-US" sz="100" dirty="0"/>
          </a:p>
          <a:p>
            <a:pPr marL="12700" algn="l" rtl="0" eaLnBrk="0">
              <a:lnSpc>
                <a:spcPct val="90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其</a:t>
            </a:r>
            <a:endParaRPr lang="en-US" altLang="en-US" sz="1500" dirty="0"/>
          </a:p>
        </p:txBody>
      </p:sp>
      <p:sp>
        <p:nvSpPr>
          <p:cNvPr id="764" name="textbox 764"/>
          <p:cNvSpPr/>
          <p:nvPr/>
        </p:nvSpPr>
        <p:spPr>
          <a:xfrm>
            <a:off x="1977464" y="3126752"/>
            <a:ext cx="193834" cy="214788"/>
          </a:xfrm>
          <a:prstGeom prst="rect">
            <a:avLst/>
          </a:prstGeom>
        </p:spPr>
        <p:txBody>
          <a:bodyPr vert="horz" wrap="square" lIns="0" tIns="0" rIns="0" bIns="0"/>
          <a:lstStyle/>
          <a:p>
            <a:pPr algn="l" rtl="0" eaLnBrk="0">
              <a:lnSpc>
                <a:spcPct val="74000"/>
              </a:lnSpc>
            </a:pPr>
            <a:endParaRPr lang="en-US" altLang="en-US" sz="100" dirty="0"/>
          </a:p>
          <a:p>
            <a:pPr algn="r" rtl="0" eaLnBrk="0">
              <a:lnSpc>
                <a:spcPct val="86000"/>
              </a:lnSpc>
            </a:pPr>
            <a:r>
              <a:rPr sz="1500" kern="0" spc="-1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同</a:t>
            </a:r>
            <a:endParaRPr lang="en-US" altLang="en-US" sz="1500" dirty="0"/>
          </a:p>
        </p:txBody>
      </p:sp>
      <p:sp>
        <p:nvSpPr>
          <p:cNvPr id="766" name="textbox 766"/>
          <p:cNvSpPr/>
          <p:nvPr/>
        </p:nvSpPr>
        <p:spPr>
          <a:xfrm>
            <a:off x="1973463" y="3028454"/>
            <a:ext cx="64770" cy="68104"/>
          </a:xfrm>
          <a:prstGeom prst="rect">
            <a:avLst/>
          </a:prstGeom>
        </p:spPr>
        <p:txBody>
          <a:bodyPr vert="horz" wrap="square" lIns="0" tIns="0" rIns="0" bIns="0"/>
          <a:lstStyle/>
          <a:p>
            <a:pPr algn="l" rtl="0" eaLnBrk="0">
              <a:lnSpc>
                <a:spcPct val="84000"/>
              </a:lnSpc>
            </a:pPr>
            <a:endParaRPr lang="en-US" altLang="en-US" sz="100" dirty="0"/>
          </a:p>
          <a:p>
            <a:pPr algn="r" rtl="0" eaLnBrk="0">
              <a:lnSpc>
                <a:spcPct val="85000"/>
              </a:lnSpc>
            </a:pPr>
            <a:r>
              <a:rPr sz="375"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375" dirty="0"/>
          </a:p>
        </p:txBody>
      </p:sp>
      <p:pic>
        <p:nvPicPr>
          <p:cNvPr id="768" name="picture 768"/>
          <p:cNvPicPr>
            <a:picLocks noChangeAspect="1"/>
          </p:cNvPicPr>
          <p:nvPr/>
        </p:nvPicPr>
        <p:blipFill>
          <a:blip r:embed="rId2"/>
          <a:stretch>
            <a:fillRect/>
          </a:stretch>
        </p:blipFill>
        <p:spPr>
          <a:xfrm rot="21600000">
            <a:off x="1782392" y="2894914"/>
            <a:ext cx="188785" cy="414719"/>
          </a:xfrm>
          <a:prstGeom prst="rect">
            <a:avLst/>
          </a:prstGeom>
        </p:spPr>
      </p:pic>
      <p:sp>
        <p:nvSpPr>
          <p:cNvPr id="770" name="textbox 770"/>
          <p:cNvSpPr/>
          <p:nvPr/>
        </p:nvSpPr>
        <p:spPr>
          <a:xfrm>
            <a:off x="1597797" y="3115132"/>
            <a:ext cx="192405" cy="226219"/>
          </a:xfrm>
          <a:prstGeom prst="rect">
            <a:avLst/>
          </a:prstGeom>
        </p:spPr>
        <p:txBody>
          <a:bodyPr vert="horz" wrap="square" lIns="0" tIns="0" rIns="0" bIns="0"/>
          <a:lstStyle/>
          <a:p>
            <a:pPr algn="l" rtl="0" eaLnBrk="0">
              <a:lnSpc>
                <a:spcPct val="76000"/>
              </a:lnSpc>
            </a:pPr>
            <a:endParaRPr lang="en-US" altLang="en-US" sz="100" dirty="0"/>
          </a:p>
          <a:p>
            <a:pPr algn="r" rtl="0" eaLnBrk="0">
              <a:lnSpc>
                <a:spcPct val="91000"/>
              </a:lnSpc>
            </a:pPr>
            <a:r>
              <a:rPr sz="1500" kern="0" spc="-2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门</a:t>
            </a:r>
            <a:endParaRPr lang="en-US" altLang="en-US" sz="1500" dirty="0"/>
          </a:p>
        </p:txBody>
      </p:sp>
      <p:sp>
        <p:nvSpPr>
          <p:cNvPr id="772" name="textbox 772"/>
          <p:cNvSpPr/>
          <p:nvPr/>
        </p:nvSpPr>
        <p:spPr>
          <a:xfrm>
            <a:off x="1581414" y="2885008"/>
            <a:ext cx="209074" cy="227647"/>
          </a:xfrm>
          <a:prstGeom prst="rect">
            <a:avLst/>
          </a:prstGeom>
        </p:spPr>
        <p:txBody>
          <a:bodyPr vert="horz" wrap="square" lIns="0" tIns="0" rIns="0" bIns="0"/>
          <a:lstStyle/>
          <a:p>
            <a:pPr algn="l" rtl="0" eaLnBrk="0">
              <a:lnSpc>
                <a:spcPct val="88000"/>
              </a:lnSpc>
            </a:pPr>
            <a:endParaRPr lang="en-US" altLang="en-US" sz="100" dirty="0"/>
          </a:p>
          <a:p>
            <a:pPr marL="12700" algn="l" rtl="0" eaLnBrk="0">
              <a:lnSpc>
                <a:spcPct val="91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客</a:t>
            </a:r>
            <a:endParaRPr lang="en-US" altLang="en-US" sz="1500" dirty="0"/>
          </a:p>
        </p:txBody>
      </p:sp>
      <p:sp>
        <p:nvSpPr>
          <p:cNvPr id="774" name="textbox 774"/>
          <p:cNvSpPr/>
          <p:nvPr/>
        </p:nvSpPr>
        <p:spPr>
          <a:xfrm>
            <a:off x="1393962" y="3114751"/>
            <a:ext cx="206216" cy="226694"/>
          </a:xfrm>
          <a:prstGeom prst="rect">
            <a:avLst/>
          </a:prstGeom>
        </p:spPr>
        <p:txBody>
          <a:bodyPr vert="horz" wrap="square" lIns="0" tIns="0" rIns="0" bIns="0"/>
          <a:lstStyle/>
          <a:p>
            <a:pPr algn="l" rtl="0" eaLnBrk="0">
              <a:lnSpc>
                <a:spcPct val="78000"/>
              </a:lnSpc>
            </a:pPr>
            <a:endParaRPr lang="en-US" altLang="en-US" sz="100" dirty="0"/>
          </a:p>
          <a:p>
            <a:pPr marL="12700" algn="l" rtl="0" eaLnBrk="0">
              <a:lnSpc>
                <a:spcPct val="91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部</a:t>
            </a:r>
            <a:endParaRPr lang="en-US" altLang="en-US" sz="1500" dirty="0"/>
          </a:p>
        </p:txBody>
      </p:sp>
      <p:sp>
        <p:nvSpPr>
          <p:cNvPr id="776" name="textbox 776"/>
          <p:cNvSpPr/>
          <p:nvPr/>
        </p:nvSpPr>
        <p:spPr>
          <a:xfrm>
            <a:off x="1393391" y="2886913"/>
            <a:ext cx="206693" cy="226219"/>
          </a:xfrm>
          <a:prstGeom prst="rect">
            <a:avLst/>
          </a:prstGeom>
        </p:spPr>
        <p:txBody>
          <a:bodyPr vert="horz" wrap="square" lIns="0" tIns="0" rIns="0" bIns="0"/>
          <a:lstStyle/>
          <a:p>
            <a:pPr algn="l" rtl="0" eaLnBrk="0">
              <a:lnSpc>
                <a:spcPct val="92000"/>
              </a:lnSpc>
            </a:pPr>
            <a:endParaRPr lang="en-US" altLang="en-US" sz="100" dirty="0"/>
          </a:p>
          <a:p>
            <a:pPr marL="12700" algn="l" rtl="0" eaLnBrk="0">
              <a:lnSpc>
                <a:spcPct val="90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与</a:t>
            </a:r>
            <a:endParaRPr lang="en-US" altLang="en-US" sz="1500" dirty="0"/>
          </a:p>
        </p:txBody>
      </p:sp>
      <p:sp>
        <p:nvSpPr>
          <p:cNvPr id="778" name="textbox 778"/>
          <p:cNvSpPr/>
          <p:nvPr/>
        </p:nvSpPr>
        <p:spPr>
          <a:xfrm>
            <a:off x="995967" y="1145245"/>
            <a:ext cx="7070883" cy="521018"/>
          </a:xfrm>
          <a:prstGeom prst="rect">
            <a:avLst/>
          </a:prstGeom>
        </p:spPr>
        <p:txBody>
          <a:bodyPr vert="horz" wrap="square" lIns="0" tIns="0" rIns="0" bIns="0"/>
          <a:lstStyle/>
          <a:p>
            <a:pPr algn="l" rtl="0" eaLnBrk="0">
              <a:lnSpc>
                <a:spcPct val="78000"/>
              </a:lnSpc>
            </a:pPr>
            <a:endParaRPr lang="en-US" altLang="en-US" sz="100" dirty="0"/>
          </a:p>
          <a:p>
            <a:pPr marL="12700" algn="l" rtl="0" eaLnBrk="0">
              <a:lnSpc>
                <a:spcPct val="83000"/>
              </a:lnSpc>
            </a:pPr>
            <a:r>
              <a:rPr sz="16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项目沟通管理是为了</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确保项目信息及时且恰当地收集和传递 ，对项目信息的</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内容、传递方式和传递过程等进行的管理</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活动。</a:t>
            </a:r>
            <a:endParaRPr lang="en-US" altLang="en-US" sz="1650" dirty="0"/>
          </a:p>
        </p:txBody>
      </p:sp>
      <p:sp>
        <p:nvSpPr>
          <p:cNvPr id="780"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798" name="path"/>
          <p:cNvSpPr/>
          <p:nvPr/>
        </p:nvSpPr>
        <p:spPr>
          <a:xfrm>
            <a:off x="4444247" y="2343372"/>
            <a:ext cx="57150" cy="57150"/>
          </a:xfrm>
          <a:custGeom>
            <a:avLst/>
            <a:gdLst/>
            <a:ahLst/>
            <a:cxnLst/>
            <a:rect l="0" t="0" r="0" b="0"/>
            <a:pathLst>
              <a:path w="120" h="120">
                <a:moveTo>
                  <a:pt x="120" y="120"/>
                </a:moveTo>
                <a:lnTo>
                  <a:pt x="60" y="0"/>
                </a:lnTo>
                <a:lnTo>
                  <a:pt x="0" y="120"/>
                </a:lnTo>
                <a:lnTo>
                  <a:pt x="120" y="120"/>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2" name="标题 1"/>
          <p:cNvSpPr>
            <a:spLocks noGrp="1"/>
          </p:cNvSpPr>
          <p:nvPr>
            <p:ph type="title"/>
          </p:nvPr>
        </p:nvSpPr>
        <p:spPr/>
        <p:txBody>
          <a:bodyPr/>
          <a:lstStyle/>
          <a:p>
            <a:r>
              <a:rPr lang="zh-CN" altLang="en-US" dirty="0"/>
              <a:t>项目沟通管理</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 name="textbox 800"/>
          <p:cNvSpPr/>
          <p:nvPr/>
        </p:nvSpPr>
        <p:spPr>
          <a:xfrm>
            <a:off x="4201748" y="1320266"/>
            <a:ext cx="4045268" cy="2736056"/>
          </a:xfrm>
          <a:prstGeom prst="rect">
            <a:avLst/>
          </a:prstGeom>
        </p:spPr>
        <p:txBody>
          <a:bodyPr vert="horz" wrap="square" lIns="0" tIns="0" rIns="0" bIns="0"/>
          <a:lstStyle/>
          <a:p>
            <a:pPr algn="l" rtl="0" eaLnBrk="0">
              <a:lnSpc>
                <a:spcPct val="74000"/>
              </a:lnSpc>
            </a:pPr>
            <a:endParaRPr lang="en-US" altLang="en-US" sz="100" dirty="0"/>
          </a:p>
          <a:p>
            <a:pPr marL="12700" algn="l" rtl="0" eaLnBrk="0">
              <a:lnSpc>
                <a:spcPct val="91000"/>
              </a:lnSpc>
            </a:pPr>
            <a:r>
              <a:rPr sz="16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沟通需求 ：</a:t>
            </a:r>
            <a:endParaRPr lang="en-US" altLang="en-US" sz="1650" dirty="0"/>
          </a:p>
          <a:p>
            <a:pPr marL="22860" algn="l" rtl="0" eaLnBrk="0">
              <a:lnSpc>
                <a:spcPct val="90000"/>
              </a:lnSpc>
              <a:spcBef>
                <a:spcPts val="1625"/>
              </a:spcBef>
            </a:pPr>
            <a:r>
              <a:rPr sz="1650" kern="0" spc="0" dirty="0">
                <a:solidFill>
                  <a:srgbClr val="000000">
                    <a:alpha val="100000"/>
                  </a:srgbClr>
                </a:solidFill>
                <a:latin typeface="Arial" panose="020B0604020202020204"/>
                <a:ea typeface="Arial" panose="020B0604020202020204"/>
                <a:cs typeface="Arial" panose="020B0604020202020204"/>
              </a:rPr>
              <a:t>•   </a:t>
            </a: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职责、协调、状态</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、授权</a:t>
            </a:r>
            <a:endParaRPr lang="en-US" altLang="en-US" sz="1650" dirty="0"/>
          </a:p>
          <a:p>
            <a:pPr marL="22860" algn="l" rtl="0" eaLnBrk="0">
              <a:lnSpc>
                <a:spcPct val="91000"/>
              </a:lnSpc>
              <a:spcBef>
                <a:spcPts val="1600"/>
              </a:spcBef>
            </a:pPr>
            <a:r>
              <a:rPr sz="1650" kern="0" spc="-10" dirty="0">
                <a:solidFill>
                  <a:srgbClr val="000000">
                    <a:alpha val="100000"/>
                  </a:srgbClr>
                </a:solidFill>
                <a:latin typeface="Arial" panose="020B0604020202020204"/>
                <a:ea typeface="Arial" panose="020B0604020202020204"/>
                <a:cs typeface="Arial" panose="020B0604020202020204"/>
              </a:rPr>
              <a:t>•   </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任务分配清晰</a:t>
            </a:r>
            <a:endParaRPr lang="en-US" altLang="en-US" sz="1650" dirty="0"/>
          </a:p>
          <a:p>
            <a:pPr algn="l" rtl="0" eaLnBrk="0">
              <a:lnSpc>
                <a:spcPct val="129000"/>
              </a:lnSpc>
            </a:pPr>
            <a:endParaRPr lang="en-US" altLang="en-US" sz="750" dirty="0"/>
          </a:p>
          <a:p>
            <a:pPr algn="l" rtl="0" eaLnBrk="0">
              <a:lnSpc>
                <a:spcPct val="129000"/>
              </a:lnSpc>
            </a:pPr>
            <a:endParaRPr lang="en-US" altLang="en-US" sz="750" dirty="0"/>
          </a:p>
          <a:p>
            <a:pPr marL="15875" algn="l" rtl="0" eaLnBrk="0">
              <a:lnSpc>
                <a:spcPct val="90000"/>
              </a:lnSpc>
              <a:spcBef>
                <a:spcPts val="660"/>
              </a:spcBef>
            </a:pPr>
            <a:r>
              <a:rPr sz="16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工作会议 ：</a:t>
            </a:r>
            <a:endParaRPr lang="en-US" altLang="en-US" sz="1650" dirty="0"/>
          </a:p>
          <a:p>
            <a:pPr marL="22860" algn="l" rtl="0" eaLnBrk="0">
              <a:lnSpc>
                <a:spcPct val="91000"/>
              </a:lnSpc>
              <a:spcBef>
                <a:spcPts val="1600"/>
              </a:spcBef>
            </a:pPr>
            <a:r>
              <a:rPr sz="1650" kern="0" spc="0" dirty="0">
                <a:solidFill>
                  <a:srgbClr val="000000">
                    <a:alpha val="100000"/>
                  </a:srgbClr>
                </a:solidFill>
                <a:latin typeface="Arial" panose="020B0604020202020204"/>
                <a:ea typeface="Arial" panose="020B0604020202020204"/>
                <a:cs typeface="Arial" panose="020B0604020202020204"/>
              </a:rPr>
              <a:t>•   </a:t>
            </a: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项目启动会、成员进度汇报、项</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目进展会</a:t>
            </a:r>
            <a:endParaRPr lang="en-US" altLang="en-US" sz="1650" dirty="0"/>
          </a:p>
          <a:p>
            <a:pPr marL="22860" algn="l" rtl="0" eaLnBrk="0">
              <a:lnSpc>
                <a:spcPct val="91000"/>
              </a:lnSpc>
              <a:spcBef>
                <a:spcPts val="1600"/>
              </a:spcBef>
            </a:pPr>
            <a:r>
              <a:rPr sz="1650" kern="0" spc="-30" dirty="0">
                <a:solidFill>
                  <a:srgbClr val="000000">
                    <a:alpha val="100000"/>
                  </a:srgbClr>
                </a:solidFill>
                <a:latin typeface="Arial" panose="020B0604020202020204"/>
                <a:ea typeface="Arial" panose="020B0604020202020204"/>
                <a:cs typeface="Arial" panose="020B0604020202020204"/>
              </a:rPr>
              <a:t>•</a:t>
            </a:r>
            <a:r>
              <a:rPr sz="1650" kern="0" spc="50" dirty="0">
                <a:solidFill>
                  <a:srgbClr val="000000">
                    <a:alpha val="100000"/>
                  </a:srgbClr>
                </a:solidFill>
                <a:latin typeface="Arial" panose="020B0604020202020204"/>
                <a:ea typeface="Arial" panose="020B0604020202020204"/>
                <a:cs typeface="Arial" panose="020B0604020202020204"/>
              </a:rPr>
              <a:t>   </a:t>
            </a:r>
            <a:r>
              <a:rPr sz="16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设置沟通期望</a:t>
            </a:r>
            <a:endParaRPr lang="en-US" altLang="en-US" sz="1650" dirty="0"/>
          </a:p>
          <a:p>
            <a:pPr algn="l" rtl="0" eaLnBrk="0">
              <a:lnSpc>
                <a:spcPct val="104000"/>
              </a:lnSpc>
            </a:pPr>
            <a:endParaRPr lang="en-US" altLang="en-US" sz="975" dirty="0"/>
          </a:p>
          <a:p>
            <a:pPr marL="22860" algn="l" rtl="0" eaLnBrk="0">
              <a:lnSpc>
                <a:spcPct val="90000"/>
              </a:lnSpc>
              <a:spcBef>
                <a:spcPts val="0"/>
              </a:spcBef>
            </a:pPr>
            <a:r>
              <a:rPr sz="1650" kern="0" spc="0" dirty="0">
                <a:solidFill>
                  <a:srgbClr val="000000">
                    <a:alpha val="100000"/>
                  </a:srgbClr>
                </a:solidFill>
                <a:latin typeface="Arial" panose="020B0604020202020204"/>
                <a:ea typeface="Arial" panose="020B0604020202020204"/>
                <a:cs typeface="Arial" panose="020B0604020202020204"/>
              </a:rPr>
              <a:t>•   </a:t>
            </a: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及时、公开、</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恰到好处</a:t>
            </a:r>
            <a:endParaRPr lang="en-US" altLang="en-US" sz="1650" dirty="0"/>
          </a:p>
        </p:txBody>
      </p:sp>
      <p:graphicFrame>
        <p:nvGraphicFramePr>
          <p:cNvPr id="802" name="table 802"/>
          <p:cNvGraphicFramePr>
            <a:graphicFrameLocks noGrp="1"/>
          </p:cNvGraphicFramePr>
          <p:nvPr/>
        </p:nvGraphicFramePr>
        <p:xfrm>
          <a:off x="996042" y="2058931"/>
          <a:ext cx="2736850" cy="1963420"/>
        </p:xfrm>
        <a:graphic>
          <a:graphicData uri="http://schemas.openxmlformats.org/drawingml/2006/table">
            <a:tbl>
              <a:tblPr/>
              <a:tblGrid>
                <a:gridCol w="2736850"/>
              </a:tblGrid>
              <a:tr h="1963420">
                <a:tc>
                  <a:txBody>
                    <a:bodyPr/>
                    <a:lstStyle/>
                    <a:p>
                      <a:pPr algn="l" rtl="0" eaLnBrk="0">
                        <a:lnSpc>
                          <a:spcPct val="100000"/>
                        </a:lnSpc>
                      </a:pPr>
                      <a:endParaRPr lang="en-US" altLang="en-US" sz="750" dirty="0"/>
                    </a:p>
                  </a:txBody>
                  <a:tcPr marL="0" marR="0" marT="0" marB="0" vert="horz">
                    <a:lnL w="9525" cap="flat" cmpd="sng" algn="ctr">
                      <a:solidFill>
                        <a:srgbClr val="D9D6D6"/>
                      </a:solidFill>
                      <a:prstDash val="solid"/>
                      <a:round/>
                      <a:headEnd type="none" w="med" len="med"/>
                      <a:tailEnd type="none" w="med" len="med"/>
                    </a:lnL>
                    <a:lnR w="9525" cap="flat" cmpd="sng" algn="ctr">
                      <a:solidFill>
                        <a:srgbClr val="D9D6D6"/>
                      </a:solidFill>
                      <a:prstDash val="solid"/>
                      <a:round/>
                      <a:headEnd type="none" w="med" len="med"/>
                      <a:tailEnd type="none" w="med" len="med"/>
                    </a:lnR>
                    <a:lnT w="9525" cap="flat" cmpd="sng" algn="ctr">
                      <a:solidFill>
                        <a:srgbClr val="D9D6D6"/>
                      </a:solidFill>
                      <a:prstDash val="solid"/>
                      <a:round/>
                      <a:headEnd type="none" w="med" len="med"/>
                      <a:tailEnd type="none" w="med" len="med"/>
                    </a:lnT>
                    <a:lnB w="9525" cap="flat" cmpd="sng" algn="ctr">
                      <a:solidFill>
                        <a:srgbClr val="D9D6D6"/>
                      </a:solidFill>
                      <a:prstDash val="solid"/>
                      <a:round/>
                      <a:headEnd type="none" w="med" len="med"/>
                      <a:tailEnd type="none" w="med" len="med"/>
                    </a:lnB>
                  </a:tcPr>
                </a:tc>
              </a:tr>
            </a:tbl>
          </a:graphicData>
        </a:graphic>
      </p:graphicFrame>
      <p:pic>
        <p:nvPicPr>
          <p:cNvPr id="804" name="picture 804"/>
          <p:cNvPicPr>
            <a:picLocks noChangeAspect="1"/>
          </p:cNvPicPr>
          <p:nvPr/>
        </p:nvPicPr>
        <p:blipFill>
          <a:blip r:embed="rId1"/>
          <a:stretch>
            <a:fillRect/>
          </a:stretch>
        </p:blipFill>
        <p:spPr>
          <a:xfrm rot="21600000">
            <a:off x="1003301" y="2066189"/>
            <a:ext cx="2679700" cy="1918665"/>
          </a:xfrm>
          <a:prstGeom prst="rect">
            <a:avLst/>
          </a:prstGeom>
        </p:spPr>
      </p:pic>
      <p:sp>
        <p:nvSpPr>
          <p:cNvPr id="806"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808" name="textbox 808"/>
          <p:cNvSpPr/>
          <p:nvPr/>
        </p:nvSpPr>
        <p:spPr>
          <a:xfrm>
            <a:off x="965199" y="1341052"/>
            <a:ext cx="2748915" cy="475298"/>
          </a:xfrm>
          <a:prstGeom prst="rect">
            <a:avLst/>
          </a:prstGeom>
          <a:solidFill>
            <a:srgbClr val="EBEAEA"/>
          </a:solidFill>
        </p:spPr>
        <p:txBody>
          <a:bodyPr vert="horz" wrap="square" lIns="0" tIns="0" rIns="0" bIns="0"/>
          <a:lstStyle/>
          <a:p>
            <a:pPr algn="l" rtl="0" eaLnBrk="0">
              <a:lnSpc>
                <a:spcPct val="117000"/>
              </a:lnSpc>
            </a:pPr>
            <a:endParaRPr lang="en-US" altLang="en-US" sz="750" dirty="0"/>
          </a:p>
          <a:p>
            <a:pPr marL="462915" algn="l" rtl="0" eaLnBrk="0">
              <a:lnSpc>
                <a:spcPct val="91000"/>
              </a:lnSpc>
              <a:spcBef>
                <a:spcPts val="5"/>
              </a:spcBef>
            </a:pPr>
            <a:r>
              <a:rPr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项目团队内部的沟通</a:t>
            </a:r>
            <a:endParaRPr lang="en-US" altLang="en-US" dirty="0"/>
          </a:p>
        </p:txBody>
      </p:sp>
      <p:sp>
        <p:nvSpPr>
          <p:cNvPr id="2" name="标题 1"/>
          <p:cNvSpPr>
            <a:spLocks noGrp="1"/>
          </p:cNvSpPr>
          <p:nvPr>
            <p:ph type="title"/>
          </p:nvPr>
        </p:nvSpPr>
        <p:spPr/>
        <p:txBody>
          <a:bodyPr/>
          <a:p>
            <a:r>
              <a:rPr lang="zh-CN" altLang="en-US" dirty="0"/>
              <a:t>项目沟通管理</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6" name="table 826"/>
          <p:cNvGraphicFramePr>
            <a:graphicFrameLocks noGrp="1"/>
          </p:cNvGraphicFramePr>
          <p:nvPr/>
        </p:nvGraphicFramePr>
        <p:xfrm>
          <a:off x="1183363" y="2031092"/>
          <a:ext cx="2757170" cy="1825625"/>
        </p:xfrm>
        <a:graphic>
          <a:graphicData uri="http://schemas.openxmlformats.org/drawingml/2006/table">
            <a:tbl>
              <a:tblPr/>
              <a:tblGrid>
                <a:gridCol w="2757170"/>
              </a:tblGrid>
              <a:tr h="1825625">
                <a:tc>
                  <a:txBody>
                    <a:bodyPr/>
                    <a:lstStyle/>
                    <a:p>
                      <a:pPr algn="l" rtl="0" eaLnBrk="0">
                        <a:lnSpc>
                          <a:spcPct val="100000"/>
                        </a:lnSpc>
                      </a:pPr>
                      <a:endParaRPr lang="en-US" altLang="en-US" sz="750" dirty="0"/>
                    </a:p>
                  </a:txBody>
                  <a:tcPr marL="0" marR="0" marT="0" marB="0" vert="horz">
                    <a:lnL w="9525" cap="flat" cmpd="sng" algn="ctr">
                      <a:solidFill>
                        <a:srgbClr val="D9D6D6"/>
                      </a:solidFill>
                      <a:prstDash val="solid"/>
                      <a:round/>
                      <a:headEnd type="none" w="med" len="med"/>
                      <a:tailEnd type="none" w="med" len="med"/>
                    </a:lnL>
                    <a:lnR w="9525" cap="flat" cmpd="sng" algn="ctr">
                      <a:solidFill>
                        <a:srgbClr val="D9D6D6"/>
                      </a:solidFill>
                      <a:prstDash val="solid"/>
                      <a:round/>
                      <a:headEnd type="none" w="med" len="med"/>
                      <a:tailEnd type="none" w="med" len="med"/>
                    </a:lnR>
                    <a:lnT w="9525" cap="flat" cmpd="sng" algn="ctr">
                      <a:solidFill>
                        <a:srgbClr val="D9D6D6"/>
                      </a:solidFill>
                      <a:prstDash val="solid"/>
                      <a:round/>
                      <a:headEnd type="none" w="med" len="med"/>
                      <a:tailEnd type="none" w="med" len="med"/>
                    </a:lnT>
                    <a:lnB w="9525" cap="flat" cmpd="sng" algn="ctr">
                      <a:solidFill>
                        <a:srgbClr val="D9D6D6"/>
                      </a:solidFill>
                      <a:prstDash val="solid"/>
                      <a:round/>
                      <a:headEnd type="none" w="med" len="med"/>
                      <a:tailEnd type="none" w="med" len="med"/>
                    </a:lnB>
                  </a:tcPr>
                </a:tc>
              </a:tr>
            </a:tbl>
          </a:graphicData>
        </a:graphic>
      </p:graphicFrame>
      <p:pic>
        <p:nvPicPr>
          <p:cNvPr id="828" name="picture 828"/>
          <p:cNvPicPr>
            <a:picLocks noChangeAspect="1"/>
          </p:cNvPicPr>
          <p:nvPr/>
        </p:nvPicPr>
        <p:blipFill>
          <a:blip r:embed="rId1"/>
          <a:stretch>
            <a:fillRect/>
          </a:stretch>
        </p:blipFill>
        <p:spPr>
          <a:xfrm rot="21600000">
            <a:off x="1190621" y="2038350"/>
            <a:ext cx="2699999" cy="1783114"/>
          </a:xfrm>
          <a:prstGeom prst="rect">
            <a:avLst/>
          </a:prstGeom>
        </p:spPr>
      </p:pic>
      <p:sp>
        <p:nvSpPr>
          <p:cNvPr id="830" name="textbox 830"/>
          <p:cNvSpPr/>
          <p:nvPr/>
        </p:nvSpPr>
        <p:spPr>
          <a:xfrm>
            <a:off x="4832006" y="2009227"/>
            <a:ext cx="2730341" cy="1766411"/>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2840"/>
              </a:lnSpc>
            </a:pPr>
            <a:r>
              <a:rPr sz="1650" kern="0" spc="-20" dirty="0">
                <a:solidFill>
                  <a:srgbClr val="000000">
                    <a:alpha val="100000"/>
                  </a:srgbClr>
                </a:solidFill>
                <a:latin typeface="Arial" panose="020B0604020202020204"/>
                <a:ea typeface="Arial" panose="020B0604020202020204"/>
                <a:cs typeface="Arial" panose="020B0604020202020204"/>
              </a:rPr>
              <a:t>•</a:t>
            </a:r>
            <a:r>
              <a:rPr sz="1650" kern="0" spc="90" dirty="0">
                <a:solidFill>
                  <a:srgbClr val="000000">
                    <a:alpha val="100000"/>
                  </a:srgbClr>
                </a:solidFill>
                <a:latin typeface="Arial" panose="020B0604020202020204"/>
                <a:ea typeface="Arial" panose="020B0604020202020204"/>
                <a:cs typeface="Arial" panose="020B0604020202020204"/>
              </a:rPr>
              <a:t>   </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需要什么类型的信息？</a:t>
            </a:r>
            <a:endParaRPr lang="en-US" altLang="en-US" sz="1650" dirty="0"/>
          </a:p>
          <a:p>
            <a:pPr algn="l" rtl="0" eaLnBrk="0">
              <a:lnSpc>
                <a:spcPct val="141000"/>
              </a:lnSpc>
            </a:pPr>
            <a:endParaRPr lang="en-US" altLang="en-US" sz="750" dirty="0"/>
          </a:p>
          <a:p>
            <a:pPr marL="12700" algn="l" rtl="0" eaLnBrk="0">
              <a:lnSpc>
                <a:spcPts val="2840"/>
              </a:lnSpc>
              <a:spcBef>
                <a:spcPts val="665"/>
              </a:spcBef>
            </a:pPr>
            <a:r>
              <a:rPr sz="1650" kern="0" spc="-20" dirty="0">
                <a:solidFill>
                  <a:srgbClr val="000000">
                    <a:alpha val="100000"/>
                  </a:srgbClr>
                </a:solidFill>
                <a:latin typeface="Arial" panose="020B0604020202020204"/>
                <a:ea typeface="Arial" panose="020B0604020202020204"/>
                <a:cs typeface="Arial" panose="020B0604020202020204"/>
              </a:rPr>
              <a:t>•</a:t>
            </a:r>
            <a:r>
              <a:rPr sz="1650" kern="0" spc="90" dirty="0">
                <a:solidFill>
                  <a:srgbClr val="000000">
                    <a:alpha val="100000"/>
                  </a:srgbClr>
                </a:solidFill>
                <a:latin typeface="Arial" panose="020B0604020202020204"/>
                <a:ea typeface="Arial" panose="020B0604020202020204"/>
                <a:cs typeface="Arial" panose="020B0604020202020204"/>
              </a:rPr>
              <a:t>   </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详尽程度和频率如何？</a:t>
            </a:r>
            <a:endParaRPr lang="en-US" altLang="en-US" sz="1650" dirty="0"/>
          </a:p>
          <a:p>
            <a:pPr algn="l" rtl="0" eaLnBrk="0">
              <a:lnSpc>
                <a:spcPct val="133000"/>
              </a:lnSpc>
            </a:pPr>
            <a:endParaRPr lang="en-US" altLang="en-US" sz="750" dirty="0"/>
          </a:p>
          <a:p>
            <a:pPr marL="12700" algn="l" rtl="0" eaLnBrk="0">
              <a:lnSpc>
                <a:spcPts val="2840"/>
              </a:lnSpc>
              <a:spcBef>
                <a:spcPts val="660"/>
              </a:spcBef>
            </a:pPr>
            <a:r>
              <a:rPr sz="1650" kern="0" spc="-20" dirty="0">
                <a:solidFill>
                  <a:srgbClr val="000000">
                    <a:alpha val="100000"/>
                  </a:srgbClr>
                </a:solidFill>
                <a:latin typeface="Arial" panose="020B0604020202020204"/>
                <a:ea typeface="Arial" panose="020B0604020202020204"/>
                <a:cs typeface="Arial" panose="020B0604020202020204"/>
              </a:rPr>
              <a:t>•</a:t>
            </a:r>
            <a:r>
              <a:rPr sz="1650" kern="0" spc="80" dirty="0">
                <a:solidFill>
                  <a:srgbClr val="000000">
                    <a:alpha val="100000"/>
                  </a:srgbClr>
                </a:solidFill>
                <a:latin typeface="Arial" panose="020B0604020202020204"/>
                <a:ea typeface="Arial" panose="020B0604020202020204"/>
                <a:cs typeface="Arial" panose="020B0604020202020204"/>
              </a:rPr>
              <a:t>   </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沟通的目标是什么？</a:t>
            </a:r>
            <a:endParaRPr lang="en-US" altLang="en-US" sz="1650" dirty="0"/>
          </a:p>
          <a:p>
            <a:pPr algn="l" rtl="0" eaLnBrk="0">
              <a:lnSpc>
                <a:spcPct val="141000"/>
              </a:lnSpc>
            </a:pPr>
            <a:endParaRPr lang="en-US" altLang="en-US" sz="750" dirty="0"/>
          </a:p>
          <a:p>
            <a:pPr algn="l" rtl="0" eaLnBrk="0">
              <a:lnSpc>
                <a:spcPct val="110000"/>
              </a:lnSpc>
            </a:pPr>
            <a:endParaRPr lang="en-US" altLang="en-US" sz="375" dirty="0"/>
          </a:p>
          <a:p>
            <a:pPr algn="r" rtl="0" eaLnBrk="0">
              <a:lnSpc>
                <a:spcPts val="2840"/>
              </a:lnSpc>
              <a:spcBef>
                <a:spcPts val="5"/>
              </a:spcBef>
            </a:pPr>
            <a:r>
              <a:rPr sz="1650" kern="0" spc="-60" dirty="0">
                <a:solidFill>
                  <a:srgbClr val="000000">
                    <a:alpha val="100000"/>
                  </a:srgbClr>
                </a:solidFill>
                <a:latin typeface="Arial" panose="020B0604020202020204"/>
                <a:ea typeface="Arial" panose="020B0604020202020204"/>
                <a:cs typeface="Arial" panose="020B0604020202020204"/>
              </a:rPr>
              <a:t>•</a:t>
            </a:r>
            <a:r>
              <a:rPr sz="1650" kern="0" spc="70" dirty="0">
                <a:solidFill>
                  <a:srgbClr val="000000">
                    <a:alpha val="100000"/>
                  </a:srgbClr>
                </a:solidFill>
                <a:latin typeface="Arial" panose="020B0604020202020204"/>
                <a:ea typeface="Arial" panose="020B0604020202020204"/>
                <a:cs typeface="Arial" panose="020B0604020202020204"/>
              </a:rPr>
              <a:t>   </a:t>
            </a:r>
            <a:r>
              <a:rPr sz="165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采用何种方式沟通比较好</a:t>
            </a:r>
            <a:r>
              <a:rPr sz="165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1650" dirty="0"/>
          </a:p>
        </p:txBody>
      </p:sp>
      <p:sp>
        <p:nvSpPr>
          <p:cNvPr id="832"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834" name="textbox 834"/>
          <p:cNvSpPr/>
          <p:nvPr/>
        </p:nvSpPr>
        <p:spPr>
          <a:xfrm>
            <a:off x="1168395" y="1341052"/>
            <a:ext cx="2748915" cy="475298"/>
          </a:xfrm>
          <a:prstGeom prst="rect">
            <a:avLst/>
          </a:prstGeom>
          <a:solidFill>
            <a:srgbClr val="EBEAEA"/>
          </a:solidFill>
        </p:spPr>
        <p:txBody>
          <a:bodyPr vert="horz" wrap="square" lIns="0" tIns="0" rIns="0" bIns="0"/>
          <a:lstStyle/>
          <a:p>
            <a:pPr algn="l" rtl="0" eaLnBrk="0">
              <a:lnSpc>
                <a:spcPct val="117000"/>
              </a:lnSpc>
            </a:pPr>
            <a:endParaRPr lang="en-US" altLang="en-US" sz="750" dirty="0"/>
          </a:p>
          <a:p>
            <a:pPr marL="313055" algn="l" rtl="0" eaLnBrk="0">
              <a:lnSpc>
                <a:spcPct val="91000"/>
              </a:lnSpc>
              <a:spcBef>
                <a:spcPts val="5"/>
              </a:spcBef>
            </a:pPr>
            <a:r>
              <a:rPr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与管理层和客户的沟通</a:t>
            </a:r>
            <a:endParaRPr lang="en-US" altLang="en-US" dirty="0"/>
          </a:p>
        </p:txBody>
      </p:sp>
      <p:sp>
        <p:nvSpPr>
          <p:cNvPr id="850" name="textbox 850"/>
          <p:cNvSpPr/>
          <p:nvPr/>
        </p:nvSpPr>
        <p:spPr>
          <a:xfrm>
            <a:off x="4832006" y="1523452"/>
            <a:ext cx="2520791" cy="290036"/>
          </a:xfrm>
          <a:prstGeom prst="rect">
            <a:avLst/>
          </a:prstGeom>
        </p:spPr>
        <p:txBody>
          <a:bodyPr vert="horz" wrap="square" lIns="0" tIns="0" rIns="0" bIns="0"/>
          <a:lstStyle/>
          <a:p>
            <a:pPr algn="l" rtl="0" eaLnBrk="0">
              <a:lnSpc>
                <a:spcPct val="83000"/>
              </a:lnSpc>
            </a:pPr>
            <a:endParaRPr lang="en-US" altLang="en-US" sz="100" dirty="0"/>
          </a:p>
          <a:p>
            <a:pPr algn="r" rtl="0" eaLnBrk="0">
              <a:lnSpc>
                <a:spcPts val="2840"/>
              </a:lnSpc>
            </a:pPr>
            <a:r>
              <a:rPr sz="1650" kern="0" spc="-70" dirty="0">
                <a:solidFill>
                  <a:srgbClr val="000000">
                    <a:alpha val="100000"/>
                  </a:srgbClr>
                </a:solidFill>
                <a:latin typeface="Arial" panose="020B0604020202020204"/>
                <a:ea typeface="Arial" panose="020B0604020202020204"/>
                <a:cs typeface="Arial" panose="020B0604020202020204"/>
              </a:rPr>
              <a:t>•</a:t>
            </a:r>
            <a:r>
              <a:rPr sz="1650" kern="0" spc="90" dirty="0">
                <a:solidFill>
                  <a:srgbClr val="000000">
                    <a:alpha val="100000"/>
                  </a:srgbClr>
                </a:solidFill>
                <a:latin typeface="Arial" panose="020B0604020202020204"/>
                <a:ea typeface="Arial" panose="020B0604020202020204"/>
                <a:cs typeface="Arial" panose="020B0604020202020204"/>
              </a:rPr>
              <a:t>   </a:t>
            </a:r>
            <a:r>
              <a:rPr sz="165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和谁进行沟通？为什么？</a:t>
            </a:r>
            <a:endParaRPr lang="en-US" altLang="en-US" sz="1650" dirty="0"/>
          </a:p>
        </p:txBody>
      </p:sp>
      <p:sp>
        <p:nvSpPr>
          <p:cNvPr id="2" name="标题 1"/>
          <p:cNvSpPr>
            <a:spLocks noGrp="1"/>
          </p:cNvSpPr>
          <p:nvPr>
            <p:ph type="title"/>
          </p:nvPr>
        </p:nvSpPr>
        <p:spPr/>
        <p:txBody>
          <a:bodyPr/>
          <a:lstStyle/>
          <a:p>
            <a:r>
              <a:rPr lang="zh-CN" altLang="en-US" dirty="0"/>
              <a:t>项目沟通管理</a:t>
            </a: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4" name="picture 854"/>
          <p:cNvPicPr>
            <a:picLocks noChangeAspect="1"/>
          </p:cNvPicPr>
          <p:nvPr/>
        </p:nvPicPr>
        <p:blipFill>
          <a:blip r:embed="rId1"/>
          <a:stretch>
            <a:fillRect/>
          </a:stretch>
        </p:blipFill>
        <p:spPr>
          <a:xfrm rot="21600000">
            <a:off x="1451090" y="1396998"/>
            <a:ext cx="2760647" cy="2590802"/>
          </a:xfrm>
          <a:prstGeom prst="rect">
            <a:avLst/>
          </a:prstGeom>
        </p:spPr>
      </p:pic>
      <p:sp>
        <p:nvSpPr>
          <p:cNvPr id="856" name="textbox 856"/>
          <p:cNvSpPr/>
          <p:nvPr/>
        </p:nvSpPr>
        <p:spPr>
          <a:xfrm>
            <a:off x="5176520" y="1628140"/>
            <a:ext cx="2611120" cy="2260600"/>
          </a:xfrm>
          <a:prstGeom prst="rect">
            <a:avLst/>
          </a:prstGeom>
        </p:spPr>
        <p:txBody>
          <a:bodyPr vert="horz" wrap="square" lIns="0" tIns="0" rIns="0" bIns="0"/>
          <a:lstStyle/>
          <a:p>
            <a:pPr algn="l" rtl="0" eaLnBrk="0">
              <a:lnSpc>
                <a:spcPct val="87000"/>
              </a:lnSpc>
            </a:pPr>
            <a:endParaRPr lang="en-US" altLang="en-US" sz="100" dirty="0"/>
          </a:p>
          <a:p>
            <a:pPr marL="12700" algn="l" rtl="0" eaLnBrk="0">
              <a:lnSpc>
                <a:spcPct val="91000"/>
              </a:lnSpc>
            </a:pPr>
            <a:r>
              <a:rPr kern="0" spc="-30" dirty="0">
                <a:solidFill>
                  <a:srgbClr val="000000">
                    <a:alpha val="100000"/>
                  </a:srgbClr>
                </a:solidFill>
                <a:latin typeface="Arial" panose="020B0604020202020204"/>
                <a:ea typeface="Arial" panose="020B0604020202020204"/>
                <a:cs typeface="Arial" panose="020B0604020202020204"/>
              </a:rPr>
              <a:t>•</a:t>
            </a:r>
            <a:r>
              <a:rPr kern="0" spc="300" dirty="0">
                <a:solidFill>
                  <a:srgbClr val="000000">
                    <a:alpha val="100000"/>
                  </a:srgbClr>
                </a:solidFill>
                <a:latin typeface="Arial" panose="020B0604020202020204"/>
                <a:ea typeface="Arial" panose="020B0604020202020204"/>
                <a:cs typeface="Arial" panose="020B0604020202020204"/>
              </a:rPr>
              <a:t>  </a:t>
            </a:r>
            <a:r>
              <a:rPr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项目启动会议</a:t>
            </a:r>
            <a:endParaRPr lang="en-US" altLang="en-US" dirty="0"/>
          </a:p>
          <a:p>
            <a:pPr algn="l" rtl="0" eaLnBrk="0">
              <a:lnSpc>
                <a:spcPct val="157000"/>
              </a:lnSpc>
            </a:pPr>
            <a:endParaRPr lang="en-US" altLang="en-US" sz="750" dirty="0"/>
          </a:p>
          <a:p>
            <a:pPr marL="12700" algn="l" rtl="0" eaLnBrk="0">
              <a:lnSpc>
                <a:spcPct val="90000"/>
              </a:lnSpc>
              <a:spcBef>
                <a:spcPts val="725"/>
              </a:spcBef>
            </a:pPr>
            <a:r>
              <a:rPr kern="0" spc="-30" dirty="0">
                <a:solidFill>
                  <a:srgbClr val="000000">
                    <a:alpha val="100000"/>
                  </a:srgbClr>
                </a:solidFill>
                <a:latin typeface="Arial" panose="020B0604020202020204"/>
                <a:ea typeface="Arial" panose="020B0604020202020204"/>
                <a:cs typeface="Arial" panose="020B0604020202020204"/>
              </a:rPr>
              <a:t>•</a:t>
            </a:r>
            <a:r>
              <a:rPr kern="0" spc="300" dirty="0">
                <a:solidFill>
                  <a:srgbClr val="000000">
                    <a:alpha val="100000"/>
                  </a:srgbClr>
                </a:solidFill>
                <a:latin typeface="Arial" panose="020B0604020202020204"/>
                <a:ea typeface="Arial" panose="020B0604020202020204"/>
                <a:cs typeface="Arial" panose="020B0604020202020204"/>
              </a:rPr>
              <a:t>  </a:t>
            </a:r>
            <a:r>
              <a:rPr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项目计划会议</a:t>
            </a:r>
            <a:endParaRPr lang="en-US" altLang="en-US" dirty="0"/>
          </a:p>
          <a:p>
            <a:pPr algn="l" rtl="0" eaLnBrk="0">
              <a:lnSpc>
                <a:spcPct val="157000"/>
              </a:lnSpc>
            </a:pPr>
            <a:endParaRPr lang="en-US" altLang="en-US" sz="750" dirty="0"/>
          </a:p>
          <a:p>
            <a:pPr marL="12700" algn="l" rtl="0" eaLnBrk="0">
              <a:lnSpc>
                <a:spcPct val="90000"/>
              </a:lnSpc>
              <a:spcBef>
                <a:spcPts val="725"/>
              </a:spcBef>
            </a:pPr>
            <a:r>
              <a:rPr kern="0" spc="-20" dirty="0">
                <a:solidFill>
                  <a:srgbClr val="000000">
                    <a:alpha val="100000"/>
                  </a:srgbClr>
                </a:solidFill>
                <a:latin typeface="Arial" panose="020B0604020202020204"/>
                <a:ea typeface="Arial" panose="020B0604020202020204"/>
                <a:cs typeface="Arial" panose="020B0604020202020204"/>
              </a:rPr>
              <a:t>•</a:t>
            </a:r>
            <a:r>
              <a:rPr kern="0" spc="280" dirty="0">
                <a:solidFill>
                  <a:srgbClr val="000000">
                    <a:alpha val="100000"/>
                  </a:srgbClr>
                </a:solidFill>
                <a:latin typeface="Arial" panose="020B0604020202020204"/>
                <a:ea typeface="Arial" panose="020B0604020202020204"/>
                <a:cs typeface="Arial" panose="020B0604020202020204"/>
              </a:rPr>
              <a:t>  </a:t>
            </a:r>
            <a:r>
              <a:rPr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项目阶段进展会议</a:t>
            </a:r>
            <a:endParaRPr lang="en-US" altLang="en-US" dirty="0"/>
          </a:p>
          <a:p>
            <a:pPr algn="l" rtl="0" eaLnBrk="0">
              <a:lnSpc>
                <a:spcPct val="154000"/>
              </a:lnSpc>
            </a:pPr>
            <a:endParaRPr lang="en-US" altLang="en-US" sz="750" dirty="0"/>
          </a:p>
          <a:p>
            <a:pPr marL="12700" algn="l" rtl="0" eaLnBrk="0">
              <a:lnSpc>
                <a:spcPct val="91000"/>
              </a:lnSpc>
              <a:spcBef>
                <a:spcPts val="730"/>
              </a:spcBef>
            </a:pPr>
            <a:r>
              <a:rPr kern="0" spc="-20" dirty="0">
                <a:solidFill>
                  <a:srgbClr val="000000">
                    <a:alpha val="100000"/>
                  </a:srgbClr>
                </a:solidFill>
                <a:latin typeface="Arial" panose="020B0604020202020204"/>
                <a:ea typeface="Arial" panose="020B0604020202020204"/>
                <a:cs typeface="Arial" panose="020B0604020202020204"/>
              </a:rPr>
              <a:t>•</a:t>
            </a:r>
            <a:r>
              <a:rPr kern="0" spc="280" dirty="0">
                <a:solidFill>
                  <a:srgbClr val="000000">
                    <a:alpha val="100000"/>
                  </a:srgbClr>
                </a:solidFill>
                <a:latin typeface="Arial" panose="020B0604020202020204"/>
                <a:ea typeface="Arial" panose="020B0604020202020204"/>
                <a:cs typeface="Arial" panose="020B0604020202020204"/>
              </a:rPr>
              <a:t>  </a:t>
            </a:r>
            <a:r>
              <a:rPr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项目技术评审会议</a:t>
            </a:r>
            <a:endParaRPr lang="en-US" altLang="en-US" dirty="0"/>
          </a:p>
          <a:p>
            <a:pPr algn="l" rtl="0" eaLnBrk="0">
              <a:lnSpc>
                <a:spcPct val="163000"/>
              </a:lnSpc>
            </a:pPr>
            <a:endParaRPr lang="en-US" altLang="en-US" sz="750" dirty="0"/>
          </a:p>
          <a:p>
            <a:pPr algn="l" rtl="0" eaLnBrk="0">
              <a:lnSpc>
                <a:spcPct val="100000"/>
              </a:lnSpc>
            </a:pPr>
            <a:endParaRPr lang="en-US" altLang="en-US" sz="450" dirty="0"/>
          </a:p>
          <a:p>
            <a:pPr marL="12700" algn="l" rtl="0" eaLnBrk="0">
              <a:lnSpc>
                <a:spcPct val="91000"/>
              </a:lnSpc>
              <a:spcBef>
                <a:spcPts val="5"/>
              </a:spcBef>
            </a:pPr>
            <a:r>
              <a:rPr kern="0" spc="-20" dirty="0">
                <a:solidFill>
                  <a:srgbClr val="000000">
                    <a:alpha val="100000"/>
                  </a:srgbClr>
                </a:solidFill>
                <a:latin typeface="Arial" panose="020B0604020202020204"/>
                <a:ea typeface="Arial" panose="020B0604020202020204"/>
                <a:cs typeface="Arial" panose="020B0604020202020204"/>
              </a:rPr>
              <a:t>•</a:t>
            </a:r>
            <a:r>
              <a:rPr kern="0" spc="270" dirty="0">
                <a:solidFill>
                  <a:srgbClr val="000000">
                    <a:alpha val="100000"/>
                  </a:srgbClr>
                </a:solidFill>
                <a:latin typeface="Arial" panose="020B0604020202020204"/>
                <a:ea typeface="Arial" panose="020B0604020202020204"/>
                <a:cs typeface="Arial" panose="020B0604020202020204"/>
              </a:rPr>
              <a:t>  </a:t>
            </a:r>
            <a:r>
              <a:rPr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项目组内部会议</a:t>
            </a:r>
            <a:endParaRPr lang="en-US" altLang="en-US" dirty="0"/>
          </a:p>
        </p:txBody>
      </p:sp>
      <p:sp>
        <p:nvSpPr>
          <p:cNvPr id="858"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2" name="标题 1"/>
          <p:cNvSpPr>
            <a:spLocks noGrp="1"/>
          </p:cNvSpPr>
          <p:nvPr>
            <p:ph type="title"/>
          </p:nvPr>
        </p:nvSpPr>
        <p:spPr/>
        <p:txBody>
          <a:bodyPr/>
          <a:lstStyle/>
          <a:p>
            <a:r>
              <a:rPr lang="zh-CN" altLang="en-US" dirty="0"/>
              <a:t>项目会议</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textbox 876"/>
          <p:cNvSpPr/>
          <p:nvPr/>
        </p:nvSpPr>
        <p:spPr>
          <a:xfrm>
            <a:off x="877570" y="828675"/>
            <a:ext cx="7720330" cy="3287395"/>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2840"/>
              </a:lnSpc>
            </a:pPr>
            <a:r>
              <a:rPr sz="1650" kern="0" spc="0" dirty="0">
                <a:solidFill>
                  <a:srgbClr val="3300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项目启动会议（至关</a:t>
            </a:r>
            <a:r>
              <a:rPr sz="1650" kern="0" spc="-10" dirty="0">
                <a:solidFill>
                  <a:srgbClr val="3300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重要</a:t>
            </a:r>
            <a:r>
              <a:rPr sz="1650" kern="0" spc="-10" dirty="0">
                <a:solidFill>
                  <a:srgbClr val="442A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1650" dirty="0"/>
          </a:p>
          <a:p>
            <a:pPr marL="114300" algn="l" rtl="0" eaLnBrk="0">
              <a:lnSpc>
                <a:spcPct val="90000"/>
              </a:lnSpc>
              <a:spcBef>
                <a:spcPts val="1690"/>
              </a:spcBef>
            </a:pPr>
            <a:r>
              <a:rPr sz="1650" kern="0" spc="-50" dirty="0">
                <a:solidFill>
                  <a:srgbClr val="000000">
                    <a:alpha val="100000"/>
                  </a:srgbClr>
                </a:solidFill>
                <a:latin typeface="Arial" panose="020B0604020202020204"/>
                <a:ea typeface="Arial" panose="020B0604020202020204"/>
                <a:cs typeface="Arial" panose="020B0604020202020204"/>
              </a:rPr>
              <a:t>.</a:t>
            </a:r>
            <a:r>
              <a:rPr sz="1650" kern="0" spc="220" dirty="0">
                <a:solidFill>
                  <a:srgbClr val="000000">
                    <a:alpha val="100000"/>
                  </a:srgbClr>
                </a:solidFill>
                <a:latin typeface="Arial" panose="020B0604020202020204"/>
                <a:ea typeface="Arial" panose="020B0604020202020204"/>
                <a:cs typeface="Arial" panose="020B0604020202020204"/>
              </a:rPr>
              <a:t>  </a:t>
            </a:r>
            <a:r>
              <a:rPr sz="16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目标</a:t>
            </a:r>
            <a:endParaRPr lang="en-US" altLang="en-US" sz="1650" dirty="0"/>
          </a:p>
          <a:p>
            <a:pPr marL="488950" algn="l" rtl="0" eaLnBrk="0">
              <a:lnSpc>
                <a:spcPct val="91000"/>
              </a:lnSpc>
              <a:spcBef>
                <a:spcPts val="1095"/>
              </a:spcBef>
            </a:pPr>
            <a:r>
              <a:rPr sz="16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项目概况 ：范围与目标、总体进度、方法和程序</a:t>
            </a:r>
            <a:endParaRPr lang="en-US" altLang="en-US" sz="1650" dirty="0"/>
          </a:p>
          <a:p>
            <a:pPr marL="488950" algn="l" rtl="0" eaLnBrk="0">
              <a:lnSpc>
                <a:spcPct val="91000"/>
              </a:lnSpc>
              <a:spcBef>
                <a:spcPts val="500"/>
              </a:spcBef>
            </a:pP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确定项目人员的</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角色和任务</a:t>
            </a:r>
            <a:endParaRPr lang="en-US" altLang="en-US" sz="1650" dirty="0"/>
          </a:p>
          <a:p>
            <a:pPr marL="488950" algn="l" rtl="0" eaLnBrk="0">
              <a:lnSpc>
                <a:spcPct val="91000"/>
              </a:lnSpc>
              <a:spcBef>
                <a:spcPts val="500"/>
              </a:spcBef>
            </a:pP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确立团队的工作模式</a:t>
            </a:r>
            <a:endParaRPr lang="en-US" altLang="en-US" sz="1650" dirty="0"/>
          </a:p>
          <a:p>
            <a:pPr marL="114300" algn="l" rtl="0" eaLnBrk="0">
              <a:lnSpc>
                <a:spcPct val="91000"/>
              </a:lnSpc>
              <a:spcBef>
                <a:spcPts val="1695"/>
              </a:spcBef>
            </a:pPr>
            <a:r>
              <a:rPr sz="1650" kern="0" spc="0" dirty="0">
                <a:solidFill>
                  <a:srgbClr val="000000">
                    <a:alpha val="100000"/>
                  </a:srgbClr>
                </a:solidFill>
                <a:latin typeface="Arial" panose="020B0604020202020204"/>
                <a:ea typeface="Arial" panose="020B0604020202020204"/>
                <a:cs typeface="Arial" panose="020B0604020202020204"/>
              </a:rPr>
              <a:t>.</a:t>
            </a:r>
            <a:r>
              <a:rPr sz="1650" kern="0" spc="70" dirty="0">
                <a:solidFill>
                  <a:srgbClr val="000000">
                    <a:alpha val="100000"/>
                  </a:srgbClr>
                </a:solidFill>
                <a:latin typeface="Arial" panose="020B0604020202020204"/>
                <a:ea typeface="Arial" panose="020B0604020202020204"/>
                <a:cs typeface="Arial" panose="020B0604020202020204"/>
              </a:rPr>
              <a:t>  </a:t>
            </a: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形式</a:t>
            </a:r>
            <a:endPar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4300" indent="457200" algn="l" rtl="0" eaLnBrk="0">
              <a:lnSpc>
                <a:spcPct val="91000"/>
              </a:lnSpc>
              <a:spcBef>
                <a:spcPts val="1695"/>
              </a:spcBef>
            </a:pP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重大项目 ：精心准备、集中</a:t>
            </a:r>
            <a:r>
              <a:rPr sz="1650" kern="0" spc="-20" dirty="0">
                <a:solidFill>
                  <a:srgbClr val="000000">
                    <a:alpha val="100000"/>
                  </a:srgbClr>
                </a:solidFill>
                <a:latin typeface="Arial" panose="020B0604020202020204"/>
                <a:ea typeface="Arial" panose="020B0604020202020204"/>
                <a:cs typeface="Arial" panose="020B0604020202020204"/>
              </a:rPr>
              <a:t>1</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650" kern="0" spc="-20" dirty="0">
                <a:solidFill>
                  <a:srgbClr val="000000">
                    <a:alpha val="100000"/>
                  </a:srgbClr>
                </a:solidFill>
                <a:latin typeface="Arial" panose="020B0604020202020204"/>
                <a:ea typeface="Arial" panose="020B0604020202020204"/>
                <a:cs typeface="Arial" panose="020B0604020202020204"/>
              </a:rPr>
              <a:t>2 </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天；前期介绍与建</a:t>
            </a:r>
            <a:r>
              <a:rPr sz="16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立基本规则</a:t>
            </a:r>
            <a:endParaRPr lang="en-US" altLang="en-US" sz="1650" dirty="0"/>
          </a:p>
          <a:p>
            <a:pPr marL="488950" algn="l" rtl="0" eaLnBrk="0">
              <a:lnSpc>
                <a:spcPct val="83000"/>
              </a:lnSpc>
              <a:spcBef>
                <a:spcPts val="505"/>
              </a:spcBef>
            </a:pP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一般项目 ：简单有效；回顾项</a:t>
            </a:r>
            <a:r>
              <a:rPr sz="16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目范围与成员互相自我介绍</a:t>
            </a:r>
            <a:endParaRPr lang="en-US" altLang="en-US" sz="1650" dirty="0"/>
          </a:p>
          <a:p>
            <a:pPr marL="114300" algn="l" rtl="0" eaLnBrk="0">
              <a:lnSpc>
                <a:spcPts val="4080"/>
              </a:lnSpc>
            </a:pPr>
            <a:r>
              <a:rPr sz="1650" kern="0" spc="0" dirty="0">
                <a:solidFill>
                  <a:srgbClr val="000000">
                    <a:alpha val="100000"/>
                  </a:srgbClr>
                </a:solidFill>
                <a:latin typeface="Arial" panose="020B0604020202020204"/>
                <a:ea typeface="Arial" panose="020B0604020202020204"/>
                <a:cs typeface="Arial" panose="020B0604020202020204"/>
              </a:rPr>
              <a:t>.</a:t>
            </a:r>
            <a:r>
              <a:rPr sz="1650" kern="0" spc="70" dirty="0">
                <a:solidFill>
                  <a:srgbClr val="000000">
                    <a:alpha val="100000"/>
                  </a:srgbClr>
                </a:solidFill>
                <a:latin typeface="Arial" panose="020B0604020202020204"/>
                <a:ea typeface="Arial" panose="020B0604020202020204"/>
                <a:cs typeface="Arial" panose="020B0604020202020204"/>
              </a:rPr>
              <a:t>  </a:t>
            </a: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建立基本规则</a:t>
            </a:r>
            <a:endParaRPr lang="en-US" altLang="en-US" sz="1650" dirty="0"/>
          </a:p>
          <a:p>
            <a:pPr algn="l" rtl="0" eaLnBrk="0">
              <a:lnSpc>
                <a:spcPct val="100000"/>
              </a:lnSpc>
            </a:pPr>
            <a:endParaRPr lang="en-US" altLang="en-US" sz="825" dirty="0"/>
          </a:p>
          <a:p>
            <a:pPr marL="488950" algn="l" rtl="0" eaLnBrk="0">
              <a:lnSpc>
                <a:spcPct val="91000"/>
              </a:lnSpc>
              <a:spcBef>
                <a:spcPts val="0"/>
              </a:spcBef>
            </a:pP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计划决策、追踪决策、管理变动决策、</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关系决策</a:t>
            </a:r>
            <a:endParaRPr lang="en-US" altLang="en-US" sz="1650" dirty="0"/>
          </a:p>
        </p:txBody>
      </p:sp>
      <p:sp>
        <p:nvSpPr>
          <p:cNvPr id="878"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2" name="标题 1"/>
          <p:cNvSpPr>
            <a:spLocks noGrp="1"/>
          </p:cNvSpPr>
          <p:nvPr>
            <p:ph type="title"/>
          </p:nvPr>
        </p:nvSpPr>
        <p:spPr/>
        <p:txBody>
          <a:bodyPr/>
          <a:p>
            <a:r>
              <a:rPr lang="zh-CN" altLang="en-US" dirty="0"/>
              <a:t>项目会议</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 name="textbox 896"/>
          <p:cNvSpPr/>
          <p:nvPr/>
        </p:nvSpPr>
        <p:spPr>
          <a:xfrm>
            <a:off x="959252" y="980992"/>
            <a:ext cx="4624388" cy="3528536"/>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2840"/>
              </a:lnSpc>
            </a:pPr>
            <a:r>
              <a:rPr sz="1650" kern="0" spc="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项目计划会议（通常在每一阶段开</a:t>
            </a:r>
            <a:r>
              <a:rPr sz="1650"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始时</a:t>
            </a:r>
            <a:r>
              <a:rPr sz="1650" kern="0" spc="-10" dirty="0">
                <a:solidFill>
                  <a:srgbClr val="004D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1650" dirty="0"/>
          </a:p>
          <a:p>
            <a:pPr marL="25400" algn="l" rtl="0" eaLnBrk="0">
              <a:lnSpc>
                <a:spcPct val="91000"/>
              </a:lnSpc>
              <a:spcBef>
                <a:spcPts val="1360"/>
              </a:spcBef>
            </a:pPr>
            <a:r>
              <a:rPr sz="1650" kern="0" spc="0" dirty="0">
                <a:solidFill>
                  <a:srgbClr val="000000">
                    <a:alpha val="100000"/>
                  </a:srgbClr>
                </a:solidFill>
                <a:latin typeface="Arial" panose="020B0604020202020204"/>
                <a:ea typeface="Arial" panose="020B0604020202020204"/>
                <a:cs typeface="Arial" panose="020B0604020202020204"/>
              </a:rPr>
              <a:t>•  </a:t>
            </a: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制定当前阶段的项目计划</a:t>
            </a:r>
            <a:endParaRPr lang="en-US" altLang="en-US" sz="1650" dirty="0"/>
          </a:p>
          <a:p>
            <a:pPr marL="25400" algn="l" rtl="0" eaLnBrk="0">
              <a:lnSpc>
                <a:spcPct val="91000"/>
              </a:lnSpc>
              <a:spcBef>
                <a:spcPts val="800"/>
              </a:spcBef>
            </a:pPr>
            <a:r>
              <a:rPr sz="1650" kern="0" spc="0" dirty="0">
                <a:solidFill>
                  <a:srgbClr val="000000">
                    <a:alpha val="100000"/>
                  </a:srgbClr>
                </a:solidFill>
                <a:latin typeface="Arial" panose="020B0604020202020204"/>
                <a:ea typeface="Arial" panose="020B0604020202020204"/>
                <a:cs typeface="Arial" panose="020B0604020202020204"/>
              </a:rPr>
              <a:t>•  </a:t>
            </a: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将工作任务明确分配给项目成员</a:t>
            </a:r>
            <a:endParaRPr lang="en-US" altLang="en-US" sz="1650" dirty="0"/>
          </a:p>
          <a:p>
            <a:pPr algn="l" rtl="0" eaLnBrk="0">
              <a:lnSpc>
                <a:spcPct val="105000"/>
              </a:lnSpc>
            </a:pPr>
            <a:endParaRPr lang="en-US" altLang="en-US" sz="750" dirty="0"/>
          </a:p>
          <a:p>
            <a:pPr marL="12700" algn="l" rtl="0" eaLnBrk="0">
              <a:lnSpc>
                <a:spcPts val="2840"/>
              </a:lnSpc>
              <a:spcBef>
                <a:spcPts val="665"/>
              </a:spcBef>
            </a:pPr>
            <a:r>
              <a:rPr sz="1650" kern="0" spc="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项目阶段进展会议（每月或每季度</a:t>
            </a:r>
            <a:r>
              <a:rPr sz="1650"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一次</a:t>
            </a:r>
            <a:r>
              <a:rPr sz="1650" kern="0" spc="-10" dirty="0">
                <a:solidFill>
                  <a:srgbClr val="004D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1650" dirty="0"/>
          </a:p>
          <a:p>
            <a:pPr marL="25400" algn="l" rtl="0" eaLnBrk="0">
              <a:lnSpc>
                <a:spcPct val="91000"/>
              </a:lnSpc>
              <a:spcBef>
                <a:spcPts val="1360"/>
              </a:spcBef>
            </a:pPr>
            <a:r>
              <a:rPr sz="1650" kern="0" spc="-20" dirty="0">
                <a:solidFill>
                  <a:srgbClr val="000000">
                    <a:alpha val="100000"/>
                  </a:srgbClr>
                </a:solidFill>
                <a:latin typeface="Arial" panose="020B0604020202020204"/>
                <a:ea typeface="Arial" panose="020B0604020202020204"/>
                <a:cs typeface="Arial" panose="020B0604020202020204"/>
              </a:rPr>
              <a:t>•</a:t>
            </a:r>
            <a:r>
              <a:rPr sz="1650" kern="0" spc="210" dirty="0">
                <a:solidFill>
                  <a:srgbClr val="000000">
                    <a:alpha val="100000"/>
                  </a:srgbClr>
                </a:solidFill>
                <a:latin typeface="Arial" panose="020B0604020202020204"/>
                <a:ea typeface="Arial" panose="020B0604020202020204"/>
                <a:cs typeface="Arial" panose="020B0604020202020204"/>
              </a:rPr>
              <a:t>  </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向项目干系人和高层管理者汇报项目进展</a:t>
            </a:r>
            <a:endParaRPr lang="en-US" altLang="en-US" sz="1650" dirty="0"/>
          </a:p>
          <a:p>
            <a:pPr marL="25400" algn="l" rtl="0" eaLnBrk="0">
              <a:lnSpc>
                <a:spcPct val="91000"/>
              </a:lnSpc>
              <a:spcBef>
                <a:spcPts val="795"/>
              </a:spcBef>
            </a:pPr>
            <a:r>
              <a:rPr sz="1650" kern="0" spc="0" dirty="0">
                <a:solidFill>
                  <a:srgbClr val="000000">
                    <a:alpha val="100000"/>
                  </a:srgbClr>
                </a:solidFill>
                <a:latin typeface="Arial" panose="020B0604020202020204"/>
                <a:ea typeface="Arial" panose="020B0604020202020204"/>
                <a:cs typeface="Arial" panose="020B0604020202020204"/>
              </a:rPr>
              <a:t>•  </a:t>
            </a: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解决需要高层管理者支持的问题</a:t>
            </a:r>
            <a:endParaRPr lang="en-US" altLang="en-US" sz="1650" dirty="0"/>
          </a:p>
          <a:p>
            <a:pPr algn="l" rtl="0" eaLnBrk="0">
              <a:lnSpc>
                <a:spcPct val="127000"/>
              </a:lnSpc>
            </a:pPr>
            <a:endParaRPr lang="en-US" altLang="en-US" sz="750" dirty="0"/>
          </a:p>
          <a:p>
            <a:pPr marL="12700" algn="l" rtl="0" eaLnBrk="0">
              <a:lnSpc>
                <a:spcPts val="2840"/>
              </a:lnSpc>
              <a:spcBef>
                <a:spcPts val="670"/>
              </a:spcBef>
            </a:pPr>
            <a:r>
              <a:rPr sz="1650" kern="0" spc="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项目组工作例会（每日或每周</a:t>
            </a:r>
            <a:r>
              <a:rPr sz="1650"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一次</a:t>
            </a:r>
            <a:r>
              <a:rPr sz="1650" kern="0" spc="-10" dirty="0">
                <a:solidFill>
                  <a:srgbClr val="004D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1650" dirty="0"/>
          </a:p>
          <a:p>
            <a:pPr marL="25400" algn="l" rtl="0" eaLnBrk="0">
              <a:lnSpc>
                <a:spcPct val="90000"/>
              </a:lnSpc>
              <a:spcBef>
                <a:spcPts val="1390"/>
              </a:spcBef>
            </a:pPr>
            <a:r>
              <a:rPr sz="1650" kern="0" spc="0" dirty="0">
                <a:solidFill>
                  <a:srgbClr val="000000">
                    <a:alpha val="100000"/>
                  </a:srgbClr>
                </a:solidFill>
                <a:latin typeface="Arial" panose="020B0604020202020204"/>
                <a:ea typeface="Arial" panose="020B0604020202020204"/>
                <a:cs typeface="Arial" panose="020B0604020202020204"/>
              </a:rPr>
              <a:t>•  </a:t>
            </a: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通报项目组成员的工作进展</a:t>
            </a:r>
            <a:endParaRPr lang="en-US" altLang="en-US" sz="1650" dirty="0"/>
          </a:p>
          <a:p>
            <a:pPr marL="25400" algn="l" rtl="0" eaLnBrk="0">
              <a:lnSpc>
                <a:spcPct val="91000"/>
              </a:lnSpc>
              <a:spcBef>
                <a:spcPts val="800"/>
              </a:spcBef>
            </a:pPr>
            <a:r>
              <a:rPr sz="1650" kern="0" spc="-20" dirty="0">
                <a:solidFill>
                  <a:srgbClr val="000000">
                    <a:alpha val="100000"/>
                  </a:srgbClr>
                </a:solidFill>
                <a:latin typeface="Arial" panose="020B0604020202020204"/>
                <a:ea typeface="Arial" panose="020B0604020202020204"/>
                <a:cs typeface="Arial" panose="020B0604020202020204"/>
              </a:rPr>
              <a:t>•  </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了解成员在工作中遇到的</a:t>
            </a:r>
            <a:r>
              <a:rPr sz="16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困难 ，并寻找资源解决</a:t>
            </a:r>
            <a:endParaRPr lang="en-US" altLang="en-US" sz="1650" dirty="0"/>
          </a:p>
          <a:p>
            <a:pPr algn="l" rtl="0" eaLnBrk="0">
              <a:lnSpc>
                <a:spcPct val="106000"/>
              </a:lnSpc>
            </a:pPr>
            <a:endParaRPr lang="en-US" altLang="en-US" sz="525" dirty="0"/>
          </a:p>
          <a:p>
            <a:pPr algn="l" rtl="0" eaLnBrk="0">
              <a:lnSpc>
                <a:spcPct val="6000"/>
              </a:lnSpc>
            </a:pPr>
            <a:endParaRPr lang="en-US" altLang="en-US" sz="100" dirty="0"/>
          </a:p>
          <a:p>
            <a:pPr marL="25400" algn="l" rtl="0" eaLnBrk="0">
              <a:lnSpc>
                <a:spcPct val="91000"/>
              </a:lnSpc>
            </a:pPr>
            <a:r>
              <a:rPr sz="1650" kern="0" spc="0" dirty="0">
                <a:solidFill>
                  <a:srgbClr val="000000">
                    <a:alpha val="100000"/>
                  </a:srgbClr>
                </a:solidFill>
                <a:latin typeface="Arial" panose="020B0604020202020204"/>
                <a:ea typeface="Arial" panose="020B0604020202020204"/>
                <a:cs typeface="Arial" panose="020B0604020202020204"/>
              </a:rPr>
              <a:t>•  </a:t>
            </a: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确定后续的工作计划</a:t>
            </a:r>
            <a:endParaRPr lang="en-US" altLang="en-US" sz="1650" dirty="0"/>
          </a:p>
        </p:txBody>
      </p:sp>
      <p:pic>
        <p:nvPicPr>
          <p:cNvPr id="898" name="picture 898"/>
          <p:cNvPicPr>
            <a:picLocks noChangeAspect="1"/>
          </p:cNvPicPr>
          <p:nvPr/>
        </p:nvPicPr>
        <p:blipFill>
          <a:blip r:embed="rId1"/>
          <a:stretch>
            <a:fillRect/>
          </a:stretch>
        </p:blipFill>
        <p:spPr>
          <a:xfrm rot="21600000">
            <a:off x="5913833" y="1898841"/>
            <a:ext cx="2122130" cy="1832111"/>
          </a:xfrm>
          <a:prstGeom prst="rect">
            <a:avLst/>
          </a:prstGeom>
        </p:spPr>
      </p:pic>
      <p:sp>
        <p:nvSpPr>
          <p:cNvPr id="900"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2" name="标题 1"/>
          <p:cNvSpPr>
            <a:spLocks noGrp="1"/>
          </p:cNvSpPr>
          <p:nvPr>
            <p:ph type="title"/>
          </p:nvPr>
        </p:nvSpPr>
        <p:spPr/>
        <p:txBody>
          <a:bodyPr/>
          <a:p>
            <a:r>
              <a:rPr lang="zh-CN" altLang="en-US" dirty="0"/>
              <a:t>项目会议</a:t>
            </a: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8" name="textbox 918"/>
          <p:cNvSpPr/>
          <p:nvPr/>
        </p:nvSpPr>
        <p:spPr>
          <a:xfrm>
            <a:off x="867103" y="979564"/>
            <a:ext cx="5503544" cy="3563303"/>
          </a:xfrm>
          <a:prstGeom prst="rect">
            <a:avLst/>
          </a:prstGeom>
        </p:spPr>
        <p:txBody>
          <a:bodyPr vert="horz" wrap="square" lIns="0" tIns="0" rIns="0" bIns="0"/>
          <a:lstStyle/>
          <a:p>
            <a:pPr algn="l" rtl="0" eaLnBrk="0">
              <a:lnSpc>
                <a:spcPct val="90000"/>
              </a:lnSpc>
            </a:pPr>
            <a:endParaRPr lang="en-US" altLang="en-US" sz="100" dirty="0"/>
          </a:p>
          <a:p>
            <a:pPr marL="24130" algn="l" rtl="0" eaLnBrk="0">
              <a:lnSpc>
                <a:spcPct val="90000"/>
              </a:lnSpc>
            </a:pPr>
            <a:r>
              <a:rPr sz="1500"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三星公司开会的三个原</a:t>
            </a:r>
            <a:r>
              <a:rPr sz="1500" kern="0" spc="-2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则 </a:t>
            </a:r>
            <a:r>
              <a:rPr sz="1500" kern="0" spc="-20" dirty="0">
                <a:solidFill>
                  <a:srgbClr val="004D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1500" dirty="0"/>
          </a:p>
          <a:p>
            <a:pPr marL="44450" algn="l" rtl="0" eaLnBrk="0">
              <a:lnSpc>
                <a:spcPct val="89000"/>
              </a:lnSpc>
              <a:spcBef>
                <a:spcPts val="1465"/>
              </a:spcBef>
            </a:pPr>
            <a:r>
              <a:rPr sz="1500" kern="0" spc="-40" dirty="0">
                <a:solidFill>
                  <a:srgbClr val="000000">
                    <a:alpha val="100000"/>
                  </a:srgbClr>
                </a:solidFill>
                <a:latin typeface="Arial" panose="020B0604020202020204"/>
                <a:ea typeface="Arial" panose="020B0604020202020204"/>
                <a:cs typeface="Arial" panose="020B0604020202020204"/>
              </a:rPr>
              <a:t>1.</a:t>
            </a:r>
            <a:r>
              <a:rPr sz="1500" kern="0" spc="70" dirty="0">
                <a:solidFill>
                  <a:srgbClr val="000000">
                    <a:alpha val="100000"/>
                  </a:srgbClr>
                </a:solidFill>
                <a:latin typeface="Arial" panose="020B0604020202020204"/>
                <a:ea typeface="Arial" panose="020B0604020202020204"/>
                <a:cs typeface="Arial" panose="020B0604020202020204"/>
              </a:rPr>
              <a:t>   </a:t>
            </a:r>
            <a:r>
              <a:rPr sz="15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周三不开会；</a:t>
            </a:r>
            <a:endParaRPr lang="en-US" altLang="en-US" sz="1500" dirty="0"/>
          </a:p>
          <a:p>
            <a:pPr marL="24130" algn="l" rtl="0" eaLnBrk="0">
              <a:lnSpc>
                <a:spcPct val="82000"/>
              </a:lnSpc>
              <a:spcBef>
                <a:spcPts val="835"/>
              </a:spcBef>
            </a:pPr>
            <a:r>
              <a:rPr sz="1500" kern="0" spc="-20" dirty="0">
                <a:solidFill>
                  <a:srgbClr val="000000">
                    <a:alpha val="100000"/>
                  </a:srgbClr>
                </a:solidFill>
                <a:latin typeface="Arial" panose="020B0604020202020204"/>
                <a:ea typeface="Arial" panose="020B0604020202020204"/>
                <a:cs typeface="Arial" panose="020B0604020202020204"/>
              </a:rPr>
              <a:t>2.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会议时长</a:t>
            </a:r>
            <a:r>
              <a:rPr sz="1500" kern="0" spc="-20" dirty="0">
                <a:solidFill>
                  <a:srgbClr val="000000">
                    <a:alpha val="100000"/>
                  </a:srgbClr>
                </a:solidFill>
                <a:latin typeface="Arial" panose="020B0604020202020204"/>
                <a:ea typeface="Arial" panose="020B0604020202020204"/>
                <a:cs typeface="Arial" panose="020B0604020202020204"/>
              </a:rPr>
              <a:t>1</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小时 ，最多不超过</a:t>
            </a:r>
            <a:r>
              <a:rPr sz="1500" kern="0" spc="-20" dirty="0">
                <a:solidFill>
                  <a:srgbClr val="000000">
                    <a:alpha val="100000"/>
                  </a:srgbClr>
                </a:solidFill>
                <a:latin typeface="Arial" panose="020B0604020202020204"/>
                <a:ea typeface="Arial" panose="020B0604020202020204"/>
                <a:cs typeface="Arial" panose="020B0604020202020204"/>
              </a:rPr>
              <a:t>1.5</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小</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时；</a:t>
            </a:r>
            <a:endParaRPr lang="en-US" altLang="en-US" sz="1500" dirty="0"/>
          </a:p>
          <a:p>
            <a:pPr marL="27305" algn="l" rtl="0" eaLnBrk="0">
              <a:lnSpc>
                <a:spcPts val="3000"/>
              </a:lnSpc>
            </a:pPr>
            <a:r>
              <a:rPr sz="1500" kern="0" spc="0" dirty="0">
                <a:solidFill>
                  <a:srgbClr val="000000">
                    <a:alpha val="100000"/>
                  </a:srgbClr>
                </a:solidFill>
                <a:latin typeface="Arial" panose="020B0604020202020204"/>
                <a:ea typeface="Arial" panose="020B0604020202020204"/>
                <a:cs typeface="Arial" panose="020B0604020202020204"/>
              </a:rPr>
              <a:t>3.   </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将会议的内容整理成一张纸。</a:t>
            </a:r>
            <a:endParaRPr lang="en-US" altLang="en-US" sz="1500" dirty="0"/>
          </a:p>
          <a:p>
            <a:pPr algn="l" rtl="0" eaLnBrk="0">
              <a:lnSpc>
                <a:spcPct val="104000"/>
              </a:lnSpc>
            </a:pPr>
            <a:endParaRPr lang="en-US" altLang="en-US" sz="750" dirty="0"/>
          </a:p>
          <a:p>
            <a:pPr marL="16510" algn="l" rtl="0" eaLnBrk="0">
              <a:lnSpc>
                <a:spcPct val="91000"/>
              </a:lnSpc>
              <a:spcBef>
                <a:spcPts val="610"/>
              </a:spcBef>
            </a:pPr>
            <a:r>
              <a:rPr sz="1500"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三星公司开会的七项规</a:t>
            </a:r>
            <a:r>
              <a:rPr sz="1500" kern="0" spc="-2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定 </a:t>
            </a:r>
            <a:r>
              <a:rPr sz="1500" kern="0" spc="-20" dirty="0">
                <a:solidFill>
                  <a:srgbClr val="004D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1500" dirty="0"/>
          </a:p>
          <a:p>
            <a:pPr marL="36830" algn="l" rtl="0" eaLnBrk="0">
              <a:lnSpc>
                <a:spcPct val="91000"/>
              </a:lnSpc>
              <a:spcBef>
                <a:spcPts val="1415"/>
              </a:spcBef>
            </a:pPr>
            <a:r>
              <a:rPr sz="1500" kern="0" spc="-30" dirty="0">
                <a:solidFill>
                  <a:srgbClr val="000000">
                    <a:alpha val="100000"/>
                  </a:srgbClr>
                </a:solidFill>
                <a:latin typeface="Arial" panose="020B0604020202020204"/>
                <a:ea typeface="Arial" panose="020B0604020202020204"/>
                <a:cs typeface="Arial" panose="020B0604020202020204"/>
              </a:rPr>
              <a:t>1.</a:t>
            </a:r>
            <a:r>
              <a:rPr sz="1500" kern="0" spc="50" dirty="0">
                <a:solidFill>
                  <a:srgbClr val="000000">
                    <a:alpha val="100000"/>
                  </a:srgbClr>
                </a:solidFill>
                <a:latin typeface="Arial" panose="020B0604020202020204"/>
                <a:ea typeface="Arial" panose="020B0604020202020204"/>
                <a:cs typeface="Arial" panose="020B0604020202020204"/>
              </a:rPr>
              <a:t>   </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严格遵守时间；</a:t>
            </a:r>
            <a:endParaRPr lang="en-US" altLang="en-US" sz="1500" dirty="0"/>
          </a:p>
          <a:p>
            <a:pPr marL="16510" algn="l" rtl="0" eaLnBrk="0">
              <a:lnSpc>
                <a:spcPct val="91000"/>
              </a:lnSpc>
              <a:spcBef>
                <a:spcPts val="815"/>
              </a:spcBef>
            </a:pPr>
            <a:r>
              <a:rPr sz="1500" kern="0" spc="0" dirty="0">
                <a:solidFill>
                  <a:srgbClr val="000000">
                    <a:alpha val="100000"/>
                  </a:srgbClr>
                </a:solidFill>
                <a:latin typeface="Arial" panose="020B0604020202020204"/>
                <a:ea typeface="Arial" panose="020B0604020202020204"/>
                <a:cs typeface="Arial" panose="020B0604020202020204"/>
              </a:rPr>
              <a:t>2.   </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在会议材料中写明投入会议的经费；</a:t>
            </a:r>
            <a:endParaRPr lang="en-US" altLang="en-US" sz="1500" dirty="0"/>
          </a:p>
          <a:p>
            <a:pPr marL="19685" algn="l" rtl="0" eaLnBrk="0">
              <a:lnSpc>
                <a:spcPct val="83000"/>
              </a:lnSpc>
              <a:spcBef>
                <a:spcPts val="810"/>
              </a:spcBef>
            </a:pPr>
            <a:r>
              <a:rPr sz="1500" kern="0" spc="-10" dirty="0">
                <a:solidFill>
                  <a:srgbClr val="000000">
                    <a:alpha val="100000"/>
                  </a:srgbClr>
                </a:solidFill>
                <a:latin typeface="Arial" panose="020B0604020202020204"/>
                <a:ea typeface="Arial" panose="020B0604020202020204"/>
                <a:cs typeface="Arial" panose="020B0604020202020204"/>
              </a:rPr>
              <a:t>3.   </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参加者限制为</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必要的合适人选和负责人 ，会议规模尽可能小；</a:t>
            </a:r>
            <a:endParaRPr lang="en-US" altLang="en-US" sz="1500" dirty="0"/>
          </a:p>
          <a:p>
            <a:pPr marL="12700" algn="l" rtl="0" eaLnBrk="0">
              <a:lnSpc>
                <a:spcPts val="3000"/>
              </a:lnSpc>
            </a:pPr>
            <a:r>
              <a:rPr sz="1500" kern="0" spc="-30" dirty="0">
                <a:solidFill>
                  <a:srgbClr val="000000">
                    <a:alpha val="100000"/>
                  </a:srgbClr>
                </a:solidFill>
                <a:latin typeface="Arial" panose="020B0604020202020204"/>
                <a:ea typeface="Arial" panose="020B0604020202020204"/>
                <a:cs typeface="Arial" panose="020B0604020202020204"/>
              </a:rPr>
              <a:t>4.</a:t>
            </a:r>
            <a:r>
              <a:rPr sz="1500" kern="0" spc="120" dirty="0">
                <a:solidFill>
                  <a:srgbClr val="000000">
                    <a:alpha val="100000"/>
                  </a:srgbClr>
                </a:solidFill>
                <a:latin typeface="Arial" panose="020B0604020202020204"/>
                <a:ea typeface="Arial" panose="020B0604020202020204"/>
                <a:cs typeface="Arial" panose="020B0604020202020204"/>
              </a:rPr>
              <a:t>   </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明确会议目的；</a:t>
            </a:r>
            <a:endParaRPr lang="en-US" altLang="en-US" sz="1500" dirty="0"/>
          </a:p>
          <a:p>
            <a:pPr marL="19685" algn="l" rtl="0" eaLnBrk="0">
              <a:lnSpc>
                <a:spcPct val="91000"/>
              </a:lnSpc>
              <a:spcBef>
                <a:spcPts val="1015"/>
              </a:spcBef>
            </a:pPr>
            <a:r>
              <a:rPr sz="1500" kern="0" spc="-20" dirty="0">
                <a:solidFill>
                  <a:srgbClr val="000000">
                    <a:alpha val="100000"/>
                  </a:srgbClr>
                </a:solidFill>
                <a:latin typeface="Arial" panose="020B0604020202020204"/>
                <a:ea typeface="Arial" panose="020B0604020202020204"/>
                <a:cs typeface="Arial" panose="020B0604020202020204"/>
              </a:rPr>
              <a:t>5.</a:t>
            </a:r>
            <a:r>
              <a:rPr sz="1500" kern="0" spc="80" dirty="0">
                <a:solidFill>
                  <a:srgbClr val="000000">
                    <a:alpha val="100000"/>
                  </a:srgbClr>
                </a:solidFill>
                <a:latin typeface="Arial" panose="020B0604020202020204"/>
                <a:ea typeface="Arial" panose="020B0604020202020204"/>
                <a:cs typeface="Arial" panose="020B0604020202020204"/>
              </a:rPr>
              <a:t>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事先分发会议资料；</a:t>
            </a:r>
            <a:endParaRPr lang="en-US" altLang="en-US" sz="1500" dirty="0"/>
          </a:p>
          <a:p>
            <a:pPr marL="19050" algn="l" rtl="0" eaLnBrk="0">
              <a:lnSpc>
                <a:spcPct val="91000"/>
              </a:lnSpc>
              <a:spcBef>
                <a:spcPts val="815"/>
              </a:spcBef>
            </a:pPr>
            <a:r>
              <a:rPr sz="1500" kern="0" spc="0" dirty="0">
                <a:solidFill>
                  <a:srgbClr val="000000">
                    <a:alpha val="100000"/>
                  </a:srgbClr>
                </a:solidFill>
                <a:latin typeface="Arial" panose="020B0604020202020204"/>
                <a:ea typeface="Arial" panose="020B0604020202020204"/>
                <a:cs typeface="Arial" panose="020B0604020202020204"/>
              </a:rPr>
              <a:t>6.   </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要让所有参加者发言；</a:t>
            </a:r>
            <a:endParaRPr lang="en-US" altLang="en-US" sz="1500" dirty="0"/>
          </a:p>
          <a:p>
            <a:pPr algn="l" rtl="0" eaLnBrk="0">
              <a:lnSpc>
                <a:spcPct val="113000"/>
              </a:lnSpc>
            </a:pPr>
            <a:endParaRPr lang="en-US" altLang="en-US" sz="450" dirty="0"/>
          </a:p>
          <a:p>
            <a:pPr marL="20955" algn="l" rtl="0" eaLnBrk="0">
              <a:lnSpc>
                <a:spcPct val="91000"/>
              </a:lnSpc>
              <a:spcBef>
                <a:spcPts val="5"/>
              </a:spcBef>
            </a:pPr>
            <a:r>
              <a:rPr sz="1500" kern="0" spc="-20" dirty="0">
                <a:solidFill>
                  <a:srgbClr val="000000">
                    <a:alpha val="100000"/>
                  </a:srgbClr>
                </a:solidFill>
                <a:latin typeface="Arial" panose="020B0604020202020204"/>
                <a:ea typeface="Arial" panose="020B0604020202020204"/>
                <a:cs typeface="Arial" panose="020B0604020202020204"/>
              </a:rPr>
              <a:t>7.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尽可能地减少会议记录 ，仅记录决定了的事项并进行保存。</a:t>
            </a:r>
            <a:endParaRPr lang="en-US" altLang="en-US" sz="1500" dirty="0"/>
          </a:p>
        </p:txBody>
      </p:sp>
      <p:pic>
        <p:nvPicPr>
          <p:cNvPr id="920" name="picture 920"/>
          <p:cNvPicPr>
            <a:picLocks noChangeAspect="1"/>
          </p:cNvPicPr>
          <p:nvPr/>
        </p:nvPicPr>
        <p:blipFill>
          <a:blip r:embed="rId1"/>
          <a:stretch>
            <a:fillRect/>
          </a:stretch>
        </p:blipFill>
        <p:spPr>
          <a:xfrm rot="21600000">
            <a:off x="5880134" y="1085795"/>
            <a:ext cx="2688428" cy="1701776"/>
          </a:xfrm>
          <a:prstGeom prst="rect">
            <a:avLst/>
          </a:prstGeom>
        </p:spPr>
      </p:pic>
      <p:sp>
        <p:nvSpPr>
          <p:cNvPr id="922"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pic>
        <p:nvPicPr>
          <p:cNvPr id="924" name="picture 924"/>
          <p:cNvPicPr>
            <a:picLocks noChangeAspect="1"/>
          </p:cNvPicPr>
          <p:nvPr/>
        </p:nvPicPr>
        <p:blipFill>
          <a:blip r:embed="rId2"/>
          <a:stretch>
            <a:fillRect/>
          </a:stretch>
        </p:blipFill>
        <p:spPr>
          <a:xfrm rot="21600000">
            <a:off x="6547504" y="3464139"/>
            <a:ext cx="1774382" cy="765149"/>
          </a:xfrm>
          <a:prstGeom prst="rect">
            <a:avLst/>
          </a:prstGeom>
        </p:spPr>
      </p:pic>
      <p:sp>
        <p:nvSpPr>
          <p:cNvPr id="2" name="标题 1"/>
          <p:cNvSpPr>
            <a:spLocks noGrp="1"/>
          </p:cNvSpPr>
          <p:nvPr>
            <p:ph type="title"/>
          </p:nvPr>
        </p:nvSpPr>
        <p:spPr/>
        <p:txBody>
          <a:bodyPr/>
          <a:p>
            <a:r>
              <a:rPr lang="zh-CN" altLang="en-US" dirty="0"/>
              <a:t>项目会议</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42" name="table 942"/>
          <p:cNvGraphicFramePr>
            <a:graphicFrameLocks noGrp="1"/>
          </p:cNvGraphicFramePr>
          <p:nvPr/>
        </p:nvGraphicFramePr>
        <p:xfrm>
          <a:off x="4450444" y="2015219"/>
          <a:ext cx="3588385" cy="2021840"/>
        </p:xfrm>
        <a:graphic>
          <a:graphicData uri="http://schemas.openxmlformats.org/drawingml/2006/table">
            <a:tbl>
              <a:tblPr/>
              <a:tblGrid>
                <a:gridCol w="3588385"/>
              </a:tblGrid>
              <a:tr h="2021840">
                <a:tc>
                  <a:txBody>
                    <a:bodyPr/>
                    <a:lstStyle/>
                    <a:p>
                      <a:pPr algn="l" rtl="0" eaLnBrk="0">
                        <a:lnSpc>
                          <a:spcPct val="100000"/>
                        </a:lnSpc>
                      </a:pPr>
                      <a:endParaRPr lang="en-US" altLang="en-US" sz="750" dirty="0"/>
                    </a:p>
                  </a:txBody>
                  <a:tcPr marL="0" marR="0" marT="0" marB="0" vert="horz">
                    <a:lnL w="9525" cap="flat" cmpd="sng" algn="ctr">
                      <a:solidFill>
                        <a:srgbClr val="919191"/>
                      </a:solidFill>
                      <a:prstDash val="solid"/>
                      <a:round/>
                      <a:headEnd type="none" w="med" len="med"/>
                      <a:tailEnd type="none" w="med" len="med"/>
                    </a:lnL>
                    <a:lnR w="9525" cap="flat" cmpd="sng" algn="ctr">
                      <a:solidFill>
                        <a:srgbClr val="919191"/>
                      </a:solidFill>
                      <a:prstDash val="solid"/>
                      <a:round/>
                      <a:headEnd type="none" w="med" len="med"/>
                      <a:tailEnd type="none" w="med" len="med"/>
                    </a:lnR>
                    <a:lnT w="9525" cap="flat" cmpd="sng" algn="ctr">
                      <a:solidFill>
                        <a:srgbClr val="919191"/>
                      </a:solidFill>
                      <a:prstDash val="solid"/>
                      <a:round/>
                      <a:headEnd type="none" w="med" len="med"/>
                      <a:tailEnd type="none" w="med" len="med"/>
                    </a:lnT>
                    <a:lnB w="9525" cap="flat" cmpd="sng" algn="ctr">
                      <a:solidFill>
                        <a:srgbClr val="919191"/>
                      </a:solidFill>
                      <a:prstDash val="solid"/>
                      <a:round/>
                      <a:headEnd type="none" w="med" len="med"/>
                      <a:tailEnd type="none" w="med" len="med"/>
                    </a:lnB>
                  </a:tcPr>
                </a:tc>
              </a:tr>
            </a:tbl>
          </a:graphicData>
        </a:graphic>
      </p:graphicFrame>
      <p:pic>
        <p:nvPicPr>
          <p:cNvPr id="944" name="picture 944"/>
          <p:cNvPicPr>
            <a:picLocks noChangeAspect="1"/>
          </p:cNvPicPr>
          <p:nvPr/>
        </p:nvPicPr>
        <p:blipFill>
          <a:blip r:embed="rId1"/>
          <a:stretch>
            <a:fillRect/>
          </a:stretch>
        </p:blipFill>
        <p:spPr>
          <a:xfrm rot="21600000">
            <a:off x="4457702" y="2022477"/>
            <a:ext cx="3517896" cy="1976229"/>
          </a:xfrm>
          <a:prstGeom prst="rect">
            <a:avLst/>
          </a:prstGeom>
        </p:spPr>
      </p:pic>
      <p:pic>
        <p:nvPicPr>
          <p:cNvPr id="946" name="picture 946"/>
          <p:cNvPicPr>
            <a:picLocks noChangeAspect="1"/>
          </p:cNvPicPr>
          <p:nvPr/>
        </p:nvPicPr>
        <p:blipFill>
          <a:blip r:embed="rId2"/>
          <a:stretch>
            <a:fillRect/>
          </a:stretch>
        </p:blipFill>
        <p:spPr>
          <a:xfrm rot="21600000">
            <a:off x="977900" y="1989056"/>
            <a:ext cx="2978534" cy="2248766"/>
          </a:xfrm>
          <a:prstGeom prst="rect">
            <a:avLst/>
          </a:prstGeom>
        </p:spPr>
      </p:pic>
      <p:sp>
        <p:nvSpPr>
          <p:cNvPr id="948" name="textbox 948"/>
          <p:cNvSpPr/>
          <p:nvPr/>
        </p:nvSpPr>
        <p:spPr>
          <a:xfrm>
            <a:off x="955641" y="1207907"/>
            <a:ext cx="7279481" cy="521969"/>
          </a:xfrm>
          <a:prstGeom prst="rect">
            <a:avLst/>
          </a:prstGeom>
        </p:spPr>
        <p:txBody>
          <a:bodyPr vert="horz" wrap="square" lIns="0" tIns="0" rIns="0" bIns="0"/>
          <a:lstStyle/>
          <a:p>
            <a:pPr algn="l" rtl="0" eaLnBrk="0">
              <a:lnSpc>
                <a:spcPct val="85000"/>
              </a:lnSpc>
            </a:pPr>
            <a:endParaRPr lang="en-US" altLang="en-US" sz="100" dirty="0"/>
          </a:p>
          <a:p>
            <a:pPr algn="r" rtl="0" eaLnBrk="0">
              <a:lnSpc>
                <a:spcPct val="83000"/>
              </a:lnSpc>
            </a:pPr>
            <a:r>
              <a:rPr sz="165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项目绩效报告是收集和发布关于项目</a:t>
            </a:r>
            <a:r>
              <a:rPr sz="16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进展等绩效信息 ，通常使用文字说明、</a:t>
            </a:r>
            <a:endParaRPr lang="en-US" altLang="en-US" sz="1650" dirty="0"/>
          </a:p>
          <a:p>
            <a:pPr marL="34290" algn="l" rtl="0" eaLnBrk="0">
              <a:lnSpc>
                <a:spcPts val="3080"/>
              </a:lnSpc>
            </a:pP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曲线图形和报表等形式</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进行描述。</a:t>
            </a:r>
            <a:endParaRPr lang="en-US" altLang="en-US" sz="1650" dirty="0"/>
          </a:p>
        </p:txBody>
      </p:sp>
      <p:sp>
        <p:nvSpPr>
          <p:cNvPr id="950" name="rect"/>
          <p:cNvSpPr/>
          <p:nvPr/>
        </p:nvSpPr>
        <p:spPr>
          <a:xfrm>
            <a:off x="0" y="4773125"/>
            <a:ext cx="9142961" cy="370374"/>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2" name="标题 1"/>
          <p:cNvSpPr>
            <a:spLocks noGrp="1"/>
          </p:cNvSpPr>
          <p:nvPr>
            <p:ph type="title"/>
          </p:nvPr>
        </p:nvSpPr>
        <p:spPr/>
        <p:txBody>
          <a:bodyPr/>
          <a:p>
            <a:r>
              <a:rPr lang="zh-CN" altLang="en-US" dirty="0"/>
              <a:t>项目绩效报告</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 name="textbox 62"/>
          <p:cNvSpPr/>
          <p:nvPr/>
        </p:nvSpPr>
        <p:spPr>
          <a:xfrm>
            <a:off x="2188845" y="1657350"/>
            <a:ext cx="5092065" cy="1474470"/>
          </a:xfrm>
          <a:prstGeom prst="rect">
            <a:avLst/>
          </a:prstGeom>
        </p:spPr>
        <p:txBody>
          <a:bodyPr vert="horz" wrap="square" lIns="0" tIns="0" rIns="0" bIns="0"/>
          <a:p>
            <a:pPr algn="l" rtl="0" eaLnBrk="0">
              <a:lnSpc>
                <a:spcPct val="79000"/>
              </a:lnSpc>
            </a:pPr>
            <a:endParaRPr lang="en-US" altLang="en-US" sz="4400" dirty="0"/>
          </a:p>
          <a:p>
            <a:pPr marL="12700" algn="l" rtl="0" eaLnBrk="0">
              <a:lnSpc>
                <a:spcPct val="91000"/>
              </a:lnSpc>
            </a:pPr>
            <a:r>
              <a:rPr sz="4400" kern="0" spc="-10" dirty="0">
                <a:ln w="8534" cap="flat" cmpd="sng">
                  <a:solidFill>
                    <a:srgbClr val="000000">
                      <a:alpha val="100000"/>
                    </a:srgbClr>
                  </a:solidFill>
                  <a:prstDash val="solid"/>
                  <a:miter lim="10"/>
                </a:ln>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软件项目</a:t>
            </a:r>
            <a:r>
              <a:rPr lang="zh-CN" sz="4400" kern="0" spc="-10" dirty="0">
                <a:ln w="8534" cap="flat" cmpd="sng">
                  <a:solidFill>
                    <a:srgbClr val="000000">
                      <a:alpha val="100000"/>
                    </a:srgbClr>
                  </a:solidFill>
                  <a:prstDash val="solid"/>
                  <a:miter lim="10"/>
                </a:ln>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可行性研究</a:t>
            </a:r>
            <a:endParaRPr lang="zh-CN" sz="4400" kern="0" spc="-10" dirty="0">
              <a:ln w="8534" cap="flat" cmpd="sng">
                <a:solidFill>
                  <a:srgbClr val="000000">
                    <a:alpha val="100000"/>
                  </a:srgbClr>
                </a:solidFill>
                <a:prstDash val="solid"/>
                <a:miter lim="10"/>
              </a:ln>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9E09939-6ECF-4573-86AB-10C83AEACC84}"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a:p>
        </p:txBody>
      </p:sp>
      <p:sp>
        <p:nvSpPr>
          <p:cNvPr id="5" name="椭圆 4"/>
          <p:cNvSpPr/>
          <p:nvPr/>
        </p:nvSpPr>
        <p:spPr>
          <a:xfrm>
            <a:off x="4141082" y="1638634"/>
            <a:ext cx="167616" cy="167616"/>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6" name="文本框 25"/>
          <p:cNvSpPr txBox="1">
            <a:spLocks noChangeArrowheads="1"/>
          </p:cNvSpPr>
          <p:nvPr/>
        </p:nvSpPr>
        <p:spPr bwMode="auto">
          <a:xfrm>
            <a:off x="3474221" y="1568573"/>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rPr>
              <a:t>01</a:t>
            </a:r>
            <a:endParaRPr lang="zh-CN" altLang="en-US"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p:nvSpPr>
        <p:spPr>
          <a:xfrm>
            <a:off x="4432830" y="1568573"/>
            <a:ext cx="3083937" cy="369332"/>
          </a:xfrm>
          <a:prstGeom prst="rect">
            <a:avLst/>
          </a:prstGeom>
          <a:noFill/>
        </p:spPr>
        <p:txBody>
          <a:bodyPr wrap="square" lIns="0" tIns="0" rIns="0" bIns="0">
            <a:spAutoFit/>
          </a:bodyPr>
          <a:lstStyle/>
          <a:p>
            <a:pPr>
              <a:defRPr/>
            </a:pPr>
            <a:r>
              <a:rPr lang="zh-CN" altLang="en-US" sz="24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软件定义阶段</a:t>
            </a:r>
            <a:endParaRPr lang="zh-CN" altLang="en-US" sz="2400" dirty="0">
              <a:solidFill>
                <a:schemeClr val="accent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椭圆 7"/>
          <p:cNvSpPr/>
          <p:nvPr/>
        </p:nvSpPr>
        <p:spPr>
          <a:xfrm>
            <a:off x="4141082" y="2122367"/>
            <a:ext cx="167616" cy="167616"/>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9" name="文本框 28"/>
          <p:cNvSpPr txBox="1">
            <a:spLocks noChangeArrowheads="1"/>
          </p:cNvSpPr>
          <p:nvPr/>
        </p:nvSpPr>
        <p:spPr bwMode="auto">
          <a:xfrm>
            <a:off x="3474221" y="2052306"/>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1"/>
                </a:solidFill>
                <a:latin typeface="Arial" panose="020B0604020202020204" pitchFamily="34" charset="0"/>
                <a:cs typeface="Arial" panose="020B0604020202020204" pitchFamily="34" charset="0"/>
                <a:sym typeface="Arial" panose="020B0604020202020204" pitchFamily="34" charset="0"/>
              </a:rPr>
              <a:t>02</a:t>
            </a:r>
            <a:endParaRPr lang="zh-CN" altLang="en-US" sz="2400" dirty="0">
              <a:solidFill>
                <a:schemeClr val="accent1"/>
              </a:solidFill>
              <a:latin typeface="Arial" panose="020B0604020202020204" pitchFamily="34" charset="0"/>
              <a:cs typeface="Arial" panose="020B0604020202020204" pitchFamily="34" charset="0"/>
              <a:sym typeface="Arial" panose="020B0604020202020204" pitchFamily="34" charset="0"/>
            </a:endParaRPr>
          </a:p>
        </p:txBody>
      </p:sp>
      <p:sp>
        <p:nvSpPr>
          <p:cNvPr id="10" name="文本框 9"/>
          <p:cNvSpPr txBox="1"/>
          <p:nvPr/>
        </p:nvSpPr>
        <p:spPr>
          <a:xfrm>
            <a:off x="4432830" y="2052306"/>
            <a:ext cx="3083937" cy="369332"/>
          </a:xfrm>
          <a:prstGeom prst="rect">
            <a:avLst/>
          </a:prstGeom>
          <a:noFill/>
        </p:spPr>
        <p:txBody>
          <a:bodyPr wrap="square" lIns="0" tIns="0" rIns="0" bIns="0">
            <a:spAutoFit/>
          </a:bodyPr>
          <a:lstStyle/>
          <a:p>
            <a:pPr>
              <a:defRPr/>
            </a:pPr>
            <a:r>
              <a:rPr lang="zh-CN" altLang="en-US" sz="2400"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业务建模</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椭圆 10"/>
          <p:cNvSpPr/>
          <p:nvPr/>
        </p:nvSpPr>
        <p:spPr>
          <a:xfrm>
            <a:off x="4141082" y="2606100"/>
            <a:ext cx="167616" cy="167616"/>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2" name="文本框 30"/>
          <p:cNvSpPr txBox="1">
            <a:spLocks noChangeArrowheads="1"/>
          </p:cNvSpPr>
          <p:nvPr/>
        </p:nvSpPr>
        <p:spPr bwMode="auto">
          <a:xfrm>
            <a:off x="3474221" y="2536039"/>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rPr>
              <a:t>03</a:t>
            </a:r>
            <a:endParaRPr lang="zh-CN" altLang="en-US"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3" name="文本框 12"/>
          <p:cNvSpPr txBox="1"/>
          <p:nvPr/>
        </p:nvSpPr>
        <p:spPr>
          <a:xfrm>
            <a:off x="4432830" y="2536039"/>
            <a:ext cx="3083937" cy="369332"/>
          </a:xfrm>
          <a:prstGeom prst="rect">
            <a:avLst/>
          </a:prstGeom>
          <a:noFill/>
        </p:spPr>
        <p:txBody>
          <a:bodyPr wrap="square" lIns="0" tIns="0" rIns="0" bIns="0">
            <a:spAutoFit/>
          </a:bodyPr>
          <a:lstStyle/>
          <a:p>
            <a:pPr>
              <a:defRPr/>
            </a:pPr>
            <a:r>
              <a:rPr lang="zh-CN" altLang="en-US" sz="24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问题定义工作的内容</a:t>
            </a:r>
            <a:endParaRPr lang="zh-CN" altLang="en-US" sz="2400" dirty="0">
              <a:solidFill>
                <a:schemeClr val="accent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椭圆 13"/>
          <p:cNvSpPr/>
          <p:nvPr/>
        </p:nvSpPr>
        <p:spPr>
          <a:xfrm>
            <a:off x="4141082" y="3089833"/>
            <a:ext cx="167616" cy="167616"/>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5" name="文本框 32"/>
          <p:cNvSpPr txBox="1">
            <a:spLocks noChangeArrowheads="1"/>
          </p:cNvSpPr>
          <p:nvPr/>
        </p:nvSpPr>
        <p:spPr bwMode="auto">
          <a:xfrm>
            <a:off x="3474221" y="3019772"/>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1"/>
                </a:solidFill>
                <a:latin typeface="Arial" panose="020B0604020202020204" pitchFamily="34" charset="0"/>
                <a:cs typeface="Arial" panose="020B0604020202020204" pitchFamily="34" charset="0"/>
                <a:sym typeface="Arial" panose="020B0604020202020204" pitchFamily="34" charset="0"/>
              </a:rPr>
              <a:t>04</a:t>
            </a:r>
            <a:endParaRPr lang="zh-CN" altLang="en-US" sz="2400" dirty="0">
              <a:solidFill>
                <a:schemeClr val="accent1"/>
              </a:solidFill>
              <a:latin typeface="Arial" panose="020B0604020202020204" pitchFamily="34" charset="0"/>
              <a:cs typeface="Arial" panose="020B0604020202020204" pitchFamily="34" charset="0"/>
              <a:sym typeface="Arial" panose="020B0604020202020204" pitchFamily="34" charset="0"/>
            </a:endParaRPr>
          </a:p>
        </p:txBody>
      </p:sp>
      <p:sp>
        <p:nvSpPr>
          <p:cNvPr id="16" name="文本框 15"/>
          <p:cNvSpPr txBox="1"/>
          <p:nvPr/>
        </p:nvSpPr>
        <p:spPr>
          <a:xfrm>
            <a:off x="4432830" y="3019772"/>
            <a:ext cx="3663271" cy="369332"/>
          </a:xfrm>
          <a:prstGeom prst="rect">
            <a:avLst/>
          </a:prstGeom>
          <a:noFill/>
        </p:spPr>
        <p:txBody>
          <a:bodyPr wrap="square" lIns="0" tIns="0" rIns="0" bIns="0">
            <a:spAutoFit/>
          </a:bodyPr>
          <a:lstStyle/>
          <a:p>
            <a:pPr>
              <a:defRPr/>
            </a:pPr>
            <a:r>
              <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rPr>
              <a:t>可行性研究工作的内容</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Title 1"/>
          <p:cNvSpPr txBox="1"/>
          <p:nvPr/>
        </p:nvSpPr>
        <p:spPr>
          <a:xfrm>
            <a:off x="1143000" y="83636"/>
            <a:ext cx="7552030" cy="656340"/>
          </a:xfrm>
          <a:prstGeom prst="rect">
            <a:avLst/>
          </a:prstGeom>
        </p:spPr>
        <p:txBody>
          <a:bodyPr vert="horz" lIns="91440" tIns="45720" rIns="91440" bIns="45720" rtlCol="0" anchor="ctr">
            <a:normAutofit/>
          </a:bodyPr>
          <a:lstStyle>
            <a:lvl1pPr algn="r" defTabSz="685800" rtl="0" eaLnBrk="1" latinLnBrk="0" hangingPunct="1">
              <a:lnSpc>
                <a:spcPct val="80000"/>
              </a:lnSpc>
              <a:spcBef>
                <a:spcPct val="0"/>
              </a:spcBef>
              <a:buNone/>
              <a:defRPr sz="3750" b="1" kern="1200" cap="all" spc="150" baseline="0">
                <a:solidFill>
                  <a:schemeClr val="bg1"/>
                </a:solidFill>
                <a:latin typeface="+mj-lt"/>
                <a:ea typeface="+mj-ea"/>
                <a:cs typeface="+mj-cs"/>
              </a:defRPr>
            </a:lvl1pPr>
          </a:lstStyle>
          <a:p>
            <a:pPr algn="l"/>
            <a:r>
              <a:rPr lang="zh-CN" altLang="en-US" sz="2800" dirty="0"/>
              <a:t>可行性研究</a:t>
            </a:r>
            <a:endParaRPr lang="en-US" sz="2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p:txBody>
          <a:bodyPr/>
          <a:lstStyle/>
          <a:p>
            <a:r>
              <a:rPr lang="zh-CN" altLang="en-US" dirty="0"/>
              <a:t>软件开发第一阶段</a:t>
            </a:r>
            <a:endParaRPr lang="zh-CN" altLang="en-US" dirty="0"/>
          </a:p>
        </p:txBody>
      </p:sp>
      <p:sp>
        <p:nvSpPr>
          <p:cNvPr id="6" name="内容占位符 5"/>
          <p:cNvSpPr>
            <a:spLocks noGrp="1"/>
          </p:cNvSpPr>
          <p:nvPr>
            <p:ph idx="1"/>
          </p:nvPr>
        </p:nvSpPr>
        <p:spPr/>
        <p:txBody>
          <a:bodyPr>
            <a:normAutofit/>
          </a:bodyPr>
          <a:lstStyle/>
          <a:p>
            <a:r>
              <a:rPr lang="zh-CN" altLang="en-US" sz="2400" dirty="0"/>
              <a:t>软件计划阶段是基本软件生命周期的第一阶段。</a:t>
            </a:r>
            <a:endParaRPr lang="zh-CN" altLang="en-US" sz="2400" dirty="0"/>
          </a:p>
        </p:txBody>
      </p:sp>
      <p:sp>
        <p:nvSpPr>
          <p:cNvPr id="11" name="灯片编号占位符 10"/>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9" name="图片 8"/>
          <p:cNvPicPr>
            <a:picLocks noChangeAspect="1"/>
          </p:cNvPicPr>
          <p:nvPr/>
        </p:nvPicPr>
        <p:blipFill>
          <a:blip r:embed="rId1">
            <a:clrChange>
              <a:clrFrom>
                <a:srgbClr val="FFFFFF"/>
              </a:clrFrom>
              <a:clrTo>
                <a:srgbClr val="FFFFFF">
                  <a:alpha val="0"/>
                </a:srgbClr>
              </a:clrTo>
            </a:clrChange>
          </a:blip>
          <a:stretch>
            <a:fillRect/>
          </a:stretch>
        </p:blipFill>
        <p:spPr>
          <a:xfrm>
            <a:off x="1676664" y="1472101"/>
            <a:ext cx="5768677" cy="3023699"/>
          </a:xfrm>
          <a:prstGeom prst="rect">
            <a:avLst/>
          </a:prstGeom>
        </p:spPr>
      </p:pic>
      <p:sp>
        <p:nvSpPr>
          <p:cNvPr id="4" name="日期占位符 3"/>
          <p:cNvSpPr>
            <a:spLocks noGrp="1"/>
          </p:cNvSpPr>
          <p:nvPr>
            <p:ph type="dt" sz="half" idx="10"/>
          </p:nvPr>
        </p:nvSpPr>
        <p:spPr/>
        <p:txBody>
          <a:bodyPr/>
          <a:lstStyle/>
          <a:p>
            <a:fld id="{07B567B4-7E49-48D8-82AB-28718E612AA6}"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软件计划阶段的工作</a:t>
            </a:r>
            <a:endParaRPr lang="zh-CN" altLang="en-US" dirty="0"/>
          </a:p>
        </p:txBody>
      </p:sp>
      <p:sp>
        <p:nvSpPr>
          <p:cNvPr id="2" name="内容占位符 1"/>
          <p:cNvSpPr>
            <a:spLocks noGrp="1"/>
          </p:cNvSpPr>
          <p:nvPr>
            <p:ph idx="1"/>
          </p:nvPr>
        </p:nvSpPr>
        <p:spPr>
          <a:xfrm>
            <a:off x="768097" y="1045029"/>
            <a:ext cx="7962246" cy="3686991"/>
          </a:xfrm>
        </p:spPr>
        <p:txBody>
          <a:bodyPr/>
          <a:lstStyle/>
          <a:p>
            <a:pPr marL="342900" indent="-342900">
              <a:lnSpc>
                <a:spcPct val="120000"/>
              </a:lnSpc>
              <a:buFont typeface="+mj-lt"/>
              <a:buAutoNum type="arabicPeriod"/>
            </a:pPr>
            <a:r>
              <a:rPr lang="zh-CN" altLang="en-US" sz="2100" dirty="0">
                <a:solidFill>
                  <a:srgbClr val="FF0000"/>
                </a:solidFill>
              </a:rPr>
              <a:t>问题定义的目的：</a:t>
            </a:r>
            <a:r>
              <a:rPr lang="zh-CN" altLang="en-US" sz="2100" dirty="0"/>
              <a:t>弄清软件的性质、规模和限制条件，写出问题定义报告。</a:t>
            </a:r>
            <a:endParaRPr lang="en-US" altLang="zh-CN" sz="2100" dirty="0"/>
          </a:p>
          <a:p>
            <a:pPr lvl="1">
              <a:lnSpc>
                <a:spcPct val="120000"/>
              </a:lnSpc>
              <a:buClr>
                <a:schemeClr val="accent1"/>
              </a:buClr>
              <a:buFont typeface="微软雅黑" panose="020B0503020204020204" pitchFamily="34" charset="-122"/>
              <a:buChar char="◢"/>
            </a:pPr>
            <a:r>
              <a:rPr lang="zh-CN" altLang="en-US" sz="1800" dirty="0"/>
              <a:t> </a:t>
            </a:r>
            <a:r>
              <a:rPr lang="zh-CN" altLang="en-US" sz="2000" dirty="0"/>
              <a:t>软件项目分为两种类型：</a:t>
            </a:r>
            <a:r>
              <a:rPr lang="zh-CN" altLang="en-US" sz="2000" dirty="0">
                <a:solidFill>
                  <a:srgbClr val="FF0000"/>
                </a:solidFill>
              </a:rPr>
              <a:t>委托式加工</a:t>
            </a:r>
            <a:r>
              <a:rPr lang="zh-CN" altLang="en-US" sz="2000" dirty="0"/>
              <a:t>和</a:t>
            </a:r>
            <a:r>
              <a:rPr lang="zh-CN" altLang="en-US" sz="2000" dirty="0">
                <a:solidFill>
                  <a:srgbClr val="FF0000"/>
                </a:solidFill>
              </a:rPr>
              <a:t>开发市售产品</a:t>
            </a:r>
            <a:endParaRPr lang="en-US" altLang="zh-CN" sz="2000" dirty="0">
              <a:solidFill>
                <a:srgbClr val="FF0000"/>
              </a:solidFill>
            </a:endParaRPr>
          </a:p>
          <a:p>
            <a:pPr marL="342900" indent="-342900">
              <a:lnSpc>
                <a:spcPct val="120000"/>
              </a:lnSpc>
              <a:buFont typeface="+mj-lt"/>
              <a:buAutoNum type="arabicPeriod"/>
            </a:pPr>
            <a:r>
              <a:rPr lang="zh-CN" altLang="en-US" sz="2100" dirty="0">
                <a:solidFill>
                  <a:srgbClr val="FF0000"/>
                </a:solidFill>
              </a:rPr>
              <a:t>可行性研究：</a:t>
            </a:r>
            <a:r>
              <a:rPr lang="zh-CN" altLang="en-US" sz="2100" dirty="0"/>
              <a:t>从技术、经济和法律角度弄清该软件是否值得开发，写出可行性分析报告。</a:t>
            </a:r>
            <a:endParaRPr lang="en-US" altLang="zh-CN" sz="2100" dirty="0"/>
          </a:p>
          <a:p>
            <a:pPr marL="342900" indent="-342900">
              <a:lnSpc>
                <a:spcPct val="120000"/>
              </a:lnSpc>
              <a:buFont typeface="+mj-lt"/>
              <a:buAutoNum type="arabicPeriod"/>
            </a:pPr>
            <a:r>
              <a:rPr lang="zh-CN" altLang="en-US" sz="2100" dirty="0">
                <a:solidFill>
                  <a:srgbClr val="FF0000"/>
                </a:solidFill>
              </a:rPr>
              <a:t>项目计划：</a:t>
            </a:r>
            <a:r>
              <a:rPr lang="zh-CN" altLang="en-US" sz="2100" dirty="0"/>
              <a:t>确定要开发之后，对项目进度、所需资源进行规划，写出项目开发计划书。</a:t>
            </a:r>
            <a:endParaRPr lang="zh-CN" altLang="en-US" sz="21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8" name="日期占位符 7"/>
          <p:cNvSpPr>
            <a:spLocks noGrp="1"/>
          </p:cNvSpPr>
          <p:nvPr>
            <p:ph type="dt" sz="half" idx="10"/>
          </p:nvPr>
        </p:nvSpPr>
        <p:spPr/>
        <p:txBody>
          <a:bodyPr/>
          <a:lstStyle/>
          <a:p>
            <a:fld id="{B924F960-1DA0-49F6-9FE9-96B799917B05}" type="datetime1">
              <a:rPr lang="zh-CN" altLang="en-US" smtClean="0"/>
            </a:fld>
            <a:endParaRPr lang="zh-CN" altLang="en-US" dirty="0"/>
          </a:p>
        </p:txBody>
      </p:sp>
      <p:sp>
        <p:nvSpPr>
          <p:cNvPr id="9" name="页脚占位符 8"/>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p:cNvSpPr>
            <a:spLocks noGrp="1"/>
          </p:cNvSpPr>
          <p:nvPr>
            <p:ph type="title"/>
          </p:nvPr>
        </p:nvSpPr>
        <p:spPr/>
        <p:txBody>
          <a:bodyPr/>
          <a:lstStyle/>
          <a:p>
            <a:r>
              <a:rPr lang="zh-CN" altLang="en-US" dirty="0"/>
              <a:t>问题定义</a:t>
            </a:r>
            <a:endParaRPr lang="zh-CN" altLang="en-US" dirty="0"/>
          </a:p>
        </p:txBody>
      </p:sp>
      <p:sp>
        <p:nvSpPr>
          <p:cNvPr id="3" name="内容占位符 2"/>
          <p:cNvSpPr>
            <a:spLocks noGrp="1"/>
          </p:cNvSpPr>
          <p:nvPr>
            <p:ph idx="1"/>
          </p:nvPr>
        </p:nvSpPr>
        <p:spPr>
          <a:xfrm>
            <a:off x="768097" y="925167"/>
            <a:ext cx="8234389" cy="3806854"/>
          </a:xfrm>
        </p:spPr>
        <p:txBody>
          <a:bodyPr>
            <a:normAutofit/>
          </a:bodyPr>
          <a:lstStyle/>
          <a:p>
            <a:pPr>
              <a:lnSpc>
                <a:spcPct val="100000"/>
              </a:lnSpc>
              <a:spcBef>
                <a:spcPts val="600"/>
              </a:spcBef>
            </a:pPr>
            <a:r>
              <a:rPr lang="en-US" altLang="zh-CN" sz="2200" dirty="0"/>
              <a:t> </a:t>
            </a:r>
            <a:r>
              <a:rPr lang="zh-CN" altLang="zh-CN" sz="2200" dirty="0"/>
              <a:t>弄清要计算机解决的问题根本所在（要解决的问题是什么？）</a:t>
            </a:r>
            <a:endParaRPr lang="en-US" altLang="zh-CN" sz="2200" dirty="0"/>
          </a:p>
          <a:p>
            <a:pPr>
              <a:lnSpc>
                <a:spcPct val="100000"/>
              </a:lnSpc>
              <a:spcBef>
                <a:spcPts val="600"/>
              </a:spcBef>
            </a:pPr>
            <a:r>
              <a:rPr lang="zh-CN" altLang="en-US" sz="2200" dirty="0"/>
              <a:t> 搞清</a:t>
            </a:r>
            <a:r>
              <a:rPr lang="zh-CN" altLang="zh-CN" sz="2200" dirty="0"/>
              <a:t>新系统的作用域，以及项目所需的资源、工期和经费。</a:t>
            </a:r>
            <a:endParaRPr lang="zh-CN" altLang="zh-CN" sz="22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5" name="Group 58"/>
          <p:cNvGrpSpPr/>
          <p:nvPr/>
        </p:nvGrpSpPr>
        <p:grpSpPr bwMode="auto">
          <a:xfrm>
            <a:off x="1696301" y="1733417"/>
            <a:ext cx="5706672" cy="3119611"/>
            <a:chOff x="1082" y="845"/>
            <a:chExt cx="4793" cy="3107"/>
          </a:xfrm>
        </p:grpSpPr>
        <p:sp>
          <p:nvSpPr>
            <p:cNvPr id="6" name="Oval 32"/>
            <p:cNvSpPr>
              <a:spLocks noChangeArrowheads="1"/>
            </p:cNvSpPr>
            <p:nvPr/>
          </p:nvSpPr>
          <p:spPr bwMode="auto">
            <a:xfrm>
              <a:off x="2835" y="845"/>
              <a:ext cx="1008" cy="4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none" anchor="t"/>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r>
                <a:rPr kumimoji="1" lang="zh-CN" altLang="en-US" b="1" dirty="0">
                  <a:solidFill>
                    <a:schemeClr val="bg1"/>
                  </a:solidFill>
                  <a:latin typeface="华文中宋" panose="02010600040101010101" pitchFamily="2" charset="-122"/>
                  <a:ea typeface="华文中宋" panose="02010600040101010101" pitchFamily="2" charset="-122"/>
                </a:rPr>
                <a:t> 问题定义 </a:t>
              </a:r>
              <a:endParaRPr kumimoji="1" lang="zh-CN" altLang="en-US" b="1" dirty="0">
                <a:solidFill>
                  <a:schemeClr val="bg1"/>
                </a:solidFill>
                <a:latin typeface="华文中宋" panose="02010600040101010101" pitchFamily="2" charset="-122"/>
                <a:ea typeface="华文中宋" panose="02010600040101010101" pitchFamily="2" charset="-122"/>
              </a:endParaRPr>
            </a:p>
          </p:txBody>
        </p:sp>
        <p:sp>
          <p:nvSpPr>
            <p:cNvPr id="7" name="Oval 33"/>
            <p:cNvSpPr>
              <a:spLocks noChangeArrowheads="1"/>
            </p:cNvSpPr>
            <p:nvPr/>
          </p:nvSpPr>
          <p:spPr bwMode="auto">
            <a:xfrm>
              <a:off x="1202" y="1466"/>
              <a:ext cx="1180" cy="5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none"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r>
                <a:rPr kumimoji="1" lang="zh-CN" altLang="en-US" b="1" dirty="0">
                  <a:solidFill>
                    <a:schemeClr val="bg1"/>
                  </a:solidFill>
                  <a:latin typeface="华文中宋" panose="02010600040101010101" pitchFamily="2" charset="-122"/>
                  <a:ea typeface="华文中宋" panose="02010600040101010101" pitchFamily="2" charset="-122"/>
                </a:rPr>
                <a:t>工作目标</a:t>
              </a:r>
              <a:endParaRPr kumimoji="1" lang="zh-CN" altLang="en-US" b="1" dirty="0">
                <a:solidFill>
                  <a:schemeClr val="bg1"/>
                </a:solidFill>
                <a:latin typeface="华文中宋" panose="02010600040101010101" pitchFamily="2" charset="-122"/>
                <a:ea typeface="华文中宋" panose="02010600040101010101" pitchFamily="2" charset="-122"/>
              </a:endParaRPr>
            </a:p>
          </p:txBody>
        </p:sp>
        <p:sp>
          <p:nvSpPr>
            <p:cNvPr id="8" name="Oval 34"/>
            <p:cNvSpPr>
              <a:spLocks noChangeArrowheads="1"/>
            </p:cNvSpPr>
            <p:nvPr/>
          </p:nvSpPr>
          <p:spPr bwMode="auto">
            <a:xfrm>
              <a:off x="2653" y="1434"/>
              <a:ext cx="1180"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none"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r>
                <a:rPr kumimoji="1" lang="zh-CN" altLang="en-US" b="1" dirty="0">
                  <a:solidFill>
                    <a:schemeClr val="bg1"/>
                  </a:solidFill>
                  <a:latin typeface="华文中宋" panose="02010600040101010101" pitchFamily="2" charset="-122"/>
                  <a:ea typeface="华文中宋" panose="02010600040101010101" pitchFamily="2" charset="-122"/>
                </a:rPr>
                <a:t>主要内容</a:t>
              </a:r>
              <a:endParaRPr kumimoji="1" lang="zh-CN" altLang="en-US" b="1" dirty="0">
                <a:solidFill>
                  <a:schemeClr val="bg1"/>
                </a:solidFill>
                <a:latin typeface="华文中宋" panose="02010600040101010101" pitchFamily="2" charset="-122"/>
                <a:ea typeface="华文中宋" panose="02010600040101010101" pitchFamily="2" charset="-122"/>
              </a:endParaRPr>
            </a:p>
          </p:txBody>
        </p:sp>
        <p:sp>
          <p:nvSpPr>
            <p:cNvPr id="9" name="Oval 35"/>
            <p:cNvSpPr>
              <a:spLocks noChangeArrowheads="1"/>
            </p:cNvSpPr>
            <p:nvPr/>
          </p:nvSpPr>
          <p:spPr bwMode="auto">
            <a:xfrm>
              <a:off x="4195" y="1466"/>
              <a:ext cx="1488" cy="6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none"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r>
                <a:rPr kumimoji="1" lang="zh-CN" altLang="en-US" b="1" dirty="0">
                  <a:solidFill>
                    <a:schemeClr val="bg1"/>
                  </a:solidFill>
                  <a:latin typeface="华文中宋" panose="02010600040101010101" pitchFamily="2" charset="-122"/>
                  <a:ea typeface="华文中宋" panose="02010600040101010101" pitchFamily="2" charset="-122"/>
                </a:rPr>
                <a:t>问题定义报告</a:t>
              </a:r>
              <a:endParaRPr kumimoji="1" lang="zh-CN" altLang="en-US" b="1" dirty="0">
                <a:solidFill>
                  <a:schemeClr val="bg1"/>
                </a:solidFill>
                <a:latin typeface="华文中宋" panose="02010600040101010101" pitchFamily="2" charset="-122"/>
                <a:ea typeface="华文中宋" panose="02010600040101010101" pitchFamily="2" charset="-122"/>
              </a:endParaRPr>
            </a:p>
          </p:txBody>
        </p:sp>
        <p:sp>
          <p:nvSpPr>
            <p:cNvPr id="10" name="Line 36"/>
            <p:cNvSpPr>
              <a:spLocks noChangeShapeType="1"/>
            </p:cNvSpPr>
            <p:nvPr/>
          </p:nvSpPr>
          <p:spPr bwMode="auto">
            <a:xfrm flipH="1">
              <a:off x="1973" y="1071"/>
              <a:ext cx="862" cy="40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p>
          </p:txBody>
        </p:sp>
        <p:sp>
          <p:nvSpPr>
            <p:cNvPr id="11" name="Line 37"/>
            <p:cNvSpPr>
              <a:spLocks noChangeShapeType="1"/>
            </p:cNvSpPr>
            <p:nvPr/>
          </p:nvSpPr>
          <p:spPr bwMode="auto">
            <a:xfrm flipH="1">
              <a:off x="3287" y="1298"/>
              <a:ext cx="1" cy="1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p>
          </p:txBody>
        </p:sp>
        <p:sp>
          <p:nvSpPr>
            <p:cNvPr id="12" name="Line 38"/>
            <p:cNvSpPr>
              <a:spLocks noChangeShapeType="1"/>
            </p:cNvSpPr>
            <p:nvPr/>
          </p:nvSpPr>
          <p:spPr bwMode="auto">
            <a:xfrm>
              <a:off x="3864" y="1085"/>
              <a:ext cx="949" cy="37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p>
          </p:txBody>
        </p:sp>
        <p:sp>
          <p:nvSpPr>
            <p:cNvPr id="13" name="Text Box 39"/>
            <p:cNvSpPr txBox="1">
              <a:spLocks noChangeArrowheads="1"/>
            </p:cNvSpPr>
            <p:nvPr/>
          </p:nvSpPr>
          <p:spPr bwMode="auto">
            <a:xfrm>
              <a:off x="1082" y="2296"/>
              <a:ext cx="1173" cy="151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500" dirty="0">
                  <a:latin typeface="华文中宋" panose="02010600040101010101" pitchFamily="2" charset="-122"/>
                  <a:ea typeface="华文中宋" panose="02010600040101010101" pitchFamily="2" charset="-122"/>
                </a:rPr>
                <a:t>确定软件开发项目必须完成的目标 。其关键问题是：“</a:t>
              </a:r>
              <a:r>
                <a:rPr kumimoji="1" lang="zh-CN" altLang="en-US" sz="1500" dirty="0">
                  <a:solidFill>
                    <a:srgbClr val="CC3300"/>
                  </a:solidFill>
                  <a:latin typeface="华文中宋" panose="02010600040101010101" pitchFamily="2" charset="-122"/>
                  <a:ea typeface="华文中宋" panose="02010600040101010101" pitchFamily="2" charset="-122"/>
                </a:rPr>
                <a:t>要解决什么问题</a:t>
              </a:r>
              <a:r>
                <a:rPr kumimoji="1" lang="zh-CN" altLang="en-US" sz="1500" dirty="0">
                  <a:latin typeface="华文中宋" panose="02010600040101010101" pitchFamily="2" charset="-122"/>
                  <a:ea typeface="华文中宋" panose="02010600040101010101" pitchFamily="2" charset="-122"/>
                </a:rPr>
                <a:t>？”</a:t>
              </a:r>
              <a:r>
                <a:rPr kumimoji="1" lang="zh-CN" altLang="en-US" dirty="0">
                  <a:latin typeface="华文中宋" panose="02010600040101010101" pitchFamily="2" charset="-122"/>
                  <a:ea typeface="华文中宋" panose="02010600040101010101" pitchFamily="2" charset="-122"/>
                </a:rPr>
                <a:t> </a:t>
              </a:r>
              <a:endParaRPr kumimoji="1" lang="zh-CN" altLang="en-US" dirty="0">
                <a:latin typeface="华文中宋" panose="02010600040101010101" pitchFamily="2" charset="-122"/>
                <a:ea typeface="华文中宋" panose="02010600040101010101" pitchFamily="2" charset="-122"/>
              </a:endParaRPr>
            </a:p>
          </p:txBody>
        </p:sp>
        <p:sp>
          <p:nvSpPr>
            <p:cNvPr id="14" name="Text Box 40"/>
            <p:cNvSpPr txBox="1">
              <a:spLocks noChangeArrowheads="1"/>
            </p:cNvSpPr>
            <p:nvPr/>
          </p:nvSpPr>
          <p:spPr bwMode="auto">
            <a:xfrm>
              <a:off x="2399" y="2306"/>
              <a:ext cx="1537" cy="147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just" eaLnBrk="1" hangingPunct="1">
                <a:spcBef>
                  <a:spcPct val="50000"/>
                </a:spcBef>
              </a:pPr>
              <a:r>
                <a:rPr kumimoji="1" lang="zh-CN" altLang="en-US" sz="1500" dirty="0">
                  <a:latin typeface="华文中宋" panose="02010600040101010101" pitchFamily="2" charset="-122"/>
                  <a:ea typeface="华文中宋" panose="02010600040101010101" pitchFamily="2" charset="-122"/>
                </a:rPr>
                <a:t>问题的背景、总体要求与目标、类型范围、功能规模、实现目标的方案、开发的条件、环境要求等。</a:t>
              </a:r>
              <a:endParaRPr kumimoji="1" lang="zh-CN" altLang="en-US" sz="1500" dirty="0">
                <a:latin typeface="华文中宋" panose="02010600040101010101" pitchFamily="2" charset="-122"/>
                <a:ea typeface="华文中宋" panose="02010600040101010101" pitchFamily="2" charset="-122"/>
              </a:endParaRPr>
            </a:p>
          </p:txBody>
        </p:sp>
        <p:sp>
          <p:nvSpPr>
            <p:cNvPr id="15" name="Text Box 41"/>
            <p:cNvSpPr txBox="1">
              <a:spLocks noChangeArrowheads="1"/>
            </p:cNvSpPr>
            <p:nvPr/>
          </p:nvSpPr>
          <p:spPr bwMode="auto">
            <a:xfrm>
              <a:off x="4087" y="2251"/>
              <a:ext cx="336" cy="1012"/>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500" dirty="0">
                  <a:latin typeface="华文中宋" panose="02010600040101010101" pitchFamily="2" charset="-122"/>
                  <a:ea typeface="华文中宋" panose="02010600040101010101" pitchFamily="2" charset="-122"/>
                </a:rPr>
                <a:t>项目名称 </a:t>
              </a:r>
              <a:endParaRPr kumimoji="1" lang="zh-CN" altLang="en-US" sz="1500" dirty="0">
                <a:latin typeface="华文中宋" panose="02010600040101010101" pitchFamily="2" charset="-122"/>
                <a:ea typeface="华文中宋" panose="02010600040101010101" pitchFamily="2" charset="-122"/>
              </a:endParaRPr>
            </a:p>
          </p:txBody>
        </p:sp>
        <p:sp>
          <p:nvSpPr>
            <p:cNvPr id="16" name="Text Box 42"/>
            <p:cNvSpPr txBox="1">
              <a:spLocks noChangeArrowheads="1"/>
            </p:cNvSpPr>
            <p:nvPr/>
          </p:nvSpPr>
          <p:spPr bwMode="auto">
            <a:xfrm>
              <a:off x="4450" y="2251"/>
              <a:ext cx="336" cy="782"/>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500">
                  <a:latin typeface="华文中宋" panose="02010600040101010101" pitchFamily="2" charset="-122"/>
                  <a:ea typeface="华文中宋" panose="02010600040101010101" pitchFamily="2" charset="-122"/>
                </a:rPr>
                <a:t>使用方 </a:t>
              </a:r>
              <a:endParaRPr kumimoji="1" lang="zh-CN" altLang="en-US" sz="1500">
                <a:latin typeface="华文中宋" panose="02010600040101010101" pitchFamily="2" charset="-122"/>
                <a:ea typeface="华文中宋" panose="02010600040101010101" pitchFamily="2" charset="-122"/>
              </a:endParaRPr>
            </a:p>
          </p:txBody>
        </p:sp>
        <p:sp>
          <p:nvSpPr>
            <p:cNvPr id="17" name="Text Box 43"/>
            <p:cNvSpPr txBox="1">
              <a:spLocks noChangeArrowheads="1"/>
            </p:cNvSpPr>
            <p:nvPr/>
          </p:nvSpPr>
          <p:spPr bwMode="auto">
            <a:xfrm>
              <a:off x="4813" y="2251"/>
              <a:ext cx="336" cy="1701"/>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500" dirty="0">
                  <a:latin typeface="华文中宋" panose="02010600040101010101" pitchFamily="2" charset="-122"/>
                  <a:ea typeface="华文中宋" panose="02010600040101010101" pitchFamily="2" charset="-122"/>
                </a:rPr>
                <a:t>问题的概括定义 </a:t>
              </a:r>
              <a:endParaRPr kumimoji="1" lang="zh-CN" altLang="en-US" sz="1500" dirty="0">
                <a:latin typeface="华文中宋" panose="02010600040101010101" pitchFamily="2" charset="-122"/>
                <a:ea typeface="华文中宋" panose="02010600040101010101" pitchFamily="2" charset="-122"/>
              </a:endParaRPr>
            </a:p>
          </p:txBody>
        </p:sp>
        <p:sp>
          <p:nvSpPr>
            <p:cNvPr id="18" name="Text Box 44"/>
            <p:cNvSpPr txBox="1">
              <a:spLocks noChangeArrowheads="1"/>
            </p:cNvSpPr>
            <p:nvPr/>
          </p:nvSpPr>
          <p:spPr bwMode="auto">
            <a:xfrm>
              <a:off x="5176" y="2251"/>
              <a:ext cx="336" cy="1241"/>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500" dirty="0">
                  <a:latin typeface="华文中宋" panose="02010600040101010101" pitchFamily="2" charset="-122"/>
                  <a:ea typeface="华文中宋" panose="02010600040101010101" pitchFamily="2" charset="-122"/>
                </a:rPr>
                <a:t>项目的目标 </a:t>
              </a:r>
              <a:endParaRPr kumimoji="1" lang="zh-CN" altLang="en-US" sz="1500" dirty="0">
                <a:latin typeface="华文中宋" panose="02010600040101010101" pitchFamily="2" charset="-122"/>
                <a:ea typeface="华文中宋" panose="02010600040101010101" pitchFamily="2" charset="-122"/>
              </a:endParaRPr>
            </a:p>
          </p:txBody>
        </p:sp>
        <p:sp>
          <p:nvSpPr>
            <p:cNvPr id="19" name="Text Box 45"/>
            <p:cNvSpPr txBox="1">
              <a:spLocks noChangeArrowheads="1"/>
            </p:cNvSpPr>
            <p:nvPr/>
          </p:nvSpPr>
          <p:spPr bwMode="auto">
            <a:xfrm>
              <a:off x="5539" y="2251"/>
              <a:ext cx="336" cy="1241"/>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500">
                  <a:latin typeface="华文中宋" panose="02010600040101010101" pitchFamily="2" charset="-122"/>
                  <a:ea typeface="华文中宋" panose="02010600040101010101" pitchFamily="2" charset="-122"/>
                </a:rPr>
                <a:t>项目的规模 </a:t>
              </a:r>
              <a:endParaRPr kumimoji="1" lang="zh-CN" altLang="en-US" sz="1500">
                <a:latin typeface="华文中宋" panose="02010600040101010101" pitchFamily="2" charset="-122"/>
                <a:ea typeface="华文中宋" panose="02010600040101010101" pitchFamily="2" charset="-122"/>
              </a:endParaRPr>
            </a:p>
          </p:txBody>
        </p:sp>
        <p:sp>
          <p:nvSpPr>
            <p:cNvPr id="20" name="Line 46"/>
            <p:cNvSpPr>
              <a:spLocks noChangeShapeType="1"/>
            </p:cNvSpPr>
            <p:nvPr/>
          </p:nvSpPr>
          <p:spPr bwMode="auto">
            <a:xfrm>
              <a:off x="1791" y="2024"/>
              <a:ext cx="0" cy="27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p>
          </p:txBody>
        </p:sp>
        <p:sp>
          <p:nvSpPr>
            <p:cNvPr id="21" name="Line 47"/>
            <p:cNvSpPr>
              <a:spLocks noChangeShapeType="1"/>
            </p:cNvSpPr>
            <p:nvPr/>
          </p:nvSpPr>
          <p:spPr bwMode="auto">
            <a:xfrm>
              <a:off x="3198" y="2080"/>
              <a:ext cx="0" cy="18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p>
          </p:txBody>
        </p:sp>
        <p:sp>
          <p:nvSpPr>
            <p:cNvPr id="22" name="Line 48"/>
            <p:cNvSpPr>
              <a:spLocks noChangeShapeType="1"/>
            </p:cNvSpPr>
            <p:nvPr/>
          </p:nvSpPr>
          <p:spPr bwMode="auto">
            <a:xfrm>
              <a:off x="5012" y="2024"/>
              <a:ext cx="0" cy="22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p>
          </p:txBody>
        </p:sp>
      </p:grpSp>
      <p:sp>
        <p:nvSpPr>
          <p:cNvPr id="26" name="日期占位符 25"/>
          <p:cNvSpPr>
            <a:spLocks noGrp="1"/>
          </p:cNvSpPr>
          <p:nvPr>
            <p:ph type="dt" sz="half" idx="10"/>
          </p:nvPr>
        </p:nvSpPr>
        <p:spPr/>
        <p:txBody>
          <a:bodyPr/>
          <a:lstStyle/>
          <a:p>
            <a:fld id="{0651B710-6A66-4E18-BCF5-7ACF28E0022D}" type="datetime1">
              <a:rPr lang="zh-CN" altLang="en-US" smtClean="0"/>
            </a:fld>
            <a:endParaRPr lang="zh-CN" altLang="en-US" dirty="0"/>
          </a:p>
        </p:txBody>
      </p:sp>
      <p:sp>
        <p:nvSpPr>
          <p:cNvPr id="27" name="页脚占位符 26"/>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问题定义</a:t>
            </a:r>
            <a:endParaRPr lang="zh-CN" altLang="en-US" dirty="0"/>
          </a:p>
        </p:txBody>
      </p:sp>
      <p:sp>
        <p:nvSpPr>
          <p:cNvPr id="2" name="内容占位符 1"/>
          <p:cNvSpPr>
            <a:spLocks noGrp="1"/>
          </p:cNvSpPr>
          <p:nvPr>
            <p:ph idx="1"/>
          </p:nvPr>
        </p:nvSpPr>
        <p:spPr/>
        <p:txBody>
          <a:bodyPr/>
          <a:lstStyle/>
          <a:p>
            <a:pPr marL="342900" indent="-342900"/>
            <a:r>
              <a:rPr lang="zh-CN" altLang="zh-CN" sz="2100" dirty="0">
                <a:latin typeface="宋体" panose="02010600030101010101" pitchFamily="2" charset="-122"/>
              </a:rPr>
              <a:t>向用户调查研究</a:t>
            </a:r>
            <a:r>
              <a:rPr lang="zh-CN" altLang="en-US" sz="2100" dirty="0">
                <a:latin typeface="宋体" panose="02010600030101010101" pitchFamily="2" charset="-122"/>
              </a:rPr>
              <a:t>的内容是：</a:t>
            </a:r>
            <a:endParaRPr lang="zh-CN" altLang="en-US" sz="2100" dirty="0">
              <a:latin typeface="宋体" panose="02010600030101010101" pitchFamily="2" charset="-122"/>
            </a:endParaRPr>
          </a:p>
          <a:p>
            <a:pPr lvl="1">
              <a:lnSpc>
                <a:spcPct val="110000"/>
              </a:lnSpc>
              <a:buClr>
                <a:schemeClr val="accent1"/>
              </a:buClr>
              <a:buFont typeface="微软雅黑" panose="020B0503020204020204" pitchFamily="34" charset="-122"/>
              <a:buChar char="◢"/>
            </a:pPr>
            <a:r>
              <a:rPr lang="zh-CN" altLang="en-US" sz="2000" dirty="0">
                <a:latin typeface="宋体" panose="02010600030101010101" pitchFamily="2" charset="-122"/>
              </a:rPr>
              <a:t>系统目标、现行系统、其它系统、各种方案、数据元素、结构及算法。</a:t>
            </a:r>
            <a:endParaRPr lang="zh-CN" altLang="en-US" sz="2000" dirty="0">
              <a:latin typeface="宋体" panose="02010600030101010101" pitchFamily="2" charset="-122"/>
            </a:endParaRPr>
          </a:p>
          <a:p>
            <a:pPr marL="342900" indent="-342900"/>
            <a:r>
              <a:rPr lang="zh-CN" altLang="zh-CN" sz="2100" dirty="0">
                <a:latin typeface="宋体" panose="02010600030101010101" pitchFamily="2" charset="-122"/>
              </a:rPr>
              <a:t>分析员扼要地写出对问题的理解，整理出书面调查报告，并在用户和使用部门负责人的会议上认真讨论这份书面报告，澄清含糊不精的地方，改正理解不正确的地方，最后成文一份双方都满意的文档。</a:t>
            </a:r>
            <a:endParaRPr lang="en-US" altLang="zh-CN" sz="2100" dirty="0">
              <a:latin typeface="宋体" panose="02010600030101010101" pitchFamily="2" charset="-122"/>
            </a:endParaRPr>
          </a:p>
          <a:p>
            <a:pPr marL="342900" indent="-342900"/>
            <a:r>
              <a:rPr lang="zh-CN" altLang="zh-CN" sz="2100" dirty="0">
                <a:latin typeface="宋体" panose="02010600030101010101" pitchFamily="2" charset="-122"/>
              </a:rPr>
              <a:t>编写项目报告(定义报告、说明书、任务书),提交审查，并作为下一步工作可行性分析的依据</a:t>
            </a:r>
            <a:r>
              <a:rPr lang="zh-CN" altLang="en-US" sz="2100" dirty="0">
                <a:latin typeface="宋体" panose="02010600030101010101" pitchFamily="2" charset="-122"/>
              </a:rPr>
              <a:t>。</a:t>
            </a:r>
            <a:endParaRPr lang="zh-CN" altLang="en-US" sz="2100" dirty="0">
              <a:latin typeface="宋体" panose="02010600030101010101" pitchFamily="2" charset="-122"/>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9" name="日期占位符 8"/>
          <p:cNvSpPr>
            <a:spLocks noGrp="1"/>
          </p:cNvSpPr>
          <p:nvPr>
            <p:ph type="dt" sz="half" idx="10"/>
          </p:nvPr>
        </p:nvSpPr>
        <p:spPr/>
        <p:txBody>
          <a:bodyPr/>
          <a:lstStyle/>
          <a:p>
            <a:fld id="{CE98BC2B-C6BC-41D4-B194-1DE0B1FA3F27}" type="datetime1">
              <a:rPr lang="zh-CN" altLang="en-US" smtClean="0"/>
            </a:fld>
            <a:endParaRPr lang="zh-CN" altLang="en-US" dirty="0"/>
          </a:p>
        </p:txBody>
      </p:sp>
      <p:sp>
        <p:nvSpPr>
          <p:cNvPr id="10" name="页脚占位符 9"/>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案例</a:t>
            </a:r>
            <a:r>
              <a:rPr lang="en-US" altLang="zh-CN" dirty="0"/>
              <a:t>——</a:t>
            </a:r>
            <a:r>
              <a:rPr kumimoji="1" lang="zh-CN" altLang="en-US" dirty="0"/>
              <a:t>教师教学网络测评系统</a:t>
            </a:r>
            <a:endParaRPr lang="zh-CN" altLang="en-US" dirty="0"/>
          </a:p>
        </p:txBody>
      </p:sp>
      <p:sp>
        <p:nvSpPr>
          <p:cNvPr id="4" name="内容占位符 3"/>
          <p:cNvSpPr>
            <a:spLocks noGrp="1"/>
          </p:cNvSpPr>
          <p:nvPr>
            <p:ph idx="1"/>
          </p:nvPr>
        </p:nvSpPr>
        <p:spPr>
          <a:xfrm>
            <a:off x="768097" y="1066800"/>
            <a:ext cx="7832833" cy="3581399"/>
          </a:xfrm>
        </p:spPr>
        <p:txBody>
          <a:bodyPr>
            <a:noAutofit/>
          </a:bodyPr>
          <a:lstStyle/>
          <a:p>
            <a:pPr marL="342900" indent="-342900">
              <a:lnSpc>
                <a:spcPct val="120000"/>
              </a:lnSpc>
            </a:pPr>
            <a:r>
              <a:rPr kumimoji="1" lang="zh-CN" altLang="en-US" sz="2000" dirty="0"/>
              <a:t>某校在校生近</a:t>
            </a:r>
            <a:r>
              <a:rPr kumimoji="1" lang="en-US" altLang="zh-CN" sz="2000" dirty="0"/>
              <a:t>5000</a:t>
            </a:r>
            <a:r>
              <a:rPr kumimoji="1" lang="zh-CN" altLang="en-US" sz="2000" dirty="0"/>
              <a:t>人，每学期在期中都要进行一次对教师的教学质量测评，要求所有学生都要参加。以前测评的方式都是手工操作，由教务处发出书面问卷调查表，每个同学填写完成后交回到教务处。然后教务处再使用手工的方法对问卷进行统计汇总，最后得出学生对每一位教师的总体评价。这种方法一方面浪费了大量的财力、人力，另一方面统计繁琐且容易出错。</a:t>
            </a:r>
            <a:endParaRPr kumimoji="1" lang="en-US" altLang="zh-CN" sz="2000" dirty="0"/>
          </a:p>
          <a:p>
            <a:pPr marL="342900" indent="-342900">
              <a:lnSpc>
                <a:spcPct val="120000"/>
              </a:lnSpc>
            </a:pPr>
            <a:r>
              <a:rPr kumimoji="1" lang="zh-CN" altLang="en-US" sz="2000" dirty="0"/>
              <a:t>考虑到现在学校校园网已经建成，为节省开支，提高效率，学校决定委托计算机系开发一套基于校园的教师教学网络测评系统。</a:t>
            </a:r>
            <a:endParaRPr kumimoji="1" lang="zh-CN" altLang="en-US" sz="20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8" name="日期占位符 7"/>
          <p:cNvSpPr>
            <a:spLocks noGrp="1"/>
          </p:cNvSpPr>
          <p:nvPr>
            <p:ph type="dt" sz="half" idx="10"/>
          </p:nvPr>
        </p:nvSpPr>
        <p:spPr/>
        <p:txBody>
          <a:bodyPr/>
          <a:lstStyle/>
          <a:p>
            <a:fld id="{264858D4-E5A9-4A7B-BF3C-6B355F50E261}" type="datetime1">
              <a:rPr lang="zh-CN" altLang="en-US" smtClean="0"/>
            </a:fld>
            <a:endParaRPr lang="zh-CN" altLang="en-US" dirty="0"/>
          </a:p>
        </p:txBody>
      </p:sp>
      <p:sp>
        <p:nvSpPr>
          <p:cNvPr id="9" name="页脚占位符 8"/>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案例</a:t>
            </a:r>
            <a:r>
              <a:rPr lang="en-US" altLang="zh-CN" dirty="0"/>
              <a:t>——</a:t>
            </a:r>
            <a:r>
              <a:rPr kumimoji="1" lang="zh-CN" altLang="en-US" dirty="0"/>
              <a:t>教师教学网络测评系统</a:t>
            </a:r>
            <a:endParaRPr lang="zh-CN" altLang="en-US" dirty="0"/>
          </a:p>
        </p:txBody>
      </p:sp>
      <p:sp>
        <p:nvSpPr>
          <p:cNvPr id="4" name="内容占位符 3"/>
          <p:cNvSpPr>
            <a:spLocks noGrp="1"/>
          </p:cNvSpPr>
          <p:nvPr>
            <p:ph idx="1"/>
          </p:nvPr>
        </p:nvSpPr>
        <p:spPr/>
        <p:txBody>
          <a:bodyPr>
            <a:noAutofit/>
          </a:bodyPr>
          <a:lstStyle/>
          <a:p>
            <a:pPr marL="457200" indent="-457200">
              <a:lnSpc>
                <a:spcPct val="100000"/>
              </a:lnSpc>
              <a:spcBef>
                <a:spcPts val="1000"/>
              </a:spcBef>
            </a:pPr>
            <a:r>
              <a:rPr kumimoji="1" lang="zh-CN" altLang="en-US" sz="2000" dirty="0"/>
              <a:t>调查后，了解了该项目的一些背景资料与基本要求。系统要实现的要求是：</a:t>
            </a:r>
            <a:endParaRPr kumimoji="1" lang="zh-CN" altLang="en-US" sz="2000" dirty="0"/>
          </a:p>
          <a:p>
            <a:pPr lvl="1">
              <a:lnSpc>
                <a:spcPct val="100000"/>
              </a:lnSpc>
              <a:spcBef>
                <a:spcPts val="1000"/>
              </a:spcBef>
            </a:pPr>
            <a:r>
              <a:rPr kumimoji="1" lang="zh-CN" altLang="en-US" sz="1800" dirty="0"/>
              <a:t>教师测评分两大部分，一是师德测评；二是教学质量测评。师德测评有</a:t>
            </a:r>
            <a:r>
              <a:rPr kumimoji="1" lang="en-US" altLang="zh-CN" sz="1800" dirty="0"/>
              <a:t>4</a:t>
            </a:r>
            <a:r>
              <a:rPr kumimoji="1" lang="zh-CN" altLang="en-US" sz="1800" dirty="0"/>
              <a:t>项指标，教学质量测评有</a:t>
            </a:r>
            <a:r>
              <a:rPr kumimoji="1" lang="en-US" altLang="zh-CN" sz="1800" dirty="0"/>
              <a:t>14</a:t>
            </a:r>
            <a:r>
              <a:rPr kumimoji="1" lang="zh-CN" altLang="en-US" sz="1800" dirty="0"/>
              <a:t>项指标。</a:t>
            </a:r>
            <a:endParaRPr kumimoji="1" lang="zh-CN" altLang="en-US" sz="1800" dirty="0"/>
          </a:p>
          <a:p>
            <a:pPr lvl="1">
              <a:lnSpc>
                <a:spcPct val="100000"/>
              </a:lnSpc>
              <a:spcBef>
                <a:spcPts val="1000"/>
              </a:spcBef>
            </a:pPr>
            <a:r>
              <a:rPr kumimoji="1" lang="zh-CN" altLang="en-US" sz="1800" dirty="0"/>
              <a:t>所有学生在指定时间内在指定机房的计算机上完成对任课教师的测评打分，测评过程全部采用选择的方法，不需要输入任何信息。</a:t>
            </a:r>
            <a:endParaRPr kumimoji="1" lang="zh-CN" altLang="en-US" sz="1800" dirty="0"/>
          </a:p>
          <a:p>
            <a:pPr lvl="1">
              <a:lnSpc>
                <a:spcPct val="100000"/>
              </a:lnSpc>
              <a:spcBef>
                <a:spcPts val="1000"/>
              </a:spcBef>
            </a:pPr>
            <a:r>
              <a:rPr kumimoji="1" lang="zh-CN" altLang="en-US" sz="1800" dirty="0"/>
              <a:t>所有的测评数据保存在学校中心服务器上，有较为严格的安全措施 。</a:t>
            </a:r>
            <a:endParaRPr kumimoji="1" lang="zh-CN" altLang="en-US" sz="1800" dirty="0"/>
          </a:p>
          <a:p>
            <a:pPr lvl="1">
              <a:lnSpc>
                <a:spcPct val="100000"/>
              </a:lnSpc>
              <a:spcBef>
                <a:spcPts val="1000"/>
              </a:spcBef>
            </a:pPr>
            <a:r>
              <a:rPr kumimoji="1" lang="zh-CN" altLang="en-US" sz="1800" dirty="0"/>
              <a:t>系统能对所有的数据进行统计汇总，得出每一位教师的测评结果，并能进行排序、输出。</a:t>
            </a:r>
            <a:endParaRPr kumimoji="1" lang="en-US" altLang="zh-CN" sz="1800" dirty="0"/>
          </a:p>
          <a:p>
            <a:pPr marL="457200" indent="-457200">
              <a:lnSpc>
                <a:spcPct val="100000"/>
              </a:lnSpc>
              <a:spcBef>
                <a:spcPts val="1000"/>
              </a:spcBef>
            </a:pPr>
            <a:r>
              <a:rPr kumimoji="1" lang="zh-CN" altLang="en-US" sz="2000" dirty="0"/>
              <a:t>系统开发的大体费用在</a:t>
            </a:r>
            <a:r>
              <a:rPr kumimoji="1" lang="en-US" altLang="zh-CN" sz="2000" dirty="0"/>
              <a:t>1.2</a:t>
            </a:r>
            <a:r>
              <a:rPr kumimoji="1" lang="zh-CN" altLang="en-US" sz="2000" dirty="0"/>
              <a:t>万元左右，开发周期大约</a:t>
            </a:r>
            <a:r>
              <a:rPr kumimoji="1" lang="en-US" altLang="zh-CN" sz="2000" dirty="0"/>
              <a:t>6</a:t>
            </a:r>
            <a:r>
              <a:rPr kumimoji="1" lang="zh-CN" altLang="en-US" sz="2000" dirty="0"/>
              <a:t>个人月。</a:t>
            </a:r>
            <a:endParaRPr kumimoji="1" lang="zh-CN" altLang="en-US" sz="20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9" name="日期占位符 8"/>
          <p:cNvSpPr>
            <a:spLocks noGrp="1"/>
          </p:cNvSpPr>
          <p:nvPr>
            <p:ph type="dt" sz="half" idx="10"/>
          </p:nvPr>
        </p:nvSpPr>
        <p:spPr/>
        <p:txBody>
          <a:bodyPr/>
          <a:lstStyle/>
          <a:p>
            <a:fld id="{00C3B37C-FD95-44D1-BC47-C66B7C749C0C}" type="datetime1">
              <a:rPr lang="zh-CN" altLang="en-US" smtClean="0"/>
            </a:fld>
            <a:endParaRPr lang="zh-CN" altLang="en-US" dirty="0"/>
          </a:p>
        </p:txBody>
      </p:sp>
      <p:sp>
        <p:nvSpPr>
          <p:cNvPr id="10" name="页脚占位符 9"/>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p:txBody>
          <a:bodyPr/>
          <a:lstStyle/>
          <a:p>
            <a:r>
              <a:rPr lang="zh-CN" altLang="en-US" dirty="0"/>
              <a:t>案例</a:t>
            </a:r>
            <a:r>
              <a:rPr lang="en-US" altLang="zh-CN" dirty="0"/>
              <a:t>——</a:t>
            </a:r>
            <a:r>
              <a:rPr kumimoji="1" lang="zh-CN" altLang="en-US" dirty="0"/>
              <a:t>教师教学网络测评系统</a:t>
            </a:r>
            <a:endParaRPr lang="zh-CN" altLang="en-US" dirty="0"/>
          </a:p>
        </p:txBody>
      </p:sp>
      <p:sp>
        <p:nvSpPr>
          <p:cNvPr id="2" name="内容占位符 1"/>
          <p:cNvSpPr>
            <a:spLocks noGrp="1"/>
          </p:cNvSpPr>
          <p:nvPr>
            <p:ph idx="1"/>
          </p:nvPr>
        </p:nvSpPr>
        <p:spPr>
          <a:xfrm>
            <a:off x="844297" y="852074"/>
            <a:ext cx="7832833" cy="661040"/>
          </a:xfrm>
        </p:spPr>
        <p:txBody>
          <a:bodyPr>
            <a:normAutofit/>
          </a:bodyPr>
          <a:lstStyle/>
          <a:p>
            <a:r>
              <a:rPr kumimoji="1" lang="zh-CN" altLang="en-US" sz="2400" dirty="0">
                <a:latin typeface="Times New Roman" panose="02020603050405020304" pitchFamily="18" charset="0"/>
              </a:rPr>
              <a:t>根据以上分析，形成如下的系统定义报告。</a:t>
            </a:r>
            <a:endParaRPr kumimoji="1" lang="zh-CN" altLang="en-US" sz="2400" dirty="0">
              <a:latin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Text Box 63"/>
          <p:cNvSpPr txBox="1">
            <a:spLocks noChangeArrowheads="1"/>
          </p:cNvSpPr>
          <p:nvPr/>
        </p:nvSpPr>
        <p:spPr bwMode="auto">
          <a:xfrm>
            <a:off x="715636" y="1436713"/>
            <a:ext cx="8090154" cy="2960915"/>
          </a:xfrm>
          <a:prstGeom prst="rect">
            <a:avLst/>
          </a:prstGeom>
          <a:solidFill>
            <a:srgbClr val="F2F2F2"/>
          </a:solidFill>
          <a:ln w="9525">
            <a:solidFill>
              <a:srgbClr val="000000"/>
            </a:solidFill>
            <a:miter lim="800000"/>
          </a:ln>
          <a:effectLst>
            <a:outerShdw dist="107763" dir="2700000" algn="ctr" rotWithShape="0">
              <a:srgbClr val="808080"/>
            </a:outerShdw>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0" hangingPunct="0">
              <a:spcBef>
                <a:spcPts val="450"/>
              </a:spcBef>
              <a:spcAft>
                <a:spcPts val="450"/>
              </a:spcAft>
              <a:defRPr/>
            </a:pPr>
            <a:r>
              <a:rPr kumimoji="1" lang="zh-CN" altLang="en-US" b="1" dirty="0">
                <a:latin typeface="Times New Roman" panose="02020603050405020304" pitchFamily="18" charset="0"/>
                <a:ea typeface="楷体_GB2312" pitchFamily="49" charset="-122"/>
              </a:rPr>
              <a:t>系统定义报告</a:t>
            </a:r>
            <a:endParaRPr kumimoji="1" lang="zh-CN" altLang="en-US" b="1" dirty="0">
              <a:latin typeface="Times New Roman" panose="02020603050405020304" pitchFamily="18" charset="0"/>
              <a:ea typeface="楷体_GB2312" pitchFamily="49" charset="-122"/>
            </a:endParaRPr>
          </a:p>
          <a:p>
            <a:pPr algn="just" eaLnBrk="0" hangingPunct="0">
              <a:defRPr/>
            </a:pPr>
            <a:r>
              <a:rPr lang="zh-CN" altLang="en-US" dirty="0">
                <a:latin typeface="华文中宋" panose="02010600040101010101" pitchFamily="2" charset="-122"/>
                <a:ea typeface="华文中宋" panose="02010600040101010101" pitchFamily="2" charset="-122"/>
              </a:rPr>
              <a:t>用户单位：</a:t>
            </a:r>
            <a:r>
              <a:rPr lang="en-US" altLang="zh-CN" dirty="0">
                <a:latin typeface="华文中宋" panose="02010600040101010101" pitchFamily="2" charset="-122"/>
                <a:ea typeface="华文中宋" panose="02010600040101010101" pitchFamily="2" charset="-122"/>
              </a:rPr>
              <a:t>XX</a:t>
            </a:r>
            <a:r>
              <a:rPr lang="zh-CN" altLang="en-US" dirty="0">
                <a:latin typeface="华文中宋" panose="02010600040101010101" pitchFamily="2" charset="-122"/>
                <a:ea typeface="华文中宋" panose="02010600040101010101" pitchFamily="2" charset="-122"/>
              </a:rPr>
              <a:t>学校教务处     负责人：</a:t>
            </a:r>
            <a:r>
              <a:rPr lang="en-US" altLang="zh-CN" dirty="0">
                <a:latin typeface="华文中宋" panose="02010600040101010101" pitchFamily="2" charset="-122"/>
                <a:ea typeface="华文中宋" panose="02010600040101010101" pitchFamily="2" charset="-122"/>
              </a:rPr>
              <a:t>XXX</a:t>
            </a:r>
            <a:endParaRPr lang="en-US" altLang="zh-CN" dirty="0">
              <a:latin typeface="华文中宋" panose="02010600040101010101" pitchFamily="2" charset="-122"/>
              <a:ea typeface="华文中宋" panose="02010600040101010101" pitchFamily="2" charset="-122"/>
            </a:endParaRPr>
          </a:p>
          <a:p>
            <a:pPr algn="just" eaLnBrk="0" hangingPunct="0">
              <a:defRPr/>
            </a:pPr>
            <a:r>
              <a:rPr lang="zh-CN" altLang="en-US" dirty="0">
                <a:latin typeface="华文中宋" panose="02010600040101010101" pitchFamily="2" charset="-122"/>
                <a:ea typeface="华文中宋" panose="02010600040101010101" pitchFamily="2" charset="-122"/>
              </a:rPr>
              <a:t>开发单位：</a:t>
            </a:r>
            <a:r>
              <a:rPr lang="en-US" altLang="zh-CN" dirty="0">
                <a:latin typeface="华文中宋" panose="02010600040101010101" pitchFamily="2" charset="-122"/>
                <a:ea typeface="华文中宋" panose="02010600040101010101" pitchFamily="2" charset="-122"/>
              </a:rPr>
              <a:t>XX</a:t>
            </a:r>
            <a:r>
              <a:rPr lang="zh-CN" altLang="en-US" dirty="0">
                <a:latin typeface="华文中宋" panose="02010600040101010101" pitchFamily="2" charset="-122"/>
                <a:ea typeface="华文中宋" panose="02010600040101010101" pitchFamily="2" charset="-122"/>
              </a:rPr>
              <a:t>学校计算机系   分析员：</a:t>
            </a:r>
            <a:r>
              <a:rPr lang="en-US" altLang="zh-CN" dirty="0">
                <a:latin typeface="华文中宋" panose="02010600040101010101" pitchFamily="2" charset="-122"/>
                <a:ea typeface="华文中宋" panose="02010600040101010101" pitchFamily="2" charset="-122"/>
              </a:rPr>
              <a:t>XXX</a:t>
            </a:r>
            <a:endParaRPr lang="en-US" altLang="zh-CN" dirty="0">
              <a:latin typeface="华文中宋" panose="02010600040101010101" pitchFamily="2" charset="-122"/>
              <a:ea typeface="华文中宋" panose="02010600040101010101" pitchFamily="2" charset="-122"/>
            </a:endParaRPr>
          </a:p>
          <a:p>
            <a:pPr algn="just" eaLnBrk="0" hangingPunct="0">
              <a:lnSpc>
                <a:spcPct val="126000"/>
              </a:lnSpc>
              <a:defRPr/>
            </a:pPr>
            <a:r>
              <a:rPr lang="zh-CN" altLang="en-US" dirty="0">
                <a:latin typeface="华文中宋" panose="02010600040101010101" pitchFamily="2" charset="-122"/>
                <a:ea typeface="华文中宋" panose="02010600040101010101" pitchFamily="2" charset="-122"/>
              </a:rPr>
              <a:t>项目名称：基于校园网的教学质量测评系统</a:t>
            </a:r>
            <a:endParaRPr lang="zh-CN" altLang="en-US" dirty="0">
              <a:latin typeface="华文中宋" panose="02010600040101010101" pitchFamily="2" charset="-122"/>
              <a:ea typeface="华文中宋" panose="02010600040101010101" pitchFamily="2" charset="-122"/>
            </a:endParaRPr>
          </a:p>
          <a:p>
            <a:pPr algn="just" eaLnBrk="0" hangingPunct="0">
              <a:defRPr/>
            </a:pPr>
            <a:r>
              <a:rPr lang="zh-CN" altLang="en-US" dirty="0">
                <a:latin typeface="华文中宋" panose="02010600040101010101" pitchFamily="2" charset="-122"/>
                <a:ea typeface="华文中宋" panose="02010600040101010101" pitchFamily="2" charset="-122"/>
              </a:rPr>
              <a:t>问题概述：教师教学质量测评每学期必须进行一次，原有的手工方法存在资源浪费、效率极低、结果不准确等问题。</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其它的相关说明</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pPr algn="just" eaLnBrk="0" hangingPunct="0">
              <a:defRPr/>
            </a:pPr>
            <a:r>
              <a:rPr lang="zh-CN" altLang="en-US" dirty="0">
                <a:latin typeface="华文中宋" panose="02010600040101010101" pitchFamily="2" charset="-122"/>
                <a:ea typeface="华文中宋" panose="02010600040101010101" pitchFamily="2" charset="-122"/>
              </a:rPr>
              <a:t>项目目标：开发一个效率高且相对通用的教师教学网络测评系统。</a:t>
            </a:r>
            <a:endParaRPr lang="zh-CN" altLang="en-US" dirty="0">
              <a:latin typeface="华文中宋" panose="02010600040101010101" pitchFamily="2" charset="-122"/>
              <a:ea typeface="华文中宋" panose="02010600040101010101" pitchFamily="2" charset="-122"/>
            </a:endParaRPr>
          </a:p>
          <a:p>
            <a:pPr algn="just" eaLnBrk="0" hangingPunct="0">
              <a:defRPr/>
            </a:pPr>
            <a:r>
              <a:rPr lang="zh-CN" altLang="en-US" dirty="0">
                <a:latin typeface="华文中宋" panose="02010600040101010101" pitchFamily="2" charset="-122"/>
                <a:ea typeface="华文中宋" panose="02010600040101010101" pitchFamily="2" charset="-122"/>
              </a:rPr>
              <a:t>项目规模：开发成本大约</a:t>
            </a:r>
            <a:r>
              <a:rPr lang="en-US" altLang="zh-CN" dirty="0">
                <a:latin typeface="华文中宋" panose="02010600040101010101" pitchFamily="2" charset="-122"/>
                <a:ea typeface="华文中宋" panose="02010600040101010101" pitchFamily="2" charset="-122"/>
              </a:rPr>
              <a:t>1.2</a:t>
            </a:r>
            <a:r>
              <a:rPr lang="zh-CN" altLang="en-US" dirty="0">
                <a:latin typeface="华文中宋" panose="02010600040101010101" pitchFamily="2" charset="-122"/>
                <a:ea typeface="华文中宋" panose="02010600040101010101" pitchFamily="2" charset="-122"/>
              </a:rPr>
              <a:t>万元，开发周期约</a:t>
            </a:r>
            <a:r>
              <a:rPr lang="en-US" altLang="zh-CN" dirty="0">
                <a:latin typeface="华文中宋" panose="02010600040101010101" pitchFamily="2" charset="-122"/>
                <a:ea typeface="华文中宋" panose="02010600040101010101" pitchFamily="2" charset="-122"/>
              </a:rPr>
              <a:t>6</a:t>
            </a:r>
            <a:r>
              <a:rPr lang="zh-CN" altLang="en-US" dirty="0">
                <a:latin typeface="华文中宋" panose="02010600040101010101" pitchFamily="2" charset="-122"/>
                <a:ea typeface="华文中宋" panose="02010600040101010101" pitchFamily="2" charset="-122"/>
              </a:rPr>
              <a:t>个人月。</a:t>
            </a:r>
            <a:endParaRPr lang="zh-CN" altLang="en-US" dirty="0">
              <a:latin typeface="华文中宋" panose="02010600040101010101" pitchFamily="2" charset="-122"/>
              <a:ea typeface="华文中宋" panose="02010600040101010101" pitchFamily="2" charset="-122"/>
            </a:endParaRPr>
          </a:p>
          <a:p>
            <a:pPr algn="just" eaLnBrk="0" hangingPunct="0">
              <a:defRPr/>
            </a:pPr>
            <a:r>
              <a:rPr lang="zh-CN" altLang="en-US" dirty="0">
                <a:latin typeface="华文中宋" panose="02010600040101010101" pitchFamily="2" charset="-122"/>
                <a:ea typeface="华文中宋" panose="02010600040101010101" pitchFamily="2" charset="-122"/>
              </a:rPr>
              <a:t>可行性研究：建议进行一周，费用不超过</a:t>
            </a:r>
            <a:r>
              <a:rPr lang="en-US" altLang="zh-CN" dirty="0">
                <a:latin typeface="华文中宋" panose="02010600040101010101" pitchFamily="2" charset="-122"/>
                <a:ea typeface="华文中宋" panose="02010600040101010101" pitchFamily="2" charset="-122"/>
              </a:rPr>
              <a:t>500</a:t>
            </a:r>
            <a:r>
              <a:rPr lang="zh-CN" altLang="en-US" dirty="0">
                <a:latin typeface="华文中宋" panose="02010600040101010101" pitchFamily="2" charset="-122"/>
                <a:ea typeface="华文中宋" panose="02010600040101010101" pitchFamily="2" charset="-122"/>
              </a:rPr>
              <a:t>元。</a:t>
            </a:r>
            <a:endParaRPr lang="en-US" altLang="zh-CN" dirty="0">
              <a:latin typeface="华文中宋" panose="02010600040101010101" pitchFamily="2" charset="-122"/>
              <a:ea typeface="华文中宋" panose="02010600040101010101" pitchFamily="2" charset="-122"/>
            </a:endParaRPr>
          </a:p>
          <a:p>
            <a:pPr algn="just" eaLnBrk="0" hangingPunct="0">
              <a:defRPr/>
            </a:pPr>
            <a:r>
              <a:rPr lang="en-US" altLang="zh-CN" dirty="0">
                <a:latin typeface="华文中宋" panose="02010600040101010101" pitchFamily="2" charset="-122"/>
                <a:ea typeface="华文中宋" panose="02010600040101010101" pitchFamily="2" charset="-122"/>
              </a:rPr>
              <a:t>……</a:t>
            </a:r>
            <a:endParaRPr lang="zh-CN" altLang="en-US" dirty="0">
              <a:latin typeface="华文中宋" panose="02010600040101010101" pitchFamily="2" charset="-122"/>
              <a:ea typeface="华文中宋" panose="02010600040101010101" pitchFamily="2" charset="-122"/>
            </a:endParaRPr>
          </a:p>
        </p:txBody>
      </p:sp>
      <p:sp>
        <p:nvSpPr>
          <p:cNvPr id="13" name="日期占位符 12"/>
          <p:cNvSpPr>
            <a:spLocks noGrp="1"/>
          </p:cNvSpPr>
          <p:nvPr>
            <p:ph type="dt" sz="half" idx="10"/>
          </p:nvPr>
        </p:nvSpPr>
        <p:spPr/>
        <p:txBody>
          <a:bodyPr/>
          <a:lstStyle/>
          <a:p>
            <a:fld id="{EEC26A15-A32E-48A6-BA99-0AFC514A65A9}" type="datetime1">
              <a:rPr lang="zh-CN" altLang="en-US" smtClean="0"/>
            </a:fld>
            <a:endParaRPr lang="zh-CN" altLang="en-US" dirty="0"/>
          </a:p>
        </p:txBody>
      </p:sp>
      <p:sp>
        <p:nvSpPr>
          <p:cNvPr id="14" name="页脚占位符 13"/>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可行性研究的任务</a:t>
            </a:r>
            <a:endParaRPr lang="zh-CN" altLang="en-US" dirty="0"/>
          </a:p>
        </p:txBody>
      </p:sp>
      <p:sp>
        <p:nvSpPr>
          <p:cNvPr id="2" name="内容占位符 1"/>
          <p:cNvSpPr>
            <a:spLocks noGrp="1"/>
          </p:cNvSpPr>
          <p:nvPr>
            <p:ph idx="1"/>
          </p:nvPr>
        </p:nvSpPr>
        <p:spPr>
          <a:xfrm>
            <a:off x="768096" y="914399"/>
            <a:ext cx="4457047" cy="3712029"/>
          </a:xfrm>
        </p:spPr>
        <p:txBody>
          <a:bodyPr>
            <a:noAutofit/>
          </a:bodyPr>
          <a:lstStyle/>
          <a:p>
            <a:pPr marL="342900" indent="-342900"/>
            <a:r>
              <a:rPr lang="zh-CN" altLang="zh-CN" sz="2200" dirty="0">
                <a:latin typeface="+mn-ea"/>
              </a:rPr>
              <a:t>可行性研究的目的不是解决问题，而是确定问题是否值得去解决。</a:t>
            </a:r>
            <a:endParaRPr lang="zh-CN" altLang="en-US" sz="2200" dirty="0">
              <a:latin typeface="+mn-ea"/>
            </a:endParaRPr>
          </a:p>
          <a:p>
            <a:pPr marL="342900" indent="-342900"/>
            <a:r>
              <a:rPr lang="zh-CN" altLang="en-US" sz="2200" dirty="0">
                <a:latin typeface="+mn-ea"/>
              </a:rPr>
              <a:t>可行性研究是为了</a:t>
            </a:r>
            <a:r>
              <a:rPr lang="zh-CN" altLang="zh-CN" sz="2200" dirty="0">
                <a:latin typeface="+mn-ea"/>
              </a:rPr>
              <a:t>确定项目能</a:t>
            </a:r>
            <a:r>
              <a:rPr lang="zh-CN" altLang="en-US" sz="2200" dirty="0">
                <a:latin typeface="+mn-ea"/>
              </a:rPr>
              <a:t>否</a:t>
            </a:r>
            <a:r>
              <a:rPr lang="zh-CN" altLang="zh-CN" sz="2200" dirty="0">
                <a:latin typeface="+mn-ea"/>
              </a:rPr>
              <a:t>用最小的代价在尽可能短的时间里</a:t>
            </a:r>
            <a:r>
              <a:rPr lang="zh-CN" altLang="en-US" sz="2200" dirty="0">
                <a:latin typeface="+mn-ea"/>
              </a:rPr>
              <a:t>进行</a:t>
            </a:r>
            <a:r>
              <a:rPr lang="zh-CN" altLang="zh-CN" sz="2200" dirty="0">
                <a:latin typeface="+mn-ea"/>
              </a:rPr>
              <a:t>开发。</a:t>
            </a:r>
            <a:endParaRPr lang="zh-CN" altLang="en-US" sz="2200" dirty="0">
              <a:latin typeface="+mn-ea"/>
            </a:endParaRPr>
          </a:p>
          <a:p>
            <a:pPr marL="342900" indent="-342900"/>
            <a:r>
              <a:rPr lang="zh-CN" altLang="en-US" sz="2200" dirty="0">
                <a:latin typeface="+mn-ea"/>
              </a:rPr>
              <a:t>可行性研究的任务：从</a:t>
            </a:r>
            <a:r>
              <a:rPr lang="zh-CN" altLang="en-US" sz="2200" dirty="0">
                <a:solidFill>
                  <a:srgbClr val="FF0000"/>
                </a:solidFill>
                <a:latin typeface="+mn-ea"/>
              </a:rPr>
              <a:t>技术</a:t>
            </a:r>
            <a:r>
              <a:rPr lang="zh-CN" altLang="en-US" sz="2200" dirty="0">
                <a:latin typeface="+mn-ea"/>
              </a:rPr>
              <a:t>、</a:t>
            </a:r>
            <a:r>
              <a:rPr lang="zh-CN" altLang="en-US" sz="2200" dirty="0">
                <a:solidFill>
                  <a:srgbClr val="FF0000"/>
                </a:solidFill>
                <a:latin typeface="+mn-ea"/>
              </a:rPr>
              <a:t>经济</a:t>
            </a:r>
            <a:r>
              <a:rPr lang="zh-CN" altLang="en-US" sz="2200" dirty="0">
                <a:latin typeface="+mn-ea"/>
              </a:rPr>
              <a:t>、</a:t>
            </a:r>
            <a:r>
              <a:rPr lang="zh-CN" altLang="en-US" sz="2200" dirty="0">
                <a:solidFill>
                  <a:srgbClr val="FF0000"/>
                </a:solidFill>
                <a:latin typeface="+mn-ea"/>
              </a:rPr>
              <a:t>法律</a:t>
            </a:r>
            <a:r>
              <a:rPr lang="zh-CN" altLang="en-US" sz="2200" dirty="0">
                <a:latin typeface="+mn-ea"/>
              </a:rPr>
              <a:t>三个方面研究计算机系统工程可能性，</a:t>
            </a:r>
            <a:r>
              <a:rPr lang="zh-CN" altLang="zh-CN" sz="2200" dirty="0">
                <a:latin typeface="+mn-ea"/>
              </a:rPr>
              <a:t>进一步分析和澄清问题的定义</a:t>
            </a:r>
            <a:r>
              <a:rPr lang="zh-CN" altLang="en-US" sz="2200" dirty="0">
                <a:latin typeface="+mn-ea"/>
              </a:rPr>
              <a:t>。</a:t>
            </a:r>
            <a:endParaRPr lang="en-US" altLang="zh-CN" sz="2200" dirty="0">
              <a:latin typeface="+mn-ea"/>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8" name="日期占位符 7"/>
          <p:cNvSpPr>
            <a:spLocks noGrp="1"/>
          </p:cNvSpPr>
          <p:nvPr>
            <p:ph type="dt" sz="half" idx="10"/>
          </p:nvPr>
        </p:nvSpPr>
        <p:spPr/>
        <p:txBody>
          <a:bodyPr/>
          <a:lstStyle/>
          <a:p>
            <a:fld id="{FCD5D033-B2A5-4C37-A36E-4CE2F59E4295}" type="datetime1">
              <a:rPr lang="zh-CN" altLang="en-US" smtClean="0"/>
            </a:fld>
            <a:endParaRPr lang="zh-CN" altLang="en-US" dirty="0"/>
          </a:p>
        </p:txBody>
      </p:sp>
      <p:sp>
        <p:nvSpPr>
          <p:cNvPr id="9" name="页脚占位符 8"/>
          <p:cNvSpPr>
            <a:spLocks noGrp="1"/>
          </p:cNvSpPr>
          <p:nvPr>
            <p:ph type="ftr" sz="quarter" idx="11"/>
          </p:nvPr>
        </p:nvSpPr>
        <p:spPr/>
        <p:txBody>
          <a:bodyPr/>
          <a:lstStyle/>
          <a:p>
            <a:r>
              <a:rPr lang="zh-CN" altLang="en-US"/>
              <a:t>软件工程</a:t>
            </a:r>
            <a:endParaRPr lang="zh-CN" altLang="en-US" dirty="0"/>
          </a:p>
        </p:txBody>
      </p:sp>
      <p:pic>
        <p:nvPicPr>
          <p:cNvPr id="10" name="Picture 2" descr="0201"/>
          <p:cNvPicPr>
            <a:picLocks noChangeAspect="1" noChangeArrowheads="1"/>
          </p:cNvPicPr>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453601" y="1197429"/>
            <a:ext cx="3404649" cy="2989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90"/>
          <p:cNvSpPr>
            <a:spLocks noChangeArrowheads="1"/>
          </p:cNvSpPr>
          <p:nvPr/>
        </p:nvSpPr>
        <p:spPr bwMode="ltGray">
          <a:xfrm>
            <a:off x="2958201" y="841391"/>
            <a:ext cx="184731" cy="300082"/>
          </a:xfrm>
          <a:prstGeom prst="rect">
            <a:avLst/>
          </a:prstGeom>
          <a:noFill/>
          <a:ln>
            <a:noFill/>
          </a:ln>
          <a:effectLst>
            <a:prstShdw prst="shdw17" dist="17961" dir="2700000">
              <a:srgbClr val="7A8E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endParaRPr lang="zh-CN" altLang="zh-CN" sz="1350">
              <a:latin typeface="+mj-ea"/>
              <a:ea typeface="+mj-ea"/>
            </a:endParaRPr>
          </a:p>
        </p:txBody>
      </p:sp>
      <p:sp>
        <p:nvSpPr>
          <p:cNvPr id="26" name="Oval 29"/>
          <p:cNvSpPr>
            <a:spLocks noChangeArrowheads="1"/>
          </p:cNvSpPr>
          <p:nvPr/>
        </p:nvSpPr>
        <p:spPr bwMode="auto">
          <a:xfrm>
            <a:off x="1955190" y="828913"/>
            <a:ext cx="3769519" cy="46791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45949" tIns="0" rIns="45949" bIns="22974"/>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lnSpc>
                <a:spcPct val="96000"/>
              </a:lnSpc>
            </a:pPr>
            <a:r>
              <a:rPr lang="zh-CN" altLang="en-US" b="1" dirty="0">
                <a:solidFill>
                  <a:schemeClr val="bg1"/>
                </a:solidFill>
                <a:latin typeface="+mj-ea"/>
                <a:ea typeface="+mj-ea"/>
              </a:rPr>
              <a:t>可行性研究的内容分类 </a:t>
            </a:r>
            <a:endParaRPr lang="zh-CN" altLang="en-US" dirty="0">
              <a:solidFill>
                <a:schemeClr val="bg1"/>
              </a:solidFill>
              <a:latin typeface="+mj-ea"/>
              <a:ea typeface="+mj-ea"/>
            </a:endParaRPr>
          </a:p>
        </p:txBody>
      </p:sp>
      <p:sp>
        <p:nvSpPr>
          <p:cNvPr id="29" name="Text Box 32"/>
          <p:cNvSpPr txBox="1">
            <a:spLocks noChangeArrowheads="1"/>
          </p:cNvSpPr>
          <p:nvPr/>
        </p:nvSpPr>
        <p:spPr bwMode="auto">
          <a:xfrm>
            <a:off x="4889477" y="2048113"/>
            <a:ext cx="1809751" cy="2526506"/>
          </a:xfrm>
          <a:prstGeom prst="rect">
            <a:avLst/>
          </a:prstGeom>
        </p:spPr>
        <p:style>
          <a:lnRef idx="2">
            <a:schemeClr val="accent1"/>
          </a:lnRef>
          <a:fillRef idx="1">
            <a:schemeClr val="lt1"/>
          </a:fillRef>
          <a:effectRef idx="0">
            <a:schemeClr val="accent1"/>
          </a:effectRef>
          <a:fontRef idx="minor">
            <a:schemeClr val="dk1"/>
          </a:fontRef>
        </p:style>
        <p:txBody>
          <a:bodyPr lIns="45949" tIns="22974" rIns="45949" bIns="22974"/>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just">
              <a:lnSpc>
                <a:spcPct val="96000"/>
              </a:lnSpc>
            </a:pPr>
            <a:r>
              <a:rPr lang="zh-CN" altLang="en-US" sz="1600" dirty="0">
                <a:solidFill>
                  <a:srgbClr val="000000"/>
                </a:solidFill>
                <a:latin typeface="+mj-ea"/>
                <a:ea typeface="+mj-ea"/>
              </a:rPr>
              <a:t>       分析成本与收益；短期效益与长远利益，要作出投资的估算和系统投入运行后可能获得的经济效益或可节约的费用估算。例如一次性开发费用、年运行费用，收益等。</a:t>
            </a:r>
            <a:endParaRPr lang="zh-CN" altLang="en-US" sz="1600" dirty="0">
              <a:latin typeface="+mj-ea"/>
              <a:ea typeface="+mj-ea"/>
            </a:endParaRPr>
          </a:p>
        </p:txBody>
      </p:sp>
      <p:sp>
        <p:nvSpPr>
          <p:cNvPr id="30" name="Text Box 33"/>
          <p:cNvSpPr txBox="1">
            <a:spLocks noChangeArrowheads="1"/>
          </p:cNvSpPr>
          <p:nvPr/>
        </p:nvSpPr>
        <p:spPr bwMode="auto">
          <a:xfrm>
            <a:off x="828856" y="2048113"/>
            <a:ext cx="2071688" cy="2526506"/>
          </a:xfrm>
          <a:prstGeom prst="rect">
            <a:avLst/>
          </a:prstGeom>
        </p:spPr>
        <p:style>
          <a:lnRef idx="2">
            <a:schemeClr val="accent1"/>
          </a:lnRef>
          <a:fillRef idx="1">
            <a:schemeClr val="lt1"/>
          </a:fillRef>
          <a:effectRef idx="0">
            <a:schemeClr val="accent1"/>
          </a:effectRef>
          <a:fontRef idx="minor">
            <a:schemeClr val="dk1"/>
          </a:fontRef>
        </p:style>
        <p:txBody>
          <a:bodyPr lIns="45949" tIns="0" rIns="45949" bIns="22974"/>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just" eaLnBrk="1" hangingPunct="1">
              <a:lnSpc>
                <a:spcPct val="96000"/>
              </a:lnSpc>
            </a:pPr>
            <a:r>
              <a:rPr lang="zh-CN" altLang="en-US" sz="1600" dirty="0">
                <a:solidFill>
                  <a:srgbClr val="000000"/>
                </a:solidFill>
                <a:latin typeface="+mj-ea"/>
                <a:ea typeface="+mj-ea"/>
              </a:rPr>
              <a:t>       分析利用现有的技术能否实现，能否解决系统中的技术难题，所开发的系统能否达到所要求的功能和性能，系统对技术人员的要求，现有的技术人员能否胜任，开发所需要的软件与硬件能否如期得到等。 </a:t>
            </a:r>
            <a:endParaRPr lang="zh-CN" altLang="en-US" sz="1600" dirty="0">
              <a:latin typeface="+mj-ea"/>
              <a:ea typeface="+mj-ea"/>
            </a:endParaRPr>
          </a:p>
        </p:txBody>
      </p:sp>
      <p:sp>
        <p:nvSpPr>
          <p:cNvPr id="32" name="Text Box 35"/>
          <p:cNvSpPr txBox="1">
            <a:spLocks noChangeArrowheads="1"/>
          </p:cNvSpPr>
          <p:nvPr/>
        </p:nvSpPr>
        <p:spPr bwMode="auto">
          <a:xfrm>
            <a:off x="2985090" y="2048113"/>
            <a:ext cx="1809750" cy="2526506"/>
          </a:xfrm>
          <a:prstGeom prst="rect">
            <a:avLst/>
          </a:prstGeom>
        </p:spPr>
        <p:style>
          <a:lnRef idx="2">
            <a:schemeClr val="accent1"/>
          </a:lnRef>
          <a:fillRef idx="1">
            <a:schemeClr val="lt1"/>
          </a:fillRef>
          <a:effectRef idx="0">
            <a:schemeClr val="accent1"/>
          </a:effectRef>
          <a:fontRef idx="minor">
            <a:schemeClr val="dk1"/>
          </a:fontRef>
        </p:style>
        <p:txBody>
          <a:bodyPr lIns="45949" tIns="22974" rIns="45949" bIns="22974"/>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just">
              <a:lnSpc>
                <a:spcPct val="96000"/>
              </a:lnSpc>
            </a:pPr>
            <a:r>
              <a:rPr lang="zh-CN" altLang="en-US" sz="1600" dirty="0">
                <a:solidFill>
                  <a:srgbClr val="000000"/>
                </a:solidFill>
                <a:latin typeface="+mj-ea"/>
                <a:ea typeface="+mj-ea"/>
              </a:rPr>
              <a:t>       主要考虑的是市场、政策与法律方面的问题，以及版权和用户接受度等方面的问题。</a:t>
            </a:r>
            <a:endParaRPr lang="en-US" altLang="zh-CN" sz="1600" dirty="0">
              <a:solidFill>
                <a:srgbClr val="000000"/>
              </a:solidFill>
              <a:latin typeface="+mj-ea"/>
              <a:ea typeface="+mj-ea"/>
            </a:endParaRPr>
          </a:p>
          <a:p>
            <a:pPr algn="just">
              <a:lnSpc>
                <a:spcPct val="96000"/>
              </a:lnSpc>
            </a:pPr>
            <a:r>
              <a:rPr lang="zh-CN" altLang="en-US" sz="1600" dirty="0">
                <a:solidFill>
                  <a:srgbClr val="000000"/>
                </a:solidFill>
                <a:latin typeface="+mj-ea"/>
                <a:ea typeface="+mj-ea"/>
              </a:rPr>
              <a:t>比如项目是否与现行的某些国家政策相背离，违反某些法律法规，不符合社会的伦理道德等。</a:t>
            </a:r>
            <a:endParaRPr lang="zh-CN" altLang="en-US" sz="1600" dirty="0">
              <a:solidFill>
                <a:srgbClr val="000000"/>
              </a:solidFill>
              <a:latin typeface="+mj-ea"/>
              <a:ea typeface="+mj-ea"/>
            </a:endParaRPr>
          </a:p>
          <a:p>
            <a:pPr algn="just" eaLnBrk="1" hangingPunct="1">
              <a:lnSpc>
                <a:spcPct val="96000"/>
              </a:lnSpc>
            </a:pPr>
            <a:endParaRPr lang="zh-CN" altLang="en-US" sz="1600" dirty="0">
              <a:latin typeface="+mj-ea"/>
              <a:ea typeface="+mj-ea"/>
            </a:endParaRPr>
          </a:p>
        </p:txBody>
      </p:sp>
      <p:sp>
        <p:nvSpPr>
          <p:cNvPr id="33" name="Line 36"/>
          <p:cNvSpPr>
            <a:spLocks noChangeShapeType="1"/>
          </p:cNvSpPr>
          <p:nvPr/>
        </p:nvSpPr>
        <p:spPr bwMode="auto">
          <a:xfrm>
            <a:off x="3838757" y="1287303"/>
            <a:ext cx="0" cy="29765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latin typeface="+mj-ea"/>
              <a:ea typeface="+mj-ea"/>
            </a:endParaRPr>
          </a:p>
        </p:txBody>
      </p:sp>
      <p:sp>
        <p:nvSpPr>
          <p:cNvPr id="34" name="Line 37"/>
          <p:cNvSpPr>
            <a:spLocks noChangeShapeType="1"/>
          </p:cNvSpPr>
          <p:nvPr/>
        </p:nvSpPr>
        <p:spPr bwMode="auto">
          <a:xfrm flipH="1">
            <a:off x="1948044" y="1226582"/>
            <a:ext cx="459575" cy="35837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latin typeface="+mj-ea"/>
              <a:ea typeface="+mj-ea"/>
            </a:endParaRPr>
          </a:p>
        </p:txBody>
      </p:sp>
      <p:sp>
        <p:nvSpPr>
          <p:cNvPr id="35" name="Line 38"/>
          <p:cNvSpPr>
            <a:spLocks noChangeShapeType="1"/>
          </p:cNvSpPr>
          <p:nvPr/>
        </p:nvSpPr>
        <p:spPr bwMode="auto">
          <a:xfrm>
            <a:off x="5161548" y="1226581"/>
            <a:ext cx="459575" cy="3048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latin typeface="+mj-ea"/>
              <a:ea typeface="+mj-ea"/>
            </a:endParaRPr>
          </a:p>
        </p:txBody>
      </p:sp>
      <p:sp>
        <p:nvSpPr>
          <p:cNvPr id="36" name="Line 39"/>
          <p:cNvSpPr>
            <a:spLocks noChangeShapeType="1"/>
          </p:cNvSpPr>
          <p:nvPr/>
        </p:nvSpPr>
        <p:spPr bwMode="auto">
          <a:xfrm>
            <a:off x="1864700" y="1746884"/>
            <a:ext cx="0" cy="32504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latin typeface="+mj-ea"/>
              <a:ea typeface="+mj-ea"/>
            </a:endParaRPr>
          </a:p>
        </p:txBody>
      </p:sp>
      <p:sp>
        <p:nvSpPr>
          <p:cNvPr id="37" name="Line 40"/>
          <p:cNvSpPr>
            <a:spLocks noChangeShapeType="1"/>
          </p:cNvSpPr>
          <p:nvPr/>
        </p:nvSpPr>
        <p:spPr bwMode="auto">
          <a:xfrm>
            <a:off x="3838757" y="1801653"/>
            <a:ext cx="0" cy="26789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latin typeface="+mj-ea"/>
              <a:ea typeface="+mj-ea"/>
            </a:endParaRPr>
          </a:p>
        </p:txBody>
      </p:sp>
      <p:sp>
        <p:nvSpPr>
          <p:cNvPr id="38" name="Line 41"/>
          <p:cNvSpPr>
            <a:spLocks noChangeShapeType="1"/>
          </p:cNvSpPr>
          <p:nvPr/>
        </p:nvSpPr>
        <p:spPr bwMode="auto">
          <a:xfrm>
            <a:off x="5655650" y="1801652"/>
            <a:ext cx="0" cy="24646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latin typeface="+mj-ea"/>
              <a:ea typeface="+mj-ea"/>
            </a:endParaRPr>
          </a:p>
        </p:txBody>
      </p:sp>
      <p:sp>
        <p:nvSpPr>
          <p:cNvPr id="7" name="标题 6"/>
          <p:cNvSpPr>
            <a:spLocks noGrp="1"/>
          </p:cNvSpPr>
          <p:nvPr>
            <p:ph type="title"/>
          </p:nvPr>
        </p:nvSpPr>
        <p:spPr/>
        <p:txBody>
          <a:bodyPr/>
          <a:lstStyle/>
          <a:p>
            <a:r>
              <a:rPr lang="zh-CN" altLang="en-US" dirty="0"/>
              <a:t>可行性研究的</a:t>
            </a:r>
            <a:r>
              <a:rPr lang="zh-CN" altLang="en-US" dirty="0">
                <a:latin typeface="宋体" panose="02010600030101010101" pitchFamily="2" charset="-122"/>
              </a:rPr>
              <a:t>三个方面</a:t>
            </a:r>
            <a:endParaRPr lang="zh-CN" altLang="en-US" dirty="0"/>
          </a:p>
        </p:txBody>
      </p:sp>
      <p:sp>
        <p:nvSpPr>
          <p:cNvPr id="9" name="日期占位符 8"/>
          <p:cNvSpPr>
            <a:spLocks noGrp="1"/>
          </p:cNvSpPr>
          <p:nvPr>
            <p:ph type="dt" sz="half" idx="10"/>
          </p:nvPr>
        </p:nvSpPr>
        <p:spPr/>
        <p:txBody>
          <a:bodyPr/>
          <a:lstStyle/>
          <a:p>
            <a:fld id="{2371C77C-ED94-47F1-BDCE-B30FF1CE524F}" type="datetime1">
              <a:rPr lang="zh-CN" altLang="en-US" smtClean="0"/>
            </a:fld>
            <a:endParaRPr lang="zh-CN" altLang="en-US" dirty="0"/>
          </a:p>
        </p:txBody>
      </p:sp>
      <p:sp>
        <p:nvSpPr>
          <p:cNvPr id="10" name="页脚占位符 9"/>
          <p:cNvSpPr>
            <a:spLocks noGrp="1"/>
          </p:cNvSpPr>
          <p:nvPr>
            <p:ph type="ftr" sz="quarter" idx="11"/>
          </p:nvPr>
        </p:nvSpPr>
        <p:spPr/>
        <p:txBody>
          <a:bodyPr/>
          <a:lstStyle/>
          <a:p>
            <a:r>
              <a:rPr lang="zh-CN" altLang="en-US"/>
              <a:t>软件工程</a:t>
            </a:r>
            <a:endParaRPr lang="zh-CN" altLang="en-US" dirty="0"/>
          </a:p>
        </p:txBody>
      </p:sp>
      <p:sp>
        <p:nvSpPr>
          <p:cNvPr id="11" name="灯片编号占位符 10"/>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27" name="Text Box 30"/>
          <p:cNvSpPr txBox="1">
            <a:spLocks noChangeArrowheads="1"/>
          </p:cNvSpPr>
          <p:nvPr/>
        </p:nvSpPr>
        <p:spPr bwMode="auto">
          <a:xfrm>
            <a:off x="3277973" y="1541415"/>
            <a:ext cx="1121568" cy="3257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45949" tIns="0" rIns="45949" bIns="22974"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lnSpc>
                <a:spcPct val="96000"/>
              </a:lnSpc>
            </a:pPr>
            <a:r>
              <a:rPr lang="zh-CN" altLang="en-US" sz="1500" b="1" dirty="0">
                <a:solidFill>
                  <a:schemeClr val="bg1"/>
                </a:solidFill>
                <a:latin typeface="+mj-ea"/>
                <a:ea typeface="+mj-ea"/>
              </a:rPr>
              <a:t>社会可行性 </a:t>
            </a:r>
            <a:endParaRPr lang="zh-CN" altLang="en-US" sz="1500" dirty="0">
              <a:solidFill>
                <a:schemeClr val="bg1"/>
              </a:solidFill>
              <a:latin typeface="+mj-ea"/>
              <a:ea typeface="+mj-ea"/>
            </a:endParaRPr>
          </a:p>
        </p:txBody>
      </p:sp>
      <p:sp>
        <p:nvSpPr>
          <p:cNvPr id="28" name="Text Box 31"/>
          <p:cNvSpPr txBox="1">
            <a:spLocks noChangeArrowheads="1"/>
          </p:cNvSpPr>
          <p:nvPr/>
        </p:nvSpPr>
        <p:spPr bwMode="auto">
          <a:xfrm>
            <a:off x="5080578" y="1531382"/>
            <a:ext cx="1158475" cy="397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45949" tIns="0" rIns="45949" bIns="22974"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lnSpc>
                <a:spcPct val="96000"/>
              </a:lnSpc>
            </a:pPr>
            <a:r>
              <a:rPr lang="zh-CN" altLang="en-US" sz="1500" b="1" dirty="0">
                <a:solidFill>
                  <a:schemeClr val="bg1"/>
                </a:solidFill>
                <a:latin typeface="+mj-ea"/>
                <a:ea typeface="+mj-ea"/>
              </a:rPr>
              <a:t>经济可行性</a:t>
            </a:r>
            <a:endParaRPr lang="zh-CN" altLang="en-US" sz="1500" dirty="0">
              <a:solidFill>
                <a:schemeClr val="bg1"/>
              </a:solidFill>
              <a:latin typeface="+mj-ea"/>
              <a:ea typeface="+mj-ea"/>
            </a:endParaRPr>
          </a:p>
        </p:txBody>
      </p:sp>
      <p:sp>
        <p:nvSpPr>
          <p:cNvPr id="31" name="Text Box 34"/>
          <p:cNvSpPr txBox="1">
            <a:spLocks noChangeArrowheads="1"/>
          </p:cNvSpPr>
          <p:nvPr/>
        </p:nvSpPr>
        <p:spPr bwMode="auto">
          <a:xfrm>
            <a:off x="1363459" y="1531510"/>
            <a:ext cx="1089415" cy="3414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45949" tIns="0" rIns="45949" bIns="22974"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lnSpc>
                <a:spcPct val="96000"/>
              </a:lnSpc>
            </a:pPr>
            <a:r>
              <a:rPr lang="zh-CN" altLang="en-US" sz="1500" b="1" dirty="0">
                <a:solidFill>
                  <a:schemeClr val="bg1"/>
                </a:solidFill>
                <a:latin typeface="+mj-ea"/>
                <a:ea typeface="+mj-ea"/>
              </a:rPr>
              <a:t>技术可行性 </a:t>
            </a:r>
            <a:endParaRPr lang="zh-CN" altLang="en-US" sz="1500" dirty="0">
              <a:solidFill>
                <a:schemeClr val="bg1"/>
              </a:solidFill>
              <a:latin typeface="+mj-ea"/>
              <a:ea typeface="+mj-ea"/>
            </a:endParaRPr>
          </a:p>
        </p:txBody>
      </p:sp>
      <p:sp>
        <p:nvSpPr>
          <p:cNvPr id="14" name="线形标注 1 13"/>
          <p:cNvSpPr/>
          <p:nvPr/>
        </p:nvSpPr>
        <p:spPr>
          <a:xfrm>
            <a:off x="6785964" y="148792"/>
            <a:ext cx="2381251" cy="4425827"/>
          </a:xfrm>
          <a:prstGeom prst="borderCallout1">
            <a:avLst>
              <a:gd name="adj1" fmla="val 5960"/>
              <a:gd name="adj2" fmla="val 3553"/>
              <a:gd name="adj3" fmla="val 41172"/>
              <a:gd name="adj4" fmla="val -16390"/>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42900" indent="-342900">
              <a:lnSpc>
                <a:spcPct val="90000"/>
              </a:lnSpc>
              <a:buFont typeface="+mj-lt"/>
              <a:buAutoNum type="arabicPeriod"/>
              <a:defRPr/>
            </a:pPr>
            <a:r>
              <a:rPr lang="zh-CN" altLang="en-US" sz="1600" b="1" dirty="0">
                <a:solidFill>
                  <a:schemeClr val="accent2"/>
                </a:solidFill>
                <a:latin typeface="+mj-ea"/>
                <a:ea typeface="+mj-ea"/>
              </a:rPr>
              <a:t>一次性开发费用</a:t>
            </a:r>
            <a:endParaRPr lang="zh-CN" altLang="en-US" sz="1600" b="1" dirty="0">
              <a:solidFill>
                <a:schemeClr val="accent2"/>
              </a:solidFill>
              <a:latin typeface="+mj-ea"/>
              <a:ea typeface="+mj-ea"/>
            </a:endParaRPr>
          </a:p>
          <a:p>
            <a:pPr marL="285750" indent="-285750">
              <a:lnSpc>
                <a:spcPct val="90000"/>
              </a:lnSpc>
              <a:buClr>
                <a:schemeClr val="accent1"/>
              </a:buClr>
              <a:buFont typeface="Wingdings 3" panose="05040102010807070707" pitchFamily="18" charset="2"/>
              <a:buChar char="º"/>
              <a:defRPr/>
            </a:pPr>
            <a:r>
              <a:rPr lang="zh-CN" altLang="en-US" sz="1600" dirty="0">
                <a:solidFill>
                  <a:schemeClr val="tx1"/>
                </a:solidFill>
                <a:latin typeface="+mj-ea"/>
                <a:ea typeface="+mj-ea"/>
              </a:rPr>
              <a:t>购买硬件、软件费用</a:t>
            </a:r>
            <a:endParaRPr lang="zh-CN" altLang="en-US" sz="1600" dirty="0">
              <a:solidFill>
                <a:schemeClr val="tx1"/>
              </a:solidFill>
              <a:latin typeface="+mj-ea"/>
              <a:ea typeface="+mj-ea"/>
            </a:endParaRPr>
          </a:p>
          <a:p>
            <a:pPr marL="285750" indent="-285750">
              <a:lnSpc>
                <a:spcPct val="90000"/>
              </a:lnSpc>
              <a:buClr>
                <a:schemeClr val="accent1"/>
              </a:buClr>
              <a:buFont typeface="Wingdings 3" panose="05040102010807070707" pitchFamily="18" charset="2"/>
              <a:buChar char="º"/>
              <a:defRPr/>
            </a:pPr>
            <a:r>
              <a:rPr lang="zh-CN" altLang="en-US" sz="1600" dirty="0">
                <a:solidFill>
                  <a:schemeClr val="tx1"/>
                </a:solidFill>
                <a:latin typeface="+mj-ea"/>
                <a:ea typeface="+mj-ea"/>
              </a:rPr>
              <a:t>人员费用</a:t>
            </a:r>
            <a:endParaRPr lang="zh-CN" altLang="en-US" sz="1600" dirty="0">
              <a:solidFill>
                <a:schemeClr val="tx1"/>
              </a:solidFill>
              <a:latin typeface="+mj-ea"/>
              <a:ea typeface="+mj-ea"/>
            </a:endParaRPr>
          </a:p>
          <a:p>
            <a:pPr marL="285750" indent="-285750">
              <a:lnSpc>
                <a:spcPct val="90000"/>
              </a:lnSpc>
              <a:buClr>
                <a:schemeClr val="accent1"/>
              </a:buClr>
              <a:buFont typeface="Wingdings 3" panose="05040102010807070707" pitchFamily="18" charset="2"/>
              <a:buChar char="º"/>
              <a:defRPr/>
            </a:pPr>
            <a:r>
              <a:rPr lang="zh-CN" altLang="en-US" sz="1600" dirty="0">
                <a:solidFill>
                  <a:schemeClr val="tx1"/>
                </a:solidFill>
                <a:latin typeface="+mj-ea"/>
                <a:ea typeface="+mj-ea"/>
              </a:rPr>
              <a:t>人员培训</a:t>
            </a:r>
            <a:endParaRPr lang="zh-CN" altLang="en-US" sz="1600" dirty="0">
              <a:solidFill>
                <a:schemeClr val="tx1"/>
              </a:solidFill>
              <a:latin typeface="+mj-ea"/>
              <a:ea typeface="+mj-ea"/>
            </a:endParaRPr>
          </a:p>
          <a:p>
            <a:pPr marL="342900" indent="-342900">
              <a:lnSpc>
                <a:spcPct val="90000"/>
              </a:lnSpc>
              <a:buClr>
                <a:schemeClr val="accent1"/>
              </a:buClr>
              <a:buFont typeface="Wingdings 3" panose="05040102010807070707" pitchFamily="18" charset="2"/>
              <a:buChar char="º"/>
              <a:defRPr/>
            </a:pPr>
            <a:r>
              <a:rPr lang="zh-CN" altLang="en-US" sz="1600" dirty="0">
                <a:solidFill>
                  <a:schemeClr val="tx1"/>
                </a:solidFill>
                <a:latin typeface="+mj-ea"/>
                <a:ea typeface="+mj-ea"/>
              </a:rPr>
              <a:t>材料消耗</a:t>
            </a:r>
            <a:endParaRPr lang="zh-CN" altLang="en-US" sz="1600" dirty="0">
              <a:solidFill>
                <a:schemeClr val="tx1"/>
              </a:solidFill>
              <a:latin typeface="+mj-ea"/>
              <a:ea typeface="+mj-ea"/>
            </a:endParaRPr>
          </a:p>
          <a:p>
            <a:pPr marL="342900" indent="-342900">
              <a:lnSpc>
                <a:spcPct val="90000"/>
              </a:lnSpc>
              <a:buFont typeface="+mj-lt"/>
              <a:buAutoNum type="arabicPeriod" startAt="2"/>
              <a:defRPr/>
            </a:pPr>
            <a:r>
              <a:rPr lang="zh-CN" altLang="en-US" sz="1600" b="1" dirty="0">
                <a:solidFill>
                  <a:schemeClr val="accent2"/>
                </a:solidFill>
                <a:latin typeface="+mj-ea"/>
                <a:ea typeface="+mj-ea"/>
              </a:rPr>
              <a:t>年运行费用</a:t>
            </a:r>
            <a:endParaRPr lang="zh-CN" altLang="en-US" sz="1600" b="1" dirty="0">
              <a:solidFill>
                <a:schemeClr val="accent2"/>
              </a:solidFill>
              <a:latin typeface="+mj-ea"/>
              <a:ea typeface="+mj-ea"/>
            </a:endParaRPr>
          </a:p>
          <a:p>
            <a:pPr marL="285750" indent="-285750">
              <a:lnSpc>
                <a:spcPct val="80000"/>
              </a:lnSpc>
              <a:buClr>
                <a:schemeClr val="accent1"/>
              </a:buClr>
              <a:buFont typeface="Wingdings 3" panose="05040102010807070707" pitchFamily="18" charset="2"/>
              <a:buChar char="º"/>
              <a:defRPr/>
            </a:pPr>
            <a:r>
              <a:rPr lang="zh-CN" altLang="en-US" sz="1600" dirty="0">
                <a:solidFill>
                  <a:schemeClr val="tx1"/>
                </a:solidFill>
                <a:latin typeface="+mj-ea"/>
                <a:ea typeface="+mj-ea"/>
                <a:sym typeface="Monotype Sorts" pitchFamily="2" charset="2"/>
              </a:rPr>
              <a:t> 维护</a:t>
            </a:r>
            <a:r>
              <a:rPr lang="zh-CN" altLang="en-US" sz="1600" dirty="0">
                <a:solidFill>
                  <a:schemeClr val="tx1"/>
                </a:solidFill>
                <a:latin typeface="+mj-ea"/>
                <a:ea typeface="+mj-ea"/>
              </a:rPr>
              <a:t>人员</a:t>
            </a:r>
            <a:endParaRPr lang="zh-CN" altLang="en-US" sz="1600" dirty="0">
              <a:solidFill>
                <a:schemeClr val="tx1"/>
              </a:solidFill>
              <a:latin typeface="+mj-ea"/>
              <a:ea typeface="+mj-ea"/>
            </a:endParaRPr>
          </a:p>
          <a:p>
            <a:pPr marL="285750" indent="-285750">
              <a:lnSpc>
                <a:spcPct val="80000"/>
              </a:lnSpc>
              <a:buClr>
                <a:schemeClr val="accent1"/>
              </a:buClr>
              <a:buFont typeface="Wingdings 3" panose="05040102010807070707" pitchFamily="18" charset="2"/>
              <a:buChar char="º"/>
              <a:defRPr/>
            </a:pPr>
            <a:r>
              <a:rPr lang="en-US" altLang="zh-CN" sz="1600" dirty="0">
                <a:solidFill>
                  <a:schemeClr val="tx1"/>
                </a:solidFill>
                <a:latin typeface="+mj-ea"/>
                <a:ea typeface="+mj-ea"/>
                <a:sym typeface="Monotype Sorts" pitchFamily="2" charset="2"/>
              </a:rPr>
              <a:t> </a:t>
            </a:r>
            <a:r>
              <a:rPr lang="zh-CN" altLang="en-US" sz="1600" dirty="0">
                <a:solidFill>
                  <a:schemeClr val="tx1"/>
                </a:solidFill>
                <a:latin typeface="+mj-ea"/>
                <a:ea typeface="+mj-ea"/>
              </a:rPr>
              <a:t>购买硬件、软件升级</a:t>
            </a:r>
            <a:endParaRPr lang="zh-CN" altLang="en-US" sz="1600" dirty="0">
              <a:solidFill>
                <a:schemeClr val="tx1"/>
              </a:solidFill>
              <a:latin typeface="+mj-ea"/>
              <a:ea typeface="+mj-ea"/>
            </a:endParaRPr>
          </a:p>
          <a:p>
            <a:pPr marL="285750" indent="-285750">
              <a:lnSpc>
                <a:spcPct val="80000"/>
              </a:lnSpc>
              <a:buClr>
                <a:schemeClr val="accent1"/>
              </a:buClr>
              <a:buFont typeface="Wingdings 3" panose="05040102010807070707" pitchFamily="18" charset="2"/>
              <a:buChar char="º"/>
              <a:defRPr/>
            </a:pPr>
            <a:r>
              <a:rPr lang="en-US" altLang="zh-CN" sz="1600" dirty="0">
                <a:solidFill>
                  <a:schemeClr val="tx1"/>
                </a:solidFill>
                <a:latin typeface="+mj-ea"/>
                <a:ea typeface="+mj-ea"/>
                <a:sym typeface="Monotype Sorts" pitchFamily="2" charset="2"/>
              </a:rPr>
              <a:t> </a:t>
            </a:r>
            <a:r>
              <a:rPr lang="zh-CN" altLang="en-US" sz="1600" dirty="0">
                <a:solidFill>
                  <a:schemeClr val="tx1"/>
                </a:solidFill>
                <a:latin typeface="+mj-ea"/>
                <a:ea typeface="+mj-ea"/>
              </a:rPr>
              <a:t>物资和杂项 </a:t>
            </a:r>
            <a:endParaRPr lang="zh-CN" altLang="en-US" sz="1600" dirty="0">
              <a:solidFill>
                <a:schemeClr val="tx1"/>
              </a:solidFill>
              <a:latin typeface="+mj-ea"/>
              <a:ea typeface="+mj-ea"/>
            </a:endParaRPr>
          </a:p>
          <a:p>
            <a:pPr marL="342900" indent="-342900">
              <a:lnSpc>
                <a:spcPct val="80000"/>
              </a:lnSpc>
              <a:buFont typeface="+mj-lt"/>
              <a:buAutoNum type="arabicPeriod" startAt="3"/>
              <a:defRPr/>
            </a:pPr>
            <a:r>
              <a:rPr lang="zh-CN" altLang="en-US" sz="1600" b="1" dirty="0">
                <a:solidFill>
                  <a:schemeClr val="accent2"/>
                </a:solidFill>
                <a:latin typeface="+mj-ea"/>
                <a:ea typeface="+mj-ea"/>
              </a:rPr>
              <a:t>收益估算</a:t>
            </a:r>
            <a:endParaRPr lang="zh-CN" altLang="en-US" sz="1600" b="1" dirty="0">
              <a:solidFill>
                <a:schemeClr val="accent2"/>
              </a:solidFill>
              <a:latin typeface="+mj-ea"/>
              <a:ea typeface="+mj-ea"/>
            </a:endParaRPr>
          </a:p>
          <a:p>
            <a:pPr marL="285750" indent="-285750">
              <a:lnSpc>
                <a:spcPct val="90000"/>
              </a:lnSpc>
              <a:buClr>
                <a:schemeClr val="accent1"/>
              </a:buClr>
              <a:buFont typeface="Wingdings 3" panose="05040102010807070707" pitchFamily="18" charset="2"/>
              <a:buChar char="º"/>
              <a:defRPr/>
            </a:pPr>
            <a:r>
              <a:rPr lang="zh-CN" altLang="en-US" sz="1600" dirty="0">
                <a:solidFill>
                  <a:schemeClr val="tx1"/>
                </a:solidFill>
                <a:latin typeface="+mj-ea"/>
                <a:ea typeface="+mj-ea"/>
              </a:rPr>
              <a:t>收益指系统投入而增加的收入或减少的成本。</a:t>
            </a:r>
            <a:endParaRPr lang="zh-CN" altLang="en-US" sz="1600" dirty="0">
              <a:solidFill>
                <a:schemeClr val="tx1"/>
              </a:solidFill>
              <a:latin typeface="+mj-ea"/>
              <a:ea typeface="+mj-ea"/>
            </a:endParaRPr>
          </a:p>
          <a:p>
            <a:pPr marL="285750" indent="-285750">
              <a:lnSpc>
                <a:spcPct val="90000"/>
              </a:lnSpc>
              <a:buClr>
                <a:schemeClr val="accent1"/>
              </a:buClr>
              <a:buFont typeface="Wingdings 3" panose="05040102010807070707" pitchFamily="18" charset="2"/>
              <a:buChar char="º"/>
              <a:defRPr/>
            </a:pPr>
            <a:r>
              <a:rPr lang="zh-CN" altLang="en-US" sz="1600" dirty="0">
                <a:solidFill>
                  <a:schemeClr val="tx1"/>
                </a:solidFill>
                <a:latin typeface="+mj-ea"/>
                <a:ea typeface="+mj-ea"/>
              </a:rPr>
              <a:t>对管理型软件，除一次性投资外一般会增大运行成本。其效益在于提高工作效率和准确性。</a:t>
            </a:r>
            <a:endParaRPr lang="zh-CN" altLang="en-US" sz="1600" dirty="0">
              <a:solidFill>
                <a:schemeClr val="tx1"/>
              </a:solidFill>
              <a:latin typeface="+mj-ea"/>
              <a:ea typeface="+mj-ea"/>
            </a:endParaRPr>
          </a:p>
          <a:p>
            <a:pPr marL="285750" indent="-285750">
              <a:lnSpc>
                <a:spcPct val="90000"/>
              </a:lnSpc>
              <a:buClr>
                <a:schemeClr val="accent1"/>
              </a:buClr>
              <a:buFont typeface="Wingdings 3" panose="05040102010807070707" pitchFamily="18" charset="2"/>
              <a:buChar char="º"/>
              <a:defRPr/>
            </a:pPr>
            <a:r>
              <a:rPr lang="zh-CN" altLang="en-US" sz="1600" dirty="0">
                <a:solidFill>
                  <a:schemeClr val="tx1"/>
                </a:solidFill>
                <a:latin typeface="+mj-ea"/>
                <a:ea typeface="+mj-ea"/>
              </a:rPr>
              <a:t>政府网站侧重于社会效益。</a:t>
            </a:r>
            <a:endParaRPr lang="zh-CN" altLang="en-US" sz="1600" dirty="0">
              <a:solidFill>
                <a:schemeClr val="tx1"/>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标题 25"/>
          <p:cNvSpPr>
            <a:spLocks noGrp="1"/>
          </p:cNvSpPr>
          <p:nvPr>
            <p:ph type="title"/>
          </p:nvPr>
        </p:nvSpPr>
        <p:spPr/>
        <p:txBody>
          <a:bodyPr/>
          <a:lstStyle/>
          <a:p>
            <a:r>
              <a:rPr lang="zh-CN" altLang="en-US" dirty="0"/>
              <a:t>可行性研究的步骤</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8" name="日期占位符 27"/>
          <p:cNvSpPr>
            <a:spLocks noGrp="1"/>
          </p:cNvSpPr>
          <p:nvPr>
            <p:ph type="dt" sz="half" idx="10"/>
          </p:nvPr>
        </p:nvSpPr>
        <p:spPr/>
        <p:txBody>
          <a:bodyPr/>
          <a:lstStyle/>
          <a:p>
            <a:fld id="{753B9F08-28AB-46B2-8718-12F24B169E20}" type="datetime1">
              <a:rPr lang="zh-CN" altLang="en-US" smtClean="0"/>
            </a:fld>
            <a:endParaRPr lang="zh-CN" altLang="en-US" dirty="0"/>
          </a:p>
        </p:txBody>
      </p:sp>
      <p:sp>
        <p:nvSpPr>
          <p:cNvPr id="29" name="页脚占位符 28"/>
          <p:cNvSpPr>
            <a:spLocks noGrp="1"/>
          </p:cNvSpPr>
          <p:nvPr>
            <p:ph type="ftr" sz="quarter" idx="11"/>
          </p:nvPr>
        </p:nvSpPr>
        <p:spPr/>
        <p:txBody>
          <a:bodyPr/>
          <a:lstStyle/>
          <a:p>
            <a:r>
              <a:rPr lang="zh-CN" altLang="en-US"/>
              <a:t>软件工程</a:t>
            </a:r>
            <a:endParaRPr lang="zh-CN" altLang="en-US" dirty="0"/>
          </a:p>
        </p:txBody>
      </p:sp>
      <p:grpSp>
        <p:nvGrpSpPr>
          <p:cNvPr id="30" name="组合 29"/>
          <p:cNvGrpSpPr/>
          <p:nvPr/>
        </p:nvGrpSpPr>
        <p:grpSpPr>
          <a:xfrm>
            <a:off x="1313542" y="1112863"/>
            <a:ext cx="6814458" cy="3456214"/>
            <a:chOff x="762000" y="2133600"/>
            <a:chExt cx="8020084" cy="4114800"/>
          </a:xfrm>
        </p:grpSpPr>
        <p:pic>
          <p:nvPicPr>
            <p:cNvPr id="31" name="Picture 2" descr="0202"/>
            <p:cNvPicPr>
              <a:picLocks noChangeAspect="1" noChangeArrowheads="1"/>
            </p:cNvPicPr>
            <p:nvPr/>
          </p:nvPicPr>
          <p:blipFill rotWithShape="1">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rcRect b="52967"/>
            <a:stretch>
              <a:fillRect/>
            </a:stretch>
          </p:blipFill>
          <p:spPr bwMode="auto">
            <a:xfrm>
              <a:off x="762000" y="2133600"/>
              <a:ext cx="3448084" cy="3848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Picture 2" descr="0202"/>
            <p:cNvPicPr>
              <a:picLocks noChangeAspect="1" noChangeArrowheads="1"/>
            </p:cNvPicPr>
            <p:nvPr/>
          </p:nvPicPr>
          <p:blipFill rotWithShape="1">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rcRect t="52967"/>
            <a:stretch>
              <a:fillRect/>
            </a:stretch>
          </p:blipFill>
          <p:spPr bwMode="auto">
            <a:xfrm>
              <a:off x="5334000" y="2133602"/>
              <a:ext cx="3448084" cy="384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10084" y="2286000"/>
              <a:ext cx="1123917"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54697" y="955774"/>
            <a:ext cx="6534726" cy="459368"/>
          </a:xfrm>
          <a:prstGeom prst="rect">
            <a:avLst/>
          </a:prstGeom>
          <a:gradFill flip="none" rotWithShape="1">
            <a:gsLst>
              <a:gs pos="0">
                <a:schemeClr val="bg1"/>
              </a:gs>
              <a:gs pos="100000">
                <a:srgbClr val="00B0F0"/>
              </a:gs>
            </a:gsLst>
            <a:lin ang="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Title 1"/>
          <p:cNvSpPr>
            <a:spLocks noGrp="1"/>
          </p:cNvSpPr>
          <p:nvPr>
            <p:ph type="title"/>
          </p:nvPr>
        </p:nvSpPr>
        <p:spPr/>
        <p:txBody>
          <a:bodyPr>
            <a:noAutofit/>
          </a:bodyPr>
          <a:lstStyle/>
          <a:p>
            <a:r>
              <a:rPr lang="zh-CN" altLang="en-US" dirty="0">
                <a:latin typeface="+mj-ea"/>
              </a:rPr>
              <a:t>可行性研究的步骤</a:t>
            </a:r>
            <a:endParaRPr lang="zh-CN" altLang="en-US" dirty="0">
              <a:latin typeface="+mj-ea"/>
            </a:endParaRPr>
          </a:p>
        </p:txBody>
      </p:sp>
      <p:sp>
        <p:nvSpPr>
          <p:cNvPr id="3" name="Content Placeholder 2"/>
          <p:cNvSpPr>
            <a:spLocks noGrp="1"/>
          </p:cNvSpPr>
          <p:nvPr>
            <p:ph idx="1"/>
          </p:nvPr>
        </p:nvSpPr>
        <p:spPr>
          <a:xfrm>
            <a:off x="885697" y="828913"/>
            <a:ext cx="7832833" cy="3806854"/>
          </a:xfrm>
        </p:spPr>
        <p:txBody>
          <a:bodyPr>
            <a:noAutofit/>
          </a:bodyPr>
          <a:lstStyle/>
          <a:p>
            <a:pPr marL="0" indent="0">
              <a:lnSpc>
                <a:spcPct val="150000"/>
              </a:lnSpc>
              <a:buNone/>
            </a:pPr>
            <a:r>
              <a:rPr lang="en-US" altLang="zh-CN" sz="2400" b="1" dirty="0">
                <a:solidFill>
                  <a:srgbClr val="0000FF"/>
                </a:solidFill>
              </a:rPr>
              <a:t>1. </a:t>
            </a:r>
            <a:r>
              <a:rPr lang="zh-CN" altLang="zh-CN" sz="2400" b="1" dirty="0">
                <a:solidFill>
                  <a:srgbClr val="0000FF"/>
                </a:solidFill>
              </a:rPr>
              <a:t>确定系统的目标</a:t>
            </a:r>
            <a:endParaRPr lang="zh-CN" altLang="zh-CN" sz="2400" dirty="0"/>
          </a:p>
          <a:p>
            <a:pPr>
              <a:lnSpc>
                <a:spcPct val="150000"/>
              </a:lnSpc>
            </a:pPr>
            <a:r>
              <a:rPr lang="zh-CN" altLang="zh-CN" sz="2400" dirty="0"/>
              <a:t>系统分析人员要详细地阅读各种相关资料，并对用户和市场进行调查，从而确认目标系统要完成的任务。</a:t>
            </a:r>
            <a:endParaRPr lang="en-US" altLang="zh-CN" sz="2400" dirty="0"/>
          </a:p>
          <a:p>
            <a:pPr>
              <a:lnSpc>
                <a:spcPct val="150000"/>
              </a:lnSpc>
            </a:pPr>
            <a:r>
              <a:rPr lang="zh-CN" altLang="zh-CN" sz="2400" dirty="0"/>
              <a:t>同时，还要明确进行项目开发时的一切限制和约束，以及可以使用的各种资源。</a:t>
            </a:r>
            <a:endParaRPr lang="zh-CN" altLang="zh-CN" sz="2400" dirty="0"/>
          </a:p>
        </p:txBody>
      </p:sp>
      <p:sp>
        <p:nvSpPr>
          <p:cNvPr id="5" name="日期占位符 4"/>
          <p:cNvSpPr>
            <a:spLocks noGrp="1"/>
          </p:cNvSpPr>
          <p:nvPr>
            <p:ph type="dt" sz="half" idx="10"/>
          </p:nvPr>
        </p:nvSpPr>
        <p:spPr/>
        <p:txBody>
          <a:bodyPr/>
          <a:lstStyle/>
          <a:p>
            <a:fld id="{F71C8BB6-EADF-4DEB-B937-FDDBED8D6742}"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67611" y="971363"/>
            <a:ext cx="6534726" cy="443780"/>
          </a:xfrm>
          <a:prstGeom prst="rect">
            <a:avLst/>
          </a:prstGeom>
          <a:gradFill flip="none" rotWithShape="1">
            <a:gsLst>
              <a:gs pos="0">
                <a:schemeClr val="bg1"/>
              </a:gs>
              <a:gs pos="100000">
                <a:srgbClr val="00B0F0"/>
              </a:gs>
            </a:gsLst>
            <a:lin ang="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Title 1"/>
          <p:cNvSpPr>
            <a:spLocks noGrp="1"/>
          </p:cNvSpPr>
          <p:nvPr>
            <p:ph type="title"/>
          </p:nvPr>
        </p:nvSpPr>
        <p:spPr/>
        <p:txBody>
          <a:bodyPr>
            <a:noAutofit/>
          </a:bodyPr>
          <a:lstStyle/>
          <a:p>
            <a:r>
              <a:rPr lang="zh-CN" altLang="en-US" dirty="0">
                <a:latin typeface="+mj-ea"/>
              </a:rPr>
              <a:t>可行性研究的步骤</a:t>
            </a:r>
            <a:endParaRPr lang="zh-CN" altLang="en-US" dirty="0">
              <a:latin typeface="+mj-ea"/>
            </a:endParaRPr>
          </a:p>
        </p:txBody>
      </p:sp>
      <p:sp>
        <p:nvSpPr>
          <p:cNvPr id="3" name="Content Placeholder 2"/>
          <p:cNvSpPr>
            <a:spLocks noGrp="1"/>
          </p:cNvSpPr>
          <p:nvPr>
            <p:ph idx="1"/>
          </p:nvPr>
        </p:nvSpPr>
        <p:spPr/>
        <p:txBody>
          <a:bodyPr>
            <a:noAutofit/>
          </a:bodyPr>
          <a:lstStyle/>
          <a:p>
            <a:pPr marL="0" indent="0">
              <a:lnSpc>
                <a:spcPct val="130000"/>
              </a:lnSpc>
              <a:buNone/>
            </a:pPr>
            <a:r>
              <a:rPr lang="en-US" altLang="zh-CN" sz="2400" b="1" dirty="0">
                <a:solidFill>
                  <a:srgbClr val="0000FF"/>
                </a:solidFill>
              </a:rPr>
              <a:t>2. </a:t>
            </a:r>
            <a:r>
              <a:rPr lang="zh-CN" altLang="zh-CN" sz="2400" b="1" dirty="0">
                <a:solidFill>
                  <a:srgbClr val="0000FF"/>
                </a:solidFill>
              </a:rPr>
              <a:t>分析研究正在运行的系统</a:t>
            </a:r>
            <a:endParaRPr lang="zh-CN" altLang="zh-CN" sz="2400" b="1" dirty="0">
              <a:solidFill>
                <a:srgbClr val="0000FF"/>
              </a:solidFill>
            </a:endParaRPr>
          </a:p>
          <a:p>
            <a:pPr>
              <a:lnSpc>
                <a:spcPct val="120000"/>
              </a:lnSpc>
            </a:pPr>
            <a:r>
              <a:rPr lang="zh-CN" altLang="zh-CN" sz="2400" dirty="0"/>
              <a:t>对现有系统功能特点的充分了解是成功开发新系统的前提。</a:t>
            </a:r>
            <a:endParaRPr lang="en-US" altLang="zh-CN" sz="2400" dirty="0"/>
          </a:p>
          <a:p>
            <a:pPr>
              <a:lnSpc>
                <a:spcPct val="120000"/>
              </a:lnSpc>
            </a:pPr>
            <a:r>
              <a:rPr lang="zh-CN" altLang="zh-CN" sz="2400" dirty="0"/>
              <a:t>对现有系统的研究包括阅读和分析各种文档资料，观察系统的运行状况和实地操作系统，收集和分析用户对现有系统的意见等。</a:t>
            </a:r>
            <a:endParaRPr lang="en-US" altLang="zh-CN" sz="2400" dirty="0"/>
          </a:p>
          <a:p>
            <a:pPr>
              <a:lnSpc>
                <a:spcPct val="120000"/>
              </a:lnSpc>
            </a:pPr>
            <a:r>
              <a:rPr lang="zh-CN" altLang="zh-CN" sz="2400" dirty="0"/>
              <a:t>可以说，现有系统是开发目标系统时重要的信息来源。</a:t>
            </a:r>
            <a:endParaRPr lang="zh-CN" altLang="zh-CN" sz="2400" dirty="0"/>
          </a:p>
        </p:txBody>
      </p:sp>
      <p:sp>
        <p:nvSpPr>
          <p:cNvPr id="5" name="日期占位符 4"/>
          <p:cNvSpPr>
            <a:spLocks noGrp="1"/>
          </p:cNvSpPr>
          <p:nvPr>
            <p:ph type="dt" sz="half" idx="10"/>
          </p:nvPr>
        </p:nvSpPr>
        <p:spPr/>
        <p:txBody>
          <a:bodyPr/>
          <a:lstStyle/>
          <a:p>
            <a:fld id="{5B46A16E-2311-4A89-B21E-0D75E531F7CE}"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56726" y="1028700"/>
            <a:ext cx="6534726" cy="473528"/>
          </a:xfrm>
          <a:prstGeom prst="rect">
            <a:avLst/>
          </a:prstGeom>
          <a:gradFill flip="none" rotWithShape="1">
            <a:gsLst>
              <a:gs pos="0">
                <a:schemeClr val="bg1"/>
              </a:gs>
              <a:gs pos="100000">
                <a:srgbClr val="00B0F0"/>
              </a:gs>
            </a:gsLst>
            <a:lin ang="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Title 1"/>
          <p:cNvSpPr>
            <a:spLocks noGrp="1"/>
          </p:cNvSpPr>
          <p:nvPr>
            <p:ph type="title"/>
          </p:nvPr>
        </p:nvSpPr>
        <p:spPr/>
        <p:txBody>
          <a:bodyPr>
            <a:noAutofit/>
          </a:bodyPr>
          <a:lstStyle/>
          <a:p>
            <a:r>
              <a:rPr lang="zh-CN" altLang="en-US" dirty="0">
                <a:latin typeface="+mj-ea"/>
              </a:rPr>
              <a:t>可行性研究的步骤</a:t>
            </a:r>
            <a:endParaRPr lang="zh-CN" altLang="en-US" dirty="0">
              <a:latin typeface="+mj-ea"/>
            </a:endParaRPr>
          </a:p>
        </p:txBody>
      </p:sp>
      <p:sp>
        <p:nvSpPr>
          <p:cNvPr id="3" name="Content Placeholder 2"/>
          <p:cNvSpPr>
            <a:spLocks noGrp="1"/>
          </p:cNvSpPr>
          <p:nvPr>
            <p:ph idx="1"/>
          </p:nvPr>
        </p:nvSpPr>
        <p:spPr/>
        <p:txBody>
          <a:bodyPr>
            <a:noAutofit/>
          </a:bodyPr>
          <a:lstStyle/>
          <a:p>
            <a:pPr marL="0" indent="0">
              <a:lnSpc>
                <a:spcPct val="150000"/>
              </a:lnSpc>
              <a:buNone/>
            </a:pPr>
            <a:r>
              <a:rPr lang="en-US" altLang="zh-CN" sz="2400" b="1" dirty="0">
                <a:solidFill>
                  <a:srgbClr val="0000FF"/>
                </a:solidFill>
              </a:rPr>
              <a:t>3. </a:t>
            </a:r>
            <a:r>
              <a:rPr lang="zh-CN" altLang="zh-CN" sz="2400" b="1" dirty="0">
                <a:solidFill>
                  <a:srgbClr val="0000FF"/>
                </a:solidFill>
              </a:rPr>
              <a:t>设计新系统的高层逻辑模型</a:t>
            </a:r>
            <a:endParaRPr lang="zh-CN" altLang="zh-CN" sz="2400" b="1" dirty="0">
              <a:solidFill>
                <a:srgbClr val="0000FF"/>
              </a:solidFill>
            </a:endParaRPr>
          </a:p>
          <a:p>
            <a:pPr>
              <a:lnSpc>
                <a:spcPct val="120000"/>
              </a:lnSpc>
            </a:pPr>
            <a:r>
              <a:rPr lang="zh-CN" altLang="zh-CN" sz="2400" dirty="0"/>
              <a:t>一般来说，新系统应该完成现有系统的功能，并对现有系统中存在的问题进行改善或修复。</a:t>
            </a:r>
            <a:endParaRPr lang="en-US" altLang="zh-CN" sz="2400" dirty="0"/>
          </a:p>
          <a:p>
            <a:pPr>
              <a:lnSpc>
                <a:spcPct val="120000"/>
              </a:lnSpc>
            </a:pPr>
            <a:r>
              <a:rPr lang="zh-CN" altLang="zh-CN" sz="2400" dirty="0"/>
              <a:t>在分析研究了现有系统的基础上，就可以大体把握新系统的功能和结构，然后从较高层次上建立新系统的逻辑模型。</a:t>
            </a:r>
            <a:endParaRPr lang="zh-CN" altLang="zh-CN" sz="2400" dirty="0"/>
          </a:p>
        </p:txBody>
      </p:sp>
      <p:sp>
        <p:nvSpPr>
          <p:cNvPr id="5" name="日期占位符 4"/>
          <p:cNvSpPr>
            <a:spLocks noGrp="1"/>
          </p:cNvSpPr>
          <p:nvPr>
            <p:ph type="dt" sz="half" idx="10"/>
          </p:nvPr>
        </p:nvSpPr>
        <p:spPr/>
        <p:txBody>
          <a:bodyPr/>
          <a:lstStyle/>
          <a:p>
            <a:fld id="{72888E38-0EA8-46F9-B8B0-D73772F5C05A}"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41536" y="1156420"/>
            <a:ext cx="6534726" cy="498208"/>
          </a:xfrm>
          <a:prstGeom prst="rect">
            <a:avLst/>
          </a:prstGeom>
          <a:gradFill flip="none" rotWithShape="1">
            <a:gsLst>
              <a:gs pos="0">
                <a:schemeClr val="bg1"/>
              </a:gs>
              <a:gs pos="100000">
                <a:srgbClr val="00B0F0"/>
              </a:gs>
            </a:gsLst>
            <a:lin ang="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Title 1"/>
          <p:cNvSpPr>
            <a:spLocks noGrp="1"/>
          </p:cNvSpPr>
          <p:nvPr>
            <p:ph type="title"/>
          </p:nvPr>
        </p:nvSpPr>
        <p:spPr/>
        <p:txBody>
          <a:bodyPr>
            <a:noAutofit/>
          </a:bodyPr>
          <a:lstStyle/>
          <a:p>
            <a:r>
              <a:rPr lang="zh-CN" altLang="en-US" dirty="0">
                <a:latin typeface="+mj-ea"/>
              </a:rPr>
              <a:t>可行性研究的步骤</a:t>
            </a:r>
            <a:endParaRPr lang="zh-CN" altLang="en-US" dirty="0">
              <a:latin typeface="+mj-ea"/>
            </a:endParaRPr>
          </a:p>
        </p:txBody>
      </p:sp>
      <p:sp>
        <p:nvSpPr>
          <p:cNvPr id="3" name="Content Placeholder 2"/>
          <p:cNvSpPr>
            <a:spLocks noGrp="1"/>
          </p:cNvSpPr>
          <p:nvPr>
            <p:ph idx="1"/>
          </p:nvPr>
        </p:nvSpPr>
        <p:spPr>
          <a:xfrm>
            <a:off x="822525" y="957825"/>
            <a:ext cx="7832833" cy="3806854"/>
          </a:xfrm>
        </p:spPr>
        <p:txBody>
          <a:bodyPr>
            <a:noAutofit/>
          </a:bodyPr>
          <a:lstStyle/>
          <a:p>
            <a:pPr marL="0" indent="0">
              <a:lnSpc>
                <a:spcPct val="200000"/>
              </a:lnSpc>
              <a:buNone/>
            </a:pPr>
            <a:r>
              <a:rPr lang="en-US" altLang="zh-CN" sz="2400" b="1" dirty="0">
                <a:solidFill>
                  <a:srgbClr val="0000FF"/>
                </a:solidFill>
              </a:rPr>
              <a:t>4. </a:t>
            </a:r>
            <a:r>
              <a:rPr lang="zh-CN" altLang="zh-CN" sz="2400" b="1" dirty="0">
                <a:solidFill>
                  <a:srgbClr val="0000FF"/>
                </a:solidFill>
              </a:rPr>
              <a:t>提出可行的解决方案并对其进行评估和比较</a:t>
            </a:r>
            <a:endParaRPr lang="zh-CN" altLang="zh-CN" sz="2400" b="1" dirty="0">
              <a:solidFill>
                <a:srgbClr val="0000FF"/>
              </a:solidFill>
            </a:endParaRPr>
          </a:p>
          <a:p>
            <a:pPr>
              <a:lnSpc>
                <a:spcPct val="150000"/>
              </a:lnSpc>
            </a:pPr>
            <a:r>
              <a:rPr lang="zh-CN" altLang="zh-CN" sz="2400" dirty="0"/>
              <a:t>基于新系统的高层逻辑模型，系统分析人员可以从技术的角度提出多种解决方案，并从经济、社会和技术等多个方面对各种解决方案进行比较和评估。</a:t>
            </a:r>
            <a:endParaRPr lang="zh-CN" altLang="zh-CN" sz="2400" dirty="0"/>
          </a:p>
        </p:txBody>
      </p:sp>
      <p:sp>
        <p:nvSpPr>
          <p:cNvPr id="5" name="日期占位符 4"/>
          <p:cNvSpPr>
            <a:spLocks noGrp="1"/>
          </p:cNvSpPr>
          <p:nvPr>
            <p:ph type="dt" sz="half" idx="10"/>
          </p:nvPr>
        </p:nvSpPr>
        <p:spPr/>
        <p:txBody>
          <a:bodyPr/>
          <a:lstStyle/>
          <a:p>
            <a:fld id="{17E3328A-5B11-4EB6-B4F5-25075CBAC2C4}"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34955" y="881623"/>
            <a:ext cx="6534726" cy="480094"/>
          </a:xfrm>
          <a:prstGeom prst="rect">
            <a:avLst/>
          </a:prstGeom>
          <a:gradFill flip="none" rotWithShape="1">
            <a:gsLst>
              <a:gs pos="0">
                <a:schemeClr val="bg1"/>
              </a:gs>
              <a:gs pos="100000">
                <a:srgbClr val="00B0F0"/>
              </a:gs>
            </a:gsLst>
            <a:lin ang="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Title 1"/>
          <p:cNvSpPr>
            <a:spLocks noGrp="1"/>
          </p:cNvSpPr>
          <p:nvPr>
            <p:ph type="title"/>
          </p:nvPr>
        </p:nvSpPr>
        <p:spPr/>
        <p:txBody>
          <a:bodyPr>
            <a:noAutofit/>
          </a:bodyPr>
          <a:lstStyle/>
          <a:p>
            <a:r>
              <a:rPr lang="zh-CN" altLang="en-US" dirty="0">
                <a:latin typeface="+mj-ea"/>
              </a:rPr>
              <a:t>可行性研究的步骤</a:t>
            </a:r>
            <a:endParaRPr lang="zh-CN" altLang="en-US" dirty="0">
              <a:latin typeface="+mj-ea"/>
            </a:endParaRPr>
          </a:p>
        </p:txBody>
      </p:sp>
      <p:sp>
        <p:nvSpPr>
          <p:cNvPr id="3" name="Content Placeholder 2"/>
          <p:cNvSpPr>
            <a:spLocks noGrp="1"/>
          </p:cNvSpPr>
          <p:nvPr>
            <p:ph idx="1"/>
          </p:nvPr>
        </p:nvSpPr>
        <p:spPr/>
        <p:txBody>
          <a:bodyPr>
            <a:noAutofit/>
          </a:bodyPr>
          <a:lstStyle/>
          <a:p>
            <a:pPr marL="0" indent="0">
              <a:buNone/>
            </a:pPr>
            <a:r>
              <a:rPr lang="en-US" altLang="zh-CN" sz="2100" b="1" dirty="0">
                <a:solidFill>
                  <a:srgbClr val="0000FF"/>
                </a:solidFill>
              </a:rPr>
              <a:t>5. </a:t>
            </a:r>
            <a:r>
              <a:rPr lang="zh-CN" altLang="zh-CN" sz="2100" b="1" dirty="0">
                <a:solidFill>
                  <a:srgbClr val="0000FF"/>
                </a:solidFill>
              </a:rPr>
              <a:t>选择合适的解决方案</a:t>
            </a:r>
            <a:endParaRPr lang="zh-CN" altLang="zh-CN" sz="2100" b="1" dirty="0">
              <a:solidFill>
                <a:srgbClr val="0000FF"/>
              </a:solidFill>
            </a:endParaRPr>
          </a:p>
          <a:p>
            <a:r>
              <a:rPr lang="zh-CN" altLang="zh-CN" sz="2100" dirty="0"/>
              <a:t>在上述研究的基础上，回答该软件产品是否能够解决存在的问题，是否能够带来预期的效果和价值的问题。</a:t>
            </a:r>
            <a:endParaRPr lang="en-US" altLang="zh-CN" sz="2100" dirty="0"/>
          </a:p>
          <a:p>
            <a:r>
              <a:rPr lang="zh-CN" altLang="zh-CN" sz="2100" dirty="0"/>
              <a:t>如果该软件开发项目没有必要性和可能性，则应立即停止，并给出详细的理由。</a:t>
            </a:r>
            <a:endParaRPr lang="en-US" altLang="zh-CN" sz="2100" dirty="0"/>
          </a:p>
          <a:p>
            <a:r>
              <a:rPr lang="zh-CN" altLang="zh-CN" sz="2100" dirty="0"/>
              <a:t>如果有开发该软件产品的必要性和可能性，那么应该从上述的多个解决方案中选取出最合适、最可行的解决方案，列举出选择该方案的原因，从经济可行性、社会可行性和技术可行性三个方面对该方案进行可行性研究。</a:t>
            </a:r>
            <a:endParaRPr lang="zh-CN" altLang="zh-CN" sz="2100" dirty="0"/>
          </a:p>
        </p:txBody>
      </p:sp>
      <p:sp>
        <p:nvSpPr>
          <p:cNvPr id="5" name="日期占位符 4"/>
          <p:cNvSpPr>
            <a:spLocks noGrp="1"/>
          </p:cNvSpPr>
          <p:nvPr>
            <p:ph type="dt" sz="half" idx="10"/>
          </p:nvPr>
        </p:nvSpPr>
        <p:spPr/>
        <p:txBody>
          <a:bodyPr/>
          <a:lstStyle/>
          <a:p>
            <a:fld id="{579EB8FC-FA92-411A-AD57-7A96A3AC8FA1}"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67612" y="1110343"/>
            <a:ext cx="6534726" cy="462642"/>
          </a:xfrm>
          <a:prstGeom prst="rect">
            <a:avLst/>
          </a:prstGeom>
          <a:gradFill flip="none" rotWithShape="1">
            <a:gsLst>
              <a:gs pos="0">
                <a:schemeClr val="bg1"/>
              </a:gs>
              <a:gs pos="100000">
                <a:srgbClr val="00B0F0"/>
              </a:gs>
            </a:gsLst>
            <a:lin ang="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Title 1"/>
          <p:cNvSpPr>
            <a:spLocks noGrp="1"/>
          </p:cNvSpPr>
          <p:nvPr>
            <p:ph type="title"/>
          </p:nvPr>
        </p:nvSpPr>
        <p:spPr/>
        <p:txBody>
          <a:bodyPr>
            <a:noAutofit/>
          </a:bodyPr>
          <a:lstStyle/>
          <a:p>
            <a:r>
              <a:rPr lang="zh-CN" altLang="en-US" dirty="0">
                <a:latin typeface="+mj-ea"/>
              </a:rPr>
              <a:t>可行性研究的步骤</a:t>
            </a:r>
            <a:endParaRPr lang="zh-CN" altLang="en-US" dirty="0">
              <a:latin typeface="+mj-ea"/>
            </a:endParaRPr>
          </a:p>
        </p:txBody>
      </p:sp>
      <p:sp>
        <p:nvSpPr>
          <p:cNvPr id="3" name="Content Placeholder 2"/>
          <p:cNvSpPr>
            <a:spLocks noGrp="1"/>
          </p:cNvSpPr>
          <p:nvPr>
            <p:ph idx="1"/>
          </p:nvPr>
        </p:nvSpPr>
        <p:spPr/>
        <p:txBody>
          <a:bodyPr>
            <a:noAutofit/>
          </a:bodyPr>
          <a:lstStyle/>
          <a:p>
            <a:pPr marL="0" indent="0">
              <a:lnSpc>
                <a:spcPct val="200000"/>
              </a:lnSpc>
              <a:buNone/>
            </a:pPr>
            <a:r>
              <a:rPr lang="en-US" altLang="zh-CN" sz="2100" b="1" dirty="0">
                <a:solidFill>
                  <a:srgbClr val="0000FF"/>
                </a:solidFill>
              </a:rPr>
              <a:t>6. </a:t>
            </a:r>
            <a:r>
              <a:rPr lang="zh-CN" altLang="zh-CN" sz="2100" b="1" dirty="0">
                <a:solidFill>
                  <a:srgbClr val="0000FF"/>
                </a:solidFill>
              </a:rPr>
              <a:t>撰写可行性研究报告</a:t>
            </a:r>
            <a:endParaRPr lang="zh-CN" altLang="zh-CN" sz="2100" b="1" dirty="0">
              <a:solidFill>
                <a:srgbClr val="0000FF"/>
              </a:solidFill>
            </a:endParaRPr>
          </a:p>
          <a:p>
            <a:pPr>
              <a:lnSpc>
                <a:spcPct val="150000"/>
              </a:lnSpc>
            </a:pPr>
            <a:r>
              <a:rPr lang="zh-CN" altLang="zh-CN" sz="2400" dirty="0"/>
              <a:t>可行性研究报告是可行性研究阶段的输出文档，应该包括的内容有项目背景、管理概要、候选方案、系统描述、经济可行性分析、社会可行性分析、技术可行性分析及可行性研究的结论等。</a:t>
            </a:r>
            <a:endParaRPr lang="zh-CN" altLang="zh-CN" sz="2400" dirty="0"/>
          </a:p>
        </p:txBody>
      </p:sp>
      <p:sp>
        <p:nvSpPr>
          <p:cNvPr id="5" name="日期占位符 4"/>
          <p:cNvSpPr>
            <a:spLocks noGrp="1"/>
          </p:cNvSpPr>
          <p:nvPr>
            <p:ph type="dt" sz="half" idx="10"/>
          </p:nvPr>
        </p:nvSpPr>
        <p:spPr/>
        <p:txBody>
          <a:bodyPr/>
          <a:lstStyle/>
          <a:p>
            <a:fld id="{605F1512-3886-4BBB-AF4E-71EF680AC893}"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zh-CN" altLang="en-US" dirty="0">
                <a:latin typeface="+mj-ea"/>
              </a:rPr>
              <a:t>可行性研究的步骤</a:t>
            </a:r>
            <a:endParaRPr lang="zh-CN" altLang="en-US" dirty="0">
              <a:latin typeface="+mj-ea"/>
            </a:endParaRPr>
          </a:p>
        </p:txBody>
      </p:sp>
      <p:sp>
        <p:nvSpPr>
          <p:cNvPr id="3" name="Content Placeholder 2"/>
          <p:cNvSpPr>
            <a:spLocks noGrp="1"/>
          </p:cNvSpPr>
          <p:nvPr>
            <p:ph idx="1"/>
          </p:nvPr>
        </p:nvSpPr>
        <p:spPr/>
        <p:txBody>
          <a:bodyPr>
            <a:noAutofit/>
          </a:bodyPr>
          <a:lstStyle/>
          <a:p>
            <a:pPr marL="0" indent="0">
              <a:buNone/>
            </a:pPr>
            <a:r>
              <a:rPr lang="zh-CN" altLang="zh-CN" sz="2100" b="1" dirty="0">
                <a:solidFill>
                  <a:srgbClr val="0000FF"/>
                </a:solidFill>
              </a:rPr>
              <a:t>可行性研究</a:t>
            </a:r>
            <a:r>
              <a:rPr lang="zh-CN" altLang="zh-CN" sz="2100" dirty="0"/>
              <a:t>的结论一般有三种</a:t>
            </a:r>
            <a:r>
              <a:rPr lang="zh-CN" altLang="en-US" sz="2100" dirty="0"/>
              <a:t>：</a:t>
            </a:r>
            <a:endParaRPr lang="en-US" altLang="zh-CN" sz="2100" dirty="0"/>
          </a:p>
        </p:txBody>
      </p:sp>
      <p:graphicFrame>
        <p:nvGraphicFramePr>
          <p:cNvPr id="4" name="图示 3"/>
          <p:cNvGraphicFramePr/>
          <p:nvPr/>
        </p:nvGraphicFramePr>
        <p:xfrm>
          <a:off x="1074537" y="1532164"/>
          <a:ext cx="7219951" cy="3048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日期占位符 4"/>
          <p:cNvSpPr>
            <a:spLocks noGrp="1"/>
          </p:cNvSpPr>
          <p:nvPr>
            <p:ph type="dt" sz="half" idx="10"/>
          </p:nvPr>
        </p:nvSpPr>
        <p:spPr/>
        <p:txBody>
          <a:bodyPr/>
          <a:lstStyle/>
          <a:p>
            <a:fld id="{0D79483B-000E-48EF-9991-B94D355902FD}"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zh-CN" altLang="en-US" dirty="0">
                <a:latin typeface="+mj-ea"/>
              </a:rPr>
              <a:t>可行性研究的步骤</a:t>
            </a:r>
            <a:endParaRPr lang="zh-CN" altLang="en-US" dirty="0">
              <a:latin typeface="+mj-ea"/>
            </a:endParaRPr>
          </a:p>
        </p:txBody>
      </p:sp>
      <p:sp>
        <p:nvSpPr>
          <p:cNvPr id="3" name="Content Placeholder 2"/>
          <p:cNvSpPr>
            <a:spLocks noGrp="1"/>
          </p:cNvSpPr>
          <p:nvPr>
            <p:ph idx="1"/>
          </p:nvPr>
        </p:nvSpPr>
        <p:spPr>
          <a:xfrm>
            <a:off x="648354" y="1088571"/>
            <a:ext cx="8090153" cy="3167742"/>
          </a:xfrm>
        </p:spPr>
        <p:txBody>
          <a:bodyPr>
            <a:noAutofit/>
          </a:bodyPr>
          <a:lstStyle/>
          <a:p>
            <a:pPr>
              <a:lnSpc>
                <a:spcPct val="150000"/>
              </a:lnSpc>
            </a:pPr>
            <a:r>
              <a:rPr lang="zh-CN" altLang="zh-CN" sz="2400" dirty="0"/>
              <a:t>上述</a:t>
            </a:r>
            <a:r>
              <a:rPr lang="zh-CN" altLang="zh-CN" sz="2400" b="1" dirty="0">
                <a:solidFill>
                  <a:srgbClr val="0000FF"/>
                </a:solidFill>
              </a:rPr>
              <a:t>可行性研究的步骤</a:t>
            </a:r>
            <a:r>
              <a:rPr lang="zh-CN" altLang="zh-CN" sz="2400" dirty="0"/>
              <a:t>只是一个经过长期实践总结出来的框架</a:t>
            </a:r>
            <a:r>
              <a:rPr lang="zh-CN" altLang="en-US" sz="2400" dirty="0"/>
              <a:t>。</a:t>
            </a:r>
            <a:endParaRPr lang="en-US" altLang="zh-CN" sz="2400" dirty="0"/>
          </a:p>
          <a:p>
            <a:pPr>
              <a:lnSpc>
                <a:spcPct val="150000"/>
              </a:lnSpc>
            </a:pPr>
            <a:r>
              <a:rPr lang="zh-CN" altLang="zh-CN" sz="2400" dirty="0"/>
              <a:t>在实际的使用过程中，它不是固定的，根据项目的性质、特点以及开发团队对业务领域的熟悉程度会有些变化。</a:t>
            </a:r>
            <a:endParaRPr lang="zh-CN" altLang="zh-CN" sz="2400" dirty="0"/>
          </a:p>
        </p:txBody>
      </p:sp>
      <p:sp>
        <p:nvSpPr>
          <p:cNvPr id="4" name="日期占位符 3"/>
          <p:cNvSpPr>
            <a:spLocks noGrp="1"/>
          </p:cNvSpPr>
          <p:nvPr>
            <p:ph type="dt" sz="half" idx="10"/>
          </p:nvPr>
        </p:nvSpPr>
        <p:spPr/>
        <p:txBody>
          <a:bodyPr/>
          <a:lstStyle/>
          <a:p>
            <a:fld id="{55DCCCAD-460B-4EA2-B71E-CC0ECFCA3CD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标题 36"/>
          <p:cNvSpPr>
            <a:spLocks noGrp="1"/>
          </p:cNvSpPr>
          <p:nvPr>
            <p:ph type="title"/>
          </p:nvPr>
        </p:nvSpPr>
        <p:spPr/>
        <p:txBody>
          <a:bodyPr/>
          <a:lstStyle/>
          <a:p>
            <a:r>
              <a:rPr lang="zh-CN" altLang="en-US" dirty="0"/>
              <a:t>案例</a:t>
            </a:r>
            <a:r>
              <a:rPr lang="en-US" altLang="zh-CN" dirty="0"/>
              <a:t>——</a:t>
            </a:r>
            <a:r>
              <a:rPr kumimoji="1" lang="zh-CN" altLang="en-US" dirty="0"/>
              <a:t>教师教学网络测评系统</a:t>
            </a:r>
            <a:endParaRPr lang="zh-CN" altLang="en-US" dirty="0"/>
          </a:p>
        </p:txBody>
      </p:sp>
      <p:sp>
        <p:nvSpPr>
          <p:cNvPr id="4" name="内容占位符 3"/>
          <p:cNvSpPr>
            <a:spLocks noGrp="1"/>
          </p:cNvSpPr>
          <p:nvPr>
            <p:ph idx="1"/>
          </p:nvPr>
        </p:nvSpPr>
        <p:spPr>
          <a:xfrm>
            <a:off x="421780" y="1392080"/>
            <a:ext cx="2268299" cy="2998683"/>
          </a:xfrm>
        </p:spPr>
        <p:txBody>
          <a:bodyPr>
            <a:normAutofit/>
          </a:bodyPr>
          <a:lstStyle/>
          <a:p>
            <a:pPr marL="0" indent="0">
              <a:buNone/>
            </a:pPr>
            <a:r>
              <a:rPr kumimoji="1" lang="zh-CN" altLang="en-US" sz="2000" dirty="0">
                <a:latin typeface="+mn-ea"/>
              </a:rPr>
              <a:t>在进行技术可行性分析时，要对现有系统绘制</a:t>
            </a:r>
            <a:r>
              <a:rPr kumimoji="1" lang="zh-CN" altLang="en-US" sz="2000" dirty="0">
                <a:solidFill>
                  <a:srgbClr val="FF0000"/>
                </a:solidFill>
                <a:latin typeface="+mn-ea"/>
              </a:rPr>
              <a:t>系统流程图</a:t>
            </a:r>
            <a:r>
              <a:rPr kumimoji="1" lang="en-US" altLang="zh-CN" sz="2000" dirty="0">
                <a:solidFill>
                  <a:srgbClr val="FF0000"/>
                </a:solidFill>
                <a:latin typeface="+mn-ea"/>
              </a:rPr>
              <a:t>SFD</a:t>
            </a:r>
            <a:r>
              <a:rPr kumimoji="1" lang="zh-CN" altLang="en-US" sz="2000" dirty="0">
                <a:latin typeface="+mn-ea"/>
              </a:rPr>
              <a:t>。</a:t>
            </a:r>
            <a:endParaRPr kumimoji="1" lang="en-US" altLang="zh-CN" sz="2000" dirty="0">
              <a:latin typeface="+mn-ea"/>
            </a:endParaRPr>
          </a:p>
          <a:p>
            <a:pPr marL="0" indent="0">
              <a:buNone/>
            </a:pPr>
            <a:r>
              <a:rPr kumimoji="1" lang="zh-CN" altLang="en-US" sz="2100" dirty="0">
                <a:latin typeface="+mn-ea"/>
              </a:rPr>
              <a:t>例如，教师教学网络测评系统流程图</a:t>
            </a:r>
            <a:r>
              <a:rPr kumimoji="1" lang="en-US" altLang="zh-CN" sz="2100" dirty="0">
                <a:latin typeface="+mn-ea"/>
              </a:rPr>
              <a:t>SFD</a:t>
            </a:r>
            <a:r>
              <a:rPr kumimoji="1" lang="zh-CN" altLang="en-US" sz="2100" dirty="0">
                <a:latin typeface="+mn-ea"/>
              </a:rPr>
              <a:t>。</a:t>
            </a:r>
            <a:endParaRPr kumimoji="1" lang="zh-CN" altLang="en-US" sz="2100" dirty="0">
              <a:latin typeface="+mn-ea"/>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32" name="组合 31"/>
          <p:cNvGrpSpPr/>
          <p:nvPr/>
        </p:nvGrpSpPr>
        <p:grpSpPr>
          <a:xfrm>
            <a:off x="2789109" y="899528"/>
            <a:ext cx="6071212" cy="3665623"/>
            <a:chOff x="724824" y="2829718"/>
            <a:chExt cx="7106573" cy="3756962"/>
          </a:xfrm>
          <a:effectLst>
            <a:outerShdw blurRad="50800" dist="38100" dir="2700000" algn="tl" rotWithShape="0">
              <a:prstClr val="black">
                <a:alpha val="40000"/>
              </a:prstClr>
            </a:outerShdw>
          </a:effectLst>
        </p:grpSpPr>
        <p:sp>
          <p:nvSpPr>
            <p:cNvPr id="31" name="矩形 30"/>
            <p:cNvSpPr/>
            <p:nvPr/>
          </p:nvSpPr>
          <p:spPr>
            <a:xfrm>
              <a:off x="724824" y="2829718"/>
              <a:ext cx="7106573" cy="37569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350"/>
            </a:p>
          </p:txBody>
        </p:sp>
        <p:grpSp>
          <p:nvGrpSpPr>
            <p:cNvPr id="6" name="Group 130"/>
            <p:cNvGrpSpPr/>
            <p:nvPr/>
          </p:nvGrpSpPr>
          <p:grpSpPr bwMode="auto">
            <a:xfrm>
              <a:off x="813312" y="2848768"/>
              <a:ext cx="6838951" cy="3559178"/>
              <a:chOff x="1294" y="1083"/>
              <a:chExt cx="4308" cy="2242"/>
            </a:xfrm>
          </p:grpSpPr>
          <p:sp>
            <p:nvSpPr>
              <p:cNvPr id="7" name="AutoShape 5"/>
              <p:cNvSpPr>
                <a:spLocks noChangeArrowheads="1"/>
              </p:cNvSpPr>
              <p:nvPr/>
            </p:nvSpPr>
            <p:spPr bwMode="auto">
              <a:xfrm>
                <a:off x="3186" y="2840"/>
                <a:ext cx="692" cy="485"/>
              </a:xfrm>
              <a:prstGeom prst="flowChartMagneticDisk">
                <a:avLst/>
              </a:prstGeom>
              <a:solidFill>
                <a:srgbClr val="FFFF99"/>
              </a:solidFill>
              <a:ln w="9525">
                <a:solidFill>
                  <a:srgbClr val="000000"/>
                </a:solidFill>
                <a:round/>
              </a:ln>
            </p:spPr>
            <p:txBody>
              <a:bodyPr tIns="0" b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sz="1200" b="1">
                    <a:latin typeface="华文中宋" panose="02010600040101010101" pitchFamily="2" charset="-122"/>
                    <a:ea typeface="华文中宋" panose="02010600040101010101" pitchFamily="2" charset="-122"/>
                  </a:rPr>
                  <a:t>测评</a:t>
                </a:r>
                <a:endParaRPr lang="zh-CN" altLang="en-US" sz="1200" b="1">
                  <a:latin typeface="华文中宋" panose="02010600040101010101" pitchFamily="2" charset="-122"/>
                  <a:ea typeface="华文中宋" panose="02010600040101010101" pitchFamily="2" charset="-122"/>
                </a:endParaRPr>
              </a:p>
              <a:p>
                <a:pPr algn="ctr"/>
                <a:r>
                  <a:rPr lang="zh-CN" altLang="en-US" sz="1200" b="1">
                    <a:latin typeface="华文中宋" panose="02010600040101010101" pitchFamily="2" charset="-122"/>
                    <a:ea typeface="华文中宋" panose="02010600040101010101" pitchFamily="2" charset="-122"/>
                  </a:rPr>
                  <a:t>数据库</a:t>
                </a:r>
                <a:endParaRPr lang="zh-CN" altLang="en-US" sz="1200" b="1">
                  <a:latin typeface="华文中宋" panose="02010600040101010101" pitchFamily="2" charset="-122"/>
                  <a:ea typeface="华文中宋" panose="02010600040101010101" pitchFamily="2" charset="-122"/>
                </a:endParaRPr>
              </a:p>
            </p:txBody>
          </p:sp>
          <p:sp>
            <p:nvSpPr>
              <p:cNvPr id="8" name="Rectangle 6"/>
              <p:cNvSpPr>
                <a:spLocks noChangeArrowheads="1"/>
              </p:cNvSpPr>
              <p:nvPr/>
            </p:nvSpPr>
            <p:spPr bwMode="auto">
              <a:xfrm>
                <a:off x="1294" y="2160"/>
                <a:ext cx="750" cy="275"/>
              </a:xfrm>
              <a:prstGeom prst="rect">
                <a:avLst/>
              </a:prstGeom>
              <a:solidFill>
                <a:srgbClr val="FFFF99"/>
              </a:solidFill>
              <a:ln w="9525">
                <a:solidFill>
                  <a:srgbClr val="000000"/>
                </a:solidFill>
                <a:miter lim="800000"/>
              </a:ln>
            </p:spPr>
            <p:txBody>
              <a:bodyPr tIns="0" b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sz="1200" b="1">
                    <a:latin typeface="华文中宋" panose="02010600040101010101" pitchFamily="2" charset="-122"/>
                    <a:ea typeface="华文中宋" panose="02010600040101010101" pitchFamily="2" charset="-122"/>
                  </a:rPr>
                  <a:t>测评设置</a:t>
                </a:r>
                <a:endParaRPr lang="zh-CN" altLang="en-US" sz="1200" b="1">
                  <a:latin typeface="华文中宋" panose="02010600040101010101" pitchFamily="2" charset="-122"/>
                  <a:ea typeface="华文中宋" panose="02010600040101010101" pitchFamily="2" charset="-122"/>
                </a:endParaRPr>
              </a:p>
            </p:txBody>
          </p:sp>
          <p:sp>
            <p:nvSpPr>
              <p:cNvPr id="9" name="Rectangle 7"/>
              <p:cNvSpPr>
                <a:spLocks noChangeArrowheads="1"/>
              </p:cNvSpPr>
              <p:nvPr/>
            </p:nvSpPr>
            <p:spPr bwMode="auto">
              <a:xfrm>
                <a:off x="4558" y="1117"/>
                <a:ext cx="749" cy="276"/>
              </a:xfrm>
              <a:prstGeom prst="rect">
                <a:avLst/>
              </a:prstGeom>
              <a:solidFill>
                <a:srgbClr val="FFFF99"/>
              </a:solidFill>
              <a:ln w="9525">
                <a:solidFill>
                  <a:srgbClr val="000000"/>
                </a:solidFill>
                <a:miter lim="800000"/>
              </a:ln>
            </p:spPr>
            <p:txBody>
              <a:bodyPr tIns="0" b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sz="1200" b="1">
                    <a:latin typeface="华文中宋" panose="02010600040101010101" pitchFamily="2" charset="-122"/>
                    <a:ea typeface="华文中宋" panose="02010600040101010101" pitchFamily="2" charset="-122"/>
                  </a:rPr>
                  <a:t>测评人员</a:t>
                </a:r>
                <a:endParaRPr lang="zh-CN" altLang="en-US" sz="1200" b="1">
                  <a:latin typeface="华文中宋" panose="02010600040101010101" pitchFamily="2" charset="-122"/>
                  <a:ea typeface="华文中宋" panose="02010600040101010101" pitchFamily="2" charset="-122"/>
                </a:endParaRPr>
              </a:p>
            </p:txBody>
          </p:sp>
          <p:sp>
            <p:nvSpPr>
              <p:cNvPr id="10" name="Rectangle 8"/>
              <p:cNvSpPr>
                <a:spLocks noChangeArrowheads="1"/>
              </p:cNvSpPr>
              <p:nvPr/>
            </p:nvSpPr>
            <p:spPr bwMode="auto">
              <a:xfrm>
                <a:off x="1817" y="1162"/>
                <a:ext cx="750" cy="275"/>
              </a:xfrm>
              <a:prstGeom prst="rect">
                <a:avLst/>
              </a:prstGeom>
              <a:solidFill>
                <a:srgbClr val="FFFF99"/>
              </a:solidFill>
              <a:ln w="9525">
                <a:solidFill>
                  <a:srgbClr val="000000"/>
                </a:solidFill>
                <a:miter lim="800000"/>
              </a:ln>
            </p:spPr>
            <p:txBody>
              <a:bodyPr tIns="0" b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sz="1200" b="1">
                    <a:latin typeface="华文中宋" panose="02010600040101010101" pitchFamily="2" charset="-122"/>
                    <a:ea typeface="华文中宋" panose="02010600040101010101" pitchFamily="2" charset="-122"/>
                  </a:rPr>
                  <a:t>管理人员</a:t>
                </a:r>
                <a:endParaRPr lang="zh-CN" altLang="en-US" sz="1200" b="1">
                  <a:latin typeface="华文中宋" panose="02010600040101010101" pitchFamily="2" charset="-122"/>
                  <a:ea typeface="华文中宋" panose="02010600040101010101" pitchFamily="2" charset="-122"/>
                </a:endParaRPr>
              </a:p>
            </p:txBody>
          </p:sp>
          <p:sp>
            <p:nvSpPr>
              <p:cNvPr id="11" name="Rectangle 9"/>
              <p:cNvSpPr>
                <a:spLocks noChangeArrowheads="1"/>
              </p:cNvSpPr>
              <p:nvPr/>
            </p:nvSpPr>
            <p:spPr bwMode="auto">
              <a:xfrm>
                <a:off x="2305" y="2205"/>
                <a:ext cx="749" cy="276"/>
              </a:xfrm>
              <a:prstGeom prst="rect">
                <a:avLst/>
              </a:prstGeom>
              <a:solidFill>
                <a:srgbClr val="FFFF99"/>
              </a:solidFill>
              <a:ln w="9525">
                <a:solidFill>
                  <a:srgbClr val="000000"/>
                </a:solidFill>
                <a:miter lim="800000"/>
              </a:ln>
            </p:spPr>
            <p:txBody>
              <a:bodyPr tIns="0" b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sz="1200" b="1">
                    <a:latin typeface="华文中宋" panose="02010600040101010101" pitchFamily="2" charset="-122"/>
                    <a:ea typeface="华文中宋" panose="02010600040101010101" pitchFamily="2" charset="-122"/>
                  </a:rPr>
                  <a:t>数据处理</a:t>
                </a:r>
                <a:endParaRPr lang="zh-CN" altLang="en-US" sz="1200" b="1">
                  <a:latin typeface="华文中宋" panose="02010600040101010101" pitchFamily="2" charset="-122"/>
                  <a:ea typeface="华文中宋" panose="02010600040101010101" pitchFamily="2" charset="-122"/>
                </a:endParaRPr>
              </a:p>
            </p:txBody>
          </p:sp>
          <p:sp>
            <p:nvSpPr>
              <p:cNvPr id="12" name="Rectangle 10"/>
              <p:cNvSpPr>
                <a:spLocks noChangeArrowheads="1"/>
              </p:cNvSpPr>
              <p:nvPr/>
            </p:nvSpPr>
            <p:spPr bwMode="auto">
              <a:xfrm>
                <a:off x="4601" y="2927"/>
                <a:ext cx="750" cy="276"/>
              </a:xfrm>
              <a:prstGeom prst="rect">
                <a:avLst/>
              </a:prstGeom>
              <a:solidFill>
                <a:srgbClr val="FFFF99"/>
              </a:solidFill>
              <a:ln w="9525">
                <a:solidFill>
                  <a:srgbClr val="000000"/>
                </a:solidFill>
                <a:miter lim="800000"/>
              </a:ln>
            </p:spPr>
            <p:txBody>
              <a:bodyPr tIns="0" b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sz="1200" b="1">
                    <a:latin typeface="华文中宋" panose="02010600040101010101" pitchFamily="2" charset="-122"/>
                    <a:ea typeface="华文中宋" panose="02010600040101010101" pitchFamily="2" charset="-122"/>
                  </a:rPr>
                  <a:t>数据提交</a:t>
                </a:r>
                <a:endParaRPr lang="zh-CN" altLang="en-US" sz="1200" b="1">
                  <a:latin typeface="华文中宋" panose="02010600040101010101" pitchFamily="2" charset="-122"/>
                  <a:ea typeface="华文中宋" panose="02010600040101010101" pitchFamily="2" charset="-122"/>
                </a:endParaRPr>
              </a:p>
            </p:txBody>
          </p:sp>
          <p:sp>
            <p:nvSpPr>
              <p:cNvPr id="13" name="AutoShape 13"/>
              <p:cNvSpPr>
                <a:spLocks noChangeArrowheads="1"/>
              </p:cNvSpPr>
              <p:nvPr/>
            </p:nvSpPr>
            <p:spPr bwMode="auto">
              <a:xfrm>
                <a:off x="4210" y="2160"/>
                <a:ext cx="1392" cy="266"/>
              </a:xfrm>
              <a:prstGeom prst="flowChartInputOutput">
                <a:avLst/>
              </a:prstGeom>
              <a:solidFill>
                <a:srgbClr val="FFFF99"/>
              </a:solidFill>
              <a:ln w="9525">
                <a:solidFill>
                  <a:srgbClr val="000000"/>
                </a:solidFill>
                <a:miter lim="800000"/>
              </a:ln>
            </p:spPr>
            <p:txBody>
              <a:bodyPr tIns="0" b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sz="1200" b="1">
                    <a:latin typeface="华文中宋" panose="02010600040101010101" pitchFamily="2" charset="-122"/>
                    <a:ea typeface="华文中宋" panose="02010600040101010101" pitchFamily="2" charset="-122"/>
                  </a:rPr>
                  <a:t>输入测评数据</a:t>
                </a:r>
                <a:endParaRPr lang="zh-CN" altLang="en-US" sz="1200" b="1">
                  <a:latin typeface="华文中宋" panose="02010600040101010101" pitchFamily="2" charset="-122"/>
                  <a:ea typeface="华文中宋" panose="02010600040101010101" pitchFamily="2" charset="-122"/>
                </a:endParaRPr>
              </a:p>
            </p:txBody>
          </p:sp>
          <p:sp>
            <p:nvSpPr>
              <p:cNvPr id="14" name="AutoShape 14"/>
              <p:cNvSpPr>
                <a:spLocks noChangeArrowheads="1"/>
              </p:cNvSpPr>
              <p:nvPr/>
            </p:nvSpPr>
            <p:spPr bwMode="auto">
              <a:xfrm>
                <a:off x="3249" y="2205"/>
                <a:ext cx="814" cy="351"/>
              </a:xfrm>
              <a:prstGeom prst="flowChartDocument">
                <a:avLst/>
              </a:prstGeom>
              <a:solidFill>
                <a:srgbClr val="FFFF99"/>
              </a:solidFill>
              <a:ln w="9525">
                <a:solidFill>
                  <a:srgbClr val="000000"/>
                </a:solidFill>
                <a:miter lim="800000"/>
              </a:ln>
            </p:spPr>
            <p:txBody>
              <a:bodyPr tIns="0" b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sz="1200" b="1" dirty="0">
                    <a:latin typeface="华文中宋" panose="02010600040101010101" pitchFamily="2" charset="-122"/>
                    <a:ea typeface="华文中宋" panose="02010600040101010101" pitchFamily="2" charset="-122"/>
                  </a:rPr>
                  <a:t>测评结果</a:t>
                </a:r>
                <a:endParaRPr lang="zh-CN" altLang="en-US" sz="1200" b="1" dirty="0">
                  <a:latin typeface="华文中宋" panose="02010600040101010101" pitchFamily="2" charset="-122"/>
                  <a:ea typeface="华文中宋" panose="02010600040101010101" pitchFamily="2" charset="-122"/>
                </a:endParaRPr>
              </a:p>
            </p:txBody>
          </p:sp>
          <p:sp>
            <p:nvSpPr>
              <p:cNvPr id="15" name="Line 15"/>
              <p:cNvSpPr>
                <a:spLocks noChangeShapeType="1"/>
              </p:cNvSpPr>
              <p:nvPr/>
            </p:nvSpPr>
            <p:spPr bwMode="auto">
              <a:xfrm>
                <a:off x="2165" y="1435"/>
                <a:ext cx="0" cy="18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tIns="0" b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p>
            </p:txBody>
          </p:sp>
          <p:sp>
            <p:nvSpPr>
              <p:cNvPr id="16" name="Line 16"/>
              <p:cNvSpPr>
                <a:spLocks noChangeShapeType="1"/>
              </p:cNvSpPr>
              <p:nvPr/>
            </p:nvSpPr>
            <p:spPr bwMode="auto">
              <a:xfrm flipH="1">
                <a:off x="4903" y="1389"/>
                <a:ext cx="0" cy="22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tIns="0" b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p>
            </p:txBody>
          </p:sp>
          <p:sp>
            <p:nvSpPr>
              <p:cNvPr id="17" name="Line 17"/>
              <p:cNvSpPr>
                <a:spLocks noChangeShapeType="1"/>
              </p:cNvSpPr>
              <p:nvPr/>
            </p:nvSpPr>
            <p:spPr bwMode="auto">
              <a:xfrm>
                <a:off x="2653" y="2024"/>
                <a:ext cx="0" cy="18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tIns="0" b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p>
            </p:txBody>
          </p:sp>
          <p:sp>
            <p:nvSpPr>
              <p:cNvPr id="18" name="Line 18"/>
              <p:cNvSpPr>
                <a:spLocks noChangeShapeType="1"/>
              </p:cNvSpPr>
              <p:nvPr/>
            </p:nvSpPr>
            <p:spPr bwMode="auto">
              <a:xfrm flipH="1">
                <a:off x="4903" y="2432"/>
                <a:ext cx="0" cy="49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tIns="0" b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p>
            </p:txBody>
          </p:sp>
          <p:sp>
            <p:nvSpPr>
              <p:cNvPr id="19" name="Line 19"/>
              <p:cNvSpPr>
                <a:spLocks noChangeShapeType="1"/>
              </p:cNvSpPr>
              <p:nvPr/>
            </p:nvSpPr>
            <p:spPr bwMode="auto">
              <a:xfrm flipH="1">
                <a:off x="3858" y="3067"/>
                <a:ext cx="697"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tIns="0" b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p>
            </p:txBody>
          </p:sp>
          <p:sp>
            <p:nvSpPr>
              <p:cNvPr id="20" name="Line 21"/>
              <p:cNvSpPr>
                <a:spLocks noChangeShapeType="1"/>
              </p:cNvSpPr>
              <p:nvPr/>
            </p:nvSpPr>
            <p:spPr bwMode="auto">
              <a:xfrm>
                <a:off x="1652" y="2024"/>
                <a:ext cx="0" cy="13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tIns="0" b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p>
            </p:txBody>
          </p:sp>
          <p:sp>
            <p:nvSpPr>
              <p:cNvPr id="21" name="Line 22"/>
              <p:cNvSpPr>
                <a:spLocks noChangeShapeType="1"/>
              </p:cNvSpPr>
              <p:nvPr/>
            </p:nvSpPr>
            <p:spPr bwMode="auto">
              <a:xfrm flipH="1" flipV="1">
                <a:off x="4903" y="1888"/>
                <a:ext cx="0" cy="272"/>
              </a:xfrm>
              <a:prstGeom prst="line">
                <a:avLst/>
              </a:prstGeom>
              <a:noFill/>
              <a:ln w="9525">
                <a:solidFill>
                  <a:srgbClr val="000000"/>
                </a:solidFill>
                <a:round/>
                <a:headEnd type="triangle" w="med" len="med"/>
              </a:ln>
              <a:extLst>
                <a:ext uri="{909E8E84-426E-40DD-AFC4-6F175D3DCCD1}">
                  <a14:hiddenFill xmlns:a14="http://schemas.microsoft.com/office/drawing/2010/main">
                    <a:noFill/>
                  </a14:hiddenFill>
                </a:ext>
              </a:extLst>
            </p:spPr>
            <p:txBody>
              <a:bodyPr tIns="0" b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p>
            </p:txBody>
          </p:sp>
          <p:sp>
            <p:nvSpPr>
              <p:cNvPr id="22" name="Line 23"/>
              <p:cNvSpPr>
                <a:spLocks noChangeShapeType="1"/>
              </p:cNvSpPr>
              <p:nvPr/>
            </p:nvSpPr>
            <p:spPr bwMode="auto">
              <a:xfrm>
                <a:off x="3075" y="2341"/>
                <a:ext cx="174"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tIns="0" b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p>
            </p:txBody>
          </p:sp>
          <p:sp>
            <p:nvSpPr>
              <p:cNvPr id="23" name="Line 24"/>
              <p:cNvSpPr>
                <a:spLocks noChangeShapeType="1"/>
              </p:cNvSpPr>
              <p:nvPr/>
            </p:nvSpPr>
            <p:spPr bwMode="auto">
              <a:xfrm>
                <a:off x="1652" y="2024"/>
                <a:ext cx="1001"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tIns="0" b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p>
            </p:txBody>
          </p:sp>
          <p:sp>
            <p:nvSpPr>
              <p:cNvPr id="24" name="Line 25"/>
              <p:cNvSpPr>
                <a:spLocks noChangeShapeType="1"/>
              </p:cNvSpPr>
              <p:nvPr/>
            </p:nvSpPr>
            <p:spPr bwMode="auto">
              <a:xfrm>
                <a:off x="2131" y="1888"/>
                <a:ext cx="0" cy="13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tIns="0" b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p>
            </p:txBody>
          </p:sp>
          <p:sp>
            <p:nvSpPr>
              <p:cNvPr id="25" name="Rectangle 90"/>
              <p:cNvSpPr>
                <a:spLocks noChangeArrowheads="1"/>
              </p:cNvSpPr>
              <p:nvPr/>
            </p:nvSpPr>
            <p:spPr bwMode="ltGray">
              <a:xfrm>
                <a:off x="4019" y="1083"/>
                <a:ext cx="146" cy="207"/>
              </a:xfrm>
              <a:prstGeom prst="rect">
                <a:avLst/>
              </a:prstGeom>
              <a:noFill/>
              <a:ln>
                <a:noFill/>
              </a:ln>
              <a:effectLst>
                <a:prstShdw prst="shdw17" dist="17961" dir="2700000">
                  <a:srgbClr val="7A8E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endParaRPr lang="zh-CN" altLang="zh-CN" sz="1350"/>
              </a:p>
            </p:txBody>
          </p:sp>
          <p:sp>
            <p:nvSpPr>
              <p:cNvPr id="26" name="Rectangle 66"/>
              <p:cNvSpPr>
                <a:spLocks noChangeArrowheads="1"/>
              </p:cNvSpPr>
              <p:nvPr/>
            </p:nvSpPr>
            <p:spPr bwMode="auto">
              <a:xfrm>
                <a:off x="1817" y="1616"/>
                <a:ext cx="750" cy="275"/>
              </a:xfrm>
              <a:prstGeom prst="rect">
                <a:avLst/>
              </a:prstGeom>
              <a:solidFill>
                <a:srgbClr val="FFFF99"/>
              </a:solidFill>
              <a:ln w="9525">
                <a:solidFill>
                  <a:srgbClr val="000000"/>
                </a:solidFill>
                <a:miter lim="800000"/>
              </a:ln>
            </p:spPr>
            <p:txBody>
              <a:bodyPr tIns="0" b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sz="1200" b="1">
                    <a:ea typeface="华文中宋" panose="02010600040101010101" pitchFamily="2" charset="-122"/>
                  </a:rPr>
                  <a:t>身份验证</a:t>
                </a:r>
                <a:endParaRPr lang="zh-CN" altLang="en-US" sz="1200" b="1">
                  <a:ea typeface="华文中宋" panose="02010600040101010101" pitchFamily="2" charset="-122"/>
                </a:endParaRPr>
              </a:p>
            </p:txBody>
          </p:sp>
          <p:sp>
            <p:nvSpPr>
              <p:cNvPr id="27" name="Rectangle 67"/>
              <p:cNvSpPr>
                <a:spLocks noChangeArrowheads="1"/>
              </p:cNvSpPr>
              <p:nvPr/>
            </p:nvSpPr>
            <p:spPr bwMode="auto">
              <a:xfrm>
                <a:off x="4558" y="1616"/>
                <a:ext cx="749" cy="275"/>
              </a:xfrm>
              <a:prstGeom prst="rect">
                <a:avLst/>
              </a:prstGeom>
              <a:solidFill>
                <a:srgbClr val="FFFF99"/>
              </a:solidFill>
              <a:ln w="9525">
                <a:solidFill>
                  <a:srgbClr val="000000"/>
                </a:solidFill>
                <a:miter lim="800000"/>
              </a:ln>
            </p:spPr>
            <p:txBody>
              <a:bodyPr tIns="0" b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sz="1200" b="1" dirty="0">
                    <a:ea typeface="华文中宋" panose="02010600040101010101" pitchFamily="2" charset="-122"/>
                  </a:rPr>
                  <a:t>身份验证</a:t>
                </a:r>
                <a:endParaRPr lang="zh-CN" altLang="en-US" sz="1200" b="1" dirty="0">
                  <a:ea typeface="华文中宋" panose="02010600040101010101" pitchFamily="2" charset="-122"/>
                </a:endParaRPr>
              </a:p>
            </p:txBody>
          </p:sp>
          <p:sp>
            <p:nvSpPr>
              <p:cNvPr id="28" name="Line 113"/>
              <p:cNvSpPr>
                <a:spLocks noChangeShapeType="1"/>
              </p:cNvSpPr>
              <p:nvPr/>
            </p:nvSpPr>
            <p:spPr bwMode="ltGray">
              <a:xfrm>
                <a:off x="1639" y="3113"/>
                <a:ext cx="156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p>
            </p:txBody>
          </p:sp>
          <p:sp>
            <p:nvSpPr>
              <p:cNvPr id="29" name="Line 114"/>
              <p:cNvSpPr>
                <a:spLocks noChangeShapeType="1"/>
              </p:cNvSpPr>
              <p:nvPr/>
            </p:nvSpPr>
            <p:spPr bwMode="ltGray">
              <a:xfrm>
                <a:off x="1639" y="2432"/>
                <a:ext cx="0" cy="6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p>
            </p:txBody>
          </p:sp>
          <p:sp>
            <p:nvSpPr>
              <p:cNvPr id="30" name="Line 115"/>
              <p:cNvSpPr>
                <a:spLocks noChangeShapeType="1"/>
              </p:cNvSpPr>
              <p:nvPr/>
            </p:nvSpPr>
            <p:spPr bwMode="ltGray">
              <a:xfrm>
                <a:off x="2683" y="2478"/>
                <a:ext cx="0" cy="634"/>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350"/>
              </a:p>
            </p:txBody>
          </p:sp>
        </p:grpSp>
      </p:grpSp>
      <p:sp>
        <p:nvSpPr>
          <p:cNvPr id="38" name="日期占位符 37"/>
          <p:cNvSpPr>
            <a:spLocks noGrp="1"/>
          </p:cNvSpPr>
          <p:nvPr>
            <p:ph type="dt" sz="half" idx="10"/>
          </p:nvPr>
        </p:nvSpPr>
        <p:spPr/>
        <p:txBody>
          <a:bodyPr/>
          <a:lstStyle/>
          <a:p>
            <a:fld id="{37294A85-9C16-4187-A075-2AEFABDB5685}" type="datetime1">
              <a:rPr lang="zh-CN" altLang="en-US" smtClean="0"/>
            </a:fld>
            <a:endParaRPr lang="zh-CN" altLang="en-US" dirty="0"/>
          </a:p>
        </p:txBody>
      </p:sp>
      <p:sp>
        <p:nvSpPr>
          <p:cNvPr id="39" name="页脚占位符 38"/>
          <p:cNvSpPr>
            <a:spLocks noGrp="1"/>
          </p:cNvSpPr>
          <p:nvPr>
            <p:ph type="ftr" sz="quarter" idx="11"/>
          </p:nvPr>
        </p:nvSpPr>
        <p:spPr/>
        <p:txBody>
          <a:bodyPr/>
          <a:lstStyle/>
          <a:p>
            <a:r>
              <a:rPr lang="zh-CN" altLang="en-US"/>
              <a:t>软件工程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randombar(horizontal)">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案例</a:t>
            </a:r>
            <a:r>
              <a:rPr lang="en-US" altLang="zh-CN" dirty="0"/>
              <a:t>——</a:t>
            </a:r>
            <a:r>
              <a:rPr kumimoji="1" lang="zh-CN" altLang="en-US" dirty="0"/>
              <a:t>教师教学网络测评系统</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Text Box 5"/>
          <p:cNvSpPr txBox="1">
            <a:spLocks noChangeArrowheads="1"/>
          </p:cNvSpPr>
          <p:nvPr/>
        </p:nvSpPr>
        <p:spPr bwMode="auto">
          <a:xfrm>
            <a:off x="768096" y="785369"/>
            <a:ext cx="7733651" cy="3831818"/>
          </a:xfrm>
          <a:prstGeom prst="rect">
            <a:avLst/>
          </a:prstGeom>
          <a:solidFill>
            <a:schemeClr val="bg2"/>
          </a:solidFill>
          <a:ln>
            <a:solidFill>
              <a:schemeClr val="tx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spcBef>
                <a:spcPct val="50000"/>
              </a:spcBef>
            </a:pPr>
            <a:r>
              <a:rPr kumimoji="1" lang="zh-CN" altLang="en-US" b="1" dirty="0">
                <a:latin typeface="Times New Roman" panose="02020603050405020304" pitchFamily="18" charset="0"/>
                <a:ea typeface="楷体_GB2312" pitchFamily="49" charset="-122"/>
              </a:rPr>
              <a:t>案例文档之二</a:t>
            </a:r>
            <a:r>
              <a:rPr kumimoji="1" lang="en-US" altLang="zh-CN" b="1" dirty="0">
                <a:latin typeface="Times New Roman" panose="02020603050405020304" pitchFamily="18" charset="0"/>
                <a:ea typeface="楷体_GB2312" pitchFamily="49" charset="-122"/>
              </a:rPr>
              <a:t>——</a:t>
            </a:r>
            <a:r>
              <a:rPr kumimoji="1" lang="zh-CN" altLang="en-US" b="1" dirty="0">
                <a:latin typeface="Times New Roman" panose="02020603050405020304" pitchFamily="18" charset="0"/>
                <a:ea typeface="楷体_GB2312" pitchFamily="49" charset="-122"/>
              </a:rPr>
              <a:t>可行性研究报告</a:t>
            </a:r>
            <a:endParaRPr kumimoji="1" lang="zh-CN" altLang="en-US" dirty="0">
              <a:latin typeface="宋体" panose="02010600030101010101" pitchFamily="2" charset="-122"/>
              <a:cs typeface="Times New Roman" panose="02020603050405020304" pitchFamily="18" charset="0"/>
            </a:endParaRPr>
          </a:p>
          <a:p>
            <a:pPr algn="just" eaLnBrk="1" hangingPunct="1">
              <a:spcBef>
                <a:spcPct val="50000"/>
              </a:spcBef>
            </a:pPr>
            <a:r>
              <a:rPr kumimoji="1" lang="en-US" altLang="zh-CN" dirty="0">
                <a:latin typeface="华文中宋" panose="02010600040101010101" pitchFamily="2" charset="-122"/>
                <a:ea typeface="华文中宋" panose="02010600040101010101" pitchFamily="2" charset="-122"/>
              </a:rPr>
              <a:t>1</a:t>
            </a:r>
            <a:r>
              <a:rPr kumimoji="1" lang="zh-CN" altLang="en-US" dirty="0">
                <a:latin typeface="华文中宋" panose="02010600040101010101" pitchFamily="2" charset="-122"/>
                <a:ea typeface="华文中宋" panose="02010600040101010101" pitchFamily="2" charset="-122"/>
              </a:rPr>
              <a:t>．引言</a:t>
            </a:r>
            <a:endParaRPr kumimoji="1" lang="zh-CN" altLang="en-US" dirty="0">
              <a:latin typeface="华文中宋" panose="02010600040101010101" pitchFamily="2" charset="-122"/>
              <a:ea typeface="华文中宋" panose="02010600040101010101" pitchFamily="2" charset="-122"/>
              <a:cs typeface="Times New Roman" panose="02020603050405020304" pitchFamily="18" charset="0"/>
            </a:endParaRPr>
          </a:p>
          <a:p>
            <a:pPr algn="just" eaLnBrk="1" hangingPunct="1">
              <a:spcBef>
                <a:spcPct val="50000"/>
              </a:spcBef>
            </a:pPr>
            <a:r>
              <a:rPr kumimoji="1" lang="en-US" altLang="zh-CN" dirty="0">
                <a:latin typeface="华文中宋" panose="02010600040101010101" pitchFamily="2" charset="-122"/>
                <a:ea typeface="华文中宋" panose="02010600040101010101" pitchFamily="2" charset="-122"/>
              </a:rPr>
              <a:t>1.1</a:t>
            </a:r>
            <a:r>
              <a:rPr kumimoji="1" lang="zh-CN" altLang="en-US" dirty="0">
                <a:latin typeface="华文中宋" panose="02010600040101010101" pitchFamily="2" charset="-122"/>
                <a:ea typeface="华文中宋" panose="02010600040101010101" pitchFamily="2" charset="-122"/>
              </a:rPr>
              <a:t>编写目的</a:t>
            </a:r>
            <a:endParaRPr kumimoji="1" lang="zh-CN" altLang="en-US" dirty="0">
              <a:latin typeface="华文中宋" panose="02010600040101010101" pitchFamily="2" charset="-122"/>
              <a:ea typeface="华文中宋" panose="02010600040101010101" pitchFamily="2" charset="-122"/>
              <a:cs typeface="Times New Roman" panose="02020603050405020304" pitchFamily="18" charset="0"/>
            </a:endParaRPr>
          </a:p>
          <a:p>
            <a:pPr algn="just" eaLnBrk="1" hangingPunct="1">
              <a:spcBef>
                <a:spcPct val="50000"/>
              </a:spcBef>
            </a:pPr>
            <a:r>
              <a:rPr kumimoji="1" lang="zh-CN" altLang="en-US" dirty="0">
                <a:latin typeface="华文中宋" panose="02010600040101010101" pitchFamily="2" charset="-122"/>
                <a:ea typeface="华文中宋" panose="02010600040101010101" pitchFamily="2" charset="-122"/>
              </a:rPr>
              <a:t>本报告分析了</a:t>
            </a:r>
            <a:r>
              <a:rPr kumimoji="1" lang="en-US" altLang="zh-CN" dirty="0">
                <a:latin typeface="华文中宋" panose="02010600040101010101" pitchFamily="2" charset="-122"/>
                <a:ea typeface="华文中宋" panose="02010600040101010101" pitchFamily="2" charset="-122"/>
              </a:rPr>
              <a:t>《</a:t>
            </a:r>
            <a:r>
              <a:rPr kumimoji="1" lang="zh-CN" altLang="en-US" dirty="0">
                <a:latin typeface="华文中宋" panose="02010600040101010101" pitchFamily="2" charset="-122"/>
                <a:ea typeface="华文中宋" panose="02010600040101010101" pitchFamily="2" charset="-122"/>
              </a:rPr>
              <a:t>教师教学网络测评系统</a:t>
            </a:r>
            <a:r>
              <a:rPr kumimoji="1" lang="en-US" altLang="zh-CN" dirty="0">
                <a:latin typeface="华文中宋" panose="02010600040101010101" pitchFamily="2" charset="-122"/>
                <a:ea typeface="华文中宋" panose="02010600040101010101" pitchFamily="2" charset="-122"/>
              </a:rPr>
              <a:t>》</a:t>
            </a:r>
            <a:r>
              <a:rPr kumimoji="1" lang="zh-CN" altLang="en-US" dirty="0">
                <a:latin typeface="华文中宋" panose="02010600040101010101" pitchFamily="2" charset="-122"/>
                <a:ea typeface="华文中宋" panose="02010600040101010101" pitchFamily="2" charset="-122"/>
              </a:rPr>
              <a:t>开发的可行性，请院领导审阅并对是否进行该系统的开发做出批示。</a:t>
            </a:r>
            <a:endParaRPr kumimoji="1" lang="zh-CN" altLang="en-US" dirty="0">
              <a:latin typeface="华文中宋" panose="02010600040101010101" pitchFamily="2" charset="-122"/>
              <a:ea typeface="华文中宋" panose="02010600040101010101" pitchFamily="2" charset="-122"/>
              <a:cs typeface="Times New Roman" panose="02020603050405020304" pitchFamily="18" charset="0"/>
            </a:endParaRPr>
          </a:p>
          <a:p>
            <a:pPr algn="just" eaLnBrk="1" hangingPunct="1">
              <a:spcBef>
                <a:spcPct val="50000"/>
              </a:spcBef>
            </a:pPr>
            <a:r>
              <a:rPr kumimoji="1" lang="en-US" altLang="zh-CN" dirty="0">
                <a:latin typeface="华文中宋" panose="02010600040101010101" pitchFamily="2" charset="-122"/>
                <a:ea typeface="华文中宋" panose="02010600040101010101" pitchFamily="2" charset="-122"/>
              </a:rPr>
              <a:t>1.2</a:t>
            </a:r>
            <a:r>
              <a:rPr kumimoji="1" lang="zh-CN" altLang="en-US" dirty="0">
                <a:latin typeface="华文中宋" panose="02010600040101010101" pitchFamily="2" charset="-122"/>
                <a:ea typeface="华文中宋" panose="02010600040101010101" pitchFamily="2" charset="-122"/>
              </a:rPr>
              <a:t>项目背景</a:t>
            </a:r>
            <a:endParaRPr kumimoji="1" lang="zh-CN" altLang="en-US" dirty="0">
              <a:latin typeface="华文中宋" panose="02010600040101010101" pitchFamily="2" charset="-122"/>
              <a:ea typeface="华文中宋" panose="02010600040101010101" pitchFamily="2" charset="-122"/>
              <a:cs typeface="Times New Roman" panose="02020603050405020304" pitchFamily="18" charset="0"/>
            </a:endParaRPr>
          </a:p>
          <a:p>
            <a:pPr algn="just" eaLnBrk="1" hangingPunct="1">
              <a:spcBef>
                <a:spcPct val="50000"/>
              </a:spcBef>
            </a:pPr>
            <a:r>
              <a:rPr kumimoji="1" lang="zh-CN" altLang="en-US" dirty="0">
                <a:latin typeface="华文中宋" panose="02010600040101010101" pitchFamily="2" charset="-122"/>
                <a:ea typeface="华文中宋" panose="02010600040101010101" pitchFamily="2" charset="-122"/>
              </a:rPr>
              <a:t>建议进行</a:t>
            </a:r>
            <a:r>
              <a:rPr kumimoji="1" lang="en-US" altLang="zh-CN" dirty="0">
                <a:latin typeface="华文中宋" panose="02010600040101010101" pitchFamily="2" charset="-122"/>
                <a:ea typeface="华文中宋" panose="02010600040101010101" pitchFamily="2" charset="-122"/>
              </a:rPr>
              <a:t>《</a:t>
            </a:r>
            <a:r>
              <a:rPr kumimoji="1" lang="zh-CN" altLang="en-US" dirty="0">
                <a:latin typeface="华文中宋" panose="02010600040101010101" pitchFamily="2" charset="-122"/>
                <a:ea typeface="华文中宋" panose="02010600040101010101" pitchFamily="2" charset="-122"/>
              </a:rPr>
              <a:t>教师教学网络测评系统</a:t>
            </a:r>
            <a:r>
              <a:rPr kumimoji="1" lang="en-US" altLang="zh-CN" dirty="0">
                <a:latin typeface="华文中宋" panose="02010600040101010101" pitchFamily="2" charset="-122"/>
                <a:ea typeface="华文中宋" panose="02010600040101010101" pitchFamily="2" charset="-122"/>
              </a:rPr>
              <a:t>》</a:t>
            </a:r>
            <a:r>
              <a:rPr kumimoji="1" lang="zh-CN" altLang="en-US" dirty="0">
                <a:latin typeface="华文中宋" panose="02010600040101010101" pitchFamily="2" charset="-122"/>
                <a:ea typeface="华文中宋" panose="02010600040101010101" pitchFamily="2" charset="-122"/>
              </a:rPr>
              <a:t>的开发。</a:t>
            </a:r>
            <a:r>
              <a:rPr kumimoji="1" lang="en-US" altLang="zh-CN" dirty="0">
                <a:latin typeface="华文中宋" panose="02010600040101010101" pitchFamily="2" charset="-122"/>
                <a:ea typeface="华文中宋" panose="02010600040101010101" pitchFamily="2" charset="-122"/>
              </a:rPr>
              <a:t>(</a:t>
            </a:r>
            <a:r>
              <a:rPr kumimoji="1" lang="zh-CN" altLang="en-US" dirty="0">
                <a:latin typeface="华文中宋" panose="02010600040101010101" pitchFamily="2" charset="-122"/>
                <a:ea typeface="华文中宋" panose="02010600040101010101" pitchFamily="2" charset="-122"/>
              </a:rPr>
              <a:t>背景介绍略</a:t>
            </a:r>
            <a:r>
              <a:rPr kumimoji="1" lang="en-US" altLang="zh-CN" dirty="0">
                <a:latin typeface="华文中宋" panose="02010600040101010101" pitchFamily="2" charset="-122"/>
                <a:ea typeface="华文中宋" panose="02010600040101010101" pitchFamily="2" charset="-122"/>
              </a:rPr>
              <a:t>)</a:t>
            </a:r>
            <a:endParaRPr kumimoji="1" lang="en-US" altLang="zh-CN" dirty="0">
              <a:latin typeface="华文中宋" panose="02010600040101010101" pitchFamily="2" charset="-122"/>
              <a:ea typeface="华文中宋" panose="02010600040101010101" pitchFamily="2" charset="-122"/>
              <a:cs typeface="Times New Roman" panose="02020603050405020304" pitchFamily="18" charset="0"/>
            </a:endParaRPr>
          </a:p>
          <a:p>
            <a:pPr algn="just" eaLnBrk="1" hangingPunct="1">
              <a:spcBef>
                <a:spcPct val="50000"/>
              </a:spcBef>
            </a:pPr>
            <a:r>
              <a:rPr kumimoji="1" lang="zh-CN" altLang="en-US" dirty="0">
                <a:latin typeface="华文中宋" panose="02010600040101010101" pitchFamily="2" charset="-122"/>
                <a:ea typeface="华文中宋" panose="02010600040101010101" pitchFamily="2" charset="-122"/>
              </a:rPr>
              <a:t>我院计算机系具备进行该软件系统开发的能力并承担本软件系统的开发与维护工作。该软件系统由我院教务处使用。</a:t>
            </a:r>
            <a:endParaRPr kumimoji="1" lang="zh-CN" altLang="en-US" dirty="0">
              <a:latin typeface="华文中宋" panose="02010600040101010101" pitchFamily="2" charset="-122"/>
              <a:ea typeface="华文中宋" panose="02010600040101010101" pitchFamily="2" charset="-122"/>
            </a:endParaRPr>
          </a:p>
          <a:p>
            <a:pPr algn="just" eaLnBrk="1" hangingPunct="1">
              <a:spcBef>
                <a:spcPct val="50000"/>
              </a:spcBef>
            </a:pPr>
            <a:r>
              <a:rPr kumimoji="1" lang="en-US" altLang="zh-CN" dirty="0">
                <a:latin typeface="华文中宋" panose="02010600040101010101" pitchFamily="2" charset="-122"/>
                <a:ea typeface="华文中宋" panose="02010600040101010101" pitchFamily="2" charset="-122"/>
              </a:rPr>
              <a:t>……</a:t>
            </a:r>
            <a:endParaRPr kumimoji="1"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11" name="日期占位符 10"/>
          <p:cNvSpPr>
            <a:spLocks noGrp="1"/>
          </p:cNvSpPr>
          <p:nvPr>
            <p:ph type="dt" sz="half" idx="10"/>
          </p:nvPr>
        </p:nvSpPr>
        <p:spPr/>
        <p:txBody>
          <a:bodyPr/>
          <a:lstStyle/>
          <a:p>
            <a:fld id="{2545882C-3005-4A3E-80C6-DD971C3D39BE}" type="datetime1">
              <a:rPr lang="zh-CN" altLang="en-US" smtClean="0"/>
            </a:fld>
            <a:endParaRPr lang="zh-CN" altLang="en-US" dirty="0"/>
          </a:p>
        </p:txBody>
      </p:sp>
      <p:sp>
        <p:nvSpPr>
          <p:cNvPr id="12" name="页脚占位符 11"/>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可行性研究报告的编写提纲</a:t>
            </a:r>
            <a:endParaRPr lang="zh-CN" altLang="en-US" dirty="0"/>
          </a:p>
        </p:txBody>
      </p:sp>
      <p:sp>
        <p:nvSpPr>
          <p:cNvPr id="4" name="内容占位符 3"/>
          <p:cNvSpPr>
            <a:spLocks noGrp="1"/>
          </p:cNvSpPr>
          <p:nvPr>
            <p:ph idx="1"/>
          </p:nvPr>
        </p:nvSpPr>
        <p:spPr/>
        <p:txBody>
          <a:bodyPr>
            <a:normAutofit/>
          </a:bodyPr>
          <a:lstStyle/>
          <a:p>
            <a:pPr>
              <a:spcBef>
                <a:spcPts val="450"/>
              </a:spcBef>
              <a:buNone/>
            </a:pPr>
            <a:r>
              <a:rPr lang="en-US" altLang="zh-CN" sz="2400" dirty="0"/>
              <a:t>GB 8567-88《 </a:t>
            </a:r>
            <a:r>
              <a:rPr lang="zh-CN" altLang="en-US" sz="2400" dirty="0"/>
              <a:t>计算机软件产品开发文件编制指南 </a:t>
            </a:r>
            <a:r>
              <a:rPr lang="en-US" altLang="zh-CN" sz="2400" dirty="0"/>
              <a:t>》</a:t>
            </a:r>
            <a:endParaRPr lang="en-US" altLang="zh-CN" sz="2400" dirty="0"/>
          </a:p>
          <a:p>
            <a:pPr>
              <a:spcBef>
                <a:spcPts val="450"/>
              </a:spcBef>
              <a:buNone/>
            </a:pPr>
            <a:r>
              <a:rPr lang="en-US" altLang="zh-CN" sz="1500" dirty="0"/>
              <a:t>1 </a:t>
            </a:r>
            <a:r>
              <a:rPr lang="zh-CN" altLang="en-US" sz="1500" dirty="0"/>
              <a:t>引言</a:t>
            </a:r>
            <a:endParaRPr lang="zh-CN" altLang="en-US" sz="1500" dirty="0"/>
          </a:p>
          <a:p>
            <a:pPr>
              <a:spcBef>
                <a:spcPts val="450"/>
              </a:spcBef>
              <a:buNone/>
            </a:pPr>
            <a:r>
              <a:rPr lang="zh-CN" altLang="en-US" sz="1500" dirty="0"/>
              <a:t>  </a:t>
            </a:r>
            <a:r>
              <a:rPr lang="en-US" altLang="zh-CN" sz="1500" dirty="0"/>
              <a:t>1.1 </a:t>
            </a:r>
            <a:r>
              <a:rPr lang="zh-CN" altLang="en-US" sz="1500" dirty="0"/>
              <a:t>编写目的</a:t>
            </a:r>
            <a:endParaRPr lang="zh-CN" altLang="en-US" sz="1500" dirty="0"/>
          </a:p>
          <a:p>
            <a:pPr>
              <a:spcBef>
                <a:spcPts val="450"/>
              </a:spcBef>
              <a:buNone/>
            </a:pPr>
            <a:r>
              <a:rPr lang="zh-CN" altLang="en-US" sz="1500" dirty="0"/>
              <a:t>  </a:t>
            </a:r>
            <a:r>
              <a:rPr lang="en-US" altLang="zh-CN" sz="1500" dirty="0"/>
              <a:t>1.2 </a:t>
            </a:r>
            <a:r>
              <a:rPr lang="zh-CN" altLang="en-US" sz="1500" dirty="0"/>
              <a:t>背景</a:t>
            </a:r>
            <a:endParaRPr lang="zh-CN" altLang="en-US" sz="1500" dirty="0"/>
          </a:p>
          <a:p>
            <a:pPr>
              <a:spcBef>
                <a:spcPts val="450"/>
              </a:spcBef>
              <a:buNone/>
            </a:pPr>
            <a:r>
              <a:rPr lang="zh-CN" altLang="en-US" sz="1500" dirty="0"/>
              <a:t>  </a:t>
            </a:r>
            <a:r>
              <a:rPr lang="en-US" altLang="zh-CN" sz="1500" dirty="0"/>
              <a:t>1.3 </a:t>
            </a:r>
            <a:r>
              <a:rPr lang="zh-CN" altLang="en-US" sz="1500" dirty="0"/>
              <a:t>定义</a:t>
            </a:r>
            <a:endParaRPr lang="zh-CN" altLang="en-US" sz="1500" dirty="0"/>
          </a:p>
          <a:p>
            <a:pPr>
              <a:spcBef>
                <a:spcPts val="450"/>
              </a:spcBef>
              <a:buNone/>
            </a:pPr>
            <a:r>
              <a:rPr lang="zh-CN" altLang="en-US" sz="1500" dirty="0"/>
              <a:t>  </a:t>
            </a:r>
            <a:r>
              <a:rPr lang="en-US" altLang="zh-CN" sz="1500" dirty="0"/>
              <a:t>1.4 </a:t>
            </a:r>
            <a:r>
              <a:rPr lang="zh-CN" altLang="en-US" sz="1500" dirty="0"/>
              <a:t>参考资料</a:t>
            </a:r>
            <a:endParaRPr lang="zh-CN" altLang="en-US" sz="1500" dirty="0"/>
          </a:p>
          <a:p>
            <a:pPr>
              <a:spcBef>
                <a:spcPts val="450"/>
              </a:spcBef>
              <a:buNone/>
            </a:pPr>
            <a:r>
              <a:rPr lang="en-US" altLang="zh-CN" sz="1500" dirty="0"/>
              <a:t>2 </a:t>
            </a:r>
            <a:r>
              <a:rPr lang="zh-CN" altLang="en-US" sz="1500" dirty="0"/>
              <a:t>可行性研究的前提</a:t>
            </a:r>
            <a:endParaRPr lang="zh-CN" altLang="en-US" sz="1500" dirty="0"/>
          </a:p>
          <a:p>
            <a:pPr>
              <a:spcBef>
                <a:spcPts val="450"/>
              </a:spcBef>
              <a:buNone/>
            </a:pPr>
            <a:r>
              <a:rPr lang="zh-CN" altLang="en-US" sz="1500" dirty="0"/>
              <a:t>  </a:t>
            </a:r>
            <a:r>
              <a:rPr lang="en-US" altLang="zh-CN" sz="1500" dirty="0"/>
              <a:t>2.1 </a:t>
            </a:r>
            <a:r>
              <a:rPr lang="zh-CN" altLang="en-US" sz="1500" dirty="0"/>
              <a:t>要求</a:t>
            </a:r>
            <a:endParaRPr lang="zh-CN" altLang="en-US" sz="1500" dirty="0"/>
          </a:p>
          <a:p>
            <a:pPr>
              <a:spcBef>
                <a:spcPts val="450"/>
              </a:spcBef>
              <a:buNone/>
            </a:pPr>
            <a:r>
              <a:rPr lang="zh-CN" altLang="en-US" sz="1500" dirty="0"/>
              <a:t>  </a:t>
            </a:r>
            <a:r>
              <a:rPr lang="en-US" altLang="zh-CN" sz="1500" dirty="0"/>
              <a:t>2.2 </a:t>
            </a:r>
            <a:r>
              <a:rPr lang="zh-CN" altLang="en-US" sz="1500" dirty="0"/>
              <a:t>目标</a:t>
            </a:r>
            <a:endParaRPr lang="zh-CN" altLang="en-US" sz="1500" dirty="0"/>
          </a:p>
          <a:p>
            <a:pPr>
              <a:spcBef>
                <a:spcPts val="450"/>
              </a:spcBef>
              <a:buNone/>
            </a:pPr>
            <a:r>
              <a:rPr lang="zh-CN" altLang="en-US" sz="1500" dirty="0"/>
              <a:t>  </a:t>
            </a:r>
            <a:r>
              <a:rPr lang="en-US" altLang="zh-CN" sz="1500" dirty="0"/>
              <a:t>2.3 </a:t>
            </a:r>
            <a:r>
              <a:rPr lang="zh-CN" altLang="en-US" sz="1500" dirty="0"/>
              <a:t>条件、假定和限制</a:t>
            </a:r>
            <a:endParaRPr lang="zh-CN" altLang="en-US" sz="1500" dirty="0"/>
          </a:p>
          <a:p>
            <a:pPr>
              <a:spcBef>
                <a:spcPts val="450"/>
              </a:spcBef>
              <a:buNone/>
            </a:pPr>
            <a:r>
              <a:rPr lang="zh-CN" altLang="en-US" sz="1500" dirty="0"/>
              <a:t>  </a:t>
            </a:r>
            <a:r>
              <a:rPr lang="en-US" altLang="zh-CN" sz="1500" dirty="0"/>
              <a:t>2.4 </a:t>
            </a:r>
            <a:r>
              <a:rPr lang="zh-CN" altLang="en-US" sz="1500" dirty="0"/>
              <a:t>进行可行性研究的方法</a:t>
            </a:r>
            <a:endParaRPr lang="zh-CN" altLang="en-US" sz="1500" dirty="0"/>
          </a:p>
          <a:p>
            <a:pPr>
              <a:spcBef>
                <a:spcPts val="450"/>
              </a:spcBef>
              <a:buNone/>
            </a:pPr>
            <a:r>
              <a:rPr lang="zh-CN" altLang="en-US" sz="1500" dirty="0"/>
              <a:t>  </a:t>
            </a:r>
            <a:r>
              <a:rPr lang="en-US" altLang="zh-CN" sz="1500" dirty="0"/>
              <a:t>2.5 </a:t>
            </a:r>
            <a:r>
              <a:rPr lang="zh-CN" altLang="en-US" sz="1500" dirty="0"/>
              <a:t>评价尺度</a:t>
            </a:r>
            <a:endParaRPr lang="zh-CN" altLang="en-US" sz="1500" dirty="0"/>
          </a:p>
          <a:p>
            <a:pPr>
              <a:spcBef>
                <a:spcPts val="450"/>
              </a:spcBef>
            </a:pP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0" name="日期占位符 9"/>
          <p:cNvSpPr>
            <a:spLocks noGrp="1"/>
          </p:cNvSpPr>
          <p:nvPr>
            <p:ph type="dt" sz="half" idx="10"/>
          </p:nvPr>
        </p:nvSpPr>
        <p:spPr/>
        <p:txBody>
          <a:bodyPr/>
          <a:lstStyle/>
          <a:p>
            <a:fld id="{DF3C8052-B39B-4F71-8922-76272E8B1D54}" type="datetime1">
              <a:rPr lang="zh-CN" altLang="en-US" smtClean="0"/>
            </a:fld>
            <a:endParaRPr lang="zh-CN" altLang="en-US" dirty="0"/>
          </a:p>
        </p:txBody>
      </p:sp>
      <p:sp>
        <p:nvSpPr>
          <p:cNvPr id="11" name="页脚占位符 10"/>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dirty="0"/>
              <a:t>可行性研究报告的编写提纲</a:t>
            </a:r>
            <a:endParaRPr lang="zh-CN" altLang="en-US" dirty="0"/>
          </a:p>
        </p:txBody>
      </p:sp>
      <p:sp>
        <p:nvSpPr>
          <p:cNvPr id="4" name="内容占位符 3"/>
          <p:cNvSpPr>
            <a:spLocks noGrp="1"/>
          </p:cNvSpPr>
          <p:nvPr>
            <p:ph idx="1"/>
          </p:nvPr>
        </p:nvSpPr>
        <p:spPr/>
        <p:txBody>
          <a:bodyPr>
            <a:normAutofit fontScale="85000" lnSpcReduction="20000"/>
          </a:bodyPr>
          <a:lstStyle/>
          <a:p>
            <a:pPr>
              <a:spcBef>
                <a:spcPts val="450"/>
              </a:spcBef>
              <a:buNone/>
            </a:pPr>
            <a:r>
              <a:rPr lang="en-US" altLang="zh-CN" dirty="0"/>
              <a:t>GB 8567-88《 </a:t>
            </a:r>
            <a:r>
              <a:rPr lang="zh-CN" altLang="en-US" dirty="0"/>
              <a:t>计算机软件产品开发文件编制指南 </a:t>
            </a:r>
            <a:r>
              <a:rPr lang="en-US" altLang="zh-CN" dirty="0"/>
              <a:t>》</a:t>
            </a:r>
            <a:endParaRPr lang="en-US" altLang="zh-CN" dirty="0"/>
          </a:p>
          <a:p>
            <a:pPr>
              <a:spcBef>
                <a:spcPts val="450"/>
              </a:spcBef>
              <a:buNone/>
            </a:pPr>
            <a:r>
              <a:rPr kumimoji="1" lang="en-US" altLang="zh-CN" sz="1500" dirty="0"/>
              <a:t>3 </a:t>
            </a:r>
            <a:r>
              <a:rPr kumimoji="1" lang="zh-CN" altLang="en-US" sz="1500" dirty="0"/>
              <a:t>对现有系统的分析</a:t>
            </a:r>
            <a:endParaRPr kumimoji="1" lang="zh-CN" altLang="en-US" sz="1500" dirty="0"/>
          </a:p>
          <a:p>
            <a:pPr>
              <a:spcBef>
                <a:spcPts val="450"/>
              </a:spcBef>
              <a:buNone/>
            </a:pPr>
            <a:r>
              <a:rPr kumimoji="1" lang="zh-CN" altLang="en-US" sz="1500" dirty="0"/>
              <a:t>  </a:t>
            </a:r>
            <a:r>
              <a:rPr kumimoji="1" lang="en-US" altLang="zh-CN" sz="1500" dirty="0"/>
              <a:t>3.1 </a:t>
            </a:r>
            <a:r>
              <a:rPr kumimoji="1" lang="zh-CN" altLang="en-US" sz="1500" dirty="0"/>
              <a:t>数据流程和处理流程</a:t>
            </a:r>
            <a:endParaRPr kumimoji="1" lang="zh-CN" altLang="en-US" sz="1500" dirty="0"/>
          </a:p>
          <a:p>
            <a:pPr>
              <a:spcBef>
                <a:spcPts val="450"/>
              </a:spcBef>
              <a:buNone/>
            </a:pPr>
            <a:r>
              <a:rPr kumimoji="1" lang="zh-CN" altLang="en-US" sz="1500" dirty="0"/>
              <a:t>  </a:t>
            </a:r>
            <a:r>
              <a:rPr kumimoji="1" lang="en-US" altLang="zh-CN" sz="1500" dirty="0"/>
              <a:t>3.2 </a:t>
            </a:r>
            <a:r>
              <a:rPr kumimoji="1" lang="zh-CN" altLang="en-US" sz="1500" dirty="0"/>
              <a:t>工作负荷</a:t>
            </a:r>
            <a:endParaRPr kumimoji="1" lang="zh-CN" altLang="en-US" sz="1500" dirty="0"/>
          </a:p>
          <a:p>
            <a:pPr>
              <a:spcBef>
                <a:spcPts val="450"/>
              </a:spcBef>
              <a:buNone/>
            </a:pPr>
            <a:r>
              <a:rPr kumimoji="1" lang="zh-CN" altLang="en-US" sz="1500" dirty="0"/>
              <a:t>  </a:t>
            </a:r>
            <a:r>
              <a:rPr kumimoji="1" lang="en-US" altLang="zh-CN" sz="1500" dirty="0"/>
              <a:t>3.3 </a:t>
            </a:r>
            <a:r>
              <a:rPr kumimoji="1" lang="zh-CN" altLang="en-US" sz="1500" dirty="0"/>
              <a:t>费用开支</a:t>
            </a:r>
            <a:endParaRPr kumimoji="1" lang="zh-CN" altLang="en-US" sz="1500" dirty="0"/>
          </a:p>
          <a:p>
            <a:pPr>
              <a:spcBef>
                <a:spcPts val="450"/>
              </a:spcBef>
              <a:buNone/>
            </a:pPr>
            <a:r>
              <a:rPr kumimoji="1" lang="zh-CN" altLang="en-US" sz="1500" dirty="0"/>
              <a:t>  </a:t>
            </a:r>
            <a:r>
              <a:rPr kumimoji="1" lang="en-US" altLang="zh-CN" sz="1500" dirty="0"/>
              <a:t>3.4 </a:t>
            </a:r>
            <a:r>
              <a:rPr kumimoji="1" lang="zh-CN" altLang="en-US" sz="1500" dirty="0"/>
              <a:t>人员</a:t>
            </a:r>
            <a:endParaRPr kumimoji="1" lang="zh-CN" altLang="en-US" sz="1500" dirty="0"/>
          </a:p>
          <a:p>
            <a:pPr>
              <a:spcBef>
                <a:spcPts val="450"/>
              </a:spcBef>
              <a:buNone/>
            </a:pPr>
            <a:r>
              <a:rPr kumimoji="1" lang="zh-CN" altLang="en-US" sz="1500" dirty="0"/>
              <a:t>  </a:t>
            </a:r>
            <a:r>
              <a:rPr kumimoji="1" lang="en-US" altLang="zh-CN" sz="1500" dirty="0"/>
              <a:t>3.5 </a:t>
            </a:r>
            <a:r>
              <a:rPr kumimoji="1" lang="zh-CN" altLang="en-US" sz="1500" dirty="0"/>
              <a:t>设备</a:t>
            </a:r>
            <a:endParaRPr kumimoji="1" lang="zh-CN" altLang="en-US" sz="1500" dirty="0"/>
          </a:p>
          <a:p>
            <a:pPr>
              <a:spcBef>
                <a:spcPts val="450"/>
              </a:spcBef>
              <a:buNone/>
            </a:pPr>
            <a:r>
              <a:rPr kumimoji="1" lang="zh-CN" altLang="en-US" sz="1500" dirty="0"/>
              <a:t>  </a:t>
            </a:r>
            <a:r>
              <a:rPr kumimoji="1" lang="en-US" altLang="zh-CN" sz="1500" dirty="0"/>
              <a:t>3.6 </a:t>
            </a:r>
            <a:r>
              <a:rPr kumimoji="1" lang="zh-CN" altLang="en-US" sz="1500" dirty="0"/>
              <a:t>局限性</a:t>
            </a:r>
            <a:endParaRPr kumimoji="1" lang="zh-CN" altLang="en-US" sz="1500" dirty="0"/>
          </a:p>
          <a:p>
            <a:pPr>
              <a:spcBef>
                <a:spcPts val="450"/>
              </a:spcBef>
              <a:buNone/>
            </a:pPr>
            <a:r>
              <a:rPr kumimoji="1" lang="en-US" altLang="zh-CN" sz="1500" dirty="0"/>
              <a:t>4 </a:t>
            </a:r>
            <a:r>
              <a:rPr kumimoji="1" lang="zh-CN" altLang="en-US" sz="1500" dirty="0"/>
              <a:t>所建议的系统</a:t>
            </a:r>
            <a:endParaRPr kumimoji="1" lang="zh-CN" altLang="en-US" sz="1500" dirty="0"/>
          </a:p>
          <a:p>
            <a:pPr>
              <a:spcBef>
                <a:spcPts val="450"/>
              </a:spcBef>
              <a:buNone/>
            </a:pPr>
            <a:r>
              <a:rPr kumimoji="1" lang="zh-CN" altLang="en-US" sz="1500" dirty="0"/>
              <a:t>  </a:t>
            </a:r>
            <a:r>
              <a:rPr kumimoji="1" lang="en-US" altLang="zh-CN" sz="1500" dirty="0"/>
              <a:t>4.1 </a:t>
            </a:r>
            <a:r>
              <a:rPr kumimoji="1" lang="zh-CN" altLang="en-US" sz="1500" dirty="0"/>
              <a:t>对所建议系统的说明</a:t>
            </a:r>
            <a:endParaRPr kumimoji="1" lang="zh-CN" altLang="en-US" sz="1500" dirty="0"/>
          </a:p>
          <a:p>
            <a:pPr>
              <a:spcBef>
                <a:spcPts val="450"/>
              </a:spcBef>
              <a:buNone/>
            </a:pPr>
            <a:r>
              <a:rPr kumimoji="1" lang="zh-CN" altLang="en-US" sz="1500" dirty="0"/>
              <a:t>  </a:t>
            </a:r>
            <a:r>
              <a:rPr kumimoji="1" lang="en-US" altLang="zh-CN" sz="1500" dirty="0"/>
              <a:t>4.2 </a:t>
            </a:r>
            <a:r>
              <a:rPr kumimoji="1" lang="zh-CN" altLang="en-US" sz="1500" dirty="0"/>
              <a:t>数据流程和处理流程</a:t>
            </a:r>
            <a:endParaRPr kumimoji="1" lang="zh-CN" altLang="en-US" sz="1500" dirty="0"/>
          </a:p>
          <a:p>
            <a:pPr>
              <a:spcBef>
                <a:spcPts val="450"/>
              </a:spcBef>
              <a:buNone/>
            </a:pPr>
            <a:r>
              <a:rPr kumimoji="1" lang="zh-CN" altLang="en-US" sz="1500" dirty="0"/>
              <a:t>  </a:t>
            </a:r>
            <a:r>
              <a:rPr kumimoji="1" lang="en-US" altLang="zh-CN" sz="1500" dirty="0"/>
              <a:t>4.3 </a:t>
            </a:r>
            <a:r>
              <a:rPr kumimoji="1" lang="zh-CN" altLang="en-US" sz="1500" dirty="0"/>
              <a:t>改进之处</a:t>
            </a:r>
            <a:endParaRPr kumimoji="1" lang="zh-CN" altLang="en-US" sz="1500" dirty="0"/>
          </a:p>
          <a:p>
            <a:pPr>
              <a:spcBef>
                <a:spcPts val="450"/>
              </a:spcBef>
              <a:buNone/>
            </a:pPr>
            <a:r>
              <a:rPr kumimoji="1" lang="zh-CN" altLang="en-US" sz="1500" dirty="0"/>
              <a:t>  </a:t>
            </a:r>
            <a:r>
              <a:rPr kumimoji="1" lang="en-US" altLang="zh-CN" sz="1500" dirty="0"/>
              <a:t>4.4 </a:t>
            </a:r>
            <a:r>
              <a:rPr kumimoji="1" lang="zh-CN" altLang="en-US" sz="1500" dirty="0"/>
              <a:t>影响</a:t>
            </a:r>
            <a:endParaRPr kumimoji="1" lang="zh-CN" altLang="en-US" sz="1500" dirty="0"/>
          </a:p>
          <a:p>
            <a:pPr>
              <a:spcBef>
                <a:spcPts val="450"/>
              </a:spcBef>
              <a:buNone/>
            </a:pPr>
            <a:r>
              <a:rPr kumimoji="1" lang="zh-CN" altLang="en-US" sz="1500" dirty="0"/>
              <a:t>  </a:t>
            </a:r>
            <a:r>
              <a:rPr kumimoji="1" lang="en-US" altLang="zh-CN" sz="1500" dirty="0"/>
              <a:t>4.5 </a:t>
            </a:r>
            <a:r>
              <a:rPr kumimoji="1" lang="zh-CN" altLang="en-US" sz="1500" dirty="0"/>
              <a:t>局限性</a:t>
            </a:r>
            <a:endParaRPr kumimoji="1" lang="zh-CN" altLang="en-US" sz="1500" dirty="0"/>
          </a:p>
          <a:p>
            <a:pPr>
              <a:spcBef>
                <a:spcPts val="450"/>
              </a:spcBef>
              <a:buNone/>
            </a:pPr>
            <a:r>
              <a:rPr kumimoji="1" lang="zh-CN" altLang="en-US" sz="1500" dirty="0"/>
              <a:t>  </a:t>
            </a:r>
            <a:r>
              <a:rPr kumimoji="1" lang="en-US" altLang="zh-CN" sz="1500" dirty="0"/>
              <a:t>4.6 </a:t>
            </a:r>
            <a:r>
              <a:rPr kumimoji="1" lang="zh-CN" altLang="en-US" sz="1500" dirty="0"/>
              <a:t>技术条件方面的可行性</a:t>
            </a:r>
            <a:endParaRPr kumimoji="1" lang="zh-CN" altLang="en-US" sz="15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1" name="日期占位符 10"/>
          <p:cNvSpPr>
            <a:spLocks noGrp="1"/>
          </p:cNvSpPr>
          <p:nvPr>
            <p:ph type="dt" sz="half" idx="10"/>
          </p:nvPr>
        </p:nvSpPr>
        <p:spPr/>
        <p:txBody>
          <a:bodyPr/>
          <a:lstStyle/>
          <a:p>
            <a:fld id="{F677E10C-F588-41E0-BD7C-460551A8BB03}" type="datetime1">
              <a:rPr lang="zh-CN" altLang="en-US" smtClean="0"/>
            </a:fld>
            <a:endParaRPr lang="zh-CN" altLang="en-US" dirty="0"/>
          </a:p>
        </p:txBody>
      </p:sp>
      <p:sp>
        <p:nvSpPr>
          <p:cNvPr id="12" name="页脚占位符 11"/>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可行性研究报告的编写提纲</a:t>
            </a:r>
            <a:endParaRPr lang="zh-CN" altLang="en-US" dirty="0"/>
          </a:p>
        </p:txBody>
      </p:sp>
      <p:sp>
        <p:nvSpPr>
          <p:cNvPr id="4" name="内容占位符 3"/>
          <p:cNvSpPr>
            <a:spLocks noGrp="1"/>
          </p:cNvSpPr>
          <p:nvPr>
            <p:ph idx="1"/>
          </p:nvPr>
        </p:nvSpPr>
        <p:spPr/>
        <p:txBody>
          <a:bodyPr>
            <a:normAutofit fontScale="92500" lnSpcReduction="10000"/>
          </a:bodyPr>
          <a:lstStyle/>
          <a:p>
            <a:pPr>
              <a:spcBef>
                <a:spcPts val="450"/>
              </a:spcBef>
              <a:buNone/>
            </a:pPr>
            <a:r>
              <a:rPr lang="en-US" altLang="zh-CN" dirty="0"/>
              <a:t>GB 8567-88《 </a:t>
            </a:r>
            <a:r>
              <a:rPr lang="zh-CN" altLang="en-US" dirty="0"/>
              <a:t>计算机软件产品开发文件编制指南 </a:t>
            </a:r>
            <a:r>
              <a:rPr lang="en-US" altLang="zh-CN" dirty="0"/>
              <a:t>》</a:t>
            </a:r>
            <a:endParaRPr lang="en-US" altLang="zh-CN" dirty="0"/>
          </a:p>
          <a:p>
            <a:pPr>
              <a:spcBef>
                <a:spcPts val="450"/>
              </a:spcBef>
              <a:buNone/>
            </a:pPr>
            <a:r>
              <a:rPr kumimoji="1" lang="en-US" altLang="zh-CN" sz="1500" dirty="0"/>
              <a:t>5 </a:t>
            </a:r>
            <a:r>
              <a:rPr kumimoji="1" lang="zh-CN" altLang="en-US" sz="1500" dirty="0"/>
              <a:t>可选择的其它系统方案</a:t>
            </a:r>
            <a:endParaRPr kumimoji="1" lang="zh-CN" altLang="en-US" sz="1500" dirty="0"/>
          </a:p>
          <a:p>
            <a:pPr>
              <a:spcBef>
                <a:spcPts val="450"/>
              </a:spcBef>
              <a:buNone/>
            </a:pPr>
            <a:r>
              <a:rPr kumimoji="1" lang="zh-CN" altLang="en-US" sz="1500" dirty="0"/>
              <a:t>  </a:t>
            </a:r>
            <a:r>
              <a:rPr kumimoji="1" lang="en-US" altLang="zh-CN" sz="1500" dirty="0"/>
              <a:t>5.1 </a:t>
            </a:r>
            <a:r>
              <a:rPr kumimoji="1" lang="zh-CN" altLang="en-US" sz="1500" dirty="0"/>
              <a:t>可选择的其它系统</a:t>
            </a:r>
            <a:r>
              <a:rPr kumimoji="1" lang="en-US" altLang="zh-CN" sz="1500" dirty="0"/>
              <a:t>1</a:t>
            </a:r>
            <a:endParaRPr kumimoji="1" lang="en-US" altLang="zh-CN" sz="1500" dirty="0"/>
          </a:p>
          <a:p>
            <a:pPr>
              <a:spcBef>
                <a:spcPts val="450"/>
              </a:spcBef>
              <a:buNone/>
            </a:pPr>
            <a:r>
              <a:rPr kumimoji="1" lang="en-US" altLang="zh-CN" sz="1500" dirty="0"/>
              <a:t>  5.2 </a:t>
            </a:r>
            <a:r>
              <a:rPr kumimoji="1" lang="zh-CN" altLang="en-US" sz="1500" dirty="0"/>
              <a:t>可选择的其它系统</a:t>
            </a:r>
            <a:r>
              <a:rPr kumimoji="1" lang="en-US" altLang="zh-CN" sz="1500" dirty="0"/>
              <a:t>2</a:t>
            </a:r>
            <a:endParaRPr kumimoji="1" lang="en-US" altLang="zh-CN" sz="1500" dirty="0"/>
          </a:p>
          <a:p>
            <a:pPr>
              <a:spcBef>
                <a:spcPts val="450"/>
              </a:spcBef>
              <a:buNone/>
            </a:pPr>
            <a:r>
              <a:rPr kumimoji="1" lang="en-US" altLang="zh-CN" sz="1500" dirty="0"/>
              <a:t>     ......</a:t>
            </a:r>
            <a:endParaRPr kumimoji="1" lang="en-US" altLang="zh-CN" sz="1500" dirty="0"/>
          </a:p>
          <a:p>
            <a:pPr>
              <a:spcBef>
                <a:spcPts val="450"/>
              </a:spcBef>
              <a:buNone/>
            </a:pPr>
            <a:r>
              <a:rPr kumimoji="1" lang="en-US" altLang="zh-CN" sz="1500" dirty="0"/>
              <a:t>6 </a:t>
            </a:r>
            <a:r>
              <a:rPr kumimoji="1" lang="zh-CN" altLang="en-US" sz="1500" dirty="0"/>
              <a:t>投资及收益分析</a:t>
            </a:r>
            <a:endParaRPr kumimoji="1" lang="zh-CN" altLang="en-US" sz="1500" dirty="0"/>
          </a:p>
          <a:p>
            <a:pPr>
              <a:spcBef>
                <a:spcPts val="450"/>
              </a:spcBef>
              <a:buNone/>
            </a:pPr>
            <a:r>
              <a:rPr kumimoji="1" lang="zh-CN" altLang="en-US" sz="1500" dirty="0"/>
              <a:t>  </a:t>
            </a:r>
            <a:r>
              <a:rPr kumimoji="1" lang="en-US" altLang="zh-CN" sz="1500" dirty="0"/>
              <a:t>6.1 </a:t>
            </a:r>
            <a:r>
              <a:rPr kumimoji="1" lang="zh-CN" altLang="en-US" sz="1500" dirty="0"/>
              <a:t>支出</a:t>
            </a:r>
            <a:endParaRPr kumimoji="1" lang="zh-CN" altLang="en-US" sz="1500" dirty="0"/>
          </a:p>
          <a:p>
            <a:pPr>
              <a:spcBef>
                <a:spcPts val="450"/>
              </a:spcBef>
              <a:buNone/>
            </a:pPr>
            <a:r>
              <a:rPr kumimoji="1" lang="zh-CN" altLang="en-US" sz="1500" dirty="0"/>
              <a:t>  </a:t>
            </a:r>
            <a:r>
              <a:rPr kumimoji="1" lang="en-US" altLang="zh-CN" sz="1500" dirty="0"/>
              <a:t>6.2 </a:t>
            </a:r>
            <a:r>
              <a:rPr kumimoji="1" lang="zh-CN" altLang="en-US" sz="1500" dirty="0"/>
              <a:t>收益</a:t>
            </a:r>
            <a:endParaRPr kumimoji="1" lang="zh-CN" altLang="en-US" sz="1500" dirty="0"/>
          </a:p>
          <a:p>
            <a:pPr>
              <a:spcBef>
                <a:spcPts val="450"/>
              </a:spcBef>
              <a:buNone/>
            </a:pPr>
            <a:r>
              <a:rPr kumimoji="1" lang="zh-CN" altLang="en-US" sz="1500" dirty="0"/>
              <a:t>  </a:t>
            </a:r>
            <a:r>
              <a:rPr kumimoji="1" lang="en-US" altLang="zh-CN" sz="1500" dirty="0"/>
              <a:t>6.3 </a:t>
            </a:r>
            <a:r>
              <a:rPr kumimoji="1" lang="zh-CN" altLang="en-US" sz="1500" dirty="0"/>
              <a:t>收益</a:t>
            </a:r>
            <a:r>
              <a:rPr kumimoji="1" lang="en-US" altLang="zh-CN" sz="1500" dirty="0"/>
              <a:t>/</a:t>
            </a:r>
            <a:r>
              <a:rPr kumimoji="1" lang="zh-CN" altLang="en-US" sz="1500" dirty="0"/>
              <a:t>投资比</a:t>
            </a:r>
            <a:endParaRPr kumimoji="1" lang="zh-CN" altLang="en-US" sz="1500" dirty="0"/>
          </a:p>
          <a:p>
            <a:pPr>
              <a:spcBef>
                <a:spcPts val="450"/>
              </a:spcBef>
              <a:buNone/>
            </a:pPr>
            <a:r>
              <a:rPr kumimoji="1" lang="zh-CN" altLang="en-US" sz="1500" dirty="0"/>
              <a:t>  </a:t>
            </a:r>
            <a:r>
              <a:rPr kumimoji="1" lang="en-US" altLang="zh-CN" sz="1500" dirty="0"/>
              <a:t>6.4 </a:t>
            </a:r>
            <a:r>
              <a:rPr kumimoji="1" lang="zh-CN" altLang="en-US" sz="1500" dirty="0"/>
              <a:t>投资回收周期</a:t>
            </a:r>
            <a:endParaRPr kumimoji="1" lang="zh-CN" altLang="en-US" sz="1500" dirty="0"/>
          </a:p>
          <a:p>
            <a:pPr>
              <a:spcBef>
                <a:spcPts val="450"/>
              </a:spcBef>
              <a:buNone/>
            </a:pPr>
            <a:r>
              <a:rPr kumimoji="1" lang="zh-CN" altLang="en-US" sz="1500" dirty="0"/>
              <a:t>  </a:t>
            </a:r>
            <a:r>
              <a:rPr kumimoji="1" lang="en-US" altLang="zh-CN" sz="1500" dirty="0"/>
              <a:t>6.5 </a:t>
            </a:r>
            <a:r>
              <a:rPr kumimoji="1" lang="zh-CN" altLang="en-US" sz="1500" dirty="0"/>
              <a:t>敏感性分析</a:t>
            </a:r>
            <a:endParaRPr kumimoji="1" lang="zh-CN" altLang="en-US" sz="1500" dirty="0"/>
          </a:p>
          <a:p>
            <a:pPr>
              <a:spcBef>
                <a:spcPts val="450"/>
              </a:spcBef>
              <a:buNone/>
            </a:pPr>
            <a:r>
              <a:rPr kumimoji="1" lang="en-US" altLang="zh-CN" sz="1500" dirty="0"/>
              <a:t>7 </a:t>
            </a:r>
            <a:r>
              <a:rPr kumimoji="1" lang="zh-CN" altLang="en-US" sz="1500" dirty="0"/>
              <a:t>社会条件方面的可行性</a:t>
            </a:r>
            <a:endParaRPr kumimoji="1" lang="zh-CN" altLang="en-US" sz="1500" dirty="0"/>
          </a:p>
          <a:p>
            <a:pPr>
              <a:spcBef>
                <a:spcPts val="450"/>
              </a:spcBef>
              <a:buNone/>
            </a:pPr>
            <a:r>
              <a:rPr kumimoji="1" lang="zh-CN" altLang="en-US" sz="1500" dirty="0"/>
              <a:t>  </a:t>
            </a:r>
            <a:r>
              <a:rPr kumimoji="1" lang="en-US" altLang="zh-CN" sz="1500" dirty="0"/>
              <a:t>7.1 </a:t>
            </a:r>
            <a:r>
              <a:rPr kumimoji="1" lang="zh-CN" altLang="en-US" sz="1500" dirty="0"/>
              <a:t>法律方面的可行性 </a:t>
            </a:r>
            <a:endParaRPr kumimoji="1" lang="zh-CN" altLang="en-US" sz="1500" dirty="0"/>
          </a:p>
          <a:p>
            <a:pPr>
              <a:spcBef>
                <a:spcPts val="450"/>
              </a:spcBef>
              <a:buNone/>
            </a:pPr>
            <a:r>
              <a:rPr kumimoji="1" lang="zh-CN" altLang="en-US" sz="1500" dirty="0"/>
              <a:t>  </a:t>
            </a:r>
            <a:r>
              <a:rPr kumimoji="1" lang="en-US" altLang="zh-CN" sz="1500" dirty="0"/>
              <a:t>7.2 </a:t>
            </a:r>
            <a:r>
              <a:rPr kumimoji="1" lang="zh-CN" altLang="en-US" sz="1500" dirty="0"/>
              <a:t>使用方面的可行性 </a:t>
            </a:r>
            <a:endParaRPr kumimoji="1" lang="zh-CN" altLang="en-US" sz="15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0" name="日期占位符 9"/>
          <p:cNvSpPr>
            <a:spLocks noGrp="1"/>
          </p:cNvSpPr>
          <p:nvPr>
            <p:ph type="dt" sz="half" idx="10"/>
          </p:nvPr>
        </p:nvSpPr>
        <p:spPr/>
        <p:txBody>
          <a:bodyPr/>
          <a:lstStyle/>
          <a:p>
            <a:fld id="{5594E056-3B70-499B-AA43-9A2BDB179EA2}" type="datetime1">
              <a:rPr lang="zh-CN" altLang="en-US" smtClean="0"/>
            </a:fld>
            <a:endParaRPr lang="zh-CN" altLang="en-US" dirty="0"/>
          </a:p>
        </p:txBody>
      </p:sp>
      <p:sp>
        <p:nvSpPr>
          <p:cNvPr id="11" name="页脚占位符 10"/>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 name="textbox 62"/>
          <p:cNvSpPr/>
          <p:nvPr/>
        </p:nvSpPr>
        <p:spPr>
          <a:xfrm>
            <a:off x="2188845" y="1657350"/>
            <a:ext cx="5092065" cy="1474470"/>
          </a:xfrm>
          <a:prstGeom prst="rect">
            <a:avLst/>
          </a:prstGeom>
        </p:spPr>
        <p:txBody>
          <a:bodyPr vert="horz" wrap="square" lIns="0" tIns="0" rIns="0" bIns="0"/>
          <a:p>
            <a:pPr algn="l" rtl="0" eaLnBrk="0">
              <a:lnSpc>
                <a:spcPct val="79000"/>
              </a:lnSpc>
            </a:pPr>
            <a:endParaRPr lang="en-US" altLang="en-US" sz="4400" dirty="0"/>
          </a:p>
          <a:p>
            <a:pPr marL="12700" algn="l" rtl="0" eaLnBrk="0">
              <a:lnSpc>
                <a:spcPct val="91000"/>
              </a:lnSpc>
            </a:pPr>
            <a:r>
              <a:rPr sz="4400" kern="0" spc="-10" dirty="0">
                <a:ln w="8534" cap="flat" cmpd="sng">
                  <a:solidFill>
                    <a:srgbClr val="000000">
                      <a:alpha val="100000"/>
                    </a:srgbClr>
                  </a:solidFill>
                  <a:prstDash val="solid"/>
                  <a:miter lim="10"/>
                </a:ln>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软件项目</a:t>
            </a:r>
            <a:r>
              <a:rPr lang="zh-CN" sz="4400" kern="0" spc="-10" dirty="0">
                <a:ln w="8534" cap="flat" cmpd="sng">
                  <a:solidFill>
                    <a:srgbClr val="000000">
                      <a:alpha val="100000"/>
                    </a:srgbClr>
                  </a:solidFill>
                  <a:prstDash val="solid"/>
                  <a:miter lim="10"/>
                </a:ln>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开发计划</a:t>
            </a:r>
            <a:endParaRPr lang="zh-CN" sz="4400" kern="0" spc="-10" dirty="0">
              <a:ln w="8534" cap="flat" cmpd="sng">
                <a:solidFill>
                  <a:srgbClr val="000000">
                    <a:alpha val="100000"/>
                  </a:srgbClr>
                </a:solidFill>
                <a:prstDash val="solid"/>
                <a:miter lim="10"/>
              </a:ln>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软件项目计划</a:t>
            </a:r>
            <a:endParaRPr lang="zh-CN" altLang="en-US" dirty="0"/>
          </a:p>
        </p:txBody>
      </p:sp>
      <p:sp>
        <p:nvSpPr>
          <p:cNvPr id="9" name="内容占位符 8"/>
          <p:cNvSpPr>
            <a:spLocks noGrp="1"/>
          </p:cNvSpPr>
          <p:nvPr>
            <p:ph idx="1"/>
          </p:nvPr>
        </p:nvSpPr>
        <p:spPr>
          <a:xfrm>
            <a:off x="768097" y="925167"/>
            <a:ext cx="8008371" cy="3806854"/>
          </a:xfrm>
        </p:spPr>
        <p:txBody>
          <a:bodyPr>
            <a:normAutofit/>
          </a:bodyPr>
          <a:lstStyle/>
          <a:p>
            <a:pPr>
              <a:lnSpc>
                <a:spcPct val="120000"/>
              </a:lnSpc>
              <a:spcBef>
                <a:spcPts val="1200"/>
              </a:spcBef>
              <a:spcAft>
                <a:spcPts val="0"/>
              </a:spcAft>
            </a:pPr>
            <a:r>
              <a:rPr lang="zh-CN" altLang="en-US" sz="2000" dirty="0">
                <a:latin typeface="+mj-ea"/>
                <a:ea typeface="+mj-ea"/>
              </a:rPr>
              <a:t>软件项目计划是对软件项目实施所涉及的活动、资源、任务、进度等进行规划。 按时交付是软件项目的最大挑战，合理地安排进度是软件项目计划的关键内容。 </a:t>
            </a:r>
            <a:endParaRPr lang="zh-CN" altLang="en-US" sz="2000" dirty="0">
              <a:latin typeface="+mj-ea"/>
              <a:ea typeface="+mj-ea"/>
            </a:endParaRPr>
          </a:p>
        </p:txBody>
      </p:sp>
      <p:sp>
        <p:nvSpPr>
          <p:cNvPr id="4" name="日期占位符 3"/>
          <p:cNvSpPr>
            <a:spLocks noGrp="1"/>
          </p:cNvSpPr>
          <p:nvPr>
            <p:ph type="dt" sz="half" idx="10"/>
          </p:nvPr>
        </p:nvSpPr>
        <p:spPr/>
        <p:txBody>
          <a:bodyPr/>
          <a:lstStyle/>
          <a:p>
            <a:fld id="{2DDFE2D9-AAC4-48AE-99F6-7DCF046D31F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94321" y="1880847"/>
            <a:ext cx="7682147" cy="2625543"/>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软件项目计划</a:t>
            </a:r>
            <a:endParaRPr lang="zh-CN" altLang="en-US" dirty="0"/>
          </a:p>
        </p:txBody>
      </p:sp>
      <p:sp>
        <p:nvSpPr>
          <p:cNvPr id="4" name="日期占位符 3"/>
          <p:cNvSpPr>
            <a:spLocks noGrp="1"/>
          </p:cNvSpPr>
          <p:nvPr>
            <p:ph type="dt" sz="half" idx="10"/>
          </p:nvPr>
        </p:nvSpPr>
        <p:spPr/>
        <p:txBody>
          <a:bodyPr/>
          <a:lstStyle/>
          <a:p>
            <a:fld id="{7A57507B-6285-49A5-8DC0-0E7BF4258249}"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8" name="图片 7"/>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1900" y="828913"/>
            <a:ext cx="7521225" cy="3765873"/>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软件项目计划书</a:t>
            </a:r>
            <a:endParaRPr lang="zh-CN" altLang="en-US" dirty="0"/>
          </a:p>
        </p:txBody>
      </p:sp>
      <p:sp>
        <p:nvSpPr>
          <p:cNvPr id="2" name="内容占位符 1"/>
          <p:cNvSpPr>
            <a:spLocks noGrp="1"/>
          </p:cNvSpPr>
          <p:nvPr>
            <p:ph idx="1"/>
          </p:nvPr>
        </p:nvSpPr>
        <p:spPr/>
        <p:txBody>
          <a:bodyPr>
            <a:normAutofit/>
          </a:bodyPr>
          <a:lstStyle/>
          <a:p>
            <a:pPr algn="just">
              <a:lnSpc>
                <a:spcPct val="110000"/>
              </a:lnSpc>
              <a:spcBef>
                <a:spcPts val="1200"/>
              </a:spcBef>
              <a:spcAft>
                <a:spcPts val="0"/>
              </a:spcAft>
            </a:pPr>
            <a:r>
              <a:rPr lang="zh-CN" altLang="en-US" sz="2000" dirty="0">
                <a:latin typeface="+mj-ea"/>
                <a:ea typeface="+mj-ea"/>
              </a:rPr>
              <a:t>项目组成立的第一件事是编写</a:t>
            </a:r>
            <a:r>
              <a:rPr lang="en-US" altLang="zh-CN" sz="2000" dirty="0">
                <a:latin typeface="+mj-ea"/>
                <a:ea typeface="+mj-ea"/>
              </a:rPr>
              <a:t>《</a:t>
            </a:r>
            <a:r>
              <a:rPr lang="zh-CN" altLang="en-US" sz="2000" dirty="0">
                <a:latin typeface="+mj-ea"/>
                <a:ea typeface="+mj-ea"/>
              </a:rPr>
              <a:t>软件项目计划书</a:t>
            </a:r>
            <a:r>
              <a:rPr lang="en-US" altLang="zh-CN" sz="2000" dirty="0">
                <a:latin typeface="+mj-ea"/>
                <a:ea typeface="+mj-ea"/>
              </a:rPr>
              <a:t>》</a:t>
            </a:r>
            <a:r>
              <a:rPr lang="zh-CN" altLang="en-US" sz="2000" dirty="0">
                <a:latin typeface="+mj-ea"/>
                <a:ea typeface="+mj-ea"/>
              </a:rPr>
              <a:t>，在计划书中描述开发日程安排、资源需求、项目管理等各项情况的大体内容。</a:t>
            </a:r>
            <a:endParaRPr lang="en-US" altLang="zh-CN" sz="2000" dirty="0">
              <a:latin typeface="+mj-ea"/>
              <a:ea typeface="+mj-ea"/>
            </a:endParaRPr>
          </a:p>
          <a:p>
            <a:pPr algn="just">
              <a:lnSpc>
                <a:spcPct val="110000"/>
              </a:lnSpc>
              <a:spcBef>
                <a:spcPts val="1200"/>
              </a:spcBef>
              <a:spcAft>
                <a:spcPts val="0"/>
              </a:spcAft>
            </a:pPr>
            <a:r>
              <a:rPr lang="zh-CN" altLang="en-US" sz="2000" dirty="0">
                <a:latin typeface="+mj-ea"/>
                <a:ea typeface="+mj-ea"/>
              </a:rPr>
              <a:t>计划书主要向公司各相关人员发放，使他们大体了解该软件项目的情况。对于计划书的每个内容，都应有相应具体实施手册，这些手册是供项目组相关成员使用的。 </a:t>
            </a:r>
            <a:endParaRPr lang="zh-CN" altLang="en-US" sz="2000" dirty="0">
              <a:latin typeface="+mj-ea"/>
              <a:ea typeface="+mj-ea"/>
            </a:endParaRPr>
          </a:p>
          <a:p>
            <a:pPr algn="just">
              <a:lnSpc>
                <a:spcPct val="110000"/>
              </a:lnSpc>
              <a:spcBef>
                <a:spcPts val="1200"/>
              </a:spcBef>
              <a:spcAft>
                <a:spcPts val="0"/>
              </a:spcAft>
            </a:pPr>
            <a:r>
              <a:rPr lang="zh-CN" altLang="en-US" sz="2000" dirty="0">
                <a:latin typeface="+mj-ea"/>
                <a:ea typeface="+mj-ea"/>
              </a:rPr>
              <a:t>编制项目开发计划的目的是用文件的形式，把对于在开发过程中各项工作的负责人员、开发进度、所需经费预算、所需软、硬件条件等问题作出的安排记载下来，以便根据本计划开展和检查本项目的开发工作。编制内容要求如下：</a:t>
            </a:r>
            <a:endParaRPr lang="zh-CN" altLang="en-US" sz="2000" dirty="0">
              <a:latin typeface="+mj-ea"/>
              <a:ea typeface="+mj-ea"/>
            </a:endParaRPr>
          </a:p>
        </p:txBody>
      </p:sp>
      <p:sp>
        <p:nvSpPr>
          <p:cNvPr id="4" name="灯片编号占位符 3"/>
          <p:cNvSpPr>
            <a:spLocks noGrp="1"/>
          </p:cNvSpPr>
          <p:nvPr>
            <p:ph type="sldNum" sz="quarter" idx="4294967295"/>
          </p:nvPr>
        </p:nvSpPr>
        <p:spPr>
          <a:xfrm>
            <a:off x="8591550" y="4805363"/>
            <a:ext cx="552450" cy="274637"/>
          </a:xfrm>
        </p:spPr>
        <p:txBody>
          <a:bodyPr/>
          <a:lstStyle/>
          <a:p>
            <a:fld id="{0C913308-F349-4B6D-A68A-DD1791B4A57B}" type="slidenum">
              <a:rPr lang="zh-CN" altLang="en-US" smtClean="0"/>
            </a:fld>
            <a:endParaRPr lang="zh-CN" altLang="en-US" dirty="0"/>
          </a:p>
        </p:txBody>
      </p:sp>
      <p:sp>
        <p:nvSpPr>
          <p:cNvPr id="6" name="日期占位符 5"/>
          <p:cNvSpPr>
            <a:spLocks noGrp="1"/>
          </p:cNvSpPr>
          <p:nvPr>
            <p:ph type="dt" sz="half" idx="10"/>
          </p:nvPr>
        </p:nvSpPr>
        <p:spPr/>
        <p:txBody>
          <a:bodyPr/>
          <a:lstStyle/>
          <a:p>
            <a:fld id="{509EA993-B438-406D-AA4A-F2DCBBFB87D8}"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标题 33"/>
          <p:cNvSpPr>
            <a:spLocks noGrp="1"/>
          </p:cNvSpPr>
          <p:nvPr>
            <p:ph type="title"/>
          </p:nvPr>
        </p:nvSpPr>
        <p:spPr/>
        <p:txBody>
          <a:bodyPr/>
          <a:lstStyle/>
          <a:p>
            <a:r>
              <a:rPr lang="zh-CN" altLang="en-US" dirty="0"/>
              <a:t>软件项目计划书</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32" name="组合 31"/>
          <p:cNvGrpSpPr/>
          <p:nvPr/>
        </p:nvGrpSpPr>
        <p:grpSpPr>
          <a:xfrm>
            <a:off x="1163455" y="204700"/>
            <a:ext cx="7625660" cy="4539254"/>
            <a:chOff x="-156652" y="455528"/>
            <a:chExt cx="10167546" cy="6052330"/>
          </a:xfrm>
        </p:grpSpPr>
        <p:sp>
          <p:nvSpPr>
            <p:cNvPr id="4" name="Oval 5"/>
            <p:cNvSpPr>
              <a:spLocks noChangeArrowheads="1"/>
            </p:cNvSpPr>
            <p:nvPr/>
          </p:nvSpPr>
          <p:spPr bwMode="auto">
            <a:xfrm>
              <a:off x="-156652" y="3280321"/>
              <a:ext cx="948227" cy="1387237"/>
            </a:xfrm>
            <a:prstGeom prst="ellipse">
              <a:avLst/>
            </a:prstGeom>
          </p:spPr>
          <p:style>
            <a:lnRef idx="2">
              <a:schemeClr val="accent1"/>
            </a:lnRef>
            <a:fillRef idx="1">
              <a:schemeClr val="lt1"/>
            </a:fillRef>
            <a:effectRef idx="0">
              <a:schemeClr val="accent1"/>
            </a:effectRef>
            <a:fontRef idx="minor">
              <a:schemeClr val="dk1"/>
            </a:fontRef>
          </p:style>
          <p:txBody>
            <a:bodyPr wrap="none"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r>
                <a:rPr kumimoji="1" lang="zh-CN" altLang="en-US" sz="1600" b="1" dirty="0">
                  <a:latin typeface="Times New Roman" panose="02020603050405020304" pitchFamily="18" charset="0"/>
                </a:rPr>
                <a:t>软件</a:t>
              </a:r>
              <a:endParaRPr kumimoji="1" lang="zh-CN" altLang="en-US" sz="1600" b="1" dirty="0">
                <a:latin typeface="Times New Roman" panose="02020603050405020304" pitchFamily="18" charset="0"/>
              </a:endParaRPr>
            </a:p>
            <a:p>
              <a:pPr algn="ctr" eaLnBrk="1" hangingPunct="1"/>
              <a:r>
                <a:rPr kumimoji="1" lang="zh-CN" altLang="en-US" sz="1600" b="1" dirty="0">
                  <a:latin typeface="Times New Roman" panose="02020603050405020304" pitchFamily="18" charset="0"/>
                </a:rPr>
                <a:t>项目</a:t>
              </a:r>
              <a:endParaRPr kumimoji="1" lang="zh-CN" altLang="en-US" sz="1600" b="1" dirty="0">
                <a:latin typeface="Times New Roman" panose="02020603050405020304" pitchFamily="18" charset="0"/>
              </a:endParaRPr>
            </a:p>
            <a:p>
              <a:pPr algn="ctr" eaLnBrk="1" hangingPunct="1"/>
              <a:r>
                <a:rPr kumimoji="1" lang="zh-CN" altLang="en-US" sz="1600" b="1" dirty="0">
                  <a:latin typeface="Times New Roman" panose="02020603050405020304" pitchFamily="18" charset="0"/>
                </a:rPr>
                <a:t>计划</a:t>
              </a:r>
              <a:endParaRPr kumimoji="1" lang="zh-CN" altLang="en-US" sz="1600" b="1" dirty="0">
                <a:latin typeface="Times New Roman" panose="02020603050405020304" pitchFamily="18" charset="0"/>
              </a:endParaRPr>
            </a:p>
          </p:txBody>
        </p:sp>
        <p:sp>
          <p:nvSpPr>
            <p:cNvPr id="5" name="Text Box 6"/>
            <p:cNvSpPr txBox="1">
              <a:spLocks noChangeArrowheads="1"/>
            </p:cNvSpPr>
            <p:nvPr/>
          </p:nvSpPr>
          <p:spPr bwMode="auto">
            <a:xfrm>
              <a:off x="1178921" y="1787833"/>
              <a:ext cx="920748" cy="94384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600" b="1" dirty="0">
                  <a:latin typeface="宋体" panose="02010600030101010101" pitchFamily="2" charset="-122"/>
                </a:rPr>
                <a:t>资源计划</a:t>
              </a:r>
              <a:r>
                <a:rPr kumimoji="1" lang="zh-CN" altLang="en-US" sz="2400" b="1" dirty="0">
                  <a:latin typeface="Times New Roman" panose="02020603050405020304" pitchFamily="18" charset="0"/>
                </a:rPr>
                <a:t> </a:t>
              </a:r>
              <a:endParaRPr kumimoji="1" lang="zh-CN" altLang="en-US" sz="2400" b="1" dirty="0">
                <a:latin typeface="Times New Roman" panose="02020603050405020304" pitchFamily="18" charset="0"/>
              </a:endParaRPr>
            </a:p>
          </p:txBody>
        </p:sp>
        <p:sp>
          <p:nvSpPr>
            <p:cNvPr id="6" name="Text Box 7"/>
            <p:cNvSpPr txBox="1">
              <a:spLocks noChangeArrowheads="1"/>
            </p:cNvSpPr>
            <p:nvPr/>
          </p:nvSpPr>
          <p:spPr bwMode="auto">
            <a:xfrm>
              <a:off x="1178923" y="2845357"/>
              <a:ext cx="920747" cy="110799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600" b="1" dirty="0">
                  <a:latin typeface="宋体" panose="02010600030101010101" pitchFamily="2" charset="-122"/>
                </a:rPr>
                <a:t>软件估算计划 </a:t>
              </a:r>
              <a:endParaRPr kumimoji="1" lang="zh-CN" altLang="en-US" sz="1600" b="1" dirty="0">
                <a:latin typeface="宋体" panose="02010600030101010101" pitchFamily="2" charset="-122"/>
              </a:endParaRPr>
            </a:p>
          </p:txBody>
        </p:sp>
        <p:sp>
          <p:nvSpPr>
            <p:cNvPr id="7" name="Text Box 8"/>
            <p:cNvSpPr txBox="1">
              <a:spLocks noChangeArrowheads="1"/>
            </p:cNvSpPr>
            <p:nvPr/>
          </p:nvSpPr>
          <p:spPr bwMode="auto">
            <a:xfrm>
              <a:off x="1178923" y="4027962"/>
              <a:ext cx="920747" cy="110799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600" b="1">
                  <a:latin typeface="宋体" panose="02010600030101010101" pitchFamily="2" charset="-122"/>
                </a:rPr>
                <a:t>进度安排计划 </a:t>
              </a:r>
              <a:endParaRPr kumimoji="1" lang="zh-CN" altLang="en-US" sz="1600" b="1">
                <a:latin typeface="宋体" panose="02010600030101010101" pitchFamily="2" charset="-122"/>
              </a:endParaRPr>
            </a:p>
          </p:txBody>
        </p:sp>
        <p:sp>
          <p:nvSpPr>
            <p:cNvPr id="8" name="Text Box 9"/>
            <p:cNvSpPr txBox="1">
              <a:spLocks noChangeArrowheads="1"/>
            </p:cNvSpPr>
            <p:nvPr/>
          </p:nvSpPr>
          <p:spPr bwMode="auto">
            <a:xfrm>
              <a:off x="2547348" y="1124803"/>
              <a:ext cx="1800224" cy="61555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600" b="1" dirty="0">
                  <a:latin typeface="宋体" panose="02010600030101010101" pitchFamily="2" charset="-122"/>
                </a:rPr>
                <a:t>人力资源</a:t>
              </a:r>
              <a:r>
                <a:rPr kumimoji="1" lang="zh-CN" altLang="en-US" sz="2400" b="1" dirty="0">
                  <a:latin typeface="Times New Roman" panose="02020603050405020304" pitchFamily="18" charset="0"/>
                </a:rPr>
                <a:t> </a:t>
              </a:r>
              <a:endParaRPr kumimoji="1" lang="zh-CN" altLang="en-US" sz="2400" b="1" dirty="0">
                <a:latin typeface="Times New Roman" panose="02020603050405020304" pitchFamily="18" charset="0"/>
              </a:endParaRPr>
            </a:p>
          </p:txBody>
        </p:sp>
        <p:sp>
          <p:nvSpPr>
            <p:cNvPr id="9" name="Text Box 10"/>
            <p:cNvSpPr txBox="1">
              <a:spLocks noChangeArrowheads="1"/>
            </p:cNvSpPr>
            <p:nvPr/>
          </p:nvSpPr>
          <p:spPr bwMode="auto">
            <a:xfrm>
              <a:off x="2547348" y="1819521"/>
              <a:ext cx="1944688" cy="61555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600" b="1" dirty="0">
                  <a:latin typeface="宋体" panose="02010600030101010101" pitchFamily="2" charset="-122"/>
                </a:rPr>
                <a:t>可复用的构件</a:t>
              </a:r>
              <a:r>
                <a:rPr kumimoji="1" lang="zh-CN" altLang="en-US" sz="2400" b="1" dirty="0">
                  <a:latin typeface="宋体" panose="02010600030101010101" pitchFamily="2" charset="-122"/>
                </a:rPr>
                <a:t> </a:t>
              </a:r>
              <a:endParaRPr kumimoji="1" lang="zh-CN" altLang="en-US" sz="2400" b="1" dirty="0">
                <a:latin typeface="宋体" panose="02010600030101010101" pitchFamily="2" charset="-122"/>
              </a:endParaRPr>
            </a:p>
          </p:txBody>
        </p:sp>
        <p:sp>
          <p:nvSpPr>
            <p:cNvPr id="10" name="Text Box 11"/>
            <p:cNvSpPr txBox="1">
              <a:spLocks noChangeArrowheads="1"/>
            </p:cNvSpPr>
            <p:nvPr/>
          </p:nvSpPr>
          <p:spPr bwMode="auto">
            <a:xfrm>
              <a:off x="2547348" y="2500620"/>
              <a:ext cx="1512885" cy="451405"/>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600" b="1" dirty="0">
                  <a:latin typeface="宋体" panose="02010600030101010101" pitchFamily="2" charset="-122"/>
                </a:rPr>
                <a:t>开发环境 </a:t>
              </a:r>
              <a:endParaRPr kumimoji="1" lang="zh-CN" altLang="en-US" sz="1600" b="1" dirty="0">
                <a:latin typeface="宋体" panose="02010600030101010101" pitchFamily="2" charset="-122"/>
              </a:endParaRPr>
            </a:p>
          </p:txBody>
        </p:sp>
        <p:sp>
          <p:nvSpPr>
            <p:cNvPr id="11" name="Text Box 12"/>
            <p:cNvSpPr txBox="1">
              <a:spLocks noChangeArrowheads="1"/>
            </p:cNvSpPr>
            <p:nvPr/>
          </p:nvSpPr>
          <p:spPr bwMode="auto">
            <a:xfrm>
              <a:off x="4780961" y="455528"/>
              <a:ext cx="2511424" cy="4514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600" b="1" dirty="0">
                  <a:solidFill>
                    <a:schemeClr val="bg1"/>
                  </a:solidFill>
                  <a:latin typeface="宋体" panose="02010600030101010101" pitchFamily="2" charset="-122"/>
                </a:rPr>
                <a:t>高层管理人员</a:t>
              </a:r>
              <a:r>
                <a:rPr kumimoji="1" lang="zh-CN" altLang="en-US" sz="1600" b="1" dirty="0">
                  <a:solidFill>
                    <a:schemeClr val="bg1"/>
                  </a:solidFill>
                  <a:latin typeface="Times New Roman" panose="02020603050405020304" pitchFamily="18" charset="0"/>
                </a:rPr>
                <a:t> </a:t>
              </a:r>
              <a:endParaRPr kumimoji="1" lang="zh-CN" altLang="en-US" sz="1600" b="1" dirty="0">
                <a:solidFill>
                  <a:schemeClr val="bg1"/>
                </a:solidFill>
                <a:latin typeface="Times New Roman" panose="02020603050405020304" pitchFamily="18" charset="0"/>
              </a:endParaRPr>
            </a:p>
          </p:txBody>
        </p:sp>
        <p:sp>
          <p:nvSpPr>
            <p:cNvPr id="12" name="Text Box 13"/>
            <p:cNvSpPr txBox="1">
              <a:spLocks noChangeArrowheads="1"/>
            </p:cNvSpPr>
            <p:nvPr/>
          </p:nvSpPr>
          <p:spPr bwMode="auto">
            <a:xfrm>
              <a:off x="4780961" y="886353"/>
              <a:ext cx="2511424" cy="4514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600" b="1">
                  <a:solidFill>
                    <a:schemeClr val="bg1"/>
                  </a:solidFill>
                  <a:latin typeface="宋体" panose="02010600030101010101" pitchFamily="2" charset="-122"/>
                </a:rPr>
                <a:t>项目经理</a:t>
              </a:r>
              <a:r>
                <a:rPr kumimoji="1" lang="zh-CN" altLang="en-US" sz="1600" b="1">
                  <a:solidFill>
                    <a:schemeClr val="bg1"/>
                  </a:solidFill>
                  <a:latin typeface="Times New Roman" panose="02020603050405020304" pitchFamily="18" charset="0"/>
                </a:rPr>
                <a:t> </a:t>
              </a:r>
              <a:endParaRPr kumimoji="1" lang="zh-CN" altLang="en-US" sz="1600" b="1">
                <a:solidFill>
                  <a:schemeClr val="bg1"/>
                </a:solidFill>
                <a:latin typeface="Times New Roman" panose="02020603050405020304" pitchFamily="18" charset="0"/>
              </a:endParaRPr>
            </a:p>
          </p:txBody>
        </p:sp>
        <p:sp>
          <p:nvSpPr>
            <p:cNvPr id="13" name="Text Box 14"/>
            <p:cNvSpPr txBox="1">
              <a:spLocks noChangeArrowheads="1"/>
            </p:cNvSpPr>
            <p:nvPr/>
          </p:nvSpPr>
          <p:spPr bwMode="auto">
            <a:xfrm>
              <a:off x="4780960" y="1247690"/>
              <a:ext cx="2511425" cy="4514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600" b="1" dirty="0">
                  <a:solidFill>
                    <a:schemeClr val="bg1"/>
                  </a:solidFill>
                  <a:latin typeface="宋体" panose="02010600030101010101" pitchFamily="2" charset="-122"/>
                </a:rPr>
                <a:t>开发人员 </a:t>
              </a:r>
              <a:endParaRPr kumimoji="1" lang="zh-CN" altLang="en-US" sz="1600" b="1" dirty="0">
                <a:solidFill>
                  <a:schemeClr val="bg1"/>
                </a:solidFill>
                <a:latin typeface="宋体" panose="02010600030101010101" pitchFamily="2" charset="-122"/>
              </a:endParaRPr>
            </a:p>
          </p:txBody>
        </p:sp>
        <p:sp>
          <p:nvSpPr>
            <p:cNvPr id="14" name="Text Box 15"/>
            <p:cNvSpPr txBox="1">
              <a:spLocks noChangeArrowheads="1"/>
            </p:cNvSpPr>
            <p:nvPr/>
          </p:nvSpPr>
          <p:spPr bwMode="auto">
            <a:xfrm>
              <a:off x="4780961" y="1679487"/>
              <a:ext cx="2511424" cy="4514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600" b="1" dirty="0">
                  <a:solidFill>
                    <a:schemeClr val="bg1"/>
                  </a:solidFill>
                  <a:latin typeface="宋体" panose="02010600030101010101" pitchFamily="2" charset="-122"/>
                </a:rPr>
                <a:t>客户、最终用户 </a:t>
              </a:r>
              <a:endParaRPr kumimoji="1" lang="zh-CN" altLang="en-US" sz="1600" b="1" dirty="0">
                <a:solidFill>
                  <a:schemeClr val="bg1"/>
                </a:solidFill>
                <a:latin typeface="宋体" panose="02010600030101010101" pitchFamily="2" charset="-122"/>
              </a:endParaRPr>
            </a:p>
          </p:txBody>
        </p:sp>
        <p:sp>
          <p:nvSpPr>
            <p:cNvPr id="15" name="AutoShape 16"/>
            <p:cNvSpPr/>
            <p:nvPr/>
          </p:nvSpPr>
          <p:spPr bwMode="auto">
            <a:xfrm>
              <a:off x="4395072" y="766426"/>
              <a:ext cx="288927" cy="1223961"/>
            </a:xfrm>
            <a:prstGeom prst="leftBrace">
              <a:avLst>
                <a:gd name="adj1" fmla="val 70605"/>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endParaRPr lang="zh-CN" altLang="en-US" sz="1600" b="1"/>
            </a:p>
          </p:txBody>
        </p:sp>
        <p:sp>
          <p:nvSpPr>
            <p:cNvPr id="16" name="Text Box 17"/>
            <p:cNvSpPr txBox="1">
              <a:spLocks noChangeArrowheads="1"/>
            </p:cNvSpPr>
            <p:nvPr/>
          </p:nvSpPr>
          <p:spPr bwMode="auto">
            <a:xfrm>
              <a:off x="4636497" y="2547846"/>
              <a:ext cx="2511425" cy="4514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600" b="1" dirty="0">
                  <a:solidFill>
                    <a:schemeClr val="bg1"/>
                  </a:solidFill>
                  <a:latin typeface="宋体" panose="02010600030101010101" pitchFamily="2" charset="-122"/>
                </a:rPr>
                <a:t>软件</a:t>
              </a:r>
              <a:r>
                <a:rPr kumimoji="1" lang="en-US" altLang="zh-CN" sz="1600" b="1" dirty="0">
                  <a:solidFill>
                    <a:schemeClr val="bg1"/>
                  </a:solidFill>
                  <a:latin typeface="Times New Roman" panose="02020603050405020304" pitchFamily="18" charset="0"/>
                </a:rPr>
                <a:t>/</a:t>
              </a:r>
              <a:r>
                <a:rPr kumimoji="1" lang="zh-CN" altLang="en-US" sz="1600" b="1" dirty="0">
                  <a:solidFill>
                    <a:schemeClr val="bg1"/>
                  </a:solidFill>
                  <a:latin typeface="宋体" panose="02010600030101010101" pitchFamily="2" charset="-122"/>
                </a:rPr>
                <a:t>硬件环境</a:t>
              </a:r>
              <a:r>
                <a:rPr kumimoji="1" lang="zh-CN" altLang="en-US" sz="1600" b="1" dirty="0">
                  <a:solidFill>
                    <a:schemeClr val="bg1"/>
                  </a:solidFill>
                  <a:latin typeface="Times New Roman" panose="02020603050405020304" pitchFamily="18" charset="0"/>
                </a:rPr>
                <a:t> </a:t>
              </a:r>
              <a:endParaRPr kumimoji="1" lang="zh-CN" altLang="en-US" sz="1600" b="1" dirty="0">
                <a:solidFill>
                  <a:schemeClr val="bg1"/>
                </a:solidFill>
                <a:latin typeface="Times New Roman" panose="02020603050405020304" pitchFamily="18" charset="0"/>
              </a:endParaRPr>
            </a:p>
          </p:txBody>
        </p:sp>
        <p:sp>
          <p:nvSpPr>
            <p:cNvPr id="17" name="AutoShape 18"/>
            <p:cNvSpPr/>
            <p:nvPr/>
          </p:nvSpPr>
          <p:spPr bwMode="auto">
            <a:xfrm>
              <a:off x="2123277" y="1427469"/>
              <a:ext cx="258763" cy="1416050"/>
            </a:xfrm>
            <a:prstGeom prst="leftBrace">
              <a:avLst>
                <a:gd name="adj1" fmla="val 45603"/>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endParaRPr lang="zh-CN" altLang="en-US" sz="1600" b="1"/>
            </a:p>
          </p:txBody>
        </p:sp>
        <p:sp>
          <p:nvSpPr>
            <p:cNvPr id="18" name="Line 19"/>
            <p:cNvSpPr>
              <a:spLocks noChangeShapeType="1"/>
            </p:cNvSpPr>
            <p:nvPr/>
          </p:nvSpPr>
          <p:spPr bwMode="auto">
            <a:xfrm>
              <a:off x="4167389" y="2749142"/>
              <a:ext cx="361951" cy="15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sz="1600" b="1"/>
            </a:p>
          </p:txBody>
        </p:sp>
        <p:sp>
          <p:nvSpPr>
            <p:cNvPr id="19" name="Text Box 20"/>
            <p:cNvSpPr txBox="1">
              <a:spLocks noChangeArrowheads="1"/>
            </p:cNvSpPr>
            <p:nvPr/>
          </p:nvSpPr>
          <p:spPr bwMode="auto">
            <a:xfrm>
              <a:off x="2331447" y="3011796"/>
              <a:ext cx="5545137" cy="1107995"/>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600" b="1">
                  <a:latin typeface="宋体" panose="02010600030101010101" pitchFamily="2" charset="-122"/>
                </a:rPr>
                <a:t>采用任务分解技术对软件的规模与工作量进行估算，并将总的开发费用分配到开发的各个阶段中</a:t>
              </a:r>
              <a:r>
                <a:rPr kumimoji="1" lang="zh-CN" altLang="en-US" sz="1600" b="1">
                  <a:latin typeface="Times New Roman" panose="02020603050405020304" pitchFamily="18" charset="0"/>
                </a:rPr>
                <a:t> </a:t>
              </a:r>
              <a:endParaRPr kumimoji="1" lang="zh-CN" altLang="en-US" sz="1600" b="1">
                <a:latin typeface="Times New Roman" panose="02020603050405020304" pitchFamily="18" charset="0"/>
              </a:endParaRPr>
            </a:p>
          </p:txBody>
        </p:sp>
        <p:sp>
          <p:nvSpPr>
            <p:cNvPr id="20" name="AutoShape 21"/>
            <p:cNvSpPr>
              <a:spLocks noChangeArrowheads="1"/>
            </p:cNvSpPr>
            <p:nvPr/>
          </p:nvSpPr>
          <p:spPr bwMode="auto">
            <a:xfrm>
              <a:off x="1971085" y="3299133"/>
              <a:ext cx="258763" cy="184150"/>
            </a:xfrm>
            <a:prstGeom prst="rightArrow">
              <a:avLst>
                <a:gd name="adj1" fmla="val 50000"/>
                <a:gd name="adj2" fmla="val 35129"/>
              </a:avLst>
            </a:prstGeom>
            <a:solidFill>
              <a:schemeClr val="accent1"/>
            </a:solidFill>
            <a:ln w="9525">
              <a:solidFill>
                <a:schemeClr val="tx1"/>
              </a:solidFill>
              <a:miter lim="800000"/>
            </a:ln>
          </p:spPr>
          <p:txBody>
            <a:bodyPr wrap="none"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endParaRPr lang="zh-CN" altLang="en-US" sz="1600" b="1"/>
            </a:p>
          </p:txBody>
        </p:sp>
        <p:sp>
          <p:nvSpPr>
            <p:cNvPr id="21" name="Text Box 22"/>
            <p:cNvSpPr txBox="1">
              <a:spLocks noChangeArrowheads="1"/>
            </p:cNvSpPr>
            <p:nvPr/>
          </p:nvSpPr>
          <p:spPr bwMode="auto">
            <a:xfrm>
              <a:off x="8379821" y="2414341"/>
              <a:ext cx="1631073" cy="4514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600" b="1" dirty="0">
                  <a:solidFill>
                    <a:schemeClr val="bg1"/>
                  </a:solidFill>
                  <a:latin typeface="Times New Roman" panose="02020603050405020304" pitchFamily="18" charset="0"/>
                </a:rPr>
                <a:t>软件规模</a:t>
              </a:r>
              <a:endParaRPr kumimoji="1" lang="zh-CN" altLang="en-US" sz="1600" b="1" dirty="0">
                <a:solidFill>
                  <a:schemeClr val="bg1"/>
                </a:solidFill>
                <a:latin typeface="Times New Roman" panose="02020603050405020304" pitchFamily="18" charset="0"/>
              </a:endParaRPr>
            </a:p>
          </p:txBody>
        </p:sp>
        <p:sp>
          <p:nvSpPr>
            <p:cNvPr id="22" name="Text Box 23"/>
            <p:cNvSpPr txBox="1">
              <a:spLocks noChangeArrowheads="1"/>
            </p:cNvSpPr>
            <p:nvPr/>
          </p:nvSpPr>
          <p:spPr bwMode="auto">
            <a:xfrm>
              <a:off x="8379821" y="2847729"/>
              <a:ext cx="1631073" cy="4514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600" b="1">
                  <a:solidFill>
                    <a:schemeClr val="bg1"/>
                  </a:solidFill>
                  <a:latin typeface="Times New Roman" panose="02020603050405020304" pitchFamily="18" charset="0"/>
                </a:rPr>
                <a:t>工作量</a:t>
              </a:r>
              <a:endParaRPr kumimoji="1" lang="zh-CN" altLang="en-US" sz="1600" b="1">
                <a:solidFill>
                  <a:schemeClr val="bg1"/>
                </a:solidFill>
                <a:latin typeface="Times New Roman" panose="02020603050405020304" pitchFamily="18" charset="0"/>
              </a:endParaRPr>
            </a:p>
          </p:txBody>
        </p:sp>
        <p:sp>
          <p:nvSpPr>
            <p:cNvPr id="23" name="Text Box 24"/>
            <p:cNvSpPr txBox="1">
              <a:spLocks noChangeArrowheads="1"/>
            </p:cNvSpPr>
            <p:nvPr/>
          </p:nvSpPr>
          <p:spPr bwMode="auto">
            <a:xfrm>
              <a:off x="8379821" y="3279529"/>
              <a:ext cx="1631073" cy="4514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600" b="1" dirty="0">
                  <a:solidFill>
                    <a:schemeClr val="bg1"/>
                  </a:solidFill>
                  <a:latin typeface="Times New Roman" panose="02020603050405020304" pitchFamily="18" charset="0"/>
                </a:rPr>
                <a:t>进度</a:t>
              </a:r>
              <a:endParaRPr kumimoji="1" lang="zh-CN" altLang="en-US" sz="1600" b="1" dirty="0">
                <a:solidFill>
                  <a:schemeClr val="bg1"/>
                </a:solidFill>
                <a:latin typeface="Times New Roman" panose="02020603050405020304" pitchFamily="18" charset="0"/>
              </a:endParaRPr>
            </a:p>
          </p:txBody>
        </p:sp>
        <p:sp>
          <p:nvSpPr>
            <p:cNvPr id="24" name="Text Box 25"/>
            <p:cNvSpPr txBox="1">
              <a:spLocks noChangeArrowheads="1"/>
            </p:cNvSpPr>
            <p:nvPr/>
          </p:nvSpPr>
          <p:spPr bwMode="auto">
            <a:xfrm>
              <a:off x="8379821" y="3639890"/>
              <a:ext cx="1631073" cy="4514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600" b="1" dirty="0">
                  <a:solidFill>
                    <a:schemeClr val="bg1"/>
                  </a:solidFill>
                  <a:latin typeface="Times New Roman" panose="02020603050405020304" pitchFamily="18" charset="0"/>
                </a:rPr>
                <a:t>成本</a:t>
              </a:r>
              <a:endParaRPr kumimoji="1" lang="zh-CN" altLang="en-US" sz="1600" b="1" dirty="0">
                <a:solidFill>
                  <a:schemeClr val="bg1"/>
                </a:solidFill>
                <a:latin typeface="Times New Roman" panose="02020603050405020304" pitchFamily="18" charset="0"/>
              </a:endParaRPr>
            </a:p>
          </p:txBody>
        </p:sp>
        <p:sp>
          <p:nvSpPr>
            <p:cNvPr id="25" name="AutoShape 26"/>
            <p:cNvSpPr/>
            <p:nvPr/>
          </p:nvSpPr>
          <p:spPr bwMode="auto">
            <a:xfrm>
              <a:off x="8019458" y="2693576"/>
              <a:ext cx="215900" cy="1225550"/>
            </a:xfrm>
            <a:prstGeom prst="leftBrace">
              <a:avLst>
                <a:gd name="adj1" fmla="val 47304"/>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endParaRPr lang="zh-CN" altLang="en-US" sz="1600" b="1"/>
            </a:p>
          </p:txBody>
        </p:sp>
        <p:sp>
          <p:nvSpPr>
            <p:cNvPr id="26" name="Text Box 27"/>
            <p:cNvSpPr txBox="1">
              <a:spLocks noChangeArrowheads="1"/>
            </p:cNvSpPr>
            <p:nvPr/>
          </p:nvSpPr>
          <p:spPr bwMode="auto">
            <a:xfrm>
              <a:off x="2331448" y="4164320"/>
              <a:ext cx="5545137" cy="1436291"/>
            </a:xfrm>
            <a:prstGeom prst="rect">
              <a:avLst/>
            </a:prstGeom>
          </p:spPr>
          <p:style>
            <a:lnRef idx="2">
              <a:schemeClr val="accent4"/>
            </a:lnRef>
            <a:fillRef idx="1">
              <a:schemeClr val="lt1"/>
            </a:fillRef>
            <a:effectRef idx="0">
              <a:schemeClr val="accent4"/>
            </a:effectRef>
            <a:fontRef idx="minor">
              <a:schemeClr val="dk1"/>
            </a:fontRef>
          </p:style>
          <p:txBody>
            <a:bodyP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600" b="1">
                  <a:latin typeface="宋体" panose="02010600030101010101" pitchFamily="2" charset="-122"/>
                </a:rPr>
                <a:t>进度安排要确定最终的软件交付日期，并在限定的日期内安排和分配工作量；或者在合理复用各种资源分配工作量的基础上确定最终交付日期。</a:t>
              </a:r>
              <a:r>
                <a:rPr kumimoji="1" lang="zh-CN" altLang="en-US" sz="1600" b="1">
                  <a:latin typeface="Times New Roman" panose="02020603050405020304" pitchFamily="18" charset="0"/>
                </a:rPr>
                <a:t> </a:t>
              </a:r>
              <a:endParaRPr kumimoji="1" lang="zh-CN" altLang="en-US" sz="1600" b="1">
                <a:latin typeface="Times New Roman" panose="02020603050405020304" pitchFamily="18" charset="0"/>
              </a:endParaRPr>
            </a:p>
          </p:txBody>
        </p:sp>
        <p:sp>
          <p:nvSpPr>
            <p:cNvPr id="27" name="AutoShape 28"/>
            <p:cNvSpPr>
              <a:spLocks noChangeArrowheads="1"/>
            </p:cNvSpPr>
            <p:nvPr/>
          </p:nvSpPr>
          <p:spPr bwMode="auto">
            <a:xfrm>
              <a:off x="1971085" y="4451658"/>
              <a:ext cx="288925" cy="215900"/>
            </a:xfrm>
            <a:prstGeom prst="rightArrow">
              <a:avLst>
                <a:gd name="adj1" fmla="val 50000"/>
                <a:gd name="adj2" fmla="val 33456"/>
              </a:avLst>
            </a:prstGeom>
            <a:solidFill>
              <a:schemeClr val="accent1"/>
            </a:solidFill>
            <a:ln w="9525">
              <a:solidFill>
                <a:schemeClr val="tx1"/>
              </a:solidFill>
              <a:miter lim="800000"/>
            </a:ln>
          </p:spPr>
          <p:txBody>
            <a:bodyPr wrap="none"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endParaRPr lang="zh-CN" altLang="en-US" sz="1600" b="1"/>
            </a:p>
          </p:txBody>
        </p:sp>
        <p:sp>
          <p:nvSpPr>
            <p:cNvPr id="28" name="AutoShape 29"/>
            <p:cNvSpPr/>
            <p:nvPr/>
          </p:nvSpPr>
          <p:spPr bwMode="auto">
            <a:xfrm>
              <a:off x="791575" y="2130892"/>
              <a:ext cx="274635" cy="3866990"/>
            </a:xfrm>
            <a:prstGeom prst="leftBrace">
              <a:avLst>
                <a:gd name="adj1" fmla="val 293463"/>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endParaRPr lang="zh-CN" altLang="en-US" sz="1600" b="1"/>
            </a:p>
          </p:txBody>
        </p:sp>
        <p:sp>
          <p:nvSpPr>
            <p:cNvPr id="29" name="Text Box 30"/>
            <p:cNvSpPr txBox="1">
              <a:spLocks noChangeArrowheads="1"/>
            </p:cNvSpPr>
            <p:nvPr/>
          </p:nvSpPr>
          <p:spPr bwMode="auto">
            <a:xfrm>
              <a:off x="1178923" y="5235716"/>
              <a:ext cx="920747" cy="127214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600" b="1" dirty="0">
                  <a:latin typeface="宋体" panose="02010600030101010101" pitchFamily="2" charset="-122"/>
                </a:rPr>
                <a:t>其它专题计划</a:t>
              </a:r>
              <a:r>
                <a:rPr kumimoji="1" lang="zh-CN" altLang="en-US" sz="2400" b="1" dirty="0">
                  <a:latin typeface="宋体" panose="02010600030101010101" pitchFamily="2" charset="-122"/>
                </a:rPr>
                <a:t> </a:t>
              </a:r>
              <a:endParaRPr kumimoji="1" lang="zh-CN" altLang="en-US" sz="2400" b="1" dirty="0">
                <a:latin typeface="宋体" panose="02010600030101010101" pitchFamily="2" charset="-122"/>
              </a:endParaRPr>
            </a:p>
          </p:txBody>
        </p:sp>
        <p:sp>
          <p:nvSpPr>
            <p:cNvPr id="30" name="Text Box 31"/>
            <p:cNvSpPr txBox="1">
              <a:spLocks noChangeArrowheads="1"/>
            </p:cNvSpPr>
            <p:nvPr/>
          </p:nvSpPr>
          <p:spPr bwMode="auto">
            <a:xfrm>
              <a:off x="2318707" y="5630687"/>
              <a:ext cx="5545137" cy="77970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kumimoji="1" lang="zh-CN" altLang="en-US" sz="1600" b="1" dirty="0">
                  <a:latin typeface="宋体" panose="02010600030101010101" pitchFamily="2" charset="-122"/>
                </a:rPr>
                <a:t>如质量保证计划、配置管理计划、里程碑及评审计划、测试计划等</a:t>
              </a:r>
              <a:r>
                <a:rPr kumimoji="1" lang="zh-CN" altLang="en-US" sz="1600" b="1" dirty="0">
                  <a:latin typeface="Times New Roman" panose="02020603050405020304" pitchFamily="18" charset="0"/>
                </a:rPr>
                <a:t> </a:t>
              </a:r>
              <a:endParaRPr kumimoji="1" lang="zh-CN" altLang="en-US" sz="1600" b="1" dirty="0">
                <a:latin typeface="Times New Roman" panose="02020603050405020304" pitchFamily="18" charset="0"/>
              </a:endParaRPr>
            </a:p>
          </p:txBody>
        </p:sp>
        <p:sp>
          <p:nvSpPr>
            <p:cNvPr id="31" name="AutoShape 32"/>
            <p:cNvSpPr>
              <a:spLocks noChangeArrowheads="1"/>
            </p:cNvSpPr>
            <p:nvPr/>
          </p:nvSpPr>
          <p:spPr bwMode="auto">
            <a:xfrm>
              <a:off x="1955207" y="5889932"/>
              <a:ext cx="288925" cy="215900"/>
            </a:xfrm>
            <a:prstGeom prst="rightArrow">
              <a:avLst>
                <a:gd name="adj1" fmla="val 50000"/>
                <a:gd name="adj2" fmla="val 33456"/>
              </a:avLst>
            </a:prstGeom>
            <a:solidFill>
              <a:schemeClr val="accent1"/>
            </a:solidFill>
            <a:ln w="9525">
              <a:solidFill>
                <a:schemeClr val="tx1"/>
              </a:solidFill>
              <a:miter lim="800000"/>
            </a:ln>
          </p:spPr>
          <p:txBody>
            <a:bodyPr wrap="none"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endParaRPr lang="zh-CN" altLang="en-US" sz="1600" b="1"/>
            </a:p>
          </p:txBody>
        </p:sp>
      </p:grpSp>
      <p:sp>
        <p:nvSpPr>
          <p:cNvPr id="36" name="日期占位符 35"/>
          <p:cNvSpPr>
            <a:spLocks noGrp="1"/>
          </p:cNvSpPr>
          <p:nvPr>
            <p:ph type="dt" sz="half" idx="10"/>
          </p:nvPr>
        </p:nvSpPr>
        <p:spPr/>
        <p:txBody>
          <a:bodyPr/>
          <a:lstStyle/>
          <a:p>
            <a:fld id="{1F0E9CA1-B3D6-4903-AD07-2B8D53058766}" type="datetime1">
              <a:rPr lang="zh-CN" altLang="en-US" smtClean="0"/>
            </a:fld>
            <a:endParaRPr lang="zh-CN" altLang="en-US" dirty="0"/>
          </a:p>
        </p:txBody>
      </p:sp>
      <p:sp>
        <p:nvSpPr>
          <p:cNvPr id="37" name="页脚占位符 36"/>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6"/>
          <p:cNvSpPr/>
          <p:nvPr/>
        </p:nvSpPr>
        <p:spPr>
          <a:xfrm>
            <a:off x="3220772" y="2568146"/>
            <a:ext cx="4909185" cy="1203483"/>
          </a:xfrm>
          <a:prstGeom prst="rect">
            <a:avLst/>
          </a:prstGeom>
        </p:spPr>
        <p:txBody>
          <a:bodyPr vert="horz" wrap="square" lIns="0" tIns="0" rIns="0" bIns="0"/>
          <a:lstStyle/>
          <a:p>
            <a:pPr algn="l" rtl="0" eaLnBrk="0">
              <a:lnSpc>
                <a:spcPct val="91000"/>
              </a:lnSpc>
            </a:pPr>
            <a:endParaRPr lang="en-US" altLang="en-US" sz="100" dirty="0"/>
          </a:p>
          <a:p>
            <a:pPr marL="12700" algn="l" rtl="0" eaLnBrk="0">
              <a:lnSpc>
                <a:spcPct val="91000"/>
              </a:lnSpc>
            </a:pPr>
            <a:r>
              <a:rPr kern="0" spc="-60" dirty="0">
                <a:solidFill>
                  <a:srgbClr val="000000">
                    <a:alpha val="100000"/>
                  </a:srgbClr>
                </a:solidFill>
                <a:latin typeface="Arial" panose="020B0604020202020204"/>
                <a:ea typeface="Arial" panose="020B0604020202020204"/>
                <a:cs typeface="Arial" panose="020B0604020202020204"/>
              </a:rPr>
              <a:t>•    </a:t>
            </a:r>
            <a:r>
              <a:rPr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软件规模越大 ，复杂性越高 ，不确定性就越大</a:t>
            </a:r>
            <a:endParaRPr lang="en-US" altLang="en-US" dirty="0"/>
          </a:p>
          <a:p>
            <a:pPr algn="l" rtl="0" eaLnBrk="0">
              <a:lnSpc>
                <a:spcPct val="129000"/>
              </a:lnSpc>
            </a:pPr>
            <a:endParaRPr lang="en-US" altLang="en-US" sz="750" dirty="0"/>
          </a:p>
          <a:p>
            <a:pPr marL="12700" algn="l" rtl="0" eaLnBrk="0">
              <a:lnSpc>
                <a:spcPct val="91000"/>
              </a:lnSpc>
              <a:spcBef>
                <a:spcPts val="730"/>
              </a:spcBef>
            </a:pPr>
            <a:r>
              <a:rPr kern="0" spc="-10" dirty="0">
                <a:solidFill>
                  <a:srgbClr val="000000">
                    <a:alpha val="100000"/>
                  </a:srgbClr>
                </a:solidFill>
                <a:latin typeface="Arial" panose="020B0604020202020204"/>
                <a:ea typeface="Arial" panose="020B0604020202020204"/>
                <a:cs typeface="Arial" panose="020B0604020202020204"/>
              </a:rPr>
              <a:t>•    </a:t>
            </a:r>
            <a:r>
              <a:rPr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需求的不确定性会对项目估算产生很大影响</a:t>
            </a:r>
            <a:endParaRPr lang="en-US" altLang="en-US" dirty="0"/>
          </a:p>
          <a:p>
            <a:pPr algn="l" rtl="0" eaLnBrk="0">
              <a:lnSpc>
                <a:spcPct val="129000"/>
              </a:lnSpc>
            </a:pPr>
            <a:endParaRPr lang="en-US" altLang="en-US" sz="750" dirty="0"/>
          </a:p>
          <a:p>
            <a:pPr algn="l" rtl="0" eaLnBrk="0">
              <a:lnSpc>
                <a:spcPct val="101000"/>
              </a:lnSpc>
            </a:pPr>
            <a:endParaRPr lang="en-US" altLang="en-US" sz="450" dirty="0"/>
          </a:p>
          <a:p>
            <a:pPr marL="12700" algn="l" rtl="0" eaLnBrk="0">
              <a:lnSpc>
                <a:spcPct val="91000"/>
              </a:lnSpc>
              <a:spcBef>
                <a:spcPts val="5"/>
              </a:spcBef>
            </a:pPr>
            <a:r>
              <a:rPr kern="0" spc="-10" dirty="0">
                <a:solidFill>
                  <a:srgbClr val="000000">
                    <a:alpha val="100000"/>
                  </a:srgbClr>
                </a:solidFill>
                <a:latin typeface="Arial" panose="020B0604020202020204"/>
                <a:ea typeface="Arial" panose="020B0604020202020204"/>
                <a:cs typeface="Arial" panose="020B0604020202020204"/>
              </a:rPr>
              <a:t>•    </a:t>
            </a:r>
            <a:r>
              <a:rPr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没有可靠的历史数据使项目估算缺少参照物</a:t>
            </a:r>
            <a:endParaRPr lang="en-US" altLang="en-US" dirty="0"/>
          </a:p>
        </p:txBody>
      </p:sp>
      <p:sp>
        <p:nvSpPr>
          <p:cNvPr id="18" name="textbox 18"/>
          <p:cNvSpPr/>
          <p:nvPr/>
        </p:nvSpPr>
        <p:spPr>
          <a:xfrm>
            <a:off x="863598" y="1379531"/>
            <a:ext cx="7467600" cy="596264"/>
          </a:xfrm>
          <a:prstGeom prst="rect">
            <a:avLst/>
          </a:prstGeom>
          <a:solidFill>
            <a:srgbClr val="ECEBEB"/>
          </a:solidFill>
        </p:spPr>
        <p:txBody>
          <a:bodyPr vert="horz" wrap="square" lIns="0" tIns="0" rIns="0" bIns="0"/>
          <a:lstStyle/>
          <a:p>
            <a:pPr algn="l" rtl="0" eaLnBrk="0">
              <a:lnSpc>
                <a:spcPct val="154000"/>
              </a:lnSpc>
            </a:pPr>
            <a:endParaRPr lang="en-US" altLang="en-US" sz="750" dirty="0"/>
          </a:p>
          <a:p>
            <a:pPr algn="l" rtl="0" eaLnBrk="0">
              <a:lnSpc>
                <a:spcPct val="8000"/>
              </a:lnSpc>
            </a:pPr>
            <a:endParaRPr lang="en-US" altLang="en-US" sz="100" dirty="0"/>
          </a:p>
          <a:p>
            <a:pPr marL="408305" algn="l" rtl="0" eaLnBrk="0">
              <a:lnSpc>
                <a:spcPct val="91000"/>
              </a:lnSpc>
            </a:pPr>
            <a:r>
              <a:rPr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项目估算是对完成项目交付物的时间和成本进行预算和估计的</a:t>
            </a:r>
            <a:r>
              <a:rPr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过程。</a:t>
            </a:r>
            <a:endParaRPr lang="en-US" altLang="en-US" dirty="0"/>
          </a:p>
        </p:txBody>
      </p:sp>
      <p:pic>
        <p:nvPicPr>
          <p:cNvPr id="20" name="picture 20"/>
          <p:cNvPicPr>
            <a:picLocks noChangeAspect="1"/>
          </p:cNvPicPr>
          <p:nvPr/>
        </p:nvPicPr>
        <p:blipFill>
          <a:blip r:embed="rId1"/>
          <a:stretch>
            <a:fillRect/>
          </a:stretch>
        </p:blipFill>
        <p:spPr>
          <a:xfrm rot="21600000">
            <a:off x="974412" y="2222815"/>
            <a:ext cx="2005295" cy="1775927"/>
          </a:xfrm>
          <a:prstGeom prst="rect">
            <a:avLst/>
          </a:prstGeom>
        </p:spPr>
      </p:pic>
      <p:sp>
        <p:nvSpPr>
          <p:cNvPr id="22" name="rect"/>
          <p:cNvSpPr/>
          <p:nvPr/>
        </p:nvSpPr>
        <p:spPr>
          <a:xfrm>
            <a:off x="0" y="4773201"/>
            <a:ext cx="9142961" cy="370298"/>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3" name="标题 2"/>
          <p:cNvSpPr>
            <a:spLocks noGrp="1"/>
          </p:cNvSpPr>
          <p:nvPr>
            <p:ph type="title"/>
          </p:nvPr>
        </p:nvSpPr>
        <p:spPr/>
        <p:txBody>
          <a:bodyPr/>
          <a:p>
            <a:r>
              <a:rPr lang="zh-CN" altLang="en-US" dirty="0"/>
              <a:t>软件项目估算</a:t>
            </a:r>
            <a:endParaRPr lang="en-US" altLang="zh-CN"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box 40"/>
          <p:cNvSpPr/>
          <p:nvPr/>
        </p:nvSpPr>
        <p:spPr>
          <a:xfrm>
            <a:off x="2736989" y="2622323"/>
            <a:ext cx="5387816" cy="1124902"/>
          </a:xfrm>
          <a:prstGeom prst="rect">
            <a:avLst/>
          </a:prstGeom>
        </p:spPr>
        <p:txBody>
          <a:bodyPr vert="horz" wrap="square" lIns="0" tIns="0" rIns="0" bIns="0"/>
          <a:lstStyle/>
          <a:p>
            <a:pPr algn="l" rtl="0" eaLnBrk="0">
              <a:lnSpc>
                <a:spcPct val="77000"/>
              </a:lnSpc>
            </a:pPr>
            <a:endParaRPr lang="en-US" altLang="en-US" sz="100" dirty="0"/>
          </a:p>
          <a:p>
            <a:pPr algn="r" rtl="0" eaLnBrk="0">
              <a:lnSpc>
                <a:spcPct val="80000"/>
              </a:lnSpc>
            </a:pPr>
            <a:r>
              <a:rPr sz="2100" b="1" kern="0" spc="-10" dirty="0">
                <a:ln w="8534" cap="flat" cmpd="sng">
                  <a:solidFill>
                    <a:srgbClr val="0000CC">
                      <a:alpha val="100000"/>
                    </a:srgbClr>
                  </a:solidFill>
                  <a:prstDash val="solid"/>
                  <a:miter lim="10"/>
                </a:ln>
                <a:solidFill>
                  <a:srgbClr val="0000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应该满⾜于事物的本性所</a:t>
            </a:r>
            <a:r>
              <a:rPr sz="2100" b="1" kern="0" spc="-20" dirty="0">
                <a:ln w="8534" cap="flat" cmpd="sng">
                  <a:solidFill>
                    <a:srgbClr val="0000CC">
                      <a:alpha val="100000"/>
                    </a:srgbClr>
                  </a:solidFill>
                  <a:prstDash val="solid"/>
                  <a:miter lim="10"/>
                </a:ln>
                <a:solidFill>
                  <a:srgbClr val="0000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能容许的精确度</a:t>
            </a:r>
            <a:r>
              <a:rPr sz="2100" b="1" kern="0" spc="-20" dirty="0">
                <a:ln w="8534" cap="flat" cmpd="sng">
                  <a:solidFill>
                    <a:srgbClr val="0329D6">
                      <a:alpha val="100000"/>
                    </a:srgbClr>
                  </a:solidFill>
                  <a:prstDash val="solid"/>
                  <a:miter lim="10"/>
                </a:ln>
                <a:solidFill>
                  <a:srgbClr val="0329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2100" b="1" kern="0" spc="-210" dirty="0">
                <a:solidFill>
                  <a:srgbClr val="0329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100" b="1" kern="0" spc="-20" dirty="0">
                <a:ln w="8534" cap="flat" cmpd="sng">
                  <a:solidFill>
                    <a:srgbClr val="0000CC">
                      <a:alpha val="100000"/>
                    </a:srgbClr>
                  </a:solidFill>
                  <a:prstDash val="solid"/>
                  <a:miter lim="10"/>
                </a:ln>
                <a:solidFill>
                  <a:srgbClr val="0000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当</a:t>
            </a:r>
            <a:endParaRPr lang="en-US" altLang="en-US" sz="2100" dirty="0"/>
          </a:p>
          <a:p>
            <a:pPr marL="37465" algn="l" rtl="0" eaLnBrk="0">
              <a:lnSpc>
                <a:spcPts val="3775"/>
              </a:lnSpc>
            </a:pPr>
            <a:r>
              <a:rPr sz="2100" b="1" kern="0" spc="-20" dirty="0">
                <a:ln w="8534" cap="flat" cmpd="sng">
                  <a:solidFill>
                    <a:srgbClr val="0000CC">
                      <a:alpha val="100000"/>
                    </a:srgbClr>
                  </a:solidFill>
                  <a:prstDash val="solid"/>
                  <a:miter lim="10"/>
                </a:ln>
                <a:solidFill>
                  <a:srgbClr val="0000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只能近似于真理时</a:t>
            </a:r>
            <a:r>
              <a:rPr sz="2100" b="1" kern="0" spc="-20" dirty="0">
                <a:ln w="8534" cap="flat" cmpd="sng">
                  <a:solidFill>
                    <a:srgbClr val="0329D6">
                      <a:alpha val="100000"/>
                    </a:srgbClr>
                  </a:solidFill>
                  <a:prstDash val="solid"/>
                  <a:miter lim="10"/>
                </a:ln>
                <a:solidFill>
                  <a:srgbClr val="0329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2100" b="1" kern="0" spc="-490" dirty="0">
                <a:solidFill>
                  <a:srgbClr val="0329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100" b="1" kern="0" spc="-20" dirty="0">
                <a:ln w="8534" cap="flat" cmpd="sng">
                  <a:solidFill>
                    <a:srgbClr val="0000CC">
                      <a:alpha val="100000"/>
                    </a:srgbClr>
                  </a:solidFill>
                  <a:prstDash val="solid"/>
                  <a:miter lim="10"/>
                </a:ln>
                <a:solidFill>
                  <a:srgbClr val="0000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不要去寻求绝</a:t>
            </a:r>
            <a:r>
              <a:rPr sz="2100" b="1" kern="0" spc="-30" dirty="0">
                <a:ln w="8534" cap="flat" cmpd="sng">
                  <a:solidFill>
                    <a:srgbClr val="0000CC">
                      <a:alpha val="100000"/>
                    </a:srgbClr>
                  </a:solidFill>
                  <a:prstDash val="solid"/>
                  <a:miter lim="10"/>
                </a:ln>
                <a:solidFill>
                  <a:srgbClr val="0000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对的准确</a:t>
            </a:r>
            <a:r>
              <a:rPr sz="2100" b="1" kern="0" spc="-30" dirty="0">
                <a:ln w="8534" cap="flat" cmpd="sng">
                  <a:solidFill>
                    <a:srgbClr val="0329D6">
                      <a:alpha val="100000"/>
                    </a:srgbClr>
                  </a:solidFill>
                  <a:prstDash val="solid"/>
                  <a:miter lim="10"/>
                </a:ln>
                <a:solidFill>
                  <a:srgbClr val="0329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2100" dirty="0"/>
          </a:p>
          <a:p>
            <a:pPr algn="l" rtl="0" eaLnBrk="0">
              <a:lnSpc>
                <a:spcPct val="146000"/>
              </a:lnSpc>
            </a:pPr>
            <a:endParaRPr lang="en-US" altLang="en-US" sz="750" dirty="0"/>
          </a:p>
          <a:p>
            <a:pPr algn="l" rtl="0" eaLnBrk="0">
              <a:lnSpc>
                <a:spcPct val="101000"/>
              </a:lnSpc>
            </a:pPr>
            <a:endParaRPr lang="en-US" altLang="en-US" sz="525" dirty="0"/>
          </a:p>
          <a:p>
            <a:pPr algn="r" rtl="0" eaLnBrk="0">
              <a:lnSpc>
                <a:spcPct val="76000"/>
              </a:lnSpc>
              <a:spcBef>
                <a:spcPts val="0"/>
              </a:spcBef>
            </a:pPr>
            <a:r>
              <a:rPr sz="2100" b="1" kern="0" spc="-10" dirty="0">
                <a:solidFill>
                  <a:srgbClr val="0000CC">
                    <a:alpha val="100000"/>
                  </a:srgbClr>
                </a:solidFill>
                <a:latin typeface="Times New Roman" panose="02020603050405020304"/>
                <a:ea typeface="Times New Roman" panose="02020603050405020304"/>
                <a:cs typeface="Times New Roman" panose="02020603050405020304"/>
              </a:rPr>
              <a:t>——</a:t>
            </a:r>
            <a:r>
              <a:rPr sz="2100" b="1" kern="0" spc="-150" dirty="0">
                <a:solidFill>
                  <a:srgbClr val="0000CC">
                    <a:alpha val="100000"/>
                  </a:srgbClr>
                </a:solidFill>
                <a:latin typeface="Times New Roman" panose="02020603050405020304"/>
                <a:ea typeface="Times New Roman" panose="02020603050405020304"/>
                <a:cs typeface="Times New Roman" panose="02020603050405020304"/>
              </a:rPr>
              <a:t> </a:t>
            </a:r>
            <a:r>
              <a:rPr sz="2100" b="1" kern="0" spc="0" dirty="0">
                <a:solidFill>
                  <a:srgbClr val="0000CC">
                    <a:alpha val="100000"/>
                  </a:srgbClr>
                </a:solidFill>
                <a:latin typeface="Times New Roman" panose="02020603050405020304"/>
                <a:ea typeface="Times New Roman" panose="02020603050405020304"/>
                <a:cs typeface="Times New Roman" panose="02020603050405020304"/>
              </a:rPr>
              <a:t>Aristotle</a:t>
            </a:r>
            <a:endParaRPr lang="en-US" altLang="en-US" sz="2100" dirty="0"/>
          </a:p>
        </p:txBody>
      </p:sp>
      <p:sp>
        <p:nvSpPr>
          <p:cNvPr id="42" name="textbox 42"/>
          <p:cNvSpPr/>
          <p:nvPr/>
        </p:nvSpPr>
        <p:spPr>
          <a:xfrm>
            <a:off x="825194" y="1368197"/>
            <a:ext cx="7515225" cy="598646"/>
          </a:xfrm>
          <a:prstGeom prst="rect">
            <a:avLst/>
          </a:prstGeom>
        </p:spPr>
        <p:txBody>
          <a:bodyPr vert="horz" wrap="square" lIns="0" tIns="0" rIns="0" bIns="0"/>
          <a:lstStyle/>
          <a:p>
            <a:pPr algn="l" rtl="0" eaLnBrk="0">
              <a:lnSpc>
                <a:spcPct val="84000"/>
              </a:lnSpc>
            </a:pPr>
            <a:endParaRPr lang="en-US" altLang="en-US" sz="100" dirty="0"/>
          </a:p>
          <a:p>
            <a:pPr marL="12700" algn="l" rtl="0" eaLnBrk="0">
              <a:lnSpc>
                <a:spcPct val="83000"/>
              </a:lnSpc>
            </a:pPr>
            <a:r>
              <a:rPr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项目成员不应该被估算所困</a:t>
            </a:r>
            <a:r>
              <a:rPr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扰 ，勇于面对软件项目估算的挑战 ，克服其中</a:t>
            </a:r>
            <a:endParaRPr lang="en-US" altLang="en-US" dirty="0"/>
          </a:p>
          <a:p>
            <a:pPr marL="27305" algn="l" rtl="0" eaLnBrk="0">
              <a:lnSpc>
                <a:spcPts val="3690"/>
              </a:lnSpc>
            </a:pPr>
            <a:r>
              <a:rPr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的困难 ，做出一个</a:t>
            </a:r>
            <a:r>
              <a:rPr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相对的有价值的估算。</a:t>
            </a:r>
            <a:endParaRPr lang="en-US" altLang="en-US" dirty="0"/>
          </a:p>
        </p:txBody>
      </p:sp>
      <p:sp>
        <p:nvSpPr>
          <p:cNvPr id="44" name="rect"/>
          <p:cNvSpPr/>
          <p:nvPr/>
        </p:nvSpPr>
        <p:spPr>
          <a:xfrm>
            <a:off x="0" y="4773201"/>
            <a:ext cx="9142961" cy="370298"/>
          </a:xfrm>
          <a:prstGeom prst="rect">
            <a:avLst/>
          </a:prstGeom>
          <a:solidFill>
            <a:srgbClr val="7A4779">
              <a:alpha val="100000"/>
            </a:srgbClr>
          </a:solidFill>
          <a:ln cap="flat">
            <a:noFill/>
            <a:prstDash val="solid"/>
            <a:miter lim="0"/>
          </a:ln>
        </p:spPr>
        <p:txBody>
          <a:bodyPr rtlCol="0"/>
          <a:lstStyle/>
          <a:p>
            <a:pPr algn="ctr"/>
            <a:endParaRPr lang="zh-CN" altLang="en-US" sz="1350"/>
          </a:p>
        </p:txBody>
      </p:sp>
      <p:pic>
        <p:nvPicPr>
          <p:cNvPr id="46" name="picture 46"/>
          <p:cNvPicPr>
            <a:picLocks noChangeAspect="1"/>
          </p:cNvPicPr>
          <p:nvPr/>
        </p:nvPicPr>
        <p:blipFill>
          <a:blip r:embed="rId1"/>
          <a:stretch>
            <a:fillRect/>
          </a:stretch>
        </p:blipFill>
        <p:spPr>
          <a:xfrm rot="21600000">
            <a:off x="860845" y="2247900"/>
            <a:ext cx="1456463" cy="1774044"/>
          </a:xfrm>
          <a:prstGeom prst="rect">
            <a:avLst/>
          </a:prstGeom>
        </p:spPr>
      </p:pic>
      <p:sp>
        <p:nvSpPr>
          <p:cNvPr id="3" name="标题 2"/>
          <p:cNvSpPr>
            <a:spLocks noGrp="1"/>
          </p:cNvSpPr>
          <p:nvPr>
            <p:ph type="title"/>
          </p:nvPr>
        </p:nvSpPr>
        <p:spPr/>
        <p:txBody>
          <a:bodyPr/>
          <a:p>
            <a:r>
              <a:rPr lang="zh-CN" altLang="en-US" dirty="0"/>
              <a:t>软件项目估算</a:t>
            </a:r>
            <a:endParaRPr lang="en-US" altLang="zh-CN"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picture 64"/>
          <p:cNvPicPr>
            <a:picLocks noChangeAspect="1"/>
          </p:cNvPicPr>
          <p:nvPr/>
        </p:nvPicPr>
        <p:blipFill>
          <a:blip r:embed="rId1"/>
          <a:stretch>
            <a:fillRect/>
          </a:stretch>
        </p:blipFill>
        <p:spPr>
          <a:xfrm rot="21600000">
            <a:off x="1803208" y="2303236"/>
            <a:ext cx="2807057" cy="1693207"/>
          </a:xfrm>
          <a:prstGeom prst="rect">
            <a:avLst/>
          </a:prstGeom>
        </p:spPr>
      </p:pic>
      <p:sp>
        <p:nvSpPr>
          <p:cNvPr id="66" name="textbox 66"/>
          <p:cNvSpPr/>
          <p:nvPr/>
        </p:nvSpPr>
        <p:spPr>
          <a:xfrm>
            <a:off x="1025332" y="1308809"/>
            <a:ext cx="7085171" cy="548639"/>
          </a:xfrm>
          <a:prstGeom prst="rect">
            <a:avLst/>
          </a:prstGeom>
          <a:solidFill>
            <a:srgbClr val="ECEBEB"/>
          </a:solidFill>
        </p:spPr>
        <p:txBody>
          <a:bodyPr vert="horz" wrap="square" lIns="0" tIns="0" rIns="0" bIns="0"/>
          <a:lstStyle/>
          <a:p>
            <a:pPr algn="l" rtl="0" eaLnBrk="0">
              <a:lnSpc>
                <a:spcPct val="143000"/>
              </a:lnSpc>
            </a:pPr>
            <a:endParaRPr lang="en-US" altLang="en-US" sz="750" dirty="0"/>
          </a:p>
          <a:p>
            <a:pPr algn="l" rtl="0" eaLnBrk="0">
              <a:lnSpc>
                <a:spcPct val="9000"/>
              </a:lnSpc>
            </a:pPr>
            <a:endParaRPr lang="en-US" altLang="en-US" sz="100" dirty="0"/>
          </a:p>
          <a:p>
            <a:pPr marL="765810" algn="l" rtl="0" eaLnBrk="0">
              <a:lnSpc>
                <a:spcPct val="91000"/>
              </a:lnSpc>
            </a:pPr>
            <a:r>
              <a:rPr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软件项目估算的首要原则 ：对结果进行估计</a:t>
            </a:r>
            <a:r>
              <a:rPr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，而不是活动。</a:t>
            </a:r>
            <a:endParaRPr lang="en-US" altLang="en-US" dirty="0"/>
          </a:p>
        </p:txBody>
      </p:sp>
      <p:sp>
        <p:nvSpPr>
          <p:cNvPr id="68" name="rect"/>
          <p:cNvSpPr/>
          <p:nvPr/>
        </p:nvSpPr>
        <p:spPr>
          <a:xfrm>
            <a:off x="0" y="4773201"/>
            <a:ext cx="9142961" cy="370298"/>
          </a:xfrm>
          <a:prstGeom prst="rect">
            <a:avLst/>
          </a:prstGeom>
          <a:solidFill>
            <a:srgbClr val="7A4779">
              <a:alpha val="100000"/>
            </a:srgbClr>
          </a:solidFill>
          <a:ln cap="flat">
            <a:noFill/>
            <a:prstDash val="solid"/>
            <a:miter lim="0"/>
          </a:ln>
        </p:spPr>
        <p:txBody>
          <a:bodyPr rtlCol="0"/>
          <a:lstStyle/>
          <a:p>
            <a:pPr algn="ctr"/>
            <a:endParaRPr lang="zh-CN" altLang="en-US" sz="1350"/>
          </a:p>
        </p:txBody>
      </p:sp>
      <p:grpSp>
        <p:nvGrpSpPr>
          <p:cNvPr id="6" name="group 6"/>
          <p:cNvGrpSpPr/>
          <p:nvPr/>
        </p:nvGrpSpPr>
        <p:grpSpPr>
          <a:xfrm rot="21600000">
            <a:off x="1413759" y="3990748"/>
            <a:ext cx="3680468" cy="14288"/>
            <a:chOff x="0" y="0"/>
            <a:chExt cx="4907291" cy="19050"/>
          </a:xfrm>
        </p:grpSpPr>
        <p:sp>
          <p:nvSpPr>
            <p:cNvPr id="70" name="path"/>
            <p:cNvSpPr/>
            <p:nvPr/>
          </p:nvSpPr>
          <p:spPr>
            <a:xfrm>
              <a:off x="0" y="9525"/>
              <a:ext cx="4907291" cy="1"/>
            </a:xfrm>
            <a:custGeom>
              <a:avLst/>
              <a:gdLst/>
              <a:ahLst/>
              <a:cxnLst/>
              <a:rect l="0" t="0" r="0" b="0"/>
              <a:pathLst>
                <a:path w="7728">
                  <a:moveTo>
                    <a:pt x="0" y="0"/>
                  </a:moveTo>
                  <a:lnTo>
                    <a:pt x="7728" y="0"/>
                  </a:lnTo>
                </a:path>
              </a:pathLst>
            </a:custGeom>
            <a:solidFill>
              <a:srgbClr val="6CACDC">
                <a:alpha val="100000"/>
              </a:srgbClr>
            </a:solidFill>
            <a:ln cap="flat">
              <a:noFill/>
              <a:prstDash val="solid"/>
              <a:miter lim="0"/>
            </a:ln>
          </p:spPr>
          <p:txBody>
            <a:bodyPr rtlCol="0"/>
            <a:lstStyle/>
            <a:p>
              <a:pPr algn="ctr"/>
              <a:endParaRPr lang="zh-CN" altLang="en-US" sz="1350"/>
            </a:p>
          </p:txBody>
        </p:sp>
        <p:sp>
          <p:nvSpPr>
            <p:cNvPr id="72" name="path"/>
            <p:cNvSpPr/>
            <p:nvPr/>
          </p:nvSpPr>
          <p:spPr>
            <a:xfrm>
              <a:off x="0" y="0"/>
              <a:ext cx="4907290" cy="19050"/>
            </a:xfrm>
            <a:custGeom>
              <a:avLst/>
              <a:gdLst/>
              <a:ahLst/>
              <a:cxnLst/>
              <a:rect l="0" t="0" r="0" b="0"/>
              <a:pathLst>
                <a:path w="7728" h="30">
                  <a:moveTo>
                    <a:pt x="0" y="15"/>
                  </a:moveTo>
                  <a:lnTo>
                    <a:pt x="7728" y="15"/>
                  </a:lnTo>
                </a:path>
              </a:pathLst>
            </a:custGeom>
            <a:noFill/>
            <a:ln w="19049" cap="flat">
              <a:solidFill>
                <a:srgbClr val="000000">
                  <a:alpha val="100000"/>
                </a:srgbClr>
              </a:solidFill>
              <a:prstDash val="solid"/>
              <a:round/>
            </a:ln>
          </p:spPr>
          <p:txBody>
            <a:bodyPr rtlCol="0"/>
            <a:lstStyle/>
            <a:p>
              <a:pPr algn="ctr"/>
              <a:endParaRPr lang="zh-CN" altLang="en-US" sz="1350"/>
            </a:p>
          </p:txBody>
        </p:sp>
      </p:grpSp>
      <p:grpSp>
        <p:nvGrpSpPr>
          <p:cNvPr id="8" name="group 8"/>
          <p:cNvGrpSpPr/>
          <p:nvPr/>
        </p:nvGrpSpPr>
        <p:grpSpPr>
          <a:xfrm rot="21600000">
            <a:off x="1406615" y="2240471"/>
            <a:ext cx="1798325" cy="1758677"/>
            <a:chOff x="0" y="0"/>
            <a:chExt cx="2397767" cy="2344903"/>
          </a:xfrm>
        </p:grpSpPr>
        <p:sp>
          <p:nvSpPr>
            <p:cNvPr id="74" name="path"/>
            <p:cNvSpPr/>
            <p:nvPr/>
          </p:nvSpPr>
          <p:spPr>
            <a:xfrm>
              <a:off x="9525" y="66876"/>
              <a:ext cx="1" cy="2278026"/>
            </a:xfrm>
            <a:custGeom>
              <a:avLst/>
              <a:gdLst/>
              <a:ahLst/>
              <a:cxnLst/>
              <a:rect l="0" t="0" r="0" b="0"/>
              <a:pathLst>
                <a:path h="3587">
                  <a:moveTo>
                    <a:pt x="0" y="3587"/>
                  </a:moveTo>
                  <a:lnTo>
                    <a:pt x="0" y="0"/>
                  </a:lnTo>
                </a:path>
              </a:pathLst>
            </a:custGeom>
            <a:solidFill>
              <a:srgbClr val="6CACDC">
                <a:alpha val="100000"/>
              </a:srgbClr>
            </a:solidFill>
            <a:ln cap="flat">
              <a:noFill/>
              <a:prstDash val="solid"/>
              <a:miter lim="0"/>
            </a:ln>
          </p:spPr>
          <p:txBody>
            <a:bodyPr rtlCol="0"/>
            <a:lstStyle/>
            <a:p>
              <a:pPr algn="ctr"/>
              <a:endParaRPr lang="zh-CN" altLang="en-US" sz="1350"/>
            </a:p>
          </p:txBody>
        </p:sp>
        <p:sp>
          <p:nvSpPr>
            <p:cNvPr id="76" name="path"/>
            <p:cNvSpPr/>
            <p:nvPr/>
          </p:nvSpPr>
          <p:spPr>
            <a:xfrm>
              <a:off x="0" y="66876"/>
              <a:ext cx="19050" cy="2278027"/>
            </a:xfrm>
            <a:custGeom>
              <a:avLst/>
              <a:gdLst/>
              <a:ahLst/>
              <a:cxnLst/>
              <a:rect l="0" t="0" r="0" b="0"/>
              <a:pathLst>
                <a:path w="30" h="3587">
                  <a:moveTo>
                    <a:pt x="15" y="3587"/>
                  </a:moveTo>
                  <a:lnTo>
                    <a:pt x="15" y="0"/>
                  </a:lnTo>
                </a:path>
              </a:pathLst>
            </a:custGeom>
            <a:noFill/>
            <a:ln w="19049" cap="flat">
              <a:solidFill>
                <a:srgbClr val="000000">
                  <a:alpha val="100000"/>
                </a:srgbClr>
              </a:solidFill>
              <a:prstDash val="solid"/>
              <a:round/>
            </a:ln>
          </p:spPr>
          <p:txBody>
            <a:bodyPr rtlCol="0"/>
            <a:lstStyle/>
            <a:p>
              <a:pPr algn="ctr"/>
              <a:endParaRPr lang="zh-CN" altLang="en-US" sz="1350"/>
            </a:p>
          </p:txBody>
        </p:sp>
        <p:sp>
          <p:nvSpPr>
            <p:cNvPr id="78" name="path"/>
            <p:cNvSpPr/>
            <p:nvPr/>
          </p:nvSpPr>
          <p:spPr>
            <a:xfrm>
              <a:off x="2383478" y="0"/>
              <a:ext cx="0" cy="1678208"/>
            </a:xfrm>
            <a:custGeom>
              <a:avLst/>
              <a:gdLst/>
              <a:ahLst/>
              <a:cxnLst/>
              <a:rect l="0" t="0" r="0" b="0"/>
              <a:pathLst>
                <a:path h="2642">
                  <a:moveTo>
                    <a:pt x="0" y="2642"/>
                  </a:moveTo>
                  <a:lnTo>
                    <a:pt x="0" y="0"/>
                  </a:lnTo>
                </a:path>
              </a:pathLst>
            </a:custGeom>
            <a:solidFill>
              <a:srgbClr val="6CACDC">
                <a:alpha val="100000"/>
              </a:srgbClr>
            </a:solidFill>
            <a:ln cap="flat">
              <a:noFill/>
              <a:prstDash val="solid"/>
              <a:miter lim="0"/>
            </a:ln>
          </p:spPr>
          <p:txBody>
            <a:bodyPr rtlCol="0"/>
            <a:lstStyle/>
            <a:p>
              <a:pPr algn="ctr"/>
              <a:endParaRPr lang="zh-CN" altLang="en-US" sz="1350"/>
            </a:p>
          </p:txBody>
        </p:sp>
        <p:sp>
          <p:nvSpPr>
            <p:cNvPr id="80" name="path"/>
            <p:cNvSpPr/>
            <p:nvPr/>
          </p:nvSpPr>
          <p:spPr>
            <a:xfrm>
              <a:off x="2369191" y="0"/>
              <a:ext cx="28576" cy="1678208"/>
            </a:xfrm>
            <a:custGeom>
              <a:avLst/>
              <a:gdLst/>
              <a:ahLst/>
              <a:cxnLst/>
              <a:rect l="0" t="0" r="0" b="0"/>
              <a:pathLst>
                <a:path w="45" h="2642">
                  <a:moveTo>
                    <a:pt x="22" y="2642"/>
                  </a:moveTo>
                  <a:lnTo>
                    <a:pt x="22" y="0"/>
                  </a:lnTo>
                </a:path>
              </a:pathLst>
            </a:custGeom>
            <a:noFill/>
            <a:ln w="28574" cap="flat">
              <a:solidFill>
                <a:srgbClr val="919191">
                  <a:alpha val="100000"/>
                </a:srgbClr>
              </a:solidFill>
              <a:prstDash val="solid"/>
              <a:round/>
            </a:ln>
          </p:spPr>
          <p:txBody>
            <a:bodyPr rtlCol="0"/>
            <a:lstStyle/>
            <a:p>
              <a:pPr algn="ctr"/>
              <a:endParaRPr lang="zh-CN" altLang="en-US" sz="1350"/>
            </a:p>
          </p:txBody>
        </p:sp>
      </p:grpSp>
      <p:sp>
        <p:nvSpPr>
          <p:cNvPr id="82" name="textbox 82"/>
          <p:cNvSpPr/>
          <p:nvPr/>
        </p:nvSpPr>
        <p:spPr>
          <a:xfrm>
            <a:off x="4899662" y="2860532"/>
            <a:ext cx="3055144" cy="548639"/>
          </a:xfrm>
          <a:prstGeom prst="rect">
            <a:avLst/>
          </a:prstGeom>
        </p:spPr>
        <p:txBody>
          <a:bodyPr vert="horz" wrap="square" lIns="0" tIns="0" rIns="0" bIns="0"/>
          <a:lstStyle/>
          <a:p>
            <a:pPr algn="l" rtl="0" eaLnBrk="0">
              <a:lnSpc>
                <a:spcPct val="61000"/>
              </a:lnSpc>
            </a:pPr>
            <a:endParaRPr lang="en-US" altLang="en-US" sz="100" dirty="0"/>
          </a:p>
          <a:p>
            <a:pPr marL="12700" indent="12700" algn="l" rtl="0" eaLnBrk="0">
              <a:lnSpc>
                <a:spcPct val="97000"/>
              </a:lnSpc>
            </a:pPr>
            <a:r>
              <a:rPr b="1" kern="0" spc="170" dirty="0">
                <a:ln w="7315" cap="flat" cmpd="sng">
                  <a:solidFill>
                    <a:srgbClr val="000000">
                      <a:alpha val="100000"/>
                    </a:srgbClr>
                  </a:solidFill>
                  <a:prstDash val="solid"/>
                  <a:miter lim="10"/>
                </a:ln>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不论用什么⽅法</a:t>
            </a:r>
            <a:r>
              <a:rPr b="1" kern="0" spc="-2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b="1" kern="0" spc="170" dirty="0">
                <a:ln w="7315" cap="flat" cmpd="sng">
                  <a:solidFill>
                    <a:srgbClr val="000000">
                      <a:alpha val="100000"/>
                    </a:srgbClr>
                  </a:solidFill>
                  <a:prstDash val="solid"/>
                  <a:miter lim="10"/>
                </a:ln>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b="1" kern="0" spc="-2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b="1" kern="0" spc="170" dirty="0">
                <a:ln w="7315" cap="flat" cmpd="sng">
                  <a:solidFill>
                    <a:srgbClr val="000000">
                      <a:alpha val="100000"/>
                    </a:srgbClr>
                  </a:solidFill>
                  <a:prstDash val="solid"/>
                  <a:miter lim="10"/>
                </a:ln>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所</a:t>
            </a:r>
            <a:r>
              <a:rPr b="1" kern="0" spc="160" dirty="0">
                <a:ln w="7315" cap="flat" cmpd="sng">
                  <a:solidFill>
                    <a:srgbClr val="000000">
                      <a:alpha val="100000"/>
                    </a:srgbClr>
                  </a:solidFill>
                  <a:prstDash val="solid"/>
                  <a:miter lim="10"/>
                </a:ln>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有估计</a:t>
            </a:r>
            <a:r>
              <a:rPr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b="1" kern="0" spc="0" dirty="0">
                <a:ln w="7315" cap="flat" cmpd="sng">
                  <a:solidFill>
                    <a:srgbClr val="000000">
                      <a:alpha val="100000"/>
                    </a:srgbClr>
                  </a:solidFill>
                  <a:prstDash val="solid"/>
                  <a:miter lim="10"/>
                </a:ln>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从定义上来说都只是</a:t>
            </a:r>
            <a:r>
              <a:rPr b="1" kern="0" spc="-10" dirty="0">
                <a:ln w="7315" cap="flat" cmpd="sng">
                  <a:solidFill>
                    <a:srgbClr val="000000">
                      <a:alpha val="100000"/>
                    </a:srgbClr>
                  </a:solidFill>
                  <a:prstDash val="solid"/>
                  <a:miter lim="10"/>
                </a:ln>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概率。</a:t>
            </a:r>
            <a:endParaRPr lang="en-US" altLang="en-US" dirty="0"/>
          </a:p>
        </p:txBody>
      </p:sp>
      <p:sp>
        <p:nvSpPr>
          <p:cNvPr id="3" name="标题 2"/>
          <p:cNvSpPr>
            <a:spLocks noGrp="1"/>
          </p:cNvSpPr>
          <p:nvPr>
            <p:ph type="title"/>
          </p:nvPr>
        </p:nvSpPr>
        <p:spPr/>
        <p:txBody>
          <a:bodyPr/>
          <a:p>
            <a:r>
              <a:rPr lang="zh-CN" altLang="en-US" dirty="0"/>
              <a:t>软件项目估算</a:t>
            </a:r>
            <a:endParaRPr lang="en-US" altLang="zh-CN"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picture 100"/>
          <p:cNvPicPr>
            <a:picLocks noChangeAspect="1"/>
          </p:cNvPicPr>
          <p:nvPr/>
        </p:nvPicPr>
        <p:blipFill>
          <a:blip r:embed="rId1"/>
          <a:stretch>
            <a:fillRect/>
          </a:stretch>
        </p:blipFill>
        <p:spPr>
          <a:xfrm rot="21600000">
            <a:off x="2207984" y="2234167"/>
            <a:ext cx="4603566" cy="1998602"/>
          </a:xfrm>
          <a:prstGeom prst="rect">
            <a:avLst/>
          </a:prstGeom>
        </p:spPr>
      </p:pic>
      <p:sp>
        <p:nvSpPr>
          <p:cNvPr id="102" name="textbox 102"/>
          <p:cNvSpPr/>
          <p:nvPr/>
        </p:nvSpPr>
        <p:spPr>
          <a:xfrm>
            <a:off x="895364" y="1265450"/>
            <a:ext cx="7479506" cy="552926"/>
          </a:xfrm>
          <a:prstGeom prst="rect">
            <a:avLst/>
          </a:prstGeom>
        </p:spPr>
        <p:txBody>
          <a:bodyPr vert="horz" wrap="square" lIns="0" tIns="0" rIns="0" bIns="0"/>
          <a:lstStyle/>
          <a:p>
            <a:pPr algn="l" rtl="0" eaLnBrk="0">
              <a:lnSpc>
                <a:spcPct val="91000"/>
              </a:lnSpc>
            </a:pPr>
            <a:endParaRPr lang="en-US" altLang="en-US" sz="100" dirty="0"/>
          </a:p>
          <a:p>
            <a:pPr marL="17145" algn="l" rtl="0" eaLnBrk="0">
              <a:lnSpc>
                <a:spcPct val="83000"/>
              </a:lnSpc>
            </a:pPr>
            <a:r>
              <a:rPr sz="1650" kern="0" spc="-2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专家判断 </a:t>
            </a:r>
            <a:r>
              <a:rPr sz="1650" kern="0" spc="-20" dirty="0">
                <a:solidFill>
                  <a:srgbClr val="004D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通过借鉴历史信息 ，专家提供项目估算所需的信息 ，或根据以往类似</a:t>
            </a:r>
            <a:endParaRPr lang="en-US" altLang="en-US" sz="1650" dirty="0"/>
          </a:p>
          <a:p>
            <a:pPr marL="12700" algn="l" rtl="0" eaLnBrk="0">
              <a:lnSpc>
                <a:spcPts val="3400"/>
              </a:lnSpc>
            </a:pPr>
            <a:r>
              <a:rPr sz="165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项目的经验 ，给出相关参数的估算上限。</a:t>
            </a:r>
            <a:endParaRPr lang="en-US" altLang="en-US" sz="1650" dirty="0"/>
          </a:p>
        </p:txBody>
      </p:sp>
      <p:sp>
        <p:nvSpPr>
          <p:cNvPr id="104" name="rect"/>
          <p:cNvSpPr/>
          <p:nvPr/>
        </p:nvSpPr>
        <p:spPr>
          <a:xfrm>
            <a:off x="0" y="4773201"/>
            <a:ext cx="9142961" cy="370298"/>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3" name="标题 2"/>
          <p:cNvSpPr>
            <a:spLocks noGrp="1"/>
          </p:cNvSpPr>
          <p:nvPr>
            <p:ph type="title"/>
          </p:nvPr>
        </p:nvSpPr>
        <p:spPr/>
        <p:txBody>
          <a:bodyPr/>
          <a:p>
            <a:r>
              <a:rPr lang="zh-CN" altLang="en-US" dirty="0"/>
              <a:t>软件项目估算</a:t>
            </a:r>
            <a:endParaRPr lang="en-US" altLang="zh-CN"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rot="21600000">
            <a:off x="1577340" y="2397182"/>
            <a:ext cx="4401589" cy="1365365"/>
            <a:chOff x="0" y="0"/>
            <a:chExt cx="5868785" cy="1820487"/>
          </a:xfrm>
        </p:grpSpPr>
        <p:pic>
          <p:nvPicPr>
            <p:cNvPr id="122" name="picture 122"/>
            <p:cNvPicPr>
              <a:picLocks noChangeAspect="1"/>
            </p:cNvPicPr>
            <p:nvPr/>
          </p:nvPicPr>
          <p:blipFill>
            <a:blip r:embed="rId1"/>
            <a:stretch>
              <a:fillRect/>
            </a:stretch>
          </p:blipFill>
          <p:spPr>
            <a:xfrm rot="21600000">
              <a:off x="1953491" y="8313"/>
              <a:ext cx="1936865" cy="1766454"/>
            </a:xfrm>
            <a:prstGeom prst="rect">
              <a:avLst/>
            </a:prstGeom>
          </p:spPr>
        </p:pic>
        <p:pic>
          <p:nvPicPr>
            <p:cNvPr id="124" name="picture 124"/>
            <p:cNvPicPr>
              <a:picLocks noChangeAspect="1"/>
            </p:cNvPicPr>
            <p:nvPr/>
          </p:nvPicPr>
          <p:blipFill>
            <a:blip r:embed="rId2"/>
            <a:stretch>
              <a:fillRect/>
            </a:stretch>
          </p:blipFill>
          <p:spPr>
            <a:xfrm rot="21600000">
              <a:off x="0" y="0"/>
              <a:ext cx="5868785" cy="1820487"/>
            </a:xfrm>
            <a:prstGeom prst="rect">
              <a:avLst/>
            </a:prstGeom>
          </p:spPr>
        </p:pic>
        <p:sp>
          <p:nvSpPr>
            <p:cNvPr id="126" name="textbox 126"/>
            <p:cNvSpPr/>
            <p:nvPr/>
          </p:nvSpPr>
          <p:spPr>
            <a:xfrm>
              <a:off x="1875981" y="529166"/>
              <a:ext cx="3488690" cy="784225"/>
            </a:xfrm>
            <a:prstGeom prst="rect">
              <a:avLst/>
            </a:prstGeom>
          </p:spPr>
          <p:txBody>
            <a:bodyPr vert="horz" wrap="square" lIns="0" tIns="0" rIns="0" bIns="0"/>
            <a:lstStyle/>
            <a:p>
              <a:pPr algn="l" rtl="0" eaLnBrk="0">
                <a:lnSpc>
                  <a:spcPct val="163000"/>
                </a:lnSpc>
              </a:pPr>
              <a:endParaRPr lang="en-US" altLang="en-US" sz="750" dirty="0"/>
            </a:p>
            <a:p>
              <a:pPr marL="151130" algn="l" rtl="0" eaLnBrk="0">
                <a:lnSpc>
                  <a:spcPct val="90000"/>
                </a:lnSpc>
                <a:spcBef>
                  <a:spcPts val="5"/>
                </a:spcBef>
                <a:tabLst>
                  <a:tab pos="375920" algn="l"/>
                </a:tabLst>
              </a:pPr>
              <a:r>
                <a:rPr kern="0" spc="0" dirty="0">
                  <a:solidFill>
                    <a:srgbClr val="FFFFFF">
                      <a:alpha val="100000"/>
                    </a:srgbClr>
                  </a:solidFill>
                  <a:latin typeface="Arial" panose="020B0604020202020204"/>
                  <a:ea typeface="Arial" panose="020B0604020202020204"/>
                  <a:cs typeface="Arial" panose="020B0604020202020204"/>
                </a:rPr>
                <a:t>	</a:t>
              </a:r>
              <a:r>
                <a:rPr kern="0" spc="-20" dirty="0">
                  <a:solidFill>
                    <a:srgbClr val="FFFFFF">
                      <a:alpha val="100000"/>
                    </a:srgbClr>
                  </a:solidFill>
                  <a:latin typeface="Arial" panose="020B0604020202020204"/>
                  <a:ea typeface="Arial" panose="020B0604020202020204"/>
                  <a:cs typeface="Arial" panose="020B0604020202020204"/>
                </a:rPr>
                <a:t>COCOMO</a:t>
              </a:r>
              <a:r>
                <a:rPr kern="0" spc="30" dirty="0">
                  <a:solidFill>
                    <a:srgbClr val="FFFFFF">
                      <a:alpha val="100000"/>
                    </a:srgbClr>
                  </a:solidFill>
                  <a:latin typeface="Arial" panose="020B0604020202020204"/>
                  <a:ea typeface="Arial" panose="020B0604020202020204"/>
                  <a:cs typeface="Arial" panose="020B0604020202020204"/>
                </a:rPr>
                <a:t>         </a:t>
              </a:r>
              <a:r>
                <a:rPr kern="0" spc="-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用例点</a:t>
              </a:r>
              <a:endParaRPr lang="en-US" altLang="en-US" dirty="0"/>
            </a:p>
          </p:txBody>
        </p:sp>
        <p:sp>
          <p:nvSpPr>
            <p:cNvPr id="128" name="path"/>
            <p:cNvSpPr/>
            <p:nvPr/>
          </p:nvSpPr>
          <p:spPr>
            <a:xfrm>
              <a:off x="3841854" y="552652"/>
              <a:ext cx="139932" cy="717691"/>
            </a:xfrm>
            <a:custGeom>
              <a:avLst/>
              <a:gdLst/>
              <a:ahLst/>
              <a:cxnLst/>
              <a:rect l="0" t="0" r="0" b="0"/>
              <a:pathLst>
                <a:path w="220" h="1130">
                  <a:moveTo>
                    <a:pt x="45" y="0"/>
                  </a:moveTo>
                  <a:lnTo>
                    <a:pt x="45" y="1108"/>
                  </a:lnTo>
                  <a:moveTo>
                    <a:pt x="175" y="1130"/>
                  </a:moveTo>
                  <a:lnTo>
                    <a:pt x="175" y="2"/>
                  </a:lnTo>
                </a:path>
              </a:pathLst>
            </a:custGeom>
            <a:noFill/>
            <a:ln w="57149" cap="flat">
              <a:solidFill>
                <a:srgbClr val="D6E3ED">
                  <a:alpha val="100000"/>
                </a:srgbClr>
              </a:solidFill>
              <a:prstDash val="solid"/>
              <a:miter lim="800000"/>
            </a:ln>
          </p:spPr>
          <p:txBody>
            <a:bodyPr rtlCol="0"/>
            <a:lstStyle/>
            <a:p>
              <a:pPr algn="ctr"/>
              <a:endParaRPr lang="zh-CN" altLang="en-US" sz="1350"/>
            </a:p>
          </p:txBody>
        </p:sp>
        <p:sp>
          <p:nvSpPr>
            <p:cNvPr id="130" name="path"/>
            <p:cNvSpPr/>
            <p:nvPr/>
          </p:nvSpPr>
          <p:spPr>
            <a:xfrm>
              <a:off x="1888681" y="541866"/>
              <a:ext cx="138445" cy="714767"/>
            </a:xfrm>
            <a:custGeom>
              <a:avLst/>
              <a:gdLst/>
              <a:ahLst/>
              <a:cxnLst/>
              <a:rect l="0" t="0" r="0" b="0"/>
              <a:pathLst>
                <a:path w="218" h="1125">
                  <a:moveTo>
                    <a:pt x="173" y="1125"/>
                  </a:moveTo>
                  <a:lnTo>
                    <a:pt x="173" y="16"/>
                  </a:lnTo>
                  <a:moveTo>
                    <a:pt x="45" y="0"/>
                  </a:moveTo>
                  <a:lnTo>
                    <a:pt x="45" y="1108"/>
                  </a:lnTo>
                </a:path>
              </a:pathLst>
            </a:custGeom>
            <a:noFill/>
            <a:ln w="57149" cap="flat">
              <a:solidFill>
                <a:srgbClr val="D6E3ED">
                  <a:alpha val="100000"/>
                </a:srgbClr>
              </a:solidFill>
              <a:prstDash val="solid"/>
              <a:miter lim="800000"/>
            </a:ln>
          </p:spPr>
          <p:txBody>
            <a:bodyPr rtlCol="0"/>
            <a:lstStyle/>
            <a:p>
              <a:pPr algn="ctr"/>
              <a:endParaRPr lang="zh-CN" altLang="en-US" sz="1350"/>
            </a:p>
          </p:txBody>
        </p:sp>
        <p:sp>
          <p:nvSpPr>
            <p:cNvPr id="132" name="path"/>
            <p:cNvSpPr/>
            <p:nvPr/>
          </p:nvSpPr>
          <p:spPr>
            <a:xfrm>
              <a:off x="2496247" y="1725755"/>
              <a:ext cx="2823006" cy="79243"/>
            </a:xfrm>
            <a:custGeom>
              <a:avLst/>
              <a:gdLst/>
              <a:ahLst/>
              <a:cxnLst/>
              <a:rect l="0" t="0" r="0" b="0"/>
              <a:pathLst>
                <a:path w="4445" h="124">
                  <a:moveTo>
                    <a:pt x="1380" y="45"/>
                  </a:moveTo>
                  <a:lnTo>
                    <a:pt x="0" y="45"/>
                  </a:lnTo>
                  <a:moveTo>
                    <a:pt x="4445" y="79"/>
                  </a:moveTo>
                  <a:lnTo>
                    <a:pt x="3091" y="79"/>
                  </a:lnTo>
                </a:path>
              </a:pathLst>
            </a:custGeom>
            <a:noFill/>
            <a:ln w="57149" cap="flat">
              <a:solidFill>
                <a:srgbClr val="D6E3ED">
                  <a:alpha val="100000"/>
                </a:srgbClr>
              </a:solidFill>
              <a:prstDash val="solid"/>
              <a:miter lim="800000"/>
            </a:ln>
          </p:spPr>
          <p:txBody>
            <a:bodyPr rtlCol="0"/>
            <a:lstStyle/>
            <a:p>
              <a:pPr algn="ctr"/>
              <a:endParaRPr lang="zh-CN" altLang="en-US" sz="1350"/>
            </a:p>
          </p:txBody>
        </p:sp>
        <p:sp>
          <p:nvSpPr>
            <p:cNvPr id="134" name="path"/>
            <p:cNvSpPr/>
            <p:nvPr/>
          </p:nvSpPr>
          <p:spPr>
            <a:xfrm>
              <a:off x="2496247" y="19849"/>
              <a:ext cx="2823006" cy="63681"/>
            </a:xfrm>
            <a:custGeom>
              <a:avLst/>
              <a:gdLst/>
              <a:ahLst/>
              <a:cxnLst/>
              <a:rect l="0" t="0" r="0" b="0"/>
              <a:pathLst>
                <a:path w="4445" h="100">
                  <a:moveTo>
                    <a:pt x="0" y="55"/>
                  </a:moveTo>
                  <a:lnTo>
                    <a:pt x="1380" y="55"/>
                  </a:lnTo>
                  <a:moveTo>
                    <a:pt x="3091" y="45"/>
                  </a:moveTo>
                  <a:lnTo>
                    <a:pt x="4445" y="45"/>
                  </a:lnTo>
                </a:path>
              </a:pathLst>
            </a:custGeom>
            <a:noFill/>
            <a:ln w="57149" cap="flat">
              <a:solidFill>
                <a:srgbClr val="D6E3ED">
                  <a:alpha val="100000"/>
                </a:srgbClr>
              </a:solidFill>
              <a:prstDash val="solid"/>
              <a:miter lim="800000"/>
            </a:ln>
          </p:spPr>
          <p:txBody>
            <a:bodyPr rtlCol="0"/>
            <a:lstStyle/>
            <a:p>
              <a:pPr algn="ctr"/>
              <a:endParaRPr lang="zh-CN" altLang="en-US" sz="1350"/>
            </a:p>
          </p:txBody>
        </p:sp>
        <p:sp>
          <p:nvSpPr>
            <p:cNvPr id="136" name="path"/>
            <p:cNvSpPr/>
            <p:nvPr/>
          </p:nvSpPr>
          <p:spPr>
            <a:xfrm>
              <a:off x="542952" y="15595"/>
              <a:ext cx="876607" cy="57150"/>
            </a:xfrm>
            <a:custGeom>
              <a:avLst/>
              <a:gdLst/>
              <a:ahLst/>
              <a:cxnLst/>
              <a:rect l="0" t="0" r="0" b="0"/>
              <a:pathLst>
                <a:path w="1380" h="90">
                  <a:moveTo>
                    <a:pt x="0" y="45"/>
                  </a:moveTo>
                  <a:lnTo>
                    <a:pt x="1380" y="45"/>
                  </a:lnTo>
                </a:path>
              </a:pathLst>
            </a:custGeom>
            <a:noFill/>
            <a:ln w="57149" cap="flat">
              <a:solidFill>
                <a:srgbClr val="D6E3ED">
                  <a:alpha val="100000"/>
                </a:srgbClr>
              </a:solidFill>
              <a:prstDash val="solid"/>
              <a:miter lim="800000"/>
            </a:ln>
          </p:spPr>
          <p:txBody>
            <a:bodyPr rtlCol="0"/>
            <a:lstStyle/>
            <a:p>
              <a:pPr algn="ctr"/>
              <a:endParaRPr lang="zh-CN" altLang="en-US" sz="1350"/>
            </a:p>
          </p:txBody>
        </p:sp>
        <p:sp>
          <p:nvSpPr>
            <p:cNvPr id="138" name="rect"/>
            <p:cNvSpPr/>
            <p:nvPr/>
          </p:nvSpPr>
          <p:spPr>
            <a:xfrm>
              <a:off x="542952" y="1714969"/>
              <a:ext cx="876607" cy="57150"/>
            </a:xfrm>
            <a:prstGeom prst="rect">
              <a:avLst/>
            </a:prstGeom>
            <a:solidFill>
              <a:srgbClr val="D6E3ED">
                <a:alpha val="100000"/>
              </a:srgbClr>
            </a:solidFill>
            <a:ln cap="flat">
              <a:noFill/>
              <a:prstDash val="solid"/>
              <a:miter lim="0"/>
            </a:ln>
          </p:spPr>
          <p:txBody>
            <a:bodyPr rtlCol="0"/>
            <a:lstStyle/>
            <a:p>
              <a:pPr algn="ctr"/>
              <a:endParaRPr lang="zh-CN" altLang="en-US" sz="1350"/>
            </a:p>
          </p:txBody>
        </p:sp>
        <p:sp>
          <p:nvSpPr>
            <p:cNvPr id="140" name="rect"/>
            <p:cNvSpPr/>
            <p:nvPr/>
          </p:nvSpPr>
          <p:spPr>
            <a:xfrm>
              <a:off x="5796758" y="554503"/>
              <a:ext cx="57150" cy="715840"/>
            </a:xfrm>
            <a:prstGeom prst="rect">
              <a:avLst/>
            </a:prstGeom>
            <a:solidFill>
              <a:srgbClr val="D6E3ED">
                <a:alpha val="100000"/>
              </a:srgbClr>
            </a:solidFill>
            <a:ln cap="flat">
              <a:noFill/>
              <a:prstDash val="solid"/>
              <a:miter lim="0"/>
            </a:ln>
          </p:spPr>
          <p:txBody>
            <a:bodyPr rtlCol="0"/>
            <a:lstStyle/>
            <a:p>
              <a:pPr algn="ctr"/>
              <a:endParaRPr lang="zh-CN" altLang="en-US" sz="1350"/>
            </a:p>
          </p:txBody>
        </p:sp>
        <p:sp>
          <p:nvSpPr>
            <p:cNvPr id="142" name="rect"/>
            <p:cNvSpPr/>
            <p:nvPr/>
          </p:nvSpPr>
          <p:spPr>
            <a:xfrm>
              <a:off x="16681" y="541866"/>
              <a:ext cx="57150" cy="703981"/>
            </a:xfrm>
            <a:prstGeom prst="rect">
              <a:avLst/>
            </a:prstGeom>
            <a:solidFill>
              <a:srgbClr val="D6E3ED">
                <a:alpha val="100000"/>
              </a:srgbClr>
            </a:solidFill>
            <a:ln cap="flat">
              <a:noFill/>
              <a:prstDash val="solid"/>
              <a:miter lim="0"/>
            </a:ln>
          </p:spPr>
          <p:txBody>
            <a:bodyPr rtlCol="0"/>
            <a:lstStyle/>
            <a:p>
              <a:pPr algn="ctr"/>
              <a:endParaRPr lang="zh-CN" altLang="en-US" sz="1350"/>
            </a:p>
          </p:txBody>
        </p:sp>
      </p:grpSp>
      <p:sp>
        <p:nvSpPr>
          <p:cNvPr id="144" name="textbox 144"/>
          <p:cNvSpPr/>
          <p:nvPr/>
        </p:nvSpPr>
        <p:spPr>
          <a:xfrm>
            <a:off x="948077" y="1371676"/>
            <a:ext cx="7288530" cy="523875"/>
          </a:xfrm>
          <a:prstGeom prst="rect">
            <a:avLst/>
          </a:prstGeom>
        </p:spPr>
        <p:txBody>
          <a:bodyPr vert="horz" wrap="square" lIns="0" tIns="0" rIns="0" bIns="0"/>
          <a:lstStyle/>
          <a:p>
            <a:pPr algn="l" rtl="0" eaLnBrk="0">
              <a:lnSpc>
                <a:spcPct val="91000"/>
              </a:lnSpc>
            </a:pPr>
            <a:endParaRPr lang="en-US" altLang="en-US" sz="100" dirty="0"/>
          </a:p>
          <a:p>
            <a:pPr marL="12700" algn="l" rtl="0" eaLnBrk="0">
              <a:lnSpc>
                <a:spcPct val="83000"/>
              </a:lnSpc>
            </a:pPr>
            <a:r>
              <a:rPr sz="1650"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参数估算 </a:t>
            </a:r>
            <a:r>
              <a:rPr sz="1650" kern="0" spc="10" dirty="0">
                <a:solidFill>
                  <a:srgbClr val="004D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通过对大量的项目历史数据进行</a:t>
            </a: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统计分析 ，使用项目特性参数建立</a:t>
            </a:r>
            <a:endParaRPr lang="en-US" altLang="en-US" sz="1650" dirty="0"/>
          </a:p>
          <a:p>
            <a:pPr marL="15240" algn="l" rtl="0" eaLnBrk="0">
              <a:lnSpc>
                <a:spcPts val="3100"/>
              </a:lnSpc>
            </a:pP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经验估算模型 ，估算诸如成</a:t>
            </a:r>
            <a:r>
              <a:rPr sz="16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本、预算和持续时间等活动参数。</a:t>
            </a:r>
            <a:endParaRPr lang="en-US" altLang="en-US" sz="1650" dirty="0"/>
          </a:p>
        </p:txBody>
      </p:sp>
      <p:sp>
        <p:nvSpPr>
          <p:cNvPr id="146" name="rect"/>
          <p:cNvSpPr/>
          <p:nvPr/>
        </p:nvSpPr>
        <p:spPr>
          <a:xfrm>
            <a:off x="0" y="4773201"/>
            <a:ext cx="9142961" cy="370298"/>
          </a:xfrm>
          <a:prstGeom prst="rect">
            <a:avLst/>
          </a:prstGeom>
          <a:solidFill>
            <a:srgbClr val="7A4779">
              <a:alpha val="100000"/>
            </a:srgbClr>
          </a:solidFill>
          <a:ln cap="flat">
            <a:noFill/>
            <a:prstDash val="solid"/>
            <a:miter lim="0"/>
          </a:ln>
        </p:spPr>
        <p:txBody>
          <a:bodyPr rtlCol="0"/>
          <a:lstStyle/>
          <a:p>
            <a:pPr algn="ctr"/>
            <a:endParaRPr lang="zh-CN" altLang="en-US" sz="1350"/>
          </a:p>
        </p:txBody>
      </p:sp>
      <p:grpSp>
        <p:nvGrpSpPr>
          <p:cNvPr id="16" name="group 16"/>
          <p:cNvGrpSpPr/>
          <p:nvPr/>
        </p:nvGrpSpPr>
        <p:grpSpPr>
          <a:xfrm rot="21600000">
            <a:off x="5985163" y="2409652"/>
            <a:ext cx="1474469" cy="1340427"/>
            <a:chOff x="0" y="0"/>
            <a:chExt cx="1965959" cy="1787236"/>
          </a:xfrm>
        </p:grpSpPr>
        <p:pic>
          <p:nvPicPr>
            <p:cNvPr id="148" name="picture 148"/>
            <p:cNvPicPr>
              <a:picLocks noChangeAspect="1"/>
            </p:cNvPicPr>
            <p:nvPr/>
          </p:nvPicPr>
          <p:blipFill>
            <a:blip r:embed="rId3"/>
            <a:stretch>
              <a:fillRect/>
            </a:stretch>
          </p:blipFill>
          <p:spPr>
            <a:xfrm rot="21600000">
              <a:off x="0" y="0"/>
              <a:ext cx="1965959" cy="1787236"/>
            </a:xfrm>
            <a:prstGeom prst="rect">
              <a:avLst/>
            </a:prstGeom>
          </p:spPr>
        </p:pic>
        <p:sp>
          <p:nvSpPr>
            <p:cNvPr id="150" name="textbox 150"/>
            <p:cNvSpPr/>
            <p:nvPr/>
          </p:nvSpPr>
          <p:spPr>
            <a:xfrm>
              <a:off x="365599" y="744161"/>
              <a:ext cx="1240789" cy="357504"/>
            </a:xfrm>
            <a:prstGeom prst="rect">
              <a:avLst/>
            </a:prstGeom>
          </p:spPr>
          <p:txBody>
            <a:bodyPr vert="horz" wrap="square" lIns="0" tIns="0" rIns="0" bIns="0"/>
            <a:lstStyle/>
            <a:p>
              <a:pPr algn="l" rtl="0" eaLnBrk="0">
                <a:lnSpc>
                  <a:spcPct val="75000"/>
                </a:lnSpc>
              </a:pPr>
              <a:endParaRPr lang="en-US" altLang="en-US" sz="100" dirty="0"/>
            </a:p>
            <a:p>
              <a:pPr marL="12700" algn="l" rtl="0" eaLnBrk="0">
                <a:lnSpc>
                  <a:spcPct val="91000"/>
                </a:lnSpc>
              </a:pPr>
              <a:r>
                <a:rPr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机器学习</a:t>
              </a:r>
              <a:endParaRPr lang="en-US" altLang="en-US" dirty="0"/>
            </a:p>
          </p:txBody>
        </p:sp>
        <p:sp>
          <p:nvSpPr>
            <p:cNvPr id="152" name="path"/>
            <p:cNvSpPr/>
            <p:nvPr/>
          </p:nvSpPr>
          <p:spPr>
            <a:xfrm>
              <a:off x="543899" y="17319"/>
              <a:ext cx="878792" cy="57150"/>
            </a:xfrm>
            <a:custGeom>
              <a:avLst/>
              <a:gdLst/>
              <a:ahLst/>
              <a:cxnLst/>
              <a:rect l="0" t="0" r="0" b="0"/>
              <a:pathLst>
                <a:path w="1383" h="90">
                  <a:moveTo>
                    <a:pt x="0" y="45"/>
                  </a:moveTo>
                  <a:lnTo>
                    <a:pt x="1383" y="45"/>
                  </a:lnTo>
                </a:path>
              </a:pathLst>
            </a:custGeom>
            <a:noFill/>
            <a:ln w="57149" cap="flat">
              <a:solidFill>
                <a:srgbClr val="D6E3ED">
                  <a:alpha val="100000"/>
                </a:srgbClr>
              </a:solidFill>
              <a:prstDash val="solid"/>
              <a:miter lim="800000"/>
            </a:ln>
          </p:spPr>
          <p:txBody>
            <a:bodyPr rtlCol="0"/>
            <a:lstStyle/>
            <a:p>
              <a:pPr algn="ctr"/>
              <a:endParaRPr lang="zh-CN" altLang="en-US" sz="1350"/>
            </a:p>
          </p:txBody>
        </p:sp>
        <p:sp>
          <p:nvSpPr>
            <p:cNvPr id="154" name="rect"/>
            <p:cNvSpPr/>
            <p:nvPr/>
          </p:nvSpPr>
          <p:spPr>
            <a:xfrm>
              <a:off x="543899" y="1712964"/>
              <a:ext cx="878792" cy="57150"/>
            </a:xfrm>
            <a:prstGeom prst="rect">
              <a:avLst/>
            </a:prstGeom>
            <a:solidFill>
              <a:srgbClr val="D6E3ED">
                <a:alpha val="100000"/>
              </a:srgbClr>
            </a:solidFill>
            <a:ln cap="flat">
              <a:noFill/>
              <a:prstDash val="solid"/>
              <a:miter lim="0"/>
            </a:ln>
          </p:spPr>
          <p:txBody>
            <a:bodyPr rtlCol="0"/>
            <a:lstStyle/>
            <a:p>
              <a:pPr algn="ctr"/>
              <a:endParaRPr lang="zh-CN" altLang="en-US" sz="1350"/>
            </a:p>
          </p:txBody>
        </p:sp>
        <p:sp>
          <p:nvSpPr>
            <p:cNvPr id="156" name="rect"/>
            <p:cNvSpPr/>
            <p:nvPr/>
          </p:nvSpPr>
          <p:spPr>
            <a:xfrm>
              <a:off x="18720" y="542498"/>
              <a:ext cx="57150" cy="702437"/>
            </a:xfrm>
            <a:prstGeom prst="rect">
              <a:avLst/>
            </a:prstGeom>
            <a:solidFill>
              <a:srgbClr val="D6E3ED">
                <a:alpha val="100000"/>
              </a:srgbClr>
            </a:solidFill>
            <a:ln cap="flat">
              <a:noFill/>
              <a:prstDash val="solid"/>
              <a:miter lim="0"/>
            </a:ln>
          </p:spPr>
          <p:txBody>
            <a:bodyPr rtlCol="0"/>
            <a:lstStyle/>
            <a:p>
              <a:pPr algn="ctr"/>
              <a:endParaRPr lang="zh-CN" altLang="en-US" sz="1350"/>
            </a:p>
          </p:txBody>
        </p:sp>
        <p:sp>
          <p:nvSpPr>
            <p:cNvPr id="158" name="rect"/>
            <p:cNvSpPr/>
            <p:nvPr/>
          </p:nvSpPr>
          <p:spPr>
            <a:xfrm>
              <a:off x="1890720" y="542498"/>
              <a:ext cx="57150" cy="702437"/>
            </a:xfrm>
            <a:prstGeom prst="rect">
              <a:avLst/>
            </a:prstGeom>
            <a:solidFill>
              <a:srgbClr val="D6E3ED">
                <a:alpha val="100000"/>
              </a:srgbClr>
            </a:solidFill>
            <a:ln cap="flat">
              <a:noFill/>
              <a:prstDash val="solid"/>
              <a:miter lim="0"/>
            </a:ln>
          </p:spPr>
          <p:txBody>
            <a:bodyPr rtlCol="0"/>
            <a:lstStyle/>
            <a:p>
              <a:pPr algn="ctr"/>
              <a:endParaRPr lang="zh-CN" altLang="en-US" sz="1350"/>
            </a:p>
          </p:txBody>
        </p:sp>
      </p:grpSp>
      <p:sp>
        <p:nvSpPr>
          <p:cNvPr id="176" name="textbox 176"/>
          <p:cNvSpPr/>
          <p:nvPr/>
        </p:nvSpPr>
        <p:spPr>
          <a:xfrm>
            <a:off x="1964720" y="2953808"/>
            <a:ext cx="701992" cy="269557"/>
          </a:xfrm>
          <a:prstGeom prst="rect">
            <a:avLst/>
          </a:prstGeom>
        </p:spPr>
        <p:txBody>
          <a:bodyPr vert="horz" wrap="square" lIns="0" tIns="0" rIns="0" bIns="0"/>
          <a:lstStyle/>
          <a:p>
            <a:pPr algn="l" rtl="0" eaLnBrk="0">
              <a:lnSpc>
                <a:spcPct val="89000"/>
              </a:lnSpc>
            </a:pPr>
            <a:endParaRPr lang="en-US" altLang="en-US" sz="100" dirty="0"/>
          </a:p>
          <a:p>
            <a:pPr marL="12700" algn="l" rtl="0" eaLnBrk="0">
              <a:lnSpc>
                <a:spcPct val="91000"/>
              </a:lnSpc>
            </a:pPr>
            <a:r>
              <a:rPr kern="0" spc="-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功能点</a:t>
            </a:r>
            <a:endParaRPr lang="en-US" altLang="en-US" dirty="0"/>
          </a:p>
        </p:txBody>
      </p:sp>
      <p:sp>
        <p:nvSpPr>
          <p:cNvPr id="3" name="标题 2"/>
          <p:cNvSpPr>
            <a:spLocks noGrp="1"/>
          </p:cNvSpPr>
          <p:nvPr>
            <p:ph type="title"/>
          </p:nvPr>
        </p:nvSpPr>
        <p:spPr/>
        <p:txBody>
          <a:bodyPr/>
          <a:p>
            <a:r>
              <a:rPr lang="zh-CN" altLang="en-US" dirty="0"/>
              <a:t>软件项目估算</a:t>
            </a:r>
            <a:endParaRPr lang="en-US" altLang="zh-CN"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textbox 178"/>
          <p:cNvSpPr/>
          <p:nvPr/>
        </p:nvSpPr>
        <p:spPr>
          <a:xfrm>
            <a:off x="782365" y="1191296"/>
            <a:ext cx="7730013" cy="542449"/>
          </a:xfrm>
          <a:prstGeom prst="rect">
            <a:avLst/>
          </a:prstGeom>
        </p:spPr>
        <p:txBody>
          <a:bodyPr vert="horz" wrap="square" lIns="0" tIns="0" rIns="0" bIns="0"/>
          <a:lstStyle/>
          <a:p>
            <a:pPr algn="l" rtl="0" eaLnBrk="0">
              <a:lnSpc>
                <a:spcPct val="80000"/>
              </a:lnSpc>
            </a:pPr>
            <a:endParaRPr lang="en-US" altLang="en-US" sz="100" dirty="0"/>
          </a:p>
          <a:p>
            <a:pPr algn="r" rtl="0" eaLnBrk="0">
              <a:lnSpc>
                <a:spcPct val="83000"/>
              </a:lnSpc>
            </a:pPr>
            <a:r>
              <a:rPr sz="1650" kern="0" spc="-6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功能点方法</a:t>
            </a:r>
            <a:r>
              <a:rPr sz="165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是依据软件信息域的基本特征和对软件复杂性的估计 ，估算出软件规模。</a:t>
            </a:r>
            <a:endParaRPr lang="en-US" altLang="en-US" sz="1650" dirty="0"/>
          </a:p>
          <a:p>
            <a:pPr marL="12700" algn="l" rtl="0" eaLnBrk="0">
              <a:lnSpc>
                <a:spcPts val="3305"/>
              </a:lnSpc>
            </a:pP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这种方法适合于在开发初期进行估算 ，并以功能点为单位度量软件</a:t>
            </a:r>
            <a:r>
              <a:rPr sz="16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规模。</a:t>
            </a:r>
            <a:endParaRPr lang="en-US" altLang="en-US" sz="1650" dirty="0"/>
          </a:p>
        </p:txBody>
      </p:sp>
      <p:sp>
        <p:nvSpPr>
          <p:cNvPr id="180" name="rect"/>
          <p:cNvSpPr/>
          <p:nvPr/>
        </p:nvSpPr>
        <p:spPr>
          <a:xfrm>
            <a:off x="0" y="4773201"/>
            <a:ext cx="9142961" cy="370298"/>
          </a:xfrm>
          <a:prstGeom prst="rect">
            <a:avLst/>
          </a:prstGeom>
          <a:solidFill>
            <a:srgbClr val="7A4779">
              <a:alpha val="100000"/>
            </a:srgbClr>
          </a:solidFill>
          <a:ln cap="flat">
            <a:noFill/>
            <a:prstDash val="solid"/>
            <a:miter lim="0"/>
          </a:ln>
        </p:spPr>
        <p:txBody>
          <a:bodyPr rtlCol="0"/>
          <a:lstStyle/>
          <a:p>
            <a:pPr algn="ctr"/>
            <a:endParaRPr lang="zh-CN" altLang="en-US" sz="1350"/>
          </a:p>
        </p:txBody>
      </p:sp>
      <p:pic>
        <p:nvPicPr>
          <p:cNvPr id="182" name="picture 182"/>
          <p:cNvPicPr>
            <a:picLocks noChangeAspect="1"/>
          </p:cNvPicPr>
          <p:nvPr/>
        </p:nvPicPr>
        <p:blipFill>
          <a:blip r:embed="rId1"/>
          <a:stretch>
            <a:fillRect/>
          </a:stretch>
        </p:blipFill>
        <p:spPr>
          <a:xfrm rot="21600000">
            <a:off x="3292160" y="3214682"/>
            <a:ext cx="174250" cy="175495"/>
          </a:xfrm>
          <a:prstGeom prst="rect">
            <a:avLst/>
          </a:prstGeom>
        </p:spPr>
      </p:pic>
      <p:grpSp>
        <p:nvGrpSpPr>
          <p:cNvPr id="20" name="group 20"/>
          <p:cNvGrpSpPr/>
          <p:nvPr/>
        </p:nvGrpSpPr>
        <p:grpSpPr>
          <a:xfrm rot="21600000">
            <a:off x="2834435" y="2882096"/>
            <a:ext cx="1364166" cy="1154827"/>
            <a:chOff x="0" y="0"/>
            <a:chExt cx="1818888" cy="1539769"/>
          </a:xfrm>
        </p:grpSpPr>
        <p:grpSp>
          <p:nvGrpSpPr>
            <p:cNvPr id="22" name="group 22"/>
            <p:cNvGrpSpPr/>
            <p:nvPr/>
          </p:nvGrpSpPr>
          <p:grpSpPr>
            <a:xfrm rot="21600000">
              <a:off x="0" y="0"/>
              <a:ext cx="1818888" cy="1539769"/>
              <a:chOff x="0" y="0"/>
              <a:chExt cx="1818888" cy="1539769"/>
            </a:xfrm>
          </p:grpSpPr>
          <p:sp>
            <p:nvSpPr>
              <p:cNvPr id="184" name="path"/>
              <p:cNvSpPr/>
              <p:nvPr/>
            </p:nvSpPr>
            <p:spPr>
              <a:xfrm>
                <a:off x="1104981" y="0"/>
                <a:ext cx="713907" cy="501266"/>
              </a:xfrm>
              <a:custGeom>
                <a:avLst/>
                <a:gdLst/>
                <a:ahLst/>
                <a:cxnLst/>
                <a:rect l="0" t="0" r="0" b="0"/>
                <a:pathLst>
                  <a:path w="1124" h="789">
                    <a:moveTo>
                      <a:pt x="1094" y="30"/>
                    </a:moveTo>
                    <a:lnTo>
                      <a:pt x="30" y="759"/>
                    </a:lnTo>
                  </a:path>
                </a:pathLst>
              </a:custGeom>
              <a:noFill/>
              <a:ln w="38099" cap="rnd">
                <a:solidFill>
                  <a:srgbClr val="919191">
                    <a:alpha val="100000"/>
                  </a:srgbClr>
                </a:solidFill>
                <a:prstDash val="dash"/>
                <a:round/>
              </a:ln>
            </p:spPr>
            <p:txBody>
              <a:bodyPr rtlCol="0"/>
              <a:lstStyle/>
              <a:p>
                <a:pPr algn="ctr"/>
                <a:endParaRPr lang="zh-CN" altLang="en-US" sz="1350"/>
              </a:p>
            </p:txBody>
          </p:sp>
          <p:sp>
            <p:nvSpPr>
              <p:cNvPr id="186" name="path"/>
              <p:cNvSpPr/>
              <p:nvPr/>
            </p:nvSpPr>
            <p:spPr>
              <a:xfrm>
                <a:off x="1088893" y="394540"/>
                <a:ext cx="126591" cy="111757"/>
              </a:xfrm>
              <a:custGeom>
                <a:avLst/>
                <a:gdLst/>
                <a:ahLst/>
                <a:cxnLst/>
                <a:rect l="0" t="0" r="0" b="0"/>
                <a:pathLst>
                  <a:path w="199" h="175">
                    <a:moveTo>
                      <a:pt x="97" y="0"/>
                    </a:moveTo>
                    <a:lnTo>
                      <a:pt x="0" y="175"/>
                    </a:lnTo>
                    <a:lnTo>
                      <a:pt x="199" y="148"/>
                    </a:lnTo>
                    <a:lnTo>
                      <a:pt x="97" y="0"/>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188" name="path"/>
              <p:cNvSpPr/>
              <p:nvPr/>
            </p:nvSpPr>
            <p:spPr>
              <a:xfrm>
                <a:off x="9525" y="304694"/>
                <a:ext cx="1225548" cy="1225550"/>
              </a:xfrm>
              <a:custGeom>
                <a:avLst/>
                <a:gdLst/>
                <a:ahLst/>
                <a:cxnLst/>
                <a:rect l="0" t="0" r="0" b="0"/>
                <a:pathLst>
                  <a:path w="1929" h="1930">
                    <a:moveTo>
                      <a:pt x="0" y="964"/>
                    </a:moveTo>
                    <a:cubicBezTo>
                      <a:pt x="0" y="432"/>
                      <a:pt x="432" y="0"/>
                      <a:pt x="965" y="0"/>
                    </a:cubicBezTo>
                    <a:cubicBezTo>
                      <a:pt x="1497" y="0"/>
                      <a:pt x="1929" y="432"/>
                      <a:pt x="1929" y="964"/>
                    </a:cubicBezTo>
                    <a:cubicBezTo>
                      <a:pt x="1929" y="1497"/>
                      <a:pt x="1497" y="1930"/>
                      <a:pt x="965" y="1930"/>
                    </a:cubicBezTo>
                    <a:cubicBezTo>
                      <a:pt x="432" y="1930"/>
                      <a:pt x="0" y="1497"/>
                      <a:pt x="0" y="964"/>
                    </a:cubicBezTo>
                  </a:path>
                </a:pathLst>
              </a:custGeom>
              <a:solidFill>
                <a:srgbClr val="919191">
                  <a:alpha val="25098"/>
                </a:srgbClr>
              </a:solidFill>
              <a:ln cap="flat">
                <a:noFill/>
                <a:prstDash val="solid"/>
                <a:miter lim="0"/>
              </a:ln>
            </p:spPr>
            <p:txBody>
              <a:bodyPr rtlCol="0"/>
              <a:lstStyle/>
              <a:p>
                <a:pPr algn="ctr"/>
                <a:endParaRPr lang="zh-CN" altLang="en-US" sz="1350"/>
              </a:p>
            </p:txBody>
          </p:sp>
          <p:sp>
            <p:nvSpPr>
              <p:cNvPr id="190" name="path"/>
              <p:cNvSpPr/>
              <p:nvPr/>
            </p:nvSpPr>
            <p:spPr>
              <a:xfrm>
                <a:off x="0" y="295169"/>
                <a:ext cx="1244599" cy="1244599"/>
              </a:xfrm>
              <a:custGeom>
                <a:avLst/>
                <a:gdLst/>
                <a:ahLst/>
                <a:cxnLst/>
                <a:rect l="0" t="0" r="0" b="0"/>
                <a:pathLst>
                  <a:path w="1959" h="1959">
                    <a:moveTo>
                      <a:pt x="15" y="979"/>
                    </a:moveTo>
                    <a:cubicBezTo>
                      <a:pt x="15" y="447"/>
                      <a:pt x="447" y="15"/>
                      <a:pt x="980" y="15"/>
                    </a:cubicBezTo>
                    <a:cubicBezTo>
                      <a:pt x="1512" y="15"/>
                      <a:pt x="1944" y="447"/>
                      <a:pt x="1944" y="979"/>
                    </a:cubicBezTo>
                    <a:cubicBezTo>
                      <a:pt x="1944" y="1512"/>
                      <a:pt x="1512" y="1944"/>
                      <a:pt x="980" y="1944"/>
                    </a:cubicBezTo>
                    <a:cubicBezTo>
                      <a:pt x="447" y="1944"/>
                      <a:pt x="15" y="1512"/>
                      <a:pt x="15" y="979"/>
                    </a:cubicBezTo>
                  </a:path>
                </a:pathLst>
              </a:custGeom>
              <a:noFill/>
              <a:ln w="19049" cap="rnd">
                <a:solidFill>
                  <a:srgbClr val="919191">
                    <a:alpha val="100000"/>
                  </a:srgbClr>
                </a:solidFill>
                <a:prstDash val="dash"/>
                <a:round/>
              </a:ln>
            </p:spPr>
            <p:txBody>
              <a:bodyPr rtlCol="0"/>
              <a:lstStyle/>
              <a:p>
                <a:pPr algn="ctr"/>
                <a:endParaRPr lang="zh-CN" altLang="en-US" sz="1350"/>
              </a:p>
            </p:txBody>
          </p:sp>
        </p:grpSp>
        <p:sp>
          <p:nvSpPr>
            <p:cNvPr id="192" name="textbox 192"/>
            <p:cNvSpPr/>
            <p:nvPr/>
          </p:nvSpPr>
          <p:spPr>
            <a:xfrm>
              <a:off x="-12700" y="-12700"/>
              <a:ext cx="1844675" cy="1589405"/>
            </a:xfrm>
            <a:prstGeom prst="rect">
              <a:avLst/>
            </a:prstGeom>
          </p:spPr>
          <p:txBody>
            <a:bodyPr vert="horz" wrap="square" lIns="0" tIns="0" rIns="0" bIns="0"/>
            <a:lstStyle/>
            <a:p>
              <a:pPr algn="l" rtl="0" eaLnBrk="0">
                <a:lnSpc>
                  <a:spcPct val="113000"/>
                </a:lnSpc>
              </a:pPr>
              <a:endParaRPr lang="en-US" altLang="en-US" sz="750" dirty="0"/>
            </a:p>
            <a:p>
              <a:pPr algn="l" rtl="0" eaLnBrk="0">
                <a:lnSpc>
                  <a:spcPct val="113000"/>
                </a:lnSpc>
              </a:pPr>
              <a:endParaRPr lang="en-US" altLang="en-US" sz="750" dirty="0"/>
            </a:p>
            <a:p>
              <a:pPr algn="l" rtl="0" eaLnBrk="0">
                <a:lnSpc>
                  <a:spcPct val="113000"/>
                </a:lnSpc>
              </a:pPr>
              <a:endParaRPr lang="en-US" altLang="en-US" sz="750" dirty="0"/>
            </a:p>
            <a:p>
              <a:pPr algn="l" rtl="0" eaLnBrk="0">
                <a:lnSpc>
                  <a:spcPct val="113000"/>
                </a:lnSpc>
              </a:pPr>
              <a:endParaRPr lang="en-US" altLang="en-US" sz="750" dirty="0"/>
            </a:p>
            <a:p>
              <a:pPr algn="l" rtl="0" eaLnBrk="0">
                <a:lnSpc>
                  <a:spcPct val="8000"/>
                </a:lnSpc>
              </a:pPr>
              <a:endParaRPr lang="en-US" altLang="en-US" sz="100" dirty="0"/>
            </a:p>
            <a:p>
              <a:pPr marL="408305" algn="l" rtl="0" eaLnBrk="0">
                <a:lnSpc>
                  <a:spcPct val="82000"/>
                </a:lnSpc>
              </a:pPr>
              <a:r>
                <a:rPr sz="135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外部</a:t>
              </a:r>
              <a:endParaRPr lang="en-US" altLang="en-US" sz="1350" dirty="0"/>
            </a:p>
            <a:p>
              <a:pPr marL="410845" algn="l" rtl="0" eaLnBrk="0">
                <a:lnSpc>
                  <a:spcPts val="2290"/>
                </a:lnSpc>
              </a:pPr>
              <a:r>
                <a:rPr sz="135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输出</a:t>
              </a:r>
              <a:endParaRPr lang="en-US" altLang="en-US" sz="1350" dirty="0"/>
            </a:p>
          </p:txBody>
        </p:sp>
      </p:grpSp>
      <p:grpSp>
        <p:nvGrpSpPr>
          <p:cNvPr id="24" name="group 24"/>
          <p:cNvGrpSpPr/>
          <p:nvPr/>
        </p:nvGrpSpPr>
        <p:grpSpPr>
          <a:xfrm rot="21600000">
            <a:off x="5436153" y="3094463"/>
            <a:ext cx="933450" cy="933449"/>
            <a:chOff x="0" y="0"/>
            <a:chExt cx="1244600" cy="1244599"/>
          </a:xfrm>
        </p:grpSpPr>
        <p:grpSp>
          <p:nvGrpSpPr>
            <p:cNvPr id="26" name="group 26"/>
            <p:cNvGrpSpPr/>
            <p:nvPr/>
          </p:nvGrpSpPr>
          <p:grpSpPr>
            <a:xfrm rot="21600000">
              <a:off x="0" y="0"/>
              <a:ext cx="1244600" cy="1244599"/>
              <a:chOff x="0" y="0"/>
              <a:chExt cx="1244600" cy="1244599"/>
            </a:xfrm>
          </p:grpSpPr>
          <p:sp>
            <p:nvSpPr>
              <p:cNvPr id="194" name="path"/>
              <p:cNvSpPr/>
              <p:nvPr/>
            </p:nvSpPr>
            <p:spPr>
              <a:xfrm>
                <a:off x="9525" y="9525"/>
                <a:ext cx="1225550" cy="1225548"/>
              </a:xfrm>
              <a:custGeom>
                <a:avLst/>
                <a:gdLst/>
                <a:ahLst/>
                <a:cxnLst/>
                <a:rect l="0" t="0" r="0" b="0"/>
                <a:pathLst>
                  <a:path w="1930" h="1929">
                    <a:moveTo>
                      <a:pt x="0" y="964"/>
                    </a:moveTo>
                    <a:cubicBezTo>
                      <a:pt x="0" y="432"/>
                      <a:pt x="432" y="0"/>
                      <a:pt x="965" y="0"/>
                    </a:cubicBezTo>
                    <a:cubicBezTo>
                      <a:pt x="1497" y="0"/>
                      <a:pt x="1930" y="432"/>
                      <a:pt x="1930" y="964"/>
                    </a:cubicBezTo>
                    <a:cubicBezTo>
                      <a:pt x="1930" y="1497"/>
                      <a:pt x="1497" y="1929"/>
                      <a:pt x="965" y="1929"/>
                    </a:cubicBezTo>
                    <a:cubicBezTo>
                      <a:pt x="432" y="1929"/>
                      <a:pt x="0" y="1497"/>
                      <a:pt x="0" y="964"/>
                    </a:cubicBezTo>
                  </a:path>
                </a:pathLst>
              </a:custGeom>
              <a:solidFill>
                <a:srgbClr val="919191">
                  <a:alpha val="25098"/>
                </a:srgbClr>
              </a:solidFill>
              <a:ln cap="flat">
                <a:noFill/>
                <a:prstDash val="solid"/>
                <a:miter lim="0"/>
              </a:ln>
            </p:spPr>
            <p:txBody>
              <a:bodyPr rtlCol="0"/>
              <a:lstStyle/>
              <a:p>
                <a:pPr algn="ctr"/>
                <a:endParaRPr lang="zh-CN" altLang="en-US" sz="1350"/>
              </a:p>
            </p:txBody>
          </p:sp>
          <p:sp>
            <p:nvSpPr>
              <p:cNvPr id="196" name="path"/>
              <p:cNvSpPr/>
              <p:nvPr/>
            </p:nvSpPr>
            <p:spPr>
              <a:xfrm>
                <a:off x="0" y="0"/>
                <a:ext cx="1244600" cy="1244599"/>
              </a:xfrm>
              <a:custGeom>
                <a:avLst/>
                <a:gdLst/>
                <a:ahLst/>
                <a:cxnLst/>
                <a:rect l="0" t="0" r="0" b="0"/>
                <a:pathLst>
                  <a:path w="1960" h="1959">
                    <a:moveTo>
                      <a:pt x="15" y="979"/>
                    </a:moveTo>
                    <a:cubicBezTo>
                      <a:pt x="15" y="447"/>
                      <a:pt x="447" y="15"/>
                      <a:pt x="980" y="15"/>
                    </a:cubicBezTo>
                    <a:cubicBezTo>
                      <a:pt x="1512" y="15"/>
                      <a:pt x="1945" y="447"/>
                      <a:pt x="1945" y="979"/>
                    </a:cubicBezTo>
                    <a:cubicBezTo>
                      <a:pt x="1945" y="1512"/>
                      <a:pt x="1512" y="1944"/>
                      <a:pt x="980" y="1944"/>
                    </a:cubicBezTo>
                    <a:cubicBezTo>
                      <a:pt x="447" y="1944"/>
                      <a:pt x="15" y="1512"/>
                      <a:pt x="15" y="979"/>
                    </a:cubicBezTo>
                  </a:path>
                </a:pathLst>
              </a:custGeom>
              <a:noFill/>
              <a:ln w="19049" cap="rnd">
                <a:solidFill>
                  <a:srgbClr val="919191">
                    <a:alpha val="100000"/>
                  </a:srgbClr>
                </a:solidFill>
                <a:prstDash val="dash"/>
                <a:round/>
              </a:ln>
            </p:spPr>
            <p:txBody>
              <a:bodyPr rtlCol="0"/>
              <a:lstStyle/>
              <a:p>
                <a:pPr algn="ctr"/>
                <a:endParaRPr lang="zh-CN" altLang="en-US" sz="1350"/>
              </a:p>
            </p:txBody>
          </p:sp>
        </p:grpSp>
        <p:sp>
          <p:nvSpPr>
            <p:cNvPr id="198" name="textbox 198"/>
            <p:cNvSpPr/>
            <p:nvPr/>
          </p:nvSpPr>
          <p:spPr>
            <a:xfrm>
              <a:off x="-12700" y="-12700"/>
              <a:ext cx="1270000" cy="1295400"/>
            </a:xfrm>
            <a:prstGeom prst="rect">
              <a:avLst/>
            </a:prstGeom>
          </p:spPr>
          <p:txBody>
            <a:bodyPr vert="horz" wrap="square" lIns="0" tIns="0" rIns="0" bIns="0"/>
            <a:lstStyle/>
            <a:p>
              <a:pPr algn="l" rtl="0" eaLnBrk="0">
                <a:lnSpc>
                  <a:spcPct val="129000"/>
                </a:lnSpc>
              </a:pPr>
              <a:endParaRPr lang="en-US" altLang="en-US" sz="750" dirty="0"/>
            </a:p>
            <a:p>
              <a:pPr algn="l" rtl="0" eaLnBrk="0">
                <a:lnSpc>
                  <a:spcPct val="129000"/>
                </a:lnSpc>
              </a:pPr>
              <a:endParaRPr lang="en-US" altLang="en-US" sz="750" dirty="0"/>
            </a:p>
            <a:p>
              <a:pPr marL="314325" algn="l" rtl="0" eaLnBrk="0">
                <a:lnSpc>
                  <a:spcPct val="82000"/>
                </a:lnSpc>
                <a:spcBef>
                  <a:spcPts val="5"/>
                </a:spcBef>
              </a:pPr>
              <a:r>
                <a:rPr sz="1350" kern="0" spc="-5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内部逻</a:t>
              </a:r>
              <a:endParaRPr lang="en-US" altLang="en-US" sz="1350" dirty="0"/>
            </a:p>
            <a:p>
              <a:pPr marL="294640" algn="l" rtl="0" eaLnBrk="0">
                <a:lnSpc>
                  <a:spcPts val="2300"/>
                </a:lnSpc>
              </a:pPr>
              <a:r>
                <a:rPr sz="135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辑文件</a:t>
              </a:r>
              <a:endParaRPr lang="en-US" altLang="en-US" sz="1350" dirty="0"/>
            </a:p>
          </p:txBody>
        </p:sp>
      </p:grpSp>
      <p:grpSp>
        <p:nvGrpSpPr>
          <p:cNvPr id="28" name="group 28"/>
          <p:cNvGrpSpPr/>
          <p:nvPr/>
        </p:nvGrpSpPr>
        <p:grpSpPr>
          <a:xfrm rot="21600000">
            <a:off x="4979653" y="2882096"/>
            <a:ext cx="605432" cy="350639"/>
            <a:chOff x="0" y="0"/>
            <a:chExt cx="807242" cy="467518"/>
          </a:xfrm>
        </p:grpSpPr>
        <p:sp>
          <p:nvSpPr>
            <p:cNvPr id="200" name="path"/>
            <p:cNvSpPr/>
            <p:nvPr/>
          </p:nvSpPr>
          <p:spPr>
            <a:xfrm>
              <a:off x="0" y="0"/>
              <a:ext cx="789270" cy="465502"/>
            </a:xfrm>
            <a:custGeom>
              <a:avLst/>
              <a:gdLst/>
              <a:ahLst/>
              <a:cxnLst/>
              <a:rect l="0" t="0" r="0" b="0"/>
              <a:pathLst>
                <a:path w="1242" h="733">
                  <a:moveTo>
                    <a:pt x="30" y="30"/>
                  </a:moveTo>
                  <a:lnTo>
                    <a:pt x="1212" y="703"/>
                  </a:lnTo>
                </a:path>
              </a:pathLst>
            </a:custGeom>
            <a:noFill/>
            <a:ln w="38099" cap="rnd">
              <a:solidFill>
                <a:srgbClr val="919191">
                  <a:alpha val="100000"/>
                </a:srgbClr>
              </a:solidFill>
              <a:prstDash val="dash"/>
              <a:round/>
            </a:ln>
          </p:spPr>
          <p:txBody>
            <a:bodyPr rtlCol="0"/>
            <a:lstStyle/>
            <a:p>
              <a:pPr algn="ctr"/>
              <a:endParaRPr lang="zh-CN" altLang="en-US" sz="1350"/>
            </a:p>
          </p:txBody>
        </p:sp>
        <p:sp>
          <p:nvSpPr>
            <p:cNvPr id="202" name="path"/>
            <p:cNvSpPr/>
            <p:nvPr/>
          </p:nvSpPr>
          <p:spPr>
            <a:xfrm>
              <a:off x="679636" y="361321"/>
              <a:ext cx="127606" cy="106197"/>
            </a:xfrm>
            <a:custGeom>
              <a:avLst/>
              <a:gdLst/>
              <a:ahLst/>
              <a:cxnLst/>
              <a:rect l="0" t="0" r="0" b="0"/>
              <a:pathLst>
                <a:path w="200" h="167">
                  <a:moveTo>
                    <a:pt x="89" y="0"/>
                  </a:moveTo>
                  <a:lnTo>
                    <a:pt x="200" y="167"/>
                  </a:lnTo>
                  <a:lnTo>
                    <a:pt x="0" y="156"/>
                  </a:lnTo>
                  <a:lnTo>
                    <a:pt x="89" y="0"/>
                  </a:lnTo>
                  <a:close/>
                </a:path>
              </a:pathLst>
            </a:custGeom>
            <a:solidFill>
              <a:srgbClr val="919191">
                <a:alpha val="100000"/>
              </a:srgbClr>
            </a:solidFill>
            <a:ln cap="flat">
              <a:noFill/>
              <a:prstDash val="solid"/>
              <a:miter lim="0"/>
            </a:ln>
          </p:spPr>
          <p:txBody>
            <a:bodyPr rtlCol="0"/>
            <a:lstStyle/>
            <a:p>
              <a:pPr algn="ctr"/>
              <a:endParaRPr lang="zh-CN" altLang="en-US" sz="1350"/>
            </a:p>
          </p:txBody>
        </p:sp>
      </p:grpSp>
      <p:sp>
        <p:nvSpPr>
          <p:cNvPr id="204" name="rect"/>
          <p:cNvSpPr/>
          <p:nvPr/>
        </p:nvSpPr>
        <p:spPr>
          <a:xfrm>
            <a:off x="4574840" y="3070215"/>
            <a:ext cx="28575" cy="402629"/>
          </a:xfrm>
          <a:prstGeom prst="rect">
            <a:avLst/>
          </a:prstGeom>
          <a:solidFill>
            <a:srgbClr val="919191">
              <a:alpha val="100000"/>
            </a:srgbClr>
          </a:solidFill>
          <a:ln cap="flat">
            <a:noFill/>
            <a:prstDash val="solid"/>
            <a:miter lim="0"/>
          </a:ln>
        </p:spPr>
        <p:txBody>
          <a:bodyPr rtlCol="0"/>
          <a:lstStyle/>
          <a:p>
            <a:pPr algn="ctr"/>
            <a:endParaRPr lang="zh-CN" altLang="en-US" sz="1350"/>
          </a:p>
        </p:txBody>
      </p:sp>
      <p:sp>
        <p:nvSpPr>
          <p:cNvPr id="206" name="rect"/>
          <p:cNvSpPr/>
          <p:nvPr/>
        </p:nvSpPr>
        <p:spPr>
          <a:xfrm>
            <a:off x="5141578" y="2503478"/>
            <a:ext cx="1022627" cy="28576"/>
          </a:xfrm>
          <a:prstGeom prst="rect">
            <a:avLst/>
          </a:prstGeom>
          <a:solidFill>
            <a:srgbClr val="919191">
              <a:alpha val="100000"/>
            </a:srgbClr>
          </a:solidFill>
          <a:ln cap="flat">
            <a:noFill/>
            <a:prstDash val="solid"/>
            <a:miter lim="0"/>
          </a:ln>
        </p:spPr>
        <p:txBody>
          <a:bodyPr rtlCol="0"/>
          <a:lstStyle/>
          <a:p>
            <a:pPr algn="ctr"/>
            <a:endParaRPr lang="zh-CN" altLang="en-US" sz="1350"/>
          </a:p>
        </p:txBody>
      </p:sp>
      <p:grpSp>
        <p:nvGrpSpPr>
          <p:cNvPr id="30" name="group 30"/>
          <p:cNvGrpSpPr/>
          <p:nvPr/>
        </p:nvGrpSpPr>
        <p:grpSpPr>
          <a:xfrm rot="21600000">
            <a:off x="4022390" y="1951028"/>
            <a:ext cx="1133475" cy="1134665"/>
            <a:chOff x="0" y="0"/>
            <a:chExt cx="1511300" cy="1512887"/>
          </a:xfrm>
        </p:grpSpPr>
        <p:pic>
          <p:nvPicPr>
            <p:cNvPr id="208" name="picture 208"/>
            <p:cNvPicPr>
              <a:picLocks noChangeAspect="1"/>
            </p:cNvPicPr>
            <p:nvPr/>
          </p:nvPicPr>
          <p:blipFill>
            <a:blip r:embed="rId2"/>
            <a:stretch>
              <a:fillRect/>
            </a:stretch>
          </p:blipFill>
          <p:spPr>
            <a:xfrm rot="21600000">
              <a:off x="0" y="0"/>
              <a:ext cx="1511300" cy="1512887"/>
            </a:xfrm>
            <a:prstGeom prst="rect">
              <a:avLst/>
            </a:prstGeom>
          </p:spPr>
        </p:pic>
        <p:sp>
          <p:nvSpPr>
            <p:cNvPr id="210" name="textbox 210"/>
            <p:cNvSpPr/>
            <p:nvPr/>
          </p:nvSpPr>
          <p:spPr>
            <a:xfrm>
              <a:off x="-12700" y="-12700"/>
              <a:ext cx="1536700" cy="1565910"/>
            </a:xfrm>
            <a:prstGeom prst="rect">
              <a:avLst/>
            </a:prstGeom>
          </p:spPr>
          <p:txBody>
            <a:bodyPr vert="horz" wrap="square" lIns="0" tIns="0" rIns="0" bIns="0"/>
            <a:lstStyle/>
            <a:p>
              <a:pPr algn="l" rtl="0" eaLnBrk="0">
                <a:lnSpc>
                  <a:spcPct val="147000"/>
                </a:lnSpc>
              </a:pPr>
              <a:endParaRPr lang="en-US" altLang="en-US" sz="750" dirty="0"/>
            </a:p>
            <a:p>
              <a:pPr algn="l" rtl="0" eaLnBrk="0">
                <a:lnSpc>
                  <a:spcPct val="148000"/>
                </a:lnSpc>
              </a:pPr>
              <a:endParaRPr lang="en-US" altLang="en-US" sz="750" dirty="0"/>
            </a:p>
            <a:p>
              <a:pPr algn="l" rtl="0" eaLnBrk="0">
                <a:lnSpc>
                  <a:spcPct val="9000"/>
                </a:lnSpc>
              </a:pPr>
              <a:endParaRPr lang="en-US" altLang="en-US" sz="100" dirty="0"/>
            </a:p>
            <a:p>
              <a:pPr marL="529590" algn="l" rtl="0" eaLnBrk="0">
                <a:lnSpc>
                  <a:spcPct val="82000"/>
                </a:lnSpc>
              </a:pPr>
              <a:r>
                <a:rPr sz="1500" kern="0" spc="-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a:t>
              </a:r>
              <a:endParaRPr lang="en-US" altLang="en-US" sz="1500" dirty="0"/>
            </a:p>
            <a:p>
              <a:pPr marL="401320" algn="l" rtl="0" eaLnBrk="0">
                <a:lnSpc>
                  <a:spcPts val="2610"/>
                </a:lnSpc>
              </a:pPr>
              <a:r>
                <a:rPr sz="1500"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信息域</a:t>
              </a:r>
              <a:endParaRPr lang="en-US" altLang="en-US" sz="1500" dirty="0"/>
            </a:p>
          </p:txBody>
        </p:sp>
      </p:grpSp>
      <p:grpSp>
        <p:nvGrpSpPr>
          <p:cNvPr id="34" name="group 34"/>
          <p:cNvGrpSpPr/>
          <p:nvPr/>
        </p:nvGrpSpPr>
        <p:grpSpPr>
          <a:xfrm rot="21600000">
            <a:off x="4122402" y="3483362"/>
            <a:ext cx="933450" cy="933449"/>
            <a:chOff x="0" y="0"/>
            <a:chExt cx="1244600" cy="1244599"/>
          </a:xfrm>
        </p:grpSpPr>
        <p:grpSp>
          <p:nvGrpSpPr>
            <p:cNvPr id="36" name="group 36"/>
            <p:cNvGrpSpPr/>
            <p:nvPr/>
          </p:nvGrpSpPr>
          <p:grpSpPr>
            <a:xfrm rot="21600000">
              <a:off x="0" y="0"/>
              <a:ext cx="1244600" cy="1244599"/>
              <a:chOff x="0" y="0"/>
              <a:chExt cx="1244600" cy="1244599"/>
            </a:xfrm>
          </p:grpSpPr>
          <p:sp>
            <p:nvSpPr>
              <p:cNvPr id="226" name="path"/>
              <p:cNvSpPr/>
              <p:nvPr/>
            </p:nvSpPr>
            <p:spPr>
              <a:xfrm>
                <a:off x="9525" y="9524"/>
                <a:ext cx="1225549" cy="1225549"/>
              </a:xfrm>
              <a:custGeom>
                <a:avLst/>
                <a:gdLst/>
                <a:ahLst/>
                <a:cxnLst/>
                <a:rect l="0" t="0" r="0" b="0"/>
                <a:pathLst>
                  <a:path w="1929" h="1929">
                    <a:moveTo>
                      <a:pt x="0" y="965"/>
                    </a:moveTo>
                    <a:cubicBezTo>
                      <a:pt x="0" y="432"/>
                      <a:pt x="432" y="0"/>
                      <a:pt x="965" y="0"/>
                    </a:cubicBezTo>
                    <a:cubicBezTo>
                      <a:pt x="1497" y="0"/>
                      <a:pt x="1929" y="432"/>
                      <a:pt x="1929" y="965"/>
                    </a:cubicBezTo>
                    <a:cubicBezTo>
                      <a:pt x="1929" y="1497"/>
                      <a:pt x="1497" y="1929"/>
                      <a:pt x="965" y="1929"/>
                    </a:cubicBezTo>
                    <a:cubicBezTo>
                      <a:pt x="432" y="1929"/>
                      <a:pt x="0" y="1497"/>
                      <a:pt x="0" y="965"/>
                    </a:cubicBezTo>
                  </a:path>
                </a:pathLst>
              </a:custGeom>
              <a:solidFill>
                <a:srgbClr val="919191">
                  <a:alpha val="25098"/>
                </a:srgbClr>
              </a:solidFill>
              <a:ln cap="flat">
                <a:noFill/>
                <a:prstDash val="solid"/>
                <a:miter lim="0"/>
              </a:ln>
            </p:spPr>
            <p:txBody>
              <a:bodyPr rtlCol="0"/>
              <a:lstStyle/>
              <a:p>
                <a:pPr algn="ctr"/>
                <a:endParaRPr lang="zh-CN" altLang="en-US" sz="1350"/>
              </a:p>
            </p:txBody>
          </p:sp>
          <p:sp>
            <p:nvSpPr>
              <p:cNvPr id="228" name="path"/>
              <p:cNvSpPr/>
              <p:nvPr/>
            </p:nvSpPr>
            <p:spPr>
              <a:xfrm>
                <a:off x="0" y="0"/>
                <a:ext cx="1244600" cy="1244599"/>
              </a:xfrm>
              <a:custGeom>
                <a:avLst/>
                <a:gdLst/>
                <a:ahLst/>
                <a:cxnLst/>
                <a:rect l="0" t="0" r="0" b="0"/>
                <a:pathLst>
                  <a:path w="1960" h="1959">
                    <a:moveTo>
                      <a:pt x="15" y="979"/>
                    </a:moveTo>
                    <a:cubicBezTo>
                      <a:pt x="15" y="447"/>
                      <a:pt x="447" y="15"/>
                      <a:pt x="980" y="15"/>
                    </a:cubicBezTo>
                    <a:cubicBezTo>
                      <a:pt x="1512" y="15"/>
                      <a:pt x="1945" y="447"/>
                      <a:pt x="1945" y="979"/>
                    </a:cubicBezTo>
                    <a:cubicBezTo>
                      <a:pt x="1945" y="1512"/>
                      <a:pt x="1512" y="1944"/>
                      <a:pt x="980" y="1944"/>
                    </a:cubicBezTo>
                    <a:cubicBezTo>
                      <a:pt x="447" y="1944"/>
                      <a:pt x="15" y="1512"/>
                      <a:pt x="15" y="979"/>
                    </a:cubicBezTo>
                  </a:path>
                </a:pathLst>
              </a:custGeom>
              <a:noFill/>
              <a:ln w="19049" cap="rnd">
                <a:solidFill>
                  <a:srgbClr val="919191">
                    <a:alpha val="100000"/>
                  </a:srgbClr>
                </a:solidFill>
                <a:prstDash val="dash"/>
                <a:round/>
              </a:ln>
            </p:spPr>
            <p:txBody>
              <a:bodyPr rtlCol="0"/>
              <a:lstStyle/>
              <a:p>
                <a:pPr algn="ctr"/>
                <a:endParaRPr lang="zh-CN" altLang="en-US" sz="1350"/>
              </a:p>
            </p:txBody>
          </p:sp>
        </p:grpSp>
        <p:sp>
          <p:nvSpPr>
            <p:cNvPr id="230" name="textbox 230"/>
            <p:cNvSpPr/>
            <p:nvPr/>
          </p:nvSpPr>
          <p:spPr>
            <a:xfrm>
              <a:off x="-12700" y="-12700"/>
              <a:ext cx="1270635" cy="1299210"/>
            </a:xfrm>
            <a:prstGeom prst="rect">
              <a:avLst/>
            </a:prstGeom>
          </p:spPr>
          <p:txBody>
            <a:bodyPr vert="horz" wrap="square" lIns="0" tIns="0" rIns="0" bIns="0"/>
            <a:lstStyle/>
            <a:p>
              <a:pPr algn="l" rtl="0" eaLnBrk="0">
                <a:lnSpc>
                  <a:spcPct val="129000"/>
                </a:lnSpc>
              </a:pPr>
              <a:endParaRPr lang="en-US" altLang="en-US" sz="750" dirty="0"/>
            </a:p>
            <a:p>
              <a:pPr algn="l" rtl="0" eaLnBrk="0">
                <a:lnSpc>
                  <a:spcPct val="130000"/>
                </a:lnSpc>
              </a:pPr>
              <a:endParaRPr lang="en-US" altLang="en-US" sz="750" dirty="0"/>
            </a:p>
            <a:p>
              <a:pPr marL="408305" algn="l" rtl="0" eaLnBrk="0">
                <a:lnSpc>
                  <a:spcPct val="82000"/>
                </a:lnSpc>
                <a:spcBef>
                  <a:spcPts val="0"/>
                </a:spcBef>
              </a:pPr>
              <a:r>
                <a:rPr sz="135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外部</a:t>
              </a:r>
              <a:endParaRPr lang="en-US" altLang="en-US" sz="1350" dirty="0"/>
            </a:p>
            <a:p>
              <a:pPr marL="410210" algn="l" rtl="0" eaLnBrk="0">
                <a:lnSpc>
                  <a:spcPts val="2290"/>
                </a:lnSpc>
              </a:pPr>
              <a:r>
                <a:rPr sz="135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查询</a:t>
              </a:r>
              <a:endParaRPr lang="en-US" altLang="en-US" sz="1350" dirty="0"/>
            </a:p>
          </p:txBody>
        </p:sp>
      </p:grpSp>
      <p:grpSp>
        <p:nvGrpSpPr>
          <p:cNvPr id="38" name="group 38"/>
          <p:cNvGrpSpPr/>
          <p:nvPr/>
        </p:nvGrpSpPr>
        <p:grpSpPr>
          <a:xfrm rot="21600000">
            <a:off x="6174077" y="2052230"/>
            <a:ext cx="933450" cy="933449"/>
            <a:chOff x="0" y="0"/>
            <a:chExt cx="1244600" cy="1244599"/>
          </a:xfrm>
        </p:grpSpPr>
        <p:grpSp>
          <p:nvGrpSpPr>
            <p:cNvPr id="40" name="group 40"/>
            <p:cNvGrpSpPr/>
            <p:nvPr/>
          </p:nvGrpSpPr>
          <p:grpSpPr>
            <a:xfrm rot="21600000">
              <a:off x="0" y="0"/>
              <a:ext cx="1244600" cy="1244599"/>
              <a:chOff x="0" y="0"/>
              <a:chExt cx="1244600" cy="1244599"/>
            </a:xfrm>
          </p:grpSpPr>
          <p:sp>
            <p:nvSpPr>
              <p:cNvPr id="232" name="path"/>
              <p:cNvSpPr/>
              <p:nvPr/>
            </p:nvSpPr>
            <p:spPr>
              <a:xfrm>
                <a:off x="9525" y="9525"/>
                <a:ext cx="1225550" cy="1225550"/>
              </a:xfrm>
              <a:custGeom>
                <a:avLst/>
                <a:gdLst/>
                <a:ahLst/>
                <a:cxnLst/>
                <a:rect l="0" t="0" r="0" b="0"/>
                <a:pathLst>
                  <a:path w="1930" h="1930">
                    <a:moveTo>
                      <a:pt x="0" y="965"/>
                    </a:moveTo>
                    <a:cubicBezTo>
                      <a:pt x="0" y="432"/>
                      <a:pt x="432" y="0"/>
                      <a:pt x="965" y="0"/>
                    </a:cubicBezTo>
                    <a:cubicBezTo>
                      <a:pt x="1497" y="0"/>
                      <a:pt x="1930" y="432"/>
                      <a:pt x="1930" y="965"/>
                    </a:cubicBezTo>
                    <a:cubicBezTo>
                      <a:pt x="1930" y="1497"/>
                      <a:pt x="1497" y="1930"/>
                      <a:pt x="965" y="1930"/>
                    </a:cubicBezTo>
                    <a:cubicBezTo>
                      <a:pt x="432" y="1930"/>
                      <a:pt x="0" y="1497"/>
                      <a:pt x="0" y="965"/>
                    </a:cubicBezTo>
                  </a:path>
                </a:pathLst>
              </a:custGeom>
              <a:solidFill>
                <a:srgbClr val="919191">
                  <a:alpha val="25098"/>
                </a:srgbClr>
              </a:solidFill>
              <a:ln cap="flat">
                <a:noFill/>
                <a:prstDash val="solid"/>
                <a:miter lim="0"/>
              </a:ln>
            </p:spPr>
            <p:txBody>
              <a:bodyPr rtlCol="0"/>
              <a:lstStyle/>
              <a:p>
                <a:pPr algn="ctr"/>
                <a:endParaRPr lang="zh-CN" altLang="en-US" sz="1350"/>
              </a:p>
            </p:txBody>
          </p:sp>
          <p:sp>
            <p:nvSpPr>
              <p:cNvPr id="234" name="path"/>
              <p:cNvSpPr/>
              <p:nvPr/>
            </p:nvSpPr>
            <p:spPr>
              <a:xfrm>
                <a:off x="0" y="0"/>
                <a:ext cx="1244600" cy="1244599"/>
              </a:xfrm>
              <a:custGeom>
                <a:avLst/>
                <a:gdLst/>
                <a:ahLst/>
                <a:cxnLst/>
                <a:rect l="0" t="0" r="0" b="0"/>
                <a:pathLst>
                  <a:path w="1960" h="1959">
                    <a:moveTo>
                      <a:pt x="15" y="980"/>
                    </a:moveTo>
                    <a:cubicBezTo>
                      <a:pt x="15" y="447"/>
                      <a:pt x="447" y="15"/>
                      <a:pt x="980" y="15"/>
                    </a:cubicBezTo>
                    <a:cubicBezTo>
                      <a:pt x="1512" y="15"/>
                      <a:pt x="1945" y="447"/>
                      <a:pt x="1945" y="980"/>
                    </a:cubicBezTo>
                    <a:cubicBezTo>
                      <a:pt x="1945" y="1512"/>
                      <a:pt x="1512" y="1944"/>
                      <a:pt x="980" y="1944"/>
                    </a:cubicBezTo>
                    <a:cubicBezTo>
                      <a:pt x="447" y="1944"/>
                      <a:pt x="15" y="1512"/>
                      <a:pt x="15" y="980"/>
                    </a:cubicBezTo>
                  </a:path>
                </a:pathLst>
              </a:custGeom>
              <a:noFill/>
              <a:ln w="19049" cap="rnd">
                <a:solidFill>
                  <a:srgbClr val="919191">
                    <a:alpha val="100000"/>
                  </a:srgbClr>
                </a:solidFill>
                <a:prstDash val="dash"/>
                <a:round/>
              </a:ln>
            </p:spPr>
            <p:txBody>
              <a:bodyPr rtlCol="0"/>
              <a:lstStyle/>
              <a:p>
                <a:pPr algn="ctr"/>
                <a:endParaRPr lang="zh-CN" altLang="en-US" sz="1350"/>
              </a:p>
            </p:txBody>
          </p:sp>
        </p:grpSp>
        <p:sp>
          <p:nvSpPr>
            <p:cNvPr id="236" name="textbox 236"/>
            <p:cNvSpPr/>
            <p:nvPr/>
          </p:nvSpPr>
          <p:spPr>
            <a:xfrm>
              <a:off x="-12700" y="-12700"/>
              <a:ext cx="1270000" cy="1296035"/>
            </a:xfrm>
            <a:prstGeom prst="rect">
              <a:avLst/>
            </a:prstGeom>
          </p:spPr>
          <p:txBody>
            <a:bodyPr vert="horz" wrap="square" lIns="0" tIns="0" rIns="0" bIns="0"/>
            <a:lstStyle/>
            <a:p>
              <a:pPr algn="l" rtl="0" eaLnBrk="0">
                <a:lnSpc>
                  <a:spcPct val="129000"/>
                </a:lnSpc>
              </a:pPr>
              <a:endParaRPr lang="en-US" altLang="en-US" sz="750" dirty="0"/>
            </a:p>
            <a:p>
              <a:pPr algn="l" rtl="0" eaLnBrk="0">
                <a:lnSpc>
                  <a:spcPct val="130000"/>
                </a:lnSpc>
              </a:pPr>
              <a:endParaRPr lang="en-US" altLang="en-US" sz="750" dirty="0"/>
            </a:p>
            <a:p>
              <a:pPr marL="294005" algn="l" rtl="0" eaLnBrk="0">
                <a:lnSpc>
                  <a:spcPct val="82000"/>
                </a:lnSpc>
                <a:spcBef>
                  <a:spcPts val="0"/>
                </a:spcBef>
              </a:pPr>
              <a:r>
                <a:rPr sz="135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外部接</a:t>
              </a:r>
              <a:endParaRPr lang="en-US" altLang="en-US" sz="1350" dirty="0"/>
            </a:p>
            <a:p>
              <a:pPr marL="318135" algn="l" rtl="0" eaLnBrk="0">
                <a:lnSpc>
                  <a:spcPts val="2290"/>
                </a:lnSpc>
              </a:pPr>
              <a:r>
                <a:rPr sz="1350" kern="0" spc="-5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口文件</a:t>
              </a:r>
              <a:endParaRPr lang="en-US" altLang="en-US" sz="1350" dirty="0"/>
            </a:p>
          </p:txBody>
        </p:sp>
      </p:grpSp>
      <p:grpSp>
        <p:nvGrpSpPr>
          <p:cNvPr id="42" name="group 42"/>
          <p:cNvGrpSpPr/>
          <p:nvPr/>
        </p:nvGrpSpPr>
        <p:grpSpPr>
          <a:xfrm rot="21600000">
            <a:off x="2070727" y="2051040"/>
            <a:ext cx="933449" cy="933449"/>
            <a:chOff x="0" y="0"/>
            <a:chExt cx="1244599" cy="1244599"/>
          </a:xfrm>
        </p:grpSpPr>
        <p:grpSp>
          <p:nvGrpSpPr>
            <p:cNvPr id="44" name="group 44"/>
            <p:cNvGrpSpPr/>
            <p:nvPr/>
          </p:nvGrpSpPr>
          <p:grpSpPr>
            <a:xfrm rot="21600000">
              <a:off x="0" y="0"/>
              <a:ext cx="1244599" cy="1244599"/>
              <a:chOff x="0" y="0"/>
              <a:chExt cx="1244599" cy="1244599"/>
            </a:xfrm>
          </p:grpSpPr>
          <p:sp>
            <p:nvSpPr>
              <p:cNvPr id="238" name="path"/>
              <p:cNvSpPr/>
              <p:nvPr/>
            </p:nvSpPr>
            <p:spPr>
              <a:xfrm>
                <a:off x="9525" y="9525"/>
                <a:ext cx="1225548" cy="1225550"/>
              </a:xfrm>
              <a:custGeom>
                <a:avLst/>
                <a:gdLst/>
                <a:ahLst/>
                <a:cxnLst/>
                <a:rect l="0" t="0" r="0" b="0"/>
                <a:pathLst>
                  <a:path w="1929" h="1930">
                    <a:moveTo>
                      <a:pt x="0" y="965"/>
                    </a:moveTo>
                    <a:cubicBezTo>
                      <a:pt x="0" y="432"/>
                      <a:pt x="432" y="0"/>
                      <a:pt x="965" y="0"/>
                    </a:cubicBezTo>
                    <a:cubicBezTo>
                      <a:pt x="1497" y="0"/>
                      <a:pt x="1929" y="432"/>
                      <a:pt x="1929" y="965"/>
                    </a:cubicBezTo>
                    <a:cubicBezTo>
                      <a:pt x="1929" y="1497"/>
                      <a:pt x="1497" y="1930"/>
                      <a:pt x="965" y="1930"/>
                    </a:cubicBezTo>
                    <a:cubicBezTo>
                      <a:pt x="432" y="1930"/>
                      <a:pt x="0" y="1497"/>
                      <a:pt x="0" y="965"/>
                    </a:cubicBezTo>
                  </a:path>
                </a:pathLst>
              </a:custGeom>
              <a:solidFill>
                <a:srgbClr val="919191">
                  <a:alpha val="25098"/>
                </a:srgbClr>
              </a:solidFill>
              <a:ln cap="flat">
                <a:noFill/>
                <a:prstDash val="solid"/>
                <a:miter lim="0"/>
              </a:ln>
            </p:spPr>
            <p:txBody>
              <a:bodyPr rtlCol="0"/>
              <a:lstStyle/>
              <a:p>
                <a:pPr algn="ctr"/>
                <a:endParaRPr lang="zh-CN" altLang="en-US" sz="1350"/>
              </a:p>
            </p:txBody>
          </p:sp>
          <p:sp>
            <p:nvSpPr>
              <p:cNvPr id="240" name="path"/>
              <p:cNvSpPr/>
              <p:nvPr/>
            </p:nvSpPr>
            <p:spPr>
              <a:xfrm>
                <a:off x="0" y="0"/>
                <a:ext cx="1244599" cy="1244599"/>
              </a:xfrm>
              <a:custGeom>
                <a:avLst/>
                <a:gdLst/>
                <a:ahLst/>
                <a:cxnLst/>
                <a:rect l="0" t="0" r="0" b="0"/>
                <a:pathLst>
                  <a:path w="1959" h="1959">
                    <a:moveTo>
                      <a:pt x="15" y="980"/>
                    </a:moveTo>
                    <a:cubicBezTo>
                      <a:pt x="15" y="447"/>
                      <a:pt x="447" y="15"/>
                      <a:pt x="980" y="15"/>
                    </a:cubicBezTo>
                    <a:cubicBezTo>
                      <a:pt x="1512" y="15"/>
                      <a:pt x="1944" y="447"/>
                      <a:pt x="1944" y="980"/>
                    </a:cubicBezTo>
                    <a:cubicBezTo>
                      <a:pt x="1944" y="1512"/>
                      <a:pt x="1512" y="1944"/>
                      <a:pt x="980" y="1944"/>
                    </a:cubicBezTo>
                    <a:cubicBezTo>
                      <a:pt x="447" y="1944"/>
                      <a:pt x="15" y="1512"/>
                      <a:pt x="15" y="980"/>
                    </a:cubicBezTo>
                  </a:path>
                </a:pathLst>
              </a:custGeom>
              <a:noFill/>
              <a:ln w="19049" cap="rnd">
                <a:solidFill>
                  <a:srgbClr val="919191">
                    <a:alpha val="100000"/>
                  </a:srgbClr>
                </a:solidFill>
                <a:prstDash val="dash"/>
                <a:round/>
              </a:ln>
            </p:spPr>
            <p:txBody>
              <a:bodyPr rtlCol="0"/>
              <a:lstStyle/>
              <a:p>
                <a:pPr algn="ctr"/>
                <a:endParaRPr lang="zh-CN" altLang="en-US" sz="1350"/>
              </a:p>
            </p:txBody>
          </p:sp>
        </p:grpSp>
        <p:sp>
          <p:nvSpPr>
            <p:cNvPr id="242" name="textbox 242"/>
            <p:cNvSpPr/>
            <p:nvPr/>
          </p:nvSpPr>
          <p:spPr>
            <a:xfrm>
              <a:off x="-12700" y="-12700"/>
              <a:ext cx="1270000" cy="1294130"/>
            </a:xfrm>
            <a:prstGeom prst="rect">
              <a:avLst/>
            </a:prstGeom>
          </p:spPr>
          <p:txBody>
            <a:bodyPr vert="horz" wrap="square" lIns="0" tIns="0" rIns="0" bIns="0"/>
            <a:lstStyle/>
            <a:p>
              <a:pPr algn="l" rtl="0" eaLnBrk="0">
                <a:lnSpc>
                  <a:spcPct val="129000"/>
                </a:lnSpc>
              </a:pPr>
              <a:endParaRPr lang="en-US" altLang="en-US" sz="750" dirty="0"/>
            </a:p>
            <a:p>
              <a:pPr algn="l" rtl="0" eaLnBrk="0">
                <a:lnSpc>
                  <a:spcPct val="130000"/>
                </a:lnSpc>
              </a:pPr>
              <a:endParaRPr lang="en-US" altLang="en-US" sz="750" dirty="0"/>
            </a:p>
            <a:p>
              <a:pPr marL="408305" algn="l" rtl="0" eaLnBrk="0">
                <a:lnSpc>
                  <a:spcPct val="82000"/>
                </a:lnSpc>
                <a:spcBef>
                  <a:spcPts val="0"/>
                </a:spcBef>
              </a:pPr>
              <a:r>
                <a:rPr sz="135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外部</a:t>
              </a:r>
              <a:endParaRPr lang="en-US" altLang="en-US" sz="1350" dirty="0"/>
            </a:p>
            <a:p>
              <a:pPr marL="410845" algn="l" rtl="0" eaLnBrk="0">
                <a:lnSpc>
                  <a:spcPts val="2290"/>
                </a:lnSpc>
              </a:pPr>
              <a:r>
                <a:rPr sz="135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输入</a:t>
              </a:r>
              <a:endParaRPr lang="en-US" altLang="en-US" sz="1350" dirty="0"/>
            </a:p>
          </p:txBody>
        </p:sp>
      </p:grpSp>
      <p:sp>
        <p:nvSpPr>
          <p:cNvPr id="246" name="rect"/>
          <p:cNvSpPr/>
          <p:nvPr/>
        </p:nvSpPr>
        <p:spPr>
          <a:xfrm>
            <a:off x="3004928" y="2503478"/>
            <a:ext cx="1017317" cy="28575"/>
          </a:xfrm>
          <a:prstGeom prst="rect">
            <a:avLst/>
          </a:prstGeom>
          <a:solidFill>
            <a:srgbClr val="919191">
              <a:alpha val="100000"/>
            </a:srgbClr>
          </a:solidFill>
          <a:ln cap="flat">
            <a:noFill/>
            <a:prstDash val="solid"/>
            <a:miter lim="0"/>
          </a:ln>
        </p:spPr>
        <p:txBody>
          <a:bodyPr rtlCol="0"/>
          <a:lstStyle/>
          <a:p>
            <a:pPr algn="ctr"/>
            <a:endParaRPr lang="zh-CN" altLang="en-US" sz="1350"/>
          </a:p>
        </p:txBody>
      </p:sp>
      <p:sp>
        <p:nvSpPr>
          <p:cNvPr id="248" name="path"/>
          <p:cNvSpPr/>
          <p:nvPr/>
        </p:nvSpPr>
        <p:spPr>
          <a:xfrm>
            <a:off x="2987267" y="2474903"/>
            <a:ext cx="85725" cy="85725"/>
          </a:xfrm>
          <a:custGeom>
            <a:avLst/>
            <a:gdLst/>
            <a:ahLst/>
            <a:cxnLst/>
            <a:rect l="0" t="0" r="0" b="0"/>
            <a:pathLst>
              <a:path w="180" h="180">
                <a:moveTo>
                  <a:pt x="180" y="0"/>
                </a:moveTo>
                <a:lnTo>
                  <a:pt x="0" y="90"/>
                </a:lnTo>
                <a:lnTo>
                  <a:pt x="180" y="180"/>
                </a:lnTo>
                <a:lnTo>
                  <a:pt x="180" y="0"/>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250" name="path"/>
          <p:cNvSpPr/>
          <p:nvPr/>
        </p:nvSpPr>
        <p:spPr>
          <a:xfrm>
            <a:off x="6096140" y="2474903"/>
            <a:ext cx="85725" cy="85725"/>
          </a:xfrm>
          <a:custGeom>
            <a:avLst/>
            <a:gdLst/>
            <a:ahLst/>
            <a:cxnLst/>
            <a:rect l="0" t="0" r="0" b="0"/>
            <a:pathLst>
              <a:path w="180" h="180">
                <a:moveTo>
                  <a:pt x="0" y="180"/>
                </a:moveTo>
                <a:lnTo>
                  <a:pt x="180" y="90"/>
                </a:lnTo>
                <a:lnTo>
                  <a:pt x="0" y="0"/>
                </a:lnTo>
                <a:lnTo>
                  <a:pt x="0" y="180"/>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252" name="path"/>
          <p:cNvSpPr/>
          <p:nvPr/>
        </p:nvSpPr>
        <p:spPr>
          <a:xfrm>
            <a:off x="4546265" y="3404780"/>
            <a:ext cx="85725" cy="85725"/>
          </a:xfrm>
          <a:custGeom>
            <a:avLst/>
            <a:gdLst/>
            <a:ahLst/>
            <a:cxnLst/>
            <a:rect l="0" t="0" r="0" b="0"/>
            <a:pathLst>
              <a:path w="180" h="180">
                <a:moveTo>
                  <a:pt x="0" y="0"/>
                </a:moveTo>
                <a:lnTo>
                  <a:pt x="90" y="180"/>
                </a:lnTo>
                <a:lnTo>
                  <a:pt x="180" y="0"/>
                </a:lnTo>
                <a:lnTo>
                  <a:pt x="0" y="0"/>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3" name="标题 2"/>
          <p:cNvSpPr>
            <a:spLocks noGrp="1"/>
          </p:cNvSpPr>
          <p:nvPr>
            <p:ph type="title"/>
          </p:nvPr>
        </p:nvSpPr>
        <p:spPr/>
        <p:txBody>
          <a:bodyPr/>
          <a:p>
            <a:r>
              <a:rPr lang="zh-CN" altLang="en-US" dirty="0"/>
              <a:t>功能点方法</a:t>
            </a:r>
            <a:endParaRPr lang="en-US" altLang="zh-CN"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4" name="table 254"/>
          <p:cNvGraphicFramePr>
            <a:graphicFrameLocks noGrp="1"/>
          </p:cNvGraphicFramePr>
          <p:nvPr/>
        </p:nvGraphicFramePr>
        <p:xfrm>
          <a:off x="697894" y="1500818"/>
          <a:ext cx="3895725" cy="2531110"/>
        </p:xfrm>
        <a:graphic>
          <a:graphicData uri="http://schemas.openxmlformats.org/drawingml/2006/table">
            <a:tbl>
              <a:tblPr/>
              <a:tblGrid>
                <a:gridCol w="1069975"/>
                <a:gridCol w="705485"/>
                <a:gridCol w="705485"/>
                <a:gridCol w="704850"/>
                <a:gridCol w="709930"/>
              </a:tblGrid>
              <a:tr h="305435">
                <a:tc rowSpan="2">
                  <a:txBody>
                    <a:bodyPr/>
                    <a:lstStyle/>
                    <a:p>
                      <a:pPr algn="l" rtl="0" eaLnBrk="0">
                        <a:lnSpc>
                          <a:spcPct val="103000"/>
                        </a:lnSpc>
                      </a:pPr>
                      <a:endParaRPr lang="en-US" altLang="en-US" sz="750" dirty="0"/>
                    </a:p>
                    <a:p>
                      <a:pPr algn="l" rtl="0" eaLnBrk="0">
                        <a:lnSpc>
                          <a:spcPct val="103000"/>
                        </a:lnSpc>
                      </a:pPr>
                      <a:endParaRPr lang="en-US" altLang="en-US" sz="750" dirty="0"/>
                    </a:p>
                    <a:p>
                      <a:pPr algn="l" rtl="0" eaLnBrk="0">
                        <a:lnSpc>
                          <a:spcPct val="7000"/>
                        </a:lnSpc>
                      </a:pPr>
                      <a:endParaRPr lang="en-US" altLang="en-US" sz="100" dirty="0"/>
                    </a:p>
                    <a:p>
                      <a:pPr marL="213360" algn="l" rtl="0" eaLnBrk="0">
                        <a:lnSpc>
                          <a:spcPct val="91000"/>
                        </a:lnSpc>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信息域参数</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l" rtl="0" eaLnBrk="0">
                        <a:lnSpc>
                          <a:spcPct val="113000"/>
                        </a:lnSpc>
                      </a:pPr>
                      <a:endParaRPr lang="en-US" altLang="en-US" sz="525" dirty="0"/>
                    </a:p>
                    <a:p>
                      <a:pPr marL="1007110" algn="l" rtl="0" eaLnBrk="0">
                        <a:lnSpc>
                          <a:spcPct val="90000"/>
                        </a:lnSpc>
                        <a:spcBef>
                          <a:spcPts val="5"/>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加权因子</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l" rtl="0" eaLnBrk="0">
                        <a:lnSpc>
                          <a:spcPct val="104000"/>
                        </a:lnSpc>
                      </a:pPr>
                      <a:endParaRPr lang="en-US" altLang="en-US" sz="750" dirty="0"/>
                    </a:p>
                    <a:p>
                      <a:pPr algn="l" rtl="0" eaLnBrk="0">
                        <a:lnSpc>
                          <a:spcPct val="104000"/>
                        </a:lnSpc>
                      </a:pPr>
                      <a:endParaRPr lang="en-US" altLang="en-US" sz="750" dirty="0"/>
                    </a:p>
                    <a:p>
                      <a:pPr marL="273050" algn="l" rtl="0" eaLnBrk="0">
                        <a:lnSpc>
                          <a:spcPct val="90000"/>
                        </a:lnSpc>
                        <a:spcBef>
                          <a:spcPts val="5"/>
                        </a:spcBef>
                      </a:pP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合计</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4640">
                <a:tc v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4000"/>
                        </a:lnSpc>
                      </a:pPr>
                      <a:endParaRPr lang="en-US" altLang="en-US" sz="450" dirty="0"/>
                    </a:p>
                    <a:p>
                      <a:pPr marL="272415" algn="l" rtl="0" eaLnBrk="0">
                        <a:lnSpc>
                          <a:spcPct val="91000"/>
                        </a:lnSpc>
                      </a:pP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简单</a:t>
                      </a:r>
                      <a:endParaRPr lang="en-US" altLang="en-US" sz="120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4000"/>
                        </a:lnSpc>
                      </a:pPr>
                      <a:endParaRPr lang="en-US" altLang="en-US" sz="450" dirty="0"/>
                    </a:p>
                    <a:p>
                      <a:pPr marL="286385" algn="l" rtl="0" eaLnBrk="0">
                        <a:lnSpc>
                          <a:spcPct val="91000"/>
                        </a:lnSpc>
                      </a:pPr>
                      <a:r>
                        <a:rPr sz="12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中等</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4000"/>
                        </a:lnSpc>
                      </a:pPr>
                      <a:endParaRPr lang="en-US" altLang="en-US" sz="450" dirty="0"/>
                    </a:p>
                    <a:p>
                      <a:pPr marL="272415" algn="l" rtl="0" eaLnBrk="0">
                        <a:lnSpc>
                          <a:spcPct val="91000"/>
                        </a:lnSpc>
                      </a:pP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复杂</a:t>
                      </a:r>
                      <a:endParaRPr lang="en-US" altLang="en-US" sz="120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1310">
                <a:tc>
                  <a:txBody>
                    <a:bodyPr/>
                    <a:lstStyle/>
                    <a:p>
                      <a:pPr algn="l" rtl="0" eaLnBrk="0">
                        <a:lnSpc>
                          <a:spcPct val="113000"/>
                        </a:lnSpc>
                      </a:pPr>
                      <a:endParaRPr lang="en-US" altLang="en-US" sz="450" dirty="0"/>
                    </a:p>
                    <a:p>
                      <a:pPr marL="313690" algn="l" rtl="0" eaLnBrk="0">
                        <a:lnSpc>
                          <a:spcPct val="91000"/>
                        </a:lnSpc>
                        <a:spcBef>
                          <a:spcPts val="5"/>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外部输入</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07000"/>
                        </a:lnSpc>
                      </a:pPr>
                      <a:endParaRPr lang="en-US" altLang="en-US" sz="600" dirty="0"/>
                    </a:p>
                    <a:p>
                      <a:pPr marL="424815" algn="l" rtl="0" eaLnBrk="0">
                        <a:lnSpc>
                          <a:spcPct val="80000"/>
                        </a:lnSpc>
                        <a:spcBef>
                          <a:spcPts val="5"/>
                        </a:spcBef>
                      </a:pPr>
                      <a:r>
                        <a:rPr sz="1200" kern="0" spc="-20" dirty="0">
                          <a:solidFill>
                            <a:srgbClr val="000000">
                              <a:alpha val="100000"/>
                            </a:srgbClr>
                          </a:solidFill>
                          <a:latin typeface="Arial" panose="020B0604020202020204"/>
                          <a:ea typeface="Arial" panose="020B0604020202020204"/>
                          <a:cs typeface="Arial" panose="020B0604020202020204"/>
                        </a:rPr>
                        <a:t>3</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07000"/>
                        </a:lnSpc>
                      </a:pPr>
                      <a:endParaRPr lang="en-US" altLang="en-US" sz="600" dirty="0"/>
                    </a:p>
                    <a:p>
                      <a:pPr marL="419100" algn="l" rtl="0" eaLnBrk="0">
                        <a:lnSpc>
                          <a:spcPct val="80000"/>
                        </a:lnSpc>
                        <a:spcBef>
                          <a:spcPts val="5"/>
                        </a:spcBef>
                      </a:pPr>
                      <a:r>
                        <a:rPr sz="1200" kern="0" spc="-20" dirty="0">
                          <a:solidFill>
                            <a:srgbClr val="000000">
                              <a:alpha val="100000"/>
                            </a:srgbClr>
                          </a:solidFill>
                          <a:latin typeface="Arial" panose="020B0604020202020204"/>
                          <a:ea typeface="Arial" panose="020B0604020202020204"/>
                          <a:cs typeface="Arial" panose="020B0604020202020204"/>
                        </a:rPr>
                        <a:t>4</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07000"/>
                        </a:lnSpc>
                      </a:pPr>
                      <a:endParaRPr lang="en-US" altLang="en-US" sz="600" dirty="0"/>
                    </a:p>
                    <a:p>
                      <a:pPr marL="424180" algn="l" rtl="0" eaLnBrk="0">
                        <a:lnSpc>
                          <a:spcPct val="80000"/>
                        </a:lnSpc>
                        <a:spcBef>
                          <a:spcPts val="5"/>
                        </a:spcBef>
                      </a:pPr>
                      <a:r>
                        <a:rPr sz="1200" kern="0" spc="-20" dirty="0">
                          <a:solidFill>
                            <a:srgbClr val="000000">
                              <a:alpha val="100000"/>
                            </a:srgbClr>
                          </a:solidFill>
                          <a:latin typeface="Arial" panose="020B0604020202020204"/>
                          <a:ea typeface="Arial" panose="020B0604020202020204"/>
                          <a:cs typeface="Arial" panose="020B0604020202020204"/>
                        </a:rPr>
                        <a:t>6</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19000"/>
                        </a:lnSpc>
                      </a:pPr>
                      <a:endParaRPr lang="en-US" altLang="en-US" sz="300" dirty="0"/>
                    </a:p>
                    <a:p>
                      <a:pPr marL="405130" algn="l" rtl="0" eaLnBrk="0">
                        <a:lnSpc>
                          <a:spcPts val="2100"/>
                        </a:lnSpc>
                        <a:spcBef>
                          <a:spcPts val="5"/>
                        </a:spcBef>
                      </a:pPr>
                      <a:r>
                        <a:rPr sz="1200"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1310">
                <a:tc>
                  <a:txBody>
                    <a:bodyPr/>
                    <a:lstStyle/>
                    <a:p>
                      <a:pPr algn="l" rtl="0" eaLnBrk="0">
                        <a:lnSpc>
                          <a:spcPct val="114000"/>
                        </a:lnSpc>
                      </a:pPr>
                      <a:endParaRPr lang="en-US" altLang="en-US" sz="450" dirty="0"/>
                    </a:p>
                    <a:p>
                      <a:pPr marL="313690" algn="l" rtl="0" eaLnBrk="0">
                        <a:lnSpc>
                          <a:spcPct val="91000"/>
                        </a:lnSpc>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外部输出</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07000"/>
                        </a:lnSpc>
                      </a:pPr>
                      <a:endParaRPr lang="en-US" altLang="en-US" sz="600" dirty="0"/>
                    </a:p>
                    <a:p>
                      <a:pPr marL="419100" algn="l" rtl="0" eaLnBrk="0">
                        <a:lnSpc>
                          <a:spcPct val="80000"/>
                        </a:lnSpc>
                        <a:spcBef>
                          <a:spcPts val="5"/>
                        </a:spcBef>
                      </a:pPr>
                      <a:r>
                        <a:rPr sz="1200" kern="0" spc="-20" dirty="0">
                          <a:solidFill>
                            <a:srgbClr val="000000">
                              <a:alpha val="100000"/>
                            </a:srgbClr>
                          </a:solidFill>
                          <a:latin typeface="Arial" panose="020B0604020202020204"/>
                          <a:ea typeface="Arial" panose="020B0604020202020204"/>
                          <a:cs typeface="Arial" panose="020B0604020202020204"/>
                        </a:rPr>
                        <a:t>4</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09000"/>
                        </a:lnSpc>
                      </a:pPr>
                      <a:endParaRPr lang="en-US" altLang="en-US" sz="600" dirty="0"/>
                    </a:p>
                    <a:p>
                      <a:pPr marL="424815" algn="l" rtl="0" eaLnBrk="0">
                        <a:lnSpc>
                          <a:spcPct val="79000"/>
                        </a:lnSpc>
                        <a:spcBef>
                          <a:spcPts val="5"/>
                        </a:spcBef>
                      </a:pPr>
                      <a:r>
                        <a:rPr sz="1200" kern="0" spc="-20" dirty="0">
                          <a:solidFill>
                            <a:srgbClr val="000000">
                              <a:alpha val="100000"/>
                            </a:srgbClr>
                          </a:solidFill>
                          <a:latin typeface="Arial" panose="020B0604020202020204"/>
                          <a:ea typeface="Arial" panose="020B0604020202020204"/>
                          <a:cs typeface="Arial" panose="020B0604020202020204"/>
                        </a:rPr>
                        <a:t>5</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09000"/>
                        </a:lnSpc>
                      </a:pPr>
                      <a:endParaRPr lang="en-US" altLang="en-US" sz="600" dirty="0"/>
                    </a:p>
                    <a:p>
                      <a:pPr marL="426085" algn="l" rtl="0" eaLnBrk="0">
                        <a:lnSpc>
                          <a:spcPct val="79000"/>
                        </a:lnSpc>
                        <a:spcBef>
                          <a:spcPts val="5"/>
                        </a:spcBef>
                      </a:pPr>
                      <a:r>
                        <a:rPr sz="1200" kern="0" spc="-20" dirty="0">
                          <a:solidFill>
                            <a:srgbClr val="000000">
                              <a:alpha val="100000"/>
                            </a:srgbClr>
                          </a:solidFill>
                          <a:latin typeface="Arial" panose="020B0604020202020204"/>
                          <a:ea typeface="Arial" panose="020B0604020202020204"/>
                          <a:cs typeface="Arial" panose="020B0604020202020204"/>
                        </a:rPr>
                        <a:t>7</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20000"/>
                        </a:lnSpc>
                      </a:pPr>
                      <a:endParaRPr lang="en-US" altLang="en-US" sz="300" dirty="0"/>
                    </a:p>
                    <a:p>
                      <a:pPr marL="405130" algn="l" rtl="0" eaLnBrk="0">
                        <a:lnSpc>
                          <a:spcPts val="2100"/>
                        </a:lnSpc>
                        <a:spcBef>
                          <a:spcPts val="0"/>
                        </a:spcBef>
                      </a:pPr>
                      <a:r>
                        <a:rPr sz="1200"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1945">
                <a:tc>
                  <a:txBody>
                    <a:bodyPr/>
                    <a:lstStyle/>
                    <a:p>
                      <a:pPr algn="l" rtl="0" eaLnBrk="0">
                        <a:lnSpc>
                          <a:spcPct val="114000"/>
                        </a:lnSpc>
                      </a:pPr>
                      <a:endParaRPr lang="en-US" altLang="en-US" sz="450" dirty="0"/>
                    </a:p>
                    <a:p>
                      <a:pPr marL="313690" algn="l" rtl="0" eaLnBrk="0">
                        <a:lnSpc>
                          <a:spcPct val="91000"/>
                        </a:lnSpc>
                        <a:spcBef>
                          <a:spcPts val="5"/>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外部查询</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07000"/>
                        </a:lnSpc>
                      </a:pPr>
                      <a:endParaRPr lang="en-US" altLang="en-US" sz="600" dirty="0"/>
                    </a:p>
                    <a:p>
                      <a:pPr algn="l" rtl="0" eaLnBrk="0">
                        <a:lnSpc>
                          <a:spcPct val="7000"/>
                        </a:lnSpc>
                      </a:pPr>
                      <a:endParaRPr lang="en-US" altLang="en-US" sz="100" dirty="0"/>
                    </a:p>
                    <a:p>
                      <a:pPr marL="424815" algn="l" rtl="0" eaLnBrk="0">
                        <a:lnSpc>
                          <a:spcPct val="80000"/>
                        </a:lnSpc>
                      </a:pPr>
                      <a:r>
                        <a:rPr sz="1200" kern="0" spc="-20" dirty="0">
                          <a:solidFill>
                            <a:srgbClr val="000000">
                              <a:alpha val="100000"/>
                            </a:srgbClr>
                          </a:solidFill>
                          <a:latin typeface="Arial" panose="020B0604020202020204"/>
                          <a:ea typeface="Arial" panose="020B0604020202020204"/>
                          <a:cs typeface="Arial" panose="020B0604020202020204"/>
                        </a:rPr>
                        <a:t>3</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08000"/>
                        </a:lnSpc>
                      </a:pPr>
                      <a:endParaRPr lang="en-US" altLang="en-US" sz="600" dirty="0"/>
                    </a:p>
                    <a:p>
                      <a:pPr marL="419100" algn="l" rtl="0" eaLnBrk="0">
                        <a:lnSpc>
                          <a:spcPct val="80000"/>
                        </a:lnSpc>
                      </a:pPr>
                      <a:r>
                        <a:rPr sz="1200" kern="0" spc="-20" dirty="0">
                          <a:solidFill>
                            <a:srgbClr val="000000">
                              <a:alpha val="100000"/>
                            </a:srgbClr>
                          </a:solidFill>
                          <a:latin typeface="Arial" panose="020B0604020202020204"/>
                          <a:ea typeface="Arial" panose="020B0604020202020204"/>
                          <a:cs typeface="Arial" panose="020B0604020202020204"/>
                        </a:rPr>
                        <a:t>4</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07000"/>
                        </a:lnSpc>
                      </a:pPr>
                      <a:endParaRPr lang="en-US" altLang="en-US" sz="600" dirty="0"/>
                    </a:p>
                    <a:p>
                      <a:pPr algn="l" rtl="0" eaLnBrk="0">
                        <a:lnSpc>
                          <a:spcPct val="6000"/>
                        </a:lnSpc>
                      </a:pPr>
                      <a:endParaRPr lang="en-US" altLang="en-US" sz="100" dirty="0"/>
                    </a:p>
                    <a:p>
                      <a:pPr marL="424180" algn="l" rtl="0" eaLnBrk="0">
                        <a:lnSpc>
                          <a:spcPct val="80000"/>
                        </a:lnSpc>
                      </a:pPr>
                      <a:r>
                        <a:rPr sz="1200" kern="0" spc="-20" dirty="0">
                          <a:solidFill>
                            <a:srgbClr val="000000">
                              <a:alpha val="100000"/>
                            </a:srgbClr>
                          </a:solidFill>
                          <a:latin typeface="Arial" panose="020B0604020202020204"/>
                          <a:ea typeface="Arial" panose="020B0604020202020204"/>
                          <a:cs typeface="Arial" panose="020B0604020202020204"/>
                        </a:rPr>
                        <a:t>6</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20000"/>
                        </a:lnSpc>
                      </a:pPr>
                      <a:endParaRPr lang="en-US" altLang="en-US" sz="300" dirty="0"/>
                    </a:p>
                    <a:p>
                      <a:pPr marL="405130" algn="l" rtl="0" eaLnBrk="0">
                        <a:lnSpc>
                          <a:spcPts val="2100"/>
                        </a:lnSpc>
                        <a:spcBef>
                          <a:spcPts val="5"/>
                        </a:spcBef>
                      </a:pPr>
                      <a:r>
                        <a:rPr sz="1200"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1945">
                <a:tc>
                  <a:txBody>
                    <a:bodyPr/>
                    <a:lstStyle/>
                    <a:p>
                      <a:pPr algn="l" rtl="0" eaLnBrk="0">
                        <a:lnSpc>
                          <a:spcPct val="114000"/>
                        </a:lnSpc>
                      </a:pPr>
                      <a:endParaRPr lang="en-US" altLang="en-US" sz="450" dirty="0"/>
                    </a:p>
                    <a:p>
                      <a:pPr marL="129540" algn="l" rtl="0" eaLnBrk="0">
                        <a:lnSpc>
                          <a:spcPct val="91000"/>
                        </a:lnSpc>
                        <a:spcBef>
                          <a:spcPts val="5"/>
                        </a:spcBef>
                      </a:pPr>
                      <a:r>
                        <a:rPr sz="12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内部逻辑文件</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10000"/>
                        </a:lnSpc>
                      </a:pPr>
                      <a:endParaRPr lang="en-US" altLang="en-US" sz="600" dirty="0"/>
                    </a:p>
                    <a:p>
                      <a:pPr marL="426085" algn="l" rtl="0" eaLnBrk="0">
                        <a:lnSpc>
                          <a:spcPct val="79000"/>
                        </a:lnSpc>
                        <a:spcBef>
                          <a:spcPts val="5"/>
                        </a:spcBef>
                      </a:pPr>
                      <a:r>
                        <a:rPr sz="1200" kern="0" spc="-20" dirty="0">
                          <a:solidFill>
                            <a:srgbClr val="000000">
                              <a:alpha val="100000"/>
                            </a:srgbClr>
                          </a:solidFill>
                          <a:latin typeface="Arial" panose="020B0604020202020204"/>
                          <a:ea typeface="Arial" panose="020B0604020202020204"/>
                          <a:cs typeface="Arial" panose="020B0604020202020204"/>
                        </a:rPr>
                        <a:t>7</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08000"/>
                        </a:lnSpc>
                      </a:pPr>
                      <a:endParaRPr lang="en-US" altLang="en-US" sz="600" dirty="0"/>
                    </a:p>
                    <a:p>
                      <a:pPr marL="382270" algn="l" rtl="0" eaLnBrk="0">
                        <a:lnSpc>
                          <a:spcPct val="80000"/>
                        </a:lnSpc>
                        <a:spcBef>
                          <a:spcPts val="0"/>
                        </a:spcBef>
                      </a:pPr>
                      <a:r>
                        <a:rPr sz="1200" kern="0" spc="-50" dirty="0">
                          <a:solidFill>
                            <a:srgbClr val="000000">
                              <a:alpha val="100000"/>
                            </a:srgbClr>
                          </a:solidFill>
                          <a:latin typeface="Arial" panose="020B0604020202020204"/>
                          <a:ea typeface="Arial" panose="020B0604020202020204"/>
                          <a:cs typeface="Arial" panose="020B0604020202020204"/>
                        </a:rPr>
                        <a:t>10</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08000"/>
                        </a:lnSpc>
                      </a:pPr>
                      <a:endParaRPr lang="en-US" altLang="en-US" sz="600" dirty="0"/>
                    </a:p>
                    <a:p>
                      <a:pPr marL="382270" algn="l" rtl="0" eaLnBrk="0">
                        <a:lnSpc>
                          <a:spcPct val="80000"/>
                        </a:lnSpc>
                        <a:spcBef>
                          <a:spcPts val="0"/>
                        </a:spcBef>
                      </a:pPr>
                      <a:r>
                        <a:rPr sz="1200" kern="0" spc="-50" dirty="0">
                          <a:solidFill>
                            <a:srgbClr val="000000">
                              <a:alpha val="100000"/>
                            </a:srgbClr>
                          </a:solidFill>
                          <a:latin typeface="Arial" panose="020B0604020202020204"/>
                          <a:ea typeface="Arial" panose="020B0604020202020204"/>
                          <a:cs typeface="Arial" panose="020B0604020202020204"/>
                        </a:rPr>
                        <a:t>15</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21000"/>
                        </a:lnSpc>
                      </a:pPr>
                      <a:endParaRPr lang="en-US" altLang="en-US" sz="300" dirty="0"/>
                    </a:p>
                    <a:p>
                      <a:pPr marL="405130" algn="l" rtl="0" eaLnBrk="0">
                        <a:lnSpc>
                          <a:spcPts val="2100"/>
                        </a:lnSpc>
                        <a:spcBef>
                          <a:spcPts val="0"/>
                        </a:spcBef>
                      </a:pPr>
                      <a:r>
                        <a:rPr sz="1200"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2580">
                <a:tc>
                  <a:txBody>
                    <a:bodyPr/>
                    <a:lstStyle/>
                    <a:p>
                      <a:pPr algn="l" rtl="0" eaLnBrk="0">
                        <a:lnSpc>
                          <a:spcPct val="115000"/>
                        </a:lnSpc>
                      </a:pPr>
                      <a:endParaRPr lang="en-US" altLang="en-US" sz="450" dirty="0"/>
                    </a:p>
                    <a:p>
                      <a:pPr marL="110490" algn="l" rtl="0" eaLnBrk="0">
                        <a:lnSpc>
                          <a:spcPct val="91000"/>
                        </a:lnSpc>
                        <a:spcBef>
                          <a:spcPts val="0"/>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外部逻辑文件</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0000"/>
                        </a:lnSpc>
                      </a:pPr>
                      <a:endParaRPr lang="en-US" altLang="en-US" sz="600" dirty="0"/>
                    </a:p>
                    <a:p>
                      <a:pPr marL="424815" algn="l" rtl="0" eaLnBrk="0">
                        <a:lnSpc>
                          <a:spcPct val="79000"/>
                        </a:lnSpc>
                        <a:spcBef>
                          <a:spcPts val="5"/>
                        </a:spcBef>
                      </a:pPr>
                      <a:r>
                        <a:rPr sz="1200" kern="0" spc="-20" dirty="0">
                          <a:solidFill>
                            <a:srgbClr val="000000">
                              <a:alpha val="100000"/>
                            </a:srgbClr>
                          </a:solidFill>
                          <a:latin typeface="Arial" panose="020B0604020202020204"/>
                          <a:ea typeface="Arial" panose="020B0604020202020204"/>
                          <a:cs typeface="Arial" panose="020B0604020202020204"/>
                        </a:rPr>
                        <a:t>5</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0000"/>
                        </a:lnSpc>
                      </a:pPr>
                      <a:endParaRPr lang="en-US" altLang="en-US" sz="600" dirty="0"/>
                    </a:p>
                    <a:p>
                      <a:pPr marL="426085" algn="l" rtl="0" eaLnBrk="0">
                        <a:lnSpc>
                          <a:spcPct val="79000"/>
                        </a:lnSpc>
                        <a:spcBef>
                          <a:spcPts val="5"/>
                        </a:spcBef>
                      </a:pPr>
                      <a:r>
                        <a:rPr sz="1200" kern="0" spc="-20" dirty="0">
                          <a:solidFill>
                            <a:srgbClr val="000000">
                              <a:alpha val="100000"/>
                            </a:srgbClr>
                          </a:solidFill>
                          <a:latin typeface="Arial" panose="020B0604020202020204"/>
                          <a:ea typeface="Arial" panose="020B0604020202020204"/>
                          <a:cs typeface="Arial" panose="020B0604020202020204"/>
                        </a:rPr>
                        <a:t>7</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8000"/>
                        </a:lnSpc>
                      </a:pPr>
                      <a:endParaRPr lang="en-US" altLang="en-US" sz="600" dirty="0"/>
                    </a:p>
                    <a:p>
                      <a:pPr marL="382270" algn="l" rtl="0" eaLnBrk="0">
                        <a:lnSpc>
                          <a:spcPct val="80000"/>
                        </a:lnSpc>
                        <a:spcBef>
                          <a:spcPts val="5"/>
                        </a:spcBef>
                      </a:pPr>
                      <a:r>
                        <a:rPr sz="1200" kern="0" spc="-50" dirty="0">
                          <a:solidFill>
                            <a:srgbClr val="000000">
                              <a:alpha val="100000"/>
                            </a:srgbClr>
                          </a:solidFill>
                          <a:latin typeface="Arial" panose="020B0604020202020204"/>
                          <a:ea typeface="Arial" panose="020B0604020202020204"/>
                          <a:cs typeface="Arial" panose="020B0604020202020204"/>
                        </a:rPr>
                        <a:t>10</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21000"/>
                        </a:lnSpc>
                      </a:pPr>
                      <a:endParaRPr lang="en-US" altLang="en-US" sz="300" dirty="0"/>
                    </a:p>
                    <a:p>
                      <a:pPr marL="405130" algn="l" rtl="0" eaLnBrk="0">
                        <a:lnSpc>
                          <a:spcPts val="2100"/>
                        </a:lnSpc>
                        <a:spcBef>
                          <a:spcPts val="5"/>
                        </a:spcBef>
                      </a:pPr>
                      <a:r>
                        <a:rPr sz="1200"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1945">
                <a:tc gridSpan="4">
                  <a:txBody>
                    <a:bodyPr/>
                    <a:lstStyle/>
                    <a:p>
                      <a:pPr algn="l" rtl="0" eaLnBrk="0">
                        <a:lnSpc>
                          <a:spcPct val="114000"/>
                        </a:lnSpc>
                      </a:pPr>
                      <a:endParaRPr lang="en-US" altLang="en-US" sz="450" dirty="0"/>
                    </a:p>
                    <a:p>
                      <a:pPr marL="1283335" algn="l" rtl="0" eaLnBrk="0">
                        <a:lnSpc>
                          <a:spcPct val="91000"/>
                        </a:lnSpc>
                        <a:spcBef>
                          <a:spcPts val="5"/>
                        </a:spcBef>
                      </a:pPr>
                      <a:r>
                        <a:rPr sz="1200" kern="0" spc="-2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未调整功能点</a:t>
                      </a:r>
                      <a:r>
                        <a:rPr sz="1200" kern="0" spc="19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20" dirty="0">
                          <a:solidFill>
                            <a:srgbClr val="004DD6">
                              <a:alpha val="100000"/>
                            </a:srgbClr>
                          </a:solidFill>
                          <a:latin typeface="Arial" panose="020B0604020202020204"/>
                          <a:ea typeface="Arial" panose="020B0604020202020204"/>
                          <a:cs typeface="Arial" panose="020B0604020202020204"/>
                        </a:rPr>
                        <a:t>UFC</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rtl="0" eaLnBrk="0">
                        <a:lnSpc>
                          <a:spcPct val="121000"/>
                        </a:lnSpc>
                      </a:pPr>
                      <a:endParaRPr lang="en-US" altLang="en-US" sz="300" dirty="0"/>
                    </a:p>
                    <a:p>
                      <a:pPr marL="405130" algn="l" rtl="0" eaLnBrk="0">
                        <a:lnSpc>
                          <a:spcPts val="2100"/>
                        </a:lnSpc>
                        <a:spcBef>
                          <a:spcPts val="0"/>
                        </a:spcBef>
                      </a:pPr>
                      <a:r>
                        <a:rPr sz="1200"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lang="en-US" altLang="en-US" sz="12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graphicFrame>
        <p:nvGraphicFramePr>
          <p:cNvPr id="256" name="table 256"/>
          <p:cNvGraphicFramePr>
            <a:graphicFrameLocks noGrp="1"/>
          </p:cNvGraphicFramePr>
          <p:nvPr/>
        </p:nvGraphicFramePr>
        <p:xfrm>
          <a:off x="4992220" y="1499372"/>
          <a:ext cx="3434715" cy="2560320"/>
        </p:xfrm>
        <a:graphic>
          <a:graphicData uri="http://schemas.openxmlformats.org/drawingml/2006/table">
            <a:tbl>
              <a:tblPr/>
              <a:tblGrid>
                <a:gridCol w="390525"/>
                <a:gridCol w="1384935"/>
                <a:gridCol w="418465"/>
                <a:gridCol w="1240790"/>
              </a:tblGrid>
              <a:tr h="380365">
                <a:tc>
                  <a:txBody>
                    <a:bodyPr/>
                    <a:lstStyle/>
                    <a:p>
                      <a:pPr algn="l" rtl="0" eaLnBrk="0">
                        <a:lnSpc>
                          <a:spcPct val="119000"/>
                        </a:lnSpc>
                      </a:pPr>
                      <a:endParaRPr lang="en-US" altLang="en-US" sz="750" dirty="0"/>
                    </a:p>
                    <a:p>
                      <a:pPr marL="179705" algn="l" rtl="0" eaLnBrk="0">
                        <a:lnSpc>
                          <a:spcPts val="1920"/>
                        </a:lnSpc>
                        <a:spcBef>
                          <a:spcPts val="5"/>
                        </a:spcBef>
                      </a:pPr>
                      <a:r>
                        <a:rPr sz="1800" kern="0" spc="-10" baseline="5000" dirty="0">
                          <a:solidFill>
                            <a:srgbClr val="000000">
                              <a:alpha val="100000"/>
                            </a:srgbClr>
                          </a:solidFill>
                          <a:latin typeface="Arial" panose="020B0604020202020204"/>
                          <a:ea typeface="Arial" panose="020B0604020202020204"/>
                          <a:cs typeface="Arial" panose="020B0604020202020204"/>
                        </a:rPr>
                        <a:t>F</a:t>
                      </a:r>
                      <a:r>
                        <a:rPr sz="1200" kern="0" spc="-10" baseline="-15000" dirty="0">
                          <a:solidFill>
                            <a:srgbClr val="000000">
                              <a:alpha val="100000"/>
                            </a:srgbClr>
                          </a:solidFill>
                          <a:latin typeface="Arial" panose="020B0604020202020204"/>
                          <a:ea typeface="Arial" panose="020B0604020202020204"/>
                          <a:cs typeface="Arial" panose="020B0604020202020204"/>
                        </a:rPr>
                        <a:t>1</a:t>
                      </a:r>
                      <a:endParaRPr lang="en-US" altLang="en-US" sz="1200" baseline="-15000" dirty="0"/>
                    </a:p>
                  </a:txBody>
                  <a:tcPr marL="0" marR="0" marT="0" marB="0" vert="horz">
                    <a:lnL>
                      <a:noFill/>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p>
                      <a:pPr algn="l" rtl="0" eaLnBrk="0">
                        <a:lnSpc>
                          <a:spcPct val="10000"/>
                        </a:lnSpc>
                      </a:pPr>
                      <a:endParaRPr lang="en-US" altLang="en-US" sz="100" dirty="0"/>
                    </a:p>
                    <a:p>
                      <a:pPr marL="93980" algn="l" rtl="0" eaLnBrk="0">
                        <a:lnSpc>
                          <a:spcPct val="91000"/>
                        </a:lnSpc>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可靠的备份和恢复</a:t>
                      </a:r>
                      <a:endParaRPr lang="en-US" altLang="en-US" sz="12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lang="en-US" altLang="en-US" sz="750" dirty="0"/>
                    </a:p>
                    <a:p>
                      <a:pPr marL="198755" algn="l" rtl="0" eaLnBrk="0">
                        <a:lnSpc>
                          <a:spcPts val="1920"/>
                        </a:lnSpc>
                        <a:spcBef>
                          <a:spcPts val="5"/>
                        </a:spcBef>
                      </a:pPr>
                      <a:r>
                        <a:rPr sz="1800" kern="0" spc="-60" baseline="5000" dirty="0">
                          <a:solidFill>
                            <a:srgbClr val="000000">
                              <a:alpha val="100000"/>
                            </a:srgbClr>
                          </a:solidFill>
                          <a:latin typeface="Arial" panose="020B0604020202020204"/>
                          <a:ea typeface="Arial" panose="020B0604020202020204"/>
                          <a:cs typeface="Arial" panose="020B0604020202020204"/>
                        </a:rPr>
                        <a:t>F</a:t>
                      </a:r>
                      <a:r>
                        <a:rPr sz="1200" kern="0" spc="-60" baseline="-15000" dirty="0">
                          <a:solidFill>
                            <a:srgbClr val="000000">
                              <a:alpha val="100000"/>
                            </a:srgbClr>
                          </a:solidFill>
                          <a:latin typeface="Arial" panose="020B0604020202020204"/>
                          <a:ea typeface="Arial" panose="020B0604020202020204"/>
                          <a:cs typeface="Arial" panose="020B0604020202020204"/>
                        </a:rPr>
                        <a:t>8</a:t>
                      </a:r>
                      <a:endParaRPr lang="en-US" altLang="en-US" sz="1200" baseline="-15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p>
                      <a:pPr algn="l" rtl="0" eaLnBrk="0">
                        <a:lnSpc>
                          <a:spcPct val="10000"/>
                        </a:lnSpc>
                      </a:pPr>
                      <a:endParaRPr lang="en-US" altLang="en-US" sz="100" dirty="0"/>
                    </a:p>
                    <a:p>
                      <a:pPr marL="92710" algn="l" rtl="0" eaLnBrk="0">
                        <a:lnSpc>
                          <a:spcPct val="91000"/>
                        </a:lnSpc>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在线升级</a:t>
                      </a:r>
                      <a:endParaRPr lang="en-US" altLang="en-US" sz="1200" dirty="0"/>
                    </a:p>
                  </a:txBody>
                  <a:tcPr marL="0" marR="0" marT="0" marB="0" vert="horz">
                    <a:lnL w="12700" cap="flat" cmpd="sng" algn="ctr">
                      <a:solidFill>
                        <a:srgbClr val="000000"/>
                      </a:solidFill>
                      <a:prstDash val="solid"/>
                      <a:round/>
                      <a:headEnd type="none" w="med" len="med"/>
                      <a:tailEnd type="none" w="med" len="med"/>
                    </a:lnL>
                    <a:lnR>
                      <a:noFill/>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3220">
                <a:tc>
                  <a:txBody>
                    <a:bodyPr/>
                    <a:lstStyle/>
                    <a:p>
                      <a:pPr algn="l" rtl="0" eaLnBrk="0">
                        <a:lnSpc>
                          <a:spcPct val="105000"/>
                        </a:lnSpc>
                      </a:pPr>
                      <a:endParaRPr lang="en-US" altLang="en-US" sz="750" dirty="0"/>
                    </a:p>
                    <a:p>
                      <a:pPr marL="179705" algn="l" rtl="0" eaLnBrk="0">
                        <a:lnSpc>
                          <a:spcPts val="1920"/>
                        </a:lnSpc>
                        <a:spcBef>
                          <a:spcPts val="0"/>
                        </a:spcBef>
                      </a:pPr>
                      <a:r>
                        <a:rPr sz="1800" kern="0" spc="-60" baseline="5000" dirty="0">
                          <a:solidFill>
                            <a:srgbClr val="000000">
                              <a:alpha val="100000"/>
                            </a:srgbClr>
                          </a:solidFill>
                          <a:latin typeface="Arial" panose="020B0604020202020204"/>
                          <a:ea typeface="Arial" panose="020B0604020202020204"/>
                          <a:cs typeface="Arial" panose="020B0604020202020204"/>
                        </a:rPr>
                        <a:t>F</a:t>
                      </a:r>
                      <a:r>
                        <a:rPr sz="1200" kern="0" spc="-60" baseline="-15000" dirty="0">
                          <a:solidFill>
                            <a:srgbClr val="000000">
                              <a:alpha val="100000"/>
                            </a:srgbClr>
                          </a:solidFill>
                          <a:latin typeface="Arial" panose="020B0604020202020204"/>
                          <a:ea typeface="Arial" panose="020B0604020202020204"/>
                          <a:cs typeface="Arial" panose="020B0604020202020204"/>
                        </a:rPr>
                        <a:t>2</a:t>
                      </a:r>
                      <a:endParaRPr lang="en-US" altLang="en-US" sz="1200" baseline="-1500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0000"/>
                        </a:lnSpc>
                      </a:pPr>
                      <a:endParaRPr lang="en-US" altLang="en-US" sz="600" dirty="0"/>
                    </a:p>
                    <a:p>
                      <a:pPr marL="91440" algn="l" rtl="0" eaLnBrk="0">
                        <a:lnSpc>
                          <a:spcPct val="90000"/>
                        </a:lnSpc>
                        <a:spcBef>
                          <a:spcPts val="5"/>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数据通信</a:t>
                      </a:r>
                      <a:endParaRPr lang="en-US" altLang="en-US" sz="12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5000"/>
                        </a:lnSpc>
                      </a:pPr>
                      <a:endParaRPr lang="en-US" altLang="en-US" sz="750" dirty="0"/>
                    </a:p>
                    <a:p>
                      <a:pPr marL="198755" algn="l" rtl="0" eaLnBrk="0">
                        <a:lnSpc>
                          <a:spcPts val="1920"/>
                        </a:lnSpc>
                        <a:spcBef>
                          <a:spcPts val="0"/>
                        </a:spcBef>
                      </a:pPr>
                      <a:r>
                        <a:rPr sz="1800" kern="0" spc="-60" baseline="5000" dirty="0">
                          <a:solidFill>
                            <a:srgbClr val="000000">
                              <a:alpha val="100000"/>
                            </a:srgbClr>
                          </a:solidFill>
                          <a:latin typeface="Arial" panose="020B0604020202020204"/>
                          <a:ea typeface="Arial" panose="020B0604020202020204"/>
                          <a:cs typeface="Arial" panose="020B0604020202020204"/>
                        </a:rPr>
                        <a:t>F</a:t>
                      </a:r>
                      <a:r>
                        <a:rPr sz="1200" kern="0" spc="-60" baseline="-15000" dirty="0">
                          <a:solidFill>
                            <a:srgbClr val="000000">
                              <a:alpha val="100000"/>
                            </a:srgbClr>
                          </a:solidFill>
                          <a:latin typeface="Arial" panose="020B0604020202020204"/>
                          <a:ea typeface="Arial" panose="020B0604020202020204"/>
                          <a:cs typeface="Arial" panose="020B0604020202020204"/>
                        </a:rPr>
                        <a:t>9</a:t>
                      </a:r>
                      <a:endParaRPr lang="en-US" altLang="en-US" sz="1200" baseline="-15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8000"/>
                        </a:lnSpc>
                      </a:pPr>
                      <a:endParaRPr lang="en-US" altLang="en-US" sz="600" dirty="0"/>
                    </a:p>
                    <a:p>
                      <a:pPr marL="92710" algn="l" rtl="0" eaLnBrk="0">
                        <a:lnSpc>
                          <a:spcPct val="91000"/>
                        </a:lnSpc>
                        <a:spcBef>
                          <a:spcPts val="5"/>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复杂的界面</a:t>
                      </a:r>
                      <a:endParaRPr lang="en-US" altLang="en-US" sz="120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4490">
                <a:tc>
                  <a:txBody>
                    <a:bodyPr/>
                    <a:lstStyle/>
                    <a:p>
                      <a:pPr algn="l" rtl="0" eaLnBrk="0">
                        <a:lnSpc>
                          <a:spcPct val="105000"/>
                        </a:lnSpc>
                      </a:pPr>
                      <a:endParaRPr lang="en-US" altLang="en-US" sz="750" dirty="0"/>
                    </a:p>
                    <a:p>
                      <a:pPr algn="l" rtl="0" eaLnBrk="0">
                        <a:lnSpc>
                          <a:spcPct val="9000"/>
                        </a:lnSpc>
                      </a:pPr>
                      <a:endParaRPr lang="en-US" altLang="en-US" sz="100" dirty="0"/>
                    </a:p>
                    <a:p>
                      <a:pPr marL="179705" algn="l" rtl="0" eaLnBrk="0">
                        <a:lnSpc>
                          <a:spcPts val="1920"/>
                        </a:lnSpc>
                      </a:pPr>
                      <a:r>
                        <a:rPr sz="1800" kern="0" spc="-60" baseline="5000" dirty="0">
                          <a:solidFill>
                            <a:srgbClr val="000000">
                              <a:alpha val="100000"/>
                            </a:srgbClr>
                          </a:solidFill>
                          <a:latin typeface="Arial" panose="020B0604020202020204"/>
                          <a:ea typeface="Arial" panose="020B0604020202020204"/>
                          <a:cs typeface="Arial" panose="020B0604020202020204"/>
                        </a:rPr>
                        <a:t>F</a:t>
                      </a:r>
                      <a:r>
                        <a:rPr sz="1200" kern="0" spc="-60" baseline="-15000" dirty="0">
                          <a:solidFill>
                            <a:srgbClr val="000000">
                              <a:alpha val="100000"/>
                            </a:srgbClr>
                          </a:solidFill>
                          <a:latin typeface="Arial" panose="020B0604020202020204"/>
                          <a:ea typeface="Arial" panose="020B0604020202020204"/>
                          <a:cs typeface="Arial" panose="020B0604020202020204"/>
                        </a:rPr>
                        <a:t>3</a:t>
                      </a:r>
                      <a:endParaRPr lang="en-US" altLang="en-US" sz="1200" baseline="-1500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9000"/>
                        </a:lnSpc>
                      </a:pPr>
                      <a:endParaRPr lang="en-US" altLang="en-US" sz="600" dirty="0"/>
                    </a:p>
                    <a:p>
                      <a:pPr marL="91440" algn="l" rtl="0" eaLnBrk="0">
                        <a:lnSpc>
                          <a:spcPct val="91000"/>
                        </a:lnSpc>
                        <a:spcBef>
                          <a:spcPts val="5"/>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分布式处理</a:t>
                      </a:r>
                      <a:endParaRPr lang="en-US" altLang="en-US" sz="12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5000"/>
                        </a:lnSpc>
                      </a:pPr>
                      <a:endParaRPr lang="en-US" altLang="en-US" sz="750" dirty="0"/>
                    </a:p>
                    <a:p>
                      <a:pPr algn="l" rtl="0" eaLnBrk="0">
                        <a:lnSpc>
                          <a:spcPct val="9000"/>
                        </a:lnSpc>
                      </a:pPr>
                      <a:endParaRPr lang="en-US" altLang="en-US" sz="100" dirty="0"/>
                    </a:p>
                    <a:p>
                      <a:pPr marL="161290" algn="l" rtl="0" eaLnBrk="0">
                        <a:lnSpc>
                          <a:spcPts val="1920"/>
                        </a:lnSpc>
                      </a:pPr>
                      <a:r>
                        <a:rPr sz="1800" kern="0" spc="-20" baseline="8000" dirty="0">
                          <a:solidFill>
                            <a:srgbClr val="000000">
                              <a:alpha val="100000"/>
                            </a:srgbClr>
                          </a:solidFill>
                          <a:latin typeface="Arial" panose="020B0604020202020204"/>
                          <a:ea typeface="Arial" panose="020B0604020202020204"/>
                          <a:cs typeface="Arial" panose="020B0604020202020204"/>
                        </a:rPr>
                        <a:t>F</a:t>
                      </a:r>
                      <a:r>
                        <a:rPr sz="1200" kern="0" spc="-20" baseline="-11000" dirty="0">
                          <a:solidFill>
                            <a:srgbClr val="000000">
                              <a:alpha val="100000"/>
                            </a:srgbClr>
                          </a:solidFill>
                          <a:latin typeface="Arial" panose="020B0604020202020204"/>
                          <a:ea typeface="Arial" panose="020B0604020202020204"/>
                          <a:cs typeface="Arial" panose="020B0604020202020204"/>
                        </a:rPr>
                        <a:t>10</a:t>
                      </a:r>
                      <a:endParaRPr lang="en-US" altLang="en-US" sz="1200" baseline="-1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9000"/>
                        </a:lnSpc>
                      </a:pPr>
                      <a:endParaRPr lang="en-US" altLang="en-US" sz="600" dirty="0"/>
                    </a:p>
                    <a:p>
                      <a:pPr marL="92710" algn="l" rtl="0" eaLnBrk="0">
                        <a:lnSpc>
                          <a:spcPct val="91000"/>
                        </a:lnSpc>
                        <a:spcBef>
                          <a:spcPts val="5"/>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复杂的数据处理</a:t>
                      </a:r>
                      <a:endParaRPr lang="en-US" altLang="en-US" sz="120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8775">
                <a:tc>
                  <a:txBody>
                    <a:bodyPr/>
                    <a:lstStyle/>
                    <a:p>
                      <a:pPr algn="l" rtl="0" eaLnBrk="0">
                        <a:lnSpc>
                          <a:spcPct val="100000"/>
                        </a:lnSpc>
                      </a:pPr>
                      <a:endParaRPr lang="en-US" altLang="en-US" sz="750" dirty="0"/>
                    </a:p>
                    <a:p>
                      <a:pPr algn="l" rtl="0" eaLnBrk="0">
                        <a:lnSpc>
                          <a:spcPct val="6000"/>
                        </a:lnSpc>
                      </a:pPr>
                      <a:endParaRPr lang="en-US" altLang="en-US" sz="100" dirty="0"/>
                    </a:p>
                    <a:p>
                      <a:pPr marL="179705" algn="l" rtl="0" eaLnBrk="0">
                        <a:lnSpc>
                          <a:spcPts val="1920"/>
                        </a:lnSpc>
                      </a:pPr>
                      <a:r>
                        <a:rPr sz="1800" kern="0" spc="-60" baseline="5000" dirty="0">
                          <a:solidFill>
                            <a:srgbClr val="000000">
                              <a:alpha val="100000"/>
                            </a:srgbClr>
                          </a:solidFill>
                          <a:latin typeface="Arial" panose="020B0604020202020204"/>
                          <a:ea typeface="Arial" panose="020B0604020202020204"/>
                          <a:cs typeface="Arial" panose="020B0604020202020204"/>
                        </a:rPr>
                        <a:t>F</a:t>
                      </a:r>
                      <a:r>
                        <a:rPr sz="1200" kern="0" spc="-60" baseline="-15000" dirty="0">
                          <a:solidFill>
                            <a:srgbClr val="000000">
                              <a:alpha val="100000"/>
                            </a:srgbClr>
                          </a:solidFill>
                          <a:latin typeface="Arial" panose="020B0604020202020204"/>
                          <a:ea typeface="Arial" panose="020B0604020202020204"/>
                          <a:cs typeface="Arial" panose="020B0604020202020204"/>
                        </a:rPr>
                        <a:t>4</a:t>
                      </a:r>
                      <a:endParaRPr lang="en-US" altLang="en-US" sz="1200" baseline="-1500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lang="en-US" altLang="en-US" sz="600" dirty="0"/>
                    </a:p>
                    <a:p>
                      <a:pPr algn="l" rtl="0" eaLnBrk="0">
                        <a:lnSpc>
                          <a:spcPct val="7000"/>
                        </a:lnSpc>
                      </a:pPr>
                      <a:endParaRPr lang="en-US" altLang="en-US" sz="100" dirty="0"/>
                    </a:p>
                    <a:p>
                      <a:pPr marL="92075" algn="l" rtl="0" eaLnBrk="0">
                        <a:lnSpc>
                          <a:spcPct val="91000"/>
                        </a:lnSpc>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性能</a:t>
                      </a:r>
                      <a:endParaRPr lang="en-US" altLang="en-US" sz="12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p>
                      <a:pPr algn="l" rtl="0" eaLnBrk="0">
                        <a:lnSpc>
                          <a:spcPct val="6000"/>
                        </a:lnSpc>
                      </a:pPr>
                      <a:endParaRPr lang="en-US" altLang="en-US" sz="100" dirty="0"/>
                    </a:p>
                    <a:p>
                      <a:pPr marL="166370" algn="l" rtl="0" eaLnBrk="0">
                        <a:lnSpc>
                          <a:spcPts val="1920"/>
                        </a:lnSpc>
                      </a:pPr>
                      <a:r>
                        <a:rPr sz="1800" kern="0" spc="-30" baseline="7000" dirty="0">
                          <a:solidFill>
                            <a:srgbClr val="000000">
                              <a:alpha val="100000"/>
                            </a:srgbClr>
                          </a:solidFill>
                          <a:latin typeface="Arial" panose="020B0604020202020204"/>
                          <a:ea typeface="Arial" panose="020B0604020202020204"/>
                          <a:cs typeface="Arial" panose="020B0604020202020204"/>
                        </a:rPr>
                        <a:t>F</a:t>
                      </a:r>
                      <a:r>
                        <a:rPr sz="1200" kern="0" spc="-30" baseline="-12000" dirty="0">
                          <a:solidFill>
                            <a:srgbClr val="000000">
                              <a:alpha val="100000"/>
                            </a:srgbClr>
                          </a:solidFill>
                          <a:latin typeface="Arial" panose="020B0604020202020204"/>
                          <a:ea typeface="Arial" panose="020B0604020202020204"/>
                          <a:cs typeface="Arial" panose="020B0604020202020204"/>
                        </a:rPr>
                        <a:t>11</a:t>
                      </a:r>
                      <a:endParaRPr lang="en-US" altLang="en-US" sz="1200" baseline="-12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lang="en-US" altLang="en-US" sz="600" dirty="0"/>
                    </a:p>
                    <a:p>
                      <a:pPr algn="l" rtl="0" eaLnBrk="0">
                        <a:lnSpc>
                          <a:spcPct val="8000"/>
                        </a:lnSpc>
                      </a:pPr>
                      <a:endParaRPr lang="en-US" altLang="en-US" sz="100" dirty="0"/>
                    </a:p>
                    <a:p>
                      <a:pPr marL="91440" algn="l" rtl="0" eaLnBrk="0">
                        <a:lnSpc>
                          <a:spcPct val="91000"/>
                        </a:lnSpc>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代码复用性</a:t>
                      </a:r>
                      <a:endParaRPr lang="en-US" altLang="en-US" sz="120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3855">
                <a:tc>
                  <a:txBody>
                    <a:bodyPr/>
                    <a:lstStyle/>
                    <a:p>
                      <a:pPr algn="l" rtl="0" eaLnBrk="0">
                        <a:lnSpc>
                          <a:spcPct val="105000"/>
                        </a:lnSpc>
                      </a:pPr>
                      <a:endParaRPr lang="en-US" altLang="en-US" sz="750" dirty="0"/>
                    </a:p>
                    <a:p>
                      <a:pPr algn="l" rtl="0" eaLnBrk="0">
                        <a:lnSpc>
                          <a:spcPct val="6000"/>
                        </a:lnSpc>
                      </a:pPr>
                      <a:endParaRPr lang="en-US" altLang="en-US" sz="100" dirty="0"/>
                    </a:p>
                    <a:p>
                      <a:pPr marL="179705" algn="l" rtl="0" eaLnBrk="0">
                        <a:lnSpc>
                          <a:spcPts val="1920"/>
                        </a:lnSpc>
                      </a:pPr>
                      <a:r>
                        <a:rPr sz="1800" kern="0" spc="-60" baseline="5000" dirty="0">
                          <a:solidFill>
                            <a:srgbClr val="000000">
                              <a:alpha val="100000"/>
                            </a:srgbClr>
                          </a:solidFill>
                          <a:latin typeface="Arial" panose="020B0604020202020204"/>
                          <a:ea typeface="Arial" panose="020B0604020202020204"/>
                          <a:cs typeface="Arial" panose="020B0604020202020204"/>
                        </a:rPr>
                        <a:t>F</a:t>
                      </a:r>
                      <a:r>
                        <a:rPr sz="1200" kern="0" spc="-60" baseline="-15000" dirty="0">
                          <a:solidFill>
                            <a:srgbClr val="000000">
                              <a:alpha val="100000"/>
                            </a:srgbClr>
                          </a:solidFill>
                          <a:latin typeface="Arial" panose="020B0604020202020204"/>
                          <a:ea typeface="Arial" panose="020B0604020202020204"/>
                          <a:cs typeface="Arial" panose="020B0604020202020204"/>
                        </a:rPr>
                        <a:t>5</a:t>
                      </a:r>
                      <a:endParaRPr lang="en-US" altLang="en-US" sz="1200" baseline="-1500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lang="en-US" altLang="en-US" sz="600" dirty="0"/>
                    </a:p>
                    <a:p>
                      <a:pPr marL="92710" algn="l" rtl="0" eaLnBrk="0">
                        <a:lnSpc>
                          <a:spcPct val="90000"/>
                        </a:lnSpc>
                        <a:spcBef>
                          <a:spcPts val="0"/>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大量使用的配置</a:t>
                      </a:r>
                      <a:endParaRPr lang="en-US" altLang="en-US" sz="12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5000"/>
                        </a:lnSpc>
                      </a:pPr>
                      <a:endParaRPr lang="en-US" altLang="en-US" sz="750" dirty="0"/>
                    </a:p>
                    <a:p>
                      <a:pPr algn="l" rtl="0" eaLnBrk="0">
                        <a:lnSpc>
                          <a:spcPct val="6000"/>
                        </a:lnSpc>
                      </a:pPr>
                      <a:endParaRPr lang="en-US" altLang="en-US" sz="100" dirty="0"/>
                    </a:p>
                    <a:p>
                      <a:pPr marL="161290" algn="l" rtl="0" eaLnBrk="0">
                        <a:lnSpc>
                          <a:spcPts val="1920"/>
                        </a:lnSpc>
                      </a:pPr>
                      <a:r>
                        <a:rPr sz="1800" kern="0" spc="-20" baseline="7000" dirty="0">
                          <a:solidFill>
                            <a:srgbClr val="000000">
                              <a:alpha val="100000"/>
                            </a:srgbClr>
                          </a:solidFill>
                          <a:latin typeface="Arial" panose="020B0604020202020204"/>
                          <a:ea typeface="Arial" panose="020B0604020202020204"/>
                          <a:cs typeface="Arial" panose="020B0604020202020204"/>
                        </a:rPr>
                        <a:t>F</a:t>
                      </a:r>
                      <a:r>
                        <a:rPr sz="1200" kern="0" spc="-20" baseline="-12000" dirty="0">
                          <a:solidFill>
                            <a:srgbClr val="000000">
                              <a:alpha val="100000"/>
                            </a:srgbClr>
                          </a:solidFill>
                          <a:latin typeface="Arial" panose="020B0604020202020204"/>
                          <a:ea typeface="Arial" panose="020B0604020202020204"/>
                          <a:cs typeface="Arial" panose="020B0604020202020204"/>
                        </a:rPr>
                        <a:t>12</a:t>
                      </a:r>
                      <a:endParaRPr lang="en-US" altLang="en-US" sz="1200" baseline="-12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9000"/>
                        </a:lnSpc>
                      </a:pPr>
                      <a:endParaRPr lang="en-US" altLang="en-US" sz="600" dirty="0"/>
                    </a:p>
                    <a:p>
                      <a:pPr marL="93980" algn="l" rtl="0" eaLnBrk="0">
                        <a:lnSpc>
                          <a:spcPct val="91000"/>
                        </a:lnSpc>
                        <a:spcBef>
                          <a:spcPts val="0"/>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安装简易性</a:t>
                      </a:r>
                      <a:endParaRPr lang="en-US" altLang="en-US" sz="120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8775">
                <a:tc>
                  <a:txBody>
                    <a:bodyPr/>
                    <a:lstStyle/>
                    <a:p>
                      <a:pPr algn="l" rtl="0" eaLnBrk="0">
                        <a:lnSpc>
                          <a:spcPct val="100000"/>
                        </a:lnSpc>
                      </a:pPr>
                      <a:endParaRPr lang="en-US" altLang="en-US" sz="750" dirty="0"/>
                    </a:p>
                    <a:p>
                      <a:pPr marL="179705" algn="l" rtl="0" eaLnBrk="0">
                        <a:lnSpc>
                          <a:spcPts val="1920"/>
                        </a:lnSpc>
                        <a:spcBef>
                          <a:spcPts val="5"/>
                        </a:spcBef>
                      </a:pPr>
                      <a:r>
                        <a:rPr sz="1800" kern="0" spc="-60" baseline="5000" dirty="0">
                          <a:solidFill>
                            <a:srgbClr val="000000">
                              <a:alpha val="100000"/>
                            </a:srgbClr>
                          </a:solidFill>
                          <a:latin typeface="Arial" panose="020B0604020202020204"/>
                          <a:ea typeface="Arial" panose="020B0604020202020204"/>
                          <a:cs typeface="Arial" panose="020B0604020202020204"/>
                        </a:rPr>
                        <a:t>F</a:t>
                      </a:r>
                      <a:r>
                        <a:rPr sz="1200" kern="0" spc="-60" baseline="-15000" dirty="0">
                          <a:solidFill>
                            <a:srgbClr val="000000">
                              <a:alpha val="100000"/>
                            </a:srgbClr>
                          </a:solidFill>
                          <a:latin typeface="Arial" panose="020B0604020202020204"/>
                          <a:ea typeface="Arial" panose="020B0604020202020204"/>
                          <a:cs typeface="Arial" panose="020B0604020202020204"/>
                        </a:rPr>
                        <a:t>6</a:t>
                      </a:r>
                      <a:endParaRPr lang="en-US" altLang="en-US" sz="1200" baseline="-1500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4000"/>
                        </a:lnSpc>
                      </a:pPr>
                      <a:endParaRPr lang="en-US" altLang="en-US" sz="600" dirty="0"/>
                    </a:p>
                    <a:p>
                      <a:pPr algn="l" rtl="0" eaLnBrk="0">
                        <a:lnSpc>
                          <a:spcPct val="7000"/>
                        </a:lnSpc>
                      </a:pPr>
                      <a:endParaRPr lang="en-US" altLang="en-US" sz="100" dirty="0"/>
                    </a:p>
                    <a:p>
                      <a:pPr marL="92710" algn="l" rtl="0" eaLnBrk="0">
                        <a:lnSpc>
                          <a:spcPct val="90000"/>
                        </a:lnSpc>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联机数据输入</a:t>
                      </a:r>
                      <a:endParaRPr lang="en-US" altLang="en-US" sz="12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p>
                      <a:pPr marL="161290" algn="l" rtl="0" eaLnBrk="0">
                        <a:lnSpc>
                          <a:spcPts val="1920"/>
                        </a:lnSpc>
                        <a:spcBef>
                          <a:spcPts val="5"/>
                        </a:spcBef>
                      </a:pPr>
                      <a:r>
                        <a:rPr sz="1800" kern="0" spc="-20" baseline="8000" dirty="0">
                          <a:solidFill>
                            <a:srgbClr val="000000">
                              <a:alpha val="100000"/>
                            </a:srgbClr>
                          </a:solidFill>
                          <a:latin typeface="Arial" panose="020B0604020202020204"/>
                          <a:ea typeface="Arial" panose="020B0604020202020204"/>
                          <a:cs typeface="Arial" panose="020B0604020202020204"/>
                        </a:rPr>
                        <a:t>F</a:t>
                      </a:r>
                      <a:r>
                        <a:rPr sz="1200" kern="0" spc="-20" baseline="-11000" dirty="0">
                          <a:solidFill>
                            <a:srgbClr val="000000">
                              <a:alpha val="100000"/>
                            </a:srgbClr>
                          </a:solidFill>
                          <a:latin typeface="Arial" panose="020B0604020202020204"/>
                          <a:ea typeface="Arial" panose="020B0604020202020204"/>
                          <a:cs typeface="Arial" panose="020B0604020202020204"/>
                        </a:rPr>
                        <a:t>13</a:t>
                      </a:r>
                      <a:endParaRPr lang="en-US" altLang="en-US" sz="1200" baseline="-1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lang="en-US" altLang="en-US" sz="600" dirty="0"/>
                    </a:p>
                    <a:p>
                      <a:pPr algn="l" rtl="0" eaLnBrk="0">
                        <a:lnSpc>
                          <a:spcPct val="7000"/>
                        </a:lnSpc>
                      </a:pPr>
                      <a:endParaRPr lang="en-US" altLang="en-US" sz="100" dirty="0"/>
                    </a:p>
                    <a:p>
                      <a:pPr marL="96520" algn="l" rtl="0" eaLnBrk="0">
                        <a:lnSpc>
                          <a:spcPct val="91000"/>
                        </a:lnSpc>
                      </a:pP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多重站点</a:t>
                      </a:r>
                      <a:endParaRPr lang="en-US" altLang="en-US" sz="120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0840">
                <a:tc>
                  <a:txBody>
                    <a:bodyPr/>
                    <a:lstStyle/>
                    <a:p>
                      <a:pPr algn="l" rtl="0" eaLnBrk="0">
                        <a:lnSpc>
                          <a:spcPct val="110000"/>
                        </a:lnSpc>
                      </a:pPr>
                      <a:endParaRPr lang="en-US" altLang="en-US" sz="750" dirty="0"/>
                    </a:p>
                    <a:p>
                      <a:pPr algn="l" rtl="0" eaLnBrk="0">
                        <a:lnSpc>
                          <a:spcPct val="9000"/>
                        </a:lnSpc>
                      </a:pPr>
                      <a:endParaRPr lang="en-US" altLang="en-US" sz="100" dirty="0"/>
                    </a:p>
                    <a:p>
                      <a:pPr marL="179705" algn="l" rtl="0" eaLnBrk="0">
                        <a:lnSpc>
                          <a:spcPts val="1920"/>
                        </a:lnSpc>
                      </a:pPr>
                      <a:r>
                        <a:rPr sz="1800" kern="0" spc="-60" baseline="5000" dirty="0">
                          <a:solidFill>
                            <a:srgbClr val="000000">
                              <a:alpha val="100000"/>
                            </a:srgbClr>
                          </a:solidFill>
                          <a:latin typeface="Arial" panose="020B0604020202020204"/>
                          <a:ea typeface="Arial" panose="020B0604020202020204"/>
                          <a:cs typeface="Arial" panose="020B0604020202020204"/>
                        </a:rPr>
                        <a:t>F</a:t>
                      </a:r>
                      <a:r>
                        <a:rPr sz="1200" kern="0" spc="-60" baseline="-15000" dirty="0">
                          <a:solidFill>
                            <a:srgbClr val="000000">
                              <a:alpha val="100000"/>
                            </a:srgbClr>
                          </a:solidFill>
                          <a:latin typeface="Arial" panose="020B0604020202020204"/>
                          <a:ea typeface="Arial" panose="020B0604020202020204"/>
                          <a:cs typeface="Arial" panose="020B0604020202020204"/>
                        </a:rPr>
                        <a:t>7</a:t>
                      </a:r>
                      <a:endParaRPr lang="en-US" altLang="en-US" sz="1200" baseline="-1500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rtl="0" eaLnBrk="0">
                        <a:lnSpc>
                          <a:spcPct val="102000"/>
                        </a:lnSpc>
                      </a:pPr>
                      <a:endParaRPr lang="en-US" altLang="en-US" sz="675" dirty="0"/>
                    </a:p>
                    <a:p>
                      <a:pPr algn="l" rtl="0" eaLnBrk="0">
                        <a:lnSpc>
                          <a:spcPct val="8000"/>
                        </a:lnSpc>
                      </a:pPr>
                      <a:endParaRPr lang="en-US" altLang="en-US" sz="100" dirty="0"/>
                    </a:p>
                    <a:p>
                      <a:pPr marL="91440" algn="l" rtl="0" eaLnBrk="0">
                        <a:lnSpc>
                          <a:spcPct val="91000"/>
                        </a:lnSpc>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操作简单性</a:t>
                      </a:r>
                      <a:endParaRPr lang="en-US" altLang="en-US" sz="12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rtl="0" eaLnBrk="0">
                        <a:lnSpc>
                          <a:spcPct val="110000"/>
                        </a:lnSpc>
                      </a:pPr>
                      <a:endParaRPr lang="en-US" altLang="en-US" sz="750" dirty="0"/>
                    </a:p>
                    <a:p>
                      <a:pPr algn="l" rtl="0" eaLnBrk="0">
                        <a:lnSpc>
                          <a:spcPct val="9000"/>
                        </a:lnSpc>
                      </a:pPr>
                      <a:endParaRPr lang="en-US" altLang="en-US" sz="100" dirty="0"/>
                    </a:p>
                    <a:p>
                      <a:pPr marL="161290" algn="l" rtl="0" eaLnBrk="0">
                        <a:lnSpc>
                          <a:spcPts val="1920"/>
                        </a:lnSpc>
                      </a:pPr>
                      <a:r>
                        <a:rPr sz="1800" kern="0" spc="-20" baseline="7000" dirty="0">
                          <a:solidFill>
                            <a:srgbClr val="000000">
                              <a:alpha val="100000"/>
                            </a:srgbClr>
                          </a:solidFill>
                          <a:latin typeface="Arial" panose="020B0604020202020204"/>
                          <a:ea typeface="Arial" panose="020B0604020202020204"/>
                          <a:cs typeface="Arial" panose="020B0604020202020204"/>
                        </a:rPr>
                        <a:t>F</a:t>
                      </a:r>
                      <a:r>
                        <a:rPr sz="1200" kern="0" spc="-20" baseline="-12000" dirty="0">
                          <a:solidFill>
                            <a:srgbClr val="000000">
                              <a:alpha val="100000"/>
                            </a:srgbClr>
                          </a:solidFill>
                          <a:latin typeface="Arial" panose="020B0604020202020204"/>
                          <a:ea typeface="Arial" panose="020B0604020202020204"/>
                          <a:cs typeface="Arial" panose="020B0604020202020204"/>
                        </a:rPr>
                        <a:t>14</a:t>
                      </a:r>
                      <a:endParaRPr lang="en-US" altLang="en-US" sz="1200" baseline="-12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rtl="0" eaLnBrk="0">
                        <a:lnSpc>
                          <a:spcPct val="104000"/>
                        </a:lnSpc>
                      </a:pPr>
                      <a:endParaRPr lang="en-US" altLang="en-US" sz="675" dirty="0"/>
                    </a:p>
                    <a:p>
                      <a:pPr algn="l" rtl="0" eaLnBrk="0">
                        <a:lnSpc>
                          <a:spcPct val="7000"/>
                        </a:lnSpc>
                      </a:pPr>
                      <a:endParaRPr lang="en-US" altLang="en-US" sz="100" dirty="0"/>
                    </a:p>
                    <a:p>
                      <a:pPr marL="93980" algn="l" rtl="0" eaLnBrk="0">
                        <a:lnSpc>
                          <a:spcPct val="90000"/>
                        </a:lnSpc>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易于修改</a:t>
                      </a:r>
                      <a:endParaRPr lang="en-US" altLang="en-US" sz="120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258" name="textbox 258"/>
          <p:cNvSpPr/>
          <p:nvPr/>
        </p:nvSpPr>
        <p:spPr>
          <a:xfrm>
            <a:off x="707131" y="4054469"/>
            <a:ext cx="7720964" cy="466725"/>
          </a:xfrm>
          <a:prstGeom prst="rect">
            <a:avLst/>
          </a:prstGeom>
          <a:solidFill>
            <a:srgbClr val="ECEBEB"/>
          </a:solidFill>
        </p:spPr>
        <p:txBody>
          <a:bodyPr vert="horz" wrap="square" lIns="0" tIns="0" rIns="0" bIns="0"/>
          <a:lstStyle/>
          <a:p>
            <a:pPr algn="l" rtl="0" eaLnBrk="0">
              <a:lnSpc>
                <a:spcPct val="106000"/>
              </a:lnSpc>
            </a:pPr>
            <a:endParaRPr lang="en-US" altLang="en-US" sz="600" dirty="0"/>
          </a:p>
          <a:p>
            <a:pPr marL="2479040" algn="l" rtl="0" eaLnBrk="0">
              <a:lnSpc>
                <a:spcPts val="2840"/>
              </a:lnSpc>
              <a:spcBef>
                <a:spcPts val="5"/>
              </a:spcBef>
            </a:pPr>
            <a:r>
              <a:rPr sz="16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功能点计算 ：</a:t>
            </a:r>
            <a:r>
              <a:rPr sz="1650" kern="0" spc="-4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650" kern="0" spc="-30" dirty="0">
                <a:solidFill>
                  <a:srgbClr val="CC0000">
                    <a:alpha val="100000"/>
                  </a:srgbClr>
                </a:solidFill>
                <a:latin typeface="Arial" panose="020B0604020202020204"/>
                <a:ea typeface="Arial" panose="020B0604020202020204"/>
                <a:cs typeface="Arial" panose="020B0604020202020204"/>
              </a:rPr>
              <a:t>FP</a:t>
            </a:r>
            <a:r>
              <a:rPr sz="1650" kern="0" spc="-30" dirty="0">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650" kern="0" spc="-30" dirty="0">
                <a:solidFill>
                  <a:srgbClr val="CC0000">
                    <a:alpha val="100000"/>
                  </a:srgbClr>
                </a:solidFill>
                <a:latin typeface="Arial" panose="020B0604020202020204"/>
                <a:ea typeface="Arial" panose="020B0604020202020204"/>
                <a:cs typeface="Arial" panose="020B0604020202020204"/>
              </a:rPr>
              <a:t>UFC</a:t>
            </a:r>
            <a:r>
              <a:rPr sz="1650" kern="0" spc="-430" dirty="0">
                <a:solidFill>
                  <a:srgbClr val="CC0000">
                    <a:alpha val="100000"/>
                  </a:srgbClr>
                </a:solidFill>
                <a:latin typeface="Arial" panose="020B0604020202020204"/>
                <a:ea typeface="Arial" panose="020B0604020202020204"/>
                <a:cs typeface="Arial" panose="020B0604020202020204"/>
              </a:rPr>
              <a:t> </a:t>
            </a:r>
            <a:r>
              <a:rPr sz="1650" kern="0" spc="-30" dirty="0">
                <a:solidFill>
                  <a:srgbClr val="CC0000">
                    <a:alpha val="100000"/>
                  </a:srgbClr>
                </a:solidFill>
                <a:latin typeface="Arial" panose="020B0604020202020204"/>
                <a:ea typeface="Arial" panose="020B0604020202020204"/>
                <a:cs typeface="Arial" panose="020B0604020202020204"/>
              </a:rPr>
              <a:t>×</a:t>
            </a:r>
            <a:r>
              <a:rPr sz="1650" kern="0" spc="-30" dirty="0">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650" kern="0" spc="-30" dirty="0">
                <a:solidFill>
                  <a:srgbClr val="CC0000">
                    <a:alpha val="100000"/>
                  </a:srgbClr>
                </a:solidFill>
                <a:latin typeface="Arial" panose="020B0604020202020204"/>
                <a:ea typeface="Arial" panose="020B0604020202020204"/>
                <a:cs typeface="Arial" panose="020B0604020202020204"/>
              </a:rPr>
              <a:t>0.65</a:t>
            </a:r>
            <a:r>
              <a:rPr sz="1650" kern="0" spc="-30" dirty="0">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650" kern="0" spc="-30" dirty="0">
                <a:solidFill>
                  <a:srgbClr val="CC0000">
                    <a:alpha val="100000"/>
                  </a:srgbClr>
                </a:solidFill>
                <a:latin typeface="Arial" panose="020B0604020202020204"/>
                <a:ea typeface="Arial" panose="020B0604020202020204"/>
                <a:cs typeface="Arial" panose="020B0604020202020204"/>
              </a:rPr>
              <a:t>0.</a:t>
            </a:r>
            <a:r>
              <a:rPr sz="1650" kern="0" spc="-40" dirty="0">
                <a:solidFill>
                  <a:srgbClr val="CC0000">
                    <a:alpha val="100000"/>
                  </a:srgbClr>
                </a:solidFill>
                <a:latin typeface="Arial" panose="020B0604020202020204"/>
                <a:ea typeface="Arial" panose="020B0604020202020204"/>
                <a:cs typeface="Arial" panose="020B0604020202020204"/>
              </a:rPr>
              <a:t>01×ΣF</a:t>
            </a:r>
            <a:r>
              <a:rPr sz="1650" kern="0" spc="-40" baseline="-18000" dirty="0">
                <a:solidFill>
                  <a:srgbClr val="D81E00">
                    <a:alpha val="100000"/>
                  </a:srgbClr>
                </a:solidFill>
                <a:latin typeface="Arial" panose="020B0604020202020204"/>
                <a:ea typeface="Arial" panose="020B0604020202020204"/>
                <a:cs typeface="Arial" panose="020B0604020202020204"/>
              </a:rPr>
              <a:t>i</a:t>
            </a:r>
            <a:r>
              <a:rPr sz="1050" kern="0" spc="160" dirty="0">
                <a:solidFill>
                  <a:srgbClr val="D81E00">
                    <a:alpha val="100000"/>
                  </a:srgbClr>
                </a:solidFill>
                <a:latin typeface="Arial" panose="020B0604020202020204"/>
                <a:ea typeface="Arial" panose="020B0604020202020204"/>
                <a:cs typeface="Arial" panose="020B0604020202020204"/>
              </a:rPr>
              <a:t> </a:t>
            </a:r>
            <a:r>
              <a:rPr sz="1650" kern="0" spc="-40" dirty="0">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1650" dirty="0"/>
          </a:p>
        </p:txBody>
      </p:sp>
      <p:sp>
        <p:nvSpPr>
          <p:cNvPr id="260" name="rect"/>
          <p:cNvSpPr/>
          <p:nvPr/>
        </p:nvSpPr>
        <p:spPr>
          <a:xfrm>
            <a:off x="0" y="4773201"/>
            <a:ext cx="9142961" cy="370298"/>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276" name="textbox 276"/>
          <p:cNvSpPr/>
          <p:nvPr/>
        </p:nvSpPr>
        <p:spPr>
          <a:xfrm>
            <a:off x="5040024" y="1139344"/>
            <a:ext cx="2438876" cy="206693"/>
          </a:xfrm>
          <a:prstGeom prst="rect">
            <a:avLst/>
          </a:prstGeom>
        </p:spPr>
        <p:txBody>
          <a:bodyPr vert="horz" wrap="square" lIns="0" tIns="0" rIns="0" bIns="0"/>
          <a:lstStyle/>
          <a:p>
            <a:pPr algn="l" rtl="0" eaLnBrk="0">
              <a:lnSpc>
                <a:spcPct val="86000"/>
              </a:lnSpc>
            </a:pPr>
            <a:endParaRPr lang="en-US" altLang="en-US" sz="100" dirty="0"/>
          </a:p>
          <a:p>
            <a:pPr marL="12700" algn="l" rtl="0" eaLnBrk="0">
              <a:lnSpc>
                <a:spcPct val="91000"/>
              </a:lnSpc>
            </a:pPr>
            <a:r>
              <a:rPr sz="1350"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系统复杂度调整值</a:t>
            </a:r>
            <a:r>
              <a:rPr sz="1350" kern="0" spc="13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350" kern="0" spc="-10" dirty="0">
                <a:solidFill>
                  <a:srgbClr val="0033CC">
                    <a:alpha val="100000"/>
                  </a:srgbClr>
                </a:solidFill>
                <a:latin typeface="Arial" panose="020B0604020202020204"/>
                <a:ea typeface="Arial" panose="020B0604020202020204"/>
                <a:cs typeface="Arial" panose="020B0604020202020204"/>
              </a:rPr>
              <a:t>Fi</a:t>
            </a:r>
            <a:r>
              <a:rPr sz="1350"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：取值 0</a:t>
            </a:r>
            <a:r>
              <a:rPr sz="1350" kern="0" spc="-10" dirty="0">
                <a:solidFill>
                  <a:srgbClr val="0033CC">
                    <a:alpha val="100000"/>
                  </a:srgbClr>
                </a:solidFill>
                <a:latin typeface="Arial" panose="020B0604020202020204"/>
                <a:ea typeface="Arial" panose="020B0604020202020204"/>
                <a:cs typeface="Arial" panose="020B0604020202020204"/>
              </a:rPr>
              <a:t>..5</a:t>
            </a:r>
            <a:endParaRPr lang="en-US" altLang="en-US" sz="1350" dirty="0"/>
          </a:p>
        </p:txBody>
      </p:sp>
      <p:sp>
        <p:nvSpPr>
          <p:cNvPr id="280" name="textbox 280"/>
          <p:cNvSpPr/>
          <p:nvPr/>
        </p:nvSpPr>
        <p:spPr>
          <a:xfrm>
            <a:off x="736094" y="1144755"/>
            <a:ext cx="1399698" cy="205740"/>
          </a:xfrm>
          <a:prstGeom prst="rect">
            <a:avLst/>
          </a:prstGeom>
        </p:spPr>
        <p:txBody>
          <a:bodyPr vert="horz" wrap="square" lIns="0" tIns="0" rIns="0" bIns="0"/>
          <a:lstStyle/>
          <a:p>
            <a:pPr algn="l" rtl="0" eaLnBrk="0">
              <a:lnSpc>
                <a:spcPct val="77000"/>
              </a:lnSpc>
            </a:pPr>
            <a:endParaRPr lang="en-US" altLang="en-US" sz="100" dirty="0"/>
          </a:p>
          <a:p>
            <a:pPr algn="r" rtl="0" eaLnBrk="0">
              <a:lnSpc>
                <a:spcPct val="91000"/>
              </a:lnSpc>
            </a:pPr>
            <a:r>
              <a:rPr sz="1350" kern="0" spc="-16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信息域加权因子 </a:t>
            </a:r>
            <a:r>
              <a:rPr sz="1350" kern="0" spc="-160" dirty="0">
                <a:solidFill>
                  <a:srgbClr val="004D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1350" dirty="0"/>
          </a:p>
        </p:txBody>
      </p:sp>
      <p:sp>
        <p:nvSpPr>
          <p:cNvPr id="3" name="标题 2"/>
          <p:cNvSpPr>
            <a:spLocks noGrp="1"/>
          </p:cNvSpPr>
          <p:nvPr>
            <p:ph type="title"/>
          </p:nvPr>
        </p:nvSpPr>
        <p:spPr/>
        <p:txBody>
          <a:bodyPr/>
          <a:p>
            <a:r>
              <a:rPr lang="zh-CN" altLang="en-US" dirty="0"/>
              <a:t>功能点方法</a:t>
            </a:r>
            <a:endParaRPr lang="en-US" altLang="zh-CN"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2" name="table 282"/>
          <p:cNvGraphicFramePr>
            <a:graphicFrameLocks noGrp="1"/>
          </p:cNvGraphicFramePr>
          <p:nvPr/>
        </p:nvGraphicFramePr>
        <p:xfrm>
          <a:off x="974577" y="3012242"/>
          <a:ext cx="7279640" cy="1268730"/>
        </p:xfrm>
        <a:graphic>
          <a:graphicData uri="http://schemas.openxmlformats.org/drawingml/2006/table">
            <a:tbl>
              <a:tblPr/>
              <a:tblGrid>
                <a:gridCol w="1200785"/>
                <a:gridCol w="809625"/>
                <a:gridCol w="749935"/>
                <a:gridCol w="4519295"/>
              </a:tblGrid>
              <a:tr h="307340">
                <a:tc>
                  <a:txBody>
                    <a:bodyPr/>
                    <a:lstStyle/>
                    <a:p>
                      <a:pPr algn="l" rtl="0" eaLnBrk="0">
                        <a:lnSpc>
                          <a:spcPct val="101000"/>
                        </a:lnSpc>
                      </a:pPr>
                      <a:endParaRPr lang="en-US" altLang="en-US" sz="525" dirty="0"/>
                    </a:p>
                    <a:p>
                      <a:pPr algn="l" rtl="0" eaLnBrk="0">
                        <a:lnSpc>
                          <a:spcPct val="6000"/>
                        </a:lnSpc>
                      </a:pPr>
                      <a:endParaRPr lang="en-US" altLang="en-US" sz="100" dirty="0"/>
                    </a:p>
                    <a:p>
                      <a:pPr marL="591820" algn="l" rtl="0" eaLnBrk="0">
                        <a:lnSpc>
                          <a:spcPct val="90000"/>
                        </a:lnSpc>
                      </a:pP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类型</a:t>
                      </a:r>
                      <a:endParaRPr lang="en-US" altLang="en-US" sz="1200" dirty="0"/>
                    </a:p>
                  </a:txBody>
                  <a:tcPr marL="0" marR="0" marT="0" marB="0" vert="horz">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4000"/>
                        </a:lnSpc>
                      </a:pPr>
                      <a:endParaRPr lang="en-US" altLang="en-US" sz="600" dirty="0"/>
                    </a:p>
                    <a:p>
                      <a:pPr marL="477520" algn="l" rtl="0" eaLnBrk="0">
                        <a:lnSpc>
                          <a:spcPct val="80000"/>
                        </a:lnSpc>
                        <a:spcBef>
                          <a:spcPts val="5"/>
                        </a:spcBef>
                      </a:pPr>
                      <a:r>
                        <a:rPr sz="1200" kern="0" spc="-10" dirty="0">
                          <a:solidFill>
                            <a:srgbClr val="000000">
                              <a:alpha val="100000"/>
                            </a:srgbClr>
                          </a:solidFill>
                          <a:latin typeface="Arial" panose="020B0604020202020204"/>
                          <a:ea typeface="Arial" panose="020B0604020202020204"/>
                          <a:cs typeface="Arial" panose="020B0604020202020204"/>
                        </a:rPr>
                        <a:t>A</a:t>
                      </a:r>
                      <a:endParaRPr lang="en-US" altLang="en-US" sz="1200" dirty="0"/>
                    </a:p>
                  </a:txBody>
                  <a:tcPr marL="0" marR="0" marT="0" marB="0" vert="horz">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4000"/>
                        </a:lnSpc>
                      </a:pPr>
                      <a:endParaRPr lang="en-US" altLang="en-US" sz="600" dirty="0"/>
                    </a:p>
                    <a:p>
                      <a:pPr marL="526415" algn="l" rtl="0" eaLnBrk="0">
                        <a:lnSpc>
                          <a:spcPct val="80000"/>
                        </a:lnSpc>
                        <a:spcBef>
                          <a:spcPts val="5"/>
                        </a:spcBef>
                      </a:pPr>
                      <a:r>
                        <a:rPr sz="1200" kern="0" spc="-10" dirty="0">
                          <a:solidFill>
                            <a:srgbClr val="000000">
                              <a:alpha val="100000"/>
                            </a:srgbClr>
                          </a:solidFill>
                          <a:latin typeface="Arial" panose="020B0604020202020204"/>
                          <a:ea typeface="Arial" panose="020B0604020202020204"/>
                          <a:cs typeface="Arial" panose="020B0604020202020204"/>
                        </a:rPr>
                        <a:t>B</a:t>
                      </a:r>
                      <a:endParaRPr lang="en-US" altLang="en-US" sz="1200" dirty="0"/>
                    </a:p>
                  </a:txBody>
                  <a:tcPr marL="0" marR="0" marT="0" marB="0" vert="horz">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lang="en-US" altLang="en-US" sz="525" dirty="0"/>
                    </a:p>
                    <a:p>
                      <a:pPr algn="l" rtl="0" eaLnBrk="0">
                        <a:lnSpc>
                          <a:spcPct val="6000"/>
                        </a:lnSpc>
                      </a:pPr>
                      <a:endParaRPr lang="en-US" altLang="en-US" sz="100" dirty="0"/>
                    </a:p>
                    <a:p>
                      <a:pPr marL="2881630" algn="l" rtl="0" eaLnBrk="0">
                        <a:lnSpc>
                          <a:spcPct val="90000"/>
                        </a:lnSpc>
                      </a:pP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说明</a:t>
                      </a:r>
                      <a:endParaRPr lang="en-US" altLang="en-US" sz="1200" dirty="0"/>
                    </a:p>
                  </a:txBody>
                  <a:tcPr marL="0" marR="0" marT="0" marB="0" vert="horz">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5610">
                <a:tc>
                  <a:txBody>
                    <a:bodyPr/>
                    <a:lstStyle/>
                    <a:p>
                      <a:pPr algn="l" rtl="0" eaLnBrk="0">
                        <a:lnSpc>
                          <a:spcPct val="123000"/>
                        </a:lnSpc>
                      </a:pPr>
                      <a:endParaRPr lang="en-US" altLang="en-US" sz="750" dirty="0"/>
                    </a:p>
                    <a:p>
                      <a:pPr algn="l" rtl="0" eaLnBrk="0">
                        <a:lnSpc>
                          <a:spcPct val="10000"/>
                        </a:lnSpc>
                      </a:pPr>
                      <a:endParaRPr lang="en-US" altLang="en-US" sz="100" dirty="0"/>
                    </a:p>
                    <a:p>
                      <a:pPr marL="490220" algn="l" rtl="0" eaLnBrk="0">
                        <a:lnSpc>
                          <a:spcPct val="91000"/>
                        </a:lnSpc>
                      </a:pP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组织型</a:t>
                      </a:r>
                      <a:endParaRPr lang="en-US" altLang="en-US" sz="1200" dirty="0"/>
                    </a:p>
                  </a:txBody>
                  <a:tcPr marL="0" marR="0" marT="0" marB="0" vert="horz">
                    <a:lnL>
                      <a:noFill/>
                    </a:lnL>
                    <a:lnR>
                      <a:noFill/>
                    </a:lnR>
                    <a:lnT w="12700" cap="flat" cmpd="sng" algn="ctr">
                      <a:solidFill>
                        <a:srgbClr val="000000"/>
                      </a:solidFill>
                      <a:prstDash val="solid"/>
                      <a:round/>
                      <a:headEnd type="none" w="med" len="med"/>
                      <a:tailEnd type="none" w="med" len="med"/>
                    </a:lnT>
                    <a:lnB>
                      <a:noFill/>
                    </a:lnB>
                  </a:tcPr>
                </a:tc>
                <a:tc>
                  <a:txBody>
                    <a:bodyPr/>
                    <a:lstStyle/>
                    <a:p>
                      <a:pPr algn="l" rtl="0" eaLnBrk="0">
                        <a:lnSpc>
                          <a:spcPct val="137000"/>
                        </a:lnSpc>
                      </a:pPr>
                      <a:endParaRPr lang="en-US" altLang="en-US" sz="750" dirty="0"/>
                    </a:p>
                    <a:p>
                      <a:pPr algn="l" rtl="0" eaLnBrk="0">
                        <a:lnSpc>
                          <a:spcPct val="8000"/>
                        </a:lnSpc>
                      </a:pPr>
                      <a:endParaRPr lang="en-US" altLang="en-US" sz="100" dirty="0"/>
                    </a:p>
                    <a:p>
                      <a:pPr marL="407670" algn="l" rtl="0" eaLnBrk="0">
                        <a:lnSpc>
                          <a:spcPct val="80000"/>
                        </a:lnSpc>
                      </a:pPr>
                      <a:r>
                        <a:rPr sz="1200" kern="0" spc="-20" dirty="0">
                          <a:solidFill>
                            <a:srgbClr val="000000">
                              <a:alpha val="100000"/>
                            </a:srgbClr>
                          </a:solidFill>
                          <a:latin typeface="Arial" panose="020B0604020202020204"/>
                          <a:ea typeface="Arial" panose="020B0604020202020204"/>
                          <a:cs typeface="Arial" panose="020B0604020202020204"/>
                        </a:rPr>
                        <a:t>2.4</a:t>
                      </a:r>
                      <a:endParaRPr lang="en-US" altLang="en-US" sz="1200" dirty="0"/>
                    </a:p>
                  </a:txBody>
                  <a:tcPr marL="0" marR="0" marT="0" marB="0" vert="horz">
                    <a:lnL>
                      <a:noFill/>
                    </a:lnL>
                    <a:lnR>
                      <a:noFill/>
                    </a:lnR>
                    <a:lnT w="12700" cap="flat" cmpd="sng" algn="ctr">
                      <a:solidFill>
                        <a:srgbClr val="000000"/>
                      </a:solidFill>
                      <a:prstDash val="solid"/>
                      <a:round/>
                      <a:headEnd type="none" w="med" len="med"/>
                      <a:tailEnd type="none" w="med" len="med"/>
                    </a:lnT>
                    <a:lnB>
                      <a:noFill/>
                    </a:lnB>
                  </a:tcPr>
                </a:tc>
                <a:tc>
                  <a:txBody>
                    <a:bodyPr/>
                    <a:lstStyle/>
                    <a:p>
                      <a:pPr algn="l" rtl="0" eaLnBrk="0">
                        <a:lnSpc>
                          <a:spcPct val="137000"/>
                        </a:lnSpc>
                      </a:pPr>
                      <a:endParaRPr lang="en-US" altLang="en-US" sz="750" dirty="0"/>
                    </a:p>
                    <a:p>
                      <a:pPr algn="l" rtl="0" eaLnBrk="0">
                        <a:lnSpc>
                          <a:spcPct val="6000"/>
                        </a:lnSpc>
                      </a:pPr>
                      <a:endParaRPr lang="en-US" altLang="en-US" sz="100" dirty="0"/>
                    </a:p>
                    <a:p>
                      <a:pPr marL="403860" algn="l" rtl="0" eaLnBrk="0">
                        <a:lnSpc>
                          <a:spcPct val="80000"/>
                        </a:lnSpc>
                      </a:pPr>
                      <a:r>
                        <a:rPr sz="1200" kern="0" spc="-40" dirty="0">
                          <a:solidFill>
                            <a:srgbClr val="000000">
                              <a:alpha val="100000"/>
                            </a:srgbClr>
                          </a:solidFill>
                          <a:latin typeface="Arial" panose="020B0604020202020204"/>
                          <a:ea typeface="Arial" panose="020B0604020202020204"/>
                          <a:cs typeface="Arial" panose="020B0604020202020204"/>
                        </a:rPr>
                        <a:t>1.05</a:t>
                      </a:r>
                      <a:endParaRPr lang="en-US" altLang="en-US" sz="1200" dirty="0"/>
                    </a:p>
                  </a:txBody>
                  <a:tcPr marL="0" marR="0" marT="0" marB="0" vert="horz">
                    <a:lnL>
                      <a:noFill/>
                    </a:lnL>
                    <a:lnR>
                      <a:noFill/>
                    </a:lnR>
                    <a:lnT w="12700" cap="flat" cmpd="sng" algn="ctr">
                      <a:solidFill>
                        <a:srgbClr val="000000"/>
                      </a:solidFill>
                      <a:prstDash val="solid"/>
                      <a:round/>
                      <a:headEnd type="none" w="med" len="med"/>
                      <a:tailEnd type="none" w="med" len="med"/>
                    </a:lnT>
                    <a:lnB>
                      <a:noFill/>
                    </a:lnB>
                  </a:tcPr>
                </a:tc>
                <a:tc>
                  <a:txBody>
                    <a:bodyPr/>
                    <a:lstStyle/>
                    <a:p>
                      <a:pPr algn="l" rtl="0" eaLnBrk="0">
                        <a:lnSpc>
                          <a:spcPct val="109000"/>
                        </a:lnSpc>
                      </a:pPr>
                      <a:endParaRPr lang="en-US" altLang="en-US" sz="300" dirty="0"/>
                    </a:p>
                    <a:p>
                      <a:pPr marL="231775" indent="-635" algn="l" rtl="0" eaLnBrk="0">
                        <a:lnSpc>
                          <a:spcPct val="95000"/>
                        </a:lnSpc>
                        <a:spcBef>
                          <a:spcPts val="5"/>
                        </a:spcBef>
                      </a:pP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相对小的团队在一个高度熟悉的内部环境中开发规模较小 ，接口</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需求较灵活的系统。</a:t>
                      </a:r>
                      <a:endParaRPr lang="en-US" altLang="en-US" sz="1200" dirty="0"/>
                    </a:p>
                  </a:txBody>
                  <a:tcPr marL="0" marR="0" marT="0" marB="0" vert="horz">
                    <a:lnL>
                      <a:noFill/>
                    </a:lnL>
                    <a:lnR>
                      <a:noFill/>
                    </a:lnR>
                    <a:lnT w="12700" cap="flat" cmpd="sng" algn="ctr">
                      <a:solidFill>
                        <a:srgbClr val="000000"/>
                      </a:solidFill>
                      <a:prstDash val="solid"/>
                      <a:round/>
                      <a:headEnd type="none" w="med" len="med"/>
                      <a:tailEnd type="none" w="med" len="med"/>
                    </a:lnT>
                    <a:lnB>
                      <a:noFill/>
                    </a:lnB>
                  </a:tcPr>
                </a:tc>
              </a:tr>
              <a:tr h="257175">
                <a:tc>
                  <a:txBody>
                    <a:bodyPr/>
                    <a:lstStyle/>
                    <a:p>
                      <a:pPr algn="l" rtl="0" eaLnBrk="0">
                        <a:lnSpc>
                          <a:spcPct val="122000"/>
                        </a:lnSpc>
                      </a:pPr>
                      <a:endParaRPr lang="en-US" altLang="en-US" sz="300" dirty="0"/>
                    </a:p>
                    <a:p>
                      <a:pPr marL="490220" algn="l" rtl="0" eaLnBrk="0">
                        <a:lnSpc>
                          <a:spcPct val="90000"/>
                        </a:lnSpc>
                        <a:spcBef>
                          <a:spcPts val="5"/>
                        </a:spcBef>
                      </a:pP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嵌入型</a:t>
                      </a:r>
                      <a:endParaRPr lang="en-US" altLang="en-US" sz="1200" dirty="0"/>
                    </a:p>
                  </a:txBody>
                  <a:tcPr marL="0" marR="0" marT="0" marB="0" vert="horz">
                    <a:lnL>
                      <a:noFill/>
                    </a:lnL>
                    <a:lnR>
                      <a:noFill/>
                    </a:lnR>
                    <a:lnT>
                      <a:noFill/>
                    </a:lnT>
                    <a:lnB>
                      <a:noFill/>
                    </a:lnB>
                  </a:tcPr>
                </a:tc>
                <a:tc>
                  <a:txBody>
                    <a:bodyPr/>
                    <a:lstStyle/>
                    <a:p>
                      <a:pPr algn="l" rtl="0" eaLnBrk="0">
                        <a:lnSpc>
                          <a:spcPct val="102000"/>
                        </a:lnSpc>
                      </a:pPr>
                      <a:endParaRPr lang="en-US" altLang="en-US" sz="450" dirty="0"/>
                    </a:p>
                    <a:p>
                      <a:pPr marL="410210" algn="l" rtl="0" eaLnBrk="0">
                        <a:lnSpc>
                          <a:spcPct val="80000"/>
                        </a:lnSpc>
                        <a:spcBef>
                          <a:spcPts val="0"/>
                        </a:spcBef>
                      </a:pPr>
                      <a:r>
                        <a:rPr sz="1200" kern="0" spc="-20" dirty="0">
                          <a:solidFill>
                            <a:srgbClr val="000000">
                              <a:alpha val="100000"/>
                            </a:srgbClr>
                          </a:solidFill>
                          <a:latin typeface="Arial" panose="020B0604020202020204"/>
                          <a:ea typeface="Arial" panose="020B0604020202020204"/>
                          <a:cs typeface="Arial" panose="020B0604020202020204"/>
                        </a:rPr>
                        <a:t>3.6</a:t>
                      </a:r>
                      <a:endParaRPr lang="en-US" altLang="en-US" sz="1200" dirty="0"/>
                    </a:p>
                  </a:txBody>
                  <a:tcPr marL="0" marR="0" marT="0" marB="0" vert="horz">
                    <a:lnL>
                      <a:noFill/>
                    </a:lnL>
                    <a:lnR>
                      <a:noFill/>
                    </a:lnR>
                    <a:lnT>
                      <a:noFill/>
                    </a:lnT>
                    <a:lnB>
                      <a:noFill/>
                    </a:lnB>
                  </a:tcPr>
                </a:tc>
                <a:tc>
                  <a:txBody>
                    <a:bodyPr/>
                    <a:lstStyle/>
                    <a:p>
                      <a:pPr algn="l" rtl="0" eaLnBrk="0">
                        <a:lnSpc>
                          <a:spcPct val="102000"/>
                        </a:lnSpc>
                      </a:pPr>
                      <a:endParaRPr lang="en-US" altLang="en-US" sz="450" dirty="0"/>
                    </a:p>
                    <a:p>
                      <a:pPr marL="460375" algn="l" rtl="0" eaLnBrk="0">
                        <a:lnSpc>
                          <a:spcPct val="80000"/>
                        </a:lnSpc>
                        <a:spcBef>
                          <a:spcPts val="5"/>
                        </a:spcBef>
                      </a:pPr>
                      <a:r>
                        <a:rPr sz="1200" kern="0" spc="-50" dirty="0">
                          <a:solidFill>
                            <a:srgbClr val="000000">
                              <a:alpha val="100000"/>
                            </a:srgbClr>
                          </a:solidFill>
                          <a:latin typeface="Arial" panose="020B0604020202020204"/>
                          <a:ea typeface="Arial" panose="020B0604020202020204"/>
                          <a:cs typeface="Arial" panose="020B0604020202020204"/>
                        </a:rPr>
                        <a:t>1.2</a:t>
                      </a:r>
                      <a:endParaRPr lang="en-US" altLang="en-US" sz="1200" dirty="0"/>
                    </a:p>
                  </a:txBody>
                  <a:tcPr marL="0" marR="0" marT="0" marB="0" vert="horz">
                    <a:lnL>
                      <a:noFill/>
                    </a:lnL>
                    <a:lnR>
                      <a:noFill/>
                    </a:lnR>
                    <a:lnT>
                      <a:noFill/>
                    </a:lnT>
                    <a:lnB>
                      <a:noFill/>
                    </a:lnB>
                  </a:tcPr>
                </a:tc>
                <a:tc>
                  <a:txBody>
                    <a:bodyPr/>
                    <a:lstStyle/>
                    <a:p>
                      <a:pPr algn="l" rtl="0" eaLnBrk="0">
                        <a:lnSpc>
                          <a:spcPct val="118000"/>
                        </a:lnSpc>
                      </a:pPr>
                      <a:endParaRPr lang="en-US" altLang="en-US" sz="300" dirty="0"/>
                    </a:p>
                    <a:p>
                      <a:pPr marL="232410" algn="l" rtl="0" eaLnBrk="0">
                        <a:lnSpc>
                          <a:spcPct val="91000"/>
                        </a:lnSpc>
                        <a:spcBef>
                          <a:spcPts val="5"/>
                        </a:spcBef>
                      </a:pP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开发的产品在高度约束的条件下进行 ，对系统改变的成本很高。</a:t>
                      </a:r>
                      <a:endParaRPr lang="en-US" altLang="en-US" sz="1200" dirty="0"/>
                    </a:p>
                  </a:txBody>
                  <a:tcPr marL="0" marR="0" marT="0" marB="0" vert="horz">
                    <a:lnL>
                      <a:noFill/>
                    </a:lnL>
                    <a:lnR>
                      <a:noFill/>
                    </a:lnR>
                    <a:lnT>
                      <a:noFill/>
                    </a:lnT>
                    <a:lnB>
                      <a:noFill/>
                    </a:lnB>
                  </a:tcPr>
                </a:tc>
              </a:tr>
              <a:tr h="268605">
                <a:tc>
                  <a:txBody>
                    <a:bodyPr/>
                    <a:lstStyle/>
                    <a:p>
                      <a:pPr algn="l" rtl="0" eaLnBrk="0">
                        <a:lnSpc>
                          <a:spcPct val="115000"/>
                        </a:lnSpc>
                      </a:pPr>
                      <a:endParaRPr lang="en-US" altLang="en-US" sz="300" dirty="0"/>
                    </a:p>
                    <a:p>
                      <a:pPr marL="388620" algn="l" rtl="0" eaLnBrk="0">
                        <a:lnSpc>
                          <a:spcPct val="91000"/>
                        </a:lnSpc>
                        <a:spcBef>
                          <a:spcPts val="0"/>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半独立型</a:t>
                      </a:r>
                      <a:endParaRPr lang="en-US" altLang="en-US" sz="1200" dirty="0"/>
                    </a:p>
                  </a:txBody>
                  <a:tcPr marL="0" marR="0" marT="0" marB="0" vert="horz">
                    <a:lnL>
                      <a:noFill/>
                    </a:lnL>
                    <a:lnR>
                      <a:noFill/>
                    </a:lnR>
                    <a:lnT>
                      <a:noFill/>
                    </a:lnT>
                    <a:lnB w="25400" cap="flat" cmpd="sng" algn="ctr">
                      <a:solidFill>
                        <a:srgbClr val="000000"/>
                      </a:solidFill>
                      <a:prstDash val="solid"/>
                      <a:round/>
                      <a:headEnd type="none" w="med" len="med"/>
                      <a:tailEnd type="none" w="med" len="med"/>
                    </a:lnB>
                  </a:tcPr>
                </a:tc>
                <a:tc>
                  <a:txBody>
                    <a:bodyPr/>
                    <a:lstStyle/>
                    <a:p>
                      <a:pPr algn="l" rtl="0" eaLnBrk="0">
                        <a:lnSpc>
                          <a:spcPct val="119000"/>
                        </a:lnSpc>
                      </a:pPr>
                      <a:endParaRPr lang="en-US" altLang="en-US" sz="375" dirty="0"/>
                    </a:p>
                    <a:p>
                      <a:pPr marL="410210" algn="l" rtl="0" eaLnBrk="0">
                        <a:lnSpc>
                          <a:spcPct val="80000"/>
                        </a:lnSpc>
                        <a:spcBef>
                          <a:spcPts val="5"/>
                        </a:spcBef>
                      </a:pPr>
                      <a:r>
                        <a:rPr sz="1200" kern="0" spc="-20" dirty="0">
                          <a:solidFill>
                            <a:srgbClr val="000000">
                              <a:alpha val="100000"/>
                            </a:srgbClr>
                          </a:solidFill>
                          <a:latin typeface="Arial" panose="020B0604020202020204"/>
                          <a:ea typeface="Arial" panose="020B0604020202020204"/>
                          <a:cs typeface="Arial" panose="020B0604020202020204"/>
                        </a:rPr>
                        <a:t>3.0</a:t>
                      </a:r>
                      <a:endParaRPr lang="en-US" altLang="en-US" sz="1200" dirty="0"/>
                    </a:p>
                  </a:txBody>
                  <a:tcPr marL="0" marR="0" marT="0" marB="0" vert="horz">
                    <a:lnL>
                      <a:noFill/>
                    </a:lnL>
                    <a:lnR>
                      <a:noFill/>
                    </a:lnR>
                    <a:lnT>
                      <a:noFill/>
                    </a:lnT>
                    <a:lnB w="25400" cap="flat" cmpd="sng" algn="ctr">
                      <a:solidFill>
                        <a:srgbClr val="000000"/>
                      </a:solidFill>
                      <a:prstDash val="solid"/>
                      <a:round/>
                      <a:headEnd type="none" w="med" len="med"/>
                      <a:tailEnd type="none" w="med" len="med"/>
                    </a:lnB>
                  </a:tcPr>
                </a:tc>
                <a:tc>
                  <a:txBody>
                    <a:bodyPr/>
                    <a:lstStyle/>
                    <a:p>
                      <a:pPr algn="l" rtl="0" eaLnBrk="0">
                        <a:lnSpc>
                          <a:spcPct val="119000"/>
                        </a:lnSpc>
                      </a:pPr>
                      <a:endParaRPr lang="en-US" altLang="en-US" sz="375" dirty="0"/>
                    </a:p>
                    <a:p>
                      <a:pPr marL="403860" algn="l" rtl="0" eaLnBrk="0">
                        <a:lnSpc>
                          <a:spcPct val="80000"/>
                        </a:lnSpc>
                        <a:spcBef>
                          <a:spcPts val="5"/>
                        </a:spcBef>
                      </a:pPr>
                      <a:r>
                        <a:rPr sz="1200" kern="0" spc="-40" dirty="0">
                          <a:solidFill>
                            <a:srgbClr val="000000">
                              <a:alpha val="100000"/>
                            </a:srgbClr>
                          </a:solidFill>
                          <a:latin typeface="Arial" panose="020B0604020202020204"/>
                          <a:ea typeface="Arial" panose="020B0604020202020204"/>
                          <a:cs typeface="Arial" panose="020B0604020202020204"/>
                        </a:rPr>
                        <a:t>1.12</a:t>
                      </a:r>
                      <a:endParaRPr lang="en-US" altLang="en-US" sz="1200" dirty="0"/>
                    </a:p>
                  </a:txBody>
                  <a:tcPr marL="0" marR="0" marT="0" marB="0" vert="horz">
                    <a:lnL>
                      <a:noFill/>
                    </a:lnL>
                    <a:lnR>
                      <a:noFill/>
                    </a:lnR>
                    <a:lnT>
                      <a:noFill/>
                    </a:lnT>
                    <a:lnB w="25400" cap="flat" cmpd="sng" algn="ctr">
                      <a:solidFill>
                        <a:srgbClr val="000000"/>
                      </a:solidFill>
                      <a:prstDash val="solid"/>
                      <a:round/>
                      <a:headEnd type="none" w="med" len="med"/>
                      <a:tailEnd type="none" w="med" len="med"/>
                    </a:lnB>
                  </a:tcPr>
                </a:tc>
                <a:tc>
                  <a:txBody>
                    <a:bodyPr/>
                    <a:lstStyle/>
                    <a:p>
                      <a:pPr algn="l" rtl="0" eaLnBrk="0">
                        <a:lnSpc>
                          <a:spcPct val="119000"/>
                        </a:lnSpc>
                      </a:pPr>
                      <a:endParaRPr lang="en-US" altLang="en-US" sz="300" dirty="0"/>
                    </a:p>
                    <a:p>
                      <a:pPr marL="229870" algn="l" rtl="0" eaLnBrk="0">
                        <a:lnSpc>
                          <a:spcPct val="90000"/>
                        </a:lnSpc>
                        <a:spcBef>
                          <a:spcPts val="0"/>
                        </a:spcBef>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介于上述两者中间</a:t>
                      </a:r>
                      <a:endParaRPr lang="en-US" altLang="en-US" sz="1200" dirty="0"/>
                    </a:p>
                  </a:txBody>
                  <a:tcPr marL="0" marR="0" marT="0" marB="0" vert="horz">
                    <a:lnL>
                      <a:noFill/>
                    </a:lnL>
                    <a:lnR>
                      <a:noFill/>
                    </a:lnR>
                    <a:lnT>
                      <a:noFill/>
                    </a:lnT>
                    <a:lnB w="25400" cap="flat" cmpd="sng" algn="ctr">
                      <a:solidFill>
                        <a:srgbClr val="000000"/>
                      </a:solidFill>
                      <a:prstDash val="solid"/>
                      <a:round/>
                      <a:headEnd type="none" w="med" len="med"/>
                      <a:tailEnd type="none" w="med" len="med"/>
                    </a:lnB>
                  </a:tcPr>
                </a:tc>
              </a:tr>
            </a:tbl>
          </a:graphicData>
        </a:graphic>
      </p:graphicFrame>
      <p:sp>
        <p:nvSpPr>
          <p:cNvPr id="284" name="textbox 284"/>
          <p:cNvSpPr/>
          <p:nvPr/>
        </p:nvSpPr>
        <p:spPr>
          <a:xfrm>
            <a:off x="829416" y="1030925"/>
            <a:ext cx="7560469" cy="788194"/>
          </a:xfrm>
          <a:prstGeom prst="rect">
            <a:avLst/>
          </a:prstGeom>
          <a:solidFill>
            <a:srgbClr val="ECEBEB"/>
          </a:solidFill>
        </p:spPr>
        <p:txBody>
          <a:bodyPr vert="horz" wrap="square" lIns="0" tIns="0" rIns="0" bIns="0"/>
          <a:lstStyle/>
          <a:p>
            <a:pPr algn="l" rtl="0" eaLnBrk="0">
              <a:lnSpc>
                <a:spcPct val="109000"/>
              </a:lnSpc>
            </a:pPr>
            <a:endParaRPr lang="en-US" altLang="en-US" sz="750" dirty="0"/>
          </a:p>
          <a:p>
            <a:pPr algn="l" rtl="0" eaLnBrk="0">
              <a:lnSpc>
                <a:spcPct val="9000"/>
              </a:lnSpc>
            </a:pPr>
            <a:endParaRPr lang="en-US" altLang="en-US" sz="100" dirty="0"/>
          </a:p>
          <a:p>
            <a:pPr marL="219075" algn="l" rtl="0" eaLnBrk="0">
              <a:lnSpc>
                <a:spcPts val="2840"/>
              </a:lnSpc>
            </a:pPr>
            <a:r>
              <a:rPr sz="1650" kern="0" spc="-3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结构性成本模型</a:t>
            </a:r>
            <a:r>
              <a:rPr sz="1650" kern="0" spc="17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650" kern="0" spc="-30" dirty="0">
                <a:solidFill>
                  <a:srgbClr val="0033CC">
                    <a:alpha val="100000"/>
                  </a:srgbClr>
                </a:solidFill>
                <a:latin typeface="Arial" panose="020B0604020202020204"/>
                <a:ea typeface="Arial" panose="020B0604020202020204"/>
                <a:cs typeface="Arial" panose="020B0604020202020204"/>
              </a:rPr>
              <a:t>COCOMO</a:t>
            </a:r>
            <a:r>
              <a:rPr sz="16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650" kern="0" spc="-40" dirty="0">
                <a:solidFill>
                  <a:srgbClr val="000000">
                    <a:alpha val="100000"/>
                  </a:srgbClr>
                </a:solidFill>
                <a:latin typeface="Arial" panose="020B0604020202020204"/>
                <a:ea typeface="Arial" panose="020B0604020202020204"/>
                <a:cs typeface="Arial" panose="020B0604020202020204"/>
              </a:rPr>
              <a:t>COnstructive</a:t>
            </a:r>
            <a:r>
              <a:rPr sz="1650" kern="0" spc="170" dirty="0">
                <a:solidFill>
                  <a:srgbClr val="000000">
                    <a:alpha val="100000"/>
                  </a:srgbClr>
                </a:solidFill>
                <a:latin typeface="Arial" panose="020B0604020202020204"/>
                <a:ea typeface="Arial" panose="020B0604020202020204"/>
                <a:cs typeface="Arial" panose="020B0604020202020204"/>
              </a:rPr>
              <a:t> </a:t>
            </a:r>
            <a:r>
              <a:rPr sz="1650" kern="0" spc="-40" dirty="0">
                <a:solidFill>
                  <a:srgbClr val="000000">
                    <a:alpha val="100000"/>
                  </a:srgbClr>
                </a:solidFill>
                <a:latin typeface="Arial" panose="020B0604020202020204"/>
                <a:ea typeface="Arial" panose="020B0604020202020204"/>
                <a:cs typeface="Arial" panose="020B0604020202020204"/>
              </a:rPr>
              <a:t>COst</a:t>
            </a:r>
            <a:r>
              <a:rPr sz="1650" kern="0" spc="230" dirty="0">
                <a:solidFill>
                  <a:srgbClr val="000000">
                    <a:alpha val="100000"/>
                  </a:srgbClr>
                </a:solidFill>
                <a:latin typeface="Arial" panose="020B0604020202020204"/>
                <a:ea typeface="Arial" panose="020B0604020202020204"/>
                <a:cs typeface="Arial" panose="020B0604020202020204"/>
              </a:rPr>
              <a:t> </a:t>
            </a:r>
            <a:r>
              <a:rPr sz="1650" kern="0" spc="-40" dirty="0">
                <a:solidFill>
                  <a:srgbClr val="000000">
                    <a:alpha val="100000"/>
                  </a:srgbClr>
                </a:solidFill>
                <a:latin typeface="Arial" panose="020B0604020202020204"/>
                <a:ea typeface="Arial" panose="020B0604020202020204"/>
                <a:cs typeface="Arial" panose="020B0604020202020204"/>
              </a:rPr>
              <a:t>MOdel </a:t>
            </a:r>
            <a:r>
              <a:rPr sz="165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）是一种利用经验模型</a:t>
            </a:r>
            <a:endParaRPr lang="en-US" altLang="en-US" sz="1650" dirty="0"/>
          </a:p>
          <a:p>
            <a:pPr marL="219075" algn="l" rtl="0" eaLnBrk="0">
              <a:lnSpc>
                <a:spcPts val="3040"/>
              </a:lnSpc>
            </a:pPr>
            <a:r>
              <a:rPr sz="16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进行工作量和成本估算</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的方法。</a:t>
            </a:r>
            <a:endParaRPr lang="en-US" altLang="en-US" sz="1650" dirty="0"/>
          </a:p>
        </p:txBody>
      </p:sp>
      <p:sp>
        <p:nvSpPr>
          <p:cNvPr id="286" name="rect"/>
          <p:cNvSpPr/>
          <p:nvPr/>
        </p:nvSpPr>
        <p:spPr>
          <a:xfrm>
            <a:off x="0" y="4773201"/>
            <a:ext cx="9142961" cy="370298"/>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288" name="textbox 288"/>
          <p:cNvSpPr/>
          <p:nvPr/>
        </p:nvSpPr>
        <p:spPr>
          <a:xfrm>
            <a:off x="4645790" y="2006348"/>
            <a:ext cx="2952274" cy="898683"/>
          </a:xfrm>
          <a:prstGeom prst="rect">
            <a:avLst/>
          </a:prstGeom>
        </p:spPr>
        <p:txBody>
          <a:bodyPr vert="horz" wrap="square" lIns="0" tIns="0" rIns="0" bIns="0"/>
          <a:lstStyle/>
          <a:p>
            <a:pPr algn="l" rtl="0" eaLnBrk="0">
              <a:lnSpc>
                <a:spcPct val="89000"/>
              </a:lnSpc>
            </a:pPr>
            <a:endParaRPr lang="en-US" altLang="en-US" sz="100" dirty="0"/>
          </a:p>
          <a:p>
            <a:pPr marL="12700" algn="l" rtl="0" eaLnBrk="0">
              <a:lnSpc>
                <a:spcPct val="90000"/>
              </a:lnSpc>
            </a:pPr>
            <a:r>
              <a:rPr sz="1200" kern="0" spc="-40" dirty="0">
                <a:solidFill>
                  <a:srgbClr val="000000">
                    <a:alpha val="100000"/>
                  </a:srgbClr>
                </a:solidFill>
                <a:latin typeface="Arial" panose="020B0604020202020204"/>
                <a:ea typeface="Arial" panose="020B0604020202020204"/>
                <a:cs typeface="Arial" panose="020B0604020202020204"/>
              </a:rPr>
              <a:t>•</a:t>
            </a:r>
            <a:r>
              <a:rPr sz="1200" kern="0" spc="120" dirty="0">
                <a:solidFill>
                  <a:srgbClr val="000000">
                    <a:alpha val="100000"/>
                  </a:srgbClr>
                </a:solidFill>
                <a:latin typeface="Arial" panose="020B0604020202020204"/>
                <a:ea typeface="Arial" panose="020B0604020202020204"/>
                <a:cs typeface="Arial" panose="020B0604020202020204"/>
              </a:rPr>
              <a:t>   </a:t>
            </a:r>
            <a:r>
              <a:rPr sz="1200" kern="0" spc="-40" dirty="0">
                <a:solidFill>
                  <a:srgbClr val="000000">
                    <a:alpha val="100000"/>
                  </a:srgbClr>
                </a:solidFill>
                <a:latin typeface="Arial" panose="020B0604020202020204"/>
                <a:ea typeface="Arial" panose="020B0604020202020204"/>
                <a:cs typeface="Arial" panose="020B0604020202020204"/>
              </a:rPr>
              <a:t>PMnominal </a:t>
            </a:r>
            <a:r>
              <a:rPr sz="12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：人月工作量</a:t>
            </a:r>
            <a:endParaRPr lang="en-US" altLang="en-US" sz="1200" dirty="0"/>
          </a:p>
          <a:p>
            <a:pPr marL="12700" algn="l" rtl="0" eaLnBrk="0">
              <a:lnSpc>
                <a:spcPct val="90000"/>
              </a:lnSpc>
              <a:spcBef>
                <a:spcPts val="770"/>
              </a:spcBef>
            </a:pPr>
            <a:r>
              <a:rPr sz="1200" kern="0" spc="-50" dirty="0">
                <a:solidFill>
                  <a:srgbClr val="000000">
                    <a:alpha val="100000"/>
                  </a:srgbClr>
                </a:solidFill>
                <a:latin typeface="Arial" panose="020B0604020202020204"/>
                <a:ea typeface="Arial" panose="020B0604020202020204"/>
                <a:cs typeface="Arial" panose="020B0604020202020204"/>
              </a:rPr>
              <a:t>•</a:t>
            </a:r>
            <a:r>
              <a:rPr sz="1200" kern="0" spc="80" dirty="0">
                <a:solidFill>
                  <a:srgbClr val="000000">
                    <a:alpha val="100000"/>
                  </a:srgbClr>
                </a:solidFill>
                <a:latin typeface="Arial" panose="020B0604020202020204"/>
                <a:ea typeface="Arial" panose="020B0604020202020204"/>
                <a:cs typeface="Arial" panose="020B0604020202020204"/>
              </a:rPr>
              <a:t>   </a:t>
            </a:r>
            <a:r>
              <a:rPr sz="1200" kern="0" spc="-50" dirty="0">
                <a:solidFill>
                  <a:srgbClr val="000000">
                    <a:alpha val="100000"/>
                  </a:srgbClr>
                </a:solidFill>
                <a:latin typeface="Arial" panose="020B0604020202020204"/>
                <a:ea typeface="Arial" panose="020B0604020202020204"/>
                <a:cs typeface="Arial" panose="020B0604020202020204"/>
              </a:rPr>
              <a:t>A </a:t>
            </a:r>
            <a:r>
              <a:rPr sz="12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：工作量调整因子</a:t>
            </a:r>
            <a:endParaRPr lang="en-US" altLang="en-US" sz="1200" dirty="0"/>
          </a:p>
          <a:p>
            <a:pPr marL="12700" algn="l" rtl="0" eaLnBrk="0">
              <a:lnSpc>
                <a:spcPct val="90000"/>
              </a:lnSpc>
              <a:spcBef>
                <a:spcPts val="770"/>
              </a:spcBef>
            </a:pPr>
            <a:r>
              <a:rPr sz="1200" kern="0" spc="-50" dirty="0">
                <a:solidFill>
                  <a:srgbClr val="000000">
                    <a:alpha val="100000"/>
                  </a:srgbClr>
                </a:solidFill>
                <a:latin typeface="Arial" panose="020B0604020202020204"/>
                <a:ea typeface="Arial" panose="020B0604020202020204"/>
                <a:cs typeface="Arial" panose="020B0604020202020204"/>
              </a:rPr>
              <a:t>•    B </a:t>
            </a:r>
            <a:r>
              <a:rPr sz="12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：规模</a:t>
            </a:r>
            <a:r>
              <a:rPr sz="12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调整因子</a:t>
            </a:r>
            <a:endParaRPr lang="en-US" altLang="en-US" sz="1200" dirty="0"/>
          </a:p>
          <a:p>
            <a:pPr algn="l" rtl="0" eaLnBrk="0">
              <a:lnSpc>
                <a:spcPct val="104000"/>
              </a:lnSpc>
            </a:pPr>
            <a:endParaRPr lang="en-US" altLang="en-US" sz="450" dirty="0"/>
          </a:p>
          <a:p>
            <a:pPr marL="12700" algn="l" rtl="0" eaLnBrk="0">
              <a:lnSpc>
                <a:spcPct val="91000"/>
              </a:lnSpc>
              <a:spcBef>
                <a:spcPts val="5"/>
              </a:spcBef>
            </a:pPr>
            <a:r>
              <a:rPr sz="1200" kern="0" spc="-30" dirty="0">
                <a:solidFill>
                  <a:srgbClr val="000000">
                    <a:alpha val="100000"/>
                  </a:srgbClr>
                </a:solidFill>
                <a:latin typeface="Arial" panose="020B0604020202020204"/>
                <a:ea typeface="Arial" panose="020B0604020202020204"/>
                <a:cs typeface="Arial" panose="020B0604020202020204"/>
              </a:rPr>
              <a:t>•</a:t>
            </a:r>
            <a:r>
              <a:rPr sz="1200" kern="0" spc="110" dirty="0">
                <a:solidFill>
                  <a:srgbClr val="000000">
                    <a:alpha val="100000"/>
                  </a:srgbClr>
                </a:solidFill>
                <a:latin typeface="Arial" panose="020B0604020202020204"/>
                <a:ea typeface="Arial" panose="020B0604020202020204"/>
                <a:cs typeface="Arial" panose="020B0604020202020204"/>
              </a:rPr>
              <a:t>   </a:t>
            </a:r>
            <a:r>
              <a:rPr sz="1200" kern="0" spc="-30" dirty="0">
                <a:solidFill>
                  <a:srgbClr val="000000">
                    <a:alpha val="100000"/>
                  </a:srgbClr>
                </a:solidFill>
                <a:latin typeface="Arial" panose="020B0604020202020204"/>
                <a:ea typeface="Arial" panose="020B0604020202020204"/>
                <a:cs typeface="Arial" panose="020B0604020202020204"/>
              </a:rPr>
              <a:t>Size</a:t>
            </a:r>
            <a:r>
              <a:rPr sz="12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：规模 ，单位是千行代码或功能点数</a:t>
            </a:r>
            <a:endParaRPr lang="en-US" altLang="en-US" sz="1200" dirty="0"/>
          </a:p>
        </p:txBody>
      </p:sp>
      <p:pic>
        <p:nvPicPr>
          <p:cNvPr id="290" name="picture 290"/>
          <p:cNvPicPr>
            <a:picLocks noChangeAspect="1"/>
          </p:cNvPicPr>
          <p:nvPr/>
        </p:nvPicPr>
        <p:blipFill>
          <a:blip r:embed="rId1"/>
          <a:stretch>
            <a:fillRect/>
          </a:stretch>
        </p:blipFill>
        <p:spPr>
          <a:xfrm rot="21600000">
            <a:off x="1356538" y="2149290"/>
            <a:ext cx="2713073" cy="601573"/>
          </a:xfrm>
          <a:prstGeom prst="rect">
            <a:avLst/>
          </a:prstGeom>
        </p:spPr>
      </p:pic>
      <p:sp>
        <p:nvSpPr>
          <p:cNvPr id="3" name="标题 2"/>
          <p:cNvSpPr>
            <a:spLocks noGrp="1"/>
          </p:cNvSpPr>
          <p:nvPr>
            <p:ph type="title"/>
          </p:nvPr>
        </p:nvSpPr>
        <p:spPr/>
        <p:txBody>
          <a:bodyPr/>
          <a:p>
            <a:r>
              <a:rPr lang="en-US" altLang="zh-CN" dirty="0"/>
              <a:t>COCOMO</a:t>
            </a:r>
            <a:r>
              <a:rPr lang="zh-CN" altLang="en-US" dirty="0"/>
              <a:t>模型</a:t>
            </a:r>
            <a:endParaRPr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textbox 308"/>
          <p:cNvSpPr/>
          <p:nvPr/>
        </p:nvSpPr>
        <p:spPr>
          <a:xfrm>
            <a:off x="829416" y="1183322"/>
            <a:ext cx="7560469" cy="788194"/>
          </a:xfrm>
          <a:prstGeom prst="rect">
            <a:avLst/>
          </a:prstGeom>
          <a:solidFill>
            <a:srgbClr val="ECEBEB"/>
          </a:solidFill>
        </p:spPr>
        <p:txBody>
          <a:bodyPr vert="horz" wrap="square" lIns="0" tIns="0" rIns="0" bIns="0"/>
          <a:lstStyle/>
          <a:p>
            <a:pPr algn="l" rtl="0" eaLnBrk="0">
              <a:lnSpc>
                <a:spcPct val="143000"/>
              </a:lnSpc>
            </a:pPr>
            <a:endParaRPr lang="en-US" altLang="en-US" sz="750" dirty="0"/>
          </a:p>
          <a:p>
            <a:pPr algn="l" rtl="0" eaLnBrk="0">
              <a:lnSpc>
                <a:spcPct val="7000"/>
              </a:lnSpc>
            </a:pPr>
            <a:endParaRPr lang="en-US" altLang="en-US" sz="100" dirty="0"/>
          </a:p>
          <a:p>
            <a:pPr marL="221615" algn="l" rtl="0" eaLnBrk="0">
              <a:lnSpc>
                <a:spcPct val="83000"/>
              </a:lnSpc>
            </a:pPr>
            <a:r>
              <a:rPr sz="1650" kern="0" spc="2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用例点估算</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是在面向对象软件开发项目中用</a:t>
            </a: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于估计规模和工作量的方法 ，它比</a:t>
            </a:r>
            <a:endParaRPr lang="en-US" altLang="en-US" sz="1650" dirty="0"/>
          </a:p>
          <a:p>
            <a:pPr marL="219075" algn="l" rtl="0" eaLnBrk="0">
              <a:lnSpc>
                <a:spcPts val="3280"/>
              </a:lnSpc>
            </a:pPr>
            <a:r>
              <a:rPr sz="16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功能点方法要简单一些。</a:t>
            </a:r>
            <a:endParaRPr lang="en-US" altLang="en-US" sz="1650" dirty="0"/>
          </a:p>
        </p:txBody>
      </p:sp>
      <p:sp>
        <p:nvSpPr>
          <p:cNvPr id="310" name="rect"/>
          <p:cNvSpPr/>
          <p:nvPr/>
        </p:nvSpPr>
        <p:spPr>
          <a:xfrm>
            <a:off x="3238215" y="2310119"/>
            <a:ext cx="2388396" cy="2032396"/>
          </a:xfrm>
          <a:prstGeom prst="rect">
            <a:avLst/>
          </a:prstGeom>
          <a:solidFill>
            <a:srgbClr val="E4E4E4">
              <a:alpha val="100000"/>
            </a:srgbClr>
          </a:solidFill>
          <a:ln cap="flat">
            <a:noFill/>
            <a:prstDash val="solid"/>
            <a:miter lim="0"/>
          </a:ln>
        </p:spPr>
        <p:txBody>
          <a:bodyPr rtlCol="0"/>
          <a:lstStyle/>
          <a:p>
            <a:pPr algn="ctr"/>
            <a:endParaRPr lang="zh-CN" altLang="en-US" sz="1350"/>
          </a:p>
        </p:txBody>
      </p:sp>
      <p:grpSp>
        <p:nvGrpSpPr>
          <p:cNvPr id="50" name="group 50"/>
          <p:cNvGrpSpPr/>
          <p:nvPr/>
        </p:nvGrpSpPr>
        <p:grpSpPr>
          <a:xfrm rot="21600000">
            <a:off x="3721610" y="2462519"/>
            <a:ext cx="1472804" cy="411956"/>
            <a:chOff x="0" y="0"/>
            <a:chExt cx="1963739" cy="549275"/>
          </a:xfrm>
        </p:grpSpPr>
        <p:sp>
          <p:nvSpPr>
            <p:cNvPr id="312" name="path"/>
            <p:cNvSpPr/>
            <p:nvPr/>
          </p:nvSpPr>
          <p:spPr>
            <a:xfrm>
              <a:off x="6350" y="6350"/>
              <a:ext cx="1951038" cy="536575"/>
            </a:xfrm>
            <a:custGeom>
              <a:avLst/>
              <a:gdLst/>
              <a:ahLst/>
              <a:cxnLst/>
              <a:rect l="0" t="0" r="0" b="0"/>
              <a:pathLst>
                <a:path w="3072" h="845">
                  <a:moveTo>
                    <a:pt x="0" y="422"/>
                  </a:moveTo>
                  <a:cubicBezTo>
                    <a:pt x="0" y="189"/>
                    <a:pt x="687" y="0"/>
                    <a:pt x="1536" y="0"/>
                  </a:cubicBezTo>
                  <a:cubicBezTo>
                    <a:pt x="2384" y="0"/>
                    <a:pt x="3072" y="189"/>
                    <a:pt x="3072" y="422"/>
                  </a:cubicBezTo>
                  <a:cubicBezTo>
                    <a:pt x="3072" y="655"/>
                    <a:pt x="2384" y="845"/>
                    <a:pt x="1536" y="845"/>
                  </a:cubicBezTo>
                  <a:cubicBezTo>
                    <a:pt x="687" y="845"/>
                    <a:pt x="0" y="655"/>
                    <a:pt x="0" y="422"/>
                  </a:cubicBezTo>
                </a:path>
              </a:pathLst>
            </a:custGeom>
            <a:solidFill>
              <a:srgbClr val="FFFFFF">
                <a:alpha val="100000"/>
              </a:srgbClr>
            </a:solidFill>
            <a:ln cap="flat">
              <a:noFill/>
              <a:prstDash val="solid"/>
              <a:miter lim="0"/>
            </a:ln>
          </p:spPr>
          <p:txBody>
            <a:bodyPr rtlCol="0"/>
            <a:lstStyle/>
            <a:p>
              <a:pPr algn="ctr"/>
              <a:endParaRPr lang="zh-CN" altLang="en-US" sz="1350"/>
            </a:p>
          </p:txBody>
        </p:sp>
        <p:sp>
          <p:nvSpPr>
            <p:cNvPr id="314" name="path"/>
            <p:cNvSpPr/>
            <p:nvPr/>
          </p:nvSpPr>
          <p:spPr>
            <a:xfrm>
              <a:off x="0" y="0"/>
              <a:ext cx="1963739" cy="549275"/>
            </a:xfrm>
            <a:custGeom>
              <a:avLst/>
              <a:gdLst/>
              <a:ahLst/>
              <a:cxnLst/>
              <a:rect l="0" t="0" r="0" b="0"/>
              <a:pathLst>
                <a:path w="3092" h="865">
                  <a:moveTo>
                    <a:pt x="10" y="432"/>
                  </a:moveTo>
                  <a:cubicBezTo>
                    <a:pt x="10" y="199"/>
                    <a:pt x="697" y="10"/>
                    <a:pt x="1546" y="10"/>
                  </a:cubicBezTo>
                  <a:cubicBezTo>
                    <a:pt x="2394" y="10"/>
                    <a:pt x="3082" y="199"/>
                    <a:pt x="3082" y="432"/>
                  </a:cubicBezTo>
                  <a:cubicBezTo>
                    <a:pt x="3082" y="665"/>
                    <a:pt x="2394" y="855"/>
                    <a:pt x="1546" y="855"/>
                  </a:cubicBezTo>
                  <a:cubicBezTo>
                    <a:pt x="697" y="855"/>
                    <a:pt x="10" y="665"/>
                    <a:pt x="10" y="432"/>
                  </a:cubicBezTo>
                </a:path>
              </a:pathLst>
            </a:custGeom>
            <a:noFill/>
            <a:ln w="12699" cap="flat">
              <a:solidFill>
                <a:srgbClr val="000000">
                  <a:alpha val="100000"/>
                </a:srgbClr>
              </a:solidFill>
              <a:prstDash val="solid"/>
              <a:round/>
            </a:ln>
          </p:spPr>
          <p:txBody>
            <a:bodyPr rtlCol="0"/>
            <a:lstStyle/>
            <a:p>
              <a:pPr algn="ctr"/>
              <a:endParaRPr lang="zh-CN" altLang="en-US" sz="1350"/>
            </a:p>
          </p:txBody>
        </p:sp>
      </p:grpSp>
      <p:grpSp>
        <p:nvGrpSpPr>
          <p:cNvPr id="52" name="group 52"/>
          <p:cNvGrpSpPr/>
          <p:nvPr/>
        </p:nvGrpSpPr>
        <p:grpSpPr>
          <a:xfrm rot="21600000">
            <a:off x="2904894" y="2715766"/>
            <a:ext cx="816714" cy="461711"/>
            <a:chOff x="0" y="0"/>
            <a:chExt cx="1088952" cy="615615"/>
          </a:xfrm>
        </p:grpSpPr>
        <p:sp>
          <p:nvSpPr>
            <p:cNvPr id="316" name="path"/>
            <p:cNvSpPr/>
            <p:nvPr/>
          </p:nvSpPr>
          <p:spPr>
            <a:xfrm>
              <a:off x="0" y="8836"/>
              <a:ext cx="1070062" cy="606779"/>
            </a:xfrm>
            <a:custGeom>
              <a:avLst/>
              <a:gdLst/>
              <a:ahLst/>
              <a:cxnLst/>
              <a:rect l="0" t="0" r="0" b="0"/>
              <a:pathLst>
                <a:path w="1685" h="955">
                  <a:moveTo>
                    <a:pt x="4" y="946"/>
                  </a:moveTo>
                  <a:lnTo>
                    <a:pt x="1680" y="8"/>
                  </a:lnTo>
                </a:path>
              </a:pathLst>
            </a:custGeom>
            <a:noFill/>
            <a:ln w="12699" cap="flat">
              <a:solidFill>
                <a:srgbClr val="000000">
                  <a:alpha val="100000"/>
                </a:srgbClr>
              </a:solidFill>
              <a:prstDash val="solid"/>
              <a:round/>
            </a:ln>
          </p:spPr>
          <p:txBody>
            <a:bodyPr rtlCol="0"/>
            <a:lstStyle/>
            <a:p>
              <a:pPr algn="ctr"/>
              <a:endParaRPr lang="zh-CN" altLang="en-US" sz="1350"/>
            </a:p>
          </p:txBody>
        </p:sp>
        <p:sp>
          <p:nvSpPr>
            <p:cNvPr id="318" name="path"/>
            <p:cNvSpPr/>
            <p:nvPr/>
          </p:nvSpPr>
          <p:spPr>
            <a:xfrm>
              <a:off x="965936" y="0"/>
              <a:ext cx="123016" cy="104891"/>
            </a:xfrm>
            <a:custGeom>
              <a:avLst/>
              <a:gdLst/>
              <a:ahLst/>
              <a:cxnLst/>
              <a:rect l="0" t="0" r="0" b="0"/>
              <a:pathLst>
                <a:path w="193" h="165">
                  <a:moveTo>
                    <a:pt x="193" y="3"/>
                  </a:moveTo>
                  <a:lnTo>
                    <a:pt x="20" y="0"/>
                  </a:lnTo>
                  <a:lnTo>
                    <a:pt x="20" y="0"/>
                  </a:lnTo>
                  <a:cubicBezTo>
                    <a:pt x="9" y="0"/>
                    <a:pt x="0" y="8"/>
                    <a:pt x="0" y="19"/>
                  </a:cubicBezTo>
                  <a:lnTo>
                    <a:pt x="0" y="19"/>
                  </a:lnTo>
                  <a:cubicBezTo>
                    <a:pt x="0" y="30"/>
                    <a:pt x="8" y="39"/>
                    <a:pt x="19" y="40"/>
                  </a:cubicBezTo>
                  <a:lnTo>
                    <a:pt x="124" y="42"/>
                  </a:lnTo>
                  <a:lnTo>
                    <a:pt x="71" y="132"/>
                  </a:lnTo>
                  <a:lnTo>
                    <a:pt x="71" y="132"/>
                  </a:lnTo>
                  <a:cubicBezTo>
                    <a:pt x="65" y="141"/>
                    <a:pt x="68" y="153"/>
                    <a:pt x="78" y="159"/>
                  </a:cubicBezTo>
                  <a:cubicBezTo>
                    <a:pt x="78" y="159"/>
                    <a:pt x="78" y="159"/>
                    <a:pt x="78" y="159"/>
                  </a:cubicBezTo>
                  <a:lnTo>
                    <a:pt x="78" y="159"/>
                  </a:lnTo>
                  <a:cubicBezTo>
                    <a:pt x="87" y="165"/>
                    <a:pt x="100" y="162"/>
                    <a:pt x="105" y="152"/>
                  </a:cubicBezTo>
                  <a:lnTo>
                    <a:pt x="193" y="3"/>
                  </a:lnTo>
                  <a:close/>
                </a:path>
              </a:pathLst>
            </a:custGeom>
            <a:solidFill>
              <a:srgbClr val="000000">
                <a:alpha val="100000"/>
              </a:srgbClr>
            </a:solidFill>
            <a:ln cap="flat">
              <a:noFill/>
              <a:prstDash val="solid"/>
              <a:miter lim="0"/>
            </a:ln>
          </p:spPr>
          <p:txBody>
            <a:bodyPr rtlCol="0"/>
            <a:lstStyle/>
            <a:p>
              <a:pPr algn="ctr"/>
              <a:endParaRPr lang="zh-CN" altLang="en-US" sz="1350"/>
            </a:p>
          </p:txBody>
        </p:sp>
      </p:grpSp>
      <p:grpSp>
        <p:nvGrpSpPr>
          <p:cNvPr id="54" name="group 54"/>
          <p:cNvGrpSpPr/>
          <p:nvPr/>
        </p:nvGrpSpPr>
        <p:grpSpPr>
          <a:xfrm rot="21600000">
            <a:off x="2930456" y="3622528"/>
            <a:ext cx="820917" cy="344768"/>
            <a:chOff x="0" y="0"/>
            <a:chExt cx="1094556" cy="459691"/>
          </a:xfrm>
        </p:grpSpPr>
        <p:sp>
          <p:nvSpPr>
            <p:cNvPr id="320" name="path"/>
            <p:cNvSpPr/>
            <p:nvPr/>
          </p:nvSpPr>
          <p:spPr>
            <a:xfrm>
              <a:off x="0" y="0"/>
              <a:ext cx="1073509" cy="439000"/>
            </a:xfrm>
            <a:custGeom>
              <a:avLst/>
              <a:gdLst/>
              <a:ahLst/>
              <a:cxnLst/>
              <a:rect l="0" t="0" r="0" b="0"/>
              <a:pathLst>
                <a:path w="1690" h="691">
                  <a:moveTo>
                    <a:pt x="3" y="9"/>
                  </a:moveTo>
                  <a:lnTo>
                    <a:pt x="1686" y="682"/>
                  </a:lnTo>
                </a:path>
              </a:pathLst>
            </a:custGeom>
            <a:noFill/>
            <a:ln w="12699" cap="flat">
              <a:solidFill>
                <a:srgbClr val="000000">
                  <a:alpha val="100000"/>
                </a:srgbClr>
              </a:solidFill>
              <a:prstDash val="solid"/>
              <a:round/>
            </a:ln>
          </p:spPr>
          <p:txBody>
            <a:bodyPr rtlCol="0"/>
            <a:lstStyle/>
            <a:p>
              <a:pPr algn="ctr"/>
              <a:endParaRPr lang="zh-CN" altLang="en-US" sz="1350"/>
            </a:p>
          </p:txBody>
        </p:sp>
        <p:sp>
          <p:nvSpPr>
            <p:cNvPr id="322" name="path"/>
            <p:cNvSpPr/>
            <p:nvPr/>
          </p:nvSpPr>
          <p:spPr>
            <a:xfrm>
              <a:off x="970302" y="349218"/>
              <a:ext cx="124254" cy="110472"/>
            </a:xfrm>
            <a:custGeom>
              <a:avLst/>
              <a:gdLst/>
              <a:ahLst/>
              <a:cxnLst/>
              <a:rect l="0" t="0" r="0" b="0"/>
              <a:pathLst>
                <a:path w="195" h="173">
                  <a:moveTo>
                    <a:pt x="195" y="146"/>
                  </a:moveTo>
                  <a:lnTo>
                    <a:pt x="24" y="172"/>
                  </a:lnTo>
                  <a:lnTo>
                    <a:pt x="24" y="172"/>
                  </a:lnTo>
                  <a:cubicBezTo>
                    <a:pt x="13" y="173"/>
                    <a:pt x="3" y="166"/>
                    <a:pt x="1" y="155"/>
                  </a:cubicBezTo>
                  <a:lnTo>
                    <a:pt x="1" y="155"/>
                  </a:lnTo>
                  <a:cubicBezTo>
                    <a:pt x="0" y="144"/>
                    <a:pt x="7" y="134"/>
                    <a:pt x="18" y="132"/>
                  </a:cubicBezTo>
                  <a:lnTo>
                    <a:pt x="121" y="117"/>
                  </a:lnTo>
                  <a:lnTo>
                    <a:pt x="57" y="34"/>
                  </a:lnTo>
                  <a:lnTo>
                    <a:pt x="57" y="34"/>
                  </a:lnTo>
                  <a:cubicBezTo>
                    <a:pt x="50" y="26"/>
                    <a:pt x="52" y="13"/>
                    <a:pt x="61" y="6"/>
                  </a:cubicBezTo>
                  <a:cubicBezTo>
                    <a:pt x="61" y="6"/>
                    <a:pt x="61" y="6"/>
                    <a:pt x="61" y="6"/>
                  </a:cubicBezTo>
                  <a:lnTo>
                    <a:pt x="61" y="6"/>
                  </a:lnTo>
                  <a:cubicBezTo>
                    <a:pt x="69" y="0"/>
                    <a:pt x="82" y="1"/>
                    <a:pt x="89" y="10"/>
                  </a:cubicBezTo>
                  <a:lnTo>
                    <a:pt x="195" y="146"/>
                  </a:lnTo>
                  <a:close/>
                </a:path>
              </a:pathLst>
            </a:custGeom>
            <a:solidFill>
              <a:srgbClr val="000000">
                <a:alpha val="100000"/>
              </a:srgbClr>
            </a:solidFill>
            <a:ln cap="flat">
              <a:noFill/>
              <a:prstDash val="solid"/>
              <a:miter lim="0"/>
            </a:ln>
          </p:spPr>
          <p:txBody>
            <a:bodyPr rtlCol="0"/>
            <a:lstStyle/>
            <a:p>
              <a:pPr algn="ctr"/>
              <a:endParaRPr lang="zh-CN" altLang="en-US" sz="1350"/>
            </a:p>
          </p:txBody>
        </p:sp>
      </p:grpSp>
      <p:grpSp>
        <p:nvGrpSpPr>
          <p:cNvPr id="56" name="group 56"/>
          <p:cNvGrpSpPr/>
          <p:nvPr/>
        </p:nvGrpSpPr>
        <p:grpSpPr>
          <a:xfrm rot="21600000">
            <a:off x="3820431" y="3105457"/>
            <a:ext cx="1315643" cy="454819"/>
            <a:chOff x="0" y="0"/>
            <a:chExt cx="1754190" cy="606425"/>
          </a:xfrm>
        </p:grpSpPr>
        <p:sp>
          <p:nvSpPr>
            <p:cNvPr id="324" name="path"/>
            <p:cNvSpPr/>
            <p:nvPr/>
          </p:nvSpPr>
          <p:spPr>
            <a:xfrm>
              <a:off x="6350" y="6349"/>
              <a:ext cx="1741489" cy="593726"/>
            </a:xfrm>
            <a:custGeom>
              <a:avLst/>
              <a:gdLst/>
              <a:ahLst/>
              <a:cxnLst/>
              <a:rect l="0" t="0" r="0" b="0"/>
              <a:pathLst>
                <a:path w="2742" h="935">
                  <a:moveTo>
                    <a:pt x="0" y="467"/>
                  </a:moveTo>
                  <a:cubicBezTo>
                    <a:pt x="0" y="209"/>
                    <a:pt x="613" y="0"/>
                    <a:pt x="1371" y="0"/>
                  </a:cubicBezTo>
                  <a:cubicBezTo>
                    <a:pt x="2128" y="0"/>
                    <a:pt x="2742" y="209"/>
                    <a:pt x="2742" y="467"/>
                  </a:cubicBezTo>
                  <a:cubicBezTo>
                    <a:pt x="2742" y="725"/>
                    <a:pt x="2128" y="935"/>
                    <a:pt x="1371" y="935"/>
                  </a:cubicBezTo>
                  <a:cubicBezTo>
                    <a:pt x="613" y="935"/>
                    <a:pt x="0" y="725"/>
                    <a:pt x="0" y="467"/>
                  </a:cubicBezTo>
                </a:path>
              </a:pathLst>
            </a:custGeom>
            <a:solidFill>
              <a:srgbClr val="FFFFFF">
                <a:alpha val="100000"/>
              </a:srgbClr>
            </a:solidFill>
            <a:ln cap="flat">
              <a:noFill/>
              <a:prstDash val="solid"/>
              <a:miter lim="0"/>
            </a:ln>
          </p:spPr>
          <p:txBody>
            <a:bodyPr rtlCol="0"/>
            <a:lstStyle/>
            <a:p>
              <a:pPr algn="ctr"/>
              <a:endParaRPr lang="zh-CN" altLang="en-US" sz="1350"/>
            </a:p>
          </p:txBody>
        </p:sp>
        <p:sp>
          <p:nvSpPr>
            <p:cNvPr id="326" name="path"/>
            <p:cNvSpPr/>
            <p:nvPr/>
          </p:nvSpPr>
          <p:spPr>
            <a:xfrm>
              <a:off x="0" y="0"/>
              <a:ext cx="1754190" cy="606425"/>
            </a:xfrm>
            <a:custGeom>
              <a:avLst/>
              <a:gdLst/>
              <a:ahLst/>
              <a:cxnLst/>
              <a:rect l="0" t="0" r="0" b="0"/>
              <a:pathLst>
                <a:path w="2762" h="955">
                  <a:moveTo>
                    <a:pt x="10" y="477"/>
                  </a:moveTo>
                  <a:cubicBezTo>
                    <a:pt x="10" y="219"/>
                    <a:pt x="623" y="10"/>
                    <a:pt x="1381" y="10"/>
                  </a:cubicBezTo>
                  <a:cubicBezTo>
                    <a:pt x="2138" y="10"/>
                    <a:pt x="2752" y="219"/>
                    <a:pt x="2752" y="477"/>
                  </a:cubicBezTo>
                  <a:cubicBezTo>
                    <a:pt x="2752" y="735"/>
                    <a:pt x="2138" y="945"/>
                    <a:pt x="1381" y="945"/>
                  </a:cubicBezTo>
                  <a:cubicBezTo>
                    <a:pt x="623" y="945"/>
                    <a:pt x="10" y="735"/>
                    <a:pt x="10" y="477"/>
                  </a:cubicBezTo>
                </a:path>
              </a:pathLst>
            </a:custGeom>
            <a:noFill/>
            <a:ln w="12699" cap="flat">
              <a:solidFill>
                <a:srgbClr val="000000">
                  <a:alpha val="100000"/>
                </a:srgbClr>
              </a:solidFill>
              <a:prstDash val="solid"/>
              <a:round/>
            </a:ln>
          </p:spPr>
          <p:txBody>
            <a:bodyPr rtlCol="0"/>
            <a:lstStyle/>
            <a:p>
              <a:pPr algn="ctr"/>
              <a:endParaRPr lang="zh-CN" altLang="en-US" sz="1350"/>
            </a:p>
          </p:txBody>
        </p:sp>
      </p:grpSp>
      <p:grpSp>
        <p:nvGrpSpPr>
          <p:cNvPr id="58" name="group 58"/>
          <p:cNvGrpSpPr/>
          <p:nvPr/>
        </p:nvGrpSpPr>
        <p:grpSpPr>
          <a:xfrm rot="21600000">
            <a:off x="5192366" y="2701107"/>
            <a:ext cx="931927" cy="454535"/>
            <a:chOff x="0" y="0"/>
            <a:chExt cx="1242569" cy="606047"/>
          </a:xfrm>
        </p:grpSpPr>
        <p:sp>
          <p:nvSpPr>
            <p:cNvPr id="328" name="path"/>
            <p:cNvSpPr/>
            <p:nvPr/>
          </p:nvSpPr>
          <p:spPr>
            <a:xfrm>
              <a:off x="0" y="0"/>
              <a:ext cx="1222543" cy="591176"/>
            </a:xfrm>
            <a:custGeom>
              <a:avLst/>
              <a:gdLst/>
              <a:ahLst/>
              <a:cxnLst/>
              <a:rect l="0" t="0" r="0" b="0"/>
              <a:pathLst>
                <a:path w="1925" h="930">
                  <a:moveTo>
                    <a:pt x="4" y="9"/>
                  </a:moveTo>
                  <a:lnTo>
                    <a:pt x="1920" y="921"/>
                  </a:lnTo>
                </a:path>
              </a:pathLst>
            </a:custGeom>
            <a:noFill/>
            <a:ln w="12699" cap="flat">
              <a:solidFill>
                <a:srgbClr val="000000">
                  <a:alpha val="100000"/>
                </a:srgbClr>
              </a:solidFill>
              <a:prstDash val="solid"/>
              <a:round/>
            </a:ln>
          </p:spPr>
          <p:txBody>
            <a:bodyPr rtlCol="0"/>
            <a:lstStyle/>
            <a:p>
              <a:pPr algn="ctr"/>
              <a:endParaRPr lang="zh-CN" altLang="en-US" sz="1350"/>
            </a:p>
          </p:txBody>
        </p:sp>
        <p:sp>
          <p:nvSpPr>
            <p:cNvPr id="330" name="path"/>
            <p:cNvSpPr/>
            <p:nvPr/>
          </p:nvSpPr>
          <p:spPr>
            <a:xfrm>
              <a:off x="1118662" y="498101"/>
              <a:ext cx="123906" cy="107946"/>
            </a:xfrm>
            <a:custGeom>
              <a:avLst/>
              <a:gdLst/>
              <a:ahLst/>
              <a:cxnLst/>
              <a:rect l="0" t="0" r="0" b="0"/>
              <a:pathLst>
                <a:path w="195" h="169">
                  <a:moveTo>
                    <a:pt x="195" y="154"/>
                  </a:moveTo>
                  <a:lnTo>
                    <a:pt x="22" y="169"/>
                  </a:lnTo>
                  <a:lnTo>
                    <a:pt x="22" y="169"/>
                  </a:lnTo>
                  <a:cubicBezTo>
                    <a:pt x="11" y="169"/>
                    <a:pt x="1" y="161"/>
                    <a:pt x="0" y="150"/>
                  </a:cubicBezTo>
                  <a:lnTo>
                    <a:pt x="0" y="150"/>
                  </a:lnTo>
                  <a:cubicBezTo>
                    <a:pt x="0" y="139"/>
                    <a:pt x="8" y="130"/>
                    <a:pt x="19" y="129"/>
                  </a:cubicBezTo>
                  <a:lnTo>
                    <a:pt x="123" y="120"/>
                  </a:lnTo>
                  <a:lnTo>
                    <a:pt x="64" y="34"/>
                  </a:lnTo>
                  <a:lnTo>
                    <a:pt x="64" y="34"/>
                  </a:lnTo>
                  <a:cubicBezTo>
                    <a:pt x="58" y="24"/>
                    <a:pt x="60" y="12"/>
                    <a:pt x="69" y="6"/>
                  </a:cubicBezTo>
                  <a:cubicBezTo>
                    <a:pt x="69" y="6"/>
                    <a:pt x="69" y="6"/>
                    <a:pt x="69" y="6"/>
                  </a:cubicBezTo>
                  <a:lnTo>
                    <a:pt x="69" y="6"/>
                  </a:lnTo>
                  <a:cubicBezTo>
                    <a:pt x="78" y="0"/>
                    <a:pt x="91" y="2"/>
                    <a:pt x="97" y="11"/>
                  </a:cubicBezTo>
                  <a:lnTo>
                    <a:pt x="195" y="154"/>
                  </a:lnTo>
                  <a:close/>
                </a:path>
              </a:pathLst>
            </a:custGeom>
            <a:solidFill>
              <a:srgbClr val="000000">
                <a:alpha val="100000"/>
              </a:srgbClr>
            </a:solidFill>
            <a:ln cap="flat">
              <a:noFill/>
              <a:prstDash val="solid"/>
              <a:miter lim="0"/>
            </a:ln>
          </p:spPr>
          <p:txBody>
            <a:bodyPr rtlCol="0"/>
            <a:lstStyle/>
            <a:p>
              <a:pPr algn="ctr"/>
              <a:endParaRPr lang="zh-CN" altLang="en-US" sz="1350"/>
            </a:p>
          </p:txBody>
        </p:sp>
      </p:grpSp>
      <p:grpSp>
        <p:nvGrpSpPr>
          <p:cNvPr id="60" name="group 60"/>
          <p:cNvGrpSpPr/>
          <p:nvPr/>
        </p:nvGrpSpPr>
        <p:grpSpPr>
          <a:xfrm rot="21600000">
            <a:off x="3827574" y="3787685"/>
            <a:ext cx="1321595" cy="392906"/>
            <a:chOff x="0" y="0"/>
            <a:chExt cx="1762127" cy="523875"/>
          </a:xfrm>
        </p:grpSpPr>
        <p:sp>
          <p:nvSpPr>
            <p:cNvPr id="332" name="path"/>
            <p:cNvSpPr/>
            <p:nvPr/>
          </p:nvSpPr>
          <p:spPr>
            <a:xfrm>
              <a:off x="6350" y="6350"/>
              <a:ext cx="1749428" cy="511174"/>
            </a:xfrm>
            <a:custGeom>
              <a:avLst/>
              <a:gdLst/>
              <a:ahLst/>
              <a:cxnLst/>
              <a:rect l="0" t="0" r="0" b="0"/>
              <a:pathLst>
                <a:path w="2755" h="804">
                  <a:moveTo>
                    <a:pt x="0" y="402"/>
                  </a:moveTo>
                  <a:cubicBezTo>
                    <a:pt x="0" y="180"/>
                    <a:pt x="616" y="0"/>
                    <a:pt x="1377" y="0"/>
                  </a:cubicBezTo>
                  <a:cubicBezTo>
                    <a:pt x="2138" y="0"/>
                    <a:pt x="2755" y="180"/>
                    <a:pt x="2755" y="402"/>
                  </a:cubicBezTo>
                  <a:cubicBezTo>
                    <a:pt x="2755" y="624"/>
                    <a:pt x="2138" y="804"/>
                    <a:pt x="1377" y="804"/>
                  </a:cubicBezTo>
                  <a:cubicBezTo>
                    <a:pt x="616" y="804"/>
                    <a:pt x="0" y="624"/>
                    <a:pt x="0" y="402"/>
                  </a:cubicBezTo>
                </a:path>
              </a:pathLst>
            </a:custGeom>
            <a:solidFill>
              <a:srgbClr val="FFFFFF">
                <a:alpha val="100000"/>
              </a:srgbClr>
            </a:solidFill>
            <a:ln cap="flat">
              <a:noFill/>
              <a:prstDash val="solid"/>
              <a:miter lim="0"/>
            </a:ln>
          </p:spPr>
          <p:txBody>
            <a:bodyPr rtlCol="0"/>
            <a:lstStyle/>
            <a:p>
              <a:pPr algn="ctr"/>
              <a:endParaRPr lang="zh-CN" altLang="en-US" sz="1350"/>
            </a:p>
          </p:txBody>
        </p:sp>
        <p:sp>
          <p:nvSpPr>
            <p:cNvPr id="334" name="path"/>
            <p:cNvSpPr/>
            <p:nvPr/>
          </p:nvSpPr>
          <p:spPr>
            <a:xfrm>
              <a:off x="0" y="0"/>
              <a:ext cx="1762127" cy="523875"/>
            </a:xfrm>
            <a:custGeom>
              <a:avLst/>
              <a:gdLst/>
              <a:ahLst/>
              <a:cxnLst/>
              <a:rect l="0" t="0" r="0" b="0"/>
              <a:pathLst>
                <a:path w="2775" h="825">
                  <a:moveTo>
                    <a:pt x="10" y="412"/>
                  </a:moveTo>
                  <a:cubicBezTo>
                    <a:pt x="10" y="190"/>
                    <a:pt x="626" y="10"/>
                    <a:pt x="1387" y="10"/>
                  </a:cubicBezTo>
                  <a:cubicBezTo>
                    <a:pt x="2148" y="10"/>
                    <a:pt x="2765" y="190"/>
                    <a:pt x="2765" y="412"/>
                  </a:cubicBezTo>
                  <a:cubicBezTo>
                    <a:pt x="2765" y="634"/>
                    <a:pt x="2148" y="815"/>
                    <a:pt x="1387" y="815"/>
                  </a:cubicBezTo>
                  <a:cubicBezTo>
                    <a:pt x="626" y="815"/>
                    <a:pt x="10" y="634"/>
                    <a:pt x="10" y="412"/>
                  </a:cubicBezTo>
                </a:path>
              </a:pathLst>
            </a:custGeom>
            <a:noFill/>
            <a:ln w="12699" cap="flat">
              <a:solidFill>
                <a:srgbClr val="000000">
                  <a:alpha val="100000"/>
                </a:srgbClr>
              </a:solidFill>
              <a:prstDash val="solid"/>
              <a:round/>
            </a:ln>
          </p:spPr>
          <p:txBody>
            <a:bodyPr rtlCol="0"/>
            <a:lstStyle/>
            <a:p>
              <a:pPr algn="ctr"/>
              <a:endParaRPr lang="zh-CN" altLang="en-US" sz="1350"/>
            </a:p>
          </p:txBody>
        </p:sp>
      </p:grpSp>
      <p:sp>
        <p:nvSpPr>
          <p:cNvPr id="336" name="path"/>
          <p:cNvSpPr/>
          <p:nvPr/>
        </p:nvSpPr>
        <p:spPr>
          <a:xfrm>
            <a:off x="5193466" y="3496644"/>
            <a:ext cx="887500" cy="452458"/>
          </a:xfrm>
          <a:custGeom>
            <a:avLst/>
            <a:gdLst/>
            <a:ahLst/>
            <a:cxnLst/>
            <a:rect l="0" t="0" r="0" b="0"/>
            <a:pathLst>
              <a:path w="1863" h="950">
                <a:moveTo>
                  <a:pt x="4" y="941"/>
                </a:moveTo>
                <a:lnTo>
                  <a:pt x="1859" y="8"/>
                </a:lnTo>
              </a:path>
            </a:pathLst>
          </a:custGeom>
          <a:noFill/>
          <a:ln w="12699" cap="flat">
            <a:solidFill>
              <a:srgbClr val="000000">
                <a:alpha val="100000"/>
              </a:srgbClr>
            </a:solidFill>
            <a:prstDash val="solid"/>
            <a:round/>
          </a:ln>
        </p:spPr>
        <p:txBody>
          <a:bodyPr rtlCol="0"/>
          <a:lstStyle/>
          <a:p>
            <a:pPr algn="ctr"/>
            <a:endParaRPr lang="zh-CN" altLang="en-US" sz="1350"/>
          </a:p>
        </p:txBody>
      </p:sp>
      <p:graphicFrame>
        <p:nvGraphicFramePr>
          <p:cNvPr id="338" name="table 338"/>
          <p:cNvGraphicFramePr>
            <a:graphicFrameLocks noGrp="1"/>
          </p:cNvGraphicFramePr>
          <p:nvPr/>
        </p:nvGraphicFramePr>
        <p:xfrm>
          <a:off x="3234643" y="2306547"/>
          <a:ext cx="2395220" cy="2038985"/>
        </p:xfrm>
        <a:graphic>
          <a:graphicData uri="http://schemas.openxmlformats.org/drawingml/2006/table">
            <a:tbl>
              <a:tblPr/>
              <a:tblGrid>
                <a:gridCol w="566420"/>
                <a:gridCol w="1828800"/>
              </a:tblGrid>
              <a:tr h="683260">
                <a:tc gridSpan="2">
                  <a:txBody>
                    <a:bodyPr/>
                    <a:lstStyle/>
                    <a:p>
                      <a:pPr algn="l" rtl="0" eaLnBrk="0">
                        <a:lnSpc>
                          <a:spcPct val="136000"/>
                        </a:lnSpc>
                      </a:pPr>
                      <a:endParaRPr lang="en-US" altLang="en-US" sz="750" dirty="0"/>
                    </a:p>
                    <a:p>
                      <a:pPr algn="l" rtl="0" eaLnBrk="0">
                        <a:lnSpc>
                          <a:spcPct val="136000"/>
                        </a:lnSpc>
                      </a:pPr>
                      <a:endParaRPr lang="en-US" altLang="en-US" sz="750" dirty="0"/>
                    </a:p>
                    <a:p>
                      <a:pPr marL="946150" algn="l" rtl="0" eaLnBrk="0">
                        <a:lnSpc>
                          <a:spcPct val="81000"/>
                        </a:lnSpc>
                        <a:spcBef>
                          <a:spcPts val="5"/>
                        </a:spcBef>
                      </a:pPr>
                      <a:r>
                        <a:rPr sz="1200" kern="0" spc="-10" dirty="0">
                          <a:solidFill>
                            <a:srgbClr val="000000">
                              <a:alpha val="100000"/>
                            </a:srgbClr>
                          </a:solidFill>
                          <a:latin typeface="Arial" panose="020B0604020202020204"/>
                          <a:ea typeface="Arial" panose="020B0604020202020204"/>
                          <a:cs typeface="Arial" panose="020B0604020202020204"/>
                        </a:rPr>
                        <a:t>Withdraw Cash</a:t>
                      </a:r>
                      <a:endParaRPr lang="en-US" altLang="en-US" sz="1200" dirty="0"/>
                    </a:p>
                  </a:txBody>
                  <a:tcPr marL="0" marR="0" marT="0" marB="0" vert="horz">
                    <a:lnL w="9525" cap="flat" cmpd="sng" algn="ctr">
                      <a:solidFill>
                        <a:srgbClr val="ECEBEB"/>
                      </a:solidFill>
                      <a:prstDash val="solid"/>
                      <a:round/>
                      <a:headEnd type="none" w="med" len="med"/>
                      <a:tailEnd type="none" w="med" len="med"/>
                    </a:lnL>
                    <a:lnR w="9525" cap="flat" cmpd="sng" algn="ctr">
                      <a:solidFill>
                        <a:srgbClr val="ECEBEB"/>
                      </a:solidFill>
                      <a:prstDash val="solid"/>
                      <a:round/>
                      <a:headEnd type="none" w="med" len="med"/>
                      <a:tailEnd type="none" w="med" len="med"/>
                    </a:lnR>
                    <a:lnT w="9525" cap="flat" cmpd="sng" algn="ctr">
                      <a:solidFill>
                        <a:srgbClr val="ECEBEB"/>
                      </a:solidFill>
                      <a:prstDash val="solid"/>
                      <a:round/>
                      <a:headEnd type="none" w="med" len="med"/>
                      <a:tailEnd type="none" w="med" len="med"/>
                    </a:lnT>
                    <a:lnB>
                      <a:noFill/>
                    </a:lnB>
                  </a:tcPr>
                </a:tc>
                <a:tc hMerge="1">
                  <a:tcPr marL="0" marR="0" marT="0" marB="0" vert="horz">
                    <a:lnL w="9525" cap="flat" cmpd="sng" algn="ctr">
                      <a:solidFill>
                        <a:srgbClr val="ECEBEB"/>
                      </a:solidFill>
                      <a:prstDash val="solid"/>
                      <a:round/>
                      <a:headEnd type="none" w="med" len="med"/>
                      <a:tailEnd type="none" w="med" len="med"/>
                    </a:lnL>
                    <a:lnR w="9525" cap="flat" cmpd="sng" algn="ctr">
                      <a:solidFill>
                        <a:srgbClr val="ECEBEB"/>
                      </a:solidFill>
                      <a:prstDash val="solid"/>
                      <a:round/>
                      <a:headEnd type="none" w="med" len="med"/>
                      <a:tailEnd type="none" w="med" len="med"/>
                    </a:lnR>
                    <a:lnT w="9525" cap="flat" cmpd="sng" algn="ctr">
                      <a:solidFill>
                        <a:srgbClr val="ECEBEB"/>
                      </a:solidFill>
                      <a:prstDash val="solid"/>
                      <a:round/>
                      <a:headEnd type="none" w="med" len="med"/>
                      <a:tailEnd type="none" w="med" len="med"/>
                    </a:lnT>
                    <a:lnB>
                      <a:noFill/>
                    </a:lnB>
                  </a:tcPr>
                </a:tc>
              </a:tr>
              <a:tr h="1355725">
                <a:tc>
                  <a:txBody>
                    <a:bodyPr/>
                    <a:lstStyle/>
                    <a:p>
                      <a:pPr algn="l" rtl="0" eaLnBrk="0">
                        <a:lnSpc>
                          <a:spcPct val="100000"/>
                        </a:lnSpc>
                      </a:pPr>
                      <a:endParaRPr lang="en-US" altLang="en-US" sz="750" dirty="0"/>
                    </a:p>
                  </a:txBody>
                  <a:tcPr marL="0" marR="0" marT="0" marB="0" vert="horz">
                    <a:lnL w="9525" cap="flat" cmpd="sng" algn="ctr">
                      <a:solidFill>
                        <a:srgbClr val="ECEBEB"/>
                      </a:solidFill>
                      <a:prstDash val="solid"/>
                      <a:round/>
                      <a:headEnd type="none" w="med" len="med"/>
                      <a:tailEnd type="none" w="med" len="med"/>
                    </a:lnL>
                    <a:lnR>
                      <a:noFill/>
                    </a:lnR>
                    <a:lnT>
                      <a:noFill/>
                    </a:lnT>
                    <a:lnB w="6350" cap="flat" cmpd="sng" algn="ctr">
                      <a:solidFill>
                        <a:srgbClr val="ECEBEB"/>
                      </a:solidFill>
                      <a:prstDash val="solid"/>
                      <a:round/>
                      <a:headEnd type="none" w="med" len="med"/>
                      <a:tailEnd type="none" w="med" len="med"/>
                    </a:lnB>
                  </a:tcPr>
                </a:tc>
                <a:tc>
                  <a:txBody>
                    <a:bodyPr/>
                    <a:lstStyle/>
                    <a:p>
                      <a:pPr algn="l" rtl="0" eaLnBrk="0">
                        <a:lnSpc>
                          <a:spcPct val="127000"/>
                        </a:lnSpc>
                      </a:pPr>
                      <a:endParaRPr lang="en-US" altLang="en-US" sz="750" dirty="0"/>
                    </a:p>
                    <a:p>
                      <a:pPr algn="l" rtl="0" eaLnBrk="0">
                        <a:lnSpc>
                          <a:spcPct val="128000"/>
                        </a:lnSpc>
                      </a:pPr>
                      <a:endParaRPr lang="en-US" altLang="en-US" sz="750" dirty="0"/>
                    </a:p>
                    <a:p>
                      <a:pPr algn="l" rtl="0" eaLnBrk="0">
                        <a:lnSpc>
                          <a:spcPct val="7000"/>
                        </a:lnSpc>
                      </a:pPr>
                      <a:endParaRPr lang="en-US" altLang="en-US" sz="100" dirty="0"/>
                    </a:p>
                    <a:p>
                      <a:pPr marL="217170" algn="l" rtl="0" eaLnBrk="0">
                        <a:lnSpc>
                          <a:spcPct val="81000"/>
                        </a:lnSpc>
                      </a:pPr>
                      <a:r>
                        <a:rPr sz="1200" kern="0" spc="-20" dirty="0">
                          <a:solidFill>
                            <a:srgbClr val="000000">
                              <a:alpha val="100000"/>
                            </a:srgbClr>
                          </a:solidFill>
                          <a:latin typeface="Arial" panose="020B0604020202020204"/>
                          <a:ea typeface="Arial" panose="020B0604020202020204"/>
                          <a:cs typeface="Arial" panose="020B0604020202020204"/>
                        </a:rPr>
                        <a:t>Transfer</a:t>
                      </a:r>
                      <a:r>
                        <a:rPr sz="1200" kern="0" spc="13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Arial" panose="020B0604020202020204"/>
                          <a:ea typeface="Arial" panose="020B0604020202020204"/>
                          <a:cs typeface="Arial" panose="020B0604020202020204"/>
                        </a:rPr>
                        <a:t>Funds</a:t>
                      </a:r>
                      <a:endParaRPr lang="en-US" altLang="en-US" sz="1200" dirty="0"/>
                    </a:p>
                    <a:p>
                      <a:pPr algn="l" rtl="0" eaLnBrk="0">
                        <a:lnSpc>
                          <a:spcPct val="100000"/>
                        </a:lnSpc>
                      </a:pPr>
                      <a:endParaRPr lang="en-US" altLang="en-US" sz="750" dirty="0"/>
                    </a:p>
                    <a:p>
                      <a:pPr algn="l" rtl="0" eaLnBrk="0">
                        <a:lnSpc>
                          <a:spcPct val="100000"/>
                        </a:lnSpc>
                      </a:pPr>
                      <a:endParaRPr lang="en-US" altLang="en-US" sz="750" dirty="0"/>
                    </a:p>
                    <a:p>
                      <a:pPr algn="l" rtl="0" eaLnBrk="0">
                        <a:lnSpc>
                          <a:spcPct val="100000"/>
                        </a:lnSpc>
                      </a:pPr>
                      <a:endParaRPr lang="en-US" altLang="en-US" sz="750" dirty="0"/>
                    </a:p>
                    <a:p>
                      <a:pPr algn="l" rtl="0" eaLnBrk="0">
                        <a:lnSpc>
                          <a:spcPct val="101000"/>
                        </a:lnSpc>
                      </a:pPr>
                      <a:endParaRPr lang="en-US" altLang="en-US" sz="750" dirty="0"/>
                    </a:p>
                    <a:p>
                      <a:pPr algn="l" rtl="0" eaLnBrk="0">
                        <a:lnSpc>
                          <a:spcPct val="102000"/>
                        </a:lnSpc>
                      </a:pPr>
                      <a:endParaRPr lang="en-US" altLang="en-US" sz="300" dirty="0"/>
                    </a:p>
                    <a:p>
                      <a:pPr marL="277495" algn="l" rtl="0" eaLnBrk="0">
                        <a:lnSpc>
                          <a:spcPct val="80000"/>
                        </a:lnSpc>
                        <a:spcBef>
                          <a:spcPts val="0"/>
                        </a:spcBef>
                      </a:pPr>
                      <a:r>
                        <a:rPr sz="1200" kern="0" spc="-20" dirty="0">
                          <a:solidFill>
                            <a:srgbClr val="000000">
                              <a:alpha val="100000"/>
                            </a:srgbClr>
                          </a:solidFill>
                          <a:latin typeface="Arial" panose="020B0604020202020204"/>
                          <a:ea typeface="Arial" panose="020B0604020202020204"/>
                          <a:cs typeface="Arial" panose="020B0604020202020204"/>
                        </a:rPr>
                        <a:t>Deposit</a:t>
                      </a:r>
                      <a:r>
                        <a:rPr sz="1200" kern="0" spc="12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Arial" panose="020B0604020202020204"/>
                          <a:ea typeface="Arial" panose="020B0604020202020204"/>
                          <a:cs typeface="Arial" panose="020B0604020202020204"/>
                        </a:rPr>
                        <a:t>Fu</a:t>
                      </a:r>
                      <a:r>
                        <a:rPr sz="1200" kern="0" spc="-30" dirty="0">
                          <a:solidFill>
                            <a:srgbClr val="000000">
                              <a:alpha val="100000"/>
                            </a:srgbClr>
                          </a:solidFill>
                          <a:latin typeface="Arial" panose="020B0604020202020204"/>
                          <a:ea typeface="Arial" panose="020B0604020202020204"/>
                          <a:cs typeface="Arial" panose="020B0604020202020204"/>
                        </a:rPr>
                        <a:t>nds</a:t>
                      </a:r>
                      <a:endParaRPr lang="en-US" altLang="en-US" sz="1200" dirty="0"/>
                    </a:p>
                  </a:txBody>
                  <a:tcPr marL="0" marR="0" marT="0" marB="0" vert="horz">
                    <a:lnL>
                      <a:noFill/>
                    </a:lnL>
                    <a:lnR w="9525" cap="flat" cmpd="sng" algn="ctr">
                      <a:solidFill>
                        <a:srgbClr val="ECEBEB"/>
                      </a:solidFill>
                      <a:prstDash val="solid"/>
                      <a:round/>
                      <a:headEnd type="none" w="med" len="med"/>
                      <a:tailEnd type="none" w="med" len="med"/>
                    </a:lnR>
                    <a:lnT>
                      <a:noFill/>
                    </a:lnT>
                    <a:lnB w="6350" cap="flat" cmpd="sng" algn="ctr">
                      <a:solidFill>
                        <a:srgbClr val="ECEBEB"/>
                      </a:solidFill>
                      <a:prstDash val="solid"/>
                      <a:round/>
                      <a:headEnd type="none" w="med" len="med"/>
                      <a:tailEnd type="none" w="med" len="med"/>
                    </a:lnB>
                  </a:tcPr>
                </a:tc>
              </a:tr>
            </a:tbl>
          </a:graphicData>
        </a:graphic>
      </p:graphicFrame>
      <p:sp>
        <p:nvSpPr>
          <p:cNvPr id="340" name="rect"/>
          <p:cNvSpPr/>
          <p:nvPr/>
        </p:nvSpPr>
        <p:spPr>
          <a:xfrm>
            <a:off x="0" y="4773201"/>
            <a:ext cx="9142961" cy="370298"/>
          </a:xfrm>
          <a:prstGeom prst="rect">
            <a:avLst/>
          </a:prstGeom>
          <a:solidFill>
            <a:srgbClr val="7A4779">
              <a:alpha val="100000"/>
            </a:srgbClr>
          </a:solidFill>
          <a:ln cap="flat">
            <a:noFill/>
            <a:prstDash val="solid"/>
            <a:miter lim="0"/>
          </a:ln>
        </p:spPr>
        <p:txBody>
          <a:bodyPr rtlCol="0"/>
          <a:lstStyle/>
          <a:p>
            <a:pPr algn="ctr"/>
            <a:endParaRPr lang="zh-CN" altLang="en-US" sz="1350"/>
          </a:p>
        </p:txBody>
      </p:sp>
      <p:graphicFrame>
        <p:nvGraphicFramePr>
          <p:cNvPr id="356" name="table 356"/>
          <p:cNvGraphicFramePr>
            <a:graphicFrameLocks noGrp="1"/>
          </p:cNvGraphicFramePr>
          <p:nvPr/>
        </p:nvGraphicFramePr>
        <p:xfrm>
          <a:off x="1508917" y="2575721"/>
          <a:ext cx="906145" cy="460375"/>
        </p:xfrm>
        <a:graphic>
          <a:graphicData uri="http://schemas.openxmlformats.org/drawingml/2006/table">
            <a:tbl>
              <a:tblPr/>
              <a:tblGrid>
                <a:gridCol w="906145"/>
              </a:tblGrid>
              <a:tr h="460375">
                <a:tc>
                  <a:txBody>
                    <a:bodyPr/>
                    <a:lstStyle/>
                    <a:p>
                      <a:pPr algn="l" rtl="0" eaLnBrk="0">
                        <a:lnSpc>
                          <a:spcPct val="111000"/>
                        </a:lnSpc>
                      </a:pPr>
                      <a:endParaRPr lang="en-US" altLang="en-US" sz="750" dirty="0"/>
                    </a:p>
                    <a:p>
                      <a:pPr algn="l" rtl="0" eaLnBrk="0">
                        <a:lnSpc>
                          <a:spcPct val="8000"/>
                        </a:lnSpc>
                      </a:pPr>
                      <a:endParaRPr lang="en-US" altLang="en-US" sz="100" dirty="0"/>
                    </a:p>
                    <a:p>
                      <a:pPr marL="381635" algn="l" rtl="0" eaLnBrk="0">
                        <a:lnSpc>
                          <a:spcPct val="91000"/>
                        </a:lnSpc>
                      </a:pPr>
                      <a:r>
                        <a:rPr sz="1350" kern="0" spc="-20" dirty="0">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角色</a:t>
                      </a:r>
                      <a:endParaRPr lang="en-US" altLang="en-US" sz="1350" dirty="0"/>
                    </a:p>
                    <a:p>
                      <a:pPr marL="1004570" algn="l" rtl="0" eaLnBrk="0">
                        <a:lnSpc>
                          <a:spcPts val="1155"/>
                        </a:lnSpc>
                        <a:tabLst>
                          <a:tab pos="1205230" algn="l"/>
                        </a:tabLst>
                      </a:pPr>
                      <a:r>
                        <a:rPr sz="750" u="sng" kern="0" spc="0" dirty="0">
                          <a:solidFill>
                            <a:srgbClr val="000000">
                              <a:alpha val="100000"/>
                            </a:srgbClr>
                          </a:solidFill>
                          <a:latin typeface="Arial" panose="020B0604020202020204"/>
                          <a:ea typeface="Arial" panose="020B0604020202020204"/>
                          <a:cs typeface="Arial" panose="020B0604020202020204"/>
                        </a:rPr>
                        <a:t>	</a:t>
                      </a:r>
                      <a:endParaRPr lang="en-US" altLang="en-US" sz="750" dirty="0"/>
                    </a:p>
                  </a:txBody>
                  <a:tcPr marL="0" marR="0" marT="0" marB="0" vert="horz">
                    <a:lnL w="6350" cap="flat" cmpd="sng" algn="ctr">
                      <a:solidFill>
                        <a:srgbClr val="D81E00"/>
                      </a:solidFill>
                      <a:prstDash val="solid"/>
                      <a:round/>
                      <a:headEnd type="none" w="med" len="med"/>
                      <a:tailEnd type="none" w="med" len="med"/>
                    </a:lnL>
                    <a:lnR w="6350" cap="flat" cmpd="sng" algn="ctr">
                      <a:solidFill>
                        <a:srgbClr val="D81E00"/>
                      </a:solidFill>
                      <a:prstDash val="solid"/>
                      <a:round/>
                      <a:headEnd type="none" w="med" len="med"/>
                      <a:tailEnd type="none" w="med" len="med"/>
                    </a:lnR>
                    <a:lnT w="6350" cap="flat" cmpd="sng" algn="ctr">
                      <a:solidFill>
                        <a:srgbClr val="D81E00"/>
                      </a:solidFill>
                      <a:prstDash val="solid"/>
                      <a:round/>
                      <a:headEnd type="none" w="med" len="med"/>
                      <a:tailEnd type="none" w="med" len="med"/>
                    </a:lnT>
                    <a:lnB w="6350" cap="flat" cmpd="sng" algn="ctr">
                      <a:solidFill>
                        <a:srgbClr val="D81E00"/>
                      </a:solidFill>
                      <a:prstDash val="solid"/>
                      <a:round/>
                      <a:headEnd type="none" w="med" len="med"/>
                      <a:tailEnd type="none" w="med" len="med"/>
                    </a:lnB>
                  </a:tcPr>
                </a:tc>
              </a:tr>
            </a:tbl>
          </a:graphicData>
        </a:graphic>
      </p:graphicFrame>
      <p:graphicFrame>
        <p:nvGraphicFramePr>
          <p:cNvPr id="358" name="table 358"/>
          <p:cNvGraphicFramePr>
            <a:graphicFrameLocks noGrp="1"/>
          </p:cNvGraphicFramePr>
          <p:nvPr/>
        </p:nvGraphicFramePr>
        <p:xfrm>
          <a:off x="6220619" y="2156619"/>
          <a:ext cx="906145" cy="410845"/>
        </p:xfrm>
        <a:graphic>
          <a:graphicData uri="http://schemas.openxmlformats.org/drawingml/2006/table">
            <a:tbl>
              <a:tblPr/>
              <a:tblGrid>
                <a:gridCol w="906145"/>
              </a:tblGrid>
              <a:tr h="410845">
                <a:tc>
                  <a:txBody>
                    <a:bodyPr/>
                    <a:lstStyle/>
                    <a:p>
                      <a:pPr algn="l" rtl="0" eaLnBrk="0">
                        <a:lnSpc>
                          <a:spcPct val="113000"/>
                        </a:lnSpc>
                      </a:pPr>
                      <a:endParaRPr lang="en-US" altLang="en-US" sz="750" dirty="0"/>
                    </a:p>
                    <a:p>
                      <a:pPr algn="l" rtl="0" eaLnBrk="0">
                        <a:lnSpc>
                          <a:spcPct val="7000"/>
                        </a:lnSpc>
                      </a:pPr>
                      <a:endParaRPr lang="en-US" altLang="en-US" sz="100" dirty="0"/>
                    </a:p>
                    <a:p>
                      <a:pPr marL="383540" algn="l" rtl="0" eaLnBrk="0">
                        <a:lnSpc>
                          <a:spcPct val="90000"/>
                        </a:lnSpc>
                      </a:pPr>
                      <a:r>
                        <a:rPr sz="1350" kern="0" spc="-20" dirty="0">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用例</a:t>
                      </a:r>
                      <a:endParaRPr lang="en-US" altLang="en-US" sz="1350" dirty="0"/>
                    </a:p>
                  </a:txBody>
                  <a:tcPr marL="0" marR="0" marT="0" marB="0" vert="horz">
                    <a:lnL w="6350" cap="flat" cmpd="sng" algn="ctr">
                      <a:solidFill>
                        <a:srgbClr val="D81E00"/>
                      </a:solidFill>
                      <a:prstDash val="solid"/>
                      <a:round/>
                      <a:headEnd type="none" w="med" len="med"/>
                      <a:tailEnd type="none" w="med" len="med"/>
                    </a:lnL>
                    <a:lnR w="6350" cap="flat" cmpd="sng" algn="ctr">
                      <a:solidFill>
                        <a:srgbClr val="D81E00"/>
                      </a:solidFill>
                      <a:prstDash val="solid"/>
                      <a:round/>
                      <a:headEnd type="none" w="med" len="med"/>
                      <a:tailEnd type="none" w="med" len="med"/>
                    </a:lnR>
                    <a:lnT w="6350" cap="flat" cmpd="sng" algn="ctr">
                      <a:solidFill>
                        <a:srgbClr val="D81E00"/>
                      </a:solidFill>
                      <a:prstDash val="solid"/>
                      <a:round/>
                      <a:headEnd type="none" w="med" len="med"/>
                      <a:tailEnd type="none" w="med" len="med"/>
                    </a:lnT>
                    <a:lnB w="6350" cap="flat" cmpd="sng" algn="ctr">
                      <a:solidFill>
                        <a:srgbClr val="D81E00"/>
                      </a:solidFill>
                      <a:prstDash val="solid"/>
                      <a:round/>
                      <a:headEnd type="none" w="med" len="med"/>
                      <a:tailEnd type="none" w="med" len="med"/>
                    </a:lnB>
                  </a:tcPr>
                </a:tc>
              </a:tr>
            </a:tbl>
          </a:graphicData>
        </a:graphic>
      </p:graphicFrame>
      <p:sp>
        <p:nvSpPr>
          <p:cNvPr id="362" name="path"/>
          <p:cNvSpPr/>
          <p:nvPr/>
        </p:nvSpPr>
        <p:spPr>
          <a:xfrm>
            <a:off x="5164763" y="2393727"/>
            <a:ext cx="1058681" cy="205539"/>
          </a:xfrm>
          <a:custGeom>
            <a:avLst/>
            <a:gdLst/>
            <a:ahLst/>
            <a:cxnLst/>
            <a:rect l="0" t="0" r="0" b="0"/>
            <a:pathLst>
              <a:path w="2222" h="431">
                <a:moveTo>
                  <a:pt x="2222" y="218"/>
                </a:moveTo>
                <a:lnTo>
                  <a:pt x="0" y="426"/>
                </a:lnTo>
                <a:lnTo>
                  <a:pt x="2222" y="4"/>
                </a:lnTo>
              </a:path>
            </a:pathLst>
          </a:custGeom>
          <a:noFill/>
          <a:ln w="6349" cap="flat">
            <a:solidFill>
              <a:srgbClr val="D81E00">
                <a:alpha val="100000"/>
              </a:srgbClr>
            </a:solidFill>
            <a:prstDash val="solid"/>
            <a:miter lim="800000"/>
          </a:ln>
        </p:spPr>
        <p:txBody>
          <a:bodyPr rtlCol="0"/>
          <a:lstStyle/>
          <a:p>
            <a:pPr algn="ctr"/>
            <a:endParaRPr lang="zh-CN" altLang="en-US" sz="1350"/>
          </a:p>
        </p:txBody>
      </p:sp>
      <p:sp>
        <p:nvSpPr>
          <p:cNvPr id="364" name="textbox 364"/>
          <p:cNvSpPr/>
          <p:nvPr/>
        </p:nvSpPr>
        <p:spPr>
          <a:xfrm>
            <a:off x="6038189" y="3736162"/>
            <a:ext cx="791051" cy="166688"/>
          </a:xfrm>
          <a:prstGeom prst="rect">
            <a:avLst/>
          </a:prstGeom>
        </p:spPr>
        <p:txBody>
          <a:bodyPr vert="horz" wrap="square" lIns="0" tIns="0" rIns="0" bIns="0"/>
          <a:lstStyle/>
          <a:p>
            <a:pPr algn="l" rtl="0" eaLnBrk="0">
              <a:lnSpc>
                <a:spcPct val="76000"/>
              </a:lnSpc>
            </a:pPr>
            <a:endParaRPr lang="en-US" altLang="en-US" sz="100" dirty="0"/>
          </a:p>
          <a:p>
            <a:pPr marL="12700" algn="l" rtl="0" eaLnBrk="0">
              <a:lnSpc>
                <a:spcPct val="81000"/>
              </a:lnSpc>
            </a:pPr>
            <a:r>
              <a:rPr sz="1200" kern="0" spc="-10" dirty="0">
                <a:solidFill>
                  <a:srgbClr val="000000">
                    <a:alpha val="100000"/>
                  </a:srgbClr>
                </a:solidFill>
                <a:latin typeface="Arial" panose="020B0604020202020204"/>
                <a:ea typeface="Arial" panose="020B0604020202020204"/>
                <a:cs typeface="Arial" panose="020B0604020202020204"/>
              </a:rPr>
              <a:t>Consortiu</a:t>
            </a:r>
            <a:r>
              <a:rPr sz="1200" kern="0" spc="-20" dirty="0">
                <a:solidFill>
                  <a:srgbClr val="000000">
                    <a:alpha val="100000"/>
                  </a:srgbClr>
                </a:solidFill>
                <a:latin typeface="Arial" panose="020B0604020202020204"/>
                <a:ea typeface="Arial" panose="020B0604020202020204"/>
                <a:cs typeface="Arial" panose="020B0604020202020204"/>
              </a:rPr>
              <a:t>m</a:t>
            </a:r>
            <a:endParaRPr lang="en-US" altLang="en-US" sz="1200" dirty="0"/>
          </a:p>
        </p:txBody>
      </p:sp>
      <p:grpSp>
        <p:nvGrpSpPr>
          <p:cNvPr id="64" name="group 64"/>
          <p:cNvGrpSpPr/>
          <p:nvPr/>
        </p:nvGrpSpPr>
        <p:grpSpPr>
          <a:xfrm rot="21600000">
            <a:off x="5213464" y="3299366"/>
            <a:ext cx="885825" cy="88430"/>
            <a:chOff x="0" y="0"/>
            <a:chExt cx="1181100" cy="117907"/>
          </a:xfrm>
        </p:grpSpPr>
        <p:sp>
          <p:nvSpPr>
            <p:cNvPr id="366" name="path"/>
            <p:cNvSpPr/>
            <p:nvPr/>
          </p:nvSpPr>
          <p:spPr>
            <a:xfrm>
              <a:off x="0" y="52603"/>
              <a:ext cx="1155895" cy="12700"/>
            </a:xfrm>
            <a:custGeom>
              <a:avLst/>
              <a:gdLst/>
              <a:ahLst/>
              <a:cxnLst/>
              <a:rect l="0" t="0" r="0" b="0"/>
              <a:pathLst>
                <a:path w="1820" h="20">
                  <a:moveTo>
                    <a:pt x="0" y="10"/>
                  </a:moveTo>
                  <a:lnTo>
                    <a:pt x="1820" y="10"/>
                  </a:lnTo>
                </a:path>
              </a:pathLst>
            </a:custGeom>
            <a:noFill/>
            <a:ln w="12699" cap="flat">
              <a:solidFill>
                <a:srgbClr val="000000">
                  <a:alpha val="100000"/>
                </a:srgbClr>
              </a:solidFill>
              <a:prstDash val="solid"/>
              <a:round/>
            </a:ln>
          </p:spPr>
          <p:txBody>
            <a:bodyPr rtlCol="0"/>
            <a:lstStyle/>
            <a:p>
              <a:pPr algn="ctr"/>
              <a:endParaRPr lang="zh-CN" altLang="en-US" sz="1350"/>
            </a:p>
          </p:txBody>
        </p:sp>
        <p:sp>
          <p:nvSpPr>
            <p:cNvPr id="368" name="path"/>
            <p:cNvSpPr/>
            <p:nvPr/>
          </p:nvSpPr>
          <p:spPr>
            <a:xfrm>
              <a:off x="1065191" y="0"/>
              <a:ext cx="115908" cy="117907"/>
            </a:xfrm>
            <a:custGeom>
              <a:avLst/>
              <a:gdLst/>
              <a:ahLst/>
              <a:cxnLst/>
              <a:rect l="0" t="0" r="0" b="0"/>
              <a:pathLst>
                <a:path w="182" h="185">
                  <a:moveTo>
                    <a:pt x="182" y="92"/>
                  </a:moveTo>
                  <a:lnTo>
                    <a:pt x="32" y="180"/>
                  </a:lnTo>
                  <a:lnTo>
                    <a:pt x="32" y="180"/>
                  </a:lnTo>
                  <a:cubicBezTo>
                    <a:pt x="23" y="185"/>
                    <a:pt x="11" y="182"/>
                    <a:pt x="5" y="172"/>
                  </a:cubicBezTo>
                  <a:lnTo>
                    <a:pt x="5" y="172"/>
                  </a:lnTo>
                  <a:cubicBezTo>
                    <a:pt x="0" y="163"/>
                    <a:pt x="3" y="151"/>
                    <a:pt x="12" y="145"/>
                  </a:cubicBezTo>
                  <a:lnTo>
                    <a:pt x="103" y="92"/>
                  </a:lnTo>
                  <a:lnTo>
                    <a:pt x="12" y="40"/>
                  </a:lnTo>
                  <a:lnTo>
                    <a:pt x="12" y="40"/>
                  </a:lnTo>
                  <a:cubicBezTo>
                    <a:pt x="3" y="34"/>
                    <a:pt x="0" y="22"/>
                    <a:pt x="5" y="12"/>
                  </a:cubicBezTo>
                  <a:cubicBezTo>
                    <a:pt x="5" y="12"/>
                    <a:pt x="5" y="12"/>
                    <a:pt x="5" y="12"/>
                  </a:cubicBezTo>
                  <a:lnTo>
                    <a:pt x="5" y="12"/>
                  </a:lnTo>
                  <a:cubicBezTo>
                    <a:pt x="11" y="3"/>
                    <a:pt x="23" y="0"/>
                    <a:pt x="32" y="5"/>
                  </a:cubicBezTo>
                  <a:lnTo>
                    <a:pt x="182" y="92"/>
                  </a:lnTo>
                  <a:close/>
                </a:path>
              </a:pathLst>
            </a:custGeom>
            <a:solidFill>
              <a:srgbClr val="000000">
                <a:alpha val="100000"/>
              </a:srgbClr>
            </a:solidFill>
            <a:ln cap="flat">
              <a:noFill/>
              <a:prstDash val="solid"/>
              <a:miter lim="0"/>
            </a:ln>
          </p:spPr>
          <p:txBody>
            <a:bodyPr rtlCol="0"/>
            <a:lstStyle/>
            <a:p>
              <a:pPr algn="ctr"/>
              <a:endParaRPr lang="zh-CN" altLang="en-US" sz="1350"/>
            </a:p>
          </p:txBody>
        </p:sp>
      </p:grpSp>
      <p:sp>
        <p:nvSpPr>
          <p:cNvPr id="370" name="textbox 370"/>
          <p:cNvSpPr/>
          <p:nvPr/>
        </p:nvSpPr>
        <p:spPr>
          <a:xfrm>
            <a:off x="2151650" y="3605300"/>
            <a:ext cx="674370" cy="166688"/>
          </a:xfrm>
          <a:prstGeom prst="rect">
            <a:avLst/>
          </a:prstGeom>
        </p:spPr>
        <p:txBody>
          <a:bodyPr vert="horz" wrap="square" lIns="0" tIns="0" rIns="0" bIns="0"/>
          <a:lstStyle/>
          <a:p>
            <a:pPr algn="l" rtl="0" eaLnBrk="0">
              <a:lnSpc>
                <a:spcPct val="76000"/>
              </a:lnSpc>
            </a:pPr>
            <a:endParaRPr lang="en-US" altLang="en-US" sz="100" dirty="0"/>
          </a:p>
          <a:p>
            <a:pPr marL="12700" algn="l" rtl="0" eaLnBrk="0">
              <a:lnSpc>
                <a:spcPct val="81000"/>
              </a:lnSpc>
            </a:pPr>
            <a:r>
              <a:rPr sz="1200" kern="0" spc="-20" dirty="0">
                <a:solidFill>
                  <a:srgbClr val="000000">
                    <a:alpha val="100000"/>
                  </a:srgbClr>
                </a:solidFill>
                <a:latin typeface="Arial" panose="020B0604020202020204"/>
                <a:ea typeface="Arial" panose="020B0604020202020204"/>
                <a:cs typeface="Arial" panose="020B0604020202020204"/>
              </a:rPr>
              <a:t>Customer</a:t>
            </a:r>
            <a:endParaRPr lang="en-US" altLang="en-US" sz="1200" dirty="0"/>
          </a:p>
        </p:txBody>
      </p:sp>
      <p:sp>
        <p:nvSpPr>
          <p:cNvPr id="372" name="path"/>
          <p:cNvSpPr/>
          <p:nvPr/>
        </p:nvSpPr>
        <p:spPr>
          <a:xfrm>
            <a:off x="2036174" y="2982398"/>
            <a:ext cx="349715" cy="188102"/>
          </a:xfrm>
          <a:custGeom>
            <a:avLst/>
            <a:gdLst/>
            <a:ahLst/>
            <a:cxnLst/>
            <a:rect l="0" t="0" r="0" b="0"/>
            <a:pathLst>
              <a:path w="734" h="394">
                <a:moveTo>
                  <a:pt x="475" y="4"/>
                </a:moveTo>
                <a:lnTo>
                  <a:pt x="730" y="390"/>
                </a:lnTo>
                <a:lnTo>
                  <a:pt x="2" y="4"/>
                </a:lnTo>
              </a:path>
            </a:pathLst>
          </a:custGeom>
          <a:noFill/>
          <a:ln w="6349" cap="flat">
            <a:solidFill>
              <a:srgbClr val="D81E00">
                <a:alpha val="100000"/>
              </a:srgbClr>
            </a:solidFill>
            <a:prstDash val="solid"/>
            <a:miter lim="800000"/>
          </a:ln>
        </p:spPr>
        <p:txBody>
          <a:bodyPr rtlCol="0"/>
          <a:lstStyle/>
          <a:p>
            <a:pPr algn="ctr"/>
            <a:endParaRPr lang="zh-CN" altLang="en-US" sz="1350"/>
          </a:p>
        </p:txBody>
      </p:sp>
      <p:sp>
        <p:nvSpPr>
          <p:cNvPr id="374" name="path"/>
          <p:cNvSpPr/>
          <p:nvPr/>
        </p:nvSpPr>
        <p:spPr>
          <a:xfrm>
            <a:off x="6283548" y="3353945"/>
            <a:ext cx="284801" cy="152438"/>
          </a:xfrm>
          <a:custGeom>
            <a:avLst/>
            <a:gdLst/>
            <a:ahLst/>
            <a:cxnLst/>
            <a:rect l="0" t="0" r="0" b="0"/>
            <a:pathLst>
              <a:path w="598" h="320">
                <a:moveTo>
                  <a:pt x="10" y="310"/>
                </a:moveTo>
                <a:lnTo>
                  <a:pt x="299" y="10"/>
                </a:lnTo>
                <a:lnTo>
                  <a:pt x="588" y="310"/>
                </a:lnTo>
              </a:path>
            </a:pathLst>
          </a:custGeom>
          <a:noFill/>
          <a:ln w="12699" cap="flat">
            <a:solidFill>
              <a:srgbClr val="000000">
                <a:alpha val="100000"/>
              </a:srgbClr>
            </a:solidFill>
            <a:prstDash val="solid"/>
            <a:round/>
          </a:ln>
        </p:spPr>
        <p:txBody>
          <a:bodyPr rtlCol="0"/>
          <a:lstStyle/>
          <a:p>
            <a:pPr algn="ctr"/>
            <a:endParaRPr lang="zh-CN" altLang="en-US" sz="1350"/>
          </a:p>
        </p:txBody>
      </p:sp>
      <p:sp>
        <p:nvSpPr>
          <p:cNvPr id="376" name="path"/>
          <p:cNvSpPr/>
          <p:nvPr/>
        </p:nvSpPr>
        <p:spPr>
          <a:xfrm>
            <a:off x="2350009" y="3390551"/>
            <a:ext cx="285749" cy="151864"/>
          </a:xfrm>
          <a:custGeom>
            <a:avLst/>
            <a:gdLst/>
            <a:ahLst/>
            <a:cxnLst/>
            <a:rect l="0" t="0" r="0" b="0"/>
            <a:pathLst>
              <a:path w="599" h="318">
                <a:moveTo>
                  <a:pt x="10" y="308"/>
                </a:moveTo>
                <a:lnTo>
                  <a:pt x="299" y="10"/>
                </a:lnTo>
                <a:lnTo>
                  <a:pt x="589" y="308"/>
                </a:lnTo>
              </a:path>
            </a:pathLst>
          </a:custGeom>
          <a:noFill/>
          <a:ln w="12699" cap="flat">
            <a:solidFill>
              <a:srgbClr val="000000">
                <a:alpha val="100000"/>
              </a:srgbClr>
            </a:solidFill>
            <a:prstDash val="solid"/>
            <a:round/>
          </a:ln>
        </p:spPr>
        <p:txBody>
          <a:bodyPr rtlCol="0"/>
          <a:lstStyle/>
          <a:p>
            <a:pPr algn="ctr"/>
            <a:endParaRPr lang="zh-CN" altLang="en-US" sz="1350"/>
          </a:p>
        </p:txBody>
      </p:sp>
      <p:sp>
        <p:nvSpPr>
          <p:cNvPr id="378" name="textbox 378"/>
          <p:cNvSpPr/>
          <p:nvPr/>
        </p:nvSpPr>
        <p:spPr>
          <a:xfrm>
            <a:off x="6257606" y="3576066"/>
            <a:ext cx="355758" cy="164782"/>
          </a:xfrm>
          <a:prstGeom prst="rect">
            <a:avLst/>
          </a:prstGeom>
        </p:spPr>
        <p:txBody>
          <a:bodyPr vert="horz" wrap="square" lIns="0" tIns="0" rIns="0" bIns="0"/>
          <a:lstStyle/>
          <a:p>
            <a:pPr algn="l" rtl="0" eaLnBrk="0">
              <a:lnSpc>
                <a:spcPct val="77000"/>
              </a:lnSpc>
            </a:pPr>
            <a:endParaRPr lang="en-US" altLang="en-US" sz="100" dirty="0"/>
          </a:p>
          <a:p>
            <a:pPr marL="12700" algn="l" rtl="0" eaLnBrk="0">
              <a:lnSpc>
                <a:spcPct val="80000"/>
              </a:lnSpc>
            </a:pPr>
            <a:r>
              <a:rPr sz="1200" kern="0" spc="-40" dirty="0">
                <a:solidFill>
                  <a:srgbClr val="000000">
                    <a:alpha val="100000"/>
                  </a:srgbClr>
                </a:solidFill>
                <a:latin typeface="Arial" panose="020B0604020202020204"/>
                <a:ea typeface="Arial" panose="020B0604020202020204"/>
                <a:cs typeface="Arial" panose="020B0604020202020204"/>
              </a:rPr>
              <a:t>Bank</a:t>
            </a:r>
            <a:endParaRPr lang="en-US" altLang="en-US" sz="1200" dirty="0"/>
          </a:p>
        </p:txBody>
      </p:sp>
      <p:sp>
        <p:nvSpPr>
          <p:cNvPr id="380" name="path"/>
          <p:cNvSpPr/>
          <p:nvPr/>
        </p:nvSpPr>
        <p:spPr>
          <a:xfrm>
            <a:off x="2392913" y="3273791"/>
            <a:ext cx="199943" cy="121558"/>
          </a:xfrm>
          <a:custGeom>
            <a:avLst/>
            <a:gdLst/>
            <a:ahLst/>
            <a:cxnLst/>
            <a:rect l="0" t="0" r="0" b="0"/>
            <a:pathLst>
              <a:path w="419" h="255">
                <a:moveTo>
                  <a:pt x="209" y="0"/>
                </a:moveTo>
                <a:lnTo>
                  <a:pt x="211" y="255"/>
                </a:lnTo>
                <a:moveTo>
                  <a:pt x="0" y="70"/>
                </a:moveTo>
                <a:lnTo>
                  <a:pt x="419" y="72"/>
                </a:lnTo>
              </a:path>
            </a:pathLst>
          </a:custGeom>
          <a:noFill/>
          <a:ln w="12699" cap="flat">
            <a:solidFill>
              <a:srgbClr val="000000">
                <a:alpha val="100000"/>
              </a:srgbClr>
            </a:solidFill>
            <a:prstDash val="solid"/>
            <a:round/>
          </a:ln>
        </p:spPr>
        <p:txBody>
          <a:bodyPr rtlCol="0"/>
          <a:lstStyle/>
          <a:p>
            <a:pPr algn="ctr"/>
            <a:endParaRPr lang="zh-CN" altLang="en-US" sz="1350"/>
          </a:p>
        </p:txBody>
      </p:sp>
      <p:sp>
        <p:nvSpPr>
          <p:cNvPr id="382" name="path"/>
          <p:cNvSpPr/>
          <p:nvPr/>
        </p:nvSpPr>
        <p:spPr>
          <a:xfrm>
            <a:off x="6326559" y="3236792"/>
            <a:ext cx="199277" cy="121935"/>
          </a:xfrm>
          <a:custGeom>
            <a:avLst/>
            <a:gdLst/>
            <a:ahLst/>
            <a:cxnLst/>
            <a:rect l="0" t="0" r="0" b="0"/>
            <a:pathLst>
              <a:path w="418" h="256">
                <a:moveTo>
                  <a:pt x="208" y="0"/>
                </a:moveTo>
                <a:lnTo>
                  <a:pt x="209" y="255"/>
                </a:lnTo>
                <a:moveTo>
                  <a:pt x="0" y="71"/>
                </a:moveTo>
                <a:lnTo>
                  <a:pt x="418" y="72"/>
                </a:lnTo>
              </a:path>
            </a:pathLst>
          </a:custGeom>
          <a:noFill/>
          <a:ln w="12699" cap="flat">
            <a:solidFill>
              <a:srgbClr val="000000">
                <a:alpha val="100000"/>
              </a:srgbClr>
            </a:solidFill>
            <a:prstDash val="solid"/>
            <a:round/>
          </a:ln>
        </p:spPr>
        <p:txBody>
          <a:bodyPr rtlCol="0"/>
          <a:lstStyle/>
          <a:p>
            <a:pPr algn="ctr"/>
            <a:endParaRPr lang="zh-CN" altLang="en-US" sz="1350"/>
          </a:p>
        </p:txBody>
      </p:sp>
      <p:sp>
        <p:nvSpPr>
          <p:cNvPr id="384" name="path"/>
          <p:cNvSpPr/>
          <p:nvPr/>
        </p:nvSpPr>
        <p:spPr>
          <a:xfrm>
            <a:off x="6358578" y="3100694"/>
            <a:ext cx="135238" cy="139829"/>
          </a:xfrm>
          <a:custGeom>
            <a:avLst/>
            <a:gdLst/>
            <a:ahLst/>
            <a:cxnLst/>
            <a:rect l="0" t="0" r="0" b="0"/>
            <a:pathLst>
              <a:path w="283" h="293">
                <a:moveTo>
                  <a:pt x="10" y="146"/>
                </a:moveTo>
                <a:cubicBezTo>
                  <a:pt x="10" y="71"/>
                  <a:pt x="69" y="10"/>
                  <a:pt x="141" y="10"/>
                </a:cubicBezTo>
                <a:cubicBezTo>
                  <a:pt x="214" y="10"/>
                  <a:pt x="273" y="71"/>
                  <a:pt x="273" y="146"/>
                </a:cubicBezTo>
                <a:cubicBezTo>
                  <a:pt x="273" y="222"/>
                  <a:pt x="214" y="283"/>
                  <a:pt x="141" y="283"/>
                </a:cubicBezTo>
                <a:cubicBezTo>
                  <a:pt x="69" y="283"/>
                  <a:pt x="10" y="222"/>
                  <a:pt x="10" y="146"/>
                </a:cubicBezTo>
              </a:path>
            </a:pathLst>
          </a:custGeom>
          <a:noFill/>
          <a:ln w="12699" cap="flat">
            <a:solidFill>
              <a:srgbClr val="000000">
                <a:alpha val="100000"/>
              </a:srgbClr>
            </a:solidFill>
            <a:prstDash val="solid"/>
            <a:round/>
          </a:ln>
        </p:spPr>
        <p:txBody>
          <a:bodyPr rtlCol="0"/>
          <a:lstStyle/>
          <a:p>
            <a:pPr algn="ctr"/>
            <a:endParaRPr lang="zh-CN" altLang="en-US" sz="1350"/>
          </a:p>
        </p:txBody>
      </p:sp>
      <p:sp>
        <p:nvSpPr>
          <p:cNvPr id="386" name="path"/>
          <p:cNvSpPr/>
          <p:nvPr/>
        </p:nvSpPr>
        <p:spPr>
          <a:xfrm>
            <a:off x="2425425" y="3137603"/>
            <a:ext cx="135824" cy="139173"/>
          </a:xfrm>
          <a:custGeom>
            <a:avLst/>
            <a:gdLst/>
            <a:ahLst/>
            <a:cxnLst/>
            <a:rect l="0" t="0" r="0" b="0"/>
            <a:pathLst>
              <a:path w="285" h="292">
                <a:moveTo>
                  <a:pt x="10" y="146"/>
                </a:moveTo>
                <a:cubicBezTo>
                  <a:pt x="10" y="70"/>
                  <a:pt x="69" y="10"/>
                  <a:pt x="142" y="10"/>
                </a:cubicBezTo>
                <a:cubicBezTo>
                  <a:pt x="215" y="10"/>
                  <a:pt x="275" y="70"/>
                  <a:pt x="275" y="146"/>
                </a:cubicBezTo>
                <a:cubicBezTo>
                  <a:pt x="275" y="221"/>
                  <a:pt x="215" y="282"/>
                  <a:pt x="142" y="282"/>
                </a:cubicBezTo>
                <a:cubicBezTo>
                  <a:pt x="69" y="282"/>
                  <a:pt x="10" y="221"/>
                  <a:pt x="10" y="146"/>
                </a:cubicBezTo>
              </a:path>
            </a:pathLst>
          </a:custGeom>
          <a:noFill/>
          <a:ln w="12699" cap="flat">
            <a:solidFill>
              <a:srgbClr val="000000">
                <a:alpha val="100000"/>
              </a:srgbClr>
            </a:solidFill>
            <a:prstDash val="solid"/>
            <a:round/>
          </a:ln>
        </p:spPr>
        <p:txBody>
          <a:bodyPr rtlCol="0"/>
          <a:lstStyle/>
          <a:p>
            <a:pPr algn="ctr"/>
            <a:endParaRPr lang="zh-CN" altLang="en-US" sz="1350"/>
          </a:p>
        </p:txBody>
      </p:sp>
      <p:sp>
        <p:nvSpPr>
          <p:cNvPr id="388" name="rect"/>
          <p:cNvSpPr/>
          <p:nvPr/>
        </p:nvSpPr>
        <p:spPr>
          <a:xfrm>
            <a:off x="2723859" y="3337628"/>
            <a:ext cx="1039572" cy="10694"/>
          </a:xfrm>
          <a:prstGeom prst="rect">
            <a:avLst/>
          </a:prstGeom>
          <a:solidFill>
            <a:srgbClr val="000000">
              <a:alpha val="100000"/>
            </a:srgbClr>
          </a:solidFill>
          <a:ln cap="flat">
            <a:noFill/>
            <a:prstDash val="solid"/>
            <a:miter lim="0"/>
          </a:ln>
        </p:spPr>
        <p:txBody>
          <a:bodyPr rtlCol="0"/>
          <a:lstStyle/>
          <a:p>
            <a:pPr algn="ctr"/>
            <a:endParaRPr lang="zh-CN" altLang="en-US" sz="1350"/>
          </a:p>
        </p:txBody>
      </p:sp>
      <p:sp>
        <p:nvSpPr>
          <p:cNvPr id="390" name="path"/>
          <p:cNvSpPr/>
          <p:nvPr/>
        </p:nvSpPr>
        <p:spPr>
          <a:xfrm>
            <a:off x="3695360" y="3299281"/>
            <a:ext cx="86969" cy="88430"/>
          </a:xfrm>
          <a:custGeom>
            <a:avLst/>
            <a:gdLst/>
            <a:ahLst/>
            <a:cxnLst/>
            <a:rect l="0" t="0" r="0" b="0"/>
            <a:pathLst>
              <a:path w="182" h="185">
                <a:moveTo>
                  <a:pt x="182" y="93"/>
                </a:moveTo>
                <a:lnTo>
                  <a:pt x="32" y="180"/>
                </a:lnTo>
                <a:lnTo>
                  <a:pt x="32" y="180"/>
                </a:lnTo>
                <a:cubicBezTo>
                  <a:pt x="23" y="185"/>
                  <a:pt x="11" y="182"/>
                  <a:pt x="5" y="172"/>
                </a:cubicBezTo>
                <a:lnTo>
                  <a:pt x="5" y="172"/>
                </a:lnTo>
                <a:cubicBezTo>
                  <a:pt x="0" y="163"/>
                  <a:pt x="3" y="151"/>
                  <a:pt x="12" y="145"/>
                </a:cubicBezTo>
                <a:lnTo>
                  <a:pt x="103" y="92"/>
                </a:lnTo>
                <a:lnTo>
                  <a:pt x="12" y="40"/>
                </a:lnTo>
                <a:lnTo>
                  <a:pt x="12" y="40"/>
                </a:lnTo>
                <a:cubicBezTo>
                  <a:pt x="3" y="34"/>
                  <a:pt x="0" y="22"/>
                  <a:pt x="5" y="12"/>
                </a:cubicBezTo>
                <a:cubicBezTo>
                  <a:pt x="5" y="12"/>
                  <a:pt x="5" y="12"/>
                  <a:pt x="5" y="12"/>
                </a:cubicBezTo>
                <a:lnTo>
                  <a:pt x="5" y="12"/>
                </a:lnTo>
                <a:cubicBezTo>
                  <a:pt x="11" y="3"/>
                  <a:pt x="23" y="0"/>
                  <a:pt x="33" y="5"/>
                </a:cubicBezTo>
                <a:lnTo>
                  <a:pt x="182" y="93"/>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392" name="path"/>
          <p:cNvSpPr/>
          <p:nvPr/>
        </p:nvSpPr>
        <p:spPr>
          <a:xfrm>
            <a:off x="6002959" y="3486945"/>
            <a:ext cx="92758" cy="80259"/>
          </a:xfrm>
          <a:custGeom>
            <a:avLst/>
            <a:gdLst/>
            <a:ahLst/>
            <a:cxnLst/>
            <a:rect l="0" t="0" r="0" b="0"/>
            <a:pathLst>
              <a:path w="194" h="168">
                <a:moveTo>
                  <a:pt x="194" y="11"/>
                </a:moveTo>
                <a:lnTo>
                  <a:pt x="21" y="0"/>
                </a:lnTo>
                <a:lnTo>
                  <a:pt x="21" y="0"/>
                </a:lnTo>
                <a:cubicBezTo>
                  <a:pt x="10" y="0"/>
                  <a:pt x="1" y="8"/>
                  <a:pt x="0" y="19"/>
                </a:cubicBezTo>
                <a:lnTo>
                  <a:pt x="0" y="19"/>
                </a:lnTo>
                <a:cubicBezTo>
                  <a:pt x="0" y="30"/>
                  <a:pt x="8" y="39"/>
                  <a:pt x="19" y="40"/>
                </a:cubicBezTo>
                <a:lnTo>
                  <a:pt x="123" y="47"/>
                </a:lnTo>
                <a:lnTo>
                  <a:pt x="66" y="134"/>
                </a:lnTo>
                <a:lnTo>
                  <a:pt x="66" y="134"/>
                </a:lnTo>
                <a:cubicBezTo>
                  <a:pt x="60" y="144"/>
                  <a:pt x="63" y="156"/>
                  <a:pt x="72" y="162"/>
                </a:cubicBezTo>
                <a:cubicBezTo>
                  <a:pt x="72" y="162"/>
                  <a:pt x="72" y="162"/>
                  <a:pt x="72" y="162"/>
                </a:cubicBezTo>
                <a:lnTo>
                  <a:pt x="72" y="162"/>
                </a:lnTo>
                <a:cubicBezTo>
                  <a:pt x="81" y="168"/>
                  <a:pt x="94" y="165"/>
                  <a:pt x="100" y="156"/>
                </a:cubicBezTo>
                <a:lnTo>
                  <a:pt x="194" y="11"/>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394" name="path"/>
          <p:cNvSpPr/>
          <p:nvPr/>
        </p:nvSpPr>
        <p:spPr>
          <a:xfrm>
            <a:off x="6220619" y="2497667"/>
            <a:ext cx="4763" cy="67733"/>
          </a:xfrm>
          <a:custGeom>
            <a:avLst/>
            <a:gdLst/>
            <a:ahLst/>
            <a:cxnLst/>
            <a:rect l="0" t="0" r="0" b="0"/>
            <a:pathLst>
              <a:path w="10" h="142">
                <a:moveTo>
                  <a:pt x="5" y="142"/>
                </a:moveTo>
                <a:lnTo>
                  <a:pt x="5" y="0"/>
                </a:lnTo>
              </a:path>
            </a:pathLst>
          </a:custGeom>
          <a:noFill/>
          <a:ln w="6349" cap="flat">
            <a:solidFill>
              <a:srgbClr val="D81E00">
                <a:alpha val="100000"/>
              </a:srgbClr>
            </a:solidFill>
            <a:prstDash val="solid"/>
            <a:miter lim="800000"/>
          </a:ln>
        </p:spPr>
        <p:txBody>
          <a:bodyPr rtlCol="0"/>
          <a:lstStyle/>
          <a:p>
            <a:pPr algn="ctr"/>
            <a:endParaRPr lang="zh-CN" altLang="en-US" sz="1350"/>
          </a:p>
        </p:txBody>
      </p:sp>
      <p:sp>
        <p:nvSpPr>
          <p:cNvPr id="3" name="标题 2"/>
          <p:cNvSpPr>
            <a:spLocks noGrp="1"/>
          </p:cNvSpPr>
          <p:nvPr>
            <p:ph type="title"/>
          </p:nvPr>
        </p:nvSpPr>
        <p:spPr/>
        <p:txBody>
          <a:bodyPr/>
          <a:p>
            <a:r>
              <a:rPr lang="zh-CN" altLang="en-US" dirty="0"/>
              <a:t>用例点估算</a:t>
            </a:r>
            <a:endParaRPr lang="en-US" altLang="zh-CN"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6" name="table 396"/>
          <p:cNvGraphicFramePr>
            <a:graphicFrameLocks noGrp="1"/>
          </p:cNvGraphicFramePr>
          <p:nvPr/>
        </p:nvGraphicFramePr>
        <p:xfrm>
          <a:off x="961876" y="1818440"/>
          <a:ext cx="7279640" cy="2555875"/>
        </p:xfrm>
        <a:graphic>
          <a:graphicData uri="http://schemas.openxmlformats.org/drawingml/2006/table">
            <a:tbl>
              <a:tblPr/>
              <a:tblGrid>
                <a:gridCol w="917575"/>
                <a:gridCol w="4673600"/>
                <a:gridCol w="876300"/>
                <a:gridCol w="812165"/>
              </a:tblGrid>
              <a:tr h="534670">
                <a:tc>
                  <a:txBody>
                    <a:bodyPr/>
                    <a:lstStyle/>
                    <a:p>
                      <a:pPr algn="l" rtl="0" eaLnBrk="0">
                        <a:lnSpc>
                          <a:spcPct val="110000"/>
                        </a:lnSpc>
                      </a:pPr>
                      <a:endParaRPr lang="en-US" altLang="en-US" sz="450" dirty="0"/>
                    </a:p>
                    <a:p>
                      <a:pPr marL="388620" algn="l" rtl="0" eaLnBrk="0">
                        <a:lnSpc>
                          <a:spcPct val="83000"/>
                        </a:lnSpc>
                      </a:pP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角色</a:t>
                      </a:r>
                      <a:endParaRPr lang="en-US" altLang="en-US" sz="1350" dirty="0"/>
                    </a:p>
                    <a:p>
                      <a:pPr marL="273685" algn="l" rtl="0" eaLnBrk="0">
                        <a:lnSpc>
                          <a:spcPts val="2280"/>
                        </a:lnSpc>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复杂度</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CEBEB"/>
                    </a:solidFill>
                  </a:tcPr>
                </a:tc>
                <a:tc>
                  <a:txBody>
                    <a:bodyPr/>
                    <a:lstStyle/>
                    <a:p>
                      <a:pPr algn="l" rtl="0" eaLnBrk="0">
                        <a:lnSpc>
                          <a:spcPct val="158000"/>
                        </a:lnSpc>
                      </a:pPr>
                      <a:endParaRPr lang="en-US" altLang="en-US" sz="750" dirty="0"/>
                    </a:p>
                    <a:p>
                      <a:pPr marL="2893060" algn="l" rtl="0" eaLnBrk="0">
                        <a:lnSpc>
                          <a:spcPct val="90000"/>
                        </a:lnSpc>
                        <a:spcBef>
                          <a:spcPts val="5"/>
                        </a:spcBef>
                      </a:pP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说明</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CEBEB"/>
                    </a:solidFill>
                  </a:tcPr>
                </a:tc>
                <a:tc>
                  <a:txBody>
                    <a:bodyPr/>
                    <a:lstStyle/>
                    <a:p>
                      <a:pPr algn="l" rtl="0" eaLnBrk="0">
                        <a:lnSpc>
                          <a:spcPct val="158000"/>
                        </a:lnSpc>
                      </a:pPr>
                      <a:endParaRPr lang="en-US" altLang="en-US" sz="750" dirty="0"/>
                    </a:p>
                    <a:p>
                      <a:pPr marL="358775" algn="l" rtl="0" eaLnBrk="0">
                        <a:lnSpc>
                          <a:spcPct val="90000"/>
                        </a:lnSpc>
                        <a:spcBef>
                          <a:spcPts val="5"/>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权重</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CEBEB"/>
                    </a:solidFill>
                  </a:tcPr>
                </a:tc>
                <a:tc>
                  <a:txBody>
                    <a:bodyPr/>
                    <a:lstStyle/>
                    <a:p>
                      <a:pPr algn="l" rtl="0" eaLnBrk="0">
                        <a:lnSpc>
                          <a:spcPct val="156000"/>
                        </a:lnSpc>
                      </a:pPr>
                      <a:endParaRPr lang="en-US" altLang="en-US" sz="750" dirty="0"/>
                    </a:p>
                    <a:p>
                      <a:pPr marL="314960" algn="l" rtl="0" eaLnBrk="0">
                        <a:lnSpc>
                          <a:spcPct val="91000"/>
                        </a:lnSpc>
                        <a:spcBef>
                          <a:spcPts val="5"/>
                        </a:spcBef>
                      </a:pP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总计</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CEBEB"/>
                    </a:solidFill>
                  </a:tcPr>
                </a:tc>
              </a:tr>
              <a:tr h="512445">
                <a:tc>
                  <a:txBody>
                    <a:bodyPr/>
                    <a:lstStyle/>
                    <a:p>
                      <a:pPr algn="l" rtl="0" eaLnBrk="0">
                        <a:lnSpc>
                          <a:spcPct val="142000"/>
                        </a:lnSpc>
                      </a:pPr>
                      <a:endParaRPr lang="en-US" altLang="en-US" sz="750" dirty="0"/>
                    </a:p>
                    <a:p>
                      <a:pPr algn="l" rtl="0" eaLnBrk="0">
                        <a:lnSpc>
                          <a:spcPct val="7000"/>
                        </a:lnSpc>
                      </a:pPr>
                      <a:endParaRPr lang="en-US" altLang="en-US" sz="100" dirty="0"/>
                    </a:p>
                    <a:p>
                      <a:pPr marL="386080" algn="l" rtl="0" eaLnBrk="0">
                        <a:lnSpc>
                          <a:spcPct val="91000"/>
                        </a:lnSpc>
                      </a:pP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简单</a:t>
                      </a:r>
                      <a:endParaRPr lang="en-US" altLang="en-US" sz="1350" dirty="0"/>
                    </a:p>
                  </a:txBody>
                  <a:tcPr marL="0" marR="0" marT="0" marB="0" vert="horz">
                    <a:lnL>
                      <a:noFill/>
                    </a:lnL>
                    <a:lnR>
                      <a:noFill/>
                    </a:lnR>
                    <a:lnT w="12700" cap="flat" cmpd="sng" algn="ctr">
                      <a:solidFill>
                        <a:srgbClr val="000000"/>
                      </a:solidFill>
                      <a:prstDash val="solid"/>
                      <a:round/>
                      <a:headEnd type="none" w="med" len="med"/>
                      <a:tailEnd type="none" w="med" len="med"/>
                    </a:lnT>
                    <a:lnB>
                      <a:noFill/>
                    </a:lnB>
                  </a:tcPr>
                </a:tc>
                <a:tc>
                  <a:txBody>
                    <a:bodyPr/>
                    <a:lstStyle/>
                    <a:p>
                      <a:pPr algn="l" rtl="0" eaLnBrk="0">
                        <a:lnSpc>
                          <a:spcPct val="152000"/>
                        </a:lnSpc>
                      </a:pPr>
                      <a:endParaRPr lang="en-US" altLang="en-US" sz="750" dirty="0"/>
                    </a:p>
                    <a:p>
                      <a:pPr marL="648335" algn="l" rtl="0" eaLnBrk="0">
                        <a:lnSpc>
                          <a:spcPct val="91000"/>
                        </a:lnSpc>
                        <a:spcBef>
                          <a:spcPts val="0"/>
                        </a:spcBef>
                      </a:pP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角色是通过</a:t>
                      </a:r>
                      <a:r>
                        <a:rPr sz="1350" kern="0" spc="0" dirty="0">
                          <a:solidFill>
                            <a:srgbClr val="000000">
                              <a:alpha val="100000"/>
                            </a:srgbClr>
                          </a:solidFill>
                          <a:latin typeface="Arial" panose="020B0604020202020204"/>
                          <a:ea typeface="Arial" panose="020B0604020202020204"/>
                          <a:cs typeface="Arial" panose="020B0604020202020204"/>
                        </a:rPr>
                        <a:t>API</a:t>
                      </a: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或接口与系统进行交互的</a:t>
                      </a: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其他系统</a:t>
                      </a:r>
                      <a:endParaRPr lang="en-US" altLang="en-US" sz="1350" dirty="0"/>
                    </a:p>
                  </a:txBody>
                  <a:tcPr marL="0" marR="0" marT="0" marB="0" vert="horz">
                    <a:lnL>
                      <a:noFill/>
                    </a:lnL>
                    <a:lnR>
                      <a:noFill/>
                    </a:lnR>
                    <a:lnT w="12700" cap="flat" cmpd="sng" algn="ctr">
                      <a:solidFill>
                        <a:srgbClr val="000000"/>
                      </a:solidFill>
                      <a:prstDash val="solid"/>
                      <a:round/>
                      <a:headEnd type="none" w="med" len="med"/>
                      <a:tailEnd type="none" w="med" len="med"/>
                    </a:lnT>
                    <a:lnB>
                      <a:noFill/>
                    </a:lnB>
                  </a:tcPr>
                </a:tc>
                <a:tc>
                  <a:txBody>
                    <a:bodyPr/>
                    <a:lstStyle/>
                    <a:p>
                      <a:pPr algn="l" rtl="0" eaLnBrk="0">
                        <a:lnSpc>
                          <a:spcPct val="172000"/>
                        </a:lnSpc>
                      </a:pPr>
                      <a:endParaRPr lang="en-US" altLang="en-US" sz="750" dirty="0"/>
                    </a:p>
                    <a:p>
                      <a:pPr marL="545465" algn="l" rtl="0" eaLnBrk="0">
                        <a:lnSpc>
                          <a:spcPct val="80000"/>
                        </a:lnSpc>
                      </a:pPr>
                      <a:r>
                        <a:rPr sz="1350" kern="0" spc="-10" dirty="0">
                          <a:solidFill>
                            <a:srgbClr val="000000">
                              <a:alpha val="100000"/>
                            </a:srgbClr>
                          </a:solidFill>
                          <a:latin typeface="Arial" panose="020B0604020202020204"/>
                          <a:ea typeface="Arial" panose="020B0604020202020204"/>
                          <a:cs typeface="Arial" panose="020B0604020202020204"/>
                        </a:rPr>
                        <a:t>1</a:t>
                      </a:r>
                      <a:endParaRPr lang="en-US" altLang="en-US" sz="1350" dirty="0"/>
                    </a:p>
                  </a:txBody>
                  <a:tcPr marL="0" marR="0" marT="0" marB="0" vert="horz">
                    <a:lnL>
                      <a:noFill/>
                    </a:lnL>
                    <a:lnR>
                      <a:noFill/>
                    </a:lnR>
                    <a:lnT w="12700" cap="flat" cmpd="sng" algn="ctr">
                      <a:solidFill>
                        <a:srgbClr val="000000"/>
                      </a:solidFill>
                      <a:prstDash val="solid"/>
                      <a:round/>
                      <a:headEnd type="none" w="med" len="med"/>
                      <a:tailEnd type="none" w="med" len="med"/>
                    </a:lnT>
                    <a:lnB>
                      <a:noFill/>
                    </a:lnB>
                  </a:tcPr>
                </a:tc>
                <a:tc>
                  <a:txBody>
                    <a:bodyPr/>
                    <a:lstStyle/>
                    <a:p>
                      <a:pPr algn="l" rtl="0" eaLnBrk="0">
                        <a:lnSpc>
                          <a:spcPct val="129000"/>
                        </a:lnSpc>
                      </a:pPr>
                      <a:endParaRPr lang="en-US" altLang="en-US" sz="750" dirty="0"/>
                    </a:p>
                    <a:p>
                      <a:pPr marL="467995" algn="l" rtl="0" eaLnBrk="0">
                        <a:lnSpc>
                          <a:spcPts val="2365"/>
                        </a:lnSpc>
                        <a:spcBef>
                          <a:spcPts val="0"/>
                        </a:spcBef>
                      </a:pPr>
                      <a:r>
                        <a:rPr sz="1350"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lang="en-US" altLang="en-US" sz="1350" dirty="0"/>
                    </a:p>
                  </a:txBody>
                  <a:tcPr marL="0" marR="0" marT="0" marB="0" vert="horz">
                    <a:lnL>
                      <a:noFill/>
                    </a:lnL>
                    <a:lnR>
                      <a:noFill/>
                    </a:lnR>
                    <a:lnT w="12700" cap="flat" cmpd="sng" algn="ctr">
                      <a:solidFill>
                        <a:srgbClr val="000000"/>
                      </a:solidFill>
                      <a:prstDash val="solid"/>
                      <a:round/>
                      <a:headEnd type="none" w="med" len="med"/>
                      <a:tailEnd type="none" w="med" len="med"/>
                    </a:lnT>
                    <a:lnB>
                      <a:noFill/>
                    </a:lnB>
                  </a:tcPr>
                </a:tc>
              </a:tr>
              <a:tr h="502285">
                <a:tc>
                  <a:txBody>
                    <a:bodyPr/>
                    <a:lstStyle/>
                    <a:p>
                      <a:pPr algn="l" rtl="0" eaLnBrk="0">
                        <a:lnSpc>
                          <a:spcPct val="136000"/>
                        </a:lnSpc>
                      </a:pPr>
                      <a:endParaRPr lang="en-US" altLang="en-US" sz="750" dirty="0"/>
                    </a:p>
                    <a:p>
                      <a:pPr marL="388620" algn="l" rtl="0" eaLnBrk="0">
                        <a:lnSpc>
                          <a:spcPct val="90000"/>
                        </a:lnSpc>
                        <a:spcBef>
                          <a:spcPts val="5"/>
                        </a:spcBef>
                      </a:pP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一般</a:t>
                      </a:r>
                      <a:endParaRPr lang="en-US" altLang="en-US" sz="1350" dirty="0"/>
                    </a:p>
                  </a:txBody>
                  <a:tcPr marL="0" marR="0" marT="0" marB="0" vert="horz">
                    <a:lnL>
                      <a:noFill/>
                    </a:lnL>
                    <a:lnR>
                      <a:noFill/>
                    </a:lnR>
                    <a:lnT>
                      <a:noFill/>
                    </a:lnT>
                    <a:lnB>
                      <a:noFill/>
                    </a:lnB>
                  </a:tcPr>
                </a:tc>
                <a:tc>
                  <a:txBody>
                    <a:bodyPr/>
                    <a:lstStyle/>
                    <a:p>
                      <a:pPr algn="l" rtl="0" eaLnBrk="0">
                        <a:lnSpc>
                          <a:spcPct val="116000"/>
                        </a:lnSpc>
                      </a:pPr>
                      <a:endParaRPr lang="en-US" altLang="en-US" sz="750" dirty="0"/>
                    </a:p>
                    <a:p>
                      <a:pPr marL="235585" algn="l" rtl="0" eaLnBrk="0">
                        <a:lnSpc>
                          <a:spcPts val="2325"/>
                        </a:lnSpc>
                        <a:spcBef>
                          <a:spcPts val="5"/>
                        </a:spcBef>
                      </a:pP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角色是通过协议（如</a:t>
                      </a:r>
                      <a:r>
                        <a:rPr sz="1350" kern="0" spc="-20" dirty="0">
                          <a:solidFill>
                            <a:srgbClr val="000000">
                              <a:alpha val="100000"/>
                            </a:srgbClr>
                          </a:solidFill>
                          <a:latin typeface="Arial" panose="020B0604020202020204"/>
                          <a:ea typeface="Arial" panose="020B0604020202020204"/>
                          <a:cs typeface="Arial" panose="020B0604020202020204"/>
                        </a:rPr>
                        <a:t>TCP/IP </a:t>
                      </a: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）与系统进行交互的其他系统</a:t>
                      </a:r>
                      <a:endParaRPr lang="en-US" altLang="en-US" sz="1350" dirty="0"/>
                    </a:p>
                  </a:txBody>
                  <a:tcPr marL="0" marR="0" marT="0" marB="0" vert="horz">
                    <a:lnL>
                      <a:noFill/>
                    </a:lnL>
                    <a:lnR>
                      <a:noFill/>
                    </a:lnR>
                    <a:lnT>
                      <a:noFill/>
                    </a:lnT>
                    <a:lnB>
                      <a:noFill/>
                    </a:lnB>
                  </a:tcPr>
                </a:tc>
                <a:tc>
                  <a:txBody>
                    <a:bodyPr/>
                    <a:lstStyle/>
                    <a:p>
                      <a:pPr algn="l" rtl="0" eaLnBrk="0">
                        <a:lnSpc>
                          <a:spcPct val="163000"/>
                        </a:lnSpc>
                      </a:pPr>
                      <a:endParaRPr lang="en-US" altLang="en-US" sz="750" dirty="0"/>
                    </a:p>
                    <a:p>
                      <a:pPr algn="l" rtl="0" eaLnBrk="0">
                        <a:lnSpc>
                          <a:spcPct val="9000"/>
                        </a:lnSpc>
                      </a:pPr>
                      <a:endParaRPr lang="en-US" altLang="en-US" sz="100" dirty="0"/>
                    </a:p>
                    <a:p>
                      <a:pPr marL="527050" algn="l" rtl="0" eaLnBrk="0">
                        <a:lnSpc>
                          <a:spcPct val="80000"/>
                        </a:lnSpc>
                      </a:pPr>
                      <a:r>
                        <a:rPr sz="1350" kern="0" spc="-10" dirty="0">
                          <a:solidFill>
                            <a:srgbClr val="000000">
                              <a:alpha val="100000"/>
                            </a:srgbClr>
                          </a:solidFill>
                          <a:latin typeface="Arial" panose="020B0604020202020204"/>
                          <a:ea typeface="Arial" panose="020B0604020202020204"/>
                          <a:cs typeface="Arial" panose="020B0604020202020204"/>
                        </a:rPr>
                        <a:t>2</a:t>
                      </a:r>
                      <a:endParaRPr lang="en-US" altLang="en-US" sz="1350" dirty="0"/>
                    </a:p>
                  </a:txBody>
                  <a:tcPr marL="0" marR="0" marT="0" marB="0" vert="horz">
                    <a:lnL>
                      <a:noFill/>
                    </a:lnL>
                    <a:lnR>
                      <a:noFill/>
                    </a:lnR>
                    <a:lnT>
                      <a:noFill/>
                    </a:lnT>
                    <a:lnB>
                      <a:noFill/>
                    </a:lnB>
                  </a:tcPr>
                </a:tc>
                <a:tc>
                  <a:txBody>
                    <a:bodyPr/>
                    <a:lstStyle/>
                    <a:p>
                      <a:pPr algn="l" rtl="0" eaLnBrk="0">
                        <a:lnSpc>
                          <a:spcPct val="120000"/>
                        </a:lnSpc>
                      </a:pPr>
                      <a:endParaRPr lang="en-US" altLang="en-US" sz="750" dirty="0"/>
                    </a:p>
                    <a:p>
                      <a:pPr algn="l" rtl="0" eaLnBrk="0">
                        <a:lnSpc>
                          <a:spcPct val="9000"/>
                        </a:lnSpc>
                      </a:pPr>
                      <a:endParaRPr lang="en-US" altLang="en-US" sz="100" dirty="0"/>
                    </a:p>
                    <a:p>
                      <a:pPr marL="467995" algn="l" rtl="0" eaLnBrk="0">
                        <a:lnSpc>
                          <a:spcPts val="2365"/>
                        </a:lnSpc>
                      </a:pPr>
                      <a:r>
                        <a:rPr sz="1350"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lang="en-US" altLang="en-US" sz="1350" dirty="0"/>
                    </a:p>
                  </a:txBody>
                  <a:tcPr marL="0" marR="0" marT="0" marB="0" vert="horz">
                    <a:lnL>
                      <a:noFill/>
                    </a:lnL>
                    <a:lnR>
                      <a:noFill/>
                    </a:lnR>
                    <a:lnT>
                      <a:noFill/>
                    </a:lnT>
                    <a:lnB>
                      <a:noFill/>
                    </a:lnB>
                  </a:tcPr>
                </a:tc>
              </a:tr>
              <a:tr h="494030">
                <a:tc>
                  <a:txBody>
                    <a:bodyPr/>
                    <a:lstStyle/>
                    <a:p>
                      <a:pPr algn="l" rtl="0" eaLnBrk="0">
                        <a:lnSpc>
                          <a:spcPct val="135000"/>
                        </a:lnSpc>
                      </a:pPr>
                      <a:endParaRPr lang="en-US" altLang="en-US" sz="750" dirty="0"/>
                    </a:p>
                    <a:p>
                      <a:pPr marL="387985" algn="l" rtl="0" eaLnBrk="0">
                        <a:lnSpc>
                          <a:spcPct val="91000"/>
                        </a:lnSpc>
                        <a:spcBef>
                          <a:spcPts val="0"/>
                        </a:spcBef>
                      </a:pP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复杂</a:t>
                      </a:r>
                      <a:endParaRPr lang="en-US" altLang="en-US" sz="1350" dirty="0"/>
                    </a:p>
                  </a:txBody>
                  <a:tcPr marL="0" marR="0" marT="0" marB="0" vert="horz">
                    <a:lnL>
                      <a:noFill/>
                    </a:lnL>
                    <a:lnR>
                      <a:noFill/>
                    </a:lnR>
                    <a:lnT>
                      <a:noFill/>
                    </a:lnT>
                    <a:lnB w="12700" cap="flat" cmpd="sng" algn="ctr">
                      <a:solidFill>
                        <a:srgbClr val="000000"/>
                      </a:solidFill>
                      <a:prstDash val="solid"/>
                      <a:round/>
                      <a:headEnd type="none" w="med" len="med"/>
                      <a:tailEnd type="none" w="med" len="med"/>
                    </a:lnB>
                  </a:tcPr>
                </a:tc>
                <a:tc>
                  <a:txBody>
                    <a:bodyPr/>
                    <a:lstStyle/>
                    <a:p>
                      <a:pPr algn="l" rtl="0" eaLnBrk="0">
                        <a:lnSpc>
                          <a:spcPct val="144000"/>
                        </a:lnSpc>
                      </a:pPr>
                      <a:endParaRPr lang="en-US" altLang="en-US" sz="750" dirty="0"/>
                    </a:p>
                    <a:p>
                      <a:pPr marL="739775" algn="l" rtl="0" eaLnBrk="0">
                        <a:lnSpc>
                          <a:spcPct val="91000"/>
                        </a:lnSpc>
                        <a:spcBef>
                          <a:spcPts val="5"/>
                        </a:spcBef>
                      </a:pP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角色是通过</a:t>
                      </a:r>
                      <a:r>
                        <a:rPr sz="1350" kern="0" spc="0" dirty="0">
                          <a:solidFill>
                            <a:srgbClr val="000000">
                              <a:alpha val="100000"/>
                            </a:srgbClr>
                          </a:solidFill>
                          <a:latin typeface="Arial" panose="020B0604020202020204"/>
                          <a:ea typeface="Arial" panose="020B0604020202020204"/>
                          <a:cs typeface="Arial" panose="020B0604020202020204"/>
                        </a:rPr>
                        <a:t>GUI</a:t>
                      </a: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或</a:t>
                      </a:r>
                      <a:r>
                        <a:rPr sz="1350" kern="0" spc="0" dirty="0">
                          <a:solidFill>
                            <a:srgbClr val="000000">
                              <a:alpha val="100000"/>
                            </a:srgbClr>
                          </a:solidFill>
                          <a:latin typeface="Arial" panose="020B0604020202020204"/>
                          <a:ea typeface="Arial" panose="020B0604020202020204"/>
                          <a:cs typeface="Arial" panose="020B0604020202020204"/>
                        </a:rPr>
                        <a:t>Web</a:t>
                      </a: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界面与系</a:t>
                      </a: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统进行交互的人</a:t>
                      </a:r>
                      <a:endParaRPr lang="en-US" altLang="en-US" sz="1350" dirty="0"/>
                    </a:p>
                  </a:txBody>
                  <a:tcPr marL="0" marR="0" marT="0" marB="0" vert="horz">
                    <a:lnL>
                      <a:noFill/>
                    </a:lnL>
                    <a:lnR>
                      <a:noFill/>
                    </a:lnR>
                    <a:lnT>
                      <a:noFill/>
                    </a:lnT>
                    <a:lnB w="12700" cap="flat" cmpd="sng" algn="ctr">
                      <a:solidFill>
                        <a:srgbClr val="000000"/>
                      </a:solidFill>
                      <a:prstDash val="solid"/>
                      <a:round/>
                      <a:headEnd type="none" w="med" len="med"/>
                      <a:tailEnd type="none" w="med" len="med"/>
                    </a:lnB>
                  </a:tcPr>
                </a:tc>
                <a:tc>
                  <a:txBody>
                    <a:bodyPr/>
                    <a:lstStyle/>
                    <a:p>
                      <a:pPr algn="l" rtl="0" eaLnBrk="0">
                        <a:lnSpc>
                          <a:spcPct val="164000"/>
                        </a:lnSpc>
                      </a:pPr>
                      <a:endParaRPr lang="en-US" altLang="en-US" sz="750" dirty="0"/>
                    </a:p>
                    <a:p>
                      <a:pPr marL="530225" algn="l" rtl="0" eaLnBrk="0">
                        <a:lnSpc>
                          <a:spcPct val="80000"/>
                        </a:lnSpc>
                        <a:spcBef>
                          <a:spcPts val="5"/>
                        </a:spcBef>
                      </a:pPr>
                      <a:r>
                        <a:rPr sz="1350" kern="0" spc="-10" dirty="0">
                          <a:solidFill>
                            <a:srgbClr val="000000">
                              <a:alpha val="100000"/>
                            </a:srgbClr>
                          </a:solidFill>
                          <a:latin typeface="Arial" panose="020B0604020202020204"/>
                          <a:ea typeface="Arial" panose="020B0604020202020204"/>
                          <a:cs typeface="Arial" panose="020B0604020202020204"/>
                        </a:rPr>
                        <a:t>3</a:t>
                      </a:r>
                      <a:endParaRPr lang="en-US" altLang="en-US" sz="1350" dirty="0"/>
                    </a:p>
                  </a:txBody>
                  <a:tcPr marL="0" marR="0" marT="0" marB="0" vert="horz">
                    <a:lnL>
                      <a:noFill/>
                    </a:lnL>
                    <a:lnR>
                      <a:noFill/>
                    </a:lnR>
                    <a:lnT>
                      <a:noFill/>
                    </a:lnT>
                    <a:lnB w="12700" cap="flat" cmpd="sng" algn="ctr">
                      <a:solidFill>
                        <a:srgbClr val="000000"/>
                      </a:solidFill>
                      <a:prstDash val="solid"/>
                      <a:round/>
                      <a:headEnd type="none" w="med" len="med"/>
                      <a:tailEnd type="none" w="med" len="med"/>
                    </a:lnB>
                  </a:tcPr>
                </a:tc>
                <a:tc>
                  <a:txBody>
                    <a:bodyPr/>
                    <a:lstStyle/>
                    <a:p>
                      <a:pPr algn="l" rtl="0" eaLnBrk="0">
                        <a:lnSpc>
                          <a:spcPct val="121000"/>
                        </a:lnSpc>
                      </a:pPr>
                      <a:endParaRPr lang="en-US" altLang="en-US" sz="750" dirty="0"/>
                    </a:p>
                    <a:p>
                      <a:pPr marL="467995" algn="l" rtl="0" eaLnBrk="0">
                        <a:lnSpc>
                          <a:spcPts val="2365"/>
                        </a:lnSpc>
                        <a:spcBef>
                          <a:spcPts val="5"/>
                        </a:spcBef>
                      </a:pPr>
                      <a:r>
                        <a:rPr sz="1350"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lang="en-US" altLang="en-US" sz="1350" dirty="0"/>
                    </a:p>
                  </a:txBody>
                  <a:tcPr marL="0" marR="0" marT="0" marB="0" vert="horz">
                    <a:lnL>
                      <a:noFill/>
                    </a:lnL>
                    <a:lnR>
                      <a:noFill/>
                    </a:lnR>
                    <a:lnT>
                      <a:noFill/>
                    </a:lnT>
                    <a:lnB w="12700" cap="flat" cmpd="sng" algn="ctr">
                      <a:solidFill>
                        <a:srgbClr val="000000"/>
                      </a:solidFill>
                      <a:prstDash val="solid"/>
                      <a:round/>
                      <a:headEnd type="none" w="med" len="med"/>
                      <a:tailEnd type="none" w="med" len="med"/>
                    </a:lnB>
                  </a:tcPr>
                </a:tc>
              </a:tr>
              <a:tr h="512445">
                <a:tc>
                  <a:txBody>
                    <a:bodyPr/>
                    <a:lstStyle/>
                    <a:p>
                      <a:pPr algn="l" rtl="0" eaLnBrk="0">
                        <a:lnSpc>
                          <a:spcPct val="100000"/>
                        </a:lnSpc>
                      </a:pPr>
                      <a:endParaRPr lang="en-US" altLang="en-US" sz="750" dirty="0"/>
                    </a:p>
                  </a:txBody>
                  <a:tcPr marL="0" marR="0" marT="0" marB="0" vert="horz">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tcPr>
                </a:tc>
                <a:tc>
                  <a:txBody>
                    <a:bodyPr/>
                    <a:lstStyle/>
                    <a:p>
                      <a:pPr algn="l" rtl="0" eaLnBrk="0">
                        <a:lnSpc>
                          <a:spcPct val="142000"/>
                        </a:lnSpc>
                      </a:pPr>
                      <a:endParaRPr lang="en-US" altLang="en-US" sz="750" dirty="0"/>
                    </a:p>
                    <a:p>
                      <a:pPr algn="l" rtl="0" eaLnBrk="0">
                        <a:lnSpc>
                          <a:spcPct val="8000"/>
                        </a:lnSpc>
                      </a:pPr>
                      <a:endParaRPr lang="en-US" altLang="en-US" sz="100" dirty="0"/>
                    </a:p>
                    <a:p>
                      <a:pPr marL="2257425" algn="l" rtl="0" eaLnBrk="0">
                        <a:lnSpc>
                          <a:spcPct val="91000"/>
                        </a:lnSpc>
                      </a:pPr>
                      <a:r>
                        <a:rPr sz="1350"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角色复杂度</a:t>
                      </a:r>
                      <a:r>
                        <a:rPr sz="1350" kern="0" spc="-10" dirty="0">
                          <a:solidFill>
                            <a:srgbClr val="004DD6">
                              <a:alpha val="100000"/>
                            </a:srgbClr>
                          </a:solidFill>
                          <a:latin typeface="Arial" panose="020B0604020202020204"/>
                          <a:ea typeface="Arial" panose="020B0604020202020204"/>
                          <a:cs typeface="Arial" panose="020B0604020202020204"/>
                        </a:rPr>
                        <a:t>UAW</a:t>
                      </a:r>
                      <a:endParaRPr lang="en-US" altLang="en-US" sz="1350" dirty="0"/>
                    </a:p>
                  </a:txBody>
                  <a:tcPr marL="0" marR="0" marT="0" marB="0" vert="horz">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tcPr>
                </a:tc>
                <a:tc>
                  <a:txBody>
                    <a:bodyPr/>
                    <a:lstStyle/>
                    <a:p>
                      <a:pPr algn="l" rtl="0" eaLnBrk="0">
                        <a:lnSpc>
                          <a:spcPct val="129000"/>
                        </a:lnSpc>
                      </a:pPr>
                      <a:endParaRPr lang="en-US" altLang="en-US" sz="750" dirty="0"/>
                    </a:p>
                    <a:p>
                      <a:pPr marL="467995" algn="l" rtl="0" eaLnBrk="0">
                        <a:lnSpc>
                          <a:spcPts val="2365"/>
                        </a:lnSpc>
                        <a:spcBef>
                          <a:spcPts val="0"/>
                        </a:spcBef>
                      </a:pPr>
                      <a:r>
                        <a:rPr sz="1350"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lang="en-US" altLang="en-US" sz="1350" dirty="0"/>
                    </a:p>
                  </a:txBody>
                  <a:tcPr marL="0" marR="0" marT="0" marB="0" vert="horz">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tcPr>
                </a:tc>
              </a:tr>
            </a:tbl>
          </a:graphicData>
        </a:graphic>
      </p:graphicFrame>
      <p:sp>
        <p:nvSpPr>
          <p:cNvPr id="398" name="rect"/>
          <p:cNvSpPr/>
          <p:nvPr/>
        </p:nvSpPr>
        <p:spPr>
          <a:xfrm>
            <a:off x="0" y="4773201"/>
            <a:ext cx="9142961" cy="370298"/>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414" name="textbox 414"/>
          <p:cNvSpPr/>
          <p:nvPr/>
        </p:nvSpPr>
        <p:spPr>
          <a:xfrm>
            <a:off x="949522" y="1316667"/>
            <a:ext cx="2354103" cy="248603"/>
          </a:xfrm>
          <a:prstGeom prst="rect">
            <a:avLst/>
          </a:prstGeom>
        </p:spPr>
        <p:txBody>
          <a:bodyPr vert="horz" wrap="square" lIns="0" tIns="0" rIns="0" bIns="0"/>
          <a:lstStyle/>
          <a:p>
            <a:pPr algn="l" rtl="0" eaLnBrk="0">
              <a:lnSpc>
                <a:spcPct val="87000"/>
              </a:lnSpc>
            </a:pPr>
            <a:endParaRPr lang="en-US" altLang="en-US" sz="100" dirty="0"/>
          </a:p>
          <a:p>
            <a:pPr marL="12700" algn="l" rtl="0" eaLnBrk="0">
              <a:lnSpc>
                <a:spcPct val="91000"/>
              </a:lnSpc>
            </a:pPr>
            <a:r>
              <a:rPr sz="1650" kern="0" spc="-7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第</a:t>
            </a:r>
            <a:r>
              <a:rPr sz="1650" kern="0" spc="27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650" kern="0" spc="-70" dirty="0">
                <a:solidFill>
                  <a:srgbClr val="0033CC">
                    <a:alpha val="100000"/>
                  </a:srgbClr>
                </a:solidFill>
                <a:latin typeface="Arial" panose="020B0604020202020204"/>
                <a:ea typeface="Arial" panose="020B0604020202020204"/>
                <a:cs typeface="Arial" panose="020B0604020202020204"/>
              </a:rPr>
              <a:t>1 </a:t>
            </a:r>
            <a:r>
              <a:rPr sz="1650" kern="0" spc="-7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步 </a:t>
            </a:r>
            <a:r>
              <a:rPr sz="1650" kern="0" spc="-70" dirty="0">
                <a:solidFill>
                  <a:srgbClr val="004D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65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计算角色复杂度</a:t>
            </a:r>
            <a:endParaRPr lang="en-US" altLang="en-US" sz="1650" dirty="0"/>
          </a:p>
        </p:txBody>
      </p:sp>
      <p:sp>
        <p:nvSpPr>
          <p:cNvPr id="3" name="标题 2"/>
          <p:cNvSpPr>
            <a:spLocks noGrp="1"/>
          </p:cNvSpPr>
          <p:nvPr>
            <p:ph type="title"/>
          </p:nvPr>
        </p:nvSpPr>
        <p:spPr/>
        <p:txBody>
          <a:bodyPr/>
          <a:p>
            <a:r>
              <a:rPr lang="zh-CN" altLang="en-US" dirty="0"/>
              <a:t>用例点估算</a:t>
            </a:r>
            <a:endParaRPr lang="en-US" altLang="zh-CN"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8" name="table 418"/>
          <p:cNvGraphicFramePr>
            <a:graphicFrameLocks noGrp="1"/>
          </p:cNvGraphicFramePr>
          <p:nvPr/>
        </p:nvGraphicFramePr>
        <p:xfrm>
          <a:off x="961876" y="1818440"/>
          <a:ext cx="7279640" cy="2542540"/>
        </p:xfrm>
        <a:graphic>
          <a:graphicData uri="http://schemas.openxmlformats.org/drawingml/2006/table">
            <a:tbl>
              <a:tblPr/>
              <a:tblGrid>
                <a:gridCol w="917575"/>
                <a:gridCol w="4864100"/>
                <a:gridCol w="774700"/>
                <a:gridCol w="723265"/>
              </a:tblGrid>
              <a:tr h="524510">
                <a:tc>
                  <a:txBody>
                    <a:bodyPr/>
                    <a:lstStyle/>
                    <a:p>
                      <a:pPr algn="l" rtl="0" eaLnBrk="0">
                        <a:lnSpc>
                          <a:spcPct val="116000"/>
                        </a:lnSpc>
                      </a:pPr>
                      <a:endParaRPr lang="en-US" altLang="en-US" sz="375" dirty="0"/>
                    </a:p>
                    <a:p>
                      <a:pPr marL="389890" algn="l" rtl="0" eaLnBrk="0">
                        <a:lnSpc>
                          <a:spcPct val="82000"/>
                        </a:lnSpc>
                        <a:spcBef>
                          <a:spcPts val="5"/>
                        </a:spcBef>
                      </a:pP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用例</a:t>
                      </a:r>
                      <a:endParaRPr lang="en-US" altLang="en-US" sz="1350" dirty="0"/>
                    </a:p>
                    <a:p>
                      <a:pPr marL="273685" algn="l" rtl="0" eaLnBrk="0">
                        <a:lnSpc>
                          <a:spcPts val="2275"/>
                        </a:lnSpc>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复杂度</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CEBEB"/>
                    </a:solidFill>
                  </a:tcPr>
                </a:tc>
                <a:tc>
                  <a:txBody>
                    <a:bodyPr/>
                    <a:lstStyle/>
                    <a:p>
                      <a:pPr algn="l" rtl="0" eaLnBrk="0">
                        <a:lnSpc>
                          <a:spcPct val="148000"/>
                        </a:lnSpc>
                      </a:pPr>
                      <a:endParaRPr lang="en-US" altLang="en-US" sz="750" dirty="0"/>
                    </a:p>
                    <a:p>
                      <a:pPr algn="l" rtl="0" eaLnBrk="0">
                        <a:lnSpc>
                          <a:spcPct val="8000"/>
                        </a:lnSpc>
                      </a:pPr>
                      <a:endParaRPr lang="en-US" altLang="en-US" sz="100" dirty="0"/>
                    </a:p>
                    <a:p>
                      <a:pPr marL="3020060" algn="l" rtl="0" eaLnBrk="0">
                        <a:lnSpc>
                          <a:spcPct val="90000"/>
                        </a:lnSpc>
                      </a:pP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说明</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CEBEB"/>
                    </a:solidFill>
                  </a:tcPr>
                </a:tc>
                <a:tc>
                  <a:txBody>
                    <a:bodyPr/>
                    <a:lstStyle/>
                    <a:p>
                      <a:pPr algn="l" rtl="0" eaLnBrk="0">
                        <a:lnSpc>
                          <a:spcPct val="148000"/>
                        </a:lnSpc>
                      </a:pPr>
                      <a:endParaRPr lang="en-US" altLang="en-US" sz="750" dirty="0"/>
                    </a:p>
                    <a:p>
                      <a:pPr algn="l" rtl="0" eaLnBrk="0">
                        <a:lnSpc>
                          <a:spcPct val="8000"/>
                        </a:lnSpc>
                      </a:pPr>
                      <a:endParaRPr lang="en-US" altLang="en-US" sz="100" dirty="0"/>
                    </a:p>
                    <a:p>
                      <a:pPr marL="290195" algn="l" rtl="0" eaLnBrk="0">
                        <a:lnSpc>
                          <a:spcPct val="90000"/>
                        </a:lnSpc>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权重</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CEBEB"/>
                    </a:solidFill>
                  </a:tcPr>
                </a:tc>
                <a:tc>
                  <a:txBody>
                    <a:bodyPr/>
                    <a:lstStyle/>
                    <a:p>
                      <a:pPr algn="l" rtl="0" eaLnBrk="0">
                        <a:lnSpc>
                          <a:spcPct val="146000"/>
                        </a:lnSpc>
                      </a:pPr>
                      <a:endParaRPr lang="en-US" altLang="en-US" sz="750" dirty="0"/>
                    </a:p>
                    <a:p>
                      <a:pPr algn="l" rtl="0" eaLnBrk="0">
                        <a:lnSpc>
                          <a:spcPct val="9000"/>
                        </a:lnSpc>
                      </a:pPr>
                      <a:endParaRPr lang="en-US" altLang="en-US" sz="100" dirty="0"/>
                    </a:p>
                    <a:p>
                      <a:pPr marL="257175" algn="l" rtl="0" eaLnBrk="0">
                        <a:lnSpc>
                          <a:spcPct val="91000"/>
                        </a:lnSpc>
                      </a:pP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总计</a:t>
                      </a:r>
                      <a:endParaRPr lang="en-US" altLang="en-US" sz="1350" dirty="0"/>
                    </a:p>
                  </a:txBody>
                  <a:tcPr marL="0" marR="0" marT="0" marB="0" vert="horz">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CEBEB"/>
                    </a:solidFill>
                  </a:tcPr>
                </a:tc>
              </a:tr>
              <a:tr h="476250">
                <a:tc>
                  <a:txBody>
                    <a:bodyPr/>
                    <a:lstStyle/>
                    <a:p>
                      <a:pPr algn="l" rtl="0" eaLnBrk="0">
                        <a:lnSpc>
                          <a:spcPct val="126000"/>
                        </a:lnSpc>
                      </a:pPr>
                      <a:endParaRPr lang="en-US" altLang="en-US" sz="750" dirty="0"/>
                    </a:p>
                    <a:p>
                      <a:pPr marL="386080" algn="l" rtl="0" eaLnBrk="0">
                        <a:lnSpc>
                          <a:spcPct val="91000"/>
                        </a:lnSpc>
                      </a:pP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简单</a:t>
                      </a:r>
                      <a:endParaRPr lang="en-US" altLang="en-US" sz="1350" dirty="0"/>
                    </a:p>
                  </a:txBody>
                  <a:tcPr marL="0" marR="0" marT="0" marB="0" vert="horz">
                    <a:lnL>
                      <a:noFill/>
                    </a:lnL>
                    <a:lnR>
                      <a:noFill/>
                    </a:lnR>
                    <a:lnT w="12700" cap="flat" cmpd="sng" algn="ctr">
                      <a:solidFill>
                        <a:srgbClr val="000000"/>
                      </a:solidFill>
                      <a:prstDash val="solid"/>
                      <a:round/>
                      <a:headEnd type="none" w="med" len="med"/>
                      <a:tailEnd type="none" w="med" len="med"/>
                    </a:lnT>
                    <a:lnB>
                      <a:noFill/>
                    </a:lnB>
                  </a:tcPr>
                </a:tc>
                <a:tc>
                  <a:txBody>
                    <a:bodyPr/>
                    <a:lstStyle/>
                    <a:p>
                      <a:pPr algn="l" rtl="0" eaLnBrk="0">
                        <a:lnSpc>
                          <a:spcPct val="135000"/>
                        </a:lnSpc>
                      </a:pPr>
                      <a:endParaRPr lang="en-US" altLang="en-US" sz="750" dirty="0"/>
                    </a:p>
                    <a:p>
                      <a:pPr marL="196215" algn="l" rtl="0" eaLnBrk="0">
                        <a:lnSpc>
                          <a:spcPct val="91000"/>
                        </a:lnSpc>
                        <a:spcBef>
                          <a:spcPts val="5"/>
                        </a:spcBef>
                      </a:pP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仅涉及</a:t>
                      </a:r>
                      <a:r>
                        <a:rPr sz="1350" kern="0" spc="0" dirty="0">
                          <a:solidFill>
                            <a:srgbClr val="000000">
                              <a:alpha val="100000"/>
                            </a:srgbClr>
                          </a:solidFill>
                          <a:latin typeface="Arial" panose="020B0604020202020204"/>
                          <a:ea typeface="Arial" panose="020B0604020202020204"/>
                          <a:cs typeface="Arial" panose="020B0604020202020204"/>
                        </a:rPr>
                        <a:t>1</a:t>
                      </a: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个数据库实体；操作不超过</a:t>
                      </a:r>
                      <a:r>
                        <a:rPr sz="1350" kern="0" spc="0" dirty="0">
                          <a:solidFill>
                            <a:srgbClr val="000000">
                              <a:alpha val="100000"/>
                            </a:srgbClr>
                          </a:solidFill>
                          <a:latin typeface="Arial" panose="020B0604020202020204"/>
                          <a:ea typeface="Arial" panose="020B0604020202020204"/>
                          <a:cs typeface="Arial" panose="020B0604020202020204"/>
                        </a:rPr>
                        <a:t>3</a:t>
                      </a: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步；实现用到</a:t>
                      </a:r>
                      <a:r>
                        <a:rPr sz="1350" kern="0" spc="0" dirty="0">
                          <a:solidFill>
                            <a:srgbClr val="000000">
                              <a:alpha val="100000"/>
                            </a:srgbClr>
                          </a:solidFill>
                          <a:latin typeface="Arial" panose="020B0604020202020204"/>
                          <a:ea typeface="Arial" panose="020B0604020202020204"/>
                          <a:cs typeface="Arial" panose="020B0604020202020204"/>
                        </a:rPr>
                        <a:t>5</a:t>
                      </a: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个</a:t>
                      </a: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类以下</a:t>
                      </a:r>
                      <a:endParaRPr lang="en-US" altLang="en-US" sz="1350" dirty="0"/>
                    </a:p>
                  </a:txBody>
                  <a:tcPr marL="0" marR="0" marT="0" marB="0" vert="horz">
                    <a:lnL>
                      <a:noFill/>
                    </a:lnL>
                    <a:lnR>
                      <a:noFill/>
                    </a:lnR>
                    <a:lnT w="12700" cap="flat" cmpd="sng" algn="ctr">
                      <a:solidFill>
                        <a:srgbClr val="000000"/>
                      </a:solidFill>
                      <a:prstDash val="solid"/>
                      <a:round/>
                      <a:headEnd type="none" w="med" len="med"/>
                      <a:tailEnd type="none" w="med" len="med"/>
                    </a:lnT>
                    <a:lnB>
                      <a:noFill/>
                    </a:lnB>
                  </a:tcPr>
                </a:tc>
                <a:tc>
                  <a:txBody>
                    <a:bodyPr/>
                    <a:lstStyle/>
                    <a:p>
                      <a:pPr algn="l" rtl="0" eaLnBrk="0">
                        <a:lnSpc>
                          <a:spcPct val="157000"/>
                        </a:lnSpc>
                      </a:pPr>
                      <a:endParaRPr lang="en-US" altLang="en-US" sz="750" dirty="0"/>
                    </a:p>
                    <a:p>
                      <a:pPr marL="462280" algn="l" rtl="0" eaLnBrk="0">
                        <a:lnSpc>
                          <a:spcPct val="79000"/>
                        </a:lnSpc>
                      </a:pPr>
                      <a:r>
                        <a:rPr sz="1350" kern="0" spc="-10" dirty="0">
                          <a:solidFill>
                            <a:srgbClr val="000000">
                              <a:alpha val="100000"/>
                            </a:srgbClr>
                          </a:solidFill>
                          <a:latin typeface="Arial" panose="020B0604020202020204"/>
                          <a:ea typeface="Arial" panose="020B0604020202020204"/>
                          <a:cs typeface="Arial" panose="020B0604020202020204"/>
                        </a:rPr>
                        <a:t>5</a:t>
                      </a:r>
                      <a:endParaRPr lang="en-US" altLang="en-US" sz="1350" dirty="0"/>
                    </a:p>
                  </a:txBody>
                  <a:tcPr marL="0" marR="0" marT="0" marB="0" vert="horz">
                    <a:lnL>
                      <a:noFill/>
                    </a:lnL>
                    <a:lnR>
                      <a:noFill/>
                    </a:lnR>
                    <a:lnT w="12700" cap="flat" cmpd="sng" algn="ctr">
                      <a:solidFill>
                        <a:srgbClr val="000000"/>
                      </a:solidFill>
                      <a:prstDash val="solid"/>
                      <a:round/>
                      <a:headEnd type="none" w="med" len="med"/>
                      <a:tailEnd type="none" w="med" len="med"/>
                    </a:lnT>
                    <a:lnB>
                      <a:noFill/>
                    </a:lnB>
                  </a:tcPr>
                </a:tc>
                <a:tc>
                  <a:txBody>
                    <a:bodyPr/>
                    <a:lstStyle/>
                    <a:p>
                      <a:pPr algn="l" rtl="0" eaLnBrk="0">
                        <a:lnSpc>
                          <a:spcPct val="112000"/>
                        </a:lnSpc>
                      </a:pPr>
                      <a:endParaRPr lang="en-US" altLang="en-US" sz="750" dirty="0"/>
                    </a:p>
                    <a:p>
                      <a:pPr marL="408305" algn="l" rtl="0" eaLnBrk="0">
                        <a:lnSpc>
                          <a:spcPts val="2365"/>
                        </a:lnSpc>
                        <a:spcBef>
                          <a:spcPts val="5"/>
                        </a:spcBef>
                      </a:pPr>
                      <a:r>
                        <a:rPr sz="1350"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lang="en-US" altLang="en-US" sz="1350" dirty="0"/>
                    </a:p>
                  </a:txBody>
                  <a:tcPr marL="0" marR="0" marT="0" marB="0" vert="horz">
                    <a:lnL>
                      <a:noFill/>
                    </a:lnL>
                    <a:lnR>
                      <a:noFill/>
                    </a:lnR>
                    <a:lnT w="12700" cap="flat" cmpd="sng" algn="ctr">
                      <a:solidFill>
                        <a:srgbClr val="000000"/>
                      </a:solidFill>
                      <a:prstDash val="solid"/>
                      <a:round/>
                      <a:headEnd type="none" w="med" len="med"/>
                      <a:tailEnd type="none" w="med" len="med"/>
                    </a:lnT>
                    <a:lnB>
                      <a:noFill/>
                    </a:lnB>
                  </a:tcPr>
                </a:tc>
              </a:tr>
              <a:tr h="454025">
                <a:tc>
                  <a:txBody>
                    <a:bodyPr/>
                    <a:lstStyle/>
                    <a:p>
                      <a:pPr algn="l" rtl="0" eaLnBrk="0">
                        <a:lnSpc>
                          <a:spcPct val="121000"/>
                        </a:lnSpc>
                      </a:pPr>
                      <a:endParaRPr lang="en-US" altLang="en-US" sz="750" dirty="0"/>
                    </a:p>
                    <a:p>
                      <a:pPr marL="388620" algn="l" rtl="0" eaLnBrk="0">
                        <a:lnSpc>
                          <a:spcPct val="90000"/>
                        </a:lnSpc>
                        <a:spcBef>
                          <a:spcPts val="5"/>
                        </a:spcBef>
                      </a:pP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一般</a:t>
                      </a:r>
                      <a:endParaRPr lang="en-US" altLang="en-US" sz="1350" dirty="0"/>
                    </a:p>
                  </a:txBody>
                  <a:tcPr marL="0" marR="0" marT="0" marB="0" vert="horz">
                    <a:lnL>
                      <a:noFill/>
                    </a:lnL>
                    <a:lnR>
                      <a:noFill/>
                    </a:lnR>
                    <a:lnT>
                      <a:noFill/>
                    </a:lnT>
                    <a:lnB>
                      <a:noFill/>
                    </a:lnB>
                  </a:tcPr>
                </a:tc>
                <a:tc>
                  <a:txBody>
                    <a:bodyPr/>
                    <a:lstStyle/>
                    <a:p>
                      <a:pPr algn="l" rtl="0" eaLnBrk="0">
                        <a:lnSpc>
                          <a:spcPct val="129000"/>
                        </a:lnSpc>
                      </a:pPr>
                      <a:endParaRPr lang="en-US" altLang="en-US" sz="750" dirty="0"/>
                    </a:p>
                    <a:p>
                      <a:pPr marL="159385" algn="l" rtl="0" eaLnBrk="0">
                        <a:lnSpc>
                          <a:spcPct val="91000"/>
                        </a:lnSpc>
                        <a:spcBef>
                          <a:spcPts val="0"/>
                        </a:spcBef>
                      </a:pP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涉及</a:t>
                      </a:r>
                      <a:r>
                        <a:rPr sz="1350" kern="0" spc="0" dirty="0">
                          <a:solidFill>
                            <a:srgbClr val="000000">
                              <a:alpha val="100000"/>
                            </a:srgbClr>
                          </a:solidFill>
                          <a:latin typeface="Arial" panose="020B0604020202020204"/>
                          <a:ea typeface="Arial" panose="020B0604020202020204"/>
                          <a:cs typeface="Arial" panose="020B0604020202020204"/>
                        </a:rPr>
                        <a:t>2</a:t>
                      </a: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个或以上数据库实体；操作在</a:t>
                      </a:r>
                      <a:r>
                        <a:rPr sz="1350" kern="0" spc="0" dirty="0">
                          <a:solidFill>
                            <a:srgbClr val="000000">
                              <a:alpha val="100000"/>
                            </a:srgbClr>
                          </a:solidFill>
                          <a:latin typeface="Arial" panose="020B0604020202020204"/>
                          <a:ea typeface="Arial" panose="020B0604020202020204"/>
                          <a:cs typeface="Arial" panose="020B0604020202020204"/>
                        </a:rPr>
                        <a:t>4-7</a:t>
                      </a: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步；实现用到</a:t>
                      </a:r>
                      <a:r>
                        <a:rPr sz="1350" kern="0" spc="0" dirty="0">
                          <a:solidFill>
                            <a:srgbClr val="000000">
                              <a:alpha val="100000"/>
                            </a:srgbClr>
                          </a:solidFill>
                          <a:latin typeface="Arial" panose="020B0604020202020204"/>
                          <a:ea typeface="Arial" panose="020B0604020202020204"/>
                          <a:cs typeface="Arial" panose="020B0604020202020204"/>
                        </a:rPr>
                        <a:t>5-</a:t>
                      </a:r>
                      <a:r>
                        <a:rPr sz="1350" kern="0" spc="-10" dirty="0">
                          <a:solidFill>
                            <a:srgbClr val="000000">
                              <a:alpha val="100000"/>
                            </a:srgbClr>
                          </a:solidFill>
                          <a:latin typeface="Arial" panose="020B0604020202020204"/>
                          <a:ea typeface="Arial" panose="020B0604020202020204"/>
                          <a:cs typeface="Arial" panose="020B0604020202020204"/>
                        </a:rPr>
                        <a:t>10</a:t>
                      </a: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个类</a:t>
                      </a:r>
                      <a:endParaRPr lang="en-US" altLang="en-US" sz="1350" dirty="0"/>
                    </a:p>
                  </a:txBody>
                  <a:tcPr marL="0" marR="0" marT="0" marB="0" vert="horz">
                    <a:lnL>
                      <a:noFill/>
                    </a:lnL>
                    <a:lnR>
                      <a:noFill/>
                    </a:lnR>
                    <a:lnT>
                      <a:noFill/>
                    </a:lnT>
                    <a:lnB>
                      <a:noFill/>
                    </a:lnB>
                  </a:tcPr>
                </a:tc>
                <a:tc>
                  <a:txBody>
                    <a:bodyPr/>
                    <a:lstStyle/>
                    <a:p>
                      <a:pPr algn="l" rtl="0" eaLnBrk="0">
                        <a:lnSpc>
                          <a:spcPct val="148000"/>
                        </a:lnSpc>
                      </a:pPr>
                      <a:endParaRPr lang="en-US" altLang="en-US" sz="750" dirty="0"/>
                    </a:p>
                    <a:p>
                      <a:pPr algn="l" rtl="0" eaLnBrk="0">
                        <a:lnSpc>
                          <a:spcPct val="9000"/>
                        </a:lnSpc>
                      </a:pPr>
                      <a:endParaRPr lang="en-US" altLang="en-US" sz="100" dirty="0"/>
                    </a:p>
                    <a:p>
                      <a:pPr marL="414020" algn="l" rtl="0" eaLnBrk="0">
                        <a:lnSpc>
                          <a:spcPct val="80000"/>
                        </a:lnSpc>
                      </a:pPr>
                      <a:r>
                        <a:rPr sz="1350" kern="0" spc="-60" dirty="0">
                          <a:solidFill>
                            <a:srgbClr val="000000">
                              <a:alpha val="100000"/>
                            </a:srgbClr>
                          </a:solidFill>
                          <a:latin typeface="Arial" panose="020B0604020202020204"/>
                          <a:ea typeface="Arial" panose="020B0604020202020204"/>
                          <a:cs typeface="Arial" panose="020B0604020202020204"/>
                        </a:rPr>
                        <a:t>10</a:t>
                      </a:r>
                      <a:endParaRPr lang="en-US" altLang="en-US" sz="1350" dirty="0"/>
                    </a:p>
                  </a:txBody>
                  <a:tcPr marL="0" marR="0" marT="0" marB="0" vert="horz">
                    <a:lnL>
                      <a:noFill/>
                    </a:lnL>
                    <a:lnR>
                      <a:noFill/>
                    </a:lnR>
                    <a:lnT>
                      <a:noFill/>
                    </a:lnT>
                    <a:lnB>
                      <a:noFill/>
                    </a:lnB>
                  </a:tcPr>
                </a:tc>
                <a:tc>
                  <a:txBody>
                    <a:bodyPr/>
                    <a:lstStyle/>
                    <a:p>
                      <a:pPr algn="l" rtl="0" eaLnBrk="0">
                        <a:lnSpc>
                          <a:spcPct val="106000"/>
                        </a:lnSpc>
                      </a:pPr>
                      <a:endParaRPr lang="en-US" altLang="en-US" sz="750" dirty="0"/>
                    </a:p>
                    <a:p>
                      <a:pPr marL="408305" algn="l" rtl="0" eaLnBrk="0">
                        <a:lnSpc>
                          <a:spcPts val="2365"/>
                        </a:lnSpc>
                        <a:spcBef>
                          <a:spcPts val="0"/>
                        </a:spcBef>
                      </a:pPr>
                      <a:r>
                        <a:rPr sz="1350"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lang="en-US" altLang="en-US" sz="1350" dirty="0"/>
                    </a:p>
                  </a:txBody>
                  <a:tcPr marL="0" marR="0" marT="0" marB="0" vert="horz">
                    <a:lnL>
                      <a:noFill/>
                    </a:lnL>
                    <a:lnR>
                      <a:noFill/>
                    </a:lnR>
                    <a:lnT>
                      <a:noFill/>
                    </a:lnT>
                    <a:lnB>
                      <a:noFill/>
                    </a:lnB>
                  </a:tcPr>
                </a:tc>
              </a:tr>
              <a:tr h="600710">
                <a:tc>
                  <a:txBody>
                    <a:bodyPr/>
                    <a:lstStyle/>
                    <a:p>
                      <a:pPr algn="l" rtl="0" eaLnBrk="0">
                        <a:lnSpc>
                          <a:spcPct val="188000"/>
                        </a:lnSpc>
                      </a:pPr>
                      <a:endParaRPr lang="en-US" altLang="en-US" sz="750" dirty="0"/>
                    </a:p>
                    <a:p>
                      <a:pPr algn="l" rtl="0" eaLnBrk="0">
                        <a:lnSpc>
                          <a:spcPct val="9000"/>
                        </a:lnSpc>
                      </a:pPr>
                      <a:endParaRPr lang="en-US" altLang="en-US" sz="100" dirty="0"/>
                    </a:p>
                    <a:p>
                      <a:pPr marL="387985" algn="l" rtl="0" eaLnBrk="0">
                        <a:lnSpc>
                          <a:spcPct val="91000"/>
                        </a:lnSpc>
                      </a:pP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复杂</a:t>
                      </a:r>
                      <a:endParaRPr lang="en-US" altLang="en-US" sz="1350" dirty="0"/>
                    </a:p>
                  </a:txBody>
                  <a:tcPr marL="0" marR="0" marT="0" marB="0" vert="horz">
                    <a:lnL>
                      <a:noFill/>
                    </a:lnL>
                    <a:lnR>
                      <a:noFill/>
                    </a:lnR>
                    <a:lnT>
                      <a:noFill/>
                    </a:lnT>
                    <a:lnB w="12700" cap="flat" cmpd="sng" algn="ctr">
                      <a:solidFill>
                        <a:srgbClr val="000000"/>
                      </a:solidFill>
                      <a:prstDash val="solid"/>
                      <a:round/>
                      <a:headEnd type="none" w="med" len="med"/>
                      <a:tailEnd type="none" w="med" len="med"/>
                    </a:lnB>
                  </a:tcPr>
                </a:tc>
                <a:tc>
                  <a:txBody>
                    <a:bodyPr/>
                    <a:lstStyle/>
                    <a:p>
                      <a:pPr algn="l" rtl="0" eaLnBrk="0">
                        <a:lnSpc>
                          <a:spcPct val="108000"/>
                        </a:lnSpc>
                      </a:pPr>
                      <a:endParaRPr lang="en-US" altLang="en-US" sz="750" dirty="0"/>
                    </a:p>
                    <a:p>
                      <a:pPr algn="l" rtl="0" eaLnBrk="0">
                        <a:lnSpc>
                          <a:spcPct val="7000"/>
                        </a:lnSpc>
                      </a:pPr>
                      <a:endParaRPr lang="en-US" altLang="en-US" sz="100" dirty="0"/>
                    </a:p>
                    <a:p>
                      <a:pPr marL="147320" indent="-635" algn="l" rtl="0" eaLnBrk="0">
                        <a:lnSpc>
                          <a:spcPct val="94000"/>
                        </a:lnSpc>
                      </a:pP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复杂的用户界面或涉及</a:t>
                      </a:r>
                      <a:r>
                        <a:rPr sz="1350" kern="0" spc="0" dirty="0">
                          <a:solidFill>
                            <a:srgbClr val="000000">
                              <a:alpha val="100000"/>
                            </a:srgbClr>
                          </a:solidFill>
                          <a:latin typeface="Arial" panose="020B0604020202020204"/>
                          <a:ea typeface="Arial" panose="020B0604020202020204"/>
                          <a:cs typeface="Arial" panose="020B0604020202020204"/>
                        </a:rPr>
                        <a:t>3</a:t>
                      </a: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个或以上数据库实体；操作超</a:t>
                      </a: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过</a:t>
                      </a:r>
                      <a:r>
                        <a:rPr sz="1350" kern="0" spc="-10" dirty="0">
                          <a:solidFill>
                            <a:srgbClr val="000000">
                              <a:alpha val="100000"/>
                            </a:srgbClr>
                          </a:solidFill>
                          <a:latin typeface="Arial" panose="020B0604020202020204"/>
                          <a:ea typeface="Arial" panose="020B0604020202020204"/>
                          <a:cs typeface="Arial" panose="020B0604020202020204"/>
                        </a:rPr>
                        <a:t>7</a:t>
                      </a: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步；</a:t>
                      </a:r>
                      <a:r>
                        <a:rPr sz="13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实现用到超过</a:t>
                      </a:r>
                      <a:r>
                        <a:rPr sz="1350" kern="0" spc="-10" dirty="0">
                          <a:solidFill>
                            <a:srgbClr val="000000">
                              <a:alpha val="100000"/>
                            </a:srgbClr>
                          </a:solidFill>
                          <a:latin typeface="Arial" panose="020B0604020202020204"/>
                          <a:ea typeface="Arial" panose="020B0604020202020204"/>
                          <a:cs typeface="Arial" panose="020B0604020202020204"/>
                        </a:rPr>
                        <a:t>10</a:t>
                      </a: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个类</a:t>
                      </a:r>
                      <a:endParaRPr lang="en-US" altLang="en-US" sz="1350" dirty="0"/>
                    </a:p>
                  </a:txBody>
                  <a:tcPr marL="0" marR="0" marT="0" marB="0" vert="horz">
                    <a:lnL>
                      <a:noFill/>
                    </a:lnL>
                    <a:lnR>
                      <a:noFill/>
                    </a:lnR>
                    <a:lnT>
                      <a:noFill/>
                    </a:lnT>
                    <a:lnB w="12700" cap="flat" cmpd="sng" algn="ctr">
                      <a:solidFill>
                        <a:srgbClr val="000000"/>
                      </a:solidFill>
                      <a:prstDash val="solid"/>
                      <a:round/>
                      <a:headEnd type="none" w="med" len="med"/>
                      <a:tailEnd type="none" w="med" len="med"/>
                    </a:lnB>
                  </a:tcPr>
                </a:tc>
                <a:tc>
                  <a:txBody>
                    <a:bodyPr/>
                    <a:lstStyle/>
                    <a:p>
                      <a:pPr algn="l" rtl="0" eaLnBrk="0">
                        <a:lnSpc>
                          <a:spcPct val="109000"/>
                        </a:lnSpc>
                      </a:pPr>
                      <a:endParaRPr lang="en-US" altLang="en-US" sz="750" dirty="0"/>
                    </a:p>
                    <a:p>
                      <a:pPr algn="l" rtl="0" eaLnBrk="0">
                        <a:lnSpc>
                          <a:spcPct val="109000"/>
                        </a:lnSpc>
                      </a:pPr>
                      <a:endParaRPr lang="en-US" altLang="en-US" sz="750" dirty="0"/>
                    </a:p>
                    <a:p>
                      <a:pPr marL="414020" algn="l" rtl="0" eaLnBrk="0">
                        <a:lnSpc>
                          <a:spcPct val="80000"/>
                        </a:lnSpc>
                        <a:spcBef>
                          <a:spcPts val="0"/>
                        </a:spcBef>
                      </a:pPr>
                      <a:r>
                        <a:rPr sz="1350" kern="0" spc="-60" dirty="0">
                          <a:solidFill>
                            <a:srgbClr val="000000">
                              <a:alpha val="100000"/>
                            </a:srgbClr>
                          </a:solidFill>
                          <a:latin typeface="Arial" panose="020B0604020202020204"/>
                          <a:ea typeface="Arial" panose="020B0604020202020204"/>
                          <a:cs typeface="Arial" panose="020B0604020202020204"/>
                        </a:rPr>
                        <a:t>15</a:t>
                      </a:r>
                      <a:endParaRPr lang="en-US" altLang="en-US" sz="1350" dirty="0"/>
                    </a:p>
                  </a:txBody>
                  <a:tcPr marL="0" marR="0" marT="0" marB="0" vert="horz">
                    <a:lnL>
                      <a:noFill/>
                    </a:lnL>
                    <a:lnR>
                      <a:noFill/>
                    </a:lnR>
                    <a:lnT>
                      <a:noFill/>
                    </a:lnT>
                    <a:lnB w="12700" cap="flat" cmpd="sng" algn="ctr">
                      <a:solidFill>
                        <a:srgbClr val="000000"/>
                      </a:solidFill>
                      <a:prstDash val="solid"/>
                      <a:round/>
                      <a:headEnd type="none" w="med" len="med"/>
                      <a:tailEnd type="none" w="med" len="med"/>
                    </a:lnB>
                  </a:tcPr>
                </a:tc>
                <a:tc>
                  <a:txBody>
                    <a:bodyPr/>
                    <a:lstStyle/>
                    <a:p>
                      <a:pPr algn="l" rtl="0" eaLnBrk="0">
                        <a:lnSpc>
                          <a:spcPct val="175000"/>
                        </a:lnSpc>
                      </a:pPr>
                      <a:endParaRPr lang="en-US" altLang="en-US" sz="750" dirty="0"/>
                    </a:p>
                    <a:p>
                      <a:pPr marL="408305" algn="l" rtl="0" eaLnBrk="0">
                        <a:lnSpc>
                          <a:spcPts val="2365"/>
                        </a:lnSpc>
                        <a:spcBef>
                          <a:spcPts val="5"/>
                        </a:spcBef>
                      </a:pPr>
                      <a:r>
                        <a:rPr sz="1350"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lang="en-US" altLang="en-US" sz="1350" dirty="0"/>
                    </a:p>
                  </a:txBody>
                  <a:tcPr marL="0" marR="0" marT="0" marB="0" vert="horz">
                    <a:lnL>
                      <a:noFill/>
                    </a:lnL>
                    <a:lnR>
                      <a:noFill/>
                    </a:lnR>
                    <a:lnT>
                      <a:noFill/>
                    </a:lnT>
                    <a:lnB w="12700" cap="flat" cmpd="sng" algn="ctr">
                      <a:solidFill>
                        <a:srgbClr val="000000"/>
                      </a:solidFill>
                      <a:prstDash val="solid"/>
                      <a:round/>
                      <a:headEnd type="none" w="med" len="med"/>
                      <a:tailEnd type="none" w="med" len="med"/>
                    </a:lnB>
                  </a:tcPr>
                </a:tc>
              </a:tr>
              <a:tr h="487045">
                <a:tc>
                  <a:txBody>
                    <a:bodyPr/>
                    <a:lstStyle/>
                    <a:p>
                      <a:pPr algn="l" rtl="0" eaLnBrk="0">
                        <a:lnSpc>
                          <a:spcPct val="100000"/>
                        </a:lnSpc>
                      </a:pPr>
                      <a:endParaRPr lang="en-US" altLang="en-US" sz="750" dirty="0"/>
                    </a:p>
                  </a:txBody>
                  <a:tcPr marL="0" marR="0" marT="0" marB="0" vert="horz">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tcPr>
                </a:tc>
                <a:tc>
                  <a:txBody>
                    <a:bodyPr/>
                    <a:lstStyle/>
                    <a:p>
                      <a:pPr algn="l" rtl="0" eaLnBrk="0">
                        <a:lnSpc>
                          <a:spcPct val="131000"/>
                        </a:lnSpc>
                      </a:pPr>
                      <a:endParaRPr lang="en-US" altLang="en-US" sz="750" dirty="0"/>
                    </a:p>
                    <a:p>
                      <a:pPr marL="2226945" algn="l" rtl="0" eaLnBrk="0">
                        <a:lnSpc>
                          <a:spcPct val="91000"/>
                        </a:lnSpc>
                        <a:spcBef>
                          <a:spcPts val="5"/>
                        </a:spcBef>
                      </a:pPr>
                      <a:r>
                        <a:rPr sz="1350"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用例复杂度</a:t>
                      </a:r>
                      <a:r>
                        <a:rPr sz="1350" kern="0" spc="-10" dirty="0">
                          <a:solidFill>
                            <a:srgbClr val="004DD6">
                              <a:alpha val="100000"/>
                            </a:srgbClr>
                          </a:solidFill>
                          <a:latin typeface="Arial" panose="020B0604020202020204"/>
                          <a:ea typeface="Arial" panose="020B0604020202020204"/>
                          <a:cs typeface="Arial" panose="020B0604020202020204"/>
                        </a:rPr>
                        <a:t>UUCW</a:t>
                      </a:r>
                      <a:endParaRPr lang="en-US" altLang="en-US" sz="1350" dirty="0"/>
                    </a:p>
                  </a:txBody>
                  <a:tcPr marL="0" marR="0" marT="0" marB="0" vert="horz">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tcPr>
                </a:tc>
                <a:tc>
                  <a:txBody>
                    <a:bodyPr/>
                    <a:lstStyle/>
                    <a:p>
                      <a:pPr algn="l" rtl="0" eaLnBrk="0">
                        <a:lnSpc>
                          <a:spcPct val="118000"/>
                        </a:lnSpc>
                      </a:pPr>
                      <a:endParaRPr lang="en-US" altLang="en-US" sz="750" dirty="0"/>
                    </a:p>
                    <a:p>
                      <a:pPr marL="408305" algn="l" rtl="0" eaLnBrk="0">
                        <a:lnSpc>
                          <a:spcPts val="2365"/>
                        </a:lnSpc>
                      </a:pPr>
                      <a:r>
                        <a:rPr sz="1350"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lang="en-US" altLang="en-US" sz="1350" dirty="0"/>
                    </a:p>
                  </a:txBody>
                  <a:tcPr marL="0" marR="0" marT="0" marB="0" vert="horz">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tcPr>
                </a:tc>
              </a:tr>
            </a:tbl>
          </a:graphicData>
        </a:graphic>
      </p:graphicFrame>
      <p:sp>
        <p:nvSpPr>
          <p:cNvPr id="420" name="rect"/>
          <p:cNvSpPr/>
          <p:nvPr/>
        </p:nvSpPr>
        <p:spPr>
          <a:xfrm>
            <a:off x="0" y="4773201"/>
            <a:ext cx="9142961" cy="370298"/>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436" name="textbox 436"/>
          <p:cNvSpPr/>
          <p:nvPr/>
        </p:nvSpPr>
        <p:spPr>
          <a:xfrm>
            <a:off x="949522" y="1316667"/>
            <a:ext cx="2354103" cy="248603"/>
          </a:xfrm>
          <a:prstGeom prst="rect">
            <a:avLst/>
          </a:prstGeom>
        </p:spPr>
        <p:txBody>
          <a:bodyPr vert="horz" wrap="square" lIns="0" tIns="0" rIns="0" bIns="0"/>
          <a:lstStyle/>
          <a:p>
            <a:pPr algn="l" rtl="0" eaLnBrk="0">
              <a:lnSpc>
                <a:spcPct val="87000"/>
              </a:lnSpc>
            </a:pPr>
            <a:endParaRPr lang="en-US" altLang="en-US" sz="100" dirty="0"/>
          </a:p>
          <a:p>
            <a:pPr marL="12700" algn="l" rtl="0" eaLnBrk="0">
              <a:lnSpc>
                <a:spcPct val="91000"/>
              </a:lnSpc>
            </a:pPr>
            <a:r>
              <a:rPr sz="1650" kern="0" spc="-5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第 </a:t>
            </a:r>
            <a:r>
              <a:rPr sz="1650" kern="0" spc="-50" dirty="0">
                <a:solidFill>
                  <a:srgbClr val="0033CC">
                    <a:alpha val="100000"/>
                  </a:srgbClr>
                </a:solidFill>
                <a:latin typeface="Arial" panose="020B0604020202020204"/>
                <a:ea typeface="Arial" panose="020B0604020202020204"/>
                <a:cs typeface="Arial" panose="020B0604020202020204"/>
              </a:rPr>
              <a:t>2 </a:t>
            </a:r>
            <a:r>
              <a:rPr sz="1650" kern="0" spc="-5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步 </a:t>
            </a:r>
            <a:r>
              <a:rPr sz="1650" kern="0" spc="-50" dirty="0">
                <a:solidFill>
                  <a:srgbClr val="004D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6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计算用例复杂度</a:t>
            </a:r>
            <a:endParaRPr lang="en-US" altLang="en-US" sz="1650" dirty="0"/>
          </a:p>
        </p:txBody>
      </p:sp>
      <p:sp>
        <p:nvSpPr>
          <p:cNvPr id="3" name="标题 2"/>
          <p:cNvSpPr>
            <a:spLocks noGrp="1"/>
          </p:cNvSpPr>
          <p:nvPr>
            <p:ph type="title"/>
          </p:nvPr>
        </p:nvSpPr>
        <p:spPr/>
        <p:txBody>
          <a:bodyPr/>
          <a:p>
            <a:r>
              <a:rPr lang="zh-CN" altLang="en-US" dirty="0"/>
              <a:t>用例点估算</a:t>
            </a:r>
            <a:endParaRPr lang="en-US" altLang="zh-CN"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 name="textbox 440"/>
          <p:cNvSpPr/>
          <p:nvPr/>
        </p:nvSpPr>
        <p:spPr>
          <a:xfrm>
            <a:off x="936822" y="1229243"/>
            <a:ext cx="7161848" cy="2933224"/>
          </a:xfrm>
          <a:prstGeom prst="rect">
            <a:avLst/>
          </a:prstGeom>
        </p:spPr>
        <p:txBody>
          <a:bodyPr vert="horz" wrap="square" lIns="0" tIns="0" rIns="0" bIns="0"/>
          <a:lstStyle/>
          <a:p>
            <a:pPr algn="l" rtl="0" eaLnBrk="0">
              <a:lnSpc>
                <a:spcPct val="74000"/>
              </a:lnSpc>
            </a:pPr>
            <a:endParaRPr lang="en-US" altLang="en-US" sz="100" dirty="0"/>
          </a:p>
          <a:p>
            <a:pPr marL="12700" algn="l" rtl="0" eaLnBrk="0">
              <a:lnSpc>
                <a:spcPct val="91000"/>
              </a:lnSpc>
            </a:pPr>
            <a:r>
              <a:rPr sz="1650" kern="0" spc="-4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第 </a:t>
            </a:r>
            <a:r>
              <a:rPr sz="1650" kern="0" spc="-40" dirty="0">
                <a:solidFill>
                  <a:srgbClr val="0033CC">
                    <a:alpha val="100000"/>
                  </a:srgbClr>
                </a:solidFill>
                <a:latin typeface="Arial" panose="020B0604020202020204"/>
                <a:ea typeface="Arial" panose="020B0604020202020204"/>
                <a:cs typeface="Arial" panose="020B0604020202020204"/>
              </a:rPr>
              <a:t>3 </a:t>
            </a:r>
            <a:r>
              <a:rPr sz="1650" kern="0" spc="-4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步 </a:t>
            </a:r>
            <a:r>
              <a:rPr sz="1650" kern="0" spc="-40" dirty="0">
                <a:solidFill>
                  <a:srgbClr val="004D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65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计算未平衡用例点  </a:t>
            </a:r>
            <a:r>
              <a:rPr sz="1650" kern="0" spc="-40" dirty="0">
                <a:solidFill>
                  <a:srgbClr val="0033CC">
                    <a:alpha val="100000"/>
                  </a:srgbClr>
                </a:solidFill>
                <a:latin typeface="Arial" panose="020B0604020202020204"/>
                <a:ea typeface="Arial" panose="020B0604020202020204"/>
                <a:cs typeface="Arial" panose="020B0604020202020204"/>
              </a:rPr>
              <a:t>U</a:t>
            </a:r>
            <a:r>
              <a:rPr sz="1650" kern="0" spc="-50" dirty="0">
                <a:solidFill>
                  <a:srgbClr val="0033CC">
                    <a:alpha val="100000"/>
                  </a:srgbClr>
                </a:solidFill>
                <a:latin typeface="Arial" panose="020B0604020202020204"/>
                <a:ea typeface="Arial" panose="020B0604020202020204"/>
                <a:cs typeface="Arial" panose="020B0604020202020204"/>
              </a:rPr>
              <a:t>UCP</a:t>
            </a:r>
            <a:r>
              <a:rPr sz="1650" kern="0" spc="80" dirty="0">
                <a:solidFill>
                  <a:srgbClr val="0033CC">
                    <a:alpha val="100000"/>
                  </a:srgbClr>
                </a:solidFill>
                <a:latin typeface="Arial" panose="020B0604020202020204"/>
                <a:ea typeface="Arial" panose="020B0604020202020204"/>
                <a:cs typeface="Arial" panose="020B0604020202020204"/>
              </a:rPr>
              <a:t> </a:t>
            </a:r>
            <a:r>
              <a:rPr sz="1650" kern="0" spc="-50" dirty="0">
                <a:solidFill>
                  <a:srgbClr val="0033CC">
                    <a:alpha val="100000"/>
                  </a:srgbClr>
                </a:solidFill>
                <a:latin typeface="Arial" panose="020B0604020202020204"/>
                <a:ea typeface="Arial" panose="020B0604020202020204"/>
                <a:cs typeface="Arial" panose="020B0604020202020204"/>
              </a:rPr>
              <a:t>=</a:t>
            </a:r>
            <a:r>
              <a:rPr sz="1650" kern="0" spc="170" dirty="0">
                <a:solidFill>
                  <a:srgbClr val="0033CC">
                    <a:alpha val="100000"/>
                  </a:srgbClr>
                </a:solidFill>
                <a:latin typeface="Arial" panose="020B0604020202020204"/>
                <a:ea typeface="Arial" panose="020B0604020202020204"/>
                <a:cs typeface="Arial" panose="020B0604020202020204"/>
              </a:rPr>
              <a:t> </a:t>
            </a:r>
            <a:r>
              <a:rPr sz="1650" kern="0" spc="-50" dirty="0">
                <a:solidFill>
                  <a:srgbClr val="0033CC">
                    <a:alpha val="100000"/>
                  </a:srgbClr>
                </a:solidFill>
                <a:latin typeface="Arial" panose="020B0604020202020204"/>
                <a:ea typeface="Arial" panose="020B0604020202020204"/>
                <a:cs typeface="Arial" panose="020B0604020202020204"/>
              </a:rPr>
              <a:t>UAW</a:t>
            </a:r>
            <a:r>
              <a:rPr sz="1650" kern="0" spc="120" dirty="0">
                <a:solidFill>
                  <a:srgbClr val="0033CC">
                    <a:alpha val="100000"/>
                  </a:srgbClr>
                </a:solidFill>
                <a:latin typeface="Arial" panose="020B0604020202020204"/>
                <a:ea typeface="Arial" panose="020B0604020202020204"/>
                <a:cs typeface="Arial" panose="020B0604020202020204"/>
              </a:rPr>
              <a:t> </a:t>
            </a:r>
            <a:r>
              <a:rPr sz="1650" kern="0" spc="-50" dirty="0">
                <a:solidFill>
                  <a:srgbClr val="0033CC">
                    <a:alpha val="100000"/>
                  </a:srgbClr>
                </a:solidFill>
                <a:latin typeface="Arial" panose="020B0604020202020204"/>
                <a:ea typeface="Arial" panose="020B0604020202020204"/>
                <a:cs typeface="Arial" panose="020B0604020202020204"/>
              </a:rPr>
              <a:t>+</a:t>
            </a:r>
            <a:r>
              <a:rPr sz="1650" kern="0" spc="170" dirty="0">
                <a:solidFill>
                  <a:srgbClr val="0033CC">
                    <a:alpha val="100000"/>
                  </a:srgbClr>
                </a:solidFill>
                <a:latin typeface="Arial" panose="020B0604020202020204"/>
                <a:ea typeface="Arial" panose="020B0604020202020204"/>
                <a:cs typeface="Arial" panose="020B0604020202020204"/>
              </a:rPr>
              <a:t> </a:t>
            </a:r>
            <a:r>
              <a:rPr sz="1650" kern="0" spc="-50" dirty="0">
                <a:solidFill>
                  <a:srgbClr val="0033CC">
                    <a:alpha val="100000"/>
                  </a:srgbClr>
                </a:solidFill>
                <a:latin typeface="Arial" panose="020B0604020202020204"/>
                <a:ea typeface="Arial" panose="020B0604020202020204"/>
                <a:cs typeface="Arial" panose="020B0604020202020204"/>
              </a:rPr>
              <a:t>UUCW</a:t>
            </a:r>
            <a:endParaRPr lang="en-US" altLang="en-US" sz="1650" dirty="0"/>
          </a:p>
          <a:p>
            <a:pPr marL="12700" algn="l" rtl="0" eaLnBrk="0">
              <a:lnSpc>
                <a:spcPct val="83000"/>
              </a:lnSpc>
              <a:spcBef>
                <a:spcPts val="1590"/>
              </a:spcBef>
            </a:pPr>
            <a:r>
              <a:rPr sz="1650" kern="0" spc="-3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第 </a:t>
            </a:r>
            <a:r>
              <a:rPr sz="1650" kern="0" spc="-30" dirty="0">
                <a:solidFill>
                  <a:srgbClr val="0033CC">
                    <a:alpha val="100000"/>
                  </a:srgbClr>
                </a:solidFill>
                <a:latin typeface="Arial" panose="020B0604020202020204"/>
                <a:ea typeface="Arial" panose="020B0604020202020204"/>
                <a:cs typeface="Arial" panose="020B0604020202020204"/>
              </a:rPr>
              <a:t>4 </a:t>
            </a:r>
            <a:r>
              <a:rPr sz="1650" kern="0" spc="-3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步 </a:t>
            </a:r>
            <a:r>
              <a:rPr sz="1650" kern="0" spc="-30" dirty="0">
                <a:solidFill>
                  <a:srgbClr val="004D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6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用技术复杂度因子</a:t>
            </a:r>
            <a:r>
              <a:rPr sz="1650" kern="0" spc="-30" dirty="0">
                <a:solidFill>
                  <a:srgbClr val="000000">
                    <a:alpha val="100000"/>
                  </a:srgbClr>
                </a:solidFill>
                <a:latin typeface="Arial" panose="020B0604020202020204"/>
                <a:ea typeface="Arial" panose="020B0604020202020204"/>
                <a:cs typeface="Arial" panose="020B0604020202020204"/>
              </a:rPr>
              <a:t>TCF</a:t>
            </a:r>
            <a:r>
              <a:rPr sz="16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和环境复杂度因子</a:t>
            </a:r>
            <a:r>
              <a:rPr sz="1650" kern="0" spc="-30" dirty="0">
                <a:solidFill>
                  <a:srgbClr val="000000">
                    <a:alpha val="100000"/>
                  </a:srgbClr>
                </a:solidFill>
                <a:latin typeface="Arial" panose="020B0604020202020204"/>
                <a:ea typeface="Arial" panose="020B0604020202020204"/>
                <a:cs typeface="Arial" panose="020B0604020202020204"/>
              </a:rPr>
              <a:t>ECF</a:t>
            </a:r>
            <a:r>
              <a:rPr sz="165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进行调整 ，得到用例点</a:t>
            </a:r>
            <a:endParaRPr lang="en-US" altLang="en-US" sz="1650" dirty="0"/>
          </a:p>
          <a:p>
            <a:pPr marL="1200785" algn="l" rtl="0" eaLnBrk="0">
              <a:lnSpc>
                <a:spcPts val="3715"/>
              </a:lnSpc>
            </a:pPr>
            <a:r>
              <a:rPr sz="1650" kern="0" spc="-40" dirty="0">
                <a:solidFill>
                  <a:srgbClr val="0033CC">
                    <a:alpha val="100000"/>
                  </a:srgbClr>
                </a:solidFill>
                <a:latin typeface="Arial" panose="020B0604020202020204"/>
                <a:ea typeface="Arial" panose="020B0604020202020204"/>
                <a:cs typeface="Arial" panose="020B0604020202020204"/>
              </a:rPr>
              <a:t>UCP = TCF</a:t>
            </a:r>
            <a:r>
              <a:rPr sz="1650" kern="0" spc="120" dirty="0">
                <a:solidFill>
                  <a:srgbClr val="0033CC">
                    <a:alpha val="100000"/>
                  </a:srgbClr>
                </a:solidFill>
                <a:latin typeface="Arial" panose="020B0604020202020204"/>
                <a:ea typeface="Arial" panose="020B0604020202020204"/>
                <a:cs typeface="Arial" panose="020B0604020202020204"/>
              </a:rPr>
              <a:t> </a:t>
            </a:r>
            <a:r>
              <a:rPr sz="1650" kern="0" spc="-5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650" kern="0" spc="17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650" kern="0" spc="-50" dirty="0">
                <a:solidFill>
                  <a:srgbClr val="0033CC">
                    <a:alpha val="100000"/>
                  </a:srgbClr>
                </a:solidFill>
                <a:latin typeface="Arial" panose="020B0604020202020204"/>
                <a:ea typeface="Arial" panose="020B0604020202020204"/>
                <a:cs typeface="Arial" panose="020B0604020202020204"/>
              </a:rPr>
              <a:t>ECF</a:t>
            </a:r>
            <a:r>
              <a:rPr sz="1650" kern="0" spc="90" dirty="0">
                <a:solidFill>
                  <a:srgbClr val="0033CC">
                    <a:alpha val="100000"/>
                  </a:srgbClr>
                </a:solidFill>
                <a:latin typeface="Arial" panose="020B0604020202020204"/>
                <a:ea typeface="Arial" panose="020B0604020202020204"/>
                <a:cs typeface="Arial" panose="020B0604020202020204"/>
              </a:rPr>
              <a:t> </a:t>
            </a:r>
            <a:r>
              <a:rPr sz="1650" kern="0" spc="-5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650" kern="0" spc="17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650" kern="0" spc="-50" dirty="0">
                <a:solidFill>
                  <a:srgbClr val="0033CC">
                    <a:alpha val="100000"/>
                  </a:srgbClr>
                </a:solidFill>
                <a:latin typeface="Arial" panose="020B0604020202020204"/>
                <a:ea typeface="Arial" panose="020B0604020202020204"/>
                <a:cs typeface="Arial" panose="020B0604020202020204"/>
              </a:rPr>
              <a:t>UUCP</a:t>
            </a:r>
            <a:endParaRPr lang="en-US" altLang="en-US" sz="1650" dirty="0"/>
          </a:p>
          <a:p>
            <a:pPr algn="l" rtl="0" eaLnBrk="0">
              <a:lnSpc>
                <a:spcPct val="119000"/>
              </a:lnSpc>
            </a:pPr>
            <a:endParaRPr lang="en-US" altLang="en-US" sz="750" dirty="0"/>
          </a:p>
          <a:p>
            <a:pPr marL="1183005" algn="l" rtl="0" eaLnBrk="0">
              <a:lnSpc>
                <a:spcPct val="83000"/>
              </a:lnSpc>
              <a:spcBef>
                <a:spcPts val="660"/>
              </a:spcBef>
            </a:pPr>
            <a:r>
              <a:rPr sz="1650" kern="0" spc="-20" dirty="0">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说明 </a:t>
            </a:r>
            <a:r>
              <a:rPr sz="1650" kern="0" spc="-20" dirty="0">
                <a:solidFill>
                  <a:srgbClr val="D81E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技术复杂度因子</a:t>
            </a:r>
            <a:r>
              <a:rPr sz="1650" kern="0" spc="-20" dirty="0">
                <a:solidFill>
                  <a:srgbClr val="000000">
                    <a:alpha val="100000"/>
                  </a:srgbClr>
                </a:solidFill>
                <a:latin typeface="Arial" panose="020B0604020202020204"/>
                <a:ea typeface="Arial" panose="020B0604020202020204"/>
                <a:cs typeface="Arial" panose="020B0604020202020204"/>
              </a:rPr>
              <a:t>TCF</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和环境复杂度因子</a:t>
            </a:r>
            <a:r>
              <a:rPr sz="1650" kern="0" spc="-20" dirty="0">
                <a:solidFill>
                  <a:srgbClr val="000000">
                    <a:alpha val="100000"/>
                  </a:srgbClr>
                </a:solidFill>
                <a:latin typeface="Arial" panose="020B0604020202020204"/>
                <a:ea typeface="Arial" panose="020B0604020202020204"/>
                <a:cs typeface="Arial" panose="020B0604020202020204"/>
              </a:rPr>
              <a:t>ECF</a:t>
            </a:r>
            <a:r>
              <a:rPr sz="16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计算见后面表格</a:t>
            </a:r>
            <a:endParaRPr lang="en-US" altLang="en-US" sz="1650" dirty="0"/>
          </a:p>
          <a:p>
            <a:pPr marL="12700" algn="l" rtl="0" eaLnBrk="0">
              <a:lnSpc>
                <a:spcPts val="4110"/>
              </a:lnSpc>
            </a:pPr>
            <a:r>
              <a:rPr sz="1650" kern="0" spc="-4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第 </a:t>
            </a:r>
            <a:r>
              <a:rPr sz="1650" kern="0" spc="-40" dirty="0">
                <a:solidFill>
                  <a:srgbClr val="0033CC">
                    <a:alpha val="100000"/>
                  </a:srgbClr>
                </a:solidFill>
                <a:latin typeface="Arial" panose="020B0604020202020204"/>
                <a:ea typeface="Arial" panose="020B0604020202020204"/>
                <a:cs typeface="Arial" panose="020B0604020202020204"/>
              </a:rPr>
              <a:t>5 </a:t>
            </a:r>
            <a:r>
              <a:rPr sz="1650" kern="0" spc="-4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步 </a:t>
            </a:r>
            <a:r>
              <a:rPr sz="1650" kern="0" spc="-40" dirty="0">
                <a:solidFill>
                  <a:srgbClr val="004DD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65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估算项目开</a:t>
            </a:r>
            <a:r>
              <a:rPr sz="16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发工作量</a:t>
            </a:r>
            <a:endParaRPr lang="en-US" altLang="en-US" sz="1650" dirty="0"/>
          </a:p>
          <a:p>
            <a:pPr marL="1182370" algn="l" rtl="0" eaLnBrk="0">
              <a:lnSpc>
                <a:spcPct val="91000"/>
              </a:lnSpc>
              <a:spcBef>
                <a:spcPts val="1810"/>
              </a:spcBef>
            </a:pP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只要给出基于每个</a:t>
            </a:r>
            <a:r>
              <a:rPr sz="1650" kern="0" spc="-20" dirty="0">
                <a:solidFill>
                  <a:srgbClr val="000000">
                    <a:alpha val="100000"/>
                  </a:srgbClr>
                </a:solidFill>
                <a:latin typeface="Arial" panose="020B0604020202020204"/>
                <a:ea typeface="Arial" panose="020B0604020202020204"/>
                <a:cs typeface="Arial" panose="020B0604020202020204"/>
              </a:rPr>
              <a:t>UCP</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完成的时间 ，就可以计算出</a:t>
            </a:r>
            <a:r>
              <a:rPr sz="16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项目开发工作量</a:t>
            </a:r>
            <a:endParaRPr lang="en-US" altLang="en-US" sz="1650" dirty="0"/>
          </a:p>
          <a:p>
            <a:pPr marL="1186815" algn="l" rtl="0" eaLnBrk="0">
              <a:lnSpc>
                <a:spcPct val="91000"/>
              </a:lnSpc>
              <a:spcBef>
                <a:spcPts val="1595"/>
              </a:spcBef>
            </a:pPr>
            <a:r>
              <a:rPr sz="1650" kern="0" spc="-3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工作量 </a:t>
            </a:r>
            <a:r>
              <a:rPr sz="1650" kern="0" spc="-30" dirty="0">
                <a:solidFill>
                  <a:srgbClr val="0033CC">
                    <a:alpha val="100000"/>
                  </a:srgbClr>
                </a:solidFill>
                <a:latin typeface="Arial" panose="020B0604020202020204"/>
                <a:ea typeface="Arial" panose="020B0604020202020204"/>
                <a:cs typeface="Arial" panose="020B0604020202020204"/>
              </a:rPr>
              <a:t>=</a:t>
            </a:r>
            <a:r>
              <a:rPr sz="1650" kern="0" spc="230" dirty="0">
                <a:solidFill>
                  <a:srgbClr val="0033CC">
                    <a:alpha val="100000"/>
                  </a:srgbClr>
                </a:solidFill>
                <a:latin typeface="Arial" panose="020B0604020202020204"/>
                <a:ea typeface="Arial" panose="020B0604020202020204"/>
                <a:cs typeface="Arial" panose="020B0604020202020204"/>
              </a:rPr>
              <a:t> </a:t>
            </a:r>
            <a:r>
              <a:rPr sz="1650" kern="0" spc="-30" dirty="0">
                <a:solidFill>
                  <a:srgbClr val="0033CC">
                    <a:alpha val="100000"/>
                  </a:srgbClr>
                </a:solidFill>
                <a:latin typeface="Arial" panose="020B0604020202020204"/>
                <a:ea typeface="Arial" panose="020B0604020202020204"/>
                <a:cs typeface="Arial" panose="020B0604020202020204"/>
              </a:rPr>
              <a:t>UCP</a:t>
            </a:r>
            <a:r>
              <a:rPr sz="1650" kern="0" spc="50" dirty="0">
                <a:solidFill>
                  <a:srgbClr val="0033CC">
                    <a:alpha val="100000"/>
                  </a:srgbClr>
                </a:solidFill>
                <a:latin typeface="Arial" panose="020B0604020202020204"/>
                <a:ea typeface="Arial" panose="020B0604020202020204"/>
                <a:cs typeface="Arial" panose="020B0604020202020204"/>
              </a:rPr>
              <a:t> </a:t>
            </a:r>
            <a:r>
              <a:rPr sz="1650" kern="0" spc="-3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生产率</a:t>
            </a:r>
            <a:endParaRPr lang="en-US" altLang="en-US" sz="1650" dirty="0"/>
          </a:p>
          <a:p>
            <a:pPr algn="l" rtl="0" eaLnBrk="0">
              <a:lnSpc>
                <a:spcPct val="101000"/>
              </a:lnSpc>
            </a:pPr>
            <a:endParaRPr lang="en-US" altLang="en-US" sz="1050" dirty="0"/>
          </a:p>
          <a:p>
            <a:pPr marL="1183005" algn="l" rtl="0" eaLnBrk="0">
              <a:lnSpc>
                <a:spcPct val="91000"/>
              </a:lnSpc>
              <a:spcBef>
                <a:spcPts val="0"/>
              </a:spcBef>
            </a:pPr>
            <a:r>
              <a:rPr sz="1650" kern="0" spc="-50" dirty="0">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建议 </a:t>
            </a:r>
            <a:r>
              <a:rPr sz="1650" kern="0" spc="-50" dirty="0">
                <a:solidFill>
                  <a:srgbClr val="D81E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6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每个</a:t>
            </a:r>
            <a:r>
              <a:rPr sz="1650" kern="0" spc="-50" dirty="0">
                <a:solidFill>
                  <a:srgbClr val="000000">
                    <a:alpha val="100000"/>
                  </a:srgbClr>
                </a:solidFill>
                <a:latin typeface="Arial" panose="020B0604020202020204"/>
                <a:ea typeface="Arial" panose="020B0604020202020204"/>
                <a:cs typeface="Arial" panose="020B0604020202020204"/>
              </a:rPr>
              <a:t>UCP</a:t>
            </a:r>
            <a:r>
              <a:rPr sz="16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为</a:t>
            </a:r>
            <a:r>
              <a:rPr sz="1650" kern="0" spc="-50" dirty="0">
                <a:solidFill>
                  <a:srgbClr val="000000">
                    <a:alpha val="100000"/>
                  </a:srgbClr>
                </a:solidFill>
                <a:latin typeface="Arial" panose="020B0604020202020204"/>
                <a:ea typeface="Arial" panose="020B0604020202020204"/>
                <a:cs typeface="Arial" panose="020B0604020202020204"/>
              </a:rPr>
              <a:t>16-30</a:t>
            </a:r>
            <a:r>
              <a:rPr sz="16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人时 ，均</a:t>
            </a:r>
            <a:r>
              <a:rPr sz="165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值为</a:t>
            </a:r>
            <a:r>
              <a:rPr sz="1650" kern="0" spc="-60" dirty="0">
                <a:solidFill>
                  <a:srgbClr val="000000">
                    <a:alpha val="100000"/>
                  </a:srgbClr>
                </a:solidFill>
                <a:latin typeface="Arial" panose="020B0604020202020204"/>
                <a:ea typeface="Arial" panose="020B0604020202020204"/>
                <a:cs typeface="Arial" panose="020B0604020202020204"/>
              </a:rPr>
              <a:t>20</a:t>
            </a:r>
            <a:r>
              <a:rPr sz="165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人时</a:t>
            </a:r>
            <a:endParaRPr lang="en-US" altLang="en-US" sz="1650" dirty="0"/>
          </a:p>
        </p:txBody>
      </p:sp>
      <p:sp>
        <p:nvSpPr>
          <p:cNvPr id="442" name="rect"/>
          <p:cNvSpPr/>
          <p:nvPr/>
        </p:nvSpPr>
        <p:spPr>
          <a:xfrm>
            <a:off x="0" y="4773201"/>
            <a:ext cx="9142961" cy="370298"/>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3" name="标题 2"/>
          <p:cNvSpPr>
            <a:spLocks noGrp="1"/>
          </p:cNvSpPr>
          <p:nvPr>
            <p:ph type="title"/>
          </p:nvPr>
        </p:nvSpPr>
        <p:spPr/>
        <p:txBody>
          <a:bodyPr/>
          <a:p>
            <a:r>
              <a:rPr lang="zh-CN" altLang="en-US" dirty="0"/>
              <a:t>用例点估算</a:t>
            </a:r>
            <a:endParaRPr lang="en-US" altLang="zh-CN"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0" name="table 460"/>
          <p:cNvGraphicFramePr>
            <a:graphicFrameLocks noGrp="1"/>
          </p:cNvGraphicFramePr>
          <p:nvPr/>
        </p:nvGraphicFramePr>
        <p:xfrm>
          <a:off x="876300" y="1508503"/>
          <a:ext cx="7403465" cy="2730500"/>
        </p:xfrm>
        <a:graphic>
          <a:graphicData uri="http://schemas.openxmlformats.org/drawingml/2006/table">
            <a:tbl>
              <a:tblPr/>
              <a:tblGrid>
                <a:gridCol w="546100"/>
                <a:gridCol w="2489200"/>
                <a:gridCol w="672465"/>
                <a:gridCol w="736600"/>
                <a:gridCol w="2374900"/>
                <a:gridCol w="584200"/>
              </a:tblGrid>
              <a:tr h="330835">
                <a:tc>
                  <a:txBody>
                    <a:bodyPr/>
                    <a:lstStyle/>
                    <a:p>
                      <a:pPr algn="l" rtl="0" eaLnBrk="0">
                        <a:lnSpc>
                          <a:spcPct val="101000"/>
                        </a:lnSpc>
                      </a:pPr>
                      <a:endParaRPr lang="en-US" altLang="en-US" sz="750" dirty="0"/>
                    </a:p>
                    <a:p>
                      <a:pPr marL="149860" algn="l" rtl="0" eaLnBrk="0">
                        <a:lnSpc>
                          <a:spcPct val="81000"/>
                        </a:lnSpc>
                        <a:spcBef>
                          <a:spcPts val="0"/>
                        </a:spcBef>
                      </a:pPr>
                      <a:r>
                        <a:rPr sz="1350" kern="0" spc="-20" dirty="0">
                          <a:solidFill>
                            <a:srgbClr val="000000">
                              <a:alpha val="100000"/>
                            </a:srgbClr>
                          </a:solidFill>
                          <a:latin typeface="Arial" panose="020B0604020202020204"/>
                          <a:ea typeface="Arial" panose="020B0604020202020204"/>
                          <a:cs typeface="Arial" panose="020B0604020202020204"/>
                        </a:rPr>
                        <a:t>TFC</a:t>
                      </a:r>
                      <a:endParaRPr lang="en-US" altLang="en-US" sz="1350" dirty="0"/>
                    </a:p>
                  </a:txBody>
                  <a:tcPr marL="0" marR="0" marT="0" marB="0" vert="horz">
                    <a:lnL>
                      <a:noFill/>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ECEBEB"/>
                    </a:solidFill>
                  </a:tcPr>
                </a:tc>
                <a:tc>
                  <a:txBody>
                    <a:bodyPr/>
                    <a:lstStyle/>
                    <a:p>
                      <a:pPr algn="l" rtl="0" eaLnBrk="0">
                        <a:lnSpc>
                          <a:spcPct val="106000"/>
                        </a:lnSpc>
                      </a:pPr>
                      <a:endParaRPr lang="en-US" altLang="en-US" sz="600" dirty="0"/>
                    </a:p>
                    <a:p>
                      <a:pPr marL="1436370" algn="l" rtl="0" eaLnBrk="0">
                        <a:lnSpc>
                          <a:spcPct val="90000"/>
                        </a:lnSpc>
                        <a:spcBef>
                          <a:spcPts val="0"/>
                        </a:spcBef>
                      </a:pP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说明</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ECEBEB"/>
                    </a:solidFill>
                  </a:tcPr>
                </a:tc>
                <a:tc>
                  <a:txBody>
                    <a:bodyPr/>
                    <a:lstStyle/>
                    <a:p>
                      <a:pPr algn="l" rtl="0" eaLnBrk="0">
                        <a:lnSpc>
                          <a:spcPct val="106000"/>
                        </a:lnSpc>
                      </a:pPr>
                      <a:endParaRPr lang="en-US" altLang="en-US" sz="600" dirty="0"/>
                    </a:p>
                    <a:p>
                      <a:pPr marL="224790" algn="l" rtl="0" eaLnBrk="0">
                        <a:lnSpc>
                          <a:spcPct val="90000"/>
                        </a:lnSpc>
                        <a:spcBef>
                          <a:spcPts val="0"/>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权重</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ECEBEB"/>
                    </a:solidFill>
                  </a:tcPr>
                </a:tc>
                <a:tc>
                  <a:txBody>
                    <a:bodyPr/>
                    <a:lstStyle/>
                    <a:p>
                      <a:pPr algn="l" rtl="0" eaLnBrk="0">
                        <a:lnSpc>
                          <a:spcPct val="101000"/>
                        </a:lnSpc>
                      </a:pPr>
                      <a:endParaRPr lang="en-US" altLang="en-US" sz="750" dirty="0"/>
                    </a:p>
                    <a:p>
                      <a:pPr marL="277495" algn="l" rtl="0" eaLnBrk="0">
                        <a:lnSpc>
                          <a:spcPct val="81000"/>
                        </a:lnSpc>
                        <a:spcBef>
                          <a:spcPts val="0"/>
                        </a:spcBef>
                      </a:pPr>
                      <a:r>
                        <a:rPr sz="1350" kern="0" spc="-20" dirty="0">
                          <a:solidFill>
                            <a:srgbClr val="000000">
                              <a:alpha val="100000"/>
                            </a:srgbClr>
                          </a:solidFill>
                          <a:latin typeface="Arial" panose="020B0604020202020204"/>
                          <a:ea typeface="Arial" panose="020B0604020202020204"/>
                          <a:cs typeface="Arial" panose="020B0604020202020204"/>
                        </a:rPr>
                        <a:t>TFC</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ECEBEB"/>
                    </a:solidFill>
                  </a:tcPr>
                </a:tc>
                <a:tc>
                  <a:txBody>
                    <a:bodyPr/>
                    <a:lstStyle/>
                    <a:p>
                      <a:pPr algn="l" rtl="0" eaLnBrk="0">
                        <a:lnSpc>
                          <a:spcPct val="106000"/>
                        </a:lnSpc>
                      </a:pPr>
                      <a:endParaRPr lang="en-US" altLang="en-US" sz="600" dirty="0"/>
                    </a:p>
                    <a:p>
                      <a:pPr marL="1361440" algn="l" rtl="0" eaLnBrk="0">
                        <a:lnSpc>
                          <a:spcPct val="90000"/>
                        </a:lnSpc>
                        <a:spcBef>
                          <a:spcPts val="0"/>
                        </a:spcBef>
                      </a:pP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说明</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ECEBEB"/>
                    </a:solidFill>
                  </a:tcPr>
                </a:tc>
                <a:tc>
                  <a:txBody>
                    <a:bodyPr/>
                    <a:lstStyle/>
                    <a:p>
                      <a:pPr algn="l" rtl="0" eaLnBrk="0">
                        <a:lnSpc>
                          <a:spcPct val="106000"/>
                        </a:lnSpc>
                      </a:pPr>
                      <a:endParaRPr lang="en-US" altLang="en-US" sz="600" dirty="0"/>
                    </a:p>
                    <a:p>
                      <a:pPr marL="166370" algn="l" rtl="0" eaLnBrk="0">
                        <a:lnSpc>
                          <a:spcPct val="90000"/>
                        </a:lnSpc>
                        <a:spcBef>
                          <a:spcPts val="0"/>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权重</a:t>
                      </a:r>
                      <a:endParaRPr lang="en-US" altLang="en-US" sz="1350" dirty="0"/>
                    </a:p>
                  </a:txBody>
                  <a:tcPr marL="0" marR="0" marT="0" marB="0" vert="horz">
                    <a:lnL w="12700" cap="flat" cmpd="sng" algn="ctr">
                      <a:solidFill>
                        <a:srgbClr val="000000"/>
                      </a:solidFill>
                      <a:prstDash val="solid"/>
                      <a:round/>
                      <a:headEnd type="none" w="med" len="med"/>
                      <a:tailEnd type="none" w="med" len="med"/>
                    </a:lnL>
                    <a:lnR>
                      <a:noFill/>
                    </a:lnR>
                    <a:lnT w="381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ECEBEB"/>
                    </a:solidFill>
                  </a:tcPr>
                </a:tc>
              </a:tr>
              <a:tr h="379730">
                <a:tc>
                  <a:txBody>
                    <a:bodyPr/>
                    <a:lstStyle/>
                    <a:p>
                      <a:pPr algn="l" rtl="0" eaLnBrk="0">
                        <a:lnSpc>
                          <a:spcPct val="101000"/>
                        </a:lnSpc>
                      </a:pPr>
                      <a:endParaRPr lang="en-US" altLang="en-US" sz="675" dirty="0"/>
                    </a:p>
                    <a:p>
                      <a:pPr marL="189865" algn="l" rtl="0" eaLnBrk="0">
                        <a:lnSpc>
                          <a:spcPts val="2170"/>
                        </a:lnSpc>
                        <a:spcBef>
                          <a:spcPts val="0"/>
                        </a:spcBef>
                      </a:pPr>
                      <a:r>
                        <a:rPr sz="1350" kern="0" spc="0" dirty="0">
                          <a:solidFill>
                            <a:srgbClr val="000000">
                              <a:alpha val="100000"/>
                            </a:srgbClr>
                          </a:solidFill>
                          <a:latin typeface="Arial" panose="020B0604020202020204"/>
                          <a:ea typeface="Arial" panose="020B0604020202020204"/>
                          <a:cs typeface="Arial" panose="020B0604020202020204"/>
                        </a:rPr>
                        <a:t>TF</a:t>
                      </a:r>
                      <a:r>
                        <a:rPr sz="1350" kern="0" spc="70" baseline="-20000" dirty="0">
                          <a:solidFill>
                            <a:srgbClr val="000000">
                              <a:alpha val="100000"/>
                            </a:srgbClr>
                          </a:solidFill>
                          <a:latin typeface="Arial" panose="020B0604020202020204"/>
                          <a:ea typeface="Arial" panose="020B0604020202020204"/>
                          <a:cs typeface="Arial" panose="020B0604020202020204"/>
                        </a:rPr>
                        <a:t>1</a:t>
                      </a:r>
                      <a:endParaRPr lang="en-US" altLang="en-US" sz="1350" baseline="-20000" dirty="0"/>
                    </a:p>
                  </a:txBody>
                  <a:tcPr marL="0" marR="0" marT="0" marB="0" vert="horz">
                    <a:lnL>
                      <a:noFill/>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525" dirty="0"/>
                    </a:p>
                    <a:p>
                      <a:pPr marL="91440" algn="l" rtl="0" eaLnBrk="0">
                        <a:lnSpc>
                          <a:spcPct val="91000"/>
                        </a:lnSpc>
                        <a:spcBef>
                          <a:spcPts val="5"/>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分布式系统</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675" dirty="0"/>
                    </a:p>
                    <a:p>
                      <a:pPr marL="394335" algn="l" rtl="0" eaLnBrk="0">
                        <a:lnSpc>
                          <a:spcPct val="80000"/>
                        </a:lnSpc>
                        <a:spcBef>
                          <a:spcPts val="5"/>
                        </a:spcBef>
                      </a:pPr>
                      <a:r>
                        <a:rPr sz="1350" kern="0" spc="-10" dirty="0">
                          <a:solidFill>
                            <a:srgbClr val="000000">
                              <a:alpha val="100000"/>
                            </a:srgbClr>
                          </a:solidFill>
                          <a:latin typeface="Arial" panose="020B0604020202020204"/>
                          <a:ea typeface="Arial" panose="020B0604020202020204"/>
                          <a:cs typeface="Arial" panose="020B0604020202020204"/>
                        </a:rPr>
                        <a:t>2</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lang="en-US" altLang="en-US" sz="675" dirty="0"/>
                    </a:p>
                    <a:p>
                      <a:pPr marL="317500" algn="l" rtl="0" eaLnBrk="0">
                        <a:lnSpc>
                          <a:spcPct val="100000"/>
                        </a:lnSpc>
                        <a:spcBef>
                          <a:spcPts val="0"/>
                        </a:spcBef>
                      </a:pPr>
                      <a:r>
                        <a:rPr sz="1350" kern="0" spc="-20" dirty="0">
                          <a:solidFill>
                            <a:srgbClr val="000000">
                              <a:alpha val="100000"/>
                            </a:srgbClr>
                          </a:solidFill>
                          <a:latin typeface="Arial" panose="020B0604020202020204"/>
                          <a:ea typeface="Arial" panose="020B0604020202020204"/>
                          <a:cs typeface="Arial" panose="020B0604020202020204"/>
                        </a:rPr>
                        <a:t>TF</a:t>
                      </a:r>
                      <a:r>
                        <a:rPr sz="1350" kern="0" spc="-20" baseline="-20000" dirty="0">
                          <a:solidFill>
                            <a:srgbClr val="000000">
                              <a:alpha val="100000"/>
                            </a:srgbClr>
                          </a:solidFill>
                          <a:latin typeface="Arial" panose="020B0604020202020204"/>
                          <a:ea typeface="Arial" panose="020B0604020202020204"/>
                          <a:cs typeface="Arial" panose="020B0604020202020204"/>
                        </a:rPr>
                        <a:t>8</a:t>
                      </a:r>
                      <a:endParaRPr lang="en-US" altLang="en-US" sz="1350" baseline="-20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525" dirty="0"/>
                    </a:p>
                    <a:p>
                      <a:pPr marL="94615" algn="l" rtl="0" eaLnBrk="0">
                        <a:lnSpc>
                          <a:spcPct val="91000"/>
                        </a:lnSpc>
                        <a:spcBef>
                          <a:spcPts val="5"/>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可移植性</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675" dirty="0"/>
                    </a:p>
                    <a:p>
                      <a:pPr marL="335915" algn="l" rtl="0" eaLnBrk="0">
                        <a:lnSpc>
                          <a:spcPct val="80000"/>
                        </a:lnSpc>
                        <a:spcBef>
                          <a:spcPts val="5"/>
                        </a:spcBef>
                      </a:pPr>
                      <a:r>
                        <a:rPr sz="1350" kern="0" spc="-10" dirty="0">
                          <a:solidFill>
                            <a:srgbClr val="000000">
                              <a:alpha val="100000"/>
                            </a:srgbClr>
                          </a:solidFill>
                          <a:latin typeface="Arial" panose="020B0604020202020204"/>
                          <a:ea typeface="Arial" panose="020B0604020202020204"/>
                          <a:cs typeface="Arial" panose="020B0604020202020204"/>
                        </a:rPr>
                        <a:t>2</a:t>
                      </a:r>
                      <a:endParaRPr lang="en-US" altLang="en-US" sz="1350" dirty="0"/>
                    </a:p>
                  </a:txBody>
                  <a:tcPr marL="0" marR="0" marT="0" marB="0" vert="horz">
                    <a:lnL w="12700" cap="flat" cmpd="sng" algn="ctr">
                      <a:solidFill>
                        <a:srgbClr val="000000"/>
                      </a:solidFill>
                      <a:prstDash val="solid"/>
                      <a:round/>
                      <a:headEnd type="none" w="med" len="med"/>
                      <a:tailEnd type="none" w="med" len="med"/>
                    </a:lnL>
                    <a:lnR>
                      <a:noFill/>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6705">
                <a:tc>
                  <a:txBody>
                    <a:bodyPr/>
                    <a:lstStyle/>
                    <a:p>
                      <a:pPr algn="l" rtl="0" eaLnBrk="0">
                        <a:lnSpc>
                          <a:spcPct val="107000"/>
                        </a:lnSpc>
                      </a:pPr>
                      <a:endParaRPr lang="en-US" altLang="en-US" sz="600" dirty="0"/>
                    </a:p>
                    <a:p>
                      <a:pPr marL="189865" algn="l" rtl="0" eaLnBrk="0">
                        <a:lnSpc>
                          <a:spcPct val="99000"/>
                        </a:lnSpc>
                        <a:spcBef>
                          <a:spcPts val="5"/>
                        </a:spcBef>
                      </a:pPr>
                      <a:r>
                        <a:rPr sz="1350" kern="0" spc="-20" dirty="0">
                          <a:solidFill>
                            <a:srgbClr val="000000">
                              <a:alpha val="100000"/>
                            </a:srgbClr>
                          </a:solidFill>
                          <a:latin typeface="Arial" panose="020B0604020202020204"/>
                          <a:ea typeface="Arial" panose="020B0604020202020204"/>
                          <a:cs typeface="Arial" panose="020B0604020202020204"/>
                        </a:rPr>
                        <a:t>TF</a:t>
                      </a:r>
                      <a:r>
                        <a:rPr sz="1350" kern="0" spc="-20" baseline="-20000" dirty="0">
                          <a:solidFill>
                            <a:srgbClr val="000000">
                              <a:alpha val="100000"/>
                            </a:srgbClr>
                          </a:solidFill>
                          <a:latin typeface="Arial" panose="020B0604020202020204"/>
                          <a:ea typeface="Arial" panose="020B0604020202020204"/>
                          <a:cs typeface="Arial" panose="020B0604020202020204"/>
                        </a:rPr>
                        <a:t>2</a:t>
                      </a:r>
                      <a:endParaRPr lang="en-US" altLang="en-US" sz="1350" baseline="-2000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0000"/>
                        </a:lnSpc>
                      </a:pPr>
                      <a:endParaRPr lang="en-US" altLang="en-US" sz="450" dirty="0"/>
                    </a:p>
                    <a:p>
                      <a:pPr marL="91440" algn="l" rtl="0" eaLnBrk="0">
                        <a:lnSpc>
                          <a:spcPct val="91000"/>
                        </a:lnSpc>
                        <a:spcBef>
                          <a:spcPts val="0"/>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系统性能要求</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7000"/>
                        </a:lnSpc>
                      </a:pPr>
                      <a:endParaRPr lang="en-US" altLang="en-US" sz="600" dirty="0"/>
                    </a:p>
                    <a:p>
                      <a:pPr marL="412115" algn="l" rtl="0" eaLnBrk="0">
                        <a:lnSpc>
                          <a:spcPct val="80000"/>
                        </a:lnSpc>
                        <a:spcBef>
                          <a:spcPts val="5"/>
                        </a:spcBef>
                      </a:pPr>
                      <a:r>
                        <a:rPr sz="1350" kern="0" spc="-10" dirty="0">
                          <a:solidFill>
                            <a:srgbClr val="000000">
                              <a:alpha val="100000"/>
                            </a:srgbClr>
                          </a:solidFill>
                          <a:latin typeface="Arial" panose="020B0604020202020204"/>
                          <a:ea typeface="Arial" panose="020B0604020202020204"/>
                          <a:cs typeface="Arial" panose="020B0604020202020204"/>
                        </a:rPr>
                        <a:t>1</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7000"/>
                        </a:lnSpc>
                      </a:pPr>
                      <a:endParaRPr lang="en-US" altLang="en-US" sz="600" dirty="0"/>
                    </a:p>
                    <a:p>
                      <a:pPr marL="317500" algn="l" rtl="0" eaLnBrk="0">
                        <a:lnSpc>
                          <a:spcPct val="99000"/>
                        </a:lnSpc>
                        <a:spcBef>
                          <a:spcPts val="5"/>
                        </a:spcBef>
                      </a:pPr>
                      <a:r>
                        <a:rPr sz="1350" kern="0" spc="-20" dirty="0">
                          <a:solidFill>
                            <a:srgbClr val="000000">
                              <a:alpha val="100000"/>
                            </a:srgbClr>
                          </a:solidFill>
                          <a:latin typeface="Arial" panose="020B0604020202020204"/>
                          <a:ea typeface="Arial" panose="020B0604020202020204"/>
                          <a:cs typeface="Arial" panose="020B0604020202020204"/>
                        </a:rPr>
                        <a:t>TF</a:t>
                      </a:r>
                      <a:r>
                        <a:rPr sz="1350" kern="0" spc="-20" baseline="-20000" dirty="0">
                          <a:solidFill>
                            <a:srgbClr val="000000">
                              <a:alpha val="100000"/>
                            </a:srgbClr>
                          </a:solidFill>
                          <a:latin typeface="Arial" panose="020B0604020202020204"/>
                          <a:ea typeface="Arial" panose="020B0604020202020204"/>
                          <a:cs typeface="Arial" panose="020B0604020202020204"/>
                        </a:rPr>
                        <a:t>9</a:t>
                      </a:r>
                      <a:endParaRPr lang="en-US" altLang="en-US" sz="1350" baseline="-20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3000"/>
                        </a:lnSpc>
                      </a:pPr>
                      <a:endParaRPr lang="en-US" altLang="en-US" sz="450" dirty="0"/>
                    </a:p>
                    <a:p>
                      <a:pPr marL="94615" algn="l" rtl="0" eaLnBrk="0">
                        <a:lnSpc>
                          <a:spcPct val="90000"/>
                        </a:lnSpc>
                        <a:spcBef>
                          <a:spcPts val="0"/>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可修改性</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7000"/>
                        </a:lnSpc>
                      </a:pPr>
                      <a:endParaRPr lang="en-US" altLang="en-US" sz="600" dirty="0"/>
                    </a:p>
                    <a:p>
                      <a:pPr marL="354330" algn="l" rtl="0" eaLnBrk="0">
                        <a:lnSpc>
                          <a:spcPct val="80000"/>
                        </a:lnSpc>
                        <a:spcBef>
                          <a:spcPts val="5"/>
                        </a:spcBef>
                      </a:pPr>
                      <a:r>
                        <a:rPr sz="1350" kern="0" spc="-10" dirty="0">
                          <a:solidFill>
                            <a:srgbClr val="000000">
                              <a:alpha val="100000"/>
                            </a:srgbClr>
                          </a:solidFill>
                          <a:latin typeface="Arial" panose="020B0604020202020204"/>
                          <a:ea typeface="Arial" panose="020B0604020202020204"/>
                          <a:cs typeface="Arial" panose="020B0604020202020204"/>
                        </a:rPr>
                        <a:t>1</a:t>
                      </a:r>
                      <a:endParaRPr lang="en-US" altLang="en-US" sz="135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0205">
                <a:tc>
                  <a:txBody>
                    <a:bodyPr/>
                    <a:lstStyle/>
                    <a:p>
                      <a:pPr algn="l" rtl="0" eaLnBrk="0">
                        <a:lnSpc>
                          <a:spcPct val="108000"/>
                        </a:lnSpc>
                      </a:pPr>
                      <a:endParaRPr lang="en-US" altLang="en-US" sz="600" dirty="0"/>
                    </a:p>
                    <a:p>
                      <a:pPr marL="189865" algn="l" rtl="0" eaLnBrk="0">
                        <a:lnSpc>
                          <a:spcPct val="99000"/>
                        </a:lnSpc>
                        <a:spcBef>
                          <a:spcPts val="5"/>
                        </a:spcBef>
                      </a:pPr>
                      <a:r>
                        <a:rPr sz="1350" kern="0" spc="-20" dirty="0">
                          <a:solidFill>
                            <a:srgbClr val="000000">
                              <a:alpha val="100000"/>
                            </a:srgbClr>
                          </a:solidFill>
                          <a:latin typeface="Arial" panose="020B0604020202020204"/>
                          <a:ea typeface="Arial" panose="020B0604020202020204"/>
                          <a:cs typeface="Arial" panose="020B0604020202020204"/>
                        </a:rPr>
                        <a:t>TF</a:t>
                      </a:r>
                      <a:r>
                        <a:rPr sz="1350" kern="0" spc="-20" baseline="-20000" dirty="0">
                          <a:solidFill>
                            <a:srgbClr val="000000">
                              <a:alpha val="100000"/>
                            </a:srgbClr>
                          </a:solidFill>
                          <a:latin typeface="Arial" panose="020B0604020202020204"/>
                          <a:ea typeface="Arial" panose="020B0604020202020204"/>
                          <a:cs typeface="Arial" panose="020B0604020202020204"/>
                        </a:rPr>
                        <a:t>3</a:t>
                      </a:r>
                      <a:endParaRPr lang="en-US" altLang="en-US" sz="1350" baseline="-2000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0000"/>
                        </a:lnSpc>
                      </a:pPr>
                      <a:endParaRPr lang="en-US" altLang="en-US" sz="450" dirty="0"/>
                    </a:p>
                    <a:p>
                      <a:pPr marL="92710" algn="l" rtl="0" eaLnBrk="0">
                        <a:lnSpc>
                          <a:spcPct val="91000"/>
                        </a:lnSpc>
                        <a:spcBef>
                          <a:spcPts val="5"/>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终端用户使用效率要求</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8000"/>
                        </a:lnSpc>
                      </a:pPr>
                      <a:endParaRPr lang="en-US" altLang="en-US" sz="600" dirty="0"/>
                    </a:p>
                    <a:p>
                      <a:pPr marL="412115" algn="l" rtl="0" eaLnBrk="0">
                        <a:lnSpc>
                          <a:spcPct val="80000"/>
                        </a:lnSpc>
                      </a:pPr>
                      <a:r>
                        <a:rPr sz="1350" kern="0" spc="-10" dirty="0">
                          <a:solidFill>
                            <a:srgbClr val="000000">
                              <a:alpha val="100000"/>
                            </a:srgbClr>
                          </a:solidFill>
                          <a:latin typeface="Arial" panose="020B0604020202020204"/>
                          <a:ea typeface="Arial" panose="020B0604020202020204"/>
                          <a:cs typeface="Arial" panose="020B0604020202020204"/>
                        </a:rPr>
                        <a:t>1</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8000"/>
                        </a:lnSpc>
                      </a:pPr>
                      <a:endParaRPr lang="en-US" altLang="en-US" sz="600" dirty="0"/>
                    </a:p>
                    <a:p>
                      <a:pPr algn="l" rtl="0" eaLnBrk="0">
                        <a:lnSpc>
                          <a:spcPct val="6000"/>
                        </a:lnSpc>
                      </a:pPr>
                      <a:endParaRPr lang="en-US" altLang="en-US" sz="100" dirty="0"/>
                    </a:p>
                    <a:p>
                      <a:pPr marL="274955" algn="l" rtl="0" eaLnBrk="0">
                        <a:lnSpc>
                          <a:spcPts val="2135"/>
                        </a:lnSpc>
                      </a:pPr>
                      <a:r>
                        <a:rPr sz="2025" kern="0" spc="0" baseline="5000" dirty="0">
                          <a:solidFill>
                            <a:srgbClr val="000000">
                              <a:alpha val="100000"/>
                            </a:srgbClr>
                          </a:solidFill>
                          <a:latin typeface="Arial" panose="020B0604020202020204"/>
                          <a:ea typeface="Arial" panose="020B0604020202020204"/>
                          <a:cs typeface="Arial" panose="020B0604020202020204"/>
                        </a:rPr>
                        <a:t>TF</a:t>
                      </a:r>
                      <a:r>
                        <a:rPr sz="1350" kern="0" spc="40" baseline="-16000" dirty="0">
                          <a:solidFill>
                            <a:srgbClr val="000000">
                              <a:alpha val="100000"/>
                            </a:srgbClr>
                          </a:solidFill>
                          <a:latin typeface="Arial" panose="020B0604020202020204"/>
                          <a:ea typeface="Arial" panose="020B0604020202020204"/>
                          <a:cs typeface="Arial" panose="020B0604020202020204"/>
                        </a:rPr>
                        <a:t>10</a:t>
                      </a:r>
                      <a:endParaRPr lang="en-US" altLang="en-US" sz="1350" baseline="-16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0000"/>
                        </a:lnSpc>
                      </a:pPr>
                      <a:endParaRPr lang="en-US" altLang="en-US" sz="450" dirty="0"/>
                    </a:p>
                    <a:p>
                      <a:pPr marL="95250" algn="l" rtl="0" eaLnBrk="0">
                        <a:lnSpc>
                          <a:spcPct val="91000"/>
                        </a:lnSpc>
                        <a:spcBef>
                          <a:spcPts val="5"/>
                        </a:spcBef>
                      </a:pP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并发性</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8000"/>
                        </a:lnSpc>
                      </a:pPr>
                      <a:endParaRPr lang="en-US" altLang="en-US" sz="600" dirty="0"/>
                    </a:p>
                    <a:p>
                      <a:pPr marL="354330" algn="l" rtl="0" eaLnBrk="0">
                        <a:lnSpc>
                          <a:spcPct val="80000"/>
                        </a:lnSpc>
                      </a:pPr>
                      <a:r>
                        <a:rPr sz="1350" kern="0" spc="-10" dirty="0">
                          <a:solidFill>
                            <a:srgbClr val="000000">
                              <a:alpha val="100000"/>
                            </a:srgbClr>
                          </a:solidFill>
                          <a:latin typeface="Arial" panose="020B0604020202020204"/>
                          <a:ea typeface="Arial" panose="020B0604020202020204"/>
                          <a:cs typeface="Arial" panose="020B0604020202020204"/>
                        </a:rPr>
                        <a:t>1</a:t>
                      </a:r>
                      <a:endParaRPr lang="en-US" altLang="en-US" sz="135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5910">
                <a:tc>
                  <a:txBody>
                    <a:bodyPr/>
                    <a:lstStyle/>
                    <a:p>
                      <a:pPr algn="l" rtl="0" eaLnBrk="0">
                        <a:lnSpc>
                          <a:spcPct val="102000"/>
                        </a:lnSpc>
                      </a:pPr>
                      <a:endParaRPr lang="en-US" altLang="en-US" sz="600" dirty="0"/>
                    </a:p>
                    <a:p>
                      <a:pPr algn="l" rtl="0" eaLnBrk="0">
                        <a:lnSpc>
                          <a:spcPct val="6000"/>
                        </a:lnSpc>
                      </a:pPr>
                      <a:endParaRPr lang="en-US" altLang="en-US" sz="100" dirty="0"/>
                    </a:p>
                    <a:p>
                      <a:pPr marL="189865" algn="l" rtl="0" eaLnBrk="0">
                        <a:lnSpc>
                          <a:spcPct val="96000"/>
                        </a:lnSpc>
                      </a:pPr>
                      <a:r>
                        <a:rPr sz="1350" kern="0" spc="-20" dirty="0">
                          <a:solidFill>
                            <a:srgbClr val="000000">
                              <a:alpha val="100000"/>
                            </a:srgbClr>
                          </a:solidFill>
                          <a:latin typeface="Arial" panose="020B0604020202020204"/>
                          <a:ea typeface="Arial" panose="020B0604020202020204"/>
                          <a:cs typeface="Arial" panose="020B0604020202020204"/>
                        </a:rPr>
                        <a:t>TF</a:t>
                      </a:r>
                      <a:r>
                        <a:rPr sz="1350" kern="0" spc="-20" baseline="-20000" dirty="0">
                          <a:solidFill>
                            <a:srgbClr val="000000">
                              <a:alpha val="100000"/>
                            </a:srgbClr>
                          </a:solidFill>
                          <a:latin typeface="Arial" panose="020B0604020202020204"/>
                          <a:ea typeface="Arial" panose="020B0604020202020204"/>
                          <a:cs typeface="Arial" panose="020B0604020202020204"/>
                        </a:rPr>
                        <a:t>4</a:t>
                      </a:r>
                      <a:endParaRPr lang="en-US" altLang="en-US" sz="1350" baseline="-2000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lang="en-US" altLang="en-US" sz="450" dirty="0"/>
                    </a:p>
                    <a:p>
                      <a:pPr marL="112395" algn="l" rtl="0" eaLnBrk="0">
                        <a:lnSpc>
                          <a:spcPct val="91000"/>
                        </a:lnSpc>
                        <a:spcBef>
                          <a:spcPts val="5"/>
                        </a:spcBef>
                      </a:pPr>
                      <a:r>
                        <a:rPr sz="13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内部处理复杂度</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lang="en-US" altLang="en-US" sz="600" dirty="0"/>
                    </a:p>
                    <a:p>
                      <a:pPr algn="l" rtl="0" eaLnBrk="0">
                        <a:lnSpc>
                          <a:spcPct val="8000"/>
                        </a:lnSpc>
                      </a:pPr>
                      <a:endParaRPr lang="en-US" altLang="en-US" sz="100" dirty="0"/>
                    </a:p>
                    <a:p>
                      <a:pPr marL="412115" algn="l" rtl="0" eaLnBrk="0">
                        <a:lnSpc>
                          <a:spcPct val="80000"/>
                        </a:lnSpc>
                      </a:pPr>
                      <a:r>
                        <a:rPr sz="1350" kern="0" spc="-10" dirty="0">
                          <a:solidFill>
                            <a:srgbClr val="000000">
                              <a:alpha val="100000"/>
                            </a:srgbClr>
                          </a:solidFill>
                          <a:latin typeface="Arial" panose="020B0604020202020204"/>
                          <a:ea typeface="Arial" panose="020B0604020202020204"/>
                          <a:cs typeface="Arial" panose="020B0604020202020204"/>
                        </a:rPr>
                        <a:t>1</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3000"/>
                        </a:lnSpc>
                      </a:pPr>
                      <a:endParaRPr lang="en-US" altLang="en-US" sz="600" dirty="0"/>
                    </a:p>
                    <a:p>
                      <a:pPr algn="l" rtl="0" eaLnBrk="0">
                        <a:lnSpc>
                          <a:spcPct val="6000"/>
                        </a:lnSpc>
                      </a:pPr>
                      <a:endParaRPr lang="en-US" altLang="en-US" sz="100" dirty="0"/>
                    </a:p>
                    <a:p>
                      <a:pPr marL="280670" algn="l" rtl="0" eaLnBrk="0">
                        <a:lnSpc>
                          <a:spcPct val="98000"/>
                        </a:lnSpc>
                      </a:pPr>
                      <a:r>
                        <a:rPr sz="2025" kern="0" spc="0" baseline="4000" dirty="0">
                          <a:solidFill>
                            <a:srgbClr val="000000">
                              <a:alpha val="100000"/>
                            </a:srgbClr>
                          </a:solidFill>
                          <a:latin typeface="Arial" panose="020B0604020202020204"/>
                          <a:ea typeface="Arial" panose="020B0604020202020204"/>
                          <a:cs typeface="Arial" panose="020B0604020202020204"/>
                        </a:rPr>
                        <a:t>TF</a:t>
                      </a:r>
                      <a:r>
                        <a:rPr sz="1350" kern="0" spc="10" baseline="-17000" dirty="0">
                          <a:solidFill>
                            <a:srgbClr val="000000">
                              <a:alpha val="100000"/>
                            </a:srgbClr>
                          </a:solidFill>
                          <a:latin typeface="Arial" panose="020B0604020202020204"/>
                          <a:ea typeface="Arial" panose="020B0604020202020204"/>
                          <a:cs typeface="Arial" panose="020B0604020202020204"/>
                        </a:rPr>
                        <a:t>11</a:t>
                      </a:r>
                      <a:endParaRPr lang="en-US" altLang="en-US" sz="1350" baseline="-17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lang="en-US" altLang="en-US" sz="450" dirty="0"/>
                    </a:p>
                    <a:p>
                      <a:pPr marL="91440" algn="l" rtl="0" eaLnBrk="0">
                        <a:lnSpc>
                          <a:spcPct val="91000"/>
                        </a:lnSpc>
                        <a:spcBef>
                          <a:spcPts val="5"/>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特殊的安全性</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lang="en-US" altLang="en-US" sz="600" dirty="0"/>
                    </a:p>
                    <a:p>
                      <a:pPr algn="l" rtl="0" eaLnBrk="0">
                        <a:lnSpc>
                          <a:spcPct val="8000"/>
                        </a:lnSpc>
                      </a:pPr>
                      <a:endParaRPr lang="en-US" altLang="en-US" sz="100" dirty="0"/>
                    </a:p>
                    <a:p>
                      <a:pPr marL="354330" algn="l" rtl="0" eaLnBrk="0">
                        <a:lnSpc>
                          <a:spcPct val="80000"/>
                        </a:lnSpc>
                      </a:pPr>
                      <a:r>
                        <a:rPr sz="1350" kern="0" spc="-10" dirty="0">
                          <a:solidFill>
                            <a:srgbClr val="000000">
                              <a:alpha val="100000"/>
                            </a:srgbClr>
                          </a:solidFill>
                          <a:latin typeface="Arial" panose="020B0604020202020204"/>
                          <a:ea typeface="Arial" panose="020B0604020202020204"/>
                          <a:cs typeface="Arial" panose="020B0604020202020204"/>
                        </a:rPr>
                        <a:t>1</a:t>
                      </a:r>
                      <a:endParaRPr lang="en-US" altLang="en-US" sz="135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9570">
                <a:tc>
                  <a:txBody>
                    <a:bodyPr/>
                    <a:lstStyle/>
                    <a:p>
                      <a:pPr algn="l" rtl="0" eaLnBrk="0">
                        <a:lnSpc>
                          <a:spcPct val="107000"/>
                        </a:lnSpc>
                      </a:pPr>
                      <a:endParaRPr lang="en-US" altLang="en-US" sz="600" dirty="0"/>
                    </a:p>
                    <a:p>
                      <a:pPr marL="189865" algn="l" rtl="0" eaLnBrk="0">
                        <a:lnSpc>
                          <a:spcPct val="99000"/>
                        </a:lnSpc>
                        <a:spcBef>
                          <a:spcPts val="5"/>
                        </a:spcBef>
                      </a:pPr>
                      <a:r>
                        <a:rPr sz="1350" kern="0" spc="-20" dirty="0">
                          <a:solidFill>
                            <a:srgbClr val="000000">
                              <a:alpha val="100000"/>
                            </a:srgbClr>
                          </a:solidFill>
                          <a:latin typeface="Arial" panose="020B0604020202020204"/>
                          <a:ea typeface="Arial" panose="020B0604020202020204"/>
                          <a:cs typeface="Arial" panose="020B0604020202020204"/>
                        </a:rPr>
                        <a:t>TF</a:t>
                      </a:r>
                      <a:r>
                        <a:rPr sz="1350" kern="0" spc="-20" baseline="-20000" dirty="0">
                          <a:solidFill>
                            <a:srgbClr val="000000">
                              <a:alpha val="100000"/>
                            </a:srgbClr>
                          </a:solidFill>
                          <a:latin typeface="Arial" panose="020B0604020202020204"/>
                          <a:ea typeface="Arial" panose="020B0604020202020204"/>
                          <a:cs typeface="Arial" panose="020B0604020202020204"/>
                        </a:rPr>
                        <a:t>5</a:t>
                      </a:r>
                      <a:endParaRPr lang="en-US" altLang="en-US" sz="1350" baseline="-2000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3000"/>
                        </a:lnSpc>
                      </a:pPr>
                      <a:endParaRPr lang="en-US" altLang="en-US" sz="450" dirty="0"/>
                    </a:p>
                    <a:p>
                      <a:pPr marL="93980" algn="l" rtl="0" eaLnBrk="0">
                        <a:lnSpc>
                          <a:spcPct val="90000"/>
                        </a:lnSpc>
                        <a:spcBef>
                          <a:spcPts val="5"/>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可重用性</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7000"/>
                        </a:lnSpc>
                      </a:pPr>
                      <a:endParaRPr lang="en-US" altLang="en-US" sz="600" dirty="0"/>
                    </a:p>
                    <a:p>
                      <a:pPr algn="l" rtl="0" eaLnBrk="0">
                        <a:lnSpc>
                          <a:spcPct val="6000"/>
                        </a:lnSpc>
                      </a:pPr>
                      <a:endParaRPr lang="en-US" altLang="en-US" sz="100" dirty="0"/>
                    </a:p>
                    <a:p>
                      <a:pPr marL="412115" algn="l" rtl="0" eaLnBrk="0">
                        <a:lnSpc>
                          <a:spcPct val="80000"/>
                        </a:lnSpc>
                      </a:pPr>
                      <a:r>
                        <a:rPr sz="1350" kern="0" spc="-10" dirty="0">
                          <a:solidFill>
                            <a:srgbClr val="000000">
                              <a:alpha val="100000"/>
                            </a:srgbClr>
                          </a:solidFill>
                          <a:latin typeface="Arial" panose="020B0604020202020204"/>
                          <a:ea typeface="Arial" panose="020B0604020202020204"/>
                          <a:cs typeface="Arial" panose="020B0604020202020204"/>
                        </a:rPr>
                        <a:t>1</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8000"/>
                        </a:lnSpc>
                      </a:pPr>
                      <a:endParaRPr lang="en-US" altLang="en-US" sz="600" dirty="0"/>
                    </a:p>
                    <a:p>
                      <a:pPr marL="274955" algn="l" rtl="0" eaLnBrk="0">
                        <a:lnSpc>
                          <a:spcPts val="2130"/>
                        </a:lnSpc>
                        <a:spcBef>
                          <a:spcPts val="5"/>
                        </a:spcBef>
                      </a:pPr>
                      <a:r>
                        <a:rPr sz="2025" kern="0" spc="0" baseline="4000" dirty="0">
                          <a:solidFill>
                            <a:srgbClr val="000000">
                              <a:alpha val="100000"/>
                            </a:srgbClr>
                          </a:solidFill>
                          <a:latin typeface="Arial" panose="020B0604020202020204"/>
                          <a:ea typeface="Arial" panose="020B0604020202020204"/>
                          <a:cs typeface="Arial" panose="020B0604020202020204"/>
                        </a:rPr>
                        <a:t>TF</a:t>
                      </a:r>
                      <a:r>
                        <a:rPr sz="1350" kern="0" spc="40" baseline="-17000" dirty="0">
                          <a:solidFill>
                            <a:srgbClr val="000000">
                              <a:alpha val="100000"/>
                            </a:srgbClr>
                          </a:solidFill>
                          <a:latin typeface="Arial" panose="020B0604020202020204"/>
                          <a:ea typeface="Arial" panose="020B0604020202020204"/>
                          <a:cs typeface="Arial" panose="020B0604020202020204"/>
                        </a:rPr>
                        <a:t>12</a:t>
                      </a:r>
                      <a:endParaRPr lang="en-US" altLang="en-US" sz="1350" baseline="-17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0000"/>
                        </a:lnSpc>
                      </a:pPr>
                      <a:endParaRPr lang="en-US" altLang="en-US" sz="450" dirty="0"/>
                    </a:p>
                    <a:p>
                      <a:pPr marL="93345" algn="l" rtl="0" eaLnBrk="0">
                        <a:lnSpc>
                          <a:spcPct val="91000"/>
                        </a:lnSpc>
                        <a:spcBef>
                          <a:spcPts val="5"/>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提供给第三方接口</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7000"/>
                        </a:lnSpc>
                      </a:pPr>
                      <a:endParaRPr lang="en-US" altLang="en-US" sz="600" dirty="0"/>
                    </a:p>
                    <a:p>
                      <a:pPr algn="l" rtl="0" eaLnBrk="0">
                        <a:lnSpc>
                          <a:spcPct val="6000"/>
                        </a:lnSpc>
                      </a:pPr>
                      <a:endParaRPr lang="en-US" altLang="en-US" sz="100" dirty="0"/>
                    </a:p>
                    <a:p>
                      <a:pPr marL="354330" algn="l" rtl="0" eaLnBrk="0">
                        <a:lnSpc>
                          <a:spcPct val="80000"/>
                        </a:lnSpc>
                      </a:pPr>
                      <a:r>
                        <a:rPr sz="1350" kern="0" spc="-10" dirty="0">
                          <a:solidFill>
                            <a:srgbClr val="000000">
                              <a:alpha val="100000"/>
                            </a:srgbClr>
                          </a:solidFill>
                          <a:latin typeface="Arial" panose="020B0604020202020204"/>
                          <a:ea typeface="Arial" panose="020B0604020202020204"/>
                          <a:cs typeface="Arial" panose="020B0604020202020204"/>
                        </a:rPr>
                        <a:t>1</a:t>
                      </a:r>
                      <a:endParaRPr lang="en-US" altLang="en-US" sz="135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6545">
                <a:tc>
                  <a:txBody>
                    <a:bodyPr/>
                    <a:lstStyle/>
                    <a:p>
                      <a:pPr algn="l" rtl="0" eaLnBrk="0">
                        <a:lnSpc>
                          <a:spcPct val="102000"/>
                        </a:lnSpc>
                      </a:pPr>
                      <a:endParaRPr lang="en-US" altLang="en-US" sz="600" dirty="0"/>
                    </a:p>
                    <a:p>
                      <a:pPr algn="l" rtl="0" eaLnBrk="0">
                        <a:lnSpc>
                          <a:spcPct val="6000"/>
                        </a:lnSpc>
                      </a:pPr>
                      <a:endParaRPr lang="en-US" altLang="en-US" sz="100" dirty="0"/>
                    </a:p>
                    <a:p>
                      <a:pPr marL="189865" algn="l" rtl="0" eaLnBrk="0">
                        <a:lnSpc>
                          <a:spcPct val="96000"/>
                        </a:lnSpc>
                      </a:pPr>
                      <a:r>
                        <a:rPr sz="1350" kern="0" spc="-20" dirty="0">
                          <a:solidFill>
                            <a:srgbClr val="000000">
                              <a:alpha val="100000"/>
                            </a:srgbClr>
                          </a:solidFill>
                          <a:latin typeface="Arial" panose="020B0604020202020204"/>
                          <a:ea typeface="Arial" panose="020B0604020202020204"/>
                          <a:cs typeface="Arial" panose="020B0604020202020204"/>
                        </a:rPr>
                        <a:t>TF</a:t>
                      </a:r>
                      <a:r>
                        <a:rPr sz="1350" kern="0" spc="-20" baseline="-20000" dirty="0">
                          <a:solidFill>
                            <a:srgbClr val="000000">
                              <a:alpha val="100000"/>
                            </a:srgbClr>
                          </a:solidFill>
                          <a:latin typeface="Arial" panose="020B0604020202020204"/>
                          <a:ea typeface="Arial" panose="020B0604020202020204"/>
                          <a:cs typeface="Arial" panose="020B0604020202020204"/>
                        </a:rPr>
                        <a:t>6</a:t>
                      </a:r>
                      <a:endParaRPr lang="en-US" altLang="en-US" sz="1350" baseline="-2000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lang="en-US" altLang="en-US" sz="450" dirty="0"/>
                    </a:p>
                    <a:p>
                      <a:pPr marL="93345" algn="l" rtl="0" eaLnBrk="0">
                        <a:lnSpc>
                          <a:spcPct val="91000"/>
                        </a:lnSpc>
                        <a:spcBef>
                          <a:spcPts val="5"/>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易安装性</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lang="en-US" altLang="en-US" sz="600" dirty="0"/>
                    </a:p>
                    <a:p>
                      <a:pPr algn="l" rtl="0" eaLnBrk="0">
                        <a:lnSpc>
                          <a:spcPct val="8000"/>
                        </a:lnSpc>
                      </a:pPr>
                      <a:endParaRPr lang="en-US" altLang="en-US" sz="100" dirty="0"/>
                    </a:p>
                    <a:p>
                      <a:pPr marL="301625" algn="l" rtl="0" eaLnBrk="0">
                        <a:lnSpc>
                          <a:spcPct val="80000"/>
                        </a:lnSpc>
                      </a:pPr>
                      <a:r>
                        <a:rPr sz="1350" kern="0" spc="-20" dirty="0">
                          <a:solidFill>
                            <a:srgbClr val="000000">
                              <a:alpha val="100000"/>
                            </a:srgbClr>
                          </a:solidFill>
                          <a:latin typeface="Arial" panose="020B0604020202020204"/>
                          <a:ea typeface="Arial" panose="020B0604020202020204"/>
                          <a:cs typeface="Arial" panose="020B0604020202020204"/>
                        </a:rPr>
                        <a:t>0.5</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3000"/>
                        </a:lnSpc>
                      </a:pPr>
                      <a:endParaRPr lang="en-US" altLang="en-US" sz="600" dirty="0"/>
                    </a:p>
                    <a:p>
                      <a:pPr algn="l" rtl="0" eaLnBrk="0">
                        <a:lnSpc>
                          <a:spcPct val="6000"/>
                        </a:lnSpc>
                      </a:pPr>
                      <a:endParaRPr lang="en-US" altLang="en-US" sz="100" dirty="0"/>
                    </a:p>
                    <a:p>
                      <a:pPr marL="274955" algn="l" rtl="0" eaLnBrk="0">
                        <a:lnSpc>
                          <a:spcPct val="98000"/>
                        </a:lnSpc>
                      </a:pPr>
                      <a:r>
                        <a:rPr sz="2025" kern="0" spc="0" baseline="4000" dirty="0">
                          <a:solidFill>
                            <a:srgbClr val="000000">
                              <a:alpha val="100000"/>
                            </a:srgbClr>
                          </a:solidFill>
                          <a:latin typeface="Arial" panose="020B0604020202020204"/>
                          <a:ea typeface="Arial" panose="020B0604020202020204"/>
                          <a:cs typeface="Arial" panose="020B0604020202020204"/>
                        </a:rPr>
                        <a:t>TF</a:t>
                      </a:r>
                      <a:r>
                        <a:rPr sz="1350" kern="0" spc="40" baseline="-17000" dirty="0">
                          <a:solidFill>
                            <a:srgbClr val="000000">
                              <a:alpha val="100000"/>
                            </a:srgbClr>
                          </a:solidFill>
                          <a:latin typeface="Arial" panose="020B0604020202020204"/>
                          <a:ea typeface="Arial" panose="020B0604020202020204"/>
                          <a:cs typeface="Arial" panose="020B0604020202020204"/>
                        </a:rPr>
                        <a:t>13</a:t>
                      </a:r>
                      <a:endParaRPr lang="en-US" altLang="en-US" sz="1350" baseline="-17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lang="en-US" altLang="en-US" sz="450" dirty="0"/>
                    </a:p>
                    <a:p>
                      <a:pPr marL="95250" algn="l" rtl="0" eaLnBrk="0">
                        <a:lnSpc>
                          <a:spcPct val="91000"/>
                        </a:lnSpc>
                        <a:spcBef>
                          <a:spcPts val="5"/>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需要特别的用户培训</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lang="en-US" altLang="en-US" sz="600" dirty="0"/>
                    </a:p>
                    <a:p>
                      <a:pPr marL="354330" algn="l" rtl="0" eaLnBrk="0">
                        <a:lnSpc>
                          <a:spcPct val="80000"/>
                        </a:lnSpc>
                        <a:spcBef>
                          <a:spcPts val="0"/>
                        </a:spcBef>
                      </a:pPr>
                      <a:r>
                        <a:rPr sz="1350" kern="0" spc="-10" dirty="0">
                          <a:solidFill>
                            <a:srgbClr val="000000">
                              <a:alpha val="100000"/>
                            </a:srgbClr>
                          </a:solidFill>
                          <a:latin typeface="Arial" panose="020B0604020202020204"/>
                          <a:ea typeface="Arial" panose="020B0604020202020204"/>
                          <a:cs typeface="Arial" panose="020B0604020202020204"/>
                        </a:rPr>
                        <a:t>1</a:t>
                      </a:r>
                      <a:endParaRPr lang="en-US" altLang="en-US" sz="135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1000">
                <a:tc>
                  <a:txBody>
                    <a:bodyPr/>
                    <a:lstStyle/>
                    <a:p>
                      <a:pPr algn="l" rtl="0" eaLnBrk="0">
                        <a:lnSpc>
                          <a:spcPct val="102000"/>
                        </a:lnSpc>
                      </a:pPr>
                      <a:endParaRPr lang="en-US" altLang="en-US" sz="675" dirty="0"/>
                    </a:p>
                    <a:p>
                      <a:pPr marL="189865" algn="l" rtl="0" eaLnBrk="0">
                        <a:lnSpc>
                          <a:spcPts val="2170"/>
                        </a:lnSpc>
                        <a:spcBef>
                          <a:spcPts val="0"/>
                        </a:spcBef>
                      </a:pPr>
                      <a:r>
                        <a:rPr sz="1350" kern="0" spc="-20" dirty="0">
                          <a:solidFill>
                            <a:srgbClr val="000000">
                              <a:alpha val="100000"/>
                            </a:srgbClr>
                          </a:solidFill>
                          <a:latin typeface="Arial" panose="020B0604020202020204"/>
                          <a:ea typeface="Arial" panose="020B0604020202020204"/>
                          <a:cs typeface="Arial" panose="020B0604020202020204"/>
                        </a:rPr>
                        <a:t>TF</a:t>
                      </a:r>
                      <a:r>
                        <a:rPr sz="1350" kern="0" spc="-20" baseline="-20000" dirty="0">
                          <a:solidFill>
                            <a:srgbClr val="000000">
                              <a:alpha val="100000"/>
                            </a:srgbClr>
                          </a:solidFill>
                          <a:latin typeface="Arial" panose="020B0604020202020204"/>
                          <a:ea typeface="Arial" panose="020B0604020202020204"/>
                          <a:cs typeface="Arial" panose="020B0604020202020204"/>
                        </a:rPr>
                        <a:t>7</a:t>
                      </a:r>
                      <a:endParaRPr lang="en-US" altLang="en-US" sz="1350" baseline="-2000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rtl="0" eaLnBrk="0">
                        <a:lnSpc>
                          <a:spcPct val="104000"/>
                        </a:lnSpc>
                      </a:pPr>
                      <a:endParaRPr lang="en-US" altLang="en-US" sz="525" dirty="0"/>
                    </a:p>
                    <a:p>
                      <a:pPr marL="93345" algn="l" rtl="0" eaLnBrk="0">
                        <a:lnSpc>
                          <a:spcPct val="90000"/>
                        </a:lnSpc>
                        <a:spcBef>
                          <a:spcPts val="5"/>
                        </a:spcBef>
                      </a:pP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易用性</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rtl="0" eaLnBrk="0">
                        <a:lnSpc>
                          <a:spcPct val="101000"/>
                        </a:lnSpc>
                      </a:pPr>
                      <a:endParaRPr lang="en-US" altLang="en-US" sz="675" dirty="0"/>
                    </a:p>
                    <a:p>
                      <a:pPr marL="301625" algn="l" rtl="0" eaLnBrk="0">
                        <a:lnSpc>
                          <a:spcPct val="80000"/>
                        </a:lnSpc>
                        <a:spcBef>
                          <a:spcPts val="5"/>
                        </a:spcBef>
                      </a:pPr>
                      <a:r>
                        <a:rPr sz="1350" kern="0" spc="-20" dirty="0">
                          <a:solidFill>
                            <a:srgbClr val="000000">
                              <a:alpha val="100000"/>
                            </a:srgbClr>
                          </a:solidFill>
                          <a:latin typeface="Arial" panose="020B0604020202020204"/>
                          <a:ea typeface="Arial" panose="020B0604020202020204"/>
                          <a:cs typeface="Arial" panose="020B0604020202020204"/>
                        </a:rPr>
                        <a:t>0.5</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5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62" name="rect"/>
          <p:cNvSpPr/>
          <p:nvPr/>
        </p:nvSpPr>
        <p:spPr>
          <a:xfrm>
            <a:off x="0" y="4773201"/>
            <a:ext cx="9142961" cy="370298"/>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464" name="textbox 464"/>
          <p:cNvSpPr/>
          <p:nvPr/>
        </p:nvSpPr>
        <p:spPr>
          <a:xfrm>
            <a:off x="866776" y="4074683"/>
            <a:ext cx="7423308" cy="257651"/>
          </a:xfrm>
          <a:prstGeom prst="rect">
            <a:avLst/>
          </a:prstGeom>
        </p:spPr>
        <p:txBody>
          <a:bodyPr vert="horz" wrap="square" lIns="0" tIns="0" rIns="0" bIns="0"/>
          <a:lstStyle/>
          <a:p>
            <a:pPr algn="l" rtl="0" eaLnBrk="0">
              <a:lnSpc>
                <a:spcPct val="75000"/>
              </a:lnSpc>
            </a:pPr>
            <a:endParaRPr lang="en-US" altLang="en-US" sz="100" dirty="0"/>
          </a:p>
          <a:p>
            <a:pPr marL="12700" algn="l" rtl="0" eaLnBrk="0">
              <a:lnSpc>
                <a:spcPct val="103000"/>
              </a:lnSpc>
              <a:tabLst>
                <a:tab pos="3693795" algn="l"/>
                <a:tab pos="9883775" algn="l"/>
              </a:tabLst>
            </a:pPr>
            <a:r>
              <a:rPr sz="1425" u="sng" kern="0" spc="0" dirty="0">
                <a:solidFill>
                  <a:srgbClr val="CC0000">
                    <a:alpha val="100000"/>
                  </a:srgbClr>
                </a:solidFill>
                <a:uFill>
                  <a:solidFill>
                    <a:srgbClr val="000000"/>
                  </a:solidFill>
                </a:uFill>
                <a:latin typeface="Arial" panose="020B0604020202020204"/>
                <a:ea typeface="Arial" panose="020B0604020202020204"/>
                <a:cs typeface="Arial" panose="020B0604020202020204"/>
              </a:rPr>
              <a:t>	</a:t>
            </a:r>
            <a:r>
              <a:rPr sz="2250" u="sng" kern="0" spc="0" baseline="17000" dirty="0">
                <a:solidFill>
                  <a:srgbClr val="CC0000">
                    <a:alpha val="100000"/>
                  </a:srgbClr>
                </a:solidFill>
                <a:uFill>
                  <a:solidFill>
                    <a:srgbClr val="000000"/>
                  </a:solidFill>
                </a:uFill>
                <a:latin typeface="Arial" panose="020B0604020202020204"/>
                <a:ea typeface="Arial" panose="020B0604020202020204"/>
                <a:cs typeface="Arial" panose="020B0604020202020204"/>
              </a:rPr>
              <a:t>TFC</a:t>
            </a:r>
            <a:r>
              <a:rPr sz="2250" u="sng" kern="0" spc="50" baseline="17000" dirty="0">
                <a:solidFill>
                  <a:srgbClr val="CC0000">
                    <a:alpha val="100000"/>
                  </a:srgbClr>
                </a:solidFill>
                <a:uFill>
                  <a:solidFill>
                    <a:srgbClr val="000000"/>
                  </a:solidFill>
                </a:uFill>
                <a:latin typeface="微软雅黑" panose="020B0503020204020204" pitchFamily="34" charset="-122"/>
                <a:ea typeface="微软雅黑" panose="020B0503020204020204" pitchFamily="34" charset="-122"/>
                <a:cs typeface="微软雅黑" panose="020B0503020204020204" pitchFamily="34" charset="-122"/>
              </a:rPr>
              <a:t>＝</a:t>
            </a:r>
            <a:r>
              <a:rPr sz="2250" u="sng" kern="0" spc="50" baseline="17000" dirty="0">
                <a:solidFill>
                  <a:srgbClr val="CC0000">
                    <a:alpha val="100000"/>
                  </a:srgbClr>
                </a:solidFill>
                <a:uFill>
                  <a:solidFill>
                    <a:srgbClr val="000000"/>
                  </a:solidFill>
                </a:uFill>
                <a:latin typeface="Arial" panose="020B0604020202020204"/>
                <a:ea typeface="Arial" panose="020B0604020202020204"/>
                <a:cs typeface="Arial" panose="020B0604020202020204"/>
              </a:rPr>
              <a:t>0.6</a:t>
            </a:r>
            <a:r>
              <a:rPr sz="2250" u="sng" kern="0" spc="50" baseline="17000" dirty="0">
                <a:solidFill>
                  <a:srgbClr val="CC0000">
                    <a:alpha val="100000"/>
                  </a:srgbClr>
                </a:solidFill>
                <a:uFill>
                  <a:solidFill>
                    <a:srgbClr val="000000"/>
                  </a:solidFill>
                </a:uFill>
                <a:latin typeface="微软雅黑" panose="020B0503020204020204" pitchFamily="34" charset="-122"/>
                <a:ea typeface="微软雅黑" panose="020B0503020204020204" pitchFamily="34" charset="-122"/>
                <a:cs typeface="微软雅黑" panose="020B0503020204020204" pitchFamily="34" charset="-122"/>
              </a:rPr>
              <a:t>＋</a:t>
            </a:r>
            <a:r>
              <a:rPr sz="2250" u="sng" kern="0" spc="50" baseline="17000" dirty="0">
                <a:solidFill>
                  <a:srgbClr val="CC0000">
                    <a:alpha val="100000"/>
                  </a:srgbClr>
                </a:solidFill>
                <a:uFill>
                  <a:solidFill>
                    <a:srgbClr val="000000"/>
                  </a:solidFill>
                </a:uFill>
                <a:latin typeface="Arial" panose="020B0604020202020204"/>
                <a:ea typeface="Arial" panose="020B0604020202020204"/>
                <a:cs typeface="Arial" panose="020B0604020202020204"/>
              </a:rPr>
              <a:t>0.01×Σ</a:t>
            </a:r>
            <a:r>
              <a:rPr sz="2250" u="sng" kern="0" spc="0" baseline="17000" dirty="0">
                <a:solidFill>
                  <a:srgbClr val="CC0000">
                    <a:alpha val="100000"/>
                  </a:srgbClr>
                </a:solidFill>
                <a:uFill>
                  <a:solidFill>
                    <a:srgbClr val="000000"/>
                  </a:solidFill>
                </a:uFill>
                <a:latin typeface="Arial" panose="020B0604020202020204"/>
                <a:ea typeface="Arial" panose="020B0604020202020204"/>
                <a:cs typeface="Arial" panose="020B0604020202020204"/>
              </a:rPr>
              <a:t>TF</a:t>
            </a:r>
            <a:r>
              <a:rPr sz="975" u="sng" kern="0" spc="0" dirty="0">
                <a:solidFill>
                  <a:srgbClr val="D81E00">
                    <a:alpha val="100000"/>
                  </a:srgbClr>
                </a:solidFill>
                <a:uFill>
                  <a:solidFill>
                    <a:srgbClr val="000000"/>
                  </a:solidFill>
                </a:uFill>
                <a:latin typeface="Arial" panose="020B0604020202020204"/>
                <a:ea typeface="Arial" panose="020B0604020202020204"/>
                <a:cs typeface="Arial" panose="020B0604020202020204"/>
              </a:rPr>
              <a:t>i	</a:t>
            </a:r>
            <a:endParaRPr lang="en-US" altLang="en-US" sz="975" dirty="0"/>
          </a:p>
        </p:txBody>
      </p:sp>
      <p:sp>
        <p:nvSpPr>
          <p:cNvPr id="480" name="textbox 480"/>
          <p:cNvSpPr/>
          <p:nvPr/>
        </p:nvSpPr>
        <p:spPr>
          <a:xfrm>
            <a:off x="875224" y="1152492"/>
            <a:ext cx="2894647" cy="248603"/>
          </a:xfrm>
          <a:prstGeom prst="rect">
            <a:avLst/>
          </a:prstGeom>
        </p:spPr>
        <p:txBody>
          <a:bodyPr vert="horz" wrap="square" lIns="0" tIns="0" rIns="0" bIns="0"/>
          <a:lstStyle/>
          <a:p>
            <a:pPr algn="l" rtl="0" eaLnBrk="0">
              <a:lnSpc>
                <a:spcPct val="87000"/>
              </a:lnSpc>
            </a:pPr>
            <a:endParaRPr lang="en-US" altLang="en-US" sz="100" dirty="0"/>
          </a:p>
          <a:p>
            <a:pPr marL="12700" algn="l" rtl="0" eaLnBrk="0">
              <a:lnSpc>
                <a:spcPct val="91000"/>
              </a:lnSpc>
            </a:pPr>
            <a:r>
              <a:rPr sz="1650" kern="0" spc="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技术复杂度因子 </a:t>
            </a:r>
            <a:r>
              <a:rPr sz="1650" kern="0" spc="0" dirty="0">
                <a:solidFill>
                  <a:srgbClr val="0033CC">
                    <a:alpha val="100000"/>
                  </a:srgbClr>
                </a:solidFill>
                <a:latin typeface="Arial" panose="020B0604020202020204"/>
                <a:ea typeface="Arial" panose="020B0604020202020204"/>
                <a:cs typeface="Arial" panose="020B0604020202020204"/>
              </a:rPr>
              <a:t>TFi</a:t>
            </a:r>
            <a:r>
              <a:rPr sz="1650" kern="0" spc="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：取</a:t>
            </a:r>
            <a:r>
              <a:rPr sz="1650"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值 0</a:t>
            </a:r>
            <a:r>
              <a:rPr sz="1650" kern="0" spc="-10" dirty="0">
                <a:solidFill>
                  <a:srgbClr val="004DD6">
                    <a:alpha val="100000"/>
                  </a:srgbClr>
                </a:solidFill>
                <a:latin typeface="Arial" panose="020B0604020202020204"/>
                <a:ea typeface="Arial" panose="020B0604020202020204"/>
                <a:cs typeface="Arial" panose="020B0604020202020204"/>
              </a:rPr>
              <a:t>..5</a:t>
            </a:r>
            <a:endParaRPr lang="en-US" altLang="en-US" sz="1650" dirty="0"/>
          </a:p>
        </p:txBody>
      </p:sp>
      <p:sp>
        <p:nvSpPr>
          <p:cNvPr id="3" name="标题 2"/>
          <p:cNvSpPr>
            <a:spLocks noGrp="1"/>
          </p:cNvSpPr>
          <p:nvPr>
            <p:ph type="title"/>
          </p:nvPr>
        </p:nvSpPr>
        <p:spPr/>
        <p:txBody>
          <a:bodyPr/>
          <a:p>
            <a:r>
              <a:rPr lang="zh-CN" altLang="en-US" dirty="0"/>
              <a:t>用例点估算</a:t>
            </a:r>
            <a:endParaRPr lang="en-US" altLang="zh-CN"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4" name="table 484"/>
          <p:cNvGraphicFramePr>
            <a:graphicFrameLocks noGrp="1"/>
          </p:cNvGraphicFramePr>
          <p:nvPr/>
        </p:nvGraphicFramePr>
        <p:xfrm>
          <a:off x="876300" y="1559302"/>
          <a:ext cx="7251065" cy="2268220"/>
        </p:xfrm>
        <a:graphic>
          <a:graphicData uri="http://schemas.openxmlformats.org/drawingml/2006/table">
            <a:tbl>
              <a:tblPr/>
              <a:tblGrid>
                <a:gridCol w="647700"/>
                <a:gridCol w="2351405"/>
                <a:gridCol w="616585"/>
                <a:gridCol w="710565"/>
                <a:gridCol w="2347595"/>
                <a:gridCol w="577215"/>
              </a:tblGrid>
              <a:tr h="467360">
                <a:tc>
                  <a:txBody>
                    <a:bodyPr/>
                    <a:lstStyle/>
                    <a:p>
                      <a:pPr algn="l" rtl="0" eaLnBrk="0">
                        <a:lnSpc>
                          <a:spcPct val="160000"/>
                        </a:lnSpc>
                      </a:pPr>
                      <a:endParaRPr lang="en-US" altLang="en-US" sz="750" dirty="0"/>
                    </a:p>
                    <a:p>
                      <a:pPr algn="l" rtl="0" eaLnBrk="0">
                        <a:lnSpc>
                          <a:spcPct val="7000"/>
                        </a:lnSpc>
                      </a:pPr>
                      <a:endParaRPr lang="en-US" altLang="en-US" sz="100" dirty="0"/>
                    </a:p>
                    <a:p>
                      <a:pPr marL="223520" algn="l" rtl="0" eaLnBrk="0">
                        <a:lnSpc>
                          <a:spcPct val="81000"/>
                        </a:lnSpc>
                      </a:pPr>
                      <a:r>
                        <a:rPr sz="1350" kern="0" spc="-60" dirty="0">
                          <a:solidFill>
                            <a:srgbClr val="000000">
                              <a:alpha val="100000"/>
                            </a:srgbClr>
                          </a:solidFill>
                          <a:latin typeface="Arial" panose="020B0604020202020204"/>
                          <a:ea typeface="Arial" panose="020B0604020202020204"/>
                          <a:cs typeface="Arial" panose="020B0604020202020204"/>
                        </a:rPr>
                        <a:t>EFC</a:t>
                      </a:r>
                      <a:endParaRPr lang="en-US" altLang="en-US" sz="1350" dirty="0"/>
                    </a:p>
                  </a:txBody>
                  <a:tcPr marL="0" marR="0" marT="0" marB="0" vert="horz">
                    <a:lnL>
                      <a:noFill/>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ECEBEB"/>
                    </a:solidFill>
                  </a:tcPr>
                </a:tc>
                <a:tc>
                  <a:txBody>
                    <a:bodyPr/>
                    <a:lstStyle/>
                    <a:p>
                      <a:pPr algn="l" rtl="0" eaLnBrk="0">
                        <a:lnSpc>
                          <a:spcPct val="144000"/>
                        </a:lnSpc>
                      </a:pPr>
                      <a:endParaRPr lang="en-US" altLang="en-US" sz="750" dirty="0"/>
                    </a:p>
                    <a:p>
                      <a:pPr marL="1344930" algn="l" rtl="0" eaLnBrk="0">
                        <a:lnSpc>
                          <a:spcPct val="90000"/>
                        </a:lnSpc>
                        <a:spcBef>
                          <a:spcPts val="5"/>
                        </a:spcBef>
                      </a:pP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说明</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ECEBEB"/>
                    </a:solidFill>
                  </a:tcPr>
                </a:tc>
                <a:tc>
                  <a:txBody>
                    <a:bodyPr/>
                    <a:lstStyle/>
                    <a:p>
                      <a:pPr algn="l" rtl="0" eaLnBrk="0">
                        <a:lnSpc>
                          <a:spcPct val="144000"/>
                        </a:lnSpc>
                      </a:pPr>
                      <a:endParaRPr lang="en-US" altLang="en-US" sz="750" dirty="0"/>
                    </a:p>
                    <a:p>
                      <a:pPr marL="187325" algn="l" rtl="0" eaLnBrk="0">
                        <a:lnSpc>
                          <a:spcPct val="90000"/>
                        </a:lnSpc>
                        <a:spcBef>
                          <a:spcPts val="5"/>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权重</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ECEBEB"/>
                    </a:solidFill>
                  </a:tcPr>
                </a:tc>
                <a:tc>
                  <a:txBody>
                    <a:bodyPr/>
                    <a:lstStyle/>
                    <a:p>
                      <a:pPr algn="l" rtl="0" eaLnBrk="0">
                        <a:lnSpc>
                          <a:spcPct val="160000"/>
                        </a:lnSpc>
                      </a:pPr>
                      <a:endParaRPr lang="en-US" altLang="en-US" sz="750" dirty="0"/>
                    </a:p>
                    <a:p>
                      <a:pPr algn="l" rtl="0" eaLnBrk="0">
                        <a:lnSpc>
                          <a:spcPct val="7000"/>
                        </a:lnSpc>
                      </a:pPr>
                      <a:endParaRPr lang="en-US" altLang="en-US" sz="100" dirty="0"/>
                    </a:p>
                    <a:p>
                      <a:pPr marL="259080" algn="l" rtl="0" eaLnBrk="0">
                        <a:lnSpc>
                          <a:spcPct val="81000"/>
                        </a:lnSpc>
                      </a:pPr>
                      <a:r>
                        <a:rPr sz="1350" kern="0" spc="-20" dirty="0">
                          <a:solidFill>
                            <a:srgbClr val="000000">
                              <a:alpha val="100000"/>
                            </a:srgbClr>
                          </a:solidFill>
                          <a:latin typeface="Arial" panose="020B0604020202020204"/>
                          <a:ea typeface="Arial" panose="020B0604020202020204"/>
                          <a:cs typeface="Arial" panose="020B0604020202020204"/>
                        </a:rPr>
                        <a:t>TFC</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ECEBEB"/>
                    </a:solidFill>
                  </a:tcPr>
                </a:tc>
                <a:tc>
                  <a:txBody>
                    <a:bodyPr/>
                    <a:lstStyle/>
                    <a:p>
                      <a:pPr algn="l" rtl="0" eaLnBrk="0">
                        <a:lnSpc>
                          <a:spcPct val="144000"/>
                        </a:lnSpc>
                      </a:pPr>
                      <a:endParaRPr lang="en-US" altLang="en-US" sz="750" dirty="0"/>
                    </a:p>
                    <a:p>
                      <a:pPr marL="1341755" algn="l" rtl="0" eaLnBrk="0">
                        <a:lnSpc>
                          <a:spcPct val="90000"/>
                        </a:lnSpc>
                        <a:spcBef>
                          <a:spcPts val="5"/>
                        </a:spcBef>
                      </a:pPr>
                      <a:r>
                        <a:rPr sz="13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说明</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ECEBEB"/>
                    </a:solidFill>
                  </a:tcPr>
                </a:tc>
                <a:tc>
                  <a:txBody>
                    <a:bodyPr/>
                    <a:lstStyle/>
                    <a:p>
                      <a:pPr algn="l" rtl="0" eaLnBrk="0">
                        <a:lnSpc>
                          <a:spcPct val="144000"/>
                        </a:lnSpc>
                      </a:pPr>
                      <a:endParaRPr lang="en-US" altLang="en-US" sz="750" dirty="0"/>
                    </a:p>
                    <a:p>
                      <a:pPr marL="161290" algn="l" rtl="0" eaLnBrk="0">
                        <a:lnSpc>
                          <a:spcPct val="90000"/>
                        </a:lnSpc>
                        <a:spcBef>
                          <a:spcPts val="5"/>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权重</a:t>
                      </a:r>
                      <a:endParaRPr lang="en-US" altLang="en-US" sz="1350" dirty="0"/>
                    </a:p>
                  </a:txBody>
                  <a:tcPr marL="0" marR="0" marT="0" marB="0" vert="horz">
                    <a:lnL w="12700" cap="flat" cmpd="sng" algn="ctr">
                      <a:solidFill>
                        <a:srgbClr val="000000"/>
                      </a:solidFill>
                      <a:prstDash val="solid"/>
                      <a:round/>
                      <a:headEnd type="none" w="med" len="med"/>
                      <a:tailEnd type="none" w="med" len="med"/>
                    </a:lnL>
                    <a:lnR>
                      <a:noFill/>
                    </a:lnR>
                    <a:lnT w="381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ECEBEB"/>
                    </a:solidFill>
                  </a:tcPr>
                </a:tc>
              </a:tr>
              <a:tr h="452755">
                <a:tc>
                  <a:txBody>
                    <a:bodyPr/>
                    <a:lstStyle/>
                    <a:p>
                      <a:pPr algn="l" rtl="0" eaLnBrk="0">
                        <a:lnSpc>
                          <a:spcPct val="150000"/>
                        </a:lnSpc>
                      </a:pPr>
                      <a:endParaRPr lang="en-US" altLang="en-US" sz="750" dirty="0"/>
                    </a:p>
                    <a:p>
                      <a:pPr algn="l" rtl="0" eaLnBrk="0">
                        <a:lnSpc>
                          <a:spcPct val="8000"/>
                        </a:lnSpc>
                      </a:pPr>
                      <a:endParaRPr lang="en-US" altLang="en-US" sz="100" dirty="0"/>
                    </a:p>
                    <a:p>
                      <a:pPr marL="263525" algn="l" rtl="0" eaLnBrk="0">
                        <a:lnSpc>
                          <a:spcPts val="2170"/>
                        </a:lnSpc>
                      </a:pPr>
                      <a:r>
                        <a:rPr sz="1350" kern="0" spc="-10" dirty="0">
                          <a:solidFill>
                            <a:srgbClr val="000000">
                              <a:alpha val="100000"/>
                            </a:srgbClr>
                          </a:solidFill>
                          <a:latin typeface="Arial" panose="020B0604020202020204"/>
                          <a:ea typeface="Arial" panose="020B0604020202020204"/>
                          <a:cs typeface="Arial" panose="020B0604020202020204"/>
                        </a:rPr>
                        <a:t>EF</a:t>
                      </a:r>
                      <a:r>
                        <a:rPr sz="1350" kern="0" spc="-10" baseline="-20000" dirty="0">
                          <a:solidFill>
                            <a:srgbClr val="000000">
                              <a:alpha val="100000"/>
                            </a:srgbClr>
                          </a:solidFill>
                          <a:latin typeface="Arial" panose="020B0604020202020204"/>
                          <a:ea typeface="Arial" panose="020B0604020202020204"/>
                          <a:cs typeface="Arial" panose="020B0604020202020204"/>
                        </a:rPr>
                        <a:t>1</a:t>
                      </a:r>
                      <a:endParaRPr lang="en-US" altLang="en-US" sz="1350" baseline="-20000" dirty="0"/>
                    </a:p>
                  </a:txBody>
                  <a:tcPr marL="0" marR="0" marT="0" marB="0" vert="horz">
                    <a:lnL>
                      <a:noFill/>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30000"/>
                        </a:lnSpc>
                      </a:pPr>
                      <a:endParaRPr lang="en-US" altLang="en-US" sz="750" dirty="0"/>
                    </a:p>
                    <a:p>
                      <a:pPr marL="107950" algn="l" rtl="0" eaLnBrk="0">
                        <a:lnSpc>
                          <a:spcPct val="91000"/>
                        </a:lnSpc>
                        <a:spcBef>
                          <a:spcPts val="0"/>
                        </a:spcBef>
                      </a:pPr>
                      <a:r>
                        <a:rPr sz="1350" kern="0" spc="-30" dirty="0">
                          <a:solidFill>
                            <a:srgbClr val="000000">
                              <a:alpha val="100000"/>
                            </a:srgbClr>
                          </a:solidFill>
                          <a:latin typeface="Arial" panose="020B0604020202020204"/>
                          <a:ea typeface="Arial" panose="020B0604020202020204"/>
                          <a:cs typeface="Arial" panose="020B0604020202020204"/>
                        </a:rPr>
                        <a:t>UML</a:t>
                      </a:r>
                      <a:r>
                        <a:rPr sz="13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精通程度</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49000"/>
                        </a:lnSpc>
                      </a:pPr>
                      <a:endParaRPr lang="en-US" altLang="en-US" sz="750" dirty="0"/>
                    </a:p>
                    <a:p>
                      <a:pPr algn="l" rtl="0" eaLnBrk="0">
                        <a:lnSpc>
                          <a:spcPct val="10000"/>
                        </a:lnSpc>
                      </a:pPr>
                      <a:endParaRPr lang="en-US" altLang="en-US" sz="100" dirty="0"/>
                    </a:p>
                    <a:p>
                      <a:pPr marL="279400" algn="l" rtl="0" eaLnBrk="0">
                        <a:lnSpc>
                          <a:spcPct val="80000"/>
                        </a:lnSpc>
                      </a:pPr>
                      <a:r>
                        <a:rPr sz="1350" kern="0" spc="-50" dirty="0">
                          <a:solidFill>
                            <a:srgbClr val="000000">
                              <a:alpha val="100000"/>
                            </a:srgbClr>
                          </a:solidFill>
                          <a:latin typeface="Arial" panose="020B0604020202020204"/>
                          <a:ea typeface="Arial" panose="020B0604020202020204"/>
                          <a:cs typeface="Arial" panose="020B0604020202020204"/>
                        </a:rPr>
                        <a:t>1.5</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51000"/>
                        </a:lnSpc>
                      </a:pPr>
                      <a:endParaRPr lang="en-US" altLang="en-US" sz="750" dirty="0"/>
                    </a:p>
                    <a:p>
                      <a:pPr marL="305435" algn="l" rtl="0" eaLnBrk="0">
                        <a:lnSpc>
                          <a:spcPct val="100000"/>
                        </a:lnSpc>
                        <a:spcBef>
                          <a:spcPts val="5"/>
                        </a:spcBef>
                      </a:pPr>
                      <a:r>
                        <a:rPr sz="1350" kern="0" spc="-50" dirty="0">
                          <a:solidFill>
                            <a:srgbClr val="000000">
                              <a:alpha val="100000"/>
                            </a:srgbClr>
                          </a:solidFill>
                          <a:latin typeface="Arial" panose="020B0604020202020204"/>
                          <a:ea typeface="Arial" panose="020B0604020202020204"/>
                          <a:cs typeface="Arial" panose="020B0604020202020204"/>
                        </a:rPr>
                        <a:t>EF</a:t>
                      </a:r>
                      <a:r>
                        <a:rPr sz="1350" kern="0" spc="-50" baseline="-20000" dirty="0">
                          <a:solidFill>
                            <a:srgbClr val="000000">
                              <a:alpha val="100000"/>
                            </a:srgbClr>
                          </a:solidFill>
                          <a:latin typeface="Arial" panose="020B0604020202020204"/>
                          <a:ea typeface="Arial" panose="020B0604020202020204"/>
                          <a:cs typeface="Arial" panose="020B0604020202020204"/>
                        </a:rPr>
                        <a:t>5</a:t>
                      </a:r>
                      <a:endParaRPr lang="en-US" altLang="en-US" sz="1350" baseline="-20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30000"/>
                        </a:lnSpc>
                      </a:pPr>
                      <a:endParaRPr lang="en-US" altLang="en-US" sz="750" dirty="0"/>
                    </a:p>
                    <a:p>
                      <a:pPr marL="106045" algn="l" rtl="0" eaLnBrk="0">
                        <a:lnSpc>
                          <a:spcPct val="91000"/>
                        </a:lnSpc>
                        <a:spcBef>
                          <a:spcPts val="0"/>
                        </a:spcBef>
                      </a:pPr>
                      <a:r>
                        <a:rPr sz="13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团队士气</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50000"/>
                        </a:lnSpc>
                      </a:pPr>
                      <a:endParaRPr lang="en-US" altLang="en-US" sz="750" dirty="0"/>
                    </a:p>
                    <a:p>
                      <a:pPr marL="348615" algn="l" rtl="0" eaLnBrk="0">
                        <a:lnSpc>
                          <a:spcPct val="80000"/>
                        </a:lnSpc>
                        <a:spcBef>
                          <a:spcPts val="0"/>
                        </a:spcBef>
                      </a:pPr>
                      <a:r>
                        <a:rPr sz="1350" kern="0" spc="-10" dirty="0">
                          <a:solidFill>
                            <a:srgbClr val="000000">
                              <a:alpha val="100000"/>
                            </a:srgbClr>
                          </a:solidFill>
                          <a:latin typeface="Arial" panose="020B0604020202020204"/>
                          <a:ea typeface="Arial" panose="020B0604020202020204"/>
                          <a:cs typeface="Arial" panose="020B0604020202020204"/>
                        </a:rPr>
                        <a:t>1</a:t>
                      </a:r>
                      <a:endParaRPr lang="en-US" altLang="en-US" sz="1350" dirty="0"/>
                    </a:p>
                  </a:txBody>
                  <a:tcPr marL="0" marR="0" marT="0" marB="0" vert="horz">
                    <a:lnL w="12700" cap="flat" cmpd="sng" algn="ctr">
                      <a:solidFill>
                        <a:srgbClr val="000000"/>
                      </a:solidFill>
                      <a:prstDash val="solid"/>
                      <a:round/>
                      <a:headEnd type="none" w="med" len="med"/>
                      <a:tailEnd type="none" w="med" len="med"/>
                    </a:lnL>
                    <a:lnR>
                      <a:noFill/>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0690">
                <a:tc>
                  <a:txBody>
                    <a:bodyPr/>
                    <a:lstStyle/>
                    <a:p>
                      <a:pPr algn="l" rtl="0" eaLnBrk="0">
                        <a:lnSpc>
                          <a:spcPct val="144000"/>
                        </a:lnSpc>
                      </a:pPr>
                      <a:endParaRPr lang="en-US" altLang="en-US" sz="750" dirty="0"/>
                    </a:p>
                    <a:p>
                      <a:pPr marL="263525" algn="l" rtl="0" eaLnBrk="0">
                        <a:lnSpc>
                          <a:spcPts val="2170"/>
                        </a:lnSpc>
                        <a:spcBef>
                          <a:spcPts val="5"/>
                        </a:spcBef>
                      </a:pPr>
                      <a:r>
                        <a:rPr sz="1350" kern="0" spc="-50" dirty="0">
                          <a:solidFill>
                            <a:srgbClr val="000000">
                              <a:alpha val="100000"/>
                            </a:srgbClr>
                          </a:solidFill>
                          <a:latin typeface="Arial" panose="020B0604020202020204"/>
                          <a:ea typeface="Arial" panose="020B0604020202020204"/>
                          <a:cs typeface="Arial" panose="020B0604020202020204"/>
                        </a:rPr>
                        <a:t>EF</a:t>
                      </a:r>
                      <a:r>
                        <a:rPr sz="1350" kern="0" spc="-50" baseline="-20000" dirty="0">
                          <a:solidFill>
                            <a:srgbClr val="000000">
                              <a:alpha val="100000"/>
                            </a:srgbClr>
                          </a:solidFill>
                          <a:latin typeface="Arial" panose="020B0604020202020204"/>
                          <a:ea typeface="Arial" panose="020B0604020202020204"/>
                          <a:cs typeface="Arial" panose="020B0604020202020204"/>
                        </a:rPr>
                        <a:t>2</a:t>
                      </a:r>
                      <a:endParaRPr lang="en-US" altLang="en-US" sz="1350" baseline="-2000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23000"/>
                        </a:lnSpc>
                      </a:pPr>
                      <a:endParaRPr lang="en-US" altLang="en-US" sz="750" dirty="0"/>
                    </a:p>
                    <a:p>
                      <a:pPr algn="l" rtl="0" eaLnBrk="0">
                        <a:lnSpc>
                          <a:spcPct val="9000"/>
                        </a:lnSpc>
                      </a:pPr>
                      <a:endParaRPr lang="en-US" altLang="en-US" sz="100" dirty="0"/>
                    </a:p>
                    <a:p>
                      <a:pPr marL="93980" algn="l" rtl="0" eaLnBrk="0">
                        <a:lnSpc>
                          <a:spcPct val="91000"/>
                        </a:lnSpc>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开发应用系统经验</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43000"/>
                        </a:lnSpc>
                      </a:pPr>
                      <a:endParaRPr lang="en-US" altLang="en-US" sz="750" dirty="0"/>
                    </a:p>
                    <a:p>
                      <a:pPr algn="l" rtl="0" eaLnBrk="0">
                        <a:lnSpc>
                          <a:spcPct val="7000"/>
                        </a:lnSpc>
                      </a:pPr>
                      <a:endParaRPr lang="en-US" altLang="en-US" sz="100" dirty="0"/>
                    </a:p>
                    <a:p>
                      <a:pPr marL="264160" algn="l" rtl="0" eaLnBrk="0">
                        <a:lnSpc>
                          <a:spcPct val="80000"/>
                        </a:lnSpc>
                      </a:pPr>
                      <a:r>
                        <a:rPr sz="1350" kern="0" spc="-20" dirty="0">
                          <a:solidFill>
                            <a:srgbClr val="000000">
                              <a:alpha val="100000"/>
                            </a:srgbClr>
                          </a:solidFill>
                          <a:latin typeface="Arial" panose="020B0604020202020204"/>
                          <a:ea typeface="Arial" panose="020B0604020202020204"/>
                          <a:cs typeface="Arial" panose="020B0604020202020204"/>
                        </a:rPr>
                        <a:t>0.5</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45000"/>
                        </a:lnSpc>
                      </a:pPr>
                      <a:endParaRPr lang="en-US" altLang="en-US" sz="750" dirty="0"/>
                    </a:p>
                    <a:p>
                      <a:pPr marL="305435" algn="l" rtl="0" eaLnBrk="0">
                        <a:lnSpc>
                          <a:spcPct val="100000"/>
                        </a:lnSpc>
                        <a:spcBef>
                          <a:spcPts val="5"/>
                        </a:spcBef>
                      </a:pPr>
                      <a:r>
                        <a:rPr sz="1350" kern="0" spc="-50" dirty="0">
                          <a:solidFill>
                            <a:srgbClr val="000000">
                              <a:alpha val="100000"/>
                            </a:srgbClr>
                          </a:solidFill>
                          <a:latin typeface="Arial" panose="020B0604020202020204"/>
                          <a:ea typeface="Arial" panose="020B0604020202020204"/>
                          <a:cs typeface="Arial" panose="020B0604020202020204"/>
                        </a:rPr>
                        <a:t>EF</a:t>
                      </a:r>
                      <a:r>
                        <a:rPr sz="1350" kern="0" spc="-50" baseline="-20000" dirty="0">
                          <a:solidFill>
                            <a:srgbClr val="000000">
                              <a:alpha val="100000"/>
                            </a:srgbClr>
                          </a:solidFill>
                          <a:latin typeface="Arial" panose="020B0604020202020204"/>
                          <a:ea typeface="Arial" panose="020B0604020202020204"/>
                          <a:cs typeface="Arial" panose="020B0604020202020204"/>
                        </a:rPr>
                        <a:t>6</a:t>
                      </a:r>
                      <a:endParaRPr lang="en-US" altLang="en-US" sz="1350" baseline="-20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23000"/>
                        </a:lnSpc>
                      </a:pPr>
                      <a:endParaRPr lang="en-US" altLang="en-US" sz="750" dirty="0"/>
                    </a:p>
                    <a:p>
                      <a:pPr algn="l" rtl="0" eaLnBrk="0">
                        <a:lnSpc>
                          <a:spcPct val="9000"/>
                        </a:lnSpc>
                      </a:pPr>
                      <a:endParaRPr lang="en-US" altLang="en-US" sz="100" dirty="0"/>
                    </a:p>
                    <a:p>
                      <a:pPr marL="93980" algn="l" rtl="0" eaLnBrk="0">
                        <a:lnSpc>
                          <a:spcPct val="91000"/>
                        </a:lnSpc>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需求稳定性</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43000"/>
                        </a:lnSpc>
                      </a:pPr>
                      <a:endParaRPr lang="en-US" altLang="en-US" sz="750" dirty="0"/>
                    </a:p>
                    <a:p>
                      <a:pPr algn="l" rtl="0" eaLnBrk="0">
                        <a:lnSpc>
                          <a:spcPct val="9000"/>
                        </a:lnSpc>
                      </a:pPr>
                      <a:endParaRPr lang="en-US" altLang="en-US" sz="100" dirty="0"/>
                    </a:p>
                    <a:p>
                      <a:pPr marL="330200" algn="l" rtl="0" eaLnBrk="0">
                        <a:lnSpc>
                          <a:spcPct val="80000"/>
                        </a:lnSpc>
                      </a:pPr>
                      <a:r>
                        <a:rPr sz="1350" kern="0" spc="-10" dirty="0">
                          <a:solidFill>
                            <a:srgbClr val="000000">
                              <a:alpha val="100000"/>
                            </a:srgbClr>
                          </a:solidFill>
                          <a:latin typeface="Arial" panose="020B0604020202020204"/>
                          <a:ea typeface="Arial" panose="020B0604020202020204"/>
                          <a:cs typeface="Arial" panose="020B0604020202020204"/>
                        </a:rPr>
                        <a:t>2</a:t>
                      </a:r>
                      <a:endParaRPr lang="en-US" altLang="en-US" sz="135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1960">
                <a:tc>
                  <a:txBody>
                    <a:bodyPr/>
                    <a:lstStyle/>
                    <a:p>
                      <a:pPr algn="l" rtl="0" eaLnBrk="0">
                        <a:lnSpc>
                          <a:spcPct val="146000"/>
                        </a:lnSpc>
                      </a:pPr>
                      <a:endParaRPr lang="en-US" altLang="en-US" sz="750" dirty="0"/>
                    </a:p>
                    <a:p>
                      <a:pPr marL="263525" algn="l" rtl="0" eaLnBrk="0">
                        <a:lnSpc>
                          <a:spcPct val="100000"/>
                        </a:lnSpc>
                        <a:spcBef>
                          <a:spcPts val="5"/>
                        </a:spcBef>
                      </a:pPr>
                      <a:r>
                        <a:rPr sz="1350" kern="0" spc="-50" dirty="0">
                          <a:solidFill>
                            <a:srgbClr val="000000">
                              <a:alpha val="100000"/>
                            </a:srgbClr>
                          </a:solidFill>
                          <a:latin typeface="Arial" panose="020B0604020202020204"/>
                          <a:ea typeface="Arial" panose="020B0604020202020204"/>
                          <a:cs typeface="Arial" panose="020B0604020202020204"/>
                        </a:rPr>
                        <a:t>EF</a:t>
                      </a:r>
                      <a:r>
                        <a:rPr sz="1350" kern="0" spc="-50" baseline="-20000" dirty="0">
                          <a:solidFill>
                            <a:srgbClr val="000000">
                              <a:alpha val="100000"/>
                            </a:srgbClr>
                          </a:solidFill>
                          <a:latin typeface="Arial" panose="020B0604020202020204"/>
                          <a:ea typeface="Arial" panose="020B0604020202020204"/>
                          <a:cs typeface="Arial" panose="020B0604020202020204"/>
                        </a:rPr>
                        <a:t>3</a:t>
                      </a:r>
                      <a:endParaRPr lang="en-US" altLang="en-US" sz="1350" baseline="-2000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24000"/>
                        </a:lnSpc>
                      </a:pPr>
                      <a:endParaRPr lang="en-US" altLang="en-US" sz="750" dirty="0"/>
                    </a:p>
                    <a:p>
                      <a:pPr algn="l" rtl="0" eaLnBrk="0">
                        <a:lnSpc>
                          <a:spcPct val="9000"/>
                        </a:lnSpc>
                      </a:pPr>
                      <a:endParaRPr lang="en-US" altLang="en-US" sz="100" dirty="0"/>
                    </a:p>
                    <a:p>
                      <a:pPr marL="96520" algn="l" rtl="0" eaLnBrk="0">
                        <a:lnSpc>
                          <a:spcPct val="91000"/>
                        </a:lnSpc>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面向对象经验</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44000"/>
                        </a:lnSpc>
                      </a:pPr>
                      <a:endParaRPr lang="en-US" altLang="en-US" sz="750" dirty="0"/>
                    </a:p>
                    <a:p>
                      <a:pPr algn="l" rtl="0" eaLnBrk="0">
                        <a:lnSpc>
                          <a:spcPct val="9000"/>
                        </a:lnSpc>
                      </a:pPr>
                      <a:endParaRPr lang="en-US" altLang="en-US" sz="100" dirty="0"/>
                    </a:p>
                    <a:p>
                      <a:pPr marL="374650" algn="l" rtl="0" eaLnBrk="0">
                        <a:lnSpc>
                          <a:spcPct val="80000"/>
                        </a:lnSpc>
                      </a:pPr>
                      <a:r>
                        <a:rPr sz="1350" kern="0" spc="-10" dirty="0">
                          <a:solidFill>
                            <a:srgbClr val="000000">
                              <a:alpha val="100000"/>
                            </a:srgbClr>
                          </a:solidFill>
                          <a:latin typeface="Arial" panose="020B0604020202020204"/>
                          <a:ea typeface="Arial" panose="020B0604020202020204"/>
                          <a:cs typeface="Arial" panose="020B0604020202020204"/>
                        </a:rPr>
                        <a:t>1</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45000"/>
                        </a:lnSpc>
                      </a:pPr>
                      <a:endParaRPr lang="en-US" altLang="en-US" sz="750" dirty="0"/>
                    </a:p>
                    <a:p>
                      <a:pPr marL="305435" algn="l" rtl="0" eaLnBrk="0">
                        <a:lnSpc>
                          <a:spcPts val="2170"/>
                        </a:lnSpc>
                        <a:spcBef>
                          <a:spcPts val="5"/>
                        </a:spcBef>
                      </a:pPr>
                      <a:r>
                        <a:rPr sz="1350" kern="0" spc="-50" dirty="0">
                          <a:solidFill>
                            <a:srgbClr val="000000">
                              <a:alpha val="100000"/>
                            </a:srgbClr>
                          </a:solidFill>
                          <a:latin typeface="Arial" panose="020B0604020202020204"/>
                          <a:ea typeface="Arial" panose="020B0604020202020204"/>
                          <a:cs typeface="Arial" panose="020B0604020202020204"/>
                        </a:rPr>
                        <a:t>EF</a:t>
                      </a:r>
                      <a:r>
                        <a:rPr sz="1350" kern="0" spc="-50" baseline="-20000" dirty="0">
                          <a:solidFill>
                            <a:srgbClr val="000000">
                              <a:alpha val="100000"/>
                            </a:srgbClr>
                          </a:solidFill>
                          <a:latin typeface="Arial" panose="020B0604020202020204"/>
                          <a:ea typeface="Arial" panose="020B0604020202020204"/>
                          <a:cs typeface="Arial" panose="020B0604020202020204"/>
                        </a:rPr>
                        <a:t>7</a:t>
                      </a:r>
                      <a:endParaRPr lang="en-US" altLang="en-US" sz="1350" baseline="-20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26000"/>
                        </a:lnSpc>
                      </a:pPr>
                      <a:endParaRPr lang="en-US" altLang="en-US" sz="750" dirty="0"/>
                    </a:p>
                    <a:p>
                      <a:pPr algn="l" rtl="0" eaLnBrk="0">
                        <a:lnSpc>
                          <a:spcPct val="8000"/>
                        </a:lnSpc>
                      </a:pPr>
                      <a:endParaRPr lang="en-US" altLang="en-US" sz="100" dirty="0"/>
                    </a:p>
                    <a:p>
                      <a:pPr marL="91440" algn="l" rtl="0" eaLnBrk="0">
                        <a:lnSpc>
                          <a:spcPct val="90000"/>
                        </a:lnSpc>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兼职人员比例</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44000"/>
                        </a:lnSpc>
                      </a:pPr>
                      <a:endParaRPr lang="en-US" altLang="en-US" sz="750" dirty="0"/>
                    </a:p>
                    <a:p>
                      <a:pPr algn="l" rtl="0" eaLnBrk="0">
                        <a:lnSpc>
                          <a:spcPct val="9000"/>
                        </a:lnSpc>
                      </a:pPr>
                      <a:endParaRPr lang="en-US" altLang="en-US" sz="100" dirty="0"/>
                    </a:p>
                    <a:p>
                      <a:pPr marL="293370" algn="l" rtl="0" eaLnBrk="0">
                        <a:lnSpc>
                          <a:spcPct val="80000"/>
                        </a:lnSpc>
                      </a:pPr>
                      <a:r>
                        <a:rPr sz="1350" kern="0" spc="-20" dirty="0">
                          <a:solidFill>
                            <a:srgbClr val="000000">
                              <a:alpha val="100000"/>
                            </a:srgbClr>
                          </a:solidFill>
                          <a:latin typeface="Arial" panose="020B0604020202020204"/>
                          <a:ea typeface="Arial" panose="020B0604020202020204"/>
                          <a:cs typeface="Arial" panose="020B0604020202020204"/>
                        </a:rPr>
                        <a:t>-1</a:t>
                      </a:r>
                      <a:endParaRPr lang="en-US" altLang="en-US" sz="135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5455">
                <a:tc>
                  <a:txBody>
                    <a:bodyPr/>
                    <a:lstStyle/>
                    <a:p>
                      <a:pPr algn="l" rtl="0" eaLnBrk="0">
                        <a:lnSpc>
                          <a:spcPct val="151000"/>
                        </a:lnSpc>
                      </a:pPr>
                      <a:endParaRPr lang="en-US" altLang="en-US" sz="750" dirty="0"/>
                    </a:p>
                    <a:p>
                      <a:pPr algn="l" rtl="0" eaLnBrk="0">
                        <a:lnSpc>
                          <a:spcPct val="9000"/>
                        </a:lnSpc>
                      </a:pPr>
                      <a:endParaRPr lang="en-US" altLang="en-US" sz="100" dirty="0"/>
                    </a:p>
                    <a:p>
                      <a:pPr marL="263525" algn="l" rtl="0" eaLnBrk="0">
                        <a:lnSpc>
                          <a:spcPts val="2170"/>
                        </a:lnSpc>
                      </a:pPr>
                      <a:r>
                        <a:rPr sz="1350" kern="0" spc="-50" dirty="0">
                          <a:solidFill>
                            <a:srgbClr val="000000">
                              <a:alpha val="100000"/>
                            </a:srgbClr>
                          </a:solidFill>
                          <a:latin typeface="Arial" panose="020B0604020202020204"/>
                          <a:ea typeface="Arial" panose="020B0604020202020204"/>
                          <a:cs typeface="Arial" panose="020B0604020202020204"/>
                        </a:rPr>
                        <a:t>EF</a:t>
                      </a:r>
                      <a:r>
                        <a:rPr sz="1350" kern="0" spc="-50" baseline="-20000" dirty="0">
                          <a:solidFill>
                            <a:srgbClr val="000000">
                              <a:alpha val="100000"/>
                            </a:srgbClr>
                          </a:solidFill>
                          <a:latin typeface="Arial" panose="020B0604020202020204"/>
                          <a:ea typeface="Arial" panose="020B0604020202020204"/>
                          <a:cs typeface="Arial" panose="020B0604020202020204"/>
                        </a:rPr>
                        <a:t>4</a:t>
                      </a:r>
                      <a:endParaRPr lang="en-US" altLang="en-US" sz="1350" baseline="-2000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rtl="0" eaLnBrk="0">
                        <a:lnSpc>
                          <a:spcPct val="131000"/>
                        </a:lnSpc>
                      </a:pPr>
                      <a:endParaRPr lang="en-US" altLang="en-US" sz="750" dirty="0"/>
                    </a:p>
                    <a:p>
                      <a:pPr marL="92075" algn="l" rtl="0" eaLnBrk="0">
                        <a:lnSpc>
                          <a:spcPct val="91000"/>
                        </a:lnSpc>
                        <a:spcBef>
                          <a:spcPts val="5"/>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系统分析员能力</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rtl="0" eaLnBrk="0">
                        <a:lnSpc>
                          <a:spcPct val="151000"/>
                        </a:lnSpc>
                      </a:pPr>
                      <a:endParaRPr lang="en-US" altLang="en-US" sz="750" dirty="0"/>
                    </a:p>
                    <a:p>
                      <a:pPr marL="264160" algn="l" rtl="0" eaLnBrk="0">
                        <a:lnSpc>
                          <a:spcPct val="80000"/>
                        </a:lnSpc>
                        <a:spcBef>
                          <a:spcPts val="0"/>
                        </a:spcBef>
                      </a:pPr>
                      <a:r>
                        <a:rPr sz="1350" kern="0" spc="-20" dirty="0">
                          <a:solidFill>
                            <a:srgbClr val="000000">
                              <a:alpha val="100000"/>
                            </a:srgbClr>
                          </a:solidFill>
                          <a:latin typeface="Arial" panose="020B0604020202020204"/>
                          <a:ea typeface="Arial" panose="020B0604020202020204"/>
                          <a:cs typeface="Arial" panose="020B0604020202020204"/>
                        </a:rPr>
                        <a:t>0.5</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rtl="0" eaLnBrk="0">
                        <a:lnSpc>
                          <a:spcPct val="152000"/>
                        </a:lnSpc>
                      </a:pPr>
                      <a:endParaRPr lang="en-US" altLang="en-US" sz="750" dirty="0"/>
                    </a:p>
                    <a:p>
                      <a:pPr algn="l" rtl="0" eaLnBrk="0">
                        <a:lnSpc>
                          <a:spcPct val="7000"/>
                        </a:lnSpc>
                      </a:pPr>
                      <a:endParaRPr lang="en-US" altLang="en-US" sz="100" dirty="0"/>
                    </a:p>
                    <a:p>
                      <a:pPr marL="305435" algn="l" rtl="0" eaLnBrk="0">
                        <a:lnSpc>
                          <a:spcPct val="100000"/>
                        </a:lnSpc>
                      </a:pPr>
                      <a:r>
                        <a:rPr sz="1350" kern="0" spc="-50" dirty="0">
                          <a:solidFill>
                            <a:srgbClr val="000000">
                              <a:alpha val="100000"/>
                            </a:srgbClr>
                          </a:solidFill>
                          <a:latin typeface="Arial" panose="020B0604020202020204"/>
                          <a:ea typeface="Arial" panose="020B0604020202020204"/>
                          <a:cs typeface="Arial" panose="020B0604020202020204"/>
                        </a:rPr>
                        <a:t>EF</a:t>
                      </a:r>
                      <a:r>
                        <a:rPr sz="1350" kern="0" spc="-50" baseline="-20000" dirty="0">
                          <a:solidFill>
                            <a:srgbClr val="000000">
                              <a:alpha val="100000"/>
                            </a:srgbClr>
                          </a:solidFill>
                          <a:latin typeface="Arial" panose="020B0604020202020204"/>
                          <a:ea typeface="Arial" panose="020B0604020202020204"/>
                          <a:cs typeface="Arial" panose="020B0604020202020204"/>
                        </a:rPr>
                        <a:t>8</a:t>
                      </a:r>
                      <a:endParaRPr lang="en-US" altLang="en-US" sz="1350" baseline="-20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rtl="0" eaLnBrk="0">
                        <a:lnSpc>
                          <a:spcPct val="131000"/>
                        </a:lnSpc>
                      </a:pPr>
                      <a:endParaRPr lang="en-US" altLang="en-US" sz="750" dirty="0"/>
                    </a:p>
                    <a:p>
                      <a:pPr marL="92075" algn="l" rtl="0" eaLnBrk="0">
                        <a:lnSpc>
                          <a:spcPct val="91000"/>
                        </a:lnSpc>
                        <a:spcBef>
                          <a:spcPts val="5"/>
                        </a:spcBef>
                      </a:pPr>
                      <a:r>
                        <a:rPr sz="13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编程语言难易程度</a:t>
                      </a:r>
                      <a:endParaRPr lang="en-US" altLang="en-US" sz="135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rtl="0" eaLnBrk="0">
                        <a:lnSpc>
                          <a:spcPct val="151000"/>
                        </a:lnSpc>
                      </a:pPr>
                      <a:endParaRPr lang="en-US" altLang="en-US" sz="750" dirty="0"/>
                    </a:p>
                    <a:p>
                      <a:pPr marL="330200" algn="l" rtl="0" eaLnBrk="0">
                        <a:lnSpc>
                          <a:spcPct val="80000"/>
                        </a:lnSpc>
                        <a:spcBef>
                          <a:spcPts val="5"/>
                        </a:spcBef>
                      </a:pPr>
                      <a:r>
                        <a:rPr sz="1350" kern="0" spc="-10" dirty="0">
                          <a:solidFill>
                            <a:srgbClr val="000000">
                              <a:alpha val="100000"/>
                            </a:srgbClr>
                          </a:solidFill>
                          <a:latin typeface="Arial" panose="020B0604020202020204"/>
                          <a:ea typeface="Arial" panose="020B0604020202020204"/>
                          <a:cs typeface="Arial" panose="020B0604020202020204"/>
                        </a:rPr>
                        <a:t>2</a:t>
                      </a:r>
                      <a:endParaRPr lang="en-US" altLang="en-US" sz="135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86" name="rect"/>
          <p:cNvSpPr/>
          <p:nvPr/>
        </p:nvSpPr>
        <p:spPr>
          <a:xfrm>
            <a:off x="0" y="4773201"/>
            <a:ext cx="9142961" cy="370298"/>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502" name="textbox 502"/>
          <p:cNvSpPr/>
          <p:nvPr/>
        </p:nvSpPr>
        <p:spPr>
          <a:xfrm>
            <a:off x="875852" y="1203291"/>
            <a:ext cx="2905601" cy="248603"/>
          </a:xfrm>
          <a:prstGeom prst="rect">
            <a:avLst/>
          </a:prstGeom>
        </p:spPr>
        <p:txBody>
          <a:bodyPr vert="horz" wrap="square" lIns="0" tIns="0" rIns="0" bIns="0"/>
          <a:lstStyle/>
          <a:p>
            <a:pPr algn="l" rtl="0" eaLnBrk="0">
              <a:lnSpc>
                <a:spcPct val="87000"/>
              </a:lnSpc>
            </a:pPr>
            <a:endParaRPr lang="en-US" altLang="en-US" sz="100" dirty="0"/>
          </a:p>
          <a:p>
            <a:pPr marL="12700" algn="l" rtl="0" eaLnBrk="0">
              <a:lnSpc>
                <a:spcPct val="91000"/>
              </a:lnSpc>
            </a:pPr>
            <a:r>
              <a:rPr sz="1650"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环境复杂度因子</a:t>
            </a:r>
            <a:r>
              <a:rPr sz="1650" kern="0" spc="17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650" kern="0" spc="-10" dirty="0">
                <a:solidFill>
                  <a:srgbClr val="0033CC">
                    <a:alpha val="100000"/>
                  </a:srgbClr>
                </a:solidFill>
                <a:latin typeface="Arial" panose="020B0604020202020204"/>
                <a:ea typeface="Arial" panose="020B0604020202020204"/>
                <a:cs typeface="Arial" panose="020B0604020202020204"/>
              </a:rPr>
              <a:t>EFi</a:t>
            </a:r>
            <a:r>
              <a:rPr sz="1650"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：取值</a:t>
            </a:r>
            <a:r>
              <a:rPr sz="1650" kern="0" spc="-2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0</a:t>
            </a:r>
            <a:r>
              <a:rPr sz="1650" kern="0" spc="-20" dirty="0">
                <a:solidFill>
                  <a:srgbClr val="004DD6">
                    <a:alpha val="100000"/>
                  </a:srgbClr>
                </a:solidFill>
                <a:latin typeface="Arial" panose="020B0604020202020204"/>
                <a:ea typeface="Arial" panose="020B0604020202020204"/>
                <a:cs typeface="Arial" panose="020B0604020202020204"/>
              </a:rPr>
              <a:t>..5</a:t>
            </a:r>
            <a:endParaRPr lang="en-US" altLang="en-US" sz="1650" dirty="0"/>
          </a:p>
        </p:txBody>
      </p:sp>
      <p:sp>
        <p:nvSpPr>
          <p:cNvPr id="504" name="textbox 504"/>
          <p:cNvSpPr/>
          <p:nvPr/>
        </p:nvSpPr>
        <p:spPr>
          <a:xfrm>
            <a:off x="3415289" y="3909057"/>
            <a:ext cx="2402204" cy="265271"/>
          </a:xfrm>
          <a:prstGeom prst="rect">
            <a:avLst/>
          </a:prstGeom>
        </p:spPr>
        <p:txBody>
          <a:bodyPr vert="horz" wrap="square" lIns="0" tIns="0" rIns="0" bIns="0"/>
          <a:lstStyle/>
          <a:p>
            <a:pPr algn="l" rtl="0" eaLnBrk="0">
              <a:lnSpc>
                <a:spcPct val="83000"/>
              </a:lnSpc>
            </a:pPr>
            <a:endParaRPr lang="en-US" altLang="en-US" sz="100" dirty="0"/>
          </a:p>
          <a:p>
            <a:pPr algn="r" rtl="0" eaLnBrk="0">
              <a:lnSpc>
                <a:spcPts val="2585"/>
              </a:lnSpc>
            </a:pPr>
            <a:r>
              <a:rPr sz="1500" kern="0" spc="-30" dirty="0">
                <a:solidFill>
                  <a:srgbClr val="CC0000">
                    <a:alpha val="100000"/>
                  </a:srgbClr>
                </a:solidFill>
                <a:latin typeface="Arial" panose="020B0604020202020204"/>
                <a:ea typeface="Arial" panose="020B0604020202020204"/>
                <a:cs typeface="Arial" panose="020B0604020202020204"/>
              </a:rPr>
              <a:t>EFC</a:t>
            </a:r>
            <a:r>
              <a:rPr sz="1500" kern="0" spc="-30" dirty="0">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500" kern="0" spc="-30" dirty="0">
                <a:solidFill>
                  <a:srgbClr val="CC0000">
                    <a:alpha val="100000"/>
                  </a:srgbClr>
                </a:solidFill>
                <a:latin typeface="Arial" panose="020B0604020202020204"/>
                <a:ea typeface="Arial" panose="020B0604020202020204"/>
                <a:cs typeface="Arial" panose="020B0604020202020204"/>
              </a:rPr>
              <a:t>1.4</a:t>
            </a:r>
            <a:r>
              <a:rPr sz="1500" kern="0" spc="-340" dirty="0">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500" kern="0" spc="-30" dirty="0">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500" kern="0" spc="-30" dirty="0">
                <a:solidFill>
                  <a:srgbClr val="CC0000">
                    <a:alpha val="100000"/>
                  </a:srgbClr>
                </a:solidFill>
                <a:latin typeface="Arial" panose="020B0604020202020204"/>
                <a:ea typeface="Arial" panose="020B0604020202020204"/>
                <a:cs typeface="Arial" panose="020B0604020202020204"/>
              </a:rPr>
              <a:t>0</a:t>
            </a:r>
            <a:r>
              <a:rPr sz="1500" kern="0" spc="-40" dirty="0">
                <a:solidFill>
                  <a:srgbClr val="CC0000">
                    <a:alpha val="100000"/>
                  </a:srgbClr>
                </a:solidFill>
                <a:latin typeface="Arial" panose="020B0604020202020204"/>
                <a:ea typeface="Arial" panose="020B0604020202020204"/>
                <a:cs typeface="Arial" panose="020B0604020202020204"/>
              </a:rPr>
              <a:t>.03×ΣEF</a:t>
            </a:r>
            <a:r>
              <a:rPr sz="1500" kern="0" spc="-40" baseline="-13000" dirty="0">
                <a:solidFill>
                  <a:srgbClr val="D81E00">
                    <a:alpha val="100000"/>
                  </a:srgbClr>
                </a:solidFill>
                <a:latin typeface="Arial" panose="020B0604020202020204"/>
                <a:ea typeface="Arial" panose="020B0604020202020204"/>
                <a:cs typeface="Arial" panose="020B0604020202020204"/>
              </a:rPr>
              <a:t>i</a:t>
            </a:r>
            <a:r>
              <a:rPr sz="975" kern="0" spc="140" dirty="0">
                <a:solidFill>
                  <a:srgbClr val="D81E00">
                    <a:alpha val="100000"/>
                  </a:srgbClr>
                </a:solidFill>
                <a:latin typeface="Arial" panose="020B0604020202020204"/>
                <a:ea typeface="Arial" panose="020B0604020202020204"/>
                <a:cs typeface="Arial" panose="020B0604020202020204"/>
              </a:rPr>
              <a:t> </a:t>
            </a:r>
            <a:r>
              <a:rPr sz="1500" kern="0" spc="-40" dirty="0">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1500" dirty="0"/>
          </a:p>
        </p:txBody>
      </p:sp>
      <p:sp>
        <p:nvSpPr>
          <p:cNvPr id="508" name="path"/>
          <p:cNvSpPr/>
          <p:nvPr/>
        </p:nvSpPr>
        <p:spPr>
          <a:xfrm>
            <a:off x="876300" y="4256483"/>
            <a:ext cx="7251698" cy="21431"/>
          </a:xfrm>
          <a:custGeom>
            <a:avLst/>
            <a:gdLst/>
            <a:ahLst/>
            <a:cxnLst/>
            <a:rect l="0" t="0" r="0" b="0"/>
            <a:pathLst>
              <a:path w="15226" h="45">
                <a:moveTo>
                  <a:pt x="0" y="22"/>
                </a:moveTo>
                <a:lnTo>
                  <a:pt x="15226" y="22"/>
                </a:lnTo>
              </a:path>
            </a:pathLst>
          </a:custGeom>
          <a:noFill/>
          <a:ln w="28574" cap="flat">
            <a:solidFill>
              <a:srgbClr val="000000">
                <a:alpha val="100000"/>
              </a:srgbClr>
            </a:solidFill>
            <a:prstDash val="solid"/>
            <a:round/>
          </a:ln>
        </p:spPr>
        <p:txBody>
          <a:bodyPr rtlCol="0"/>
          <a:lstStyle/>
          <a:p>
            <a:pPr algn="ctr"/>
            <a:endParaRPr lang="zh-CN" altLang="en-US" sz="1350"/>
          </a:p>
        </p:txBody>
      </p:sp>
      <p:sp>
        <p:nvSpPr>
          <p:cNvPr id="3" name="标题 2"/>
          <p:cNvSpPr>
            <a:spLocks noGrp="1"/>
          </p:cNvSpPr>
          <p:nvPr>
            <p:ph type="title"/>
          </p:nvPr>
        </p:nvSpPr>
        <p:spPr/>
        <p:txBody>
          <a:bodyPr/>
          <a:p>
            <a:r>
              <a:rPr lang="zh-CN" altLang="en-US" dirty="0"/>
              <a:t>用例点估算</a:t>
            </a:r>
            <a:endParaRPr lang="en-US" altLang="zh-CN"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group 76"/>
          <p:cNvGrpSpPr/>
          <p:nvPr/>
        </p:nvGrpSpPr>
        <p:grpSpPr>
          <a:xfrm rot="21600000">
            <a:off x="3109748" y="2190246"/>
            <a:ext cx="3425863" cy="1732807"/>
            <a:chOff x="0" y="0"/>
            <a:chExt cx="4567817" cy="2310409"/>
          </a:xfrm>
        </p:grpSpPr>
        <p:sp>
          <p:nvSpPr>
            <p:cNvPr id="510" name="path"/>
            <p:cNvSpPr/>
            <p:nvPr/>
          </p:nvSpPr>
          <p:spPr>
            <a:xfrm>
              <a:off x="7258" y="4551"/>
              <a:ext cx="427141" cy="427187"/>
            </a:xfrm>
            <a:custGeom>
              <a:avLst/>
              <a:gdLst/>
              <a:ahLst/>
              <a:cxnLst/>
              <a:rect l="0" t="0" r="0" b="0"/>
              <a:pathLst>
                <a:path w="672" h="672">
                  <a:moveTo>
                    <a:pt x="0" y="336"/>
                  </a:moveTo>
                  <a:cubicBezTo>
                    <a:pt x="0" y="150"/>
                    <a:pt x="150" y="0"/>
                    <a:pt x="336" y="0"/>
                  </a:cubicBezTo>
                  <a:cubicBezTo>
                    <a:pt x="522" y="0"/>
                    <a:pt x="672" y="150"/>
                    <a:pt x="672" y="336"/>
                  </a:cubicBezTo>
                  <a:cubicBezTo>
                    <a:pt x="672" y="522"/>
                    <a:pt x="522" y="672"/>
                    <a:pt x="336" y="672"/>
                  </a:cubicBezTo>
                  <a:cubicBezTo>
                    <a:pt x="150" y="672"/>
                    <a:pt x="0" y="522"/>
                    <a:pt x="0" y="336"/>
                  </a:cubicBezTo>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12" name="path"/>
            <p:cNvSpPr/>
            <p:nvPr/>
          </p:nvSpPr>
          <p:spPr>
            <a:xfrm>
              <a:off x="4083" y="1376"/>
              <a:ext cx="433491" cy="433537"/>
            </a:xfrm>
            <a:custGeom>
              <a:avLst/>
              <a:gdLst/>
              <a:ahLst/>
              <a:cxnLst/>
              <a:rect l="0" t="0" r="0" b="0"/>
              <a:pathLst>
                <a:path w="682" h="682">
                  <a:moveTo>
                    <a:pt x="5" y="341"/>
                  </a:moveTo>
                  <a:cubicBezTo>
                    <a:pt x="5" y="155"/>
                    <a:pt x="155" y="5"/>
                    <a:pt x="341" y="5"/>
                  </a:cubicBezTo>
                  <a:cubicBezTo>
                    <a:pt x="527" y="5"/>
                    <a:pt x="677" y="155"/>
                    <a:pt x="677" y="341"/>
                  </a:cubicBezTo>
                  <a:cubicBezTo>
                    <a:pt x="677" y="527"/>
                    <a:pt x="527" y="677"/>
                    <a:pt x="341" y="677"/>
                  </a:cubicBezTo>
                  <a:cubicBezTo>
                    <a:pt x="155" y="677"/>
                    <a:pt x="5" y="527"/>
                    <a:pt x="5" y="341"/>
                  </a:cubicBezTo>
                </a:path>
              </a:pathLst>
            </a:custGeom>
            <a:noFill/>
            <a:ln w="6349" cap="flat">
              <a:solidFill>
                <a:srgbClr val="000000">
                  <a:alpha val="100000"/>
                </a:srgbClr>
              </a:solidFill>
              <a:prstDash val="solid"/>
              <a:miter lim="800000"/>
            </a:ln>
          </p:spPr>
          <p:txBody>
            <a:bodyPr rtlCol="0"/>
            <a:lstStyle/>
            <a:p>
              <a:pPr algn="ctr"/>
              <a:endParaRPr lang="zh-CN" altLang="en-US" sz="1350"/>
            </a:p>
          </p:txBody>
        </p:sp>
        <p:sp>
          <p:nvSpPr>
            <p:cNvPr id="514" name="path"/>
            <p:cNvSpPr/>
            <p:nvPr/>
          </p:nvSpPr>
          <p:spPr>
            <a:xfrm>
              <a:off x="5896" y="635412"/>
              <a:ext cx="427141" cy="427187"/>
            </a:xfrm>
            <a:custGeom>
              <a:avLst/>
              <a:gdLst/>
              <a:ahLst/>
              <a:cxnLst/>
              <a:rect l="0" t="0" r="0" b="0"/>
              <a:pathLst>
                <a:path w="672" h="672">
                  <a:moveTo>
                    <a:pt x="0" y="336"/>
                  </a:moveTo>
                  <a:cubicBezTo>
                    <a:pt x="0" y="150"/>
                    <a:pt x="150" y="0"/>
                    <a:pt x="336" y="0"/>
                  </a:cubicBezTo>
                  <a:cubicBezTo>
                    <a:pt x="522" y="0"/>
                    <a:pt x="672" y="150"/>
                    <a:pt x="672" y="336"/>
                  </a:cubicBezTo>
                  <a:cubicBezTo>
                    <a:pt x="672" y="522"/>
                    <a:pt x="522" y="672"/>
                    <a:pt x="336" y="672"/>
                  </a:cubicBezTo>
                  <a:cubicBezTo>
                    <a:pt x="150" y="672"/>
                    <a:pt x="0" y="522"/>
                    <a:pt x="0" y="336"/>
                  </a:cubicBezTo>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16" name="path"/>
            <p:cNvSpPr/>
            <p:nvPr/>
          </p:nvSpPr>
          <p:spPr>
            <a:xfrm>
              <a:off x="2721" y="632237"/>
              <a:ext cx="433491" cy="433537"/>
            </a:xfrm>
            <a:custGeom>
              <a:avLst/>
              <a:gdLst/>
              <a:ahLst/>
              <a:cxnLst/>
              <a:rect l="0" t="0" r="0" b="0"/>
              <a:pathLst>
                <a:path w="682" h="682">
                  <a:moveTo>
                    <a:pt x="5" y="341"/>
                  </a:moveTo>
                  <a:cubicBezTo>
                    <a:pt x="5" y="155"/>
                    <a:pt x="155" y="5"/>
                    <a:pt x="341" y="5"/>
                  </a:cubicBezTo>
                  <a:cubicBezTo>
                    <a:pt x="527" y="5"/>
                    <a:pt x="677" y="155"/>
                    <a:pt x="677" y="341"/>
                  </a:cubicBezTo>
                  <a:cubicBezTo>
                    <a:pt x="677" y="527"/>
                    <a:pt x="527" y="677"/>
                    <a:pt x="341" y="677"/>
                  </a:cubicBezTo>
                  <a:cubicBezTo>
                    <a:pt x="155" y="677"/>
                    <a:pt x="5" y="527"/>
                    <a:pt x="5" y="341"/>
                  </a:cubicBezTo>
                </a:path>
              </a:pathLst>
            </a:custGeom>
            <a:noFill/>
            <a:ln w="6349" cap="flat">
              <a:solidFill>
                <a:srgbClr val="000000">
                  <a:alpha val="100000"/>
                </a:srgbClr>
              </a:solidFill>
              <a:prstDash val="solid"/>
              <a:miter lim="800000"/>
            </a:ln>
          </p:spPr>
          <p:txBody>
            <a:bodyPr rtlCol="0"/>
            <a:lstStyle/>
            <a:p>
              <a:pPr algn="ctr"/>
              <a:endParaRPr lang="zh-CN" altLang="en-US" sz="1350"/>
            </a:p>
          </p:txBody>
        </p:sp>
        <p:sp>
          <p:nvSpPr>
            <p:cNvPr id="518" name="path"/>
            <p:cNvSpPr/>
            <p:nvPr/>
          </p:nvSpPr>
          <p:spPr>
            <a:xfrm>
              <a:off x="4535" y="1249186"/>
              <a:ext cx="427141" cy="427187"/>
            </a:xfrm>
            <a:custGeom>
              <a:avLst/>
              <a:gdLst/>
              <a:ahLst/>
              <a:cxnLst/>
              <a:rect l="0" t="0" r="0" b="0"/>
              <a:pathLst>
                <a:path w="672" h="672">
                  <a:moveTo>
                    <a:pt x="0" y="336"/>
                  </a:moveTo>
                  <a:cubicBezTo>
                    <a:pt x="0" y="150"/>
                    <a:pt x="150" y="0"/>
                    <a:pt x="336" y="0"/>
                  </a:cubicBezTo>
                  <a:cubicBezTo>
                    <a:pt x="522" y="0"/>
                    <a:pt x="672" y="150"/>
                    <a:pt x="672" y="336"/>
                  </a:cubicBezTo>
                  <a:cubicBezTo>
                    <a:pt x="672" y="522"/>
                    <a:pt x="522" y="672"/>
                    <a:pt x="336" y="672"/>
                  </a:cubicBezTo>
                  <a:cubicBezTo>
                    <a:pt x="150" y="672"/>
                    <a:pt x="0" y="522"/>
                    <a:pt x="0" y="336"/>
                  </a:cubicBezTo>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20" name="path"/>
            <p:cNvSpPr/>
            <p:nvPr/>
          </p:nvSpPr>
          <p:spPr>
            <a:xfrm>
              <a:off x="1360" y="1246012"/>
              <a:ext cx="433491" cy="433537"/>
            </a:xfrm>
            <a:custGeom>
              <a:avLst/>
              <a:gdLst/>
              <a:ahLst/>
              <a:cxnLst/>
              <a:rect l="0" t="0" r="0" b="0"/>
              <a:pathLst>
                <a:path w="682" h="682">
                  <a:moveTo>
                    <a:pt x="5" y="341"/>
                  </a:moveTo>
                  <a:cubicBezTo>
                    <a:pt x="5" y="155"/>
                    <a:pt x="155" y="5"/>
                    <a:pt x="341" y="5"/>
                  </a:cubicBezTo>
                  <a:cubicBezTo>
                    <a:pt x="527" y="5"/>
                    <a:pt x="677" y="155"/>
                    <a:pt x="677" y="341"/>
                  </a:cubicBezTo>
                  <a:cubicBezTo>
                    <a:pt x="677" y="527"/>
                    <a:pt x="527" y="677"/>
                    <a:pt x="341" y="677"/>
                  </a:cubicBezTo>
                  <a:cubicBezTo>
                    <a:pt x="155" y="677"/>
                    <a:pt x="5" y="527"/>
                    <a:pt x="5" y="341"/>
                  </a:cubicBezTo>
                </a:path>
              </a:pathLst>
            </a:custGeom>
            <a:noFill/>
            <a:ln w="6349" cap="flat">
              <a:solidFill>
                <a:srgbClr val="000000">
                  <a:alpha val="100000"/>
                </a:srgbClr>
              </a:solidFill>
              <a:prstDash val="solid"/>
              <a:miter lim="800000"/>
            </a:ln>
          </p:spPr>
          <p:txBody>
            <a:bodyPr rtlCol="0"/>
            <a:lstStyle/>
            <a:p>
              <a:pPr algn="ctr"/>
              <a:endParaRPr lang="zh-CN" altLang="en-US" sz="1350"/>
            </a:p>
          </p:txBody>
        </p:sp>
        <p:sp>
          <p:nvSpPr>
            <p:cNvPr id="522" name="path"/>
            <p:cNvSpPr/>
            <p:nvPr/>
          </p:nvSpPr>
          <p:spPr>
            <a:xfrm>
              <a:off x="3175" y="1880046"/>
              <a:ext cx="427140" cy="427188"/>
            </a:xfrm>
            <a:custGeom>
              <a:avLst/>
              <a:gdLst/>
              <a:ahLst/>
              <a:cxnLst/>
              <a:rect l="0" t="0" r="0" b="0"/>
              <a:pathLst>
                <a:path w="672" h="672">
                  <a:moveTo>
                    <a:pt x="0" y="336"/>
                  </a:moveTo>
                  <a:cubicBezTo>
                    <a:pt x="0" y="150"/>
                    <a:pt x="150" y="0"/>
                    <a:pt x="336" y="0"/>
                  </a:cubicBezTo>
                  <a:cubicBezTo>
                    <a:pt x="522" y="0"/>
                    <a:pt x="672" y="150"/>
                    <a:pt x="672" y="336"/>
                  </a:cubicBezTo>
                  <a:cubicBezTo>
                    <a:pt x="672" y="522"/>
                    <a:pt x="522" y="672"/>
                    <a:pt x="336" y="672"/>
                  </a:cubicBezTo>
                  <a:cubicBezTo>
                    <a:pt x="150" y="672"/>
                    <a:pt x="0" y="522"/>
                    <a:pt x="0" y="336"/>
                  </a:cubicBezTo>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24" name="path"/>
            <p:cNvSpPr/>
            <p:nvPr/>
          </p:nvSpPr>
          <p:spPr>
            <a:xfrm>
              <a:off x="0" y="1876871"/>
              <a:ext cx="433491" cy="433537"/>
            </a:xfrm>
            <a:custGeom>
              <a:avLst/>
              <a:gdLst/>
              <a:ahLst/>
              <a:cxnLst/>
              <a:rect l="0" t="0" r="0" b="0"/>
              <a:pathLst>
                <a:path w="682" h="682">
                  <a:moveTo>
                    <a:pt x="5" y="341"/>
                  </a:moveTo>
                  <a:cubicBezTo>
                    <a:pt x="5" y="155"/>
                    <a:pt x="155" y="5"/>
                    <a:pt x="341" y="5"/>
                  </a:cubicBezTo>
                  <a:cubicBezTo>
                    <a:pt x="527" y="5"/>
                    <a:pt x="677" y="155"/>
                    <a:pt x="677" y="341"/>
                  </a:cubicBezTo>
                  <a:cubicBezTo>
                    <a:pt x="677" y="527"/>
                    <a:pt x="527" y="677"/>
                    <a:pt x="341" y="677"/>
                  </a:cubicBezTo>
                  <a:cubicBezTo>
                    <a:pt x="155" y="677"/>
                    <a:pt x="5" y="527"/>
                    <a:pt x="5" y="341"/>
                  </a:cubicBezTo>
                </a:path>
              </a:pathLst>
            </a:custGeom>
            <a:noFill/>
            <a:ln w="6349" cap="flat">
              <a:solidFill>
                <a:srgbClr val="000000">
                  <a:alpha val="100000"/>
                </a:srgbClr>
              </a:solidFill>
              <a:prstDash val="solid"/>
              <a:miter lim="800000"/>
            </a:ln>
          </p:spPr>
          <p:txBody>
            <a:bodyPr rtlCol="0"/>
            <a:lstStyle/>
            <a:p>
              <a:pPr algn="ctr"/>
              <a:endParaRPr lang="zh-CN" altLang="en-US" sz="1350"/>
            </a:p>
          </p:txBody>
        </p:sp>
        <p:sp>
          <p:nvSpPr>
            <p:cNvPr id="526" name="path"/>
            <p:cNvSpPr/>
            <p:nvPr/>
          </p:nvSpPr>
          <p:spPr>
            <a:xfrm>
              <a:off x="1477587" y="3175"/>
              <a:ext cx="427141" cy="427187"/>
            </a:xfrm>
            <a:custGeom>
              <a:avLst/>
              <a:gdLst/>
              <a:ahLst/>
              <a:cxnLst/>
              <a:rect l="0" t="0" r="0" b="0"/>
              <a:pathLst>
                <a:path w="672" h="672">
                  <a:moveTo>
                    <a:pt x="0" y="336"/>
                  </a:moveTo>
                  <a:cubicBezTo>
                    <a:pt x="0" y="150"/>
                    <a:pt x="150" y="0"/>
                    <a:pt x="336" y="0"/>
                  </a:cubicBezTo>
                  <a:cubicBezTo>
                    <a:pt x="522" y="0"/>
                    <a:pt x="672" y="150"/>
                    <a:pt x="672" y="336"/>
                  </a:cubicBezTo>
                  <a:cubicBezTo>
                    <a:pt x="672" y="522"/>
                    <a:pt x="522" y="672"/>
                    <a:pt x="336" y="672"/>
                  </a:cubicBezTo>
                  <a:cubicBezTo>
                    <a:pt x="150" y="672"/>
                    <a:pt x="0" y="522"/>
                    <a:pt x="0" y="336"/>
                  </a:cubicBezTo>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28" name="path"/>
            <p:cNvSpPr/>
            <p:nvPr/>
          </p:nvSpPr>
          <p:spPr>
            <a:xfrm>
              <a:off x="1474412" y="0"/>
              <a:ext cx="433491" cy="433537"/>
            </a:xfrm>
            <a:custGeom>
              <a:avLst/>
              <a:gdLst/>
              <a:ahLst/>
              <a:cxnLst/>
              <a:rect l="0" t="0" r="0" b="0"/>
              <a:pathLst>
                <a:path w="682" h="682">
                  <a:moveTo>
                    <a:pt x="5" y="341"/>
                  </a:moveTo>
                  <a:cubicBezTo>
                    <a:pt x="5" y="155"/>
                    <a:pt x="155" y="5"/>
                    <a:pt x="341" y="5"/>
                  </a:cubicBezTo>
                  <a:cubicBezTo>
                    <a:pt x="527" y="5"/>
                    <a:pt x="677" y="155"/>
                    <a:pt x="677" y="341"/>
                  </a:cubicBezTo>
                  <a:cubicBezTo>
                    <a:pt x="677" y="527"/>
                    <a:pt x="527" y="677"/>
                    <a:pt x="341" y="677"/>
                  </a:cubicBezTo>
                  <a:cubicBezTo>
                    <a:pt x="155" y="677"/>
                    <a:pt x="5" y="527"/>
                    <a:pt x="5" y="341"/>
                  </a:cubicBezTo>
                </a:path>
              </a:pathLst>
            </a:custGeom>
            <a:noFill/>
            <a:ln w="6349" cap="flat">
              <a:solidFill>
                <a:srgbClr val="000000">
                  <a:alpha val="100000"/>
                </a:srgbClr>
              </a:solidFill>
              <a:prstDash val="solid"/>
              <a:miter lim="800000"/>
            </a:ln>
          </p:spPr>
          <p:txBody>
            <a:bodyPr rtlCol="0"/>
            <a:lstStyle/>
            <a:p>
              <a:pPr algn="ctr"/>
              <a:endParaRPr lang="zh-CN" altLang="en-US" sz="1350"/>
            </a:p>
          </p:txBody>
        </p:sp>
        <p:sp>
          <p:nvSpPr>
            <p:cNvPr id="530" name="path"/>
            <p:cNvSpPr/>
            <p:nvPr/>
          </p:nvSpPr>
          <p:spPr>
            <a:xfrm>
              <a:off x="1476224" y="634034"/>
              <a:ext cx="427141" cy="427188"/>
            </a:xfrm>
            <a:custGeom>
              <a:avLst/>
              <a:gdLst/>
              <a:ahLst/>
              <a:cxnLst/>
              <a:rect l="0" t="0" r="0" b="0"/>
              <a:pathLst>
                <a:path w="672" h="672">
                  <a:moveTo>
                    <a:pt x="0" y="336"/>
                  </a:moveTo>
                  <a:cubicBezTo>
                    <a:pt x="0" y="150"/>
                    <a:pt x="150" y="0"/>
                    <a:pt x="336" y="0"/>
                  </a:cubicBezTo>
                  <a:cubicBezTo>
                    <a:pt x="522" y="0"/>
                    <a:pt x="672" y="150"/>
                    <a:pt x="672" y="336"/>
                  </a:cubicBezTo>
                  <a:cubicBezTo>
                    <a:pt x="672" y="522"/>
                    <a:pt x="522" y="672"/>
                    <a:pt x="336" y="672"/>
                  </a:cubicBezTo>
                  <a:cubicBezTo>
                    <a:pt x="150" y="672"/>
                    <a:pt x="0" y="522"/>
                    <a:pt x="0" y="336"/>
                  </a:cubicBezTo>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32" name="path"/>
            <p:cNvSpPr/>
            <p:nvPr/>
          </p:nvSpPr>
          <p:spPr>
            <a:xfrm>
              <a:off x="1473049" y="630859"/>
              <a:ext cx="433491" cy="433537"/>
            </a:xfrm>
            <a:custGeom>
              <a:avLst/>
              <a:gdLst/>
              <a:ahLst/>
              <a:cxnLst/>
              <a:rect l="0" t="0" r="0" b="0"/>
              <a:pathLst>
                <a:path w="682" h="682">
                  <a:moveTo>
                    <a:pt x="5" y="341"/>
                  </a:moveTo>
                  <a:cubicBezTo>
                    <a:pt x="5" y="155"/>
                    <a:pt x="155" y="5"/>
                    <a:pt x="341" y="5"/>
                  </a:cubicBezTo>
                  <a:cubicBezTo>
                    <a:pt x="527" y="5"/>
                    <a:pt x="677" y="155"/>
                    <a:pt x="677" y="341"/>
                  </a:cubicBezTo>
                  <a:cubicBezTo>
                    <a:pt x="677" y="527"/>
                    <a:pt x="527" y="677"/>
                    <a:pt x="341" y="677"/>
                  </a:cubicBezTo>
                  <a:cubicBezTo>
                    <a:pt x="155" y="677"/>
                    <a:pt x="5" y="527"/>
                    <a:pt x="5" y="341"/>
                  </a:cubicBezTo>
                </a:path>
              </a:pathLst>
            </a:custGeom>
            <a:noFill/>
            <a:ln w="6349" cap="flat">
              <a:solidFill>
                <a:srgbClr val="000000">
                  <a:alpha val="100000"/>
                </a:srgbClr>
              </a:solidFill>
              <a:prstDash val="solid"/>
              <a:miter lim="800000"/>
            </a:ln>
          </p:spPr>
          <p:txBody>
            <a:bodyPr rtlCol="0"/>
            <a:lstStyle/>
            <a:p>
              <a:pPr algn="ctr"/>
              <a:endParaRPr lang="zh-CN" altLang="en-US" sz="1350"/>
            </a:p>
          </p:txBody>
        </p:sp>
        <p:sp>
          <p:nvSpPr>
            <p:cNvPr id="534" name="path"/>
            <p:cNvSpPr/>
            <p:nvPr/>
          </p:nvSpPr>
          <p:spPr>
            <a:xfrm>
              <a:off x="1474862" y="1247809"/>
              <a:ext cx="427142" cy="427188"/>
            </a:xfrm>
            <a:custGeom>
              <a:avLst/>
              <a:gdLst/>
              <a:ahLst/>
              <a:cxnLst/>
              <a:rect l="0" t="0" r="0" b="0"/>
              <a:pathLst>
                <a:path w="672" h="672">
                  <a:moveTo>
                    <a:pt x="0" y="336"/>
                  </a:moveTo>
                  <a:cubicBezTo>
                    <a:pt x="0" y="150"/>
                    <a:pt x="150" y="0"/>
                    <a:pt x="336" y="0"/>
                  </a:cubicBezTo>
                  <a:cubicBezTo>
                    <a:pt x="522" y="0"/>
                    <a:pt x="672" y="150"/>
                    <a:pt x="672" y="336"/>
                  </a:cubicBezTo>
                  <a:cubicBezTo>
                    <a:pt x="672" y="522"/>
                    <a:pt x="522" y="672"/>
                    <a:pt x="336" y="672"/>
                  </a:cubicBezTo>
                  <a:cubicBezTo>
                    <a:pt x="150" y="672"/>
                    <a:pt x="0" y="522"/>
                    <a:pt x="0" y="336"/>
                  </a:cubicBezTo>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36" name="path"/>
            <p:cNvSpPr/>
            <p:nvPr/>
          </p:nvSpPr>
          <p:spPr>
            <a:xfrm>
              <a:off x="1471686" y="1244634"/>
              <a:ext cx="433491" cy="433537"/>
            </a:xfrm>
            <a:custGeom>
              <a:avLst/>
              <a:gdLst/>
              <a:ahLst/>
              <a:cxnLst/>
              <a:rect l="0" t="0" r="0" b="0"/>
              <a:pathLst>
                <a:path w="682" h="682">
                  <a:moveTo>
                    <a:pt x="5" y="341"/>
                  </a:moveTo>
                  <a:cubicBezTo>
                    <a:pt x="5" y="155"/>
                    <a:pt x="155" y="5"/>
                    <a:pt x="341" y="5"/>
                  </a:cubicBezTo>
                  <a:cubicBezTo>
                    <a:pt x="527" y="5"/>
                    <a:pt x="677" y="155"/>
                    <a:pt x="677" y="341"/>
                  </a:cubicBezTo>
                  <a:cubicBezTo>
                    <a:pt x="677" y="527"/>
                    <a:pt x="527" y="677"/>
                    <a:pt x="341" y="677"/>
                  </a:cubicBezTo>
                  <a:cubicBezTo>
                    <a:pt x="155" y="677"/>
                    <a:pt x="5" y="527"/>
                    <a:pt x="5" y="341"/>
                  </a:cubicBezTo>
                </a:path>
              </a:pathLst>
            </a:custGeom>
            <a:noFill/>
            <a:ln w="6349" cap="flat">
              <a:solidFill>
                <a:srgbClr val="000000">
                  <a:alpha val="100000"/>
                </a:srgbClr>
              </a:solidFill>
              <a:prstDash val="solid"/>
              <a:miter lim="800000"/>
            </a:ln>
          </p:spPr>
          <p:txBody>
            <a:bodyPr rtlCol="0"/>
            <a:lstStyle/>
            <a:p>
              <a:pPr algn="ctr"/>
              <a:endParaRPr lang="zh-CN" altLang="en-US" sz="1350"/>
            </a:p>
          </p:txBody>
        </p:sp>
        <p:sp>
          <p:nvSpPr>
            <p:cNvPr id="538" name="path"/>
            <p:cNvSpPr/>
            <p:nvPr/>
          </p:nvSpPr>
          <p:spPr>
            <a:xfrm>
              <a:off x="1473501" y="1878670"/>
              <a:ext cx="427141" cy="427187"/>
            </a:xfrm>
            <a:custGeom>
              <a:avLst/>
              <a:gdLst/>
              <a:ahLst/>
              <a:cxnLst/>
              <a:rect l="0" t="0" r="0" b="0"/>
              <a:pathLst>
                <a:path w="672" h="672">
                  <a:moveTo>
                    <a:pt x="0" y="336"/>
                  </a:moveTo>
                  <a:cubicBezTo>
                    <a:pt x="0" y="150"/>
                    <a:pt x="150" y="0"/>
                    <a:pt x="336" y="0"/>
                  </a:cubicBezTo>
                  <a:cubicBezTo>
                    <a:pt x="522" y="0"/>
                    <a:pt x="672" y="150"/>
                    <a:pt x="672" y="336"/>
                  </a:cubicBezTo>
                  <a:cubicBezTo>
                    <a:pt x="672" y="522"/>
                    <a:pt x="522" y="672"/>
                    <a:pt x="336" y="672"/>
                  </a:cubicBezTo>
                  <a:cubicBezTo>
                    <a:pt x="150" y="672"/>
                    <a:pt x="0" y="522"/>
                    <a:pt x="0" y="336"/>
                  </a:cubicBezTo>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40" name="path"/>
            <p:cNvSpPr/>
            <p:nvPr/>
          </p:nvSpPr>
          <p:spPr>
            <a:xfrm>
              <a:off x="1470326" y="1875495"/>
              <a:ext cx="433491" cy="433537"/>
            </a:xfrm>
            <a:custGeom>
              <a:avLst/>
              <a:gdLst/>
              <a:ahLst/>
              <a:cxnLst/>
              <a:rect l="0" t="0" r="0" b="0"/>
              <a:pathLst>
                <a:path w="682" h="682">
                  <a:moveTo>
                    <a:pt x="5" y="341"/>
                  </a:moveTo>
                  <a:cubicBezTo>
                    <a:pt x="5" y="155"/>
                    <a:pt x="155" y="5"/>
                    <a:pt x="341" y="5"/>
                  </a:cubicBezTo>
                  <a:cubicBezTo>
                    <a:pt x="527" y="5"/>
                    <a:pt x="677" y="155"/>
                    <a:pt x="677" y="341"/>
                  </a:cubicBezTo>
                  <a:cubicBezTo>
                    <a:pt x="677" y="527"/>
                    <a:pt x="527" y="677"/>
                    <a:pt x="341" y="677"/>
                  </a:cubicBezTo>
                  <a:cubicBezTo>
                    <a:pt x="155" y="677"/>
                    <a:pt x="5" y="527"/>
                    <a:pt x="5" y="341"/>
                  </a:cubicBezTo>
                </a:path>
              </a:pathLst>
            </a:custGeom>
            <a:noFill/>
            <a:ln w="6349" cap="flat">
              <a:solidFill>
                <a:srgbClr val="000000">
                  <a:alpha val="100000"/>
                </a:srgbClr>
              </a:solidFill>
              <a:prstDash val="solid"/>
              <a:miter lim="800000"/>
            </a:ln>
          </p:spPr>
          <p:txBody>
            <a:bodyPr rtlCol="0"/>
            <a:lstStyle/>
            <a:p>
              <a:pPr algn="ctr"/>
              <a:endParaRPr lang="zh-CN" altLang="en-US" sz="1350"/>
            </a:p>
          </p:txBody>
        </p:sp>
        <p:sp>
          <p:nvSpPr>
            <p:cNvPr id="542" name="path"/>
            <p:cNvSpPr/>
            <p:nvPr/>
          </p:nvSpPr>
          <p:spPr>
            <a:xfrm>
              <a:off x="2910055" y="632659"/>
              <a:ext cx="427143" cy="427187"/>
            </a:xfrm>
            <a:custGeom>
              <a:avLst/>
              <a:gdLst/>
              <a:ahLst/>
              <a:cxnLst/>
              <a:rect l="0" t="0" r="0" b="0"/>
              <a:pathLst>
                <a:path w="672" h="672">
                  <a:moveTo>
                    <a:pt x="0" y="336"/>
                  </a:moveTo>
                  <a:cubicBezTo>
                    <a:pt x="0" y="150"/>
                    <a:pt x="150" y="0"/>
                    <a:pt x="336" y="0"/>
                  </a:cubicBezTo>
                  <a:cubicBezTo>
                    <a:pt x="522" y="0"/>
                    <a:pt x="672" y="150"/>
                    <a:pt x="672" y="336"/>
                  </a:cubicBezTo>
                  <a:cubicBezTo>
                    <a:pt x="672" y="522"/>
                    <a:pt x="522" y="672"/>
                    <a:pt x="336" y="672"/>
                  </a:cubicBezTo>
                  <a:cubicBezTo>
                    <a:pt x="150" y="672"/>
                    <a:pt x="0" y="522"/>
                    <a:pt x="0" y="336"/>
                  </a:cubicBezTo>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44" name="path"/>
            <p:cNvSpPr/>
            <p:nvPr/>
          </p:nvSpPr>
          <p:spPr>
            <a:xfrm>
              <a:off x="2906880" y="629484"/>
              <a:ext cx="433492" cy="433538"/>
            </a:xfrm>
            <a:custGeom>
              <a:avLst/>
              <a:gdLst/>
              <a:ahLst/>
              <a:cxnLst/>
              <a:rect l="0" t="0" r="0" b="0"/>
              <a:pathLst>
                <a:path w="682" h="682">
                  <a:moveTo>
                    <a:pt x="5" y="341"/>
                  </a:moveTo>
                  <a:cubicBezTo>
                    <a:pt x="5" y="155"/>
                    <a:pt x="155" y="5"/>
                    <a:pt x="341" y="5"/>
                  </a:cubicBezTo>
                  <a:cubicBezTo>
                    <a:pt x="527" y="5"/>
                    <a:pt x="677" y="155"/>
                    <a:pt x="677" y="341"/>
                  </a:cubicBezTo>
                  <a:cubicBezTo>
                    <a:pt x="677" y="527"/>
                    <a:pt x="527" y="677"/>
                    <a:pt x="341" y="677"/>
                  </a:cubicBezTo>
                  <a:cubicBezTo>
                    <a:pt x="155" y="677"/>
                    <a:pt x="5" y="527"/>
                    <a:pt x="5" y="341"/>
                  </a:cubicBezTo>
                </a:path>
              </a:pathLst>
            </a:custGeom>
            <a:noFill/>
            <a:ln w="6349" cap="flat">
              <a:solidFill>
                <a:srgbClr val="000000">
                  <a:alpha val="100000"/>
                </a:srgbClr>
              </a:solidFill>
              <a:prstDash val="solid"/>
              <a:miter lim="800000"/>
            </a:ln>
          </p:spPr>
          <p:txBody>
            <a:bodyPr rtlCol="0"/>
            <a:lstStyle/>
            <a:p>
              <a:pPr algn="ctr"/>
              <a:endParaRPr lang="zh-CN" altLang="en-US" sz="1350"/>
            </a:p>
          </p:txBody>
        </p:sp>
        <p:sp>
          <p:nvSpPr>
            <p:cNvPr id="546" name="path"/>
            <p:cNvSpPr/>
            <p:nvPr/>
          </p:nvSpPr>
          <p:spPr>
            <a:xfrm>
              <a:off x="2908696" y="1588188"/>
              <a:ext cx="427141" cy="427187"/>
            </a:xfrm>
            <a:custGeom>
              <a:avLst/>
              <a:gdLst/>
              <a:ahLst/>
              <a:cxnLst/>
              <a:rect l="0" t="0" r="0" b="0"/>
              <a:pathLst>
                <a:path w="672" h="672">
                  <a:moveTo>
                    <a:pt x="0" y="336"/>
                  </a:moveTo>
                  <a:cubicBezTo>
                    <a:pt x="0" y="150"/>
                    <a:pt x="150" y="0"/>
                    <a:pt x="336" y="0"/>
                  </a:cubicBezTo>
                  <a:cubicBezTo>
                    <a:pt x="522" y="0"/>
                    <a:pt x="672" y="150"/>
                    <a:pt x="672" y="336"/>
                  </a:cubicBezTo>
                  <a:cubicBezTo>
                    <a:pt x="672" y="522"/>
                    <a:pt x="522" y="672"/>
                    <a:pt x="336" y="672"/>
                  </a:cubicBezTo>
                  <a:cubicBezTo>
                    <a:pt x="150" y="672"/>
                    <a:pt x="0" y="522"/>
                    <a:pt x="0" y="336"/>
                  </a:cubicBezTo>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48" name="path"/>
            <p:cNvSpPr/>
            <p:nvPr/>
          </p:nvSpPr>
          <p:spPr>
            <a:xfrm>
              <a:off x="2905521" y="1585013"/>
              <a:ext cx="433492" cy="433537"/>
            </a:xfrm>
            <a:custGeom>
              <a:avLst/>
              <a:gdLst/>
              <a:ahLst/>
              <a:cxnLst/>
              <a:rect l="0" t="0" r="0" b="0"/>
              <a:pathLst>
                <a:path w="682" h="682">
                  <a:moveTo>
                    <a:pt x="5" y="341"/>
                  </a:moveTo>
                  <a:cubicBezTo>
                    <a:pt x="5" y="155"/>
                    <a:pt x="155" y="5"/>
                    <a:pt x="341" y="5"/>
                  </a:cubicBezTo>
                  <a:cubicBezTo>
                    <a:pt x="527" y="5"/>
                    <a:pt x="677" y="155"/>
                    <a:pt x="677" y="341"/>
                  </a:cubicBezTo>
                  <a:cubicBezTo>
                    <a:pt x="677" y="527"/>
                    <a:pt x="527" y="677"/>
                    <a:pt x="341" y="677"/>
                  </a:cubicBezTo>
                  <a:cubicBezTo>
                    <a:pt x="155" y="677"/>
                    <a:pt x="5" y="527"/>
                    <a:pt x="5" y="341"/>
                  </a:cubicBezTo>
                </a:path>
              </a:pathLst>
            </a:custGeom>
            <a:noFill/>
            <a:ln w="6349" cap="flat">
              <a:solidFill>
                <a:srgbClr val="000000">
                  <a:alpha val="100000"/>
                </a:srgbClr>
              </a:solidFill>
              <a:prstDash val="solid"/>
              <a:miter lim="800000"/>
            </a:ln>
          </p:spPr>
          <p:txBody>
            <a:bodyPr rtlCol="0"/>
            <a:lstStyle/>
            <a:p>
              <a:pPr algn="ctr"/>
              <a:endParaRPr lang="zh-CN" altLang="en-US" sz="1350"/>
            </a:p>
          </p:txBody>
        </p:sp>
        <p:sp>
          <p:nvSpPr>
            <p:cNvPr id="550" name="path"/>
            <p:cNvSpPr/>
            <p:nvPr/>
          </p:nvSpPr>
          <p:spPr>
            <a:xfrm>
              <a:off x="4137500" y="1125448"/>
              <a:ext cx="427142" cy="427187"/>
            </a:xfrm>
            <a:custGeom>
              <a:avLst/>
              <a:gdLst/>
              <a:ahLst/>
              <a:cxnLst/>
              <a:rect l="0" t="0" r="0" b="0"/>
              <a:pathLst>
                <a:path w="672" h="672">
                  <a:moveTo>
                    <a:pt x="0" y="336"/>
                  </a:moveTo>
                  <a:cubicBezTo>
                    <a:pt x="0" y="150"/>
                    <a:pt x="150" y="0"/>
                    <a:pt x="336" y="0"/>
                  </a:cubicBezTo>
                  <a:cubicBezTo>
                    <a:pt x="522" y="0"/>
                    <a:pt x="672" y="150"/>
                    <a:pt x="672" y="336"/>
                  </a:cubicBezTo>
                  <a:cubicBezTo>
                    <a:pt x="672" y="522"/>
                    <a:pt x="522" y="672"/>
                    <a:pt x="336" y="672"/>
                  </a:cubicBezTo>
                  <a:cubicBezTo>
                    <a:pt x="150" y="672"/>
                    <a:pt x="0" y="522"/>
                    <a:pt x="0" y="336"/>
                  </a:cubicBezTo>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52" name="path"/>
            <p:cNvSpPr/>
            <p:nvPr/>
          </p:nvSpPr>
          <p:spPr>
            <a:xfrm>
              <a:off x="4134325" y="1122273"/>
              <a:ext cx="433492" cy="433537"/>
            </a:xfrm>
            <a:custGeom>
              <a:avLst/>
              <a:gdLst/>
              <a:ahLst/>
              <a:cxnLst/>
              <a:rect l="0" t="0" r="0" b="0"/>
              <a:pathLst>
                <a:path w="682" h="682">
                  <a:moveTo>
                    <a:pt x="5" y="341"/>
                  </a:moveTo>
                  <a:cubicBezTo>
                    <a:pt x="5" y="155"/>
                    <a:pt x="155" y="5"/>
                    <a:pt x="341" y="5"/>
                  </a:cubicBezTo>
                  <a:cubicBezTo>
                    <a:pt x="527" y="5"/>
                    <a:pt x="677" y="155"/>
                    <a:pt x="677" y="341"/>
                  </a:cubicBezTo>
                  <a:cubicBezTo>
                    <a:pt x="677" y="527"/>
                    <a:pt x="527" y="677"/>
                    <a:pt x="341" y="677"/>
                  </a:cubicBezTo>
                  <a:cubicBezTo>
                    <a:pt x="155" y="677"/>
                    <a:pt x="5" y="527"/>
                    <a:pt x="5" y="341"/>
                  </a:cubicBezTo>
                </a:path>
              </a:pathLst>
            </a:custGeom>
            <a:noFill/>
            <a:ln w="6349" cap="flat">
              <a:solidFill>
                <a:srgbClr val="000000">
                  <a:alpha val="100000"/>
                </a:srgbClr>
              </a:solidFill>
              <a:prstDash val="solid"/>
              <a:miter lim="800000"/>
            </a:ln>
          </p:spPr>
          <p:txBody>
            <a:bodyPr rtlCol="0"/>
            <a:lstStyle/>
            <a:p>
              <a:pPr algn="ctr"/>
              <a:endParaRPr lang="zh-CN" altLang="en-US" sz="1350"/>
            </a:p>
          </p:txBody>
        </p:sp>
        <p:sp>
          <p:nvSpPr>
            <p:cNvPr id="554" name="path"/>
            <p:cNvSpPr/>
            <p:nvPr/>
          </p:nvSpPr>
          <p:spPr>
            <a:xfrm>
              <a:off x="434376" y="202313"/>
              <a:ext cx="1014455" cy="30119"/>
            </a:xfrm>
            <a:custGeom>
              <a:avLst/>
              <a:gdLst/>
              <a:ahLst/>
              <a:cxnLst/>
              <a:rect l="0" t="0" r="0" b="0"/>
              <a:pathLst>
                <a:path w="1597" h="47">
                  <a:moveTo>
                    <a:pt x="0" y="24"/>
                  </a:moveTo>
                  <a:lnTo>
                    <a:pt x="1597" y="22"/>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556" name="path"/>
            <p:cNvSpPr/>
            <p:nvPr/>
          </p:nvSpPr>
          <p:spPr>
            <a:xfrm>
              <a:off x="1391596" y="173826"/>
              <a:ext cx="85790" cy="85724"/>
            </a:xfrm>
            <a:custGeom>
              <a:avLst/>
              <a:gdLst/>
              <a:ahLst/>
              <a:cxnLst/>
              <a:rect l="0" t="0" r="0" b="0"/>
              <a:pathLst>
                <a:path w="135" h="134">
                  <a:moveTo>
                    <a:pt x="0" y="134"/>
                  </a:moveTo>
                  <a:lnTo>
                    <a:pt x="135" y="67"/>
                  </a:lnTo>
                  <a:lnTo>
                    <a:pt x="0" y="0"/>
                  </a:lnTo>
                  <a:lnTo>
                    <a:pt x="0" y="134"/>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58" name="path"/>
            <p:cNvSpPr/>
            <p:nvPr/>
          </p:nvSpPr>
          <p:spPr>
            <a:xfrm>
              <a:off x="433014" y="833174"/>
              <a:ext cx="1014456" cy="30119"/>
            </a:xfrm>
            <a:custGeom>
              <a:avLst/>
              <a:gdLst/>
              <a:ahLst/>
              <a:cxnLst/>
              <a:rect l="0" t="0" r="0" b="0"/>
              <a:pathLst>
                <a:path w="1597" h="47">
                  <a:moveTo>
                    <a:pt x="0" y="24"/>
                  </a:moveTo>
                  <a:lnTo>
                    <a:pt x="1597" y="22"/>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560" name="path"/>
            <p:cNvSpPr/>
            <p:nvPr/>
          </p:nvSpPr>
          <p:spPr>
            <a:xfrm>
              <a:off x="1390234" y="804685"/>
              <a:ext cx="85790" cy="85725"/>
            </a:xfrm>
            <a:custGeom>
              <a:avLst/>
              <a:gdLst/>
              <a:ahLst/>
              <a:cxnLst/>
              <a:rect l="0" t="0" r="0" b="0"/>
              <a:pathLst>
                <a:path w="135" h="135">
                  <a:moveTo>
                    <a:pt x="0" y="135"/>
                  </a:moveTo>
                  <a:lnTo>
                    <a:pt x="135" y="67"/>
                  </a:lnTo>
                  <a:lnTo>
                    <a:pt x="0" y="0"/>
                  </a:lnTo>
                  <a:lnTo>
                    <a:pt x="0" y="135"/>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62" name="path"/>
            <p:cNvSpPr/>
            <p:nvPr/>
          </p:nvSpPr>
          <p:spPr>
            <a:xfrm>
              <a:off x="431654" y="1446948"/>
              <a:ext cx="1014455" cy="30119"/>
            </a:xfrm>
            <a:custGeom>
              <a:avLst/>
              <a:gdLst/>
              <a:ahLst/>
              <a:cxnLst/>
              <a:rect l="0" t="0" r="0" b="0"/>
              <a:pathLst>
                <a:path w="1597" h="47">
                  <a:moveTo>
                    <a:pt x="0" y="24"/>
                  </a:moveTo>
                  <a:lnTo>
                    <a:pt x="1597" y="22"/>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564" name="path"/>
            <p:cNvSpPr/>
            <p:nvPr/>
          </p:nvSpPr>
          <p:spPr>
            <a:xfrm>
              <a:off x="1388874" y="1418461"/>
              <a:ext cx="85789" cy="85725"/>
            </a:xfrm>
            <a:custGeom>
              <a:avLst/>
              <a:gdLst/>
              <a:ahLst/>
              <a:cxnLst/>
              <a:rect l="0" t="0" r="0" b="0"/>
              <a:pathLst>
                <a:path w="135" h="135">
                  <a:moveTo>
                    <a:pt x="0" y="135"/>
                  </a:moveTo>
                  <a:lnTo>
                    <a:pt x="135" y="67"/>
                  </a:lnTo>
                  <a:lnTo>
                    <a:pt x="0" y="0"/>
                  </a:lnTo>
                  <a:lnTo>
                    <a:pt x="0" y="135"/>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66" name="path"/>
            <p:cNvSpPr/>
            <p:nvPr/>
          </p:nvSpPr>
          <p:spPr>
            <a:xfrm>
              <a:off x="430293" y="2077808"/>
              <a:ext cx="1014456" cy="30119"/>
            </a:xfrm>
            <a:custGeom>
              <a:avLst/>
              <a:gdLst/>
              <a:ahLst/>
              <a:cxnLst/>
              <a:rect l="0" t="0" r="0" b="0"/>
              <a:pathLst>
                <a:path w="1597" h="47">
                  <a:moveTo>
                    <a:pt x="0" y="24"/>
                  </a:moveTo>
                  <a:lnTo>
                    <a:pt x="1597" y="22"/>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568" name="path"/>
            <p:cNvSpPr/>
            <p:nvPr/>
          </p:nvSpPr>
          <p:spPr>
            <a:xfrm>
              <a:off x="1387512" y="2049321"/>
              <a:ext cx="85789" cy="85725"/>
            </a:xfrm>
            <a:custGeom>
              <a:avLst/>
              <a:gdLst/>
              <a:ahLst/>
              <a:cxnLst/>
              <a:rect l="0" t="0" r="0" b="0"/>
              <a:pathLst>
                <a:path w="135" h="135">
                  <a:moveTo>
                    <a:pt x="0" y="135"/>
                  </a:moveTo>
                  <a:lnTo>
                    <a:pt x="135" y="67"/>
                  </a:lnTo>
                  <a:lnTo>
                    <a:pt x="0" y="0"/>
                  </a:lnTo>
                  <a:lnTo>
                    <a:pt x="0" y="135"/>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70" name="path"/>
            <p:cNvSpPr/>
            <p:nvPr/>
          </p:nvSpPr>
          <p:spPr>
            <a:xfrm>
              <a:off x="427012" y="205915"/>
              <a:ext cx="1032506" cy="639130"/>
            </a:xfrm>
            <a:custGeom>
              <a:avLst/>
              <a:gdLst/>
              <a:ahLst/>
              <a:cxnLst/>
              <a:rect l="0" t="0" r="0" b="0"/>
              <a:pathLst>
                <a:path w="1625" h="1006">
                  <a:moveTo>
                    <a:pt x="11" y="19"/>
                  </a:moveTo>
                  <a:lnTo>
                    <a:pt x="1614" y="987"/>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572" name="path"/>
            <p:cNvSpPr/>
            <p:nvPr/>
          </p:nvSpPr>
          <p:spPr>
            <a:xfrm>
              <a:off x="1381053" y="766580"/>
              <a:ext cx="95539" cy="81008"/>
            </a:xfrm>
            <a:custGeom>
              <a:avLst/>
              <a:gdLst/>
              <a:ahLst/>
              <a:cxnLst/>
              <a:rect l="0" t="0" r="0" b="0"/>
              <a:pathLst>
                <a:path w="150" h="127">
                  <a:moveTo>
                    <a:pt x="69" y="0"/>
                  </a:moveTo>
                  <a:lnTo>
                    <a:pt x="150" y="127"/>
                  </a:lnTo>
                  <a:lnTo>
                    <a:pt x="0" y="115"/>
                  </a:lnTo>
                  <a:lnTo>
                    <a:pt x="69" y="0"/>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74" name="path"/>
            <p:cNvSpPr/>
            <p:nvPr/>
          </p:nvSpPr>
          <p:spPr>
            <a:xfrm>
              <a:off x="423443" y="208973"/>
              <a:ext cx="1044174" cy="1239444"/>
            </a:xfrm>
            <a:custGeom>
              <a:avLst/>
              <a:gdLst/>
              <a:ahLst/>
              <a:cxnLst/>
              <a:rect l="0" t="0" r="0" b="0"/>
              <a:pathLst>
                <a:path w="1644" h="1951">
                  <a:moveTo>
                    <a:pt x="17" y="14"/>
                  </a:moveTo>
                  <a:lnTo>
                    <a:pt x="1627" y="1937"/>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576" name="path"/>
            <p:cNvSpPr/>
            <p:nvPr/>
          </p:nvSpPr>
          <p:spPr>
            <a:xfrm>
              <a:off x="1387111" y="1367911"/>
              <a:ext cx="87893" cy="93245"/>
            </a:xfrm>
            <a:custGeom>
              <a:avLst/>
              <a:gdLst/>
              <a:ahLst/>
              <a:cxnLst/>
              <a:rect l="0" t="0" r="0" b="0"/>
              <a:pathLst>
                <a:path w="138" h="146">
                  <a:moveTo>
                    <a:pt x="103" y="0"/>
                  </a:moveTo>
                  <a:lnTo>
                    <a:pt x="138" y="146"/>
                  </a:lnTo>
                  <a:lnTo>
                    <a:pt x="0" y="86"/>
                  </a:lnTo>
                  <a:lnTo>
                    <a:pt x="103" y="0"/>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78" name="path"/>
            <p:cNvSpPr/>
            <p:nvPr/>
          </p:nvSpPr>
          <p:spPr>
            <a:xfrm>
              <a:off x="421903" y="211217"/>
              <a:ext cx="1050154" cy="1862908"/>
            </a:xfrm>
            <a:custGeom>
              <a:avLst/>
              <a:gdLst/>
              <a:ahLst/>
              <a:cxnLst/>
              <a:rect l="0" t="0" r="0" b="0"/>
              <a:pathLst>
                <a:path w="1653" h="2933">
                  <a:moveTo>
                    <a:pt x="19" y="10"/>
                  </a:moveTo>
                  <a:lnTo>
                    <a:pt x="1634" y="2922"/>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580" name="path"/>
            <p:cNvSpPr/>
            <p:nvPr/>
          </p:nvSpPr>
          <p:spPr>
            <a:xfrm>
              <a:off x="1394364" y="1996432"/>
              <a:ext cx="79052" cy="95756"/>
            </a:xfrm>
            <a:custGeom>
              <a:avLst/>
              <a:gdLst/>
              <a:ahLst/>
              <a:cxnLst/>
              <a:rect l="0" t="0" r="0" b="0"/>
              <a:pathLst>
                <a:path w="124" h="150">
                  <a:moveTo>
                    <a:pt x="118" y="0"/>
                  </a:moveTo>
                  <a:lnTo>
                    <a:pt x="124" y="150"/>
                  </a:lnTo>
                  <a:lnTo>
                    <a:pt x="0" y="65"/>
                  </a:lnTo>
                  <a:lnTo>
                    <a:pt x="118" y="0"/>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82" name="path"/>
            <p:cNvSpPr/>
            <p:nvPr/>
          </p:nvSpPr>
          <p:spPr>
            <a:xfrm>
              <a:off x="425635" y="218969"/>
              <a:ext cx="1034935" cy="642258"/>
            </a:xfrm>
            <a:custGeom>
              <a:avLst/>
              <a:gdLst/>
              <a:ahLst/>
              <a:cxnLst/>
              <a:rect l="0" t="0" r="0" b="0"/>
              <a:pathLst>
                <a:path w="1629" h="1011">
                  <a:moveTo>
                    <a:pt x="11" y="992"/>
                  </a:moveTo>
                  <a:lnTo>
                    <a:pt x="1618" y="19"/>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584" name="path"/>
            <p:cNvSpPr/>
            <p:nvPr/>
          </p:nvSpPr>
          <p:spPr>
            <a:xfrm>
              <a:off x="1382081" y="216387"/>
              <a:ext cx="95529" cy="81070"/>
            </a:xfrm>
            <a:custGeom>
              <a:avLst/>
              <a:gdLst/>
              <a:ahLst/>
              <a:cxnLst/>
              <a:rect l="0" t="0" r="0" b="0"/>
              <a:pathLst>
                <a:path w="150" h="127">
                  <a:moveTo>
                    <a:pt x="69" y="127"/>
                  </a:moveTo>
                  <a:lnTo>
                    <a:pt x="150" y="0"/>
                  </a:lnTo>
                  <a:lnTo>
                    <a:pt x="0" y="12"/>
                  </a:lnTo>
                  <a:lnTo>
                    <a:pt x="69" y="127"/>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86" name="path"/>
            <p:cNvSpPr/>
            <p:nvPr/>
          </p:nvSpPr>
          <p:spPr>
            <a:xfrm>
              <a:off x="425794" y="836690"/>
              <a:ext cx="1032043" cy="622924"/>
            </a:xfrm>
            <a:custGeom>
              <a:avLst/>
              <a:gdLst/>
              <a:ahLst/>
              <a:cxnLst/>
              <a:rect l="0" t="0" r="0" b="0"/>
              <a:pathLst>
                <a:path w="1625" h="980">
                  <a:moveTo>
                    <a:pt x="11" y="19"/>
                  </a:moveTo>
                  <a:lnTo>
                    <a:pt x="1613" y="961"/>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588" name="path"/>
            <p:cNvSpPr/>
            <p:nvPr/>
          </p:nvSpPr>
          <p:spPr>
            <a:xfrm>
              <a:off x="1379608" y="1381382"/>
              <a:ext cx="95622" cy="80398"/>
            </a:xfrm>
            <a:custGeom>
              <a:avLst/>
              <a:gdLst/>
              <a:ahLst/>
              <a:cxnLst/>
              <a:rect l="0" t="0" r="0" b="0"/>
              <a:pathLst>
                <a:path w="150" h="126">
                  <a:moveTo>
                    <a:pt x="68" y="0"/>
                  </a:moveTo>
                  <a:lnTo>
                    <a:pt x="150" y="126"/>
                  </a:lnTo>
                  <a:lnTo>
                    <a:pt x="0" y="116"/>
                  </a:lnTo>
                  <a:lnTo>
                    <a:pt x="68" y="0"/>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90" name="path"/>
            <p:cNvSpPr/>
            <p:nvPr/>
          </p:nvSpPr>
          <p:spPr>
            <a:xfrm>
              <a:off x="422081" y="839834"/>
              <a:ext cx="1044174" cy="1239444"/>
            </a:xfrm>
            <a:custGeom>
              <a:avLst/>
              <a:gdLst/>
              <a:ahLst/>
              <a:cxnLst/>
              <a:rect l="0" t="0" r="0" b="0"/>
              <a:pathLst>
                <a:path w="1644" h="1951">
                  <a:moveTo>
                    <a:pt x="17" y="14"/>
                  </a:moveTo>
                  <a:lnTo>
                    <a:pt x="1627" y="1937"/>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592" name="path"/>
            <p:cNvSpPr/>
            <p:nvPr/>
          </p:nvSpPr>
          <p:spPr>
            <a:xfrm>
              <a:off x="1385748" y="1998772"/>
              <a:ext cx="87894" cy="93245"/>
            </a:xfrm>
            <a:custGeom>
              <a:avLst/>
              <a:gdLst/>
              <a:ahLst/>
              <a:cxnLst/>
              <a:rect l="0" t="0" r="0" b="0"/>
              <a:pathLst>
                <a:path w="138" h="146">
                  <a:moveTo>
                    <a:pt x="103" y="0"/>
                  </a:moveTo>
                  <a:lnTo>
                    <a:pt x="138" y="146"/>
                  </a:lnTo>
                  <a:lnTo>
                    <a:pt x="0" y="86"/>
                  </a:lnTo>
                  <a:lnTo>
                    <a:pt x="103" y="0"/>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94" name="path"/>
            <p:cNvSpPr/>
            <p:nvPr/>
          </p:nvSpPr>
          <p:spPr>
            <a:xfrm>
              <a:off x="420733" y="229292"/>
              <a:ext cx="1049675" cy="1242674"/>
            </a:xfrm>
            <a:custGeom>
              <a:avLst/>
              <a:gdLst/>
              <a:ahLst/>
              <a:cxnLst/>
              <a:rect l="0" t="0" r="0" b="0"/>
              <a:pathLst>
                <a:path w="1653" h="1956">
                  <a:moveTo>
                    <a:pt x="17" y="1942"/>
                  </a:moveTo>
                  <a:lnTo>
                    <a:pt x="1635" y="14"/>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596" name="path"/>
            <p:cNvSpPr/>
            <p:nvPr/>
          </p:nvSpPr>
          <p:spPr>
            <a:xfrm>
              <a:off x="1389892" y="216593"/>
              <a:ext cx="87946" cy="93215"/>
            </a:xfrm>
            <a:custGeom>
              <a:avLst/>
              <a:gdLst/>
              <a:ahLst/>
              <a:cxnLst/>
              <a:rect l="0" t="0" r="0" b="0"/>
              <a:pathLst>
                <a:path w="138" h="146">
                  <a:moveTo>
                    <a:pt x="103" y="146"/>
                  </a:moveTo>
                  <a:lnTo>
                    <a:pt x="138" y="0"/>
                  </a:lnTo>
                  <a:lnTo>
                    <a:pt x="0" y="59"/>
                  </a:lnTo>
                  <a:lnTo>
                    <a:pt x="103" y="146"/>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598" name="path"/>
            <p:cNvSpPr/>
            <p:nvPr/>
          </p:nvSpPr>
          <p:spPr>
            <a:xfrm>
              <a:off x="424426" y="849813"/>
              <a:ext cx="1034452" cy="625278"/>
            </a:xfrm>
            <a:custGeom>
              <a:avLst/>
              <a:gdLst/>
              <a:ahLst/>
              <a:cxnLst/>
              <a:rect l="0" t="0" r="0" b="0"/>
              <a:pathLst>
                <a:path w="1629" h="984">
                  <a:moveTo>
                    <a:pt x="11" y="965"/>
                  </a:moveTo>
                  <a:lnTo>
                    <a:pt x="1617" y="19"/>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600" name="path"/>
            <p:cNvSpPr/>
            <p:nvPr/>
          </p:nvSpPr>
          <p:spPr>
            <a:xfrm>
              <a:off x="1380633" y="847624"/>
              <a:ext cx="95618" cy="80435"/>
            </a:xfrm>
            <a:custGeom>
              <a:avLst/>
              <a:gdLst/>
              <a:ahLst/>
              <a:cxnLst/>
              <a:rect l="0" t="0" r="0" b="0"/>
              <a:pathLst>
                <a:path w="150" h="126">
                  <a:moveTo>
                    <a:pt x="68" y="126"/>
                  </a:moveTo>
                  <a:lnTo>
                    <a:pt x="150" y="0"/>
                  </a:lnTo>
                  <a:lnTo>
                    <a:pt x="0" y="10"/>
                  </a:lnTo>
                  <a:lnTo>
                    <a:pt x="68" y="126"/>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602" name="path"/>
            <p:cNvSpPr/>
            <p:nvPr/>
          </p:nvSpPr>
          <p:spPr>
            <a:xfrm>
              <a:off x="424289" y="1450550"/>
              <a:ext cx="1032506" cy="639130"/>
            </a:xfrm>
            <a:custGeom>
              <a:avLst/>
              <a:gdLst/>
              <a:ahLst/>
              <a:cxnLst/>
              <a:rect l="0" t="0" r="0" b="0"/>
              <a:pathLst>
                <a:path w="1625" h="1006">
                  <a:moveTo>
                    <a:pt x="11" y="19"/>
                  </a:moveTo>
                  <a:lnTo>
                    <a:pt x="1614" y="987"/>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604" name="path"/>
            <p:cNvSpPr/>
            <p:nvPr/>
          </p:nvSpPr>
          <p:spPr>
            <a:xfrm>
              <a:off x="1378330" y="2011216"/>
              <a:ext cx="95539" cy="81008"/>
            </a:xfrm>
            <a:custGeom>
              <a:avLst/>
              <a:gdLst/>
              <a:ahLst/>
              <a:cxnLst/>
              <a:rect l="0" t="0" r="0" b="0"/>
              <a:pathLst>
                <a:path w="150" h="127">
                  <a:moveTo>
                    <a:pt x="69" y="0"/>
                  </a:moveTo>
                  <a:lnTo>
                    <a:pt x="150" y="127"/>
                  </a:lnTo>
                  <a:lnTo>
                    <a:pt x="0" y="115"/>
                  </a:lnTo>
                  <a:lnTo>
                    <a:pt x="69" y="0"/>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606" name="path"/>
            <p:cNvSpPr/>
            <p:nvPr/>
          </p:nvSpPr>
          <p:spPr>
            <a:xfrm>
              <a:off x="417836" y="234418"/>
              <a:ext cx="1057993" cy="1866181"/>
            </a:xfrm>
            <a:custGeom>
              <a:avLst/>
              <a:gdLst/>
              <a:ahLst/>
              <a:cxnLst/>
              <a:rect l="0" t="0" r="0" b="0"/>
              <a:pathLst>
                <a:path w="1666" h="2938">
                  <a:moveTo>
                    <a:pt x="19" y="2927"/>
                  </a:moveTo>
                  <a:lnTo>
                    <a:pt x="1646" y="10"/>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608" name="path"/>
            <p:cNvSpPr/>
            <p:nvPr/>
          </p:nvSpPr>
          <p:spPr>
            <a:xfrm>
              <a:off x="1398081" y="216421"/>
              <a:ext cx="79189" cy="95746"/>
            </a:xfrm>
            <a:custGeom>
              <a:avLst/>
              <a:gdLst/>
              <a:ahLst/>
              <a:cxnLst/>
              <a:rect l="0" t="0" r="0" b="0"/>
              <a:pathLst>
                <a:path w="124" h="150">
                  <a:moveTo>
                    <a:pt x="117" y="150"/>
                  </a:moveTo>
                  <a:lnTo>
                    <a:pt x="124" y="0"/>
                  </a:lnTo>
                  <a:lnTo>
                    <a:pt x="0" y="85"/>
                  </a:lnTo>
                  <a:lnTo>
                    <a:pt x="117" y="150"/>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610" name="path"/>
            <p:cNvSpPr/>
            <p:nvPr/>
          </p:nvSpPr>
          <p:spPr>
            <a:xfrm>
              <a:off x="419372" y="860152"/>
              <a:ext cx="1049675" cy="1242674"/>
            </a:xfrm>
            <a:custGeom>
              <a:avLst/>
              <a:gdLst/>
              <a:ahLst/>
              <a:cxnLst/>
              <a:rect l="0" t="0" r="0" b="0"/>
              <a:pathLst>
                <a:path w="1653" h="1956">
                  <a:moveTo>
                    <a:pt x="17" y="1942"/>
                  </a:moveTo>
                  <a:lnTo>
                    <a:pt x="1635" y="14"/>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612" name="path"/>
            <p:cNvSpPr/>
            <p:nvPr/>
          </p:nvSpPr>
          <p:spPr>
            <a:xfrm>
              <a:off x="1388531" y="847452"/>
              <a:ext cx="87946" cy="93215"/>
            </a:xfrm>
            <a:custGeom>
              <a:avLst/>
              <a:gdLst/>
              <a:ahLst/>
              <a:cxnLst/>
              <a:rect l="0" t="0" r="0" b="0"/>
              <a:pathLst>
                <a:path w="138" h="146">
                  <a:moveTo>
                    <a:pt x="103" y="146"/>
                  </a:moveTo>
                  <a:lnTo>
                    <a:pt x="138" y="0"/>
                  </a:lnTo>
                  <a:lnTo>
                    <a:pt x="0" y="59"/>
                  </a:lnTo>
                  <a:lnTo>
                    <a:pt x="103" y="146"/>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614" name="path"/>
            <p:cNvSpPr/>
            <p:nvPr/>
          </p:nvSpPr>
          <p:spPr>
            <a:xfrm>
              <a:off x="422913" y="1463603"/>
              <a:ext cx="1034935" cy="642257"/>
            </a:xfrm>
            <a:custGeom>
              <a:avLst/>
              <a:gdLst/>
              <a:ahLst/>
              <a:cxnLst/>
              <a:rect l="0" t="0" r="0" b="0"/>
              <a:pathLst>
                <a:path w="1629" h="1011">
                  <a:moveTo>
                    <a:pt x="11" y="992"/>
                  </a:moveTo>
                  <a:lnTo>
                    <a:pt x="1618" y="19"/>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616" name="path"/>
            <p:cNvSpPr/>
            <p:nvPr/>
          </p:nvSpPr>
          <p:spPr>
            <a:xfrm>
              <a:off x="1379360" y="1461021"/>
              <a:ext cx="95529" cy="81070"/>
            </a:xfrm>
            <a:custGeom>
              <a:avLst/>
              <a:gdLst/>
              <a:ahLst/>
              <a:cxnLst/>
              <a:rect l="0" t="0" r="0" b="0"/>
              <a:pathLst>
                <a:path w="150" h="127">
                  <a:moveTo>
                    <a:pt x="69" y="127"/>
                  </a:moveTo>
                  <a:lnTo>
                    <a:pt x="150" y="0"/>
                  </a:lnTo>
                  <a:lnTo>
                    <a:pt x="0" y="12"/>
                  </a:lnTo>
                  <a:lnTo>
                    <a:pt x="69" y="127"/>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618" name="path"/>
            <p:cNvSpPr/>
            <p:nvPr/>
          </p:nvSpPr>
          <p:spPr>
            <a:xfrm>
              <a:off x="1897146" y="204658"/>
              <a:ext cx="996619" cy="638505"/>
            </a:xfrm>
            <a:custGeom>
              <a:avLst/>
              <a:gdLst/>
              <a:ahLst/>
              <a:cxnLst/>
              <a:rect l="0" t="0" r="0" b="0"/>
              <a:pathLst>
                <a:path w="1569" h="1005">
                  <a:moveTo>
                    <a:pt x="11" y="19"/>
                  </a:moveTo>
                  <a:lnTo>
                    <a:pt x="1557" y="986"/>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620" name="path"/>
            <p:cNvSpPr/>
            <p:nvPr/>
          </p:nvSpPr>
          <p:spPr>
            <a:xfrm>
              <a:off x="2815001" y="764398"/>
              <a:ext cx="95405" cy="81813"/>
            </a:xfrm>
            <a:custGeom>
              <a:avLst/>
              <a:gdLst/>
              <a:ahLst/>
              <a:cxnLst/>
              <a:rect l="0" t="0" r="0" b="0"/>
              <a:pathLst>
                <a:path w="150" h="128">
                  <a:moveTo>
                    <a:pt x="71" y="0"/>
                  </a:moveTo>
                  <a:lnTo>
                    <a:pt x="150" y="128"/>
                  </a:lnTo>
                  <a:lnTo>
                    <a:pt x="0" y="114"/>
                  </a:lnTo>
                  <a:lnTo>
                    <a:pt x="71" y="0"/>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622" name="path"/>
            <p:cNvSpPr/>
            <p:nvPr/>
          </p:nvSpPr>
          <p:spPr>
            <a:xfrm>
              <a:off x="1892656" y="209123"/>
              <a:ext cx="1012941" cy="1576270"/>
            </a:xfrm>
            <a:custGeom>
              <a:avLst/>
              <a:gdLst/>
              <a:ahLst/>
              <a:cxnLst/>
              <a:rect l="0" t="0" r="0" b="0"/>
              <a:pathLst>
                <a:path w="1595" h="2482">
                  <a:moveTo>
                    <a:pt x="19" y="12"/>
                  </a:moveTo>
                  <a:lnTo>
                    <a:pt x="1576" y="2470"/>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624" name="path"/>
            <p:cNvSpPr/>
            <p:nvPr/>
          </p:nvSpPr>
          <p:spPr>
            <a:xfrm>
              <a:off x="2826737" y="1706531"/>
              <a:ext cx="82082" cy="95355"/>
            </a:xfrm>
            <a:custGeom>
              <a:avLst/>
              <a:gdLst/>
              <a:ahLst/>
              <a:cxnLst/>
              <a:rect l="0" t="0" r="0" b="0"/>
              <a:pathLst>
                <a:path w="129" h="150">
                  <a:moveTo>
                    <a:pt x="114" y="0"/>
                  </a:moveTo>
                  <a:lnTo>
                    <a:pt x="129" y="150"/>
                  </a:lnTo>
                  <a:lnTo>
                    <a:pt x="0" y="72"/>
                  </a:lnTo>
                  <a:lnTo>
                    <a:pt x="114" y="0"/>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626" name="path"/>
            <p:cNvSpPr/>
            <p:nvPr/>
          </p:nvSpPr>
          <p:spPr>
            <a:xfrm>
              <a:off x="1903340" y="831798"/>
              <a:ext cx="977944" cy="30117"/>
            </a:xfrm>
            <a:custGeom>
              <a:avLst/>
              <a:gdLst/>
              <a:ahLst/>
              <a:cxnLst/>
              <a:rect l="0" t="0" r="0" b="0"/>
              <a:pathLst>
                <a:path w="1540" h="47">
                  <a:moveTo>
                    <a:pt x="0" y="24"/>
                  </a:moveTo>
                  <a:lnTo>
                    <a:pt x="1540" y="22"/>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628" name="path"/>
            <p:cNvSpPr/>
            <p:nvPr/>
          </p:nvSpPr>
          <p:spPr>
            <a:xfrm>
              <a:off x="2824046" y="803314"/>
              <a:ext cx="85792" cy="85725"/>
            </a:xfrm>
            <a:custGeom>
              <a:avLst/>
              <a:gdLst/>
              <a:ahLst/>
              <a:cxnLst/>
              <a:rect l="0" t="0" r="0" b="0"/>
              <a:pathLst>
                <a:path w="135" h="135">
                  <a:moveTo>
                    <a:pt x="0" y="135"/>
                  </a:moveTo>
                  <a:lnTo>
                    <a:pt x="135" y="67"/>
                  </a:lnTo>
                  <a:lnTo>
                    <a:pt x="0" y="0"/>
                  </a:lnTo>
                  <a:lnTo>
                    <a:pt x="0" y="135"/>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630" name="path"/>
            <p:cNvSpPr/>
            <p:nvPr/>
          </p:nvSpPr>
          <p:spPr>
            <a:xfrm>
              <a:off x="1893529" y="837263"/>
              <a:ext cx="1004617" cy="955151"/>
            </a:xfrm>
            <a:custGeom>
              <a:avLst/>
              <a:gdLst/>
              <a:ahLst/>
              <a:cxnLst/>
              <a:rect l="0" t="0" r="0" b="0"/>
              <a:pathLst>
                <a:path w="1582" h="1504">
                  <a:moveTo>
                    <a:pt x="15" y="16"/>
                  </a:moveTo>
                  <a:lnTo>
                    <a:pt x="1566" y="1487"/>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632" name="path"/>
            <p:cNvSpPr/>
            <p:nvPr/>
          </p:nvSpPr>
          <p:spPr>
            <a:xfrm>
              <a:off x="2817354" y="1711620"/>
              <a:ext cx="91690" cy="90094"/>
            </a:xfrm>
            <a:custGeom>
              <a:avLst/>
              <a:gdLst/>
              <a:ahLst/>
              <a:cxnLst/>
              <a:rect l="0" t="0" r="0" b="0"/>
              <a:pathLst>
                <a:path w="144" h="141">
                  <a:moveTo>
                    <a:pt x="92" y="0"/>
                  </a:moveTo>
                  <a:lnTo>
                    <a:pt x="144" y="141"/>
                  </a:lnTo>
                  <a:lnTo>
                    <a:pt x="0" y="97"/>
                  </a:lnTo>
                  <a:lnTo>
                    <a:pt x="92" y="0"/>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634" name="path"/>
            <p:cNvSpPr/>
            <p:nvPr/>
          </p:nvSpPr>
          <p:spPr>
            <a:xfrm>
              <a:off x="1894561" y="848936"/>
              <a:ext cx="998554" cy="624663"/>
            </a:xfrm>
            <a:custGeom>
              <a:avLst/>
              <a:gdLst/>
              <a:ahLst/>
              <a:cxnLst/>
              <a:rect l="0" t="0" r="0" b="0"/>
              <a:pathLst>
                <a:path w="1572" h="983">
                  <a:moveTo>
                    <a:pt x="11" y="964"/>
                  </a:moveTo>
                  <a:lnTo>
                    <a:pt x="1560" y="19"/>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636" name="path"/>
            <p:cNvSpPr/>
            <p:nvPr/>
          </p:nvSpPr>
          <p:spPr>
            <a:xfrm>
              <a:off x="2814563" y="846247"/>
              <a:ext cx="95502" cy="81242"/>
            </a:xfrm>
            <a:custGeom>
              <a:avLst/>
              <a:gdLst/>
              <a:ahLst/>
              <a:cxnLst/>
              <a:rect l="0" t="0" r="0" b="0"/>
              <a:pathLst>
                <a:path w="150" h="127">
                  <a:moveTo>
                    <a:pt x="70" y="127"/>
                  </a:moveTo>
                  <a:lnTo>
                    <a:pt x="150" y="0"/>
                  </a:lnTo>
                  <a:lnTo>
                    <a:pt x="0" y="12"/>
                  </a:lnTo>
                  <a:lnTo>
                    <a:pt x="70" y="127"/>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638" name="path"/>
            <p:cNvSpPr/>
            <p:nvPr/>
          </p:nvSpPr>
          <p:spPr>
            <a:xfrm>
              <a:off x="1897424" y="1447870"/>
              <a:ext cx="988564" cy="358428"/>
            </a:xfrm>
            <a:custGeom>
              <a:avLst/>
              <a:gdLst/>
              <a:ahLst/>
              <a:cxnLst/>
              <a:rect l="0" t="0" r="0" b="0"/>
              <a:pathLst>
                <a:path w="1556" h="564">
                  <a:moveTo>
                    <a:pt x="7" y="21"/>
                  </a:moveTo>
                  <a:lnTo>
                    <a:pt x="1549" y="543"/>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640" name="path"/>
            <p:cNvSpPr/>
            <p:nvPr/>
          </p:nvSpPr>
          <p:spPr>
            <a:xfrm>
              <a:off x="2813538" y="1733848"/>
              <a:ext cx="94940" cy="81202"/>
            </a:xfrm>
            <a:custGeom>
              <a:avLst/>
              <a:gdLst/>
              <a:ahLst/>
              <a:cxnLst/>
              <a:rect l="0" t="0" r="0" b="0"/>
              <a:pathLst>
                <a:path w="149" h="127">
                  <a:moveTo>
                    <a:pt x="43" y="0"/>
                  </a:moveTo>
                  <a:lnTo>
                    <a:pt x="149" y="107"/>
                  </a:lnTo>
                  <a:lnTo>
                    <a:pt x="0" y="127"/>
                  </a:lnTo>
                  <a:lnTo>
                    <a:pt x="43" y="0"/>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642" name="path"/>
            <p:cNvSpPr/>
            <p:nvPr/>
          </p:nvSpPr>
          <p:spPr>
            <a:xfrm>
              <a:off x="1889541" y="859284"/>
              <a:ext cx="1013863" cy="1241973"/>
            </a:xfrm>
            <a:custGeom>
              <a:avLst/>
              <a:gdLst/>
              <a:ahLst/>
              <a:cxnLst/>
              <a:rect l="0" t="0" r="0" b="0"/>
              <a:pathLst>
                <a:path w="1596" h="1955">
                  <a:moveTo>
                    <a:pt x="17" y="1941"/>
                  </a:moveTo>
                  <a:lnTo>
                    <a:pt x="1579" y="14"/>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644" name="path"/>
            <p:cNvSpPr/>
            <p:nvPr/>
          </p:nvSpPr>
          <p:spPr>
            <a:xfrm>
              <a:off x="2823024" y="846076"/>
              <a:ext cx="87267" cy="93590"/>
            </a:xfrm>
            <a:custGeom>
              <a:avLst/>
              <a:gdLst/>
              <a:ahLst/>
              <a:cxnLst/>
              <a:rect l="0" t="0" r="0" b="0"/>
              <a:pathLst>
                <a:path w="137" h="147">
                  <a:moveTo>
                    <a:pt x="104" y="147"/>
                  </a:moveTo>
                  <a:lnTo>
                    <a:pt x="137" y="0"/>
                  </a:lnTo>
                  <a:lnTo>
                    <a:pt x="0" y="62"/>
                  </a:lnTo>
                  <a:lnTo>
                    <a:pt x="104" y="147"/>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646" name="path"/>
            <p:cNvSpPr/>
            <p:nvPr/>
          </p:nvSpPr>
          <p:spPr>
            <a:xfrm>
              <a:off x="1896686" y="1795935"/>
              <a:ext cx="988517" cy="310057"/>
            </a:xfrm>
            <a:custGeom>
              <a:avLst/>
              <a:gdLst/>
              <a:ahLst/>
              <a:cxnLst/>
              <a:rect l="0" t="0" r="0" b="0"/>
              <a:pathLst>
                <a:path w="1556" h="488">
                  <a:moveTo>
                    <a:pt x="6" y="466"/>
                  </a:moveTo>
                  <a:lnTo>
                    <a:pt x="1550" y="21"/>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648" name="path"/>
            <p:cNvSpPr/>
            <p:nvPr/>
          </p:nvSpPr>
          <p:spPr>
            <a:xfrm>
              <a:off x="2814463" y="1784304"/>
              <a:ext cx="94241" cy="82372"/>
            </a:xfrm>
            <a:custGeom>
              <a:avLst/>
              <a:gdLst/>
              <a:ahLst/>
              <a:cxnLst/>
              <a:rect l="0" t="0" r="0" b="0"/>
              <a:pathLst>
                <a:path w="148" h="129">
                  <a:moveTo>
                    <a:pt x="37" y="129"/>
                  </a:moveTo>
                  <a:lnTo>
                    <a:pt x="148" y="27"/>
                  </a:lnTo>
                  <a:lnTo>
                    <a:pt x="0" y="0"/>
                  </a:lnTo>
                  <a:lnTo>
                    <a:pt x="37" y="129"/>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650" name="path"/>
            <p:cNvSpPr/>
            <p:nvPr/>
          </p:nvSpPr>
          <p:spPr>
            <a:xfrm>
              <a:off x="3329703" y="834089"/>
              <a:ext cx="790758" cy="502259"/>
            </a:xfrm>
            <a:custGeom>
              <a:avLst/>
              <a:gdLst/>
              <a:ahLst/>
              <a:cxnLst/>
              <a:rect l="0" t="0" r="0" b="0"/>
              <a:pathLst>
                <a:path w="1245" h="790">
                  <a:moveTo>
                    <a:pt x="11" y="19"/>
                  </a:moveTo>
                  <a:lnTo>
                    <a:pt x="1233" y="771"/>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652" name="path"/>
            <p:cNvSpPr/>
            <p:nvPr/>
          </p:nvSpPr>
          <p:spPr>
            <a:xfrm>
              <a:off x="4041830" y="1257713"/>
              <a:ext cx="95467" cy="81457"/>
            </a:xfrm>
            <a:custGeom>
              <a:avLst/>
              <a:gdLst/>
              <a:ahLst/>
              <a:cxnLst/>
              <a:rect l="0" t="0" r="0" b="0"/>
              <a:pathLst>
                <a:path w="150" h="128">
                  <a:moveTo>
                    <a:pt x="70" y="0"/>
                  </a:moveTo>
                  <a:lnTo>
                    <a:pt x="150" y="128"/>
                  </a:lnTo>
                  <a:lnTo>
                    <a:pt x="0" y="114"/>
                  </a:lnTo>
                  <a:lnTo>
                    <a:pt x="70" y="0"/>
                  </a:lnTo>
                  <a:close/>
                </a:path>
              </a:pathLst>
            </a:custGeom>
            <a:solidFill>
              <a:srgbClr val="919191">
                <a:alpha val="100000"/>
              </a:srgbClr>
            </a:solidFill>
            <a:ln cap="flat">
              <a:noFill/>
              <a:prstDash val="solid"/>
              <a:miter lim="0"/>
            </a:ln>
          </p:spPr>
          <p:txBody>
            <a:bodyPr rtlCol="0"/>
            <a:lstStyle/>
            <a:p>
              <a:pPr algn="ctr"/>
              <a:endParaRPr lang="zh-CN" altLang="en-US" sz="1350"/>
            </a:p>
          </p:txBody>
        </p:sp>
        <p:sp>
          <p:nvSpPr>
            <p:cNvPr id="654" name="path"/>
            <p:cNvSpPr/>
            <p:nvPr/>
          </p:nvSpPr>
          <p:spPr>
            <a:xfrm>
              <a:off x="3328691" y="1340935"/>
              <a:ext cx="791224" cy="473218"/>
            </a:xfrm>
            <a:custGeom>
              <a:avLst/>
              <a:gdLst/>
              <a:ahLst/>
              <a:cxnLst/>
              <a:rect l="0" t="0" r="0" b="0"/>
              <a:pathLst>
                <a:path w="1246" h="745">
                  <a:moveTo>
                    <a:pt x="11" y="725"/>
                  </a:moveTo>
                  <a:lnTo>
                    <a:pt x="1234" y="19"/>
                  </a:lnTo>
                </a:path>
              </a:pathLst>
            </a:custGeom>
            <a:noFill/>
            <a:ln w="28574" cap="flat">
              <a:solidFill>
                <a:srgbClr val="919191">
                  <a:alpha val="100000"/>
                </a:srgbClr>
              </a:solidFill>
              <a:prstDash val="solid"/>
              <a:miter lim="800000"/>
            </a:ln>
          </p:spPr>
          <p:txBody>
            <a:bodyPr rtlCol="0"/>
            <a:lstStyle/>
            <a:p>
              <a:pPr algn="ctr"/>
              <a:endParaRPr lang="zh-CN" altLang="en-US" sz="1350"/>
            </a:p>
          </p:txBody>
        </p:sp>
        <p:sp>
          <p:nvSpPr>
            <p:cNvPr id="656" name="path"/>
            <p:cNvSpPr/>
            <p:nvPr/>
          </p:nvSpPr>
          <p:spPr>
            <a:xfrm>
              <a:off x="4041850" y="1339024"/>
              <a:ext cx="95671" cy="79978"/>
            </a:xfrm>
            <a:custGeom>
              <a:avLst/>
              <a:gdLst/>
              <a:ahLst/>
              <a:cxnLst/>
              <a:rect l="0" t="0" r="0" b="0"/>
              <a:pathLst>
                <a:path w="150" h="125">
                  <a:moveTo>
                    <a:pt x="67" y="125"/>
                  </a:moveTo>
                  <a:lnTo>
                    <a:pt x="150" y="0"/>
                  </a:lnTo>
                  <a:lnTo>
                    <a:pt x="0" y="9"/>
                  </a:lnTo>
                  <a:lnTo>
                    <a:pt x="67" y="125"/>
                  </a:lnTo>
                  <a:close/>
                </a:path>
              </a:pathLst>
            </a:custGeom>
            <a:solidFill>
              <a:srgbClr val="919191">
                <a:alpha val="100000"/>
              </a:srgbClr>
            </a:solidFill>
            <a:ln cap="flat">
              <a:noFill/>
              <a:prstDash val="solid"/>
              <a:miter lim="0"/>
            </a:ln>
          </p:spPr>
          <p:txBody>
            <a:bodyPr rtlCol="0"/>
            <a:lstStyle/>
            <a:p>
              <a:pPr algn="ctr"/>
              <a:endParaRPr lang="zh-CN" altLang="en-US" sz="1350"/>
            </a:p>
          </p:txBody>
        </p:sp>
      </p:grpSp>
      <p:sp>
        <p:nvSpPr>
          <p:cNvPr id="658" name="textbox 658"/>
          <p:cNvSpPr/>
          <p:nvPr/>
        </p:nvSpPr>
        <p:spPr>
          <a:xfrm>
            <a:off x="779289" y="1103683"/>
            <a:ext cx="7590949" cy="778192"/>
          </a:xfrm>
          <a:prstGeom prst="rect">
            <a:avLst/>
          </a:prstGeom>
          <a:solidFill>
            <a:srgbClr val="ECEBEB"/>
          </a:solidFill>
        </p:spPr>
        <p:txBody>
          <a:bodyPr vert="horz" wrap="square" lIns="0" tIns="0" rIns="0" bIns="0"/>
          <a:lstStyle/>
          <a:p>
            <a:pPr algn="l" rtl="0" eaLnBrk="0">
              <a:lnSpc>
                <a:spcPct val="125000"/>
              </a:lnSpc>
            </a:pPr>
            <a:endParaRPr lang="en-US" altLang="en-US" sz="750" dirty="0"/>
          </a:p>
          <a:p>
            <a:pPr marL="219710" algn="l" rtl="0" eaLnBrk="0">
              <a:lnSpc>
                <a:spcPct val="83000"/>
              </a:lnSpc>
              <a:spcBef>
                <a:spcPts val="5"/>
              </a:spcBef>
            </a:pPr>
            <a:r>
              <a:rPr sz="1650" kern="0" spc="3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神经网络</a:t>
            </a:r>
            <a:r>
              <a:rPr sz="16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是采用一种学习方法导</a:t>
            </a:r>
            <a:r>
              <a:rPr sz="16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出一种预测模型 ，这种方法使用历史项目数据</a:t>
            </a:r>
            <a:endParaRPr lang="en-US" altLang="en-US" sz="1650" dirty="0"/>
          </a:p>
          <a:p>
            <a:pPr marL="219075" algn="l" rtl="0" eaLnBrk="0">
              <a:lnSpc>
                <a:spcPts val="3100"/>
              </a:lnSpc>
            </a:pPr>
            <a:r>
              <a:rPr sz="165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训练网络 ，通过不断学习找出数据中的规律 ，再用其估算新项目的工作量。</a:t>
            </a:r>
            <a:endParaRPr lang="en-US" altLang="en-US" sz="1650" dirty="0"/>
          </a:p>
        </p:txBody>
      </p:sp>
      <p:sp>
        <p:nvSpPr>
          <p:cNvPr id="660" name="rect"/>
          <p:cNvSpPr/>
          <p:nvPr/>
        </p:nvSpPr>
        <p:spPr>
          <a:xfrm>
            <a:off x="0" y="4773201"/>
            <a:ext cx="9142961" cy="370298"/>
          </a:xfrm>
          <a:prstGeom prst="rect">
            <a:avLst/>
          </a:prstGeom>
          <a:solidFill>
            <a:srgbClr val="7A4779">
              <a:alpha val="100000"/>
            </a:srgbClr>
          </a:solidFill>
          <a:ln cap="flat">
            <a:noFill/>
            <a:prstDash val="solid"/>
            <a:miter lim="0"/>
          </a:ln>
        </p:spPr>
        <p:txBody>
          <a:bodyPr rtlCol="0"/>
          <a:lstStyle/>
          <a:p>
            <a:pPr algn="ctr"/>
            <a:endParaRPr lang="zh-CN" altLang="en-US" sz="1350"/>
          </a:p>
        </p:txBody>
      </p:sp>
      <p:sp>
        <p:nvSpPr>
          <p:cNvPr id="662" name="textbox 662"/>
          <p:cNvSpPr/>
          <p:nvPr/>
        </p:nvSpPr>
        <p:spPr>
          <a:xfrm>
            <a:off x="1700203" y="2254883"/>
            <a:ext cx="1163002" cy="1624965"/>
          </a:xfrm>
          <a:prstGeom prst="rect">
            <a:avLst/>
          </a:prstGeom>
        </p:spPr>
        <p:txBody>
          <a:bodyPr vert="horz" wrap="square" lIns="0" tIns="0" rIns="0" bIns="0"/>
          <a:lstStyle/>
          <a:p>
            <a:pPr algn="l" rtl="0" eaLnBrk="0">
              <a:lnSpc>
                <a:spcPct val="83000"/>
              </a:lnSpc>
            </a:pPr>
            <a:endParaRPr lang="en-US" altLang="en-US" sz="100" dirty="0"/>
          </a:p>
          <a:p>
            <a:pPr marL="264160" algn="l" rtl="0" eaLnBrk="0">
              <a:lnSpc>
                <a:spcPct val="82000"/>
              </a:lnSpc>
            </a:pPr>
            <a:r>
              <a:rPr sz="1500" kern="0" spc="-3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问题复杂性</a:t>
            </a:r>
            <a:endParaRPr lang="en-US" altLang="en-US" sz="1500" dirty="0"/>
          </a:p>
          <a:p>
            <a:pPr marL="12700" indent="253365" algn="r" rtl="0" eaLnBrk="0">
              <a:lnSpc>
                <a:spcPct val="206000"/>
              </a:lnSpc>
              <a:spcBef>
                <a:spcPts val="60"/>
              </a:spcBef>
            </a:pPr>
            <a:r>
              <a:rPr sz="1500"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应用新颖度</a:t>
            </a:r>
            <a:r>
              <a:rPr sz="1500" kern="0" spc="2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使用设计工具</a:t>
            </a:r>
            <a:r>
              <a:rPr sz="1500" kern="0" spc="1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3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团队规模</a:t>
            </a:r>
            <a:endParaRPr lang="en-US" altLang="en-US" sz="1500" dirty="0"/>
          </a:p>
        </p:txBody>
      </p:sp>
      <p:sp>
        <p:nvSpPr>
          <p:cNvPr id="678" name="textbox 678"/>
          <p:cNvSpPr/>
          <p:nvPr/>
        </p:nvSpPr>
        <p:spPr>
          <a:xfrm>
            <a:off x="2969223" y="4140409"/>
            <a:ext cx="3690938" cy="229553"/>
          </a:xfrm>
          <a:prstGeom prst="rect">
            <a:avLst/>
          </a:prstGeom>
        </p:spPr>
        <p:txBody>
          <a:bodyPr vert="horz" wrap="square" lIns="0" tIns="0" rIns="0" bIns="0"/>
          <a:lstStyle/>
          <a:p>
            <a:pPr algn="l" rtl="0" eaLnBrk="0">
              <a:lnSpc>
                <a:spcPct val="84000"/>
              </a:lnSpc>
            </a:pPr>
            <a:endParaRPr lang="en-US" altLang="en-US" sz="100" dirty="0"/>
          </a:p>
          <a:p>
            <a:pPr marL="12700" algn="l" rtl="0" eaLnBrk="0">
              <a:lnSpc>
                <a:spcPct val="92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输入层                   中间层</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输出层</a:t>
            </a:r>
            <a:endParaRPr lang="en-US" altLang="en-US" sz="1500" dirty="0"/>
          </a:p>
        </p:txBody>
      </p:sp>
      <p:sp>
        <p:nvSpPr>
          <p:cNvPr id="682" name="textbox 682"/>
          <p:cNvSpPr/>
          <p:nvPr/>
        </p:nvSpPr>
        <p:spPr>
          <a:xfrm>
            <a:off x="6800475" y="3075798"/>
            <a:ext cx="585311" cy="225743"/>
          </a:xfrm>
          <a:prstGeom prst="rect">
            <a:avLst/>
          </a:prstGeom>
        </p:spPr>
        <p:txBody>
          <a:bodyPr vert="horz" wrap="square" lIns="0" tIns="0" rIns="0" bIns="0"/>
          <a:lstStyle/>
          <a:p>
            <a:pPr algn="l" rtl="0" eaLnBrk="0">
              <a:lnSpc>
                <a:spcPct val="89000"/>
              </a:lnSpc>
            </a:pPr>
            <a:endParaRPr lang="en-US" altLang="en-US" sz="100" dirty="0"/>
          </a:p>
          <a:p>
            <a:pPr marL="12700" algn="l" rtl="0" eaLnBrk="0">
              <a:lnSpc>
                <a:spcPct val="90000"/>
              </a:lnSpc>
            </a:pPr>
            <a:r>
              <a:rPr sz="1500" kern="0" spc="-20" dirty="0">
                <a:solidFill>
                  <a:srgbClr val="CC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工作量</a:t>
            </a:r>
            <a:endParaRPr lang="en-US" altLang="en-US" sz="1500" dirty="0"/>
          </a:p>
        </p:txBody>
      </p:sp>
      <p:sp>
        <p:nvSpPr>
          <p:cNvPr id="3" name="标题 2"/>
          <p:cNvSpPr>
            <a:spLocks noGrp="1"/>
          </p:cNvSpPr>
          <p:nvPr>
            <p:ph type="title"/>
          </p:nvPr>
        </p:nvSpPr>
        <p:spPr/>
        <p:txBody>
          <a:bodyPr/>
          <a:p>
            <a:r>
              <a:rPr lang="zh-CN" altLang="en-US" dirty="0"/>
              <a:t>机器学习方法</a:t>
            </a:r>
            <a:endParaRPr lang="en-US" altLang="zh-CN"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 name="textbox 684"/>
          <p:cNvSpPr/>
          <p:nvPr/>
        </p:nvSpPr>
        <p:spPr>
          <a:xfrm>
            <a:off x="804131" y="1146981"/>
            <a:ext cx="7566183" cy="778192"/>
          </a:xfrm>
          <a:prstGeom prst="rect">
            <a:avLst/>
          </a:prstGeom>
          <a:solidFill>
            <a:srgbClr val="ECEBEB"/>
          </a:solidFill>
        </p:spPr>
        <p:txBody>
          <a:bodyPr vert="horz" wrap="square" lIns="0" tIns="0" rIns="0" bIns="0"/>
          <a:lstStyle/>
          <a:p>
            <a:pPr algn="l" rtl="0" eaLnBrk="0">
              <a:lnSpc>
                <a:spcPct val="125000"/>
              </a:lnSpc>
            </a:pPr>
            <a:endParaRPr lang="en-US" altLang="en-US" sz="750" dirty="0"/>
          </a:p>
          <a:p>
            <a:pPr algn="r" rtl="0" eaLnBrk="0">
              <a:lnSpc>
                <a:spcPct val="83000"/>
              </a:lnSpc>
              <a:spcBef>
                <a:spcPts val="0"/>
              </a:spcBef>
            </a:pPr>
            <a:r>
              <a:rPr sz="1650" kern="0" spc="-40" dirty="0">
                <a:solidFill>
                  <a:srgbClr val="0033CC">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基于案例的推理方法</a:t>
            </a:r>
            <a:r>
              <a:rPr sz="165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可以用于基于</a:t>
            </a:r>
            <a:r>
              <a:rPr sz="16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类推的估算 ，即识别出与新项目类似的案例 ，</a:t>
            </a:r>
            <a:endParaRPr lang="en-US" altLang="en-US" sz="1650" dirty="0"/>
          </a:p>
          <a:p>
            <a:pPr marL="221615" algn="l" rtl="0" eaLnBrk="0">
              <a:lnSpc>
                <a:spcPts val="3100"/>
              </a:lnSpc>
            </a:pPr>
            <a:r>
              <a:rPr sz="16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再调整这些案例 ，使其适合新项目</a:t>
            </a:r>
            <a:r>
              <a:rPr sz="165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的参数。</a:t>
            </a:r>
            <a:endParaRPr lang="en-US" altLang="en-US" sz="1650" dirty="0"/>
          </a:p>
        </p:txBody>
      </p:sp>
      <p:sp>
        <p:nvSpPr>
          <p:cNvPr id="686" name="rect"/>
          <p:cNvSpPr/>
          <p:nvPr/>
        </p:nvSpPr>
        <p:spPr>
          <a:xfrm>
            <a:off x="0" y="4773201"/>
            <a:ext cx="9142961" cy="370298"/>
          </a:xfrm>
          <a:prstGeom prst="rect">
            <a:avLst/>
          </a:prstGeom>
          <a:solidFill>
            <a:srgbClr val="7A4779">
              <a:alpha val="100000"/>
            </a:srgbClr>
          </a:solidFill>
          <a:ln cap="flat">
            <a:noFill/>
            <a:prstDash val="solid"/>
            <a:miter lim="0"/>
          </a:ln>
        </p:spPr>
        <p:txBody>
          <a:bodyPr rtlCol="0"/>
          <a:lstStyle/>
          <a:p>
            <a:pPr algn="ctr"/>
            <a:endParaRPr lang="zh-CN" altLang="en-US" sz="1350"/>
          </a:p>
        </p:txBody>
      </p:sp>
      <p:pic>
        <p:nvPicPr>
          <p:cNvPr id="702" name="picture 702"/>
          <p:cNvPicPr>
            <a:picLocks noChangeAspect="1"/>
          </p:cNvPicPr>
          <p:nvPr/>
        </p:nvPicPr>
        <p:blipFill>
          <a:blip r:embed="rId1"/>
          <a:stretch>
            <a:fillRect/>
          </a:stretch>
        </p:blipFill>
        <p:spPr>
          <a:xfrm rot="21600000">
            <a:off x="7154477" y="2279288"/>
            <a:ext cx="993736" cy="977700"/>
          </a:xfrm>
          <a:prstGeom prst="rect">
            <a:avLst/>
          </a:prstGeom>
        </p:spPr>
      </p:pic>
      <p:grpSp>
        <p:nvGrpSpPr>
          <p:cNvPr id="82" name="group 82"/>
          <p:cNvGrpSpPr/>
          <p:nvPr/>
        </p:nvGrpSpPr>
        <p:grpSpPr>
          <a:xfrm rot="21600000">
            <a:off x="2839415" y="2507771"/>
            <a:ext cx="1186974" cy="638644"/>
            <a:chOff x="0" y="0"/>
            <a:chExt cx="1582632" cy="851525"/>
          </a:xfrm>
        </p:grpSpPr>
        <p:grpSp>
          <p:nvGrpSpPr>
            <p:cNvPr id="84" name="group 84"/>
            <p:cNvGrpSpPr/>
            <p:nvPr/>
          </p:nvGrpSpPr>
          <p:grpSpPr>
            <a:xfrm rot="21600000">
              <a:off x="0" y="0"/>
              <a:ext cx="1579457" cy="848350"/>
              <a:chOff x="0" y="0"/>
              <a:chExt cx="1579457" cy="848350"/>
            </a:xfrm>
          </p:grpSpPr>
          <p:sp>
            <p:nvSpPr>
              <p:cNvPr id="704" name="path"/>
              <p:cNvSpPr/>
              <p:nvPr/>
            </p:nvSpPr>
            <p:spPr>
              <a:xfrm>
                <a:off x="3175" y="3175"/>
                <a:ext cx="1346915" cy="712018"/>
              </a:xfrm>
              <a:custGeom>
                <a:avLst/>
                <a:gdLst/>
                <a:ahLst/>
                <a:cxnLst/>
                <a:rect l="0" t="0" r="0" b="0"/>
                <a:pathLst>
                  <a:path w="2121" h="1121">
                    <a:moveTo>
                      <a:pt x="0" y="186"/>
                    </a:moveTo>
                    <a:cubicBezTo>
                      <a:pt x="0" y="83"/>
                      <a:pt x="83" y="0"/>
                      <a:pt x="186" y="0"/>
                    </a:cubicBezTo>
                    <a:lnTo>
                      <a:pt x="1934" y="0"/>
                    </a:lnTo>
                    <a:cubicBezTo>
                      <a:pt x="2037" y="0"/>
                      <a:pt x="2121" y="83"/>
                      <a:pt x="2121" y="186"/>
                    </a:cubicBezTo>
                    <a:lnTo>
                      <a:pt x="2121" y="934"/>
                    </a:lnTo>
                    <a:cubicBezTo>
                      <a:pt x="2121" y="1037"/>
                      <a:pt x="2037" y="1121"/>
                      <a:pt x="1934" y="1121"/>
                    </a:cubicBezTo>
                    <a:lnTo>
                      <a:pt x="186" y="1121"/>
                    </a:lnTo>
                    <a:cubicBezTo>
                      <a:pt x="83" y="1121"/>
                      <a:pt x="0" y="1037"/>
                      <a:pt x="0" y="934"/>
                    </a:cubicBezTo>
                    <a:lnTo>
                      <a:pt x="0" y="186"/>
                    </a:lnTo>
                    <a:close/>
                  </a:path>
                </a:pathLst>
              </a:custGeom>
              <a:solidFill>
                <a:srgbClr val="E7F2E0">
                  <a:alpha val="100000"/>
                </a:srgbClr>
              </a:solidFill>
              <a:ln cap="flat">
                <a:noFill/>
                <a:prstDash val="solid"/>
                <a:miter lim="0"/>
              </a:ln>
            </p:spPr>
            <p:txBody>
              <a:bodyPr rtlCol="0"/>
              <a:lstStyle/>
              <a:p>
                <a:pPr algn="ctr"/>
                <a:endParaRPr lang="zh-CN" altLang="en-US" sz="1350"/>
              </a:p>
            </p:txBody>
          </p:sp>
          <p:sp>
            <p:nvSpPr>
              <p:cNvPr id="706" name="path"/>
              <p:cNvSpPr/>
              <p:nvPr/>
            </p:nvSpPr>
            <p:spPr>
              <a:xfrm>
                <a:off x="0" y="0"/>
                <a:ext cx="1353265" cy="718368"/>
              </a:xfrm>
              <a:custGeom>
                <a:avLst/>
                <a:gdLst/>
                <a:ahLst/>
                <a:cxnLst/>
                <a:rect l="0" t="0" r="0" b="0"/>
                <a:pathLst>
                  <a:path w="2131" h="1131">
                    <a:moveTo>
                      <a:pt x="5" y="191"/>
                    </a:moveTo>
                    <a:cubicBezTo>
                      <a:pt x="5" y="88"/>
                      <a:pt x="88" y="5"/>
                      <a:pt x="191" y="5"/>
                    </a:cubicBezTo>
                    <a:lnTo>
                      <a:pt x="1939" y="5"/>
                    </a:lnTo>
                    <a:cubicBezTo>
                      <a:pt x="2042" y="5"/>
                      <a:pt x="2126" y="88"/>
                      <a:pt x="2126" y="191"/>
                    </a:cubicBezTo>
                    <a:lnTo>
                      <a:pt x="2126" y="939"/>
                    </a:lnTo>
                    <a:cubicBezTo>
                      <a:pt x="2126" y="1042"/>
                      <a:pt x="2042" y="1126"/>
                      <a:pt x="1939" y="1126"/>
                    </a:cubicBezTo>
                    <a:lnTo>
                      <a:pt x="191" y="1126"/>
                    </a:lnTo>
                    <a:cubicBezTo>
                      <a:pt x="88" y="1126"/>
                      <a:pt x="5" y="1042"/>
                      <a:pt x="5" y="939"/>
                    </a:cubicBezTo>
                    <a:lnTo>
                      <a:pt x="5" y="191"/>
                    </a:lnTo>
                    <a:close/>
                  </a:path>
                </a:pathLst>
              </a:custGeom>
              <a:noFill/>
              <a:ln w="6349" cap="flat">
                <a:solidFill>
                  <a:srgbClr val="6C6C6C">
                    <a:alpha val="100000"/>
                  </a:srgbClr>
                </a:solidFill>
                <a:prstDash val="solid"/>
                <a:miter lim="800000"/>
              </a:ln>
            </p:spPr>
            <p:txBody>
              <a:bodyPr rtlCol="0"/>
              <a:lstStyle/>
              <a:p>
                <a:pPr algn="ctr"/>
                <a:endParaRPr lang="zh-CN" altLang="en-US" sz="1350"/>
              </a:p>
            </p:txBody>
          </p:sp>
          <p:sp>
            <p:nvSpPr>
              <p:cNvPr id="708" name="path"/>
              <p:cNvSpPr/>
              <p:nvPr/>
            </p:nvSpPr>
            <p:spPr>
              <a:xfrm>
                <a:off x="232542" y="136331"/>
                <a:ext cx="1346914" cy="712019"/>
              </a:xfrm>
              <a:custGeom>
                <a:avLst/>
                <a:gdLst/>
                <a:ahLst/>
                <a:cxnLst/>
                <a:rect l="0" t="0" r="0" b="0"/>
                <a:pathLst>
                  <a:path w="2121" h="1121">
                    <a:moveTo>
                      <a:pt x="0" y="186"/>
                    </a:moveTo>
                    <a:cubicBezTo>
                      <a:pt x="0" y="83"/>
                      <a:pt x="83" y="0"/>
                      <a:pt x="186" y="0"/>
                    </a:cubicBezTo>
                    <a:lnTo>
                      <a:pt x="1934" y="0"/>
                    </a:lnTo>
                    <a:cubicBezTo>
                      <a:pt x="2037" y="0"/>
                      <a:pt x="2121" y="83"/>
                      <a:pt x="2121" y="186"/>
                    </a:cubicBezTo>
                    <a:lnTo>
                      <a:pt x="2121" y="934"/>
                    </a:lnTo>
                    <a:cubicBezTo>
                      <a:pt x="2121" y="1037"/>
                      <a:pt x="2037" y="1121"/>
                      <a:pt x="1934" y="1121"/>
                    </a:cubicBezTo>
                    <a:lnTo>
                      <a:pt x="186" y="1121"/>
                    </a:lnTo>
                    <a:cubicBezTo>
                      <a:pt x="83" y="1121"/>
                      <a:pt x="0" y="1037"/>
                      <a:pt x="0" y="934"/>
                    </a:cubicBezTo>
                    <a:lnTo>
                      <a:pt x="0" y="186"/>
                    </a:lnTo>
                    <a:close/>
                  </a:path>
                </a:pathLst>
              </a:custGeom>
              <a:solidFill>
                <a:srgbClr val="E7F2E0">
                  <a:alpha val="100000"/>
                </a:srgbClr>
              </a:solidFill>
              <a:ln cap="flat">
                <a:noFill/>
                <a:prstDash val="solid"/>
                <a:miter lim="0"/>
              </a:ln>
            </p:spPr>
            <p:txBody>
              <a:bodyPr rtlCol="0"/>
              <a:lstStyle/>
              <a:p>
                <a:pPr algn="ctr"/>
                <a:endParaRPr lang="zh-CN" altLang="en-US" sz="1350"/>
              </a:p>
            </p:txBody>
          </p:sp>
        </p:grpSp>
        <p:sp>
          <p:nvSpPr>
            <p:cNvPr id="710" name="path"/>
            <p:cNvSpPr/>
            <p:nvPr/>
          </p:nvSpPr>
          <p:spPr>
            <a:xfrm>
              <a:off x="229367" y="133156"/>
              <a:ext cx="1353265" cy="718368"/>
            </a:xfrm>
            <a:custGeom>
              <a:avLst/>
              <a:gdLst/>
              <a:ahLst/>
              <a:cxnLst/>
              <a:rect l="0" t="0" r="0" b="0"/>
              <a:pathLst>
                <a:path w="2131" h="1131">
                  <a:moveTo>
                    <a:pt x="5" y="191"/>
                  </a:moveTo>
                  <a:cubicBezTo>
                    <a:pt x="5" y="88"/>
                    <a:pt x="88" y="5"/>
                    <a:pt x="191" y="5"/>
                  </a:cubicBezTo>
                  <a:lnTo>
                    <a:pt x="1939" y="5"/>
                  </a:lnTo>
                  <a:cubicBezTo>
                    <a:pt x="2042" y="5"/>
                    <a:pt x="2126" y="88"/>
                    <a:pt x="2126" y="191"/>
                  </a:cubicBezTo>
                  <a:lnTo>
                    <a:pt x="2126" y="939"/>
                  </a:lnTo>
                  <a:cubicBezTo>
                    <a:pt x="2126" y="1042"/>
                    <a:pt x="2042" y="1126"/>
                    <a:pt x="1939" y="1126"/>
                  </a:cubicBezTo>
                  <a:lnTo>
                    <a:pt x="191" y="1126"/>
                  </a:lnTo>
                  <a:cubicBezTo>
                    <a:pt x="88" y="1126"/>
                    <a:pt x="5" y="1042"/>
                    <a:pt x="5" y="939"/>
                  </a:cubicBezTo>
                  <a:lnTo>
                    <a:pt x="5" y="191"/>
                  </a:lnTo>
                  <a:close/>
                </a:path>
              </a:pathLst>
            </a:custGeom>
            <a:noFill/>
            <a:ln w="6349" cap="flat">
              <a:solidFill>
                <a:srgbClr val="6C6C6C">
                  <a:alpha val="100000"/>
                </a:srgbClr>
              </a:solidFill>
              <a:prstDash val="solid"/>
              <a:miter lim="800000"/>
            </a:ln>
          </p:spPr>
          <p:txBody>
            <a:bodyPr rtlCol="0"/>
            <a:lstStyle/>
            <a:p>
              <a:pPr algn="ctr"/>
              <a:endParaRPr lang="zh-CN" altLang="en-US" sz="1350"/>
            </a:p>
          </p:txBody>
        </p:sp>
        <p:sp>
          <p:nvSpPr>
            <p:cNvPr id="712" name="textbox 712"/>
            <p:cNvSpPr/>
            <p:nvPr/>
          </p:nvSpPr>
          <p:spPr>
            <a:xfrm>
              <a:off x="645917" y="364580"/>
              <a:ext cx="530225" cy="302895"/>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ct val="91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案例</a:t>
              </a:r>
              <a:endParaRPr lang="en-US" altLang="en-US" sz="1500" dirty="0"/>
            </a:p>
          </p:txBody>
        </p:sp>
      </p:grpSp>
      <p:sp>
        <p:nvSpPr>
          <p:cNvPr id="714" name="rect"/>
          <p:cNvSpPr/>
          <p:nvPr/>
        </p:nvSpPr>
        <p:spPr>
          <a:xfrm>
            <a:off x="4055758" y="3922316"/>
            <a:ext cx="1021358" cy="14288"/>
          </a:xfrm>
          <a:prstGeom prst="rect">
            <a:avLst/>
          </a:prstGeom>
          <a:solidFill>
            <a:srgbClr val="000000">
              <a:alpha val="100000"/>
            </a:srgbClr>
          </a:solidFill>
          <a:ln cap="flat">
            <a:noFill/>
            <a:prstDash val="solid"/>
            <a:miter lim="0"/>
          </a:ln>
        </p:spPr>
        <p:txBody>
          <a:bodyPr rtlCol="0"/>
          <a:lstStyle/>
          <a:p>
            <a:pPr algn="ctr"/>
            <a:endParaRPr lang="zh-CN" altLang="en-US" sz="1350"/>
          </a:p>
        </p:txBody>
      </p:sp>
      <p:sp>
        <p:nvSpPr>
          <p:cNvPr id="716" name="path"/>
          <p:cNvSpPr/>
          <p:nvPr/>
        </p:nvSpPr>
        <p:spPr>
          <a:xfrm>
            <a:off x="4024008" y="3900885"/>
            <a:ext cx="95250" cy="57149"/>
          </a:xfrm>
          <a:custGeom>
            <a:avLst/>
            <a:gdLst/>
            <a:ahLst/>
            <a:cxnLst/>
            <a:rect l="0" t="0" r="0" b="0"/>
            <a:pathLst>
              <a:path w="200" h="119">
                <a:moveTo>
                  <a:pt x="200" y="119"/>
                </a:moveTo>
                <a:lnTo>
                  <a:pt x="0" y="59"/>
                </a:lnTo>
                <a:lnTo>
                  <a:pt x="200" y="0"/>
                </a:lnTo>
                <a:lnTo>
                  <a:pt x="200" y="119"/>
                </a:lnTo>
                <a:close/>
              </a:path>
            </a:pathLst>
          </a:custGeom>
          <a:solidFill>
            <a:srgbClr val="000000">
              <a:alpha val="100000"/>
            </a:srgbClr>
          </a:solidFill>
          <a:ln cap="flat">
            <a:noFill/>
            <a:prstDash val="solid"/>
            <a:miter lim="0"/>
          </a:ln>
        </p:spPr>
        <p:txBody>
          <a:bodyPr rtlCol="0"/>
          <a:lstStyle/>
          <a:p>
            <a:pPr algn="ctr"/>
            <a:endParaRPr lang="zh-CN" altLang="en-US" sz="1350"/>
          </a:p>
        </p:txBody>
      </p:sp>
      <p:grpSp>
        <p:nvGrpSpPr>
          <p:cNvPr id="86" name="group 86"/>
          <p:cNvGrpSpPr/>
          <p:nvPr/>
        </p:nvGrpSpPr>
        <p:grpSpPr>
          <a:xfrm rot="21600000">
            <a:off x="2999320" y="3576961"/>
            <a:ext cx="1043812" cy="668673"/>
            <a:chOff x="0" y="0"/>
            <a:chExt cx="1391749" cy="891564"/>
          </a:xfrm>
        </p:grpSpPr>
        <p:grpSp>
          <p:nvGrpSpPr>
            <p:cNvPr id="88" name="group 88"/>
            <p:cNvGrpSpPr/>
            <p:nvPr/>
          </p:nvGrpSpPr>
          <p:grpSpPr>
            <a:xfrm rot="21600000">
              <a:off x="0" y="0"/>
              <a:ext cx="1391749" cy="891564"/>
              <a:chOff x="0" y="0"/>
              <a:chExt cx="1391749" cy="891564"/>
            </a:xfrm>
          </p:grpSpPr>
          <p:sp>
            <p:nvSpPr>
              <p:cNvPr id="718" name="path"/>
              <p:cNvSpPr/>
              <p:nvPr/>
            </p:nvSpPr>
            <p:spPr>
              <a:xfrm>
                <a:off x="3175" y="113827"/>
                <a:ext cx="1385399" cy="774562"/>
              </a:xfrm>
              <a:custGeom>
                <a:avLst/>
                <a:gdLst/>
                <a:ahLst/>
                <a:cxnLst/>
                <a:rect l="0" t="0" r="0" b="0"/>
                <a:pathLst>
                  <a:path w="2181" h="1219">
                    <a:moveTo>
                      <a:pt x="0" y="0"/>
                    </a:moveTo>
                    <a:cubicBezTo>
                      <a:pt x="0" y="96"/>
                      <a:pt x="488" y="174"/>
                      <a:pt x="1090" y="174"/>
                    </a:cubicBezTo>
                    <a:cubicBezTo>
                      <a:pt x="1693" y="174"/>
                      <a:pt x="2181" y="96"/>
                      <a:pt x="2181" y="0"/>
                    </a:cubicBezTo>
                    <a:lnTo>
                      <a:pt x="2181" y="1045"/>
                    </a:lnTo>
                    <a:cubicBezTo>
                      <a:pt x="2181" y="1141"/>
                      <a:pt x="1693" y="1219"/>
                      <a:pt x="1090" y="1219"/>
                    </a:cubicBezTo>
                    <a:cubicBezTo>
                      <a:pt x="488" y="1219"/>
                      <a:pt x="0" y="1141"/>
                      <a:pt x="0" y="1045"/>
                    </a:cubicBezTo>
                    <a:lnTo>
                      <a:pt x="0" y="0"/>
                    </a:lnTo>
                    <a:close/>
                  </a:path>
                </a:pathLst>
              </a:custGeom>
              <a:solidFill>
                <a:srgbClr val="25628C">
                  <a:alpha val="100000"/>
                </a:srgbClr>
              </a:solidFill>
              <a:ln cap="flat">
                <a:noFill/>
                <a:prstDash val="solid"/>
                <a:miter lim="0"/>
              </a:ln>
            </p:spPr>
            <p:txBody>
              <a:bodyPr rtlCol="0"/>
              <a:lstStyle/>
              <a:p>
                <a:pPr algn="ctr"/>
                <a:endParaRPr lang="zh-CN" altLang="en-US" sz="1350"/>
              </a:p>
            </p:txBody>
          </p:sp>
          <p:sp>
            <p:nvSpPr>
              <p:cNvPr id="720" name="path"/>
              <p:cNvSpPr/>
              <p:nvPr/>
            </p:nvSpPr>
            <p:spPr>
              <a:xfrm>
                <a:off x="3175" y="3175"/>
                <a:ext cx="1385399" cy="221303"/>
              </a:xfrm>
              <a:custGeom>
                <a:avLst/>
                <a:gdLst/>
                <a:ahLst/>
                <a:cxnLst/>
                <a:rect l="0" t="0" r="0" b="0"/>
                <a:pathLst>
                  <a:path w="2181" h="348">
                    <a:moveTo>
                      <a:pt x="0" y="174"/>
                    </a:moveTo>
                    <a:cubicBezTo>
                      <a:pt x="0" y="78"/>
                      <a:pt x="488" y="0"/>
                      <a:pt x="1090" y="0"/>
                    </a:cubicBezTo>
                    <a:cubicBezTo>
                      <a:pt x="1693" y="0"/>
                      <a:pt x="2181" y="78"/>
                      <a:pt x="2181" y="174"/>
                    </a:cubicBezTo>
                    <a:cubicBezTo>
                      <a:pt x="2181" y="270"/>
                      <a:pt x="1693" y="348"/>
                      <a:pt x="1090" y="348"/>
                    </a:cubicBezTo>
                    <a:cubicBezTo>
                      <a:pt x="488" y="348"/>
                      <a:pt x="0" y="270"/>
                      <a:pt x="0" y="174"/>
                    </a:cubicBezTo>
                  </a:path>
                </a:pathLst>
              </a:custGeom>
              <a:solidFill>
                <a:srgbClr val="8BA6BC">
                  <a:alpha val="100000"/>
                </a:srgbClr>
              </a:solidFill>
              <a:ln cap="flat">
                <a:noFill/>
                <a:prstDash val="solid"/>
                <a:miter lim="0"/>
              </a:ln>
            </p:spPr>
            <p:txBody>
              <a:bodyPr rtlCol="0"/>
              <a:lstStyle/>
              <a:p>
                <a:pPr algn="ctr"/>
                <a:endParaRPr lang="zh-CN" altLang="en-US" sz="1350"/>
              </a:p>
            </p:txBody>
          </p:sp>
          <p:sp>
            <p:nvSpPr>
              <p:cNvPr id="722" name="path"/>
              <p:cNvSpPr/>
              <p:nvPr/>
            </p:nvSpPr>
            <p:spPr>
              <a:xfrm>
                <a:off x="0" y="0"/>
                <a:ext cx="1391749" cy="891564"/>
              </a:xfrm>
              <a:custGeom>
                <a:avLst/>
                <a:gdLst/>
                <a:ahLst/>
                <a:cxnLst/>
                <a:rect l="0" t="0" r="0" b="0"/>
                <a:pathLst>
                  <a:path w="2191" h="1404">
                    <a:moveTo>
                      <a:pt x="2186" y="179"/>
                    </a:moveTo>
                    <a:cubicBezTo>
                      <a:pt x="2186" y="275"/>
                      <a:pt x="1698" y="353"/>
                      <a:pt x="1095" y="353"/>
                    </a:cubicBezTo>
                    <a:cubicBezTo>
                      <a:pt x="493" y="353"/>
                      <a:pt x="5" y="275"/>
                      <a:pt x="5" y="179"/>
                    </a:cubicBezTo>
                    <a:cubicBezTo>
                      <a:pt x="5" y="83"/>
                      <a:pt x="493" y="5"/>
                      <a:pt x="1095" y="5"/>
                    </a:cubicBezTo>
                    <a:cubicBezTo>
                      <a:pt x="1698" y="5"/>
                      <a:pt x="2186" y="83"/>
                      <a:pt x="2186" y="179"/>
                    </a:cubicBezTo>
                    <a:lnTo>
                      <a:pt x="2186" y="1224"/>
                    </a:lnTo>
                    <a:cubicBezTo>
                      <a:pt x="2186" y="1321"/>
                      <a:pt x="1698" y="1399"/>
                      <a:pt x="1095" y="1399"/>
                    </a:cubicBezTo>
                    <a:cubicBezTo>
                      <a:pt x="493" y="1399"/>
                      <a:pt x="5" y="1321"/>
                      <a:pt x="5" y="1224"/>
                    </a:cubicBezTo>
                    <a:lnTo>
                      <a:pt x="5" y="179"/>
                    </a:lnTo>
                  </a:path>
                </a:pathLst>
              </a:custGeom>
              <a:noFill/>
              <a:ln w="6349" cap="flat">
                <a:solidFill>
                  <a:srgbClr val="6CACDC">
                    <a:alpha val="100000"/>
                  </a:srgbClr>
                </a:solidFill>
                <a:prstDash val="solid"/>
                <a:miter lim="800000"/>
              </a:ln>
            </p:spPr>
            <p:txBody>
              <a:bodyPr rtlCol="0"/>
              <a:lstStyle/>
              <a:p>
                <a:pPr algn="ctr"/>
                <a:endParaRPr lang="zh-CN" altLang="en-US" sz="1350"/>
              </a:p>
            </p:txBody>
          </p:sp>
        </p:grpSp>
        <p:sp>
          <p:nvSpPr>
            <p:cNvPr id="724" name="textbox 724"/>
            <p:cNvSpPr/>
            <p:nvPr/>
          </p:nvSpPr>
          <p:spPr>
            <a:xfrm>
              <a:off x="-12700" y="-12700"/>
              <a:ext cx="1417319" cy="943610"/>
            </a:xfrm>
            <a:prstGeom prst="rect">
              <a:avLst/>
            </a:prstGeom>
          </p:spPr>
          <p:txBody>
            <a:bodyPr vert="horz" wrap="square" lIns="0" tIns="0" rIns="0" bIns="0"/>
            <a:lstStyle/>
            <a:p>
              <a:pPr algn="l" rtl="0" eaLnBrk="0">
                <a:lnSpc>
                  <a:spcPct val="130000"/>
                </a:lnSpc>
              </a:pPr>
              <a:endParaRPr lang="en-US" altLang="en-US" sz="750" dirty="0"/>
            </a:p>
            <a:p>
              <a:pPr algn="l" rtl="0" eaLnBrk="0">
                <a:lnSpc>
                  <a:spcPct val="131000"/>
                </a:lnSpc>
              </a:pPr>
              <a:endParaRPr lang="en-US" altLang="en-US" sz="750" dirty="0"/>
            </a:p>
            <a:p>
              <a:pPr algn="l" rtl="0" eaLnBrk="0">
                <a:lnSpc>
                  <a:spcPct val="6000"/>
                </a:lnSpc>
              </a:pPr>
              <a:endParaRPr lang="en-US" altLang="en-US" sz="100" dirty="0"/>
            </a:p>
            <a:p>
              <a:pPr marL="334010" algn="l" rtl="0" eaLnBrk="0">
                <a:lnSpc>
                  <a:spcPct val="91000"/>
                </a:lnSpc>
              </a:pPr>
              <a:r>
                <a:rPr sz="1500"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案例库</a:t>
              </a:r>
              <a:endParaRPr lang="en-US" altLang="en-US" sz="1500" dirty="0"/>
            </a:p>
          </p:txBody>
        </p:sp>
      </p:grpSp>
      <p:sp>
        <p:nvSpPr>
          <p:cNvPr id="726" name="rect"/>
          <p:cNvSpPr/>
          <p:nvPr/>
        </p:nvSpPr>
        <p:spPr>
          <a:xfrm>
            <a:off x="1775035" y="2770016"/>
            <a:ext cx="1035050" cy="14288"/>
          </a:xfrm>
          <a:prstGeom prst="rect">
            <a:avLst/>
          </a:prstGeom>
          <a:solidFill>
            <a:srgbClr val="000000">
              <a:alpha val="100000"/>
            </a:srgbClr>
          </a:solidFill>
          <a:ln cap="flat">
            <a:noFill/>
            <a:prstDash val="solid"/>
            <a:miter lim="0"/>
          </a:ln>
        </p:spPr>
        <p:txBody>
          <a:bodyPr rtlCol="0"/>
          <a:lstStyle/>
          <a:p>
            <a:pPr algn="ctr"/>
            <a:endParaRPr lang="zh-CN" altLang="en-US" sz="1350"/>
          </a:p>
        </p:txBody>
      </p:sp>
      <p:grpSp>
        <p:nvGrpSpPr>
          <p:cNvPr id="90" name="group 90"/>
          <p:cNvGrpSpPr/>
          <p:nvPr/>
        </p:nvGrpSpPr>
        <p:grpSpPr>
          <a:xfrm rot="21600000">
            <a:off x="924512" y="2429099"/>
            <a:ext cx="926846" cy="648436"/>
            <a:chOff x="0" y="0"/>
            <a:chExt cx="1235794" cy="864581"/>
          </a:xfrm>
        </p:grpSpPr>
        <p:grpSp>
          <p:nvGrpSpPr>
            <p:cNvPr id="92" name="group 92"/>
            <p:cNvGrpSpPr/>
            <p:nvPr/>
          </p:nvGrpSpPr>
          <p:grpSpPr>
            <a:xfrm rot="21600000">
              <a:off x="0" y="0"/>
              <a:ext cx="1235794" cy="864581"/>
              <a:chOff x="0" y="0"/>
              <a:chExt cx="1235794" cy="864581"/>
            </a:xfrm>
          </p:grpSpPr>
          <p:sp>
            <p:nvSpPr>
              <p:cNvPr id="728" name="path"/>
              <p:cNvSpPr/>
              <p:nvPr/>
            </p:nvSpPr>
            <p:spPr>
              <a:xfrm>
                <a:off x="0" y="0"/>
                <a:ext cx="1235794" cy="864581"/>
              </a:xfrm>
              <a:custGeom>
                <a:avLst/>
                <a:gdLst/>
                <a:ahLst/>
                <a:cxnLst/>
                <a:rect l="0" t="0" r="0" b="0"/>
                <a:pathLst>
                  <a:path w="1946" h="1361">
                    <a:moveTo>
                      <a:pt x="197" y="454"/>
                    </a:moveTo>
                    <a:cubicBezTo>
                      <a:pt x="176" y="302"/>
                      <a:pt x="288" y="163"/>
                      <a:pt x="449" y="142"/>
                    </a:cubicBezTo>
                    <a:cubicBezTo>
                      <a:pt x="514" y="134"/>
                      <a:pt x="580" y="146"/>
                      <a:pt x="637" y="178"/>
                    </a:cubicBezTo>
                    <a:cubicBezTo>
                      <a:pt x="697" y="71"/>
                      <a:pt x="837" y="30"/>
                      <a:pt x="951" y="87"/>
                    </a:cubicBezTo>
                    <a:cubicBezTo>
                      <a:pt x="970" y="97"/>
                      <a:pt x="989" y="109"/>
                      <a:pt x="1004" y="124"/>
                    </a:cubicBezTo>
                    <a:cubicBezTo>
                      <a:pt x="1051" y="36"/>
                      <a:pt x="1165" y="0"/>
                      <a:pt x="1259" y="44"/>
                    </a:cubicBezTo>
                    <a:cubicBezTo>
                      <a:pt x="1285" y="56"/>
                      <a:pt x="1308" y="74"/>
                      <a:pt x="1325" y="95"/>
                    </a:cubicBezTo>
                    <a:cubicBezTo>
                      <a:pt x="1401" y="12"/>
                      <a:pt x="1534" y="1"/>
                      <a:pt x="1623" y="72"/>
                    </a:cubicBezTo>
                    <a:cubicBezTo>
                      <a:pt x="1660" y="102"/>
                      <a:pt x="1686" y="143"/>
                      <a:pt x="1694" y="189"/>
                    </a:cubicBezTo>
                    <a:cubicBezTo>
                      <a:pt x="1818" y="221"/>
                      <a:pt x="1891" y="341"/>
                      <a:pt x="1857" y="458"/>
                    </a:cubicBezTo>
                    <a:cubicBezTo>
                      <a:pt x="1854" y="468"/>
                      <a:pt x="1851" y="478"/>
                      <a:pt x="1847" y="487"/>
                    </a:cubicBezTo>
                    <a:cubicBezTo>
                      <a:pt x="1946" y="609"/>
                      <a:pt x="1921" y="783"/>
                      <a:pt x="1792" y="877"/>
                    </a:cubicBezTo>
                    <a:cubicBezTo>
                      <a:pt x="1752" y="906"/>
                      <a:pt x="1705" y="925"/>
                      <a:pt x="1655" y="932"/>
                    </a:cubicBezTo>
                    <a:cubicBezTo>
                      <a:pt x="1653" y="1063"/>
                      <a:pt x="1540" y="1168"/>
                      <a:pt x="1401" y="1167"/>
                    </a:cubicBezTo>
                    <a:cubicBezTo>
                      <a:pt x="1355" y="1167"/>
                      <a:pt x="1309" y="1154"/>
                      <a:pt x="1270" y="1131"/>
                    </a:cubicBezTo>
                    <a:cubicBezTo>
                      <a:pt x="1223" y="1278"/>
                      <a:pt x="1059" y="1361"/>
                      <a:pt x="904" y="1317"/>
                    </a:cubicBezTo>
                    <a:cubicBezTo>
                      <a:pt x="839" y="1298"/>
                      <a:pt x="782" y="1258"/>
                      <a:pt x="745" y="1205"/>
                    </a:cubicBezTo>
                    <a:cubicBezTo>
                      <a:pt x="586" y="1295"/>
                      <a:pt x="379" y="1247"/>
                      <a:pt x="284" y="1096"/>
                    </a:cubicBezTo>
                    <a:cubicBezTo>
                      <a:pt x="283" y="1094"/>
                      <a:pt x="282" y="1092"/>
                      <a:pt x="280" y="1091"/>
                    </a:cubicBezTo>
                    <a:cubicBezTo>
                      <a:pt x="176" y="1102"/>
                      <a:pt x="82" y="1032"/>
                      <a:pt x="70" y="934"/>
                    </a:cubicBezTo>
                    <a:cubicBezTo>
                      <a:pt x="63" y="882"/>
                      <a:pt x="82" y="830"/>
                      <a:pt x="120" y="791"/>
                    </a:cubicBezTo>
                    <a:cubicBezTo>
                      <a:pt x="30" y="741"/>
                      <a:pt x="0" y="631"/>
                      <a:pt x="52" y="546"/>
                    </a:cubicBezTo>
                    <a:cubicBezTo>
                      <a:pt x="83" y="497"/>
                      <a:pt x="136" y="464"/>
                      <a:pt x="196" y="458"/>
                    </a:cubicBezTo>
                    <a:lnTo>
                      <a:pt x="197" y="454"/>
                    </a:lnTo>
                    <a:close/>
                  </a:path>
                </a:pathLst>
              </a:custGeom>
              <a:solidFill>
                <a:srgbClr val="898484">
                  <a:alpha val="100000"/>
                </a:srgbClr>
              </a:solidFill>
              <a:ln cap="flat">
                <a:noFill/>
                <a:prstDash val="solid"/>
                <a:miter lim="0"/>
              </a:ln>
            </p:spPr>
            <p:txBody>
              <a:bodyPr rtlCol="0"/>
              <a:lstStyle/>
              <a:p>
                <a:pPr algn="ctr"/>
                <a:endParaRPr lang="zh-CN" altLang="en-US" sz="1350"/>
              </a:p>
            </p:txBody>
          </p:sp>
          <p:sp>
            <p:nvSpPr>
              <p:cNvPr id="730" name="path"/>
              <p:cNvSpPr/>
              <p:nvPr/>
            </p:nvSpPr>
            <p:spPr>
              <a:xfrm>
                <a:off x="14004" y="12913"/>
                <a:ext cx="1200701" cy="834150"/>
              </a:xfrm>
              <a:custGeom>
                <a:avLst/>
                <a:gdLst/>
                <a:ahLst/>
                <a:cxnLst/>
                <a:rect l="0" t="0" r="0" b="0"/>
                <a:pathLst>
                  <a:path w="1890" h="1313">
                    <a:moveTo>
                      <a:pt x="175" y="434"/>
                    </a:moveTo>
                    <a:cubicBezTo>
                      <a:pt x="154" y="282"/>
                      <a:pt x="266" y="142"/>
                      <a:pt x="427" y="122"/>
                    </a:cubicBezTo>
                    <a:cubicBezTo>
                      <a:pt x="492" y="113"/>
                      <a:pt x="558" y="126"/>
                      <a:pt x="615" y="157"/>
                    </a:cubicBezTo>
                    <a:cubicBezTo>
                      <a:pt x="675" y="50"/>
                      <a:pt x="815" y="10"/>
                      <a:pt x="929" y="66"/>
                    </a:cubicBezTo>
                    <a:cubicBezTo>
                      <a:pt x="948" y="76"/>
                      <a:pt x="966" y="89"/>
                      <a:pt x="982" y="104"/>
                    </a:cubicBezTo>
                    <a:cubicBezTo>
                      <a:pt x="1029" y="15"/>
                      <a:pt x="1143" y="-20"/>
                      <a:pt x="1237" y="23"/>
                    </a:cubicBezTo>
                    <a:cubicBezTo>
                      <a:pt x="1263" y="36"/>
                      <a:pt x="1286" y="53"/>
                      <a:pt x="1303" y="75"/>
                    </a:cubicBezTo>
                    <a:cubicBezTo>
                      <a:pt x="1379" y="-8"/>
                      <a:pt x="1512" y="-18"/>
                      <a:pt x="1601" y="52"/>
                    </a:cubicBezTo>
                    <a:cubicBezTo>
                      <a:pt x="1638" y="82"/>
                      <a:pt x="1664" y="123"/>
                      <a:pt x="1672" y="168"/>
                    </a:cubicBezTo>
                    <a:cubicBezTo>
                      <a:pt x="1796" y="200"/>
                      <a:pt x="1869" y="321"/>
                      <a:pt x="1835" y="438"/>
                    </a:cubicBezTo>
                    <a:cubicBezTo>
                      <a:pt x="1832" y="448"/>
                      <a:pt x="1829" y="457"/>
                      <a:pt x="1824" y="467"/>
                    </a:cubicBezTo>
                    <a:cubicBezTo>
                      <a:pt x="1924" y="588"/>
                      <a:pt x="1899" y="763"/>
                      <a:pt x="1770" y="857"/>
                    </a:cubicBezTo>
                    <a:cubicBezTo>
                      <a:pt x="1730" y="886"/>
                      <a:pt x="1683" y="905"/>
                      <a:pt x="1632" y="911"/>
                    </a:cubicBezTo>
                    <a:cubicBezTo>
                      <a:pt x="1631" y="1042"/>
                      <a:pt x="1518" y="1148"/>
                      <a:pt x="1379" y="1147"/>
                    </a:cubicBezTo>
                    <a:cubicBezTo>
                      <a:pt x="1332" y="1146"/>
                      <a:pt x="1287" y="1134"/>
                      <a:pt x="1248" y="1111"/>
                    </a:cubicBezTo>
                    <a:cubicBezTo>
                      <a:pt x="1201" y="1258"/>
                      <a:pt x="1037" y="1341"/>
                      <a:pt x="882" y="1296"/>
                    </a:cubicBezTo>
                    <a:cubicBezTo>
                      <a:pt x="817" y="1278"/>
                      <a:pt x="760" y="1238"/>
                      <a:pt x="723" y="1185"/>
                    </a:cubicBezTo>
                    <a:cubicBezTo>
                      <a:pt x="564" y="1275"/>
                      <a:pt x="357" y="1226"/>
                      <a:pt x="262" y="1076"/>
                    </a:cubicBezTo>
                    <a:cubicBezTo>
                      <a:pt x="261" y="1074"/>
                      <a:pt x="259" y="1072"/>
                      <a:pt x="258" y="1070"/>
                    </a:cubicBezTo>
                    <a:cubicBezTo>
                      <a:pt x="154" y="1082"/>
                      <a:pt x="60" y="1012"/>
                      <a:pt x="48" y="914"/>
                    </a:cubicBezTo>
                    <a:cubicBezTo>
                      <a:pt x="41" y="862"/>
                      <a:pt x="60" y="809"/>
                      <a:pt x="98" y="771"/>
                    </a:cubicBezTo>
                    <a:cubicBezTo>
                      <a:pt x="8" y="721"/>
                      <a:pt x="-22" y="611"/>
                      <a:pt x="30" y="526"/>
                    </a:cubicBezTo>
                    <a:cubicBezTo>
                      <a:pt x="61" y="476"/>
                      <a:pt x="114" y="444"/>
                      <a:pt x="174" y="438"/>
                    </a:cubicBezTo>
                    <a:lnTo>
                      <a:pt x="175" y="434"/>
                    </a:lnTo>
                    <a:close/>
                    <a:moveTo>
                      <a:pt x="210" y="790"/>
                    </a:moveTo>
                    <a:cubicBezTo>
                      <a:pt x="171" y="793"/>
                      <a:pt x="133" y="784"/>
                      <a:pt x="100" y="766"/>
                    </a:cubicBezTo>
                    <a:moveTo>
                      <a:pt x="307" y="1053"/>
                    </a:moveTo>
                    <a:cubicBezTo>
                      <a:pt x="292" y="1059"/>
                      <a:pt x="275" y="1063"/>
                      <a:pt x="259" y="1064"/>
                    </a:cubicBezTo>
                    <a:moveTo>
                      <a:pt x="722" y="1179"/>
                    </a:moveTo>
                    <a:cubicBezTo>
                      <a:pt x="711" y="1163"/>
                      <a:pt x="701" y="1145"/>
                      <a:pt x="693" y="1127"/>
                    </a:cubicBezTo>
                    <a:moveTo>
                      <a:pt x="1259" y="1049"/>
                    </a:moveTo>
                    <a:cubicBezTo>
                      <a:pt x="1258" y="1068"/>
                      <a:pt x="1254" y="1087"/>
                      <a:pt x="1248" y="1106"/>
                    </a:cubicBezTo>
                    <a:moveTo>
                      <a:pt x="1490" y="693"/>
                    </a:moveTo>
                    <a:cubicBezTo>
                      <a:pt x="1577" y="733"/>
                      <a:pt x="1632" y="816"/>
                      <a:pt x="1631" y="908"/>
                    </a:cubicBezTo>
                    <a:moveTo>
                      <a:pt x="1824" y="463"/>
                    </a:moveTo>
                    <a:cubicBezTo>
                      <a:pt x="1809" y="495"/>
                      <a:pt x="1788" y="522"/>
                      <a:pt x="1761" y="544"/>
                    </a:cubicBezTo>
                    <a:moveTo>
                      <a:pt x="1672" y="164"/>
                    </a:moveTo>
                    <a:cubicBezTo>
                      <a:pt x="1675" y="177"/>
                      <a:pt x="1676" y="189"/>
                      <a:pt x="1676" y="202"/>
                    </a:cubicBezTo>
                    <a:moveTo>
                      <a:pt x="1270" y="119"/>
                    </a:moveTo>
                    <a:cubicBezTo>
                      <a:pt x="1279" y="102"/>
                      <a:pt x="1289" y="86"/>
                      <a:pt x="1303" y="71"/>
                    </a:cubicBezTo>
                    <a:moveTo>
                      <a:pt x="969" y="143"/>
                    </a:moveTo>
                    <a:cubicBezTo>
                      <a:pt x="972" y="128"/>
                      <a:pt x="977" y="114"/>
                      <a:pt x="984" y="101"/>
                    </a:cubicBezTo>
                    <a:moveTo>
                      <a:pt x="615" y="157"/>
                    </a:moveTo>
                    <a:cubicBezTo>
                      <a:pt x="635" y="168"/>
                      <a:pt x="654" y="182"/>
                      <a:pt x="671" y="198"/>
                    </a:cubicBezTo>
                    <a:moveTo>
                      <a:pt x="185" y="477"/>
                    </a:moveTo>
                    <a:cubicBezTo>
                      <a:pt x="181" y="463"/>
                      <a:pt x="178" y="448"/>
                      <a:pt x="175" y="434"/>
                    </a:cubicBezTo>
                  </a:path>
                </a:pathLst>
              </a:custGeom>
              <a:noFill/>
              <a:ln w="6349" cap="flat">
                <a:solidFill>
                  <a:srgbClr val="313131">
                    <a:alpha val="100000"/>
                  </a:srgbClr>
                </a:solidFill>
                <a:prstDash val="solid"/>
                <a:miter lim="800000"/>
              </a:ln>
            </p:spPr>
            <p:txBody>
              <a:bodyPr rtlCol="0"/>
              <a:lstStyle/>
              <a:p>
                <a:pPr algn="ctr"/>
                <a:endParaRPr lang="zh-CN" altLang="en-US" sz="1350"/>
              </a:p>
            </p:txBody>
          </p:sp>
        </p:grpSp>
        <p:sp>
          <p:nvSpPr>
            <p:cNvPr id="732" name="textbox 732"/>
            <p:cNvSpPr/>
            <p:nvPr/>
          </p:nvSpPr>
          <p:spPr>
            <a:xfrm>
              <a:off x="-12700" y="-12700"/>
              <a:ext cx="1261744" cy="916305"/>
            </a:xfrm>
            <a:prstGeom prst="rect">
              <a:avLst/>
            </a:prstGeom>
          </p:spPr>
          <p:txBody>
            <a:bodyPr vert="horz" wrap="square" lIns="0" tIns="0" rIns="0" bIns="0"/>
            <a:lstStyle/>
            <a:p>
              <a:pPr algn="l" rtl="0" eaLnBrk="0">
                <a:lnSpc>
                  <a:spcPct val="101000"/>
                </a:lnSpc>
              </a:pPr>
              <a:endParaRPr lang="en-US" altLang="en-US" sz="750" dirty="0"/>
            </a:p>
            <a:p>
              <a:pPr algn="l" rtl="0" eaLnBrk="0">
                <a:lnSpc>
                  <a:spcPct val="101000"/>
                </a:lnSpc>
              </a:pPr>
              <a:endParaRPr lang="en-US" altLang="en-US" sz="750" dirty="0"/>
            </a:p>
            <a:p>
              <a:pPr marL="349885" algn="l" rtl="0" eaLnBrk="0">
                <a:lnSpc>
                  <a:spcPct val="90000"/>
                </a:lnSpc>
                <a:spcBef>
                  <a:spcPts val="5"/>
                </a:spcBef>
              </a:pPr>
              <a:r>
                <a:rPr sz="1500" kern="0" spc="-4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问题</a:t>
              </a:r>
              <a:endParaRPr lang="en-US" altLang="en-US" sz="1500" dirty="0"/>
            </a:p>
          </p:txBody>
        </p:sp>
      </p:grpSp>
      <p:grpSp>
        <p:nvGrpSpPr>
          <p:cNvPr id="94" name="group 94"/>
          <p:cNvGrpSpPr/>
          <p:nvPr/>
        </p:nvGrpSpPr>
        <p:grpSpPr>
          <a:xfrm rot="21600000">
            <a:off x="5076263" y="3633530"/>
            <a:ext cx="1014948" cy="538776"/>
            <a:chOff x="0" y="0"/>
            <a:chExt cx="1353264" cy="718368"/>
          </a:xfrm>
        </p:grpSpPr>
        <p:grpSp>
          <p:nvGrpSpPr>
            <p:cNvPr id="96" name="group 96"/>
            <p:cNvGrpSpPr/>
            <p:nvPr/>
          </p:nvGrpSpPr>
          <p:grpSpPr>
            <a:xfrm rot="21600000">
              <a:off x="0" y="0"/>
              <a:ext cx="1353264" cy="718368"/>
              <a:chOff x="0" y="0"/>
              <a:chExt cx="1353264" cy="718368"/>
            </a:xfrm>
          </p:grpSpPr>
          <p:sp>
            <p:nvSpPr>
              <p:cNvPr id="734" name="path"/>
              <p:cNvSpPr/>
              <p:nvPr/>
            </p:nvSpPr>
            <p:spPr>
              <a:xfrm>
                <a:off x="3175" y="3175"/>
                <a:ext cx="1346917" cy="712019"/>
              </a:xfrm>
              <a:custGeom>
                <a:avLst/>
                <a:gdLst/>
                <a:ahLst/>
                <a:cxnLst/>
                <a:rect l="0" t="0" r="0" b="0"/>
                <a:pathLst>
                  <a:path w="2121" h="1121">
                    <a:moveTo>
                      <a:pt x="0" y="186"/>
                    </a:moveTo>
                    <a:cubicBezTo>
                      <a:pt x="0" y="83"/>
                      <a:pt x="83" y="0"/>
                      <a:pt x="186" y="0"/>
                    </a:cubicBezTo>
                    <a:lnTo>
                      <a:pt x="1934" y="0"/>
                    </a:lnTo>
                    <a:cubicBezTo>
                      <a:pt x="2037" y="0"/>
                      <a:pt x="2121" y="83"/>
                      <a:pt x="2121" y="186"/>
                    </a:cubicBezTo>
                    <a:lnTo>
                      <a:pt x="2121" y="934"/>
                    </a:lnTo>
                    <a:cubicBezTo>
                      <a:pt x="2121" y="1037"/>
                      <a:pt x="2037" y="1121"/>
                      <a:pt x="1934" y="1121"/>
                    </a:cubicBezTo>
                    <a:lnTo>
                      <a:pt x="186" y="1121"/>
                    </a:lnTo>
                    <a:cubicBezTo>
                      <a:pt x="83" y="1121"/>
                      <a:pt x="0" y="1037"/>
                      <a:pt x="0" y="934"/>
                    </a:cubicBezTo>
                    <a:lnTo>
                      <a:pt x="0" y="186"/>
                    </a:lnTo>
                    <a:close/>
                  </a:path>
                </a:pathLst>
              </a:custGeom>
              <a:solidFill>
                <a:srgbClr val="E7F2E0">
                  <a:alpha val="100000"/>
                </a:srgbClr>
              </a:solidFill>
              <a:ln cap="flat">
                <a:noFill/>
                <a:prstDash val="solid"/>
                <a:miter lim="0"/>
              </a:ln>
            </p:spPr>
            <p:txBody>
              <a:bodyPr rtlCol="0"/>
              <a:lstStyle/>
              <a:p>
                <a:pPr algn="ctr"/>
                <a:endParaRPr lang="zh-CN" altLang="en-US" sz="1350"/>
              </a:p>
            </p:txBody>
          </p:sp>
          <p:sp>
            <p:nvSpPr>
              <p:cNvPr id="736" name="path"/>
              <p:cNvSpPr/>
              <p:nvPr/>
            </p:nvSpPr>
            <p:spPr>
              <a:xfrm>
                <a:off x="0" y="0"/>
                <a:ext cx="1353264" cy="718368"/>
              </a:xfrm>
              <a:custGeom>
                <a:avLst/>
                <a:gdLst/>
                <a:ahLst/>
                <a:cxnLst/>
                <a:rect l="0" t="0" r="0" b="0"/>
                <a:pathLst>
                  <a:path w="2131" h="1131">
                    <a:moveTo>
                      <a:pt x="5" y="191"/>
                    </a:moveTo>
                    <a:cubicBezTo>
                      <a:pt x="5" y="88"/>
                      <a:pt x="88" y="5"/>
                      <a:pt x="191" y="5"/>
                    </a:cubicBezTo>
                    <a:lnTo>
                      <a:pt x="1939" y="5"/>
                    </a:lnTo>
                    <a:cubicBezTo>
                      <a:pt x="2042" y="5"/>
                      <a:pt x="2126" y="88"/>
                      <a:pt x="2126" y="191"/>
                    </a:cubicBezTo>
                    <a:lnTo>
                      <a:pt x="2126" y="939"/>
                    </a:lnTo>
                    <a:cubicBezTo>
                      <a:pt x="2126" y="1042"/>
                      <a:pt x="2042" y="1126"/>
                      <a:pt x="1939" y="1126"/>
                    </a:cubicBezTo>
                    <a:lnTo>
                      <a:pt x="191" y="1126"/>
                    </a:lnTo>
                    <a:cubicBezTo>
                      <a:pt x="88" y="1126"/>
                      <a:pt x="5" y="1042"/>
                      <a:pt x="5" y="939"/>
                    </a:cubicBezTo>
                    <a:lnTo>
                      <a:pt x="5" y="191"/>
                    </a:lnTo>
                    <a:close/>
                  </a:path>
                </a:pathLst>
              </a:custGeom>
              <a:noFill/>
              <a:ln w="6349" cap="flat">
                <a:solidFill>
                  <a:srgbClr val="6C6C6C">
                    <a:alpha val="100000"/>
                  </a:srgbClr>
                </a:solidFill>
                <a:prstDash val="solid"/>
                <a:miter lim="800000"/>
              </a:ln>
            </p:spPr>
            <p:txBody>
              <a:bodyPr rtlCol="0"/>
              <a:lstStyle/>
              <a:p>
                <a:pPr algn="ctr"/>
                <a:endParaRPr lang="zh-CN" altLang="en-US" sz="1350"/>
              </a:p>
            </p:txBody>
          </p:sp>
        </p:grpSp>
        <p:sp>
          <p:nvSpPr>
            <p:cNvPr id="738" name="textbox 738"/>
            <p:cNvSpPr/>
            <p:nvPr/>
          </p:nvSpPr>
          <p:spPr>
            <a:xfrm>
              <a:off x="-12700" y="-12700"/>
              <a:ext cx="1379219" cy="770890"/>
            </a:xfrm>
            <a:prstGeom prst="rect">
              <a:avLst/>
            </a:prstGeom>
          </p:spPr>
          <p:txBody>
            <a:bodyPr vert="horz" wrap="square" lIns="0" tIns="0" rIns="0" bIns="0"/>
            <a:lstStyle/>
            <a:p>
              <a:pPr algn="l" rtl="0" eaLnBrk="0">
                <a:lnSpc>
                  <a:spcPct val="168000"/>
                </a:lnSpc>
              </a:pPr>
              <a:endParaRPr lang="en-US" altLang="en-US" sz="750" dirty="0"/>
            </a:p>
            <a:p>
              <a:pPr marL="187960" algn="l" rtl="0" eaLnBrk="0">
                <a:lnSpc>
                  <a:spcPct val="91000"/>
                </a:lnSpc>
                <a:spcBef>
                  <a:spcPts val="5"/>
                </a:spcBef>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更新案例</a:t>
              </a:r>
              <a:endParaRPr lang="en-US" altLang="en-US" sz="1500" dirty="0"/>
            </a:p>
          </p:txBody>
        </p:sp>
      </p:grpSp>
      <p:grpSp>
        <p:nvGrpSpPr>
          <p:cNvPr id="98" name="group 98"/>
          <p:cNvGrpSpPr/>
          <p:nvPr/>
        </p:nvGrpSpPr>
        <p:grpSpPr>
          <a:xfrm rot="21600000">
            <a:off x="5077413" y="2508934"/>
            <a:ext cx="1014948" cy="538776"/>
            <a:chOff x="0" y="0"/>
            <a:chExt cx="1353264" cy="718368"/>
          </a:xfrm>
        </p:grpSpPr>
        <p:grpSp>
          <p:nvGrpSpPr>
            <p:cNvPr id="100" name="group 100"/>
            <p:cNvGrpSpPr/>
            <p:nvPr/>
          </p:nvGrpSpPr>
          <p:grpSpPr>
            <a:xfrm rot="21600000">
              <a:off x="0" y="0"/>
              <a:ext cx="1353264" cy="718368"/>
              <a:chOff x="0" y="0"/>
              <a:chExt cx="1353264" cy="718368"/>
            </a:xfrm>
          </p:grpSpPr>
          <p:sp>
            <p:nvSpPr>
              <p:cNvPr id="740" name="path"/>
              <p:cNvSpPr/>
              <p:nvPr/>
            </p:nvSpPr>
            <p:spPr>
              <a:xfrm>
                <a:off x="3175" y="3175"/>
                <a:ext cx="1346916" cy="712017"/>
              </a:xfrm>
              <a:custGeom>
                <a:avLst/>
                <a:gdLst/>
                <a:ahLst/>
                <a:cxnLst/>
                <a:rect l="0" t="0" r="0" b="0"/>
                <a:pathLst>
                  <a:path w="2121" h="1121">
                    <a:moveTo>
                      <a:pt x="0" y="186"/>
                    </a:moveTo>
                    <a:moveTo>
                      <a:pt x="0" y="186"/>
                    </a:moveTo>
                    <a:cubicBezTo>
                      <a:pt x="0" y="83"/>
                      <a:pt x="83" y="0"/>
                      <a:pt x="186" y="0"/>
                    </a:cubicBezTo>
                    <a:lnTo>
                      <a:pt x="1934" y="0"/>
                    </a:lnTo>
                    <a:cubicBezTo>
                      <a:pt x="2037" y="0"/>
                      <a:pt x="2121" y="83"/>
                      <a:pt x="2121" y="186"/>
                    </a:cubicBezTo>
                    <a:lnTo>
                      <a:pt x="2121" y="934"/>
                    </a:lnTo>
                    <a:cubicBezTo>
                      <a:pt x="2121" y="1037"/>
                      <a:pt x="2037" y="1121"/>
                      <a:pt x="1934" y="1121"/>
                    </a:cubicBezTo>
                    <a:lnTo>
                      <a:pt x="186" y="1121"/>
                    </a:lnTo>
                    <a:cubicBezTo>
                      <a:pt x="83" y="1121"/>
                      <a:pt x="0" y="1037"/>
                      <a:pt x="0" y="934"/>
                    </a:cubicBezTo>
                    <a:lnTo>
                      <a:pt x="0" y="186"/>
                    </a:lnTo>
                    <a:close/>
                  </a:path>
                </a:pathLst>
              </a:custGeom>
              <a:solidFill>
                <a:srgbClr val="E7F2E0">
                  <a:alpha val="100000"/>
                </a:srgbClr>
              </a:solidFill>
              <a:ln cap="flat">
                <a:noFill/>
                <a:prstDash val="solid"/>
                <a:miter lim="0"/>
              </a:ln>
            </p:spPr>
            <p:txBody>
              <a:bodyPr rtlCol="0"/>
              <a:lstStyle/>
              <a:p>
                <a:pPr algn="ctr"/>
                <a:endParaRPr lang="zh-CN" altLang="en-US" sz="1350"/>
              </a:p>
            </p:txBody>
          </p:sp>
          <p:sp>
            <p:nvSpPr>
              <p:cNvPr id="742" name="path"/>
              <p:cNvSpPr/>
              <p:nvPr/>
            </p:nvSpPr>
            <p:spPr>
              <a:xfrm>
                <a:off x="0" y="0"/>
                <a:ext cx="1353264" cy="718368"/>
              </a:xfrm>
              <a:custGeom>
                <a:avLst/>
                <a:gdLst/>
                <a:ahLst/>
                <a:cxnLst/>
                <a:rect l="0" t="0" r="0" b="0"/>
                <a:pathLst>
                  <a:path w="2131" h="1131">
                    <a:moveTo>
                      <a:pt x="5" y="191"/>
                    </a:moveTo>
                    <a:cubicBezTo>
                      <a:pt x="5" y="88"/>
                      <a:pt x="88" y="5"/>
                      <a:pt x="191" y="5"/>
                    </a:cubicBezTo>
                    <a:lnTo>
                      <a:pt x="1939" y="5"/>
                    </a:lnTo>
                    <a:cubicBezTo>
                      <a:pt x="2042" y="5"/>
                      <a:pt x="2126" y="88"/>
                      <a:pt x="2126" y="191"/>
                    </a:cubicBezTo>
                    <a:lnTo>
                      <a:pt x="2126" y="939"/>
                    </a:lnTo>
                    <a:cubicBezTo>
                      <a:pt x="2126" y="1042"/>
                      <a:pt x="2042" y="1126"/>
                      <a:pt x="1939" y="1126"/>
                    </a:cubicBezTo>
                    <a:lnTo>
                      <a:pt x="191" y="1126"/>
                    </a:lnTo>
                    <a:cubicBezTo>
                      <a:pt x="88" y="1126"/>
                      <a:pt x="5" y="1042"/>
                      <a:pt x="5" y="939"/>
                    </a:cubicBezTo>
                    <a:lnTo>
                      <a:pt x="5" y="191"/>
                    </a:lnTo>
                    <a:close/>
                  </a:path>
                </a:pathLst>
              </a:custGeom>
              <a:noFill/>
              <a:ln w="6349" cap="flat">
                <a:solidFill>
                  <a:srgbClr val="6C6C6C">
                    <a:alpha val="100000"/>
                  </a:srgbClr>
                </a:solidFill>
                <a:prstDash val="solid"/>
                <a:miter lim="800000"/>
              </a:ln>
            </p:spPr>
            <p:txBody>
              <a:bodyPr rtlCol="0"/>
              <a:lstStyle/>
              <a:p>
                <a:pPr algn="ctr"/>
                <a:endParaRPr lang="zh-CN" altLang="en-US" sz="1350"/>
              </a:p>
            </p:txBody>
          </p:sp>
        </p:grpSp>
        <p:sp>
          <p:nvSpPr>
            <p:cNvPr id="744" name="textbox 744"/>
            <p:cNvSpPr/>
            <p:nvPr/>
          </p:nvSpPr>
          <p:spPr>
            <a:xfrm>
              <a:off x="-12700" y="-12700"/>
              <a:ext cx="1379219" cy="770255"/>
            </a:xfrm>
            <a:prstGeom prst="rect">
              <a:avLst/>
            </a:prstGeom>
          </p:spPr>
          <p:txBody>
            <a:bodyPr vert="horz" wrap="square" lIns="0" tIns="0" rIns="0" bIns="0"/>
            <a:lstStyle/>
            <a:p>
              <a:pPr algn="l" rtl="0" eaLnBrk="0">
                <a:lnSpc>
                  <a:spcPct val="168000"/>
                </a:lnSpc>
              </a:pPr>
              <a:endParaRPr lang="en-US" altLang="en-US" sz="750" dirty="0"/>
            </a:p>
            <a:p>
              <a:pPr marL="187325" algn="l" rtl="0" eaLnBrk="0">
                <a:lnSpc>
                  <a:spcPct val="91000"/>
                </a:lnSpc>
                <a:spcBef>
                  <a:spcPts val="5"/>
                </a:spcBef>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修改案例</a:t>
              </a:r>
              <a:endParaRPr lang="en-US" altLang="en-US" sz="1500" dirty="0"/>
            </a:p>
          </p:txBody>
        </p:sp>
      </p:grpSp>
      <p:sp>
        <p:nvSpPr>
          <p:cNvPr id="748" name="textbox 748"/>
          <p:cNvSpPr/>
          <p:nvPr/>
        </p:nvSpPr>
        <p:spPr>
          <a:xfrm>
            <a:off x="6295340" y="2500814"/>
            <a:ext cx="588169" cy="225743"/>
          </a:xfrm>
          <a:prstGeom prst="rect">
            <a:avLst/>
          </a:prstGeom>
        </p:spPr>
        <p:txBody>
          <a:bodyPr vert="horz" wrap="square" lIns="0" tIns="0" rIns="0" bIns="0"/>
          <a:lstStyle/>
          <a:p>
            <a:pPr algn="l" rtl="0" eaLnBrk="0">
              <a:lnSpc>
                <a:spcPct val="90000"/>
              </a:lnSpc>
            </a:pPr>
            <a:endParaRPr lang="en-US" altLang="en-US" sz="100" dirty="0"/>
          </a:p>
          <a:p>
            <a:pPr marL="12700" algn="l" rtl="0" eaLnBrk="0">
              <a:lnSpc>
                <a:spcPct val="90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建议解</a:t>
            </a:r>
            <a:endParaRPr lang="en-US" altLang="en-US" sz="1500" dirty="0"/>
          </a:p>
        </p:txBody>
      </p:sp>
      <p:sp>
        <p:nvSpPr>
          <p:cNvPr id="750" name="textbox 750"/>
          <p:cNvSpPr/>
          <p:nvPr/>
        </p:nvSpPr>
        <p:spPr>
          <a:xfrm>
            <a:off x="2047332" y="2514866"/>
            <a:ext cx="397669" cy="226219"/>
          </a:xfrm>
          <a:prstGeom prst="rect">
            <a:avLst/>
          </a:prstGeom>
        </p:spPr>
        <p:txBody>
          <a:bodyPr vert="horz" wrap="square" lIns="0" tIns="0" rIns="0" bIns="0"/>
          <a:lstStyle/>
          <a:p>
            <a:pPr algn="l" rtl="0" eaLnBrk="0">
              <a:lnSpc>
                <a:spcPct val="93000"/>
              </a:lnSpc>
            </a:pPr>
            <a:endParaRPr lang="en-US" altLang="en-US" sz="100" dirty="0"/>
          </a:p>
          <a:p>
            <a:pPr marL="12700" algn="l" rtl="0" eaLnBrk="0">
              <a:lnSpc>
                <a:spcPct val="90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检索</a:t>
            </a:r>
            <a:endParaRPr lang="en-US" altLang="en-US" sz="1500" dirty="0"/>
          </a:p>
        </p:txBody>
      </p:sp>
      <p:sp>
        <p:nvSpPr>
          <p:cNvPr id="752" name="textbox 752"/>
          <p:cNvSpPr/>
          <p:nvPr/>
        </p:nvSpPr>
        <p:spPr>
          <a:xfrm>
            <a:off x="6793492" y="3656564"/>
            <a:ext cx="398144" cy="223361"/>
          </a:xfrm>
          <a:prstGeom prst="rect">
            <a:avLst/>
          </a:prstGeom>
        </p:spPr>
        <p:txBody>
          <a:bodyPr vert="horz" wrap="square" lIns="0" tIns="0" rIns="0" bIns="0"/>
          <a:lstStyle/>
          <a:p>
            <a:pPr algn="l" rtl="0" eaLnBrk="0">
              <a:lnSpc>
                <a:spcPct val="90000"/>
              </a:lnSpc>
            </a:pPr>
            <a:endParaRPr lang="en-US" altLang="en-US" sz="100" dirty="0"/>
          </a:p>
          <a:p>
            <a:pPr marL="12700" algn="l" rtl="0" eaLnBrk="0">
              <a:lnSpc>
                <a:spcPct val="89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反馈</a:t>
            </a:r>
            <a:endParaRPr lang="en-US" altLang="en-US" sz="1500" dirty="0"/>
          </a:p>
        </p:txBody>
      </p:sp>
      <p:sp>
        <p:nvSpPr>
          <p:cNvPr id="754" name="textbox 754"/>
          <p:cNvSpPr/>
          <p:nvPr/>
        </p:nvSpPr>
        <p:spPr>
          <a:xfrm>
            <a:off x="4313990" y="2520962"/>
            <a:ext cx="396716" cy="220028"/>
          </a:xfrm>
          <a:prstGeom prst="rect">
            <a:avLst/>
          </a:prstGeom>
        </p:spPr>
        <p:txBody>
          <a:bodyPr vert="horz" wrap="square" lIns="0" tIns="0" rIns="0" bIns="0"/>
          <a:lstStyle/>
          <a:p>
            <a:pPr algn="l" rtl="0" eaLnBrk="0">
              <a:lnSpc>
                <a:spcPct val="80000"/>
              </a:lnSpc>
            </a:pPr>
            <a:endParaRPr lang="en-US" altLang="en-US" sz="100" dirty="0"/>
          </a:p>
          <a:p>
            <a:pPr marL="12700" algn="l" rtl="0" eaLnBrk="0">
              <a:lnSpc>
                <a:spcPct val="88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重用</a:t>
            </a:r>
            <a:endParaRPr lang="en-US" altLang="en-US" sz="1500" dirty="0"/>
          </a:p>
        </p:txBody>
      </p:sp>
      <p:sp>
        <p:nvSpPr>
          <p:cNvPr id="756" name="rect"/>
          <p:cNvSpPr/>
          <p:nvPr/>
        </p:nvSpPr>
        <p:spPr>
          <a:xfrm>
            <a:off x="6121736" y="3904154"/>
            <a:ext cx="1534250" cy="14288"/>
          </a:xfrm>
          <a:prstGeom prst="rect">
            <a:avLst/>
          </a:prstGeom>
          <a:solidFill>
            <a:srgbClr val="000000">
              <a:alpha val="100000"/>
            </a:srgbClr>
          </a:solidFill>
          <a:ln cap="flat">
            <a:noFill/>
            <a:prstDash val="solid"/>
            <a:miter lim="0"/>
          </a:ln>
        </p:spPr>
        <p:txBody>
          <a:bodyPr rtlCol="0"/>
          <a:lstStyle/>
          <a:p>
            <a:pPr algn="ctr"/>
            <a:endParaRPr lang="zh-CN" altLang="en-US" sz="1350"/>
          </a:p>
        </p:txBody>
      </p:sp>
      <p:sp>
        <p:nvSpPr>
          <p:cNvPr id="758" name="rect"/>
          <p:cNvSpPr/>
          <p:nvPr/>
        </p:nvSpPr>
        <p:spPr>
          <a:xfrm>
            <a:off x="4025159" y="2768853"/>
            <a:ext cx="1035050" cy="14288"/>
          </a:xfrm>
          <a:prstGeom prst="rect">
            <a:avLst/>
          </a:prstGeom>
          <a:solidFill>
            <a:srgbClr val="000000">
              <a:alpha val="100000"/>
            </a:srgbClr>
          </a:solidFill>
          <a:ln cap="flat">
            <a:noFill/>
            <a:prstDash val="solid"/>
            <a:miter lim="0"/>
          </a:ln>
        </p:spPr>
        <p:txBody>
          <a:bodyPr rtlCol="0"/>
          <a:lstStyle/>
          <a:p>
            <a:pPr algn="ctr"/>
            <a:endParaRPr lang="zh-CN" altLang="en-US" sz="1350"/>
          </a:p>
        </p:txBody>
      </p:sp>
      <p:sp>
        <p:nvSpPr>
          <p:cNvPr id="760" name="rect"/>
          <p:cNvSpPr/>
          <p:nvPr/>
        </p:nvSpPr>
        <p:spPr>
          <a:xfrm>
            <a:off x="6102109" y="2753258"/>
            <a:ext cx="1035050" cy="14288"/>
          </a:xfrm>
          <a:prstGeom prst="rect">
            <a:avLst/>
          </a:prstGeom>
          <a:solidFill>
            <a:srgbClr val="000000">
              <a:alpha val="100000"/>
            </a:srgbClr>
          </a:solidFill>
          <a:ln cap="flat">
            <a:noFill/>
            <a:prstDash val="solid"/>
            <a:miter lim="0"/>
          </a:ln>
        </p:spPr>
        <p:txBody>
          <a:bodyPr rtlCol="0"/>
          <a:lstStyle/>
          <a:p>
            <a:pPr algn="ctr"/>
            <a:endParaRPr lang="zh-CN" altLang="en-US" sz="1350"/>
          </a:p>
        </p:txBody>
      </p:sp>
      <p:sp>
        <p:nvSpPr>
          <p:cNvPr id="762" name="rect"/>
          <p:cNvSpPr/>
          <p:nvPr/>
        </p:nvSpPr>
        <p:spPr>
          <a:xfrm>
            <a:off x="7639108" y="3337684"/>
            <a:ext cx="16597" cy="567057"/>
          </a:xfrm>
          <a:prstGeom prst="rect">
            <a:avLst/>
          </a:prstGeom>
          <a:solidFill>
            <a:srgbClr val="000000">
              <a:alpha val="100000"/>
            </a:srgbClr>
          </a:solidFill>
          <a:ln cap="flat">
            <a:noFill/>
            <a:prstDash val="solid"/>
            <a:miter lim="0"/>
          </a:ln>
        </p:spPr>
        <p:txBody>
          <a:bodyPr rtlCol="0"/>
          <a:lstStyle/>
          <a:p>
            <a:pPr algn="ctr"/>
            <a:endParaRPr lang="zh-CN" altLang="en-US" sz="1350"/>
          </a:p>
        </p:txBody>
      </p:sp>
      <p:sp>
        <p:nvSpPr>
          <p:cNvPr id="764" name="rect"/>
          <p:cNvSpPr/>
          <p:nvPr/>
        </p:nvSpPr>
        <p:spPr>
          <a:xfrm>
            <a:off x="3511946" y="3175745"/>
            <a:ext cx="16494" cy="403502"/>
          </a:xfrm>
          <a:prstGeom prst="rect">
            <a:avLst/>
          </a:prstGeom>
          <a:solidFill>
            <a:srgbClr val="000000">
              <a:alpha val="100000"/>
            </a:srgbClr>
          </a:solidFill>
          <a:ln cap="flat">
            <a:noFill/>
            <a:prstDash val="solid"/>
            <a:miter lim="0"/>
          </a:ln>
        </p:spPr>
        <p:txBody>
          <a:bodyPr rtlCol="0"/>
          <a:lstStyle/>
          <a:p>
            <a:pPr algn="ctr"/>
            <a:endParaRPr lang="zh-CN" altLang="en-US" sz="1350"/>
          </a:p>
        </p:txBody>
      </p:sp>
      <p:sp>
        <p:nvSpPr>
          <p:cNvPr id="766" name="path"/>
          <p:cNvSpPr/>
          <p:nvPr/>
        </p:nvSpPr>
        <p:spPr>
          <a:xfrm>
            <a:off x="3490862" y="3144034"/>
            <a:ext cx="57149" cy="95405"/>
          </a:xfrm>
          <a:custGeom>
            <a:avLst/>
            <a:gdLst/>
            <a:ahLst/>
            <a:cxnLst/>
            <a:rect l="0" t="0" r="0" b="0"/>
            <a:pathLst>
              <a:path w="119" h="200">
                <a:moveTo>
                  <a:pt x="0" y="200"/>
                </a:moveTo>
                <a:lnTo>
                  <a:pt x="58" y="0"/>
                </a:lnTo>
                <a:lnTo>
                  <a:pt x="119" y="199"/>
                </a:lnTo>
                <a:lnTo>
                  <a:pt x="0" y="200"/>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768" name="path"/>
          <p:cNvSpPr/>
          <p:nvPr/>
        </p:nvSpPr>
        <p:spPr>
          <a:xfrm>
            <a:off x="7073659" y="2731826"/>
            <a:ext cx="95250" cy="57150"/>
          </a:xfrm>
          <a:custGeom>
            <a:avLst/>
            <a:gdLst/>
            <a:ahLst/>
            <a:cxnLst/>
            <a:rect l="0" t="0" r="0" b="0"/>
            <a:pathLst>
              <a:path w="200" h="120">
                <a:moveTo>
                  <a:pt x="0" y="0"/>
                </a:moveTo>
                <a:lnTo>
                  <a:pt x="200" y="60"/>
                </a:lnTo>
                <a:lnTo>
                  <a:pt x="0" y="120"/>
                </a:lnTo>
                <a:lnTo>
                  <a:pt x="0" y="0"/>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770" name="path"/>
          <p:cNvSpPr/>
          <p:nvPr/>
        </p:nvSpPr>
        <p:spPr>
          <a:xfrm>
            <a:off x="6089986" y="3882724"/>
            <a:ext cx="95250" cy="57150"/>
          </a:xfrm>
          <a:custGeom>
            <a:avLst/>
            <a:gdLst/>
            <a:ahLst/>
            <a:cxnLst/>
            <a:rect l="0" t="0" r="0" b="0"/>
            <a:pathLst>
              <a:path w="200" h="120">
                <a:moveTo>
                  <a:pt x="200" y="0"/>
                </a:moveTo>
                <a:lnTo>
                  <a:pt x="0" y="60"/>
                </a:lnTo>
                <a:lnTo>
                  <a:pt x="200" y="120"/>
                </a:lnTo>
                <a:lnTo>
                  <a:pt x="200" y="0"/>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772" name="path"/>
          <p:cNvSpPr/>
          <p:nvPr/>
        </p:nvSpPr>
        <p:spPr>
          <a:xfrm>
            <a:off x="2746585" y="2748584"/>
            <a:ext cx="95250" cy="57150"/>
          </a:xfrm>
          <a:custGeom>
            <a:avLst/>
            <a:gdLst/>
            <a:ahLst/>
            <a:cxnLst/>
            <a:rect l="0" t="0" r="0" b="0"/>
            <a:pathLst>
              <a:path w="200" h="120">
                <a:moveTo>
                  <a:pt x="0" y="0"/>
                </a:moveTo>
                <a:lnTo>
                  <a:pt x="200" y="60"/>
                </a:lnTo>
                <a:lnTo>
                  <a:pt x="0" y="120"/>
                </a:lnTo>
                <a:lnTo>
                  <a:pt x="0" y="0"/>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774" name="path"/>
          <p:cNvSpPr/>
          <p:nvPr/>
        </p:nvSpPr>
        <p:spPr>
          <a:xfrm>
            <a:off x="4996709" y="2747422"/>
            <a:ext cx="95250" cy="57150"/>
          </a:xfrm>
          <a:custGeom>
            <a:avLst/>
            <a:gdLst/>
            <a:ahLst/>
            <a:cxnLst/>
            <a:rect l="0" t="0" r="0" b="0"/>
            <a:pathLst>
              <a:path w="200" h="120">
                <a:moveTo>
                  <a:pt x="0" y="0"/>
                </a:moveTo>
                <a:lnTo>
                  <a:pt x="200" y="60"/>
                </a:lnTo>
                <a:lnTo>
                  <a:pt x="0" y="120"/>
                </a:lnTo>
                <a:lnTo>
                  <a:pt x="0" y="0"/>
                </a:lnTo>
                <a:close/>
              </a:path>
            </a:pathLst>
          </a:custGeom>
          <a:solidFill>
            <a:srgbClr val="000000">
              <a:alpha val="100000"/>
            </a:srgbClr>
          </a:solidFill>
          <a:ln cap="flat">
            <a:noFill/>
            <a:prstDash val="solid"/>
            <a:miter lim="0"/>
          </a:ln>
        </p:spPr>
        <p:txBody>
          <a:bodyPr rtlCol="0"/>
          <a:lstStyle/>
          <a:p>
            <a:pPr algn="ctr"/>
            <a:endParaRPr lang="zh-CN" altLang="en-US" sz="1350"/>
          </a:p>
        </p:txBody>
      </p:sp>
      <p:sp>
        <p:nvSpPr>
          <p:cNvPr id="3" name="标题 2"/>
          <p:cNvSpPr>
            <a:spLocks noGrp="1"/>
          </p:cNvSpPr>
          <p:nvPr>
            <p:ph type="title"/>
          </p:nvPr>
        </p:nvSpPr>
        <p:spPr/>
        <p:txBody>
          <a:bodyPr/>
          <a:p>
            <a:r>
              <a:rPr lang="zh-CN" altLang="en-US" dirty="0"/>
              <a:t>机器学习方法</a:t>
            </a:r>
            <a:endParaRPr lang="en-US" altLang="zh-CN"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编写项目开发计划</a:t>
            </a:r>
            <a:endParaRPr lang="zh-CN" altLang="en-US" dirty="0"/>
          </a:p>
        </p:txBody>
      </p:sp>
      <p:sp>
        <p:nvSpPr>
          <p:cNvPr id="2" name="内容占位符 1"/>
          <p:cNvSpPr>
            <a:spLocks noGrp="1"/>
          </p:cNvSpPr>
          <p:nvPr>
            <p:ph idx="1"/>
          </p:nvPr>
        </p:nvSpPr>
        <p:spPr>
          <a:xfrm>
            <a:off x="768097" y="925167"/>
            <a:ext cx="8090153" cy="3806854"/>
          </a:xfrm>
        </p:spPr>
        <p:txBody>
          <a:bodyPr/>
          <a:lstStyle/>
          <a:p>
            <a:pPr algn="just"/>
            <a:r>
              <a:rPr lang="zh-CN" altLang="en-US" sz="1950" dirty="0"/>
              <a:t>项目组成立的第一件事是编写</a:t>
            </a:r>
            <a:r>
              <a:rPr lang="en-US" altLang="zh-CN" sz="1950" dirty="0"/>
              <a:t>《</a:t>
            </a:r>
            <a:r>
              <a:rPr lang="zh-CN" altLang="en-US" sz="1950" dirty="0"/>
              <a:t>软件项目计划书</a:t>
            </a:r>
            <a:r>
              <a:rPr lang="en-US" altLang="zh-CN" sz="1950" dirty="0"/>
              <a:t>》</a:t>
            </a:r>
            <a:r>
              <a:rPr lang="zh-CN" altLang="en-US" sz="1950" dirty="0"/>
              <a:t>，在计划书中描述开发日程安排、资源需求、项目管理等各项情况的大体内容。</a:t>
            </a:r>
            <a:endParaRPr lang="en-US" altLang="zh-CN" sz="1950" dirty="0"/>
          </a:p>
          <a:p>
            <a:pPr algn="just"/>
            <a:r>
              <a:rPr lang="zh-CN" altLang="en-US" sz="1950" dirty="0"/>
              <a:t>计划书主要向公司各相关人员发放，使他们大体了解该软件项目的情况。对于计划书的每个内容，都应有相应具体实施手册，这些手册是供项目组相关成员使用的。 </a:t>
            </a:r>
            <a:endParaRPr lang="zh-CN" altLang="en-US" sz="1950" dirty="0"/>
          </a:p>
          <a:p>
            <a:pPr algn="just"/>
            <a:r>
              <a:rPr lang="zh-CN" altLang="en-US" sz="1950" dirty="0"/>
              <a:t>编制项目开发计划的目的是用文件的形式，把对于在开发过程中各项工作的负责人员、开发进度、 所需经费预算、所需软、硬件条件等问题作出的安排记载下来，以便根据本计划开展和检查本项目的开发工作。编制内容要求如下：</a:t>
            </a:r>
            <a:endParaRPr lang="zh-CN" altLang="en-US" sz="195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8" name="日期占位符 7"/>
          <p:cNvSpPr>
            <a:spLocks noGrp="1"/>
          </p:cNvSpPr>
          <p:nvPr>
            <p:ph type="dt" sz="half" idx="10"/>
          </p:nvPr>
        </p:nvSpPr>
        <p:spPr/>
        <p:txBody>
          <a:bodyPr/>
          <a:lstStyle/>
          <a:p>
            <a:fld id="{61234C95-6696-41E7-9A31-B51F3BDD1067}" type="datetime1">
              <a:rPr lang="zh-CN" altLang="en-US" smtClean="0"/>
            </a:fld>
            <a:endParaRPr lang="zh-CN" altLang="en-US" dirty="0"/>
          </a:p>
        </p:txBody>
      </p:sp>
      <p:sp>
        <p:nvSpPr>
          <p:cNvPr id="9" name="页脚占位符 8"/>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8583B00-E6F2-449C-B0EF-34909FEE7D5F}"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a:p>
        </p:txBody>
      </p:sp>
      <p:sp>
        <p:nvSpPr>
          <p:cNvPr id="5" name="椭圆 4"/>
          <p:cNvSpPr/>
          <p:nvPr/>
        </p:nvSpPr>
        <p:spPr>
          <a:xfrm>
            <a:off x="4141082" y="1638634"/>
            <a:ext cx="167616" cy="167616"/>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6" name="文本框 25"/>
          <p:cNvSpPr txBox="1">
            <a:spLocks noChangeArrowheads="1"/>
          </p:cNvSpPr>
          <p:nvPr/>
        </p:nvSpPr>
        <p:spPr bwMode="auto">
          <a:xfrm>
            <a:off x="3474221" y="1568573"/>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rPr>
              <a:t>01</a:t>
            </a:r>
            <a:endParaRPr lang="zh-CN" altLang="en-US"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p:nvSpPr>
        <p:spPr>
          <a:xfrm>
            <a:off x="4432830" y="1568573"/>
            <a:ext cx="3083937" cy="369332"/>
          </a:xfrm>
          <a:prstGeom prst="rect">
            <a:avLst/>
          </a:prstGeom>
          <a:noFill/>
        </p:spPr>
        <p:txBody>
          <a:bodyPr wrap="square" lIns="0" tIns="0" rIns="0" bIns="0">
            <a:spAutoFit/>
          </a:bodyPr>
          <a:lstStyle/>
          <a:p>
            <a:pPr>
              <a:defRPr/>
            </a:pPr>
            <a:r>
              <a:rPr lang="en-US" altLang="zh-CN" sz="24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UML</a:t>
            </a:r>
            <a:r>
              <a:rPr lang="zh-CN" altLang="en-US" sz="24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的定义</a:t>
            </a:r>
            <a:endParaRPr lang="zh-CN" altLang="en-US" sz="24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8" name="椭圆 7"/>
          <p:cNvSpPr/>
          <p:nvPr/>
        </p:nvSpPr>
        <p:spPr>
          <a:xfrm>
            <a:off x="4141082" y="2122367"/>
            <a:ext cx="167616" cy="167616"/>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9" name="文本框 28"/>
          <p:cNvSpPr txBox="1">
            <a:spLocks noChangeArrowheads="1"/>
          </p:cNvSpPr>
          <p:nvPr/>
        </p:nvSpPr>
        <p:spPr bwMode="auto">
          <a:xfrm>
            <a:off x="3474221" y="2052306"/>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1"/>
                </a:solidFill>
                <a:latin typeface="Arial" panose="020B0604020202020204" pitchFamily="34" charset="0"/>
                <a:cs typeface="Arial" panose="020B0604020202020204" pitchFamily="34" charset="0"/>
                <a:sym typeface="Arial" panose="020B0604020202020204" pitchFamily="34" charset="0"/>
              </a:rPr>
              <a:t>02</a:t>
            </a:r>
            <a:endParaRPr lang="zh-CN" altLang="en-US" sz="2400" dirty="0">
              <a:solidFill>
                <a:schemeClr val="accent1"/>
              </a:solidFill>
              <a:latin typeface="Arial" panose="020B0604020202020204" pitchFamily="34" charset="0"/>
              <a:cs typeface="Arial" panose="020B0604020202020204" pitchFamily="34" charset="0"/>
              <a:sym typeface="Arial" panose="020B0604020202020204" pitchFamily="34" charset="0"/>
            </a:endParaRPr>
          </a:p>
        </p:txBody>
      </p:sp>
      <p:sp>
        <p:nvSpPr>
          <p:cNvPr id="10" name="文本框 9"/>
          <p:cNvSpPr txBox="1"/>
          <p:nvPr/>
        </p:nvSpPr>
        <p:spPr>
          <a:xfrm>
            <a:off x="4432830" y="2052306"/>
            <a:ext cx="3083937" cy="369332"/>
          </a:xfrm>
          <a:prstGeom prst="rect">
            <a:avLst/>
          </a:prstGeom>
          <a:noFill/>
        </p:spPr>
        <p:txBody>
          <a:bodyPr wrap="square" lIns="0" tIns="0" rIns="0" bIns="0">
            <a:spAutoFit/>
          </a:bodyPr>
          <a:lstStyle/>
          <a:p>
            <a:pPr>
              <a:defRPr/>
            </a:pPr>
            <a:r>
              <a:rPr lang="en-US" altLang="zh-CN" sz="2400"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UML</a:t>
            </a:r>
            <a:r>
              <a:rPr lang="zh-CN" altLang="en-US" sz="2400"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的</a:t>
            </a:r>
            <a:r>
              <a:rPr lang="en-US" altLang="zh-CN" sz="2400"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5</a:t>
            </a:r>
            <a:r>
              <a:rPr lang="zh-CN" altLang="en-US" sz="2400"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类图形</a:t>
            </a:r>
            <a:endParaRPr lang="zh-CN" altLang="en-US" sz="2400"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1" name="椭圆 10"/>
          <p:cNvSpPr/>
          <p:nvPr/>
        </p:nvSpPr>
        <p:spPr>
          <a:xfrm>
            <a:off x="4141082" y="2606100"/>
            <a:ext cx="167616" cy="167616"/>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2" name="文本框 30"/>
          <p:cNvSpPr txBox="1">
            <a:spLocks noChangeArrowheads="1"/>
          </p:cNvSpPr>
          <p:nvPr/>
        </p:nvSpPr>
        <p:spPr bwMode="auto">
          <a:xfrm>
            <a:off x="3474221" y="2536039"/>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rPr>
              <a:t>03</a:t>
            </a:r>
            <a:endParaRPr lang="zh-CN" altLang="en-US"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3" name="文本框 12"/>
          <p:cNvSpPr txBox="1"/>
          <p:nvPr/>
        </p:nvSpPr>
        <p:spPr>
          <a:xfrm>
            <a:off x="4432830" y="2536039"/>
            <a:ext cx="3083937" cy="369332"/>
          </a:xfrm>
          <a:prstGeom prst="rect">
            <a:avLst/>
          </a:prstGeom>
          <a:noFill/>
        </p:spPr>
        <p:txBody>
          <a:bodyPr wrap="square" lIns="0" tIns="0" rIns="0" bIns="0">
            <a:spAutoFit/>
          </a:bodyPr>
          <a:lstStyle/>
          <a:p>
            <a:pPr>
              <a:defRPr/>
            </a:pPr>
            <a:r>
              <a:rPr lang="en-US" altLang="zh-CN" sz="24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UML</a:t>
            </a:r>
            <a:r>
              <a:rPr lang="zh-CN" altLang="en-US" sz="24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的组成</a:t>
            </a:r>
            <a:endParaRPr lang="zh-CN" altLang="en-US" sz="24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4" name="椭圆 13"/>
          <p:cNvSpPr/>
          <p:nvPr/>
        </p:nvSpPr>
        <p:spPr>
          <a:xfrm>
            <a:off x="4141082" y="3089833"/>
            <a:ext cx="167616" cy="167616"/>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5" name="文本框 32"/>
          <p:cNvSpPr txBox="1">
            <a:spLocks noChangeArrowheads="1"/>
          </p:cNvSpPr>
          <p:nvPr/>
        </p:nvSpPr>
        <p:spPr bwMode="auto">
          <a:xfrm>
            <a:off x="3474221" y="3019772"/>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1"/>
                </a:solidFill>
                <a:latin typeface="Arial" panose="020B0604020202020204" pitchFamily="34" charset="0"/>
                <a:cs typeface="Arial" panose="020B0604020202020204" pitchFamily="34" charset="0"/>
                <a:sym typeface="Arial" panose="020B0604020202020204" pitchFamily="34" charset="0"/>
              </a:rPr>
              <a:t>04</a:t>
            </a:r>
            <a:endParaRPr lang="zh-CN" altLang="en-US" sz="2400" dirty="0">
              <a:solidFill>
                <a:schemeClr val="accent1"/>
              </a:solidFill>
              <a:latin typeface="Arial" panose="020B0604020202020204" pitchFamily="34" charset="0"/>
              <a:cs typeface="Arial" panose="020B0604020202020204" pitchFamily="34" charset="0"/>
              <a:sym typeface="Arial" panose="020B0604020202020204" pitchFamily="34" charset="0"/>
            </a:endParaRPr>
          </a:p>
        </p:txBody>
      </p:sp>
      <p:sp>
        <p:nvSpPr>
          <p:cNvPr id="16" name="文本框 15"/>
          <p:cNvSpPr txBox="1"/>
          <p:nvPr/>
        </p:nvSpPr>
        <p:spPr>
          <a:xfrm>
            <a:off x="4432830" y="3019772"/>
            <a:ext cx="3663271" cy="369332"/>
          </a:xfrm>
          <a:prstGeom prst="rect">
            <a:avLst/>
          </a:prstGeom>
          <a:noFill/>
        </p:spPr>
        <p:txBody>
          <a:bodyPr wrap="square" lIns="0" tIns="0" rIns="0" bIns="0">
            <a:spAutoFit/>
          </a:bodyPr>
          <a:lstStyle/>
          <a:p>
            <a:pPr>
              <a:defRPr/>
            </a:pPr>
            <a:r>
              <a:rPr lang="en-US" altLang="zh-CN" sz="2400" dirty="0">
                <a:solidFill>
                  <a:schemeClr val="accent1"/>
                </a:solidFill>
                <a:latin typeface="Arial" panose="020B0604020202020204" pitchFamily="34" charset="0"/>
                <a:ea typeface="微软雅黑" panose="020B0503020204020204" pitchFamily="34" charset="-122"/>
                <a:sym typeface="Arial" panose="020B0604020202020204" pitchFamily="34" charset="0"/>
              </a:rPr>
              <a:t>UML</a:t>
            </a:r>
            <a:r>
              <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rPr>
              <a:t>的应用案例</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Title 1"/>
          <p:cNvSpPr txBox="1"/>
          <p:nvPr/>
        </p:nvSpPr>
        <p:spPr>
          <a:xfrm>
            <a:off x="1143000" y="83636"/>
            <a:ext cx="7552030" cy="656340"/>
          </a:xfrm>
          <a:prstGeom prst="rect">
            <a:avLst/>
          </a:prstGeom>
        </p:spPr>
        <p:txBody>
          <a:bodyPr vert="horz" lIns="91440" tIns="45720" rIns="91440" bIns="45720" rtlCol="0" anchor="ctr">
            <a:normAutofit/>
          </a:bodyPr>
          <a:lstStyle>
            <a:lvl1pPr algn="r" defTabSz="685800" rtl="0" eaLnBrk="1" latinLnBrk="0" hangingPunct="1">
              <a:lnSpc>
                <a:spcPct val="80000"/>
              </a:lnSpc>
              <a:spcBef>
                <a:spcPct val="0"/>
              </a:spcBef>
              <a:buNone/>
              <a:defRPr sz="3750" b="1" kern="1200" cap="all" spc="150" baseline="0">
                <a:solidFill>
                  <a:schemeClr val="bg1"/>
                </a:solidFill>
                <a:latin typeface="+mj-lt"/>
                <a:ea typeface="+mj-ea"/>
                <a:cs typeface="+mj-cs"/>
              </a:defRPr>
            </a:lvl1pPr>
          </a:lstStyle>
          <a:p>
            <a:pPr algn="l"/>
            <a:r>
              <a:rPr lang="en-US" altLang="zh-CN" sz="2800" dirty="0"/>
              <a:t>UML</a:t>
            </a:r>
            <a:r>
              <a:rPr lang="zh-CN" altLang="en-US" sz="2800" dirty="0"/>
              <a:t>语言概述</a:t>
            </a:r>
            <a:endParaRPr lang="en-US" sz="28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什么是</a:t>
            </a:r>
            <a:r>
              <a:rPr lang="en-US" altLang="zh-CN" dirty="0"/>
              <a:t>UML</a:t>
            </a:r>
            <a:endParaRPr lang="zh-CN" altLang="en-US" dirty="0"/>
          </a:p>
        </p:txBody>
      </p:sp>
      <p:sp>
        <p:nvSpPr>
          <p:cNvPr id="5" name="内容占位符 4"/>
          <p:cNvSpPr>
            <a:spLocks noGrp="1"/>
          </p:cNvSpPr>
          <p:nvPr>
            <p:ph idx="1"/>
          </p:nvPr>
        </p:nvSpPr>
        <p:spPr/>
        <p:txBody>
          <a:bodyPr>
            <a:noAutofit/>
          </a:bodyPr>
          <a:lstStyle/>
          <a:p>
            <a:pPr algn="just">
              <a:spcBef>
                <a:spcPts val="600"/>
              </a:spcBef>
            </a:pPr>
            <a:r>
              <a:rPr lang="en-US" altLang="zh-CN" sz="2000" dirty="0">
                <a:solidFill>
                  <a:srgbClr val="FF0000"/>
                </a:solidFill>
              </a:rPr>
              <a:t>UML</a:t>
            </a:r>
            <a:r>
              <a:rPr lang="zh-CN" altLang="en-US" sz="2000" dirty="0">
                <a:solidFill>
                  <a:srgbClr val="FF0000"/>
                </a:solidFill>
              </a:rPr>
              <a:t>（</a:t>
            </a:r>
            <a:r>
              <a:rPr lang="en-US" altLang="zh-CN" sz="2000" dirty="0">
                <a:solidFill>
                  <a:srgbClr val="FF0000"/>
                </a:solidFill>
              </a:rPr>
              <a:t>Unified Modeling Language</a:t>
            </a:r>
            <a:r>
              <a:rPr lang="zh-CN" altLang="en-US" sz="2000" dirty="0">
                <a:solidFill>
                  <a:srgbClr val="FF0000"/>
                </a:solidFill>
              </a:rPr>
              <a:t>），统一建模语言</a:t>
            </a:r>
            <a:endParaRPr lang="en-US" altLang="zh-CN" sz="2000" dirty="0">
              <a:solidFill>
                <a:srgbClr val="FF0000"/>
              </a:solidFill>
            </a:endParaRPr>
          </a:p>
          <a:p>
            <a:pPr>
              <a:spcBef>
                <a:spcPts val="600"/>
              </a:spcBef>
            </a:pPr>
            <a:r>
              <a:rPr lang="zh-CN" altLang="en-US" sz="2000" dirty="0"/>
              <a:t>是一个通用的标准建模语言，是一种直观化、明确化、构建和文档化软件系统产物的通用可视化建模语言。</a:t>
            </a:r>
            <a:endParaRPr lang="en-US" altLang="zh-CN" sz="2000" dirty="0"/>
          </a:p>
          <a:p>
            <a:pPr algn="just">
              <a:spcBef>
                <a:spcPts val="600"/>
              </a:spcBef>
            </a:pPr>
            <a:r>
              <a:rPr lang="zh-CN" altLang="en-US" sz="2000" dirty="0"/>
              <a:t>是一种面向对象技术的标准建模语言，它支持软件开发中从需求分析到测试的全过程。</a:t>
            </a:r>
            <a:endParaRPr lang="en-US" altLang="zh-CN" sz="2000" dirty="0"/>
          </a:p>
          <a:p>
            <a:pPr algn="just">
              <a:spcBef>
                <a:spcPts val="600"/>
              </a:spcBef>
            </a:pPr>
            <a:r>
              <a:rPr lang="zh-CN" altLang="en-US" sz="2000" dirty="0"/>
              <a:t>是多种面向对象开发方法</a:t>
            </a:r>
            <a:r>
              <a:rPr lang="en-US" altLang="zh-CN" sz="2000" dirty="0" err="1"/>
              <a:t>Booch</a:t>
            </a:r>
            <a:r>
              <a:rPr lang="zh-CN" altLang="en-US" sz="2000" dirty="0"/>
              <a:t>、</a:t>
            </a:r>
            <a:r>
              <a:rPr lang="en-US" altLang="zh-CN" sz="2000" dirty="0"/>
              <a:t>OMT</a:t>
            </a:r>
            <a:r>
              <a:rPr lang="zh-CN" altLang="en-US" sz="2000" dirty="0"/>
              <a:t>、</a:t>
            </a:r>
            <a:r>
              <a:rPr lang="en-US" altLang="zh-CN" sz="2000" dirty="0"/>
              <a:t>OOSE</a:t>
            </a:r>
            <a:r>
              <a:rPr lang="zh-CN" altLang="en-US" sz="2000" dirty="0"/>
              <a:t>等优秀思想、成果、符号的统一体。是一种可视化的建模语言，而不是一门程序设计语言。</a:t>
            </a:r>
            <a:endParaRPr lang="en-US" altLang="zh-CN" sz="2000" dirty="0"/>
          </a:p>
          <a:p>
            <a:pPr>
              <a:spcBef>
                <a:spcPts val="600"/>
              </a:spcBef>
            </a:pPr>
            <a:r>
              <a:rPr lang="en-US" altLang="zh-CN" sz="2000" dirty="0"/>
              <a:t>UML</a:t>
            </a:r>
            <a:r>
              <a:rPr lang="zh-CN" altLang="en-US" sz="2000" dirty="0"/>
              <a:t>独立于软件开发过程，用户可以对任何适合的过程使用</a:t>
            </a:r>
            <a:r>
              <a:rPr lang="en-US" altLang="zh-CN" sz="2000" dirty="0"/>
              <a:t>UML</a:t>
            </a:r>
            <a:r>
              <a:rPr lang="zh-CN" altLang="en-US" sz="2000" dirty="0"/>
              <a:t>进行建模，如</a:t>
            </a:r>
            <a:r>
              <a:rPr lang="zh-CN" altLang="zh-CN" sz="2000" dirty="0"/>
              <a:t>数据建模、业务建模、对象建模和组件建模</a:t>
            </a:r>
            <a:r>
              <a:rPr lang="zh-CN" altLang="en-US" sz="2000" dirty="0"/>
              <a:t>。</a:t>
            </a:r>
            <a:endParaRPr lang="zh-CN" altLang="en-US" sz="2000" dirty="0"/>
          </a:p>
        </p:txBody>
      </p:sp>
      <p:sp>
        <p:nvSpPr>
          <p:cNvPr id="7" name="日期占位符 6"/>
          <p:cNvSpPr>
            <a:spLocks noGrp="1"/>
          </p:cNvSpPr>
          <p:nvPr>
            <p:ph type="dt" sz="half" idx="10"/>
          </p:nvPr>
        </p:nvSpPr>
        <p:spPr/>
        <p:txBody>
          <a:bodyPr/>
          <a:lstStyle/>
          <a:p>
            <a:fld id="{D3A6A7D9-FECC-4933-BB02-CCB7E56AE0A8}"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zh-CN" altLang="en-US" dirty="0"/>
              <a:t>为什么需要</a:t>
            </a:r>
            <a:r>
              <a:rPr lang="en-US" altLang="zh-CN" dirty="0"/>
              <a:t>UML</a:t>
            </a:r>
            <a:r>
              <a:rPr lang="zh-CN" altLang="en-US" dirty="0"/>
              <a:t>？</a:t>
            </a:r>
            <a:endParaRPr lang="zh-CN" altLang="en-US" dirty="0"/>
          </a:p>
        </p:txBody>
      </p:sp>
      <p:graphicFrame>
        <p:nvGraphicFramePr>
          <p:cNvPr id="48139" name="Object 11"/>
          <p:cNvGraphicFramePr>
            <a:graphicFrameLocks noGrp="1" noChangeAspect="1"/>
          </p:cNvGraphicFramePr>
          <p:nvPr>
            <p:ph idx="1"/>
          </p:nvPr>
        </p:nvGraphicFramePr>
        <p:xfrm>
          <a:off x="4054853" y="1299943"/>
          <a:ext cx="4848764" cy="2545389"/>
        </p:xfrm>
        <a:graphic>
          <a:graphicData uri="http://schemas.openxmlformats.org/presentationml/2006/ole">
            <mc:AlternateContent xmlns:mc="http://schemas.openxmlformats.org/markup-compatibility/2006">
              <mc:Choice xmlns:v="urn:schemas-microsoft-com:vml" Requires="v">
                <p:oleObj spid="_x0000_s1124" name="Image" r:id="rId1" imgW="8510270" imgH="4468495" progId="">
                  <p:embed/>
                </p:oleObj>
              </mc:Choice>
              <mc:Fallback>
                <p:oleObj name="Image" r:id="rId1" imgW="8510270" imgH="4468495" progId="">
                  <p:embed/>
                  <p:pic>
                    <p:nvPicPr>
                      <p:cNvPr id="0" name="Object 11"/>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4853" y="1299943"/>
                        <a:ext cx="4848764" cy="2545389"/>
                      </a:xfrm>
                      <a:prstGeom prst="rect">
                        <a:avLst/>
                      </a:prstGeom>
                      <a:noFill/>
                    </p:spPr>
                  </p:pic>
                </p:oleObj>
              </mc:Fallback>
            </mc:AlternateContent>
          </a:graphicData>
        </a:graphic>
      </p:graphicFrame>
      <p:sp>
        <p:nvSpPr>
          <p:cNvPr id="6" name="日期占位符 5"/>
          <p:cNvSpPr>
            <a:spLocks noGrp="1"/>
          </p:cNvSpPr>
          <p:nvPr>
            <p:ph type="dt" sz="half" idx="10"/>
          </p:nvPr>
        </p:nvSpPr>
        <p:spPr/>
        <p:txBody>
          <a:bodyPr/>
          <a:lstStyle/>
          <a:p>
            <a:fld id="{495125DD-9F31-482C-9AEF-5886558BEDA8}"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grpSp>
        <p:nvGrpSpPr>
          <p:cNvPr id="2" name="Group 3"/>
          <p:cNvGrpSpPr/>
          <p:nvPr/>
        </p:nvGrpSpPr>
        <p:grpSpPr bwMode="auto">
          <a:xfrm>
            <a:off x="258589" y="1409441"/>
            <a:ext cx="3796264" cy="2670572"/>
            <a:chOff x="1524" y="1332"/>
            <a:chExt cx="2601" cy="2124"/>
          </a:xfrm>
        </p:grpSpPr>
        <p:sp>
          <p:nvSpPr>
            <p:cNvPr id="48132" name="Line 4"/>
            <p:cNvSpPr>
              <a:spLocks noChangeShapeType="1"/>
            </p:cNvSpPr>
            <p:nvPr/>
          </p:nvSpPr>
          <p:spPr bwMode="blackWhite">
            <a:xfrm rot="-5400000">
              <a:off x="2325" y="1506"/>
              <a:ext cx="1038" cy="1734"/>
            </a:xfrm>
            <a:prstGeom prst="line">
              <a:avLst/>
            </a:prstGeom>
            <a:noFill/>
            <a:ln w="28575">
              <a:solidFill>
                <a:schemeClr val="tx1"/>
              </a:solidFill>
              <a:round/>
            </a:ln>
            <a:effectLst/>
          </p:spPr>
          <p:txBody>
            <a:bodyPr lIns="0" tIns="0" rIns="0" bIns="0" anchor="ctr">
              <a:spAutoFit/>
            </a:bodyPr>
            <a:lstStyle/>
            <a:p>
              <a:pPr algn="ctr"/>
              <a:endParaRPr lang="zh-CN" altLang="en-US" sz="1600">
                <a:latin typeface="+mj-ea"/>
                <a:ea typeface="+mj-ea"/>
              </a:endParaRPr>
            </a:p>
          </p:txBody>
        </p:sp>
        <p:sp>
          <p:nvSpPr>
            <p:cNvPr id="48133" name="Line 5"/>
            <p:cNvSpPr>
              <a:spLocks noChangeShapeType="1"/>
            </p:cNvSpPr>
            <p:nvPr/>
          </p:nvSpPr>
          <p:spPr bwMode="blackWhite">
            <a:xfrm rot="5400000" flipH="1">
              <a:off x="2316" y="1485"/>
              <a:ext cx="1044" cy="1782"/>
            </a:xfrm>
            <a:prstGeom prst="line">
              <a:avLst/>
            </a:prstGeom>
            <a:noFill/>
            <a:ln w="28575">
              <a:solidFill>
                <a:schemeClr val="tx1"/>
              </a:solidFill>
              <a:round/>
            </a:ln>
            <a:effectLst/>
          </p:spPr>
          <p:txBody>
            <a:bodyPr lIns="0" tIns="0" rIns="0" bIns="0" anchor="ctr">
              <a:spAutoFit/>
            </a:bodyPr>
            <a:lstStyle/>
            <a:p>
              <a:pPr algn="ctr"/>
              <a:endParaRPr lang="zh-CN" altLang="en-US" sz="1600">
                <a:latin typeface="+mj-ea"/>
                <a:ea typeface="+mj-ea"/>
              </a:endParaRPr>
            </a:p>
          </p:txBody>
        </p:sp>
        <p:sp>
          <p:nvSpPr>
            <p:cNvPr id="48134" name="Oval 6"/>
            <p:cNvSpPr>
              <a:spLocks noChangeArrowheads="1"/>
            </p:cNvSpPr>
            <p:nvPr/>
          </p:nvSpPr>
          <p:spPr bwMode="blackWhite">
            <a:xfrm>
              <a:off x="1536" y="1332"/>
              <a:ext cx="780" cy="780"/>
            </a:xfrm>
            <a:prstGeom prst="ellipse">
              <a:avLst/>
            </a:prstGeom>
            <a:gradFill rotWithShape="0">
              <a:gsLst>
                <a:gs pos="0">
                  <a:schemeClr val="accent1"/>
                </a:gs>
                <a:gs pos="100000">
                  <a:schemeClr val="accent1">
                    <a:gamma/>
                    <a:shade val="36078"/>
                    <a:invGamma/>
                  </a:schemeClr>
                </a:gs>
              </a:gsLst>
              <a:path path="rect">
                <a:fillToRect r="100000" b="100000"/>
              </a:path>
            </a:gradFill>
            <a:ln w="9525">
              <a:noFill/>
              <a:round/>
            </a:ln>
            <a:effectLst/>
          </p:spPr>
          <p:txBody>
            <a:bodyPr wrap="none" lIns="0" tIns="0" rIns="0" bIns="0" anchor="ctr"/>
            <a:lstStyle/>
            <a:p>
              <a:pPr algn="ctr" defTabSz="503555">
                <a:buSzPct val="75000"/>
              </a:pPr>
              <a:r>
                <a:rPr lang="zh-CN" altLang="en-US" sz="1600" dirty="0">
                  <a:solidFill>
                    <a:schemeClr val="bg1"/>
                  </a:solidFill>
                  <a:latin typeface="+mj-ea"/>
                  <a:ea typeface="+mj-ea"/>
                </a:rPr>
                <a:t>客户</a:t>
              </a:r>
              <a:endParaRPr lang="zh-CN" altLang="en-US" sz="1600" dirty="0">
                <a:solidFill>
                  <a:schemeClr val="bg1"/>
                </a:solidFill>
                <a:latin typeface="+mj-ea"/>
                <a:ea typeface="+mj-ea"/>
              </a:endParaRPr>
            </a:p>
          </p:txBody>
        </p:sp>
        <p:sp>
          <p:nvSpPr>
            <p:cNvPr id="48135" name="Oval 7"/>
            <p:cNvSpPr>
              <a:spLocks noChangeArrowheads="1"/>
            </p:cNvSpPr>
            <p:nvPr/>
          </p:nvSpPr>
          <p:spPr bwMode="blackWhite">
            <a:xfrm>
              <a:off x="3312" y="1344"/>
              <a:ext cx="780" cy="780"/>
            </a:xfrm>
            <a:prstGeom prst="ellipse">
              <a:avLst/>
            </a:prstGeom>
            <a:gradFill rotWithShape="0">
              <a:gsLst>
                <a:gs pos="0">
                  <a:schemeClr val="accent1"/>
                </a:gs>
                <a:gs pos="100000">
                  <a:schemeClr val="accent1">
                    <a:gamma/>
                    <a:shade val="36078"/>
                    <a:invGamma/>
                  </a:schemeClr>
                </a:gs>
              </a:gsLst>
              <a:path path="rect">
                <a:fillToRect r="100000" b="100000"/>
              </a:path>
            </a:gradFill>
            <a:ln w="9525">
              <a:noFill/>
              <a:round/>
            </a:ln>
            <a:effectLst/>
          </p:spPr>
          <p:txBody>
            <a:bodyPr wrap="none" lIns="0" tIns="0" rIns="0" bIns="0" anchor="ctr"/>
            <a:lstStyle/>
            <a:p>
              <a:pPr algn="ctr" defTabSz="503555">
                <a:buSzPct val="75000"/>
              </a:pPr>
              <a:r>
                <a:rPr lang="zh-CN" altLang="en-US" sz="1600">
                  <a:solidFill>
                    <a:schemeClr val="bg1"/>
                  </a:solidFill>
                  <a:latin typeface="+mj-ea"/>
                  <a:ea typeface="+mj-ea"/>
                </a:rPr>
                <a:t>系统分析员</a:t>
              </a:r>
              <a:endParaRPr lang="zh-CN" altLang="en-US" sz="1600">
                <a:solidFill>
                  <a:schemeClr val="bg1"/>
                </a:solidFill>
                <a:latin typeface="+mj-ea"/>
                <a:ea typeface="+mj-ea"/>
              </a:endParaRPr>
            </a:p>
          </p:txBody>
        </p:sp>
        <p:sp>
          <p:nvSpPr>
            <p:cNvPr id="48136" name="Oval 8"/>
            <p:cNvSpPr>
              <a:spLocks noChangeArrowheads="1"/>
            </p:cNvSpPr>
            <p:nvPr/>
          </p:nvSpPr>
          <p:spPr bwMode="blackWhite">
            <a:xfrm>
              <a:off x="3345" y="2676"/>
              <a:ext cx="780" cy="780"/>
            </a:xfrm>
            <a:prstGeom prst="ellipse">
              <a:avLst/>
            </a:prstGeom>
            <a:gradFill rotWithShape="0">
              <a:gsLst>
                <a:gs pos="0">
                  <a:schemeClr val="accent1"/>
                </a:gs>
                <a:gs pos="100000">
                  <a:schemeClr val="accent1">
                    <a:gamma/>
                    <a:shade val="36078"/>
                    <a:invGamma/>
                  </a:schemeClr>
                </a:gs>
              </a:gsLst>
              <a:path path="rect">
                <a:fillToRect r="100000" b="100000"/>
              </a:path>
            </a:gradFill>
            <a:ln w="9525">
              <a:noFill/>
              <a:round/>
            </a:ln>
            <a:effectLst/>
          </p:spPr>
          <p:txBody>
            <a:bodyPr wrap="none" lIns="0" tIns="0" rIns="0" bIns="0" anchor="ctr"/>
            <a:lstStyle/>
            <a:p>
              <a:pPr algn="ctr" defTabSz="503555">
                <a:buSzPct val="75000"/>
              </a:pPr>
              <a:r>
                <a:rPr lang="zh-CN" altLang="en-US" sz="1600">
                  <a:solidFill>
                    <a:schemeClr val="bg1"/>
                  </a:solidFill>
                  <a:latin typeface="+mj-ea"/>
                  <a:ea typeface="+mj-ea"/>
                </a:rPr>
                <a:t>其他人员</a:t>
              </a:r>
              <a:endParaRPr lang="zh-CN" altLang="en-US" sz="1600">
                <a:solidFill>
                  <a:schemeClr val="bg1"/>
                </a:solidFill>
                <a:latin typeface="+mj-ea"/>
                <a:ea typeface="+mj-ea"/>
              </a:endParaRPr>
            </a:p>
          </p:txBody>
        </p:sp>
        <p:sp>
          <p:nvSpPr>
            <p:cNvPr id="48137" name="Oval 9"/>
            <p:cNvSpPr>
              <a:spLocks noChangeArrowheads="1"/>
            </p:cNvSpPr>
            <p:nvPr/>
          </p:nvSpPr>
          <p:spPr bwMode="blackWhite">
            <a:xfrm>
              <a:off x="1524" y="2640"/>
              <a:ext cx="780" cy="780"/>
            </a:xfrm>
            <a:prstGeom prst="ellipse">
              <a:avLst/>
            </a:prstGeom>
            <a:gradFill rotWithShape="0">
              <a:gsLst>
                <a:gs pos="0">
                  <a:schemeClr val="accent1"/>
                </a:gs>
                <a:gs pos="100000">
                  <a:schemeClr val="accent1">
                    <a:gamma/>
                    <a:shade val="36078"/>
                    <a:invGamma/>
                  </a:schemeClr>
                </a:gs>
              </a:gsLst>
              <a:path path="rect">
                <a:fillToRect r="100000" b="100000"/>
              </a:path>
            </a:gradFill>
            <a:ln w="9525">
              <a:noFill/>
              <a:round/>
            </a:ln>
            <a:effectLst/>
          </p:spPr>
          <p:txBody>
            <a:bodyPr wrap="none" lIns="0" tIns="0" rIns="0" bIns="0" anchor="ctr"/>
            <a:lstStyle/>
            <a:p>
              <a:pPr algn="ctr" defTabSz="503555">
                <a:buSzPct val="75000"/>
              </a:pPr>
              <a:r>
                <a:rPr lang="zh-CN" altLang="en-US" sz="1600">
                  <a:solidFill>
                    <a:schemeClr val="bg1"/>
                  </a:solidFill>
                  <a:latin typeface="+mj-ea"/>
                  <a:ea typeface="+mj-ea"/>
                </a:rPr>
                <a:t>开发人员</a:t>
              </a:r>
              <a:endParaRPr lang="zh-CN" altLang="en-US" sz="1600">
                <a:solidFill>
                  <a:schemeClr val="bg1"/>
                </a:solidFill>
                <a:latin typeface="+mj-ea"/>
                <a:ea typeface="+mj-ea"/>
              </a:endParaRPr>
            </a:p>
          </p:txBody>
        </p:sp>
        <p:sp>
          <p:nvSpPr>
            <p:cNvPr id="48138" name="Oval 10"/>
            <p:cNvSpPr>
              <a:spLocks noChangeArrowheads="1"/>
            </p:cNvSpPr>
            <p:nvPr/>
          </p:nvSpPr>
          <p:spPr bwMode="blackWhite">
            <a:xfrm>
              <a:off x="2460" y="1977"/>
              <a:ext cx="780" cy="780"/>
            </a:xfrm>
            <a:prstGeom prst="ellipse">
              <a:avLst/>
            </a:prstGeom>
            <a:gradFill rotWithShape="0">
              <a:gsLst>
                <a:gs pos="0">
                  <a:schemeClr val="accent1"/>
                </a:gs>
                <a:gs pos="100000">
                  <a:schemeClr val="accent1">
                    <a:gamma/>
                    <a:shade val="36078"/>
                    <a:invGamma/>
                  </a:schemeClr>
                </a:gs>
              </a:gsLst>
              <a:path path="rect">
                <a:fillToRect r="100000" b="100000"/>
              </a:path>
            </a:gradFill>
            <a:ln w="9525">
              <a:noFill/>
              <a:round/>
            </a:ln>
            <a:effectLst/>
          </p:spPr>
          <p:txBody>
            <a:bodyPr wrap="none" lIns="0" tIns="0" rIns="0" bIns="0" anchor="ctr"/>
            <a:lstStyle/>
            <a:p>
              <a:pPr algn="ctr" defTabSz="503555">
                <a:buSzPct val="75000"/>
              </a:pPr>
              <a:r>
                <a:rPr lang="en-US" altLang="zh-CN" sz="1600" dirty="0">
                  <a:solidFill>
                    <a:schemeClr val="bg1"/>
                  </a:solidFill>
                  <a:latin typeface="+mj-ea"/>
                  <a:ea typeface="+mj-ea"/>
                </a:rPr>
                <a:t>UML</a:t>
              </a:r>
              <a:r>
                <a:rPr lang="zh-CN" altLang="en-US" sz="1600" dirty="0">
                  <a:solidFill>
                    <a:schemeClr val="bg1"/>
                  </a:solidFill>
                  <a:latin typeface="+mj-ea"/>
                  <a:ea typeface="+mj-ea"/>
                </a:rPr>
                <a:t>模型</a:t>
              </a:r>
              <a:endParaRPr lang="zh-CN" altLang="en-US" sz="1600" dirty="0">
                <a:solidFill>
                  <a:schemeClr val="bg1"/>
                </a:solidFill>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8" name="Group 4"/>
          <p:cNvGrpSpPr/>
          <p:nvPr/>
        </p:nvGrpSpPr>
        <p:grpSpPr bwMode="auto">
          <a:xfrm>
            <a:off x="550182" y="962423"/>
            <a:ext cx="8308068" cy="3500721"/>
            <a:chOff x="0" y="0"/>
            <a:chExt cx="5307" cy="3039"/>
          </a:xfrm>
        </p:grpSpPr>
        <p:pic>
          <p:nvPicPr>
            <p:cNvPr id="31749"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5307" cy="3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750" name="Oval 6"/>
            <p:cNvSpPr>
              <a:spLocks noChangeArrowheads="1"/>
            </p:cNvSpPr>
            <p:nvPr/>
          </p:nvSpPr>
          <p:spPr bwMode="auto">
            <a:xfrm>
              <a:off x="46" y="137"/>
              <a:ext cx="317" cy="181"/>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350"/>
            </a:p>
          </p:txBody>
        </p:sp>
        <p:sp>
          <p:nvSpPr>
            <p:cNvPr id="31751" name="Oval 7"/>
            <p:cNvSpPr>
              <a:spLocks noChangeArrowheads="1"/>
            </p:cNvSpPr>
            <p:nvPr/>
          </p:nvSpPr>
          <p:spPr bwMode="auto">
            <a:xfrm>
              <a:off x="46" y="1089"/>
              <a:ext cx="317" cy="181"/>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350"/>
            </a:p>
          </p:txBody>
        </p:sp>
        <p:sp>
          <p:nvSpPr>
            <p:cNvPr id="31752" name="Oval 8"/>
            <p:cNvSpPr>
              <a:spLocks noChangeArrowheads="1"/>
            </p:cNvSpPr>
            <p:nvPr/>
          </p:nvSpPr>
          <p:spPr bwMode="auto">
            <a:xfrm>
              <a:off x="46" y="2042"/>
              <a:ext cx="317" cy="181"/>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350"/>
            </a:p>
          </p:txBody>
        </p:sp>
      </p:grpSp>
      <p:sp>
        <p:nvSpPr>
          <p:cNvPr id="2" name="标题 1"/>
          <p:cNvSpPr>
            <a:spLocks noGrp="1"/>
          </p:cNvSpPr>
          <p:nvPr>
            <p:ph type="title"/>
          </p:nvPr>
        </p:nvSpPr>
        <p:spPr/>
        <p:txBody>
          <a:bodyPr/>
          <a:lstStyle/>
          <a:p>
            <a:endParaRPr lang="zh-CN" altLang="en-US"/>
          </a:p>
        </p:txBody>
      </p:sp>
      <p:sp>
        <p:nvSpPr>
          <p:cNvPr id="5" name="日期占位符 4"/>
          <p:cNvSpPr>
            <a:spLocks noGrp="1"/>
          </p:cNvSpPr>
          <p:nvPr>
            <p:ph type="dt" sz="half" idx="10"/>
          </p:nvPr>
        </p:nvSpPr>
        <p:spPr/>
        <p:txBody>
          <a:bodyPr/>
          <a:lstStyle/>
          <a:p>
            <a:fld id="{09A5D138-F760-4350-87F0-F21283E261DB}"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rrowheads="1"/>
          </p:cNvSpPr>
          <p:nvPr>
            <p:ph type="title"/>
          </p:nvPr>
        </p:nvSpPr>
        <p:spPr/>
        <p:txBody>
          <a:bodyPr/>
          <a:lstStyle/>
          <a:p>
            <a:r>
              <a:rPr lang="en-US" altLang="zh-CN" dirty="0"/>
              <a:t>UML</a:t>
            </a:r>
            <a:r>
              <a:rPr lang="zh-CN" altLang="en-US" dirty="0"/>
              <a:t>的概述</a:t>
            </a:r>
            <a:endParaRPr lang="zh-CN" altLang="en-US" dirty="0"/>
          </a:p>
        </p:txBody>
      </p:sp>
      <p:sp>
        <p:nvSpPr>
          <p:cNvPr id="19459" name="Rectangle 3"/>
          <p:cNvSpPr>
            <a:spLocks noGrp="1" noRot="1" noChangeArrowheads="1"/>
          </p:cNvSpPr>
          <p:nvPr>
            <p:ph idx="1"/>
          </p:nvPr>
        </p:nvSpPr>
        <p:spPr/>
        <p:txBody>
          <a:bodyPr>
            <a:noAutofit/>
          </a:bodyPr>
          <a:lstStyle/>
          <a:p>
            <a:pPr marL="342900" indent="-342900"/>
            <a:r>
              <a:rPr lang="zh-CN" altLang="en-US" sz="2000" dirty="0"/>
              <a:t>面向对象的分析与设计（</a:t>
            </a:r>
            <a:r>
              <a:rPr lang="en-US" altLang="zh-CN" sz="2000" dirty="0">
                <a:solidFill>
                  <a:srgbClr val="FF0000"/>
                </a:solidFill>
              </a:rPr>
              <a:t>OOA&amp;OOD</a:t>
            </a:r>
            <a:r>
              <a:rPr lang="zh-CN" altLang="en-US" sz="2000" dirty="0"/>
              <a:t>）方法的发展在</a:t>
            </a:r>
            <a:r>
              <a:rPr lang="en-US" altLang="zh-CN" sz="2000" dirty="0"/>
              <a:t>20</a:t>
            </a:r>
            <a:r>
              <a:rPr lang="zh-CN" altLang="en-US" sz="2000" dirty="0"/>
              <a:t>世纪</a:t>
            </a:r>
            <a:r>
              <a:rPr lang="en-US" altLang="zh-CN" sz="2000" dirty="0"/>
              <a:t>80</a:t>
            </a:r>
            <a:r>
              <a:rPr lang="zh-CN" altLang="en-US" sz="2000" dirty="0"/>
              <a:t>年代末至</a:t>
            </a:r>
            <a:r>
              <a:rPr lang="en-US" altLang="zh-CN" sz="2000" dirty="0"/>
              <a:t>90</a:t>
            </a:r>
            <a:r>
              <a:rPr lang="zh-CN" altLang="en-US" sz="2000" dirty="0"/>
              <a:t>年代中出现了一个高潮，</a:t>
            </a:r>
            <a:r>
              <a:rPr lang="en-US" altLang="zh-CN" sz="2000" dirty="0"/>
              <a:t>UML</a:t>
            </a:r>
            <a:r>
              <a:rPr lang="zh-CN" altLang="en-US" sz="2000" dirty="0"/>
              <a:t>是这个高潮的产物。</a:t>
            </a:r>
            <a:r>
              <a:rPr lang="zh-CN" altLang="en-US" sz="2000" dirty="0">
                <a:solidFill>
                  <a:srgbClr val="FF0000"/>
                </a:solidFill>
              </a:rPr>
              <a:t>它不仅统一了</a:t>
            </a:r>
            <a:r>
              <a:rPr lang="en-US" altLang="zh-CN" sz="2000" dirty="0" err="1">
                <a:solidFill>
                  <a:srgbClr val="FF0000"/>
                </a:solidFill>
              </a:rPr>
              <a:t>Booch</a:t>
            </a:r>
            <a:r>
              <a:rPr lang="zh-CN" altLang="en-US" sz="2000" dirty="0">
                <a:solidFill>
                  <a:srgbClr val="FF0000"/>
                </a:solidFill>
              </a:rPr>
              <a:t>、</a:t>
            </a:r>
            <a:r>
              <a:rPr lang="en-US" altLang="zh-CN" sz="2000" dirty="0">
                <a:solidFill>
                  <a:srgbClr val="FF0000"/>
                </a:solidFill>
              </a:rPr>
              <a:t>Rumbaugh</a:t>
            </a:r>
            <a:r>
              <a:rPr lang="zh-CN" altLang="en-US" sz="2000" dirty="0">
                <a:solidFill>
                  <a:srgbClr val="FF0000"/>
                </a:solidFill>
              </a:rPr>
              <a:t>和</a:t>
            </a:r>
            <a:r>
              <a:rPr lang="en-US" altLang="zh-CN" sz="2000" dirty="0">
                <a:solidFill>
                  <a:srgbClr val="FF0000"/>
                </a:solidFill>
              </a:rPr>
              <a:t>Jacobson</a:t>
            </a:r>
            <a:r>
              <a:rPr lang="zh-CN" altLang="en-US" sz="2000" dirty="0">
                <a:solidFill>
                  <a:srgbClr val="FF0000"/>
                </a:solidFill>
              </a:rPr>
              <a:t>的表示方法，而且对其做了进一步的发展</a:t>
            </a:r>
            <a:r>
              <a:rPr lang="zh-CN" altLang="en-US" sz="2000" dirty="0"/>
              <a:t>，并最终统一为大众所接受的标准建模语言。 </a:t>
            </a:r>
            <a:endParaRPr lang="zh-CN" altLang="en-US" sz="2000" dirty="0"/>
          </a:p>
          <a:p>
            <a:pPr marL="342900" indent="-342900"/>
            <a:r>
              <a:rPr lang="zh-CN" altLang="en-US" sz="2000" dirty="0"/>
              <a:t>公认的面向对象建模语言出现于</a:t>
            </a:r>
            <a:r>
              <a:rPr lang="en-US" altLang="zh-CN" sz="2000" dirty="0"/>
              <a:t>20</a:t>
            </a:r>
            <a:r>
              <a:rPr lang="zh-CN" altLang="en-US" sz="2000" dirty="0"/>
              <a:t>世纪</a:t>
            </a:r>
            <a:r>
              <a:rPr lang="en-US" altLang="zh-CN" sz="2000" dirty="0"/>
              <a:t>70</a:t>
            </a:r>
            <a:r>
              <a:rPr lang="zh-CN" altLang="en-US" sz="2000" dirty="0"/>
              <a:t>年代中期对象是问题域或实现域中某些事物的一个抽象。 </a:t>
            </a:r>
            <a:endParaRPr lang="zh-CN" altLang="en-US" sz="2000" dirty="0"/>
          </a:p>
          <a:p>
            <a:pPr marL="342900" indent="-342900"/>
            <a:r>
              <a:rPr lang="en-US" altLang="zh-CN" sz="2000" dirty="0"/>
              <a:t>1996</a:t>
            </a:r>
            <a:r>
              <a:rPr lang="zh-CN" altLang="en-US" sz="2000" dirty="0"/>
              <a:t>年</a:t>
            </a:r>
            <a:r>
              <a:rPr lang="en-US" altLang="zh-CN" sz="2000" dirty="0"/>
              <a:t>6</a:t>
            </a:r>
            <a:r>
              <a:rPr lang="zh-CN" altLang="en-US" sz="2000" dirty="0"/>
              <a:t>月和</a:t>
            </a:r>
            <a:r>
              <a:rPr lang="en-US" altLang="zh-CN" sz="2000" dirty="0"/>
              <a:t>10</a:t>
            </a:r>
            <a:r>
              <a:rPr lang="zh-CN" altLang="en-US" sz="2000" dirty="0"/>
              <a:t>月分别发布了两个新的版本，即</a:t>
            </a:r>
            <a:r>
              <a:rPr lang="en-US" altLang="zh-CN" sz="2000" dirty="0"/>
              <a:t>UML 0.9</a:t>
            </a:r>
            <a:r>
              <a:rPr lang="zh-CN" altLang="en-US" sz="2000" dirty="0"/>
              <a:t>和</a:t>
            </a:r>
            <a:r>
              <a:rPr lang="en-US" altLang="zh-CN" sz="2000" dirty="0"/>
              <a:t>UML 0.91</a:t>
            </a:r>
            <a:r>
              <a:rPr lang="zh-CN" altLang="en-US" sz="2000" dirty="0"/>
              <a:t>，并将</a:t>
            </a:r>
            <a:r>
              <a:rPr lang="en-US" altLang="zh-CN" sz="2000" dirty="0"/>
              <a:t>UM</a:t>
            </a:r>
            <a:r>
              <a:rPr lang="zh-CN" altLang="en-US" sz="2000" dirty="0"/>
              <a:t>重新命名为</a:t>
            </a:r>
            <a:r>
              <a:rPr lang="en-US" altLang="zh-CN" sz="2000" dirty="0"/>
              <a:t>UML</a:t>
            </a:r>
            <a:r>
              <a:rPr lang="zh-CN" altLang="en-US" sz="2000" dirty="0"/>
              <a:t>（</a:t>
            </a:r>
            <a:r>
              <a:rPr lang="en-US" altLang="zh-CN" sz="2000" dirty="0"/>
              <a:t>Unified Modeling Language</a:t>
            </a:r>
            <a:r>
              <a:rPr lang="zh-CN" altLang="en-US" sz="2000" dirty="0"/>
              <a:t>）。</a:t>
            </a:r>
            <a:r>
              <a:rPr lang="en-US" altLang="zh-CN" sz="2000" dirty="0"/>
              <a:t>UML</a:t>
            </a:r>
            <a:r>
              <a:rPr lang="zh-CN" altLang="en-US" sz="2000" dirty="0"/>
              <a:t>的开发者倡议并成立了</a:t>
            </a:r>
            <a:r>
              <a:rPr lang="en-US" altLang="zh-CN" sz="2000" dirty="0"/>
              <a:t>UML</a:t>
            </a:r>
            <a:r>
              <a:rPr lang="zh-CN" altLang="en-US" sz="2000" dirty="0"/>
              <a:t>成员协会。</a:t>
            </a:r>
            <a:endParaRPr lang="zh-CN" altLang="en-US" sz="2000" dirty="0"/>
          </a:p>
        </p:txBody>
      </p:sp>
      <p:sp>
        <p:nvSpPr>
          <p:cNvPr id="5" name="日期占位符 4"/>
          <p:cNvSpPr>
            <a:spLocks noGrp="1"/>
          </p:cNvSpPr>
          <p:nvPr>
            <p:ph type="dt" sz="half" idx="10"/>
          </p:nvPr>
        </p:nvSpPr>
        <p:spPr/>
        <p:txBody>
          <a:bodyPr/>
          <a:lstStyle/>
          <a:p>
            <a:fld id="{4FA4724B-60D1-4953-9A18-05FA8AF31165}"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zh-CN"/>
              <a:t>UML</a:t>
            </a:r>
            <a:r>
              <a:rPr lang="zh-CN" altLang="en-US"/>
              <a:t>的诞生</a:t>
            </a:r>
            <a:endParaRPr lang="zh-CN" altLang="en-US"/>
          </a:p>
        </p:txBody>
      </p:sp>
      <p:sp>
        <p:nvSpPr>
          <p:cNvPr id="5" name="日期占位符 4"/>
          <p:cNvSpPr>
            <a:spLocks noGrp="1"/>
          </p:cNvSpPr>
          <p:nvPr>
            <p:ph type="dt" sz="half" idx="10"/>
          </p:nvPr>
        </p:nvSpPr>
        <p:spPr/>
        <p:txBody>
          <a:bodyPr/>
          <a:lstStyle/>
          <a:p>
            <a:fld id="{046CDC7B-D536-4702-84BD-F70C63B0C730}"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39939" name="Rectangle 3"/>
          <p:cNvSpPr>
            <a:spLocks noChangeArrowheads="1"/>
          </p:cNvSpPr>
          <p:nvPr/>
        </p:nvSpPr>
        <p:spPr bwMode="auto">
          <a:xfrm>
            <a:off x="2982687" y="980889"/>
            <a:ext cx="5671456" cy="3654847"/>
          </a:xfrm>
          <a:prstGeom prst="rect">
            <a:avLst/>
          </a:prstGeom>
          <a:noFill/>
          <a:ln w="9525">
            <a:noFill/>
            <a:miter lim="800000"/>
          </a:ln>
          <a:effectLst/>
        </p:spPr>
        <p:txBody>
          <a:bodyPr wrap="square" anchor="ctr">
            <a:spAutoFit/>
          </a:bodyPr>
          <a:lstStyle/>
          <a:p>
            <a:pPr algn="l" eaLnBrk="1" hangingPunct="1"/>
            <a:r>
              <a:rPr lang="zh-CN" altLang="en-US" sz="1600" dirty="0">
                <a:solidFill>
                  <a:srgbClr val="003366"/>
                </a:solidFill>
                <a:latin typeface="+mj-ea"/>
                <a:ea typeface="+mj-ea"/>
              </a:rPr>
              <a:t>创始人 －－ </a:t>
            </a:r>
            <a:r>
              <a:rPr lang="en-US" altLang="zh-CN" sz="1600" b="1" dirty="0">
                <a:latin typeface="+mj-ea"/>
                <a:ea typeface="+mj-ea"/>
              </a:rPr>
              <a:t>Grady </a:t>
            </a:r>
            <a:r>
              <a:rPr lang="en-US" altLang="zh-CN" sz="1600" b="1" dirty="0" err="1">
                <a:latin typeface="+mj-ea"/>
                <a:ea typeface="+mj-ea"/>
              </a:rPr>
              <a:t>Booch</a:t>
            </a:r>
            <a:endParaRPr kumimoji="1" lang="en-US" altLang="zh-CN" sz="1600" b="1" dirty="0">
              <a:latin typeface="+mj-ea"/>
              <a:ea typeface="+mj-ea"/>
            </a:endParaRPr>
          </a:p>
          <a:p>
            <a:pPr>
              <a:spcBef>
                <a:spcPts val="900"/>
              </a:spcBef>
            </a:pPr>
            <a:r>
              <a:rPr lang="en-US" altLang="zh-CN" sz="1600" dirty="0">
                <a:latin typeface="+mj-ea"/>
                <a:ea typeface="+mj-ea"/>
              </a:rPr>
              <a:t>Grady </a:t>
            </a:r>
            <a:r>
              <a:rPr lang="zh-CN" altLang="en-US" sz="1600" dirty="0">
                <a:latin typeface="+mj-ea"/>
                <a:ea typeface="+mj-ea"/>
              </a:rPr>
              <a:t>（</a:t>
            </a:r>
            <a:r>
              <a:rPr lang="en-US" altLang="zh-CN" sz="1600" dirty="0">
                <a:latin typeface="+mj-ea"/>
                <a:ea typeface="+mj-ea"/>
              </a:rPr>
              <a:t>IBM fellow</a:t>
            </a:r>
            <a:r>
              <a:rPr lang="zh-CN" altLang="en-US" sz="1600" dirty="0">
                <a:latin typeface="+mj-ea"/>
                <a:ea typeface="+mj-ea"/>
              </a:rPr>
              <a:t>）因其在软件架构、软件工程和软件建模方面的杰出贡献而在国际上享有盛名。自 </a:t>
            </a:r>
            <a:r>
              <a:rPr lang="en-US" altLang="zh-CN" sz="1600" dirty="0">
                <a:latin typeface="+mj-ea"/>
                <a:ea typeface="+mj-ea"/>
              </a:rPr>
              <a:t>Rational </a:t>
            </a:r>
            <a:r>
              <a:rPr lang="zh-CN" altLang="en-US" sz="1600" dirty="0">
                <a:latin typeface="+mj-ea"/>
                <a:ea typeface="+mj-ea"/>
              </a:rPr>
              <a:t>于</a:t>
            </a:r>
            <a:r>
              <a:rPr lang="en-US" altLang="zh-CN" sz="1600" dirty="0">
                <a:latin typeface="+mj-ea"/>
                <a:ea typeface="+mj-ea"/>
              </a:rPr>
              <a:t>1981</a:t>
            </a:r>
            <a:r>
              <a:rPr lang="zh-CN" altLang="en-US" sz="1600" dirty="0">
                <a:latin typeface="+mj-ea"/>
                <a:ea typeface="+mj-ea"/>
              </a:rPr>
              <a:t>年创建以来，他就一直担任 </a:t>
            </a:r>
            <a:r>
              <a:rPr lang="en-US" altLang="zh-CN" sz="1600" dirty="0">
                <a:latin typeface="+mj-ea"/>
                <a:ea typeface="+mj-ea"/>
              </a:rPr>
              <a:t>IBM Rational </a:t>
            </a:r>
            <a:r>
              <a:rPr lang="zh-CN" altLang="en-US" sz="1600" dirty="0">
                <a:latin typeface="+mj-ea"/>
                <a:ea typeface="+mj-ea"/>
              </a:rPr>
              <a:t>的首席科学家。</a:t>
            </a:r>
            <a:r>
              <a:rPr lang="en-US" altLang="zh-CN" sz="1600" dirty="0">
                <a:latin typeface="+mj-ea"/>
                <a:ea typeface="+mj-ea"/>
              </a:rPr>
              <a:t>Grady </a:t>
            </a:r>
            <a:r>
              <a:rPr lang="zh-CN" altLang="en-US" sz="1600" dirty="0">
                <a:latin typeface="+mj-ea"/>
                <a:ea typeface="+mj-ea"/>
              </a:rPr>
              <a:t>于 </a:t>
            </a:r>
            <a:r>
              <a:rPr lang="en-US" altLang="zh-CN" sz="1600" dirty="0">
                <a:latin typeface="+mj-ea"/>
                <a:ea typeface="+mj-ea"/>
              </a:rPr>
              <a:t>2003 </a:t>
            </a:r>
            <a:r>
              <a:rPr lang="zh-CN" altLang="en-US" sz="1600" dirty="0">
                <a:latin typeface="+mj-ea"/>
                <a:ea typeface="+mj-ea"/>
              </a:rPr>
              <a:t>年 </a:t>
            </a:r>
            <a:r>
              <a:rPr lang="en-US" altLang="zh-CN" sz="1600" dirty="0">
                <a:latin typeface="+mj-ea"/>
                <a:ea typeface="+mj-ea"/>
              </a:rPr>
              <a:t>3 </a:t>
            </a:r>
            <a:r>
              <a:rPr lang="zh-CN" altLang="en-US" sz="1600" dirty="0">
                <a:latin typeface="+mj-ea"/>
                <a:ea typeface="+mj-ea"/>
              </a:rPr>
              <a:t>月荣获</a:t>
            </a:r>
            <a:r>
              <a:rPr lang="en-US" altLang="zh-CN" sz="1600" dirty="0">
                <a:latin typeface="+mj-ea"/>
                <a:ea typeface="+mj-ea"/>
              </a:rPr>
              <a:t>IBM </a:t>
            </a:r>
            <a:r>
              <a:rPr lang="zh-CN" altLang="en-US" sz="1600" dirty="0">
                <a:latin typeface="+mj-ea"/>
                <a:ea typeface="+mj-ea"/>
              </a:rPr>
              <a:t>名士（</a:t>
            </a:r>
            <a:r>
              <a:rPr lang="en-US" altLang="zh-CN" sz="1600" dirty="0">
                <a:latin typeface="+mj-ea"/>
                <a:ea typeface="+mj-ea"/>
              </a:rPr>
              <a:t>IBM fellow</a:t>
            </a:r>
            <a:r>
              <a:rPr lang="zh-CN" altLang="en-US" sz="1600" dirty="0">
                <a:latin typeface="+mj-ea"/>
                <a:ea typeface="+mj-ea"/>
              </a:rPr>
              <a:t>）的称号。</a:t>
            </a:r>
            <a:br>
              <a:rPr kumimoji="1" lang="zh-CN" altLang="en-US" sz="1600" dirty="0">
                <a:latin typeface="+mj-ea"/>
                <a:ea typeface="+mj-ea"/>
              </a:rPr>
            </a:br>
            <a:br>
              <a:rPr kumimoji="1" lang="zh-CN" altLang="en-US" sz="1600" dirty="0">
                <a:latin typeface="+mj-ea"/>
                <a:ea typeface="+mj-ea"/>
              </a:rPr>
            </a:br>
            <a:r>
              <a:rPr kumimoji="1" lang="en-US" altLang="zh-CN" sz="1600" dirty="0" err="1">
                <a:latin typeface="+mj-ea"/>
                <a:ea typeface="+mj-ea"/>
              </a:rPr>
              <a:t>Booch</a:t>
            </a:r>
            <a:r>
              <a:rPr kumimoji="1" lang="zh-CN" altLang="en-US" sz="1600" dirty="0">
                <a:latin typeface="+mj-ea"/>
                <a:ea typeface="+mj-ea"/>
              </a:rPr>
              <a:t>方法的力量在于其丰富的符号体系，包括：</a:t>
            </a:r>
            <a:br>
              <a:rPr kumimoji="1" lang="zh-CN" altLang="en-US" sz="1600" dirty="0">
                <a:latin typeface="+mj-ea"/>
                <a:ea typeface="+mj-ea"/>
              </a:rPr>
            </a:br>
            <a:r>
              <a:rPr kumimoji="1" lang="zh-CN" altLang="en-US" sz="1600" dirty="0">
                <a:latin typeface="+mj-ea"/>
                <a:ea typeface="+mj-ea"/>
              </a:rPr>
              <a:t>　　 </a:t>
            </a:r>
            <a:r>
              <a:rPr kumimoji="1" lang="en-US" altLang="zh-CN" sz="1600" dirty="0">
                <a:latin typeface="+mj-ea"/>
                <a:ea typeface="+mj-ea"/>
              </a:rPr>
              <a:t>. </a:t>
            </a:r>
            <a:r>
              <a:rPr kumimoji="1" lang="zh-CN" altLang="en-US" sz="1600" dirty="0">
                <a:latin typeface="+mj-ea"/>
                <a:ea typeface="+mj-ea"/>
              </a:rPr>
              <a:t>类图（类结构－静态视图）</a:t>
            </a:r>
            <a:br>
              <a:rPr kumimoji="1" lang="zh-CN" altLang="en-US" sz="1600" dirty="0">
                <a:latin typeface="+mj-ea"/>
                <a:ea typeface="+mj-ea"/>
              </a:rPr>
            </a:br>
            <a:r>
              <a:rPr kumimoji="1" lang="zh-CN" altLang="en-US" sz="1600" dirty="0">
                <a:latin typeface="+mj-ea"/>
                <a:ea typeface="+mj-ea"/>
              </a:rPr>
              <a:t>　　 </a:t>
            </a:r>
            <a:r>
              <a:rPr kumimoji="1" lang="en-US" altLang="zh-CN" sz="1600" dirty="0">
                <a:latin typeface="+mj-ea"/>
                <a:ea typeface="+mj-ea"/>
              </a:rPr>
              <a:t>. </a:t>
            </a:r>
            <a:r>
              <a:rPr kumimoji="1" lang="zh-CN" altLang="en-US" sz="1600" dirty="0">
                <a:latin typeface="+mj-ea"/>
                <a:ea typeface="+mj-ea"/>
              </a:rPr>
              <a:t>对象图（对象结构－静态视图）</a:t>
            </a:r>
            <a:br>
              <a:rPr kumimoji="1" lang="zh-CN" altLang="en-US" sz="1600" dirty="0">
                <a:latin typeface="+mj-ea"/>
                <a:ea typeface="+mj-ea"/>
              </a:rPr>
            </a:br>
            <a:r>
              <a:rPr kumimoji="1" lang="zh-CN" altLang="en-US" sz="1600" dirty="0">
                <a:latin typeface="+mj-ea"/>
                <a:ea typeface="+mj-ea"/>
              </a:rPr>
              <a:t>　　 </a:t>
            </a:r>
            <a:r>
              <a:rPr kumimoji="1" lang="en-US" altLang="zh-CN" sz="1600" dirty="0">
                <a:latin typeface="+mj-ea"/>
                <a:ea typeface="+mj-ea"/>
              </a:rPr>
              <a:t>. </a:t>
            </a:r>
            <a:r>
              <a:rPr kumimoji="1" lang="zh-CN" altLang="en-US" sz="1600" dirty="0">
                <a:latin typeface="+mj-ea"/>
                <a:ea typeface="+mj-ea"/>
              </a:rPr>
              <a:t>状态转移图（类结构－动态视图）</a:t>
            </a:r>
            <a:br>
              <a:rPr kumimoji="1" lang="zh-CN" altLang="en-US" sz="1600" dirty="0">
                <a:latin typeface="+mj-ea"/>
                <a:ea typeface="+mj-ea"/>
              </a:rPr>
            </a:br>
            <a:r>
              <a:rPr kumimoji="1" lang="zh-CN" altLang="en-US" sz="1600" dirty="0">
                <a:latin typeface="+mj-ea"/>
                <a:ea typeface="+mj-ea"/>
              </a:rPr>
              <a:t>　　 </a:t>
            </a:r>
            <a:r>
              <a:rPr kumimoji="1" lang="en-US" altLang="zh-CN" sz="1600" dirty="0">
                <a:latin typeface="+mj-ea"/>
                <a:ea typeface="+mj-ea"/>
              </a:rPr>
              <a:t>. </a:t>
            </a:r>
            <a:r>
              <a:rPr kumimoji="1" lang="zh-CN" altLang="en-US" sz="1600" dirty="0">
                <a:latin typeface="+mj-ea"/>
                <a:ea typeface="+mj-ea"/>
              </a:rPr>
              <a:t>时态图（对象结构－动态视图）</a:t>
            </a:r>
            <a:br>
              <a:rPr kumimoji="1" lang="zh-CN" altLang="en-US" sz="1600" dirty="0">
                <a:latin typeface="+mj-ea"/>
                <a:ea typeface="+mj-ea"/>
              </a:rPr>
            </a:br>
            <a:r>
              <a:rPr kumimoji="1" lang="zh-CN" altLang="en-US" sz="1600" dirty="0">
                <a:latin typeface="+mj-ea"/>
                <a:ea typeface="+mj-ea"/>
              </a:rPr>
              <a:t>　　 </a:t>
            </a:r>
            <a:r>
              <a:rPr kumimoji="1" lang="en-US" altLang="zh-CN" sz="1600" dirty="0">
                <a:latin typeface="+mj-ea"/>
                <a:ea typeface="+mj-ea"/>
              </a:rPr>
              <a:t>. </a:t>
            </a:r>
            <a:r>
              <a:rPr kumimoji="1" lang="zh-CN" altLang="en-US" sz="1600" dirty="0">
                <a:latin typeface="+mj-ea"/>
                <a:ea typeface="+mj-ea"/>
              </a:rPr>
              <a:t>模块图（模块体系结构）</a:t>
            </a:r>
            <a:br>
              <a:rPr kumimoji="1" lang="zh-CN" altLang="en-US" sz="1600" dirty="0">
                <a:latin typeface="+mj-ea"/>
                <a:ea typeface="+mj-ea"/>
              </a:rPr>
            </a:br>
            <a:r>
              <a:rPr kumimoji="1" lang="zh-CN" altLang="en-US" sz="1600" dirty="0">
                <a:latin typeface="+mj-ea"/>
                <a:ea typeface="+mj-ea"/>
              </a:rPr>
              <a:t>　　 </a:t>
            </a:r>
            <a:r>
              <a:rPr kumimoji="1" lang="en-US" altLang="zh-CN" sz="1600" dirty="0">
                <a:latin typeface="+mj-ea"/>
                <a:ea typeface="+mj-ea"/>
              </a:rPr>
              <a:t>. </a:t>
            </a:r>
            <a:r>
              <a:rPr kumimoji="1" lang="zh-CN" altLang="en-US" sz="1600" dirty="0">
                <a:latin typeface="+mj-ea"/>
                <a:ea typeface="+mj-ea"/>
              </a:rPr>
              <a:t>进程图（进程体系结构）</a:t>
            </a:r>
            <a:br>
              <a:rPr kumimoji="1" lang="zh-CN" altLang="en-US" sz="1600" dirty="0">
                <a:latin typeface="+mj-ea"/>
                <a:ea typeface="+mj-ea"/>
              </a:rPr>
            </a:br>
            <a:r>
              <a:rPr kumimoji="1" lang="zh-CN" altLang="en-US" sz="1600" dirty="0">
                <a:latin typeface="+mj-ea"/>
                <a:ea typeface="+mj-ea"/>
              </a:rPr>
              <a:t>　　 </a:t>
            </a:r>
            <a:r>
              <a:rPr kumimoji="1" lang="en-US" altLang="zh-CN" sz="1600" dirty="0">
                <a:latin typeface="+mj-ea"/>
                <a:ea typeface="+mj-ea"/>
              </a:rPr>
              <a:t>…… </a:t>
            </a:r>
            <a:endParaRPr kumimoji="1" lang="en-US" altLang="zh-CN" sz="1600" dirty="0">
              <a:latin typeface="+mj-ea"/>
              <a:ea typeface="+mj-ea"/>
            </a:endParaRPr>
          </a:p>
        </p:txBody>
      </p:sp>
      <p:pic>
        <p:nvPicPr>
          <p:cNvPr id="39940" name="Picture 4" descr="grady"/>
          <p:cNvPicPr>
            <a:picLocks noChangeAspect="1" noChangeArrowheads="1"/>
          </p:cNvPicPr>
          <p:nvPr/>
        </p:nvPicPr>
        <p:blipFill>
          <a:blip r:embed="rId1" cstate="print"/>
          <a:srcRect/>
          <a:stretch>
            <a:fillRect/>
          </a:stretch>
        </p:blipFill>
        <p:spPr bwMode="auto">
          <a:xfrm>
            <a:off x="741590" y="1572870"/>
            <a:ext cx="1860096" cy="197635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zh-CN"/>
              <a:t>UML</a:t>
            </a:r>
            <a:r>
              <a:rPr lang="zh-CN" altLang="en-US"/>
              <a:t>的诞生</a:t>
            </a:r>
            <a:endParaRPr lang="zh-CN" altLang="en-US"/>
          </a:p>
        </p:txBody>
      </p:sp>
      <p:sp>
        <p:nvSpPr>
          <p:cNvPr id="5" name="日期占位符 4"/>
          <p:cNvSpPr>
            <a:spLocks noGrp="1"/>
          </p:cNvSpPr>
          <p:nvPr>
            <p:ph type="dt" sz="half" idx="10"/>
          </p:nvPr>
        </p:nvSpPr>
        <p:spPr/>
        <p:txBody>
          <a:bodyPr/>
          <a:lstStyle/>
          <a:p>
            <a:fld id="{0A3DC832-F6E2-4A0F-BB5E-B1BA0A038A74}"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41987" name="Picture 3" descr="ivar%20hacobson"/>
          <p:cNvPicPr>
            <a:picLocks noChangeAspect="1" noChangeArrowheads="1"/>
          </p:cNvPicPr>
          <p:nvPr/>
        </p:nvPicPr>
        <p:blipFill>
          <a:blip r:embed="rId1" cstate="print"/>
          <a:srcRect/>
          <a:stretch>
            <a:fillRect/>
          </a:stretch>
        </p:blipFill>
        <p:spPr bwMode="auto">
          <a:xfrm>
            <a:off x="751794" y="1580606"/>
            <a:ext cx="1871663" cy="2077926"/>
          </a:xfrm>
          <a:prstGeom prst="rect">
            <a:avLst/>
          </a:prstGeom>
          <a:noFill/>
          <a:ln w="9525">
            <a:noFill/>
            <a:miter lim="800000"/>
            <a:headEnd/>
            <a:tailEnd/>
          </a:ln>
        </p:spPr>
      </p:pic>
      <p:sp>
        <p:nvSpPr>
          <p:cNvPr id="41988" name="Text Box 4"/>
          <p:cNvSpPr txBox="1">
            <a:spLocks noChangeArrowheads="1"/>
          </p:cNvSpPr>
          <p:nvPr/>
        </p:nvSpPr>
        <p:spPr bwMode="auto">
          <a:xfrm>
            <a:off x="2952070" y="998814"/>
            <a:ext cx="5906180" cy="3416320"/>
          </a:xfrm>
          <a:prstGeom prst="rect">
            <a:avLst/>
          </a:prstGeom>
          <a:noFill/>
          <a:ln w="9525">
            <a:noFill/>
            <a:miter lim="800000"/>
          </a:ln>
          <a:effectLst/>
        </p:spPr>
        <p:txBody>
          <a:bodyPr wrap="square">
            <a:spAutoFit/>
          </a:bodyPr>
          <a:lstStyle/>
          <a:p>
            <a:pPr algn="l" eaLnBrk="1" hangingPunct="1">
              <a:spcBef>
                <a:spcPct val="50000"/>
              </a:spcBef>
            </a:pPr>
            <a:r>
              <a:rPr lang="zh-CN" altLang="en-US" sz="1600" dirty="0">
                <a:solidFill>
                  <a:srgbClr val="003366"/>
                </a:solidFill>
                <a:latin typeface="+mj-ea"/>
                <a:ea typeface="+mj-ea"/>
              </a:rPr>
              <a:t>创始人 －－ </a:t>
            </a:r>
            <a:r>
              <a:rPr lang="en-US" altLang="zh-CN" sz="1600" b="1" dirty="0">
                <a:latin typeface="+mj-ea"/>
                <a:ea typeface="+mj-ea"/>
              </a:rPr>
              <a:t>Ivar Jacobson</a:t>
            </a:r>
            <a:endParaRPr lang="en-US" altLang="zh-CN" sz="1600" b="1" dirty="0">
              <a:latin typeface="+mj-ea"/>
              <a:ea typeface="+mj-ea"/>
            </a:endParaRPr>
          </a:p>
          <a:p>
            <a:pPr algn="l" eaLnBrk="1" hangingPunct="1">
              <a:spcBef>
                <a:spcPct val="50000"/>
              </a:spcBef>
            </a:pPr>
            <a:r>
              <a:rPr lang="en-US" altLang="zh-CN" sz="1600" dirty="0">
                <a:latin typeface="+mj-ea"/>
                <a:ea typeface="+mj-ea"/>
              </a:rPr>
              <a:t>Ivar Jacobson </a:t>
            </a:r>
            <a:r>
              <a:rPr lang="zh-CN" altLang="en-US" sz="1600" dirty="0">
                <a:latin typeface="+mj-ea"/>
                <a:ea typeface="+mj-ea"/>
              </a:rPr>
              <a:t>博士是 </a:t>
            </a:r>
            <a:r>
              <a:rPr lang="en-US" altLang="zh-CN" sz="1600" dirty="0" err="1">
                <a:latin typeface="+mj-ea"/>
                <a:ea typeface="+mj-ea"/>
              </a:rPr>
              <a:t>Objectory</a:t>
            </a:r>
            <a:r>
              <a:rPr lang="en-US" altLang="zh-CN" sz="1600" dirty="0">
                <a:latin typeface="+mj-ea"/>
                <a:ea typeface="+mj-ea"/>
              </a:rPr>
              <a:t> </a:t>
            </a:r>
            <a:r>
              <a:rPr lang="zh-CN" altLang="en-US" sz="1600" dirty="0">
                <a:latin typeface="+mj-ea"/>
                <a:ea typeface="+mj-ea"/>
              </a:rPr>
              <a:t>方法的发明者，也是瑞典 </a:t>
            </a:r>
            <a:r>
              <a:rPr lang="en-US" altLang="zh-CN" sz="1600" dirty="0" err="1">
                <a:latin typeface="+mj-ea"/>
                <a:ea typeface="+mj-ea"/>
              </a:rPr>
              <a:t>Objectory</a:t>
            </a:r>
            <a:r>
              <a:rPr lang="en-US" altLang="zh-CN" sz="1600" dirty="0">
                <a:latin typeface="+mj-ea"/>
                <a:ea typeface="+mj-ea"/>
              </a:rPr>
              <a:t> AB </a:t>
            </a:r>
            <a:r>
              <a:rPr lang="zh-CN" altLang="en-US" sz="1600" dirty="0">
                <a:latin typeface="+mj-ea"/>
                <a:ea typeface="+mj-ea"/>
              </a:rPr>
              <a:t>公司的创始人。</a:t>
            </a:r>
            <a:r>
              <a:rPr lang="en-US" altLang="zh-CN" sz="1600" dirty="0">
                <a:latin typeface="+mj-ea"/>
                <a:ea typeface="+mj-ea"/>
              </a:rPr>
              <a:t>Jacobson </a:t>
            </a:r>
            <a:r>
              <a:rPr lang="zh-CN" altLang="en-US" sz="1600" dirty="0">
                <a:latin typeface="+mj-ea"/>
                <a:ea typeface="+mj-ea"/>
              </a:rPr>
              <a:t>博士是两本影响深远的畅销书的主要作者：</a:t>
            </a:r>
            <a:r>
              <a:rPr lang="en-US" altLang="zh-CN" sz="1600" dirty="0">
                <a:latin typeface="+mj-ea"/>
                <a:ea typeface="+mj-ea"/>
              </a:rPr>
              <a:t>《</a:t>
            </a:r>
            <a:r>
              <a:rPr lang="zh-CN" altLang="en-US" sz="1600" dirty="0">
                <a:latin typeface="+mj-ea"/>
                <a:ea typeface="+mj-ea"/>
              </a:rPr>
              <a:t>面向对象的软件工程</a:t>
            </a:r>
            <a:r>
              <a:rPr lang="en-US" altLang="zh-CN" sz="1600" dirty="0">
                <a:latin typeface="+mj-ea"/>
                <a:ea typeface="+mj-ea"/>
              </a:rPr>
              <a:t>―</a:t>
            </a:r>
            <a:r>
              <a:rPr lang="zh-CN" altLang="en-US" sz="1600" dirty="0">
                <a:latin typeface="+mj-ea"/>
                <a:ea typeface="+mj-ea"/>
              </a:rPr>
              <a:t>一种用例驱动方法</a:t>
            </a:r>
            <a:r>
              <a:rPr lang="en-US" altLang="zh-CN" sz="1600" dirty="0">
                <a:latin typeface="+mj-ea"/>
                <a:ea typeface="+mj-ea"/>
              </a:rPr>
              <a:t>》</a:t>
            </a:r>
            <a:r>
              <a:rPr lang="zh-CN" altLang="en-US" sz="1600" dirty="0">
                <a:latin typeface="+mj-ea"/>
                <a:ea typeface="+mj-ea"/>
              </a:rPr>
              <a:t>（</a:t>
            </a:r>
            <a:r>
              <a:rPr lang="en-US" altLang="zh-CN" sz="1600" dirty="0">
                <a:latin typeface="+mj-ea"/>
                <a:ea typeface="+mj-ea"/>
              </a:rPr>
              <a:t>1992</a:t>
            </a:r>
            <a:r>
              <a:rPr lang="zh-CN" altLang="en-US" sz="1600" dirty="0">
                <a:latin typeface="+mj-ea"/>
                <a:ea typeface="+mj-ea"/>
              </a:rPr>
              <a:t>年计算机语言生产力奖获得者）和 </a:t>
            </a:r>
            <a:r>
              <a:rPr lang="en-US" altLang="zh-CN" sz="1600" dirty="0">
                <a:latin typeface="+mj-ea"/>
                <a:ea typeface="+mj-ea"/>
              </a:rPr>
              <a:t>《</a:t>
            </a:r>
            <a:r>
              <a:rPr lang="zh-CN" altLang="en-US" sz="1600" dirty="0">
                <a:latin typeface="+mj-ea"/>
                <a:ea typeface="+mj-ea"/>
              </a:rPr>
              <a:t>对象的优势</a:t>
            </a:r>
            <a:r>
              <a:rPr lang="en-US" altLang="zh-CN" sz="1600" dirty="0">
                <a:latin typeface="+mj-ea"/>
                <a:ea typeface="+mj-ea"/>
              </a:rPr>
              <a:t>―</a:t>
            </a:r>
            <a:r>
              <a:rPr lang="zh-CN" altLang="en-US" sz="1600" dirty="0">
                <a:latin typeface="+mj-ea"/>
                <a:ea typeface="+mj-ea"/>
              </a:rPr>
              <a:t>采用对象技术的业务过程再工程</a:t>
            </a:r>
            <a:r>
              <a:rPr lang="en-US" altLang="zh-CN" sz="1600" dirty="0">
                <a:latin typeface="+mj-ea"/>
                <a:ea typeface="+mj-ea"/>
              </a:rPr>
              <a:t>》</a:t>
            </a:r>
            <a:r>
              <a:rPr lang="zh-CN" altLang="en-US" sz="1600" dirty="0">
                <a:latin typeface="+mj-ea"/>
                <a:ea typeface="+mj-ea"/>
              </a:rPr>
              <a:t>。</a:t>
            </a:r>
            <a:br>
              <a:rPr lang="zh-CN" altLang="en-US" sz="1600" dirty="0">
                <a:latin typeface="+mj-ea"/>
                <a:ea typeface="+mj-ea"/>
              </a:rPr>
            </a:br>
            <a:br>
              <a:rPr lang="zh-CN" altLang="en-US" sz="1600" dirty="0">
                <a:latin typeface="+mj-ea"/>
                <a:ea typeface="+mj-ea"/>
              </a:rPr>
            </a:br>
            <a:r>
              <a:rPr lang="en-US" altLang="zh-CN" sz="1600" dirty="0">
                <a:latin typeface="+mj-ea"/>
                <a:ea typeface="+mj-ea"/>
              </a:rPr>
              <a:t>Jacobson</a:t>
            </a:r>
            <a:r>
              <a:rPr lang="zh-CN" altLang="en-US" sz="1600" dirty="0">
                <a:latin typeface="+mj-ea"/>
                <a:ea typeface="+mj-ea"/>
              </a:rPr>
              <a:t>将</a:t>
            </a:r>
            <a:r>
              <a:rPr lang="en-US" altLang="zh-CN" sz="1600" dirty="0">
                <a:latin typeface="+mj-ea"/>
                <a:ea typeface="+mj-ea"/>
              </a:rPr>
              <a:t>use case</a:t>
            </a:r>
            <a:r>
              <a:rPr lang="zh-CN" altLang="en-US" sz="1600" dirty="0">
                <a:latin typeface="+mj-ea"/>
                <a:ea typeface="+mj-ea"/>
              </a:rPr>
              <a:t>模型与其它五种系统模型关联：</a:t>
            </a:r>
            <a:br>
              <a:rPr lang="zh-CN" altLang="en-US" sz="1600" dirty="0">
                <a:latin typeface="+mj-ea"/>
                <a:ea typeface="+mj-ea"/>
              </a:rPr>
            </a:br>
            <a:r>
              <a:rPr lang="zh-CN" altLang="en-US" sz="1600" dirty="0">
                <a:latin typeface="+mj-ea"/>
                <a:ea typeface="+mj-ea"/>
              </a:rPr>
              <a:t>　　 </a:t>
            </a:r>
            <a:r>
              <a:rPr lang="en-US" altLang="zh-CN" sz="1600" dirty="0">
                <a:latin typeface="+mj-ea"/>
                <a:ea typeface="+mj-ea"/>
              </a:rPr>
              <a:t>. </a:t>
            </a:r>
            <a:r>
              <a:rPr lang="zh-CN" altLang="en-US" sz="1600" dirty="0">
                <a:latin typeface="+mj-ea"/>
                <a:ea typeface="+mj-ea"/>
              </a:rPr>
              <a:t>领域对象模型。</a:t>
            </a:r>
            <a:r>
              <a:rPr lang="en-US" altLang="zh-CN" sz="1600" dirty="0">
                <a:latin typeface="+mj-ea"/>
                <a:ea typeface="+mj-ea"/>
              </a:rPr>
              <a:t>use case</a:t>
            </a:r>
            <a:r>
              <a:rPr lang="zh-CN" altLang="en-US" sz="1600" dirty="0">
                <a:latin typeface="+mj-ea"/>
                <a:ea typeface="+mj-ea"/>
              </a:rPr>
              <a:t>模型根据领域来表示。</a:t>
            </a:r>
            <a:br>
              <a:rPr lang="zh-CN" altLang="en-US" sz="1600" dirty="0">
                <a:latin typeface="+mj-ea"/>
                <a:ea typeface="+mj-ea"/>
              </a:rPr>
            </a:br>
            <a:r>
              <a:rPr lang="zh-CN" altLang="en-US" sz="1600" dirty="0">
                <a:latin typeface="+mj-ea"/>
                <a:ea typeface="+mj-ea"/>
              </a:rPr>
              <a:t>　　 </a:t>
            </a:r>
            <a:r>
              <a:rPr lang="en-US" altLang="zh-CN" sz="1600" dirty="0">
                <a:latin typeface="+mj-ea"/>
                <a:ea typeface="+mj-ea"/>
              </a:rPr>
              <a:t>. </a:t>
            </a:r>
            <a:r>
              <a:rPr lang="zh-CN" altLang="en-US" sz="1600" dirty="0">
                <a:latin typeface="+mj-ea"/>
                <a:ea typeface="+mj-ea"/>
              </a:rPr>
              <a:t>分析模型。</a:t>
            </a:r>
            <a:r>
              <a:rPr lang="en-US" altLang="zh-CN" sz="1600" dirty="0">
                <a:latin typeface="+mj-ea"/>
                <a:ea typeface="+mj-ea"/>
              </a:rPr>
              <a:t>use case</a:t>
            </a:r>
            <a:r>
              <a:rPr lang="zh-CN" altLang="en-US" sz="1600" dirty="0">
                <a:latin typeface="+mj-ea"/>
                <a:ea typeface="+mj-ea"/>
              </a:rPr>
              <a:t>模型通过分析来构造。</a:t>
            </a:r>
            <a:br>
              <a:rPr lang="zh-CN" altLang="en-US" sz="1600" dirty="0">
                <a:latin typeface="+mj-ea"/>
                <a:ea typeface="+mj-ea"/>
              </a:rPr>
            </a:br>
            <a:r>
              <a:rPr lang="zh-CN" altLang="en-US" sz="1600" dirty="0">
                <a:latin typeface="+mj-ea"/>
                <a:ea typeface="+mj-ea"/>
              </a:rPr>
              <a:t>　　 </a:t>
            </a:r>
            <a:r>
              <a:rPr lang="en-US" altLang="zh-CN" sz="1600" dirty="0">
                <a:latin typeface="+mj-ea"/>
                <a:ea typeface="+mj-ea"/>
              </a:rPr>
              <a:t>. </a:t>
            </a:r>
            <a:r>
              <a:rPr lang="zh-CN" altLang="en-US" sz="1600" dirty="0">
                <a:latin typeface="+mj-ea"/>
                <a:ea typeface="+mj-ea"/>
              </a:rPr>
              <a:t>设计模型。</a:t>
            </a:r>
            <a:r>
              <a:rPr lang="en-US" altLang="zh-CN" sz="1600" dirty="0">
                <a:latin typeface="+mj-ea"/>
                <a:ea typeface="+mj-ea"/>
              </a:rPr>
              <a:t>use case</a:t>
            </a:r>
            <a:r>
              <a:rPr lang="zh-CN" altLang="en-US" sz="1600" dirty="0">
                <a:latin typeface="+mj-ea"/>
                <a:ea typeface="+mj-ea"/>
              </a:rPr>
              <a:t>模型通过设计来具体化。</a:t>
            </a:r>
            <a:br>
              <a:rPr lang="zh-CN" altLang="en-US" sz="1600" dirty="0">
                <a:latin typeface="+mj-ea"/>
                <a:ea typeface="+mj-ea"/>
              </a:rPr>
            </a:br>
            <a:r>
              <a:rPr lang="zh-CN" altLang="en-US" sz="1600" dirty="0">
                <a:latin typeface="+mj-ea"/>
                <a:ea typeface="+mj-ea"/>
              </a:rPr>
              <a:t>　　 </a:t>
            </a:r>
            <a:r>
              <a:rPr lang="en-US" altLang="zh-CN" sz="1600" dirty="0">
                <a:latin typeface="+mj-ea"/>
                <a:ea typeface="+mj-ea"/>
              </a:rPr>
              <a:t>. </a:t>
            </a:r>
            <a:r>
              <a:rPr lang="zh-CN" altLang="en-US" sz="1600" dirty="0">
                <a:latin typeface="+mj-ea"/>
                <a:ea typeface="+mj-ea"/>
              </a:rPr>
              <a:t>实现模型。该模型依据具体化的设计来实现</a:t>
            </a:r>
            <a:r>
              <a:rPr lang="en-US" altLang="zh-CN" sz="1600" dirty="0">
                <a:latin typeface="+mj-ea"/>
                <a:ea typeface="+mj-ea"/>
              </a:rPr>
              <a:t>use case</a:t>
            </a:r>
            <a:r>
              <a:rPr lang="zh-CN" altLang="en-US" sz="1600" dirty="0">
                <a:latin typeface="+mj-ea"/>
                <a:ea typeface="+mj-ea"/>
              </a:rPr>
              <a:t>模型。</a:t>
            </a:r>
            <a:br>
              <a:rPr lang="zh-CN" altLang="en-US" sz="1600" dirty="0">
                <a:latin typeface="+mj-ea"/>
                <a:ea typeface="+mj-ea"/>
              </a:rPr>
            </a:br>
            <a:r>
              <a:rPr lang="zh-CN" altLang="en-US" sz="1600" dirty="0">
                <a:latin typeface="+mj-ea"/>
                <a:ea typeface="+mj-ea"/>
              </a:rPr>
              <a:t>　　 </a:t>
            </a:r>
            <a:r>
              <a:rPr lang="en-US" altLang="zh-CN" sz="1600" dirty="0">
                <a:latin typeface="+mj-ea"/>
                <a:ea typeface="+mj-ea"/>
              </a:rPr>
              <a:t>. </a:t>
            </a:r>
            <a:r>
              <a:rPr lang="zh-CN" altLang="en-US" sz="1600" dirty="0">
                <a:latin typeface="+mj-ea"/>
                <a:ea typeface="+mj-ea"/>
              </a:rPr>
              <a:t>测试模型。用来测试具体化的</a:t>
            </a:r>
            <a:r>
              <a:rPr lang="en-US" altLang="zh-CN" sz="1600" dirty="0">
                <a:latin typeface="+mj-ea"/>
                <a:ea typeface="+mj-ea"/>
              </a:rPr>
              <a:t>use case</a:t>
            </a:r>
            <a:r>
              <a:rPr lang="zh-CN" altLang="en-US" sz="1600" dirty="0">
                <a:latin typeface="+mj-ea"/>
                <a:ea typeface="+mj-ea"/>
              </a:rPr>
              <a:t>模型。 </a:t>
            </a:r>
            <a:endParaRPr lang="zh-CN" altLang="en-US" sz="16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ltLang="zh-CN"/>
              <a:t>UML</a:t>
            </a:r>
            <a:r>
              <a:rPr lang="zh-CN" altLang="en-US"/>
              <a:t>的诞生</a:t>
            </a:r>
            <a:endParaRPr lang="zh-CN" altLang="en-US"/>
          </a:p>
        </p:txBody>
      </p:sp>
      <p:sp>
        <p:nvSpPr>
          <p:cNvPr id="5" name="日期占位符 4"/>
          <p:cNvSpPr>
            <a:spLocks noGrp="1"/>
          </p:cNvSpPr>
          <p:nvPr>
            <p:ph type="dt" sz="half" idx="10"/>
          </p:nvPr>
        </p:nvSpPr>
        <p:spPr/>
        <p:txBody>
          <a:bodyPr/>
          <a:lstStyle/>
          <a:p>
            <a:fld id="{11B36F1C-4581-4A09-A376-0E70D8E97625}"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44035" name="Picture 3" descr="james%20raumbaugh"/>
          <p:cNvPicPr>
            <a:picLocks noChangeAspect="1" noChangeArrowheads="1"/>
          </p:cNvPicPr>
          <p:nvPr/>
        </p:nvPicPr>
        <p:blipFill>
          <a:blip r:embed="rId1" cstate="print"/>
          <a:srcRect/>
          <a:stretch>
            <a:fillRect/>
          </a:stretch>
        </p:blipFill>
        <p:spPr bwMode="auto">
          <a:xfrm>
            <a:off x="843642" y="1594271"/>
            <a:ext cx="1823357" cy="1896606"/>
          </a:xfrm>
          <a:prstGeom prst="rect">
            <a:avLst/>
          </a:prstGeom>
          <a:noFill/>
          <a:ln w="9525">
            <a:noFill/>
            <a:miter lim="800000"/>
            <a:headEnd/>
            <a:tailEnd/>
          </a:ln>
        </p:spPr>
      </p:pic>
      <p:sp>
        <p:nvSpPr>
          <p:cNvPr id="44036" name="Text Box 4"/>
          <p:cNvSpPr txBox="1">
            <a:spLocks noChangeArrowheads="1"/>
          </p:cNvSpPr>
          <p:nvPr/>
        </p:nvSpPr>
        <p:spPr bwMode="auto">
          <a:xfrm>
            <a:off x="3050331" y="1037805"/>
            <a:ext cx="5731719" cy="3416320"/>
          </a:xfrm>
          <a:prstGeom prst="rect">
            <a:avLst/>
          </a:prstGeom>
          <a:noFill/>
          <a:ln w="9525">
            <a:noFill/>
            <a:miter lim="800000"/>
          </a:ln>
          <a:effectLst/>
        </p:spPr>
        <p:txBody>
          <a:bodyPr wrap="square">
            <a:spAutoFit/>
          </a:bodyPr>
          <a:lstStyle/>
          <a:p>
            <a:pPr algn="l" eaLnBrk="1" hangingPunct="1">
              <a:spcBef>
                <a:spcPct val="50000"/>
              </a:spcBef>
            </a:pPr>
            <a:r>
              <a:rPr lang="zh-CN" altLang="en-US" sz="1600" dirty="0">
                <a:solidFill>
                  <a:srgbClr val="003366"/>
                </a:solidFill>
                <a:latin typeface="+mj-ea"/>
                <a:ea typeface="+mj-ea"/>
              </a:rPr>
              <a:t>创始人 －－ </a:t>
            </a:r>
            <a:r>
              <a:rPr lang="en-US" altLang="zh-CN" sz="1600" b="1" dirty="0">
                <a:latin typeface="+mj-ea"/>
                <a:ea typeface="+mj-ea"/>
              </a:rPr>
              <a:t>James Rumbaugh</a:t>
            </a:r>
            <a:r>
              <a:rPr lang="en-US" altLang="zh-CN" sz="1600" dirty="0">
                <a:latin typeface="+mj-ea"/>
                <a:ea typeface="+mj-ea"/>
              </a:rPr>
              <a:t> </a:t>
            </a:r>
            <a:endParaRPr lang="en-US" altLang="zh-CN" sz="1600" dirty="0">
              <a:latin typeface="+mj-ea"/>
              <a:ea typeface="+mj-ea"/>
            </a:endParaRPr>
          </a:p>
          <a:p>
            <a:pPr algn="l" eaLnBrk="1" hangingPunct="1">
              <a:spcBef>
                <a:spcPct val="50000"/>
              </a:spcBef>
            </a:pPr>
            <a:r>
              <a:rPr lang="en-US" altLang="zh-CN" sz="1600" dirty="0">
                <a:latin typeface="+mj-ea"/>
                <a:ea typeface="+mj-ea"/>
              </a:rPr>
              <a:t>James Rumbaugh </a:t>
            </a:r>
            <a:r>
              <a:rPr lang="zh-CN" altLang="en-US" sz="1600" dirty="0">
                <a:latin typeface="+mj-ea"/>
                <a:ea typeface="+mj-ea"/>
              </a:rPr>
              <a:t>博士是享誉全球的软件开发方法学家。</a:t>
            </a:r>
            <a:r>
              <a:rPr lang="en-US" altLang="zh-CN" sz="1600" dirty="0">
                <a:latin typeface="+mj-ea"/>
                <a:ea typeface="+mj-ea"/>
              </a:rPr>
              <a:t>Jim </a:t>
            </a:r>
            <a:r>
              <a:rPr lang="zh-CN" altLang="en-US" sz="1600" dirty="0">
                <a:latin typeface="+mj-ea"/>
                <a:ea typeface="+mj-ea"/>
              </a:rPr>
              <a:t>一直是引导 </a:t>
            </a:r>
            <a:r>
              <a:rPr lang="en-US" altLang="zh-CN" sz="1600" dirty="0">
                <a:latin typeface="+mj-ea"/>
                <a:ea typeface="+mj-ea"/>
              </a:rPr>
              <a:t>UML </a:t>
            </a:r>
            <a:r>
              <a:rPr lang="zh-CN" altLang="en-US" sz="1600" dirty="0">
                <a:latin typeface="+mj-ea"/>
                <a:ea typeface="+mj-ea"/>
              </a:rPr>
              <a:t>未来开发的领袖，他提出了许多有关 </a:t>
            </a:r>
            <a:r>
              <a:rPr lang="en-US" altLang="zh-CN" sz="1600" dirty="0">
                <a:latin typeface="+mj-ea"/>
                <a:ea typeface="+mj-ea"/>
              </a:rPr>
              <a:t>UML </a:t>
            </a:r>
            <a:r>
              <a:rPr lang="zh-CN" altLang="en-US" sz="1600" dirty="0">
                <a:latin typeface="+mj-ea"/>
                <a:ea typeface="+mj-ea"/>
              </a:rPr>
              <a:t>的概念。他与 </a:t>
            </a:r>
            <a:r>
              <a:rPr lang="en-US" altLang="zh-CN" sz="1600" dirty="0">
                <a:latin typeface="+mj-ea"/>
                <a:ea typeface="+mj-ea"/>
              </a:rPr>
              <a:t>Rational </a:t>
            </a:r>
            <a:r>
              <a:rPr lang="zh-CN" altLang="en-US" sz="1600" dirty="0">
                <a:latin typeface="+mj-ea"/>
                <a:ea typeface="+mj-ea"/>
              </a:rPr>
              <a:t>的其他软件领袖一起工作在各个领域，比如 </a:t>
            </a:r>
            <a:r>
              <a:rPr lang="en-US" altLang="zh-CN" sz="1600" dirty="0">
                <a:latin typeface="+mj-ea"/>
                <a:ea typeface="+mj-ea"/>
              </a:rPr>
              <a:t>Rational </a:t>
            </a:r>
            <a:r>
              <a:rPr lang="zh-CN" altLang="en-US" sz="1600" dirty="0">
                <a:latin typeface="+mj-ea"/>
                <a:ea typeface="+mj-ea"/>
              </a:rPr>
              <a:t>统一过程和实时开发方法学。自从 </a:t>
            </a:r>
            <a:r>
              <a:rPr lang="en-US" altLang="zh-CN" sz="1600" dirty="0">
                <a:latin typeface="+mj-ea"/>
                <a:ea typeface="+mj-ea"/>
              </a:rPr>
              <a:t>2003 </a:t>
            </a:r>
            <a:r>
              <a:rPr lang="zh-CN" altLang="en-US" sz="1600" dirty="0">
                <a:latin typeface="+mj-ea"/>
                <a:ea typeface="+mj-ea"/>
              </a:rPr>
              <a:t>年 </a:t>
            </a:r>
            <a:r>
              <a:rPr lang="en-US" altLang="zh-CN" sz="1600" dirty="0">
                <a:latin typeface="+mj-ea"/>
                <a:ea typeface="+mj-ea"/>
              </a:rPr>
              <a:t>IBM </a:t>
            </a:r>
            <a:r>
              <a:rPr lang="zh-CN" altLang="en-US" sz="1600" dirty="0">
                <a:latin typeface="+mj-ea"/>
                <a:ea typeface="+mj-ea"/>
              </a:rPr>
              <a:t>收购了 </a:t>
            </a:r>
            <a:r>
              <a:rPr lang="en-US" altLang="zh-CN" sz="1600" dirty="0">
                <a:latin typeface="+mj-ea"/>
                <a:ea typeface="+mj-ea"/>
              </a:rPr>
              <a:t>Rational </a:t>
            </a:r>
            <a:r>
              <a:rPr lang="zh-CN" altLang="en-US" sz="1600" dirty="0">
                <a:latin typeface="+mj-ea"/>
                <a:ea typeface="+mj-ea"/>
              </a:rPr>
              <a:t>之后，</a:t>
            </a:r>
            <a:r>
              <a:rPr lang="en-US" altLang="zh-CN" sz="1600" dirty="0">
                <a:latin typeface="+mj-ea"/>
                <a:ea typeface="+mj-ea"/>
              </a:rPr>
              <a:t>Jim </a:t>
            </a:r>
            <a:r>
              <a:rPr lang="zh-CN" altLang="en-US" sz="1600" dirty="0">
                <a:latin typeface="+mj-ea"/>
                <a:ea typeface="+mj-ea"/>
              </a:rPr>
              <a:t>就一直致力于推动 </a:t>
            </a:r>
            <a:r>
              <a:rPr lang="en-US" altLang="zh-CN" sz="1600" dirty="0">
                <a:latin typeface="+mj-ea"/>
                <a:ea typeface="+mj-ea"/>
              </a:rPr>
              <a:t>IBM </a:t>
            </a:r>
            <a:r>
              <a:rPr lang="zh-CN" altLang="en-US" sz="1600" dirty="0">
                <a:latin typeface="+mj-ea"/>
                <a:ea typeface="+mj-ea"/>
              </a:rPr>
              <a:t>建模工具的开发。</a:t>
            </a:r>
            <a:br>
              <a:rPr lang="zh-CN" altLang="en-US" sz="1600" dirty="0">
                <a:latin typeface="+mj-ea"/>
                <a:ea typeface="+mj-ea"/>
              </a:rPr>
            </a:br>
            <a:br>
              <a:rPr lang="zh-CN" altLang="en-US" sz="1600" dirty="0">
                <a:latin typeface="+mj-ea"/>
                <a:ea typeface="+mj-ea"/>
              </a:rPr>
            </a:br>
            <a:r>
              <a:rPr lang="en-US" altLang="zh-CN" sz="1600" dirty="0">
                <a:latin typeface="+mj-ea"/>
                <a:ea typeface="+mj-ea"/>
              </a:rPr>
              <a:t>Rumbaugh</a:t>
            </a:r>
            <a:r>
              <a:rPr lang="zh-CN" altLang="en-US" sz="1600" dirty="0">
                <a:latin typeface="+mj-ea"/>
                <a:ea typeface="+mj-ea"/>
              </a:rPr>
              <a:t>的</a:t>
            </a:r>
            <a:r>
              <a:rPr lang="en-US" altLang="zh-CN" sz="1600" dirty="0">
                <a:latin typeface="+mj-ea"/>
                <a:ea typeface="+mj-ea"/>
              </a:rPr>
              <a:t>OMT</a:t>
            </a:r>
            <a:r>
              <a:rPr lang="zh-CN" altLang="en-US" sz="1600" dirty="0">
                <a:latin typeface="+mj-ea"/>
                <a:ea typeface="+mj-ea"/>
              </a:rPr>
              <a:t>方法将开发过程分为四个阶段：</a:t>
            </a:r>
            <a:br>
              <a:rPr lang="zh-CN" altLang="en-US" sz="1600" dirty="0">
                <a:latin typeface="+mj-ea"/>
                <a:ea typeface="+mj-ea"/>
              </a:rPr>
            </a:br>
            <a:r>
              <a:rPr lang="zh-CN" altLang="en-US" sz="1600" dirty="0">
                <a:latin typeface="+mj-ea"/>
                <a:ea typeface="+mj-ea"/>
              </a:rPr>
              <a:t>　　 </a:t>
            </a:r>
            <a:r>
              <a:rPr lang="en-US" altLang="zh-CN" sz="1600" dirty="0">
                <a:latin typeface="+mj-ea"/>
                <a:ea typeface="+mj-ea"/>
              </a:rPr>
              <a:t>. </a:t>
            </a:r>
            <a:r>
              <a:rPr lang="zh-CN" altLang="en-US" sz="1600" dirty="0">
                <a:latin typeface="+mj-ea"/>
                <a:ea typeface="+mj-ea"/>
              </a:rPr>
              <a:t>分析</a:t>
            </a:r>
            <a:br>
              <a:rPr lang="zh-CN" altLang="en-US" sz="1600" dirty="0">
                <a:latin typeface="+mj-ea"/>
                <a:ea typeface="+mj-ea"/>
              </a:rPr>
            </a:br>
            <a:r>
              <a:rPr lang="zh-CN" altLang="en-US" sz="1600" dirty="0">
                <a:latin typeface="+mj-ea"/>
                <a:ea typeface="+mj-ea"/>
              </a:rPr>
              <a:t>　　 </a:t>
            </a:r>
            <a:r>
              <a:rPr lang="en-US" altLang="zh-CN" sz="1600" dirty="0">
                <a:latin typeface="+mj-ea"/>
                <a:ea typeface="+mj-ea"/>
              </a:rPr>
              <a:t>. </a:t>
            </a:r>
            <a:r>
              <a:rPr lang="zh-CN" altLang="en-US" sz="1600" dirty="0">
                <a:latin typeface="+mj-ea"/>
                <a:ea typeface="+mj-ea"/>
              </a:rPr>
              <a:t>系统设计</a:t>
            </a:r>
            <a:br>
              <a:rPr lang="zh-CN" altLang="en-US" sz="1600" dirty="0">
                <a:latin typeface="+mj-ea"/>
                <a:ea typeface="+mj-ea"/>
              </a:rPr>
            </a:br>
            <a:r>
              <a:rPr lang="zh-CN" altLang="en-US" sz="1600" dirty="0">
                <a:latin typeface="+mj-ea"/>
                <a:ea typeface="+mj-ea"/>
              </a:rPr>
              <a:t>　　 </a:t>
            </a:r>
            <a:r>
              <a:rPr lang="en-US" altLang="zh-CN" sz="1600" dirty="0">
                <a:latin typeface="+mj-ea"/>
                <a:ea typeface="+mj-ea"/>
              </a:rPr>
              <a:t>. </a:t>
            </a:r>
            <a:r>
              <a:rPr lang="zh-CN" altLang="en-US" sz="1600" dirty="0">
                <a:latin typeface="+mj-ea"/>
                <a:ea typeface="+mj-ea"/>
              </a:rPr>
              <a:t>对象设计</a:t>
            </a:r>
            <a:br>
              <a:rPr lang="zh-CN" altLang="en-US" sz="1600" dirty="0">
                <a:latin typeface="+mj-ea"/>
                <a:ea typeface="+mj-ea"/>
              </a:rPr>
            </a:br>
            <a:r>
              <a:rPr lang="zh-CN" altLang="en-US" sz="1600" dirty="0">
                <a:latin typeface="+mj-ea"/>
                <a:ea typeface="+mj-ea"/>
              </a:rPr>
              <a:t>        </a:t>
            </a:r>
            <a:r>
              <a:rPr lang="en-US" altLang="zh-CN" sz="1600" dirty="0">
                <a:latin typeface="+mj-ea"/>
                <a:ea typeface="+mj-ea"/>
              </a:rPr>
              <a:t>. </a:t>
            </a:r>
            <a:r>
              <a:rPr lang="zh-CN" altLang="en-US" sz="1600" dirty="0">
                <a:latin typeface="+mj-ea"/>
                <a:ea typeface="+mj-ea"/>
              </a:rPr>
              <a:t>实现</a:t>
            </a:r>
            <a:endParaRPr lang="zh-CN" altLang="en-US" sz="16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descr="P4_2_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12548" y="108858"/>
            <a:ext cx="6091452" cy="4484914"/>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Rectangle 3"/>
          <p:cNvSpPr>
            <a:spLocks noGrp="1" noChangeArrowheads="1"/>
          </p:cNvSpPr>
          <p:nvPr>
            <p:ph type="title"/>
          </p:nvPr>
        </p:nvSpPr>
        <p:spPr>
          <a:noFill/>
        </p:spPr>
        <p:txBody>
          <a:bodyPr/>
          <a:lstStyle/>
          <a:p>
            <a:r>
              <a:rPr lang="zh-CN" altLang="zh-CN" dirty="0"/>
              <a:t>UML发展</a:t>
            </a:r>
            <a:endParaRPr lang="zh-CN" altLang="zh-CN" dirty="0"/>
          </a:p>
        </p:txBody>
      </p:sp>
      <p:sp>
        <p:nvSpPr>
          <p:cNvPr id="10" name="日期占位符 9"/>
          <p:cNvSpPr>
            <a:spLocks noGrp="1"/>
          </p:cNvSpPr>
          <p:nvPr>
            <p:ph type="dt" sz="half" idx="10"/>
          </p:nvPr>
        </p:nvSpPr>
        <p:spPr/>
        <p:txBody>
          <a:bodyPr/>
          <a:lstStyle/>
          <a:p>
            <a:fld id="{9D7CFA6A-713D-4DE1-A79C-9F7E36EB643E}" type="datetime1">
              <a:rPr lang="zh-CN" altLang="en-US" smtClean="0"/>
            </a:fld>
            <a:endParaRPr lang="zh-CN" altLang="en-US" dirty="0"/>
          </a:p>
        </p:txBody>
      </p:sp>
      <p:sp>
        <p:nvSpPr>
          <p:cNvPr id="11" name="页脚占位符 10"/>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3" name="椭圆 2"/>
          <p:cNvSpPr/>
          <p:nvPr/>
        </p:nvSpPr>
        <p:spPr>
          <a:xfrm>
            <a:off x="3233907" y="2426949"/>
            <a:ext cx="3974181" cy="56878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椭圆 6"/>
          <p:cNvSpPr/>
          <p:nvPr/>
        </p:nvSpPr>
        <p:spPr>
          <a:xfrm>
            <a:off x="3414105" y="32657"/>
            <a:ext cx="5444145" cy="56605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矩形 8"/>
          <p:cNvSpPr/>
          <p:nvPr/>
        </p:nvSpPr>
        <p:spPr>
          <a:xfrm>
            <a:off x="158863" y="1521380"/>
            <a:ext cx="2810656" cy="2585323"/>
          </a:xfrm>
          <a:prstGeom prst="rect">
            <a:avLst/>
          </a:prstGeom>
        </p:spPr>
        <p:txBody>
          <a:bodyPr wrap="square">
            <a:spAutoFit/>
          </a:bodyPr>
          <a:lstStyle/>
          <a:p>
            <a:r>
              <a:rPr lang="en-US" altLang="zh-CN" b="1" dirty="0">
                <a:solidFill>
                  <a:schemeClr val="accent2"/>
                </a:solidFill>
                <a:latin typeface="+mj-ea"/>
                <a:ea typeface="+mj-ea"/>
              </a:rPr>
              <a:t>2015</a:t>
            </a:r>
            <a:r>
              <a:rPr lang="zh-CN" altLang="en-US" b="1" dirty="0">
                <a:solidFill>
                  <a:schemeClr val="accent2"/>
                </a:solidFill>
                <a:latin typeface="+mj-ea"/>
                <a:ea typeface="+mj-ea"/>
              </a:rPr>
              <a:t>年</a:t>
            </a:r>
            <a:r>
              <a:rPr lang="en-US" altLang="zh-CN" b="1" dirty="0">
                <a:solidFill>
                  <a:schemeClr val="accent2"/>
                </a:solidFill>
                <a:latin typeface="+mj-ea"/>
                <a:ea typeface="+mj-ea"/>
              </a:rPr>
              <a:t>6</a:t>
            </a:r>
            <a:r>
              <a:rPr lang="zh-CN" altLang="en-US" b="1" dirty="0">
                <a:solidFill>
                  <a:schemeClr val="accent2"/>
                </a:solidFill>
                <a:latin typeface="+mj-ea"/>
                <a:ea typeface="+mj-ea"/>
              </a:rPr>
              <a:t>月</a:t>
            </a:r>
            <a:r>
              <a:rPr lang="zh-CN" altLang="en-US" dirty="0">
                <a:latin typeface="+mj-ea"/>
                <a:ea typeface="+mj-ea"/>
              </a:rPr>
              <a:t>，</a:t>
            </a:r>
            <a:r>
              <a:rPr lang="en-US" altLang="zh-CN" dirty="0">
                <a:latin typeface="+mj-ea"/>
                <a:ea typeface="+mj-ea"/>
              </a:rPr>
              <a:t>OMG</a:t>
            </a:r>
            <a:r>
              <a:rPr lang="zh-CN" altLang="en-US" dirty="0">
                <a:latin typeface="+mj-ea"/>
                <a:ea typeface="+mj-ea"/>
              </a:rPr>
              <a:t>（</a:t>
            </a:r>
            <a:r>
              <a:rPr lang="en-US" altLang="zh-CN" dirty="0">
                <a:latin typeface="+mj-ea"/>
                <a:ea typeface="+mj-ea"/>
              </a:rPr>
              <a:t>Object Management Group</a:t>
            </a:r>
            <a:r>
              <a:rPr lang="zh-CN" altLang="en-US" dirty="0">
                <a:latin typeface="+mj-ea"/>
                <a:ea typeface="+mj-ea"/>
              </a:rPr>
              <a:t>，对象管理组织，</a:t>
            </a:r>
            <a:r>
              <a:rPr lang="en-US" altLang="zh-CN" dirty="0">
                <a:latin typeface="+mj-ea"/>
                <a:ea typeface="+mj-ea"/>
              </a:rPr>
              <a:t>www.omg.org</a:t>
            </a:r>
            <a:r>
              <a:rPr lang="zh-CN" altLang="en-US" dirty="0">
                <a:latin typeface="+mj-ea"/>
                <a:ea typeface="+mj-ea"/>
              </a:rPr>
              <a:t>）发布了</a:t>
            </a:r>
            <a:r>
              <a:rPr lang="en-US" altLang="zh-CN" b="1" dirty="0">
                <a:solidFill>
                  <a:schemeClr val="accent2"/>
                </a:solidFill>
                <a:latin typeface="+mj-ea"/>
                <a:ea typeface="+mj-ea"/>
              </a:rPr>
              <a:t>UML 2.5</a:t>
            </a:r>
            <a:endParaRPr lang="en-US" altLang="zh-CN" b="1" dirty="0">
              <a:solidFill>
                <a:schemeClr val="accent2"/>
              </a:solidFill>
              <a:latin typeface="+mj-ea"/>
              <a:ea typeface="+mj-ea"/>
            </a:endParaRPr>
          </a:p>
          <a:p>
            <a:endParaRPr lang="en-US" altLang="zh-CN" b="1" dirty="0">
              <a:solidFill>
                <a:schemeClr val="accent2"/>
              </a:solidFill>
              <a:latin typeface="+mj-ea"/>
              <a:ea typeface="+mj-ea"/>
            </a:endParaRPr>
          </a:p>
          <a:p>
            <a:r>
              <a:rPr lang="zh-CN" altLang="en-US" dirty="0">
                <a:latin typeface="+mj-ea"/>
                <a:ea typeface="+mj-ea"/>
              </a:rPr>
              <a:t>详见</a:t>
            </a:r>
            <a:r>
              <a:rPr lang="en-US" altLang="zh-CN" dirty="0">
                <a:latin typeface="+mj-ea"/>
                <a:ea typeface="+mj-ea"/>
              </a:rPr>
              <a:t>UML</a:t>
            </a:r>
            <a:r>
              <a:rPr lang="zh-CN" altLang="en-US" dirty="0">
                <a:latin typeface="+mj-ea"/>
                <a:ea typeface="+mj-ea"/>
              </a:rPr>
              <a:t>官网：</a:t>
            </a:r>
            <a:r>
              <a:rPr lang="en-US" altLang="zh-CN" dirty="0">
                <a:latin typeface="+mj-ea"/>
                <a:ea typeface="+mj-ea"/>
              </a:rPr>
              <a:t>http://www.omg.org/spec/UML/</a:t>
            </a:r>
            <a:r>
              <a:rPr lang="zh-CN" altLang="en-US" dirty="0">
                <a:latin typeface="+mj-ea"/>
                <a:ea typeface="+mj-ea"/>
              </a:rPr>
              <a:t>。</a:t>
            </a:r>
            <a:endParaRPr lang="zh-CN" altLang="zh-CN"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up)">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7" grpId="0" bldLvl="0" animBg="1"/>
      <p:bldP spid="9"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ltLang="zh-CN" dirty="0"/>
              <a:t>UML 1.x</a:t>
            </a:r>
            <a:r>
              <a:rPr lang="zh-CN" altLang="en-US" dirty="0"/>
              <a:t>模型图</a:t>
            </a:r>
            <a:endParaRPr lang="zh-CN" altLang="en-US" dirty="0"/>
          </a:p>
        </p:txBody>
      </p:sp>
      <p:sp>
        <p:nvSpPr>
          <p:cNvPr id="9" name="内容占位符 8"/>
          <p:cNvSpPr>
            <a:spLocks noGrp="1"/>
          </p:cNvSpPr>
          <p:nvPr>
            <p:ph idx="1"/>
          </p:nvPr>
        </p:nvSpPr>
        <p:spPr/>
        <p:txBody>
          <a:bodyPr>
            <a:normAutofit lnSpcReduction="10000"/>
          </a:bodyPr>
          <a:lstStyle/>
          <a:p>
            <a:pPr marL="93980" indent="-457200">
              <a:lnSpc>
                <a:spcPct val="100000"/>
              </a:lnSpc>
              <a:spcBef>
                <a:spcPts val="800"/>
              </a:spcBef>
              <a:buFont typeface="+mj-lt"/>
              <a:buAutoNum type="arabicPeriod"/>
            </a:pPr>
            <a:r>
              <a:rPr lang="zh-CN" altLang="en-US" sz="2000" dirty="0">
                <a:solidFill>
                  <a:schemeClr val="accent2">
                    <a:lumMod val="75000"/>
                  </a:schemeClr>
                </a:solidFill>
              </a:rPr>
              <a:t>类图</a:t>
            </a:r>
            <a:r>
              <a:rPr lang="zh-CN" altLang="zh-CN" sz="2000" dirty="0">
                <a:solidFill>
                  <a:schemeClr val="accent2">
                    <a:lumMod val="75000"/>
                  </a:schemeClr>
                </a:solidFill>
              </a:rPr>
              <a:t>(</a:t>
            </a:r>
            <a:r>
              <a:rPr lang="en-US" altLang="zh-CN" sz="2000" dirty="0">
                <a:solidFill>
                  <a:schemeClr val="accent2">
                    <a:lumMod val="75000"/>
                  </a:schemeClr>
                </a:solidFill>
                <a:cs typeface="Times New Roman" panose="02020603050405020304" pitchFamily="18" charset="0"/>
              </a:rPr>
              <a:t>Class Diagram</a:t>
            </a:r>
            <a:r>
              <a:rPr lang="zh-CN" altLang="zh-CN" sz="2000" dirty="0">
                <a:solidFill>
                  <a:schemeClr val="accent2">
                    <a:lumMod val="75000"/>
                  </a:schemeClr>
                </a:solidFill>
              </a:rPr>
              <a:t>)</a:t>
            </a:r>
            <a:endParaRPr lang="zh-CN" altLang="zh-CN" sz="2000" dirty="0">
              <a:solidFill>
                <a:schemeClr val="accent2">
                  <a:lumMod val="75000"/>
                </a:schemeClr>
              </a:solidFill>
            </a:endParaRPr>
          </a:p>
          <a:p>
            <a:pPr marL="93980" indent="-457200">
              <a:lnSpc>
                <a:spcPct val="100000"/>
              </a:lnSpc>
              <a:spcBef>
                <a:spcPts val="800"/>
              </a:spcBef>
              <a:buFont typeface="+mj-lt"/>
              <a:buAutoNum type="arabicPeriod"/>
            </a:pPr>
            <a:r>
              <a:rPr lang="zh-CN" altLang="en-US" sz="2000" dirty="0">
                <a:solidFill>
                  <a:schemeClr val="accent2">
                    <a:lumMod val="75000"/>
                  </a:schemeClr>
                </a:solidFill>
              </a:rPr>
              <a:t>对象图</a:t>
            </a:r>
            <a:r>
              <a:rPr lang="zh-CN" altLang="zh-CN" sz="2000" dirty="0">
                <a:solidFill>
                  <a:schemeClr val="accent2">
                    <a:lumMod val="75000"/>
                  </a:schemeClr>
                </a:solidFill>
              </a:rPr>
              <a:t>(</a:t>
            </a:r>
            <a:r>
              <a:rPr lang="en-US" altLang="zh-CN" sz="2000" dirty="0">
                <a:solidFill>
                  <a:schemeClr val="accent2">
                    <a:lumMod val="75000"/>
                  </a:schemeClr>
                </a:solidFill>
                <a:cs typeface="Times New Roman" panose="02020603050405020304" pitchFamily="18" charset="0"/>
              </a:rPr>
              <a:t>Object Diagram</a:t>
            </a:r>
            <a:r>
              <a:rPr lang="zh-CN" altLang="zh-CN" sz="2000" dirty="0">
                <a:solidFill>
                  <a:schemeClr val="accent2">
                    <a:lumMod val="75000"/>
                  </a:schemeClr>
                </a:solidFill>
              </a:rPr>
              <a:t>)</a:t>
            </a:r>
            <a:endParaRPr lang="zh-CN" altLang="zh-CN" sz="2000" dirty="0">
              <a:solidFill>
                <a:schemeClr val="accent2">
                  <a:lumMod val="75000"/>
                </a:schemeClr>
              </a:solidFill>
            </a:endParaRPr>
          </a:p>
          <a:p>
            <a:pPr marL="93980" indent="-457200">
              <a:lnSpc>
                <a:spcPct val="100000"/>
              </a:lnSpc>
              <a:spcBef>
                <a:spcPts val="800"/>
              </a:spcBef>
              <a:buFont typeface="+mj-lt"/>
              <a:buAutoNum type="arabicPeriod"/>
            </a:pPr>
            <a:r>
              <a:rPr lang="zh-CN" altLang="en-US" sz="2000" dirty="0">
                <a:solidFill>
                  <a:schemeClr val="accent2">
                    <a:lumMod val="75000"/>
                  </a:schemeClr>
                </a:solidFill>
              </a:rPr>
              <a:t>构件图</a:t>
            </a:r>
            <a:r>
              <a:rPr lang="zh-CN" altLang="zh-CN" sz="2000" dirty="0">
                <a:solidFill>
                  <a:schemeClr val="accent2">
                    <a:lumMod val="75000"/>
                  </a:schemeClr>
                </a:solidFill>
              </a:rPr>
              <a:t>(</a:t>
            </a:r>
            <a:r>
              <a:rPr lang="en-US" altLang="zh-CN" sz="2000" dirty="0">
                <a:solidFill>
                  <a:schemeClr val="accent2">
                    <a:lumMod val="75000"/>
                  </a:schemeClr>
                </a:solidFill>
                <a:cs typeface="Times New Roman" panose="02020603050405020304" pitchFamily="18" charset="0"/>
              </a:rPr>
              <a:t>Component Diagram</a:t>
            </a:r>
            <a:r>
              <a:rPr lang="zh-CN" altLang="zh-CN" sz="2000" dirty="0">
                <a:solidFill>
                  <a:schemeClr val="accent2">
                    <a:lumMod val="75000"/>
                  </a:schemeClr>
                </a:solidFill>
              </a:rPr>
              <a:t>)</a:t>
            </a:r>
            <a:endParaRPr lang="zh-CN" altLang="zh-CN" sz="2000" dirty="0">
              <a:solidFill>
                <a:schemeClr val="accent2">
                  <a:lumMod val="75000"/>
                </a:schemeClr>
              </a:solidFill>
            </a:endParaRPr>
          </a:p>
          <a:p>
            <a:pPr marL="93980" indent="-457200">
              <a:lnSpc>
                <a:spcPct val="100000"/>
              </a:lnSpc>
              <a:spcBef>
                <a:spcPts val="800"/>
              </a:spcBef>
              <a:buFont typeface="+mj-lt"/>
              <a:buAutoNum type="arabicPeriod"/>
            </a:pPr>
            <a:r>
              <a:rPr lang="zh-CN" altLang="en-US" sz="2000" dirty="0">
                <a:solidFill>
                  <a:schemeClr val="accent2">
                    <a:lumMod val="75000"/>
                  </a:schemeClr>
                </a:solidFill>
              </a:rPr>
              <a:t>配置图</a:t>
            </a:r>
            <a:r>
              <a:rPr lang="zh-CN" altLang="zh-CN" sz="2000" dirty="0">
                <a:solidFill>
                  <a:schemeClr val="accent2">
                    <a:lumMod val="75000"/>
                  </a:schemeClr>
                </a:solidFill>
              </a:rPr>
              <a:t>(</a:t>
            </a:r>
            <a:r>
              <a:rPr lang="en-US" altLang="zh-CN" sz="2000" dirty="0">
                <a:solidFill>
                  <a:schemeClr val="accent2">
                    <a:lumMod val="75000"/>
                  </a:schemeClr>
                </a:solidFill>
                <a:cs typeface="Times New Roman" panose="02020603050405020304" pitchFamily="18" charset="0"/>
              </a:rPr>
              <a:t>Deployment Diagram</a:t>
            </a:r>
            <a:r>
              <a:rPr lang="zh-CN" altLang="zh-CN" sz="2000" dirty="0">
                <a:solidFill>
                  <a:schemeClr val="accent2">
                    <a:lumMod val="75000"/>
                  </a:schemeClr>
                </a:solidFill>
              </a:rPr>
              <a:t>)</a:t>
            </a:r>
            <a:endParaRPr lang="en-US" altLang="zh-CN" sz="2000" dirty="0">
              <a:solidFill>
                <a:schemeClr val="accent2">
                  <a:lumMod val="75000"/>
                </a:schemeClr>
              </a:solidFill>
            </a:endParaRPr>
          </a:p>
          <a:p>
            <a:pPr marL="93980" indent="-457200">
              <a:lnSpc>
                <a:spcPct val="100000"/>
              </a:lnSpc>
              <a:spcBef>
                <a:spcPts val="800"/>
              </a:spcBef>
              <a:buFont typeface="+mj-lt"/>
              <a:buAutoNum type="arabicPeriod"/>
            </a:pPr>
            <a:r>
              <a:rPr lang="zh-CN" altLang="en-US" sz="2000" dirty="0">
                <a:solidFill>
                  <a:schemeClr val="accent2">
                    <a:lumMod val="75000"/>
                  </a:schemeClr>
                </a:solidFill>
              </a:rPr>
              <a:t>用例图</a:t>
            </a:r>
            <a:r>
              <a:rPr lang="zh-CN" altLang="zh-CN" sz="2000" dirty="0">
                <a:solidFill>
                  <a:schemeClr val="accent2">
                    <a:lumMod val="75000"/>
                  </a:schemeClr>
                </a:solidFill>
              </a:rPr>
              <a:t>(</a:t>
            </a:r>
            <a:r>
              <a:rPr lang="en-US" altLang="zh-CN" sz="2000" dirty="0">
                <a:solidFill>
                  <a:schemeClr val="accent2">
                    <a:lumMod val="75000"/>
                  </a:schemeClr>
                </a:solidFill>
                <a:cs typeface="Times New Roman" panose="02020603050405020304" pitchFamily="18" charset="0"/>
              </a:rPr>
              <a:t>Use Case Diagram</a:t>
            </a:r>
            <a:r>
              <a:rPr lang="zh-CN" altLang="en-US" sz="2000" dirty="0">
                <a:solidFill>
                  <a:schemeClr val="accent2">
                    <a:lumMod val="75000"/>
                  </a:schemeClr>
                </a:solidFill>
                <a:cs typeface="Times New Roman" panose="02020603050405020304" pitchFamily="18" charset="0"/>
              </a:rPr>
              <a:t>）</a:t>
            </a:r>
            <a:endParaRPr lang="en-US" altLang="zh-CN" sz="2000" dirty="0">
              <a:solidFill>
                <a:schemeClr val="accent2">
                  <a:lumMod val="75000"/>
                </a:schemeClr>
              </a:solidFill>
              <a:cs typeface="Times New Roman" panose="02020603050405020304" pitchFamily="18" charset="0"/>
            </a:endParaRPr>
          </a:p>
          <a:p>
            <a:pPr marL="93980" indent="-457200">
              <a:lnSpc>
                <a:spcPct val="100000"/>
              </a:lnSpc>
              <a:spcBef>
                <a:spcPts val="800"/>
              </a:spcBef>
              <a:buFont typeface="+mj-lt"/>
              <a:buAutoNum type="arabicPeriod"/>
            </a:pPr>
            <a:r>
              <a:rPr lang="zh-CN" altLang="en-US" sz="2000" dirty="0">
                <a:solidFill>
                  <a:schemeClr val="accent2">
                    <a:lumMod val="75000"/>
                  </a:schemeClr>
                </a:solidFill>
              </a:rPr>
              <a:t>活动图</a:t>
            </a:r>
            <a:r>
              <a:rPr lang="zh-CN" altLang="zh-CN" sz="2000" dirty="0">
                <a:solidFill>
                  <a:schemeClr val="accent2">
                    <a:lumMod val="75000"/>
                  </a:schemeClr>
                </a:solidFill>
              </a:rPr>
              <a:t>(</a:t>
            </a:r>
            <a:r>
              <a:rPr lang="en-US" altLang="zh-CN" sz="2000" dirty="0">
                <a:solidFill>
                  <a:schemeClr val="accent2">
                    <a:lumMod val="75000"/>
                  </a:schemeClr>
                </a:solidFill>
                <a:cs typeface="Times New Roman" panose="02020603050405020304" pitchFamily="18" charset="0"/>
              </a:rPr>
              <a:t>Activity Diagram</a:t>
            </a:r>
            <a:r>
              <a:rPr lang="zh-CN" altLang="zh-CN" sz="2000" dirty="0">
                <a:solidFill>
                  <a:schemeClr val="accent2">
                    <a:lumMod val="75000"/>
                  </a:schemeClr>
                </a:solidFill>
              </a:rPr>
              <a:t>)</a:t>
            </a:r>
            <a:endParaRPr lang="zh-CN" altLang="zh-CN" sz="2000" dirty="0">
              <a:solidFill>
                <a:schemeClr val="accent2">
                  <a:lumMod val="75000"/>
                </a:schemeClr>
              </a:solidFill>
            </a:endParaRPr>
          </a:p>
          <a:p>
            <a:pPr marL="93980" indent="-457200">
              <a:lnSpc>
                <a:spcPct val="100000"/>
              </a:lnSpc>
              <a:spcBef>
                <a:spcPts val="800"/>
              </a:spcBef>
              <a:buFont typeface="+mj-lt"/>
              <a:buAutoNum type="arabicPeriod"/>
            </a:pPr>
            <a:r>
              <a:rPr lang="zh-CN" altLang="en-US" sz="2000" dirty="0">
                <a:solidFill>
                  <a:schemeClr val="accent2">
                    <a:lumMod val="75000"/>
                  </a:schemeClr>
                </a:solidFill>
              </a:rPr>
              <a:t>状态图</a:t>
            </a:r>
            <a:r>
              <a:rPr lang="zh-CN" altLang="zh-CN" sz="2000" dirty="0">
                <a:solidFill>
                  <a:schemeClr val="accent2">
                    <a:lumMod val="75000"/>
                  </a:schemeClr>
                </a:solidFill>
              </a:rPr>
              <a:t>(</a:t>
            </a:r>
            <a:r>
              <a:rPr lang="en-US" altLang="zh-CN" sz="2000" dirty="0" err="1">
                <a:solidFill>
                  <a:schemeClr val="accent2">
                    <a:lumMod val="75000"/>
                  </a:schemeClr>
                </a:solidFill>
                <a:cs typeface="Times New Roman" panose="02020603050405020304" pitchFamily="18" charset="0"/>
              </a:rPr>
              <a:t>Statechart</a:t>
            </a:r>
            <a:r>
              <a:rPr lang="en-US" altLang="zh-CN" sz="2000" dirty="0">
                <a:solidFill>
                  <a:schemeClr val="accent2">
                    <a:lumMod val="75000"/>
                  </a:schemeClr>
                </a:solidFill>
                <a:cs typeface="Times New Roman" panose="02020603050405020304" pitchFamily="18" charset="0"/>
              </a:rPr>
              <a:t> Diagram</a:t>
            </a:r>
            <a:r>
              <a:rPr lang="zh-CN" altLang="zh-CN" sz="2000" dirty="0">
                <a:solidFill>
                  <a:schemeClr val="accent2">
                    <a:lumMod val="75000"/>
                  </a:schemeClr>
                </a:solidFill>
              </a:rPr>
              <a:t>)</a:t>
            </a:r>
            <a:endParaRPr lang="zh-CN" altLang="zh-CN" sz="2000" dirty="0">
              <a:solidFill>
                <a:schemeClr val="accent2">
                  <a:lumMod val="75000"/>
                </a:schemeClr>
              </a:solidFill>
            </a:endParaRPr>
          </a:p>
          <a:p>
            <a:pPr marL="93980" indent="-457200">
              <a:lnSpc>
                <a:spcPct val="100000"/>
              </a:lnSpc>
              <a:spcBef>
                <a:spcPts val="800"/>
              </a:spcBef>
              <a:buFont typeface="+mj-lt"/>
              <a:buAutoNum type="arabicPeriod"/>
            </a:pPr>
            <a:r>
              <a:rPr lang="zh-CN" altLang="en-US" sz="2000" dirty="0">
                <a:solidFill>
                  <a:schemeClr val="accent2">
                    <a:lumMod val="75000"/>
                  </a:schemeClr>
                </a:solidFill>
              </a:rPr>
              <a:t>顺序图</a:t>
            </a:r>
            <a:r>
              <a:rPr lang="zh-CN" altLang="zh-CN" sz="2000" dirty="0">
                <a:solidFill>
                  <a:schemeClr val="accent2">
                    <a:lumMod val="75000"/>
                  </a:schemeClr>
                </a:solidFill>
              </a:rPr>
              <a:t>(</a:t>
            </a:r>
            <a:r>
              <a:rPr lang="en-US" altLang="zh-CN" sz="2000" dirty="0">
                <a:solidFill>
                  <a:schemeClr val="accent2">
                    <a:lumMod val="75000"/>
                  </a:schemeClr>
                </a:solidFill>
                <a:cs typeface="Times New Roman" panose="02020603050405020304" pitchFamily="18" charset="0"/>
              </a:rPr>
              <a:t>Sequence Diagram</a:t>
            </a:r>
            <a:r>
              <a:rPr lang="zh-CN" altLang="zh-CN" sz="2000" dirty="0">
                <a:solidFill>
                  <a:schemeClr val="accent2">
                    <a:lumMod val="75000"/>
                  </a:schemeClr>
                </a:solidFill>
              </a:rPr>
              <a:t>)</a:t>
            </a:r>
            <a:endParaRPr lang="en-US" altLang="zh-CN" sz="2000" dirty="0">
              <a:solidFill>
                <a:schemeClr val="accent2">
                  <a:lumMod val="75000"/>
                </a:schemeClr>
              </a:solidFill>
            </a:endParaRPr>
          </a:p>
          <a:p>
            <a:pPr marL="93980" indent="-457200">
              <a:lnSpc>
                <a:spcPct val="100000"/>
              </a:lnSpc>
              <a:spcBef>
                <a:spcPts val="800"/>
              </a:spcBef>
              <a:buFont typeface="+mj-lt"/>
              <a:buAutoNum type="arabicPeriod"/>
            </a:pPr>
            <a:r>
              <a:rPr lang="zh-CN" altLang="en-US" sz="2000" dirty="0">
                <a:solidFill>
                  <a:schemeClr val="accent2">
                    <a:lumMod val="75000"/>
                  </a:schemeClr>
                </a:solidFill>
              </a:rPr>
              <a:t>协作图</a:t>
            </a:r>
            <a:r>
              <a:rPr lang="zh-CN" altLang="zh-CN" sz="2000" dirty="0">
                <a:solidFill>
                  <a:schemeClr val="accent2">
                    <a:lumMod val="75000"/>
                  </a:schemeClr>
                </a:solidFill>
              </a:rPr>
              <a:t>(</a:t>
            </a:r>
            <a:r>
              <a:rPr lang="en-US" altLang="zh-CN" sz="2000" dirty="0">
                <a:solidFill>
                  <a:schemeClr val="accent2">
                    <a:lumMod val="75000"/>
                  </a:schemeClr>
                </a:solidFill>
                <a:cs typeface="Times New Roman" panose="02020603050405020304" pitchFamily="18" charset="0"/>
              </a:rPr>
              <a:t>Collaboration Diagram</a:t>
            </a:r>
            <a:r>
              <a:rPr lang="zh-CN" altLang="en-US" sz="2000" dirty="0">
                <a:solidFill>
                  <a:schemeClr val="accent2">
                    <a:lumMod val="75000"/>
                  </a:schemeClr>
                </a:solidFill>
                <a:cs typeface="Times New Roman" panose="02020603050405020304" pitchFamily="18" charset="0"/>
              </a:rPr>
              <a:t>）</a:t>
            </a:r>
            <a:endParaRPr lang="zh-CN" altLang="zh-CN" sz="2000" b="1" dirty="0">
              <a:solidFill>
                <a:schemeClr val="accent2">
                  <a:lumMod val="75000"/>
                </a:schemeClr>
              </a:solidFill>
            </a:endParaRPr>
          </a:p>
        </p:txBody>
      </p:sp>
      <p:sp>
        <p:nvSpPr>
          <p:cNvPr id="12" name="日期占位符 11"/>
          <p:cNvSpPr>
            <a:spLocks noGrp="1"/>
          </p:cNvSpPr>
          <p:nvPr>
            <p:ph type="dt" sz="half" idx="10"/>
          </p:nvPr>
        </p:nvSpPr>
        <p:spPr/>
        <p:txBody>
          <a:bodyPr/>
          <a:lstStyle/>
          <a:p>
            <a:fld id="{768C6A11-5D8B-4341-A5CF-F87576BBA635}" type="datetime1">
              <a:rPr lang="zh-CN" altLang="en-US" smtClean="0"/>
            </a:fld>
            <a:endParaRPr lang="zh-CN" altLang="en-US" dirty="0"/>
          </a:p>
        </p:txBody>
      </p:sp>
      <p:sp>
        <p:nvSpPr>
          <p:cNvPr id="13" name="页脚占位符 12"/>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8" name="内容占位符 7"/>
          <p:cNvSpPr>
            <a:spLocks noGrp="1"/>
          </p:cNvSpPr>
          <p:nvPr>
            <p:ph idx="1"/>
          </p:nvPr>
        </p:nvSpPr>
        <p:spPr/>
        <p:txBody>
          <a:bodyPr>
            <a:normAutofit/>
          </a:bodyPr>
          <a:lstStyle/>
          <a:p>
            <a:r>
              <a:rPr lang="en-US" altLang="zh-CN" sz="2400" dirty="0"/>
              <a:t>UML 2.0</a:t>
            </a:r>
            <a:r>
              <a:rPr lang="zh-CN" altLang="zh-CN" sz="2400" dirty="0"/>
              <a:t>支持</a:t>
            </a:r>
            <a:r>
              <a:rPr lang="en-US" altLang="zh-CN" sz="2400" dirty="0"/>
              <a:t>14</a:t>
            </a:r>
            <a:r>
              <a:rPr lang="zh-CN" altLang="zh-CN" sz="2400" dirty="0"/>
              <a:t>种图，有</a:t>
            </a:r>
            <a:r>
              <a:rPr lang="en-US" altLang="zh-CN" sz="2400" dirty="0"/>
              <a:t>7</a:t>
            </a:r>
            <a:r>
              <a:rPr lang="zh-CN" altLang="zh-CN" sz="2400" dirty="0"/>
              <a:t>种结构图和</a:t>
            </a:r>
            <a:r>
              <a:rPr lang="en-US" altLang="zh-CN" sz="2400" dirty="0"/>
              <a:t>7</a:t>
            </a:r>
            <a:r>
              <a:rPr lang="zh-CN" altLang="zh-CN" sz="2400" dirty="0"/>
              <a:t>种行为图。</a:t>
            </a:r>
            <a:endParaRPr lang="zh-CN" altLang="zh-CN" sz="2400" dirty="0"/>
          </a:p>
        </p:txBody>
      </p:sp>
      <p:sp>
        <p:nvSpPr>
          <p:cNvPr id="2" name="日期占位符 1"/>
          <p:cNvSpPr>
            <a:spLocks noGrp="1"/>
          </p:cNvSpPr>
          <p:nvPr>
            <p:ph type="dt" sz="half" idx="10"/>
          </p:nvPr>
        </p:nvSpPr>
        <p:spPr/>
        <p:txBody>
          <a:bodyPr/>
          <a:lstStyle/>
          <a:p>
            <a:fld id="{DAFF8DFD-6FF7-4A7F-A449-C3E7FBA531DF}"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5" name="对象 4"/>
          <p:cNvGraphicFramePr>
            <a:graphicFrameLocks noChangeAspect="1"/>
          </p:cNvGraphicFramePr>
          <p:nvPr/>
        </p:nvGraphicFramePr>
        <p:xfrm>
          <a:off x="1141936" y="1313888"/>
          <a:ext cx="6196414" cy="3540808"/>
        </p:xfrm>
        <a:graphic>
          <a:graphicData uri="http://schemas.openxmlformats.org/presentationml/2006/ole">
            <mc:AlternateContent xmlns:mc="http://schemas.openxmlformats.org/markup-compatibility/2006">
              <mc:Choice xmlns:v="urn:schemas-microsoft-com:vml" Requires="v">
                <p:oleObj spid="_x0000_s12301" name="Visio" r:id="rId1" imgW="11299190" imgH="4817110" progId="Visio.Drawing.15">
                  <p:embed/>
                </p:oleObj>
              </mc:Choice>
              <mc:Fallback>
                <p:oleObj name="Visio" r:id="rId1" imgW="11299190" imgH="4817110" progId="Visio.Drawing.15">
                  <p:embed/>
                  <p:pic>
                    <p:nvPicPr>
                      <p:cNvPr id="0" name="对象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1936" y="1313888"/>
                        <a:ext cx="6196414" cy="3540808"/>
                      </a:xfrm>
                      <a:prstGeom prst="rect">
                        <a:avLst/>
                      </a:prstGeom>
                      <a:noFill/>
                      <a:ln>
                        <a:noFill/>
                      </a:ln>
                    </p:spPr>
                  </p:pic>
                </p:oleObj>
              </mc:Fallback>
            </mc:AlternateContent>
          </a:graphicData>
        </a:graphic>
      </p:graphicFrame>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AFF8DFD-6FF7-4A7F-A449-C3E7FBA531DF}"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8" name="内容占位符 7"/>
          <p:cNvSpPr>
            <a:spLocks noGrp="1"/>
          </p:cNvSpPr>
          <p:nvPr>
            <p:ph idx="4294967295"/>
          </p:nvPr>
        </p:nvSpPr>
        <p:spPr>
          <a:xfrm>
            <a:off x="1066346" y="230950"/>
            <a:ext cx="7832725" cy="3806825"/>
          </a:xfrm>
        </p:spPr>
        <p:txBody>
          <a:bodyPr>
            <a:normAutofit/>
          </a:bodyPr>
          <a:lstStyle/>
          <a:p>
            <a:r>
              <a:rPr lang="en-US" altLang="zh-CN" sz="2400" dirty="0"/>
              <a:t>UML 2.0</a:t>
            </a:r>
            <a:r>
              <a:rPr lang="zh-CN" altLang="zh-CN" sz="2400" dirty="0"/>
              <a:t>支持</a:t>
            </a:r>
            <a:r>
              <a:rPr lang="en-US" altLang="zh-CN" sz="2400" dirty="0" smtClean="0"/>
              <a:t>14</a:t>
            </a:r>
            <a:r>
              <a:rPr lang="zh-CN" altLang="zh-CN" sz="2400" dirty="0" smtClean="0"/>
              <a:t>种</a:t>
            </a:r>
            <a:r>
              <a:rPr lang="zh-CN" altLang="zh-CN" sz="2400" dirty="0"/>
              <a:t>图，</a:t>
            </a:r>
            <a:r>
              <a:rPr lang="zh-CN" altLang="zh-CN" sz="2400" dirty="0" smtClean="0"/>
              <a:t>有</a:t>
            </a:r>
            <a:r>
              <a:rPr lang="en-US" altLang="zh-CN" sz="2400" dirty="0" smtClean="0"/>
              <a:t>7</a:t>
            </a:r>
            <a:r>
              <a:rPr lang="zh-CN" altLang="zh-CN" sz="2400" dirty="0" smtClean="0"/>
              <a:t>种</a:t>
            </a:r>
            <a:r>
              <a:rPr lang="zh-CN" altLang="zh-CN" sz="2400" dirty="0"/>
              <a:t>结构图和</a:t>
            </a:r>
            <a:r>
              <a:rPr lang="en-US" altLang="zh-CN" sz="2400" dirty="0"/>
              <a:t>7</a:t>
            </a:r>
            <a:r>
              <a:rPr lang="zh-CN" altLang="zh-CN" sz="2400" dirty="0"/>
              <a:t>种行为图</a:t>
            </a:r>
            <a:r>
              <a:rPr lang="zh-CN" altLang="zh-CN" sz="2400" dirty="0" smtClean="0"/>
              <a:t>。</a:t>
            </a:r>
            <a:endParaRPr lang="zh-CN" altLang="zh-CN" sz="2400" dirty="0"/>
          </a:p>
        </p:txBody>
      </p:sp>
      <p:graphicFrame>
        <p:nvGraphicFramePr>
          <p:cNvPr id="9" name="图示 8"/>
          <p:cNvGraphicFramePr/>
          <p:nvPr/>
        </p:nvGraphicFramePr>
        <p:xfrm>
          <a:off x="141514" y="911069"/>
          <a:ext cx="7609114" cy="148313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10" name="图示 9"/>
          <p:cNvGraphicFramePr/>
          <p:nvPr/>
        </p:nvGraphicFramePr>
        <p:xfrm>
          <a:off x="1728338" y="2495144"/>
          <a:ext cx="7415662" cy="225694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ltLang="zh-CN" dirty="0"/>
              <a:t>UML 2.x</a:t>
            </a:r>
            <a:r>
              <a:rPr lang="zh-CN" altLang="en-US" dirty="0"/>
              <a:t>增改的图</a:t>
            </a:r>
            <a:endParaRPr lang="zh-CN" altLang="en-US" dirty="0"/>
          </a:p>
        </p:txBody>
      </p:sp>
      <p:sp>
        <p:nvSpPr>
          <p:cNvPr id="5" name="日期占位符 4"/>
          <p:cNvSpPr>
            <a:spLocks noGrp="1"/>
          </p:cNvSpPr>
          <p:nvPr>
            <p:ph type="dt" sz="half" idx="10"/>
          </p:nvPr>
        </p:nvSpPr>
        <p:spPr/>
        <p:txBody>
          <a:bodyPr/>
          <a:lstStyle/>
          <a:p>
            <a:fld id="{FFD50B76-CA68-46BC-868B-EF09DBFD8664}"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 name="内容占位符 1"/>
          <p:cNvSpPr>
            <a:spLocks noGrp="1"/>
          </p:cNvSpPr>
          <p:nvPr>
            <p:ph idx="1"/>
          </p:nvPr>
        </p:nvSpPr>
        <p:spPr/>
        <p:txBody>
          <a:bodyPr/>
          <a:lstStyle/>
          <a:p>
            <a:endParaRPr lang="zh-CN" altLang="en-US"/>
          </a:p>
        </p:txBody>
      </p:sp>
      <p:graphicFrame>
        <p:nvGraphicFramePr>
          <p:cNvPr id="9" name="内容占位符 3"/>
          <p:cNvGraphicFramePr/>
          <p:nvPr/>
        </p:nvGraphicFramePr>
        <p:xfrm>
          <a:off x="1036939" y="566677"/>
          <a:ext cx="6556052" cy="4405474"/>
        </p:xfrm>
        <a:graphic>
          <a:graphicData uri="http://schemas.openxmlformats.org/drawingml/2006/table">
            <a:tbl>
              <a:tblPr firstRow="1" firstCol="1" bandRow="1">
                <a:tableStyleId>{5C22544A-7EE6-4342-B048-85BDC9FD1C3A}</a:tableStyleId>
              </a:tblPr>
              <a:tblGrid>
                <a:gridCol w="891175"/>
                <a:gridCol w="915570"/>
                <a:gridCol w="4749307"/>
              </a:tblGrid>
              <a:tr h="306058">
                <a:tc>
                  <a:txBody>
                    <a:bodyPr/>
                    <a:lstStyle/>
                    <a:p>
                      <a:pPr algn="ctr">
                        <a:spcAft>
                          <a:spcPts val="0"/>
                        </a:spcAft>
                      </a:pPr>
                      <a:r>
                        <a:rPr lang="en-US" sz="1400" kern="100" dirty="0">
                          <a:effectLst/>
                        </a:rPr>
                        <a:t>UML 1.4</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c>
                  <a:txBody>
                    <a:bodyPr/>
                    <a:lstStyle/>
                    <a:p>
                      <a:pPr algn="ctr">
                        <a:spcAft>
                          <a:spcPts val="0"/>
                        </a:spcAft>
                      </a:pPr>
                      <a:r>
                        <a:rPr lang="en-US" sz="1400" kern="100">
                          <a:effectLst/>
                        </a:rPr>
                        <a:t>UML 2</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c>
                  <a:txBody>
                    <a:bodyPr/>
                    <a:lstStyle/>
                    <a:p>
                      <a:pPr indent="266700" algn="ctr">
                        <a:spcAft>
                          <a:spcPts val="0"/>
                        </a:spcAft>
                      </a:pPr>
                      <a:r>
                        <a:rPr lang="zh-CN" sz="1400" kern="100">
                          <a:effectLst/>
                        </a:rPr>
                        <a:t>对比说明</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r>
              <a:tr h="612116">
                <a:tc>
                  <a:txBody>
                    <a:bodyPr/>
                    <a:lstStyle/>
                    <a:p>
                      <a:pPr algn="ctr">
                        <a:spcAft>
                          <a:spcPts val="0"/>
                        </a:spcAft>
                      </a:pPr>
                      <a:r>
                        <a:rPr lang="en-US" sz="1400" kern="100" dirty="0">
                          <a:effectLst/>
                        </a:rPr>
                        <a:t> </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c>
                  <a:txBody>
                    <a:bodyPr/>
                    <a:lstStyle/>
                    <a:p>
                      <a:pPr indent="21590" algn="ctr">
                        <a:spcAft>
                          <a:spcPts val="0"/>
                        </a:spcAft>
                      </a:pPr>
                      <a:r>
                        <a:rPr lang="zh-CN" sz="1400" kern="100" dirty="0">
                          <a:effectLst/>
                        </a:rPr>
                        <a:t>包图</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c>
                  <a:txBody>
                    <a:bodyPr/>
                    <a:lstStyle/>
                    <a:p>
                      <a:pPr indent="2540" algn="just">
                        <a:spcAft>
                          <a:spcPts val="0"/>
                        </a:spcAft>
                      </a:pPr>
                      <a:r>
                        <a:rPr lang="zh-CN" sz="1400" kern="100" dirty="0">
                          <a:effectLst/>
                        </a:rPr>
                        <a:t>尽管</a:t>
                      </a:r>
                      <a:r>
                        <a:rPr lang="en-US" sz="1400" kern="100" dirty="0">
                          <a:effectLst/>
                        </a:rPr>
                        <a:t>UML 1.4</a:t>
                      </a:r>
                      <a:r>
                        <a:rPr lang="zh-CN" sz="1400" kern="100" dirty="0">
                          <a:effectLst/>
                        </a:rPr>
                        <a:t>使用包图说明规范的组织结构，但是没有对包图进行明确定义。</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r>
              <a:tr h="306058">
                <a:tc>
                  <a:txBody>
                    <a:bodyPr/>
                    <a:lstStyle/>
                    <a:p>
                      <a:pPr algn="ctr">
                        <a:spcAft>
                          <a:spcPts val="0"/>
                        </a:spcAft>
                      </a:pPr>
                      <a:r>
                        <a:rPr lang="zh-CN" sz="1400" kern="100">
                          <a:effectLst/>
                        </a:rPr>
                        <a:t>状态图</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c>
                  <a:txBody>
                    <a:bodyPr/>
                    <a:lstStyle/>
                    <a:p>
                      <a:pPr algn="ctr">
                        <a:spcAft>
                          <a:spcPts val="0"/>
                        </a:spcAft>
                      </a:pPr>
                      <a:r>
                        <a:rPr lang="zh-CN" sz="1400" kern="100" dirty="0">
                          <a:effectLst/>
                        </a:rPr>
                        <a:t>状态机图</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c>
                  <a:txBody>
                    <a:bodyPr/>
                    <a:lstStyle/>
                    <a:p>
                      <a:pPr indent="2540" algn="just">
                        <a:spcAft>
                          <a:spcPts val="0"/>
                        </a:spcAft>
                      </a:pPr>
                      <a:r>
                        <a:rPr lang="zh-CN" sz="1400" kern="100" dirty="0">
                          <a:effectLst/>
                        </a:rPr>
                        <a:t>只是名称不同，技术上完全相同。</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r>
              <a:tr h="306058">
                <a:tc>
                  <a:txBody>
                    <a:bodyPr/>
                    <a:lstStyle/>
                    <a:p>
                      <a:pPr algn="ctr">
                        <a:spcAft>
                          <a:spcPts val="0"/>
                        </a:spcAft>
                      </a:pPr>
                      <a:r>
                        <a:rPr lang="zh-CN" sz="1400" kern="100">
                          <a:effectLst/>
                        </a:rPr>
                        <a:t>活动图</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c>
                  <a:txBody>
                    <a:bodyPr/>
                    <a:lstStyle/>
                    <a:p>
                      <a:pPr algn="ctr">
                        <a:spcAft>
                          <a:spcPts val="0"/>
                        </a:spcAft>
                      </a:pPr>
                      <a:r>
                        <a:rPr lang="zh-CN" sz="1400" kern="100">
                          <a:effectLst/>
                        </a:rPr>
                        <a:t>活动图</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c>
                  <a:txBody>
                    <a:bodyPr/>
                    <a:lstStyle/>
                    <a:p>
                      <a:pPr algn="just">
                        <a:spcAft>
                          <a:spcPts val="0"/>
                        </a:spcAft>
                      </a:pPr>
                      <a:r>
                        <a:rPr lang="en-US" sz="1400" kern="100" dirty="0">
                          <a:effectLst/>
                        </a:rPr>
                        <a:t>UML 2</a:t>
                      </a:r>
                      <a:r>
                        <a:rPr lang="zh-CN" sz="1400" kern="100" dirty="0">
                          <a:effectLst/>
                        </a:rPr>
                        <a:t>的活动图独立于状态机存在。</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r>
              <a:tr h="612116">
                <a:tc>
                  <a:txBody>
                    <a:bodyPr/>
                    <a:lstStyle/>
                    <a:p>
                      <a:pPr algn="ctr">
                        <a:spcAft>
                          <a:spcPts val="0"/>
                        </a:spcAft>
                      </a:pPr>
                      <a:r>
                        <a:rPr lang="en-US" sz="1400" kern="100">
                          <a:effectLst/>
                        </a:rPr>
                        <a:t> </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c>
                  <a:txBody>
                    <a:bodyPr/>
                    <a:lstStyle/>
                    <a:p>
                      <a:pPr algn="ctr">
                        <a:spcAft>
                          <a:spcPts val="0"/>
                        </a:spcAft>
                      </a:pPr>
                      <a:r>
                        <a:rPr lang="zh-CN" sz="1400" kern="100">
                          <a:effectLst/>
                        </a:rPr>
                        <a:t>组合结构图</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c>
                  <a:txBody>
                    <a:bodyPr/>
                    <a:lstStyle/>
                    <a:p>
                      <a:pPr algn="just">
                        <a:spcAft>
                          <a:spcPts val="0"/>
                        </a:spcAft>
                      </a:pPr>
                      <a:r>
                        <a:rPr lang="zh-CN" sz="1400" kern="100" dirty="0">
                          <a:effectLst/>
                        </a:rPr>
                        <a:t>显示结构化类元或协作的内部结构，和普通类图之间没有严格界限。</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r>
              <a:tr h="612116">
                <a:tc>
                  <a:txBody>
                    <a:bodyPr/>
                    <a:lstStyle/>
                    <a:p>
                      <a:pPr algn="ctr">
                        <a:spcAft>
                          <a:spcPts val="0"/>
                        </a:spcAft>
                      </a:pPr>
                      <a:r>
                        <a:rPr lang="en-US" sz="1400" kern="100">
                          <a:effectLst/>
                        </a:rPr>
                        <a:t> </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c>
                  <a:txBody>
                    <a:bodyPr/>
                    <a:lstStyle/>
                    <a:p>
                      <a:pPr algn="ctr">
                        <a:spcAft>
                          <a:spcPts val="0"/>
                        </a:spcAft>
                      </a:pPr>
                      <a:r>
                        <a:rPr lang="zh-CN" sz="1400" kern="100">
                          <a:effectLst/>
                        </a:rPr>
                        <a:t>交互图</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c>
                  <a:txBody>
                    <a:bodyPr/>
                    <a:lstStyle/>
                    <a:p>
                      <a:pPr marL="3810" algn="just">
                        <a:spcAft>
                          <a:spcPts val="0"/>
                        </a:spcAft>
                      </a:pPr>
                      <a:r>
                        <a:rPr lang="en-US" sz="1400" kern="100" dirty="0">
                          <a:effectLst/>
                        </a:rPr>
                        <a:t>UML 2</a:t>
                      </a:r>
                      <a:r>
                        <a:rPr lang="zh-CN" sz="1400" kern="100" dirty="0">
                          <a:effectLst/>
                        </a:rPr>
                        <a:t>中的交互图是顺序图、通信图、交互概览图和时间图的统称，与活动图密切相关。</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r>
              <a:tr h="612116">
                <a:tc>
                  <a:txBody>
                    <a:bodyPr/>
                    <a:lstStyle/>
                    <a:p>
                      <a:pPr algn="ctr">
                        <a:spcAft>
                          <a:spcPts val="0"/>
                        </a:spcAft>
                      </a:pPr>
                      <a:r>
                        <a:rPr lang="zh-CN" sz="1400" kern="100">
                          <a:effectLst/>
                        </a:rPr>
                        <a:t>协作图</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c>
                  <a:txBody>
                    <a:bodyPr/>
                    <a:lstStyle/>
                    <a:p>
                      <a:pPr indent="21590" algn="ctr">
                        <a:spcAft>
                          <a:spcPts val="0"/>
                        </a:spcAft>
                      </a:pPr>
                      <a:r>
                        <a:rPr lang="zh-CN" sz="1400" kern="100">
                          <a:effectLst/>
                        </a:rPr>
                        <a:t>通信图</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c>
                  <a:txBody>
                    <a:bodyPr/>
                    <a:lstStyle/>
                    <a:p>
                      <a:pPr algn="just">
                        <a:spcAft>
                          <a:spcPts val="0"/>
                        </a:spcAft>
                      </a:pPr>
                      <a:r>
                        <a:rPr lang="en-US" sz="1400" kern="100" dirty="0">
                          <a:effectLst/>
                        </a:rPr>
                        <a:t>UML 2</a:t>
                      </a:r>
                      <a:r>
                        <a:rPr lang="zh-CN" sz="1400" kern="100" dirty="0">
                          <a:effectLst/>
                        </a:rPr>
                        <a:t>中多用更加精确的通信图来代替协作图的大部分功能；</a:t>
                      </a:r>
                      <a:r>
                        <a:rPr lang="en-US" sz="1400" kern="100" dirty="0">
                          <a:effectLst/>
                        </a:rPr>
                        <a:t>UML 2</a:t>
                      </a:r>
                      <a:r>
                        <a:rPr lang="zh-CN" sz="1400" kern="100" dirty="0">
                          <a:effectLst/>
                        </a:rPr>
                        <a:t>中协作图作为一种组合结构图存在。</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r>
              <a:tr h="396960">
                <a:tc>
                  <a:txBody>
                    <a:bodyPr/>
                    <a:lstStyle/>
                    <a:p>
                      <a:pPr algn="ctr">
                        <a:spcAft>
                          <a:spcPts val="0"/>
                        </a:spcAft>
                      </a:pPr>
                      <a:r>
                        <a:rPr lang="en-US" sz="1400" kern="100">
                          <a:effectLst/>
                        </a:rPr>
                        <a:t> </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c>
                  <a:txBody>
                    <a:bodyPr/>
                    <a:lstStyle/>
                    <a:p>
                      <a:pPr algn="ctr">
                        <a:spcAft>
                          <a:spcPts val="0"/>
                        </a:spcAft>
                      </a:pPr>
                      <a:r>
                        <a:rPr lang="zh-CN" sz="1400" kern="100" dirty="0">
                          <a:effectLst/>
                        </a:rPr>
                        <a:t>交互概览图</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c>
                  <a:txBody>
                    <a:bodyPr/>
                    <a:lstStyle/>
                    <a:p>
                      <a:pPr indent="2540" algn="just">
                        <a:spcAft>
                          <a:spcPts val="0"/>
                        </a:spcAft>
                      </a:pPr>
                      <a:r>
                        <a:rPr lang="zh-CN" sz="1400" kern="100" dirty="0">
                          <a:effectLst/>
                        </a:rPr>
                        <a:t>活动图的变体，合并了序列图片段和控制流构造。</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r>
              <a:tr h="612116">
                <a:tc>
                  <a:txBody>
                    <a:bodyPr/>
                    <a:lstStyle/>
                    <a:p>
                      <a:pPr algn="ctr">
                        <a:spcAft>
                          <a:spcPts val="0"/>
                        </a:spcAft>
                      </a:pPr>
                      <a:r>
                        <a:rPr lang="en-US" sz="1400" kern="100">
                          <a:effectLst/>
                        </a:rPr>
                        <a:t> </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c>
                  <a:txBody>
                    <a:bodyPr/>
                    <a:lstStyle/>
                    <a:p>
                      <a:pPr indent="21590" algn="ctr">
                        <a:spcAft>
                          <a:spcPts val="0"/>
                        </a:spcAft>
                      </a:pPr>
                      <a:r>
                        <a:rPr lang="zh-CN" sz="1400" kern="100" dirty="0">
                          <a:effectLst/>
                        </a:rPr>
                        <a:t>时间图</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c>
                  <a:txBody>
                    <a:bodyPr/>
                    <a:lstStyle/>
                    <a:p>
                      <a:pPr algn="just">
                        <a:spcAft>
                          <a:spcPts val="0"/>
                        </a:spcAft>
                      </a:pPr>
                      <a:r>
                        <a:rPr lang="en-US" sz="1400" kern="100" dirty="0">
                          <a:effectLst/>
                        </a:rPr>
                        <a:t>UML 2</a:t>
                      </a:r>
                      <a:r>
                        <a:rPr lang="zh-CN" sz="1400" kern="100" dirty="0">
                          <a:effectLst/>
                        </a:rPr>
                        <a:t>中新增的时间图是一种特殊的序列图形式，显式地表示了生命线上的状态变化和标度时间。</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1" marR="51431" marT="0" marB="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ltLang="zh-CN" dirty="0"/>
              <a:t>UML</a:t>
            </a:r>
            <a:r>
              <a:rPr lang="zh-CN" altLang="en-US" dirty="0"/>
              <a:t>的组成</a:t>
            </a:r>
            <a:endParaRPr lang="zh-CN" altLang="en-US" dirty="0"/>
          </a:p>
        </p:txBody>
      </p:sp>
      <p:sp>
        <p:nvSpPr>
          <p:cNvPr id="5" name="内容占位符 4"/>
          <p:cNvSpPr>
            <a:spLocks noGrp="1"/>
          </p:cNvSpPr>
          <p:nvPr>
            <p:ph idx="1"/>
          </p:nvPr>
        </p:nvSpPr>
        <p:spPr/>
        <p:txBody>
          <a:bodyPr/>
          <a:lstStyle/>
          <a:p>
            <a:endParaRPr lang="zh-CN" altLang="en-US"/>
          </a:p>
        </p:txBody>
      </p:sp>
      <p:sp>
        <p:nvSpPr>
          <p:cNvPr id="7" name="日期占位符 6"/>
          <p:cNvSpPr>
            <a:spLocks noGrp="1"/>
          </p:cNvSpPr>
          <p:nvPr>
            <p:ph type="dt" sz="half" idx="10"/>
          </p:nvPr>
        </p:nvSpPr>
        <p:spPr/>
        <p:txBody>
          <a:bodyPr/>
          <a:lstStyle/>
          <a:p>
            <a:fld id="{422FD970-3635-4BB9-88D1-E54E6AE2E200}"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grpSp>
        <p:nvGrpSpPr>
          <p:cNvPr id="2" name="Group 4"/>
          <p:cNvGrpSpPr/>
          <p:nvPr/>
        </p:nvGrpSpPr>
        <p:grpSpPr bwMode="auto">
          <a:xfrm>
            <a:off x="54430" y="1647546"/>
            <a:ext cx="3804569" cy="2538793"/>
            <a:chOff x="1169" y="1344"/>
            <a:chExt cx="3210" cy="2112"/>
          </a:xfrm>
        </p:grpSpPr>
        <p:sp>
          <p:nvSpPr>
            <p:cNvPr id="50181" name="Freeform 5"/>
            <p:cNvSpPr/>
            <p:nvPr/>
          </p:nvSpPr>
          <p:spPr bwMode="blackWhite">
            <a:xfrm>
              <a:off x="3638" y="2593"/>
              <a:ext cx="741" cy="862"/>
            </a:xfrm>
            <a:custGeom>
              <a:avLst/>
              <a:gdLst/>
              <a:ahLst/>
              <a:cxnLst>
                <a:cxn ang="0">
                  <a:pos x="0" y="269"/>
                </a:cxn>
                <a:cxn ang="0">
                  <a:pos x="505" y="992"/>
                </a:cxn>
                <a:cxn ang="0">
                  <a:pos x="853" y="621"/>
                </a:cxn>
                <a:cxn ang="0">
                  <a:pos x="245" y="0"/>
                </a:cxn>
                <a:cxn ang="0">
                  <a:pos x="0" y="269"/>
                </a:cxn>
              </a:cxnLst>
              <a:rect l="0" t="0" r="r" b="b"/>
              <a:pathLst>
                <a:path w="854" h="993">
                  <a:moveTo>
                    <a:pt x="0" y="269"/>
                  </a:moveTo>
                  <a:lnTo>
                    <a:pt x="505" y="992"/>
                  </a:lnTo>
                  <a:lnTo>
                    <a:pt x="853" y="621"/>
                  </a:lnTo>
                  <a:lnTo>
                    <a:pt x="245" y="0"/>
                  </a:lnTo>
                  <a:lnTo>
                    <a:pt x="0" y="269"/>
                  </a:lnTo>
                </a:path>
              </a:pathLst>
            </a:custGeom>
            <a:solidFill>
              <a:schemeClr val="accent2"/>
            </a:solidFill>
            <a:ln w="9525" cap="rnd" cmpd="sng">
              <a:solidFill>
                <a:schemeClr val="bg2"/>
              </a:solidFill>
              <a:prstDash val="solid"/>
              <a:round/>
              <a:headEnd type="none" w="sm" len="sm"/>
              <a:tailEnd type="none" w="sm" len="sm"/>
            </a:ln>
            <a:effectLst/>
          </p:spPr>
          <p:txBody>
            <a:bodyPr/>
            <a:lstStyle/>
            <a:p>
              <a:endParaRPr lang="zh-CN" altLang="en-US" sz="1600" b="1">
                <a:solidFill>
                  <a:schemeClr val="bg1"/>
                </a:solidFill>
                <a:effectLst>
                  <a:outerShdw blurRad="38100" dist="38100" dir="2700000" algn="tl">
                    <a:srgbClr val="000000">
                      <a:alpha val="43137"/>
                    </a:srgbClr>
                  </a:outerShdw>
                </a:effectLst>
                <a:latin typeface="+mj-ea"/>
                <a:ea typeface="+mj-ea"/>
              </a:endParaRPr>
            </a:p>
          </p:txBody>
        </p:sp>
        <p:sp>
          <p:nvSpPr>
            <p:cNvPr id="50182" name="Freeform 6"/>
            <p:cNvSpPr/>
            <p:nvPr/>
          </p:nvSpPr>
          <p:spPr bwMode="blackWhite">
            <a:xfrm>
              <a:off x="1604" y="2593"/>
              <a:ext cx="2246" cy="234"/>
            </a:xfrm>
            <a:custGeom>
              <a:avLst/>
              <a:gdLst/>
              <a:ahLst/>
              <a:cxnLst>
                <a:cxn ang="0">
                  <a:pos x="0" y="268"/>
                </a:cxn>
                <a:cxn ang="0">
                  <a:pos x="2342" y="268"/>
                </a:cxn>
                <a:cxn ang="0">
                  <a:pos x="2588" y="0"/>
                </a:cxn>
                <a:cxn ang="0">
                  <a:pos x="653" y="0"/>
                </a:cxn>
                <a:cxn ang="0">
                  <a:pos x="0" y="268"/>
                </a:cxn>
              </a:cxnLst>
              <a:rect l="0" t="0" r="r" b="b"/>
              <a:pathLst>
                <a:path w="2589" h="269">
                  <a:moveTo>
                    <a:pt x="0" y="268"/>
                  </a:moveTo>
                  <a:lnTo>
                    <a:pt x="2342" y="268"/>
                  </a:lnTo>
                  <a:lnTo>
                    <a:pt x="2588" y="0"/>
                  </a:lnTo>
                  <a:lnTo>
                    <a:pt x="653" y="0"/>
                  </a:lnTo>
                  <a:lnTo>
                    <a:pt x="0" y="268"/>
                  </a:lnTo>
                </a:path>
              </a:pathLst>
            </a:custGeom>
            <a:solidFill>
              <a:schemeClr val="accent1">
                <a:alpha val="50000"/>
              </a:schemeClr>
            </a:solidFill>
            <a:ln w="9525" cap="rnd" cmpd="sng">
              <a:solidFill>
                <a:schemeClr val="bg2"/>
              </a:solidFill>
              <a:prstDash val="solid"/>
              <a:round/>
              <a:headEnd type="none" w="sm" len="sm"/>
              <a:tailEnd type="none" w="sm" len="sm"/>
            </a:ln>
            <a:effectLst/>
          </p:spPr>
          <p:txBody>
            <a:bodyPr/>
            <a:lstStyle/>
            <a:p>
              <a:endParaRPr lang="zh-CN" altLang="en-US" sz="1600" b="1">
                <a:solidFill>
                  <a:schemeClr val="bg1"/>
                </a:solidFill>
                <a:effectLst>
                  <a:outerShdw blurRad="38100" dist="38100" dir="2700000" algn="tl">
                    <a:srgbClr val="000000">
                      <a:alpha val="43137"/>
                    </a:srgbClr>
                  </a:outerShdw>
                </a:effectLst>
                <a:latin typeface="+mj-ea"/>
                <a:ea typeface="+mj-ea"/>
              </a:endParaRPr>
            </a:p>
          </p:txBody>
        </p:sp>
        <p:sp>
          <p:nvSpPr>
            <p:cNvPr id="50183" name="Freeform 7"/>
            <p:cNvSpPr/>
            <p:nvPr/>
          </p:nvSpPr>
          <p:spPr bwMode="blackWhite">
            <a:xfrm>
              <a:off x="1169" y="2826"/>
              <a:ext cx="2910" cy="630"/>
            </a:xfrm>
            <a:custGeom>
              <a:avLst/>
              <a:gdLst/>
              <a:ahLst/>
              <a:cxnLst>
                <a:cxn ang="0">
                  <a:pos x="0" y="725"/>
                </a:cxn>
                <a:cxn ang="0">
                  <a:pos x="3353" y="725"/>
                </a:cxn>
                <a:cxn ang="0">
                  <a:pos x="2844" y="0"/>
                </a:cxn>
                <a:cxn ang="0">
                  <a:pos x="499" y="0"/>
                </a:cxn>
                <a:cxn ang="0">
                  <a:pos x="0" y="725"/>
                </a:cxn>
              </a:cxnLst>
              <a:rect l="0" t="0" r="r" b="b"/>
              <a:pathLst>
                <a:path w="3354" h="726">
                  <a:moveTo>
                    <a:pt x="0" y="725"/>
                  </a:moveTo>
                  <a:lnTo>
                    <a:pt x="3353" y="725"/>
                  </a:lnTo>
                  <a:lnTo>
                    <a:pt x="2844" y="0"/>
                  </a:lnTo>
                  <a:lnTo>
                    <a:pt x="499" y="0"/>
                  </a:lnTo>
                  <a:lnTo>
                    <a:pt x="0" y="725"/>
                  </a:lnTo>
                </a:path>
              </a:pathLst>
            </a:custGeom>
            <a:solidFill>
              <a:schemeClr val="accent1"/>
            </a:solidFill>
            <a:ln w="9525" cap="rnd" cmpd="sng">
              <a:solidFill>
                <a:schemeClr val="bg2"/>
              </a:solidFill>
              <a:prstDash val="solid"/>
              <a:round/>
              <a:headEnd type="none" w="sm" len="sm"/>
              <a:tailEnd type="none" w="sm" len="sm"/>
            </a:ln>
            <a:effectLst/>
          </p:spPr>
          <p:txBody>
            <a:bodyPr/>
            <a:lstStyle/>
            <a:p>
              <a:endParaRPr lang="zh-CN" altLang="en-US" sz="2800" b="1">
                <a:solidFill>
                  <a:schemeClr val="bg1"/>
                </a:solidFill>
                <a:effectLst>
                  <a:outerShdw blurRad="38100" dist="38100" dir="2700000" algn="tl">
                    <a:srgbClr val="000000">
                      <a:alpha val="43137"/>
                    </a:srgbClr>
                  </a:outerShdw>
                </a:effectLst>
                <a:latin typeface="+mj-ea"/>
                <a:ea typeface="+mj-ea"/>
              </a:endParaRPr>
            </a:p>
          </p:txBody>
        </p:sp>
        <p:sp>
          <p:nvSpPr>
            <p:cNvPr id="50184" name="Freeform 8"/>
            <p:cNvSpPr/>
            <p:nvPr/>
          </p:nvSpPr>
          <p:spPr bwMode="blackWhite">
            <a:xfrm>
              <a:off x="2117" y="1965"/>
              <a:ext cx="1123" cy="114"/>
            </a:xfrm>
            <a:custGeom>
              <a:avLst/>
              <a:gdLst/>
              <a:ahLst/>
              <a:cxnLst>
                <a:cxn ang="0">
                  <a:pos x="0" y="130"/>
                </a:cxn>
                <a:cxn ang="0">
                  <a:pos x="1166" y="130"/>
                </a:cxn>
                <a:cxn ang="0">
                  <a:pos x="1294" y="0"/>
                </a:cxn>
                <a:cxn ang="0">
                  <a:pos x="403" y="0"/>
                </a:cxn>
                <a:cxn ang="0">
                  <a:pos x="0" y="130"/>
                </a:cxn>
              </a:cxnLst>
              <a:rect l="0" t="0" r="r" b="b"/>
              <a:pathLst>
                <a:path w="1295" h="131">
                  <a:moveTo>
                    <a:pt x="0" y="130"/>
                  </a:moveTo>
                  <a:lnTo>
                    <a:pt x="1166" y="130"/>
                  </a:lnTo>
                  <a:lnTo>
                    <a:pt x="1294" y="0"/>
                  </a:lnTo>
                  <a:lnTo>
                    <a:pt x="403" y="0"/>
                  </a:lnTo>
                  <a:lnTo>
                    <a:pt x="0" y="130"/>
                  </a:lnTo>
                </a:path>
              </a:pathLst>
            </a:custGeom>
            <a:solidFill>
              <a:schemeClr val="accent1">
                <a:alpha val="50000"/>
              </a:schemeClr>
            </a:solidFill>
            <a:ln w="9525" cap="rnd" cmpd="sng">
              <a:solidFill>
                <a:schemeClr val="bg2"/>
              </a:solidFill>
              <a:prstDash val="solid"/>
              <a:round/>
              <a:headEnd type="none" w="sm" len="sm"/>
              <a:tailEnd type="none" w="sm" len="sm"/>
            </a:ln>
            <a:effectLst/>
          </p:spPr>
          <p:txBody>
            <a:bodyPr/>
            <a:lstStyle/>
            <a:p>
              <a:endParaRPr lang="zh-CN" altLang="en-US" sz="1600" b="1">
                <a:solidFill>
                  <a:schemeClr val="bg1"/>
                </a:solidFill>
                <a:effectLst>
                  <a:outerShdw blurRad="38100" dist="38100" dir="2700000" algn="tl">
                    <a:srgbClr val="000000">
                      <a:alpha val="43137"/>
                    </a:srgbClr>
                  </a:outerShdw>
                </a:effectLst>
                <a:latin typeface="+mj-ea"/>
                <a:ea typeface="+mj-ea"/>
              </a:endParaRPr>
            </a:p>
          </p:txBody>
        </p:sp>
        <p:sp>
          <p:nvSpPr>
            <p:cNvPr id="50185" name="Freeform 9"/>
            <p:cNvSpPr/>
            <p:nvPr/>
          </p:nvSpPr>
          <p:spPr bwMode="blackWhite">
            <a:xfrm>
              <a:off x="3116" y="1966"/>
              <a:ext cx="638" cy="755"/>
            </a:xfrm>
            <a:custGeom>
              <a:avLst/>
              <a:gdLst/>
              <a:ahLst/>
              <a:cxnLst>
                <a:cxn ang="0">
                  <a:pos x="502" y="869"/>
                </a:cxn>
                <a:cxn ang="0">
                  <a:pos x="734" y="619"/>
                </a:cxn>
                <a:cxn ang="0">
                  <a:pos x="126" y="0"/>
                </a:cxn>
                <a:cxn ang="0">
                  <a:pos x="0" y="130"/>
                </a:cxn>
                <a:cxn ang="0">
                  <a:pos x="502" y="869"/>
                </a:cxn>
              </a:cxnLst>
              <a:rect l="0" t="0" r="r" b="b"/>
              <a:pathLst>
                <a:path w="735" h="870">
                  <a:moveTo>
                    <a:pt x="502" y="869"/>
                  </a:moveTo>
                  <a:lnTo>
                    <a:pt x="734" y="619"/>
                  </a:lnTo>
                  <a:lnTo>
                    <a:pt x="126" y="0"/>
                  </a:lnTo>
                  <a:lnTo>
                    <a:pt x="0" y="130"/>
                  </a:lnTo>
                  <a:lnTo>
                    <a:pt x="502" y="869"/>
                  </a:lnTo>
                </a:path>
              </a:pathLst>
            </a:custGeom>
            <a:solidFill>
              <a:schemeClr val="accent2"/>
            </a:solidFill>
            <a:ln w="9525" cap="rnd" cmpd="sng">
              <a:solidFill>
                <a:schemeClr val="bg2"/>
              </a:solidFill>
              <a:prstDash val="solid"/>
              <a:round/>
              <a:headEnd type="none" w="sm" len="sm"/>
              <a:tailEnd type="none" w="sm" len="sm"/>
            </a:ln>
            <a:effectLst/>
          </p:spPr>
          <p:txBody>
            <a:bodyPr/>
            <a:lstStyle/>
            <a:p>
              <a:endParaRPr lang="zh-CN" altLang="en-US" sz="1600" b="1">
                <a:solidFill>
                  <a:schemeClr val="bg1"/>
                </a:solidFill>
                <a:effectLst>
                  <a:outerShdw blurRad="38100" dist="38100" dir="2700000" algn="tl">
                    <a:srgbClr val="000000">
                      <a:alpha val="43137"/>
                    </a:srgbClr>
                  </a:outerShdw>
                </a:effectLst>
                <a:latin typeface="+mj-ea"/>
                <a:ea typeface="+mj-ea"/>
              </a:endParaRPr>
            </a:p>
          </p:txBody>
        </p:sp>
        <p:sp>
          <p:nvSpPr>
            <p:cNvPr id="50186" name="Freeform 10"/>
            <p:cNvSpPr/>
            <p:nvPr/>
          </p:nvSpPr>
          <p:spPr bwMode="blackWhite">
            <a:xfrm>
              <a:off x="1676" y="2078"/>
              <a:ext cx="1891" cy="643"/>
            </a:xfrm>
            <a:custGeom>
              <a:avLst/>
              <a:gdLst/>
              <a:ahLst/>
              <a:cxnLst>
                <a:cxn ang="0">
                  <a:pos x="0" y="740"/>
                </a:cxn>
                <a:cxn ang="0">
                  <a:pos x="2178" y="740"/>
                </a:cxn>
                <a:cxn ang="0">
                  <a:pos x="1672" y="0"/>
                </a:cxn>
                <a:cxn ang="0">
                  <a:pos x="505" y="0"/>
                </a:cxn>
                <a:cxn ang="0">
                  <a:pos x="0" y="740"/>
                </a:cxn>
              </a:cxnLst>
              <a:rect l="0" t="0" r="r" b="b"/>
              <a:pathLst>
                <a:path w="2179" h="741">
                  <a:moveTo>
                    <a:pt x="0" y="740"/>
                  </a:moveTo>
                  <a:lnTo>
                    <a:pt x="2178" y="740"/>
                  </a:lnTo>
                  <a:lnTo>
                    <a:pt x="1672" y="0"/>
                  </a:lnTo>
                  <a:lnTo>
                    <a:pt x="505" y="0"/>
                  </a:lnTo>
                  <a:lnTo>
                    <a:pt x="0" y="740"/>
                  </a:lnTo>
                </a:path>
              </a:pathLst>
            </a:custGeom>
            <a:solidFill>
              <a:schemeClr val="accent1"/>
            </a:solidFill>
            <a:ln w="9525" cap="rnd" cmpd="sng">
              <a:solidFill>
                <a:schemeClr val="bg2"/>
              </a:solidFill>
              <a:prstDash val="solid"/>
              <a:round/>
              <a:headEnd type="none" w="sm" len="sm"/>
              <a:tailEnd type="none" w="sm" len="sm"/>
            </a:ln>
            <a:effectLst/>
          </p:spPr>
          <p:txBody>
            <a:bodyPr/>
            <a:lstStyle/>
            <a:p>
              <a:endParaRPr lang="zh-CN" altLang="en-US" b="1">
                <a:solidFill>
                  <a:schemeClr val="bg1"/>
                </a:solidFill>
                <a:effectLst>
                  <a:outerShdw blurRad="38100" dist="38100" dir="2700000" algn="tl">
                    <a:srgbClr val="000000">
                      <a:alpha val="43137"/>
                    </a:srgbClr>
                  </a:outerShdw>
                </a:effectLst>
                <a:latin typeface="+mj-ea"/>
                <a:ea typeface="+mj-ea"/>
              </a:endParaRPr>
            </a:p>
          </p:txBody>
        </p:sp>
        <p:sp>
          <p:nvSpPr>
            <p:cNvPr id="50187" name="Freeform 11"/>
            <p:cNvSpPr/>
            <p:nvPr/>
          </p:nvSpPr>
          <p:spPr bwMode="blackWhite">
            <a:xfrm>
              <a:off x="2618" y="1344"/>
              <a:ext cx="541" cy="638"/>
            </a:xfrm>
            <a:custGeom>
              <a:avLst/>
              <a:gdLst/>
              <a:ahLst/>
              <a:cxnLst>
                <a:cxn ang="0">
                  <a:pos x="505" y="734"/>
                </a:cxn>
                <a:cxn ang="0">
                  <a:pos x="622" y="620"/>
                </a:cxn>
                <a:cxn ang="0">
                  <a:pos x="0" y="0"/>
                </a:cxn>
                <a:cxn ang="0">
                  <a:pos x="505" y="734"/>
                </a:cxn>
              </a:cxnLst>
              <a:rect l="0" t="0" r="r" b="b"/>
              <a:pathLst>
                <a:path w="623" h="735">
                  <a:moveTo>
                    <a:pt x="505" y="734"/>
                  </a:moveTo>
                  <a:lnTo>
                    <a:pt x="622" y="620"/>
                  </a:lnTo>
                  <a:lnTo>
                    <a:pt x="0" y="0"/>
                  </a:lnTo>
                  <a:lnTo>
                    <a:pt x="505" y="734"/>
                  </a:lnTo>
                </a:path>
              </a:pathLst>
            </a:custGeom>
            <a:solidFill>
              <a:schemeClr val="accent2"/>
            </a:solidFill>
            <a:ln w="9525" cap="rnd" cmpd="sng">
              <a:solidFill>
                <a:schemeClr val="bg2"/>
              </a:solidFill>
              <a:prstDash val="solid"/>
              <a:round/>
              <a:headEnd type="none" w="sm" len="sm"/>
              <a:tailEnd type="none" w="sm" len="sm"/>
            </a:ln>
            <a:effectLst/>
          </p:spPr>
          <p:txBody>
            <a:bodyPr/>
            <a:lstStyle/>
            <a:p>
              <a:endParaRPr lang="zh-CN" altLang="en-US" sz="1600" b="1">
                <a:solidFill>
                  <a:schemeClr val="bg1"/>
                </a:solidFill>
                <a:effectLst>
                  <a:outerShdw blurRad="38100" dist="38100" dir="2700000" algn="tl">
                    <a:srgbClr val="000000">
                      <a:alpha val="43137"/>
                    </a:srgbClr>
                  </a:outerShdw>
                </a:effectLst>
                <a:latin typeface="+mj-ea"/>
                <a:ea typeface="+mj-ea"/>
              </a:endParaRPr>
            </a:p>
          </p:txBody>
        </p:sp>
        <p:sp>
          <p:nvSpPr>
            <p:cNvPr id="50188" name="Freeform 12"/>
            <p:cNvSpPr/>
            <p:nvPr/>
          </p:nvSpPr>
          <p:spPr bwMode="blackWhite">
            <a:xfrm>
              <a:off x="2181" y="1344"/>
              <a:ext cx="877" cy="638"/>
            </a:xfrm>
            <a:custGeom>
              <a:avLst/>
              <a:gdLst/>
              <a:ahLst/>
              <a:cxnLst>
                <a:cxn ang="0">
                  <a:pos x="0" y="734"/>
                </a:cxn>
                <a:cxn ang="0">
                  <a:pos x="1010" y="734"/>
                </a:cxn>
                <a:cxn ang="0">
                  <a:pos x="505" y="0"/>
                </a:cxn>
                <a:cxn ang="0">
                  <a:pos x="0" y="734"/>
                </a:cxn>
              </a:cxnLst>
              <a:rect l="0" t="0" r="r" b="b"/>
              <a:pathLst>
                <a:path w="1011" h="735">
                  <a:moveTo>
                    <a:pt x="0" y="734"/>
                  </a:moveTo>
                  <a:lnTo>
                    <a:pt x="1010" y="734"/>
                  </a:lnTo>
                  <a:lnTo>
                    <a:pt x="505" y="0"/>
                  </a:lnTo>
                  <a:lnTo>
                    <a:pt x="0" y="734"/>
                  </a:lnTo>
                </a:path>
              </a:pathLst>
            </a:custGeom>
            <a:solidFill>
              <a:schemeClr val="accent1"/>
            </a:solidFill>
            <a:ln w="9525" cap="rnd" cmpd="sng">
              <a:solidFill>
                <a:schemeClr val="bg2"/>
              </a:solidFill>
              <a:prstDash val="solid"/>
              <a:round/>
              <a:headEnd type="none" w="sm" len="sm"/>
              <a:tailEnd type="none" w="sm" len="sm"/>
            </a:ln>
            <a:effectLst/>
          </p:spPr>
          <p:txBody>
            <a:bodyPr/>
            <a:lstStyle/>
            <a:p>
              <a:endParaRPr lang="zh-CN" altLang="en-US" sz="1600" b="1">
                <a:solidFill>
                  <a:schemeClr val="bg1"/>
                </a:solidFill>
                <a:effectLst>
                  <a:outerShdw blurRad="38100" dist="38100" dir="2700000" algn="tl">
                    <a:srgbClr val="000000">
                      <a:alpha val="43137"/>
                    </a:srgbClr>
                  </a:outerShdw>
                </a:effectLst>
                <a:latin typeface="+mj-ea"/>
                <a:ea typeface="+mj-ea"/>
              </a:endParaRPr>
            </a:p>
          </p:txBody>
        </p:sp>
        <p:sp>
          <p:nvSpPr>
            <p:cNvPr id="50189" name="Rectangle 13"/>
            <p:cNvSpPr>
              <a:spLocks noChangeArrowheads="1"/>
            </p:cNvSpPr>
            <p:nvPr/>
          </p:nvSpPr>
          <p:spPr bwMode="black">
            <a:xfrm>
              <a:off x="2079" y="2319"/>
              <a:ext cx="1085" cy="256"/>
            </a:xfrm>
            <a:prstGeom prst="rect">
              <a:avLst/>
            </a:prstGeom>
            <a:noFill/>
            <a:ln w="9525">
              <a:noFill/>
              <a:miter lim="800000"/>
            </a:ln>
            <a:effectLst/>
          </p:spPr>
          <p:txBody>
            <a:bodyPr lIns="0" tIns="0" rIns="0" bIns="0" anchor="ctr" anchorCtr="1">
              <a:spAutoFit/>
            </a:bodyPr>
            <a:lstStyle/>
            <a:p>
              <a:pPr defTabSz="428625"/>
              <a:r>
                <a:rPr lang="zh-CN" altLang="en-US" sz="2000" b="1">
                  <a:solidFill>
                    <a:schemeClr val="bg1"/>
                  </a:solidFill>
                  <a:effectLst>
                    <a:outerShdw blurRad="38100" dist="38100" dir="2700000" algn="tl">
                      <a:srgbClr val="000000">
                        <a:alpha val="43137"/>
                      </a:srgbClr>
                    </a:outerShdw>
                  </a:effectLst>
                  <a:latin typeface="+mj-ea"/>
                  <a:ea typeface="+mj-ea"/>
                </a:rPr>
                <a:t>视图</a:t>
              </a:r>
              <a:endParaRPr lang="zh-CN" altLang="en-US" sz="2000" b="1">
                <a:solidFill>
                  <a:schemeClr val="bg1"/>
                </a:solidFill>
                <a:effectLst>
                  <a:outerShdw blurRad="38100" dist="38100" dir="2700000" algn="tl">
                    <a:srgbClr val="000000">
                      <a:alpha val="43137"/>
                    </a:srgbClr>
                  </a:outerShdw>
                </a:effectLst>
                <a:latin typeface="+mj-ea"/>
                <a:ea typeface="+mj-ea"/>
              </a:endParaRPr>
            </a:p>
          </p:txBody>
        </p:sp>
        <p:sp>
          <p:nvSpPr>
            <p:cNvPr id="50190" name="Rectangle 14"/>
            <p:cNvSpPr>
              <a:spLocks noChangeArrowheads="1"/>
            </p:cNvSpPr>
            <p:nvPr/>
          </p:nvSpPr>
          <p:spPr bwMode="black">
            <a:xfrm>
              <a:off x="2417" y="1697"/>
              <a:ext cx="410" cy="230"/>
            </a:xfrm>
            <a:prstGeom prst="rect">
              <a:avLst/>
            </a:prstGeom>
            <a:noFill/>
            <a:ln w="9525">
              <a:noFill/>
              <a:miter lim="800000"/>
            </a:ln>
            <a:effectLst/>
          </p:spPr>
          <p:txBody>
            <a:bodyPr lIns="0" tIns="0" rIns="0" bIns="0" anchor="ctr" anchorCtr="1">
              <a:spAutoFit/>
            </a:bodyPr>
            <a:lstStyle/>
            <a:p>
              <a:pPr defTabSz="428625"/>
              <a:r>
                <a:rPr lang="zh-CN" altLang="en-US" b="1" dirty="0">
                  <a:solidFill>
                    <a:schemeClr val="bg1"/>
                  </a:solidFill>
                  <a:effectLst>
                    <a:outerShdw blurRad="38100" dist="38100" dir="2700000" algn="tl">
                      <a:srgbClr val="000000">
                        <a:alpha val="43137"/>
                      </a:srgbClr>
                    </a:outerShdw>
                  </a:effectLst>
                  <a:latin typeface="+mj-ea"/>
                  <a:ea typeface="+mj-ea"/>
                </a:rPr>
                <a:t>模型</a:t>
              </a:r>
              <a:endParaRPr lang="zh-CN" altLang="en-US" b="1" dirty="0">
                <a:solidFill>
                  <a:schemeClr val="bg1"/>
                </a:solidFill>
                <a:effectLst>
                  <a:outerShdw blurRad="38100" dist="38100" dir="2700000" algn="tl">
                    <a:srgbClr val="000000">
                      <a:alpha val="43137"/>
                    </a:srgbClr>
                  </a:outerShdw>
                </a:effectLst>
                <a:latin typeface="+mj-ea"/>
                <a:ea typeface="+mj-ea"/>
              </a:endParaRPr>
            </a:p>
          </p:txBody>
        </p:sp>
        <p:sp>
          <p:nvSpPr>
            <p:cNvPr id="50191" name="Rectangle 15"/>
            <p:cNvSpPr>
              <a:spLocks noChangeArrowheads="1"/>
            </p:cNvSpPr>
            <p:nvPr/>
          </p:nvSpPr>
          <p:spPr bwMode="black">
            <a:xfrm>
              <a:off x="1584" y="2969"/>
              <a:ext cx="2075" cy="358"/>
            </a:xfrm>
            <a:prstGeom prst="rect">
              <a:avLst/>
            </a:prstGeom>
            <a:noFill/>
            <a:ln w="9525">
              <a:noFill/>
              <a:miter lim="800000"/>
            </a:ln>
            <a:effectLst/>
          </p:spPr>
          <p:txBody>
            <a:bodyPr lIns="0" tIns="0" rIns="0" bIns="0" anchor="ctr" anchorCtr="1">
              <a:spAutoFit/>
            </a:bodyPr>
            <a:lstStyle/>
            <a:p>
              <a:pPr defTabSz="428625"/>
              <a:r>
                <a:rPr lang="zh-CN" altLang="en-US" sz="2800" b="1" dirty="0">
                  <a:solidFill>
                    <a:schemeClr val="bg1"/>
                  </a:solidFill>
                  <a:effectLst>
                    <a:outerShdw blurRad="38100" dist="38100" dir="2700000" algn="tl">
                      <a:srgbClr val="000000">
                        <a:alpha val="43137"/>
                      </a:srgbClr>
                    </a:outerShdw>
                  </a:effectLst>
                  <a:latin typeface="+mj-ea"/>
                  <a:ea typeface="+mj-ea"/>
                </a:rPr>
                <a:t>图</a:t>
              </a:r>
              <a:endParaRPr lang="zh-CN" altLang="en-US" sz="2800" b="1" dirty="0">
                <a:solidFill>
                  <a:schemeClr val="bg1"/>
                </a:solidFill>
                <a:effectLst>
                  <a:outerShdw blurRad="38100" dist="38100" dir="2700000" algn="tl">
                    <a:srgbClr val="000000">
                      <a:alpha val="43137"/>
                    </a:srgbClr>
                  </a:outerShdw>
                </a:effectLst>
                <a:latin typeface="+mj-ea"/>
                <a:ea typeface="+mj-ea"/>
              </a:endParaRPr>
            </a:p>
          </p:txBody>
        </p:sp>
      </p:grpSp>
      <p:sp>
        <p:nvSpPr>
          <p:cNvPr id="4" name="线形标注 1 3"/>
          <p:cNvSpPr/>
          <p:nvPr/>
        </p:nvSpPr>
        <p:spPr>
          <a:xfrm>
            <a:off x="3813123" y="2305707"/>
            <a:ext cx="5237699" cy="1113069"/>
          </a:xfrm>
          <a:prstGeom prst="borderCallout1">
            <a:avLst>
              <a:gd name="adj1" fmla="val 11542"/>
              <a:gd name="adj2" fmla="val 423"/>
              <a:gd name="adj3" fmla="val 64226"/>
              <a:gd name="adj4" fmla="val -335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latin typeface="+mj-ea"/>
                <a:ea typeface="+mj-ea"/>
              </a:rPr>
              <a:t>视图</a:t>
            </a:r>
            <a:r>
              <a:rPr lang="zh-CN" altLang="en-US" dirty="0">
                <a:latin typeface="+mj-ea"/>
                <a:ea typeface="+mj-ea"/>
              </a:rPr>
              <a:t> 是表达系统的某一方面特征的</a:t>
            </a:r>
            <a:r>
              <a:rPr lang="en-US" altLang="zh-CN" dirty="0">
                <a:latin typeface="+mj-ea"/>
                <a:ea typeface="+mj-ea"/>
              </a:rPr>
              <a:t>UML</a:t>
            </a:r>
            <a:r>
              <a:rPr lang="zh-CN" altLang="en-US" dirty="0">
                <a:latin typeface="+mj-ea"/>
                <a:ea typeface="+mj-ea"/>
              </a:rPr>
              <a:t>建模元素的子集，视图并不是图，他是一个或多个图组成的对系统某个角度的抽象。</a:t>
            </a:r>
            <a:endParaRPr lang="zh-CN" altLang="en-US" dirty="0">
              <a:latin typeface="+mj-ea"/>
              <a:ea typeface="+mj-ea"/>
            </a:endParaRPr>
          </a:p>
        </p:txBody>
      </p:sp>
      <p:sp>
        <p:nvSpPr>
          <p:cNvPr id="19" name="线形标注 1 18"/>
          <p:cNvSpPr/>
          <p:nvPr/>
        </p:nvSpPr>
        <p:spPr>
          <a:xfrm>
            <a:off x="3813123" y="775744"/>
            <a:ext cx="5239987" cy="1508191"/>
          </a:xfrm>
          <a:prstGeom prst="borderCallout1">
            <a:avLst>
              <a:gd name="adj1" fmla="val 6893"/>
              <a:gd name="adj2" fmla="val -378"/>
              <a:gd name="adj3" fmla="val 89555"/>
              <a:gd name="adj4" fmla="val -3376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latin typeface="+mj-ea"/>
                <a:ea typeface="+mj-ea"/>
              </a:rPr>
              <a:t>模型</a:t>
            </a:r>
            <a:r>
              <a:rPr lang="zh-CN" altLang="zh-CN" dirty="0"/>
              <a:t> </a:t>
            </a:r>
            <a:r>
              <a:rPr lang="zh-CN" altLang="en-US" dirty="0"/>
              <a:t>是一个特定系统的完整描述。</a:t>
            </a:r>
            <a:r>
              <a:rPr lang="zh-CN" altLang="en-US" dirty="0">
                <a:latin typeface="+mj-ea"/>
                <a:ea typeface="+mj-ea"/>
              </a:rPr>
              <a:t>代表面向对象中的类、对象、接口、消息和关系等概念。</a:t>
            </a:r>
            <a:r>
              <a:rPr lang="en-US" altLang="zh-CN" dirty="0">
                <a:latin typeface="+mj-ea"/>
                <a:ea typeface="+mj-ea"/>
              </a:rPr>
              <a:t>UML</a:t>
            </a:r>
            <a:r>
              <a:rPr lang="zh-CN" altLang="en-US" dirty="0">
                <a:latin typeface="+mj-ea"/>
                <a:ea typeface="+mj-ea"/>
              </a:rPr>
              <a:t>中的模型元素包括事物和事物之间的联系，事物之间的关系能够把事物联系在一起，组成有意义的结构模型。</a:t>
            </a:r>
            <a:endParaRPr lang="zh-CN" altLang="en-US" dirty="0">
              <a:latin typeface="+mj-ea"/>
              <a:ea typeface="+mj-ea"/>
            </a:endParaRPr>
          </a:p>
        </p:txBody>
      </p:sp>
      <p:sp>
        <p:nvSpPr>
          <p:cNvPr id="20" name="线形标注 1 19"/>
          <p:cNvSpPr/>
          <p:nvPr/>
        </p:nvSpPr>
        <p:spPr>
          <a:xfrm>
            <a:off x="3788003" y="3440548"/>
            <a:ext cx="5251933" cy="1260076"/>
          </a:xfrm>
          <a:prstGeom prst="borderCallout1">
            <a:avLst>
              <a:gd name="adj1" fmla="val 7687"/>
              <a:gd name="adj2" fmla="val 757"/>
              <a:gd name="adj3" fmla="val 36111"/>
              <a:gd name="adj4" fmla="val -333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latin typeface="+mj-ea"/>
                <a:ea typeface="+mj-ea"/>
              </a:rPr>
              <a:t>图</a:t>
            </a:r>
            <a:r>
              <a:rPr lang="zh-CN" altLang="en-US" dirty="0">
                <a:latin typeface="+mj-ea"/>
                <a:ea typeface="+mj-ea"/>
              </a:rPr>
              <a:t> 是模型元素集的图形表示，通常是由弧（关系）和定点（其他模型元素）相互连接构成的。通常提供</a:t>
            </a:r>
            <a:r>
              <a:rPr lang="en-US" altLang="zh-CN" dirty="0">
                <a:latin typeface="+mj-ea"/>
                <a:ea typeface="+mj-ea"/>
              </a:rPr>
              <a:t>9</a:t>
            </a:r>
            <a:r>
              <a:rPr lang="zh-CN" altLang="en-US" dirty="0">
                <a:latin typeface="+mj-ea"/>
                <a:ea typeface="+mj-ea"/>
              </a:rPr>
              <a:t>种基本的图，把这几种图结合起来就可以描述系统的所有视图。</a:t>
            </a:r>
            <a:endParaRPr lang="zh-CN" altLang="en-US"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rrowheads="1"/>
          </p:cNvSpPr>
          <p:nvPr>
            <p:ph type="title"/>
          </p:nvPr>
        </p:nvSpPr>
        <p:spPr/>
        <p:txBody>
          <a:bodyPr/>
          <a:lstStyle/>
          <a:p>
            <a:r>
              <a:rPr lang="en-US" altLang="zh-CN" dirty="0"/>
              <a:t>UML</a:t>
            </a:r>
            <a:r>
              <a:rPr lang="zh-CN" altLang="en-US" dirty="0"/>
              <a:t>中的</a:t>
            </a:r>
            <a:r>
              <a:rPr lang="en-US" altLang="zh-CN" dirty="0"/>
              <a:t>5</a:t>
            </a:r>
            <a:r>
              <a:rPr lang="zh-CN" altLang="en-US" dirty="0"/>
              <a:t>类图形</a:t>
            </a:r>
            <a:endParaRPr lang="zh-CN" altLang="en-US" dirty="0"/>
          </a:p>
        </p:txBody>
      </p:sp>
      <p:sp>
        <p:nvSpPr>
          <p:cNvPr id="21507" name="Rectangle 3"/>
          <p:cNvSpPr>
            <a:spLocks noGrp="1" noRot="1" noChangeArrowheads="1"/>
          </p:cNvSpPr>
          <p:nvPr>
            <p:ph idx="1"/>
          </p:nvPr>
        </p:nvSpPr>
        <p:spPr/>
        <p:txBody>
          <a:bodyPr>
            <a:noAutofit/>
          </a:bodyPr>
          <a:lstStyle/>
          <a:p>
            <a:pPr marL="342900" indent="-342900">
              <a:lnSpc>
                <a:spcPct val="100000"/>
              </a:lnSpc>
            </a:pPr>
            <a:r>
              <a:rPr lang="en-US" altLang="zh-CN" sz="2100" dirty="0"/>
              <a:t>UML</a:t>
            </a:r>
            <a:r>
              <a:rPr lang="zh-CN" altLang="en-US" sz="2100" dirty="0"/>
              <a:t>适用于各种软件开发方法、软件生命周期的各个阶段 、各种应用领域以及各种开发工具。</a:t>
            </a:r>
            <a:endParaRPr lang="zh-CN" altLang="en-US" sz="2100" dirty="0"/>
          </a:p>
          <a:p>
            <a:pPr marL="342900" indent="-342900">
              <a:lnSpc>
                <a:spcPct val="100000"/>
              </a:lnSpc>
            </a:pPr>
            <a:r>
              <a:rPr lang="en-US" altLang="zh-CN" sz="2100" dirty="0">
                <a:solidFill>
                  <a:srgbClr val="FF0000"/>
                </a:solidFill>
              </a:rPr>
              <a:t>UML</a:t>
            </a:r>
            <a:r>
              <a:rPr lang="zh-CN" altLang="en-US" sz="2100" dirty="0">
                <a:solidFill>
                  <a:srgbClr val="FF0000"/>
                </a:solidFill>
              </a:rPr>
              <a:t>由以下</a:t>
            </a:r>
            <a:r>
              <a:rPr lang="en-US" altLang="zh-CN" sz="2100" dirty="0">
                <a:solidFill>
                  <a:srgbClr val="FF0000"/>
                </a:solidFill>
              </a:rPr>
              <a:t>5</a:t>
            </a:r>
            <a:r>
              <a:rPr lang="zh-CN" altLang="en-US" sz="2100" dirty="0">
                <a:solidFill>
                  <a:srgbClr val="FF0000"/>
                </a:solidFill>
              </a:rPr>
              <a:t>类图来定义：</a:t>
            </a:r>
            <a:endParaRPr lang="zh-CN" altLang="en-US" sz="2100" dirty="0">
              <a:solidFill>
                <a:srgbClr val="FF0000"/>
              </a:solidFill>
            </a:endParaRPr>
          </a:p>
          <a:p>
            <a:pPr marL="342900" indent="-342900">
              <a:lnSpc>
                <a:spcPct val="100000"/>
              </a:lnSpc>
              <a:buNone/>
            </a:pPr>
            <a:r>
              <a:rPr lang="zh-CN" altLang="en-US" sz="2100" dirty="0"/>
              <a:t>       第</a:t>
            </a:r>
            <a:r>
              <a:rPr lang="en-US" altLang="zh-CN" sz="2100" dirty="0"/>
              <a:t>1</a:t>
            </a:r>
            <a:r>
              <a:rPr lang="zh-CN" altLang="en-US" sz="2100" dirty="0"/>
              <a:t>类：用例图</a:t>
            </a:r>
            <a:endParaRPr lang="zh-CN" altLang="en-US" sz="2100" dirty="0"/>
          </a:p>
          <a:p>
            <a:pPr marL="342900" indent="-342900">
              <a:lnSpc>
                <a:spcPct val="100000"/>
              </a:lnSpc>
              <a:buNone/>
            </a:pPr>
            <a:r>
              <a:rPr lang="zh-CN" altLang="en-US" sz="2100" dirty="0"/>
              <a:t>       第</a:t>
            </a:r>
            <a:r>
              <a:rPr lang="en-US" altLang="zh-CN" sz="2100" dirty="0"/>
              <a:t>2</a:t>
            </a:r>
            <a:r>
              <a:rPr lang="zh-CN" altLang="en-US" sz="2100" dirty="0"/>
              <a:t>类：静态图（包括类图、对象图和包图）</a:t>
            </a:r>
            <a:endParaRPr lang="zh-CN" altLang="en-US" sz="2100" dirty="0"/>
          </a:p>
          <a:p>
            <a:pPr marL="342900" indent="-342900">
              <a:lnSpc>
                <a:spcPct val="100000"/>
              </a:lnSpc>
              <a:buNone/>
            </a:pPr>
            <a:r>
              <a:rPr lang="zh-CN" altLang="en-US" sz="2100" dirty="0"/>
              <a:t>       第</a:t>
            </a:r>
            <a:r>
              <a:rPr lang="en-US" altLang="zh-CN" sz="2100" dirty="0"/>
              <a:t>3</a:t>
            </a:r>
            <a:r>
              <a:rPr lang="zh-CN" altLang="en-US" sz="2100" dirty="0"/>
              <a:t>类：行为图（包括状态图和活动图）</a:t>
            </a:r>
            <a:endParaRPr lang="zh-CN" altLang="en-US" sz="2100" dirty="0"/>
          </a:p>
          <a:p>
            <a:pPr marL="342900" indent="-342900">
              <a:lnSpc>
                <a:spcPct val="100000"/>
              </a:lnSpc>
              <a:buNone/>
            </a:pPr>
            <a:r>
              <a:rPr lang="zh-CN" altLang="en-US" sz="2100" dirty="0"/>
              <a:t>       第</a:t>
            </a:r>
            <a:r>
              <a:rPr lang="en-US" altLang="zh-CN" sz="2100" dirty="0"/>
              <a:t>4</a:t>
            </a:r>
            <a:r>
              <a:rPr lang="zh-CN" altLang="en-US" sz="2100" dirty="0"/>
              <a:t>类：交互图（包括时序图和协作图）</a:t>
            </a:r>
            <a:endParaRPr lang="zh-CN" altLang="en-US" sz="2100" dirty="0"/>
          </a:p>
          <a:p>
            <a:pPr marL="342900" indent="-342900">
              <a:lnSpc>
                <a:spcPct val="100000"/>
              </a:lnSpc>
              <a:buNone/>
            </a:pPr>
            <a:r>
              <a:rPr lang="zh-CN" altLang="en-US" sz="2100" dirty="0"/>
              <a:t>       第</a:t>
            </a:r>
            <a:r>
              <a:rPr lang="en-US" altLang="zh-CN" sz="2100" dirty="0"/>
              <a:t>5</a:t>
            </a:r>
            <a:r>
              <a:rPr lang="zh-CN" altLang="en-US" sz="2100" dirty="0"/>
              <a:t>类：实现图（包括组件图和配置图）</a:t>
            </a:r>
            <a:endParaRPr lang="zh-CN" altLang="en-US" sz="2100" dirty="0">
              <a:solidFill>
                <a:srgbClr val="FF0000"/>
              </a:solidFill>
            </a:endParaRPr>
          </a:p>
        </p:txBody>
      </p:sp>
      <p:sp>
        <p:nvSpPr>
          <p:cNvPr id="5" name="日期占位符 4"/>
          <p:cNvSpPr>
            <a:spLocks noGrp="1"/>
          </p:cNvSpPr>
          <p:nvPr>
            <p:ph type="dt" sz="half" idx="10"/>
          </p:nvPr>
        </p:nvSpPr>
        <p:spPr/>
        <p:txBody>
          <a:bodyPr/>
          <a:lstStyle/>
          <a:p>
            <a:fld id="{06A494CC-48A7-486A-BF24-137A0E5C4991}"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50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50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50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50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50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50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ltLang="zh-CN" dirty="0"/>
              <a:t>UML</a:t>
            </a:r>
            <a:r>
              <a:rPr lang="zh-CN" altLang="en-US" dirty="0"/>
              <a:t>中的</a:t>
            </a:r>
            <a:r>
              <a:rPr lang="en-US" altLang="zh-CN" dirty="0"/>
              <a:t>5</a:t>
            </a:r>
            <a:r>
              <a:rPr lang="zh-CN" altLang="en-US" dirty="0"/>
              <a:t>类图形</a:t>
            </a:r>
            <a:endParaRPr lang="zh-CN" altLang="zh-CN" dirty="0"/>
          </a:p>
        </p:txBody>
      </p:sp>
      <p:sp>
        <p:nvSpPr>
          <p:cNvPr id="8" name="内容占位符 7"/>
          <p:cNvSpPr>
            <a:spLocks noGrp="1"/>
          </p:cNvSpPr>
          <p:nvPr>
            <p:ph idx="1"/>
          </p:nvPr>
        </p:nvSpPr>
        <p:spPr/>
        <p:txBody>
          <a:bodyPr/>
          <a:lstStyle/>
          <a:p>
            <a:endParaRPr lang="zh-CN" altLang="en-US"/>
          </a:p>
        </p:txBody>
      </p:sp>
      <p:sp>
        <p:nvSpPr>
          <p:cNvPr id="10" name="日期占位符 9"/>
          <p:cNvSpPr>
            <a:spLocks noGrp="1"/>
          </p:cNvSpPr>
          <p:nvPr>
            <p:ph type="dt" sz="half" idx="10"/>
          </p:nvPr>
        </p:nvSpPr>
        <p:spPr/>
        <p:txBody>
          <a:bodyPr/>
          <a:lstStyle/>
          <a:p>
            <a:fld id="{6A0A4F35-E5ED-4E02-9ADF-8A53C2BCAFC2}" type="datetime1">
              <a:rPr lang="zh-CN" altLang="en-US" smtClean="0"/>
            </a:fld>
            <a:endParaRPr lang="zh-CN" altLang="en-US" dirty="0"/>
          </a:p>
        </p:txBody>
      </p:sp>
      <p:sp>
        <p:nvSpPr>
          <p:cNvPr id="11" name="页脚占位符 10"/>
          <p:cNvSpPr>
            <a:spLocks noGrp="1"/>
          </p:cNvSpPr>
          <p:nvPr>
            <p:ph type="ftr" sz="quarter" idx="11"/>
          </p:nvPr>
        </p:nvSpPr>
        <p:spPr/>
        <p:txBody>
          <a:bodyPr/>
          <a:lstStyle/>
          <a:p>
            <a:r>
              <a:rPr lang="zh-CN" altLang="en-US"/>
              <a:t>软件工程</a:t>
            </a:r>
            <a:endParaRPr lang="zh-CN" altLang="en-US" dirty="0"/>
          </a:p>
        </p:txBody>
      </p:sp>
      <p:sp>
        <p:nvSpPr>
          <p:cNvPr id="7" name="灯片编号占位符 6"/>
          <p:cNvSpPr>
            <a:spLocks noGrp="1"/>
          </p:cNvSpPr>
          <p:nvPr>
            <p:ph type="sldNum" sz="quarter" idx="12"/>
          </p:nvPr>
        </p:nvSpPr>
        <p:spPr/>
        <p:txBody>
          <a:bodyPr/>
          <a:lstStyle/>
          <a:p>
            <a:fld id="{0C913308-F349-4B6D-A68A-DD1791B4A57B}" type="slidenum">
              <a:rPr lang="zh-CN" altLang="en-US" smtClean="0">
                <a:latin typeface="+mj-ea"/>
                <a:ea typeface="+mj-ea"/>
              </a:rPr>
            </a:fld>
            <a:endParaRPr lang="zh-CN" altLang="en-US">
              <a:latin typeface="+mj-ea"/>
              <a:ea typeface="+mj-ea"/>
            </a:endParaRPr>
          </a:p>
        </p:txBody>
      </p:sp>
      <p:sp>
        <p:nvSpPr>
          <p:cNvPr id="59395" name="Line 3"/>
          <p:cNvSpPr>
            <a:spLocks noChangeShapeType="1"/>
          </p:cNvSpPr>
          <p:nvPr/>
        </p:nvSpPr>
        <p:spPr bwMode="auto">
          <a:xfrm flipV="1">
            <a:off x="4596578" y="1982615"/>
            <a:ext cx="1226047" cy="707231"/>
          </a:xfrm>
          <a:prstGeom prst="line">
            <a:avLst/>
          </a:prstGeom>
          <a:noFill/>
          <a:ln w="9525">
            <a:solidFill>
              <a:schemeClr val="tx1"/>
            </a:solidFill>
            <a:round/>
            <a:headEnd type="none" w="sm" len="sm"/>
            <a:tailEnd type="none" w="sm" len="sm"/>
          </a:ln>
          <a:effectLst/>
        </p:spPr>
        <p:txBody>
          <a:bodyPr wrap="none" anchor="ctr"/>
          <a:lstStyle/>
          <a:p>
            <a:endParaRPr lang="zh-CN" altLang="en-US" sz="1100">
              <a:latin typeface="+mj-ea"/>
              <a:ea typeface="+mj-ea"/>
            </a:endParaRPr>
          </a:p>
        </p:txBody>
      </p:sp>
      <p:sp>
        <p:nvSpPr>
          <p:cNvPr id="59396" name="Line 4"/>
          <p:cNvSpPr>
            <a:spLocks noChangeShapeType="1"/>
          </p:cNvSpPr>
          <p:nvPr/>
        </p:nvSpPr>
        <p:spPr bwMode="auto">
          <a:xfrm>
            <a:off x="4677840" y="2801468"/>
            <a:ext cx="1144786" cy="0"/>
          </a:xfrm>
          <a:prstGeom prst="line">
            <a:avLst/>
          </a:prstGeom>
          <a:noFill/>
          <a:ln w="9525">
            <a:solidFill>
              <a:schemeClr val="tx1"/>
            </a:solidFill>
            <a:round/>
            <a:headEnd type="none" w="sm" len="sm"/>
            <a:tailEnd type="none" w="sm" len="sm"/>
          </a:ln>
          <a:effectLst/>
        </p:spPr>
        <p:txBody>
          <a:bodyPr wrap="none" anchor="ctr"/>
          <a:lstStyle/>
          <a:p>
            <a:endParaRPr lang="zh-CN" altLang="en-US" sz="1100">
              <a:latin typeface="+mj-ea"/>
              <a:ea typeface="+mj-ea"/>
            </a:endParaRPr>
          </a:p>
        </p:txBody>
      </p:sp>
      <p:sp>
        <p:nvSpPr>
          <p:cNvPr id="59397" name="Line 5"/>
          <p:cNvSpPr>
            <a:spLocks noChangeShapeType="1"/>
          </p:cNvSpPr>
          <p:nvPr/>
        </p:nvSpPr>
        <p:spPr bwMode="auto">
          <a:xfrm>
            <a:off x="3095498" y="2142457"/>
            <a:ext cx="1225154" cy="547390"/>
          </a:xfrm>
          <a:prstGeom prst="line">
            <a:avLst/>
          </a:prstGeom>
          <a:noFill/>
          <a:ln w="9525">
            <a:solidFill>
              <a:schemeClr val="tx1"/>
            </a:solidFill>
            <a:round/>
            <a:headEnd type="none" w="sm" len="sm"/>
            <a:tailEnd type="none" w="sm" len="sm"/>
          </a:ln>
          <a:effectLst/>
        </p:spPr>
        <p:txBody>
          <a:bodyPr wrap="none" anchor="ctr"/>
          <a:lstStyle/>
          <a:p>
            <a:endParaRPr lang="zh-CN" altLang="en-US" sz="1100">
              <a:latin typeface="+mj-ea"/>
              <a:ea typeface="+mj-ea"/>
            </a:endParaRPr>
          </a:p>
        </p:txBody>
      </p:sp>
      <p:sp>
        <p:nvSpPr>
          <p:cNvPr id="59398" name="Line 6"/>
          <p:cNvSpPr>
            <a:spLocks noChangeShapeType="1"/>
          </p:cNvSpPr>
          <p:nvPr/>
        </p:nvSpPr>
        <p:spPr bwMode="auto">
          <a:xfrm flipV="1">
            <a:off x="3551805" y="3083646"/>
            <a:ext cx="647403" cy="321469"/>
          </a:xfrm>
          <a:prstGeom prst="line">
            <a:avLst/>
          </a:prstGeom>
          <a:noFill/>
          <a:ln w="9525">
            <a:solidFill>
              <a:schemeClr val="tx1"/>
            </a:solidFill>
            <a:round/>
            <a:headEnd type="none" w="sm" len="sm"/>
            <a:tailEnd type="none" w="sm" len="sm"/>
          </a:ln>
          <a:effectLst/>
        </p:spPr>
        <p:txBody>
          <a:bodyPr wrap="none" anchor="ctr"/>
          <a:lstStyle/>
          <a:p>
            <a:endParaRPr lang="zh-CN" altLang="en-US" sz="1100">
              <a:latin typeface="+mj-ea"/>
              <a:ea typeface="+mj-ea"/>
            </a:endParaRPr>
          </a:p>
        </p:txBody>
      </p:sp>
      <p:sp>
        <p:nvSpPr>
          <p:cNvPr id="59399" name="Line 7"/>
          <p:cNvSpPr>
            <a:spLocks noChangeShapeType="1"/>
          </p:cNvSpPr>
          <p:nvPr/>
        </p:nvSpPr>
        <p:spPr bwMode="auto">
          <a:xfrm>
            <a:off x="4011685" y="1890640"/>
            <a:ext cx="298252" cy="715268"/>
          </a:xfrm>
          <a:prstGeom prst="line">
            <a:avLst/>
          </a:prstGeom>
          <a:noFill/>
          <a:ln w="9525">
            <a:solidFill>
              <a:schemeClr val="tx1"/>
            </a:solidFill>
            <a:round/>
            <a:headEnd type="none" w="sm" len="sm"/>
            <a:tailEnd type="none" w="sm" len="sm"/>
          </a:ln>
          <a:effectLst/>
        </p:spPr>
        <p:txBody>
          <a:bodyPr wrap="none" anchor="ctr"/>
          <a:lstStyle/>
          <a:p>
            <a:endParaRPr lang="zh-CN" altLang="en-US" sz="1100">
              <a:latin typeface="+mj-ea"/>
              <a:ea typeface="+mj-ea"/>
            </a:endParaRPr>
          </a:p>
        </p:txBody>
      </p:sp>
      <p:sp>
        <p:nvSpPr>
          <p:cNvPr id="59400" name="Line 8"/>
          <p:cNvSpPr>
            <a:spLocks noChangeShapeType="1"/>
          </p:cNvSpPr>
          <p:nvPr/>
        </p:nvSpPr>
        <p:spPr bwMode="auto">
          <a:xfrm>
            <a:off x="3094606" y="2801468"/>
            <a:ext cx="1144786" cy="0"/>
          </a:xfrm>
          <a:prstGeom prst="line">
            <a:avLst/>
          </a:prstGeom>
          <a:noFill/>
          <a:ln w="9525">
            <a:solidFill>
              <a:schemeClr val="tx1"/>
            </a:solidFill>
            <a:round/>
            <a:headEnd type="none" w="sm" len="sm"/>
            <a:tailEnd type="none" w="sm" len="sm"/>
          </a:ln>
          <a:effectLst/>
        </p:spPr>
        <p:txBody>
          <a:bodyPr wrap="none" anchor="ctr"/>
          <a:lstStyle/>
          <a:p>
            <a:endParaRPr lang="zh-CN" altLang="en-US" sz="1100">
              <a:latin typeface="+mj-ea"/>
              <a:ea typeface="+mj-ea"/>
            </a:endParaRPr>
          </a:p>
        </p:txBody>
      </p:sp>
      <p:sp>
        <p:nvSpPr>
          <p:cNvPr id="59401" name="Line 9"/>
          <p:cNvSpPr>
            <a:spLocks noChangeShapeType="1"/>
          </p:cNvSpPr>
          <p:nvPr/>
        </p:nvSpPr>
        <p:spPr bwMode="auto">
          <a:xfrm flipH="1">
            <a:off x="4512641" y="1874566"/>
            <a:ext cx="298252" cy="715268"/>
          </a:xfrm>
          <a:prstGeom prst="line">
            <a:avLst/>
          </a:prstGeom>
          <a:noFill/>
          <a:ln w="9525">
            <a:solidFill>
              <a:schemeClr val="tx1"/>
            </a:solidFill>
            <a:round/>
            <a:headEnd type="none" w="sm" len="sm"/>
            <a:tailEnd type="none" w="sm" len="sm"/>
          </a:ln>
          <a:effectLst/>
        </p:spPr>
        <p:txBody>
          <a:bodyPr wrap="none" anchor="ctr"/>
          <a:lstStyle/>
          <a:p>
            <a:endParaRPr lang="zh-CN" altLang="en-US" sz="1100">
              <a:latin typeface="+mj-ea"/>
              <a:ea typeface="+mj-ea"/>
            </a:endParaRPr>
          </a:p>
        </p:txBody>
      </p:sp>
      <p:sp>
        <p:nvSpPr>
          <p:cNvPr id="59402" name="Line 10"/>
          <p:cNvSpPr>
            <a:spLocks noChangeShapeType="1"/>
          </p:cNvSpPr>
          <p:nvPr/>
        </p:nvSpPr>
        <p:spPr bwMode="auto">
          <a:xfrm flipH="1" flipV="1">
            <a:off x="4563540" y="2801468"/>
            <a:ext cx="905471" cy="523280"/>
          </a:xfrm>
          <a:prstGeom prst="line">
            <a:avLst/>
          </a:prstGeom>
          <a:noFill/>
          <a:ln w="9525">
            <a:solidFill>
              <a:schemeClr val="tx1"/>
            </a:solidFill>
            <a:round/>
            <a:headEnd type="none" w="sm" len="sm"/>
            <a:tailEnd type="none" w="sm" len="sm"/>
          </a:ln>
          <a:effectLst/>
        </p:spPr>
        <p:txBody>
          <a:bodyPr wrap="none" anchor="ctr"/>
          <a:lstStyle/>
          <a:p>
            <a:endParaRPr lang="zh-CN" altLang="en-US" sz="1100">
              <a:latin typeface="+mj-ea"/>
              <a:ea typeface="+mj-ea"/>
            </a:endParaRPr>
          </a:p>
        </p:txBody>
      </p:sp>
      <p:sp>
        <p:nvSpPr>
          <p:cNvPr id="59403" name="Rectangle 11"/>
          <p:cNvSpPr>
            <a:spLocks noChangeArrowheads="1"/>
          </p:cNvSpPr>
          <p:nvPr/>
        </p:nvSpPr>
        <p:spPr bwMode="auto">
          <a:xfrm>
            <a:off x="3863452" y="3425652"/>
            <a:ext cx="820638" cy="511672"/>
          </a:xfrm>
          <a:prstGeom prst="rect">
            <a:avLst/>
          </a:prstGeom>
          <a:solidFill>
            <a:srgbClr val="66FFFF"/>
          </a:solidFill>
          <a:ln w="9525">
            <a:solidFill>
              <a:schemeClr val="bg2"/>
            </a:solidFill>
            <a:miter lim="800000"/>
            <a:headEnd type="none" w="sm" len="sm"/>
            <a:tailEnd type="none" w="sm" len="sm"/>
          </a:ln>
          <a:effectLst/>
        </p:spPr>
        <p:txBody>
          <a:bodyPr wrap="none" lIns="48473" tIns="24236" rIns="48473" bIns="24236" anchor="ctr"/>
          <a:lstStyle/>
          <a:p>
            <a:pPr marL="215900" indent="-215900" defTabSz="508000">
              <a:lnSpc>
                <a:spcPct val="90000"/>
              </a:lnSpc>
              <a:buClr>
                <a:srgbClr val="F6BF69"/>
              </a:buClr>
            </a:pPr>
            <a:endParaRPr lang="zh-CN" altLang="zh-CN" sz="1050">
              <a:effectLst>
                <a:outerShdw blurRad="38100" dist="38100" dir="2700000" algn="tl">
                  <a:srgbClr val="FFFFFF"/>
                </a:outerShdw>
              </a:effectLst>
              <a:latin typeface="+mj-ea"/>
              <a:ea typeface="+mj-ea"/>
            </a:endParaRPr>
          </a:p>
        </p:txBody>
      </p:sp>
      <p:sp>
        <p:nvSpPr>
          <p:cNvPr id="59404" name="Rectangle 12"/>
          <p:cNvSpPr>
            <a:spLocks noChangeArrowheads="1"/>
          </p:cNvSpPr>
          <p:nvPr/>
        </p:nvSpPr>
        <p:spPr bwMode="auto">
          <a:xfrm>
            <a:off x="3423218" y="1545954"/>
            <a:ext cx="820639" cy="511671"/>
          </a:xfrm>
          <a:prstGeom prst="rect">
            <a:avLst/>
          </a:prstGeom>
          <a:solidFill>
            <a:srgbClr val="FFC9FF"/>
          </a:solidFill>
          <a:ln w="9525">
            <a:solidFill>
              <a:schemeClr val="bg2"/>
            </a:solidFill>
            <a:miter lim="800000"/>
            <a:headEnd type="none" w="sm" len="sm"/>
            <a:tailEnd type="none" w="sm" len="sm"/>
          </a:ln>
          <a:effectLst/>
        </p:spPr>
        <p:txBody>
          <a:bodyPr wrap="none" lIns="43049" tIns="21525" rIns="43049" bIns="21525" anchor="ctr"/>
          <a:lstStyle/>
          <a:p>
            <a:pPr marL="215900" indent="-215900" defTabSz="508000">
              <a:lnSpc>
                <a:spcPct val="90000"/>
              </a:lnSpc>
              <a:buClr>
                <a:srgbClr val="F6BF69"/>
              </a:buClr>
            </a:pPr>
            <a:r>
              <a:rPr lang="en-US" altLang="zh-CN" sz="1050">
                <a:latin typeface="+mj-ea"/>
                <a:ea typeface="+mj-ea"/>
              </a:rPr>
              <a:t>Use Case</a:t>
            </a:r>
            <a:endParaRPr lang="en-US" altLang="zh-CN" sz="1050">
              <a:latin typeface="+mj-ea"/>
              <a:ea typeface="+mj-ea"/>
            </a:endParaRPr>
          </a:p>
          <a:p>
            <a:pPr marL="215900" indent="-215900" defTabSz="508000">
              <a:lnSpc>
                <a:spcPct val="90000"/>
              </a:lnSpc>
              <a:buClr>
                <a:srgbClr val="F6BF69"/>
              </a:buClr>
            </a:pPr>
            <a:r>
              <a:rPr lang="en-US" altLang="zh-CN" sz="1050">
                <a:latin typeface="+mj-ea"/>
                <a:ea typeface="+mj-ea"/>
              </a:rPr>
              <a:t>Diagrams</a:t>
            </a:r>
            <a:endParaRPr lang="en-US" altLang="zh-CN" sz="1050">
              <a:effectLst>
                <a:outerShdw blurRad="38100" dist="38100" dir="2700000" algn="tl">
                  <a:srgbClr val="FFFFFF"/>
                </a:outerShdw>
              </a:effectLst>
              <a:latin typeface="+mj-ea"/>
              <a:ea typeface="+mj-ea"/>
            </a:endParaRPr>
          </a:p>
        </p:txBody>
      </p:sp>
      <p:sp>
        <p:nvSpPr>
          <p:cNvPr id="59405" name="Rectangle 13"/>
          <p:cNvSpPr>
            <a:spLocks noChangeArrowheads="1"/>
          </p:cNvSpPr>
          <p:nvPr/>
        </p:nvSpPr>
        <p:spPr bwMode="auto">
          <a:xfrm>
            <a:off x="3504478" y="1626321"/>
            <a:ext cx="819746" cy="511671"/>
          </a:xfrm>
          <a:prstGeom prst="rect">
            <a:avLst/>
          </a:prstGeom>
          <a:solidFill>
            <a:srgbClr val="FFC9FF"/>
          </a:solidFill>
          <a:ln w="9525">
            <a:solidFill>
              <a:schemeClr val="bg2"/>
            </a:solidFill>
            <a:miter lim="800000"/>
            <a:headEnd type="none" w="sm" len="sm"/>
            <a:tailEnd type="none" w="sm" len="sm"/>
          </a:ln>
          <a:effectLst/>
        </p:spPr>
        <p:txBody>
          <a:bodyPr wrap="none" lIns="43049" tIns="21525" rIns="43049" bIns="21525" anchor="ctr"/>
          <a:lstStyle/>
          <a:p>
            <a:pPr marL="215900" indent="-215900" defTabSz="508000">
              <a:lnSpc>
                <a:spcPct val="90000"/>
              </a:lnSpc>
              <a:buClr>
                <a:srgbClr val="F6BF69"/>
              </a:buClr>
            </a:pPr>
            <a:r>
              <a:rPr lang="en-US" altLang="zh-CN" sz="1050">
                <a:latin typeface="+mj-ea"/>
                <a:ea typeface="+mj-ea"/>
              </a:rPr>
              <a:t>Use Case</a:t>
            </a:r>
            <a:endParaRPr lang="en-US" altLang="zh-CN" sz="1050">
              <a:latin typeface="+mj-ea"/>
              <a:ea typeface="+mj-ea"/>
            </a:endParaRPr>
          </a:p>
          <a:p>
            <a:pPr marL="215900" indent="-215900" defTabSz="508000">
              <a:lnSpc>
                <a:spcPct val="90000"/>
              </a:lnSpc>
              <a:buClr>
                <a:srgbClr val="F6BF69"/>
              </a:buClr>
            </a:pPr>
            <a:r>
              <a:rPr lang="en-US" altLang="zh-CN" sz="1050">
                <a:latin typeface="+mj-ea"/>
                <a:ea typeface="+mj-ea"/>
              </a:rPr>
              <a:t>Diagrams</a:t>
            </a:r>
            <a:endParaRPr lang="en-US" altLang="zh-CN" sz="1050">
              <a:effectLst>
                <a:outerShdw blurRad="38100" dist="38100" dir="2700000" algn="tl">
                  <a:srgbClr val="FFFFFF"/>
                </a:outerShdw>
              </a:effectLst>
              <a:latin typeface="+mj-ea"/>
              <a:ea typeface="+mj-ea"/>
            </a:endParaRPr>
          </a:p>
        </p:txBody>
      </p:sp>
      <p:sp>
        <p:nvSpPr>
          <p:cNvPr id="59406" name="Rectangle 14"/>
          <p:cNvSpPr>
            <a:spLocks noChangeArrowheads="1"/>
          </p:cNvSpPr>
          <p:nvPr/>
        </p:nvSpPr>
        <p:spPr bwMode="auto">
          <a:xfrm>
            <a:off x="3584845" y="1706688"/>
            <a:ext cx="820638" cy="511671"/>
          </a:xfrm>
          <a:prstGeom prst="rect">
            <a:avLst/>
          </a:prstGeom>
          <a:solidFill>
            <a:srgbClr val="FFC9FF"/>
          </a:solidFill>
          <a:ln w="9525">
            <a:solidFill>
              <a:schemeClr val="bg2"/>
            </a:solidFill>
            <a:miter lim="800000"/>
            <a:headEnd type="none" w="sm" len="sm"/>
            <a:tailEnd type="none" w="sm" len="sm"/>
          </a:ln>
          <a:effectLst/>
        </p:spPr>
        <p:txBody>
          <a:bodyPr wrap="none" lIns="43049" tIns="21525" rIns="43049" bIns="21525" anchor="ctr"/>
          <a:lstStyle/>
          <a:p>
            <a:pPr marL="215900" indent="-215900" defTabSz="508000">
              <a:lnSpc>
                <a:spcPct val="90000"/>
              </a:lnSpc>
              <a:buClr>
                <a:srgbClr val="F6BF69"/>
              </a:buClr>
            </a:pPr>
            <a:r>
              <a:rPr lang="zh-CN" altLang="en-US">
                <a:latin typeface="+mj-ea"/>
                <a:ea typeface="+mj-ea"/>
              </a:rPr>
              <a:t>用例图</a:t>
            </a:r>
            <a:endParaRPr lang="zh-CN" altLang="en-US">
              <a:effectLst>
                <a:outerShdw blurRad="38100" dist="38100" dir="2700000" algn="tl">
                  <a:srgbClr val="FFFFFF"/>
                </a:outerShdw>
              </a:effectLst>
              <a:latin typeface="+mj-ea"/>
              <a:ea typeface="+mj-ea"/>
            </a:endParaRPr>
          </a:p>
        </p:txBody>
      </p:sp>
      <p:sp>
        <p:nvSpPr>
          <p:cNvPr id="59407" name="Rectangle 15"/>
          <p:cNvSpPr>
            <a:spLocks noChangeArrowheads="1"/>
          </p:cNvSpPr>
          <p:nvPr/>
        </p:nvSpPr>
        <p:spPr bwMode="auto">
          <a:xfrm>
            <a:off x="2193600" y="2479105"/>
            <a:ext cx="820638" cy="511672"/>
          </a:xfrm>
          <a:prstGeom prst="rect">
            <a:avLst/>
          </a:prstGeom>
          <a:solidFill>
            <a:srgbClr val="66FFFF"/>
          </a:solidFill>
          <a:ln w="9525">
            <a:solidFill>
              <a:schemeClr val="bg2"/>
            </a:solidFill>
            <a:miter lim="800000"/>
            <a:headEnd type="none" w="sm" len="sm"/>
            <a:tailEnd type="none" w="sm" len="sm"/>
          </a:ln>
          <a:effectLst/>
        </p:spPr>
        <p:txBody>
          <a:bodyPr wrap="none" lIns="48473" tIns="24236" rIns="48473" bIns="24236" anchor="ctr"/>
          <a:lstStyle/>
          <a:p>
            <a:pPr marL="215900" indent="-215900" defTabSz="508000">
              <a:lnSpc>
                <a:spcPct val="90000"/>
              </a:lnSpc>
              <a:buClr>
                <a:srgbClr val="F6BF69"/>
              </a:buClr>
            </a:pPr>
            <a:r>
              <a:rPr lang="en-US" altLang="zh-CN" sz="1050">
                <a:latin typeface="+mj-ea"/>
                <a:ea typeface="+mj-ea"/>
              </a:rPr>
              <a:t>Scenario</a:t>
            </a:r>
            <a:endParaRPr lang="en-US" altLang="zh-CN" sz="1050">
              <a:latin typeface="+mj-ea"/>
              <a:ea typeface="+mj-ea"/>
            </a:endParaRPr>
          </a:p>
          <a:p>
            <a:pPr marL="215900" indent="-215900" defTabSz="508000">
              <a:lnSpc>
                <a:spcPct val="90000"/>
              </a:lnSpc>
              <a:buClr>
                <a:srgbClr val="F6BF69"/>
              </a:buClr>
            </a:pPr>
            <a:r>
              <a:rPr lang="en-US" altLang="zh-CN" sz="1050">
                <a:latin typeface="+mj-ea"/>
                <a:ea typeface="+mj-ea"/>
              </a:rPr>
              <a:t>Diagrams</a:t>
            </a:r>
            <a:endParaRPr lang="en-US" altLang="zh-CN" sz="1050">
              <a:effectLst>
                <a:outerShdw blurRad="38100" dist="38100" dir="2700000" algn="tl">
                  <a:srgbClr val="FFFFFF"/>
                </a:outerShdw>
              </a:effectLst>
              <a:latin typeface="+mj-ea"/>
              <a:ea typeface="+mj-ea"/>
            </a:endParaRPr>
          </a:p>
        </p:txBody>
      </p:sp>
      <p:sp>
        <p:nvSpPr>
          <p:cNvPr id="59408" name="Rectangle 16"/>
          <p:cNvSpPr>
            <a:spLocks noChangeArrowheads="1"/>
          </p:cNvSpPr>
          <p:nvPr/>
        </p:nvSpPr>
        <p:spPr bwMode="auto">
          <a:xfrm>
            <a:off x="2274860" y="2559473"/>
            <a:ext cx="820639" cy="511672"/>
          </a:xfrm>
          <a:prstGeom prst="rect">
            <a:avLst/>
          </a:prstGeom>
          <a:solidFill>
            <a:srgbClr val="66FFFF"/>
          </a:solidFill>
          <a:ln w="9525">
            <a:solidFill>
              <a:schemeClr val="bg2"/>
            </a:solidFill>
            <a:miter lim="800000"/>
            <a:headEnd type="none" w="sm" len="sm"/>
            <a:tailEnd type="none" w="sm" len="sm"/>
          </a:ln>
          <a:effectLst/>
        </p:spPr>
        <p:txBody>
          <a:bodyPr wrap="none" lIns="48473" tIns="24236" rIns="48473" bIns="24236" anchor="ctr"/>
          <a:lstStyle/>
          <a:p>
            <a:pPr marL="215900" indent="-215900" defTabSz="508000">
              <a:lnSpc>
                <a:spcPct val="90000"/>
              </a:lnSpc>
              <a:buClr>
                <a:srgbClr val="F6BF69"/>
              </a:buClr>
            </a:pPr>
            <a:r>
              <a:rPr lang="en-US" altLang="zh-CN" sz="1050">
                <a:latin typeface="+mj-ea"/>
                <a:ea typeface="+mj-ea"/>
              </a:rPr>
              <a:t>Scenario</a:t>
            </a:r>
            <a:endParaRPr lang="en-US" altLang="zh-CN" sz="1050">
              <a:latin typeface="+mj-ea"/>
              <a:ea typeface="+mj-ea"/>
            </a:endParaRPr>
          </a:p>
          <a:p>
            <a:pPr marL="215900" indent="-215900" defTabSz="508000">
              <a:lnSpc>
                <a:spcPct val="90000"/>
              </a:lnSpc>
              <a:buClr>
                <a:srgbClr val="F6BF69"/>
              </a:buClr>
            </a:pPr>
            <a:r>
              <a:rPr lang="en-US" altLang="zh-CN" sz="1050">
                <a:latin typeface="+mj-ea"/>
                <a:ea typeface="+mj-ea"/>
              </a:rPr>
              <a:t>Diagrams</a:t>
            </a:r>
            <a:endParaRPr lang="en-US" altLang="zh-CN" sz="1050">
              <a:effectLst>
                <a:outerShdw blurRad="38100" dist="38100" dir="2700000" algn="tl">
                  <a:srgbClr val="FFFFFF"/>
                </a:outerShdw>
              </a:effectLst>
              <a:latin typeface="+mj-ea"/>
              <a:ea typeface="+mj-ea"/>
            </a:endParaRPr>
          </a:p>
        </p:txBody>
      </p:sp>
      <p:sp>
        <p:nvSpPr>
          <p:cNvPr id="59409" name="Rectangle 17"/>
          <p:cNvSpPr>
            <a:spLocks noChangeArrowheads="1"/>
          </p:cNvSpPr>
          <p:nvPr/>
        </p:nvSpPr>
        <p:spPr bwMode="auto">
          <a:xfrm>
            <a:off x="2356120" y="2640733"/>
            <a:ext cx="820638" cy="510779"/>
          </a:xfrm>
          <a:prstGeom prst="rect">
            <a:avLst/>
          </a:prstGeom>
          <a:solidFill>
            <a:srgbClr val="66FFFF"/>
          </a:solidFill>
          <a:ln w="9525">
            <a:solidFill>
              <a:schemeClr val="bg2"/>
            </a:solidFill>
            <a:miter lim="800000"/>
            <a:headEnd type="none" w="sm" len="sm"/>
            <a:tailEnd type="none" w="sm" len="sm"/>
          </a:ln>
          <a:effectLst/>
        </p:spPr>
        <p:txBody>
          <a:bodyPr wrap="none" lIns="48473" tIns="24236" rIns="48473" bIns="24236" anchor="ctr"/>
          <a:lstStyle/>
          <a:p>
            <a:pPr marL="215900" indent="-215900" defTabSz="508000">
              <a:lnSpc>
                <a:spcPct val="90000"/>
              </a:lnSpc>
              <a:buClr>
                <a:srgbClr val="F6BF69"/>
              </a:buClr>
            </a:pPr>
            <a:r>
              <a:rPr lang="zh-CN" altLang="en-US">
                <a:latin typeface="+mj-ea"/>
                <a:ea typeface="+mj-ea"/>
              </a:rPr>
              <a:t>协作图</a:t>
            </a:r>
            <a:endParaRPr lang="zh-CN" altLang="en-US">
              <a:effectLst>
                <a:outerShdw blurRad="38100" dist="38100" dir="2700000" algn="tl">
                  <a:srgbClr val="FFFFFF"/>
                </a:outerShdw>
              </a:effectLst>
              <a:latin typeface="+mj-ea"/>
              <a:ea typeface="+mj-ea"/>
            </a:endParaRPr>
          </a:p>
        </p:txBody>
      </p:sp>
      <p:sp>
        <p:nvSpPr>
          <p:cNvPr id="59410" name="Rectangle 18"/>
          <p:cNvSpPr>
            <a:spLocks noChangeArrowheads="1"/>
          </p:cNvSpPr>
          <p:nvPr/>
        </p:nvSpPr>
        <p:spPr bwMode="auto">
          <a:xfrm>
            <a:off x="5660104" y="2479105"/>
            <a:ext cx="820638" cy="510779"/>
          </a:xfrm>
          <a:prstGeom prst="rect">
            <a:avLst/>
          </a:prstGeom>
          <a:solidFill>
            <a:srgbClr val="FFC9FF"/>
          </a:solidFill>
          <a:ln w="9525">
            <a:solidFill>
              <a:schemeClr val="bg2"/>
            </a:solidFill>
            <a:miter lim="800000"/>
            <a:headEnd type="none" w="sm" len="sm"/>
            <a:tailEnd type="none" w="sm" len="sm"/>
          </a:ln>
          <a:effectLst/>
        </p:spPr>
        <p:txBody>
          <a:bodyPr wrap="none" lIns="48473" tIns="24236" rIns="48473" bIns="24236" anchor="ctr"/>
          <a:lstStyle/>
          <a:p>
            <a:pPr marL="215900" indent="-215900" defTabSz="508000">
              <a:lnSpc>
                <a:spcPct val="90000"/>
              </a:lnSpc>
              <a:buClr>
                <a:srgbClr val="F6BF69"/>
              </a:buClr>
            </a:pPr>
            <a:r>
              <a:rPr lang="en-US" altLang="zh-CN" sz="1050">
                <a:latin typeface="+mj-ea"/>
                <a:ea typeface="+mj-ea"/>
              </a:rPr>
              <a:t>State</a:t>
            </a:r>
            <a:endParaRPr lang="en-US" altLang="zh-CN" sz="1050">
              <a:latin typeface="+mj-ea"/>
              <a:ea typeface="+mj-ea"/>
            </a:endParaRPr>
          </a:p>
          <a:p>
            <a:pPr marL="215900" indent="-215900" defTabSz="508000">
              <a:lnSpc>
                <a:spcPct val="90000"/>
              </a:lnSpc>
              <a:buClr>
                <a:srgbClr val="F6BF69"/>
              </a:buClr>
            </a:pPr>
            <a:r>
              <a:rPr lang="en-US" altLang="zh-CN" sz="1050">
                <a:latin typeface="+mj-ea"/>
                <a:ea typeface="+mj-ea"/>
              </a:rPr>
              <a:t>Diagrams</a:t>
            </a:r>
            <a:endParaRPr lang="en-US" altLang="zh-CN" sz="1050">
              <a:effectLst>
                <a:outerShdw blurRad="38100" dist="38100" dir="2700000" algn="tl">
                  <a:srgbClr val="FFFFFF"/>
                </a:outerShdw>
              </a:effectLst>
              <a:latin typeface="+mj-ea"/>
              <a:ea typeface="+mj-ea"/>
            </a:endParaRPr>
          </a:p>
        </p:txBody>
      </p:sp>
      <p:sp>
        <p:nvSpPr>
          <p:cNvPr id="59411" name="Rectangle 19"/>
          <p:cNvSpPr>
            <a:spLocks noChangeArrowheads="1"/>
          </p:cNvSpPr>
          <p:nvPr/>
        </p:nvSpPr>
        <p:spPr bwMode="auto">
          <a:xfrm>
            <a:off x="5741366" y="2559472"/>
            <a:ext cx="820639" cy="510779"/>
          </a:xfrm>
          <a:prstGeom prst="rect">
            <a:avLst/>
          </a:prstGeom>
          <a:solidFill>
            <a:srgbClr val="FFC9FF"/>
          </a:solidFill>
          <a:ln w="9525">
            <a:solidFill>
              <a:schemeClr val="bg2"/>
            </a:solidFill>
            <a:miter lim="800000"/>
            <a:headEnd type="none" w="sm" len="sm"/>
            <a:tailEnd type="none" w="sm" len="sm"/>
          </a:ln>
          <a:effectLst/>
        </p:spPr>
        <p:txBody>
          <a:bodyPr wrap="none" lIns="48473" tIns="24236" rIns="48473" bIns="24236" anchor="ctr"/>
          <a:lstStyle/>
          <a:p>
            <a:pPr marL="215900" indent="-215900" defTabSz="508000">
              <a:lnSpc>
                <a:spcPct val="90000"/>
              </a:lnSpc>
              <a:buClr>
                <a:srgbClr val="F6BF69"/>
              </a:buClr>
            </a:pPr>
            <a:r>
              <a:rPr lang="en-US" altLang="zh-CN" sz="1050">
                <a:latin typeface="+mj-ea"/>
                <a:ea typeface="+mj-ea"/>
              </a:rPr>
              <a:t>State</a:t>
            </a:r>
            <a:endParaRPr lang="en-US" altLang="zh-CN" sz="1050">
              <a:latin typeface="+mj-ea"/>
              <a:ea typeface="+mj-ea"/>
            </a:endParaRPr>
          </a:p>
          <a:p>
            <a:pPr marL="215900" indent="-215900" defTabSz="508000">
              <a:lnSpc>
                <a:spcPct val="90000"/>
              </a:lnSpc>
              <a:buClr>
                <a:srgbClr val="F6BF69"/>
              </a:buClr>
            </a:pPr>
            <a:r>
              <a:rPr lang="en-US" altLang="zh-CN" sz="1050">
                <a:latin typeface="+mj-ea"/>
                <a:ea typeface="+mj-ea"/>
              </a:rPr>
              <a:t>Diagrams</a:t>
            </a:r>
            <a:endParaRPr lang="en-US" altLang="zh-CN" sz="1050">
              <a:effectLst>
                <a:outerShdw blurRad="38100" dist="38100" dir="2700000" algn="tl">
                  <a:srgbClr val="FFFFFF"/>
                </a:outerShdw>
              </a:effectLst>
              <a:latin typeface="+mj-ea"/>
              <a:ea typeface="+mj-ea"/>
            </a:endParaRPr>
          </a:p>
        </p:txBody>
      </p:sp>
      <p:sp>
        <p:nvSpPr>
          <p:cNvPr id="59412" name="Rectangle 20"/>
          <p:cNvSpPr>
            <a:spLocks noChangeArrowheads="1"/>
          </p:cNvSpPr>
          <p:nvPr/>
        </p:nvSpPr>
        <p:spPr bwMode="auto">
          <a:xfrm>
            <a:off x="5822625" y="2639840"/>
            <a:ext cx="820638" cy="511672"/>
          </a:xfrm>
          <a:prstGeom prst="rect">
            <a:avLst/>
          </a:prstGeom>
          <a:solidFill>
            <a:srgbClr val="FFC9FF"/>
          </a:solidFill>
          <a:ln w="9525">
            <a:solidFill>
              <a:schemeClr val="bg2"/>
            </a:solidFill>
            <a:miter lim="800000"/>
            <a:headEnd type="none" w="sm" len="sm"/>
            <a:tailEnd type="none" w="sm" len="sm"/>
          </a:ln>
          <a:effectLst/>
        </p:spPr>
        <p:txBody>
          <a:bodyPr wrap="none" lIns="48473" tIns="24236" rIns="48473" bIns="24236" anchor="ctr"/>
          <a:lstStyle/>
          <a:p>
            <a:pPr marL="215900" indent="-215900" defTabSz="508000">
              <a:lnSpc>
                <a:spcPct val="90000"/>
              </a:lnSpc>
              <a:buClr>
                <a:srgbClr val="F6BF69"/>
              </a:buClr>
            </a:pPr>
            <a:r>
              <a:rPr lang="zh-CN" altLang="en-US">
                <a:latin typeface="+mj-ea"/>
                <a:ea typeface="+mj-ea"/>
              </a:rPr>
              <a:t>构件图</a:t>
            </a:r>
            <a:endParaRPr lang="zh-CN" altLang="zh-CN">
              <a:latin typeface="+mj-ea"/>
              <a:ea typeface="+mj-ea"/>
            </a:endParaRPr>
          </a:p>
        </p:txBody>
      </p:sp>
      <p:sp>
        <p:nvSpPr>
          <p:cNvPr id="59413" name="Rectangle 21"/>
          <p:cNvSpPr>
            <a:spLocks noChangeArrowheads="1"/>
          </p:cNvSpPr>
          <p:nvPr/>
        </p:nvSpPr>
        <p:spPr bwMode="auto">
          <a:xfrm>
            <a:off x="5027883" y="3217591"/>
            <a:ext cx="820638" cy="510779"/>
          </a:xfrm>
          <a:prstGeom prst="rect">
            <a:avLst/>
          </a:prstGeom>
          <a:solidFill>
            <a:srgbClr val="FFC9FF"/>
          </a:solidFill>
          <a:ln w="9525">
            <a:solidFill>
              <a:schemeClr val="bg2"/>
            </a:solidFill>
            <a:miter lim="800000"/>
            <a:headEnd type="none" w="sm" len="sm"/>
            <a:tailEnd type="none" w="sm" len="sm"/>
          </a:ln>
          <a:effectLst/>
        </p:spPr>
        <p:txBody>
          <a:bodyPr wrap="none" lIns="43049" tIns="21525" rIns="43049" bIns="21525" anchor="ctr"/>
          <a:lstStyle/>
          <a:p>
            <a:pPr marL="215900" indent="-215900" defTabSz="508000">
              <a:lnSpc>
                <a:spcPct val="90000"/>
              </a:lnSpc>
              <a:buClr>
                <a:srgbClr val="F6BF69"/>
              </a:buClr>
            </a:pPr>
            <a:r>
              <a:rPr lang="en-US" altLang="zh-CN" sz="900">
                <a:latin typeface="+mj-ea"/>
                <a:ea typeface="+mj-ea"/>
              </a:rPr>
              <a:t>Component</a:t>
            </a:r>
            <a:endParaRPr lang="en-US" altLang="zh-CN" sz="900">
              <a:latin typeface="+mj-ea"/>
              <a:ea typeface="+mj-ea"/>
            </a:endParaRPr>
          </a:p>
          <a:p>
            <a:pPr marL="215900" indent="-215900" defTabSz="508000">
              <a:lnSpc>
                <a:spcPct val="90000"/>
              </a:lnSpc>
              <a:buClr>
                <a:srgbClr val="F6BF69"/>
              </a:buClr>
            </a:pPr>
            <a:r>
              <a:rPr lang="en-US" altLang="zh-CN" sz="900">
                <a:latin typeface="+mj-ea"/>
                <a:ea typeface="+mj-ea"/>
              </a:rPr>
              <a:t>Diagrams</a:t>
            </a:r>
            <a:endParaRPr lang="en-US" altLang="zh-CN" sz="1600">
              <a:effectLst>
                <a:outerShdw blurRad="38100" dist="38100" dir="2700000" algn="tl">
                  <a:srgbClr val="FFFFFF"/>
                </a:outerShdw>
              </a:effectLst>
              <a:latin typeface="+mj-ea"/>
              <a:ea typeface="+mj-ea"/>
            </a:endParaRPr>
          </a:p>
        </p:txBody>
      </p:sp>
      <p:sp>
        <p:nvSpPr>
          <p:cNvPr id="59414" name="Rectangle 22"/>
          <p:cNvSpPr>
            <a:spLocks noChangeArrowheads="1"/>
          </p:cNvSpPr>
          <p:nvPr/>
        </p:nvSpPr>
        <p:spPr bwMode="auto">
          <a:xfrm>
            <a:off x="5109143" y="3297958"/>
            <a:ext cx="819746" cy="510779"/>
          </a:xfrm>
          <a:prstGeom prst="rect">
            <a:avLst/>
          </a:prstGeom>
          <a:solidFill>
            <a:srgbClr val="FFC9FF"/>
          </a:solidFill>
          <a:ln w="9525">
            <a:solidFill>
              <a:schemeClr val="bg2"/>
            </a:solidFill>
            <a:miter lim="800000"/>
            <a:headEnd type="none" w="sm" len="sm"/>
            <a:tailEnd type="none" w="sm" len="sm"/>
          </a:ln>
          <a:effectLst/>
        </p:spPr>
        <p:txBody>
          <a:bodyPr wrap="none" lIns="43049" tIns="21525" rIns="43049" bIns="21525" anchor="ctr"/>
          <a:lstStyle/>
          <a:p>
            <a:pPr marL="215900" indent="-215900" defTabSz="508000">
              <a:lnSpc>
                <a:spcPct val="90000"/>
              </a:lnSpc>
              <a:buClr>
                <a:srgbClr val="F6BF69"/>
              </a:buClr>
            </a:pPr>
            <a:r>
              <a:rPr lang="en-US" altLang="zh-CN" sz="900">
                <a:latin typeface="+mj-ea"/>
                <a:ea typeface="+mj-ea"/>
              </a:rPr>
              <a:t>Component</a:t>
            </a:r>
            <a:endParaRPr lang="en-US" altLang="zh-CN" sz="900">
              <a:latin typeface="+mj-ea"/>
              <a:ea typeface="+mj-ea"/>
            </a:endParaRPr>
          </a:p>
          <a:p>
            <a:pPr marL="215900" indent="-215900" defTabSz="508000">
              <a:lnSpc>
                <a:spcPct val="90000"/>
              </a:lnSpc>
              <a:buClr>
                <a:srgbClr val="F6BF69"/>
              </a:buClr>
            </a:pPr>
            <a:r>
              <a:rPr lang="en-US" altLang="zh-CN" sz="900">
                <a:latin typeface="+mj-ea"/>
                <a:ea typeface="+mj-ea"/>
              </a:rPr>
              <a:t>Diagrams</a:t>
            </a:r>
            <a:endParaRPr lang="en-US" altLang="zh-CN" sz="1600">
              <a:effectLst>
                <a:outerShdw blurRad="38100" dist="38100" dir="2700000" algn="tl">
                  <a:srgbClr val="FFFFFF"/>
                </a:outerShdw>
              </a:effectLst>
              <a:latin typeface="+mj-ea"/>
              <a:ea typeface="+mj-ea"/>
            </a:endParaRPr>
          </a:p>
        </p:txBody>
      </p:sp>
      <p:sp>
        <p:nvSpPr>
          <p:cNvPr id="59415" name="Rectangle 23"/>
          <p:cNvSpPr>
            <a:spLocks noChangeArrowheads="1"/>
          </p:cNvSpPr>
          <p:nvPr/>
        </p:nvSpPr>
        <p:spPr bwMode="auto">
          <a:xfrm>
            <a:off x="5189510" y="3378325"/>
            <a:ext cx="820639" cy="510779"/>
          </a:xfrm>
          <a:prstGeom prst="rect">
            <a:avLst/>
          </a:prstGeom>
          <a:solidFill>
            <a:srgbClr val="FFC9FF"/>
          </a:solidFill>
          <a:ln w="9525">
            <a:solidFill>
              <a:schemeClr val="bg2"/>
            </a:solidFill>
            <a:miter lim="800000"/>
            <a:headEnd type="none" w="sm" len="sm"/>
            <a:tailEnd type="none" w="sm" len="sm"/>
          </a:ln>
          <a:effectLst/>
        </p:spPr>
        <p:txBody>
          <a:bodyPr wrap="none" lIns="43049" tIns="21525" rIns="43049" bIns="21525" anchor="ctr"/>
          <a:lstStyle/>
          <a:p>
            <a:pPr marL="215900" indent="-215900" defTabSz="508000">
              <a:lnSpc>
                <a:spcPct val="90000"/>
              </a:lnSpc>
              <a:buClr>
                <a:srgbClr val="F6BF69"/>
              </a:buClr>
            </a:pPr>
            <a:r>
              <a:rPr lang="zh-CN" altLang="en-US">
                <a:latin typeface="+mj-ea"/>
                <a:ea typeface="+mj-ea"/>
              </a:rPr>
              <a:t>部署图</a:t>
            </a:r>
            <a:endParaRPr lang="zh-CN" altLang="zh-CN">
              <a:effectLst>
                <a:outerShdw blurRad="38100" dist="38100" dir="2700000" algn="tl">
                  <a:srgbClr val="FFFFFF"/>
                </a:outerShdw>
              </a:effectLst>
              <a:latin typeface="+mj-ea"/>
              <a:ea typeface="+mj-ea"/>
            </a:endParaRPr>
          </a:p>
        </p:txBody>
      </p:sp>
      <p:sp>
        <p:nvSpPr>
          <p:cNvPr id="59416" name="Rectangle 24"/>
          <p:cNvSpPr>
            <a:spLocks noChangeArrowheads="1"/>
          </p:cNvSpPr>
          <p:nvPr/>
        </p:nvSpPr>
        <p:spPr bwMode="auto">
          <a:xfrm>
            <a:off x="5660104" y="1631678"/>
            <a:ext cx="820638" cy="510779"/>
          </a:xfrm>
          <a:prstGeom prst="rect">
            <a:avLst/>
          </a:prstGeom>
          <a:solidFill>
            <a:srgbClr val="FFC9FF"/>
          </a:solidFill>
          <a:ln w="9525">
            <a:solidFill>
              <a:schemeClr val="bg2"/>
            </a:solidFill>
            <a:miter lim="800000"/>
            <a:headEnd type="none" w="sm" len="sm"/>
            <a:tailEnd type="none" w="sm" len="sm"/>
          </a:ln>
          <a:effectLst/>
        </p:spPr>
        <p:txBody>
          <a:bodyPr wrap="none" lIns="48473" tIns="24236" rIns="48473" bIns="24236" anchor="ctr"/>
          <a:lstStyle/>
          <a:p>
            <a:pPr marL="215900" indent="-215900" defTabSz="508000">
              <a:lnSpc>
                <a:spcPct val="90000"/>
              </a:lnSpc>
              <a:buClr>
                <a:srgbClr val="F6BF69"/>
              </a:buClr>
            </a:pPr>
            <a:r>
              <a:rPr lang="en-US" altLang="zh-CN" sz="1050">
                <a:latin typeface="+mj-ea"/>
                <a:ea typeface="+mj-ea"/>
              </a:rPr>
              <a:t>State</a:t>
            </a:r>
            <a:endParaRPr lang="en-US" altLang="zh-CN" sz="1050">
              <a:latin typeface="+mj-ea"/>
              <a:ea typeface="+mj-ea"/>
            </a:endParaRPr>
          </a:p>
          <a:p>
            <a:pPr marL="215900" indent="-215900" defTabSz="508000">
              <a:lnSpc>
                <a:spcPct val="90000"/>
              </a:lnSpc>
              <a:buClr>
                <a:srgbClr val="F6BF69"/>
              </a:buClr>
            </a:pPr>
            <a:r>
              <a:rPr lang="en-US" altLang="zh-CN" sz="1050">
                <a:latin typeface="+mj-ea"/>
                <a:ea typeface="+mj-ea"/>
              </a:rPr>
              <a:t>Diagrams</a:t>
            </a:r>
            <a:endParaRPr lang="en-US" altLang="zh-CN" sz="1050">
              <a:effectLst>
                <a:outerShdw blurRad="38100" dist="38100" dir="2700000" algn="tl">
                  <a:srgbClr val="FFFFFF"/>
                </a:outerShdw>
              </a:effectLst>
              <a:latin typeface="+mj-ea"/>
              <a:ea typeface="+mj-ea"/>
            </a:endParaRPr>
          </a:p>
        </p:txBody>
      </p:sp>
      <p:sp>
        <p:nvSpPr>
          <p:cNvPr id="59417" name="Rectangle 25"/>
          <p:cNvSpPr>
            <a:spLocks noChangeArrowheads="1"/>
          </p:cNvSpPr>
          <p:nvPr/>
        </p:nvSpPr>
        <p:spPr bwMode="auto">
          <a:xfrm>
            <a:off x="5741366" y="1712045"/>
            <a:ext cx="820639" cy="510779"/>
          </a:xfrm>
          <a:prstGeom prst="rect">
            <a:avLst/>
          </a:prstGeom>
          <a:solidFill>
            <a:srgbClr val="FFC9FF"/>
          </a:solidFill>
          <a:ln w="9525">
            <a:solidFill>
              <a:schemeClr val="bg2"/>
            </a:solidFill>
            <a:miter lim="800000"/>
            <a:headEnd type="none" w="sm" len="sm"/>
            <a:tailEnd type="none" w="sm" len="sm"/>
          </a:ln>
          <a:effectLst/>
        </p:spPr>
        <p:txBody>
          <a:bodyPr wrap="none" lIns="48473" tIns="24236" rIns="48473" bIns="24236" anchor="ctr"/>
          <a:lstStyle/>
          <a:p>
            <a:pPr marL="215900" indent="-215900" defTabSz="508000">
              <a:lnSpc>
                <a:spcPct val="90000"/>
              </a:lnSpc>
              <a:buClr>
                <a:srgbClr val="F6BF69"/>
              </a:buClr>
            </a:pPr>
            <a:r>
              <a:rPr lang="en-US" altLang="zh-CN" sz="1050">
                <a:latin typeface="+mj-ea"/>
                <a:ea typeface="+mj-ea"/>
              </a:rPr>
              <a:t>State</a:t>
            </a:r>
            <a:endParaRPr lang="en-US" altLang="zh-CN" sz="1050">
              <a:latin typeface="+mj-ea"/>
              <a:ea typeface="+mj-ea"/>
            </a:endParaRPr>
          </a:p>
          <a:p>
            <a:pPr marL="215900" indent="-215900" defTabSz="508000">
              <a:lnSpc>
                <a:spcPct val="90000"/>
              </a:lnSpc>
              <a:buClr>
                <a:srgbClr val="F6BF69"/>
              </a:buClr>
            </a:pPr>
            <a:r>
              <a:rPr lang="en-US" altLang="zh-CN" sz="1050">
                <a:latin typeface="+mj-ea"/>
                <a:ea typeface="+mj-ea"/>
              </a:rPr>
              <a:t>Diagrams</a:t>
            </a:r>
            <a:endParaRPr lang="en-US" altLang="zh-CN" sz="1050">
              <a:effectLst>
                <a:outerShdw blurRad="38100" dist="38100" dir="2700000" algn="tl">
                  <a:srgbClr val="FFFFFF"/>
                </a:outerShdw>
              </a:effectLst>
              <a:latin typeface="+mj-ea"/>
              <a:ea typeface="+mj-ea"/>
            </a:endParaRPr>
          </a:p>
        </p:txBody>
      </p:sp>
      <p:sp>
        <p:nvSpPr>
          <p:cNvPr id="59418" name="Rectangle 26"/>
          <p:cNvSpPr>
            <a:spLocks noChangeArrowheads="1"/>
          </p:cNvSpPr>
          <p:nvPr/>
        </p:nvSpPr>
        <p:spPr bwMode="auto">
          <a:xfrm>
            <a:off x="5822625" y="1792413"/>
            <a:ext cx="820638" cy="511671"/>
          </a:xfrm>
          <a:prstGeom prst="rect">
            <a:avLst/>
          </a:prstGeom>
          <a:solidFill>
            <a:srgbClr val="FFC9FF"/>
          </a:solidFill>
          <a:ln w="9525">
            <a:solidFill>
              <a:schemeClr val="bg2"/>
            </a:solidFill>
            <a:miter lim="800000"/>
            <a:headEnd type="none" w="sm" len="sm"/>
            <a:tailEnd type="none" w="sm" len="sm"/>
          </a:ln>
          <a:effectLst/>
        </p:spPr>
        <p:txBody>
          <a:bodyPr wrap="none" lIns="48473" tIns="24236" rIns="48473" bIns="24236" anchor="ctr"/>
          <a:lstStyle/>
          <a:p>
            <a:pPr marL="215900" indent="-215900" defTabSz="508000">
              <a:lnSpc>
                <a:spcPct val="90000"/>
              </a:lnSpc>
              <a:buClr>
                <a:srgbClr val="F6BF69"/>
              </a:buClr>
            </a:pPr>
            <a:r>
              <a:rPr lang="zh-CN" altLang="en-US" dirty="0">
                <a:latin typeface="+mj-ea"/>
                <a:ea typeface="+mj-ea"/>
              </a:rPr>
              <a:t>包图</a:t>
            </a:r>
            <a:endParaRPr lang="zh-CN" altLang="zh-CN" dirty="0">
              <a:effectLst>
                <a:outerShdw blurRad="38100" dist="38100" dir="2700000" algn="tl">
                  <a:srgbClr val="FFFFFF"/>
                </a:outerShdw>
              </a:effectLst>
              <a:latin typeface="+mj-ea"/>
              <a:ea typeface="+mj-ea"/>
            </a:endParaRPr>
          </a:p>
        </p:txBody>
      </p:sp>
      <p:sp>
        <p:nvSpPr>
          <p:cNvPr id="59419" name="Rectangle 27"/>
          <p:cNvSpPr>
            <a:spLocks noChangeArrowheads="1"/>
          </p:cNvSpPr>
          <p:nvPr/>
        </p:nvSpPr>
        <p:spPr bwMode="auto">
          <a:xfrm>
            <a:off x="2568646" y="3243486"/>
            <a:ext cx="820638" cy="511672"/>
          </a:xfrm>
          <a:prstGeom prst="rect">
            <a:avLst/>
          </a:prstGeom>
          <a:solidFill>
            <a:srgbClr val="66FFFF"/>
          </a:solidFill>
          <a:ln w="9525">
            <a:solidFill>
              <a:schemeClr val="bg2"/>
            </a:solidFill>
            <a:miter lim="800000"/>
            <a:headEnd type="none" w="sm" len="sm"/>
            <a:tailEnd type="none" w="sm" len="sm"/>
          </a:ln>
          <a:effectLst/>
        </p:spPr>
        <p:txBody>
          <a:bodyPr wrap="none" lIns="48473" tIns="24236" rIns="48473" bIns="24236" anchor="ctr"/>
          <a:lstStyle/>
          <a:p>
            <a:pPr marL="215900" indent="-215900" defTabSz="508000">
              <a:lnSpc>
                <a:spcPct val="90000"/>
              </a:lnSpc>
              <a:buClr>
                <a:srgbClr val="F6BF69"/>
              </a:buClr>
            </a:pPr>
            <a:r>
              <a:rPr lang="en-US" altLang="zh-CN" sz="1050">
                <a:latin typeface="+mj-ea"/>
                <a:ea typeface="+mj-ea"/>
              </a:rPr>
              <a:t>Scenario</a:t>
            </a:r>
            <a:endParaRPr lang="en-US" altLang="zh-CN" sz="1050">
              <a:latin typeface="+mj-ea"/>
              <a:ea typeface="+mj-ea"/>
            </a:endParaRPr>
          </a:p>
          <a:p>
            <a:pPr marL="215900" indent="-215900" defTabSz="508000">
              <a:lnSpc>
                <a:spcPct val="90000"/>
              </a:lnSpc>
              <a:buClr>
                <a:srgbClr val="F6BF69"/>
              </a:buClr>
            </a:pPr>
            <a:r>
              <a:rPr lang="en-US" altLang="zh-CN" sz="1050">
                <a:latin typeface="+mj-ea"/>
                <a:ea typeface="+mj-ea"/>
              </a:rPr>
              <a:t>Diagrams</a:t>
            </a:r>
            <a:endParaRPr lang="en-US" altLang="zh-CN" sz="1050">
              <a:effectLst>
                <a:outerShdw blurRad="38100" dist="38100" dir="2700000" algn="tl">
                  <a:srgbClr val="FFFFFF"/>
                </a:outerShdw>
              </a:effectLst>
              <a:latin typeface="+mj-ea"/>
              <a:ea typeface="+mj-ea"/>
            </a:endParaRPr>
          </a:p>
        </p:txBody>
      </p:sp>
      <p:sp>
        <p:nvSpPr>
          <p:cNvPr id="59420" name="Rectangle 28"/>
          <p:cNvSpPr>
            <a:spLocks noChangeArrowheads="1"/>
          </p:cNvSpPr>
          <p:nvPr/>
        </p:nvSpPr>
        <p:spPr bwMode="auto">
          <a:xfrm>
            <a:off x="2649908" y="3323854"/>
            <a:ext cx="820639" cy="511672"/>
          </a:xfrm>
          <a:prstGeom prst="rect">
            <a:avLst/>
          </a:prstGeom>
          <a:solidFill>
            <a:srgbClr val="66FFFF"/>
          </a:solidFill>
          <a:ln w="9525">
            <a:solidFill>
              <a:schemeClr val="bg2"/>
            </a:solidFill>
            <a:miter lim="800000"/>
            <a:headEnd type="none" w="sm" len="sm"/>
            <a:tailEnd type="none" w="sm" len="sm"/>
          </a:ln>
          <a:effectLst/>
        </p:spPr>
        <p:txBody>
          <a:bodyPr wrap="none" lIns="48473" tIns="24236" rIns="48473" bIns="24236" anchor="ctr"/>
          <a:lstStyle/>
          <a:p>
            <a:pPr marL="215900" indent="-215900" defTabSz="508000">
              <a:lnSpc>
                <a:spcPct val="90000"/>
              </a:lnSpc>
              <a:buClr>
                <a:srgbClr val="F6BF69"/>
              </a:buClr>
            </a:pPr>
            <a:r>
              <a:rPr lang="en-US" altLang="zh-CN" sz="1050">
                <a:latin typeface="+mj-ea"/>
                <a:ea typeface="+mj-ea"/>
              </a:rPr>
              <a:t>Scenario</a:t>
            </a:r>
            <a:endParaRPr lang="en-US" altLang="zh-CN" sz="1050">
              <a:latin typeface="+mj-ea"/>
              <a:ea typeface="+mj-ea"/>
            </a:endParaRPr>
          </a:p>
          <a:p>
            <a:pPr marL="215900" indent="-215900" defTabSz="508000">
              <a:lnSpc>
                <a:spcPct val="90000"/>
              </a:lnSpc>
              <a:buClr>
                <a:srgbClr val="F6BF69"/>
              </a:buClr>
            </a:pPr>
            <a:r>
              <a:rPr lang="en-US" altLang="zh-CN" sz="1050">
                <a:latin typeface="+mj-ea"/>
                <a:ea typeface="+mj-ea"/>
              </a:rPr>
              <a:t>Diagrams</a:t>
            </a:r>
            <a:endParaRPr lang="en-US" altLang="zh-CN" sz="1050">
              <a:effectLst>
                <a:outerShdw blurRad="38100" dist="38100" dir="2700000" algn="tl">
                  <a:srgbClr val="FFFFFF"/>
                </a:outerShdw>
              </a:effectLst>
              <a:latin typeface="+mj-ea"/>
              <a:ea typeface="+mj-ea"/>
            </a:endParaRPr>
          </a:p>
        </p:txBody>
      </p:sp>
      <p:sp>
        <p:nvSpPr>
          <p:cNvPr id="59421" name="Rectangle 29"/>
          <p:cNvSpPr>
            <a:spLocks noChangeArrowheads="1"/>
          </p:cNvSpPr>
          <p:nvPr/>
        </p:nvSpPr>
        <p:spPr bwMode="auto">
          <a:xfrm>
            <a:off x="2731167" y="3405114"/>
            <a:ext cx="820638" cy="510779"/>
          </a:xfrm>
          <a:prstGeom prst="rect">
            <a:avLst/>
          </a:prstGeom>
          <a:solidFill>
            <a:srgbClr val="66FFFF"/>
          </a:solidFill>
          <a:ln w="9525">
            <a:solidFill>
              <a:schemeClr val="bg2"/>
            </a:solidFill>
            <a:miter lim="800000"/>
            <a:headEnd type="none" w="sm" len="sm"/>
            <a:tailEnd type="none" w="sm" len="sm"/>
          </a:ln>
          <a:effectLst/>
        </p:spPr>
        <p:txBody>
          <a:bodyPr wrap="none" lIns="48473" tIns="24236" rIns="48473" bIns="24236" anchor="ctr"/>
          <a:lstStyle/>
          <a:p>
            <a:pPr marL="215900" indent="-215900" defTabSz="508000">
              <a:lnSpc>
                <a:spcPct val="90000"/>
              </a:lnSpc>
              <a:buClr>
                <a:srgbClr val="F6BF69"/>
              </a:buClr>
            </a:pPr>
            <a:r>
              <a:rPr lang="zh-CN" altLang="en-US">
                <a:latin typeface="+mj-ea"/>
                <a:ea typeface="+mj-ea"/>
              </a:rPr>
              <a:t>状态图</a:t>
            </a:r>
            <a:endParaRPr lang="zh-CN" altLang="en-US">
              <a:effectLst>
                <a:outerShdw blurRad="38100" dist="38100" dir="2700000" algn="tl">
                  <a:srgbClr val="FFFFFF"/>
                </a:outerShdw>
              </a:effectLst>
              <a:latin typeface="+mj-ea"/>
              <a:ea typeface="+mj-ea"/>
            </a:endParaRPr>
          </a:p>
        </p:txBody>
      </p:sp>
      <p:sp>
        <p:nvSpPr>
          <p:cNvPr id="59422" name="Rectangle 30"/>
          <p:cNvSpPr>
            <a:spLocks noChangeArrowheads="1"/>
          </p:cNvSpPr>
          <p:nvPr/>
        </p:nvSpPr>
        <p:spPr bwMode="auto">
          <a:xfrm>
            <a:off x="2397196" y="1733477"/>
            <a:ext cx="820638" cy="511671"/>
          </a:xfrm>
          <a:prstGeom prst="rect">
            <a:avLst/>
          </a:prstGeom>
          <a:solidFill>
            <a:srgbClr val="66FFFF"/>
          </a:solidFill>
          <a:ln w="9525">
            <a:solidFill>
              <a:schemeClr val="bg2"/>
            </a:solidFill>
            <a:miter lim="800000"/>
            <a:headEnd type="none" w="sm" len="sm"/>
            <a:tailEnd type="none" w="sm" len="sm"/>
          </a:ln>
          <a:effectLst/>
        </p:spPr>
        <p:txBody>
          <a:bodyPr wrap="none" lIns="43049" tIns="21525" rIns="43049" bIns="21525" anchor="ctr"/>
          <a:lstStyle/>
          <a:p>
            <a:pPr marL="215900" indent="-215900" defTabSz="508000">
              <a:lnSpc>
                <a:spcPct val="90000"/>
              </a:lnSpc>
              <a:buClr>
                <a:srgbClr val="F6BF69"/>
              </a:buClr>
            </a:pPr>
            <a:r>
              <a:rPr lang="en-US" altLang="zh-CN" sz="1050">
                <a:latin typeface="+mj-ea"/>
                <a:ea typeface="+mj-ea"/>
              </a:rPr>
              <a:t>Use Case</a:t>
            </a:r>
            <a:endParaRPr lang="en-US" altLang="zh-CN" sz="1050">
              <a:latin typeface="+mj-ea"/>
              <a:ea typeface="+mj-ea"/>
            </a:endParaRPr>
          </a:p>
          <a:p>
            <a:pPr marL="215900" indent="-215900" defTabSz="508000">
              <a:lnSpc>
                <a:spcPct val="90000"/>
              </a:lnSpc>
              <a:buClr>
                <a:srgbClr val="F6BF69"/>
              </a:buClr>
            </a:pPr>
            <a:r>
              <a:rPr lang="en-US" altLang="zh-CN" sz="1050">
                <a:latin typeface="+mj-ea"/>
                <a:ea typeface="+mj-ea"/>
              </a:rPr>
              <a:t>Diagrams</a:t>
            </a:r>
            <a:endParaRPr lang="en-US" altLang="zh-CN" sz="1050">
              <a:effectLst>
                <a:outerShdw blurRad="38100" dist="38100" dir="2700000" algn="tl">
                  <a:srgbClr val="FFFFFF"/>
                </a:outerShdw>
              </a:effectLst>
              <a:latin typeface="+mj-ea"/>
              <a:ea typeface="+mj-ea"/>
            </a:endParaRPr>
          </a:p>
        </p:txBody>
      </p:sp>
      <p:sp>
        <p:nvSpPr>
          <p:cNvPr id="59423" name="Rectangle 31"/>
          <p:cNvSpPr>
            <a:spLocks noChangeArrowheads="1"/>
          </p:cNvSpPr>
          <p:nvPr/>
        </p:nvSpPr>
        <p:spPr bwMode="auto">
          <a:xfrm>
            <a:off x="2478457" y="1813844"/>
            <a:ext cx="819746" cy="511671"/>
          </a:xfrm>
          <a:prstGeom prst="rect">
            <a:avLst/>
          </a:prstGeom>
          <a:solidFill>
            <a:srgbClr val="66FFFF"/>
          </a:solidFill>
          <a:ln w="9525">
            <a:solidFill>
              <a:schemeClr val="bg2"/>
            </a:solidFill>
            <a:miter lim="800000"/>
            <a:headEnd type="none" w="sm" len="sm"/>
            <a:tailEnd type="none" w="sm" len="sm"/>
          </a:ln>
          <a:effectLst/>
        </p:spPr>
        <p:txBody>
          <a:bodyPr wrap="none" lIns="43049" tIns="21525" rIns="43049" bIns="21525" anchor="ctr"/>
          <a:lstStyle/>
          <a:p>
            <a:pPr marL="215900" indent="-215900" defTabSz="508000">
              <a:lnSpc>
                <a:spcPct val="90000"/>
              </a:lnSpc>
              <a:buClr>
                <a:srgbClr val="F6BF69"/>
              </a:buClr>
            </a:pPr>
            <a:r>
              <a:rPr lang="en-US" altLang="zh-CN" sz="1050">
                <a:latin typeface="+mj-ea"/>
                <a:ea typeface="+mj-ea"/>
              </a:rPr>
              <a:t>Use Case</a:t>
            </a:r>
            <a:endParaRPr lang="en-US" altLang="zh-CN" sz="1050">
              <a:latin typeface="+mj-ea"/>
              <a:ea typeface="+mj-ea"/>
            </a:endParaRPr>
          </a:p>
          <a:p>
            <a:pPr marL="215900" indent="-215900" defTabSz="508000">
              <a:lnSpc>
                <a:spcPct val="90000"/>
              </a:lnSpc>
              <a:buClr>
                <a:srgbClr val="F6BF69"/>
              </a:buClr>
            </a:pPr>
            <a:r>
              <a:rPr lang="en-US" altLang="zh-CN" sz="1050">
                <a:latin typeface="+mj-ea"/>
                <a:ea typeface="+mj-ea"/>
              </a:rPr>
              <a:t>Diagrams</a:t>
            </a:r>
            <a:endParaRPr lang="en-US" altLang="zh-CN" sz="1050">
              <a:effectLst>
                <a:outerShdw blurRad="38100" dist="38100" dir="2700000" algn="tl">
                  <a:srgbClr val="FFFFFF"/>
                </a:outerShdw>
              </a:effectLst>
              <a:latin typeface="+mj-ea"/>
              <a:ea typeface="+mj-ea"/>
            </a:endParaRPr>
          </a:p>
        </p:txBody>
      </p:sp>
      <p:sp>
        <p:nvSpPr>
          <p:cNvPr id="59424" name="Rectangle 32"/>
          <p:cNvSpPr>
            <a:spLocks noChangeArrowheads="1"/>
          </p:cNvSpPr>
          <p:nvPr/>
        </p:nvSpPr>
        <p:spPr bwMode="auto">
          <a:xfrm>
            <a:off x="2558825" y="1894212"/>
            <a:ext cx="820639" cy="511671"/>
          </a:xfrm>
          <a:prstGeom prst="rect">
            <a:avLst/>
          </a:prstGeom>
          <a:solidFill>
            <a:srgbClr val="66FFFF"/>
          </a:solidFill>
          <a:ln w="9525">
            <a:solidFill>
              <a:schemeClr val="bg2"/>
            </a:solidFill>
            <a:miter lim="800000"/>
            <a:headEnd type="none" w="sm" len="sm"/>
            <a:tailEnd type="none" w="sm" len="sm"/>
          </a:ln>
          <a:effectLst/>
        </p:spPr>
        <p:txBody>
          <a:bodyPr wrap="none" lIns="43049" tIns="21525" rIns="43049" bIns="21525" anchor="ctr"/>
          <a:lstStyle/>
          <a:p>
            <a:pPr marL="215900" indent="-215900" defTabSz="508000">
              <a:lnSpc>
                <a:spcPct val="90000"/>
              </a:lnSpc>
              <a:buClr>
                <a:srgbClr val="F6BF69"/>
              </a:buClr>
            </a:pPr>
            <a:r>
              <a:rPr lang="zh-CN" altLang="en-US">
                <a:latin typeface="+mj-ea"/>
                <a:ea typeface="+mj-ea"/>
              </a:rPr>
              <a:t>时序图</a:t>
            </a:r>
            <a:endParaRPr lang="zh-CN" altLang="zh-CN">
              <a:effectLst>
                <a:outerShdw blurRad="38100" dist="38100" dir="2700000" algn="tl">
                  <a:srgbClr val="FFFFFF"/>
                </a:outerShdw>
              </a:effectLst>
              <a:latin typeface="+mj-ea"/>
              <a:ea typeface="+mj-ea"/>
            </a:endParaRPr>
          </a:p>
        </p:txBody>
      </p:sp>
      <p:sp>
        <p:nvSpPr>
          <p:cNvPr id="59425" name="Rectangle 33"/>
          <p:cNvSpPr>
            <a:spLocks noChangeArrowheads="1"/>
          </p:cNvSpPr>
          <p:nvPr/>
        </p:nvSpPr>
        <p:spPr bwMode="auto">
          <a:xfrm>
            <a:off x="4420664" y="1282527"/>
            <a:ext cx="820638" cy="510779"/>
          </a:xfrm>
          <a:prstGeom prst="rect">
            <a:avLst/>
          </a:prstGeom>
          <a:solidFill>
            <a:srgbClr val="FFC9FF"/>
          </a:solidFill>
          <a:ln w="9525">
            <a:solidFill>
              <a:schemeClr val="bg2"/>
            </a:solidFill>
            <a:miter lim="800000"/>
            <a:headEnd type="none" w="sm" len="sm"/>
            <a:tailEnd type="none" w="sm" len="sm"/>
          </a:ln>
          <a:effectLst/>
        </p:spPr>
        <p:txBody>
          <a:bodyPr wrap="none" lIns="48473" tIns="24236" rIns="48473" bIns="24236" anchor="ctr"/>
          <a:lstStyle/>
          <a:p>
            <a:pPr marL="215900" indent="-215900" defTabSz="508000">
              <a:lnSpc>
                <a:spcPct val="90000"/>
              </a:lnSpc>
              <a:buClr>
                <a:srgbClr val="F6BF69"/>
              </a:buClr>
            </a:pPr>
            <a:r>
              <a:rPr lang="en-US" altLang="zh-CN" sz="1050">
                <a:latin typeface="+mj-ea"/>
                <a:ea typeface="+mj-ea"/>
              </a:rPr>
              <a:t>State</a:t>
            </a:r>
            <a:endParaRPr lang="en-US" altLang="zh-CN" sz="1050">
              <a:latin typeface="+mj-ea"/>
              <a:ea typeface="+mj-ea"/>
            </a:endParaRPr>
          </a:p>
          <a:p>
            <a:pPr marL="215900" indent="-215900" defTabSz="508000">
              <a:lnSpc>
                <a:spcPct val="90000"/>
              </a:lnSpc>
              <a:buClr>
                <a:srgbClr val="F6BF69"/>
              </a:buClr>
            </a:pPr>
            <a:r>
              <a:rPr lang="en-US" altLang="zh-CN" sz="1050">
                <a:latin typeface="+mj-ea"/>
                <a:ea typeface="+mj-ea"/>
              </a:rPr>
              <a:t>Diagrams</a:t>
            </a:r>
            <a:endParaRPr lang="en-US" altLang="zh-CN" sz="1050">
              <a:effectLst>
                <a:outerShdw blurRad="38100" dist="38100" dir="2700000" algn="tl">
                  <a:srgbClr val="FFFFFF"/>
                </a:outerShdw>
              </a:effectLst>
              <a:latin typeface="+mj-ea"/>
              <a:ea typeface="+mj-ea"/>
            </a:endParaRPr>
          </a:p>
        </p:txBody>
      </p:sp>
      <p:sp>
        <p:nvSpPr>
          <p:cNvPr id="59426" name="Rectangle 34"/>
          <p:cNvSpPr>
            <a:spLocks noChangeArrowheads="1"/>
          </p:cNvSpPr>
          <p:nvPr/>
        </p:nvSpPr>
        <p:spPr bwMode="auto">
          <a:xfrm>
            <a:off x="4501925" y="1362894"/>
            <a:ext cx="820639" cy="510779"/>
          </a:xfrm>
          <a:prstGeom prst="rect">
            <a:avLst/>
          </a:prstGeom>
          <a:solidFill>
            <a:srgbClr val="FFC9FF"/>
          </a:solidFill>
          <a:ln w="9525">
            <a:solidFill>
              <a:schemeClr val="bg2"/>
            </a:solidFill>
            <a:miter lim="800000"/>
            <a:headEnd type="none" w="sm" len="sm"/>
            <a:tailEnd type="none" w="sm" len="sm"/>
          </a:ln>
          <a:effectLst/>
        </p:spPr>
        <p:txBody>
          <a:bodyPr wrap="none" lIns="48473" tIns="24236" rIns="48473" bIns="24236" anchor="ctr"/>
          <a:lstStyle/>
          <a:p>
            <a:pPr marL="215900" indent="-215900" defTabSz="508000">
              <a:lnSpc>
                <a:spcPct val="90000"/>
              </a:lnSpc>
              <a:buClr>
                <a:srgbClr val="F6BF69"/>
              </a:buClr>
            </a:pPr>
            <a:r>
              <a:rPr lang="en-US" altLang="zh-CN" sz="1050">
                <a:latin typeface="+mj-ea"/>
                <a:ea typeface="+mj-ea"/>
              </a:rPr>
              <a:t>State</a:t>
            </a:r>
            <a:endParaRPr lang="en-US" altLang="zh-CN" sz="1050">
              <a:latin typeface="+mj-ea"/>
              <a:ea typeface="+mj-ea"/>
            </a:endParaRPr>
          </a:p>
          <a:p>
            <a:pPr marL="215900" indent="-215900" defTabSz="508000">
              <a:lnSpc>
                <a:spcPct val="90000"/>
              </a:lnSpc>
              <a:buClr>
                <a:srgbClr val="F6BF69"/>
              </a:buClr>
            </a:pPr>
            <a:r>
              <a:rPr lang="en-US" altLang="zh-CN" sz="1050">
                <a:latin typeface="+mj-ea"/>
                <a:ea typeface="+mj-ea"/>
              </a:rPr>
              <a:t>Diagrams</a:t>
            </a:r>
            <a:endParaRPr lang="en-US" altLang="zh-CN" sz="1050">
              <a:effectLst>
                <a:outerShdw blurRad="38100" dist="38100" dir="2700000" algn="tl">
                  <a:srgbClr val="FFFFFF"/>
                </a:outerShdw>
              </a:effectLst>
              <a:latin typeface="+mj-ea"/>
              <a:ea typeface="+mj-ea"/>
            </a:endParaRPr>
          </a:p>
        </p:txBody>
      </p:sp>
      <p:sp>
        <p:nvSpPr>
          <p:cNvPr id="59427" name="Rectangle 35"/>
          <p:cNvSpPr>
            <a:spLocks noChangeArrowheads="1"/>
          </p:cNvSpPr>
          <p:nvPr/>
        </p:nvSpPr>
        <p:spPr bwMode="auto">
          <a:xfrm>
            <a:off x="4583184" y="1443261"/>
            <a:ext cx="820638" cy="511672"/>
          </a:xfrm>
          <a:prstGeom prst="rect">
            <a:avLst/>
          </a:prstGeom>
          <a:solidFill>
            <a:srgbClr val="FFC9FF"/>
          </a:solidFill>
          <a:ln w="9525">
            <a:solidFill>
              <a:schemeClr val="bg2"/>
            </a:solidFill>
            <a:miter lim="800000"/>
            <a:headEnd type="none" w="sm" len="sm"/>
            <a:tailEnd type="none" w="sm" len="sm"/>
          </a:ln>
          <a:effectLst/>
        </p:spPr>
        <p:txBody>
          <a:bodyPr wrap="none" lIns="48473" tIns="24236" rIns="48473" bIns="24236" anchor="ctr"/>
          <a:lstStyle/>
          <a:p>
            <a:pPr marL="215900" indent="-215900" defTabSz="508000">
              <a:lnSpc>
                <a:spcPct val="90000"/>
              </a:lnSpc>
              <a:buClr>
                <a:srgbClr val="F6BF69"/>
              </a:buClr>
            </a:pPr>
            <a:r>
              <a:rPr lang="zh-CN" altLang="en-US" dirty="0">
                <a:latin typeface="+mj-ea"/>
                <a:ea typeface="+mj-ea"/>
              </a:rPr>
              <a:t>类图</a:t>
            </a:r>
            <a:r>
              <a:rPr lang="en-US" altLang="zh-CN" dirty="0">
                <a:latin typeface="+mj-ea"/>
                <a:ea typeface="+mj-ea"/>
              </a:rPr>
              <a:t>/</a:t>
            </a:r>
            <a:r>
              <a:rPr lang="zh-CN" altLang="en-US" dirty="0">
                <a:latin typeface="+mj-ea"/>
                <a:ea typeface="+mj-ea"/>
              </a:rPr>
              <a:t>对象图</a:t>
            </a:r>
            <a:endParaRPr lang="zh-CN" altLang="zh-CN" dirty="0">
              <a:effectLst>
                <a:outerShdw blurRad="38100" dist="38100" dir="2700000" algn="tl">
                  <a:srgbClr val="FFFFFF"/>
                </a:outerShdw>
              </a:effectLst>
              <a:latin typeface="+mj-ea"/>
              <a:ea typeface="+mj-ea"/>
            </a:endParaRPr>
          </a:p>
        </p:txBody>
      </p:sp>
      <p:sp>
        <p:nvSpPr>
          <p:cNvPr id="59428" name="Line 36"/>
          <p:cNvSpPr>
            <a:spLocks noChangeShapeType="1"/>
          </p:cNvSpPr>
          <p:nvPr/>
        </p:nvSpPr>
        <p:spPr bwMode="auto">
          <a:xfrm>
            <a:off x="4420664" y="3151510"/>
            <a:ext cx="0" cy="253604"/>
          </a:xfrm>
          <a:prstGeom prst="line">
            <a:avLst/>
          </a:prstGeom>
          <a:noFill/>
          <a:ln w="12700">
            <a:solidFill>
              <a:schemeClr val="tx1"/>
            </a:solidFill>
            <a:round/>
            <a:headEnd type="none" w="sm" len="sm"/>
            <a:tailEnd type="none" w="lg" len="lg"/>
          </a:ln>
          <a:effectLst/>
        </p:spPr>
        <p:txBody>
          <a:bodyPr wrap="none" anchor="ctr"/>
          <a:lstStyle/>
          <a:p>
            <a:endParaRPr lang="zh-CN" altLang="en-US" sz="1100">
              <a:latin typeface="+mj-ea"/>
              <a:ea typeface="+mj-ea"/>
            </a:endParaRPr>
          </a:p>
        </p:txBody>
      </p:sp>
      <p:sp>
        <p:nvSpPr>
          <p:cNvPr id="59429" name="Rectangle 37"/>
          <p:cNvSpPr>
            <a:spLocks noChangeArrowheads="1"/>
          </p:cNvSpPr>
          <p:nvPr/>
        </p:nvSpPr>
        <p:spPr bwMode="auto">
          <a:xfrm>
            <a:off x="3949177" y="3511377"/>
            <a:ext cx="820638" cy="511672"/>
          </a:xfrm>
          <a:prstGeom prst="rect">
            <a:avLst/>
          </a:prstGeom>
          <a:solidFill>
            <a:srgbClr val="66FFFF"/>
          </a:solidFill>
          <a:ln w="9525">
            <a:solidFill>
              <a:schemeClr val="bg2"/>
            </a:solidFill>
            <a:miter lim="800000"/>
            <a:headEnd type="none" w="sm" len="sm"/>
            <a:tailEnd type="none" w="sm" len="sm"/>
          </a:ln>
          <a:effectLst/>
        </p:spPr>
        <p:txBody>
          <a:bodyPr wrap="none" lIns="48473" tIns="24236" rIns="48473" bIns="24236" anchor="ctr"/>
          <a:lstStyle/>
          <a:p>
            <a:pPr marL="215900" indent="-215900" defTabSz="508000">
              <a:lnSpc>
                <a:spcPct val="90000"/>
              </a:lnSpc>
              <a:buClr>
                <a:srgbClr val="F6BF69"/>
              </a:buClr>
            </a:pPr>
            <a:endParaRPr lang="zh-CN" altLang="zh-CN" sz="1050">
              <a:effectLst>
                <a:outerShdw blurRad="38100" dist="38100" dir="2700000" algn="tl">
                  <a:srgbClr val="FFFFFF"/>
                </a:outerShdw>
              </a:effectLst>
              <a:latin typeface="+mj-ea"/>
              <a:ea typeface="+mj-ea"/>
            </a:endParaRPr>
          </a:p>
        </p:txBody>
      </p:sp>
      <p:sp>
        <p:nvSpPr>
          <p:cNvPr id="59430" name="Rectangle 38"/>
          <p:cNvSpPr>
            <a:spLocks noChangeArrowheads="1"/>
          </p:cNvSpPr>
          <p:nvPr/>
        </p:nvSpPr>
        <p:spPr bwMode="auto">
          <a:xfrm>
            <a:off x="4034902" y="3597102"/>
            <a:ext cx="820638" cy="511672"/>
          </a:xfrm>
          <a:prstGeom prst="rect">
            <a:avLst/>
          </a:prstGeom>
          <a:solidFill>
            <a:srgbClr val="66FFFF"/>
          </a:solidFill>
          <a:ln w="9525">
            <a:solidFill>
              <a:schemeClr val="bg2"/>
            </a:solidFill>
            <a:miter lim="800000"/>
            <a:headEnd type="none" w="sm" len="sm"/>
            <a:tailEnd type="none" w="sm" len="sm"/>
          </a:ln>
          <a:effectLst/>
        </p:spPr>
        <p:txBody>
          <a:bodyPr wrap="none" lIns="48473" tIns="24236" rIns="48473" bIns="24236" anchor="ctr"/>
          <a:lstStyle/>
          <a:p>
            <a:pPr marL="215900" indent="-215900" defTabSz="508000">
              <a:lnSpc>
                <a:spcPct val="90000"/>
              </a:lnSpc>
              <a:buClr>
                <a:srgbClr val="F6BF69"/>
              </a:buClr>
            </a:pPr>
            <a:r>
              <a:rPr lang="zh-CN" altLang="en-US">
                <a:latin typeface="+mj-ea"/>
                <a:ea typeface="+mj-ea"/>
              </a:rPr>
              <a:t>活动图</a:t>
            </a:r>
            <a:endParaRPr lang="zh-CN" altLang="zh-CN">
              <a:effectLst>
                <a:outerShdw blurRad="38100" dist="38100" dir="2700000" algn="tl">
                  <a:srgbClr val="FFFFFF"/>
                </a:outerShdw>
              </a:effectLst>
              <a:latin typeface="+mj-ea"/>
              <a:ea typeface="+mj-ea"/>
            </a:endParaRPr>
          </a:p>
        </p:txBody>
      </p:sp>
      <p:sp>
        <p:nvSpPr>
          <p:cNvPr id="59431" name="Text Box 39"/>
          <p:cNvSpPr txBox="1">
            <a:spLocks noChangeArrowheads="1"/>
          </p:cNvSpPr>
          <p:nvPr/>
        </p:nvSpPr>
        <p:spPr bwMode="auto">
          <a:xfrm>
            <a:off x="1901600" y="928911"/>
            <a:ext cx="184731" cy="261610"/>
          </a:xfrm>
          <a:prstGeom prst="rect">
            <a:avLst/>
          </a:prstGeom>
          <a:noFill/>
          <a:ln w="12700">
            <a:noFill/>
            <a:miter lim="800000"/>
            <a:headEnd type="none" w="sm" len="sm"/>
            <a:tailEnd type="none" w="lg" len="lg"/>
          </a:ln>
          <a:effectLst/>
        </p:spPr>
        <p:txBody>
          <a:bodyPr wrap="none">
            <a:spAutoFit/>
          </a:bodyPr>
          <a:lstStyle/>
          <a:p>
            <a:pPr algn="l"/>
            <a:endParaRPr lang="zh-CN" altLang="zh-CN" sz="1100">
              <a:latin typeface="+mj-ea"/>
              <a:ea typeface="+mj-ea"/>
            </a:endParaRPr>
          </a:p>
        </p:txBody>
      </p:sp>
      <p:grpSp>
        <p:nvGrpSpPr>
          <p:cNvPr id="2" name="Group 40"/>
          <p:cNvGrpSpPr/>
          <p:nvPr/>
        </p:nvGrpSpPr>
        <p:grpSpPr bwMode="auto">
          <a:xfrm>
            <a:off x="4042046" y="2426420"/>
            <a:ext cx="809030" cy="828675"/>
            <a:chOff x="2445" y="2129"/>
            <a:chExt cx="906" cy="928"/>
          </a:xfrm>
        </p:grpSpPr>
        <p:sp>
          <p:nvSpPr>
            <p:cNvPr id="59433" name="AutoShape 41"/>
            <p:cNvSpPr>
              <a:spLocks noChangeArrowheads="1"/>
            </p:cNvSpPr>
            <p:nvPr/>
          </p:nvSpPr>
          <p:spPr bwMode="auto">
            <a:xfrm>
              <a:off x="2445" y="2129"/>
              <a:ext cx="807" cy="753"/>
            </a:xfrm>
            <a:prstGeom prst="can">
              <a:avLst>
                <a:gd name="adj" fmla="val 39255"/>
              </a:avLst>
            </a:prstGeom>
            <a:solidFill>
              <a:srgbClr val="FFFF99"/>
            </a:solidFill>
            <a:ln w="9525">
              <a:solidFill>
                <a:schemeClr val="bg2"/>
              </a:solidFill>
              <a:round/>
            </a:ln>
            <a:effectLst/>
          </p:spPr>
          <p:txBody>
            <a:bodyPr wrap="none" lIns="60722" tIns="30361" rIns="60722" bIns="30361" anchor="ctr"/>
            <a:lstStyle/>
            <a:p>
              <a:endParaRPr lang="zh-CN" altLang="en-US" sz="1100">
                <a:latin typeface="+mj-ea"/>
                <a:ea typeface="+mj-ea"/>
              </a:endParaRPr>
            </a:p>
          </p:txBody>
        </p:sp>
        <p:sp>
          <p:nvSpPr>
            <p:cNvPr id="59434" name="AutoShape 42"/>
            <p:cNvSpPr>
              <a:spLocks noChangeArrowheads="1"/>
            </p:cNvSpPr>
            <p:nvPr/>
          </p:nvSpPr>
          <p:spPr bwMode="auto">
            <a:xfrm>
              <a:off x="2496" y="2208"/>
              <a:ext cx="807" cy="753"/>
            </a:xfrm>
            <a:prstGeom prst="can">
              <a:avLst>
                <a:gd name="adj" fmla="val 39255"/>
              </a:avLst>
            </a:prstGeom>
            <a:solidFill>
              <a:srgbClr val="FFFF99"/>
            </a:solidFill>
            <a:ln w="9525">
              <a:solidFill>
                <a:schemeClr val="bg2"/>
              </a:solidFill>
              <a:round/>
            </a:ln>
            <a:effectLst/>
          </p:spPr>
          <p:txBody>
            <a:bodyPr wrap="none" lIns="60722" tIns="30361" rIns="60722" bIns="30361" anchor="ctr"/>
            <a:lstStyle/>
            <a:p>
              <a:endParaRPr lang="zh-CN" altLang="en-US" sz="1100">
                <a:latin typeface="+mj-ea"/>
                <a:ea typeface="+mj-ea"/>
              </a:endParaRPr>
            </a:p>
          </p:txBody>
        </p:sp>
        <p:sp>
          <p:nvSpPr>
            <p:cNvPr id="59435" name="AutoShape 43"/>
            <p:cNvSpPr>
              <a:spLocks noChangeArrowheads="1"/>
            </p:cNvSpPr>
            <p:nvPr/>
          </p:nvSpPr>
          <p:spPr bwMode="auto">
            <a:xfrm>
              <a:off x="2544" y="2304"/>
              <a:ext cx="807" cy="753"/>
            </a:xfrm>
            <a:prstGeom prst="can">
              <a:avLst>
                <a:gd name="adj" fmla="val 39255"/>
              </a:avLst>
            </a:prstGeom>
            <a:solidFill>
              <a:srgbClr val="FFFF99"/>
            </a:solidFill>
            <a:ln w="9525">
              <a:solidFill>
                <a:schemeClr val="bg2"/>
              </a:solidFill>
              <a:round/>
            </a:ln>
            <a:effectLst/>
          </p:spPr>
          <p:txBody>
            <a:bodyPr wrap="none" lIns="60722" tIns="30361" rIns="60722" bIns="30361" anchor="ctr"/>
            <a:lstStyle/>
            <a:p>
              <a:endParaRPr lang="zh-CN" altLang="en-US" sz="1100">
                <a:latin typeface="+mj-ea"/>
                <a:ea typeface="+mj-ea"/>
              </a:endParaRPr>
            </a:p>
          </p:txBody>
        </p:sp>
      </p:grpSp>
      <p:sp>
        <p:nvSpPr>
          <p:cNvPr id="59436" name="Rectangle 44"/>
          <p:cNvSpPr>
            <a:spLocks noChangeArrowheads="1"/>
          </p:cNvSpPr>
          <p:nvPr/>
        </p:nvSpPr>
        <p:spPr bwMode="auto">
          <a:xfrm>
            <a:off x="4172164" y="2919764"/>
            <a:ext cx="742993" cy="282914"/>
          </a:xfrm>
          <a:prstGeom prst="rect">
            <a:avLst/>
          </a:prstGeom>
          <a:noFill/>
          <a:ln w="9525">
            <a:noFill/>
            <a:miter lim="800000"/>
          </a:ln>
          <a:effectLst/>
        </p:spPr>
        <p:txBody>
          <a:bodyPr wrap="none" lIns="60722" tIns="30361" rIns="60722" bIns="30361">
            <a:spAutoFit/>
          </a:bodyPr>
          <a:lstStyle/>
          <a:p>
            <a:pPr algn="l">
              <a:lnSpc>
                <a:spcPct val="90000"/>
              </a:lnSpc>
              <a:buClr>
                <a:srgbClr val="F6BF69"/>
              </a:buClr>
              <a:buFont typeface="Monotype Sorts" pitchFamily="2" charset="2"/>
              <a:buNone/>
            </a:pPr>
            <a:r>
              <a:rPr lang="zh-CN" altLang="en-US" sz="1600" dirty="0">
                <a:latin typeface="+mj-ea"/>
                <a:ea typeface="+mj-ea"/>
              </a:rPr>
              <a:t>模型库</a:t>
            </a:r>
            <a:endParaRPr lang="zh-CN" altLang="zh-CN" sz="1600" dirty="0">
              <a:latin typeface="+mj-ea"/>
              <a:ea typeface="+mj-ea"/>
            </a:endParaRPr>
          </a:p>
        </p:txBody>
      </p:sp>
      <p:grpSp>
        <p:nvGrpSpPr>
          <p:cNvPr id="3" name="Group 51"/>
          <p:cNvGrpSpPr/>
          <p:nvPr/>
        </p:nvGrpSpPr>
        <p:grpSpPr bwMode="auto">
          <a:xfrm>
            <a:off x="4473349" y="1039640"/>
            <a:ext cx="3328989" cy="1414462"/>
            <a:chOff x="2928" y="576"/>
            <a:chExt cx="3728" cy="1584"/>
          </a:xfrm>
        </p:grpSpPr>
        <p:sp>
          <p:nvSpPr>
            <p:cNvPr id="59440" name="Oval 48"/>
            <p:cNvSpPr>
              <a:spLocks noChangeArrowheads="1"/>
            </p:cNvSpPr>
            <p:nvPr/>
          </p:nvSpPr>
          <p:spPr bwMode="auto">
            <a:xfrm>
              <a:off x="2928" y="576"/>
              <a:ext cx="2352" cy="1584"/>
            </a:xfrm>
            <a:prstGeom prst="ellipse">
              <a:avLst/>
            </a:prstGeom>
            <a:noFill/>
            <a:ln w="57150" algn="ctr">
              <a:solidFill>
                <a:srgbClr val="FF0000"/>
              </a:solidFill>
              <a:round/>
            </a:ln>
            <a:effectLst/>
          </p:spPr>
          <p:txBody>
            <a:bodyPr wrap="none" lIns="60722" tIns="30361" rIns="60722" bIns="30361" anchor="ctr"/>
            <a:lstStyle/>
            <a:p>
              <a:endParaRPr lang="zh-CN" altLang="zh-CN" sz="1600">
                <a:latin typeface="+mj-ea"/>
                <a:ea typeface="+mj-ea"/>
              </a:endParaRPr>
            </a:p>
          </p:txBody>
        </p:sp>
        <p:sp>
          <p:nvSpPr>
            <p:cNvPr id="59442" name="Text Box 50"/>
            <p:cNvSpPr txBox="1">
              <a:spLocks noChangeArrowheads="1"/>
            </p:cNvSpPr>
            <p:nvPr/>
          </p:nvSpPr>
          <p:spPr bwMode="auto">
            <a:xfrm>
              <a:off x="5514" y="1008"/>
              <a:ext cx="1142" cy="452"/>
            </a:xfrm>
            <a:prstGeom prst="rect">
              <a:avLst/>
            </a:prstGeom>
            <a:noFill/>
            <a:ln w="57150" algn="ctr">
              <a:noFill/>
              <a:miter lim="800000"/>
            </a:ln>
            <a:effectLst/>
          </p:spPr>
          <p:txBody>
            <a:bodyPr wrap="none" lIns="60722" tIns="30361" rIns="60722" bIns="30361" anchor="ctr"/>
            <a:lstStyle/>
            <a:p>
              <a:r>
                <a:rPr lang="zh-CN" altLang="en-US" sz="2000" dirty="0">
                  <a:solidFill>
                    <a:srgbClr val="FF0000"/>
                  </a:solidFill>
                  <a:latin typeface="+mj-ea"/>
                  <a:ea typeface="+mj-ea"/>
                </a:rPr>
                <a:t>静态图</a:t>
              </a:r>
              <a:endParaRPr lang="zh-CN" altLang="en-US" sz="2000" dirty="0">
                <a:solidFill>
                  <a:srgbClr val="FF0000"/>
                </a:solidFill>
                <a:latin typeface="+mj-ea"/>
                <a:ea typeface="+mj-ea"/>
              </a:endParaRPr>
            </a:p>
          </p:txBody>
        </p:sp>
      </p:grpSp>
      <p:sp>
        <p:nvSpPr>
          <p:cNvPr id="59444" name="Oval 52"/>
          <p:cNvSpPr>
            <a:spLocks noChangeArrowheads="1"/>
          </p:cNvSpPr>
          <p:nvPr/>
        </p:nvSpPr>
        <p:spPr bwMode="auto">
          <a:xfrm>
            <a:off x="3401786" y="1425402"/>
            <a:ext cx="1071563" cy="900113"/>
          </a:xfrm>
          <a:prstGeom prst="ellipse">
            <a:avLst/>
          </a:prstGeom>
          <a:noFill/>
          <a:ln w="57150" algn="ctr">
            <a:solidFill>
              <a:srgbClr val="FF0000"/>
            </a:solidFill>
            <a:round/>
          </a:ln>
          <a:effectLst/>
        </p:spPr>
        <p:txBody>
          <a:bodyPr wrap="none" lIns="60722" tIns="30361" rIns="60722" bIns="30361" anchor="ctr"/>
          <a:lstStyle/>
          <a:p>
            <a:endParaRPr lang="zh-CN" altLang="en-US" sz="1600">
              <a:latin typeface="+mj-ea"/>
              <a:ea typeface="+mj-ea"/>
            </a:endParaRPr>
          </a:p>
        </p:txBody>
      </p:sp>
      <p:grpSp>
        <p:nvGrpSpPr>
          <p:cNvPr id="4" name="Group 60"/>
          <p:cNvGrpSpPr/>
          <p:nvPr/>
        </p:nvGrpSpPr>
        <p:grpSpPr bwMode="auto">
          <a:xfrm>
            <a:off x="1373855" y="3149725"/>
            <a:ext cx="3582590" cy="1157288"/>
            <a:chOff x="-543" y="2939"/>
            <a:chExt cx="4012" cy="1296"/>
          </a:xfrm>
        </p:grpSpPr>
        <p:sp>
          <p:nvSpPr>
            <p:cNvPr id="59445" name="Oval 53"/>
            <p:cNvSpPr>
              <a:spLocks noChangeArrowheads="1"/>
            </p:cNvSpPr>
            <p:nvPr/>
          </p:nvSpPr>
          <p:spPr bwMode="auto">
            <a:xfrm>
              <a:off x="760" y="2939"/>
              <a:ext cx="2709" cy="1296"/>
            </a:xfrm>
            <a:prstGeom prst="ellipse">
              <a:avLst/>
            </a:prstGeom>
            <a:noFill/>
            <a:ln w="57150" algn="ctr">
              <a:solidFill>
                <a:srgbClr val="FF0000"/>
              </a:solidFill>
              <a:round/>
            </a:ln>
            <a:effectLst/>
          </p:spPr>
          <p:txBody>
            <a:bodyPr wrap="none" lIns="60722" tIns="30361" rIns="60722" bIns="30361" anchor="ctr"/>
            <a:lstStyle/>
            <a:p>
              <a:endParaRPr lang="zh-CN" altLang="en-US" sz="1600">
                <a:latin typeface="+mj-ea"/>
                <a:ea typeface="+mj-ea"/>
              </a:endParaRPr>
            </a:p>
          </p:txBody>
        </p:sp>
        <p:sp>
          <p:nvSpPr>
            <p:cNvPr id="59448" name="Text Box 56"/>
            <p:cNvSpPr txBox="1">
              <a:spLocks noChangeArrowheads="1"/>
            </p:cNvSpPr>
            <p:nvPr/>
          </p:nvSpPr>
          <p:spPr bwMode="auto">
            <a:xfrm>
              <a:off x="-543" y="3409"/>
              <a:ext cx="1474" cy="412"/>
            </a:xfrm>
            <a:prstGeom prst="rect">
              <a:avLst/>
            </a:prstGeom>
            <a:noFill/>
            <a:ln w="57150" algn="ctr">
              <a:noFill/>
              <a:miter lim="800000"/>
            </a:ln>
            <a:effectLst/>
          </p:spPr>
          <p:txBody>
            <a:bodyPr wrap="none" lIns="60722" tIns="30361" rIns="60722" bIns="30361" anchor="ctr"/>
            <a:lstStyle/>
            <a:p>
              <a:r>
                <a:rPr lang="zh-CN" altLang="en-US" sz="2000" dirty="0">
                  <a:solidFill>
                    <a:srgbClr val="FF0000"/>
                  </a:solidFill>
                  <a:latin typeface="+mj-ea"/>
                  <a:ea typeface="+mj-ea"/>
                </a:rPr>
                <a:t>行为图</a:t>
              </a:r>
              <a:endParaRPr lang="zh-CN" altLang="en-US" sz="2000" dirty="0">
                <a:solidFill>
                  <a:srgbClr val="FF0000"/>
                </a:solidFill>
                <a:latin typeface="+mj-ea"/>
                <a:ea typeface="+mj-ea"/>
              </a:endParaRPr>
            </a:p>
          </p:txBody>
        </p:sp>
      </p:grpSp>
      <p:grpSp>
        <p:nvGrpSpPr>
          <p:cNvPr id="5" name="Group 61"/>
          <p:cNvGrpSpPr/>
          <p:nvPr/>
        </p:nvGrpSpPr>
        <p:grpSpPr bwMode="auto">
          <a:xfrm>
            <a:off x="1203299" y="1548402"/>
            <a:ext cx="2171699" cy="1678037"/>
            <a:chOff x="-625" y="1332"/>
            <a:chExt cx="2432" cy="1500"/>
          </a:xfrm>
        </p:grpSpPr>
        <p:sp>
          <p:nvSpPr>
            <p:cNvPr id="59446" name="Oval 54"/>
            <p:cNvSpPr>
              <a:spLocks noChangeArrowheads="1"/>
            </p:cNvSpPr>
            <p:nvPr/>
          </p:nvSpPr>
          <p:spPr bwMode="auto">
            <a:xfrm>
              <a:off x="336" y="1387"/>
              <a:ext cx="1471" cy="1445"/>
            </a:xfrm>
            <a:prstGeom prst="ellipse">
              <a:avLst/>
            </a:prstGeom>
            <a:noFill/>
            <a:ln w="57150" algn="ctr">
              <a:solidFill>
                <a:srgbClr val="FF0000"/>
              </a:solidFill>
              <a:round/>
            </a:ln>
            <a:effectLst/>
          </p:spPr>
          <p:txBody>
            <a:bodyPr wrap="none" lIns="60722" tIns="30361" rIns="60722" bIns="30361" anchor="ctr"/>
            <a:lstStyle/>
            <a:p>
              <a:endParaRPr lang="zh-CN" altLang="en-US" sz="1600">
                <a:latin typeface="+mj-ea"/>
                <a:ea typeface="+mj-ea"/>
              </a:endParaRPr>
            </a:p>
          </p:txBody>
        </p:sp>
        <p:sp>
          <p:nvSpPr>
            <p:cNvPr id="59449" name="Text Box 57"/>
            <p:cNvSpPr txBox="1">
              <a:spLocks noChangeArrowheads="1"/>
            </p:cNvSpPr>
            <p:nvPr/>
          </p:nvSpPr>
          <p:spPr bwMode="auto">
            <a:xfrm>
              <a:off x="-625" y="1332"/>
              <a:ext cx="712" cy="298"/>
            </a:xfrm>
            <a:prstGeom prst="rect">
              <a:avLst/>
            </a:prstGeom>
            <a:noFill/>
            <a:ln w="57150" algn="ctr">
              <a:noFill/>
              <a:miter lim="800000"/>
            </a:ln>
            <a:effectLst/>
          </p:spPr>
          <p:txBody>
            <a:bodyPr wrap="none" lIns="60722" tIns="30361" rIns="60722" bIns="30361" anchor="ctr"/>
            <a:lstStyle/>
            <a:p>
              <a:r>
                <a:rPr lang="zh-CN" altLang="en-US" sz="2000" dirty="0">
                  <a:solidFill>
                    <a:srgbClr val="FF0000"/>
                  </a:solidFill>
                  <a:latin typeface="+mj-ea"/>
                  <a:ea typeface="+mj-ea"/>
                </a:rPr>
                <a:t>交互图</a:t>
              </a:r>
              <a:endParaRPr lang="zh-CN" altLang="en-US" sz="2000" dirty="0">
                <a:solidFill>
                  <a:srgbClr val="FF0000"/>
                </a:solidFill>
                <a:latin typeface="+mj-ea"/>
                <a:ea typeface="+mj-ea"/>
              </a:endParaRPr>
            </a:p>
          </p:txBody>
        </p:sp>
      </p:grpSp>
      <p:grpSp>
        <p:nvGrpSpPr>
          <p:cNvPr id="6" name="Group 59"/>
          <p:cNvGrpSpPr/>
          <p:nvPr/>
        </p:nvGrpSpPr>
        <p:grpSpPr bwMode="auto">
          <a:xfrm>
            <a:off x="4861793" y="2465711"/>
            <a:ext cx="2853986" cy="1557268"/>
            <a:chOff x="3984" y="2496"/>
            <a:chExt cx="2355" cy="1396"/>
          </a:xfrm>
        </p:grpSpPr>
        <p:sp>
          <p:nvSpPr>
            <p:cNvPr id="59447" name="Oval 55"/>
            <p:cNvSpPr>
              <a:spLocks noChangeArrowheads="1"/>
            </p:cNvSpPr>
            <p:nvPr/>
          </p:nvSpPr>
          <p:spPr bwMode="auto">
            <a:xfrm>
              <a:off x="3984" y="2496"/>
              <a:ext cx="1584" cy="1396"/>
            </a:xfrm>
            <a:prstGeom prst="ellipse">
              <a:avLst/>
            </a:prstGeom>
            <a:noFill/>
            <a:ln w="57150" algn="ctr">
              <a:solidFill>
                <a:srgbClr val="FF0000"/>
              </a:solidFill>
              <a:round/>
            </a:ln>
            <a:effectLst/>
          </p:spPr>
          <p:txBody>
            <a:bodyPr wrap="none" lIns="60722" tIns="30361" rIns="60722" bIns="30361" anchor="ctr"/>
            <a:lstStyle/>
            <a:p>
              <a:endParaRPr lang="zh-CN" altLang="en-US" sz="1600">
                <a:latin typeface="+mj-ea"/>
                <a:ea typeface="+mj-ea"/>
              </a:endParaRPr>
            </a:p>
          </p:txBody>
        </p:sp>
        <p:sp>
          <p:nvSpPr>
            <p:cNvPr id="59450" name="Text Box 58"/>
            <p:cNvSpPr txBox="1">
              <a:spLocks noChangeArrowheads="1"/>
            </p:cNvSpPr>
            <p:nvPr/>
          </p:nvSpPr>
          <p:spPr bwMode="auto">
            <a:xfrm>
              <a:off x="5627" y="3467"/>
              <a:ext cx="712" cy="298"/>
            </a:xfrm>
            <a:prstGeom prst="rect">
              <a:avLst/>
            </a:prstGeom>
            <a:noFill/>
            <a:ln w="57150" algn="ctr">
              <a:noFill/>
              <a:miter lim="800000"/>
            </a:ln>
            <a:effectLst/>
          </p:spPr>
          <p:txBody>
            <a:bodyPr wrap="none" lIns="60722" tIns="30361" rIns="60722" bIns="30361" anchor="ctr"/>
            <a:lstStyle/>
            <a:p>
              <a:r>
                <a:rPr lang="zh-CN" altLang="en-US" sz="2000" dirty="0">
                  <a:solidFill>
                    <a:srgbClr val="FF0000"/>
                  </a:solidFill>
                  <a:latin typeface="+mj-ea"/>
                  <a:ea typeface="+mj-ea"/>
                </a:rPr>
                <a:t>实现图</a:t>
              </a:r>
              <a:endParaRPr lang="zh-CN" altLang="en-US" sz="2000" dirty="0">
                <a:solidFill>
                  <a:srgbClr val="FF0000"/>
                </a:solidFill>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4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44" grpId="0" bldLvl="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zh-CN" dirty="0"/>
              <a:t>UML</a:t>
            </a:r>
            <a:r>
              <a:rPr lang="zh-CN" altLang="en-US" dirty="0"/>
              <a:t>的图形</a:t>
            </a:r>
            <a:endParaRPr lang="zh-CN" altLang="en-US" dirty="0"/>
          </a:p>
        </p:txBody>
      </p:sp>
      <p:sp>
        <p:nvSpPr>
          <p:cNvPr id="2" name="内容占位符 1"/>
          <p:cNvSpPr>
            <a:spLocks noGrp="1"/>
          </p:cNvSpPr>
          <p:nvPr>
            <p:ph idx="1"/>
          </p:nvPr>
        </p:nvSpPr>
        <p:spPr/>
        <p:txBody>
          <a:bodyPr/>
          <a:lstStyle/>
          <a:p>
            <a:endParaRPr lang="zh-CN" altLang="en-US"/>
          </a:p>
        </p:txBody>
      </p:sp>
      <p:sp>
        <p:nvSpPr>
          <p:cNvPr id="10" name="日期占位符 9"/>
          <p:cNvSpPr>
            <a:spLocks noGrp="1"/>
          </p:cNvSpPr>
          <p:nvPr>
            <p:ph type="dt" sz="half" idx="10"/>
          </p:nvPr>
        </p:nvSpPr>
        <p:spPr/>
        <p:txBody>
          <a:bodyPr/>
          <a:lstStyle/>
          <a:p>
            <a:fld id="{39CB50EB-CDDD-4975-B1B5-A362A2152758}" type="datetime1">
              <a:rPr lang="zh-CN" altLang="en-US" smtClean="0"/>
            </a:fld>
            <a:endParaRPr lang="zh-CN" altLang="en-US" dirty="0"/>
          </a:p>
        </p:txBody>
      </p:sp>
      <p:sp>
        <p:nvSpPr>
          <p:cNvPr id="11" name="页脚占位符 10"/>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5" name="Group 70"/>
          <p:cNvGraphicFramePr>
            <a:graphicFrameLocks noGrp="1"/>
          </p:cNvGraphicFramePr>
          <p:nvPr/>
        </p:nvGraphicFramePr>
        <p:xfrm>
          <a:off x="3337877" y="79250"/>
          <a:ext cx="5685504" cy="4794860"/>
        </p:xfrm>
        <a:graphic>
          <a:graphicData uri="http://schemas.openxmlformats.org/drawingml/2006/table">
            <a:tbl>
              <a:tblPr>
                <a:tableStyleId>{5DA37D80-6434-44D0-A028-1B22A696006F}</a:tableStyleId>
              </a:tblPr>
              <a:tblGrid>
                <a:gridCol w="464574"/>
                <a:gridCol w="521432"/>
                <a:gridCol w="2022502"/>
                <a:gridCol w="2676996"/>
              </a:tblGrid>
              <a:tr h="25022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类型</a:t>
                      </a:r>
                      <a:endParaRPr kumimoji="0" lang="zh-CN" altLang="en-US" sz="14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36095" marR="36095" marT="0" marB="0" anchor="ctr" horzOverflow="overflow">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用途</a:t>
                      </a:r>
                      <a:endParaRPr kumimoji="0" lang="zh-CN" altLang="en-US" sz="14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36095" marR="36095" marT="0" marB="0" anchor="ctr" horzOverflow="overflow">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图形</a:t>
                      </a:r>
                      <a:r>
                        <a:rPr kumimoji="0" lang="en-US" altLang="zh-CN" sz="1400" u="none" strike="noStrike" cap="none" normalizeH="0" baseline="0" dirty="0">
                          <a:ln>
                            <a:noFill/>
                          </a:ln>
                          <a:effectLst/>
                          <a:latin typeface="+mj-ea"/>
                          <a:ea typeface="+mj-ea"/>
                        </a:rPr>
                        <a:t>(Diagram)</a:t>
                      </a:r>
                      <a:r>
                        <a:rPr kumimoji="0" lang="zh-CN" altLang="en-US" sz="1400" u="none" strike="noStrike" cap="none" normalizeH="0" baseline="0" dirty="0">
                          <a:ln>
                            <a:noFill/>
                          </a:ln>
                          <a:effectLst/>
                          <a:latin typeface="+mj-ea"/>
                          <a:ea typeface="+mj-ea"/>
                        </a:rPr>
                        <a:t>名称</a:t>
                      </a:r>
                      <a:endParaRPr kumimoji="0" lang="zh-CN" altLang="en-US" sz="14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36095" marR="36095" marT="0" marB="0" anchor="ctr" horzOverflow="overflow">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作用</a:t>
                      </a:r>
                      <a:endParaRPr kumimoji="0" lang="zh-CN" altLang="en-US" sz="14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36095" marR="36095" marT="0" marB="0" anchor="ctr" horzOverflow="overflow">
                    <a:solidFill>
                      <a:schemeClr val="bg1"/>
                    </a:solidFill>
                  </a:tcPr>
                </a:tc>
              </a:tr>
              <a:tr h="205740">
                <a:tc rowSpan="6">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1400"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静</a:t>
                      </a:r>
                      <a:endParaRPr kumimoji="0" lang="zh-CN" altLang="en-US" sz="1400"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态</a:t>
                      </a:r>
                      <a:endParaRPr kumimoji="0" lang="zh-CN" altLang="en-US" sz="1400"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建</a:t>
                      </a:r>
                      <a:endParaRPr kumimoji="0" lang="zh-CN" altLang="en-US" sz="1400"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模</a:t>
                      </a:r>
                      <a:endParaRPr kumimoji="0" lang="zh-CN" altLang="en-US" sz="14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36095" marR="36095" marT="0" marB="0" horzOverflow="overflow">
                    <a:solidFill>
                      <a:schemeClr val="bg1"/>
                    </a:solidFill>
                  </a:tcPr>
                </a:tc>
                <a:tc row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领</a:t>
                      </a:r>
                      <a:endParaRPr kumimoji="0" lang="zh-CN" altLang="en-US" sz="1400"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域</a:t>
                      </a:r>
                      <a:endParaRPr kumimoji="0" lang="zh-CN" altLang="en-US" sz="1400"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模</a:t>
                      </a:r>
                      <a:endParaRPr kumimoji="0" lang="zh-CN" altLang="en-US" sz="1400"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型</a:t>
                      </a:r>
                      <a:endParaRPr kumimoji="0" lang="zh-CN" altLang="en-US" sz="14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36095" marR="36095" marT="0" marB="0" anchor="ctr" horzOverflow="overflow">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用例图</a:t>
                      </a:r>
                      <a:r>
                        <a:rPr kumimoji="0" lang="zh-CN" altLang="zh-CN" sz="1400" u="none" strike="noStrike" cap="none" normalizeH="0" baseline="0" dirty="0">
                          <a:ln>
                            <a:noFill/>
                          </a:ln>
                          <a:effectLst/>
                          <a:latin typeface="+mj-ea"/>
                          <a:ea typeface="+mj-ea"/>
                        </a:rPr>
                        <a:t>(</a:t>
                      </a:r>
                      <a:r>
                        <a:rPr kumimoji="0" lang="en-US" altLang="zh-CN" sz="1400" u="none" strike="noStrike" cap="none" normalizeH="0" baseline="0" dirty="0">
                          <a:ln>
                            <a:noFill/>
                          </a:ln>
                          <a:effectLst/>
                          <a:latin typeface="+mj-ea"/>
                          <a:ea typeface="+mj-ea"/>
                        </a:rPr>
                        <a:t>Use Case</a:t>
                      </a:r>
                      <a:r>
                        <a:rPr kumimoji="0" lang="zh-CN" altLang="zh-CN" sz="1400" u="none" strike="noStrike" cap="none" normalizeH="0" baseline="0" dirty="0">
                          <a:ln>
                            <a:noFill/>
                          </a:ln>
                          <a:effectLst/>
                          <a:latin typeface="+mj-ea"/>
                          <a:ea typeface="+mj-ea"/>
                        </a:rPr>
                        <a:t>)</a:t>
                      </a:r>
                      <a:endParaRPr kumimoji="0" lang="zh-CN" altLang="zh-CN" sz="1400" b="0" i="0" u="none" strike="noStrike" cap="none" normalizeH="0" baseline="0" dirty="0">
                        <a:ln>
                          <a:noFill/>
                        </a:ln>
                        <a:solidFill>
                          <a:schemeClr val="tx1"/>
                        </a:solidFill>
                        <a:effectLst/>
                        <a:latin typeface="+mj-ea"/>
                        <a:ea typeface="+mj-ea"/>
                      </a:endParaRPr>
                    </a:p>
                  </a:txBody>
                  <a:tcPr marL="36095" marR="36095" marT="0" marB="0" anchor="ctr" horzOverflow="overflow">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描述系统参与者与领域问题的功能</a:t>
                      </a:r>
                      <a:endParaRPr kumimoji="0" lang="zh-CN" altLang="en-US" sz="1400" b="0" i="0" u="none" strike="noStrike" cap="none" normalizeH="0" baseline="0" dirty="0">
                        <a:ln>
                          <a:noFill/>
                        </a:ln>
                        <a:solidFill>
                          <a:schemeClr val="tx1"/>
                        </a:solidFill>
                        <a:effectLst/>
                        <a:latin typeface="+mj-ea"/>
                        <a:ea typeface="+mj-ea"/>
                      </a:endParaRPr>
                    </a:p>
                  </a:txBody>
                  <a:tcPr marL="36095" marR="36095" marT="0" marB="0" horzOverflow="overflow">
                    <a:solidFill>
                      <a:schemeClr val="bg1"/>
                    </a:solidFill>
                  </a:tcPr>
                </a:tc>
              </a:tr>
              <a:tr h="411480">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类图</a:t>
                      </a:r>
                      <a:r>
                        <a:rPr kumimoji="0" lang="zh-CN" altLang="zh-CN" sz="1400" u="none" strike="noStrike" cap="none" normalizeH="0" baseline="0" dirty="0">
                          <a:ln>
                            <a:noFill/>
                          </a:ln>
                          <a:effectLst/>
                          <a:latin typeface="+mj-ea"/>
                          <a:ea typeface="+mj-ea"/>
                        </a:rPr>
                        <a:t>(</a:t>
                      </a:r>
                      <a:r>
                        <a:rPr kumimoji="0" lang="en-US" altLang="zh-CN" sz="1400" u="none" strike="noStrike" cap="none" normalizeH="0" baseline="0" dirty="0">
                          <a:ln>
                            <a:noFill/>
                          </a:ln>
                          <a:effectLst/>
                          <a:latin typeface="+mj-ea"/>
                          <a:ea typeface="+mj-ea"/>
                        </a:rPr>
                        <a:t>Class</a:t>
                      </a:r>
                      <a:r>
                        <a:rPr kumimoji="0" lang="zh-CN" altLang="zh-CN" sz="1400" u="none" strike="noStrike" cap="none" normalizeH="0" baseline="0" dirty="0">
                          <a:ln>
                            <a:noFill/>
                          </a:ln>
                          <a:effectLst/>
                          <a:latin typeface="+mj-ea"/>
                          <a:ea typeface="+mj-ea"/>
                        </a:rPr>
                        <a:t>)</a:t>
                      </a:r>
                      <a:endParaRPr kumimoji="0" lang="zh-CN" altLang="zh-CN" sz="1400" b="0" i="0" u="none" strike="noStrike" cap="none" normalizeH="0" baseline="0" dirty="0">
                        <a:ln>
                          <a:noFill/>
                        </a:ln>
                        <a:solidFill>
                          <a:schemeClr val="tx1"/>
                        </a:solidFill>
                        <a:effectLst/>
                        <a:latin typeface="+mj-ea"/>
                        <a:ea typeface="+mj-ea"/>
                      </a:endParaRPr>
                    </a:p>
                  </a:txBody>
                  <a:tcPr marL="36095" marR="36095" marT="0" marB="0" anchor="ctr" horzOverflow="overflow">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描述系统的逻辑结构，类、接口及它们的协作关系</a:t>
                      </a:r>
                      <a:endParaRPr kumimoji="0" lang="zh-CN" altLang="en-US" sz="14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36095" marR="36095" marT="0" marB="0" horzOverflow="overflow">
                    <a:solidFill>
                      <a:schemeClr val="bg1"/>
                    </a:solidFill>
                  </a:tcPr>
                </a:tc>
              </a:tr>
              <a:tr h="205740">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包图</a:t>
                      </a:r>
                      <a:r>
                        <a:rPr kumimoji="0" lang="en-US" altLang="zh-CN" sz="1400" u="none" strike="noStrike" cap="none" normalizeH="0" baseline="0" dirty="0">
                          <a:ln>
                            <a:noFill/>
                          </a:ln>
                          <a:effectLst/>
                          <a:latin typeface="+mj-ea"/>
                          <a:ea typeface="+mj-ea"/>
                        </a:rPr>
                        <a:t>(Package )</a:t>
                      </a:r>
                      <a:endParaRPr kumimoji="0" lang="zh-CN" altLang="zh-CN" sz="14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36095" marR="36095" marT="0" marB="0" anchor="ctr" horzOverflow="overflow">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描述类的复用组织</a:t>
                      </a:r>
                      <a:r>
                        <a:rPr kumimoji="0" lang="en-US" altLang="zh-CN" sz="1400" u="none" strike="noStrike" cap="none" normalizeH="0" baseline="0" dirty="0">
                          <a:ln>
                            <a:noFill/>
                          </a:ln>
                          <a:effectLst/>
                          <a:latin typeface="+mj-ea"/>
                          <a:ea typeface="+mj-ea"/>
                        </a:rPr>
                        <a:t>—</a:t>
                      </a:r>
                      <a:r>
                        <a:rPr kumimoji="0" lang="zh-CN" altLang="en-US" sz="1400" u="none" strike="noStrike" cap="none" normalizeH="0" baseline="0" dirty="0">
                          <a:ln>
                            <a:noFill/>
                          </a:ln>
                          <a:effectLst/>
                          <a:latin typeface="+mj-ea"/>
                          <a:ea typeface="+mj-ea"/>
                        </a:rPr>
                        <a:t>分组</a:t>
                      </a:r>
                      <a:endParaRPr kumimoji="0" lang="zh-CN" altLang="en-US" sz="14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36095" marR="36095" marT="0" marB="0" horzOverflow="overflow">
                    <a:solidFill>
                      <a:schemeClr val="bg1"/>
                    </a:solidFill>
                  </a:tcPr>
                </a:tc>
              </a:tr>
              <a:tr h="264335">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对象图</a:t>
                      </a:r>
                      <a:r>
                        <a:rPr kumimoji="0" lang="zh-CN" altLang="zh-CN" sz="1400" u="none" strike="noStrike" cap="none" normalizeH="0" baseline="0" dirty="0">
                          <a:ln>
                            <a:noFill/>
                          </a:ln>
                          <a:effectLst/>
                          <a:latin typeface="+mj-ea"/>
                          <a:ea typeface="+mj-ea"/>
                        </a:rPr>
                        <a:t>(</a:t>
                      </a:r>
                      <a:r>
                        <a:rPr kumimoji="0" lang="en-US" altLang="zh-CN" sz="1400" u="none" strike="noStrike" cap="none" normalizeH="0" baseline="0" dirty="0">
                          <a:ln>
                            <a:noFill/>
                          </a:ln>
                          <a:effectLst/>
                          <a:latin typeface="+mj-ea"/>
                          <a:ea typeface="+mj-ea"/>
                        </a:rPr>
                        <a:t>Object</a:t>
                      </a:r>
                      <a:r>
                        <a:rPr kumimoji="0" lang="zh-CN" altLang="zh-CN" sz="1400" u="none" strike="noStrike" cap="none" normalizeH="0" baseline="0" dirty="0">
                          <a:ln>
                            <a:noFill/>
                          </a:ln>
                          <a:effectLst/>
                          <a:latin typeface="+mj-ea"/>
                          <a:ea typeface="+mj-ea"/>
                        </a:rPr>
                        <a:t>)</a:t>
                      </a:r>
                      <a:endParaRPr kumimoji="0" lang="zh-CN" altLang="zh-CN" sz="1400" b="0" i="0" u="none" strike="noStrike" cap="none" normalizeH="0" baseline="0" dirty="0">
                        <a:ln>
                          <a:noFill/>
                        </a:ln>
                        <a:solidFill>
                          <a:schemeClr val="tx1"/>
                        </a:solidFill>
                        <a:effectLst/>
                        <a:latin typeface="+mj-ea"/>
                        <a:ea typeface="+mj-ea"/>
                      </a:endParaRPr>
                    </a:p>
                  </a:txBody>
                  <a:tcPr marL="36095" marR="36095" marT="0" marB="0" anchor="ctr" horzOverflow="overflow">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描述类的实例在某时刻的关系</a:t>
                      </a:r>
                      <a:endParaRPr kumimoji="0" lang="zh-CN" altLang="en-US" sz="14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36095" marR="36095" marT="0" marB="0" horzOverflow="overflow">
                    <a:solidFill>
                      <a:schemeClr val="bg1"/>
                    </a:solidFill>
                  </a:tcPr>
                </a:tc>
              </a:tr>
              <a:tr h="402456">
                <a:tc vMerge="1">
                  <a:tcPr/>
                </a:tc>
                <a:tc rowSpan="2">
                  <a:txBody>
                    <a:bodyPr/>
                    <a:lstStyle/>
                    <a:p>
                      <a:pPr marL="0" marR="0" lvl="0" indent="0" algn="ctr" defTabSz="914400" rtl="0" eaLnBrk="1" fontAlgn="base" latinLnBrk="0" hangingPunct="1">
                        <a:lnSpc>
                          <a:spcPts val="1000"/>
                        </a:lnSpc>
                        <a:spcBef>
                          <a:spcPct val="0"/>
                        </a:spcBef>
                        <a:spcAft>
                          <a:spcPct val="0"/>
                        </a:spcAft>
                        <a:buClrTx/>
                        <a:buSzTx/>
                        <a:buFontTx/>
                        <a:buNone/>
                      </a:pPr>
                      <a:endParaRPr kumimoji="0" lang="en-US" altLang="zh-CN" sz="1400" u="none" strike="noStrike" cap="none" normalizeH="0" baseline="0" dirty="0">
                        <a:ln>
                          <a:noFill/>
                        </a:ln>
                        <a:effectLst/>
                        <a:latin typeface="+mj-ea"/>
                        <a:ea typeface="+mj-ea"/>
                      </a:endParaRPr>
                    </a:p>
                    <a:p>
                      <a:pPr marL="0" marR="0" lvl="0" indent="0" algn="ctr" defTabSz="914400" rtl="0" eaLnBrk="1" fontAlgn="base" latinLnBrk="0" hangingPunct="1">
                        <a:lnSpc>
                          <a:spcPts val="1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系</a:t>
                      </a:r>
                      <a:endParaRPr kumimoji="0" lang="en-US" altLang="zh-CN" sz="1400" u="none" strike="noStrike" cap="none" normalizeH="0" baseline="0" dirty="0">
                        <a:ln>
                          <a:noFill/>
                        </a:ln>
                        <a:effectLst/>
                        <a:latin typeface="+mj-ea"/>
                        <a:ea typeface="+mj-ea"/>
                      </a:endParaRPr>
                    </a:p>
                    <a:p>
                      <a:pPr marL="0" marR="0" lvl="0" indent="0" algn="ctr" defTabSz="914400" rtl="0" eaLnBrk="1" fontAlgn="base" latinLnBrk="0" hangingPunct="1">
                        <a:lnSpc>
                          <a:spcPts val="1000"/>
                        </a:lnSpc>
                        <a:spcBef>
                          <a:spcPct val="0"/>
                        </a:spcBef>
                        <a:spcAft>
                          <a:spcPct val="0"/>
                        </a:spcAft>
                        <a:buClrTx/>
                        <a:buSzTx/>
                        <a:buFontTx/>
                        <a:buNone/>
                      </a:pPr>
                      <a:endParaRPr kumimoji="0" lang="zh-CN" altLang="en-US" sz="1400" u="none" strike="noStrike" cap="none" normalizeH="0" baseline="0" dirty="0">
                        <a:ln>
                          <a:noFill/>
                        </a:ln>
                        <a:effectLst/>
                        <a:latin typeface="+mj-ea"/>
                        <a:ea typeface="+mj-ea"/>
                      </a:endParaRPr>
                    </a:p>
                    <a:p>
                      <a:pPr marL="0" marR="0" lvl="0" indent="0" algn="ctr" defTabSz="914400" rtl="0" eaLnBrk="1" fontAlgn="base" latinLnBrk="0" hangingPunct="1">
                        <a:lnSpc>
                          <a:spcPts val="1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统</a:t>
                      </a:r>
                      <a:endParaRPr kumimoji="0" lang="en-US" altLang="zh-CN" sz="1400" u="none" strike="noStrike" cap="none" normalizeH="0" baseline="0" dirty="0">
                        <a:ln>
                          <a:noFill/>
                        </a:ln>
                        <a:effectLst/>
                        <a:latin typeface="+mj-ea"/>
                        <a:ea typeface="+mj-ea"/>
                      </a:endParaRPr>
                    </a:p>
                    <a:p>
                      <a:pPr marL="0" marR="0" lvl="0" indent="0" algn="ctr" defTabSz="914400" rtl="0" eaLnBrk="1" fontAlgn="base" latinLnBrk="0" hangingPunct="1">
                        <a:lnSpc>
                          <a:spcPts val="1000"/>
                        </a:lnSpc>
                        <a:spcBef>
                          <a:spcPct val="0"/>
                        </a:spcBef>
                        <a:spcAft>
                          <a:spcPct val="0"/>
                        </a:spcAft>
                        <a:buClrTx/>
                        <a:buSzTx/>
                        <a:buFontTx/>
                        <a:buNone/>
                      </a:pPr>
                      <a:endParaRPr kumimoji="0" lang="zh-CN" altLang="en-US" sz="1400" u="none" strike="noStrike" cap="none" normalizeH="0" baseline="0" dirty="0">
                        <a:ln>
                          <a:noFill/>
                        </a:ln>
                        <a:effectLst/>
                        <a:latin typeface="+mj-ea"/>
                        <a:ea typeface="+mj-ea"/>
                      </a:endParaRPr>
                    </a:p>
                    <a:p>
                      <a:pPr marL="0" marR="0" lvl="0" indent="0" algn="ctr" defTabSz="914400" rtl="0" eaLnBrk="1" fontAlgn="base" latinLnBrk="0" hangingPunct="1">
                        <a:lnSpc>
                          <a:spcPts val="1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模</a:t>
                      </a:r>
                      <a:endParaRPr kumimoji="0" lang="en-US" altLang="zh-CN" sz="1400" u="none" strike="noStrike" cap="none" normalizeH="0" baseline="0" dirty="0">
                        <a:ln>
                          <a:noFill/>
                        </a:ln>
                        <a:effectLst/>
                        <a:latin typeface="+mj-ea"/>
                        <a:ea typeface="+mj-ea"/>
                      </a:endParaRPr>
                    </a:p>
                    <a:p>
                      <a:pPr marL="0" marR="0" lvl="0" indent="0" algn="ctr" defTabSz="914400" rtl="0" eaLnBrk="1" fontAlgn="base" latinLnBrk="0" hangingPunct="1">
                        <a:lnSpc>
                          <a:spcPts val="1000"/>
                        </a:lnSpc>
                        <a:spcBef>
                          <a:spcPct val="0"/>
                        </a:spcBef>
                        <a:spcAft>
                          <a:spcPct val="0"/>
                        </a:spcAft>
                        <a:buClrTx/>
                        <a:buSzTx/>
                        <a:buFontTx/>
                        <a:buNone/>
                      </a:pPr>
                      <a:endParaRPr kumimoji="0" lang="zh-CN" altLang="en-US" sz="1400" u="none" strike="noStrike" cap="none" normalizeH="0" baseline="0" dirty="0">
                        <a:ln>
                          <a:noFill/>
                        </a:ln>
                        <a:effectLst/>
                        <a:latin typeface="+mj-ea"/>
                        <a:ea typeface="+mj-ea"/>
                      </a:endParaRPr>
                    </a:p>
                    <a:p>
                      <a:pPr marL="0" marR="0" lvl="0" indent="0" algn="ctr" defTabSz="914400" rtl="0" eaLnBrk="1" fontAlgn="base" latinLnBrk="0" hangingPunct="1">
                        <a:lnSpc>
                          <a:spcPts val="1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型</a:t>
                      </a:r>
                      <a:endParaRPr kumimoji="0" lang="zh-CN" altLang="en-US" sz="14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36095" marR="36095" marT="0" marB="0" anchor="ctr" horzOverflow="overflow">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构件图</a:t>
                      </a:r>
                      <a:r>
                        <a:rPr kumimoji="0" lang="zh-CN" altLang="zh-CN" sz="1400" u="none" strike="noStrike" cap="none" normalizeH="0" baseline="0" dirty="0">
                          <a:ln>
                            <a:noFill/>
                          </a:ln>
                          <a:effectLst/>
                          <a:latin typeface="+mj-ea"/>
                          <a:ea typeface="+mj-ea"/>
                        </a:rPr>
                        <a:t>(</a:t>
                      </a:r>
                      <a:r>
                        <a:rPr kumimoji="0" lang="en-US" altLang="zh-CN" sz="1400" u="none" strike="noStrike" cap="none" normalizeH="0" baseline="0" dirty="0">
                          <a:ln>
                            <a:noFill/>
                          </a:ln>
                          <a:effectLst/>
                          <a:latin typeface="+mj-ea"/>
                          <a:ea typeface="+mj-ea"/>
                        </a:rPr>
                        <a:t>Component</a:t>
                      </a:r>
                      <a:r>
                        <a:rPr kumimoji="0" lang="zh-CN" altLang="zh-CN" sz="1400" u="none" strike="noStrike" cap="none" normalizeH="0" baseline="0" dirty="0">
                          <a:ln>
                            <a:noFill/>
                          </a:ln>
                          <a:effectLst/>
                          <a:latin typeface="+mj-ea"/>
                          <a:ea typeface="+mj-ea"/>
                        </a:rPr>
                        <a:t>)</a:t>
                      </a:r>
                      <a:endParaRPr kumimoji="0" lang="zh-CN" altLang="zh-CN" sz="1400" b="0" i="0" u="none" strike="noStrike" cap="none" normalizeH="0" baseline="0" dirty="0">
                        <a:ln>
                          <a:noFill/>
                        </a:ln>
                        <a:solidFill>
                          <a:schemeClr val="tx1"/>
                        </a:solidFill>
                        <a:effectLst/>
                        <a:latin typeface="+mj-ea"/>
                        <a:ea typeface="+mj-ea"/>
                      </a:endParaRPr>
                    </a:p>
                  </a:txBody>
                  <a:tcPr marL="36095" marR="36095" marT="0" marB="0" anchor="ctr" horzOverflow="overflow">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描述系统按构件组成上的关系</a:t>
                      </a:r>
                      <a:endParaRPr kumimoji="0" lang="zh-CN" altLang="en-US" sz="14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36095" marR="36095" marT="0" marB="0" horzOverflow="overflow">
                    <a:solidFill>
                      <a:schemeClr val="bg1"/>
                    </a:solidFill>
                  </a:tcPr>
                </a:tc>
              </a:tr>
              <a:tr h="458420">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配置图</a:t>
                      </a:r>
                      <a:r>
                        <a:rPr kumimoji="0" lang="zh-CN" altLang="zh-CN" sz="1400" u="none" strike="noStrike" cap="none" normalizeH="0" baseline="0" dirty="0">
                          <a:ln>
                            <a:noFill/>
                          </a:ln>
                          <a:effectLst/>
                          <a:latin typeface="+mj-ea"/>
                          <a:ea typeface="+mj-ea"/>
                        </a:rPr>
                        <a:t>(</a:t>
                      </a:r>
                      <a:r>
                        <a:rPr kumimoji="0" lang="en-US" altLang="zh-CN" sz="1400" u="none" strike="noStrike" cap="none" normalizeH="0" baseline="0" dirty="0">
                          <a:ln>
                            <a:noFill/>
                          </a:ln>
                          <a:effectLst/>
                          <a:latin typeface="+mj-ea"/>
                          <a:ea typeface="+mj-ea"/>
                        </a:rPr>
                        <a:t>Deployment</a:t>
                      </a:r>
                      <a:r>
                        <a:rPr kumimoji="0" lang="zh-CN" altLang="zh-CN" sz="1400" u="none" strike="noStrike" cap="none" normalizeH="0" baseline="0" dirty="0">
                          <a:ln>
                            <a:noFill/>
                          </a:ln>
                          <a:effectLst/>
                          <a:latin typeface="+mj-ea"/>
                          <a:ea typeface="+mj-ea"/>
                        </a:rPr>
                        <a:t>)</a:t>
                      </a:r>
                      <a:endParaRPr kumimoji="0" lang="zh-CN" altLang="zh-CN" sz="1400" b="0" i="0" u="none" strike="noStrike" cap="none" normalizeH="0" baseline="0" dirty="0">
                        <a:ln>
                          <a:noFill/>
                        </a:ln>
                        <a:solidFill>
                          <a:schemeClr val="tx1"/>
                        </a:solidFill>
                        <a:effectLst/>
                        <a:latin typeface="+mj-ea"/>
                        <a:ea typeface="+mj-ea"/>
                      </a:endParaRPr>
                    </a:p>
                  </a:txBody>
                  <a:tcPr marL="36095" marR="36095" marT="0" marB="0" anchor="ctr" horzOverflow="overflow">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描述系统运行环境的配置情况</a:t>
                      </a:r>
                      <a:endParaRPr kumimoji="0" lang="zh-CN" altLang="en-US" sz="14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36095" marR="36095" marT="0" marB="0" horzOverflow="overflow">
                    <a:solidFill>
                      <a:schemeClr val="bg1"/>
                    </a:solidFill>
                  </a:tcPr>
                </a:tc>
              </a:tr>
              <a:tr h="411480">
                <a:tc rowSpan="4">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1400"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动</a:t>
                      </a:r>
                      <a:endParaRPr kumimoji="0" lang="zh-CN" altLang="en-US" sz="1400"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态</a:t>
                      </a:r>
                      <a:endParaRPr kumimoji="0" lang="zh-CN" altLang="en-US" sz="1400"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建</a:t>
                      </a:r>
                      <a:endParaRPr kumimoji="0" lang="zh-CN" altLang="en-US" sz="1400"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模</a:t>
                      </a:r>
                      <a:endParaRPr kumimoji="0" lang="zh-CN" altLang="en-US" sz="14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36095" marR="36095" marT="0" marB="0" horzOverflow="overflow">
                    <a:solidFill>
                      <a:schemeClr val="bg1"/>
                    </a:solidFill>
                  </a:tcPr>
                </a:tc>
                <a:tc rowSpan="2">
                  <a:txBody>
                    <a:bodyPr/>
                    <a:lstStyle/>
                    <a:p>
                      <a:pPr marL="0" marR="0" lvl="0" indent="0" algn="ctr" defTabSz="914400" rtl="0" eaLnBrk="1" fontAlgn="base" latinLnBrk="0" hangingPunct="1">
                        <a:lnSpc>
                          <a:spcPts val="1000"/>
                        </a:lnSpc>
                        <a:spcBef>
                          <a:spcPct val="0"/>
                        </a:spcBef>
                        <a:spcAft>
                          <a:spcPct val="0"/>
                        </a:spcAft>
                        <a:buClrTx/>
                        <a:buSzTx/>
                        <a:buFontTx/>
                        <a:buNone/>
                      </a:pPr>
                      <a:endParaRPr kumimoji="0" lang="en-US" altLang="zh-CN" sz="1400" u="none" strike="noStrike" cap="none" normalizeH="0" baseline="0" dirty="0">
                        <a:ln>
                          <a:noFill/>
                        </a:ln>
                        <a:effectLst/>
                        <a:latin typeface="+mj-ea"/>
                        <a:ea typeface="+mj-ea"/>
                      </a:endParaRPr>
                    </a:p>
                    <a:p>
                      <a:pPr marL="0" marR="0" lvl="0" indent="0" algn="ctr" defTabSz="914400" rtl="0" eaLnBrk="1" fontAlgn="base" latinLnBrk="0" hangingPunct="1">
                        <a:lnSpc>
                          <a:spcPts val="1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对</a:t>
                      </a:r>
                      <a:endParaRPr kumimoji="0" lang="en-US" altLang="zh-CN" sz="1400" u="none" strike="noStrike" cap="none" normalizeH="0" baseline="0" dirty="0">
                        <a:ln>
                          <a:noFill/>
                        </a:ln>
                        <a:effectLst/>
                        <a:latin typeface="+mj-ea"/>
                        <a:ea typeface="+mj-ea"/>
                      </a:endParaRPr>
                    </a:p>
                    <a:p>
                      <a:pPr marL="0" marR="0" lvl="0" indent="0" algn="ctr" defTabSz="914400" rtl="0" eaLnBrk="1" fontAlgn="base" latinLnBrk="0" hangingPunct="1">
                        <a:lnSpc>
                          <a:spcPts val="1000"/>
                        </a:lnSpc>
                        <a:spcBef>
                          <a:spcPct val="0"/>
                        </a:spcBef>
                        <a:spcAft>
                          <a:spcPct val="0"/>
                        </a:spcAft>
                        <a:buClrTx/>
                        <a:buSzTx/>
                        <a:buFontTx/>
                        <a:buNone/>
                      </a:pPr>
                      <a:endParaRPr kumimoji="0" lang="zh-CN" altLang="en-US" sz="1400" u="none" strike="noStrike" cap="none" normalizeH="0" baseline="0" dirty="0">
                        <a:ln>
                          <a:noFill/>
                        </a:ln>
                        <a:effectLst/>
                        <a:latin typeface="+mj-ea"/>
                        <a:ea typeface="+mj-ea"/>
                      </a:endParaRPr>
                    </a:p>
                    <a:p>
                      <a:pPr marL="0" marR="0" lvl="0" indent="0" algn="ctr" defTabSz="914400" rtl="0" eaLnBrk="1" fontAlgn="base" latinLnBrk="0" hangingPunct="1">
                        <a:lnSpc>
                          <a:spcPts val="1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象</a:t>
                      </a:r>
                      <a:endParaRPr kumimoji="0" lang="en-US" altLang="zh-CN" sz="1400" u="none" strike="noStrike" cap="none" normalizeH="0" baseline="0" dirty="0">
                        <a:ln>
                          <a:noFill/>
                        </a:ln>
                        <a:effectLst/>
                        <a:latin typeface="+mj-ea"/>
                        <a:ea typeface="+mj-ea"/>
                      </a:endParaRPr>
                    </a:p>
                    <a:p>
                      <a:pPr marL="0" marR="0" lvl="0" indent="0" algn="ctr" defTabSz="914400" rtl="0" eaLnBrk="1" fontAlgn="base" latinLnBrk="0" hangingPunct="1">
                        <a:lnSpc>
                          <a:spcPts val="1000"/>
                        </a:lnSpc>
                        <a:spcBef>
                          <a:spcPct val="0"/>
                        </a:spcBef>
                        <a:spcAft>
                          <a:spcPct val="0"/>
                        </a:spcAft>
                        <a:buClrTx/>
                        <a:buSzTx/>
                        <a:buFontTx/>
                        <a:buNone/>
                      </a:pPr>
                      <a:endParaRPr kumimoji="0" lang="zh-CN" altLang="en-US" sz="1400" u="none" strike="noStrike" cap="none" normalizeH="0" baseline="0" dirty="0">
                        <a:ln>
                          <a:noFill/>
                        </a:ln>
                        <a:effectLst/>
                        <a:latin typeface="+mj-ea"/>
                        <a:ea typeface="+mj-ea"/>
                      </a:endParaRPr>
                    </a:p>
                    <a:p>
                      <a:pPr marL="0" marR="0" lvl="0" indent="0" algn="ctr" defTabSz="914400" rtl="0" eaLnBrk="1" fontAlgn="base" latinLnBrk="0" hangingPunct="1">
                        <a:lnSpc>
                          <a:spcPts val="1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交</a:t>
                      </a:r>
                      <a:endParaRPr kumimoji="0" lang="en-US" altLang="zh-CN" sz="1400" u="none" strike="noStrike" cap="none" normalizeH="0" baseline="0" dirty="0">
                        <a:ln>
                          <a:noFill/>
                        </a:ln>
                        <a:effectLst/>
                        <a:latin typeface="+mj-ea"/>
                        <a:ea typeface="+mj-ea"/>
                      </a:endParaRPr>
                    </a:p>
                    <a:p>
                      <a:pPr marL="0" marR="0" lvl="0" indent="0" algn="ctr" defTabSz="914400" rtl="0" eaLnBrk="1" fontAlgn="base" latinLnBrk="0" hangingPunct="1">
                        <a:lnSpc>
                          <a:spcPts val="1000"/>
                        </a:lnSpc>
                        <a:spcBef>
                          <a:spcPct val="0"/>
                        </a:spcBef>
                        <a:spcAft>
                          <a:spcPct val="0"/>
                        </a:spcAft>
                        <a:buClrTx/>
                        <a:buSzTx/>
                        <a:buFontTx/>
                        <a:buNone/>
                      </a:pPr>
                      <a:endParaRPr kumimoji="0" lang="zh-CN" altLang="en-US" sz="1400" u="none" strike="noStrike" cap="none" normalizeH="0" baseline="0" dirty="0">
                        <a:ln>
                          <a:noFill/>
                        </a:ln>
                        <a:effectLst/>
                        <a:latin typeface="+mj-ea"/>
                        <a:ea typeface="+mj-ea"/>
                      </a:endParaRPr>
                    </a:p>
                    <a:p>
                      <a:pPr marL="0" marR="0" lvl="0" indent="0" algn="ctr" defTabSz="914400" rtl="0" eaLnBrk="1" fontAlgn="base" latinLnBrk="0" hangingPunct="1">
                        <a:lnSpc>
                          <a:spcPts val="1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互</a:t>
                      </a:r>
                      <a:endParaRPr kumimoji="0" lang="zh-CN" altLang="en-US" sz="14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36095" marR="36095" marT="0" marB="0" anchor="ctr" horzOverflow="overflow">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顺序图</a:t>
                      </a:r>
                      <a:r>
                        <a:rPr kumimoji="0" lang="zh-CN" altLang="zh-CN" sz="1400" u="none" strike="noStrike" cap="none" normalizeH="0" baseline="0" dirty="0">
                          <a:ln>
                            <a:noFill/>
                          </a:ln>
                          <a:effectLst/>
                          <a:latin typeface="+mj-ea"/>
                          <a:ea typeface="+mj-ea"/>
                        </a:rPr>
                        <a:t>(</a:t>
                      </a:r>
                      <a:r>
                        <a:rPr kumimoji="0" lang="en-US" altLang="zh-CN" sz="1400" u="none" strike="noStrike" cap="none" normalizeH="0" baseline="0" dirty="0">
                          <a:ln>
                            <a:noFill/>
                          </a:ln>
                          <a:effectLst/>
                          <a:latin typeface="+mj-ea"/>
                          <a:ea typeface="+mj-ea"/>
                        </a:rPr>
                        <a:t>Sequence</a:t>
                      </a:r>
                      <a:r>
                        <a:rPr kumimoji="0" lang="zh-CN" altLang="zh-CN" sz="1400" u="none" strike="noStrike" cap="none" normalizeH="0" baseline="0" dirty="0">
                          <a:ln>
                            <a:noFill/>
                          </a:ln>
                          <a:effectLst/>
                          <a:latin typeface="+mj-ea"/>
                          <a:ea typeface="+mj-ea"/>
                        </a:rPr>
                        <a:t>)</a:t>
                      </a:r>
                      <a:endParaRPr kumimoji="0" lang="zh-CN" altLang="zh-CN" sz="1400" b="0" i="0" u="none" strike="noStrike" cap="none" normalizeH="0" baseline="0" dirty="0">
                        <a:ln>
                          <a:noFill/>
                        </a:ln>
                        <a:solidFill>
                          <a:schemeClr val="tx1"/>
                        </a:solidFill>
                        <a:effectLst/>
                        <a:latin typeface="+mj-ea"/>
                        <a:ea typeface="+mj-ea"/>
                      </a:endParaRPr>
                    </a:p>
                  </a:txBody>
                  <a:tcPr marL="36095" marR="36095" marT="0" marB="0" anchor="ctr" horzOverflow="overflow">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描述某些对象共同合作完成某项功能而按时间顺序进行的消息传递</a:t>
                      </a:r>
                      <a:endParaRPr kumimoji="0" lang="zh-CN" altLang="en-US" sz="14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36095" marR="36095" marT="0" marB="0" horzOverflow="overflow">
                    <a:solidFill>
                      <a:schemeClr val="bg1"/>
                    </a:solidFill>
                  </a:tcPr>
                </a:tc>
              </a:tr>
              <a:tr h="520336">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协作图</a:t>
                      </a:r>
                      <a:r>
                        <a:rPr kumimoji="0" lang="zh-CN" altLang="zh-CN" sz="1400" u="none" strike="noStrike" cap="none" normalizeH="0" baseline="0" dirty="0">
                          <a:ln>
                            <a:noFill/>
                          </a:ln>
                          <a:effectLst/>
                          <a:latin typeface="+mj-ea"/>
                          <a:ea typeface="+mj-ea"/>
                        </a:rPr>
                        <a:t>(</a:t>
                      </a:r>
                      <a:r>
                        <a:rPr kumimoji="0" lang="en-US" altLang="zh-CN" sz="1400" u="none" strike="noStrike" cap="none" normalizeH="0" baseline="0" dirty="0">
                          <a:ln>
                            <a:noFill/>
                          </a:ln>
                          <a:effectLst/>
                          <a:latin typeface="+mj-ea"/>
                          <a:ea typeface="+mj-ea"/>
                        </a:rPr>
                        <a:t>Collaboration</a:t>
                      </a:r>
                      <a:r>
                        <a:rPr kumimoji="0" lang="zh-CN" altLang="zh-CN" sz="1400" u="none" strike="noStrike" cap="none" normalizeH="0" baseline="0" dirty="0">
                          <a:ln>
                            <a:noFill/>
                          </a:ln>
                          <a:effectLst/>
                          <a:latin typeface="+mj-ea"/>
                          <a:ea typeface="+mj-ea"/>
                        </a:rPr>
                        <a:t>)</a:t>
                      </a:r>
                      <a:endParaRPr kumimoji="0" lang="zh-CN" altLang="zh-CN" sz="1400" b="0" i="0" u="none" strike="noStrike" cap="none" normalizeH="0" baseline="0" dirty="0">
                        <a:ln>
                          <a:noFill/>
                        </a:ln>
                        <a:solidFill>
                          <a:schemeClr val="tx1"/>
                        </a:solidFill>
                        <a:effectLst/>
                        <a:latin typeface="+mj-ea"/>
                        <a:ea typeface="+mj-ea"/>
                      </a:endParaRPr>
                    </a:p>
                  </a:txBody>
                  <a:tcPr marL="36095" marR="36095" marT="0" marB="0" anchor="ctr" horzOverflow="overflow">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描述某些对象共同合作完成某项功能的依赖关系</a:t>
                      </a:r>
                      <a:endParaRPr kumimoji="0" lang="zh-CN" altLang="en-US" sz="14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36095" marR="36095" marT="0" marB="0" horzOverflow="overflow">
                    <a:solidFill>
                      <a:schemeClr val="bg1"/>
                    </a:solidFill>
                  </a:tcPr>
                </a:tc>
              </a:tr>
              <a:tr h="411480">
                <a:tc vMerge="1">
                  <a:tcPr/>
                </a:tc>
                <a:tc rowSpan="2">
                  <a:txBody>
                    <a:bodyPr/>
                    <a:lstStyle/>
                    <a:p>
                      <a:pPr marL="0" marR="0" lvl="0" indent="0" algn="ctr" defTabSz="914400" rtl="0" eaLnBrk="1" fontAlgn="base" latinLnBrk="0" hangingPunct="1">
                        <a:lnSpc>
                          <a:spcPts val="1000"/>
                        </a:lnSpc>
                        <a:spcBef>
                          <a:spcPct val="0"/>
                        </a:spcBef>
                        <a:spcAft>
                          <a:spcPct val="0"/>
                        </a:spcAft>
                        <a:buClrTx/>
                        <a:buSzTx/>
                        <a:buFontTx/>
                        <a:buNone/>
                      </a:pPr>
                      <a:endParaRPr kumimoji="0" lang="en-US" altLang="zh-CN" sz="1400" u="none" strike="noStrike" cap="none" normalizeH="0" baseline="0" dirty="0">
                        <a:ln>
                          <a:noFill/>
                        </a:ln>
                        <a:effectLst/>
                        <a:latin typeface="+mj-ea"/>
                        <a:ea typeface="+mj-ea"/>
                      </a:endParaRPr>
                    </a:p>
                    <a:p>
                      <a:pPr marL="0" marR="0" lvl="0" indent="0" algn="ctr" defTabSz="914400" rtl="0" eaLnBrk="1" fontAlgn="base" latinLnBrk="0" hangingPunct="1">
                        <a:lnSpc>
                          <a:spcPts val="1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业</a:t>
                      </a:r>
                      <a:endParaRPr kumimoji="0" lang="en-US" altLang="zh-CN" sz="1400" u="none" strike="noStrike" cap="none" normalizeH="0" baseline="0" dirty="0">
                        <a:ln>
                          <a:noFill/>
                        </a:ln>
                        <a:effectLst/>
                        <a:latin typeface="+mj-ea"/>
                        <a:ea typeface="+mj-ea"/>
                      </a:endParaRPr>
                    </a:p>
                    <a:p>
                      <a:pPr marL="0" marR="0" lvl="0" indent="0" algn="ctr" defTabSz="914400" rtl="0" eaLnBrk="1" fontAlgn="base" latinLnBrk="0" hangingPunct="1">
                        <a:lnSpc>
                          <a:spcPts val="1000"/>
                        </a:lnSpc>
                        <a:spcBef>
                          <a:spcPct val="0"/>
                        </a:spcBef>
                        <a:spcAft>
                          <a:spcPct val="0"/>
                        </a:spcAft>
                        <a:buClrTx/>
                        <a:buSzTx/>
                        <a:buFontTx/>
                        <a:buNone/>
                      </a:pPr>
                      <a:endParaRPr kumimoji="0" lang="zh-CN" altLang="en-US" sz="1400" u="none" strike="noStrike" cap="none" normalizeH="0" baseline="0" dirty="0">
                        <a:ln>
                          <a:noFill/>
                        </a:ln>
                        <a:effectLst/>
                        <a:latin typeface="+mj-ea"/>
                        <a:ea typeface="+mj-ea"/>
                      </a:endParaRPr>
                    </a:p>
                    <a:p>
                      <a:pPr marL="0" marR="0" lvl="0" indent="0" algn="ctr" defTabSz="914400" rtl="0" eaLnBrk="1" fontAlgn="base" latinLnBrk="0" hangingPunct="1">
                        <a:lnSpc>
                          <a:spcPts val="1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务</a:t>
                      </a:r>
                      <a:endParaRPr kumimoji="0" lang="en-US" altLang="zh-CN" sz="1400" u="none" strike="noStrike" cap="none" normalizeH="0" baseline="0" dirty="0">
                        <a:ln>
                          <a:noFill/>
                        </a:ln>
                        <a:effectLst/>
                        <a:latin typeface="+mj-ea"/>
                        <a:ea typeface="+mj-ea"/>
                      </a:endParaRPr>
                    </a:p>
                    <a:p>
                      <a:pPr marL="0" marR="0" lvl="0" indent="0" algn="ctr" defTabSz="914400" rtl="0" eaLnBrk="1" fontAlgn="base" latinLnBrk="0" hangingPunct="1">
                        <a:lnSpc>
                          <a:spcPts val="1000"/>
                        </a:lnSpc>
                        <a:spcBef>
                          <a:spcPct val="0"/>
                        </a:spcBef>
                        <a:spcAft>
                          <a:spcPct val="0"/>
                        </a:spcAft>
                        <a:buClrTx/>
                        <a:buSzTx/>
                        <a:buFontTx/>
                        <a:buNone/>
                      </a:pPr>
                      <a:endParaRPr kumimoji="0" lang="zh-CN" altLang="en-US" sz="1400" u="none" strike="noStrike" cap="none" normalizeH="0" baseline="0" dirty="0">
                        <a:ln>
                          <a:noFill/>
                        </a:ln>
                        <a:effectLst/>
                        <a:latin typeface="+mj-ea"/>
                        <a:ea typeface="+mj-ea"/>
                      </a:endParaRPr>
                    </a:p>
                    <a:p>
                      <a:pPr marL="0" marR="0" lvl="0" indent="0" algn="ctr" defTabSz="914400" rtl="0" eaLnBrk="1" fontAlgn="base" latinLnBrk="0" hangingPunct="1">
                        <a:lnSpc>
                          <a:spcPts val="1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活</a:t>
                      </a:r>
                      <a:endParaRPr kumimoji="0" lang="en-US" altLang="zh-CN" sz="1400" u="none" strike="noStrike" cap="none" normalizeH="0" baseline="0" dirty="0">
                        <a:ln>
                          <a:noFill/>
                        </a:ln>
                        <a:effectLst/>
                        <a:latin typeface="+mj-ea"/>
                        <a:ea typeface="+mj-ea"/>
                      </a:endParaRPr>
                    </a:p>
                    <a:p>
                      <a:pPr marL="0" marR="0" lvl="0" indent="0" algn="ctr" defTabSz="914400" rtl="0" eaLnBrk="1" fontAlgn="base" latinLnBrk="0" hangingPunct="1">
                        <a:lnSpc>
                          <a:spcPts val="1000"/>
                        </a:lnSpc>
                        <a:spcBef>
                          <a:spcPct val="0"/>
                        </a:spcBef>
                        <a:spcAft>
                          <a:spcPct val="0"/>
                        </a:spcAft>
                        <a:buClrTx/>
                        <a:buSzTx/>
                        <a:buFontTx/>
                        <a:buNone/>
                      </a:pPr>
                      <a:endParaRPr kumimoji="0" lang="zh-CN" altLang="en-US" sz="1400" u="none" strike="noStrike" cap="none" normalizeH="0" baseline="0" dirty="0">
                        <a:ln>
                          <a:noFill/>
                        </a:ln>
                        <a:effectLst/>
                        <a:latin typeface="+mj-ea"/>
                        <a:ea typeface="+mj-ea"/>
                      </a:endParaRPr>
                    </a:p>
                    <a:p>
                      <a:pPr marL="0" marR="0" lvl="0" indent="0" algn="ctr" defTabSz="914400" rtl="0" eaLnBrk="1" fontAlgn="base" latinLnBrk="0" hangingPunct="1">
                        <a:lnSpc>
                          <a:spcPts val="1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动</a:t>
                      </a:r>
                      <a:endParaRPr kumimoji="0" lang="zh-CN" altLang="en-US" sz="14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36095" marR="36095" marT="0" marB="0" anchor="ctr" horzOverflow="overflow">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活动图</a:t>
                      </a:r>
                      <a:r>
                        <a:rPr kumimoji="0" lang="zh-CN" altLang="zh-CN" sz="1400" u="none" strike="noStrike" cap="none" normalizeH="0" baseline="0" dirty="0">
                          <a:ln>
                            <a:noFill/>
                          </a:ln>
                          <a:effectLst/>
                          <a:latin typeface="+mj-ea"/>
                          <a:ea typeface="+mj-ea"/>
                        </a:rPr>
                        <a:t>(</a:t>
                      </a:r>
                      <a:r>
                        <a:rPr kumimoji="0" lang="en-US" altLang="zh-CN" sz="1400" u="none" strike="noStrike" cap="none" normalizeH="0" baseline="0" dirty="0">
                          <a:ln>
                            <a:noFill/>
                          </a:ln>
                          <a:effectLst/>
                          <a:latin typeface="+mj-ea"/>
                          <a:ea typeface="+mj-ea"/>
                        </a:rPr>
                        <a:t>Activity</a:t>
                      </a:r>
                      <a:r>
                        <a:rPr kumimoji="0" lang="zh-CN" altLang="zh-CN" sz="1400" u="none" strike="noStrike" cap="none" normalizeH="0" baseline="0" dirty="0">
                          <a:ln>
                            <a:noFill/>
                          </a:ln>
                          <a:effectLst/>
                          <a:latin typeface="+mj-ea"/>
                          <a:ea typeface="+mj-ea"/>
                        </a:rPr>
                        <a:t>)</a:t>
                      </a:r>
                      <a:endParaRPr kumimoji="0" lang="zh-CN" altLang="zh-CN" sz="1400" b="0" i="0" u="none" strike="noStrike" cap="none" normalizeH="0" baseline="0" dirty="0">
                        <a:ln>
                          <a:noFill/>
                        </a:ln>
                        <a:solidFill>
                          <a:schemeClr val="tx1"/>
                        </a:solidFill>
                        <a:effectLst/>
                        <a:latin typeface="+mj-ea"/>
                        <a:ea typeface="+mj-ea"/>
                      </a:endParaRPr>
                    </a:p>
                  </a:txBody>
                  <a:tcPr marL="36095" marR="36095" marT="0" marB="0" anchor="ctr" horzOverflow="overflow">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描述某个用例按事件流转所经历的的活动，即业务流程</a:t>
                      </a:r>
                      <a:endParaRPr kumimoji="0" lang="zh-CN" altLang="en-US" sz="14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36095" marR="36095" marT="0" marB="0" horzOverflow="overflow">
                    <a:solidFill>
                      <a:schemeClr val="bg1"/>
                    </a:solidFill>
                  </a:tcPr>
                </a:tc>
              </a:tr>
              <a:tr h="521526">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状态图</a:t>
                      </a:r>
                      <a:r>
                        <a:rPr kumimoji="0" lang="zh-CN" altLang="zh-CN" sz="1400" u="none" strike="noStrike" cap="none" normalizeH="0" baseline="0" dirty="0">
                          <a:ln>
                            <a:noFill/>
                          </a:ln>
                          <a:effectLst/>
                          <a:latin typeface="+mj-ea"/>
                          <a:ea typeface="+mj-ea"/>
                        </a:rPr>
                        <a:t>(</a:t>
                      </a:r>
                      <a:r>
                        <a:rPr kumimoji="0" lang="en-US" altLang="zh-CN" sz="1400" u="none" strike="noStrike" cap="none" normalizeH="0" baseline="0" dirty="0">
                          <a:ln>
                            <a:noFill/>
                          </a:ln>
                          <a:effectLst/>
                          <a:latin typeface="+mj-ea"/>
                          <a:ea typeface="+mj-ea"/>
                        </a:rPr>
                        <a:t>State chart</a:t>
                      </a:r>
                      <a:r>
                        <a:rPr kumimoji="0" lang="zh-CN" altLang="zh-CN" sz="1400" u="none" strike="noStrike" cap="none" normalizeH="0" baseline="0" dirty="0">
                          <a:ln>
                            <a:noFill/>
                          </a:ln>
                          <a:effectLst/>
                          <a:latin typeface="+mj-ea"/>
                          <a:ea typeface="+mj-ea"/>
                        </a:rPr>
                        <a:t>)</a:t>
                      </a:r>
                      <a:endParaRPr kumimoji="0" lang="zh-CN" altLang="zh-CN" sz="1400" b="0" i="0" u="none" strike="noStrike" cap="none" normalizeH="0" baseline="0" dirty="0">
                        <a:ln>
                          <a:noFill/>
                        </a:ln>
                        <a:solidFill>
                          <a:schemeClr val="tx1"/>
                        </a:solidFill>
                        <a:effectLst/>
                        <a:latin typeface="+mj-ea"/>
                        <a:ea typeface="+mj-ea"/>
                      </a:endParaRPr>
                    </a:p>
                  </a:txBody>
                  <a:tcPr marL="36095" marR="36095" marT="0" marB="0" anchor="ctr" horzOverflow="overflow">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描述某个业务流程按事件流转所经历的状态，即状态机</a:t>
                      </a:r>
                      <a:endParaRPr kumimoji="0" lang="zh-CN" altLang="en-US" sz="14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36095" marR="36095" marT="0" marB="0" horzOverflow="overflow">
                    <a:solidFill>
                      <a:schemeClr val="bg1"/>
                    </a:solidFill>
                  </a:tcPr>
                </a:tc>
              </a:tr>
            </a:tbl>
          </a:graphicData>
        </a:graphic>
      </p:graphicFrame>
      <p:sp>
        <p:nvSpPr>
          <p:cNvPr id="9" name="文本框 8"/>
          <p:cNvSpPr txBox="1"/>
          <p:nvPr/>
        </p:nvSpPr>
        <p:spPr>
          <a:xfrm>
            <a:off x="533399" y="2009973"/>
            <a:ext cx="2460171" cy="830997"/>
          </a:xfrm>
          <a:prstGeom prst="rect">
            <a:avLst/>
          </a:prstGeom>
          <a:noFill/>
        </p:spPr>
        <p:txBody>
          <a:bodyPr wrap="square" rtlCol="0">
            <a:spAutoFit/>
          </a:bodyPr>
          <a:lstStyle/>
          <a:p>
            <a:r>
              <a:rPr lang="en-US" altLang="zh-CN" sz="2400" dirty="0">
                <a:solidFill>
                  <a:schemeClr val="accent2"/>
                </a:solidFill>
                <a:latin typeface="+mj-ea"/>
                <a:ea typeface="+mj-ea"/>
              </a:rPr>
              <a:t>UML</a:t>
            </a:r>
            <a:r>
              <a:rPr lang="zh-CN" altLang="en-US" sz="2400" dirty="0">
                <a:solidFill>
                  <a:schemeClr val="accent2"/>
                </a:solidFill>
                <a:latin typeface="+mj-ea"/>
                <a:ea typeface="+mj-ea"/>
              </a:rPr>
              <a:t>的</a:t>
            </a:r>
            <a:r>
              <a:rPr lang="en-US" altLang="zh-CN" sz="2400" dirty="0">
                <a:solidFill>
                  <a:schemeClr val="accent2"/>
                </a:solidFill>
                <a:latin typeface="+mj-ea"/>
                <a:ea typeface="+mj-ea"/>
              </a:rPr>
              <a:t>5</a:t>
            </a:r>
            <a:r>
              <a:rPr lang="zh-CN" altLang="en-US" sz="2400" dirty="0">
                <a:solidFill>
                  <a:schemeClr val="accent2"/>
                </a:solidFill>
                <a:latin typeface="+mj-ea"/>
                <a:ea typeface="+mj-ea"/>
              </a:rPr>
              <a:t>类图形的作用如表所示</a:t>
            </a:r>
            <a:endParaRPr lang="zh-CN" altLang="en-US" sz="2400" dirty="0">
              <a:solidFill>
                <a:schemeClr val="accent2"/>
              </a:solidFill>
              <a:latin typeface="+mj-ea"/>
              <a:ea typeface="+mj-ea"/>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视图的作用</a:t>
            </a:r>
            <a:endParaRPr lang="zh-CN" altLang="en-US" dirty="0"/>
          </a:p>
        </p:txBody>
      </p:sp>
      <p:sp>
        <p:nvSpPr>
          <p:cNvPr id="2" name="内容占位符 1"/>
          <p:cNvSpPr>
            <a:spLocks noGrp="1"/>
          </p:cNvSpPr>
          <p:nvPr>
            <p:ph idx="1"/>
          </p:nvPr>
        </p:nvSpPr>
        <p:spPr/>
        <p:txBody>
          <a:bodyPr>
            <a:normAutofit/>
          </a:bodyPr>
          <a:lstStyle/>
          <a:p>
            <a:r>
              <a:rPr lang="zh-CN" altLang="en-US" sz="2000" dirty="0"/>
              <a:t>视图</a:t>
            </a:r>
            <a:r>
              <a:rPr lang="en-US" altLang="zh-CN" sz="2000" dirty="0"/>
              <a:t>(view)</a:t>
            </a:r>
            <a:r>
              <a:rPr lang="zh-CN" altLang="en-US" sz="2000" dirty="0"/>
              <a:t>是从某个特定角度观察客观物体所形成的投影图</a:t>
            </a:r>
            <a:r>
              <a:rPr lang="en-US" altLang="zh-CN" sz="2000" dirty="0"/>
              <a:t>(projection)</a:t>
            </a:r>
            <a:r>
              <a:rPr lang="zh-CN" altLang="en-US" sz="2000" dirty="0"/>
              <a:t>。一个视图只是反映物体的一个侧面，要想完整反映物体的全貌及结构，应从不同的方位得到不同的视图进行综合，这就是多视图的观点。</a:t>
            </a:r>
            <a:endParaRPr lang="zh-CN" altLang="en-US" sz="2000" b="1" dirty="0"/>
          </a:p>
          <a:p>
            <a:endParaRPr lang="zh-CN" altLang="en-US" sz="2000" dirty="0"/>
          </a:p>
        </p:txBody>
      </p:sp>
      <p:sp>
        <p:nvSpPr>
          <p:cNvPr id="17" name="日期占位符 16"/>
          <p:cNvSpPr>
            <a:spLocks noGrp="1"/>
          </p:cNvSpPr>
          <p:nvPr>
            <p:ph type="dt" sz="half" idx="10"/>
          </p:nvPr>
        </p:nvSpPr>
        <p:spPr/>
        <p:txBody>
          <a:bodyPr/>
          <a:lstStyle/>
          <a:p>
            <a:fld id="{2E3CC2D8-CA94-45C5-A82D-4FB547FBEB88}" type="datetime1">
              <a:rPr lang="zh-CN" altLang="en-US" smtClean="0"/>
            </a:fld>
            <a:endParaRPr lang="zh-CN" altLang="en-US" dirty="0"/>
          </a:p>
        </p:txBody>
      </p:sp>
      <p:sp>
        <p:nvSpPr>
          <p:cNvPr id="18" name="页脚占位符 17"/>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5" name="Group 220"/>
          <p:cNvGrpSpPr>
            <a:grpSpLocks noChangeAspect="1"/>
          </p:cNvGrpSpPr>
          <p:nvPr/>
        </p:nvGrpSpPr>
        <p:grpSpPr bwMode="auto">
          <a:xfrm>
            <a:off x="1644007" y="2104807"/>
            <a:ext cx="6081012" cy="2534553"/>
            <a:chOff x="3578" y="6835"/>
            <a:chExt cx="6018" cy="2277"/>
          </a:xfrm>
        </p:grpSpPr>
        <p:sp>
          <p:nvSpPr>
            <p:cNvPr id="6" name="AutoShape 221"/>
            <p:cNvSpPr>
              <a:spLocks noChangeAspect="1" noChangeArrowheads="1"/>
            </p:cNvSpPr>
            <p:nvPr/>
          </p:nvSpPr>
          <p:spPr bwMode="auto">
            <a:xfrm>
              <a:off x="3578" y="6835"/>
              <a:ext cx="6018" cy="2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350" b="1"/>
            </a:p>
          </p:txBody>
        </p:sp>
        <p:pic>
          <p:nvPicPr>
            <p:cNvPr id="7" name="Picture 22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58" y="7402"/>
              <a:ext cx="3776" cy="1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utoShape 223"/>
            <p:cNvSpPr>
              <a:spLocks noChangeArrowheads="1"/>
            </p:cNvSpPr>
            <p:nvPr/>
          </p:nvSpPr>
          <p:spPr bwMode="auto">
            <a:xfrm>
              <a:off x="4908" y="6835"/>
              <a:ext cx="1106" cy="402"/>
            </a:xfrm>
            <a:prstGeom prst="wedgeRoundRectCallout">
              <a:avLst>
                <a:gd name="adj1" fmla="val 7995"/>
                <a:gd name="adj2" fmla="val 136319"/>
                <a:gd name="adj3" fmla="val 16667"/>
              </a:avLst>
            </a:prstGeom>
          </p:spPr>
          <p:style>
            <a:lnRef idx="2">
              <a:schemeClr val="accent1"/>
            </a:lnRef>
            <a:fillRef idx="1">
              <a:schemeClr val="lt1"/>
            </a:fillRef>
            <a:effectRef idx="0">
              <a:schemeClr val="accent1"/>
            </a:effectRef>
            <a:fontRef idx="minor">
              <a:schemeClr val="dk1"/>
            </a:fontRef>
          </p:style>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sz="1200" b="1">
                  <a:latin typeface="Times New Roman" panose="02020603050405020304" pitchFamily="18" charset="0"/>
                </a:rPr>
                <a:t>被观测物体</a:t>
              </a:r>
              <a:endParaRPr lang="zh-CN" altLang="en-US" sz="1200" b="1"/>
            </a:p>
          </p:txBody>
        </p:sp>
        <p:sp>
          <p:nvSpPr>
            <p:cNvPr id="9" name="AutoShape 224"/>
            <p:cNvSpPr>
              <a:spLocks noChangeArrowheads="1"/>
            </p:cNvSpPr>
            <p:nvPr/>
          </p:nvSpPr>
          <p:spPr bwMode="auto">
            <a:xfrm>
              <a:off x="8062" y="6835"/>
              <a:ext cx="901" cy="402"/>
            </a:xfrm>
            <a:prstGeom prst="wedgeRoundRectCallout">
              <a:avLst>
                <a:gd name="adj1" fmla="val -46185"/>
                <a:gd name="adj2" fmla="val 143782"/>
                <a:gd name="adj3" fmla="val 16667"/>
              </a:avLst>
            </a:prstGeom>
          </p:spPr>
          <p:style>
            <a:lnRef idx="2">
              <a:schemeClr val="accent1"/>
            </a:lnRef>
            <a:fillRef idx="1">
              <a:schemeClr val="lt1"/>
            </a:fillRef>
            <a:effectRef idx="0">
              <a:schemeClr val="accent1"/>
            </a:effectRef>
            <a:fontRef idx="minor">
              <a:schemeClr val="dk1"/>
            </a:fontRef>
          </p:style>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sz="1200" b="1">
                  <a:latin typeface="Times New Roman" panose="02020603050405020304" pitchFamily="18" charset="0"/>
                </a:rPr>
                <a:t>左视图</a:t>
              </a:r>
              <a:endParaRPr lang="zh-CN" altLang="en-US" sz="1200" b="1"/>
            </a:p>
          </p:txBody>
        </p:sp>
        <p:sp>
          <p:nvSpPr>
            <p:cNvPr id="10" name="AutoShape 225"/>
            <p:cNvSpPr>
              <a:spLocks noChangeArrowheads="1"/>
            </p:cNvSpPr>
            <p:nvPr/>
          </p:nvSpPr>
          <p:spPr bwMode="auto">
            <a:xfrm>
              <a:off x="6764" y="6835"/>
              <a:ext cx="901" cy="402"/>
            </a:xfrm>
            <a:prstGeom prst="wedgeRoundRectCallout">
              <a:avLst>
                <a:gd name="adj1" fmla="val -8051"/>
                <a:gd name="adj2" fmla="val 136319"/>
                <a:gd name="adj3" fmla="val 16667"/>
              </a:avLst>
            </a:prstGeom>
          </p:spPr>
          <p:style>
            <a:lnRef idx="2">
              <a:schemeClr val="accent1"/>
            </a:lnRef>
            <a:fillRef idx="1">
              <a:schemeClr val="lt1"/>
            </a:fillRef>
            <a:effectRef idx="0">
              <a:schemeClr val="accent1"/>
            </a:effectRef>
            <a:fontRef idx="minor">
              <a:schemeClr val="dk1"/>
            </a:fontRef>
          </p:style>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sz="1200" b="1">
                  <a:latin typeface="Times New Roman" panose="02020603050405020304" pitchFamily="18" charset="0"/>
                </a:rPr>
                <a:t>主视图</a:t>
              </a:r>
              <a:endParaRPr lang="zh-CN" altLang="en-US" sz="1200" b="1"/>
            </a:p>
          </p:txBody>
        </p:sp>
        <p:sp>
          <p:nvSpPr>
            <p:cNvPr id="11" name="AutoShape 226"/>
            <p:cNvSpPr>
              <a:spLocks noChangeArrowheads="1"/>
            </p:cNvSpPr>
            <p:nvPr/>
          </p:nvSpPr>
          <p:spPr bwMode="auto">
            <a:xfrm>
              <a:off x="8416" y="8353"/>
              <a:ext cx="901" cy="402"/>
            </a:xfrm>
            <a:prstGeom prst="wedgeRoundRectCallout">
              <a:avLst>
                <a:gd name="adj1" fmla="val -109491"/>
                <a:gd name="adj2" fmla="val 51741"/>
                <a:gd name="adj3" fmla="val 16667"/>
              </a:avLst>
            </a:prstGeom>
          </p:spPr>
          <p:style>
            <a:lnRef idx="2">
              <a:schemeClr val="accent1"/>
            </a:lnRef>
            <a:fillRef idx="1">
              <a:schemeClr val="lt1"/>
            </a:fillRef>
            <a:effectRef idx="0">
              <a:schemeClr val="accent1"/>
            </a:effectRef>
            <a:fontRef idx="minor">
              <a:schemeClr val="dk1"/>
            </a:fontRef>
          </p:style>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sz="1200" b="1">
                  <a:latin typeface="Times New Roman" panose="02020603050405020304" pitchFamily="18" charset="0"/>
                </a:rPr>
                <a:t>俯视图</a:t>
              </a:r>
              <a:endParaRPr lang="zh-CN" altLang="en-US" sz="1200" b="1"/>
            </a:p>
          </p:txBody>
        </p:sp>
        <p:pic>
          <p:nvPicPr>
            <p:cNvPr id="12" name="Picture 2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6" y="8100"/>
              <a:ext cx="662"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Line 228"/>
            <p:cNvSpPr>
              <a:spLocks noChangeShapeType="1"/>
            </p:cNvSpPr>
            <p:nvPr/>
          </p:nvSpPr>
          <p:spPr bwMode="auto">
            <a:xfrm flipV="1">
              <a:off x="4358" y="7847"/>
              <a:ext cx="852" cy="50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vert="eaVert"/>
            <a:lstStyle/>
            <a:p>
              <a:endParaRPr lang="zh-CN" altLang="en-US" sz="1350" b="1"/>
            </a:p>
          </p:txBody>
        </p:sp>
        <p:sp>
          <p:nvSpPr>
            <p:cNvPr id="14" name="Line 229"/>
            <p:cNvSpPr>
              <a:spLocks noChangeShapeType="1"/>
            </p:cNvSpPr>
            <p:nvPr/>
          </p:nvSpPr>
          <p:spPr bwMode="auto">
            <a:xfrm flipV="1">
              <a:off x="4358" y="8353"/>
              <a:ext cx="1344"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vert="eaVert"/>
            <a:lstStyle/>
            <a:p>
              <a:endParaRPr lang="zh-CN" altLang="en-US" sz="1350" b="1"/>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UML</a:t>
            </a:r>
            <a:r>
              <a:rPr lang="zh-CN" altLang="en-US" dirty="0"/>
              <a:t>的</a:t>
            </a:r>
            <a:r>
              <a:rPr lang="en-US" altLang="zh-CN" dirty="0"/>
              <a:t>5</a:t>
            </a:r>
            <a:r>
              <a:rPr lang="zh-CN" altLang="en-US" dirty="0"/>
              <a:t>种视图</a:t>
            </a:r>
            <a:endParaRPr lang="zh-CN" altLang="en-US" dirty="0"/>
          </a:p>
        </p:txBody>
      </p:sp>
      <p:graphicFrame>
        <p:nvGraphicFramePr>
          <p:cNvPr id="5" name="内容占位符 4"/>
          <p:cNvGraphicFramePr>
            <a:graphicFrameLocks noGrp="1"/>
          </p:cNvGraphicFramePr>
          <p:nvPr>
            <p:ph idx="1"/>
          </p:nvPr>
        </p:nvGraphicFramePr>
        <p:xfrm>
          <a:off x="768350" y="925513"/>
          <a:ext cx="7832725" cy="380682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7" name="日期占位符 6"/>
          <p:cNvSpPr>
            <a:spLocks noGrp="1"/>
          </p:cNvSpPr>
          <p:nvPr>
            <p:ph type="dt" sz="half" idx="10"/>
          </p:nvPr>
        </p:nvSpPr>
        <p:spPr/>
        <p:txBody>
          <a:bodyPr/>
          <a:lstStyle/>
          <a:p>
            <a:fld id="{B2D703AE-D9EA-4F9B-B2D5-99EB2EEF2F2D}"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zh-CN" dirty="0"/>
              <a:t>UML</a:t>
            </a:r>
            <a:r>
              <a:rPr lang="zh-CN" altLang="en-US" dirty="0"/>
              <a:t>的</a:t>
            </a:r>
            <a:r>
              <a:rPr lang="en-US" altLang="zh-CN" dirty="0"/>
              <a:t>5</a:t>
            </a:r>
            <a:r>
              <a:rPr lang="zh-CN" altLang="en-US" dirty="0"/>
              <a:t>种视图</a:t>
            </a:r>
            <a:endParaRPr lang="zh-CN" altLang="en-US" dirty="0"/>
          </a:p>
        </p:txBody>
      </p:sp>
      <p:sp>
        <p:nvSpPr>
          <p:cNvPr id="3" name="内容占位符 2"/>
          <p:cNvSpPr>
            <a:spLocks noGrp="1"/>
          </p:cNvSpPr>
          <p:nvPr>
            <p:ph idx="1"/>
          </p:nvPr>
        </p:nvSpPr>
        <p:spPr/>
        <p:txBody>
          <a:bodyPr/>
          <a:lstStyle/>
          <a:p>
            <a:endParaRPr lang="zh-CN" altLang="en-US"/>
          </a:p>
        </p:txBody>
      </p:sp>
      <p:sp>
        <p:nvSpPr>
          <p:cNvPr id="9" name="日期占位符 8"/>
          <p:cNvSpPr>
            <a:spLocks noGrp="1"/>
          </p:cNvSpPr>
          <p:nvPr>
            <p:ph type="dt" sz="half" idx="10"/>
          </p:nvPr>
        </p:nvSpPr>
        <p:spPr/>
        <p:txBody>
          <a:bodyPr/>
          <a:lstStyle/>
          <a:p>
            <a:fld id="{FF338562-855C-4E00-9962-A26870435DBC}" type="datetime1">
              <a:rPr lang="zh-CN" altLang="en-US" smtClean="0"/>
            </a:fld>
            <a:endParaRPr lang="zh-CN" altLang="en-US" dirty="0"/>
          </a:p>
        </p:txBody>
      </p:sp>
      <p:sp>
        <p:nvSpPr>
          <p:cNvPr id="10" name="页脚占位符 9"/>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4" name="Group 75"/>
          <p:cNvGraphicFramePr>
            <a:graphicFrameLocks noGrp="1"/>
          </p:cNvGraphicFramePr>
          <p:nvPr/>
        </p:nvGraphicFramePr>
        <p:xfrm>
          <a:off x="620488" y="986280"/>
          <a:ext cx="8360226" cy="3675782"/>
        </p:xfrm>
        <a:graphic>
          <a:graphicData uri="http://schemas.openxmlformats.org/drawingml/2006/table">
            <a:tbl>
              <a:tblPr>
                <a:tableStyleId>{BC89EF96-8CEA-46FF-86C4-4CE0E7609802}</a:tableStyleId>
              </a:tblPr>
              <a:tblGrid>
                <a:gridCol w="653141"/>
                <a:gridCol w="1404257"/>
                <a:gridCol w="2601685"/>
                <a:gridCol w="1099458"/>
                <a:gridCol w="2601685"/>
              </a:tblGrid>
              <a:tr h="244018">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u="none" strike="noStrike" cap="none" normalizeH="0" baseline="0" dirty="0">
                          <a:ln>
                            <a:noFill/>
                          </a:ln>
                          <a:effectLst/>
                          <a:latin typeface="+mj-ea"/>
                          <a:ea typeface="+mj-ea"/>
                        </a:rPr>
                        <a:t> 序号</a:t>
                      </a:r>
                      <a:endParaRPr kumimoji="0" lang="zh-CN" altLang="en-US"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accent2">
                        <a:lumMod val="40000"/>
                        <a:lumOff val="6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u="none" strike="noStrike" cap="none" normalizeH="0" baseline="0" dirty="0">
                          <a:ln>
                            <a:noFill/>
                          </a:ln>
                          <a:effectLst/>
                          <a:latin typeface="+mj-ea"/>
                          <a:ea typeface="+mj-ea"/>
                        </a:rPr>
                        <a:t>视图名称</a:t>
                      </a:r>
                      <a:endParaRPr kumimoji="0" lang="zh-CN" altLang="en-US"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accent2">
                        <a:lumMod val="40000"/>
                        <a:lumOff val="6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u="none" strike="noStrike" cap="none" normalizeH="0" baseline="0" dirty="0">
                          <a:ln>
                            <a:noFill/>
                          </a:ln>
                          <a:effectLst/>
                          <a:latin typeface="+mj-ea"/>
                          <a:ea typeface="+mj-ea"/>
                        </a:rPr>
                        <a:t>视图内容</a:t>
                      </a:r>
                      <a:endParaRPr kumimoji="0" lang="zh-CN" altLang="en-US"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accent2">
                        <a:lumMod val="40000"/>
                        <a:lumOff val="6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u="none" strike="noStrike" cap="none" normalizeH="0" baseline="0" dirty="0">
                          <a:ln>
                            <a:noFill/>
                          </a:ln>
                          <a:effectLst/>
                          <a:latin typeface="+mj-ea"/>
                          <a:ea typeface="+mj-ea"/>
                        </a:rPr>
                        <a:t>图形元素</a:t>
                      </a:r>
                      <a:endParaRPr kumimoji="0" lang="zh-CN" altLang="en-US"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accent2">
                        <a:lumMod val="40000"/>
                        <a:lumOff val="6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u="none" strike="noStrike" cap="none" normalizeH="0" baseline="0" dirty="0">
                          <a:ln>
                            <a:noFill/>
                          </a:ln>
                          <a:effectLst/>
                          <a:latin typeface="+mj-ea"/>
                          <a:ea typeface="+mj-ea"/>
                        </a:rPr>
                        <a:t>观察角度</a:t>
                      </a:r>
                      <a:endParaRPr kumimoji="0" lang="zh-CN" altLang="en-US"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accent2">
                        <a:lumMod val="40000"/>
                        <a:lumOff val="60000"/>
                      </a:schemeClr>
                    </a:solidFill>
                  </a:tcPr>
                </a:tc>
              </a:tr>
              <a:tr h="553887">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dirty="0">
                          <a:ln>
                            <a:noFill/>
                          </a:ln>
                          <a:effectLst/>
                          <a:latin typeface="+mj-ea"/>
                          <a:ea typeface="+mj-ea"/>
                        </a:rPr>
                        <a:t>1</a:t>
                      </a:r>
                      <a:endParaRPr kumimoji="0" lang="en-US" altLang="zh-CN"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用户模型视图</a:t>
                      </a:r>
                      <a:endParaRPr kumimoji="0" lang="zh-CN" altLang="en-US" sz="1600" u="none" strike="noStrike" cap="none" normalizeH="0" baseline="0" dirty="0">
                        <a:ln>
                          <a:noFill/>
                        </a:ln>
                        <a:effectLst/>
                        <a:latin typeface="+mj-ea"/>
                        <a:ea typeface="+mj-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（用例视图）</a:t>
                      </a:r>
                      <a:endParaRPr kumimoji="0" lang="zh-CN" altLang="en-US"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系统的功能和行为能力建模</a:t>
                      </a:r>
                      <a:endParaRPr kumimoji="0" lang="zh-CN" altLang="en-US"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用例图</a:t>
                      </a:r>
                      <a:endParaRPr kumimoji="0" lang="zh-CN" altLang="en-US"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用户、分析师、架构师，面向功能的划分</a:t>
                      </a:r>
                      <a:endParaRPr kumimoji="0" lang="zh-CN" altLang="en-US" sz="14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r>
              <a:tr h="61334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dirty="0">
                          <a:ln>
                            <a:noFill/>
                          </a:ln>
                          <a:effectLst/>
                          <a:latin typeface="+mj-ea"/>
                          <a:ea typeface="+mj-ea"/>
                        </a:rPr>
                        <a:t>2</a:t>
                      </a:r>
                      <a:endParaRPr kumimoji="0" lang="en-US" altLang="zh-CN"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结构模型视图</a:t>
                      </a:r>
                      <a:endParaRPr kumimoji="0" lang="zh-CN" altLang="en-US" sz="1600" u="none" strike="noStrike" cap="none" normalizeH="0" baseline="0" dirty="0">
                        <a:ln>
                          <a:noFill/>
                        </a:ln>
                        <a:effectLst/>
                        <a:latin typeface="+mj-ea"/>
                        <a:ea typeface="+mj-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（设计视图）</a:t>
                      </a:r>
                      <a:endParaRPr kumimoji="0" lang="zh-CN" altLang="en-US"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指领域问题的静态结构（类、对象和关系）建模</a:t>
                      </a:r>
                      <a:endParaRPr kumimoji="0" lang="zh-CN" altLang="en-US"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类图、</a:t>
                      </a:r>
                      <a:endParaRPr kumimoji="0" lang="en-US" altLang="zh-CN" sz="1600" u="none" strike="noStrike" cap="none" normalizeH="0" baseline="0" dirty="0">
                        <a:ln>
                          <a:noFill/>
                        </a:ln>
                        <a:effectLst/>
                        <a:latin typeface="+mj-ea"/>
                        <a:ea typeface="+mj-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对象图</a:t>
                      </a:r>
                      <a:endParaRPr kumimoji="0" lang="zh-CN" altLang="en-US"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400" u="none" strike="noStrike" cap="none" normalizeH="0" baseline="0">
                          <a:ln>
                            <a:noFill/>
                          </a:ln>
                          <a:effectLst/>
                          <a:latin typeface="+mj-ea"/>
                          <a:ea typeface="+mj-ea"/>
                        </a:rPr>
                        <a:t>设计师，面向结构的划分，找出类和接口，及其关系</a:t>
                      </a:r>
                      <a:endParaRPr kumimoji="0" lang="zh-CN" altLang="en-US" sz="1400" b="1" i="0" u="none" strike="noStrike" cap="none" normalizeH="0" baseline="0">
                        <a:ln>
                          <a:noFill/>
                        </a:ln>
                        <a:solidFill>
                          <a:schemeClr val="tx1"/>
                        </a:solidFill>
                        <a:effectLst/>
                        <a:latin typeface="+mj-ea"/>
                        <a:ea typeface="+mj-ea"/>
                      </a:endParaRPr>
                    </a:p>
                  </a:txBody>
                  <a:tcPr marL="68580" marR="68580" marT="34290" marB="34290" anchor="ctr" horzOverflow="overflow">
                    <a:solidFill>
                      <a:schemeClr val="bg1"/>
                    </a:solidFill>
                  </a:tcPr>
                </a:tc>
              </a:tr>
              <a:tr h="61334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dirty="0">
                          <a:ln>
                            <a:noFill/>
                          </a:ln>
                          <a:effectLst/>
                          <a:latin typeface="+mj-ea"/>
                          <a:ea typeface="+mj-ea"/>
                        </a:rPr>
                        <a:t>3</a:t>
                      </a:r>
                      <a:endParaRPr kumimoji="0" lang="en-US" altLang="zh-CN"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行为模型视图</a:t>
                      </a:r>
                      <a:endParaRPr kumimoji="0" lang="zh-CN" altLang="en-US" sz="1600" u="none" strike="noStrike" cap="none" normalizeH="0" baseline="0" dirty="0">
                        <a:ln>
                          <a:noFill/>
                        </a:ln>
                        <a:effectLst/>
                        <a:latin typeface="+mj-ea"/>
                        <a:ea typeface="+mj-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（进程视图）</a:t>
                      </a:r>
                      <a:endParaRPr kumimoji="0" lang="zh-CN" altLang="en-US"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系统的动态或行为建模</a:t>
                      </a:r>
                      <a:endParaRPr kumimoji="0" lang="zh-CN" altLang="en-US"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活动图、状态图、交互图</a:t>
                      </a:r>
                      <a:endParaRPr kumimoji="0" lang="zh-CN" altLang="en-US"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400" u="none" strike="noStrike" cap="none" normalizeH="0" baseline="0">
                          <a:ln>
                            <a:noFill/>
                          </a:ln>
                          <a:effectLst/>
                          <a:latin typeface="+mj-ea"/>
                          <a:ea typeface="+mj-ea"/>
                        </a:rPr>
                        <a:t>设计师，面向线程、进程</a:t>
                      </a:r>
                      <a:endParaRPr kumimoji="0" lang="zh-CN" altLang="en-US" sz="1400" b="1" i="0" u="none" strike="noStrike" cap="none" normalizeH="0" baseline="0">
                        <a:ln>
                          <a:noFill/>
                        </a:ln>
                        <a:solidFill>
                          <a:schemeClr val="tx1"/>
                        </a:solidFill>
                        <a:effectLst/>
                        <a:latin typeface="+mj-ea"/>
                        <a:ea typeface="+mj-ea"/>
                      </a:endParaRPr>
                    </a:p>
                  </a:txBody>
                  <a:tcPr marL="68580" marR="68580" marT="34290" marB="34290" anchor="ctr" horzOverflow="overflow">
                    <a:solidFill>
                      <a:schemeClr val="bg1"/>
                    </a:solidFill>
                  </a:tcPr>
                </a:tc>
              </a:tr>
              <a:tr h="593558">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dirty="0">
                          <a:ln>
                            <a:noFill/>
                          </a:ln>
                          <a:effectLst/>
                          <a:latin typeface="+mj-ea"/>
                          <a:ea typeface="+mj-ea"/>
                        </a:rPr>
                        <a:t>4</a:t>
                      </a:r>
                      <a:endParaRPr kumimoji="0" lang="en-US" altLang="zh-CN"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实现模型视图</a:t>
                      </a:r>
                      <a:endParaRPr kumimoji="0" lang="zh-CN" altLang="en-US" sz="1600" u="none" strike="noStrike" cap="none" normalizeH="0" baseline="0" dirty="0">
                        <a:ln>
                          <a:noFill/>
                        </a:ln>
                        <a:effectLst/>
                        <a:latin typeface="+mj-ea"/>
                        <a:ea typeface="+mj-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（实现视图）</a:t>
                      </a:r>
                      <a:endParaRPr kumimoji="0" lang="zh-CN" altLang="en-US"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组件模型，系统的结构建模 </a:t>
                      </a:r>
                      <a:endParaRPr kumimoji="0" lang="zh-CN" altLang="en-US"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组件图</a:t>
                      </a:r>
                      <a:endParaRPr kumimoji="0" lang="zh-CN" altLang="en-US"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400" u="none" strike="noStrike" cap="none" normalizeH="0" baseline="0">
                          <a:ln>
                            <a:noFill/>
                          </a:ln>
                          <a:effectLst/>
                          <a:latin typeface="+mj-ea"/>
                          <a:ea typeface="+mj-ea"/>
                        </a:rPr>
                        <a:t>设计师、架构师进行组件配置、发布的设计</a:t>
                      </a:r>
                      <a:endParaRPr kumimoji="0" lang="zh-CN" altLang="en-US" sz="1400" b="1" i="0" u="none" strike="noStrike" cap="none" normalizeH="0" baseline="0">
                        <a:ln>
                          <a:noFill/>
                        </a:ln>
                        <a:solidFill>
                          <a:schemeClr val="tx1"/>
                        </a:solidFill>
                        <a:effectLst/>
                        <a:latin typeface="+mj-ea"/>
                        <a:ea typeface="+mj-ea"/>
                      </a:endParaRPr>
                    </a:p>
                  </a:txBody>
                  <a:tcPr marL="68580" marR="68580" marT="34290" marB="34290" anchor="ctr" horzOverflow="overflow">
                    <a:solidFill>
                      <a:schemeClr val="bg1"/>
                    </a:solidFill>
                  </a:tcPr>
                </a:tc>
              </a:tr>
              <a:tr h="771626">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dirty="0">
                          <a:ln>
                            <a:noFill/>
                          </a:ln>
                          <a:effectLst/>
                          <a:latin typeface="+mj-ea"/>
                          <a:ea typeface="+mj-ea"/>
                        </a:rPr>
                        <a:t>5</a:t>
                      </a:r>
                      <a:endParaRPr kumimoji="0" lang="en-US" altLang="zh-CN"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环境模型视图</a:t>
                      </a:r>
                      <a:endParaRPr kumimoji="0" lang="zh-CN" altLang="en-US" sz="1600" u="none" strike="noStrike" cap="none" normalizeH="0" baseline="0" dirty="0">
                        <a:ln>
                          <a:noFill/>
                        </a:ln>
                        <a:effectLst/>
                        <a:latin typeface="+mj-ea"/>
                        <a:ea typeface="+mj-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（实施视图）</a:t>
                      </a:r>
                      <a:endParaRPr kumimoji="0" lang="zh-CN" altLang="en-US"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系统物理结构，组件与物理节点的配置、发布、交付、安装模型</a:t>
                      </a:r>
                      <a:endParaRPr kumimoji="0" lang="zh-CN" altLang="en-US"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部署图</a:t>
                      </a:r>
                      <a:r>
                        <a:rPr kumimoji="0" lang="en-US" altLang="zh-CN" sz="1600" u="none" strike="noStrike" cap="none" normalizeH="0" baseline="0" dirty="0">
                          <a:ln>
                            <a:noFill/>
                          </a:ln>
                          <a:effectLst/>
                          <a:latin typeface="+mj-ea"/>
                          <a:ea typeface="+mj-ea"/>
                        </a:rPr>
                        <a:t>(</a:t>
                      </a:r>
                      <a:r>
                        <a:rPr kumimoji="0" lang="zh-CN" altLang="en-US" sz="1600" u="none" strike="noStrike" cap="none" normalizeH="0" baseline="0" dirty="0">
                          <a:ln>
                            <a:noFill/>
                          </a:ln>
                          <a:effectLst/>
                          <a:latin typeface="+mj-ea"/>
                          <a:ea typeface="+mj-ea"/>
                        </a:rPr>
                        <a:t>实施图</a:t>
                      </a:r>
                      <a:r>
                        <a:rPr kumimoji="0" lang="en-US" altLang="zh-CN" sz="1600" u="none" strike="noStrike" cap="none" normalizeH="0" baseline="0" dirty="0">
                          <a:ln>
                            <a:noFill/>
                          </a:ln>
                          <a:effectLst/>
                          <a:latin typeface="+mj-ea"/>
                          <a:ea typeface="+mj-ea"/>
                        </a:rPr>
                        <a:t>)</a:t>
                      </a:r>
                      <a:endParaRPr kumimoji="0" lang="en-US" altLang="zh-CN" sz="16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400" u="none" strike="noStrike" cap="none" normalizeH="0" baseline="0" dirty="0">
                          <a:ln>
                            <a:noFill/>
                          </a:ln>
                          <a:effectLst/>
                          <a:latin typeface="+mj-ea"/>
                          <a:ea typeface="+mj-ea"/>
                        </a:rPr>
                        <a:t>软件运行环境、系统的拓扑结构、实施方案设计                                                                                                                 </a:t>
                      </a:r>
                      <a:endParaRPr kumimoji="0" lang="zh-CN" altLang="en-US" sz="1400" b="1" i="0" u="none" strike="noStrike" cap="none" normalizeH="0" baseline="0" dirty="0">
                        <a:ln>
                          <a:noFill/>
                        </a:ln>
                        <a:solidFill>
                          <a:schemeClr val="tx1"/>
                        </a:solidFill>
                        <a:effectLst/>
                        <a:latin typeface="+mj-ea"/>
                        <a:ea typeface="+mj-ea"/>
                      </a:endParaRPr>
                    </a:p>
                  </a:txBody>
                  <a:tcPr marL="68580" marR="68580" marT="34290" marB="34290" anchor="ctr" horzOverflow="overflow">
                    <a:solidFill>
                      <a:schemeClr val="bg1"/>
                    </a:solidFill>
                  </a:tcPr>
                </a:tc>
              </a:tr>
            </a:tbl>
          </a:graphicData>
        </a:graphic>
      </p:graphicFrame>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UML</a:t>
            </a:r>
            <a:r>
              <a:rPr lang="zh-CN" altLang="en-US" dirty="0"/>
              <a:t>的模型</a:t>
            </a:r>
            <a:endParaRPr lang="zh-CN" altLang="en-US" dirty="0"/>
          </a:p>
        </p:txBody>
      </p:sp>
      <p:sp>
        <p:nvSpPr>
          <p:cNvPr id="3" name="内容占位符 2"/>
          <p:cNvSpPr>
            <a:spLocks noGrp="1"/>
          </p:cNvSpPr>
          <p:nvPr>
            <p:ph idx="1"/>
          </p:nvPr>
        </p:nvSpPr>
        <p:spPr/>
        <p:txBody>
          <a:bodyPr>
            <a:normAutofit/>
          </a:bodyPr>
          <a:lstStyle/>
          <a:p>
            <a:r>
              <a:rPr lang="zh-CN" altLang="zh-CN" sz="2000" dirty="0"/>
              <a:t>面向对象方法在开发过程中会产生以下几种主要模型：用例模型、静态模型、动态模型和实现模型</a:t>
            </a:r>
            <a:r>
              <a:rPr lang="zh-CN" altLang="en-US" sz="2000" dirty="0"/>
              <a:t>。</a:t>
            </a:r>
            <a:endParaRPr lang="en-US" altLang="zh-CN" sz="2000" dirty="0"/>
          </a:p>
          <a:p>
            <a:endParaRPr lang="zh-CN" altLang="en-US" sz="2000" dirty="0"/>
          </a:p>
        </p:txBody>
      </p:sp>
      <p:sp>
        <p:nvSpPr>
          <p:cNvPr id="4" name="日期占位符 3"/>
          <p:cNvSpPr>
            <a:spLocks noGrp="1"/>
          </p:cNvSpPr>
          <p:nvPr>
            <p:ph type="dt" sz="half" idx="10"/>
          </p:nvPr>
        </p:nvSpPr>
        <p:spPr/>
        <p:txBody>
          <a:bodyPr/>
          <a:lstStyle/>
          <a:p>
            <a:fld id="{114649D2-6C2F-4B42-AAEC-EAE57ED10CF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aphicFrame>
        <p:nvGraphicFramePr>
          <p:cNvPr id="7" name="图示 6"/>
          <p:cNvGraphicFramePr/>
          <p:nvPr/>
        </p:nvGraphicFramePr>
        <p:xfrm>
          <a:off x="310546" y="1730829"/>
          <a:ext cx="8626623" cy="280851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rrowheads="1"/>
          </p:cNvSpPr>
          <p:nvPr>
            <p:ph type="title"/>
          </p:nvPr>
        </p:nvSpPr>
        <p:spPr/>
        <p:txBody>
          <a:bodyPr/>
          <a:lstStyle/>
          <a:p>
            <a:r>
              <a:rPr lang="en-US" altLang="zh-CN" dirty="0"/>
              <a:t>UML</a:t>
            </a:r>
            <a:r>
              <a:rPr lang="zh-CN" altLang="en-US" dirty="0"/>
              <a:t>的应用</a:t>
            </a:r>
            <a:endParaRPr lang="zh-CN" altLang="en-US" dirty="0"/>
          </a:p>
        </p:txBody>
      </p:sp>
      <p:sp>
        <p:nvSpPr>
          <p:cNvPr id="22531" name="Rectangle 3"/>
          <p:cNvSpPr>
            <a:spLocks noGrp="1" noRot="1" noChangeArrowheads="1"/>
          </p:cNvSpPr>
          <p:nvPr>
            <p:ph idx="1"/>
          </p:nvPr>
        </p:nvSpPr>
        <p:spPr/>
        <p:txBody>
          <a:bodyPr>
            <a:normAutofit fontScale="70000" lnSpcReduction="20000"/>
          </a:bodyPr>
          <a:lstStyle/>
          <a:p>
            <a:pPr>
              <a:lnSpc>
                <a:spcPct val="140000"/>
              </a:lnSpc>
            </a:pPr>
            <a:r>
              <a:rPr lang="en-US" altLang="zh-CN" dirty="0">
                <a:solidFill>
                  <a:schemeClr val="accent2">
                    <a:lumMod val="75000"/>
                  </a:schemeClr>
                </a:solidFill>
              </a:rPr>
              <a:t>UML</a:t>
            </a:r>
            <a:r>
              <a:rPr lang="zh-CN" altLang="en-US" dirty="0">
                <a:solidFill>
                  <a:schemeClr val="accent2">
                    <a:lumMod val="75000"/>
                  </a:schemeClr>
                </a:solidFill>
              </a:rPr>
              <a:t>的目标是以面向对象图的方式来描述任何类型的系统。其中最常用的是建立软件系统的模型，但它同样可以用于描述非软件领域的系统，如机械系统、企业机构或业务过程，以及处理复杂数据的信息系统、具有实时要求的工业系统或工业过程等。</a:t>
            </a:r>
            <a:endParaRPr lang="zh-CN" altLang="en-US" dirty="0">
              <a:solidFill>
                <a:schemeClr val="accent2">
                  <a:lumMod val="75000"/>
                </a:schemeClr>
              </a:solidFill>
            </a:endParaRPr>
          </a:p>
          <a:p>
            <a:pPr>
              <a:lnSpc>
                <a:spcPct val="140000"/>
              </a:lnSpc>
            </a:pPr>
            <a:r>
              <a:rPr lang="en-US" altLang="zh-CN" dirty="0">
                <a:solidFill>
                  <a:schemeClr val="accent2">
                    <a:lumMod val="75000"/>
                  </a:schemeClr>
                </a:solidFill>
              </a:rPr>
              <a:t>UML</a:t>
            </a:r>
            <a:r>
              <a:rPr lang="zh-CN" altLang="en-US" dirty="0">
                <a:solidFill>
                  <a:schemeClr val="accent2">
                    <a:lumMod val="75000"/>
                  </a:schemeClr>
                </a:solidFill>
              </a:rPr>
              <a:t>模型可作为测试阶段的依据。系统通常需要经过单元测试、集成测试、系统测试和验收测试。不同的测试小组使用不同的</a:t>
            </a:r>
            <a:r>
              <a:rPr lang="en-US" altLang="zh-CN" dirty="0">
                <a:solidFill>
                  <a:schemeClr val="accent2">
                    <a:lumMod val="75000"/>
                  </a:schemeClr>
                </a:solidFill>
              </a:rPr>
              <a:t>UML</a:t>
            </a:r>
            <a:r>
              <a:rPr lang="zh-CN" altLang="en-US" dirty="0">
                <a:solidFill>
                  <a:schemeClr val="accent2">
                    <a:lumMod val="75000"/>
                  </a:schemeClr>
                </a:solidFill>
              </a:rPr>
              <a:t>图作为测试依据：单元测试使用类图和类规格说明；集成测试使用部件图和协作图；验收测试使用用例图来验证系统的行为。</a:t>
            </a:r>
            <a:endParaRPr lang="zh-CN" altLang="en-US" dirty="0">
              <a:solidFill>
                <a:schemeClr val="accent2">
                  <a:lumMod val="75000"/>
                </a:schemeClr>
              </a:solidFill>
            </a:endParaRPr>
          </a:p>
        </p:txBody>
      </p:sp>
      <p:sp>
        <p:nvSpPr>
          <p:cNvPr id="5" name="日期占位符 4"/>
          <p:cNvSpPr>
            <a:spLocks noGrp="1"/>
          </p:cNvSpPr>
          <p:nvPr>
            <p:ph type="dt" sz="half" idx="10"/>
          </p:nvPr>
        </p:nvSpPr>
        <p:spPr/>
        <p:txBody>
          <a:bodyPr/>
          <a:lstStyle/>
          <a:p>
            <a:fld id="{ACA8B0F0-AFE0-45A8-953F-30656C2F028E}"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内容占位符 3"/>
          <p:cNvSpPr>
            <a:spLocks noGrp="1"/>
          </p:cNvSpPr>
          <p:nvPr>
            <p:ph idx="1"/>
          </p:nvPr>
        </p:nvSpPr>
        <p:spPr/>
        <p:txBody>
          <a:bodyPr/>
          <a:lstStyle/>
          <a:p>
            <a:endParaRPr lang="zh-CN" altLang="en-US"/>
          </a:p>
        </p:txBody>
      </p:sp>
      <p:sp>
        <p:nvSpPr>
          <p:cNvPr id="6" name="日期占位符 5"/>
          <p:cNvSpPr>
            <a:spLocks noGrp="1"/>
          </p:cNvSpPr>
          <p:nvPr>
            <p:ph type="dt" sz="half" idx="10"/>
          </p:nvPr>
        </p:nvSpPr>
        <p:spPr/>
        <p:txBody>
          <a:bodyPr/>
          <a:lstStyle/>
          <a:p>
            <a:fld id="{B412D43C-7A61-4042-B215-BA7813F02C51}"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5" name="图片 4"/>
          <p:cNvPicPr>
            <a:picLocks noChangeAspect="1"/>
          </p:cNvPicPr>
          <p:nvPr/>
        </p:nvPicPr>
        <p:blipFill>
          <a:blip r:embed="rId1" cstate="print"/>
          <a:stretch>
            <a:fillRect/>
          </a:stretch>
        </p:blipFill>
        <p:spPr>
          <a:xfrm>
            <a:off x="2383790" y="0"/>
            <a:ext cx="4213225" cy="46291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zh-CN" altLang="en-US" dirty="0"/>
              <a:t>用</a:t>
            </a:r>
            <a:r>
              <a:rPr lang="en-US" altLang="zh-CN" dirty="0"/>
              <a:t>UML</a:t>
            </a:r>
            <a:r>
              <a:rPr lang="zh-CN" altLang="en-US" dirty="0"/>
              <a:t>图来描述一台洗衣机</a:t>
            </a:r>
            <a:endParaRPr lang="zh-CN" altLang="en-US" dirty="0"/>
          </a:p>
        </p:txBody>
      </p:sp>
      <p:sp>
        <p:nvSpPr>
          <p:cNvPr id="87043" name="Rectangle 3"/>
          <p:cNvSpPr>
            <a:spLocks noGrp="1" noChangeArrowheads="1"/>
          </p:cNvSpPr>
          <p:nvPr>
            <p:ph idx="1"/>
          </p:nvPr>
        </p:nvSpPr>
        <p:spPr/>
        <p:txBody>
          <a:bodyPr>
            <a:noAutofit/>
          </a:bodyPr>
          <a:lstStyle/>
          <a:p>
            <a:pPr>
              <a:lnSpc>
                <a:spcPct val="80000"/>
              </a:lnSpc>
              <a:spcBef>
                <a:spcPts val="450"/>
              </a:spcBef>
            </a:pPr>
            <a:r>
              <a:rPr lang="zh-CN" altLang="en-US" sz="1800" dirty="0"/>
              <a:t>一台洗衣机应该具备的属性：</a:t>
            </a:r>
            <a:endParaRPr lang="zh-CN" altLang="en-US" sz="1800" dirty="0"/>
          </a:p>
          <a:p>
            <a:pPr lvl="1">
              <a:lnSpc>
                <a:spcPct val="80000"/>
              </a:lnSpc>
              <a:spcBef>
                <a:spcPts val="450"/>
              </a:spcBef>
            </a:pPr>
            <a:r>
              <a:rPr lang="zh-CN" altLang="en-US" sz="1800" dirty="0"/>
              <a:t>品牌，比如海尔。</a:t>
            </a:r>
            <a:endParaRPr lang="zh-CN" altLang="en-US" sz="1800" dirty="0"/>
          </a:p>
          <a:p>
            <a:pPr lvl="1">
              <a:lnSpc>
                <a:spcPct val="80000"/>
              </a:lnSpc>
              <a:spcBef>
                <a:spcPts val="450"/>
              </a:spcBef>
            </a:pPr>
            <a:r>
              <a:rPr lang="zh-CN" altLang="en-US" sz="1800" dirty="0"/>
              <a:t>模式，比如全自动，半自动。</a:t>
            </a:r>
            <a:endParaRPr lang="zh-CN" altLang="en-US" sz="1800" dirty="0"/>
          </a:p>
          <a:p>
            <a:pPr lvl="1">
              <a:lnSpc>
                <a:spcPct val="80000"/>
              </a:lnSpc>
              <a:spcBef>
                <a:spcPts val="450"/>
              </a:spcBef>
            </a:pPr>
            <a:r>
              <a:rPr lang="zh-CN" altLang="en-US" sz="1800" dirty="0"/>
              <a:t>序列号，比如</a:t>
            </a:r>
            <a:r>
              <a:rPr lang="en-US" altLang="zh-CN" sz="1800" dirty="0"/>
              <a:t>AS19980909</a:t>
            </a:r>
            <a:endParaRPr lang="en-US" altLang="zh-CN" sz="1800" dirty="0"/>
          </a:p>
          <a:p>
            <a:pPr lvl="1">
              <a:lnSpc>
                <a:spcPct val="80000"/>
              </a:lnSpc>
              <a:spcBef>
                <a:spcPts val="450"/>
              </a:spcBef>
            </a:pPr>
            <a:r>
              <a:rPr lang="zh-CN" altLang="en-US" sz="1800" dirty="0"/>
              <a:t>容量，比如</a:t>
            </a:r>
            <a:r>
              <a:rPr lang="en-US" altLang="zh-CN" sz="1800" dirty="0"/>
              <a:t>5L</a:t>
            </a:r>
            <a:endParaRPr lang="en-US" altLang="zh-CN" sz="1800" dirty="0"/>
          </a:p>
          <a:p>
            <a:pPr lvl="1">
              <a:lnSpc>
                <a:spcPct val="80000"/>
              </a:lnSpc>
              <a:spcBef>
                <a:spcPts val="450"/>
              </a:spcBef>
            </a:pPr>
            <a:r>
              <a:rPr lang="en-US" altLang="zh-CN" sz="1800" dirty="0"/>
              <a:t>……</a:t>
            </a:r>
            <a:endParaRPr lang="en-US" altLang="zh-CN" sz="1800" dirty="0"/>
          </a:p>
          <a:p>
            <a:pPr>
              <a:lnSpc>
                <a:spcPct val="80000"/>
              </a:lnSpc>
              <a:spcBef>
                <a:spcPts val="450"/>
              </a:spcBef>
            </a:pPr>
            <a:r>
              <a:rPr lang="zh-CN" altLang="en-US" sz="1800" dirty="0"/>
              <a:t>一台洗衣机操作包括：</a:t>
            </a:r>
            <a:endParaRPr lang="zh-CN" altLang="en-US" sz="1800" dirty="0"/>
          </a:p>
          <a:p>
            <a:pPr lvl="1">
              <a:lnSpc>
                <a:spcPct val="80000"/>
              </a:lnSpc>
              <a:spcBef>
                <a:spcPts val="450"/>
              </a:spcBef>
            </a:pPr>
            <a:r>
              <a:rPr lang="zh-CN" altLang="en-US" sz="1800" dirty="0"/>
              <a:t>装入衣物</a:t>
            </a:r>
            <a:endParaRPr lang="zh-CN" altLang="en-US" sz="1800" dirty="0"/>
          </a:p>
          <a:p>
            <a:pPr lvl="1">
              <a:lnSpc>
                <a:spcPct val="80000"/>
              </a:lnSpc>
              <a:spcBef>
                <a:spcPts val="450"/>
              </a:spcBef>
            </a:pPr>
            <a:r>
              <a:rPr lang="zh-CN" altLang="en-US" sz="1800" dirty="0"/>
              <a:t>装入洗衣粉</a:t>
            </a:r>
            <a:endParaRPr lang="zh-CN" altLang="en-US" sz="1800" dirty="0"/>
          </a:p>
          <a:p>
            <a:pPr lvl="1">
              <a:lnSpc>
                <a:spcPct val="80000"/>
              </a:lnSpc>
              <a:spcBef>
                <a:spcPts val="450"/>
              </a:spcBef>
            </a:pPr>
            <a:r>
              <a:rPr lang="zh-CN" altLang="en-US" sz="1800" dirty="0"/>
              <a:t>开、关电源</a:t>
            </a:r>
            <a:endParaRPr lang="zh-CN" altLang="en-US" sz="1800" dirty="0"/>
          </a:p>
          <a:p>
            <a:pPr lvl="1">
              <a:lnSpc>
                <a:spcPct val="80000"/>
              </a:lnSpc>
              <a:spcBef>
                <a:spcPts val="450"/>
              </a:spcBef>
            </a:pPr>
            <a:r>
              <a:rPr lang="en-US" altLang="zh-CN" sz="1800" dirty="0"/>
              <a:t>……</a:t>
            </a:r>
            <a:endParaRPr lang="en-US" altLang="zh-CN" sz="1800" dirty="0"/>
          </a:p>
          <a:p>
            <a:pPr>
              <a:lnSpc>
                <a:spcPct val="80000"/>
              </a:lnSpc>
              <a:spcBef>
                <a:spcPts val="450"/>
              </a:spcBef>
            </a:pPr>
            <a:r>
              <a:rPr lang="zh-CN" altLang="en-US" sz="1800" dirty="0"/>
              <a:t>一台洗衣机的功能：浸泡，洗涤，漂洗，脱水</a:t>
            </a:r>
            <a:endParaRPr lang="zh-CN" altLang="en-US" sz="1800" dirty="0"/>
          </a:p>
          <a:p>
            <a:pPr>
              <a:lnSpc>
                <a:spcPct val="80000"/>
              </a:lnSpc>
              <a:spcBef>
                <a:spcPts val="450"/>
              </a:spcBef>
            </a:pPr>
            <a:r>
              <a:rPr lang="zh-CN" altLang="en-US" sz="1800" dirty="0"/>
              <a:t>人使用洗衣机来洗衣服。</a:t>
            </a:r>
            <a:endParaRPr lang="zh-CN" altLang="en-US" sz="1800" dirty="0"/>
          </a:p>
        </p:txBody>
      </p:sp>
      <p:sp>
        <p:nvSpPr>
          <p:cNvPr id="5" name="日期占位符 4"/>
          <p:cNvSpPr>
            <a:spLocks noGrp="1"/>
          </p:cNvSpPr>
          <p:nvPr>
            <p:ph type="dt" sz="half" idx="10"/>
          </p:nvPr>
        </p:nvSpPr>
        <p:spPr/>
        <p:txBody>
          <a:bodyPr/>
          <a:lstStyle/>
          <a:p>
            <a:fld id="{791B80D8-C3A3-4645-9E1C-A1E8975766DE}"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87045" name="Picture 5" descr="海尔 XQB50-7288A手搓">
            <a:hlinkClick r:id="rId1" tooltip="点击查看:海尔 XQB50-7288A手搓 下一张清晰大图"/>
          </p:cNvPr>
          <p:cNvPicPr>
            <a:picLocks noChangeAspect="1" noChangeArrowheads="1"/>
          </p:cNvPicPr>
          <p:nvPr/>
        </p:nvPicPr>
        <p:blipFill rotWithShape="1">
          <a:blip r:embed="rId2" cstate="print"/>
          <a:srcRect l="21528" r="25308"/>
          <a:stretch>
            <a:fillRect/>
          </a:stretch>
        </p:blipFill>
        <p:spPr bwMode="auto">
          <a:xfrm>
            <a:off x="6302210" y="893427"/>
            <a:ext cx="2347685" cy="3311947"/>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0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704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704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704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704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704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704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704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704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704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704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704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704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zh-CN" dirty="0"/>
              <a:t>1. </a:t>
            </a:r>
            <a:r>
              <a:rPr lang="zh-CN" altLang="en-US" dirty="0"/>
              <a:t>类图</a:t>
            </a:r>
            <a:endParaRPr lang="zh-CN" altLang="en-US" dirty="0"/>
          </a:p>
        </p:txBody>
      </p:sp>
      <p:sp>
        <p:nvSpPr>
          <p:cNvPr id="54275" name="Rectangle 3"/>
          <p:cNvSpPr>
            <a:spLocks noGrp="1" noChangeArrowheads="1"/>
          </p:cNvSpPr>
          <p:nvPr>
            <p:ph idx="1"/>
          </p:nvPr>
        </p:nvSpPr>
        <p:spPr/>
        <p:txBody>
          <a:bodyPr>
            <a:normAutofit/>
          </a:bodyPr>
          <a:lstStyle/>
          <a:p>
            <a:r>
              <a:rPr lang="zh-CN" altLang="en-US" sz="2000" dirty="0"/>
              <a:t>类</a:t>
            </a:r>
            <a:r>
              <a:rPr lang="en-US" altLang="zh-CN" sz="2000" dirty="0"/>
              <a:t>(class)</a:t>
            </a:r>
            <a:r>
              <a:rPr lang="zh-CN" altLang="en-US" sz="2000" dirty="0"/>
              <a:t>：一类或一组具有类似属性和共同行为的事物。</a:t>
            </a:r>
            <a:endParaRPr lang="zh-CN" altLang="en-US" sz="2000" dirty="0"/>
          </a:p>
          <a:p>
            <a:r>
              <a:rPr lang="zh-CN" altLang="en-US" sz="2000" dirty="0">
                <a:solidFill>
                  <a:srgbClr val="FF0000"/>
                </a:solidFill>
              </a:rPr>
              <a:t>类图</a:t>
            </a:r>
            <a:r>
              <a:rPr lang="zh-CN" altLang="en-US" sz="2000" dirty="0"/>
              <a:t>是类的可视化表达，展示了系统中类的静态结构，一个类图表达类的内部封装和外部关系；若干相关类图联系在一起构成的是模型，称类模型或</a:t>
            </a:r>
            <a:r>
              <a:rPr lang="zh-CN" altLang="en-US" sz="2000" dirty="0">
                <a:solidFill>
                  <a:srgbClr val="FF0000"/>
                </a:solidFill>
              </a:rPr>
              <a:t>逻辑模型</a:t>
            </a:r>
            <a:r>
              <a:rPr lang="zh-CN" altLang="en-US" sz="2000" dirty="0"/>
              <a:t>。</a:t>
            </a:r>
            <a:endParaRPr lang="en-US" altLang="zh-CN" sz="2000" dirty="0"/>
          </a:p>
        </p:txBody>
      </p:sp>
      <p:sp>
        <p:nvSpPr>
          <p:cNvPr id="6" name="日期占位符 5"/>
          <p:cNvSpPr>
            <a:spLocks noGrp="1"/>
          </p:cNvSpPr>
          <p:nvPr>
            <p:ph type="dt" sz="half" idx="10"/>
          </p:nvPr>
        </p:nvSpPr>
        <p:spPr/>
        <p:txBody>
          <a:bodyPr/>
          <a:lstStyle/>
          <a:p>
            <a:fld id="{523540C7-E549-45A5-AEB9-27D8ABB26CA1}"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54276" name="Picture 4"/>
          <p:cNvPicPr>
            <a:picLocks noChangeAspect="1" noChangeArrowheads="1"/>
          </p:cNvPicPr>
          <p:nvPr/>
        </p:nvPicPr>
        <p:blipFill>
          <a:blip r:embed="rId1" cstate="print"/>
          <a:srcRect/>
          <a:stretch>
            <a:fillRect/>
          </a:stretch>
        </p:blipFill>
        <p:spPr bwMode="auto">
          <a:xfrm>
            <a:off x="5093427" y="2286322"/>
            <a:ext cx="2142116" cy="2193119"/>
          </a:xfrm>
          <a:prstGeom prst="rect">
            <a:avLst/>
          </a:prstGeom>
          <a:noFill/>
          <a:ln w="9525" algn="ctr">
            <a:noFill/>
            <a:miter lim="800000"/>
            <a:headEnd/>
            <a:tailEnd/>
          </a:ln>
          <a:effectLst/>
        </p:spPr>
      </p:pic>
      <p:grpSp>
        <p:nvGrpSpPr>
          <p:cNvPr id="2" name="Group 5"/>
          <p:cNvGrpSpPr>
            <a:grpSpLocks noChangeAspect="1"/>
          </p:cNvGrpSpPr>
          <p:nvPr/>
        </p:nvGrpSpPr>
        <p:grpSpPr bwMode="auto">
          <a:xfrm>
            <a:off x="2004151" y="2942738"/>
            <a:ext cx="1757363" cy="1233191"/>
            <a:chOff x="2064" y="2251"/>
            <a:chExt cx="1719" cy="522"/>
          </a:xfrm>
        </p:grpSpPr>
        <p:sp>
          <p:nvSpPr>
            <p:cNvPr id="54278" name="AutoShape 6"/>
            <p:cNvSpPr>
              <a:spLocks noChangeAspect="1" noChangeArrowheads="1" noTextEdit="1"/>
            </p:cNvSpPr>
            <p:nvPr/>
          </p:nvSpPr>
          <p:spPr bwMode="auto">
            <a:xfrm>
              <a:off x="2064" y="2251"/>
              <a:ext cx="1719" cy="522"/>
            </a:xfrm>
            <a:prstGeom prst="rect">
              <a:avLst/>
            </a:prstGeom>
            <a:noFill/>
            <a:ln w="9525">
              <a:noFill/>
              <a:miter lim="800000"/>
            </a:ln>
          </p:spPr>
          <p:txBody>
            <a:bodyPr/>
            <a:lstStyle/>
            <a:p>
              <a:endParaRPr lang="zh-CN" altLang="en-US" sz="1500">
                <a:latin typeface="+mj-ea"/>
                <a:ea typeface="+mj-ea"/>
              </a:endParaRPr>
            </a:p>
          </p:txBody>
        </p:sp>
        <p:sp>
          <p:nvSpPr>
            <p:cNvPr id="54279" name="Rectangle 7"/>
            <p:cNvSpPr>
              <a:spLocks noChangeArrowheads="1"/>
            </p:cNvSpPr>
            <p:nvPr/>
          </p:nvSpPr>
          <p:spPr bwMode="auto">
            <a:xfrm>
              <a:off x="2142" y="2272"/>
              <a:ext cx="1556" cy="473"/>
            </a:xfrm>
            <a:prstGeom prst="rect">
              <a:avLst/>
            </a:prstGeom>
            <a:solidFill>
              <a:srgbClr val="FFFFCC"/>
            </a:solidFill>
            <a:ln w="0">
              <a:solidFill>
                <a:srgbClr val="990033"/>
              </a:solidFill>
              <a:miter lim="800000"/>
            </a:ln>
          </p:spPr>
          <p:txBody>
            <a:bodyPr/>
            <a:lstStyle/>
            <a:p>
              <a:endParaRPr lang="zh-CN" altLang="en-US" sz="1500">
                <a:latin typeface="+mj-ea"/>
                <a:ea typeface="+mj-ea"/>
              </a:endParaRPr>
            </a:p>
          </p:txBody>
        </p:sp>
        <p:sp>
          <p:nvSpPr>
            <p:cNvPr id="54280" name="Rectangle 8"/>
            <p:cNvSpPr>
              <a:spLocks noChangeArrowheads="1"/>
            </p:cNvSpPr>
            <p:nvPr/>
          </p:nvSpPr>
          <p:spPr bwMode="auto">
            <a:xfrm>
              <a:off x="2794" y="2300"/>
              <a:ext cx="578" cy="98"/>
            </a:xfrm>
            <a:prstGeom prst="rect">
              <a:avLst/>
            </a:prstGeom>
            <a:noFill/>
            <a:ln w="9525">
              <a:noFill/>
              <a:miter lim="800000"/>
            </a:ln>
          </p:spPr>
          <p:txBody>
            <a:bodyPr lIns="0" tIns="0" rIns="0" bIns="0">
              <a:spAutoFit/>
            </a:bodyPr>
            <a:lstStyle/>
            <a:p>
              <a:pPr algn="l" eaLnBrk="1" hangingPunct="1"/>
              <a:r>
                <a:rPr lang="zh-CN" altLang="en-US" sz="1500">
                  <a:latin typeface="+mj-ea"/>
                  <a:ea typeface="+mj-ea"/>
                </a:rPr>
                <a:t>类名</a:t>
              </a:r>
              <a:endParaRPr lang="zh-CN" altLang="en-US" sz="1500">
                <a:solidFill>
                  <a:srgbClr val="000000"/>
                </a:solidFill>
                <a:latin typeface="+mj-ea"/>
                <a:ea typeface="+mj-ea"/>
              </a:endParaRPr>
            </a:p>
          </p:txBody>
        </p:sp>
        <p:sp>
          <p:nvSpPr>
            <p:cNvPr id="54281" name="Rectangle 9"/>
            <p:cNvSpPr>
              <a:spLocks noChangeArrowheads="1"/>
            </p:cNvSpPr>
            <p:nvPr/>
          </p:nvSpPr>
          <p:spPr bwMode="auto">
            <a:xfrm>
              <a:off x="2142" y="2406"/>
              <a:ext cx="1556" cy="339"/>
            </a:xfrm>
            <a:prstGeom prst="rect">
              <a:avLst/>
            </a:prstGeom>
            <a:noFill/>
            <a:ln w="0">
              <a:solidFill>
                <a:srgbClr val="990033"/>
              </a:solidFill>
              <a:miter lim="800000"/>
            </a:ln>
          </p:spPr>
          <p:txBody>
            <a:bodyPr/>
            <a:lstStyle/>
            <a:p>
              <a:endParaRPr lang="zh-CN" altLang="en-US" sz="1500">
                <a:latin typeface="+mj-ea"/>
                <a:ea typeface="+mj-ea"/>
              </a:endParaRPr>
            </a:p>
          </p:txBody>
        </p:sp>
        <p:sp>
          <p:nvSpPr>
            <p:cNvPr id="54282" name="Rectangle 10"/>
            <p:cNvSpPr>
              <a:spLocks noChangeArrowheads="1"/>
            </p:cNvSpPr>
            <p:nvPr/>
          </p:nvSpPr>
          <p:spPr bwMode="auto">
            <a:xfrm>
              <a:off x="2142" y="2547"/>
              <a:ext cx="1556" cy="198"/>
            </a:xfrm>
            <a:prstGeom prst="rect">
              <a:avLst/>
            </a:prstGeom>
            <a:noFill/>
            <a:ln w="0">
              <a:solidFill>
                <a:srgbClr val="990033"/>
              </a:solidFill>
              <a:miter lim="800000"/>
            </a:ln>
          </p:spPr>
          <p:txBody>
            <a:bodyPr/>
            <a:lstStyle/>
            <a:p>
              <a:endParaRPr lang="zh-CN" altLang="en-US" sz="1500">
                <a:latin typeface="+mj-ea"/>
                <a:ea typeface="+mj-ea"/>
              </a:endParaRPr>
            </a:p>
          </p:txBody>
        </p:sp>
        <p:pic>
          <p:nvPicPr>
            <p:cNvPr id="54283" name="Picture 11"/>
            <p:cNvPicPr>
              <a:picLocks noChangeAspect="1" noChangeArrowheads="1"/>
            </p:cNvPicPr>
            <p:nvPr/>
          </p:nvPicPr>
          <p:blipFill>
            <a:blip r:embed="rId2" cstate="print"/>
            <a:srcRect/>
            <a:stretch>
              <a:fillRect/>
            </a:stretch>
          </p:blipFill>
          <p:spPr bwMode="auto">
            <a:xfrm>
              <a:off x="2163" y="2420"/>
              <a:ext cx="113" cy="106"/>
            </a:xfrm>
            <a:prstGeom prst="rect">
              <a:avLst/>
            </a:prstGeom>
            <a:noFill/>
            <a:ln w="9525">
              <a:noFill/>
              <a:miter lim="800000"/>
              <a:headEnd/>
              <a:tailEnd/>
            </a:ln>
          </p:spPr>
        </p:pic>
        <p:pic>
          <p:nvPicPr>
            <p:cNvPr id="54284" name="Picture 12"/>
            <p:cNvPicPr>
              <a:picLocks noChangeAspect="1" noChangeArrowheads="1"/>
            </p:cNvPicPr>
            <p:nvPr/>
          </p:nvPicPr>
          <p:blipFill>
            <a:blip r:embed="rId3" cstate="print"/>
            <a:srcRect/>
            <a:stretch>
              <a:fillRect/>
            </a:stretch>
          </p:blipFill>
          <p:spPr bwMode="auto">
            <a:xfrm>
              <a:off x="2163" y="2420"/>
              <a:ext cx="113" cy="106"/>
            </a:xfrm>
            <a:prstGeom prst="rect">
              <a:avLst/>
            </a:prstGeom>
            <a:noFill/>
            <a:ln w="9525">
              <a:noFill/>
              <a:miter lim="800000"/>
              <a:headEnd/>
              <a:tailEnd/>
            </a:ln>
          </p:spPr>
        </p:pic>
        <p:pic>
          <p:nvPicPr>
            <p:cNvPr id="54285" name="Picture 13"/>
            <p:cNvPicPr>
              <a:picLocks noChangeAspect="1" noChangeArrowheads="1"/>
            </p:cNvPicPr>
            <p:nvPr/>
          </p:nvPicPr>
          <p:blipFill>
            <a:blip r:embed="rId2" cstate="print"/>
            <a:srcRect/>
            <a:stretch>
              <a:fillRect/>
            </a:stretch>
          </p:blipFill>
          <p:spPr bwMode="auto">
            <a:xfrm>
              <a:off x="2163" y="2420"/>
              <a:ext cx="113" cy="106"/>
            </a:xfrm>
            <a:prstGeom prst="rect">
              <a:avLst/>
            </a:prstGeom>
            <a:noFill/>
            <a:ln w="9525">
              <a:noFill/>
              <a:miter lim="800000"/>
              <a:headEnd/>
              <a:tailEnd/>
            </a:ln>
          </p:spPr>
        </p:pic>
        <p:sp>
          <p:nvSpPr>
            <p:cNvPr id="54286" name="Rectangle 14"/>
            <p:cNvSpPr>
              <a:spLocks noChangeArrowheads="1"/>
            </p:cNvSpPr>
            <p:nvPr/>
          </p:nvSpPr>
          <p:spPr bwMode="auto">
            <a:xfrm>
              <a:off x="2276" y="2420"/>
              <a:ext cx="564" cy="98"/>
            </a:xfrm>
            <a:prstGeom prst="rect">
              <a:avLst/>
            </a:prstGeom>
            <a:noFill/>
            <a:ln w="9525">
              <a:noFill/>
              <a:miter lim="800000"/>
            </a:ln>
          </p:spPr>
          <p:txBody>
            <a:bodyPr wrap="none" lIns="0" tIns="0" rIns="0" bIns="0">
              <a:spAutoFit/>
            </a:bodyPr>
            <a:lstStyle/>
            <a:p>
              <a:pPr algn="l" eaLnBrk="1" hangingPunct="1"/>
              <a:r>
                <a:rPr lang="zh-CN" altLang="en-US" sz="1500">
                  <a:solidFill>
                    <a:srgbClr val="000000"/>
                  </a:solidFill>
                  <a:latin typeface="+mj-ea"/>
                  <a:ea typeface="+mj-ea"/>
                </a:rPr>
                <a:t>属性名</a:t>
              </a:r>
              <a:endParaRPr lang="zh-CN" altLang="en-US" sz="1500">
                <a:solidFill>
                  <a:srgbClr val="000000"/>
                </a:solidFill>
                <a:latin typeface="+mj-ea"/>
                <a:ea typeface="+mj-ea"/>
              </a:endParaRPr>
            </a:p>
          </p:txBody>
        </p:sp>
        <p:pic>
          <p:nvPicPr>
            <p:cNvPr id="54287" name="Picture 15"/>
            <p:cNvPicPr>
              <a:picLocks noChangeAspect="1" noChangeArrowheads="1"/>
            </p:cNvPicPr>
            <p:nvPr/>
          </p:nvPicPr>
          <p:blipFill>
            <a:blip r:embed="rId4" cstate="print"/>
            <a:srcRect/>
            <a:stretch>
              <a:fillRect/>
            </a:stretch>
          </p:blipFill>
          <p:spPr bwMode="auto">
            <a:xfrm>
              <a:off x="2163" y="2604"/>
              <a:ext cx="113" cy="106"/>
            </a:xfrm>
            <a:prstGeom prst="rect">
              <a:avLst/>
            </a:prstGeom>
            <a:noFill/>
            <a:ln w="9525">
              <a:noFill/>
              <a:miter lim="800000"/>
              <a:headEnd/>
              <a:tailEnd/>
            </a:ln>
          </p:spPr>
        </p:pic>
        <p:pic>
          <p:nvPicPr>
            <p:cNvPr id="54288" name="Picture 16"/>
            <p:cNvPicPr>
              <a:picLocks noChangeAspect="1" noChangeArrowheads="1"/>
            </p:cNvPicPr>
            <p:nvPr/>
          </p:nvPicPr>
          <p:blipFill>
            <a:blip r:embed="rId5" cstate="print"/>
            <a:srcRect/>
            <a:stretch>
              <a:fillRect/>
            </a:stretch>
          </p:blipFill>
          <p:spPr bwMode="auto">
            <a:xfrm>
              <a:off x="2163" y="2604"/>
              <a:ext cx="113" cy="106"/>
            </a:xfrm>
            <a:prstGeom prst="rect">
              <a:avLst/>
            </a:prstGeom>
            <a:noFill/>
            <a:ln w="9525">
              <a:noFill/>
              <a:miter lim="800000"/>
              <a:headEnd/>
              <a:tailEnd/>
            </a:ln>
          </p:spPr>
        </p:pic>
        <p:pic>
          <p:nvPicPr>
            <p:cNvPr id="54289" name="Picture 17"/>
            <p:cNvPicPr>
              <a:picLocks noChangeAspect="1" noChangeArrowheads="1"/>
            </p:cNvPicPr>
            <p:nvPr/>
          </p:nvPicPr>
          <p:blipFill>
            <a:blip r:embed="rId4" cstate="print"/>
            <a:srcRect/>
            <a:stretch>
              <a:fillRect/>
            </a:stretch>
          </p:blipFill>
          <p:spPr bwMode="auto">
            <a:xfrm>
              <a:off x="2163" y="2604"/>
              <a:ext cx="113" cy="106"/>
            </a:xfrm>
            <a:prstGeom prst="rect">
              <a:avLst/>
            </a:prstGeom>
            <a:noFill/>
            <a:ln w="9525">
              <a:noFill/>
              <a:miter lim="800000"/>
              <a:headEnd/>
              <a:tailEnd/>
            </a:ln>
          </p:spPr>
        </p:pic>
        <p:sp>
          <p:nvSpPr>
            <p:cNvPr id="54290" name="Rectangle 18"/>
            <p:cNvSpPr>
              <a:spLocks noChangeArrowheads="1"/>
            </p:cNvSpPr>
            <p:nvPr/>
          </p:nvSpPr>
          <p:spPr bwMode="auto">
            <a:xfrm>
              <a:off x="2276" y="2604"/>
              <a:ext cx="564" cy="98"/>
            </a:xfrm>
            <a:prstGeom prst="rect">
              <a:avLst/>
            </a:prstGeom>
            <a:noFill/>
            <a:ln w="9525">
              <a:noFill/>
              <a:miter lim="800000"/>
            </a:ln>
          </p:spPr>
          <p:txBody>
            <a:bodyPr wrap="none" lIns="0" tIns="0" rIns="0" bIns="0">
              <a:spAutoFit/>
            </a:bodyPr>
            <a:lstStyle/>
            <a:p>
              <a:pPr algn="l" eaLnBrk="1" hangingPunct="1"/>
              <a:r>
                <a:rPr lang="zh-CN" altLang="en-US" sz="1500">
                  <a:solidFill>
                    <a:srgbClr val="000000"/>
                  </a:solidFill>
                  <a:latin typeface="+mj-ea"/>
                  <a:ea typeface="+mj-ea"/>
                </a:rPr>
                <a:t>操作名</a:t>
              </a:r>
              <a:endParaRPr lang="zh-CN" altLang="en-US" sz="1500">
                <a:solidFill>
                  <a:srgbClr val="000000"/>
                </a:solidFill>
                <a:latin typeface="+mj-ea"/>
                <a:ea typeface="+mj-ea"/>
              </a:endParaRPr>
            </a:p>
          </p:txBody>
        </p:sp>
      </p:grpSp>
      <p:sp>
        <p:nvSpPr>
          <p:cNvPr id="54291" name="Text Box 19"/>
          <p:cNvSpPr txBox="1">
            <a:spLocks noChangeArrowheads="1"/>
          </p:cNvSpPr>
          <p:nvPr/>
        </p:nvSpPr>
        <p:spPr bwMode="auto">
          <a:xfrm>
            <a:off x="2397258" y="4164754"/>
            <a:ext cx="892072" cy="292147"/>
          </a:xfrm>
          <a:prstGeom prst="rect">
            <a:avLst/>
          </a:prstGeom>
          <a:noFill/>
          <a:ln w="9525" algn="ctr">
            <a:noFill/>
            <a:miter lim="800000"/>
          </a:ln>
          <a:effectLst/>
        </p:spPr>
        <p:txBody>
          <a:bodyPr wrap="square" lIns="60722" tIns="30361" rIns="60722" bIns="30361">
            <a:spAutoFit/>
          </a:bodyPr>
          <a:lstStyle/>
          <a:p>
            <a:r>
              <a:rPr lang="zh-CN" altLang="en-US" sz="1500" b="1" dirty="0">
                <a:latin typeface="+mj-ea"/>
                <a:ea typeface="+mj-ea"/>
              </a:rPr>
              <a:t>类的图示</a:t>
            </a:r>
            <a:endParaRPr lang="zh-CN" altLang="en-US" sz="1500" b="1" dirty="0">
              <a:latin typeface="+mj-ea"/>
              <a:ea typeface="+mj-ea"/>
            </a:endParaRPr>
          </a:p>
        </p:txBody>
      </p:sp>
      <p:sp>
        <p:nvSpPr>
          <p:cNvPr id="54292" name="Text Box 20"/>
          <p:cNvSpPr txBox="1">
            <a:spLocks noChangeArrowheads="1"/>
          </p:cNvSpPr>
          <p:nvPr/>
        </p:nvSpPr>
        <p:spPr bwMode="auto">
          <a:xfrm>
            <a:off x="4791412" y="2812070"/>
            <a:ext cx="353462" cy="1407837"/>
          </a:xfrm>
          <a:prstGeom prst="rect">
            <a:avLst/>
          </a:prstGeom>
          <a:noFill/>
          <a:ln w="9525" algn="ctr">
            <a:noFill/>
            <a:miter lim="800000"/>
          </a:ln>
          <a:effectLst/>
        </p:spPr>
        <p:txBody>
          <a:bodyPr vert="eaVert" wrap="none" lIns="60722" tIns="30361" rIns="60722" bIns="30361">
            <a:spAutoFit/>
          </a:bodyPr>
          <a:lstStyle/>
          <a:p>
            <a:r>
              <a:rPr lang="zh-CN" altLang="en-US" sz="1500" b="1" dirty="0">
                <a:latin typeface="+mj-ea"/>
                <a:ea typeface="+mj-ea"/>
              </a:rPr>
              <a:t>洗衣机类的图示</a:t>
            </a:r>
            <a:endParaRPr lang="zh-CN" altLang="en-US" sz="1500" b="1" dirty="0">
              <a:latin typeface="+mj-ea"/>
              <a:ea typeface="+mj-ea"/>
            </a:endParaRPr>
          </a:p>
        </p:txBody>
      </p:sp>
      <p:sp>
        <p:nvSpPr>
          <p:cNvPr id="54294" name="AutoShape 22"/>
          <p:cNvSpPr>
            <a:spLocks noChangeArrowheads="1"/>
          </p:cNvSpPr>
          <p:nvPr/>
        </p:nvSpPr>
        <p:spPr bwMode="auto">
          <a:xfrm>
            <a:off x="6953533" y="1845983"/>
            <a:ext cx="900113" cy="453622"/>
          </a:xfrm>
          <a:prstGeom prst="wedgeRoundRectCallout">
            <a:avLst>
              <a:gd name="adj1" fmla="val -116153"/>
              <a:gd name="adj2" fmla="val 144221"/>
              <a:gd name="adj3" fmla="val 16667"/>
            </a:avLst>
          </a:prstGeom>
          <a:solidFill>
            <a:schemeClr val="bg1"/>
          </a:solidFill>
          <a:ln w="3175" algn="ctr">
            <a:solidFill>
              <a:schemeClr val="bg2"/>
            </a:solidFill>
            <a:miter lim="800000"/>
          </a:ln>
          <a:effectLst/>
        </p:spPr>
        <p:txBody>
          <a:bodyPr lIns="60722" tIns="30361" rIns="60722" bIns="30361" anchor="ctr"/>
          <a:lstStyle/>
          <a:p>
            <a:r>
              <a:rPr lang="zh-CN" altLang="en-US" sz="1500">
                <a:latin typeface="+mj-ea"/>
                <a:ea typeface="+mj-ea"/>
              </a:rPr>
              <a:t>品牌</a:t>
            </a:r>
            <a:endParaRPr lang="zh-CN" altLang="en-US" sz="1500">
              <a:latin typeface="+mj-ea"/>
              <a:ea typeface="+mj-ea"/>
            </a:endParaRPr>
          </a:p>
        </p:txBody>
      </p:sp>
      <p:sp>
        <p:nvSpPr>
          <p:cNvPr id="54295" name="AutoShape 23"/>
          <p:cNvSpPr>
            <a:spLocks noChangeArrowheads="1"/>
          </p:cNvSpPr>
          <p:nvPr/>
        </p:nvSpPr>
        <p:spPr bwMode="auto">
          <a:xfrm>
            <a:off x="6911885" y="2311318"/>
            <a:ext cx="900113" cy="428626"/>
          </a:xfrm>
          <a:prstGeom prst="wedgeRoundRectCallout">
            <a:avLst>
              <a:gd name="adj1" fmla="val -114578"/>
              <a:gd name="adj2" fmla="val 93203"/>
              <a:gd name="adj3" fmla="val 16667"/>
            </a:avLst>
          </a:prstGeom>
          <a:solidFill>
            <a:schemeClr val="bg1"/>
          </a:solidFill>
          <a:ln w="3175" algn="ctr">
            <a:solidFill>
              <a:schemeClr val="bg2"/>
            </a:solidFill>
            <a:miter lim="800000"/>
          </a:ln>
          <a:effectLst/>
        </p:spPr>
        <p:txBody>
          <a:bodyPr lIns="60722" tIns="30361" rIns="60722" bIns="30361" anchor="ctr"/>
          <a:lstStyle/>
          <a:p>
            <a:r>
              <a:rPr lang="zh-CN" altLang="en-US" sz="1500">
                <a:latin typeface="+mj-ea"/>
                <a:ea typeface="+mj-ea"/>
              </a:rPr>
              <a:t>模式</a:t>
            </a:r>
            <a:endParaRPr lang="zh-CN" altLang="en-US" sz="1500">
              <a:latin typeface="+mj-ea"/>
              <a:ea typeface="+mj-ea"/>
            </a:endParaRPr>
          </a:p>
        </p:txBody>
      </p:sp>
      <p:sp>
        <p:nvSpPr>
          <p:cNvPr id="54296" name="AutoShape 24"/>
          <p:cNvSpPr>
            <a:spLocks noChangeArrowheads="1"/>
          </p:cNvSpPr>
          <p:nvPr/>
        </p:nvSpPr>
        <p:spPr bwMode="auto">
          <a:xfrm>
            <a:off x="6934879" y="2639807"/>
            <a:ext cx="900113" cy="496204"/>
          </a:xfrm>
          <a:prstGeom prst="wedgeRoundRectCallout">
            <a:avLst>
              <a:gd name="adj1" fmla="val -110513"/>
              <a:gd name="adj2" fmla="val 6656"/>
              <a:gd name="adj3" fmla="val 16667"/>
            </a:avLst>
          </a:prstGeom>
          <a:solidFill>
            <a:schemeClr val="bg1"/>
          </a:solidFill>
          <a:ln w="3175" algn="ctr">
            <a:solidFill>
              <a:schemeClr val="bg2"/>
            </a:solidFill>
            <a:miter lim="800000"/>
          </a:ln>
          <a:effectLst/>
        </p:spPr>
        <p:txBody>
          <a:bodyPr lIns="60722" tIns="30361" rIns="60722" bIns="30361" anchor="ctr"/>
          <a:lstStyle/>
          <a:p>
            <a:r>
              <a:rPr lang="zh-CN" altLang="en-US" sz="1500">
                <a:latin typeface="+mj-ea"/>
                <a:ea typeface="+mj-ea"/>
              </a:rPr>
              <a:t>序列号</a:t>
            </a:r>
            <a:endParaRPr lang="zh-CN" altLang="en-US" sz="1500">
              <a:latin typeface="+mj-ea"/>
              <a:ea typeface="+mj-ea"/>
            </a:endParaRPr>
          </a:p>
        </p:txBody>
      </p:sp>
      <p:sp>
        <p:nvSpPr>
          <p:cNvPr id="54297" name="AutoShape 25"/>
          <p:cNvSpPr>
            <a:spLocks noChangeArrowheads="1"/>
          </p:cNvSpPr>
          <p:nvPr/>
        </p:nvSpPr>
        <p:spPr bwMode="auto">
          <a:xfrm>
            <a:off x="7139265" y="3277035"/>
            <a:ext cx="1257312" cy="381541"/>
          </a:xfrm>
          <a:prstGeom prst="wedgeRoundRectCallout">
            <a:avLst>
              <a:gd name="adj1" fmla="val -100561"/>
              <a:gd name="adj2" fmla="val 57985"/>
              <a:gd name="adj3" fmla="val 16667"/>
            </a:avLst>
          </a:prstGeom>
          <a:solidFill>
            <a:schemeClr val="bg1"/>
          </a:solidFill>
          <a:ln w="3175" algn="ctr">
            <a:solidFill>
              <a:schemeClr val="bg2"/>
            </a:solidFill>
            <a:miter lim="800000"/>
          </a:ln>
          <a:effectLst/>
        </p:spPr>
        <p:txBody>
          <a:bodyPr lIns="60722" tIns="30361" rIns="60722" bIns="30361" anchor="ctr"/>
          <a:lstStyle/>
          <a:p>
            <a:r>
              <a:rPr lang="zh-CN" altLang="en-US" sz="1500">
                <a:latin typeface="+mj-ea"/>
                <a:ea typeface="+mj-ea"/>
              </a:rPr>
              <a:t>装入衣物</a:t>
            </a:r>
            <a:endParaRPr lang="zh-CN" altLang="en-US" sz="1500">
              <a:latin typeface="+mj-ea"/>
              <a:ea typeface="+mj-ea"/>
            </a:endParaRPr>
          </a:p>
        </p:txBody>
      </p:sp>
      <p:sp>
        <p:nvSpPr>
          <p:cNvPr id="54298" name="AutoShape 26"/>
          <p:cNvSpPr>
            <a:spLocks noChangeArrowheads="1"/>
          </p:cNvSpPr>
          <p:nvPr/>
        </p:nvSpPr>
        <p:spPr bwMode="auto">
          <a:xfrm>
            <a:off x="7169260" y="3572708"/>
            <a:ext cx="1265183" cy="422147"/>
          </a:xfrm>
          <a:prstGeom prst="wedgeRoundRectCallout">
            <a:avLst>
              <a:gd name="adj1" fmla="val -85620"/>
              <a:gd name="adj2" fmla="val 34363"/>
              <a:gd name="adj3" fmla="val 16667"/>
            </a:avLst>
          </a:prstGeom>
          <a:solidFill>
            <a:schemeClr val="bg1"/>
          </a:solidFill>
          <a:ln w="3175" algn="ctr">
            <a:solidFill>
              <a:schemeClr val="bg2"/>
            </a:solidFill>
            <a:miter lim="800000"/>
          </a:ln>
          <a:effectLst/>
        </p:spPr>
        <p:txBody>
          <a:bodyPr lIns="60722" tIns="30361" rIns="60722" bIns="30361" anchor="ctr"/>
          <a:lstStyle/>
          <a:p>
            <a:r>
              <a:rPr lang="zh-CN" altLang="en-US" sz="1500" dirty="0">
                <a:latin typeface="+mj-ea"/>
                <a:ea typeface="+mj-ea"/>
              </a:rPr>
              <a:t>装入洗衣粉</a:t>
            </a:r>
            <a:endParaRPr lang="zh-CN" altLang="en-US" sz="1500" dirty="0">
              <a:latin typeface="+mj-ea"/>
              <a:ea typeface="+mj-ea"/>
            </a:endParaRPr>
          </a:p>
        </p:txBody>
      </p:sp>
      <p:sp>
        <p:nvSpPr>
          <p:cNvPr id="54299" name="AutoShape 27"/>
          <p:cNvSpPr>
            <a:spLocks noChangeArrowheads="1"/>
          </p:cNvSpPr>
          <p:nvPr/>
        </p:nvSpPr>
        <p:spPr bwMode="auto">
          <a:xfrm>
            <a:off x="6953533" y="2934238"/>
            <a:ext cx="882248" cy="407053"/>
          </a:xfrm>
          <a:prstGeom prst="wedgeRoundRectCallout">
            <a:avLst>
              <a:gd name="adj1" fmla="val -159131"/>
              <a:gd name="adj2" fmla="val 35719"/>
              <a:gd name="adj3" fmla="val 16667"/>
            </a:avLst>
          </a:prstGeom>
          <a:solidFill>
            <a:schemeClr val="bg1"/>
          </a:solidFill>
          <a:ln w="3175" algn="ctr">
            <a:solidFill>
              <a:schemeClr val="bg2"/>
            </a:solidFill>
            <a:miter lim="800000"/>
          </a:ln>
          <a:effectLst/>
        </p:spPr>
        <p:txBody>
          <a:bodyPr lIns="60722" tIns="30361" rIns="60722" bIns="30361" anchor="ctr"/>
          <a:lstStyle/>
          <a:p>
            <a:r>
              <a:rPr lang="zh-CN" altLang="en-US" sz="1500" dirty="0">
                <a:latin typeface="+mj-ea"/>
                <a:ea typeface="+mj-ea"/>
              </a:rPr>
              <a:t>容量</a:t>
            </a:r>
            <a:endParaRPr lang="zh-CN" altLang="en-US" sz="1500" dirty="0">
              <a:latin typeface="+mj-ea"/>
              <a:ea typeface="+mj-ea"/>
            </a:endParaRPr>
          </a:p>
        </p:txBody>
      </p:sp>
      <p:sp>
        <p:nvSpPr>
          <p:cNvPr id="54300" name="AutoShape 28"/>
          <p:cNvSpPr>
            <a:spLocks noChangeArrowheads="1"/>
          </p:cNvSpPr>
          <p:nvPr/>
        </p:nvSpPr>
        <p:spPr bwMode="auto">
          <a:xfrm>
            <a:off x="6867808" y="3747075"/>
            <a:ext cx="900113" cy="450194"/>
          </a:xfrm>
          <a:prstGeom prst="wedgeRoundRectCallout">
            <a:avLst>
              <a:gd name="adj1" fmla="val -137791"/>
              <a:gd name="adj2" fmla="val 26497"/>
              <a:gd name="adj3" fmla="val 16667"/>
            </a:avLst>
          </a:prstGeom>
          <a:solidFill>
            <a:schemeClr val="bg1"/>
          </a:solidFill>
          <a:ln w="3175" algn="ctr">
            <a:solidFill>
              <a:schemeClr val="bg2"/>
            </a:solidFill>
            <a:miter lim="800000"/>
          </a:ln>
          <a:effectLst/>
        </p:spPr>
        <p:txBody>
          <a:bodyPr lIns="60722" tIns="30361" rIns="60722" bIns="30361" anchor="ctr"/>
          <a:lstStyle/>
          <a:p>
            <a:r>
              <a:rPr lang="zh-CN" altLang="en-US" sz="1500" dirty="0">
                <a:latin typeface="+mj-ea"/>
                <a:ea typeface="+mj-ea"/>
              </a:rPr>
              <a:t>开机</a:t>
            </a:r>
            <a:endParaRPr lang="zh-CN" altLang="en-US" sz="1500" dirty="0">
              <a:latin typeface="+mj-ea"/>
              <a:ea typeface="+mj-ea"/>
            </a:endParaRPr>
          </a:p>
        </p:txBody>
      </p:sp>
      <p:sp>
        <p:nvSpPr>
          <p:cNvPr id="54301" name="AutoShape 29"/>
          <p:cNvSpPr>
            <a:spLocks noChangeArrowheads="1"/>
          </p:cNvSpPr>
          <p:nvPr/>
        </p:nvSpPr>
        <p:spPr bwMode="auto">
          <a:xfrm>
            <a:off x="6867808" y="4111544"/>
            <a:ext cx="900113" cy="428625"/>
          </a:xfrm>
          <a:prstGeom prst="wedgeRoundRectCallout">
            <a:avLst>
              <a:gd name="adj1" fmla="val -143206"/>
              <a:gd name="adj2" fmla="val 622"/>
              <a:gd name="adj3" fmla="val 16667"/>
            </a:avLst>
          </a:prstGeom>
          <a:solidFill>
            <a:schemeClr val="bg1"/>
          </a:solidFill>
          <a:ln w="3175" algn="ctr">
            <a:solidFill>
              <a:schemeClr val="bg2"/>
            </a:solidFill>
            <a:miter lim="800000"/>
          </a:ln>
          <a:effectLst/>
        </p:spPr>
        <p:txBody>
          <a:bodyPr lIns="60722" tIns="30361" rIns="60722" bIns="30361" anchor="ctr"/>
          <a:lstStyle/>
          <a:p>
            <a:r>
              <a:rPr lang="zh-CN" altLang="en-US" sz="1500" dirty="0">
                <a:latin typeface="+mj-ea"/>
                <a:ea typeface="+mj-ea"/>
              </a:rPr>
              <a:t>关机</a:t>
            </a:r>
            <a:endParaRPr lang="zh-CN" altLang="en-US" sz="15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94"/>
                                        </p:tgtEl>
                                        <p:attrNameLst>
                                          <p:attrName>style.visibility</p:attrName>
                                        </p:attrNameLst>
                                      </p:cBhvr>
                                      <p:to>
                                        <p:strVal val="visible"/>
                                      </p:to>
                                    </p:set>
                                  </p:childTnLst>
                                  <p:subTnLst>
                                    <p:set>
                                      <p:cBhvr override="childStyle">
                                        <p:cTn dur="1" fill="hold" display="0" masterRel="nextClick" afterEffect="1"/>
                                        <p:tgtEl>
                                          <p:spTgt spid="5429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295"/>
                                        </p:tgtEl>
                                        <p:attrNameLst>
                                          <p:attrName>style.visibility</p:attrName>
                                        </p:attrNameLst>
                                      </p:cBhvr>
                                      <p:to>
                                        <p:strVal val="visible"/>
                                      </p:to>
                                    </p:set>
                                  </p:childTnLst>
                                  <p:subTnLst>
                                    <p:set>
                                      <p:cBhvr override="childStyle">
                                        <p:cTn dur="1" fill="hold" display="0" masterRel="nextClick" afterEffect="1"/>
                                        <p:tgtEl>
                                          <p:spTgt spid="54295"/>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296"/>
                                        </p:tgtEl>
                                        <p:attrNameLst>
                                          <p:attrName>style.visibility</p:attrName>
                                        </p:attrNameLst>
                                      </p:cBhvr>
                                      <p:to>
                                        <p:strVal val="visible"/>
                                      </p:to>
                                    </p:set>
                                  </p:childTnLst>
                                  <p:subTnLst>
                                    <p:set>
                                      <p:cBhvr override="childStyle">
                                        <p:cTn dur="1" fill="hold" display="0" masterRel="nextClick" afterEffect="1"/>
                                        <p:tgtEl>
                                          <p:spTgt spid="54296"/>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299"/>
                                        </p:tgtEl>
                                        <p:attrNameLst>
                                          <p:attrName>style.visibility</p:attrName>
                                        </p:attrNameLst>
                                      </p:cBhvr>
                                      <p:to>
                                        <p:strVal val="visible"/>
                                      </p:to>
                                    </p:set>
                                  </p:childTnLst>
                                  <p:subTnLst>
                                    <p:set>
                                      <p:cBhvr override="childStyle">
                                        <p:cTn dur="1" fill="hold" display="0" masterRel="nextClick" afterEffect="1"/>
                                        <p:tgtEl>
                                          <p:spTgt spid="54299"/>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4297"/>
                                        </p:tgtEl>
                                        <p:attrNameLst>
                                          <p:attrName>style.visibility</p:attrName>
                                        </p:attrNameLst>
                                      </p:cBhvr>
                                      <p:to>
                                        <p:strVal val="visible"/>
                                      </p:to>
                                    </p:set>
                                  </p:childTnLst>
                                  <p:subTnLst>
                                    <p:set>
                                      <p:cBhvr override="childStyle">
                                        <p:cTn dur="1" fill="hold" display="0" masterRel="nextClick" afterEffect="1"/>
                                        <p:tgtEl>
                                          <p:spTgt spid="54297"/>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4298"/>
                                        </p:tgtEl>
                                        <p:attrNameLst>
                                          <p:attrName>style.visibility</p:attrName>
                                        </p:attrNameLst>
                                      </p:cBhvr>
                                      <p:to>
                                        <p:strVal val="visible"/>
                                      </p:to>
                                    </p:set>
                                  </p:childTnLst>
                                  <p:subTnLst>
                                    <p:set>
                                      <p:cBhvr override="childStyle">
                                        <p:cTn dur="1" fill="hold" display="0" masterRel="nextClick" afterEffect="1"/>
                                        <p:tgtEl>
                                          <p:spTgt spid="54298"/>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4300"/>
                                        </p:tgtEl>
                                        <p:attrNameLst>
                                          <p:attrName>style.visibility</p:attrName>
                                        </p:attrNameLst>
                                      </p:cBhvr>
                                      <p:to>
                                        <p:strVal val="visible"/>
                                      </p:to>
                                    </p:set>
                                  </p:childTnLst>
                                  <p:subTnLst>
                                    <p:set>
                                      <p:cBhvr override="childStyle">
                                        <p:cTn dur="1" fill="hold" display="0" masterRel="nextClick" afterEffect="1"/>
                                        <p:tgtEl>
                                          <p:spTgt spid="54300"/>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4301"/>
                                        </p:tgtEl>
                                        <p:attrNameLst>
                                          <p:attrName>style.visibility</p:attrName>
                                        </p:attrNameLst>
                                      </p:cBhvr>
                                      <p:to>
                                        <p:strVal val="visible"/>
                                      </p:to>
                                    </p:set>
                                  </p:childTnLst>
                                  <p:subTnLst>
                                    <p:set>
                                      <p:cBhvr override="childStyle">
                                        <p:cTn dur="1" fill="hold" display="0" masterRel="nextClick" afterEffect="1"/>
                                        <p:tgtEl>
                                          <p:spTgt spid="5430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94" grpId="0" bldLvl="0" animBg="1"/>
      <p:bldP spid="54295" grpId="0" bldLvl="0" animBg="1"/>
      <p:bldP spid="54296" grpId="0" bldLvl="0" animBg="1"/>
      <p:bldP spid="54297" grpId="0" bldLvl="0" animBg="1"/>
      <p:bldP spid="54298" grpId="0" bldLvl="0" animBg="1"/>
      <p:bldP spid="54299" grpId="0" bldLvl="0" animBg="1"/>
      <p:bldP spid="54300" grpId="0" bldLvl="0" animBg="1"/>
      <p:bldP spid="54301" grpId="0" bldLvl="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ltLang="zh-CN" dirty="0"/>
              <a:t>2. </a:t>
            </a:r>
            <a:r>
              <a:rPr lang="zh-CN" altLang="en-US" dirty="0"/>
              <a:t>对象图</a:t>
            </a:r>
            <a:endParaRPr lang="zh-CN" altLang="en-US" dirty="0"/>
          </a:p>
        </p:txBody>
      </p:sp>
      <p:pic>
        <p:nvPicPr>
          <p:cNvPr id="56323" name="Picture 3"/>
          <p:cNvPicPr>
            <a:picLocks noGrp="1" noChangeAspect="1" noChangeArrowheads="1"/>
          </p:cNvPicPr>
          <p:nvPr>
            <p:ph idx="1"/>
          </p:nvPr>
        </p:nvPicPr>
        <p:blipFill>
          <a:blip r:embed="rId1" cstate="print"/>
          <a:stretch>
            <a:fillRect/>
          </a:stretch>
        </p:blipFill>
        <p:spPr>
          <a:xfrm>
            <a:off x="3234090" y="2580570"/>
            <a:ext cx="2901244" cy="496711"/>
          </a:xfrm>
          <a:noFill/>
        </p:spPr>
      </p:pic>
      <p:sp>
        <p:nvSpPr>
          <p:cNvPr id="5" name="日期占位符 4"/>
          <p:cNvSpPr>
            <a:spLocks noGrp="1"/>
          </p:cNvSpPr>
          <p:nvPr>
            <p:ph type="dt" sz="half" idx="10"/>
          </p:nvPr>
        </p:nvSpPr>
        <p:spPr/>
        <p:txBody>
          <a:bodyPr/>
          <a:lstStyle/>
          <a:p>
            <a:fld id="{217027EB-858B-4CE4-BC44-2853E911851D}"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56324" name="Picture 4"/>
          <p:cNvPicPr>
            <a:picLocks noChangeAspect="1" noChangeArrowheads="1"/>
          </p:cNvPicPr>
          <p:nvPr/>
        </p:nvPicPr>
        <p:blipFill>
          <a:blip r:embed="rId2" cstate="print"/>
          <a:srcRect/>
          <a:stretch>
            <a:fillRect/>
          </a:stretch>
        </p:blipFill>
        <p:spPr bwMode="auto">
          <a:xfrm>
            <a:off x="1744197" y="3831819"/>
            <a:ext cx="2640209" cy="663386"/>
          </a:xfrm>
          <a:prstGeom prst="rect">
            <a:avLst/>
          </a:prstGeom>
          <a:noFill/>
          <a:ln w="9525" algn="ctr">
            <a:noFill/>
            <a:miter lim="800000"/>
            <a:headEnd/>
            <a:tailEnd/>
          </a:ln>
          <a:effectLst/>
        </p:spPr>
      </p:pic>
      <p:sp>
        <p:nvSpPr>
          <p:cNvPr id="56325" name="Text Box 5"/>
          <p:cNvSpPr txBox="1">
            <a:spLocks noChangeArrowheads="1"/>
          </p:cNvSpPr>
          <p:nvPr/>
        </p:nvSpPr>
        <p:spPr bwMode="auto">
          <a:xfrm>
            <a:off x="5804253" y="3180940"/>
            <a:ext cx="1507625" cy="338314"/>
          </a:xfrm>
          <a:prstGeom prst="rect">
            <a:avLst/>
          </a:prstGeom>
          <a:noFill/>
          <a:ln w="9525" algn="ctr">
            <a:noFill/>
            <a:miter lim="800000"/>
          </a:ln>
          <a:effectLst/>
        </p:spPr>
        <p:txBody>
          <a:bodyPr wrap="none" lIns="60722" tIns="30361" rIns="60722" bIns="30361">
            <a:spAutoFit/>
          </a:bodyPr>
          <a:lstStyle/>
          <a:p>
            <a:r>
              <a:rPr lang="zh-CN" altLang="en-US" b="1" dirty="0">
                <a:latin typeface="+mj-ea"/>
                <a:ea typeface="+mj-ea"/>
              </a:rPr>
              <a:t>对象名：类名</a:t>
            </a:r>
            <a:endParaRPr lang="zh-CN" altLang="en-US" b="1" dirty="0">
              <a:latin typeface="+mj-ea"/>
              <a:ea typeface="+mj-ea"/>
            </a:endParaRPr>
          </a:p>
        </p:txBody>
      </p:sp>
      <p:sp>
        <p:nvSpPr>
          <p:cNvPr id="56326" name="Text Box 6"/>
          <p:cNvSpPr txBox="1">
            <a:spLocks noChangeArrowheads="1"/>
          </p:cNvSpPr>
          <p:nvPr/>
        </p:nvSpPr>
        <p:spPr bwMode="auto">
          <a:xfrm>
            <a:off x="5804253" y="3894860"/>
            <a:ext cx="1045960" cy="338314"/>
          </a:xfrm>
          <a:prstGeom prst="rect">
            <a:avLst/>
          </a:prstGeom>
          <a:noFill/>
          <a:ln w="9525" algn="ctr">
            <a:noFill/>
            <a:miter lim="800000"/>
          </a:ln>
          <a:effectLst/>
        </p:spPr>
        <p:txBody>
          <a:bodyPr wrap="none" lIns="60722" tIns="30361" rIns="60722" bIns="30361">
            <a:spAutoFit/>
          </a:bodyPr>
          <a:lstStyle/>
          <a:p>
            <a:r>
              <a:rPr lang="zh-CN" altLang="en-US" b="1" dirty="0">
                <a:latin typeface="+mj-ea"/>
                <a:ea typeface="+mj-ea"/>
              </a:rPr>
              <a:t>匿名对象</a:t>
            </a:r>
            <a:endParaRPr lang="zh-CN" altLang="en-US" b="1" dirty="0">
              <a:latin typeface="+mj-ea"/>
              <a:ea typeface="+mj-ea"/>
            </a:endParaRPr>
          </a:p>
        </p:txBody>
      </p:sp>
      <p:sp>
        <p:nvSpPr>
          <p:cNvPr id="56327" name="Text Box 7"/>
          <p:cNvSpPr txBox="1">
            <a:spLocks noChangeArrowheads="1"/>
          </p:cNvSpPr>
          <p:nvPr/>
        </p:nvSpPr>
        <p:spPr bwMode="auto">
          <a:xfrm>
            <a:off x="772886" y="946141"/>
            <a:ext cx="7903028" cy="1831030"/>
          </a:xfrm>
          <a:prstGeom prst="rect">
            <a:avLst/>
          </a:prstGeom>
          <a:noFill/>
          <a:ln w="9525" algn="ctr">
            <a:noFill/>
            <a:miter lim="800000"/>
          </a:ln>
          <a:effectLst/>
        </p:spPr>
        <p:txBody>
          <a:bodyPr wrap="square" lIns="60722" tIns="30361" rIns="60722" bIns="30361">
            <a:spAutoFit/>
          </a:bodyPr>
          <a:lstStyle/>
          <a:p>
            <a:pPr marL="342900" indent="-342900" algn="just">
              <a:lnSpc>
                <a:spcPct val="110000"/>
              </a:lnSpc>
              <a:spcBef>
                <a:spcPts val="600"/>
              </a:spcBef>
              <a:buClr>
                <a:schemeClr val="accent1"/>
              </a:buClr>
              <a:buFont typeface="Arial" panose="020B0604020202020204" pitchFamily="34" charset="0"/>
              <a:buChar char="֍"/>
            </a:pPr>
            <a:r>
              <a:rPr kumimoji="1" lang="zh-CN" altLang="en-US" sz="2000" dirty="0">
                <a:solidFill>
                  <a:srgbClr val="FF0000"/>
                </a:solidFill>
                <a:latin typeface="+mj-ea"/>
                <a:ea typeface="+mj-ea"/>
              </a:rPr>
              <a:t>对象图是类图的一种实例化。</a:t>
            </a:r>
            <a:r>
              <a:rPr kumimoji="1" lang="zh-CN" altLang="en-US" sz="2000" dirty="0">
                <a:solidFill>
                  <a:schemeClr val="accent2">
                    <a:lumMod val="75000"/>
                  </a:schemeClr>
                </a:solidFill>
                <a:latin typeface="+mj-ea"/>
                <a:ea typeface="+mj-ea"/>
              </a:rPr>
              <a:t>一张对象图表示的是与其对应的类图的一个具体实例，即系统在某一时期或者某一特定时刻可能存在的具体对象实例以及它们相互之间的具体关系。</a:t>
            </a:r>
            <a:endParaRPr kumimoji="1" lang="zh-CN" altLang="en-US" sz="2000" dirty="0">
              <a:solidFill>
                <a:schemeClr val="accent2">
                  <a:lumMod val="75000"/>
                </a:schemeClr>
              </a:solidFill>
              <a:latin typeface="+mj-ea"/>
              <a:ea typeface="+mj-ea"/>
            </a:endParaRPr>
          </a:p>
          <a:p>
            <a:pPr marL="342900" indent="-342900" algn="just">
              <a:lnSpc>
                <a:spcPct val="110000"/>
              </a:lnSpc>
              <a:spcBef>
                <a:spcPts val="600"/>
              </a:spcBef>
              <a:buClr>
                <a:schemeClr val="accent1"/>
              </a:buClr>
              <a:buFont typeface="Arial" panose="020B0604020202020204" pitchFamily="34" charset="0"/>
              <a:buChar char="֍"/>
            </a:pPr>
            <a:r>
              <a:rPr lang="zh-CN" altLang="en-US" sz="2000" dirty="0">
                <a:solidFill>
                  <a:schemeClr val="accent2">
                    <a:lumMod val="75000"/>
                  </a:schemeClr>
                </a:solidFill>
                <a:latin typeface="+mj-ea"/>
                <a:ea typeface="+mj-ea"/>
              </a:rPr>
              <a:t>例如：某台具体的洗衣机就是洗衣机类的一个对象。比如，小明家的海尔洗衣机。</a:t>
            </a:r>
            <a:endParaRPr lang="zh-CN" altLang="en-US" sz="2000" dirty="0">
              <a:solidFill>
                <a:schemeClr val="accent2">
                  <a:lumMod val="75000"/>
                </a:schemeClr>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3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3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63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5" grpId="0" bldLvl="0" animBg="1"/>
      <p:bldP spid="56326" grpId="0" bldLvl="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zh-CN" altLang="en-US" dirty="0"/>
              <a:t>类图和对象图举例</a:t>
            </a:r>
            <a:endParaRPr lang="en-US" dirty="0"/>
          </a:p>
        </p:txBody>
      </p:sp>
      <p:sp>
        <p:nvSpPr>
          <p:cNvPr id="3" name="Content Placeholder 2"/>
          <p:cNvSpPr>
            <a:spLocks noGrp="1"/>
          </p:cNvSpPr>
          <p:nvPr>
            <p:ph idx="1"/>
          </p:nvPr>
        </p:nvSpPr>
        <p:spPr/>
        <p:txBody>
          <a:bodyPr>
            <a:noAutofit/>
          </a:bodyPr>
          <a:lstStyle/>
          <a:p>
            <a:r>
              <a:rPr lang="zh-CN" altLang="en-US" sz="2100" dirty="0"/>
              <a:t>下图中</a:t>
            </a:r>
            <a:r>
              <a:rPr lang="en-US" altLang="zh-CN" sz="2100" dirty="0"/>
              <a:t>Student</a:t>
            </a:r>
            <a:r>
              <a:rPr lang="zh-CN" altLang="zh-CN" sz="2100" dirty="0"/>
              <a:t>、</a:t>
            </a:r>
            <a:r>
              <a:rPr lang="en-US" altLang="zh-CN" sz="2100" dirty="0"/>
              <a:t>Librarian</a:t>
            </a:r>
            <a:r>
              <a:rPr lang="zh-CN" altLang="zh-CN" sz="2100" dirty="0"/>
              <a:t>和</a:t>
            </a:r>
            <a:r>
              <a:rPr lang="en-US" altLang="zh-CN" sz="2100" dirty="0"/>
              <a:t>Book</a:t>
            </a:r>
            <a:r>
              <a:rPr lang="zh-CN" altLang="zh-CN" sz="2100" dirty="0"/>
              <a:t>是图书管理系统中的三个类。</a:t>
            </a:r>
            <a:endParaRPr lang="zh-CN" altLang="zh-CN" sz="2100" dirty="0"/>
          </a:p>
        </p:txBody>
      </p:sp>
      <p:sp>
        <p:nvSpPr>
          <p:cNvPr id="7" name="日期占位符 6"/>
          <p:cNvSpPr>
            <a:spLocks noGrp="1"/>
          </p:cNvSpPr>
          <p:nvPr>
            <p:ph type="dt" sz="half" idx="10"/>
          </p:nvPr>
        </p:nvSpPr>
        <p:spPr/>
        <p:txBody>
          <a:bodyPr/>
          <a:lstStyle/>
          <a:p>
            <a:fld id="{742EDC5C-1BF2-4415-9B79-9C234C866263}"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
        <p:nvSpPr>
          <p:cNvPr id="9" name="灯片编号占位符 8"/>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4" name="Rectangle 2"/>
          <p:cNvSpPr>
            <a:spLocks noChangeArrowheads="1"/>
          </p:cNvSpPr>
          <p:nvPr/>
        </p:nvSpPr>
        <p:spPr bwMode="auto">
          <a:xfrm>
            <a:off x="114300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350"/>
          </a:p>
        </p:txBody>
      </p:sp>
      <p:graphicFrame>
        <p:nvGraphicFramePr>
          <p:cNvPr id="5" name="对象 4"/>
          <p:cNvGraphicFramePr>
            <a:graphicFrameLocks noChangeAspect="1"/>
          </p:cNvGraphicFramePr>
          <p:nvPr/>
        </p:nvGraphicFramePr>
        <p:xfrm>
          <a:off x="1150614" y="1342831"/>
          <a:ext cx="7651341" cy="1614076"/>
        </p:xfrm>
        <a:graphic>
          <a:graphicData uri="http://schemas.openxmlformats.org/presentationml/2006/ole">
            <mc:AlternateContent xmlns:mc="http://schemas.openxmlformats.org/markup-compatibility/2006">
              <mc:Choice xmlns:v="urn:schemas-microsoft-com:vml" Requires="v">
                <p:oleObj spid="_x0000_s11303" name="" r:id="rId1" imgW="6273800" imgH="1333500" progId="Visio.Drawing.11">
                  <p:embed/>
                </p:oleObj>
              </mc:Choice>
              <mc:Fallback>
                <p:oleObj name="" r:id="rId1" imgW="6273800" imgH="1333500" progId="Visio.Drawing.11">
                  <p:embed/>
                  <p:pic>
                    <p:nvPicPr>
                      <p:cNvPr id="0" name="对象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0614" y="1342831"/>
                        <a:ext cx="7651341" cy="1614076"/>
                      </a:xfrm>
                      <a:prstGeom prst="rect">
                        <a:avLst/>
                      </a:prstGeom>
                      <a:noFill/>
                    </p:spPr>
                  </p:pic>
                </p:oleObj>
              </mc:Fallback>
            </mc:AlternateContent>
          </a:graphicData>
        </a:graphic>
      </p:graphicFrame>
      <p:sp>
        <p:nvSpPr>
          <p:cNvPr id="6" name="矩形 5"/>
          <p:cNvSpPr/>
          <p:nvPr/>
        </p:nvSpPr>
        <p:spPr>
          <a:xfrm>
            <a:off x="768097" y="3254828"/>
            <a:ext cx="7929588" cy="1277273"/>
          </a:xfrm>
          <a:prstGeom prst="rect">
            <a:avLst/>
          </a:prstGeom>
        </p:spPr>
        <p:txBody>
          <a:bodyPr wrap="square">
            <a:spAutoFit/>
          </a:bodyPr>
          <a:lstStyle/>
          <a:p>
            <a:pPr marL="285750" indent="-285750">
              <a:spcBef>
                <a:spcPts val="600"/>
              </a:spcBef>
              <a:buClr>
                <a:schemeClr val="accent1"/>
              </a:buClr>
              <a:buFont typeface="Arial" panose="020B0604020202020204" pitchFamily="34" charset="0"/>
              <a:buChar char="→"/>
            </a:pPr>
            <a:r>
              <a:rPr lang="zh-CN" altLang="zh-CN" dirty="0">
                <a:solidFill>
                  <a:schemeClr val="accent1">
                    <a:lumMod val="50000"/>
                  </a:schemeClr>
                </a:solidFill>
                <a:latin typeface="+mj-ea"/>
                <a:ea typeface="+mj-ea"/>
              </a:rPr>
              <a:t>其中</a:t>
            </a:r>
            <a:r>
              <a:rPr lang="en-US" altLang="zh-CN" dirty="0">
                <a:solidFill>
                  <a:schemeClr val="accent1">
                    <a:lumMod val="50000"/>
                  </a:schemeClr>
                </a:solidFill>
                <a:latin typeface="+mj-ea"/>
                <a:ea typeface="+mj-ea"/>
              </a:rPr>
              <a:t>Book</a:t>
            </a:r>
            <a:r>
              <a:rPr lang="zh-CN" altLang="zh-CN" dirty="0">
                <a:solidFill>
                  <a:schemeClr val="accent1">
                    <a:lumMod val="50000"/>
                  </a:schemeClr>
                </a:solidFill>
                <a:latin typeface="+mj-ea"/>
                <a:ea typeface="+mj-ea"/>
              </a:rPr>
              <a:t>类中，包含三个属性（</a:t>
            </a:r>
            <a:r>
              <a:rPr lang="en-US" altLang="zh-CN" dirty="0">
                <a:solidFill>
                  <a:schemeClr val="accent1">
                    <a:lumMod val="50000"/>
                  </a:schemeClr>
                </a:solidFill>
                <a:latin typeface="+mj-ea"/>
                <a:ea typeface="+mj-ea"/>
              </a:rPr>
              <a:t>id</a:t>
            </a:r>
            <a:r>
              <a:rPr lang="zh-CN" altLang="zh-CN" dirty="0">
                <a:solidFill>
                  <a:schemeClr val="accent1">
                    <a:lumMod val="50000"/>
                  </a:schemeClr>
                </a:solidFill>
                <a:latin typeface="+mj-ea"/>
                <a:ea typeface="+mj-ea"/>
              </a:rPr>
              <a:t>、</a:t>
            </a:r>
            <a:r>
              <a:rPr lang="en-US" altLang="zh-CN" dirty="0">
                <a:solidFill>
                  <a:schemeClr val="accent1">
                    <a:lumMod val="50000"/>
                  </a:schemeClr>
                </a:solidFill>
                <a:latin typeface="+mj-ea"/>
                <a:ea typeface="+mj-ea"/>
              </a:rPr>
              <a:t>name</a:t>
            </a:r>
            <a:r>
              <a:rPr lang="zh-CN" altLang="zh-CN" dirty="0">
                <a:solidFill>
                  <a:schemeClr val="accent1">
                    <a:lumMod val="50000"/>
                  </a:schemeClr>
                </a:solidFill>
                <a:latin typeface="+mj-ea"/>
                <a:ea typeface="+mj-ea"/>
              </a:rPr>
              <a:t>、</a:t>
            </a:r>
            <a:r>
              <a:rPr lang="en-US" altLang="zh-CN" dirty="0">
                <a:solidFill>
                  <a:schemeClr val="accent1">
                    <a:lumMod val="50000"/>
                  </a:schemeClr>
                </a:solidFill>
                <a:latin typeface="+mj-ea"/>
                <a:ea typeface="+mj-ea"/>
              </a:rPr>
              <a:t>author</a:t>
            </a:r>
            <a:r>
              <a:rPr lang="zh-CN" altLang="zh-CN" dirty="0">
                <a:solidFill>
                  <a:schemeClr val="accent1">
                    <a:lumMod val="50000"/>
                  </a:schemeClr>
                </a:solidFill>
                <a:latin typeface="+mj-ea"/>
                <a:ea typeface="+mj-ea"/>
              </a:rPr>
              <a:t>），以及两个操作（</a:t>
            </a:r>
            <a:r>
              <a:rPr lang="en-US" altLang="zh-CN" dirty="0" err="1">
                <a:solidFill>
                  <a:schemeClr val="accent1">
                    <a:lumMod val="50000"/>
                  </a:schemeClr>
                </a:solidFill>
                <a:latin typeface="+mj-ea"/>
                <a:ea typeface="+mj-ea"/>
              </a:rPr>
              <a:t>getInfo</a:t>
            </a:r>
            <a:r>
              <a:rPr lang="zh-CN" altLang="zh-CN" dirty="0">
                <a:solidFill>
                  <a:schemeClr val="accent1">
                    <a:lumMod val="50000"/>
                  </a:schemeClr>
                </a:solidFill>
                <a:latin typeface="+mj-ea"/>
                <a:ea typeface="+mj-ea"/>
              </a:rPr>
              <a:t>和</a:t>
            </a:r>
            <a:r>
              <a:rPr lang="en-US" altLang="zh-CN" dirty="0">
                <a:solidFill>
                  <a:schemeClr val="accent1">
                    <a:lumMod val="50000"/>
                  </a:schemeClr>
                </a:solidFill>
                <a:latin typeface="+mj-ea"/>
                <a:ea typeface="+mj-ea"/>
              </a:rPr>
              <a:t>edit</a:t>
            </a:r>
            <a:r>
              <a:rPr lang="zh-CN" altLang="zh-CN" dirty="0">
                <a:solidFill>
                  <a:schemeClr val="accent1">
                    <a:lumMod val="50000"/>
                  </a:schemeClr>
                </a:solidFill>
                <a:latin typeface="+mj-ea"/>
                <a:ea typeface="+mj-ea"/>
              </a:rPr>
              <a:t>）。</a:t>
            </a:r>
            <a:endParaRPr lang="en-US" altLang="zh-CN" dirty="0">
              <a:solidFill>
                <a:schemeClr val="accent1">
                  <a:lumMod val="50000"/>
                </a:schemeClr>
              </a:solidFill>
              <a:latin typeface="+mj-ea"/>
              <a:ea typeface="+mj-ea"/>
            </a:endParaRPr>
          </a:p>
          <a:p>
            <a:pPr marL="285750" indent="-285750">
              <a:spcBef>
                <a:spcPts val="600"/>
              </a:spcBef>
              <a:buClr>
                <a:schemeClr val="accent1"/>
              </a:buClr>
              <a:buFont typeface="Arial" panose="020B0604020202020204" pitchFamily="34" charset="0"/>
              <a:buChar char="→"/>
            </a:pPr>
            <a:r>
              <a:rPr lang="zh-CN" altLang="zh-CN" dirty="0">
                <a:solidFill>
                  <a:schemeClr val="accent1">
                    <a:lumMod val="50000"/>
                  </a:schemeClr>
                </a:solidFill>
                <a:latin typeface="+mj-ea"/>
                <a:ea typeface="+mj-ea"/>
              </a:rPr>
              <a:t>属性和操作前面的加号表示属性或操作是公有（</a:t>
            </a:r>
            <a:r>
              <a:rPr lang="en-US" altLang="zh-CN" dirty="0">
                <a:solidFill>
                  <a:schemeClr val="accent1">
                    <a:lumMod val="50000"/>
                  </a:schemeClr>
                </a:solidFill>
                <a:latin typeface="+mj-ea"/>
                <a:ea typeface="+mj-ea"/>
              </a:rPr>
              <a:t>Public</a:t>
            </a:r>
            <a:r>
              <a:rPr lang="zh-CN" altLang="zh-CN" dirty="0">
                <a:solidFill>
                  <a:schemeClr val="accent1">
                    <a:lumMod val="50000"/>
                  </a:schemeClr>
                </a:solidFill>
                <a:latin typeface="+mj-ea"/>
                <a:ea typeface="+mj-ea"/>
              </a:rPr>
              <a:t>）的，如果是减号，则表示属性或操作是私有的（</a:t>
            </a:r>
            <a:r>
              <a:rPr lang="en-US" altLang="zh-CN" dirty="0">
                <a:solidFill>
                  <a:schemeClr val="accent1">
                    <a:lumMod val="50000"/>
                  </a:schemeClr>
                </a:solidFill>
                <a:latin typeface="+mj-ea"/>
                <a:ea typeface="+mj-ea"/>
              </a:rPr>
              <a:t>Private</a:t>
            </a:r>
            <a:r>
              <a:rPr lang="zh-CN" altLang="zh-CN" dirty="0">
                <a:solidFill>
                  <a:schemeClr val="accent1">
                    <a:lumMod val="50000"/>
                  </a:schemeClr>
                </a:solidFill>
                <a:latin typeface="+mj-ea"/>
                <a:ea typeface="+mj-ea"/>
              </a:rPr>
              <a:t>）</a:t>
            </a:r>
            <a:r>
              <a:rPr lang="zh-CN" altLang="en-US" dirty="0">
                <a:solidFill>
                  <a:schemeClr val="accent1">
                    <a:lumMod val="50000"/>
                  </a:schemeClr>
                </a:solidFill>
                <a:latin typeface="+mj-ea"/>
                <a:ea typeface="+mj-ea"/>
              </a:rPr>
              <a:t>。</a:t>
            </a:r>
            <a:endParaRPr lang="zh-CN" altLang="zh-CN" dirty="0">
              <a:solidFill>
                <a:schemeClr val="accent1">
                  <a:lumMod val="50000"/>
                </a:schemeClr>
              </a:solidFill>
              <a:latin typeface="+mj-ea"/>
              <a:ea typeface="+mj-ea"/>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1">
            <a:extLst>
              <a:ext uri="{28A0092B-C50C-407E-A947-70E740481C1C}">
                <a14:useLocalDpi xmlns:a14="http://schemas.microsoft.com/office/drawing/2010/main" val="0"/>
              </a:ext>
            </a:extLst>
          </a:blip>
          <a:srcRect r="45674"/>
          <a:stretch>
            <a:fillRect/>
          </a:stretch>
        </p:blipFill>
        <p:spPr>
          <a:xfrm>
            <a:off x="1940426" y="1956707"/>
            <a:ext cx="5337648" cy="1257300"/>
          </a:xfrm>
          <a:prstGeom prst="rect">
            <a:avLst/>
          </a:prstGeom>
        </p:spPr>
      </p:pic>
      <p:sp>
        <p:nvSpPr>
          <p:cNvPr id="2" name="Title 1"/>
          <p:cNvSpPr>
            <a:spLocks noGrp="1"/>
          </p:cNvSpPr>
          <p:nvPr>
            <p:ph type="title"/>
          </p:nvPr>
        </p:nvSpPr>
        <p:spPr/>
        <p:txBody>
          <a:bodyPr>
            <a:noAutofit/>
          </a:bodyPr>
          <a:lstStyle/>
          <a:p>
            <a:r>
              <a:rPr lang="zh-CN" altLang="en-US" dirty="0"/>
              <a:t>类图和对象图举例</a:t>
            </a:r>
            <a:endParaRPr lang="en-US" dirty="0"/>
          </a:p>
        </p:txBody>
      </p:sp>
      <p:sp>
        <p:nvSpPr>
          <p:cNvPr id="3" name="Content Placeholder 2"/>
          <p:cNvSpPr>
            <a:spLocks noGrp="1"/>
          </p:cNvSpPr>
          <p:nvPr>
            <p:ph idx="1"/>
          </p:nvPr>
        </p:nvSpPr>
        <p:spPr/>
        <p:txBody>
          <a:bodyPr>
            <a:noAutofit/>
          </a:bodyPr>
          <a:lstStyle/>
          <a:p>
            <a:r>
              <a:rPr lang="zh-CN" altLang="en-US" sz="2100" dirty="0"/>
              <a:t>下图是前面类图的</a:t>
            </a:r>
            <a:r>
              <a:rPr lang="zh-CN" altLang="zh-CN" sz="2100" dirty="0"/>
              <a:t>对象图，图中包含</a:t>
            </a:r>
            <a:r>
              <a:rPr lang="en-US" altLang="zh-CN" sz="2100" dirty="0"/>
              <a:t>john</a:t>
            </a:r>
            <a:r>
              <a:rPr lang="zh-CN" altLang="zh-CN" sz="2100" dirty="0"/>
              <a:t>、</a:t>
            </a:r>
            <a:r>
              <a:rPr lang="en-US" altLang="zh-CN" sz="2100" dirty="0" err="1"/>
              <a:t>jim</a:t>
            </a:r>
            <a:r>
              <a:rPr lang="zh-CN" altLang="zh-CN" sz="2100" dirty="0"/>
              <a:t>和</a:t>
            </a:r>
            <a:r>
              <a:rPr lang="en-US" altLang="zh-CN" sz="2100" dirty="0"/>
              <a:t>se</a:t>
            </a:r>
            <a:r>
              <a:rPr lang="zh-CN" altLang="zh-CN" sz="2100" dirty="0"/>
              <a:t>三个对象，其中</a:t>
            </a:r>
            <a:r>
              <a:rPr lang="en-US" altLang="zh-CN" sz="2100" dirty="0"/>
              <a:t>se</a:t>
            </a:r>
            <a:r>
              <a:rPr lang="zh-CN" altLang="zh-CN" sz="2100" dirty="0"/>
              <a:t>对象是</a:t>
            </a:r>
            <a:r>
              <a:rPr lang="en-US" altLang="zh-CN" sz="2100" dirty="0"/>
              <a:t>Book</a:t>
            </a:r>
            <a:r>
              <a:rPr lang="zh-CN" altLang="zh-CN" sz="2100" dirty="0"/>
              <a:t>类的对象。因为</a:t>
            </a:r>
            <a:r>
              <a:rPr lang="en-US" altLang="zh-CN" sz="2100" dirty="0"/>
              <a:t>Book</a:t>
            </a:r>
            <a:r>
              <a:rPr lang="zh-CN" altLang="zh-CN" sz="2100" dirty="0"/>
              <a:t>类中包含三个属性，所以</a:t>
            </a:r>
            <a:r>
              <a:rPr lang="en-US" altLang="zh-CN" sz="2100" dirty="0"/>
              <a:t>se</a:t>
            </a:r>
            <a:r>
              <a:rPr lang="zh-CN" altLang="zh-CN" sz="2100" dirty="0"/>
              <a:t>对象中也对应地包含三个属性值。</a:t>
            </a:r>
            <a:endParaRPr lang="zh-CN" altLang="zh-CN" sz="2100" dirty="0"/>
          </a:p>
        </p:txBody>
      </p:sp>
      <p:sp>
        <p:nvSpPr>
          <p:cNvPr id="5" name="日期占位符 4"/>
          <p:cNvSpPr>
            <a:spLocks noGrp="1"/>
          </p:cNvSpPr>
          <p:nvPr>
            <p:ph type="dt" sz="half" idx="10"/>
          </p:nvPr>
        </p:nvSpPr>
        <p:spPr/>
        <p:txBody>
          <a:bodyPr/>
          <a:lstStyle/>
          <a:p>
            <a:fld id="{8898E319-6B5D-4111-A473-0E093D5D7016}"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4" name="Rectangle 2"/>
          <p:cNvSpPr>
            <a:spLocks noChangeArrowheads="1"/>
          </p:cNvSpPr>
          <p:nvPr/>
        </p:nvSpPr>
        <p:spPr bwMode="auto">
          <a:xfrm>
            <a:off x="114300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350"/>
          </a:p>
        </p:txBody>
      </p:sp>
      <p:pic>
        <p:nvPicPr>
          <p:cNvPr id="9" name="图片 8"/>
          <p:cNvPicPr>
            <a:picLocks noChangeAspect="1"/>
          </p:cNvPicPr>
          <p:nvPr/>
        </p:nvPicPr>
        <p:blipFill rotWithShape="1">
          <a:blip r:embed="rId1">
            <a:extLst>
              <a:ext uri="{28A0092B-C50C-407E-A947-70E740481C1C}">
                <a14:useLocalDpi xmlns:a14="http://schemas.microsoft.com/office/drawing/2010/main" val="0"/>
              </a:ext>
            </a:extLst>
          </a:blip>
          <a:srcRect l="59379"/>
          <a:stretch>
            <a:fillRect/>
          </a:stretch>
        </p:blipFill>
        <p:spPr>
          <a:xfrm>
            <a:off x="2531949" y="3310261"/>
            <a:ext cx="3697402" cy="1164772"/>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altLang="zh-CN" dirty="0"/>
              <a:t>3. </a:t>
            </a:r>
            <a:r>
              <a:rPr lang="zh-CN" altLang="en-US" dirty="0"/>
              <a:t>用例图</a:t>
            </a:r>
            <a:endParaRPr lang="zh-CN" altLang="en-US" dirty="0"/>
          </a:p>
        </p:txBody>
      </p:sp>
      <p:sp>
        <p:nvSpPr>
          <p:cNvPr id="58371" name="Rectangle 3"/>
          <p:cNvSpPr>
            <a:spLocks noGrp="1" noChangeArrowheads="1"/>
          </p:cNvSpPr>
          <p:nvPr>
            <p:ph idx="1"/>
          </p:nvPr>
        </p:nvSpPr>
        <p:spPr/>
        <p:txBody>
          <a:bodyPr>
            <a:normAutofit/>
          </a:bodyPr>
          <a:lstStyle/>
          <a:p>
            <a:pPr marL="342900" indent="-342900">
              <a:spcBef>
                <a:spcPts val="600"/>
              </a:spcBef>
            </a:pPr>
            <a:r>
              <a:rPr lang="zh-CN" altLang="en-US" sz="2000" dirty="0">
                <a:solidFill>
                  <a:srgbClr val="FF0000"/>
                </a:solidFill>
              </a:rPr>
              <a:t>用例</a:t>
            </a:r>
            <a:r>
              <a:rPr lang="en-US" altLang="zh-CN" sz="2000" dirty="0">
                <a:solidFill>
                  <a:srgbClr val="FF0000"/>
                </a:solidFill>
              </a:rPr>
              <a:t>(use case)</a:t>
            </a:r>
            <a:r>
              <a:rPr lang="zh-CN" altLang="en-US" sz="2000" dirty="0">
                <a:solidFill>
                  <a:srgbClr val="FF0000"/>
                </a:solidFill>
              </a:rPr>
              <a:t>：</a:t>
            </a:r>
            <a:r>
              <a:rPr lang="zh-CN" altLang="en-US" sz="2000" dirty="0"/>
              <a:t>从用户的观点对系统行为的描述。</a:t>
            </a:r>
            <a:r>
              <a:rPr lang="zh-CN" altLang="zh-CN" sz="2000" dirty="0"/>
              <a:t>由用例（</a:t>
            </a:r>
            <a:r>
              <a:rPr lang="en-US" altLang="zh-CN" sz="2000" dirty="0"/>
              <a:t>User Case</a:t>
            </a:r>
            <a:r>
              <a:rPr lang="zh-CN" altLang="zh-CN" sz="2000" dirty="0"/>
              <a:t>）、操作者（</a:t>
            </a:r>
            <a:r>
              <a:rPr lang="en-US" altLang="zh-CN" sz="2000" dirty="0"/>
              <a:t>Actor</a:t>
            </a:r>
            <a:r>
              <a:rPr lang="zh-CN" altLang="zh-CN" sz="2000" dirty="0"/>
              <a:t>）以及它们的关系连线组成。</a:t>
            </a:r>
            <a:endParaRPr lang="zh-CN" altLang="en-US" sz="2000" dirty="0"/>
          </a:p>
          <a:p>
            <a:pPr marL="342900" indent="-342900">
              <a:spcBef>
                <a:spcPts val="600"/>
              </a:spcBef>
            </a:pPr>
            <a:r>
              <a:rPr lang="zh-CN" altLang="en-US" sz="2000" dirty="0"/>
              <a:t>用例图用来从用户的观察角度收集系统需求。表达系统的外部事物（参与者）与系统的交互，它表达了系统的功能，即系统所提供的服务。</a:t>
            </a:r>
            <a:endParaRPr lang="zh-CN" altLang="en-US" sz="2000" dirty="0"/>
          </a:p>
          <a:p>
            <a:pPr marL="342900" indent="-342900">
              <a:spcBef>
                <a:spcPts val="600"/>
              </a:spcBef>
            </a:pPr>
            <a:r>
              <a:rPr lang="zh-CN" altLang="en-US" sz="2000" dirty="0"/>
              <a:t>整个软件项目的开发可以采用</a:t>
            </a:r>
            <a:r>
              <a:rPr lang="en-US" altLang="zh-CN" sz="2000" dirty="0"/>
              <a:t>Use Case </a:t>
            </a:r>
            <a:r>
              <a:rPr lang="zh-CN" altLang="en-US" sz="2000" dirty="0"/>
              <a:t>驱动的方式进行。</a:t>
            </a:r>
            <a:endParaRPr lang="zh-CN" altLang="en-US" sz="2000" dirty="0"/>
          </a:p>
        </p:txBody>
      </p:sp>
      <p:sp>
        <p:nvSpPr>
          <p:cNvPr id="5" name="日期占位符 4"/>
          <p:cNvSpPr>
            <a:spLocks noGrp="1"/>
          </p:cNvSpPr>
          <p:nvPr>
            <p:ph type="dt" sz="half" idx="10"/>
          </p:nvPr>
        </p:nvSpPr>
        <p:spPr/>
        <p:txBody>
          <a:bodyPr/>
          <a:lstStyle/>
          <a:p>
            <a:fld id="{9321E9BB-4F5B-4B7E-923C-A48D55D0B181}"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58372" name="Picture 4"/>
          <p:cNvPicPr>
            <a:picLocks noChangeAspect="1" noChangeArrowheads="1"/>
          </p:cNvPicPr>
          <p:nvPr/>
        </p:nvPicPr>
        <p:blipFill>
          <a:blip r:embed="rId1" cstate="print"/>
          <a:srcRect/>
          <a:stretch>
            <a:fillRect/>
          </a:stretch>
        </p:blipFill>
        <p:spPr bwMode="auto">
          <a:xfrm>
            <a:off x="2836581" y="3082966"/>
            <a:ext cx="3537350" cy="1384570"/>
          </a:xfrm>
          <a:prstGeom prst="rect">
            <a:avLst/>
          </a:prstGeom>
          <a:noFill/>
          <a:ln w="9525" algn="ctr">
            <a:noFill/>
            <a:miter lim="800000"/>
            <a:headEnd/>
            <a:tailEnd/>
          </a:ln>
          <a:effectLst/>
        </p:spPr>
      </p:pic>
      <p:sp>
        <p:nvSpPr>
          <p:cNvPr id="58373" name="Text Box 5"/>
          <p:cNvSpPr txBox="1">
            <a:spLocks noChangeArrowheads="1"/>
          </p:cNvSpPr>
          <p:nvPr/>
        </p:nvSpPr>
        <p:spPr bwMode="auto">
          <a:xfrm>
            <a:off x="2625329" y="4293395"/>
            <a:ext cx="122695" cy="217191"/>
          </a:xfrm>
          <a:prstGeom prst="rect">
            <a:avLst/>
          </a:prstGeom>
          <a:noFill/>
          <a:ln w="9525" algn="ctr">
            <a:noFill/>
            <a:miter lim="800000"/>
          </a:ln>
          <a:effectLst/>
        </p:spPr>
        <p:txBody>
          <a:bodyPr wrap="none" lIns="60722" tIns="30361" rIns="60722" bIns="30361">
            <a:spAutoFit/>
          </a:bodyPr>
          <a:lstStyle/>
          <a:p>
            <a:endParaRPr lang="zh-CN" altLang="zh-CN" sz="1015"/>
          </a:p>
        </p:txBody>
      </p:sp>
      <p:sp>
        <p:nvSpPr>
          <p:cNvPr id="58374" name="Text Box 6"/>
          <p:cNvSpPr txBox="1">
            <a:spLocks noChangeArrowheads="1"/>
          </p:cNvSpPr>
          <p:nvPr/>
        </p:nvSpPr>
        <p:spPr bwMode="auto">
          <a:xfrm>
            <a:off x="2608709" y="4160000"/>
            <a:ext cx="4431502" cy="307536"/>
          </a:xfrm>
          <a:prstGeom prst="rect">
            <a:avLst/>
          </a:prstGeom>
        </p:spPr>
        <p:style>
          <a:lnRef idx="2">
            <a:schemeClr val="accent1"/>
          </a:lnRef>
          <a:fillRef idx="1">
            <a:schemeClr val="lt1"/>
          </a:fillRef>
          <a:effectRef idx="0">
            <a:schemeClr val="accent1"/>
          </a:effectRef>
          <a:fontRef idx="minor">
            <a:schemeClr val="dk1"/>
          </a:fontRef>
        </p:style>
        <p:txBody>
          <a:bodyPr wrap="none" lIns="60722" tIns="30361" rIns="60722" bIns="30361">
            <a:spAutoFit/>
          </a:bodyPr>
          <a:lstStyle/>
          <a:p>
            <a:r>
              <a:rPr lang="zh-CN" altLang="en-US" sz="1600" b="1" dirty="0">
                <a:latin typeface="+mj-ea"/>
                <a:ea typeface="+mj-ea"/>
              </a:rPr>
              <a:t>这个用例图描述了用户使用洗衣机洗衣服的功能</a:t>
            </a:r>
            <a:endParaRPr lang="zh-CN" altLang="en-US" sz="1600" b="1"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37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83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4" grpId="0" bldLvl="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zh-CN" altLang="en-US" dirty="0"/>
              <a:t>用例图举例</a:t>
            </a:r>
            <a:endParaRPr lang="en-US" dirty="0"/>
          </a:p>
        </p:txBody>
      </p:sp>
      <p:sp>
        <p:nvSpPr>
          <p:cNvPr id="11" name="内容占位符 10"/>
          <p:cNvSpPr>
            <a:spLocks noGrp="1"/>
          </p:cNvSpPr>
          <p:nvPr>
            <p:ph idx="1"/>
          </p:nvPr>
        </p:nvSpPr>
        <p:spPr>
          <a:xfrm>
            <a:off x="768097" y="925167"/>
            <a:ext cx="3175075" cy="3806854"/>
          </a:xfrm>
        </p:spPr>
        <p:txBody>
          <a:bodyPr>
            <a:noAutofit/>
          </a:bodyPr>
          <a:lstStyle/>
          <a:p>
            <a:r>
              <a:rPr lang="zh-CN" altLang="zh-CN" sz="2000" b="1" dirty="0">
                <a:solidFill>
                  <a:srgbClr val="0000FF"/>
                </a:solidFill>
              </a:rPr>
              <a:t>用例</a:t>
            </a:r>
            <a:r>
              <a:rPr lang="zh-CN" altLang="zh-CN" sz="2000" dirty="0"/>
              <a:t>是从用户角度描述系统的行为，使用椭圆表示，具有唯一的名称。</a:t>
            </a:r>
            <a:endParaRPr lang="en-US" altLang="zh-CN" sz="2000" dirty="0"/>
          </a:p>
          <a:p>
            <a:r>
              <a:rPr lang="zh-CN" altLang="zh-CN" sz="2000" b="1" dirty="0">
                <a:solidFill>
                  <a:srgbClr val="0000FF"/>
                </a:solidFill>
              </a:rPr>
              <a:t>操作者</a:t>
            </a:r>
            <a:r>
              <a:rPr lang="zh-CN" altLang="zh-CN" sz="2000" dirty="0"/>
              <a:t>使用人形符号表示，</a:t>
            </a:r>
            <a:r>
              <a:rPr lang="zh-CN" altLang="en-US" sz="2000" dirty="0"/>
              <a:t>也</a:t>
            </a:r>
            <a:r>
              <a:rPr lang="zh-CN" altLang="zh-CN" sz="2000" dirty="0"/>
              <a:t>具有唯一的名称；</a:t>
            </a:r>
            <a:endParaRPr lang="en-US" altLang="zh-CN" sz="2000" dirty="0"/>
          </a:p>
          <a:p>
            <a:r>
              <a:rPr lang="zh-CN" altLang="zh-CN" sz="2000" dirty="0"/>
              <a:t>操作者和用例之间使用带箭头的实</a:t>
            </a:r>
            <a:r>
              <a:rPr lang="zh-CN" altLang="en-US" sz="2000" dirty="0"/>
              <a:t>线</a:t>
            </a:r>
            <a:r>
              <a:rPr lang="zh-CN" altLang="zh-CN" sz="2000" dirty="0"/>
              <a:t>连接，由操作者指向用例。</a:t>
            </a:r>
            <a:endParaRPr lang="zh-CN" altLang="zh-CN" sz="2000" dirty="0"/>
          </a:p>
        </p:txBody>
      </p:sp>
      <p:sp>
        <p:nvSpPr>
          <p:cNvPr id="13" name="日期占位符 12"/>
          <p:cNvSpPr>
            <a:spLocks noGrp="1"/>
          </p:cNvSpPr>
          <p:nvPr>
            <p:ph type="dt" sz="half" idx="10"/>
          </p:nvPr>
        </p:nvSpPr>
        <p:spPr/>
        <p:txBody>
          <a:bodyPr/>
          <a:lstStyle/>
          <a:p>
            <a:fld id="{2D67C6DD-B90D-43F3-AD61-AAFA40845970}" type="datetime1">
              <a:rPr lang="zh-CN" altLang="en-US" smtClean="0"/>
            </a:fld>
            <a:endParaRPr lang="zh-CN" altLang="en-US" dirty="0"/>
          </a:p>
        </p:txBody>
      </p:sp>
      <p:sp>
        <p:nvSpPr>
          <p:cNvPr id="15" name="页脚占位符 14"/>
          <p:cNvSpPr>
            <a:spLocks noGrp="1"/>
          </p:cNvSpPr>
          <p:nvPr>
            <p:ph type="ftr" sz="quarter" idx="11"/>
          </p:nvPr>
        </p:nvSpPr>
        <p:spPr/>
        <p:txBody>
          <a:bodyPr/>
          <a:lstStyle/>
          <a:p>
            <a:r>
              <a:rPr lang="zh-CN" altLang="en-US"/>
              <a:t>软件工程</a:t>
            </a:r>
            <a:endParaRPr lang="zh-CN" altLang="en-US" dirty="0"/>
          </a:p>
        </p:txBody>
      </p:sp>
      <p:sp>
        <p:nvSpPr>
          <p:cNvPr id="16" name="灯片编号占位符 1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5" name="Rectangle 2"/>
          <p:cNvSpPr>
            <a:spLocks noChangeArrowheads="1"/>
          </p:cNvSpPr>
          <p:nvPr/>
        </p:nvSpPr>
        <p:spPr bwMode="auto">
          <a:xfrm>
            <a:off x="114300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350"/>
          </a:p>
        </p:txBody>
      </p:sp>
      <p:sp>
        <p:nvSpPr>
          <p:cNvPr id="4" name="Rectangle 4"/>
          <p:cNvSpPr>
            <a:spLocks noChangeArrowheads="1"/>
          </p:cNvSpPr>
          <p:nvPr/>
        </p:nvSpPr>
        <p:spPr bwMode="auto">
          <a:xfrm>
            <a:off x="114300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350"/>
          </a:p>
        </p:txBody>
      </p:sp>
      <p:sp>
        <p:nvSpPr>
          <p:cNvPr id="6" name="Rectangle 2"/>
          <p:cNvSpPr>
            <a:spLocks noChangeArrowheads="1"/>
          </p:cNvSpPr>
          <p:nvPr/>
        </p:nvSpPr>
        <p:spPr bwMode="auto">
          <a:xfrm>
            <a:off x="114300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350"/>
          </a:p>
        </p:txBody>
      </p:sp>
      <p:sp>
        <p:nvSpPr>
          <p:cNvPr id="9" name="Rectangle 4"/>
          <p:cNvSpPr>
            <a:spLocks noChangeArrowheads="1"/>
          </p:cNvSpPr>
          <p:nvPr/>
        </p:nvSpPr>
        <p:spPr bwMode="auto">
          <a:xfrm>
            <a:off x="114300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350"/>
          </a:p>
        </p:txBody>
      </p:sp>
      <p:sp>
        <p:nvSpPr>
          <p:cNvPr id="7" name="Rectangle 2"/>
          <p:cNvSpPr>
            <a:spLocks noChangeArrowheads="1"/>
          </p:cNvSpPr>
          <p:nvPr/>
        </p:nvSpPr>
        <p:spPr bwMode="auto">
          <a:xfrm>
            <a:off x="114300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350"/>
          </a:p>
        </p:txBody>
      </p:sp>
      <p:sp>
        <p:nvSpPr>
          <p:cNvPr id="10" name="Rectangle 2"/>
          <p:cNvSpPr>
            <a:spLocks noChangeArrowheads="1"/>
          </p:cNvSpPr>
          <p:nvPr/>
        </p:nvSpPr>
        <p:spPr bwMode="auto">
          <a:xfrm>
            <a:off x="114300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350"/>
          </a:p>
        </p:txBody>
      </p:sp>
      <p:sp>
        <p:nvSpPr>
          <p:cNvPr id="8" name="Rectangle 2"/>
          <p:cNvSpPr>
            <a:spLocks noChangeArrowheads="1"/>
          </p:cNvSpPr>
          <p:nvPr/>
        </p:nvSpPr>
        <p:spPr bwMode="auto">
          <a:xfrm>
            <a:off x="114300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350"/>
          </a:p>
        </p:txBody>
      </p:sp>
      <p:sp>
        <p:nvSpPr>
          <p:cNvPr id="12" name="Rectangle 2"/>
          <p:cNvSpPr>
            <a:spLocks noChangeArrowheads="1"/>
          </p:cNvSpPr>
          <p:nvPr/>
        </p:nvSpPr>
        <p:spPr bwMode="auto">
          <a:xfrm>
            <a:off x="114300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350"/>
          </a:p>
        </p:txBody>
      </p:sp>
      <p:sp>
        <p:nvSpPr>
          <p:cNvPr id="3" name="Rectangle 2"/>
          <p:cNvSpPr>
            <a:spLocks noChangeArrowheads="1"/>
          </p:cNvSpPr>
          <p:nvPr/>
        </p:nvSpPr>
        <p:spPr bwMode="auto">
          <a:xfrm>
            <a:off x="114300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350"/>
          </a:p>
        </p:txBody>
      </p:sp>
      <p:pic>
        <p:nvPicPr>
          <p:cNvPr id="24578"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8695" t="3987" r="13406" b="10244"/>
          <a:stretch>
            <a:fillRect/>
          </a:stretch>
        </p:blipFill>
        <p:spPr bwMode="auto">
          <a:xfrm>
            <a:off x="3943172" y="967412"/>
            <a:ext cx="4730021" cy="3278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6"/>
          <p:cNvSpPr txBox="1">
            <a:spLocks noChangeArrowheads="1"/>
          </p:cNvSpPr>
          <p:nvPr/>
        </p:nvSpPr>
        <p:spPr bwMode="auto">
          <a:xfrm>
            <a:off x="5445400" y="4245428"/>
            <a:ext cx="1969289" cy="307536"/>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lIns="60722" tIns="30361" rIns="60722" bIns="30361">
            <a:spAutoFit/>
          </a:bodyPr>
          <a:lstStyle/>
          <a:p>
            <a:r>
              <a:rPr lang="zh-CN" altLang="en-US" sz="1600" b="1" dirty="0">
                <a:latin typeface="+mj-ea"/>
                <a:ea typeface="+mj-ea"/>
              </a:rPr>
              <a:t>图书销售系统用例图</a:t>
            </a:r>
            <a:endParaRPr lang="zh-CN" altLang="en-US" sz="1600" b="1" dirty="0">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4. </a:t>
            </a:r>
            <a:r>
              <a:rPr lang="zh-CN" altLang="en-US" dirty="0"/>
              <a:t>包图</a:t>
            </a:r>
            <a:endParaRPr lang="zh-CN" altLang="en-US" dirty="0"/>
          </a:p>
        </p:txBody>
      </p:sp>
      <p:sp>
        <p:nvSpPr>
          <p:cNvPr id="2" name="内容占位符 1"/>
          <p:cNvSpPr>
            <a:spLocks noGrp="1"/>
          </p:cNvSpPr>
          <p:nvPr>
            <p:ph idx="1"/>
          </p:nvPr>
        </p:nvSpPr>
        <p:spPr/>
        <p:txBody>
          <a:bodyPr/>
          <a:lstStyle/>
          <a:p>
            <a:pPr marL="342900" indent="-342900">
              <a:spcBef>
                <a:spcPct val="55000"/>
              </a:spcBef>
            </a:pPr>
            <a:r>
              <a:rPr lang="zh-CN" altLang="en-US" sz="2100" dirty="0"/>
              <a:t>包是类的集合，采用包可以增强代码的复用性。</a:t>
            </a:r>
            <a:endParaRPr lang="en-US" altLang="zh-CN" sz="2100" dirty="0"/>
          </a:p>
          <a:p>
            <a:pPr marL="342900" indent="-342900">
              <a:spcBef>
                <a:spcPct val="55000"/>
              </a:spcBef>
            </a:pPr>
            <a:r>
              <a:rPr lang="zh-CN" altLang="en-US" sz="2100" dirty="0"/>
              <a:t>打包的实质是在磁盘上建立一个新目录，利用目录的树形结构可以有效组织和管理类的命名空间。</a:t>
            </a:r>
            <a:endParaRPr lang="en-US" altLang="zh-CN" sz="2100" dirty="0"/>
          </a:p>
          <a:p>
            <a:pPr marL="342900" indent="-342900">
              <a:spcBef>
                <a:spcPct val="55000"/>
              </a:spcBef>
            </a:pPr>
            <a:r>
              <a:rPr lang="zh-CN" altLang="en-US" sz="2100" dirty="0"/>
              <a:t>包图符号：</a:t>
            </a:r>
            <a:endParaRPr lang="en-US" altLang="zh-CN" sz="2100" dirty="0"/>
          </a:p>
        </p:txBody>
      </p:sp>
      <p:sp>
        <p:nvSpPr>
          <p:cNvPr id="8" name="日期占位符 7"/>
          <p:cNvSpPr>
            <a:spLocks noGrp="1"/>
          </p:cNvSpPr>
          <p:nvPr>
            <p:ph type="dt" sz="half" idx="10"/>
          </p:nvPr>
        </p:nvSpPr>
        <p:spPr/>
        <p:txBody>
          <a:bodyPr/>
          <a:lstStyle/>
          <a:p>
            <a:fld id="{1B4DF044-BC49-416B-9AFE-B0856142C3DF}" type="datetime1">
              <a:rPr lang="zh-CN" altLang="en-US" smtClean="0"/>
            </a:fld>
            <a:endParaRPr lang="zh-CN" altLang="en-US" dirty="0"/>
          </a:p>
        </p:txBody>
      </p:sp>
      <p:sp>
        <p:nvSpPr>
          <p:cNvPr id="9" name="页脚占位符 8"/>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48491" y="2370465"/>
            <a:ext cx="4055587" cy="2193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包图举例</a:t>
            </a:r>
            <a:endParaRPr lang="zh-CN" altLang="en-US" dirty="0"/>
          </a:p>
        </p:txBody>
      </p:sp>
      <p:sp>
        <p:nvSpPr>
          <p:cNvPr id="2" name="内容占位符 1"/>
          <p:cNvSpPr>
            <a:spLocks noGrp="1"/>
          </p:cNvSpPr>
          <p:nvPr>
            <p:ph idx="1"/>
          </p:nvPr>
        </p:nvSpPr>
        <p:spPr/>
        <p:txBody>
          <a:bodyPr/>
          <a:lstStyle/>
          <a:p>
            <a:endParaRPr lang="zh-CN" altLang="en-US"/>
          </a:p>
        </p:txBody>
      </p:sp>
      <p:sp>
        <p:nvSpPr>
          <p:cNvPr id="10" name="日期占位符 9"/>
          <p:cNvSpPr>
            <a:spLocks noGrp="1"/>
          </p:cNvSpPr>
          <p:nvPr>
            <p:ph type="dt" sz="half" idx="10"/>
          </p:nvPr>
        </p:nvSpPr>
        <p:spPr/>
        <p:txBody>
          <a:bodyPr/>
          <a:lstStyle/>
          <a:p>
            <a:fld id="{E39FA933-9428-408A-AAD1-2C7C76C41C85}" type="datetime1">
              <a:rPr lang="zh-CN" altLang="en-US" smtClean="0"/>
            </a:fld>
            <a:endParaRPr lang="zh-CN" altLang="en-US" dirty="0"/>
          </a:p>
        </p:txBody>
      </p:sp>
      <p:sp>
        <p:nvSpPr>
          <p:cNvPr id="11" name="页脚占位符 10"/>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7" name="Picture 24"/>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6943" y="991129"/>
            <a:ext cx="5322477" cy="334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4" descr="未命名"/>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976285" y="1886889"/>
            <a:ext cx="3989558" cy="2607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ltLang="zh-CN" dirty="0"/>
              <a:t>5. </a:t>
            </a:r>
            <a:r>
              <a:rPr lang="zh-CN" altLang="en-US" dirty="0"/>
              <a:t>活动图</a:t>
            </a:r>
            <a:endParaRPr lang="zh-CN" altLang="en-US" dirty="0"/>
          </a:p>
        </p:txBody>
      </p:sp>
      <p:sp>
        <p:nvSpPr>
          <p:cNvPr id="74755" name="Rectangle 3"/>
          <p:cNvSpPr>
            <a:spLocks noGrp="1" noChangeArrowheads="1"/>
          </p:cNvSpPr>
          <p:nvPr>
            <p:ph idx="1"/>
          </p:nvPr>
        </p:nvSpPr>
        <p:spPr>
          <a:xfrm>
            <a:off x="768097" y="925167"/>
            <a:ext cx="3873351" cy="3806854"/>
          </a:xfrm>
        </p:spPr>
        <p:txBody>
          <a:bodyPr>
            <a:normAutofit/>
          </a:bodyPr>
          <a:lstStyle/>
          <a:p>
            <a:pPr algn="just"/>
            <a:r>
              <a:rPr lang="zh-CN" altLang="en-US" sz="2000" dirty="0"/>
              <a:t>活动图实质上是一种流程图，只不过表现的是从一个活动到另一个活动的控制流。活动图描述活动的序列，并且支持对带条件的行为和并发行为表达。</a:t>
            </a:r>
            <a:endParaRPr lang="en-US" altLang="zh-CN" sz="2000" dirty="0"/>
          </a:p>
          <a:p>
            <a:pPr algn="just">
              <a:spcBef>
                <a:spcPts val="2400"/>
              </a:spcBef>
            </a:pPr>
            <a:r>
              <a:rPr lang="zh-CN" altLang="en-US" sz="2000" dirty="0"/>
              <a:t>用于系统行为建模。在分析阶段用于理解业务流程，这是进一步用对象交互图细化行为模型的基础。</a:t>
            </a:r>
            <a:endParaRPr lang="zh-CN" altLang="en-US" sz="2000" dirty="0"/>
          </a:p>
        </p:txBody>
      </p:sp>
      <p:sp>
        <p:nvSpPr>
          <p:cNvPr id="7" name="日期占位符 6"/>
          <p:cNvSpPr>
            <a:spLocks noGrp="1"/>
          </p:cNvSpPr>
          <p:nvPr>
            <p:ph type="dt" sz="half" idx="10"/>
          </p:nvPr>
        </p:nvSpPr>
        <p:spPr/>
        <p:txBody>
          <a:bodyPr/>
          <a:lstStyle/>
          <a:p>
            <a:fld id="{C4508951-6B95-4E30-ACFA-97CBCCCAE9CF}"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grpSp>
        <p:nvGrpSpPr>
          <p:cNvPr id="2" name="Group 4"/>
          <p:cNvGrpSpPr>
            <a:grpSpLocks noChangeAspect="1"/>
          </p:cNvGrpSpPr>
          <p:nvPr/>
        </p:nvGrpSpPr>
        <p:grpSpPr bwMode="auto">
          <a:xfrm>
            <a:off x="4343457" y="-182482"/>
            <a:ext cx="3338614" cy="4095698"/>
            <a:chOff x="1783" y="709"/>
            <a:chExt cx="2515" cy="3085"/>
          </a:xfrm>
        </p:grpSpPr>
        <p:sp>
          <p:nvSpPr>
            <p:cNvPr id="74757" name="AutoShape 5"/>
            <p:cNvSpPr>
              <a:spLocks noChangeAspect="1" noChangeArrowheads="1" noTextEdit="1"/>
            </p:cNvSpPr>
            <p:nvPr/>
          </p:nvSpPr>
          <p:spPr bwMode="auto">
            <a:xfrm>
              <a:off x="1783" y="709"/>
              <a:ext cx="2515" cy="3085"/>
            </a:xfrm>
            <a:prstGeom prst="rect">
              <a:avLst/>
            </a:prstGeom>
            <a:noFill/>
            <a:ln w="9525">
              <a:noFill/>
              <a:miter lim="800000"/>
            </a:ln>
          </p:spPr>
          <p:txBody>
            <a:bodyPr/>
            <a:lstStyle/>
            <a:p>
              <a:endParaRPr lang="zh-CN" altLang="en-US" sz="1400">
                <a:latin typeface="+mj-ea"/>
                <a:ea typeface="+mj-ea"/>
              </a:endParaRPr>
            </a:p>
          </p:txBody>
        </p:sp>
        <p:sp>
          <p:nvSpPr>
            <p:cNvPr id="74758" name="Oval 6"/>
            <p:cNvSpPr>
              <a:spLocks noChangeArrowheads="1"/>
            </p:cNvSpPr>
            <p:nvPr/>
          </p:nvSpPr>
          <p:spPr bwMode="auto">
            <a:xfrm>
              <a:off x="2639" y="977"/>
              <a:ext cx="134" cy="127"/>
            </a:xfrm>
            <a:prstGeom prst="ellipse">
              <a:avLst/>
            </a:prstGeom>
            <a:solidFill>
              <a:srgbClr val="000000"/>
            </a:solidFill>
            <a:ln w="0">
              <a:solidFill>
                <a:srgbClr val="990033"/>
              </a:solidFill>
              <a:round/>
            </a:ln>
          </p:spPr>
          <p:txBody>
            <a:bodyPr/>
            <a:lstStyle/>
            <a:p>
              <a:endParaRPr lang="zh-CN" altLang="en-US" sz="1400">
                <a:latin typeface="+mj-ea"/>
                <a:ea typeface="+mj-ea"/>
              </a:endParaRPr>
            </a:p>
          </p:txBody>
        </p:sp>
        <p:sp>
          <p:nvSpPr>
            <p:cNvPr id="74759" name="Rectangle 7"/>
            <p:cNvSpPr>
              <a:spLocks noChangeArrowheads="1"/>
            </p:cNvSpPr>
            <p:nvPr/>
          </p:nvSpPr>
          <p:spPr bwMode="auto">
            <a:xfrm>
              <a:off x="2793" y="977"/>
              <a:ext cx="270" cy="162"/>
            </a:xfrm>
            <a:prstGeom prst="rect">
              <a:avLst/>
            </a:prstGeom>
            <a:noFill/>
            <a:ln w="9525">
              <a:noFill/>
              <a:miter lim="800000"/>
            </a:ln>
          </p:spPr>
          <p:txBody>
            <a:bodyPr wrap="none" lIns="0" tIns="0" rIns="0" bIns="0">
              <a:spAutoFit/>
            </a:bodyPr>
            <a:lstStyle/>
            <a:p>
              <a:pPr algn="l" eaLnBrk="1" hangingPunct="1"/>
              <a:r>
                <a:rPr lang="zh-CN" altLang="en-US" sz="1400" dirty="0">
                  <a:solidFill>
                    <a:schemeClr val="bg1"/>
                  </a:solidFill>
                  <a:latin typeface="+mj-ea"/>
                  <a:ea typeface="+mj-ea"/>
                </a:rPr>
                <a:t>开始</a:t>
              </a:r>
              <a:endParaRPr lang="zh-CN" altLang="en-US" sz="1400" dirty="0">
                <a:solidFill>
                  <a:schemeClr val="bg1"/>
                </a:solidFill>
                <a:latin typeface="+mj-ea"/>
                <a:ea typeface="+mj-ea"/>
              </a:endParaRPr>
            </a:p>
          </p:txBody>
        </p:sp>
        <p:sp>
          <p:nvSpPr>
            <p:cNvPr id="74760" name="Freeform 8"/>
            <p:cNvSpPr/>
            <p:nvPr/>
          </p:nvSpPr>
          <p:spPr bwMode="auto">
            <a:xfrm>
              <a:off x="2378" y="1306"/>
              <a:ext cx="722" cy="221"/>
            </a:xfrm>
            <a:custGeom>
              <a:avLst/>
              <a:gdLst/>
              <a:ahLst/>
              <a:cxnLst>
                <a:cxn ang="0">
                  <a:pos x="67" y="0"/>
                </a:cxn>
                <a:cxn ang="0">
                  <a:pos x="60" y="7"/>
                </a:cxn>
                <a:cxn ang="0">
                  <a:pos x="47" y="20"/>
                </a:cxn>
                <a:cxn ang="0">
                  <a:pos x="27" y="40"/>
                </a:cxn>
                <a:cxn ang="0">
                  <a:pos x="13" y="74"/>
                </a:cxn>
                <a:cxn ang="0">
                  <a:pos x="0" y="107"/>
                </a:cxn>
                <a:cxn ang="0">
                  <a:pos x="7" y="141"/>
                </a:cxn>
                <a:cxn ang="0">
                  <a:pos x="27" y="181"/>
                </a:cxn>
                <a:cxn ang="0">
                  <a:pos x="47" y="201"/>
                </a:cxn>
                <a:cxn ang="0">
                  <a:pos x="67" y="221"/>
                </a:cxn>
                <a:cxn ang="0">
                  <a:pos x="655" y="221"/>
                </a:cxn>
                <a:cxn ang="0">
                  <a:pos x="662" y="221"/>
                </a:cxn>
                <a:cxn ang="0">
                  <a:pos x="675" y="207"/>
                </a:cxn>
                <a:cxn ang="0">
                  <a:pos x="689" y="181"/>
                </a:cxn>
                <a:cxn ang="0">
                  <a:pos x="709" y="154"/>
                </a:cxn>
                <a:cxn ang="0">
                  <a:pos x="722" y="121"/>
                </a:cxn>
                <a:cxn ang="0">
                  <a:pos x="716" y="80"/>
                </a:cxn>
                <a:cxn ang="0">
                  <a:pos x="696" y="40"/>
                </a:cxn>
                <a:cxn ang="0">
                  <a:pos x="682" y="20"/>
                </a:cxn>
                <a:cxn ang="0">
                  <a:pos x="655" y="0"/>
                </a:cxn>
                <a:cxn ang="0">
                  <a:pos x="67" y="0"/>
                </a:cxn>
              </a:cxnLst>
              <a:rect l="0" t="0" r="r" b="b"/>
              <a:pathLst>
                <a:path w="722" h="221">
                  <a:moveTo>
                    <a:pt x="67" y="0"/>
                  </a:moveTo>
                  <a:lnTo>
                    <a:pt x="60" y="7"/>
                  </a:lnTo>
                  <a:lnTo>
                    <a:pt x="47" y="20"/>
                  </a:lnTo>
                  <a:lnTo>
                    <a:pt x="27" y="40"/>
                  </a:lnTo>
                  <a:lnTo>
                    <a:pt x="13" y="74"/>
                  </a:lnTo>
                  <a:lnTo>
                    <a:pt x="0" y="107"/>
                  </a:lnTo>
                  <a:lnTo>
                    <a:pt x="7" y="141"/>
                  </a:lnTo>
                  <a:lnTo>
                    <a:pt x="27" y="181"/>
                  </a:lnTo>
                  <a:lnTo>
                    <a:pt x="47" y="201"/>
                  </a:lnTo>
                  <a:lnTo>
                    <a:pt x="67" y="221"/>
                  </a:lnTo>
                  <a:lnTo>
                    <a:pt x="655" y="221"/>
                  </a:lnTo>
                  <a:lnTo>
                    <a:pt x="662" y="221"/>
                  </a:lnTo>
                  <a:lnTo>
                    <a:pt x="675" y="207"/>
                  </a:lnTo>
                  <a:lnTo>
                    <a:pt x="689" y="181"/>
                  </a:lnTo>
                  <a:lnTo>
                    <a:pt x="709" y="154"/>
                  </a:lnTo>
                  <a:lnTo>
                    <a:pt x="722" y="121"/>
                  </a:lnTo>
                  <a:lnTo>
                    <a:pt x="716" y="80"/>
                  </a:lnTo>
                  <a:lnTo>
                    <a:pt x="696" y="40"/>
                  </a:lnTo>
                  <a:lnTo>
                    <a:pt x="682" y="20"/>
                  </a:lnTo>
                  <a:lnTo>
                    <a:pt x="655" y="0"/>
                  </a:lnTo>
                  <a:lnTo>
                    <a:pt x="67" y="0"/>
                  </a:lnTo>
                  <a:close/>
                </a:path>
              </a:pathLst>
            </a:custGeom>
            <a:solidFill>
              <a:srgbClr val="FFFFCC"/>
            </a:solidFill>
            <a:ln w="0">
              <a:solidFill>
                <a:srgbClr val="990033"/>
              </a:solidFill>
              <a:prstDash val="solid"/>
              <a:round/>
            </a:ln>
          </p:spPr>
          <p:txBody>
            <a:bodyPr/>
            <a:lstStyle/>
            <a:p>
              <a:endParaRPr lang="zh-CN" altLang="en-US" sz="1400">
                <a:latin typeface="+mj-ea"/>
                <a:ea typeface="+mj-ea"/>
              </a:endParaRPr>
            </a:p>
          </p:txBody>
        </p:sp>
        <p:sp>
          <p:nvSpPr>
            <p:cNvPr id="74761" name="Rectangle 9"/>
            <p:cNvSpPr>
              <a:spLocks noChangeArrowheads="1"/>
            </p:cNvSpPr>
            <p:nvPr/>
          </p:nvSpPr>
          <p:spPr bwMode="auto">
            <a:xfrm>
              <a:off x="2586" y="1345"/>
              <a:ext cx="406" cy="162"/>
            </a:xfrm>
            <a:prstGeom prst="rect">
              <a:avLst/>
            </a:prstGeom>
            <a:noFill/>
            <a:ln w="9525">
              <a:noFill/>
              <a:miter lim="800000"/>
            </a:ln>
          </p:spPr>
          <p:txBody>
            <a:bodyPr wrap="none" lIns="0" tIns="0" rIns="0" bIns="0">
              <a:spAutoFit/>
            </a:bodyPr>
            <a:lstStyle/>
            <a:p>
              <a:pPr algn="l" eaLnBrk="1" hangingPunct="1"/>
              <a:r>
                <a:rPr lang="zh-CN" altLang="en-US" sz="1400" dirty="0">
                  <a:latin typeface="+mj-ea"/>
                  <a:ea typeface="+mj-ea"/>
                </a:rPr>
                <a:t>初始化</a:t>
              </a:r>
              <a:endParaRPr lang="zh-CN" altLang="en-US" sz="1400" dirty="0">
                <a:latin typeface="+mj-ea"/>
                <a:ea typeface="+mj-ea"/>
              </a:endParaRPr>
            </a:p>
          </p:txBody>
        </p:sp>
        <p:sp>
          <p:nvSpPr>
            <p:cNvPr id="74762" name="Freeform 10"/>
            <p:cNvSpPr/>
            <p:nvPr/>
          </p:nvSpPr>
          <p:spPr bwMode="auto">
            <a:xfrm>
              <a:off x="2546" y="1813"/>
              <a:ext cx="307" cy="147"/>
            </a:xfrm>
            <a:custGeom>
              <a:avLst/>
              <a:gdLst/>
              <a:ahLst/>
              <a:cxnLst>
                <a:cxn ang="0">
                  <a:pos x="0" y="80"/>
                </a:cxn>
                <a:cxn ang="0">
                  <a:pos x="160" y="0"/>
                </a:cxn>
                <a:cxn ang="0">
                  <a:pos x="307" y="80"/>
                </a:cxn>
                <a:cxn ang="0">
                  <a:pos x="160" y="147"/>
                </a:cxn>
                <a:cxn ang="0">
                  <a:pos x="0" y="80"/>
                </a:cxn>
              </a:cxnLst>
              <a:rect l="0" t="0" r="r" b="b"/>
              <a:pathLst>
                <a:path w="307" h="147">
                  <a:moveTo>
                    <a:pt x="0" y="80"/>
                  </a:moveTo>
                  <a:lnTo>
                    <a:pt x="160" y="0"/>
                  </a:lnTo>
                  <a:lnTo>
                    <a:pt x="307" y="80"/>
                  </a:lnTo>
                  <a:lnTo>
                    <a:pt x="160" y="147"/>
                  </a:lnTo>
                  <a:lnTo>
                    <a:pt x="0" y="80"/>
                  </a:lnTo>
                  <a:close/>
                </a:path>
              </a:pathLst>
            </a:custGeom>
            <a:solidFill>
              <a:srgbClr val="FFFFCC"/>
            </a:solidFill>
            <a:ln w="0">
              <a:solidFill>
                <a:srgbClr val="990033"/>
              </a:solidFill>
              <a:prstDash val="solid"/>
              <a:round/>
            </a:ln>
          </p:spPr>
          <p:txBody>
            <a:bodyPr/>
            <a:lstStyle/>
            <a:p>
              <a:endParaRPr lang="zh-CN" altLang="en-US" sz="1400">
                <a:latin typeface="+mj-ea"/>
                <a:ea typeface="+mj-ea"/>
              </a:endParaRPr>
            </a:p>
          </p:txBody>
        </p:sp>
        <p:sp>
          <p:nvSpPr>
            <p:cNvPr id="74763" name="Rectangle 11"/>
            <p:cNvSpPr>
              <a:spLocks noChangeArrowheads="1"/>
            </p:cNvSpPr>
            <p:nvPr/>
          </p:nvSpPr>
          <p:spPr bwMode="auto">
            <a:xfrm>
              <a:off x="2411" y="1816"/>
              <a:ext cx="541" cy="162"/>
            </a:xfrm>
            <a:prstGeom prst="rect">
              <a:avLst/>
            </a:prstGeom>
            <a:noFill/>
            <a:ln w="9525">
              <a:noFill/>
              <a:miter lim="800000"/>
            </a:ln>
          </p:spPr>
          <p:txBody>
            <a:bodyPr wrap="none" lIns="0" tIns="0" rIns="0" bIns="0">
              <a:spAutoFit/>
            </a:bodyPr>
            <a:lstStyle/>
            <a:p>
              <a:pPr algn="l" eaLnBrk="1" hangingPunct="1"/>
              <a:r>
                <a:rPr lang="zh-CN" altLang="en-US" sz="1400" dirty="0">
                  <a:latin typeface="+mj-ea"/>
                  <a:ea typeface="+mj-ea"/>
                </a:rPr>
                <a:t>条件判断</a:t>
              </a:r>
              <a:endParaRPr lang="zh-CN" altLang="en-US" sz="1400" dirty="0">
                <a:latin typeface="+mj-ea"/>
                <a:ea typeface="+mj-ea"/>
              </a:endParaRPr>
            </a:p>
          </p:txBody>
        </p:sp>
        <p:sp>
          <p:nvSpPr>
            <p:cNvPr id="74764" name="Freeform 12"/>
            <p:cNvSpPr/>
            <p:nvPr/>
          </p:nvSpPr>
          <p:spPr bwMode="auto">
            <a:xfrm>
              <a:off x="1937" y="2603"/>
              <a:ext cx="716" cy="227"/>
            </a:xfrm>
            <a:custGeom>
              <a:avLst/>
              <a:gdLst/>
              <a:ahLst/>
              <a:cxnLst>
                <a:cxn ang="0">
                  <a:pos x="67" y="0"/>
                </a:cxn>
                <a:cxn ang="0">
                  <a:pos x="60" y="7"/>
                </a:cxn>
                <a:cxn ang="0">
                  <a:pos x="47" y="20"/>
                </a:cxn>
                <a:cxn ang="0">
                  <a:pos x="27" y="40"/>
                </a:cxn>
                <a:cxn ang="0">
                  <a:pos x="13" y="73"/>
                </a:cxn>
                <a:cxn ang="0">
                  <a:pos x="0" y="107"/>
                </a:cxn>
                <a:cxn ang="0">
                  <a:pos x="7" y="140"/>
                </a:cxn>
                <a:cxn ang="0">
                  <a:pos x="27" y="187"/>
                </a:cxn>
                <a:cxn ang="0">
                  <a:pos x="40" y="201"/>
                </a:cxn>
                <a:cxn ang="0">
                  <a:pos x="67" y="227"/>
                </a:cxn>
                <a:cxn ang="0">
                  <a:pos x="649" y="227"/>
                </a:cxn>
                <a:cxn ang="0">
                  <a:pos x="655" y="221"/>
                </a:cxn>
                <a:cxn ang="0">
                  <a:pos x="675" y="207"/>
                </a:cxn>
                <a:cxn ang="0">
                  <a:pos x="689" y="187"/>
                </a:cxn>
                <a:cxn ang="0">
                  <a:pos x="709" y="154"/>
                </a:cxn>
                <a:cxn ang="0">
                  <a:pos x="716" y="120"/>
                </a:cxn>
                <a:cxn ang="0">
                  <a:pos x="716" y="80"/>
                </a:cxn>
                <a:cxn ang="0">
                  <a:pos x="695" y="40"/>
                </a:cxn>
                <a:cxn ang="0">
                  <a:pos x="675" y="27"/>
                </a:cxn>
                <a:cxn ang="0">
                  <a:pos x="649" y="0"/>
                </a:cxn>
                <a:cxn ang="0">
                  <a:pos x="67" y="0"/>
                </a:cxn>
              </a:cxnLst>
              <a:rect l="0" t="0" r="r" b="b"/>
              <a:pathLst>
                <a:path w="716" h="227">
                  <a:moveTo>
                    <a:pt x="67" y="0"/>
                  </a:moveTo>
                  <a:lnTo>
                    <a:pt x="60" y="7"/>
                  </a:lnTo>
                  <a:lnTo>
                    <a:pt x="47" y="20"/>
                  </a:lnTo>
                  <a:lnTo>
                    <a:pt x="27" y="40"/>
                  </a:lnTo>
                  <a:lnTo>
                    <a:pt x="13" y="73"/>
                  </a:lnTo>
                  <a:lnTo>
                    <a:pt x="0" y="107"/>
                  </a:lnTo>
                  <a:lnTo>
                    <a:pt x="7" y="140"/>
                  </a:lnTo>
                  <a:lnTo>
                    <a:pt x="27" y="187"/>
                  </a:lnTo>
                  <a:lnTo>
                    <a:pt x="40" y="201"/>
                  </a:lnTo>
                  <a:lnTo>
                    <a:pt x="67" y="227"/>
                  </a:lnTo>
                  <a:lnTo>
                    <a:pt x="649" y="227"/>
                  </a:lnTo>
                  <a:lnTo>
                    <a:pt x="655" y="221"/>
                  </a:lnTo>
                  <a:lnTo>
                    <a:pt x="675" y="207"/>
                  </a:lnTo>
                  <a:lnTo>
                    <a:pt x="689" y="187"/>
                  </a:lnTo>
                  <a:lnTo>
                    <a:pt x="709" y="154"/>
                  </a:lnTo>
                  <a:lnTo>
                    <a:pt x="716" y="120"/>
                  </a:lnTo>
                  <a:lnTo>
                    <a:pt x="716" y="80"/>
                  </a:lnTo>
                  <a:lnTo>
                    <a:pt x="695" y="40"/>
                  </a:lnTo>
                  <a:lnTo>
                    <a:pt x="675" y="27"/>
                  </a:lnTo>
                  <a:lnTo>
                    <a:pt x="649" y="0"/>
                  </a:lnTo>
                  <a:lnTo>
                    <a:pt x="67" y="0"/>
                  </a:lnTo>
                  <a:close/>
                </a:path>
              </a:pathLst>
            </a:custGeom>
            <a:solidFill>
              <a:srgbClr val="FFFFCC"/>
            </a:solidFill>
            <a:ln w="0">
              <a:solidFill>
                <a:srgbClr val="990033"/>
              </a:solidFill>
              <a:prstDash val="solid"/>
              <a:round/>
            </a:ln>
          </p:spPr>
          <p:txBody>
            <a:bodyPr/>
            <a:lstStyle/>
            <a:p>
              <a:endParaRPr lang="zh-CN" altLang="en-US" sz="1400">
                <a:latin typeface="+mj-ea"/>
                <a:ea typeface="+mj-ea"/>
              </a:endParaRPr>
            </a:p>
          </p:txBody>
        </p:sp>
        <p:sp>
          <p:nvSpPr>
            <p:cNvPr id="74765" name="Rectangle 13"/>
            <p:cNvSpPr>
              <a:spLocks noChangeArrowheads="1"/>
            </p:cNvSpPr>
            <p:nvPr/>
          </p:nvSpPr>
          <p:spPr bwMode="auto">
            <a:xfrm>
              <a:off x="2191" y="2610"/>
              <a:ext cx="350" cy="162"/>
            </a:xfrm>
            <a:prstGeom prst="rect">
              <a:avLst/>
            </a:prstGeom>
            <a:noFill/>
            <a:ln w="9525">
              <a:noFill/>
              <a:miter lim="800000"/>
            </a:ln>
          </p:spPr>
          <p:txBody>
            <a:bodyPr wrap="none" lIns="0" tIns="0" rIns="0" bIns="0">
              <a:spAutoFit/>
            </a:bodyPr>
            <a:lstStyle/>
            <a:p>
              <a:pPr algn="l" eaLnBrk="1" hangingPunct="1"/>
              <a:r>
                <a:rPr lang="zh-CN" altLang="en-US" sz="1400">
                  <a:latin typeface="+mj-ea"/>
                  <a:ea typeface="+mj-ea"/>
                </a:rPr>
                <a:t>并发</a:t>
              </a:r>
              <a:r>
                <a:rPr lang="en-US" altLang="zh-CN" sz="1400">
                  <a:latin typeface="+mj-ea"/>
                  <a:ea typeface="+mj-ea"/>
                </a:rPr>
                <a:t>1</a:t>
              </a:r>
              <a:endParaRPr lang="en-US" altLang="zh-CN" sz="1000">
                <a:solidFill>
                  <a:srgbClr val="000000"/>
                </a:solidFill>
                <a:latin typeface="+mj-ea"/>
                <a:ea typeface="+mj-ea"/>
              </a:endParaRPr>
            </a:p>
          </p:txBody>
        </p:sp>
        <p:sp>
          <p:nvSpPr>
            <p:cNvPr id="74766" name="Freeform 14"/>
            <p:cNvSpPr/>
            <p:nvPr/>
          </p:nvSpPr>
          <p:spPr bwMode="auto">
            <a:xfrm>
              <a:off x="2927" y="2569"/>
              <a:ext cx="722" cy="221"/>
            </a:xfrm>
            <a:custGeom>
              <a:avLst/>
              <a:gdLst/>
              <a:ahLst/>
              <a:cxnLst>
                <a:cxn ang="0">
                  <a:pos x="67" y="0"/>
                </a:cxn>
                <a:cxn ang="0">
                  <a:pos x="60" y="7"/>
                </a:cxn>
                <a:cxn ang="0">
                  <a:pos x="47" y="20"/>
                </a:cxn>
                <a:cxn ang="0">
                  <a:pos x="27" y="41"/>
                </a:cxn>
                <a:cxn ang="0">
                  <a:pos x="13" y="74"/>
                </a:cxn>
                <a:cxn ang="0">
                  <a:pos x="0" y="107"/>
                </a:cxn>
                <a:cxn ang="0">
                  <a:pos x="6" y="141"/>
                </a:cxn>
                <a:cxn ang="0">
                  <a:pos x="27" y="181"/>
                </a:cxn>
                <a:cxn ang="0">
                  <a:pos x="40" y="201"/>
                </a:cxn>
                <a:cxn ang="0">
                  <a:pos x="67" y="221"/>
                </a:cxn>
                <a:cxn ang="0">
                  <a:pos x="655" y="221"/>
                </a:cxn>
                <a:cxn ang="0">
                  <a:pos x="662" y="221"/>
                </a:cxn>
                <a:cxn ang="0">
                  <a:pos x="675" y="208"/>
                </a:cxn>
                <a:cxn ang="0">
                  <a:pos x="695" y="181"/>
                </a:cxn>
                <a:cxn ang="0">
                  <a:pos x="709" y="154"/>
                </a:cxn>
                <a:cxn ang="0">
                  <a:pos x="722" y="121"/>
                </a:cxn>
                <a:cxn ang="0">
                  <a:pos x="715" y="81"/>
                </a:cxn>
                <a:cxn ang="0">
                  <a:pos x="695" y="41"/>
                </a:cxn>
                <a:cxn ang="0">
                  <a:pos x="675" y="20"/>
                </a:cxn>
                <a:cxn ang="0">
                  <a:pos x="655" y="0"/>
                </a:cxn>
                <a:cxn ang="0">
                  <a:pos x="67" y="0"/>
                </a:cxn>
              </a:cxnLst>
              <a:rect l="0" t="0" r="r" b="b"/>
              <a:pathLst>
                <a:path w="722" h="221">
                  <a:moveTo>
                    <a:pt x="67" y="0"/>
                  </a:moveTo>
                  <a:lnTo>
                    <a:pt x="60" y="7"/>
                  </a:lnTo>
                  <a:lnTo>
                    <a:pt x="47" y="20"/>
                  </a:lnTo>
                  <a:lnTo>
                    <a:pt x="27" y="41"/>
                  </a:lnTo>
                  <a:lnTo>
                    <a:pt x="13" y="74"/>
                  </a:lnTo>
                  <a:lnTo>
                    <a:pt x="0" y="107"/>
                  </a:lnTo>
                  <a:lnTo>
                    <a:pt x="6" y="141"/>
                  </a:lnTo>
                  <a:lnTo>
                    <a:pt x="27" y="181"/>
                  </a:lnTo>
                  <a:lnTo>
                    <a:pt x="40" y="201"/>
                  </a:lnTo>
                  <a:lnTo>
                    <a:pt x="67" y="221"/>
                  </a:lnTo>
                  <a:lnTo>
                    <a:pt x="655" y="221"/>
                  </a:lnTo>
                  <a:lnTo>
                    <a:pt x="662" y="221"/>
                  </a:lnTo>
                  <a:lnTo>
                    <a:pt x="675" y="208"/>
                  </a:lnTo>
                  <a:lnTo>
                    <a:pt x="695" y="181"/>
                  </a:lnTo>
                  <a:lnTo>
                    <a:pt x="709" y="154"/>
                  </a:lnTo>
                  <a:lnTo>
                    <a:pt x="722" y="121"/>
                  </a:lnTo>
                  <a:lnTo>
                    <a:pt x="715" y="81"/>
                  </a:lnTo>
                  <a:lnTo>
                    <a:pt x="695" y="41"/>
                  </a:lnTo>
                  <a:lnTo>
                    <a:pt x="675" y="20"/>
                  </a:lnTo>
                  <a:lnTo>
                    <a:pt x="655" y="0"/>
                  </a:lnTo>
                  <a:lnTo>
                    <a:pt x="67" y="0"/>
                  </a:lnTo>
                  <a:close/>
                </a:path>
              </a:pathLst>
            </a:custGeom>
            <a:solidFill>
              <a:srgbClr val="FFFFCC"/>
            </a:solidFill>
            <a:ln w="0">
              <a:solidFill>
                <a:srgbClr val="990033"/>
              </a:solidFill>
              <a:prstDash val="solid"/>
              <a:round/>
            </a:ln>
          </p:spPr>
          <p:txBody>
            <a:bodyPr/>
            <a:lstStyle/>
            <a:p>
              <a:endParaRPr lang="zh-CN" altLang="en-US" sz="1400">
                <a:latin typeface="+mj-ea"/>
                <a:ea typeface="+mj-ea"/>
              </a:endParaRPr>
            </a:p>
          </p:txBody>
        </p:sp>
        <p:sp>
          <p:nvSpPr>
            <p:cNvPr id="74767" name="Rectangle 15"/>
            <p:cNvSpPr>
              <a:spLocks noChangeArrowheads="1"/>
            </p:cNvSpPr>
            <p:nvPr/>
          </p:nvSpPr>
          <p:spPr bwMode="auto">
            <a:xfrm>
              <a:off x="3188" y="2575"/>
              <a:ext cx="350" cy="162"/>
            </a:xfrm>
            <a:prstGeom prst="rect">
              <a:avLst/>
            </a:prstGeom>
            <a:noFill/>
            <a:ln w="9525">
              <a:noFill/>
              <a:miter lim="800000"/>
            </a:ln>
          </p:spPr>
          <p:txBody>
            <a:bodyPr wrap="none" lIns="0" tIns="0" rIns="0" bIns="0">
              <a:spAutoFit/>
            </a:bodyPr>
            <a:lstStyle/>
            <a:p>
              <a:pPr algn="l" eaLnBrk="1" hangingPunct="1"/>
              <a:r>
                <a:rPr lang="zh-CN" altLang="en-US" sz="1400">
                  <a:latin typeface="+mj-ea"/>
                  <a:ea typeface="+mj-ea"/>
                </a:rPr>
                <a:t>并发</a:t>
              </a:r>
              <a:r>
                <a:rPr lang="en-US" altLang="zh-CN" sz="1400">
                  <a:latin typeface="+mj-ea"/>
                  <a:ea typeface="+mj-ea"/>
                </a:rPr>
                <a:t>2</a:t>
              </a:r>
              <a:endParaRPr lang="en-US" altLang="zh-CN" sz="1400">
                <a:latin typeface="+mj-ea"/>
                <a:ea typeface="+mj-ea"/>
              </a:endParaRPr>
            </a:p>
          </p:txBody>
        </p:sp>
        <p:sp>
          <p:nvSpPr>
            <p:cNvPr id="74768" name="Oval 16"/>
            <p:cNvSpPr>
              <a:spLocks noChangeArrowheads="1"/>
            </p:cNvSpPr>
            <p:nvPr/>
          </p:nvSpPr>
          <p:spPr bwMode="auto">
            <a:xfrm>
              <a:off x="2686" y="3446"/>
              <a:ext cx="181" cy="181"/>
            </a:xfrm>
            <a:prstGeom prst="ellipse">
              <a:avLst/>
            </a:prstGeom>
            <a:noFill/>
            <a:ln w="0">
              <a:solidFill>
                <a:srgbClr val="990033"/>
              </a:solidFill>
              <a:round/>
            </a:ln>
          </p:spPr>
          <p:txBody>
            <a:bodyPr/>
            <a:lstStyle/>
            <a:p>
              <a:endParaRPr lang="zh-CN" altLang="en-US" sz="1400">
                <a:latin typeface="+mj-ea"/>
                <a:ea typeface="+mj-ea"/>
              </a:endParaRPr>
            </a:p>
          </p:txBody>
        </p:sp>
        <p:sp>
          <p:nvSpPr>
            <p:cNvPr id="74769" name="Oval 17"/>
            <p:cNvSpPr>
              <a:spLocks noChangeArrowheads="1"/>
            </p:cNvSpPr>
            <p:nvPr/>
          </p:nvSpPr>
          <p:spPr bwMode="auto">
            <a:xfrm>
              <a:off x="2713" y="3473"/>
              <a:ext cx="127" cy="127"/>
            </a:xfrm>
            <a:prstGeom prst="ellipse">
              <a:avLst/>
            </a:prstGeom>
            <a:solidFill>
              <a:srgbClr val="000000"/>
            </a:solidFill>
            <a:ln w="0">
              <a:solidFill>
                <a:srgbClr val="990033"/>
              </a:solidFill>
              <a:round/>
            </a:ln>
          </p:spPr>
          <p:txBody>
            <a:bodyPr/>
            <a:lstStyle/>
            <a:p>
              <a:endParaRPr lang="zh-CN" altLang="en-US" sz="1400">
                <a:latin typeface="+mj-ea"/>
                <a:ea typeface="+mj-ea"/>
              </a:endParaRPr>
            </a:p>
          </p:txBody>
        </p:sp>
        <p:sp>
          <p:nvSpPr>
            <p:cNvPr id="74770" name="Rectangle 18"/>
            <p:cNvSpPr>
              <a:spLocks noChangeArrowheads="1"/>
            </p:cNvSpPr>
            <p:nvPr/>
          </p:nvSpPr>
          <p:spPr bwMode="auto">
            <a:xfrm>
              <a:off x="2887" y="3445"/>
              <a:ext cx="270" cy="162"/>
            </a:xfrm>
            <a:prstGeom prst="rect">
              <a:avLst/>
            </a:prstGeom>
            <a:noFill/>
            <a:ln w="9525">
              <a:noFill/>
              <a:miter lim="800000"/>
            </a:ln>
          </p:spPr>
          <p:txBody>
            <a:bodyPr wrap="none" lIns="0" tIns="0" rIns="0" bIns="0">
              <a:spAutoFit/>
            </a:bodyPr>
            <a:lstStyle/>
            <a:p>
              <a:pPr algn="l" eaLnBrk="1" hangingPunct="1"/>
              <a:r>
                <a:rPr lang="zh-CN" altLang="en-US" sz="1400">
                  <a:latin typeface="+mj-ea"/>
                  <a:ea typeface="+mj-ea"/>
                </a:rPr>
                <a:t>结束</a:t>
              </a:r>
              <a:endParaRPr lang="zh-CN" altLang="en-US" sz="1400">
                <a:latin typeface="+mj-ea"/>
                <a:ea typeface="+mj-ea"/>
              </a:endParaRPr>
            </a:p>
          </p:txBody>
        </p:sp>
        <p:sp>
          <p:nvSpPr>
            <p:cNvPr id="74771" name="Rectangle 19"/>
            <p:cNvSpPr>
              <a:spLocks noChangeArrowheads="1"/>
            </p:cNvSpPr>
            <p:nvPr/>
          </p:nvSpPr>
          <p:spPr bwMode="auto">
            <a:xfrm>
              <a:off x="2291" y="2255"/>
              <a:ext cx="830" cy="33"/>
            </a:xfrm>
            <a:prstGeom prst="rect">
              <a:avLst/>
            </a:prstGeom>
            <a:solidFill>
              <a:srgbClr val="990033"/>
            </a:solidFill>
            <a:ln w="0">
              <a:solidFill>
                <a:srgbClr val="990033"/>
              </a:solidFill>
              <a:miter lim="800000"/>
            </a:ln>
          </p:spPr>
          <p:txBody>
            <a:bodyPr/>
            <a:lstStyle/>
            <a:p>
              <a:endParaRPr lang="zh-CN" altLang="en-US" sz="1400">
                <a:latin typeface="+mj-ea"/>
                <a:ea typeface="+mj-ea"/>
              </a:endParaRPr>
            </a:p>
          </p:txBody>
        </p:sp>
        <p:sp>
          <p:nvSpPr>
            <p:cNvPr id="74772" name="Rectangle 20"/>
            <p:cNvSpPr>
              <a:spLocks noChangeArrowheads="1"/>
            </p:cNvSpPr>
            <p:nvPr/>
          </p:nvSpPr>
          <p:spPr bwMode="auto">
            <a:xfrm>
              <a:off x="3147" y="2129"/>
              <a:ext cx="270" cy="162"/>
            </a:xfrm>
            <a:prstGeom prst="rect">
              <a:avLst/>
            </a:prstGeom>
            <a:noFill/>
            <a:ln w="9525">
              <a:noFill/>
              <a:miter lim="800000"/>
            </a:ln>
          </p:spPr>
          <p:txBody>
            <a:bodyPr wrap="none" lIns="0" tIns="0" rIns="0" bIns="0">
              <a:spAutoFit/>
            </a:bodyPr>
            <a:lstStyle/>
            <a:p>
              <a:pPr algn="l" eaLnBrk="1" hangingPunct="1"/>
              <a:r>
                <a:rPr lang="zh-CN" altLang="en-US" sz="1400">
                  <a:latin typeface="+mj-ea"/>
                  <a:ea typeface="+mj-ea"/>
                </a:rPr>
                <a:t>同步</a:t>
              </a:r>
              <a:endParaRPr lang="zh-CN" altLang="en-US" sz="1400">
                <a:latin typeface="+mj-ea"/>
                <a:ea typeface="+mj-ea"/>
              </a:endParaRPr>
            </a:p>
          </p:txBody>
        </p:sp>
        <p:sp>
          <p:nvSpPr>
            <p:cNvPr id="74773" name="Rectangle 21"/>
            <p:cNvSpPr>
              <a:spLocks noChangeArrowheads="1"/>
            </p:cNvSpPr>
            <p:nvPr/>
          </p:nvSpPr>
          <p:spPr bwMode="auto">
            <a:xfrm>
              <a:off x="2311" y="3145"/>
              <a:ext cx="857" cy="33"/>
            </a:xfrm>
            <a:prstGeom prst="rect">
              <a:avLst/>
            </a:prstGeom>
            <a:solidFill>
              <a:srgbClr val="990033"/>
            </a:solidFill>
            <a:ln w="0">
              <a:solidFill>
                <a:srgbClr val="990033"/>
              </a:solidFill>
              <a:miter lim="800000"/>
            </a:ln>
          </p:spPr>
          <p:txBody>
            <a:bodyPr/>
            <a:lstStyle/>
            <a:p>
              <a:endParaRPr lang="zh-CN" altLang="en-US" sz="1400">
                <a:latin typeface="+mj-ea"/>
                <a:ea typeface="+mj-ea"/>
              </a:endParaRPr>
            </a:p>
          </p:txBody>
        </p:sp>
        <p:sp>
          <p:nvSpPr>
            <p:cNvPr id="74774" name="Freeform 22"/>
            <p:cNvSpPr/>
            <p:nvPr/>
          </p:nvSpPr>
          <p:spPr bwMode="auto">
            <a:xfrm>
              <a:off x="2706" y="1104"/>
              <a:ext cx="34" cy="227"/>
            </a:xfrm>
            <a:custGeom>
              <a:avLst/>
              <a:gdLst/>
              <a:ahLst/>
              <a:cxnLst>
                <a:cxn ang="0">
                  <a:pos x="0" y="0"/>
                </a:cxn>
                <a:cxn ang="0">
                  <a:pos x="0" y="34"/>
                </a:cxn>
                <a:cxn ang="0">
                  <a:pos x="5" y="23"/>
                </a:cxn>
              </a:cxnLst>
              <a:rect l="0" t="0" r="r" b="b"/>
              <a:pathLst>
                <a:path w="5" h="34">
                  <a:moveTo>
                    <a:pt x="0" y="0"/>
                  </a:moveTo>
                  <a:lnTo>
                    <a:pt x="0" y="34"/>
                  </a:lnTo>
                  <a:lnTo>
                    <a:pt x="5" y="23"/>
                  </a:lnTo>
                </a:path>
              </a:pathLst>
            </a:custGeom>
            <a:noFill/>
            <a:ln w="0">
              <a:solidFill>
                <a:srgbClr val="990033"/>
              </a:solidFill>
              <a:prstDash val="solid"/>
              <a:round/>
            </a:ln>
          </p:spPr>
          <p:txBody>
            <a:bodyPr/>
            <a:lstStyle/>
            <a:p>
              <a:endParaRPr lang="zh-CN" altLang="en-US" sz="1400">
                <a:latin typeface="+mj-ea"/>
                <a:ea typeface="+mj-ea"/>
              </a:endParaRPr>
            </a:p>
          </p:txBody>
        </p:sp>
        <p:sp>
          <p:nvSpPr>
            <p:cNvPr id="74775" name="Line 23"/>
            <p:cNvSpPr>
              <a:spLocks noChangeShapeType="1"/>
            </p:cNvSpPr>
            <p:nvPr/>
          </p:nvSpPr>
          <p:spPr bwMode="auto">
            <a:xfrm flipH="1" flipV="1">
              <a:off x="2673" y="1258"/>
              <a:ext cx="33" cy="73"/>
            </a:xfrm>
            <a:prstGeom prst="line">
              <a:avLst/>
            </a:prstGeom>
            <a:noFill/>
            <a:ln w="0">
              <a:solidFill>
                <a:srgbClr val="990033"/>
              </a:solidFill>
              <a:round/>
            </a:ln>
          </p:spPr>
          <p:txBody>
            <a:bodyPr/>
            <a:lstStyle/>
            <a:p>
              <a:endParaRPr lang="zh-CN" altLang="en-US" sz="1400">
                <a:latin typeface="+mj-ea"/>
                <a:ea typeface="+mj-ea"/>
              </a:endParaRPr>
            </a:p>
          </p:txBody>
        </p:sp>
        <p:sp>
          <p:nvSpPr>
            <p:cNvPr id="74776" name="Freeform 24"/>
            <p:cNvSpPr/>
            <p:nvPr/>
          </p:nvSpPr>
          <p:spPr bwMode="auto">
            <a:xfrm>
              <a:off x="2706" y="1566"/>
              <a:ext cx="34" cy="247"/>
            </a:xfrm>
            <a:custGeom>
              <a:avLst/>
              <a:gdLst/>
              <a:ahLst/>
              <a:cxnLst>
                <a:cxn ang="0">
                  <a:pos x="0" y="0"/>
                </a:cxn>
                <a:cxn ang="0">
                  <a:pos x="0" y="37"/>
                </a:cxn>
                <a:cxn ang="0">
                  <a:pos x="5" y="26"/>
                </a:cxn>
              </a:cxnLst>
              <a:rect l="0" t="0" r="r" b="b"/>
              <a:pathLst>
                <a:path w="5" h="37">
                  <a:moveTo>
                    <a:pt x="0" y="0"/>
                  </a:moveTo>
                  <a:lnTo>
                    <a:pt x="0" y="37"/>
                  </a:lnTo>
                  <a:lnTo>
                    <a:pt x="5" y="26"/>
                  </a:lnTo>
                </a:path>
              </a:pathLst>
            </a:custGeom>
            <a:noFill/>
            <a:ln w="0">
              <a:solidFill>
                <a:srgbClr val="990033"/>
              </a:solidFill>
              <a:prstDash val="solid"/>
              <a:round/>
            </a:ln>
          </p:spPr>
          <p:txBody>
            <a:bodyPr/>
            <a:lstStyle/>
            <a:p>
              <a:endParaRPr lang="zh-CN" altLang="en-US" sz="1400">
                <a:latin typeface="+mj-ea"/>
                <a:ea typeface="+mj-ea"/>
              </a:endParaRPr>
            </a:p>
          </p:txBody>
        </p:sp>
        <p:sp>
          <p:nvSpPr>
            <p:cNvPr id="74777" name="Line 25"/>
            <p:cNvSpPr>
              <a:spLocks noChangeShapeType="1"/>
            </p:cNvSpPr>
            <p:nvPr/>
          </p:nvSpPr>
          <p:spPr bwMode="auto">
            <a:xfrm flipH="1" flipV="1">
              <a:off x="2673" y="1740"/>
              <a:ext cx="33" cy="73"/>
            </a:xfrm>
            <a:prstGeom prst="line">
              <a:avLst/>
            </a:prstGeom>
            <a:noFill/>
            <a:ln w="0">
              <a:solidFill>
                <a:srgbClr val="990033"/>
              </a:solidFill>
              <a:round/>
            </a:ln>
          </p:spPr>
          <p:txBody>
            <a:bodyPr/>
            <a:lstStyle/>
            <a:p>
              <a:endParaRPr lang="zh-CN" altLang="en-US" sz="1400">
                <a:latin typeface="+mj-ea"/>
                <a:ea typeface="+mj-ea"/>
              </a:endParaRPr>
            </a:p>
          </p:txBody>
        </p:sp>
        <p:sp>
          <p:nvSpPr>
            <p:cNvPr id="74778" name="Freeform 26"/>
            <p:cNvSpPr/>
            <p:nvPr/>
          </p:nvSpPr>
          <p:spPr bwMode="auto">
            <a:xfrm>
              <a:off x="2398" y="2288"/>
              <a:ext cx="107" cy="308"/>
            </a:xfrm>
            <a:custGeom>
              <a:avLst/>
              <a:gdLst/>
              <a:ahLst/>
              <a:cxnLst>
                <a:cxn ang="0">
                  <a:pos x="16" y="0"/>
                </a:cxn>
                <a:cxn ang="0">
                  <a:pos x="16" y="29"/>
                </a:cxn>
                <a:cxn ang="0">
                  <a:pos x="0" y="46"/>
                </a:cxn>
                <a:cxn ang="0">
                  <a:pos x="11" y="41"/>
                </a:cxn>
              </a:cxnLst>
              <a:rect l="0" t="0" r="r" b="b"/>
              <a:pathLst>
                <a:path w="16" h="46">
                  <a:moveTo>
                    <a:pt x="16" y="0"/>
                  </a:moveTo>
                  <a:lnTo>
                    <a:pt x="16" y="29"/>
                  </a:lnTo>
                  <a:lnTo>
                    <a:pt x="0" y="46"/>
                  </a:lnTo>
                  <a:lnTo>
                    <a:pt x="11" y="41"/>
                  </a:lnTo>
                </a:path>
              </a:pathLst>
            </a:custGeom>
            <a:noFill/>
            <a:ln w="0">
              <a:solidFill>
                <a:srgbClr val="990033"/>
              </a:solidFill>
              <a:prstDash val="solid"/>
              <a:round/>
            </a:ln>
          </p:spPr>
          <p:txBody>
            <a:bodyPr/>
            <a:lstStyle/>
            <a:p>
              <a:endParaRPr lang="zh-CN" altLang="en-US" sz="1400">
                <a:latin typeface="+mj-ea"/>
                <a:ea typeface="+mj-ea"/>
              </a:endParaRPr>
            </a:p>
          </p:txBody>
        </p:sp>
        <p:sp>
          <p:nvSpPr>
            <p:cNvPr id="74779" name="Line 27"/>
            <p:cNvSpPr>
              <a:spLocks noChangeShapeType="1"/>
            </p:cNvSpPr>
            <p:nvPr/>
          </p:nvSpPr>
          <p:spPr bwMode="auto">
            <a:xfrm flipV="1">
              <a:off x="2398" y="2523"/>
              <a:ext cx="27" cy="73"/>
            </a:xfrm>
            <a:prstGeom prst="line">
              <a:avLst/>
            </a:prstGeom>
            <a:noFill/>
            <a:ln w="0">
              <a:solidFill>
                <a:srgbClr val="990033"/>
              </a:solidFill>
              <a:round/>
            </a:ln>
          </p:spPr>
          <p:txBody>
            <a:bodyPr/>
            <a:lstStyle/>
            <a:p>
              <a:endParaRPr lang="zh-CN" altLang="en-US" sz="1400">
                <a:latin typeface="+mj-ea"/>
                <a:ea typeface="+mj-ea"/>
              </a:endParaRPr>
            </a:p>
          </p:txBody>
        </p:sp>
        <p:sp>
          <p:nvSpPr>
            <p:cNvPr id="74780" name="Freeform 28"/>
            <p:cNvSpPr/>
            <p:nvPr/>
          </p:nvSpPr>
          <p:spPr bwMode="auto">
            <a:xfrm>
              <a:off x="3014" y="2288"/>
              <a:ext cx="113" cy="275"/>
            </a:xfrm>
            <a:custGeom>
              <a:avLst/>
              <a:gdLst/>
              <a:ahLst/>
              <a:cxnLst>
                <a:cxn ang="0">
                  <a:pos x="0" y="0"/>
                </a:cxn>
                <a:cxn ang="0">
                  <a:pos x="0" y="29"/>
                </a:cxn>
                <a:cxn ang="0">
                  <a:pos x="17" y="41"/>
                </a:cxn>
                <a:cxn ang="0">
                  <a:pos x="10" y="31"/>
                </a:cxn>
              </a:cxnLst>
              <a:rect l="0" t="0" r="r" b="b"/>
              <a:pathLst>
                <a:path w="17" h="41">
                  <a:moveTo>
                    <a:pt x="0" y="0"/>
                  </a:moveTo>
                  <a:lnTo>
                    <a:pt x="0" y="29"/>
                  </a:lnTo>
                  <a:lnTo>
                    <a:pt x="17" y="41"/>
                  </a:lnTo>
                  <a:lnTo>
                    <a:pt x="10" y="31"/>
                  </a:lnTo>
                </a:path>
              </a:pathLst>
            </a:custGeom>
            <a:noFill/>
            <a:ln w="0">
              <a:solidFill>
                <a:srgbClr val="990033"/>
              </a:solidFill>
              <a:prstDash val="solid"/>
              <a:round/>
            </a:ln>
          </p:spPr>
          <p:txBody>
            <a:bodyPr/>
            <a:lstStyle/>
            <a:p>
              <a:endParaRPr lang="zh-CN" altLang="en-US" sz="1400">
                <a:latin typeface="+mj-ea"/>
                <a:ea typeface="+mj-ea"/>
              </a:endParaRPr>
            </a:p>
          </p:txBody>
        </p:sp>
        <p:sp>
          <p:nvSpPr>
            <p:cNvPr id="74781" name="Line 29"/>
            <p:cNvSpPr>
              <a:spLocks noChangeShapeType="1"/>
            </p:cNvSpPr>
            <p:nvPr/>
          </p:nvSpPr>
          <p:spPr bwMode="auto">
            <a:xfrm flipH="1" flipV="1">
              <a:off x="3041" y="2543"/>
              <a:ext cx="86" cy="20"/>
            </a:xfrm>
            <a:prstGeom prst="line">
              <a:avLst/>
            </a:prstGeom>
            <a:noFill/>
            <a:ln w="0">
              <a:solidFill>
                <a:srgbClr val="990033"/>
              </a:solidFill>
              <a:round/>
            </a:ln>
          </p:spPr>
          <p:txBody>
            <a:bodyPr/>
            <a:lstStyle/>
            <a:p>
              <a:endParaRPr lang="zh-CN" altLang="en-US" sz="1400">
                <a:latin typeface="+mj-ea"/>
                <a:ea typeface="+mj-ea"/>
              </a:endParaRPr>
            </a:p>
          </p:txBody>
        </p:sp>
        <p:sp>
          <p:nvSpPr>
            <p:cNvPr id="74782" name="Freeform 30"/>
            <p:cNvSpPr/>
            <p:nvPr/>
          </p:nvSpPr>
          <p:spPr bwMode="auto">
            <a:xfrm>
              <a:off x="2412" y="2837"/>
              <a:ext cx="147" cy="308"/>
            </a:xfrm>
            <a:custGeom>
              <a:avLst/>
              <a:gdLst/>
              <a:ahLst/>
              <a:cxnLst>
                <a:cxn ang="0">
                  <a:pos x="0" y="0"/>
                </a:cxn>
                <a:cxn ang="0">
                  <a:pos x="17" y="16"/>
                </a:cxn>
                <a:cxn ang="0">
                  <a:pos x="17" y="46"/>
                </a:cxn>
                <a:cxn ang="0">
                  <a:pos x="22" y="34"/>
                </a:cxn>
              </a:cxnLst>
              <a:rect l="0" t="0" r="r" b="b"/>
              <a:pathLst>
                <a:path w="22" h="46">
                  <a:moveTo>
                    <a:pt x="0" y="0"/>
                  </a:moveTo>
                  <a:lnTo>
                    <a:pt x="17" y="16"/>
                  </a:lnTo>
                  <a:lnTo>
                    <a:pt x="17" y="46"/>
                  </a:lnTo>
                  <a:lnTo>
                    <a:pt x="22" y="34"/>
                  </a:lnTo>
                </a:path>
              </a:pathLst>
            </a:custGeom>
            <a:noFill/>
            <a:ln w="0">
              <a:solidFill>
                <a:srgbClr val="990033"/>
              </a:solidFill>
              <a:prstDash val="solid"/>
              <a:round/>
            </a:ln>
          </p:spPr>
          <p:txBody>
            <a:bodyPr/>
            <a:lstStyle/>
            <a:p>
              <a:endParaRPr lang="zh-CN" altLang="en-US" sz="1400">
                <a:latin typeface="+mj-ea"/>
                <a:ea typeface="+mj-ea"/>
              </a:endParaRPr>
            </a:p>
          </p:txBody>
        </p:sp>
        <p:sp>
          <p:nvSpPr>
            <p:cNvPr id="74783" name="Line 31"/>
            <p:cNvSpPr>
              <a:spLocks noChangeShapeType="1"/>
            </p:cNvSpPr>
            <p:nvPr/>
          </p:nvSpPr>
          <p:spPr bwMode="auto">
            <a:xfrm flipH="1" flipV="1">
              <a:off x="2499" y="3065"/>
              <a:ext cx="26" cy="80"/>
            </a:xfrm>
            <a:prstGeom prst="line">
              <a:avLst/>
            </a:prstGeom>
            <a:noFill/>
            <a:ln w="0">
              <a:solidFill>
                <a:srgbClr val="990033"/>
              </a:solidFill>
              <a:round/>
            </a:ln>
          </p:spPr>
          <p:txBody>
            <a:bodyPr/>
            <a:lstStyle/>
            <a:p>
              <a:endParaRPr lang="zh-CN" altLang="en-US" sz="1400">
                <a:latin typeface="+mj-ea"/>
                <a:ea typeface="+mj-ea"/>
              </a:endParaRPr>
            </a:p>
          </p:txBody>
        </p:sp>
        <p:sp>
          <p:nvSpPr>
            <p:cNvPr id="74784" name="Freeform 32"/>
            <p:cNvSpPr/>
            <p:nvPr/>
          </p:nvSpPr>
          <p:spPr bwMode="auto">
            <a:xfrm>
              <a:off x="2980" y="2797"/>
              <a:ext cx="168" cy="348"/>
            </a:xfrm>
            <a:custGeom>
              <a:avLst/>
              <a:gdLst/>
              <a:ahLst/>
              <a:cxnLst>
                <a:cxn ang="0">
                  <a:pos x="25" y="0"/>
                </a:cxn>
                <a:cxn ang="0">
                  <a:pos x="0" y="22"/>
                </a:cxn>
                <a:cxn ang="0">
                  <a:pos x="0" y="52"/>
                </a:cxn>
                <a:cxn ang="0">
                  <a:pos x="5" y="40"/>
                </a:cxn>
              </a:cxnLst>
              <a:rect l="0" t="0" r="r" b="b"/>
              <a:pathLst>
                <a:path w="25" h="52">
                  <a:moveTo>
                    <a:pt x="25" y="0"/>
                  </a:moveTo>
                  <a:lnTo>
                    <a:pt x="0" y="22"/>
                  </a:lnTo>
                  <a:lnTo>
                    <a:pt x="0" y="52"/>
                  </a:lnTo>
                  <a:lnTo>
                    <a:pt x="5" y="40"/>
                  </a:lnTo>
                </a:path>
              </a:pathLst>
            </a:custGeom>
            <a:noFill/>
            <a:ln w="0">
              <a:solidFill>
                <a:srgbClr val="990033"/>
              </a:solidFill>
              <a:prstDash val="solid"/>
              <a:round/>
            </a:ln>
          </p:spPr>
          <p:txBody>
            <a:bodyPr/>
            <a:lstStyle/>
            <a:p>
              <a:endParaRPr lang="zh-CN" altLang="en-US" sz="1400">
                <a:latin typeface="+mj-ea"/>
                <a:ea typeface="+mj-ea"/>
              </a:endParaRPr>
            </a:p>
          </p:txBody>
        </p:sp>
        <p:sp>
          <p:nvSpPr>
            <p:cNvPr id="74785" name="Line 33"/>
            <p:cNvSpPr>
              <a:spLocks noChangeShapeType="1"/>
            </p:cNvSpPr>
            <p:nvPr/>
          </p:nvSpPr>
          <p:spPr bwMode="auto">
            <a:xfrm flipH="1" flipV="1">
              <a:off x="2947" y="3065"/>
              <a:ext cx="33" cy="80"/>
            </a:xfrm>
            <a:prstGeom prst="line">
              <a:avLst/>
            </a:prstGeom>
            <a:noFill/>
            <a:ln w="0">
              <a:solidFill>
                <a:srgbClr val="990033"/>
              </a:solidFill>
              <a:round/>
            </a:ln>
          </p:spPr>
          <p:txBody>
            <a:bodyPr/>
            <a:lstStyle/>
            <a:p>
              <a:endParaRPr lang="zh-CN" altLang="en-US" sz="1400">
                <a:latin typeface="+mj-ea"/>
                <a:ea typeface="+mj-ea"/>
              </a:endParaRPr>
            </a:p>
          </p:txBody>
        </p:sp>
        <p:sp>
          <p:nvSpPr>
            <p:cNvPr id="74786" name="Freeform 34"/>
            <p:cNvSpPr/>
            <p:nvPr/>
          </p:nvSpPr>
          <p:spPr bwMode="auto">
            <a:xfrm>
              <a:off x="2760" y="3178"/>
              <a:ext cx="40" cy="268"/>
            </a:xfrm>
            <a:custGeom>
              <a:avLst/>
              <a:gdLst/>
              <a:ahLst/>
              <a:cxnLst>
                <a:cxn ang="0">
                  <a:pos x="0" y="0"/>
                </a:cxn>
                <a:cxn ang="0">
                  <a:pos x="2" y="40"/>
                </a:cxn>
                <a:cxn ang="0">
                  <a:pos x="6" y="29"/>
                </a:cxn>
              </a:cxnLst>
              <a:rect l="0" t="0" r="r" b="b"/>
              <a:pathLst>
                <a:path w="6" h="40">
                  <a:moveTo>
                    <a:pt x="0" y="0"/>
                  </a:moveTo>
                  <a:lnTo>
                    <a:pt x="2" y="40"/>
                  </a:lnTo>
                  <a:lnTo>
                    <a:pt x="6" y="29"/>
                  </a:lnTo>
                </a:path>
              </a:pathLst>
            </a:custGeom>
            <a:noFill/>
            <a:ln w="0">
              <a:solidFill>
                <a:srgbClr val="990033"/>
              </a:solidFill>
              <a:prstDash val="solid"/>
              <a:round/>
            </a:ln>
          </p:spPr>
          <p:txBody>
            <a:bodyPr/>
            <a:lstStyle/>
            <a:p>
              <a:endParaRPr lang="zh-CN" altLang="en-US" sz="1400">
                <a:latin typeface="+mj-ea"/>
                <a:ea typeface="+mj-ea"/>
              </a:endParaRPr>
            </a:p>
          </p:txBody>
        </p:sp>
        <p:sp>
          <p:nvSpPr>
            <p:cNvPr id="74787" name="Line 35"/>
            <p:cNvSpPr>
              <a:spLocks noChangeShapeType="1"/>
            </p:cNvSpPr>
            <p:nvPr/>
          </p:nvSpPr>
          <p:spPr bwMode="auto">
            <a:xfrm flipH="1" flipV="1">
              <a:off x="2733" y="3372"/>
              <a:ext cx="40" cy="74"/>
            </a:xfrm>
            <a:prstGeom prst="line">
              <a:avLst/>
            </a:prstGeom>
            <a:noFill/>
            <a:ln w="0">
              <a:solidFill>
                <a:srgbClr val="990033"/>
              </a:solidFill>
              <a:round/>
            </a:ln>
          </p:spPr>
          <p:txBody>
            <a:bodyPr/>
            <a:lstStyle/>
            <a:p>
              <a:endParaRPr lang="zh-CN" altLang="en-US" sz="1400">
                <a:latin typeface="+mj-ea"/>
                <a:ea typeface="+mj-ea"/>
              </a:endParaRPr>
            </a:p>
          </p:txBody>
        </p:sp>
        <p:sp>
          <p:nvSpPr>
            <p:cNvPr id="74788" name="Freeform 36"/>
            <p:cNvSpPr/>
            <p:nvPr/>
          </p:nvSpPr>
          <p:spPr bwMode="auto">
            <a:xfrm>
              <a:off x="2706" y="1974"/>
              <a:ext cx="34" cy="281"/>
            </a:xfrm>
            <a:custGeom>
              <a:avLst/>
              <a:gdLst/>
              <a:ahLst/>
              <a:cxnLst>
                <a:cxn ang="0">
                  <a:pos x="0" y="0"/>
                </a:cxn>
                <a:cxn ang="0">
                  <a:pos x="0" y="42"/>
                </a:cxn>
                <a:cxn ang="0">
                  <a:pos x="5" y="30"/>
                </a:cxn>
              </a:cxnLst>
              <a:rect l="0" t="0" r="r" b="b"/>
              <a:pathLst>
                <a:path w="5" h="42">
                  <a:moveTo>
                    <a:pt x="0" y="0"/>
                  </a:moveTo>
                  <a:lnTo>
                    <a:pt x="0" y="42"/>
                  </a:lnTo>
                  <a:lnTo>
                    <a:pt x="5" y="30"/>
                  </a:lnTo>
                </a:path>
              </a:pathLst>
            </a:custGeom>
            <a:noFill/>
            <a:ln w="0">
              <a:solidFill>
                <a:srgbClr val="990033"/>
              </a:solidFill>
              <a:prstDash val="solid"/>
              <a:round/>
            </a:ln>
          </p:spPr>
          <p:txBody>
            <a:bodyPr/>
            <a:lstStyle/>
            <a:p>
              <a:endParaRPr lang="zh-CN" altLang="en-US" sz="1400">
                <a:latin typeface="+mj-ea"/>
                <a:ea typeface="+mj-ea"/>
              </a:endParaRPr>
            </a:p>
          </p:txBody>
        </p:sp>
        <p:sp>
          <p:nvSpPr>
            <p:cNvPr id="74789" name="Line 37"/>
            <p:cNvSpPr>
              <a:spLocks noChangeShapeType="1"/>
            </p:cNvSpPr>
            <p:nvPr/>
          </p:nvSpPr>
          <p:spPr bwMode="auto">
            <a:xfrm flipH="1" flipV="1">
              <a:off x="2673" y="2175"/>
              <a:ext cx="33" cy="80"/>
            </a:xfrm>
            <a:prstGeom prst="line">
              <a:avLst/>
            </a:prstGeom>
            <a:noFill/>
            <a:ln w="0">
              <a:solidFill>
                <a:srgbClr val="990033"/>
              </a:solidFill>
              <a:round/>
            </a:ln>
          </p:spPr>
          <p:txBody>
            <a:bodyPr/>
            <a:lstStyle/>
            <a:p>
              <a:endParaRPr lang="zh-CN" altLang="en-US" sz="1400">
                <a:latin typeface="+mj-ea"/>
                <a:ea typeface="+mj-ea"/>
              </a:endParaRPr>
            </a:p>
          </p:txBody>
        </p:sp>
        <p:sp>
          <p:nvSpPr>
            <p:cNvPr id="74790" name="Freeform 38"/>
            <p:cNvSpPr/>
            <p:nvPr/>
          </p:nvSpPr>
          <p:spPr bwMode="auto">
            <a:xfrm>
              <a:off x="2867" y="1452"/>
              <a:ext cx="862" cy="441"/>
            </a:xfrm>
            <a:custGeom>
              <a:avLst/>
              <a:gdLst/>
              <a:ahLst/>
              <a:cxnLst>
                <a:cxn ang="0">
                  <a:pos x="0" y="66"/>
                </a:cxn>
                <a:cxn ang="0">
                  <a:pos x="129" y="65"/>
                </a:cxn>
                <a:cxn ang="0">
                  <a:pos x="129" y="0"/>
                </a:cxn>
                <a:cxn ang="0">
                  <a:pos x="31" y="0"/>
                </a:cxn>
                <a:cxn ang="0">
                  <a:pos x="42" y="4"/>
                </a:cxn>
              </a:cxnLst>
              <a:rect l="0" t="0" r="r" b="b"/>
              <a:pathLst>
                <a:path w="129" h="66">
                  <a:moveTo>
                    <a:pt x="0" y="66"/>
                  </a:moveTo>
                  <a:lnTo>
                    <a:pt x="129" y="65"/>
                  </a:lnTo>
                  <a:lnTo>
                    <a:pt x="129" y="0"/>
                  </a:lnTo>
                  <a:lnTo>
                    <a:pt x="31" y="0"/>
                  </a:lnTo>
                  <a:lnTo>
                    <a:pt x="42" y="4"/>
                  </a:lnTo>
                </a:path>
              </a:pathLst>
            </a:custGeom>
            <a:noFill/>
            <a:ln w="0">
              <a:solidFill>
                <a:srgbClr val="990033"/>
              </a:solidFill>
              <a:prstDash val="solid"/>
              <a:round/>
            </a:ln>
          </p:spPr>
          <p:txBody>
            <a:bodyPr/>
            <a:lstStyle/>
            <a:p>
              <a:endParaRPr lang="zh-CN" altLang="en-US" sz="1400">
                <a:latin typeface="+mj-ea"/>
                <a:ea typeface="+mj-ea"/>
              </a:endParaRPr>
            </a:p>
          </p:txBody>
        </p:sp>
        <p:sp>
          <p:nvSpPr>
            <p:cNvPr id="74791" name="Line 39"/>
            <p:cNvSpPr>
              <a:spLocks noChangeShapeType="1"/>
            </p:cNvSpPr>
            <p:nvPr/>
          </p:nvSpPr>
          <p:spPr bwMode="auto">
            <a:xfrm flipV="1">
              <a:off x="3074" y="1418"/>
              <a:ext cx="74" cy="34"/>
            </a:xfrm>
            <a:prstGeom prst="line">
              <a:avLst/>
            </a:prstGeom>
            <a:noFill/>
            <a:ln w="0">
              <a:solidFill>
                <a:srgbClr val="990033"/>
              </a:solidFill>
              <a:round/>
            </a:ln>
          </p:spPr>
          <p:txBody>
            <a:bodyPr/>
            <a:lstStyle/>
            <a:p>
              <a:endParaRPr lang="zh-CN" altLang="en-US" sz="1400">
                <a:latin typeface="+mj-ea"/>
                <a:ea typeface="+mj-ea"/>
              </a:endParaRPr>
            </a:p>
          </p:txBody>
        </p:sp>
        <p:sp>
          <p:nvSpPr>
            <p:cNvPr id="74792" name="Rectangle 40"/>
            <p:cNvSpPr>
              <a:spLocks noChangeArrowheads="1"/>
            </p:cNvSpPr>
            <p:nvPr/>
          </p:nvSpPr>
          <p:spPr bwMode="auto">
            <a:xfrm>
              <a:off x="2726" y="2068"/>
              <a:ext cx="270" cy="162"/>
            </a:xfrm>
            <a:prstGeom prst="rect">
              <a:avLst/>
            </a:prstGeom>
            <a:noFill/>
            <a:ln w="9525">
              <a:noFill/>
              <a:miter lim="800000"/>
            </a:ln>
          </p:spPr>
          <p:txBody>
            <a:bodyPr wrap="none" lIns="0" tIns="0" rIns="0" bIns="0">
              <a:spAutoFit/>
            </a:bodyPr>
            <a:lstStyle/>
            <a:p>
              <a:pPr algn="l" eaLnBrk="1" hangingPunct="1"/>
              <a:r>
                <a:rPr lang="zh-CN" altLang="en-US" sz="1400" dirty="0">
                  <a:latin typeface="+mj-ea"/>
                  <a:ea typeface="+mj-ea"/>
                </a:rPr>
                <a:t>成功</a:t>
              </a:r>
              <a:endParaRPr lang="zh-CN" altLang="en-US" sz="1400" dirty="0">
                <a:latin typeface="+mj-ea"/>
                <a:ea typeface="+mj-ea"/>
              </a:endParaRPr>
            </a:p>
          </p:txBody>
        </p:sp>
        <p:sp>
          <p:nvSpPr>
            <p:cNvPr id="74793" name="Rectangle 41"/>
            <p:cNvSpPr>
              <a:spLocks noChangeArrowheads="1"/>
            </p:cNvSpPr>
            <p:nvPr/>
          </p:nvSpPr>
          <p:spPr bwMode="auto">
            <a:xfrm>
              <a:off x="3556" y="1719"/>
              <a:ext cx="270" cy="162"/>
            </a:xfrm>
            <a:prstGeom prst="rect">
              <a:avLst/>
            </a:prstGeom>
            <a:noFill/>
            <a:ln w="9525">
              <a:noFill/>
              <a:miter lim="800000"/>
            </a:ln>
          </p:spPr>
          <p:txBody>
            <a:bodyPr wrap="none" lIns="0" tIns="0" rIns="0" bIns="0">
              <a:spAutoFit/>
            </a:bodyPr>
            <a:lstStyle/>
            <a:p>
              <a:pPr algn="l" eaLnBrk="1" hangingPunct="1"/>
              <a:r>
                <a:rPr lang="zh-CN" altLang="en-US" sz="1400">
                  <a:latin typeface="+mj-ea"/>
                  <a:ea typeface="+mj-ea"/>
                </a:rPr>
                <a:t>失败</a:t>
              </a:r>
              <a:endParaRPr lang="zh-CN" altLang="en-US" sz="1400">
                <a:latin typeface="+mj-ea"/>
                <a:ea typeface="+mj-ea"/>
              </a:endParaRPr>
            </a:p>
          </p:txBody>
        </p:sp>
      </p:grpSp>
      <p:grpSp>
        <p:nvGrpSpPr>
          <p:cNvPr id="3" name="Group 42"/>
          <p:cNvGrpSpPr/>
          <p:nvPr/>
        </p:nvGrpSpPr>
        <p:grpSpPr bwMode="auto">
          <a:xfrm>
            <a:off x="6861829" y="1763804"/>
            <a:ext cx="2259402" cy="2657475"/>
            <a:chOff x="3312" y="2064"/>
            <a:chExt cx="1527" cy="1728"/>
          </a:xfrm>
        </p:grpSpPr>
        <p:sp>
          <p:nvSpPr>
            <p:cNvPr id="74795" name="AutoShape 43"/>
            <p:cNvSpPr>
              <a:spLocks noChangeAspect="1" noChangeArrowheads="1" noTextEdit="1"/>
            </p:cNvSpPr>
            <p:nvPr/>
          </p:nvSpPr>
          <p:spPr bwMode="auto">
            <a:xfrm>
              <a:off x="3312" y="2064"/>
              <a:ext cx="1527" cy="1728"/>
            </a:xfrm>
            <a:prstGeom prst="rect">
              <a:avLst/>
            </a:prstGeom>
            <a:noFill/>
            <a:ln w="9525">
              <a:noFill/>
              <a:miter lim="800000"/>
            </a:ln>
          </p:spPr>
          <p:txBody>
            <a:bodyPr/>
            <a:lstStyle/>
            <a:p>
              <a:pPr algn="ctr"/>
              <a:endParaRPr lang="zh-CN" altLang="en-US" sz="1600">
                <a:latin typeface="+mj-ea"/>
                <a:ea typeface="+mj-ea"/>
              </a:endParaRPr>
            </a:p>
          </p:txBody>
        </p:sp>
        <p:sp>
          <p:nvSpPr>
            <p:cNvPr id="74796" name="Freeform 44"/>
            <p:cNvSpPr/>
            <p:nvPr/>
          </p:nvSpPr>
          <p:spPr bwMode="auto">
            <a:xfrm>
              <a:off x="3414" y="2283"/>
              <a:ext cx="1323" cy="286"/>
            </a:xfrm>
            <a:custGeom>
              <a:avLst/>
              <a:gdLst/>
              <a:ahLst/>
              <a:cxnLst>
                <a:cxn ang="0">
                  <a:pos x="103" y="0"/>
                </a:cxn>
                <a:cxn ang="0">
                  <a:pos x="62" y="27"/>
                </a:cxn>
                <a:cxn ang="0">
                  <a:pos x="28" y="68"/>
                </a:cxn>
                <a:cxn ang="0">
                  <a:pos x="7" y="102"/>
                </a:cxn>
                <a:cxn ang="0">
                  <a:pos x="0" y="143"/>
                </a:cxn>
                <a:cxn ang="0">
                  <a:pos x="7" y="184"/>
                </a:cxn>
                <a:cxn ang="0">
                  <a:pos x="28" y="225"/>
                </a:cxn>
                <a:cxn ang="0">
                  <a:pos x="62" y="252"/>
                </a:cxn>
                <a:cxn ang="0">
                  <a:pos x="103" y="286"/>
                </a:cxn>
                <a:cxn ang="0">
                  <a:pos x="1220" y="286"/>
                </a:cxn>
                <a:cxn ang="0">
                  <a:pos x="1261" y="252"/>
                </a:cxn>
                <a:cxn ang="0">
                  <a:pos x="1295" y="225"/>
                </a:cxn>
                <a:cxn ang="0">
                  <a:pos x="1316" y="184"/>
                </a:cxn>
                <a:cxn ang="0">
                  <a:pos x="1323" y="143"/>
                </a:cxn>
                <a:cxn ang="0">
                  <a:pos x="1316" y="102"/>
                </a:cxn>
                <a:cxn ang="0">
                  <a:pos x="1295" y="68"/>
                </a:cxn>
                <a:cxn ang="0">
                  <a:pos x="1261" y="27"/>
                </a:cxn>
                <a:cxn ang="0">
                  <a:pos x="1220" y="0"/>
                </a:cxn>
                <a:cxn ang="0">
                  <a:pos x="103" y="0"/>
                </a:cxn>
              </a:cxnLst>
              <a:rect l="0" t="0" r="r" b="b"/>
              <a:pathLst>
                <a:path w="1323" h="286">
                  <a:moveTo>
                    <a:pt x="103" y="0"/>
                  </a:moveTo>
                  <a:lnTo>
                    <a:pt x="62" y="27"/>
                  </a:lnTo>
                  <a:lnTo>
                    <a:pt x="28" y="68"/>
                  </a:lnTo>
                  <a:lnTo>
                    <a:pt x="7" y="102"/>
                  </a:lnTo>
                  <a:lnTo>
                    <a:pt x="0" y="143"/>
                  </a:lnTo>
                  <a:lnTo>
                    <a:pt x="7" y="184"/>
                  </a:lnTo>
                  <a:lnTo>
                    <a:pt x="28" y="225"/>
                  </a:lnTo>
                  <a:lnTo>
                    <a:pt x="62" y="252"/>
                  </a:lnTo>
                  <a:lnTo>
                    <a:pt x="103" y="286"/>
                  </a:lnTo>
                  <a:lnTo>
                    <a:pt x="1220" y="286"/>
                  </a:lnTo>
                  <a:lnTo>
                    <a:pt x="1261" y="252"/>
                  </a:lnTo>
                  <a:lnTo>
                    <a:pt x="1295" y="225"/>
                  </a:lnTo>
                  <a:lnTo>
                    <a:pt x="1316" y="184"/>
                  </a:lnTo>
                  <a:lnTo>
                    <a:pt x="1323" y="143"/>
                  </a:lnTo>
                  <a:lnTo>
                    <a:pt x="1316" y="102"/>
                  </a:lnTo>
                  <a:lnTo>
                    <a:pt x="1295" y="68"/>
                  </a:lnTo>
                  <a:lnTo>
                    <a:pt x="1261" y="27"/>
                  </a:lnTo>
                  <a:lnTo>
                    <a:pt x="1220" y="0"/>
                  </a:lnTo>
                  <a:lnTo>
                    <a:pt x="103" y="0"/>
                  </a:lnTo>
                  <a:close/>
                </a:path>
              </a:pathLst>
            </a:custGeom>
            <a:solidFill>
              <a:srgbClr val="FFFFCC"/>
            </a:solidFill>
            <a:ln w="0">
              <a:solidFill>
                <a:srgbClr val="990033"/>
              </a:solidFill>
              <a:prstDash val="solid"/>
              <a:round/>
            </a:ln>
          </p:spPr>
          <p:txBody>
            <a:bodyPr/>
            <a:lstStyle/>
            <a:p>
              <a:pPr algn="ctr"/>
              <a:endParaRPr lang="zh-CN" altLang="en-US" sz="1600">
                <a:latin typeface="+mj-ea"/>
                <a:ea typeface="+mj-ea"/>
              </a:endParaRPr>
            </a:p>
          </p:txBody>
        </p:sp>
        <p:sp>
          <p:nvSpPr>
            <p:cNvPr id="74797" name="Rectangle 45"/>
            <p:cNvSpPr>
              <a:spLocks noChangeArrowheads="1"/>
            </p:cNvSpPr>
            <p:nvPr/>
          </p:nvSpPr>
          <p:spPr bwMode="auto">
            <a:xfrm>
              <a:off x="3497" y="2337"/>
              <a:ext cx="1226" cy="140"/>
            </a:xfrm>
            <a:prstGeom prst="rect">
              <a:avLst/>
            </a:prstGeom>
            <a:noFill/>
            <a:ln w="9525">
              <a:noFill/>
              <a:miter lim="800000"/>
            </a:ln>
          </p:spPr>
          <p:txBody>
            <a:bodyPr wrap="none" lIns="0" tIns="0" rIns="0" bIns="0">
              <a:spAutoFit/>
            </a:bodyPr>
            <a:lstStyle/>
            <a:p>
              <a:pPr algn="ctr"/>
              <a:r>
                <a:rPr lang="zh-CN" altLang="en-US" sz="1400" dirty="0">
                  <a:latin typeface="+mj-ea"/>
                  <a:ea typeface="+mj-ea"/>
                </a:rPr>
                <a:t>洗涤缸往返旋转</a:t>
              </a:r>
              <a:r>
                <a:rPr lang="en-US" altLang="zh-CN" sz="1400" dirty="0">
                  <a:latin typeface="+mj-ea"/>
                  <a:ea typeface="+mj-ea"/>
                </a:rPr>
                <a:t>15</a:t>
              </a:r>
              <a:r>
                <a:rPr lang="zh-CN" altLang="en-US" sz="1400" dirty="0">
                  <a:latin typeface="+mj-ea"/>
                  <a:ea typeface="+mj-ea"/>
                </a:rPr>
                <a:t>分钟</a:t>
              </a:r>
              <a:endParaRPr lang="zh-CN" altLang="en-US" sz="1400" dirty="0">
                <a:latin typeface="+mj-ea"/>
                <a:ea typeface="+mj-ea"/>
              </a:endParaRPr>
            </a:p>
          </p:txBody>
        </p:sp>
        <p:sp>
          <p:nvSpPr>
            <p:cNvPr id="74798" name="Freeform 46"/>
            <p:cNvSpPr/>
            <p:nvPr/>
          </p:nvSpPr>
          <p:spPr bwMode="auto">
            <a:xfrm>
              <a:off x="4076" y="2576"/>
              <a:ext cx="34" cy="335"/>
            </a:xfrm>
            <a:custGeom>
              <a:avLst/>
              <a:gdLst/>
              <a:ahLst/>
              <a:cxnLst>
                <a:cxn ang="0">
                  <a:pos x="0" y="0"/>
                </a:cxn>
                <a:cxn ang="0">
                  <a:pos x="0" y="49"/>
                </a:cxn>
                <a:cxn ang="0">
                  <a:pos x="5" y="37"/>
                </a:cxn>
              </a:cxnLst>
              <a:rect l="0" t="0" r="r" b="b"/>
              <a:pathLst>
                <a:path w="5" h="49">
                  <a:moveTo>
                    <a:pt x="0" y="0"/>
                  </a:moveTo>
                  <a:lnTo>
                    <a:pt x="0" y="49"/>
                  </a:lnTo>
                  <a:lnTo>
                    <a:pt x="5" y="37"/>
                  </a:lnTo>
                </a:path>
              </a:pathLst>
            </a:custGeom>
            <a:noFill/>
            <a:ln w="0">
              <a:solidFill>
                <a:srgbClr val="990033"/>
              </a:solidFill>
              <a:prstDash val="solid"/>
              <a:round/>
            </a:ln>
          </p:spPr>
          <p:txBody>
            <a:bodyPr/>
            <a:lstStyle/>
            <a:p>
              <a:pPr algn="ctr"/>
              <a:endParaRPr lang="zh-CN" altLang="en-US" sz="1600">
                <a:latin typeface="+mj-ea"/>
                <a:ea typeface="+mj-ea"/>
              </a:endParaRPr>
            </a:p>
          </p:txBody>
        </p:sp>
        <p:sp>
          <p:nvSpPr>
            <p:cNvPr id="74799" name="Line 47"/>
            <p:cNvSpPr>
              <a:spLocks noChangeShapeType="1"/>
            </p:cNvSpPr>
            <p:nvPr/>
          </p:nvSpPr>
          <p:spPr bwMode="auto">
            <a:xfrm flipH="1" flipV="1">
              <a:off x="4041" y="2829"/>
              <a:ext cx="35" cy="82"/>
            </a:xfrm>
            <a:prstGeom prst="line">
              <a:avLst/>
            </a:prstGeom>
            <a:noFill/>
            <a:ln w="0">
              <a:solidFill>
                <a:srgbClr val="990033"/>
              </a:solidFill>
              <a:round/>
            </a:ln>
          </p:spPr>
          <p:txBody>
            <a:bodyPr/>
            <a:lstStyle/>
            <a:p>
              <a:pPr algn="ctr"/>
              <a:endParaRPr lang="zh-CN" altLang="en-US" sz="1600">
                <a:latin typeface="+mj-ea"/>
                <a:ea typeface="+mj-ea"/>
              </a:endParaRPr>
            </a:p>
          </p:txBody>
        </p:sp>
        <p:sp>
          <p:nvSpPr>
            <p:cNvPr id="74800" name="Freeform 48"/>
            <p:cNvSpPr/>
            <p:nvPr/>
          </p:nvSpPr>
          <p:spPr bwMode="auto">
            <a:xfrm>
              <a:off x="3591" y="2918"/>
              <a:ext cx="969" cy="218"/>
            </a:xfrm>
            <a:custGeom>
              <a:avLst/>
              <a:gdLst/>
              <a:ahLst/>
              <a:cxnLst>
                <a:cxn ang="0">
                  <a:pos x="89" y="0"/>
                </a:cxn>
                <a:cxn ang="0">
                  <a:pos x="55" y="20"/>
                </a:cxn>
                <a:cxn ang="0">
                  <a:pos x="28" y="48"/>
                </a:cxn>
                <a:cxn ang="0">
                  <a:pos x="7" y="75"/>
                </a:cxn>
                <a:cxn ang="0">
                  <a:pos x="0" y="109"/>
                </a:cxn>
                <a:cxn ang="0">
                  <a:pos x="7" y="136"/>
                </a:cxn>
                <a:cxn ang="0">
                  <a:pos x="28" y="164"/>
                </a:cxn>
                <a:cxn ang="0">
                  <a:pos x="55" y="191"/>
                </a:cxn>
                <a:cxn ang="0">
                  <a:pos x="89" y="218"/>
                </a:cxn>
                <a:cxn ang="0">
                  <a:pos x="880" y="218"/>
                </a:cxn>
                <a:cxn ang="0">
                  <a:pos x="914" y="191"/>
                </a:cxn>
                <a:cxn ang="0">
                  <a:pos x="941" y="164"/>
                </a:cxn>
                <a:cxn ang="0">
                  <a:pos x="962" y="136"/>
                </a:cxn>
                <a:cxn ang="0">
                  <a:pos x="969" y="109"/>
                </a:cxn>
                <a:cxn ang="0">
                  <a:pos x="962" y="75"/>
                </a:cxn>
                <a:cxn ang="0">
                  <a:pos x="941" y="48"/>
                </a:cxn>
                <a:cxn ang="0">
                  <a:pos x="914" y="20"/>
                </a:cxn>
                <a:cxn ang="0">
                  <a:pos x="880" y="0"/>
                </a:cxn>
                <a:cxn ang="0">
                  <a:pos x="89" y="0"/>
                </a:cxn>
              </a:cxnLst>
              <a:rect l="0" t="0" r="r" b="b"/>
              <a:pathLst>
                <a:path w="969" h="218">
                  <a:moveTo>
                    <a:pt x="89" y="0"/>
                  </a:moveTo>
                  <a:lnTo>
                    <a:pt x="55" y="20"/>
                  </a:lnTo>
                  <a:lnTo>
                    <a:pt x="28" y="48"/>
                  </a:lnTo>
                  <a:lnTo>
                    <a:pt x="7" y="75"/>
                  </a:lnTo>
                  <a:lnTo>
                    <a:pt x="0" y="109"/>
                  </a:lnTo>
                  <a:lnTo>
                    <a:pt x="7" y="136"/>
                  </a:lnTo>
                  <a:lnTo>
                    <a:pt x="28" y="164"/>
                  </a:lnTo>
                  <a:lnTo>
                    <a:pt x="55" y="191"/>
                  </a:lnTo>
                  <a:lnTo>
                    <a:pt x="89" y="218"/>
                  </a:lnTo>
                  <a:lnTo>
                    <a:pt x="880" y="218"/>
                  </a:lnTo>
                  <a:lnTo>
                    <a:pt x="914" y="191"/>
                  </a:lnTo>
                  <a:lnTo>
                    <a:pt x="941" y="164"/>
                  </a:lnTo>
                  <a:lnTo>
                    <a:pt x="962" y="136"/>
                  </a:lnTo>
                  <a:lnTo>
                    <a:pt x="969" y="109"/>
                  </a:lnTo>
                  <a:lnTo>
                    <a:pt x="962" y="75"/>
                  </a:lnTo>
                  <a:lnTo>
                    <a:pt x="941" y="48"/>
                  </a:lnTo>
                  <a:lnTo>
                    <a:pt x="914" y="20"/>
                  </a:lnTo>
                  <a:lnTo>
                    <a:pt x="880" y="0"/>
                  </a:lnTo>
                  <a:lnTo>
                    <a:pt x="89" y="0"/>
                  </a:lnTo>
                  <a:close/>
                </a:path>
              </a:pathLst>
            </a:custGeom>
            <a:solidFill>
              <a:srgbClr val="FFFFCC"/>
            </a:solidFill>
            <a:ln w="0">
              <a:solidFill>
                <a:srgbClr val="990033"/>
              </a:solidFill>
              <a:prstDash val="solid"/>
              <a:round/>
            </a:ln>
          </p:spPr>
          <p:txBody>
            <a:bodyPr/>
            <a:lstStyle/>
            <a:p>
              <a:pPr algn="ctr"/>
              <a:endParaRPr lang="zh-CN" altLang="en-US" sz="1600">
                <a:latin typeface="+mj-ea"/>
                <a:ea typeface="+mj-ea"/>
              </a:endParaRPr>
            </a:p>
          </p:txBody>
        </p:sp>
        <p:sp>
          <p:nvSpPr>
            <p:cNvPr id="74801" name="Rectangle 49"/>
            <p:cNvSpPr>
              <a:spLocks noChangeArrowheads="1"/>
            </p:cNvSpPr>
            <p:nvPr/>
          </p:nvSpPr>
          <p:spPr bwMode="auto">
            <a:xfrm>
              <a:off x="3837" y="2938"/>
              <a:ext cx="485" cy="140"/>
            </a:xfrm>
            <a:prstGeom prst="rect">
              <a:avLst/>
            </a:prstGeom>
            <a:noFill/>
            <a:ln w="9525">
              <a:noFill/>
              <a:miter lim="800000"/>
            </a:ln>
          </p:spPr>
          <p:txBody>
            <a:bodyPr wrap="none" lIns="0" tIns="0" rIns="0" bIns="0">
              <a:spAutoFit/>
            </a:bodyPr>
            <a:lstStyle/>
            <a:p>
              <a:pPr algn="ctr"/>
              <a:r>
                <a:rPr lang="zh-CN" altLang="en-US" sz="1400">
                  <a:latin typeface="+mj-ea"/>
                  <a:ea typeface="+mj-ea"/>
                </a:rPr>
                <a:t>排掉脏水</a:t>
              </a:r>
              <a:endParaRPr lang="zh-CN" altLang="en-US" sz="1400">
                <a:latin typeface="+mj-ea"/>
                <a:ea typeface="+mj-ea"/>
              </a:endParaRPr>
            </a:p>
          </p:txBody>
        </p:sp>
        <p:sp>
          <p:nvSpPr>
            <p:cNvPr id="74802" name="Freeform 50"/>
            <p:cNvSpPr/>
            <p:nvPr/>
          </p:nvSpPr>
          <p:spPr bwMode="auto">
            <a:xfrm>
              <a:off x="4076" y="2576"/>
              <a:ext cx="34" cy="335"/>
            </a:xfrm>
            <a:custGeom>
              <a:avLst/>
              <a:gdLst/>
              <a:ahLst/>
              <a:cxnLst>
                <a:cxn ang="0">
                  <a:pos x="0" y="0"/>
                </a:cxn>
                <a:cxn ang="0">
                  <a:pos x="0" y="49"/>
                </a:cxn>
                <a:cxn ang="0">
                  <a:pos x="5" y="37"/>
                </a:cxn>
              </a:cxnLst>
              <a:rect l="0" t="0" r="r" b="b"/>
              <a:pathLst>
                <a:path w="5" h="49">
                  <a:moveTo>
                    <a:pt x="0" y="0"/>
                  </a:moveTo>
                  <a:lnTo>
                    <a:pt x="0" y="49"/>
                  </a:lnTo>
                  <a:lnTo>
                    <a:pt x="5" y="37"/>
                  </a:lnTo>
                </a:path>
              </a:pathLst>
            </a:custGeom>
            <a:noFill/>
            <a:ln w="0">
              <a:solidFill>
                <a:srgbClr val="990033"/>
              </a:solidFill>
              <a:prstDash val="solid"/>
              <a:round/>
            </a:ln>
          </p:spPr>
          <p:txBody>
            <a:bodyPr/>
            <a:lstStyle/>
            <a:p>
              <a:pPr algn="ctr"/>
              <a:endParaRPr lang="zh-CN" altLang="en-US" sz="1600">
                <a:latin typeface="+mj-ea"/>
                <a:ea typeface="+mj-ea"/>
              </a:endParaRPr>
            </a:p>
          </p:txBody>
        </p:sp>
        <p:sp>
          <p:nvSpPr>
            <p:cNvPr id="74803" name="Line 51"/>
            <p:cNvSpPr>
              <a:spLocks noChangeShapeType="1"/>
            </p:cNvSpPr>
            <p:nvPr/>
          </p:nvSpPr>
          <p:spPr bwMode="auto">
            <a:xfrm flipH="1" flipV="1">
              <a:off x="4041" y="2829"/>
              <a:ext cx="35" cy="82"/>
            </a:xfrm>
            <a:prstGeom prst="line">
              <a:avLst/>
            </a:prstGeom>
            <a:noFill/>
            <a:ln w="0">
              <a:solidFill>
                <a:srgbClr val="990033"/>
              </a:solidFill>
              <a:round/>
            </a:ln>
          </p:spPr>
          <p:txBody>
            <a:bodyPr/>
            <a:lstStyle/>
            <a:p>
              <a:pPr algn="ctr"/>
              <a:endParaRPr lang="zh-CN" altLang="en-US" sz="1600">
                <a:latin typeface="+mj-ea"/>
                <a:ea typeface="+mj-ea"/>
              </a:endParaRPr>
            </a:p>
          </p:txBody>
        </p:sp>
        <p:sp>
          <p:nvSpPr>
            <p:cNvPr id="74804" name="Freeform 52"/>
            <p:cNvSpPr/>
            <p:nvPr/>
          </p:nvSpPr>
          <p:spPr bwMode="auto">
            <a:xfrm>
              <a:off x="4076" y="3143"/>
              <a:ext cx="34" cy="314"/>
            </a:xfrm>
            <a:custGeom>
              <a:avLst/>
              <a:gdLst/>
              <a:ahLst/>
              <a:cxnLst>
                <a:cxn ang="0">
                  <a:pos x="0" y="0"/>
                </a:cxn>
                <a:cxn ang="0">
                  <a:pos x="0" y="46"/>
                </a:cxn>
                <a:cxn ang="0">
                  <a:pos x="5" y="34"/>
                </a:cxn>
              </a:cxnLst>
              <a:rect l="0" t="0" r="r" b="b"/>
              <a:pathLst>
                <a:path w="5" h="46">
                  <a:moveTo>
                    <a:pt x="0" y="0"/>
                  </a:moveTo>
                  <a:lnTo>
                    <a:pt x="0" y="46"/>
                  </a:lnTo>
                  <a:lnTo>
                    <a:pt x="5" y="34"/>
                  </a:lnTo>
                </a:path>
              </a:pathLst>
            </a:custGeom>
            <a:noFill/>
            <a:ln w="0">
              <a:solidFill>
                <a:srgbClr val="990033"/>
              </a:solidFill>
              <a:prstDash val="solid"/>
              <a:round/>
            </a:ln>
          </p:spPr>
          <p:txBody>
            <a:bodyPr/>
            <a:lstStyle/>
            <a:p>
              <a:pPr algn="ctr"/>
              <a:endParaRPr lang="zh-CN" altLang="en-US" sz="1600">
                <a:latin typeface="+mj-ea"/>
                <a:ea typeface="+mj-ea"/>
              </a:endParaRPr>
            </a:p>
          </p:txBody>
        </p:sp>
        <p:sp>
          <p:nvSpPr>
            <p:cNvPr id="74805" name="Line 53"/>
            <p:cNvSpPr>
              <a:spLocks noChangeShapeType="1"/>
            </p:cNvSpPr>
            <p:nvPr/>
          </p:nvSpPr>
          <p:spPr bwMode="auto">
            <a:xfrm flipH="1" flipV="1">
              <a:off x="4041" y="3375"/>
              <a:ext cx="35" cy="82"/>
            </a:xfrm>
            <a:prstGeom prst="line">
              <a:avLst/>
            </a:prstGeom>
            <a:noFill/>
            <a:ln w="0">
              <a:solidFill>
                <a:srgbClr val="990033"/>
              </a:solidFill>
              <a:round/>
            </a:ln>
          </p:spPr>
          <p:txBody>
            <a:bodyPr/>
            <a:lstStyle/>
            <a:p>
              <a:pPr algn="ctr"/>
              <a:endParaRPr lang="zh-CN" altLang="en-US" sz="1600">
                <a:latin typeface="+mj-ea"/>
                <a:ea typeface="+mj-ea"/>
              </a:endParaRPr>
            </a:p>
          </p:txBody>
        </p:sp>
        <p:sp>
          <p:nvSpPr>
            <p:cNvPr id="74806" name="Freeform 54"/>
            <p:cNvSpPr/>
            <p:nvPr/>
          </p:nvSpPr>
          <p:spPr bwMode="auto">
            <a:xfrm>
              <a:off x="3551" y="3464"/>
              <a:ext cx="1043" cy="219"/>
            </a:xfrm>
            <a:custGeom>
              <a:avLst/>
              <a:gdLst/>
              <a:ahLst/>
              <a:cxnLst>
                <a:cxn ang="0">
                  <a:pos x="88" y="0"/>
                </a:cxn>
                <a:cxn ang="0">
                  <a:pos x="54" y="27"/>
                </a:cxn>
                <a:cxn ang="0">
                  <a:pos x="27" y="48"/>
                </a:cxn>
                <a:cxn ang="0">
                  <a:pos x="6" y="82"/>
                </a:cxn>
                <a:cxn ang="0">
                  <a:pos x="0" y="109"/>
                </a:cxn>
                <a:cxn ang="0">
                  <a:pos x="6" y="144"/>
                </a:cxn>
                <a:cxn ang="0">
                  <a:pos x="27" y="171"/>
                </a:cxn>
                <a:cxn ang="0">
                  <a:pos x="54" y="198"/>
                </a:cxn>
                <a:cxn ang="0">
                  <a:pos x="88" y="219"/>
                </a:cxn>
                <a:cxn ang="0">
                  <a:pos x="961" y="219"/>
                </a:cxn>
                <a:cxn ang="0">
                  <a:pos x="995" y="198"/>
                </a:cxn>
                <a:cxn ang="0">
                  <a:pos x="1022" y="171"/>
                </a:cxn>
                <a:cxn ang="0">
                  <a:pos x="1043" y="144"/>
                </a:cxn>
                <a:cxn ang="0">
                  <a:pos x="1043" y="109"/>
                </a:cxn>
                <a:cxn ang="0">
                  <a:pos x="1043" y="82"/>
                </a:cxn>
                <a:cxn ang="0">
                  <a:pos x="1022" y="48"/>
                </a:cxn>
                <a:cxn ang="0">
                  <a:pos x="995" y="27"/>
                </a:cxn>
                <a:cxn ang="0">
                  <a:pos x="961" y="0"/>
                </a:cxn>
                <a:cxn ang="0">
                  <a:pos x="88" y="0"/>
                </a:cxn>
              </a:cxnLst>
              <a:rect l="0" t="0" r="r" b="b"/>
              <a:pathLst>
                <a:path w="1043" h="219">
                  <a:moveTo>
                    <a:pt x="88" y="0"/>
                  </a:moveTo>
                  <a:lnTo>
                    <a:pt x="54" y="27"/>
                  </a:lnTo>
                  <a:lnTo>
                    <a:pt x="27" y="48"/>
                  </a:lnTo>
                  <a:lnTo>
                    <a:pt x="6" y="82"/>
                  </a:lnTo>
                  <a:lnTo>
                    <a:pt x="0" y="109"/>
                  </a:lnTo>
                  <a:lnTo>
                    <a:pt x="6" y="144"/>
                  </a:lnTo>
                  <a:lnTo>
                    <a:pt x="27" y="171"/>
                  </a:lnTo>
                  <a:lnTo>
                    <a:pt x="54" y="198"/>
                  </a:lnTo>
                  <a:lnTo>
                    <a:pt x="88" y="219"/>
                  </a:lnTo>
                  <a:lnTo>
                    <a:pt x="961" y="219"/>
                  </a:lnTo>
                  <a:lnTo>
                    <a:pt x="995" y="198"/>
                  </a:lnTo>
                  <a:lnTo>
                    <a:pt x="1022" y="171"/>
                  </a:lnTo>
                  <a:lnTo>
                    <a:pt x="1043" y="144"/>
                  </a:lnTo>
                  <a:lnTo>
                    <a:pt x="1043" y="109"/>
                  </a:lnTo>
                  <a:lnTo>
                    <a:pt x="1043" y="82"/>
                  </a:lnTo>
                  <a:lnTo>
                    <a:pt x="1022" y="48"/>
                  </a:lnTo>
                  <a:lnTo>
                    <a:pt x="995" y="27"/>
                  </a:lnTo>
                  <a:lnTo>
                    <a:pt x="961" y="0"/>
                  </a:lnTo>
                  <a:lnTo>
                    <a:pt x="88" y="0"/>
                  </a:lnTo>
                  <a:close/>
                </a:path>
              </a:pathLst>
            </a:custGeom>
            <a:solidFill>
              <a:srgbClr val="FFFFCC"/>
            </a:solidFill>
            <a:ln w="0">
              <a:solidFill>
                <a:srgbClr val="990033"/>
              </a:solidFill>
              <a:prstDash val="solid"/>
              <a:round/>
            </a:ln>
          </p:spPr>
          <p:txBody>
            <a:bodyPr/>
            <a:lstStyle/>
            <a:p>
              <a:pPr algn="ctr"/>
              <a:endParaRPr lang="zh-CN" altLang="en-US" sz="1600">
                <a:latin typeface="+mj-ea"/>
                <a:ea typeface="+mj-ea"/>
              </a:endParaRPr>
            </a:p>
          </p:txBody>
        </p:sp>
        <p:sp>
          <p:nvSpPr>
            <p:cNvPr id="74807" name="Rectangle 55"/>
            <p:cNvSpPr>
              <a:spLocks noChangeArrowheads="1"/>
            </p:cNvSpPr>
            <p:nvPr/>
          </p:nvSpPr>
          <p:spPr bwMode="auto">
            <a:xfrm>
              <a:off x="3619" y="3504"/>
              <a:ext cx="849" cy="140"/>
            </a:xfrm>
            <a:prstGeom prst="rect">
              <a:avLst/>
            </a:prstGeom>
            <a:noFill/>
            <a:ln w="9525">
              <a:noFill/>
              <a:miter lim="800000"/>
            </a:ln>
          </p:spPr>
          <p:txBody>
            <a:bodyPr wrap="none" lIns="0" tIns="0" rIns="0" bIns="0">
              <a:spAutoFit/>
            </a:bodyPr>
            <a:lstStyle/>
            <a:p>
              <a:pPr algn="ctr"/>
              <a:r>
                <a:rPr lang="zh-CN" altLang="en-US" sz="1400">
                  <a:latin typeface="+mj-ea"/>
                  <a:ea typeface="+mj-ea"/>
                </a:rPr>
                <a:t>洗涤缸停止旋转</a:t>
              </a:r>
              <a:endParaRPr lang="zh-CN" altLang="en-US" sz="1400">
                <a:latin typeface="+mj-ea"/>
                <a:ea typeface="+mj-ea"/>
              </a:endParaRPr>
            </a:p>
          </p:txBody>
        </p:sp>
        <p:sp>
          <p:nvSpPr>
            <p:cNvPr id="74808" name="Freeform 56"/>
            <p:cNvSpPr/>
            <p:nvPr/>
          </p:nvSpPr>
          <p:spPr bwMode="auto">
            <a:xfrm>
              <a:off x="4076" y="3143"/>
              <a:ext cx="34" cy="314"/>
            </a:xfrm>
            <a:custGeom>
              <a:avLst/>
              <a:gdLst/>
              <a:ahLst/>
              <a:cxnLst>
                <a:cxn ang="0">
                  <a:pos x="0" y="0"/>
                </a:cxn>
                <a:cxn ang="0">
                  <a:pos x="0" y="46"/>
                </a:cxn>
                <a:cxn ang="0">
                  <a:pos x="5" y="34"/>
                </a:cxn>
              </a:cxnLst>
              <a:rect l="0" t="0" r="r" b="b"/>
              <a:pathLst>
                <a:path w="5" h="46">
                  <a:moveTo>
                    <a:pt x="0" y="0"/>
                  </a:moveTo>
                  <a:lnTo>
                    <a:pt x="0" y="46"/>
                  </a:lnTo>
                  <a:lnTo>
                    <a:pt x="5" y="34"/>
                  </a:lnTo>
                </a:path>
              </a:pathLst>
            </a:custGeom>
            <a:noFill/>
            <a:ln w="0">
              <a:solidFill>
                <a:srgbClr val="990033"/>
              </a:solidFill>
              <a:prstDash val="solid"/>
              <a:round/>
            </a:ln>
          </p:spPr>
          <p:txBody>
            <a:bodyPr/>
            <a:lstStyle/>
            <a:p>
              <a:pPr algn="ctr"/>
              <a:endParaRPr lang="zh-CN" altLang="en-US" sz="1600">
                <a:latin typeface="+mj-ea"/>
                <a:ea typeface="+mj-ea"/>
              </a:endParaRPr>
            </a:p>
          </p:txBody>
        </p:sp>
        <p:sp>
          <p:nvSpPr>
            <p:cNvPr id="74809" name="Line 57"/>
            <p:cNvSpPr>
              <a:spLocks noChangeShapeType="1"/>
            </p:cNvSpPr>
            <p:nvPr/>
          </p:nvSpPr>
          <p:spPr bwMode="auto">
            <a:xfrm flipH="1" flipV="1">
              <a:off x="4041" y="3375"/>
              <a:ext cx="35" cy="82"/>
            </a:xfrm>
            <a:prstGeom prst="line">
              <a:avLst/>
            </a:prstGeom>
            <a:noFill/>
            <a:ln w="0">
              <a:solidFill>
                <a:srgbClr val="990033"/>
              </a:solidFill>
              <a:round/>
            </a:ln>
          </p:spPr>
          <p:txBody>
            <a:bodyPr/>
            <a:lstStyle/>
            <a:p>
              <a:pPr algn="ctr"/>
              <a:endParaRPr lang="zh-CN" altLang="en-US" sz="1600">
                <a:latin typeface="+mj-ea"/>
                <a:ea typeface="+mj-ea"/>
              </a:endParaRPr>
            </a:p>
          </p:txBody>
        </p:sp>
        <p:sp>
          <p:nvSpPr>
            <p:cNvPr id="74810" name="Freeform 58"/>
            <p:cNvSpPr/>
            <p:nvPr/>
          </p:nvSpPr>
          <p:spPr bwMode="auto">
            <a:xfrm>
              <a:off x="4076" y="3143"/>
              <a:ext cx="34" cy="314"/>
            </a:xfrm>
            <a:custGeom>
              <a:avLst/>
              <a:gdLst/>
              <a:ahLst/>
              <a:cxnLst>
                <a:cxn ang="0">
                  <a:pos x="0" y="0"/>
                </a:cxn>
                <a:cxn ang="0">
                  <a:pos x="0" y="46"/>
                </a:cxn>
                <a:cxn ang="0">
                  <a:pos x="5" y="34"/>
                </a:cxn>
              </a:cxnLst>
              <a:rect l="0" t="0" r="r" b="b"/>
              <a:pathLst>
                <a:path w="5" h="46">
                  <a:moveTo>
                    <a:pt x="0" y="0"/>
                  </a:moveTo>
                  <a:lnTo>
                    <a:pt x="0" y="46"/>
                  </a:lnTo>
                  <a:lnTo>
                    <a:pt x="5" y="34"/>
                  </a:lnTo>
                </a:path>
              </a:pathLst>
            </a:custGeom>
            <a:noFill/>
            <a:ln w="0">
              <a:solidFill>
                <a:srgbClr val="990033"/>
              </a:solidFill>
              <a:prstDash val="solid"/>
              <a:round/>
            </a:ln>
          </p:spPr>
          <p:txBody>
            <a:bodyPr/>
            <a:lstStyle/>
            <a:p>
              <a:pPr algn="ctr"/>
              <a:endParaRPr lang="zh-CN" altLang="en-US" sz="1600">
                <a:latin typeface="+mj-ea"/>
                <a:ea typeface="+mj-ea"/>
              </a:endParaRPr>
            </a:p>
          </p:txBody>
        </p:sp>
        <p:sp>
          <p:nvSpPr>
            <p:cNvPr id="74811" name="Line 59"/>
            <p:cNvSpPr>
              <a:spLocks noChangeShapeType="1"/>
            </p:cNvSpPr>
            <p:nvPr/>
          </p:nvSpPr>
          <p:spPr bwMode="auto">
            <a:xfrm flipH="1" flipV="1">
              <a:off x="4041" y="3375"/>
              <a:ext cx="35" cy="82"/>
            </a:xfrm>
            <a:prstGeom prst="line">
              <a:avLst/>
            </a:prstGeom>
            <a:noFill/>
            <a:ln w="0">
              <a:solidFill>
                <a:srgbClr val="990033"/>
              </a:solidFill>
              <a:round/>
            </a:ln>
          </p:spPr>
          <p:txBody>
            <a:bodyPr/>
            <a:lstStyle/>
            <a:p>
              <a:pPr algn="ctr"/>
              <a:endParaRPr lang="zh-CN" altLang="en-US" sz="1600">
                <a:latin typeface="+mj-ea"/>
                <a:ea typeface="+mj-ea"/>
              </a:endParaRPr>
            </a:p>
          </p:txBody>
        </p:sp>
        <p:sp>
          <p:nvSpPr>
            <p:cNvPr id="74812" name="Freeform 60"/>
            <p:cNvSpPr/>
            <p:nvPr/>
          </p:nvSpPr>
          <p:spPr bwMode="auto">
            <a:xfrm>
              <a:off x="4076" y="2576"/>
              <a:ext cx="34" cy="335"/>
            </a:xfrm>
            <a:custGeom>
              <a:avLst/>
              <a:gdLst/>
              <a:ahLst/>
              <a:cxnLst>
                <a:cxn ang="0">
                  <a:pos x="0" y="0"/>
                </a:cxn>
                <a:cxn ang="0">
                  <a:pos x="0" y="49"/>
                </a:cxn>
                <a:cxn ang="0">
                  <a:pos x="5" y="37"/>
                </a:cxn>
              </a:cxnLst>
              <a:rect l="0" t="0" r="r" b="b"/>
              <a:pathLst>
                <a:path w="5" h="49">
                  <a:moveTo>
                    <a:pt x="0" y="0"/>
                  </a:moveTo>
                  <a:lnTo>
                    <a:pt x="0" y="49"/>
                  </a:lnTo>
                  <a:lnTo>
                    <a:pt x="5" y="37"/>
                  </a:lnTo>
                </a:path>
              </a:pathLst>
            </a:custGeom>
            <a:noFill/>
            <a:ln w="0">
              <a:solidFill>
                <a:srgbClr val="990033"/>
              </a:solidFill>
              <a:prstDash val="solid"/>
              <a:round/>
            </a:ln>
          </p:spPr>
          <p:txBody>
            <a:bodyPr/>
            <a:lstStyle/>
            <a:p>
              <a:pPr algn="ctr"/>
              <a:endParaRPr lang="zh-CN" altLang="en-US" sz="1600">
                <a:latin typeface="+mj-ea"/>
                <a:ea typeface="+mj-ea"/>
              </a:endParaRPr>
            </a:p>
          </p:txBody>
        </p:sp>
        <p:sp>
          <p:nvSpPr>
            <p:cNvPr id="74813" name="Line 61"/>
            <p:cNvSpPr>
              <a:spLocks noChangeShapeType="1"/>
            </p:cNvSpPr>
            <p:nvPr/>
          </p:nvSpPr>
          <p:spPr bwMode="auto">
            <a:xfrm flipH="1" flipV="1">
              <a:off x="4041" y="2829"/>
              <a:ext cx="35" cy="82"/>
            </a:xfrm>
            <a:prstGeom prst="line">
              <a:avLst/>
            </a:prstGeom>
            <a:noFill/>
            <a:ln w="0">
              <a:solidFill>
                <a:srgbClr val="990033"/>
              </a:solidFill>
              <a:round/>
            </a:ln>
          </p:spPr>
          <p:txBody>
            <a:bodyPr/>
            <a:lstStyle/>
            <a:p>
              <a:pPr algn="ctr"/>
              <a:endParaRPr lang="zh-CN" altLang="en-US" sz="1600">
                <a:latin typeface="+mj-ea"/>
                <a:ea typeface="+mj-ea"/>
              </a:endParaRPr>
            </a:p>
          </p:txBody>
        </p:sp>
      </p:grpSp>
      <p:sp>
        <p:nvSpPr>
          <p:cNvPr id="67" name="Text Box 6"/>
          <p:cNvSpPr txBox="1">
            <a:spLocks noChangeArrowheads="1"/>
          </p:cNvSpPr>
          <p:nvPr/>
        </p:nvSpPr>
        <p:spPr bwMode="auto">
          <a:xfrm>
            <a:off x="7094145" y="4299122"/>
            <a:ext cx="1764105" cy="307536"/>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lIns="60722" tIns="30361" rIns="60722" bIns="30361">
            <a:spAutoFit/>
          </a:bodyPr>
          <a:lstStyle/>
          <a:p>
            <a:r>
              <a:rPr lang="zh-CN" altLang="en-US" sz="1600" b="1" dirty="0">
                <a:latin typeface="+mj-ea"/>
                <a:ea typeface="+mj-ea"/>
              </a:rPr>
              <a:t>洗衣机洗衣活动图</a:t>
            </a:r>
            <a:endParaRPr lang="zh-CN" altLang="en-US" sz="1600" b="1"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bldLvl="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ltLang="zh-CN" dirty="0"/>
              <a:t>6. </a:t>
            </a:r>
            <a:r>
              <a:rPr lang="zh-CN" altLang="en-US" dirty="0"/>
              <a:t>状态图</a:t>
            </a:r>
            <a:endParaRPr lang="zh-CN" altLang="en-US" dirty="0"/>
          </a:p>
        </p:txBody>
      </p:sp>
      <p:sp>
        <p:nvSpPr>
          <p:cNvPr id="60419" name="Rectangle 3"/>
          <p:cNvSpPr>
            <a:spLocks noGrp="1" noChangeArrowheads="1"/>
          </p:cNvSpPr>
          <p:nvPr>
            <p:ph idx="1"/>
          </p:nvPr>
        </p:nvSpPr>
        <p:spPr/>
        <p:txBody>
          <a:bodyPr>
            <a:normAutofit/>
          </a:bodyPr>
          <a:lstStyle/>
          <a:p>
            <a:pPr>
              <a:spcBef>
                <a:spcPts val="600"/>
              </a:spcBef>
            </a:pPr>
            <a:r>
              <a:rPr lang="zh-CN" altLang="en-US" sz="2000" dirty="0"/>
              <a:t>在任一给定的时刻，一个对象总是处于某一特定的状态。</a:t>
            </a:r>
            <a:endParaRPr lang="zh-CN" altLang="en-US" sz="2000" dirty="0"/>
          </a:p>
          <a:p>
            <a:pPr>
              <a:spcBef>
                <a:spcPts val="600"/>
              </a:spcBef>
            </a:pPr>
            <a:r>
              <a:rPr lang="zh-CN" altLang="en-US" sz="2000" dirty="0"/>
              <a:t>状态图主要表现一个对象所经历的状态序列，引起状态或活动转移的事件，以及因状态或活动转移而伴随的动作。</a:t>
            </a:r>
            <a:endParaRPr lang="zh-CN" altLang="en-US" sz="2000" dirty="0"/>
          </a:p>
        </p:txBody>
      </p:sp>
      <p:sp>
        <p:nvSpPr>
          <p:cNvPr id="6" name="日期占位符 5"/>
          <p:cNvSpPr>
            <a:spLocks noGrp="1"/>
          </p:cNvSpPr>
          <p:nvPr>
            <p:ph type="dt" sz="half" idx="10"/>
          </p:nvPr>
        </p:nvSpPr>
        <p:spPr/>
        <p:txBody>
          <a:bodyPr/>
          <a:lstStyle/>
          <a:p>
            <a:fld id="{730418CC-A49A-4C31-A9C1-41C6E2E20F8B}"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60420" name="Picture 4"/>
          <p:cNvPicPr>
            <a:picLocks noChangeAspect="1" noChangeArrowheads="1"/>
          </p:cNvPicPr>
          <p:nvPr/>
        </p:nvPicPr>
        <p:blipFill>
          <a:blip r:embed="rId1" cstate="print"/>
          <a:srcRect/>
          <a:stretch>
            <a:fillRect/>
          </a:stretch>
        </p:blipFill>
        <p:spPr bwMode="auto">
          <a:xfrm>
            <a:off x="6059108" y="1803745"/>
            <a:ext cx="2564267" cy="3472735"/>
          </a:xfrm>
          <a:prstGeom prst="rect">
            <a:avLst/>
          </a:prstGeom>
          <a:noFill/>
          <a:ln w="9525" algn="ctr">
            <a:noFill/>
            <a:miter lim="800000"/>
            <a:headEnd/>
            <a:tailEnd/>
          </a:ln>
          <a:effectLst/>
        </p:spPr>
      </p:pic>
      <p:grpSp>
        <p:nvGrpSpPr>
          <p:cNvPr id="2" name="Group 5"/>
          <p:cNvGrpSpPr/>
          <p:nvPr/>
        </p:nvGrpSpPr>
        <p:grpSpPr bwMode="auto">
          <a:xfrm>
            <a:off x="1968838" y="2113660"/>
            <a:ext cx="1634558" cy="2491385"/>
            <a:chOff x="3168" y="1789"/>
            <a:chExt cx="1238" cy="2157"/>
          </a:xfrm>
        </p:grpSpPr>
        <p:sp>
          <p:nvSpPr>
            <p:cNvPr id="60422" name="Oval 6"/>
            <p:cNvSpPr>
              <a:spLocks noChangeArrowheads="1"/>
            </p:cNvSpPr>
            <p:nvPr/>
          </p:nvSpPr>
          <p:spPr bwMode="auto">
            <a:xfrm>
              <a:off x="3598" y="1789"/>
              <a:ext cx="158" cy="159"/>
            </a:xfrm>
            <a:prstGeom prst="ellipse">
              <a:avLst/>
            </a:prstGeom>
            <a:solidFill>
              <a:srgbClr val="000000"/>
            </a:solidFill>
            <a:ln w="0">
              <a:solidFill>
                <a:srgbClr val="990033"/>
              </a:solidFill>
              <a:round/>
            </a:ln>
          </p:spPr>
          <p:txBody>
            <a:bodyPr/>
            <a:lstStyle/>
            <a:p>
              <a:endParaRPr lang="zh-CN" altLang="en-US" sz="1500">
                <a:latin typeface="+mj-ea"/>
                <a:ea typeface="+mj-ea"/>
              </a:endParaRPr>
            </a:p>
          </p:txBody>
        </p:sp>
        <p:sp>
          <p:nvSpPr>
            <p:cNvPr id="60423" name="Rectangle 7"/>
            <p:cNvSpPr>
              <a:spLocks noChangeArrowheads="1"/>
            </p:cNvSpPr>
            <p:nvPr/>
          </p:nvSpPr>
          <p:spPr bwMode="auto">
            <a:xfrm>
              <a:off x="3790" y="1789"/>
              <a:ext cx="583" cy="200"/>
            </a:xfrm>
            <a:prstGeom prst="rect">
              <a:avLst/>
            </a:prstGeom>
            <a:noFill/>
            <a:ln w="9525">
              <a:noFill/>
              <a:miter lim="800000"/>
            </a:ln>
          </p:spPr>
          <p:txBody>
            <a:bodyPr wrap="none" lIns="0" tIns="0" rIns="0" bIns="0">
              <a:spAutoFit/>
            </a:bodyPr>
            <a:lstStyle/>
            <a:p>
              <a:pPr algn="l" eaLnBrk="1" hangingPunct="1"/>
              <a:r>
                <a:rPr lang="zh-CN" altLang="en-US" sz="1500" dirty="0">
                  <a:latin typeface="+mj-ea"/>
                  <a:ea typeface="+mj-ea"/>
                </a:rPr>
                <a:t>起始状态</a:t>
              </a:r>
              <a:endParaRPr lang="zh-CN" altLang="en-US" sz="1500" dirty="0">
                <a:latin typeface="+mj-ea"/>
                <a:ea typeface="+mj-ea"/>
              </a:endParaRPr>
            </a:p>
          </p:txBody>
        </p:sp>
        <p:sp>
          <p:nvSpPr>
            <p:cNvPr id="60424" name="AutoShape 8"/>
            <p:cNvSpPr>
              <a:spLocks noChangeArrowheads="1"/>
            </p:cNvSpPr>
            <p:nvPr/>
          </p:nvSpPr>
          <p:spPr bwMode="auto">
            <a:xfrm>
              <a:off x="3168" y="2709"/>
              <a:ext cx="1056" cy="315"/>
            </a:xfrm>
            <a:prstGeom prst="roundRect">
              <a:avLst>
                <a:gd name="adj" fmla="val 15907"/>
              </a:avLst>
            </a:prstGeom>
            <a:solidFill>
              <a:srgbClr val="FFFFCC"/>
            </a:solidFill>
            <a:ln w="0">
              <a:solidFill>
                <a:srgbClr val="990033"/>
              </a:solidFill>
              <a:round/>
            </a:ln>
          </p:spPr>
          <p:txBody>
            <a:bodyPr/>
            <a:lstStyle/>
            <a:p>
              <a:endParaRPr lang="zh-CN" altLang="en-US" sz="1500">
                <a:latin typeface="+mj-ea"/>
                <a:ea typeface="+mj-ea"/>
              </a:endParaRPr>
            </a:p>
          </p:txBody>
        </p:sp>
        <p:sp>
          <p:nvSpPr>
            <p:cNvPr id="60425" name="Rectangle 9"/>
            <p:cNvSpPr>
              <a:spLocks noChangeArrowheads="1"/>
            </p:cNvSpPr>
            <p:nvPr/>
          </p:nvSpPr>
          <p:spPr bwMode="auto">
            <a:xfrm>
              <a:off x="3408" y="2784"/>
              <a:ext cx="583" cy="200"/>
            </a:xfrm>
            <a:prstGeom prst="rect">
              <a:avLst/>
            </a:prstGeom>
            <a:noFill/>
            <a:ln w="9525">
              <a:noFill/>
              <a:miter lim="800000"/>
            </a:ln>
          </p:spPr>
          <p:txBody>
            <a:bodyPr wrap="none" lIns="0" tIns="0" rIns="0" bIns="0">
              <a:spAutoFit/>
            </a:bodyPr>
            <a:lstStyle/>
            <a:p>
              <a:pPr algn="l" eaLnBrk="1" hangingPunct="1"/>
              <a:r>
                <a:rPr lang="zh-CN" altLang="en-US" sz="1500">
                  <a:latin typeface="+mj-ea"/>
                  <a:ea typeface="+mj-ea"/>
                </a:rPr>
                <a:t>中间状态</a:t>
              </a:r>
              <a:endParaRPr lang="zh-CN" altLang="en-US" sz="1500">
                <a:latin typeface="+mj-ea"/>
                <a:ea typeface="+mj-ea"/>
              </a:endParaRPr>
            </a:p>
          </p:txBody>
        </p:sp>
        <p:sp>
          <p:nvSpPr>
            <p:cNvPr id="60426" name="Oval 10"/>
            <p:cNvSpPr>
              <a:spLocks noChangeArrowheads="1"/>
            </p:cNvSpPr>
            <p:nvPr/>
          </p:nvSpPr>
          <p:spPr bwMode="auto">
            <a:xfrm>
              <a:off x="3564" y="3720"/>
              <a:ext cx="226" cy="226"/>
            </a:xfrm>
            <a:prstGeom prst="ellipse">
              <a:avLst/>
            </a:prstGeom>
            <a:noFill/>
            <a:ln w="0">
              <a:solidFill>
                <a:srgbClr val="990033"/>
              </a:solidFill>
              <a:round/>
            </a:ln>
          </p:spPr>
          <p:txBody>
            <a:bodyPr/>
            <a:lstStyle/>
            <a:p>
              <a:endParaRPr lang="zh-CN" altLang="en-US" sz="1500">
                <a:latin typeface="+mj-ea"/>
                <a:ea typeface="+mj-ea"/>
              </a:endParaRPr>
            </a:p>
          </p:txBody>
        </p:sp>
        <p:sp>
          <p:nvSpPr>
            <p:cNvPr id="60427" name="Oval 11"/>
            <p:cNvSpPr>
              <a:spLocks noChangeArrowheads="1"/>
            </p:cNvSpPr>
            <p:nvPr/>
          </p:nvSpPr>
          <p:spPr bwMode="auto">
            <a:xfrm>
              <a:off x="3598" y="3754"/>
              <a:ext cx="158" cy="159"/>
            </a:xfrm>
            <a:prstGeom prst="ellipse">
              <a:avLst/>
            </a:prstGeom>
            <a:solidFill>
              <a:srgbClr val="000000"/>
            </a:solidFill>
            <a:ln w="0">
              <a:solidFill>
                <a:srgbClr val="990033"/>
              </a:solidFill>
              <a:round/>
            </a:ln>
          </p:spPr>
          <p:txBody>
            <a:bodyPr/>
            <a:lstStyle/>
            <a:p>
              <a:endParaRPr lang="zh-CN" altLang="en-US" sz="1500">
                <a:latin typeface="+mj-ea"/>
                <a:ea typeface="+mj-ea"/>
              </a:endParaRPr>
            </a:p>
          </p:txBody>
        </p:sp>
        <p:sp>
          <p:nvSpPr>
            <p:cNvPr id="60428" name="Rectangle 12"/>
            <p:cNvSpPr>
              <a:spLocks noChangeArrowheads="1"/>
            </p:cNvSpPr>
            <p:nvPr/>
          </p:nvSpPr>
          <p:spPr bwMode="auto">
            <a:xfrm>
              <a:off x="3823" y="3720"/>
              <a:ext cx="583" cy="200"/>
            </a:xfrm>
            <a:prstGeom prst="rect">
              <a:avLst/>
            </a:prstGeom>
            <a:noFill/>
            <a:ln w="9525">
              <a:noFill/>
              <a:miter lim="800000"/>
            </a:ln>
          </p:spPr>
          <p:txBody>
            <a:bodyPr wrap="none" lIns="0" tIns="0" rIns="0" bIns="0">
              <a:spAutoFit/>
            </a:bodyPr>
            <a:lstStyle/>
            <a:p>
              <a:pPr algn="l" eaLnBrk="1" hangingPunct="1"/>
              <a:r>
                <a:rPr lang="zh-CN" altLang="en-US" sz="1500">
                  <a:latin typeface="+mj-ea"/>
                  <a:ea typeface="+mj-ea"/>
                </a:rPr>
                <a:t>结束状态</a:t>
              </a:r>
              <a:endParaRPr lang="zh-CN" altLang="en-US" sz="1500">
                <a:latin typeface="+mj-ea"/>
                <a:ea typeface="+mj-ea"/>
              </a:endParaRPr>
            </a:p>
          </p:txBody>
        </p:sp>
        <p:sp>
          <p:nvSpPr>
            <p:cNvPr id="60429" name="Freeform 13"/>
            <p:cNvSpPr/>
            <p:nvPr/>
          </p:nvSpPr>
          <p:spPr bwMode="auto">
            <a:xfrm>
              <a:off x="3681" y="1948"/>
              <a:ext cx="33" cy="761"/>
            </a:xfrm>
            <a:custGeom>
              <a:avLst/>
              <a:gdLst/>
              <a:ahLst/>
              <a:cxnLst>
                <a:cxn ang="0">
                  <a:pos x="0" y="0"/>
                </a:cxn>
                <a:cxn ang="0">
                  <a:pos x="0" y="91"/>
                </a:cxn>
                <a:cxn ang="0">
                  <a:pos x="4" y="80"/>
                </a:cxn>
              </a:cxnLst>
              <a:rect l="0" t="0" r="r" b="b"/>
              <a:pathLst>
                <a:path w="4" h="91">
                  <a:moveTo>
                    <a:pt x="0" y="0"/>
                  </a:moveTo>
                  <a:lnTo>
                    <a:pt x="0" y="91"/>
                  </a:lnTo>
                  <a:lnTo>
                    <a:pt x="4" y="80"/>
                  </a:lnTo>
                </a:path>
              </a:pathLst>
            </a:custGeom>
            <a:noFill/>
            <a:ln w="0">
              <a:solidFill>
                <a:srgbClr val="990033"/>
              </a:solidFill>
              <a:prstDash val="solid"/>
              <a:round/>
            </a:ln>
          </p:spPr>
          <p:txBody>
            <a:bodyPr/>
            <a:lstStyle/>
            <a:p>
              <a:endParaRPr lang="zh-CN" altLang="en-US" sz="1500">
                <a:latin typeface="+mj-ea"/>
                <a:ea typeface="+mj-ea"/>
              </a:endParaRPr>
            </a:p>
          </p:txBody>
        </p:sp>
        <p:sp>
          <p:nvSpPr>
            <p:cNvPr id="60430" name="Line 14"/>
            <p:cNvSpPr>
              <a:spLocks noChangeShapeType="1"/>
            </p:cNvSpPr>
            <p:nvPr/>
          </p:nvSpPr>
          <p:spPr bwMode="auto">
            <a:xfrm flipH="1" flipV="1">
              <a:off x="3639" y="2617"/>
              <a:ext cx="42" cy="92"/>
            </a:xfrm>
            <a:prstGeom prst="line">
              <a:avLst/>
            </a:prstGeom>
            <a:noFill/>
            <a:ln w="0">
              <a:solidFill>
                <a:srgbClr val="990033"/>
              </a:solidFill>
              <a:round/>
            </a:ln>
          </p:spPr>
          <p:txBody>
            <a:bodyPr/>
            <a:lstStyle/>
            <a:p>
              <a:endParaRPr lang="zh-CN" altLang="en-US" sz="1500">
                <a:latin typeface="+mj-ea"/>
                <a:ea typeface="+mj-ea"/>
              </a:endParaRPr>
            </a:p>
          </p:txBody>
        </p:sp>
        <p:sp>
          <p:nvSpPr>
            <p:cNvPr id="60431" name="Freeform 15"/>
            <p:cNvSpPr/>
            <p:nvPr/>
          </p:nvSpPr>
          <p:spPr bwMode="auto">
            <a:xfrm>
              <a:off x="3681" y="3077"/>
              <a:ext cx="33" cy="643"/>
            </a:xfrm>
            <a:custGeom>
              <a:avLst/>
              <a:gdLst/>
              <a:ahLst/>
              <a:cxnLst>
                <a:cxn ang="0">
                  <a:pos x="0" y="0"/>
                </a:cxn>
                <a:cxn ang="0">
                  <a:pos x="0" y="77"/>
                </a:cxn>
                <a:cxn ang="0">
                  <a:pos x="4" y="66"/>
                </a:cxn>
              </a:cxnLst>
              <a:rect l="0" t="0" r="r" b="b"/>
              <a:pathLst>
                <a:path w="4" h="77">
                  <a:moveTo>
                    <a:pt x="0" y="0"/>
                  </a:moveTo>
                  <a:lnTo>
                    <a:pt x="0" y="77"/>
                  </a:lnTo>
                  <a:lnTo>
                    <a:pt x="4" y="66"/>
                  </a:lnTo>
                </a:path>
              </a:pathLst>
            </a:custGeom>
            <a:noFill/>
            <a:ln w="0">
              <a:solidFill>
                <a:srgbClr val="990033"/>
              </a:solidFill>
              <a:prstDash val="solid"/>
              <a:round/>
            </a:ln>
          </p:spPr>
          <p:txBody>
            <a:bodyPr/>
            <a:lstStyle/>
            <a:p>
              <a:endParaRPr lang="zh-CN" altLang="en-US" sz="1500">
                <a:latin typeface="+mj-ea"/>
                <a:ea typeface="+mj-ea"/>
              </a:endParaRPr>
            </a:p>
          </p:txBody>
        </p:sp>
        <p:sp>
          <p:nvSpPr>
            <p:cNvPr id="60432" name="Line 16"/>
            <p:cNvSpPr>
              <a:spLocks noChangeShapeType="1"/>
            </p:cNvSpPr>
            <p:nvPr/>
          </p:nvSpPr>
          <p:spPr bwMode="auto">
            <a:xfrm flipH="1" flipV="1">
              <a:off x="3639" y="3628"/>
              <a:ext cx="42" cy="92"/>
            </a:xfrm>
            <a:prstGeom prst="line">
              <a:avLst/>
            </a:prstGeom>
            <a:noFill/>
            <a:ln w="0">
              <a:solidFill>
                <a:srgbClr val="990033"/>
              </a:solidFill>
              <a:round/>
            </a:ln>
          </p:spPr>
          <p:txBody>
            <a:bodyPr/>
            <a:lstStyle/>
            <a:p>
              <a:endParaRPr lang="zh-CN" altLang="en-US" sz="1500">
                <a:latin typeface="+mj-ea"/>
                <a:ea typeface="+mj-ea"/>
              </a:endParaRPr>
            </a:p>
          </p:txBody>
        </p:sp>
        <p:sp>
          <p:nvSpPr>
            <p:cNvPr id="60433" name="Rectangle 17"/>
            <p:cNvSpPr>
              <a:spLocks noChangeArrowheads="1"/>
            </p:cNvSpPr>
            <p:nvPr/>
          </p:nvSpPr>
          <p:spPr bwMode="auto">
            <a:xfrm>
              <a:off x="3698" y="2265"/>
              <a:ext cx="291" cy="200"/>
            </a:xfrm>
            <a:prstGeom prst="rect">
              <a:avLst/>
            </a:prstGeom>
            <a:noFill/>
            <a:ln w="9525">
              <a:noFill/>
              <a:miter lim="800000"/>
            </a:ln>
          </p:spPr>
          <p:txBody>
            <a:bodyPr wrap="none" lIns="0" tIns="0" rIns="0" bIns="0">
              <a:spAutoFit/>
            </a:bodyPr>
            <a:lstStyle/>
            <a:p>
              <a:pPr algn="l" eaLnBrk="1" hangingPunct="1"/>
              <a:r>
                <a:rPr lang="zh-CN" altLang="en-US" sz="1500">
                  <a:latin typeface="+mj-ea"/>
                  <a:ea typeface="+mj-ea"/>
                </a:rPr>
                <a:t>开始</a:t>
              </a:r>
              <a:endParaRPr lang="zh-CN" altLang="en-US" sz="1500">
                <a:latin typeface="+mj-ea"/>
                <a:ea typeface="+mj-ea"/>
              </a:endParaRPr>
            </a:p>
          </p:txBody>
        </p:sp>
        <p:sp>
          <p:nvSpPr>
            <p:cNvPr id="60434" name="Rectangle 18"/>
            <p:cNvSpPr>
              <a:spLocks noChangeArrowheads="1"/>
            </p:cNvSpPr>
            <p:nvPr/>
          </p:nvSpPr>
          <p:spPr bwMode="auto">
            <a:xfrm>
              <a:off x="3698" y="3336"/>
              <a:ext cx="291" cy="200"/>
            </a:xfrm>
            <a:prstGeom prst="rect">
              <a:avLst/>
            </a:prstGeom>
            <a:noFill/>
            <a:ln w="9525">
              <a:noFill/>
              <a:miter lim="800000"/>
            </a:ln>
          </p:spPr>
          <p:txBody>
            <a:bodyPr wrap="none" lIns="0" tIns="0" rIns="0" bIns="0">
              <a:spAutoFit/>
            </a:bodyPr>
            <a:lstStyle/>
            <a:p>
              <a:pPr algn="l" eaLnBrk="1" hangingPunct="1"/>
              <a:r>
                <a:rPr lang="zh-CN" altLang="en-US" sz="1500">
                  <a:latin typeface="+mj-ea"/>
                  <a:ea typeface="+mj-ea"/>
                </a:rPr>
                <a:t>结束</a:t>
              </a:r>
              <a:endParaRPr lang="zh-CN" altLang="en-US" sz="1500">
                <a:latin typeface="+mj-ea"/>
                <a:ea typeface="+mj-ea"/>
              </a:endParaRPr>
            </a:p>
          </p:txBody>
        </p:sp>
      </p:grpSp>
      <p:sp>
        <p:nvSpPr>
          <p:cNvPr id="60435" name="AutoShape 19"/>
          <p:cNvSpPr>
            <a:spLocks noChangeArrowheads="1"/>
          </p:cNvSpPr>
          <p:nvPr/>
        </p:nvSpPr>
        <p:spPr bwMode="auto">
          <a:xfrm>
            <a:off x="7259225" y="2038055"/>
            <a:ext cx="900113" cy="600075"/>
          </a:xfrm>
          <a:prstGeom prst="wedgeRoundRectCallout">
            <a:avLst>
              <a:gd name="adj1" fmla="val -101986"/>
              <a:gd name="adj2" fmla="val 20685"/>
              <a:gd name="adj3" fmla="val 16667"/>
            </a:avLst>
          </a:prstGeom>
          <a:solidFill>
            <a:schemeClr val="bg1"/>
          </a:solidFill>
          <a:ln w="3175" algn="ctr">
            <a:solidFill>
              <a:schemeClr val="bg2"/>
            </a:solidFill>
            <a:miter lim="800000"/>
          </a:ln>
          <a:effectLst/>
        </p:spPr>
        <p:txBody>
          <a:bodyPr lIns="60722" tIns="30361" rIns="60722" bIns="30361" anchor="ctr"/>
          <a:lstStyle/>
          <a:p>
            <a:r>
              <a:rPr lang="zh-CN" altLang="en-US" sz="1500" dirty="0">
                <a:latin typeface="+mj-ea"/>
                <a:ea typeface="+mj-ea"/>
              </a:rPr>
              <a:t>浸泡</a:t>
            </a:r>
            <a:endParaRPr lang="zh-CN" altLang="en-US" sz="1500" dirty="0">
              <a:latin typeface="+mj-ea"/>
              <a:ea typeface="+mj-ea"/>
            </a:endParaRPr>
          </a:p>
        </p:txBody>
      </p:sp>
      <p:sp>
        <p:nvSpPr>
          <p:cNvPr id="60436" name="AutoShape 20"/>
          <p:cNvSpPr>
            <a:spLocks noChangeArrowheads="1"/>
          </p:cNvSpPr>
          <p:nvPr/>
        </p:nvSpPr>
        <p:spPr bwMode="auto">
          <a:xfrm>
            <a:off x="7262815" y="2554275"/>
            <a:ext cx="900113" cy="600075"/>
          </a:xfrm>
          <a:prstGeom prst="wedgeRoundRectCallout">
            <a:avLst>
              <a:gd name="adj1" fmla="val -104069"/>
              <a:gd name="adj2" fmla="val 32889"/>
              <a:gd name="adj3" fmla="val 16667"/>
            </a:avLst>
          </a:prstGeom>
          <a:solidFill>
            <a:schemeClr val="bg1"/>
          </a:solidFill>
          <a:ln w="3175" algn="ctr">
            <a:solidFill>
              <a:schemeClr val="bg2"/>
            </a:solidFill>
            <a:miter lim="800000"/>
          </a:ln>
          <a:effectLst/>
        </p:spPr>
        <p:txBody>
          <a:bodyPr lIns="60722" tIns="30361" rIns="60722" bIns="30361" anchor="ctr"/>
          <a:lstStyle/>
          <a:p>
            <a:r>
              <a:rPr lang="zh-CN" altLang="en-US" sz="1500" dirty="0">
                <a:latin typeface="+mj-ea"/>
                <a:ea typeface="+mj-ea"/>
              </a:rPr>
              <a:t>洗涤</a:t>
            </a:r>
            <a:endParaRPr lang="zh-CN" altLang="en-US" sz="1500" dirty="0">
              <a:latin typeface="+mj-ea"/>
              <a:ea typeface="+mj-ea"/>
            </a:endParaRPr>
          </a:p>
        </p:txBody>
      </p:sp>
      <p:sp>
        <p:nvSpPr>
          <p:cNvPr id="60437" name="AutoShape 21"/>
          <p:cNvSpPr>
            <a:spLocks noChangeArrowheads="1"/>
          </p:cNvSpPr>
          <p:nvPr/>
        </p:nvSpPr>
        <p:spPr bwMode="auto">
          <a:xfrm>
            <a:off x="7281491" y="3127002"/>
            <a:ext cx="900113" cy="600075"/>
          </a:xfrm>
          <a:prstGeom prst="wedgeRoundRectCallout">
            <a:avLst>
              <a:gd name="adj1" fmla="val -105356"/>
              <a:gd name="adj2" fmla="val 40773"/>
              <a:gd name="adj3" fmla="val 16667"/>
            </a:avLst>
          </a:prstGeom>
          <a:solidFill>
            <a:schemeClr val="bg1"/>
          </a:solidFill>
          <a:ln w="3175" algn="ctr">
            <a:solidFill>
              <a:schemeClr val="bg2"/>
            </a:solidFill>
            <a:miter lim="800000"/>
          </a:ln>
          <a:effectLst/>
        </p:spPr>
        <p:txBody>
          <a:bodyPr lIns="60722" tIns="30361" rIns="60722" bIns="30361" anchor="ctr"/>
          <a:lstStyle/>
          <a:p>
            <a:r>
              <a:rPr lang="zh-CN" altLang="en-US" sz="1500">
                <a:latin typeface="+mj-ea"/>
                <a:ea typeface="+mj-ea"/>
              </a:rPr>
              <a:t>漂洗</a:t>
            </a:r>
            <a:endParaRPr lang="zh-CN" altLang="en-US" sz="1500">
              <a:latin typeface="+mj-ea"/>
              <a:ea typeface="+mj-ea"/>
            </a:endParaRPr>
          </a:p>
        </p:txBody>
      </p:sp>
      <p:sp>
        <p:nvSpPr>
          <p:cNvPr id="60438" name="AutoShape 22"/>
          <p:cNvSpPr>
            <a:spLocks noChangeArrowheads="1"/>
          </p:cNvSpPr>
          <p:nvPr/>
        </p:nvSpPr>
        <p:spPr bwMode="auto">
          <a:xfrm>
            <a:off x="7262815" y="3782150"/>
            <a:ext cx="900113" cy="600075"/>
          </a:xfrm>
          <a:prstGeom prst="wedgeRoundRectCallout">
            <a:avLst>
              <a:gd name="adj1" fmla="val -111208"/>
              <a:gd name="adj2" fmla="val 50894"/>
              <a:gd name="adj3" fmla="val 16667"/>
            </a:avLst>
          </a:prstGeom>
          <a:solidFill>
            <a:schemeClr val="bg1"/>
          </a:solidFill>
          <a:ln w="3175" algn="ctr">
            <a:solidFill>
              <a:schemeClr val="bg2"/>
            </a:solidFill>
            <a:miter lim="800000"/>
          </a:ln>
          <a:effectLst/>
        </p:spPr>
        <p:txBody>
          <a:bodyPr lIns="60722" tIns="30361" rIns="60722" bIns="30361" anchor="ctr"/>
          <a:lstStyle/>
          <a:p>
            <a:r>
              <a:rPr lang="zh-CN" altLang="en-US" sz="1500">
                <a:latin typeface="+mj-ea"/>
                <a:ea typeface="+mj-ea"/>
              </a:rPr>
              <a:t>脱水</a:t>
            </a:r>
            <a:endParaRPr lang="zh-CN" altLang="en-US" sz="1500">
              <a:latin typeface="+mj-ea"/>
              <a:ea typeface="+mj-ea"/>
            </a:endParaRPr>
          </a:p>
        </p:txBody>
      </p:sp>
      <p:sp>
        <p:nvSpPr>
          <p:cNvPr id="60439" name="Text Box 23"/>
          <p:cNvSpPr txBox="1">
            <a:spLocks noChangeArrowheads="1"/>
          </p:cNvSpPr>
          <p:nvPr/>
        </p:nvSpPr>
        <p:spPr bwMode="auto">
          <a:xfrm>
            <a:off x="5719765" y="2640001"/>
            <a:ext cx="342900" cy="1677142"/>
          </a:xfrm>
          <a:prstGeom prst="rect">
            <a:avLst/>
          </a:prstGeom>
          <a:noFill/>
          <a:ln w="9525" algn="ctr">
            <a:noFill/>
            <a:miter lim="800000"/>
          </a:ln>
          <a:effectLst/>
        </p:spPr>
        <p:txBody>
          <a:bodyPr lIns="60722" tIns="30361" rIns="60722" bIns="30361">
            <a:spAutoFit/>
          </a:bodyPr>
          <a:lstStyle/>
          <a:p>
            <a:r>
              <a:rPr lang="zh-CN" altLang="en-US" sz="1500" b="1" dirty="0">
                <a:latin typeface="+mj-ea"/>
                <a:ea typeface="+mj-ea"/>
              </a:rPr>
              <a:t>洗衣机的状态图</a:t>
            </a:r>
            <a:endParaRPr lang="zh-CN" altLang="en-US" sz="1500" b="1"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3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4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0435"/>
                                        </p:tgtEl>
                                        <p:attrNameLst>
                                          <p:attrName>style.visibility</p:attrName>
                                        </p:attrNameLst>
                                      </p:cBhvr>
                                      <p:to>
                                        <p:strVal val="visible"/>
                                      </p:to>
                                    </p:set>
                                  </p:childTnLst>
                                  <p:subTnLst>
                                    <p:set>
                                      <p:cBhvr override="childStyle">
                                        <p:cTn dur="1" fill="hold" display="0" masterRel="nextClick" afterEffect="1"/>
                                        <p:tgtEl>
                                          <p:spTgt spid="60435"/>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0436"/>
                                        </p:tgtEl>
                                        <p:attrNameLst>
                                          <p:attrName>style.visibility</p:attrName>
                                        </p:attrNameLst>
                                      </p:cBhvr>
                                      <p:to>
                                        <p:strVal val="visible"/>
                                      </p:to>
                                    </p:set>
                                  </p:childTnLst>
                                  <p:subTnLst>
                                    <p:set>
                                      <p:cBhvr override="childStyle">
                                        <p:cTn dur="1" fill="hold" display="0" masterRel="nextClick" afterEffect="1"/>
                                        <p:tgtEl>
                                          <p:spTgt spid="60436"/>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0437"/>
                                        </p:tgtEl>
                                        <p:attrNameLst>
                                          <p:attrName>style.visibility</p:attrName>
                                        </p:attrNameLst>
                                      </p:cBhvr>
                                      <p:to>
                                        <p:strVal val="visible"/>
                                      </p:to>
                                    </p:set>
                                  </p:childTnLst>
                                  <p:subTnLst>
                                    <p:set>
                                      <p:cBhvr override="childStyle">
                                        <p:cTn dur="1" fill="hold" display="0" masterRel="nextClick" afterEffect="1"/>
                                        <p:tgtEl>
                                          <p:spTgt spid="60437"/>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0438"/>
                                        </p:tgtEl>
                                        <p:attrNameLst>
                                          <p:attrName>style.visibility</p:attrName>
                                        </p:attrNameLst>
                                      </p:cBhvr>
                                      <p:to>
                                        <p:strVal val="visible"/>
                                      </p:to>
                                    </p:set>
                                  </p:childTnLst>
                                  <p:subTnLst>
                                    <p:set>
                                      <p:cBhvr override="childStyle">
                                        <p:cTn dur="1" fill="hold" display="0" masterRel="nextClick" afterEffect="1"/>
                                        <p:tgtEl>
                                          <p:spTgt spid="6043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35" grpId="0" bldLvl="0" animBg="1"/>
      <p:bldP spid="60436" grpId="0" bldLvl="0" animBg="1"/>
      <p:bldP spid="60437" grpId="0" bldLvl="0" animBg="1"/>
      <p:bldP spid="60438" grpId="0" bldLvl="0" animBg="1"/>
      <p:bldP spid="60439" grpId="0" bldLvl="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状态图举例</a:t>
            </a:r>
            <a:endParaRPr lang="zh-CN" altLang="en-US" dirty="0"/>
          </a:p>
        </p:txBody>
      </p:sp>
      <p:sp>
        <p:nvSpPr>
          <p:cNvPr id="2" name="内容占位符 1"/>
          <p:cNvSpPr>
            <a:spLocks noGrp="1"/>
          </p:cNvSpPr>
          <p:nvPr>
            <p:ph idx="1"/>
          </p:nvPr>
        </p:nvSpPr>
        <p:spPr/>
        <p:txBody>
          <a:bodyPr vert="eaVert">
            <a:normAutofit/>
          </a:bodyPr>
          <a:lstStyle/>
          <a:p>
            <a:pPr marL="0" indent="0">
              <a:buNone/>
            </a:pPr>
            <a:r>
              <a:rPr lang="zh-CN" altLang="en-US" sz="2400" dirty="0"/>
              <a:t>电梯的状态图</a:t>
            </a:r>
            <a:endParaRPr lang="zh-CN" altLang="en-US" sz="2400" dirty="0"/>
          </a:p>
        </p:txBody>
      </p:sp>
      <p:sp>
        <p:nvSpPr>
          <p:cNvPr id="9" name="日期占位符 8"/>
          <p:cNvSpPr>
            <a:spLocks noGrp="1"/>
          </p:cNvSpPr>
          <p:nvPr>
            <p:ph type="dt" sz="half" idx="10"/>
          </p:nvPr>
        </p:nvSpPr>
        <p:spPr/>
        <p:txBody>
          <a:bodyPr/>
          <a:lstStyle/>
          <a:p>
            <a:fld id="{6759E005-73B7-47FB-8E57-147577DB784C}" type="datetime1">
              <a:rPr lang="zh-CN" altLang="en-US" smtClean="0"/>
            </a:fld>
            <a:endParaRPr lang="zh-CN" altLang="en-US" dirty="0"/>
          </a:p>
        </p:txBody>
      </p:sp>
      <p:sp>
        <p:nvSpPr>
          <p:cNvPr id="10" name="页脚占位符 9"/>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11" name="图片 10" descr="1007"/>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225311" y="982577"/>
            <a:ext cx="5501947" cy="3544348"/>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ltLang="zh-CN" dirty="0"/>
              <a:t>7. </a:t>
            </a:r>
            <a:r>
              <a:rPr lang="zh-CN" altLang="en-US" dirty="0"/>
              <a:t>顺序图</a:t>
            </a:r>
            <a:endParaRPr lang="zh-CN" altLang="en-US" dirty="0"/>
          </a:p>
        </p:txBody>
      </p:sp>
      <p:sp>
        <p:nvSpPr>
          <p:cNvPr id="62467" name="Rectangle 3"/>
          <p:cNvSpPr>
            <a:spLocks noGrp="1" noChangeArrowheads="1"/>
          </p:cNvSpPr>
          <p:nvPr>
            <p:ph idx="1"/>
          </p:nvPr>
        </p:nvSpPr>
        <p:spPr>
          <a:xfrm>
            <a:off x="768098" y="925167"/>
            <a:ext cx="4007760" cy="3806854"/>
          </a:xfrm>
        </p:spPr>
        <p:txBody>
          <a:bodyPr>
            <a:normAutofit/>
          </a:bodyPr>
          <a:lstStyle/>
          <a:p>
            <a:pPr>
              <a:lnSpc>
                <a:spcPct val="120000"/>
              </a:lnSpc>
              <a:spcBef>
                <a:spcPts val="1350"/>
              </a:spcBef>
            </a:pPr>
            <a:r>
              <a:rPr lang="zh-CN" altLang="en-US" sz="2000" dirty="0"/>
              <a:t>在一个运行的系统中，对象之间要发生交互，并且这些交互要经历一定的时间。</a:t>
            </a:r>
            <a:endParaRPr lang="zh-CN" altLang="en-US" sz="2000" dirty="0"/>
          </a:p>
          <a:p>
            <a:pPr>
              <a:lnSpc>
                <a:spcPct val="120000"/>
              </a:lnSpc>
              <a:spcBef>
                <a:spcPts val="1350"/>
              </a:spcBef>
            </a:pPr>
            <a:r>
              <a:rPr lang="zh-CN" altLang="en-US" sz="2000" dirty="0"/>
              <a:t>顺序图又称时序图，表达的是基于时间的动态交互。重点是完成某个行为的对象类和这些对象类之间所传递的消息的时间顺序。</a:t>
            </a:r>
            <a:endParaRPr lang="zh-CN" altLang="en-US" sz="2000" dirty="0"/>
          </a:p>
        </p:txBody>
      </p:sp>
      <p:sp>
        <p:nvSpPr>
          <p:cNvPr id="7" name="日期占位符 6"/>
          <p:cNvSpPr>
            <a:spLocks noGrp="1"/>
          </p:cNvSpPr>
          <p:nvPr>
            <p:ph type="dt" sz="half" idx="10"/>
          </p:nvPr>
        </p:nvSpPr>
        <p:spPr/>
        <p:txBody>
          <a:bodyPr/>
          <a:lstStyle/>
          <a:p>
            <a:fld id="{CFAB01F5-E7DE-4E64-9224-9E0C2B1782EB}"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2" name="Group 4"/>
          <p:cNvGrpSpPr/>
          <p:nvPr/>
        </p:nvGrpSpPr>
        <p:grpSpPr bwMode="auto">
          <a:xfrm>
            <a:off x="5606129" y="72025"/>
            <a:ext cx="2452164" cy="3516086"/>
            <a:chOff x="2051" y="1100"/>
            <a:chExt cx="1737" cy="2410"/>
          </a:xfrm>
        </p:grpSpPr>
        <p:sp>
          <p:nvSpPr>
            <p:cNvPr id="62469" name="Oval 5"/>
            <p:cNvSpPr>
              <a:spLocks noChangeArrowheads="1"/>
            </p:cNvSpPr>
            <p:nvPr/>
          </p:nvSpPr>
          <p:spPr bwMode="auto">
            <a:xfrm>
              <a:off x="2170" y="1172"/>
              <a:ext cx="136" cy="135"/>
            </a:xfrm>
            <a:prstGeom prst="ellipse">
              <a:avLst/>
            </a:prstGeom>
            <a:noFill/>
            <a:ln w="0">
              <a:solidFill>
                <a:srgbClr val="990033"/>
              </a:solidFill>
              <a:round/>
            </a:ln>
          </p:spPr>
          <p:txBody>
            <a:bodyPr/>
            <a:lstStyle/>
            <a:p>
              <a:endParaRPr lang="zh-CN" altLang="en-US" sz="1500"/>
            </a:p>
          </p:txBody>
        </p:sp>
        <p:sp>
          <p:nvSpPr>
            <p:cNvPr id="62470" name="Line 6"/>
            <p:cNvSpPr>
              <a:spLocks noChangeShapeType="1"/>
            </p:cNvSpPr>
            <p:nvPr/>
          </p:nvSpPr>
          <p:spPr bwMode="auto">
            <a:xfrm>
              <a:off x="2226" y="1292"/>
              <a:ext cx="1" cy="119"/>
            </a:xfrm>
            <a:prstGeom prst="line">
              <a:avLst/>
            </a:prstGeom>
            <a:noFill/>
            <a:ln w="0">
              <a:solidFill>
                <a:srgbClr val="990033"/>
              </a:solidFill>
              <a:round/>
            </a:ln>
          </p:spPr>
          <p:txBody>
            <a:bodyPr/>
            <a:lstStyle/>
            <a:p>
              <a:endParaRPr lang="zh-CN" altLang="en-US" sz="1500"/>
            </a:p>
          </p:txBody>
        </p:sp>
        <p:sp>
          <p:nvSpPr>
            <p:cNvPr id="62471" name="Line 7"/>
            <p:cNvSpPr>
              <a:spLocks noChangeShapeType="1"/>
            </p:cNvSpPr>
            <p:nvPr/>
          </p:nvSpPr>
          <p:spPr bwMode="auto">
            <a:xfrm>
              <a:off x="2131" y="1331"/>
              <a:ext cx="198" cy="1"/>
            </a:xfrm>
            <a:prstGeom prst="line">
              <a:avLst/>
            </a:prstGeom>
            <a:noFill/>
            <a:ln w="0">
              <a:solidFill>
                <a:srgbClr val="990033"/>
              </a:solidFill>
              <a:round/>
            </a:ln>
          </p:spPr>
          <p:txBody>
            <a:bodyPr/>
            <a:lstStyle/>
            <a:p>
              <a:endParaRPr lang="zh-CN" altLang="en-US" sz="1500"/>
            </a:p>
          </p:txBody>
        </p:sp>
        <p:sp>
          <p:nvSpPr>
            <p:cNvPr id="62472" name="Freeform 8"/>
            <p:cNvSpPr/>
            <p:nvPr/>
          </p:nvSpPr>
          <p:spPr bwMode="auto">
            <a:xfrm>
              <a:off x="2091" y="1411"/>
              <a:ext cx="277" cy="134"/>
            </a:xfrm>
            <a:custGeom>
              <a:avLst/>
              <a:gdLst/>
              <a:ahLst/>
              <a:cxnLst>
                <a:cxn ang="0">
                  <a:pos x="0" y="17"/>
                </a:cxn>
                <a:cxn ang="0">
                  <a:pos x="17" y="0"/>
                </a:cxn>
                <a:cxn ang="0">
                  <a:pos x="35" y="17"/>
                </a:cxn>
              </a:cxnLst>
              <a:rect l="0" t="0" r="r" b="b"/>
              <a:pathLst>
                <a:path w="35" h="17">
                  <a:moveTo>
                    <a:pt x="0" y="17"/>
                  </a:moveTo>
                  <a:lnTo>
                    <a:pt x="17" y="0"/>
                  </a:lnTo>
                  <a:lnTo>
                    <a:pt x="35" y="17"/>
                  </a:lnTo>
                </a:path>
              </a:pathLst>
            </a:custGeom>
            <a:noFill/>
            <a:ln w="0">
              <a:solidFill>
                <a:srgbClr val="990033"/>
              </a:solidFill>
              <a:prstDash val="solid"/>
              <a:round/>
            </a:ln>
          </p:spPr>
          <p:txBody>
            <a:bodyPr/>
            <a:lstStyle/>
            <a:p>
              <a:endParaRPr lang="zh-CN" altLang="en-US" sz="1500"/>
            </a:p>
          </p:txBody>
        </p:sp>
        <p:sp>
          <p:nvSpPr>
            <p:cNvPr id="62473" name="Rectangle 9"/>
            <p:cNvSpPr>
              <a:spLocks noChangeArrowheads="1"/>
            </p:cNvSpPr>
            <p:nvPr/>
          </p:nvSpPr>
          <p:spPr bwMode="auto">
            <a:xfrm>
              <a:off x="2051" y="1633"/>
              <a:ext cx="521" cy="158"/>
            </a:xfrm>
            <a:prstGeom prst="rect">
              <a:avLst/>
            </a:prstGeom>
            <a:noFill/>
            <a:ln w="9525">
              <a:noFill/>
              <a:miter lim="800000"/>
            </a:ln>
          </p:spPr>
          <p:txBody>
            <a:bodyPr wrap="none" lIns="0" tIns="0" rIns="0" bIns="0">
              <a:spAutoFit/>
            </a:bodyPr>
            <a:lstStyle/>
            <a:p>
              <a:pPr algn="l" eaLnBrk="1" hangingPunct="1"/>
              <a:r>
                <a:rPr lang="en-US" altLang="zh-CN" sz="1500" u="sng">
                  <a:solidFill>
                    <a:srgbClr val="000000"/>
                  </a:solidFill>
                  <a:latin typeface="Arial" panose="020B0604020202020204" pitchFamily="34" charset="0"/>
                </a:rPr>
                <a:t> : </a:t>
              </a:r>
              <a:r>
                <a:rPr lang="zh-CN" altLang="en-US" sz="1500" u="sng">
                  <a:solidFill>
                    <a:srgbClr val="000000"/>
                  </a:solidFill>
                  <a:latin typeface="Arial" panose="020B0604020202020204" pitchFamily="34" charset="0"/>
                </a:rPr>
                <a:t>活动者</a:t>
              </a:r>
              <a:endParaRPr lang="zh-CN" altLang="en-US" sz="1500" u="sng">
                <a:solidFill>
                  <a:srgbClr val="000000"/>
                </a:solidFill>
                <a:latin typeface="Arial" panose="020B0604020202020204" pitchFamily="34" charset="0"/>
              </a:endParaRPr>
            </a:p>
          </p:txBody>
        </p:sp>
        <p:sp>
          <p:nvSpPr>
            <p:cNvPr id="62474" name="Line 10"/>
            <p:cNvSpPr>
              <a:spLocks noChangeShapeType="1"/>
            </p:cNvSpPr>
            <p:nvPr/>
          </p:nvSpPr>
          <p:spPr bwMode="auto">
            <a:xfrm>
              <a:off x="2226" y="1482"/>
              <a:ext cx="1" cy="2028"/>
            </a:xfrm>
            <a:prstGeom prst="line">
              <a:avLst/>
            </a:prstGeom>
            <a:noFill/>
            <a:ln w="0">
              <a:solidFill>
                <a:srgbClr val="000000"/>
              </a:solidFill>
              <a:prstDash val="sysDash"/>
              <a:round/>
            </a:ln>
          </p:spPr>
          <p:txBody>
            <a:bodyPr/>
            <a:lstStyle/>
            <a:p>
              <a:endParaRPr lang="zh-CN" altLang="en-US" sz="1500"/>
            </a:p>
          </p:txBody>
        </p:sp>
        <p:sp>
          <p:nvSpPr>
            <p:cNvPr id="62475" name="Rectangle 11"/>
            <p:cNvSpPr>
              <a:spLocks noChangeArrowheads="1"/>
            </p:cNvSpPr>
            <p:nvPr/>
          </p:nvSpPr>
          <p:spPr bwMode="auto">
            <a:xfrm>
              <a:off x="2195" y="1895"/>
              <a:ext cx="70" cy="1145"/>
            </a:xfrm>
            <a:prstGeom prst="rect">
              <a:avLst/>
            </a:prstGeom>
            <a:solidFill>
              <a:srgbClr val="FFFFFF"/>
            </a:solidFill>
            <a:ln w="0">
              <a:solidFill>
                <a:srgbClr val="990033"/>
              </a:solidFill>
              <a:miter lim="800000"/>
            </a:ln>
          </p:spPr>
          <p:txBody>
            <a:bodyPr/>
            <a:lstStyle/>
            <a:p>
              <a:endParaRPr lang="zh-CN" altLang="en-US" sz="1500"/>
            </a:p>
          </p:txBody>
        </p:sp>
        <p:sp>
          <p:nvSpPr>
            <p:cNvPr id="62476" name="Rectangle 12"/>
            <p:cNvSpPr>
              <a:spLocks noChangeArrowheads="1"/>
            </p:cNvSpPr>
            <p:nvPr/>
          </p:nvSpPr>
          <p:spPr bwMode="auto">
            <a:xfrm>
              <a:off x="2900" y="1100"/>
              <a:ext cx="762" cy="287"/>
            </a:xfrm>
            <a:prstGeom prst="rect">
              <a:avLst/>
            </a:prstGeom>
            <a:solidFill>
              <a:srgbClr val="FFFFCC"/>
            </a:solidFill>
            <a:ln w="0">
              <a:solidFill>
                <a:srgbClr val="990033"/>
              </a:solidFill>
              <a:miter lim="800000"/>
            </a:ln>
          </p:spPr>
          <p:txBody>
            <a:bodyPr/>
            <a:lstStyle/>
            <a:p>
              <a:endParaRPr lang="zh-CN" altLang="en-US" sz="1500"/>
            </a:p>
          </p:txBody>
        </p:sp>
        <p:sp>
          <p:nvSpPr>
            <p:cNvPr id="62477" name="Rectangle 13"/>
            <p:cNvSpPr>
              <a:spLocks noChangeArrowheads="1"/>
            </p:cNvSpPr>
            <p:nvPr/>
          </p:nvSpPr>
          <p:spPr bwMode="auto">
            <a:xfrm>
              <a:off x="3139" y="1125"/>
              <a:ext cx="273" cy="158"/>
            </a:xfrm>
            <a:prstGeom prst="rect">
              <a:avLst/>
            </a:prstGeom>
            <a:noFill/>
            <a:ln w="9525">
              <a:noFill/>
              <a:miter lim="800000"/>
            </a:ln>
          </p:spPr>
          <p:txBody>
            <a:bodyPr wrap="none" lIns="0" tIns="0" rIns="0" bIns="0">
              <a:spAutoFit/>
            </a:bodyPr>
            <a:lstStyle/>
            <a:p>
              <a:pPr algn="l" eaLnBrk="1" hangingPunct="1"/>
              <a:r>
                <a:rPr lang="zh-CN" altLang="en-US" sz="1500" u="sng">
                  <a:solidFill>
                    <a:srgbClr val="000000"/>
                  </a:solidFill>
                  <a:latin typeface="Arial" panose="020B0604020202020204" pitchFamily="34" charset="0"/>
                </a:rPr>
                <a:t>对象</a:t>
              </a:r>
              <a:endParaRPr lang="zh-CN" altLang="en-US" sz="1500" u="sng">
                <a:solidFill>
                  <a:srgbClr val="000000"/>
                </a:solidFill>
                <a:latin typeface="Arial" panose="020B0604020202020204" pitchFamily="34" charset="0"/>
              </a:endParaRPr>
            </a:p>
          </p:txBody>
        </p:sp>
        <p:sp>
          <p:nvSpPr>
            <p:cNvPr id="62478" name="Line 14"/>
            <p:cNvSpPr>
              <a:spLocks noChangeShapeType="1"/>
            </p:cNvSpPr>
            <p:nvPr/>
          </p:nvSpPr>
          <p:spPr bwMode="auto">
            <a:xfrm>
              <a:off x="3281" y="1482"/>
              <a:ext cx="2" cy="2028"/>
            </a:xfrm>
            <a:prstGeom prst="line">
              <a:avLst/>
            </a:prstGeom>
            <a:noFill/>
            <a:ln w="0">
              <a:solidFill>
                <a:srgbClr val="000000"/>
              </a:solidFill>
              <a:prstDash val="sysDash"/>
              <a:round/>
            </a:ln>
          </p:spPr>
          <p:txBody>
            <a:bodyPr/>
            <a:lstStyle/>
            <a:p>
              <a:endParaRPr lang="zh-CN" altLang="en-US" sz="1500"/>
            </a:p>
          </p:txBody>
        </p:sp>
        <p:sp>
          <p:nvSpPr>
            <p:cNvPr id="62479" name="Rectangle 15"/>
            <p:cNvSpPr>
              <a:spLocks noChangeArrowheads="1"/>
            </p:cNvSpPr>
            <p:nvPr/>
          </p:nvSpPr>
          <p:spPr bwMode="auto">
            <a:xfrm>
              <a:off x="3242" y="2015"/>
              <a:ext cx="79" cy="875"/>
            </a:xfrm>
            <a:prstGeom prst="rect">
              <a:avLst/>
            </a:prstGeom>
            <a:solidFill>
              <a:srgbClr val="FFFFFF"/>
            </a:solidFill>
            <a:ln w="0">
              <a:solidFill>
                <a:srgbClr val="990033"/>
              </a:solidFill>
              <a:miter lim="800000"/>
            </a:ln>
          </p:spPr>
          <p:txBody>
            <a:bodyPr/>
            <a:lstStyle/>
            <a:p>
              <a:endParaRPr lang="zh-CN" altLang="en-US" sz="1500"/>
            </a:p>
          </p:txBody>
        </p:sp>
        <p:sp>
          <p:nvSpPr>
            <p:cNvPr id="62480" name="Line 16"/>
            <p:cNvSpPr>
              <a:spLocks noChangeShapeType="1"/>
            </p:cNvSpPr>
            <p:nvPr/>
          </p:nvSpPr>
          <p:spPr bwMode="auto">
            <a:xfrm>
              <a:off x="2265" y="2015"/>
              <a:ext cx="977" cy="1"/>
            </a:xfrm>
            <a:prstGeom prst="line">
              <a:avLst/>
            </a:prstGeom>
            <a:noFill/>
            <a:ln w="0">
              <a:solidFill>
                <a:srgbClr val="990033"/>
              </a:solidFill>
              <a:round/>
            </a:ln>
          </p:spPr>
          <p:txBody>
            <a:bodyPr/>
            <a:lstStyle/>
            <a:p>
              <a:endParaRPr lang="zh-CN" altLang="en-US" sz="1500"/>
            </a:p>
          </p:txBody>
        </p:sp>
        <p:sp>
          <p:nvSpPr>
            <p:cNvPr id="62481" name="Line 17"/>
            <p:cNvSpPr>
              <a:spLocks noChangeShapeType="1"/>
            </p:cNvSpPr>
            <p:nvPr/>
          </p:nvSpPr>
          <p:spPr bwMode="auto">
            <a:xfrm flipH="1">
              <a:off x="3155" y="2015"/>
              <a:ext cx="87" cy="39"/>
            </a:xfrm>
            <a:prstGeom prst="line">
              <a:avLst/>
            </a:prstGeom>
            <a:noFill/>
            <a:ln w="11113">
              <a:solidFill>
                <a:srgbClr val="990033"/>
              </a:solidFill>
              <a:round/>
            </a:ln>
          </p:spPr>
          <p:txBody>
            <a:bodyPr/>
            <a:lstStyle/>
            <a:p>
              <a:endParaRPr lang="zh-CN" altLang="en-US" sz="1500"/>
            </a:p>
          </p:txBody>
        </p:sp>
        <p:sp>
          <p:nvSpPr>
            <p:cNvPr id="62482" name="Line 18"/>
            <p:cNvSpPr>
              <a:spLocks noChangeShapeType="1"/>
            </p:cNvSpPr>
            <p:nvPr/>
          </p:nvSpPr>
          <p:spPr bwMode="auto">
            <a:xfrm flipH="1" flipV="1">
              <a:off x="3155" y="1975"/>
              <a:ext cx="87" cy="40"/>
            </a:xfrm>
            <a:prstGeom prst="line">
              <a:avLst/>
            </a:prstGeom>
            <a:noFill/>
            <a:ln w="11113">
              <a:solidFill>
                <a:srgbClr val="990033"/>
              </a:solidFill>
              <a:round/>
            </a:ln>
          </p:spPr>
          <p:txBody>
            <a:bodyPr/>
            <a:lstStyle/>
            <a:p>
              <a:endParaRPr lang="zh-CN" altLang="en-US" sz="1500"/>
            </a:p>
          </p:txBody>
        </p:sp>
        <p:sp>
          <p:nvSpPr>
            <p:cNvPr id="62483" name="Rectangle 19"/>
            <p:cNvSpPr>
              <a:spLocks noChangeArrowheads="1"/>
            </p:cNvSpPr>
            <p:nvPr/>
          </p:nvSpPr>
          <p:spPr bwMode="auto">
            <a:xfrm>
              <a:off x="2381" y="1842"/>
              <a:ext cx="681" cy="158"/>
            </a:xfrm>
            <a:prstGeom prst="rect">
              <a:avLst/>
            </a:prstGeom>
            <a:noFill/>
            <a:ln w="9525">
              <a:noFill/>
              <a:miter lim="800000"/>
            </a:ln>
          </p:spPr>
          <p:txBody>
            <a:bodyPr wrap="none" lIns="0" tIns="0" rIns="0" bIns="0">
              <a:spAutoFit/>
            </a:bodyPr>
            <a:lstStyle/>
            <a:p>
              <a:pPr algn="l" eaLnBrk="1" hangingPunct="1"/>
              <a:r>
                <a:rPr lang="zh-CN" altLang="en-US" sz="1500" dirty="0">
                  <a:solidFill>
                    <a:srgbClr val="000000"/>
                  </a:solidFill>
                  <a:latin typeface="Arial" panose="020B0604020202020204" pitchFamily="34" charset="0"/>
                </a:rPr>
                <a:t>发送的消息</a:t>
              </a:r>
              <a:endParaRPr lang="zh-CN" altLang="en-US" sz="1500" dirty="0">
                <a:solidFill>
                  <a:srgbClr val="000000"/>
                </a:solidFill>
                <a:latin typeface="Arial" panose="020B0604020202020204" pitchFamily="34" charset="0"/>
              </a:endParaRPr>
            </a:p>
          </p:txBody>
        </p:sp>
        <p:sp>
          <p:nvSpPr>
            <p:cNvPr id="62484" name="Freeform 20"/>
            <p:cNvSpPr/>
            <p:nvPr/>
          </p:nvSpPr>
          <p:spPr bwMode="auto">
            <a:xfrm>
              <a:off x="3321" y="2095"/>
              <a:ext cx="381" cy="79"/>
            </a:xfrm>
            <a:custGeom>
              <a:avLst/>
              <a:gdLst/>
              <a:ahLst/>
              <a:cxnLst>
                <a:cxn ang="0">
                  <a:pos x="0" y="0"/>
                </a:cxn>
                <a:cxn ang="0">
                  <a:pos x="48" y="0"/>
                </a:cxn>
                <a:cxn ang="0">
                  <a:pos x="48" y="10"/>
                </a:cxn>
                <a:cxn ang="0">
                  <a:pos x="1" y="10"/>
                </a:cxn>
              </a:cxnLst>
              <a:rect l="0" t="0" r="r" b="b"/>
              <a:pathLst>
                <a:path w="48" h="10">
                  <a:moveTo>
                    <a:pt x="0" y="0"/>
                  </a:moveTo>
                  <a:lnTo>
                    <a:pt x="48" y="0"/>
                  </a:lnTo>
                  <a:lnTo>
                    <a:pt x="48" y="10"/>
                  </a:lnTo>
                  <a:lnTo>
                    <a:pt x="1" y="10"/>
                  </a:lnTo>
                </a:path>
              </a:pathLst>
            </a:custGeom>
            <a:noFill/>
            <a:ln w="0">
              <a:solidFill>
                <a:srgbClr val="990033"/>
              </a:solidFill>
              <a:prstDash val="solid"/>
              <a:round/>
            </a:ln>
          </p:spPr>
          <p:txBody>
            <a:bodyPr/>
            <a:lstStyle/>
            <a:p>
              <a:endParaRPr lang="zh-CN" altLang="en-US" sz="1500"/>
            </a:p>
          </p:txBody>
        </p:sp>
        <p:sp>
          <p:nvSpPr>
            <p:cNvPr id="62485" name="Line 21"/>
            <p:cNvSpPr>
              <a:spLocks noChangeShapeType="1"/>
            </p:cNvSpPr>
            <p:nvPr/>
          </p:nvSpPr>
          <p:spPr bwMode="auto">
            <a:xfrm>
              <a:off x="3329" y="2174"/>
              <a:ext cx="87" cy="40"/>
            </a:xfrm>
            <a:prstGeom prst="line">
              <a:avLst/>
            </a:prstGeom>
            <a:noFill/>
            <a:ln w="11113">
              <a:solidFill>
                <a:srgbClr val="990033"/>
              </a:solidFill>
              <a:round/>
            </a:ln>
          </p:spPr>
          <p:txBody>
            <a:bodyPr/>
            <a:lstStyle/>
            <a:p>
              <a:endParaRPr lang="zh-CN" altLang="en-US" sz="1500"/>
            </a:p>
          </p:txBody>
        </p:sp>
        <p:sp>
          <p:nvSpPr>
            <p:cNvPr id="62486" name="Line 22"/>
            <p:cNvSpPr>
              <a:spLocks noChangeShapeType="1"/>
            </p:cNvSpPr>
            <p:nvPr/>
          </p:nvSpPr>
          <p:spPr bwMode="auto">
            <a:xfrm flipV="1">
              <a:off x="3329" y="2134"/>
              <a:ext cx="87" cy="40"/>
            </a:xfrm>
            <a:prstGeom prst="line">
              <a:avLst/>
            </a:prstGeom>
            <a:noFill/>
            <a:ln w="11113">
              <a:solidFill>
                <a:srgbClr val="990033"/>
              </a:solidFill>
              <a:round/>
            </a:ln>
          </p:spPr>
          <p:txBody>
            <a:bodyPr/>
            <a:lstStyle/>
            <a:p>
              <a:endParaRPr lang="zh-CN" altLang="en-US" sz="1500"/>
            </a:p>
          </p:txBody>
        </p:sp>
        <p:sp>
          <p:nvSpPr>
            <p:cNvPr id="62487" name="Rectangle 23"/>
            <p:cNvSpPr>
              <a:spLocks noChangeArrowheads="1"/>
            </p:cNvSpPr>
            <p:nvPr/>
          </p:nvSpPr>
          <p:spPr bwMode="auto">
            <a:xfrm>
              <a:off x="3379" y="1842"/>
              <a:ext cx="409" cy="158"/>
            </a:xfrm>
            <a:prstGeom prst="rect">
              <a:avLst/>
            </a:prstGeom>
            <a:noFill/>
            <a:ln w="9525">
              <a:noFill/>
              <a:miter lim="800000"/>
            </a:ln>
          </p:spPr>
          <p:txBody>
            <a:bodyPr wrap="none" lIns="0" tIns="0" rIns="0" bIns="0">
              <a:spAutoFit/>
            </a:bodyPr>
            <a:lstStyle/>
            <a:p>
              <a:pPr algn="l" eaLnBrk="1" hangingPunct="1"/>
              <a:r>
                <a:rPr lang="zh-CN" altLang="en-US" sz="1500">
                  <a:solidFill>
                    <a:srgbClr val="000000"/>
                  </a:solidFill>
                  <a:latin typeface="Arial" panose="020B0604020202020204" pitchFamily="34" charset="0"/>
                </a:rPr>
                <a:t>自调用</a:t>
              </a:r>
              <a:endParaRPr lang="zh-CN" altLang="en-US" sz="1500">
                <a:solidFill>
                  <a:srgbClr val="000000"/>
                </a:solidFill>
                <a:latin typeface="Arial" panose="020B0604020202020204" pitchFamily="34" charset="0"/>
              </a:endParaRPr>
            </a:p>
          </p:txBody>
        </p:sp>
        <p:sp>
          <p:nvSpPr>
            <p:cNvPr id="62488" name="Line 24"/>
            <p:cNvSpPr>
              <a:spLocks noChangeShapeType="1"/>
            </p:cNvSpPr>
            <p:nvPr/>
          </p:nvSpPr>
          <p:spPr bwMode="auto">
            <a:xfrm flipH="1">
              <a:off x="2273" y="2587"/>
              <a:ext cx="969" cy="1"/>
            </a:xfrm>
            <a:prstGeom prst="line">
              <a:avLst/>
            </a:prstGeom>
            <a:noFill/>
            <a:ln w="0">
              <a:solidFill>
                <a:srgbClr val="990033"/>
              </a:solidFill>
              <a:round/>
            </a:ln>
          </p:spPr>
          <p:txBody>
            <a:bodyPr/>
            <a:lstStyle/>
            <a:p>
              <a:endParaRPr lang="zh-CN" altLang="en-US" sz="1500"/>
            </a:p>
          </p:txBody>
        </p:sp>
        <p:sp>
          <p:nvSpPr>
            <p:cNvPr id="62489" name="Line 25"/>
            <p:cNvSpPr>
              <a:spLocks noChangeShapeType="1"/>
            </p:cNvSpPr>
            <p:nvPr/>
          </p:nvSpPr>
          <p:spPr bwMode="auto">
            <a:xfrm>
              <a:off x="2273" y="2587"/>
              <a:ext cx="88" cy="40"/>
            </a:xfrm>
            <a:prstGeom prst="line">
              <a:avLst/>
            </a:prstGeom>
            <a:noFill/>
            <a:ln w="11113">
              <a:solidFill>
                <a:srgbClr val="990033"/>
              </a:solidFill>
              <a:round/>
            </a:ln>
          </p:spPr>
          <p:txBody>
            <a:bodyPr/>
            <a:lstStyle/>
            <a:p>
              <a:endParaRPr lang="zh-CN" altLang="en-US" sz="1500"/>
            </a:p>
          </p:txBody>
        </p:sp>
        <p:sp>
          <p:nvSpPr>
            <p:cNvPr id="62490" name="Line 26"/>
            <p:cNvSpPr>
              <a:spLocks noChangeShapeType="1"/>
            </p:cNvSpPr>
            <p:nvPr/>
          </p:nvSpPr>
          <p:spPr bwMode="auto">
            <a:xfrm flipV="1">
              <a:off x="2273" y="2548"/>
              <a:ext cx="88" cy="39"/>
            </a:xfrm>
            <a:prstGeom prst="line">
              <a:avLst/>
            </a:prstGeom>
            <a:noFill/>
            <a:ln w="11113">
              <a:solidFill>
                <a:srgbClr val="990033"/>
              </a:solidFill>
              <a:round/>
            </a:ln>
          </p:spPr>
          <p:txBody>
            <a:bodyPr/>
            <a:lstStyle/>
            <a:p>
              <a:endParaRPr lang="zh-CN" altLang="en-US" sz="1500"/>
            </a:p>
          </p:txBody>
        </p:sp>
        <p:sp>
          <p:nvSpPr>
            <p:cNvPr id="62491" name="Rectangle 27"/>
            <p:cNvSpPr>
              <a:spLocks noChangeArrowheads="1"/>
            </p:cNvSpPr>
            <p:nvPr/>
          </p:nvSpPr>
          <p:spPr bwMode="auto">
            <a:xfrm>
              <a:off x="2381" y="2387"/>
              <a:ext cx="681" cy="158"/>
            </a:xfrm>
            <a:prstGeom prst="rect">
              <a:avLst/>
            </a:prstGeom>
            <a:noFill/>
            <a:ln w="9525">
              <a:noFill/>
              <a:miter lim="800000"/>
            </a:ln>
          </p:spPr>
          <p:txBody>
            <a:bodyPr wrap="none" lIns="0" tIns="0" rIns="0" bIns="0">
              <a:spAutoFit/>
            </a:bodyPr>
            <a:lstStyle/>
            <a:p>
              <a:pPr algn="l" eaLnBrk="1" hangingPunct="1"/>
              <a:r>
                <a:rPr lang="zh-CN" altLang="en-US" sz="1500">
                  <a:solidFill>
                    <a:srgbClr val="000000"/>
                  </a:solidFill>
                  <a:latin typeface="Arial" panose="020B0604020202020204" pitchFamily="34" charset="0"/>
                </a:rPr>
                <a:t>返回的消息</a:t>
              </a:r>
              <a:endParaRPr lang="zh-CN" altLang="en-US" sz="1500">
                <a:solidFill>
                  <a:srgbClr val="000000"/>
                </a:solidFill>
                <a:latin typeface="Arial" panose="020B0604020202020204" pitchFamily="34" charset="0"/>
              </a:endParaRPr>
            </a:p>
          </p:txBody>
        </p:sp>
      </p:grpSp>
      <p:pic>
        <p:nvPicPr>
          <p:cNvPr id="6" name="图片 5"/>
          <p:cNvPicPr>
            <a:picLocks noChangeAspect="1"/>
          </p:cNvPicPr>
          <p:nvPr/>
        </p:nvPicPr>
        <p:blipFill>
          <a:blip r:embed="rId1"/>
          <a:stretch>
            <a:fillRect/>
          </a:stretch>
        </p:blipFill>
        <p:spPr>
          <a:xfrm>
            <a:off x="4775857" y="2966686"/>
            <a:ext cx="4057650" cy="17430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顺序图实例</a:t>
            </a:r>
            <a:endParaRPr lang="zh-CN" altLang="en-US" dirty="0"/>
          </a:p>
        </p:txBody>
      </p:sp>
      <p:sp>
        <p:nvSpPr>
          <p:cNvPr id="64515" name="Rectangle 3"/>
          <p:cNvSpPr>
            <a:spLocks noGrp="1" noChangeArrowheads="1"/>
          </p:cNvSpPr>
          <p:nvPr>
            <p:ph idx="1"/>
          </p:nvPr>
        </p:nvSpPr>
        <p:spPr/>
        <p:txBody>
          <a:bodyPr/>
          <a:lstStyle/>
          <a:p>
            <a:pPr>
              <a:lnSpc>
                <a:spcPct val="150000"/>
              </a:lnSpc>
              <a:spcBef>
                <a:spcPts val="450"/>
              </a:spcBef>
            </a:pPr>
            <a:r>
              <a:rPr lang="zh-CN" altLang="en-US" dirty="0"/>
              <a:t>洗衣机的例子：</a:t>
            </a:r>
            <a:endParaRPr lang="zh-CN" altLang="en-US" dirty="0"/>
          </a:p>
          <a:p>
            <a:pPr lvl="1">
              <a:lnSpc>
                <a:spcPct val="150000"/>
              </a:lnSpc>
              <a:spcBef>
                <a:spcPts val="450"/>
              </a:spcBef>
            </a:pPr>
            <a:r>
              <a:rPr lang="zh-CN" altLang="en-US" sz="1800" dirty="0"/>
              <a:t>定时器</a:t>
            </a:r>
            <a:r>
              <a:rPr lang="en-US" altLang="zh-CN" sz="1800" dirty="0"/>
              <a:t>(timer)</a:t>
            </a:r>
            <a:endParaRPr lang="en-US" altLang="zh-CN" sz="1800" dirty="0"/>
          </a:p>
          <a:p>
            <a:pPr lvl="1">
              <a:lnSpc>
                <a:spcPct val="150000"/>
              </a:lnSpc>
              <a:spcBef>
                <a:spcPts val="450"/>
              </a:spcBef>
            </a:pPr>
            <a:r>
              <a:rPr lang="zh-CN" altLang="en-US" sz="1800" dirty="0"/>
              <a:t>注水的进水管</a:t>
            </a:r>
            <a:r>
              <a:rPr lang="en-US" altLang="zh-CN" sz="1800" dirty="0"/>
              <a:t>(water piper)</a:t>
            </a:r>
            <a:endParaRPr lang="en-US" altLang="zh-CN" sz="1800" dirty="0"/>
          </a:p>
          <a:p>
            <a:pPr lvl="1">
              <a:lnSpc>
                <a:spcPct val="150000"/>
              </a:lnSpc>
              <a:spcBef>
                <a:spcPts val="450"/>
              </a:spcBef>
            </a:pPr>
            <a:r>
              <a:rPr lang="zh-CN" altLang="en-US" sz="1800" dirty="0"/>
              <a:t>装衣服的洗涤缸</a:t>
            </a:r>
            <a:r>
              <a:rPr lang="en-US" altLang="zh-CN" sz="1800" dirty="0"/>
              <a:t>(drum)</a:t>
            </a:r>
            <a:endParaRPr lang="en-US" altLang="zh-CN" sz="1800" dirty="0"/>
          </a:p>
          <a:p>
            <a:pPr>
              <a:lnSpc>
                <a:spcPct val="150000"/>
              </a:lnSpc>
              <a:spcBef>
                <a:spcPts val="450"/>
              </a:spcBef>
            </a:pPr>
            <a:endParaRPr lang="en-US" altLang="zh-CN" dirty="0"/>
          </a:p>
        </p:txBody>
      </p:sp>
      <p:sp>
        <p:nvSpPr>
          <p:cNvPr id="7" name="日期占位符 6"/>
          <p:cNvSpPr>
            <a:spLocks noGrp="1"/>
          </p:cNvSpPr>
          <p:nvPr>
            <p:ph type="dt" sz="half" idx="10"/>
          </p:nvPr>
        </p:nvSpPr>
        <p:spPr/>
        <p:txBody>
          <a:bodyPr/>
          <a:lstStyle/>
          <a:p>
            <a:fld id="{FBCC0EE7-79BC-4C64-991B-FF1502E07E2E}"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64516" name="Picture 4"/>
          <p:cNvPicPr>
            <a:picLocks noChangeAspect="1" noChangeArrowheads="1"/>
          </p:cNvPicPr>
          <p:nvPr/>
        </p:nvPicPr>
        <p:blipFill>
          <a:blip r:embed="rId1" cstate="print"/>
          <a:srcRect/>
          <a:stretch>
            <a:fillRect/>
          </a:stretch>
        </p:blipFill>
        <p:spPr bwMode="auto">
          <a:xfrm>
            <a:off x="4499882" y="115083"/>
            <a:ext cx="4513489" cy="4533867"/>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a:t>
            </a:r>
            <a:endParaRPr lang="zh-CN" altLang="en-US"/>
          </a:p>
        </p:txBody>
      </p:sp>
      <p:pic>
        <p:nvPicPr>
          <p:cNvPr id="66562" name="Picture 2"/>
          <p:cNvPicPr>
            <a:picLocks noGrp="1" noChangeAspect="1" noChangeArrowheads="1"/>
          </p:cNvPicPr>
          <p:nvPr>
            <p:ph idx="1"/>
          </p:nvPr>
        </p:nvPicPr>
        <p:blipFill rotWithShape="1">
          <a:blip r:embed="rId1" cstate="print"/>
          <a:stretch>
            <a:fillRect/>
          </a:stretch>
        </p:blipFill>
        <p:spPr>
          <a:xfrm>
            <a:off x="3137371" y="446366"/>
            <a:ext cx="2638396" cy="5005281"/>
          </a:xfrm>
          <a:noFill/>
        </p:spPr>
      </p:pic>
      <p:sp>
        <p:nvSpPr>
          <p:cNvPr id="5" name="日期占位符 4"/>
          <p:cNvSpPr>
            <a:spLocks noGrp="1"/>
          </p:cNvSpPr>
          <p:nvPr>
            <p:ph type="dt" sz="half" idx="10"/>
          </p:nvPr>
        </p:nvSpPr>
        <p:spPr/>
        <p:txBody>
          <a:bodyPr/>
          <a:lstStyle/>
          <a:p>
            <a:fld id="{EF7EDA1D-B780-447F-96B1-ED5F37ED0564}"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66563" name="AutoShape 3"/>
          <p:cNvSpPr>
            <a:spLocks noChangeArrowheads="1"/>
          </p:cNvSpPr>
          <p:nvPr/>
        </p:nvSpPr>
        <p:spPr bwMode="auto">
          <a:xfrm>
            <a:off x="1045317" y="266620"/>
            <a:ext cx="1187275" cy="471826"/>
          </a:xfrm>
          <a:prstGeom prst="wedgeRoundRectCallout">
            <a:avLst>
              <a:gd name="adj1" fmla="val 129069"/>
              <a:gd name="adj2" fmla="val 15921"/>
              <a:gd name="adj3" fmla="val 16667"/>
            </a:avLst>
          </a:prstGeom>
          <a:solidFill>
            <a:schemeClr val="bg1"/>
          </a:solidFill>
          <a:ln w="3175" algn="ctr">
            <a:solidFill>
              <a:schemeClr val="bg2"/>
            </a:solidFill>
            <a:miter lim="800000"/>
          </a:ln>
          <a:effectLst/>
        </p:spPr>
        <p:txBody>
          <a:bodyPr lIns="60722" tIns="30361" rIns="60722" bIns="30361" anchor="ctr"/>
          <a:lstStyle/>
          <a:p>
            <a:r>
              <a:rPr lang="en-US" altLang="zh-CN" sz="1400">
                <a:latin typeface="+mj-ea"/>
                <a:ea typeface="+mj-ea"/>
              </a:rPr>
              <a:t>1</a:t>
            </a:r>
            <a:r>
              <a:rPr lang="zh-CN" altLang="en-US" sz="1400">
                <a:latin typeface="+mj-ea"/>
                <a:ea typeface="+mj-ea"/>
              </a:rPr>
              <a:t>浸泡定时</a:t>
            </a:r>
            <a:endParaRPr lang="zh-CN" altLang="en-US" sz="1400">
              <a:latin typeface="+mj-ea"/>
              <a:ea typeface="+mj-ea"/>
            </a:endParaRPr>
          </a:p>
        </p:txBody>
      </p:sp>
      <p:sp>
        <p:nvSpPr>
          <p:cNvPr id="66564" name="AutoShape 4"/>
          <p:cNvSpPr>
            <a:spLocks noChangeArrowheads="1"/>
          </p:cNvSpPr>
          <p:nvPr/>
        </p:nvSpPr>
        <p:spPr bwMode="auto">
          <a:xfrm>
            <a:off x="1093682" y="814389"/>
            <a:ext cx="1187275" cy="471826"/>
          </a:xfrm>
          <a:prstGeom prst="wedgeRoundRectCallout">
            <a:avLst>
              <a:gd name="adj1" fmla="val 148116"/>
              <a:gd name="adj2" fmla="val -40625"/>
              <a:gd name="adj3" fmla="val 16667"/>
            </a:avLst>
          </a:prstGeom>
          <a:solidFill>
            <a:schemeClr val="bg1"/>
          </a:solidFill>
          <a:ln w="3175" algn="ctr">
            <a:solidFill>
              <a:schemeClr val="bg2"/>
            </a:solidFill>
            <a:miter lim="800000"/>
          </a:ln>
          <a:effectLst/>
        </p:spPr>
        <p:txBody>
          <a:bodyPr lIns="60722" tIns="30361" rIns="60722" bIns="30361" anchor="ctr"/>
          <a:lstStyle/>
          <a:p>
            <a:r>
              <a:rPr lang="en-US" altLang="zh-CN" sz="1400">
                <a:latin typeface="+mj-ea"/>
                <a:ea typeface="+mj-ea"/>
              </a:rPr>
              <a:t>2</a:t>
            </a:r>
            <a:r>
              <a:rPr lang="zh-CN" altLang="en-US" sz="1400">
                <a:latin typeface="+mj-ea"/>
                <a:ea typeface="+mj-ea"/>
              </a:rPr>
              <a:t>注水</a:t>
            </a:r>
            <a:endParaRPr lang="zh-CN" altLang="en-US" sz="1400">
              <a:latin typeface="+mj-ea"/>
              <a:ea typeface="+mj-ea"/>
            </a:endParaRPr>
          </a:p>
        </p:txBody>
      </p:sp>
      <p:sp>
        <p:nvSpPr>
          <p:cNvPr id="66565" name="AutoShape 5"/>
          <p:cNvSpPr>
            <a:spLocks noChangeArrowheads="1"/>
          </p:cNvSpPr>
          <p:nvPr/>
        </p:nvSpPr>
        <p:spPr bwMode="auto">
          <a:xfrm>
            <a:off x="7457071" y="337287"/>
            <a:ext cx="1480100" cy="443593"/>
          </a:xfrm>
          <a:prstGeom prst="wedgeRoundRectCallout">
            <a:avLst>
              <a:gd name="adj1" fmla="val -117379"/>
              <a:gd name="adj2" fmla="val 81235"/>
              <a:gd name="adj3" fmla="val 16667"/>
            </a:avLst>
          </a:prstGeom>
          <a:solidFill>
            <a:schemeClr val="bg1"/>
          </a:solidFill>
          <a:ln w="3175" algn="ctr">
            <a:solidFill>
              <a:schemeClr val="bg2"/>
            </a:solidFill>
            <a:miter lim="800000"/>
          </a:ln>
          <a:effectLst/>
        </p:spPr>
        <p:txBody>
          <a:bodyPr lIns="60722" tIns="30361" rIns="60722" bIns="30361" anchor="ctr"/>
          <a:lstStyle/>
          <a:p>
            <a:r>
              <a:rPr lang="en-US" altLang="zh-CN" sz="1400" dirty="0">
                <a:latin typeface="+mj-ea"/>
                <a:ea typeface="+mj-ea"/>
              </a:rPr>
              <a:t>3</a:t>
            </a:r>
            <a:r>
              <a:rPr lang="zh-CN" altLang="en-US" sz="1400" dirty="0">
                <a:latin typeface="+mj-ea"/>
                <a:ea typeface="+mj-ea"/>
              </a:rPr>
              <a:t>储水</a:t>
            </a:r>
            <a:endParaRPr lang="zh-CN" altLang="en-US" sz="1400" dirty="0">
              <a:latin typeface="+mj-ea"/>
              <a:ea typeface="+mj-ea"/>
            </a:endParaRPr>
          </a:p>
        </p:txBody>
      </p:sp>
      <p:sp>
        <p:nvSpPr>
          <p:cNvPr id="66566" name="AutoShape 6"/>
          <p:cNvSpPr>
            <a:spLocks noChangeArrowheads="1"/>
          </p:cNvSpPr>
          <p:nvPr/>
        </p:nvSpPr>
        <p:spPr bwMode="auto">
          <a:xfrm>
            <a:off x="1093682" y="1310369"/>
            <a:ext cx="1187275" cy="471826"/>
          </a:xfrm>
          <a:prstGeom prst="wedgeRoundRectCallout">
            <a:avLst>
              <a:gd name="adj1" fmla="val 152282"/>
              <a:gd name="adj2" fmla="val -57292"/>
              <a:gd name="adj3" fmla="val 16667"/>
            </a:avLst>
          </a:prstGeom>
          <a:solidFill>
            <a:schemeClr val="bg1"/>
          </a:solidFill>
          <a:ln w="3175" algn="ctr">
            <a:solidFill>
              <a:schemeClr val="bg2"/>
            </a:solidFill>
            <a:miter lim="800000"/>
          </a:ln>
          <a:effectLst/>
        </p:spPr>
        <p:txBody>
          <a:bodyPr lIns="60722" tIns="30361" rIns="60722" bIns="30361" anchor="ctr"/>
          <a:lstStyle/>
          <a:p>
            <a:r>
              <a:rPr lang="en-US" altLang="zh-CN" sz="1400">
                <a:latin typeface="+mj-ea"/>
                <a:ea typeface="+mj-ea"/>
              </a:rPr>
              <a:t>4</a:t>
            </a:r>
            <a:r>
              <a:rPr lang="zh-CN" altLang="en-US" sz="1400">
                <a:latin typeface="+mj-ea"/>
                <a:ea typeface="+mj-ea"/>
              </a:rPr>
              <a:t>停止注水</a:t>
            </a:r>
            <a:endParaRPr lang="zh-CN" altLang="en-US" sz="1400">
              <a:latin typeface="+mj-ea"/>
              <a:ea typeface="+mj-ea"/>
            </a:endParaRPr>
          </a:p>
        </p:txBody>
      </p:sp>
      <p:sp>
        <p:nvSpPr>
          <p:cNvPr id="66567" name="AutoShape 7"/>
          <p:cNvSpPr>
            <a:spLocks noChangeArrowheads="1"/>
          </p:cNvSpPr>
          <p:nvPr/>
        </p:nvSpPr>
        <p:spPr bwMode="auto">
          <a:xfrm>
            <a:off x="1093682" y="1885951"/>
            <a:ext cx="1187275" cy="471826"/>
          </a:xfrm>
          <a:prstGeom prst="wedgeRoundRectCallout">
            <a:avLst>
              <a:gd name="adj1" fmla="val 136806"/>
              <a:gd name="adj2" fmla="val -75000"/>
              <a:gd name="adj3" fmla="val 16667"/>
            </a:avLst>
          </a:prstGeom>
          <a:solidFill>
            <a:schemeClr val="bg1"/>
          </a:solidFill>
          <a:ln w="3175" algn="ctr">
            <a:solidFill>
              <a:schemeClr val="bg2"/>
            </a:solidFill>
            <a:miter lim="800000"/>
          </a:ln>
          <a:effectLst/>
        </p:spPr>
        <p:txBody>
          <a:bodyPr lIns="60722" tIns="30361" rIns="60722" bIns="30361" anchor="ctr"/>
          <a:lstStyle/>
          <a:p>
            <a:r>
              <a:rPr lang="en-US" altLang="zh-CN" sz="1400">
                <a:latin typeface="+mj-ea"/>
                <a:ea typeface="+mj-ea"/>
              </a:rPr>
              <a:t>5</a:t>
            </a:r>
            <a:r>
              <a:rPr lang="zh-CN" altLang="en-US" sz="1400">
                <a:latin typeface="+mj-ea"/>
                <a:ea typeface="+mj-ea"/>
              </a:rPr>
              <a:t>洗涤定时</a:t>
            </a:r>
            <a:endParaRPr lang="zh-CN" altLang="en-US" sz="1400">
              <a:latin typeface="+mj-ea"/>
              <a:ea typeface="+mj-ea"/>
            </a:endParaRPr>
          </a:p>
        </p:txBody>
      </p:sp>
      <p:sp>
        <p:nvSpPr>
          <p:cNvPr id="66568" name="AutoShape 8"/>
          <p:cNvSpPr>
            <a:spLocks noChangeArrowheads="1"/>
          </p:cNvSpPr>
          <p:nvPr/>
        </p:nvSpPr>
        <p:spPr bwMode="auto">
          <a:xfrm>
            <a:off x="7466995" y="916952"/>
            <a:ext cx="1533666" cy="548707"/>
          </a:xfrm>
          <a:prstGeom prst="wedgeRoundRectCallout">
            <a:avLst>
              <a:gd name="adj1" fmla="val -127501"/>
              <a:gd name="adj2" fmla="val 101347"/>
              <a:gd name="adj3" fmla="val 16667"/>
            </a:avLst>
          </a:prstGeom>
          <a:solidFill>
            <a:schemeClr val="bg1"/>
          </a:solidFill>
          <a:ln w="3175" algn="ctr">
            <a:solidFill>
              <a:schemeClr val="bg2"/>
            </a:solidFill>
            <a:miter lim="800000"/>
          </a:ln>
          <a:effectLst/>
        </p:spPr>
        <p:txBody>
          <a:bodyPr lIns="60722" tIns="30361" rIns="60722" bIns="30361" anchor="ctr"/>
          <a:lstStyle/>
          <a:p>
            <a:r>
              <a:rPr lang="en-US" altLang="zh-CN" sz="1400">
                <a:latin typeface="+mj-ea"/>
                <a:ea typeface="+mj-ea"/>
              </a:rPr>
              <a:t>6.</a:t>
            </a:r>
            <a:r>
              <a:rPr lang="zh-CN" altLang="en-US" sz="1400">
                <a:latin typeface="+mj-ea"/>
                <a:ea typeface="+mj-ea"/>
              </a:rPr>
              <a:t>反复旋转洗涤</a:t>
            </a:r>
            <a:endParaRPr lang="zh-CN" altLang="en-US" sz="1400">
              <a:latin typeface="+mj-ea"/>
              <a:ea typeface="+mj-ea"/>
            </a:endParaRPr>
          </a:p>
        </p:txBody>
      </p:sp>
      <p:sp>
        <p:nvSpPr>
          <p:cNvPr id="66569" name="AutoShape 9"/>
          <p:cNvSpPr>
            <a:spLocks noChangeArrowheads="1"/>
          </p:cNvSpPr>
          <p:nvPr/>
        </p:nvSpPr>
        <p:spPr bwMode="auto">
          <a:xfrm>
            <a:off x="7466995" y="1559889"/>
            <a:ext cx="1533666" cy="548707"/>
          </a:xfrm>
          <a:prstGeom prst="wedgeRoundRectCallout">
            <a:avLst>
              <a:gd name="adj1" fmla="val -125614"/>
              <a:gd name="adj2" fmla="val 48956"/>
              <a:gd name="adj3" fmla="val 16667"/>
            </a:avLst>
          </a:prstGeom>
          <a:solidFill>
            <a:schemeClr val="bg1"/>
          </a:solidFill>
          <a:ln w="3175" algn="ctr">
            <a:solidFill>
              <a:schemeClr val="bg2"/>
            </a:solidFill>
            <a:miter lim="800000"/>
          </a:ln>
          <a:effectLst/>
        </p:spPr>
        <p:txBody>
          <a:bodyPr lIns="60722" tIns="30361" rIns="60722" bIns="30361" anchor="ctr"/>
          <a:lstStyle/>
          <a:p>
            <a:r>
              <a:rPr lang="en-US" altLang="zh-CN" sz="1400">
                <a:latin typeface="+mj-ea"/>
                <a:ea typeface="+mj-ea"/>
              </a:rPr>
              <a:t>7.</a:t>
            </a:r>
            <a:r>
              <a:rPr lang="zh-CN" altLang="en-US" sz="1400">
                <a:latin typeface="+mj-ea"/>
                <a:ea typeface="+mj-ea"/>
              </a:rPr>
              <a:t>排脏水</a:t>
            </a:r>
            <a:endParaRPr lang="zh-CN" altLang="en-US" sz="1400">
              <a:latin typeface="+mj-ea"/>
              <a:ea typeface="+mj-ea"/>
            </a:endParaRPr>
          </a:p>
        </p:txBody>
      </p:sp>
      <p:sp>
        <p:nvSpPr>
          <p:cNvPr id="66570" name="AutoShape 10"/>
          <p:cNvSpPr>
            <a:spLocks noChangeArrowheads="1"/>
          </p:cNvSpPr>
          <p:nvPr/>
        </p:nvSpPr>
        <p:spPr bwMode="auto">
          <a:xfrm>
            <a:off x="7479101" y="2202827"/>
            <a:ext cx="1533666" cy="548707"/>
          </a:xfrm>
          <a:prstGeom prst="wedgeRoundRectCallout">
            <a:avLst>
              <a:gd name="adj1" fmla="val -129835"/>
              <a:gd name="adj2" fmla="val -16927"/>
              <a:gd name="adj3" fmla="val 16667"/>
            </a:avLst>
          </a:prstGeom>
          <a:solidFill>
            <a:schemeClr val="bg1"/>
          </a:solidFill>
          <a:ln w="3175" algn="ctr">
            <a:solidFill>
              <a:schemeClr val="bg2"/>
            </a:solidFill>
            <a:miter lim="800000"/>
          </a:ln>
          <a:effectLst/>
        </p:spPr>
        <p:txBody>
          <a:bodyPr lIns="60722" tIns="30361" rIns="60722" bIns="30361" anchor="ctr"/>
          <a:lstStyle/>
          <a:p>
            <a:r>
              <a:rPr lang="en-US" altLang="zh-CN" sz="1400">
                <a:latin typeface="+mj-ea"/>
                <a:ea typeface="+mj-ea"/>
              </a:rPr>
              <a:t>8.</a:t>
            </a:r>
            <a:r>
              <a:rPr lang="zh-CN" altLang="en-US" sz="1400">
                <a:latin typeface="+mj-ea"/>
                <a:ea typeface="+mj-ea"/>
              </a:rPr>
              <a:t>停止洗涤</a:t>
            </a:r>
            <a:endParaRPr lang="zh-CN" altLang="en-US" sz="1400">
              <a:latin typeface="+mj-ea"/>
              <a:ea typeface="+mj-ea"/>
            </a:endParaRPr>
          </a:p>
        </p:txBody>
      </p:sp>
      <p:sp>
        <p:nvSpPr>
          <p:cNvPr id="66571" name="AutoShape 11"/>
          <p:cNvSpPr>
            <a:spLocks noChangeArrowheads="1"/>
          </p:cNvSpPr>
          <p:nvPr/>
        </p:nvSpPr>
        <p:spPr bwMode="auto">
          <a:xfrm>
            <a:off x="1109611" y="2477181"/>
            <a:ext cx="1187275" cy="471826"/>
          </a:xfrm>
          <a:prstGeom prst="wedgeRoundRectCallout">
            <a:avLst>
              <a:gd name="adj1" fmla="val 131745"/>
              <a:gd name="adj2" fmla="val 4611"/>
              <a:gd name="adj3" fmla="val 16667"/>
            </a:avLst>
          </a:prstGeom>
          <a:solidFill>
            <a:schemeClr val="bg1"/>
          </a:solidFill>
          <a:ln w="3175" algn="ctr">
            <a:solidFill>
              <a:schemeClr val="bg2"/>
            </a:solidFill>
            <a:miter lim="800000"/>
          </a:ln>
          <a:effectLst/>
        </p:spPr>
        <p:txBody>
          <a:bodyPr lIns="60722" tIns="30361" rIns="60722" bIns="30361" anchor="ctr"/>
          <a:lstStyle/>
          <a:p>
            <a:r>
              <a:rPr lang="en-US" altLang="zh-CN" sz="1400">
                <a:latin typeface="+mj-ea"/>
                <a:ea typeface="+mj-ea"/>
              </a:rPr>
              <a:t>9.</a:t>
            </a:r>
            <a:r>
              <a:rPr lang="zh-CN" altLang="en-US" sz="1400">
                <a:latin typeface="+mj-ea"/>
                <a:ea typeface="+mj-ea"/>
              </a:rPr>
              <a:t>漂洗定时</a:t>
            </a:r>
            <a:endParaRPr lang="zh-CN" altLang="en-US" sz="1400">
              <a:latin typeface="+mj-ea"/>
              <a:ea typeface="+mj-ea"/>
            </a:endParaRPr>
          </a:p>
        </p:txBody>
      </p:sp>
      <p:sp>
        <p:nvSpPr>
          <p:cNvPr id="66572" name="AutoShape 12"/>
          <p:cNvSpPr>
            <a:spLocks noChangeArrowheads="1"/>
          </p:cNvSpPr>
          <p:nvPr/>
        </p:nvSpPr>
        <p:spPr bwMode="auto">
          <a:xfrm>
            <a:off x="1065846" y="3115017"/>
            <a:ext cx="1187275" cy="471826"/>
          </a:xfrm>
          <a:prstGeom prst="wedgeRoundRectCallout">
            <a:avLst>
              <a:gd name="adj1" fmla="val 158271"/>
              <a:gd name="adj2" fmla="val -66664"/>
              <a:gd name="adj3" fmla="val 16667"/>
            </a:avLst>
          </a:prstGeom>
          <a:solidFill>
            <a:schemeClr val="bg1"/>
          </a:solidFill>
          <a:ln w="3175" algn="ctr">
            <a:solidFill>
              <a:schemeClr val="bg2"/>
            </a:solidFill>
            <a:miter lim="800000"/>
          </a:ln>
          <a:effectLst/>
        </p:spPr>
        <p:txBody>
          <a:bodyPr lIns="60722" tIns="30361" rIns="60722" bIns="30361" anchor="ctr"/>
          <a:lstStyle/>
          <a:p>
            <a:r>
              <a:rPr lang="en-US" altLang="zh-CN" sz="1400">
                <a:latin typeface="+mj-ea"/>
                <a:ea typeface="+mj-ea"/>
              </a:rPr>
              <a:t>10.</a:t>
            </a:r>
            <a:r>
              <a:rPr lang="zh-CN" altLang="en-US" sz="1400">
                <a:latin typeface="+mj-ea"/>
                <a:ea typeface="+mj-ea"/>
              </a:rPr>
              <a:t>注水</a:t>
            </a:r>
            <a:endParaRPr lang="zh-CN" altLang="en-US" sz="1400">
              <a:latin typeface="+mj-ea"/>
              <a:ea typeface="+mj-ea"/>
            </a:endParaRPr>
          </a:p>
        </p:txBody>
      </p:sp>
      <p:sp>
        <p:nvSpPr>
          <p:cNvPr id="66573" name="AutoShape 13"/>
          <p:cNvSpPr>
            <a:spLocks noChangeArrowheads="1"/>
          </p:cNvSpPr>
          <p:nvPr/>
        </p:nvSpPr>
        <p:spPr bwMode="auto">
          <a:xfrm>
            <a:off x="7473576" y="2767013"/>
            <a:ext cx="1533666" cy="548707"/>
          </a:xfrm>
          <a:prstGeom prst="wedgeRoundRectCallout">
            <a:avLst>
              <a:gd name="adj1" fmla="val -132509"/>
              <a:gd name="adj2" fmla="val -559"/>
              <a:gd name="adj3" fmla="val 16667"/>
            </a:avLst>
          </a:prstGeom>
          <a:solidFill>
            <a:schemeClr val="bg1"/>
          </a:solidFill>
          <a:ln w="3175" algn="ctr">
            <a:solidFill>
              <a:schemeClr val="bg2"/>
            </a:solidFill>
            <a:miter lim="800000"/>
          </a:ln>
          <a:effectLst/>
        </p:spPr>
        <p:txBody>
          <a:bodyPr lIns="60722" tIns="30361" rIns="60722" bIns="30361" anchor="ctr"/>
          <a:lstStyle/>
          <a:p>
            <a:r>
              <a:rPr lang="en-US" altLang="zh-CN" sz="1400">
                <a:latin typeface="+mj-ea"/>
                <a:ea typeface="+mj-ea"/>
              </a:rPr>
              <a:t>11</a:t>
            </a:r>
            <a:r>
              <a:rPr lang="zh-CN" altLang="en-US" sz="1400">
                <a:latin typeface="+mj-ea"/>
                <a:ea typeface="+mj-ea"/>
              </a:rPr>
              <a:t>储水</a:t>
            </a:r>
            <a:endParaRPr lang="zh-CN" altLang="en-US" sz="1400">
              <a:latin typeface="+mj-ea"/>
              <a:ea typeface="+mj-ea"/>
            </a:endParaRPr>
          </a:p>
        </p:txBody>
      </p:sp>
      <p:sp>
        <p:nvSpPr>
          <p:cNvPr id="66574" name="AutoShape 14"/>
          <p:cNvSpPr>
            <a:spLocks noChangeArrowheads="1"/>
          </p:cNvSpPr>
          <p:nvPr/>
        </p:nvSpPr>
        <p:spPr bwMode="auto">
          <a:xfrm>
            <a:off x="7498069" y="3331199"/>
            <a:ext cx="1533666" cy="548707"/>
          </a:xfrm>
          <a:prstGeom prst="wedgeRoundRectCallout">
            <a:avLst>
              <a:gd name="adj1" fmla="val -115953"/>
              <a:gd name="adj2" fmla="val -15205"/>
              <a:gd name="adj3" fmla="val 16667"/>
            </a:avLst>
          </a:prstGeom>
          <a:solidFill>
            <a:schemeClr val="bg1"/>
          </a:solidFill>
          <a:ln w="3175" algn="ctr">
            <a:solidFill>
              <a:schemeClr val="bg2"/>
            </a:solidFill>
            <a:miter lim="800000"/>
          </a:ln>
          <a:effectLst/>
        </p:spPr>
        <p:txBody>
          <a:bodyPr lIns="60722" tIns="30361" rIns="60722" bIns="30361" anchor="ctr"/>
          <a:lstStyle/>
          <a:p>
            <a:r>
              <a:rPr lang="en-US" altLang="zh-CN" sz="1400">
                <a:latin typeface="+mj-ea"/>
                <a:ea typeface="+mj-ea"/>
              </a:rPr>
              <a:t>12.</a:t>
            </a:r>
            <a:r>
              <a:rPr lang="zh-CN" altLang="en-US" sz="1400">
                <a:latin typeface="+mj-ea"/>
                <a:ea typeface="+mj-ea"/>
              </a:rPr>
              <a:t>反复旋转洗涤</a:t>
            </a:r>
            <a:endParaRPr lang="zh-CN" altLang="en-US" sz="1400">
              <a:latin typeface="+mj-ea"/>
              <a:ea typeface="+mj-ea"/>
            </a:endParaRPr>
          </a:p>
        </p:txBody>
      </p:sp>
      <p:sp>
        <p:nvSpPr>
          <p:cNvPr id="66575" name="AutoShape 15"/>
          <p:cNvSpPr>
            <a:spLocks noChangeArrowheads="1"/>
          </p:cNvSpPr>
          <p:nvPr/>
        </p:nvSpPr>
        <p:spPr bwMode="auto">
          <a:xfrm>
            <a:off x="1045317" y="3639062"/>
            <a:ext cx="1187275" cy="471826"/>
          </a:xfrm>
          <a:prstGeom prst="wedgeRoundRectCallout">
            <a:avLst>
              <a:gd name="adj1" fmla="val 174500"/>
              <a:gd name="adj2" fmla="val -735"/>
              <a:gd name="adj3" fmla="val 16667"/>
            </a:avLst>
          </a:prstGeom>
          <a:solidFill>
            <a:schemeClr val="bg1"/>
          </a:solidFill>
          <a:ln w="3175" algn="ctr">
            <a:solidFill>
              <a:schemeClr val="bg2"/>
            </a:solidFill>
            <a:miter lim="800000"/>
          </a:ln>
          <a:effectLst/>
        </p:spPr>
        <p:txBody>
          <a:bodyPr lIns="60722" tIns="30361" rIns="60722" bIns="30361" anchor="ctr"/>
          <a:lstStyle/>
          <a:p>
            <a:r>
              <a:rPr lang="en-US" altLang="zh-CN" sz="1400" dirty="0">
                <a:latin typeface="+mj-ea"/>
                <a:ea typeface="+mj-ea"/>
              </a:rPr>
              <a:t>14.</a:t>
            </a:r>
            <a:r>
              <a:rPr lang="zh-CN" altLang="en-US" sz="1400" dirty="0">
                <a:latin typeface="+mj-ea"/>
                <a:ea typeface="+mj-ea"/>
              </a:rPr>
              <a:t>停止漂洗</a:t>
            </a:r>
            <a:endParaRPr lang="zh-CN" altLang="en-US" sz="1400" dirty="0">
              <a:latin typeface="+mj-ea"/>
              <a:ea typeface="+mj-ea"/>
            </a:endParaRPr>
          </a:p>
        </p:txBody>
      </p:sp>
      <p:sp>
        <p:nvSpPr>
          <p:cNvPr id="66576" name="AutoShape 16"/>
          <p:cNvSpPr>
            <a:spLocks noChangeArrowheads="1"/>
          </p:cNvSpPr>
          <p:nvPr/>
        </p:nvSpPr>
        <p:spPr bwMode="auto">
          <a:xfrm>
            <a:off x="7479101" y="3724446"/>
            <a:ext cx="1533666" cy="548707"/>
          </a:xfrm>
          <a:prstGeom prst="wedgeRoundRectCallout">
            <a:avLst>
              <a:gd name="adj1" fmla="val -130451"/>
              <a:gd name="adj2" fmla="val -54445"/>
              <a:gd name="adj3" fmla="val 16667"/>
            </a:avLst>
          </a:prstGeom>
          <a:solidFill>
            <a:schemeClr val="bg1"/>
          </a:solidFill>
          <a:ln w="3175" algn="ctr">
            <a:solidFill>
              <a:schemeClr val="bg2"/>
            </a:solidFill>
            <a:miter lim="800000"/>
          </a:ln>
          <a:effectLst/>
        </p:spPr>
        <p:txBody>
          <a:bodyPr lIns="60722" tIns="30361" rIns="60722" bIns="30361" anchor="ctr"/>
          <a:lstStyle/>
          <a:p>
            <a:r>
              <a:rPr lang="en-US" altLang="zh-CN" sz="1400" dirty="0">
                <a:latin typeface="+mj-ea"/>
                <a:ea typeface="+mj-ea"/>
              </a:rPr>
              <a:t>13.</a:t>
            </a:r>
            <a:r>
              <a:rPr lang="zh-CN" altLang="en-US" sz="1400" dirty="0">
                <a:latin typeface="+mj-ea"/>
                <a:ea typeface="+mj-ea"/>
              </a:rPr>
              <a:t>排脏水</a:t>
            </a:r>
            <a:endParaRPr lang="zh-CN" altLang="en-US" sz="1400" dirty="0">
              <a:latin typeface="+mj-ea"/>
              <a:ea typeface="+mj-ea"/>
            </a:endParaRPr>
          </a:p>
        </p:txBody>
      </p:sp>
      <p:sp>
        <p:nvSpPr>
          <p:cNvPr id="66577" name="AutoShape 17"/>
          <p:cNvSpPr>
            <a:spLocks noChangeArrowheads="1"/>
          </p:cNvSpPr>
          <p:nvPr/>
        </p:nvSpPr>
        <p:spPr bwMode="auto">
          <a:xfrm>
            <a:off x="1024788" y="4137252"/>
            <a:ext cx="1187275" cy="471826"/>
          </a:xfrm>
          <a:prstGeom prst="wedgeRoundRectCallout">
            <a:avLst>
              <a:gd name="adj1" fmla="val 128398"/>
              <a:gd name="adj2" fmla="val -38095"/>
              <a:gd name="adj3" fmla="val 16667"/>
            </a:avLst>
          </a:prstGeom>
          <a:solidFill>
            <a:schemeClr val="bg1"/>
          </a:solidFill>
          <a:ln w="3175" algn="ctr">
            <a:solidFill>
              <a:schemeClr val="bg2"/>
            </a:solidFill>
            <a:miter lim="800000"/>
          </a:ln>
          <a:effectLst/>
        </p:spPr>
        <p:txBody>
          <a:bodyPr lIns="60722" tIns="30361" rIns="60722" bIns="30361" anchor="ctr"/>
          <a:lstStyle/>
          <a:p>
            <a:r>
              <a:rPr lang="en-US" altLang="zh-CN" sz="1400">
                <a:latin typeface="+mj-ea"/>
                <a:ea typeface="+mj-ea"/>
              </a:rPr>
              <a:t>15.</a:t>
            </a:r>
            <a:r>
              <a:rPr lang="zh-CN" altLang="en-US" sz="1400">
                <a:latin typeface="+mj-ea"/>
                <a:ea typeface="+mj-ea"/>
              </a:rPr>
              <a:t>脱水定时</a:t>
            </a:r>
            <a:endParaRPr lang="zh-CN" altLang="en-US" sz="1400">
              <a:latin typeface="+mj-ea"/>
              <a:ea typeface="+mj-ea"/>
            </a:endParaRPr>
          </a:p>
        </p:txBody>
      </p:sp>
      <p:sp>
        <p:nvSpPr>
          <p:cNvPr id="66578" name="AutoShape 18"/>
          <p:cNvSpPr>
            <a:spLocks noChangeArrowheads="1"/>
          </p:cNvSpPr>
          <p:nvPr/>
        </p:nvSpPr>
        <p:spPr bwMode="auto">
          <a:xfrm>
            <a:off x="7479101" y="4328603"/>
            <a:ext cx="1533666" cy="548707"/>
          </a:xfrm>
          <a:prstGeom prst="wedgeRoundRectCallout">
            <a:avLst>
              <a:gd name="adj1" fmla="val -137707"/>
              <a:gd name="adj2" fmla="val -40365"/>
              <a:gd name="adj3" fmla="val 16667"/>
            </a:avLst>
          </a:prstGeom>
          <a:solidFill>
            <a:schemeClr val="bg1"/>
          </a:solidFill>
          <a:ln w="3175" algn="ctr">
            <a:solidFill>
              <a:schemeClr val="bg2"/>
            </a:solidFill>
            <a:miter lim="800000"/>
          </a:ln>
          <a:effectLst/>
        </p:spPr>
        <p:txBody>
          <a:bodyPr lIns="60722" tIns="30361" rIns="60722" bIns="30361" anchor="ctr"/>
          <a:lstStyle/>
          <a:p>
            <a:r>
              <a:rPr lang="en-US" altLang="zh-CN" sz="1400" dirty="0">
                <a:latin typeface="+mj-ea"/>
                <a:ea typeface="+mj-ea"/>
              </a:rPr>
              <a:t>16.</a:t>
            </a:r>
            <a:r>
              <a:rPr lang="zh-CN" altLang="en-US" sz="1400" dirty="0">
                <a:latin typeface="+mj-ea"/>
                <a:ea typeface="+mj-ea"/>
              </a:rPr>
              <a:t>顺时针旋转</a:t>
            </a:r>
            <a:endParaRPr lang="zh-CN" altLang="en-US" sz="1400" dirty="0">
              <a:latin typeface="+mj-ea"/>
              <a:ea typeface="+mj-ea"/>
            </a:endParaRPr>
          </a:p>
        </p:txBody>
      </p:sp>
      <p:sp>
        <p:nvSpPr>
          <p:cNvPr id="66579" name="AutoShape 19"/>
          <p:cNvSpPr>
            <a:spLocks noChangeArrowheads="1"/>
          </p:cNvSpPr>
          <p:nvPr/>
        </p:nvSpPr>
        <p:spPr bwMode="auto">
          <a:xfrm>
            <a:off x="1023257" y="4479729"/>
            <a:ext cx="1187275" cy="471826"/>
          </a:xfrm>
          <a:prstGeom prst="wedgeRoundRectCallout">
            <a:avLst>
              <a:gd name="adj1" fmla="val 156091"/>
              <a:gd name="adj2" fmla="val -6511"/>
              <a:gd name="adj3" fmla="val 16667"/>
            </a:avLst>
          </a:prstGeom>
          <a:solidFill>
            <a:schemeClr val="bg1"/>
          </a:solidFill>
          <a:ln w="3175" algn="ctr">
            <a:solidFill>
              <a:schemeClr val="bg2"/>
            </a:solidFill>
            <a:miter lim="800000"/>
          </a:ln>
          <a:effectLst/>
        </p:spPr>
        <p:txBody>
          <a:bodyPr lIns="60722" tIns="30361" rIns="60722" bIns="30361" anchor="ctr"/>
          <a:lstStyle/>
          <a:p>
            <a:r>
              <a:rPr lang="en-US" altLang="zh-CN" sz="1400">
                <a:latin typeface="+mj-ea"/>
                <a:ea typeface="+mj-ea"/>
              </a:rPr>
              <a:t>17.</a:t>
            </a:r>
            <a:r>
              <a:rPr lang="zh-CN" altLang="en-US" sz="1400">
                <a:latin typeface="+mj-ea"/>
                <a:ea typeface="+mj-ea"/>
              </a:rPr>
              <a:t>停止脱水</a:t>
            </a:r>
            <a:endParaRPr lang="zh-CN" altLang="en-US" sz="1400">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563"/>
                                        </p:tgtEl>
                                        <p:attrNameLst>
                                          <p:attrName>style.visibility</p:attrName>
                                        </p:attrNameLst>
                                      </p:cBhvr>
                                      <p:to>
                                        <p:strVal val="visible"/>
                                      </p:to>
                                    </p:set>
                                  </p:childTnLst>
                                  <p:subTnLst>
                                    <p:set>
                                      <p:cBhvr override="childStyle">
                                        <p:cTn dur="1" fill="hold" display="0" masterRel="nextClick" afterEffect="1"/>
                                        <p:tgtEl>
                                          <p:spTgt spid="66563"/>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564"/>
                                        </p:tgtEl>
                                        <p:attrNameLst>
                                          <p:attrName>style.visibility</p:attrName>
                                        </p:attrNameLst>
                                      </p:cBhvr>
                                      <p:to>
                                        <p:strVal val="visible"/>
                                      </p:to>
                                    </p:set>
                                  </p:childTnLst>
                                  <p:subTnLst>
                                    <p:set>
                                      <p:cBhvr override="childStyle">
                                        <p:cTn dur="1" fill="hold" display="0" masterRel="nextClick" afterEffect="1"/>
                                        <p:tgtEl>
                                          <p:spTgt spid="66564"/>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6565"/>
                                        </p:tgtEl>
                                        <p:attrNameLst>
                                          <p:attrName>style.visibility</p:attrName>
                                        </p:attrNameLst>
                                      </p:cBhvr>
                                      <p:to>
                                        <p:strVal val="visible"/>
                                      </p:to>
                                    </p:set>
                                  </p:childTnLst>
                                  <p:subTnLst>
                                    <p:set>
                                      <p:cBhvr override="childStyle">
                                        <p:cTn dur="1" fill="hold" display="0" masterRel="nextClick" afterEffect="1"/>
                                        <p:tgtEl>
                                          <p:spTgt spid="66565"/>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6566"/>
                                        </p:tgtEl>
                                        <p:attrNameLst>
                                          <p:attrName>style.visibility</p:attrName>
                                        </p:attrNameLst>
                                      </p:cBhvr>
                                      <p:to>
                                        <p:strVal val="visible"/>
                                      </p:to>
                                    </p:set>
                                  </p:childTnLst>
                                  <p:subTnLst>
                                    <p:set>
                                      <p:cBhvr override="childStyle">
                                        <p:cTn dur="1" fill="hold" display="0" masterRel="nextClick" afterEffect="1"/>
                                        <p:tgtEl>
                                          <p:spTgt spid="66566"/>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6567"/>
                                        </p:tgtEl>
                                        <p:attrNameLst>
                                          <p:attrName>style.visibility</p:attrName>
                                        </p:attrNameLst>
                                      </p:cBhvr>
                                      <p:to>
                                        <p:strVal val="visible"/>
                                      </p:to>
                                    </p:set>
                                  </p:childTnLst>
                                  <p:subTnLst>
                                    <p:set>
                                      <p:cBhvr override="childStyle">
                                        <p:cTn dur="1" fill="hold" display="0" masterRel="nextClick" afterEffect="1"/>
                                        <p:tgtEl>
                                          <p:spTgt spid="66567"/>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6568"/>
                                        </p:tgtEl>
                                        <p:attrNameLst>
                                          <p:attrName>style.visibility</p:attrName>
                                        </p:attrNameLst>
                                      </p:cBhvr>
                                      <p:to>
                                        <p:strVal val="visible"/>
                                      </p:to>
                                    </p:set>
                                  </p:childTnLst>
                                  <p:subTnLst>
                                    <p:set>
                                      <p:cBhvr override="childStyle">
                                        <p:cTn dur="1" fill="hold" display="0" masterRel="nextClick" afterEffect="1"/>
                                        <p:tgtEl>
                                          <p:spTgt spid="66568"/>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6569"/>
                                        </p:tgtEl>
                                        <p:attrNameLst>
                                          <p:attrName>style.visibility</p:attrName>
                                        </p:attrNameLst>
                                      </p:cBhvr>
                                      <p:to>
                                        <p:strVal val="visible"/>
                                      </p:to>
                                    </p:set>
                                  </p:childTnLst>
                                  <p:subTnLst>
                                    <p:set>
                                      <p:cBhvr override="childStyle">
                                        <p:cTn dur="1" fill="hold" display="0" masterRel="nextClick" afterEffect="1"/>
                                        <p:tgtEl>
                                          <p:spTgt spid="66569"/>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6570"/>
                                        </p:tgtEl>
                                        <p:attrNameLst>
                                          <p:attrName>style.visibility</p:attrName>
                                        </p:attrNameLst>
                                      </p:cBhvr>
                                      <p:to>
                                        <p:strVal val="visible"/>
                                      </p:to>
                                    </p:set>
                                  </p:childTnLst>
                                  <p:subTnLst>
                                    <p:set>
                                      <p:cBhvr override="childStyle">
                                        <p:cTn dur="1" fill="hold" display="0" masterRel="nextClick" afterEffect="1"/>
                                        <p:tgtEl>
                                          <p:spTgt spid="66570"/>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6571"/>
                                        </p:tgtEl>
                                        <p:attrNameLst>
                                          <p:attrName>style.visibility</p:attrName>
                                        </p:attrNameLst>
                                      </p:cBhvr>
                                      <p:to>
                                        <p:strVal val="visible"/>
                                      </p:to>
                                    </p:set>
                                  </p:childTnLst>
                                  <p:subTnLst>
                                    <p:set>
                                      <p:cBhvr override="childStyle">
                                        <p:cTn dur="1" fill="hold" display="0" masterRel="nextClick" afterEffect="1"/>
                                        <p:tgtEl>
                                          <p:spTgt spid="66571"/>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6572"/>
                                        </p:tgtEl>
                                        <p:attrNameLst>
                                          <p:attrName>style.visibility</p:attrName>
                                        </p:attrNameLst>
                                      </p:cBhvr>
                                      <p:to>
                                        <p:strVal val="visible"/>
                                      </p:to>
                                    </p:set>
                                  </p:childTnLst>
                                  <p:subTnLst>
                                    <p:set>
                                      <p:cBhvr override="childStyle">
                                        <p:cTn dur="1" fill="hold" display="0" masterRel="nextClick" afterEffect="1"/>
                                        <p:tgtEl>
                                          <p:spTgt spid="66572"/>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6573"/>
                                        </p:tgtEl>
                                        <p:attrNameLst>
                                          <p:attrName>style.visibility</p:attrName>
                                        </p:attrNameLst>
                                      </p:cBhvr>
                                      <p:to>
                                        <p:strVal val="visible"/>
                                      </p:to>
                                    </p:set>
                                  </p:childTnLst>
                                  <p:subTnLst>
                                    <p:set>
                                      <p:cBhvr override="childStyle">
                                        <p:cTn dur="1" fill="hold" display="0" masterRel="nextClick" afterEffect="1"/>
                                        <p:tgtEl>
                                          <p:spTgt spid="66573"/>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6574"/>
                                        </p:tgtEl>
                                        <p:attrNameLst>
                                          <p:attrName>style.visibility</p:attrName>
                                        </p:attrNameLst>
                                      </p:cBhvr>
                                      <p:to>
                                        <p:strVal val="visible"/>
                                      </p:to>
                                    </p:set>
                                  </p:childTnLst>
                                  <p:subTnLst>
                                    <p:set>
                                      <p:cBhvr override="childStyle">
                                        <p:cTn dur="1" fill="hold" display="0" masterRel="nextClick" afterEffect="1"/>
                                        <p:tgtEl>
                                          <p:spTgt spid="66574"/>
                                        </p:tgtEl>
                                        <p:attrNameLst>
                                          <p:attrName>style.visibility</p:attrName>
                                        </p:attrNameLst>
                                      </p:cBhvr>
                                      <p:to>
                                        <p:strVal val="hidden"/>
                                      </p:to>
                                    </p:set>
                                  </p:sub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6576"/>
                                        </p:tgtEl>
                                        <p:attrNameLst>
                                          <p:attrName>style.visibility</p:attrName>
                                        </p:attrNameLst>
                                      </p:cBhvr>
                                      <p:to>
                                        <p:strVal val="visible"/>
                                      </p:to>
                                    </p:set>
                                  </p:childTnLst>
                                  <p:subTnLst>
                                    <p:set>
                                      <p:cBhvr override="childStyle">
                                        <p:cTn dur="1" fill="hold" display="0" masterRel="nextClick" afterEffect="1"/>
                                        <p:tgtEl>
                                          <p:spTgt spid="66576"/>
                                        </p:tgtEl>
                                        <p:attrNameLst>
                                          <p:attrName>style.visibility</p:attrName>
                                        </p:attrNameLst>
                                      </p:cBhvr>
                                      <p:to>
                                        <p:strVal val="hidden"/>
                                      </p:to>
                                    </p:set>
                                  </p:sub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6575"/>
                                        </p:tgtEl>
                                        <p:attrNameLst>
                                          <p:attrName>style.visibility</p:attrName>
                                        </p:attrNameLst>
                                      </p:cBhvr>
                                      <p:to>
                                        <p:strVal val="visible"/>
                                      </p:to>
                                    </p:set>
                                  </p:childTnLst>
                                  <p:subTnLst>
                                    <p:set>
                                      <p:cBhvr override="childStyle">
                                        <p:cTn dur="1" fill="hold" display="0" masterRel="nextClick" afterEffect="1"/>
                                        <p:tgtEl>
                                          <p:spTgt spid="66575"/>
                                        </p:tgtEl>
                                        <p:attrNameLst>
                                          <p:attrName>style.visibility</p:attrName>
                                        </p:attrNameLst>
                                      </p:cBhvr>
                                      <p:to>
                                        <p:strVal val="hidden"/>
                                      </p:to>
                                    </p:set>
                                  </p:sub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6577"/>
                                        </p:tgtEl>
                                        <p:attrNameLst>
                                          <p:attrName>style.visibility</p:attrName>
                                        </p:attrNameLst>
                                      </p:cBhvr>
                                      <p:to>
                                        <p:strVal val="visible"/>
                                      </p:to>
                                    </p:set>
                                  </p:childTnLst>
                                  <p:subTnLst>
                                    <p:set>
                                      <p:cBhvr override="childStyle">
                                        <p:cTn dur="1" fill="hold" display="0" masterRel="nextClick" afterEffect="1"/>
                                        <p:tgtEl>
                                          <p:spTgt spid="66577"/>
                                        </p:tgtEl>
                                        <p:attrNameLst>
                                          <p:attrName>style.visibility</p:attrName>
                                        </p:attrNameLst>
                                      </p:cBhvr>
                                      <p:to>
                                        <p:strVal val="hidden"/>
                                      </p:to>
                                    </p:set>
                                  </p:sub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6578"/>
                                        </p:tgtEl>
                                        <p:attrNameLst>
                                          <p:attrName>style.visibility</p:attrName>
                                        </p:attrNameLst>
                                      </p:cBhvr>
                                      <p:to>
                                        <p:strVal val="visible"/>
                                      </p:to>
                                    </p:set>
                                  </p:childTnLst>
                                  <p:subTnLst>
                                    <p:set>
                                      <p:cBhvr override="childStyle">
                                        <p:cTn dur="1" fill="hold" display="0" masterRel="nextClick" afterEffect="1"/>
                                        <p:tgtEl>
                                          <p:spTgt spid="66578"/>
                                        </p:tgtEl>
                                        <p:attrNameLst>
                                          <p:attrName>style.visibility</p:attrName>
                                        </p:attrNameLst>
                                      </p:cBhvr>
                                      <p:to>
                                        <p:strVal val="hidden"/>
                                      </p:to>
                                    </p:set>
                                  </p:sub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66579"/>
                                        </p:tgtEl>
                                        <p:attrNameLst>
                                          <p:attrName>style.visibility</p:attrName>
                                        </p:attrNameLst>
                                      </p:cBhvr>
                                      <p:to>
                                        <p:strVal val="visible"/>
                                      </p:to>
                                    </p:set>
                                  </p:childTnLst>
                                  <p:subTnLst>
                                    <p:set>
                                      <p:cBhvr override="childStyle">
                                        <p:cTn dur="1" fill="hold" display="0" masterRel="nextClick" afterEffect="1"/>
                                        <p:tgtEl>
                                          <p:spTgt spid="6657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ldLvl="0" animBg="1"/>
      <p:bldP spid="66564" grpId="0" bldLvl="0" animBg="1"/>
      <p:bldP spid="66565" grpId="0" bldLvl="0" animBg="1"/>
      <p:bldP spid="66566" grpId="0" bldLvl="0" animBg="1"/>
      <p:bldP spid="66567" grpId="0" bldLvl="0" animBg="1"/>
      <p:bldP spid="66568" grpId="0" bldLvl="0" animBg="1"/>
      <p:bldP spid="66569" grpId="0" bldLvl="0" animBg="1"/>
      <p:bldP spid="66570" grpId="0" bldLvl="0" animBg="1"/>
      <p:bldP spid="66571" grpId="0" bldLvl="0" animBg="1"/>
      <p:bldP spid="66572" grpId="0" bldLvl="0" animBg="1"/>
      <p:bldP spid="66573" grpId="0" bldLvl="0" animBg="1"/>
      <p:bldP spid="66574" grpId="0" bldLvl="0" animBg="1"/>
      <p:bldP spid="66575" grpId="0" bldLvl="0" animBg="1"/>
      <p:bldP spid="66576" grpId="0" bldLvl="0" animBg="1"/>
      <p:bldP spid="66577" grpId="0" bldLvl="0" animBg="1"/>
      <p:bldP spid="66578" grpId="0" bldLvl="0" animBg="1"/>
      <p:bldP spid="66579" grpId="0" bldLvl="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altLang="zh-CN" dirty="0"/>
              <a:t>8. </a:t>
            </a:r>
            <a:r>
              <a:rPr lang="zh-CN" altLang="en-US" dirty="0"/>
              <a:t>协作图</a:t>
            </a:r>
            <a:endParaRPr lang="zh-CN" altLang="en-US" dirty="0"/>
          </a:p>
        </p:txBody>
      </p:sp>
      <p:sp>
        <p:nvSpPr>
          <p:cNvPr id="68611" name="Rectangle 3"/>
          <p:cNvSpPr>
            <a:spLocks noGrp="1" noChangeArrowheads="1"/>
          </p:cNvSpPr>
          <p:nvPr>
            <p:ph idx="1"/>
          </p:nvPr>
        </p:nvSpPr>
        <p:spPr/>
        <p:txBody>
          <a:bodyPr>
            <a:normAutofit/>
          </a:bodyPr>
          <a:lstStyle/>
          <a:p>
            <a:pPr marL="342900" indent="-342900">
              <a:spcBef>
                <a:spcPts val="600"/>
              </a:spcBef>
            </a:pPr>
            <a:r>
              <a:rPr lang="zh-CN" altLang="en-US" sz="2000" b="1" dirty="0">
                <a:latin typeface="+mn-ea"/>
              </a:rPr>
              <a:t>协作图又称为通信图，</a:t>
            </a:r>
            <a:r>
              <a:rPr lang="zh-CN" altLang="en-US" sz="2000" dirty="0">
                <a:latin typeface="+mn-ea"/>
              </a:rPr>
              <a:t>通过对象之间的连接和它们相互发送的消息来显示参与交互的对象。</a:t>
            </a:r>
            <a:endParaRPr lang="en-US" altLang="zh-CN" sz="2000" dirty="0">
              <a:latin typeface="+mn-ea"/>
            </a:endParaRPr>
          </a:p>
          <a:p>
            <a:pPr marL="342900" indent="-342900">
              <a:spcBef>
                <a:spcPts val="600"/>
              </a:spcBef>
            </a:pPr>
            <a:r>
              <a:rPr lang="zh-CN" altLang="en-US" sz="2000" dirty="0">
                <a:latin typeface="+mn-ea"/>
              </a:rPr>
              <a:t>协作图与顺序图都是表现对象之间的交互和协作的，但侧重点不同：顺序图着重在交互的时间顺序上。协作图没有时间维度，着重在交互对象的空间链接上。</a:t>
            </a:r>
            <a:endParaRPr lang="en-US" altLang="zh-CN" sz="2000" dirty="0">
              <a:latin typeface="+mn-ea"/>
            </a:endParaRPr>
          </a:p>
          <a:p>
            <a:pPr marL="342900" indent="-342900">
              <a:spcBef>
                <a:spcPts val="600"/>
              </a:spcBef>
            </a:pPr>
            <a:r>
              <a:rPr lang="zh-CN" altLang="en-US" sz="2000" dirty="0">
                <a:solidFill>
                  <a:srgbClr val="FF0000"/>
                </a:solidFill>
                <a:latin typeface="+mn-ea"/>
              </a:rPr>
              <a:t>特点：紧凑</a:t>
            </a:r>
            <a:endParaRPr lang="zh-CN" altLang="en-US" sz="2000" dirty="0">
              <a:solidFill>
                <a:srgbClr val="FF0000"/>
              </a:solidFill>
              <a:latin typeface="+mn-ea"/>
            </a:endParaRPr>
          </a:p>
          <a:p>
            <a:pPr marL="342900" indent="-342900">
              <a:spcBef>
                <a:spcPts val="600"/>
              </a:spcBef>
            </a:pPr>
            <a:endParaRPr lang="en-US" altLang="zh-CN" sz="2000" dirty="0">
              <a:latin typeface="+mn-ea"/>
            </a:endParaRPr>
          </a:p>
        </p:txBody>
      </p:sp>
      <p:sp>
        <p:nvSpPr>
          <p:cNvPr id="6" name="日期占位符 5"/>
          <p:cNvSpPr>
            <a:spLocks noGrp="1"/>
          </p:cNvSpPr>
          <p:nvPr>
            <p:ph type="dt" sz="half" idx="10"/>
          </p:nvPr>
        </p:nvSpPr>
        <p:spPr/>
        <p:txBody>
          <a:bodyPr/>
          <a:lstStyle/>
          <a:p>
            <a:fld id="{B6DE2DCC-E676-4D10-BCEB-2321ABFE2B72}"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grpSp>
        <p:nvGrpSpPr>
          <p:cNvPr id="2" name="Group 4"/>
          <p:cNvGrpSpPr>
            <a:grpSpLocks noChangeAspect="1"/>
          </p:cNvGrpSpPr>
          <p:nvPr/>
        </p:nvGrpSpPr>
        <p:grpSpPr bwMode="auto">
          <a:xfrm>
            <a:off x="2313996" y="2204431"/>
            <a:ext cx="4516365" cy="2854337"/>
            <a:chOff x="1791" y="1344"/>
            <a:chExt cx="2077" cy="1313"/>
          </a:xfrm>
        </p:grpSpPr>
        <p:sp>
          <p:nvSpPr>
            <p:cNvPr id="68613" name="AutoShape 5"/>
            <p:cNvSpPr>
              <a:spLocks noChangeAspect="1" noChangeArrowheads="1" noTextEdit="1"/>
            </p:cNvSpPr>
            <p:nvPr/>
          </p:nvSpPr>
          <p:spPr bwMode="auto">
            <a:xfrm>
              <a:off x="1791" y="1344"/>
              <a:ext cx="2077" cy="1313"/>
            </a:xfrm>
            <a:prstGeom prst="rect">
              <a:avLst/>
            </a:prstGeom>
            <a:noFill/>
            <a:ln w="9525">
              <a:noFill/>
              <a:miter lim="800000"/>
            </a:ln>
          </p:spPr>
          <p:txBody>
            <a:bodyPr/>
            <a:lstStyle/>
            <a:p>
              <a:endParaRPr lang="zh-CN" altLang="en-US" sz="1015"/>
            </a:p>
          </p:txBody>
        </p:sp>
        <p:sp>
          <p:nvSpPr>
            <p:cNvPr id="68614" name="Oval 6"/>
            <p:cNvSpPr>
              <a:spLocks noChangeArrowheads="1"/>
            </p:cNvSpPr>
            <p:nvPr/>
          </p:nvSpPr>
          <p:spPr bwMode="auto">
            <a:xfrm>
              <a:off x="2202" y="1954"/>
              <a:ext cx="128" cy="121"/>
            </a:xfrm>
            <a:prstGeom prst="ellipse">
              <a:avLst/>
            </a:prstGeom>
            <a:noFill/>
            <a:ln w="0">
              <a:solidFill>
                <a:srgbClr val="990033"/>
              </a:solidFill>
              <a:round/>
            </a:ln>
          </p:spPr>
          <p:txBody>
            <a:bodyPr/>
            <a:lstStyle/>
            <a:p>
              <a:endParaRPr lang="zh-CN" altLang="en-US" sz="1015"/>
            </a:p>
          </p:txBody>
        </p:sp>
        <p:sp>
          <p:nvSpPr>
            <p:cNvPr id="68615" name="Line 7"/>
            <p:cNvSpPr>
              <a:spLocks noChangeShapeType="1"/>
            </p:cNvSpPr>
            <p:nvPr/>
          </p:nvSpPr>
          <p:spPr bwMode="auto">
            <a:xfrm>
              <a:off x="2259" y="2068"/>
              <a:ext cx="1" cy="113"/>
            </a:xfrm>
            <a:prstGeom prst="line">
              <a:avLst/>
            </a:prstGeom>
            <a:noFill/>
            <a:ln w="0">
              <a:solidFill>
                <a:srgbClr val="990033"/>
              </a:solidFill>
              <a:round/>
            </a:ln>
          </p:spPr>
          <p:txBody>
            <a:bodyPr/>
            <a:lstStyle/>
            <a:p>
              <a:endParaRPr lang="zh-CN" altLang="en-US" sz="1015"/>
            </a:p>
          </p:txBody>
        </p:sp>
        <p:sp>
          <p:nvSpPr>
            <p:cNvPr id="68616" name="Line 8"/>
            <p:cNvSpPr>
              <a:spLocks noChangeShapeType="1"/>
            </p:cNvSpPr>
            <p:nvPr/>
          </p:nvSpPr>
          <p:spPr bwMode="auto">
            <a:xfrm>
              <a:off x="2160" y="2103"/>
              <a:ext cx="191" cy="1"/>
            </a:xfrm>
            <a:prstGeom prst="line">
              <a:avLst/>
            </a:prstGeom>
            <a:noFill/>
            <a:ln w="0">
              <a:solidFill>
                <a:srgbClr val="990033"/>
              </a:solidFill>
              <a:round/>
            </a:ln>
          </p:spPr>
          <p:txBody>
            <a:bodyPr/>
            <a:lstStyle/>
            <a:p>
              <a:endParaRPr lang="zh-CN" altLang="en-US" sz="1015"/>
            </a:p>
          </p:txBody>
        </p:sp>
        <p:sp>
          <p:nvSpPr>
            <p:cNvPr id="68617" name="Freeform 9"/>
            <p:cNvSpPr/>
            <p:nvPr/>
          </p:nvSpPr>
          <p:spPr bwMode="auto">
            <a:xfrm>
              <a:off x="2124" y="2181"/>
              <a:ext cx="262" cy="128"/>
            </a:xfrm>
            <a:custGeom>
              <a:avLst/>
              <a:gdLst/>
              <a:ahLst/>
              <a:cxnLst>
                <a:cxn ang="0">
                  <a:pos x="0" y="18"/>
                </a:cxn>
                <a:cxn ang="0">
                  <a:pos x="19" y="0"/>
                </a:cxn>
                <a:cxn ang="0">
                  <a:pos x="37" y="18"/>
                </a:cxn>
              </a:cxnLst>
              <a:rect l="0" t="0" r="r" b="b"/>
              <a:pathLst>
                <a:path w="37" h="18">
                  <a:moveTo>
                    <a:pt x="0" y="18"/>
                  </a:moveTo>
                  <a:lnTo>
                    <a:pt x="19" y="0"/>
                  </a:lnTo>
                  <a:lnTo>
                    <a:pt x="37" y="18"/>
                  </a:lnTo>
                </a:path>
              </a:pathLst>
            </a:custGeom>
            <a:noFill/>
            <a:ln w="0">
              <a:solidFill>
                <a:srgbClr val="990033"/>
              </a:solidFill>
              <a:prstDash val="solid"/>
              <a:round/>
            </a:ln>
          </p:spPr>
          <p:txBody>
            <a:bodyPr/>
            <a:lstStyle/>
            <a:p>
              <a:endParaRPr lang="zh-CN" altLang="en-US" sz="1015"/>
            </a:p>
          </p:txBody>
        </p:sp>
        <p:sp>
          <p:nvSpPr>
            <p:cNvPr id="68618" name="Rectangle 10"/>
            <p:cNvSpPr>
              <a:spLocks noChangeArrowheads="1"/>
            </p:cNvSpPr>
            <p:nvPr/>
          </p:nvSpPr>
          <p:spPr bwMode="auto">
            <a:xfrm>
              <a:off x="2103" y="2387"/>
              <a:ext cx="307" cy="96"/>
            </a:xfrm>
            <a:prstGeom prst="rect">
              <a:avLst/>
            </a:prstGeom>
            <a:noFill/>
            <a:ln w="9525">
              <a:noFill/>
              <a:miter lim="800000"/>
            </a:ln>
          </p:spPr>
          <p:txBody>
            <a:bodyPr wrap="none" lIns="0" tIns="0" rIns="0" bIns="0">
              <a:spAutoFit/>
            </a:bodyPr>
            <a:lstStyle/>
            <a:p>
              <a:pPr algn="l" eaLnBrk="1" hangingPunct="1"/>
              <a:r>
                <a:rPr lang="en-US" altLang="zh-CN" sz="1125" u="sng">
                  <a:solidFill>
                    <a:srgbClr val="000000"/>
                  </a:solidFill>
                  <a:latin typeface="Arial" panose="020B0604020202020204" pitchFamily="34" charset="0"/>
                </a:rPr>
                <a:t> : </a:t>
              </a:r>
              <a:r>
                <a:rPr lang="zh-CN" altLang="en-US" sz="1125" u="sng">
                  <a:solidFill>
                    <a:srgbClr val="000000"/>
                  </a:solidFill>
                  <a:latin typeface="Arial" panose="020B0604020202020204" pitchFamily="34" charset="0"/>
                </a:rPr>
                <a:t>活动者</a:t>
              </a:r>
              <a:endParaRPr lang="zh-CN" altLang="en-US" sz="1125">
                <a:latin typeface="Arial" panose="020B0604020202020204" pitchFamily="34" charset="0"/>
              </a:endParaRPr>
            </a:p>
          </p:txBody>
        </p:sp>
        <p:sp>
          <p:nvSpPr>
            <p:cNvPr id="68619" name="Rectangle 11"/>
            <p:cNvSpPr>
              <a:spLocks noChangeArrowheads="1"/>
            </p:cNvSpPr>
            <p:nvPr/>
          </p:nvSpPr>
          <p:spPr bwMode="auto">
            <a:xfrm>
              <a:off x="3358" y="1997"/>
              <a:ext cx="411" cy="263"/>
            </a:xfrm>
            <a:prstGeom prst="rect">
              <a:avLst/>
            </a:prstGeom>
            <a:solidFill>
              <a:srgbClr val="FFFFCC"/>
            </a:solidFill>
            <a:ln w="0">
              <a:solidFill>
                <a:srgbClr val="990033"/>
              </a:solidFill>
              <a:miter lim="800000"/>
            </a:ln>
          </p:spPr>
          <p:txBody>
            <a:bodyPr/>
            <a:lstStyle/>
            <a:p>
              <a:endParaRPr lang="zh-CN" altLang="en-US" sz="1015"/>
            </a:p>
          </p:txBody>
        </p:sp>
        <p:sp>
          <p:nvSpPr>
            <p:cNvPr id="68620" name="Rectangle 12"/>
            <p:cNvSpPr>
              <a:spLocks noChangeArrowheads="1"/>
            </p:cNvSpPr>
            <p:nvPr/>
          </p:nvSpPr>
          <p:spPr bwMode="auto">
            <a:xfrm>
              <a:off x="3436" y="2018"/>
              <a:ext cx="256" cy="103"/>
            </a:xfrm>
            <a:prstGeom prst="rect">
              <a:avLst/>
            </a:prstGeom>
            <a:noFill/>
            <a:ln w="9525">
              <a:noFill/>
              <a:miter lim="800000"/>
            </a:ln>
          </p:spPr>
          <p:txBody>
            <a:bodyPr wrap="none" lIns="0" tIns="0" rIns="0" bIns="0">
              <a:spAutoFit/>
            </a:bodyPr>
            <a:lstStyle/>
            <a:p>
              <a:pPr algn="l" eaLnBrk="1" hangingPunct="1"/>
              <a:r>
                <a:rPr lang="zh-CN" altLang="en-US" sz="1200" u="sng" dirty="0">
                  <a:solidFill>
                    <a:srgbClr val="000000"/>
                  </a:solidFill>
                  <a:latin typeface="Arial" panose="020B0604020202020204" pitchFamily="34" charset="0"/>
                </a:rPr>
                <a:t>对象类</a:t>
              </a:r>
              <a:endParaRPr lang="zh-CN" altLang="en-US" sz="2400" dirty="0">
                <a:latin typeface="Arial" panose="020B0604020202020204" pitchFamily="34" charset="0"/>
              </a:endParaRPr>
            </a:p>
          </p:txBody>
        </p:sp>
        <p:sp>
          <p:nvSpPr>
            <p:cNvPr id="68621" name="Line 13"/>
            <p:cNvSpPr>
              <a:spLocks noChangeShapeType="1"/>
            </p:cNvSpPr>
            <p:nvPr/>
          </p:nvSpPr>
          <p:spPr bwMode="auto">
            <a:xfrm>
              <a:off x="2386" y="2132"/>
              <a:ext cx="972" cy="1"/>
            </a:xfrm>
            <a:prstGeom prst="line">
              <a:avLst/>
            </a:prstGeom>
            <a:noFill/>
            <a:ln w="0">
              <a:solidFill>
                <a:srgbClr val="990033"/>
              </a:solidFill>
              <a:round/>
            </a:ln>
          </p:spPr>
          <p:txBody>
            <a:bodyPr/>
            <a:lstStyle/>
            <a:p>
              <a:endParaRPr lang="zh-CN" altLang="en-US" sz="1015"/>
            </a:p>
          </p:txBody>
        </p:sp>
        <p:sp>
          <p:nvSpPr>
            <p:cNvPr id="68622" name="Arc 14"/>
            <p:cNvSpPr/>
            <p:nvPr/>
          </p:nvSpPr>
          <p:spPr bwMode="auto">
            <a:xfrm>
              <a:off x="3436" y="1656"/>
              <a:ext cx="255" cy="339"/>
            </a:xfrm>
            <a:custGeom>
              <a:avLst/>
              <a:gdLst>
                <a:gd name="G0" fmla="+- 21600 0 0"/>
                <a:gd name="G1" fmla="+- 21600 0 0"/>
                <a:gd name="G2" fmla="+- 21600 0 0"/>
                <a:gd name="T0" fmla="*/ 705 w 43200"/>
                <a:gd name="T1" fmla="*/ 27073 h 27113"/>
                <a:gd name="T2" fmla="*/ 42484 w 43200"/>
                <a:gd name="T3" fmla="*/ 27113 h 27113"/>
                <a:gd name="T4" fmla="*/ 21600 w 43200"/>
                <a:gd name="T5" fmla="*/ 21600 h 27113"/>
              </a:gdLst>
              <a:ahLst/>
              <a:cxnLst>
                <a:cxn ang="0">
                  <a:pos x="T0" y="T1"/>
                </a:cxn>
                <a:cxn ang="0">
                  <a:pos x="T2" y="T3"/>
                </a:cxn>
                <a:cxn ang="0">
                  <a:pos x="T4" y="T5"/>
                </a:cxn>
              </a:cxnLst>
              <a:rect l="0" t="0" r="r" b="b"/>
              <a:pathLst>
                <a:path w="43200" h="27113" fill="none" extrusionOk="0">
                  <a:moveTo>
                    <a:pt x="704" y="27073"/>
                  </a:moveTo>
                  <a:cubicBezTo>
                    <a:pt x="236" y="25286"/>
                    <a:pt x="0" y="23446"/>
                    <a:pt x="0" y="21600"/>
                  </a:cubicBezTo>
                  <a:cubicBezTo>
                    <a:pt x="0" y="9670"/>
                    <a:pt x="9670" y="0"/>
                    <a:pt x="21600" y="0"/>
                  </a:cubicBezTo>
                  <a:cubicBezTo>
                    <a:pt x="33529" y="0"/>
                    <a:pt x="43200" y="9670"/>
                    <a:pt x="43200" y="21600"/>
                  </a:cubicBezTo>
                  <a:cubicBezTo>
                    <a:pt x="43200" y="23460"/>
                    <a:pt x="42959" y="25313"/>
                    <a:pt x="42484" y="27113"/>
                  </a:cubicBezTo>
                </a:path>
                <a:path w="43200" h="27113" stroke="0" extrusionOk="0">
                  <a:moveTo>
                    <a:pt x="704" y="27073"/>
                  </a:moveTo>
                  <a:cubicBezTo>
                    <a:pt x="236" y="25286"/>
                    <a:pt x="0" y="23446"/>
                    <a:pt x="0" y="21600"/>
                  </a:cubicBezTo>
                  <a:cubicBezTo>
                    <a:pt x="0" y="9670"/>
                    <a:pt x="9670" y="0"/>
                    <a:pt x="21600" y="0"/>
                  </a:cubicBezTo>
                  <a:cubicBezTo>
                    <a:pt x="33529" y="0"/>
                    <a:pt x="43200" y="9670"/>
                    <a:pt x="43200" y="21600"/>
                  </a:cubicBezTo>
                  <a:cubicBezTo>
                    <a:pt x="43200" y="23460"/>
                    <a:pt x="42959" y="25313"/>
                    <a:pt x="42484" y="27113"/>
                  </a:cubicBezTo>
                  <a:lnTo>
                    <a:pt x="21600" y="21600"/>
                  </a:lnTo>
                  <a:close/>
                </a:path>
              </a:pathLst>
            </a:custGeom>
            <a:noFill/>
            <a:ln w="0">
              <a:solidFill>
                <a:srgbClr val="990033"/>
              </a:solidFill>
              <a:round/>
            </a:ln>
          </p:spPr>
          <p:txBody>
            <a:bodyPr/>
            <a:lstStyle/>
            <a:p>
              <a:endParaRPr lang="zh-CN" altLang="en-US" sz="1015"/>
            </a:p>
          </p:txBody>
        </p:sp>
        <p:sp>
          <p:nvSpPr>
            <p:cNvPr id="68623" name="Line 15"/>
            <p:cNvSpPr>
              <a:spLocks noChangeShapeType="1"/>
            </p:cNvSpPr>
            <p:nvPr/>
          </p:nvSpPr>
          <p:spPr bwMode="auto">
            <a:xfrm>
              <a:off x="2734" y="2025"/>
              <a:ext cx="276" cy="1"/>
            </a:xfrm>
            <a:prstGeom prst="line">
              <a:avLst/>
            </a:prstGeom>
            <a:noFill/>
            <a:ln w="0">
              <a:solidFill>
                <a:srgbClr val="990033"/>
              </a:solidFill>
              <a:round/>
            </a:ln>
          </p:spPr>
          <p:txBody>
            <a:bodyPr/>
            <a:lstStyle/>
            <a:p>
              <a:endParaRPr lang="zh-CN" altLang="en-US" sz="1015"/>
            </a:p>
          </p:txBody>
        </p:sp>
        <p:sp>
          <p:nvSpPr>
            <p:cNvPr id="68624" name="Line 16"/>
            <p:cNvSpPr>
              <a:spLocks noChangeShapeType="1"/>
            </p:cNvSpPr>
            <p:nvPr/>
          </p:nvSpPr>
          <p:spPr bwMode="auto">
            <a:xfrm flipH="1">
              <a:off x="2925" y="2025"/>
              <a:ext cx="85" cy="36"/>
            </a:xfrm>
            <a:prstGeom prst="line">
              <a:avLst/>
            </a:prstGeom>
            <a:noFill/>
            <a:ln w="11113">
              <a:solidFill>
                <a:srgbClr val="990033"/>
              </a:solidFill>
              <a:round/>
            </a:ln>
          </p:spPr>
          <p:txBody>
            <a:bodyPr/>
            <a:lstStyle/>
            <a:p>
              <a:endParaRPr lang="zh-CN" altLang="en-US" sz="1015"/>
            </a:p>
          </p:txBody>
        </p:sp>
        <p:sp>
          <p:nvSpPr>
            <p:cNvPr id="68625" name="Line 17"/>
            <p:cNvSpPr>
              <a:spLocks noChangeShapeType="1"/>
            </p:cNvSpPr>
            <p:nvPr/>
          </p:nvSpPr>
          <p:spPr bwMode="auto">
            <a:xfrm flipH="1" flipV="1">
              <a:off x="2925" y="1997"/>
              <a:ext cx="85" cy="28"/>
            </a:xfrm>
            <a:prstGeom prst="line">
              <a:avLst/>
            </a:prstGeom>
            <a:noFill/>
            <a:ln w="11113">
              <a:solidFill>
                <a:srgbClr val="990033"/>
              </a:solidFill>
              <a:round/>
            </a:ln>
          </p:spPr>
          <p:txBody>
            <a:bodyPr/>
            <a:lstStyle/>
            <a:p>
              <a:endParaRPr lang="zh-CN" altLang="en-US" sz="1015"/>
            </a:p>
          </p:txBody>
        </p:sp>
        <p:sp>
          <p:nvSpPr>
            <p:cNvPr id="68626" name="Rectangle 18"/>
            <p:cNvSpPr>
              <a:spLocks noChangeArrowheads="1"/>
            </p:cNvSpPr>
            <p:nvPr/>
          </p:nvSpPr>
          <p:spPr bwMode="auto">
            <a:xfrm>
              <a:off x="2613" y="1876"/>
              <a:ext cx="537" cy="96"/>
            </a:xfrm>
            <a:prstGeom prst="rect">
              <a:avLst/>
            </a:prstGeom>
            <a:noFill/>
            <a:ln w="9525">
              <a:noFill/>
              <a:miter lim="800000"/>
            </a:ln>
          </p:spPr>
          <p:txBody>
            <a:bodyPr lIns="0" tIns="0" rIns="0" bIns="0">
              <a:spAutoFit/>
            </a:bodyPr>
            <a:lstStyle/>
            <a:p>
              <a:pPr algn="l" eaLnBrk="1" hangingPunct="1"/>
              <a:r>
                <a:rPr lang="en-US" altLang="zh-CN" sz="1125">
                  <a:solidFill>
                    <a:srgbClr val="000000"/>
                  </a:solidFill>
                  <a:latin typeface="Arial" panose="020B0604020202020204" pitchFamily="34" charset="0"/>
                </a:rPr>
                <a:t>1: </a:t>
              </a:r>
              <a:r>
                <a:rPr lang="zh-CN" altLang="en-US" sz="1125">
                  <a:solidFill>
                    <a:srgbClr val="000000"/>
                  </a:solidFill>
                  <a:latin typeface="Arial" panose="020B0604020202020204" pitchFamily="34" charset="0"/>
                </a:rPr>
                <a:t>发送的消息  </a:t>
              </a:r>
              <a:endParaRPr lang="zh-CN" altLang="en-US" sz="1125">
                <a:latin typeface="Arial" panose="020B0604020202020204" pitchFamily="34" charset="0"/>
              </a:endParaRPr>
            </a:p>
          </p:txBody>
        </p:sp>
        <p:sp>
          <p:nvSpPr>
            <p:cNvPr id="68627" name="Line 19"/>
            <p:cNvSpPr>
              <a:spLocks noChangeShapeType="1"/>
            </p:cNvSpPr>
            <p:nvPr/>
          </p:nvSpPr>
          <p:spPr bwMode="auto">
            <a:xfrm>
              <a:off x="3428" y="1557"/>
              <a:ext cx="270" cy="1"/>
            </a:xfrm>
            <a:prstGeom prst="line">
              <a:avLst/>
            </a:prstGeom>
            <a:noFill/>
            <a:ln w="0">
              <a:solidFill>
                <a:srgbClr val="990033"/>
              </a:solidFill>
              <a:round/>
            </a:ln>
          </p:spPr>
          <p:txBody>
            <a:bodyPr/>
            <a:lstStyle/>
            <a:p>
              <a:endParaRPr lang="zh-CN" altLang="en-US" sz="1015"/>
            </a:p>
          </p:txBody>
        </p:sp>
        <p:sp>
          <p:nvSpPr>
            <p:cNvPr id="68628" name="Line 20"/>
            <p:cNvSpPr>
              <a:spLocks noChangeShapeType="1"/>
            </p:cNvSpPr>
            <p:nvPr/>
          </p:nvSpPr>
          <p:spPr bwMode="auto">
            <a:xfrm flipH="1">
              <a:off x="3620" y="1557"/>
              <a:ext cx="78" cy="35"/>
            </a:xfrm>
            <a:prstGeom prst="line">
              <a:avLst/>
            </a:prstGeom>
            <a:noFill/>
            <a:ln w="11113">
              <a:solidFill>
                <a:srgbClr val="990033"/>
              </a:solidFill>
              <a:round/>
            </a:ln>
          </p:spPr>
          <p:txBody>
            <a:bodyPr/>
            <a:lstStyle/>
            <a:p>
              <a:endParaRPr lang="zh-CN" altLang="en-US" sz="1015"/>
            </a:p>
          </p:txBody>
        </p:sp>
        <p:sp>
          <p:nvSpPr>
            <p:cNvPr id="68629" name="Line 21"/>
            <p:cNvSpPr>
              <a:spLocks noChangeShapeType="1"/>
            </p:cNvSpPr>
            <p:nvPr/>
          </p:nvSpPr>
          <p:spPr bwMode="auto">
            <a:xfrm flipH="1" flipV="1">
              <a:off x="3620" y="1521"/>
              <a:ext cx="78" cy="36"/>
            </a:xfrm>
            <a:prstGeom prst="line">
              <a:avLst/>
            </a:prstGeom>
            <a:noFill/>
            <a:ln w="11113">
              <a:solidFill>
                <a:srgbClr val="990033"/>
              </a:solidFill>
              <a:round/>
            </a:ln>
          </p:spPr>
          <p:txBody>
            <a:bodyPr/>
            <a:lstStyle/>
            <a:p>
              <a:endParaRPr lang="zh-CN" altLang="en-US" sz="1015"/>
            </a:p>
          </p:txBody>
        </p:sp>
        <p:sp>
          <p:nvSpPr>
            <p:cNvPr id="68630" name="Rectangle 22"/>
            <p:cNvSpPr>
              <a:spLocks noChangeArrowheads="1"/>
            </p:cNvSpPr>
            <p:nvPr/>
          </p:nvSpPr>
          <p:spPr bwMode="auto">
            <a:xfrm>
              <a:off x="3393" y="1401"/>
              <a:ext cx="329" cy="96"/>
            </a:xfrm>
            <a:prstGeom prst="rect">
              <a:avLst/>
            </a:prstGeom>
            <a:noFill/>
            <a:ln w="9525">
              <a:noFill/>
              <a:miter lim="800000"/>
            </a:ln>
          </p:spPr>
          <p:txBody>
            <a:bodyPr wrap="none" lIns="0" tIns="0" rIns="0" bIns="0">
              <a:spAutoFit/>
            </a:bodyPr>
            <a:lstStyle/>
            <a:p>
              <a:pPr algn="l" eaLnBrk="1" hangingPunct="1"/>
              <a:r>
                <a:rPr lang="en-US" altLang="zh-CN" sz="1125">
                  <a:solidFill>
                    <a:srgbClr val="000000"/>
                  </a:solidFill>
                  <a:latin typeface="Arial" panose="020B0604020202020204" pitchFamily="34" charset="0"/>
                </a:rPr>
                <a:t>2: </a:t>
              </a:r>
              <a:r>
                <a:rPr lang="zh-CN" altLang="en-US" sz="1125">
                  <a:solidFill>
                    <a:srgbClr val="000000"/>
                  </a:solidFill>
                  <a:latin typeface="Arial" panose="020B0604020202020204" pitchFamily="34" charset="0"/>
                </a:rPr>
                <a:t>自调用</a:t>
              </a:r>
              <a:endParaRPr lang="zh-CN" altLang="en-US" sz="1125">
                <a:latin typeface="Arial" panose="020B0604020202020204" pitchFamily="34" charset="0"/>
              </a:endParaRPr>
            </a:p>
          </p:txBody>
        </p:sp>
        <p:sp>
          <p:nvSpPr>
            <p:cNvPr id="68631" name="Line 23"/>
            <p:cNvSpPr>
              <a:spLocks noChangeShapeType="1"/>
            </p:cNvSpPr>
            <p:nvPr/>
          </p:nvSpPr>
          <p:spPr bwMode="auto">
            <a:xfrm flipH="1">
              <a:off x="2741" y="2231"/>
              <a:ext cx="262" cy="1"/>
            </a:xfrm>
            <a:prstGeom prst="line">
              <a:avLst/>
            </a:prstGeom>
            <a:noFill/>
            <a:ln w="0">
              <a:solidFill>
                <a:srgbClr val="990033"/>
              </a:solidFill>
              <a:round/>
            </a:ln>
          </p:spPr>
          <p:txBody>
            <a:bodyPr/>
            <a:lstStyle/>
            <a:p>
              <a:endParaRPr lang="zh-CN" altLang="en-US" sz="1015"/>
            </a:p>
          </p:txBody>
        </p:sp>
        <p:sp>
          <p:nvSpPr>
            <p:cNvPr id="68632" name="Line 24"/>
            <p:cNvSpPr>
              <a:spLocks noChangeShapeType="1"/>
            </p:cNvSpPr>
            <p:nvPr/>
          </p:nvSpPr>
          <p:spPr bwMode="auto">
            <a:xfrm>
              <a:off x="2741" y="2231"/>
              <a:ext cx="78" cy="36"/>
            </a:xfrm>
            <a:prstGeom prst="line">
              <a:avLst/>
            </a:prstGeom>
            <a:noFill/>
            <a:ln w="11113">
              <a:solidFill>
                <a:srgbClr val="990033"/>
              </a:solidFill>
              <a:round/>
            </a:ln>
          </p:spPr>
          <p:txBody>
            <a:bodyPr/>
            <a:lstStyle/>
            <a:p>
              <a:endParaRPr lang="zh-CN" altLang="en-US" sz="1015"/>
            </a:p>
          </p:txBody>
        </p:sp>
        <p:sp>
          <p:nvSpPr>
            <p:cNvPr id="68633" name="Line 25"/>
            <p:cNvSpPr>
              <a:spLocks noChangeShapeType="1"/>
            </p:cNvSpPr>
            <p:nvPr/>
          </p:nvSpPr>
          <p:spPr bwMode="auto">
            <a:xfrm flipV="1">
              <a:off x="2741" y="2196"/>
              <a:ext cx="78" cy="35"/>
            </a:xfrm>
            <a:prstGeom prst="line">
              <a:avLst/>
            </a:prstGeom>
            <a:noFill/>
            <a:ln w="11113">
              <a:solidFill>
                <a:srgbClr val="990033"/>
              </a:solidFill>
              <a:round/>
            </a:ln>
          </p:spPr>
          <p:txBody>
            <a:bodyPr/>
            <a:lstStyle/>
            <a:p>
              <a:endParaRPr lang="zh-CN" altLang="en-US" sz="1015"/>
            </a:p>
          </p:txBody>
        </p:sp>
        <p:sp>
          <p:nvSpPr>
            <p:cNvPr id="68634" name="Rectangle 26"/>
            <p:cNvSpPr>
              <a:spLocks noChangeArrowheads="1"/>
            </p:cNvSpPr>
            <p:nvPr/>
          </p:nvSpPr>
          <p:spPr bwMode="auto">
            <a:xfrm>
              <a:off x="2613" y="2281"/>
              <a:ext cx="489" cy="96"/>
            </a:xfrm>
            <a:prstGeom prst="rect">
              <a:avLst/>
            </a:prstGeom>
            <a:noFill/>
            <a:ln w="9525">
              <a:noFill/>
              <a:miter lim="800000"/>
            </a:ln>
          </p:spPr>
          <p:txBody>
            <a:bodyPr wrap="none" lIns="0" tIns="0" rIns="0" bIns="0">
              <a:spAutoFit/>
            </a:bodyPr>
            <a:lstStyle/>
            <a:p>
              <a:pPr algn="l" eaLnBrk="1" hangingPunct="1"/>
              <a:r>
                <a:rPr lang="en-US" altLang="zh-CN" sz="1125">
                  <a:solidFill>
                    <a:srgbClr val="000000"/>
                  </a:solidFill>
                  <a:latin typeface="Arial" panose="020B0604020202020204" pitchFamily="34" charset="0"/>
                </a:rPr>
                <a:t>3: </a:t>
              </a:r>
              <a:r>
                <a:rPr lang="zh-CN" altLang="en-US" sz="1125">
                  <a:solidFill>
                    <a:srgbClr val="000000"/>
                  </a:solidFill>
                  <a:latin typeface="Arial" panose="020B0604020202020204" pitchFamily="34" charset="0"/>
                </a:rPr>
                <a:t>返回的消息</a:t>
              </a:r>
              <a:endParaRPr lang="zh-CN" altLang="en-US" sz="1125">
                <a:latin typeface="Arial" panose="020B0604020202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9" name="Picture 3"/>
          <p:cNvPicPr>
            <a:picLocks noChangeAspect="1" noChangeArrowheads="1"/>
          </p:cNvPicPr>
          <p:nvPr/>
        </p:nvPicPr>
        <p:blipFill>
          <a:blip r:embed="rId1" cstate="print"/>
          <a:srcRect/>
          <a:stretch>
            <a:fillRect/>
          </a:stretch>
        </p:blipFill>
        <p:spPr bwMode="auto">
          <a:xfrm>
            <a:off x="2055714" y="1063262"/>
            <a:ext cx="4565741" cy="3789766"/>
          </a:xfrm>
          <a:prstGeom prst="rect">
            <a:avLst/>
          </a:prstGeom>
          <a:noFill/>
          <a:ln w="9525" algn="ctr">
            <a:noFill/>
            <a:miter lim="800000"/>
            <a:headEnd/>
            <a:tailEnd/>
          </a:ln>
          <a:effectLst/>
        </p:spPr>
      </p:pic>
      <p:sp>
        <p:nvSpPr>
          <p:cNvPr id="70660" name="AutoShape 4"/>
          <p:cNvSpPr>
            <a:spLocks noChangeArrowheads="1"/>
          </p:cNvSpPr>
          <p:nvPr/>
        </p:nvSpPr>
        <p:spPr bwMode="auto">
          <a:xfrm>
            <a:off x="3785506" y="511629"/>
            <a:ext cx="1864179" cy="589019"/>
          </a:xfrm>
          <a:prstGeom prst="wedgeRoundRectCallout">
            <a:avLst>
              <a:gd name="adj1" fmla="val -15079"/>
              <a:gd name="adj2" fmla="val 90773"/>
              <a:gd name="adj3" fmla="val 16667"/>
            </a:avLst>
          </a:prstGeom>
          <a:solidFill>
            <a:schemeClr val="bg1"/>
          </a:solidFill>
          <a:ln w="3175" algn="ctr">
            <a:solidFill>
              <a:schemeClr val="bg2"/>
            </a:solidFill>
            <a:miter lim="800000"/>
          </a:ln>
          <a:effectLst/>
        </p:spPr>
        <p:txBody>
          <a:bodyPr lIns="60722" tIns="30361" rIns="60722" bIns="30361" anchor="ctr"/>
          <a:lstStyle/>
          <a:p>
            <a:r>
              <a:rPr lang="en-US" altLang="zh-CN" sz="1600">
                <a:latin typeface="+mj-ea"/>
                <a:ea typeface="+mj-ea"/>
              </a:rPr>
              <a:t>1</a:t>
            </a:r>
            <a:r>
              <a:rPr lang="zh-CN" altLang="en-US" sz="1600">
                <a:latin typeface="+mj-ea"/>
                <a:ea typeface="+mj-ea"/>
              </a:rPr>
              <a:t>，</a:t>
            </a:r>
            <a:r>
              <a:rPr lang="en-US" altLang="zh-CN" sz="1600">
                <a:latin typeface="+mj-ea"/>
                <a:ea typeface="+mj-ea"/>
              </a:rPr>
              <a:t>5</a:t>
            </a:r>
            <a:r>
              <a:rPr lang="zh-CN" altLang="en-US" sz="1600">
                <a:latin typeface="+mj-ea"/>
                <a:ea typeface="+mj-ea"/>
              </a:rPr>
              <a:t>，</a:t>
            </a:r>
            <a:r>
              <a:rPr lang="en-US" altLang="zh-CN" sz="1600">
                <a:latin typeface="+mj-ea"/>
                <a:ea typeface="+mj-ea"/>
              </a:rPr>
              <a:t>9</a:t>
            </a:r>
            <a:r>
              <a:rPr lang="zh-CN" altLang="en-US" sz="1600">
                <a:latin typeface="+mj-ea"/>
                <a:ea typeface="+mj-ea"/>
              </a:rPr>
              <a:t>，</a:t>
            </a:r>
            <a:r>
              <a:rPr lang="en-US" altLang="zh-CN" sz="1600">
                <a:latin typeface="+mj-ea"/>
                <a:ea typeface="+mj-ea"/>
              </a:rPr>
              <a:t>15</a:t>
            </a:r>
            <a:r>
              <a:rPr lang="zh-CN" altLang="en-US" sz="1600">
                <a:latin typeface="+mj-ea"/>
                <a:ea typeface="+mj-ea"/>
              </a:rPr>
              <a:t>由定时器完成</a:t>
            </a:r>
            <a:endParaRPr lang="zh-CN" altLang="en-US" sz="1600">
              <a:latin typeface="+mj-ea"/>
              <a:ea typeface="+mj-ea"/>
            </a:endParaRPr>
          </a:p>
        </p:txBody>
      </p:sp>
      <p:sp>
        <p:nvSpPr>
          <p:cNvPr id="70661" name="AutoShape 5"/>
          <p:cNvSpPr>
            <a:spLocks noChangeArrowheads="1"/>
          </p:cNvSpPr>
          <p:nvPr/>
        </p:nvSpPr>
        <p:spPr bwMode="auto">
          <a:xfrm>
            <a:off x="5504632" y="1612277"/>
            <a:ext cx="2233646" cy="550323"/>
          </a:xfrm>
          <a:prstGeom prst="wedgeRoundRectCallout">
            <a:avLst>
              <a:gd name="adj1" fmla="val -39366"/>
              <a:gd name="adj2" fmla="val 157950"/>
              <a:gd name="adj3" fmla="val 16667"/>
            </a:avLst>
          </a:prstGeom>
          <a:solidFill>
            <a:schemeClr val="bg1"/>
          </a:solidFill>
          <a:ln w="3175" algn="ctr">
            <a:solidFill>
              <a:schemeClr val="bg2"/>
            </a:solidFill>
            <a:miter lim="800000"/>
          </a:ln>
          <a:effectLst/>
        </p:spPr>
        <p:txBody>
          <a:bodyPr lIns="60722" tIns="30361" rIns="60722" bIns="30361" anchor="ctr"/>
          <a:lstStyle/>
          <a:p>
            <a:r>
              <a:rPr lang="en-US" altLang="zh-CN" sz="1600" dirty="0">
                <a:latin typeface="+mj-ea"/>
                <a:ea typeface="+mj-ea"/>
              </a:rPr>
              <a:t>2</a:t>
            </a:r>
            <a:r>
              <a:rPr lang="zh-CN" altLang="en-US" sz="1600" dirty="0">
                <a:latin typeface="+mj-ea"/>
                <a:ea typeface="+mj-ea"/>
              </a:rPr>
              <a:t>，</a:t>
            </a:r>
            <a:r>
              <a:rPr lang="en-US" altLang="zh-CN" sz="1600" dirty="0">
                <a:latin typeface="+mj-ea"/>
                <a:ea typeface="+mj-ea"/>
              </a:rPr>
              <a:t>4</a:t>
            </a:r>
            <a:r>
              <a:rPr lang="zh-CN" altLang="en-US" sz="1600" dirty="0">
                <a:latin typeface="+mj-ea"/>
                <a:ea typeface="+mj-ea"/>
              </a:rPr>
              <a:t>，</a:t>
            </a:r>
            <a:r>
              <a:rPr lang="en-US" altLang="zh-CN" sz="1600" dirty="0">
                <a:latin typeface="+mj-ea"/>
                <a:ea typeface="+mj-ea"/>
              </a:rPr>
              <a:t>10</a:t>
            </a:r>
            <a:r>
              <a:rPr lang="zh-CN" altLang="en-US" sz="1600" dirty="0">
                <a:latin typeface="+mj-ea"/>
                <a:ea typeface="+mj-ea"/>
              </a:rPr>
              <a:t>由定时器调用注水管完成</a:t>
            </a:r>
            <a:endParaRPr lang="zh-CN" altLang="en-US" sz="1600" dirty="0">
              <a:latin typeface="+mj-ea"/>
              <a:ea typeface="+mj-ea"/>
            </a:endParaRPr>
          </a:p>
        </p:txBody>
      </p:sp>
      <p:sp>
        <p:nvSpPr>
          <p:cNvPr id="70662" name="AutoShape 6"/>
          <p:cNvSpPr>
            <a:spLocks noChangeArrowheads="1"/>
          </p:cNvSpPr>
          <p:nvPr/>
        </p:nvSpPr>
        <p:spPr bwMode="auto">
          <a:xfrm>
            <a:off x="5410676" y="4327159"/>
            <a:ext cx="2024267" cy="478801"/>
          </a:xfrm>
          <a:prstGeom prst="wedgeRoundRectCallout">
            <a:avLst>
              <a:gd name="adj1" fmla="val -55754"/>
              <a:gd name="adj2" fmla="val -124737"/>
              <a:gd name="adj3" fmla="val 16667"/>
            </a:avLst>
          </a:prstGeom>
          <a:solidFill>
            <a:schemeClr val="bg1"/>
          </a:solidFill>
          <a:ln w="3175" algn="ctr">
            <a:solidFill>
              <a:schemeClr val="bg2"/>
            </a:solidFill>
            <a:miter lim="800000"/>
          </a:ln>
          <a:effectLst/>
        </p:spPr>
        <p:txBody>
          <a:bodyPr lIns="60722" tIns="30361" rIns="60722" bIns="30361" anchor="ctr"/>
          <a:lstStyle/>
          <a:p>
            <a:r>
              <a:rPr lang="en-US" altLang="zh-CN" sz="1600" dirty="0">
                <a:latin typeface="+mj-ea"/>
                <a:ea typeface="+mj-ea"/>
              </a:rPr>
              <a:t>2</a:t>
            </a:r>
            <a:r>
              <a:rPr lang="zh-CN" altLang="en-US" sz="1600" dirty="0">
                <a:latin typeface="+mj-ea"/>
                <a:ea typeface="+mj-ea"/>
              </a:rPr>
              <a:t>，</a:t>
            </a:r>
            <a:r>
              <a:rPr lang="en-US" altLang="zh-CN" sz="1600" dirty="0">
                <a:latin typeface="+mj-ea"/>
                <a:ea typeface="+mj-ea"/>
              </a:rPr>
              <a:t>10</a:t>
            </a:r>
            <a:r>
              <a:rPr lang="zh-CN" altLang="en-US" sz="1600" dirty="0">
                <a:latin typeface="+mj-ea"/>
                <a:ea typeface="+mj-ea"/>
              </a:rPr>
              <a:t>由注水管调用洗衣缸完成</a:t>
            </a:r>
            <a:endParaRPr lang="zh-CN" altLang="en-US" sz="1600" dirty="0">
              <a:latin typeface="+mj-ea"/>
              <a:ea typeface="+mj-ea"/>
            </a:endParaRPr>
          </a:p>
        </p:txBody>
      </p:sp>
      <p:sp>
        <p:nvSpPr>
          <p:cNvPr id="70663" name="AutoShape 7"/>
          <p:cNvSpPr>
            <a:spLocks noChangeArrowheads="1"/>
          </p:cNvSpPr>
          <p:nvPr/>
        </p:nvSpPr>
        <p:spPr bwMode="auto">
          <a:xfrm>
            <a:off x="1094321" y="1920478"/>
            <a:ext cx="2834401" cy="484244"/>
          </a:xfrm>
          <a:prstGeom prst="wedgeRoundRectCallout">
            <a:avLst>
              <a:gd name="adj1" fmla="val 19152"/>
              <a:gd name="adj2" fmla="val 268369"/>
              <a:gd name="adj3" fmla="val 16667"/>
            </a:avLst>
          </a:prstGeom>
          <a:solidFill>
            <a:schemeClr val="bg1"/>
          </a:solidFill>
          <a:ln w="3175" algn="ctr">
            <a:solidFill>
              <a:schemeClr val="bg2"/>
            </a:solidFill>
            <a:miter lim="800000"/>
          </a:ln>
          <a:effectLst/>
        </p:spPr>
        <p:txBody>
          <a:bodyPr lIns="60722" tIns="30361" rIns="60722" bIns="30361" anchor="ctr"/>
          <a:lstStyle/>
          <a:p>
            <a:r>
              <a:rPr lang="en-US" altLang="zh-CN" sz="1600" dirty="0">
                <a:latin typeface="+mj-ea"/>
                <a:ea typeface="+mj-ea"/>
              </a:rPr>
              <a:t>6</a:t>
            </a:r>
            <a:r>
              <a:rPr lang="zh-CN" altLang="en-US" sz="1600" dirty="0">
                <a:latin typeface="+mj-ea"/>
                <a:ea typeface="+mj-ea"/>
              </a:rPr>
              <a:t>，</a:t>
            </a:r>
            <a:r>
              <a:rPr lang="en-US" altLang="zh-CN" sz="1600" dirty="0">
                <a:latin typeface="+mj-ea"/>
                <a:ea typeface="+mj-ea"/>
              </a:rPr>
              <a:t>7</a:t>
            </a:r>
            <a:r>
              <a:rPr lang="zh-CN" altLang="en-US" sz="1600" dirty="0">
                <a:latin typeface="+mj-ea"/>
                <a:ea typeface="+mj-ea"/>
              </a:rPr>
              <a:t>，</a:t>
            </a:r>
            <a:r>
              <a:rPr lang="en-US" altLang="zh-CN" sz="1600" dirty="0">
                <a:latin typeface="+mj-ea"/>
                <a:ea typeface="+mj-ea"/>
              </a:rPr>
              <a:t>8</a:t>
            </a:r>
            <a:r>
              <a:rPr lang="zh-CN" altLang="en-US" sz="1600" dirty="0">
                <a:latin typeface="+mj-ea"/>
                <a:ea typeface="+mj-ea"/>
              </a:rPr>
              <a:t>，</a:t>
            </a:r>
            <a:r>
              <a:rPr lang="en-US" altLang="zh-CN" sz="1600" dirty="0">
                <a:latin typeface="+mj-ea"/>
                <a:ea typeface="+mj-ea"/>
              </a:rPr>
              <a:t>12</a:t>
            </a:r>
            <a:r>
              <a:rPr lang="zh-CN" altLang="en-US" sz="1600" dirty="0">
                <a:latin typeface="+mj-ea"/>
                <a:ea typeface="+mj-ea"/>
              </a:rPr>
              <a:t>，</a:t>
            </a:r>
            <a:r>
              <a:rPr lang="en-US" altLang="zh-CN" sz="1600" dirty="0">
                <a:latin typeface="+mj-ea"/>
                <a:ea typeface="+mj-ea"/>
              </a:rPr>
              <a:t>13</a:t>
            </a:r>
            <a:r>
              <a:rPr lang="zh-CN" altLang="en-US" sz="1600" dirty="0">
                <a:latin typeface="+mj-ea"/>
                <a:ea typeface="+mj-ea"/>
              </a:rPr>
              <a:t>，</a:t>
            </a:r>
            <a:r>
              <a:rPr lang="en-US" altLang="zh-CN" sz="1600" dirty="0">
                <a:latin typeface="+mj-ea"/>
                <a:ea typeface="+mj-ea"/>
              </a:rPr>
              <a:t>14</a:t>
            </a:r>
            <a:r>
              <a:rPr lang="zh-CN" altLang="en-US" sz="1600" dirty="0">
                <a:latin typeface="+mj-ea"/>
                <a:ea typeface="+mj-ea"/>
              </a:rPr>
              <a:t>，</a:t>
            </a:r>
            <a:r>
              <a:rPr lang="en-US" altLang="zh-CN" sz="1600" dirty="0">
                <a:latin typeface="+mj-ea"/>
                <a:ea typeface="+mj-ea"/>
              </a:rPr>
              <a:t>16</a:t>
            </a:r>
            <a:r>
              <a:rPr lang="zh-CN" altLang="en-US" sz="1600" dirty="0">
                <a:latin typeface="+mj-ea"/>
                <a:ea typeface="+mj-ea"/>
              </a:rPr>
              <a:t>，</a:t>
            </a:r>
            <a:r>
              <a:rPr lang="en-US" altLang="zh-CN" sz="1600" dirty="0">
                <a:latin typeface="+mj-ea"/>
                <a:ea typeface="+mj-ea"/>
              </a:rPr>
              <a:t>17</a:t>
            </a:r>
            <a:r>
              <a:rPr lang="zh-CN" altLang="en-US" sz="1600" dirty="0">
                <a:latin typeface="+mj-ea"/>
                <a:ea typeface="+mj-ea"/>
              </a:rPr>
              <a:t>由定时器调用洗衣缸完成</a:t>
            </a:r>
            <a:endParaRPr lang="zh-CN" altLang="en-US" sz="1600" dirty="0">
              <a:latin typeface="+mj-ea"/>
              <a:ea typeface="+mj-ea"/>
            </a:endParaRPr>
          </a:p>
        </p:txBody>
      </p:sp>
      <p:sp>
        <p:nvSpPr>
          <p:cNvPr id="5" name="标题 4"/>
          <p:cNvSpPr>
            <a:spLocks noGrp="1"/>
          </p:cNvSpPr>
          <p:nvPr>
            <p:ph type="title"/>
          </p:nvPr>
        </p:nvSpPr>
        <p:spPr/>
        <p:txBody>
          <a:bodyPr/>
          <a:lstStyle/>
          <a:p>
            <a:r>
              <a:rPr lang="zh-CN" altLang="en-US" dirty="0"/>
              <a:t>协作图实例</a:t>
            </a:r>
            <a:endParaRPr lang="zh-CN" altLang="en-US" dirty="0"/>
          </a:p>
        </p:txBody>
      </p:sp>
      <p:sp>
        <p:nvSpPr>
          <p:cNvPr id="3" name="内容占位符 2"/>
          <p:cNvSpPr>
            <a:spLocks noGrp="1"/>
          </p:cNvSpPr>
          <p:nvPr>
            <p:ph idx="1"/>
          </p:nvPr>
        </p:nvSpPr>
        <p:spPr/>
        <p:txBody>
          <a:bodyPr/>
          <a:lstStyle/>
          <a:p>
            <a:endParaRPr lang="zh-CN" altLang="en-US"/>
          </a:p>
        </p:txBody>
      </p:sp>
      <p:sp>
        <p:nvSpPr>
          <p:cNvPr id="8" name="日期占位符 7"/>
          <p:cNvSpPr>
            <a:spLocks noGrp="1"/>
          </p:cNvSpPr>
          <p:nvPr>
            <p:ph type="dt" sz="half" idx="10"/>
          </p:nvPr>
        </p:nvSpPr>
        <p:spPr/>
        <p:txBody>
          <a:bodyPr/>
          <a:lstStyle/>
          <a:p>
            <a:fld id="{F17C3909-9102-4FC4-8F11-DAFABAB73C6E}" type="datetime1">
              <a:rPr lang="zh-CN" altLang="en-US" smtClean="0"/>
            </a:fld>
            <a:endParaRPr lang="zh-CN" altLang="en-US" dirty="0"/>
          </a:p>
        </p:txBody>
      </p:sp>
      <p:sp>
        <p:nvSpPr>
          <p:cNvPr id="9" name="页脚占位符 8"/>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660"/>
                                        </p:tgtEl>
                                        <p:attrNameLst>
                                          <p:attrName>style.visibility</p:attrName>
                                        </p:attrNameLst>
                                      </p:cBhvr>
                                      <p:to>
                                        <p:strVal val="visible"/>
                                      </p:to>
                                    </p:set>
                                  </p:childTnLst>
                                  <p:subTnLst>
                                    <p:set>
                                      <p:cBhvr override="childStyle">
                                        <p:cTn dur="1" fill="hold" display="0" masterRel="nextClick" afterEffect="1"/>
                                        <p:tgtEl>
                                          <p:spTgt spid="70660"/>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0661"/>
                                        </p:tgtEl>
                                        <p:attrNameLst>
                                          <p:attrName>style.visibility</p:attrName>
                                        </p:attrNameLst>
                                      </p:cBhvr>
                                      <p:to>
                                        <p:strVal val="visible"/>
                                      </p:to>
                                    </p:set>
                                  </p:childTnLst>
                                  <p:subTnLst>
                                    <p:set>
                                      <p:cBhvr override="childStyle">
                                        <p:cTn dur="1" fill="hold" display="0" masterRel="nextClick" afterEffect="1"/>
                                        <p:tgtEl>
                                          <p:spTgt spid="70661"/>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0662"/>
                                        </p:tgtEl>
                                        <p:attrNameLst>
                                          <p:attrName>style.visibility</p:attrName>
                                        </p:attrNameLst>
                                      </p:cBhvr>
                                      <p:to>
                                        <p:strVal val="visible"/>
                                      </p:to>
                                    </p:set>
                                  </p:childTnLst>
                                  <p:subTnLst>
                                    <p:set>
                                      <p:cBhvr override="childStyle">
                                        <p:cTn dur="1" fill="hold" display="0" masterRel="nextClick" afterEffect="1"/>
                                        <p:tgtEl>
                                          <p:spTgt spid="70662"/>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0663"/>
                                        </p:tgtEl>
                                        <p:attrNameLst>
                                          <p:attrName>style.visibility</p:attrName>
                                        </p:attrNameLst>
                                      </p:cBhvr>
                                      <p:to>
                                        <p:strVal val="visible"/>
                                      </p:to>
                                    </p:set>
                                  </p:childTnLst>
                                  <p:subTnLst>
                                    <p:set>
                                      <p:cBhvr override="childStyle">
                                        <p:cTn dur="1" fill="hold" display="0" masterRel="nextClick" afterEffect="1"/>
                                        <p:tgtEl>
                                          <p:spTgt spid="7066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bldLvl="0" animBg="1"/>
      <p:bldP spid="70661" grpId="0" bldLvl="0" animBg="1"/>
      <p:bldP spid="70662" grpId="0" bldLvl="0" animBg="1"/>
      <p:bldP spid="70663" grpId="0" bldLvl="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altLang="zh-CN" dirty="0"/>
              <a:t>9. </a:t>
            </a:r>
            <a:r>
              <a:rPr lang="zh-CN" altLang="en-US" dirty="0"/>
              <a:t>构件图</a:t>
            </a:r>
            <a:endParaRPr lang="zh-CN" altLang="en-US" dirty="0"/>
          </a:p>
        </p:txBody>
      </p:sp>
      <p:sp>
        <p:nvSpPr>
          <p:cNvPr id="76803" name="Rectangle 3"/>
          <p:cNvSpPr>
            <a:spLocks noGrp="1" noChangeArrowheads="1"/>
          </p:cNvSpPr>
          <p:nvPr>
            <p:ph idx="1"/>
          </p:nvPr>
        </p:nvSpPr>
        <p:spPr/>
        <p:txBody>
          <a:bodyPr>
            <a:normAutofit/>
          </a:bodyPr>
          <a:lstStyle/>
          <a:p>
            <a:r>
              <a:rPr lang="zh-CN" altLang="en-US" sz="2000" dirty="0"/>
              <a:t>构件图又称为组件图，是代码构件的物理结构，以及构件之间的依赖关系。在物理层面对系统结构及内容的直观描述，最接近于通常意义上的模块结构图。</a:t>
            </a:r>
            <a:endParaRPr lang="zh-CN" altLang="en-US" sz="2000" dirty="0"/>
          </a:p>
        </p:txBody>
      </p:sp>
      <p:sp>
        <p:nvSpPr>
          <p:cNvPr id="7" name="日期占位符 6"/>
          <p:cNvSpPr>
            <a:spLocks noGrp="1"/>
          </p:cNvSpPr>
          <p:nvPr>
            <p:ph type="dt" sz="half" idx="10"/>
          </p:nvPr>
        </p:nvSpPr>
        <p:spPr/>
        <p:txBody>
          <a:bodyPr/>
          <a:lstStyle/>
          <a:p>
            <a:fld id="{D925140C-BA63-41C3-9AC0-EA912110F321}"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4" name="图片 3"/>
          <p:cNvPicPr>
            <a:picLocks noChangeAspect="1"/>
          </p:cNvPicPr>
          <p:nvPr/>
        </p:nvPicPr>
        <p:blipFill>
          <a:blip r:embed="rId1" cstate="print">
            <a:clrChange>
              <a:clrFrom>
                <a:srgbClr val="FFFFFF"/>
              </a:clrFrom>
              <a:clrTo>
                <a:srgbClr val="FFFFFF">
                  <a:alpha val="0"/>
                </a:srgbClr>
              </a:clrTo>
            </a:clrChange>
          </a:blip>
          <a:stretch>
            <a:fillRect/>
          </a:stretch>
        </p:blipFill>
        <p:spPr>
          <a:xfrm>
            <a:off x="1799409" y="1594708"/>
            <a:ext cx="5591345" cy="3137313"/>
          </a:xfrm>
          <a:prstGeom prst="rect">
            <a:avLst/>
          </a:prstGeom>
        </p:spPr>
      </p:pic>
      <p:sp>
        <p:nvSpPr>
          <p:cNvPr id="5" name="文本框 4"/>
          <p:cNvSpPr txBox="1"/>
          <p:nvPr/>
        </p:nvSpPr>
        <p:spPr>
          <a:xfrm>
            <a:off x="3735099" y="4186910"/>
            <a:ext cx="2252540" cy="338554"/>
          </a:xfrm>
          <a:prstGeom prst="rect">
            <a:avLst/>
          </a:prstGeom>
          <a:noFill/>
        </p:spPr>
        <p:txBody>
          <a:bodyPr wrap="none" rtlCol="0">
            <a:spAutoFit/>
          </a:bodyPr>
          <a:lstStyle/>
          <a:p>
            <a:r>
              <a:rPr lang="zh-CN" altLang="en-US" sz="1600" b="1" dirty="0">
                <a:latin typeface="+mj-ea"/>
                <a:ea typeface="+mj-ea"/>
              </a:rPr>
              <a:t>机房收费系统的构件图</a:t>
            </a:r>
            <a:endParaRPr lang="zh-CN" altLang="en-US" sz="1600" b="1"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altLang="zh-CN" dirty="0"/>
              <a:t>10. </a:t>
            </a:r>
            <a:r>
              <a:rPr lang="zh-CN" altLang="en-US" dirty="0"/>
              <a:t>部署图</a:t>
            </a:r>
            <a:endParaRPr lang="zh-CN" altLang="en-US" dirty="0"/>
          </a:p>
        </p:txBody>
      </p:sp>
      <p:sp>
        <p:nvSpPr>
          <p:cNvPr id="78851" name="Rectangle 3"/>
          <p:cNvSpPr>
            <a:spLocks noGrp="1" noChangeArrowheads="1"/>
          </p:cNvSpPr>
          <p:nvPr>
            <p:ph idx="1"/>
          </p:nvPr>
        </p:nvSpPr>
        <p:spPr/>
        <p:txBody>
          <a:bodyPr>
            <a:noAutofit/>
          </a:bodyPr>
          <a:lstStyle/>
          <a:p>
            <a:pPr>
              <a:spcBef>
                <a:spcPts val="600"/>
              </a:spcBef>
            </a:pPr>
            <a:r>
              <a:rPr lang="zh-CN" altLang="en-US" sz="2000" dirty="0"/>
              <a:t>部署图（也称配置图、布局图），用于显示基于计算机系统软硬件的物理结构。</a:t>
            </a:r>
            <a:endParaRPr lang="en-US" altLang="zh-CN" sz="2000" dirty="0"/>
          </a:p>
          <a:p>
            <a:pPr>
              <a:spcBef>
                <a:spcPts val="600"/>
              </a:spcBef>
            </a:pPr>
            <a:r>
              <a:rPr lang="zh-CN" altLang="en-US" sz="2000" dirty="0"/>
              <a:t>从部署图中，可以了解到软件和硬件组件之间的物理关系以及处理节点的组件分布情况。</a:t>
            </a:r>
            <a:endParaRPr lang="en-US" altLang="zh-CN" sz="2000" dirty="0"/>
          </a:p>
          <a:p>
            <a:pPr>
              <a:spcBef>
                <a:spcPts val="600"/>
              </a:spcBef>
            </a:pPr>
            <a:r>
              <a:rPr lang="zh-CN" altLang="en-US" sz="2000" dirty="0"/>
              <a:t>使用部署图可以显示运行时系统的结构，还传达构成应用程序的硬件和软件元素的配置和部署方式。</a:t>
            </a:r>
            <a:endParaRPr lang="zh-CN" altLang="en-US" sz="2000" dirty="0"/>
          </a:p>
        </p:txBody>
      </p:sp>
      <p:sp>
        <p:nvSpPr>
          <p:cNvPr id="7" name="日期占位符 6"/>
          <p:cNvSpPr>
            <a:spLocks noGrp="1"/>
          </p:cNvSpPr>
          <p:nvPr>
            <p:ph type="dt" sz="half" idx="10"/>
          </p:nvPr>
        </p:nvSpPr>
        <p:spPr/>
        <p:txBody>
          <a:bodyPr/>
          <a:lstStyle/>
          <a:p>
            <a:fld id="{057FE16F-D3A0-4AA5-A919-9D64CBBA6C90}"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3" name="图片 2"/>
          <p:cNvPicPr>
            <a:picLocks noChangeAspect="1"/>
          </p:cNvPicPr>
          <p:nvPr/>
        </p:nvPicPr>
        <p:blipFill>
          <a:blip r:embed="rId1" cstate="print"/>
          <a:stretch>
            <a:fillRect/>
          </a:stretch>
        </p:blipFill>
        <p:spPr>
          <a:xfrm>
            <a:off x="5032798" y="199477"/>
            <a:ext cx="3825452" cy="4311509"/>
          </a:xfrm>
          <a:prstGeom prst="rect">
            <a:avLst/>
          </a:prstGeom>
          <a:ln>
            <a:noFill/>
          </a:ln>
          <a:effectLst>
            <a:outerShdw blurRad="190500" algn="tl" rotWithShape="0">
              <a:srgbClr val="000000">
                <a:alpha val="70000"/>
              </a:srgbClr>
            </a:outerShdw>
          </a:effectLst>
        </p:spPr>
      </p:pic>
      <p:sp>
        <p:nvSpPr>
          <p:cNvPr id="4" name="文本框 3"/>
          <p:cNvSpPr txBox="1"/>
          <p:nvPr/>
        </p:nvSpPr>
        <p:spPr>
          <a:xfrm>
            <a:off x="1507671" y="4325388"/>
            <a:ext cx="5858711" cy="646331"/>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zh-CN" altLang="en-US" dirty="0"/>
              <a:t>部署图和构件图都是对系统实现的描述，两者一起使用，效果更明显。一个系统模型只有一个部署图。</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r>
              <a:rPr lang="zh-CN" altLang="en-US" dirty="0"/>
              <a:t>一个软件系统的案例</a:t>
            </a:r>
            <a:endParaRPr lang="zh-CN" altLang="en-US" dirty="0"/>
          </a:p>
        </p:txBody>
      </p:sp>
      <p:sp>
        <p:nvSpPr>
          <p:cNvPr id="171011" name="Rectangle 3"/>
          <p:cNvSpPr>
            <a:spLocks noGrp="1" noChangeArrowheads="1"/>
          </p:cNvSpPr>
          <p:nvPr>
            <p:ph idx="1"/>
          </p:nvPr>
        </p:nvSpPr>
        <p:spPr/>
        <p:txBody>
          <a:bodyPr>
            <a:noAutofit/>
          </a:bodyPr>
          <a:lstStyle/>
          <a:p>
            <a:r>
              <a:rPr lang="zh-CN" altLang="en-US" sz="2000" dirty="0"/>
              <a:t>新闻发布系统（</a:t>
            </a:r>
            <a:r>
              <a:rPr lang="en-US" altLang="zh-CN" sz="2000" dirty="0"/>
              <a:t>CMS</a:t>
            </a:r>
            <a:r>
              <a:rPr lang="zh-CN" altLang="en-US" sz="2000" dirty="0"/>
              <a:t>）</a:t>
            </a:r>
            <a:endParaRPr lang="zh-CN" altLang="en-US" sz="2000" dirty="0"/>
          </a:p>
          <a:p>
            <a:r>
              <a:rPr lang="zh-CN" altLang="en-US" sz="2000" dirty="0"/>
              <a:t>该系统需求非常简单，大致可做如下描述：</a:t>
            </a:r>
            <a:endParaRPr lang="zh-CN" altLang="en-US" sz="2000" dirty="0"/>
          </a:p>
          <a:p>
            <a:r>
              <a:rPr lang="zh-CN" altLang="en-US" sz="2000" dirty="0"/>
              <a:t>这个系统主要用来发布新闻，管理员只需要一个，登录后可以在后台发布新闻。任何人可以浏览新闻，浏览者可以注册成为系统会员，注册后可对新闻进行评论。管理员在后台可以对新闻、评论、注册会员进行管理，如修改、删除等。</a:t>
            </a:r>
            <a:endParaRPr lang="en-US" altLang="zh-CN" sz="2000" dirty="0"/>
          </a:p>
          <a:p>
            <a:r>
              <a:rPr lang="zh-CN" altLang="en-US" sz="2000" dirty="0"/>
              <a:t>对以上系统采用</a:t>
            </a:r>
            <a:r>
              <a:rPr lang="en-US" altLang="zh-CN" sz="2000" dirty="0"/>
              <a:t>RUP</a:t>
            </a:r>
            <a:r>
              <a:rPr lang="zh-CN" altLang="en-US" sz="2000" dirty="0"/>
              <a:t>模型进行开发。</a:t>
            </a:r>
            <a:endParaRPr lang="zh-CN" altLang="en-US" sz="2000" dirty="0"/>
          </a:p>
        </p:txBody>
      </p:sp>
      <p:sp>
        <p:nvSpPr>
          <p:cNvPr id="5" name="日期占位符 4"/>
          <p:cNvSpPr>
            <a:spLocks noGrp="1"/>
          </p:cNvSpPr>
          <p:nvPr>
            <p:ph type="dt" sz="half" idx="10"/>
          </p:nvPr>
        </p:nvSpPr>
        <p:spPr/>
        <p:txBody>
          <a:bodyPr/>
          <a:lstStyle/>
          <a:p>
            <a:fld id="{6ADC5A85-FA44-48FF-9C2C-CEB687444CDD}"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graphicFrame>
        <p:nvGraphicFramePr>
          <p:cNvPr id="9" name="Object 3"/>
          <p:cNvGraphicFramePr>
            <a:graphicFrameLocks noChangeAspect="1"/>
          </p:cNvGraphicFramePr>
          <p:nvPr/>
        </p:nvGraphicFramePr>
        <p:xfrm>
          <a:off x="868295" y="3944551"/>
          <a:ext cx="7732635" cy="424443"/>
        </p:xfrm>
        <a:graphic>
          <a:graphicData uri="http://schemas.openxmlformats.org/presentationml/2006/ole">
            <mc:AlternateContent xmlns:mc="http://schemas.openxmlformats.org/markup-compatibility/2006">
              <mc:Choice xmlns:v="urn:schemas-microsoft-com:vml" Requires="v">
                <p:oleObj spid="_x0000_s2148" name="Visio" r:id="rId1" imgW="6366510" imgH="358775" progId="Visio.Drawing.11">
                  <p:embed/>
                </p:oleObj>
              </mc:Choice>
              <mc:Fallback>
                <p:oleObj name="Visio" r:id="rId1" imgW="6366510" imgH="358775"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295" y="3944551"/>
                        <a:ext cx="7732635" cy="424443"/>
                      </a:xfrm>
                      <a:prstGeom prst="rect">
                        <a:avLst/>
                      </a:prstGeom>
                      <a:noFill/>
                    </p:spPr>
                  </p:pic>
                </p:oleObj>
              </mc:Fallback>
            </mc:AlternateContent>
          </a:graphicData>
        </a:graphic>
      </p:graphicFrame>
      <p:sp>
        <p:nvSpPr>
          <p:cNvPr id="10" name="Line 5"/>
          <p:cNvSpPr>
            <a:spLocks noChangeShapeType="1"/>
          </p:cNvSpPr>
          <p:nvPr/>
        </p:nvSpPr>
        <p:spPr bwMode="auto">
          <a:xfrm flipH="1" flipV="1">
            <a:off x="1425146" y="4308228"/>
            <a:ext cx="4819" cy="403538"/>
          </a:xfrm>
          <a:prstGeom prst="line">
            <a:avLst/>
          </a:prstGeom>
          <a:ln w="76200">
            <a:tailEnd type="triangle" w="med" len="med"/>
          </a:ln>
        </p:spPr>
        <p:style>
          <a:lnRef idx="3">
            <a:schemeClr val="accent1"/>
          </a:lnRef>
          <a:fillRef idx="0">
            <a:schemeClr val="accent1"/>
          </a:fillRef>
          <a:effectRef idx="2">
            <a:schemeClr val="accent1"/>
          </a:effectRef>
          <a:fontRef idx="minor">
            <a:schemeClr val="tx1"/>
          </a:fontRef>
        </p:style>
        <p:txBody>
          <a:bodyPr wrap="none" lIns="60722" tIns="30361" rIns="60722" bIns="30361" anchor="ctr"/>
          <a:lstStyle/>
          <a:p>
            <a:endParaRPr lang="zh-CN" altLang="en-US" sz="1015">
              <a:ln>
                <a:solidFill>
                  <a:sysClr val="windowText" lastClr="000000"/>
                </a:solidFill>
              </a:ln>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172036" name="Rectangle 4"/>
          <p:cNvSpPr>
            <a:spLocks noGrp="1" noChangeArrowheads="1"/>
          </p:cNvSpPr>
          <p:nvPr>
            <p:ph idx="1"/>
          </p:nvPr>
        </p:nvSpPr>
        <p:spPr>
          <a:prstGeom prst="rect">
            <a:avLst/>
          </a:prstGeom>
        </p:spPr>
        <p:txBody>
          <a:bodyPr>
            <a:noAutofit/>
          </a:bodyPr>
          <a:lstStyle/>
          <a:p>
            <a:pPr>
              <a:lnSpc>
                <a:spcPct val="80000"/>
              </a:lnSpc>
              <a:buFontTx/>
              <a:buAutoNum type="arabicPeriod"/>
            </a:pPr>
            <a:r>
              <a:rPr lang="zh-CN" altLang="en-US" sz="2000" dirty="0"/>
              <a:t>与用户进行访谈，并且做好记录，了解用户的业务流程。</a:t>
            </a:r>
            <a:endParaRPr lang="zh-CN" altLang="en-US" sz="2000" dirty="0"/>
          </a:p>
          <a:p>
            <a:pPr>
              <a:lnSpc>
                <a:spcPct val="80000"/>
              </a:lnSpc>
              <a:buFontTx/>
              <a:buAutoNum type="arabicPeriod"/>
            </a:pPr>
            <a:r>
              <a:rPr lang="zh-CN" altLang="en-US" sz="2000" dirty="0"/>
              <a:t>在访谈过程中，抽象出系统的“词汇”，画出领域类图。</a:t>
            </a:r>
            <a:endParaRPr lang="zh-CN" altLang="en-US" sz="2000" dirty="0"/>
          </a:p>
          <a:p>
            <a:pPr>
              <a:lnSpc>
                <a:spcPct val="80000"/>
              </a:lnSpc>
              <a:buFontTx/>
              <a:buAutoNum type="arabicPeriod"/>
            </a:pPr>
            <a:r>
              <a:rPr lang="zh-CN" altLang="en-US" sz="2000" dirty="0"/>
              <a:t>画出业务用例图，用来与用户沟通”系统应该实现什么样的业务”。</a:t>
            </a:r>
            <a:endParaRPr lang="zh-CN" altLang="en-US" sz="2000" dirty="0"/>
          </a:p>
        </p:txBody>
      </p:sp>
      <p:sp>
        <p:nvSpPr>
          <p:cNvPr id="6" name="日期占位符 5"/>
          <p:cNvSpPr>
            <a:spLocks noGrp="1"/>
          </p:cNvSpPr>
          <p:nvPr>
            <p:ph type="dt" sz="half" idx="10"/>
          </p:nvPr>
        </p:nvSpPr>
        <p:spPr/>
        <p:txBody>
          <a:bodyPr/>
          <a:lstStyle/>
          <a:p>
            <a:fld id="{7B7415A7-99B5-42A2-9EB5-D952324A4B74}"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172034" name="Picture 2"/>
          <p:cNvPicPr>
            <a:picLocks noChangeAspect="1" noChangeArrowheads="1"/>
          </p:cNvPicPr>
          <p:nvPr/>
        </p:nvPicPr>
        <p:blipFill rotWithShape="1">
          <a:blip r:embed="rId1" cstate="print"/>
          <a:srcRect l="4220" t="2985" r="10389" b="3874"/>
          <a:stretch>
            <a:fillRect/>
          </a:stretch>
        </p:blipFill>
        <p:spPr bwMode="auto">
          <a:xfrm>
            <a:off x="427741" y="2064925"/>
            <a:ext cx="3065033" cy="2788103"/>
          </a:xfrm>
          <a:prstGeom prst="rect">
            <a:avLst/>
          </a:prstGeom>
          <a:noFill/>
          <a:ln w="9525" algn="ctr">
            <a:noFill/>
            <a:miter lim="800000"/>
            <a:headEnd/>
            <a:tailEnd/>
          </a:ln>
          <a:effectLst/>
        </p:spPr>
      </p:pic>
      <p:pic>
        <p:nvPicPr>
          <p:cNvPr id="172035" name="Picture 3" descr="2008110810113940"/>
          <p:cNvPicPr>
            <a:picLocks noChangeAspect="1" noChangeArrowheads="1"/>
          </p:cNvPicPr>
          <p:nvPr/>
        </p:nvPicPr>
        <p:blipFill rotWithShape="1">
          <a:blip r:embed="rId2" cstate="print">
            <a:clrChange>
              <a:clrFrom>
                <a:srgbClr val="FFFFFF"/>
              </a:clrFrom>
              <a:clrTo>
                <a:srgbClr val="FFFFFF">
                  <a:alpha val="0"/>
                </a:srgbClr>
              </a:clrTo>
            </a:clrChange>
          </a:blip>
          <a:srcRect l="5557" t="7120" r="2392" b="6754"/>
          <a:stretch>
            <a:fillRect/>
          </a:stretch>
        </p:blipFill>
        <p:spPr bwMode="auto">
          <a:xfrm>
            <a:off x="3585111" y="2524927"/>
            <a:ext cx="5362946" cy="1962053"/>
          </a:xfrm>
          <a:prstGeom prst="rect">
            <a:avLst/>
          </a:prstGeom>
          <a:noFill/>
        </p:spPr>
      </p:pic>
      <p:graphicFrame>
        <p:nvGraphicFramePr>
          <p:cNvPr id="10" name="Object 3"/>
          <p:cNvGraphicFramePr>
            <a:graphicFrameLocks noChangeAspect="1"/>
          </p:cNvGraphicFramePr>
          <p:nvPr/>
        </p:nvGraphicFramePr>
        <p:xfrm>
          <a:off x="1125615" y="138043"/>
          <a:ext cx="7732635" cy="424443"/>
        </p:xfrm>
        <a:graphic>
          <a:graphicData uri="http://schemas.openxmlformats.org/presentationml/2006/ole">
            <mc:AlternateContent xmlns:mc="http://schemas.openxmlformats.org/markup-compatibility/2006">
              <mc:Choice xmlns:v="urn:schemas-microsoft-com:vml" Requires="v">
                <p:oleObj spid="_x0000_s3172" name="Visio" r:id="rId3" imgW="6366510" imgH="358775" progId="Visio.Drawing.11">
                  <p:embed/>
                </p:oleObj>
              </mc:Choice>
              <mc:Fallback>
                <p:oleObj name="Visio" r:id="rId3" imgW="6366510" imgH="358775"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5615" y="138043"/>
                        <a:ext cx="7732635" cy="424443"/>
                      </a:xfrm>
                      <a:prstGeom prst="rect">
                        <a:avLst/>
                      </a:prstGeom>
                      <a:noFill/>
                    </p:spPr>
                  </p:pic>
                </p:oleObj>
              </mc:Fallback>
            </mc:AlternateContent>
          </a:graphicData>
        </a:graphic>
      </p:graphicFrame>
      <p:sp>
        <p:nvSpPr>
          <p:cNvPr id="9" name="Line 5"/>
          <p:cNvSpPr>
            <a:spLocks noChangeShapeType="1"/>
          </p:cNvSpPr>
          <p:nvPr/>
        </p:nvSpPr>
        <p:spPr bwMode="auto">
          <a:xfrm flipH="1" flipV="1">
            <a:off x="2662180" y="521975"/>
            <a:ext cx="4819" cy="403538"/>
          </a:xfrm>
          <a:prstGeom prst="line">
            <a:avLst/>
          </a:prstGeom>
          <a:ln w="76200">
            <a:tailEnd type="triangle" w="med" len="med"/>
          </a:ln>
        </p:spPr>
        <p:style>
          <a:lnRef idx="3">
            <a:schemeClr val="accent1"/>
          </a:lnRef>
          <a:fillRef idx="0">
            <a:schemeClr val="accent1"/>
          </a:fillRef>
          <a:effectRef idx="2">
            <a:schemeClr val="accent1"/>
          </a:effectRef>
          <a:fontRef idx="minor">
            <a:schemeClr val="tx1"/>
          </a:fontRef>
        </p:style>
        <p:txBody>
          <a:bodyPr wrap="none" lIns="60722" tIns="30361" rIns="60722" bIns="30361" anchor="ctr"/>
          <a:lstStyle/>
          <a:p>
            <a:endParaRPr lang="zh-CN" altLang="en-US" sz="1015">
              <a:ln>
                <a:solidFill>
                  <a:sysClr val="windowText" lastClr="00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20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20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20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203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20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6" grpId="0" build="p"/>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173059" name="Rectangle 3"/>
          <p:cNvSpPr>
            <a:spLocks noGrp="1" noChangeArrowheads="1"/>
          </p:cNvSpPr>
          <p:nvPr>
            <p:ph idx="1"/>
          </p:nvPr>
        </p:nvSpPr>
        <p:spPr>
          <a:noFill/>
        </p:spPr>
        <p:txBody>
          <a:bodyPr>
            <a:noAutofit/>
          </a:bodyPr>
          <a:lstStyle/>
          <a:p>
            <a:pPr marL="342900" indent="-342900"/>
            <a:r>
              <a:rPr lang="zh-CN" altLang="en-US" sz="2000" dirty="0"/>
              <a:t>完成了业务用例图后，我们要为每一个业务用例绘制一幅活动图。活动图描述了这个业务用例中，用户可能会进行的操作序列。活动图有个很重要的使命：从业务用例分析出系统用例。</a:t>
            </a:r>
            <a:endParaRPr lang="en-US" altLang="zh-CN" sz="2000" dirty="0"/>
          </a:p>
          <a:p>
            <a:pPr marL="342900" indent="-342900"/>
            <a:r>
              <a:rPr lang="zh-CN" altLang="en-US" sz="2000" dirty="0"/>
              <a:t>例如，下面是“新闻管理”的活动图： </a:t>
            </a:r>
            <a:endParaRPr lang="zh-CN" altLang="en-US" sz="2000" dirty="0"/>
          </a:p>
        </p:txBody>
      </p:sp>
      <p:sp>
        <p:nvSpPr>
          <p:cNvPr id="5" name="日期占位符 4"/>
          <p:cNvSpPr>
            <a:spLocks noGrp="1"/>
          </p:cNvSpPr>
          <p:nvPr>
            <p:ph type="dt" sz="half" idx="10"/>
          </p:nvPr>
        </p:nvSpPr>
        <p:spPr/>
        <p:txBody>
          <a:bodyPr/>
          <a:lstStyle/>
          <a:p>
            <a:fld id="{21508BE0-7D99-4749-A3D3-B80C245F455C}"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173058" name="Picture 2" descr="2008110810194263"/>
          <p:cNvPicPr>
            <a:picLocks noChangeAspect="1" noChangeArrowheads="1"/>
          </p:cNvPicPr>
          <p:nvPr/>
        </p:nvPicPr>
        <p:blipFill rotWithShape="1">
          <a:blip r:embed="rId1" cstate="print">
            <a:clrChange>
              <a:clrFrom>
                <a:srgbClr val="FFFFFF"/>
              </a:clrFrom>
              <a:clrTo>
                <a:srgbClr val="FFFFFF">
                  <a:alpha val="0"/>
                </a:srgbClr>
              </a:clrTo>
            </a:clrChange>
          </a:blip>
          <a:srcRect l="4211" t="5659" r="3172" b="3465"/>
          <a:stretch>
            <a:fillRect/>
          </a:stretch>
        </p:blipFill>
        <p:spPr bwMode="auto">
          <a:xfrm>
            <a:off x="3975460" y="925513"/>
            <a:ext cx="4917128" cy="3842430"/>
          </a:xfrm>
          <a:prstGeom prst="rect">
            <a:avLst/>
          </a:prstGeom>
          <a:noFill/>
        </p:spPr>
      </p:pic>
      <p:graphicFrame>
        <p:nvGraphicFramePr>
          <p:cNvPr id="10" name="Object 3"/>
          <p:cNvGraphicFramePr>
            <a:graphicFrameLocks noChangeAspect="1"/>
          </p:cNvGraphicFramePr>
          <p:nvPr/>
        </p:nvGraphicFramePr>
        <p:xfrm>
          <a:off x="1125615" y="138043"/>
          <a:ext cx="7732635" cy="424443"/>
        </p:xfrm>
        <a:graphic>
          <a:graphicData uri="http://schemas.openxmlformats.org/presentationml/2006/ole">
            <mc:AlternateContent xmlns:mc="http://schemas.openxmlformats.org/markup-compatibility/2006">
              <mc:Choice xmlns:v="urn:schemas-microsoft-com:vml" Requires="v">
                <p:oleObj spid="_x0000_s4196" name="Visio" r:id="rId2" imgW="6366510" imgH="358775" progId="Visio.Drawing.11">
                  <p:embed/>
                </p:oleObj>
              </mc:Choice>
              <mc:Fallback>
                <p:oleObj name="Visio" r:id="rId2" imgW="6366510" imgH="358775" progId="Visio.Drawing.11">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5615" y="138043"/>
                        <a:ext cx="7732635" cy="424443"/>
                      </a:xfrm>
                      <a:prstGeom prst="rect">
                        <a:avLst/>
                      </a:prstGeom>
                      <a:noFill/>
                    </p:spPr>
                  </p:pic>
                </p:oleObj>
              </mc:Fallback>
            </mc:AlternateContent>
          </a:graphicData>
        </a:graphic>
      </p:graphicFrame>
      <p:sp>
        <p:nvSpPr>
          <p:cNvPr id="11" name="Line 5"/>
          <p:cNvSpPr>
            <a:spLocks noChangeShapeType="1"/>
          </p:cNvSpPr>
          <p:nvPr/>
        </p:nvSpPr>
        <p:spPr bwMode="auto">
          <a:xfrm flipH="1" flipV="1">
            <a:off x="2662180" y="521975"/>
            <a:ext cx="4819" cy="403538"/>
          </a:xfrm>
          <a:prstGeom prst="line">
            <a:avLst/>
          </a:prstGeom>
          <a:ln w="76200">
            <a:tailEnd type="triangle" w="med" len="med"/>
          </a:ln>
        </p:spPr>
        <p:style>
          <a:lnRef idx="3">
            <a:schemeClr val="accent1"/>
          </a:lnRef>
          <a:fillRef idx="0">
            <a:schemeClr val="accent1"/>
          </a:fillRef>
          <a:effectRef idx="2">
            <a:schemeClr val="accent1"/>
          </a:effectRef>
          <a:fontRef idx="minor">
            <a:schemeClr val="tx1"/>
          </a:fontRef>
        </p:style>
        <p:txBody>
          <a:bodyPr wrap="none" lIns="60722" tIns="30361" rIns="60722" bIns="30361" anchor="ctr"/>
          <a:lstStyle/>
          <a:p>
            <a:endParaRPr lang="zh-CN" altLang="en-US" sz="1015">
              <a:ln>
                <a:solidFill>
                  <a:sysClr val="windowText" lastClr="00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30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30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30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59" grpId="0" build="p"/>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174082" name="Rectangle 2"/>
          <p:cNvSpPr>
            <a:spLocks noGrp="1" noChangeArrowheads="1"/>
          </p:cNvSpPr>
          <p:nvPr>
            <p:ph idx="1"/>
          </p:nvPr>
        </p:nvSpPr>
        <p:spPr/>
        <p:txBody>
          <a:bodyPr>
            <a:normAutofit/>
          </a:bodyPr>
          <a:lstStyle/>
          <a:p>
            <a:pPr marL="342900" indent="-342900"/>
            <a:r>
              <a:rPr lang="zh-CN" altLang="en-US" sz="2000" dirty="0"/>
              <a:t>将每个业务用例都绘制出相应的活动图，再将其中的“活动”整合，就得出所有备选系统用例。 </a:t>
            </a:r>
            <a:endParaRPr lang="zh-CN" altLang="en-US" sz="2000" dirty="0"/>
          </a:p>
          <a:p>
            <a:pPr marL="342900" indent="-342900"/>
            <a:r>
              <a:rPr lang="zh-CN" altLang="en-US" sz="2000" dirty="0"/>
              <a:t>找出所有的备选系统用例后，我们要对他们进行</a:t>
            </a:r>
            <a:r>
              <a:rPr lang="zh-CN" altLang="en-US" sz="2000" dirty="0">
                <a:solidFill>
                  <a:srgbClr val="FF0000"/>
                </a:solidFill>
              </a:rPr>
              <a:t>合并和筛选</a:t>
            </a:r>
            <a:r>
              <a:rPr lang="zh-CN" altLang="en-US" sz="2000" dirty="0"/>
              <a:t>。合并就是将相同的用例合并成一个，筛选就是将不符合系统用例条件的备选用例去掉。一个系统用例应该是实际使用系统的用户所进行的一个操作。 </a:t>
            </a:r>
            <a:endParaRPr lang="zh-CN" altLang="en-US" sz="2000" dirty="0"/>
          </a:p>
        </p:txBody>
      </p:sp>
      <p:sp>
        <p:nvSpPr>
          <p:cNvPr id="6" name="日期占位符 5"/>
          <p:cNvSpPr>
            <a:spLocks noGrp="1"/>
          </p:cNvSpPr>
          <p:nvPr>
            <p:ph type="dt" sz="half" idx="10"/>
          </p:nvPr>
        </p:nvSpPr>
        <p:spPr/>
        <p:txBody>
          <a:bodyPr/>
          <a:lstStyle/>
          <a:p>
            <a:fld id="{17265357-89B6-499E-988E-079A55698B99}"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174083" name="Picture 3" descr="2008110810335639"/>
          <p:cNvPicPr>
            <a:picLocks noChangeAspect="1" noChangeArrowheads="1"/>
          </p:cNvPicPr>
          <p:nvPr/>
        </p:nvPicPr>
        <p:blipFill rotWithShape="1">
          <a:blip r:embed="rId1" cstate="print">
            <a:clrChange>
              <a:clrFrom>
                <a:srgbClr val="FFFFFF"/>
              </a:clrFrom>
              <a:clrTo>
                <a:srgbClr val="FFFFFF">
                  <a:alpha val="0"/>
                </a:srgbClr>
              </a:clrTo>
            </a:clrChange>
          </a:blip>
          <a:srcRect l="2982" t="4640" r="1834" b="4665"/>
          <a:stretch>
            <a:fillRect/>
          </a:stretch>
        </p:blipFill>
        <p:spPr bwMode="auto">
          <a:xfrm>
            <a:off x="1827775" y="2273509"/>
            <a:ext cx="6140567" cy="268239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0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08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0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2" grpId="0" build="p"/>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175106" name="Rectangle 2"/>
          <p:cNvSpPr>
            <a:spLocks noGrp="1" noChangeArrowheads="1"/>
          </p:cNvSpPr>
          <p:nvPr>
            <p:ph idx="1"/>
          </p:nvPr>
        </p:nvSpPr>
        <p:spPr/>
        <p:txBody>
          <a:bodyPr>
            <a:noAutofit/>
          </a:bodyPr>
          <a:lstStyle/>
          <a:p>
            <a:pPr>
              <a:lnSpc>
                <a:spcPct val="100000"/>
              </a:lnSpc>
              <a:spcBef>
                <a:spcPts val="600"/>
              </a:spcBef>
            </a:pPr>
            <a:r>
              <a:rPr lang="zh-CN" altLang="en-US" sz="2000" dirty="0"/>
              <a:t>得出系统用例图后，我们应该对每一个系统用例给出用例规约。关于用例规约，没有一个通用的格式，大家可以按照习惯的格式进行编写。对用例规约唯一的要求就是“清晰易懂”。</a:t>
            </a:r>
            <a:endParaRPr lang="en-US" altLang="zh-CN" sz="2000" dirty="0"/>
          </a:p>
          <a:p>
            <a:pPr>
              <a:lnSpc>
                <a:spcPct val="100000"/>
              </a:lnSpc>
              <a:spcBef>
                <a:spcPts val="600"/>
              </a:spcBef>
            </a:pPr>
            <a:r>
              <a:rPr lang="zh-CN" altLang="en-US" sz="2000" dirty="0"/>
              <a:t>下面给出“登录”这个系统用例的一个规约：</a:t>
            </a:r>
            <a:endParaRPr lang="zh-CN" altLang="en-US" sz="2000" dirty="0"/>
          </a:p>
        </p:txBody>
      </p:sp>
      <p:sp>
        <p:nvSpPr>
          <p:cNvPr id="5" name="日期占位符 4"/>
          <p:cNvSpPr>
            <a:spLocks noGrp="1"/>
          </p:cNvSpPr>
          <p:nvPr>
            <p:ph type="dt" sz="half" idx="10"/>
          </p:nvPr>
        </p:nvSpPr>
        <p:spPr/>
        <p:txBody>
          <a:bodyPr/>
          <a:lstStyle/>
          <a:p>
            <a:fld id="{4626C35A-2C97-41D3-AABE-54C69378B50C}"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175109" name="Picture 5" descr="2008110810385349"/>
          <p:cNvPicPr>
            <a:picLocks noChangeAspect="1" noChangeArrowheads="1"/>
          </p:cNvPicPr>
          <p:nvPr/>
        </p:nvPicPr>
        <p:blipFill rotWithShape="1">
          <a:blip r:embed="rId1" cstate="print"/>
          <a:srcRect b="2686"/>
          <a:stretch>
            <a:fillRect/>
          </a:stretch>
        </p:blipFill>
        <p:spPr bwMode="auto">
          <a:xfrm>
            <a:off x="3187966" y="1175272"/>
            <a:ext cx="5956034" cy="3448636"/>
          </a:xfrm>
          <a:prstGeom prst="rect">
            <a:avLst/>
          </a:prstGeom>
          <a:noFill/>
        </p:spPr>
      </p:pic>
      <p:graphicFrame>
        <p:nvGraphicFramePr>
          <p:cNvPr id="10" name="Object 3"/>
          <p:cNvGraphicFramePr>
            <a:graphicFrameLocks noChangeAspect="1"/>
          </p:cNvGraphicFramePr>
          <p:nvPr/>
        </p:nvGraphicFramePr>
        <p:xfrm>
          <a:off x="1125615" y="138043"/>
          <a:ext cx="7732635" cy="424443"/>
        </p:xfrm>
        <a:graphic>
          <a:graphicData uri="http://schemas.openxmlformats.org/presentationml/2006/ole">
            <mc:AlternateContent xmlns:mc="http://schemas.openxmlformats.org/markup-compatibility/2006">
              <mc:Choice xmlns:v="urn:schemas-microsoft-com:vml" Requires="v">
                <p:oleObj spid="_x0000_s5220" name="Visio" r:id="rId2" imgW="6366510" imgH="358775" progId="Visio.Drawing.11">
                  <p:embed/>
                </p:oleObj>
              </mc:Choice>
              <mc:Fallback>
                <p:oleObj name="Visio" r:id="rId2" imgW="6366510" imgH="358775" progId="Visio.Drawing.11">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5615" y="138043"/>
                        <a:ext cx="7732635" cy="424443"/>
                      </a:xfrm>
                      <a:prstGeom prst="rect">
                        <a:avLst/>
                      </a:prstGeom>
                      <a:noFill/>
                    </p:spPr>
                  </p:pic>
                </p:oleObj>
              </mc:Fallback>
            </mc:AlternateContent>
          </a:graphicData>
        </a:graphic>
      </p:graphicFrame>
      <p:sp>
        <p:nvSpPr>
          <p:cNvPr id="11" name="Line 5"/>
          <p:cNvSpPr>
            <a:spLocks noChangeShapeType="1"/>
          </p:cNvSpPr>
          <p:nvPr/>
        </p:nvSpPr>
        <p:spPr bwMode="auto">
          <a:xfrm flipH="1" flipV="1">
            <a:off x="3837837" y="562486"/>
            <a:ext cx="4819" cy="403538"/>
          </a:xfrm>
          <a:prstGeom prst="line">
            <a:avLst/>
          </a:prstGeom>
          <a:ln w="76200">
            <a:tailEnd type="triangle" w="med" len="med"/>
          </a:ln>
        </p:spPr>
        <p:style>
          <a:lnRef idx="3">
            <a:schemeClr val="accent1"/>
          </a:lnRef>
          <a:fillRef idx="0">
            <a:schemeClr val="accent1"/>
          </a:fillRef>
          <a:effectRef idx="2">
            <a:schemeClr val="accent1"/>
          </a:effectRef>
          <a:fontRef idx="minor">
            <a:schemeClr val="tx1"/>
          </a:fontRef>
        </p:style>
        <p:txBody>
          <a:bodyPr wrap="none" lIns="60722" tIns="30361" rIns="60722" bIns="30361" anchor="ctr"/>
          <a:lstStyle/>
          <a:p>
            <a:endParaRPr lang="zh-CN" altLang="en-US" sz="1015">
              <a:ln>
                <a:solidFill>
                  <a:sysClr val="windowText" lastClr="00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75109"/>
                                        </p:tgtEl>
                                        <p:attrNameLst>
                                          <p:attrName>style.visibility</p:attrName>
                                        </p:attrNameLst>
                                      </p:cBhvr>
                                      <p:to>
                                        <p:strVal val="visible"/>
                                      </p:to>
                                    </p:set>
                                    <p:animEffect transition="in" filter="randombar(horizontal)">
                                      <p:cBhvr>
                                        <p:cTn id="7" dur="500"/>
                                        <p:tgtEl>
                                          <p:spTgt spid="175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176131" name="Rectangle 3"/>
          <p:cNvSpPr>
            <a:spLocks noGrp="1" noChangeArrowheads="1"/>
          </p:cNvSpPr>
          <p:nvPr>
            <p:ph idx="1"/>
          </p:nvPr>
        </p:nvSpPr>
        <p:spPr/>
        <p:txBody>
          <a:bodyPr>
            <a:noAutofit/>
          </a:bodyPr>
          <a:lstStyle/>
          <a:p>
            <a:pPr>
              <a:lnSpc>
                <a:spcPct val="110000"/>
              </a:lnSpc>
            </a:pPr>
            <a:r>
              <a:rPr lang="zh-CN" altLang="en-US" sz="2000" dirty="0"/>
              <a:t>在设计阶段，需要绘制实现类图和包图。同时还涉及到组件图，时序图，协作图等。</a:t>
            </a:r>
            <a:endParaRPr lang="zh-CN" altLang="en-US" sz="2000" dirty="0"/>
          </a:p>
          <a:p>
            <a:pPr>
              <a:lnSpc>
                <a:spcPct val="110000"/>
              </a:lnSpc>
            </a:pPr>
            <a:r>
              <a:rPr lang="zh-CN" altLang="en-US" sz="2000" dirty="0"/>
              <a:t>实现类图和领域类图不一样，它描述的是真正系统的静态结构，是和最后的代码完全一致的。因此，它和平台关系密切，必须准确给出系统中的实体类、控制类、界面类、接口等元素以及其中的关系。 </a:t>
            </a:r>
            <a:endParaRPr lang="zh-CN" altLang="en-US" sz="2000" dirty="0"/>
          </a:p>
        </p:txBody>
      </p:sp>
      <p:sp>
        <p:nvSpPr>
          <p:cNvPr id="5" name="日期占位符 4"/>
          <p:cNvSpPr>
            <a:spLocks noGrp="1"/>
          </p:cNvSpPr>
          <p:nvPr>
            <p:ph type="dt" sz="half" idx="10"/>
          </p:nvPr>
        </p:nvSpPr>
        <p:spPr/>
        <p:txBody>
          <a:bodyPr/>
          <a:lstStyle/>
          <a:p>
            <a:fld id="{61E3CBC3-ECD4-4151-900B-94C044A6DB46}"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176130" name="Picture 2" descr="2008110811011165"/>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4516526" y="993550"/>
            <a:ext cx="4464188" cy="3859478"/>
          </a:xfrm>
          <a:prstGeom prst="rect">
            <a:avLst/>
          </a:prstGeom>
          <a:noFill/>
        </p:spPr>
      </p:pic>
      <p:graphicFrame>
        <p:nvGraphicFramePr>
          <p:cNvPr id="10" name="Object 3"/>
          <p:cNvGraphicFramePr>
            <a:graphicFrameLocks noChangeAspect="1"/>
          </p:cNvGraphicFramePr>
          <p:nvPr/>
        </p:nvGraphicFramePr>
        <p:xfrm>
          <a:off x="1125615" y="138043"/>
          <a:ext cx="7732635" cy="424443"/>
        </p:xfrm>
        <a:graphic>
          <a:graphicData uri="http://schemas.openxmlformats.org/presentationml/2006/ole">
            <mc:AlternateContent xmlns:mc="http://schemas.openxmlformats.org/markup-compatibility/2006">
              <mc:Choice xmlns:v="urn:schemas-microsoft-com:vml" Requires="v">
                <p:oleObj spid="_x0000_s6244" name="Visio" r:id="rId2" imgW="6366510" imgH="358775" progId="Visio.Drawing.11">
                  <p:embed/>
                </p:oleObj>
              </mc:Choice>
              <mc:Fallback>
                <p:oleObj name="Visio" r:id="rId2" imgW="6366510" imgH="358775" progId="Visio.Drawing.11">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5615" y="138043"/>
                        <a:ext cx="7732635" cy="424443"/>
                      </a:xfrm>
                      <a:prstGeom prst="rect">
                        <a:avLst/>
                      </a:prstGeom>
                      <a:noFill/>
                    </p:spPr>
                  </p:pic>
                </p:oleObj>
              </mc:Fallback>
            </mc:AlternateContent>
          </a:graphicData>
        </a:graphic>
      </p:graphicFrame>
      <p:sp>
        <p:nvSpPr>
          <p:cNvPr id="11" name="Line 5"/>
          <p:cNvSpPr>
            <a:spLocks noChangeShapeType="1"/>
          </p:cNvSpPr>
          <p:nvPr/>
        </p:nvSpPr>
        <p:spPr bwMode="auto">
          <a:xfrm flipH="1" flipV="1">
            <a:off x="4987113" y="562486"/>
            <a:ext cx="4819" cy="403538"/>
          </a:xfrm>
          <a:prstGeom prst="line">
            <a:avLst/>
          </a:prstGeom>
          <a:ln w="76200">
            <a:tailEnd type="triangle" w="med" len="med"/>
          </a:ln>
        </p:spPr>
        <p:style>
          <a:lnRef idx="3">
            <a:schemeClr val="accent1"/>
          </a:lnRef>
          <a:fillRef idx="0">
            <a:schemeClr val="accent1"/>
          </a:fillRef>
          <a:effectRef idx="2">
            <a:schemeClr val="accent1"/>
          </a:effectRef>
          <a:fontRef idx="minor">
            <a:schemeClr val="tx1"/>
          </a:fontRef>
        </p:style>
        <p:txBody>
          <a:bodyPr wrap="none" lIns="60722" tIns="30361" rIns="60722" bIns="30361" anchor="ctr"/>
          <a:lstStyle/>
          <a:p>
            <a:endParaRPr lang="zh-CN" altLang="en-US" sz="1015">
              <a:ln>
                <a:solidFill>
                  <a:sysClr val="windowText" lastClr="00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61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61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6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1" grpId="0" build="p"/>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177155" name="Rectangle 3"/>
          <p:cNvSpPr>
            <a:spLocks noGrp="1" noChangeArrowheads="1"/>
          </p:cNvSpPr>
          <p:nvPr>
            <p:ph idx="1"/>
          </p:nvPr>
        </p:nvSpPr>
        <p:spPr/>
        <p:txBody>
          <a:bodyPr>
            <a:noAutofit/>
          </a:bodyPr>
          <a:lstStyle/>
          <a:p>
            <a:pPr>
              <a:lnSpc>
                <a:spcPct val="120000"/>
              </a:lnSpc>
            </a:pPr>
            <a:r>
              <a:rPr lang="zh-CN" altLang="en-US" sz="2000" dirty="0">
                <a:solidFill>
                  <a:schemeClr val="accent2">
                    <a:lumMod val="75000"/>
                  </a:schemeClr>
                </a:solidFill>
              </a:rPr>
              <a:t>有了静态结构，我们还要给出动态结构，这样，才能看清系统间的类是如何交互的，从而有效帮助程序员进行编码工作。</a:t>
            </a:r>
            <a:endParaRPr lang="zh-CN" altLang="en-US" sz="2000" dirty="0">
              <a:solidFill>
                <a:schemeClr val="accent2">
                  <a:lumMod val="75000"/>
                </a:schemeClr>
              </a:solidFill>
            </a:endParaRPr>
          </a:p>
        </p:txBody>
      </p:sp>
      <p:sp>
        <p:nvSpPr>
          <p:cNvPr id="5" name="日期占位符 4"/>
          <p:cNvSpPr>
            <a:spLocks noGrp="1"/>
          </p:cNvSpPr>
          <p:nvPr>
            <p:ph type="dt" sz="half" idx="10"/>
          </p:nvPr>
        </p:nvSpPr>
        <p:spPr/>
        <p:txBody>
          <a:bodyPr/>
          <a:lstStyle/>
          <a:p>
            <a:fld id="{FDB987A4-8516-4686-811F-BA60C2382842}"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177158" name="Picture 6" descr="2008110811025047"/>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3363686" y="964711"/>
            <a:ext cx="5230667" cy="3639946"/>
          </a:xfrm>
          <a:prstGeom prst="rect">
            <a:avLst/>
          </a:prstGeom>
          <a:noFill/>
        </p:spPr>
      </p:pic>
      <p:sp>
        <p:nvSpPr>
          <p:cNvPr id="177159" name="Text Box 7"/>
          <p:cNvSpPr txBox="1">
            <a:spLocks noChangeArrowheads="1"/>
          </p:cNvSpPr>
          <p:nvPr/>
        </p:nvSpPr>
        <p:spPr bwMode="auto">
          <a:xfrm>
            <a:off x="2909077" y="4546348"/>
            <a:ext cx="6139884" cy="306680"/>
          </a:xfrm>
          <a:prstGeom prst="rect">
            <a:avLst/>
          </a:prstGeom>
        </p:spPr>
        <p:style>
          <a:lnRef idx="2">
            <a:schemeClr val="accent1"/>
          </a:lnRef>
          <a:fillRef idx="1">
            <a:schemeClr val="lt1"/>
          </a:fillRef>
          <a:effectRef idx="0">
            <a:schemeClr val="accent1"/>
          </a:effectRef>
          <a:fontRef idx="minor">
            <a:schemeClr val="dk1"/>
          </a:fontRef>
        </p:style>
        <p:txBody>
          <a:bodyPr lIns="50879" tIns="25440" rIns="50879" bIns="25440"/>
          <a:lstStyle/>
          <a:p>
            <a:pPr algn="ctr" defTabSz="509270">
              <a:lnSpc>
                <a:spcPct val="90000"/>
              </a:lnSpc>
              <a:spcBef>
                <a:spcPct val="20000"/>
              </a:spcBef>
              <a:buClr>
                <a:srgbClr val="003366"/>
              </a:buClr>
            </a:pPr>
            <a:r>
              <a:rPr lang="zh-CN" altLang="en-US" sz="1600" b="1" dirty="0">
                <a:solidFill>
                  <a:srgbClr val="000000"/>
                </a:solidFill>
                <a:latin typeface="+mj-ea"/>
                <a:ea typeface="+mj-ea"/>
              </a:rPr>
              <a:t>时序图在实际中是很多的，几乎每个类方法都配有相应的时序图 </a:t>
            </a:r>
            <a:endParaRPr lang="zh-CN" altLang="en-US" sz="1600" b="1" dirty="0">
              <a:solidFill>
                <a:srgbClr val="000000"/>
              </a:solidFill>
              <a:latin typeface="+mj-ea"/>
              <a:ea typeface="+mj-ea"/>
            </a:endParaRPr>
          </a:p>
        </p:txBody>
      </p:sp>
      <p:graphicFrame>
        <p:nvGraphicFramePr>
          <p:cNvPr id="10" name="Object 3"/>
          <p:cNvGraphicFramePr>
            <a:graphicFrameLocks noChangeAspect="1"/>
          </p:cNvGraphicFramePr>
          <p:nvPr/>
        </p:nvGraphicFramePr>
        <p:xfrm>
          <a:off x="1125615" y="138043"/>
          <a:ext cx="7732635" cy="424443"/>
        </p:xfrm>
        <a:graphic>
          <a:graphicData uri="http://schemas.openxmlformats.org/presentationml/2006/ole">
            <mc:AlternateContent xmlns:mc="http://schemas.openxmlformats.org/markup-compatibility/2006">
              <mc:Choice xmlns:v="urn:schemas-microsoft-com:vml" Requires="v">
                <p:oleObj spid="_x0000_s7268" name="Visio" r:id="rId2" imgW="6366510" imgH="358775" progId="Visio.Drawing.11">
                  <p:embed/>
                </p:oleObj>
              </mc:Choice>
              <mc:Fallback>
                <p:oleObj name="Visio" r:id="rId2" imgW="6366510" imgH="358775" progId="Visio.Drawing.11">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5615" y="138043"/>
                        <a:ext cx="7732635" cy="424443"/>
                      </a:xfrm>
                      <a:prstGeom prst="rect">
                        <a:avLst/>
                      </a:prstGeom>
                      <a:noFill/>
                    </p:spPr>
                  </p:pic>
                </p:oleObj>
              </mc:Fallback>
            </mc:AlternateContent>
          </a:graphicData>
        </a:graphic>
      </p:graphicFrame>
      <p:sp>
        <p:nvSpPr>
          <p:cNvPr id="12" name="Line 5"/>
          <p:cNvSpPr>
            <a:spLocks noChangeShapeType="1"/>
          </p:cNvSpPr>
          <p:nvPr/>
        </p:nvSpPr>
        <p:spPr bwMode="auto">
          <a:xfrm flipH="1" flipV="1">
            <a:off x="4987113" y="561173"/>
            <a:ext cx="4819" cy="403538"/>
          </a:xfrm>
          <a:prstGeom prst="line">
            <a:avLst/>
          </a:prstGeom>
          <a:ln w="76200">
            <a:tailEnd type="triangle" w="med" len="med"/>
          </a:ln>
        </p:spPr>
        <p:style>
          <a:lnRef idx="3">
            <a:schemeClr val="accent1"/>
          </a:lnRef>
          <a:fillRef idx="0">
            <a:schemeClr val="accent1"/>
          </a:fillRef>
          <a:effectRef idx="2">
            <a:schemeClr val="accent1"/>
          </a:effectRef>
          <a:fontRef idx="minor">
            <a:schemeClr val="tx1"/>
          </a:fontRef>
        </p:style>
        <p:txBody>
          <a:bodyPr wrap="none" lIns="60722" tIns="30361" rIns="60722" bIns="30361" anchor="ctr"/>
          <a:lstStyle/>
          <a:p>
            <a:endParaRPr lang="zh-CN" altLang="en-US" sz="1015">
              <a:ln>
                <a:solidFill>
                  <a:sysClr val="windowText" lastClr="000000"/>
                </a:solidFill>
              </a:ln>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8182" name="Picture 6"/>
          <p:cNvPicPr>
            <a:picLocks noChangeAspect="1" noChangeArrowheads="1"/>
          </p:cNvPicPr>
          <p:nvPr/>
        </p:nvPicPr>
        <p:blipFill>
          <a:blip r:embed="rId1" cstate="print"/>
          <a:srcRect/>
          <a:stretch>
            <a:fillRect/>
          </a:stretch>
        </p:blipFill>
        <p:spPr bwMode="auto">
          <a:xfrm>
            <a:off x="2143123" y="835573"/>
            <a:ext cx="5340124" cy="4017455"/>
          </a:xfrm>
          <a:prstGeom prst="rect">
            <a:avLst/>
          </a:prstGeom>
          <a:noFill/>
          <a:ln w="9525" algn="ctr">
            <a:noFill/>
            <a:miter lim="800000"/>
            <a:headEnd/>
            <a:tailEnd/>
          </a:ln>
          <a:effectLst/>
        </p:spPr>
      </p:pic>
      <p:sp>
        <p:nvSpPr>
          <p:cNvPr id="3" name="标题 2"/>
          <p:cNvSpPr>
            <a:spLocks noGrp="1"/>
          </p:cNvSpPr>
          <p:nvPr>
            <p:ph type="title"/>
          </p:nvPr>
        </p:nvSpPr>
        <p:spPr/>
        <p:txBody>
          <a:bodyPr/>
          <a:lstStyle/>
          <a:p>
            <a:endParaRPr lang="zh-CN" altLang="en-US"/>
          </a:p>
        </p:txBody>
      </p:sp>
      <p:sp>
        <p:nvSpPr>
          <p:cNvPr id="4" name="内容占位符 3"/>
          <p:cNvSpPr>
            <a:spLocks noGrp="1"/>
          </p:cNvSpPr>
          <p:nvPr>
            <p:ph idx="1"/>
          </p:nvPr>
        </p:nvSpPr>
        <p:spPr/>
        <p:txBody>
          <a:bodyPr/>
          <a:lstStyle/>
          <a:p>
            <a:endParaRPr lang="zh-CN" altLang="en-US"/>
          </a:p>
        </p:txBody>
      </p:sp>
      <p:sp>
        <p:nvSpPr>
          <p:cNvPr id="5" name="日期占位符 4"/>
          <p:cNvSpPr>
            <a:spLocks noGrp="1"/>
          </p:cNvSpPr>
          <p:nvPr>
            <p:ph type="dt" sz="half" idx="10"/>
          </p:nvPr>
        </p:nvSpPr>
        <p:spPr/>
        <p:txBody>
          <a:bodyPr/>
          <a:lstStyle/>
          <a:p>
            <a:fld id="{9809CDF4-EA50-4C39-BAF1-EECE0636C842}"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graphicFrame>
        <p:nvGraphicFramePr>
          <p:cNvPr id="8" name="Object 3"/>
          <p:cNvGraphicFramePr>
            <a:graphicFrameLocks noChangeAspect="1"/>
          </p:cNvGraphicFramePr>
          <p:nvPr/>
        </p:nvGraphicFramePr>
        <p:xfrm>
          <a:off x="1125615" y="138043"/>
          <a:ext cx="7732635" cy="424443"/>
        </p:xfrm>
        <a:graphic>
          <a:graphicData uri="http://schemas.openxmlformats.org/presentationml/2006/ole">
            <mc:AlternateContent xmlns:mc="http://schemas.openxmlformats.org/markup-compatibility/2006">
              <mc:Choice xmlns:v="urn:schemas-microsoft-com:vml" Requires="v">
                <p:oleObj spid="_x0000_s8292" name="Visio" r:id="rId2" imgW="6366510" imgH="358775" progId="Visio.Drawing.11">
                  <p:embed/>
                </p:oleObj>
              </mc:Choice>
              <mc:Fallback>
                <p:oleObj name="Visio" r:id="rId2" imgW="6366510" imgH="358775" progId="Visio.Drawing.11">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5615" y="138043"/>
                        <a:ext cx="7732635" cy="424443"/>
                      </a:xfrm>
                      <a:prstGeom prst="rect">
                        <a:avLst/>
                      </a:prstGeom>
                      <a:noFill/>
                    </p:spPr>
                  </p:pic>
                </p:oleObj>
              </mc:Fallback>
            </mc:AlternateContent>
          </a:graphicData>
        </a:graphic>
      </p:graphicFrame>
      <p:sp>
        <p:nvSpPr>
          <p:cNvPr id="9" name="Line 5"/>
          <p:cNvSpPr>
            <a:spLocks noChangeShapeType="1"/>
          </p:cNvSpPr>
          <p:nvPr/>
        </p:nvSpPr>
        <p:spPr bwMode="auto">
          <a:xfrm flipH="1" flipV="1">
            <a:off x="6123837" y="562486"/>
            <a:ext cx="4819" cy="403538"/>
          </a:xfrm>
          <a:prstGeom prst="line">
            <a:avLst/>
          </a:prstGeom>
          <a:ln w="76200">
            <a:tailEnd type="triangle" w="med" len="med"/>
          </a:ln>
        </p:spPr>
        <p:style>
          <a:lnRef idx="3">
            <a:schemeClr val="accent1"/>
          </a:lnRef>
          <a:fillRef idx="0">
            <a:schemeClr val="accent1"/>
          </a:fillRef>
          <a:effectRef idx="2">
            <a:schemeClr val="accent1"/>
          </a:effectRef>
          <a:fontRef idx="minor">
            <a:schemeClr val="tx1"/>
          </a:fontRef>
        </p:style>
        <p:txBody>
          <a:bodyPr wrap="none" lIns="60722" tIns="30361" rIns="60722" bIns="30361" anchor="ctr"/>
          <a:lstStyle/>
          <a:p>
            <a:endParaRPr lang="zh-CN" altLang="en-US" sz="1015">
              <a:ln>
                <a:solidFill>
                  <a:sysClr val="windowText" lastClr="000000"/>
                </a:solidFill>
              </a:ln>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179203" name="Rectangle 3"/>
          <p:cNvSpPr>
            <a:spLocks noGrp="1" noChangeArrowheads="1"/>
          </p:cNvSpPr>
          <p:nvPr>
            <p:ph idx="1"/>
          </p:nvPr>
        </p:nvSpPr>
        <p:spPr/>
        <p:txBody>
          <a:bodyPr>
            <a:noAutofit/>
          </a:bodyPr>
          <a:lstStyle/>
          <a:p>
            <a:r>
              <a:rPr lang="zh-CN" altLang="en-US" sz="2000" dirty="0"/>
              <a:t>编写缺陷报告、测试报告</a:t>
            </a:r>
            <a:r>
              <a:rPr lang="en-US" altLang="zh-CN" sz="2000" dirty="0"/>
              <a:t>……</a:t>
            </a:r>
            <a:endParaRPr lang="en-US" altLang="zh-CN" sz="2000" dirty="0"/>
          </a:p>
        </p:txBody>
      </p:sp>
      <p:sp>
        <p:nvSpPr>
          <p:cNvPr id="5" name="日期占位符 4"/>
          <p:cNvSpPr>
            <a:spLocks noGrp="1"/>
          </p:cNvSpPr>
          <p:nvPr>
            <p:ph type="dt" sz="half" idx="10"/>
          </p:nvPr>
        </p:nvSpPr>
        <p:spPr/>
        <p:txBody>
          <a:bodyPr/>
          <a:lstStyle/>
          <a:p>
            <a:fld id="{1B3CCDDA-C37D-49C3-9780-0F6590C8DA0C}"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79206" name="AutoShape 6"/>
          <p:cNvSpPr>
            <a:spLocks noChangeArrowheads="1"/>
          </p:cNvSpPr>
          <p:nvPr/>
        </p:nvSpPr>
        <p:spPr bwMode="auto">
          <a:xfrm>
            <a:off x="2643187" y="2143125"/>
            <a:ext cx="900113" cy="1028700"/>
          </a:xfrm>
          <a:prstGeom prst="flowChartMultidocument">
            <a:avLst/>
          </a:prstGeom>
          <a:solidFill>
            <a:srgbClr val="DDDDDD"/>
          </a:solidFill>
          <a:ln w="9525">
            <a:solidFill>
              <a:schemeClr val="tx1"/>
            </a:solidFill>
            <a:miter lim="800000"/>
          </a:ln>
          <a:effectLst/>
        </p:spPr>
        <p:txBody>
          <a:bodyPr wrap="none" lIns="60722" tIns="30361" rIns="60722" bIns="30361" anchor="ctr"/>
          <a:lstStyle/>
          <a:p>
            <a:endParaRPr lang="zh-CN" altLang="en-US" sz="1015"/>
          </a:p>
        </p:txBody>
      </p:sp>
      <p:sp>
        <p:nvSpPr>
          <p:cNvPr id="179207" name="AutoShape 7"/>
          <p:cNvSpPr>
            <a:spLocks noChangeArrowheads="1"/>
          </p:cNvSpPr>
          <p:nvPr/>
        </p:nvSpPr>
        <p:spPr bwMode="auto">
          <a:xfrm>
            <a:off x="3800475" y="2143125"/>
            <a:ext cx="900113" cy="1028700"/>
          </a:xfrm>
          <a:prstGeom prst="flowChartMultidocument">
            <a:avLst/>
          </a:prstGeom>
          <a:solidFill>
            <a:srgbClr val="DDDDDD"/>
          </a:solidFill>
          <a:ln w="9525">
            <a:solidFill>
              <a:schemeClr val="tx1"/>
            </a:solidFill>
            <a:miter lim="800000"/>
          </a:ln>
          <a:effectLst/>
        </p:spPr>
        <p:txBody>
          <a:bodyPr wrap="none" lIns="60722" tIns="30361" rIns="60722" bIns="30361" anchor="ctr"/>
          <a:lstStyle/>
          <a:p>
            <a:endParaRPr lang="zh-CN" altLang="en-US" sz="1015"/>
          </a:p>
        </p:txBody>
      </p:sp>
      <p:sp>
        <p:nvSpPr>
          <p:cNvPr id="179208" name="AutoShape 8"/>
          <p:cNvSpPr>
            <a:spLocks noChangeArrowheads="1"/>
          </p:cNvSpPr>
          <p:nvPr/>
        </p:nvSpPr>
        <p:spPr bwMode="auto">
          <a:xfrm>
            <a:off x="4914900" y="2100263"/>
            <a:ext cx="900113" cy="1028700"/>
          </a:xfrm>
          <a:prstGeom prst="flowChartMultidocument">
            <a:avLst/>
          </a:prstGeom>
          <a:solidFill>
            <a:srgbClr val="DDDDDD"/>
          </a:solidFill>
          <a:ln w="9525">
            <a:solidFill>
              <a:schemeClr val="tx1"/>
            </a:solidFill>
            <a:miter lim="800000"/>
          </a:ln>
          <a:effectLst/>
        </p:spPr>
        <p:txBody>
          <a:bodyPr wrap="none" lIns="60722" tIns="30361" rIns="60722" bIns="30361" anchor="ctr"/>
          <a:lstStyle/>
          <a:p>
            <a:endParaRPr lang="zh-CN" altLang="en-US" sz="1015"/>
          </a:p>
        </p:txBody>
      </p:sp>
      <p:graphicFrame>
        <p:nvGraphicFramePr>
          <p:cNvPr id="11" name="Object 3"/>
          <p:cNvGraphicFramePr>
            <a:graphicFrameLocks noChangeAspect="1"/>
          </p:cNvGraphicFramePr>
          <p:nvPr/>
        </p:nvGraphicFramePr>
        <p:xfrm>
          <a:off x="1125615" y="138043"/>
          <a:ext cx="7732635" cy="424443"/>
        </p:xfrm>
        <a:graphic>
          <a:graphicData uri="http://schemas.openxmlformats.org/presentationml/2006/ole">
            <mc:AlternateContent xmlns:mc="http://schemas.openxmlformats.org/markup-compatibility/2006">
              <mc:Choice xmlns:v="urn:schemas-microsoft-com:vml" Requires="v">
                <p:oleObj spid="_x0000_s9316" name="Visio" r:id="rId1" imgW="6366510" imgH="358775" progId="Visio.Drawing.11">
                  <p:embed/>
                </p:oleObj>
              </mc:Choice>
              <mc:Fallback>
                <p:oleObj name="Visio" r:id="rId1" imgW="6366510" imgH="358775"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5615" y="138043"/>
                        <a:ext cx="7732635" cy="424443"/>
                      </a:xfrm>
                      <a:prstGeom prst="rect">
                        <a:avLst/>
                      </a:prstGeom>
                      <a:noFill/>
                    </p:spPr>
                  </p:pic>
                </p:oleObj>
              </mc:Fallback>
            </mc:AlternateContent>
          </a:graphicData>
        </a:graphic>
      </p:graphicFrame>
      <p:sp>
        <p:nvSpPr>
          <p:cNvPr id="13" name="Line 5"/>
          <p:cNvSpPr>
            <a:spLocks noChangeShapeType="1"/>
          </p:cNvSpPr>
          <p:nvPr/>
        </p:nvSpPr>
        <p:spPr bwMode="auto">
          <a:xfrm flipH="1" flipV="1">
            <a:off x="7201523" y="562486"/>
            <a:ext cx="4819" cy="403538"/>
          </a:xfrm>
          <a:prstGeom prst="line">
            <a:avLst/>
          </a:prstGeom>
          <a:ln w="76200">
            <a:tailEnd type="triangle" w="med" len="med"/>
          </a:ln>
        </p:spPr>
        <p:style>
          <a:lnRef idx="3">
            <a:schemeClr val="accent1"/>
          </a:lnRef>
          <a:fillRef idx="0">
            <a:schemeClr val="accent1"/>
          </a:fillRef>
          <a:effectRef idx="2">
            <a:schemeClr val="accent1"/>
          </a:effectRef>
          <a:fontRef idx="minor">
            <a:schemeClr val="tx1"/>
          </a:fontRef>
        </p:style>
        <p:txBody>
          <a:bodyPr wrap="none" lIns="60722" tIns="30361" rIns="60722" bIns="30361" anchor="ctr"/>
          <a:lstStyle/>
          <a:p>
            <a:endParaRPr lang="zh-CN" altLang="en-US" sz="1015">
              <a:ln>
                <a:solidFill>
                  <a:sysClr val="windowText" lastClr="000000"/>
                </a:solidFill>
              </a:ln>
            </a:endParaRPr>
          </a:p>
        </p:txBody>
      </p:sp>
      <p:sp>
        <p:nvSpPr>
          <p:cNvPr id="14" name="Rectangle 3"/>
          <p:cNvSpPr txBox="1">
            <a:spLocks noChangeArrowheads="1"/>
          </p:cNvSpPr>
          <p:nvPr/>
        </p:nvSpPr>
        <p:spPr>
          <a:xfrm>
            <a:off x="1199772" y="3566219"/>
            <a:ext cx="7106028" cy="907809"/>
          </a:xfrm>
          <a:prstGeom prst="rect">
            <a:avLst/>
          </a:prstGeom>
        </p:spPr>
        <p:txBody>
          <a:bodyPr vert="horz" lIns="45720" tIns="45720" rIns="45720" bIns="45720" rtlCol="0">
            <a:noAutofit/>
          </a:bodyPr>
          <a:lst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44577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58293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a:lstStyle>
          <a:p>
            <a:pPr marL="342900" indent="-342900"/>
            <a:r>
              <a:rPr lang="zh-CN" altLang="en-US" sz="2000" dirty="0"/>
              <a:t>经过测试的软件，可以交付用户使用了，在使用过程中，要不断进行维护。</a:t>
            </a:r>
            <a:endParaRPr lang="en-US" altLang="zh-CN" sz="20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r>
              <a:rPr lang="zh-CN" altLang="en-US" dirty="0"/>
              <a:t>项目介绍</a:t>
            </a:r>
            <a:endParaRPr lang="zh-CN" altLang="en-US" dirty="0"/>
          </a:p>
        </p:txBody>
      </p:sp>
      <p:sp>
        <p:nvSpPr>
          <p:cNvPr id="183299" name="Rectangle 3"/>
          <p:cNvSpPr>
            <a:spLocks noGrp="1" noChangeArrowheads="1"/>
          </p:cNvSpPr>
          <p:nvPr>
            <p:ph idx="1"/>
          </p:nvPr>
        </p:nvSpPr>
        <p:spPr/>
        <p:txBody>
          <a:bodyPr>
            <a:noAutofit/>
          </a:bodyPr>
          <a:lstStyle/>
          <a:p>
            <a:pPr>
              <a:lnSpc>
                <a:spcPct val="110000"/>
              </a:lnSpc>
            </a:pPr>
            <a:r>
              <a:rPr lang="zh-CN" altLang="en-US" sz="2000" dirty="0"/>
              <a:t>项目名：中国赛艇协会网上报名系统</a:t>
            </a:r>
            <a:endParaRPr lang="zh-CN" altLang="en-US" sz="2000" dirty="0"/>
          </a:p>
          <a:p>
            <a:pPr>
              <a:lnSpc>
                <a:spcPct val="110000"/>
              </a:lnSpc>
            </a:pPr>
            <a:r>
              <a:rPr lang="zh-CN" altLang="en-US" sz="2000" dirty="0"/>
              <a:t>项目期限：</a:t>
            </a:r>
            <a:r>
              <a:rPr lang="en-US" altLang="zh-CN" sz="2000" dirty="0"/>
              <a:t>2020</a:t>
            </a:r>
            <a:r>
              <a:rPr lang="zh-CN" altLang="en-US" sz="2000" dirty="0"/>
              <a:t>年</a:t>
            </a:r>
            <a:r>
              <a:rPr lang="en-US" altLang="zh-CN" sz="2000" dirty="0"/>
              <a:t>6</a:t>
            </a:r>
            <a:r>
              <a:rPr lang="zh-CN" altLang="en-US" sz="2000" dirty="0"/>
              <a:t>月底前交付</a:t>
            </a:r>
            <a:endParaRPr lang="en-US" altLang="zh-CN" sz="2000" dirty="0"/>
          </a:p>
          <a:p>
            <a:pPr>
              <a:lnSpc>
                <a:spcPct val="110000"/>
              </a:lnSpc>
            </a:pPr>
            <a:r>
              <a:rPr lang="zh-CN" altLang="en-US" sz="2000" dirty="0"/>
              <a:t>项目背景：一直没有一款网上报名系统，全依赖人工管理，各省队参赛报名以</a:t>
            </a:r>
            <a:r>
              <a:rPr lang="en-US" altLang="zh-CN" sz="2000" dirty="0"/>
              <a:t>Excel</a:t>
            </a:r>
            <a:r>
              <a:rPr lang="zh-CN" altLang="en-US" sz="2000" dirty="0"/>
              <a:t>文件提交给赛艇协会，由工作人员整理报名信息。</a:t>
            </a:r>
            <a:endParaRPr lang="zh-CN" altLang="en-US" sz="2000" dirty="0"/>
          </a:p>
          <a:p>
            <a:pPr>
              <a:lnSpc>
                <a:spcPct val="110000"/>
              </a:lnSpc>
            </a:pPr>
            <a:r>
              <a:rPr lang="zh-CN" altLang="en-US" sz="2000" dirty="0"/>
              <a:t>用户基本要求概述：开发一个网上报名系统，用于各省对运动员参赛报名，以及中国赛艇协会发布赛事信息和统计整理报名信息。该系统可以用来代替目前中国赛艇协会人工管理的日常工作，提高办公自动化水平，减少人力成本，提高办公效率。</a:t>
            </a:r>
            <a:endParaRPr lang="zh-CN" altLang="zh-CN" sz="2000" dirty="0"/>
          </a:p>
          <a:p>
            <a:pPr>
              <a:lnSpc>
                <a:spcPct val="110000"/>
              </a:lnSpc>
            </a:pPr>
            <a:r>
              <a:rPr lang="zh-CN" altLang="en-US" sz="2000" dirty="0"/>
              <a:t>进一步的要求需要再访谈。</a:t>
            </a:r>
            <a:endParaRPr lang="zh-CN" altLang="en-US" sz="2000" dirty="0"/>
          </a:p>
          <a:p>
            <a:pPr>
              <a:lnSpc>
                <a:spcPct val="110000"/>
              </a:lnSpc>
            </a:pPr>
            <a:endParaRPr lang="zh-CN" altLang="en-US" sz="2000" dirty="0"/>
          </a:p>
          <a:p>
            <a:pPr>
              <a:lnSpc>
                <a:spcPct val="110000"/>
              </a:lnSpc>
            </a:pPr>
            <a:endParaRPr lang="en-US" altLang="zh-CN" sz="2000" dirty="0"/>
          </a:p>
        </p:txBody>
      </p:sp>
      <p:sp>
        <p:nvSpPr>
          <p:cNvPr id="5" name="日期占位符 4"/>
          <p:cNvSpPr>
            <a:spLocks noGrp="1"/>
          </p:cNvSpPr>
          <p:nvPr>
            <p:ph type="dt" sz="half" idx="10"/>
          </p:nvPr>
        </p:nvSpPr>
        <p:spPr/>
        <p:txBody>
          <a:bodyPr/>
          <a:lstStyle/>
          <a:p>
            <a:fld id="{1B10C315-EE01-4F33-9FFC-105459C4E2FF}"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本课小结</a:t>
            </a:r>
            <a:endParaRPr lang="zh-CN" altLang="en-US" dirty="0"/>
          </a:p>
        </p:txBody>
      </p:sp>
      <p:sp>
        <p:nvSpPr>
          <p:cNvPr id="2" name="内容占位符 1"/>
          <p:cNvSpPr>
            <a:spLocks noGrp="1"/>
          </p:cNvSpPr>
          <p:nvPr>
            <p:ph idx="1"/>
          </p:nvPr>
        </p:nvSpPr>
        <p:spPr/>
        <p:txBody>
          <a:bodyPr/>
          <a:lstStyle/>
          <a:p>
            <a:pPr>
              <a:lnSpc>
                <a:spcPct val="120000"/>
              </a:lnSpc>
              <a:spcBef>
                <a:spcPts val="450"/>
              </a:spcBef>
            </a:pPr>
            <a:r>
              <a:rPr lang="zh-CN" altLang="en-US" sz="2400" b="1" dirty="0"/>
              <a:t>软件计划阶段的工作</a:t>
            </a:r>
            <a:endParaRPr lang="en-US" altLang="zh-CN" sz="2400" b="1" dirty="0"/>
          </a:p>
          <a:p>
            <a:pPr lvl="1">
              <a:lnSpc>
                <a:spcPct val="120000"/>
              </a:lnSpc>
              <a:spcBef>
                <a:spcPts val="450"/>
              </a:spcBef>
            </a:pPr>
            <a:r>
              <a:rPr lang="zh-CN" altLang="en-US" sz="1800" dirty="0"/>
              <a:t>业务建模</a:t>
            </a:r>
            <a:endParaRPr lang="en-US" altLang="zh-CN" sz="1800" dirty="0"/>
          </a:p>
          <a:p>
            <a:pPr lvl="1">
              <a:lnSpc>
                <a:spcPct val="120000"/>
              </a:lnSpc>
              <a:spcBef>
                <a:spcPts val="450"/>
              </a:spcBef>
            </a:pPr>
            <a:r>
              <a:rPr lang="zh-CN" altLang="en-US" sz="1800" dirty="0"/>
              <a:t>问题定义</a:t>
            </a:r>
            <a:endParaRPr lang="en-US" altLang="zh-CN" sz="1800" dirty="0"/>
          </a:p>
          <a:p>
            <a:pPr lvl="1">
              <a:lnSpc>
                <a:spcPct val="120000"/>
              </a:lnSpc>
              <a:spcBef>
                <a:spcPts val="450"/>
              </a:spcBef>
            </a:pPr>
            <a:r>
              <a:rPr lang="zh-CN" altLang="en-US" sz="1800" dirty="0"/>
              <a:t>可行性研究、项目计划</a:t>
            </a:r>
            <a:endParaRPr lang="en-US" altLang="zh-CN" sz="1800" dirty="0"/>
          </a:p>
          <a:p>
            <a:pPr>
              <a:lnSpc>
                <a:spcPct val="120000"/>
              </a:lnSpc>
              <a:spcBef>
                <a:spcPts val="1800"/>
              </a:spcBef>
            </a:pPr>
            <a:r>
              <a:rPr lang="en-US" altLang="zh-CN" sz="2400" b="1" dirty="0"/>
              <a:t>UML</a:t>
            </a:r>
            <a:r>
              <a:rPr lang="zh-CN" altLang="zh-CN" sz="2400" b="1" dirty="0"/>
              <a:t>语言概述</a:t>
            </a:r>
            <a:endParaRPr lang="zh-CN" altLang="zh-CN" sz="2400" b="1" dirty="0"/>
          </a:p>
          <a:p>
            <a:pPr lvl="1">
              <a:lnSpc>
                <a:spcPct val="120000"/>
              </a:lnSpc>
              <a:spcBef>
                <a:spcPts val="450"/>
              </a:spcBef>
            </a:pPr>
            <a:r>
              <a:rPr lang="en-US" altLang="zh-CN" sz="1800" dirty="0"/>
              <a:t>UML</a:t>
            </a:r>
            <a:r>
              <a:rPr lang="zh-CN" altLang="zh-CN" sz="1800" dirty="0"/>
              <a:t>的定义</a:t>
            </a:r>
            <a:r>
              <a:rPr lang="zh-CN" altLang="en-US" sz="1800" dirty="0"/>
              <a:t>和</a:t>
            </a:r>
            <a:r>
              <a:rPr lang="zh-CN" altLang="zh-CN" sz="1800" dirty="0"/>
              <a:t>组成</a:t>
            </a:r>
            <a:r>
              <a:rPr lang="en-US" altLang="zh-CN" sz="1800" dirty="0"/>
              <a:t> </a:t>
            </a:r>
            <a:endParaRPr lang="zh-CN" altLang="zh-CN" sz="1800" dirty="0"/>
          </a:p>
          <a:p>
            <a:pPr lvl="1">
              <a:lnSpc>
                <a:spcPct val="120000"/>
              </a:lnSpc>
              <a:spcBef>
                <a:spcPts val="450"/>
              </a:spcBef>
            </a:pPr>
            <a:r>
              <a:rPr lang="en-US" altLang="zh-CN" sz="1800" dirty="0"/>
              <a:t>UML</a:t>
            </a:r>
            <a:r>
              <a:rPr lang="zh-CN" altLang="zh-CN" sz="1800" dirty="0"/>
              <a:t>的</a:t>
            </a:r>
            <a:r>
              <a:rPr lang="en-US" altLang="zh-CN" sz="1800" dirty="0"/>
              <a:t>5</a:t>
            </a:r>
            <a:r>
              <a:rPr lang="zh-CN" altLang="zh-CN" sz="1800" dirty="0"/>
              <a:t>类图形</a:t>
            </a:r>
            <a:endParaRPr lang="zh-CN" altLang="zh-CN" sz="1800" dirty="0"/>
          </a:p>
          <a:p>
            <a:pPr lvl="1">
              <a:lnSpc>
                <a:spcPct val="120000"/>
              </a:lnSpc>
              <a:spcBef>
                <a:spcPts val="450"/>
              </a:spcBef>
            </a:pPr>
            <a:r>
              <a:rPr lang="en-US" altLang="zh-CN" sz="1800" dirty="0"/>
              <a:t>UML</a:t>
            </a:r>
            <a:r>
              <a:rPr lang="zh-CN" altLang="zh-CN" sz="1800" dirty="0"/>
              <a:t>的应用</a:t>
            </a:r>
            <a:endParaRPr lang="zh-CN" altLang="en-US" sz="1800" dirty="0"/>
          </a:p>
        </p:txBody>
      </p:sp>
      <p:sp>
        <p:nvSpPr>
          <p:cNvPr id="36" name="日期占位符 35"/>
          <p:cNvSpPr>
            <a:spLocks noGrp="1"/>
          </p:cNvSpPr>
          <p:nvPr>
            <p:ph type="dt" sz="half" idx="10"/>
          </p:nvPr>
        </p:nvSpPr>
        <p:spPr/>
        <p:txBody>
          <a:bodyPr/>
          <a:lstStyle/>
          <a:p>
            <a:fld id="{A5E8C790-FD3A-4098-A017-D728D901B615}" type="datetime1">
              <a:rPr lang="zh-CN" altLang="en-US" smtClean="0"/>
            </a:fld>
            <a:endParaRPr lang="zh-CN" altLang="en-US" dirty="0"/>
          </a:p>
        </p:txBody>
      </p:sp>
      <p:sp>
        <p:nvSpPr>
          <p:cNvPr id="37" name="页脚占位符 36"/>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7" name="Group 6"/>
          <p:cNvGrpSpPr/>
          <p:nvPr/>
        </p:nvGrpSpPr>
        <p:grpSpPr>
          <a:xfrm>
            <a:off x="5567279" y="1461741"/>
            <a:ext cx="3209575" cy="3270280"/>
            <a:chOff x="3827463" y="1565275"/>
            <a:chExt cx="1195388" cy="1271588"/>
          </a:xfrm>
          <a:solidFill>
            <a:srgbClr val="92D050"/>
          </a:solidFill>
        </p:grpSpPr>
        <p:sp>
          <p:nvSpPr>
            <p:cNvPr id="8" name="Freeform 70"/>
            <p:cNvSpPr/>
            <p:nvPr/>
          </p:nvSpPr>
          <p:spPr bwMode="auto">
            <a:xfrm>
              <a:off x="4010026" y="1708150"/>
              <a:ext cx="835025" cy="1128713"/>
            </a:xfrm>
            <a:custGeom>
              <a:avLst/>
              <a:gdLst/>
              <a:ahLst/>
              <a:cxnLst>
                <a:cxn ang="0">
                  <a:pos x="104" y="385"/>
                </a:cxn>
                <a:cxn ang="0">
                  <a:pos x="112" y="230"/>
                </a:cxn>
                <a:cxn ang="0">
                  <a:pos x="6" y="164"/>
                </a:cxn>
                <a:cxn ang="0">
                  <a:pos x="121" y="191"/>
                </a:cxn>
                <a:cxn ang="0">
                  <a:pos x="126" y="93"/>
                </a:cxn>
                <a:cxn ang="0">
                  <a:pos x="76" y="29"/>
                </a:cxn>
                <a:cxn ang="0">
                  <a:pos x="132" y="61"/>
                </a:cxn>
                <a:cxn ang="0">
                  <a:pos x="174" y="5"/>
                </a:cxn>
                <a:cxn ang="0">
                  <a:pos x="149" y="79"/>
                </a:cxn>
                <a:cxn ang="0">
                  <a:pos x="171" y="196"/>
                </a:cxn>
                <a:cxn ang="0">
                  <a:pos x="277" y="149"/>
                </a:cxn>
                <a:cxn ang="0">
                  <a:pos x="177" y="228"/>
                </a:cxn>
                <a:cxn ang="0">
                  <a:pos x="178" y="385"/>
                </a:cxn>
                <a:cxn ang="0">
                  <a:pos x="104" y="385"/>
                </a:cxn>
              </a:cxnLst>
              <a:rect l="0" t="0" r="r" b="b"/>
              <a:pathLst>
                <a:path w="285" h="385">
                  <a:moveTo>
                    <a:pt x="104" y="385"/>
                  </a:moveTo>
                  <a:cubicBezTo>
                    <a:pt x="104" y="385"/>
                    <a:pt x="139" y="260"/>
                    <a:pt x="112" y="230"/>
                  </a:cubicBezTo>
                  <a:cubicBezTo>
                    <a:pt x="64" y="179"/>
                    <a:pt x="0" y="166"/>
                    <a:pt x="6" y="164"/>
                  </a:cubicBezTo>
                  <a:cubicBezTo>
                    <a:pt x="44" y="154"/>
                    <a:pt x="105" y="205"/>
                    <a:pt x="121" y="191"/>
                  </a:cubicBezTo>
                  <a:cubicBezTo>
                    <a:pt x="134" y="180"/>
                    <a:pt x="136" y="117"/>
                    <a:pt x="126" y="93"/>
                  </a:cubicBezTo>
                  <a:cubicBezTo>
                    <a:pt x="107" y="46"/>
                    <a:pt x="60" y="29"/>
                    <a:pt x="76" y="29"/>
                  </a:cubicBezTo>
                  <a:cubicBezTo>
                    <a:pt x="98" y="29"/>
                    <a:pt x="128" y="66"/>
                    <a:pt x="132" y="61"/>
                  </a:cubicBezTo>
                  <a:cubicBezTo>
                    <a:pt x="137" y="57"/>
                    <a:pt x="164" y="0"/>
                    <a:pt x="174" y="5"/>
                  </a:cubicBezTo>
                  <a:cubicBezTo>
                    <a:pt x="177" y="7"/>
                    <a:pt x="149" y="36"/>
                    <a:pt x="149" y="79"/>
                  </a:cubicBezTo>
                  <a:cubicBezTo>
                    <a:pt x="149" y="121"/>
                    <a:pt x="154" y="206"/>
                    <a:pt x="171" y="196"/>
                  </a:cubicBezTo>
                  <a:cubicBezTo>
                    <a:pt x="200" y="178"/>
                    <a:pt x="257" y="147"/>
                    <a:pt x="277" y="149"/>
                  </a:cubicBezTo>
                  <a:cubicBezTo>
                    <a:pt x="285" y="150"/>
                    <a:pt x="196" y="185"/>
                    <a:pt x="177" y="228"/>
                  </a:cubicBezTo>
                  <a:cubicBezTo>
                    <a:pt x="161" y="264"/>
                    <a:pt x="170" y="373"/>
                    <a:pt x="178" y="385"/>
                  </a:cubicBezTo>
                  <a:lnTo>
                    <a:pt x="104" y="385"/>
                  </a:lnTo>
                  <a:close/>
                </a:path>
              </a:pathLst>
            </a:custGeom>
            <a:solidFill>
              <a:srgbClr val="B65310"/>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9" name="Freeform 71"/>
            <p:cNvSpPr/>
            <p:nvPr/>
          </p:nvSpPr>
          <p:spPr bwMode="auto">
            <a:xfrm>
              <a:off x="4495801" y="2089150"/>
              <a:ext cx="166688" cy="114300"/>
            </a:xfrm>
            <a:custGeom>
              <a:avLst/>
              <a:gdLst/>
              <a:ahLst/>
              <a:cxnLst>
                <a:cxn ang="0">
                  <a:pos x="27" y="39"/>
                </a:cxn>
                <a:cxn ang="0">
                  <a:pos x="20" y="0"/>
                </a:cxn>
                <a:cxn ang="0">
                  <a:pos x="27" y="39"/>
                </a:cxn>
              </a:cxnLst>
              <a:rect l="0" t="0" r="r" b="b"/>
              <a:pathLst>
                <a:path w="57" h="39">
                  <a:moveTo>
                    <a:pt x="27" y="39"/>
                  </a:moveTo>
                  <a:cubicBezTo>
                    <a:pt x="27" y="39"/>
                    <a:pt x="0" y="36"/>
                    <a:pt x="20" y="0"/>
                  </a:cubicBezTo>
                  <a:cubicBezTo>
                    <a:pt x="20" y="0"/>
                    <a:pt x="57" y="26"/>
                    <a:pt x="27" y="3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0" name="Freeform 72"/>
            <p:cNvSpPr/>
            <p:nvPr/>
          </p:nvSpPr>
          <p:spPr bwMode="auto">
            <a:xfrm>
              <a:off x="4621213" y="2025650"/>
              <a:ext cx="161925" cy="117475"/>
            </a:xfrm>
            <a:custGeom>
              <a:avLst/>
              <a:gdLst/>
              <a:ahLst/>
              <a:cxnLst>
                <a:cxn ang="0">
                  <a:pos x="23" y="40"/>
                </a:cxn>
                <a:cxn ang="0">
                  <a:pos x="27" y="0"/>
                </a:cxn>
                <a:cxn ang="0">
                  <a:pos x="23" y="40"/>
                </a:cxn>
              </a:cxnLst>
              <a:rect l="0" t="0" r="r" b="b"/>
              <a:pathLst>
                <a:path w="55" h="40">
                  <a:moveTo>
                    <a:pt x="23" y="40"/>
                  </a:moveTo>
                  <a:cubicBezTo>
                    <a:pt x="23" y="40"/>
                    <a:pt x="0" y="32"/>
                    <a:pt x="27" y="0"/>
                  </a:cubicBezTo>
                  <a:cubicBezTo>
                    <a:pt x="27" y="0"/>
                    <a:pt x="55" y="35"/>
                    <a:pt x="23" y="4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1" name="Freeform 73"/>
            <p:cNvSpPr/>
            <p:nvPr/>
          </p:nvSpPr>
          <p:spPr bwMode="auto">
            <a:xfrm>
              <a:off x="4718051" y="1971675"/>
              <a:ext cx="173038" cy="138113"/>
            </a:xfrm>
            <a:custGeom>
              <a:avLst/>
              <a:gdLst/>
              <a:ahLst/>
              <a:cxnLst>
                <a:cxn ang="0">
                  <a:pos x="22" y="47"/>
                </a:cxn>
                <a:cxn ang="0">
                  <a:pos x="40" y="0"/>
                </a:cxn>
                <a:cxn ang="0">
                  <a:pos x="22" y="47"/>
                </a:cxn>
              </a:cxnLst>
              <a:rect l="0" t="0" r="r" b="b"/>
              <a:pathLst>
                <a:path w="59" h="47">
                  <a:moveTo>
                    <a:pt x="22" y="47"/>
                  </a:moveTo>
                  <a:cubicBezTo>
                    <a:pt x="22" y="47"/>
                    <a:pt x="0" y="25"/>
                    <a:pt x="40" y="0"/>
                  </a:cubicBezTo>
                  <a:cubicBezTo>
                    <a:pt x="40" y="0"/>
                    <a:pt x="59" y="43"/>
                    <a:pt x="22" y="4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2" name="Freeform 74"/>
            <p:cNvSpPr/>
            <p:nvPr/>
          </p:nvSpPr>
          <p:spPr bwMode="auto">
            <a:xfrm>
              <a:off x="4873626" y="2009775"/>
              <a:ext cx="149225" cy="117475"/>
            </a:xfrm>
            <a:custGeom>
              <a:avLst/>
              <a:gdLst/>
              <a:ahLst/>
              <a:cxnLst>
                <a:cxn ang="0">
                  <a:pos x="4" y="24"/>
                </a:cxn>
                <a:cxn ang="0">
                  <a:pos x="51" y="10"/>
                </a:cxn>
                <a:cxn ang="0">
                  <a:pos x="39" y="25"/>
                </a:cxn>
                <a:cxn ang="0">
                  <a:pos x="4" y="24"/>
                </a:cxn>
              </a:cxnLst>
              <a:rect l="0" t="0" r="r" b="b"/>
              <a:pathLst>
                <a:path w="51" h="40">
                  <a:moveTo>
                    <a:pt x="4" y="24"/>
                  </a:moveTo>
                  <a:cubicBezTo>
                    <a:pt x="4" y="24"/>
                    <a:pt x="0" y="0"/>
                    <a:pt x="51" y="10"/>
                  </a:cubicBezTo>
                  <a:cubicBezTo>
                    <a:pt x="51" y="10"/>
                    <a:pt x="46" y="15"/>
                    <a:pt x="39" y="25"/>
                  </a:cubicBezTo>
                  <a:cubicBezTo>
                    <a:pt x="32" y="34"/>
                    <a:pt x="11" y="40"/>
                    <a:pt x="4"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3" name="Freeform 75"/>
            <p:cNvSpPr/>
            <p:nvPr/>
          </p:nvSpPr>
          <p:spPr bwMode="auto">
            <a:xfrm>
              <a:off x="4827588" y="2165350"/>
              <a:ext cx="131763" cy="92075"/>
            </a:xfrm>
            <a:custGeom>
              <a:avLst/>
              <a:gdLst/>
              <a:ahLst/>
              <a:cxnLst>
                <a:cxn ang="0">
                  <a:pos x="14" y="0"/>
                </a:cxn>
                <a:cxn ang="0">
                  <a:pos x="45" y="20"/>
                </a:cxn>
                <a:cxn ang="0">
                  <a:pos x="9" y="16"/>
                </a:cxn>
                <a:cxn ang="0">
                  <a:pos x="14" y="0"/>
                </a:cxn>
              </a:cxnLst>
              <a:rect l="0" t="0" r="r" b="b"/>
              <a:pathLst>
                <a:path w="45" h="31">
                  <a:moveTo>
                    <a:pt x="14" y="0"/>
                  </a:moveTo>
                  <a:cubicBezTo>
                    <a:pt x="14" y="0"/>
                    <a:pt x="40" y="3"/>
                    <a:pt x="45" y="20"/>
                  </a:cubicBezTo>
                  <a:cubicBezTo>
                    <a:pt x="45" y="20"/>
                    <a:pt x="28" y="31"/>
                    <a:pt x="9" y="16"/>
                  </a:cubicBezTo>
                  <a:cubicBezTo>
                    <a:pt x="0" y="8"/>
                    <a:pt x="6" y="1"/>
                    <a:pt x="14" y="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4" name="Freeform 76"/>
            <p:cNvSpPr/>
            <p:nvPr/>
          </p:nvSpPr>
          <p:spPr bwMode="auto">
            <a:xfrm>
              <a:off x="4751388" y="2212975"/>
              <a:ext cx="104775" cy="111125"/>
            </a:xfrm>
            <a:custGeom>
              <a:avLst/>
              <a:gdLst/>
              <a:ahLst/>
              <a:cxnLst>
                <a:cxn ang="0">
                  <a:pos x="6" y="8"/>
                </a:cxn>
                <a:cxn ang="0">
                  <a:pos x="27" y="11"/>
                </a:cxn>
                <a:cxn ang="0">
                  <a:pos x="36" y="38"/>
                </a:cxn>
                <a:cxn ang="0">
                  <a:pos x="5" y="23"/>
                </a:cxn>
                <a:cxn ang="0">
                  <a:pos x="6" y="8"/>
                </a:cxn>
              </a:cxnLst>
              <a:rect l="0" t="0" r="r" b="b"/>
              <a:pathLst>
                <a:path w="36" h="38">
                  <a:moveTo>
                    <a:pt x="6" y="8"/>
                  </a:moveTo>
                  <a:cubicBezTo>
                    <a:pt x="6" y="8"/>
                    <a:pt x="17" y="0"/>
                    <a:pt x="27" y="11"/>
                  </a:cubicBezTo>
                  <a:cubicBezTo>
                    <a:pt x="36" y="21"/>
                    <a:pt x="34" y="33"/>
                    <a:pt x="36" y="38"/>
                  </a:cubicBezTo>
                  <a:cubicBezTo>
                    <a:pt x="36" y="38"/>
                    <a:pt x="14" y="35"/>
                    <a:pt x="5" y="23"/>
                  </a:cubicBezTo>
                  <a:cubicBezTo>
                    <a:pt x="0" y="16"/>
                    <a:pt x="4" y="11"/>
                    <a:pt x="6" y="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5" name="Freeform 77"/>
            <p:cNvSpPr/>
            <p:nvPr/>
          </p:nvSpPr>
          <p:spPr bwMode="auto">
            <a:xfrm>
              <a:off x="4638676" y="2279650"/>
              <a:ext cx="138113" cy="111125"/>
            </a:xfrm>
            <a:custGeom>
              <a:avLst/>
              <a:gdLst/>
              <a:ahLst/>
              <a:cxnLst>
                <a:cxn ang="0">
                  <a:pos x="15" y="5"/>
                </a:cxn>
                <a:cxn ang="0">
                  <a:pos x="39" y="12"/>
                </a:cxn>
                <a:cxn ang="0">
                  <a:pos x="47" y="35"/>
                </a:cxn>
                <a:cxn ang="0">
                  <a:pos x="15" y="5"/>
                </a:cxn>
              </a:cxnLst>
              <a:rect l="0" t="0" r="r" b="b"/>
              <a:pathLst>
                <a:path w="47" h="38">
                  <a:moveTo>
                    <a:pt x="15" y="5"/>
                  </a:moveTo>
                  <a:cubicBezTo>
                    <a:pt x="15" y="5"/>
                    <a:pt x="31" y="0"/>
                    <a:pt x="39" y="12"/>
                  </a:cubicBezTo>
                  <a:cubicBezTo>
                    <a:pt x="47" y="23"/>
                    <a:pt x="44" y="31"/>
                    <a:pt x="47" y="35"/>
                  </a:cubicBezTo>
                  <a:cubicBezTo>
                    <a:pt x="47" y="35"/>
                    <a:pt x="0" y="38"/>
                    <a:pt x="15" y="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6" name="Freeform 78"/>
            <p:cNvSpPr/>
            <p:nvPr/>
          </p:nvSpPr>
          <p:spPr bwMode="auto">
            <a:xfrm>
              <a:off x="4132263" y="2089150"/>
              <a:ext cx="123825" cy="117475"/>
            </a:xfrm>
            <a:custGeom>
              <a:avLst/>
              <a:gdLst/>
              <a:ahLst/>
              <a:cxnLst>
                <a:cxn ang="0">
                  <a:pos x="22" y="35"/>
                </a:cxn>
                <a:cxn ang="0">
                  <a:pos x="40" y="0"/>
                </a:cxn>
                <a:cxn ang="0">
                  <a:pos x="40" y="17"/>
                </a:cxn>
                <a:cxn ang="0">
                  <a:pos x="22" y="35"/>
                </a:cxn>
              </a:cxnLst>
              <a:rect l="0" t="0" r="r" b="b"/>
              <a:pathLst>
                <a:path w="42" h="40">
                  <a:moveTo>
                    <a:pt x="22" y="35"/>
                  </a:moveTo>
                  <a:cubicBezTo>
                    <a:pt x="22" y="35"/>
                    <a:pt x="0" y="19"/>
                    <a:pt x="40" y="0"/>
                  </a:cubicBezTo>
                  <a:cubicBezTo>
                    <a:pt x="40" y="0"/>
                    <a:pt x="39" y="8"/>
                    <a:pt x="40" y="17"/>
                  </a:cubicBezTo>
                  <a:cubicBezTo>
                    <a:pt x="42" y="25"/>
                    <a:pt x="36" y="40"/>
                    <a:pt x="22" y="3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7" name="Freeform 79"/>
            <p:cNvSpPr/>
            <p:nvPr/>
          </p:nvSpPr>
          <p:spPr bwMode="auto">
            <a:xfrm>
              <a:off x="4067176" y="2036763"/>
              <a:ext cx="112713" cy="123825"/>
            </a:xfrm>
            <a:custGeom>
              <a:avLst/>
              <a:gdLst/>
              <a:ahLst/>
              <a:cxnLst>
                <a:cxn ang="0">
                  <a:pos x="11" y="36"/>
                </a:cxn>
                <a:cxn ang="0">
                  <a:pos x="17" y="6"/>
                </a:cxn>
                <a:cxn ang="0">
                  <a:pos x="28" y="0"/>
                </a:cxn>
                <a:cxn ang="0">
                  <a:pos x="25" y="39"/>
                </a:cxn>
                <a:cxn ang="0">
                  <a:pos x="11" y="36"/>
                </a:cxn>
              </a:cxnLst>
              <a:rect l="0" t="0" r="r" b="b"/>
              <a:pathLst>
                <a:path w="38" h="42">
                  <a:moveTo>
                    <a:pt x="11" y="36"/>
                  </a:moveTo>
                  <a:cubicBezTo>
                    <a:pt x="11" y="36"/>
                    <a:pt x="0" y="21"/>
                    <a:pt x="17" y="6"/>
                  </a:cubicBezTo>
                  <a:cubicBezTo>
                    <a:pt x="21" y="3"/>
                    <a:pt x="28" y="0"/>
                    <a:pt x="28" y="0"/>
                  </a:cubicBezTo>
                  <a:cubicBezTo>
                    <a:pt x="28" y="0"/>
                    <a:pt x="38" y="31"/>
                    <a:pt x="25" y="39"/>
                  </a:cubicBezTo>
                  <a:cubicBezTo>
                    <a:pt x="20" y="42"/>
                    <a:pt x="14" y="41"/>
                    <a:pt x="11" y="36"/>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8" name="Freeform 80"/>
            <p:cNvSpPr/>
            <p:nvPr/>
          </p:nvSpPr>
          <p:spPr bwMode="auto">
            <a:xfrm>
              <a:off x="3956051" y="2019300"/>
              <a:ext cx="109538" cy="125413"/>
            </a:xfrm>
            <a:custGeom>
              <a:avLst/>
              <a:gdLst/>
              <a:ahLst/>
              <a:cxnLst>
                <a:cxn ang="0">
                  <a:pos x="19" y="42"/>
                </a:cxn>
                <a:cxn ang="0">
                  <a:pos x="9" y="15"/>
                </a:cxn>
                <a:cxn ang="0">
                  <a:pos x="17" y="0"/>
                </a:cxn>
                <a:cxn ang="0">
                  <a:pos x="24" y="11"/>
                </a:cxn>
                <a:cxn ang="0">
                  <a:pos x="19" y="42"/>
                </a:cxn>
              </a:cxnLst>
              <a:rect l="0" t="0" r="r" b="b"/>
              <a:pathLst>
                <a:path w="37" h="43">
                  <a:moveTo>
                    <a:pt x="19" y="42"/>
                  </a:moveTo>
                  <a:cubicBezTo>
                    <a:pt x="9" y="43"/>
                    <a:pt x="0" y="30"/>
                    <a:pt x="9" y="15"/>
                  </a:cubicBezTo>
                  <a:cubicBezTo>
                    <a:pt x="17" y="0"/>
                    <a:pt x="17" y="0"/>
                    <a:pt x="17" y="0"/>
                  </a:cubicBezTo>
                  <a:cubicBezTo>
                    <a:pt x="17" y="0"/>
                    <a:pt x="21" y="7"/>
                    <a:pt x="24" y="11"/>
                  </a:cubicBezTo>
                  <a:cubicBezTo>
                    <a:pt x="30" y="20"/>
                    <a:pt x="37" y="42"/>
                    <a:pt x="19"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9" name="Freeform 81"/>
            <p:cNvSpPr/>
            <p:nvPr/>
          </p:nvSpPr>
          <p:spPr bwMode="auto">
            <a:xfrm>
              <a:off x="3827463" y="2106613"/>
              <a:ext cx="146050" cy="100013"/>
            </a:xfrm>
            <a:custGeom>
              <a:avLst/>
              <a:gdLst/>
              <a:ahLst/>
              <a:cxnLst>
                <a:cxn ang="0">
                  <a:pos x="49" y="24"/>
                </a:cxn>
                <a:cxn ang="0">
                  <a:pos x="9" y="12"/>
                </a:cxn>
                <a:cxn ang="0">
                  <a:pos x="0" y="19"/>
                </a:cxn>
                <a:cxn ang="0">
                  <a:pos x="23" y="33"/>
                </a:cxn>
                <a:cxn ang="0">
                  <a:pos x="49" y="24"/>
                </a:cxn>
              </a:cxnLst>
              <a:rect l="0" t="0" r="r" b="b"/>
              <a:pathLst>
                <a:path w="50" h="34">
                  <a:moveTo>
                    <a:pt x="49" y="24"/>
                  </a:moveTo>
                  <a:cubicBezTo>
                    <a:pt x="49" y="24"/>
                    <a:pt x="30" y="0"/>
                    <a:pt x="9" y="12"/>
                  </a:cubicBezTo>
                  <a:cubicBezTo>
                    <a:pt x="9" y="12"/>
                    <a:pt x="3" y="17"/>
                    <a:pt x="0" y="19"/>
                  </a:cubicBezTo>
                  <a:cubicBezTo>
                    <a:pt x="0" y="19"/>
                    <a:pt x="10" y="32"/>
                    <a:pt x="23" y="33"/>
                  </a:cubicBezTo>
                  <a:cubicBezTo>
                    <a:pt x="35" y="34"/>
                    <a:pt x="50" y="33"/>
                    <a:pt x="49"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0" name="Freeform 82"/>
            <p:cNvSpPr/>
            <p:nvPr/>
          </p:nvSpPr>
          <p:spPr bwMode="auto">
            <a:xfrm>
              <a:off x="3948113" y="2220913"/>
              <a:ext cx="119063" cy="109538"/>
            </a:xfrm>
            <a:custGeom>
              <a:avLst/>
              <a:gdLst/>
              <a:ahLst/>
              <a:cxnLst>
                <a:cxn ang="0">
                  <a:pos x="28" y="1"/>
                </a:cxn>
                <a:cxn ang="0">
                  <a:pos x="7" y="19"/>
                </a:cxn>
                <a:cxn ang="0">
                  <a:pos x="0" y="37"/>
                </a:cxn>
                <a:cxn ang="0">
                  <a:pos x="38" y="20"/>
                </a:cxn>
                <a:cxn ang="0">
                  <a:pos x="28" y="1"/>
                </a:cxn>
              </a:cxnLst>
              <a:rect l="0" t="0" r="r" b="b"/>
              <a:pathLst>
                <a:path w="41" h="37">
                  <a:moveTo>
                    <a:pt x="28" y="1"/>
                  </a:moveTo>
                  <a:cubicBezTo>
                    <a:pt x="23" y="1"/>
                    <a:pt x="8" y="5"/>
                    <a:pt x="7" y="19"/>
                  </a:cubicBezTo>
                  <a:cubicBezTo>
                    <a:pt x="5" y="32"/>
                    <a:pt x="0" y="37"/>
                    <a:pt x="0" y="37"/>
                  </a:cubicBezTo>
                  <a:cubicBezTo>
                    <a:pt x="0" y="37"/>
                    <a:pt x="35" y="35"/>
                    <a:pt x="38" y="20"/>
                  </a:cubicBezTo>
                  <a:cubicBezTo>
                    <a:pt x="41" y="4"/>
                    <a:pt x="33" y="0"/>
                    <a:pt x="28" y="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1" name="Freeform 83"/>
            <p:cNvSpPr/>
            <p:nvPr/>
          </p:nvSpPr>
          <p:spPr bwMode="auto">
            <a:xfrm>
              <a:off x="4056063" y="2265363"/>
              <a:ext cx="179388" cy="128588"/>
            </a:xfrm>
            <a:custGeom>
              <a:avLst/>
              <a:gdLst/>
              <a:ahLst/>
              <a:cxnLst>
                <a:cxn ang="0">
                  <a:pos x="30" y="7"/>
                </a:cxn>
                <a:cxn ang="0">
                  <a:pos x="10" y="44"/>
                </a:cxn>
                <a:cxn ang="0">
                  <a:pos x="30" y="7"/>
                </a:cxn>
              </a:cxnLst>
              <a:rect l="0" t="0" r="r" b="b"/>
              <a:pathLst>
                <a:path w="61" h="44">
                  <a:moveTo>
                    <a:pt x="30" y="7"/>
                  </a:moveTo>
                  <a:cubicBezTo>
                    <a:pt x="18" y="0"/>
                    <a:pt x="0" y="12"/>
                    <a:pt x="10" y="44"/>
                  </a:cubicBezTo>
                  <a:cubicBezTo>
                    <a:pt x="10" y="44"/>
                    <a:pt x="61" y="26"/>
                    <a:pt x="30" y="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2" name="Freeform 84"/>
            <p:cNvSpPr/>
            <p:nvPr/>
          </p:nvSpPr>
          <p:spPr bwMode="auto">
            <a:xfrm>
              <a:off x="4457701" y="1565275"/>
              <a:ext cx="138113" cy="155575"/>
            </a:xfrm>
            <a:custGeom>
              <a:avLst/>
              <a:gdLst/>
              <a:ahLst/>
              <a:cxnLst>
                <a:cxn ang="0">
                  <a:pos x="23" y="44"/>
                </a:cxn>
                <a:cxn ang="0">
                  <a:pos x="42" y="0"/>
                </a:cxn>
                <a:cxn ang="0">
                  <a:pos x="46" y="17"/>
                </a:cxn>
                <a:cxn ang="0">
                  <a:pos x="23" y="44"/>
                </a:cxn>
              </a:cxnLst>
              <a:rect l="0" t="0" r="r" b="b"/>
              <a:pathLst>
                <a:path w="47" h="53">
                  <a:moveTo>
                    <a:pt x="23" y="44"/>
                  </a:moveTo>
                  <a:cubicBezTo>
                    <a:pt x="23" y="44"/>
                    <a:pt x="0" y="21"/>
                    <a:pt x="42" y="0"/>
                  </a:cubicBezTo>
                  <a:cubicBezTo>
                    <a:pt x="42" y="0"/>
                    <a:pt x="45" y="8"/>
                    <a:pt x="46" y="17"/>
                  </a:cubicBezTo>
                  <a:cubicBezTo>
                    <a:pt x="47" y="26"/>
                    <a:pt x="43" y="53"/>
                    <a:pt x="23"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3" name="Freeform 85"/>
            <p:cNvSpPr/>
            <p:nvPr/>
          </p:nvSpPr>
          <p:spPr bwMode="auto">
            <a:xfrm>
              <a:off x="4398963" y="1609725"/>
              <a:ext cx="103188" cy="133350"/>
            </a:xfrm>
            <a:custGeom>
              <a:avLst/>
              <a:gdLst/>
              <a:ahLst/>
              <a:cxnLst>
                <a:cxn ang="0">
                  <a:pos x="24" y="41"/>
                </a:cxn>
                <a:cxn ang="0">
                  <a:pos x="14" y="11"/>
                </a:cxn>
                <a:cxn ang="0">
                  <a:pos x="1" y="0"/>
                </a:cxn>
                <a:cxn ang="0">
                  <a:pos x="1" y="19"/>
                </a:cxn>
                <a:cxn ang="0">
                  <a:pos x="10" y="43"/>
                </a:cxn>
                <a:cxn ang="0">
                  <a:pos x="24" y="41"/>
                </a:cxn>
              </a:cxnLst>
              <a:rect l="0" t="0" r="r" b="b"/>
              <a:pathLst>
                <a:path w="35" h="46">
                  <a:moveTo>
                    <a:pt x="24" y="41"/>
                  </a:moveTo>
                  <a:cubicBezTo>
                    <a:pt x="24" y="41"/>
                    <a:pt x="35" y="25"/>
                    <a:pt x="14" y="11"/>
                  </a:cubicBezTo>
                  <a:cubicBezTo>
                    <a:pt x="3" y="3"/>
                    <a:pt x="1" y="0"/>
                    <a:pt x="1" y="0"/>
                  </a:cubicBezTo>
                  <a:cubicBezTo>
                    <a:pt x="1" y="0"/>
                    <a:pt x="0" y="14"/>
                    <a:pt x="1" y="19"/>
                  </a:cubicBezTo>
                  <a:cubicBezTo>
                    <a:pt x="1" y="24"/>
                    <a:pt x="0" y="38"/>
                    <a:pt x="10" y="43"/>
                  </a:cubicBezTo>
                  <a:cubicBezTo>
                    <a:pt x="17" y="46"/>
                    <a:pt x="24" y="41"/>
                    <a:pt x="2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4" name="Freeform 86"/>
            <p:cNvSpPr/>
            <p:nvPr/>
          </p:nvSpPr>
          <p:spPr bwMode="auto">
            <a:xfrm>
              <a:off x="4527551" y="1682750"/>
              <a:ext cx="138113" cy="131763"/>
            </a:xfrm>
            <a:custGeom>
              <a:avLst/>
              <a:gdLst/>
              <a:ahLst/>
              <a:cxnLst>
                <a:cxn ang="0">
                  <a:pos x="6" y="21"/>
                </a:cxn>
                <a:cxn ang="0">
                  <a:pos x="47" y="34"/>
                </a:cxn>
                <a:cxn ang="0">
                  <a:pos x="9" y="35"/>
                </a:cxn>
                <a:cxn ang="0">
                  <a:pos x="6" y="21"/>
                </a:cxn>
              </a:cxnLst>
              <a:rect l="0" t="0" r="r" b="b"/>
              <a:pathLst>
                <a:path w="47" h="45">
                  <a:moveTo>
                    <a:pt x="6" y="21"/>
                  </a:moveTo>
                  <a:cubicBezTo>
                    <a:pt x="6" y="21"/>
                    <a:pt x="31" y="0"/>
                    <a:pt x="47" y="34"/>
                  </a:cubicBezTo>
                  <a:cubicBezTo>
                    <a:pt x="47" y="34"/>
                    <a:pt x="28" y="45"/>
                    <a:pt x="9" y="35"/>
                  </a:cubicBezTo>
                  <a:cubicBezTo>
                    <a:pt x="0" y="31"/>
                    <a:pt x="6" y="23"/>
                    <a:pt x="6" y="2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5" name="Freeform 87"/>
            <p:cNvSpPr/>
            <p:nvPr/>
          </p:nvSpPr>
          <p:spPr bwMode="auto">
            <a:xfrm>
              <a:off x="4475163" y="1814513"/>
              <a:ext cx="138113" cy="117475"/>
            </a:xfrm>
            <a:custGeom>
              <a:avLst/>
              <a:gdLst/>
              <a:ahLst/>
              <a:cxnLst>
                <a:cxn ang="0">
                  <a:pos x="1" y="20"/>
                </a:cxn>
                <a:cxn ang="0">
                  <a:pos x="47" y="14"/>
                </a:cxn>
                <a:cxn ang="0">
                  <a:pos x="33" y="24"/>
                </a:cxn>
                <a:cxn ang="0">
                  <a:pos x="1" y="20"/>
                </a:cxn>
              </a:cxnLst>
              <a:rect l="0" t="0" r="r" b="b"/>
              <a:pathLst>
                <a:path w="47" h="40">
                  <a:moveTo>
                    <a:pt x="1" y="20"/>
                  </a:moveTo>
                  <a:cubicBezTo>
                    <a:pt x="0" y="15"/>
                    <a:pt x="9" y="0"/>
                    <a:pt x="47" y="14"/>
                  </a:cubicBezTo>
                  <a:cubicBezTo>
                    <a:pt x="47" y="14"/>
                    <a:pt x="38" y="21"/>
                    <a:pt x="33" y="24"/>
                  </a:cubicBezTo>
                  <a:cubicBezTo>
                    <a:pt x="28" y="28"/>
                    <a:pt x="2" y="40"/>
                    <a:pt x="1" y="2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6" name="Freeform 88"/>
            <p:cNvSpPr/>
            <p:nvPr/>
          </p:nvSpPr>
          <p:spPr bwMode="auto">
            <a:xfrm>
              <a:off x="4481513" y="1946275"/>
              <a:ext cx="122238" cy="111125"/>
            </a:xfrm>
            <a:custGeom>
              <a:avLst/>
              <a:gdLst/>
              <a:ahLst/>
              <a:cxnLst>
                <a:cxn ang="0">
                  <a:pos x="1" y="19"/>
                </a:cxn>
                <a:cxn ang="0">
                  <a:pos x="35" y="0"/>
                </a:cxn>
                <a:cxn ang="0">
                  <a:pos x="42" y="0"/>
                </a:cxn>
                <a:cxn ang="0">
                  <a:pos x="24" y="31"/>
                </a:cxn>
                <a:cxn ang="0">
                  <a:pos x="1" y="19"/>
                </a:cxn>
              </a:cxnLst>
              <a:rect l="0" t="0" r="r" b="b"/>
              <a:pathLst>
                <a:path w="42" h="38">
                  <a:moveTo>
                    <a:pt x="1" y="19"/>
                  </a:moveTo>
                  <a:cubicBezTo>
                    <a:pt x="0" y="14"/>
                    <a:pt x="2" y="0"/>
                    <a:pt x="35" y="0"/>
                  </a:cubicBezTo>
                  <a:cubicBezTo>
                    <a:pt x="35" y="0"/>
                    <a:pt x="40" y="1"/>
                    <a:pt x="42" y="0"/>
                  </a:cubicBezTo>
                  <a:cubicBezTo>
                    <a:pt x="42" y="0"/>
                    <a:pt x="36" y="23"/>
                    <a:pt x="24" y="31"/>
                  </a:cubicBezTo>
                  <a:cubicBezTo>
                    <a:pt x="12" y="38"/>
                    <a:pt x="2" y="27"/>
                    <a:pt x="1" y="1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7" name="Freeform 89"/>
            <p:cNvSpPr/>
            <p:nvPr/>
          </p:nvSpPr>
          <p:spPr bwMode="auto">
            <a:xfrm>
              <a:off x="4232276" y="1990725"/>
              <a:ext cx="139700" cy="93663"/>
            </a:xfrm>
            <a:custGeom>
              <a:avLst/>
              <a:gdLst/>
              <a:ahLst/>
              <a:cxnLst>
                <a:cxn ang="0">
                  <a:pos x="46" y="18"/>
                </a:cxn>
                <a:cxn ang="0">
                  <a:pos x="15" y="3"/>
                </a:cxn>
                <a:cxn ang="0">
                  <a:pos x="0" y="5"/>
                </a:cxn>
                <a:cxn ang="0">
                  <a:pos x="24" y="30"/>
                </a:cxn>
                <a:cxn ang="0">
                  <a:pos x="46" y="18"/>
                </a:cxn>
              </a:cxnLst>
              <a:rect l="0" t="0" r="r" b="b"/>
              <a:pathLst>
                <a:path w="48" h="32">
                  <a:moveTo>
                    <a:pt x="46" y="18"/>
                  </a:moveTo>
                  <a:cubicBezTo>
                    <a:pt x="46" y="18"/>
                    <a:pt x="44" y="0"/>
                    <a:pt x="15" y="3"/>
                  </a:cubicBezTo>
                  <a:cubicBezTo>
                    <a:pt x="15" y="3"/>
                    <a:pt x="2" y="6"/>
                    <a:pt x="0" y="5"/>
                  </a:cubicBezTo>
                  <a:cubicBezTo>
                    <a:pt x="0" y="5"/>
                    <a:pt x="10" y="27"/>
                    <a:pt x="24" y="30"/>
                  </a:cubicBezTo>
                  <a:cubicBezTo>
                    <a:pt x="38" y="32"/>
                    <a:pt x="48" y="27"/>
                    <a:pt x="46" y="1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Freeform 90"/>
            <p:cNvSpPr/>
            <p:nvPr/>
          </p:nvSpPr>
          <p:spPr bwMode="auto">
            <a:xfrm>
              <a:off x="4170363" y="1870075"/>
              <a:ext cx="131763" cy="87313"/>
            </a:xfrm>
            <a:custGeom>
              <a:avLst/>
              <a:gdLst/>
              <a:ahLst/>
              <a:cxnLst>
                <a:cxn ang="0">
                  <a:pos x="41" y="11"/>
                </a:cxn>
                <a:cxn ang="0">
                  <a:pos x="7" y="8"/>
                </a:cxn>
                <a:cxn ang="0">
                  <a:pos x="0" y="18"/>
                </a:cxn>
                <a:cxn ang="0">
                  <a:pos x="19" y="24"/>
                </a:cxn>
                <a:cxn ang="0">
                  <a:pos x="41" y="11"/>
                </a:cxn>
              </a:cxnLst>
              <a:rect l="0" t="0" r="r" b="b"/>
              <a:pathLst>
                <a:path w="45" h="30">
                  <a:moveTo>
                    <a:pt x="41" y="11"/>
                  </a:moveTo>
                  <a:cubicBezTo>
                    <a:pt x="37" y="5"/>
                    <a:pt x="22" y="0"/>
                    <a:pt x="7" y="8"/>
                  </a:cubicBezTo>
                  <a:cubicBezTo>
                    <a:pt x="1" y="12"/>
                    <a:pt x="0" y="18"/>
                    <a:pt x="0" y="18"/>
                  </a:cubicBezTo>
                  <a:cubicBezTo>
                    <a:pt x="0" y="18"/>
                    <a:pt x="13" y="21"/>
                    <a:pt x="19" y="24"/>
                  </a:cubicBezTo>
                  <a:cubicBezTo>
                    <a:pt x="32" y="30"/>
                    <a:pt x="45" y="18"/>
                    <a:pt x="41" y="1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9" name="Freeform 91"/>
            <p:cNvSpPr/>
            <p:nvPr/>
          </p:nvSpPr>
          <p:spPr bwMode="auto">
            <a:xfrm>
              <a:off x="4122738" y="1682750"/>
              <a:ext cx="120650" cy="114300"/>
            </a:xfrm>
            <a:custGeom>
              <a:avLst/>
              <a:gdLst/>
              <a:ahLst/>
              <a:cxnLst>
                <a:cxn ang="0">
                  <a:pos x="30" y="34"/>
                </a:cxn>
                <a:cxn ang="0">
                  <a:pos x="23" y="9"/>
                </a:cxn>
                <a:cxn ang="0">
                  <a:pos x="8" y="0"/>
                </a:cxn>
                <a:cxn ang="0">
                  <a:pos x="9" y="27"/>
                </a:cxn>
                <a:cxn ang="0">
                  <a:pos x="30" y="34"/>
                </a:cxn>
              </a:cxnLst>
              <a:rect l="0" t="0" r="r" b="b"/>
              <a:pathLst>
                <a:path w="41" h="39">
                  <a:moveTo>
                    <a:pt x="30" y="34"/>
                  </a:moveTo>
                  <a:cubicBezTo>
                    <a:pt x="30" y="34"/>
                    <a:pt x="41" y="17"/>
                    <a:pt x="23" y="9"/>
                  </a:cubicBezTo>
                  <a:cubicBezTo>
                    <a:pt x="10" y="3"/>
                    <a:pt x="8" y="0"/>
                    <a:pt x="8" y="0"/>
                  </a:cubicBezTo>
                  <a:cubicBezTo>
                    <a:pt x="8" y="0"/>
                    <a:pt x="0" y="15"/>
                    <a:pt x="9" y="27"/>
                  </a:cubicBezTo>
                  <a:cubicBezTo>
                    <a:pt x="18" y="39"/>
                    <a:pt x="27" y="35"/>
                    <a:pt x="30" y="3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0" name="Freeform 92"/>
            <p:cNvSpPr/>
            <p:nvPr/>
          </p:nvSpPr>
          <p:spPr bwMode="auto">
            <a:xfrm>
              <a:off x="4246563" y="1670050"/>
              <a:ext cx="125413" cy="134938"/>
            </a:xfrm>
            <a:custGeom>
              <a:avLst/>
              <a:gdLst/>
              <a:ahLst/>
              <a:cxnLst>
                <a:cxn ang="0">
                  <a:pos x="14" y="41"/>
                </a:cxn>
                <a:cxn ang="0">
                  <a:pos x="12" y="17"/>
                </a:cxn>
                <a:cxn ang="0">
                  <a:pos x="31" y="0"/>
                </a:cxn>
                <a:cxn ang="0">
                  <a:pos x="35" y="38"/>
                </a:cxn>
                <a:cxn ang="0">
                  <a:pos x="14" y="41"/>
                </a:cxn>
              </a:cxnLst>
              <a:rect l="0" t="0" r="r" b="b"/>
              <a:pathLst>
                <a:path w="43" h="46">
                  <a:moveTo>
                    <a:pt x="14" y="41"/>
                  </a:moveTo>
                  <a:cubicBezTo>
                    <a:pt x="14" y="41"/>
                    <a:pt x="0" y="28"/>
                    <a:pt x="12" y="17"/>
                  </a:cubicBezTo>
                  <a:cubicBezTo>
                    <a:pt x="24" y="5"/>
                    <a:pt x="31" y="4"/>
                    <a:pt x="31" y="0"/>
                  </a:cubicBezTo>
                  <a:cubicBezTo>
                    <a:pt x="31" y="0"/>
                    <a:pt x="43" y="30"/>
                    <a:pt x="35" y="38"/>
                  </a:cubicBezTo>
                  <a:cubicBezTo>
                    <a:pt x="28" y="46"/>
                    <a:pt x="19" y="44"/>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1" name="Freeform 93"/>
            <p:cNvSpPr/>
            <p:nvPr/>
          </p:nvSpPr>
          <p:spPr bwMode="auto">
            <a:xfrm>
              <a:off x="4654551" y="1831975"/>
              <a:ext cx="128588" cy="134938"/>
            </a:xfrm>
            <a:custGeom>
              <a:avLst/>
              <a:gdLst/>
              <a:ahLst/>
              <a:cxnLst>
                <a:cxn ang="0">
                  <a:pos x="8" y="38"/>
                </a:cxn>
                <a:cxn ang="0">
                  <a:pos x="16" y="12"/>
                </a:cxn>
                <a:cxn ang="0">
                  <a:pos x="38" y="0"/>
                </a:cxn>
                <a:cxn ang="0">
                  <a:pos x="35" y="39"/>
                </a:cxn>
                <a:cxn ang="0">
                  <a:pos x="8" y="38"/>
                </a:cxn>
              </a:cxnLst>
              <a:rect l="0" t="0" r="r" b="b"/>
              <a:pathLst>
                <a:path w="44" h="46">
                  <a:moveTo>
                    <a:pt x="8" y="38"/>
                  </a:moveTo>
                  <a:cubicBezTo>
                    <a:pt x="8" y="38"/>
                    <a:pt x="0" y="19"/>
                    <a:pt x="16" y="12"/>
                  </a:cubicBezTo>
                  <a:cubicBezTo>
                    <a:pt x="33" y="5"/>
                    <a:pt x="38" y="0"/>
                    <a:pt x="38" y="0"/>
                  </a:cubicBezTo>
                  <a:cubicBezTo>
                    <a:pt x="38" y="0"/>
                    <a:pt x="44" y="32"/>
                    <a:pt x="35" y="39"/>
                  </a:cubicBezTo>
                  <a:cubicBezTo>
                    <a:pt x="25" y="45"/>
                    <a:pt x="13" y="46"/>
                    <a:pt x="8"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2" name="Freeform 94"/>
            <p:cNvSpPr/>
            <p:nvPr/>
          </p:nvSpPr>
          <p:spPr bwMode="auto">
            <a:xfrm>
              <a:off x="4668838" y="1649413"/>
              <a:ext cx="84138" cy="120650"/>
            </a:xfrm>
            <a:custGeom>
              <a:avLst/>
              <a:gdLst/>
              <a:ahLst/>
              <a:cxnLst>
                <a:cxn ang="0">
                  <a:pos x="14" y="41"/>
                </a:cxn>
                <a:cxn ang="0">
                  <a:pos x="2" y="21"/>
                </a:cxn>
                <a:cxn ang="0">
                  <a:pos x="15" y="0"/>
                </a:cxn>
                <a:cxn ang="0">
                  <a:pos x="27" y="20"/>
                </a:cxn>
                <a:cxn ang="0">
                  <a:pos x="14" y="41"/>
                </a:cxn>
              </a:cxnLst>
              <a:rect l="0" t="0" r="r" b="b"/>
              <a:pathLst>
                <a:path w="29" h="41">
                  <a:moveTo>
                    <a:pt x="14" y="41"/>
                  </a:moveTo>
                  <a:cubicBezTo>
                    <a:pt x="14" y="41"/>
                    <a:pt x="0" y="31"/>
                    <a:pt x="2" y="21"/>
                  </a:cubicBezTo>
                  <a:cubicBezTo>
                    <a:pt x="4" y="11"/>
                    <a:pt x="15" y="3"/>
                    <a:pt x="15" y="0"/>
                  </a:cubicBezTo>
                  <a:cubicBezTo>
                    <a:pt x="15" y="0"/>
                    <a:pt x="26" y="13"/>
                    <a:pt x="27" y="20"/>
                  </a:cubicBezTo>
                  <a:cubicBezTo>
                    <a:pt x="29" y="26"/>
                    <a:pt x="27" y="40"/>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3" name="Freeform 95"/>
            <p:cNvSpPr/>
            <p:nvPr/>
          </p:nvSpPr>
          <p:spPr bwMode="auto">
            <a:xfrm>
              <a:off x="3976688" y="1876425"/>
              <a:ext cx="141288" cy="122238"/>
            </a:xfrm>
            <a:custGeom>
              <a:avLst/>
              <a:gdLst/>
              <a:ahLst/>
              <a:cxnLst>
                <a:cxn ang="0">
                  <a:pos x="31" y="42"/>
                </a:cxn>
                <a:cxn ang="0">
                  <a:pos x="23" y="0"/>
                </a:cxn>
                <a:cxn ang="0">
                  <a:pos x="34" y="11"/>
                </a:cxn>
                <a:cxn ang="0">
                  <a:pos x="31" y="42"/>
                </a:cxn>
              </a:cxnLst>
              <a:rect l="0" t="0" r="r" b="b"/>
              <a:pathLst>
                <a:path w="48" h="42">
                  <a:moveTo>
                    <a:pt x="31" y="42"/>
                  </a:moveTo>
                  <a:cubicBezTo>
                    <a:pt x="31" y="42"/>
                    <a:pt x="0" y="34"/>
                    <a:pt x="23" y="0"/>
                  </a:cubicBezTo>
                  <a:cubicBezTo>
                    <a:pt x="23" y="0"/>
                    <a:pt x="27" y="6"/>
                    <a:pt x="34" y="11"/>
                  </a:cubicBezTo>
                  <a:cubicBezTo>
                    <a:pt x="41" y="16"/>
                    <a:pt x="48" y="42"/>
                    <a:pt x="31"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4" name="Freeform 96"/>
            <p:cNvSpPr/>
            <p:nvPr/>
          </p:nvSpPr>
          <p:spPr bwMode="auto">
            <a:xfrm>
              <a:off x="3830638" y="1901825"/>
              <a:ext cx="169863" cy="128588"/>
            </a:xfrm>
            <a:custGeom>
              <a:avLst/>
              <a:gdLst/>
              <a:ahLst/>
              <a:cxnLst>
                <a:cxn ang="0">
                  <a:pos x="26" y="44"/>
                </a:cxn>
                <a:cxn ang="0">
                  <a:pos x="20" y="0"/>
                </a:cxn>
                <a:cxn ang="0">
                  <a:pos x="28" y="7"/>
                </a:cxn>
                <a:cxn ang="0">
                  <a:pos x="26" y="44"/>
                </a:cxn>
              </a:cxnLst>
              <a:rect l="0" t="0" r="r" b="b"/>
              <a:pathLst>
                <a:path w="58" h="44">
                  <a:moveTo>
                    <a:pt x="26" y="44"/>
                  </a:moveTo>
                  <a:cubicBezTo>
                    <a:pt x="26" y="44"/>
                    <a:pt x="0" y="31"/>
                    <a:pt x="20" y="0"/>
                  </a:cubicBezTo>
                  <a:cubicBezTo>
                    <a:pt x="20" y="0"/>
                    <a:pt x="24" y="5"/>
                    <a:pt x="28" y="7"/>
                  </a:cubicBezTo>
                  <a:cubicBezTo>
                    <a:pt x="41" y="15"/>
                    <a:pt x="58" y="35"/>
                    <a:pt x="26"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5" name="Freeform 97"/>
            <p:cNvSpPr/>
            <p:nvPr/>
          </p:nvSpPr>
          <p:spPr bwMode="auto">
            <a:xfrm>
              <a:off x="3997326" y="1724025"/>
              <a:ext cx="146050" cy="111125"/>
            </a:xfrm>
            <a:custGeom>
              <a:avLst/>
              <a:gdLst/>
              <a:ahLst/>
              <a:cxnLst>
                <a:cxn ang="0">
                  <a:pos x="30" y="38"/>
                </a:cxn>
                <a:cxn ang="0">
                  <a:pos x="18" y="0"/>
                </a:cxn>
                <a:cxn ang="0">
                  <a:pos x="26" y="9"/>
                </a:cxn>
                <a:cxn ang="0">
                  <a:pos x="30" y="38"/>
                </a:cxn>
              </a:cxnLst>
              <a:rect l="0" t="0" r="r" b="b"/>
              <a:pathLst>
                <a:path w="50" h="38">
                  <a:moveTo>
                    <a:pt x="30" y="38"/>
                  </a:moveTo>
                  <a:cubicBezTo>
                    <a:pt x="30" y="38"/>
                    <a:pt x="0" y="38"/>
                    <a:pt x="18" y="0"/>
                  </a:cubicBezTo>
                  <a:cubicBezTo>
                    <a:pt x="18" y="0"/>
                    <a:pt x="22" y="7"/>
                    <a:pt x="26" y="9"/>
                  </a:cubicBezTo>
                  <a:cubicBezTo>
                    <a:pt x="30" y="11"/>
                    <a:pt x="50" y="31"/>
                    <a:pt x="30"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课后作业</a:t>
            </a:r>
            <a:endParaRPr lang="zh-CN" altLang="en-US" dirty="0"/>
          </a:p>
        </p:txBody>
      </p:sp>
      <p:sp>
        <p:nvSpPr>
          <p:cNvPr id="3" name="内容占位符 2"/>
          <p:cNvSpPr>
            <a:spLocks noGrp="1"/>
          </p:cNvSpPr>
          <p:nvPr>
            <p:ph idx="1"/>
          </p:nvPr>
        </p:nvSpPr>
        <p:spPr>
          <a:xfrm>
            <a:off x="961753" y="1034143"/>
            <a:ext cx="7640810" cy="3440974"/>
          </a:xfrm>
        </p:spPr>
        <p:txBody>
          <a:bodyPr>
            <a:normAutofit/>
          </a:bodyPr>
          <a:lstStyle/>
          <a:p>
            <a:pPr>
              <a:lnSpc>
                <a:spcPct val="120000"/>
              </a:lnSpc>
              <a:spcBef>
                <a:spcPts val="1200"/>
              </a:spcBef>
              <a:spcAft>
                <a:spcPts val="0"/>
              </a:spcAft>
            </a:pPr>
            <a:r>
              <a:rPr lang="zh-CN" altLang="en-US" sz="2400" dirty="0">
                <a:solidFill>
                  <a:schemeClr val="accent2">
                    <a:lumMod val="75000"/>
                  </a:schemeClr>
                </a:solidFill>
                <a:latin typeface="+mj-ea"/>
                <a:ea typeface="+mj-ea"/>
              </a:rPr>
              <a:t>学习相关技术</a:t>
            </a:r>
            <a:endParaRPr lang="en-US" altLang="zh-CN" sz="2400" dirty="0">
              <a:solidFill>
                <a:schemeClr val="accent2">
                  <a:lumMod val="75000"/>
                </a:schemeClr>
              </a:solidFill>
              <a:latin typeface="+mj-ea"/>
              <a:ea typeface="+mj-ea"/>
            </a:endParaRPr>
          </a:p>
          <a:p>
            <a:pPr>
              <a:lnSpc>
                <a:spcPct val="120000"/>
              </a:lnSpc>
            </a:pPr>
            <a:r>
              <a:rPr lang="zh-CN" altLang="en-US" sz="2400" dirty="0">
                <a:solidFill>
                  <a:schemeClr val="accent2">
                    <a:lumMod val="75000"/>
                  </a:schemeClr>
                </a:solidFill>
              </a:rPr>
              <a:t>学习相关软件如</a:t>
            </a:r>
            <a:r>
              <a:rPr lang="en-US" altLang="zh-CN" sz="2400" dirty="0" err="1">
                <a:solidFill>
                  <a:schemeClr val="accent2">
                    <a:lumMod val="75000"/>
                  </a:schemeClr>
                </a:solidFill>
              </a:rPr>
              <a:t>Axure</a:t>
            </a:r>
            <a:r>
              <a:rPr lang="zh-CN" altLang="en-US" sz="2400" dirty="0">
                <a:solidFill>
                  <a:schemeClr val="accent2">
                    <a:lumMod val="75000"/>
                  </a:schemeClr>
                </a:solidFill>
              </a:rPr>
              <a:t>、</a:t>
            </a:r>
            <a:r>
              <a:rPr lang="en-US" altLang="zh-CN" sz="2400" dirty="0" err="1">
                <a:solidFill>
                  <a:schemeClr val="accent2">
                    <a:lumMod val="75000"/>
                  </a:schemeClr>
                </a:solidFill>
              </a:rPr>
              <a:t>GitHub</a:t>
            </a:r>
            <a:r>
              <a:rPr lang="zh-CN" altLang="en-US" sz="2400" dirty="0">
                <a:solidFill>
                  <a:schemeClr val="accent2">
                    <a:lumMod val="75000"/>
                  </a:schemeClr>
                </a:solidFill>
              </a:rPr>
              <a:t>、</a:t>
            </a:r>
            <a:r>
              <a:rPr lang="en-US" altLang="zh-CN" sz="2400" dirty="0" err="1">
                <a:solidFill>
                  <a:schemeClr val="accent2">
                    <a:lumMod val="75000"/>
                  </a:schemeClr>
                </a:solidFill>
              </a:rPr>
              <a:t>Viso</a:t>
            </a:r>
            <a:r>
              <a:rPr lang="zh-CN" altLang="en-US" sz="2400" dirty="0">
                <a:solidFill>
                  <a:schemeClr val="accent2">
                    <a:lumMod val="75000"/>
                  </a:schemeClr>
                </a:solidFill>
              </a:rPr>
              <a:t>、</a:t>
            </a:r>
            <a:r>
              <a:rPr lang="en-US" altLang="zh-CN" sz="2400" dirty="0" err="1">
                <a:solidFill>
                  <a:srgbClr val="FF0000"/>
                </a:solidFill>
              </a:rPr>
              <a:t>StarUML</a:t>
            </a:r>
            <a:r>
              <a:rPr lang="zh-CN" altLang="en-US" sz="2400" dirty="0">
                <a:solidFill>
                  <a:schemeClr val="accent2">
                    <a:lumMod val="75000"/>
                  </a:schemeClr>
                </a:solidFill>
              </a:rPr>
              <a:t>等</a:t>
            </a:r>
            <a:endParaRPr lang="en-US" altLang="zh-CN" sz="2400" dirty="0">
              <a:solidFill>
                <a:schemeClr val="accent2">
                  <a:lumMod val="75000"/>
                </a:schemeClr>
              </a:solidFill>
            </a:endParaRPr>
          </a:p>
          <a:p>
            <a:pPr>
              <a:lnSpc>
                <a:spcPct val="120000"/>
              </a:lnSpc>
              <a:spcBef>
                <a:spcPts val="1200"/>
              </a:spcBef>
              <a:spcAft>
                <a:spcPts val="0"/>
              </a:spcAft>
            </a:pPr>
            <a:r>
              <a:rPr lang="zh-CN" altLang="en-US" sz="2400" dirty="0">
                <a:solidFill>
                  <a:schemeClr val="accent2">
                    <a:lumMod val="75000"/>
                  </a:schemeClr>
                </a:solidFill>
              </a:rPr>
              <a:t>完善项目开发计划</a:t>
            </a:r>
            <a:endParaRPr lang="en-US" altLang="zh-CN" sz="2400" dirty="0">
              <a:solidFill>
                <a:schemeClr val="accent2">
                  <a:lumMod val="75000"/>
                </a:schemeClr>
              </a:solidFill>
            </a:endParaRPr>
          </a:p>
          <a:p>
            <a:pPr marL="0" indent="0">
              <a:lnSpc>
                <a:spcPct val="120000"/>
              </a:lnSpc>
              <a:spcBef>
                <a:spcPts val="1200"/>
              </a:spcBef>
              <a:spcAft>
                <a:spcPts val="0"/>
              </a:spcAft>
              <a:buNone/>
            </a:pPr>
            <a:endParaRPr lang="en-US" altLang="zh-CN" sz="2400" dirty="0">
              <a:solidFill>
                <a:schemeClr val="accent2">
                  <a:lumMod val="75000"/>
                </a:schemeClr>
              </a:solidFill>
            </a:endParaRPr>
          </a:p>
          <a:p>
            <a:pPr>
              <a:lnSpc>
                <a:spcPct val="120000"/>
              </a:lnSpc>
              <a:spcBef>
                <a:spcPts val="1200"/>
              </a:spcBef>
              <a:spcAft>
                <a:spcPts val="0"/>
              </a:spcAft>
            </a:pPr>
            <a:endParaRPr lang="en-US" altLang="zh-CN" sz="2400" dirty="0">
              <a:solidFill>
                <a:schemeClr val="accent2">
                  <a:lumMod val="75000"/>
                </a:schemeClr>
              </a:solidFill>
              <a:latin typeface="+mj-ea"/>
              <a:ea typeface="+mj-ea"/>
            </a:endParaRPr>
          </a:p>
        </p:txBody>
      </p:sp>
      <p:sp>
        <p:nvSpPr>
          <p:cNvPr id="4" name="日期占位符 3"/>
          <p:cNvSpPr>
            <a:spLocks noGrp="1"/>
          </p:cNvSpPr>
          <p:nvPr>
            <p:ph type="dt" sz="half" idx="10"/>
          </p:nvPr>
        </p:nvSpPr>
        <p:spPr/>
        <p:txBody>
          <a:bodyPr/>
          <a:lstStyle/>
          <a:p>
            <a:fld id="{EEB28E7E-7D2B-4613-BE23-6231E835EF3A}"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8" name="图片 7"/>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417522" y="2207503"/>
            <a:ext cx="1267285" cy="12672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F3DF2C6-2EA2-4C9B-BD5F-101B8F3B5F3B}"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MH" val="20160830110146"/>
  <p:tag name="MH_LIBRARY" val="CONTENTS"/>
  <p:tag name="MH_TYPE" val="OTHERS"/>
  <p:tag name="ID" val="553512"/>
</p:tagLst>
</file>

<file path=ppt/tags/tag2.xml><?xml version="1.0" encoding="utf-8"?>
<p:tagLst xmlns:p="http://schemas.openxmlformats.org/presentationml/2006/main">
  <p:tag name="MH" val="20160830110146"/>
  <p:tag name="MH_LIBRARY" val="CONTENTS"/>
  <p:tag name="MH_TYPE" val="OTHERS"/>
  <p:tag name="ID" val="553512"/>
</p:tagLst>
</file>

<file path=ppt/tags/tag3.xml><?xml version="1.0" encoding="utf-8"?>
<p:tagLst xmlns:p="http://schemas.openxmlformats.org/presentationml/2006/main">
  <p:tag name="TABLE_ENDDRAG_ORIGIN_RECT" val="701*356"/>
  <p:tag name="TABLE_ENDDRAG_RECT" val="14*29*701*356"/>
</p:tagLst>
</file>

<file path=ppt/tags/tag4.xml><?xml version="1.0" encoding="utf-8"?>
<p:tagLst xmlns:p="http://schemas.openxmlformats.org/presentationml/2006/main">
  <p:tag name="KSO_WM_DIAGRAM_VIRTUALLY_FRAME" val="{&quot;height&quot;:268.5395078740157,&quot;left&quot;:74.881594488189,&quot;top&quot;:83.52832677165354,&quot;width&quot;:573.0899409448818}"/>
</p:tagLst>
</file>

<file path=ppt/tags/tag5.xml><?xml version="1.0" encoding="utf-8"?>
<p:tagLst xmlns:p="http://schemas.openxmlformats.org/presentationml/2006/main">
  <p:tag name="KSO_WM_DIAGRAM_VIRTUALLY_FRAME" val="{&quot;height&quot;:268.5395078740157,&quot;left&quot;:74.881594488189,&quot;top&quot;:83.52832677165354,&quot;width&quot;:573.0899409448818}"/>
</p:tagLst>
</file>

<file path=ppt/tags/tag6.xml><?xml version="1.0" encoding="utf-8"?>
<p:tagLst xmlns:p="http://schemas.openxmlformats.org/presentationml/2006/main">
  <p:tag name="KSO_WM_DIAGRAM_VIRTUALLY_FRAME" val="{&quot;height&quot;:268.5395078740157,&quot;left&quot;:74.881594488189,&quot;top&quot;:83.52832677165354,&quot;width&quot;:573.0899409448818}"/>
</p:tagLst>
</file>

<file path=ppt/tags/tag7.xml><?xml version="1.0" encoding="utf-8"?>
<p:tagLst xmlns:p="http://schemas.openxmlformats.org/presentationml/2006/main">
  <p:tag name="KSO_WM_DIAGRAM_VIRTUALLY_FRAME" val="{&quot;height&quot;:268.5395078740157,&quot;left&quot;:74.881594488189,&quot;top&quot;:83.52832677165354,&quot;width&quot;:573.0899409448818}"/>
</p:tagLst>
</file>

<file path=ppt/tags/tag8.xml><?xml version="1.0" encoding="utf-8"?>
<p:tagLst xmlns:p="http://schemas.openxmlformats.org/presentationml/2006/main">
  <p:tag name="KSO_WM_DIAGRAM_VIRTUALLY_FRAME" val="{&quot;height&quot;:268.5395078740157,&quot;left&quot;:74.881594488189,&quot;top&quot;:83.52832677165354,&quot;width&quot;:573.0899409448818}"/>
</p:tagLst>
</file>

<file path=ppt/tags/tag9.xml><?xml version="1.0" encoding="utf-8"?>
<p:tagLst xmlns:p="http://schemas.openxmlformats.org/presentationml/2006/main">
  <p:tag name="KSO_WM_DIAGRAM_VIRTUALLY_FRAME" val="{&quot;height&quot;:268.5395078740157,&quot;left&quot;:74.881594488189,&quot;top&quot;:83.52832677165354,&quot;width&quot;:573.0899409448818}"/>
</p:tagLst>
</file>

<file path=ppt/tags/tag10.xml><?xml version="1.0" encoding="utf-8"?>
<p:tagLst xmlns:p="http://schemas.openxmlformats.org/presentationml/2006/main">
  <p:tag name="KSO_WM_DIAGRAM_VIRTUALLY_FRAME" val="{&quot;height&quot;:268.5395078740157,&quot;left&quot;:74.881594488189,&quot;top&quot;:83.52832677165354,&quot;width&quot;:573.0899409448818}"/>
</p:tagLst>
</file>

<file path=ppt/tags/tag11.xml><?xml version="1.0" encoding="utf-8"?>
<p:tagLst xmlns:p="http://schemas.openxmlformats.org/presentationml/2006/main">
  <p:tag name="KSO_WM_DIAGRAM_VIRTUALLY_FRAME" val="{&quot;height&quot;:268.5395078740157,&quot;left&quot;:74.881594488189,&quot;top&quot;:83.52832677165354,&quot;width&quot;:573.0899409448818}"/>
</p:tagLst>
</file>

<file path=ppt/tags/tag12.xml><?xml version="1.0" encoding="utf-8"?>
<p:tagLst xmlns:p="http://schemas.openxmlformats.org/presentationml/2006/main">
  <p:tag name="KSO_WM_DIAGRAM_VIRTUALLY_FRAME" val="{&quot;height&quot;:268.5395078740157,&quot;left&quot;:74.881594488189,&quot;top&quot;:83.52832677165354,&quot;width&quot;:573.0899409448818}"/>
</p:tagLst>
</file>

<file path=ppt/tags/tag13.xml><?xml version="1.0" encoding="utf-8"?>
<p:tagLst xmlns:p="http://schemas.openxmlformats.org/presentationml/2006/main">
  <p:tag name="KSO_WM_DIAGRAM_VIRTUALLY_FRAME" val="{&quot;height&quot;:268.5395078740157,&quot;left&quot;:74.881594488189,&quot;top&quot;:83.52832677165354,&quot;width&quot;:573.0899409448818}"/>
</p:tagLst>
</file>

<file path=ppt/tags/tag14.xml><?xml version="1.0" encoding="utf-8"?>
<p:tagLst xmlns:p="http://schemas.openxmlformats.org/presentationml/2006/main">
  <p:tag name="KSO_WM_DIAGRAM_VIRTUALLY_FRAME" val="{&quot;height&quot;:268.5395078740157,&quot;left&quot;:74.881594488189,&quot;top&quot;:83.52832677165354,&quot;width&quot;:573.0899409448818}"/>
</p:tagLst>
</file>

<file path=ppt/tags/tag15.xml><?xml version="1.0" encoding="utf-8"?>
<p:tagLst xmlns:p="http://schemas.openxmlformats.org/presentationml/2006/main">
  <p:tag name="KSO_WM_DIAGRAM_VIRTUALLY_FRAME" val="{&quot;height&quot;:268.5395078740157,&quot;left&quot;:74.881594488189,&quot;top&quot;:83.52832677165354,&quot;width&quot;:573.0899409448818}"/>
</p:tagLst>
</file>

<file path=ppt/tags/tag16.xml><?xml version="1.0" encoding="utf-8"?>
<p:tagLst xmlns:p="http://schemas.openxmlformats.org/presentationml/2006/main">
  <p:tag name="KSO_WM_DIAGRAM_VIRTUALLY_FRAME" val="{&quot;height&quot;:268.5395078740157,&quot;left&quot;:74.881594488189,&quot;top&quot;:83.52832677165354,&quot;width&quot;:573.0899409448818}"/>
</p:tagLst>
</file>

<file path=ppt/tags/tag17.xml><?xml version="1.0" encoding="utf-8"?>
<p:tagLst xmlns:p="http://schemas.openxmlformats.org/presentationml/2006/main">
  <p:tag name="KSO_WM_DIAGRAM_VIRTUALLY_FRAME" val="{&quot;height&quot;:268.5395078740157,&quot;left&quot;:74.881594488189,&quot;top&quot;:83.52832677165354,&quot;width&quot;:573.0899409448818}"/>
</p:tagLst>
</file>

<file path=ppt/tags/tag18.xml><?xml version="1.0" encoding="utf-8"?>
<p:tagLst xmlns:p="http://schemas.openxmlformats.org/presentationml/2006/main">
  <p:tag name="KSO_WM_DIAGRAM_VIRTUALLY_FRAME" val="{&quot;height&quot;:268.5395078740157,&quot;left&quot;:74.881594488189,&quot;top&quot;:83.52832677165354,&quot;width&quot;:573.0899409448818}"/>
</p:tagLst>
</file>

<file path=ppt/tags/tag19.xml><?xml version="1.0" encoding="utf-8"?>
<p:tagLst xmlns:p="http://schemas.openxmlformats.org/presentationml/2006/main">
  <p:tag name="KSO_WM_DIAGRAM_VIRTUALLY_FRAME" val="{&quot;height&quot;:268.5395078740157,&quot;left&quot;:74.881594488189,&quot;top&quot;:83.52832677165354,&quot;width&quot;:573.0899409448818}"/>
</p:tagLst>
</file>

<file path=ppt/tags/tag20.xml><?xml version="1.0" encoding="utf-8"?>
<p:tagLst xmlns:p="http://schemas.openxmlformats.org/presentationml/2006/main">
  <p:tag name="KSO_WM_DIAGRAM_VIRTUALLY_FRAME" val="{&quot;height&quot;:268.5395078740157,&quot;left&quot;:74.881594488189,&quot;top&quot;:83.52832677165354,&quot;width&quot;:573.0899409448818}"/>
</p:tagLst>
</file>

<file path=ppt/tags/tag21.xml><?xml version="1.0" encoding="utf-8"?>
<p:tagLst xmlns:p="http://schemas.openxmlformats.org/presentationml/2006/main">
  <p:tag name="KSO_WM_DIAGRAM_VIRTUALLY_FRAME" val="{&quot;height&quot;:268.5395078740157,&quot;left&quot;:74.881594488189,&quot;top&quot;:83.52832677165354,&quot;width&quot;:573.0899409448818}"/>
</p:tagLst>
</file>

<file path=ppt/tags/tag22.xml><?xml version="1.0" encoding="utf-8"?>
<p:tagLst xmlns:p="http://schemas.openxmlformats.org/presentationml/2006/main">
  <p:tag name="KSO_WM_DIAGRAM_VIRTUALLY_FRAME" val="{&quot;height&quot;:268.5395078740157,&quot;left&quot;:74.881594488189,&quot;top&quot;:83.52832677165354,&quot;width&quot;:573.0899409448818}"/>
</p:tagLst>
</file>

<file path=ppt/tags/tag23.xml><?xml version="1.0" encoding="utf-8"?>
<p:tagLst xmlns:p="http://schemas.openxmlformats.org/presentationml/2006/main">
  <p:tag name="KSO_WM_DIAGRAM_VIRTUALLY_FRAME" val="{&quot;height&quot;:268.5395078740157,&quot;left&quot;:74.881594488189,&quot;top&quot;:83.52832677165354,&quot;width&quot;:573.0899409448818}"/>
</p:tagLst>
</file>

<file path=ppt/tags/tag24.xml><?xml version="1.0" encoding="utf-8"?>
<p:tagLst xmlns:p="http://schemas.openxmlformats.org/presentationml/2006/main">
  <p:tag name="KSO_WPP_MARK_KEY" val="c1a56755-7a4e-4dd4-a45a-b5cf36d9aec7"/>
  <p:tag name="COMMONDATA" val="eyJoZGlkIjoiZDhmZjM3ZTZiYzVhZjRkYzFlNzUwYmM2YTkxODQ5OTUifQ=="/>
</p:tagLst>
</file>

<file path=ppt/theme/_rels/them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theme1.xml><?xml version="1.0" encoding="utf-8"?>
<a:theme xmlns:a="http://schemas.openxmlformats.org/drawingml/2006/main" name="积分">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20111</Words>
  <Application>WPS 演示</Application>
  <PresentationFormat>全屏显示(16:9)</PresentationFormat>
  <Paragraphs>3312</Paragraphs>
  <Slides>152</Slides>
  <Notes>31</Notes>
  <HiddenSlides>1</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10</vt:i4>
      </vt:variant>
      <vt:variant>
        <vt:lpstr>幻灯片标题</vt:lpstr>
      </vt:variant>
      <vt:variant>
        <vt:i4>152</vt:i4>
      </vt:variant>
    </vt:vector>
  </HeadingPairs>
  <TitlesOfParts>
    <vt:vector size="187" baseType="lpstr">
      <vt:lpstr>Arial</vt:lpstr>
      <vt:lpstr>宋体</vt:lpstr>
      <vt:lpstr>Wingdings</vt:lpstr>
      <vt:lpstr>Wingdings 3</vt:lpstr>
      <vt:lpstr>Symbol</vt:lpstr>
      <vt:lpstr>微软雅黑</vt:lpstr>
      <vt:lpstr>华康俪金黑W8(P)</vt:lpstr>
      <vt:lpstr>黑体</vt:lpstr>
      <vt:lpstr>经典繁仿黑</vt:lpstr>
      <vt:lpstr>华文中宋</vt:lpstr>
      <vt:lpstr>Arial Black</vt:lpstr>
      <vt:lpstr>Arial Unicode MS</vt:lpstr>
      <vt:lpstr>等线</vt:lpstr>
      <vt:lpstr>Wingdings</vt:lpstr>
      <vt:lpstr>Arial</vt:lpstr>
      <vt:lpstr>华文楷体</vt:lpstr>
      <vt:lpstr>Arial Narrow</vt:lpstr>
      <vt:lpstr>Times New Roman</vt:lpstr>
      <vt:lpstr>楷体_GB2312</vt:lpstr>
      <vt:lpstr>新宋体</vt:lpstr>
      <vt:lpstr>Monotype Sorts</vt:lpstr>
      <vt:lpstr>Times New Roman</vt:lpstr>
      <vt:lpstr>Calibri</vt:lpstr>
      <vt:lpstr>Wingdings</vt:lpstr>
      <vt:lpstr>积分</vt:lpstr>
      <vt:lpstr>Visio.Drawing.11</vt:lpstr>
      <vt:lpstr>Visio.Drawing.11</vt:lpstr>
      <vt:lpstr>Visio.Drawing.15</vt:lpstr>
      <vt:lpstr>Visio.Drawing.11</vt:lpstr>
      <vt:lpstr>Visio.Drawing.11</vt:lpstr>
      <vt:lpstr>Visio.Drawing.11</vt:lpstr>
      <vt:lpstr>Visio.Drawing.11</vt:lpstr>
      <vt:lpstr>Visio.Drawing.11</vt:lpstr>
      <vt:lpstr>Visio.Drawing.11</vt:lpstr>
      <vt:lpstr>Visio.Drawing.11</vt:lpstr>
      <vt:lpstr>软件工程 团队与项目管理</vt:lpstr>
      <vt:lpstr>前情回顾</vt:lpstr>
      <vt:lpstr>团队开发管理</vt:lpstr>
      <vt:lpstr>团队的组织与管理</vt:lpstr>
      <vt:lpstr>管理涉及的范围</vt:lpstr>
      <vt:lpstr>PowerPoint 演示文稿</vt:lpstr>
      <vt:lpstr>人员</vt:lpstr>
      <vt:lpstr>人员</vt:lpstr>
      <vt:lpstr>人员——团队负责人</vt:lpstr>
      <vt:lpstr>人员——项目负责人</vt:lpstr>
      <vt:lpstr>人员——软件团队</vt:lpstr>
      <vt:lpstr>人员——软件团队</vt:lpstr>
      <vt:lpstr>高效的团队合作</vt:lpstr>
      <vt:lpstr>人员——软件团队</vt:lpstr>
      <vt:lpstr>人员——软件团队</vt:lpstr>
      <vt:lpstr>PowerPoint 演示文稿</vt:lpstr>
      <vt:lpstr>PowerPoint 演示文稿</vt:lpstr>
      <vt:lpstr>人员的选择</vt:lpstr>
      <vt:lpstr>人员的选择</vt:lpstr>
      <vt:lpstr>人员的选择</vt:lpstr>
      <vt:lpstr>人员的选择</vt:lpstr>
      <vt:lpstr>团队的概念</vt:lpstr>
      <vt:lpstr>团队的概念</vt:lpstr>
      <vt:lpstr>开发团队的组织模式</vt:lpstr>
      <vt:lpstr>开发团队的组织模式</vt:lpstr>
      <vt:lpstr>开发团队的组织模式</vt:lpstr>
      <vt:lpstr>高效的团队合作</vt:lpstr>
      <vt:lpstr>高效的项目团队</vt:lpstr>
      <vt:lpstr>团队建设活动</vt:lpstr>
      <vt:lpstr>绩效评估</vt:lpstr>
      <vt:lpstr>绩效评估</vt:lpstr>
      <vt:lpstr>项目沟通管理</vt:lpstr>
      <vt:lpstr>沟通的复杂性</vt:lpstr>
      <vt:lpstr>沟通的复杂性</vt:lpstr>
      <vt:lpstr>沟通的复杂性</vt:lpstr>
      <vt:lpstr>沟通的复杂性</vt:lpstr>
      <vt:lpstr>沟通的模型</vt:lpstr>
      <vt:lpstr>常用的沟通方式</vt:lpstr>
      <vt:lpstr>常用的沟通方式</vt:lpstr>
      <vt:lpstr>常用的沟通方式</vt:lpstr>
      <vt:lpstr>常用的沟通方式</vt:lpstr>
      <vt:lpstr>常用的沟通方式</vt:lpstr>
      <vt:lpstr>项目沟通管理</vt:lpstr>
      <vt:lpstr>项目沟通管理</vt:lpstr>
      <vt:lpstr>项目沟通管理</vt:lpstr>
      <vt:lpstr>项目会议</vt:lpstr>
      <vt:lpstr>项目会议</vt:lpstr>
      <vt:lpstr>项目会议</vt:lpstr>
      <vt:lpstr>项目会议</vt:lpstr>
      <vt:lpstr>项目绩效报告</vt:lpstr>
      <vt:lpstr>PowerPoint 演示文稿</vt:lpstr>
      <vt:lpstr>PowerPoint 演示文稿</vt:lpstr>
      <vt:lpstr>软件开发第一阶段</vt:lpstr>
      <vt:lpstr>软件计划阶段的工作</vt:lpstr>
      <vt:lpstr>问题定义</vt:lpstr>
      <vt:lpstr>问题定义</vt:lpstr>
      <vt:lpstr>案例——教师教学网络测评系统</vt:lpstr>
      <vt:lpstr>案例——教师教学网络测评系统</vt:lpstr>
      <vt:lpstr>案例——教师教学网络测评系统</vt:lpstr>
      <vt:lpstr>可行性研究的任务</vt:lpstr>
      <vt:lpstr>可行性研究的三个方面</vt:lpstr>
      <vt:lpstr>可行性研究的步骤</vt:lpstr>
      <vt:lpstr>可行性研究的步骤</vt:lpstr>
      <vt:lpstr>可行性研究的步骤</vt:lpstr>
      <vt:lpstr>可行性研究的步骤</vt:lpstr>
      <vt:lpstr>可行性研究的步骤</vt:lpstr>
      <vt:lpstr>可行性研究的步骤</vt:lpstr>
      <vt:lpstr>可行性研究的步骤</vt:lpstr>
      <vt:lpstr>可行性研究的步骤</vt:lpstr>
      <vt:lpstr>可行性研究的步骤</vt:lpstr>
      <vt:lpstr>案例——教师教学网络测评系统</vt:lpstr>
      <vt:lpstr>案例——教师教学网络测评系统</vt:lpstr>
      <vt:lpstr>可行性研究报告的编写提纲</vt:lpstr>
      <vt:lpstr>可行性研究报告的编写提纲</vt:lpstr>
      <vt:lpstr>可行性研究报告的编写提纲</vt:lpstr>
      <vt:lpstr>PowerPoint 演示文稿</vt:lpstr>
      <vt:lpstr>软件项目计划</vt:lpstr>
      <vt:lpstr>软件项目计划</vt:lpstr>
      <vt:lpstr>软件项目计划书</vt:lpstr>
      <vt:lpstr>软件项目计划书</vt:lpstr>
      <vt:lpstr>软件项目估算</vt:lpstr>
      <vt:lpstr>软件项目估算</vt:lpstr>
      <vt:lpstr>软件项目估算</vt:lpstr>
      <vt:lpstr>软件项目估算</vt:lpstr>
      <vt:lpstr>软件项目估算</vt:lpstr>
      <vt:lpstr>功能点方法</vt:lpstr>
      <vt:lpstr>功能点方法</vt:lpstr>
      <vt:lpstr>COCOMO模型</vt:lpstr>
      <vt:lpstr>用例点估算</vt:lpstr>
      <vt:lpstr>用例点估算</vt:lpstr>
      <vt:lpstr>用例点估算</vt:lpstr>
      <vt:lpstr>用例点估算</vt:lpstr>
      <vt:lpstr>用例点估算</vt:lpstr>
      <vt:lpstr>用例点估算</vt:lpstr>
      <vt:lpstr>机器学习方法</vt:lpstr>
      <vt:lpstr>机器学习方法</vt:lpstr>
      <vt:lpstr>编写项目开发计划</vt:lpstr>
      <vt:lpstr>PowerPoint 演示文稿</vt:lpstr>
      <vt:lpstr>什么是UML</vt:lpstr>
      <vt:lpstr>为什么需要UML？</vt:lpstr>
      <vt:lpstr>PowerPoint 演示文稿</vt:lpstr>
      <vt:lpstr>UML的概述</vt:lpstr>
      <vt:lpstr>UML的诞生</vt:lpstr>
      <vt:lpstr>UML的诞生</vt:lpstr>
      <vt:lpstr>UML的诞生</vt:lpstr>
      <vt:lpstr>UML发展</vt:lpstr>
      <vt:lpstr>UML 1.x模型图</vt:lpstr>
      <vt:lpstr>PowerPoint 演示文稿</vt:lpstr>
      <vt:lpstr>PowerPoint 演示文稿</vt:lpstr>
      <vt:lpstr>UML 2.x增改的图</vt:lpstr>
      <vt:lpstr>UML的组成</vt:lpstr>
      <vt:lpstr>UML中的5类图形</vt:lpstr>
      <vt:lpstr>UML中的5类图形</vt:lpstr>
      <vt:lpstr>UML的图形</vt:lpstr>
      <vt:lpstr>视图的作用</vt:lpstr>
      <vt:lpstr>UML的5种视图</vt:lpstr>
      <vt:lpstr>UML的5种视图</vt:lpstr>
      <vt:lpstr>UML的模型</vt:lpstr>
      <vt:lpstr>UML的应用</vt:lpstr>
      <vt:lpstr>PowerPoint 演示文稿</vt:lpstr>
      <vt:lpstr>用UML图来描述一台洗衣机</vt:lpstr>
      <vt:lpstr>1. 类图</vt:lpstr>
      <vt:lpstr>2. 对象图</vt:lpstr>
      <vt:lpstr>类图和对象图举例</vt:lpstr>
      <vt:lpstr>类图和对象图举例</vt:lpstr>
      <vt:lpstr>3. 用例图</vt:lpstr>
      <vt:lpstr>用例图举例</vt:lpstr>
      <vt:lpstr>4. 包图</vt:lpstr>
      <vt:lpstr>包图举例</vt:lpstr>
      <vt:lpstr>5. 活动图</vt:lpstr>
      <vt:lpstr>6. 状态图</vt:lpstr>
      <vt:lpstr>状态图举例</vt:lpstr>
      <vt:lpstr>7. 顺序图</vt:lpstr>
      <vt:lpstr>顺序图实例</vt:lpstr>
      <vt:lpstr>·</vt:lpstr>
      <vt:lpstr>8. 协作图</vt:lpstr>
      <vt:lpstr>协作图实例</vt:lpstr>
      <vt:lpstr>9. 构件图</vt:lpstr>
      <vt:lpstr>10. 部署图</vt:lpstr>
      <vt:lpstr>一个软件系统的案例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项目介绍</vt:lpstr>
      <vt:lpstr>本课小结</vt:lpstr>
      <vt:lpstr>课后作业</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试播内容</dc:title>
  <dc:creator>HUAWEI</dc:creator>
  <cp:lastModifiedBy>957</cp:lastModifiedBy>
  <cp:revision>812</cp:revision>
  <dcterms:created xsi:type="dcterms:W3CDTF">2020-02-07T06:58:00Z</dcterms:created>
  <dcterms:modified xsi:type="dcterms:W3CDTF">2026-04-07T08:20:07Z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5312AD94F4A54DA19F60AD3FDA66E086_13</vt:lpwstr>
  </property>
  <property fmtid="{D5CDD505-2E9C-101B-9397-08002B2CF9AE}" pid="3" name="KSOProductBuildVer">
    <vt:lpwstr>2052-12.1.0.25225</vt:lpwstr>
  </property>
</Properties>
</file>