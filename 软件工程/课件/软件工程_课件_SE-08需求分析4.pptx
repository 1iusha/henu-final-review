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3"/>
  </p:handoutMasterIdLst>
  <p:sldIdLst>
    <p:sldId id="256" r:id="rId3"/>
    <p:sldId id="387" r:id="rId5"/>
    <p:sldId id="713" r:id="rId6"/>
    <p:sldId id="837" r:id="rId7"/>
    <p:sldId id="1038" r:id="rId8"/>
    <p:sldId id="774" r:id="rId9"/>
    <p:sldId id="775" r:id="rId10"/>
    <p:sldId id="776" r:id="rId11"/>
    <p:sldId id="1054" r:id="rId12"/>
    <p:sldId id="778" r:id="rId13"/>
    <p:sldId id="1056" r:id="rId14"/>
    <p:sldId id="777" r:id="rId15"/>
    <p:sldId id="1057" r:id="rId16"/>
    <p:sldId id="1058" r:id="rId17"/>
    <p:sldId id="1059" r:id="rId18"/>
    <p:sldId id="1061" r:id="rId19"/>
    <p:sldId id="1062" r:id="rId20"/>
    <p:sldId id="1060" r:id="rId21"/>
    <p:sldId id="779" r:id="rId22"/>
    <p:sldId id="780" r:id="rId23"/>
    <p:sldId id="781" r:id="rId24"/>
    <p:sldId id="782" r:id="rId25"/>
    <p:sldId id="783" r:id="rId26"/>
    <p:sldId id="784" r:id="rId27"/>
    <p:sldId id="785" r:id="rId28"/>
    <p:sldId id="786" r:id="rId29"/>
    <p:sldId id="787" r:id="rId30"/>
    <p:sldId id="788" r:id="rId31"/>
    <p:sldId id="789" r:id="rId32"/>
    <p:sldId id="790" r:id="rId33"/>
    <p:sldId id="791" r:id="rId34"/>
    <p:sldId id="792" r:id="rId35"/>
    <p:sldId id="793" r:id="rId36"/>
    <p:sldId id="794" r:id="rId37"/>
    <p:sldId id="795" r:id="rId38"/>
    <p:sldId id="796" r:id="rId39"/>
    <p:sldId id="797" r:id="rId40"/>
    <p:sldId id="798" r:id="rId41"/>
    <p:sldId id="799" r:id="rId42"/>
    <p:sldId id="800" r:id="rId43"/>
    <p:sldId id="801" r:id="rId44"/>
    <p:sldId id="802" r:id="rId45"/>
    <p:sldId id="803" r:id="rId46"/>
    <p:sldId id="838" r:id="rId47"/>
    <p:sldId id="804" r:id="rId48"/>
    <p:sldId id="805" r:id="rId49"/>
    <p:sldId id="806" r:id="rId50"/>
    <p:sldId id="839" r:id="rId51"/>
    <p:sldId id="846" r:id="rId52"/>
    <p:sldId id="848" r:id="rId53"/>
    <p:sldId id="807" r:id="rId54"/>
    <p:sldId id="808" r:id="rId55"/>
    <p:sldId id="809" r:id="rId56"/>
    <p:sldId id="810" r:id="rId57"/>
    <p:sldId id="960" r:id="rId58"/>
    <p:sldId id="851" r:id="rId59"/>
    <p:sldId id="852" r:id="rId60"/>
    <p:sldId id="854" r:id="rId61"/>
    <p:sldId id="812" r:id="rId62"/>
    <p:sldId id="813" r:id="rId63"/>
    <p:sldId id="814" r:id="rId64"/>
    <p:sldId id="815" r:id="rId65"/>
    <p:sldId id="816" r:id="rId66"/>
    <p:sldId id="817" r:id="rId67"/>
    <p:sldId id="818" r:id="rId68"/>
    <p:sldId id="819" r:id="rId69"/>
    <p:sldId id="820" r:id="rId70"/>
    <p:sldId id="821" r:id="rId71"/>
    <p:sldId id="822" r:id="rId72"/>
    <p:sldId id="823" r:id="rId73"/>
    <p:sldId id="824" r:id="rId74"/>
    <p:sldId id="825" r:id="rId75"/>
    <p:sldId id="826" r:id="rId76"/>
    <p:sldId id="827" r:id="rId77"/>
    <p:sldId id="828" r:id="rId78"/>
    <p:sldId id="829" r:id="rId79"/>
    <p:sldId id="830" r:id="rId80"/>
    <p:sldId id="831" r:id="rId81"/>
    <p:sldId id="832" r:id="rId82"/>
    <p:sldId id="855" r:id="rId83"/>
    <p:sldId id="857" r:id="rId84"/>
    <p:sldId id="833" r:id="rId85"/>
    <p:sldId id="834" r:id="rId86"/>
    <p:sldId id="835" r:id="rId87"/>
    <p:sldId id="836" r:id="rId88"/>
    <p:sldId id="914" r:id="rId89"/>
    <p:sldId id="915" r:id="rId90"/>
    <p:sldId id="916" r:id="rId91"/>
    <p:sldId id="917" r:id="rId92"/>
    <p:sldId id="918" r:id="rId93"/>
    <p:sldId id="919" r:id="rId94"/>
    <p:sldId id="920" r:id="rId95"/>
    <p:sldId id="921" r:id="rId96"/>
    <p:sldId id="922" r:id="rId97"/>
    <p:sldId id="923" r:id="rId98"/>
    <p:sldId id="924" r:id="rId99"/>
    <p:sldId id="925" r:id="rId100"/>
    <p:sldId id="926" r:id="rId101"/>
    <p:sldId id="927" r:id="rId102"/>
    <p:sldId id="928" r:id="rId103"/>
    <p:sldId id="929" r:id="rId104"/>
    <p:sldId id="930" r:id="rId105"/>
    <p:sldId id="931" r:id="rId106"/>
    <p:sldId id="932" r:id="rId107"/>
    <p:sldId id="933" r:id="rId108"/>
    <p:sldId id="934" r:id="rId109"/>
    <p:sldId id="935" r:id="rId110"/>
    <p:sldId id="936" r:id="rId111"/>
    <p:sldId id="937" r:id="rId112"/>
    <p:sldId id="938" r:id="rId113"/>
    <p:sldId id="939" r:id="rId114"/>
    <p:sldId id="940" r:id="rId115"/>
    <p:sldId id="941" r:id="rId116"/>
    <p:sldId id="942" r:id="rId117"/>
    <p:sldId id="943" r:id="rId118"/>
    <p:sldId id="944" r:id="rId119"/>
    <p:sldId id="945" r:id="rId120"/>
    <p:sldId id="946" r:id="rId121"/>
    <p:sldId id="947" r:id="rId122"/>
    <p:sldId id="948" r:id="rId123"/>
    <p:sldId id="949" r:id="rId124"/>
    <p:sldId id="951" r:id="rId125"/>
    <p:sldId id="1039" r:id="rId126"/>
    <p:sldId id="1040" r:id="rId127"/>
    <p:sldId id="1041" r:id="rId128"/>
    <p:sldId id="1042" r:id="rId129"/>
    <p:sldId id="1043" r:id="rId130"/>
    <p:sldId id="1044" r:id="rId131"/>
    <p:sldId id="1045" r:id="rId132"/>
    <p:sldId id="1046" r:id="rId133"/>
    <p:sldId id="1047" r:id="rId134"/>
    <p:sldId id="1048" r:id="rId135"/>
    <p:sldId id="1049" r:id="rId136"/>
    <p:sldId id="1050" r:id="rId137"/>
    <p:sldId id="1051" r:id="rId138"/>
    <p:sldId id="1052" r:id="rId139"/>
    <p:sldId id="956" r:id="rId140"/>
    <p:sldId id="532" r:id="rId141"/>
    <p:sldId id="446" r:id="rId142"/>
  </p:sldIdLst>
  <p:sldSz cx="9144000" cy="5143500" type="screen16x9"/>
  <p:notesSz cx="6858000" cy="9144000"/>
  <p:custDataLst>
    <p:tags r:id="rId1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9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02" autoAdjust="0"/>
    <p:restoredTop sz="84421" autoAdjust="0"/>
  </p:normalViewPr>
  <p:slideViewPr>
    <p:cSldViewPr snapToGrid="0" showGuides="1">
      <p:cViewPr varScale="1">
        <p:scale>
          <a:sx n="111" d="100"/>
          <a:sy n="111" d="100"/>
        </p:scale>
        <p:origin x="1252" y="60"/>
      </p:cViewPr>
      <p:guideLst>
        <p:guide orient="horz" pos="1620"/>
        <p:guide pos="290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7" Type="http://schemas.openxmlformats.org/officeDocument/2006/relationships/tags" Target="tags/tag154.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handoutMaster" Target="handoutMasters/handoutMaster1.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latin typeface="+mn-ea"/>
                <a:ea typeface="+mn-ea"/>
              </a:rPr>
              <a:t>在面向对象分析过程中，构造出完全独立于实现的应用域模型；</a:t>
            </a:r>
            <a:endParaRPr lang="en-US" altLang="zh-CN" sz="800" dirty="0">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latin typeface="+mn-ea"/>
                <a:ea typeface="+mn-ea"/>
              </a:rPr>
              <a:t>在面向对象设计过程中，把求解域的结构逐渐加入到模型中；</a:t>
            </a:r>
            <a:endParaRPr lang="en-US" altLang="zh-CN" sz="800" dirty="0">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latin typeface="+mn-ea"/>
                <a:ea typeface="+mn-ea"/>
              </a:rPr>
              <a:t>在实现阶段，把应用域和求解域的结构都编成程序代码并进行严格的测试验证。</a:t>
            </a:r>
            <a:endParaRPr lang="en-US" altLang="zh-CN" sz="800" dirty="0">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endParaRPr lang="en-US" altLang="zh-CN" sz="800" b="1" dirty="0">
              <a:latin typeface="+mn-ea"/>
              <a:ea typeface="+mn-ea"/>
            </a:endParaRPr>
          </a:p>
          <a:p>
            <a:pPr marL="0" marR="0" lvl="0" indent="0" algn="l" defTabSz="514350" rtl="0" eaLnBrk="1" fontAlgn="auto" latinLnBrk="0" hangingPunct="1">
              <a:lnSpc>
                <a:spcPct val="100000"/>
              </a:lnSpc>
              <a:spcBef>
                <a:spcPts val="0"/>
              </a:spcBef>
              <a:spcAft>
                <a:spcPts val="0"/>
              </a:spcAft>
              <a:buClrTx/>
              <a:buSzTx/>
              <a:buFontTx/>
              <a:buNone/>
              <a:defRPr/>
            </a:pPr>
            <a:endParaRPr lang="en-US" altLang="zh-CN" sz="800" b="1" dirty="0">
              <a:latin typeface="+mn-ea"/>
              <a:ea typeface="+mn-ea"/>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eaLnBrk="1" hangingPunct="1">
              <a:buFont typeface="Arial" panose="020B0604020202020204" pitchFamily="34" charset="0"/>
              <a:buChar char="•"/>
            </a:pPr>
            <a:r>
              <a:rPr lang="zh-CN" altLang="en-US" sz="800" dirty="0">
                <a:latin typeface="华文中宋" panose="02010600040101010101" pitchFamily="2" charset="-122"/>
              </a:rPr>
              <a:t>概念模型是将用例模型向计算机表示的进一步过渡。概念模型就是划分类的结果。主要表达用类图，辅以顺序图。</a:t>
            </a:r>
            <a:endParaRPr lang="zh-CN" altLang="en-US" sz="800" dirty="0">
              <a:latin typeface="华文中宋" panose="02010600040101010101" pitchFamily="2" charset="-122"/>
            </a:endParaRPr>
          </a:p>
          <a:p>
            <a:pPr marL="171450" indent="-171450" algn="l" eaLnBrk="1" hangingPunct="1">
              <a:buFont typeface="Arial" panose="020B0604020202020204" pitchFamily="34" charset="0"/>
              <a:buChar char="•"/>
            </a:pPr>
            <a:r>
              <a:rPr lang="zh-CN" altLang="en-US" sz="800" dirty="0">
                <a:latin typeface="华文中宋" panose="02010600040101010101" pitchFamily="2" charset="-122"/>
              </a:rPr>
              <a:t>用例模型到概念模型的转化经过三个</a:t>
            </a:r>
            <a:r>
              <a:rPr lang="zh-CN" altLang="en-US" sz="800" b="1" dirty="0">
                <a:latin typeface="华文中宋" panose="02010600040101010101" pitchFamily="2" charset="-122"/>
              </a:rPr>
              <a:t>具体步骤</a:t>
            </a:r>
            <a:r>
              <a:rPr lang="zh-CN" altLang="en-US" sz="800" dirty="0">
                <a:latin typeface="华文中宋" panose="02010600040101010101" pitchFamily="2" charset="-122"/>
              </a:rPr>
              <a:t>：找类（划分类）、找属性和行为（封装类）、找类的关系（画类图）  </a:t>
            </a:r>
            <a:endParaRPr lang="en-US" altLang="zh-CN" sz="800" dirty="0">
              <a:latin typeface="华文中宋" panose="02010600040101010101" pitchFamily="2" charset="-122"/>
            </a:endParaRPr>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E8A20E7-ED4A-4948-9CBC-F46385B26F56}" type="slidenum">
              <a:rPr lang="en-US" altLang="zh-CN">
                <a:solidFill>
                  <a:prstClr val="black"/>
                </a:solidFill>
              </a:rPr>
            </a:fld>
            <a:endParaRPr lang="en-US" altLang="zh-CN">
              <a:solidFill>
                <a:prstClr val="black"/>
              </a:solidFill>
            </a:endParaRPr>
          </a:p>
        </p:txBody>
      </p:sp>
      <p:sp>
        <p:nvSpPr>
          <p:cNvPr id="362498" name="Rectangle 2"/>
          <p:cNvSpPr>
            <a:spLocks noGrp="1" noRot="1" noChangeAspect="1" noChangeArrowheads="1" noTextEdit="1"/>
          </p:cNvSpPr>
          <p:nvPr>
            <p:ph type="sldImg"/>
          </p:nvPr>
        </p:nvSpPr>
        <p:spPr/>
      </p:sp>
      <p:sp>
        <p:nvSpPr>
          <p:cNvPr id="362499"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eaLnBrk="1" hangingPunct="1">
              <a:buFont typeface="Arial" panose="020B0604020202020204" pitchFamily="34" charset="0"/>
              <a:buChar char="•"/>
            </a:pPr>
            <a:r>
              <a:rPr lang="zh-CN" altLang="en-US" sz="700" dirty="0"/>
              <a:t>对每个用例分别可以找出三种类：视图类、逻辑类和实体类；</a:t>
            </a:r>
            <a:endParaRPr lang="zh-CN" altLang="en-US" sz="700" dirty="0"/>
          </a:p>
          <a:p>
            <a:pPr marL="171450" indent="-171450" algn="l" eaLnBrk="1" hangingPunct="1">
              <a:buFont typeface="Arial" panose="020B0604020202020204" pitchFamily="34" charset="0"/>
              <a:buChar char="•"/>
            </a:pPr>
            <a:r>
              <a:rPr lang="zh-CN" altLang="en-US" sz="700" dirty="0"/>
              <a:t>将所有找到的三种类集中综合在一起得到三大模型：视图模型、逻辑模型和实体模型；</a:t>
            </a:r>
            <a:endParaRPr lang="zh-CN" altLang="en-US" sz="700" dirty="0"/>
          </a:p>
          <a:p>
            <a:pPr marL="171450" indent="-171450" algn="l" eaLnBrk="1" hangingPunct="1">
              <a:buFont typeface="Arial" panose="020B0604020202020204" pitchFamily="34" charset="0"/>
              <a:buChar char="•"/>
            </a:pPr>
            <a:r>
              <a:rPr lang="zh-CN" altLang="en-US" sz="700" dirty="0"/>
              <a:t>原始类的划分可采用表格表示三大模型，根据要求再进一步细化。</a:t>
            </a:r>
            <a:endParaRPr lang="en-US" altLang="zh-CN" sz="70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35B72B-C740-428F-AFC1-555D0ADAD8E2}" type="slidenum">
              <a:rPr lang="en-US" altLang="zh-CN">
                <a:solidFill>
                  <a:prstClr val="black"/>
                </a:solidFill>
              </a:rPr>
            </a:fld>
            <a:endParaRPr lang="en-US" altLang="zh-CN">
              <a:solidFill>
                <a:prstClr val="black"/>
              </a:solidFill>
            </a:endParaRPr>
          </a:p>
        </p:txBody>
      </p:sp>
      <p:sp>
        <p:nvSpPr>
          <p:cNvPr id="324610" name="Rectangle 2"/>
          <p:cNvSpPr>
            <a:spLocks noGrp="1" noRot="1" noChangeAspect="1" noChangeArrowheads="1" noTextEdit="1"/>
          </p:cNvSpPr>
          <p:nvPr>
            <p:ph type="sldImg"/>
          </p:nvPr>
        </p:nvSpPr>
        <p:spPr/>
      </p:sp>
      <p:sp>
        <p:nvSpPr>
          <p:cNvPr id="324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39F876B-6CC2-46EF-9D41-92432A8CD2AE}" type="slidenum">
              <a:rPr lang="en-US" altLang="zh-CN">
                <a:solidFill>
                  <a:prstClr val="black"/>
                </a:solidFill>
              </a:rPr>
            </a:fld>
            <a:endParaRPr lang="en-US" altLang="zh-CN">
              <a:solidFill>
                <a:prstClr val="black"/>
              </a:solidFill>
            </a:endParaRPr>
          </a:p>
        </p:txBody>
      </p:sp>
      <p:sp>
        <p:nvSpPr>
          <p:cNvPr id="325634" name="Rectangle 2"/>
          <p:cNvSpPr>
            <a:spLocks noGrp="1" noRot="1" noChangeAspect="1" noChangeArrowheads="1" noTextEdit="1"/>
          </p:cNvSpPr>
          <p:nvPr>
            <p:ph type="sldImg"/>
          </p:nvPr>
        </p:nvSpPr>
        <p:spPr/>
      </p:sp>
      <p:sp>
        <p:nvSpPr>
          <p:cNvPr id="325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4AC601-3BCB-4F42-994E-C6C24970323C}" type="slidenum">
              <a:rPr lang="en-US" altLang="zh-CN">
                <a:solidFill>
                  <a:prstClr val="black"/>
                </a:solidFill>
              </a:rPr>
            </a:fld>
            <a:endParaRPr lang="en-US" altLang="zh-CN">
              <a:solidFill>
                <a:prstClr val="black"/>
              </a:solidFill>
            </a:endParaRPr>
          </a:p>
        </p:txBody>
      </p:sp>
      <p:sp>
        <p:nvSpPr>
          <p:cNvPr id="342018" name="Rectangle 2"/>
          <p:cNvSpPr>
            <a:spLocks noGrp="1" noRot="1" noChangeAspect="1" noChangeArrowheads="1" noTextEdit="1"/>
          </p:cNvSpPr>
          <p:nvPr>
            <p:ph type="sldImg"/>
          </p:nvPr>
        </p:nvSpPr>
        <p:spPr/>
      </p:sp>
      <p:sp>
        <p:nvSpPr>
          <p:cNvPr id="342019" name="Rectangle 3"/>
          <p:cNvSpPr>
            <a:spLocks noGrp="1" noChangeArrowheads="1"/>
          </p:cNvSpPr>
          <p:nvPr>
            <p:ph type="body" idx="1"/>
          </p:nvPr>
        </p:nvSpPr>
        <p:spPr/>
        <p:txBody>
          <a:bodyPr/>
          <a:lstStyle/>
          <a:p>
            <a:r>
              <a:rPr lang="zh-CN" altLang="en-US" dirty="0">
                <a:latin typeface="楷体_GB2312" pitchFamily="49" charset="-122"/>
                <a:ea typeface="楷体_GB2312" pitchFamily="49" charset="-122"/>
                <a:sym typeface="+mn-ea"/>
              </a:rPr>
              <a:t>在系统分析阶段，类图主要用于显示角色和提供系统行为的实体的职责；</a:t>
            </a:r>
            <a:endParaRPr lang="zh-CN" altLang="en-US" dirty="0">
              <a:latin typeface="楷体_GB2312" pitchFamily="49" charset="-122"/>
              <a:ea typeface="楷体_GB2312" pitchFamily="49" charset="-122"/>
              <a:sym typeface="+mn-ea"/>
            </a:endParaRPr>
          </a:p>
          <a:p>
            <a:r>
              <a:rPr lang="zh-CN" altLang="en-US" dirty="0">
                <a:latin typeface="楷体_GB2312" pitchFamily="49" charset="-122"/>
                <a:ea typeface="楷体_GB2312" pitchFamily="49" charset="-122"/>
                <a:sym typeface="+mn-ea"/>
              </a:rPr>
              <a:t>在系统设计阶段，类图主要用于捕捉组成系统体系结构的类结构；</a:t>
            </a:r>
            <a:endParaRPr lang="zh-CN" altLang="en-US" dirty="0">
              <a:latin typeface="楷体_GB2312" pitchFamily="49" charset="-122"/>
              <a:ea typeface="楷体_GB2312" pitchFamily="49" charset="-122"/>
              <a:sym typeface="+mn-ea"/>
            </a:endParaRPr>
          </a:p>
          <a:p>
            <a:r>
              <a:rPr lang="zh-CN" altLang="en-US" dirty="0">
                <a:latin typeface="楷体_GB2312" pitchFamily="49" charset="-122"/>
                <a:ea typeface="楷体_GB2312" pitchFamily="49" charset="-122"/>
                <a:sym typeface="+mn-ea"/>
              </a:rPr>
              <a:t>在系统编码阶段，根据类图中的类及它们之间的关系实现系统的功能。</a:t>
            </a: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A341666-746F-436A-91F7-63E186C6B4FB}" type="slidenum">
              <a:rPr lang="en-US" altLang="zh-CN">
                <a:solidFill>
                  <a:prstClr val="black"/>
                </a:solidFill>
              </a:rPr>
            </a:fld>
            <a:endParaRPr lang="en-US" altLang="zh-CN">
              <a:solidFill>
                <a:prstClr val="black"/>
              </a:solidFill>
            </a:endParaRPr>
          </a:p>
        </p:txBody>
      </p:sp>
      <p:sp>
        <p:nvSpPr>
          <p:cNvPr id="343042" name="Rectangle 2"/>
          <p:cNvSpPr>
            <a:spLocks noGrp="1" noRot="1" noChangeAspect="1" noChangeArrowheads="1" noTextEdit="1"/>
          </p:cNvSpPr>
          <p:nvPr>
            <p:ph type="sldImg"/>
          </p:nvPr>
        </p:nvSpPr>
        <p:spPr/>
      </p:sp>
      <p:sp>
        <p:nvSpPr>
          <p:cNvPr id="343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59BA03-5C2F-45E3-A58C-D39554E3AF53}" type="slidenum">
              <a:rPr lang="en-US" altLang="zh-CN">
                <a:solidFill>
                  <a:prstClr val="black"/>
                </a:solidFill>
              </a:rPr>
            </a:fld>
            <a:endParaRPr lang="en-US" altLang="zh-CN">
              <a:solidFill>
                <a:prstClr val="black"/>
              </a:solidFill>
            </a:endParaRPr>
          </a:p>
        </p:txBody>
      </p:sp>
      <p:sp>
        <p:nvSpPr>
          <p:cNvPr id="382978" name="Rectangle 2"/>
          <p:cNvSpPr>
            <a:spLocks noGrp="1" noRot="1" noChangeAspect="1" noChangeArrowheads="1" noTextEdit="1"/>
          </p:cNvSpPr>
          <p:nvPr>
            <p:ph type="sldImg"/>
          </p:nvPr>
        </p:nvSpPr>
        <p:spPr/>
      </p:sp>
      <p:sp>
        <p:nvSpPr>
          <p:cNvPr id="382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ea typeface="宋体" panose="02010600030101010101" pitchFamily="2" charset="-122"/>
              </a:rPr>
              <a:t> 关联体现的是两个类、或者类与接口之间语义级别的一种强依赖关系；这种关系比依赖更强，不存在依赖关系的偶然性，关系也不是临时性的，一般是长期性的，而且双方的关系一般是平等的，关联可以是单向、双向的；表现在代码层而为被关联类</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以类属性的形式出现在关联类</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中，也可能是关联类</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引用了一个类型为被关联类</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的全局变量。</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当对象</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被加入到对象</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中，成为对象</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的组成部分时，对象</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和对象</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之间为聚合关系。聚合是关联关系的一种，是较强的关联关系，强调的是整体与部分之间的关系。聚合是关联关系的一种特例，它体现的是整体与部分、拥有的关系，即</a:t>
            </a:r>
            <a:r>
              <a:rPr lang="en-US" altLang="zh-CN" dirty="0">
                <a:latin typeface="Arial" panose="020B0604020202020204" pitchFamily="34" charset="0"/>
                <a:ea typeface="宋体" panose="02010600030101010101" pitchFamily="2" charset="-122"/>
              </a:rPr>
              <a:t>has a</a:t>
            </a:r>
            <a:r>
              <a:rPr lang="zh-CN" altLang="en-US" dirty="0">
                <a:latin typeface="Arial" panose="020B0604020202020204" pitchFamily="34" charset="0"/>
                <a:ea typeface="宋体" panose="02010600030101010101" pitchFamily="2" charset="-122"/>
              </a:rPr>
              <a:t>的关系，此时整体与部分之间是可分离的，它们可以具有各自的生命周期，部分可以属于多个整体对象，也可以为多个整体对象共享。</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对于两个相对独立的对象，当一个对象负责构造另一个对象的实例，或者依赖另一个对象的服务时，这两个对象之间主要体现为依赖关系。就是一个类</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使用到了另一个类</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，而这种使用关系是具有偶然性的、临时性的、非常弱的，但是</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类的变化会影响到</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；表现在代码层面，为类</a:t>
            </a:r>
            <a:r>
              <a:rPr lang="en-US" altLang="zh-CN" dirty="0">
                <a:latin typeface="Arial" panose="020B0604020202020204" pitchFamily="34" charset="0"/>
                <a:ea typeface="宋体" panose="02010600030101010101" pitchFamily="2" charset="-122"/>
              </a:rPr>
              <a:t>B</a:t>
            </a:r>
            <a:r>
              <a:rPr lang="zh-CN" altLang="en-US" dirty="0">
                <a:latin typeface="Arial" panose="020B0604020202020204" pitchFamily="34" charset="0"/>
                <a:ea typeface="宋体" panose="02010600030101010101" pitchFamily="2" charset="-122"/>
              </a:rPr>
              <a:t>作为参数被类</a:t>
            </a:r>
            <a:r>
              <a:rPr lang="en-US" altLang="zh-CN" dirty="0">
                <a:latin typeface="Arial" panose="020B0604020202020204" pitchFamily="34" charset="0"/>
                <a:ea typeface="宋体" panose="02010600030101010101" pitchFamily="2" charset="-122"/>
              </a:rPr>
              <a:t>A</a:t>
            </a:r>
            <a:r>
              <a:rPr lang="zh-CN" altLang="en-US" dirty="0">
                <a:latin typeface="Arial" panose="020B0604020202020204" pitchFamily="34" charset="0"/>
                <a:ea typeface="宋体" panose="02010600030101010101" pitchFamily="2" charset="-122"/>
              </a:rPr>
              <a:t>在某个</a:t>
            </a:r>
            <a:r>
              <a:rPr lang="en-US" altLang="zh-CN" dirty="0">
                <a:latin typeface="Arial" panose="020B0604020202020204" pitchFamily="34" charset="0"/>
                <a:ea typeface="宋体" panose="02010600030101010101" pitchFamily="2" charset="-122"/>
              </a:rPr>
              <a:t>method</a:t>
            </a:r>
            <a:r>
              <a:rPr lang="zh-CN" altLang="en-US" dirty="0">
                <a:latin typeface="Arial" panose="020B0604020202020204" pitchFamily="34" charset="0"/>
                <a:ea typeface="宋体" panose="02010600030101010101" pitchFamily="2" charset="-122"/>
              </a:rPr>
              <a:t>方法中使用。</a:t>
            </a:r>
            <a:br>
              <a:rPr lang="zh-CN" altLang="en-US" dirty="0">
                <a:latin typeface="Arial" panose="020B0604020202020204" pitchFamily="34" charset="0"/>
                <a:ea typeface="宋体" panose="02010600030101010101" pitchFamily="2" charset="-122"/>
              </a:rPr>
            </a:br>
            <a:r>
              <a:rPr lang="zh-CN" altLang="en-US" dirty="0">
                <a:latin typeface="Arial" panose="020B0604020202020204" pitchFamily="34" charset="0"/>
                <a:ea typeface="宋体" panose="02010600030101010101" pitchFamily="2" charset="-122"/>
              </a:rPr>
              <a:t>组合也是关联关系的一种特例，它体现的是一种</a:t>
            </a:r>
            <a:r>
              <a:rPr lang="en-US" altLang="zh-CN" dirty="0">
                <a:latin typeface="Arial" panose="020B0604020202020204" pitchFamily="34" charset="0"/>
                <a:ea typeface="宋体" panose="02010600030101010101" pitchFamily="2" charset="-122"/>
              </a:rPr>
              <a:t>contains-a</a:t>
            </a:r>
            <a:r>
              <a:rPr lang="zh-CN" altLang="en-US" dirty="0">
                <a:latin typeface="Arial" panose="020B0604020202020204" pitchFamily="34" charset="0"/>
                <a:ea typeface="宋体" panose="02010600030101010101" pitchFamily="2" charset="-122"/>
              </a:rPr>
              <a:t>的关系，这种关系比聚合更强，也称为强聚合；它同样体现整体与部分间的关系，但此时整体与部分是不可分的，整体的生命周期结束也就意味着部分的生命周期结束。</a:t>
            </a:r>
            <a:endParaRPr lang="en-US" altLang="zh-CN" dirty="0">
              <a:latin typeface="Arial" panose="020B0604020202020204" pitchFamily="34" charset="0"/>
              <a:ea typeface="宋体" panose="02010600030101010101" pitchFamily="2" charset="-122"/>
            </a:endParaRPr>
          </a:p>
          <a:p>
            <a:endParaRPr lang="en-US" altLang="zh-CN" dirty="0">
              <a:latin typeface="Arial" panose="020B0604020202020204" pitchFamily="34" charset="0"/>
              <a:ea typeface="宋体" panose="02010600030101010101" pitchFamily="2" charset="-122"/>
            </a:endParaRPr>
          </a:p>
          <a:p>
            <a:r>
              <a:rPr lang="zh-CN" altLang="en-US" dirty="0">
                <a:latin typeface="Arial" panose="020B0604020202020204" pitchFamily="34" charset="0"/>
                <a:ea typeface="宋体" panose="02010600030101010101" pitchFamily="2" charset="-122"/>
              </a:rPr>
              <a:t>各种关系的强弱顺序：</a:t>
            </a:r>
            <a:endParaRPr lang="zh-CN" altLang="en-US"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泛化 </a:t>
            </a:r>
            <a:r>
              <a:rPr lang="en-US" altLang="zh-CN" b="1" dirty="0">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实现 </a:t>
            </a:r>
            <a:r>
              <a:rPr lang="en-US" altLang="zh-CN" b="1" dirty="0">
                <a:latin typeface="Arial" panose="020B0604020202020204" pitchFamily="34" charset="0"/>
                <a:ea typeface="宋体" panose="02010600030101010101" pitchFamily="2" charset="-122"/>
              </a:rPr>
              <a:t>&gt; </a:t>
            </a:r>
            <a:r>
              <a:rPr lang="zh-CN" altLang="en-US" b="1" dirty="0">
                <a:latin typeface="Arial" panose="020B0604020202020204" pitchFamily="34" charset="0"/>
                <a:ea typeface="宋体" panose="02010600030101010101" pitchFamily="2" charset="-122"/>
              </a:rPr>
              <a:t>组合 </a:t>
            </a:r>
            <a:r>
              <a:rPr lang="en-US" altLang="zh-CN" b="1" dirty="0">
                <a:latin typeface="Arial" panose="020B0604020202020204" pitchFamily="34" charset="0"/>
                <a:ea typeface="宋体" panose="02010600030101010101" pitchFamily="2" charset="-122"/>
              </a:rPr>
              <a:t>&gt; </a:t>
            </a:r>
            <a:r>
              <a:rPr lang="zh-CN" altLang="en-US" b="1" dirty="0">
                <a:latin typeface="Arial" panose="020B0604020202020204" pitchFamily="34" charset="0"/>
                <a:ea typeface="宋体" panose="02010600030101010101" pitchFamily="2" charset="-122"/>
              </a:rPr>
              <a:t>聚合 </a:t>
            </a:r>
            <a:r>
              <a:rPr lang="en-US" altLang="zh-CN" b="1" dirty="0">
                <a:latin typeface="Arial" panose="020B0604020202020204" pitchFamily="34" charset="0"/>
                <a:ea typeface="宋体" panose="02010600030101010101" pitchFamily="2" charset="-122"/>
              </a:rPr>
              <a:t>&gt; </a:t>
            </a:r>
            <a:r>
              <a:rPr lang="zh-CN" altLang="en-US" b="1" dirty="0">
                <a:latin typeface="Arial" panose="020B0604020202020204" pitchFamily="34" charset="0"/>
                <a:ea typeface="宋体" panose="02010600030101010101" pitchFamily="2" charset="-122"/>
              </a:rPr>
              <a:t>关联 </a:t>
            </a:r>
            <a:r>
              <a:rPr lang="en-US" altLang="zh-CN" b="1" dirty="0">
                <a:latin typeface="Arial" panose="020B0604020202020204" pitchFamily="34" charset="0"/>
                <a:ea typeface="宋体" panose="02010600030101010101" pitchFamily="2" charset="-122"/>
              </a:rPr>
              <a:t>&gt; </a:t>
            </a:r>
            <a:r>
              <a:rPr lang="zh-CN" altLang="en-US" b="1" dirty="0">
                <a:latin typeface="Arial" panose="020B0604020202020204" pitchFamily="34" charset="0"/>
                <a:ea typeface="宋体" panose="02010600030101010101" pitchFamily="2" charset="-122"/>
              </a:rPr>
              <a:t>依赖</a:t>
            </a:r>
            <a:endParaRPr lang="zh-CN" altLang="en-US" b="1" dirty="0">
              <a:latin typeface="Arial" panose="020B0604020202020204" pitchFamily="34"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latin typeface="Arial" panose="020B0604020202020204" pitchFamily="34" charset="0"/>
                <a:ea typeface="宋体" panose="02010600030101010101" pitchFamily="2" charset="-122"/>
              </a:rPr>
              <a:t>Composition</a:t>
            </a:r>
            <a:r>
              <a:rPr lang="zh-CN" altLang="en-US" b="1" dirty="0">
                <a:latin typeface="Arial" panose="020B0604020202020204" pitchFamily="34" charset="0"/>
                <a:ea typeface="宋体" panose="02010600030101010101" pitchFamily="2" charset="-122"/>
              </a:rPr>
              <a:t>组成关系，即组合关系，指的是整体与部分的关系，并且整体与部分的生命周期并不相同。本题中</a:t>
            </a:r>
            <a:r>
              <a:rPr lang="en-US" altLang="zh-CN" b="1" dirty="0">
                <a:latin typeface="Arial" panose="020B0604020202020204" pitchFamily="34" charset="0"/>
                <a:ea typeface="宋体" panose="02010600030101010101" pitchFamily="2" charset="-122"/>
              </a:rPr>
              <a:t>A</a:t>
            </a:r>
            <a:r>
              <a:rPr lang="zh-CN" altLang="en-US" b="1" dirty="0">
                <a:latin typeface="Arial" panose="020B0604020202020204" pitchFamily="34" charset="0"/>
                <a:ea typeface="宋体" panose="02010600030101010101" pitchFamily="2" charset="-122"/>
              </a:rPr>
              <a:t>、</a:t>
            </a:r>
            <a:r>
              <a:rPr lang="en-US" altLang="zh-CN" b="1" dirty="0">
                <a:latin typeface="Arial" panose="020B0604020202020204" pitchFamily="34" charset="0"/>
                <a:ea typeface="宋体" panose="02010600030101010101" pitchFamily="2" charset="-122"/>
              </a:rPr>
              <a:t>B</a:t>
            </a:r>
            <a:r>
              <a:rPr lang="zh-CN" altLang="en-US" b="1" dirty="0">
                <a:latin typeface="Arial" panose="020B0604020202020204" pitchFamily="34" charset="0"/>
                <a:ea typeface="宋体" panose="02010600030101010101" pitchFamily="2" charset="-122"/>
              </a:rPr>
              <a:t>、</a:t>
            </a:r>
            <a:r>
              <a:rPr lang="en-US" altLang="zh-CN" b="1" dirty="0">
                <a:latin typeface="Arial" panose="020B0604020202020204" pitchFamily="34" charset="0"/>
                <a:ea typeface="宋体" panose="02010600030101010101" pitchFamily="2" charset="-122"/>
              </a:rPr>
              <a:t>C</a:t>
            </a:r>
            <a:r>
              <a:rPr lang="zh-CN" altLang="en-US" b="1" dirty="0">
                <a:latin typeface="Arial" panose="020B0604020202020204" pitchFamily="34" charset="0"/>
                <a:ea typeface="宋体" panose="02010600030101010101" pitchFamily="2" charset="-122"/>
              </a:rPr>
              <a:t>选项中，将汽车作为一个系统，当汽车报废后，座位、车窗、发动机都不可以再次利用。</a:t>
            </a:r>
            <a:endParaRPr lang="en-US" altLang="zh-CN" b="1" dirty="0">
              <a:latin typeface="Arial" panose="020B0604020202020204" pitchFamily="34" charset="0"/>
              <a:ea typeface="宋体" panose="02010600030101010101" pitchFamily="2" charset="-122"/>
            </a:endParaRPr>
          </a:p>
          <a:p>
            <a:r>
              <a:rPr lang="zh-CN" altLang="en-US" b="1" dirty="0">
                <a:latin typeface="Arial" panose="020B0604020202020204" pitchFamily="34" charset="0"/>
                <a:ea typeface="宋体" panose="02010600030101010101" pitchFamily="2" charset="-122"/>
              </a:rPr>
              <a:t>从代码的角度去理解，在汽车的构造方法中必须要同时</a:t>
            </a:r>
            <a:r>
              <a:rPr lang="en-US" altLang="zh-CN" b="1" dirty="0">
                <a:latin typeface="Arial" panose="020B0604020202020204" pitchFamily="34" charset="0"/>
                <a:ea typeface="宋体" panose="02010600030101010101" pitchFamily="2" charset="-122"/>
              </a:rPr>
              <a:t>new</a:t>
            </a:r>
            <a:r>
              <a:rPr lang="zh-CN" altLang="en-US" b="1" dirty="0">
                <a:latin typeface="Arial" panose="020B0604020202020204" pitchFamily="34" charset="0"/>
                <a:ea typeface="宋体" panose="02010600030101010101" pitchFamily="2" charset="-122"/>
              </a:rPr>
              <a:t>座位、车窗、发动机，</a:t>
            </a:r>
            <a:r>
              <a:rPr lang="zh-CN" altLang="en-US" dirty="0">
                <a:latin typeface="Arial" panose="020B0604020202020204" pitchFamily="34" charset="0"/>
                <a:ea typeface="宋体" panose="02010600030101010101" pitchFamily="2" charset="-122"/>
              </a:rPr>
              <a:t>聚合关系一般使用</a:t>
            </a:r>
            <a:r>
              <a:rPr lang="en-US" altLang="zh-CN" dirty="0">
                <a:latin typeface="Arial" panose="020B0604020202020204" pitchFamily="34" charset="0"/>
                <a:ea typeface="宋体" panose="02010600030101010101" pitchFamily="2" charset="-122"/>
              </a:rPr>
              <a:t>setter</a:t>
            </a:r>
            <a:r>
              <a:rPr lang="zh-CN" altLang="en-US" dirty="0">
                <a:latin typeface="Arial" panose="020B0604020202020204" pitchFamily="34" charset="0"/>
                <a:ea typeface="宋体" panose="02010600030101010101" pitchFamily="2" charset="-122"/>
              </a:rPr>
              <a:t>方法给成员变量赋值，组合关系，常常会使用构造方法来达到初始化的目的。</a:t>
            </a:r>
            <a:endParaRPr lang="zh-CN" altLang="en-US" dirty="0">
              <a:latin typeface="Arial" panose="020B0604020202020204" pitchFamily="34"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DC6A5A0-D8CC-4A65-926F-A4115CE6D344}" type="slidenum">
              <a:rPr lang="en-US" altLang="zh-CN">
                <a:solidFill>
                  <a:prstClr val="black"/>
                </a:solidFill>
              </a:rPr>
            </a:fld>
            <a:endParaRPr lang="en-US" altLang="zh-CN">
              <a:solidFill>
                <a:prstClr val="black"/>
              </a:solidFill>
            </a:endParaRPr>
          </a:p>
        </p:txBody>
      </p:sp>
      <p:sp>
        <p:nvSpPr>
          <p:cNvPr id="344066" name="Rectangle 2"/>
          <p:cNvSpPr>
            <a:spLocks noGrp="1" noRot="1" noChangeAspect="1" noChangeArrowheads="1" noTextEdit="1"/>
          </p:cNvSpPr>
          <p:nvPr>
            <p:ph type="sldImg"/>
          </p:nvPr>
        </p:nvSpPr>
        <p:spPr/>
      </p:sp>
      <p:sp>
        <p:nvSpPr>
          <p:cNvPr id="344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C51427D-43D1-4E20-A189-9A12E2CB1801}" type="slidenum">
              <a:rPr lang="en-US" altLang="zh-CN">
                <a:solidFill>
                  <a:prstClr val="black"/>
                </a:solidFill>
              </a:rPr>
            </a:fld>
            <a:endParaRPr lang="en-US" altLang="zh-CN">
              <a:solidFill>
                <a:prstClr val="black"/>
              </a:solidFill>
            </a:endParaRPr>
          </a:p>
        </p:txBody>
      </p:sp>
      <p:sp>
        <p:nvSpPr>
          <p:cNvPr id="360450" name="Rectangle 2"/>
          <p:cNvSpPr>
            <a:spLocks noGrp="1" noRot="1" noChangeAspect="1" noChangeArrowheads="1" noTextEdit="1"/>
          </p:cNvSpPr>
          <p:nvPr>
            <p:ph type="sldImg"/>
          </p:nvPr>
        </p:nvSpPr>
        <p:spPr/>
      </p:sp>
      <p:sp>
        <p:nvSpPr>
          <p:cNvPr id="3604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pPr>
            <a:r>
              <a:rPr lang="zh-CN" altLang="en-US" dirty="0">
                <a:ea typeface="+mn-ea"/>
              </a:rPr>
              <a:t>边界对象</a:t>
            </a:r>
            <a:r>
              <a:rPr lang="en-US" altLang="zh-CN" dirty="0">
                <a:ea typeface="+mn-ea"/>
              </a:rPr>
              <a:t>(</a:t>
            </a:r>
            <a:r>
              <a:rPr lang="zh-CN" altLang="en-US" dirty="0">
                <a:ea typeface="+mn-ea"/>
              </a:rPr>
              <a:t>类</a:t>
            </a:r>
            <a:r>
              <a:rPr lang="en-US" altLang="zh-CN" dirty="0">
                <a:ea typeface="+mn-ea"/>
              </a:rPr>
              <a:t>)</a:t>
            </a:r>
            <a:endParaRPr lang="en-US" altLang="zh-CN" dirty="0">
              <a:ea typeface="+mn-ea"/>
            </a:endParaRPr>
          </a:p>
          <a:p>
            <a:pPr lvl="1" eaLnBrk="1" hangingPunct="1">
              <a:lnSpc>
                <a:spcPct val="90000"/>
              </a:lnSpc>
            </a:pPr>
            <a:r>
              <a:rPr lang="zh-CN" altLang="en-US" dirty="0">
                <a:ea typeface="+mn-ea"/>
              </a:rPr>
              <a:t>参与者使用它来同系统交互</a:t>
            </a:r>
            <a:endParaRPr lang="zh-CN" altLang="en-US" dirty="0">
              <a:ea typeface="+mn-ea"/>
            </a:endParaRPr>
          </a:p>
          <a:p>
            <a:pPr lvl="1" eaLnBrk="1" hangingPunct="1">
              <a:lnSpc>
                <a:spcPct val="90000"/>
              </a:lnSpc>
            </a:pPr>
            <a:r>
              <a:rPr lang="zh-CN" altLang="en-US" dirty="0">
                <a:ea typeface="+mn-ea"/>
              </a:rPr>
              <a:t>通常</a:t>
            </a:r>
            <a:r>
              <a:rPr lang="en-US" altLang="zh-CN" dirty="0">
                <a:ea typeface="+mn-ea"/>
              </a:rPr>
              <a:t>,</a:t>
            </a:r>
            <a:r>
              <a:rPr lang="zh-CN" altLang="en-US" dirty="0">
                <a:ea typeface="+mn-ea"/>
              </a:rPr>
              <a:t>边界对象用作屏蔽和媒介</a:t>
            </a:r>
            <a:r>
              <a:rPr lang="en-US" altLang="zh-CN" dirty="0">
                <a:ea typeface="+mn-ea"/>
              </a:rPr>
              <a:t>,</a:t>
            </a:r>
            <a:r>
              <a:rPr lang="zh-CN" altLang="en-US" dirty="0">
                <a:ea typeface="+mn-ea"/>
              </a:rPr>
              <a:t>隔离了如何取得应用程序提供的服务的大部分交互细节</a:t>
            </a:r>
            <a:endParaRPr lang="zh-CN" altLang="en-US" dirty="0">
              <a:ea typeface="+mn-ea"/>
            </a:endParaRPr>
          </a:p>
          <a:p>
            <a:pPr lvl="1" eaLnBrk="1" hangingPunct="1">
              <a:lnSpc>
                <a:spcPct val="90000"/>
              </a:lnSpc>
            </a:pPr>
            <a:r>
              <a:rPr lang="zh-CN" altLang="en-US" dirty="0">
                <a:ea typeface="+mn-ea"/>
              </a:rPr>
              <a:t>位于系统与外界的交界处，包括所有的窗体、报表、系统硬件接口、与其他系统的接口</a:t>
            </a:r>
            <a:endParaRPr lang="zh-CN" altLang="en-US" dirty="0">
              <a:ea typeface="+mn-ea"/>
            </a:endParaRPr>
          </a:p>
          <a:p>
            <a:pPr lvl="1" eaLnBrk="1" hangingPunct="1">
              <a:lnSpc>
                <a:spcPct val="90000"/>
              </a:lnSpc>
            </a:pPr>
            <a:r>
              <a:rPr lang="zh-CN" altLang="en-US" dirty="0">
                <a:ea typeface="+mn-ea"/>
              </a:rPr>
              <a:t>识别边界类的简单途径就是注意系统中的参与者。</a:t>
            </a:r>
            <a:endParaRPr lang="zh-CN" altLang="en-US" dirty="0">
              <a:ea typeface="+mn-ea"/>
            </a:endParaRPr>
          </a:p>
          <a:p>
            <a:pPr lvl="2" eaLnBrk="1" hangingPunct="1">
              <a:lnSpc>
                <a:spcPct val="90000"/>
              </a:lnSpc>
            </a:pPr>
            <a:r>
              <a:rPr lang="zh-CN" altLang="en-US" dirty="0">
                <a:ea typeface="+mn-ea"/>
              </a:rPr>
              <a:t>每个参与者都需要与系统建立接口</a:t>
            </a:r>
            <a:endParaRPr lang="zh-CN" altLang="en-US" dirty="0">
              <a:ea typeface="+mn-ea"/>
            </a:endParaRPr>
          </a:p>
          <a:p>
            <a:pPr eaLnBrk="1" hangingPunct="1">
              <a:lnSpc>
                <a:spcPct val="90000"/>
              </a:lnSpc>
            </a:pPr>
            <a:r>
              <a:rPr lang="zh-CN" altLang="en-US" dirty="0">
                <a:ea typeface="+mn-ea"/>
              </a:rPr>
              <a:t>实体对象</a:t>
            </a:r>
            <a:r>
              <a:rPr lang="en-US" altLang="zh-CN" dirty="0">
                <a:ea typeface="+mn-ea"/>
              </a:rPr>
              <a:t>(</a:t>
            </a:r>
            <a:r>
              <a:rPr lang="zh-CN" altLang="en-US" dirty="0">
                <a:ea typeface="+mn-ea"/>
              </a:rPr>
              <a:t>类</a:t>
            </a:r>
            <a:r>
              <a:rPr lang="en-US" altLang="zh-CN" dirty="0">
                <a:ea typeface="+mn-ea"/>
              </a:rPr>
              <a:t>)</a:t>
            </a:r>
            <a:endParaRPr lang="en-US" altLang="zh-CN" dirty="0">
              <a:ea typeface="+mn-ea"/>
            </a:endParaRPr>
          </a:p>
          <a:p>
            <a:pPr lvl="1" eaLnBrk="1" hangingPunct="1">
              <a:lnSpc>
                <a:spcPct val="90000"/>
              </a:lnSpc>
            </a:pPr>
            <a:r>
              <a:rPr lang="zh-CN" altLang="en-US" dirty="0">
                <a:ea typeface="+mn-ea"/>
              </a:rPr>
              <a:t>通常是来自领域模型的对象</a:t>
            </a:r>
            <a:endParaRPr lang="zh-CN" altLang="en-US" dirty="0">
              <a:ea typeface="+mn-ea"/>
            </a:endParaRPr>
          </a:p>
          <a:p>
            <a:pPr lvl="1" eaLnBrk="1" hangingPunct="1">
              <a:lnSpc>
                <a:spcPct val="90000"/>
              </a:lnSpc>
            </a:pPr>
            <a:r>
              <a:rPr lang="zh-CN" altLang="en-US" dirty="0">
                <a:ea typeface="+mn-ea"/>
              </a:rPr>
              <a:t>它们用来保存持久性的应用程序实体的有关信息</a:t>
            </a:r>
            <a:r>
              <a:rPr lang="en-US" altLang="zh-CN" dirty="0">
                <a:ea typeface="+mn-ea"/>
              </a:rPr>
              <a:t>,</a:t>
            </a:r>
            <a:r>
              <a:rPr lang="zh-CN" altLang="en-US" dirty="0">
                <a:ea typeface="+mn-ea"/>
              </a:rPr>
              <a:t>并提供用于驱动应用程序中大多数交互所需的服务</a:t>
            </a:r>
            <a:endParaRPr lang="zh-CN" altLang="en-US" dirty="0">
              <a:ea typeface="+mn-ea"/>
            </a:endParaRPr>
          </a:p>
          <a:p>
            <a:pPr lvl="1" eaLnBrk="1" hangingPunct="1">
              <a:lnSpc>
                <a:spcPct val="90000"/>
              </a:lnSpc>
            </a:pPr>
            <a:r>
              <a:rPr lang="zh-CN" altLang="en-US" dirty="0">
                <a:ea typeface="+mn-ea"/>
              </a:rPr>
              <a:t>实体对象通常提供一些非常具体的服务</a:t>
            </a:r>
            <a:endParaRPr lang="zh-CN" altLang="en-US" dirty="0">
              <a:ea typeface="+mn-ea"/>
            </a:endParaRPr>
          </a:p>
          <a:p>
            <a:pPr lvl="2" eaLnBrk="1" hangingPunct="1">
              <a:lnSpc>
                <a:spcPct val="90000"/>
              </a:lnSpc>
            </a:pPr>
            <a:r>
              <a:rPr lang="zh-CN" altLang="en-US" dirty="0">
                <a:ea typeface="+mn-ea"/>
              </a:rPr>
              <a:t>存储和检索实体属性</a:t>
            </a:r>
            <a:endParaRPr lang="zh-CN" altLang="en-US" dirty="0">
              <a:ea typeface="+mn-ea"/>
            </a:endParaRPr>
          </a:p>
          <a:p>
            <a:pPr lvl="2" eaLnBrk="1" hangingPunct="1">
              <a:lnSpc>
                <a:spcPct val="90000"/>
              </a:lnSpc>
            </a:pPr>
            <a:r>
              <a:rPr lang="zh-CN" altLang="en-US" dirty="0">
                <a:ea typeface="+mn-ea"/>
              </a:rPr>
              <a:t>创建和删除实体</a:t>
            </a:r>
            <a:endParaRPr lang="zh-CN" altLang="en-US" dirty="0">
              <a:ea typeface="+mn-ea"/>
            </a:endParaRPr>
          </a:p>
          <a:p>
            <a:pPr lvl="2" eaLnBrk="1" hangingPunct="1">
              <a:lnSpc>
                <a:spcPct val="90000"/>
              </a:lnSpc>
            </a:pPr>
            <a:r>
              <a:rPr lang="zh-CN" altLang="en-US" dirty="0">
                <a:ea typeface="+mn-ea"/>
              </a:rPr>
              <a:t>提供随着实体的改变有可能改变的行为</a:t>
            </a:r>
            <a:endParaRPr lang="zh-CN" altLang="en-US" dirty="0">
              <a:ea typeface="+mn-ea"/>
            </a:endParaRPr>
          </a:p>
          <a:p>
            <a:pPr eaLnBrk="1" hangingPunct="1"/>
            <a:r>
              <a:rPr lang="zh-CN" altLang="en-US" sz="2400" dirty="0">
                <a:ea typeface="+mn-ea"/>
              </a:rPr>
              <a:t>控制对象</a:t>
            </a:r>
            <a:r>
              <a:rPr lang="en-US" altLang="zh-CN" sz="2400" dirty="0">
                <a:ea typeface="+mn-ea"/>
              </a:rPr>
              <a:t>(</a:t>
            </a:r>
            <a:r>
              <a:rPr lang="zh-CN" altLang="en-US" sz="2400" dirty="0">
                <a:ea typeface="+mn-ea"/>
              </a:rPr>
              <a:t>类</a:t>
            </a:r>
            <a:r>
              <a:rPr lang="en-US" altLang="zh-CN" sz="2400" dirty="0">
                <a:ea typeface="+mn-ea"/>
              </a:rPr>
              <a:t>)</a:t>
            </a:r>
            <a:endParaRPr lang="en-US" altLang="zh-CN" sz="2400" dirty="0">
              <a:ea typeface="+mn-ea"/>
            </a:endParaRPr>
          </a:p>
          <a:p>
            <a:pPr lvl="1" eaLnBrk="1" hangingPunct="1"/>
            <a:r>
              <a:rPr lang="zh-CN" altLang="en-US" sz="2200" dirty="0">
                <a:ea typeface="+mn-ea"/>
              </a:rPr>
              <a:t>对应用领域中的活动进行协调</a:t>
            </a:r>
            <a:r>
              <a:rPr lang="en-US" altLang="zh-CN" sz="2200" dirty="0">
                <a:ea typeface="+mn-ea"/>
              </a:rPr>
              <a:t>,</a:t>
            </a:r>
            <a:r>
              <a:rPr lang="zh-CN" altLang="en-US" sz="2200" dirty="0">
                <a:ea typeface="+mn-ea"/>
              </a:rPr>
              <a:t>即将边界对象和实体对象关联起来</a:t>
            </a:r>
            <a:endParaRPr lang="zh-CN" altLang="en-US" sz="2200" dirty="0">
              <a:ea typeface="+mn-ea"/>
            </a:endParaRPr>
          </a:p>
          <a:p>
            <a:pPr lvl="1" eaLnBrk="1" hangingPunct="1"/>
            <a:r>
              <a:rPr lang="zh-CN" altLang="en-US" sz="2200" dirty="0">
                <a:ea typeface="+mn-ea"/>
              </a:rPr>
              <a:t>每一个用例中通常有一个控制类，它控制用例中的事件顺序。</a:t>
            </a:r>
            <a:endParaRPr lang="zh-CN" altLang="en-US" sz="2200" dirty="0">
              <a:ea typeface="+mn-ea"/>
            </a:endParaRPr>
          </a:p>
          <a:p>
            <a:pPr lvl="1" eaLnBrk="1" hangingPunct="1"/>
            <a:r>
              <a:rPr lang="zh-CN" altLang="en-US" sz="2200" dirty="0">
                <a:ea typeface="+mn-ea"/>
              </a:rPr>
              <a:t>通常，控制类可以扮演以下几种角色</a:t>
            </a:r>
            <a:endParaRPr lang="zh-CN" altLang="en-US" sz="2200" dirty="0">
              <a:ea typeface="+mn-ea"/>
            </a:endParaRPr>
          </a:p>
          <a:p>
            <a:pPr lvl="2" eaLnBrk="1" hangingPunct="1"/>
            <a:r>
              <a:rPr lang="zh-CN" altLang="en-US" sz="2000" dirty="0">
                <a:ea typeface="+mn-ea"/>
              </a:rPr>
              <a:t>与事物相关的行为</a:t>
            </a:r>
            <a:endParaRPr lang="zh-CN" altLang="en-US" sz="2000" dirty="0">
              <a:ea typeface="+mn-ea"/>
            </a:endParaRPr>
          </a:p>
          <a:p>
            <a:pPr lvl="2" eaLnBrk="1" hangingPunct="1"/>
            <a:r>
              <a:rPr lang="zh-CN" altLang="en-US" sz="2000" dirty="0">
                <a:ea typeface="+mn-ea"/>
              </a:rPr>
              <a:t>特定于一个或少量用例（或用例中的路径）的一个控制序列</a:t>
            </a:r>
            <a:endParaRPr lang="zh-CN" altLang="en-US" sz="2000" dirty="0">
              <a:ea typeface="+mn-ea"/>
            </a:endParaRPr>
          </a:p>
          <a:p>
            <a:pPr lvl="2" eaLnBrk="1" hangingPunct="1"/>
            <a:r>
              <a:rPr lang="zh-CN" altLang="en-US" sz="2000" dirty="0">
                <a:ea typeface="+mn-ea"/>
              </a:rPr>
              <a:t>将实体对象与边界对象分离的服务</a:t>
            </a:r>
            <a:endParaRPr lang="zh-CN" altLang="en-US" sz="2000" dirty="0">
              <a:ea typeface="+mn-ea"/>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en-US" dirty="0">
                <a:latin typeface="Arial" panose="020B0604020202020204" pitchFamily="34" charset="0"/>
                <a:ea typeface="宋体" panose="02010600030101010101" pitchFamily="2" charset="-122"/>
              </a:rPr>
              <a:t>类可以分为三种：实体类、接口类（边界类）和控制类。实体类的对象表示现实世界中真实的实体，如人、物等。接口类（边界类）的对象为用户提供一种与系统合作交互的方式，分为人和系统两大类，其中人的接口可以是显示屏、窗口、</a:t>
            </a:r>
            <a:r>
              <a:rPr lang="en-US" altLang="zh-CN" dirty="0">
                <a:latin typeface="Arial" panose="020B0604020202020204" pitchFamily="34" charset="0"/>
                <a:ea typeface="宋体" panose="02010600030101010101" pitchFamily="2" charset="-122"/>
              </a:rPr>
              <a:t>Web</a:t>
            </a:r>
            <a:r>
              <a:rPr lang="zh-CN" altLang="en-US" dirty="0">
                <a:latin typeface="Arial" panose="020B0604020202020204" pitchFamily="34" charset="0"/>
                <a:ea typeface="宋体" panose="02010600030101010101" pitchFamily="2" charset="-122"/>
              </a:rPr>
              <a:t>窗体、对话框、菜单、列表框、其他显示控制、条形码、二维码或者用户与系统交互的其他方法。系统接口涉及到把数据发送到其他系统，或者从其他系统接收数据。控制类的对象用来控制活动流，充当协调者。</a:t>
            </a:r>
            <a:endParaRPr lang="zh-CN" altLang="en-US" dirty="0">
              <a:latin typeface="Arial" panose="020B0604020202020204" pitchFamily="34"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en-US" dirty="0">
                <a:latin typeface="Arial" panose="020B0604020202020204" pitchFamily="34" charset="0"/>
                <a:ea typeface="宋体" panose="02010600030101010101" pitchFamily="2" charset="-122"/>
              </a:rPr>
              <a:t>类可以分为三种：实体类、接口类（边界类）和控制类。实体类的对象表示现实世界中真实的实体，如人、物等。接口类（边界类）的对象为用户提供一种与系统合作交互的方式，分为人和系统两大类，其中人的接口可以是显示屏、窗口、</a:t>
            </a:r>
            <a:r>
              <a:rPr lang="en-US" altLang="zh-CN" dirty="0">
                <a:latin typeface="Arial" panose="020B0604020202020204" pitchFamily="34" charset="0"/>
                <a:ea typeface="宋体" panose="02010600030101010101" pitchFamily="2" charset="-122"/>
              </a:rPr>
              <a:t>Web</a:t>
            </a:r>
            <a:r>
              <a:rPr lang="zh-CN" altLang="en-US" dirty="0">
                <a:latin typeface="Arial" panose="020B0604020202020204" pitchFamily="34" charset="0"/>
                <a:ea typeface="宋体" panose="02010600030101010101" pitchFamily="2" charset="-122"/>
              </a:rPr>
              <a:t>窗体、对话框、菜单、列表框、其他显示控制、条形码、二维码或者用户与系统交互的其他方法。系统接口涉及到把数据发送到其他系统，或者从其他系统接收数据。控制类的对象用来控制活动流，充当协调者。</a:t>
            </a:r>
            <a:endParaRPr lang="zh-CN" altLang="en-US" dirty="0">
              <a:latin typeface="Arial" panose="020B0604020202020204" pitchFamily="34"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获取非功能需求的方法：调查问卷，因为非功能需求不是用户业务范围内的需求。</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fld id="{D9280FD9-7B72-4FCE-B75E-5A958B1DFA05}" type="slidenum">
              <a:rPr lang="zh-CN" altLang="en-US"/>
            </a:fld>
            <a:endParaRPr lang="en-US" altLang="zh-CN"/>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xfrm>
            <a:off x="946150" y="4860925"/>
            <a:ext cx="5210175" cy="4602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安全性，可扩充性，互操作性，健壮性，易使用性，可维护性，可重用性等，还包括物理需求、实施需求、接口需求、设计约束等。</a:t>
            </a:r>
            <a:endParaRPr lang="en-US" altLang="zh-CN" dirty="0"/>
          </a:p>
          <a:p>
            <a:endParaRPr lang="en-US" altLang="zh-CN" dirty="0"/>
          </a:p>
          <a:p>
            <a:r>
              <a:rPr lang="zh-CN" altLang="en-US" dirty="0"/>
              <a:t>非功能需求关心的是整个系统的特性，比功能需求更关键，一个功能需求没有实现可能降低系统的可用性，但一个非功能需求没有满足，就会导致系统无法使用。</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事务的重要性在分布式系统和集成性系统中尤为重要。在小型系统中，事务性一般通过数据库本身的事务处理机制来保障，但在分布式系统、集成应用系统中，由于系统中可能存在多个异构数据库，仅仅靠数据库本身的事务处理就远远不够了，这时应借助第三方事务中间件来保障。在大型应用中，都会通过购买专用服务器来提供相应的事务处理机制，不需要自己编程来实现事务处理。</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3170507-F803-42A5-B02C-078FBADC966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r>
              <a:rPr lang="zh-CN" altLang="zh-CN" sz="800" b="0" dirty="0"/>
              <a:t>需求说明书描述几乎都是自然语言，这种非形式化的语言容易出现不准确、冗余、遗漏和理解不一致等问题。对规格说明书的审查是必须</a:t>
            </a:r>
            <a:r>
              <a:rPr lang="zh-CN" altLang="en-US" sz="800" b="0" dirty="0"/>
              <a:t>的，</a:t>
            </a:r>
            <a:r>
              <a:rPr lang="zh-CN" altLang="zh-CN" sz="800" b="0" dirty="0"/>
              <a:t>确保需求说明准确、完整地、清晰、无二义地表达产品的功能和质量要求</a:t>
            </a:r>
            <a:r>
              <a:rPr lang="zh-CN" altLang="en-US" sz="800" b="0" dirty="0"/>
              <a:t>。评审是需求分析的最后一步，通过评审后的需求文档才可以生效。</a:t>
            </a:r>
            <a:endParaRPr lang="zh-CN" altLang="zh-CN" sz="800" b="0" dirty="0"/>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endParaRPr kumimoji="1" lang="en-US" altLang="zh-CN" sz="800" b="1" dirty="0">
              <a:solidFill>
                <a:srgbClr val="660066"/>
              </a:solidFill>
              <a:latin typeface="隶书" panose="02010509060101010101" pitchFamily="49" charset="-122"/>
              <a:ea typeface="隶书" panose="02010509060101010101" pitchFamily="49" charset="-122"/>
            </a:endParaRPr>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r>
              <a:rPr kumimoji="1" lang="en-US" altLang="zh-CN" sz="800" b="1" dirty="0" err="1">
                <a:solidFill>
                  <a:srgbClr val="660066"/>
                </a:solidFill>
                <a:latin typeface="隶书" panose="02010509060101010101" pitchFamily="49" charset="-122"/>
                <a:ea typeface="隶书" panose="02010509060101010101" pitchFamily="49" charset="-122"/>
              </a:rPr>
              <a:t>需求规格说明的质量特性</a:t>
            </a:r>
            <a:r>
              <a:rPr kumimoji="1" lang="zh-CN" altLang="en-US" sz="800" b="1" dirty="0">
                <a:solidFill>
                  <a:srgbClr val="660066"/>
                </a:solidFill>
                <a:latin typeface="隶书" panose="02010509060101010101" pitchFamily="49" charset="-122"/>
                <a:ea typeface="隶书" panose="02010509060101010101" pitchFamily="49" charset="-122"/>
              </a:rPr>
              <a:t>：</a:t>
            </a:r>
            <a:endParaRPr kumimoji="1" lang="zh-CN" altLang="en-US" sz="800" b="1" dirty="0">
              <a:solidFill>
                <a:srgbClr val="660066"/>
              </a:solidFill>
              <a:latin typeface="隶书" panose="02010509060101010101" pitchFamily="49" charset="-122"/>
              <a:ea typeface="隶书" panose="02010509060101010101" pitchFamily="49" charset="-122"/>
            </a:endParaRPr>
          </a:p>
          <a:p>
            <a:pPr marL="171450" indent="-171450" algn="l" eaLnBrk="1" hangingPunct="1">
              <a:spcBef>
                <a:spcPct val="55000"/>
              </a:spcBef>
              <a:buFont typeface="Arial" panose="020B0604020202020204" pitchFamily="34" charset="0"/>
              <a:buChar char="•"/>
            </a:pPr>
            <a:r>
              <a:rPr lang="zh-CN" altLang="zh-CN" sz="800" b="0" dirty="0"/>
              <a:t>正确性：对系统功能、行为、性能等的描述必须与用户的期望相吻合，代表了用户的真正需求。</a:t>
            </a:r>
            <a:endParaRPr lang="zh-CN" altLang="zh-CN" sz="800" b="0" dirty="0"/>
          </a:p>
          <a:p>
            <a:pPr marL="171450" indent="-171450" algn="l" eaLnBrk="1" hangingPunct="1">
              <a:spcBef>
                <a:spcPct val="55000"/>
              </a:spcBef>
              <a:buFont typeface="Arial" panose="020B0604020202020204" pitchFamily="34" charset="0"/>
              <a:buChar char="•"/>
            </a:pPr>
            <a:r>
              <a:rPr lang="zh-CN" altLang="zh-CN" sz="800" b="0" dirty="0"/>
              <a:t>完整性：需求规格说明应该包括软件要完成的全部任务，不能遗漏任何必要的需求信息，注重用户的任务而不是系统的功能将有助于你避免不完整性</a:t>
            </a:r>
            <a:endParaRPr lang="zh-CN" altLang="zh-CN" sz="800" b="0" dirty="0"/>
          </a:p>
          <a:p>
            <a:pPr marL="171450" indent="-171450" algn="l" eaLnBrk="1" hangingPunct="1">
              <a:spcBef>
                <a:spcPct val="55000"/>
              </a:spcBef>
              <a:buFont typeface="Arial" panose="020B0604020202020204" pitchFamily="34" charset="0"/>
              <a:buChar char="•"/>
            </a:pPr>
            <a:r>
              <a:rPr lang="zh-CN" altLang="zh-CN" sz="800" b="0" dirty="0"/>
              <a:t> 一致性：需求规格说明对各种需求的描述不能存在矛盾，如术语使用冲突、功能和行为特性方面的矛盾以及时序上的不一致等。</a:t>
            </a:r>
            <a:endParaRPr lang="zh-CN" altLang="zh-CN" sz="800" b="0" dirty="0"/>
          </a:p>
          <a:p>
            <a:pPr marL="171450" indent="-171450" algn="l" eaLnBrk="1" hangingPunct="1">
              <a:spcBef>
                <a:spcPct val="55000"/>
              </a:spcBef>
              <a:buFont typeface="Arial" panose="020B0604020202020204" pitchFamily="34" charset="0"/>
              <a:buChar char="•"/>
            </a:pPr>
            <a:r>
              <a:rPr lang="zh-CN" altLang="zh-CN" sz="800" b="0" dirty="0"/>
              <a:t>可修改性：格式和组织方式应保证后续的修改能够比较容易和协调一致。我们可以使用软件工具，或者使用目录表、索引和相互参照列表等方法使软件需求规格说明更容易修改。</a:t>
            </a:r>
            <a:endParaRPr lang="zh-CN" altLang="zh-CN" sz="800" b="0" dirty="0"/>
          </a:p>
          <a:p>
            <a:pPr marL="171450" indent="-171450" algn="l" eaLnBrk="1" hangingPunct="1">
              <a:spcBef>
                <a:spcPct val="55000"/>
              </a:spcBef>
              <a:buFont typeface="Arial" panose="020B0604020202020204" pitchFamily="34" charset="0"/>
              <a:buChar char="•"/>
            </a:pPr>
            <a:r>
              <a:rPr lang="zh-CN" altLang="zh-CN" sz="800" b="0" dirty="0"/>
              <a:t>可跟踪性：可跟踪性意味着每项需求都能与其对应的来源、设计、源代码和测试用例联系起来。</a:t>
            </a:r>
            <a:endParaRPr lang="zh-CN" altLang="zh-CN" sz="800" b="0" dirty="0"/>
          </a:p>
          <a:p>
            <a:pPr marL="171450" indent="-171450" algn="l" eaLnBrk="1" hangingPunct="1">
              <a:spcBef>
                <a:spcPct val="55000"/>
              </a:spcBef>
              <a:buFont typeface="Arial" panose="020B0604020202020204" pitchFamily="34" charset="0"/>
              <a:buChar char="•"/>
            </a:pPr>
            <a:r>
              <a:rPr lang="zh-CN" altLang="zh-CN" sz="800" b="0" dirty="0"/>
              <a:t>可验证性：描述的需求都可以运用一些可行的手段对其进行验证和确认。</a:t>
            </a:r>
            <a:endParaRPr lang="zh-CN" altLang="zh-CN" sz="800" b="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5A3EF16A-701B-4C1E-8474-13A1AF65F904}"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EB7957BD-2D48-44C5-87CD-63892DDA8DB7}"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3673A594-2D56-42F0-ACE0-83225DA49101}"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38BC6A75-6E56-4D22-97D7-87B34F5AF419}"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09BF7C78-3E30-4BE2-84A2-EBD0F45A80AF}"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B3232F22-62E6-4427-A469-4C3984F48CD5}"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37708B3D-CDD1-4E05-9692-2158ED49C654}"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23502361-6578-4156-8ABC-9BE757C8FB6A}"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5A3E2C32-E9F5-4D9F-94D6-AD25CD3597AB}"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7697414F-C8D7-422E-981F-B3DFEA927C6D}"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F2091A4C-4FEA-4D66-B5B7-754A738E3EC3}"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727032" y="4805958"/>
            <a:ext cx="1920240" cy="274320"/>
          </a:xfrm>
          <a:prstGeom prst="rect">
            <a:avLst/>
          </a:prstGeom>
        </p:spPr>
        <p:txBody>
          <a:bodyPr/>
          <a:lstStyle>
            <a:lvl1pPr>
              <a:defRPr sz="1200"/>
            </a:lvl1pPr>
          </a:lstStyle>
          <a:p>
            <a:fld id="{FE72E771-EFA6-4C3D-9CB2-533D4F7F5589}" type="datetime1">
              <a:rPr lang="zh-CN" altLang="en-US" smtClean="0"/>
            </a:fld>
            <a:endParaRPr lang="zh-CN" altLang="en-US"/>
          </a:p>
        </p:txBody>
      </p:sp>
      <p:sp>
        <p:nvSpPr>
          <p:cNvPr id="3" name="页脚占位符 4"/>
          <p:cNvSpPr>
            <a:spLocks noGrp="1"/>
          </p:cNvSpPr>
          <p:nvPr>
            <p:ph type="ftr" sz="quarter" idx="11"/>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4"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7389" y="457200"/>
            <a:ext cx="7769225" cy="857250"/>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8976" y="1258491"/>
            <a:ext cx="7769225" cy="3086100"/>
          </a:xfrm>
          <a:prstGeom prst="rect">
            <a:avLst/>
          </a:prstGeom>
        </p:spPr>
        <p:txBody>
          <a:bodyPr/>
          <a:lstStyle/>
          <a:p>
            <a:endParaRPr lang="zh-CN" altLang="en-US"/>
          </a:p>
        </p:txBody>
      </p:sp>
      <p:sp>
        <p:nvSpPr>
          <p:cNvPr id="4" name="日期占位符 3"/>
          <p:cNvSpPr>
            <a:spLocks noGrp="1"/>
          </p:cNvSpPr>
          <p:nvPr>
            <p:ph type="dt" sz="half" idx="10"/>
          </p:nvPr>
        </p:nvSpPr>
        <p:spPr>
          <a:xfrm>
            <a:off x="687388" y="4686300"/>
            <a:ext cx="1903412" cy="342900"/>
          </a:xfrm>
        </p:spPr>
        <p:txBody>
          <a:bodyPr/>
          <a:lstStyle>
            <a:lvl1pPr>
              <a:defRPr/>
            </a:lvl1pPr>
          </a:lstStyle>
          <a:p>
            <a:endParaRPr lang="en-US" altLang="zh-CN">
              <a:solidFill>
                <a:prstClr val="black"/>
              </a:solidFill>
            </a:endParaRPr>
          </a:p>
        </p:txBody>
      </p:sp>
      <p:sp>
        <p:nvSpPr>
          <p:cNvPr id="5" name="页脚占位符 4"/>
          <p:cNvSpPr>
            <a:spLocks noGrp="1"/>
          </p:cNvSpPr>
          <p:nvPr>
            <p:ph type="ftr" sz="quarter" idx="11"/>
          </p:nvPr>
        </p:nvSpPr>
        <p:spPr>
          <a:xfrm>
            <a:off x="3124200" y="4686300"/>
            <a:ext cx="2895600" cy="342900"/>
          </a:xfrm>
        </p:spPr>
        <p:txBody>
          <a:bodyPr/>
          <a:lstStyle>
            <a:lvl1pPr>
              <a:defRPr/>
            </a:lvl1pPr>
          </a:lstStyle>
          <a:p>
            <a:endParaRPr lang="en-US" altLang="zh-CN">
              <a:solidFill>
                <a:prstClr val="black"/>
              </a:solidFill>
            </a:endParaRPr>
          </a:p>
        </p:txBody>
      </p:sp>
      <p:sp>
        <p:nvSpPr>
          <p:cNvPr id="6" name="灯片编号占位符 5"/>
          <p:cNvSpPr>
            <a:spLocks noGrp="1"/>
          </p:cNvSpPr>
          <p:nvPr>
            <p:ph type="sldNum" sz="quarter" idx="12"/>
          </p:nvPr>
        </p:nvSpPr>
        <p:spPr>
          <a:xfrm>
            <a:off x="6553201" y="4686300"/>
            <a:ext cx="1903413" cy="342900"/>
          </a:xfrm>
        </p:spPr>
        <p:txBody>
          <a:bodyPr/>
          <a:lstStyle>
            <a:lvl1pPr>
              <a:defRPr/>
            </a:lvl1pPr>
          </a:lstStyle>
          <a:p>
            <a:fld id="{4E1E286D-3BA0-454D-BD5C-BEC164375062}" type="slidenum">
              <a:rPr lang="en-US" altLang="zh-CN">
                <a:solidFill>
                  <a:prstClr val="black"/>
                </a:solidFill>
              </a:rPr>
            </a:fld>
            <a:endParaRPr lang="en-US" altLang="zh-CN">
              <a:solidFill>
                <a:prstClr val="black"/>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76297A48-6E4D-4770-9C03-B787242AE2BB}"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tags" Target="../tags/tag6.xml"/><Relationship Id="rId2" Type="http://schemas.openxmlformats.org/officeDocument/2006/relationships/image" Target="../media/image11.png"/><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5.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9" Type="http://schemas.openxmlformats.org/officeDocument/2006/relationships/slideLayout" Target="../slideLayouts/slideLayout10.xml"/><Relationship Id="rId18" Type="http://schemas.openxmlformats.org/officeDocument/2006/relationships/tags" Target="../tags/tag23.xml"/><Relationship Id="rId17" Type="http://schemas.openxmlformats.org/officeDocument/2006/relationships/image" Target="../media/image34.png"/><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50.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7" Type="http://schemas.openxmlformats.org/officeDocument/2006/relationships/notesSlide" Target="../notesSlides/notesSlide15.xml"/><Relationship Id="rId26" Type="http://schemas.openxmlformats.org/officeDocument/2006/relationships/slideLayout" Target="../slideLayouts/slideLayout10.xml"/><Relationship Id="rId25" Type="http://schemas.openxmlformats.org/officeDocument/2006/relationships/tags" Target="../tags/tag47.xml"/><Relationship Id="rId24" Type="http://schemas.openxmlformats.org/officeDocument/2006/relationships/image" Target="../media/image34.png"/><Relationship Id="rId23" Type="http://schemas.openxmlformats.org/officeDocument/2006/relationships/tags" Target="../tags/tag46.xml"/><Relationship Id="rId22" Type="http://schemas.openxmlformats.org/officeDocument/2006/relationships/tags" Target="../tags/tag45.xml"/><Relationship Id="rId21" Type="http://schemas.openxmlformats.org/officeDocument/2006/relationships/tags" Target="../tags/tag44.xml"/><Relationship Id="rId20" Type="http://schemas.openxmlformats.org/officeDocument/2006/relationships/tags" Target="../tags/tag43.xml"/><Relationship Id="rId2" Type="http://schemas.openxmlformats.org/officeDocument/2006/relationships/tags" Target="../tags/tag25.xml"/><Relationship Id="rId19" Type="http://schemas.openxmlformats.org/officeDocument/2006/relationships/tags" Target="../tags/tag42.xml"/><Relationship Id="rId18" Type="http://schemas.openxmlformats.org/officeDocument/2006/relationships/tags" Target="../tags/tag41.xml"/><Relationship Id="rId17" Type="http://schemas.openxmlformats.org/officeDocument/2006/relationships/tags" Target="../tags/tag40.xml"/><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9" Type="http://schemas.openxmlformats.org/officeDocument/2006/relationships/slideLayout" Target="../slideLayouts/slideLayout10.xml"/><Relationship Id="rId18" Type="http://schemas.openxmlformats.org/officeDocument/2006/relationships/tags" Target="../tags/tag64.xml"/><Relationship Id="rId17" Type="http://schemas.openxmlformats.org/officeDocument/2006/relationships/image" Target="../media/image34.png"/><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48.xml"/></Relationships>
</file>

<file path=ppt/slides/_rels/slide56.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0" Type="http://schemas.openxmlformats.org/officeDocument/2006/relationships/notesSlide" Target="../notesSlides/notesSlide16.xml"/><Relationship Id="rId2" Type="http://schemas.openxmlformats.org/officeDocument/2006/relationships/tags" Target="../tags/tag66.xml"/><Relationship Id="rId19" Type="http://schemas.openxmlformats.org/officeDocument/2006/relationships/slideLayout" Target="../slideLayouts/slideLayout10.xml"/><Relationship Id="rId18" Type="http://schemas.openxmlformats.org/officeDocument/2006/relationships/tags" Target="../tags/tag81.xml"/><Relationship Id="rId17" Type="http://schemas.openxmlformats.org/officeDocument/2006/relationships/image" Target="../media/image34.png"/><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57.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0" Type="http://schemas.openxmlformats.org/officeDocument/2006/relationships/slideLayout" Target="../slideLayouts/slideLayout10.xml"/><Relationship Id="rId2" Type="http://schemas.openxmlformats.org/officeDocument/2006/relationships/tags" Target="../tags/tag83.xml"/><Relationship Id="rId19" Type="http://schemas.openxmlformats.org/officeDocument/2006/relationships/tags" Target="../tags/tag98.xml"/><Relationship Id="rId18" Type="http://schemas.openxmlformats.org/officeDocument/2006/relationships/image" Target="../media/image34.png"/><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image" Target="../media/image38.png"/><Relationship Id="rId10" Type="http://schemas.openxmlformats.org/officeDocument/2006/relationships/tags" Target="../tags/tag91.xml"/><Relationship Id="rId1" Type="http://schemas.openxmlformats.org/officeDocument/2006/relationships/tags" Target="../tags/tag82.xml"/></Relationships>
</file>

<file path=ppt/slides/_rels/slide58.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0" Type="http://schemas.openxmlformats.org/officeDocument/2006/relationships/slideLayout" Target="../slideLayouts/slideLayout10.xml"/><Relationship Id="rId2" Type="http://schemas.openxmlformats.org/officeDocument/2006/relationships/tags" Target="../tags/tag100.xml"/><Relationship Id="rId19" Type="http://schemas.openxmlformats.org/officeDocument/2006/relationships/tags" Target="../tags/tag115.xml"/><Relationship Id="rId18" Type="http://schemas.openxmlformats.org/officeDocument/2006/relationships/image" Target="../media/image34.png"/><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image" Target="../media/image38.png"/><Relationship Id="rId10" Type="http://schemas.openxmlformats.org/officeDocument/2006/relationships/tags" Target="../tags/tag108.xml"/><Relationship Id="rId1" Type="http://schemas.openxmlformats.org/officeDocument/2006/relationships/tags" Target="../tags/tag9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0.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0" Type="http://schemas.openxmlformats.org/officeDocument/2006/relationships/notesSlide" Target="../notesSlides/notesSlide20.xml"/><Relationship Id="rId2" Type="http://schemas.openxmlformats.org/officeDocument/2006/relationships/tags" Target="../tags/tag117.xml"/><Relationship Id="rId19" Type="http://schemas.openxmlformats.org/officeDocument/2006/relationships/slideLayout" Target="../slideLayouts/slideLayout10.xml"/><Relationship Id="rId18" Type="http://schemas.openxmlformats.org/officeDocument/2006/relationships/tags" Target="../tags/tag132.xml"/><Relationship Id="rId17" Type="http://schemas.openxmlformats.org/officeDocument/2006/relationships/image" Target="../media/image34.png"/><Relationship Id="rId16" Type="http://schemas.openxmlformats.org/officeDocument/2006/relationships/tags" Target="../tags/tag131.xml"/><Relationship Id="rId15" Type="http://schemas.openxmlformats.org/officeDocument/2006/relationships/tags" Target="../tags/tag130.xml"/><Relationship Id="rId14" Type="http://schemas.openxmlformats.org/officeDocument/2006/relationships/tags" Target="../tags/tag129.xml"/><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tags" Target="../tags/tag116.xml"/></Relationships>
</file>

<file path=ppt/slides/_rels/slide81.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0" Type="http://schemas.openxmlformats.org/officeDocument/2006/relationships/notesSlide" Target="../notesSlides/notesSlide21.xml"/><Relationship Id="rId2" Type="http://schemas.openxmlformats.org/officeDocument/2006/relationships/tags" Target="../tags/tag134.xml"/><Relationship Id="rId19" Type="http://schemas.openxmlformats.org/officeDocument/2006/relationships/slideLayout" Target="../slideLayouts/slideLayout10.xml"/><Relationship Id="rId18" Type="http://schemas.openxmlformats.org/officeDocument/2006/relationships/tags" Target="../tags/tag149.xml"/><Relationship Id="rId17" Type="http://schemas.openxmlformats.org/officeDocument/2006/relationships/image" Target="../media/image34.png"/><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tags" Target="../tags/tag133.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3.emf"/><Relationship Id="rId1" Type="http://schemas.openxmlformats.org/officeDocument/2006/relationships/oleObject" Target="../embeddings/oleObject1.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5.emf"/><Relationship Id="rId1" Type="http://schemas.openxmlformats.org/officeDocument/2006/relationships/oleObject" Target="../embeddings/oleObject2.bin"/></Relationships>
</file>

<file path=ppt/slides/_rels/slide93.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3.vml"/><Relationship Id="rId3" Type="http://schemas.openxmlformats.org/officeDocument/2006/relationships/slideLayout" Target="../slideLayouts/slideLayout5.xml"/><Relationship Id="rId2" Type="http://schemas.openxmlformats.org/officeDocument/2006/relationships/image" Target="../media/image46.emf"/><Relationship Id="rId1" Type="http://schemas.openxmlformats.org/officeDocument/2006/relationships/oleObject" Target="../embeddings/oleObject3.bin"/></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doc88.com/p-2866150290167.html" TargetMode="External"/><Relationship Id="rId2" Type="http://schemas.openxmlformats.org/officeDocument/2006/relationships/hyperlink" Target="http://www.doc88.com/p-341802847454.html" TargetMode="External"/><Relationship Id="rId1" Type="http://schemas.openxmlformats.org/officeDocument/2006/relationships/hyperlink" Target="http://www.doc88.com/p-3068715769107.html" TargetMode="Externa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51.xml"/><Relationship Id="rId1" Type="http://schemas.openxmlformats.org/officeDocument/2006/relationships/image" Target="../media/image5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5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53.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6.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4000" dirty="0">
                <a:solidFill>
                  <a:srgbClr val="000000"/>
                </a:solidFill>
              </a:rPr>
              <a:t>——</a:t>
            </a:r>
            <a:r>
              <a:rPr lang="zh-CN" altLang="en-US" sz="4000" dirty="0">
                <a:solidFill>
                  <a:srgbClr val="000000"/>
                </a:solidFill>
              </a:rPr>
              <a:t>需求分析</a:t>
            </a:r>
            <a:r>
              <a:rPr lang="en-US" altLang="zh-CN" sz="4000" dirty="0">
                <a:solidFill>
                  <a:srgbClr val="000000"/>
                </a:solidFill>
              </a:rPr>
              <a:t>4</a:t>
            </a:r>
            <a:endParaRPr lang="zh-CN" altLang="en-US" sz="4000" cap="none" dirty="0">
              <a:solidFill>
                <a:srgbClr val="000000"/>
              </a:solidFill>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t>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clrChange>
              <a:clrFrom>
                <a:srgbClr val="F6F6F6"/>
              </a:clrFrom>
              <a:clrTo>
                <a:srgbClr val="F6F6F6">
                  <a:alpha val="0"/>
                </a:srgbClr>
              </a:clrTo>
            </a:clrChange>
          </a:blip>
          <a:stretch>
            <a:fillRect/>
          </a:stretch>
        </p:blipFill>
        <p:spPr>
          <a:xfrm>
            <a:off x="5846257" y="1599929"/>
            <a:ext cx="3098189" cy="3253099"/>
          </a:xfrm>
          <a:prstGeom prst="rect">
            <a:avLst/>
          </a:prstGeom>
          <a:noFill/>
          <a:ln>
            <a:noFill/>
          </a:ln>
        </p:spPr>
      </p:pic>
      <p:sp>
        <p:nvSpPr>
          <p:cNvPr id="2" name="标题 1"/>
          <p:cNvSpPr>
            <a:spLocks noGrp="1"/>
          </p:cNvSpPr>
          <p:nvPr>
            <p:ph type="title"/>
          </p:nvPr>
        </p:nvSpPr>
        <p:spPr/>
        <p:txBody>
          <a:bodyPr/>
          <a:lstStyle/>
          <a:p>
            <a:r>
              <a:rPr lang="zh-CN" altLang="en-US" dirty="0"/>
              <a:t>前情回顾</a:t>
            </a:r>
            <a:endParaRPr lang="zh-CN" altLang="en-US" dirty="0"/>
          </a:p>
        </p:txBody>
      </p:sp>
      <p:sp>
        <p:nvSpPr>
          <p:cNvPr id="3" name="内容占位符 2"/>
          <p:cNvSpPr>
            <a:spLocks noGrp="1"/>
          </p:cNvSpPr>
          <p:nvPr>
            <p:ph idx="1"/>
          </p:nvPr>
        </p:nvSpPr>
        <p:spPr>
          <a:xfrm>
            <a:off x="1094322" y="1017271"/>
            <a:ext cx="3525180" cy="3520440"/>
          </a:xfrm>
        </p:spPr>
        <p:txBody>
          <a:bodyPr>
            <a:normAutofit fontScale="80000"/>
          </a:bodyPr>
          <a:lstStyle/>
          <a:p>
            <a:r>
              <a:rPr lang="zh-CN" altLang="en-US" dirty="0"/>
              <a:t>第</a:t>
            </a:r>
            <a:r>
              <a:rPr lang="en-US" altLang="zh-CN" dirty="0"/>
              <a:t>3</a:t>
            </a:r>
            <a:r>
              <a:rPr lang="zh-CN" altLang="en-US" dirty="0"/>
              <a:t>章 需求分析</a:t>
            </a:r>
            <a:endParaRPr lang="zh-CN" altLang="en-US" dirty="0"/>
          </a:p>
          <a:p>
            <a:pPr lvl="1"/>
            <a:r>
              <a:rPr lang="zh-CN" altLang="en-US" dirty="0">
                <a:sym typeface="+mn-ea"/>
              </a:rPr>
              <a:t>对象模型</a:t>
            </a:r>
            <a:endParaRPr lang="en-US" altLang="zh-CN" dirty="0"/>
          </a:p>
          <a:p>
            <a:pPr lvl="1"/>
            <a:r>
              <a:rPr lang="zh-CN" altLang="en-US" dirty="0">
                <a:sym typeface="+mn-ea"/>
              </a:rPr>
              <a:t>绘制领域类图</a:t>
            </a:r>
            <a:endParaRPr lang="en-US" altLang="zh-CN" dirty="0"/>
          </a:p>
          <a:p>
            <a:pPr lvl="1"/>
            <a:r>
              <a:rPr lang="zh-CN" altLang="en-US" dirty="0"/>
              <a:t>非功能性需求</a:t>
            </a:r>
            <a:endParaRPr lang="zh-CN" altLang="en-US" dirty="0"/>
          </a:p>
          <a:p>
            <a:r>
              <a:rPr lang="zh-CN" altLang="en-US" dirty="0"/>
              <a:t>实验：</a:t>
            </a:r>
            <a:endParaRPr lang="en-US" altLang="zh-CN" dirty="0"/>
          </a:p>
          <a:p>
            <a:pPr lvl="1"/>
            <a:r>
              <a:rPr lang="zh-CN" altLang="en-US" dirty="0"/>
              <a:t>绘制领域类图</a:t>
            </a:r>
            <a:endParaRPr lang="en-US" altLang="zh-CN" dirty="0"/>
          </a:p>
          <a:p>
            <a:pPr lvl="1"/>
            <a:r>
              <a:rPr lang="zh-CN" altLang="en-US" dirty="0"/>
              <a:t>编写需求规格说明书</a:t>
            </a:r>
            <a:endParaRPr lang="zh-CN" altLang="en-US" dirty="0"/>
          </a:p>
        </p:txBody>
      </p:sp>
      <p:sp>
        <p:nvSpPr>
          <p:cNvPr id="4" name="日期占位符 3"/>
          <p:cNvSpPr>
            <a:spLocks noGrp="1"/>
          </p:cNvSpPr>
          <p:nvPr>
            <p:ph type="dt" sz="half" idx="10"/>
          </p:nvPr>
        </p:nvSpPr>
        <p:spPr/>
        <p:txBody>
          <a:bodyPr/>
          <a:lstStyle/>
          <a:p>
            <a:fld id="{AFD876D2-F8DB-4A37-8B7D-BD371F12C7B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330324-62D3-48F4-B2D8-07D4907ABCA6}"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1082" y="1638634"/>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4221" y="1568573"/>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432830" y="1568573"/>
            <a:ext cx="3083937" cy="369332"/>
          </a:xfrm>
          <a:prstGeom prst="rect">
            <a:avLst/>
          </a:prstGeom>
          <a:noFill/>
        </p:spPr>
        <p:txBody>
          <a:bodyPr wrap="square" lIns="0" tIns="0" rIns="0" bIns="0">
            <a:spAutoFit/>
          </a:bodyPr>
          <a:lstStyle/>
          <a:p>
            <a:pPr>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面向对象方法学概述</a:t>
            </a:r>
            <a:endParaRPr lang="zh-CN" altLang="en-US" sz="2400" dirty="0">
              <a:solidFill>
                <a:schemeClr val="accent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1082" y="2122367"/>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4221" y="205230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432830" y="2052306"/>
            <a:ext cx="3083937"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面向对象的概念</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1082" y="26061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4221" y="2536039"/>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lumMod val="75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432830" y="2536039"/>
            <a:ext cx="3083937" cy="369332"/>
          </a:xfrm>
          <a:prstGeom prst="rect">
            <a:avLst/>
          </a:prstGeom>
          <a:noFill/>
        </p:spPr>
        <p:txBody>
          <a:bodyPr wrap="square" lIns="0" tIns="0" rIns="0" bIns="0">
            <a:spAutoFit/>
          </a:bodyPr>
          <a:lstStyle/>
          <a:p>
            <a:pPr>
              <a:defRPr/>
            </a:pPr>
            <a:r>
              <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面向对象分析</a:t>
            </a:r>
            <a:endParaRPr lang="zh-CN" altLang="en-US" sz="24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4" name="椭圆 13"/>
          <p:cNvSpPr/>
          <p:nvPr/>
        </p:nvSpPr>
        <p:spPr>
          <a:xfrm>
            <a:off x="4141082" y="3089833"/>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4221" y="3019772"/>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432830" y="3019772"/>
            <a:ext cx="3663271"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面向对象建模</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a:t>第</a:t>
            </a:r>
            <a:r>
              <a:rPr lang="en-US" altLang="zh-CN" sz="2800" dirty="0"/>
              <a:t>9</a:t>
            </a:r>
            <a:r>
              <a:rPr lang="zh-CN" altLang="en-US" sz="2800" dirty="0"/>
              <a:t>章 面向对象方法学引论</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面向对象建模</a:t>
            </a:r>
            <a:endParaRPr lang="zh-CN" altLang="en-US" dirty="0"/>
          </a:p>
        </p:txBody>
      </p:sp>
      <p:sp>
        <p:nvSpPr>
          <p:cNvPr id="3" name="内容占位符 2"/>
          <p:cNvSpPr>
            <a:spLocks noGrp="1"/>
          </p:cNvSpPr>
          <p:nvPr>
            <p:ph idx="1"/>
          </p:nvPr>
        </p:nvSpPr>
        <p:spPr>
          <a:xfrm>
            <a:off x="900299" y="998261"/>
            <a:ext cx="8056413" cy="3685419"/>
          </a:xfrm>
        </p:spPr>
        <p:txBody>
          <a:bodyPr>
            <a:normAutofit/>
          </a:bodyPr>
          <a:lstStyle/>
          <a:p>
            <a:pPr marL="342900" indent="-342900"/>
            <a:r>
              <a:rPr lang="zh-CN" altLang="zh-CN" sz="2400" dirty="0"/>
              <a:t>用面向对象方法开发软件，通常需要建立</a:t>
            </a:r>
            <a:r>
              <a:rPr lang="en-US" altLang="zh-CN" sz="2400" dirty="0"/>
              <a:t>3</a:t>
            </a:r>
            <a:r>
              <a:rPr lang="zh-CN" altLang="zh-CN" sz="2400" dirty="0"/>
              <a:t>种模型</a:t>
            </a:r>
            <a:r>
              <a:rPr lang="zh-CN" altLang="en-US" sz="2400" dirty="0"/>
              <a:t>：</a:t>
            </a:r>
            <a:endParaRPr lang="en-US" altLang="zh-CN" sz="2400" dirty="0"/>
          </a:p>
          <a:p>
            <a:pPr lvl="1"/>
            <a:r>
              <a:rPr lang="zh-CN" altLang="zh-CN" dirty="0"/>
              <a:t>描述系统功能的</a:t>
            </a:r>
            <a:r>
              <a:rPr lang="zh-CN" altLang="zh-CN" b="1" dirty="0">
                <a:solidFill>
                  <a:srgbClr val="FF0000"/>
                </a:solidFill>
              </a:rPr>
              <a:t>功能模型</a:t>
            </a:r>
            <a:endParaRPr lang="en-US" altLang="zh-CN" dirty="0">
              <a:solidFill>
                <a:srgbClr val="FF0000"/>
              </a:solidFill>
            </a:endParaRPr>
          </a:p>
          <a:p>
            <a:pPr lvl="1"/>
            <a:r>
              <a:rPr lang="zh-CN" altLang="zh-CN" dirty="0"/>
              <a:t>描述系统数据结构的</a:t>
            </a:r>
            <a:r>
              <a:rPr lang="zh-CN" altLang="zh-CN" b="1" dirty="0">
                <a:solidFill>
                  <a:srgbClr val="FF0000"/>
                </a:solidFill>
              </a:rPr>
              <a:t>对象模型</a:t>
            </a:r>
            <a:endParaRPr lang="en-US" altLang="zh-CN" dirty="0">
              <a:solidFill>
                <a:srgbClr val="FF0000"/>
              </a:solidFill>
            </a:endParaRPr>
          </a:p>
          <a:p>
            <a:pPr lvl="1"/>
            <a:r>
              <a:rPr lang="zh-CN" altLang="zh-CN" dirty="0"/>
              <a:t>描述系统控制结构的</a:t>
            </a:r>
            <a:r>
              <a:rPr lang="zh-CN" altLang="zh-CN" b="1" dirty="0">
                <a:solidFill>
                  <a:srgbClr val="FF0000"/>
                </a:solidFill>
              </a:rPr>
              <a:t>动态模型</a:t>
            </a:r>
            <a:endParaRPr lang="en-US" altLang="zh-CN" dirty="0">
              <a:solidFill>
                <a:srgbClr val="FF0000"/>
              </a:solidFill>
            </a:endParaRPr>
          </a:p>
          <a:p>
            <a:pPr marL="342900" indent="-342900"/>
            <a:r>
              <a:rPr lang="zh-CN" altLang="zh-CN" sz="2400" dirty="0">
                <a:latin typeface="+mn-ea"/>
              </a:rPr>
              <a:t>一个典型的软件系统使用数据结构</a:t>
            </a:r>
            <a:r>
              <a:rPr lang="en-US" altLang="zh-CN" sz="2400" dirty="0">
                <a:latin typeface="+mn-ea"/>
              </a:rPr>
              <a:t>(</a:t>
            </a:r>
            <a:r>
              <a:rPr lang="zh-CN" altLang="zh-CN" sz="2400" dirty="0">
                <a:latin typeface="+mn-ea"/>
              </a:rPr>
              <a:t>对象模型</a:t>
            </a:r>
            <a:r>
              <a:rPr lang="en-US" altLang="zh-CN" sz="2400" dirty="0">
                <a:latin typeface="+mn-ea"/>
              </a:rPr>
              <a:t>)</a:t>
            </a:r>
            <a:r>
              <a:rPr lang="zh-CN" altLang="zh-CN" sz="2400" dirty="0">
                <a:latin typeface="+mn-ea"/>
              </a:rPr>
              <a:t>，执行操作</a:t>
            </a:r>
            <a:r>
              <a:rPr lang="en-US" altLang="zh-CN" sz="2400" dirty="0">
                <a:latin typeface="+mn-ea"/>
              </a:rPr>
              <a:t>(</a:t>
            </a:r>
            <a:r>
              <a:rPr lang="zh-CN" altLang="zh-CN" sz="2400" dirty="0">
                <a:latin typeface="+mn-ea"/>
              </a:rPr>
              <a:t>动态模型</a:t>
            </a:r>
            <a:r>
              <a:rPr lang="en-US" altLang="zh-CN" sz="2400" dirty="0">
                <a:latin typeface="+mn-ea"/>
              </a:rPr>
              <a:t>)</a:t>
            </a:r>
            <a:r>
              <a:rPr lang="zh-CN" altLang="zh-CN" sz="2400" dirty="0">
                <a:latin typeface="+mn-ea"/>
              </a:rPr>
              <a:t>，并且完成数据值的变化</a:t>
            </a:r>
            <a:r>
              <a:rPr lang="en-US" altLang="zh-CN" sz="2400" dirty="0">
                <a:latin typeface="+mn-ea"/>
              </a:rPr>
              <a:t>(</a:t>
            </a:r>
            <a:r>
              <a:rPr lang="zh-CN" altLang="zh-CN" sz="2400" dirty="0">
                <a:latin typeface="+mn-ea"/>
              </a:rPr>
              <a:t>功能模型</a:t>
            </a:r>
            <a:r>
              <a:rPr lang="en-US" altLang="zh-CN" sz="2400" dirty="0">
                <a:latin typeface="+mn-ea"/>
              </a:rPr>
              <a:t>)</a:t>
            </a:r>
            <a:r>
              <a:rPr lang="zh-CN" altLang="zh-CN" sz="2400" dirty="0">
                <a:latin typeface="+mn-ea"/>
              </a:rPr>
              <a:t>。</a:t>
            </a:r>
            <a:endParaRPr lang="en-US" altLang="zh-CN" sz="2400" dirty="0">
              <a:latin typeface="+mn-ea"/>
            </a:endParaRPr>
          </a:p>
          <a:p>
            <a:pPr marL="342900" indent="-342900"/>
            <a:endParaRPr lang="zh-CN" altLang="en-US" sz="2400" dirty="0"/>
          </a:p>
        </p:txBody>
      </p:sp>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对象模型</a:t>
            </a:r>
            <a:endParaRPr lang="zh-CN" altLang="en-US" dirty="0"/>
          </a:p>
        </p:txBody>
      </p:sp>
      <p:sp>
        <p:nvSpPr>
          <p:cNvPr id="3" name="内容占位符 2"/>
          <p:cNvSpPr>
            <a:spLocks noGrp="1"/>
          </p:cNvSpPr>
          <p:nvPr>
            <p:ph idx="1"/>
          </p:nvPr>
        </p:nvSpPr>
        <p:spPr>
          <a:xfrm>
            <a:off x="768097" y="1088019"/>
            <a:ext cx="7832833" cy="3644001"/>
          </a:xfrm>
        </p:spPr>
        <p:txBody>
          <a:bodyPr>
            <a:normAutofit/>
          </a:bodyPr>
          <a:lstStyle/>
          <a:p>
            <a:pPr marL="457200" indent="-457200">
              <a:lnSpc>
                <a:spcPct val="120000"/>
              </a:lnSpc>
              <a:buSzPct val="70000"/>
              <a:defRPr/>
            </a:pPr>
            <a:r>
              <a:rPr lang="zh-CN" altLang="zh-CN" sz="2400" dirty="0" smtClean="0"/>
              <a:t>对象模型</a:t>
            </a:r>
            <a:r>
              <a:rPr lang="zh-CN" altLang="zh-CN" sz="2400" dirty="0"/>
              <a:t>表示静态的、结构化的系统的“数据”性质。它是对模拟客观世界实体的对象以及对象彼此间的关系的映射，描述了系统的静态结构。</a:t>
            </a:r>
            <a:endParaRPr lang="en-US" altLang="zh-CN" sz="2400" dirty="0"/>
          </a:p>
          <a:p>
            <a:pPr marL="457200" indent="-457200">
              <a:lnSpc>
                <a:spcPct val="120000"/>
              </a:lnSpc>
              <a:buSzPct val="70000"/>
              <a:defRPr/>
            </a:pPr>
            <a:r>
              <a:rPr lang="zh-CN" altLang="zh-CN" sz="2400" dirty="0"/>
              <a:t>对象模型为建立动态模型和功能模型，提供了实质性的框架</a:t>
            </a:r>
            <a:r>
              <a:rPr lang="zh-CN" altLang="zh-CN" sz="2400" dirty="0" smtClean="0"/>
              <a:t>。</a:t>
            </a:r>
            <a:endParaRPr lang="zh-CN" altLang="zh-CN" sz="2400" dirty="0" smtClean="0"/>
          </a:p>
          <a:p>
            <a:pPr marL="457200" indent="-457200">
              <a:lnSpc>
                <a:spcPct val="120000"/>
              </a:lnSpc>
            </a:pPr>
            <a:r>
              <a:rPr lang="zh-CN" altLang="zh-CN" sz="2400" dirty="0" smtClean="0"/>
              <a:t>通常，使用</a:t>
            </a:r>
            <a:r>
              <a:rPr lang="en-US" altLang="zh-CN" sz="2400" dirty="0" smtClean="0"/>
              <a:t>UML</a:t>
            </a:r>
            <a:r>
              <a:rPr lang="zh-CN" altLang="zh-CN" sz="2400" dirty="0" smtClean="0"/>
              <a:t>提供的</a:t>
            </a:r>
            <a:r>
              <a:rPr lang="zh-CN" altLang="zh-CN" sz="2400" dirty="0" smtClean="0">
                <a:solidFill>
                  <a:srgbClr val="FF0000"/>
                </a:solidFill>
              </a:rPr>
              <a:t>类图</a:t>
            </a:r>
            <a:r>
              <a:rPr lang="zh-CN" altLang="zh-CN" sz="2400" dirty="0" smtClean="0"/>
              <a:t>来建立对象模型。</a:t>
            </a:r>
            <a:endParaRPr lang="en-US" altLang="zh-CN" sz="2400" b="1" dirty="0" smtClean="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9" name="文本"/>
          <p:cNvSpPr txBox="1"/>
          <p:nvPr/>
        </p:nvSpPr>
        <p:spPr>
          <a:xfrm>
            <a:off x="4453181" y="3099288"/>
            <a:ext cx="4372689" cy="553998"/>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2000" dirty="0">
                <a:solidFill>
                  <a:schemeClr val="bg1"/>
                </a:solidFill>
                <a:latin typeface="+mj-ea"/>
                <a:ea typeface="+mj-ea"/>
              </a:rPr>
              <a:t>交付的工作产品：系统领域类图</a:t>
            </a:r>
            <a:endParaRPr lang="zh-CN" altLang="en-US" sz="2000" dirty="0">
              <a:solidFill>
                <a:schemeClr val="bg1"/>
              </a:solidFill>
              <a:latin typeface="+mj-ea"/>
              <a:ea typeface="+mj-ea"/>
            </a:endParaRPr>
          </a:p>
        </p:txBody>
      </p:sp>
      <p:sp>
        <p:nvSpPr>
          <p:cNvPr id="10" name="文本"/>
          <p:cNvSpPr/>
          <p:nvPr/>
        </p:nvSpPr>
        <p:spPr>
          <a:xfrm>
            <a:off x="4237950" y="2776089"/>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工作任务：完成系统领域建模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30B03FE0-B265-4FC0-8599-75AE29284288}"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r>
              <a:rPr lang="zh-CN" altLang="en-US" dirty="0"/>
              <a:t>建立领域模型</a:t>
            </a:r>
            <a:endParaRPr lang="zh-CN" altLang="en-US" dirty="0"/>
          </a:p>
        </p:txBody>
      </p:sp>
      <p:sp>
        <p:nvSpPr>
          <p:cNvPr id="23555" name="Rectangle 3"/>
          <p:cNvSpPr>
            <a:spLocks noGrp="1" noChangeArrowheads="1"/>
          </p:cNvSpPr>
          <p:nvPr>
            <p:ph idx="1"/>
          </p:nvPr>
        </p:nvSpPr>
        <p:spPr>
          <a:xfrm>
            <a:off x="1094321" y="867292"/>
            <a:ext cx="7506609" cy="3806854"/>
          </a:xfrm>
        </p:spPr>
        <p:txBody>
          <a:bodyPr/>
          <a:lstStyle/>
          <a:p>
            <a:pPr marL="0" indent="0">
              <a:lnSpc>
                <a:spcPct val="150000"/>
              </a:lnSpc>
              <a:spcBef>
                <a:spcPts val="0"/>
              </a:spcBef>
              <a:buNone/>
            </a:pPr>
            <a:r>
              <a:rPr lang="zh-CN" altLang="en-US" sz="2400" dirty="0"/>
              <a:t>知识点：</a:t>
            </a:r>
            <a:endParaRPr lang="zh-CN" altLang="en-US" sz="2400" dirty="0"/>
          </a:p>
          <a:p>
            <a:pPr marL="342900" indent="-342900">
              <a:lnSpc>
                <a:spcPct val="150000"/>
              </a:lnSpc>
              <a:spcBef>
                <a:spcPts val="0"/>
              </a:spcBef>
              <a:buFont typeface="+mj-lt"/>
              <a:buAutoNum type="arabicPeriod"/>
            </a:pPr>
            <a:r>
              <a:rPr lang="zh-CN" altLang="en-US" sz="2100" dirty="0"/>
              <a:t>什么是领域模型</a:t>
            </a:r>
            <a:endParaRPr lang="en-US" altLang="zh-CN" sz="2100" dirty="0"/>
          </a:p>
          <a:p>
            <a:pPr marL="342900" indent="-342900">
              <a:lnSpc>
                <a:spcPct val="150000"/>
              </a:lnSpc>
              <a:spcBef>
                <a:spcPts val="0"/>
              </a:spcBef>
              <a:buFont typeface="+mj-lt"/>
              <a:buAutoNum type="arabicPeriod"/>
            </a:pPr>
            <a:r>
              <a:rPr lang="zh-CN" altLang="en-US" sz="2100" dirty="0"/>
              <a:t>什么是类图（</a:t>
            </a:r>
            <a:r>
              <a:rPr lang="en-US" altLang="zh-CN" sz="2100" dirty="0"/>
              <a:t>Class Diagram</a:t>
            </a:r>
            <a:r>
              <a:rPr lang="zh-CN" altLang="en-US" sz="2100" dirty="0"/>
              <a:t>）</a:t>
            </a:r>
            <a:endParaRPr lang="zh-CN" altLang="en-US" sz="2100" dirty="0"/>
          </a:p>
          <a:p>
            <a:pPr marL="342900" indent="-342900">
              <a:lnSpc>
                <a:spcPct val="150000"/>
              </a:lnSpc>
              <a:spcBef>
                <a:spcPts val="0"/>
              </a:spcBef>
              <a:buFont typeface="+mj-lt"/>
              <a:buAutoNum type="arabicPeriod"/>
            </a:pPr>
            <a:r>
              <a:rPr lang="zh-CN" altLang="en-US" sz="2100" dirty="0"/>
              <a:t>类图的应用</a:t>
            </a:r>
            <a:endParaRPr lang="en-US" altLang="zh-CN" sz="2100" dirty="0"/>
          </a:p>
          <a:p>
            <a:pPr marL="342900" indent="-342900">
              <a:lnSpc>
                <a:spcPct val="150000"/>
              </a:lnSpc>
              <a:spcBef>
                <a:spcPts val="0"/>
              </a:spcBef>
              <a:buFont typeface="+mj-lt"/>
              <a:buAutoNum type="arabicPeriod"/>
            </a:pPr>
            <a:r>
              <a:rPr lang="zh-CN" altLang="en-US" sz="2100" dirty="0"/>
              <a:t>类图的分类</a:t>
            </a:r>
            <a:endParaRPr lang="zh-CN" altLang="en-US" sz="2100" dirty="0"/>
          </a:p>
          <a:p>
            <a:pPr marL="342900" indent="-342900">
              <a:lnSpc>
                <a:spcPct val="150000"/>
              </a:lnSpc>
              <a:spcBef>
                <a:spcPts val="0"/>
              </a:spcBef>
              <a:buFont typeface="+mj-lt"/>
              <a:buAutoNum type="arabicPeriod"/>
            </a:pPr>
            <a:r>
              <a:rPr lang="zh-CN" altLang="en-US" sz="2100" dirty="0"/>
              <a:t>类图的组成</a:t>
            </a:r>
            <a:endParaRPr lang="en-US" altLang="zh-CN" sz="2100" dirty="0"/>
          </a:p>
          <a:p>
            <a:pPr marL="342900" indent="-342900">
              <a:lnSpc>
                <a:spcPct val="150000"/>
              </a:lnSpc>
              <a:spcBef>
                <a:spcPts val="0"/>
              </a:spcBef>
              <a:buFont typeface="+mj-lt"/>
              <a:buAutoNum type="arabicPeriod"/>
            </a:pPr>
            <a:r>
              <a:rPr lang="zh-CN" altLang="en-US" sz="2100" dirty="0"/>
              <a:t>类图的建模技术</a:t>
            </a:r>
            <a:endParaRPr lang="zh-CN" altLang="en-US" sz="21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89852B42-1617-4EB9-8FEA-29523563A53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 </a:t>
            </a:r>
            <a:r>
              <a:rPr lang="zh-CN" altLang="en-US" dirty="0"/>
              <a:t>什么是领域模型（概念模型）</a:t>
            </a:r>
            <a:endParaRPr lang="zh-CN" altLang="en-US" dirty="0"/>
          </a:p>
        </p:txBody>
      </p:sp>
      <p:sp>
        <p:nvSpPr>
          <p:cNvPr id="2" name="内容占位符 1"/>
          <p:cNvSpPr>
            <a:spLocks noGrp="1"/>
          </p:cNvSpPr>
          <p:nvPr>
            <p:ph idx="1"/>
          </p:nvPr>
        </p:nvSpPr>
        <p:spPr>
          <a:xfrm>
            <a:off x="768098" y="1018572"/>
            <a:ext cx="5030818" cy="3530280"/>
          </a:xfrm>
        </p:spPr>
        <p:txBody>
          <a:bodyPr>
            <a:normAutofit fontScale="70000"/>
          </a:bodyPr>
          <a:lstStyle/>
          <a:p>
            <a:pPr marL="457200" indent="-457200">
              <a:lnSpc>
                <a:spcPct val="120000"/>
              </a:lnSpc>
              <a:spcBef>
                <a:spcPts val="800"/>
              </a:spcBef>
            </a:pPr>
            <a:r>
              <a:rPr lang="zh-CN" altLang="en-US" b="1" dirty="0">
                <a:solidFill>
                  <a:srgbClr val="FF0000"/>
                </a:solidFill>
              </a:rPr>
              <a:t>领域模型</a:t>
            </a:r>
            <a:r>
              <a:rPr lang="zh-CN" altLang="en-US" dirty="0"/>
              <a:t>定义了问题空间中的关键概念，以及这些概念之间的关系。</a:t>
            </a:r>
            <a:endParaRPr lang="en-US" altLang="zh-CN" dirty="0"/>
          </a:p>
          <a:p>
            <a:pPr marL="457200" indent="-457200">
              <a:lnSpc>
                <a:spcPct val="120000"/>
              </a:lnSpc>
              <a:spcBef>
                <a:spcPts val="800"/>
              </a:spcBef>
            </a:pPr>
            <a:r>
              <a:rPr lang="zh-CN" altLang="en-US" dirty="0">
                <a:sym typeface="+mn-ea"/>
              </a:rPr>
              <a:t>领域模型反映的是</a:t>
            </a:r>
            <a:r>
              <a:rPr lang="zh-CN" altLang="en-US" dirty="0">
                <a:solidFill>
                  <a:srgbClr val="FF0000"/>
                </a:solidFill>
                <a:sym typeface="+mn-ea"/>
              </a:rPr>
              <a:t>认知</a:t>
            </a:r>
            <a:r>
              <a:rPr lang="zh-CN" altLang="en-US" dirty="0">
                <a:sym typeface="+mn-ea"/>
              </a:rPr>
              <a:t>。</a:t>
            </a:r>
            <a:endParaRPr lang="zh-CN" dirty="0"/>
          </a:p>
          <a:p>
            <a:pPr marL="457200" indent="-457200">
              <a:lnSpc>
                <a:spcPct val="120000"/>
              </a:lnSpc>
              <a:spcBef>
                <a:spcPts val="800"/>
              </a:spcBef>
            </a:pPr>
            <a:r>
              <a:rPr lang="zh-CN" dirty="0"/>
              <a:t>如果你要开发一个零售系统，就需要对采购、物流、销售、客服等领域知识又深入的了解。</a:t>
            </a:r>
            <a:endParaRPr lang="zh-CN" dirty="0"/>
          </a:p>
          <a:p>
            <a:pPr marL="457200" indent="-457200">
              <a:lnSpc>
                <a:spcPct val="120000"/>
              </a:lnSpc>
              <a:spcBef>
                <a:spcPts val="800"/>
              </a:spcBef>
            </a:pPr>
            <a:r>
              <a:rPr lang="zh-CN" dirty="0"/>
              <a:t>不管开发什么系统，不重视对应领域的基本概念和业务知识，都是不行的。</a:t>
            </a:r>
            <a:endParaRPr 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6" name="Group 4"/>
          <p:cNvGrpSpPr/>
          <p:nvPr/>
        </p:nvGrpSpPr>
        <p:grpSpPr bwMode="auto">
          <a:xfrm>
            <a:off x="6081772" y="1615808"/>
            <a:ext cx="2776478" cy="2070738"/>
            <a:chOff x="1610" y="2040"/>
            <a:chExt cx="1919" cy="1144"/>
          </a:xfrm>
        </p:grpSpPr>
        <p:sp>
          <p:nvSpPr>
            <p:cNvPr id="7" name="Rectangle 5"/>
            <p:cNvSpPr>
              <a:spLocks noChangeArrowheads="1"/>
            </p:cNvSpPr>
            <p:nvPr/>
          </p:nvSpPr>
          <p:spPr bwMode="auto">
            <a:xfrm>
              <a:off x="1618" y="2342"/>
              <a:ext cx="627" cy="227"/>
            </a:xfrm>
            <a:prstGeom prst="rect">
              <a:avLst/>
            </a:prstGeom>
            <a:solidFill>
              <a:srgbClr val="CCFFFF"/>
            </a:solidFill>
            <a:ln w="9525">
              <a:solidFill>
                <a:srgbClr val="000000"/>
              </a:solidFill>
              <a:miter lim="800000"/>
            </a:ln>
          </p:spPr>
          <p:txBody>
            <a:bodyPr lIns="0" tIns="27000" rIns="0" bIns="0" anchor="ctr"/>
            <a:lstStyle/>
            <a:p>
              <a:pPr algn="ctr" eaLnBrk="0" hangingPunct="0"/>
              <a:r>
                <a:rPr lang="zh-CN" altLang="en-US" sz="1500" b="1" dirty="0">
                  <a:solidFill>
                    <a:prstClr val="black"/>
                  </a:solidFill>
                  <a:latin typeface="Times New Roman" panose="02020603050405020304" pitchFamily="18" charset="0"/>
                </a:rPr>
                <a:t>用户访问</a:t>
              </a:r>
              <a:endParaRPr lang="zh-CN" altLang="en-US" sz="1500" b="1" dirty="0">
                <a:solidFill>
                  <a:prstClr val="black"/>
                </a:solidFill>
                <a:latin typeface="Times New Roman" panose="02020603050405020304" pitchFamily="18" charset="0"/>
              </a:endParaRPr>
            </a:p>
          </p:txBody>
        </p:sp>
        <p:sp>
          <p:nvSpPr>
            <p:cNvPr id="8" name="Rectangle 6"/>
            <p:cNvSpPr>
              <a:spLocks noChangeArrowheads="1"/>
            </p:cNvSpPr>
            <p:nvPr/>
          </p:nvSpPr>
          <p:spPr bwMode="auto">
            <a:xfrm>
              <a:off x="1610" y="2644"/>
              <a:ext cx="627" cy="242"/>
            </a:xfrm>
            <a:prstGeom prst="rect">
              <a:avLst/>
            </a:prstGeom>
            <a:solidFill>
              <a:srgbClr val="CCFFFF"/>
            </a:solidFill>
            <a:ln w="9525">
              <a:solidFill>
                <a:srgbClr val="000000"/>
              </a:solidFill>
              <a:miter lim="800000"/>
            </a:ln>
          </p:spPr>
          <p:txBody>
            <a:bodyPr lIns="13500" rIns="13500" anchor="ctr"/>
            <a:lstStyle/>
            <a:p>
              <a:pPr algn="ctr" eaLnBrk="0" hangingPunct="0"/>
              <a:r>
                <a:rPr lang="zh-CN" altLang="en-US" sz="1500" b="1">
                  <a:solidFill>
                    <a:prstClr val="black"/>
                  </a:solidFill>
                  <a:latin typeface="Times New Roman" panose="02020603050405020304" pitchFamily="18" charset="0"/>
                </a:rPr>
                <a:t>领域知识</a:t>
              </a:r>
              <a:endParaRPr lang="zh-CN" altLang="en-US" sz="1500" b="1">
                <a:solidFill>
                  <a:prstClr val="black"/>
                </a:solidFill>
                <a:latin typeface="Times New Roman" panose="02020603050405020304" pitchFamily="18" charset="0"/>
              </a:endParaRPr>
            </a:p>
          </p:txBody>
        </p:sp>
        <p:sp>
          <p:nvSpPr>
            <p:cNvPr id="9" name="Rectangle 7"/>
            <p:cNvSpPr>
              <a:spLocks noChangeArrowheads="1"/>
            </p:cNvSpPr>
            <p:nvPr/>
          </p:nvSpPr>
          <p:spPr bwMode="auto">
            <a:xfrm>
              <a:off x="1615" y="2957"/>
              <a:ext cx="898" cy="227"/>
            </a:xfrm>
            <a:prstGeom prst="rect">
              <a:avLst/>
            </a:prstGeom>
            <a:solidFill>
              <a:srgbClr val="CCFFFF"/>
            </a:solidFill>
            <a:ln w="9525">
              <a:solidFill>
                <a:srgbClr val="000000"/>
              </a:solidFill>
              <a:miter lim="800000"/>
            </a:ln>
          </p:spPr>
          <p:txBody>
            <a:bodyPr lIns="13500" rIns="13500" anchor="ctr"/>
            <a:lstStyle/>
            <a:p>
              <a:pPr algn="ctr" eaLnBrk="0" hangingPunct="0"/>
              <a:r>
                <a:rPr lang="zh-CN" altLang="en-US" sz="1500" b="1" dirty="0">
                  <a:solidFill>
                    <a:prstClr val="black"/>
                  </a:solidFill>
                  <a:latin typeface="Times New Roman" panose="02020603050405020304" pitchFamily="18" charset="0"/>
                </a:rPr>
                <a:t>现实世界经验</a:t>
              </a:r>
              <a:endParaRPr lang="zh-CN" altLang="en-US" sz="1500" b="1" dirty="0">
                <a:solidFill>
                  <a:prstClr val="black"/>
                </a:solidFill>
                <a:latin typeface="Times New Roman" panose="02020603050405020304" pitchFamily="18" charset="0"/>
              </a:endParaRPr>
            </a:p>
          </p:txBody>
        </p:sp>
        <p:sp>
          <p:nvSpPr>
            <p:cNvPr id="10" name="Oval 8"/>
            <p:cNvSpPr>
              <a:spLocks noChangeArrowheads="1"/>
            </p:cNvSpPr>
            <p:nvPr/>
          </p:nvSpPr>
          <p:spPr bwMode="auto">
            <a:xfrm>
              <a:off x="2816" y="2266"/>
              <a:ext cx="713" cy="6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13500" tIns="8100" rIns="13500" bIns="8100" anchor="ctr"/>
            <a:lstStyle/>
            <a:p>
              <a:pPr algn="ctr" eaLnBrk="0" hangingPunct="0"/>
              <a:r>
                <a:rPr lang="zh-CN" altLang="en-US" sz="2000" b="1" dirty="0">
                  <a:solidFill>
                    <a:schemeClr val="bg1"/>
                  </a:solidFill>
                  <a:latin typeface="Times New Roman" panose="02020603050405020304" pitchFamily="18" charset="0"/>
                </a:rPr>
                <a:t>建立领域模型</a:t>
              </a:r>
              <a:endParaRPr lang="zh-CN" altLang="en-US" sz="2000" b="1" dirty="0">
                <a:solidFill>
                  <a:schemeClr val="bg1"/>
                </a:solidFill>
                <a:latin typeface="Times New Roman" panose="02020603050405020304" pitchFamily="18" charset="0"/>
              </a:endParaRPr>
            </a:p>
          </p:txBody>
        </p:sp>
        <p:sp>
          <p:nvSpPr>
            <p:cNvPr id="11" name="Line 9"/>
            <p:cNvSpPr>
              <a:spLocks noChangeShapeType="1"/>
            </p:cNvSpPr>
            <p:nvPr/>
          </p:nvSpPr>
          <p:spPr bwMode="auto">
            <a:xfrm>
              <a:off x="2264" y="2442"/>
              <a:ext cx="552" cy="88"/>
            </a:xfrm>
            <a:prstGeom prst="line">
              <a:avLst/>
            </a:prstGeom>
            <a:noFill/>
            <a:ln w="9525">
              <a:solidFill>
                <a:srgbClr val="000000"/>
              </a:solidFill>
              <a:round/>
              <a:tailEnd type="triangle" w="med" len="med"/>
            </a:ln>
          </p:spPr>
          <p:txBody>
            <a:bodyPr/>
            <a:lstStyle/>
            <a:p>
              <a:endParaRPr lang="zh-CN" altLang="en-US" sz="1500">
                <a:solidFill>
                  <a:prstClr val="black"/>
                </a:solidFill>
              </a:endParaRPr>
            </a:p>
          </p:txBody>
        </p:sp>
        <p:sp>
          <p:nvSpPr>
            <p:cNvPr id="12" name="Line 10"/>
            <p:cNvSpPr>
              <a:spLocks noChangeShapeType="1"/>
            </p:cNvSpPr>
            <p:nvPr/>
          </p:nvSpPr>
          <p:spPr bwMode="auto">
            <a:xfrm flipV="1">
              <a:off x="2237" y="2644"/>
              <a:ext cx="579" cy="93"/>
            </a:xfrm>
            <a:prstGeom prst="line">
              <a:avLst/>
            </a:prstGeom>
            <a:noFill/>
            <a:ln w="9525">
              <a:solidFill>
                <a:srgbClr val="000000"/>
              </a:solidFill>
              <a:round/>
              <a:tailEnd type="triangle" w="med" len="med"/>
            </a:ln>
          </p:spPr>
          <p:txBody>
            <a:bodyPr/>
            <a:lstStyle/>
            <a:p>
              <a:endParaRPr lang="zh-CN" altLang="en-US" sz="1500">
                <a:solidFill>
                  <a:prstClr val="black"/>
                </a:solidFill>
              </a:endParaRPr>
            </a:p>
          </p:txBody>
        </p:sp>
        <p:sp>
          <p:nvSpPr>
            <p:cNvPr id="13" name="Line 11"/>
            <p:cNvSpPr>
              <a:spLocks noChangeShapeType="1"/>
            </p:cNvSpPr>
            <p:nvPr/>
          </p:nvSpPr>
          <p:spPr bwMode="auto">
            <a:xfrm flipV="1">
              <a:off x="2513" y="2814"/>
              <a:ext cx="355" cy="230"/>
            </a:xfrm>
            <a:prstGeom prst="line">
              <a:avLst/>
            </a:prstGeom>
            <a:noFill/>
            <a:ln w="9525">
              <a:solidFill>
                <a:srgbClr val="000000"/>
              </a:solidFill>
              <a:round/>
              <a:tailEnd type="triangle" w="med" len="med"/>
            </a:ln>
          </p:spPr>
          <p:txBody>
            <a:bodyPr/>
            <a:lstStyle/>
            <a:p>
              <a:endParaRPr lang="zh-CN" altLang="en-US" sz="1500">
                <a:solidFill>
                  <a:prstClr val="black"/>
                </a:solidFill>
              </a:endParaRPr>
            </a:p>
          </p:txBody>
        </p:sp>
        <p:sp>
          <p:nvSpPr>
            <p:cNvPr id="14" name="Text Box 15"/>
            <p:cNvSpPr txBox="1">
              <a:spLocks noChangeArrowheads="1"/>
            </p:cNvSpPr>
            <p:nvPr/>
          </p:nvSpPr>
          <p:spPr bwMode="auto">
            <a:xfrm>
              <a:off x="1615" y="2040"/>
              <a:ext cx="719" cy="234"/>
            </a:xfrm>
            <a:prstGeom prst="rect">
              <a:avLst/>
            </a:prstGeom>
            <a:solidFill>
              <a:srgbClr val="CCFFFF"/>
            </a:solidFill>
            <a:ln w="9525">
              <a:solidFill>
                <a:schemeClr val="tx1"/>
              </a:solidFill>
              <a:miter lim="800000"/>
            </a:ln>
          </p:spPr>
          <p:txBody>
            <a:bodyPr lIns="13500" tIns="8100" rIns="13500" bIns="8100" anchor="ctr"/>
            <a:lstStyle/>
            <a:p>
              <a:pPr algn="ctr" eaLnBrk="0" hangingPunct="0"/>
              <a:r>
                <a:rPr lang="zh-CN" altLang="en-US" sz="1500" b="1" dirty="0">
                  <a:latin typeface="Times New Roman" panose="02020603050405020304" pitchFamily="18" charset="0"/>
                </a:rPr>
                <a:t>问题描绘书</a:t>
              </a:r>
              <a:endParaRPr lang="zh-CN" altLang="en-US" sz="1500" b="1" dirty="0">
                <a:latin typeface="Times New Roman" panose="02020603050405020304" pitchFamily="18" charset="0"/>
              </a:endParaRPr>
            </a:p>
          </p:txBody>
        </p:sp>
        <p:sp>
          <p:nvSpPr>
            <p:cNvPr id="15" name="Line 16"/>
            <p:cNvSpPr>
              <a:spLocks noChangeShapeType="1"/>
            </p:cNvSpPr>
            <p:nvPr/>
          </p:nvSpPr>
          <p:spPr bwMode="auto">
            <a:xfrm>
              <a:off x="2334" y="2180"/>
              <a:ext cx="534" cy="262"/>
            </a:xfrm>
            <a:prstGeom prst="line">
              <a:avLst/>
            </a:prstGeom>
            <a:noFill/>
            <a:ln w="9525">
              <a:solidFill>
                <a:srgbClr val="000000"/>
              </a:solidFill>
              <a:round/>
              <a:tailEnd type="triangle" w="med" len="med"/>
            </a:ln>
          </p:spPr>
          <p:txBody>
            <a:bodyPr/>
            <a:lstStyle/>
            <a:p>
              <a:endParaRPr lang="zh-CN" altLang="en-US" sz="1500">
                <a:solidFill>
                  <a:prstClr val="black"/>
                </a:solidFill>
              </a:endParaRPr>
            </a:p>
          </p:txBody>
        </p:sp>
      </p:grpSp>
      <p:sp>
        <p:nvSpPr>
          <p:cNvPr id="5" name="日期占位符 4"/>
          <p:cNvSpPr>
            <a:spLocks noGrp="1"/>
          </p:cNvSpPr>
          <p:nvPr>
            <p:ph type="dt" sz="half" idx="10"/>
          </p:nvPr>
        </p:nvSpPr>
        <p:spPr/>
        <p:txBody>
          <a:bodyPr/>
          <a:lstStyle/>
          <a:p>
            <a:fld id="{6416BD54-9438-40A9-B4A7-2B6B6A828509}" type="datetime1">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randombar(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 </a:t>
            </a:r>
            <a:r>
              <a:rPr lang="zh-CN" altLang="en-US" dirty="0"/>
              <a:t>什么是领域模型（概念模型）</a:t>
            </a:r>
            <a:endParaRPr lang="zh-CN" altLang="en-US" dirty="0"/>
          </a:p>
        </p:txBody>
      </p:sp>
      <p:sp>
        <p:nvSpPr>
          <p:cNvPr id="2" name="内容占位符 1"/>
          <p:cNvSpPr>
            <a:spLocks noGrp="1"/>
          </p:cNvSpPr>
          <p:nvPr>
            <p:ph idx="1"/>
          </p:nvPr>
        </p:nvSpPr>
        <p:spPr>
          <a:xfrm>
            <a:off x="768350" y="1018540"/>
            <a:ext cx="7734935" cy="3529965"/>
          </a:xfrm>
        </p:spPr>
        <p:txBody>
          <a:bodyPr>
            <a:normAutofit fontScale="87500" lnSpcReduction="20000"/>
          </a:bodyPr>
          <a:lstStyle/>
          <a:p>
            <a:pPr marL="457200" indent="-457200">
              <a:lnSpc>
                <a:spcPct val="120000"/>
              </a:lnSpc>
              <a:spcBef>
                <a:spcPts val="800"/>
              </a:spcBef>
            </a:pPr>
            <a:r>
              <a:rPr lang="zh-CN" altLang="en-US" b="1" dirty="0">
                <a:solidFill>
                  <a:srgbClr val="FF0000"/>
                </a:solidFill>
              </a:rPr>
              <a:t>领域模型</a:t>
            </a:r>
            <a:r>
              <a:rPr lang="zh-CN" altLang="en-US" dirty="0"/>
              <a:t>是将用例模型向计算机表示的进一步过渡。</a:t>
            </a:r>
            <a:endParaRPr lang="en-US" altLang="zh-CN" dirty="0"/>
          </a:p>
          <a:p>
            <a:pPr marL="457200" indent="-457200">
              <a:lnSpc>
                <a:spcPct val="120000"/>
              </a:lnSpc>
              <a:spcBef>
                <a:spcPts val="800"/>
              </a:spcBef>
            </a:pPr>
            <a:r>
              <a:rPr lang="zh-CN" altLang="en-US" dirty="0"/>
              <a:t>从用例模型到概念模型是映射关系，是将用例图变换成类图。</a:t>
            </a:r>
            <a:endParaRPr lang="en-US" altLang="zh-CN" dirty="0"/>
          </a:p>
          <a:p>
            <a:pPr marL="457200" indent="-457200">
              <a:lnSpc>
                <a:spcPct val="120000"/>
              </a:lnSpc>
              <a:spcBef>
                <a:spcPts val="800"/>
              </a:spcBef>
            </a:pPr>
            <a:r>
              <a:rPr lang="zh-CN" altLang="en-US" dirty="0"/>
              <a:t>概念模型就是划分类的结果。主要用类图表达，辅以顺序图。</a:t>
            </a:r>
            <a:endParaRPr lang="en-US" altLang="zh-CN" dirty="0"/>
          </a:p>
          <a:p>
            <a:pPr marL="457200" indent="-457200">
              <a:lnSpc>
                <a:spcPct val="120000"/>
              </a:lnSpc>
              <a:spcBef>
                <a:spcPts val="800"/>
              </a:spcBef>
            </a:pPr>
            <a:r>
              <a:rPr lang="zh-CN" altLang="en-US" dirty="0"/>
              <a:t>描述的是真实世界的类（对象）以及它们之间的相互关系，展示了系统的静态模型和一部分的工作活动。</a:t>
            </a:r>
            <a:endParaRPr lang="en-US" alt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6416BD54-9438-40A9-B4A7-2B6B6A828509}" type="datetime1">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统一方法的</a:t>
            </a:r>
            <a:r>
              <a:rPr lang="en-US" altLang="zh-CN" dirty="0"/>
              <a:t>OOA</a:t>
            </a:r>
            <a:r>
              <a:rPr lang="zh-CN" altLang="en-US" dirty="0"/>
              <a:t>模型</a:t>
            </a:r>
            <a:endParaRPr lang="zh-CN" altLang="en-US" dirty="0"/>
          </a:p>
        </p:txBody>
      </p:sp>
      <p:sp>
        <p:nvSpPr>
          <p:cNvPr id="4" name="日期占位符 3"/>
          <p:cNvSpPr>
            <a:spLocks noGrp="1"/>
          </p:cNvSpPr>
          <p:nvPr>
            <p:ph type="dt" sz="half" idx="10"/>
          </p:nvPr>
        </p:nvSpPr>
        <p:spPr/>
        <p:txBody>
          <a:bodyPr/>
          <a:lstStyle/>
          <a:p>
            <a:fld id="{8C865143-94DE-447E-8ABF-9D5203DDC19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7" name="Group 15"/>
          <p:cNvGrpSpPr>
            <a:grpSpLocks noChangeAspect="1"/>
          </p:cNvGrpSpPr>
          <p:nvPr/>
        </p:nvGrpSpPr>
        <p:grpSpPr bwMode="auto">
          <a:xfrm>
            <a:off x="1029780" y="1403308"/>
            <a:ext cx="7098220" cy="2478087"/>
            <a:chOff x="2481" y="1049"/>
            <a:chExt cx="7376" cy="1518"/>
          </a:xfrm>
        </p:grpSpPr>
        <p:sp>
          <p:nvSpPr>
            <p:cNvPr id="8" name="AutoShape 16"/>
            <p:cNvSpPr>
              <a:spLocks noChangeAspect="1" noChangeArrowheads="1"/>
            </p:cNvSpPr>
            <p:nvPr/>
          </p:nvSpPr>
          <p:spPr bwMode="auto">
            <a:xfrm>
              <a:off x="2481" y="1049"/>
              <a:ext cx="7034" cy="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sp>
          <p:nvSpPr>
            <p:cNvPr id="9" name="Oval 17"/>
            <p:cNvSpPr>
              <a:spLocks noChangeArrowheads="1"/>
            </p:cNvSpPr>
            <p:nvPr/>
          </p:nvSpPr>
          <p:spPr bwMode="auto">
            <a:xfrm>
              <a:off x="2481" y="1302"/>
              <a:ext cx="1770" cy="75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latin typeface="+mj-ea"/>
                  <a:ea typeface="+mj-ea"/>
                </a:rPr>
                <a:t>领域问题</a:t>
              </a:r>
              <a:endParaRPr lang="zh-CN" altLang="en-US" dirty="0">
                <a:latin typeface="+mj-ea"/>
                <a:ea typeface="+mj-ea"/>
              </a:endParaRPr>
            </a:p>
          </p:txBody>
        </p:sp>
        <p:sp>
          <p:nvSpPr>
            <p:cNvPr id="10" name="Oval 18"/>
            <p:cNvSpPr>
              <a:spLocks noChangeArrowheads="1"/>
            </p:cNvSpPr>
            <p:nvPr/>
          </p:nvSpPr>
          <p:spPr bwMode="auto">
            <a:xfrm>
              <a:off x="5385" y="1049"/>
              <a:ext cx="2006" cy="1518"/>
            </a:xfrm>
            <a:prstGeom prst="ellipse">
              <a:avLst/>
            </a:prstGeom>
          </p:spPr>
          <p:style>
            <a:lnRef idx="0">
              <a:schemeClr val="accent2"/>
            </a:lnRef>
            <a:fillRef idx="3">
              <a:schemeClr val="accent2"/>
            </a:fillRef>
            <a:effectRef idx="3">
              <a:schemeClr val="accent2"/>
            </a:effectRef>
            <a:fontRef idx="minor">
              <a:schemeClr val="lt1"/>
            </a:fontRef>
          </p:style>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en-US" altLang="zh-CN" dirty="0">
                  <a:latin typeface="+mj-ea"/>
                  <a:ea typeface="+mj-ea"/>
                </a:rPr>
                <a:t>OOA</a:t>
              </a:r>
              <a:r>
                <a:rPr lang="zh-CN" altLang="en-US" dirty="0">
                  <a:latin typeface="+mj-ea"/>
                  <a:ea typeface="+mj-ea"/>
                </a:rPr>
                <a:t>模型</a:t>
              </a:r>
              <a:endParaRPr lang="zh-CN" altLang="en-US" dirty="0">
                <a:latin typeface="+mj-ea"/>
                <a:ea typeface="+mj-ea"/>
              </a:endParaRPr>
            </a:p>
            <a:p>
              <a:pPr algn="ctr" eaLnBrk="1" hangingPunct="1"/>
              <a:endParaRPr lang="zh-CN" altLang="en-US" dirty="0">
                <a:latin typeface="+mj-ea"/>
                <a:ea typeface="+mj-ea"/>
              </a:endParaRPr>
            </a:p>
          </p:txBody>
        </p:sp>
        <p:sp>
          <p:nvSpPr>
            <p:cNvPr id="11" name="Rectangle 19"/>
            <p:cNvSpPr>
              <a:spLocks noChangeArrowheads="1"/>
            </p:cNvSpPr>
            <p:nvPr/>
          </p:nvSpPr>
          <p:spPr bwMode="auto">
            <a:xfrm>
              <a:off x="5773" y="2061"/>
              <a:ext cx="1206" cy="334"/>
            </a:xfrm>
            <a:prstGeom prst="rect">
              <a:avLst/>
            </a:prstGeom>
          </p:spPr>
          <p:style>
            <a:lnRef idx="1">
              <a:schemeClr val="accent3"/>
            </a:lnRef>
            <a:fillRef idx="2">
              <a:schemeClr val="accent3"/>
            </a:fillRef>
            <a:effectRef idx="1">
              <a:schemeClr val="accent3"/>
            </a:effectRef>
            <a:fontRef idx="minor">
              <a:schemeClr val="dk1"/>
            </a:fontRef>
          </p:style>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dirty="0">
                  <a:latin typeface="+mj-ea"/>
                  <a:ea typeface="+mj-ea"/>
                </a:rPr>
                <a:t>概念模型</a:t>
              </a:r>
              <a:endParaRPr lang="zh-CN" altLang="en-US" dirty="0">
                <a:latin typeface="+mj-ea"/>
                <a:ea typeface="+mj-ea"/>
              </a:endParaRPr>
            </a:p>
          </p:txBody>
        </p:sp>
        <p:sp>
          <p:nvSpPr>
            <p:cNvPr id="12" name="Rectangle 20"/>
            <p:cNvSpPr>
              <a:spLocks noChangeArrowheads="1"/>
            </p:cNvSpPr>
            <p:nvPr/>
          </p:nvSpPr>
          <p:spPr bwMode="auto">
            <a:xfrm>
              <a:off x="5785" y="1499"/>
              <a:ext cx="1206" cy="312"/>
            </a:xfrm>
            <a:prstGeom prst="rect">
              <a:avLst/>
            </a:prstGeom>
          </p:spPr>
          <p:style>
            <a:lnRef idx="1">
              <a:schemeClr val="accent3"/>
            </a:lnRef>
            <a:fillRef idx="2">
              <a:schemeClr val="accent3"/>
            </a:fillRef>
            <a:effectRef idx="1">
              <a:schemeClr val="accent3"/>
            </a:effectRef>
            <a:fontRef idx="minor">
              <a:schemeClr val="dk1"/>
            </a:fontRef>
          </p:style>
          <p:txBody>
            <a:bodyPr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dirty="0">
                  <a:latin typeface="+mj-ea"/>
                  <a:ea typeface="+mj-ea"/>
                </a:rPr>
                <a:t>用例模型</a:t>
              </a:r>
              <a:endParaRPr lang="zh-CN" altLang="en-US" dirty="0">
                <a:latin typeface="+mj-ea"/>
                <a:ea typeface="+mj-ea"/>
              </a:endParaRPr>
            </a:p>
          </p:txBody>
        </p:sp>
        <p:sp>
          <p:nvSpPr>
            <p:cNvPr id="13" name="AutoShape 21"/>
            <p:cNvSpPr>
              <a:spLocks noChangeArrowheads="1"/>
            </p:cNvSpPr>
            <p:nvPr/>
          </p:nvSpPr>
          <p:spPr bwMode="auto">
            <a:xfrm>
              <a:off x="4251" y="1302"/>
              <a:ext cx="1180" cy="759"/>
            </a:xfrm>
            <a:prstGeom prst="rightArrow">
              <a:avLst>
                <a:gd name="adj1" fmla="val 50000"/>
                <a:gd name="adj2" fmla="val 38867"/>
              </a:avLst>
            </a:prstGeom>
          </p:spPr>
          <p:style>
            <a:lnRef idx="2">
              <a:schemeClr val="accent2"/>
            </a:lnRef>
            <a:fillRef idx="1">
              <a:schemeClr val="lt1"/>
            </a:fillRef>
            <a:effectRef idx="0">
              <a:schemeClr val="accent2"/>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latin typeface="+mj-ea"/>
                  <a:ea typeface="+mj-ea"/>
                </a:rPr>
                <a:t>映射</a:t>
              </a:r>
              <a:endParaRPr lang="zh-CN" altLang="en-US">
                <a:latin typeface="+mj-ea"/>
                <a:ea typeface="+mj-ea"/>
              </a:endParaRPr>
            </a:p>
          </p:txBody>
        </p:sp>
        <p:sp>
          <p:nvSpPr>
            <p:cNvPr id="14" name="AutoShape 22"/>
            <p:cNvSpPr>
              <a:spLocks noChangeArrowheads="1"/>
            </p:cNvSpPr>
            <p:nvPr/>
          </p:nvSpPr>
          <p:spPr bwMode="auto">
            <a:xfrm>
              <a:off x="7673" y="1049"/>
              <a:ext cx="2184" cy="506"/>
            </a:xfrm>
            <a:prstGeom prst="wedgeRoundRectCallout">
              <a:avLst>
                <a:gd name="adj1" fmla="val -86208"/>
                <a:gd name="adj2" fmla="val 74505"/>
                <a:gd name="adj3" fmla="val 16667"/>
              </a:avLst>
            </a:prstGeom>
          </p:spPr>
          <p:style>
            <a:lnRef idx="2">
              <a:schemeClr val="accent2"/>
            </a:lnRef>
            <a:fillRef idx="1">
              <a:schemeClr val="lt1"/>
            </a:fillRef>
            <a:effectRef idx="0">
              <a:schemeClr val="accent2"/>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latin typeface="+mj-ea"/>
                  <a:ea typeface="+mj-ea"/>
                </a:rPr>
                <a:t>承上：面向用户</a:t>
              </a:r>
              <a:endParaRPr lang="zh-CN" altLang="en-US" dirty="0">
                <a:latin typeface="+mj-ea"/>
                <a:ea typeface="+mj-ea"/>
              </a:endParaRPr>
            </a:p>
          </p:txBody>
        </p:sp>
        <p:sp>
          <p:nvSpPr>
            <p:cNvPr id="15" name="AutoShape 23"/>
            <p:cNvSpPr>
              <a:spLocks noChangeArrowheads="1"/>
            </p:cNvSpPr>
            <p:nvPr/>
          </p:nvSpPr>
          <p:spPr bwMode="auto">
            <a:xfrm>
              <a:off x="7627" y="2061"/>
              <a:ext cx="2230" cy="506"/>
            </a:xfrm>
            <a:prstGeom prst="wedgeRoundRectCallout">
              <a:avLst>
                <a:gd name="adj1" fmla="val -85806"/>
                <a:gd name="adj2" fmla="val -30634"/>
                <a:gd name="adj3" fmla="val 16667"/>
              </a:avLst>
            </a:prstGeom>
          </p:spPr>
          <p:style>
            <a:lnRef idx="2">
              <a:schemeClr val="accent2"/>
            </a:lnRef>
            <a:fillRef idx="1">
              <a:schemeClr val="lt1"/>
            </a:fillRef>
            <a:effectRef idx="0">
              <a:schemeClr val="accent2"/>
            </a:effectRef>
            <a:fontRef idx="minor">
              <a:schemeClr val="dk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latin typeface="+mj-ea"/>
                  <a:ea typeface="+mj-ea"/>
                </a:rPr>
                <a:t>启下：面向设计</a:t>
              </a:r>
              <a:endParaRPr lang="zh-CN" altLang="en-US" dirty="0">
                <a:latin typeface="+mj-ea"/>
                <a:ea typeface="+mj-ea"/>
              </a:endParaRPr>
            </a:p>
          </p:txBody>
        </p:sp>
        <p:sp>
          <p:nvSpPr>
            <p:cNvPr id="16" name="AutoShape 24"/>
            <p:cNvSpPr>
              <a:spLocks noChangeArrowheads="1"/>
            </p:cNvSpPr>
            <p:nvPr/>
          </p:nvSpPr>
          <p:spPr bwMode="auto">
            <a:xfrm>
              <a:off x="6211" y="1808"/>
              <a:ext cx="354" cy="253"/>
            </a:xfrm>
            <a:prstGeom prst="downArrow">
              <a:avLst>
                <a:gd name="adj1" fmla="val 50000"/>
                <a:gd name="adj2" fmla="val 25000"/>
              </a:avLst>
            </a:prstGeom>
            <a:solidFill>
              <a:srgbClr val="FFFFFF"/>
            </a:solidFill>
            <a:ln w="9525">
              <a:solidFill>
                <a:srgbClr val="000000"/>
              </a:solidFill>
              <a:miter lim="800000"/>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mj-ea"/>
                <a:ea typeface="+mj-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领域模型示例</a:t>
            </a:r>
            <a:endParaRPr lang="zh-CN" altLang="en-US"/>
          </a:p>
        </p:txBody>
      </p:sp>
      <p:sp>
        <p:nvSpPr>
          <p:cNvPr id="3" name="内容占位符 2"/>
          <p:cNvSpPr>
            <a:spLocks noGrp="1"/>
          </p:cNvSpPr>
          <p:nvPr>
            <p:ph idx="1"/>
          </p:nvPr>
        </p:nvSpPr>
        <p:spPr/>
        <p:txBody>
          <a:bodyPr/>
          <a:p>
            <a:r>
              <a:rPr lang="zh-CN" altLang="en-US"/>
              <a:t>这是一个共享出行领域的领域类图。</a:t>
            </a:r>
            <a:endParaRPr lang="zh-CN" altLang="en-US"/>
          </a:p>
          <a:p>
            <a:pPr marL="0" indent="0">
              <a:buNone/>
            </a:pP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642745" y="1833245"/>
            <a:ext cx="5857875" cy="14763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领域模型的作用</a:t>
            </a:r>
            <a:endParaRPr lang="zh-CN" altLang="en-US" dirty="0"/>
          </a:p>
        </p:txBody>
      </p:sp>
      <p:sp>
        <p:nvSpPr>
          <p:cNvPr id="3" name="文本占位符 2"/>
          <p:cNvSpPr>
            <a:spLocks noGrp="1"/>
          </p:cNvSpPr>
          <p:nvPr>
            <p:ph idx="1"/>
          </p:nvPr>
        </p:nvSpPr>
        <p:spPr>
          <a:xfrm>
            <a:off x="768097" y="972273"/>
            <a:ext cx="7832833" cy="3759748"/>
          </a:xfrm>
        </p:spPr>
        <p:txBody>
          <a:bodyPr>
            <a:normAutofit/>
          </a:bodyPr>
          <a:lstStyle/>
          <a:p>
            <a:pPr marL="342900" indent="-342900">
              <a:lnSpc>
                <a:spcPct val="120000"/>
              </a:lnSpc>
            </a:pPr>
            <a:r>
              <a:rPr lang="zh-CN" altLang="en-US" sz="2200" dirty="0"/>
              <a:t>领域模型的构建可以在需求确定过程的后期介入，特别是在进行基本用例模型的构建，了解大部分业务之后。</a:t>
            </a:r>
            <a:endParaRPr lang="en-US" altLang="zh-CN" sz="2200" dirty="0"/>
          </a:p>
          <a:p>
            <a:pPr marL="342900" indent="-342900">
              <a:lnSpc>
                <a:spcPct val="120000"/>
              </a:lnSpc>
            </a:pPr>
            <a:r>
              <a:rPr lang="zh-CN" altLang="en-US" sz="2200" dirty="0"/>
              <a:t>通过构建领域模型，一方面帮助我们摸清业务领域中业务对象之间的关系，明确一些规则，也有助于对用例描述中所使用到的</a:t>
            </a:r>
            <a:r>
              <a:rPr lang="zh-CN" altLang="en-US" sz="2200" dirty="0">
                <a:solidFill>
                  <a:srgbClr val="FF0000"/>
                </a:solidFill>
              </a:rPr>
              <a:t>业务术语</a:t>
            </a:r>
            <a:r>
              <a:rPr lang="zh-CN" altLang="en-US" sz="2200" dirty="0"/>
              <a:t>进行统一和整理。</a:t>
            </a:r>
            <a:endParaRPr lang="en-US" altLang="zh-CN" sz="2200" dirty="0"/>
          </a:p>
          <a:p>
            <a:pPr marL="342900" indent="-342900">
              <a:lnSpc>
                <a:spcPct val="120000"/>
              </a:lnSpc>
            </a:pPr>
            <a:r>
              <a:rPr lang="zh-CN" altLang="en-US" sz="2200" dirty="0"/>
              <a:t>在分析过程中，类模型的优先级高于状态和交互模型，因为静态结构容易更好的定义，比较少的应用程序的细节，当系统解决方案发生变化时，会更加稳定。</a:t>
            </a:r>
            <a:endParaRPr lang="zh-CN" altLang="en-US" sz="2200" dirty="0"/>
          </a:p>
          <a:p>
            <a:pPr marL="342900" indent="-342900">
              <a:lnSpc>
                <a:spcPct val="120000"/>
              </a:lnSpc>
            </a:pPr>
            <a:endParaRPr lang="zh-CN" altLang="en-US" sz="2200" dirty="0"/>
          </a:p>
        </p:txBody>
      </p:sp>
      <p:sp>
        <p:nvSpPr>
          <p:cNvPr id="2" name="日期占位符 1"/>
          <p:cNvSpPr>
            <a:spLocks noGrp="1"/>
          </p:cNvSpPr>
          <p:nvPr>
            <p:ph type="dt" sz="half" idx="10"/>
          </p:nvPr>
        </p:nvSpPr>
        <p:spPr/>
        <p:txBody>
          <a:bodyPr/>
          <a:lstStyle/>
          <a:p>
            <a:fld id="{3ACAD5F4-4A53-4271-8C2E-25DDDAE874FA}"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2.</a:t>
            </a:r>
            <a:r>
              <a:rPr lang="zh-CN" altLang="en-US" dirty="0"/>
              <a:t>如何构建领域模型</a:t>
            </a:r>
            <a:endParaRPr lang="zh-CN" altLang="en-US" dirty="0"/>
          </a:p>
        </p:txBody>
      </p:sp>
      <p:sp>
        <p:nvSpPr>
          <p:cNvPr id="3" name="文本占位符 2"/>
          <p:cNvSpPr>
            <a:spLocks noGrp="1"/>
          </p:cNvSpPr>
          <p:nvPr>
            <p:ph idx="1"/>
          </p:nvPr>
        </p:nvSpPr>
        <p:spPr/>
        <p:txBody>
          <a:bodyPr>
            <a:noAutofit/>
          </a:bodyPr>
          <a:lstStyle/>
          <a:p>
            <a:pPr>
              <a:lnSpc>
                <a:spcPct val="120000"/>
              </a:lnSpc>
            </a:pPr>
            <a:r>
              <a:rPr lang="zh-CN" altLang="en-US" sz="2200" dirty="0"/>
              <a:t>首先要确定真实世界中的抽象，即系统中将涉及的主要概念性对象。这些问题域抽象的模型是整个对象建模工作的基础。</a:t>
            </a:r>
            <a:endParaRPr lang="en-US" altLang="zh-CN" sz="2200" dirty="0"/>
          </a:p>
          <a:p>
            <a:pPr>
              <a:lnSpc>
                <a:spcPct val="120000"/>
              </a:lnSpc>
            </a:pPr>
            <a:r>
              <a:rPr lang="zh-CN" altLang="en-US" sz="2200" dirty="0"/>
              <a:t>要建立好领域模型，关键是做好以下三步：</a:t>
            </a:r>
            <a:endParaRPr lang="zh-CN" altLang="en-US" sz="2200" dirty="0"/>
          </a:p>
          <a:p>
            <a:pPr marL="600075" lvl="1" indent="-342900">
              <a:lnSpc>
                <a:spcPct val="120000"/>
              </a:lnSpc>
              <a:buFont typeface="+mj-lt"/>
              <a:buAutoNum type="arabicPeriod"/>
            </a:pPr>
            <a:r>
              <a:rPr lang="zh-CN" altLang="en-US" sz="2200" dirty="0"/>
              <a:t>捕获</a:t>
            </a:r>
            <a:endParaRPr lang="en-US" altLang="zh-CN" sz="2200" dirty="0"/>
          </a:p>
          <a:p>
            <a:pPr marL="600075" lvl="1" indent="-342900">
              <a:lnSpc>
                <a:spcPct val="120000"/>
              </a:lnSpc>
              <a:buFont typeface="+mj-lt"/>
              <a:buAutoNum type="arabicPeriod"/>
            </a:pPr>
            <a:r>
              <a:rPr lang="zh-CN" altLang="en-US" sz="2200" dirty="0"/>
              <a:t>辨析</a:t>
            </a:r>
            <a:endParaRPr lang="en-US" altLang="zh-CN" sz="2200" dirty="0"/>
          </a:p>
          <a:p>
            <a:pPr marL="600075" lvl="1" indent="-342900">
              <a:lnSpc>
                <a:spcPct val="120000"/>
              </a:lnSpc>
              <a:buFont typeface="+mj-lt"/>
              <a:buAutoNum type="arabicPeriod"/>
            </a:pPr>
            <a:r>
              <a:rPr lang="zh-CN" sz="2200" dirty="0"/>
              <a:t>演进</a:t>
            </a:r>
            <a:endParaRPr lang="zh-CN" altLang="en-US" sz="2200" dirty="0"/>
          </a:p>
        </p:txBody>
      </p:sp>
      <p:sp>
        <p:nvSpPr>
          <p:cNvPr id="5" name="日期占位符 4"/>
          <p:cNvSpPr>
            <a:spLocks noGrp="1"/>
          </p:cNvSpPr>
          <p:nvPr>
            <p:ph type="dt" sz="half" idx="10"/>
          </p:nvPr>
        </p:nvSpPr>
        <p:spPr/>
        <p:txBody>
          <a:bodyPr/>
          <a:lstStyle/>
          <a:p>
            <a:fld id="{2E6ADA16-3119-4DAB-BE36-914FD3F7E40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2.1 </a:t>
            </a:r>
            <a:r>
              <a:rPr lang="zh-CN" altLang="en-US"/>
              <a:t>捕获业务概念</a:t>
            </a:r>
            <a:endParaRPr lang="zh-CN" altLang="en-US"/>
          </a:p>
        </p:txBody>
      </p:sp>
      <p:sp>
        <p:nvSpPr>
          <p:cNvPr id="3" name="内容占位符 2"/>
          <p:cNvSpPr>
            <a:spLocks noGrp="1"/>
          </p:cNvSpPr>
          <p:nvPr>
            <p:ph idx="1"/>
          </p:nvPr>
        </p:nvSpPr>
        <p:spPr/>
        <p:txBody>
          <a:bodyPr>
            <a:normAutofit fontScale="70000"/>
          </a:bodyPr>
          <a:p>
            <a:r>
              <a:rPr lang="zh-CN" altLang="en-US"/>
              <a:t>例如：这是一个高校食堂餐品预订的业务场景。</a:t>
            </a:r>
            <a:r>
              <a:rPr lang="en-US" altLang="zh-CN"/>
              <a:t>“</a:t>
            </a:r>
            <a:r>
              <a:rPr lang="zh-CN" altLang="en-US"/>
              <a:t>订餐同学选择一个食堂，浏览食堂的菜单，选出希望的餐品并添加到购物车。</a:t>
            </a:r>
            <a:r>
              <a:rPr lang="en-US" altLang="zh-CN"/>
              <a:t>”</a:t>
            </a:r>
            <a:endParaRPr lang="en-US" altLang="zh-CN"/>
          </a:p>
          <a:p>
            <a:r>
              <a:rPr lang="zh-CN" altLang="en-US"/>
              <a:t>这个业务陈述中出现了哪些业务概念？我们发现，其中的名词就是业务概念。</a:t>
            </a:r>
            <a:endParaRPr lang="zh-CN" altLang="en-US"/>
          </a:p>
          <a:p>
            <a:pPr lvl="1">
              <a:buFont typeface="Arial" panose="020B0604020202020204" pitchFamily="34" charset="0"/>
              <a:buChar char="•"/>
            </a:pPr>
            <a:r>
              <a:rPr lang="zh-CN" altLang="en-US"/>
              <a:t>订餐同学</a:t>
            </a:r>
            <a:endParaRPr lang="zh-CN" altLang="en-US"/>
          </a:p>
          <a:p>
            <a:pPr lvl="1">
              <a:buFont typeface="Arial" panose="020B0604020202020204" pitchFamily="34" charset="0"/>
              <a:buChar char="•"/>
            </a:pPr>
            <a:r>
              <a:rPr lang="zh-CN" altLang="en-US"/>
              <a:t>食堂</a:t>
            </a:r>
            <a:endParaRPr lang="zh-CN" altLang="en-US"/>
          </a:p>
          <a:p>
            <a:pPr lvl="1">
              <a:buFont typeface="Arial" panose="020B0604020202020204" pitchFamily="34" charset="0"/>
              <a:buChar char="•"/>
            </a:pPr>
            <a:r>
              <a:rPr lang="zh-CN" altLang="en-US"/>
              <a:t>菜单</a:t>
            </a:r>
            <a:endParaRPr lang="zh-CN" altLang="en-US"/>
          </a:p>
          <a:p>
            <a:pPr lvl="1">
              <a:buFont typeface="Arial" panose="020B0604020202020204" pitchFamily="34" charset="0"/>
              <a:buChar char="•"/>
            </a:pPr>
            <a:r>
              <a:rPr lang="zh-CN" altLang="en-US"/>
              <a:t>餐品</a:t>
            </a:r>
            <a:endParaRPr lang="zh-CN" altLang="en-US"/>
          </a:p>
          <a:p>
            <a:pPr lvl="1">
              <a:buFont typeface="Arial" panose="020B0604020202020204" pitchFamily="34" charset="0"/>
              <a:buChar char="•"/>
            </a:pPr>
            <a:r>
              <a:rPr lang="zh-CN" altLang="en-US"/>
              <a:t>购物车</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2.2 </a:t>
            </a:r>
            <a:r>
              <a:rPr lang="zh-CN" altLang="en-US"/>
              <a:t>辨析业务概念</a:t>
            </a:r>
            <a:endParaRPr lang="zh-CN" altLang="en-US"/>
          </a:p>
        </p:txBody>
      </p:sp>
      <p:sp>
        <p:nvSpPr>
          <p:cNvPr id="3" name="内容占位符 2"/>
          <p:cNvSpPr>
            <a:spLocks noGrp="1"/>
          </p:cNvSpPr>
          <p:nvPr>
            <p:ph idx="1"/>
          </p:nvPr>
        </p:nvSpPr>
        <p:spPr/>
        <p:txBody>
          <a:bodyPr>
            <a:normAutofit fontScale="70000"/>
          </a:bodyPr>
          <a:p>
            <a:r>
              <a:rPr lang="zh-CN" altLang="en-US"/>
              <a:t>用订餐同学称呼这个角色合适吗？教工会不会使用这个系统？如果教工现在不用，那将来会不会用？把这个角色称作</a:t>
            </a:r>
            <a:r>
              <a:rPr lang="zh-CN" altLang="en-US">
                <a:solidFill>
                  <a:srgbClr val="FF0000"/>
                </a:solidFill>
              </a:rPr>
              <a:t>订餐人</a:t>
            </a:r>
            <a:r>
              <a:rPr lang="zh-CN" altLang="en-US"/>
              <a:t>是不是更合适？</a:t>
            </a:r>
            <a:endParaRPr lang="zh-CN" altLang="en-US"/>
          </a:p>
          <a:p>
            <a:r>
              <a:rPr lang="zh-CN" altLang="en-US"/>
              <a:t>看到</a:t>
            </a:r>
            <a:r>
              <a:rPr lang="en-US" altLang="zh-CN"/>
              <a:t>“</a:t>
            </a:r>
            <a:r>
              <a:rPr lang="zh-CN" altLang="en-US"/>
              <a:t>菜单</a:t>
            </a:r>
            <a:r>
              <a:rPr lang="en-US" altLang="zh-CN"/>
              <a:t>”</a:t>
            </a:r>
            <a:r>
              <a:rPr lang="zh-CN" altLang="en-US"/>
              <a:t>和</a:t>
            </a:r>
            <a:r>
              <a:rPr lang="en-US" altLang="zh-CN"/>
              <a:t>“</a:t>
            </a:r>
            <a:r>
              <a:rPr lang="zh-CN" altLang="en-US"/>
              <a:t>餐品</a:t>
            </a:r>
            <a:r>
              <a:rPr lang="en-US" altLang="zh-CN"/>
              <a:t>”</a:t>
            </a:r>
            <a:r>
              <a:rPr lang="zh-CN" altLang="en-US"/>
              <a:t>这两个业务概念时，会疑问：</a:t>
            </a:r>
            <a:r>
              <a:rPr lang="en-US" altLang="zh-CN"/>
              <a:t>“</a:t>
            </a:r>
            <a:r>
              <a:rPr lang="zh-CN" altLang="en-US"/>
              <a:t>菜单和餐品是什么关系？它们是不是一件事情？</a:t>
            </a:r>
            <a:r>
              <a:rPr lang="en-US" altLang="zh-CN"/>
              <a:t>”</a:t>
            </a:r>
            <a:r>
              <a:rPr lang="zh-CN" altLang="en-US"/>
              <a:t>或许很快就会发现，</a:t>
            </a:r>
            <a:r>
              <a:rPr lang="en-US" altLang="zh-CN"/>
              <a:t>“</a:t>
            </a:r>
            <a:r>
              <a:rPr lang="zh-CN" altLang="en-US">
                <a:solidFill>
                  <a:srgbClr val="FF0000"/>
                </a:solidFill>
              </a:rPr>
              <a:t>菜单</a:t>
            </a:r>
            <a:r>
              <a:rPr lang="en-US" altLang="zh-CN"/>
              <a:t>”</a:t>
            </a:r>
            <a:r>
              <a:rPr lang="zh-CN" altLang="en-US"/>
              <a:t>并不是一个新的业务概念，它就是</a:t>
            </a:r>
            <a:r>
              <a:rPr lang="en-US" altLang="zh-CN"/>
              <a:t>“</a:t>
            </a:r>
            <a:r>
              <a:rPr lang="zh-CN" altLang="en-US">
                <a:solidFill>
                  <a:srgbClr val="FF0000"/>
                </a:solidFill>
              </a:rPr>
              <a:t>餐品列表</a:t>
            </a:r>
            <a:r>
              <a:rPr lang="en-US" altLang="zh-CN"/>
              <a:t>”</a:t>
            </a:r>
            <a:r>
              <a:rPr lang="zh-CN" altLang="en-US"/>
              <a:t>。</a:t>
            </a:r>
            <a:endParaRPr lang="zh-CN" altLang="en-US"/>
          </a:p>
          <a:p>
            <a:r>
              <a:rPr lang="zh-CN" altLang="en-US"/>
              <a:t>餐品可以选择多份吗？原来，添加到购物车的不是</a:t>
            </a:r>
            <a:r>
              <a:rPr lang="en-US" altLang="zh-CN"/>
              <a:t>“</a:t>
            </a:r>
            <a:r>
              <a:rPr lang="zh-CN" altLang="en-US"/>
              <a:t>餐品</a:t>
            </a:r>
            <a:r>
              <a:rPr lang="en-US" altLang="zh-CN"/>
              <a:t>”</a:t>
            </a:r>
            <a:r>
              <a:rPr lang="zh-CN" altLang="en-US"/>
              <a:t>，而是</a:t>
            </a:r>
            <a:r>
              <a:rPr lang="en-US" altLang="zh-CN"/>
              <a:t>“</a:t>
            </a:r>
            <a:r>
              <a:rPr lang="zh-CN" altLang="en-US"/>
              <a:t>餐品</a:t>
            </a:r>
            <a:r>
              <a:rPr lang="en-US" altLang="zh-CN"/>
              <a:t>+</a:t>
            </a:r>
            <a:r>
              <a:rPr lang="zh-CN" altLang="en-US"/>
              <a:t>数量</a:t>
            </a:r>
            <a:r>
              <a:rPr lang="en-US" altLang="zh-CN"/>
              <a:t>”</a:t>
            </a:r>
            <a:r>
              <a:rPr lang="zh-CN" altLang="en-US"/>
              <a:t>，把它概括为</a:t>
            </a:r>
            <a:r>
              <a:rPr lang="en-US" altLang="zh-CN"/>
              <a:t>“</a:t>
            </a:r>
            <a:r>
              <a:rPr lang="zh-CN" altLang="en-US"/>
              <a:t>购物项</a:t>
            </a:r>
            <a:r>
              <a:rPr lang="en-US" altLang="zh-CN"/>
              <a:t>”</a:t>
            </a:r>
            <a:r>
              <a:rPr lang="zh-CN" altLang="en-US"/>
              <a:t>。类似推导出订单和订单项等业务概念。</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9" name="内容占位符 8"/>
          <p:cNvPicPr>
            <a:picLocks noChangeAspect="1"/>
          </p:cNvPicPr>
          <p:nvPr>
            <p:ph idx="1"/>
            <p:custDataLst>
              <p:tags r:id="rId1"/>
            </p:custDataLst>
          </p:nvPr>
        </p:nvPicPr>
        <p:blipFill>
          <a:blip r:embed="rId2"/>
          <a:stretch>
            <a:fillRect/>
          </a:stretch>
        </p:blipFill>
        <p:spPr>
          <a:xfrm>
            <a:off x="1329055" y="1046480"/>
            <a:ext cx="6198235" cy="32912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2.3 </a:t>
            </a:r>
            <a:r>
              <a:rPr lang="zh-CN" altLang="en-US">
                <a:sym typeface="+mn-ea"/>
              </a:rPr>
              <a:t>持续演进业务概念</a:t>
            </a:r>
            <a:endParaRPr lang="zh-CN" altLang="en-US"/>
          </a:p>
        </p:txBody>
      </p:sp>
      <p:sp>
        <p:nvSpPr>
          <p:cNvPr id="3" name="内容占位符 2"/>
          <p:cNvSpPr>
            <a:spLocks noGrp="1"/>
          </p:cNvSpPr>
          <p:nvPr>
            <p:ph idx="1"/>
          </p:nvPr>
        </p:nvSpPr>
        <p:spPr/>
        <p:txBody>
          <a:bodyPr/>
          <a:p>
            <a:r>
              <a:rPr lang="zh-CN" altLang="en-US"/>
              <a:t>在订餐中引入套餐这种业务模式，再次调整领域模型。</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内容占位符 6"/>
          <p:cNvPicPr>
            <a:picLocks noChangeAspect="1"/>
          </p:cNvPicPr>
          <p:nvPr>
            <p:custDataLst>
              <p:tags r:id="rId1"/>
            </p:custDataLst>
          </p:nvPr>
        </p:nvPicPr>
        <p:blipFill>
          <a:blip r:embed="rId2"/>
          <a:stretch>
            <a:fillRect/>
          </a:stretch>
        </p:blipFill>
        <p:spPr>
          <a:xfrm>
            <a:off x="975360" y="1885315"/>
            <a:ext cx="7018655" cy="27755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2.3 </a:t>
            </a:r>
            <a:r>
              <a:rPr lang="zh-CN" altLang="en-US"/>
              <a:t>持续演进业务概念</a:t>
            </a:r>
            <a:endParaRPr lang="zh-CN" altLang="en-US"/>
          </a:p>
        </p:txBody>
      </p:sp>
      <p:sp>
        <p:nvSpPr>
          <p:cNvPr id="4" name="日期占位符 3"/>
          <p:cNvSpPr>
            <a:spLocks noGrp="1"/>
          </p:cNvSpPr>
          <p:nvPr>
            <p:ph type="dt" sz="half" idx="10"/>
          </p:nvPr>
        </p:nvSpPr>
        <p:spPr/>
        <p:txBody>
          <a:bodyPr/>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9" name="内容占位符 8"/>
          <p:cNvPicPr>
            <a:picLocks noChangeAspect="1"/>
          </p:cNvPicPr>
          <p:nvPr>
            <p:ph idx="1"/>
            <p:custDataLst>
              <p:tags r:id="rId1"/>
            </p:custDataLst>
          </p:nvPr>
        </p:nvPicPr>
        <p:blipFill>
          <a:blip r:embed="rId2"/>
          <a:stretch>
            <a:fillRect/>
          </a:stretch>
        </p:blipFill>
        <p:spPr>
          <a:xfrm>
            <a:off x="917575" y="828675"/>
            <a:ext cx="3545840" cy="3806825"/>
          </a:xfrm>
          <a:prstGeom prst="rect">
            <a:avLst/>
          </a:prstGeom>
        </p:spPr>
      </p:pic>
      <p:pic>
        <p:nvPicPr>
          <p:cNvPr id="10" name="图片 9"/>
          <p:cNvPicPr>
            <a:picLocks noChangeAspect="1"/>
          </p:cNvPicPr>
          <p:nvPr>
            <p:custDataLst>
              <p:tags r:id="rId3"/>
            </p:custDataLst>
          </p:nvPr>
        </p:nvPicPr>
        <p:blipFill>
          <a:blip r:embed="rId4"/>
          <a:stretch>
            <a:fillRect/>
          </a:stretch>
        </p:blipFill>
        <p:spPr>
          <a:xfrm>
            <a:off x="4637405" y="858520"/>
            <a:ext cx="4051935" cy="39376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如何构建领域模型</a:t>
            </a:r>
            <a:endParaRPr lang="zh-CN" altLang="en-US" dirty="0"/>
          </a:p>
        </p:txBody>
      </p:sp>
      <p:sp>
        <p:nvSpPr>
          <p:cNvPr id="3" name="文本占位符 2"/>
          <p:cNvSpPr>
            <a:spLocks noGrp="1"/>
          </p:cNvSpPr>
          <p:nvPr>
            <p:ph idx="1"/>
          </p:nvPr>
        </p:nvSpPr>
        <p:spPr/>
        <p:txBody>
          <a:bodyPr>
            <a:noAutofit/>
          </a:bodyPr>
          <a:lstStyle/>
          <a:p>
            <a:pPr>
              <a:lnSpc>
                <a:spcPct val="120000"/>
              </a:lnSpc>
            </a:pPr>
            <a:r>
              <a:rPr lang="zh-CN" altLang="en-US" sz="2200" dirty="0"/>
              <a:t>领域模型是深层模型，是在业务演进过程中持续加深认知的过程，它沉淀了关键的业务知识。</a:t>
            </a:r>
            <a:endParaRPr lang="en-US" altLang="zh-CN" sz="2200" dirty="0"/>
          </a:p>
          <a:p>
            <a:pPr>
              <a:lnSpc>
                <a:spcPct val="120000"/>
              </a:lnSpc>
            </a:pPr>
            <a:r>
              <a:rPr lang="zh-CN" altLang="en-US" sz="2200" dirty="0"/>
              <a:t>完成从用例模型到概念模型的转化经过下面的步骤：</a:t>
            </a:r>
            <a:endParaRPr lang="zh-CN" altLang="en-US" sz="2200" dirty="0"/>
          </a:p>
          <a:p>
            <a:pPr marL="600075" lvl="1" indent="-342900">
              <a:lnSpc>
                <a:spcPct val="120000"/>
              </a:lnSpc>
              <a:buFont typeface="+mj-lt"/>
              <a:buAutoNum type="arabicPeriod"/>
            </a:pPr>
            <a:r>
              <a:rPr lang="zh-CN" altLang="en-US" sz="2200" dirty="0"/>
              <a:t>识别类</a:t>
            </a:r>
            <a:endParaRPr lang="en-US" altLang="zh-CN" sz="2200" dirty="0"/>
          </a:p>
          <a:p>
            <a:pPr marL="600075" lvl="1" indent="-342900">
              <a:lnSpc>
                <a:spcPct val="120000"/>
              </a:lnSpc>
              <a:buFont typeface="+mj-lt"/>
              <a:buAutoNum type="arabicPeriod"/>
            </a:pPr>
            <a:r>
              <a:rPr lang="zh-CN" altLang="en-US" sz="2200" dirty="0"/>
              <a:t>识别属性和行为（封装类）</a:t>
            </a:r>
            <a:endParaRPr lang="en-US" altLang="zh-CN" sz="2200" dirty="0"/>
          </a:p>
          <a:p>
            <a:pPr marL="600075" lvl="1" indent="-342900">
              <a:lnSpc>
                <a:spcPct val="120000"/>
              </a:lnSpc>
              <a:buFont typeface="+mj-lt"/>
              <a:buAutoNum type="arabicPeriod"/>
            </a:pPr>
            <a:r>
              <a:rPr lang="zh-CN" altLang="en-US" sz="2200" dirty="0"/>
              <a:t>识别类的关系</a:t>
            </a:r>
            <a:endParaRPr lang="en-US" altLang="zh-CN" sz="2200" dirty="0"/>
          </a:p>
          <a:p>
            <a:pPr marL="600075" lvl="1" indent="-342900">
              <a:lnSpc>
                <a:spcPct val="120000"/>
              </a:lnSpc>
              <a:buFont typeface="+mj-lt"/>
              <a:buAutoNum type="arabicPeriod"/>
            </a:pPr>
            <a:r>
              <a:rPr lang="zh-CN" altLang="en-US" sz="2200" dirty="0"/>
              <a:t>绘制类图</a:t>
            </a:r>
            <a:endParaRPr lang="zh-CN" altLang="en-US" sz="2200" dirty="0"/>
          </a:p>
        </p:txBody>
      </p:sp>
      <p:sp>
        <p:nvSpPr>
          <p:cNvPr id="5" name="日期占位符 4"/>
          <p:cNvSpPr>
            <a:spLocks noGrp="1"/>
          </p:cNvSpPr>
          <p:nvPr>
            <p:ph type="dt" sz="half" idx="10"/>
          </p:nvPr>
        </p:nvSpPr>
        <p:spPr/>
        <p:txBody>
          <a:bodyPr/>
          <a:lstStyle/>
          <a:p>
            <a:fld id="{2E6ADA16-3119-4DAB-BE36-914FD3F7E40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领域模型的三大模型</a:t>
            </a:r>
            <a:endParaRPr lang="zh-CN" altLang="en-US" dirty="0"/>
          </a:p>
        </p:txBody>
      </p:sp>
      <p:sp>
        <p:nvSpPr>
          <p:cNvPr id="6" name="文本占位符 5"/>
          <p:cNvSpPr>
            <a:spLocks noGrp="1"/>
          </p:cNvSpPr>
          <p:nvPr>
            <p:ph idx="1"/>
          </p:nvPr>
        </p:nvSpPr>
        <p:spPr/>
        <p:txBody>
          <a:bodyPr>
            <a:normAutofit/>
          </a:bodyPr>
          <a:lstStyle/>
          <a:p>
            <a:pPr>
              <a:lnSpc>
                <a:spcPct val="120000"/>
              </a:lnSpc>
              <a:spcBef>
                <a:spcPts val="900"/>
              </a:spcBef>
            </a:pPr>
            <a:r>
              <a:rPr lang="zh-CN" altLang="en-US" sz="2400" dirty="0"/>
              <a:t>建立领域模型要完成领域问题的三大模型：</a:t>
            </a:r>
            <a:endParaRPr lang="en-US" altLang="zh-CN" sz="2400" dirty="0"/>
          </a:p>
          <a:p>
            <a:pPr lvl="1">
              <a:lnSpc>
                <a:spcPct val="120000"/>
              </a:lnSpc>
              <a:spcBef>
                <a:spcPts val="900"/>
              </a:spcBef>
            </a:pPr>
            <a:r>
              <a:rPr lang="zh-CN" altLang="en-US" sz="2200" dirty="0">
                <a:solidFill>
                  <a:srgbClr val="FF0000"/>
                </a:solidFill>
              </a:rPr>
              <a:t>视图模型：</a:t>
            </a:r>
            <a:r>
              <a:rPr lang="zh-CN" altLang="en-US" sz="2200" dirty="0"/>
              <a:t>边界类</a:t>
            </a:r>
            <a:r>
              <a:rPr lang="en-US" altLang="zh-CN" sz="2200" dirty="0"/>
              <a:t>/</a:t>
            </a:r>
            <a:r>
              <a:rPr lang="zh-CN" altLang="en-US" sz="2200" dirty="0"/>
              <a:t>视图类（</a:t>
            </a:r>
            <a:r>
              <a:rPr lang="en-US" altLang="zh-CN" sz="2200" dirty="0"/>
              <a:t>Form/View</a:t>
            </a:r>
            <a:r>
              <a:rPr lang="zh-CN" altLang="en-US" sz="2200" dirty="0"/>
              <a:t>），表示角色与系统之间的交互。</a:t>
            </a:r>
            <a:endParaRPr lang="en-US" altLang="zh-CN" sz="2200" dirty="0"/>
          </a:p>
          <a:p>
            <a:pPr lvl="1">
              <a:lnSpc>
                <a:spcPct val="120000"/>
              </a:lnSpc>
              <a:spcBef>
                <a:spcPts val="900"/>
              </a:spcBef>
            </a:pPr>
            <a:r>
              <a:rPr lang="zh-CN" altLang="en-US" sz="2200" dirty="0">
                <a:solidFill>
                  <a:srgbClr val="FF0000"/>
                </a:solidFill>
              </a:rPr>
              <a:t>逻辑模型：</a:t>
            </a:r>
            <a:r>
              <a:rPr lang="zh-CN" altLang="en-US" sz="2200" dirty="0"/>
              <a:t>逻辑类</a:t>
            </a:r>
            <a:r>
              <a:rPr lang="en-US" altLang="zh-CN" sz="2200" dirty="0"/>
              <a:t>/</a:t>
            </a:r>
            <a:r>
              <a:rPr lang="zh-CN" altLang="en-US" sz="2200" dirty="0"/>
              <a:t>业务类（</a:t>
            </a:r>
            <a:r>
              <a:rPr lang="en-US" altLang="zh-CN" sz="2200" dirty="0"/>
              <a:t>Model/Business</a:t>
            </a:r>
            <a:r>
              <a:rPr lang="zh-CN" altLang="en-US" sz="2200" dirty="0"/>
              <a:t>），表示由系统执行的任务或称业务逻辑。</a:t>
            </a:r>
            <a:endParaRPr lang="en-US" altLang="zh-CN" sz="2200" dirty="0"/>
          </a:p>
          <a:p>
            <a:pPr lvl="1">
              <a:lnSpc>
                <a:spcPct val="120000"/>
              </a:lnSpc>
              <a:spcBef>
                <a:spcPts val="900"/>
              </a:spcBef>
            </a:pPr>
            <a:r>
              <a:rPr lang="zh-CN" altLang="en-US" sz="2200" dirty="0">
                <a:solidFill>
                  <a:srgbClr val="FF0000"/>
                </a:solidFill>
              </a:rPr>
              <a:t>实体模型：</a:t>
            </a:r>
            <a:r>
              <a:rPr lang="zh-CN" altLang="en-US" sz="2200" dirty="0"/>
              <a:t>实体类（</a:t>
            </a:r>
            <a:r>
              <a:rPr lang="en-US" altLang="zh-CN" sz="2200" dirty="0"/>
              <a:t>Entity</a:t>
            </a:r>
            <a:r>
              <a:rPr lang="zh-CN" altLang="en-US" sz="2200" dirty="0"/>
              <a:t>），表示系统存储和管理的永久信息。</a:t>
            </a:r>
            <a:endParaRPr lang="zh-CN" altLang="en-US" sz="2200" dirty="0"/>
          </a:p>
        </p:txBody>
      </p:sp>
      <p:sp>
        <p:nvSpPr>
          <p:cNvPr id="4" name="日期占位符 3"/>
          <p:cNvSpPr>
            <a:spLocks noGrp="1"/>
          </p:cNvSpPr>
          <p:nvPr>
            <p:ph type="dt" sz="half" idx="10"/>
          </p:nvPr>
        </p:nvSpPr>
        <p:spPr/>
        <p:txBody>
          <a:bodyPr/>
          <a:lstStyle/>
          <a:p>
            <a:fld id="{CB76495E-3149-4B25-8FD2-B9E632C05F5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用例模型到概念模型的转换</a:t>
            </a:r>
            <a:endParaRPr lang="zh-CN" altLang="en-US" dirty="0"/>
          </a:p>
        </p:txBody>
      </p:sp>
      <p:sp>
        <p:nvSpPr>
          <p:cNvPr id="4" name="日期占位符 3"/>
          <p:cNvSpPr>
            <a:spLocks noGrp="1"/>
          </p:cNvSpPr>
          <p:nvPr>
            <p:ph type="dt" sz="half" idx="10"/>
          </p:nvPr>
        </p:nvSpPr>
        <p:spPr/>
        <p:txBody>
          <a:bodyPr/>
          <a:lstStyle/>
          <a:p>
            <a:fld id="{E04A2B3C-1048-4E92-B68D-FD9C83CBC61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7" name="Group 16"/>
          <p:cNvGrpSpPr>
            <a:grpSpLocks noChangeAspect="1"/>
          </p:cNvGrpSpPr>
          <p:nvPr/>
        </p:nvGrpSpPr>
        <p:grpSpPr bwMode="auto">
          <a:xfrm>
            <a:off x="593996" y="1416444"/>
            <a:ext cx="7899129" cy="2698956"/>
            <a:chOff x="1111" y="7925"/>
            <a:chExt cx="7670" cy="2334"/>
          </a:xfrm>
        </p:grpSpPr>
        <p:sp>
          <p:nvSpPr>
            <p:cNvPr id="8" name="AutoShape 17"/>
            <p:cNvSpPr>
              <a:spLocks noChangeAspect="1" noChangeArrowheads="1"/>
            </p:cNvSpPr>
            <p:nvPr/>
          </p:nvSpPr>
          <p:spPr bwMode="auto">
            <a:xfrm>
              <a:off x="1111" y="7925"/>
              <a:ext cx="7670" cy="2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mj-ea"/>
                <a:ea typeface="+mj-ea"/>
              </a:endParaRPr>
            </a:p>
          </p:txBody>
        </p:sp>
        <p:grpSp>
          <p:nvGrpSpPr>
            <p:cNvPr id="9" name="Group 18"/>
            <p:cNvGrpSpPr/>
            <p:nvPr/>
          </p:nvGrpSpPr>
          <p:grpSpPr bwMode="auto">
            <a:xfrm>
              <a:off x="2709" y="8178"/>
              <a:ext cx="598" cy="559"/>
              <a:chOff x="816" y="1872"/>
              <a:chExt cx="192" cy="288"/>
            </a:xfrm>
          </p:grpSpPr>
          <p:sp>
            <p:nvSpPr>
              <p:cNvPr id="29" name="Oval 19"/>
              <p:cNvSpPr>
                <a:spLocks noChangeArrowheads="1"/>
              </p:cNvSpPr>
              <p:nvPr/>
            </p:nvSpPr>
            <p:spPr bwMode="auto">
              <a:xfrm>
                <a:off x="864" y="1872"/>
                <a:ext cx="96" cy="96"/>
              </a:xfrm>
              <a:prstGeom prst="ellipse">
                <a:avLst/>
              </a:prstGeom>
              <a:solidFill>
                <a:srgbClr val="BBE0E3"/>
              </a:solidFill>
              <a:ln w="9525">
                <a:solidFill>
                  <a:srgbClr val="000000"/>
                </a:solidFill>
                <a:rou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mj-ea"/>
                  <a:ea typeface="+mj-ea"/>
                </a:endParaRPr>
              </a:p>
            </p:txBody>
          </p:sp>
          <p:sp>
            <p:nvSpPr>
              <p:cNvPr id="30" name="Line 20"/>
              <p:cNvSpPr>
                <a:spLocks noChangeShapeType="1"/>
              </p:cNvSpPr>
              <p:nvPr/>
            </p:nvSpPr>
            <p:spPr bwMode="auto">
              <a:xfrm>
                <a:off x="864" y="2016"/>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31" name="Line 21"/>
              <p:cNvSpPr>
                <a:spLocks noChangeShapeType="1"/>
              </p:cNvSpPr>
              <p:nvPr/>
            </p:nvSpPr>
            <p:spPr bwMode="auto">
              <a:xfrm>
                <a:off x="912"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32" name="Line 22"/>
              <p:cNvSpPr>
                <a:spLocks noChangeShapeType="1"/>
              </p:cNvSpPr>
              <p:nvPr/>
            </p:nvSpPr>
            <p:spPr bwMode="auto">
              <a:xfrm flipH="1">
                <a:off x="816" y="2064"/>
                <a:ext cx="96"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33" name="Line 23"/>
              <p:cNvSpPr>
                <a:spLocks noChangeShapeType="1"/>
              </p:cNvSpPr>
              <p:nvPr/>
            </p:nvSpPr>
            <p:spPr bwMode="auto">
              <a:xfrm>
                <a:off x="912" y="2064"/>
                <a:ext cx="96"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grpSp>
        <p:sp>
          <p:nvSpPr>
            <p:cNvPr id="10" name="Oval 24"/>
            <p:cNvSpPr>
              <a:spLocks noChangeArrowheads="1"/>
            </p:cNvSpPr>
            <p:nvPr/>
          </p:nvSpPr>
          <p:spPr bwMode="auto">
            <a:xfrm>
              <a:off x="6185" y="8178"/>
              <a:ext cx="1438" cy="506"/>
            </a:xfrm>
            <a:prstGeom prst="ellipse">
              <a:avLst/>
            </a:prstGeom>
            <a:solidFill>
              <a:srgbClr val="BBE0E3"/>
            </a:solidFill>
            <a:ln w="9525">
              <a:solidFill>
                <a:srgbClr val="000000"/>
              </a:solidFill>
              <a:rou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solidFill>
                    <a:srgbClr val="000000"/>
                  </a:solidFill>
                  <a:latin typeface="+mj-ea"/>
                  <a:ea typeface="+mj-ea"/>
                </a:rPr>
                <a:t>用例</a:t>
              </a:r>
              <a:endParaRPr lang="zh-CN" altLang="en-US">
                <a:latin typeface="+mj-ea"/>
                <a:ea typeface="+mj-ea"/>
              </a:endParaRPr>
            </a:p>
          </p:txBody>
        </p:sp>
        <p:sp>
          <p:nvSpPr>
            <p:cNvPr id="11" name="Line 25"/>
            <p:cNvSpPr>
              <a:spLocks noChangeShapeType="1"/>
            </p:cNvSpPr>
            <p:nvPr/>
          </p:nvSpPr>
          <p:spPr bwMode="auto">
            <a:xfrm>
              <a:off x="3307" y="8431"/>
              <a:ext cx="2878"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12" name="Text Box 26"/>
            <p:cNvSpPr txBox="1">
              <a:spLocks noChangeArrowheads="1"/>
            </p:cNvSpPr>
            <p:nvPr/>
          </p:nvSpPr>
          <p:spPr bwMode="auto">
            <a:xfrm>
              <a:off x="2595" y="8664"/>
              <a:ext cx="84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latin typeface="+mj-ea"/>
                  <a:ea typeface="+mj-ea"/>
                </a:rPr>
                <a:t>角色</a:t>
              </a:r>
              <a:endParaRPr lang="zh-CN" altLang="en-US" dirty="0">
                <a:latin typeface="+mj-ea"/>
                <a:ea typeface="+mj-ea"/>
              </a:endParaRPr>
            </a:p>
          </p:txBody>
        </p:sp>
        <p:sp>
          <p:nvSpPr>
            <p:cNvPr id="13" name="Arc 27"/>
            <p:cNvSpPr/>
            <p:nvPr/>
          </p:nvSpPr>
          <p:spPr bwMode="auto">
            <a:xfrm flipV="1">
              <a:off x="4179" y="8433"/>
              <a:ext cx="545" cy="342"/>
            </a:xfrm>
            <a:custGeom>
              <a:avLst/>
              <a:gdLst>
                <a:gd name="T0" fmla="*/ 11 w 21600"/>
                <a:gd name="T1" fmla="*/ 0 h 13830"/>
                <a:gd name="T2" fmla="*/ 14 w 21600"/>
                <a:gd name="T3" fmla="*/ 8 h 13830"/>
                <a:gd name="T4" fmla="*/ 0 w 21600"/>
                <a:gd name="T5" fmla="*/ 8 h 13830"/>
                <a:gd name="T6" fmla="*/ 0 60000 65536"/>
                <a:gd name="T7" fmla="*/ 0 60000 65536"/>
                <a:gd name="T8" fmla="*/ 0 60000 65536"/>
                <a:gd name="T9" fmla="*/ 0 w 21600"/>
                <a:gd name="T10" fmla="*/ 0 h 13830"/>
                <a:gd name="T11" fmla="*/ 21600 w 21600"/>
                <a:gd name="T12" fmla="*/ 13830 h 13830"/>
              </a:gdLst>
              <a:ahLst/>
              <a:cxnLst>
                <a:cxn ang="T6">
                  <a:pos x="T0" y="T1"/>
                </a:cxn>
                <a:cxn ang="T7">
                  <a:pos x="T2" y="T3"/>
                </a:cxn>
                <a:cxn ang="T8">
                  <a:pos x="T4" y="T5"/>
                </a:cxn>
              </a:cxnLst>
              <a:rect l="T9" t="T10" r="T11" b="T12"/>
              <a:pathLst>
                <a:path w="21600" h="13830" fill="none" extrusionOk="0">
                  <a:moveTo>
                    <a:pt x="16591" y="0"/>
                  </a:moveTo>
                  <a:cubicBezTo>
                    <a:pt x="19827" y="3882"/>
                    <a:pt x="21600" y="8776"/>
                    <a:pt x="21600" y="13830"/>
                  </a:cubicBezTo>
                </a:path>
                <a:path w="21600" h="13830" stroke="0" extrusionOk="0">
                  <a:moveTo>
                    <a:pt x="16591" y="0"/>
                  </a:moveTo>
                  <a:cubicBezTo>
                    <a:pt x="19827" y="3882"/>
                    <a:pt x="21600" y="8776"/>
                    <a:pt x="21600" y="13830"/>
                  </a:cubicBezTo>
                  <a:lnTo>
                    <a:pt x="0" y="13830"/>
                  </a:lnTo>
                  <a:close/>
                </a:path>
              </a:pathLst>
            </a:custGeom>
            <a:noFill/>
            <a:ln w="9525">
              <a:solidFill>
                <a:srgbClr val="000000"/>
              </a:solidFill>
              <a:round/>
              <a:head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mj-ea"/>
                <a:ea typeface="+mj-ea"/>
              </a:endParaRPr>
            </a:p>
          </p:txBody>
        </p:sp>
        <p:sp>
          <p:nvSpPr>
            <p:cNvPr id="14" name="Text Box 28"/>
            <p:cNvSpPr txBox="1">
              <a:spLocks noChangeArrowheads="1"/>
            </p:cNvSpPr>
            <p:nvPr/>
          </p:nvSpPr>
          <p:spPr bwMode="auto">
            <a:xfrm>
              <a:off x="5604" y="8684"/>
              <a:ext cx="744"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540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b="1">
                  <a:solidFill>
                    <a:srgbClr val="000000"/>
                  </a:solidFill>
                  <a:latin typeface="+mj-ea"/>
                  <a:ea typeface="+mj-ea"/>
                </a:rPr>
                <a:t>Model</a:t>
              </a:r>
              <a:endParaRPr lang="en-US" altLang="zh-CN">
                <a:latin typeface="+mj-ea"/>
                <a:ea typeface="+mj-ea"/>
              </a:endParaRPr>
            </a:p>
          </p:txBody>
        </p:sp>
        <p:sp>
          <p:nvSpPr>
            <p:cNvPr id="15" name="Text Box 29"/>
            <p:cNvSpPr txBox="1">
              <a:spLocks noChangeArrowheads="1"/>
            </p:cNvSpPr>
            <p:nvPr/>
          </p:nvSpPr>
          <p:spPr bwMode="auto">
            <a:xfrm>
              <a:off x="7483" y="8684"/>
              <a:ext cx="822"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en-US" altLang="zh-CN" b="1">
                  <a:solidFill>
                    <a:srgbClr val="000000"/>
                  </a:solidFill>
                  <a:latin typeface="+mj-ea"/>
                  <a:ea typeface="+mj-ea"/>
                </a:rPr>
                <a:t>Entity</a:t>
              </a:r>
              <a:endParaRPr lang="en-US" altLang="zh-CN">
                <a:latin typeface="+mj-ea"/>
                <a:ea typeface="+mj-ea"/>
              </a:endParaRPr>
            </a:p>
          </p:txBody>
        </p:sp>
        <p:sp>
          <p:nvSpPr>
            <p:cNvPr id="16" name="Arc 30"/>
            <p:cNvSpPr/>
            <p:nvPr/>
          </p:nvSpPr>
          <p:spPr bwMode="auto">
            <a:xfrm rot="-10511156" flipH="1" flipV="1">
              <a:off x="7201" y="8431"/>
              <a:ext cx="414" cy="611"/>
            </a:xfrm>
            <a:custGeom>
              <a:avLst/>
              <a:gdLst>
                <a:gd name="T0" fmla="*/ 1 w 19549"/>
                <a:gd name="T1" fmla="*/ 0 h 21530"/>
                <a:gd name="T2" fmla="*/ 9 w 19549"/>
                <a:gd name="T3" fmla="*/ 10 h 21530"/>
                <a:gd name="T4" fmla="*/ 0 w 19549"/>
                <a:gd name="T5" fmla="*/ 17 h 21530"/>
                <a:gd name="T6" fmla="*/ 0 60000 65536"/>
                <a:gd name="T7" fmla="*/ 0 60000 65536"/>
                <a:gd name="T8" fmla="*/ 0 60000 65536"/>
                <a:gd name="T9" fmla="*/ 0 w 19549"/>
                <a:gd name="T10" fmla="*/ 0 h 21530"/>
                <a:gd name="T11" fmla="*/ 19549 w 19549"/>
                <a:gd name="T12" fmla="*/ 21530 h 21530"/>
              </a:gdLst>
              <a:ahLst/>
              <a:cxnLst>
                <a:cxn ang="T6">
                  <a:pos x="T0" y="T1"/>
                </a:cxn>
                <a:cxn ang="T7">
                  <a:pos x="T2" y="T3"/>
                </a:cxn>
                <a:cxn ang="T8">
                  <a:pos x="T4" y="T5"/>
                </a:cxn>
              </a:cxnLst>
              <a:rect l="T9" t="T10" r="T11" b="T12"/>
              <a:pathLst>
                <a:path w="19549" h="21530" fill="none" extrusionOk="0">
                  <a:moveTo>
                    <a:pt x="1739" y="0"/>
                  </a:moveTo>
                  <a:cubicBezTo>
                    <a:pt x="9459" y="624"/>
                    <a:pt x="16254" y="5333"/>
                    <a:pt x="19548" y="12343"/>
                  </a:cubicBezTo>
                </a:path>
                <a:path w="19549" h="21530" stroke="0" extrusionOk="0">
                  <a:moveTo>
                    <a:pt x="1739" y="0"/>
                  </a:moveTo>
                  <a:cubicBezTo>
                    <a:pt x="9459" y="624"/>
                    <a:pt x="16254" y="5333"/>
                    <a:pt x="19548" y="12343"/>
                  </a:cubicBezTo>
                  <a:lnTo>
                    <a:pt x="0" y="21530"/>
                  </a:lnTo>
                  <a:close/>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mj-ea"/>
                <a:ea typeface="+mj-ea"/>
              </a:endParaRPr>
            </a:p>
          </p:txBody>
        </p:sp>
        <p:sp>
          <p:nvSpPr>
            <p:cNvPr id="17" name="Arc 31"/>
            <p:cNvSpPr/>
            <p:nvPr/>
          </p:nvSpPr>
          <p:spPr bwMode="auto">
            <a:xfrm rot="-5400000">
              <a:off x="6129" y="8454"/>
              <a:ext cx="506" cy="461"/>
            </a:xfrm>
            <a:custGeom>
              <a:avLst/>
              <a:gdLst>
                <a:gd name="T0" fmla="*/ 4 w 21470"/>
                <a:gd name="T1" fmla="*/ 0 h 20257"/>
                <a:gd name="T2" fmla="*/ 12 w 21470"/>
                <a:gd name="T3" fmla="*/ 9 h 20257"/>
                <a:gd name="T4" fmla="*/ 0 w 21470"/>
                <a:gd name="T5" fmla="*/ 10 h 20257"/>
                <a:gd name="T6" fmla="*/ 0 60000 65536"/>
                <a:gd name="T7" fmla="*/ 0 60000 65536"/>
                <a:gd name="T8" fmla="*/ 0 60000 65536"/>
                <a:gd name="T9" fmla="*/ 0 w 21470"/>
                <a:gd name="T10" fmla="*/ 0 h 20257"/>
                <a:gd name="T11" fmla="*/ 21470 w 21470"/>
                <a:gd name="T12" fmla="*/ 20257 h 20257"/>
              </a:gdLst>
              <a:ahLst/>
              <a:cxnLst>
                <a:cxn ang="T6">
                  <a:pos x="T0" y="T1"/>
                </a:cxn>
                <a:cxn ang="T7">
                  <a:pos x="T2" y="T3"/>
                </a:cxn>
                <a:cxn ang="T8">
                  <a:pos x="T4" y="T5"/>
                </a:cxn>
              </a:cxnLst>
              <a:rect l="T9" t="T10" r="T11" b="T12"/>
              <a:pathLst>
                <a:path w="21470" h="20257" fill="none" extrusionOk="0">
                  <a:moveTo>
                    <a:pt x="7497" y="-1"/>
                  </a:moveTo>
                  <a:cubicBezTo>
                    <a:pt x="15165" y="2837"/>
                    <a:pt x="20573" y="9762"/>
                    <a:pt x="21469" y="17890"/>
                  </a:cubicBezTo>
                </a:path>
                <a:path w="21470" h="20257" stroke="0" extrusionOk="0">
                  <a:moveTo>
                    <a:pt x="7497" y="-1"/>
                  </a:moveTo>
                  <a:cubicBezTo>
                    <a:pt x="15165" y="2837"/>
                    <a:pt x="20573" y="9762"/>
                    <a:pt x="21469" y="17890"/>
                  </a:cubicBezTo>
                  <a:lnTo>
                    <a:pt x="0" y="20257"/>
                  </a:lnTo>
                  <a:close/>
                </a:path>
              </a:pathLst>
            </a:custGeom>
            <a:noFill/>
            <a:ln w="9525">
              <a:solidFill>
                <a:srgbClr val="000000"/>
              </a:solidFill>
              <a:round/>
              <a:headEnd type="triangle" w="med" len="me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mj-ea"/>
                <a:ea typeface="+mj-ea"/>
              </a:endParaRPr>
            </a:p>
          </p:txBody>
        </p:sp>
        <p:sp>
          <p:nvSpPr>
            <p:cNvPr id="18" name="Line 32"/>
            <p:cNvSpPr>
              <a:spLocks noChangeShapeType="1"/>
            </p:cNvSpPr>
            <p:nvPr/>
          </p:nvSpPr>
          <p:spPr bwMode="auto">
            <a:xfrm>
              <a:off x="1937" y="9190"/>
              <a:ext cx="6798" cy="1"/>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nchor="ctr"/>
            <a:lstStyle/>
            <a:p>
              <a:pPr algn="ctr"/>
              <a:endParaRPr lang="zh-CN" altLang="en-US">
                <a:latin typeface="+mj-ea"/>
                <a:ea typeface="+mj-ea"/>
              </a:endParaRPr>
            </a:p>
          </p:txBody>
        </p:sp>
        <p:sp>
          <p:nvSpPr>
            <p:cNvPr id="19" name="Text Box 33"/>
            <p:cNvSpPr txBox="1">
              <a:spLocks noChangeArrowheads="1"/>
            </p:cNvSpPr>
            <p:nvPr/>
          </p:nvSpPr>
          <p:spPr bwMode="auto">
            <a:xfrm>
              <a:off x="2041" y="8011"/>
              <a:ext cx="483" cy="1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b="1">
                  <a:latin typeface="+mj-ea"/>
                  <a:ea typeface="+mj-ea"/>
                </a:rPr>
                <a:t>用例模型</a:t>
              </a:r>
              <a:endParaRPr lang="zh-CN" altLang="en-US">
                <a:latin typeface="+mj-ea"/>
                <a:ea typeface="+mj-ea"/>
              </a:endParaRPr>
            </a:p>
          </p:txBody>
        </p:sp>
        <p:sp>
          <p:nvSpPr>
            <p:cNvPr id="20" name="Oval 34"/>
            <p:cNvSpPr>
              <a:spLocks noChangeArrowheads="1"/>
            </p:cNvSpPr>
            <p:nvPr/>
          </p:nvSpPr>
          <p:spPr bwMode="auto">
            <a:xfrm>
              <a:off x="3353" y="9696"/>
              <a:ext cx="1700" cy="506"/>
            </a:xfrm>
            <a:prstGeom prst="ellipse">
              <a:avLst/>
            </a:prstGeom>
            <a:solidFill>
              <a:srgbClr val="FFCC99">
                <a:alpha val="43137"/>
              </a:srgbClr>
            </a:solidFill>
            <a:ln w="9525">
              <a:solidFill>
                <a:srgbClr val="000000"/>
              </a:solidFill>
              <a:rou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solidFill>
                    <a:srgbClr val="000000"/>
                  </a:solidFill>
                  <a:latin typeface="+mj-ea"/>
                  <a:ea typeface="+mj-ea"/>
                </a:rPr>
                <a:t>视图模型</a:t>
              </a:r>
              <a:endParaRPr lang="zh-CN" altLang="en-US">
                <a:latin typeface="+mj-ea"/>
                <a:ea typeface="+mj-ea"/>
              </a:endParaRPr>
            </a:p>
          </p:txBody>
        </p:sp>
        <p:sp>
          <p:nvSpPr>
            <p:cNvPr id="21" name="Oval 35"/>
            <p:cNvSpPr>
              <a:spLocks noChangeArrowheads="1"/>
            </p:cNvSpPr>
            <p:nvPr/>
          </p:nvSpPr>
          <p:spPr bwMode="auto">
            <a:xfrm>
              <a:off x="7083" y="9696"/>
              <a:ext cx="1698" cy="495"/>
            </a:xfrm>
            <a:prstGeom prst="ellipse">
              <a:avLst/>
            </a:prstGeom>
            <a:solidFill>
              <a:srgbClr val="FFCC99">
                <a:alpha val="43137"/>
              </a:srgbClr>
            </a:solidFill>
            <a:ln w="9525">
              <a:solidFill>
                <a:srgbClr val="000000"/>
              </a:solidFill>
              <a:rou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solidFill>
                    <a:srgbClr val="000000"/>
                  </a:solidFill>
                  <a:latin typeface="+mj-ea"/>
                  <a:ea typeface="+mj-ea"/>
                </a:rPr>
                <a:t>实体模型</a:t>
              </a:r>
              <a:endParaRPr lang="zh-CN" altLang="en-US">
                <a:latin typeface="+mj-ea"/>
                <a:ea typeface="+mj-ea"/>
              </a:endParaRPr>
            </a:p>
          </p:txBody>
        </p:sp>
        <p:sp>
          <p:nvSpPr>
            <p:cNvPr id="22" name="Oval 36"/>
            <p:cNvSpPr>
              <a:spLocks noChangeArrowheads="1"/>
            </p:cNvSpPr>
            <p:nvPr/>
          </p:nvSpPr>
          <p:spPr bwMode="auto">
            <a:xfrm>
              <a:off x="5195" y="9696"/>
              <a:ext cx="1770" cy="495"/>
            </a:xfrm>
            <a:prstGeom prst="ellipse">
              <a:avLst/>
            </a:prstGeom>
            <a:solidFill>
              <a:srgbClr val="FFCC99">
                <a:alpha val="43137"/>
              </a:srgbClr>
            </a:solidFill>
            <a:ln w="9525">
              <a:solidFill>
                <a:srgbClr val="000000"/>
              </a:solidFill>
              <a:rou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solidFill>
                    <a:srgbClr val="000000"/>
                  </a:solidFill>
                  <a:latin typeface="+mj-ea"/>
                  <a:ea typeface="+mj-ea"/>
                </a:rPr>
                <a:t>逻辑模型</a:t>
              </a:r>
              <a:endParaRPr lang="zh-CN" altLang="en-US">
                <a:latin typeface="+mj-ea"/>
                <a:ea typeface="+mj-ea"/>
              </a:endParaRPr>
            </a:p>
          </p:txBody>
        </p:sp>
        <p:sp>
          <p:nvSpPr>
            <p:cNvPr id="23" name="Text Box 37"/>
            <p:cNvSpPr txBox="1">
              <a:spLocks noChangeArrowheads="1"/>
            </p:cNvSpPr>
            <p:nvPr/>
          </p:nvSpPr>
          <p:spPr bwMode="auto">
            <a:xfrm>
              <a:off x="3854" y="8684"/>
              <a:ext cx="715"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en-US" altLang="zh-CN" b="1">
                  <a:solidFill>
                    <a:srgbClr val="000000"/>
                  </a:solidFill>
                  <a:latin typeface="+mj-ea"/>
                  <a:ea typeface="+mj-ea"/>
                </a:rPr>
                <a:t>View</a:t>
              </a:r>
              <a:endParaRPr lang="en-US" altLang="zh-CN">
                <a:latin typeface="+mj-ea"/>
                <a:ea typeface="+mj-ea"/>
              </a:endParaRPr>
            </a:p>
          </p:txBody>
        </p:sp>
        <p:sp>
          <p:nvSpPr>
            <p:cNvPr id="24" name="Text Box 38"/>
            <p:cNvSpPr txBox="1">
              <a:spLocks noChangeArrowheads="1"/>
            </p:cNvSpPr>
            <p:nvPr/>
          </p:nvSpPr>
          <p:spPr bwMode="auto">
            <a:xfrm>
              <a:off x="1347" y="7925"/>
              <a:ext cx="590" cy="2277"/>
            </a:xfrm>
            <a:prstGeom prst="rect">
              <a:avLst/>
            </a:prstGeom>
            <a:gradFill rotWithShape="1">
              <a:gsLst>
                <a:gs pos="0">
                  <a:srgbClr val="767676"/>
                </a:gs>
                <a:gs pos="50000">
                  <a:srgbClr val="FFFFFF"/>
                </a:gs>
                <a:gs pos="100000">
                  <a:srgbClr val="76767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a:latin typeface="+mj-ea"/>
                  <a:ea typeface="+mj-ea"/>
                </a:rPr>
                <a:t>O</a:t>
              </a:r>
              <a:endParaRPr lang="en-US" altLang="zh-CN" b="1" dirty="0">
                <a:latin typeface="+mj-ea"/>
                <a:ea typeface="+mj-ea"/>
              </a:endParaRPr>
            </a:p>
            <a:p>
              <a:pPr algn="ctr" eaLnBrk="1" hangingPunct="1"/>
              <a:r>
                <a:rPr lang="en-US" altLang="zh-CN" b="1" dirty="0">
                  <a:latin typeface="+mj-ea"/>
                  <a:ea typeface="+mj-ea"/>
                </a:rPr>
                <a:t>O</a:t>
              </a:r>
              <a:endParaRPr lang="en-US" altLang="zh-CN" b="1" dirty="0">
                <a:latin typeface="+mj-ea"/>
                <a:ea typeface="+mj-ea"/>
              </a:endParaRPr>
            </a:p>
            <a:p>
              <a:pPr algn="ctr" eaLnBrk="1" hangingPunct="1"/>
              <a:r>
                <a:rPr lang="en-US" altLang="zh-CN" b="1" dirty="0">
                  <a:latin typeface="+mj-ea"/>
                  <a:ea typeface="+mj-ea"/>
                </a:rPr>
                <a:t>A</a:t>
              </a:r>
              <a:endParaRPr lang="en-US" altLang="zh-CN" b="1" dirty="0">
                <a:latin typeface="+mj-ea"/>
                <a:ea typeface="+mj-ea"/>
              </a:endParaRPr>
            </a:p>
            <a:p>
              <a:pPr algn="ctr" eaLnBrk="1" hangingPunct="1"/>
              <a:r>
                <a:rPr lang="zh-CN" altLang="en-US" b="1" dirty="0">
                  <a:latin typeface="+mj-ea"/>
                  <a:ea typeface="+mj-ea"/>
                </a:rPr>
                <a:t>模型</a:t>
              </a:r>
              <a:endParaRPr lang="zh-CN" altLang="en-US" b="1" dirty="0">
                <a:latin typeface="+mj-ea"/>
                <a:ea typeface="+mj-ea"/>
              </a:endParaRPr>
            </a:p>
          </p:txBody>
        </p:sp>
        <p:sp>
          <p:nvSpPr>
            <p:cNvPr id="25" name="Text Box 39"/>
            <p:cNvSpPr txBox="1">
              <a:spLocks noChangeArrowheads="1"/>
            </p:cNvSpPr>
            <p:nvPr/>
          </p:nvSpPr>
          <p:spPr bwMode="auto">
            <a:xfrm>
              <a:off x="2035" y="9247"/>
              <a:ext cx="483" cy="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b="1" dirty="0">
                  <a:latin typeface="+mj-ea"/>
                  <a:ea typeface="+mj-ea"/>
                </a:rPr>
                <a:t>概念模型</a:t>
              </a:r>
              <a:endParaRPr lang="zh-CN" altLang="en-US" dirty="0">
                <a:latin typeface="+mj-ea"/>
                <a:ea typeface="+mj-ea"/>
              </a:endParaRPr>
            </a:p>
          </p:txBody>
        </p:sp>
        <p:sp>
          <p:nvSpPr>
            <p:cNvPr id="26" name="AutoShape 40"/>
            <p:cNvSpPr>
              <a:spLocks noChangeArrowheads="1"/>
            </p:cNvSpPr>
            <p:nvPr/>
          </p:nvSpPr>
          <p:spPr bwMode="auto">
            <a:xfrm>
              <a:off x="5618" y="9106"/>
              <a:ext cx="757" cy="590"/>
            </a:xfrm>
            <a:prstGeom prst="downArrow">
              <a:avLst>
                <a:gd name="adj1" fmla="val 50000"/>
                <a:gd name="adj2" fmla="val 25000"/>
              </a:avLst>
            </a:prstGeom>
            <a:solidFill>
              <a:srgbClr val="BBE0E3"/>
            </a:solidFill>
            <a:ln w="9525">
              <a:solidFill>
                <a:srgbClr val="000000"/>
              </a:solidFill>
              <a:miter lim="800000"/>
            </a:ln>
          </p:spPr>
          <p:txBody>
            <a:bodyPr vert="eaVert"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latin typeface="+mj-ea"/>
                  <a:ea typeface="+mj-ea"/>
                </a:rPr>
                <a:t>综合</a:t>
              </a:r>
              <a:endParaRPr lang="zh-CN" altLang="en-US">
                <a:latin typeface="+mj-ea"/>
                <a:ea typeface="+mj-ea"/>
              </a:endParaRPr>
            </a:p>
          </p:txBody>
        </p:sp>
        <p:sp>
          <p:nvSpPr>
            <p:cNvPr id="27" name="AutoShape 41"/>
            <p:cNvSpPr>
              <a:spLocks noChangeArrowheads="1"/>
            </p:cNvSpPr>
            <p:nvPr/>
          </p:nvSpPr>
          <p:spPr bwMode="auto">
            <a:xfrm>
              <a:off x="7552" y="9106"/>
              <a:ext cx="757" cy="590"/>
            </a:xfrm>
            <a:prstGeom prst="downArrow">
              <a:avLst>
                <a:gd name="adj1" fmla="val 50000"/>
                <a:gd name="adj2" fmla="val 25000"/>
              </a:avLst>
            </a:prstGeom>
            <a:solidFill>
              <a:srgbClr val="BBE0E3"/>
            </a:solidFill>
            <a:ln w="9525">
              <a:solidFill>
                <a:srgbClr val="000000"/>
              </a:solidFill>
              <a:miter lim="800000"/>
            </a:ln>
          </p:spPr>
          <p:txBody>
            <a:bodyPr vert="eaVert"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latin typeface="+mj-ea"/>
                  <a:ea typeface="+mj-ea"/>
                </a:rPr>
                <a:t>综合</a:t>
              </a:r>
              <a:endParaRPr lang="zh-CN" altLang="en-US">
                <a:latin typeface="+mj-ea"/>
                <a:ea typeface="+mj-ea"/>
              </a:endParaRPr>
            </a:p>
          </p:txBody>
        </p:sp>
        <p:sp>
          <p:nvSpPr>
            <p:cNvPr id="28" name="AutoShape 42"/>
            <p:cNvSpPr>
              <a:spLocks noChangeArrowheads="1"/>
            </p:cNvSpPr>
            <p:nvPr/>
          </p:nvSpPr>
          <p:spPr bwMode="auto">
            <a:xfrm>
              <a:off x="3825" y="9106"/>
              <a:ext cx="757" cy="590"/>
            </a:xfrm>
            <a:prstGeom prst="downArrow">
              <a:avLst>
                <a:gd name="adj1" fmla="val 50000"/>
                <a:gd name="adj2" fmla="val 25000"/>
              </a:avLst>
            </a:prstGeom>
            <a:solidFill>
              <a:srgbClr val="BBE0E3"/>
            </a:solidFill>
            <a:ln w="9525">
              <a:solidFill>
                <a:srgbClr val="000000"/>
              </a:solidFill>
              <a:miter lim="800000"/>
            </a:ln>
          </p:spPr>
          <p:txBody>
            <a:bodyPr vert="eaVert" t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pPr>
              <a:r>
                <a:rPr lang="zh-CN" altLang="en-US">
                  <a:latin typeface="+mj-ea"/>
                  <a:ea typeface="+mj-ea"/>
                </a:rPr>
                <a:t>综合</a:t>
              </a:r>
              <a:endParaRPr lang="zh-CN" altLang="en-US">
                <a:latin typeface="+mj-ea"/>
                <a:ea typeface="+mj-e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2 </a:t>
            </a:r>
            <a:r>
              <a:rPr lang="zh-CN" altLang="en-US" dirty="0"/>
              <a:t>什么是类图</a:t>
            </a:r>
            <a:endParaRPr lang="zh-CN" altLang="en-US" dirty="0"/>
          </a:p>
        </p:txBody>
      </p:sp>
      <p:sp>
        <p:nvSpPr>
          <p:cNvPr id="2" name="文本占位符 1"/>
          <p:cNvSpPr>
            <a:spLocks noGrp="1"/>
          </p:cNvSpPr>
          <p:nvPr>
            <p:ph idx="1"/>
          </p:nvPr>
        </p:nvSpPr>
        <p:spPr/>
        <p:txBody>
          <a:bodyPr>
            <a:normAutofit/>
          </a:bodyPr>
          <a:lstStyle/>
          <a:p>
            <a:pPr marL="342900" indent="-342900">
              <a:lnSpc>
                <a:spcPct val="120000"/>
              </a:lnSpc>
            </a:pPr>
            <a:r>
              <a:rPr lang="zh-CN" altLang="en-US" sz="2200" dirty="0"/>
              <a:t>类</a:t>
            </a:r>
            <a:r>
              <a:rPr lang="en-US" altLang="zh-CN" sz="2200" dirty="0"/>
              <a:t>(Class)</a:t>
            </a:r>
            <a:r>
              <a:rPr lang="zh-CN" altLang="en-US" sz="2200" dirty="0"/>
              <a:t>、对象</a:t>
            </a:r>
            <a:r>
              <a:rPr lang="en-US" altLang="zh-CN" sz="2200" dirty="0"/>
              <a:t>(Object)</a:t>
            </a:r>
            <a:r>
              <a:rPr lang="zh-CN" altLang="en-US" sz="2200" dirty="0"/>
              <a:t>和它们之间的关系是面向对象技术中最基本的元素。类图技术是</a:t>
            </a:r>
            <a:r>
              <a:rPr lang="en-US" altLang="zh-CN" sz="2200" dirty="0"/>
              <a:t>OO</a:t>
            </a:r>
            <a:r>
              <a:rPr lang="zh-CN" altLang="en-US" sz="2200" dirty="0"/>
              <a:t>方法的核心。</a:t>
            </a:r>
            <a:endParaRPr lang="zh-CN" altLang="en-US" sz="2200" dirty="0"/>
          </a:p>
          <a:p>
            <a:pPr marL="342900" indent="-342900">
              <a:lnSpc>
                <a:spcPct val="120000"/>
              </a:lnSpc>
            </a:pPr>
            <a:r>
              <a:rPr lang="zh-CN" altLang="en-US" sz="2200" dirty="0"/>
              <a:t>类图标加上它们之间的关系就构成了</a:t>
            </a:r>
            <a:r>
              <a:rPr lang="zh-CN" altLang="en-US" sz="2200" b="1" dirty="0">
                <a:solidFill>
                  <a:srgbClr val="FF0000"/>
                </a:solidFill>
              </a:rPr>
              <a:t>类图</a:t>
            </a:r>
            <a:r>
              <a:rPr lang="zh-CN" altLang="en-US" sz="2200" dirty="0"/>
              <a:t>。</a:t>
            </a:r>
            <a:endParaRPr lang="zh-CN" altLang="en-US" sz="2200" dirty="0"/>
          </a:p>
          <a:p>
            <a:pPr marL="342900" indent="-342900">
              <a:lnSpc>
                <a:spcPct val="120000"/>
              </a:lnSpc>
            </a:pPr>
            <a:r>
              <a:rPr lang="en-US" altLang="zh-CN" sz="2200" dirty="0">
                <a:solidFill>
                  <a:srgbClr val="000000"/>
                </a:solidFill>
              </a:rPr>
              <a:t>A </a:t>
            </a:r>
            <a:r>
              <a:rPr lang="en-US" altLang="zh-CN" sz="2200" b="1" dirty="0">
                <a:solidFill>
                  <a:srgbClr val="FF0000"/>
                </a:solidFill>
              </a:rPr>
              <a:t>class diagram</a:t>
            </a:r>
            <a:r>
              <a:rPr lang="en-US" altLang="zh-CN" sz="2200" dirty="0">
                <a:solidFill>
                  <a:srgbClr val="FF0000"/>
                </a:solidFill>
              </a:rPr>
              <a:t> </a:t>
            </a:r>
            <a:r>
              <a:rPr lang="en-US" altLang="zh-CN" sz="2200" dirty="0">
                <a:solidFill>
                  <a:srgbClr val="000000"/>
                </a:solidFill>
              </a:rPr>
              <a:t>is a graphic presentation of the static view that shows a collection of declarative (static) model elements, such as classes, types, and their contents and relationships.</a:t>
            </a:r>
            <a:endParaRPr lang="en-US" altLang="zh-CN" sz="2200" dirty="0">
              <a:solidFill>
                <a:srgbClr val="000000"/>
              </a:solidFill>
            </a:endParaRPr>
          </a:p>
        </p:txBody>
      </p:sp>
      <p:sp>
        <p:nvSpPr>
          <p:cNvPr id="3" name="日期占位符 2"/>
          <p:cNvSpPr>
            <a:spLocks noGrp="1"/>
          </p:cNvSpPr>
          <p:nvPr>
            <p:ph type="dt" sz="half" idx="10"/>
          </p:nvPr>
        </p:nvSpPr>
        <p:spPr/>
        <p:txBody>
          <a:bodyPr/>
          <a:lstStyle/>
          <a:p>
            <a:fld id="{1E368FA1-68B4-470C-B46B-9FE79EB9209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类图的作用</a:t>
            </a:r>
            <a:endParaRPr lang="zh-CN" altLang="en-US" dirty="0"/>
          </a:p>
        </p:txBody>
      </p:sp>
      <p:sp>
        <p:nvSpPr>
          <p:cNvPr id="3" name="文本占位符 2"/>
          <p:cNvSpPr>
            <a:spLocks noGrp="1"/>
          </p:cNvSpPr>
          <p:nvPr>
            <p:ph idx="1"/>
          </p:nvPr>
        </p:nvSpPr>
        <p:spPr>
          <a:xfrm>
            <a:off x="768097" y="1122743"/>
            <a:ext cx="7832833" cy="3609277"/>
          </a:xfrm>
        </p:spPr>
        <p:txBody>
          <a:bodyPr>
            <a:normAutofit/>
          </a:bodyPr>
          <a:lstStyle/>
          <a:p>
            <a:pPr marL="342900" indent="-342900">
              <a:lnSpc>
                <a:spcPct val="130000"/>
              </a:lnSpc>
              <a:spcBef>
                <a:spcPts val="1350"/>
              </a:spcBef>
            </a:pPr>
            <a:r>
              <a:rPr lang="zh-CN" altLang="en-US" sz="2400" dirty="0">
                <a:latin typeface="+mn-ea"/>
              </a:rPr>
              <a:t>类图用于对系统静态设计视图建模。</a:t>
            </a:r>
            <a:endParaRPr lang="en-US" altLang="zh-CN" sz="2400" dirty="0">
              <a:latin typeface="+mn-ea"/>
            </a:endParaRPr>
          </a:p>
          <a:p>
            <a:pPr marL="342900" indent="-342900">
              <a:lnSpc>
                <a:spcPct val="130000"/>
              </a:lnSpc>
              <a:spcBef>
                <a:spcPts val="1350"/>
              </a:spcBef>
            </a:pPr>
            <a:r>
              <a:rPr lang="zh-CN" altLang="en-US" sz="2400" dirty="0"/>
              <a:t>类图是定义其它图的基础，在类图的基础上，状态图、协作图等进一步描述系统其它方面的特性。类图也是组件图、部署图的基础。</a:t>
            </a:r>
            <a:endParaRPr lang="en-US" altLang="zh-CN" sz="2400" dirty="0"/>
          </a:p>
          <a:p>
            <a:pPr marL="342900" indent="-342900">
              <a:lnSpc>
                <a:spcPct val="130000"/>
              </a:lnSpc>
              <a:spcBef>
                <a:spcPts val="1350"/>
              </a:spcBef>
            </a:pPr>
            <a:endParaRPr lang="zh-CN" altLang="en-US" sz="2400" dirty="0"/>
          </a:p>
        </p:txBody>
      </p:sp>
      <p:sp>
        <p:nvSpPr>
          <p:cNvPr id="5" name="日期占位符 4"/>
          <p:cNvSpPr>
            <a:spLocks noGrp="1"/>
          </p:cNvSpPr>
          <p:nvPr>
            <p:ph type="dt" sz="half" idx="10"/>
          </p:nvPr>
        </p:nvSpPr>
        <p:spPr/>
        <p:txBody>
          <a:bodyPr/>
          <a:lstStyle/>
          <a:p>
            <a:fld id="{309A127A-CBC2-405D-B34C-14924CF208F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effectLst>
            <a:outerShdw dist="17961" dir="2700000" algn="ctr" rotWithShape="0">
              <a:schemeClr val="bg2"/>
            </a:outerShdw>
          </a:effectLst>
        </p:spPr>
        <p:txBody>
          <a:bodyPr/>
          <a:lstStyle/>
          <a:p>
            <a:r>
              <a:rPr lang="en-US" altLang="zh-CN" dirty="0"/>
              <a:t>3 </a:t>
            </a:r>
            <a:r>
              <a:rPr lang="zh-CN" altLang="en-US" dirty="0"/>
              <a:t>类图的应用</a:t>
            </a:r>
            <a:endParaRPr lang="zh-CN" altLang="en-US" dirty="0"/>
          </a:p>
        </p:txBody>
      </p:sp>
      <p:sp>
        <p:nvSpPr>
          <p:cNvPr id="286723" name="Rectangle 3"/>
          <p:cNvSpPr>
            <a:spLocks noGrp="1" noChangeArrowheads="1"/>
          </p:cNvSpPr>
          <p:nvPr>
            <p:ph idx="1"/>
          </p:nvPr>
        </p:nvSpPr>
        <p:spPr/>
        <p:txBody>
          <a:bodyPr>
            <a:normAutofit/>
          </a:bodyPr>
          <a:lstStyle/>
          <a:p>
            <a:pPr marL="342900" indent="-342900">
              <a:lnSpc>
                <a:spcPct val="120000"/>
              </a:lnSpc>
            </a:pPr>
            <a:r>
              <a:rPr lang="zh-CN" altLang="en-US" sz="2400" dirty="0">
                <a:latin typeface="+mn-ea"/>
              </a:rPr>
              <a:t>与数据模型不同，类图不仅显示了信息的结构，同时还描述了系统的行为。</a:t>
            </a:r>
            <a:endParaRPr lang="zh-CN" altLang="en-US" sz="2400" dirty="0">
              <a:latin typeface="+mn-ea"/>
            </a:endParaRPr>
          </a:p>
          <a:p>
            <a:pPr marL="342900" indent="-342900">
              <a:lnSpc>
                <a:spcPct val="120000"/>
              </a:lnSpc>
            </a:pPr>
            <a:r>
              <a:rPr lang="zh-CN" altLang="en-US" sz="2400" dirty="0">
                <a:latin typeface="+mn-ea"/>
              </a:rPr>
              <a:t>类图典型的应用在下面三类建模：</a:t>
            </a:r>
            <a:endParaRPr lang="zh-CN" altLang="en-US" sz="2400" dirty="0">
              <a:latin typeface="+mn-ea"/>
            </a:endParaRPr>
          </a:p>
        </p:txBody>
      </p:sp>
      <p:sp>
        <p:nvSpPr>
          <p:cNvPr id="2" name="日期占位符 1"/>
          <p:cNvSpPr>
            <a:spLocks noGrp="1"/>
          </p:cNvSpPr>
          <p:nvPr>
            <p:ph type="dt" sz="half" idx="10"/>
          </p:nvPr>
        </p:nvSpPr>
        <p:spPr/>
        <p:txBody>
          <a:bodyPr/>
          <a:lstStyle/>
          <a:p>
            <a:fld id="{96B9EC83-F1E2-4644-8CEB-218AD90D9BE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86724" name="Rectangle 4"/>
          <p:cNvSpPr>
            <a:spLocks noChangeArrowheads="1"/>
          </p:cNvSpPr>
          <p:nvPr/>
        </p:nvSpPr>
        <p:spPr bwMode="auto">
          <a:xfrm>
            <a:off x="1448960" y="2546236"/>
            <a:ext cx="4670482" cy="1724821"/>
          </a:xfrm>
          <a:prstGeom prst="rect">
            <a:avLst/>
          </a:prstGeom>
          <a:noFill/>
          <a:ln w="9525">
            <a:noFill/>
            <a:miter lim="800000"/>
          </a:ln>
          <a:effectLst/>
        </p:spPr>
        <p:txBody>
          <a:bodyPr/>
          <a:lstStyle/>
          <a:p>
            <a:pPr marL="342900" indent="-342900">
              <a:lnSpc>
                <a:spcPct val="130000"/>
              </a:lnSpc>
              <a:spcBef>
                <a:spcPct val="20000"/>
              </a:spcBef>
              <a:buClr>
                <a:srgbClr val="464646"/>
              </a:buClr>
              <a:buSzPct val="70000"/>
              <a:buFont typeface="Wingdings" panose="05000000000000000000" pitchFamily="2" charset="2"/>
              <a:buChar char="ü"/>
            </a:pPr>
            <a:r>
              <a:rPr lang="zh-CN" altLang="en-US" sz="2400" dirty="0">
                <a:solidFill>
                  <a:schemeClr val="accent1">
                    <a:lumMod val="50000"/>
                  </a:schemeClr>
                </a:solidFill>
                <a:latin typeface="+mj-ea"/>
                <a:ea typeface="+mj-ea"/>
              </a:rPr>
              <a:t>对系统的词汇建模</a:t>
            </a:r>
            <a:endParaRPr lang="en-US" altLang="zh-CN" sz="2400" dirty="0">
              <a:solidFill>
                <a:schemeClr val="accent1">
                  <a:lumMod val="50000"/>
                </a:schemeClr>
              </a:solidFill>
              <a:latin typeface="+mj-ea"/>
              <a:ea typeface="+mj-ea"/>
            </a:endParaRPr>
          </a:p>
          <a:p>
            <a:pPr marL="342900" indent="-342900">
              <a:lnSpc>
                <a:spcPct val="130000"/>
              </a:lnSpc>
              <a:spcBef>
                <a:spcPct val="20000"/>
              </a:spcBef>
              <a:buClr>
                <a:srgbClr val="464646"/>
              </a:buClr>
              <a:buSzPct val="70000"/>
              <a:buFont typeface="Wingdings" panose="05000000000000000000" pitchFamily="2" charset="2"/>
              <a:buChar char="ü"/>
            </a:pPr>
            <a:r>
              <a:rPr lang="zh-CN" altLang="en-US" sz="2400" dirty="0">
                <a:solidFill>
                  <a:schemeClr val="accent1">
                    <a:lumMod val="50000"/>
                  </a:schemeClr>
                </a:solidFill>
                <a:latin typeface="+mj-ea"/>
                <a:ea typeface="+mj-ea"/>
              </a:rPr>
              <a:t>对简单协作建模</a:t>
            </a:r>
            <a:endParaRPr lang="zh-CN" altLang="en-US" sz="2400" dirty="0">
              <a:solidFill>
                <a:schemeClr val="accent1">
                  <a:lumMod val="50000"/>
                </a:schemeClr>
              </a:solidFill>
              <a:latin typeface="+mj-ea"/>
              <a:ea typeface="+mj-ea"/>
            </a:endParaRPr>
          </a:p>
          <a:p>
            <a:pPr marL="342900" indent="-342900">
              <a:lnSpc>
                <a:spcPct val="130000"/>
              </a:lnSpc>
              <a:spcBef>
                <a:spcPct val="20000"/>
              </a:spcBef>
              <a:buClr>
                <a:srgbClr val="464646"/>
              </a:buClr>
              <a:buSzPct val="70000"/>
              <a:buFont typeface="Wingdings" panose="05000000000000000000" pitchFamily="2" charset="2"/>
              <a:buChar char="ü"/>
            </a:pPr>
            <a:r>
              <a:rPr lang="zh-CN" altLang="en-US" sz="2400" dirty="0">
                <a:solidFill>
                  <a:schemeClr val="accent1">
                    <a:lumMod val="50000"/>
                  </a:schemeClr>
                </a:solidFill>
                <a:latin typeface="+mj-ea"/>
                <a:ea typeface="+mj-ea"/>
              </a:rPr>
              <a:t>对逻辑数据库模式建模</a:t>
            </a:r>
            <a:endParaRPr lang="zh-CN" altLang="en-US" sz="2400" dirty="0">
              <a:solidFill>
                <a:schemeClr val="accent1">
                  <a:lumMod val="50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4 </a:t>
            </a:r>
            <a:r>
              <a:rPr lang="zh-CN" altLang="en-US" dirty="0"/>
              <a:t>类图的分类</a:t>
            </a:r>
            <a:endParaRPr lang="zh-CN" altLang="en-US" dirty="0"/>
          </a:p>
        </p:txBody>
      </p:sp>
      <p:sp>
        <p:nvSpPr>
          <p:cNvPr id="6" name="文本占位符 5"/>
          <p:cNvSpPr>
            <a:spLocks noGrp="1"/>
          </p:cNvSpPr>
          <p:nvPr>
            <p:ph idx="1"/>
          </p:nvPr>
        </p:nvSpPr>
        <p:spPr>
          <a:xfrm>
            <a:off x="768097" y="1053295"/>
            <a:ext cx="7832833" cy="3678725"/>
          </a:xfrm>
          <a:prstGeom prst="rect">
            <a:avLst/>
          </a:prstGeom>
        </p:spPr>
        <p:txBody>
          <a:bodyPr>
            <a:normAutofit/>
          </a:bodyPr>
          <a:lstStyle/>
          <a:p>
            <a:pPr>
              <a:spcBef>
                <a:spcPts val="800"/>
              </a:spcBef>
            </a:pPr>
            <a:r>
              <a:rPr lang="zh-CN" altLang="en-US" sz="2000" dirty="0"/>
              <a:t>在软件分析与设计过程中，会有两套类图产生。在需求分析阶段，由需求分析师结合用例绘制的类图，称为“领域类图”，而设计师绘制的类图称为“实现类图”。</a:t>
            </a:r>
            <a:endParaRPr lang="en-US" altLang="zh-CN" sz="2000" dirty="0"/>
          </a:p>
          <a:p>
            <a:pPr>
              <a:spcBef>
                <a:spcPts val="800"/>
              </a:spcBef>
            </a:pPr>
            <a:r>
              <a:rPr lang="zh-CN" altLang="en-US" sz="2000" dirty="0">
                <a:solidFill>
                  <a:srgbClr val="FF0000"/>
                </a:solidFill>
              </a:rPr>
              <a:t>领域类图：</a:t>
            </a:r>
            <a:r>
              <a:rPr lang="zh-CN" altLang="en-US" sz="2000" dirty="0"/>
              <a:t>描述系统需求中实体的静态结构，包括业务实体、各个业务实体所具有的业务属性及操作、业务实体之间的关系。</a:t>
            </a:r>
            <a:r>
              <a:rPr lang="zh-CN" altLang="en-US" sz="2000" dirty="0">
                <a:solidFill>
                  <a:srgbClr val="FF0000"/>
                </a:solidFill>
              </a:rPr>
              <a:t>与具体技术无关</a:t>
            </a:r>
            <a:r>
              <a:rPr lang="zh-CN" altLang="en-US" sz="2000" dirty="0"/>
              <a:t>，是实现类的基础，需要进一步细化才能变成实现类图。</a:t>
            </a:r>
            <a:endParaRPr lang="en-US" altLang="zh-CN" sz="2000" dirty="0"/>
          </a:p>
          <a:p>
            <a:pPr>
              <a:spcBef>
                <a:spcPts val="800"/>
              </a:spcBef>
            </a:pPr>
            <a:r>
              <a:rPr lang="zh-CN" altLang="en-US" sz="2000" dirty="0">
                <a:solidFill>
                  <a:srgbClr val="FF0000"/>
                </a:solidFill>
              </a:rPr>
              <a:t>实现类图：</a:t>
            </a:r>
            <a:r>
              <a:rPr lang="zh-CN" altLang="en-US" sz="2000" dirty="0"/>
              <a:t>描述系统的架构结构、指导程序员编码，包括系统中所有必要的实体类、数据访问类、业务逻辑类、控制类和界面类等。具体类的划分根据架构和业务需求决定。</a:t>
            </a:r>
            <a:endParaRPr lang="en-US" altLang="zh-CN" sz="2000" dirty="0"/>
          </a:p>
          <a:p>
            <a:pPr>
              <a:spcBef>
                <a:spcPts val="800"/>
              </a:spcBef>
            </a:pPr>
            <a:endParaRPr lang="zh-CN" altLang="en-US" sz="2000" dirty="0"/>
          </a:p>
        </p:txBody>
      </p:sp>
      <p:sp>
        <p:nvSpPr>
          <p:cNvPr id="2" name="日期占位符 1"/>
          <p:cNvSpPr>
            <a:spLocks noGrp="1"/>
          </p:cNvSpPr>
          <p:nvPr>
            <p:ph type="dt" sz="half" idx="10"/>
          </p:nvPr>
        </p:nvSpPr>
        <p:spPr/>
        <p:txBody>
          <a:bodyPr/>
          <a:lstStyle/>
          <a:p>
            <a:fld id="{E700FD2C-C5D6-4356-8813-6DC3FFAE97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altLang="zh-CN" dirty="0"/>
              <a:t>5 </a:t>
            </a:r>
            <a:r>
              <a:rPr lang="zh-CN" altLang="en-US" dirty="0"/>
              <a:t>类图的组成</a:t>
            </a:r>
            <a:endParaRPr lang="zh-CN" altLang="en-US" dirty="0"/>
          </a:p>
        </p:txBody>
      </p:sp>
      <p:sp>
        <p:nvSpPr>
          <p:cNvPr id="271363" name="Rectangle 3"/>
          <p:cNvSpPr>
            <a:spLocks noGrp="1" noChangeArrowheads="1"/>
          </p:cNvSpPr>
          <p:nvPr>
            <p:ph idx="1"/>
          </p:nvPr>
        </p:nvSpPr>
        <p:spPr>
          <a:xfrm>
            <a:off x="768096" y="828913"/>
            <a:ext cx="7832833" cy="3806854"/>
          </a:xfrm>
        </p:spPr>
        <p:txBody>
          <a:bodyPr>
            <a:noAutofit/>
          </a:bodyPr>
          <a:lstStyle/>
          <a:p>
            <a:pPr>
              <a:lnSpc>
                <a:spcPct val="120000"/>
              </a:lnSpc>
              <a:spcBef>
                <a:spcPts val="600"/>
              </a:spcBef>
            </a:pPr>
            <a:r>
              <a:rPr lang="zh-CN" altLang="en-US" sz="2400" dirty="0">
                <a:latin typeface="+mn-ea"/>
              </a:rPr>
              <a:t>类图通常包含下述内容：</a:t>
            </a:r>
            <a:endParaRPr lang="zh-CN" altLang="en-US" sz="2400" dirty="0">
              <a:latin typeface="+mn-ea"/>
            </a:endParaRPr>
          </a:p>
          <a:p>
            <a:pPr>
              <a:lnSpc>
                <a:spcPct val="120000"/>
              </a:lnSpc>
              <a:spcBef>
                <a:spcPts val="600"/>
              </a:spcBef>
            </a:pPr>
            <a:endParaRPr lang="en-US" altLang="zh-CN" sz="2400" dirty="0">
              <a:latin typeface="+mn-ea"/>
            </a:endParaRPr>
          </a:p>
          <a:p>
            <a:pPr>
              <a:lnSpc>
                <a:spcPct val="120000"/>
              </a:lnSpc>
              <a:spcBef>
                <a:spcPts val="600"/>
              </a:spcBef>
            </a:pPr>
            <a:endParaRPr lang="en-US" altLang="zh-CN" sz="2400" dirty="0">
              <a:latin typeface="+mn-ea"/>
            </a:endParaRPr>
          </a:p>
          <a:p>
            <a:pPr marL="0" indent="0">
              <a:lnSpc>
                <a:spcPct val="150000"/>
              </a:lnSpc>
              <a:spcBef>
                <a:spcPts val="600"/>
              </a:spcBef>
              <a:buNone/>
            </a:pPr>
            <a:endParaRPr lang="en-US" altLang="zh-CN" sz="2400" dirty="0">
              <a:latin typeface="+mn-ea"/>
            </a:endParaRPr>
          </a:p>
          <a:p>
            <a:pPr marL="342900" indent="-342900">
              <a:lnSpc>
                <a:spcPct val="120000"/>
              </a:lnSpc>
              <a:spcBef>
                <a:spcPts val="600"/>
              </a:spcBef>
              <a:buClr>
                <a:srgbClr val="0070C0"/>
              </a:buClr>
              <a:buSzPct val="70000"/>
            </a:pPr>
            <a:r>
              <a:rPr lang="zh-CN" altLang="en-US" sz="2400" dirty="0">
                <a:latin typeface="+mn-ea"/>
              </a:rPr>
              <a:t>类图可以包含注解和约束；</a:t>
            </a:r>
            <a:endParaRPr lang="zh-CN" altLang="en-US" sz="2400" dirty="0">
              <a:latin typeface="+mn-ea"/>
            </a:endParaRPr>
          </a:p>
          <a:p>
            <a:pPr marL="342900" indent="-342900">
              <a:lnSpc>
                <a:spcPct val="120000"/>
              </a:lnSpc>
              <a:spcBef>
                <a:spcPts val="600"/>
              </a:spcBef>
              <a:buClr>
                <a:srgbClr val="0070C0"/>
              </a:buClr>
              <a:buSzPct val="70000"/>
            </a:pPr>
            <a:r>
              <a:rPr lang="zh-CN" altLang="en-US" sz="2400" dirty="0">
                <a:latin typeface="+mn-ea"/>
              </a:rPr>
              <a:t>类图还可以有包或子系统，二者都用于把模型元素聚集成更大的组件。</a:t>
            </a:r>
            <a:endParaRPr lang="zh-CN" altLang="en-US" sz="2400" dirty="0">
              <a:latin typeface="+mn-ea"/>
            </a:endParaRPr>
          </a:p>
        </p:txBody>
      </p:sp>
      <p:sp>
        <p:nvSpPr>
          <p:cNvPr id="2" name="日期占位符 1"/>
          <p:cNvSpPr>
            <a:spLocks noGrp="1"/>
          </p:cNvSpPr>
          <p:nvPr>
            <p:ph type="dt" sz="half" idx="10"/>
          </p:nvPr>
        </p:nvSpPr>
        <p:spPr/>
        <p:txBody>
          <a:bodyPr/>
          <a:lstStyle/>
          <a:p>
            <a:fld id="{4B69E613-C96D-4E76-A15A-2BAD5426110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71364" name="Rectangle 4"/>
          <p:cNvSpPr>
            <a:spLocks noChangeArrowheads="1"/>
          </p:cNvSpPr>
          <p:nvPr/>
        </p:nvSpPr>
        <p:spPr bwMode="auto">
          <a:xfrm>
            <a:off x="1575899" y="1350820"/>
            <a:ext cx="5349834" cy="1600200"/>
          </a:xfrm>
          <a:prstGeom prst="rect">
            <a:avLst/>
          </a:prstGeom>
          <a:noFill/>
          <a:ln w="9525">
            <a:noFill/>
            <a:miter lim="800000"/>
          </a:ln>
          <a:effectLst/>
        </p:spPr>
        <p:txBody>
          <a:bodyPr/>
          <a:lstStyle/>
          <a:p>
            <a:pPr marL="257175" indent="-257175">
              <a:spcBef>
                <a:spcPts val="900"/>
              </a:spcBef>
              <a:buClr>
                <a:srgbClr val="464646"/>
              </a:buClr>
              <a:buSzPct val="70000"/>
              <a:buFont typeface="Arial" panose="020B0604020202020204" pitchFamily="34" charset="0"/>
              <a:buChar char="•"/>
            </a:pPr>
            <a:r>
              <a:rPr lang="zh-CN" altLang="en-US" sz="2000" dirty="0">
                <a:solidFill>
                  <a:schemeClr val="accent1">
                    <a:lumMod val="50000"/>
                  </a:schemeClr>
                </a:solidFill>
                <a:latin typeface="+mj-ea"/>
                <a:ea typeface="+mj-ea"/>
              </a:rPr>
              <a:t>类</a:t>
            </a:r>
            <a:endParaRPr lang="zh-CN" altLang="en-US" sz="2000" dirty="0">
              <a:solidFill>
                <a:schemeClr val="accent1">
                  <a:lumMod val="50000"/>
                </a:schemeClr>
              </a:solidFill>
              <a:latin typeface="+mj-ea"/>
              <a:ea typeface="+mj-ea"/>
            </a:endParaRPr>
          </a:p>
          <a:p>
            <a:pPr marL="257175" indent="-257175">
              <a:spcBef>
                <a:spcPts val="900"/>
              </a:spcBef>
              <a:buClr>
                <a:srgbClr val="464646"/>
              </a:buClr>
              <a:buSzPct val="70000"/>
              <a:buFont typeface="Arial" panose="020B0604020202020204" pitchFamily="34" charset="0"/>
              <a:buChar char="•"/>
            </a:pPr>
            <a:r>
              <a:rPr lang="zh-CN" altLang="en-US" sz="2000" dirty="0">
                <a:solidFill>
                  <a:schemeClr val="accent1">
                    <a:lumMod val="50000"/>
                  </a:schemeClr>
                </a:solidFill>
                <a:latin typeface="+mj-ea"/>
                <a:ea typeface="+mj-ea"/>
              </a:rPr>
              <a:t>接口</a:t>
            </a:r>
            <a:endParaRPr lang="zh-CN" altLang="en-US" sz="2000" dirty="0">
              <a:solidFill>
                <a:schemeClr val="accent1">
                  <a:lumMod val="50000"/>
                </a:schemeClr>
              </a:solidFill>
              <a:latin typeface="+mj-ea"/>
              <a:ea typeface="+mj-ea"/>
            </a:endParaRPr>
          </a:p>
          <a:p>
            <a:pPr marL="257175" indent="-257175">
              <a:spcBef>
                <a:spcPts val="900"/>
              </a:spcBef>
              <a:buClr>
                <a:srgbClr val="464646"/>
              </a:buClr>
              <a:buSzPct val="70000"/>
              <a:buFont typeface="Arial" panose="020B0604020202020204" pitchFamily="34" charset="0"/>
              <a:buChar char="•"/>
            </a:pPr>
            <a:r>
              <a:rPr lang="zh-CN" altLang="en-US" sz="2000" dirty="0">
                <a:solidFill>
                  <a:schemeClr val="accent1">
                    <a:lumMod val="50000"/>
                  </a:schemeClr>
                </a:solidFill>
                <a:latin typeface="+mj-ea"/>
                <a:ea typeface="+mj-ea"/>
              </a:rPr>
              <a:t>协作</a:t>
            </a:r>
            <a:endParaRPr lang="zh-CN" altLang="en-US" sz="2000" dirty="0">
              <a:solidFill>
                <a:schemeClr val="accent1">
                  <a:lumMod val="50000"/>
                </a:schemeClr>
              </a:solidFill>
              <a:latin typeface="+mj-ea"/>
              <a:ea typeface="+mj-ea"/>
            </a:endParaRPr>
          </a:p>
          <a:p>
            <a:pPr marL="257175" indent="-257175">
              <a:spcBef>
                <a:spcPts val="900"/>
              </a:spcBef>
              <a:buClr>
                <a:srgbClr val="464646"/>
              </a:buClr>
              <a:buSzPct val="70000"/>
              <a:buFont typeface="Arial" panose="020B0604020202020204" pitchFamily="34" charset="0"/>
              <a:buChar char="•"/>
            </a:pPr>
            <a:r>
              <a:rPr lang="zh-CN" altLang="en-US" sz="2000" dirty="0">
                <a:solidFill>
                  <a:schemeClr val="accent1">
                    <a:lumMod val="50000"/>
                  </a:schemeClr>
                </a:solidFill>
                <a:latin typeface="+mj-ea"/>
                <a:ea typeface="+mj-ea"/>
              </a:rPr>
              <a:t>关系：依赖、泛化、实现和关联关系</a:t>
            </a:r>
            <a:endParaRPr lang="zh-CN" altLang="en-US" sz="2000" dirty="0">
              <a:solidFill>
                <a:schemeClr val="accent1">
                  <a:lumMod val="50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1364"/>
                                        </p:tgtEl>
                                        <p:attrNameLst>
                                          <p:attrName>style.visibility</p:attrName>
                                        </p:attrNameLst>
                                      </p:cBhvr>
                                      <p:to>
                                        <p:strVal val="visible"/>
                                      </p:to>
                                    </p:set>
                                    <p:animEffect transition="in" filter="wipe(up)">
                                      <p:cBhvr>
                                        <p:cTn id="7" dur="500"/>
                                        <p:tgtEl>
                                          <p:spTgt spid="2713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1363">
                                            <p:txEl>
                                              <p:pRg st="4" end="4"/>
                                            </p:txEl>
                                          </p:spTgt>
                                        </p:tgtEl>
                                        <p:attrNameLst>
                                          <p:attrName>style.visibility</p:attrName>
                                        </p:attrNameLst>
                                      </p:cBhvr>
                                      <p:to>
                                        <p:strVal val="visible"/>
                                      </p:to>
                                    </p:set>
                                    <p:animEffect transition="in" filter="wipe(up)">
                                      <p:cBhvr>
                                        <p:cTn id="12" dur="500"/>
                                        <p:tgtEl>
                                          <p:spTgt spid="271363">
                                            <p:txEl>
                                              <p:pRg st="4" end="4"/>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271363">
                                            <p:txEl>
                                              <p:pRg st="5" end="5"/>
                                            </p:txEl>
                                          </p:spTgt>
                                        </p:tgtEl>
                                        <p:attrNameLst>
                                          <p:attrName>style.visibility</p:attrName>
                                        </p:attrNameLst>
                                      </p:cBhvr>
                                      <p:to>
                                        <p:strVal val="visible"/>
                                      </p:to>
                                    </p:set>
                                    <p:animEffect transition="in" filter="wipe(up)">
                                      <p:cBhvr>
                                        <p:cTn id="15" dur="500"/>
                                        <p:tgtEl>
                                          <p:spTgt spid="271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575899" y="24085"/>
            <a:ext cx="6286823" cy="5023108"/>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类图的组成</a:t>
            </a:r>
            <a:endParaRPr lang="zh-CN" altLang="en-US" dirty="0"/>
          </a:p>
        </p:txBody>
      </p:sp>
      <p:sp>
        <p:nvSpPr>
          <p:cNvPr id="4" name="文本占位符 3"/>
          <p:cNvSpPr>
            <a:spLocks noGrp="1"/>
          </p:cNvSpPr>
          <p:nvPr>
            <p:ph idx="1"/>
          </p:nvPr>
        </p:nvSpPr>
        <p:spPr>
          <a:xfrm>
            <a:off x="883842" y="983849"/>
            <a:ext cx="5192867" cy="3470380"/>
          </a:xfrm>
        </p:spPr>
        <p:txBody>
          <a:bodyPr>
            <a:normAutofit/>
          </a:bodyPr>
          <a:lstStyle/>
          <a:p>
            <a:pPr>
              <a:lnSpc>
                <a:spcPct val="130000"/>
              </a:lnSpc>
              <a:buFontTx/>
              <a:buNone/>
            </a:pPr>
            <a:r>
              <a:rPr lang="zh-CN" altLang="zh-CN" sz="2400" dirty="0">
                <a:solidFill>
                  <a:srgbClr val="FF0000"/>
                </a:solidFill>
              </a:rPr>
              <a:t>类</a:t>
            </a:r>
            <a:r>
              <a:rPr lang="en-US" altLang="zh-CN" sz="2400" dirty="0">
                <a:solidFill>
                  <a:srgbClr val="FF0000"/>
                </a:solidFill>
              </a:rPr>
              <a:t>  </a:t>
            </a:r>
            <a:r>
              <a:rPr lang="zh-CN" altLang="zh-CN" sz="2400" dirty="0"/>
              <a:t>主要包含以下几个部分</a:t>
            </a:r>
            <a:r>
              <a:rPr lang="zh-CN" altLang="en-US" sz="2400" dirty="0"/>
              <a:t>：</a:t>
            </a:r>
            <a:endParaRPr lang="zh-CN" altLang="zh-CN" sz="2400" dirty="0"/>
          </a:p>
          <a:p>
            <a:pPr marL="342900" indent="-342900">
              <a:lnSpc>
                <a:spcPct val="130000"/>
              </a:lnSpc>
              <a:buFont typeface="+mj-lt"/>
              <a:buAutoNum type="arabicPeriod"/>
            </a:pPr>
            <a:r>
              <a:rPr lang="zh-CN" altLang="zh-CN" sz="2000" dirty="0"/>
              <a:t>名称（Name）</a:t>
            </a:r>
            <a:r>
              <a:rPr lang="zh-CN" altLang="en-US" sz="2000" dirty="0"/>
              <a:t>：</a:t>
            </a:r>
            <a:r>
              <a:rPr lang="zh-CN" altLang="zh-CN" sz="2000" dirty="0"/>
              <a:t>是每个类所必有的构成，用于和其</a:t>
            </a:r>
            <a:r>
              <a:rPr lang="zh-CN" altLang="en-US" sz="2000" dirty="0"/>
              <a:t>它</a:t>
            </a:r>
            <a:r>
              <a:rPr lang="zh-CN" altLang="zh-CN" sz="2000" dirty="0"/>
              <a:t>类相区分。</a:t>
            </a:r>
            <a:endParaRPr lang="zh-CN" altLang="zh-CN" sz="2000" dirty="0"/>
          </a:p>
          <a:p>
            <a:pPr marL="342900" indent="-342900">
              <a:lnSpc>
                <a:spcPct val="130000"/>
              </a:lnSpc>
              <a:buFont typeface="+mj-lt"/>
              <a:buAutoNum type="arabicPeriod"/>
            </a:pPr>
            <a:r>
              <a:rPr lang="zh-CN" altLang="zh-CN" sz="2000" dirty="0"/>
              <a:t>属性（Attribute）</a:t>
            </a:r>
            <a:r>
              <a:rPr lang="zh-CN" altLang="en-US" sz="2000" dirty="0"/>
              <a:t>：是</a:t>
            </a:r>
            <a:r>
              <a:rPr lang="zh-CN" altLang="zh-CN" sz="2000" dirty="0"/>
              <a:t>类的一个组成部分</a:t>
            </a:r>
            <a:r>
              <a:rPr lang="zh-CN" altLang="en-US" sz="2000" dirty="0"/>
              <a:t>，</a:t>
            </a:r>
            <a:r>
              <a:rPr lang="zh-CN" altLang="zh-CN" sz="2000" dirty="0"/>
              <a:t>描述了类所代表事物的属性</a:t>
            </a:r>
            <a:r>
              <a:rPr lang="zh-CN" altLang="en-US" sz="2000" dirty="0"/>
              <a:t>。</a:t>
            </a:r>
            <a:endParaRPr lang="zh-CN" altLang="zh-CN" sz="2000" dirty="0"/>
          </a:p>
          <a:p>
            <a:pPr marL="342900" indent="-342900">
              <a:lnSpc>
                <a:spcPct val="130000"/>
              </a:lnSpc>
              <a:buFont typeface="+mj-lt"/>
              <a:buAutoNum type="arabicPeriod"/>
            </a:pPr>
            <a:r>
              <a:rPr lang="zh-CN" altLang="zh-CN" sz="2000" dirty="0"/>
              <a:t>操作（Operation）</a:t>
            </a:r>
            <a:r>
              <a:rPr lang="zh-CN" altLang="en-US" sz="2000" dirty="0"/>
              <a:t>：</a:t>
            </a:r>
            <a:r>
              <a:rPr lang="zh-CN" altLang="zh-CN" sz="2000" dirty="0"/>
              <a:t>是对类的对象所能做的事务的抽象</a:t>
            </a:r>
            <a:r>
              <a:rPr lang="zh-CN" altLang="en-US" sz="2000" dirty="0"/>
              <a:t>，描述了类的动态行为。</a:t>
            </a:r>
            <a:endParaRPr lang="zh-CN" altLang="zh-CN" sz="2000" dirty="0"/>
          </a:p>
        </p:txBody>
      </p:sp>
      <p:sp>
        <p:nvSpPr>
          <p:cNvPr id="2" name="日期占位符 1"/>
          <p:cNvSpPr>
            <a:spLocks noGrp="1"/>
          </p:cNvSpPr>
          <p:nvPr>
            <p:ph type="dt" sz="half" idx="10"/>
          </p:nvPr>
        </p:nvSpPr>
        <p:spPr/>
        <p:txBody>
          <a:bodyPr/>
          <a:lstStyle/>
          <a:p>
            <a:fld id="{5141A42B-6688-483E-97AA-4D5BEDA17FE6}"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9" name="图片 8"/>
          <p:cNvPicPr/>
          <p:nvPr/>
        </p:nvPicPr>
        <p:blipFill>
          <a:blip r:embed="rId1">
            <a:extLst>
              <a:ext uri="{28A0092B-C50C-407E-A947-70E740481C1C}">
                <a14:useLocalDpi xmlns:a14="http://schemas.microsoft.com/office/drawing/2010/main" val="0"/>
              </a:ext>
            </a:extLst>
          </a:blip>
          <a:srcRect l="43388" t="8461" r="40977" b="10503"/>
          <a:stretch>
            <a:fillRect/>
          </a:stretch>
        </p:blipFill>
        <p:spPr bwMode="auto">
          <a:xfrm>
            <a:off x="6471452" y="1702269"/>
            <a:ext cx="2240795" cy="1629019"/>
          </a:xfrm>
          <a:prstGeom prst="rect">
            <a:avLst/>
          </a:prstGeom>
          <a:noFill/>
          <a:ln>
            <a:noFill/>
          </a:ln>
        </p:spPr>
      </p:pic>
      <p:sp>
        <p:nvSpPr>
          <p:cNvPr id="10" name="TextBox 4"/>
          <p:cNvSpPr txBox="1"/>
          <p:nvPr/>
        </p:nvSpPr>
        <p:spPr>
          <a:xfrm>
            <a:off x="6883963" y="3429296"/>
            <a:ext cx="1569660" cy="369332"/>
          </a:xfrm>
          <a:prstGeom prst="rect">
            <a:avLst/>
          </a:prstGeom>
          <a:noFill/>
        </p:spPr>
        <p:txBody>
          <a:bodyPr wrap="none" rtlCol="0">
            <a:spAutoFit/>
          </a:bodyPr>
          <a:lstStyle/>
          <a:p>
            <a:r>
              <a:rPr lang="zh-CN" altLang="zh-CN" dirty="0">
                <a:latin typeface="+mj-ea"/>
                <a:ea typeface="+mj-ea"/>
              </a:rPr>
              <a:t>类的图形符号</a:t>
            </a:r>
            <a:endParaRPr lang="zh-CN" altLang="en-US"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类图的组成</a:t>
            </a:r>
            <a:endParaRPr lang="zh-CN" altLang="en-US" dirty="0"/>
          </a:p>
        </p:txBody>
      </p:sp>
      <p:sp>
        <p:nvSpPr>
          <p:cNvPr id="3" name="文本占位符 2"/>
          <p:cNvSpPr>
            <a:spLocks noGrp="1"/>
          </p:cNvSpPr>
          <p:nvPr>
            <p:ph idx="1"/>
          </p:nvPr>
        </p:nvSpPr>
        <p:spPr>
          <a:xfrm>
            <a:off x="768097" y="820992"/>
            <a:ext cx="7832833" cy="3806854"/>
          </a:xfrm>
        </p:spPr>
        <p:txBody>
          <a:bodyPr>
            <a:noAutofit/>
          </a:bodyPr>
          <a:lstStyle/>
          <a:p>
            <a:pPr marL="285750" indent="-285750">
              <a:lnSpc>
                <a:spcPct val="100000"/>
              </a:lnSpc>
              <a:spcBef>
                <a:spcPts val="600"/>
              </a:spcBef>
            </a:pPr>
            <a:r>
              <a:rPr lang="zh-CN" altLang="zh-CN" sz="2000" dirty="0"/>
              <a:t>类在UML中的图符是分成3个分隔区的矩形</a:t>
            </a:r>
            <a:r>
              <a:rPr lang="zh-CN" altLang="en-US" sz="2000" dirty="0"/>
              <a:t>：</a:t>
            </a:r>
            <a:endParaRPr lang="en-US" altLang="zh-CN" sz="2000" dirty="0"/>
          </a:p>
          <a:p>
            <a:pPr lvl="1">
              <a:lnSpc>
                <a:spcPct val="100000"/>
              </a:lnSpc>
              <a:spcBef>
                <a:spcPts val="600"/>
              </a:spcBef>
            </a:pPr>
            <a:r>
              <a:rPr lang="zh-CN" altLang="zh-CN" sz="2000" dirty="0"/>
              <a:t>顶端为类的名字</a:t>
            </a:r>
            <a:endParaRPr lang="en-US" altLang="zh-CN" sz="2000" dirty="0"/>
          </a:p>
          <a:p>
            <a:pPr lvl="1">
              <a:lnSpc>
                <a:spcPct val="100000"/>
              </a:lnSpc>
              <a:spcBef>
                <a:spcPts val="600"/>
              </a:spcBef>
            </a:pPr>
            <a:r>
              <a:rPr lang="zh-CN" altLang="zh-CN" sz="2000" dirty="0"/>
              <a:t>中间存放类的属性、属性的类型和值</a:t>
            </a:r>
            <a:endParaRPr lang="en-US" altLang="zh-CN" sz="2000" dirty="0"/>
          </a:p>
          <a:p>
            <a:pPr lvl="1">
              <a:lnSpc>
                <a:spcPct val="100000"/>
              </a:lnSpc>
              <a:spcBef>
                <a:spcPts val="600"/>
              </a:spcBef>
            </a:pPr>
            <a:r>
              <a:rPr lang="zh-CN" altLang="zh-CN" sz="2000" dirty="0"/>
              <a:t>第3个分隔区放操作、操作的参数表和返回类型</a:t>
            </a:r>
            <a:endParaRPr lang="zh-CN" altLang="en-US" sz="2000" dirty="0"/>
          </a:p>
          <a:p>
            <a:pPr marL="285750" indent="-285750">
              <a:lnSpc>
                <a:spcPct val="100000"/>
              </a:lnSpc>
              <a:spcBef>
                <a:spcPts val="600"/>
              </a:spcBef>
            </a:pPr>
            <a:endParaRPr lang="en-US" altLang="zh-CN" sz="2000" dirty="0"/>
          </a:p>
          <a:p>
            <a:pPr marL="285750" indent="-285750">
              <a:lnSpc>
                <a:spcPct val="100000"/>
              </a:lnSpc>
              <a:spcBef>
                <a:spcPts val="600"/>
              </a:spcBef>
            </a:pPr>
            <a:endParaRPr lang="en-US" altLang="zh-CN" sz="2000" dirty="0"/>
          </a:p>
          <a:p>
            <a:pPr marL="285750" indent="-285750">
              <a:lnSpc>
                <a:spcPct val="100000"/>
              </a:lnSpc>
              <a:spcBef>
                <a:spcPts val="600"/>
              </a:spcBef>
            </a:pPr>
            <a:endParaRPr lang="en-US" altLang="zh-CN" sz="2000" dirty="0"/>
          </a:p>
          <a:p>
            <a:pPr marL="0" indent="0">
              <a:lnSpc>
                <a:spcPct val="100000"/>
              </a:lnSpc>
              <a:spcBef>
                <a:spcPts val="600"/>
              </a:spcBef>
              <a:buNone/>
            </a:pPr>
            <a:endParaRPr lang="zh-CN" altLang="en-US" sz="2000" dirty="0"/>
          </a:p>
          <a:p>
            <a:pPr marL="285750" indent="-285750">
              <a:lnSpc>
                <a:spcPct val="100000"/>
              </a:lnSpc>
              <a:spcBef>
                <a:spcPts val="600"/>
              </a:spcBef>
            </a:pPr>
            <a:r>
              <a:rPr lang="zh-CN" altLang="zh-CN" sz="2000" dirty="0"/>
              <a:t>在给出类的UML表示时，可以根据建模的实际情况来选择隐藏属性区或操作区，或者两者都隐藏</a:t>
            </a:r>
            <a:r>
              <a:rPr lang="zh-CN" altLang="en-US" sz="2000" dirty="0"/>
              <a:t>。</a:t>
            </a:r>
            <a:endParaRPr lang="zh-CN" altLang="en-US" sz="2000" dirty="0"/>
          </a:p>
        </p:txBody>
      </p:sp>
      <p:sp>
        <p:nvSpPr>
          <p:cNvPr id="2" name="日期占位符 1"/>
          <p:cNvSpPr>
            <a:spLocks noGrp="1"/>
          </p:cNvSpPr>
          <p:nvPr>
            <p:ph type="dt" sz="half" idx="10"/>
          </p:nvPr>
        </p:nvSpPr>
        <p:spPr/>
        <p:txBody>
          <a:bodyPr/>
          <a:lstStyle/>
          <a:p>
            <a:fld id="{CB1FD95D-F3BB-49CB-BB93-8AF68921356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44388"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120145" y="2406208"/>
            <a:ext cx="5712279" cy="147131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144388"/>
                                        </p:tgtEl>
                                        <p:attrNameLst>
                                          <p:attrName>style.visibility</p:attrName>
                                        </p:attrNameLst>
                                      </p:cBhvr>
                                      <p:to>
                                        <p:strVal val="visible"/>
                                      </p:to>
                                    </p:set>
                                    <p:animEffect transition="in" filter="randombar(horizontal)">
                                      <p:cBhvr>
                                        <p:cTn id="21" dur="500"/>
                                        <p:tgtEl>
                                          <p:spTgt spid="1443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wipe(up)">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类图的组成</a:t>
            </a:r>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4512791" y="828913"/>
            <a:ext cx="4631209" cy="3806854"/>
          </a:xfrm>
          <a:prstGeom prst="rect">
            <a:avLst/>
          </a:prstGeom>
        </p:spPr>
      </p:pic>
      <p:sp>
        <p:nvSpPr>
          <p:cNvPr id="9" name="内容占位符 8"/>
          <p:cNvSpPr>
            <a:spLocks noGrp="1"/>
          </p:cNvSpPr>
          <p:nvPr>
            <p:ph idx="1"/>
          </p:nvPr>
        </p:nvSpPr>
        <p:spPr>
          <a:xfrm>
            <a:off x="768097" y="925167"/>
            <a:ext cx="4417361" cy="3806854"/>
          </a:xfrm>
        </p:spPr>
        <p:txBody>
          <a:bodyPr>
            <a:normAutofit/>
          </a:bodyPr>
          <a:lstStyle/>
          <a:p>
            <a:r>
              <a:rPr lang="zh-CN" altLang="en-US" sz="2000" dirty="0">
                <a:solidFill>
                  <a:srgbClr val="FF0000"/>
                </a:solidFill>
              </a:rPr>
              <a:t>接囗：</a:t>
            </a:r>
            <a:r>
              <a:rPr lang="zh-CN" altLang="en-US" sz="2000" dirty="0"/>
              <a:t>表示的是一系列的操作集合，它指定了一个类所提供的服务。一个接口只指明了实现这一接口的分类器实例应该支持的特性，并没有指定其所刻画的特性是如何实现的。使用两层矩形框表示， 与类图的区别主要是顶端有</a:t>
            </a:r>
            <a:r>
              <a:rPr lang="en-US" altLang="zh-CN" sz="2000" dirty="0"/>
              <a:t>&lt; &lt;interface&gt; &gt; </a:t>
            </a:r>
            <a:r>
              <a:rPr lang="zh-CN" altLang="en-US" sz="2000" dirty="0"/>
              <a:t>显示。</a:t>
            </a:r>
            <a:endParaRPr lang="zh-CN" altLang="en-US" sz="2000" dirty="0"/>
          </a:p>
          <a:p>
            <a:r>
              <a:rPr lang="zh-CN" altLang="en-US" sz="2000" dirty="0"/>
              <a:t>第一行是接囗名称</a:t>
            </a:r>
            <a:endParaRPr lang="zh-CN" altLang="en-US" sz="2000" dirty="0"/>
          </a:p>
          <a:p>
            <a:r>
              <a:rPr lang="zh-CN" altLang="en-US" sz="2000" dirty="0"/>
              <a:t>第二行是接口方法</a:t>
            </a:r>
            <a:endParaRPr lang="zh-CN" altLang="en-US" sz="2000" dirty="0"/>
          </a:p>
        </p:txBody>
      </p:sp>
      <p:pic>
        <p:nvPicPr>
          <p:cNvPr id="10" name="图片 9"/>
          <p:cNvPicPr>
            <a:picLocks noChangeAspect="1"/>
          </p:cNvPicPr>
          <p:nvPr/>
        </p:nvPicPr>
        <p:blipFill>
          <a:blip r:embed="rId2"/>
          <a:stretch>
            <a:fillRect/>
          </a:stretch>
        </p:blipFill>
        <p:spPr>
          <a:xfrm rot="5400000">
            <a:off x="6097006" y="3280508"/>
            <a:ext cx="2042843" cy="35496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mj-ea"/>
              </a:rPr>
              <a:t>类图的抽象层次</a:t>
            </a:r>
            <a:endParaRPr lang="zh-CN" altLang="en-US" dirty="0"/>
          </a:p>
        </p:txBody>
      </p:sp>
      <p:sp>
        <p:nvSpPr>
          <p:cNvPr id="2" name="文本占位符 1"/>
          <p:cNvSpPr>
            <a:spLocks noGrp="1"/>
          </p:cNvSpPr>
          <p:nvPr>
            <p:ph idx="1"/>
          </p:nvPr>
        </p:nvSpPr>
        <p:spPr/>
        <p:txBody>
          <a:bodyPr>
            <a:normAutofit/>
          </a:bodyPr>
          <a:lstStyle/>
          <a:p>
            <a:pPr marL="285750" indent="-285750">
              <a:lnSpc>
                <a:spcPct val="120000"/>
              </a:lnSpc>
              <a:spcBef>
                <a:spcPts val="900"/>
              </a:spcBef>
            </a:pPr>
            <a:r>
              <a:rPr lang="zh-CN" altLang="en-US" sz="2000" dirty="0"/>
              <a:t>在软件开发不同阶段使用的类图具有不同的抽象层次。一般可分为三个层次，即</a:t>
            </a:r>
            <a:r>
              <a:rPr lang="zh-CN" altLang="en-US" sz="2000" b="1" dirty="0"/>
              <a:t>概念层</a:t>
            </a:r>
            <a:r>
              <a:rPr lang="zh-CN" altLang="en-US" sz="2000" dirty="0"/>
              <a:t>，</a:t>
            </a:r>
            <a:r>
              <a:rPr lang="zh-CN" altLang="en-US" sz="2000" b="1" dirty="0"/>
              <a:t>说明层</a:t>
            </a:r>
            <a:r>
              <a:rPr lang="zh-CN" altLang="en-US" sz="2000" dirty="0"/>
              <a:t>和</a:t>
            </a:r>
            <a:r>
              <a:rPr lang="zh-CN" altLang="en-US" sz="2000" b="1" dirty="0"/>
              <a:t>实现层</a:t>
            </a:r>
            <a:r>
              <a:rPr lang="zh-CN" altLang="en-US" sz="2000" dirty="0"/>
              <a:t>。</a:t>
            </a:r>
            <a:endParaRPr lang="zh-CN" altLang="en-US" sz="2000" dirty="0"/>
          </a:p>
          <a:p>
            <a:pPr marL="285750" indent="-285750">
              <a:lnSpc>
                <a:spcPct val="120000"/>
              </a:lnSpc>
              <a:spcBef>
                <a:spcPts val="900"/>
              </a:spcBef>
            </a:pPr>
            <a:r>
              <a:rPr lang="zh-CN" altLang="en-US" sz="2000" dirty="0"/>
              <a:t>类的概念层，说明层和实现层的划分最先是由 </a:t>
            </a:r>
            <a:r>
              <a:rPr lang="en-US" altLang="zh-CN" sz="2000" dirty="0"/>
              <a:t>Steve Cook</a:t>
            </a:r>
            <a:r>
              <a:rPr lang="zh-CN" altLang="en-US" sz="2000" dirty="0"/>
              <a:t>和</a:t>
            </a:r>
            <a:r>
              <a:rPr lang="en-US" altLang="zh-CN" sz="2000" dirty="0"/>
              <a:t>John Daniels</a:t>
            </a:r>
            <a:r>
              <a:rPr lang="zh-CN" altLang="en-US" sz="2000" dirty="0"/>
              <a:t>引入的。</a:t>
            </a:r>
            <a:endParaRPr lang="zh-CN" altLang="en-US" sz="2000" dirty="0"/>
          </a:p>
        </p:txBody>
      </p:sp>
      <p:sp>
        <p:nvSpPr>
          <p:cNvPr id="4" name="日期占位符 3"/>
          <p:cNvSpPr>
            <a:spLocks noGrp="1"/>
          </p:cNvSpPr>
          <p:nvPr>
            <p:ph type="dt" sz="half" idx="10"/>
          </p:nvPr>
        </p:nvSpPr>
        <p:spPr/>
        <p:txBody>
          <a:bodyPr/>
          <a:lstStyle/>
          <a:p>
            <a:fld id="{1AAD4D83-098E-43B1-930D-11D290BFFD7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53956" name="Rectangle 4"/>
          <p:cNvSpPr>
            <a:spLocks noChangeArrowheads="1"/>
          </p:cNvSpPr>
          <p:nvPr/>
        </p:nvSpPr>
        <p:spPr bwMode="auto">
          <a:xfrm>
            <a:off x="1308388" y="2559831"/>
            <a:ext cx="7362249" cy="2293197"/>
          </a:xfrm>
          <a:prstGeom prst="rect">
            <a:avLst/>
          </a:prstGeom>
          <a:noFill/>
          <a:ln w="9525">
            <a:noFill/>
            <a:miter lim="800000"/>
          </a:ln>
          <a:effectLst/>
        </p:spPr>
        <p:txBody>
          <a:bodyPr/>
          <a:lstStyle/>
          <a:p>
            <a:pPr marL="257175" indent="-257175">
              <a:spcBef>
                <a:spcPts val="900"/>
              </a:spcBef>
              <a:buClr>
                <a:srgbClr val="464646"/>
              </a:buClr>
              <a:buSzPct val="70000"/>
              <a:buFont typeface="Arial" panose="020B0604020202020204" pitchFamily="34" charset="0"/>
              <a:buChar char="•"/>
            </a:pPr>
            <a:r>
              <a:rPr kumimoji="1" lang="zh-CN" altLang="en-US" dirty="0">
                <a:solidFill>
                  <a:schemeClr val="accent1">
                    <a:lumMod val="50000"/>
                  </a:schemeClr>
                </a:solidFill>
                <a:latin typeface="+mj-ea"/>
                <a:ea typeface="+mj-ea"/>
              </a:rPr>
              <a:t>概念层</a:t>
            </a:r>
            <a:r>
              <a:rPr kumimoji="1" lang="en-US" altLang="zh-CN" dirty="0">
                <a:solidFill>
                  <a:schemeClr val="accent1">
                    <a:lumMod val="50000"/>
                  </a:schemeClr>
                </a:solidFill>
                <a:latin typeface="+mj-ea"/>
                <a:ea typeface="+mj-ea"/>
              </a:rPr>
              <a:t>(Conceptual)</a:t>
            </a:r>
            <a:r>
              <a:rPr kumimoji="1" lang="zh-CN" altLang="en-US" dirty="0">
                <a:solidFill>
                  <a:schemeClr val="accent1">
                    <a:lumMod val="50000"/>
                  </a:schemeClr>
                </a:solidFill>
                <a:latin typeface="+mj-ea"/>
                <a:ea typeface="+mj-ea"/>
              </a:rPr>
              <a:t>类图描述应用领域中的概念，一般地，这些概念和类有很自然的联系，但两者并没有直接的映射关系。</a:t>
            </a:r>
            <a:endParaRPr kumimoji="1" lang="zh-CN" altLang="en-US" dirty="0">
              <a:solidFill>
                <a:schemeClr val="accent1">
                  <a:lumMod val="50000"/>
                </a:schemeClr>
              </a:solidFill>
              <a:latin typeface="+mj-ea"/>
              <a:ea typeface="+mj-ea"/>
            </a:endParaRPr>
          </a:p>
          <a:p>
            <a:pPr marL="257175" indent="-257175">
              <a:spcBef>
                <a:spcPts val="900"/>
              </a:spcBef>
              <a:buClr>
                <a:srgbClr val="464646"/>
              </a:buClr>
              <a:buSzPct val="70000"/>
              <a:buFont typeface="Arial" panose="020B0604020202020204" pitchFamily="34" charset="0"/>
              <a:buChar char="•"/>
            </a:pPr>
            <a:r>
              <a:rPr kumimoji="1" lang="zh-CN" altLang="en-US" dirty="0">
                <a:solidFill>
                  <a:schemeClr val="accent1">
                    <a:lumMod val="50000"/>
                  </a:schemeClr>
                </a:solidFill>
                <a:latin typeface="+mj-ea"/>
                <a:ea typeface="+mj-ea"/>
              </a:rPr>
              <a:t>说明层</a:t>
            </a:r>
            <a:r>
              <a:rPr kumimoji="1" lang="en-US" altLang="zh-CN" dirty="0">
                <a:solidFill>
                  <a:schemeClr val="accent1">
                    <a:lumMod val="50000"/>
                  </a:schemeClr>
                </a:solidFill>
                <a:latin typeface="+mj-ea"/>
                <a:ea typeface="+mj-ea"/>
              </a:rPr>
              <a:t>(Specification)</a:t>
            </a:r>
            <a:r>
              <a:rPr kumimoji="1" lang="zh-CN" altLang="en-US" dirty="0">
                <a:solidFill>
                  <a:schemeClr val="accent1">
                    <a:lumMod val="50000"/>
                  </a:schemeClr>
                </a:solidFill>
                <a:latin typeface="+mj-ea"/>
                <a:ea typeface="+mj-ea"/>
              </a:rPr>
              <a:t>类图描述软件的接口部分，而不是软件的实现部分。</a:t>
            </a:r>
            <a:endParaRPr kumimoji="1" lang="zh-CN" altLang="en-US" dirty="0">
              <a:solidFill>
                <a:schemeClr val="accent1">
                  <a:lumMod val="50000"/>
                </a:schemeClr>
              </a:solidFill>
              <a:latin typeface="+mj-ea"/>
              <a:ea typeface="+mj-ea"/>
            </a:endParaRPr>
          </a:p>
          <a:p>
            <a:pPr marL="257175" indent="-257175">
              <a:spcBef>
                <a:spcPts val="900"/>
              </a:spcBef>
              <a:buClr>
                <a:srgbClr val="464646"/>
              </a:buClr>
              <a:buSzPct val="70000"/>
              <a:buFont typeface="Arial" panose="020B0604020202020204" pitchFamily="34" charset="0"/>
              <a:buChar char="•"/>
            </a:pPr>
            <a:r>
              <a:rPr kumimoji="1" lang="zh-CN" altLang="en-US" dirty="0">
                <a:solidFill>
                  <a:schemeClr val="accent1">
                    <a:lumMod val="50000"/>
                  </a:schemeClr>
                </a:solidFill>
                <a:latin typeface="+mj-ea"/>
                <a:ea typeface="+mj-ea"/>
              </a:rPr>
              <a:t>实现层</a:t>
            </a:r>
            <a:r>
              <a:rPr kumimoji="1" lang="en-US" altLang="zh-CN" dirty="0">
                <a:solidFill>
                  <a:schemeClr val="accent1">
                    <a:lumMod val="50000"/>
                  </a:schemeClr>
                </a:solidFill>
                <a:latin typeface="+mj-ea"/>
                <a:ea typeface="+mj-ea"/>
              </a:rPr>
              <a:t>(Implementation)</a:t>
            </a:r>
            <a:r>
              <a:rPr kumimoji="1" lang="zh-CN" altLang="en-US" dirty="0">
                <a:solidFill>
                  <a:schemeClr val="accent1">
                    <a:lumMod val="50000"/>
                  </a:schemeClr>
                </a:solidFill>
                <a:latin typeface="+mj-ea"/>
                <a:ea typeface="+mj-ea"/>
              </a:rPr>
              <a:t>类图才真正考虑类的实现问题，揭示实现细节。</a:t>
            </a:r>
            <a:endParaRPr kumimoji="1" lang="zh-CN" altLang="en-US" dirty="0">
              <a:solidFill>
                <a:schemeClr val="accent1">
                  <a:lumMod val="50000"/>
                </a:schemeClr>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53956"/>
                                        </p:tgtEl>
                                        <p:attrNameLst>
                                          <p:attrName>style.visibility</p:attrName>
                                        </p:attrNameLst>
                                      </p:cBhvr>
                                      <p:to>
                                        <p:strVal val="visible"/>
                                      </p:to>
                                    </p:set>
                                    <p:animEffect transition="in" filter="wipe(up)">
                                      <p:cBhvr>
                                        <p:cTn id="16" dur="500"/>
                                        <p:tgtEl>
                                          <p:spTgt spid="253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5395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latin typeface="+mj-ea"/>
              </a:rPr>
              <a:t>类图的三个层次的例子</a:t>
            </a:r>
            <a:endParaRPr lang="zh-CN" altLang="en-US" dirty="0">
              <a:latin typeface="+mj-ea"/>
            </a:endParaRPr>
          </a:p>
        </p:txBody>
      </p:sp>
      <p:sp>
        <p:nvSpPr>
          <p:cNvPr id="3" name="日期占位符 2"/>
          <p:cNvSpPr>
            <a:spLocks noGrp="1"/>
          </p:cNvSpPr>
          <p:nvPr>
            <p:ph type="dt" sz="half" idx="10"/>
          </p:nvPr>
        </p:nvSpPr>
        <p:spPr/>
        <p:txBody>
          <a:bodyPr/>
          <a:lstStyle/>
          <a:p>
            <a:fld id="{BBB394AA-FDAC-4268-B435-32E836F985E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2" name="Group 4"/>
          <p:cNvGrpSpPr/>
          <p:nvPr/>
        </p:nvGrpSpPr>
        <p:grpSpPr bwMode="auto">
          <a:xfrm>
            <a:off x="1639661" y="1534376"/>
            <a:ext cx="5849711" cy="2537184"/>
            <a:chOff x="288" y="1872"/>
            <a:chExt cx="5376" cy="2328"/>
          </a:xfrm>
        </p:grpSpPr>
        <p:pic>
          <p:nvPicPr>
            <p:cNvPr id="254981" name="Picture 5"/>
            <p:cNvPicPr>
              <a:picLocks noChangeAspect="1" noChangeArrowheads="1"/>
            </p:cNvPicPr>
            <p:nvPr/>
          </p:nvPicPr>
          <p:blipFill>
            <a:blip r:embed="rId1" cstate="print"/>
            <a:srcRect/>
            <a:stretch>
              <a:fillRect/>
            </a:stretch>
          </p:blipFill>
          <p:spPr bwMode="auto">
            <a:xfrm>
              <a:off x="288" y="1872"/>
              <a:ext cx="960" cy="800"/>
            </a:xfrm>
            <a:prstGeom prst="rect">
              <a:avLst/>
            </a:prstGeom>
            <a:noFill/>
            <a:ln w="9525">
              <a:noFill/>
              <a:miter lim="800000"/>
              <a:headEnd/>
              <a:tailEnd/>
            </a:ln>
            <a:effectLst/>
          </p:spPr>
        </p:pic>
        <p:pic>
          <p:nvPicPr>
            <p:cNvPr id="254982" name="Picture 6"/>
            <p:cNvPicPr>
              <a:picLocks noChangeAspect="1" noChangeArrowheads="1"/>
            </p:cNvPicPr>
            <p:nvPr/>
          </p:nvPicPr>
          <p:blipFill>
            <a:blip r:embed="rId2" cstate="print"/>
            <a:srcRect/>
            <a:stretch>
              <a:fillRect/>
            </a:stretch>
          </p:blipFill>
          <p:spPr bwMode="auto">
            <a:xfrm>
              <a:off x="1536" y="1872"/>
              <a:ext cx="862" cy="1776"/>
            </a:xfrm>
            <a:prstGeom prst="rect">
              <a:avLst/>
            </a:prstGeom>
            <a:noFill/>
            <a:ln w="9525">
              <a:noFill/>
              <a:miter lim="800000"/>
              <a:headEnd/>
              <a:tailEnd/>
            </a:ln>
            <a:effectLst/>
          </p:spPr>
        </p:pic>
        <p:pic>
          <p:nvPicPr>
            <p:cNvPr id="254983" name="Picture 7"/>
            <p:cNvPicPr>
              <a:picLocks noChangeAspect="1" noChangeArrowheads="1"/>
            </p:cNvPicPr>
            <p:nvPr/>
          </p:nvPicPr>
          <p:blipFill>
            <a:blip r:embed="rId3" cstate="print"/>
            <a:srcRect/>
            <a:stretch>
              <a:fillRect/>
            </a:stretch>
          </p:blipFill>
          <p:spPr bwMode="auto">
            <a:xfrm>
              <a:off x="2592" y="1872"/>
              <a:ext cx="3072" cy="1790"/>
            </a:xfrm>
            <a:prstGeom prst="rect">
              <a:avLst/>
            </a:prstGeom>
            <a:noFill/>
            <a:ln w="9525">
              <a:noFill/>
              <a:miter lim="800000"/>
              <a:headEnd/>
              <a:tailEnd/>
            </a:ln>
            <a:effectLst/>
          </p:spPr>
        </p:pic>
        <p:sp>
          <p:nvSpPr>
            <p:cNvPr id="254984" name="Text Box 8"/>
            <p:cNvSpPr txBox="1">
              <a:spLocks noChangeArrowheads="1"/>
            </p:cNvSpPr>
            <p:nvPr/>
          </p:nvSpPr>
          <p:spPr bwMode="auto">
            <a:xfrm>
              <a:off x="373" y="3819"/>
              <a:ext cx="912" cy="381"/>
            </a:xfrm>
            <a:prstGeom prst="rect">
              <a:avLst/>
            </a:prstGeom>
            <a:noFill/>
            <a:ln w="9525">
              <a:noFill/>
              <a:miter lim="800000"/>
            </a:ln>
            <a:effectLst/>
          </p:spPr>
          <p:txBody>
            <a:bodyPr wrap="none">
              <a:spAutoFit/>
            </a:bodyPr>
            <a:lstStyle/>
            <a:p>
              <a:r>
                <a:rPr kumimoji="1" lang="zh-CN" altLang="en-US" sz="2100">
                  <a:solidFill>
                    <a:prstClr val="black"/>
                  </a:solidFill>
                  <a:latin typeface="Arial" panose="020B0604020202020204" pitchFamily="34" charset="0"/>
                </a:rPr>
                <a:t>概念层</a:t>
              </a:r>
              <a:endParaRPr kumimoji="1" lang="zh-CN" altLang="en-US" sz="2100">
                <a:solidFill>
                  <a:prstClr val="black"/>
                </a:solidFill>
                <a:latin typeface="Arial" panose="020B0604020202020204" pitchFamily="34" charset="0"/>
              </a:endParaRPr>
            </a:p>
          </p:txBody>
        </p:sp>
        <p:sp>
          <p:nvSpPr>
            <p:cNvPr id="254985" name="Text Box 9"/>
            <p:cNvSpPr txBox="1">
              <a:spLocks noChangeArrowheads="1"/>
            </p:cNvSpPr>
            <p:nvPr/>
          </p:nvSpPr>
          <p:spPr bwMode="auto">
            <a:xfrm>
              <a:off x="1584" y="3807"/>
              <a:ext cx="912" cy="381"/>
            </a:xfrm>
            <a:prstGeom prst="rect">
              <a:avLst/>
            </a:prstGeom>
            <a:noFill/>
            <a:ln w="9525">
              <a:noFill/>
              <a:miter lim="800000"/>
            </a:ln>
            <a:effectLst/>
          </p:spPr>
          <p:txBody>
            <a:bodyPr wrap="none">
              <a:spAutoFit/>
            </a:bodyPr>
            <a:lstStyle/>
            <a:p>
              <a:r>
                <a:rPr kumimoji="1" lang="zh-CN" altLang="en-US" sz="2100">
                  <a:solidFill>
                    <a:prstClr val="black"/>
                  </a:solidFill>
                  <a:latin typeface="Arial" panose="020B0604020202020204" pitchFamily="34" charset="0"/>
                </a:rPr>
                <a:t>说明层</a:t>
              </a:r>
              <a:endParaRPr kumimoji="1" lang="zh-CN" altLang="en-US" sz="2100">
                <a:solidFill>
                  <a:prstClr val="black"/>
                </a:solidFill>
                <a:latin typeface="Arial" panose="020B0604020202020204" pitchFamily="34" charset="0"/>
              </a:endParaRPr>
            </a:p>
          </p:txBody>
        </p:sp>
        <p:sp>
          <p:nvSpPr>
            <p:cNvPr id="254986" name="Text Box 10"/>
            <p:cNvSpPr txBox="1">
              <a:spLocks noChangeArrowheads="1"/>
            </p:cNvSpPr>
            <p:nvPr/>
          </p:nvSpPr>
          <p:spPr bwMode="auto">
            <a:xfrm>
              <a:off x="3445" y="3807"/>
              <a:ext cx="912" cy="381"/>
            </a:xfrm>
            <a:prstGeom prst="rect">
              <a:avLst/>
            </a:prstGeom>
            <a:noFill/>
            <a:ln w="9525">
              <a:noFill/>
              <a:miter lim="800000"/>
            </a:ln>
            <a:effectLst/>
          </p:spPr>
          <p:txBody>
            <a:bodyPr wrap="none">
              <a:spAutoFit/>
            </a:bodyPr>
            <a:lstStyle/>
            <a:p>
              <a:r>
                <a:rPr kumimoji="1" lang="zh-CN" altLang="en-US" sz="2100">
                  <a:solidFill>
                    <a:prstClr val="black"/>
                  </a:solidFill>
                  <a:latin typeface="Arial" panose="020B0604020202020204" pitchFamily="34" charset="0"/>
                </a:rPr>
                <a:t>实现层</a:t>
              </a:r>
              <a:endParaRPr kumimoji="1" lang="zh-CN" altLang="en-US" sz="2100">
                <a:solidFill>
                  <a:prstClr val="black"/>
                </a:solidFill>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zh-CN" dirty="0">
                <a:latin typeface="华文细黑" panose="02010600040101010101" pitchFamily="2" charset="-122"/>
              </a:rPr>
              <a:t>类的名字</a:t>
            </a:r>
            <a:endParaRPr lang="en-US" altLang="zh-CN" dirty="0"/>
          </a:p>
        </p:txBody>
      </p:sp>
      <p:sp>
        <p:nvSpPr>
          <p:cNvPr id="2" name="文本占位符 1"/>
          <p:cNvSpPr>
            <a:spLocks noGrp="1"/>
          </p:cNvSpPr>
          <p:nvPr>
            <p:ph idx="1"/>
          </p:nvPr>
        </p:nvSpPr>
        <p:spPr/>
        <p:txBody>
          <a:bodyPr>
            <a:normAutofit/>
          </a:bodyPr>
          <a:lstStyle/>
          <a:p>
            <a:pPr>
              <a:lnSpc>
                <a:spcPct val="130000"/>
              </a:lnSpc>
            </a:pPr>
            <a:r>
              <a:rPr lang="zh-CN" altLang="en-US" sz="2400" dirty="0"/>
              <a:t>每个类都必须有一个名字，用来区分其它的类。例：</a:t>
            </a:r>
            <a:r>
              <a:rPr lang="en-US" altLang="zh-CN" sz="2400" dirty="0"/>
              <a:t>Flight</a:t>
            </a:r>
            <a:r>
              <a:rPr lang="zh-CN" altLang="en-US" sz="2400" dirty="0"/>
              <a:t>，</a:t>
            </a:r>
            <a:r>
              <a:rPr lang="en-US" altLang="zh-CN" sz="2400" dirty="0" err="1"/>
              <a:t>BankAccount</a:t>
            </a:r>
            <a:r>
              <a:rPr lang="zh-CN" altLang="en-US" sz="2400" dirty="0"/>
              <a:t>。</a:t>
            </a:r>
            <a:endParaRPr lang="en-US" altLang="zh-CN" sz="2400" dirty="0"/>
          </a:p>
          <a:p>
            <a:pPr>
              <a:lnSpc>
                <a:spcPct val="130000"/>
              </a:lnSpc>
            </a:pPr>
            <a:endParaRPr lang="zh-CN" altLang="en-US" sz="2400" dirty="0"/>
          </a:p>
        </p:txBody>
      </p:sp>
      <p:sp>
        <p:nvSpPr>
          <p:cNvPr id="3" name="日期占位符 2"/>
          <p:cNvSpPr>
            <a:spLocks noGrp="1"/>
          </p:cNvSpPr>
          <p:nvPr>
            <p:ph type="dt" sz="half" idx="10"/>
          </p:nvPr>
        </p:nvSpPr>
        <p:spPr/>
        <p:txBody>
          <a:bodyPr/>
          <a:lstStyle/>
          <a:p>
            <a:fld id="{3117C985-2CE4-4333-982F-8A524658F93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45412" name="AutoShape 4"/>
          <p:cNvSpPr>
            <a:spLocks noChangeArrowheads="1"/>
          </p:cNvSpPr>
          <p:nvPr/>
        </p:nvSpPr>
        <p:spPr bwMode="auto">
          <a:xfrm>
            <a:off x="1094321" y="2055802"/>
            <a:ext cx="7380232" cy="2469899"/>
          </a:xfrm>
          <a:prstGeom prst="roundRect">
            <a:avLst>
              <a:gd name="adj" fmla="val 16667"/>
            </a:avLst>
          </a:prstGeom>
          <a:solidFill>
            <a:schemeClr val="bg1"/>
          </a:solidFill>
          <a:ln w="38100" algn="ctr">
            <a:solidFill>
              <a:srgbClr val="FF00FF"/>
            </a:solidFill>
            <a:round/>
          </a:ln>
          <a:effectLst>
            <a:outerShdw dist="107763" dir="2700000" algn="ctr" rotWithShape="0">
              <a:schemeClr val="bg2">
                <a:alpha val="50000"/>
              </a:schemeClr>
            </a:outerShdw>
          </a:effectLst>
        </p:spPr>
        <p:txBody>
          <a:bodyPr/>
          <a:lstStyle/>
          <a:p>
            <a:pPr marL="257175" indent="-257175">
              <a:lnSpc>
                <a:spcPct val="120000"/>
              </a:lnSpc>
              <a:spcBef>
                <a:spcPts val="900"/>
              </a:spcBef>
            </a:pPr>
            <a:r>
              <a:rPr lang="en-US" altLang="zh-CN" sz="2000" b="1" dirty="0">
                <a:solidFill>
                  <a:prstClr val="black"/>
                </a:solidFill>
                <a:latin typeface="+mj-ea"/>
                <a:ea typeface="+mj-ea"/>
              </a:rPr>
              <a:t>UML</a:t>
            </a:r>
            <a:r>
              <a:rPr lang="zh-CN" altLang="en-US" sz="2000" b="1" dirty="0">
                <a:solidFill>
                  <a:prstClr val="black"/>
                </a:solidFill>
                <a:latin typeface="+mj-ea"/>
                <a:ea typeface="+mj-ea"/>
              </a:rPr>
              <a:t>约定：</a:t>
            </a:r>
            <a:endParaRPr lang="zh-CN" altLang="en-US" sz="2000" b="1" dirty="0">
              <a:solidFill>
                <a:prstClr val="black"/>
              </a:solidFill>
              <a:latin typeface="+mj-ea"/>
              <a:ea typeface="+mj-ea"/>
            </a:endParaRPr>
          </a:p>
          <a:p>
            <a:pPr marL="257175" indent="-257175">
              <a:lnSpc>
                <a:spcPct val="120000"/>
              </a:lnSpc>
              <a:spcBef>
                <a:spcPts val="900"/>
              </a:spcBef>
              <a:buFontTx/>
              <a:buAutoNum type="arabicPeriod"/>
            </a:pPr>
            <a:r>
              <a:rPr lang="zh-CN" altLang="en-US" sz="2000" dirty="0">
                <a:solidFill>
                  <a:prstClr val="black"/>
                </a:solidFill>
                <a:latin typeface="+mj-ea"/>
                <a:ea typeface="+mj-ea"/>
              </a:rPr>
              <a:t>类名的首字母要大写。</a:t>
            </a:r>
            <a:endParaRPr lang="zh-CN" altLang="en-US" sz="2000" dirty="0">
              <a:solidFill>
                <a:prstClr val="black"/>
              </a:solidFill>
              <a:latin typeface="+mj-ea"/>
              <a:ea typeface="+mj-ea"/>
            </a:endParaRPr>
          </a:p>
          <a:p>
            <a:pPr marL="257175" indent="-257175">
              <a:lnSpc>
                <a:spcPct val="120000"/>
              </a:lnSpc>
              <a:spcBef>
                <a:spcPts val="900"/>
              </a:spcBef>
              <a:buFontTx/>
              <a:buAutoNum type="arabicPeriod"/>
            </a:pPr>
            <a:r>
              <a:rPr lang="zh-CN" altLang="en-US" sz="2000" dirty="0">
                <a:solidFill>
                  <a:prstClr val="black"/>
                </a:solidFill>
                <a:latin typeface="+mj-ea"/>
                <a:ea typeface="+mj-ea"/>
              </a:rPr>
              <a:t>如果类名是由两个单词组成，那么将两个单词合并，第二个单词首字母大写。</a:t>
            </a:r>
            <a:endParaRPr lang="zh-CN" altLang="en-US" sz="2000" dirty="0">
              <a:solidFill>
                <a:prstClr val="black"/>
              </a:solidFill>
              <a:latin typeface="+mj-ea"/>
              <a:ea typeface="+mj-ea"/>
            </a:endParaRPr>
          </a:p>
          <a:p>
            <a:pPr marL="257175" indent="-257175">
              <a:lnSpc>
                <a:spcPct val="120000"/>
              </a:lnSpc>
              <a:spcBef>
                <a:spcPts val="900"/>
              </a:spcBef>
              <a:buFontTx/>
              <a:buAutoNum type="arabicPeriod"/>
            </a:pPr>
            <a:r>
              <a:rPr lang="zh-CN" altLang="en-US" sz="2000" dirty="0">
                <a:solidFill>
                  <a:prstClr val="black"/>
                </a:solidFill>
                <a:latin typeface="+mj-ea"/>
                <a:ea typeface="+mj-ea"/>
              </a:rPr>
              <a:t>正体字说明类是可被实例化的，斜体字说明类为抽象类。</a:t>
            </a:r>
            <a:endParaRPr lang="zh-CN" altLang="en-US" sz="2000" dirty="0">
              <a:solidFill>
                <a:prstClr val="black"/>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45412"/>
                                        </p:tgtEl>
                                        <p:attrNameLst>
                                          <p:attrName>style.visibility</p:attrName>
                                        </p:attrNameLst>
                                      </p:cBhvr>
                                      <p:to>
                                        <p:strVal val="visible"/>
                                      </p:to>
                                    </p:set>
                                    <p:animEffect transition="in" filter="randombar(horizontal)">
                                      <p:cBhvr>
                                        <p:cTn id="12" dur="500"/>
                                        <p:tgtEl>
                                          <p:spTgt spid="145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454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类的属性</a:t>
            </a:r>
            <a:endParaRPr lang="zh-CN" altLang="en-US" dirty="0"/>
          </a:p>
        </p:txBody>
      </p:sp>
      <p:sp>
        <p:nvSpPr>
          <p:cNvPr id="2" name="文本占位符 1"/>
          <p:cNvSpPr>
            <a:spLocks noGrp="1"/>
          </p:cNvSpPr>
          <p:nvPr>
            <p:ph idx="1"/>
          </p:nvPr>
        </p:nvSpPr>
        <p:spPr/>
        <p:txBody>
          <a:bodyPr>
            <a:normAutofit/>
          </a:bodyPr>
          <a:lstStyle/>
          <a:p>
            <a:r>
              <a:rPr lang="zh-CN" altLang="en-US" sz="2000" dirty="0"/>
              <a:t>例：</a:t>
            </a:r>
            <a:r>
              <a:rPr lang="en-US" altLang="zh-CN" sz="2000" dirty="0"/>
              <a:t>public </a:t>
            </a:r>
            <a:r>
              <a:rPr lang="en-US" altLang="zh-CN" sz="2000" dirty="0" err="1"/>
              <a:t>flightNumber</a:t>
            </a:r>
            <a:r>
              <a:rPr lang="zh-CN" altLang="en-US" sz="2000" dirty="0"/>
              <a:t>：</a:t>
            </a:r>
            <a:r>
              <a:rPr lang="en-US" altLang="zh-CN" sz="2000" dirty="0"/>
              <a:t>Integer</a:t>
            </a:r>
            <a:r>
              <a:rPr lang="zh-CN" altLang="en-US" sz="2000" dirty="0"/>
              <a:t>；</a:t>
            </a:r>
            <a:endParaRPr lang="zh-CN" altLang="en-US" sz="2000" dirty="0"/>
          </a:p>
        </p:txBody>
      </p:sp>
      <p:sp>
        <p:nvSpPr>
          <p:cNvPr id="3" name="日期占位符 2"/>
          <p:cNvSpPr>
            <a:spLocks noGrp="1"/>
          </p:cNvSpPr>
          <p:nvPr>
            <p:ph type="dt" sz="half" idx="10"/>
          </p:nvPr>
        </p:nvSpPr>
        <p:spPr/>
        <p:txBody>
          <a:bodyPr/>
          <a:lstStyle/>
          <a:p>
            <a:fld id="{EF4B4812-383A-42A0-9F57-72DDE36759F5}"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46436" name="AutoShape 4"/>
          <p:cNvSpPr>
            <a:spLocks noChangeArrowheads="1"/>
          </p:cNvSpPr>
          <p:nvPr/>
        </p:nvSpPr>
        <p:spPr bwMode="auto">
          <a:xfrm>
            <a:off x="370390" y="1377384"/>
            <a:ext cx="8487860" cy="3611933"/>
          </a:xfrm>
          <a:prstGeom prst="roundRect">
            <a:avLst>
              <a:gd name="adj" fmla="val 16667"/>
            </a:avLst>
          </a:prstGeom>
          <a:solidFill>
            <a:schemeClr val="bg1"/>
          </a:solidFill>
          <a:ln w="38100" algn="ctr">
            <a:solidFill>
              <a:srgbClr val="FF00FF"/>
            </a:solidFill>
            <a:round/>
          </a:ln>
          <a:effectLst>
            <a:outerShdw dist="107763" dir="2700000" algn="ctr" rotWithShape="0">
              <a:schemeClr val="bg2">
                <a:alpha val="50000"/>
              </a:schemeClr>
            </a:outerShdw>
          </a:effectLst>
        </p:spPr>
        <p:txBody>
          <a:bodyPr/>
          <a:lstStyle/>
          <a:p>
            <a:pPr marL="257175" indent="-257175">
              <a:lnSpc>
                <a:spcPct val="110000"/>
              </a:lnSpc>
            </a:pPr>
            <a:r>
              <a:rPr lang="en-US" altLang="zh-CN" b="1" dirty="0">
                <a:solidFill>
                  <a:prstClr val="black"/>
                </a:solidFill>
                <a:latin typeface="+mj-ea"/>
                <a:ea typeface="+mj-ea"/>
              </a:rPr>
              <a:t>UML</a:t>
            </a:r>
            <a:r>
              <a:rPr lang="zh-CN" altLang="en-US" b="1" dirty="0">
                <a:solidFill>
                  <a:prstClr val="black"/>
                </a:solidFill>
                <a:latin typeface="+mj-ea"/>
                <a:ea typeface="+mj-ea"/>
              </a:rPr>
              <a:t>约定：</a:t>
            </a:r>
            <a:endParaRPr lang="zh-CN" altLang="en-US" b="1" dirty="0">
              <a:solidFill>
                <a:prstClr val="black"/>
              </a:solidFill>
              <a:latin typeface="+mj-ea"/>
              <a:ea typeface="+mj-ea"/>
            </a:endParaRPr>
          </a:p>
          <a:p>
            <a:pPr marL="257175" indent="-257175">
              <a:lnSpc>
                <a:spcPct val="110000"/>
              </a:lnSpc>
              <a:buFontTx/>
              <a:buAutoNum type="arabicPeriod"/>
            </a:pPr>
            <a:r>
              <a:rPr lang="zh-CN" altLang="en-US" dirty="0">
                <a:solidFill>
                  <a:prstClr val="black"/>
                </a:solidFill>
                <a:latin typeface="+mj-ea"/>
                <a:ea typeface="+mj-ea"/>
              </a:rPr>
              <a:t>单个单词的属性名小写。</a:t>
            </a:r>
            <a:endParaRPr lang="zh-CN" altLang="en-US" dirty="0">
              <a:solidFill>
                <a:prstClr val="black"/>
              </a:solidFill>
              <a:latin typeface="+mj-ea"/>
              <a:ea typeface="+mj-ea"/>
            </a:endParaRPr>
          </a:p>
          <a:p>
            <a:pPr marL="257175" indent="-257175">
              <a:lnSpc>
                <a:spcPct val="110000"/>
              </a:lnSpc>
              <a:buFontTx/>
              <a:buAutoNum type="arabicPeriod"/>
            </a:pPr>
            <a:r>
              <a:rPr lang="zh-CN" altLang="en-US" dirty="0">
                <a:solidFill>
                  <a:prstClr val="black"/>
                </a:solidFill>
                <a:latin typeface="+mj-ea"/>
                <a:ea typeface="+mj-ea"/>
              </a:rPr>
              <a:t>如果属性名是由多个单词组成，那么将多个单词合并，除了第一个单词外。其它单词首字母大写。</a:t>
            </a:r>
            <a:endParaRPr lang="zh-CN" altLang="en-US" dirty="0">
              <a:solidFill>
                <a:prstClr val="black"/>
              </a:solidFill>
              <a:latin typeface="+mj-ea"/>
              <a:ea typeface="+mj-ea"/>
            </a:endParaRPr>
          </a:p>
          <a:p>
            <a:pPr marL="257175" indent="-257175">
              <a:lnSpc>
                <a:spcPct val="110000"/>
              </a:lnSpc>
              <a:buFontTx/>
              <a:buAutoNum type="arabicPeriod"/>
            </a:pPr>
            <a:r>
              <a:rPr lang="zh-CN" altLang="en-US" dirty="0">
                <a:solidFill>
                  <a:prstClr val="black"/>
                </a:solidFill>
                <a:latin typeface="+mj-ea"/>
                <a:ea typeface="+mj-ea"/>
              </a:rPr>
              <a:t>属性的语法：</a:t>
            </a:r>
            <a:r>
              <a:rPr lang="zh-CN" altLang="en-US" dirty="0">
                <a:solidFill>
                  <a:srgbClr val="FF3300"/>
                </a:solidFill>
                <a:latin typeface="+mj-ea"/>
                <a:ea typeface="+mj-ea"/>
              </a:rPr>
              <a:t>可见性 名称</a:t>
            </a:r>
            <a:r>
              <a:rPr lang="en-US" altLang="zh-CN" dirty="0">
                <a:solidFill>
                  <a:srgbClr val="FF3300"/>
                </a:solidFill>
                <a:latin typeface="+mj-ea"/>
                <a:ea typeface="+mj-ea"/>
              </a:rPr>
              <a:t>:</a:t>
            </a:r>
            <a:r>
              <a:rPr lang="zh-CN" altLang="en-US" dirty="0">
                <a:solidFill>
                  <a:srgbClr val="FF3300"/>
                </a:solidFill>
                <a:latin typeface="+mj-ea"/>
                <a:ea typeface="+mj-ea"/>
              </a:rPr>
              <a:t>类型</a:t>
            </a:r>
            <a:r>
              <a:rPr lang="en-US" altLang="zh-CN" dirty="0">
                <a:solidFill>
                  <a:srgbClr val="FF3300"/>
                </a:solidFill>
                <a:latin typeface="+mj-ea"/>
                <a:ea typeface="+mj-ea"/>
              </a:rPr>
              <a:t>=</a:t>
            </a:r>
            <a:r>
              <a:rPr lang="zh-CN" altLang="en-US" dirty="0">
                <a:solidFill>
                  <a:srgbClr val="FF3300"/>
                </a:solidFill>
                <a:latin typeface="+mj-ea"/>
                <a:ea typeface="+mj-ea"/>
              </a:rPr>
              <a:t>默认值</a:t>
            </a:r>
            <a:r>
              <a:rPr lang="en-US" altLang="zh-CN" dirty="0">
                <a:solidFill>
                  <a:srgbClr val="FF3300"/>
                </a:solidFill>
                <a:latin typeface="+mj-ea"/>
                <a:ea typeface="+mj-ea"/>
              </a:rPr>
              <a:t>[</a:t>
            </a:r>
            <a:r>
              <a:rPr lang="zh-CN" altLang="en-US" dirty="0">
                <a:solidFill>
                  <a:srgbClr val="FF3300"/>
                </a:solidFill>
                <a:latin typeface="+mj-ea"/>
                <a:ea typeface="+mj-ea"/>
              </a:rPr>
              <a:t>约束特性</a:t>
            </a:r>
            <a:r>
              <a:rPr lang="en-US" altLang="zh-CN" dirty="0">
                <a:solidFill>
                  <a:srgbClr val="FF3300"/>
                </a:solidFill>
                <a:latin typeface="+mj-ea"/>
                <a:ea typeface="+mj-ea"/>
              </a:rPr>
              <a:t>]</a:t>
            </a:r>
            <a:endParaRPr lang="en-US" altLang="zh-CN" dirty="0">
              <a:solidFill>
                <a:srgbClr val="FF3300"/>
              </a:solidFill>
              <a:latin typeface="+mj-ea"/>
              <a:ea typeface="+mj-ea"/>
            </a:endParaRPr>
          </a:p>
          <a:p>
            <a:pPr marL="600075" lvl="1" indent="-257175">
              <a:lnSpc>
                <a:spcPct val="110000"/>
              </a:lnSpc>
              <a:buFontTx/>
              <a:buChar char="•"/>
            </a:pPr>
            <a:r>
              <a:rPr lang="zh-CN" altLang="en-US" dirty="0">
                <a:solidFill>
                  <a:prstClr val="black"/>
                </a:solidFill>
                <a:latin typeface="+mj-ea"/>
                <a:ea typeface="+mj-ea"/>
              </a:rPr>
              <a:t>可见性表示该属性对类外的元素是否可见。常用的有</a:t>
            </a:r>
            <a:r>
              <a:rPr lang="zh-CN" altLang="en-US" dirty="0">
                <a:solidFill>
                  <a:srgbClr val="FF0000"/>
                </a:solidFill>
                <a:latin typeface="+mj-ea"/>
                <a:ea typeface="+mj-ea"/>
              </a:rPr>
              <a:t>公有</a:t>
            </a:r>
            <a:r>
              <a:rPr lang="en-US" altLang="zh-CN" dirty="0">
                <a:solidFill>
                  <a:srgbClr val="FF0000"/>
                </a:solidFill>
                <a:latin typeface="+mj-ea"/>
                <a:ea typeface="+mj-ea"/>
              </a:rPr>
              <a:t>(+)</a:t>
            </a:r>
            <a:r>
              <a:rPr lang="zh-CN" altLang="en-US" dirty="0">
                <a:solidFill>
                  <a:srgbClr val="FF0000"/>
                </a:solidFill>
                <a:latin typeface="+mj-ea"/>
                <a:ea typeface="+mj-ea"/>
              </a:rPr>
              <a:t>、受保护（</a:t>
            </a:r>
            <a:r>
              <a:rPr lang="en-US" altLang="zh-CN" dirty="0">
                <a:solidFill>
                  <a:srgbClr val="FF0000"/>
                </a:solidFill>
                <a:latin typeface="+mj-ea"/>
                <a:ea typeface="+mj-ea"/>
              </a:rPr>
              <a:t>#</a:t>
            </a:r>
            <a:r>
              <a:rPr lang="zh-CN" altLang="en-US" dirty="0">
                <a:solidFill>
                  <a:srgbClr val="FF0000"/>
                </a:solidFill>
                <a:latin typeface="+mj-ea"/>
                <a:ea typeface="+mj-ea"/>
              </a:rPr>
              <a:t>）和私有（</a:t>
            </a:r>
            <a:r>
              <a:rPr lang="en-US" altLang="zh-CN" dirty="0">
                <a:solidFill>
                  <a:srgbClr val="FF0000"/>
                </a:solidFill>
                <a:latin typeface="+mj-ea"/>
                <a:ea typeface="+mj-ea"/>
              </a:rPr>
              <a:t>-</a:t>
            </a:r>
            <a:r>
              <a:rPr lang="zh-CN" altLang="en-US" dirty="0">
                <a:solidFill>
                  <a:srgbClr val="FF0000"/>
                </a:solidFill>
                <a:latin typeface="+mj-ea"/>
                <a:ea typeface="+mj-ea"/>
              </a:rPr>
              <a:t>）</a:t>
            </a:r>
            <a:r>
              <a:rPr lang="zh-CN" altLang="en-US" dirty="0">
                <a:solidFill>
                  <a:prstClr val="black"/>
                </a:solidFill>
                <a:latin typeface="+mj-ea"/>
                <a:ea typeface="+mj-ea"/>
              </a:rPr>
              <a:t>三种。</a:t>
            </a:r>
            <a:endParaRPr lang="zh-CN" altLang="en-US" dirty="0">
              <a:solidFill>
                <a:prstClr val="black"/>
              </a:solidFill>
              <a:latin typeface="+mj-ea"/>
              <a:ea typeface="+mj-ea"/>
            </a:endParaRPr>
          </a:p>
          <a:p>
            <a:pPr marL="600075" lvl="1" indent="-257175">
              <a:lnSpc>
                <a:spcPct val="110000"/>
              </a:lnSpc>
              <a:buFontTx/>
              <a:buChar char="•"/>
            </a:pPr>
            <a:r>
              <a:rPr lang="zh-CN" altLang="en-US" dirty="0">
                <a:solidFill>
                  <a:prstClr val="black"/>
                </a:solidFill>
                <a:latin typeface="+mj-ea"/>
                <a:ea typeface="+mj-ea"/>
              </a:rPr>
              <a:t>名称表示属性的名称，是一个字符串。</a:t>
            </a:r>
            <a:endParaRPr lang="zh-CN" altLang="en-US" dirty="0">
              <a:solidFill>
                <a:prstClr val="black"/>
              </a:solidFill>
              <a:latin typeface="+mj-ea"/>
              <a:ea typeface="+mj-ea"/>
            </a:endParaRPr>
          </a:p>
          <a:p>
            <a:pPr marL="600075" lvl="1" indent="-257175">
              <a:lnSpc>
                <a:spcPct val="110000"/>
              </a:lnSpc>
              <a:buFontTx/>
              <a:buChar char="•"/>
            </a:pPr>
            <a:r>
              <a:rPr lang="zh-CN" altLang="en-US" dirty="0">
                <a:solidFill>
                  <a:prstClr val="black"/>
                </a:solidFill>
                <a:latin typeface="+mj-ea"/>
                <a:ea typeface="+mj-ea"/>
              </a:rPr>
              <a:t>类型定义属性的种类（基本类型或自定义类型）</a:t>
            </a:r>
            <a:endParaRPr lang="zh-CN" altLang="en-US" dirty="0">
              <a:solidFill>
                <a:prstClr val="black"/>
              </a:solidFill>
              <a:latin typeface="+mj-ea"/>
              <a:ea typeface="+mj-ea"/>
            </a:endParaRPr>
          </a:p>
          <a:p>
            <a:pPr marL="600075" lvl="1" indent="-257175">
              <a:lnSpc>
                <a:spcPct val="110000"/>
              </a:lnSpc>
              <a:buFontTx/>
              <a:buChar char="•"/>
            </a:pPr>
            <a:r>
              <a:rPr lang="zh-CN" altLang="en-US" dirty="0">
                <a:solidFill>
                  <a:prstClr val="black"/>
                </a:solidFill>
                <a:latin typeface="+mj-ea"/>
                <a:ea typeface="+mj-ea"/>
              </a:rPr>
              <a:t>默认值表示属性的初始值。</a:t>
            </a:r>
            <a:endParaRPr lang="zh-CN" altLang="en-US" dirty="0">
              <a:solidFill>
                <a:prstClr val="black"/>
              </a:solidFill>
              <a:latin typeface="+mj-ea"/>
              <a:ea typeface="+mj-ea"/>
            </a:endParaRPr>
          </a:p>
          <a:p>
            <a:pPr marL="600075" lvl="1" indent="-257175">
              <a:lnSpc>
                <a:spcPct val="110000"/>
              </a:lnSpc>
              <a:buFontTx/>
              <a:buChar char="•"/>
            </a:pPr>
            <a:r>
              <a:rPr lang="zh-CN" altLang="en-US" dirty="0">
                <a:solidFill>
                  <a:prstClr val="black"/>
                </a:solidFill>
                <a:latin typeface="+mj-ea"/>
                <a:ea typeface="+mj-ea"/>
              </a:rPr>
              <a:t>约束特性表示描述对属性的约束。</a:t>
            </a:r>
            <a:endParaRPr lang="zh-CN" altLang="en-US" dirty="0">
              <a:solidFill>
                <a:prstClr val="black"/>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46436"/>
                                        </p:tgtEl>
                                        <p:attrNameLst>
                                          <p:attrName>style.visibility</p:attrName>
                                        </p:attrNameLst>
                                      </p:cBhvr>
                                      <p:to>
                                        <p:strVal val="visible"/>
                                      </p:to>
                                    </p:set>
                                    <p:animEffect transition="in" filter="randombar(horizontal)">
                                      <p:cBhvr>
                                        <p:cTn id="12" dur="500"/>
                                        <p:tgtEl>
                                          <p:spTgt spid="14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4643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类的操作</a:t>
            </a:r>
            <a:endParaRPr lang="zh-CN" altLang="en-US" dirty="0"/>
          </a:p>
        </p:txBody>
      </p:sp>
      <p:sp>
        <p:nvSpPr>
          <p:cNvPr id="2" name="文本占位符 1"/>
          <p:cNvSpPr>
            <a:spLocks noGrp="1"/>
          </p:cNvSpPr>
          <p:nvPr>
            <p:ph idx="1"/>
          </p:nvPr>
        </p:nvSpPr>
        <p:spPr/>
        <p:txBody>
          <a:bodyPr/>
          <a:lstStyle/>
          <a:p>
            <a:pPr>
              <a:lnSpc>
                <a:spcPct val="110000"/>
              </a:lnSpc>
            </a:pPr>
            <a:r>
              <a:rPr lang="zh-CN" altLang="en-US" sz="1800" dirty="0"/>
              <a:t>在说明层，主要给出重要的公有操作，在实现层可以给出私有的和受保护的操作。</a:t>
            </a:r>
            <a:endParaRPr lang="en-US" altLang="zh-CN" sz="1800" dirty="0"/>
          </a:p>
          <a:p>
            <a:pPr>
              <a:lnSpc>
                <a:spcPct val="110000"/>
              </a:lnSpc>
            </a:pPr>
            <a:r>
              <a:rPr lang="zh-CN" altLang="en-US" sz="1800" dirty="0"/>
              <a:t>例：</a:t>
            </a:r>
            <a:r>
              <a:rPr lang="en-US" altLang="zh-CN" sz="1800" dirty="0" err="1"/>
              <a:t>getArriveTime</a:t>
            </a:r>
            <a:r>
              <a:rPr lang="zh-CN" altLang="en-US" sz="1800" dirty="0"/>
              <a:t>（）：</a:t>
            </a:r>
            <a:r>
              <a:rPr lang="en-US" altLang="zh-CN" sz="1800" dirty="0"/>
              <a:t>Date</a:t>
            </a:r>
            <a:endParaRPr lang="en-US" altLang="zh-CN" sz="1800" dirty="0"/>
          </a:p>
        </p:txBody>
      </p:sp>
      <p:sp>
        <p:nvSpPr>
          <p:cNvPr id="3" name="日期占位符 2"/>
          <p:cNvSpPr>
            <a:spLocks noGrp="1"/>
          </p:cNvSpPr>
          <p:nvPr>
            <p:ph type="dt" sz="half" idx="10"/>
          </p:nvPr>
        </p:nvSpPr>
        <p:spPr/>
        <p:txBody>
          <a:bodyPr/>
          <a:lstStyle/>
          <a:p>
            <a:fld id="{8FF4DDF7-69A6-4AF7-AA13-E8DF2CC47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47460" name="AutoShape 4"/>
          <p:cNvSpPr>
            <a:spLocks noChangeArrowheads="1"/>
          </p:cNvSpPr>
          <p:nvPr/>
        </p:nvSpPr>
        <p:spPr bwMode="auto">
          <a:xfrm>
            <a:off x="729201" y="2080865"/>
            <a:ext cx="8171727" cy="2884674"/>
          </a:xfrm>
          <a:prstGeom prst="roundRect">
            <a:avLst>
              <a:gd name="adj" fmla="val 16667"/>
            </a:avLst>
          </a:prstGeom>
          <a:solidFill>
            <a:schemeClr val="bg1"/>
          </a:solidFill>
          <a:ln w="38100" algn="ctr">
            <a:solidFill>
              <a:srgbClr val="FF00FF"/>
            </a:solidFill>
            <a:round/>
          </a:ln>
          <a:effectLst>
            <a:outerShdw dist="107763" dir="2700000" algn="ctr" rotWithShape="0">
              <a:schemeClr val="bg2">
                <a:alpha val="50000"/>
              </a:schemeClr>
            </a:outerShdw>
          </a:effectLst>
        </p:spPr>
        <p:txBody>
          <a:bodyPr/>
          <a:lstStyle/>
          <a:p>
            <a:pPr marL="257175" indent="-257175">
              <a:spcBef>
                <a:spcPts val="450"/>
              </a:spcBef>
            </a:pPr>
            <a:r>
              <a:rPr lang="en-US" altLang="zh-CN" b="1" dirty="0">
                <a:solidFill>
                  <a:prstClr val="black"/>
                </a:solidFill>
                <a:latin typeface="+mj-ea"/>
                <a:ea typeface="+mj-ea"/>
              </a:rPr>
              <a:t>UML</a:t>
            </a:r>
            <a:r>
              <a:rPr lang="zh-CN" altLang="en-US" b="1" dirty="0">
                <a:solidFill>
                  <a:prstClr val="black"/>
                </a:solidFill>
                <a:latin typeface="+mj-ea"/>
                <a:ea typeface="+mj-ea"/>
              </a:rPr>
              <a:t>约定：</a:t>
            </a:r>
            <a:endParaRPr lang="zh-CN" altLang="en-US" b="1" dirty="0">
              <a:solidFill>
                <a:prstClr val="black"/>
              </a:solidFill>
              <a:latin typeface="+mj-ea"/>
              <a:ea typeface="+mj-ea"/>
            </a:endParaRPr>
          </a:p>
          <a:p>
            <a:pPr marL="257175" indent="-257175">
              <a:spcBef>
                <a:spcPts val="450"/>
              </a:spcBef>
              <a:buFontTx/>
              <a:buAutoNum type="arabicPeriod"/>
            </a:pPr>
            <a:r>
              <a:rPr lang="zh-CN" altLang="en-US" dirty="0">
                <a:solidFill>
                  <a:prstClr val="black"/>
                </a:solidFill>
                <a:latin typeface="+mj-ea"/>
                <a:ea typeface="+mj-ea"/>
              </a:rPr>
              <a:t>单个单词的操作名小写。</a:t>
            </a:r>
            <a:endParaRPr lang="zh-CN" altLang="en-US" dirty="0">
              <a:solidFill>
                <a:prstClr val="black"/>
              </a:solidFill>
              <a:latin typeface="+mj-ea"/>
              <a:ea typeface="+mj-ea"/>
            </a:endParaRPr>
          </a:p>
          <a:p>
            <a:pPr marL="257175" indent="-257175">
              <a:spcBef>
                <a:spcPts val="450"/>
              </a:spcBef>
              <a:buFontTx/>
              <a:buAutoNum type="arabicPeriod"/>
            </a:pPr>
            <a:r>
              <a:rPr lang="zh-CN" altLang="en-US" dirty="0">
                <a:solidFill>
                  <a:prstClr val="black"/>
                </a:solidFill>
                <a:latin typeface="+mj-ea"/>
                <a:ea typeface="+mj-ea"/>
              </a:rPr>
              <a:t>如果操作名是由多个单词组成，那么将多个单词合并，除了第一个单词外。其它单词首字母大写。</a:t>
            </a:r>
            <a:endParaRPr lang="en-US" altLang="zh-CN" dirty="0">
              <a:solidFill>
                <a:prstClr val="black"/>
              </a:solidFill>
              <a:latin typeface="+mj-ea"/>
              <a:ea typeface="+mj-ea"/>
            </a:endParaRPr>
          </a:p>
          <a:p>
            <a:pPr marL="257175" indent="-257175">
              <a:spcBef>
                <a:spcPts val="450"/>
              </a:spcBef>
              <a:buFontTx/>
              <a:buAutoNum type="arabicPeriod"/>
            </a:pPr>
            <a:r>
              <a:rPr lang="zh-CN" altLang="en-US" dirty="0">
                <a:solidFill>
                  <a:prstClr val="black"/>
                </a:solidFill>
                <a:latin typeface="+mj-ea"/>
                <a:ea typeface="+mj-ea"/>
              </a:rPr>
              <a:t>操作的语法：</a:t>
            </a:r>
            <a:endParaRPr lang="en-US" altLang="zh-CN" dirty="0">
              <a:solidFill>
                <a:prstClr val="black"/>
              </a:solidFill>
              <a:latin typeface="+mj-ea"/>
              <a:ea typeface="+mj-ea"/>
            </a:endParaRPr>
          </a:p>
          <a:p>
            <a:pPr>
              <a:spcBef>
                <a:spcPts val="450"/>
              </a:spcBef>
            </a:pPr>
            <a:r>
              <a:rPr lang="en-US" altLang="zh-CN" dirty="0">
                <a:solidFill>
                  <a:prstClr val="black"/>
                </a:solidFill>
                <a:latin typeface="+mj-ea"/>
                <a:ea typeface="+mj-ea"/>
              </a:rPr>
              <a:t>    </a:t>
            </a:r>
            <a:r>
              <a:rPr lang="zh-CN" altLang="en-US" dirty="0">
                <a:solidFill>
                  <a:prstClr val="black"/>
                </a:solidFill>
                <a:latin typeface="+mj-ea"/>
                <a:ea typeface="+mj-ea"/>
              </a:rPr>
              <a:t>可见性  操作名（参数表）：返回类型</a:t>
            </a:r>
            <a:r>
              <a:rPr lang="en-US" altLang="zh-CN" dirty="0">
                <a:solidFill>
                  <a:prstClr val="black"/>
                </a:solidFill>
                <a:latin typeface="+mj-ea"/>
                <a:ea typeface="+mj-ea"/>
              </a:rPr>
              <a:t>{</a:t>
            </a:r>
            <a:r>
              <a:rPr lang="zh-CN" altLang="en-US" dirty="0">
                <a:solidFill>
                  <a:prstClr val="black"/>
                </a:solidFill>
                <a:latin typeface="+mj-ea"/>
                <a:ea typeface="+mj-ea"/>
              </a:rPr>
              <a:t>约束条件</a:t>
            </a:r>
            <a:r>
              <a:rPr lang="en-US" altLang="zh-CN" dirty="0">
                <a:solidFill>
                  <a:prstClr val="black"/>
                </a:solidFill>
                <a:latin typeface="+mj-ea"/>
                <a:ea typeface="+mj-ea"/>
              </a:rPr>
              <a:t>}</a:t>
            </a:r>
            <a:endParaRPr lang="en-US" altLang="zh-CN" dirty="0">
              <a:solidFill>
                <a:prstClr val="black"/>
              </a:solidFill>
              <a:latin typeface="+mj-ea"/>
              <a:ea typeface="+mj-ea"/>
            </a:endParaRPr>
          </a:p>
          <a:p>
            <a:pPr marL="600075" lvl="1" indent="-257175">
              <a:spcBef>
                <a:spcPts val="450"/>
              </a:spcBef>
              <a:buFont typeface="Arial" panose="020B0604020202020204" pitchFamily="34" charset="0"/>
              <a:buChar char="•"/>
            </a:pPr>
            <a:r>
              <a:rPr lang="zh-CN" altLang="en-US" dirty="0">
                <a:solidFill>
                  <a:prstClr val="black"/>
                </a:solidFill>
                <a:latin typeface="+mj-ea"/>
                <a:ea typeface="+mj-ea"/>
              </a:rPr>
              <a:t>参数表：若干个参数，之间逗号隔开，形如：类型 参数名。</a:t>
            </a:r>
            <a:endParaRPr lang="en-US" altLang="zh-CN" dirty="0">
              <a:solidFill>
                <a:prstClr val="black"/>
              </a:solidFill>
              <a:latin typeface="+mj-ea"/>
              <a:ea typeface="+mj-ea"/>
            </a:endParaRPr>
          </a:p>
          <a:p>
            <a:pPr marL="600075" lvl="1" indent="-257175">
              <a:spcBef>
                <a:spcPts val="450"/>
              </a:spcBef>
              <a:buFont typeface="Arial" panose="020B0604020202020204" pitchFamily="34" charset="0"/>
              <a:buChar char="•"/>
            </a:pPr>
            <a:r>
              <a:rPr lang="zh-CN" altLang="en-US" dirty="0">
                <a:solidFill>
                  <a:prstClr val="black"/>
                </a:solidFill>
                <a:latin typeface="+mj-ea"/>
                <a:ea typeface="+mj-ea"/>
              </a:rPr>
              <a:t>返回类型：表示该操作的返回结果类型。</a:t>
            </a:r>
            <a:endParaRPr lang="zh-CN" altLang="en-US" dirty="0">
              <a:solidFill>
                <a:prstClr val="black"/>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47460"/>
                                        </p:tgtEl>
                                        <p:attrNameLst>
                                          <p:attrName>style.visibility</p:attrName>
                                        </p:attrNameLst>
                                      </p:cBhvr>
                                      <p:to>
                                        <p:strVal val="visible"/>
                                      </p:to>
                                    </p:set>
                                    <p:animEffect transition="in" filter="randombar(horizontal)">
                                      <p:cBhvr>
                                        <p:cTn id="17" dur="500"/>
                                        <p:tgtEl>
                                          <p:spTgt spid="147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4746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p:cNvSpPr>
            <a:spLocks noGrp="1" noChangeArrowheads="1"/>
          </p:cNvSpPr>
          <p:nvPr>
            <p:ph idx="1"/>
          </p:nvPr>
        </p:nvSpPr>
        <p:spPr>
          <a:xfrm>
            <a:off x="768097" y="972273"/>
            <a:ext cx="7855042" cy="3759748"/>
          </a:xfrm>
        </p:spPr>
        <p:txBody>
          <a:bodyPr>
            <a:normAutofit/>
          </a:bodyPr>
          <a:lstStyle/>
          <a:p>
            <a:pPr>
              <a:lnSpc>
                <a:spcPct val="120000"/>
              </a:lnSpc>
              <a:spcBef>
                <a:spcPts val="1000"/>
              </a:spcBef>
            </a:pPr>
            <a:r>
              <a:rPr lang="zh-CN" altLang="zh-CN" sz="2400" dirty="0"/>
              <a:t>关系是事物间的</a:t>
            </a:r>
            <a:r>
              <a:rPr lang="zh-CN" altLang="en-US" sz="2400" dirty="0"/>
              <a:t>联系</a:t>
            </a:r>
            <a:r>
              <a:rPr lang="zh-CN" altLang="zh-CN" sz="2400" dirty="0"/>
              <a:t>。在类的关系中最常用的4种</a:t>
            </a:r>
            <a:r>
              <a:rPr lang="zh-CN" altLang="en-US" sz="2400" dirty="0"/>
              <a:t>是</a:t>
            </a:r>
            <a:r>
              <a:rPr lang="zh-CN" altLang="zh-CN" sz="2400" dirty="0"/>
              <a:t>：</a:t>
            </a:r>
            <a:endParaRPr lang="zh-CN" altLang="zh-CN" sz="2400" dirty="0"/>
          </a:p>
          <a:p>
            <a:pPr marL="994410" lvl="1" indent="-342900">
              <a:lnSpc>
                <a:spcPct val="120000"/>
              </a:lnSpc>
              <a:spcBef>
                <a:spcPts val="1000"/>
              </a:spcBef>
              <a:buFont typeface="+mj-lt"/>
              <a:buAutoNum type="arabicPeriod"/>
            </a:pPr>
            <a:r>
              <a:rPr lang="zh-CN" altLang="zh-CN" sz="2000" dirty="0">
                <a:solidFill>
                  <a:srgbClr val="FF3300"/>
                </a:solidFill>
              </a:rPr>
              <a:t>依赖（Dependency）</a:t>
            </a:r>
            <a:r>
              <a:rPr lang="zh-CN" altLang="en-US" sz="2000" dirty="0"/>
              <a:t>：</a:t>
            </a:r>
            <a:r>
              <a:rPr lang="zh-CN" altLang="zh-CN" sz="2000" dirty="0"/>
              <a:t>类之间的使用关系</a:t>
            </a:r>
            <a:r>
              <a:rPr lang="zh-CN" altLang="en-US" sz="2000" dirty="0"/>
              <a:t>。</a:t>
            </a:r>
            <a:endParaRPr lang="en-US" altLang="zh-CN" sz="2000" dirty="0"/>
          </a:p>
          <a:p>
            <a:pPr marL="994410" lvl="1" indent="-342900">
              <a:lnSpc>
                <a:spcPct val="120000"/>
              </a:lnSpc>
              <a:spcBef>
                <a:spcPts val="1000"/>
              </a:spcBef>
              <a:buFont typeface="+mj-lt"/>
              <a:buAutoNum type="arabicPeriod"/>
            </a:pPr>
            <a:r>
              <a:rPr lang="zh-CN" altLang="zh-CN" sz="2000" dirty="0">
                <a:solidFill>
                  <a:srgbClr val="FF3300"/>
                </a:solidFill>
              </a:rPr>
              <a:t>泛化（Generalization）</a:t>
            </a:r>
            <a:r>
              <a:rPr lang="zh-CN" altLang="en-US" sz="2000" dirty="0"/>
              <a:t>：类之间的一般和特殊的关系。</a:t>
            </a:r>
            <a:endParaRPr lang="en-US" altLang="zh-CN" sz="2000" dirty="0"/>
          </a:p>
          <a:p>
            <a:pPr marL="994410" lvl="1" indent="-342900">
              <a:lnSpc>
                <a:spcPct val="120000"/>
              </a:lnSpc>
              <a:spcBef>
                <a:spcPts val="1000"/>
              </a:spcBef>
              <a:buFont typeface="+mj-lt"/>
              <a:buAutoNum type="arabicPeriod"/>
            </a:pPr>
            <a:r>
              <a:rPr lang="zh-CN" altLang="zh-CN" sz="2000" dirty="0">
                <a:solidFill>
                  <a:srgbClr val="FF3300"/>
                </a:solidFill>
              </a:rPr>
              <a:t>实现（Realization） </a:t>
            </a:r>
            <a:r>
              <a:rPr lang="zh-CN" altLang="en-US" sz="2000" dirty="0"/>
              <a:t>：规格说明和其实现之间的关系。</a:t>
            </a:r>
            <a:endParaRPr lang="zh-CN" altLang="zh-CN" sz="2000" dirty="0"/>
          </a:p>
          <a:p>
            <a:pPr marL="994410" lvl="1" indent="-342900">
              <a:lnSpc>
                <a:spcPct val="120000"/>
              </a:lnSpc>
              <a:spcBef>
                <a:spcPts val="1000"/>
              </a:spcBef>
              <a:buFont typeface="+mj-lt"/>
              <a:buAutoNum type="arabicPeriod"/>
            </a:pPr>
            <a:r>
              <a:rPr lang="zh-CN" altLang="zh-CN" sz="2000" dirty="0">
                <a:solidFill>
                  <a:srgbClr val="FF3300"/>
                </a:solidFill>
              </a:rPr>
              <a:t>关联（Association）</a:t>
            </a:r>
            <a:r>
              <a:rPr lang="zh-CN" altLang="en-US" sz="2000" dirty="0"/>
              <a:t>：</a:t>
            </a:r>
            <a:r>
              <a:rPr lang="zh-CN" altLang="zh-CN" sz="2000" dirty="0"/>
              <a:t>表示对象之间的结构关系</a:t>
            </a:r>
            <a:r>
              <a:rPr lang="zh-CN" altLang="en-US" sz="2000" dirty="0"/>
              <a:t>。</a:t>
            </a:r>
            <a:endParaRPr lang="en-US" altLang="zh-CN" sz="2000" dirty="0"/>
          </a:p>
          <a:p>
            <a:pPr marL="342900" indent="-342900">
              <a:lnSpc>
                <a:spcPct val="120000"/>
              </a:lnSpc>
              <a:spcBef>
                <a:spcPts val="1000"/>
              </a:spcBef>
            </a:pPr>
            <a:r>
              <a:rPr lang="zh-CN" altLang="en-US" sz="2400" dirty="0"/>
              <a:t>各种关系的强弱顺序：</a:t>
            </a:r>
            <a:endParaRPr lang="en-US" altLang="zh-CN" sz="2400" dirty="0"/>
          </a:p>
          <a:p>
            <a:pPr marL="651510" lvl="1" indent="0">
              <a:lnSpc>
                <a:spcPct val="120000"/>
              </a:lnSpc>
              <a:spcBef>
                <a:spcPts val="1000"/>
              </a:spcBef>
              <a:buNone/>
            </a:pPr>
            <a:r>
              <a:rPr lang="zh-CN" altLang="en-US" sz="2000" dirty="0"/>
              <a:t>泛化 </a:t>
            </a:r>
            <a:r>
              <a:rPr lang="en-US" altLang="zh-CN" sz="2000" dirty="0"/>
              <a:t>== </a:t>
            </a:r>
            <a:r>
              <a:rPr lang="zh-CN" altLang="en-US" sz="2000" dirty="0"/>
              <a:t>实现 </a:t>
            </a:r>
            <a:r>
              <a:rPr lang="en-US" altLang="zh-CN" sz="2000" dirty="0"/>
              <a:t>&gt; </a:t>
            </a:r>
            <a:r>
              <a:rPr lang="zh-CN" altLang="en-US" sz="2000" dirty="0"/>
              <a:t>组合 </a:t>
            </a:r>
            <a:r>
              <a:rPr lang="en-US" altLang="zh-CN" sz="2000" dirty="0"/>
              <a:t>&gt; </a:t>
            </a:r>
            <a:r>
              <a:rPr lang="zh-CN" altLang="en-US" sz="2000" dirty="0"/>
              <a:t>聚合 </a:t>
            </a:r>
            <a:r>
              <a:rPr lang="en-US" altLang="zh-CN" sz="2000" dirty="0"/>
              <a:t>&gt; </a:t>
            </a:r>
            <a:r>
              <a:rPr lang="zh-CN" altLang="en-US" sz="2000" dirty="0"/>
              <a:t>关联 </a:t>
            </a:r>
            <a:r>
              <a:rPr lang="en-US" altLang="zh-CN" sz="2000" dirty="0"/>
              <a:t>&gt; </a:t>
            </a:r>
            <a:r>
              <a:rPr lang="zh-CN" altLang="en-US" sz="2000" dirty="0"/>
              <a:t>依赖</a:t>
            </a:r>
            <a:endParaRPr lang="zh-CN" altLang="zh-CN" sz="1600" dirty="0"/>
          </a:p>
        </p:txBody>
      </p:sp>
      <p:sp>
        <p:nvSpPr>
          <p:cNvPr id="3" name="标题 2"/>
          <p:cNvSpPr>
            <a:spLocks noGrp="1"/>
          </p:cNvSpPr>
          <p:nvPr>
            <p:ph type="title"/>
          </p:nvPr>
        </p:nvSpPr>
        <p:spPr/>
        <p:txBody>
          <a:bodyPr/>
          <a:lstStyle/>
          <a:p>
            <a:r>
              <a:rPr lang="zh-CN" altLang="en-US" dirty="0"/>
              <a:t>关系</a:t>
            </a:r>
            <a:r>
              <a:rPr lang="zh-CN" altLang="zh-CN" dirty="0"/>
              <a:t>（</a:t>
            </a:r>
            <a:r>
              <a:rPr lang="zh-CN" altLang="zh-CN" cap="none" dirty="0"/>
              <a:t>Relationship</a:t>
            </a:r>
            <a:r>
              <a:rPr lang="zh-CN" altLang="zh-CN" dirty="0"/>
              <a:t>）</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8C810B41-0672-42EE-8891-12CC9594CDD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latin typeface="+mj-ea"/>
              </a:rPr>
              <a:t>1 </a:t>
            </a:r>
            <a:r>
              <a:rPr lang="zh-CN" altLang="en-US" dirty="0">
                <a:latin typeface="+mj-ea"/>
              </a:rPr>
              <a:t>依赖（</a:t>
            </a:r>
            <a:r>
              <a:rPr lang="en-US" altLang="zh-CN" dirty="0">
                <a:latin typeface="+mj-ea"/>
              </a:rPr>
              <a:t>Dependency</a:t>
            </a:r>
            <a:r>
              <a:rPr lang="zh-CN" altLang="en-US" dirty="0">
                <a:latin typeface="+mj-ea"/>
              </a:rPr>
              <a:t>）</a:t>
            </a:r>
            <a:endParaRPr lang="zh-CN" altLang="en-US" dirty="0"/>
          </a:p>
        </p:txBody>
      </p:sp>
      <p:sp>
        <p:nvSpPr>
          <p:cNvPr id="2" name="文本占位符 1"/>
          <p:cNvSpPr>
            <a:spLocks noGrp="1"/>
          </p:cNvSpPr>
          <p:nvPr>
            <p:ph idx="1"/>
          </p:nvPr>
        </p:nvSpPr>
        <p:spPr/>
        <p:txBody>
          <a:bodyPr>
            <a:normAutofit/>
          </a:bodyPr>
          <a:lstStyle/>
          <a:p>
            <a:pPr>
              <a:lnSpc>
                <a:spcPct val="100000"/>
              </a:lnSpc>
              <a:spcBef>
                <a:spcPts val="1350"/>
              </a:spcBef>
            </a:pPr>
            <a:r>
              <a:rPr lang="en-US" altLang="zh-CN" sz="2000" dirty="0">
                <a:solidFill>
                  <a:srgbClr val="000000"/>
                </a:solidFill>
              </a:rPr>
              <a:t>A </a:t>
            </a:r>
            <a:r>
              <a:rPr lang="en-US" altLang="zh-CN" sz="2000" b="1" dirty="0">
                <a:solidFill>
                  <a:srgbClr val="FF0000"/>
                </a:solidFill>
              </a:rPr>
              <a:t>dependency</a:t>
            </a:r>
            <a:r>
              <a:rPr lang="en-US" altLang="zh-CN" sz="2000" dirty="0">
                <a:solidFill>
                  <a:srgbClr val="000000"/>
                </a:solidFill>
              </a:rPr>
              <a:t> is a relationship between two elements in which a change to one element (the </a:t>
            </a:r>
            <a:r>
              <a:rPr lang="en-US" altLang="zh-CN" sz="2000" dirty="0">
                <a:solidFill>
                  <a:srgbClr val="FF0000"/>
                </a:solidFill>
              </a:rPr>
              <a:t>supplier</a:t>
            </a:r>
            <a:r>
              <a:rPr lang="en-US" altLang="zh-CN" sz="2000" dirty="0">
                <a:solidFill>
                  <a:srgbClr val="000000"/>
                </a:solidFill>
              </a:rPr>
              <a:t>) may affect or supply information needed by the other element (the </a:t>
            </a:r>
            <a:r>
              <a:rPr lang="en-US" altLang="zh-CN" sz="2000" dirty="0">
                <a:solidFill>
                  <a:srgbClr val="FF0000"/>
                </a:solidFill>
              </a:rPr>
              <a:t>client</a:t>
            </a:r>
            <a:r>
              <a:rPr lang="en-US" altLang="zh-CN" sz="2000" dirty="0">
                <a:solidFill>
                  <a:srgbClr val="000000"/>
                </a:solidFill>
              </a:rPr>
              <a:t>).</a:t>
            </a:r>
            <a:endParaRPr lang="en-US" altLang="zh-CN" sz="2000" dirty="0">
              <a:solidFill>
                <a:srgbClr val="000000"/>
              </a:solidFill>
            </a:endParaRPr>
          </a:p>
          <a:p>
            <a:pPr>
              <a:lnSpc>
                <a:spcPct val="100000"/>
              </a:lnSpc>
              <a:spcBef>
                <a:spcPts val="1350"/>
              </a:spcBef>
            </a:pPr>
            <a:r>
              <a:rPr lang="zh-CN" altLang="en-US" sz="2000" dirty="0"/>
              <a:t>有两个元素</a:t>
            </a:r>
            <a:r>
              <a:rPr lang="en-US" altLang="zh-CN" sz="2000" dirty="0"/>
              <a:t>X</a:t>
            </a:r>
            <a:r>
              <a:rPr lang="zh-CN" altLang="en-US" sz="2000" dirty="0"/>
              <a:t>、</a:t>
            </a:r>
            <a:r>
              <a:rPr lang="en-US" altLang="zh-CN" sz="2000" dirty="0"/>
              <a:t>Y</a:t>
            </a:r>
            <a:r>
              <a:rPr lang="zh-CN" altLang="en-US" sz="2000" dirty="0"/>
              <a:t>，如果修改元素</a:t>
            </a:r>
            <a:r>
              <a:rPr lang="en-US" altLang="zh-CN" sz="2000" dirty="0"/>
              <a:t>X</a:t>
            </a:r>
            <a:r>
              <a:rPr lang="zh-CN" altLang="en-US" sz="2000" dirty="0"/>
              <a:t>的定义可能会引起对另一个元素</a:t>
            </a:r>
            <a:r>
              <a:rPr lang="en-US" altLang="zh-CN" sz="2000" dirty="0"/>
              <a:t>Y</a:t>
            </a:r>
            <a:r>
              <a:rPr lang="zh-CN" altLang="en-US" sz="2000" dirty="0"/>
              <a:t>的定义的修改，则称元素</a:t>
            </a:r>
            <a:r>
              <a:rPr lang="en-US" altLang="zh-CN" sz="2000" dirty="0"/>
              <a:t>Y</a:t>
            </a:r>
            <a:r>
              <a:rPr lang="zh-CN" altLang="en-US" sz="2000" dirty="0"/>
              <a:t>依赖</a:t>
            </a:r>
            <a:r>
              <a:rPr lang="en-US" altLang="zh-CN" sz="2000" dirty="0"/>
              <a:t>(Dependency)</a:t>
            </a:r>
            <a:r>
              <a:rPr lang="zh-CN" altLang="en-US" sz="2000" dirty="0"/>
              <a:t>于元素</a:t>
            </a:r>
            <a:r>
              <a:rPr lang="en-US" altLang="zh-CN" sz="2000" dirty="0"/>
              <a:t>X</a:t>
            </a:r>
            <a:r>
              <a:rPr lang="zh-CN" altLang="en-US" sz="2000" dirty="0"/>
              <a:t>。</a:t>
            </a:r>
            <a:endParaRPr lang="en-US" altLang="zh-CN" sz="2000" dirty="0"/>
          </a:p>
        </p:txBody>
      </p:sp>
      <p:sp>
        <p:nvSpPr>
          <p:cNvPr id="3" name="日期占位符 2"/>
          <p:cNvSpPr>
            <a:spLocks noGrp="1"/>
          </p:cNvSpPr>
          <p:nvPr>
            <p:ph type="dt" sz="half" idx="10"/>
          </p:nvPr>
        </p:nvSpPr>
        <p:spPr/>
        <p:txBody>
          <a:bodyPr/>
          <a:lstStyle/>
          <a:p>
            <a:fld id="{A5BB11EC-5397-4B6E-9C45-276C596597AE}"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AutoShape 5"/>
          <p:cNvSpPr>
            <a:spLocks noChangeArrowheads="1"/>
          </p:cNvSpPr>
          <p:nvPr/>
        </p:nvSpPr>
        <p:spPr bwMode="auto">
          <a:xfrm>
            <a:off x="1908977" y="2747571"/>
            <a:ext cx="5846060" cy="536080"/>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anchor="ctr"/>
          <a:lstStyle/>
          <a:p>
            <a:r>
              <a:rPr lang="zh-CN" altLang="en-US" sz="2000" dirty="0">
                <a:solidFill>
                  <a:prstClr val="black"/>
                </a:solidFill>
                <a:latin typeface="+mj-ea"/>
                <a:ea typeface="+mj-ea"/>
              </a:rPr>
              <a:t>依赖关系用虚线箭头表示，箭头指向被依赖的类。</a:t>
            </a:r>
            <a:endParaRPr lang="zh-CN" altLang="en-US" sz="2000" dirty="0">
              <a:solidFill>
                <a:prstClr val="black"/>
              </a:solidFill>
              <a:latin typeface="+mj-ea"/>
              <a:ea typeface="+mj-ea"/>
            </a:endParaRPr>
          </a:p>
        </p:txBody>
      </p:sp>
      <p:pic>
        <p:nvPicPr>
          <p:cNvPr id="6" name="图片 5"/>
          <p:cNvPicPr>
            <a:picLocks noChangeAspect="1"/>
          </p:cNvPicPr>
          <p:nvPr/>
        </p:nvPicPr>
        <p:blipFill>
          <a:blip r:embed="rId1">
            <a:clrChange>
              <a:clrFrom>
                <a:srgbClr val="FFFFFF"/>
              </a:clrFrom>
              <a:clrTo>
                <a:srgbClr val="FFFFFF">
                  <a:alpha val="0"/>
                </a:srgbClr>
              </a:clrTo>
            </a:clrChange>
          </a:blip>
          <a:stretch>
            <a:fillRect/>
          </a:stretch>
        </p:blipFill>
        <p:spPr>
          <a:xfrm>
            <a:off x="2134078" y="3379905"/>
            <a:ext cx="5398465" cy="11904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randombar(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latin typeface="+mj-ea"/>
              </a:rPr>
              <a:t>依赖关系</a:t>
            </a:r>
            <a:endParaRPr lang="zh-CN" altLang="en-US" dirty="0"/>
          </a:p>
        </p:txBody>
      </p:sp>
      <p:sp>
        <p:nvSpPr>
          <p:cNvPr id="6" name="文本占位符 5"/>
          <p:cNvSpPr>
            <a:spLocks noGrp="1"/>
          </p:cNvSpPr>
          <p:nvPr>
            <p:ph idx="1"/>
          </p:nvPr>
        </p:nvSpPr>
        <p:spPr/>
        <p:txBody>
          <a:bodyPr>
            <a:normAutofit/>
          </a:bodyPr>
          <a:lstStyle/>
          <a:p>
            <a:pPr marL="342900" indent="-342900">
              <a:lnSpc>
                <a:spcPct val="130000"/>
              </a:lnSpc>
              <a:spcBef>
                <a:spcPts val="900"/>
              </a:spcBef>
            </a:pPr>
            <a:r>
              <a:rPr lang="zh-CN" altLang="en-US" sz="2400" dirty="0">
                <a:latin typeface="+mn-ea"/>
              </a:rPr>
              <a:t>在类中，依赖由各种原因引起，如：一个类向另一个类发消息；一个类是另一个类的某个操作参数类型。</a:t>
            </a:r>
            <a:endParaRPr lang="zh-CN" altLang="en-US" sz="2400" dirty="0">
              <a:latin typeface="+mn-ea"/>
            </a:endParaRPr>
          </a:p>
          <a:p>
            <a:pPr marL="342900" indent="-342900">
              <a:lnSpc>
                <a:spcPct val="130000"/>
              </a:lnSpc>
              <a:spcBef>
                <a:spcPts val="900"/>
              </a:spcBef>
            </a:pPr>
            <a:r>
              <a:rPr lang="zh-CN" altLang="en-US" sz="2400" dirty="0"/>
              <a:t>依赖关系有如下三种情况：</a:t>
            </a:r>
            <a:endParaRPr lang="en-US" altLang="zh-CN" sz="2400" dirty="0"/>
          </a:p>
          <a:p>
            <a:pPr marL="994410" lvl="1" indent="-342900">
              <a:lnSpc>
                <a:spcPct val="130000"/>
              </a:lnSpc>
              <a:spcBef>
                <a:spcPts val="900"/>
              </a:spcBef>
              <a:buFont typeface="+mj-lt"/>
              <a:buAutoNum type="arabicPeriod"/>
            </a:pPr>
            <a:r>
              <a:rPr lang="en-US" altLang="zh-CN" sz="2000" dirty="0"/>
              <a:t>A</a:t>
            </a:r>
            <a:r>
              <a:rPr lang="zh-CN" altLang="en-US" sz="2000" dirty="0"/>
              <a:t>类是</a:t>
            </a:r>
            <a:r>
              <a:rPr lang="en-US" altLang="zh-CN" sz="2000" dirty="0"/>
              <a:t>B</a:t>
            </a:r>
            <a:r>
              <a:rPr lang="zh-CN" altLang="en-US" sz="2000" dirty="0"/>
              <a:t>类方法当中的一个参数。</a:t>
            </a:r>
            <a:endParaRPr lang="en-US" altLang="zh-CN" sz="2000" dirty="0"/>
          </a:p>
          <a:p>
            <a:pPr marL="994410" lvl="1" indent="-342900">
              <a:lnSpc>
                <a:spcPct val="130000"/>
              </a:lnSpc>
              <a:spcBef>
                <a:spcPts val="900"/>
              </a:spcBef>
              <a:buFont typeface="+mj-lt"/>
              <a:buAutoNum type="arabicPeriod"/>
            </a:pPr>
            <a:r>
              <a:rPr lang="en-US" altLang="zh-CN" sz="2000" dirty="0"/>
              <a:t>A</a:t>
            </a:r>
            <a:r>
              <a:rPr lang="zh-CN" altLang="en-US" sz="2000" dirty="0"/>
              <a:t>类是</a:t>
            </a:r>
            <a:r>
              <a:rPr lang="en-US" altLang="zh-CN" sz="2000" dirty="0"/>
              <a:t>B</a:t>
            </a:r>
            <a:r>
              <a:rPr lang="zh-CN" altLang="en-US" sz="2000" dirty="0"/>
              <a:t>类中的（某种方法的）局部变量。</a:t>
            </a:r>
            <a:endParaRPr lang="en-US" altLang="zh-CN" sz="2000" dirty="0"/>
          </a:p>
          <a:p>
            <a:pPr marL="994410" lvl="1" indent="-342900">
              <a:lnSpc>
                <a:spcPct val="130000"/>
              </a:lnSpc>
              <a:spcBef>
                <a:spcPts val="900"/>
              </a:spcBef>
              <a:buFont typeface="+mj-lt"/>
              <a:buAutoNum type="arabicPeriod"/>
            </a:pPr>
            <a:r>
              <a:rPr lang="en-US" altLang="zh-CN" sz="2000" dirty="0"/>
              <a:t>A</a:t>
            </a:r>
            <a:r>
              <a:rPr lang="zh-CN" altLang="en-US" sz="2000" dirty="0"/>
              <a:t>类向</a:t>
            </a:r>
            <a:r>
              <a:rPr lang="en-US" altLang="zh-CN" sz="2000" dirty="0"/>
              <a:t>B</a:t>
            </a:r>
            <a:r>
              <a:rPr lang="zh-CN" altLang="en-US" sz="2000" dirty="0"/>
              <a:t>类发送消息，从而影响</a:t>
            </a:r>
            <a:r>
              <a:rPr lang="en-US" altLang="zh-CN" sz="2000" dirty="0"/>
              <a:t>B</a:t>
            </a:r>
            <a:r>
              <a:rPr lang="zh-CN" altLang="en-US" sz="2000" dirty="0"/>
              <a:t>类发生变化。</a:t>
            </a:r>
            <a:endParaRPr lang="zh-CN" altLang="en-US" sz="2000" dirty="0"/>
          </a:p>
        </p:txBody>
      </p:sp>
      <p:sp>
        <p:nvSpPr>
          <p:cNvPr id="2" name="日期占位符 1"/>
          <p:cNvSpPr>
            <a:spLocks noGrp="1"/>
          </p:cNvSpPr>
          <p:nvPr>
            <p:ph type="dt" sz="half" idx="10"/>
          </p:nvPr>
        </p:nvSpPr>
        <p:spPr/>
        <p:txBody>
          <a:bodyPr/>
          <a:lstStyle/>
          <a:p>
            <a:fld id="{388360F1-44FE-48FD-BA1B-495E7B5BAEB2}"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up)">
                                      <p:cBhvr>
                                        <p:cTn id="15" dur="500"/>
                                        <p:tgtEl>
                                          <p:spTgt spid="6">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up)">
                                      <p:cBhvr>
                                        <p:cTn id="18" dur="500"/>
                                        <p:tgtEl>
                                          <p:spTgt spid="6">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up)">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2 </a:t>
            </a:r>
            <a:r>
              <a:rPr lang="zh-CN" altLang="zh-CN" dirty="0"/>
              <a:t>泛化（</a:t>
            </a:r>
            <a:r>
              <a:rPr lang="zh-CN" altLang="zh-CN" cap="none" dirty="0"/>
              <a:t>Generalization</a:t>
            </a:r>
            <a:r>
              <a:rPr lang="zh-CN" altLang="zh-CN" dirty="0"/>
              <a:t>）</a:t>
            </a:r>
            <a:endParaRPr lang="zh-CN" altLang="en-US" dirty="0"/>
          </a:p>
        </p:txBody>
      </p:sp>
      <p:sp>
        <p:nvSpPr>
          <p:cNvPr id="3" name="文本占位符 2"/>
          <p:cNvSpPr>
            <a:spLocks noGrp="1"/>
          </p:cNvSpPr>
          <p:nvPr>
            <p:ph idx="1"/>
          </p:nvPr>
        </p:nvSpPr>
        <p:spPr/>
        <p:txBody>
          <a:bodyPr>
            <a:normAutofit/>
          </a:bodyPr>
          <a:lstStyle/>
          <a:p>
            <a:pPr>
              <a:lnSpc>
                <a:spcPct val="130000"/>
              </a:lnSpc>
            </a:pPr>
            <a:r>
              <a:rPr lang="zh-CN" altLang="en-US" sz="2400" dirty="0"/>
              <a:t>泛化表示类与类之间的继承关系，接口与接口之间的继承关系。 </a:t>
            </a:r>
            <a:endParaRPr lang="zh-CN" altLang="en-US" sz="2400" dirty="0"/>
          </a:p>
          <a:p>
            <a:pPr>
              <a:lnSpc>
                <a:spcPct val="130000"/>
              </a:lnSpc>
            </a:pPr>
            <a:r>
              <a:rPr lang="zh-CN" altLang="en-US" sz="2400" dirty="0"/>
              <a:t>例如，老虎和狗都是动物的子类。</a:t>
            </a:r>
            <a:endParaRPr lang="zh-CN" altLang="en-US" sz="2400" dirty="0"/>
          </a:p>
        </p:txBody>
      </p:sp>
      <p:sp>
        <p:nvSpPr>
          <p:cNvPr id="2" name="日期占位符 1"/>
          <p:cNvSpPr>
            <a:spLocks noGrp="1"/>
          </p:cNvSpPr>
          <p:nvPr>
            <p:ph type="dt" sz="half" idx="10"/>
          </p:nvPr>
        </p:nvSpPr>
        <p:spPr/>
        <p:txBody>
          <a:bodyPr/>
          <a:lstStyle/>
          <a:p>
            <a:fld id="{4D6739B9-2A30-4608-94E4-64F54526D1F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50532" name="Picture 4" descr="10bfdb9d-ed2d-4226-bab2-f814d2e10a8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5637700" y="2058806"/>
            <a:ext cx="3176823" cy="1896014"/>
          </a:xfrm>
          <a:prstGeom prst="rect">
            <a:avLst/>
          </a:prstGeom>
          <a:noFill/>
          <a:ln w="9525">
            <a:noFill/>
            <a:miter lim="800000"/>
            <a:headEnd/>
            <a:tailEnd/>
          </a:ln>
        </p:spPr>
      </p:pic>
      <p:sp>
        <p:nvSpPr>
          <p:cNvPr id="150533" name="AutoShape 5"/>
          <p:cNvSpPr>
            <a:spLocks noChangeArrowheads="1"/>
          </p:cNvSpPr>
          <p:nvPr/>
        </p:nvSpPr>
        <p:spPr bwMode="auto">
          <a:xfrm>
            <a:off x="1107634" y="2828594"/>
            <a:ext cx="4190529" cy="1261641"/>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anchor="ctr"/>
          <a:lstStyle/>
          <a:p>
            <a:pPr>
              <a:spcBef>
                <a:spcPts val="600"/>
              </a:spcBef>
            </a:pPr>
            <a:r>
              <a:rPr lang="zh-CN" altLang="en-US" sz="2000" dirty="0">
                <a:solidFill>
                  <a:prstClr val="black"/>
                </a:solidFill>
                <a:latin typeface="+mj-ea"/>
                <a:ea typeface="+mj-ea"/>
              </a:rPr>
              <a:t>泛化关系的表示：</a:t>
            </a:r>
            <a:endParaRPr lang="zh-CN" altLang="en-US" sz="2000" dirty="0">
              <a:solidFill>
                <a:prstClr val="black"/>
              </a:solidFill>
              <a:latin typeface="+mj-ea"/>
              <a:ea typeface="+mj-ea"/>
            </a:endParaRPr>
          </a:p>
          <a:p>
            <a:pPr>
              <a:spcBef>
                <a:spcPts val="600"/>
              </a:spcBef>
              <a:buFontTx/>
              <a:buChar char="•"/>
            </a:pPr>
            <a:r>
              <a:rPr lang="zh-CN" altLang="en-US" sz="2000" dirty="0">
                <a:solidFill>
                  <a:srgbClr val="FF0000"/>
                </a:solidFill>
                <a:latin typeface="+mj-ea"/>
                <a:ea typeface="+mj-ea"/>
              </a:rPr>
              <a:t>实线</a:t>
            </a:r>
            <a:r>
              <a:rPr lang="en-US" altLang="zh-CN" sz="2000" dirty="0">
                <a:solidFill>
                  <a:prstClr val="black"/>
                </a:solidFill>
                <a:latin typeface="+mj-ea"/>
                <a:ea typeface="+mj-ea"/>
              </a:rPr>
              <a:t>+</a:t>
            </a:r>
            <a:r>
              <a:rPr lang="zh-CN" altLang="en-US" sz="2000" dirty="0">
                <a:solidFill>
                  <a:prstClr val="black"/>
                </a:solidFill>
                <a:latin typeface="+mj-ea"/>
                <a:ea typeface="+mj-ea"/>
              </a:rPr>
              <a:t>空心箭头，箭头指向父类</a:t>
            </a:r>
            <a:endParaRPr lang="zh-CN" altLang="en-US" sz="2000" dirty="0">
              <a:solidFill>
                <a:prstClr val="black"/>
              </a:solidFill>
              <a:latin typeface="+mj-ea"/>
              <a:ea typeface="+mj-ea"/>
            </a:endParaRPr>
          </a:p>
          <a:p>
            <a:pPr>
              <a:spcBef>
                <a:spcPts val="600"/>
              </a:spcBef>
              <a:buFontTx/>
              <a:buChar char="•"/>
            </a:pPr>
            <a:r>
              <a:rPr lang="zh-CN" altLang="en-US" sz="2000" dirty="0">
                <a:solidFill>
                  <a:srgbClr val="FF0000"/>
                </a:solidFill>
                <a:latin typeface="+mj-ea"/>
                <a:ea typeface="+mj-ea"/>
              </a:rPr>
              <a:t>虚线</a:t>
            </a:r>
            <a:r>
              <a:rPr lang="en-US" altLang="zh-CN" sz="2000" dirty="0">
                <a:solidFill>
                  <a:prstClr val="black"/>
                </a:solidFill>
                <a:latin typeface="+mj-ea"/>
                <a:ea typeface="+mj-ea"/>
              </a:rPr>
              <a:t>+</a:t>
            </a:r>
            <a:r>
              <a:rPr lang="zh-CN" altLang="en-US" sz="2000" dirty="0">
                <a:solidFill>
                  <a:prstClr val="black"/>
                </a:solidFill>
                <a:latin typeface="+mj-ea"/>
                <a:ea typeface="+mj-ea"/>
              </a:rPr>
              <a:t>空心箭头，如父类是接口</a:t>
            </a:r>
            <a:endParaRPr lang="zh-CN" altLang="en-US" sz="2000" dirty="0">
              <a:solidFill>
                <a:prstClr val="black"/>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50533"/>
                                        </p:tgtEl>
                                        <p:attrNameLst>
                                          <p:attrName>style.visibility</p:attrName>
                                        </p:attrNameLst>
                                      </p:cBhvr>
                                      <p:to>
                                        <p:strVal val="visible"/>
                                      </p:to>
                                    </p:set>
                                    <p:animEffect transition="in" filter="randombar(horizontal)">
                                      <p:cBhvr>
                                        <p:cTn id="15" dur="500"/>
                                        <p:tgtEl>
                                          <p:spTgt spid="150533"/>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50532"/>
                                        </p:tgtEl>
                                        <p:attrNameLst>
                                          <p:attrName>style.visibility</p:attrName>
                                        </p:attrNameLst>
                                      </p:cBhvr>
                                      <p:to>
                                        <p:strVal val="visible"/>
                                      </p:to>
                                    </p:set>
                                    <p:animEffect transition="in" filter="randombar(horizontal)">
                                      <p:cBhvr>
                                        <p:cTn id="20" dur="500"/>
                                        <p:tgtEl>
                                          <p:spTgt spid="15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05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抽象类和多重继承</a:t>
            </a:r>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descr="..\0612.tif"/>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0661" y="1032811"/>
            <a:ext cx="7049920" cy="2684448"/>
          </a:xfrm>
          <a:prstGeom prst="rect">
            <a:avLst/>
          </a:prstGeom>
          <a:noFill/>
          <a:ln>
            <a:noFill/>
          </a:ln>
        </p:spPr>
      </p:pic>
      <p:pic>
        <p:nvPicPr>
          <p:cNvPr id="8" name="图片 7" descr="06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5899" y="1032811"/>
            <a:ext cx="7113413" cy="32266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3 </a:t>
            </a:r>
            <a:r>
              <a:rPr lang="zh-CN" altLang="zh-CN" dirty="0"/>
              <a:t>实现（</a:t>
            </a:r>
            <a:r>
              <a:rPr lang="zh-CN" altLang="zh-CN" cap="none" dirty="0"/>
              <a:t>Realization</a:t>
            </a:r>
            <a:r>
              <a:rPr lang="zh-CN" altLang="zh-CN" dirty="0"/>
              <a:t>）</a:t>
            </a:r>
            <a:endParaRPr lang="zh-CN" altLang="en-US" dirty="0"/>
          </a:p>
        </p:txBody>
      </p:sp>
      <p:sp>
        <p:nvSpPr>
          <p:cNvPr id="3" name="文本占位符 2"/>
          <p:cNvSpPr>
            <a:spLocks noGrp="1"/>
          </p:cNvSpPr>
          <p:nvPr>
            <p:ph idx="1"/>
          </p:nvPr>
        </p:nvSpPr>
        <p:spPr/>
        <p:txBody>
          <a:bodyPr>
            <a:normAutofit/>
          </a:bodyPr>
          <a:lstStyle/>
          <a:p>
            <a:pPr>
              <a:lnSpc>
                <a:spcPct val="130000"/>
              </a:lnSpc>
            </a:pPr>
            <a:r>
              <a:rPr lang="zh-CN" altLang="en-US" sz="2400" dirty="0"/>
              <a:t>大多数情况下，实现关系用来规定接口和实现接口的类或组件之间的关系。</a:t>
            </a:r>
            <a:endParaRPr lang="en-US" altLang="zh-CN" sz="2400" dirty="0"/>
          </a:p>
          <a:p>
            <a:pPr>
              <a:lnSpc>
                <a:spcPct val="130000"/>
              </a:lnSpc>
            </a:pPr>
            <a:endParaRPr lang="zh-CN" altLang="en-US" sz="2400" dirty="0"/>
          </a:p>
        </p:txBody>
      </p:sp>
      <p:sp>
        <p:nvSpPr>
          <p:cNvPr id="5" name="日期占位符 4"/>
          <p:cNvSpPr>
            <a:spLocks noGrp="1"/>
          </p:cNvSpPr>
          <p:nvPr>
            <p:ph type="dt" sz="half" idx="10"/>
          </p:nvPr>
        </p:nvSpPr>
        <p:spPr/>
        <p:txBody>
          <a:bodyPr/>
          <a:lstStyle/>
          <a:p>
            <a:fld id="{D9BA8D5B-DB40-44A0-95A1-B5133FF4C1E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58726" name="AutoShape 6"/>
          <p:cNvSpPr>
            <a:spLocks noChangeArrowheads="1"/>
          </p:cNvSpPr>
          <p:nvPr/>
        </p:nvSpPr>
        <p:spPr bwMode="auto">
          <a:xfrm>
            <a:off x="1094321" y="2398562"/>
            <a:ext cx="2495593" cy="1038226"/>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wrap="none" anchor="ctr"/>
          <a:lstStyle/>
          <a:p>
            <a:r>
              <a:rPr lang="zh-CN" altLang="en-US" sz="2000" dirty="0">
                <a:solidFill>
                  <a:prstClr val="black"/>
                </a:solidFill>
                <a:latin typeface="+mj-ea"/>
                <a:ea typeface="+mj-ea"/>
              </a:rPr>
              <a:t>实现关系的表示：</a:t>
            </a:r>
            <a:endParaRPr lang="zh-CN" altLang="en-US" sz="2000" dirty="0">
              <a:solidFill>
                <a:prstClr val="black"/>
              </a:solidFill>
              <a:latin typeface="+mj-ea"/>
              <a:ea typeface="+mj-ea"/>
            </a:endParaRPr>
          </a:p>
          <a:p>
            <a:r>
              <a:rPr lang="zh-CN" altLang="en-US" sz="2000" dirty="0">
                <a:solidFill>
                  <a:prstClr val="black"/>
                </a:solidFill>
                <a:latin typeface="+mj-ea"/>
                <a:ea typeface="+mj-ea"/>
              </a:rPr>
              <a:t>虚线</a:t>
            </a:r>
            <a:r>
              <a:rPr lang="en-US" altLang="zh-CN" sz="2000" dirty="0">
                <a:solidFill>
                  <a:prstClr val="black"/>
                </a:solidFill>
                <a:latin typeface="+mj-ea"/>
                <a:ea typeface="+mj-ea"/>
              </a:rPr>
              <a:t>+</a:t>
            </a:r>
            <a:r>
              <a:rPr lang="zh-CN" altLang="en-US" sz="2000" dirty="0">
                <a:solidFill>
                  <a:prstClr val="black"/>
                </a:solidFill>
                <a:latin typeface="+mj-ea"/>
                <a:ea typeface="+mj-ea"/>
              </a:rPr>
              <a:t>空心三角形</a:t>
            </a:r>
            <a:endParaRPr lang="zh-CN" altLang="en-US" sz="2000" dirty="0">
              <a:solidFill>
                <a:prstClr val="black"/>
              </a:solidFill>
              <a:latin typeface="+mj-ea"/>
              <a:ea typeface="+mj-ea"/>
            </a:endParaRPr>
          </a:p>
          <a:p>
            <a:r>
              <a:rPr lang="zh-CN" altLang="en-US" sz="2000" dirty="0">
                <a:solidFill>
                  <a:prstClr val="black"/>
                </a:solidFill>
                <a:latin typeface="+mj-ea"/>
                <a:ea typeface="+mj-ea"/>
              </a:rPr>
              <a:t>三角形指向接口。</a:t>
            </a:r>
            <a:endParaRPr lang="zh-CN" altLang="en-US" sz="2000" dirty="0">
              <a:solidFill>
                <a:prstClr val="black"/>
              </a:solidFill>
              <a:latin typeface="+mj-ea"/>
              <a:ea typeface="+mj-ea"/>
            </a:endParaRPr>
          </a:p>
        </p:txBody>
      </p:sp>
      <p:pic>
        <p:nvPicPr>
          <p:cNvPr id="2" name="图片 1"/>
          <p:cNvPicPr>
            <a:picLocks noChangeAspect="1"/>
          </p:cNvPicPr>
          <p:nvPr/>
        </p:nvPicPr>
        <p:blipFill>
          <a:blip r:embed="rId1">
            <a:clrChange>
              <a:clrFrom>
                <a:srgbClr val="FFFFFF"/>
              </a:clrFrom>
              <a:clrTo>
                <a:srgbClr val="FFFFFF">
                  <a:alpha val="0"/>
                </a:srgbClr>
              </a:clrTo>
            </a:clrChange>
          </a:blip>
          <a:stretch>
            <a:fillRect/>
          </a:stretch>
        </p:blipFill>
        <p:spPr>
          <a:xfrm>
            <a:off x="3748627" y="1665770"/>
            <a:ext cx="5109623" cy="28050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58726"/>
                                        </p:tgtEl>
                                        <p:attrNameLst>
                                          <p:attrName>style.visibility</p:attrName>
                                        </p:attrNameLst>
                                      </p:cBhvr>
                                      <p:to>
                                        <p:strVal val="visible"/>
                                      </p:to>
                                    </p:set>
                                    <p:animEffect transition="in" filter="randombar(horizontal)">
                                      <p:cBhvr>
                                        <p:cTn id="11" dur="500"/>
                                        <p:tgtEl>
                                          <p:spTgt spid="158726"/>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randombar(horizont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87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 </a:t>
            </a:r>
            <a:r>
              <a:rPr lang="zh-CN" altLang="zh-CN" dirty="0"/>
              <a:t>关联（</a:t>
            </a:r>
            <a:r>
              <a:rPr lang="zh-CN" altLang="zh-CN" cap="none" dirty="0"/>
              <a:t>Association</a:t>
            </a:r>
            <a:r>
              <a:rPr lang="zh-CN" altLang="zh-CN" dirty="0"/>
              <a:t>）</a:t>
            </a:r>
            <a:endParaRPr lang="zh-CN" altLang="en-US" dirty="0"/>
          </a:p>
        </p:txBody>
      </p:sp>
      <p:sp>
        <p:nvSpPr>
          <p:cNvPr id="3" name="文本占位符 2"/>
          <p:cNvSpPr>
            <a:spLocks noGrp="1"/>
          </p:cNvSpPr>
          <p:nvPr>
            <p:ph idx="1"/>
          </p:nvPr>
        </p:nvSpPr>
        <p:spPr>
          <a:xfrm>
            <a:off x="768098" y="1365813"/>
            <a:ext cx="3572408" cy="3366207"/>
          </a:xfrm>
        </p:spPr>
        <p:txBody>
          <a:bodyPr>
            <a:normAutofit/>
          </a:bodyPr>
          <a:lstStyle/>
          <a:p>
            <a:pPr marL="0" indent="0">
              <a:lnSpc>
                <a:spcPct val="130000"/>
              </a:lnSpc>
              <a:buNone/>
            </a:pPr>
            <a:r>
              <a:rPr lang="zh-CN" altLang="en-US" sz="2400" dirty="0"/>
              <a:t>对于两个相对独立的对象，当一个对象的实例与另一个对象的一些特定实例存在固定的对应关系时，这两个对象之间为</a:t>
            </a:r>
            <a:r>
              <a:rPr lang="zh-CN" altLang="en-US" sz="2400" dirty="0">
                <a:solidFill>
                  <a:srgbClr val="FF0000"/>
                </a:solidFill>
              </a:rPr>
              <a:t>关联关系</a:t>
            </a:r>
            <a:r>
              <a:rPr lang="zh-CN" altLang="en-US" sz="2400" dirty="0"/>
              <a:t>。 </a:t>
            </a:r>
            <a:endParaRPr lang="zh-CN" altLang="en-US" sz="2400" dirty="0"/>
          </a:p>
        </p:txBody>
      </p:sp>
      <p:sp>
        <p:nvSpPr>
          <p:cNvPr id="2" name="日期占位符 1"/>
          <p:cNvSpPr>
            <a:spLocks noGrp="1"/>
          </p:cNvSpPr>
          <p:nvPr>
            <p:ph type="dt" sz="half" idx="10"/>
          </p:nvPr>
        </p:nvSpPr>
        <p:spPr/>
        <p:txBody>
          <a:bodyPr/>
          <a:lstStyle/>
          <a:p>
            <a:fld id="{F83A360B-36F7-477A-8D91-C564C642F28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4807659" y="656791"/>
            <a:ext cx="4166338" cy="39479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zh-CN" dirty="0"/>
              <a:t>关联</a:t>
            </a:r>
            <a:r>
              <a:rPr lang="zh-CN" altLang="en-US" dirty="0"/>
              <a:t>关系</a:t>
            </a:r>
            <a:endParaRPr lang="zh-CN" altLang="en-US" dirty="0"/>
          </a:p>
        </p:txBody>
      </p:sp>
      <p:sp>
        <p:nvSpPr>
          <p:cNvPr id="3" name="文本占位符 2"/>
          <p:cNvSpPr>
            <a:spLocks noGrp="1"/>
          </p:cNvSpPr>
          <p:nvPr>
            <p:ph idx="1"/>
          </p:nvPr>
        </p:nvSpPr>
        <p:spPr>
          <a:xfrm>
            <a:off x="768097" y="925167"/>
            <a:ext cx="7832833" cy="1806213"/>
          </a:xfrm>
        </p:spPr>
        <p:txBody>
          <a:bodyPr>
            <a:normAutofit/>
          </a:bodyPr>
          <a:lstStyle/>
          <a:p>
            <a:pPr marL="342900" indent="-342900">
              <a:lnSpc>
                <a:spcPct val="130000"/>
              </a:lnSpc>
            </a:pPr>
            <a:r>
              <a:rPr lang="zh-CN" altLang="en-US" sz="2000" dirty="0"/>
              <a:t>比如客户和订单，每个订单对应特定的客户，每个客户对应一些特定的订单。</a:t>
            </a:r>
            <a:endParaRPr lang="en-US" altLang="zh-CN" sz="2000" dirty="0"/>
          </a:p>
          <a:p>
            <a:pPr marL="342900" indent="-342900">
              <a:lnSpc>
                <a:spcPct val="130000"/>
              </a:lnSpc>
            </a:pPr>
            <a:r>
              <a:rPr lang="zh-CN" altLang="en-US" sz="2000" dirty="0"/>
              <a:t>再例如公司和员工，每个公司对应一些特定的员工，每个员工对应一特定的公司。</a:t>
            </a:r>
            <a:endParaRPr lang="zh-CN" altLang="en-US" sz="2000" dirty="0"/>
          </a:p>
        </p:txBody>
      </p:sp>
      <p:sp>
        <p:nvSpPr>
          <p:cNvPr id="5" name="日期占位符 4"/>
          <p:cNvSpPr>
            <a:spLocks noGrp="1"/>
          </p:cNvSpPr>
          <p:nvPr>
            <p:ph type="dt" sz="half" idx="10"/>
          </p:nvPr>
        </p:nvSpPr>
        <p:spPr/>
        <p:txBody>
          <a:bodyPr/>
          <a:lstStyle/>
          <a:p>
            <a:fld id="{F498C40C-AE64-4C40-8A47-CC47E3046E2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51556" name="Picture 4" descr="d4b10677-364d-4c34-beb7-416f8e835d8c"/>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4777682" y="2544048"/>
            <a:ext cx="2862263" cy="622697"/>
          </a:xfrm>
          <a:prstGeom prst="rect">
            <a:avLst/>
          </a:prstGeom>
          <a:noFill/>
          <a:ln w="9525">
            <a:noFill/>
            <a:miter lim="800000"/>
            <a:headEnd/>
            <a:tailEnd/>
          </a:ln>
        </p:spPr>
      </p:pic>
      <p:sp>
        <p:nvSpPr>
          <p:cNvPr id="151557" name="AutoShape 5"/>
          <p:cNvSpPr>
            <a:spLocks noChangeArrowheads="1"/>
          </p:cNvSpPr>
          <p:nvPr/>
        </p:nvSpPr>
        <p:spPr bwMode="auto">
          <a:xfrm>
            <a:off x="586214" y="3152318"/>
            <a:ext cx="3230484" cy="893832"/>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anchor="ctr"/>
          <a:lstStyle/>
          <a:p>
            <a:r>
              <a:rPr lang="zh-CN" altLang="en-US" sz="2000" dirty="0">
                <a:solidFill>
                  <a:prstClr val="black"/>
                </a:solidFill>
                <a:latin typeface="+mj-ea"/>
                <a:ea typeface="+mj-ea"/>
              </a:rPr>
              <a:t>关联关系用实线箭头表示，箭头指向被使用的类。</a:t>
            </a:r>
            <a:endParaRPr lang="zh-CN" altLang="en-US" sz="2000" dirty="0">
              <a:solidFill>
                <a:prstClr val="black"/>
              </a:solidFill>
              <a:latin typeface="+mj-ea"/>
              <a:ea typeface="+mj-ea"/>
            </a:endParaRPr>
          </a:p>
        </p:txBody>
      </p:sp>
      <p:pic>
        <p:nvPicPr>
          <p:cNvPr id="2" name="图片 1"/>
          <p:cNvPicPr>
            <a:picLocks noChangeAspect="1"/>
          </p:cNvPicPr>
          <p:nvPr/>
        </p:nvPicPr>
        <p:blipFill>
          <a:blip r:embed="rId2">
            <a:clrChange>
              <a:clrFrom>
                <a:srgbClr val="FFFFFF"/>
              </a:clrFrom>
              <a:clrTo>
                <a:srgbClr val="FFFFFF">
                  <a:alpha val="0"/>
                </a:srgbClr>
              </a:clrTo>
            </a:clrChange>
          </a:blip>
          <a:stretch>
            <a:fillRect/>
          </a:stretch>
        </p:blipFill>
        <p:spPr>
          <a:xfrm>
            <a:off x="4181823" y="3452249"/>
            <a:ext cx="4311302" cy="979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51557"/>
                                        </p:tgtEl>
                                        <p:attrNameLst>
                                          <p:attrName>style.visibility</p:attrName>
                                        </p:attrNameLst>
                                      </p:cBhvr>
                                      <p:to>
                                        <p:strVal val="visible"/>
                                      </p:to>
                                    </p:set>
                                    <p:animEffect transition="in" filter="randombar(horizontal)">
                                      <p:cBhvr>
                                        <p:cTn id="17" dur="500"/>
                                        <p:tgtEl>
                                          <p:spTgt spid="15155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1556"/>
                                        </p:tgtEl>
                                        <p:attrNameLst>
                                          <p:attrName>style.visibility</p:attrName>
                                        </p:attrNameLst>
                                      </p:cBhvr>
                                      <p:to>
                                        <p:strVal val="visible"/>
                                      </p:to>
                                    </p:set>
                                    <p:animEffect transition="in" filter="randombar(horizontal)">
                                      <p:cBhvr>
                                        <p:cTn id="22" dur="500"/>
                                        <p:tgtEl>
                                          <p:spTgt spid="15155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randombar(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155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a:t>关联</a:t>
            </a:r>
            <a:endParaRPr lang="zh-CN" altLang="en-US"/>
          </a:p>
        </p:txBody>
      </p:sp>
      <p:sp>
        <p:nvSpPr>
          <p:cNvPr id="23555" name="Rectangle 3"/>
          <p:cNvSpPr>
            <a:spLocks noGrp="1" noChangeArrowheads="1"/>
          </p:cNvSpPr>
          <p:nvPr>
            <p:ph type="body" idx="1"/>
          </p:nvPr>
        </p:nvSpPr>
        <p:spPr>
          <a:xfrm>
            <a:off x="290514" y="889000"/>
            <a:ext cx="7312025" cy="3683000"/>
          </a:xfrm>
        </p:spPr>
        <p:txBody>
          <a:bodyPr>
            <a:normAutofit fontScale="77500" lnSpcReduction="20000"/>
          </a:bodyPr>
          <a:lstStyle/>
          <a:p>
            <a:pPr eaLnBrk="1" hangingPunct="1">
              <a:lnSpc>
                <a:spcPct val="80000"/>
              </a:lnSpc>
            </a:pPr>
            <a:endParaRPr lang="en-US" altLang="zh-CN" sz="2400" dirty="0"/>
          </a:p>
          <a:p>
            <a:pPr lvl="1" eaLnBrk="1" hangingPunct="1">
              <a:lnSpc>
                <a:spcPct val="80000"/>
              </a:lnSpc>
              <a:buFont typeface="Wingdings" panose="05000000000000000000" pitchFamily="2" charset="2"/>
              <a:buNone/>
            </a:pPr>
            <a:r>
              <a:rPr lang="en-US" altLang="zh-CN" sz="1800" dirty="0"/>
              <a:t>public class A</a:t>
            </a:r>
            <a:endParaRPr lang="en-US" altLang="zh-CN" sz="1800" dirty="0"/>
          </a:p>
          <a:p>
            <a:pPr lvl="1" eaLnBrk="1" hangingPunct="1">
              <a:lnSpc>
                <a:spcPct val="80000"/>
              </a:lnSpc>
              <a:buFont typeface="Wingdings" panose="05000000000000000000" pitchFamily="2" charset="2"/>
              <a:buNone/>
            </a:pPr>
            <a:r>
              <a:rPr lang="en-US" altLang="zh-CN" sz="1800" dirty="0"/>
              <a:t>{</a:t>
            </a:r>
            <a:endParaRPr lang="en-US" altLang="zh-CN" sz="1800" dirty="0"/>
          </a:p>
          <a:p>
            <a:pPr lvl="1" eaLnBrk="1" hangingPunct="1">
              <a:lnSpc>
                <a:spcPct val="80000"/>
              </a:lnSpc>
              <a:buFont typeface="Wingdings" panose="05000000000000000000" pitchFamily="2" charset="2"/>
              <a:buNone/>
            </a:pPr>
            <a:r>
              <a:rPr lang="en-US" altLang="zh-CN" sz="1800" dirty="0"/>
              <a:t>   public B </a:t>
            </a:r>
            <a:r>
              <a:rPr lang="en-US" altLang="zh-CN" sz="1800" dirty="0" err="1"/>
              <a:t>theB</a:t>
            </a:r>
            <a:r>
              <a:rPr lang="en-US" altLang="zh-CN" sz="1800" dirty="0"/>
              <a:t>;</a:t>
            </a:r>
            <a:endParaRPr lang="en-US" altLang="zh-CN" sz="1800" dirty="0"/>
          </a:p>
          <a:p>
            <a:pPr lvl="1" eaLnBrk="1" hangingPunct="1">
              <a:lnSpc>
                <a:spcPct val="80000"/>
              </a:lnSpc>
              <a:buFont typeface="Wingdings" panose="05000000000000000000" pitchFamily="2" charset="2"/>
              <a:buNone/>
            </a:pPr>
            <a:r>
              <a:rPr lang="en-US" altLang="zh-CN" sz="1800" dirty="0"/>
              <a:t>   ……</a:t>
            </a:r>
            <a:endParaRPr lang="en-US" altLang="zh-CN" sz="1800" dirty="0"/>
          </a:p>
          <a:p>
            <a:pPr lvl="1" eaLnBrk="1" hangingPunct="1">
              <a:lnSpc>
                <a:spcPct val="80000"/>
              </a:lnSpc>
              <a:buFont typeface="Wingdings" panose="05000000000000000000" pitchFamily="2" charset="2"/>
              <a:buNone/>
            </a:pPr>
            <a:r>
              <a:rPr lang="en-US" altLang="zh-CN" sz="1800" dirty="0"/>
              <a:t>   public A() { }</a:t>
            </a:r>
            <a:endParaRPr lang="en-US" altLang="zh-CN" sz="1800" dirty="0"/>
          </a:p>
          <a:p>
            <a:pPr lvl="1" eaLnBrk="1" hangingPunct="1">
              <a:lnSpc>
                <a:spcPct val="80000"/>
              </a:lnSpc>
              <a:buFont typeface="Wingdings" panose="05000000000000000000" pitchFamily="2" charset="2"/>
              <a:buNone/>
            </a:pPr>
            <a:r>
              <a:rPr lang="en-US" altLang="zh-CN" sz="1800" dirty="0"/>
              <a:t>}</a:t>
            </a:r>
            <a:endParaRPr lang="en-US" altLang="zh-CN" sz="1800" dirty="0"/>
          </a:p>
          <a:p>
            <a:pPr lvl="1" eaLnBrk="1" hangingPunct="1">
              <a:lnSpc>
                <a:spcPct val="80000"/>
              </a:lnSpc>
              <a:buFont typeface="Wingdings" panose="05000000000000000000" pitchFamily="2" charset="2"/>
              <a:buNone/>
            </a:pPr>
            <a:endParaRPr lang="en-US" altLang="zh-CN" sz="1800" dirty="0"/>
          </a:p>
          <a:p>
            <a:pPr lvl="1" eaLnBrk="1" hangingPunct="1">
              <a:lnSpc>
                <a:spcPct val="80000"/>
              </a:lnSpc>
              <a:buFont typeface="Wingdings" panose="05000000000000000000" pitchFamily="2" charset="2"/>
              <a:buNone/>
            </a:pPr>
            <a:r>
              <a:rPr lang="en-US" altLang="zh-CN" sz="1800" dirty="0"/>
              <a:t>public class B</a:t>
            </a:r>
            <a:endParaRPr lang="en-US" altLang="zh-CN" sz="1800" dirty="0"/>
          </a:p>
          <a:p>
            <a:pPr lvl="1" eaLnBrk="1" hangingPunct="1">
              <a:lnSpc>
                <a:spcPct val="80000"/>
              </a:lnSpc>
              <a:buFont typeface="Wingdings" panose="05000000000000000000" pitchFamily="2" charset="2"/>
              <a:buNone/>
            </a:pPr>
            <a:r>
              <a:rPr lang="en-US" altLang="zh-CN" sz="1800" dirty="0"/>
              <a:t>{   </a:t>
            </a:r>
            <a:endParaRPr lang="en-US" altLang="zh-CN" sz="1800" dirty="0"/>
          </a:p>
          <a:p>
            <a:pPr lvl="1" eaLnBrk="1" hangingPunct="1">
              <a:lnSpc>
                <a:spcPct val="80000"/>
              </a:lnSpc>
              <a:buFont typeface="Wingdings" panose="05000000000000000000" pitchFamily="2" charset="2"/>
              <a:buNone/>
            </a:pPr>
            <a:r>
              <a:rPr lang="en-US" altLang="zh-CN" sz="1800" dirty="0"/>
              <a:t>   ……</a:t>
            </a:r>
            <a:endParaRPr lang="en-US" altLang="zh-CN" sz="1800" dirty="0"/>
          </a:p>
          <a:p>
            <a:pPr lvl="1" eaLnBrk="1" hangingPunct="1">
              <a:lnSpc>
                <a:spcPct val="80000"/>
              </a:lnSpc>
              <a:buFont typeface="Wingdings" panose="05000000000000000000" pitchFamily="2" charset="2"/>
              <a:buNone/>
            </a:pPr>
            <a:r>
              <a:rPr lang="en-US" altLang="zh-CN" sz="1800" dirty="0"/>
              <a:t>   public B() { }</a:t>
            </a:r>
            <a:endParaRPr lang="en-US" altLang="zh-CN" sz="1800" dirty="0"/>
          </a:p>
          <a:p>
            <a:pPr lvl="1" eaLnBrk="1" hangingPunct="1">
              <a:lnSpc>
                <a:spcPct val="80000"/>
              </a:lnSpc>
              <a:buFont typeface="Wingdings" panose="05000000000000000000" pitchFamily="2" charset="2"/>
              <a:buNone/>
            </a:pPr>
            <a:r>
              <a:rPr lang="en-US" altLang="zh-CN" sz="1800" dirty="0"/>
              <a:t>}</a:t>
            </a:r>
            <a:endParaRPr lang="en-US" altLang="zh-CN" sz="1800" dirty="0"/>
          </a:p>
          <a:p>
            <a:pPr lvl="1" eaLnBrk="1" hangingPunct="1">
              <a:lnSpc>
                <a:spcPct val="80000"/>
              </a:lnSpc>
              <a:buFont typeface="Wingdings" panose="05000000000000000000" pitchFamily="2" charset="2"/>
              <a:buNone/>
            </a:pPr>
            <a:endParaRPr lang="en-US" altLang="zh-CN" sz="1800" dirty="0"/>
          </a:p>
        </p:txBody>
      </p:sp>
      <p:grpSp>
        <p:nvGrpSpPr>
          <p:cNvPr id="23556" name="Group 7"/>
          <p:cNvGrpSpPr/>
          <p:nvPr/>
        </p:nvGrpSpPr>
        <p:grpSpPr bwMode="auto">
          <a:xfrm>
            <a:off x="3055409" y="1375173"/>
            <a:ext cx="5795963" cy="762000"/>
            <a:chOff x="1837" y="1344"/>
            <a:chExt cx="3651" cy="640"/>
          </a:xfrm>
        </p:grpSpPr>
        <p:pic>
          <p:nvPicPr>
            <p:cNvPr id="2355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7" y="1344"/>
              <a:ext cx="3651"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Rectangle 5"/>
            <p:cNvSpPr>
              <a:spLocks noChangeArrowheads="1"/>
            </p:cNvSpPr>
            <p:nvPr/>
          </p:nvSpPr>
          <p:spPr bwMode="auto">
            <a:xfrm>
              <a:off x="2228" y="1392"/>
              <a:ext cx="213" cy="310"/>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algn="ctr"/>
              <a:r>
                <a:rPr lang="en-US" altLang="zh-CN"/>
                <a:t>A</a:t>
              </a:r>
              <a:endParaRPr lang="en-US" altLang="zh-CN"/>
            </a:p>
          </p:txBody>
        </p:sp>
        <p:sp>
          <p:nvSpPr>
            <p:cNvPr id="23559" name="Rectangle 6"/>
            <p:cNvSpPr>
              <a:spLocks noChangeArrowheads="1"/>
            </p:cNvSpPr>
            <p:nvPr/>
          </p:nvSpPr>
          <p:spPr bwMode="auto">
            <a:xfrm>
              <a:off x="4332" y="1392"/>
              <a:ext cx="997" cy="310"/>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algn="ctr"/>
              <a:r>
                <a:rPr lang="en-US" altLang="zh-CN"/>
                <a:t>B</a:t>
              </a:r>
              <a:endParaRPr lang="en-US" altLang="zh-CN"/>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关联关系的动作和多重性</a:t>
            </a:r>
            <a:endParaRPr lang="zh-CN" altLang="en-US" dirty="0"/>
          </a:p>
        </p:txBody>
      </p:sp>
      <p:sp>
        <p:nvSpPr>
          <p:cNvPr id="2" name="日期占位符 1"/>
          <p:cNvSpPr>
            <a:spLocks noGrp="1"/>
          </p:cNvSpPr>
          <p:nvPr>
            <p:ph type="dt" sz="half" idx="10"/>
          </p:nvPr>
        </p:nvSpPr>
        <p:spPr/>
        <p:txBody>
          <a:bodyPr/>
          <a:lstStyle/>
          <a:p>
            <a:fld id="{71C0C1BF-8FF2-4FEB-A554-96AF086CC55D}"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52579"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069394" y="765035"/>
            <a:ext cx="5760841" cy="4314768"/>
          </a:xfrm>
          <a:prstGeom prst="rect">
            <a:avLst/>
          </a:prstGeom>
        </p:spPr>
        <p:style>
          <a:lnRef idx="2">
            <a:schemeClr val="accent1"/>
          </a:lnRef>
          <a:fillRef idx="1">
            <a:schemeClr val="lt1"/>
          </a:fillRef>
          <a:effectRef idx="0">
            <a:schemeClr val="accent1"/>
          </a:effectRef>
          <a:fontRef idx="minor">
            <a:schemeClr val="dk1"/>
          </a:fontRef>
        </p:style>
      </p:pic>
      <p:sp>
        <p:nvSpPr>
          <p:cNvPr id="152580" name="AutoShape 4"/>
          <p:cNvSpPr/>
          <p:nvPr/>
        </p:nvSpPr>
        <p:spPr bwMode="auto">
          <a:xfrm>
            <a:off x="5868591" y="121188"/>
            <a:ext cx="2132409" cy="888462"/>
          </a:xfrm>
          <a:prstGeom prst="borderCallout2">
            <a:avLst>
              <a:gd name="adj1" fmla="val 12204"/>
              <a:gd name="adj2" fmla="val -3111"/>
              <a:gd name="adj3" fmla="val 12204"/>
              <a:gd name="adj4" fmla="val -12713"/>
              <a:gd name="adj5" fmla="val 159564"/>
              <a:gd name="adj6" fmla="val -20778"/>
            </a:avLst>
          </a:prstGeom>
          <a:solidFill>
            <a:schemeClr val="bg1"/>
          </a:solidFill>
          <a:ln w="22225" algn="ctr">
            <a:solidFill>
              <a:srgbClr val="FF00FF"/>
            </a:solidFill>
            <a:miter lim="800000"/>
          </a:ln>
          <a:effectLst>
            <a:outerShdw dist="35921" dir="2700000" algn="ctr" rotWithShape="0">
              <a:schemeClr val="bg2"/>
            </a:outerShdw>
          </a:effectLst>
        </p:spPr>
        <p:txBody>
          <a:bodyPr/>
          <a:lstStyle/>
          <a:p>
            <a:r>
              <a:rPr lang="zh-CN" altLang="en-US" sz="1350" b="1" dirty="0">
                <a:solidFill>
                  <a:prstClr val="black"/>
                </a:solidFill>
                <a:ea typeface="华文细黑" panose="02010600040101010101" pitchFamily="2" charset="-122"/>
              </a:rPr>
              <a:t>关联的多重性是指类中有多少对象与关联的类的一个对象相关。重数常描述为</a:t>
            </a:r>
            <a:r>
              <a:rPr lang="zh-CN" altLang="en-US" sz="1350" b="1" dirty="0">
                <a:solidFill>
                  <a:prstClr val="black"/>
                </a:solidFill>
                <a:latin typeface="华文细黑" panose="02010600040101010101" pitchFamily="2" charset="-122"/>
                <a:ea typeface="华文细黑" panose="02010600040101010101" pitchFamily="2" charset="-122"/>
              </a:rPr>
              <a:t>‘</a:t>
            </a:r>
            <a:r>
              <a:rPr lang="zh-CN" altLang="en-US" sz="1350" b="1" dirty="0">
                <a:solidFill>
                  <a:prstClr val="black"/>
                </a:solidFill>
                <a:ea typeface="华文细黑" panose="02010600040101010101" pitchFamily="2" charset="-122"/>
              </a:rPr>
              <a:t>一</a:t>
            </a:r>
            <a:r>
              <a:rPr lang="zh-CN" altLang="en-US" sz="1350" b="1" dirty="0">
                <a:solidFill>
                  <a:prstClr val="black"/>
                </a:solidFill>
                <a:latin typeface="华文细黑" panose="02010600040101010101" pitchFamily="2" charset="-122"/>
                <a:ea typeface="华文细黑" panose="02010600040101010101" pitchFamily="2" charset="-122"/>
              </a:rPr>
              <a:t>’</a:t>
            </a:r>
            <a:r>
              <a:rPr lang="zh-CN" altLang="en-US" sz="1350" b="1" dirty="0">
                <a:solidFill>
                  <a:prstClr val="black"/>
                </a:solidFill>
                <a:ea typeface="华文细黑" panose="02010600040101010101" pitchFamily="2" charset="-122"/>
              </a:rPr>
              <a:t>或</a:t>
            </a:r>
            <a:r>
              <a:rPr lang="zh-CN" altLang="en-US" sz="1350" b="1" dirty="0">
                <a:solidFill>
                  <a:prstClr val="black"/>
                </a:solidFill>
                <a:latin typeface="华文细黑" panose="02010600040101010101" pitchFamily="2" charset="-122"/>
                <a:ea typeface="华文细黑" panose="02010600040101010101" pitchFamily="2" charset="-122"/>
              </a:rPr>
              <a:t>‘</a:t>
            </a:r>
            <a:r>
              <a:rPr lang="zh-CN" altLang="en-US" sz="1350" b="1" dirty="0">
                <a:solidFill>
                  <a:prstClr val="black"/>
                </a:solidFill>
                <a:ea typeface="华文细黑" panose="02010600040101010101" pitchFamily="2" charset="-122"/>
              </a:rPr>
              <a:t>多</a:t>
            </a:r>
            <a:r>
              <a:rPr lang="zh-CN" altLang="en-US" sz="1350" b="1" dirty="0">
                <a:solidFill>
                  <a:prstClr val="black"/>
                </a:solidFill>
                <a:latin typeface="华文细黑" panose="02010600040101010101" pitchFamily="2" charset="-122"/>
                <a:ea typeface="华文细黑" panose="02010600040101010101" pitchFamily="2" charset="-122"/>
              </a:rPr>
              <a:t>’</a:t>
            </a:r>
            <a:r>
              <a:rPr lang="zh-CN" altLang="en-US" sz="1350" b="1" dirty="0">
                <a:solidFill>
                  <a:prstClr val="black"/>
                </a:solidFill>
                <a:ea typeface="华文细黑" panose="02010600040101010101" pitchFamily="2" charset="-122"/>
              </a:rPr>
              <a:t>。</a:t>
            </a:r>
            <a:endParaRPr lang="zh-CN" altLang="en-US" sz="1350" b="1" dirty="0">
              <a:solidFill>
                <a:prstClr val="black"/>
              </a:solidFill>
              <a:ea typeface="华文细黑" panose="02010600040101010101" pitchFamily="2" charset="-122"/>
            </a:endParaRPr>
          </a:p>
        </p:txBody>
      </p:sp>
      <p:sp>
        <p:nvSpPr>
          <p:cNvPr id="152581" name="AutoShape 5"/>
          <p:cNvSpPr/>
          <p:nvPr/>
        </p:nvSpPr>
        <p:spPr bwMode="auto">
          <a:xfrm>
            <a:off x="1169239" y="1009650"/>
            <a:ext cx="1344215" cy="718797"/>
          </a:xfrm>
          <a:prstGeom prst="borderCallout2">
            <a:avLst>
              <a:gd name="adj1" fmla="val 15894"/>
              <a:gd name="adj2" fmla="val 104250"/>
              <a:gd name="adj3" fmla="val 15894"/>
              <a:gd name="adj4" fmla="val 189639"/>
              <a:gd name="adj5" fmla="val 71040"/>
              <a:gd name="adj6" fmla="val 264696"/>
            </a:avLst>
          </a:prstGeom>
          <a:solidFill>
            <a:schemeClr val="bg1"/>
          </a:solidFill>
          <a:ln w="22225" algn="ctr">
            <a:solidFill>
              <a:srgbClr val="FF00FF"/>
            </a:solidFill>
            <a:miter lim="800000"/>
          </a:ln>
          <a:effectLst>
            <a:outerShdw dist="35921" dir="2700000" algn="ctr" rotWithShape="0">
              <a:schemeClr val="bg2"/>
            </a:outerShdw>
          </a:effectLst>
        </p:spPr>
        <p:txBody>
          <a:bodyPr/>
          <a:lstStyle/>
          <a:p>
            <a:r>
              <a:rPr lang="zh-CN" altLang="en-US" sz="1350" b="1" dirty="0">
                <a:solidFill>
                  <a:prstClr val="black"/>
                </a:solidFill>
                <a:ea typeface="华文细黑" panose="02010600040101010101" pitchFamily="2" charset="-122"/>
              </a:rPr>
              <a:t>关联的动作，用小黑三角表示名字的方向。</a:t>
            </a:r>
            <a:endParaRPr lang="zh-CN" altLang="en-US" sz="1350" b="1" dirty="0">
              <a:solidFill>
                <a:prstClr val="black"/>
              </a:solidFill>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2579"/>
                                        </p:tgtEl>
                                        <p:attrNameLst>
                                          <p:attrName>style.visibility</p:attrName>
                                        </p:attrNameLst>
                                      </p:cBhvr>
                                      <p:to>
                                        <p:strVal val="visible"/>
                                      </p:to>
                                    </p:set>
                                    <p:animEffect transition="in" filter="randombar(horizontal)">
                                      <p:cBhvr>
                                        <p:cTn id="7" dur="500"/>
                                        <p:tgtEl>
                                          <p:spTgt spid="1525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52581"/>
                                        </p:tgtEl>
                                        <p:attrNameLst>
                                          <p:attrName>style.visibility</p:attrName>
                                        </p:attrNameLst>
                                      </p:cBhvr>
                                      <p:to>
                                        <p:strVal val="visible"/>
                                      </p:to>
                                    </p:set>
                                    <p:animEffect transition="in" filter="wipe(right)">
                                      <p:cBhvr>
                                        <p:cTn id="12" dur="500"/>
                                        <p:tgtEl>
                                          <p:spTgt spid="1525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2580"/>
                                        </p:tgtEl>
                                        <p:attrNameLst>
                                          <p:attrName>style.visibility</p:attrName>
                                        </p:attrNameLst>
                                      </p:cBhvr>
                                      <p:to>
                                        <p:strVal val="visible"/>
                                      </p:to>
                                    </p:set>
                                    <p:animEffect transition="in" filter="wipe(left)">
                                      <p:cBhvr>
                                        <p:cTn id="17"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animBg="1"/>
      <p:bldP spid="15258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重数性关联</a:t>
            </a:r>
            <a:endParaRPr lang="zh-CN" altLang="en-US" dirty="0"/>
          </a:p>
        </p:txBody>
      </p:sp>
      <p:sp>
        <p:nvSpPr>
          <p:cNvPr id="3" name="文本占位符 2"/>
          <p:cNvSpPr>
            <a:spLocks noGrp="1"/>
          </p:cNvSpPr>
          <p:nvPr>
            <p:ph idx="1"/>
          </p:nvPr>
        </p:nvSpPr>
        <p:spPr>
          <a:xfrm>
            <a:off x="768097" y="805763"/>
            <a:ext cx="8090153" cy="3806854"/>
          </a:xfrm>
        </p:spPr>
        <p:txBody>
          <a:bodyPr>
            <a:normAutofit/>
          </a:bodyPr>
          <a:lstStyle/>
          <a:p>
            <a:pPr>
              <a:lnSpc>
                <a:spcPct val="100000"/>
              </a:lnSpc>
              <a:spcBef>
                <a:spcPts val="600"/>
              </a:spcBef>
            </a:pPr>
            <a:r>
              <a:rPr lang="zh-CN" altLang="en-US" sz="2000" dirty="0"/>
              <a:t>又称</a:t>
            </a:r>
            <a:r>
              <a:rPr lang="zh-CN" altLang="en-US" sz="2000" dirty="0">
                <a:solidFill>
                  <a:srgbClr val="FF0000"/>
                </a:solidFill>
              </a:rPr>
              <a:t>多重性关联</a:t>
            </a:r>
            <a:r>
              <a:rPr lang="zh-CN" altLang="en-US" sz="2000" dirty="0"/>
              <a:t>关系，表示一个类的对象与另一个类的对象连接的个数。</a:t>
            </a:r>
            <a:endParaRPr lang="en-US" altLang="zh-CN" sz="2000" dirty="0"/>
          </a:p>
          <a:p>
            <a:pPr>
              <a:lnSpc>
                <a:spcPct val="100000"/>
              </a:lnSpc>
              <a:spcBef>
                <a:spcPts val="600"/>
              </a:spcBef>
            </a:pPr>
            <a:r>
              <a:rPr lang="zh-CN" altLang="en-US" sz="2000" dirty="0"/>
              <a:t>在关联直线上增加一个数字表示与之对应的另一个类的对象的个数。</a:t>
            </a:r>
            <a:endParaRPr lang="en-US" altLang="zh-CN" sz="2000" dirty="0"/>
          </a:p>
          <a:p>
            <a:pPr>
              <a:lnSpc>
                <a:spcPct val="100000"/>
              </a:lnSpc>
              <a:spcBef>
                <a:spcPts val="600"/>
              </a:spcBef>
            </a:pPr>
            <a:r>
              <a:rPr lang="zh-CN" altLang="en-US" sz="2000" dirty="0"/>
              <a:t>重数性关联的表示方式如下：</a:t>
            </a:r>
            <a:endParaRPr lang="zh-CN" altLang="en-US" sz="2000" dirty="0"/>
          </a:p>
        </p:txBody>
      </p:sp>
      <p:sp>
        <p:nvSpPr>
          <p:cNvPr id="7" name="日期占位符 6"/>
          <p:cNvSpPr>
            <a:spLocks noGrp="1"/>
          </p:cNvSpPr>
          <p:nvPr>
            <p:ph type="dt" sz="half" idx="10"/>
          </p:nvPr>
        </p:nvSpPr>
        <p:spPr/>
        <p:txBody>
          <a:bodyPr/>
          <a:lstStyle/>
          <a:p>
            <a:fld id="{EEF5845E-F5F0-49A3-A018-B4ADB3D45A30}"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表格 4"/>
          <p:cNvGraphicFramePr>
            <a:graphicFrameLocks noGrp="1"/>
          </p:cNvGraphicFramePr>
          <p:nvPr/>
        </p:nvGraphicFramePr>
        <p:xfrm>
          <a:off x="768096" y="2240927"/>
          <a:ext cx="7936066" cy="2451236"/>
        </p:xfrm>
        <a:graphic>
          <a:graphicData uri="http://schemas.openxmlformats.org/drawingml/2006/table">
            <a:tbl>
              <a:tblPr firstRow="1" bandRow="1">
                <a:tableStyleId>{5C22544A-7EE6-4342-B048-85BDC9FD1C3A}</a:tableStyleId>
              </a:tblPr>
              <a:tblGrid>
                <a:gridCol w="1606602"/>
                <a:gridCol w="6329464"/>
              </a:tblGrid>
              <a:tr h="352652">
                <a:tc>
                  <a:txBody>
                    <a:bodyPr/>
                    <a:lstStyle/>
                    <a:p>
                      <a:pPr algn="ctr"/>
                      <a:r>
                        <a:rPr lang="zh-CN" altLang="en-US" sz="1800" dirty="0">
                          <a:latin typeface="+mj-ea"/>
                          <a:ea typeface="+mj-ea"/>
                        </a:rPr>
                        <a:t>表示方式</a:t>
                      </a:r>
                      <a:endParaRPr lang="zh-CN" altLang="en-US" sz="1800" dirty="0">
                        <a:latin typeface="+mj-ea"/>
                        <a:ea typeface="+mj-ea"/>
                      </a:endParaRPr>
                    </a:p>
                  </a:txBody>
                  <a:tcPr marL="68580" marR="68580" marT="34290" marB="34290" anchor="ctr"/>
                </a:tc>
                <a:tc>
                  <a:txBody>
                    <a:bodyPr/>
                    <a:lstStyle/>
                    <a:p>
                      <a:pPr algn="ctr"/>
                      <a:r>
                        <a:rPr lang="zh-CN" altLang="en-US" sz="1800" dirty="0">
                          <a:latin typeface="+mj-ea"/>
                          <a:ea typeface="+mj-ea"/>
                        </a:rPr>
                        <a:t>多重性说明</a:t>
                      </a:r>
                      <a:endParaRPr lang="zh-CN" altLang="en-US" sz="1800" dirty="0">
                        <a:latin typeface="+mj-ea"/>
                        <a:ea typeface="+mj-ea"/>
                      </a:endParaRPr>
                    </a:p>
                  </a:txBody>
                  <a:tcPr marL="68580" marR="68580" marT="34290" marB="34290" anchor="ctr"/>
                </a:tc>
              </a:tr>
              <a:tr h="370341">
                <a:tc>
                  <a:txBody>
                    <a:bodyPr/>
                    <a:lstStyle/>
                    <a:p>
                      <a:pPr algn="ctr"/>
                      <a:r>
                        <a:rPr lang="en-US" altLang="zh-CN" sz="1800" dirty="0">
                          <a:latin typeface="+mj-ea"/>
                          <a:ea typeface="+mj-ea"/>
                        </a:rPr>
                        <a:t>1..1</a:t>
                      </a:r>
                      <a:endParaRPr lang="zh-CN" altLang="en-US" sz="1800" dirty="0">
                        <a:latin typeface="+mj-ea"/>
                        <a:ea typeface="+mj-ea"/>
                      </a:endParaRPr>
                    </a:p>
                  </a:txBody>
                  <a:tcPr marL="68580" marR="68580" marT="34290" marB="34290" anchor="ctr"/>
                </a:tc>
                <a:tc>
                  <a:txBody>
                    <a:bodyPr/>
                    <a:lstStyle/>
                    <a:p>
                      <a:pPr algn="ctr"/>
                      <a:r>
                        <a:rPr lang="zh-CN" altLang="en-US" sz="1800" dirty="0">
                          <a:latin typeface="+mj-ea"/>
                          <a:ea typeface="+mj-ea"/>
                        </a:rPr>
                        <a:t>表示另一个类的一个对象只与一个该类对象有关系</a:t>
                      </a:r>
                      <a:endParaRPr lang="zh-CN" altLang="en-US" sz="1800" dirty="0">
                        <a:latin typeface="+mj-ea"/>
                        <a:ea typeface="+mj-ea"/>
                      </a:endParaRPr>
                    </a:p>
                  </a:txBody>
                  <a:tcPr marL="68580" marR="68580" marT="34290" marB="34290" anchor="ctr"/>
                </a:tc>
              </a:tr>
              <a:tr h="370341">
                <a:tc>
                  <a:txBody>
                    <a:bodyPr/>
                    <a:lstStyle/>
                    <a:p>
                      <a:pPr algn="ctr"/>
                      <a:r>
                        <a:rPr lang="en-US" altLang="zh-CN" sz="1800" dirty="0">
                          <a:latin typeface="+mj-ea"/>
                          <a:ea typeface="+mj-ea"/>
                        </a:rPr>
                        <a:t>0..*</a:t>
                      </a:r>
                      <a:endParaRPr lang="zh-CN" altLang="en-US" sz="1800" dirty="0">
                        <a:latin typeface="+mj-ea"/>
                        <a:ea typeface="+mj-ea"/>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800" dirty="0">
                          <a:latin typeface="+mj-ea"/>
                          <a:ea typeface="+mj-ea"/>
                        </a:rPr>
                        <a:t>表示另一个类的一个对象与零个或多个该类对象有关系</a:t>
                      </a:r>
                      <a:endParaRPr lang="zh-CN" altLang="en-US" sz="1800" dirty="0">
                        <a:latin typeface="+mj-ea"/>
                        <a:ea typeface="+mj-ea"/>
                      </a:endParaRPr>
                    </a:p>
                  </a:txBody>
                  <a:tcPr marL="68580" marR="68580" marT="34290" marB="34290" anchor="ctr"/>
                </a:tc>
              </a:tr>
              <a:tr h="370341">
                <a:tc>
                  <a:txBody>
                    <a:bodyPr/>
                    <a:lstStyle/>
                    <a:p>
                      <a:pPr algn="ctr"/>
                      <a:r>
                        <a:rPr lang="en-US" altLang="zh-CN" sz="1800" dirty="0">
                          <a:latin typeface="+mj-ea"/>
                          <a:ea typeface="+mj-ea"/>
                        </a:rPr>
                        <a:t>1..*</a:t>
                      </a:r>
                      <a:endParaRPr lang="zh-CN" altLang="en-US" sz="1800" dirty="0">
                        <a:latin typeface="+mj-ea"/>
                        <a:ea typeface="+mj-ea"/>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800" dirty="0">
                          <a:latin typeface="+mj-ea"/>
                          <a:ea typeface="+mj-ea"/>
                        </a:rPr>
                        <a:t>表示另一个类的一个对象与一个或多个该类对象有关系</a:t>
                      </a:r>
                      <a:endParaRPr lang="zh-CN" altLang="en-US" sz="1800" dirty="0">
                        <a:latin typeface="+mj-ea"/>
                        <a:ea typeface="+mj-ea"/>
                      </a:endParaRPr>
                    </a:p>
                  </a:txBody>
                  <a:tcPr marL="68580" marR="68580" marT="34290" marB="34290" anchor="ctr"/>
                </a:tc>
              </a:tr>
              <a:tr h="370341">
                <a:tc>
                  <a:txBody>
                    <a:bodyPr/>
                    <a:lstStyle/>
                    <a:p>
                      <a:pPr algn="ctr"/>
                      <a:r>
                        <a:rPr lang="en-US" altLang="zh-CN" sz="1800" dirty="0">
                          <a:latin typeface="+mj-ea"/>
                          <a:ea typeface="+mj-ea"/>
                        </a:rPr>
                        <a:t>0..1</a:t>
                      </a:r>
                      <a:endParaRPr lang="zh-CN" altLang="en-US" sz="1800" dirty="0">
                        <a:latin typeface="+mj-ea"/>
                        <a:ea typeface="+mj-ea"/>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800" dirty="0">
                          <a:latin typeface="+mj-ea"/>
                          <a:ea typeface="+mj-ea"/>
                        </a:rPr>
                        <a:t>表示另一个类的一个对象没有或只与一个该类对象有关系</a:t>
                      </a:r>
                      <a:endParaRPr lang="zh-CN" altLang="en-US" sz="1800" dirty="0">
                        <a:latin typeface="+mj-ea"/>
                        <a:ea typeface="+mj-ea"/>
                      </a:endParaRPr>
                    </a:p>
                  </a:txBody>
                  <a:tcPr marL="68580" marR="68580" marT="34290" marB="34290" anchor="ctr"/>
                </a:tc>
              </a:tr>
              <a:tr h="525780">
                <a:tc>
                  <a:txBody>
                    <a:bodyPr/>
                    <a:lstStyle/>
                    <a:p>
                      <a:pPr algn="ctr"/>
                      <a:r>
                        <a:rPr lang="en-US" altLang="zh-CN" sz="1800" dirty="0" err="1">
                          <a:latin typeface="+mj-ea"/>
                          <a:ea typeface="+mj-ea"/>
                        </a:rPr>
                        <a:t>m..n</a:t>
                      </a:r>
                      <a:endParaRPr lang="zh-CN" altLang="en-US" sz="1800" dirty="0">
                        <a:latin typeface="+mj-ea"/>
                        <a:ea typeface="+mj-ea"/>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800" dirty="0">
                          <a:latin typeface="+mj-ea"/>
                          <a:ea typeface="+mj-ea"/>
                        </a:rPr>
                        <a:t>表示另一个类的一个对象与最少</a:t>
                      </a:r>
                      <a:r>
                        <a:rPr lang="en-US" altLang="zh-CN" sz="1800" dirty="0">
                          <a:latin typeface="+mj-ea"/>
                          <a:ea typeface="+mj-ea"/>
                        </a:rPr>
                        <a:t>m</a:t>
                      </a:r>
                      <a:r>
                        <a:rPr lang="zh-CN" altLang="en-US" sz="1800" dirty="0">
                          <a:latin typeface="+mj-ea"/>
                          <a:ea typeface="+mj-ea"/>
                        </a:rPr>
                        <a:t>、最多</a:t>
                      </a:r>
                      <a:r>
                        <a:rPr lang="en-US" altLang="zh-CN" sz="1800" dirty="0">
                          <a:latin typeface="+mj-ea"/>
                          <a:ea typeface="+mj-ea"/>
                        </a:rPr>
                        <a:t>n</a:t>
                      </a:r>
                      <a:r>
                        <a:rPr lang="zh-CN" altLang="en-US" sz="1800" dirty="0">
                          <a:latin typeface="+mj-ea"/>
                          <a:ea typeface="+mj-ea"/>
                        </a:rPr>
                        <a:t>个该类对象有关系（</a:t>
                      </a:r>
                      <a:r>
                        <a:rPr lang="en-US" altLang="zh-CN" sz="1800" dirty="0">
                          <a:latin typeface="+mj-ea"/>
                          <a:ea typeface="+mj-ea"/>
                        </a:rPr>
                        <a:t>m&lt;=n</a:t>
                      </a:r>
                      <a:r>
                        <a:rPr lang="zh-CN" altLang="en-US" sz="1800" dirty="0">
                          <a:latin typeface="+mj-ea"/>
                          <a:ea typeface="+mj-ea"/>
                        </a:rPr>
                        <a:t>）</a:t>
                      </a:r>
                      <a:endParaRPr lang="zh-CN" altLang="en-US" sz="1800" dirty="0">
                        <a:latin typeface="+mj-ea"/>
                        <a:ea typeface="+mj-ea"/>
                      </a:endParaRPr>
                    </a:p>
                  </a:txBody>
                  <a:tcPr marL="68580" marR="68580" marT="34290" marB="34290" anchor="ctr"/>
                </a:tc>
              </a:tr>
            </a:tbl>
          </a:graphicData>
        </a:graphic>
      </p:graphicFrame>
      <p:pic>
        <p:nvPicPr>
          <p:cNvPr id="6" name="图片 5"/>
          <p:cNvPicPr>
            <a:picLocks noChangeAspect="1"/>
          </p:cNvPicPr>
          <p:nvPr/>
        </p:nvPicPr>
        <p:blipFill>
          <a:blip r:embed="rId1"/>
          <a:stretch>
            <a:fillRect/>
          </a:stretch>
        </p:blipFill>
        <p:spPr>
          <a:xfrm>
            <a:off x="1803942" y="2963974"/>
            <a:ext cx="5514320" cy="1232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randombar(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关联关系的角色和关联类</a:t>
            </a:r>
            <a:endParaRPr lang="zh-CN" altLang="en-US" dirty="0"/>
          </a:p>
        </p:txBody>
      </p:sp>
      <p:sp>
        <p:nvSpPr>
          <p:cNvPr id="5" name="日期占位符 4"/>
          <p:cNvSpPr>
            <a:spLocks noGrp="1"/>
          </p:cNvSpPr>
          <p:nvPr>
            <p:ph type="dt" sz="half" idx="10"/>
          </p:nvPr>
        </p:nvSpPr>
        <p:spPr/>
        <p:txBody>
          <a:bodyPr/>
          <a:lstStyle/>
          <a:p>
            <a:fld id="{8849882A-42B7-47F3-B3DF-3DB374FF599D}"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53603"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3416924" y="2535862"/>
            <a:ext cx="3671888" cy="2107406"/>
          </a:xfrm>
          <a:prstGeom prst="rect">
            <a:avLst/>
          </a:prstGeom>
          <a:noFill/>
          <a:ln w="9525" algn="ctr">
            <a:noFill/>
            <a:miter lim="800000"/>
            <a:headEnd/>
            <a:tailEnd/>
          </a:ln>
          <a:effectLst/>
        </p:spPr>
      </p:pic>
      <p:grpSp>
        <p:nvGrpSpPr>
          <p:cNvPr id="2" name="组合 1"/>
          <p:cNvGrpSpPr/>
          <p:nvPr/>
        </p:nvGrpSpPr>
        <p:grpSpPr>
          <a:xfrm>
            <a:off x="4421216" y="1038781"/>
            <a:ext cx="2176354" cy="1653563"/>
            <a:chOff x="3636169" y="1368714"/>
            <a:chExt cx="2901805" cy="2204749"/>
          </a:xfrm>
        </p:grpSpPr>
        <p:sp>
          <p:nvSpPr>
            <p:cNvPr id="153604" name="AutoShape 4"/>
            <p:cNvSpPr>
              <a:spLocks noChangeArrowheads="1"/>
            </p:cNvSpPr>
            <p:nvPr/>
          </p:nvSpPr>
          <p:spPr bwMode="auto">
            <a:xfrm flipV="1">
              <a:off x="3636169" y="1368714"/>
              <a:ext cx="2901805" cy="907759"/>
            </a:xfrm>
            <a:prstGeom prst="foldedCorner">
              <a:avLst>
                <a:gd name="adj" fmla="val 12500"/>
              </a:avLst>
            </a:prstGeom>
            <a:solidFill>
              <a:schemeClr val="bg1"/>
            </a:solidFill>
            <a:ln w="22225">
              <a:solidFill>
                <a:srgbClr val="FF00FF"/>
              </a:solidFill>
              <a:round/>
            </a:ln>
            <a:effectLst>
              <a:outerShdw dist="107763" dir="2700000" algn="ctr" rotWithShape="0">
                <a:schemeClr val="bg2">
                  <a:alpha val="50000"/>
                </a:schemeClr>
              </a:outerShdw>
            </a:effectLst>
          </p:spPr>
          <p:txBody>
            <a:bodyPr rot="10800000" anchor="t"/>
            <a:lstStyle/>
            <a:p>
              <a:r>
                <a:rPr lang="zh-CN" altLang="en-US" sz="1600" b="1" dirty="0">
                  <a:solidFill>
                    <a:prstClr val="black"/>
                  </a:solidFill>
                  <a:ea typeface="华文细黑" panose="02010600040101010101" pitchFamily="2" charset="-122"/>
                </a:rPr>
                <a:t>角色：关联两头的类以某种角色参与关联。</a:t>
              </a:r>
              <a:endParaRPr lang="zh-CN" altLang="en-US" sz="1600" b="1" dirty="0">
                <a:solidFill>
                  <a:prstClr val="black"/>
                </a:solidFill>
                <a:ea typeface="华文细黑" panose="02010600040101010101" pitchFamily="2" charset="-122"/>
              </a:endParaRPr>
            </a:p>
          </p:txBody>
        </p:sp>
        <p:sp>
          <p:nvSpPr>
            <p:cNvPr id="153605" name="Line 5"/>
            <p:cNvSpPr>
              <a:spLocks noChangeShapeType="1"/>
            </p:cNvSpPr>
            <p:nvPr/>
          </p:nvSpPr>
          <p:spPr bwMode="auto">
            <a:xfrm flipH="1">
              <a:off x="3995738" y="2276475"/>
              <a:ext cx="863600" cy="1296988"/>
            </a:xfrm>
            <a:prstGeom prst="line">
              <a:avLst/>
            </a:prstGeom>
            <a:noFill/>
            <a:ln w="9525">
              <a:solidFill>
                <a:schemeClr val="tx1"/>
              </a:solidFill>
              <a:round/>
            </a:ln>
            <a:effectLst/>
          </p:spPr>
          <p:txBody>
            <a:bodyPr/>
            <a:lstStyle/>
            <a:p>
              <a:endParaRPr lang="zh-CN" altLang="en-US" sz="1600">
                <a:solidFill>
                  <a:prstClr val="black"/>
                </a:solidFill>
              </a:endParaRPr>
            </a:p>
          </p:txBody>
        </p:sp>
        <p:sp>
          <p:nvSpPr>
            <p:cNvPr id="153606" name="Line 6"/>
            <p:cNvSpPr>
              <a:spLocks noChangeShapeType="1"/>
            </p:cNvSpPr>
            <p:nvPr/>
          </p:nvSpPr>
          <p:spPr bwMode="auto">
            <a:xfrm>
              <a:off x="4932363" y="2205038"/>
              <a:ext cx="647700" cy="1368425"/>
            </a:xfrm>
            <a:prstGeom prst="line">
              <a:avLst/>
            </a:prstGeom>
            <a:noFill/>
            <a:ln w="9525">
              <a:solidFill>
                <a:schemeClr val="tx1"/>
              </a:solidFill>
              <a:round/>
            </a:ln>
            <a:effectLst/>
          </p:spPr>
          <p:txBody>
            <a:bodyPr/>
            <a:lstStyle/>
            <a:p>
              <a:endParaRPr lang="zh-CN" altLang="en-US" sz="1600">
                <a:solidFill>
                  <a:prstClr val="black"/>
                </a:solidFill>
              </a:endParaRPr>
            </a:p>
          </p:txBody>
        </p:sp>
      </p:grpSp>
      <p:grpSp>
        <p:nvGrpSpPr>
          <p:cNvPr id="3" name="组合 2"/>
          <p:cNvGrpSpPr/>
          <p:nvPr/>
        </p:nvGrpSpPr>
        <p:grpSpPr>
          <a:xfrm>
            <a:off x="1094321" y="3070874"/>
            <a:ext cx="3498346" cy="1215374"/>
            <a:chOff x="201178" y="3719168"/>
            <a:chExt cx="3848250" cy="1620499"/>
          </a:xfrm>
        </p:grpSpPr>
        <p:sp>
          <p:nvSpPr>
            <p:cNvPr id="153607" name="AutoShape 7"/>
            <p:cNvSpPr>
              <a:spLocks noChangeArrowheads="1"/>
            </p:cNvSpPr>
            <p:nvPr/>
          </p:nvSpPr>
          <p:spPr bwMode="auto">
            <a:xfrm flipV="1">
              <a:off x="201178" y="3719168"/>
              <a:ext cx="2592388" cy="1620499"/>
            </a:xfrm>
            <a:prstGeom prst="foldedCorner">
              <a:avLst>
                <a:gd name="adj" fmla="val 12500"/>
              </a:avLst>
            </a:prstGeom>
            <a:solidFill>
              <a:schemeClr val="bg1"/>
            </a:solidFill>
            <a:ln w="22225">
              <a:solidFill>
                <a:srgbClr val="FF00FF"/>
              </a:solidFill>
              <a:round/>
            </a:ln>
            <a:effectLst>
              <a:outerShdw dist="107763" dir="2700000" algn="ctr" rotWithShape="0">
                <a:schemeClr val="bg2">
                  <a:alpha val="50000"/>
                </a:schemeClr>
              </a:outerShdw>
            </a:effectLst>
          </p:spPr>
          <p:txBody>
            <a:bodyPr rot="10800000"/>
            <a:lstStyle/>
            <a:p>
              <a:r>
                <a:rPr lang="zh-CN" altLang="en-US" sz="1600" b="1" dirty="0">
                  <a:solidFill>
                    <a:prstClr val="black"/>
                  </a:solidFill>
                  <a:ea typeface="华文细黑" panose="02010600040101010101" pitchFamily="2" charset="-122"/>
                </a:rPr>
                <a:t>关联类：一个关联可能要记录一些信息，可以引入一个关联类来记录。用虚线连接至关联线上。</a:t>
              </a:r>
              <a:endParaRPr lang="zh-CN" altLang="en-US" sz="1600" b="1" dirty="0">
                <a:solidFill>
                  <a:prstClr val="black"/>
                </a:solidFill>
                <a:ea typeface="华文细黑" panose="02010600040101010101" pitchFamily="2" charset="-122"/>
              </a:endParaRPr>
            </a:p>
          </p:txBody>
        </p:sp>
        <p:sp>
          <p:nvSpPr>
            <p:cNvPr id="153608" name="Line 8"/>
            <p:cNvSpPr>
              <a:spLocks noChangeShapeType="1"/>
            </p:cNvSpPr>
            <p:nvPr/>
          </p:nvSpPr>
          <p:spPr bwMode="auto">
            <a:xfrm flipV="1">
              <a:off x="2793566" y="4492903"/>
              <a:ext cx="1255862" cy="95652"/>
            </a:xfrm>
            <a:prstGeom prst="line">
              <a:avLst/>
            </a:prstGeom>
            <a:noFill/>
            <a:ln w="9525">
              <a:solidFill>
                <a:schemeClr val="tx1"/>
              </a:solidFill>
              <a:round/>
            </a:ln>
            <a:effectLst/>
          </p:spPr>
          <p:txBody>
            <a:bodyPr/>
            <a:lstStyle/>
            <a:p>
              <a:endParaRPr lang="zh-CN" altLang="en-US" sz="1600">
                <a:solidFill>
                  <a:prstClr val="blac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randombar(horizontal)">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endParaRPr lang="zh-CN" altLang="en-US"/>
          </a:p>
        </p:txBody>
      </p:sp>
      <p:sp>
        <p:nvSpPr>
          <p:cNvPr id="678915" name="Rectangle 3"/>
          <p:cNvSpPr>
            <a:spLocks noGrp="1" noChangeArrowheads="1"/>
          </p:cNvSpPr>
          <p:nvPr>
            <p:ph type="body" idx="1"/>
          </p:nvPr>
        </p:nvSpPr>
        <p:spPr>
          <a:xfrm>
            <a:off x="599017" y="923661"/>
            <a:ext cx="6840538" cy="3301206"/>
          </a:xfrm>
        </p:spPr>
        <p:txBody>
          <a:bodyPr>
            <a:noAutofit/>
          </a:bodyPr>
          <a:lstStyle/>
          <a:p>
            <a:pPr lvl="1" eaLnBrk="1" hangingPunct="1">
              <a:lnSpc>
                <a:spcPct val="80000"/>
              </a:lnSpc>
              <a:buFont typeface="Wingdings" panose="05000000000000000000" pitchFamily="2" charset="2"/>
              <a:buNone/>
            </a:pPr>
            <a:r>
              <a:rPr lang="en-US" altLang="zh-CN" sz="1100" dirty="0"/>
              <a:t>public class Company</a:t>
            </a:r>
            <a:endParaRPr lang="en-US" altLang="zh-CN" sz="1100" dirty="0"/>
          </a:p>
          <a:p>
            <a:pPr lvl="1" eaLnBrk="1" hangingPunct="1">
              <a:lnSpc>
                <a:spcPct val="80000"/>
              </a:lnSpc>
              <a:buFont typeface="Wingdings" panose="05000000000000000000" pitchFamily="2" charset="2"/>
              <a:buNone/>
            </a:pPr>
            <a:r>
              <a:rPr lang="en-US" altLang="zh-CN" sz="1100" dirty="0"/>
              <a:t>{</a:t>
            </a:r>
            <a:endParaRPr lang="en-US" altLang="zh-CN" sz="1100" dirty="0"/>
          </a:p>
          <a:p>
            <a:pPr lvl="1" eaLnBrk="1" hangingPunct="1">
              <a:lnSpc>
                <a:spcPct val="80000"/>
              </a:lnSpc>
              <a:buFont typeface="Wingdings" panose="05000000000000000000" pitchFamily="2" charset="2"/>
              <a:buNone/>
            </a:pPr>
            <a:r>
              <a:rPr lang="en-US" altLang="zh-CN" sz="1100" dirty="0"/>
              <a:t>   private String </a:t>
            </a:r>
            <a:r>
              <a:rPr lang="en-US" altLang="zh-CN" sz="1100" dirty="0" err="1"/>
              <a:t>companyName</a:t>
            </a:r>
            <a:r>
              <a:rPr lang="en-US" altLang="zh-CN" sz="1100" dirty="0"/>
              <a:t>;</a:t>
            </a:r>
            <a:endParaRPr lang="en-US" altLang="zh-CN" sz="1100" dirty="0"/>
          </a:p>
          <a:p>
            <a:pPr lvl="1" eaLnBrk="1" hangingPunct="1">
              <a:lnSpc>
                <a:spcPct val="80000"/>
              </a:lnSpc>
              <a:buFont typeface="Wingdings" panose="05000000000000000000" pitchFamily="2" charset="2"/>
              <a:buNone/>
            </a:pPr>
            <a:r>
              <a:rPr lang="en-US" altLang="zh-CN" sz="1100" dirty="0"/>
              <a:t>   public Person employee[ ]</a:t>
            </a:r>
            <a:r>
              <a:rPr lang="zh-CN" altLang="en-US" sz="1100" dirty="0"/>
              <a:t>； </a:t>
            </a:r>
            <a:endParaRPr lang="zh-CN" altLang="en-US" sz="1100" dirty="0"/>
          </a:p>
          <a:p>
            <a:pPr lvl="1" eaLnBrk="1" hangingPunct="1">
              <a:lnSpc>
                <a:spcPct val="80000"/>
              </a:lnSpc>
              <a:buFont typeface="Wingdings" panose="05000000000000000000" pitchFamily="2" charset="2"/>
              <a:buNone/>
            </a:pPr>
            <a:r>
              <a:rPr lang="en-US" altLang="zh-CN" sz="1100" dirty="0"/>
              <a:t>}</a:t>
            </a:r>
            <a:endParaRPr lang="en-US" altLang="zh-CN" sz="1100" dirty="0"/>
          </a:p>
          <a:p>
            <a:pPr lvl="1" eaLnBrk="1" hangingPunct="1">
              <a:lnSpc>
                <a:spcPct val="80000"/>
              </a:lnSpc>
              <a:buFont typeface="Wingdings" panose="05000000000000000000" pitchFamily="2" charset="2"/>
              <a:buNone/>
            </a:pPr>
            <a:r>
              <a:rPr lang="en-US" altLang="zh-CN" sz="1100" dirty="0">
                <a:solidFill>
                  <a:srgbClr val="CC0066"/>
                </a:solidFill>
              </a:rPr>
              <a:t>public class Person</a:t>
            </a:r>
            <a:endParaRPr lang="en-US" altLang="zh-CN" sz="1100" dirty="0">
              <a:solidFill>
                <a:srgbClr val="CC0066"/>
              </a:solidFill>
            </a:endParaRPr>
          </a:p>
          <a:p>
            <a:pPr lvl="1" eaLnBrk="1" hangingPunct="1">
              <a:lnSpc>
                <a:spcPct val="80000"/>
              </a:lnSpc>
              <a:buFont typeface="Wingdings" panose="05000000000000000000" pitchFamily="2" charset="2"/>
              <a:buNone/>
            </a:pPr>
            <a:r>
              <a:rPr lang="en-US" altLang="zh-CN" sz="1100" dirty="0">
                <a:solidFill>
                  <a:srgbClr val="CC0066"/>
                </a:solidFill>
              </a:rPr>
              <a:t>{   </a:t>
            </a:r>
            <a:endParaRPr lang="en-US" altLang="zh-CN" sz="1100" dirty="0">
              <a:solidFill>
                <a:srgbClr val="CC0066"/>
              </a:solidFill>
            </a:endParaRPr>
          </a:p>
          <a:p>
            <a:pPr lvl="1" eaLnBrk="1" hangingPunct="1">
              <a:lnSpc>
                <a:spcPct val="80000"/>
              </a:lnSpc>
              <a:buFont typeface="Wingdings" panose="05000000000000000000" pitchFamily="2" charset="2"/>
              <a:buNone/>
            </a:pPr>
            <a:r>
              <a:rPr lang="en-US" altLang="zh-CN" sz="1100" dirty="0">
                <a:solidFill>
                  <a:srgbClr val="CC0066"/>
                </a:solidFill>
              </a:rPr>
              <a:t>   private String </a:t>
            </a:r>
            <a:r>
              <a:rPr lang="en-US" altLang="zh-CN" sz="1100" dirty="0" err="1">
                <a:solidFill>
                  <a:srgbClr val="CC0066"/>
                </a:solidFill>
              </a:rPr>
              <a:t>personName</a:t>
            </a:r>
            <a:r>
              <a:rPr lang="zh-CN" altLang="en-US" sz="1100" dirty="0">
                <a:solidFill>
                  <a:srgbClr val="CC0066"/>
                </a:solidFill>
              </a:rPr>
              <a:t>；</a:t>
            </a:r>
            <a:endParaRPr lang="zh-CN" altLang="en-US" sz="1100" dirty="0">
              <a:solidFill>
                <a:srgbClr val="CC0066"/>
              </a:solidFill>
            </a:endParaRPr>
          </a:p>
          <a:p>
            <a:pPr lvl="1" eaLnBrk="1" hangingPunct="1">
              <a:lnSpc>
                <a:spcPct val="80000"/>
              </a:lnSpc>
              <a:buFont typeface="Wingdings" panose="05000000000000000000" pitchFamily="2" charset="2"/>
              <a:buNone/>
            </a:pPr>
            <a:r>
              <a:rPr lang="en-US" altLang="zh-CN" sz="1100" dirty="0">
                <a:solidFill>
                  <a:srgbClr val="CC0066"/>
                </a:solidFill>
              </a:rPr>
              <a:t>   public Company employer</a:t>
            </a:r>
            <a:r>
              <a:rPr lang="zh-CN" altLang="en-US" sz="1100" dirty="0">
                <a:solidFill>
                  <a:srgbClr val="CC0066"/>
                </a:solidFill>
              </a:rPr>
              <a:t>；</a:t>
            </a:r>
            <a:endParaRPr lang="zh-CN" altLang="en-US" sz="1100" dirty="0">
              <a:solidFill>
                <a:srgbClr val="CC0066"/>
              </a:solidFill>
            </a:endParaRPr>
          </a:p>
          <a:p>
            <a:pPr lvl="1" eaLnBrk="1" hangingPunct="1">
              <a:lnSpc>
                <a:spcPct val="80000"/>
              </a:lnSpc>
              <a:buFont typeface="Wingdings" panose="05000000000000000000" pitchFamily="2" charset="2"/>
              <a:buNone/>
            </a:pPr>
            <a:r>
              <a:rPr lang="en-US" altLang="zh-CN" sz="1100" dirty="0">
                <a:solidFill>
                  <a:srgbClr val="CC0066"/>
                </a:solidFill>
              </a:rPr>
              <a:t>}</a:t>
            </a:r>
            <a:endParaRPr lang="en-US" altLang="zh-CN" sz="1100" dirty="0">
              <a:solidFill>
                <a:srgbClr val="CC0066"/>
              </a:solidFill>
            </a:endParaRPr>
          </a:p>
          <a:p>
            <a:pPr lvl="1" eaLnBrk="1" hangingPunct="1">
              <a:lnSpc>
                <a:spcPct val="90000"/>
              </a:lnSpc>
              <a:buFont typeface="Wingdings" panose="05000000000000000000" pitchFamily="2" charset="2"/>
              <a:buNone/>
            </a:pPr>
            <a:r>
              <a:rPr lang="en-US" altLang="zh-CN" sz="1100" dirty="0">
                <a:solidFill>
                  <a:schemeClr val="tx1"/>
                </a:solidFill>
              </a:rPr>
              <a:t>public class Contract</a:t>
            </a:r>
            <a:endParaRPr lang="en-US" altLang="zh-CN" sz="1100" dirty="0">
              <a:solidFill>
                <a:schemeClr val="tx1"/>
              </a:solidFill>
            </a:endParaRPr>
          </a:p>
          <a:p>
            <a:pPr lvl="1" eaLnBrk="1" hangingPunct="1">
              <a:lnSpc>
                <a:spcPct val="90000"/>
              </a:lnSpc>
              <a:buFont typeface="Wingdings" panose="05000000000000000000" pitchFamily="2" charset="2"/>
              <a:buNone/>
            </a:pPr>
            <a:r>
              <a:rPr lang="en-US" altLang="zh-CN" sz="1100" dirty="0">
                <a:solidFill>
                  <a:schemeClr val="tx1"/>
                </a:solidFill>
              </a:rPr>
              <a:t>{</a:t>
            </a:r>
            <a:endParaRPr lang="en-US" altLang="zh-CN" sz="1100" dirty="0">
              <a:solidFill>
                <a:schemeClr val="tx1"/>
              </a:solidFill>
            </a:endParaRPr>
          </a:p>
          <a:p>
            <a:pPr lvl="1" eaLnBrk="1" hangingPunct="1">
              <a:lnSpc>
                <a:spcPct val="90000"/>
              </a:lnSpc>
              <a:buFont typeface="Wingdings" panose="05000000000000000000" pitchFamily="2" charset="2"/>
              <a:buNone/>
            </a:pPr>
            <a:r>
              <a:rPr lang="en-US" altLang="zh-CN" sz="1100" dirty="0">
                <a:solidFill>
                  <a:schemeClr val="tx1"/>
                </a:solidFill>
              </a:rPr>
              <a:t>   private Double salary</a:t>
            </a:r>
            <a:r>
              <a:rPr lang="zh-CN" altLang="en-US" sz="1100" dirty="0">
                <a:solidFill>
                  <a:schemeClr val="tx1"/>
                </a:solidFill>
              </a:rPr>
              <a:t>；</a:t>
            </a:r>
            <a:endParaRPr lang="zh-CN" altLang="en-US" sz="1100" dirty="0">
              <a:solidFill>
                <a:schemeClr val="tx1"/>
              </a:solidFill>
            </a:endParaRPr>
          </a:p>
          <a:p>
            <a:pPr lvl="1" eaLnBrk="1" hangingPunct="1">
              <a:lnSpc>
                <a:spcPct val="90000"/>
              </a:lnSpc>
              <a:buFont typeface="Wingdings" panose="05000000000000000000" pitchFamily="2" charset="2"/>
              <a:buNone/>
            </a:pPr>
            <a:r>
              <a:rPr lang="zh-CN" altLang="en-US" sz="1100" dirty="0">
                <a:solidFill>
                  <a:schemeClr val="tx1"/>
                </a:solidFill>
              </a:rPr>
              <a:t>｝</a:t>
            </a:r>
            <a:endParaRPr lang="zh-CN" altLang="en-US" sz="1100" dirty="0">
              <a:solidFill>
                <a:schemeClr val="tx1"/>
              </a:solidFill>
            </a:endParaRPr>
          </a:p>
        </p:txBody>
      </p:sp>
      <p:pic>
        <p:nvPicPr>
          <p:cNvPr id="67891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5333" y="997878"/>
            <a:ext cx="5164667" cy="155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78916"/>
                                        </p:tgtEl>
                                        <p:attrNameLst>
                                          <p:attrName>style.visibility</p:attrName>
                                        </p:attrNameLst>
                                      </p:cBhvr>
                                      <p:to>
                                        <p:strVal val="visible"/>
                                      </p:to>
                                    </p:set>
                                    <p:animEffect transition="in" filter="dissolve">
                                      <p:cBhvr>
                                        <p:cTn id="7" dur="500"/>
                                        <p:tgtEl>
                                          <p:spTgt spid="6789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78915">
                                            <p:txEl>
                                              <p:pRg st="0" end="0"/>
                                            </p:txEl>
                                          </p:spTgt>
                                        </p:tgtEl>
                                        <p:attrNameLst>
                                          <p:attrName>style.visibility</p:attrName>
                                        </p:attrNameLst>
                                      </p:cBhvr>
                                      <p:to>
                                        <p:strVal val="visible"/>
                                      </p:to>
                                    </p:set>
                                    <p:anim calcmode="lin" valueType="num">
                                      <p:cBhvr additive="base">
                                        <p:cTn id="12" dur="500" fill="hold"/>
                                        <p:tgtEl>
                                          <p:spTgt spid="67891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78915">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678915">
                                            <p:txEl>
                                              <p:pRg st="1" end="1"/>
                                            </p:txEl>
                                          </p:spTgt>
                                        </p:tgtEl>
                                        <p:attrNameLst>
                                          <p:attrName>style.visibility</p:attrName>
                                        </p:attrNameLst>
                                      </p:cBhvr>
                                      <p:to>
                                        <p:strVal val="visible"/>
                                      </p:to>
                                    </p:set>
                                    <p:anim calcmode="lin" valueType="num">
                                      <p:cBhvr additive="base">
                                        <p:cTn id="16" dur="500" fill="hold"/>
                                        <p:tgtEl>
                                          <p:spTgt spid="678915">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678915">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678915">
                                            <p:txEl>
                                              <p:pRg st="2" end="2"/>
                                            </p:txEl>
                                          </p:spTgt>
                                        </p:tgtEl>
                                        <p:attrNameLst>
                                          <p:attrName>style.visibility</p:attrName>
                                        </p:attrNameLst>
                                      </p:cBhvr>
                                      <p:to>
                                        <p:strVal val="visible"/>
                                      </p:to>
                                    </p:set>
                                    <p:anim calcmode="lin" valueType="num">
                                      <p:cBhvr additive="base">
                                        <p:cTn id="20" dur="500" fill="hold"/>
                                        <p:tgtEl>
                                          <p:spTgt spid="678915">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678915">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678915">
                                            <p:txEl>
                                              <p:pRg st="3" end="3"/>
                                            </p:txEl>
                                          </p:spTgt>
                                        </p:tgtEl>
                                        <p:attrNameLst>
                                          <p:attrName>style.visibility</p:attrName>
                                        </p:attrNameLst>
                                      </p:cBhvr>
                                      <p:to>
                                        <p:strVal val="visible"/>
                                      </p:to>
                                    </p:set>
                                    <p:anim calcmode="lin" valueType="num">
                                      <p:cBhvr additive="base">
                                        <p:cTn id="24" dur="500" fill="hold"/>
                                        <p:tgtEl>
                                          <p:spTgt spid="67891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78915">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678915">
                                            <p:txEl>
                                              <p:pRg st="4" end="4"/>
                                            </p:txEl>
                                          </p:spTgt>
                                        </p:tgtEl>
                                        <p:attrNameLst>
                                          <p:attrName>style.visibility</p:attrName>
                                        </p:attrNameLst>
                                      </p:cBhvr>
                                      <p:to>
                                        <p:strVal val="visible"/>
                                      </p:to>
                                    </p:set>
                                    <p:anim calcmode="lin" valueType="num">
                                      <p:cBhvr additive="base">
                                        <p:cTn id="28" dur="500" fill="hold"/>
                                        <p:tgtEl>
                                          <p:spTgt spid="67891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78915">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678915">
                                            <p:txEl>
                                              <p:pRg st="5" end="5"/>
                                            </p:txEl>
                                          </p:spTgt>
                                        </p:tgtEl>
                                        <p:attrNameLst>
                                          <p:attrName>style.visibility</p:attrName>
                                        </p:attrNameLst>
                                      </p:cBhvr>
                                      <p:to>
                                        <p:strVal val="visible"/>
                                      </p:to>
                                    </p:set>
                                    <p:anim calcmode="lin" valueType="num">
                                      <p:cBhvr additive="base">
                                        <p:cTn id="32" dur="500" fill="hold"/>
                                        <p:tgtEl>
                                          <p:spTgt spid="678915">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78915">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678915">
                                            <p:txEl>
                                              <p:pRg st="6" end="6"/>
                                            </p:txEl>
                                          </p:spTgt>
                                        </p:tgtEl>
                                        <p:attrNameLst>
                                          <p:attrName>style.visibility</p:attrName>
                                        </p:attrNameLst>
                                      </p:cBhvr>
                                      <p:to>
                                        <p:strVal val="visible"/>
                                      </p:to>
                                    </p:set>
                                    <p:anim calcmode="lin" valueType="num">
                                      <p:cBhvr additive="base">
                                        <p:cTn id="36" dur="500" fill="hold"/>
                                        <p:tgtEl>
                                          <p:spTgt spid="678915">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78915">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678915">
                                            <p:txEl>
                                              <p:pRg st="7" end="7"/>
                                            </p:txEl>
                                          </p:spTgt>
                                        </p:tgtEl>
                                        <p:attrNameLst>
                                          <p:attrName>style.visibility</p:attrName>
                                        </p:attrNameLst>
                                      </p:cBhvr>
                                      <p:to>
                                        <p:strVal val="visible"/>
                                      </p:to>
                                    </p:set>
                                    <p:anim calcmode="lin" valueType="num">
                                      <p:cBhvr additive="base">
                                        <p:cTn id="40" dur="500" fill="hold"/>
                                        <p:tgtEl>
                                          <p:spTgt spid="678915">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678915">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678915">
                                            <p:txEl>
                                              <p:pRg st="8" end="8"/>
                                            </p:txEl>
                                          </p:spTgt>
                                        </p:tgtEl>
                                        <p:attrNameLst>
                                          <p:attrName>style.visibility</p:attrName>
                                        </p:attrNameLst>
                                      </p:cBhvr>
                                      <p:to>
                                        <p:strVal val="visible"/>
                                      </p:to>
                                    </p:set>
                                    <p:anim calcmode="lin" valueType="num">
                                      <p:cBhvr additive="base">
                                        <p:cTn id="44" dur="500" fill="hold"/>
                                        <p:tgtEl>
                                          <p:spTgt spid="678915">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678915">
                                            <p:txEl>
                                              <p:pRg st="8" end="8"/>
                                            </p:txEl>
                                          </p:spTgt>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78915">
                                            <p:txEl>
                                              <p:pRg st="9" end="9"/>
                                            </p:txEl>
                                          </p:spTgt>
                                        </p:tgtEl>
                                        <p:attrNameLst>
                                          <p:attrName>style.visibility</p:attrName>
                                        </p:attrNameLst>
                                      </p:cBhvr>
                                      <p:to>
                                        <p:strVal val="visible"/>
                                      </p:to>
                                    </p:set>
                                    <p:anim calcmode="lin" valueType="num">
                                      <p:cBhvr additive="base">
                                        <p:cTn id="48" dur="500" fill="hold"/>
                                        <p:tgtEl>
                                          <p:spTgt spid="678915">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678915">
                                            <p:txEl>
                                              <p:pRg st="9" end="9"/>
                                            </p:txEl>
                                          </p:spTgt>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678915">
                                            <p:txEl>
                                              <p:pRg st="10" end="10"/>
                                            </p:txEl>
                                          </p:spTgt>
                                        </p:tgtEl>
                                        <p:attrNameLst>
                                          <p:attrName>style.visibility</p:attrName>
                                        </p:attrNameLst>
                                      </p:cBhvr>
                                      <p:to>
                                        <p:strVal val="visible"/>
                                      </p:to>
                                    </p:set>
                                    <p:anim calcmode="lin" valueType="num">
                                      <p:cBhvr additive="base">
                                        <p:cTn id="52" dur="500" fill="hold"/>
                                        <p:tgtEl>
                                          <p:spTgt spid="678915">
                                            <p:txEl>
                                              <p:pRg st="10" end="1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678915">
                                            <p:txEl>
                                              <p:pRg st="10" end="10"/>
                                            </p:txEl>
                                          </p:spTgt>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678915">
                                            <p:txEl>
                                              <p:pRg st="11" end="11"/>
                                            </p:txEl>
                                          </p:spTgt>
                                        </p:tgtEl>
                                        <p:attrNameLst>
                                          <p:attrName>style.visibility</p:attrName>
                                        </p:attrNameLst>
                                      </p:cBhvr>
                                      <p:to>
                                        <p:strVal val="visible"/>
                                      </p:to>
                                    </p:set>
                                    <p:anim calcmode="lin" valueType="num">
                                      <p:cBhvr additive="base">
                                        <p:cTn id="56" dur="500" fill="hold"/>
                                        <p:tgtEl>
                                          <p:spTgt spid="678915">
                                            <p:txEl>
                                              <p:pRg st="11" end="11"/>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678915">
                                            <p:txEl>
                                              <p:pRg st="11" end="11"/>
                                            </p:txEl>
                                          </p:spTgt>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678915">
                                            <p:txEl>
                                              <p:pRg st="12" end="12"/>
                                            </p:txEl>
                                          </p:spTgt>
                                        </p:tgtEl>
                                        <p:attrNameLst>
                                          <p:attrName>style.visibility</p:attrName>
                                        </p:attrNameLst>
                                      </p:cBhvr>
                                      <p:to>
                                        <p:strVal val="visible"/>
                                      </p:to>
                                    </p:set>
                                    <p:anim calcmode="lin" valueType="num">
                                      <p:cBhvr additive="base">
                                        <p:cTn id="60" dur="500" fill="hold"/>
                                        <p:tgtEl>
                                          <p:spTgt spid="678915">
                                            <p:txEl>
                                              <p:pRg st="12" end="12"/>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678915">
                                            <p:txEl>
                                              <p:pRg st="12" end="12"/>
                                            </p:txEl>
                                          </p:spTgt>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678915">
                                            <p:txEl>
                                              <p:pRg st="13" end="13"/>
                                            </p:txEl>
                                          </p:spTgt>
                                        </p:tgtEl>
                                        <p:attrNameLst>
                                          <p:attrName>style.visibility</p:attrName>
                                        </p:attrNameLst>
                                      </p:cBhvr>
                                      <p:to>
                                        <p:strVal val="visible"/>
                                      </p:to>
                                    </p:set>
                                    <p:anim calcmode="lin" valueType="num">
                                      <p:cBhvr additive="base">
                                        <p:cTn id="64" dur="500" fill="hold"/>
                                        <p:tgtEl>
                                          <p:spTgt spid="678915">
                                            <p:txEl>
                                              <p:pRg st="13" end="13"/>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67891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文本框 8"/>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zh-CN" sz="2800" dirty="0"/>
              <a:t>采用面向对象方法进行系统开发时，需要对两者之间关系会建新类的是（</a:t>
            </a:r>
            <a:r>
              <a:rPr lang="en-US" altLang="zh-CN" sz="2800" dirty="0"/>
              <a:t>  </a:t>
            </a:r>
            <a:r>
              <a:rPr lang="zh-CN" altLang="zh-CN" sz="2800" dirty="0"/>
              <a:t>）</a:t>
            </a:r>
            <a:endParaRPr lang="zh-CN" altLang="zh-CN" sz="2800" dirty="0"/>
          </a:p>
        </p:txBody>
      </p:sp>
      <p:sp>
        <p:nvSpPr>
          <p:cNvPr id="10" name="文本框 9"/>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汽车和座位</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主人和宠物</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医生和病人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zh-CN" sz="2800" dirty="0"/>
              <a:t>部门和员工</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8"/>
            </p:custDataLst>
          </p:nvPr>
        </p:nvSpPr>
        <p:spPr>
          <a:xfrm>
            <a:off x="1178719" y="3423642"/>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圆角 17"/>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hidden="1"/>
          <p:cNvSpPr/>
          <p:nvPr>
            <p:custDataLst>
              <p:tags r:id="rId1"/>
            </p:custDataLst>
          </p:nvPr>
        </p:nvSpPr>
        <p:spPr>
          <a:xfrm>
            <a:off x="9525000" y="0"/>
            <a:ext cx="2880360" cy="51435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 name="日期占位符 1"/>
          <p:cNvSpPr>
            <a:spLocks noGrp="1"/>
          </p:cNvSpPr>
          <p:nvPr>
            <p:ph type="dt" sz="half" idx="10"/>
          </p:nvPr>
        </p:nvSpPr>
        <p:spPr/>
        <p:txBody>
          <a:body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2"/>
            </p:custDataLst>
          </p:nvPr>
        </p:nvSpPr>
        <p:spPr>
          <a:xfrm>
            <a:off x="914400" y="635000"/>
            <a:ext cx="7315200" cy="1607344"/>
          </a:xfrm>
          <a:prstGeom prst="rect">
            <a:avLst/>
          </a:prstGeom>
          <a:noFill/>
        </p:spPr>
        <p:txBody>
          <a:bodyPr vert="horz" wrap="square" rtlCol="0" anchor="ctr" anchorCtr="0">
            <a:noAutofit/>
          </a:bodyPr>
          <a:lstStyle/>
          <a:p>
            <a:r>
              <a:rPr lang="zh-CN" altLang="en-US" sz="2800" dirty="0"/>
              <a:t>若类</a:t>
            </a:r>
            <a:r>
              <a:rPr lang="en-US" altLang="zh-CN" sz="2800" dirty="0"/>
              <a:t>A</a:t>
            </a:r>
            <a:r>
              <a:rPr lang="zh-CN" altLang="en-US" sz="2800" dirty="0"/>
              <a:t>仅在其方法</a:t>
            </a:r>
            <a:r>
              <a:rPr lang="en-US" altLang="zh-CN" sz="2800" dirty="0" err="1"/>
              <a:t>Methodl</a:t>
            </a:r>
            <a:r>
              <a:rPr lang="zh-CN" altLang="en-US" sz="2800" dirty="0"/>
              <a:t>中定义并使用了类</a:t>
            </a:r>
            <a:r>
              <a:rPr lang="en-US" altLang="zh-CN" sz="2800" dirty="0"/>
              <a:t>B</a:t>
            </a:r>
            <a:r>
              <a:rPr lang="zh-CN" altLang="en-US" sz="2800" dirty="0"/>
              <a:t>的一个对象，类</a:t>
            </a:r>
            <a:r>
              <a:rPr lang="en-US" altLang="zh-CN" sz="2800" dirty="0"/>
              <a:t>A</a:t>
            </a:r>
            <a:r>
              <a:rPr lang="zh-CN" altLang="en-US" sz="2800" dirty="0"/>
              <a:t>其他部分的代码都不涉及类</a:t>
            </a:r>
            <a:r>
              <a:rPr lang="en-US" altLang="zh-CN" sz="2800" dirty="0"/>
              <a:t>B</a:t>
            </a:r>
            <a:r>
              <a:rPr lang="zh-CN" altLang="en-US" sz="2800" dirty="0"/>
              <a:t>，那么类</a:t>
            </a:r>
            <a:r>
              <a:rPr lang="en-US" altLang="zh-CN" sz="2800" dirty="0"/>
              <a:t>A</a:t>
            </a:r>
            <a:r>
              <a:rPr lang="zh-CN" altLang="en-US" sz="2800" dirty="0"/>
              <a:t>与类</a:t>
            </a:r>
            <a:r>
              <a:rPr lang="en-US" altLang="zh-CN" sz="2800" dirty="0"/>
              <a:t>B</a:t>
            </a:r>
            <a:r>
              <a:rPr lang="zh-CN" altLang="en-US" sz="2800" dirty="0"/>
              <a:t>的关系应为</a:t>
            </a:r>
            <a:r>
              <a:rPr lang="zh-CN" altLang="en-US" sz="2800" u="sng" dirty="0"/>
              <a:t> </a:t>
            </a:r>
            <a:r>
              <a:rPr lang="en-US" altLang="zh-CN" sz="2800" u="sng" dirty="0"/>
              <a:t>(  ) </a:t>
            </a:r>
            <a:endParaRPr lang="en-US" altLang="zh-CN" sz="2800" u="sng" dirty="0"/>
          </a:p>
        </p:txBody>
      </p:sp>
      <p:sp>
        <p:nvSpPr>
          <p:cNvPr id="8" name="文本框 7"/>
          <p:cNvSpPr txBox="1"/>
          <p:nvPr>
            <p:custDataLst>
              <p:tags r:id="rId3"/>
            </p:custDataLst>
          </p:nvPr>
        </p:nvSpPr>
        <p:spPr>
          <a:xfrm>
            <a:off x="1828800" y="2089547"/>
            <a:ext cx="6400800" cy="482203"/>
          </a:xfrm>
          <a:prstGeom prst="rect">
            <a:avLst/>
          </a:prstGeom>
          <a:noFill/>
        </p:spPr>
        <p:txBody>
          <a:bodyPr vert="horz" rtlCol="0" anchor="ctr" anchorCtr="0">
            <a:noAutofit/>
          </a:bodyPr>
          <a:lstStyle/>
          <a:p>
            <a:r>
              <a:rPr lang="zh-CN" altLang="zh-CN" sz="2800" dirty="0"/>
              <a:t>关联</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4"/>
            </p:custDataLst>
          </p:nvPr>
        </p:nvSpPr>
        <p:spPr>
          <a:xfrm>
            <a:off x="1828800" y="2732484"/>
            <a:ext cx="6400800" cy="482203"/>
          </a:xfrm>
          <a:prstGeom prst="rect">
            <a:avLst/>
          </a:prstGeom>
          <a:noFill/>
        </p:spPr>
        <p:txBody>
          <a:bodyPr vert="horz" rtlCol="0" anchor="ctr" anchorCtr="0">
            <a:noAutofit/>
          </a:bodyPr>
          <a:lstStyle/>
          <a:p>
            <a:r>
              <a:rPr lang="zh-CN" altLang="zh-CN" sz="2800" dirty="0"/>
              <a:t>依赖</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5"/>
            </p:custDataLst>
          </p:nvPr>
        </p:nvSpPr>
        <p:spPr>
          <a:xfrm>
            <a:off x="1828800" y="3375422"/>
            <a:ext cx="6400800" cy="482203"/>
          </a:xfrm>
          <a:prstGeom prst="rect">
            <a:avLst/>
          </a:prstGeom>
          <a:noFill/>
        </p:spPr>
        <p:txBody>
          <a:bodyPr vert="horz" rtlCol="0" anchor="ctr" anchorCtr="0">
            <a:noAutofit/>
          </a:bodyPr>
          <a:lstStyle/>
          <a:p>
            <a:r>
              <a:rPr lang="zh-CN" altLang="zh-CN" sz="2800" dirty="0"/>
              <a:t>组合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6"/>
            </p:custDataLst>
          </p:nvPr>
        </p:nvSpPr>
        <p:spPr>
          <a:xfrm>
            <a:off x="1828800" y="4018359"/>
            <a:ext cx="6400800" cy="482203"/>
          </a:xfrm>
          <a:prstGeom prst="rect">
            <a:avLst/>
          </a:prstGeom>
          <a:noFill/>
        </p:spPr>
        <p:txBody>
          <a:bodyPr vert="horz" rtlCol="0" anchor="ctr" anchorCtr="0">
            <a:noAutofit/>
          </a:bodyPr>
          <a:lstStyle/>
          <a:p>
            <a:r>
              <a:rPr lang="zh-CN" altLang="en-US" sz="2800" dirty="0"/>
              <a:t>聚合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7"/>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8"/>
            </p:custDataLst>
          </p:nvPr>
        </p:nvSpPr>
        <p:spPr>
          <a:xfrm>
            <a:off x="1178719" y="2780705"/>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9"/>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10"/>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1"/>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文本框 27" hidden="1"/>
          <p:cNvSpPr txBox="1"/>
          <p:nvPr>
            <p:custDataLst>
              <p:tags r:id="rId12"/>
            </p:custDataLst>
          </p:nvPr>
        </p:nvSpPr>
        <p:spPr>
          <a:xfrm>
            <a:off x="9613900" y="4658499"/>
            <a:ext cx="2702560" cy="646331"/>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文本框 28" hidden="1"/>
          <p:cNvSpPr txBox="1"/>
          <p:nvPr>
            <p:custDataLst>
              <p:tags r:id="rId13"/>
            </p:custDataLst>
          </p:nvPr>
        </p:nvSpPr>
        <p:spPr>
          <a:xfrm>
            <a:off x="9779000" y="635000"/>
            <a:ext cx="2372360" cy="3873500"/>
          </a:xfrm>
          <a:prstGeom prst="rect">
            <a:avLst/>
          </a:prstGeom>
          <a:noFill/>
        </p:spPr>
        <p:txBody>
          <a:bodyPr vert="horz" rtlCol="0" anchor="t" anchorCtr="0">
            <a:spAutoFit/>
          </a:bodyPr>
          <a:lstStyle/>
          <a:p>
            <a:r>
              <a:rPr lang="zh-CN" altLang="en-US" sz="1000" dirty="0">
                <a:latin typeface="Arial" panose="020B0604020202020204" pitchFamily="34" charset="0"/>
                <a:ea typeface="宋体" panose="02010600030101010101" pitchFamily="2" charset="-122"/>
              </a:rPr>
              <a:t> 关联体现的是两个类、或者类与接口之间语义级别的一种强依赖关系；这种关系比依赖更强，不存在依赖关系的偶然性，关系也不是临时性的，一般是长期性的，而且双方的关系一般是平等的，关联可以是单向、双向的；表现在代码层而为被关联类</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以类属性的形式出现在关联类</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中，也可能是关联类</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引用了一个类型为被关联类</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的全局变量。</a:t>
            </a:r>
            <a:br>
              <a:rPr lang="zh-CN" altLang="en-US" sz="1000" dirty="0">
                <a:latin typeface="Arial" panose="020B0604020202020204" pitchFamily="34" charset="0"/>
                <a:ea typeface="宋体" panose="02010600030101010101" pitchFamily="2" charset="-122"/>
              </a:rPr>
            </a:br>
            <a:r>
              <a:rPr lang="zh-CN" altLang="en-US" sz="1000" dirty="0">
                <a:latin typeface="Arial" panose="020B0604020202020204" pitchFamily="34" charset="0"/>
                <a:ea typeface="宋体" panose="02010600030101010101" pitchFamily="2" charset="-122"/>
              </a:rPr>
              <a:t>当对象</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被加入到对象</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中，成为对象</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的组成部分时，对象</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和对象</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之间为聚合关系。聚合是关联关系的一种，是较强的关联关系，强调的是整体与部分之间的关系。聚合是关联关系的一种特例，它体现的是整体与部分、拥有的关系，即</a:t>
            </a:r>
            <a:r>
              <a:rPr lang="en-US" altLang="zh-CN" sz="1000" dirty="0">
                <a:latin typeface="Arial" panose="020B0604020202020204" pitchFamily="34" charset="0"/>
                <a:ea typeface="宋体" panose="02010600030101010101" pitchFamily="2" charset="-122"/>
              </a:rPr>
              <a:t>has a</a:t>
            </a:r>
            <a:r>
              <a:rPr lang="zh-CN" altLang="en-US" sz="1000" dirty="0">
                <a:latin typeface="Arial" panose="020B0604020202020204" pitchFamily="34" charset="0"/>
                <a:ea typeface="宋体" panose="02010600030101010101" pitchFamily="2" charset="-122"/>
              </a:rPr>
              <a:t>的关系，此时整体与部分之间是可分离的，它们可以具有各自的生命周期，部分可以属于多个整体对象，也可以为多个整体对象共享。</a:t>
            </a:r>
            <a:br>
              <a:rPr lang="zh-CN" altLang="en-US" sz="1000" dirty="0">
                <a:latin typeface="Arial" panose="020B0604020202020204" pitchFamily="34" charset="0"/>
                <a:ea typeface="宋体" panose="02010600030101010101" pitchFamily="2" charset="-122"/>
              </a:rPr>
            </a:br>
            <a:r>
              <a:rPr lang="zh-CN" altLang="en-US" sz="1000" dirty="0">
                <a:latin typeface="Arial" panose="020B0604020202020204" pitchFamily="34" charset="0"/>
                <a:ea typeface="宋体" panose="02010600030101010101" pitchFamily="2" charset="-122"/>
              </a:rPr>
              <a:t>对于两个相对独立的对象，当一个对象负责构造另一个对象的实例，或者依赖另一个对象的服务时，这两个对象之间主要体现为依赖关系。就是一个类</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使用到了另一个类</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，而这种使用关系是具有偶然性的、临时性的、非常弱的，但是</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类的变化会影响到</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；表现在代码层面，为类</a:t>
            </a:r>
            <a:r>
              <a:rPr lang="en-US" altLang="zh-CN" sz="1000" dirty="0">
                <a:latin typeface="Arial" panose="020B0604020202020204" pitchFamily="34" charset="0"/>
                <a:ea typeface="宋体" panose="02010600030101010101" pitchFamily="2" charset="-122"/>
              </a:rPr>
              <a:t>B</a:t>
            </a:r>
            <a:r>
              <a:rPr lang="zh-CN" altLang="en-US" sz="1000" dirty="0">
                <a:latin typeface="Arial" panose="020B0604020202020204" pitchFamily="34" charset="0"/>
                <a:ea typeface="宋体" panose="02010600030101010101" pitchFamily="2" charset="-122"/>
              </a:rPr>
              <a:t>作为参数被类</a:t>
            </a:r>
            <a:r>
              <a:rPr lang="en-US" altLang="zh-CN" sz="1000" dirty="0">
                <a:latin typeface="Arial" panose="020B0604020202020204" pitchFamily="34" charset="0"/>
                <a:ea typeface="宋体" panose="02010600030101010101" pitchFamily="2" charset="-122"/>
              </a:rPr>
              <a:t>A</a:t>
            </a:r>
            <a:r>
              <a:rPr lang="zh-CN" altLang="en-US" sz="1000" dirty="0">
                <a:latin typeface="Arial" panose="020B0604020202020204" pitchFamily="34" charset="0"/>
                <a:ea typeface="宋体" panose="02010600030101010101" pitchFamily="2" charset="-122"/>
              </a:rPr>
              <a:t>在某个</a:t>
            </a:r>
            <a:r>
              <a:rPr lang="en-US" altLang="zh-CN" sz="1000" dirty="0">
                <a:latin typeface="Arial" panose="020B0604020202020204" pitchFamily="34" charset="0"/>
                <a:ea typeface="宋体" panose="02010600030101010101" pitchFamily="2" charset="-122"/>
              </a:rPr>
              <a:t>method</a:t>
            </a:r>
            <a:r>
              <a:rPr lang="zh-CN" altLang="en-US" sz="1000" dirty="0">
                <a:latin typeface="Arial" panose="020B0604020202020204" pitchFamily="34" charset="0"/>
                <a:ea typeface="宋体" panose="02010600030101010101" pitchFamily="2" charset="-122"/>
              </a:rPr>
              <a:t>方法中使用。</a:t>
            </a:r>
            <a:br>
              <a:rPr lang="zh-CN" altLang="en-US" sz="1000" dirty="0">
                <a:latin typeface="Arial" panose="020B0604020202020204" pitchFamily="34" charset="0"/>
                <a:ea typeface="宋体" panose="02010600030101010101" pitchFamily="2" charset="-122"/>
              </a:rPr>
            </a:br>
            <a:r>
              <a:rPr lang="zh-CN" altLang="en-US" sz="1000" dirty="0">
                <a:latin typeface="Arial" panose="020B0604020202020204" pitchFamily="34" charset="0"/>
                <a:ea typeface="宋体" panose="02010600030101010101" pitchFamily="2" charset="-122"/>
              </a:rPr>
              <a:t>组合也是关联关系的一种特例，它体现的是一种</a:t>
            </a:r>
            <a:r>
              <a:rPr lang="en-US" altLang="zh-CN" sz="1000" dirty="0">
                <a:latin typeface="Arial" panose="020B0604020202020204" pitchFamily="34" charset="0"/>
                <a:ea typeface="宋体" panose="02010600030101010101" pitchFamily="2" charset="-122"/>
              </a:rPr>
              <a:t>contains-a</a:t>
            </a:r>
            <a:r>
              <a:rPr lang="zh-CN" altLang="en-US" sz="1000" dirty="0">
                <a:latin typeface="Arial" panose="020B0604020202020204" pitchFamily="34" charset="0"/>
                <a:ea typeface="宋体" panose="02010600030101010101" pitchFamily="2" charset="-122"/>
              </a:rPr>
              <a:t>的关系，这种关系比聚合更强，也称为强聚合；它同样体现整体与部分间的关系，但此时整体与部分是不可分的，整体的生命周期结束也就意味着部分的生命周期结束。</a:t>
            </a:r>
            <a:endParaRPr lang="en-US" altLang="zh-CN" sz="1000" dirty="0">
              <a:latin typeface="Arial" panose="020B0604020202020204" pitchFamily="34" charset="0"/>
              <a:ea typeface="宋体" panose="02010600030101010101" pitchFamily="2" charset="-122"/>
            </a:endParaRPr>
          </a:p>
          <a:p>
            <a:endParaRPr lang="en-US" altLang="zh-CN" sz="1000" dirty="0">
              <a:latin typeface="Arial" panose="020B0604020202020204" pitchFamily="34" charset="0"/>
              <a:ea typeface="宋体" panose="02010600030101010101" pitchFamily="2" charset="-122"/>
            </a:endParaRPr>
          </a:p>
          <a:p>
            <a:r>
              <a:rPr lang="zh-CN" altLang="en-US" sz="1000" dirty="0">
                <a:latin typeface="Arial" panose="020B0604020202020204" pitchFamily="34" charset="0"/>
                <a:ea typeface="宋体" panose="02010600030101010101" pitchFamily="2" charset="-122"/>
              </a:rPr>
              <a:t>各种关系的强弱顺序：</a:t>
            </a:r>
            <a:endParaRPr lang="zh-CN" altLang="en-US" sz="1000" dirty="0">
              <a:latin typeface="Arial" panose="020B0604020202020204" pitchFamily="34" charset="0"/>
              <a:ea typeface="宋体" panose="02010600030101010101" pitchFamily="2" charset="-122"/>
            </a:endParaRPr>
          </a:p>
          <a:p>
            <a:r>
              <a:rPr lang="zh-CN" altLang="en-US" sz="1000" b="1" dirty="0">
                <a:latin typeface="Arial" panose="020B0604020202020204" pitchFamily="34" charset="0"/>
                <a:ea typeface="宋体" panose="02010600030101010101" pitchFamily="2" charset="-122"/>
              </a:rPr>
              <a:t>泛化 </a:t>
            </a:r>
            <a:r>
              <a:rPr lang="en-US" altLang="zh-CN" sz="1000" b="1" dirty="0">
                <a:latin typeface="Arial" panose="020B0604020202020204" pitchFamily="34" charset="0"/>
                <a:ea typeface="宋体" panose="02010600030101010101" pitchFamily="2" charset="-122"/>
              </a:rPr>
              <a:t>= </a:t>
            </a:r>
            <a:r>
              <a:rPr lang="zh-CN" altLang="en-US" sz="1000" b="1" dirty="0">
                <a:latin typeface="Arial" panose="020B0604020202020204" pitchFamily="34" charset="0"/>
                <a:ea typeface="宋体" panose="02010600030101010101" pitchFamily="2" charset="-122"/>
              </a:rPr>
              <a:t>实现 </a:t>
            </a:r>
            <a:r>
              <a:rPr lang="en-US" altLang="zh-CN" sz="1000" b="1" dirty="0">
                <a:latin typeface="Arial" panose="020B0604020202020204" pitchFamily="34" charset="0"/>
                <a:ea typeface="宋体" panose="02010600030101010101" pitchFamily="2" charset="-122"/>
              </a:rPr>
              <a:t>&gt; </a:t>
            </a:r>
            <a:r>
              <a:rPr lang="zh-CN" altLang="en-US" sz="1000" b="1" dirty="0">
                <a:latin typeface="Arial" panose="020B0604020202020204" pitchFamily="34" charset="0"/>
                <a:ea typeface="宋体" panose="02010600030101010101" pitchFamily="2" charset="-122"/>
              </a:rPr>
              <a:t>组合 </a:t>
            </a:r>
            <a:r>
              <a:rPr lang="en-US" altLang="zh-CN" sz="1000" b="1" dirty="0">
                <a:latin typeface="Arial" panose="020B0604020202020204" pitchFamily="34" charset="0"/>
                <a:ea typeface="宋体" panose="02010600030101010101" pitchFamily="2" charset="-122"/>
              </a:rPr>
              <a:t>&gt; </a:t>
            </a:r>
            <a:r>
              <a:rPr lang="zh-CN" altLang="en-US" sz="1000" b="1" dirty="0">
                <a:latin typeface="Arial" panose="020B0604020202020204" pitchFamily="34" charset="0"/>
                <a:ea typeface="宋体" panose="02010600030101010101" pitchFamily="2" charset="-122"/>
              </a:rPr>
              <a:t>聚合 </a:t>
            </a:r>
            <a:r>
              <a:rPr lang="en-US" altLang="zh-CN" sz="1000" b="1" dirty="0">
                <a:latin typeface="Arial" panose="020B0604020202020204" pitchFamily="34" charset="0"/>
                <a:ea typeface="宋体" panose="02010600030101010101" pitchFamily="2" charset="-122"/>
              </a:rPr>
              <a:t>&gt; </a:t>
            </a:r>
            <a:r>
              <a:rPr lang="zh-CN" altLang="en-US" sz="1000" b="1" dirty="0">
                <a:latin typeface="Arial" panose="020B0604020202020204" pitchFamily="34" charset="0"/>
                <a:ea typeface="宋体" panose="02010600030101010101" pitchFamily="2" charset="-122"/>
              </a:rPr>
              <a:t>关联 </a:t>
            </a:r>
            <a:r>
              <a:rPr lang="en-US" altLang="zh-CN" sz="1000" b="1" dirty="0">
                <a:latin typeface="Arial" panose="020B0604020202020204" pitchFamily="34" charset="0"/>
                <a:ea typeface="宋体" panose="02010600030101010101" pitchFamily="2" charset="-122"/>
              </a:rPr>
              <a:t>&gt; </a:t>
            </a:r>
            <a:r>
              <a:rPr lang="zh-CN" altLang="en-US" sz="1000" b="1" dirty="0">
                <a:latin typeface="Arial" panose="020B0604020202020204" pitchFamily="34" charset="0"/>
                <a:ea typeface="宋体" panose="02010600030101010101" pitchFamily="2" charset="-122"/>
              </a:rPr>
              <a:t>依赖</a:t>
            </a:r>
            <a:endParaRPr lang="zh-CN" altLang="en-US" sz="1000" b="1" dirty="0">
              <a:latin typeface="Arial" panose="020B0604020202020204" pitchFamily="34" charset="0"/>
              <a:ea typeface="宋体" panose="02010600030101010101" pitchFamily="2" charset="-122"/>
            </a:endParaRPr>
          </a:p>
        </p:txBody>
      </p:sp>
      <p:grpSp>
        <p:nvGrpSpPr>
          <p:cNvPr id="27" name="组合 26" hidden="1"/>
          <p:cNvGrpSpPr/>
          <p:nvPr>
            <p:custDataLst>
              <p:tags r:id="rId14"/>
            </p:custDataLst>
          </p:nvPr>
        </p:nvGrpSpPr>
        <p:grpSpPr>
          <a:xfrm>
            <a:off x="9537700" y="0"/>
            <a:ext cx="2854960" cy="647700"/>
            <a:chOff x="9537700" y="0"/>
            <a:chExt cx="2854960" cy="647700"/>
          </a:xfrm>
        </p:grpSpPr>
        <p:sp>
          <p:nvSpPr>
            <p:cNvPr id="24" name="RemarkBack" hidden="1"/>
            <p:cNvSpPr/>
            <p:nvPr>
              <p:custDataLst>
                <p:tags r:id="rId15"/>
              </p:custDataLst>
            </p:nvPr>
          </p:nvSpPr>
          <p:spPr>
            <a:xfrm>
              <a:off x="9537700" y="12700"/>
              <a:ext cx="285496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Block" hidden="1"/>
            <p:cNvSpPr/>
            <p:nvPr>
              <p:custDataLst>
                <p:tags r:id="rId16"/>
              </p:custDataLst>
            </p:nvPr>
          </p:nvSpPr>
          <p:spPr>
            <a:xfrm>
              <a:off x="9537700" y="1270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TitleText" hidden="1"/>
            <p:cNvSpPr txBox="1"/>
            <p:nvPr>
              <p:custDataLst>
                <p:tags r:id="rId1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1" name="组合 20"/>
          <p:cNvGrpSpPr/>
          <p:nvPr>
            <p:custDataLst>
              <p:tags r:id="rId18"/>
            </p:custDataLst>
          </p:nvPr>
        </p:nvGrpSpPr>
        <p:grpSpPr>
          <a:xfrm>
            <a:off x="0" y="0"/>
            <a:ext cx="9144000" cy="635000"/>
            <a:chOff x="0" y="0"/>
            <a:chExt cx="9144000" cy="635000"/>
          </a:xfrm>
        </p:grpSpPr>
        <p:sp>
          <p:nvSpPr>
            <p:cNvPr id="17" name="TitleBackground"/>
            <p:cNvSpPr/>
            <p:nvPr>
              <p:custDataLst>
                <p:tags r:id="rId19"/>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20"/>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22"/>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23"/>
            </p:custDataLst>
          </p:nvPr>
        </p:nvPicPr>
        <p:blipFill>
          <a:blip r:embed="rId2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25"/>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两种特殊的关联关系</a:t>
            </a:r>
            <a:endParaRPr lang="zh-CN" altLang="en-US" dirty="0"/>
          </a:p>
        </p:txBody>
      </p:sp>
      <p:sp>
        <p:nvSpPr>
          <p:cNvPr id="3" name="文本占位符 2"/>
          <p:cNvSpPr>
            <a:spLocks noGrp="1"/>
          </p:cNvSpPr>
          <p:nvPr>
            <p:ph idx="1"/>
          </p:nvPr>
        </p:nvSpPr>
        <p:spPr/>
        <p:txBody>
          <a:bodyPr>
            <a:normAutofit/>
          </a:bodyPr>
          <a:lstStyle/>
          <a:p>
            <a:pPr marL="342900" indent="-342900">
              <a:lnSpc>
                <a:spcPct val="130000"/>
              </a:lnSpc>
              <a:buFont typeface="+mj-lt"/>
              <a:buAutoNum type="arabicPeriod"/>
            </a:pPr>
            <a:r>
              <a:rPr lang="zh-CN" altLang="en-US" sz="2400" dirty="0"/>
              <a:t>聚合关系：</a:t>
            </a:r>
            <a:endParaRPr lang="en-US" altLang="zh-CN" sz="2400" dirty="0"/>
          </a:p>
          <a:p>
            <a:pPr marL="0" indent="0">
              <a:lnSpc>
                <a:spcPct val="130000"/>
              </a:lnSpc>
              <a:buNone/>
            </a:pPr>
            <a:r>
              <a:rPr lang="zh-CN" altLang="en-US" sz="2000" dirty="0"/>
              <a:t>用来描述整体和部分的关系，有着聚合关系的两个类，一个是整体，一个是部分。在聚集中，部分类可以独立存在。</a:t>
            </a:r>
            <a:endParaRPr lang="zh-CN" altLang="en-US" sz="2000" dirty="0"/>
          </a:p>
          <a:p>
            <a:pPr marL="386080" indent="-386080">
              <a:lnSpc>
                <a:spcPct val="130000"/>
              </a:lnSpc>
              <a:spcBef>
                <a:spcPts val="1800"/>
              </a:spcBef>
              <a:buFont typeface="+mj-lt"/>
              <a:buAutoNum type="arabicPeriod" startAt="2"/>
            </a:pPr>
            <a:r>
              <a:rPr lang="zh-CN" altLang="en-US" sz="2400" dirty="0"/>
              <a:t>合成（组合）关系：</a:t>
            </a:r>
            <a:endParaRPr lang="en-US" altLang="zh-CN" sz="2400" dirty="0"/>
          </a:p>
          <a:p>
            <a:pPr marL="0" indent="0">
              <a:lnSpc>
                <a:spcPct val="130000"/>
              </a:lnSpc>
              <a:buNone/>
            </a:pPr>
            <a:r>
              <a:rPr lang="zh-CN" altLang="en-US" sz="2000" dirty="0"/>
              <a:t>也是用来描述整体和部分的关系。在合成关系中，部分类不能脱离整体类而存在。一旦整体对象不存在，部分对象也将不存在（同生共死）。</a:t>
            </a:r>
            <a:endParaRPr lang="en-US" altLang="zh-CN" sz="2000" dirty="0"/>
          </a:p>
        </p:txBody>
      </p:sp>
      <p:sp>
        <p:nvSpPr>
          <p:cNvPr id="2" name="日期占位符 1"/>
          <p:cNvSpPr>
            <a:spLocks noGrp="1"/>
          </p:cNvSpPr>
          <p:nvPr>
            <p:ph type="dt" sz="half" idx="10"/>
          </p:nvPr>
        </p:nvSpPr>
        <p:spPr/>
        <p:txBody>
          <a:bodyPr/>
          <a:lstStyle/>
          <a:p>
            <a:fld id="{72338F13-BEBC-447C-B61A-31C88F4F96C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up)">
                                      <p:cBhvr>
                                        <p:cTn id="16" dur="500"/>
                                        <p:tgtEl>
                                          <p:spTgt spid="3">
                                            <p:txEl>
                                              <p:pRg st="2" end="2"/>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t>1</a:t>
            </a:r>
            <a:r>
              <a:rPr lang="zh-CN" altLang="en-US" dirty="0"/>
              <a:t>）</a:t>
            </a:r>
            <a:r>
              <a:rPr lang="en-US" altLang="zh-CN" dirty="0"/>
              <a:t> </a:t>
            </a:r>
            <a:r>
              <a:rPr lang="zh-CN" altLang="en-US" dirty="0"/>
              <a:t>聚合关系</a:t>
            </a:r>
            <a:endParaRPr lang="zh-CN" altLang="en-US" dirty="0"/>
          </a:p>
        </p:txBody>
      </p:sp>
      <p:sp>
        <p:nvSpPr>
          <p:cNvPr id="3" name="文本占位符 2"/>
          <p:cNvSpPr>
            <a:spLocks noGrp="1"/>
          </p:cNvSpPr>
          <p:nvPr>
            <p:ph idx="1"/>
          </p:nvPr>
        </p:nvSpPr>
        <p:spPr/>
        <p:txBody>
          <a:bodyPr>
            <a:normAutofit/>
          </a:bodyPr>
          <a:lstStyle/>
          <a:p>
            <a:pPr>
              <a:lnSpc>
                <a:spcPct val="100000"/>
              </a:lnSpc>
              <a:spcBef>
                <a:spcPts val="600"/>
              </a:spcBef>
            </a:pPr>
            <a:r>
              <a:rPr lang="zh-CN" altLang="en-US" sz="2000" dirty="0"/>
              <a:t>比如电脑和它的显示器、键盘、主板以及内存就是聚集关系，因为主板是电脑的组成部分。</a:t>
            </a:r>
            <a:endParaRPr lang="zh-CN" altLang="en-US" sz="2000" dirty="0"/>
          </a:p>
          <a:p>
            <a:pPr>
              <a:lnSpc>
                <a:spcPct val="100000"/>
              </a:lnSpc>
              <a:spcBef>
                <a:spcPts val="600"/>
              </a:spcBef>
            </a:pPr>
            <a:r>
              <a:rPr lang="zh-CN" altLang="en-US" sz="2000" dirty="0"/>
              <a:t>聚合关系的</a:t>
            </a:r>
            <a:r>
              <a:rPr lang="en-US" altLang="zh-CN" sz="2000" dirty="0"/>
              <a:t>UML</a:t>
            </a:r>
            <a:r>
              <a:rPr lang="zh-CN" altLang="en-US" sz="2000" dirty="0"/>
              <a:t>图示：</a:t>
            </a:r>
            <a:endParaRPr lang="zh-CN" altLang="en-US" sz="2000" dirty="0"/>
          </a:p>
        </p:txBody>
      </p:sp>
      <p:sp>
        <p:nvSpPr>
          <p:cNvPr id="5" name="日期占位符 4"/>
          <p:cNvSpPr>
            <a:spLocks noGrp="1"/>
          </p:cNvSpPr>
          <p:nvPr>
            <p:ph type="dt" sz="half" idx="10"/>
          </p:nvPr>
        </p:nvSpPr>
        <p:spPr/>
        <p:txBody>
          <a:bodyPr/>
          <a:lstStyle/>
          <a:p>
            <a:fld id="{D671B99D-4819-4073-BC20-D4E768D0F61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55652" name="Picture 4" descr="7032798b-36ca-4b89-a462-97ba056cbe48"/>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5432616" y="1641581"/>
            <a:ext cx="3263808" cy="2015192"/>
          </a:xfrm>
          <a:prstGeom prst="rect">
            <a:avLst/>
          </a:prstGeom>
          <a:noFill/>
          <a:ln w="9525">
            <a:noFill/>
            <a:miter lim="800000"/>
            <a:headEnd/>
            <a:tailEnd/>
          </a:ln>
        </p:spPr>
      </p:pic>
      <p:sp>
        <p:nvSpPr>
          <p:cNvPr id="155653" name="AutoShape 5"/>
          <p:cNvSpPr>
            <a:spLocks noChangeArrowheads="1"/>
          </p:cNvSpPr>
          <p:nvPr/>
        </p:nvSpPr>
        <p:spPr bwMode="auto">
          <a:xfrm>
            <a:off x="1964870" y="2123941"/>
            <a:ext cx="2528888" cy="1050472"/>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wrap="none" anchor="ctr"/>
          <a:lstStyle/>
          <a:p>
            <a:r>
              <a:rPr lang="zh-CN" altLang="en-US" sz="2000" dirty="0">
                <a:solidFill>
                  <a:prstClr val="black"/>
                </a:solidFill>
                <a:latin typeface="+mj-ea"/>
                <a:ea typeface="+mj-ea"/>
              </a:rPr>
              <a:t>聚集关系的表示：</a:t>
            </a:r>
            <a:endParaRPr lang="zh-CN" altLang="en-US" sz="2000" dirty="0">
              <a:solidFill>
                <a:prstClr val="black"/>
              </a:solidFill>
              <a:latin typeface="+mj-ea"/>
              <a:ea typeface="+mj-ea"/>
            </a:endParaRPr>
          </a:p>
          <a:p>
            <a:r>
              <a:rPr lang="zh-CN" altLang="en-US" sz="2000" dirty="0">
                <a:solidFill>
                  <a:prstClr val="black"/>
                </a:solidFill>
                <a:latin typeface="+mj-ea"/>
                <a:ea typeface="+mj-ea"/>
              </a:rPr>
              <a:t>空心菱形</a:t>
            </a:r>
            <a:r>
              <a:rPr lang="en-US" altLang="zh-CN" sz="2000" dirty="0">
                <a:solidFill>
                  <a:prstClr val="black"/>
                </a:solidFill>
                <a:latin typeface="+mj-ea"/>
                <a:ea typeface="+mj-ea"/>
              </a:rPr>
              <a:t>+</a:t>
            </a:r>
            <a:r>
              <a:rPr lang="zh-CN" altLang="en-US" sz="2000" dirty="0">
                <a:solidFill>
                  <a:prstClr val="black"/>
                </a:solidFill>
                <a:latin typeface="+mj-ea"/>
                <a:ea typeface="+mj-ea"/>
              </a:rPr>
              <a:t>实线</a:t>
            </a:r>
            <a:r>
              <a:rPr lang="en-US" altLang="zh-CN" sz="2000" dirty="0">
                <a:solidFill>
                  <a:prstClr val="black"/>
                </a:solidFill>
                <a:latin typeface="+mj-ea"/>
                <a:ea typeface="+mj-ea"/>
              </a:rPr>
              <a:t>+</a:t>
            </a:r>
            <a:r>
              <a:rPr lang="zh-CN" altLang="en-US" sz="2000" dirty="0">
                <a:solidFill>
                  <a:prstClr val="black"/>
                </a:solidFill>
                <a:latin typeface="+mj-ea"/>
                <a:ea typeface="+mj-ea"/>
              </a:rPr>
              <a:t>箭头</a:t>
            </a:r>
            <a:endParaRPr lang="zh-CN" altLang="en-US" sz="2000" dirty="0">
              <a:solidFill>
                <a:prstClr val="black"/>
              </a:solidFill>
              <a:latin typeface="+mj-ea"/>
              <a:ea typeface="+mj-ea"/>
            </a:endParaRPr>
          </a:p>
          <a:p>
            <a:r>
              <a:rPr lang="zh-CN" altLang="en-US" sz="2000" dirty="0">
                <a:solidFill>
                  <a:prstClr val="black"/>
                </a:solidFill>
                <a:latin typeface="+mj-ea"/>
                <a:ea typeface="+mj-ea"/>
              </a:rPr>
              <a:t>箭头指向部分。</a:t>
            </a:r>
            <a:endParaRPr lang="zh-CN" altLang="en-US" sz="2000" dirty="0">
              <a:solidFill>
                <a:prstClr val="black"/>
              </a:solidFill>
              <a:latin typeface="+mj-ea"/>
              <a:ea typeface="+mj-ea"/>
            </a:endParaRPr>
          </a:p>
        </p:txBody>
      </p:sp>
      <p:pic>
        <p:nvPicPr>
          <p:cNvPr id="2" name="图片 1"/>
          <p:cNvPicPr>
            <a:picLocks noChangeAspect="1"/>
          </p:cNvPicPr>
          <p:nvPr/>
        </p:nvPicPr>
        <p:blipFill>
          <a:blip r:embed="rId2">
            <a:clrChange>
              <a:clrFrom>
                <a:srgbClr val="FFFFFF"/>
              </a:clrFrom>
              <a:clrTo>
                <a:srgbClr val="FFFFFF">
                  <a:alpha val="0"/>
                </a:srgbClr>
              </a:clrTo>
            </a:clrChange>
          </a:blip>
          <a:stretch>
            <a:fillRect/>
          </a:stretch>
        </p:blipFill>
        <p:spPr>
          <a:xfrm>
            <a:off x="1002195" y="3334429"/>
            <a:ext cx="5573631" cy="1330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55653"/>
                                        </p:tgtEl>
                                        <p:attrNameLst>
                                          <p:attrName>style.visibility</p:attrName>
                                        </p:attrNameLst>
                                      </p:cBhvr>
                                      <p:to>
                                        <p:strVal val="visible"/>
                                      </p:to>
                                    </p:set>
                                    <p:animEffect transition="in" filter="randombar(horizontal)">
                                      <p:cBhvr>
                                        <p:cTn id="15" dur="500"/>
                                        <p:tgtEl>
                                          <p:spTgt spid="155653"/>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55652"/>
                                        </p:tgtEl>
                                        <p:attrNameLst>
                                          <p:attrName>style.visibility</p:attrName>
                                        </p:attrNameLst>
                                      </p:cBhvr>
                                      <p:to>
                                        <p:strVal val="visible"/>
                                      </p:to>
                                    </p:set>
                                    <p:animEffect transition="in" filter="randombar(horizontal)">
                                      <p:cBhvr>
                                        <p:cTn id="20" dur="500"/>
                                        <p:tgtEl>
                                          <p:spTgt spid="155652"/>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randombar(horizont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565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r>
              <a:rPr lang="en-US" altLang="zh-CN" dirty="0"/>
              <a:t>2</a:t>
            </a:r>
            <a:r>
              <a:rPr lang="zh-CN" altLang="en-US" dirty="0"/>
              <a:t>）</a:t>
            </a:r>
            <a:r>
              <a:rPr lang="en-US" altLang="zh-CN" dirty="0"/>
              <a:t> </a:t>
            </a:r>
            <a:r>
              <a:rPr lang="zh-CN" altLang="en-US" dirty="0"/>
              <a:t>合成（组合）关系</a:t>
            </a:r>
            <a:endParaRPr lang="zh-CN" altLang="en-US" dirty="0"/>
          </a:p>
        </p:txBody>
      </p:sp>
      <p:sp>
        <p:nvSpPr>
          <p:cNvPr id="8" name="文本占位符 7"/>
          <p:cNvSpPr>
            <a:spLocks noGrp="1"/>
          </p:cNvSpPr>
          <p:nvPr>
            <p:ph idx="1"/>
          </p:nvPr>
        </p:nvSpPr>
        <p:spPr/>
        <p:txBody>
          <a:bodyPr>
            <a:normAutofit/>
          </a:bodyPr>
          <a:lstStyle/>
          <a:p>
            <a:r>
              <a:rPr lang="zh-CN" altLang="en-US" sz="2000" dirty="0"/>
              <a:t>合成：例滑翔机与机身、机尾、左右机翼。</a:t>
            </a:r>
            <a:endParaRPr lang="zh-CN" altLang="en-US" sz="2000" dirty="0"/>
          </a:p>
        </p:txBody>
      </p:sp>
      <p:sp>
        <p:nvSpPr>
          <p:cNvPr id="10" name="日期占位符 9"/>
          <p:cNvSpPr>
            <a:spLocks noGrp="1"/>
          </p:cNvSpPr>
          <p:nvPr>
            <p:ph type="dt" sz="half" idx="10"/>
          </p:nvPr>
        </p:nvSpPr>
        <p:spPr/>
        <p:txBody>
          <a:bodyPr/>
          <a:lstStyle/>
          <a:p>
            <a:fld id="{E7745817-910A-456D-8004-D4797DC0990B}" type="datetime1">
              <a:rPr lang="zh-CN" altLang="en-US" smtClean="0"/>
            </a:fld>
            <a:endParaRPr lang="zh-CN" altLang="en-US"/>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2" name="Group 4"/>
          <p:cNvGrpSpPr/>
          <p:nvPr/>
        </p:nvGrpSpPr>
        <p:grpSpPr bwMode="auto">
          <a:xfrm>
            <a:off x="3792949" y="1483673"/>
            <a:ext cx="4837541" cy="1869536"/>
            <a:chOff x="338" y="1343"/>
            <a:chExt cx="5682" cy="2424"/>
          </a:xfrm>
        </p:grpSpPr>
        <p:grpSp>
          <p:nvGrpSpPr>
            <p:cNvPr id="3" name="Group 5"/>
            <p:cNvGrpSpPr/>
            <p:nvPr/>
          </p:nvGrpSpPr>
          <p:grpSpPr bwMode="auto">
            <a:xfrm>
              <a:off x="1966" y="1343"/>
              <a:ext cx="1563" cy="647"/>
              <a:chOff x="400" y="1822"/>
              <a:chExt cx="1563" cy="647"/>
            </a:xfrm>
          </p:grpSpPr>
          <p:sp>
            <p:nvSpPr>
              <p:cNvPr id="156678" name="Text Box 6"/>
              <p:cNvSpPr txBox="1">
                <a:spLocks noChangeArrowheads="1"/>
              </p:cNvSpPr>
              <p:nvPr/>
            </p:nvSpPr>
            <p:spPr bwMode="auto">
              <a:xfrm>
                <a:off x="470" y="1893"/>
                <a:ext cx="1445" cy="389"/>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1350" dirty="0">
                    <a:solidFill>
                      <a:prstClr val="black"/>
                    </a:solidFill>
                    <a:latin typeface="Times New Roman" panose="02020603050405020304" pitchFamily="18" charset="0"/>
                  </a:rPr>
                  <a:t>滑翔机</a:t>
                </a:r>
                <a:endParaRPr kumimoji="1" lang="zh-CN" altLang="en-US" sz="1350" dirty="0">
                  <a:solidFill>
                    <a:prstClr val="black"/>
                  </a:solidFill>
                  <a:latin typeface="Times New Roman" panose="02020603050405020304" pitchFamily="18" charset="0"/>
                </a:endParaRPr>
              </a:p>
            </p:txBody>
          </p:sp>
          <p:sp>
            <p:nvSpPr>
              <p:cNvPr id="156679" name="Rectangle 7"/>
              <p:cNvSpPr>
                <a:spLocks noChangeArrowheads="1"/>
              </p:cNvSpPr>
              <p:nvPr/>
            </p:nvSpPr>
            <p:spPr bwMode="auto">
              <a:xfrm>
                <a:off x="400" y="1822"/>
                <a:ext cx="1563" cy="647"/>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sz="1350">
                  <a:solidFill>
                    <a:prstClr val="black"/>
                  </a:solidFill>
                </a:endParaRPr>
              </a:p>
            </p:txBody>
          </p:sp>
        </p:grpSp>
        <p:grpSp>
          <p:nvGrpSpPr>
            <p:cNvPr id="4" name="Group 8"/>
            <p:cNvGrpSpPr/>
            <p:nvPr/>
          </p:nvGrpSpPr>
          <p:grpSpPr bwMode="auto">
            <a:xfrm>
              <a:off x="4013" y="3120"/>
              <a:ext cx="1563" cy="647"/>
              <a:chOff x="400" y="1822"/>
              <a:chExt cx="1563" cy="647"/>
            </a:xfrm>
          </p:grpSpPr>
          <p:sp>
            <p:nvSpPr>
              <p:cNvPr id="156681" name="Text Box 9"/>
              <p:cNvSpPr txBox="1">
                <a:spLocks noChangeArrowheads="1"/>
              </p:cNvSpPr>
              <p:nvPr/>
            </p:nvSpPr>
            <p:spPr bwMode="auto">
              <a:xfrm>
                <a:off x="470" y="1893"/>
                <a:ext cx="1445" cy="389"/>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1350" dirty="0">
                    <a:solidFill>
                      <a:prstClr val="black"/>
                    </a:solidFill>
                    <a:latin typeface="Times New Roman" panose="02020603050405020304" pitchFamily="18" charset="0"/>
                  </a:rPr>
                  <a:t>机翼</a:t>
                </a:r>
                <a:endParaRPr kumimoji="1" lang="zh-CN" altLang="en-US" sz="1350" dirty="0">
                  <a:solidFill>
                    <a:prstClr val="black"/>
                  </a:solidFill>
                  <a:latin typeface="Times New Roman" panose="02020603050405020304" pitchFamily="18" charset="0"/>
                </a:endParaRPr>
              </a:p>
            </p:txBody>
          </p:sp>
          <p:sp>
            <p:nvSpPr>
              <p:cNvPr id="156682" name="Rectangle 10"/>
              <p:cNvSpPr>
                <a:spLocks noChangeArrowheads="1"/>
              </p:cNvSpPr>
              <p:nvPr/>
            </p:nvSpPr>
            <p:spPr bwMode="auto">
              <a:xfrm>
                <a:off x="400" y="1822"/>
                <a:ext cx="1563" cy="647"/>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sz="1350">
                  <a:solidFill>
                    <a:prstClr val="black"/>
                  </a:solidFill>
                </a:endParaRPr>
              </a:p>
            </p:txBody>
          </p:sp>
        </p:grpSp>
        <p:grpSp>
          <p:nvGrpSpPr>
            <p:cNvPr id="5" name="Group 11"/>
            <p:cNvGrpSpPr/>
            <p:nvPr/>
          </p:nvGrpSpPr>
          <p:grpSpPr bwMode="auto">
            <a:xfrm>
              <a:off x="2158" y="3111"/>
              <a:ext cx="1563" cy="647"/>
              <a:chOff x="400" y="1822"/>
              <a:chExt cx="1563" cy="647"/>
            </a:xfrm>
          </p:grpSpPr>
          <p:sp>
            <p:nvSpPr>
              <p:cNvPr id="156684" name="Text Box 12"/>
              <p:cNvSpPr txBox="1">
                <a:spLocks noChangeArrowheads="1"/>
              </p:cNvSpPr>
              <p:nvPr/>
            </p:nvSpPr>
            <p:spPr bwMode="auto">
              <a:xfrm>
                <a:off x="470" y="1893"/>
                <a:ext cx="1445" cy="389"/>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1350" dirty="0">
                    <a:solidFill>
                      <a:prstClr val="black"/>
                    </a:solidFill>
                    <a:latin typeface="Times New Roman" panose="02020603050405020304" pitchFamily="18" charset="0"/>
                  </a:rPr>
                  <a:t>机尾</a:t>
                </a:r>
                <a:endParaRPr kumimoji="1" lang="zh-CN" altLang="en-US" sz="1350" dirty="0">
                  <a:solidFill>
                    <a:prstClr val="black"/>
                  </a:solidFill>
                  <a:latin typeface="Times New Roman" panose="02020603050405020304" pitchFamily="18" charset="0"/>
                </a:endParaRPr>
              </a:p>
            </p:txBody>
          </p:sp>
          <p:sp>
            <p:nvSpPr>
              <p:cNvPr id="156685" name="Rectangle 13"/>
              <p:cNvSpPr>
                <a:spLocks noChangeArrowheads="1"/>
              </p:cNvSpPr>
              <p:nvPr/>
            </p:nvSpPr>
            <p:spPr bwMode="auto">
              <a:xfrm>
                <a:off x="400" y="1822"/>
                <a:ext cx="1563" cy="647"/>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sz="1350">
                  <a:solidFill>
                    <a:prstClr val="black"/>
                  </a:solidFill>
                </a:endParaRPr>
              </a:p>
            </p:txBody>
          </p:sp>
        </p:grpSp>
        <p:grpSp>
          <p:nvGrpSpPr>
            <p:cNvPr id="6" name="Group 14"/>
            <p:cNvGrpSpPr/>
            <p:nvPr/>
          </p:nvGrpSpPr>
          <p:grpSpPr bwMode="auto">
            <a:xfrm>
              <a:off x="338" y="3113"/>
              <a:ext cx="1563" cy="647"/>
              <a:chOff x="400" y="1822"/>
              <a:chExt cx="1563" cy="647"/>
            </a:xfrm>
          </p:grpSpPr>
          <p:sp>
            <p:nvSpPr>
              <p:cNvPr id="156687" name="Text Box 15"/>
              <p:cNvSpPr txBox="1">
                <a:spLocks noChangeArrowheads="1"/>
              </p:cNvSpPr>
              <p:nvPr/>
            </p:nvSpPr>
            <p:spPr bwMode="auto">
              <a:xfrm>
                <a:off x="470" y="1893"/>
                <a:ext cx="1445" cy="389"/>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1350">
                    <a:solidFill>
                      <a:prstClr val="black"/>
                    </a:solidFill>
                    <a:latin typeface="Times New Roman" panose="02020603050405020304" pitchFamily="18" charset="0"/>
                  </a:rPr>
                  <a:t>机身</a:t>
                </a:r>
                <a:endParaRPr kumimoji="1" lang="zh-CN" altLang="en-US" sz="1350">
                  <a:solidFill>
                    <a:prstClr val="black"/>
                  </a:solidFill>
                  <a:latin typeface="Times New Roman" panose="02020603050405020304" pitchFamily="18" charset="0"/>
                </a:endParaRPr>
              </a:p>
            </p:txBody>
          </p:sp>
          <p:sp>
            <p:nvSpPr>
              <p:cNvPr id="156688" name="Rectangle 16"/>
              <p:cNvSpPr>
                <a:spLocks noChangeArrowheads="1"/>
              </p:cNvSpPr>
              <p:nvPr/>
            </p:nvSpPr>
            <p:spPr bwMode="auto">
              <a:xfrm>
                <a:off x="400" y="1822"/>
                <a:ext cx="1563" cy="647"/>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sz="1350">
                  <a:solidFill>
                    <a:prstClr val="black"/>
                  </a:solidFill>
                </a:endParaRPr>
              </a:p>
            </p:txBody>
          </p:sp>
        </p:grpSp>
        <p:sp>
          <p:nvSpPr>
            <p:cNvPr id="156689" name="AutoShape 17"/>
            <p:cNvSpPr>
              <a:spLocks noChangeArrowheads="1"/>
            </p:cNvSpPr>
            <p:nvPr/>
          </p:nvSpPr>
          <p:spPr bwMode="auto">
            <a:xfrm rot="1839084">
              <a:off x="1999" y="1964"/>
              <a:ext cx="94" cy="247"/>
            </a:xfrm>
            <a:prstGeom prst="diamond">
              <a:avLst/>
            </a:prstGeom>
            <a:ln>
              <a:headEnd type="none" w="sm" len="sm"/>
              <a:tailEnd type="none" w="sm" len="sm"/>
            </a:ln>
          </p:spPr>
          <p:style>
            <a:lnRef idx="2">
              <a:schemeClr val="dk1">
                <a:shade val="50000"/>
              </a:schemeClr>
            </a:lnRef>
            <a:fillRef idx="1">
              <a:schemeClr val="dk1"/>
            </a:fillRef>
            <a:effectRef idx="0">
              <a:schemeClr val="dk1"/>
            </a:effectRef>
            <a:fontRef idx="minor">
              <a:schemeClr val="lt1"/>
            </a:fontRef>
          </p:style>
          <p:txBody>
            <a:bodyPr wrap="none" anchor="ctr"/>
            <a:lstStyle/>
            <a:p>
              <a:endParaRPr lang="zh-CN" altLang="en-US" sz="1350">
                <a:solidFill>
                  <a:prstClr val="white"/>
                </a:solidFill>
              </a:endParaRPr>
            </a:p>
          </p:txBody>
        </p:sp>
        <p:sp>
          <p:nvSpPr>
            <p:cNvPr id="156690" name="AutoShape 18"/>
            <p:cNvSpPr>
              <a:spLocks noChangeArrowheads="1"/>
            </p:cNvSpPr>
            <p:nvPr/>
          </p:nvSpPr>
          <p:spPr bwMode="auto">
            <a:xfrm>
              <a:off x="2659" y="2013"/>
              <a:ext cx="94" cy="247"/>
            </a:xfrm>
            <a:prstGeom prst="diamond">
              <a:avLst/>
            </a:prstGeom>
            <a:ln>
              <a:headEnd type="none" w="sm" len="sm"/>
              <a:tailEnd type="none" w="sm" len="sm"/>
            </a:ln>
          </p:spPr>
          <p:style>
            <a:lnRef idx="2">
              <a:schemeClr val="dk1">
                <a:shade val="50000"/>
              </a:schemeClr>
            </a:lnRef>
            <a:fillRef idx="1">
              <a:schemeClr val="dk1"/>
            </a:fillRef>
            <a:effectRef idx="0">
              <a:schemeClr val="dk1"/>
            </a:effectRef>
            <a:fontRef idx="minor">
              <a:schemeClr val="lt1"/>
            </a:fontRef>
          </p:style>
          <p:txBody>
            <a:bodyPr wrap="none" anchor="ctr"/>
            <a:lstStyle/>
            <a:p>
              <a:endParaRPr lang="zh-CN" altLang="en-US" sz="1350">
                <a:solidFill>
                  <a:prstClr val="white"/>
                </a:solidFill>
              </a:endParaRPr>
            </a:p>
          </p:txBody>
        </p:sp>
        <p:sp>
          <p:nvSpPr>
            <p:cNvPr id="156691" name="AutoShape 19"/>
            <p:cNvSpPr>
              <a:spLocks noChangeArrowheads="1"/>
            </p:cNvSpPr>
            <p:nvPr/>
          </p:nvSpPr>
          <p:spPr bwMode="auto">
            <a:xfrm rot="-2836883">
              <a:off x="3015" y="1956"/>
              <a:ext cx="94" cy="247"/>
            </a:xfrm>
            <a:prstGeom prst="diamond">
              <a:avLst/>
            </a:prstGeom>
            <a:ln>
              <a:headEnd type="none" w="sm" len="sm"/>
              <a:tailEnd type="none" w="sm" len="sm"/>
            </a:ln>
          </p:spPr>
          <p:style>
            <a:lnRef idx="2">
              <a:schemeClr val="dk1">
                <a:shade val="50000"/>
              </a:schemeClr>
            </a:lnRef>
            <a:fillRef idx="1">
              <a:schemeClr val="dk1"/>
            </a:fillRef>
            <a:effectRef idx="0">
              <a:schemeClr val="dk1"/>
            </a:effectRef>
            <a:fontRef idx="minor">
              <a:schemeClr val="lt1"/>
            </a:fontRef>
          </p:style>
          <p:txBody>
            <a:bodyPr wrap="none" anchor="ctr"/>
            <a:lstStyle/>
            <a:p>
              <a:endParaRPr lang="zh-CN" altLang="en-US" sz="1350">
                <a:solidFill>
                  <a:prstClr val="white"/>
                </a:solidFill>
              </a:endParaRPr>
            </a:p>
          </p:txBody>
        </p:sp>
        <p:sp>
          <p:nvSpPr>
            <p:cNvPr id="156692" name="AutoShape 20"/>
            <p:cNvSpPr>
              <a:spLocks noChangeArrowheads="1"/>
            </p:cNvSpPr>
            <p:nvPr/>
          </p:nvSpPr>
          <p:spPr bwMode="auto">
            <a:xfrm rot="-3372192">
              <a:off x="3416" y="1947"/>
              <a:ext cx="94" cy="247"/>
            </a:xfrm>
            <a:prstGeom prst="diamond">
              <a:avLst/>
            </a:prstGeom>
            <a:ln>
              <a:headEnd type="none" w="sm" len="sm"/>
              <a:tailEnd type="none" w="sm" len="sm"/>
            </a:ln>
          </p:spPr>
          <p:style>
            <a:lnRef idx="2">
              <a:schemeClr val="dk1">
                <a:shade val="50000"/>
              </a:schemeClr>
            </a:lnRef>
            <a:fillRef idx="1">
              <a:schemeClr val="dk1"/>
            </a:fillRef>
            <a:effectRef idx="0">
              <a:schemeClr val="dk1"/>
            </a:effectRef>
            <a:fontRef idx="minor">
              <a:schemeClr val="lt1"/>
            </a:fontRef>
          </p:style>
          <p:txBody>
            <a:bodyPr wrap="none" anchor="ctr"/>
            <a:lstStyle/>
            <a:p>
              <a:endParaRPr lang="zh-CN" altLang="en-US" sz="1350">
                <a:solidFill>
                  <a:prstClr val="white"/>
                </a:solidFill>
              </a:endParaRPr>
            </a:p>
          </p:txBody>
        </p:sp>
        <p:sp>
          <p:nvSpPr>
            <p:cNvPr id="156693" name="Line 21"/>
            <p:cNvSpPr>
              <a:spLocks noChangeShapeType="1"/>
            </p:cNvSpPr>
            <p:nvPr/>
          </p:nvSpPr>
          <p:spPr bwMode="auto">
            <a:xfrm flipH="1">
              <a:off x="1305" y="2187"/>
              <a:ext cx="682" cy="928"/>
            </a:xfrm>
            <a:prstGeom prst="line">
              <a:avLst/>
            </a:prstGeom>
            <a:noFill/>
            <a:ln w="12700" cap="sq">
              <a:solidFill>
                <a:schemeClr val="tx1"/>
              </a:solidFill>
              <a:round/>
              <a:headEnd type="none" w="sm" len="sm"/>
              <a:tailEnd type="none" w="sm" len="sm"/>
            </a:ln>
            <a:effectLst/>
          </p:spPr>
          <p:txBody>
            <a:bodyPr wrap="none"/>
            <a:lstStyle/>
            <a:p>
              <a:endParaRPr lang="zh-CN" altLang="en-US" sz="1350">
                <a:solidFill>
                  <a:prstClr val="black"/>
                </a:solidFill>
              </a:endParaRPr>
            </a:p>
          </p:txBody>
        </p:sp>
        <p:sp>
          <p:nvSpPr>
            <p:cNvPr id="156694" name="Line 22"/>
            <p:cNvSpPr>
              <a:spLocks noChangeShapeType="1"/>
            </p:cNvSpPr>
            <p:nvPr/>
          </p:nvSpPr>
          <p:spPr bwMode="auto">
            <a:xfrm>
              <a:off x="3551" y="2128"/>
              <a:ext cx="1728" cy="987"/>
            </a:xfrm>
            <a:prstGeom prst="line">
              <a:avLst/>
            </a:prstGeom>
            <a:noFill/>
            <a:ln w="12700" cap="sq">
              <a:solidFill>
                <a:schemeClr val="tx1"/>
              </a:solidFill>
              <a:round/>
              <a:headEnd type="none" w="sm" len="sm"/>
              <a:tailEnd type="none" w="sm" len="sm"/>
            </a:ln>
            <a:effectLst/>
          </p:spPr>
          <p:txBody>
            <a:bodyPr wrap="none"/>
            <a:lstStyle/>
            <a:p>
              <a:endParaRPr lang="zh-CN" altLang="en-US" sz="1350">
                <a:solidFill>
                  <a:prstClr val="black"/>
                </a:solidFill>
              </a:endParaRPr>
            </a:p>
          </p:txBody>
        </p:sp>
        <p:sp>
          <p:nvSpPr>
            <p:cNvPr id="156695" name="Line 23"/>
            <p:cNvSpPr>
              <a:spLocks noChangeShapeType="1"/>
            </p:cNvSpPr>
            <p:nvPr/>
          </p:nvSpPr>
          <p:spPr bwMode="auto">
            <a:xfrm>
              <a:off x="3139" y="2140"/>
              <a:ext cx="1270" cy="975"/>
            </a:xfrm>
            <a:prstGeom prst="line">
              <a:avLst/>
            </a:prstGeom>
            <a:noFill/>
            <a:ln w="12700" cap="sq">
              <a:solidFill>
                <a:schemeClr val="tx1"/>
              </a:solidFill>
              <a:round/>
              <a:headEnd type="none" w="sm" len="sm"/>
              <a:tailEnd type="none" w="sm" len="sm"/>
            </a:ln>
            <a:effectLst/>
          </p:spPr>
          <p:txBody>
            <a:bodyPr wrap="none"/>
            <a:lstStyle/>
            <a:p>
              <a:endParaRPr lang="zh-CN" altLang="en-US" sz="1350">
                <a:solidFill>
                  <a:prstClr val="black"/>
                </a:solidFill>
              </a:endParaRPr>
            </a:p>
          </p:txBody>
        </p:sp>
        <p:sp>
          <p:nvSpPr>
            <p:cNvPr id="156696" name="Line 24"/>
            <p:cNvSpPr>
              <a:spLocks noChangeShapeType="1"/>
            </p:cNvSpPr>
            <p:nvPr/>
          </p:nvSpPr>
          <p:spPr bwMode="auto">
            <a:xfrm>
              <a:off x="2704" y="2257"/>
              <a:ext cx="0" cy="858"/>
            </a:xfrm>
            <a:prstGeom prst="line">
              <a:avLst/>
            </a:prstGeom>
            <a:noFill/>
            <a:ln w="12700" cap="sq">
              <a:solidFill>
                <a:schemeClr val="tx1"/>
              </a:solidFill>
              <a:round/>
              <a:headEnd type="none" w="sm" len="sm"/>
              <a:tailEnd type="none" w="sm" len="sm"/>
            </a:ln>
            <a:effectLst/>
          </p:spPr>
          <p:txBody>
            <a:bodyPr wrap="none"/>
            <a:lstStyle/>
            <a:p>
              <a:endParaRPr lang="zh-CN" altLang="en-US" sz="1350">
                <a:solidFill>
                  <a:prstClr val="black"/>
                </a:solidFill>
              </a:endParaRPr>
            </a:p>
          </p:txBody>
        </p:sp>
        <p:sp>
          <p:nvSpPr>
            <p:cNvPr id="156697" name="Text Box 25"/>
            <p:cNvSpPr txBox="1">
              <a:spLocks noChangeArrowheads="1"/>
            </p:cNvSpPr>
            <p:nvPr/>
          </p:nvSpPr>
          <p:spPr bwMode="auto">
            <a:xfrm>
              <a:off x="518" y="2722"/>
              <a:ext cx="1162" cy="419"/>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en-US" altLang="zh-CN" sz="1500" dirty="0">
                  <a:solidFill>
                    <a:prstClr val="black"/>
                  </a:solidFill>
                  <a:latin typeface="Times New Roman" panose="02020603050405020304" pitchFamily="18" charset="0"/>
                </a:rPr>
                <a:t>fuselage</a:t>
              </a:r>
              <a:endParaRPr kumimoji="1" lang="en-US" altLang="zh-CN" sz="1500" dirty="0">
                <a:solidFill>
                  <a:prstClr val="black"/>
                </a:solidFill>
                <a:latin typeface="Times New Roman" panose="02020603050405020304" pitchFamily="18" charset="0"/>
              </a:endParaRPr>
            </a:p>
          </p:txBody>
        </p:sp>
        <p:sp>
          <p:nvSpPr>
            <p:cNvPr id="156698" name="Text Box 26"/>
            <p:cNvSpPr txBox="1">
              <a:spLocks noChangeArrowheads="1"/>
            </p:cNvSpPr>
            <p:nvPr/>
          </p:nvSpPr>
          <p:spPr bwMode="auto">
            <a:xfrm>
              <a:off x="2184" y="2700"/>
              <a:ext cx="595" cy="419"/>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en-US" altLang="zh-CN" sz="1500" dirty="0">
                  <a:solidFill>
                    <a:prstClr val="black"/>
                  </a:solidFill>
                  <a:latin typeface="Times New Roman" panose="02020603050405020304" pitchFamily="18" charset="0"/>
                </a:rPr>
                <a:t>tail</a:t>
              </a:r>
              <a:endParaRPr kumimoji="1" lang="en-US" altLang="zh-CN" sz="1500" dirty="0">
                <a:solidFill>
                  <a:prstClr val="black"/>
                </a:solidFill>
                <a:latin typeface="Times New Roman" panose="02020603050405020304" pitchFamily="18" charset="0"/>
              </a:endParaRPr>
            </a:p>
          </p:txBody>
        </p:sp>
        <p:sp>
          <p:nvSpPr>
            <p:cNvPr id="156699" name="Text Box 27"/>
            <p:cNvSpPr txBox="1">
              <a:spLocks noChangeArrowheads="1"/>
            </p:cNvSpPr>
            <p:nvPr/>
          </p:nvSpPr>
          <p:spPr bwMode="auto">
            <a:xfrm>
              <a:off x="3452" y="2733"/>
              <a:ext cx="978" cy="718"/>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en-US" altLang="zh-CN" sz="1500" dirty="0" err="1">
                  <a:solidFill>
                    <a:prstClr val="black"/>
                  </a:solidFill>
                  <a:latin typeface="Times New Roman" panose="02020603050405020304" pitchFamily="18" charset="0"/>
                </a:rPr>
                <a:t>leftWing</a:t>
              </a:r>
              <a:endParaRPr kumimoji="1" lang="en-US" altLang="zh-CN" sz="1500" dirty="0">
                <a:solidFill>
                  <a:prstClr val="black"/>
                </a:solidFill>
                <a:latin typeface="Times New Roman" panose="02020603050405020304" pitchFamily="18" charset="0"/>
              </a:endParaRPr>
            </a:p>
          </p:txBody>
        </p:sp>
        <p:sp>
          <p:nvSpPr>
            <p:cNvPr id="156700" name="Text Box 28"/>
            <p:cNvSpPr txBox="1">
              <a:spLocks noChangeArrowheads="1"/>
            </p:cNvSpPr>
            <p:nvPr/>
          </p:nvSpPr>
          <p:spPr bwMode="auto">
            <a:xfrm>
              <a:off x="4884" y="2695"/>
              <a:ext cx="1136" cy="419"/>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kumimoji="1" lang="en-US" altLang="zh-CN" sz="1500" dirty="0" err="1">
                  <a:solidFill>
                    <a:prstClr val="black"/>
                  </a:solidFill>
                  <a:latin typeface="Times New Roman" panose="02020603050405020304" pitchFamily="18" charset="0"/>
                </a:rPr>
                <a:t>rightWing</a:t>
              </a:r>
              <a:endParaRPr kumimoji="1" lang="en-US" altLang="zh-CN" sz="1500" dirty="0">
                <a:solidFill>
                  <a:prstClr val="black"/>
                </a:solidFill>
                <a:latin typeface="Times New Roman" panose="02020603050405020304" pitchFamily="18" charset="0"/>
              </a:endParaRPr>
            </a:p>
          </p:txBody>
        </p:sp>
        <p:sp>
          <p:nvSpPr>
            <p:cNvPr id="156701" name="Text Box 29"/>
            <p:cNvSpPr txBox="1">
              <a:spLocks noChangeArrowheads="1"/>
            </p:cNvSpPr>
            <p:nvPr/>
          </p:nvSpPr>
          <p:spPr bwMode="auto">
            <a:xfrm>
              <a:off x="1550" y="2772"/>
              <a:ext cx="259" cy="389"/>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1350" dirty="0">
                  <a:solidFill>
                    <a:prstClr val="black"/>
                  </a:solidFill>
                  <a:latin typeface="Times New Roman" panose="02020603050405020304" pitchFamily="18" charset="0"/>
                </a:rPr>
                <a:t>1</a:t>
              </a:r>
              <a:endParaRPr kumimoji="1" lang="en-US" altLang="zh-CN" sz="1350" dirty="0">
                <a:solidFill>
                  <a:prstClr val="black"/>
                </a:solidFill>
                <a:latin typeface="Times New Roman" panose="02020603050405020304" pitchFamily="18" charset="0"/>
              </a:endParaRPr>
            </a:p>
          </p:txBody>
        </p:sp>
        <p:sp>
          <p:nvSpPr>
            <p:cNvPr id="156702" name="Text Box 30"/>
            <p:cNvSpPr txBox="1">
              <a:spLocks noChangeArrowheads="1"/>
            </p:cNvSpPr>
            <p:nvPr/>
          </p:nvSpPr>
          <p:spPr bwMode="auto">
            <a:xfrm>
              <a:off x="2733" y="2719"/>
              <a:ext cx="259" cy="389"/>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1350" dirty="0">
                  <a:solidFill>
                    <a:prstClr val="black"/>
                  </a:solidFill>
                  <a:latin typeface="Times New Roman" panose="02020603050405020304" pitchFamily="18" charset="0"/>
                </a:rPr>
                <a:t>1</a:t>
              </a:r>
              <a:endParaRPr kumimoji="1" lang="en-US" altLang="zh-CN" sz="1350" dirty="0">
                <a:solidFill>
                  <a:prstClr val="black"/>
                </a:solidFill>
                <a:latin typeface="Times New Roman" panose="02020603050405020304" pitchFamily="18" charset="0"/>
              </a:endParaRPr>
            </a:p>
          </p:txBody>
        </p:sp>
        <p:sp>
          <p:nvSpPr>
            <p:cNvPr id="156703" name="Text Box 31"/>
            <p:cNvSpPr txBox="1">
              <a:spLocks noChangeArrowheads="1"/>
            </p:cNvSpPr>
            <p:nvPr/>
          </p:nvSpPr>
          <p:spPr bwMode="auto">
            <a:xfrm>
              <a:off x="4311" y="2770"/>
              <a:ext cx="259" cy="389"/>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1350">
                  <a:solidFill>
                    <a:prstClr val="black"/>
                  </a:solidFill>
                  <a:latin typeface="Times New Roman" panose="02020603050405020304" pitchFamily="18" charset="0"/>
                </a:rPr>
                <a:t>1</a:t>
              </a:r>
              <a:endParaRPr kumimoji="1" lang="en-US" altLang="zh-CN" sz="1350">
                <a:solidFill>
                  <a:prstClr val="black"/>
                </a:solidFill>
                <a:latin typeface="Times New Roman" panose="02020603050405020304" pitchFamily="18" charset="0"/>
              </a:endParaRPr>
            </a:p>
          </p:txBody>
        </p:sp>
        <p:sp>
          <p:nvSpPr>
            <p:cNvPr id="156704" name="Text Box 32"/>
            <p:cNvSpPr txBox="1">
              <a:spLocks noChangeArrowheads="1"/>
            </p:cNvSpPr>
            <p:nvPr/>
          </p:nvSpPr>
          <p:spPr bwMode="auto">
            <a:xfrm>
              <a:off x="4665" y="2786"/>
              <a:ext cx="259" cy="389"/>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1350">
                  <a:solidFill>
                    <a:prstClr val="black"/>
                  </a:solidFill>
                  <a:latin typeface="Times New Roman" panose="02020603050405020304" pitchFamily="18" charset="0"/>
                </a:rPr>
                <a:t>1</a:t>
              </a:r>
              <a:endParaRPr kumimoji="1" lang="en-US" altLang="zh-CN" sz="1350">
                <a:solidFill>
                  <a:prstClr val="black"/>
                </a:solidFill>
                <a:latin typeface="Times New Roman" panose="02020603050405020304" pitchFamily="18" charset="0"/>
              </a:endParaRPr>
            </a:p>
          </p:txBody>
        </p:sp>
      </p:grpSp>
      <p:sp>
        <p:nvSpPr>
          <p:cNvPr id="156705" name="AutoShape 33"/>
          <p:cNvSpPr>
            <a:spLocks noChangeArrowheads="1"/>
          </p:cNvSpPr>
          <p:nvPr/>
        </p:nvSpPr>
        <p:spPr bwMode="auto">
          <a:xfrm>
            <a:off x="925975" y="1592908"/>
            <a:ext cx="2896533" cy="1131016"/>
          </a:xfrm>
          <a:prstGeom prst="foldedCorner">
            <a:avLst>
              <a:gd name="adj" fmla="val 12500"/>
            </a:avLst>
          </a:prstGeom>
        </p:spPr>
        <p:style>
          <a:lnRef idx="2">
            <a:schemeClr val="accent1"/>
          </a:lnRef>
          <a:fillRef idx="1">
            <a:schemeClr val="lt1"/>
          </a:fillRef>
          <a:effectRef idx="0">
            <a:schemeClr val="accent1"/>
          </a:effectRef>
          <a:fontRef idx="minor">
            <a:schemeClr val="dk1"/>
          </a:fontRef>
        </p:style>
        <p:txBody>
          <a:bodyPr wrap="none" anchor="b"/>
          <a:lstStyle/>
          <a:p>
            <a:r>
              <a:rPr lang="zh-CN" altLang="en-US" sz="2000" dirty="0">
                <a:solidFill>
                  <a:prstClr val="black"/>
                </a:solidFill>
                <a:latin typeface="+mj-ea"/>
                <a:ea typeface="+mj-ea"/>
              </a:rPr>
              <a:t>合成关系的表示：</a:t>
            </a:r>
            <a:endParaRPr lang="zh-CN" altLang="en-US" sz="2000" dirty="0">
              <a:solidFill>
                <a:prstClr val="black"/>
              </a:solidFill>
              <a:latin typeface="+mj-ea"/>
              <a:ea typeface="+mj-ea"/>
            </a:endParaRPr>
          </a:p>
          <a:p>
            <a:r>
              <a:rPr lang="zh-CN" altLang="en-US" sz="2000" dirty="0">
                <a:solidFill>
                  <a:prstClr val="black"/>
                </a:solidFill>
                <a:latin typeface="+mj-ea"/>
                <a:ea typeface="+mj-ea"/>
              </a:rPr>
              <a:t>实心菱形</a:t>
            </a:r>
            <a:r>
              <a:rPr lang="en-US" altLang="zh-CN" sz="2000" dirty="0">
                <a:solidFill>
                  <a:prstClr val="black"/>
                </a:solidFill>
                <a:latin typeface="+mj-ea"/>
                <a:ea typeface="+mj-ea"/>
              </a:rPr>
              <a:t>+</a:t>
            </a:r>
            <a:r>
              <a:rPr lang="zh-CN" altLang="en-US" sz="2000" dirty="0">
                <a:solidFill>
                  <a:prstClr val="black"/>
                </a:solidFill>
                <a:latin typeface="+mj-ea"/>
                <a:ea typeface="+mj-ea"/>
              </a:rPr>
              <a:t>实线</a:t>
            </a:r>
            <a:r>
              <a:rPr lang="en-US" altLang="zh-CN" sz="2000" dirty="0">
                <a:solidFill>
                  <a:prstClr val="black"/>
                </a:solidFill>
                <a:latin typeface="+mj-ea"/>
                <a:ea typeface="+mj-ea"/>
              </a:rPr>
              <a:t>+</a:t>
            </a:r>
            <a:r>
              <a:rPr lang="zh-CN" altLang="en-US" sz="2000" dirty="0">
                <a:solidFill>
                  <a:prstClr val="black"/>
                </a:solidFill>
                <a:latin typeface="+mj-ea"/>
                <a:ea typeface="+mj-ea"/>
              </a:rPr>
              <a:t>箭头</a:t>
            </a:r>
            <a:endParaRPr lang="zh-CN" altLang="en-US" sz="2000" dirty="0">
              <a:solidFill>
                <a:prstClr val="black"/>
              </a:solidFill>
              <a:latin typeface="+mj-ea"/>
              <a:ea typeface="+mj-ea"/>
            </a:endParaRPr>
          </a:p>
          <a:p>
            <a:r>
              <a:rPr lang="zh-CN" altLang="en-US" sz="2000" dirty="0">
                <a:solidFill>
                  <a:prstClr val="black"/>
                </a:solidFill>
                <a:latin typeface="+mj-ea"/>
                <a:ea typeface="+mj-ea"/>
              </a:rPr>
              <a:t>箭头指向部分。</a:t>
            </a:r>
            <a:endParaRPr lang="zh-CN" altLang="en-US" sz="2000" dirty="0">
              <a:solidFill>
                <a:prstClr val="black"/>
              </a:solidFill>
              <a:latin typeface="+mj-ea"/>
              <a:ea typeface="+mj-ea"/>
            </a:endParaRPr>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928349" y="3409052"/>
            <a:ext cx="4789941" cy="11974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56705"/>
                                        </p:tgtEl>
                                        <p:attrNameLst>
                                          <p:attrName>style.visibility</p:attrName>
                                        </p:attrNameLst>
                                      </p:cBhvr>
                                      <p:to>
                                        <p:strVal val="visible"/>
                                      </p:to>
                                    </p:set>
                                    <p:animEffect transition="in" filter="randombar(horizontal)">
                                      <p:cBhvr>
                                        <p:cTn id="11" dur="500"/>
                                        <p:tgtEl>
                                          <p:spTgt spid="156705"/>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randombar(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5670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关联与聚合、合成的区别</a:t>
            </a:r>
            <a:endParaRPr lang="zh-CN" altLang="en-US" dirty="0"/>
          </a:p>
        </p:txBody>
      </p:sp>
      <p:sp>
        <p:nvSpPr>
          <p:cNvPr id="6" name="日期占位符 5"/>
          <p:cNvSpPr>
            <a:spLocks noGrp="1"/>
          </p:cNvSpPr>
          <p:nvPr>
            <p:ph type="dt" sz="half" idx="10"/>
          </p:nvPr>
        </p:nvSpPr>
        <p:spPr/>
        <p:txBody>
          <a:bodyPr/>
          <a:lstStyle/>
          <a:p>
            <a:fld id="{209ED56F-92EA-4BBD-9900-F9C6F31F3FA9}"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57706" name="AutoShape 10"/>
          <p:cNvSpPr/>
          <p:nvPr/>
        </p:nvSpPr>
        <p:spPr bwMode="auto">
          <a:xfrm>
            <a:off x="4220481" y="966938"/>
            <a:ext cx="1888157" cy="681156"/>
          </a:xfrm>
          <a:prstGeom prst="borderCallout2">
            <a:avLst>
              <a:gd name="adj1" fmla="val 18750"/>
              <a:gd name="adj2" fmla="val -3532"/>
              <a:gd name="adj3" fmla="val 18750"/>
              <a:gd name="adj4" fmla="val -21574"/>
              <a:gd name="adj5" fmla="val 113282"/>
              <a:gd name="adj6" fmla="val -40278"/>
            </a:avLst>
          </a:prstGeom>
          <a:solidFill>
            <a:schemeClr val="bg1"/>
          </a:solidFill>
          <a:ln w="22225" algn="ctr">
            <a:solidFill>
              <a:srgbClr val="FF00FF"/>
            </a:solidFill>
            <a:miter lim="800000"/>
          </a:ln>
          <a:effectLst/>
        </p:spPr>
        <p:txBody>
          <a:bodyPr/>
          <a:lstStyle/>
          <a:p>
            <a:r>
              <a:rPr lang="zh-CN" altLang="en-US" sz="1600" b="1" dirty="0">
                <a:solidFill>
                  <a:prstClr val="black"/>
                </a:solidFill>
                <a:latin typeface="+mj-ea"/>
                <a:ea typeface="+mj-ea"/>
              </a:rPr>
              <a:t>一般关联中的两个类处于同一层次</a:t>
            </a:r>
            <a:endParaRPr lang="zh-CN" altLang="en-US" sz="1600" b="1" dirty="0">
              <a:solidFill>
                <a:prstClr val="black"/>
              </a:solidFill>
              <a:latin typeface="+mj-ea"/>
              <a:ea typeface="+mj-ea"/>
            </a:endParaRPr>
          </a:p>
        </p:txBody>
      </p:sp>
      <p:sp>
        <p:nvSpPr>
          <p:cNvPr id="157707" name="AutoShape 11"/>
          <p:cNvSpPr/>
          <p:nvPr/>
        </p:nvSpPr>
        <p:spPr bwMode="auto">
          <a:xfrm>
            <a:off x="768096" y="3792062"/>
            <a:ext cx="2270515" cy="681156"/>
          </a:xfrm>
          <a:prstGeom prst="borderCallout2">
            <a:avLst>
              <a:gd name="adj1" fmla="val 18750"/>
              <a:gd name="adj2" fmla="val 102940"/>
              <a:gd name="adj3" fmla="val 18750"/>
              <a:gd name="adj4" fmla="val 110412"/>
              <a:gd name="adj5" fmla="val -136981"/>
              <a:gd name="adj6" fmla="val 118185"/>
            </a:avLst>
          </a:prstGeom>
          <a:solidFill>
            <a:schemeClr val="bg1"/>
          </a:solidFill>
          <a:ln w="22225" algn="ctr">
            <a:solidFill>
              <a:srgbClr val="FF00FF"/>
            </a:solidFill>
            <a:miter lim="800000"/>
          </a:ln>
          <a:effectLst/>
        </p:spPr>
        <p:txBody>
          <a:bodyPr/>
          <a:lstStyle/>
          <a:p>
            <a:r>
              <a:rPr lang="zh-CN" altLang="en-US" sz="1600" b="1" dirty="0">
                <a:solidFill>
                  <a:prstClr val="black"/>
                </a:solidFill>
                <a:latin typeface="+mj-ea"/>
                <a:ea typeface="+mj-ea"/>
              </a:rPr>
              <a:t>特殊关联中的两个类有整体和部分的关系</a:t>
            </a:r>
            <a:endParaRPr lang="zh-CN" altLang="en-US" sz="1600" b="1" dirty="0">
              <a:solidFill>
                <a:prstClr val="black"/>
              </a:solidFill>
              <a:latin typeface="+mj-ea"/>
              <a:ea typeface="+mj-ea"/>
            </a:endParaRPr>
          </a:p>
        </p:txBody>
      </p:sp>
      <p:sp>
        <p:nvSpPr>
          <p:cNvPr id="157708" name="AutoShape 12"/>
          <p:cNvSpPr/>
          <p:nvPr/>
        </p:nvSpPr>
        <p:spPr bwMode="auto">
          <a:xfrm>
            <a:off x="5737034" y="1845797"/>
            <a:ext cx="1696283" cy="681156"/>
          </a:xfrm>
          <a:prstGeom prst="borderCallout2">
            <a:avLst>
              <a:gd name="adj1" fmla="val 18750"/>
              <a:gd name="adj2" fmla="val -3935"/>
              <a:gd name="adj3" fmla="val 18750"/>
              <a:gd name="adj4" fmla="val -21065"/>
              <a:gd name="adj5" fmla="val 110940"/>
              <a:gd name="adj6" fmla="val -38935"/>
            </a:avLst>
          </a:prstGeom>
          <a:solidFill>
            <a:schemeClr val="bg1"/>
          </a:solidFill>
          <a:ln w="22225" algn="ctr">
            <a:solidFill>
              <a:srgbClr val="FF00FF"/>
            </a:solidFill>
            <a:miter lim="800000"/>
          </a:ln>
          <a:effectLst/>
        </p:spPr>
        <p:txBody>
          <a:bodyPr/>
          <a:lstStyle/>
          <a:p>
            <a:r>
              <a:rPr lang="zh-CN" altLang="en-US" sz="1600" b="1" dirty="0">
                <a:solidFill>
                  <a:prstClr val="black"/>
                </a:solidFill>
                <a:latin typeface="+mj-ea"/>
                <a:ea typeface="+mj-ea"/>
              </a:rPr>
              <a:t>部分可以脱离整体单独存在</a:t>
            </a:r>
            <a:endParaRPr lang="zh-CN" altLang="en-US" sz="1600" b="1" dirty="0">
              <a:solidFill>
                <a:prstClr val="black"/>
              </a:solidFill>
              <a:latin typeface="+mj-ea"/>
              <a:ea typeface="+mj-ea"/>
            </a:endParaRPr>
          </a:p>
        </p:txBody>
      </p:sp>
      <p:sp>
        <p:nvSpPr>
          <p:cNvPr id="157709" name="AutoShape 13"/>
          <p:cNvSpPr/>
          <p:nvPr/>
        </p:nvSpPr>
        <p:spPr bwMode="auto">
          <a:xfrm>
            <a:off x="5737033" y="2796871"/>
            <a:ext cx="1696283" cy="681156"/>
          </a:xfrm>
          <a:prstGeom prst="borderCallout2">
            <a:avLst>
              <a:gd name="adj1" fmla="val 18750"/>
              <a:gd name="adj2" fmla="val -3935"/>
              <a:gd name="adj3" fmla="val 18750"/>
              <a:gd name="adj4" fmla="val -26065"/>
              <a:gd name="adj5" fmla="val 57369"/>
              <a:gd name="adj6" fmla="val -36535"/>
            </a:avLst>
          </a:prstGeom>
          <a:solidFill>
            <a:schemeClr val="bg1"/>
          </a:solidFill>
          <a:ln w="22225" algn="ctr">
            <a:solidFill>
              <a:srgbClr val="FF00FF"/>
            </a:solidFill>
            <a:miter lim="800000"/>
          </a:ln>
          <a:effectLst/>
        </p:spPr>
        <p:txBody>
          <a:bodyPr/>
          <a:lstStyle/>
          <a:p>
            <a:r>
              <a:rPr lang="zh-CN" altLang="en-US" sz="1600" b="1">
                <a:solidFill>
                  <a:prstClr val="black"/>
                </a:solidFill>
                <a:latin typeface="+mj-ea"/>
                <a:ea typeface="+mj-ea"/>
              </a:rPr>
              <a:t>部分不能脱离整体单独存在</a:t>
            </a:r>
            <a:endParaRPr lang="zh-CN" altLang="en-US" sz="1600" b="1">
              <a:solidFill>
                <a:prstClr val="black"/>
              </a:solidFill>
              <a:latin typeface="+mj-ea"/>
              <a:ea typeface="+mj-ea"/>
            </a:endParaRPr>
          </a:p>
        </p:txBody>
      </p:sp>
      <p:grpSp>
        <p:nvGrpSpPr>
          <p:cNvPr id="2" name="组合 1"/>
          <p:cNvGrpSpPr/>
          <p:nvPr/>
        </p:nvGrpSpPr>
        <p:grpSpPr>
          <a:xfrm>
            <a:off x="1580691" y="1507482"/>
            <a:ext cx="3835003" cy="1997869"/>
            <a:chOff x="1258888" y="2349500"/>
            <a:chExt cx="5113337" cy="2663825"/>
          </a:xfrm>
        </p:grpSpPr>
        <p:sp>
          <p:nvSpPr>
            <p:cNvPr id="157699" name="AutoShape 3"/>
            <p:cNvSpPr>
              <a:spLocks noChangeArrowheads="1"/>
            </p:cNvSpPr>
            <p:nvPr/>
          </p:nvSpPr>
          <p:spPr bwMode="auto">
            <a:xfrm>
              <a:off x="1258888" y="3140075"/>
              <a:ext cx="1295400" cy="576263"/>
            </a:xfrm>
            <a:prstGeom prst="roundRect">
              <a:avLst>
                <a:gd name="adj" fmla="val 16667"/>
              </a:avLst>
            </a:prstGeom>
            <a:solidFill>
              <a:schemeClr val="bg1"/>
            </a:solidFill>
            <a:ln w="22225" algn="ctr">
              <a:solidFill>
                <a:schemeClr val="tx1"/>
              </a:solidFill>
              <a:round/>
            </a:ln>
            <a:effectLst/>
          </p:spPr>
          <p:txBody>
            <a:bodyPr wrap="none" anchor="ctr"/>
            <a:lstStyle/>
            <a:p>
              <a:r>
                <a:rPr lang="zh-CN" altLang="en-US" sz="1600">
                  <a:solidFill>
                    <a:prstClr val="black"/>
                  </a:solidFill>
                  <a:latin typeface="+mj-ea"/>
                  <a:ea typeface="+mj-ea"/>
                </a:rPr>
                <a:t>关联</a:t>
              </a:r>
              <a:endParaRPr lang="zh-CN" altLang="en-US" sz="1600">
                <a:solidFill>
                  <a:prstClr val="black"/>
                </a:solidFill>
                <a:latin typeface="+mj-ea"/>
                <a:ea typeface="+mj-ea"/>
              </a:endParaRPr>
            </a:p>
          </p:txBody>
        </p:sp>
        <p:sp>
          <p:nvSpPr>
            <p:cNvPr id="157700" name="AutoShape 4"/>
            <p:cNvSpPr>
              <a:spLocks noChangeArrowheads="1"/>
            </p:cNvSpPr>
            <p:nvPr/>
          </p:nvSpPr>
          <p:spPr bwMode="auto">
            <a:xfrm>
              <a:off x="3132138" y="2349500"/>
              <a:ext cx="1295400" cy="576263"/>
            </a:xfrm>
            <a:prstGeom prst="roundRect">
              <a:avLst>
                <a:gd name="adj" fmla="val 16667"/>
              </a:avLst>
            </a:prstGeom>
            <a:solidFill>
              <a:schemeClr val="bg1"/>
            </a:solidFill>
            <a:ln w="22225" algn="ctr">
              <a:solidFill>
                <a:schemeClr val="tx1"/>
              </a:solidFill>
              <a:round/>
            </a:ln>
            <a:effectLst/>
          </p:spPr>
          <p:txBody>
            <a:bodyPr wrap="none" anchor="ctr"/>
            <a:lstStyle/>
            <a:p>
              <a:r>
                <a:rPr lang="zh-CN" altLang="en-US" sz="1600" dirty="0">
                  <a:solidFill>
                    <a:prstClr val="black"/>
                  </a:solidFill>
                  <a:latin typeface="+mj-ea"/>
                  <a:ea typeface="+mj-ea"/>
                </a:rPr>
                <a:t>一般关联</a:t>
              </a:r>
              <a:endParaRPr lang="zh-CN" altLang="en-US" sz="1600" dirty="0">
                <a:solidFill>
                  <a:prstClr val="black"/>
                </a:solidFill>
                <a:latin typeface="+mj-ea"/>
                <a:ea typeface="+mj-ea"/>
              </a:endParaRPr>
            </a:p>
          </p:txBody>
        </p:sp>
        <p:sp>
          <p:nvSpPr>
            <p:cNvPr id="157701" name="AutoShape 5"/>
            <p:cNvSpPr>
              <a:spLocks noChangeArrowheads="1"/>
            </p:cNvSpPr>
            <p:nvPr/>
          </p:nvSpPr>
          <p:spPr bwMode="auto">
            <a:xfrm>
              <a:off x="3132138" y="3933825"/>
              <a:ext cx="1295400" cy="576263"/>
            </a:xfrm>
            <a:prstGeom prst="roundRect">
              <a:avLst>
                <a:gd name="adj" fmla="val 16667"/>
              </a:avLst>
            </a:prstGeom>
            <a:solidFill>
              <a:schemeClr val="bg1"/>
            </a:solidFill>
            <a:ln w="22225" algn="ctr">
              <a:solidFill>
                <a:schemeClr val="tx1"/>
              </a:solidFill>
              <a:round/>
            </a:ln>
            <a:effectLst/>
          </p:spPr>
          <p:txBody>
            <a:bodyPr wrap="none" anchor="ctr"/>
            <a:lstStyle/>
            <a:p>
              <a:r>
                <a:rPr lang="zh-CN" altLang="en-US" sz="1600">
                  <a:solidFill>
                    <a:prstClr val="black"/>
                  </a:solidFill>
                  <a:latin typeface="+mj-ea"/>
                  <a:ea typeface="+mj-ea"/>
                </a:rPr>
                <a:t>特殊关联</a:t>
              </a:r>
              <a:endParaRPr lang="zh-CN" altLang="en-US" sz="1600">
                <a:solidFill>
                  <a:prstClr val="black"/>
                </a:solidFill>
                <a:latin typeface="+mj-ea"/>
                <a:ea typeface="+mj-ea"/>
              </a:endParaRPr>
            </a:p>
          </p:txBody>
        </p:sp>
        <p:sp>
          <p:nvSpPr>
            <p:cNvPr id="157702" name="AutoShape 6"/>
            <p:cNvSpPr>
              <a:spLocks noChangeArrowheads="1"/>
            </p:cNvSpPr>
            <p:nvPr/>
          </p:nvSpPr>
          <p:spPr bwMode="auto">
            <a:xfrm>
              <a:off x="5076825" y="3429000"/>
              <a:ext cx="1295400" cy="576263"/>
            </a:xfrm>
            <a:prstGeom prst="roundRect">
              <a:avLst>
                <a:gd name="adj" fmla="val 16667"/>
              </a:avLst>
            </a:prstGeom>
            <a:solidFill>
              <a:schemeClr val="bg1"/>
            </a:solidFill>
            <a:ln w="22225" algn="ctr">
              <a:solidFill>
                <a:schemeClr val="tx1"/>
              </a:solidFill>
              <a:round/>
            </a:ln>
            <a:effectLst/>
          </p:spPr>
          <p:txBody>
            <a:bodyPr wrap="none" anchor="ctr"/>
            <a:lstStyle/>
            <a:p>
              <a:r>
                <a:rPr lang="zh-CN" altLang="en-US" sz="1600">
                  <a:solidFill>
                    <a:prstClr val="black"/>
                  </a:solidFill>
                  <a:latin typeface="+mj-ea"/>
                  <a:ea typeface="+mj-ea"/>
                </a:rPr>
                <a:t>聚合关系</a:t>
              </a:r>
              <a:endParaRPr lang="zh-CN" altLang="en-US" sz="1600">
                <a:solidFill>
                  <a:prstClr val="black"/>
                </a:solidFill>
                <a:latin typeface="+mj-ea"/>
                <a:ea typeface="+mj-ea"/>
              </a:endParaRPr>
            </a:p>
          </p:txBody>
        </p:sp>
        <p:sp>
          <p:nvSpPr>
            <p:cNvPr id="157703" name="AutoShape 7"/>
            <p:cNvSpPr>
              <a:spLocks noChangeArrowheads="1"/>
            </p:cNvSpPr>
            <p:nvPr/>
          </p:nvSpPr>
          <p:spPr bwMode="auto">
            <a:xfrm>
              <a:off x="5076825" y="4437063"/>
              <a:ext cx="1295400" cy="576262"/>
            </a:xfrm>
            <a:prstGeom prst="roundRect">
              <a:avLst>
                <a:gd name="adj" fmla="val 16667"/>
              </a:avLst>
            </a:prstGeom>
            <a:solidFill>
              <a:schemeClr val="bg1"/>
            </a:solidFill>
            <a:ln w="22225" algn="ctr">
              <a:solidFill>
                <a:schemeClr val="tx1"/>
              </a:solidFill>
              <a:round/>
            </a:ln>
            <a:effectLst/>
          </p:spPr>
          <p:txBody>
            <a:bodyPr wrap="none" anchor="ctr"/>
            <a:lstStyle/>
            <a:p>
              <a:r>
                <a:rPr lang="zh-CN" altLang="en-US" sz="1600" dirty="0">
                  <a:solidFill>
                    <a:prstClr val="black"/>
                  </a:solidFill>
                  <a:latin typeface="+mj-ea"/>
                  <a:ea typeface="+mj-ea"/>
                </a:rPr>
                <a:t>组合关系</a:t>
              </a:r>
              <a:endParaRPr lang="zh-CN" altLang="en-US" sz="1600" dirty="0">
                <a:solidFill>
                  <a:prstClr val="black"/>
                </a:solidFill>
                <a:latin typeface="+mj-ea"/>
                <a:ea typeface="+mj-ea"/>
              </a:endParaRPr>
            </a:p>
          </p:txBody>
        </p:sp>
        <p:cxnSp>
          <p:nvCxnSpPr>
            <p:cNvPr id="157704" name="AutoShape 8"/>
            <p:cNvCxnSpPr>
              <a:cxnSpLocks noChangeShapeType="1"/>
              <a:stCxn id="157699" idx="3"/>
              <a:endCxn id="157700" idx="1"/>
            </p:cNvCxnSpPr>
            <p:nvPr/>
          </p:nvCxnSpPr>
          <p:spPr bwMode="auto">
            <a:xfrm flipV="1">
              <a:off x="2565400" y="2638425"/>
              <a:ext cx="555625" cy="790575"/>
            </a:xfrm>
            <a:prstGeom prst="bentConnector3">
              <a:avLst>
                <a:gd name="adj1" fmla="val 50000"/>
              </a:avLst>
            </a:prstGeom>
            <a:noFill/>
            <a:ln w="9525">
              <a:solidFill>
                <a:schemeClr val="tx1"/>
              </a:solidFill>
              <a:miter lim="800000"/>
              <a:tailEnd type="triangle" w="med" len="med"/>
            </a:ln>
            <a:effectLst/>
          </p:spPr>
        </p:cxnSp>
        <p:cxnSp>
          <p:nvCxnSpPr>
            <p:cNvPr id="157705" name="AutoShape 9"/>
            <p:cNvCxnSpPr>
              <a:cxnSpLocks noChangeShapeType="1"/>
              <a:stCxn id="157699" idx="3"/>
              <a:endCxn id="157701" idx="1"/>
            </p:cNvCxnSpPr>
            <p:nvPr/>
          </p:nvCxnSpPr>
          <p:spPr bwMode="auto">
            <a:xfrm>
              <a:off x="2565400" y="3429000"/>
              <a:ext cx="555625" cy="793750"/>
            </a:xfrm>
            <a:prstGeom prst="bentConnector3">
              <a:avLst>
                <a:gd name="adj1" fmla="val 50000"/>
              </a:avLst>
            </a:prstGeom>
            <a:noFill/>
            <a:ln w="9525">
              <a:solidFill>
                <a:schemeClr val="tx1"/>
              </a:solidFill>
              <a:miter lim="800000"/>
              <a:tailEnd type="triangle" w="med" len="med"/>
            </a:ln>
            <a:effectLst/>
          </p:spPr>
        </p:cxnSp>
        <p:cxnSp>
          <p:nvCxnSpPr>
            <p:cNvPr id="157710" name="AutoShape 14"/>
            <p:cNvCxnSpPr>
              <a:cxnSpLocks noChangeShapeType="1"/>
              <a:stCxn id="157701" idx="3"/>
              <a:endCxn id="157702" idx="1"/>
            </p:cNvCxnSpPr>
            <p:nvPr/>
          </p:nvCxnSpPr>
          <p:spPr bwMode="auto">
            <a:xfrm flipV="1">
              <a:off x="4438650" y="3717925"/>
              <a:ext cx="627063" cy="504825"/>
            </a:xfrm>
            <a:prstGeom prst="bentConnector3">
              <a:avLst>
                <a:gd name="adj1" fmla="val 49875"/>
              </a:avLst>
            </a:prstGeom>
            <a:noFill/>
            <a:ln w="9525">
              <a:solidFill>
                <a:schemeClr val="tx1"/>
              </a:solidFill>
              <a:miter lim="800000"/>
              <a:tailEnd type="triangle" w="med" len="med"/>
            </a:ln>
            <a:effectLst/>
          </p:spPr>
        </p:cxnSp>
        <p:cxnSp>
          <p:nvCxnSpPr>
            <p:cNvPr id="157711" name="AutoShape 15"/>
            <p:cNvCxnSpPr>
              <a:cxnSpLocks noChangeShapeType="1"/>
              <a:stCxn id="157701" idx="3"/>
              <a:endCxn id="157703" idx="1"/>
            </p:cNvCxnSpPr>
            <p:nvPr/>
          </p:nvCxnSpPr>
          <p:spPr bwMode="auto">
            <a:xfrm>
              <a:off x="4438650" y="4222750"/>
              <a:ext cx="627063" cy="503238"/>
            </a:xfrm>
            <a:prstGeom prst="bentConnector3">
              <a:avLst>
                <a:gd name="adj1" fmla="val 49875"/>
              </a:avLst>
            </a:prstGeom>
            <a:noFill/>
            <a:ln w="9525">
              <a:solidFill>
                <a:schemeClr val="tx1"/>
              </a:solidFill>
              <a:miter lim="800000"/>
              <a:tailEnd type="triangle" w="med" len="med"/>
            </a:ln>
            <a:effectLst/>
          </p:spPr>
        </p:cxnSp>
      </p:grpSp>
      <p:sp>
        <p:nvSpPr>
          <p:cNvPr id="4" name="文本框 3"/>
          <p:cNvSpPr txBox="1"/>
          <p:nvPr/>
        </p:nvSpPr>
        <p:spPr>
          <a:xfrm>
            <a:off x="3662548" y="3980861"/>
            <a:ext cx="483057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latin typeface="+mj-ea"/>
                <a:ea typeface="+mj-ea"/>
              </a:rPr>
              <a:t>组合是聚合关系的一种，是更强形式的聚合。</a:t>
            </a:r>
            <a:endParaRPr lang="zh-CN" altLang="en-US"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706"/>
                                        </p:tgtEl>
                                        <p:attrNameLst>
                                          <p:attrName>style.visibility</p:attrName>
                                        </p:attrNameLst>
                                      </p:cBhvr>
                                      <p:to>
                                        <p:strVal val="visible"/>
                                      </p:to>
                                    </p:set>
                                    <p:animEffect transition="in" filter="wipe(left)">
                                      <p:cBhvr>
                                        <p:cTn id="12" dur="500"/>
                                        <p:tgtEl>
                                          <p:spTgt spid="1577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57707"/>
                                        </p:tgtEl>
                                        <p:attrNameLst>
                                          <p:attrName>style.visibility</p:attrName>
                                        </p:attrNameLst>
                                      </p:cBhvr>
                                      <p:to>
                                        <p:strVal val="visible"/>
                                      </p:to>
                                    </p:set>
                                    <p:animEffect transition="in" filter="wipe(right)">
                                      <p:cBhvr>
                                        <p:cTn id="17" dur="500"/>
                                        <p:tgtEl>
                                          <p:spTgt spid="1577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7708"/>
                                        </p:tgtEl>
                                        <p:attrNameLst>
                                          <p:attrName>style.visibility</p:attrName>
                                        </p:attrNameLst>
                                      </p:cBhvr>
                                      <p:to>
                                        <p:strVal val="visible"/>
                                      </p:to>
                                    </p:set>
                                    <p:animEffect transition="in" filter="wipe(left)">
                                      <p:cBhvr>
                                        <p:cTn id="22" dur="500"/>
                                        <p:tgtEl>
                                          <p:spTgt spid="1577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7709"/>
                                        </p:tgtEl>
                                        <p:attrNameLst>
                                          <p:attrName>style.visibility</p:attrName>
                                        </p:attrNameLst>
                                      </p:cBhvr>
                                      <p:to>
                                        <p:strVal val="visible"/>
                                      </p:to>
                                    </p:set>
                                    <p:animEffect transition="in" filter="wipe(left)">
                                      <p:cBhvr>
                                        <p:cTn id="27" dur="500"/>
                                        <p:tgtEl>
                                          <p:spTgt spid="15770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6" grpId="0" animBg="1"/>
      <p:bldP spid="157707" grpId="0" animBg="1"/>
      <p:bldP spid="157708" grpId="0" animBg="1"/>
      <p:bldP spid="157709" grpId="0" animBg="1"/>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en-US" sz="2400" dirty="0"/>
              <a:t>若类</a:t>
            </a:r>
            <a:r>
              <a:rPr lang="en-US" altLang="zh-CN" sz="2400" dirty="0"/>
              <a:t>A</a:t>
            </a:r>
            <a:r>
              <a:rPr lang="zh-CN" altLang="en-US" sz="2400" dirty="0"/>
              <a:t>的某个属性是类</a:t>
            </a:r>
            <a:r>
              <a:rPr lang="en-US" altLang="zh-CN" sz="2400" dirty="0"/>
              <a:t>B</a:t>
            </a:r>
            <a:r>
              <a:rPr lang="zh-CN" altLang="en-US" sz="2400" dirty="0"/>
              <a:t>的一个对象，并且类</a:t>
            </a:r>
            <a:r>
              <a:rPr lang="en-US" altLang="zh-CN" sz="2400" dirty="0"/>
              <a:t>A</a:t>
            </a:r>
            <a:r>
              <a:rPr lang="zh-CN" altLang="en-US" sz="2400" dirty="0"/>
              <a:t>对象消失时，类</a:t>
            </a:r>
            <a:r>
              <a:rPr lang="en-US" altLang="zh-CN" sz="2400" dirty="0"/>
              <a:t>B</a:t>
            </a:r>
            <a:r>
              <a:rPr lang="zh-CN" altLang="en-US" sz="2400" dirty="0"/>
              <a:t>对象也随之消失，则类</a:t>
            </a:r>
            <a:r>
              <a:rPr lang="en-US" altLang="zh-CN" sz="2400" dirty="0"/>
              <a:t>A</a:t>
            </a:r>
            <a:r>
              <a:rPr lang="zh-CN" altLang="en-US" sz="2400" dirty="0"/>
              <a:t>与类</a:t>
            </a:r>
            <a:r>
              <a:rPr lang="en-US" altLang="zh-CN" sz="2400" dirty="0"/>
              <a:t>B</a:t>
            </a:r>
            <a:r>
              <a:rPr lang="zh-CN" altLang="en-US" sz="2400" dirty="0"/>
              <a:t>的关系应为（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关联</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依赖</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组合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800" dirty="0"/>
              <a:t>聚合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178719" y="3423642"/>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1" name="组合 20"/>
          <p:cNvGrpSpPr/>
          <p:nvPr>
            <p:custDataLst>
              <p:tags r:id="rId11"/>
            </p:custDataLst>
          </p:nvPr>
        </p:nvGrpSpPr>
        <p:grpSpPr>
          <a:xfrm>
            <a:off x="0" y="0"/>
            <a:ext cx="9144000" cy="635000"/>
            <a:chOff x="0" y="0"/>
            <a:chExt cx="9144000" cy="635000"/>
          </a:xfrm>
        </p:grpSpPr>
        <p:sp>
          <p:nvSpPr>
            <p:cNvPr id="17"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文本框 8"/>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en-US" sz="2800" dirty="0"/>
              <a:t>采用面向对象方法进行软件开发时，将汽车作为一个系统。以下（ ）之间不属于组合（</a:t>
            </a:r>
            <a:r>
              <a:rPr lang="en-US" altLang="zh-CN" sz="2800" dirty="0"/>
              <a:t>Composition</a:t>
            </a:r>
            <a:r>
              <a:rPr lang="zh-CN" altLang="en-US" sz="2800" dirty="0"/>
              <a:t>）关系。</a:t>
            </a:r>
            <a:endParaRPr lang="zh-CN" altLang="en-US" sz="2800" dirty="0"/>
          </a:p>
        </p:txBody>
      </p:sp>
      <p:sp>
        <p:nvSpPr>
          <p:cNvPr id="10" name="文本框 9"/>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en-US" sz="2800" dirty="0"/>
              <a:t>汽车和座位</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800" dirty="0"/>
              <a:t>汽车和车窗</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800" dirty="0"/>
              <a:t>汽车和发动机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800" dirty="0"/>
              <a:t>汽车和音乐系统</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9"/>
            </p:custDataLst>
          </p:nvPr>
        </p:nvSpPr>
        <p:spPr>
          <a:xfrm>
            <a:off x="1178719" y="4066580"/>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圆角 17"/>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zh-CN" sz="2800" dirty="0"/>
              <a:t>如图所示的</a:t>
            </a:r>
            <a:r>
              <a:rPr lang="en-US" altLang="zh-CN" sz="2800" dirty="0"/>
              <a:t>UML</a:t>
            </a:r>
            <a:r>
              <a:rPr lang="zh-CN" altLang="zh-CN" sz="2800" dirty="0"/>
              <a:t>类图中，</a:t>
            </a:r>
            <a:r>
              <a:rPr lang="en-US" altLang="zh-CN" sz="2800" dirty="0"/>
              <a:t>Shop</a:t>
            </a:r>
            <a:r>
              <a:rPr lang="zh-CN" altLang="zh-CN" sz="2800" dirty="0"/>
              <a:t>和</a:t>
            </a:r>
            <a:r>
              <a:rPr lang="en-US" altLang="zh-CN" sz="2800" dirty="0"/>
              <a:t>Magazine</a:t>
            </a:r>
            <a:r>
              <a:rPr lang="zh-CN" altLang="zh-CN" sz="2800" dirty="0"/>
              <a:t>之间为（</a:t>
            </a:r>
            <a:r>
              <a:rPr lang="en-US" altLang="zh-CN" sz="2800" dirty="0"/>
              <a:t> </a:t>
            </a:r>
            <a:r>
              <a:rPr lang="zh-CN" altLang="zh-CN" sz="2800" dirty="0"/>
              <a:t>）关系。</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关联</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依赖</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组合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zh-CN" sz="2800" dirty="0"/>
              <a:t>继承</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178719" y="2137767"/>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3" name="图片 3"/>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873572" y="2173705"/>
            <a:ext cx="561955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组合 20"/>
          <p:cNvGrpSpPr/>
          <p:nvPr>
            <p:custDataLst>
              <p:tags r:id="rId12"/>
            </p:custDataLst>
          </p:nvPr>
        </p:nvGrpSpPr>
        <p:grpSpPr>
          <a:xfrm>
            <a:off x="0" y="0"/>
            <a:ext cx="9144000" cy="635000"/>
            <a:chOff x="0" y="0"/>
            <a:chExt cx="9144000" cy="635000"/>
          </a:xfrm>
        </p:grpSpPr>
        <p:sp>
          <p:nvSpPr>
            <p:cNvPr id="17" name="TitleBackground"/>
            <p:cNvSpPr/>
            <p:nvPr>
              <p:custDataLst>
                <p:tags r:id="rId13"/>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4"/>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6"/>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7"/>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9"/>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800109-4D70-47B9-AFCF-66DDE79FA8B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zh-CN" sz="2800" dirty="0"/>
              <a:t>如图所示的</a:t>
            </a:r>
            <a:r>
              <a:rPr lang="en-US" altLang="zh-CN" sz="2800" dirty="0"/>
              <a:t>UML</a:t>
            </a:r>
            <a:r>
              <a:rPr lang="zh-CN" altLang="zh-CN" sz="2800" dirty="0"/>
              <a:t>类图中，</a:t>
            </a:r>
            <a:r>
              <a:rPr lang="en-US" altLang="zh-CN" sz="2800" dirty="0"/>
              <a:t>Magazine</a:t>
            </a:r>
            <a:r>
              <a:rPr lang="zh-CN" altLang="zh-CN" sz="2800" dirty="0"/>
              <a:t>和</a:t>
            </a:r>
            <a:r>
              <a:rPr lang="en-US" altLang="zh-CN" sz="2800" dirty="0"/>
              <a:t>Page</a:t>
            </a:r>
            <a:r>
              <a:rPr lang="zh-CN" altLang="zh-CN" sz="2800" dirty="0"/>
              <a:t>之间为（</a:t>
            </a:r>
            <a:r>
              <a:rPr lang="en-US" altLang="zh-CN" sz="2800" dirty="0"/>
              <a:t>  </a:t>
            </a:r>
            <a:r>
              <a:rPr lang="zh-CN" altLang="zh-CN" sz="2800" dirty="0"/>
              <a:t>）关系。</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关联</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依赖</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组合</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zh-CN" sz="2800" dirty="0"/>
              <a:t>继承</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178719" y="3423642"/>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3" name="图片 3"/>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873572" y="2173705"/>
            <a:ext cx="561955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组合 20"/>
          <p:cNvGrpSpPr/>
          <p:nvPr>
            <p:custDataLst>
              <p:tags r:id="rId12"/>
            </p:custDataLst>
          </p:nvPr>
        </p:nvGrpSpPr>
        <p:grpSpPr>
          <a:xfrm>
            <a:off x="0" y="0"/>
            <a:ext cx="9144000" cy="635000"/>
            <a:chOff x="0" y="0"/>
            <a:chExt cx="9144000" cy="635000"/>
          </a:xfrm>
        </p:grpSpPr>
        <p:sp>
          <p:nvSpPr>
            <p:cNvPr id="17" name="TitleBackground"/>
            <p:cNvSpPr/>
            <p:nvPr>
              <p:custDataLst>
                <p:tags r:id="rId13"/>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4"/>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6"/>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7"/>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9"/>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effectLst>
            <a:outerShdw dist="17961" dir="2700000" algn="ctr" rotWithShape="0">
              <a:schemeClr val="bg2"/>
            </a:outerShdw>
          </a:effectLst>
        </p:spPr>
        <p:txBody>
          <a:bodyPr>
            <a:normAutofit/>
          </a:bodyPr>
          <a:lstStyle/>
          <a:p>
            <a:r>
              <a:rPr lang="zh-CN" altLang="en-US" dirty="0"/>
              <a:t>建立类图的一般步骤</a:t>
            </a:r>
            <a:endParaRPr lang="zh-CN" altLang="en-US" dirty="0"/>
          </a:p>
        </p:txBody>
      </p:sp>
      <p:sp>
        <p:nvSpPr>
          <p:cNvPr id="256003" name="Rectangle 3"/>
          <p:cNvSpPr>
            <a:spLocks noGrp="1" noChangeArrowheads="1"/>
          </p:cNvSpPr>
          <p:nvPr>
            <p:ph idx="1"/>
          </p:nvPr>
        </p:nvSpPr>
        <p:spPr>
          <a:xfrm>
            <a:off x="768097" y="925167"/>
            <a:ext cx="7832833" cy="3450063"/>
          </a:xfrm>
        </p:spPr>
        <p:txBody>
          <a:bodyPr>
            <a:noAutofit/>
          </a:bodyPr>
          <a:lstStyle/>
          <a:p>
            <a:pPr marL="342900" indent="-342900">
              <a:buFont typeface="+mj-lt"/>
              <a:buAutoNum type="arabicPeriod"/>
            </a:pPr>
            <a:r>
              <a:rPr lang="zh-CN" altLang="en-US" sz="2400" dirty="0">
                <a:latin typeface="+mn-ea"/>
              </a:rPr>
              <a:t>研究分析问题领域。</a:t>
            </a:r>
            <a:endParaRPr lang="zh-CN" altLang="en-US" sz="2400" dirty="0">
              <a:latin typeface="+mn-ea"/>
            </a:endParaRPr>
          </a:p>
          <a:p>
            <a:pPr marL="342900" indent="-342900">
              <a:buFont typeface="+mj-lt"/>
              <a:buAutoNum type="arabicPeriod"/>
            </a:pPr>
            <a:r>
              <a:rPr lang="zh-CN" altLang="en-US" sz="2400" dirty="0">
                <a:latin typeface="+mn-ea"/>
              </a:rPr>
              <a:t>发现对象与类，明确它们的含义和责任，确定属性。</a:t>
            </a:r>
            <a:endParaRPr lang="zh-CN" altLang="en-US" sz="2400" dirty="0">
              <a:latin typeface="+mn-ea"/>
            </a:endParaRPr>
          </a:p>
          <a:p>
            <a:pPr marL="342900" indent="-342900">
              <a:buFont typeface="+mj-lt"/>
              <a:buAutoNum type="arabicPeriod"/>
            </a:pPr>
            <a:r>
              <a:rPr lang="zh-CN" altLang="en-US" sz="2400" b="1" dirty="0">
                <a:solidFill>
                  <a:srgbClr val="FF0000"/>
                </a:solidFill>
                <a:latin typeface="+mn-ea"/>
              </a:rPr>
              <a:t>发现类之间的关系。</a:t>
            </a:r>
            <a:r>
              <a:rPr lang="zh-CN" altLang="en-US" sz="2400" dirty="0">
                <a:latin typeface="+mn-ea"/>
              </a:rPr>
              <a:t>把类之间的关系用关联、泛化、聚集、组合、依赖等关系表达出来。</a:t>
            </a:r>
            <a:endParaRPr lang="zh-CN" altLang="en-US" sz="2400" dirty="0">
              <a:latin typeface="+mn-ea"/>
            </a:endParaRPr>
          </a:p>
          <a:p>
            <a:pPr marL="342900" indent="-342900">
              <a:buFont typeface="+mj-lt"/>
              <a:buAutoNum type="arabicPeriod"/>
            </a:pPr>
            <a:r>
              <a:rPr lang="zh-CN" altLang="en-US" sz="2400" b="1" dirty="0">
                <a:solidFill>
                  <a:srgbClr val="FF0000"/>
                </a:solidFill>
                <a:latin typeface="+mn-ea"/>
              </a:rPr>
              <a:t>设计类与关系。</a:t>
            </a:r>
            <a:r>
              <a:rPr lang="zh-CN" altLang="en-US" sz="2400" dirty="0">
                <a:latin typeface="+mn-ea"/>
              </a:rPr>
              <a:t>调整和细化已得到的类和类之间的关系，解决诸如命名冲突、功能重复等问题。</a:t>
            </a:r>
            <a:endParaRPr lang="zh-CN" altLang="en-US" sz="2400" dirty="0">
              <a:latin typeface="+mn-ea"/>
            </a:endParaRPr>
          </a:p>
          <a:p>
            <a:pPr marL="342900" indent="-342900">
              <a:buFont typeface="+mj-lt"/>
              <a:buAutoNum type="arabicPeriod"/>
            </a:pPr>
            <a:r>
              <a:rPr lang="zh-CN" altLang="en-US" sz="2400" b="1" dirty="0">
                <a:solidFill>
                  <a:srgbClr val="FF0000"/>
                </a:solidFill>
                <a:latin typeface="+mn-ea"/>
              </a:rPr>
              <a:t>绘制类图并编制相应的说明。</a:t>
            </a:r>
            <a:endParaRPr lang="zh-CN" altLang="en-US" sz="2400" b="1" dirty="0">
              <a:solidFill>
                <a:srgbClr val="FF0000"/>
              </a:solidFill>
              <a:latin typeface="+mn-ea"/>
            </a:endParaRPr>
          </a:p>
        </p:txBody>
      </p:sp>
      <p:sp>
        <p:nvSpPr>
          <p:cNvPr id="2" name="日期占位符 1"/>
          <p:cNvSpPr>
            <a:spLocks noGrp="1"/>
          </p:cNvSpPr>
          <p:nvPr>
            <p:ph type="dt" sz="half" idx="10"/>
          </p:nvPr>
        </p:nvSpPr>
        <p:spPr/>
        <p:txBody>
          <a:bodyPr/>
          <a:lstStyle/>
          <a:p>
            <a:fld id="{4A1F0D16-7AEF-488C-864D-544BE5277F8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Effect transition="in" filter="wipe(up)">
                                      <p:cBhvr>
                                        <p:cTn id="7" dur="500"/>
                                        <p:tgtEl>
                                          <p:spTgt spid="256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6003">
                                            <p:txEl>
                                              <p:pRg st="1" end="1"/>
                                            </p:txEl>
                                          </p:spTgt>
                                        </p:tgtEl>
                                        <p:attrNameLst>
                                          <p:attrName>style.visibility</p:attrName>
                                        </p:attrNameLst>
                                      </p:cBhvr>
                                      <p:to>
                                        <p:strVal val="visible"/>
                                      </p:to>
                                    </p:set>
                                    <p:animEffect transition="in" filter="wipe(up)">
                                      <p:cBhvr>
                                        <p:cTn id="12" dur="500"/>
                                        <p:tgtEl>
                                          <p:spTgt spid="256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6003">
                                            <p:txEl>
                                              <p:pRg st="2" end="2"/>
                                            </p:txEl>
                                          </p:spTgt>
                                        </p:tgtEl>
                                        <p:attrNameLst>
                                          <p:attrName>style.visibility</p:attrName>
                                        </p:attrNameLst>
                                      </p:cBhvr>
                                      <p:to>
                                        <p:strVal val="visible"/>
                                      </p:to>
                                    </p:set>
                                    <p:animEffect transition="in" filter="wipe(up)">
                                      <p:cBhvr>
                                        <p:cTn id="17" dur="500"/>
                                        <p:tgtEl>
                                          <p:spTgt spid="256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6003">
                                            <p:txEl>
                                              <p:pRg st="3" end="3"/>
                                            </p:txEl>
                                          </p:spTgt>
                                        </p:tgtEl>
                                        <p:attrNameLst>
                                          <p:attrName>style.visibility</p:attrName>
                                        </p:attrNameLst>
                                      </p:cBhvr>
                                      <p:to>
                                        <p:strVal val="visible"/>
                                      </p:to>
                                    </p:set>
                                    <p:animEffect transition="in" filter="wipe(up)">
                                      <p:cBhvr>
                                        <p:cTn id="22" dur="500"/>
                                        <p:tgtEl>
                                          <p:spTgt spid="256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6003">
                                            <p:txEl>
                                              <p:pRg st="4" end="4"/>
                                            </p:txEl>
                                          </p:spTgt>
                                        </p:tgtEl>
                                        <p:attrNameLst>
                                          <p:attrName>style.visibility</p:attrName>
                                        </p:attrNameLst>
                                      </p:cBhvr>
                                      <p:to>
                                        <p:strVal val="visible"/>
                                      </p:to>
                                    </p:set>
                                    <p:animEffect transition="in" filter="wipe(up)">
                                      <p:cBhvr>
                                        <p:cTn id="27" dur="500"/>
                                        <p:tgtEl>
                                          <p:spTgt spid="256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确定类与对象</a:t>
            </a:r>
            <a:endParaRPr lang="zh-CN" altLang="en-US" dirty="0"/>
          </a:p>
        </p:txBody>
      </p:sp>
      <p:sp>
        <p:nvSpPr>
          <p:cNvPr id="3" name="内容占位符 2"/>
          <p:cNvSpPr>
            <a:spLocks noGrp="1"/>
          </p:cNvSpPr>
          <p:nvPr>
            <p:ph idx="1"/>
          </p:nvPr>
        </p:nvSpPr>
        <p:spPr/>
        <p:txBody>
          <a:bodyPr>
            <a:normAutofit fontScale="92500" lnSpcReduction="20000"/>
          </a:bodyPr>
          <a:lstStyle/>
          <a:p>
            <a:pPr marL="457200" indent="-457200"/>
            <a:r>
              <a:rPr kumimoji="1" lang="zh-CN" altLang="en-US" dirty="0">
                <a:latin typeface="+mn-ea"/>
              </a:rPr>
              <a:t>找出候选的类与对象</a:t>
            </a:r>
            <a:endParaRPr kumimoji="1" lang="en-US" altLang="zh-CN" dirty="0">
              <a:latin typeface="+mn-ea"/>
            </a:endParaRPr>
          </a:p>
          <a:p>
            <a:pPr lvl="1"/>
            <a:r>
              <a:rPr lang="zh-CN" altLang="zh-CN" dirty="0"/>
              <a:t>对象是对问题域中有意义的事物的抽象，它们既可能是物理实体，也可能是抽象概念 </a:t>
            </a:r>
            <a:endParaRPr kumimoji="1" lang="en-US" altLang="zh-CN" dirty="0"/>
          </a:p>
          <a:p>
            <a:pPr lvl="1"/>
            <a:r>
              <a:rPr lang="zh-CN" altLang="zh-CN" dirty="0"/>
              <a:t>大多数客观事物可分为下述</a:t>
            </a:r>
            <a:r>
              <a:rPr lang="en-US" altLang="zh-CN" dirty="0"/>
              <a:t>5</a:t>
            </a:r>
            <a:r>
              <a:rPr lang="zh-CN" altLang="zh-CN" dirty="0"/>
              <a:t>类</a:t>
            </a:r>
            <a:r>
              <a:rPr lang="zh-CN" altLang="en-US" dirty="0"/>
              <a:t>：</a:t>
            </a:r>
            <a:r>
              <a:rPr lang="zh-CN" altLang="zh-CN" dirty="0"/>
              <a:t> </a:t>
            </a:r>
            <a:endParaRPr lang="en-US" altLang="zh-CN" dirty="0"/>
          </a:p>
          <a:p>
            <a:pPr lvl="2"/>
            <a:r>
              <a:rPr kumimoji="1" lang="zh-CN" altLang="en-US" dirty="0"/>
              <a:t>可感知的物理实体</a:t>
            </a:r>
            <a:endParaRPr kumimoji="1" lang="en-US" altLang="zh-CN" dirty="0"/>
          </a:p>
          <a:p>
            <a:pPr lvl="2"/>
            <a:r>
              <a:rPr lang="zh-CN" altLang="zh-CN" dirty="0"/>
              <a:t>人或组织的角色 </a:t>
            </a:r>
            <a:endParaRPr lang="en-US" altLang="zh-CN" dirty="0"/>
          </a:p>
          <a:p>
            <a:pPr lvl="2"/>
            <a:r>
              <a:rPr lang="zh-CN" altLang="zh-CN" dirty="0"/>
              <a:t>应该记忆的事件 </a:t>
            </a:r>
            <a:endParaRPr lang="en-US" altLang="zh-CN" dirty="0"/>
          </a:p>
          <a:p>
            <a:pPr lvl="2"/>
            <a:r>
              <a:rPr lang="zh-CN" altLang="zh-CN" dirty="0"/>
              <a:t>两个或多个对象的相互作用</a:t>
            </a:r>
            <a:r>
              <a:rPr lang="zh-CN" altLang="en-US" dirty="0"/>
              <a:t>，通常具有交易或接触的性质</a:t>
            </a:r>
            <a:endParaRPr lang="en-US" altLang="zh-CN" dirty="0"/>
          </a:p>
          <a:p>
            <a:pPr lvl="2"/>
            <a:r>
              <a:rPr lang="zh-CN" altLang="en-US" dirty="0"/>
              <a:t>需要说明的概念</a:t>
            </a:r>
            <a:r>
              <a:rPr lang="zh-CN" altLang="zh-CN" dirty="0"/>
              <a:t> </a:t>
            </a:r>
            <a:endParaRPr kumimoji="1" lang="zh-CN" altLang="en-US" dirty="0"/>
          </a:p>
          <a:p>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确定类和对象</a:t>
            </a:r>
            <a:endParaRPr lang="zh-CN" altLang="en-US" dirty="0"/>
          </a:p>
        </p:txBody>
      </p:sp>
      <p:sp>
        <p:nvSpPr>
          <p:cNvPr id="4" name="文本占位符 3"/>
          <p:cNvSpPr>
            <a:spLocks noGrp="1"/>
          </p:cNvSpPr>
          <p:nvPr>
            <p:ph idx="1"/>
          </p:nvPr>
        </p:nvSpPr>
        <p:spPr/>
        <p:txBody>
          <a:bodyPr>
            <a:normAutofit/>
          </a:bodyPr>
          <a:lstStyle/>
          <a:p>
            <a:pPr>
              <a:lnSpc>
                <a:spcPct val="120000"/>
              </a:lnSpc>
            </a:pPr>
            <a:r>
              <a:rPr lang="zh-CN" altLang="en-US" sz="2400" b="1" dirty="0"/>
              <a:t>筛选对象的原则：</a:t>
            </a:r>
            <a:endParaRPr lang="en-US" altLang="zh-CN" sz="2400" b="1" dirty="0"/>
          </a:p>
          <a:p>
            <a:pPr marL="467995" indent="-386080">
              <a:lnSpc>
                <a:spcPct val="120000"/>
              </a:lnSpc>
              <a:buFont typeface="+mj-lt"/>
              <a:buAutoNum type="arabicPeriod"/>
            </a:pPr>
            <a:r>
              <a:rPr lang="zh-CN" altLang="en-US" sz="2000" dirty="0"/>
              <a:t>关键性：不可缺少，缺少无法运作。</a:t>
            </a:r>
            <a:endParaRPr lang="en-US" altLang="zh-CN" sz="2000" dirty="0"/>
          </a:p>
          <a:p>
            <a:pPr marL="467995" indent="-386080">
              <a:lnSpc>
                <a:spcPct val="120000"/>
              </a:lnSpc>
              <a:buFont typeface="+mj-lt"/>
              <a:buAutoNum type="arabicPeriod"/>
            </a:pPr>
            <a:r>
              <a:rPr lang="zh-CN" altLang="en-US" sz="2000" dirty="0"/>
              <a:t>可操作性：对象必须拥有一组可标识的操作，可以修改对象属性的值。</a:t>
            </a:r>
            <a:endParaRPr lang="en-US" altLang="zh-CN" sz="2000" dirty="0"/>
          </a:p>
          <a:p>
            <a:pPr marL="467995" indent="-386080">
              <a:lnSpc>
                <a:spcPct val="120000"/>
              </a:lnSpc>
              <a:buFont typeface="+mj-lt"/>
              <a:buAutoNum type="arabicPeriod"/>
            </a:pPr>
            <a:r>
              <a:rPr lang="zh-CN" altLang="en-US" sz="2000" dirty="0"/>
              <a:t>信息含量：只有一个属性的对象需要合并或取消。</a:t>
            </a:r>
            <a:endParaRPr lang="en-US" altLang="zh-CN" sz="2000" dirty="0"/>
          </a:p>
          <a:p>
            <a:pPr marL="467995" indent="-386080">
              <a:lnSpc>
                <a:spcPct val="120000"/>
              </a:lnSpc>
              <a:buFont typeface="+mj-lt"/>
              <a:buAutoNum type="arabicPeriod"/>
            </a:pPr>
            <a:r>
              <a:rPr lang="zh-CN" altLang="en-US" sz="2000" dirty="0"/>
              <a:t>公共属性和操作。</a:t>
            </a:r>
            <a:endParaRPr lang="en-US" altLang="zh-CN" sz="2000" dirty="0"/>
          </a:p>
          <a:p>
            <a:pPr marL="467995" indent="-386080">
              <a:lnSpc>
                <a:spcPct val="120000"/>
              </a:lnSpc>
              <a:buFont typeface="+mj-lt"/>
              <a:buAutoNum type="arabicPeriod"/>
            </a:pPr>
            <a:r>
              <a:rPr lang="zh-CN" altLang="en-US" sz="2000" dirty="0"/>
              <a:t>关键外部信息。</a:t>
            </a:r>
            <a:endParaRPr lang="zh-CN" altLang="en-US" sz="2000" dirty="0"/>
          </a:p>
        </p:txBody>
      </p:sp>
      <p:sp>
        <p:nvSpPr>
          <p:cNvPr id="3" name="日期占位符 2"/>
          <p:cNvSpPr>
            <a:spLocks noGrp="1"/>
          </p:cNvSpPr>
          <p:nvPr>
            <p:ph type="dt" sz="half" idx="10"/>
          </p:nvPr>
        </p:nvSpPr>
        <p:spPr/>
        <p:txBody>
          <a:bodyPr/>
          <a:lstStyle/>
          <a:p>
            <a:fld id="{52BE9296-2138-441E-AAF8-7FFD5D96C87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up)">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zh-CN" dirty="0"/>
              <a:t>筛选类</a:t>
            </a:r>
            <a:endParaRPr lang="zh-CN" altLang="en-US" dirty="0"/>
          </a:p>
        </p:txBody>
      </p:sp>
      <p:sp>
        <p:nvSpPr>
          <p:cNvPr id="2" name="文本占位符 1"/>
          <p:cNvSpPr>
            <a:spLocks noGrp="1"/>
          </p:cNvSpPr>
          <p:nvPr>
            <p:ph idx="1"/>
          </p:nvPr>
        </p:nvSpPr>
        <p:spPr>
          <a:xfrm>
            <a:off x="768097" y="878867"/>
            <a:ext cx="8090153" cy="3806854"/>
          </a:xfrm>
        </p:spPr>
        <p:txBody>
          <a:bodyPr>
            <a:noAutofit/>
          </a:bodyPr>
          <a:lstStyle/>
          <a:p>
            <a:pPr marL="457200" indent="-457200">
              <a:lnSpc>
                <a:spcPct val="100000"/>
              </a:lnSpc>
              <a:spcBef>
                <a:spcPts val="300"/>
              </a:spcBef>
              <a:defRPr/>
            </a:pPr>
            <a:r>
              <a:rPr lang="zh-CN" altLang="zh-CN" sz="2000" b="1" dirty="0">
                <a:solidFill>
                  <a:srgbClr val="FF0000"/>
                </a:solidFill>
                <a:latin typeface="+mn-ea"/>
              </a:rPr>
              <a:t>冗余</a:t>
            </a:r>
            <a:endParaRPr lang="en-US" altLang="zh-CN" sz="2000" b="1" dirty="0">
              <a:solidFill>
                <a:srgbClr val="FF0000"/>
              </a:solidFill>
              <a:latin typeface="+mn-ea"/>
            </a:endParaRPr>
          </a:p>
          <a:p>
            <a:pPr marL="257175" lvl="1" indent="0">
              <a:lnSpc>
                <a:spcPct val="100000"/>
              </a:lnSpc>
              <a:spcBef>
                <a:spcPts val="300"/>
              </a:spcBef>
              <a:buNone/>
              <a:defRPr/>
            </a:pPr>
            <a:r>
              <a:rPr lang="en-US" altLang="zh-CN" sz="1800" dirty="0">
                <a:latin typeface="+mn-ea"/>
              </a:rPr>
              <a:t>    </a:t>
            </a:r>
            <a:r>
              <a:rPr lang="zh-CN" altLang="zh-CN" sz="1800" dirty="0">
                <a:latin typeface="+mn-ea"/>
              </a:rPr>
              <a:t>表示相同事物的两个名词就是冗余</a:t>
            </a:r>
            <a:r>
              <a:rPr lang="zh-CN" altLang="en-US" sz="1800" dirty="0">
                <a:latin typeface="+mn-ea"/>
              </a:rPr>
              <a:t>。例如，“职位”和“职位详细信息”实际上都指的是职位相关的信息，因此选择简洁的“简历”作为概念类。</a:t>
            </a:r>
            <a:endParaRPr lang="en-US" altLang="zh-CN" sz="1800" dirty="0">
              <a:latin typeface="+mn-ea"/>
            </a:endParaRPr>
          </a:p>
          <a:p>
            <a:pPr marL="457200" indent="-457200">
              <a:lnSpc>
                <a:spcPct val="100000"/>
              </a:lnSpc>
              <a:spcBef>
                <a:spcPts val="300"/>
              </a:spcBef>
              <a:defRPr/>
            </a:pPr>
            <a:r>
              <a:rPr lang="zh-CN" altLang="zh-CN" sz="2000" b="1" dirty="0">
                <a:solidFill>
                  <a:srgbClr val="FF0000"/>
                </a:solidFill>
                <a:latin typeface="+mn-ea"/>
              </a:rPr>
              <a:t>不相关</a:t>
            </a:r>
            <a:endParaRPr lang="en-US" altLang="zh-CN" sz="2000" b="1" dirty="0">
              <a:solidFill>
                <a:srgbClr val="FF0000"/>
              </a:solidFill>
              <a:latin typeface="+mn-ea"/>
            </a:endParaRPr>
          </a:p>
          <a:p>
            <a:pPr marL="257175" lvl="1" indent="0">
              <a:lnSpc>
                <a:spcPct val="100000"/>
              </a:lnSpc>
              <a:spcBef>
                <a:spcPts val="300"/>
              </a:spcBef>
              <a:buNone/>
              <a:defRPr/>
            </a:pPr>
            <a:r>
              <a:rPr lang="en-US" altLang="zh-CN" sz="1800" dirty="0">
                <a:latin typeface="+mn-ea"/>
              </a:rPr>
              <a:t>    </a:t>
            </a:r>
            <a:r>
              <a:rPr lang="zh-CN" altLang="zh-CN" sz="1800" dirty="0">
                <a:latin typeface="+mn-ea"/>
              </a:rPr>
              <a:t>名词与问题域没有关系</a:t>
            </a:r>
            <a:r>
              <a:rPr lang="zh-CN" altLang="en-US" sz="1800" dirty="0">
                <a:latin typeface="+mn-ea"/>
              </a:rPr>
              <a:t>，</a:t>
            </a:r>
            <a:r>
              <a:rPr lang="zh-CN" altLang="zh-CN" sz="1800" dirty="0">
                <a:latin typeface="+mn-ea"/>
              </a:rPr>
              <a:t>它可能是有效类，但不在当前项目的范围之内。例如，“员工考绩标准”是个名词，但RP系统不会测量或跟踪员工的工作实绩；电话和传真不是系统所关注的内容。</a:t>
            </a:r>
            <a:endParaRPr lang="zh-CN" altLang="zh-CN" sz="1800" dirty="0">
              <a:latin typeface="+mn-ea"/>
            </a:endParaRPr>
          </a:p>
          <a:p>
            <a:pPr marL="457200" indent="-457200">
              <a:lnSpc>
                <a:spcPct val="100000"/>
              </a:lnSpc>
              <a:spcBef>
                <a:spcPts val="300"/>
              </a:spcBef>
              <a:defRPr/>
            </a:pPr>
            <a:r>
              <a:rPr lang="zh-CN" altLang="zh-CN" sz="2000" b="1" dirty="0">
                <a:solidFill>
                  <a:srgbClr val="FF0000"/>
                </a:solidFill>
                <a:latin typeface="+mn-ea"/>
              </a:rPr>
              <a:t>属性</a:t>
            </a:r>
            <a:endParaRPr lang="zh-CN" altLang="zh-CN" sz="2000" b="1" dirty="0">
              <a:solidFill>
                <a:srgbClr val="FF0000"/>
              </a:solidFill>
              <a:latin typeface="+mn-ea"/>
            </a:endParaRPr>
          </a:p>
          <a:p>
            <a:pPr marL="342900" lvl="1" indent="0">
              <a:lnSpc>
                <a:spcPct val="100000"/>
              </a:lnSpc>
              <a:spcBef>
                <a:spcPts val="300"/>
              </a:spcBef>
              <a:buNone/>
              <a:defRPr/>
            </a:pPr>
            <a:r>
              <a:rPr lang="en-US" altLang="zh-CN" sz="1800" dirty="0">
                <a:latin typeface="+mn-ea"/>
              </a:rPr>
              <a:t>    </a:t>
            </a:r>
            <a:r>
              <a:rPr lang="zh-CN" altLang="zh-CN" sz="1800" dirty="0">
                <a:latin typeface="+mn-ea"/>
              </a:rPr>
              <a:t>实际上描述了另一个类的结构的名词是属性。</a:t>
            </a:r>
            <a:endParaRPr lang="en-US" altLang="zh-CN" sz="1800" dirty="0">
              <a:latin typeface="+mn-ea"/>
            </a:endParaRPr>
          </a:p>
          <a:p>
            <a:pPr marL="457200" indent="-457200">
              <a:lnSpc>
                <a:spcPct val="100000"/>
              </a:lnSpc>
              <a:spcBef>
                <a:spcPts val="300"/>
              </a:spcBef>
              <a:defRPr/>
            </a:pPr>
            <a:r>
              <a:rPr lang="zh-CN" altLang="zh-CN" sz="2000" b="1" dirty="0">
                <a:solidFill>
                  <a:srgbClr val="FF0000"/>
                </a:solidFill>
                <a:latin typeface="+mn-ea"/>
              </a:rPr>
              <a:t>操作</a:t>
            </a:r>
            <a:endParaRPr lang="zh-CN" altLang="zh-CN" sz="2000" b="1" dirty="0">
              <a:solidFill>
                <a:srgbClr val="FF0000"/>
              </a:solidFill>
              <a:latin typeface="+mn-ea"/>
            </a:endParaRPr>
          </a:p>
          <a:p>
            <a:pPr marL="342900" lvl="1" indent="0">
              <a:lnSpc>
                <a:spcPct val="100000"/>
              </a:lnSpc>
              <a:spcBef>
                <a:spcPts val="300"/>
              </a:spcBef>
              <a:buNone/>
              <a:defRPr/>
            </a:pPr>
            <a:r>
              <a:rPr lang="en-US" altLang="zh-CN" sz="1800" dirty="0">
                <a:latin typeface="+mn-ea"/>
              </a:rPr>
              <a:t>    </a:t>
            </a:r>
            <a:r>
              <a:rPr lang="zh-CN" altLang="zh-CN" sz="1800" dirty="0">
                <a:latin typeface="+mn-ea"/>
              </a:rPr>
              <a:t>描述某个类职责的名词自身不是一个类，而是一个操作。例如，“税额计算”</a:t>
            </a:r>
            <a:r>
              <a:rPr lang="zh-CN" altLang="en-US" sz="1800" dirty="0">
                <a:latin typeface="+mn-ea"/>
              </a:rPr>
              <a:t>。</a:t>
            </a:r>
            <a:endParaRPr lang="zh-CN" altLang="zh-CN" sz="1800" dirty="0">
              <a:latin typeface="+mn-ea"/>
            </a:endParaRPr>
          </a:p>
        </p:txBody>
      </p:sp>
      <p:sp>
        <p:nvSpPr>
          <p:cNvPr id="3" name="日期占位符 2"/>
          <p:cNvSpPr>
            <a:spLocks noGrp="1"/>
          </p:cNvSpPr>
          <p:nvPr>
            <p:ph type="dt" sz="half" idx="10"/>
          </p:nvPr>
        </p:nvSpPr>
        <p:spPr/>
        <p:txBody>
          <a:bodyPr/>
          <a:lstStyle/>
          <a:p>
            <a:fld id="{06B82FBD-203C-4185-9B07-DD3887DD18E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up)">
                                      <p:cBhvr>
                                        <p:cTn id="31" dur="500"/>
                                        <p:tgtEl>
                                          <p:spTgt spid="2">
                                            <p:txEl>
                                              <p:pRg st="6" end="6"/>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up)">
                                      <p:cBhvr>
                                        <p:cTn id="34"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zh-CN" dirty="0"/>
              <a:t>筛选类</a:t>
            </a:r>
            <a:endParaRPr lang="zh-CN" altLang="en-US" dirty="0"/>
          </a:p>
        </p:txBody>
      </p:sp>
      <p:sp>
        <p:nvSpPr>
          <p:cNvPr id="2" name="文本占位符 1"/>
          <p:cNvSpPr>
            <a:spLocks noGrp="1"/>
          </p:cNvSpPr>
          <p:nvPr>
            <p:ph idx="1"/>
          </p:nvPr>
        </p:nvSpPr>
        <p:spPr/>
        <p:txBody>
          <a:bodyPr>
            <a:normAutofit/>
          </a:bodyPr>
          <a:lstStyle/>
          <a:p>
            <a:pPr marL="457200" indent="-457200">
              <a:lnSpc>
                <a:spcPct val="100000"/>
              </a:lnSpc>
              <a:spcBef>
                <a:spcPts val="900"/>
              </a:spcBef>
            </a:pPr>
            <a:r>
              <a:rPr lang="zh-CN" altLang="zh-CN" sz="2000" b="1" dirty="0">
                <a:solidFill>
                  <a:srgbClr val="FF0000"/>
                </a:solidFill>
                <a:latin typeface="+mn-ea"/>
              </a:rPr>
              <a:t>角色</a:t>
            </a:r>
            <a:endParaRPr lang="zh-CN" altLang="zh-CN" sz="2000" b="1" dirty="0">
              <a:solidFill>
                <a:srgbClr val="FF0000"/>
              </a:solidFill>
              <a:latin typeface="+mn-ea"/>
            </a:endParaRPr>
          </a:p>
          <a:p>
            <a:pPr marL="342900" lvl="1" indent="0">
              <a:lnSpc>
                <a:spcPct val="100000"/>
              </a:lnSpc>
              <a:spcBef>
                <a:spcPts val="900"/>
              </a:spcBef>
              <a:buNone/>
            </a:pPr>
            <a:r>
              <a:rPr lang="en-US" altLang="zh-CN" sz="1800" dirty="0">
                <a:latin typeface="+mn-ea"/>
              </a:rPr>
              <a:t>    </a:t>
            </a:r>
            <a:r>
              <a:rPr lang="zh-CN" altLang="zh-CN" sz="1800" dirty="0">
                <a:latin typeface="+mn-ea"/>
              </a:rPr>
              <a:t>描述一个特定实体的状态或其分类的名词多半不是一个类。例如，“最佳顾客”是一个顾客在一定时间下的状态</a:t>
            </a:r>
            <a:r>
              <a:rPr lang="zh-CN" altLang="en-US" sz="1800" dirty="0">
                <a:latin typeface="+mn-ea"/>
              </a:rPr>
              <a:t>。</a:t>
            </a:r>
            <a:endParaRPr lang="zh-CN" altLang="zh-CN" sz="1800" dirty="0">
              <a:latin typeface="+mn-ea"/>
            </a:endParaRPr>
          </a:p>
          <a:p>
            <a:pPr marL="457200" indent="-457200">
              <a:lnSpc>
                <a:spcPct val="100000"/>
              </a:lnSpc>
              <a:spcBef>
                <a:spcPts val="900"/>
              </a:spcBef>
            </a:pPr>
            <a:r>
              <a:rPr lang="zh-CN" altLang="zh-CN" sz="2000" b="1" dirty="0">
                <a:solidFill>
                  <a:srgbClr val="FF0000"/>
                </a:solidFill>
                <a:latin typeface="+mn-ea"/>
              </a:rPr>
              <a:t>事件</a:t>
            </a:r>
            <a:endParaRPr lang="zh-CN" altLang="zh-CN" sz="2000" b="1" dirty="0">
              <a:solidFill>
                <a:srgbClr val="FF0000"/>
              </a:solidFill>
              <a:latin typeface="+mn-ea"/>
            </a:endParaRPr>
          </a:p>
          <a:p>
            <a:pPr marL="342900" lvl="1" indent="0">
              <a:lnSpc>
                <a:spcPct val="100000"/>
              </a:lnSpc>
              <a:spcBef>
                <a:spcPts val="900"/>
              </a:spcBef>
              <a:buNone/>
            </a:pPr>
            <a:r>
              <a:rPr lang="en-US" altLang="zh-CN" sz="1800" dirty="0">
                <a:latin typeface="+mn-ea"/>
              </a:rPr>
              <a:t>    </a:t>
            </a:r>
            <a:r>
              <a:rPr lang="zh-CN" altLang="zh-CN" sz="1800" dirty="0">
                <a:latin typeface="+mn-ea"/>
              </a:rPr>
              <a:t>描述特定时间频率的名词，通常表示了领域必须支持的一个动态元素。例如，“每星期打印一次发票”中的“星期”就不是候选类。</a:t>
            </a:r>
            <a:endParaRPr lang="zh-CN" altLang="zh-CN" sz="1800" dirty="0">
              <a:latin typeface="+mn-ea"/>
            </a:endParaRPr>
          </a:p>
          <a:p>
            <a:pPr marL="457200" indent="-457200">
              <a:lnSpc>
                <a:spcPct val="100000"/>
              </a:lnSpc>
              <a:spcBef>
                <a:spcPts val="900"/>
              </a:spcBef>
            </a:pPr>
            <a:r>
              <a:rPr lang="zh-CN" altLang="zh-CN" sz="2000" b="1" dirty="0">
                <a:solidFill>
                  <a:srgbClr val="FF0000"/>
                </a:solidFill>
                <a:latin typeface="+mn-ea"/>
              </a:rPr>
              <a:t>实现结构</a:t>
            </a:r>
            <a:endParaRPr lang="zh-CN" altLang="zh-CN" sz="2000" b="1" dirty="0">
              <a:solidFill>
                <a:srgbClr val="FF0000"/>
              </a:solidFill>
              <a:latin typeface="+mn-ea"/>
            </a:endParaRPr>
          </a:p>
          <a:p>
            <a:pPr marL="342900" lvl="1" indent="0">
              <a:lnSpc>
                <a:spcPct val="100000"/>
              </a:lnSpc>
              <a:spcBef>
                <a:spcPts val="900"/>
              </a:spcBef>
              <a:buNone/>
            </a:pPr>
            <a:r>
              <a:rPr lang="en-US" altLang="zh-CN" sz="1800" dirty="0">
                <a:latin typeface="+mn-ea"/>
              </a:rPr>
              <a:t>    </a:t>
            </a:r>
            <a:r>
              <a:rPr lang="zh-CN" altLang="zh-CN" sz="1800" dirty="0">
                <a:latin typeface="+mn-ea"/>
              </a:rPr>
              <a:t>描述硬件元素或算法的名词最好是删除或指派为某个类的操作。例如，“打印机”和“复利叶算法”。</a:t>
            </a:r>
            <a:endParaRPr lang="zh-CN" altLang="zh-CN" sz="1800" dirty="0">
              <a:latin typeface="+mn-ea"/>
            </a:endParaRPr>
          </a:p>
        </p:txBody>
      </p:sp>
      <p:sp>
        <p:nvSpPr>
          <p:cNvPr id="3" name="日期占位符 2"/>
          <p:cNvSpPr>
            <a:spLocks noGrp="1"/>
          </p:cNvSpPr>
          <p:nvPr>
            <p:ph type="dt" sz="half" idx="10"/>
          </p:nvPr>
        </p:nvSpPr>
        <p:spPr/>
        <p:txBody>
          <a:bodyPr/>
          <a:lstStyle/>
          <a:p>
            <a:fld id="{E31C53BD-9343-49D7-A20B-46E6E9662F4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确定属性</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zh-CN" dirty="0"/>
              <a:t>确定属性的过程包括分析和选择两个步骤</a:t>
            </a:r>
            <a:r>
              <a:rPr lang="zh-CN" altLang="en-US" dirty="0"/>
              <a:t>：</a:t>
            </a:r>
            <a:r>
              <a:rPr lang="zh-CN" altLang="zh-CN" dirty="0"/>
              <a:t> </a:t>
            </a:r>
            <a:endParaRPr lang="en-US" altLang="zh-CN" dirty="0"/>
          </a:p>
          <a:p>
            <a:pPr marL="817245" lvl="1" indent="-457200">
              <a:buFont typeface="+mj-lt"/>
              <a:buAutoNum type="arabicPeriod"/>
            </a:pPr>
            <a:r>
              <a:rPr kumimoji="1" lang="zh-CN" altLang="en-US" dirty="0"/>
              <a:t>分析：</a:t>
            </a:r>
            <a:endParaRPr kumimoji="1" lang="en-US" altLang="zh-CN" dirty="0"/>
          </a:p>
          <a:p>
            <a:pPr lvl="1"/>
            <a:r>
              <a:rPr lang="zh-CN" altLang="zh-CN" dirty="0"/>
              <a:t>通常，在需求陈述中用名词词组表示属性</a:t>
            </a:r>
            <a:endParaRPr lang="en-US" altLang="zh-CN" dirty="0"/>
          </a:p>
          <a:p>
            <a:pPr lvl="1"/>
            <a:r>
              <a:rPr lang="zh-CN" altLang="zh-CN" dirty="0"/>
              <a:t>往往用形容词表示可枚举的具体属性 </a:t>
            </a:r>
            <a:endParaRPr lang="en-US" altLang="zh-CN" dirty="0"/>
          </a:p>
          <a:p>
            <a:pPr lvl="1"/>
            <a:r>
              <a:rPr lang="zh-CN" altLang="zh-CN" dirty="0"/>
              <a:t>分析员还必须借助于领域知识和常识才能分析得出需要的属性</a:t>
            </a:r>
            <a:endParaRPr lang="en-US" altLang="zh-CN" dirty="0"/>
          </a:p>
          <a:p>
            <a:pPr lvl="1"/>
            <a:r>
              <a:rPr lang="zh-CN" altLang="zh-CN" dirty="0"/>
              <a:t>应该仅考虑与具体应用直接相关的属性 </a:t>
            </a:r>
            <a:endParaRPr lang="en-US" altLang="zh-CN" dirty="0"/>
          </a:p>
          <a:p>
            <a:pPr lvl="1"/>
            <a:r>
              <a:rPr lang="zh-CN" altLang="zh-CN" dirty="0"/>
              <a:t>应该首先找出最重要的属性</a:t>
            </a:r>
            <a:endParaRPr lang="en-US" altLang="zh-CN" dirty="0"/>
          </a:p>
          <a:p>
            <a:pPr lvl="1"/>
            <a:r>
              <a:rPr lang="zh-CN" altLang="zh-CN" dirty="0"/>
              <a:t>分析阶段不要考虑那些纯粹用于实现的属性  </a:t>
            </a:r>
            <a:endParaRPr kumimoji="1" lang="zh-CN" altLang="en-US" dirty="0"/>
          </a:p>
          <a:p>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确定属性</a:t>
            </a:r>
            <a:endParaRPr lang="zh-CN" altLang="en-US" dirty="0"/>
          </a:p>
        </p:txBody>
      </p:sp>
      <p:sp>
        <p:nvSpPr>
          <p:cNvPr id="3" name="内容占位符 2"/>
          <p:cNvSpPr>
            <a:spLocks noGrp="1"/>
          </p:cNvSpPr>
          <p:nvPr>
            <p:ph idx="1"/>
          </p:nvPr>
        </p:nvSpPr>
        <p:spPr/>
        <p:txBody>
          <a:bodyPr>
            <a:normAutofit fontScale="92500" lnSpcReduction="10000"/>
          </a:bodyPr>
          <a:lstStyle/>
          <a:p>
            <a:pPr marL="817245" lvl="1" indent="-457200">
              <a:buFont typeface="+mj-lt"/>
              <a:buAutoNum type="arabicPeriod" startAt="2"/>
            </a:pPr>
            <a:r>
              <a:rPr kumimoji="1" lang="zh-CN" altLang="en-US" dirty="0"/>
              <a:t>选择：通常有以下几种常见情况</a:t>
            </a:r>
            <a:endParaRPr kumimoji="1" lang="en-US" altLang="zh-CN" dirty="0"/>
          </a:p>
          <a:p>
            <a:pPr lvl="1"/>
            <a:r>
              <a:rPr kumimoji="1" lang="zh-CN" altLang="en-US" dirty="0"/>
              <a:t>误把对象当作属性</a:t>
            </a:r>
            <a:endParaRPr kumimoji="1" lang="en-US" altLang="zh-CN" dirty="0"/>
          </a:p>
          <a:p>
            <a:pPr lvl="1"/>
            <a:r>
              <a:rPr lang="zh-CN" altLang="zh-CN" dirty="0"/>
              <a:t>误把关联类的属性当作一般对象的属性 </a:t>
            </a:r>
            <a:endParaRPr lang="en-US" altLang="zh-CN" dirty="0"/>
          </a:p>
          <a:p>
            <a:pPr lvl="1"/>
            <a:r>
              <a:rPr lang="zh-CN" altLang="zh-CN" dirty="0"/>
              <a:t>把限定误当成属性 </a:t>
            </a:r>
            <a:endParaRPr lang="en-US" altLang="zh-CN" dirty="0"/>
          </a:p>
          <a:p>
            <a:pPr lvl="1"/>
            <a:r>
              <a:rPr lang="zh-CN" altLang="zh-CN" dirty="0"/>
              <a:t>误把内部状态当成了属性</a:t>
            </a:r>
            <a:endParaRPr lang="zh-CN" altLang="zh-CN" dirty="0"/>
          </a:p>
          <a:p>
            <a:pPr lvl="1"/>
            <a:r>
              <a:rPr lang="zh-CN" altLang="zh-CN" dirty="0"/>
              <a:t>过于细化在分析阶段应该忽略那些对大多数操作都没有影响的属性 </a:t>
            </a:r>
            <a:endParaRPr lang="en-US" altLang="zh-CN" dirty="0"/>
          </a:p>
          <a:p>
            <a:pPr lvl="1"/>
            <a:r>
              <a:rPr lang="zh-CN" altLang="zh-CN" dirty="0"/>
              <a:t>存在不一致的属性 </a:t>
            </a:r>
            <a:endParaRPr kumimoji="1" lang="en-US" altLang="zh-CN" dirty="0"/>
          </a:p>
          <a:p>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发现类之间的关系</a:t>
            </a:r>
            <a:endParaRPr lang="zh-CN" altLang="en-US" dirty="0"/>
          </a:p>
        </p:txBody>
      </p:sp>
      <p:sp>
        <p:nvSpPr>
          <p:cNvPr id="3" name="文本占位符 2"/>
          <p:cNvSpPr>
            <a:spLocks noGrp="1"/>
          </p:cNvSpPr>
          <p:nvPr>
            <p:ph idx="1"/>
          </p:nvPr>
        </p:nvSpPr>
        <p:spPr>
          <a:xfrm>
            <a:off x="768097" y="786267"/>
            <a:ext cx="7832833" cy="3806854"/>
          </a:xfrm>
        </p:spPr>
        <p:txBody>
          <a:bodyPr>
            <a:noAutofit/>
          </a:bodyPr>
          <a:lstStyle/>
          <a:p>
            <a:pPr>
              <a:lnSpc>
                <a:spcPct val="100000"/>
              </a:lnSpc>
              <a:spcBef>
                <a:spcPts val="600"/>
              </a:spcBef>
            </a:pPr>
            <a:r>
              <a:rPr lang="zh-CN" altLang="en-US" sz="2000" b="1" dirty="0">
                <a:solidFill>
                  <a:srgbClr val="FF0000"/>
                </a:solidFill>
              </a:rPr>
              <a:t>名词</a:t>
            </a:r>
            <a:r>
              <a:rPr lang="en-US" altLang="zh-CN" sz="2000" b="1" dirty="0">
                <a:solidFill>
                  <a:srgbClr val="FF0000"/>
                </a:solidFill>
              </a:rPr>
              <a:t>-</a:t>
            </a:r>
            <a:r>
              <a:rPr lang="zh-CN" altLang="en-US" sz="2000" b="1" dirty="0">
                <a:solidFill>
                  <a:srgbClr val="FF0000"/>
                </a:solidFill>
              </a:rPr>
              <a:t>动词分析法</a:t>
            </a:r>
            <a:endParaRPr lang="zh-CN" altLang="en-US" sz="2000" b="1" dirty="0">
              <a:solidFill>
                <a:srgbClr val="FF0000"/>
              </a:solidFill>
            </a:endParaRPr>
          </a:p>
          <a:p>
            <a:pPr lvl="1">
              <a:lnSpc>
                <a:spcPct val="100000"/>
              </a:lnSpc>
              <a:spcBef>
                <a:spcPts val="600"/>
              </a:spcBef>
            </a:pPr>
            <a:r>
              <a:rPr lang="zh-CN" altLang="en-US" sz="1800" dirty="0"/>
              <a:t>找出以上来源中的名词或名词短语，作为候选类。</a:t>
            </a:r>
            <a:endParaRPr lang="zh-CN" altLang="en-US" sz="1800" dirty="0"/>
          </a:p>
          <a:p>
            <a:pPr lvl="1">
              <a:lnSpc>
                <a:spcPct val="100000"/>
              </a:lnSpc>
              <a:spcBef>
                <a:spcPts val="600"/>
              </a:spcBef>
            </a:pPr>
            <a:r>
              <a:rPr lang="zh-CN" altLang="en-US" sz="1800" dirty="0"/>
              <a:t>对候选类进行筛选，去掉冗余的、和系统无关的、以及非独立的类。</a:t>
            </a:r>
            <a:endParaRPr lang="zh-CN" altLang="en-US" sz="1800" dirty="0"/>
          </a:p>
          <a:p>
            <a:pPr lvl="1">
              <a:lnSpc>
                <a:spcPct val="100000"/>
              </a:lnSpc>
              <a:spcBef>
                <a:spcPts val="600"/>
              </a:spcBef>
            </a:pPr>
            <a:r>
              <a:rPr lang="zh-CN" altLang="en-US" sz="1800" dirty="0"/>
              <a:t>以动词为线索确定类之间的关系。</a:t>
            </a:r>
            <a:endParaRPr lang="zh-CN" altLang="en-US" sz="1800" dirty="0"/>
          </a:p>
          <a:p>
            <a:pPr>
              <a:lnSpc>
                <a:spcPct val="100000"/>
              </a:lnSpc>
              <a:spcBef>
                <a:spcPts val="600"/>
              </a:spcBef>
            </a:pPr>
            <a:r>
              <a:rPr lang="zh-CN" altLang="en-US" sz="2000" b="1" dirty="0">
                <a:solidFill>
                  <a:srgbClr val="FF0000"/>
                </a:solidFill>
              </a:rPr>
              <a:t>例如：</a:t>
            </a:r>
            <a:endParaRPr lang="en-US" altLang="zh-CN" sz="2000" b="1" dirty="0">
              <a:solidFill>
                <a:srgbClr val="FF0000"/>
              </a:solidFill>
            </a:endParaRPr>
          </a:p>
          <a:p>
            <a:pPr lvl="1">
              <a:lnSpc>
                <a:spcPct val="100000"/>
              </a:lnSpc>
              <a:spcBef>
                <a:spcPts val="600"/>
              </a:spcBef>
            </a:pPr>
            <a:r>
              <a:rPr lang="zh-CN" altLang="en-US" sz="1800" dirty="0"/>
              <a:t>与系统交互的角色：如管理员、浏览者、读者等</a:t>
            </a:r>
            <a:endParaRPr lang="en-US" altLang="zh-CN" sz="1800" dirty="0"/>
          </a:p>
          <a:p>
            <a:pPr lvl="1">
              <a:lnSpc>
                <a:spcPct val="100000"/>
              </a:lnSpc>
              <a:spcBef>
                <a:spcPts val="600"/>
              </a:spcBef>
            </a:pPr>
            <a:r>
              <a:rPr lang="zh-CN" altLang="en-US" sz="1800" dirty="0"/>
              <a:t>系统的工作环境场所：如车间、办公室等</a:t>
            </a:r>
            <a:endParaRPr lang="en-US" altLang="zh-CN" sz="1800" dirty="0"/>
          </a:p>
          <a:p>
            <a:pPr lvl="1">
              <a:lnSpc>
                <a:spcPct val="100000"/>
              </a:lnSpc>
              <a:spcBef>
                <a:spcPts val="600"/>
              </a:spcBef>
            </a:pPr>
            <a:r>
              <a:rPr lang="zh-CN" altLang="en-US" sz="1800" dirty="0"/>
              <a:t>概念实体、发生的事件或事情：如报告、信息显示、信号等</a:t>
            </a:r>
            <a:endParaRPr lang="en-US" altLang="zh-CN" sz="1800" dirty="0"/>
          </a:p>
          <a:p>
            <a:pPr lvl="1">
              <a:lnSpc>
                <a:spcPct val="100000"/>
              </a:lnSpc>
              <a:spcBef>
                <a:spcPts val="600"/>
              </a:spcBef>
            </a:pPr>
            <a:r>
              <a:rPr lang="zh-CN" altLang="en-US" sz="1800" dirty="0"/>
              <a:t>部门：如学校、人事部、财务部等</a:t>
            </a:r>
            <a:endParaRPr lang="en-US" altLang="zh-CN" sz="1800" dirty="0"/>
          </a:p>
          <a:p>
            <a:pPr lvl="1">
              <a:lnSpc>
                <a:spcPct val="100000"/>
              </a:lnSpc>
              <a:spcBef>
                <a:spcPts val="600"/>
              </a:spcBef>
            </a:pPr>
            <a:r>
              <a:rPr lang="zh-CN" altLang="en-US" sz="1800" dirty="0"/>
              <a:t>设备：如计算机、服务器、打印机等</a:t>
            </a:r>
            <a:endParaRPr lang="en-US" altLang="zh-CN" sz="1800" dirty="0"/>
          </a:p>
          <a:p>
            <a:pPr lvl="1">
              <a:lnSpc>
                <a:spcPct val="100000"/>
              </a:lnSpc>
              <a:spcBef>
                <a:spcPts val="600"/>
              </a:spcBef>
            </a:pPr>
            <a:r>
              <a:rPr lang="zh-CN" altLang="en-US" sz="1800" dirty="0"/>
              <a:t>与系统有关的外部实体：如其他系统、设备、人员等</a:t>
            </a:r>
            <a:endParaRPr lang="en-US" altLang="zh-CN" sz="1800" dirty="0"/>
          </a:p>
        </p:txBody>
      </p:sp>
      <p:sp>
        <p:nvSpPr>
          <p:cNvPr id="2" name="日期占位符 1"/>
          <p:cNvSpPr>
            <a:spLocks noGrp="1"/>
          </p:cNvSpPr>
          <p:nvPr>
            <p:ph type="dt" sz="half" idx="10"/>
          </p:nvPr>
        </p:nvSpPr>
        <p:spPr/>
        <p:txBody>
          <a:bodyPr/>
          <a:lstStyle/>
          <a:p>
            <a:fld id="{5549835B-9DFA-4D2F-BBB3-097567B00D6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up)">
                                      <p:cBhvr>
                                        <p:cTn id="30" dur="500"/>
                                        <p:tgtEl>
                                          <p:spTgt spid="3">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up)">
                                      <p:cBhvr>
                                        <p:cTn id="33" dur="500"/>
                                        <p:tgtEl>
                                          <p:spTgt spid="3">
                                            <p:txEl>
                                              <p:pRg st="8" end="8"/>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up)">
                                      <p:cBhvr>
                                        <p:cTn id="36" dur="500"/>
                                        <p:tgtEl>
                                          <p:spTgt spid="3">
                                            <p:txEl>
                                              <p:pRg st="9" end="9"/>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wipe(up)">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确定关联</a:t>
            </a:r>
            <a:endParaRPr lang="zh-CN" altLang="en-US" dirty="0"/>
          </a:p>
        </p:txBody>
      </p:sp>
      <p:sp>
        <p:nvSpPr>
          <p:cNvPr id="3" name="内容占位符 2"/>
          <p:cNvSpPr>
            <a:spLocks noGrp="1"/>
          </p:cNvSpPr>
          <p:nvPr>
            <p:ph idx="1"/>
          </p:nvPr>
        </p:nvSpPr>
        <p:spPr>
          <a:xfrm>
            <a:off x="768097" y="1030147"/>
            <a:ext cx="7832833" cy="3701873"/>
          </a:xfrm>
        </p:spPr>
        <p:txBody>
          <a:bodyPr>
            <a:noAutofit/>
          </a:bodyPr>
          <a:lstStyle/>
          <a:p>
            <a:pPr marL="457200" indent="-457200">
              <a:lnSpc>
                <a:spcPct val="100000"/>
              </a:lnSpc>
              <a:spcBef>
                <a:spcPts val="1000"/>
              </a:spcBef>
            </a:pPr>
            <a:r>
              <a:rPr lang="zh-CN" altLang="en-US" sz="2200" dirty="0"/>
              <a:t>在需求陈述中使用的描述性动词或动词词组，通常表示关联关系。</a:t>
            </a:r>
            <a:endParaRPr lang="en-US" altLang="zh-CN" sz="2200" dirty="0"/>
          </a:p>
          <a:p>
            <a:pPr marL="457200" indent="-457200">
              <a:lnSpc>
                <a:spcPct val="100000"/>
              </a:lnSpc>
              <a:spcBef>
                <a:spcPts val="1000"/>
              </a:spcBef>
              <a:buSzPct val="70000"/>
            </a:pPr>
            <a:r>
              <a:rPr lang="zh-CN" altLang="en-US" sz="2200" dirty="0"/>
              <a:t>通过分析需求陈述，还能发现一些在陈述中隐含的关联。</a:t>
            </a:r>
            <a:endParaRPr lang="en-US" altLang="zh-CN" sz="2200" dirty="0"/>
          </a:p>
          <a:p>
            <a:pPr marL="457200" indent="-457200">
              <a:lnSpc>
                <a:spcPct val="100000"/>
              </a:lnSpc>
              <a:spcBef>
                <a:spcPts val="1000"/>
              </a:spcBef>
              <a:buSzPct val="70000"/>
            </a:pPr>
            <a:r>
              <a:rPr lang="zh-CN" altLang="en-US" sz="2200" dirty="0"/>
              <a:t>最后，分析员还应该与用户及领域专家讨论问题域实体间的相互依赖、相互作用关系，根据领域知识再进一步补充一些关联。</a:t>
            </a:r>
            <a:endParaRPr lang="en-US" altLang="zh-CN" sz="2200" dirty="0"/>
          </a:p>
          <a:p>
            <a:pPr marL="457200" indent="-457200">
              <a:lnSpc>
                <a:spcPct val="100000"/>
              </a:lnSpc>
              <a:spcBef>
                <a:spcPts val="1000"/>
              </a:spcBef>
              <a:buSzPct val="70000"/>
            </a:pPr>
            <a:r>
              <a:rPr lang="zh-CN" altLang="en-US" sz="2200" dirty="0"/>
              <a:t>在分析确定关联的过程中，不必花过多的精力去区分关联和聚集。事实上，聚集不过是一种特殊的关联，是关联的一个特例。</a:t>
            </a:r>
            <a:endParaRPr lang="zh-CN" altLang="en-US" sz="2200" dirty="0"/>
          </a:p>
          <a:p>
            <a:pPr marL="457200" indent="-457200">
              <a:lnSpc>
                <a:spcPct val="100000"/>
              </a:lnSpc>
              <a:spcBef>
                <a:spcPts val="1000"/>
              </a:spcBef>
            </a:pPr>
            <a:endParaRPr lang="zh-CN" altLang="en-US" sz="2200"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筛选关联</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20000"/>
              </a:lnSpc>
              <a:spcBef>
                <a:spcPts val="600"/>
              </a:spcBef>
            </a:pPr>
            <a:r>
              <a:rPr lang="zh-CN" altLang="zh-CN" sz="2600" dirty="0"/>
              <a:t>筛选时主要根据下述标准删除候选的关联</a:t>
            </a:r>
            <a:r>
              <a:rPr lang="zh-CN" altLang="en-US" sz="2600" dirty="0"/>
              <a:t>：</a:t>
            </a:r>
            <a:r>
              <a:rPr lang="zh-CN" altLang="zh-CN" sz="2600" dirty="0"/>
              <a:t> </a:t>
            </a:r>
            <a:endParaRPr lang="en-US" altLang="zh-CN" sz="2600" dirty="0"/>
          </a:p>
          <a:p>
            <a:pPr lvl="1">
              <a:lnSpc>
                <a:spcPct val="120000"/>
              </a:lnSpc>
              <a:spcBef>
                <a:spcPts val="600"/>
              </a:spcBef>
            </a:pPr>
            <a:r>
              <a:rPr lang="zh-CN" altLang="zh-CN" sz="2200" dirty="0"/>
              <a:t>已删去的类之间的关联 </a:t>
            </a:r>
            <a:endParaRPr lang="en-US" altLang="zh-CN" sz="2200" dirty="0"/>
          </a:p>
          <a:p>
            <a:pPr lvl="1">
              <a:lnSpc>
                <a:spcPct val="120000"/>
              </a:lnSpc>
              <a:spcBef>
                <a:spcPts val="600"/>
              </a:spcBef>
            </a:pPr>
            <a:r>
              <a:rPr lang="zh-CN" altLang="zh-CN" sz="2200" dirty="0"/>
              <a:t>与问题无关的或应在实现阶段考虑的关联 </a:t>
            </a:r>
            <a:endParaRPr lang="en-US" altLang="zh-CN" sz="2200" dirty="0"/>
          </a:p>
          <a:p>
            <a:pPr lvl="1">
              <a:lnSpc>
                <a:spcPct val="120000"/>
              </a:lnSpc>
              <a:spcBef>
                <a:spcPts val="600"/>
              </a:spcBef>
            </a:pPr>
            <a:r>
              <a:rPr lang="zh-CN" altLang="zh-CN" sz="2200" dirty="0"/>
              <a:t>瞬时事件</a:t>
            </a:r>
            <a:endParaRPr lang="en-US" altLang="zh-CN" sz="2200" dirty="0"/>
          </a:p>
          <a:p>
            <a:pPr lvl="1">
              <a:lnSpc>
                <a:spcPct val="120000"/>
              </a:lnSpc>
              <a:spcBef>
                <a:spcPts val="600"/>
              </a:spcBef>
            </a:pPr>
            <a:r>
              <a:rPr lang="zh-CN" altLang="zh-CN" sz="2200" dirty="0"/>
              <a:t>三元关联</a:t>
            </a:r>
            <a:endParaRPr lang="zh-CN" altLang="zh-CN" sz="2200" dirty="0"/>
          </a:p>
          <a:p>
            <a:pPr lvl="1">
              <a:lnSpc>
                <a:spcPct val="120000"/>
              </a:lnSpc>
              <a:spcBef>
                <a:spcPts val="600"/>
              </a:spcBef>
            </a:pPr>
            <a:r>
              <a:rPr lang="zh-CN" altLang="zh-CN" sz="2200" dirty="0"/>
              <a:t>派生关联应该去掉那些可以用其他关联定义的冗余关联  </a:t>
            </a:r>
            <a:endParaRPr lang="zh-CN" altLang="zh-CN" sz="2000" dirty="0"/>
          </a:p>
          <a:p>
            <a:pPr>
              <a:lnSpc>
                <a:spcPct val="120000"/>
              </a:lnSpc>
              <a:spcBef>
                <a:spcPts val="600"/>
              </a:spcBef>
            </a:pPr>
            <a:r>
              <a:rPr kumimoji="1" lang="zh-CN" altLang="en-US" sz="2600" dirty="0"/>
              <a:t>进一步完善，通常从下述方面进行改进：</a:t>
            </a:r>
            <a:endParaRPr kumimoji="1" lang="en-US" altLang="zh-CN" sz="2600" dirty="0"/>
          </a:p>
          <a:p>
            <a:pPr lvl="1">
              <a:lnSpc>
                <a:spcPct val="120000"/>
              </a:lnSpc>
              <a:spcBef>
                <a:spcPts val="600"/>
              </a:spcBef>
            </a:pPr>
            <a:r>
              <a:rPr kumimoji="1" lang="zh-CN" altLang="en-US" sz="2200" dirty="0"/>
              <a:t>正名、分解、</a:t>
            </a:r>
            <a:r>
              <a:rPr lang="zh-CN" altLang="zh-CN" sz="2200" dirty="0"/>
              <a:t>补充发现了遗漏的关联就应该及时补上</a:t>
            </a:r>
            <a:r>
              <a:rPr lang="zh-CN" altLang="en-US" sz="2200" dirty="0"/>
              <a:t>、</a:t>
            </a:r>
            <a:r>
              <a:rPr lang="zh-CN" altLang="zh-CN" sz="2200" dirty="0"/>
              <a:t>标明重数</a:t>
            </a:r>
            <a:endParaRPr lang="zh-CN" altLang="zh-CN" sz="2200" dirty="0"/>
          </a:p>
          <a:p>
            <a:pPr>
              <a:lnSpc>
                <a:spcPct val="120000"/>
              </a:lnSpc>
              <a:spcBef>
                <a:spcPts val="600"/>
              </a:spcBef>
            </a:pPr>
            <a:endParaRPr lang="zh-CN" altLang="en-US"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识别继承关系</a:t>
            </a:r>
            <a:endParaRPr lang="zh-CN" altLang="en-US" dirty="0"/>
          </a:p>
        </p:txBody>
      </p:sp>
      <p:sp>
        <p:nvSpPr>
          <p:cNvPr id="3" name="内容占位符 2"/>
          <p:cNvSpPr>
            <a:spLocks noGrp="1"/>
          </p:cNvSpPr>
          <p:nvPr>
            <p:ph idx="1"/>
          </p:nvPr>
        </p:nvSpPr>
        <p:spPr/>
        <p:txBody>
          <a:bodyPr>
            <a:normAutofit fontScale="92500"/>
          </a:bodyPr>
          <a:lstStyle/>
          <a:p>
            <a:pPr>
              <a:spcBef>
                <a:spcPts val="600"/>
              </a:spcBef>
            </a:pPr>
            <a:r>
              <a:rPr lang="zh-CN" altLang="zh-CN" sz="2400" dirty="0"/>
              <a:t>一般说来，可以使用两种方式建立继承（即泛化）关系</a:t>
            </a:r>
            <a:r>
              <a:rPr lang="zh-CN" altLang="en-US" sz="2400" dirty="0"/>
              <a:t>：</a:t>
            </a:r>
            <a:endParaRPr lang="en-US" altLang="zh-CN" sz="2400" dirty="0"/>
          </a:p>
          <a:p>
            <a:pPr lvl="1">
              <a:spcBef>
                <a:spcPts val="600"/>
              </a:spcBef>
            </a:pPr>
            <a:r>
              <a:rPr kumimoji="1" lang="zh-CN" altLang="en-US" sz="2000" dirty="0"/>
              <a:t>自底向上：</a:t>
            </a:r>
            <a:r>
              <a:rPr lang="zh-CN" altLang="zh-CN" sz="2000" dirty="0"/>
              <a:t>抽象出现有类的共同性质泛化出父类，这个过程实质上模拟了人类归纳思维过程</a:t>
            </a:r>
            <a:r>
              <a:rPr lang="zh-CN" altLang="en-US" sz="2000" dirty="0"/>
              <a:t>。</a:t>
            </a:r>
            <a:endParaRPr lang="en-US" altLang="zh-CN" sz="2000" dirty="0"/>
          </a:p>
          <a:p>
            <a:pPr lvl="1">
              <a:spcBef>
                <a:spcPts val="600"/>
              </a:spcBef>
            </a:pPr>
            <a:r>
              <a:rPr kumimoji="1" lang="zh-CN" altLang="en-US" sz="2000" dirty="0"/>
              <a:t>自顶向下：</a:t>
            </a:r>
            <a:r>
              <a:rPr lang="zh-CN" altLang="zh-CN" sz="2000" dirty="0"/>
              <a:t>把现有类细化成更具体的子类，这模拟了人类的演绎思维过程</a:t>
            </a:r>
            <a:r>
              <a:rPr lang="zh-CN" altLang="en-US" sz="2000" dirty="0"/>
              <a:t>。</a:t>
            </a:r>
            <a:endParaRPr kumimoji="1" lang="zh-CN" altLang="en-US" sz="2000" dirty="0"/>
          </a:p>
          <a:p>
            <a:pPr>
              <a:spcBef>
                <a:spcPts val="600"/>
              </a:spcBef>
            </a:pPr>
            <a:r>
              <a:rPr lang="zh-CN" altLang="zh-CN" sz="2400" dirty="0"/>
              <a:t>仅仅经过一次建模过程很难得到完全正确的对象模型</a:t>
            </a:r>
            <a:r>
              <a:rPr lang="zh-CN" altLang="en-US" sz="2400" dirty="0"/>
              <a:t>，</a:t>
            </a:r>
            <a:r>
              <a:rPr lang="zh-CN" altLang="zh-CN" sz="2400" dirty="0"/>
              <a:t>软件开发过程就是一个多次反复修改、逐步完善的过程</a:t>
            </a:r>
            <a:r>
              <a:rPr lang="zh-CN" altLang="en-US" sz="2400" dirty="0"/>
              <a:t>。</a:t>
            </a:r>
            <a:endParaRPr lang="en-US" altLang="zh-CN" sz="2400" dirty="0"/>
          </a:p>
          <a:p>
            <a:pPr>
              <a:spcBef>
                <a:spcPts val="600"/>
              </a:spcBef>
            </a:pPr>
            <a:r>
              <a:rPr lang="zh-CN" altLang="zh-CN" sz="2400" dirty="0"/>
              <a:t> 在建模的任何一个步骤中，如果发现了模型的缺陷，都必须返回到前期阶段进行修改</a:t>
            </a:r>
            <a:r>
              <a:rPr lang="zh-CN" altLang="en-US" sz="2400" dirty="0"/>
              <a:t>。</a:t>
            </a:r>
            <a:endParaRPr lang="zh-CN" altLang="en-US" sz="2400"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a:t>
            </a:r>
            <a:r>
              <a:rPr lang="en-US" altLang="zh-CN" dirty="0"/>
              <a:t>ATM</a:t>
            </a:r>
            <a:r>
              <a:rPr lang="zh-CN" altLang="en-US" dirty="0"/>
              <a:t>机的对象建模过程</a:t>
            </a:r>
            <a:endParaRPr lang="zh-CN" altLang="en-US" dirty="0"/>
          </a:p>
        </p:txBody>
      </p:sp>
      <p:sp>
        <p:nvSpPr>
          <p:cNvPr id="3" name="内容占位符 2"/>
          <p:cNvSpPr>
            <a:spLocks noGrp="1"/>
          </p:cNvSpPr>
          <p:nvPr>
            <p:ph idx="1"/>
          </p:nvPr>
        </p:nvSpPr>
        <p:spPr>
          <a:xfrm>
            <a:off x="768097" y="1145893"/>
            <a:ext cx="3977523" cy="3586127"/>
          </a:xfrm>
        </p:spPr>
        <p:txBody>
          <a:bodyPr>
            <a:normAutofit/>
          </a:bodyPr>
          <a:lstStyle/>
          <a:p>
            <a:r>
              <a:rPr lang="en-US" altLang="zh-CN" sz="2400" dirty="0"/>
              <a:t>《</a:t>
            </a:r>
            <a:r>
              <a:rPr lang="zh-CN" altLang="en-US" sz="2400" dirty="0"/>
              <a:t>软件工程导论</a:t>
            </a:r>
            <a:r>
              <a:rPr lang="en-US" altLang="zh-CN" sz="2400" dirty="0"/>
              <a:t>》</a:t>
            </a:r>
            <a:r>
              <a:rPr lang="zh-CN" altLang="en-US" sz="2400" dirty="0"/>
              <a:t>教材</a:t>
            </a:r>
            <a:endParaRPr lang="en-US" altLang="zh-CN" sz="2400" dirty="0"/>
          </a:p>
          <a:p>
            <a:r>
              <a:rPr lang="zh-CN" altLang="en-US" sz="2400" dirty="0"/>
              <a:t>第</a:t>
            </a:r>
            <a:r>
              <a:rPr lang="en-US" altLang="zh-CN" sz="2400" dirty="0"/>
              <a:t>10</a:t>
            </a:r>
            <a:r>
              <a:rPr lang="zh-CN" altLang="en-US" sz="2400" dirty="0"/>
              <a:t>章 面向对象分析</a:t>
            </a:r>
            <a:endParaRPr lang="en-US" altLang="zh-CN" sz="2400" dirty="0"/>
          </a:p>
          <a:p>
            <a:pPr lvl="1"/>
            <a:r>
              <a:rPr lang="en-US" altLang="zh-CN" sz="2000" dirty="0"/>
              <a:t>10.2 </a:t>
            </a:r>
            <a:r>
              <a:rPr lang="zh-CN" altLang="en-US" sz="2000" dirty="0"/>
              <a:t>需求陈述</a:t>
            </a:r>
            <a:endParaRPr lang="en-US" altLang="zh-CN" sz="2000" dirty="0"/>
          </a:p>
          <a:p>
            <a:pPr lvl="1"/>
            <a:r>
              <a:rPr lang="en-US" altLang="zh-CN" sz="2000" dirty="0"/>
              <a:t>10.3 </a:t>
            </a:r>
            <a:r>
              <a:rPr lang="zh-CN" altLang="en-US" sz="2000" dirty="0"/>
              <a:t>建立对象模型</a:t>
            </a:r>
            <a:endParaRPr lang="en-US" altLang="zh-CN" sz="2000" dirty="0"/>
          </a:p>
        </p:txBody>
      </p:sp>
      <p:sp>
        <p:nvSpPr>
          <p:cNvPr id="4" name="日期占位符 3"/>
          <p:cNvSpPr>
            <a:spLocks noGrp="1"/>
          </p:cNvSpPr>
          <p:nvPr>
            <p:ph type="dt" sz="half" idx="10"/>
          </p:nvPr>
        </p:nvSpPr>
        <p:spPr/>
        <p:txBody>
          <a:bodyPr/>
          <a:lstStyle/>
          <a:p>
            <a:fld id="{220C921F-2B8B-41DC-8453-4C67BF5BB2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5046562" y="37145"/>
            <a:ext cx="4097438" cy="5106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r>
              <a:rPr lang="zh-CN" altLang="en-US" dirty="0"/>
              <a:t>网上报名系统的领域建模</a:t>
            </a:r>
            <a:endParaRPr lang="zh-CN" altLang="en-US" dirty="0"/>
          </a:p>
        </p:txBody>
      </p:sp>
      <p:sp>
        <p:nvSpPr>
          <p:cNvPr id="44035" name="Rectangle 3"/>
          <p:cNvSpPr>
            <a:spLocks noGrp="1" noChangeArrowheads="1"/>
          </p:cNvSpPr>
          <p:nvPr>
            <p:ph idx="1"/>
          </p:nvPr>
        </p:nvSpPr>
        <p:spPr/>
        <p:txBody>
          <a:bodyPr>
            <a:normAutofit/>
          </a:bodyPr>
          <a:lstStyle/>
          <a:p>
            <a:pPr marL="0" indent="0">
              <a:lnSpc>
                <a:spcPct val="120000"/>
              </a:lnSpc>
              <a:buNone/>
            </a:pPr>
            <a:r>
              <a:rPr lang="zh-CN" altLang="en-US" sz="2400" b="1" dirty="0"/>
              <a:t>步骤</a:t>
            </a:r>
            <a:r>
              <a:rPr lang="en-US" altLang="zh-CN" sz="2400" b="1" dirty="0"/>
              <a:t>1</a:t>
            </a:r>
            <a:r>
              <a:rPr lang="zh-CN" altLang="en-US" sz="2400" b="1" dirty="0"/>
              <a:t>：对系统中关键词的抽象</a:t>
            </a:r>
            <a:endParaRPr lang="en-US" altLang="zh-CN" sz="2400" b="1" dirty="0"/>
          </a:p>
          <a:p>
            <a:pPr marL="0" indent="0">
              <a:lnSpc>
                <a:spcPct val="120000"/>
              </a:lnSpc>
              <a:buNone/>
            </a:pPr>
            <a:r>
              <a:rPr lang="zh-CN" altLang="en-US" sz="2400" dirty="0"/>
              <a:t>我们从访谈和系统的原型中可以发现一些关键词汇，如：</a:t>
            </a:r>
            <a:endParaRPr lang="en-US" altLang="zh-CN" sz="2400" dirty="0"/>
          </a:p>
          <a:p>
            <a:pPr marL="0" indent="0">
              <a:lnSpc>
                <a:spcPct val="120000"/>
              </a:lnSpc>
              <a:buNone/>
            </a:pPr>
            <a:r>
              <a:rPr lang="zh-CN" altLang="en-US" sz="2400" dirty="0"/>
              <a:t>各省队用户信息，单位信息，运动员信息，竞赛项目信息，参赛单位报名信息，参赛运动员报名信息，赛事基本信息以及主要比赛项目信息。</a:t>
            </a:r>
            <a:endParaRPr lang="zh-CN" altLang="en-US" sz="2400" dirty="0"/>
          </a:p>
        </p:txBody>
      </p:sp>
      <p:sp>
        <p:nvSpPr>
          <p:cNvPr id="2" name="日期占位符 1"/>
          <p:cNvSpPr>
            <a:spLocks noGrp="1"/>
          </p:cNvSpPr>
          <p:nvPr>
            <p:ph type="dt" sz="half" idx="10"/>
          </p:nvPr>
        </p:nvSpPr>
        <p:spPr/>
        <p:txBody>
          <a:bodyPr/>
          <a:lstStyle/>
          <a:p>
            <a:fld id="{14572AF0-7504-4403-B45A-725B1344F44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up)">
                                      <p:cBhvr>
                                        <p:cTn id="7" dur="500"/>
                                        <p:tgtEl>
                                          <p:spTgt spid="4403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animEffect transition="in" filter="wipe(up)">
                                      <p:cBhvr>
                                        <p:cTn id="11" dur="500"/>
                                        <p:tgtEl>
                                          <p:spTgt spid="44035">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animEffect transition="in" filter="wipe(up)">
                                      <p:cBhvr>
                                        <p:cTn id="15" dur="500"/>
                                        <p:tgtEl>
                                          <p:spTgt spid="44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24"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7805" y="1762826"/>
            <a:ext cx="7514863" cy="258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标题 10"/>
          <p:cNvSpPr>
            <a:spLocks noGrp="1"/>
          </p:cNvSpPr>
          <p:nvPr>
            <p:ph type="title"/>
          </p:nvPr>
        </p:nvSpPr>
        <p:spPr/>
        <p:txBody>
          <a:bodyPr/>
          <a:lstStyle/>
          <a:p>
            <a:r>
              <a:rPr lang="zh-CN" altLang="en-US" dirty="0"/>
              <a:t>网上报名系统的领域建模</a:t>
            </a:r>
            <a:endParaRPr lang="zh-CN" altLang="en-US" dirty="0"/>
          </a:p>
        </p:txBody>
      </p:sp>
      <p:sp>
        <p:nvSpPr>
          <p:cNvPr id="4" name="日期占位符 3"/>
          <p:cNvSpPr>
            <a:spLocks noGrp="1"/>
          </p:cNvSpPr>
          <p:nvPr>
            <p:ph type="dt" sz="half" idx="10"/>
          </p:nvPr>
        </p:nvSpPr>
        <p:spPr/>
        <p:txBody>
          <a:bodyPr/>
          <a:lstStyle/>
          <a:p>
            <a:fld id="{E551E9B8-0F7F-4C94-B25B-6B9DD08D29F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文本框 7"/>
          <p:cNvSpPr txBox="1"/>
          <p:nvPr/>
        </p:nvSpPr>
        <p:spPr>
          <a:xfrm>
            <a:off x="846082" y="1065037"/>
            <a:ext cx="4374916" cy="461665"/>
          </a:xfrm>
          <a:prstGeom prst="rect">
            <a:avLst/>
          </a:prstGeom>
          <a:noFill/>
        </p:spPr>
        <p:txBody>
          <a:bodyPr wrap="none" rtlCol="0">
            <a:spAutoFit/>
          </a:bodyPr>
          <a:lstStyle/>
          <a:p>
            <a:r>
              <a:rPr lang="zh-CN" altLang="en-US" sz="2400" b="1" dirty="0">
                <a:solidFill>
                  <a:schemeClr val="tx2">
                    <a:lumMod val="90000"/>
                    <a:lumOff val="10000"/>
                  </a:schemeClr>
                </a:solidFill>
                <a:latin typeface="+mj-ea"/>
                <a:ea typeface="+mj-ea"/>
              </a:rPr>
              <a:t>步骤</a:t>
            </a:r>
            <a:r>
              <a:rPr lang="en-US" altLang="zh-CN" sz="2400" b="1" dirty="0">
                <a:solidFill>
                  <a:schemeClr val="tx2">
                    <a:lumMod val="90000"/>
                    <a:lumOff val="10000"/>
                  </a:schemeClr>
                </a:solidFill>
                <a:latin typeface="+mj-ea"/>
                <a:ea typeface="+mj-ea"/>
              </a:rPr>
              <a:t>1</a:t>
            </a:r>
            <a:r>
              <a:rPr lang="zh-CN" altLang="en-US" sz="2400" b="1" dirty="0">
                <a:solidFill>
                  <a:schemeClr val="tx2">
                    <a:lumMod val="90000"/>
                    <a:lumOff val="10000"/>
                  </a:schemeClr>
                </a:solidFill>
                <a:latin typeface="+mj-ea"/>
                <a:ea typeface="+mj-ea"/>
              </a:rPr>
              <a:t>：对系统中关键词的抽象</a:t>
            </a:r>
            <a:endParaRPr lang="en-US" altLang="zh-CN" sz="2400" b="1" dirty="0">
              <a:solidFill>
                <a:schemeClr val="tx2">
                  <a:lumMod val="90000"/>
                  <a:lumOff val="10000"/>
                </a:schemeClr>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7224"/>
                                        </p:tgtEl>
                                        <p:attrNameLst>
                                          <p:attrName>style.visibility</p:attrName>
                                        </p:attrNameLst>
                                      </p:cBhvr>
                                      <p:to>
                                        <p:strVal val="visible"/>
                                      </p:to>
                                    </p:set>
                                    <p:animEffect transition="in" filter="randombar(horizontal)">
                                      <p:cBhvr>
                                        <p:cTn id="7" dur="500"/>
                                        <p:tgtEl>
                                          <p:spTgt spid="137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ph type="title"/>
          </p:nvPr>
        </p:nvSpPr>
        <p:spPr/>
        <p:txBody>
          <a:bodyPr>
            <a:normAutofit/>
          </a:bodyPr>
          <a:lstStyle/>
          <a:p>
            <a:r>
              <a:rPr lang="zh-CN" altLang="en-US" dirty="0"/>
              <a:t>网上报名系统的领域建模</a:t>
            </a:r>
            <a:endParaRPr lang="zh-CN" altLang="en-US" dirty="0"/>
          </a:p>
        </p:txBody>
      </p:sp>
      <p:sp>
        <p:nvSpPr>
          <p:cNvPr id="29699" name="Rectangle 3"/>
          <p:cNvSpPr>
            <a:spLocks noGrp="1" noChangeArrowheads="1"/>
          </p:cNvSpPr>
          <p:nvPr>
            <p:ph idx="1"/>
          </p:nvPr>
        </p:nvSpPr>
        <p:spPr/>
        <p:txBody>
          <a:bodyPr>
            <a:normAutofit/>
          </a:bodyPr>
          <a:lstStyle/>
          <a:p>
            <a:pPr marL="0" indent="0">
              <a:lnSpc>
                <a:spcPct val="100000"/>
              </a:lnSpc>
              <a:spcBef>
                <a:spcPts val="600"/>
              </a:spcBef>
              <a:buNone/>
            </a:pPr>
            <a:r>
              <a:rPr lang="zh-CN" altLang="en-US" sz="2400" b="1" dirty="0"/>
              <a:t>步骤</a:t>
            </a:r>
            <a:r>
              <a:rPr lang="en-US" altLang="zh-CN" sz="2400" b="1" dirty="0"/>
              <a:t>2</a:t>
            </a:r>
            <a:r>
              <a:rPr lang="zh-CN" altLang="en-US" sz="2400" b="1" dirty="0"/>
              <a:t>：为类添加属性</a:t>
            </a:r>
            <a:endParaRPr lang="en-US" altLang="zh-CN" sz="2400" b="1" dirty="0"/>
          </a:p>
          <a:p>
            <a:pPr marL="342900" indent="-342900">
              <a:lnSpc>
                <a:spcPct val="100000"/>
              </a:lnSpc>
              <a:spcBef>
                <a:spcPts val="1800"/>
              </a:spcBef>
              <a:buFont typeface="+mj-lt"/>
              <a:buAutoNum type="arabicPeriod"/>
            </a:pPr>
            <a:r>
              <a:rPr lang="zh-CN" altLang="en-US" sz="2000" dirty="0"/>
              <a:t>各省队用户：用户名，</a:t>
            </a:r>
            <a:r>
              <a:rPr lang="zh-CN" altLang="zh-CN" sz="2000" dirty="0"/>
              <a:t>真实姓名，</a:t>
            </a:r>
            <a:r>
              <a:rPr lang="zh-CN" altLang="en-US" sz="2000" dirty="0"/>
              <a:t>密码，提示问题，答案，</a:t>
            </a:r>
            <a:r>
              <a:rPr lang="zh-CN" altLang="zh-CN" sz="2000" dirty="0"/>
              <a:t>联系电话，所属单位</a:t>
            </a:r>
            <a:r>
              <a:rPr lang="zh-CN" altLang="en-US" sz="2000" dirty="0"/>
              <a:t>，用户类型，注册时间，备注。</a:t>
            </a:r>
            <a:endParaRPr lang="en-US" altLang="zh-CN" sz="2000" dirty="0"/>
          </a:p>
          <a:p>
            <a:pPr marL="342900" indent="-342900">
              <a:lnSpc>
                <a:spcPct val="100000"/>
              </a:lnSpc>
              <a:spcBef>
                <a:spcPts val="600"/>
              </a:spcBef>
              <a:buFont typeface="+mj-lt"/>
              <a:buAutoNum type="arabicPeriod"/>
            </a:pPr>
            <a:r>
              <a:rPr lang="zh-CN" altLang="en-US" sz="2000" dirty="0"/>
              <a:t>单位：单位</a:t>
            </a:r>
            <a:r>
              <a:rPr lang="zh-CN" altLang="zh-CN" sz="2000" dirty="0"/>
              <a:t>名称，单位地址，</a:t>
            </a:r>
            <a:r>
              <a:rPr lang="zh-CN" altLang="en-US" sz="2000" dirty="0"/>
              <a:t>单位</a:t>
            </a:r>
            <a:r>
              <a:rPr lang="zh-CN" altLang="zh-CN" sz="2000" dirty="0"/>
              <a:t>联系人，</a:t>
            </a:r>
            <a:r>
              <a:rPr lang="zh-CN" altLang="en-US" sz="2000" dirty="0"/>
              <a:t>单位</a:t>
            </a:r>
            <a:r>
              <a:rPr lang="zh-CN" altLang="zh-CN" sz="2000" dirty="0"/>
              <a:t>联系电话，邮编，传真</a:t>
            </a:r>
            <a:r>
              <a:rPr lang="zh-CN" altLang="en-US" sz="2000" dirty="0"/>
              <a:t>，备注</a:t>
            </a:r>
            <a:r>
              <a:rPr lang="zh-CN" altLang="zh-CN" sz="2000" dirty="0"/>
              <a:t>。</a:t>
            </a:r>
            <a:endParaRPr lang="en-US" altLang="zh-CN" sz="2000" dirty="0"/>
          </a:p>
          <a:p>
            <a:pPr marL="342900" indent="-342900">
              <a:lnSpc>
                <a:spcPct val="100000"/>
              </a:lnSpc>
              <a:spcBef>
                <a:spcPts val="600"/>
              </a:spcBef>
              <a:buFont typeface="+mj-lt"/>
              <a:buAutoNum type="arabicPeriod"/>
            </a:pPr>
            <a:r>
              <a:rPr lang="zh-CN" altLang="zh-CN" sz="2000" dirty="0"/>
              <a:t>运动员</a:t>
            </a:r>
            <a:r>
              <a:rPr lang="zh-CN" altLang="en-US" sz="2000" dirty="0"/>
              <a:t>信息</a:t>
            </a:r>
            <a:r>
              <a:rPr lang="zh-CN" altLang="zh-CN" sz="2000" dirty="0"/>
              <a:t>：注册证号，姓名，性别，出生日期，</a:t>
            </a:r>
            <a:r>
              <a:rPr lang="zh-CN" altLang="en-US" sz="2000" dirty="0"/>
              <a:t>籍贯，</a:t>
            </a:r>
            <a:r>
              <a:rPr lang="zh-CN" altLang="zh-CN" sz="2000" dirty="0"/>
              <a:t>所属单位，身份证号，备注。</a:t>
            </a:r>
            <a:endParaRPr lang="zh-CN" altLang="en-US" sz="2000" dirty="0"/>
          </a:p>
          <a:p>
            <a:pPr marL="342900" indent="-342900">
              <a:lnSpc>
                <a:spcPct val="100000"/>
              </a:lnSpc>
              <a:spcBef>
                <a:spcPts val="600"/>
              </a:spcBef>
              <a:buFont typeface="+mj-lt"/>
              <a:buAutoNum type="arabicPeriod"/>
            </a:pPr>
            <a:r>
              <a:rPr lang="zh-CN" altLang="zh-CN" sz="2000" dirty="0"/>
              <a:t>竞赛项目</a:t>
            </a:r>
            <a:r>
              <a:rPr lang="zh-CN" altLang="en-US" sz="2000" dirty="0"/>
              <a:t>信息</a:t>
            </a:r>
            <a:r>
              <a:rPr lang="zh-CN" altLang="zh-CN" sz="2000" dirty="0"/>
              <a:t>：竞赛项目名称，项目缩写，组别（男子，女子，男子轻量级，女子轻量级）</a:t>
            </a:r>
            <a:endParaRPr lang="en-US" altLang="zh-CN" sz="2000" dirty="0"/>
          </a:p>
          <a:p>
            <a:pPr>
              <a:lnSpc>
                <a:spcPct val="100000"/>
              </a:lnSpc>
              <a:spcBef>
                <a:spcPts val="600"/>
              </a:spcBef>
            </a:pPr>
            <a:endParaRPr lang="en-US" altLang="zh-CN" sz="1800" dirty="0"/>
          </a:p>
        </p:txBody>
      </p:sp>
      <p:sp>
        <p:nvSpPr>
          <p:cNvPr id="2" name="日期占位符 1"/>
          <p:cNvSpPr>
            <a:spLocks noGrp="1"/>
          </p:cNvSpPr>
          <p:nvPr>
            <p:ph type="dt" sz="half" idx="10"/>
          </p:nvPr>
        </p:nvSpPr>
        <p:spPr/>
        <p:txBody>
          <a:bodyPr/>
          <a:lstStyle/>
          <a:p>
            <a:fld id="{051962A4-F7EB-4491-B5AA-D3F5DFC5BDD4}"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a:spLocks noGrp="1" noChangeArrowheads="1"/>
          </p:cNvSpPr>
          <p:nvPr>
            <p:ph type="title"/>
          </p:nvPr>
        </p:nvSpPr>
        <p:spPr/>
        <p:txBody>
          <a:bodyPr>
            <a:normAutofit/>
          </a:bodyPr>
          <a:lstStyle/>
          <a:p>
            <a:r>
              <a:rPr lang="zh-CN" altLang="en-US" dirty="0"/>
              <a:t>网上报名系统的领域建模</a:t>
            </a:r>
            <a:endParaRPr lang="zh-CN" altLang="en-US" dirty="0"/>
          </a:p>
        </p:txBody>
      </p:sp>
      <p:sp>
        <p:nvSpPr>
          <p:cNvPr id="29699" name="Rectangle 3"/>
          <p:cNvSpPr>
            <a:spLocks noGrp="1" noChangeArrowheads="1"/>
          </p:cNvSpPr>
          <p:nvPr>
            <p:ph idx="1"/>
          </p:nvPr>
        </p:nvSpPr>
        <p:spPr/>
        <p:txBody>
          <a:bodyPr>
            <a:normAutofit lnSpcReduction="10000"/>
          </a:bodyPr>
          <a:lstStyle/>
          <a:p>
            <a:pPr marL="0" indent="0">
              <a:lnSpc>
                <a:spcPct val="120000"/>
              </a:lnSpc>
              <a:buNone/>
            </a:pPr>
            <a:r>
              <a:rPr lang="zh-CN" altLang="en-US" sz="2400" b="1" dirty="0"/>
              <a:t>步骤</a:t>
            </a:r>
            <a:r>
              <a:rPr lang="en-US" altLang="zh-CN" sz="2400" b="1" dirty="0"/>
              <a:t>2</a:t>
            </a:r>
            <a:r>
              <a:rPr lang="zh-CN" altLang="en-US" sz="2400" b="1" dirty="0"/>
              <a:t>：为类添加属性</a:t>
            </a:r>
            <a:endParaRPr lang="en-US" altLang="zh-CN" sz="2400" b="1" dirty="0"/>
          </a:p>
          <a:p>
            <a:pPr marL="342900" indent="-342900">
              <a:lnSpc>
                <a:spcPct val="120000"/>
              </a:lnSpc>
              <a:buFont typeface="+mj-lt"/>
              <a:buAutoNum type="arabicPeriod" startAt="5"/>
            </a:pPr>
            <a:r>
              <a:rPr lang="zh-CN" altLang="zh-CN" sz="2000" dirty="0"/>
              <a:t>赛事</a:t>
            </a:r>
            <a:r>
              <a:rPr lang="zh-CN" altLang="en-US" sz="2000" dirty="0"/>
              <a:t>信息</a:t>
            </a:r>
            <a:r>
              <a:rPr lang="zh-CN" altLang="zh-CN" sz="2000" dirty="0"/>
              <a:t>：赛事名称，赛事年份，主办单位，协办单位，主办单位联系人，协办单位联系人，比赛时间，比赛地点，报名时间，报名方法，竞赛项目，竞赛办法，参赛服装和器材，奖励与计分办法，相关附件</a:t>
            </a:r>
            <a:r>
              <a:rPr lang="zh-CN" altLang="en-US" sz="2000" dirty="0"/>
              <a:t>，其他。</a:t>
            </a:r>
            <a:endParaRPr lang="en-US" altLang="zh-CN" sz="2000" dirty="0"/>
          </a:p>
          <a:p>
            <a:pPr marL="342900" indent="-342900">
              <a:lnSpc>
                <a:spcPct val="120000"/>
              </a:lnSpc>
              <a:buFont typeface="+mj-lt"/>
              <a:buAutoNum type="arabicPeriod" startAt="5"/>
            </a:pPr>
            <a:r>
              <a:rPr lang="zh-CN" altLang="zh-CN" sz="2000" dirty="0"/>
              <a:t>参赛单位</a:t>
            </a:r>
            <a:r>
              <a:rPr lang="zh-CN" altLang="en-US" sz="2000" dirty="0"/>
              <a:t>报名表</a:t>
            </a:r>
            <a:r>
              <a:rPr lang="zh-CN" altLang="zh-CN" sz="2000" dirty="0"/>
              <a:t>：赛事名称，领队，教练，医生，工作人员，填报人，填报时间，联系电话，传真。</a:t>
            </a:r>
            <a:endParaRPr lang="zh-CN" altLang="zh-CN" sz="2000" dirty="0"/>
          </a:p>
          <a:p>
            <a:pPr marL="342900" indent="-342900">
              <a:lnSpc>
                <a:spcPct val="120000"/>
              </a:lnSpc>
              <a:buFont typeface="+mj-lt"/>
              <a:buAutoNum type="arabicPeriod" startAt="5"/>
            </a:pPr>
            <a:r>
              <a:rPr lang="zh-CN" altLang="zh-CN" sz="2000" dirty="0"/>
              <a:t>运动员</a:t>
            </a:r>
            <a:r>
              <a:rPr lang="zh-CN" altLang="en-US" sz="2000" dirty="0"/>
              <a:t>报名表</a:t>
            </a:r>
            <a:r>
              <a:rPr lang="zh-CN" altLang="zh-CN" sz="2000" dirty="0"/>
              <a:t>：赛事名称，</a:t>
            </a:r>
            <a:r>
              <a:rPr lang="zh-CN" altLang="en-US" sz="2000" dirty="0"/>
              <a:t>组别，</a:t>
            </a:r>
            <a:r>
              <a:rPr lang="zh-CN" altLang="zh-CN" sz="2000" dirty="0"/>
              <a:t>竞赛项目名称，参赛单位，运动员注册证号，</a:t>
            </a:r>
            <a:r>
              <a:rPr lang="zh-CN" altLang="en-US" sz="2000" dirty="0"/>
              <a:t>运动员姓名，</a:t>
            </a:r>
            <a:r>
              <a:rPr lang="zh-CN" altLang="zh-CN" sz="2000" dirty="0"/>
              <a:t>备注。</a:t>
            </a:r>
            <a:endParaRPr lang="zh-CN" altLang="en-US" sz="2000" dirty="0"/>
          </a:p>
          <a:p>
            <a:pPr>
              <a:lnSpc>
                <a:spcPct val="120000"/>
              </a:lnSpc>
            </a:pPr>
            <a:endParaRPr lang="zh-CN" altLang="en-US" sz="1650" dirty="0"/>
          </a:p>
          <a:p>
            <a:pPr>
              <a:lnSpc>
                <a:spcPct val="120000"/>
              </a:lnSpc>
            </a:pPr>
            <a:endParaRPr lang="en-US" altLang="zh-CN" sz="1650" dirty="0"/>
          </a:p>
        </p:txBody>
      </p:sp>
      <p:sp>
        <p:nvSpPr>
          <p:cNvPr id="2" name="日期占位符 1"/>
          <p:cNvSpPr>
            <a:spLocks noGrp="1"/>
          </p:cNvSpPr>
          <p:nvPr>
            <p:ph type="dt" sz="half" idx="10"/>
          </p:nvPr>
        </p:nvSpPr>
        <p:spPr/>
        <p:txBody>
          <a:bodyPr/>
          <a:lstStyle/>
          <a:p>
            <a:fld id="{1321612D-E769-4B82-B100-B397CD9757F7}"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97" name="Picture 21"/>
          <p:cNvPicPr>
            <a:picLocks noChangeAspect="1" noChangeArrowheads="1"/>
          </p:cNvPicPr>
          <p:nvPr/>
        </p:nvPicPr>
        <p:blipFill rotWithShape="1">
          <a:blip r:embed="rId1">
            <a:extLst>
              <a:ext uri="{28A0092B-C50C-407E-A947-70E740481C1C}">
                <a14:useLocalDpi xmlns:a14="http://schemas.microsoft.com/office/drawing/2010/main" val="0"/>
              </a:ext>
            </a:extLst>
          </a:blip>
          <a:srcRect l="3220" t="3699" r="6123" b="3701"/>
          <a:stretch>
            <a:fillRect/>
          </a:stretch>
        </p:blipFill>
        <p:spPr bwMode="auto">
          <a:xfrm>
            <a:off x="1115058" y="555585"/>
            <a:ext cx="6943235" cy="4385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3"/>
          <p:cNvSpPr>
            <a:spLocks noGrp="1"/>
          </p:cNvSpPr>
          <p:nvPr>
            <p:ph type="title"/>
          </p:nvPr>
        </p:nvSpPr>
        <p:spPr/>
        <p:txBody>
          <a:bodyPr/>
          <a:lstStyle/>
          <a:p>
            <a:r>
              <a:rPr lang="zh-CN" altLang="en-US" dirty="0"/>
              <a:t>网上报名系统的领域建模</a:t>
            </a:r>
            <a:endParaRPr lang="zh-CN" altLang="en-US" dirty="0"/>
          </a:p>
        </p:txBody>
      </p:sp>
      <p:sp>
        <p:nvSpPr>
          <p:cNvPr id="2" name="日期占位符 1"/>
          <p:cNvSpPr>
            <a:spLocks noGrp="1"/>
          </p:cNvSpPr>
          <p:nvPr>
            <p:ph type="dt" sz="half" idx="10"/>
          </p:nvPr>
        </p:nvSpPr>
        <p:spPr/>
        <p:txBody>
          <a:bodyPr/>
          <a:lstStyle/>
          <a:p>
            <a:fld id="{5766870D-4B53-4424-85A9-B9D663FFFE64}"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p:cNvSpPr>
            <a:spLocks noGrp="1" noChangeArrowheads="1"/>
          </p:cNvSpPr>
          <p:nvPr>
            <p:ph type="title"/>
          </p:nvPr>
        </p:nvSpPr>
        <p:spPr/>
        <p:txBody>
          <a:bodyPr>
            <a:normAutofit/>
          </a:bodyPr>
          <a:lstStyle/>
          <a:p>
            <a:r>
              <a:rPr lang="zh-CN" altLang="en-US" dirty="0"/>
              <a:t>网上报名系统的领域建模</a:t>
            </a:r>
            <a:endParaRPr lang="zh-CN" altLang="en-US" dirty="0"/>
          </a:p>
        </p:txBody>
      </p:sp>
      <p:sp>
        <p:nvSpPr>
          <p:cNvPr id="69635" name="Rectangle 3"/>
          <p:cNvSpPr>
            <a:spLocks noGrp="1" noChangeArrowheads="1"/>
          </p:cNvSpPr>
          <p:nvPr>
            <p:ph idx="1"/>
          </p:nvPr>
        </p:nvSpPr>
        <p:spPr/>
        <p:txBody>
          <a:bodyPr>
            <a:normAutofit/>
          </a:bodyPr>
          <a:lstStyle/>
          <a:p>
            <a:pPr>
              <a:lnSpc>
                <a:spcPct val="120000"/>
              </a:lnSpc>
            </a:pPr>
            <a:r>
              <a:rPr lang="zh-CN" altLang="en-US" sz="2400" b="1" dirty="0"/>
              <a:t>步骤</a:t>
            </a:r>
            <a:r>
              <a:rPr lang="en-US" altLang="zh-CN" sz="2400" b="1" dirty="0"/>
              <a:t>3</a:t>
            </a:r>
            <a:r>
              <a:rPr lang="zh-CN" altLang="en-US" sz="2400" b="1" dirty="0"/>
              <a:t>：分析和建立类之间的关系</a:t>
            </a:r>
            <a:endParaRPr lang="zh-CN" altLang="en-US" sz="2400" b="1" dirty="0"/>
          </a:p>
          <a:p>
            <a:pPr lvl="1">
              <a:lnSpc>
                <a:spcPct val="120000"/>
              </a:lnSpc>
            </a:pPr>
            <a:r>
              <a:rPr lang="zh-CN" altLang="en-US" sz="2000" dirty="0"/>
              <a:t>单位</a:t>
            </a:r>
            <a:r>
              <a:rPr lang="en-US" altLang="zh-CN" sz="2000" dirty="0"/>
              <a:t>——</a:t>
            </a:r>
            <a:r>
              <a:rPr lang="zh-CN" altLang="en-US" sz="2000" dirty="0"/>
              <a:t>运动员     </a:t>
            </a:r>
            <a:r>
              <a:rPr lang="en-US" altLang="zh-CN" sz="2000" dirty="0"/>
              <a:t>1</a:t>
            </a:r>
            <a:r>
              <a:rPr lang="zh-CN" altLang="en-US" sz="2000" dirty="0"/>
              <a:t>：</a:t>
            </a:r>
            <a:r>
              <a:rPr lang="en-US" altLang="zh-CN" sz="2000" dirty="0"/>
              <a:t>n</a:t>
            </a:r>
            <a:endParaRPr lang="en-US" altLang="zh-CN" sz="2000" dirty="0"/>
          </a:p>
          <a:p>
            <a:pPr lvl="1">
              <a:lnSpc>
                <a:spcPct val="120000"/>
              </a:lnSpc>
            </a:pPr>
            <a:r>
              <a:rPr lang="zh-CN" altLang="en-US" sz="2000" dirty="0"/>
              <a:t>竞赛项目</a:t>
            </a:r>
            <a:r>
              <a:rPr lang="en-US" altLang="zh-CN" sz="2000" dirty="0"/>
              <a:t>——</a:t>
            </a:r>
            <a:r>
              <a:rPr lang="zh-CN" altLang="en-US" sz="2000" dirty="0"/>
              <a:t>赛事      </a:t>
            </a:r>
            <a:r>
              <a:rPr lang="en-US" altLang="zh-CN" sz="2000" dirty="0"/>
              <a:t>m</a:t>
            </a:r>
            <a:r>
              <a:rPr lang="zh-CN" altLang="en-US" sz="2000" dirty="0"/>
              <a:t>：</a:t>
            </a:r>
            <a:r>
              <a:rPr lang="en-US" altLang="zh-CN" sz="2000" dirty="0"/>
              <a:t>n</a:t>
            </a:r>
            <a:endParaRPr lang="en-US" altLang="zh-CN" sz="2000" dirty="0"/>
          </a:p>
          <a:p>
            <a:pPr lvl="1">
              <a:lnSpc>
                <a:spcPct val="120000"/>
              </a:lnSpc>
            </a:pPr>
            <a:r>
              <a:rPr lang="zh-CN" altLang="en-US" sz="2000" dirty="0"/>
              <a:t>单位</a:t>
            </a:r>
            <a:r>
              <a:rPr lang="en-US" altLang="zh-CN" sz="2000" dirty="0"/>
              <a:t>——</a:t>
            </a:r>
            <a:r>
              <a:rPr lang="zh-CN" altLang="en-US" sz="2000" dirty="0"/>
              <a:t>参赛单位报名信息      </a:t>
            </a:r>
            <a:r>
              <a:rPr lang="en-US" altLang="zh-CN" sz="2000" dirty="0"/>
              <a:t>1</a:t>
            </a:r>
            <a:r>
              <a:rPr lang="zh-CN" altLang="en-US" sz="2000" dirty="0"/>
              <a:t>：</a:t>
            </a:r>
            <a:r>
              <a:rPr lang="en-US" altLang="zh-CN" sz="2000" dirty="0"/>
              <a:t>n</a:t>
            </a:r>
            <a:endParaRPr lang="en-US" altLang="zh-CN" sz="2000" dirty="0"/>
          </a:p>
          <a:p>
            <a:pPr lvl="1">
              <a:lnSpc>
                <a:spcPct val="120000"/>
              </a:lnSpc>
            </a:pPr>
            <a:r>
              <a:rPr lang="zh-CN" altLang="en-US" sz="2000" dirty="0"/>
              <a:t>运动员</a:t>
            </a:r>
            <a:r>
              <a:rPr lang="en-US" altLang="zh-CN" sz="2000" dirty="0"/>
              <a:t>——</a:t>
            </a:r>
            <a:r>
              <a:rPr lang="zh-CN" altLang="en-US" sz="2000" dirty="0"/>
              <a:t>运动员报名信息     </a:t>
            </a:r>
            <a:r>
              <a:rPr lang="en-US" altLang="zh-CN" sz="2000" dirty="0"/>
              <a:t>1</a:t>
            </a:r>
            <a:r>
              <a:rPr lang="zh-CN" altLang="en-US" sz="2000" dirty="0"/>
              <a:t>：</a:t>
            </a:r>
            <a:r>
              <a:rPr lang="en-US" altLang="zh-CN" sz="2000" dirty="0"/>
              <a:t>n</a:t>
            </a:r>
            <a:endParaRPr lang="en-US" altLang="zh-CN" sz="2000" dirty="0"/>
          </a:p>
        </p:txBody>
      </p:sp>
      <p:sp>
        <p:nvSpPr>
          <p:cNvPr id="2" name="日期占位符 1"/>
          <p:cNvSpPr>
            <a:spLocks noGrp="1"/>
          </p:cNvSpPr>
          <p:nvPr>
            <p:ph type="dt" sz="half" idx="10"/>
          </p:nvPr>
        </p:nvSpPr>
        <p:spPr/>
        <p:txBody>
          <a:bodyPr/>
          <a:lstStyle/>
          <a:p>
            <a:fld id="{7B1BEB6E-B8F6-4A99-A089-786134EA0824}"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Effect transition="in" filter="wipe(up)">
                                      <p:cBhvr>
                                        <p:cTn id="7" dur="500"/>
                                        <p:tgtEl>
                                          <p:spTgt spid="6963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9635">
                                            <p:txEl>
                                              <p:pRg st="1" end="1"/>
                                            </p:txEl>
                                          </p:spTgt>
                                        </p:tgtEl>
                                        <p:attrNameLst>
                                          <p:attrName>style.visibility</p:attrName>
                                        </p:attrNameLst>
                                      </p:cBhvr>
                                      <p:to>
                                        <p:strVal val="visible"/>
                                      </p:to>
                                    </p:set>
                                    <p:animEffect transition="in" filter="wipe(up)">
                                      <p:cBhvr>
                                        <p:cTn id="10" dur="500"/>
                                        <p:tgtEl>
                                          <p:spTgt spid="69635">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69635">
                                            <p:txEl>
                                              <p:pRg st="2" end="2"/>
                                            </p:txEl>
                                          </p:spTgt>
                                        </p:tgtEl>
                                        <p:attrNameLst>
                                          <p:attrName>style.visibility</p:attrName>
                                        </p:attrNameLst>
                                      </p:cBhvr>
                                      <p:to>
                                        <p:strVal val="visible"/>
                                      </p:to>
                                    </p:set>
                                    <p:animEffect transition="in" filter="wipe(up)">
                                      <p:cBhvr>
                                        <p:cTn id="13" dur="500"/>
                                        <p:tgtEl>
                                          <p:spTgt spid="69635">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69635">
                                            <p:txEl>
                                              <p:pRg st="3" end="3"/>
                                            </p:txEl>
                                          </p:spTgt>
                                        </p:tgtEl>
                                        <p:attrNameLst>
                                          <p:attrName>style.visibility</p:attrName>
                                        </p:attrNameLst>
                                      </p:cBhvr>
                                      <p:to>
                                        <p:strVal val="visible"/>
                                      </p:to>
                                    </p:set>
                                    <p:animEffect transition="in" filter="wipe(up)">
                                      <p:cBhvr>
                                        <p:cTn id="16" dur="500"/>
                                        <p:tgtEl>
                                          <p:spTgt spid="69635">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69635">
                                            <p:txEl>
                                              <p:pRg st="4" end="4"/>
                                            </p:txEl>
                                          </p:spTgt>
                                        </p:tgtEl>
                                        <p:attrNameLst>
                                          <p:attrName>style.visibility</p:attrName>
                                        </p:attrNameLst>
                                      </p:cBhvr>
                                      <p:to>
                                        <p:strVal val="visible"/>
                                      </p:to>
                                    </p:set>
                                    <p:animEffect transition="in" filter="wipe(up)">
                                      <p:cBhvr>
                                        <p:cTn id="19" dur="500"/>
                                        <p:tgtEl>
                                          <p:spTgt spid="69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45" name="Picture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8687" y="525065"/>
            <a:ext cx="6719605" cy="4635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3"/>
          <p:cNvSpPr>
            <a:spLocks noGrp="1"/>
          </p:cNvSpPr>
          <p:nvPr>
            <p:ph type="title"/>
          </p:nvPr>
        </p:nvSpPr>
        <p:spPr/>
        <p:txBody>
          <a:bodyPr/>
          <a:lstStyle/>
          <a:p>
            <a:r>
              <a:rPr lang="zh-CN" altLang="en-US" dirty="0"/>
              <a:t>网上报名系统的领域建模</a:t>
            </a:r>
            <a:endParaRPr lang="zh-CN" altLang="en-US" dirty="0"/>
          </a:p>
        </p:txBody>
      </p:sp>
      <p:sp>
        <p:nvSpPr>
          <p:cNvPr id="2" name="日期占位符 1"/>
          <p:cNvSpPr>
            <a:spLocks noGrp="1"/>
          </p:cNvSpPr>
          <p:nvPr>
            <p:ph type="dt" sz="half" idx="10"/>
          </p:nvPr>
        </p:nvSpPr>
        <p:spPr/>
        <p:txBody>
          <a:bodyPr/>
          <a:lstStyle/>
          <a:p>
            <a:fld id="{B5B300EA-52D3-419C-BD7B-48C957E0231D}"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网上报名系统的领域建模</a:t>
            </a:r>
            <a:endParaRPr lang="zh-CN" altLang="en-US" dirty="0"/>
          </a:p>
        </p:txBody>
      </p:sp>
      <p:sp>
        <p:nvSpPr>
          <p:cNvPr id="4" name="文本占位符 3"/>
          <p:cNvSpPr>
            <a:spLocks noGrp="1"/>
          </p:cNvSpPr>
          <p:nvPr>
            <p:ph idx="1"/>
          </p:nvPr>
        </p:nvSpPr>
        <p:spPr>
          <a:xfrm>
            <a:off x="779672" y="1878298"/>
            <a:ext cx="7959214" cy="2637002"/>
          </a:xfrm>
          <a:prstGeom prst="rect">
            <a:avLst/>
          </a:prstGeom>
        </p:spPr>
        <p:txBody>
          <a:bodyPr>
            <a:normAutofit/>
          </a:bodyPr>
          <a:lstStyle/>
          <a:p>
            <a:pPr marL="0" indent="0">
              <a:lnSpc>
                <a:spcPct val="150000"/>
              </a:lnSpc>
              <a:buNone/>
            </a:pPr>
            <a:r>
              <a:rPr lang="en-US" altLang="zh-CN" sz="2400" dirty="0"/>
              <a:t>      </a:t>
            </a:r>
            <a:r>
              <a:rPr lang="zh-CN" altLang="zh-CN" sz="2400" dirty="0"/>
              <a:t>本阶段所绘制的类图是概念层的类图，在后期系统设计阶段我们会继续对系统进行静态数据建模，从而绘制更为详细</a:t>
            </a:r>
            <a:r>
              <a:rPr lang="zh-CN" altLang="en-US" sz="2400" dirty="0"/>
              <a:t>的</a:t>
            </a:r>
            <a:r>
              <a:rPr lang="zh-CN" altLang="zh-CN" sz="2400" dirty="0"/>
              <a:t>实现层的类图。</a:t>
            </a:r>
            <a:endParaRPr lang="zh-CN" altLang="zh-CN"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文本占位符 2"/>
          <p:cNvSpPr>
            <a:spLocks noGrp="1"/>
          </p:cNvSpPr>
          <p:nvPr>
            <p:ph type="body" sz="quarter" idx="4294967295"/>
          </p:nvPr>
        </p:nvSpPr>
        <p:spPr>
          <a:xfrm>
            <a:off x="1094321" y="987687"/>
            <a:ext cx="5173663" cy="731837"/>
          </a:xfrm>
          <a:prstGeom prst="rect">
            <a:avLst/>
          </a:prstGeom>
        </p:spPr>
        <p:txBody>
          <a:bodyPr anchor="ctr"/>
          <a:lstStyle/>
          <a:p>
            <a:pPr marL="0" indent="0">
              <a:buNone/>
            </a:pPr>
            <a:r>
              <a:rPr lang="zh-CN" altLang="zh-CN" sz="2700" b="1" dirty="0"/>
              <a:t>注意</a:t>
            </a:r>
            <a:endParaRPr lang="zh-CN" altLang="en-US" sz="2700"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类的层次</a:t>
            </a:r>
            <a:endParaRPr lang="zh-CN" altLang="en-US" dirty="0"/>
          </a:p>
        </p:txBody>
      </p:sp>
      <p:sp>
        <p:nvSpPr>
          <p:cNvPr id="3" name="文本占位符 2"/>
          <p:cNvSpPr>
            <a:spLocks noGrp="1"/>
          </p:cNvSpPr>
          <p:nvPr>
            <p:ph idx="1"/>
          </p:nvPr>
        </p:nvSpPr>
        <p:spPr/>
        <p:txBody>
          <a:bodyPr>
            <a:normAutofit/>
          </a:bodyPr>
          <a:lstStyle/>
          <a:p>
            <a:pPr>
              <a:lnSpc>
                <a:spcPct val="120000"/>
              </a:lnSpc>
            </a:pPr>
            <a:r>
              <a:rPr lang="zh-CN" altLang="en-US" sz="2000" dirty="0"/>
              <a:t>分析阶段确定的类叫做</a:t>
            </a:r>
            <a:r>
              <a:rPr lang="zh-CN" altLang="en-US" sz="2000" dirty="0">
                <a:solidFill>
                  <a:srgbClr val="FF0000"/>
                </a:solidFill>
              </a:rPr>
              <a:t>分析类</a:t>
            </a:r>
            <a:r>
              <a:rPr lang="zh-CN" altLang="en-US" sz="2000" dirty="0"/>
              <a:t>，是业务领域中的一个要素，与实现方法和技术无关。有三种不同层次的类：</a:t>
            </a:r>
            <a:endParaRPr lang="en-US" altLang="zh-CN" sz="2000" dirty="0"/>
          </a:p>
          <a:p>
            <a:pPr lvl="1">
              <a:lnSpc>
                <a:spcPct val="120000"/>
              </a:lnSpc>
            </a:pPr>
            <a:r>
              <a:rPr lang="zh-CN" altLang="en-US" sz="1800" dirty="0">
                <a:solidFill>
                  <a:srgbClr val="FF0000"/>
                </a:solidFill>
              </a:rPr>
              <a:t>实体类：</a:t>
            </a:r>
            <a:r>
              <a:rPr lang="zh-CN" altLang="en-US" sz="1800" dirty="0"/>
              <a:t>相当于业务级别的分析类。例如，图书管理系统中的读者、图书、借还书记录等。</a:t>
            </a:r>
            <a:endParaRPr lang="en-US" altLang="zh-CN" sz="1800" dirty="0"/>
          </a:p>
          <a:p>
            <a:pPr lvl="1">
              <a:lnSpc>
                <a:spcPct val="120000"/>
              </a:lnSpc>
            </a:pPr>
            <a:r>
              <a:rPr lang="zh-CN" altLang="en-US" sz="1800" dirty="0">
                <a:solidFill>
                  <a:srgbClr val="FF0000"/>
                </a:solidFill>
              </a:rPr>
              <a:t>控制类：</a:t>
            </a:r>
            <a:r>
              <a:rPr lang="zh-CN" altLang="en-US" sz="1800" dirty="0"/>
              <a:t>与业务过程相关，控制整个用例业务的流程和执行次序。</a:t>
            </a:r>
            <a:endParaRPr lang="en-US" altLang="zh-CN" sz="1800" dirty="0"/>
          </a:p>
          <a:p>
            <a:pPr lvl="1">
              <a:lnSpc>
                <a:spcPct val="120000"/>
              </a:lnSpc>
            </a:pPr>
            <a:r>
              <a:rPr lang="zh-CN" altLang="en-US" sz="1800" dirty="0">
                <a:solidFill>
                  <a:srgbClr val="FF0000"/>
                </a:solidFill>
              </a:rPr>
              <a:t>边界类：</a:t>
            </a:r>
            <a:r>
              <a:rPr lang="zh-CN" altLang="en-US" sz="1800" dirty="0"/>
              <a:t>在系统与外界之间，用于交换信息。例如，用户界面以及其他通信接口。</a:t>
            </a:r>
            <a:endParaRPr lang="en-US" altLang="zh-CN" sz="1800" dirty="0"/>
          </a:p>
          <a:p>
            <a:pPr>
              <a:lnSpc>
                <a:spcPct val="120000"/>
              </a:lnSpc>
            </a:pPr>
            <a:r>
              <a:rPr lang="zh-CN" altLang="en-US" sz="2000" dirty="0"/>
              <a:t>后两者都是面向技术实现的类，不是面向业务的，是设计模型的一部分。</a:t>
            </a:r>
            <a:endParaRPr lang="zh-CN" altLang="en-US" sz="2000" dirty="0"/>
          </a:p>
        </p:txBody>
      </p:sp>
      <p:sp>
        <p:nvSpPr>
          <p:cNvPr id="5" name="日期占位符 4"/>
          <p:cNvSpPr>
            <a:spLocks noGrp="1"/>
          </p:cNvSpPr>
          <p:nvPr>
            <p:ph type="dt" sz="half" idx="10"/>
          </p:nvPr>
        </p:nvSpPr>
        <p:spPr/>
        <p:txBody>
          <a:bodyPr/>
          <a:lstStyle/>
          <a:p>
            <a:fld id="{23EA30ED-8F20-466C-9F0C-4B0CBE30B69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文本框 8"/>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zh-CN" sz="2800" dirty="0"/>
              <a:t>在某销售系统中，客户采用扫描二维码进行支付。若采用面向对象方法开发该销售系统，则客户类属于（</a:t>
            </a:r>
            <a:r>
              <a:rPr lang="en-US" altLang="zh-CN" sz="2800" dirty="0"/>
              <a:t>  </a:t>
            </a:r>
            <a:r>
              <a:rPr lang="zh-CN" altLang="zh-CN" sz="2800" dirty="0"/>
              <a:t>）类。</a:t>
            </a:r>
            <a:endParaRPr lang="zh-CN" altLang="zh-CN" sz="2800" dirty="0"/>
          </a:p>
        </p:txBody>
      </p:sp>
      <p:sp>
        <p:nvSpPr>
          <p:cNvPr id="10" name="文本框 9"/>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接口</a:t>
            </a:r>
            <a:endParaRPr lang="zh-CN" altLang="zh-CN" sz="2800" dirty="0"/>
          </a:p>
        </p:txBody>
      </p:sp>
      <p:sp>
        <p:nvSpPr>
          <p:cNvPr id="11" name="文本框 10"/>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实体</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zh-CN" sz="2800" dirty="0"/>
              <a:t>状态</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7"/>
            </p:custDataLst>
          </p:nvPr>
        </p:nvSpPr>
        <p:spPr>
          <a:xfrm>
            <a:off x="1178719" y="2780705"/>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圆角 17"/>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B7957BD-2D48-44C5-87CD-63892DDA8DB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9" name="文本框 8"/>
          <p:cNvSpPr txBox="1"/>
          <p:nvPr>
            <p:custDataLst>
              <p:tags r:id="rId1"/>
            </p:custDataLst>
          </p:nvPr>
        </p:nvSpPr>
        <p:spPr>
          <a:xfrm>
            <a:off x="914400" y="635000"/>
            <a:ext cx="7315200" cy="1607344"/>
          </a:xfrm>
          <a:prstGeom prst="rect">
            <a:avLst/>
          </a:prstGeom>
          <a:noFill/>
        </p:spPr>
        <p:txBody>
          <a:bodyPr vert="horz" wrap="square" rtlCol="0" anchor="ctr" anchorCtr="0">
            <a:noAutofit/>
          </a:bodyPr>
          <a:lstStyle/>
          <a:p>
            <a:r>
              <a:rPr lang="zh-CN" altLang="zh-CN" sz="2800" dirty="0"/>
              <a:t>在某销售系统中，客户采用扫描二维码进行支付。若采用面向对象方法开发该销售系统，则二维码类属于（</a:t>
            </a:r>
            <a:r>
              <a:rPr lang="en-US" altLang="zh-CN" sz="2800" dirty="0"/>
              <a:t>  </a:t>
            </a:r>
            <a:r>
              <a:rPr lang="zh-CN" altLang="zh-CN" sz="2800" dirty="0"/>
              <a:t>）类。</a:t>
            </a:r>
            <a:endParaRPr lang="zh-CN" altLang="zh-CN" sz="2800" dirty="0"/>
          </a:p>
        </p:txBody>
      </p:sp>
      <p:sp>
        <p:nvSpPr>
          <p:cNvPr id="10" name="文本框 9"/>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zh-CN" sz="2800" dirty="0"/>
              <a:t>接口</a:t>
            </a:r>
            <a:endParaRPr lang="zh-CN" altLang="zh-CN" sz="2800" dirty="0"/>
          </a:p>
        </p:txBody>
      </p:sp>
      <p:sp>
        <p:nvSpPr>
          <p:cNvPr id="11" name="文本框 10"/>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zh-CN" sz="2800" dirty="0"/>
              <a:t>实体</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zh-CN" sz="2800" dirty="0"/>
              <a:t>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zh-CN" sz="2800" dirty="0"/>
              <a:t>状态</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6"/>
            </p:custDataLst>
          </p:nvPr>
        </p:nvSpPr>
        <p:spPr>
          <a:xfrm>
            <a:off x="1178719" y="2137767"/>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圆角 17"/>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1"/>
            </p:custDataLst>
          </p:nvPr>
        </p:nvGrpSpPr>
        <p:grpSpPr>
          <a:xfrm>
            <a:off x="0" y="0"/>
            <a:ext cx="9144000" cy="635000"/>
            <a:chOff x="0" y="0"/>
            <a:chExt cx="9144000" cy="635000"/>
          </a:xfrm>
        </p:grpSpPr>
        <p:sp>
          <p:nvSpPr>
            <p:cNvPr id="19"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8" name="图片 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识别类的案例</a:t>
            </a:r>
            <a:endParaRPr lang="zh-CN" altLang="en-US" dirty="0"/>
          </a:p>
        </p:txBody>
      </p:sp>
      <p:sp>
        <p:nvSpPr>
          <p:cNvPr id="3" name="文本占位符 2"/>
          <p:cNvSpPr>
            <a:spLocks noGrp="1"/>
          </p:cNvSpPr>
          <p:nvPr>
            <p:ph idx="1"/>
          </p:nvPr>
        </p:nvSpPr>
        <p:spPr>
          <a:xfrm>
            <a:off x="768097" y="925167"/>
            <a:ext cx="7832833" cy="2234722"/>
          </a:xfrm>
        </p:spPr>
        <p:txBody>
          <a:bodyPr>
            <a:normAutofit/>
          </a:bodyPr>
          <a:lstStyle/>
          <a:p>
            <a:pPr marL="0" indent="0">
              <a:buNone/>
            </a:pPr>
            <a:r>
              <a:rPr lang="zh-CN" altLang="en-US" sz="2400" dirty="0"/>
              <a:t>银行储蓄管理系统的用例模型</a:t>
            </a:r>
            <a:endParaRPr lang="zh-CN" altLang="en-US" sz="2400" dirty="0"/>
          </a:p>
        </p:txBody>
      </p:sp>
      <p:sp>
        <p:nvSpPr>
          <p:cNvPr id="5" name="日期占位符 4"/>
          <p:cNvSpPr>
            <a:spLocks noGrp="1"/>
          </p:cNvSpPr>
          <p:nvPr>
            <p:ph type="dt" sz="half" idx="10"/>
          </p:nvPr>
        </p:nvSpPr>
        <p:spPr/>
        <p:txBody>
          <a:bodyPr/>
          <a:lstStyle/>
          <a:p>
            <a:fld id="{DAD00CBD-BA61-4FFC-A958-82F9C7DCCE89}"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6" name="对象 5"/>
          <p:cNvGraphicFramePr>
            <a:graphicFrameLocks noChangeAspect="1"/>
          </p:cNvGraphicFramePr>
          <p:nvPr/>
        </p:nvGraphicFramePr>
        <p:xfrm>
          <a:off x="1575899" y="1392404"/>
          <a:ext cx="6453028" cy="3095131"/>
        </p:xfrm>
        <a:graphic>
          <a:graphicData uri="http://schemas.openxmlformats.org/presentationml/2006/ole">
            <mc:AlternateContent xmlns:mc="http://schemas.openxmlformats.org/markup-compatibility/2006">
              <mc:Choice xmlns:v="urn:schemas-microsoft-com:vml" Requires="v">
                <p:oleObj spid="_x0000_s17424" name="Visio" r:id="rId1" imgW="6072505" imgH="2494915" progId="Visio.Drawing.11">
                  <p:embed/>
                </p:oleObj>
              </mc:Choice>
              <mc:Fallback>
                <p:oleObj name="Visio" r:id="rId1" imgW="6072505" imgH="2494915" progId="Visio.Drawing.11">
                  <p:embed/>
                  <p:pic>
                    <p:nvPicPr>
                      <p:cNvPr id="0" name="图片 17423"/>
                      <p:cNvPicPr>
                        <a:picLocks noChangeAspect="1" noChangeArrowheads="1"/>
                      </p:cNvPicPr>
                      <p:nvPr/>
                    </p:nvPicPr>
                    <p:blipFill>
                      <a:blip r:embed="rId2"/>
                      <a:srcRect/>
                      <a:stretch>
                        <a:fillRect/>
                      </a:stretch>
                    </p:blipFill>
                    <p:spPr bwMode="auto">
                      <a:xfrm>
                        <a:off x="1575899" y="1392404"/>
                        <a:ext cx="6453028" cy="3095131"/>
                      </a:xfrm>
                      <a:prstGeom prst="rect">
                        <a:avLst/>
                      </a:prstGeom>
                      <a:noFill/>
                      <a:ln>
                        <a:noFill/>
                      </a:ln>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例：银行储蓄管理系统划分出的视图模型</a:t>
            </a:r>
            <a:endParaRPr lang="zh-CN" altLang="en-US" dirty="0"/>
          </a:p>
        </p:txBody>
      </p:sp>
      <p:sp>
        <p:nvSpPr>
          <p:cNvPr id="4" name="日期占位符 3"/>
          <p:cNvSpPr>
            <a:spLocks noGrp="1"/>
          </p:cNvSpPr>
          <p:nvPr>
            <p:ph type="dt" sz="half" idx="10"/>
          </p:nvPr>
        </p:nvSpPr>
        <p:spPr/>
        <p:txBody>
          <a:bodyPr/>
          <a:lstStyle/>
          <a:p>
            <a:fld id="{987A0667-3C21-4D8F-A6CA-53C158E0BE4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Group 238"/>
          <p:cNvGraphicFramePr>
            <a:graphicFrameLocks noGrp="1"/>
          </p:cNvGraphicFramePr>
          <p:nvPr/>
        </p:nvGraphicFramePr>
        <p:xfrm>
          <a:off x="1186047" y="999610"/>
          <a:ext cx="6941953" cy="3459111"/>
        </p:xfrm>
        <a:graphic>
          <a:graphicData uri="http://schemas.openxmlformats.org/drawingml/2006/table">
            <a:tbl>
              <a:tblPr>
                <a:tableStyleId>{BC89EF96-8CEA-46FF-86C4-4CE0E7609802}</a:tableStyleId>
              </a:tblPr>
              <a:tblGrid>
                <a:gridCol w="1198236"/>
                <a:gridCol w="2746500"/>
                <a:gridCol w="2997217"/>
              </a:tblGrid>
              <a:tr h="26527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用例</a:t>
                      </a:r>
                      <a:endParaRPr kumimoji="0" lang="zh-CN" altLang="en-US" sz="1800" b="0" i="0" u="none" strike="noStrike" cap="none" normalizeH="0" baseline="0" dirty="0">
                        <a:ln>
                          <a:noFill/>
                        </a:ln>
                        <a:solidFill>
                          <a:schemeClr val="tx1"/>
                        </a:solidFill>
                        <a:effectLst/>
                        <a:latin typeface="+mj-ea"/>
                        <a:ea typeface="+mj-ea"/>
                      </a:endParaRPr>
                    </a:p>
                  </a:txBody>
                  <a:tcPr marT="45714" marB="45714"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边界类</a:t>
                      </a:r>
                      <a:endParaRPr kumimoji="0" lang="zh-CN" altLang="en-US" sz="1800" b="0" i="0" u="none" strike="noStrike" cap="none" normalizeH="0" baseline="0" dirty="0">
                        <a:ln>
                          <a:noFill/>
                        </a:ln>
                        <a:solidFill>
                          <a:schemeClr val="tx1"/>
                        </a:solidFill>
                        <a:effectLst/>
                        <a:latin typeface="+mj-ea"/>
                        <a:ea typeface="+mj-ea"/>
                      </a:endParaRPr>
                    </a:p>
                  </a:txBody>
                  <a:tcPr marT="45714" marB="45714"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说 明</a:t>
                      </a:r>
                      <a:endParaRPr kumimoji="0" lang="zh-CN" altLang="en-US" sz="1800" b="0" i="0" u="none" strike="noStrike" cap="none" normalizeH="0" baseline="0" dirty="0">
                        <a:ln>
                          <a:noFill/>
                        </a:ln>
                        <a:solidFill>
                          <a:schemeClr val="tx1"/>
                        </a:solidFill>
                        <a:effectLst/>
                        <a:latin typeface="+mj-ea"/>
                        <a:ea typeface="+mj-ea"/>
                      </a:endParaRPr>
                    </a:p>
                  </a:txBody>
                  <a:tcPr marT="45714" marB="45714" horzOverflow="overflow">
                    <a:solidFill>
                      <a:schemeClr val="accent1">
                        <a:lumMod val="20000"/>
                        <a:lumOff val="80000"/>
                      </a:schemeClr>
                    </a:solidFill>
                  </a:tcPr>
                </a:tc>
              </a:tr>
              <a:tr h="34421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登录</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LoginForm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为操作员提供登录的界面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3067">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存款</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DepositForm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为储户存款操作界面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421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取款</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DrawingForm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为储户取款操作界面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3067">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转账</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ChequeForm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为储户转账操作界面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421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账单查询 </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CheckaccountsForm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为储户进行帐面查询界面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3067">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开户</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Open depositor Form </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为储户开户界面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421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销户</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Close depositor 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为储户销户界面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3067">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储户更新</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Updates depositor Form </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为储户更新账户信息界面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r>
              <a:tr h="34421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储户查询</a:t>
                      </a:r>
                      <a:endParaRPr kumimoji="0" lang="zh-CN" altLang="en-US"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Query depositor Form</a:t>
                      </a:r>
                      <a:endParaRPr kumimoji="0" lang="en-US" altLang="zh-CN" sz="1600" b="0" i="0" u="none" strike="noStrike" cap="none" normalizeH="0" baseline="0">
                        <a:ln>
                          <a:noFill/>
                        </a:ln>
                        <a:solidFill>
                          <a:schemeClr val="tx1"/>
                        </a:solidFill>
                        <a:effectLst/>
                        <a:latin typeface="+mj-ea"/>
                        <a:ea typeface="+mj-ea"/>
                      </a:endParaRPr>
                    </a:p>
                  </a:txBody>
                  <a:tcPr marT="45714" marB="45714"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业务员查询储户信息</a:t>
                      </a:r>
                      <a:endParaRPr kumimoji="0" lang="zh-CN" altLang="en-US" sz="1600" b="0" i="0" u="none" strike="noStrike" cap="none" normalizeH="0" baseline="0" dirty="0">
                        <a:ln>
                          <a:noFill/>
                        </a:ln>
                        <a:solidFill>
                          <a:schemeClr val="tx1"/>
                        </a:solidFill>
                        <a:effectLst/>
                        <a:latin typeface="+mj-ea"/>
                        <a:ea typeface="+mj-ea"/>
                      </a:endParaRPr>
                    </a:p>
                  </a:txBody>
                  <a:tcPr marT="45714" marB="45714" horzOverflow="overflow">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银行储蓄管理系统划分出的逻辑模型</a:t>
            </a:r>
            <a:endParaRPr lang="zh-CN" altLang="en-US" dirty="0"/>
          </a:p>
        </p:txBody>
      </p:sp>
      <p:sp>
        <p:nvSpPr>
          <p:cNvPr id="4" name="日期占位符 3"/>
          <p:cNvSpPr>
            <a:spLocks noGrp="1"/>
          </p:cNvSpPr>
          <p:nvPr>
            <p:ph type="dt" sz="half" idx="10"/>
          </p:nvPr>
        </p:nvSpPr>
        <p:spPr/>
        <p:txBody>
          <a:bodyPr/>
          <a:lstStyle/>
          <a:p>
            <a:fld id="{76E70353-D501-4740-9D30-3790408B7DD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Group 258"/>
          <p:cNvGraphicFramePr>
            <a:graphicFrameLocks noGrp="1"/>
          </p:cNvGraphicFramePr>
          <p:nvPr/>
        </p:nvGraphicFramePr>
        <p:xfrm>
          <a:off x="729195" y="710154"/>
          <a:ext cx="8129055" cy="4328160"/>
        </p:xfrm>
        <a:graphic>
          <a:graphicData uri="http://schemas.openxmlformats.org/drawingml/2006/table">
            <a:tbl>
              <a:tblPr>
                <a:tableStyleId>{5DA37D80-6434-44D0-A028-1B22A696006F}</a:tableStyleId>
              </a:tblPr>
              <a:tblGrid>
                <a:gridCol w="1081103"/>
                <a:gridCol w="2749827"/>
                <a:gridCol w="4298125"/>
              </a:tblGrid>
              <a:tr h="2615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用例</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逻辑类</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说 明</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accent1">
                        <a:lumMod val="20000"/>
                        <a:lumOff val="80000"/>
                      </a:schemeClr>
                    </a:solidFill>
                  </a:tcPr>
                </a:tc>
              </a:tr>
              <a:tr h="2615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登录</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Login _Operation</a:t>
                      </a:r>
                      <a:endParaRPr kumimoji="0" lang="en-US" altLang="zh-CN" sz="1600" b="0" i="0" u="none" strike="noStrike" cap="none" normalizeH="0" baseline="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操作员身份验证</a:t>
                      </a:r>
                      <a:endParaRPr kumimoji="0" lang="zh-CN" altLang="en-US" sz="1600" b="0" i="0" u="none" strike="noStrike" cap="none" normalizeH="0" baseline="0">
                        <a:ln>
                          <a:noFill/>
                        </a:ln>
                        <a:solidFill>
                          <a:schemeClr val="tx1"/>
                        </a:solidFill>
                        <a:effectLst/>
                        <a:latin typeface="+mj-ea"/>
                        <a:ea typeface="+mj-ea"/>
                      </a:endParaRPr>
                    </a:p>
                  </a:txBody>
                  <a:tcPr horzOverflow="overflow">
                    <a:solidFill>
                      <a:schemeClr val="bg1"/>
                    </a:solidFill>
                  </a:tcPr>
                </a:tc>
              </a:tr>
              <a:tr h="2615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存款</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err="1">
                          <a:ln>
                            <a:noFill/>
                          </a:ln>
                          <a:effectLst/>
                          <a:latin typeface="+mj-ea"/>
                          <a:ea typeface="+mj-ea"/>
                        </a:rPr>
                        <a:t>Deposit_Operation</a:t>
                      </a:r>
                      <a:endParaRPr kumimoji="0" lang="en-US" altLang="zh-CN"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为储户存款，</a:t>
                      </a:r>
                      <a:r>
                        <a:rPr kumimoji="0" lang="en-US" altLang="zh-CN" sz="1600" u="none" strike="noStrike" cap="none" normalizeH="0" baseline="0" dirty="0" err="1">
                          <a:ln>
                            <a:noFill/>
                          </a:ln>
                          <a:effectLst/>
                          <a:latin typeface="+mj-ea"/>
                          <a:ea typeface="+mj-ea"/>
                        </a:rPr>
                        <a:t>UpDate</a:t>
                      </a:r>
                      <a:r>
                        <a:rPr kumimoji="0" lang="zh-CN" altLang="en-US" sz="1600" u="none" strike="noStrike" cap="none" normalizeH="0" baseline="0" dirty="0">
                          <a:ln>
                            <a:noFill/>
                          </a:ln>
                          <a:effectLst/>
                          <a:latin typeface="+mj-ea"/>
                          <a:ea typeface="+mj-ea"/>
                        </a:rPr>
                        <a:t>储户</a:t>
                      </a:r>
                      <a:r>
                        <a:rPr kumimoji="0" lang="en-US" altLang="zh-CN" sz="1600" u="none" strike="noStrike" cap="none" normalizeH="0" baseline="0" dirty="0">
                          <a:ln>
                            <a:noFill/>
                          </a:ln>
                          <a:effectLst/>
                          <a:latin typeface="+mj-ea"/>
                          <a:ea typeface="+mj-ea"/>
                        </a:rPr>
                        <a:t>Account</a:t>
                      </a:r>
                      <a:r>
                        <a:rPr kumimoji="0" lang="zh-CN" altLang="en-US" sz="1600" u="none" strike="noStrike" cap="none" normalizeH="0" baseline="0" dirty="0">
                          <a:ln>
                            <a:noFill/>
                          </a:ln>
                          <a:effectLst/>
                          <a:latin typeface="+mj-ea"/>
                          <a:ea typeface="+mj-ea"/>
                        </a:rPr>
                        <a:t>余额</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bg1"/>
                    </a:solidFill>
                  </a:tcPr>
                </a:tc>
              </a:tr>
              <a:tr h="2615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取款</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err="1">
                          <a:ln>
                            <a:noFill/>
                          </a:ln>
                          <a:effectLst/>
                          <a:latin typeface="+mj-ea"/>
                          <a:ea typeface="+mj-ea"/>
                        </a:rPr>
                        <a:t>Drawing_Operation</a:t>
                      </a:r>
                      <a:endParaRPr kumimoji="0" lang="en-US" altLang="zh-CN"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为储户取款，</a:t>
                      </a:r>
                      <a:r>
                        <a:rPr kumimoji="0" lang="en-US" altLang="zh-CN" sz="1600" u="none" strike="noStrike" cap="none" normalizeH="0" baseline="0">
                          <a:ln>
                            <a:noFill/>
                          </a:ln>
                          <a:effectLst/>
                          <a:latin typeface="+mj-ea"/>
                          <a:ea typeface="+mj-ea"/>
                        </a:rPr>
                        <a:t>UpDate</a:t>
                      </a:r>
                      <a:r>
                        <a:rPr kumimoji="0" lang="zh-CN" altLang="en-US" sz="1600" u="none" strike="noStrike" cap="none" normalizeH="0" baseline="0">
                          <a:ln>
                            <a:noFill/>
                          </a:ln>
                          <a:effectLst/>
                          <a:latin typeface="+mj-ea"/>
                          <a:ea typeface="+mj-ea"/>
                        </a:rPr>
                        <a:t>储户</a:t>
                      </a:r>
                      <a:r>
                        <a:rPr kumimoji="0" lang="en-US" altLang="zh-CN" sz="1600" u="none" strike="noStrike" cap="none" normalizeH="0" baseline="0">
                          <a:ln>
                            <a:noFill/>
                          </a:ln>
                          <a:effectLst/>
                          <a:latin typeface="+mj-ea"/>
                          <a:ea typeface="+mj-ea"/>
                        </a:rPr>
                        <a:t>Account</a:t>
                      </a:r>
                      <a:r>
                        <a:rPr kumimoji="0" lang="zh-CN" altLang="en-US" sz="1600" u="none" strike="noStrike" cap="none" normalizeH="0" baseline="0">
                          <a:ln>
                            <a:noFill/>
                          </a:ln>
                          <a:effectLst/>
                          <a:latin typeface="+mj-ea"/>
                          <a:ea typeface="+mj-ea"/>
                        </a:rPr>
                        <a:t>余额</a:t>
                      </a:r>
                      <a:endParaRPr kumimoji="0" lang="zh-CN" altLang="en-US" sz="1600" b="0" i="0" u="none" strike="noStrike" cap="none" normalizeH="0" baseline="0">
                        <a:ln>
                          <a:noFill/>
                        </a:ln>
                        <a:solidFill>
                          <a:schemeClr val="tx1"/>
                        </a:solidFill>
                        <a:effectLst/>
                        <a:latin typeface="+mj-ea"/>
                        <a:ea typeface="+mj-ea"/>
                      </a:endParaRPr>
                    </a:p>
                  </a:txBody>
                  <a:tcPr horzOverflow="overflow">
                    <a:solidFill>
                      <a:schemeClr val="bg1"/>
                    </a:solidFill>
                  </a:tcPr>
                </a:tc>
              </a:tr>
              <a:tr h="2615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转账</a:t>
                      </a:r>
                      <a:endParaRPr kumimoji="0" lang="zh-CN" altLang="en-US" sz="1600" b="0" i="0" u="none" strike="noStrike" cap="none" normalizeH="0" baseline="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err="1">
                          <a:ln>
                            <a:noFill/>
                          </a:ln>
                          <a:effectLst/>
                          <a:latin typeface="+mj-ea"/>
                          <a:ea typeface="+mj-ea"/>
                        </a:rPr>
                        <a:t>Cheque_Operation</a:t>
                      </a:r>
                      <a:endParaRPr kumimoji="0" lang="en-US" altLang="zh-CN"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为储户转账，</a:t>
                      </a:r>
                      <a:r>
                        <a:rPr kumimoji="0" lang="en-US" altLang="zh-CN" sz="1600" u="none" strike="noStrike" cap="none" normalizeH="0" baseline="0">
                          <a:ln>
                            <a:noFill/>
                          </a:ln>
                          <a:effectLst/>
                          <a:latin typeface="+mj-ea"/>
                          <a:ea typeface="+mj-ea"/>
                        </a:rPr>
                        <a:t>UpDate</a:t>
                      </a:r>
                      <a:r>
                        <a:rPr kumimoji="0" lang="zh-CN" altLang="en-US" sz="1600" u="none" strike="noStrike" cap="none" normalizeH="0" baseline="0">
                          <a:ln>
                            <a:noFill/>
                          </a:ln>
                          <a:effectLst/>
                          <a:latin typeface="+mj-ea"/>
                          <a:ea typeface="+mj-ea"/>
                        </a:rPr>
                        <a:t>储户</a:t>
                      </a:r>
                      <a:r>
                        <a:rPr kumimoji="0" lang="en-US" altLang="zh-CN" sz="1600" u="none" strike="noStrike" cap="none" normalizeH="0" baseline="0">
                          <a:ln>
                            <a:noFill/>
                          </a:ln>
                          <a:effectLst/>
                          <a:latin typeface="+mj-ea"/>
                          <a:ea typeface="+mj-ea"/>
                        </a:rPr>
                        <a:t>Account</a:t>
                      </a:r>
                      <a:r>
                        <a:rPr kumimoji="0" lang="zh-CN" altLang="en-US" sz="1600" u="none" strike="noStrike" cap="none" normalizeH="0" baseline="0">
                          <a:ln>
                            <a:noFill/>
                          </a:ln>
                          <a:effectLst/>
                          <a:latin typeface="+mj-ea"/>
                          <a:ea typeface="+mj-ea"/>
                        </a:rPr>
                        <a:t>余额</a:t>
                      </a:r>
                      <a:endParaRPr kumimoji="0" lang="zh-CN" altLang="en-US" sz="1600" b="0" i="0" u="none" strike="noStrike" cap="none" normalizeH="0" baseline="0">
                        <a:ln>
                          <a:noFill/>
                        </a:ln>
                        <a:solidFill>
                          <a:schemeClr val="tx1"/>
                        </a:solidFill>
                        <a:effectLst/>
                        <a:latin typeface="+mj-ea"/>
                        <a:ea typeface="+mj-ea"/>
                      </a:endParaRPr>
                    </a:p>
                  </a:txBody>
                  <a:tcPr horzOverflow="overflow">
                    <a:solidFill>
                      <a:schemeClr val="bg1"/>
                    </a:solidFill>
                  </a:tcPr>
                </a:tc>
              </a:tr>
              <a:tr h="26150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账单查询 </a:t>
                      </a:r>
                      <a:endParaRPr kumimoji="0" lang="zh-CN" altLang="en-US" sz="1600" b="0" i="0" u="none" strike="noStrike" cap="none" normalizeH="0" baseline="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err="1">
                          <a:ln>
                            <a:noFill/>
                          </a:ln>
                          <a:effectLst/>
                          <a:latin typeface="+mj-ea"/>
                          <a:ea typeface="+mj-ea"/>
                        </a:rPr>
                        <a:t>Checkaccounts_Operation</a:t>
                      </a:r>
                      <a:endParaRPr kumimoji="0" lang="en-US" altLang="zh-CN" sz="1600" b="0" i="0" u="none" strike="noStrike" cap="none" normalizeH="0" baseline="0" dirty="0">
                        <a:ln>
                          <a:noFill/>
                        </a:ln>
                        <a:solidFill>
                          <a:schemeClr val="tx1"/>
                        </a:solidFill>
                        <a:effectLst/>
                        <a:latin typeface="+mj-ea"/>
                        <a:ea typeface="+mj-ea"/>
                      </a:endParaRPr>
                    </a:p>
                  </a:txBody>
                  <a:tcP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为储户查询账面，</a:t>
                      </a:r>
                      <a:r>
                        <a:rPr kumimoji="0" lang="en-US" altLang="zh-CN" sz="1600" u="none" strike="noStrike" cap="none" normalizeH="0" baseline="0" dirty="0">
                          <a:ln>
                            <a:noFill/>
                          </a:ln>
                          <a:effectLst/>
                          <a:latin typeface="+mj-ea"/>
                          <a:ea typeface="+mj-ea"/>
                        </a:rPr>
                        <a:t>Query</a:t>
                      </a:r>
                      <a:r>
                        <a:rPr kumimoji="0" lang="zh-CN" altLang="en-US" sz="1600" u="none" strike="noStrike" cap="none" normalizeH="0" baseline="0" dirty="0">
                          <a:ln>
                            <a:noFill/>
                          </a:ln>
                          <a:effectLst/>
                          <a:latin typeface="+mj-ea"/>
                          <a:ea typeface="+mj-ea"/>
                        </a:rPr>
                        <a:t>储户</a:t>
                      </a:r>
                      <a:r>
                        <a:rPr kumimoji="0" lang="en-US" altLang="zh-CN" sz="1600" u="none" strike="noStrike" cap="none" normalizeH="0" baseline="0" dirty="0">
                          <a:ln>
                            <a:noFill/>
                          </a:ln>
                          <a:effectLst/>
                          <a:latin typeface="+mj-ea"/>
                          <a:ea typeface="+mj-ea"/>
                        </a:rPr>
                        <a:t>Account</a:t>
                      </a:r>
                      <a:r>
                        <a:rPr kumimoji="0" lang="zh-CN" altLang="en-US" sz="1600" u="none" strike="noStrike" cap="none" normalizeH="0" baseline="0" dirty="0">
                          <a:ln>
                            <a:noFill/>
                          </a:ln>
                          <a:effectLst/>
                          <a:latin typeface="+mj-ea"/>
                          <a:ea typeface="+mj-ea"/>
                        </a:rPr>
                        <a:t>信息</a:t>
                      </a:r>
                      <a:endParaRPr kumimoji="0" lang="zh-CN" altLang="en-US" sz="1600" b="0" i="0" u="none" strike="noStrike" cap="none" normalizeH="0" baseline="0" dirty="0">
                        <a:ln>
                          <a:noFill/>
                        </a:ln>
                        <a:solidFill>
                          <a:schemeClr val="tx1"/>
                        </a:solidFill>
                        <a:effectLst/>
                        <a:latin typeface="+mj-ea"/>
                        <a:ea typeface="+mj-ea"/>
                      </a:endParaRPr>
                    </a:p>
                  </a:txBody>
                  <a:tcPr horzOverflow="overflow">
                    <a:solidFill>
                      <a:schemeClr val="bg1"/>
                    </a:solidFill>
                  </a:tcPr>
                </a:tc>
              </a:tr>
              <a:tr h="344390">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开户</a:t>
                      </a:r>
                      <a:endParaRPr kumimoji="0" lang="zh-CN" altLang="en-US"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Open depositor_Operation</a:t>
                      </a:r>
                      <a:endParaRPr kumimoji="0" lang="en-US" altLang="zh-CN"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创建新储户，向</a:t>
                      </a:r>
                      <a:r>
                        <a:rPr kumimoji="0" lang="en-US" altLang="zh-CN" sz="1600" u="none" strike="noStrike" cap="none" normalizeH="0" baseline="0" dirty="0">
                          <a:ln>
                            <a:noFill/>
                          </a:ln>
                          <a:effectLst/>
                          <a:latin typeface="+mj-ea"/>
                          <a:ea typeface="+mj-ea"/>
                        </a:rPr>
                        <a:t>Depositor</a:t>
                      </a:r>
                      <a:r>
                        <a:rPr kumimoji="0" lang="zh-CN" altLang="en-US" sz="1600" u="none" strike="noStrike" cap="none" normalizeH="0" baseline="0" dirty="0">
                          <a:ln>
                            <a:noFill/>
                          </a:ln>
                          <a:effectLst/>
                          <a:latin typeface="+mj-ea"/>
                          <a:ea typeface="+mj-ea"/>
                        </a:rPr>
                        <a:t>实体 </a:t>
                      </a:r>
                      <a:r>
                        <a:rPr kumimoji="0" lang="en-US" altLang="zh-CN" sz="1600" u="none" strike="noStrike" cap="none" normalizeH="0" baseline="0" dirty="0">
                          <a:ln>
                            <a:noFill/>
                          </a:ln>
                          <a:effectLst/>
                          <a:latin typeface="+mj-ea"/>
                          <a:ea typeface="+mj-ea"/>
                        </a:rPr>
                        <a:t>Insert</a:t>
                      </a:r>
                      <a:r>
                        <a:rPr kumimoji="0" lang="zh-CN" altLang="en-US" sz="1600" u="none" strike="noStrike" cap="none" normalizeH="0" baseline="0" dirty="0">
                          <a:ln>
                            <a:noFill/>
                          </a:ln>
                          <a:effectLst/>
                          <a:latin typeface="+mj-ea"/>
                          <a:ea typeface="+mj-ea"/>
                        </a:rPr>
                        <a:t>新户</a:t>
                      </a:r>
                      <a:endParaRPr kumimoji="0" lang="zh-CN" altLang="en-US"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r>
              <a:tr h="344390">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销户</a:t>
                      </a:r>
                      <a:endParaRPr kumimoji="0" lang="zh-CN" altLang="en-US"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Close </a:t>
                      </a:r>
                      <a:r>
                        <a:rPr kumimoji="0" lang="en-US" altLang="zh-CN" sz="1600" u="none" strike="noStrike" cap="none" normalizeH="0" baseline="0" dirty="0" err="1">
                          <a:ln>
                            <a:noFill/>
                          </a:ln>
                          <a:effectLst/>
                          <a:latin typeface="+mj-ea"/>
                          <a:ea typeface="+mj-ea"/>
                        </a:rPr>
                        <a:t>depositor_Operation</a:t>
                      </a:r>
                      <a:endParaRPr kumimoji="0" lang="en-US" altLang="zh-CN"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删除储户，在</a:t>
                      </a:r>
                      <a:r>
                        <a:rPr kumimoji="0" lang="en-US" altLang="zh-CN" sz="1600" u="none" strike="noStrike" cap="none" normalizeH="0" baseline="0" dirty="0">
                          <a:ln>
                            <a:noFill/>
                          </a:ln>
                          <a:effectLst/>
                          <a:latin typeface="+mj-ea"/>
                          <a:ea typeface="+mj-ea"/>
                        </a:rPr>
                        <a:t>Depositor</a:t>
                      </a:r>
                      <a:r>
                        <a:rPr kumimoji="0" lang="zh-CN" altLang="en-US" sz="1600" u="none" strike="noStrike" cap="none" normalizeH="0" baseline="0" dirty="0">
                          <a:ln>
                            <a:noFill/>
                          </a:ln>
                          <a:effectLst/>
                          <a:latin typeface="+mj-ea"/>
                          <a:ea typeface="+mj-ea"/>
                        </a:rPr>
                        <a:t>实体 </a:t>
                      </a:r>
                      <a:r>
                        <a:rPr kumimoji="0" lang="en-US" altLang="zh-CN" sz="1600" u="none" strike="noStrike" cap="none" normalizeH="0" baseline="0" dirty="0">
                          <a:ln>
                            <a:noFill/>
                          </a:ln>
                          <a:effectLst/>
                          <a:latin typeface="+mj-ea"/>
                          <a:ea typeface="+mj-ea"/>
                        </a:rPr>
                        <a:t>Delete</a:t>
                      </a:r>
                      <a:r>
                        <a:rPr kumimoji="0" lang="zh-CN" altLang="en-US" sz="1600" u="none" strike="noStrike" cap="none" normalizeH="0" baseline="0" dirty="0">
                          <a:ln>
                            <a:noFill/>
                          </a:ln>
                          <a:effectLst/>
                          <a:latin typeface="+mj-ea"/>
                          <a:ea typeface="+mj-ea"/>
                        </a:rPr>
                        <a:t>一个储户</a:t>
                      </a:r>
                      <a:endParaRPr kumimoji="0" lang="zh-CN" altLang="en-US"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r>
              <a:tr h="451692">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储户更新</a:t>
                      </a:r>
                      <a:endParaRPr kumimoji="0" lang="zh-CN" altLang="en-US"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Updates depositor_Operation</a:t>
                      </a:r>
                      <a:endParaRPr kumimoji="0" lang="en-US" altLang="zh-CN"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更细储户信息，</a:t>
                      </a:r>
                      <a:r>
                        <a:rPr kumimoji="0" lang="en-US" altLang="zh-CN" sz="1600" u="none" strike="noStrike" cap="none" normalizeH="0" baseline="0" dirty="0" err="1">
                          <a:ln>
                            <a:noFill/>
                          </a:ln>
                          <a:effectLst/>
                          <a:latin typeface="+mj-ea"/>
                          <a:ea typeface="+mj-ea"/>
                        </a:rPr>
                        <a:t>UpDate</a:t>
                      </a:r>
                      <a:r>
                        <a:rPr kumimoji="0" lang="zh-CN" altLang="en-US" sz="1600" u="none" strike="noStrike" cap="none" normalizeH="0" baseline="0" dirty="0">
                          <a:ln>
                            <a:noFill/>
                          </a:ln>
                          <a:effectLst/>
                          <a:latin typeface="+mj-ea"/>
                          <a:ea typeface="+mj-ea"/>
                        </a:rPr>
                        <a:t>储户</a:t>
                      </a:r>
                      <a:r>
                        <a:rPr kumimoji="0" lang="en-US" altLang="zh-CN" sz="1600" u="none" strike="noStrike" cap="none" normalizeH="0" baseline="0" dirty="0">
                          <a:ln>
                            <a:noFill/>
                          </a:ln>
                          <a:effectLst/>
                          <a:latin typeface="+mj-ea"/>
                          <a:ea typeface="+mj-ea"/>
                        </a:rPr>
                        <a:t>Depositor</a:t>
                      </a:r>
                      <a:endParaRPr kumimoji="0" lang="en-US" altLang="zh-CN"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r>
              <a:tr h="451692">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储户查询</a:t>
                      </a:r>
                      <a:endParaRPr kumimoji="0" lang="zh-CN" altLang="en-US"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Query depositor_Operation</a:t>
                      </a:r>
                      <a:endParaRPr kumimoji="0" lang="en-US" altLang="zh-CN" sz="1600" b="0" i="0" u="none" strike="noStrike" cap="none" normalizeH="0" baseline="0">
                        <a:ln>
                          <a:noFill/>
                        </a:ln>
                        <a:solidFill>
                          <a:schemeClr val="tx1"/>
                        </a:solidFill>
                        <a:effectLst/>
                        <a:latin typeface="+mj-ea"/>
                        <a:ea typeface="+mj-ea"/>
                      </a:endParaRPr>
                    </a:p>
                  </a:txBody>
                  <a:tcPr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查询储户</a:t>
                      </a:r>
                      <a:r>
                        <a:rPr kumimoji="0" lang="en-US" altLang="zh-CN" sz="1600" u="none" strike="noStrike" cap="none" normalizeH="0" baseline="0" dirty="0">
                          <a:ln>
                            <a:noFill/>
                          </a:ln>
                          <a:effectLst/>
                          <a:latin typeface="+mj-ea"/>
                          <a:ea typeface="+mj-ea"/>
                        </a:rPr>
                        <a:t>Depositor</a:t>
                      </a:r>
                      <a:r>
                        <a:rPr kumimoji="0" lang="zh-CN" altLang="en-US" sz="1600" u="none" strike="noStrike" cap="none" normalizeH="0" baseline="0" dirty="0">
                          <a:ln>
                            <a:noFill/>
                          </a:ln>
                          <a:effectLst/>
                          <a:latin typeface="+mj-ea"/>
                          <a:ea typeface="+mj-ea"/>
                        </a:rPr>
                        <a:t>信息</a:t>
                      </a:r>
                      <a:endParaRPr kumimoji="0" lang="zh-CN" altLang="en-US" sz="1600" b="0" i="0" u="none" strike="noStrike" cap="none" normalizeH="0" baseline="0" dirty="0">
                        <a:ln>
                          <a:noFill/>
                        </a:ln>
                        <a:solidFill>
                          <a:schemeClr val="tx1"/>
                        </a:solidFill>
                        <a:effectLst/>
                        <a:latin typeface="+mj-ea"/>
                        <a:ea typeface="+mj-ea"/>
                      </a:endParaRPr>
                    </a:p>
                  </a:txBody>
                  <a:tcPr anchor="ctr" horzOverflow="overflow">
                    <a:solidFill>
                      <a:schemeClr val="bg1"/>
                    </a:solidFill>
                  </a:tcP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银行储蓄管理系统划分出的实体模型</a:t>
            </a:r>
            <a:endParaRPr lang="zh-CN" altLang="en-US" dirty="0"/>
          </a:p>
        </p:txBody>
      </p:sp>
      <p:sp>
        <p:nvSpPr>
          <p:cNvPr id="4" name="日期占位符 3"/>
          <p:cNvSpPr>
            <a:spLocks noGrp="1"/>
          </p:cNvSpPr>
          <p:nvPr>
            <p:ph type="dt" sz="half" idx="10"/>
          </p:nvPr>
        </p:nvSpPr>
        <p:spPr/>
        <p:txBody>
          <a:bodyPr/>
          <a:lstStyle/>
          <a:p>
            <a:fld id="{3639B807-33AE-489C-810A-86487702D48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Group 165"/>
          <p:cNvGraphicFramePr>
            <a:graphicFrameLocks noGrp="1"/>
          </p:cNvGraphicFramePr>
          <p:nvPr>
            <p:custDataLst>
              <p:tags r:id="rId1"/>
            </p:custDataLst>
          </p:nvPr>
        </p:nvGraphicFramePr>
        <p:xfrm>
          <a:off x="891251" y="1743754"/>
          <a:ext cx="7408529" cy="2388407"/>
        </p:xfrm>
        <a:graphic>
          <a:graphicData uri="http://schemas.openxmlformats.org/drawingml/2006/table">
            <a:tbl>
              <a:tblPr>
                <a:tableStyleId>{5DA37D80-6434-44D0-A028-1B22A696006F}</a:tableStyleId>
              </a:tblPr>
              <a:tblGrid>
                <a:gridCol w="1091765"/>
                <a:gridCol w="1643665"/>
                <a:gridCol w="4673099"/>
              </a:tblGrid>
              <a:tr h="39806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用例</a:t>
                      </a:r>
                      <a:endParaRPr kumimoji="0" lang="zh-CN" altLang="en-US" sz="1800" b="0" i="0" u="none" strike="noStrike" cap="none" normalizeH="0" baseline="0" dirty="0">
                        <a:ln>
                          <a:noFill/>
                        </a:ln>
                        <a:solidFill>
                          <a:schemeClr val="tx1"/>
                        </a:solidFill>
                        <a:effectLst/>
                        <a:latin typeface="+mj-ea"/>
                        <a:ea typeface="+mj-ea"/>
                      </a:endParaRPr>
                    </a:p>
                  </a:txBody>
                  <a:tcPr marT="45707" marB="45707"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实体类</a:t>
                      </a:r>
                      <a:endParaRPr kumimoji="0" lang="zh-CN" altLang="en-US" sz="1800" b="0" i="0" u="none" strike="noStrike" cap="none" normalizeH="0" baseline="0" dirty="0">
                        <a:ln>
                          <a:noFill/>
                        </a:ln>
                        <a:solidFill>
                          <a:schemeClr val="tx1"/>
                        </a:solidFill>
                        <a:effectLst/>
                        <a:latin typeface="+mj-ea"/>
                        <a:ea typeface="+mj-ea"/>
                      </a:endParaRPr>
                    </a:p>
                  </a:txBody>
                  <a:tcPr marT="45707" marB="45707" horzOverflow="overflow">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说 明</a:t>
                      </a:r>
                      <a:endParaRPr kumimoji="0" lang="zh-CN" altLang="en-US" sz="1800" b="0" i="0" u="none" strike="noStrike" cap="none" normalizeH="0" baseline="0" dirty="0">
                        <a:ln>
                          <a:noFill/>
                        </a:ln>
                        <a:solidFill>
                          <a:schemeClr val="tx1"/>
                        </a:solidFill>
                        <a:effectLst/>
                        <a:latin typeface="+mj-ea"/>
                        <a:ea typeface="+mj-ea"/>
                      </a:endParaRPr>
                    </a:p>
                  </a:txBody>
                  <a:tcPr marT="45707" marB="45707" horzOverflow="overflow">
                    <a:solidFill>
                      <a:schemeClr val="accent1">
                        <a:lumMod val="20000"/>
                        <a:lumOff val="80000"/>
                      </a:schemeClr>
                    </a:solidFill>
                  </a:tcPr>
                </a:tc>
              </a:tr>
              <a:tr h="36488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登录</a:t>
                      </a:r>
                      <a:endParaRPr kumimoji="0" lang="zh-CN" altLang="en-US"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a:ln>
                            <a:noFill/>
                          </a:ln>
                          <a:effectLst/>
                          <a:latin typeface="+mj-ea"/>
                          <a:ea typeface="+mj-ea"/>
                        </a:rPr>
                        <a:t>Operator</a:t>
                      </a:r>
                      <a:endParaRPr kumimoji="0" lang="en-US" altLang="zh-CN" sz="1600" b="0" i="0" u="none" strike="noStrike" cap="none" normalizeH="0" baseline="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操作员身份，</a:t>
                      </a:r>
                      <a:r>
                        <a:rPr kumimoji="0" lang="en-US" altLang="zh-CN" sz="1600" u="none" strike="noStrike" cap="none" normalizeH="0" baseline="0">
                          <a:ln>
                            <a:noFill/>
                          </a:ln>
                          <a:effectLst/>
                          <a:latin typeface="+mj-ea"/>
                          <a:ea typeface="+mj-ea"/>
                        </a:rPr>
                        <a:t>ID</a:t>
                      </a:r>
                      <a:r>
                        <a:rPr kumimoji="0" lang="zh-CN" altLang="en-US" sz="1600" u="none" strike="noStrike" cap="none" normalizeH="0" baseline="0">
                          <a:ln>
                            <a:noFill/>
                          </a:ln>
                          <a:effectLst/>
                          <a:latin typeface="+mj-ea"/>
                          <a:ea typeface="+mj-ea"/>
                        </a:rPr>
                        <a:t>、</a:t>
                      </a:r>
                      <a:r>
                        <a:rPr kumimoji="0" lang="en-US" altLang="zh-CN" sz="1600" u="none" strike="noStrike" cap="none" normalizeH="0" baseline="0">
                          <a:ln>
                            <a:noFill/>
                          </a:ln>
                          <a:effectLst/>
                          <a:latin typeface="+mj-ea"/>
                          <a:ea typeface="+mj-ea"/>
                        </a:rPr>
                        <a:t>Name</a:t>
                      </a:r>
                      <a:r>
                        <a:rPr kumimoji="0" lang="zh-CN" altLang="en-US" sz="1600" u="none" strike="noStrike" cap="none" normalizeH="0" baseline="0">
                          <a:ln>
                            <a:noFill/>
                          </a:ln>
                          <a:effectLst/>
                          <a:latin typeface="+mj-ea"/>
                          <a:ea typeface="+mj-ea"/>
                        </a:rPr>
                        <a:t>、</a:t>
                      </a:r>
                      <a:r>
                        <a:rPr kumimoji="0" lang="en-US" altLang="zh-CN" sz="1600" u="none" strike="noStrike" cap="none" normalizeH="0" baseline="0">
                          <a:ln>
                            <a:noFill/>
                          </a:ln>
                          <a:effectLst/>
                          <a:latin typeface="+mj-ea"/>
                          <a:ea typeface="+mj-ea"/>
                        </a:rPr>
                        <a:t>PassWord</a:t>
                      </a:r>
                      <a:r>
                        <a:rPr kumimoji="0" lang="zh-CN" altLang="en-US" sz="1600" u="none" strike="noStrike" cap="none" normalizeH="0" baseline="0">
                          <a:ln>
                            <a:noFill/>
                          </a:ln>
                          <a:effectLst/>
                          <a:latin typeface="+mj-ea"/>
                          <a:ea typeface="+mj-ea"/>
                        </a:rPr>
                        <a:t>等信息</a:t>
                      </a:r>
                      <a:endParaRPr kumimoji="0" lang="zh-CN" altLang="en-US" sz="1600" b="0" i="0" u="none" strike="noStrike" cap="none" normalizeH="0" baseline="0">
                        <a:ln>
                          <a:noFill/>
                        </a:ln>
                        <a:solidFill>
                          <a:schemeClr val="tx1"/>
                        </a:solidFill>
                        <a:effectLst/>
                        <a:latin typeface="+mj-ea"/>
                        <a:ea typeface="+mj-ea"/>
                      </a:endParaRPr>
                    </a:p>
                  </a:txBody>
                  <a:tcPr marT="45707" marB="45707" anchor="ctr" horzOverflow="overflow">
                    <a:solidFill>
                      <a:schemeClr val="bg1"/>
                    </a:solidFill>
                  </a:tcPr>
                </a:tc>
              </a:tr>
              <a:tr h="63028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储户管理</a:t>
                      </a:r>
                      <a:endParaRPr kumimoji="0" lang="zh-CN" altLang="en-US"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Depositor</a:t>
                      </a:r>
                      <a:endParaRPr kumimoji="0" lang="en-US" altLang="zh-CN"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储户信息，</a:t>
                      </a:r>
                      <a:r>
                        <a:rPr kumimoji="0" lang="en-US" altLang="zh-CN" sz="1600" u="none" strike="noStrike" cap="none" normalizeH="0" baseline="0" dirty="0">
                          <a:ln>
                            <a:noFill/>
                          </a:ln>
                          <a:effectLst/>
                          <a:latin typeface="+mj-ea"/>
                          <a:ea typeface="+mj-ea"/>
                        </a:rPr>
                        <a:t>ID</a:t>
                      </a:r>
                      <a:r>
                        <a:rPr kumimoji="0" lang="zh-CN" altLang="en-US" sz="1600" u="none" strike="noStrike" cap="none" normalizeH="0" baseline="0" dirty="0">
                          <a:ln>
                            <a:noFill/>
                          </a:ln>
                          <a:effectLst/>
                          <a:latin typeface="+mj-ea"/>
                          <a:ea typeface="+mj-ea"/>
                        </a:rPr>
                        <a:t>、</a:t>
                      </a:r>
                      <a:r>
                        <a:rPr kumimoji="0" lang="en-US" altLang="zh-CN" sz="1600" u="none" strike="noStrike" cap="none" normalizeH="0" baseline="0" dirty="0">
                          <a:ln>
                            <a:noFill/>
                          </a:ln>
                          <a:effectLst/>
                          <a:latin typeface="+mj-ea"/>
                          <a:ea typeface="+mj-ea"/>
                        </a:rPr>
                        <a:t>Name|</a:t>
                      </a:r>
                      <a:r>
                        <a:rPr kumimoji="0" lang="zh-CN" altLang="en-US" sz="1600" u="none" strike="noStrike" cap="none" normalizeH="0" baseline="0" dirty="0">
                          <a:ln>
                            <a:noFill/>
                          </a:ln>
                          <a:effectLst/>
                          <a:latin typeface="+mj-ea"/>
                          <a:ea typeface="+mj-ea"/>
                        </a:rPr>
                        <a:t>、</a:t>
                      </a:r>
                      <a:r>
                        <a:rPr kumimoji="0" lang="en-US" altLang="zh-CN" sz="1600" u="none" strike="noStrike" cap="none" normalizeH="0" baseline="0" dirty="0" err="1">
                          <a:ln>
                            <a:noFill/>
                          </a:ln>
                          <a:effectLst/>
                          <a:latin typeface="+mj-ea"/>
                          <a:ea typeface="+mj-ea"/>
                        </a:rPr>
                        <a:t>PassWord</a:t>
                      </a:r>
                      <a:r>
                        <a:rPr kumimoji="0" lang="zh-CN" altLang="en-US" sz="1600" u="none" strike="noStrike" cap="none" normalizeH="0" baseline="0" dirty="0">
                          <a:ln>
                            <a:noFill/>
                          </a:ln>
                          <a:effectLst/>
                          <a:latin typeface="+mj-ea"/>
                          <a:ea typeface="+mj-ea"/>
                        </a:rPr>
                        <a:t>、</a:t>
                      </a:r>
                      <a:r>
                        <a:rPr kumimoji="0" lang="en-US" altLang="zh-CN" sz="1600" u="none" strike="noStrike" cap="none" normalizeH="0" baseline="0" dirty="0">
                          <a:ln>
                            <a:noFill/>
                          </a:ln>
                          <a:effectLst/>
                          <a:latin typeface="+mj-ea"/>
                          <a:ea typeface="+mj-ea"/>
                        </a:rPr>
                        <a:t>identification</a:t>
                      </a:r>
                      <a:r>
                        <a:rPr kumimoji="0" lang="zh-CN" altLang="en-US" sz="1600" u="none" strike="noStrike" cap="none" normalizeH="0" baseline="0" dirty="0">
                          <a:ln>
                            <a:noFill/>
                          </a:ln>
                          <a:effectLst/>
                          <a:latin typeface="+mj-ea"/>
                          <a:ea typeface="+mj-ea"/>
                        </a:rPr>
                        <a:t>等信息</a:t>
                      </a:r>
                      <a:endParaRPr kumimoji="0" lang="zh-CN" altLang="en-US"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r>
              <a:tr h="364889">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前台业务</a:t>
                      </a:r>
                      <a:endParaRPr kumimoji="0" lang="zh-CN" altLang="en-US" sz="1600" b="0" i="0" u="none" strike="noStrike" cap="none" normalizeH="0" baseline="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a:ln>
                            <a:noFill/>
                          </a:ln>
                          <a:effectLst/>
                          <a:latin typeface="+mj-ea"/>
                          <a:ea typeface="+mj-ea"/>
                        </a:rPr>
                        <a:t>Account</a:t>
                      </a:r>
                      <a:endParaRPr kumimoji="0" lang="en-US" altLang="zh-CN"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储户账单，</a:t>
                      </a:r>
                      <a:r>
                        <a:rPr kumimoji="0" lang="en-US" altLang="zh-CN" sz="1600" u="none" strike="noStrike" cap="none" normalizeH="0" baseline="0" dirty="0">
                          <a:ln>
                            <a:noFill/>
                          </a:ln>
                          <a:effectLst/>
                          <a:latin typeface="+mj-ea"/>
                          <a:ea typeface="+mj-ea"/>
                        </a:rPr>
                        <a:t>ID</a:t>
                      </a:r>
                      <a:r>
                        <a:rPr kumimoji="0" lang="zh-CN" altLang="en-US" sz="1600" u="none" strike="noStrike" cap="none" normalizeH="0" baseline="0" dirty="0">
                          <a:ln>
                            <a:noFill/>
                          </a:ln>
                          <a:effectLst/>
                          <a:latin typeface="+mj-ea"/>
                          <a:ea typeface="+mj-ea"/>
                        </a:rPr>
                        <a:t>、</a:t>
                      </a:r>
                      <a:r>
                        <a:rPr kumimoji="0" lang="en-US" altLang="zh-CN" sz="1600" u="none" strike="noStrike" cap="none" normalizeH="0" baseline="0" dirty="0">
                          <a:ln>
                            <a:noFill/>
                          </a:ln>
                          <a:effectLst/>
                          <a:latin typeface="+mj-ea"/>
                          <a:ea typeface="+mj-ea"/>
                        </a:rPr>
                        <a:t>Balance</a:t>
                      </a:r>
                      <a:r>
                        <a:rPr kumimoji="0" lang="zh-CN" altLang="en-US" sz="1600" u="none" strike="noStrike" cap="none" normalizeH="0" baseline="0" dirty="0">
                          <a:ln>
                            <a:noFill/>
                          </a:ln>
                          <a:effectLst/>
                          <a:latin typeface="+mj-ea"/>
                          <a:ea typeface="+mj-ea"/>
                        </a:rPr>
                        <a:t>、</a:t>
                      </a:r>
                      <a:r>
                        <a:rPr kumimoji="0" lang="en-US" altLang="zh-CN" sz="1600" u="none" strike="noStrike" cap="none" normalizeH="0" baseline="0" dirty="0">
                          <a:ln>
                            <a:noFill/>
                          </a:ln>
                          <a:effectLst/>
                          <a:latin typeface="+mj-ea"/>
                          <a:ea typeface="+mj-ea"/>
                        </a:rPr>
                        <a:t>Date</a:t>
                      </a:r>
                      <a:r>
                        <a:rPr kumimoji="0" lang="zh-CN" altLang="en-US" sz="1600" u="none" strike="noStrike" cap="none" normalizeH="0" baseline="0" dirty="0">
                          <a:ln>
                            <a:noFill/>
                          </a:ln>
                          <a:effectLst/>
                          <a:latin typeface="+mj-ea"/>
                          <a:ea typeface="+mj-ea"/>
                        </a:rPr>
                        <a:t>等存款记录</a:t>
                      </a:r>
                      <a:endParaRPr kumimoji="0" lang="zh-CN" altLang="en-US"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r>
              <a:tr h="63028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a:ln>
                            <a:noFill/>
                          </a:ln>
                          <a:effectLst/>
                          <a:latin typeface="+mj-ea"/>
                          <a:ea typeface="+mj-ea"/>
                        </a:rPr>
                        <a:t>前台业务</a:t>
                      </a:r>
                      <a:endParaRPr kumimoji="0" lang="zh-CN" altLang="en-US" sz="1600" b="0" i="0" u="none" strike="noStrike" cap="none" normalizeH="0" baseline="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u="none" strike="noStrike" cap="none" normalizeH="0" baseline="0" dirty="0" err="1">
                          <a:ln>
                            <a:noFill/>
                          </a:ln>
                          <a:effectLst/>
                          <a:latin typeface="+mj-ea"/>
                          <a:ea typeface="+mj-ea"/>
                        </a:rPr>
                        <a:t>Oper_Record</a:t>
                      </a:r>
                      <a:endParaRPr kumimoji="0" lang="en-US" altLang="zh-CN"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u="none" strike="noStrike" cap="none" normalizeH="0" baseline="0" dirty="0">
                          <a:ln>
                            <a:noFill/>
                          </a:ln>
                          <a:effectLst/>
                          <a:latin typeface="+mj-ea"/>
                          <a:ea typeface="+mj-ea"/>
                        </a:rPr>
                        <a:t>操作记录，记录每次发生业务操作的储户、业务员、数量、日期</a:t>
                      </a:r>
                      <a:endParaRPr kumimoji="0" lang="zh-CN" altLang="en-US" sz="1600" b="0" i="0" u="none" strike="noStrike" cap="none" normalizeH="0" baseline="0" dirty="0">
                        <a:ln>
                          <a:noFill/>
                        </a:ln>
                        <a:solidFill>
                          <a:schemeClr val="tx1"/>
                        </a:solidFill>
                        <a:effectLst/>
                        <a:latin typeface="+mj-ea"/>
                        <a:ea typeface="+mj-ea"/>
                      </a:endParaRPr>
                    </a:p>
                  </a:txBody>
                  <a:tcPr marT="45707" marB="45707" anchor="ctr" horzOverflow="overflow">
                    <a:solidFill>
                      <a:schemeClr val="bg1"/>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类图实例</a:t>
            </a:r>
            <a:endParaRPr lang="zh-CN" altLang="en-US" dirty="0"/>
          </a:p>
        </p:txBody>
      </p:sp>
      <p:sp>
        <p:nvSpPr>
          <p:cNvPr id="6" name="文本占位符 5"/>
          <p:cNvSpPr>
            <a:spLocks noGrp="1"/>
          </p:cNvSpPr>
          <p:nvPr>
            <p:ph idx="1"/>
          </p:nvPr>
        </p:nvSpPr>
        <p:spPr/>
        <p:txBody>
          <a:bodyPr>
            <a:normAutofit/>
          </a:bodyPr>
          <a:lstStyle/>
          <a:p>
            <a:pPr>
              <a:lnSpc>
                <a:spcPct val="120000"/>
              </a:lnSpc>
              <a:spcBef>
                <a:spcPts val="900"/>
              </a:spcBef>
            </a:pPr>
            <a:r>
              <a:rPr lang="zh-CN" altLang="en-US" sz="1800" dirty="0"/>
              <a:t>该类图的语义如下：</a:t>
            </a:r>
            <a:endParaRPr lang="en-US" altLang="zh-CN" sz="1800" dirty="0"/>
          </a:p>
          <a:p>
            <a:pPr>
              <a:lnSpc>
                <a:spcPct val="120000"/>
              </a:lnSpc>
              <a:spcBef>
                <a:spcPts val="900"/>
              </a:spcBef>
            </a:pPr>
            <a:r>
              <a:rPr lang="zh-CN" altLang="en-US" sz="1800" dirty="0"/>
              <a:t>一个</a:t>
            </a:r>
            <a:r>
              <a:rPr lang="en-US" altLang="zh-CN" sz="1800" dirty="0"/>
              <a:t>Company</a:t>
            </a:r>
            <a:r>
              <a:rPr lang="zh-CN" altLang="en-US" sz="1800" dirty="0"/>
              <a:t>由若干个</a:t>
            </a:r>
            <a:r>
              <a:rPr lang="en-US" altLang="zh-CN" sz="1800" dirty="0"/>
              <a:t>Department</a:t>
            </a:r>
            <a:r>
              <a:rPr lang="zh-CN" altLang="en-US" sz="1800" dirty="0"/>
              <a:t>组成，一个</a:t>
            </a:r>
            <a:r>
              <a:rPr lang="en-US" altLang="zh-CN" sz="1800" dirty="0"/>
              <a:t>Department</a:t>
            </a:r>
            <a:r>
              <a:rPr lang="zh-CN" altLang="en-US" sz="1800" dirty="0"/>
              <a:t>拥有若干</a:t>
            </a:r>
            <a:r>
              <a:rPr lang="en-US" altLang="zh-CN" sz="1800" dirty="0"/>
              <a:t>Employee</a:t>
            </a:r>
            <a:r>
              <a:rPr lang="zh-CN" altLang="en-US" sz="1800" dirty="0"/>
              <a:t>。</a:t>
            </a:r>
            <a:endParaRPr lang="en-US" altLang="zh-CN" sz="1800" dirty="0"/>
          </a:p>
          <a:p>
            <a:pPr>
              <a:lnSpc>
                <a:spcPct val="120000"/>
              </a:lnSpc>
              <a:spcBef>
                <a:spcPts val="900"/>
              </a:spcBef>
            </a:pPr>
            <a:r>
              <a:rPr lang="zh-CN" altLang="en-US" sz="1800" dirty="0"/>
              <a:t>一个</a:t>
            </a:r>
            <a:r>
              <a:rPr lang="en-US" altLang="zh-CN" sz="1800" dirty="0"/>
              <a:t>Employee</a:t>
            </a:r>
            <a:r>
              <a:rPr lang="zh-CN" altLang="en-US" sz="1800" dirty="0"/>
              <a:t>上班可以开自己的</a:t>
            </a:r>
            <a:r>
              <a:rPr lang="en-US" altLang="zh-CN" sz="1800" dirty="0"/>
              <a:t>Car</a:t>
            </a:r>
            <a:r>
              <a:rPr lang="zh-CN" altLang="en-US" sz="1800" dirty="0"/>
              <a:t>，也可以乘坐</a:t>
            </a:r>
            <a:r>
              <a:rPr lang="en-US" altLang="zh-CN" sz="1800" dirty="0"/>
              <a:t>Bus</a:t>
            </a:r>
            <a:r>
              <a:rPr lang="zh-CN" altLang="en-US" sz="1800" dirty="0"/>
              <a:t>或者</a:t>
            </a:r>
            <a:r>
              <a:rPr lang="en-US" altLang="zh-CN" sz="1800" dirty="0"/>
              <a:t>Taxi</a:t>
            </a:r>
            <a:r>
              <a:rPr lang="zh-CN" altLang="en-US" sz="1800" dirty="0"/>
              <a:t>。</a:t>
            </a:r>
            <a:r>
              <a:rPr lang="en-US" altLang="zh-CN" sz="1800" dirty="0"/>
              <a:t>Car</a:t>
            </a:r>
            <a:r>
              <a:rPr lang="zh-CN" altLang="en-US" sz="1800" dirty="0"/>
              <a:t>、</a:t>
            </a:r>
            <a:r>
              <a:rPr lang="en-US" altLang="zh-CN" sz="1800" dirty="0"/>
              <a:t>Bus</a:t>
            </a:r>
            <a:r>
              <a:rPr lang="zh-CN" altLang="en-US" sz="1800" dirty="0"/>
              <a:t>和</a:t>
            </a:r>
            <a:r>
              <a:rPr lang="en-US" altLang="zh-CN" sz="1800" dirty="0"/>
              <a:t>Taxi</a:t>
            </a:r>
            <a:r>
              <a:rPr lang="zh-CN" altLang="en-US" sz="1800" dirty="0"/>
              <a:t>拥有</a:t>
            </a:r>
            <a:r>
              <a:rPr lang="en-US" altLang="zh-CN" sz="1800" dirty="0"/>
              <a:t>Automobile</a:t>
            </a:r>
            <a:r>
              <a:rPr lang="zh-CN" altLang="en-US" sz="1800" dirty="0"/>
              <a:t>共同的属性和方法。</a:t>
            </a:r>
            <a:r>
              <a:rPr lang="en-US" altLang="zh-CN" sz="1800" dirty="0"/>
              <a:t>Automobile</a:t>
            </a:r>
            <a:r>
              <a:rPr lang="zh-CN" altLang="en-US" sz="1800" dirty="0"/>
              <a:t>要到</a:t>
            </a:r>
            <a:r>
              <a:rPr lang="en-US" altLang="zh-CN" sz="1800" dirty="0" err="1"/>
              <a:t>Gas_station</a:t>
            </a:r>
            <a:r>
              <a:rPr lang="zh-CN" altLang="en-US" sz="1800" dirty="0"/>
              <a:t>加油，要到</a:t>
            </a:r>
            <a:r>
              <a:rPr lang="en-US" altLang="zh-CN" sz="1800" dirty="0" err="1"/>
              <a:t>Repair_shop</a:t>
            </a:r>
            <a:r>
              <a:rPr lang="zh-CN" altLang="en-US" sz="1800" dirty="0"/>
              <a:t>去维修。</a:t>
            </a:r>
            <a:r>
              <a:rPr lang="en-US" altLang="zh-CN" sz="1800" dirty="0"/>
              <a:t>Automobile</a:t>
            </a:r>
            <a:r>
              <a:rPr lang="zh-CN" altLang="en-US" sz="1800" dirty="0"/>
              <a:t>由</a:t>
            </a:r>
            <a:r>
              <a:rPr lang="en-US" altLang="zh-CN" sz="1800" dirty="0"/>
              <a:t>Chassis</a:t>
            </a:r>
            <a:r>
              <a:rPr lang="zh-CN" altLang="en-US" sz="1800" dirty="0"/>
              <a:t>、</a:t>
            </a:r>
            <a:r>
              <a:rPr lang="en-US" altLang="zh-CN" sz="1800" dirty="0"/>
              <a:t>Engine</a:t>
            </a:r>
            <a:r>
              <a:rPr lang="zh-CN" altLang="en-US" sz="1800" dirty="0"/>
              <a:t>和</a:t>
            </a:r>
            <a:r>
              <a:rPr lang="en-US" altLang="zh-CN" sz="1800" dirty="0"/>
              <a:t>Tire</a:t>
            </a:r>
            <a:r>
              <a:rPr lang="zh-CN" altLang="en-US" sz="1800" dirty="0"/>
              <a:t>等部件组成。</a:t>
            </a:r>
            <a:endParaRPr lang="en-US" altLang="zh-CN" sz="1800" dirty="0"/>
          </a:p>
          <a:p>
            <a:pPr>
              <a:lnSpc>
                <a:spcPct val="120000"/>
              </a:lnSpc>
              <a:spcBef>
                <a:spcPts val="900"/>
              </a:spcBef>
            </a:pPr>
            <a:r>
              <a:rPr lang="en-US" altLang="zh-CN" sz="1800" dirty="0" err="1"/>
              <a:t>Gas_station</a:t>
            </a:r>
            <a:r>
              <a:rPr lang="zh-CN" altLang="en-US" sz="1800" dirty="0"/>
              <a:t>给</a:t>
            </a:r>
            <a:r>
              <a:rPr lang="en-US" altLang="zh-CN" sz="1800" dirty="0"/>
              <a:t>Automobile</a:t>
            </a:r>
            <a:r>
              <a:rPr lang="zh-CN" altLang="en-US" sz="1800" dirty="0"/>
              <a:t>进行加油（</a:t>
            </a:r>
            <a:r>
              <a:rPr lang="en-US" altLang="zh-CN" sz="1800" dirty="0"/>
              <a:t>Oil</a:t>
            </a:r>
            <a:r>
              <a:rPr lang="zh-CN" altLang="en-US" sz="1800" dirty="0"/>
              <a:t>操作）需要</a:t>
            </a:r>
            <a:r>
              <a:rPr lang="en-US" altLang="zh-CN" sz="1800" dirty="0"/>
              <a:t>pump</a:t>
            </a:r>
            <a:r>
              <a:rPr lang="zh-CN" altLang="en-US" sz="1800" dirty="0"/>
              <a:t>，依赖</a:t>
            </a:r>
            <a:r>
              <a:rPr lang="en-US" altLang="zh-CN" sz="1800" dirty="0"/>
              <a:t>pump</a:t>
            </a:r>
            <a:r>
              <a:rPr lang="zh-CN" altLang="en-US" sz="1800" dirty="0"/>
              <a:t>的</a:t>
            </a:r>
            <a:r>
              <a:rPr lang="en-US" altLang="zh-CN" sz="1800" dirty="0"/>
              <a:t>Oil</a:t>
            </a:r>
            <a:r>
              <a:rPr lang="zh-CN" altLang="en-US" sz="1800" dirty="0"/>
              <a:t>操作。</a:t>
            </a:r>
            <a:endParaRPr lang="zh-CN" altLang="en-US" sz="1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fld id="{DF6AC7D9-96AF-4EE2-A4A8-3E839FA42B76}"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日期占位符 6"/>
          <p:cNvSpPr>
            <a:spLocks noGrp="1"/>
          </p:cNvSpPr>
          <p:nvPr>
            <p:ph type="dt" sz="half" idx="10"/>
          </p:nvPr>
        </p:nvSpPr>
        <p:spPr/>
        <p:txBody>
          <a:bodyPr/>
          <a:lstStyle/>
          <a:p>
            <a:fld id="{DF6F5C5E-3AC5-427A-AAFB-A369453E61BE}"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a:p>
        </p:txBody>
      </p:sp>
      <p:pic>
        <p:nvPicPr>
          <p:cNvPr id="5" name="内容占位符 4"/>
          <p:cNvPicPr>
            <a:picLocks noGrp="1" noChangeAspect="1"/>
          </p:cNvPicPr>
          <p:nvPr>
            <p:ph idx="4294967295"/>
          </p:nvPr>
        </p:nvPicPr>
        <p:blipFill>
          <a:blip r:embed="rId1" cstate="print">
            <a:clrChange>
              <a:clrFrom>
                <a:srgbClr val="FFFFFF"/>
              </a:clrFrom>
              <a:clrTo>
                <a:srgbClr val="FFFFFF">
                  <a:alpha val="0"/>
                </a:srgbClr>
              </a:clrTo>
            </a:clrChange>
          </a:blip>
          <a:stretch>
            <a:fillRect/>
          </a:stretch>
        </p:blipFill>
        <p:spPr>
          <a:xfrm>
            <a:off x="-12038" y="711096"/>
            <a:ext cx="9156038" cy="4141932"/>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文本框 5"/>
          <p:cNvSpPr txBox="1"/>
          <p:nvPr/>
        </p:nvSpPr>
        <p:spPr>
          <a:xfrm>
            <a:off x="1512547" y="174946"/>
            <a:ext cx="2629428" cy="196207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dirty="0">
                <a:solidFill>
                  <a:srgbClr val="00B050"/>
                </a:solidFill>
              </a:rPr>
              <a:t>//</a:t>
            </a:r>
            <a:r>
              <a:rPr lang="zh-CN" altLang="en-US" sz="1350" dirty="0">
                <a:solidFill>
                  <a:srgbClr val="00B050"/>
                </a:solidFill>
              </a:rPr>
              <a:t>部门和雇员之间是一对多关联</a:t>
            </a:r>
            <a:endParaRPr lang="en-US" altLang="zh-CN" sz="1350" dirty="0">
              <a:solidFill>
                <a:srgbClr val="00B050"/>
              </a:solidFill>
            </a:endParaRPr>
          </a:p>
          <a:p>
            <a:r>
              <a:rPr lang="en-US" altLang="zh-CN" sz="1350" dirty="0"/>
              <a:t>Public class Department{</a:t>
            </a:r>
            <a:endParaRPr lang="en-US" altLang="zh-CN" sz="1350" dirty="0"/>
          </a:p>
          <a:p>
            <a:r>
              <a:rPr lang="en-US" altLang="zh-CN" sz="1350" dirty="0"/>
              <a:t>      private String </a:t>
            </a:r>
            <a:r>
              <a:rPr lang="en-US" altLang="zh-CN" sz="1350" dirty="0" err="1"/>
              <a:t>Dep_name</a:t>
            </a:r>
            <a:r>
              <a:rPr lang="en-US" altLang="zh-CN" sz="1350" dirty="0"/>
              <a:t>;</a:t>
            </a:r>
            <a:endParaRPr lang="en-US" altLang="zh-CN" sz="1350" dirty="0"/>
          </a:p>
          <a:p>
            <a:r>
              <a:rPr lang="en-US" altLang="zh-CN" sz="1350" dirty="0"/>
              <a:t>      private Employee Role[];  </a:t>
            </a:r>
            <a:r>
              <a:rPr lang="en-US" altLang="zh-CN" sz="1350" dirty="0">
                <a:solidFill>
                  <a:srgbClr val="00B050"/>
                </a:solidFill>
              </a:rPr>
              <a:t>// </a:t>
            </a:r>
            <a:r>
              <a:rPr lang="zh-CN" altLang="en-US" sz="1350" dirty="0">
                <a:solidFill>
                  <a:srgbClr val="00B050"/>
                </a:solidFill>
              </a:rPr>
              <a:t>部门拥有若干雇员</a:t>
            </a:r>
            <a:endParaRPr lang="en-US" altLang="zh-CN" sz="1350" dirty="0">
              <a:solidFill>
                <a:srgbClr val="00B050"/>
              </a:solidFill>
            </a:endParaRPr>
          </a:p>
          <a:p>
            <a:endParaRPr lang="en-US" altLang="zh-CN" sz="1350" dirty="0">
              <a:solidFill>
                <a:srgbClr val="00B050"/>
              </a:solidFill>
            </a:endParaRPr>
          </a:p>
          <a:p>
            <a:r>
              <a:rPr lang="en-US" altLang="zh-CN" sz="1350" dirty="0">
                <a:solidFill>
                  <a:srgbClr val="00B050"/>
                </a:solidFill>
              </a:rPr>
              <a:t>// </a:t>
            </a:r>
            <a:r>
              <a:rPr lang="zh-CN" altLang="en-US" sz="1350" dirty="0">
                <a:solidFill>
                  <a:srgbClr val="00B050"/>
                </a:solidFill>
              </a:rPr>
              <a:t>部门执行的职能</a:t>
            </a:r>
            <a:endParaRPr lang="en-US" altLang="zh-CN" sz="1350" dirty="0">
              <a:solidFill>
                <a:srgbClr val="00B050"/>
              </a:solidFill>
            </a:endParaRPr>
          </a:p>
          <a:p>
            <a:r>
              <a:rPr lang="en-US" altLang="zh-CN" sz="1350" dirty="0"/>
              <a:t>     public void Execute(){ ... }</a:t>
            </a:r>
            <a:endParaRPr lang="en-US" altLang="zh-CN" sz="1350" dirty="0"/>
          </a:p>
          <a:p>
            <a:r>
              <a:rPr lang="en-US" altLang="zh-CN" sz="1350" dirty="0"/>
              <a:t>}</a:t>
            </a:r>
            <a:endParaRPr lang="zh-CN" altLang="en-US" sz="1350" dirty="0"/>
          </a:p>
        </p:txBody>
      </p:sp>
      <p:sp>
        <p:nvSpPr>
          <p:cNvPr id="8" name="文本框 7"/>
          <p:cNvSpPr txBox="1"/>
          <p:nvPr/>
        </p:nvSpPr>
        <p:spPr>
          <a:xfrm>
            <a:off x="970014" y="2214324"/>
            <a:ext cx="3499103" cy="279307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dirty="0">
                <a:solidFill>
                  <a:srgbClr val="00B050"/>
                </a:solidFill>
              </a:rPr>
              <a:t>//</a:t>
            </a:r>
            <a:r>
              <a:rPr lang="zh-CN" altLang="en-US" sz="1350" dirty="0">
                <a:solidFill>
                  <a:srgbClr val="00B050"/>
                </a:solidFill>
              </a:rPr>
              <a:t>公司与部门之间是</a:t>
            </a:r>
            <a:r>
              <a:rPr lang="zh-CN" altLang="en-US" sz="1350" dirty="0">
                <a:solidFill>
                  <a:srgbClr val="FF0000"/>
                </a:solidFill>
              </a:rPr>
              <a:t>组合</a:t>
            </a:r>
            <a:r>
              <a:rPr lang="zh-CN" altLang="en-US" sz="1350" dirty="0">
                <a:solidFill>
                  <a:srgbClr val="00B050"/>
                </a:solidFill>
              </a:rPr>
              <a:t>关系</a:t>
            </a:r>
            <a:endParaRPr lang="zh-CN" altLang="en-US" sz="1350" dirty="0">
              <a:solidFill>
                <a:srgbClr val="00B050"/>
              </a:solidFill>
            </a:endParaRPr>
          </a:p>
          <a:p>
            <a:r>
              <a:rPr lang="en-US" altLang="zh-CN" sz="1350" dirty="0">
                <a:solidFill>
                  <a:schemeClr val="tx1"/>
                </a:solidFill>
              </a:rPr>
              <a:t>public class Company{</a:t>
            </a:r>
            <a:endParaRPr lang="en-US" altLang="zh-CN" sz="1350" dirty="0">
              <a:solidFill>
                <a:schemeClr val="tx1"/>
              </a:solidFill>
            </a:endParaRPr>
          </a:p>
          <a:p>
            <a:r>
              <a:rPr lang="en-US" altLang="zh-CN" sz="1350" dirty="0">
                <a:solidFill>
                  <a:schemeClr val="tx1"/>
                </a:solidFill>
              </a:rPr>
              <a:t>	private String name;</a:t>
            </a:r>
            <a:endParaRPr lang="en-US" altLang="zh-CN" sz="1350" dirty="0">
              <a:solidFill>
                <a:schemeClr val="tx1"/>
              </a:solidFill>
            </a:endParaRPr>
          </a:p>
          <a:p>
            <a:r>
              <a:rPr lang="en-US" altLang="zh-CN" sz="1350" dirty="0">
                <a:solidFill>
                  <a:schemeClr val="tx1"/>
                </a:solidFill>
              </a:rPr>
              <a:t>	private Department p1,p2,...;</a:t>
            </a:r>
            <a:endParaRPr lang="en-US" altLang="zh-CN" sz="1350" dirty="0">
              <a:solidFill>
                <a:schemeClr val="tx1"/>
              </a:solidFill>
            </a:endParaRPr>
          </a:p>
          <a:p>
            <a:endParaRPr lang="en-US" altLang="zh-CN" sz="1350" dirty="0">
              <a:solidFill>
                <a:schemeClr val="tx1"/>
              </a:solidFill>
            </a:endParaRPr>
          </a:p>
          <a:p>
            <a:r>
              <a:rPr lang="en-US" altLang="zh-CN" sz="1350" dirty="0">
                <a:solidFill>
                  <a:schemeClr val="tx1"/>
                </a:solidFill>
              </a:rPr>
              <a:t>	public  Company(){</a:t>
            </a:r>
            <a:endParaRPr lang="en-US" altLang="zh-CN" sz="1350" dirty="0">
              <a:solidFill>
                <a:schemeClr val="tx1"/>
              </a:solidFill>
            </a:endParaRPr>
          </a:p>
          <a:p>
            <a:r>
              <a:rPr lang="en-US" altLang="zh-CN" sz="1350" dirty="0">
                <a:solidFill>
                  <a:schemeClr val="tx1"/>
                </a:solidFill>
              </a:rPr>
              <a:t>		p1=new Department();</a:t>
            </a:r>
            <a:endParaRPr lang="en-US" altLang="zh-CN" sz="1350" dirty="0">
              <a:solidFill>
                <a:schemeClr val="tx1"/>
              </a:solidFill>
            </a:endParaRPr>
          </a:p>
          <a:p>
            <a:r>
              <a:rPr lang="en-US" altLang="zh-CN" sz="1350" dirty="0">
                <a:solidFill>
                  <a:schemeClr val="tx1"/>
                </a:solidFill>
              </a:rPr>
              <a:t>		p2=new Department();</a:t>
            </a:r>
            <a:endParaRPr lang="en-US" altLang="zh-CN" sz="1350" dirty="0">
              <a:solidFill>
                <a:schemeClr val="tx1"/>
              </a:solidFill>
            </a:endParaRPr>
          </a:p>
          <a:p>
            <a:r>
              <a:rPr lang="en-US" altLang="zh-CN" sz="1350" dirty="0">
                <a:solidFill>
                  <a:srgbClr val="00B050"/>
                </a:solidFill>
              </a:rPr>
              <a:t>		//...</a:t>
            </a:r>
            <a:endParaRPr lang="en-US" altLang="zh-CN" sz="1350" dirty="0">
              <a:solidFill>
                <a:srgbClr val="00B050"/>
              </a:solidFill>
            </a:endParaRPr>
          </a:p>
          <a:p>
            <a:r>
              <a:rPr lang="en-US" altLang="zh-CN" sz="1350" dirty="0">
                <a:solidFill>
                  <a:srgbClr val="00B050"/>
                </a:solidFill>
              </a:rPr>
              <a:t>	</a:t>
            </a:r>
            <a:r>
              <a:rPr lang="en-US" altLang="zh-CN" sz="1350" dirty="0">
                <a:solidFill>
                  <a:schemeClr val="tx1"/>
                </a:solidFill>
              </a:rPr>
              <a:t>}</a:t>
            </a:r>
            <a:endParaRPr lang="en-US" altLang="zh-CN" sz="1350" dirty="0">
              <a:solidFill>
                <a:schemeClr val="tx1"/>
              </a:solidFill>
            </a:endParaRPr>
          </a:p>
          <a:p>
            <a:r>
              <a:rPr lang="en-US" altLang="zh-CN" sz="1350" dirty="0">
                <a:solidFill>
                  <a:srgbClr val="00B050"/>
                </a:solidFill>
              </a:rPr>
              <a:t>	//</a:t>
            </a:r>
            <a:r>
              <a:rPr lang="zh-CN" altLang="en-US" sz="1350" dirty="0">
                <a:solidFill>
                  <a:srgbClr val="00B050"/>
                </a:solidFill>
              </a:rPr>
              <a:t>公司执行生产过程</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public void Manufacture() {...}</a:t>
            </a:r>
            <a:endParaRPr lang="en-US" altLang="zh-CN" sz="1350" dirty="0">
              <a:solidFill>
                <a:schemeClr val="tx1"/>
              </a:solidFill>
            </a:endParaRPr>
          </a:p>
          <a:p>
            <a:r>
              <a:rPr lang="en-US" altLang="zh-CN" sz="1350" dirty="0">
                <a:solidFill>
                  <a:schemeClr val="tx1"/>
                </a:solidFill>
              </a:rPr>
              <a:t>}</a:t>
            </a:r>
            <a:endParaRPr lang="en-US" altLang="zh-CN" sz="1350" dirty="0">
              <a:solidFill>
                <a:schemeClr val="tx1"/>
              </a:solidFill>
            </a:endParaRPr>
          </a:p>
        </p:txBody>
      </p:sp>
      <p:sp>
        <p:nvSpPr>
          <p:cNvPr id="7" name="文本框 6"/>
          <p:cNvSpPr txBox="1"/>
          <p:nvPr/>
        </p:nvSpPr>
        <p:spPr>
          <a:xfrm>
            <a:off x="4586968" y="419049"/>
            <a:ext cx="3886730" cy="424731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dirty="0">
                <a:solidFill>
                  <a:srgbClr val="00B050"/>
                </a:solidFill>
              </a:rPr>
              <a:t>//</a:t>
            </a:r>
            <a:r>
              <a:rPr lang="zh-CN" altLang="en-US" sz="1350" dirty="0">
                <a:solidFill>
                  <a:srgbClr val="00B050"/>
                </a:solidFill>
              </a:rPr>
              <a:t>雇员上班要依赖驾车、出租车或公交车</a:t>
            </a:r>
            <a:endParaRPr lang="zh-CN" altLang="en-US" sz="1350" dirty="0">
              <a:solidFill>
                <a:srgbClr val="00B050"/>
              </a:solidFill>
            </a:endParaRPr>
          </a:p>
          <a:p>
            <a:r>
              <a:rPr lang="en-US" altLang="zh-CN" sz="1350" dirty="0">
                <a:solidFill>
                  <a:srgbClr val="00B050"/>
                </a:solidFill>
              </a:rPr>
              <a:t>//Car</a:t>
            </a:r>
            <a:r>
              <a:rPr lang="zh-CN" altLang="en-US" sz="1350" dirty="0">
                <a:solidFill>
                  <a:srgbClr val="00B050"/>
                </a:solidFill>
              </a:rPr>
              <a:t>属于个人拥有，</a:t>
            </a:r>
            <a:r>
              <a:rPr lang="en-US" altLang="zh-CN" sz="1350" dirty="0">
                <a:solidFill>
                  <a:srgbClr val="00B050"/>
                </a:solidFill>
              </a:rPr>
              <a:t>Taxi</a:t>
            </a:r>
            <a:r>
              <a:rPr lang="zh-CN" altLang="en-US" sz="1350" dirty="0">
                <a:solidFill>
                  <a:srgbClr val="00B050"/>
                </a:solidFill>
              </a:rPr>
              <a:t>是雇用，</a:t>
            </a:r>
            <a:r>
              <a:rPr lang="en-US" altLang="zh-CN" sz="1350" dirty="0">
                <a:solidFill>
                  <a:srgbClr val="00B050"/>
                </a:solidFill>
              </a:rPr>
              <a:t>Bus</a:t>
            </a:r>
            <a:r>
              <a:rPr lang="zh-CN" altLang="en-US" sz="1350" dirty="0">
                <a:solidFill>
                  <a:srgbClr val="00B050"/>
                </a:solidFill>
              </a:rPr>
              <a:t>是乘用</a:t>
            </a:r>
            <a:endParaRPr lang="zh-CN" altLang="en-US" sz="1350" dirty="0">
              <a:solidFill>
                <a:srgbClr val="00B050"/>
              </a:solidFill>
            </a:endParaRPr>
          </a:p>
          <a:p>
            <a:r>
              <a:rPr lang="en-US" altLang="zh-CN" sz="1350" dirty="0">
                <a:solidFill>
                  <a:schemeClr val="tx1"/>
                </a:solidFill>
              </a:rPr>
              <a:t>public class Employee{</a:t>
            </a:r>
            <a:endParaRPr lang="en-US" altLang="zh-CN" sz="1350" dirty="0">
              <a:solidFill>
                <a:schemeClr val="tx1"/>
              </a:solidFill>
            </a:endParaRPr>
          </a:p>
          <a:p>
            <a:r>
              <a:rPr lang="en-US" altLang="zh-CN" sz="1350" dirty="0">
                <a:solidFill>
                  <a:schemeClr val="tx1"/>
                </a:solidFill>
              </a:rPr>
              <a:t>	private Integer id;</a:t>
            </a:r>
            <a:endParaRPr lang="en-US" altLang="zh-CN" sz="1350" dirty="0">
              <a:solidFill>
                <a:schemeClr val="tx1"/>
              </a:solidFill>
            </a:endParaRPr>
          </a:p>
          <a:p>
            <a:r>
              <a:rPr lang="en-US" altLang="zh-CN" sz="1350" dirty="0">
                <a:solidFill>
                  <a:schemeClr val="tx1"/>
                </a:solidFill>
              </a:rPr>
              <a:t>	private String name;</a:t>
            </a:r>
            <a:endParaRPr lang="en-US" altLang="zh-CN" sz="1350" dirty="0">
              <a:solidFill>
                <a:schemeClr val="tx1"/>
              </a:solidFill>
            </a:endParaRPr>
          </a:p>
          <a:p>
            <a:r>
              <a:rPr lang="en-US" altLang="zh-CN" sz="1350" dirty="0">
                <a:solidFill>
                  <a:schemeClr val="tx1"/>
                </a:solidFill>
              </a:rPr>
              <a:t>	private Car </a:t>
            </a:r>
            <a:r>
              <a:rPr lang="en-US" altLang="zh-CN" sz="1350" dirty="0" err="1">
                <a:solidFill>
                  <a:schemeClr val="tx1"/>
                </a:solidFill>
              </a:rPr>
              <a:t>My_car</a:t>
            </a:r>
            <a:r>
              <a:rPr lang="en-US" altLang="zh-CN" sz="1350" dirty="0">
                <a:solidFill>
                  <a:schemeClr val="tx1"/>
                </a:solidFill>
              </a:rPr>
              <a:t>;</a:t>
            </a:r>
            <a:endParaRPr lang="en-US" altLang="zh-CN" sz="1350" dirty="0">
              <a:solidFill>
                <a:schemeClr val="tx1"/>
              </a:solidFill>
            </a:endParaRPr>
          </a:p>
          <a:p>
            <a:endParaRPr lang="en-US" altLang="zh-CN" sz="1350" dirty="0">
              <a:solidFill>
                <a:srgbClr val="00B050"/>
              </a:solidFill>
            </a:endParaRPr>
          </a:p>
          <a:p>
            <a:r>
              <a:rPr lang="en-US" altLang="zh-CN" sz="1350" dirty="0">
                <a:solidFill>
                  <a:srgbClr val="00B050"/>
                </a:solidFill>
              </a:rPr>
              <a:t>	//</a:t>
            </a:r>
            <a:r>
              <a:rPr lang="zh-CN" altLang="en-US" sz="1350" dirty="0">
                <a:solidFill>
                  <a:srgbClr val="00B050"/>
                </a:solidFill>
              </a:rPr>
              <a:t>依赖自己拥有的</a:t>
            </a:r>
            <a:r>
              <a:rPr lang="en-US" altLang="zh-CN" sz="1350" dirty="0">
                <a:solidFill>
                  <a:srgbClr val="00B050"/>
                </a:solidFill>
              </a:rPr>
              <a:t>Car</a:t>
            </a:r>
            <a:r>
              <a:rPr lang="zh-CN" altLang="en-US" sz="1350" dirty="0">
                <a:solidFill>
                  <a:srgbClr val="00B050"/>
                </a:solidFill>
              </a:rPr>
              <a:t>上班</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public void </a:t>
            </a:r>
            <a:r>
              <a:rPr lang="en-US" altLang="zh-CN" sz="1350" dirty="0" err="1">
                <a:solidFill>
                  <a:schemeClr val="tx1"/>
                </a:solidFill>
              </a:rPr>
              <a:t>GotoWork</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r>
              <a:rPr lang="en-US" altLang="zh-CN" sz="1350" dirty="0" err="1">
                <a:solidFill>
                  <a:schemeClr val="tx1"/>
                </a:solidFill>
              </a:rPr>
              <a:t>My_car.Driven</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endParaRPr lang="en-US" altLang="zh-CN" sz="1350" dirty="0">
              <a:solidFill>
                <a:schemeClr val="tx1"/>
              </a:solidFill>
            </a:endParaRPr>
          </a:p>
          <a:p>
            <a:r>
              <a:rPr lang="en-US" altLang="zh-CN" sz="1350" dirty="0">
                <a:solidFill>
                  <a:srgbClr val="00B050"/>
                </a:solidFill>
              </a:rPr>
              <a:t>	//</a:t>
            </a:r>
            <a:r>
              <a:rPr lang="zh-CN" altLang="en-US" sz="1350" dirty="0">
                <a:solidFill>
                  <a:srgbClr val="00B050"/>
                </a:solidFill>
              </a:rPr>
              <a:t>打出租车上班，不固定依赖哪一台车</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public void </a:t>
            </a:r>
            <a:r>
              <a:rPr lang="en-US" altLang="zh-CN" sz="1350" dirty="0" err="1">
                <a:solidFill>
                  <a:schemeClr val="tx1"/>
                </a:solidFill>
              </a:rPr>
              <a:t>GotoWork</a:t>
            </a:r>
            <a:r>
              <a:rPr lang="en-US" altLang="zh-CN" sz="1350" dirty="0">
                <a:solidFill>
                  <a:schemeClr val="tx1"/>
                </a:solidFill>
              </a:rPr>
              <a:t>(Taxi taxi){</a:t>
            </a:r>
            <a:endParaRPr lang="en-US" altLang="zh-CN" sz="1350" dirty="0">
              <a:solidFill>
                <a:schemeClr val="tx1"/>
              </a:solidFill>
            </a:endParaRPr>
          </a:p>
          <a:p>
            <a:r>
              <a:rPr lang="en-US" altLang="zh-CN" sz="1350" dirty="0">
                <a:solidFill>
                  <a:schemeClr val="tx1"/>
                </a:solidFill>
              </a:rPr>
              <a:t>		</a:t>
            </a:r>
            <a:r>
              <a:rPr lang="en-US" altLang="zh-CN" sz="1350" dirty="0" err="1">
                <a:solidFill>
                  <a:schemeClr val="tx1"/>
                </a:solidFill>
              </a:rPr>
              <a:t>taxi.Hired</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endParaRPr lang="en-US" altLang="zh-CN" sz="1350" dirty="0">
              <a:solidFill>
                <a:schemeClr val="tx1"/>
              </a:solidFill>
            </a:endParaRPr>
          </a:p>
          <a:p>
            <a:r>
              <a:rPr lang="en-US" altLang="zh-CN" sz="1350" dirty="0">
                <a:solidFill>
                  <a:srgbClr val="00B050"/>
                </a:solidFill>
              </a:rPr>
              <a:t>	//</a:t>
            </a:r>
            <a:r>
              <a:rPr lang="zh-CN" altLang="en-US" sz="1350" dirty="0">
                <a:solidFill>
                  <a:srgbClr val="00B050"/>
                </a:solidFill>
              </a:rPr>
              <a:t>乘坐公交车上班，不固定依赖哪一台车</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public void </a:t>
            </a:r>
            <a:r>
              <a:rPr lang="en-US" altLang="zh-CN" sz="1350" dirty="0" err="1">
                <a:solidFill>
                  <a:schemeClr val="tx1"/>
                </a:solidFill>
              </a:rPr>
              <a:t>GotoWork</a:t>
            </a:r>
            <a:r>
              <a:rPr lang="en-US" altLang="zh-CN" sz="1350" dirty="0">
                <a:solidFill>
                  <a:schemeClr val="tx1"/>
                </a:solidFill>
              </a:rPr>
              <a:t>(Bus bus){</a:t>
            </a:r>
            <a:endParaRPr lang="en-US" altLang="zh-CN" sz="1350" dirty="0">
              <a:solidFill>
                <a:schemeClr val="tx1"/>
              </a:solidFill>
            </a:endParaRPr>
          </a:p>
          <a:p>
            <a:r>
              <a:rPr lang="en-US" altLang="zh-CN" sz="1350" dirty="0">
                <a:solidFill>
                  <a:schemeClr val="tx1"/>
                </a:solidFill>
              </a:rPr>
              <a:t>		</a:t>
            </a:r>
            <a:r>
              <a:rPr lang="en-US" altLang="zh-CN" sz="1350" dirty="0" err="1">
                <a:solidFill>
                  <a:schemeClr val="tx1"/>
                </a:solidFill>
              </a:rPr>
              <a:t>bus.ridden</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endParaRPr lang="en-US" altLang="zh-CN" sz="1350" dirty="0">
              <a:solidFill>
                <a:schemeClr val="tx1"/>
              </a:solidFill>
            </a:endParaRPr>
          </a:p>
          <a:p>
            <a:r>
              <a:rPr lang="en-US" altLang="zh-CN" sz="1350" dirty="0">
                <a:solidFill>
                  <a:schemeClr val="tx1"/>
                </a:solidFill>
              </a:rPr>
              <a:t>}</a:t>
            </a:r>
            <a:endParaRPr lang="zh-CN" altLang="en-US" sz="1350" dirty="0">
              <a:solidFill>
                <a:schemeClr val="tx1"/>
              </a:solidFill>
            </a:endParaRPr>
          </a:p>
        </p:txBody>
      </p:sp>
      <p:sp>
        <p:nvSpPr>
          <p:cNvPr id="9" name="日期占位符 8"/>
          <p:cNvSpPr>
            <a:spLocks noGrp="1"/>
          </p:cNvSpPr>
          <p:nvPr>
            <p:ph type="dt" sz="half" idx="10"/>
          </p:nvPr>
        </p:nvSpPr>
        <p:spPr/>
        <p:txBody>
          <a:bodyPr/>
          <a:lstStyle/>
          <a:p>
            <a:fld id="{AA7244D9-2DD9-4B00-A753-472E9356AFAB}"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7"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文本框 3"/>
          <p:cNvSpPr txBox="1"/>
          <p:nvPr/>
        </p:nvSpPr>
        <p:spPr>
          <a:xfrm>
            <a:off x="1052768" y="0"/>
            <a:ext cx="3176960" cy="279307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a:solidFill>
                  <a:srgbClr val="00B050"/>
                </a:solidFill>
              </a:rPr>
              <a:t>//Car</a:t>
            </a:r>
            <a:r>
              <a:rPr lang="zh-CN" altLang="en-US" sz="1350">
                <a:solidFill>
                  <a:srgbClr val="00B050"/>
                </a:solidFill>
              </a:rPr>
              <a:t>、</a:t>
            </a:r>
            <a:r>
              <a:rPr lang="en-US" altLang="zh-CN" sz="1350">
                <a:solidFill>
                  <a:srgbClr val="00B050"/>
                </a:solidFill>
              </a:rPr>
              <a:t>Taxi</a:t>
            </a:r>
            <a:r>
              <a:rPr lang="zh-CN" altLang="en-US" sz="1350">
                <a:solidFill>
                  <a:srgbClr val="00B050"/>
                </a:solidFill>
              </a:rPr>
              <a:t>、</a:t>
            </a:r>
            <a:r>
              <a:rPr lang="en-US" altLang="zh-CN" sz="1350">
                <a:solidFill>
                  <a:srgbClr val="00B050"/>
                </a:solidFill>
              </a:rPr>
              <a:t>Bus</a:t>
            </a:r>
            <a:r>
              <a:rPr lang="zh-CN" altLang="en-US" sz="1350">
                <a:solidFill>
                  <a:srgbClr val="00B050"/>
                </a:solidFill>
              </a:rPr>
              <a:t>是继承于汽车类</a:t>
            </a:r>
            <a:endParaRPr lang="zh-CN" altLang="en-US" sz="1350">
              <a:solidFill>
                <a:srgbClr val="00B050"/>
              </a:solidFill>
            </a:endParaRPr>
          </a:p>
          <a:p>
            <a:r>
              <a:rPr lang="en-US" altLang="zh-CN" sz="1350">
                <a:solidFill>
                  <a:schemeClr val="tx1"/>
                </a:solidFill>
              </a:rPr>
              <a:t>public class Car extends Automobile{</a:t>
            </a:r>
            <a:endParaRPr lang="en-US" altLang="zh-CN" sz="1350">
              <a:solidFill>
                <a:schemeClr val="tx1"/>
              </a:solidFill>
            </a:endParaRPr>
          </a:p>
          <a:p>
            <a:r>
              <a:rPr lang="en-US" altLang="zh-CN" sz="1350">
                <a:solidFill>
                  <a:schemeClr val="tx1"/>
                </a:solidFill>
              </a:rPr>
              <a:t>	private String Brand;</a:t>
            </a:r>
            <a:endParaRPr lang="en-US" altLang="zh-CN" sz="1350">
              <a:solidFill>
                <a:schemeClr val="tx1"/>
              </a:solidFill>
            </a:endParaRPr>
          </a:p>
          <a:p>
            <a:r>
              <a:rPr lang="en-US" altLang="zh-CN" sz="1350">
                <a:solidFill>
                  <a:schemeClr val="tx1"/>
                </a:solidFill>
              </a:rPr>
              <a:t>	public void Driven(){</a:t>
            </a:r>
            <a:r>
              <a:rPr lang="en-US" altLang="zh-CN" sz="1350">
                <a:solidFill>
                  <a:srgbClr val="00B050"/>
                </a:solidFill>
              </a:rPr>
              <a:t> //</a:t>
            </a:r>
            <a:r>
              <a:rPr lang="zh-CN" altLang="en-US" sz="1350">
                <a:solidFill>
                  <a:srgbClr val="00B050"/>
                </a:solidFill>
              </a:rPr>
              <a:t>被驾驶</a:t>
            </a:r>
            <a:r>
              <a:rPr lang="zh-CN" altLang="en-US" sz="1350">
                <a:solidFill>
                  <a:schemeClr val="tx1"/>
                </a:solidFill>
              </a:rPr>
              <a:t> </a:t>
            </a:r>
            <a:r>
              <a:rPr lang="en-US" altLang="zh-CN" sz="1350">
                <a:solidFill>
                  <a:schemeClr val="tx1"/>
                </a:solidFill>
              </a:rPr>
              <a:t>... }</a:t>
            </a:r>
            <a:endParaRPr lang="en-US" altLang="zh-CN" sz="1350">
              <a:solidFill>
                <a:schemeClr val="tx1"/>
              </a:solidFill>
            </a:endParaRPr>
          </a:p>
          <a:p>
            <a:r>
              <a:rPr lang="en-US" altLang="zh-CN" sz="1350">
                <a:solidFill>
                  <a:schemeClr val="tx1"/>
                </a:solidFill>
              </a:rPr>
              <a:t>}</a:t>
            </a:r>
            <a:endParaRPr lang="en-US" altLang="zh-CN" sz="1350">
              <a:solidFill>
                <a:schemeClr val="tx1"/>
              </a:solidFill>
            </a:endParaRPr>
          </a:p>
          <a:p>
            <a:r>
              <a:rPr lang="en-US" altLang="zh-CN" sz="1350">
                <a:solidFill>
                  <a:schemeClr val="tx1"/>
                </a:solidFill>
              </a:rPr>
              <a:t>public  class Taxi extends Automobile{</a:t>
            </a:r>
            <a:endParaRPr lang="en-US" altLang="zh-CN" sz="1350">
              <a:solidFill>
                <a:schemeClr val="tx1"/>
              </a:solidFill>
            </a:endParaRPr>
          </a:p>
          <a:p>
            <a:r>
              <a:rPr lang="en-US" altLang="zh-CN" sz="1350">
                <a:solidFill>
                  <a:schemeClr val="tx1"/>
                </a:solidFill>
              </a:rPr>
              <a:t>	private int Number;</a:t>
            </a:r>
            <a:endParaRPr lang="en-US" altLang="zh-CN" sz="1350">
              <a:solidFill>
                <a:schemeClr val="tx1"/>
              </a:solidFill>
            </a:endParaRPr>
          </a:p>
          <a:p>
            <a:r>
              <a:rPr lang="en-US" altLang="zh-CN" sz="1350">
                <a:solidFill>
                  <a:schemeClr val="tx1"/>
                </a:solidFill>
              </a:rPr>
              <a:t>	public void Hired(){</a:t>
            </a:r>
            <a:r>
              <a:rPr lang="en-US" altLang="zh-CN" sz="1350">
                <a:solidFill>
                  <a:srgbClr val="00B050"/>
                </a:solidFill>
              </a:rPr>
              <a:t> //</a:t>
            </a:r>
            <a:r>
              <a:rPr lang="zh-CN" altLang="en-US" sz="1350">
                <a:solidFill>
                  <a:srgbClr val="00B050"/>
                </a:solidFill>
              </a:rPr>
              <a:t>被雇用 </a:t>
            </a:r>
            <a:r>
              <a:rPr lang="en-US" altLang="zh-CN" sz="1350">
                <a:solidFill>
                  <a:schemeClr val="tx1"/>
                </a:solidFill>
              </a:rPr>
              <a:t>... }</a:t>
            </a:r>
            <a:endParaRPr lang="en-US" altLang="zh-CN" sz="1350">
              <a:solidFill>
                <a:schemeClr val="tx1"/>
              </a:solidFill>
            </a:endParaRPr>
          </a:p>
          <a:p>
            <a:r>
              <a:rPr lang="en-US" altLang="zh-CN" sz="1350">
                <a:solidFill>
                  <a:schemeClr val="tx1"/>
                </a:solidFill>
              </a:rPr>
              <a:t>}</a:t>
            </a:r>
            <a:endParaRPr lang="en-US" altLang="zh-CN" sz="1350">
              <a:solidFill>
                <a:schemeClr val="tx1"/>
              </a:solidFill>
            </a:endParaRPr>
          </a:p>
          <a:p>
            <a:r>
              <a:rPr lang="en-US" altLang="zh-CN" sz="1350">
                <a:solidFill>
                  <a:schemeClr val="tx1"/>
                </a:solidFill>
              </a:rPr>
              <a:t>public  class Bus extends Automobile{</a:t>
            </a:r>
            <a:endParaRPr lang="en-US" altLang="zh-CN" sz="1350">
              <a:solidFill>
                <a:schemeClr val="tx1"/>
              </a:solidFill>
            </a:endParaRPr>
          </a:p>
          <a:p>
            <a:r>
              <a:rPr lang="en-US" altLang="zh-CN" sz="1350">
                <a:solidFill>
                  <a:schemeClr val="tx1"/>
                </a:solidFill>
              </a:rPr>
              <a:t>	private int Seat;</a:t>
            </a:r>
            <a:endParaRPr lang="en-US" altLang="zh-CN" sz="1350">
              <a:solidFill>
                <a:schemeClr val="tx1"/>
              </a:solidFill>
            </a:endParaRPr>
          </a:p>
          <a:p>
            <a:r>
              <a:rPr lang="en-US" altLang="zh-CN" sz="1350">
                <a:solidFill>
                  <a:schemeClr val="tx1"/>
                </a:solidFill>
              </a:rPr>
              <a:t>	public void ridden(){ </a:t>
            </a:r>
            <a:r>
              <a:rPr lang="en-US" altLang="zh-CN" sz="1350">
                <a:solidFill>
                  <a:srgbClr val="00B050"/>
                </a:solidFill>
              </a:rPr>
              <a:t>//</a:t>
            </a:r>
            <a:r>
              <a:rPr lang="zh-CN" altLang="en-US" sz="1350">
                <a:solidFill>
                  <a:srgbClr val="00B050"/>
                </a:solidFill>
              </a:rPr>
              <a:t>被乘坐 </a:t>
            </a:r>
            <a:r>
              <a:rPr lang="en-US" altLang="zh-CN" sz="1350">
                <a:solidFill>
                  <a:srgbClr val="00B050"/>
                </a:solidFill>
              </a:rPr>
              <a:t>... </a:t>
            </a:r>
            <a:r>
              <a:rPr lang="en-US" altLang="zh-CN" sz="1350">
                <a:solidFill>
                  <a:schemeClr val="tx1"/>
                </a:solidFill>
              </a:rPr>
              <a:t>}</a:t>
            </a:r>
            <a:endParaRPr lang="en-US" altLang="zh-CN" sz="1350">
              <a:solidFill>
                <a:schemeClr val="tx1"/>
              </a:solidFill>
            </a:endParaRPr>
          </a:p>
          <a:p>
            <a:r>
              <a:rPr lang="en-US" altLang="zh-CN" sz="1350">
                <a:solidFill>
                  <a:schemeClr val="tx1"/>
                </a:solidFill>
              </a:rPr>
              <a:t>}</a:t>
            </a:r>
            <a:endParaRPr lang="en-US" altLang="zh-CN" sz="1350">
              <a:solidFill>
                <a:schemeClr val="tx1"/>
              </a:solidFill>
            </a:endParaRPr>
          </a:p>
        </p:txBody>
      </p:sp>
      <p:sp>
        <p:nvSpPr>
          <p:cNvPr id="7" name="文本框 6"/>
          <p:cNvSpPr txBox="1"/>
          <p:nvPr/>
        </p:nvSpPr>
        <p:spPr>
          <a:xfrm>
            <a:off x="1665117" y="2510549"/>
            <a:ext cx="5175521" cy="279307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dirty="0">
                <a:solidFill>
                  <a:srgbClr val="00B050"/>
                </a:solidFill>
              </a:rPr>
              <a:t>//</a:t>
            </a:r>
            <a:r>
              <a:rPr lang="zh-CN" altLang="en-US" sz="1350" dirty="0">
                <a:solidFill>
                  <a:srgbClr val="00B050"/>
                </a:solidFill>
              </a:rPr>
              <a:t>汽车类由引擎、底盘、轮胎等共同属性组成（聚合关系）</a:t>
            </a:r>
            <a:endParaRPr lang="zh-CN" altLang="en-US" sz="1350" dirty="0">
              <a:solidFill>
                <a:srgbClr val="00B050"/>
              </a:solidFill>
            </a:endParaRPr>
          </a:p>
          <a:p>
            <a:r>
              <a:rPr lang="en-US" altLang="zh-CN" sz="1350" dirty="0">
                <a:solidFill>
                  <a:srgbClr val="00B050"/>
                </a:solidFill>
              </a:rPr>
              <a:t>//</a:t>
            </a:r>
            <a:r>
              <a:rPr lang="zh-CN" altLang="en-US" sz="1350" dirty="0">
                <a:solidFill>
                  <a:srgbClr val="00B050"/>
                </a:solidFill>
              </a:rPr>
              <a:t>具有被维修、被加油的方法，这些方法依赖于加油站和维修厂</a:t>
            </a:r>
            <a:endParaRPr lang="zh-CN" altLang="en-US" sz="1350" dirty="0">
              <a:solidFill>
                <a:srgbClr val="00B050"/>
              </a:solidFill>
            </a:endParaRPr>
          </a:p>
          <a:p>
            <a:r>
              <a:rPr lang="en-US" altLang="zh-CN" sz="1350" dirty="0">
                <a:solidFill>
                  <a:schemeClr val="tx1"/>
                </a:solidFill>
              </a:rPr>
              <a:t>public class Automobile{</a:t>
            </a:r>
            <a:endParaRPr lang="en-US" altLang="zh-CN" sz="1350" dirty="0">
              <a:solidFill>
                <a:schemeClr val="tx1"/>
              </a:solidFill>
            </a:endParaRPr>
          </a:p>
          <a:p>
            <a:r>
              <a:rPr lang="en-US" altLang="zh-CN" sz="1350" dirty="0">
                <a:solidFill>
                  <a:schemeClr val="tx1"/>
                </a:solidFill>
              </a:rPr>
              <a:t>	private String Type;</a:t>
            </a:r>
            <a:endParaRPr lang="en-US" altLang="zh-CN" sz="1350" dirty="0">
              <a:solidFill>
                <a:schemeClr val="tx1"/>
              </a:solidFill>
            </a:endParaRPr>
          </a:p>
          <a:p>
            <a:r>
              <a:rPr lang="en-US" altLang="zh-CN" sz="1350" dirty="0">
                <a:solidFill>
                  <a:schemeClr val="tx1"/>
                </a:solidFill>
              </a:rPr>
              <a:t>	public Chassis </a:t>
            </a:r>
            <a:r>
              <a:rPr lang="en-US" altLang="zh-CN" sz="1350" dirty="0" err="1">
                <a:solidFill>
                  <a:schemeClr val="tx1"/>
                </a:solidFill>
              </a:rPr>
              <a:t>theChassis</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public Engine </a:t>
            </a:r>
            <a:r>
              <a:rPr lang="en-US" altLang="zh-CN" sz="1350" dirty="0" err="1">
                <a:solidFill>
                  <a:schemeClr val="tx1"/>
                </a:solidFill>
              </a:rPr>
              <a:t>theEngine</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public Tire </a:t>
            </a:r>
            <a:r>
              <a:rPr lang="en-US" altLang="zh-CN" sz="1350" dirty="0" err="1">
                <a:solidFill>
                  <a:schemeClr val="tx1"/>
                </a:solidFill>
              </a:rPr>
              <a:t>theTire</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r>
              <a:rPr lang="en-US" altLang="zh-CN" sz="1350" dirty="0">
                <a:solidFill>
                  <a:srgbClr val="00B050"/>
                </a:solidFill>
              </a:rPr>
              <a:t>//</a:t>
            </a:r>
            <a:r>
              <a:rPr lang="zh-CN" altLang="en-US" sz="1350" dirty="0">
                <a:solidFill>
                  <a:srgbClr val="00B050"/>
                </a:solidFill>
              </a:rPr>
              <a:t>依赖维修厂进行维修</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public void Repaired(</a:t>
            </a:r>
            <a:r>
              <a:rPr lang="en-US" altLang="zh-CN" sz="1350" dirty="0" err="1">
                <a:solidFill>
                  <a:schemeClr val="tx1"/>
                </a:solidFill>
              </a:rPr>
              <a:t>Repair_shop</a:t>
            </a:r>
            <a:r>
              <a:rPr lang="en-US" altLang="zh-CN" sz="1350" dirty="0">
                <a:solidFill>
                  <a:schemeClr val="tx1"/>
                </a:solidFill>
              </a:rPr>
              <a:t> shop) {...}</a:t>
            </a:r>
            <a:endParaRPr lang="en-US" altLang="zh-CN" sz="1350" dirty="0">
              <a:solidFill>
                <a:schemeClr val="tx1"/>
              </a:solidFill>
            </a:endParaRPr>
          </a:p>
          <a:p>
            <a:r>
              <a:rPr lang="en-US" altLang="zh-CN" sz="1350" dirty="0">
                <a:solidFill>
                  <a:schemeClr val="tx1"/>
                </a:solidFill>
              </a:rPr>
              <a:t>	public void Refuel(</a:t>
            </a:r>
            <a:r>
              <a:rPr lang="en-US" altLang="zh-CN" sz="1350" dirty="0" err="1">
                <a:solidFill>
                  <a:schemeClr val="tx1"/>
                </a:solidFill>
              </a:rPr>
              <a:t>Gas_station</a:t>
            </a:r>
            <a:r>
              <a:rPr lang="en-US" altLang="zh-CN" sz="1350" dirty="0">
                <a:solidFill>
                  <a:schemeClr val="tx1"/>
                </a:solidFill>
              </a:rPr>
              <a:t> station) {</a:t>
            </a:r>
            <a:endParaRPr lang="en-US" altLang="zh-CN" sz="1350" dirty="0">
              <a:solidFill>
                <a:schemeClr val="tx1"/>
              </a:solidFill>
            </a:endParaRPr>
          </a:p>
          <a:p>
            <a:r>
              <a:rPr lang="en-US" altLang="zh-CN" sz="1350" dirty="0">
                <a:solidFill>
                  <a:schemeClr val="tx1"/>
                </a:solidFill>
              </a:rPr>
              <a:t>		</a:t>
            </a:r>
            <a:r>
              <a:rPr lang="en-US" altLang="zh-CN" sz="1350" dirty="0" err="1">
                <a:solidFill>
                  <a:schemeClr val="tx1"/>
                </a:solidFill>
              </a:rPr>
              <a:t>station.oil</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endParaRPr lang="en-US" altLang="zh-CN" sz="1350" dirty="0">
              <a:solidFill>
                <a:schemeClr val="tx1"/>
              </a:solidFill>
            </a:endParaRPr>
          </a:p>
          <a:p>
            <a:r>
              <a:rPr lang="en-US" altLang="zh-CN" sz="1350" dirty="0">
                <a:solidFill>
                  <a:schemeClr val="tx1"/>
                </a:solidFill>
              </a:rPr>
              <a:t>}</a:t>
            </a:r>
            <a:endParaRPr lang="en-US" altLang="zh-CN" sz="1350" dirty="0">
              <a:solidFill>
                <a:schemeClr val="tx1"/>
              </a:solidFill>
            </a:endParaRPr>
          </a:p>
        </p:txBody>
      </p:sp>
      <p:sp>
        <p:nvSpPr>
          <p:cNvPr id="6" name="文本框 5"/>
          <p:cNvSpPr txBox="1"/>
          <p:nvPr/>
        </p:nvSpPr>
        <p:spPr>
          <a:xfrm>
            <a:off x="5571046" y="0"/>
            <a:ext cx="3572954" cy="341632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CN" sz="1350" dirty="0">
                <a:solidFill>
                  <a:schemeClr val="tx1"/>
                </a:solidFill>
              </a:rPr>
              <a:t>public class Chassis{...}</a:t>
            </a:r>
            <a:endParaRPr lang="en-US" altLang="zh-CN" sz="1350" dirty="0">
              <a:solidFill>
                <a:schemeClr val="tx1"/>
              </a:solidFill>
            </a:endParaRPr>
          </a:p>
          <a:p>
            <a:r>
              <a:rPr lang="en-US" altLang="zh-CN" sz="1350" dirty="0">
                <a:solidFill>
                  <a:schemeClr val="tx1"/>
                </a:solidFill>
              </a:rPr>
              <a:t>public class Engine{...}</a:t>
            </a:r>
            <a:endParaRPr lang="en-US" altLang="zh-CN" sz="1350" dirty="0">
              <a:solidFill>
                <a:schemeClr val="tx1"/>
              </a:solidFill>
            </a:endParaRPr>
          </a:p>
          <a:p>
            <a:r>
              <a:rPr lang="en-US" altLang="zh-CN" sz="1350" dirty="0">
                <a:solidFill>
                  <a:schemeClr val="tx1"/>
                </a:solidFill>
              </a:rPr>
              <a:t>public class Tire{...}</a:t>
            </a:r>
            <a:endParaRPr lang="en-US" altLang="zh-CN" sz="1350" dirty="0">
              <a:solidFill>
                <a:schemeClr val="tx1"/>
              </a:solidFill>
            </a:endParaRPr>
          </a:p>
          <a:p>
            <a:endParaRPr lang="en-US" altLang="zh-CN" sz="1350" dirty="0">
              <a:solidFill>
                <a:schemeClr val="tx1"/>
              </a:solidFill>
            </a:endParaRPr>
          </a:p>
          <a:p>
            <a:r>
              <a:rPr lang="en-US" altLang="zh-CN" sz="1350" dirty="0">
                <a:solidFill>
                  <a:schemeClr val="tx1"/>
                </a:solidFill>
              </a:rPr>
              <a:t>public class </a:t>
            </a:r>
            <a:r>
              <a:rPr lang="en-US" altLang="zh-CN" sz="1350" dirty="0" err="1">
                <a:solidFill>
                  <a:schemeClr val="tx1"/>
                </a:solidFill>
              </a:rPr>
              <a:t>Gas_station</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private </a:t>
            </a:r>
            <a:r>
              <a:rPr lang="en-US" altLang="zh-CN" sz="1350" dirty="0" err="1">
                <a:solidFill>
                  <a:schemeClr val="tx1"/>
                </a:solidFill>
              </a:rPr>
              <a:t>int</a:t>
            </a:r>
            <a:r>
              <a:rPr lang="en-US" altLang="zh-CN" sz="1350" dirty="0">
                <a:solidFill>
                  <a:schemeClr val="tx1"/>
                </a:solidFill>
              </a:rPr>
              <a:t> Grade;</a:t>
            </a:r>
            <a:endParaRPr lang="en-US" altLang="zh-CN" sz="1350" dirty="0">
              <a:solidFill>
                <a:schemeClr val="tx1"/>
              </a:solidFill>
            </a:endParaRPr>
          </a:p>
          <a:p>
            <a:r>
              <a:rPr lang="en-US" altLang="zh-CN" sz="1350" dirty="0">
                <a:solidFill>
                  <a:schemeClr val="tx1"/>
                </a:solidFill>
              </a:rPr>
              <a:t>	private Pump </a:t>
            </a:r>
            <a:r>
              <a:rPr lang="en-US" altLang="zh-CN" sz="1350" dirty="0" err="1">
                <a:solidFill>
                  <a:schemeClr val="tx1"/>
                </a:solidFill>
              </a:rPr>
              <a:t>pump</a:t>
            </a:r>
            <a:r>
              <a:rPr lang="en-US" altLang="zh-CN" sz="1350" dirty="0">
                <a:solidFill>
                  <a:schemeClr val="tx1"/>
                </a:solidFill>
              </a:rPr>
              <a:t>;</a:t>
            </a:r>
            <a:endParaRPr lang="en-US" altLang="zh-CN" sz="1350" dirty="0">
              <a:solidFill>
                <a:schemeClr val="tx1"/>
              </a:solidFill>
            </a:endParaRPr>
          </a:p>
          <a:p>
            <a:endParaRPr lang="en-US" altLang="zh-CN" sz="1350" dirty="0">
              <a:solidFill>
                <a:schemeClr val="tx1"/>
              </a:solidFill>
            </a:endParaRPr>
          </a:p>
          <a:p>
            <a:r>
              <a:rPr lang="en-US" altLang="zh-CN" sz="1350" dirty="0">
                <a:solidFill>
                  <a:schemeClr val="tx1"/>
                </a:solidFill>
              </a:rPr>
              <a:t>	public void oil(){   </a:t>
            </a:r>
            <a:r>
              <a:rPr lang="en-US" altLang="zh-CN" sz="1350" dirty="0">
                <a:solidFill>
                  <a:srgbClr val="00B050"/>
                </a:solidFill>
              </a:rPr>
              <a:t>//</a:t>
            </a:r>
            <a:r>
              <a:rPr lang="zh-CN" altLang="en-US" sz="1350" dirty="0">
                <a:solidFill>
                  <a:srgbClr val="00B050"/>
                </a:solidFill>
              </a:rPr>
              <a:t>加油依赖油泵</a:t>
            </a:r>
            <a:endParaRPr lang="zh-CN" altLang="en-US" sz="1350" dirty="0">
              <a:solidFill>
                <a:srgbClr val="00B050"/>
              </a:solidFill>
            </a:endParaRPr>
          </a:p>
          <a:p>
            <a:r>
              <a:rPr lang="zh-CN" altLang="en-US" sz="1350" dirty="0">
                <a:solidFill>
                  <a:srgbClr val="00B050"/>
                </a:solidFill>
              </a:rPr>
              <a:t>		</a:t>
            </a:r>
            <a:r>
              <a:rPr lang="en-US" altLang="zh-CN" sz="1350" dirty="0" err="1">
                <a:solidFill>
                  <a:schemeClr val="tx1"/>
                </a:solidFill>
              </a:rPr>
              <a:t>pump.oil</a:t>
            </a:r>
            <a:r>
              <a:rPr lang="en-US" altLang="zh-CN" sz="1350" dirty="0">
                <a:solidFill>
                  <a:schemeClr val="tx1"/>
                </a:solidFill>
              </a:rPr>
              <a:t>();</a:t>
            </a:r>
            <a:endParaRPr lang="en-US" altLang="zh-CN" sz="1350" dirty="0">
              <a:solidFill>
                <a:schemeClr val="tx1"/>
              </a:solidFill>
            </a:endParaRPr>
          </a:p>
          <a:p>
            <a:r>
              <a:rPr lang="en-US" altLang="zh-CN" sz="1350" dirty="0">
                <a:solidFill>
                  <a:schemeClr val="tx1"/>
                </a:solidFill>
              </a:rPr>
              <a:t>	}</a:t>
            </a:r>
            <a:endParaRPr lang="en-US" altLang="zh-CN" sz="1350" dirty="0">
              <a:solidFill>
                <a:schemeClr val="tx1"/>
              </a:solidFill>
            </a:endParaRPr>
          </a:p>
          <a:p>
            <a:r>
              <a:rPr lang="en-US" altLang="zh-CN" sz="1350" dirty="0">
                <a:solidFill>
                  <a:schemeClr val="tx1"/>
                </a:solidFill>
              </a:rPr>
              <a:t>}</a:t>
            </a:r>
            <a:endParaRPr lang="en-US" altLang="zh-CN" sz="1350" dirty="0">
              <a:solidFill>
                <a:schemeClr val="tx1"/>
              </a:solidFill>
            </a:endParaRPr>
          </a:p>
          <a:p>
            <a:endParaRPr lang="en-US" altLang="zh-CN" sz="1350" dirty="0">
              <a:solidFill>
                <a:schemeClr val="tx1"/>
              </a:solidFill>
            </a:endParaRPr>
          </a:p>
          <a:p>
            <a:r>
              <a:rPr lang="en-US" altLang="zh-CN" sz="1350" dirty="0">
                <a:solidFill>
                  <a:schemeClr val="tx1"/>
                </a:solidFill>
              </a:rPr>
              <a:t>public class Pump{    </a:t>
            </a:r>
            <a:r>
              <a:rPr lang="en-US" altLang="zh-CN" sz="1350" dirty="0">
                <a:solidFill>
                  <a:srgbClr val="00B050"/>
                </a:solidFill>
              </a:rPr>
              <a:t>//</a:t>
            </a:r>
            <a:r>
              <a:rPr lang="zh-CN" altLang="en-US" sz="1350" dirty="0">
                <a:solidFill>
                  <a:srgbClr val="00B050"/>
                </a:solidFill>
              </a:rPr>
              <a:t>油泵具有加油的方法</a:t>
            </a:r>
            <a:endParaRPr lang="zh-CN" altLang="en-US" sz="1350" dirty="0">
              <a:solidFill>
                <a:srgbClr val="00B050"/>
              </a:solidFill>
            </a:endParaRPr>
          </a:p>
          <a:p>
            <a:r>
              <a:rPr lang="zh-CN" altLang="en-US" sz="1350" dirty="0">
                <a:solidFill>
                  <a:srgbClr val="00B050"/>
                </a:solidFill>
              </a:rPr>
              <a:t>	</a:t>
            </a:r>
            <a:r>
              <a:rPr lang="en-US" altLang="zh-CN" sz="1350" dirty="0">
                <a:solidFill>
                  <a:schemeClr val="tx1"/>
                </a:solidFill>
              </a:rPr>
              <a:t>pubic void oil(){...}</a:t>
            </a:r>
            <a:endParaRPr lang="en-US" altLang="zh-CN" sz="1350" dirty="0">
              <a:solidFill>
                <a:schemeClr val="tx1"/>
              </a:solidFill>
            </a:endParaRPr>
          </a:p>
          <a:p>
            <a:r>
              <a:rPr lang="en-US" altLang="zh-CN" sz="1350" dirty="0">
                <a:solidFill>
                  <a:schemeClr val="tx1"/>
                </a:solidFill>
              </a:rPr>
              <a:t>}</a:t>
            </a:r>
            <a:endParaRPr lang="en-US" altLang="zh-CN" sz="1350" dirty="0">
              <a:solidFill>
                <a:schemeClr val="tx1"/>
              </a:solidFill>
            </a:endParaRPr>
          </a:p>
        </p:txBody>
      </p:sp>
      <p:sp>
        <p:nvSpPr>
          <p:cNvPr id="5" name="日期占位符 4"/>
          <p:cNvSpPr>
            <a:spLocks noGrp="1"/>
          </p:cNvSpPr>
          <p:nvPr>
            <p:ph type="dt" sz="half" idx="10"/>
          </p:nvPr>
        </p:nvSpPr>
        <p:spPr/>
        <p:txBody>
          <a:bodyPr/>
          <a:lstStyle/>
          <a:p>
            <a:fld id="{2080092F-0BD8-4DAD-BCF4-A2ECBF4657E0}"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7" grpId="0" bldLvl="0" animBg="1"/>
      <p:bldP spid="6"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本次</a:t>
            </a:r>
            <a:r>
              <a:rPr lang="zh-CN" altLang="en-US" dirty="0"/>
              <a:t>课程</a:t>
            </a:r>
            <a:r>
              <a:rPr lang="zh-CN" altLang="en-US" b="1" dirty="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fontScale="92500" lnSpcReduction="10000"/>
          </a:bodyPr>
          <a:lstStyle/>
          <a:p>
            <a:pPr marL="457200" indent="-457200">
              <a:lnSpc>
                <a:spcPct val="120000"/>
              </a:lnSpc>
            </a:pPr>
            <a:r>
              <a:rPr lang="zh-CN" altLang="en-US" dirty="0">
                <a:latin typeface="+mj-ea"/>
                <a:ea typeface="+mj-ea"/>
              </a:rPr>
              <a:t>第</a:t>
            </a:r>
            <a:r>
              <a:rPr lang="en-US" altLang="zh-CN" dirty="0">
                <a:latin typeface="+mj-ea"/>
                <a:ea typeface="+mj-ea"/>
              </a:rPr>
              <a:t>3</a:t>
            </a:r>
            <a:r>
              <a:rPr lang="zh-CN" altLang="en-US" dirty="0">
                <a:latin typeface="+mj-ea"/>
                <a:ea typeface="+mj-ea"/>
              </a:rPr>
              <a:t>章 需求分析</a:t>
            </a:r>
            <a:endParaRPr lang="en-US" altLang="zh-CN" dirty="0">
              <a:latin typeface="+mj-ea"/>
              <a:ea typeface="+mj-ea"/>
            </a:endParaRPr>
          </a:p>
          <a:p>
            <a:pPr marL="1108710" lvl="1" indent="-457200">
              <a:lnSpc>
                <a:spcPct val="120000"/>
              </a:lnSpc>
            </a:pPr>
            <a:r>
              <a:rPr lang="zh-CN" altLang="en-US" dirty="0"/>
              <a:t>软件需求规格说明</a:t>
            </a:r>
            <a:endParaRPr lang="zh-CN" altLang="en-US" dirty="0">
              <a:solidFill>
                <a:schemeClr val="tx2">
                  <a:lumMod val="90000"/>
                  <a:lumOff val="10000"/>
                </a:schemeClr>
              </a:solidFill>
            </a:endParaRPr>
          </a:p>
          <a:p>
            <a:pPr marL="457200" indent="-457200">
              <a:lnSpc>
                <a:spcPct val="120000"/>
              </a:lnSpc>
            </a:pPr>
            <a:r>
              <a:rPr lang="zh-CN" altLang="en-US" dirty="0">
                <a:solidFill>
                  <a:schemeClr val="tx2">
                    <a:lumMod val="90000"/>
                    <a:lumOff val="10000"/>
                  </a:schemeClr>
                </a:solidFill>
              </a:rPr>
              <a:t>第</a:t>
            </a:r>
            <a:r>
              <a:rPr lang="en-US" altLang="zh-CN" dirty="0">
                <a:solidFill>
                  <a:schemeClr val="tx2">
                    <a:lumMod val="90000"/>
                    <a:lumOff val="10000"/>
                  </a:schemeClr>
                </a:solidFill>
              </a:rPr>
              <a:t>5</a:t>
            </a:r>
            <a:r>
              <a:rPr lang="zh-CN" altLang="en-US" dirty="0">
                <a:solidFill>
                  <a:schemeClr val="tx2">
                    <a:lumMod val="90000"/>
                    <a:lumOff val="10000"/>
                  </a:schemeClr>
                </a:solidFill>
              </a:rPr>
              <a:t>章 总体设计</a:t>
            </a:r>
            <a:endParaRPr lang="en-US" altLang="zh-CN" dirty="0">
              <a:solidFill>
                <a:schemeClr val="tx2">
                  <a:lumMod val="90000"/>
                  <a:lumOff val="10000"/>
                </a:schemeClr>
              </a:solidFill>
            </a:endParaRPr>
          </a:p>
          <a:p>
            <a:pPr marL="1108710" lvl="1" indent="-457200">
              <a:lnSpc>
                <a:spcPct val="120000"/>
              </a:lnSpc>
            </a:pPr>
            <a:r>
              <a:rPr lang="zh-CN" altLang="en-US" dirty="0"/>
              <a:t>设计过程</a:t>
            </a:r>
            <a:endParaRPr lang="en-US" altLang="zh-CN" dirty="0">
              <a:solidFill>
                <a:schemeClr val="tx2">
                  <a:lumMod val="90000"/>
                  <a:lumOff val="10000"/>
                </a:schemeClr>
              </a:solidFill>
            </a:endParaRPr>
          </a:p>
          <a:p>
            <a:pPr marL="457200" indent="-457200">
              <a:lnSpc>
                <a:spcPct val="120000"/>
              </a:lnSpc>
            </a:pPr>
            <a:r>
              <a:rPr lang="zh-CN" altLang="en-US" dirty="0">
                <a:solidFill>
                  <a:schemeClr val="tx2">
                    <a:lumMod val="90000"/>
                    <a:lumOff val="10000"/>
                  </a:schemeClr>
                </a:solidFill>
              </a:rPr>
              <a:t>第</a:t>
            </a:r>
            <a:r>
              <a:rPr lang="en-US" altLang="zh-CN" dirty="0">
                <a:solidFill>
                  <a:schemeClr val="tx2">
                    <a:lumMod val="90000"/>
                    <a:lumOff val="10000"/>
                  </a:schemeClr>
                </a:solidFill>
              </a:rPr>
              <a:t>11</a:t>
            </a:r>
            <a:r>
              <a:rPr lang="zh-CN" altLang="en-US" dirty="0">
                <a:solidFill>
                  <a:schemeClr val="tx2">
                    <a:lumMod val="90000"/>
                    <a:lumOff val="10000"/>
                  </a:schemeClr>
                </a:solidFill>
              </a:rPr>
              <a:t>章 面向对象</a:t>
            </a:r>
            <a:r>
              <a:rPr lang="zh-CN" altLang="en-US" dirty="0"/>
              <a:t>设计</a:t>
            </a:r>
            <a:endParaRPr lang="en-US" altLang="zh-CN" dirty="0">
              <a:solidFill>
                <a:schemeClr val="tx2">
                  <a:lumMod val="90000"/>
                  <a:lumOff val="10000"/>
                </a:schemeClr>
              </a:solidFill>
            </a:endParaRPr>
          </a:p>
          <a:p>
            <a:pPr marL="1108710" lvl="1" indent="-457200">
              <a:lnSpc>
                <a:spcPct val="120000"/>
              </a:lnSpc>
            </a:pPr>
            <a:r>
              <a:rPr lang="zh-CN" altLang="en-US" dirty="0"/>
              <a:t>设计数据管理子系统</a:t>
            </a:r>
            <a:endParaRPr lang="en-US" altLang="zh-CN" dirty="0">
              <a:solidFill>
                <a:schemeClr val="tx2">
                  <a:lumMod val="90000"/>
                  <a:lumOff val="10000"/>
                </a:schemeClr>
              </a:solidFill>
            </a:endParaRPr>
          </a:p>
        </p:txBody>
      </p:sp>
      <p:sp>
        <p:nvSpPr>
          <p:cNvPr id="7" name="日期占位符 6"/>
          <p:cNvSpPr>
            <a:spLocks noGrp="1"/>
          </p:cNvSpPr>
          <p:nvPr>
            <p:ph type="dt" sz="half" idx="10"/>
          </p:nvPr>
        </p:nvSpPr>
        <p:spPr/>
        <p:txBody>
          <a:bodyPr/>
          <a:lstStyle/>
          <a:p>
            <a:fld id="{40213B55-BCD2-4BC4-A93D-CF53A13F8814}"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3014633"/>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1</a:t>
            </a:r>
            <a:r>
              <a:rPr lang="zh-CN" altLang="en-US" sz="2000" b="1" spc="169" dirty="0">
                <a:solidFill>
                  <a:schemeClr val="bg1"/>
                </a:solidFill>
                <a:latin typeface="+mj-ea"/>
                <a:ea typeface="+mj-ea"/>
                <a:sym typeface="+mn-ea"/>
              </a:rPr>
              <a:t>：完成非功能需求</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E4459F3D-F4D4-4D7E-A81F-FDD9DE88BA0D}"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8184" name="Object 8"/>
          <p:cNvGraphicFramePr>
            <a:graphicFrameLocks noGrp="1" noChangeAspect="1"/>
          </p:cNvGraphicFramePr>
          <p:nvPr>
            <p:ph idx="1"/>
          </p:nvPr>
        </p:nvGraphicFramePr>
        <p:xfrm>
          <a:off x="3184976" y="345967"/>
          <a:ext cx="4338799" cy="4712801"/>
        </p:xfrm>
        <a:graphic>
          <a:graphicData uri="http://schemas.openxmlformats.org/presentationml/2006/ole">
            <mc:AlternateContent xmlns:mc="http://schemas.openxmlformats.org/markup-compatibility/2006">
              <mc:Choice xmlns:v="urn:schemas-microsoft-com:vml" Requires="v">
                <p:oleObj spid="_x0000_s24700" name="Visio" r:id="rId1" imgW="4335145" imgH="4707255" progId="Visio.Drawing.11">
                  <p:embed/>
                </p:oleObj>
              </mc:Choice>
              <mc:Fallback>
                <p:oleObj name="Visio" r:id="rId1" imgW="4335145" imgH="4707255" progId="Visio.Drawing.11">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976" y="345967"/>
                        <a:ext cx="4338799" cy="4712801"/>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78178" name="Rectangle 2"/>
          <p:cNvSpPr>
            <a:spLocks noGrp="1" noChangeArrowheads="1"/>
          </p:cNvSpPr>
          <p:nvPr>
            <p:ph type="title"/>
          </p:nvPr>
        </p:nvSpPr>
        <p:spPr/>
        <p:txBody>
          <a:bodyPr>
            <a:normAutofit/>
          </a:bodyPr>
          <a:lstStyle/>
          <a:p>
            <a:r>
              <a:rPr lang="zh-CN" altLang="en-US" dirty="0"/>
              <a:t>需求的层次</a:t>
            </a:r>
            <a:endParaRPr lang="zh-CN" altLang="en-US" dirty="0"/>
          </a:p>
        </p:txBody>
      </p:sp>
      <p:sp>
        <p:nvSpPr>
          <p:cNvPr id="178185" name="Line 9"/>
          <p:cNvSpPr>
            <a:spLocks noChangeShapeType="1"/>
          </p:cNvSpPr>
          <p:nvPr/>
        </p:nvSpPr>
        <p:spPr bwMode="auto">
          <a:xfrm flipH="1">
            <a:off x="2605867" y="4406478"/>
            <a:ext cx="514350" cy="0"/>
          </a:xfrm>
          <a:prstGeom prst="line">
            <a:avLst/>
          </a:prstGeom>
          <a:noFill/>
          <a:ln w="76200">
            <a:solidFill>
              <a:schemeClr val="tx1"/>
            </a:solidFill>
            <a:round/>
            <a:tailEnd type="triangle" w="med" len="med"/>
          </a:ln>
          <a:effectLst/>
        </p:spPr>
        <p:txBody>
          <a:bodyPr wrap="none" lIns="80963" tIns="40481" rIns="80963" bIns="40481" anchor="ctr"/>
          <a:lstStyle/>
          <a:p>
            <a:endParaRPr lang="zh-CN" altLang="en-US" sz="1350"/>
          </a:p>
        </p:txBody>
      </p:sp>
      <p:sp>
        <p:nvSpPr>
          <p:cNvPr id="178186" name="Text Box 10"/>
          <p:cNvSpPr txBox="1">
            <a:spLocks noChangeArrowheads="1"/>
          </p:cNvSpPr>
          <p:nvPr/>
        </p:nvSpPr>
        <p:spPr bwMode="auto">
          <a:xfrm>
            <a:off x="1140833" y="4211714"/>
            <a:ext cx="1445910" cy="389529"/>
          </a:xfrm>
          <a:prstGeom prst="rect">
            <a:avLst/>
          </a:prstGeom>
          <a:noFill/>
          <a:ln w="9525" algn="ctr">
            <a:noFill/>
            <a:miter lim="800000"/>
          </a:ln>
          <a:effectLst/>
        </p:spPr>
        <p:txBody>
          <a:bodyPr wrap="none" lIns="80963" tIns="40481" rIns="80963" bIns="40481">
            <a:spAutoFit/>
          </a:bodyPr>
          <a:lstStyle/>
          <a:p>
            <a:r>
              <a:rPr lang="zh-CN" altLang="en-US" sz="2000" dirty="0">
                <a:latin typeface="+mj-ea"/>
                <a:ea typeface="+mj-ea"/>
              </a:rPr>
              <a:t>功能性需求</a:t>
            </a:r>
            <a:endParaRPr lang="zh-CN" altLang="en-US" sz="2000" dirty="0">
              <a:latin typeface="+mj-ea"/>
              <a:ea typeface="+mj-ea"/>
            </a:endParaRPr>
          </a:p>
        </p:txBody>
      </p:sp>
      <p:sp>
        <p:nvSpPr>
          <p:cNvPr id="178187" name="AutoShape 11"/>
          <p:cNvSpPr/>
          <p:nvPr/>
        </p:nvSpPr>
        <p:spPr bwMode="auto">
          <a:xfrm>
            <a:off x="2834467" y="812228"/>
            <a:ext cx="450967" cy="2893239"/>
          </a:xfrm>
          <a:prstGeom prst="leftBrace">
            <a:avLst>
              <a:gd name="adj1" fmla="val 46667"/>
              <a:gd name="adj2" fmla="val 50000"/>
            </a:avLst>
          </a:prstGeom>
          <a:noFill/>
          <a:ln w="76200">
            <a:solidFill>
              <a:schemeClr val="tx1"/>
            </a:solidFill>
            <a:round/>
          </a:ln>
          <a:effectLst/>
        </p:spPr>
        <p:txBody>
          <a:bodyPr wrap="none" lIns="80963" tIns="40481" rIns="80963" bIns="40481" anchor="ctr"/>
          <a:lstStyle/>
          <a:p>
            <a:endParaRPr lang="zh-CN" altLang="en-US" sz="1350"/>
          </a:p>
        </p:txBody>
      </p:sp>
      <p:sp>
        <p:nvSpPr>
          <p:cNvPr id="178188" name="Text Box 12"/>
          <p:cNvSpPr txBox="1">
            <a:spLocks noChangeArrowheads="1"/>
          </p:cNvSpPr>
          <p:nvPr/>
        </p:nvSpPr>
        <p:spPr bwMode="auto">
          <a:xfrm>
            <a:off x="1049570" y="2087588"/>
            <a:ext cx="1702390" cy="389529"/>
          </a:xfrm>
          <a:prstGeom prst="rect">
            <a:avLst/>
          </a:prstGeom>
          <a:noFill/>
          <a:ln w="9525" algn="ctr">
            <a:noFill/>
            <a:miter lim="800000"/>
          </a:ln>
          <a:effectLst/>
        </p:spPr>
        <p:txBody>
          <a:bodyPr vert="horz" wrap="none" lIns="80963" tIns="40481" rIns="80963" bIns="40481">
            <a:spAutoFit/>
          </a:bodyPr>
          <a:lstStyle/>
          <a:p>
            <a:r>
              <a:rPr lang="zh-CN" altLang="en-US" sz="2000" dirty="0">
                <a:latin typeface="+mj-ea"/>
                <a:ea typeface="+mj-ea"/>
              </a:rPr>
              <a:t>非功能性需求</a:t>
            </a:r>
            <a:endParaRPr lang="zh-CN" altLang="en-US" sz="2000" dirty="0">
              <a:latin typeface="+mj-ea"/>
              <a:ea typeface="+mj-ea"/>
            </a:endParaRPr>
          </a:p>
        </p:txBody>
      </p:sp>
      <p:sp>
        <p:nvSpPr>
          <p:cNvPr id="2" name="日期占位符 1"/>
          <p:cNvSpPr>
            <a:spLocks noGrp="1"/>
          </p:cNvSpPr>
          <p:nvPr>
            <p:ph type="dt" sz="half" idx="10"/>
          </p:nvPr>
        </p:nvSpPr>
        <p:spPr/>
        <p:txBody>
          <a:bodyPr/>
          <a:lstStyle/>
          <a:p>
            <a:fld id="{D49442B7-F8A4-4185-8F13-3FFB6C418ED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78184"/>
                                        </p:tgtEl>
                                        <p:attrNameLst>
                                          <p:attrName>style.visibility</p:attrName>
                                        </p:attrNameLst>
                                      </p:cBhvr>
                                      <p:to>
                                        <p:strVal val="visible"/>
                                      </p:to>
                                    </p:set>
                                    <p:animEffect transition="in" filter="diamond(in)">
                                      <p:cBhvr>
                                        <p:cTn id="7" dur="2000"/>
                                        <p:tgtEl>
                                          <p:spTgt spid="17818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818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818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818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78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5" grpId="0" bldLvl="0" animBg="1"/>
      <p:bldP spid="178186" grpId="0" bldLvl="0" animBg="1"/>
      <p:bldP spid="178187" grpId="0" bldLvl="0" animBg="1"/>
      <p:bldP spid="178188"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5"/>
          <p:cNvSpPr>
            <a:spLocks noGrp="1" noChangeArrowheads="1"/>
          </p:cNvSpPr>
          <p:nvPr>
            <p:ph type="title"/>
          </p:nvPr>
        </p:nvSpPr>
        <p:spPr/>
        <p:txBody>
          <a:bodyPr/>
          <a:lstStyle/>
          <a:p>
            <a:pPr>
              <a:defRPr/>
            </a:pPr>
            <a:r>
              <a:rPr lang="zh-CN" altLang="en-US" dirty="0"/>
              <a:t>非功能性需求的类型</a:t>
            </a:r>
            <a:endParaRPr lang="zh-CN" altLang="en-US" dirty="0"/>
          </a:p>
        </p:txBody>
      </p:sp>
      <p:sp>
        <p:nvSpPr>
          <p:cNvPr id="2" name="日期占位符 1"/>
          <p:cNvSpPr>
            <a:spLocks noGrp="1"/>
          </p:cNvSpPr>
          <p:nvPr>
            <p:ph type="dt" sz="half" idx="10"/>
          </p:nvPr>
        </p:nvSpPr>
        <p:spPr/>
        <p:txBody>
          <a:bodyPr/>
          <a:lstStyle/>
          <a:p>
            <a:fld id="{09704C2D-342C-4B1C-9FB1-91A36A900BF2}"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9219" name="Object 3"/>
          <p:cNvGraphicFramePr>
            <a:graphicFrameLocks noGrp="1" noChangeAspect="1"/>
          </p:cNvGraphicFramePr>
          <p:nvPr>
            <p:ph idx="4294967295"/>
          </p:nvPr>
        </p:nvGraphicFramePr>
        <p:xfrm>
          <a:off x="644438" y="933084"/>
          <a:ext cx="8071812" cy="3488444"/>
        </p:xfrm>
        <a:graphic>
          <a:graphicData uri="http://schemas.openxmlformats.org/presentationml/2006/ole">
            <mc:AlternateContent xmlns:mc="http://schemas.openxmlformats.org/markup-compatibility/2006">
              <mc:Choice xmlns:v="urn:schemas-microsoft-com:vml" Requires="v">
                <p:oleObj spid="_x0000_s25724" name="Visio" r:id="rId1" imgW="5601970" imgH="2427605" progId="Visio.Drawing.11">
                  <p:embed/>
                </p:oleObj>
              </mc:Choice>
              <mc:Fallback>
                <p:oleObj name="Visio" r:id="rId1" imgW="5601970" imgH="242760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38" y="933084"/>
                        <a:ext cx="8071812" cy="3488444"/>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idx="1"/>
          </p:nvPr>
        </p:nvSpPr>
        <p:spPr>
          <a:xfrm>
            <a:off x="1485900" y="1285875"/>
            <a:ext cx="6172200" cy="3219595"/>
          </a:xfrm>
        </p:spPr>
        <p:txBody>
          <a:bodyPr/>
          <a:lstStyle/>
          <a:p>
            <a:pPr marL="342900" indent="-342900">
              <a:buFont typeface="+mj-lt"/>
              <a:buAutoNum type="arabicPeriod"/>
            </a:pPr>
            <a:r>
              <a:rPr lang="zh-CN" altLang="en-US" sz="2400" dirty="0"/>
              <a:t>可靠性</a:t>
            </a:r>
            <a:endParaRPr lang="zh-CN" altLang="en-US" sz="2400" dirty="0"/>
          </a:p>
          <a:p>
            <a:pPr marL="342900" indent="-342900">
              <a:buFont typeface="+mj-lt"/>
              <a:buAutoNum type="arabicPeriod"/>
            </a:pPr>
            <a:r>
              <a:rPr lang="zh-CN" altLang="en-US" sz="2400" dirty="0"/>
              <a:t>可用性</a:t>
            </a:r>
            <a:endParaRPr lang="zh-CN" altLang="en-US" sz="2400" dirty="0"/>
          </a:p>
          <a:p>
            <a:pPr marL="342900" indent="-342900">
              <a:buFont typeface="+mj-lt"/>
              <a:buAutoNum type="arabicPeriod"/>
            </a:pPr>
            <a:r>
              <a:rPr lang="zh-CN" altLang="en-US" sz="2400" dirty="0"/>
              <a:t>有效性</a:t>
            </a:r>
            <a:endParaRPr lang="zh-CN" altLang="en-US" sz="2400" dirty="0"/>
          </a:p>
          <a:p>
            <a:pPr marL="342900" indent="-342900">
              <a:buFont typeface="+mj-lt"/>
              <a:buAutoNum type="arabicPeriod"/>
            </a:pPr>
            <a:r>
              <a:rPr lang="zh-CN" altLang="en-US" sz="2400" dirty="0"/>
              <a:t>可移植性</a:t>
            </a:r>
            <a:endParaRPr lang="en-US" altLang="zh-CN" sz="2400" dirty="0"/>
          </a:p>
          <a:p>
            <a:pPr marL="0" indent="0">
              <a:buNone/>
            </a:pPr>
            <a:r>
              <a:rPr lang="en-US" altLang="zh-CN" sz="2400" dirty="0"/>
              <a:t>……</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79202" name="Rectangle 2"/>
          <p:cNvSpPr>
            <a:spLocks noGrp="1" noChangeArrowheads="1"/>
          </p:cNvSpPr>
          <p:nvPr>
            <p:ph type="title"/>
          </p:nvPr>
        </p:nvSpPr>
        <p:spPr/>
        <p:txBody>
          <a:bodyPr/>
          <a:lstStyle/>
          <a:p>
            <a:r>
              <a:rPr lang="zh-CN" altLang="en-US" dirty="0"/>
              <a:t>非功能性需求的几个方面</a:t>
            </a:r>
            <a:endParaRPr lang="zh-CN" altLang="en-US" dirty="0"/>
          </a:p>
        </p:txBody>
      </p:sp>
      <p:sp>
        <p:nvSpPr>
          <p:cNvPr id="2" name="日期占位符 1"/>
          <p:cNvSpPr>
            <a:spLocks noGrp="1"/>
          </p:cNvSpPr>
          <p:nvPr>
            <p:ph type="dt" sz="half" idx="10"/>
          </p:nvPr>
        </p:nvSpPr>
        <p:spPr/>
        <p:txBody>
          <a:bodyPr/>
          <a:lstStyle/>
          <a:p>
            <a:fld id="{021EBB84-AF5E-4F6F-B9E5-2953007B7E2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1 </a:t>
            </a:r>
            <a:r>
              <a:rPr lang="zh-CN" altLang="en-US" dirty="0"/>
              <a:t>可靠性</a:t>
            </a:r>
            <a:r>
              <a:rPr lang="en-US" altLang="zh-CN" dirty="0"/>
              <a:t>——</a:t>
            </a:r>
            <a:r>
              <a:rPr lang="zh-CN" altLang="en-US" dirty="0"/>
              <a:t>安全性、事务性、稳定性</a:t>
            </a:r>
            <a:endParaRPr lang="zh-CN" altLang="en-US" dirty="0"/>
          </a:p>
        </p:txBody>
      </p:sp>
      <p:sp>
        <p:nvSpPr>
          <p:cNvPr id="4" name="文本占位符 3"/>
          <p:cNvSpPr>
            <a:spLocks noGrp="1"/>
          </p:cNvSpPr>
          <p:nvPr>
            <p:ph idx="1"/>
          </p:nvPr>
        </p:nvSpPr>
        <p:spPr>
          <a:xfrm>
            <a:off x="909670" y="875213"/>
            <a:ext cx="7832833" cy="3750197"/>
          </a:xfrm>
        </p:spPr>
        <p:txBody>
          <a:bodyPr>
            <a:noAutofit/>
          </a:bodyPr>
          <a:lstStyle/>
          <a:p>
            <a:pPr>
              <a:lnSpc>
                <a:spcPct val="120000"/>
              </a:lnSpc>
            </a:pPr>
            <a:r>
              <a:rPr lang="zh-CN" altLang="en-US" sz="2200" dirty="0"/>
              <a:t>可靠性可以从</a:t>
            </a:r>
            <a:r>
              <a:rPr lang="zh-CN" altLang="en-US" sz="2200" b="1" dirty="0">
                <a:solidFill>
                  <a:srgbClr val="FF0000"/>
                </a:solidFill>
              </a:rPr>
              <a:t>安全性、事务性和稳定性</a:t>
            </a:r>
            <a:r>
              <a:rPr lang="zh-CN" altLang="en-US" sz="2200" dirty="0"/>
              <a:t>三方面来衡量。</a:t>
            </a:r>
            <a:endParaRPr lang="zh-CN" altLang="en-US" sz="2200" dirty="0"/>
          </a:p>
          <a:p>
            <a:pPr>
              <a:lnSpc>
                <a:spcPct val="120000"/>
              </a:lnSpc>
            </a:pPr>
            <a:r>
              <a:rPr lang="zh-CN" altLang="en-US" sz="2200" b="1" dirty="0">
                <a:solidFill>
                  <a:srgbClr val="FF0000"/>
                </a:solidFill>
              </a:rPr>
              <a:t>安全性</a:t>
            </a:r>
            <a:r>
              <a:rPr lang="zh-CN" altLang="en-US" sz="2200" dirty="0"/>
              <a:t>与用户业务内容相关。如果开发的软件是信息安全级别很高的，如政府机构的办公文件，那么相应的安全性需求也会很高。</a:t>
            </a:r>
            <a:endParaRPr lang="en-US" altLang="zh-CN" sz="2200" dirty="0"/>
          </a:p>
          <a:p>
            <a:pPr>
              <a:lnSpc>
                <a:spcPct val="120000"/>
              </a:lnSpc>
            </a:pPr>
            <a:r>
              <a:rPr lang="zh-CN" altLang="en-US" sz="2200" dirty="0"/>
              <a:t>另外，对于软件运行的环境来说，如果是一个运用于广域网的软件，如淘宝网，那么相应的安全级别就要高，反之，如果是仅仅运用与局域网，或者是一个单机软件，那么安全性要求就比较低。</a:t>
            </a:r>
            <a:endParaRPr lang="zh-CN" altLang="en-US" sz="2200" dirty="0"/>
          </a:p>
        </p:txBody>
      </p:sp>
      <p:sp>
        <p:nvSpPr>
          <p:cNvPr id="2" name="日期占位符 1"/>
          <p:cNvSpPr>
            <a:spLocks noGrp="1"/>
          </p:cNvSpPr>
          <p:nvPr>
            <p:ph type="dt" sz="half" idx="10"/>
          </p:nvPr>
        </p:nvSpPr>
        <p:spPr/>
        <p:txBody>
          <a:bodyPr/>
          <a:lstStyle/>
          <a:p>
            <a:fld id="{86977B01-3117-4683-86CF-BE7323B6E7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1 </a:t>
            </a:r>
            <a:r>
              <a:rPr lang="zh-CN" altLang="en-US" dirty="0"/>
              <a:t>可靠性</a:t>
            </a:r>
            <a:r>
              <a:rPr lang="en-US" altLang="zh-CN" dirty="0"/>
              <a:t>——</a:t>
            </a:r>
            <a:r>
              <a:rPr lang="zh-CN" altLang="en-US" dirty="0"/>
              <a:t>安全性、事务性、稳定性</a:t>
            </a:r>
            <a:endParaRPr lang="zh-CN" altLang="en-US" dirty="0"/>
          </a:p>
        </p:txBody>
      </p:sp>
      <p:sp>
        <p:nvSpPr>
          <p:cNvPr id="5" name="文本占位符 4"/>
          <p:cNvSpPr>
            <a:spLocks noGrp="1"/>
          </p:cNvSpPr>
          <p:nvPr>
            <p:ph idx="1"/>
          </p:nvPr>
        </p:nvSpPr>
        <p:spPr>
          <a:xfrm>
            <a:off x="768097" y="925167"/>
            <a:ext cx="8090153" cy="3806854"/>
          </a:xfrm>
        </p:spPr>
        <p:txBody>
          <a:bodyPr>
            <a:normAutofit lnSpcReduction="10000"/>
          </a:bodyPr>
          <a:lstStyle/>
          <a:p>
            <a:pPr>
              <a:lnSpc>
                <a:spcPct val="100000"/>
              </a:lnSpc>
            </a:pPr>
            <a:r>
              <a:rPr lang="zh-CN" altLang="en-US" sz="2400" b="1" dirty="0">
                <a:solidFill>
                  <a:srgbClr val="FF0000"/>
                </a:solidFill>
              </a:rPr>
              <a:t>事务性</a:t>
            </a:r>
            <a:r>
              <a:rPr lang="zh-CN" altLang="en-US" sz="2400" dirty="0"/>
              <a:t>指的是保障系统的</a:t>
            </a:r>
            <a:r>
              <a:rPr lang="en-US" altLang="zh-CN" sz="2400" dirty="0"/>
              <a:t>ACID</a:t>
            </a:r>
            <a:r>
              <a:rPr lang="zh-CN" altLang="en-US" sz="2400" dirty="0"/>
              <a:t>能力。</a:t>
            </a:r>
            <a:endParaRPr lang="zh-CN" altLang="en-US" sz="2400" dirty="0"/>
          </a:p>
          <a:p>
            <a:pPr lvl="1">
              <a:lnSpc>
                <a:spcPct val="100000"/>
              </a:lnSpc>
            </a:pPr>
            <a:r>
              <a:rPr lang="en-US" altLang="zh-CN" sz="2000" b="1" dirty="0">
                <a:solidFill>
                  <a:srgbClr val="FF0000"/>
                </a:solidFill>
              </a:rPr>
              <a:t>A——Atomicity</a:t>
            </a:r>
            <a:r>
              <a:rPr lang="zh-CN" altLang="en-US" sz="2000" b="1" dirty="0">
                <a:solidFill>
                  <a:srgbClr val="FF0000"/>
                </a:solidFill>
              </a:rPr>
              <a:t>原子性</a:t>
            </a:r>
            <a:r>
              <a:rPr lang="zh-CN" altLang="en-US" sz="2000" dirty="0">
                <a:solidFill>
                  <a:srgbClr val="FF0000"/>
                </a:solidFill>
              </a:rPr>
              <a:t>：</a:t>
            </a:r>
            <a:r>
              <a:rPr lang="zh-CN" altLang="en-US" sz="2000" dirty="0"/>
              <a:t>在任何操作出现错误的情况下，构成事务的所有操作效果必须被撤销，例如：取钱不成功的话，要保证用户帐号的金额不会被扣掉。</a:t>
            </a:r>
            <a:endParaRPr lang="zh-CN" altLang="en-US" sz="2000" dirty="0"/>
          </a:p>
          <a:p>
            <a:pPr lvl="1">
              <a:lnSpc>
                <a:spcPct val="100000"/>
              </a:lnSpc>
            </a:pPr>
            <a:r>
              <a:rPr lang="en-US" altLang="zh-CN" sz="2000" b="1" dirty="0">
                <a:solidFill>
                  <a:srgbClr val="FF0000"/>
                </a:solidFill>
              </a:rPr>
              <a:t>C——Consistency</a:t>
            </a:r>
            <a:r>
              <a:rPr lang="zh-CN" altLang="en-US" sz="2000" b="1" dirty="0">
                <a:solidFill>
                  <a:srgbClr val="FF0000"/>
                </a:solidFill>
              </a:rPr>
              <a:t>一致性</a:t>
            </a:r>
            <a:r>
              <a:rPr lang="zh-CN" altLang="en-US" sz="2000" dirty="0">
                <a:solidFill>
                  <a:srgbClr val="FF0000"/>
                </a:solidFill>
              </a:rPr>
              <a:t>：</a:t>
            </a:r>
            <a:r>
              <a:rPr lang="zh-CN" altLang="en-US" sz="2000" dirty="0"/>
              <a:t>一个事务应该保护所有定义在数据上的不变的属性，例如数据库管理系统中的完整性约束。</a:t>
            </a:r>
            <a:endParaRPr lang="zh-CN" altLang="en-US" sz="2000" dirty="0"/>
          </a:p>
          <a:p>
            <a:pPr lvl="1">
              <a:lnSpc>
                <a:spcPct val="100000"/>
              </a:lnSpc>
            </a:pPr>
            <a:r>
              <a:rPr lang="en-US" altLang="zh-CN" sz="2000" b="1" dirty="0">
                <a:solidFill>
                  <a:srgbClr val="FF0000"/>
                </a:solidFill>
              </a:rPr>
              <a:t>I——Isolation</a:t>
            </a:r>
            <a:r>
              <a:rPr lang="zh-CN" altLang="en-US" sz="2000" b="1" dirty="0">
                <a:solidFill>
                  <a:srgbClr val="FF0000"/>
                </a:solidFill>
              </a:rPr>
              <a:t>隔离性</a:t>
            </a:r>
            <a:r>
              <a:rPr lang="zh-CN" altLang="en-US" sz="2000" dirty="0">
                <a:solidFill>
                  <a:srgbClr val="FF0000"/>
                </a:solidFill>
              </a:rPr>
              <a:t>：</a:t>
            </a:r>
            <a:r>
              <a:rPr lang="zh-CN" altLang="en-US" sz="2000" dirty="0"/>
              <a:t>在同一个环境中可能有多个事务并发执行，而每一个事务都应表现为独立执行。例如数据库管理系统中的锁机制。</a:t>
            </a:r>
            <a:endParaRPr lang="zh-CN" altLang="en-US" sz="2000" dirty="0"/>
          </a:p>
          <a:p>
            <a:pPr lvl="1">
              <a:lnSpc>
                <a:spcPct val="100000"/>
              </a:lnSpc>
            </a:pPr>
            <a:r>
              <a:rPr lang="en-US" altLang="zh-CN" sz="2000" b="1" dirty="0">
                <a:solidFill>
                  <a:srgbClr val="FF0000"/>
                </a:solidFill>
              </a:rPr>
              <a:t>D——Durability</a:t>
            </a:r>
            <a:r>
              <a:rPr lang="zh-CN" altLang="en-US" sz="2000" b="1" dirty="0">
                <a:solidFill>
                  <a:srgbClr val="FF0000"/>
                </a:solidFill>
              </a:rPr>
              <a:t>持久性</a:t>
            </a:r>
            <a:r>
              <a:rPr lang="zh-CN" altLang="en-US" sz="2000" dirty="0">
                <a:solidFill>
                  <a:srgbClr val="FF0000"/>
                </a:solidFill>
              </a:rPr>
              <a:t>：</a:t>
            </a:r>
            <a:r>
              <a:rPr lang="zh-CN" altLang="en-US" sz="2000" dirty="0"/>
              <a:t>一个被完成的事务效果应该是持久的。</a:t>
            </a:r>
            <a:endParaRPr lang="en-US" altLang="zh-CN" sz="2000" dirty="0"/>
          </a:p>
        </p:txBody>
      </p:sp>
      <p:sp>
        <p:nvSpPr>
          <p:cNvPr id="2" name="日期占位符 1"/>
          <p:cNvSpPr>
            <a:spLocks noGrp="1"/>
          </p:cNvSpPr>
          <p:nvPr>
            <p:ph type="dt" sz="half" idx="10"/>
          </p:nvPr>
        </p:nvSpPr>
        <p:spPr/>
        <p:txBody>
          <a:bodyPr/>
          <a:lstStyle/>
          <a:p>
            <a:fld id="{FDAC5C12-4BE1-4FDE-8DA7-526436B3AF0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up)">
                                      <p:cBhvr>
                                        <p:cTn id="10" dur="500"/>
                                        <p:tgtEl>
                                          <p:spTgt spid="5">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wipe(up)">
                                      <p:cBhvr>
                                        <p:cTn id="13" dur="500"/>
                                        <p:tgtEl>
                                          <p:spTgt spid="5">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wipe(up)">
                                      <p:cBhvr>
                                        <p:cTn id="16" dur="500"/>
                                        <p:tgtEl>
                                          <p:spTgt spid="5">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wipe(up)">
                                      <p:cBhvr>
                                        <p:cTn id="19"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en-US" altLang="zh-CN" dirty="0"/>
              <a:t>1 </a:t>
            </a:r>
            <a:r>
              <a:rPr lang="zh-CN" altLang="en-US" dirty="0"/>
              <a:t>可靠性</a:t>
            </a:r>
            <a:r>
              <a:rPr lang="en-US" altLang="zh-CN" dirty="0"/>
              <a:t>——</a:t>
            </a:r>
            <a:r>
              <a:rPr lang="zh-CN" altLang="en-US" dirty="0"/>
              <a:t>安全性、事务性、稳定性</a:t>
            </a:r>
            <a:endParaRPr lang="zh-CN" altLang="en-US" dirty="0"/>
          </a:p>
        </p:txBody>
      </p:sp>
      <p:sp>
        <p:nvSpPr>
          <p:cNvPr id="5" name="文本占位符 4"/>
          <p:cNvSpPr>
            <a:spLocks noGrp="1"/>
          </p:cNvSpPr>
          <p:nvPr>
            <p:ph idx="1"/>
          </p:nvPr>
        </p:nvSpPr>
        <p:spPr/>
        <p:txBody>
          <a:bodyPr>
            <a:normAutofit/>
          </a:bodyPr>
          <a:lstStyle/>
          <a:p>
            <a:pPr marL="342900" indent="-342900">
              <a:lnSpc>
                <a:spcPct val="130000"/>
              </a:lnSpc>
            </a:pPr>
            <a:r>
              <a:rPr lang="zh-CN" altLang="en-US" sz="2400" b="1" dirty="0">
                <a:solidFill>
                  <a:srgbClr val="FF0000"/>
                </a:solidFill>
              </a:rPr>
              <a:t>稳定性</a:t>
            </a:r>
            <a:endParaRPr lang="zh-CN" altLang="en-US" sz="2400" b="1" dirty="0">
              <a:solidFill>
                <a:srgbClr val="FF0000"/>
              </a:solidFill>
            </a:endParaRPr>
          </a:p>
          <a:p>
            <a:pPr marL="342900" indent="-342900">
              <a:lnSpc>
                <a:spcPct val="130000"/>
              </a:lnSpc>
            </a:pPr>
            <a:r>
              <a:rPr lang="zh-CN" altLang="en-US" sz="2000" dirty="0"/>
              <a:t>稳定性由故障的频率、严重性、可恢复性、可预见性、准确性和平均故障间隔时间等一些指标构成。</a:t>
            </a:r>
            <a:endParaRPr lang="zh-CN" altLang="en-US" sz="2000" dirty="0"/>
          </a:p>
          <a:p>
            <a:pPr marL="342900" indent="-342900">
              <a:lnSpc>
                <a:spcPct val="130000"/>
              </a:lnSpc>
            </a:pPr>
            <a:r>
              <a:rPr lang="zh-CN" altLang="en-US" sz="2000" dirty="0"/>
              <a:t>判断软件是否失效的判断依据有：系统死机、系统无法启动、不能输入输出或显示记录、计算数据有错等。</a:t>
            </a:r>
            <a:endParaRPr lang="zh-CN" altLang="en-US" sz="2000" dirty="0"/>
          </a:p>
          <a:p>
            <a:pPr marL="342900" indent="-342900">
              <a:lnSpc>
                <a:spcPct val="130000"/>
              </a:lnSpc>
            </a:pPr>
            <a:endParaRPr lang="zh-CN" altLang="en-US" sz="2000" dirty="0"/>
          </a:p>
        </p:txBody>
      </p:sp>
      <p:sp>
        <p:nvSpPr>
          <p:cNvPr id="2" name="日期占位符 1"/>
          <p:cNvSpPr>
            <a:spLocks noGrp="1"/>
          </p:cNvSpPr>
          <p:nvPr>
            <p:ph type="dt" sz="half" idx="10"/>
          </p:nvPr>
        </p:nvSpPr>
        <p:spPr/>
        <p:txBody>
          <a:bodyPr/>
          <a:lstStyle/>
          <a:p>
            <a:fld id="{01CABCA0-11E7-406E-85F7-DA0D4E3BB3D9}"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举例：网上自助订餐系统非功能性需求（节选）</a:t>
            </a:r>
            <a:endParaRPr lang="zh-CN" altLang="en-US" dirty="0"/>
          </a:p>
        </p:txBody>
      </p:sp>
      <p:pic>
        <p:nvPicPr>
          <p:cNvPr id="4" name="图片 3"/>
          <p:cNvPicPr>
            <a:picLocks noChangeAspect="1"/>
          </p:cNvPicPr>
          <p:nvPr/>
        </p:nvPicPr>
        <p:blipFill>
          <a:blip r:embed="rId1"/>
          <a:stretch>
            <a:fillRect/>
          </a:stretch>
        </p:blipFill>
        <p:spPr>
          <a:xfrm>
            <a:off x="768096" y="1066589"/>
            <a:ext cx="8090154" cy="3342847"/>
          </a:xfrm>
          <a:prstGeom prst="rect">
            <a:avLst/>
          </a:prstGeom>
        </p:spPr>
      </p:pic>
      <p:sp>
        <p:nvSpPr>
          <p:cNvPr id="2" name="日期占位符 1"/>
          <p:cNvSpPr>
            <a:spLocks noGrp="1"/>
          </p:cNvSpPr>
          <p:nvPr>
            <p:ph type="dt" sz="half" idx="10"/>
          </p:nvPr>
        </p:nvSpPr>
        <p:spPr/>
        <p:txBody>
          <a:bodyPr/>
          <a:lstStyle/>
          <a:p>
            <a:fld id="{E96DF269-D1B6-49E1-BFBD-690EDBBB42B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094321" y="221790"/>
            <a:ext cx="7551968" cy="2619180"/>
          </a:xfrm>
          <a:prstGeom prst="rect">
            <a:avLst/>
          </a:prstGeom>
        </p:spPr>
      </p:pic>
      <p:pic>
        <p:nvPicPr>
          <p:cNvPr id="5" name="图片 4"/>
          <p:cNvPicPr>
            <a:picLocks noChangeAspect="1"/>
          </p:cNvPicPr>
          <p:nvPr/>
        </p:nvPicPr>
        <p:blipFill>
          <a:blip r:embed="rId2"/>
          <a:stretch>
            <a:fillRect/>
          </a:stretch>
        </p:blipFill>
        <p:spPr>
          <a:xfrm>
            <a:off x="1094321" y="2834582"/>
            <a:ext cx="7653596" cy="1816483"/>
          </a:xfrm>
          <a:prstGeom prst="rect">
            <a:avLst/>
          </a:prstGeom>
        </p:spPr>
      </p:pic>
      <p:sp>
        <p:nvSpPr>
          <p:cNvPr id="6" name="日期占位符 5"/>
          <p:cNvSpPr>
            <a:spLocks noGrp="1"/>
          </p:cNvSpPr>
          <p:nvPr>
            <p:ph type="dt" sz="half" idx="10"/>
          </p:nvPr>
        </p:nvSpPr>
        <p:spPr/>
        <p:txBody>
          <a:bodyPr/>
          <a:lstStyle/>
          <a:p>
            <a:fld id="{9CF0492A-FD33-4E0A-8105-93E62AC3576F}"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2 </a:t>
            </a:r>
            <a:r>
              <a:rPr lang="zh-CN" altLang="en-US" dirty="0"/>
              <a:t>可用性</a:t>
            </a:r>
            <a:endParaRPr lang="zh-CN" altLang="en-US" dirty="0"/>
          </a:p>
        </p:txBody>
      </p:sp>
      <p:sp>
        <p:nvSpPr>
          <p:cNvPr id="4" name="文本占位符 3"/>
          <p:cNvSpPr>
            <a:spLocks noGrp="1"/>
          </p:cNvSpPr>
          <p:nvPr>
            <p:ph idx="1"/>
          </p:nvPr>
        </p:nvSpPr>
        <p:spPr>
          <a:xfrm>
            <a:off x="1094321" y="832568"/>
            <a:ext cx="7763929" cy="3806854"/>
          </a:xfrm>
        </p:spPr>
        <p:txBody>
          <a:bodyPr>
            <a:noAutofit/>
          </a:bodyPr>
          <a:lstStyle/>
          <a:p>
            <a:pPr>
              <a:lnSpc>
                <a:spcPct val="100000"/>
              </a:lnSpc>
              <a:spcBef>
                <a:spcPts val="400"/>
              </a:spcBef>
            </a:pPr>
            <a:r>
              <a:rPr lang="zh-CN" altLang="en-US" sz="2400" b="1" dirty="0">
                <a:solidFill>
                  <a:srgbClr val="FF0000"/>
                </a:solidFill>
              </a:rPr>
              <a:t>容易学习</a:t>
            </a:r>
            <a:endParaRPr lang="zh-CN" altLang="en-US" sz="2400" b="1" dirty="0">
              <a:solidFill>
                <a:srgbClr val="FF0000"/>
              </a:solidFill>
            </a:endParaRPr>
          </a:p>
          <a:p>
            <a:pPr lvl="1">
              <a:lnSpc>
                <a:spcPct val="100000"/>
              </a:lnSpc>
              <a:spcBef>
                <a:spcPts val="400"/>
              </a:spcBef>
            </a:pPr>
            <a:r>
              <a:rPr lang="zh-CN" altLang="en-US" sz="1800" dirty="0"/>
              <a:t>客户需要多长时间来掌握软件的使用？</a:t>
            </a:r>
            <a:endParaRPr lang="zh-CN" altLang="en-US" sz="1800" dirty="0"/>
          </a:p>
          <a:p>
            <a:pPr>
              <a:lnSpc>
                <a:spcPct val="100000"/>
              </a:lnSpc>
              <a:spcBef>
                <a:spcPts val="400"/>
              </a:spcBef>
            </a:pPr>
            <a:r>
              <a:rPr lang="zh-CN" altLang="en-US" sz="2400" b="1" dirty="0">
                <a:solidFill>
                  <a:srgbClr val="FF0000"/>
                </a:solidFill>
              </a:rPr>
              <a:t>使用效率</a:t>
            </a:r>
            <a:endParaRPr lang="zh-CN" altLang="en-US" sz="2400" b="1" dirty="0">
              <a:solidFill>
                <a:srgbClr val="FF0000"/>
              </a:solidFill>
            </a:endParaRPr>
          </a:p>
          <a:p>
            <a:pPr lvl="1">
              <a:lnSpc>
                <a:spcPct val="100000"/>
              </a:lnSpc>
              <a:spcBef>
                <a:spcPts val="400"/>
              </a:spcBef>
            </a:pPr>
            <a:r>
              <a:rPr lang="zh-CN" altLang="en-US" sz="1800" dirty="0"/>
              <a:t>客户需要多长时间、执行多少次操作来完成一个关键任务？</a:t>
            </a:r>
            <a:endParaRPr lang="zh-CN" altLang="en-US" sz="1800" dirty="0"/>
          </a:p>
          <a:p>
            <a:pPr>
              <a:lnSpc>
                <a:spcPct val="100000"/>
              </a:lnSpc>
              <a:spcBef>
                <a:spcPts val="400"/>
              </a:spcBef>
            </a:pPr>
            <a:r>
              <a:rPr lang="zh-CN" altLang="en-US" sz="2400" b="1" dirty="0">
                <a:solidFill>
                  <a:srgbClr val="FF0000"/>
                </a:solidFill>
              </a:rPr>
              <a:t>记忆性</a:t>
            </a:r>
            <a:endParaRPr lang="zh-CN" altLang="en-US" sz="2400" b="1" dirty="0">
              <a:solidFill>
                <a:srgbClr val="FF0000"/>
              </a:solidFill>
            </a:endParaRPr>
          </a:p>
          <a:p>
            <a:pPr lvl="1">
              <a:lnSpc>
                <a:spcPct val="100000"/>
              </a:lnSpc>
              <a:spcBef>
                <a:spcPts val="400"/>
              </a:spcBef>
            </a:pPr>
            <a:r>
              <a:rPr lang="zh-CN" altLang="en-US" sz="1800" dirty="0"/>
              <a:t>当客户离开再次回来时，他的工作是否能够被记忆下来以便继续执行？</a:t>
            </a:r>
            <a:endParaRPr lang="zh-CN" altLang="en-US" sz="1800" dirty="0"/>
          </a:p>
          <a:p>
            <a:pPr>
              <a:lnSpc>
                <a:spcPct val="100000"/>
              </a:lnSpc>
              <a:spcBef>
                <a:spcPts val="400"/>
              </a:spcBef>
            </a:pPr>
            <a:r>
              <a:rPr lang="zh-CN" altLang="en-US" sz="2400" b="1" dirty="0">
                <a:solidFill>
                  <a:srgbClr val="FF0000"/>
                </a:solidFill>
              </a:rPr>
              <a:t>错误恢复</a:t>
            </a:r>
            <a:endParaRPr lang="zh-CN" altLang="en-US" sz="2400" b="1" dirty="0">
              <a:solidFill>
                <a:srgbClr val="FF0000"/>
              </a:solidFill>
            </a:endParaRPr>
          </a:p>
          <a:p>
            <a:pPr lvl="1">
              <a:lnSpc>
                <a:spcPct val="100000"/>
              </a:lnSpc>
              <a:spcBef>
                <a:spcPts val="400"/>
              </a:spcBef>
            </a:pPr>
            <a:r>
              <a:rPr lang="zh-CN" altLang="en-US" sz="1800" dirty="0"/>
              <a:t>当系统出现故障时，客户是否能从故障中恢复他已经完成的工作？</a:t>
            </a:r>
            <a:endParaRPr lang="zh-CN" altLang="en-US" sz="1800" dirty="0"/>
          </a:p>
          <a:p>
            <a:pPr>
              <a:lnSpc>
                <a:spcPct val="100000"/>
              </a:lnSpc>
              <a:spcBef>
                <a:spcPts val="400"/>
              </a:spcBef>
            </a:pPr>
            <a:r>
              <a:rPr lang="zh-CN" altLang="en-US" sz="2400" b="1" dirty="0">
                <a:solidFill>
                  <a:srgbClr val="FF0000"/>
                </a:solidFill>
              </a:rPr>
              <a:t>主观满意度</a:t>
            </a:r>
            <a:endParaRPr lang="zh-CN" altLang="en-US" sz="2400" b="1" dirty="0">
              <a:solidFill>
                <a:srgbClr val="FF0000"/>
              </a:solidFill>
            </a:endParaRPr>
          </a:p>
          <a:p>
            <a:pPr lvl="1">
              <a:lnSpc>
                <a:spcPct val="100000"/>
              </a:lnSpc>
              <a:spcBef>
                <a:spcPts val="400"/>
              </a:spcBef>
            </a:pPr>
            <a:r>
              <a:rPr lang="zh-CN" altLang="en-US" sz="1800" dirty="0"/>
              <a:t>客户在使用软件过程中是否感到愉悦？</a:t>
            </a:r>
            <a:endParaRPr lang="zh-CN" altLang="en-US" sz="1800" dirty="0"/>
          </a:p>
          <a:p>
            <a:pPr>
              <a:lnSpc>
                <a:spcPct val="100000"/>
              </a:lnSpc>
              <a:spcBef>
                <a:spcPts val="400"/>
              </a:spcBef>
            </a:pPr>
            <a:endParaRPr lang="zh-CN" altLang="en-US" sz="2000" dirty="0"/>
          </a:p>
        </p:txBody>
      </p:sp>
      <p:sp>
        <p:nvSpPr>
          <p:cNvPr id="2" name="日期占位符 1"/>
          <p:cNvSpPr>
            <a:spLocks noGrp="1"/>
          </p:cNvSpPr>
          <p:nvPr>
            <p:ph type="dt" sz="half" idx="10"/>
          </p:nvPr>
        </p:nvSpPr>
        <p:spPr/>
        <p:txBody>
          <a:bodyPr/>
          <a:lstStyle/>
          <a:p>
            <a:fld id="{96F73D90-F00F-4A9C-87E3-750E49A0EE8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3 </a:t>
            </a:r>
            <a:r>
              <a:rPr lang="zh-CN" altLang="en-US" dirty="0"/>
              <a:t>有效性</a:t>
            </a:r>
            <a:r>
              <a:rPr lang="en-US" altLang="zh-CN" dirty="0"/>
              <a:t>——</a:t>
            </a:r>
            <a:r>
              <a:rPr lang="zh-CN" altLang="en-US" dirty="0"/>
              <a:t>性能、可伸缩性、可扩展性</a:t>
            </a:r>
            <a:endParaRPr lang="zh-CN" altLang="en-US" dirty="0"/>
          </a:p>
        </p:txBody>
      </p:sp>
      <p:sp>
        <p:nvSpPr>
          <p:cNvPr id="5" name="文本占位符 4"/>
          <p:cNvSpPr>
            <a:spLocks noGrp="1"/>
          </p:cNvSpPr>
          <p:nvPr>
            <p:ph idx="1"/>
          </p:nvPr>
        </p:nvSpPr>
        <p:spPr>
          <a:xfrm>
            <a:off x="768097" y="1053295"/>
            <a:ext cx="7832833" cy="3678725"/>
          </a:xfrm>
        </p:spPr>
        <p:txBody>
          <a:bodyPr>
            <a:normAutofit/>
          </a:bodyPr>
          <a:lstStyle/>
          <a:p>
            <a:pPr>
              <a:lnSpc>
                <a:spcPct val="120000"/>
              </a:lnSpc>
            </a:pPr>
            <a:r>
              <a:rPr lang="zh-CN" altLang="en-US" sz="2400" b="1" dirty="0">
                <a:solidFill>
                  <a:srgbClr val="FF0000"/>
                </a:solidFill>
              </a:rPr>
              <a:t>性能：</a:t>
            </a:r>
            <a:r>
              <a:rPr lang="zh-CN" altLang="en-US" sz="2400" dirty="0"/>
              <a:t>包括速度、并发性、吞吐量、响应时间、资源占用率等一些指标。</a:t>
            </a:r>
            <a:endParaRPr lang="zh-CN" altLang="en-US" sz="2400" dirty="0"/>
          </a:p>
          <a:p>
            <a:pPr>
              <a:lnSpc>
                <a:spcPct val="120000"/>
              </a:lnSpc>
            </a:pPr>
            <a:r>
              <a:rPr lang="zh-CN" altLang="en-US" sz="2400" b="1" dirty="0">
                <a:solidFill>
                  <a:srgbClr val="FF0000"/>
                </a:solidFill>
              </a:rPr>
              <a:t>可伸缩性：</a:t>
            </a:r>
            <a:r>
              <a:rPr lang="zh-CN" altLang="en-US" sz="2400" dirty="0"/>
              <a:t>指的是当向系统增加资源时的性能改善，例如提高</a:t>
            </a:r>
            <a:r>
              <a:rPr lang="en-US" altLang="zh-CN" sz="2400" dirty="0"/>
              <a:t>CPU</a:t>
            </a:r>
            <a:r>
              <a:rPr lang="zh-CN" altLang="en-US" sz="2400" dirty="0"/>
              <a:t>的主频率，内存容量等。</a:t>
            </a:r>
            <a:endParaRPr lang="zh-CN" altLang="en-US" sz="2400" dirty="0"/>
          </a:p>
          <a:p>
            <a:pPr>
              <a:lnSpc>
                <a:spcPct val="120000"/>
              </a:lnSpc>
            </a:pPr>
            <a:r>
              <a:rPr lang="zh-CN" altLang="en-US" sz="2400" b="1" dirty="0">
                <a:solidFill>
                  <a:srgbClr val="FF0000"/>
                </a:solidFill>
              </a:rPr>
              <a:t>可扩展性：</a:t>
            </a:r>
            <a:r>
              <a:rPr lang="zh-CN" altLang="en-US" sz="2400" dirty="0"/>
              <a:t>指的是系统的扩展性，包括资源扩展性，应用可扩展性和技术升级可扩展性。</a:t>
            </a:r>
            <a:endParaRPr lang="zh-CN" altLang="en-US" sz="2400" dirty="0"/>
          </a:p>
          <a:p>
            <a:pPr>
              <a:lnSpc>
                <a:spcPct val="120000"/>
              </a:lnSpc>
            </a:pPr>
            <a:endParaRPr lang="zh-CN" altLang="en-US" sz="2400" dirty="0"/>
          </a:p>
        </p:txBody>
      </p:sp>
      <p:sp>
        <p:nvSpPr>
          <p:cNvPr id="2" name="日期占位符 1"/>
          <p:cNvSpPr>
            <a:spLocks noGrp="1"/>
          </p:cNvSpPr>
          <p:nvPr>
            <p:ph type="dt" sz="half" idx="10"/>
          </p:nvPr>
        </p:nvSpPr>
        <p:spPr/>
        <p:txBody>
          <a:bodyPr/>
          <a:lstStyle/>
          <a:p>
            <a:fld id="{E85735B5-51C3-4FE0-B316-CDC2E23FE13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 </a:t>
            </a:r>
            <a:r>
              <a:rPr lang="zh-CN" altLang="en-US" dirty="0"/>
              <a:t>可移植性</a:t>
            </a:r>
            <a:endParaRPr lang="zh-CN" altLang="en-US" dirty="0"/>
          </a:p>
        </p:txBody>
      </p:sp>
      <p:sp>
        <p:nvSpPr>
          <p:cNvPr id="4" name="文本占位符 3"/>
          <p:cNvSpPr>
            <a:spLocks noGrp="1"/>
          </p:cNvSpPr>
          <p:nvPr>
            <p:ph idx="1"/>
          </p:nvPr>
        </p:nvSpPr>
        <p:spPr/>
        <p:txBody>
          <a:bodyPr>
            <a:normAutofit/>
          </a:bodyPr>
          <a:lstStyle/>
          <a:p>
            <a:pPr>
              <a:lnSpc>
                <a:spcPct val="120000"/>
              </a:lnSpc>
            </a:pPr>
            <a:r>
              <a:rPr lang="zh-CN" altLang="en-US" sz="2400" dirty="0"/>
              <a:t>通常可移植性都是软件针对平台而言的。软件应该能够适应更多种平台。</a:t>
            </a:r>
            <a:endParaRPr lang="zh-CN" altLang="en-US" sz="2400" dirty="0"/>
          </a:p>
          <a:p>
            <a:pPr>
              <a:lnSpc>
                <a:spcPct val="120000"/>
              </a:lnSpc>
            </a:pPr>
            <a:r>
              <a:rPr lang="zh-CN" altLang="en-US" sz="2400" dirty="0"/>
              <a:t>在软件开发过程中，应当使用成熟的，公开支持的标准，尤其是大厂商所支持的标准，来确保系统不丧失软件环境的可移植性。</a:t>
            </a:r>
            <a:endParaRPr lang="zh-CN" altLang="en-US" sz="2400" dirty="0"/>
          </a:p>
          <a:p>
            <a:pPr>
              <a:lnSpc>
                <a:spcPct val="120000"/>
              </a:lnSpc>
            </a:pPr>
            <a:endParaRPr lang="zh-CN" altLang="en-US" sz="3600" dirty="0"/>
          </a:p>
        </p:txBody>
      </p:sp>
      <p:sp>
        <p:nvSpPr>
          <p:cNvPr id="2" name="日期占位符 1"/>
          <p:cNvSpPr>
            <a:spLocks noGrp="1"/>
          </p:cNvSpPr>
          <p:nvPr>
            <p:ph type="dt" sz="half" idx="10"/>
          </p:nvPr>
        </p:nvSpPr>
        <p:spPr/>
        <p:txBody>
          <a:bodyPr/>
          <a:lstStyle/>
          <a:p>
            <a:fld id="{64A35A76-4398-4A54-9A57-D8221F1CB45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433798" y="3213794"/>
            <a:ext cx="8501430" cy="140774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Grp="1" noChangeArrowheads="1"/>
          </p:cNvSpPr>
          <p:nvPr>
            <p:ph idx="1"/>
          </p:nvPr>
        </p:nvSpPr>
        <p:spPr>
          <a:xfrm>
            <a:off x="1094321" y="1099595"/>
            <a:ext cx="7506609" cy="3632426"/>
          </a:xfrm>
        </p:spPr>
        <p:txBody>
          <a:bodyPr/>
          <a:lstStyle/>
          <a:p>
            <a:r>
              <a:rPr lang="zh-CN" altLang="en-US" dirty="0"/>
              <a:t>可靠性</a:t>
            </a:r>
            <a:endParaRPr lang="zh-CN" altLang="en-US" dirty="0"/>
          </a:p>
          <a:p>
            <a:r>
              <a:rPr lang="zh-CN" altLang="en-US" dirty="0"/>
              <a:t>可用性</a:t>
            </a:r>
            <a:endParaRPr lang="zh-CN" altLang="en-US" dirty="0"/>
          </a:p>
          <a:p>
            <a:r>
              <a:rPr lang="zh-CN" altLang="en-US" dirty="0"/>
              <a:t>有效性</a:t>
            </a:r>
            <a:endParaRPr lang="zh-CN" altLang="en-US" dirty="0"/>
          </a:p>
          <a:p>
            <a:r>
              <a:rPr lang="zh-CN" altLang="en-US" dirty="0"/>
              <a:t>可移植性</a:t>
            </a:r>
            <a:endParaRPr lang="zh-CN" altLang="en-US" dirty="0"/>
          </a:p>
          <a:p>
            <a:endParaRPr lang="en-US" alt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6370" name="Rectangle 2"/>
          <p:cNvSpPr>
            <a:spLocks noGrp="1" noChangeArrowheads="1"/>
          </p:cNvSpPr>
          <p:nvPr>
            <p:ph type="title"/>
          </p:nvPr>
        </p:nvSpPr>
        <p:spPr/>
        <p:txBody>
          <a:bodyPr/>
          <a:lstStyle/>
          <a:p>
            <a:r>
              <a:rPr lang="zh-CN" altLang="en-US" dirty="0"/>
              <a:t>总结一下</a:t>
            </a:r>
            <a:endParaRPr lang="zh-CN" altLang="en-US" dirty="0"/>
          </a:p>
        </p:txBody>
      </p:sp>
      <p:sp>
        <p:nvSpPr>
          <p:cNvPr id="186372" name="AutoShape 4"/>
          <p:cNvSpPr/>
          <p:nvPr/>
        </p:nvSpPr>
        <p:spPr bwMode="auto">
          <a:xfrm>
            <a:off x="5216216" y="1268670"/>
            <a:ext cx="3244878" cy="588850"/>
          </a:xfrm>
          <a:prstGeom prst="borderCallout1">
            <a:avLst>
              <a:gd name="adj1" fmla="val 37570"/>
              <a:gd name="adj2" fmla="val -3744"/>
              <a:gd name="adj3" fmla="val 11837"/>
              <a:gd name="adj4" fmla="val -88096"/>
            </a:avLst>
          </a:prstGeom>
          <a:solidFill>
            <a:schemeClr val="bg1"/>
          </a:solidFill>
          <a:ln w="28575" algn="ctr">
            <a:solidFill>
              <a:schemeClr val="bg2"/>
            </a:solidFill>
            <a:miter lim="800000"/>
          </a:ln>
          <a:effectLst/>
        </p:spPr>
        <p:txBody>
          <a:bodyPr lIns="80963" tIns="40481" rIns="80963" bIns="40481" anchor="ctr"/>
          <a:lstStyle/>
          <a:p>
            <a:r>
              <a:rPr lang="zh-CN" altLang="en-US" sz="2000">
                <a:solidFill>
                  <a:srgbClr val="003366"/>
                </a:solidFill>
                <a:latin typeface="+mj-ea"/>
                <a:ea typeface="+mj-ea"/>
              </a:rPr>
              <a:t>安全性、事务性、稳定性</a:t>
            </a:r>
            <a:endParaRPr lang="zh-CN" altLang="en-US" sz="2000">
              <a:solidFill>
                <a:srgbClr val="003366"/>
              </a:solidFill>
              <a:latin typeface="+mj-ea"/>
              <a:ea typeface="+mj-ea"/>
            </a:endParaRPr>
          </a:p>
        </p:txBody>
      </p:sp>
      <p:sp>
        <p:nvSpPr>
          <p:cNvPr id="186373" name="AutoShape 5"/>
          <p:cNvSpPr/>
          <p:nvPr/>
        </p:nvSpPr>
        <p:spPr bwMode="auto">
          <a:xfrm>
            <a:off x="5216216" y="2070692"/>
            <a:ext cx="3244878" cy="830459"/>
          </a:xfrm>
          <a:prstGeom prst="borderCallout1">
            <a:avLst>
              <a:gd name="adj1" fmla="val 39040"/>
              <a:gd name="adj2" fmla="val -2154"/>
              <a:gd name="adj3" fmla="val -21393"/>
              <a:gd name="adj4" fmla="val -88762"/>
            </a:avLst>
          </a:prstGeom>
          <a:solidFill>
            <a:schemeClr val="bg1"/>
          </a:solidFill>
          <a:ln w="28575" algn="ctr">
            <a:solidFill>
              <a:schemeClr val="bg2"/>
            </a:solidFill>
            <a:miter lim="800000"/>
          </a:ln>
          <a:effectLst/>
        </p:spPr>
        <p:txBody>
          <a:bodyPr lIns="80963" tIns="40481" rIns="80963" bIns="40481" anchor="ctr"/>
          <a:lstStyle/>
          <a:p>
            <a:r>
              <a:rPr lang="zh-CN" altLang="en-US" sz="2000" dirty="0">
                <a:solidFill>
                  <a:srgbClr val="003366"/>
                </a:solidFill>
                <a:latin typeface="+mj-ea"/>
                <a:ea typeface="+mj-ea"/>
              </a:rPr>
              <a:t>容易学习，使用效率，记忆性，错误恢复，主观满意度</a:t>
            </a:r>
            <a:endParaRPr lang="zh-CN" altLang="en-US" sz="2000" dirty="0">
              <a:solidFill>
                <a:srgbClr val="003366"/>
              </a:solidFill>
              <a:latin typeface="+mj-ea"/>
              <a:ea typeface="+mj-ea"/>
            </a:endParaRPr>
          </a:p>
        </p:txBody>
      </p:sp>
      <p:sp>
        <p:nvSpPr>
          <p:cNvPr id="186374" name="AutoShape 6"/>
          <p:cNvSpPr/>
          <p:nvPr/>
        </p:nvSpPr>
        <p:spPr bwMode="auto">
          <a:xfrm>
            <a:off x="5216217" y="3110720"/>
            <a:ext cx="3244878" cy="662626"/>
          </a:xfrm>
          <a:prstGeom prst="borderCallout1">
            <a:avLst>
              <a:gd name="adj1" fmla="val 20288"/>
              <a:gd name="adj2" fmla="val -167"/>
              <a:gd name="adj3" fmla="val -72180"/>
              <a:gd name="adj4" fmla="val -86826"/>
            </a:avLst>
          </a:prstGeom>
          <a:solidFill>
            <a:schemeClr val="bg1"/>
          </a:solidFill>
          <a:ln w="28575" algn="ctr">
            <a:solidFill>
              <a:schemeClr val="bg2"/>
            </a:solidFill>
            <a:miter lim="800000"/>
          </a:ln>
          <a:effectLst/>
        </p:spPr>
        <p:txBody>
          <a:bodyPr lIns="80963" tIns="40481" rIns="80963" bIns="40481" anchor="ctr"/>
          <a:lstStyle/>
          <a:p>
            <a:r>
              <a:rPr lang="zh-CN" altLang="en-US" sz="2000">
                <a:solidFill>
                  <a:srgbClr val="003366"/>
                </a:solidFill>
                <a:latin typeface="+mj-ea"/>
                <a:ea typeface="+mj-ea"/>
              </a:rPr>
              <a:t>性能、可伸缩性、可扩展性</a:t>
            </a:r>
            <a:endParaRPr lang="zh-CN" altLang="en-US" sz="2000">
              <a:solidFill>
                <a:srgbClr val="003366"/>
              </a:solidFill>
              <a:latin typeface="+mj-ea"/>
              <a:ea typeface="+mj-ea"/>
            </a:endParaRPr>
          </a:p>
        </p:txBody>
      </p:sp>
      <p:sp>
        <p:nvSpPr>
          <p:cNvPr id="2" name="日期占位符 1"/>
          <p:cNvSpPr>
            <a:spLocks noGrp="1"/>
          </p:cNvSpPr>
          <p:nvPr>
            <p:ph type="dt" sz="half" idx="10"/>
          </p:nvPr>
        </p:nvSpPr>
        <p:spPr/>
        <p:txBody>
          <a:bodyPr/>
          <a:lstStyle/>
          <a:p>
            <a:fld id="{DBD03205-CB81-48E0-B123-A6270333E29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6372"/>
                                        </p:tgtEl>
                                        <p:attrNameLst>
                                          <p:attrName>style.visibility</p:attrName>
                                        </p:attrNameLst>
                                      </p:cBhvr>
                                      <p:to>
                                        <p:strVal val="visible"/>
                                      </p:to>
                                    </p:set>
                                  </p:childTnLst>
                                  <p:subTnLst>
                                    <p:set>
                                      <p:cBhvr override="childStyle">
                                        <p:cTn dur="1" fill="hold" display="0" masterRel="nextClick" afterEffect="1"/>
                                        <p:tgtEl>
                                          <p:spTgt spid="18637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6373"/>
                                        </p:tgtEl>
                                        <p:attrNameLst>
                                          <p:attrName>style.visibility</p:attrName>
                                        </p:attrNameLst>
                                      </p:cBhvr>
                                      <p:to>
                                        <p:strVal val="visible"/>
                                      </p:to>
                                    </p:set>
                                  </p:childTnLst>
                                  <p:subTnLst>
                                    <p:set>
                                      <p:cBhvr override="childStyle">
                                        <p:cTn dur="1" fill="hold" display="0" masterRel="nextClick" afterEffect="1"/>
                                        <p:tgtEl>
                                          <p:spTgt spid="18637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6374"/>
                                        </p:tgtEl>
                                        <p:attrNameLst>
                                          <p:attrName>style.visibility</p:attrName>
                                        </p:attrNameLst>
                                      </p:cBhvr>
                                      <p:to>
                                        <p:strVal val="visible"/>
                                      </p:to>
                                    </p:set>
                                  </p:childTnLst>
                                  <p:subTnLst>
                                    <p:set>
                                      <p:cBhvr override="childStyle">
                                        <p:cTn dur="1" fill="hold" display="0" masterRel="nextClick" afterEffect="1"/>
                                        <p:tgtEl>
                                          <p:spTgt spid="18637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bldLvl="0" animBg="1"/>
      <p:bldP spid="186373" grpId="0" bldLvl="0" animBg="1"/>
      <p:bldP spid="186374"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99592" y="1653648"/>
            <a:ext cx="7787208" cy="1134126"/>
          </a:xfrm>
        </p:spPr>
        <p:txBody>
          <a:bodyPr>
            <a:normAutofit/>
          </a:bodyPr>
          <a:lstStyle/>
          <a:p>
            <a:pPr marL="109855" indent="0">
              <a:buNone/>
            </a:pPr>
            <a:r>
              <a:rPr lang="zh-CN" altLang="en-US" sz="4000" dirty="0"/>
              <a:t>获取非功能性需求，由谁负责？</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20000"/>
          </a:bodyPr>
          <a:lstStyle/>
          <a:p>
            <a:r>
              <a:rPr lang="zh-CN" altLang="en-US" dirty="0"/>
              <a:t>需求分析人员最容易忽略的部分就是非功能性需求。非功能性需求更加靠近的是技术、是设计、是实现，是</a:t>
            </a:r>
            <a:r>
              <a:rPr lang="zh-CN" altLang="en-US" dirty="0">
                <a:solidFill>
                  <a:srgbClr val="FF0000"/>
                </a:solidFill>
              </a:rPr>
              <a:t>架构师</a:t>
            </a:r>
            <a:r>
              <a:rPr lang="zh-CN" altLang="en-US" dirty="0"/>
              <a:t>关注的内容，是需求人员最不擅长的方面，这也是非功能性需求常常被忽略的重要原因。</a:t>
            </a:r>
            <a:endParaRPr lang="en-US" altLang="zh-CN" dirty="0"/>
          </a:p>
          <a:p>
            <a:r>
              <a:rPr lang="zh-CN" altLang="en-US" dirty="0"/>
              <a:t>因此，架构师应该尽早的参与到项目中，参与到需求分析中，尽早分析需求的技术可行性，尽早考虑性能、安全性、可靠性等非功能性需求，尽早开始架构设计。</a:t>
            </a:r>
            <a:endParaRPr lang="en-US" altLang="zh-CN" dirty="0"/>
          </a:p>
          <a:p>
            <a:endParaRPr lang="en-US" altLang="zh-CN" dirty="0"/>
          </a:p>
          <a:p>
            <a:r>
              <a:rPr lang="zh-CN" altLang="zh-CN" dirty="0">
                <a:solidFill>
                  <a:schemeClr val="accent3"/>
                </a:solidFill>
              </a:rPr>
              <a:t>软件架构师</a:t>
            </a:r>
            <a:r>
              <a:rPr lang="zh-CN" altLang="zh-CN" dirty="0"/>
              <a:t>是非功能性需求的主要来源。</a:t>
            </a:r>
            <a:endParaRPr lang="zh-CN" altLang="en-US" dirty="0"/>
          </a:p>
        </p:txBody>
      </p:sp>
      <p:sp>
        <p:nvSpPr>
          <p:cNvPr id="3" name="标题 2"/>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47664" y="1653648"/>
            <a:ext cx="7139136" cy="1134126"/>
          </a:xfrm>
        </p:spPr>
        <p:txBody>
          <a:bodyPr>
            <a:normAutofit/>
          </a:bodyPr>
          <a:lstStyle/>
          <a:p>
            <a:pPr marL="109855" indent="0">
              <a:buNone/>
            </a:pPr>
            <a:r>
              <a:rPr lang="zh-CN" altLang="en-US" sz="4400" dirty="0"/>
              <a:t>如何获取非功能性需求？</a:t>
            </a:r>
            <a:endParaRPr lang="zh-CN" altLang="en-US" sz="4400"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7394" name="Rectangle 2"/>
          <p:cNvSpPr>
            <a:spLocks noGrp="1" noChangeArrowheads="1"/>
          </p:cNvSpPr>
          <p:nvPr>
            <p:ph type="title"/>
          </p:nvPr>
        </p:nvSpPr>
        <p:spPr/>
        <p:txBody>
          <a:bodyPr/>
          <a:lstStyle/>
          <a:p>
            <a:r>
              <a:rPr lang="zh-CN" altLang="en-US" dirty="0"/>
              <a:t>获取非功能需求</a:t>
            </a:r>
            <a:endParaRPr lang="zh-CN" altLang="en-US" dirty="0"/>
          </a:p>
        </p:txBody>
      </p:sp>
      <p:sp>
        <p:nvSpPr>
          <p:cNvPr id="187395" name="Rectangle 3"/>
          <p:cNvSpPr>
            <a:spLocks noGrp="1" noChangeArrowheads="1"/>
          </p:cNvSpPr>
          <p:nvPr>
            <p:ph type="body" sz="half" idx="4294967295"/>
          </p:nvPr>
        </p:nvSpPr>
        <p:spPr>
          <a:xfrm>
            <a:off x="501878" y="1666754"/>
            <a:ext cx="3479813" cy="1898250"/>
          </a:xfrm>
          <a:prstGeom prst="rect">
            <a:avLst/>
          </a:prstGeom>
        </p:spPr>
        <p:txBody>
          <a:bodyPr>
            <a:normAutofit/>
          </a:bodyPr>
          <a:lstStyle/>
          <a:p>
            <a:pPr marL="0" indent="0">
              <a:lnSpc>
                <a:spcPct val="130000"/>
              </a:lnSpc>
              <a:buNone/>
            </a:pPr>
            <a:r>
              <a:rPr lang="zh-CN" altLang="en-US" sz="2400" dirty="0"/>
              <a:t>可以用一个调查表的形式来获取非功能需求。</a:t>
            </a:r>
            <a:endParaRPr lang="en-US" altLang="zh-CN" sz="2400" dirty="0"/>
          </a:p>
          <a:p>
            <a:pPr marL="0" indent="0">
              <a:lnSpc>
                <a:spcPct val="130000"/>
              </a:lnSpc>
              <a:buNone/>
            </a:pPr>
            <a:r>
              <a:rPr lang="zh-CN" altLang="en-US" sz="2400" dirty="0"/>
              <a:t>调查表内容如下：</a:t>
            </a:r>
            <a:endParaRPr lang="zh-CN" altLang="en-US" sz="2400" dirty="0"/>
          </a:p>
        </p:txBody>
      </p:sp>
      <p:sp>
        <p:nvSpPr>
          <p:cNvPr id="2" name="日期占位符 1"/>
          <p:cNvSpPr>
            <a:spLocks noGrp="1"/>
          </p:cNvSpPr>
          <p:nvPr>
            <p:ph type="dt" sz="half" idx="10"/>
          </p:nvPr>
        </p:nvSpPr>
        <p:spPr/>
        <p:txBody>
          <a:bodyPr/>
          <a:lstStyle/>
          <a:p>
            <a:fld id="{F12E686E-5CA2-4B37-84B6-1B16D0FEB59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graphicFrame>
        <p:nvGraphicFramePr>
          <p:cNvPr id="187396" name="Group 4"/>
          <p:cNvGraphicFramePr>
            <a:graphicFrameLocks noGrp="1"/>
          </p:cNvGraphicFramePr>
          <p:nvPr>
            <p:ph idx="1"/>
          </p:nvPr>
        </p:nvGraphicFramePr>
        <p:xfrm>
          <a:off x="4247910" y="-34725"/>
          <a:ext cx="4610342" cy="5329230"/>
        </p:xfrm>
        <a:graphic>
          <a:graphicData uri="http://schemas.openxmlformats.org/drawingml/2006/table">
            <a:tbl>
              <a:tblPr>
                <a:tableStyleId>{BC89EF96-8CEA-46FF-86C4-4CE0E7609802}</a:tableStyleId>
              </a:tblPr>
              <a:tblGrid>
                <a:gridCol w="682543"/>
                <a:gridCol w="3495059"/>
                <a:gridCol w="432740"/>
              </a:tblGrid>
              <a:tr h="330264">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非功能需求调查表</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c hMerge="1">
                  <a:tcPr/>
                </a:tc>
                <a:tc hMerge="1">
                  <a:tcPr/>
                </a:tc>
              </a:tr>
              <a:tr h="330264">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可靠性</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c hMerge="1">
                  <a:tcPr/>
                </a:tc>
                <a:tc hMerge="1">
                  <a:tcPr/>
                </a:tc>
              </a:tr>
              <a:tr h="330264">
                <a:tc rowSpan="4">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安全性</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vert="eaVert"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系统数据的敏感程度如何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系统运行于何种环境</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客户组织中的信息保密程度</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使用人员情况</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rowSpan="5">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事务性</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vert="eaVert"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系统业务交叉程度如何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数据精确度要求如何</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业务是在线的还是离线的</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系统集成情况如何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是分布式系统还是集中式系统</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rowSpan="4">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稳定性</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vert="eaVert"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系统的服务能力要求如何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用户的操作频率如何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业务的及时性要求如何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r h="330264">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solidFill>
                            <a:schemeClr val="tx1"/>
                          </a:solidFill>
                          <a:effectLst/>
                          <a:latin typeface="+mj-ea"/>
                          <a:ea typeface="+mj-ea"/>
                        </a:rPr>
                        <a:t>数据的重要程度如何</a:t>
                      </a:r>
                      <a:endParaRPr kumimoji="0" lang="zh-CN" altLang="en-US" sz="1800" b="0" i="0" u="none" strike="noStrike" cap="none" normalizeH="0" baseline="0">
                        <a:ln>
                          <a:noFill/>
                        </a:ln>
                        <a:solidFill>
                          <a:schemeClr val="tx1"/>
                        </a:solidFill>
                        <a:effectLst/>
                        <a:latin typeface="+mj-ea"/>
                        <a:ea typeface="+mj-ea"/>
                      </a:endParaRPr>
                    </a:p>
                  </a:txBody>
                  <a:tcPr marL="174952" marR="17495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solidFill>
                            <a:schemeClr val="tx1"/>
                          </a:solidFill>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174952" marR="174952" marT="40481" marB="40481" anchor="ctr" horzOverflow="overflow">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8418" name="Rectangle 2"/>
          <p:cNvSpPr>
            <a:spLocks noGrp="1" noChangeArrowheads="1"/>
          </p:cNvSpPr>
          <p:nvPr>
            <p:ph type="title"/>
          </p:nvPr>
        </p:nvSpPr>
        <p:spPr/>
        <p:txBody>
          <a:bodyPr/>
          <a:lstStyle/>
          <a:p>
            <a:r>
              <a:rPr lang="zh-CN" altLang="en-US" dirty="0"/>
              <a:t>获取非功能需求</a:t>
            </a:r>
            <a:endParaRPr lang="zh-CN" altLang="en-US" dirty="0"/>
          </a:p>
        </p:txBody>
      </p:sp>
      <p:sp>
        <p:nvSpPr>
          <p:cNvPr id="2" name="日期占位符 1"/>
          <p:cNvSpPr>
            <a:spLocks noGrp="1"/>
          </p:cNvSpPr>
          <p:nvPr>
            <p:ph type="dt" sz="half" idx="10"/>
          </p:nvPr>
        </p:nvSpPr>
        <p:spPr/>
        <p:txBody>
          <a:bodyPr/>
          <a:lstStyle/>
          <a:p>
            <a:fld id="{0E5809F3-6859-4FCF-9CAC-2CE2011674F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graphicFrame>
        <p:nvGraphicFramePr>
          <p:cNvPr id="188419" name="Group 3"/>
          <p:cNvGraphicFramePr>
            <a:graphicFrameLocks noGrp="1"/>
          </p:cNvGraphicFramePr>
          <p:nvPr>
            <p:ph idx="1"/>
          </p:nvPr>
        </p:nvGraphicFramePr>
        <p:xfrm>
          <a:off x="1393302" y="717314"/>
          <a:ext cx="6905746" cy="3908102"/>
        </p:xfrm>
        <a:graphic>
          <a:graphicData uri="http://schemas.openxmlformats.org/drawingml/2006/table">
            <a:tbl>
              <a:tblPr>
                <a:tableStyleId>{BC89EF96-8CEA-46FF-86C4-4CE0E7609802}</a:tableStyleId>
              </a:tblPr>
              <a:tblGrid>
                <a:gridCol w="1396196"/>
                <a:gridCol w="4667165"/>
                <a:gridCol w="842385"/>
              </a:tblGrid>
              <a:tr h="340198">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非功能需求调查表</a:t>
                      </a:r>
                      <a:endParaRPr kumimoji="0" lang="zh-CN" altLang="en-US" sz="1800" b="0" i="0" u="none" strike="noStrike" cap="none" normalizeH="0" baseline="0" dirty="0">
                        <a:ln>
                          <a:noFill/>
                        </a:ln>
                        <a:solidFill>
                          <a:schemeClr val="tx1"/>
                        </a:solidFill>
                        <a:effectLst/>
                        <a:latin typeface="+mj-ea"/>
                        <a:ea typeface="+mj-ea"/>
                      </a:endParaRPr>
                    </a:p>
                  </a:txBody>
                  <a:tcPr marL="83392" marR="83392" marT="40481" marB="40481" anchor="b" horzOverflow="overflow">
                    <a:solidFill>
                      <a:schemeClr val="bg1"/>
                    </a:solidFill>
                  </a:tcPr>
                </a:tc>
                <a:tc hMerge="1">
                  <a:tcPr/>
                </a:tc>
                <a:tc hMerge="1">
                  <a:tcPr/>
                </a:tc>
              </a:tr>
              <a:tr h="340198">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可用性</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hMerge="1">
                  <a:tcPr/>
                </a:tc>
                <a:tc hMerge="1">
                  <a:tcPr/>
                </a:tc>
              </a:tr>
              <a:tr h="340198">
                <a:tc rowSpan="4">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界面</a:t>
                      </a:r>
                      <a:endParaRPr kumimoji="0" lang="zh-CN" altLang="en-US" sz="1800" b="0" i="0" u="none" strike="noStrike" cap="none" normalizeH="0" baseline="0" dirty="0">
                        <a:ln>
                          <a:noFill/>
                        </a:ln>
                        <a:solidFill>
                          <a:schemeClr val="tx1"/>
                        </a:solidFill>
                        <a:effectLst/>
                        <a:latin typeface="+mj-ea"/>
                        <a:ea typeface="+mj-ea"/>
                      </a:endParaRPr>
                    </a:p>
                  </a:txBody>
                  <a:tcPr marL="83392" marR="8339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客户的行业性质如何</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客户的企业文化如何</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客户业务的复杂程度如何</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使用人员的情况如何</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rowSpan="2">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操作习惯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客户之前使用过什么系统吗？</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客户喜欢什么样的操作风格</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row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文档要求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客户需要联机文档吗？</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客户需求在线帮助吗？</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r>
              <a:tr h="340198">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客户的计算机操作水平如何？</a:t>
                      </a:r>
                      <a:endParaRPr kumimoji="0" lang="zh-CN" altLang="en-US" sz="1800" b="0" i="0" u="none" strike="noStrike" cap="none" normalizeH="0" baseline="0">
                        <a:ln>
                          <a:noFill/>
                        </a:ln>
                        <a:solidFill>
                          <a:schemeClr val="tx1"/>
                        </a:solidFill>
                        <a:effectLst/>
                        <a:latin typeface="+mj-ea"/>
                        <a:ea typeface="+mj-ea"/>
                      </a:endParaRPr>
                    </a:p>
                  </a:txBody>
                  <a:tcPr marL="83392" marR="83392"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83392" marR="83392" marT="40481" marB="40481" anchor="b" horzOverflow="overflow">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89442" name="Rectangle 2"/>
          <p:cNvSpPr>
            <a:spLocks noGrp="1" noChangeArrowheads="1"/>
          </p:cNvSpPr>
          <p:nvPr>
            <p:ph type="title"/>
          </p:nvPr>
        </p:nvSpPr>
        <p:spPr/>
        <p:txBody>
          <a:bodyPr/>
          <a:lstStyle/>
          <a:p>
            <a:r>
              <a:rPr lang="zh-CN" altLang="en-US" dirty="0"/>
              <a:t>获取非功能需求</a:t>
            </a:r>
            <a:endParaRPr lang="zh-CN" altLang="en-US" dirty="0"/>
          </a:p>
        </p:txBody>
      </p:sp>
      <p:sp>
        <p:nvSpPr>
          <p:cNvPr id="2" name="日期占位符 1"/>
          <p:cNvSpPr>
            <a:spLocks noGrp="1"/>
          </p:cNvSpPr>
          <p:nvPr>
            <p:ph type="dt" sz="half" idx="10"/>
          </p:nvPr>
        </p:nvSpPr>
        <p:spPr/>
        <p:txBody>
          <a:bodyPr/>
          <a:lstStyle/>
          <a:p>
            <a:fld id="{003E8A3E-4939-42FF-910C-7E526003007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graphicFrame>
        <p:nvGraphicFramePr>
          <p:cNvPr id="189443" name="Group 3"/>
          <p:cNvGraphicFramePr>
            <a:graphicFrameLocks noGrp="1"/>
          </p:cNvGraphicFramePr>
          <p:nvPr>
            <p:ph idx="1"/>
          </p:nvPr>
        </p:nvGraphicFramePr>
        <p:xfrm>
          <a:off x="1451176" y="531638"/>
          <a:ext cx="6477482" cy="4618666"/>
        </p:xfrm>
        <a:graphic>
          <a:graphicData uri="http://schemas.openxmlformats.org/drawingml/2006/table">
            <a:tbl>
              <a:tblPr>
                <a:tableStyleId>{BC89EF96-8CEA-46FF-86C4-4CE0E7609802}</a:tableStyleId>
              </a:tblPr>
              <a:tblGrid>
                <a:gridCol w="1508854"/>
                <a:gridCol w="4296262"/>
                <a:gridCol w="672366"/>
              </a:tblGrid>
              <a:tr h="286703">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非功能需求调查表</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b" horzOverflow="overflow">
                    <a:solidFill>
                      <a:schemeClr val="bg1"/>
                    </a:solidFill>
                  </a:tcPr>
                </a:tc>
                <a:tc hMerge="1">
                  <a:tcPr/>
                </a:tc>
                <a:tc hMerge="1">
                  <a:tcPr/>
                </a:tc>
              </a:tr>
              <a:tr h="286703">
                <a:tc gridSpan="3">
                  <a:txBody>
                    <a:bodyPr/>
                    <a:lstStyle/>
                    <a:p>
                      <a:pPr marL="339725" marR="0" lvl="0" indent="-339725" algn="ctr"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有效性</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b" horzOverflow="overflow">
                    <a:solidFill>
                      <a:schemeClr val="bg1"/>
                    </a:solidFill>
                  </a:tcPr>
                </a:tc>
                <a:tc hMerge="1">
                  <a:tcPr/>
                </a:tc>
                <a:tc hMerge="1">
                  <a:tcPr/>
                </a:tc>
              </a:tr>
              <a:tr h="286703">
                <a:tc rowSpan="5">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性能</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系统的平均访问量</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系统的峰值访问量</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系统的数据流量</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系统的并发要求</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硬件环境如何</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row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可伸缩性</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客户业务预期的扩张速度</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客户数据量的扩张速度</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使用人数的扩张速度</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row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可扩展性</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系统规模会持续扩大吗？</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客户是否有长期系统建设计划？</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r>
              <a:tr h="286703">
                <a:tc vMerge="1">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客户有升级系统的长期计划吗？</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b" horzOverflow="overflow">
                    <a:solidFill>
                      <a:schemeClr val="bg1"/>
                    </a:solidFill>
                  </a:tcPr>
                </a:tc>
                <a:tc>
                  <a:txBody>
                    <a:bodyPr/>
                    <a:lstStyle/>
                    <a:p>
                      <a:pPr marL="339725" marR="0" lvl="0" indent="-339725" algn="l" defTabSz="904875" rtl="0" eaLnBrk="1" fontAlgn="b"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b" horzOverflow="overflow">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Rectangle 2"/>
          <p:cNvSpPr>
            <a:spLocks noGrp="1" noChangeArrowheads="1"/>
          </p:cNvSpPr>
          <p:nvPr>
            <p:ph type="title"/>
          </p:nvPr>
        </p:nvSpPr>
        <p:spPr/>
        <p:txBody>
          <a:bodyPr/>
          <a:lstStyle/>
          <a:p>
            <a:r>
              <a:rPr lang="zh-CN" altLang="en-US" dirty="0"/>
              <a:t>获取非功能需求</a:t>
            </a:r>
            <a:endParaRPr lang="zh-CN" altLang="en-US" dirty="0"/>
          </a:p>
        </p:txBody>
      </p:sp>
      <p:sp>
        <p:nvSpPr>
          <p:cNvPr id="2" name="日期占位符 1"/>
          <p:cNvSpPr>
            <a:spLocks noGrp="1"/>
          </p:cNvSpPr>
          <p:nvPr>
            <p:ph type="dt" sz="half" idx="10"/>
          </p:nvPr>
        </p:nvSpPr>
        <p:spPr/>
        <p:txBody>
          <a:bodyPr/>
          <a:lstStyle/>
          <a:p>
            <a:fld id="{D757539D-0585-4CC7-955C-265F8EC45508}"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graphicFrame>
        <p:nvGraphicFramePr>
          <p:cNvPr id="190467" name="Group 3"/>
          <p:cNvGraphicFramePr>
            <a:graphicFrameLocks noGrp="1"/>
          </p:cNvGraphicFramePr>
          <p:nvPr>
            <p:ph idx="1"/>
          </p:nvPr>
        </p:nvGraphicFramePr>
        <p:xfrm>
          <a:off x="1094321" y="1018257"/>
          <a:ext cx="7183538" cy="3221642"/>
        </p:xfrm>
        <a:graphic>
          <a:graphicData uri="http://schemas.openxmlformats.org/drawingml/2006/table">
            <a:tbl>
              <a:tblPr>
                <a:tableStyleId>{BC89EF96-8CEA-46FF-86C4-4CE0E7609802}</a:tableStyleId>
              </a:tblPr>
              <a:tblGrid>
                <a:gridCol w="1922851"/>
                <a:gridCol w="4404945"/>
                <a:gridCol w="855742"/>
              </a:tblGrid>
              <a:tr h="292655">
                <a:tc grid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非功能需求调查表</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ctr" horzOverflow="overflow">
                    <a:solidFill>
                      <a:schemeClr val="bg1"/>
                    </a:solidFill>
                  </a:tcPr>
                </a:tc>
                <a:tc hMerge="1">
                  <a:tcPr/>
                </a:tc>
                <a:tc hMerge="1">
                  <a:tcPr/>
                </a:tc>
              </a:tr>
              <a:tr h="292655">
                <a:tc grid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可移植性</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hMerge="1">
                  <a:tcPr/>
                </a:tc>
                <a:tc hMerge="1">
                  <a:tcPr/>
                </a:tc>
              </a:tr>
              <a:tr h="292655">
                <a:tc row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硬件环境</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客户当前的硬件环境如何</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r>
              <a:tr h="518620">
                <a:tc vMerge="1">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客户是否有长期的硬件厂商合作伙伴</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r>
              <a:tr h="312859">
                <a:tc vMerge="1">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客户的业务是否在快速增长</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r>
              <a:tr h="292655">
                <a:tc rowSpan="3">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软件环境</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客户和系统运行环境如何</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　</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r>
              <a:tr h="407992">
                <a:tc vMerge="1">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客户是否有长期的软件提供商</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ctr" horzOverflow="overflow">
                    <a:solidFill>
                      <a:schemeClr val="bg1"/>
                    </a:solidFill>
                  </a:tcPr>
                </a:tc>
              </a:tr>
              <a:tr h="518620">
                <a:tc vMerge="1">
                  <a:tcPr/>
                </a:tc>
                <a:tc>
                  <a:txBody>
                    <a:bodyPr/>
                    <a:lstStyle/>
                    <a:p>
                      <a:pPr marL="339725" marR="0" lvl="0" indent="-339725" algn="l"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a:ln>
                            <a:noFill/>
                          </a:ln>
                          <a:effectLst/>
                          <a:latin typeface="+mj-ea"/>
                          <a:ea typeface="+mj-ea"/>
                        </a:rPr>
                        <a:t>开发者自己是否有长期明确的技术路线</a:t>
                      </a:r>
                      <a:endParaRPr kumimoji="0" lang="zh-CN" altLang="en-US" sz="1800" b="0" i="0" u="none" strike="noStrike" cap="none" normalizeH="0" baseline="0">
                        <a:ln>
                          <a:noFill/>
                        </a:ln>
                        <a:solidFill>
                          <a:schemeClr val="tx1"/>
                        </a:solidFill>
                        <a:effectLst/>
                        <a:latin typeface="+mj-ea"/>
                        <a:ea typeface="+mj-ea"/>
                      </a:endParaRPr>
                    </a:p>
                  </a:txBody>
                  <a:tcPr marL="85760" marR="85760" marT="40481" marB="40481" anchor="ctr" horzOverflow="overflow">
                    <a:solidFill>
                      <a:schemeClr val="bg1"/>
                    </a:solidFill>
                  </a:tcPr>
                </a:tc>
                <a:tc>
                  <a:txBody>
                    <a:bodyPr/>
                    <a:lstStyle/>
                    <a:p>
                      <a:pPr marL="339725" marR="0" lvl="0" indent="-339725" algn="ctr" defTabSz="904875" rtl="0" eaLnBrk="1" fontAlgn="ctr" latinLnBrk="0" hangingPunct="1">
                        <a:lnSpc>
                          <a:spcPct val="100000"/>
                        </a:lnSpc>
                        <a:spcBef>
                          <a:spcPct val="0"/>
                        </a:spcBef>
                        <a:spcAft>
                          <a:spcPct val="0"/>
                        </a:spcAft>
                        <a:buClrTx/>
                        <a:buSzTx/>
                        <a:buFontTx/>
                        <a:buNone/>
                      </a:pPr>
                      <a:r>
                        <a:rPr kumimoji="0" lang="zh-CN" altLang="en-US" sz="1800" u="none" strike="noStrike" cap="none" normalizeH="0" baseline="0" dirty="0">
                          <a:ln>
                            <a:noFill/>
                          </a:ln>
                          <a:effectLst/>
                          <a:latin typeface="+mj-ea"/>
                          <a:ea typeface="+mj-ea"/>
                        </a:rPr>
                        <a:t>　</a:t>
                      </a:r>
                      <a:endParaRPr kumimoji="0" lang="zh-CN" altLang="en-US" sz="1800" b="0" i="0" u="none" strike="noStrike" cap="none" normalizeH="0" baseline="0" dirty="0">
                        <a:ln>
                          <a:noFill/>
                        </a:ln>
                        <a:solidFill>
                          <a:schemeClr val="tx1"/>
                        </a:solidFill>
                        <a:effectLst/>
                        <a:latin typeface="+mj-ea"/>
                        <a:ea typeface="+mj-ea"/>
                      </a:endParaRPr>
                    </a:p>
                  </a:txBody>
                  <a:tcPr marL="85760" marR="85760" marT="40481" marB="40481" anchor="ctr" horzOverflow="overflow">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3391" y="102198"/>
            <a:ext cx="7769225" cy="857250"/>
          </a:xfrm>
        </p:spPr>
        <p:txBody>
          <a:bodyPr/>
          <a:lstStyle/>
          <a:p>
            <a:endParaRPr lang="zh-CN" altLang="en-US" dirty="0"/>
          </a:p>
        </p:txBody>
      </p:sp>
      <p:sp>
        <p:nvSpPr>
          <p:cNvPr id="4" name="矩形 3"/>
          <p:cNvSpPr/>
          <p:nvPr/>
        </p:nvSpPr>
        <p:spPr>
          <a:xfrm>
            <a:off x="827584" y="1599642"/>
            <a:ext cx="7560840" cy="2246769"/>
          </a:xfrm>
          <a:prstGeom prst="rect">
            <a:avLst/>
          </a:prstGeom>
        </p:spPr>
        <p:txBody>
          <a:bodyPr wrap="square">
            <a:spAutoFit/>
          </a:bodyPr>
          <a:lstStyle/>
          <a:p>
            <a:r>
              <a:rPr lang="zh-CN" altLang="en-US" sz="2800" dirty="0"/>
              <a:t>非功能性需求难以捉摸的特性，决定了不容易事先获取。非功能性需求的获取是一个</a:t>
            </a:r>
            <a:r>
              <a:rPr lang="zh-CN" altLang="en-US" sz="2800" dirty="0">
                <a:solidFill>
                  <a:srgbClr val="FF0000"/>
                </a:solidFill>
              </a:rPr>
              <a:t>迭代</a:t>
            </a:r>
            <a:r>
              <a:rPr lang="zh-CN" altLang="en-US" sz="2800" dirty="0"/>
              <a:t>的过程，需要跨越整个系统生命 周期。因为在达到一定重要阶段（通常是原型）之前，可能不太容易对系统的部分行为提出期望。</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215" y="0"/>
            <a:ext cx="7769225" cy="857250"/>
          </a:xfrm>
        </p:spPr>
        <p:txBody>
          <a:bodyPr/>
          <a:lstStyle/>
          <a:p>
            <a:endParaRPr lang="zh-CN" altLang="en-US" dirty="0"/>
          </a:p>
        </p:txBody>
      </p:sp>
      <p:sp>
        <p:nvSpPr>
          <p:cNvPr id="4" name="矩形 3"/>
          <p:cNvSpPr/>
          <p:nvPr/>
        </p:nvSpPr>
        <p:spPr>
          <a:xfrm>
            <a:off x="683568" y="1383618"/>
            <a:ext cx="7848872" cy="3416320"/>
          </a:xfrm>
          <a:prstGeom prst="rect">
            <a:avLst/>
          </a:prstGeom>
        </p:spPr>
        <p:txBody>
          <a:bodyPr wrap="square">
            <a:spAutoFit/>
          </a:bodyPr>
          <a:lstStyle/>
          <a:p>
            <a:pPr marL="457200" indent="-457200">
              <a:buFont typeface="Wingdings" panose="05000000000000000000" pitchFamily="2" charset="2"/>
              <a:buChar char="l"/>
            </a:pPr>
            <a:r>
              <a:rPr lang="zh-CN" altLang="zh-CN" sz="2400" dirty="0"/>
              <a:t>此外，我们无法在第一次开发之前把非功能性需求考虑完全。他们需要纠正性维护， 以纠正未符合预期的不正确行为。</a:t>
            </a:r>
            <a:endParaRPr lang="en-US" altLang="zh-CN" sz="2400" dirty="0"/>
          </a:p>
          <a:p>
            <a:endParaRPr lang="en-US" altLang="zh-CN" sz="2400" dirty="0"/>
          </a:p>
          <a:p>
            <a:pPr marL="457200" indent="-457200">
              <a:buFont typeface="Wingdings" panose="05000000000000000000" pitchFamily="2" charset="2"/>
              <a:buChar char="l"/>
            </a:pPr>
            <a:r>
              <a:rPr lang="zh-CN" altLang="zh-CN" sz="2400" dirty="0"/>
              <a:t>有些非 功能性需求（例如安全性方面）只有在目标环境中部署系统或意外发生时，才能进行全面检查。</a:t>
            </a:r>
            <a:endParaRPr lang="en-US" altLang="zh-CN" sz="2400" dirty="0"/>
          </a:p>
          <a:p>
            <a:endParaRPr lang="en-US" altLang="zh-CN" sz="2400" dirty="0"/>
          </a:p>
          <a:p>
            <a:pPr marL="457200" indent="-457200">
              <a:buFont typeface="Wingdings" panose="05000000000000000000" pitchFamily="2" charset="2"/>
              <a:buChar char="l"/>
            </a:pPr>
            <a:r>
              <a:rPr lang="zh-CN" altLang="zh-CN" sz="2400" dirty="0"/>
              <a:t>非功能性需求很多是不言而喻的，甚至是隐含的</a:t>
            </a:r>
            <a:r>
              <a:rPr lang="zh-CN" altLang="en-US" sz="2400" dirty="0"/>
              <a:t>，很难</a:t>
            </a:r>
            <a:r>
              <a:rPr lang="zh-CN" altLang="zh-CN" sz="2400" dirty="0"/>
              <a:t>把它们档案化</a:t>
            </a:r>
            <a:r>
              <a:rPr lang="zh-CN" altLang="en-US"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idx="1"/>
          </p:nvPr>
        </p:nvSpPr>
        <p:spPr>
          <a:xfrm>
            <a:off x="531813" y="1221600"/>
            <a:ext cx="8229600" cy="3394472"/>
          </a:xfrm>
        </p:spPr>
        <p:txBody>
          <a:bodyPr>
            <a:normAutofit fontScale="55000" lnSpcReduction="20000"/>
          </a:bodyPr>
          <a:lstStyle/>
          <a:p>
            <a:pPr lvl="0"/>
            <a:r>
              <a:rPr lang="zh-CN" altLang="zh-CN" dirty="0"/>
              <a:t>性能效率</a:t>
            </a:r>
            <a:r>
              <a:rPr lang="zh-CN" altLang="en-US" dirty="0"/>
              <a:t>：</a:t>
            </a:r>
            <a:endParaRPr lang="en-US" altLang="zh-CN" dirty="0"/>
          </a:p>
          <a:p>
            <a:pPr marL="0" lvl="0" indent="0">
              <a:buNone/>
            </a:pPr>
            <a:r>
              <a:rPr lang="en-US" altLang="zh-CN" dirty="0"/>
              <a:t>         </a:t>
            </a:r>
            <a:r>
              <a:rPr lang="zh-CN" altLang="zh-CN" dirty="0"/>
              <a:t>通过负载和压力测试来进行性能评估。</a:t>
            </a:r>
            <a:endParaRPr lang="zh-CN" altLang="zh-CN" dirty="0"/>
          </a:p>
          <a:p>
            <a:pPr lvl="0"/>
            <a:r>
              <a:rPr lang="zh-CN" altLang="zh-CN" dirty="0"/>
              <a:t>正确性</a:t>
            </a:r>
            <a:r>
              <a:rPr lang="zh-CN" altLang="en-US" dirty="0"/>
              <a:t>：</a:t>
            </a:r>
            <a:endParaRPr lang="en-US" altLang="zh-CN" dirty="0"/>
          </a:p>
          <a:p>
            <a:pPr marL="0" lvl="0" indent="0">
              <a:buNone/>
            </a:pPr>
            <a:r>
              <a:rPr lang="en-US" altLang="zh-CN" dirty="0"/>
              <a:t>          </a:t>
            </a:r>
            <a:r>
              <a:rPr lang="zh-CN" altLang="zh-CN" dirty="0"/>
              <a:t>每编码一小时，就投入一小时来测试。</a:t>
            </a:r>
            <a:endParaRPr lang="zh-CN" altLang="zh-CN" dirty="0"/>
          </a:p>
          <a:p>
            <a:pPr lvl="0"/>
            <a:r>
              <a:rPr lang="zh-CN" altLang="zh-CN" dirty="0"/>
              <a:t>易用性</a:t>
            </a:r>
            <a:r>
              <a:rPr lang="zh-CN" altLang="en-US" dirty="0"/>
              <a:t>：</a:t>
            </a:r>
            <a:endParaRPr lang="en-US" altLang="zh-CN" dirty="0"/>
          </a:p>
          <a:p>
            <a:pPr marL="0" lvl="0" indent="0">
              <a:buNone/>
            </a:pPr>
            <a:r>
              <a:rPr lang="en-US" altLang="zh-CN" dirty="0"/>
              <a:t>           </a:t>
            </a:r>
            <a:r>
              <a:rPr lang="zh-CN" altLang="zh-CN" dirty="0"/>
              <a:t>制作原型，确保客户对用户界面满意。</a:t>
            </a:r>
            <a:endParaRPr lang="zh-CN" altLang="zh-CN" dirty="0"/>
          </a:p>
          <a:p>
            <a:pPr lvl="0"/>
            <a:r>
              <a:rPr lang="zh-CN" altLang="zh-CN" dirty="0"/>
              <a:t>可靠性：</a:t>
            </a:r>
            <a:endParaRPr lang="en-US" altLang="zh-CN" dirty="0"/>
          </a:p>
          <a:p>
            <a:pPr marL="0" lvl="0" indent="0">
              <a:buNone/>
            </a:pPr>
            <a:r>
              <a:rPr lang="en-US" altLang="zh-CN" dirty="0"/>
              <a:t>           </a:t>
            </a:r>
            <a:r>
              <a:rPr lang="zh-CN" altLang="zh-CN" dirty="0"/>
              <a:t>强行引入一些错误，看看系统会发生什么，会</a:t>
            </a:r>
            <a:endParaRPr lang="en-US" altLang="zh-CN" dirty="0"/>
          </a:p>
          <a:p>
            <a:pPr marL="0" lvl="0" indent="0">
              <a:buNone/>
            </a:pPr>
            <a:r>
              <a:rPr lang="en-US" altLang="zh-CN" dirty="0"/>
              <a:t>     </a:t>
            </a:r>
            <a:r>
              <a:rPr lang="zh-CN" altLang="zh-CN" dirty="0"/>
              <a:t>不会丢失数据等。</a:t>
            </a:r>
            <a:endParaRPr lang="zh-CN" altLang="zh-CN" dirty="0"/>
          </a:p>
        </p:txBody>
      </p:sp>
      <p:sp>
        <p:nvSpPr>
          <p:cNvPr id="4" name="标题 3"/>
          <p:cNvSpPr>
            <a:spLocks noGrp="1"/>
          </p:cNvSpPr>
          <p:nvPr>
            <p:ph type="title"/>
          </p:nvPr>
        </p:nvSpPr>
        <p:spPr>
          <a:xfrm>
            <a:off x="833032" y="215153"/>
            <a:ext cx="8229600" cy="509588"/>
          </a:xfrm>
        </p:spPr>
        <p:txBody>
          <a:bodyPr>
            <a:normAutofit/>
          </a:bodyPr>
          <a:lstStyle/>
          <a:p>
            <a:pPr algn="l"/>
            <a:r>
              <a:rPr lang="zh-CN" altLang="en-US" dirty="0"/>
              <a:t>如何在系统中验证？</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zh-CN" altLang="en-US" dirty="0"/>
              <a:t>进一步分析系统的运行环境</a:t>
            </a:r>
            <a:endParaRPr lang="zh-CN" altLang="en-US" dirty="0"/>
          </a:p>
        </p:txBody>
      </p:sp>
      <p:sp>
        <p:nvSpPr>
          <p:cNvPr id="207875" name="Rectangle 3"/>
          <p:cNvSpPr>
            <a:spLocks noGrp="1" noChangeArrowheads="1"/>
          </p:cNvSpPr>
          <p:nvPr>
            <p:ph idx="1"/>
          </p:nvPr>
        </p:nvSpPr>
        <p:spPr>
          <a:xfrm>
            <a:off x="768097" y="1203767"/>
            <a:ext cx="7832833" cy="3528254"/>
          </a:xfrm>
        </p:spPr>
        <p:txBody>
          <a:bodyPr>
            <a:normAutofit/>
          </a:bodyPr>
          <a:lstStyle/>
          <a:p>
            <a:r>
              <a:rPr lang="zh-CN" altLang="en-US" sz="2400" dirty="0"/>
              <a:t>软件系统需要在特定的硬件和软件环境下运行。</a:t>
            </a:r>
            <a:endParaRPr lang="zh-CN" altLang="en-US" sz="2400" dirty="0"/>
          </a:p>
          <a:p>
            <a:r>
              <a:rPr lang="zh-CN" altLang="en-US" sz="2400" dirty="0"/>
              <a:t>其中硬件环境包括：</a:t>
            </a:r>
            <a:endParaRPr lang="en-US" altLang="zh-CN" sz="2400" dirty="0"/>
          </a:p>
          <a:p>
            <a:pPr lvl="1"/>
            <a:r>
              <a:rPr lang="zh-CN" altLang="en-US" sz="2000" dirty="0"/>
              <a:t>计算机硬件系统配置</a:t>
            </a:r>
            <a:endParaRPr lang="zh-CN" altLang="en-US" sz="2000" dirty="0"/>
          </a:p>
          <a:p>
            <a:r>
              <a:rPr lang="zh-CN" altLang="en-US" sz="2400" dirty="0"/>
              <a:t>软件环境包括：</a:t>
            </a:r>
            <a:endParaRPr lang="en-US" altLang="zh-CN" sz="2400" dirty="0"/>
          </a:p>
          <a:p>
            <a:pPr lvl="1"/>
            <a:r>
              <a:rPr lang="zh-CN" altLang="en-US" sz="2000" dirty="0"/>
              <a:t>操作系统，其他支持的软件，如数据库管理系统。</a:t>
            </a:r>
            <a:endParaRPr lang="zh-CN" altLang="en-US" sz="2000" dirty="0"/>
          </a:p>
        </p:txBody>
      </p:sp>
      <p:sp>
        <p:nvSpPr>
          <p:cNvPr id="2" name="日期占位符 1"/>
          <p:cNvSpPr>
            <a:spLocks noGrp="1"/>
          </p:cNvSpPr>
          <p:nvPr>
            <p:ph type="dt" sz="half" idx="10"/>
          </p:nvPr>
        </p:nvSpPr>
        <p:spPr/>
        <p:txBody>
          <a:bodyPr/>
          <a:lstStyle/>
          <a:p>
            <a:fld id="{B1C70304-0283-45AE-8481-61372260C7C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787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787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787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78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zh-CN" altLang="en-US" dirty="0"/>
              <a:t>与用户确定最后交付的内容</a:t>
            </a:r>
            <a:endParaRPr lang="zh-CN" altLang="en-US" dirty="0"/>
          </a:p>
        </p:txBody>
      </p:sp>
      <p:sp>
        <p:nvSpPr>
          <p:cNvPr id="208899" name="Rectangle 3"/>
          <p:cNvSpPr>
            <a:spLocks noGrp="1" noChangeArrowheads="1"/>
          </p:cNvSpPr>
          <p:nvPr>
            <p:ph idx="1"/>
          </p:nvPr>
        </p:nvSpPr>
        <p:spPr/>
        <p:txBody>
          <a:bodyPr>
            <a:normAutofit/>
          </a:bodyPr>
          <a:lstStyle/>
          <a:p>
            <a:pPr>
              <a:lnSpc>
                <a:spcPct val="120000"/>
              </a:lnSpc>
            </a:pPr>
            <a:r>
              <a:rPr lang="zh-CN" altLang="en-US" sz="2400" dirty="0"/>
              <a:t>在需求分析中，我们还需要与用户就最终交付的软件产品内容，以及产品交付形式达成一致。</a:t>
            </a:r>
            <a:endParaRPr lang="zh-CN" altLang="en-US" sz="2400" dirty="0"/>
          </a:p>
          <a:p>
            <a:pPr>
              <a:lnSpc>
                <a:spcPct val="120000"/>
              </a:lnSpc>
              <a:spcBef>
                <a:spcPts val="1800"/>
              </a:spcBef>
              <a:spcAft>
                <a:spcPts val="1800"/>
              </a:spcAft>
            </a:pPr>
            <a:r>
              <a:rPr lang="zh-CN" altLang="en-US" sz="2400" dirty="0"/>
              <a:t>软件产品不仅是可以运行的程序，还包括在整个软件开发过程中产生的一系列文档以及必要的用户使用说明书。</a:t>
            </a:r>
            <a:endParaRPr lang="zh-CN" altLang="en-US" sz="2400" dirty="0"/>
          </a:p>
          <a:p>
            <a:pPr>
              <a:lnSpc>
                <a:spcPct val="120000"/>
              </a:lnSpc>
            </a:pPr>
            <a:r>
              <a:rPr lang="zh-CN" altLang="en-US" sz="2400" dirty="0"/>
              <a:t>软件产品的交付可以采用光盘形式（</a:t>
            </a:r>
            <a:r>
              <a:rPr lang="en-US" altLang="zh-CN" sz="2400" dirty="0"/>
              <a:t>CD</a:t>
            </a:r>
            <a:r>
              <a:rPr lang="zh-CN" altLang="en-US" sz="2400" dirty="0"/>
              <a:t>，</a:t>
            </a:r>
            <a:r>
              <a:rPr lang="en-US" altLang="zh-CN" sz="2400" dirty="0"/>
              <a:t>DVD</a:t>
            </a:r>
            <a:r>
              <a:rPr lang="zh-CN" altLang="en-US" sz="2400" dirty="0"/>
              <a:t>），光盘介质存储比磁盘介质存储时间更持久一些。</a:t>
            </a:r>
            <a:endParaRPr lang="zh-CN" altLang="en-US" sz="2400" dirty="0"/>
          </a:p>
        </p:txBody>
      </p:sp>
      <p:sp>
        <p:nvSpPr>
          <p:cNvPr id="2" name="日期占位符 1"/>
          <p:cNvSpPr>
            <a:spLocks noGrp="1"/>
          </p:cNvSpPr>
          <p:nvPr>
            <p:ph type="dt" sz="half" idx="10"/>
          </p:nvPr>
        </p:nvSpPr>
        <p:spPr/>
        <p:txBody>
          <a:bodyPr/>
          <a:lstStyle/>
          <a:p>
            <a:fld id="{B092CB03-D1E2-4A5E-97E4-DA25CBDF533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8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88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91650" y="2938139"/>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2</a:t>
            </a:r>
            <a:r>
              <a:rPr lang="zh-CN" altLang="en-US" sz="2000" b="1" spc="169" dirty="0">
                <a:solidFill>
                  <a:schemeClr val="bg1"/>
                </a:solidFill>
                <a:latin typeface="+mj-ea"/>
                <a:ea typeface="+mj-ea"/>
                <a:sym typeface="+mn-ea"/>
              </a:rPr>
              <a:t>：完成需求规格说明书</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7A99E674-84D7-4777-8E6F-63BB33905A04}"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需求规格说明书的重要作用</a:t>
            </a:r>
            <a:endParaRPr lang="zh-CN" altLang="en-US" dirty="0"/>
          </a:p>
        </p:txBody>
      </p:sp>
      <p:sp>
        <p:nvSpPr>
          <p:cNvPr id="3" name="内容占位符 2"/>
          <p:cNvSpPr>
            <a:spLocks noGrp="1"/>
          </p:cNvSpPr>
          <p:nvPr>
            <p:ph idx="1"/>
          </p:nvPr>
        </p:nvSpPr>
        <p:spPr>
          <a:xfrm>
            <a:off x="768097" y="925167"/>
            <a:ext cx="7832833" cy="3665306"/>
          </a:xfrm>
        </p:spPr>
        <p:txBody>
          <a:bodyPr>
            <a:noAutofit/>
          </a:bodyPr>
          <a:lstStyle/>
          <a:p>
            <a:pPr>
              <a:lnSpc>
                <a:spcPct val="100000"/>
              </a:lnSpc>
            </a:pPr>
            <a:r>
              <a:rPr lang="zh-CN" altLang="en-US" sz="2400" dirty="0"/>
              <a:t>一个高质量的需求规格说明：</a:t>
            </a:r>
            <a:endParaRPr lang="en-US" altLang="zh-CN" sz="2400" dirty="0"/>
          </a:p>
          <a:p>
            <a:pPr lvl="1">
              <a:lnSpc>
                <a:spcPct val="100000"/>
              </a:lnSpc>
            </a:pPr>
            <a:r>
              <a:rPr lang="zh-CN" altLang="en-US" sz="2000" dirty="0"/>
              <a:t>是所有需求的集合</a:t>
            </a:r>
            <a:endParaRPr lang="en-US" altLang="zh-CN" sz="2000" dirty="0"/>
          </a:p>
          <a:p>
            <a:pPr lvl="1">
              <a:lnSpc>
                <a:spcPct val="100000"/>
              </a:lnSpc>
            </a:pPr>
            <a:r>
              <a:rPr lang="zh-CN" altLang="en-US" sz="2000" dirty="0"/>
              <a:t>描述产品要提供的所有功能</a:t>
            </a:r>
            <a:endParaRPr lang="en-US" altLang="zh-CN" sz="2000" dirty="0"/>
          </a:p>
          <a:p>
            <a:pPr lvl="1">
              <a:lnSpc>
                <a:spcPct val="100000"/>
              </a:lnSpc>
            </a:pPr>
            <a:r>
              <a:rPr lang="zh-CN" altLang="en-US" sz="2000" dirty="0"/>
              <a:t>是软件系统解决方案的商业合同的基础</a:t>
            </a:r>
            <a:endParaRPr lang="en-US" altLang="zh-CN" sz="2000" dirty="0"/>
          </a:p>
          <a:p>
            <a:pPr lvl="1">
              <a:lnSpc>
                <a:spcPct val="100000"/>
              </a:lnSpc>
            </a:pPr>
            <a:r>
              <a:rPr lang="en-US" altLang="zh-CN" sz="2000" dirty="0"/>
              <a:t> </a:t>
            </a:r>
            <a:r>
              <a:rPr lang="zh-CN" altLang="en-US" sz="2000" dirty="0"/>
              <a:t>是测试计划的基础</a:t>
            </a:r>
            <a:endParaRPr lang="en-US" altLang="zh-CN" sz="2000" dirty="0"/>
          </a:p>
          <a:p>
            <a:pPr lvl="1">
              <a:lnSpc>
                <a:spcPct val="100000"/>
              </a:lnSpc>
            </a:pPr>
            <a:r>
              <a:rPr lang="zh-CN" altLang="en-US" sz="2000" dirty="0"/>
              <a:t>定义产品需求的度量标准</a:t>
            </a:r>
            <a:endParaRPr lang="en-US" altLang="zh-CN" sz="2000" dirty="0"/>
          </a:p>
          <a:p>
            <a:pPr lvl="1">
              <a:lnSpc>
                <a:spcPct val="100000"/>
              </a:lnSpc>
            </a:pPr>
            <a:r>
              <a:rPr lang="zh-CN" altLang="en-US" sz="2000" dirty="0"/>
              <a:t>是产品需求跟踪的先决条件</a:t>
            </a:r>
            <a:endParaRPr lang="en-US" altLang="zh-CN" sz="2000" dirty="0"/>
          </a:p>
          <a:p>
            <a:pPr lvl="1">
              <a:lnSpc>
                <a:spcPct val="100000"/>
              </a:lnSpc>
            </a:pPr>
            <a:r>
              <a:rPr lang="zh-CN" altLang="en-US" sz="2000" dirty="0"/>
              <a:t>影响开发产品的项目计划</a:t>
            </a:r>
            <a:endParaRPr lang="zh-CN" altLang="en-US" sz="2000"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a:bodyPr>
          <a:lstStyle/>
          <a:p>
            <a:r>
              <a:rPr lang="zh-CN" altLang="en-US" dirty="0"/>
              <a:t>需求规格说明书</a:t>
            </a:r>
            <a:r>
              <a:rPr lang="en-US" altLang="zh-CN" dirty="0"/>
              <a:t>——</a:t>
            </a:r>
            <a:r>
              <a:rPr lang="zh-CN" altLang="en-US" dirty="0"/>
              <a:t>重要的过程文档</a:t>
            </a:r>
            <a:endParaRPr lang="zh-CN" altLang="en-US" dirty="0"/>
          </a:p>
        </p:txBody>
      </p:sp>
      <p:sp>
        <p:nvSpPr>
          <p:cNvPr id="210947" name="Rectangle 3"/>
          <p:cNvSpPr>
            <a:spLocks noGrp="1" noChangeArrowheads="1"/>
          </p:cNvSpPr>
          <p:nvPr>
            <p:ph idx="1"/>
          </p:nvPr>
        </p:nvSpPr>
        <p:spPr>
          <a:xfrm>
            <a:off x="768097" y="1157467"/>
            <a:ext cx="7832833" cy="3574553"/>
          </a:xfrm>
        </p:spPr>
        <p:txBody>
          <a:bodyPr>
            <a:normAutofit/>
          </a:bodyPr>
          <a:lstStyle/>
          <a:p>
            <a:pPr>
              <a:lnSpc>
                <a:spcPct val="120000"/>
              </a:lnSpc>
            </a:pPr>
            <a:r>
              <a:rPr lang="zh-CN" altLang="en-US" sz="2400" dirty="0"/>
              <a:t>当需求分析结束的时候，需要提交需求规格说明书，作为下一个阶段工作的依据。</a:t>
            </a:r>
            <a:endParaRPr lang="zh-CN" altLang="en-US" sz="2400" dirty="0"/>
          </a:p>
          <a:p>
            <a:pPr>
              <a:lnSpc>
                <a:spcPct val="120000"/>
              </a:lnSpc>
            </a:pPr>
            <a:r>
              <a:rPr lang="zh-CN" altLang="en-US" sz="2400" dirty="0"/>
              <a:t>需求规格说明书是软件项目开发过程的重要过程文档，应该格式正确。</a:t>
            </a:r>
            <a:endParaRPr lang="zh-CN" altLang="en-US" sz="2400" dirty="0"/>
          </a:p>
          <a:p>
            <a:pPr>
              <a:lnSpc>
                <a:spcPct val="120000"/>
              </a:lnSpc>
            </a:pPr>
            <a:r>
              <a:rPr lang="zh-CN" altLang="en-US" sz="2400" dirty="0"/>
              <a:t>一般需求规格说明书应该包含以下几部分内容：</a:t>
            </a:r>
            <a:endParaRPr lang="zh-CN" altLang="en-US" sz="2400" dirty="0"/>
          </a:p>
        </p:txBody>
      </p:sp>
      <p:sp>
        <p:nvSpPr>
          <p:cNvPr id="2" name="日期占位符 1"/>
          <p:cNvSpPr>
            <a:spLocks noGrp="1"/>
          </p:cNvSpPr>
          <p:nvPr>
            <p:ph type="dt" sz="half" idx="10"/>
          </p:nvPr>
        </p:nvSpPr>
        <p:spPr/>
        <p:txBody>
          <a:bodyPr/>
          <a:lstStyle/>
          <a:p>
            <a:fld id="{8FD45C3C-8C8C-4AE6-9531-A4448D5E35A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rotWithShape="1">
          <a:blip r:embed="rId1">
            <a:extLst>
              <a:ext uri="{28A0092B-C50C-407E-A947-70E740481C1C}">
                <a14:useLocalDpi xmlns:a14="http://schemas.microsoft.com/office/drawing/2010/main" val="0"/>
              </a:ext>
            </a:extLst>
          </a:blip>
          <a:srcRect l="7266" t="14685" r="10860" b="16379"/>
          <a:stretch>
            <a:fillRect/>
          </a:stretch>
        </p:blipFill>
        <p:spPr bwMode="auto">
          <a:xfrm>
            <a:off x="1261640" y="736315"/>
            <a:ext cx="6620719" cy="40102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p:cNvSpPr>
            <a:spLocks noGrp="1"/>
          </p:cNvSpPr>
          <p:nvPr>
            <p:ph type="title"/>
          </p:nvPr>
        </p:nvSpPr>
        <p:spPr/>
        <p:txBody>
          <a:bodyPr/>
          <a:lstStyle/>
          <a:p>
            <a:r>
              <a:rPr lang="zh-CN" altLang="en-US" dirty="0"/>
              <a:t>需求规格说明书文档模板</a:t>
            </a:r>
            <a:endParaRPr lang="zh-CN" altLang="en-US" dirty="0"/>
          </a:p>
        </p:txBody>
      </p:sp>
      <p:sp>
        <p:nvSpPr>
          <p:cNvPr id="2" name="日期占位符 1"/>
          <p:cNvSpPr>
            <a:spLocks noGrp="1"/>
          </p:cNvSpPr>
          <p:nvPr>
            <p:ph type="dt" sz="half" idx="10"/>
          </p:nvPr>
        </p:nvSpPr>
        <p:spPr/>
        <p:txBody>
          <a:bodyPr/>
          <a:lstStyle/>
          <a:p>
            <a:fld id="{BA251131-87AA-4DE5-ABE8-D0399A77B75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高质量需求规格说明的评价标准</a:t>
            </a:r>
            <a:endParaRPr lang="zh-CN" altLang="en-US"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1450" y="713772"/>
            <a:ext cx="8972550" cy="39243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需求分析文档实例</a:t>
            </a:r>
            <a:endParaRPr lang="zh-CN" altLang="en-US" dirty="0"/>
          </a:p>
        </p:txBody>
      </p:sp>
      <p:sp>
        <p:nvSpPr>
          <p:cNvPr id="2" name="内容占位符 1"/>
          <p:cNvSpPr>
            <a:spLocks noGrp="1"/>
          </p:cNvSpPr>
          <p:nvPr>
            <p:ph idx="1"/>
          </p:nvPr>
        </p:nvSpPr>
        <p:spPr>
          <a:xfrm>
            <a:off x="768097" y="1134319"/>
            <a:ext cx="7832833" cy="3597702"/>
          </a:xfrm>
        </p:spPr>
        <p:txBody>
          <a:bodyPr>
            <a:normAutofit/>
          </a:bodyPr>
          <a:lstStyle/>
          <a:p>
            <a:pPr>
              <a:lnSpc>
                <a:spcPct val="150000"/>
              </a:lnSpc>
            </a:pPr>
            <a:r>
              <a:rPr lang="en-US" altLang="zh-CN" sz="2400" dirty="0">
                <a:hlinkClick r:id="" action="ppaction://noaction"/>
              </a:rPr>
              <a:t>http</a:t>
            </a:r>
            <a:r>
              <a:rPr lang="en-US" altLang="zh-CN" sz="2400" dirty="0">
                <a:hlinkClick r:id="rId1"/>
              </a:rPr>
              <a:t>://www.doc88.com/p-3068715769107.html</a:t>
            </a:r>
            <a:endParaRPr lang="en-US" altLang="zh-CN" sz="2400" dirty="0"/>
          </a:p>
          <a:p>
            <a:pPr>
              <a:lnSpc>
                <a:spcPct val="150000"/>
              </a:lnSpc>
            </a:pPr>
            <a:r>
              <a:rPr lang="en-US" altLang="zh-CN" sz="2400" dirty="0">
                <a:hlinkClick r:id="rId2"/>
              </a:rPr>
              <a:t>http://www.doc88.com/p-341802847454.html</a:t>
            </a:r>
            <a:endParaRPr lang="en-US" altLang="zh-CN" sz="2400" dirty="0"/>
          </a:p>
          <a:p>
            <a:pPr>
              <a:lnSpc>
                <a:spcPct val="150000"/>
              </a:lnSpc>
            </a:pPr>
            <a:r>
              <a:rPr lang="en-US" altLang="zh-CN" sz="2400" dirty="0">
                <a:hlinkClick r:id="rId3"/>
              </a:rPr>
              <a:t>http://www.doc88.com/p-2866150290167.html</a:t>
            </a:r>
            <a:endParaRPr lang="en-US" altLang="zh-CN" sz="2400" dirty="0"/>
          </a:p>
        </p:txBody>
      </p:sp>
      <p:sp>
        <p:nvSpPr>
          <p:cNvPr id="4" name="日期占位符 3"/>
          <p:cNvSpPr>
            <a:spLocks noGrp="1"/>
          </p:cNvSpPr>
          <p:nvPr>
            <p:ph type="dt" sz="half" idx="10"/>
          </p:nvPr>
        </p:nvSpPr>
        <p:spPr/>
        <p:txBody>
          <a:bodyPr/>
          <a:lstStyle/>
          <a:p>
            <a:fld id="{E03D11E8-3A29-4004-BDFB-D820AC85A73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需求文档撰写的注意事项</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尽快开始写需求；</a:t>
            </a:r>
            <a:endParaRPr lang="en-US" altLang="zh-CN" dirty="0"/>
          </a:p>
          <a:p>
            <a:r>
              <a:rPr lang="zh-CN" altLang="en-US" dirty="0"/>
              <a:t>确定哪些属性将被用于分类和细化需求；</a:t>
            </a:r>
            <a:endParaRPr lang="en-US" altLang="zh-CN" dirty="0"/>
          </a:p>
          <a:p>
            <a:r>
              <a:rPr lang="zh-CN" altLang="en-US" dirty="0"/>
              <a:t>产生一个初始版本来刺激反馈；</a:t>
            </a:r>
            <a:endParaRPr lang="en-US" altLang="zh-CN" dirty="0"/>
          </a:p>
          <a:p>
            <a:r>
              <a:rPr lang="zh-CN" altLang="en-US" dirty="0"/>
              <a:t>询问用户往往比咨询专家更有用；</a:t>
            </a:r>
            <a:endParaRPr lang="en-US" altLang="zh-CN" dirty="0"/>
          </a:p>
          <a:p>
            <a:r>
              <a:rPr lang="zh-CN" altLang="en-US" dirty="0"/>
              <a:t>撰写需求时需要遵循的法则：</a:t>
            </a:r>
            <a:endParaRPr lang="en-US" altLang="zh-CN" dirty="0"/>
          </a:p>
          <a:p>
            <a:pPr lvl="1"/>
            <a:r>
              <a:rPr lang="zh-CN" altLang="en-US" dirty="0"/>
              <a:t>使用简单、直接的语言 </a:t>
            </a:r>
            <a:endParaRPr lang="en-US" altLang="zh-CN" dirty="0"/>
          </a:p>
          <a:p>
            <a:pPr lvl="1"/>
            <a:r>
              <a:rPr lang="zh-CN" altLang="en-US" dirty="0"/>
              <a:t>撰写可测试的需求</a:t>
            </a:r>
            <a:endParaRPr lang="en-US" altLang="zh-CN" dirty="0"/>
          </a:p>
          <a:p>
            <a:pPr lvl="1"/>
            <a:r>
              <a:rPr lang="en-US" altLang="zh-CN" dirty="0"/>
              <a:t> </a:t>
            </a:r>
            <a:r>
              <a:rPr lang="zh-CN" altLang="en-US" dirty="0"/>
              <a:t>使用定义好的并达成共识的术语 </a:t>
            </a:r>
            <a:endParaRPr lang="en-US" altLang="zh-CN" dirty="0"/>
          </a:p>
          <a:p>
            <a:pPr lvl="1"/>
            <a:r>
              <a:rPr lang="zh-CN" altLang="en-US" dirty="0"/>
              <a:t>一次只写一项需求 </a:t>
            </a:r>
            <a:endParaRPr lang="zh-CN" altLang="en-US"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42620" y="2108221"/>
            <a:ext cx="3343275" cy="2200275"/>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Grp="1" noRot="1" noChangeArrowheads="1"/>
          </p:cNvSpPr>
          <p:nvPr>
            <p:ph idx="1"/>
          </p:nvPr>
        </p:nvSpPr>
        <p:spPr>
          <a:xfrm>
            <a:off x="1013567" y="1014094"/>
            <a:ext cx="5841332" cy="2705245"/>
          </a:xfrm>
        </p:spPr>
        <p:txBody>
          <a:bodyPr>
            <a:normAutofit/>
          </a:bodyPr>
          <a:lstStyle/>
          <a:p>
            <a:pPr marL="342900" indent="-342900">
              <a:spcBef>
                <a:spcPts val="1350"/>
              </a:spcBef>
              <a:buFont typeface="+mj-lt"/>
              <a:buAutoNum type="arabicPeriod"/>
            </a:pPr>
            <a:r>
              <a:rPr lang="zh-CN" altLang="en-US" sz="2400" dirty="0"/>
              <a:t>需求变更控制</a:t>
            </a:r>
            <a:endParaRPr lang="zh-CN" altLang="en-US" sz="2400" dirty="0"/>
          </a:p>
          <a:p>
            <a:pPr marL="342900" indent="-342900">
              <a:spcBef>
                <a:spcPts val="1350"/>
              </a:spcBef>
              <a:buFont typeface="+mj-lt"/>
              <a:buAutoNum type="arabicPeriod"/>
            </a:pPr>
            <a:r>
              <a:rPr lang="zh-CN" altLang="en-US" sz="2400" dirty="0"/>
              <a:t>需求规格说明文档的版本控制</a:t>
            </a:r>
            <a:endParaRPr lang="zh-CN" altLang="en-US" sz="2400" dirty="0"/>
          </a:p>
          <a:p>
            <a:pPr marL="342900" indent="-342900">
              <a:spcBef>
                <a:spcPts val="1350"/>
              </a:spcBef>
              <a:buFont typeface="+mj-lt"/>
              <a:buAutoNum type="arabicPeriod"/>
            </a:pPr>
            <a:r>
              <a:rPr lang="zh-CN" altLang="en-US" sz="2400" dirty="0"/>
              <a:t>需求变更状态的跟踪</a:t>
            </a:r>
            <a:endParaRPr lang="zh-CN" altLang="en-US" sz="2400" dirty="0"/>
          </a:p>
          <a:p>
            <a:pPr marL="342900" indent="-342900">
              <a:spcBef>
                <a:spcPts val="1350"/>
              </a:spcBef>
              <a:buFont typeface="+mj-lt"/>
              <a:buAutoNum type="arabicPeriod"/>
            </a:pPr>
            <a:r>
              <a:rPr lang="zh-CN" altLang="en-US" sz="2400" dirty="0"/>
              <a:t>需求跟踪</a:t>
            </a:r>
            <a:endParaRPr lang="zh-CN" altLang="en-US" sz="2400" dirty="0"/>
          </a:p>
        </p:txBody>
      </p:sp>
      <p:sp>
        <p:nvSpPr>
          <p:cNvPr id="103426" name="Rectangle 2"/>
          <p:cNvSpPr>
            <a:spLocks noGrp="1" noRot="1" noChangeArrowheads="1"/>
          </p:cNvSpPr>
          <p:nvPr>
            <p:ph type="title"/>
          </p:nvPr>
        </p:nvSpPr>
        <p:spPr/>
        <p:txBody>
          <a:bodyPr>
            <a:normAutofit/>
          </a:bodyPr>
          <a:lstStyle/>
          <a:p>
            <a:r>
              <a:rPr lang="zh-CN" altLang="en-US">
                <a:sym typeface="+mn-ea"/>
              </a:rPr>
              <a:t>需求管理</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C89800F7-1EA5-407A-BD0C-1D9C9F47792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需求变更控制</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变更原因</a:t>
            </a:r>
            <a:endParaRPr lang="zh-CN" altLang="en-US" dirty="0"/>
          </a:p>
          <a:p>
            <a:pPr lvl="1">
              <a:lnSpc>
                <a:spcPct val="120000"/>
              </a:lnSpc>
            </a:pPr>
            <a:r>
              <a:rPr lang="zh-CN" altLang="en-US" dirty="0"/>
              <a:t>市场竞争、业务过程和组织机构的变化、软件系统运行环境的变化等。</a:t>
            </a:r>
            <a:endParaRPr lang="zh-CN" altLang="en-US" dirty="0"/>
          </a:p>
          <a:p>
            <a:pPr>
              <a:lnSpc>
                <a:spcPct val="120000"/>
              </a:lnSpc>
            </a:pPr>
            <a:r>
              <a:rPr lang="zh-CN" altLang="en-US" dirty="0">
                <a:solidFill>
                  <a:srgbClr val="FF0000"/>
                </a:solidFill>
              </a:rPr>
              <a:t>不被控制的变更会使项目陷入困境。</a:t>
            </a:r>
            <a:endParaRPr lang="zh-CN" altLang="en-US" dirty="0">
              <a:solidFill>
                <a:srgbClr val="FF0000"/>
              </a:solidFill>
            </a:endParaRPr>
          </a:p>
          <a:p>
            <a:pPr algn="just">
              <a:lnSpc>
                <a:spcPct val="120000"/>
              </a:lnSpc>
            </a:pPr>
            <a:r>
              <a:rPr lang="zh-CN" altLang="en-US" dirty="0"/>
              <a:t>变更的影响</a:t>
            </a:r>
            <a:endParaRPr lang="zh-CN" altLang="en-US" dirty="0"/>
          </a:p>
          <a:p>
            <a:pPr lvl="1" algn="just">
              <a:lnSpc>
                <a:spcPct val="120000"/>
              </a:lnSpc>
            </a:pPr>
            <a:r>
              <a:rPr lang="zh-CN" altLang="en-US" dirty="0">
                <a:solidFill>
                  <a:srgbClr val="00B0F0"/>
                </a:solidFill>
              </a:rPr>
              <a:t>需求间的影响、需求与设计的影响</a:t>
            </a:r>
            <a:r>
              <a:rPr lang="zh-CN" altLang="en-US" dirty="0"/>
              <a:t>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0291">
                                            <p:txEl>
                                              <p:pRg st="1" end="1"/>
                                            </p:txEl>
                                          </p:spTgt>
                                        </p:tgtEl>
                                        <p:attrNameLst>
                                          <p:attrName>style.visibility</p:attrName>
                                        </p:attrNameLst>
                                      </p:cBhvr>
                                      <p:to>
                                        <p:strVal val="visible"/>
                                      </p:to>
                                    </p:set>
                                    <p:animEffect transition="in" filter="wipe(up)">
                                      <p:cBhvr>
                                        <p:cTn id="10" dur="500"/>
                                        <p:tgtEl>
                                          <p:spTgt spid="14029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wipe(up)">
                                      <p:cBhvr>
                                        <p:cTn id="15" dur="500"/>
                                        <p:tgtEl>
                                          <p:spTgt spid="14029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0291">
                                            <p:txEl>
                                              <p:pRg st="3" end="3"/>
                                            </p:txEl>
                                          </p:spTgt>
                                        </p:tgtEl>
                                        <p:attrNameLst>
                                          <p:attrName>style.visibility</p:attrName>
                                        </p:attrNameLst>
                                      </p:cBhvr>
                                      <p:to>
                                        <p:strVal val="visible"/>
                                      </p:to>
                                    </p:set>
                                    <p:animEffect transition="in" filter="wipe(up)">
                                      <p:cBhvr>
                                        <p:cTn id="20" dur="500"/>
                                        <p:tgtEl>
                                          <p:spTgt spid="140291">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wipe(up)">
                                      <p:cBhvr>
                                        <p:cTn id="23" dur="500"/>
                                        <p:tgtEl>
                                          <p:spTgt spid="1402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需求变更控制</a:t>
            </a:r>
            <a:r>
              <a:rPr lang="en-US" altLang="zh-CN" dirty="0">
                <a:sym typeface="+mn-ea"/>
              </a:rPr>
              <a:t>——</a:t>
            </a:r>
            <a:r>
              <a:rPr lang="zh-CN" altLang="en-US" dirty="0">
                <a:sym typeface="+mn-ea"/>
              </a:rPr>
              <a:t>控制项目范围的扩展</a:t>
            </a:r>
            <a:endParaRPr lang="en-US" altLang="zh-CN"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fontScale="80000"/>
          </a:bodyPr>
          <a:p>
            <a:pPr>
              <a:lnSpc>
                <a:spcPct val="120000"/>
              </a:lnSpc>
            </a:pPr>
            <a:r>
              <a:rPr lang="zh-CN" altLang="en-US" dirty="0"/>
              <a:t>需求变更在原有的基础上提出</a:t>
            </a:r>
            <a:r>
              <a:rPr lang="zh-CN" altLang="en-US" dirty="0">
                <a:solidFill>
                  <a:srgbClr val="FF0000"/>
                </a:solidFill>
              </a:rPr>
              <a:t>扩充软件系统的功能需求</a:t>
            </a:r>
            <a:r>
              <a:rPr lang="zh-CN" altLang="en-US" dirty="0"/>
              <a:t>。</a:t>
            </a:r>
            <a:endParaRPr lang="zh-CN" altLang="en-US" dirty="0"/>
          </a:p>
          <a:p>
            <a:pPr>
              <a:lnSpc>
                <a:spcPct val="120000"/>
              </a:lnSpc>
            </a:pPr>
            <a:r>
              <a:rPr lang="zh-CN" altLang="en-US" dirty="0"/>
              <a:t>控制方法：</a:t>
            </a:r>
            <a:endParaRPr lang="zh-CN" altLang="en-US" dirty="0"/>
          </a:p>
          <a:p>
            <a:pPr lvl="1">
              <a:lnSpc>
                <a:spcPct val="120000"/>
              </a:lnSpc>
            </a:pPr>
            <a:r>
              <a:rPr lang="zh-CN" altLang="en-US" dirty="0"/>
              <a:t>将新扩充系统的视图、范围和限制等</a:t>
            </a:r>
            <a:r>
              <a:rPr lang="zh-CN" altLang="en-US" dirty="0">
                <a:solidFill>
                  <a:srgbClr val="FF0000"/>
                </a:solidFill>
              </a:rPr>
              <a:t>文档化</a:t>
            </a:r>
            <a:r>
              <a:rPr lang="zh-CN" altLang="en-US" dirty="0"/>
              <a:t>，并作为功能需求的一部分，将其与原系统的视图和范围作比较，对新增需求进行评估，以决定是否采纳。</a:t>
            </a:r>
            <a:endParaRPr lang="zh-CN" altLang="en-US" dirty="0"/>
          </a:p>
          <a:p>
            <a:pPr lvl="1">
              <a:lnSpc>
                <a:spcPct val="120000"/>
              </a:lnSpc>
            </a:pPr>
            <a:r>
              <a:rPr lang="zh-CN" altLang="en-US" dirty="0"/>
              <a:t>利用</a:t>
            </a:r>
            <a:r>
              <a:rPr lang="zh-CN" altLang="en-US" dirty="0">
                <a:solidFill>
                  <a:srgbClr val="FF0000"/>
                </a:solidFill>
              </a:rPr>
              <a:t>原型</a:t>
            </a:r>
            <a:r>
              <a:rPr lang="zh-CN" altLang="en-US" dirty="0"/>
              <a:t>系统，帮助用户与开发人员之间进行交流和沟通，从而准确把握用户的真正需求。</a:t>
            </a:r>
            <a:endParaRPr lang="zh-CN" altLang="en-US" dirty="0"/>
          </a:p>
          <a:p>
            <a:pPr lvl="1">
              <a:lnSpc>
                <a:spcPct val="120000"/>
              </a:lnSpc>
            </a:pPr>
            <a:r>
              <a:rPr lang="zh-CN" altLang="en-US" dirty="0"/>
              <a:t>有时也要说</a:t>
            </a:r>
            <a:r>
              <a:rPr lang="en-US" altLang="zh-CN" dirty="0"/>
              <a:t>“</a:t>
            </a:r>
            <a:r>
              <a:rPr lang="zh-CN" altLang="en-US" dirty="0">
                <a:solidFill>
                  <a:srgbClr val="FF0000"/>
                </a:solidFill>
              </a:rPr>
              <a:t>不</a:t>
            </a:r>
            <a:r>
              <a:rPr lang="en-US" altLang="zh-CN" dirty="0"/>
              <a:t>”</a:t>
            </a:r>
            <a:r>
              <a:rPr lang="zh-CN" altLang="en-US" dirty="0"/>
              <a:t>。</a:t>
            </a:r>
            <a:endParaRPr lang="zh-CN" altLang="en-US" dirty="0"/>
          </a:p>
          <a:p>
            <a:pPr>
              <a:lnSpc>
                <a:spcPct val="120000"/>
              </a:lnSpc>
            </a:pP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需求变更控制</a:t>
            </a:r>
            <a:r>
              <a:rPr lang="en-US" altLang="zh-CN" dirty="0">
                <a:sym typeface="+mn-ea"/>
              </a:rPr>
              <a:t>——</a:t>
            </a:r>
            <a:r>
              <a:rPr lang="zh-CN" altLang="en-US" dirty="0">
                <a:sym typeface="+mn-ea"/>
              </a:rPr>
              <a:t>建立变更控制的策略</a:t>
            </a:r>
            <a:endParaRPr lang="zh-CN" altLang="en-US"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lnSpcReduction="20000"/>
          </a:bodyPr>
          <a:p>
            <a:pPr>
              <a:lnSpc>
                <a:spcPct val="120000"/>
              </a:lnSpc>
            </a:pPr>
            <a:r>
              <a:rPr lang="zh-CN" altLang="en-US" dirty="0"/>
              <a:t>建立所有需求变更应遵循的过程。</a:t>
            </a:r>
            <a:endParaRPr lang="zh-CN" altLang="en-US" dirty="0"/>
          </a:p>
          <a:p>
            <a:pPr>
              <a:lnSpc>
                <a:spcPct val="120000"/>
              </a:lnSpc>
            </a:pPr>
            <a:r>
              <a:rPr lang="zh-CN" altLang="en-US" dirty="0"/>
              <a:t>对于未获批准的变更，除进行可行性论证外，不进行其后的工作。</a:t>
            </a:r>
            <a:endParaRPr lang="zh-CN" altLang="en-US" dirty="0"/>
          </a:p>
          <a:p>
            <a:pPr>
              <a:lnSpc>
                <a:spcPct val="120000"/>
              </a:lnSpc>
            </a:pPr>
            <a:r>
              <a:rPr lang="zh-CN" altLang="en-US" dirty="0"/>
              <a:t>对所提出的多个变更请求，应由项目变更负责人决定实现哪些，以及实现次序。</a:t>
            </a:r>
            <a:endParaRPr lang="zh-CN" altLang="en-US" dirty="0"/>
          </a:p>
          <a:p>
            <a:pPr>
              <a:lnSpc>
                <a:spcPct val="120000"/>
              </a:lnSpc>
            </a:pPr>
            <a:r>
              <a:rPr lang="zh-CN" altLang="en-US" dirty="0"/>
              <a:t>每一个实施后的变更必须与一个经核准的变更请求相对应。</a:t>
            </a:r>
            <a:endParaRPr lang="zh-CN" altLang="en-US" dirty="0"/>
          </a:p>
          <a:p>
            <a:pPr>
              <a:lnSpc>
                <a:spcPct val="120000"/>
              </a:lnSpc>
            </a:pP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需求变更控制</a:t>
            </a:r>
            <a:r>
              <a:rPr lang="en-US" altLang="zh-CN" dirty="0">
                <a:sym typeface="+mn-ea"/>
              </a:rPr>
              <a:t>——</a:t>
            </a:r>
            <a:r>
              <a:rPr lang="zh-CN" altLang="en-US" dirty="0">
                <a:sym typeface="+mn-ea"/>
              </a:rPr>
              <a:t>实施变更控制的步骤</a:t>
            </a:r>
            <a:endParaRPr lang="zh-CN" altLang="en-US"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350" y="2675255"/>
            <a:ext cx="8225155" cy="2056765"/>
          </a:xfrm>
        </p:spPr>
        <p:txBody>
          <a:bodyPr>
            <a:normAutofit/>
          </a:bodyPr>
          <a:p>
            <a:pPr>
              <a:lnSpc>
                <a:spcPct val="120000"/>
              </a:lnSpc>
            </a:pPr>
            <a:r>
              <a:rPr lang="zh-CN" altLang="en-US" dirty="0">
                <a:solidFill>
                  <a:srgbClr val="00B0F0"/>
                </a:solidFill>
              </a:rPr>
              <a:t>变更控制的启动。</a:t>
            </a:r>
            <a:endParaRPr lang="zh-CN" altLang="en-US" dirty="0">
              <a:solidFill>
                <a:srgbClr val="00B0F0"/>
              </a:solidFill>
            </a:endParaRPr>
          </a:p>
          <a:p>
            <a:pPr>
              <a:lnSpc>
                <a:spcPct val="120000"/>
              </a:lnSpc>
            </a:pPr>
            <a:r>
              <a:rPr lang="zh-CN" altLang="en-US" dirty="0">
                <a:solidFill>
                  <a:srgbClr val="00B0F0"/>
                </a:solidFill>
              </a:rPr>
              <a:t>确定角色与责任。</a:t>
            </a:r>
            <a:r>
              <a:rPr lang="zh-CN" altLang="en-US" dirty="0"/>
              <a:t>列出参与变更控制活动的项目组成员，并描述他们的职责。</a:t>
            </a:r>
            <a:endParaRPr lang="zh-CN" altLang="en-US" dirty="0"/>
          </a:p>
          <a:p>
            <a:pPr>
              <a:lnSpc>
                <a:spcPct val="120000"/>
              </a:lnSpc>
            </a:pPr>
            <a:endParaRPr lang="zh-CN" altLang="en-US" dirty="0">
              <a:solidFill>
                <a:srgbClr val="FF0000"/>
              </a:solidFill>
            </a:endParaRPr>
          </a:p>
        </p:txBody>
      </p:sp>
      <p:pic>
        <p:nvPicPr>
          <p:cNvPr id="6" name="图片 5"/>
          <p:cNvPicPr>
            <a:picLocks noChangeAspect="1"/>
          </p:cNvPicPr>
          <p:nvPr/>
        </p:nvPicPr>
        <p:blipFill>
          <a:blip r:embed="rId1"/>
          <a:srcRect l="51215" t="25782" r="24308" b="4107"/>
          <a:stretch>
            <a:fillRect/>
          </a:stretch>
        </p:blipFill>
        <p:spPr>
          <a:xfrm rot="16200000">
            <a:off x="3968115" y="-1503680"/>
            <a:ext cx="1310640" cy="67036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wipe(up)">
                                      <p:cBhvr>
                                        <p:cTn id="12" dur="500"/>
                                        <p:tgtEl>
                                          <p:spTgt spid="140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需求变更控制</a:t>
            </a:r>
            <a:r>
              <a:rPr lang="en-US" altLang="zh-CN" dirty="0">
                <a:sym typeface="+mn-ea"/>
              </a:rPr>
              <a:t>——</a:t>
            </a:r>
            <a:r>
              <a:rPr lang="zh-CN" altLang="en-US" dirty="0">
                <a:sym typeface="+mn-ea"/>
              </a:rPr>
              <a:t>实施变更控制的步骤</a:t>
            </a:r>
            <a:endParaRPr lang="zh-CN" altLang="en-US"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350" y="957580"/>
            <a:ext cx="8225155" cy="3774440"/>
          </a:xfrm>
        </p:spPr>
        <p:txBody>
          <a:bodyPr>
            <a:normAutofit fontScale="90000"/>
          </a:bodyPr>
          <a:p>
            <a:pPr>
              <a:lnSpc>
                <a:spcPct val="120000"/>
              </a:lnSpc>
            </a:pPr>
            <a:r>
              <a:rPr lang="zh-CN" altLang="en-US" dirty="0">
                <a:solidFill>
                  <a:srgbClr val="00B0F0"/>
                </a:solidFill>
              </a:rPr>
              <a:t>影响分析与评估。</a:t>
            </a:r>
            <a:r>
              <a:rPr lang="zh-CN" altLang="en-US" dirty="0"/>
              <a:t>评估变更请求的技术可行性、代价和资源限制等，提供对变更请求的准确理解、辅助决策。</a:t>
            </a:r>
            <a:endParaRPr lang="zh-CN" altLang="en-US" dirty="0"/>
          </a:p>
          <a:p>
            <a:pPr algn="just">
              <a:lnSpc>
                <a:spcPct val="120000"/>
              </a:lnSpc>
            </a:pPr>
            <a:r>
              <a:rPr lang="zh-CN" altLang="en-US" dirty="0">
                <a:solidFill>
                  <a:srgbClr val="00B0F0"/>
                </a:solidFill>
              </a:rPr>
              <a:t>实施变更。</a:t>
            </a:r>
            <a:r>
              <a:rPr lang="zh-CN" altLang="en-US" dirty="0"/>
              <a:t>包括修改文档和代码。</a:t>
            </a:r>
            <a:endParaRPr lang="zh-CN" altLang="en-US" dirty="0"/>
          </a:p>
          <a:p>
            <a:pPr algn="just">
              <a:lnSpc>
                <a:spcPct val="120000"/>
              </a:lnSpc>
            </a:pPr>
            <a:r>
              <a:rPr lang="zh-CN" altLang="en-US" dirty="0">
                <a:solidFill>
                  <a:srgbClr val="00B0F0"/>
                </a:solidFill>
              </a:rPr>
              <a:t>验证。</a:t>
            </a:r>
            <a:r>
              <a:rPr lang="zh-CN" altLang="en-US" dirty="0"/>
              <a:t>通过审核来确保更新后的需求规格说明书的正确性。</a:t>
            </a:r>
            <a:endParaRPr lang="zh-CN" altLang="en-US" dirty="0"/>
          </a:p>
          <a:p>
            <a:pPr algn="just">
              <a:lnSpc>
                <a:spcPct val="120000"/>
              </a:lnSpc>
            </a:pPr>
            <a:r>
              <a:rPr lang="zh-CN" altLang="en-US" dirty="0">
                <a:solidFill>
                  <a:srgbClr val="00B0F0"/>
                </a:solidFill>
              </a:rPr>
              <a:t>变更控制结束。</a:t>
            </a:r>
            <a:r>
              <a:rPr lang="zh-CN" altLang="en-US" dirty="0"/>
              <a:t>包括请求被拒绝、中途取消；所有修改后的产品能正常运行等。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wipe(up)">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wipe(up)">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wipe(up)">
                                      <p:cBhvr>
                                        <p:cTn id="22" dur="500"/>
                                        <p:tgtEl>
                                          <p:spTgt spid="140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需求规格说明文档的版本控制</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为减少冲突，只能允许指定的</a:t>
            </a:r>
            <a:r>
              <a:rPr lang="zh-CN" altLang="en-US" dirty="0">
                <a:solidFill>
                  <a:srgbClr val="FF0000"/>
                </a:solidFill>
              </a:rPr>
              <a:t>专人来更新</a:t>
            </a:r>
            <a:r>
              <a:rPr lang="zh-CN" altLang="en-US" dirty="0"/>
              <a:t>。</a:t>
            </a:r>
            <a:endParaRPr lang="zh-CN" altLang="en-US" dirty="0"/>
          </a:p>
          <a:p>
            <a:pPr>
              <a:lnSpc>
                <a:spcPct val="120000"/>
              </a:lnSpc>
            </a:pPr>
            <a:r>
              <a:rPr lang="zh-CN" altLang="en-US" dirty="0"/>
              <a:t>每一个版本应包括修改版本的</a:t>
            </a:r>
            <a:r>
              <a:rPr lang="zh-CN" altLang="en-US" dirty="0">
                <a:solidFill>
                  <a:srgbClr val="FF0000"/>
                </a:solidFill>
              </a:rPr>
              <a:t>历史情况</a:t>
            </a:r>
            <a:r>
              <a:rPr lang="zh-CN" altLang="en-US" dirty="0"/>
              <a:t>。</a:t>
            </a:r>
            <a:endParaRPr lang="zh-CN" altLang="en-US" dirty="0"/>
          </a:p>
          <a:p>
            <a:pPr>
              <a:lnSpc>
                <a:spcPct val="120000"/>
              </a:lnSpc>
            </a:pPr>
            <a:r>
              <a:rPr lang="zh-CN" altLang="en-US" dirty="0"/>
              <a:t>根据修改工作量的大小，</a:t>
            </a:r>
            <a:r>
              <a:rPr lang="zh-CN" altLang="en-US" dirty="0">
                <a:solidFill>
                  <a:srgbClr val="FF0000"/>
                </a:solidFill>
              </a:rPr>
              <a:t>手工标记</a:t>
            </a:r>
            <a:r>
              <a:rPr lang="zh-CN" altLang="en-US" dirty="0"/>
              <a:t>需求规格说明版本的每一次修改。</a:t>
            </a:r>
            <a:endParaRPr lang="zh-CN" altLang="en-US" dirty="0"/>
          </a:p>
          <a:p>
            <a:pPr>
              <a:lnSpc>
                <a:spcPct val="120000"/>
              </a:lnSpc>
            </a:pPr>
            <a:r>
              <a:rPr lang="zh-CN" altLang="en-US" dirty="0"/>
              <a:t>每个版本的需求规格说明必须是</a:t>
            </a:r>
            <a:r>
              <a:rPr lang="zh-CN" altLang="en-US" dirty="0">
                <a:solidFill>
                  <a:srgbClr val="FF0000"/>
                </a:solidFill>
              </a:rPr>
              <a:t>独立的说明</a:t>
            </a:r>
            <a:r>
              <a:rPr lang="zh-CN" altLang="en-US" dirty="0"/>
              <a:t>，以避免新旧版本的混淆。</a:t>
            </a:r>
            <a:endParaRPr lang="zh-CN" altLang="en-US" dirty="0"/>
          </a:p>
          <a:p>
            <a:pPr>
              <a:lnSpc>
                <a:spcPct val="120000"/>
              </a:lnSpc>
            </a:pP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wipe(up)">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wipe(up)">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wipe(up)">
                                      <p:cBhvr>
                                        <p:cTn id="22" dur="500"/>
                                        <p:tgtEl>
                                          <p:spTgt spid="140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需求变更状态的跟踪</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350" y="925195"/>
            <a:ext cx="2286000" cy="3806825"/>
          </a:xfrm>
        </p:spPr>
        <p:txBody>
          <a:bodyPr>
            <a:normAutofit/>
          </a:bodyPr>
          <a:p>
            <a:pPr>
              <a:lnSpc>
                <a:spcPct val="120000"/>
              </a:lnSpc>
            </a:pPr>
            <a:r>
              <a:rPr lang="zh-CN" altLang="en-US" dirty="0"/>
              <a:t>变更状态</a:t>
            </a:r>
            <a:endParaRPr lang="zh-CN" altLang="en-US" dirty="0"/>
          </a:p>
          <a:p>
            <a:pPr>
              <a:lnSpc>
                <a:spcPct val="120000"/>
              </a:lnSpc>
            </a:pPr>
            <a:endParaRPr lang="zh-CN" altLang="en-US" dirty="0">
              <a:solidFill>
                <a:srgbClr val="FF0000"/>
              </a:solidFill>
            </a:endParaRPr>
          </a:p>
        </p:txBody>
      </p:sp>
      <p:pic>
        <p:nvPicPr>
          <p:cNvPr id="6" name="图片 5"/>
          <p:cNvPicPr>
            <a:picLocks noChangeAspect="1"/>
          </p:cNvPicPr>
          <p:nvPr/>
        </p:nvPicPr>
        <p:blipFill>
          <a:blip r:embed="rId1"/>
          <a:srcRect l="6560" t="21627" r="16550" b="39107"/>
          <a:stretch>
            <a:fillRect/>
          </a:stretch>
        </p:blipFill>
        <p:spPr>
          <a:xfrm>
            <a:off x="4674235" y="376555"/>
            <a:ext cx="4184015" cy="4163060"/>
          </a:xfrm>
          <a:prstGeom prst="rect">
            <a:avLst/>
          </a:prstGeom>
        </p:spPr>
      </p:pic>
      <p:graphicFrame>
        <p:nvGraphicFramePr>
          <p:cNvPr id="7" name="表格 6"/>
          <p:cNvGraphicFramePr/>
          <p:nvPr>
            <p:custDataLst>
              <p:tags r:id="rId2"/>
            </p:custDataLst>
          </p:nvPr>
        </p:nvGraphicFramePr>
        <p:xfrm>
          <a:off x="401320" y="2349500"/>
          <a:ext cx="3688080" cy="768350"/>
        </p:xfrm>
        <a:graphic>
          <a:graphicData uri="http://schemas.openxmlformats.org/drawingml/2006/table">
            <a:tbl>
              <a:tblPr firstRow="1" bandRow="1">
                <a:tableStyleId>{5C22544A-7EE6-4342-B048-85BDC9FD1C3A}</a:tableStyleId>
              </a:tblPr>
              <a:tblGrid>
                <a:gridCol w="1229360"/>
                <a:gridCol w="1229360"/>
                <a:gridCol w="1229360"/>
              </a:tblGrid>
              <a:tr h="384175">
                <a:tc>
                  <a:txBody>
                    <a:bodyPr/>
                    <a:p>
                      <a:pPr algn="ctr">
                        <a:buNone/>
                      </a:pPr>
                      <a:r>
                        <a:rPr lang="zh-CN" altLang="en-US"/>
                        <a:t>请求编号</a:t>
                      </a:r>
                      <a:endParaRPr lang="zh-CN" altLang="en-US"/>
                    </a:p>
                  </a:txBody>
                  <a:tcPr anchor="ctr" anchorCtr="0"/>
                </a:tc>
                <a:tc>
                  <a:txBody>
                    <a:bodyPr/>
                    <a:p>
                      <a:pPr algn="ctr">
                        <a:buNone/>
                      </a:pPr>
                      <a:r>
                        <a:rPr lang="zh-CN" altLang="en-US"/>
                        <a:t>更改的内容</a:t>
                      </a:r>
                      <a:endParaRPr lang="zh-CN" altLang="en-US"/>
                    </a:p>
                  </a:txBody>
                  <a:tcPr anchor="ctr" anchorCtr="0"/>
                </a:tc>
                <a:tc>
                  <a:txBody>
                    <a:bodyPr/>
                    <a:p>
                      <a:pPr algn="ctr">
                        <a:buNone/>
                      </a:pPr>
                      <a:r>
                        <a:rPr lang="zh-CN" altLang="en-US"/>
                        <a:t>状态</a:t>
                      </a:r>
                      <a:endParaRPr lang="zh-CN" altLang="en-US"/>
                    </a:p>
                  </a:txBody>
                  <a:tcPr anchor="ctr" anchorCtr="0"/>
                </a:tc>
              </a:tr>
              <a:tr h="384175">
                <a:tc>
                  <a:txBody>
                    <a:bodyPr/>
                    <a:p>
                      <a:pPr algn="ctr">
                        <a:buNone/>
                      </a:pPr>
                      <a:r>
                        <a:rPr lang="en-US" altLang="zh-CN"/>
                        <a:t>......</a:t>
                      </a:r>
                      <a:endParaRPr lang="en-US" altLang="zh-CN"/>
                    </a:p>
                  </a:txBody>
                  <a:tcPr/>
                </a:tc>
                <a:tc>
                  <a:txBody>
                    <a:bodyPr/>
                    <a:p>
                      <a:pPr algn="ctr">
                        <a:buNone/>
                      </a:pPr>
                      <a:r>
                        <a:rPr lang="en-US" altLang="zh-CN"/>
                        <a:t>......</a:t>
                      </a:r>
                      <a:endParaRPr lang="en-US" altLang="zh-CN"/>
                    </a:p>
                  </a:txBody>
                  <a:tcPr/>
                </a:tc>
                <a:tc>
                  <a:txBody>
                    <a:bodyPr/>
                    <a:p>
                      <a:pPr algn="ctr">
                        <a:buNone/>
                      </a:pPr>
                      <a:r>
                        <a:rPr lang="en-US" altLang="zh-CN"/>
                        <a:t>......</a:t>
                      </a:r>
                      <a:endParaRPr lang="en-US" altLang="zh-CN"/>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a:t>
            </a:r>
            <a:endParaRPr lang="en-US" altLang="zh-CN"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指编制每个需求与系统元素之间联系的文档。系统元素包括：其他需求、体系结构、设计部件、测试文档等。（</a:t>
            </a:r>
            <a:r>
              <a:rPr lang="zh-CN" altLang="en-US" dirty="0">
                <a:solidFill>
                  <a:schemeClr val="accent1"/>
                </a:solidFill>
              </a:rPr>
              <a:t>高质量需求的特征之一</a:t>
            </a:r>
            <a:r>
              <a:rPr lang="en-US" altLang="zh-CN" dirty="0">
                <a:solidFill>
                  <a:schemeClr val="accent1"/>
                </a:solidFill>
              </a:rPr>
              <a:t>——</a:t>
            </a:r>
            <a:r>
              <a:rPr lang="zh-CN" altLang="en-US" dirty="0">
                <a:solidFill>
                  <a:schemeClr val="accent1"/>
                </a:solidFill>
              </a:rPr>
              <a:t>需求的可跟踪性</a:t>
            </a:r>
            <a:r>
              <a:rPr lang="zh-CN" altLang="en-US" dirty="0"/>
              <a:t>）</a:t>
            </a:r>
            <a:endParaRPr lang="zh-CN" altLang="en-US" dirty="0"/>
          </a:p>
          <a:p>
            <a:pPr>
              <a:lnSpc>
                <a:spcPct val="120000"/>
              </a:lnSpc>
            </a:pP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跟踪信息分类</a:t>
            </a:r>
            <a:endParaRPr lang="zh-CN" altLang="en-US" dirty="0"/>
          </a:p>
          <a:p>
            <a:pPr>
              <a:lnSpc>
                <a:spcPct val="120000"/>
              </a:lnSpc>
              <a:buFont typeface="Wingdings" panose="05000000000000000000" charset="0"/>
              <a:buChar char="Ø"/>
            </a:pPr>
            <a:r>
              <a:rPr lang="zh-CN" altLang="en-US" sz="2000" dirty="0">
                <a:solidFill>
                  <a:schemeClr val="accent1"/>
                </a:solidFill>
              </a:rPr>
              <a:t>源可跟踪</a:t>
            </a:r>
            <a:r>
              <a:rPr lang="zh-CN" altLang="en-US" sz="2000" dirty="0"/>
              <a:t>：把需求与说明该需求的人或文档相连接。</a:t>
            </a:r>
            <a:endParaRPr lang="zh-CN" altLang="en-US" sz="2000" dirty="0"/>
          </a:p>
          <a:p>
            <a:pPr>
              <a:lnSpc>
                <a:spcPct val="120000"/>
              </a:lnSpc>
              <a:buFont typeface="Wingdings" panose="05000000000000000000" charset="0"/>
              <a:buChar char="Ø"/>
            </a:pPr>
            <a:r>
              <a:rPr lang="zh-CN" altLang="en-US" sz="2000" dirty="0">
                <a:solidFill>
                  <a:schemeClr val="accent1"/>
                </a:solidFill>
              </a:rPr>
              <a:t>理由可跟踪</a:t>
            </a:r>
            <a:r>
              <a:rPr lang="zh-CN" altLang="en-US" sz="2000" dirty="0"/>
              <a:t>：把需求与说明为什么需要该需求的描述相连接。</a:t>
            </a:r>
            <a:endParaRPr lang="zh-CN" altLang="en-US" sz="2000" dirty="0"/>
          </a:p>
          <a:p>
            <a:pPr>
              <a:lnSpc>
                <a:spcPct val="120000"/>
              </a:lnSpc>
              <a:buFont typeface="Wingdings" panose="05000000000000000000" charset="0"/>
              <a:buChar char="Ø"/>
            </a:pPr>
            <a:r>
              <a:rPr lang="zh-CN" altLang="en-US" sz="2000" dirty="0">
                <a:solidFill>
                  <a:schemeClr val="accent1"/>
                </a:solidFill>
              </a:rPr>
              <a:t>体系结构可跟踪</a:t>
            </a:r>
            <a:r>
              <a:rPr lang="zh-CN" altLang="en-US" sz="2000" dirty="0"/>
              <a:t>：把需求与实现该需求的子系统相连接。</a:t>
            </a:r>
            <a:endParaRPr lang="zh-CN" altLang="en-US" sz="2000" dirty="0"/>
          </a:p>
          <a:p>
            <a:pPr>
              <a:lnSpc>
                <a:spcPct val="120000"/>
              </a:lnSpc>
              <a:buFont typeface="Wingdings" panose="05000000000000000000" charset="0"/>
              <a:buChar char="Ø"/>
            </a:pPr>
            <a:r>
              <a:rPr lang="zh-CN" altLang="en-US" sz="2000" dirty="0">
                <a:solidFill>
                  <a:schemeClr val="accent1"/>
                </a:solidFill>
              </a:rPr>
              <a:t>设计可跟踪</a:t>
            </a:r>
            <a:r>
              <a:rPr lang="zh-CN" altLang="en-US" sz="2000" dirty="0"/>
              <a:t>：把需求和用来实现需求的系统中的特定组件相连接。</a:t>
            </a:r>
            <a:endParaRPr lang="zh-CN" altLang="en-US" sz="2000" dirty="0"/>
          </a:p>
          <a:p>
            <a:pPr>
              <a:lnSpc>
                <a:spcPct val="120000"/>
              </a:lnSpc>
              <a:buFont typeface="Wingdings" panose="05000000000000000000" charset="0"/>
              <a:buChar char="Ø"/>
            </a:pPr>
            <a:r>
              <a:rPr lang="zh-CN" altLang="en-US" sz="2000" dirty="0">
                <a:solidFill>
                  <a:schemeClr val="accent1"/>
                </a:solidFill>
              </a:rPr>
              <a:t>用户界面可跟踪</a:t>
            </a:r>
            <a:r>
              <a:rPr lang="zh-CN" altLang="en-US" sz="2000" dirty="0"/>
              <a:t>：把需求和提供该需求的外部系统界面相连接。</a:t>
            </a:r>
            <a:endParaRPr lang="zh-CN" altLang="en-US" dirty="0"/>
          </a:p>
          <a:p>
            <a:pPr>
              <a:lnSpc>
                <a:spcPct val="120000"/>
              </a:lnSpc>
            </a:pP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需求跟踪技术</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需求跟踪表</a:t>
            </a:r>
            <a:endParaRPr lang="zh-CN" altLang="en-US" dirty="0"/>
          </a:p>
          <a:p>
            <a:pPr>
              <a:lnSpc>
                <a:spcPct val="120000"/>
              </a:lnSpc>
            </a:pPr>
            <a:endParaRPr lang="zh-CN" altLang="en-US" dirty="0">
              <a:solidFill>
                <a:srgbClr val="FF0000"/>
              </a:solidFill>
            </a:endParaRPr>
          </a:p>
        </p:txBody>
      </p:sp>
      <p:graphicFrame>
        <p:nvGraphicFramePr>
          <p:cNvPr id="6" name="表格 5"/>
          <p:cNvGraphicFramePr/>
          <p:nvPr>
            <p:custDataLst>
              <p:tags r:id="rId1"/>
            </p:custDataLst>
          </p:nvPr>
        </p:nvGraphicFramePr>
        <p:xfrm>
          <a:off x="655955" y="1619250"/>
          <a:ext cx="7849870" cy="2717800"/>
        </p:xfrm>
        <a:graphic>
          <a:graphicData uri="http://schemas.openxmlformats.org/drawingml/2006/table">
            <a:tbl>
              <a:tblPr firstRow="1" bandRow="1">
                <a:tableStyleId>{5C22544A-7EE6-4342-B048-85BDC9FD1C3A}</a:tableStyleId>
              </a:tblPr>
              <a:tblGrid>
                <a:gridCol w="1121410"/>
                <a:gridCol w="1121410"/>
                <a:gridCol w="1121410"/>
                <a:gridCol w="1121410"/>
                <a:gridCol w="1121410"/>
                <a:gridCol w="1121410"/>
                <a:gridCol w="1121410"/>
              </a:tblGrid>
              <a:tr h="543560">
                <a:tc>
                  <a:txBody>
                    <a:bodyPr/>
                    <a:p>
                      <a:pPr algn="ctr">
                        <a:buNone/>
                      </a:pPr>
                      <a:endParaRPr lang="zh-CN" altLang="en-US"/>
                    </a:p>
                  </a:txBody>
                  <a:tcPr anchor="ctr" anchorCtr="0"/>
                </a:tc>
                <a:tc>
                  <a:txBody>
                    <a:bodyPr/>
                    <a:p>
                      <a:pPr algn="ctr">
                        <a:buNone/>
                      </a:pPr>
                      <a:r>
                        <a:rPr lang="zh-CN" altLang="en-US"/>
                        <a:t>需求</a:t>
                      </a:r>
                      <a:r>
                        <a:rPr lang="en-US" altLang="zh-CN"/>
                        <a:t>1</a:t>
                      </a:r>
                      <a:endParaRPr lang="en-US" altLang="zh-CN"/>
                    </a:p>
                  </a:txBody>
                  <a:tcPr anchor="ctr" anchorCtr="0"/>
                </a:tc>
                <a:tc>
                  <a:txBody>
                    <a:bodyPr/>
                    <a:p>
                      <a:pPr algn="ctr">
                        <a:buNone/>
                      </a:pPr>
                      <a:r>
                        <a:rPr lang="zh-CN" altLang="en-US"/>
                        <a:t>需求</a:t>
                      </a:r>
                      <a:r>
                        <a:rPr lang="en-US" altLang="zh-CN"/>
                        <a:t>2</a:t>
                      </a:r>
                      <a:endParaRPr lang="en-US" altLang="zh-CN"/>
                    </a:p>
                  </a:txBody>
                  <a:tcPr anchor="ctr" anchorCtr="0"/>
                </a:tc>
                <a:tc>
                  <a:txBody>
                    <a:bodyPr/>
                    <a:p>
                      <a:pPr algn="ctr">
                        <a:buNone/>
                      </a:pPr>
                      <a:r>
                        <a:rPr lang="zh-CN" altLang="en-US"/>
                        <a:t>需求</a:t>
                      </a:r>
                      <a:r>
                        <a:rPr lang="en-US" altLang="zh-CN"/>
                        <a:t>3</a:t>
                      </a:r>
                      <a:endParaRPr lang="en-US" altLang="zh-CN"/>
                    </a:p>
                  </a:txBody>
                  <a:tcPr anchor="ctr" anchorCtr="0"/>
                </a:tc>
                <a:tc>
                  <a:txBody>
                    <a:bodyPr/>
                    <a:p>
                      <a:pPr algn="ctr">
                        <a:buNone/>
                      </a:pPr>
                      <a:r>
                        <a:rPr lang="zh-CN" altLang="en-US"/>
                        <a:t>需求</a:t>
                      </a:r>
                      <a:r>
                        <a:rPr lang="en-US" altLang="zh-CN"/>
                        <a:t>4</a:t>
                      </a:r>
                      <a:endParaRPr lang="en-US" altLang="zh-CN"/>
                    </a:p>
                  </a:txBody>
                  <a:tcPr anchor="ctr" anchorCtr="0"/>
                </a:tc>
                <a:tc>
                  <a:txBody>
                    <a:bodyPr/>
                    <a:p>
                      <a:pPr algn="ctr">
                        <a:buNone/>
                      </a:pPr>
                      <a:r>
                        <a:rPr lang="en-US" altLang="zh-CN"/>
                        <a:t>......</a:t>
                      </a:r>
                      <a:endParaRPr lang="en-US" altLang="zh-CN"/>
                    </a:p>
                  </a:txBody>
                  <a:tcPr anchor="ctr" anchorCtr="0"/>
                </a:tc>
                <a:tc>
                  <a:txBody>
                    <a:bodyPr/>
                    <a:p>
                      <a:pPr algn="ctr">
                        <a:buNone/>
                      </a:pPr>
                      <a:r>
                        <a:rPr lang="zh-CN" altLang="en-US"/>
                        <a:t>需求</a:t>
                      </a:r>
                      <a:r>
                        <a:rPr lang="en-US" altLang="zh-CN"/>
                        <a:t>n</a:t>
                      </a:r>
                      <a:endParaRPr lang="en-US" altLang="zh-CN"/>
                    </a:p>
                  </a:txBody>
                  <a:tcPr anchor="ctr" anchorCtr="0"/>
                </a:tc>
              </a:tr>
              <a:tr h="543560">
                <a:tc>
                  <a:txBody>
                    <a:bodyPr/>
                    <a:p>
                      <a:pPr algn="ctr">
                        <a:buNone/>
                      </a:pPr>
                      <a:r>
                        <a:rPr lang="zh-CN" altLang="en-US"/>
                        <a:t>元素</a:t>
                      </a:r>
                      <a:r>
                        <a:rPr lang="en-US" altLang="zh-CN"/>
                        <a:t>1</a:t>
                      </a:r>
                      <a:endParaRPr lang="en-US" altLang="zh-CN"/>
                    </a:p>
                  </a:txBody>
                  <a:tcPr anchor="ctr" anchorCtr="0"/>
                </a:tc>
                <a:tc>
                  <a:txBody>
                    <a:bodyPr/>
                    <a:p>
                      <a:pPr algn="ctr">
                        <a:buNone/>
                      </a:pPr>
                      <a:r>
                        <a:rPr lang="zh-CN" altLang="en-US">
                          <a:latin typeface="Arial" panose="020B0604020202020204" pitchFamily="34" charset="0"/>
                          <a:cs typeface="Arial" panose="020B0604020202020204" pitchFamily="34" charset="0"/>
                        </a:rPr>
                        <a:t>√</a:t>
                      </a:r>
                      <a:endParaRPr lang="zh-CN" altLang="en-US">
                        <a:latin typeface="Arial" panose="020B0604020202020204" pitchFamily="34" charset="0"/>
                        <a:cs typeface="Arial" panose="020B0604020202020204" pitchFamily="34" charset="0"/>
                      </a:endParaRPr>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r>
                        <a:rPr lang="zh-CN" altLang="en-US" sz="1350">
                          <a:latin typeface="Arial" panose="020B0604020202020204" pitchFamily="34" charset="0"/>
                          <a:cs typeface="Arial" panose="020B0604020202020204" pitchFamily="34" charset="0"/>
                          <a:sym typeface="+mn-ea"/>
                        </a:rPr>
                        <a:t>√</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543560">
                <a:tc>
                  <a:txBody>
                    <a:bodyPr/>
                    <a:p>
                      <a:pPr algn="ctr">
                        <a:buNone/>
                      </a:pPr>
                      <a:r>
                        <a:rPr lang="zh-CN" altLang="en-US"/>
                        <a:t>元素</a:t>
                      </a:r>
                      <a:r>
                        <a:rPr lang="en-US" altLang="zh-CN"/>
                        <a:t>2</a:t>
                      </a:r>
                      <a:endParaRPr lang="en-US" altLang="zh-CN"/>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r>
                        <a:rPr lang="zh-CN" altLang="en-US" sz="1350">
                          <a:latin typeface="Arial" panose="020B0604020202020204" pitchFamily="34" charset="0"/>
                          <a:cs typeface="Arial" panose="020B0604020202020204" pitchFamily="34" charset="0"/>
                          <a:sym typeface="+mn-ea"/>
                        </a:rPr>
                        <a:t>√</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r>
                        <a:rPr lang="zh-CN" altLang="en-US" sz="1350">
                          <a:latin typeface="Arial" panose="020B0604020202020204" pitchFamily="34" charset="0"/>
                          <a:cs typeface="Arial" panose="020B0604020202020204" pitchFamily="34" charset="0"/>
                          <a:sym typeface="+mn-ea"/>
                        </a:rPr>
                        <a:t>√</a:t>
                      </a:r>
                      <a:endParaRPr lang="zh-CN" altLang="en-US"/>
                    </a:p>
                  </a:txBody>
                  <a:tcPr anchor="ctr" anchorCtr="0"/>
                </a:tc>
              </a:tr>
              <a:tr h="543560">
                <a:tc>
                  <a:txBody>
                    <a:bodyPr/>
                    <a:p>
                      <a:pPr algn="ctr">
                        <a:buNone/>
                      </a:pPr>
                      <a:r>
                        <a:rPr lang="en-US" altLang="zh-CN"/>
                        <a:t>......</a:t>
                      </a:r>
                      <a:endParaRPr lang="en-US" altLang="zh-CN"/>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543560">
                <a:tc>
                  <a:txBody>
                    <a:bodyPr/>
                    <a:p>
                      <a:pPr algn="ctr">
                        <a:buNone/>
                      </a:pPr>
                      <a:r>
                        <a:rPr lang="zh-CN" altLang="en-US"/>
                        <a:t>元素</a:t>
                      </a:r>
                      <a:r>
                        <a:rPr lang="en-US" altLang="zh-CN"/>
                        <a:t>n</a:t>
                      </a:r>
                      <a:endParaRPr lang="en-US" altLang="zh-CN"/>
                    </a:p>
                  </a:txBody>
                  <a:tcPr anchor="ctr" anchorCtr="0"/>
                </a:tc>
                <a:tc>
                  <a:txBody>
                    <a:bodyPr/>
                    <a:p>
                      <a:pPr algn="ctr">
                        <a:buNone/>
                      </a:pPr>
                      <a:endParaRPr lang="zh-CN" altLang="en-US"/>
                    </a:p>
                  </a:txBody>
                  <a:tcPr anchor="ctr" anchorCtr="0"/>
                </a:tc>
                <a:tc>
                  <a:txBody>
                    <a:bodyPr/>
                    <a:p>
                      <a:pPr algn="ctr">
                        <a:buNone/>
                      </a:pPr>
                      <a:r>
                        <a:rPr lang="zh-CN" altLang="en-US" sz="1350">
                          <a:latin typeface="Arial" panose="020B0604020202020204" pitchFamily="34" charset="0"/>
                          <a:cs typeface="Arial" panose="020B0604020202020204" pitchFamily="34" charset="0"/>
                          <a:sym typeface="+mn-ea"/>
                        </a:rPr>
                        <a:t>√</a:t>
                      </a:r>
                      <a:endParaRPr lang="zh-CN" altLang="en-US"/>
                    </a:p>
                  </a:txBody>
                  <a:tcPr anchor="ctr" anchorCtr="0"/>
                </a:tc>
                <a:tc>
                  <a:txBody>
                    <a:bodyPr/>
                    <a:p>
                      <a:pPr algn="ctr">
                        <a:buNone/>
                      </a:pPr>
                      <a:r>
                        <a:rPr lang="zh-CN" altLang="en-US" sz="1350">
                          <a:latin typeface="Arial" panose="020B0604020202020204" pitchFamily="34" charset="0"/>
                          <a:cs typeface="Arial" panose="020B0604020202020204" pitchFamily="34" charset="0"/>
                          <a:sym typeface="+mn-ea"/>
                        </a:rPr>
                        <a:t>√</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需求跟踪技术</a:t>
            </a:r>
            <a:endParaRPr lang="en-US" altLang="zh-CN" dirty="0">
              <a:sym typeface="+mn-ea"/>
            </a:endParaRPr>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跟踪表扩展</a:t>
            </a:r>
            <a:endParaRPr lang="zh-CN" altLang="en-US" dirty="0"/>
          </a:p>
          <a:p>
            <a:pPr>
              <a:lnSpc>
                <a:spcPct val="120000"/>
              </a:lnSpc>
              <a:buFont typeface="Wingdings" panose="05000000000000000000" charset="0"/>
              <a:buChar char="Ø"/>
            </a:pPr>
            <a:r>
              <a:rPr lang="zh-CN" altLang="en-US" sz="2400" dirty="0">
                <a:solidFill>
                  <a:schemeClr val="accent1"/>
                </a:solidFill>
              </a:rPr>
              <a:t>说明</a:t>
            </a:r>
            <a:r>
              <a:rPr lang="en-US" altLang="zh-CN" sz="2400" dirty="0">
                <a:solidFill>
                  <a:schemeClr val="accent1"/>
                </a:solidFill>
              </a:rPr>
              <a:t>/</a:t>
            </a:r>
            <a:r>
              <a:rPr lang="zh-CN" altLang="en-US" sz="2400" dirty="0">
                <a:solidFill>
                  <a:schemeClr val="accent1"/>
                </a:solidFill>
              </a:rPr>
              <a:t>被说明</a:t>
            </a:r>
            <a:r>
              <a:rPr lang="zh-CN" altLang="en-US" sz="2400" dirty="0"/>
              <a:t>：需求</a:t>
            </a:r>
            <a:r>
              <a:rPr lang="en-US" altLang="zh-CN" sz="2400" dirty="0"/>
              <a:t>B</a:t>
            </a:r>
            <a:r>
              <a:rPr lang="zh-CN" altLang="en-US" sz="2400" dirty="0"/>
              <a:t>说明需求</a:t>
            </a:r>
            <a:r>
              <a:rPr lang="en-US" altLang="zh-CN" sz="2400" dirty="0"/>
              <a:t>A</a:t>
            </a:r>
            <a:r>
              <a:rPr lang="zh-CN" altLang="en-US" sz="2400" dirty="0"/>
              <a:t>。如：</a:t>
            </a:r>
            <a:r>
              <a:rPr lang="en-US" altLang="zh-CN" sz="2400" dirty="0"/>
              <a:t>A</a:t>
            </a:r>
            <a:r>
              <a:rPr lang="zh-CN" altLang="en-US" sz="2400" dirty="0"/>
              <a:t>是加密数据需求，</a:t>
            </a:r>
            <a:r>
              <a:rPr lang="en-US" altLang="zh-CN" sz="2400" dirty="0"/>
              <a:t>B</a:t>
            </a:r>
            <a:r>
              <a:rPr lang="zh-CN" altLang="en-US" sz="2400" dirty="0"/>
              <a:t>是使用的加密算法需求。</a:t>
            </a:r>
            <a:endParaRPr lang="zh-CN" altLang="en-US" sz="2400" dirty="0"/>
          </a:p>
          <a:p>
            <a:pPr>
              <a:lnSpc>
                <a:spcPct val="120000"/>
              </a:lnSpc>
              <a:buFont typeface="Wingdings" panose="05000000000000000000" charset="0"/>
              <a:buChar char="Ø"/>
            </a:pPr>
            <a:r>
              <a:rPr lang="zh-CN" altLang="en-US" sz="2400" dirty="0">
                <a:solidFill>
                  <a:schemeClr val="accent1"/>
                </a:solidFill>
              </a:rPr>
              <a:t>需要</a:t>
            </a:r>
            <a:r>
              <a:rPr lang="en-US" altLang="zh-CN" sz="2400" dirty="0">
                <a:solidFill>
                  <a:schemeClr val="accent1"/>
                </a:solidFill>
              </a:rPr>
              <a:t>/</a:t>
            </a:r>
            <a:r>
              <a:rPr lang="zh-CN" altLang="en-US" sz="2400" dirty="0">
                <a:solidFill>
                  <a:schemeClr val="accent1"/>
                </a:solidFill>
              </a:rPr>
              <a:t>被需要</a:t>
            </a:r>
            <a:r>
              <a:rPr lang="zh-CN" altLang="en-US" sz="2400" dirty="0"/>
              <a:t>：需求</a:t>
            </a:r>
            <a:r>
              <a:rPr lang="en-US" altLang="zh-CN" sz="2400" dirty="0"/>
              <a:t>B</a:t>
            </a:r>
            <a:r>
              <a:rPr lang="zh-CN" altLang="en-US" sz="2400" dirty="0"/>
              <a:t>需要需求</a:t>
            </a:r>
            <a:r>
              <a:rPr lang="en-US" altLang="zh-CN" sz="2400" dirty="0"/>
              <a:t>A</a:t>
            </a:r>
            <a:r>
              <a:rPr lang="zh-CN" altLang="en-US" sz="2400" dirty="0"/>
              <a:t>提供的约束。如：</a:t>
            </a:r>
            <a:r>
              <a:rPr lang="en-US" altLang="zh-CN" sz="2400" dirty="0"/>
              <a:t>A</a:t>
            </a:r>
            <a:r>
              <a:rPr lang="zh-CN" altLang="en-US" sz="2400" dirty="0"/>
              <a:t>日期格式需求，</a:t>
            </a:r>
            <a:r>
              <a:rPr lang="en-US" altLang="zh-CN" sz="2400" dirty="0"/>
              <a:t>B</a:t>
            </a:r>
            <a:r>
              <a:rPr lang="zh-CN" altLang="en-US" sz="2400" dirty="0"/>
              <a:t>是应显示日期的需求。</a:t>
            </a:r>
            <a:endParaRPr lang="zh-CN" altLang="en-US" sz="2400" dirty="0"/>
          </a:p>
          <a:p>
            <a:pPr>
              <a:lnSpc>
                <a:spcPct val="120000"/>
              </a:lnSpc>
              <a:buFont typeface="Wingdings" panose="05000000000000000000" charset="0"/>
              <a:buChar char="Ø"/>
            </a:pPr>
            <a:r>
              <a:rPr lang="zh-CN" altLang="en-US" sz="2400" dirty="0">
                <a:solidFill>
                  <a:schemeClr val="accent1"/>
                </a:solidFill>
              </a:rPr>
              <a:t>约束</a:t>
            </a:r>
            <a:r>
              <a:rPr lang="en-US" altLang="zh-CN" sz="2400" dirty="0">
                <a:solidFill>
                  <a:schemeClr val="accent1"/>
                </a:solidFill>
              </a:rPr>
              <a:t>/</a:t>
            </a:r>
            <a:r>
              <a:rPr lang="zh-CN" altLang="en-US" sz="2400" dirty="0">
                <a:solidFill>
                  <a:schemeClr val="accent1"/>
                </a:solidFill>
              </a:rPr>
              <a:t>被约束</a:t>
            </a:r>
            <a:r>
              <a:rPr lang="zh-CN" altLang="en-US" sz="2400" dirty="0"/>
              <a:t>：需求</a:t>
            </a:r>
            <a:r>
              <a:rPr lang="en-US" altLang="zh-CN" sz="2400" dirty="0"/>
              <a:t>B</a:t>
            </a:r>
            <a:r>
              <a:rPr lang="zh-CN" altLang="en-US" sz="2400" dirty="0"/>
              <a:t>被需求</a:t>
            </a:r>
            <a:r>
              <a:rPr lang="en-US" altLang="zh-CN" sz="2400" dirty="0"/>
              <a:t>A</a:t>
            </a:r>
            <a:r>
              <a:rPr lang="zh-CN" altLang="en-US" sz="2400" dirty="0"/>
              <a:t>约束。如：</a:t>
            </a:r>
            <a:r>
              <a:rPr lang="en-US" altLang="zh-CN" sz="2400" dirty="0"/>
              <a:t>B</a:t>
            </a:r>
            <a:r>
              <a:rPr lang="zh-CN" altLang="en-US" sz="2400" dirty="0"/>
              <a:t>是某个数值，</a:t>
            </a:r>
            <a:r>
              <a:rPr lang="en-US" altLang="zh-CN" sz="2400" dirty="0"/>
              <a:t>A</a:t>
            </a:r>
            <a:r>
              <a:rPr lang="zh-CN" altLang="en-US" sz="2400" dirty="0"/>
              <a:t>是小数精确位数。</a:t>
            </a:r>
            <a:endParaRPr lang="zh-CN" altLang="en-US" sz="2400" dirty="0"/>
          </a:p>
          <a:p>
            <a:pPr>
              <a:lnSpc>
                <a:spcPct val="120000"/>
              </a:lnSpc>
            </a:pP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需求跟踪技术</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需求跟踪表</a:t>
            </a:r>
            <a:endParaRPr lang="zh-CN" altLang="en-US" dirty="0"/>
          </a:p>
          <a:p>
            <a:pPr>
              <a:lnSpc>
                <a:spcPct val="120000"/>
              </a:lnSpc>
            </a:pPr>
            <a:endParaRPr lang="zh-CN" altLang="en-US" dirty="0">
              <a:solidFill>
                <a:srgbClr val="FF0000"/>
              </a:solidFill>
            </a:endParaRPr>
          </a:p>
        </p:txBody>
      </p:sp>
      <p:graphicFrame>
        <p:nvGraphicFramePr>
          <p:cNvPr id="6" name="表格 5"/>
          <p:cNvGraphicFramePr/>
          <p:nvPr>
            <p:custDataLst>
              <p:tags r:id="rId1"/>
            </p:custDataLst>
          </p:nvPr>
        </p:nvGraphicFramePr>
        <p:xfrm>
          <a:off x="3165475" y="1619250"/>
          <a:ext cx="7849870" cy="2717800"/>
        </p:xfrm>
        <a:graphic>
          <a:graphicData uri="http://schemas.openxmlformats.org/drawingml/2006/table">
            <a:tbl>
              <a:tblPr firstRow="1" bandRow="1">
                <a:tableStyleId>{5C22544A-7EE6-4342-B048-85BDC9FD1C3A}</a:tableStyleId>
              </a:tblPr>
              <a:tblGrid>
                <a:gridCol w="1121410"/>
                <a:gridCol w="1121410"/>
              </a:tblGrid>
              <a:tr h="543560">
                <a:tc>
                  <a:txBody>
                    <a:bodyPr/>
                    <a:p>
                      <a:pPr algn="ctr">
                        <a:buNone/>
                      </a:pPr>
                      <a:r>
                        <a:rPr lang="zh-CN" altLang="en-US"/>
                        <a:t>需求</a:t>
                      </a:r>
                      <a:endParaRPr lang="zh-CN" altLang="en-US"/>
                    </a:p>
                  </a:txBody>
                  <a:tcPr anchor="ctr" anchorCtr="0"/>
                </a:tc>
                <a:tc>
                  <a:txBody>
                    <a:bodyPr/>
                    <a:p>
                      <a:pPr algn="ctr">
                        <a:buNone/>
                      </a:pPr>
                      <a:r>
                        <a:rPr lang="zh-CN" altLang="en-US"/>
                        <a:t>依赖</a:t>
                      </a:r>
                      <a:endParaRPr lang="zh-CN" altLang="en-US"/>
                    </a:p>
                  </a:txBody>
                  <a:tcPr anchor="ctr" anchorCtr="0"/>
                </a:tc>
              </a:tr>
              <a:tr h="543560">
                <a:tc>
                  <a:txBody>
                    <a:bodyPr/>
                    <a:p>
                      <a:pPr algn="ctr">
                        <a:buNone/>
                      </a:pPr>
                      <a:r>
                        <a:rPr lang="en-US" altLang="zh-CN"/>
                        <a:t>R1</a:t>
                      </a:r>
                      <a:endParaRPr lang="en-US" altLang="zh-CN"/>
                    </a:p>
                  </a:txBody>
                  <a:tcPr anchor="ctr" anchorCtr="0"/>
                </a:tc>
                <a:tc>
                  <a:txBody>
                    <a:bodyPr/>
                    <a:p>
                      <a:pPr algn="ctr">
                        <a:buNone/>
                      </a:pPr>
                      <a:r>
                        <a:rPr lang="en-US" altLang="zh-CN">
                          <a:latin typeface="Arial" panose="020B0604020202020204" pitchFamily="34" charset="0"/>
                          <a:cs typeface="Arial" panose="020B0604020202020204" pitchFamily="34" charset="0"/>
                        </a:rPr>
                        <a:t>R3,R4</a:t>
                      </a:r>
                      <a:endParaRPr lang="en-US" altLang="zh-CN">
                        <a:latin typeface="Arial" panose="020B0604020202020204" pitchFamily="34" charset="0"/>
                        <a:cs typeface="Arial" panose="020B0604020202020204" pitchFamily="34" charset="0"/>
                      </a:endParaRPr>
                    </a:p>
                  </a:txBody>
                  <a:tcPr anchor="ctr" anchorCtr="0"/>
                </a:tc>
              </a:tr>
              <a:tr h="543560">
                <a:tc>
                  <a:txBody>
                    <a:bodyPr/>
                    <a:p>
                      <a:pPr algn="ctr">
                        <a:buNone/>
                      </a:pPr>
                      <a:r>
                        <a:rPr lang="en-US" altLang="zh-CN"/>
                        <a:t>R2</a:t>
                      </a:r>
                      <a:endParaRPr lang="en-US" altLang="zh-CN"/>
                    </a:p>
                  </a:txBody>
                  <a:tcPr anchor="ctr" anchorCtr="0"/>
                </a:tc>
                <a:tc>
                  <a:txBody>
                    <a:bodyPr/>
                    <a:p>
                      <a:pPr algn="ctr">
                        <a:buNone/>
                      </a:pPr>
                      <a:r>
                        <a:rPr lang="en-US" altLang="zh-CN"/>
                        <a:t>R5</a:t>
                      </a:r>
                      <a:endParaRPr lang="en-US" altLang="zh-CN"/>
                    </a:p>
                  </a:txBody>
                  <a:tcPr anchor="ctr" anchorCtr="0"/>
                </a:tc>
              </a:tr>
              <a:tr h="543560">
                <a:tc>
                  <a:txBody>
                    <a:bodyPr/>
                    <a:p>
                      <a:pPr algn="ctr">
                        <a:buNone/>
                      </a:pPr>
                      <a:r>
                        <a:rPr lang="en-US" altLang="zh-CN"/>
                        <a:t>......</a:t>
                      </a:r>
                      <a:endParaRPr lang="en-US" altLang="zh-CN"/>
                    </a:p>
                  </a:txBody>
                  <a:tcPr anchor="ctr" anchorCtr="0"/>
                </a:tc>
                <a:tc>
                  <a:txBody>
                    <a:bodyPr/>
                    <a:p>
                      <a:pPr algn="ctr">
                        <a:buNone/>
                      </a:pPr>
                      <a:endParaRPr lang="zh-CN" altLang="en-US"/>
                    </a:p>
                  </a:txBody>
                  <a:tcPr anchor="ctr" anchorCtr="0"/>
                </a:tc>
              </a:tr>
              <a:tr h="543560">
                <a:tc>
                  <a:txBody>
                    <a:bodyPr/>
                    <a:p>
                      <a:pPr algn="ctr">
                        <a:buNone/>
                      </a:pPr>
                      <a:r>
                        <a:rPr lang="en-US" altLang="zh-CN"/>
                        <a:t>Rn</a:t>
                      </a:r>
                      <a:endParaRPr lang="en-US" altLang="zh-CN"/>
                    </a:p>
                  </a:txBody>
                  <a:tcPr anchor="ctr" anchorCtr="0"/>
                </a:tc>
                <a:tc>
                  <a:txBody>
                    <a:bodyPr/>
                    <a:p>
                      <a:pPr algn="ctr">
                        <a:buNone/>
                      </a:pPr>
                      <a:r>
                        <a:rPr lang="en-US" altLang="zh-CN"/>
                        <a:t>R6</a:t>
                      </a:r>
                      <a:endParaRPr lang="en-US" altLang="zh-CN"/>
                    </a:p>
                  </a:txBody>
                  <a:tcPr anchor="ctr" anchorCtr="0"/>
                </a:tc>
              </a:tr>
            </a:tbl>
          </a:graphicData>
        </a:graphic>
      </p:graphicFrame>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需求跟踪技术</a:t>
            </a:r>
            <a:endParaRPr lang="zh-CN" altLang="en-US"/>
          </a:p>
        </p:txBody>
      </p:sp>
      <p:sp>
        <p:nvSpPr>
          <p:cNvPr id="3" name="日期占位符 2"/>
          <p:cNvSpPr>
            <a:spLocks noGrp="1"/>
          </p:cNvSpPr>
          <p:nvPr>
            <p:ph type="dt" sz="half" idx="10"/>
          </p:nvPr>
        </p:nvSpPr>
        <p:spPr/>
        <p:txBody>
          <a:bodyPr/>
          <a:p>
            <a:fld id="{09BF7C78-3E30-4BE2-84A2-EBD0F45A80AF}"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smtClean="0"/>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40291" name="Rectangle 3"/>
          <p:cNvSpPr>
            <a:spLocks noGrp="1" noChangeArrowheads="1"/>
          </p:cNvSpPr>
          <p:nvPr>
            <p:ph idx="1"/>
          </p:nvPr>
        </p:nvSpPr>
        <p:spPr>
          <a:xfrm>
            <a:off x="768097" y="925167"/>
            <a:ext cx="8225432" cy="3806854"/>
          </a:xfrm>
        </p:spPr>
        <p:txBody>
          <a:bodyPr>
            <a:normAutofit/>
          </a:bodyPr>
          <a:p>
            <a:pPr>
              <a:lnSpc>
                <a:spcPct val="120000"/>
              </a:lnSpc>
            </a:pPr>
            <a:r>
              <a:rPr lang="zh-CN" altLang="en-US" dirty="0"/>
              <a:t>跟踪图</a:t>
            </a:r>
            <a:endParaRPr lang="zh-CN" altLang="en-US" dirty="0"/>
          </a:p>
          <a:p>
            <a:pPr>
              <a:lnSpc>
                <a:spcPct val="120000"/>
              </a:lnSpc>
            </a:pPr>
            <a:endParaRPr lang="zh-CN" altLang="en-US" dirty="0">
              <a:solidFill>
                <a:srgbClr val="FF0000"/>
              </a:solidFill>
            </a:endParaRPr>
          </a:p>
        </p:txBody>
      </p:sp>
      <p:pic>
        <p:nvPicPr>
          <p:cNvPr id="6" name="图片 5"/>
          <p:cNvPicPr>
            <a:picLocks noChangeAspect="1"/>
          </p:cNvPicPr>
          <p:nvPr/>
        </p:nvPicPr>
        <p:blipFill>
          <a:blip r:embed="rId1"/>
          <a:srcRect l="7150" t="30673" r="-849" b="38869"/>
          <a:stretch>
            <a:fillRect/>
          </a:stretch>
        </p:blipFill>
        <p:spPr>
          <a:xfrm>
            <a:off x="3547110" y="1466850"/>
            <a:ext cx="4344035" cy="2723515"/>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zh-CN" altLang="en-US" dirty="0"/>
              <a:t>需求阶段工作任务总结</a:t>
            </a:r>
            <a:endParaRPr lang="zh-CN" altLang="en-US" dirty="0"/>
          </a:p>
        </p:txBody>
      </p:sp>
      <p:sp>
        <p:nvSpPr>
          <p:cNvPr id="140291" name="Rectangle 3"/>
          <p:cNvSpPr>
            <a:spLocks noGrp="1" noChangeArrowheads="1"/>
          </p:cNvSpPr>
          <p:nvPr>
            <p:ph idx="1"/>
          </p:nvPr>
        </p:nvSpPr>
        <p:spPr>
          <a:xfrm>
            <a:off x="768097" y="925167"/>
            <a:ext cx="8225432" cy="3806854"/>
          </a:xfrm>
        </p:spPr>
        <p:txBody>
          <a:bodyPr>
            <a:normAutofit fontScale="85000" lnSpcReduction="10000"/>
          </a:bodyPr>
          <a:lstStyle/>
          <a:p>
            <a:pPr>
              <a:lnSpc>
                <a:spcPct val="120000"/>
              </a:lnSpc>
            </a:pPr>
            <a:r>
              <a:rPr lang="zh-CN" altLang="en-US" dirty="0"/>
              <a:t>在需求分析阶段中，我们进行了用户访谈、领域分析，需求分析，需求规格说明，以及需求评审交付了以下工作产品：</a:t>
            </a:r>
            <a:endParaRPr lang="zh-CN" altLang="en-US" dirty="0"/>
          </a:p>
          <a:p>
            <a:pPr marL="600075" lvl="1" indent="-342900">
              <a:lnSpc>
                <a:spcPct val="120000"/>
              </a:lnSpc>
              <a:buFont typeface="+mj-lt"/>
              <a:buAutoNum type="arabicPeriod"/>
            </a:pPr>
            <a:r>
              <a:rPr lang="zh-CN" altLang="en-US" sz="2600" dirty="0"/>
              <a:t>系统用例图</a:t>
            </a:r>
            <a:endParaRPr lang="en-US" altLang="zh-CN" sz="2600" dirty="0"/>
          </a:p>
          <a:p>
            <a:pPr marL="600075" lvl="1" indent="-342900">
              <a:lnSpc>
                <a:spcPct val="120000"/>
              </a:lnSpc>
              <a:buFont typeface="+mj-lt"/>
              <a:buAutoNum type="arabicPeriod"/>
            </a:pPr>
            <a:r>
              <a:rPr lang="zh-CN" altLang="en-US" sz="2600" dirty="0"/>
              <a:t>业务流程活动图</a:t>
            </a:r>
            <a:endParaRPr lang="zh-CN" altLang="en-US" sz="2600" dirty="0"/>
          </a:p>
          <a:p>
            <a:pPr marL="600075" lvl="1" indent="-342900">
              <a:lnSpc>
                <a:spcPct val="120000"/>
              </a:lnSpc>
              <a:buFont typeface="+mj-lt"/>
              <a:buAutoNum type="arabicPeriod"/>
            </a:pPr>
            <a:r>
              <a:rPr lang="zh-CN" altLang="en-US" sz="2600" dirty="0"/>
              <a:t>领域类图</a:t>
            </a:r>
            <a:endParaRPr lang="zh-CN" altLang="en-US" sz="2600" dirty="0"/>
          </a:p>
          <a:p>
            <a:pPr marL="600075" lvl="1" indent="-342900">
              <a:lnSpc>
                <a:spcPct val="120000"/>
              </a:lnSpc>
              <a:buFont typeface="+mj-lt"/>
              <a:buAutoNum type="arabicPeriod"/>
            </a:pPr>
            <a:r>
              <a:rPr lang="zh-CN" altLang="en-US" sz="2600" dirty="0"/>
              <a:t>需求规格说明书</a:t>
            </a:r>
            <a:endParaRPr lang="zh-CN" altLang="en-US" sz="2600" dirty="0"/>
          </a:p>
          <a:p>
            <a:pPr>
              <a:lnSpc>
                <a:spcPct val="120000"/>
              </a:lnSpc>
            </a:pPr>
            <a:r>
              <a:rPr lang="zh-CN" altLang="en-US" dirty="0"/>
              <a:t>需求分析阶段得到的信息，是设计阶段的依据。</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97BDE9E7-D7D7-47B3-977A-C4A7CA808BD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up)">
                                      <p:cBhvr>
                                        <p:cTn id="7" dur="500"/>
                                        <p:tgtEl>
                                          <p:spTgt spid="140291">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0291">
                                            <p:txEl>
                                              <p:pRg st="1" end="1"/>
                                            </p:txEl>
                                          </p:spTgt>
                                        </p:tgtEl>
                                        <p:attrNameLst>
                                          <p:attrName>style.visibility</p:attrName>
                                        </p:attrNameLst>
                                      </p:cBhvr>
                                      <p:to>
                                        <p:strVal val="visible"/>
                                      </p:to>
                                    </p:set>
                                    <p:animEffect transition="in" filter="wipe(up)">
                                      <p:cBhvr>
                                        <p:cTn id="10" dur="500"/>
                                        <p:tgtEl>
                                          <p:spTgt spid="140291">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40291">
                                            <p:txEl>
                                              <p:pRg st="2" end="2"/>
                                            </p:txEl>
                                          </p:spTgt>
                                        </p:tgtEl>
                                        <p:attrNameLst>
                                          <p:attrName>style.visibility</p:attrName>
                                        </p:attrNameLst>
                                      </p:cBhvr>
                                      <p:to>
                                        <p:strVal val="visible"/>
                                      </p:to>
                                    </p:set>
                                    <p:animEffect transition="in" filter="wipe(up)">
                                      <p:cBhvr>
                                        <p:cTn id="13" dur="500"/>
                                        <p:tgtEl>
                                          <p:spTgt spid="140291">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40291">
                                            <p:txEl>
                                              <p:pRg st="3" end="3"/>
                                            </p:txEl>
                                          </p:spTgt>
                                        </p:tgtEl>
                                        <p:attrNameLst>
                                          <p:attrName>style.visibility</p:attrName>
                                        </p:attrNameLst>
                                      </p:cBhvr>
                                      <p:to>
                                        <p:strVal val="visible"/>
                                      </p:to>
                                    </p:set>
                                    <p:animEffect transition="in" filter="wipe(up)">
                                      <p:cBhvr>
                                        <p:cTn id="16" dur="500"/>
                                        <p:tgtEl>
                                          <p:spTgt spid="140291">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40291">
                                            <p:txEl>
                                              <p:pRg st="4" end="4"/>
                                            </p:txEl>
                                          </p:spTgt>
                                        </p:tgtEl>
                                        <p:attrNameLst>
                                          <p:attrName>style.visibility</p:attrName>
                                        </p:attrNameLst>
                                      </p:cBhvr>
                                      <p:to>
                                        <p:strVal val="visible"/>
                                      </p:to>
                                    </p:set>
                                    <p:animEffect transition="in" filter="wipe(up)">
                                      <p:cBhvr>
                                        <p:cTn id="19" dur="500"/>
                                        <p:tgtEl>
                                          <p:spTgt spid="14029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40291">
                                            <p:txEl>
                                              <p:pRg st="5" end="5"/>
                                            </p:txEl>
                                          </p:spTgt>
                                        </p:tgtEl>
                                        <p:attrNameLst>
                                          <p:attrName>style.visibility</p:attrName>
                                        </p:attrNameLst>
                                      </p:cBhvr>
                                      <p:to>
                                        <p:strVal val="visible"/>
                                      </p:to>
                                    </p:set>
                                    <p:animEffect transition="in" filter="wipe(up)">
                                      <p:cBhvr>
                                        <p:cTn id="24" dur="500"/>
                                        <p:tgtEl>
                                          <p:spTgt spid="140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1080654"/>
            <a:ext cx="4513606" cy="3361377"/>
          </a:xfrm>
        </p:spPr>
        <p:txBody>
          <a:bodyPr>
            <a:normAutofit/>
          </a:bodyPr>
          <a:lstStyle/>
          <a:p>
            <a:pPr>
              <a:lnSpc>
                <a:spcPct val="120000"/>
              </a:lnSpc>
              <a:spcBef>
                <a:spcPts val="450"/>
              </a:spcBef>
            </a:pPr>
            <a:r>
              <a:rPr lang="zh-CN" altLang="en-US" b="1" dirty="0"/>
              <a:t>领域建模</a:t>
            </a:r>
            <a:endParaRPr lang="en-US" altLang="zh-CN" b="1" dirty="0"/>
          </a:p>
          <a:p>
            <a:pPr marL="994410" lvl="1" indent="-342900">
              <a:lnSpc>
                <a:spcPct val="120000"/>
              </a:lnSpc>
              <a:spcBef>
                <a:spcPts val="900"/>
              </a:spcBef>
              <a:buClr>
                <a:srgbClr val="CA0098"/>
              </a:buClr>
              <a:buFont typeface="Arial" panose="020B0604020202020204" pitchFamily="34" charset="0"/>
              <a:buChar char="♥"/>
            </a:pPr>
            <a:r>
              <a:rPr lang="zh-CN" altLang="en-US" dirty="0"/>
              <a:t>领域模型的概念</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a:t>如何把领域模型应用于需求分析和开发活动</a:t>
            </a:r>
            <a:endParaRPr lang="en-US" altLang="zh-CN" dirty="0"/>
          </a:p>
          <a:p>
            <a:pPr>
              <a:lnSpc>
                <a:spcPct val="120000"/>
              </a:lnSpc>
              <a:spcBef>
                <a:spcPts val="450"/>
              </a:spcBef>
            </a:pPr>
            <a:r>
              <a:rPr lang="zh-CN" altLang="en-US" b="1" dirty="0"/>
              <a:t>需求建模</a:t>
            </a:r>
            <a:endParaRPr lang="en-US" altLang="zh-CN" b="1" dirty="0"/>
          </a:p>
          <a:p>
            <a:pPr marL="994410" lvl="1" indent="-342900">
              <a:lnSpc>
                <a:spcPct val="120000"/>
              </a:lnSpc>
              <a:spcBef>
                <a:spcPts val="900"/>
              </a:spcBef>
              <a:buClr>
                <a:srgbClr val="CA0098"/>
              </a:buClr>
              <a:buFont typeface="Arial" panose="020B0604020202020204" pitchFamily="34" charset="0"/>
              <a:buChar char="♥"/>
            </a:pPr>
            <a:r>
              <a:rPr lang="zh-CN" altLang="en-US" dirty="0"/>
              <a:t>领域建模</a:t>
            </a:r>
            <a:endParaRPr lang="en-US" alt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567279" y="1461741"/>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2647658A-26A4-43AA-906D-0A7EF0744057}"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2849E0-27B9-4DEA-9328-9B6B208F0C5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picid" val="{3ba3ad77-f2ee-4ac6-b9b8-3f3138c4d064}"/>
</p:tagLst>
</file>

<file path=ppt/tags/tag4.xml><?xml version="1.0" encoding="utf-8"?>
<p:tagLst xmlns:p="http://schemas.openxmlformats.org/presentationml/2006/main">
  <p:tag name="picid" val="{47db7d1c-a17e-4111-8d14-8e9b26fab6e8}"/>
</p:tagLst>
</file>

<file path=ppt/tags/tag5.xml><?xml version="1.0" encoding="utf-8"?>
<p:tagLst xmlns:p="http://schemas.openxmlformats.org/presentationml/2006/main">
  <p:tag name="picid" val="{b5c809d7-dde0-4f4f-9bf1-95347411063f}"/>
</p:tagLst>
</file>

<file path=ppt/tags/tag6.xml><?xml version="1.0" encoding="utf-8"?>
<p:tagLst xmlns:p="http://schemas.openxmlformats.org/presentationml/2006/main">
  <p:tag name="picid" val="{ae4ea936-fc63-4787-b53d-eb3a6269ac27}"/>
</p:tagLst>
</file>

<file path=ppt/tags/tag7.xml><?xml version="1.0" encoding="utf-8"?>
<p:tagLst xmlns:p="http://schemas.openxmlformats.org/presentationml/2006/main">
  <p:tag name="RAINPROBLEM" val="ProblemBody"/>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Item"/>
</p:tagLst>
</file>

<file path=ppt/tags/tag10.xml><?xml version="1.0" encoding="utf-8"?>
<p:tagLst xmlns:p="http://schemas.openxmlformats.org/presentationml/2006/main">
  <p:tag name="RAINPROBLEM" val="ProblemItem"/>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Bullet"/>
  <p:tag name="RAINPROBLEMTYPE" val="MultipleChoice"/>
  <p:tag name="RAINBULLET" val="Wrong"/>
</p:tagLst>
</file>

<file path=ppt/tags/tag13.xml><?xml version="1.0" encoding="utf-8"?>
<p:tagLst xmlns:p="http://schemas.openxmlformats.org/presentationml/2006/main">
  <p:tag name="RAINPROBLEM" val="ProblemBullet"/>
  <p:tag name="RAINPROBLEMTYPE" val="MultipleChoice"/>
  <p:tag name="RAINBULLET" val="Wrong"/>
</p:tagLst>
</file>

<file path=ppt/tags/tag14.xml><?xml version="1.0" encoding="utf-8"?>
<p:tagLst xmlns:p="http://schemas.openxmlformats.org/presentationml/2006/main">
  <p:tag name="RAINPROBLEM" val="ProblemBullet"/>
  <p:tag name="RAINPROBLEMTYPE" val="MultipleChoice"/>
  <p:tag name="RAINBULLET" val="Correct"/>
</p:tagLst>
</file>

<file path=ppt/tags/tag15.xml><?xml version="1.0" encoding="utf-8"?>
<p:tagLst xmlns:p="http://schemas.openxmlformats.org/presentationml/2006/main">
  <p:tag name="RAINPROBLEM" val="ProblemBullet"/>
  <p:tag name="RAINPROBLEMTYPE" val="MultipleChoice"/>
  <p:tag name="RAINBULLET" val="Wrong"/>
</p:tagLst>
</file>

<file path=ppt/tags/tag16.xml><?xml version="1.0" encoding="utf-8"?>
<p:tagLst xmlns:p="http://schemas.openxmlformats.org/presentationml/2006/main">
  <p:tag name="RAINPROBLEM" val="ProblemSubmit"/>
  <p:tag name="RAINPROBLEMTYPE" val="MultipleChoice"/>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 val="ProblemSetting"/>
  <p:tag name="RAINPROBLEMTYPE" val="MultipleChoice"/>
</p:tagLst>
</file>

<file path=ppt/tags/tag23.xml><?xml version="1.0" encoding="utf-8"?>
<p:tagLst xmlns:p="http://schemas.openxmlformats.org/presentationml/2006/main">
  <p:tag name="RAINPROBLEM" val="MultipleChoice"/>
  <p:tag name="PROBLEMSCORE" val="1.0"/>
</p:tagLst>
</file>

<file path=ppt/tags/tag24.xml><?xml version="1.0" encoding="utf-8"?>
<p:tagLst xmlns:p="http://schemas.openxmlformats.org/presentationml/2006/main">
  <p:tag name="RAINPROBLEM" val="ProblemRemarkBoard"/>
</p:tagLst>
</file>

<file path=ppt/tags/tag25.xml><?xml version="1.0" encoding="utf-8"?>
<p:tagLst xmlns:p="http://schemas.openxmlformats.org/presentationml/2006/main">
  <p:tag name="RAINPROBLEM" val="ProblemBody"/>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Bullet"/>
  <p:tag name="RAINPROBLEMTYPE" val="MultipleChoice"/>
  <p:tag name="RAINBULLET" val="Wrong"/>
</p:tagLst>
</file>

<file path=ppt/tags/tag31.xml><?xml version="1.0" encoding="utf-8"?>
<p:tagLst xmlns:p="http://schemas.openxmlformats.org/presentationml/2006/main">
  <p:tag name="RAINPROBLEM" val="ProblemBullet"/>
  <p:tag name="RAINPROBLEMTYPE" val="MultipleChoice"/>
  <p:tag name="RAINBULLET" val="Correct"/>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Bullet"/>
  <p:tag name="RAINPROBLEMTYPE" val="MultipleChoice"/>
  <p:tag name="RAINBULLET" val="Wrong"/>
</p:tagLst>
</file>

<file path=ppt/tags/tag34.xml><?xml version="1.0" encoding="utf-8"?>
<p:tagLst xmlns:p="http://schemas.openxmlformats.org/presentationml/2006/main">
  <p:tag name="RAINPROBLEM" val="ProblemSubmit"/>
  <p:tag name="RAINPROBLEMTYPE" val="MultipleChoice"/>
</p:tagLst>
</file>

<file path=ppt/tags/tag35.xml><?xml version="1.0" encoding="utf-8"?>
<p:tagLst xmlns:p="http://schemas.openxmlformats.org/presentationml/2006/main">
  <p:tag name="PROBLEMREMARKTITLE" val="ProblemRemarkBoardTip"/>
</p:tagLst>
</file>

<file path=ppt/tags/tag36.xml><?xml version="1.0" encoding="utf-8"?>
<p:tagLst xmlns:p="http://schemas.openxmlformats.org/presentationml/2006/main">
  <p:tag name="RAINPROBLEM" val="ProblemRemark"/>
</p:tagLst>
</file>

<file path=ppt/tags/tag37.xml><?xml version="1.0" encoding="utf-8"?>
<p:tagLst xmlns:p="http://schemas.openxmlformats.org/presentationml/2006/main">
  <p:tag name="PROBLEMREMARKTITLE" val="ProblemRemarkBoardTitle"/>
</p:tagLst>
</file>

<file path=ppt/tags/tag38.xml><?xml version="1.0" encoding="utf-8"?>
<p:tagLst xmlns:p="http://schemas.openxmlformats.org/presentationml/2006/main">
  <p:tag name="PROBLEMREMARKTITLE" val="ProblemRemarkBoardTitle"/>
</p:tagLst>
</file>

<file path=ppt/tags/tag39.xml><?xml version="1.0" encoding="utf-8"?>
<p:tagLst xmlns:p="http://schemas.openxmlformats.org/presentationml/2006/main">
  <p:tag name="PROBLEMREMARKTITLE" val="ProblemRemarkBoardTitle"/>
</p:tagLst>
</file>

<file path=ppt/tags/tag40.xml><?xml version="1.0" encoding="utf-8"?>
<p:tagLst xmlns:p="http://schemas.openxmlformats.org/presentationml/2006/main">
  <p:tag name="PROBLEMREMARKTITLE" val="ProblemRemarkBoardTitle"/>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 val="ProblemSetting"/>
  <p:tag name="RAINPROBLEMTYPE" val="MultipleChoice"/>
</p:tagLst>
</file>

<file path=ppt/tags/tag47.xml><?xml version="1.0" encoding="utf-8"?>
<p:tagLst xmlns:p="http://schemas.openxmlformats.org/presentationml/2006/main">
  <p:tag name="RAINPROBLEM" val="MultipleChoice"/>
  <p:tag name="PROBLEMSCORE" val="1.0"/>
  <p:tag name="PROBLEMREMARK" val=" 关联体现的是两个类、或者类与接口之间语义级别的一种强依赖关系；这种关系比依赖更强，不存在依赖关系的偶然性，关系也不是临时性的，一般是长期性的，而且双方的关系一般是平等的，关联可以是单向、双向的；表现在代码层而为被关联类B以类属性的形式出现在关联类A中，也可能是关联类A引用了一个类型为被关联类B的全局变量。当对象A被加入到对象B中，成为对象B的组成部分时，对象B和对象A之间为聚合关系。聚合是关联关系的一种，是较强的关联关系，强调的是整体与部分之间的关系。聚合是关联关系的一种特例，它体现的是整体与部分、拥有的关系，即has a的关系，此时整体与部分之间是可分离的，它们可以具有各自的生命周期，部分可以属于多个整体对象，也可以为多个整体对象共享。对于两个相对独立的对象，当一个对象负责构造另一个对象的实例，或者依赖另一个对象的服务时，这两个对象之间主要体现为依赖关系。就是一个类A使用到了另一个类B，而这种使用关系是具有偶然性的、临时性的、非常弱的，但是B类的变化会影响到A；表现在代码层面，为类B作为参数被类A在某个method方法中使用。组合也是关联关系的一种特例，它体现的是一种contains-a的关系，这种关系比聚合更强，也称为强聚合；它同样体现整体与部分间的关系，但此时整体与部分是不可分的，整体的生命周期结束也就意味着部分的生命周期结束。&#10;&#10;各种关系的强弱顺序：&#10;泛化 = 实现 &gt; 组合 &gt; 聚合 &gt; 关联 &gt; 依赖"/>
  <p:tag name="PROBLEMHASREMARK" val="False"/>
</p:tagLst>
</file>

<file path=ppt/tags/tag48.xml><?xml version="1.0" encoding="utf-8"?>
<p:tagLst xmlns:p="http://schemas.openxmlformats.org/presentationml/2006/main">
  <p:tag name="RAINPROBLEM" val="ProblemBody"/>
</p:tagLst>
</file>

<file path=ppt/tags/tag49.xml><?xml version="1.0" encoding="utf-8"?>
<p:tagLst xmlns:p="http://schemas.openxmlformats.org/presentationml/2006/main">
  <p:tag name="RAINPROBLEM" val="ProblemItem"/>
</p:tagLst>
</file>

<file path=ppt/tags/tag50.xml><?xml version="1.0" encoding="utf-8"?>
<p:tagLst xmlns:p="http://schemas.openxmlformats.org/presentationml/2006/main">
  <p:tag name="RAINPROBLEM" val="ProblemItem"/>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Bullet"/>
  <p:tag name="RAINPROBLEMTYPE" val="MultipleChoice"/>
  <p:tag name="RAINBULLET" val="Wrong"/>
</p:tagLst>
</file>

<file path=ppt/tags/tag54.xml><?xml version="1.0" encoding="utf-8"?>
<p:tagLst xmlns:p="http://schemas.openxmlformats.org/presentationml/2006/main">
  <p:tag name="RAINPROBLEM" val="ProblemBullet"/>
  <p:tag name="RAINPROBLEMTYPE" val="MultipleChoice"/>
  <p:tag name="RAINBULLET" val="Wrong"/>
</p:tagLst>
</file>

<file path=ppt/tags/tag55.xml><?xml version="1.0" encoding="utf-8"?>
<p:tagLst xmlns:p="http://schemas.openxmlformats.org/presentationml/2006/main">
  <p:tag name="RAINPROBLEM" val="ProblemBullet"/>
  <p:tag name="RAINPROBLEMTYPE" val="MultipleChoice"/>
  <p:tag name="RAINBULLET" val="Correct"/>
</p:tagLst>
</file>

<file path=ppt/tags/tag56.xml><?xml version="1.0" encoding="utf-8"?>
<p:tagLst xmlns:p="http://schemas.openxmlformats.org/presentationml/2006/main">
  <p:tag name="RAINPROBLEM" val="ProblemBullet"/>
  <p:tag name="RAINPROBLEMTYPE" val="MultipleChoice"/>
  <p:tag name="RAINBULLET" val="Wrong"/>
</p:tagLst>
</file>

<file path=ppt/tags/tag57.xml><?xml version="1.0" encoding="utf-8"?>
<p:tagLst xmlns:p="http://schemas.openxmlformats.org/presentationml/2006/main">
  <p:tag name="RAINPROBLEM" val="ProblemSubmit"/>
  <p:tag name="RAINPROBLEMTYPE" val="MultipleChoice"/>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TYPE" val="ProblemTypeMarker"/>
</p:tagLst>
</file>

<file path=ppt/tags/tag63.xml><?xml version="1.0" encoding="utf-8"?>
<p:tagLst xmlns:p="http://schemas.openxmlformats.org/presentationml/2006/main">
  <p:tag name="RAINPROBLEM" val="ProblemSetting"/>
  <p:tag name="RAINPROBLEMTYPE" val="MultipleChoice"/>
</p:tagLst>
</file>

<file path=ppt/tags/tag64.xml><?xml version="1.0" encoding="utf-8"?>
<p:tagLst xmlns:p="http://schemas.openxmlformats.org/presentationml/2006/main">
  <p:tag name="RAINPROBLEM" val="MultipleChoice"/>
  <p:tag name="PROBLEMSCORE" val="1.0"/>
</p:tagLst>
</file>

<file path=ppt/tags/tag65.xml><?xml version="1.0" encoding="utf-8"?>
<p:tagLst xmlns:p="http://schemas.openxmlformats.org/presentationml/2006/main">
  <p:tag name="RAINPROBLEM" val="ProblemBody"/>
</p:tagLst>
</file>

<file path=ppt/tags/tag66.xml><?xml version="1.0" encoding="utf-8"?>
<p:tagLst xmlns:p="http://schemas.openxmlformats.org/presentationml/2006/main">
  <p:tag name="RAINPROBLEM" val="ProblemItem"/>
</p:tagLst>
</file>

<file path=ppt/tags/tag67.xml><?xml version="1.0" encoding="utf-8"?>
<p:tagLst xmlns:p="http://schemas.openxmlformats.org/presentationml/2006/main">
  <p:tag name="RAINPROBLEM" val="ProblemItem"/>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Bullet"/>
  <p:tag name="RAINPROBLEMTYPE" val="MultipleChoice"/>
  <p:tag name="RAINBULLET" val="Wrong"/>
</p:tagLst>
</file>

<file path=ppt/tags/tag71.xml><?xml version="1.0" encoding="utf-8"?>
<p:tagLst xmlns:p="http://schemas.openxmlformats.org/presentationml/2006/main">
  <p:tag name="RAINPROBLEM" val="ProblemBullet"/>
  <p:tag name="RAINPROBLEMTYPE" val="MultipleChoice"/>
  <p:tag name="RAINBULLET" val="Wrong"/>
</p:tagLst>
</file>

<file path=ppt/tags/tag72.xml><?xml version="1.0" encoding="utf-8"?>
<p:tagLst xmlns:p="http://schemas.openxmlformats.org/presentationml/2006/main">
  <p:tag name="RAINPROBLEM" val="ProblemBullet"/>
  <p:tag name="RAINPROBLEMTYPE" val="MultipleChoice"/>
  <p:tag name="RAINBULLET" val="Wrong"/>
</p:tagLst>
</file>

<file path=ppt/tags/tag73.xml><?xml version="1.0" encoding="utf-8"?>
<p:tagLst xmlns:p="http://schemas.openxmlformats.org/presentationml/2006/main">
  <p:tag name="RAINPROBLEM" val="ProblemBullet"/>
  <p:tag name="RAINPROBLEMTYPE" val="MultipleChoice"/>
  <p:tag name="RAINBULLET" val="Correct"/>
</p:tagLst>
</file>

<file path=ppt/tags/tag74.xml><?xml version="1.0" encoding="utf-8"?>
<p:tagLst xmlns:p="http://schemas.openxmlformats.org/presentationml/2006/main">
  <p:tag name="RAINPROBLEM" val="ProblemSubmit"/>
  <p:tag name="RAINPROBLEMTYPE" val="MultipleChoice"/>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TYPE" val="ProblemTypeMarker"/>
</p:tagLst>
</file>

<file path=ppt/tags/tag80.xml><?xml version="1.0" encoding="utf-8"?>
<p:tagLst xmlns:p="http://schemas.openxmlformats.org/presentationml/2006/main">
  <p:tag name="RAINPROBLEM" val="ProblemSetting"/>
  <p:tag name="RAINPROBLEMTYPE" val="MultipleChoice"/>
</p:tagLst>
</file>

<file path=ppt/tags/tag81.xml><?xml version="1.0" encoding="utf-8"?>
<p:tagLst xmlns:p="http://schemas.openxmlformats.org/presentationml/2006/main">
  <p:tag name="RAINPROBLEM" val="MultipleChoice"/>
  <p:tag name="PROBLEMSCORE" val="1.0"/>
</p:tagLst>
</file>

<file path=ppt/tags/tag82.xml><?xml version="1.0" encoding="utf-8"?>
<p:tagLst xmlns:p="http://schemas.openxmlformats.org/presentationml/2006/main">
  <p:tag name="RAINPROBLEM" val="ProblemBody"/>
</p:tagLst>
</file>

<file path=ppt/tags/tag83.xml><?xml version="1.0" encoding="utf-8"?>
<p:tagLst xmlns:p="http://schemas.openxmlformats.org/presentationml/2006/main">
  <p:tag name="RAINPROBLEM" val="ProblemItem"/>
</p:tagLst>
</file>

<file path=ppt/tags/tag84.xml><?xml version="1.0" encoding="utf-8"?>
<p:tagLst xmlns:p="http://schemas.openxmlformats.org/presentationml/2006/main">
  <p:tag name="RAINPROBLEM" val="ProblemItem"/>
</p:tagLst>
</file>

<file path=ppt/tags/tag85.xml><?xml version="1.0" encoding="utf-8"?>
<p:tagLst xmlns:p="http://schemas.openxmlformats.org/presentationml/2006/main">
  <p:tag name="RAINPROBLEM" val="ProblemItem"/>
</p:tagLst>
</file>

<file path=ppt/tags/tag86.xml><?xml version="1.0" encoding="utf-8"?>
<p:tagLst xmlns:p="http://schemas.openxmlformats.org/presentationml/2006/main">
  <p:tag name="RAINPROBLEM" val="ProblemItem"/>
</p:tagLst>
</file>

<file path=ppt/tags/tag87.xml><?xml version="1.0" encoding="utf-8"?>
<p:tagLst xmlns:p="http://schemas.openxmlformats.org/presentationml/2006/main">
  <p:tag name="RAINPROBLEM" val="ProblemBullet"/>
  <p:tag name="RAINPROBLEMTYPE" val="MultipleChoice"/>
  <p:tag name="RAINBULLET" val="Correct"/>
</p:tagLst>
</file>

<file path=ppt/tags/tag88.xml><?xml version="1.0" encoding="utf-8"?>
<p:tagLst xmlns:p="http://schemas.openxmlformats.org/presentationml/2006/main">
  <p:tag name="RAINPROBLEM" val="ProblemBullet"/>
  <p:tag name="RAINPROBLEMTYPE" val="MultipleChoice"/>
  <p:tag name="RAINBULLET" val="Wrong"/>
</p:tagLst>
</file>

<file path=ppt/tags/tag89.xml><?xml version="1.0" encoding="utf-8"?>
<p:tagLst xmlns:p="http://schemas.openxmlformats.org/presentationml/2006/main">
  <p:tag name="RAINPROBLEM" val="ProblemBullet"/>
  <p:tag name="RAINPROBLEMTYPE" val="MultipleChoice"/>
  <p:tag name="RAINBULLET" val="Wrong"/>
</p:tagLst>
</file>

<file path=ppt/tags/tag90.xml><?xml version="1.0" encoding="utf-8"?>
<p:tagLst xmlns:p="http://schemas.openxmlformats.org/presentationml/2006/main">
  <p:tag name="RAINPROBLEM" val="ProblemBullet"/>
  <p:tag name="RAINPROBLEMTYPE" val="MultipleChoice"/>
  <p:tag name="RAINBULLET" val="Wrong"/>
</p:tagLst>
</file>

<file path=ppt/tags/tag91.xml><?xml version="1.0" encoding="utf-8"?>
<p:tagLst xmlns:p="http://schemas.openxmlformats.org/presentationml/2006/main">
  <p:tag name="RAINPROBLEM" val="ProblemSubmit"/>
  <p:tag name="RAINPROBLEMTYPE" val="MultipleChoice"/>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TYPE" val="ProblemTypeMarker"/>
</p:tagLst>
</file>

<file path=ppt/tags/tag94.xml><?xml version="1.0" encoding="utf-8"?>
<p:tagLst xmlns:p="http://schemas.openxmlformats.org/presentationml/2006/main">
  <p:tag name="RAINPROBLEMTYPE" val="ProblemTypeMarker"/>
</p:tagLst>
</file>

<file path=ppt/tags/tag95.xml><?xml version="1.0" encoding="utf-8"?>
<p:tagLst xmlns:p="http://schemas.openxmlformats.org/presentationml/2006/main">
  <p:tag name="RAINPROBLEMTYPE" val="ProblemTypeMarker"/>
</p:tagLst>
</file>

<file path=ppt/tags/tag96.xml><?xml version="1.0" encoding="utf-8"?>
<p:tagLst xmlns:p="http://schemas.openxmlformats.org/presentationml/2006/main">
  <p:tag name="RAINPROBLEMTYPE" val="ProblemTypeMarker"/>
</p:tagLst>
</file>

<file path=ppt/tags/tag97.xml><?xml version="1.0" encoding="utf-8"?>
<p:tagLst xmlns:p="http://schemas.openxmlformats.org/presentationml/2006/main">
  <p:tag name="RAINPROBLEM" val="ProblemSetting"/>
  <p:tag name="RAINPROBLEMTYPE" val="MultipleChoice"/>
</p:tagLst>
</file>

<file path=ppt/tags/tag98.xml><?xml version="1.0" encoding="utf-8"?>
<p:tagLst xmlns:p="http://schemas.openxmlformats.org/presentationml/2006/main">
  <p:tag name="RAINPROBLEM" val="MultipleChoice"/>
  <p:tag name="PROBLEMSCORE" val="1.0"/>
</p:tagLst>
</file>

<file path=ppt/tags/tag99.xml><?xml version="1.0" encoding="utf-8"?>
<p:tagLst xmlns:p="http://schemas.openxmlformats.org/presentationml/2006/main">
  <p:tag name="RAINPROBLEM" val="ProblemBody"/>
</p:tagLst>
</file>

<file path=ppt/tags/tag100.xml><?xml version="1.0" encoding="utf-8"?>
<p:tagLst xmlns:p="http://schemas.openxmlformats.org/presentationml/2006/main">
  <p:tag name="RAINPROBLEM" val="ProblemItem"/>
</p:tagLst>
</file>

<file path=ppt/tags/tag101.xml><?xml version="1.0" encoding="utf-8"?>
<p:tagLst xmlns:p="http://schemas.openxmlformats.org/presentationml/2006/main">
  <p:tag name="RAINPROBLEM" val="ProblemItem"/>
</p:tagLst>
</file>

<file path=ppt/tags/tag102.xml><?xml version="1.0" encoding="utf-8"?>
<p:tagLst xmlns:p="http://schemas.openxmlformats.org/presentationml/2006/main">
  <p:tag name="RAINPROBLEM" val="ProblemItem"/>
</p:tagLst>
</file>

<file path=ppt/tags/tag103.xml><?xml version="1.0" encoding="utf-8"?>
<p:tagLst xmlns:p="http://schemas.openxmlformats.org/presentationml/2006/main">
  <p:tag name="RAINPROBLEM" val="ProblemItem"/>
</p:tagLst>
</file>

<file path=ppt/tags/tag104.xml><?xml version="1.0" encoding="utf-8"?>
<p:tagLst xmlns:p="http://schemas.openxmlformats.org/presentationml/2006/main">
  <p:tag name="RAINPROBLEM" val="ProblemBullet"/>
  <p:tag name="RAINPROBLEMTYPE" val="MultipleChoice"/>
  <p:tag name="RAINBULLET" val="Wrong"/>
</p:tagLst>
</file>

<file path=ppt/tags/tag105.xml><?xml version="1.0" encoding="utf-8"?>
<p:tagLst xmlns:p="http://schemas.openxmlformats.org/presentationml/2006/main">
  <p:tag name="RAINPROBLEM" val="ProblemBullet"/>
  <p:tag name="RAINPROBLEMTYPE" val="MultipleChoice"/>
  <p:tag name="RAINBULLET" val="Wrong"/>
</p:tagLst>
</file>

<file path=ppt/tags/tag106.xml><?xml version="1.0" encoding="utf-8"?>
<p:tagLst xmlns:p="http://schemas.openxmlformats.org/presentationml/2006/main">
  <p:tag name="RAINPROBLEM" val="ProblemBullet"/>
  <p:tag name="RAINPROBLEMTYPE" val="MultipleChoice"/>
  <p:tag name="RAINBULLET" val="Correct"/>
</p:tagLst>
</file>

<file path=ppt/tags/tag107.xml><?xml version="1.0" encoding="utf-8"?>
<p:tagLst xmlns:p="http://schemas.openxmlformats.org/presentationml/2006/main">
  <p:tag name="RAINPROBLEM" val="ProblemBullet"/>
  <p:tag name="RAINPROBLEMTYPE" val="MultipleChoice"/>
  <p:tag name="RAINBULLET" val="Wrong"/>
</p:tagLst>
</file>

<file path=ppt/tags/tag108.xml><?xml version="1.0" encoding="utf-8"?>
<p:tagLst xmlns:p="http://schemas.openxmlformats.org/presentationml/2006/main">
  <p:tag name="RAINPROBLEM" val="ProblemSubmit"/>
  <p:tag name="RAINPROBLEMTYPE" val="MultipleChoice"/>
</p:tagLst>
</file>

<file path=ppt/tags/tag109.xml><?xml version="1.0" encoding="utf-8"?>
<p:tagLst xmlns:p="http://schemas.openxmlformats.org/presentationml/2006/main">
  <p:tag name="RAINPROBLEMTYPE" val="ProblemTypeMarker"/>
</p:tagLst>
</file>

<file path=ppt/tags/tag110.xml><?xml version="1.0" encoding="utf-8"?>
<p:tagLst xmlns:p="http://schemas.openxmlformats.org/presentationml/2006/main">
  <p:tag name="RAINPROBLEMTYPE" val="ProblemTypeMarker"/>
</p:tagLst>
</file>

<file path=ppt/tags/tag111.xml><?xml version="1.0" encoding="utf-8"?>
<p:tagLst xmlns:p="http://schemas.openxmlformats.org/presentationml/2006/main">
  <p:tag name="RAINPROBLEMTYPE" val="ProblemTypeMarker"/>
</p:tagLst>
</file>

<file path=ppt/tags/tag112.xml><?xml version="1.0" encoding="utf-8"?>
<p:tagLst xmlns:p="http://schemas.openxmlformats.org/presentationml/2006/main">
  <p:tag name="RAINPROBLEMTYPE" val="ProblemTypeMarker"/>
</p:tagLst>
</file>

<file path=ppt/tags/tag113.xml><?xml version="1.0" encoding="utf-8"?>
<p:tagLst xmlns:p="http://schemas.openxmlformats.org/presentationml/2006/main">
  <p:tag name="RAINPROBLEMTYPE" val="ProblemTypeMarker"/>
</p:tagLst>
</file>

<file path=ppt/tags/tag114.xml><?xml version="1.0" encoding="utf-8"?>
<p:tagLst xmlns:p="http://schemas.openxmlformats.org/presentationml/2006/main">
  <p:tag name="RAINPROBLEM" val="ProblemSetting"/>
  <p:tag name="RAINPROBLEMTYPE" val="MultipleChoice"/>
</p:tagLst>
</file>

<file path=ppt/tags/tag115.xml><?xml version="1.0" encoding="utf-8"?>
<p:tagLst xmlns:p="http://schemas.openxmlformats.org/presentationml/2006/main">
  <p:tag name="RAINPROBLEM" val="MultipleChoice"/>
  <p:tag name="PROBLEMSCORE" val="1.0"/>
</p:tagLst>
</file>

<file path=ppt/tags/tag116.xml><?xml version="1.0" encoding="utf-8"?>
<p:tagLst xmlns:p="http://schemas.openxmlformats.org/presentationml/2006/main">
  <p:tag name="RAINPROBLEM" val="ProblemBody"/>
</p:tagLst>
</file>

<file path=ppt/tags/tag117.xml><?xml version="1.0" encoding="utf-8"?>
<p:tagLst xmlns:p="http://schemas.openxmlformats.org/presentationml/2006/main">
  <p:tag name="RAINPROBLEM" val="ProblemItem"/>
</p:tagLst>
</file>

<file path=ppt/tags/tag118.xml><?xml version="1.0" encoding="utf-8"?>
<p:tagLst xmlns:p="http://schemas.openxmlformats.org/presentationml/2006/main">
  <p:tag name="RAINPROBLEM" val="ProblemItem"/>
</p:tagLst>
</file>

<file path=ppt/tags/tag119.xml><?xml version="1.0" encoding="utf-8"?>
<p:tagLst xmlns:p="http://schemas.openxmlformats.org/presentationml/2006/main">
  <p:tag name="RAINPROBLEM" val="ProblemItem"/>
</p:tagLst>
</file>

<file path=ppt/tags/tag120.xml><?xml version="1.0" encoding="utf-8"?>
<p:tagLst xmlns:p="http://schemas.openxmlformats.org/presentationml/2006/main">
  <p:tag name="RAINPROBLEM" val="ProblemItem"/>
</p:tagLst>
</file>

<file path=ppt/tags/tag121.xml><?xml version="1.0" encoding="utf-8"?>
<p:tagLst xmlns:p="http://schemas.openxmlformats.org/presentationml/2006/main">
  <p:tag name="RAINPROBLEM" val="ProblemBullet"/>
  <p:tag name="RAINPROBLEMTYPE" val="MultipleChoice"/>
  <p:tag name="RAINBULLET" val="Wrong"/>
</p:tagLst>
</file>

<file path=ppt/tags/tag122.xml><?xml version="1.0" encoding="utf-8"?>
<p:tagLst xmlns:p="http://schemas.openxmlformats.org/presentationml/2006/main">
  <p:tag name="RAINPROBLEM" val="ProblemBullet"/>
  <p:tag name="RAINPROBLEMTYPE" val="MultipleChoice"/>
  <p:tag name="RAINBULLET" val="Correct"/>
</p:tagLst>
</file>

<file path=ppt/tags/tag123.xml><?xml version="1.0" encoding="utf-8"?>
<p:tagLst xmlns:p="http://schemas.openxmlformats.org/presentationml/2006/main">
  <p:tag name="RAINPROBLEM" val="ProblemBullet"/>
  <p:tag name="RAINPROBLEMTYPE" val="MultipleChoice"/>
  <p:tag name="RAINBULLET" val="Wrong"/>
</p:tagLst>
</file>

<file path=ppt/tags/tag124.xml><?xml version="1.0" encoding="utf-8"?>
<p:tagLst xmlns:p="http://schemas.openxmlformats.org/presentationml/2006/main">
  <p:tag name="RAINPROBLEM" val="ProblemBullet"/>
  <p:tag name="RAINPROBLEMTYPE" val="MultipleChoice"/>
  <p:tag name="RAINBULLET" val="Wrong"/>
</p:tagLst>
</file>

<file path=ppt/tags/tag125.xml><?xml version="1.0" encoding="utf-8"?>
<p:tagLst xmlns:p="http://schemas.openxmlformats.org/presentationml/2006/main">
  <p:tag name="RAINPROBLEM" val="ProblemSubmit"/>
  <p:tag name="RAINPROBLEMTYPE" val="MultipleChoice"/>
</p:tagLst>
</file>

<file path=ppt/tags/tag126.xml><?xml version="1.0" encoding="utf-8"?>
<p:tagLst xmlns:p="http://schemas.openxmlformats.org/presentationml/2006/main">
  <p:tag name="RAINPROBLEMTYPE" val="ProblemTypeMarker"/>
</p:tagLst>
</file>

<file path=ppt/tags/tag127.xml><?xml version="1.0" encoding="utf-8"?>
<p:tagLst xmlns:p="http://schemas.openxmlformats.org/presentationml/2006/main">
  <p:tag name="RAINPROBLEMTYPE" val="ProblemTypeMarker"/>
</p:tagLst>
</file>

<file path=ppt/tags/tag128.xml><?xml version="1.0" encoding="utf-8"?>
<p:tagLst xmlns:p="http://schemas.openxmlformats.org/presentationml/2006/main">
  <p:tag name="RAINPROBLEMTYPE" val="ProblemTypeMarker"/>
</p:tagLst>
</file>

<file path=ppt/tags/tag129.xml><?xml version="1.0" encoding="utf-8"?>
<p:tagLst xmlns:p="http://schemas.openxmlformats.org/presentationml/2006/main">
  <p:tag name="RAINPROBLEMTYPE" val="ProblemTypeMarker"/>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 val="ProblemSetting"/>
  <p:tag name="RAINPROBLEMTYPE" val="MultipleChoice"/>
</p:tagLst>
</file>

<file path=ppt/tags/tag132.xml><?xml version="1.0" encoding="utf-8"?>
<p:tagLst xmlns:p="http://schemas.openxmlformats.org/presentationml/2006/main">
  <p:tag name="RAINPROBLEM" val="MultipleChoice"/>
  <p:tag name="PROBLEMSCORE" val="1.0"/>
</p:tagLst>
</file>

<file path=ppt/tags/tag133.xml><?xml version="1.0" encoding="utf-8"?>
<p:tagLst xmlns:p="http://schemas.openxmlformats.org/presentationml/2006/main">
  <p:tag name="RAINPROBLEM" val="ProblemBody"/>
</p:tagLst>
</file>

<file path=ppt/tags/tag134.xml><?xml version="1.0" encoding="utf-8"?>
<p:tagLst xmlns:p="http://schemas.openxmlformats.org/presentationml/2006/main">
  <p:tag name="RAINPROBLEM" val="ProblemItem"/>
</p:tagLst>
</file>

<file path=ppt/tags/tag135.xml><?xml version="1.0" encoding="utf-8"?>
<p:tagLst xmlns:p="http://schemas.openxmlformats.org/presentationml/2006/main">
  <p:tag name="RAINPROBLEM" val="ProblemItem"/>
</p:tagLst>
</file>

<file path=ppt/tags/tag136.xml><?xml version="1.0" encoding="utf-8"?>
<p:tagLst xmlns:p="http://schemas.openxmlformats.org/presentationml/2006/main">
  <p:tag name="RAINPROBLEM" val="ProblemItem"/>
</p:tagLst>
</file>

<file path=ppt/tags/tag137.xml><?xml version="1.0" encoding="utf-8"?>
<p:tagLst xmlns:p="http://schemas.openxmlformats.org/presentationml/2006/main">
  <p:tag name="RAINPROBLEM" val="ProblemItem"/>
</p:tagLst>
</file>

<file path=ppt/tags/tag138.xml><?xml version="1.0" encoding="utf-8"?>
<p:tagLst xmlns:p="http://schemas.openxmlformats.org/presentationml/2006/main">
  <p:tag name="RAINPROBLEM" val="ProblemBullet"/>
  <p:tag name="RAINPROBLEMTYPE" val="MultipleChoice"/>
  <p:tag name="RAINBULLET" val="Correct"/>
</p:tagLst>
</file>

<file path=ppt/tags/tag139.xml><?xml version="1.0" encoding="utf-8"?>
<p:tagLst xmlns:p="http://schemas.openxmlformats.org/presentationml/2006/main">
  <p:tag name="RAINPROBLEM" val="ProblemBullet"/>
  <p:tag name="RAINPROBLEMTYPE" val="MultipleChoice"/>
  <p:tag name="RAINBULLET" val="Wrong"/>
</p:tagLst>
</file>

<file path=ppt/tags/tag140.xml><?xml version="1.0" encoding="utf-8"?>
<p:tagLst xmlns:p="http://schemas.openxmlformats.org/presentationml/2006/main">
  <p:tag name="RAINPROBLEM" val="ProblemBullet"/>
  <p:tag name="RAINPROBLEMTYPE" val="MultipleChoice"/>
  <p:tag name="RAINBULLET" val="Wrong"/>
</p:tagLst>
</file>

<file path=ppt/tags/tag141.xml><?xml version="1.0" encoding="utf-8"?>
<p:tagLst xmlns:p="http://schemas.openxmlformats.org/presentationml/2006/main">
  <p:tag name="RAINPROBLEM" val="ProblemBullet"/>
  <p:tag name="RAINPROBLEMTYPE" val="MultipleChoice"/>
  <p:tag name="RAINBULLET" val="Wrong"/>
</p:tagLst>
</file>

<file path=ppt/tags/tag142.xml><?xml version="1.0" encoding="utf-8"?>
<p:tagLst xmlns:p="http://schemas.openxmlformats.org/presentationml/2006/main">
  <p:tag name="RAINPROBLEM" val="ProblemSubmit"/>
  <p:tag name="RAINPROBLEMTYPE" val="MultipleChoice"/>
</p:tagLst>
</file>

<file path=ppt/tags/tag143.xml><?xml version="1.0" encoding="utf-8"?>
<p:tagLst xmlns:p="http://schemas.openxmlformats.org/presentationml/2006/main">
  <p:tag name="RAINPROBLEMTYPE" val="ProblemTypeMarker"/>
</p:tagLst>
</file>

<file path=ppt/tags/tag144.xml><?xml version="1.0" encoding="utf-8"?>
<p:tagLst xmlns:p="http://schemas.openxmlformats.org/presentationml/2006/main">
  <p:tag name="RAINPROBLEMTYPE" val="ProblemTypeMarker"/>
</p:tagLst>
</file>

<file path=ppt/tags/tag145.xml><?xml version="1.0" encoding="utf-8"?>
<p:tagLst xmlns:p="http://schemas.openxmlformats.org/presentationml/2006/main">
  <p:tag name="RAINPROBLEMTYPE" val="ProblemTypeMarker"/>
</p:tagLst>
</file>

<file path=ppt/tags/tag146.xml><?xml version="1.0" encoding="utf-8"?>
<p:tagLst xmlns:p="http://schemas.openxmlformats.org/presentationml/2006/main">
  <p:tag name="RAINPROBLEMTYPE" val="ProblemTypeMarker"/>
</p:tagLst>
</file>

<file path=ppt/tags/tag147.xml><?xml version="1.0" encoding="utf-8"?>
<p:tagLst xmlns:p="http://schemas.openxmlformats.org/presentationml/2006/main">
  <p:tag name="RAINPROBLEMTYPE" val="ProblemTypeMarker"/>
</p:tagLst>
</file>

<file path=ppt/tags/tag148.xml><?xml version="1.0" encoding="utf-8"?>
<p:tagLst xmlns:p="http://schemas.openxmlformats.org/presentationml/2006/main">
  <p:tag name="RAINPROBLEM" val="ProblemSetting"/>
  <p:tag name="RAINPROBLEMTYPE" val="MultipleChoice"/>
</p:tagLst>
</file>

<file path=ppt/tags/tag149.xml><?xml version="1.0" encoding="utf-8"?>
<p:tagLst xmlns:p="http://schemas.openxmlformats.org/presentationml/2006/main">
  <p:tag name="RAINPROBLEM" val="MultipleChoice"/>
  <p:tag name="PROBLEMSCORE" val="1.0"/>
</p:tagLst>
</file>

<file path=ppt/tags/tag150.xml><?xml version="1.0" encoding="utf-8"?>
<p:tagLst xmlns:p="http://schemas.openxmlformats.org/presentationml/2006/main">
  <p:tag name="KSO_WM_UNIT_TABLE_BEAUTIFY" val="smartTable{b99deaf7-53c2-4b99-b32b-5a9ed6a96d45}"/>
</p:tagLst>
</file>

<file path=ppt/tags/tag151.xml><?xml version="1.0" encoding="utf-8"?>
<p:tagLst xmlns:p="http://schemas.openxmlformats.org/presentationml/2006/main">
  <p:tag name="TABLE_ENDDRAG_ORIGIN_RECT" val="290*60"/>
  <p:tag name="TABLE_ENDDRAG_RECT" val="17*197*290*60"/>
</p:tagLst>
</file>

<file path=ppt/tags/tag152.xml><?xml version="1.0" encoding="utf-8"?>
<p:tagLst xmlns:p="http://schemas.openxmlformats.org/presentationml/2006/main">
  <p:tag name="TABLE_ENDDRAG_ORIGIN_RECT" val="617*213"/>
  <p:tag name="TABLE_ENDDRAG_RECT" val="51*127*617*214"/>
</p:tagLst>
</file>

<file path=ppt/tags/tag153.xml><?xml version="1.0" encoding="utf-8"?>
<p:tagLst xmlns:p="http://schemas.openxmlformats.org/presentationml/2006/main">
  <p:tag name="TABLE_ENDDRAG_ORIGIN_RECT" val="617*213"/>
  <p:tag name="TABLE_ENDDRAG_RECT" val="51*127*617*214"/>
</p:tagLst>
</file>

<file path=ppt/tags/tag154.xml><?xml version="1.0" encoding="utf-8"?>
<p:tagLst xmlns:p="http://schemas.openxmlformats.org/presentationml/2006/main">
  <p:tag name="KSO_WPP_MARK_KEY" val="1f08dce1-2fa5-485f-a486-41bebe7c4a29"/>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17721</Words>
  <Application>WPS 演示</Application>
  <PresentationFormat>全屏显示(16:9)</PresentationFormat>
  <Paragraphs>2570</Paragraphs>
  <Slides>139</Slides>
  <Notes>31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139</vt:i4>
      </vt:variant>
    </vt:vector>
  </HeadingPairs>
  <TitlesOfParts>
    <vt:vector size="162" baseType="lpstr">
      <vt:lpstr>Arial</vt:lpstr>
      <vt:lpstr>宋体</vt:lpstr>
      <vt:lpstr>Wingdings</vt:lpstr>
      <vt:lpstr>Wingdings 3</vt:lpstr>
      <vt:lpstr>微软雅黑</vt:lpstr>
      <vt:lpstr>华康俪金黑W8(P)</vt:lpstr>
      <vt:lpstr>黑体</vt:lpstr>
      <vt:lpstr>经典繁仿黑</vt:lpstr>
      <vt:lpstr>Arial Narrow</vt:lpstr>
      <vt:lpstr>Times New Roman</vt:lpstr>
      <vt:lpstr>华文中宋</vt:lpstr>
      <vt:lpstr>Arial Black</vt:lpstr>
      <vt:lpstr>Arial Unicode MS</vt:lpstr>
      <vt:lpstr>等线</vt:lpstr>
      <vt:lpstr>楷体_GB2312</vt:lpstr>
      <vt:lpstr>新宋体</vt:lpstr>
      <vt:lpstr>华文细黑</vt:lpstr>
      <vt:lpstr>隶书</vt:lpstr>
      <vt:lpstr>Wingdings</vt:lpstr>
      <vt:lpstr>积分</vt:lpstr>
      <vt:lpstr>Visio.Drawing.11</vt:lpstr>
      <vt:lpstr>Visio.Drawing.11</vt:lpstr>
      <vt:lpstr>Visio.Drawing.11</vt:lpstr>
      <vt:lpstr>软件工程 ——需求分析4</vt:lpstr>
      <vt:lpstr>前情回顾</vt:lpstr>
      <vt:lpstr>PowerPoint 演示文稿</vt:lpstr>
      <vt:lpstr>面向对象建模</vt:lpstr>
      <vt:lpstr>对象模型</vt:lpstr>
      <vt:lpstr>PowerPoint 演示文稿</vt:lpstr>
      <vt:lpstr>建立领域模型</vt:lpstr>
      <vt:lpstr>1 什么是领域模型（概念模型）</vt:lpstr>
      <vt:lpstr>1 什么是领域模型（概念模型）</vt:lpstr>
      <vt:lpstr>统一方法的OOA模型</vt:lpstr>
      <vt:lpstr>领域模型示例</vt:lpstr>
      <vt:lpstr>领域模型的作用</vt:lpstr>
      <vt:lpstr>2.如何构建领域模型</vt:lpstr>
      <vt:lpstr>2.1 捕获业务概念</vt:lpstr>
      <vt:lpstr>2.2 辨析业务概念</vt:lpstr>
      <vt:lpstr>PowerPoint 演示文稿</vt:lpstr>
      <vt:lpstr>2.3 持续演进业务概念</vt:lpstr>
      <vt:lpstr>2.3 持续演进业务概念</vt:lpstr>
      <vt:lpstr>如何构建领域模型</vt:lpstr>
      <vt:lpstr>领域模型的三大模型</vt:lpstr>
      <vt:lpstr>用例模型到概念模型的转换</vt:lpstr>
      <vt:lpstr>2 什么是类图</vt:lpstr>
      <vt:lpstr>类图的作用</vt:lpstr>
      <vt:lpstr>3 类图的应用</vt:lpstr>
      <vt:lpstr>4 类图的分类</vt:lpstr>
      <vt:lpstr>5 类图的组成</vt:lpstr>
      <vt:lpstr>PowerPoint 演示文稿</vt:lpstr>
      <vt:lpstr>类图的组成</vt:lpstr>
      <vt:lpstr>类图的组成</vt:lpstr>
      <vt:lpstr>类图的组成</vt:lpstr>
      <vt:lpstr>类图的抽象层次</vt:lpstr>
      <vt:lpstr>类图的三个层次的例子</vt:lpstr>
      <vt:lpstr>类的名字</vt:lpstr>
      <vt:lpstr>类的属性</vt:lpstr>
      <vt:lpstr>类的操作</vt:lpstr>
      <vt:lpstr>关系（Relationship）</vt:lpstr>
      <vt:lpstr>1 依赖（Dependency）</vt:lpstr>
      <vt:lpstr>依赖关系</vt:lpstr>
      <vt:lpstr>2 泛化（Generalization）</vt:lpstr>
      <vt:lpstr>抽象类和多重继承</vt:lpstr>
      <vt:lpstr>3 实现（Realization）</vt:lpstr>
      <vt:lpstr>4 关联（Association）</vt:lpstr>
      <vt:lpstr>关联关系</vt:lpstr>
      <vt:lpstr>关联</vt:lpstr>
      <vt:lpstr>关联关系的动作和多重性</vt:lpstr>
      <vt:lpstr>重数性关联</vt:lpstr>
      <vt:lpstr>关联关系的角色和关联类</vt:lpstr>
      <vt:lpstr>PowerPoint 演示文稿</vt:lpstr>
      <vt:lpstr>PowerPoint 演示文稿</vt:lpstr>
      <vt:lpstr>PowerPoint 演示文稿</vt:lpstr>
      <vt:lpstr>两种特殊的关联关系</vt:lpstr>
      <vt:lpstr>1） 聚合关系</vt:lpstr>
      <vt:lpstr>2） 合成（组合）关系</vt:lpstr>
      <vt:lpstr>关联与聚合、合成的区别</vt:lpstr>
      <vt:lpstr>PowerPoint 演示文稿</vt:lpstr>
      <vt:lpstr>PowerPoint 演示文稿</vt:lpstr>
      <vt:lpstr>PowerPoint 演示文稿</vt:lpstr>
      <vt:lpstr>PowerPoint 演示文稿</vt:lpstr>
      <vt:lpstr>建立类图的一般步骤</vt:lpstr>
      <vt:lpstr>确定类与对象</vt:lpstr>
      <vt:lpstr>确定类和对象</vt:lpstr>
      <vt:lpstr>筛选类</vt:lpstr>
      <vt:lpstr>筛选类</vt:lpstr>
      <vt:lpstr>确定属性</vt:lpstr>
      <vt:lpstr>确定属性</vt:lpstr>
      <vt:lpstr>发现类之间的关系</vt:lpstr>
      <vt:lpstr>确定关联</vt:lpstr>
      <vt:lpstr>筛选关联</vt:lpstr>
      <vt:lpstr>识别继承关系</vt:lpstr>
      <vt:lpstr>举例：ATM机的对象建模过程</vt:lpstr>
      <vt:lpstr>网上报名系统的领域建模</vt:lpstr>
      <vt:lpstr>网上报名系统的领域建模</vt:lpstr>
      <vt:lpstr>网上报名系统的领域建模</vt:lpstr>
      <vt:lpstr>网上报名系统的领域建模</vt:lpstr>
      <vt:lpstr>网上报名系统的领域建模</vt:lpstr>
      <vt:lpstr>网上报名系统的领域建模</vt:lpstr>
      <vt:lpstr>网上报名系统的领域建模</vt:lpstr>
      <vt:lpstr>网上报名系统的领域建模</vt:lpstr>
      <vt:lpstr>类的层次</vt:lpstr>
      <vt:lpstr>PowerPoint 演示文稿</vt:lpstr>
      <vt:lpstr>PowerPoint 演示文稿</vt:lpstr>
      <vt:lpstr>识别类的案例</vt:lpstr>
      <vt:lpstr>例：银行储蓄管理系统划分出的视图模型</vt:lpstr>
      <vt:lpstr>银行储蓄管理系统划分出的逻辑模型</vt:lpstr>
      <vt:lpstr>银行储蓄管理系统划分出的实体模型</vt:lpstr>
      <vt:lpstr>类图实例</vt:lpstr>
      <vt:lpstr>PowerPoint 演示文稿</vt:lpstr>
      <vt:lpstr>PowerPoint 演示文稿</vt:lpstr>
      <vt:lpstr>PowerPoint 演示文稿</vt:lpstr>
      <vt:lpstr>本次课程速递</vt:lpstr>
      <vt:lpstr>PowerPoint 演示文稿</vt:lpstr>
      <vt:lpstr>需求的层次</vt:lpstr>
      <vt:lpstr>非功能性需求的类型</vt:lpstr>
      <vt:lpstr>非功能性需求的几个方面</vt:lpstr>
      <vt:lpstr>1 可靠性——安全性、事务性、稳定性</vt:lpstr>
      <vt:lpstr>1 可靠性——安全性、事务性、稳定性</vt:lpstr>
      <vt:lpstr>1 可靠性——安全性、事务性、稳定性</vt:lpstr>
      <vt:lpstr>举例：网上自助订餐系统非功能性需求（节选）</vt:lpstr>
      <vt:lpstr>PowerPoint 演示文稿</vt:lpstr>
      <vt:lpstr>2 可用性</vt:lpstr>
      <vt:lpstr>3 有效性——性能、可伸缩性、可扩展性</vt:lpstr>
      <vt:lpstr>4 可移植性</vt:lpstr>
      <vt:lpstr>总结一下</vt:lpstr>
      <vt:lpstr>PowerPoint 演示文稿</vt:lpstr>
      <vt:lpstr>PowerPoint 演示文稿</vt:lpstr>
      <vt:lpstr>PowerPoint 演示文稿</vt:lpstr>
      <vt:lpstr>获取非功能需求</vt:lpstr>
      <vt:lpstr>获取非功能需求</vt:lpstr>
      <vt:lpstr>获取非功能需求</vt:lpstr>
      <vt:lpstr>获取非功能需求</vt:lpstr>
      <vt:lpstr>PowerPoint 演示文稿</vt:lpstr>
      <vt:lpstr>PowerPoint 演示文稿</vt:lpstr>
      <vt:lpstr>如何在系统中验证？</vt:lpstr>
      <vt:lpstr>进一步分析系统的运行环境</vt:lpstr>
      <vt:lpstr>与用户确定最后交付的内容</vt:lpstr>
      <vt:lpstr>PowerPoint 演示文稿</vt:lpstr>
      <vt:lpstr>需求规格说明书的重要作用</vt:lpstr>
      <vt:lpstr>需求规格说明书——重要的过程文档</vt:lpstr>
      <vt:lpstr>需求规格说明书文档模板</vt:lpstr>
      <vt:lpstr>高质量需求规格说明的评价标准</vt:lpstr>
      <vt:lpstr>需求分析文档实例</vt:lpstr>
      <vt:lpstr>需求文档撰写的注意事项</vt:lpstr>
      <vt:lpstr>需求管理</vt:lpstr>
      <vt:lpstr>需求变更控制</vt:lpstr>
      <vt:lpstr>需求变更控制——控制项目范围的扩展</vt:lpstr>
      <vt:lpstr>需求变更控制——建立变更控制的策略</vt:lpstr>
      <vt:lpstr>需求变更控制——实施变更控制的步骤</vt:lpstr>
      <vt:lpstr>需求变更控制——实施变更控制的步骤</vt:lpstr>
      <vt:lpstr>需求规格说明文档的版本控制</vt:lpstr>
      <vt:lpstr>需求变更状态的跟踪</vt:lpstr>
      <vt:lpstr>需求跟踪</vt:lpstr>
      <vt:lpstr>需求跟踪</vt:lpstr>
      <vt:lpstr>需求跟踪技术</vt:lpstr>
      <vt:lpstr>需求跟踪技术</vt:lpstr>
      <vt:lpstr>需求跟踪技术</vt:lpstr>
      <vt:lpstr>需求跟踪技术</vt:lpstr>
      <vt:lpstr>需求阶段工作任务总结</vt:lpstr>
      <vt:lpstr>本课小结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966</cp:revision>
  <dcterms:created xsi:type="dcterms:W3CDTF">2020-02-07T06:58:00Z</dcterms:created>
  <dcterms:modified xsi:type="dcterms:W3CDTF">2025-11-18T12:33:22Z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046059D6B18441B186796633A2151D6F_12</vt:lpwstr>
  </property>
  <property fmtid="{D5CDD505-2E9C-101B-9397-08002B2CF9AE}" pid="3" name="KSOProductBuildVer">
    <vt:lpwstr>2052-12.1.0.23542</vt:lpwstr>
  </property>
</Properties>
</file>