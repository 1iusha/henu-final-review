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wdp" ContentType="image/vnd.ms-photo"/>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46"/>
  </p:handoutMasterIdLst>
  <p:sldIdLst>
    <p:sldId id="256" r:id="rId3"/>
    <p:sldId id="1577" r:id="rId5"/>
    <p:sldId id="1462" r:id="rId6"/>
    <p:sldId id="1579" r:id="rId7"/>
    <p:sldId id="1580" r:id="rId8"/>
    <p:sldId id="1581" r:id="rId9"/>
    <p:sldId id="1582" r:id="rId10"/>
    <p:sldId id="1583" r:id="rId11"/>
    <p:sldId id="1584" r:id="rId12"/>
    <p:sldId id="1585" r:id="rId13"/>
    <p:sldId id="1586" r:id="rId14"/>
    <p:sldId id="1587" r:id="rId15"/>
    <p:sldId id="1588" r:id="rId16"/>
    <p:sldId id="1589" r:id="rId17"/>
    <p:sldId id="1590" r:id="rId18"/>
    <p:sldId id="1591" r:id="rId19"/>
    <p:sldId id="1592" r:id="rId20"/>
    <p:sldId id="1593" r:id="rId21"/>
    <p:sldId id="1594" r:id="rId22"/>
    <p:sldId id="1595" r:id="rId23"/>
    <p:sldId id="1596" r:id="rId24"/>
    <p:sldId id="1597" r:id="rId25"/>
    <p:sldId id="1598" r:id="rId26"/>
    <p:sldId id="1599" r:id="rId27"/>
    <p:sldId id="1600" r:id="rId28"/>
    <p:sldId id="1601" r:id="rId29"/>
    <p:sldId id="1602" r:id="rId30"/>
    <p:sldId id="1126" r:id="rId31"/>
    <p:sldId id="1127" r:id="rId32"/>
    <p:sldId id="1463" r:id="rId33"/>
    <p:sldId id="1129" r:id="rId34"/>
    <p:sldId id="1130" r:id="rId35"/>
    <p:sldId id="1131" r:id="rId36"/>
    <p:sldId id="1132" r:id="rId37"/>
    <p:sldId id="1133" r:id="rId38"/>
    <p:sldId id="1134" r:id="rId39"/>
    <p:sldId id="1135" r:id="rId40"/>
    <p:sldId id="1136" r:id="rId41"/>
    <p:sldId id="1137" r:id="rId42"/>
    <p:sldId id="1138" r:id="rId43"/>
    <p:sldId id="1139" r:id="rId44"/>
    <p:sldId id="1140" r:id="rId45"/>
    <p:sldId id="1141" r:id="rId46"/>
    <p:sldId id="1142" r:id="rId47"/>
    <p:sldId id="1464" r:id="rId48"/>
    <p:sldId id="1143" r:id="rId49"/>
    <p:sldId id="1144" r:id="rId50"/>
    <p:sldId id="1145" r:id="rId51"/>
    <p:sldId id="1146" r:id="rId52"/>
    <p:sldId id="1147" r:id="rId53"/>
    <p:sldId id="1465" r:id="rId54"/>
    <p:sldId id="1148" r:id="rId55"/>
    <p:sldId id="1149" r:id="rId56"/>
    <p:sldId id="1150" r:id="rId57"/>
    <p:sldId id="1151" r:id="rId58"/>
    <p:sldId id="1152" r:id="rId59"/>
    <p:sldId id="1153" r:id="rId60"/>
    <p:sldId id="1154" r:id="rId61"/>
    <p:sldId id="1155" r:id="rId62"/>
    <p:sldId id="1156" r:id="rId63"/>
    <p:sldId id="1157" r:id="rId64"/>
    <p:sldId id="1158" r:id="rId65"/>
    <p:sldId id="1159" r:id="rId66"/>
    <p:sldId id="1160" r:id="rId67"/>
    <p:sldId id="1161" r:id="rId68"/>
    <p:sldId id="1162" r:id="rId69"/>
    <p:sldId id="1163" r:id="rId70"/>
    <p:sldId id="1164" r:id="rId71"/>
    <p:sldId id="1165" r:id="rId72"/>
    <p:sldId id="1166" r:id="rId73"/>
    <p:sldId id="1167" r:id="rId74"/>
    <p:sldId id="1168" r:id="rId75"/>
    <p:sldId id="1169" r:id="rId76"/>
    <p:sldId id="1170" r:id="rId77"/>
    <p:sldId id="1171" r:id="rId78"/>
    <p:sldId id="1172" r:id="rId79"/>
    <p:sldId id="1173" r:id="rId80"/>
    <p:sldId id="1174" r:id="rId81"/>
    <p:sldId id="1175" r:id="rId82"/>
    <p:sldId id="1176" r:id="rId83"/>
    <p:sldId id="1177" r:id="rId84"/>
    <p:sldId id="1178" r:id="rId85"/>
    <p:sldId id="1466" r:id="rId86"/>
    <p:sldId id="1467" r:id="rId87"/>
    <p:sldId id="1468" r:id="rId88"/>
    <p:sldId id="1469" r:id="rId89"/>
    <p:sldId id="1470" r:id="rId90"/>
    <p:sldId id="1471" r:id="rId91"/>
    <p:sldId id="1472" r:id="rId92"/>
    <p:sldId id="1473" r:id="rId93"/>
    <p:sldId id="1474" r:id="rId94"/>
    <p:sldId id="1475" r:id="rId95"/>
    <p:sldId id="1476" r:id="rId96"/>
    <p:sldId id="1234" r:id="rId97"/>
    <p:sldId id="1235" r:id="rId98"/>
    <p:sldId id="1236" r:id="rId99"/>
    <p:sldId id="1237" r:id="rId100"/>
    <p:sldId id="1238" r:id="rId101"/>
    <p:sldId id="1239" r:id="rId102"/>
    <p:sldId id="1240" r:id="rId103"/>
    <p:sldId id="1241" r:id="rId104"/>
    <p:sldId id="1242" r:id="rId105"/>
    <p:sldId id="1243" r:id="rId106"/>
    <p:sldId id="1244" r:id="rId107"/>
    <p:sldId id="1245" r:id="rId108"/>
    <p:sldId id="1246" r:id="rId109"/>
    <p:sldId id="1247" r:id="rId110"/>
    <p:sldId id="1248" r:id="rId111"/>
    <p:sldId id="1249" r:id="rId112"/>
    <p:sldId id="1250" r:id="rId113"/>
    <p:sldId id="1251" r:id="rId114"/>
    <p:sldId id="1252" r:id="rId115"/>
    <p:sldId id="1253" r:id="rId116"/>
    <p:sldId id="1254" r:id="rId117"/>
    <p:sldId id="1255" r:id="rId118"/>
    <p:sldId id="1256" r:id="rId119"/>
    <p:sldId id="1257" r:id="rId120"/>
    <p:sldId id="1258" r:id="rId121"/>
    <p:sldId id="1259" r:id="rId122"/>
    <p:sldId id="1260" r:id="rId123"/>
    <p:sldId id="1261" r:id="rId124"/>
    <p:sldId id="1262" r:id="rId125"/>
    <p:sldId id="1263" r:id="rId126"/>
    <p:sldId id="1264" r:id="rId127"/>
    <p:sldId id="1265" r:id="rId128"/>
    <p:sldId id="1266" r:id="rId129"/>
    <p:sldId id="1267" r:id="rId130"/>
    <p:sldId id="1268" r:id="rId131"/>
    <p:sldId id="1269" r:id="rId132"/>
    <p:sldId id="1270" r:id="rId133"/>
    <p:sldId id="1271" r:id="rId134"/>
    <p:sldId id="1272" r:id="rId135"/>
    <p:sldId id="1273" r:id="rId136"/>
    <p:sldId id="1274" r:id="rId137"/>
    <p:sldId id="1275" r:id="rId138"/>
    <p:sldId id="1276" r:id="rId139"/>
    <p:sldId id="1277" r:id="rId140"/>
    <p:sldId id="1278" r:id="rId141"/>
    <p:sldId id="1279" r:id="rId142"/>
    <p:sldId id="1603" r:id="rId143"/>
    <p:sldId id="1280" r:id="rId144"/>
    <p:sldId id="446" r:id="rId145"/>
  </p:sldIdLst>
  <p:sldSz cx="9144000" cy="5143500" type="screen16x9"/>
  <p:notesSz cx="6858000" cy="9144000"/>
  <p:custDataLst>
    <p:tags r:id="rId15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7" autoAdjust="0"/>
    <p:restoredTop sz="76153" autoAdjust="0"/>
  </p:normalViewPr>
  <p:slideViewPr>
    <p:cSldViewPr snapToGrid="0" showGuides="1">
      <p:cViewPr varScale="1">
        <p:scale>
          <a:sx n="116" d="100"/>
          <a:sy n="116" d="100"/>
        </p:scale>
        <p:origin x="1470" y="96"/>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1" d="100"/>
          <a:sy n="51" d="100"/>
        </p:scale>
        <p:origin x="776" y="5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0" Type="http://schemas.openxmlformats.org/officeDocument/2006/relationships/tags" Target="tags/tag3.xml"/><Relationship Id="rId15" Type="http://schemas.openxmlformats.org/officeDocument/2006/relationships/slide" Target="slides/slide12.xml"/><Relationship Id="rId149" Type="http://schemas.openxmlformats.org/officeDocument/2006/relationships/tableStyles" Target="tableStyles.xml"/><Relationship Id="rId148" Type="http://schemas.openxmlformats.org/officeDocument/2006/relationships/viewProps" Target="viewProps.xml"/><Relationship Id="rId147" Type="http://schemas.openxmlformats.org/officeDocument/2006/relationships/presProps" Target="presProps.xml"/><Relationship Id="rId146" Type="http://schemas.openxmlformats.org/officeDocument/2006/relationships/handoutMaster" Target="handoutMasters/handoutMaster1.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E93E2A6-6AD1-4A77-986F-91E74C7D0128}" type="doc">
      <dgm:prSet loTypeId="urn:microsoft.com/office/officeart/2005/8/layout/hierarchy1#1" loCatId="hierarchy" qsTypeId="urn:microsoft.com/office/officeart/2005/8/quickstyle/3d1#1" qsCatId="3D" csTypeId="urn:microsoft.com/office/officeart/2005/8/colors/colorful1#1" csCatId="colorful" phldr="1"/>
      <dgm:spPr/>
      <dgm:t>
        <a:bodyPr/>
        <a:lstStyle/>
        <a:p>
          <a:endParaRPr lang="zh-CN" altLang="en-US"/>
        </a:p>
      </dgm:t>
    </dgm:pt>
    <dgm:pt modelId="{A4EA3067-E201-44B3-9325-9C017941EC12}">
      <dgm:prSet phldrT="[文本]"/>
      <dgm:spPr/>
      <dgm:t>
        <a:bodyPr/>
        <a:lstStyle/>
        <a:p>
          <a:r>
            <a:rPr lang="zh-CN" altLang="zh-CN" b="1" dirty="0" smtClean="0">
              <a:latin typeface="+mj-ea"/>
              <a:ea typeface="+mj-ea"/>
            </a:rPr>
            <a:t>数据库结构设计</a:t>
          </a:r>
          <a:endParaRPr lang="zh-CN" altLang="en-US" dirty="0">
            <a:latin typeface="+mj-ea"/>
            <a:ea typeface="+mj-ea"/>
          </a:endParaRPr>
        </a:p>
      </dgm:t>
    </dgm:pt>
    <dgm:pt modelId="{89D7852C-D2F7-4C1D-9920-91670202E19B}" cxnId="{B7A372DE-06B4-4758-9A78-E2B017CC7021}" type="parTrans">
      <dgm:prSet/>
      <dgm:spPr/>
      <dgm:t>
        <a:bodyPr/>
        <a:lstStyle/>
        <a:p>
          <a:endParaRPr lang="zh-CN" altLang="en-US">
            <a:latin typeface="+mj-ea"/>
            <a:ea typeface="+mj-ea"/>
          </a:endParaRPr>
        </a:p>
      </dgm:t>
    </dgm:pt>
    <dgm:pt modelId="{D59B4284-322B-4B54-B71D-8C49546A0E1C}" cxnId="{B7A372DE-06B4-4758-9A78-E2B017CC7021}" type="sibTrans">
      <dgm:prSet/>
      <dgm:spPr/>
      <dgm:t>
        <a:bodyPr/>
        <a:lstStyle/>
        <a:p>
          <a:endParaRPr lang="zh-CN" altLang="en-US">
            <a:latin typeface="+mj-ea"/>
            <a:ea typeface="+mj-ea"/>
          </a:endParaRPr>
        </a:p>
      </dgm:t>
    </dgm:pt>
    <dgm:pt modelId="{1D073AA4-321C-4435-9AC5-67BB57C0B0BF}">
      <dgm:prSet phldrT="[文本]"/>
      <dgm:spPr/>
      <dgm:t>
        <a:bodyPr/>
        <a:lstStyle/>
        <a:p>
          <a:r>
            <a:rPr lang="zh-CN" altLang="zh-CN" dirty="0" smtClean="0">
              <a:latin typeface="+mj-ea"/>
              <a:ea typeface="+mj-ea"/>
            </a:rPr>
            <a:t>概念结构设计</a:t>
          </a:r>
          <a:endParaRPr lang="zh-CN" altLang="en-US" dirty="0">
            <a:latin typeface="+mj-ea"/>
            <a:ea typeface="+mj-ea"/>
          </a:endParaRPr>
        </a:p>
      </dgm:t>
    </dgm:pt>
    <dgm:pt modelId="{3633E3D3-9410-45E2-B349-72CB3248E110}" cxnId="{870BCF6E-0E0B-4649-AEC4-895AAB910499}" type="parTrans">
      <dgm:prSet/>
      <dgm:spPr/>
      <dgm:t>
        <a:bodyPr/>
        <a:lstStyle/>
        <a:p>
          <a:endParaRPr lang="zh-CN" altLang="en-US">
            <a:latin typeface="+mj-ea"/>
            <a:ea typeface="+mj-ea"/>
          </a:endParaRPr>
        </a:p>
      </dgm:t>
    </dgm:pt>
    <dgm:pt modelId="{C64D0686-A45C-4922-9212-3CF5F5C88268}" cxnId="{870BCF6E-0E0B-4649-AEC4-895AAB910499}" type="sibTrans">
      <dgm:prSet/>
      <dgm:spPr/>
      <dgm:t>
        <a:bodyPr/>
        <a:lstStyle/>
        <a:p>
          <a:endParaRPr lang="zh-CN" altLang="en-US">
            <a:latin typeface="+mj-ea"/>
            <a:ea typeface="+mj-ea"/>
          </a:endParaRPr>
        </a:p>
      </dgm:t>
    </dgm:pt>
    <dgm:pt modelId="{46B49C93-FE12-4E2E-BBB2-85DB3E974791}">
      <dgm:prSet phldrT="[文本]"/>
      <dgm:spPr/>
      <dgm:t>
        <a:bodyPr/>
        <a:lstStyle/>
        <a:p>
          <a:r>
            <a:rPr lang="zh-CN" altLang="zh-CN" dirty="0" smtClean="0">
              <a:latin typeface="+mj-ea"/>
              <a:ea typeface="+mj-ea"/>
            </a:rPr>
            <a:t>逻辑结构设计</a:t>
          </a:r>
          <a:endParaRPr lang="zh-CN" altLang="en-US" dirty="0">
            <a:latin typeface="+mj-ea"/>
            <a:ea typeface="+mj-ea"/>
          </a:endParaRPr>
        </a:p>
      </dgm:t>
    </dgm:pt>
    <dgm:pt modelId="{A34C0B48-C993-44AB-A89F-1150DD542AA0}" cxnId="{49C9F05B-538C-4D14-8350-1EE2FA85F95F}" type="parTrans">
      <dgm:prSet/>
      <dgm:spPr/>
      <dgm:t>
        <a:bodyPr/>
        <a:lstStyle/>
        <a:p>
          <a:endParaRPr lang="zh-CN" altLang="en-US">
            <a:latin typeface="+mj-ea"/>
            <a:ea typeface="+mj-ea"/>
          </a:endParaRPr>
        </a:p>
      </dgm:t>
    </dgm:pt>
    <dgm:pt modelId="{B87408D2-7293-498F-987B-324456F7C0A9}" cxnId="{49C9F05B-538C-4D14-8350-1EE2FA85F95F}" type="sibTrans">
      <dgm:prSet/>
      <dgm:spPr/>
      <dgm:t>
        <a:bodyPr/>
        <a:lstStyle/>
        <a:p>
          <a:endParaRPr lang="zh-CN" altLang="en-US">
            <a:latin typeface="+mj-ea"/>
            <a:ea typeface="+mj-ea"/>
          </a:endParaRPr>
        </a:p>
      </dgm:t>
    </dgm:pt>
    <dgm:pt modelId="{715C97FE-FD4F-4EF3-BC42-2F0D010E1424}">
      <dgm:prSet/>
      <dgm:spPr/>
      <dgm:t>
        <a:bodyPr/>
        <a:lstStyle/>
        <a:p>
          <a:r>
            <a:rPr lang="zh-CN" altLang="zh-CN" dirty="0" smtClean="0">
              <a:latin typeface="+mj-ea"/>
              <a:ea typeface="+mj-ea"/>
            </a:rPr>
            <a:t>物理结构设计</a:t>
          </a:r>
          <a:endParaRPr lang="zh-CN" altLang="en-US" dirty="0">
            <a:latin typeface="+mj-ea"/>
            <a:ea typeface="+mj-ea"/>
          </a:endParaRPr>
        </a:p>
      </dgm:t>
    </dgm:pt>
    <dgm:pt modelId="{70CB9D8B-665F-49CC-95CD-DE85BAF3E555}" cxnId="{4EF33BA6-8F7B-4FEE-A4C0-DF26F0C28DB7}" type="parTrans">
      <dgm:prSet/>
      <dgm:spPr/>
      <dgm:t>
        <a:bodyPr/>
        <a:lstStyle/>
        <a:p>
          <a:endParaRPr lang="zh-CN" altLang="en-US">
            <a:latin typeface="+mj-ea"/>
            <a:ea typeface="+mj-ea"/>
          </a:endParaRPr>
        </a:p>
      </dgm:t>
    </dgm:pt>
    <dgm:pt modelId="{167058C3-DE65-45E7-984F-20ACBDEB8BC4}" cxnId="{4EF33BA6-8F7B-4FEE-A4C0-DF26F0C28DB7}" type="sibTrans">
      <dgm:prSet/>
      <dgm:spPr/>
      <dgm:t>
        <a:bodyPr/>
        <a:lstStyle/>
        <a:p>
          <a:endParaRPr lang="zh-CN" altLang="en-US">
            <a:latin typeface="+mj-ea"/>
            <a:ea typeface="+mj-ea"/>
          </a:endParaRPr>
        </a:p>
      </dgm:t>
    </dgm:pt>
    <dgm:pt modelId="{6E366258-FE8D-4E64-8CC2-86AF3A16A0A0}" type="pres">
      <dgm:prSet presAssocID="{9E93E2A6-6AD1-4A77-986F-91E74C7D0128}" presName="hierChild1" presStyleCnt="0">
        <dgm:presLayoutVars>
          <dgm:chPref val="1"/>
          <dgm:dir/>
          <dgm:animOne val="branch"/>
          <dgm:animLvl val="lvl"/>
          <dgm:resizeHandles/>
        </dgm:presLayoutVars>
      </dgm:prSet>
      <dgm:spPr/>
      <dgm:t>
        <a:bodyPr/>
        <a:lstStyle/>
        <a:p>
          <a:endParaRPr lang="zh-CN" altLang="en-US"/>
        </a:p>
      </dgm:t>
    </dgm:pt>
    <dgm:pt modelId="{675A4A35-6D3B-435B-9AEC-74C9C297C6F9}" type="pres">
      <dgm:prSet presAssocID="{A4EA3067-E201-44B3-9325-9C017941EC12}" presName="hierRoot1" presStyleCnt="0"/>
      <dgm:spPr/>
      <dgm:t>
        <a:bodyPr/>
        <a:lstStyle/>
        <a:p>
          <a:endParaRPr lang="zh-CN" altLang="en-US"/>
        </a:p>
      </dgm:t>
    </dgm:pt>
    <dgm:pt modelId="{31713AFA-3232-4BBB-8572-F57C12F6F226}" type="pres">
      <dgm:prSet presAssocID="{A4EA3067-E201-44B3-9325-9C017941EC12}" presName="composite" presStyleCnt="0"/>
      <dgm:spPr/>
      <dgm:t>
        <a:bodyPr/>
        <a:lstStyle/>
        <a:p>
          <a:endParaRPr lang="zh-CN" altLang="en-US"/>
        </a:p>
      </dgm:t>
    </dgm:pt>
    <dgm:pt modelId="{04AAA6CA-DAF8-4167-ABA1-9EFD081FC14E}" type="pres">
      <dgm:prSet presAssocID="{A4EA3067-E201-44B3-9325-9C017941EC12}" presName="background" presStyleLbl="node0" presStyleIdx="0" presStyleCnt="1"/>
      <dgm:spPr/>
      <dgm:t>
        <a:bodyPr/>
        <a:lstStyle/>
        <a:p>
          <a:endParaRPr lang="zh-CN" altLang="en-US"/>
        </a:p>
      </dgm:t>
    </dgm:pt>
    <dgm:pt modelId="{60B61FE9-4998-4E0D-AD7A-8F510B26F58A}" type="pres">
      <dgm:prSet presAssocID="{A4EA3067-E201-44B3-9325-9C017941EC12}" presName="text" presStyleLbl="fgAcc0" presStyleIdx="0" presStyleCnt="1" custScaleX="99017" custScaleY="50499">
        <dgm:presLayoutVars>
          <dgm:chPref val="3"/>
        </dgm:presLayoutVars>
      </dgm:prSet>
      <dgm:spPr/>
      <dgm:t>
        <a:bodyPr/>
        <a:lstStyle/>
        <a:p>
          <a:endParaRPr lang="zh-CN" altLang="en-US"/>
        </a:p>
      </dgm:t>
    </dgm:pt>
    <dgm:pt modelId="{F004C56F-E628-4B73-A2B8-BA4853ED7D8F}" type="pres">
      <dgm:prSet presAssocID="{A4EA3067-E201-44B3-9325-9C017941EC12}" presName="hierChild2" presStyleCnt="0"/>
      <dgm:spPr/>
      <dgm:t>
        <a:bodyPr/>
        <a:lstStyle/>
        <a:p>
          <a:endParaRPr lang="zh-CN" altLang="en-US"/>
        </a:p>
      </dgm:t>
    </dgm:pt>
    <dgm:pt modelId="{DAEA805F-D571-477F-8D19-9DAEC31723E9}" type="pres">
      <dgm:prSet presAssocID="{3633E3D3-9410-45E2-B349-72CB3248E110}" presName="Name10" presStyleLbl="parChTrans1D2" presStyleIdx="0" presStyleCnt="3"/>
      <dgm:spPr/>
      <dgm:t>
        <a:bodyPr/>
        <a:lstStyle/>
        <a:p>
          <a:endParaRPr lang="zh-CN" altLang="en-US"/>
        </a:p>
      </dgm:t>
    </dgm:pt>
    <dgm:pt modelId="{D3475B1B-BEEE-46A0-BEC0-DC0D25E5666F}" type="pres">
      <dgm:prSet presAssocID="{1D073AA4-321C-4435-9AC5-67BB57C0B0BF}" presName="hierRoot2" presStyleCnt="0"/>
      <dgm:spPr/>
      <dgm:t>
        <a:bodyPr/>
        <a:lstStyle/>
        <a:p>
          <a:endParaRPr lang="zh-CN" altLang="en-US"/>
        </a:p>
      </dgm:t>
    </dgm:pt>
    <dgm:pt modelId="{7497B7D9-EDB4-4C8A-885B-4EA18E283E0A}" type="pres">
      <dgm:prSet presAssocID="{1D073AA4-321C-4435-9AC5-67BB57C0B0BF}" presName="composite2" presStyleCnt="0"/>
      <dgm:spPr/>
      <dgm:t>
        <a:bodyPr/>
        <a:lstStyle/>
        <a:p>
          <a:endParaRPr lang="zh-CN" altLang="en-US"/>
        </a:p>
      </dgm:t>
    </dgm:pt>
    <dgm:pt modelId="{0EBA5795-3D3C-4A0D-9180-F1A53B6F78B8}" type="pres">
      <dgm:prSet presAssocID="{1D073AA4-321C-4435-9AC5-67BB57C0B0BF}" presName="background2" presStyleLbl="node2" presStyleIdx="0" presStyleCnt="3"/>
      <dgm:spPr/>
      <dgm:t>
        <a:bodyPr/>
        <a:lstStyle/>
        <a:p>
          <a:endParaRPr lang="zh-CN" altLang="en-US"/>
        </a:p>
      </dgm:t>
    </dgm:pt>
    <dgm:pt modelId="{0F3ADCB2-701A-4880-B89A-22BC91A02216}" type="pres">
      <dgm:prSet presAssocID="{1D073AA4-321C-4435-9AC5-67BB57C0B0BF}" presName="text2" presStyleLbl="fgAcc2" presStyleIdx="0" presStyleCnt="3" custScaleX="21527" custScaleY="205335">
        <dgm:presLayoutVars>
          <dgm:chPref val="3"/>
        </dgm:presLayoutVars>
      </dgm:prSet>
      <dgm:spPr/>
      <dgm:t>
        <a:bodyPr/>
        <a:lstStyle/>
        <a:p>
          <a:endParaRPr lang="zh-CN" altLang="en-US"/>
        </a:p>
      </dgm:t>
    </dgm:pt>
    <dgm:pt modelId="{FA58D39D-85B9-49BA-BD2E-7AF1872502AC}" type="pres">
      <dgm:prSet presAssocID="{1D073AA4-321C-4435-9AC5-67BB57C0B0BF}" presName="hierChild3" presStyleCnt="0"/>
      <dgm:spPr/>
      <dgm:t>
        <a:bodyPr/>
        <a:lstStyle/>
        <a:p>
          <a:endParaRPr lang="zh-CN" altLang="en-US"/>
        </a:p>
      </dgm:t>
    </dgm:pt>
    <dgm:pt modelId="{97F94023-0E81-4CBC-BDE6-A4BDAFA2F61C}" type="pres">
      <dgm:prSet presAssocID="{A34C0B48-C993-44AB-A89F-1150DD542AA0}" presName="Name10" presStyleLbl="parChTrans1D2" presStyleIdx="1" presStyleCnt="3"/>
      <dgm:spPr/>
      <dgm:t>
        <a:bodyPr/>
        <a:lstStyle/>
        <a:p>
          <a:endParaRPr lang="zh-CN" altLang="en-US"/>
        </a:p>
      </dgm:t>
    </dgm:pt>
    <dgm:pt modelId="{E56004B4-A421-41B5-9AC3-635B5DE938B7}" type="pres">
      <dgm:prSet presAssocID="{46B49C93-FE12-4E2E-BBB2-85DB3E974791}" presName="hierRoot2" presStyleCnt="0"/>
      <dgm:spPr/>
      <dgm:t>
        <a:bodyPr/>
        <a:lstStyle/>
        <a:p>
          <a:endParaRPr lang="zh-CN" altLang="en-US"/>
        </a:p>
      </dgm:t>
    </dgm:pt>
    <dgm:pt modelId="{F3620ABE-D32C-4B42-A52D-367936D22619}" type="pres">
      <dgm:prSet presAssocID="{46B49C93-FE12-4E2E-BBB2-85DB3E974791}" presName="composite2" presStyleCnt="0"/>
      <dgm:spPr/>
      <dgm:t>
        <a:bodyPr/>
        <a:lstStyle/>
        <a:p>
          <a:endParaRPr lang="zh-CN" altLang="en-US"/>
        </a:p>
      </dgm:t>
    </dgm:pt>
    <dgm:pt modelId="{3CB52251-0C2C-4179-A56B-9D2BD87A3C52}" type="pres">
      <dgm:prSet presAssocID="{46B49C93-FE12-4E2E-BBB2-85DB3E974791}" presName="background2" presStyleLbl="node2" presStyleIdx="1" presStyleCnt="3"/>
      <dgm:spPr/>
      <dgm:t>
        <a:bodyPr/>
        <a:lstStyle/>
        <a:p>
          <a:endParaRPr lang="zh-CN" altLang="en-US"/>
        </a:p>
      </dgm:t>
    </dgm:pt>
    <dgm:pt modelId="{EBF56F70-6585-465D-BD72-03323D6D8220}" type="pres">
      <dgm:prSet presAssocID="{46B49C93-FE12-4E2E-BBB2-85DB3E974791}" presName="text2" presStyleLbl="fgAcc2" presStyleIdx="1" presStyleCnt="3" custScaleX="21118" custScaleY="205335">
        <dgm:presLayoutVars>
          <dgm:chPref val="3"/>
        </dgm:presLayoutVars>
      </dgm:prSet>
      <dgm:spPr/>
      <dgm:t>
        <a:bodyPr/>
        <a:lstStyle/>
        <a:p>
          <a:endParaRPr lang="zh-CN" altLang="en-US"/>
        </a:p>
      </dgm:t>
    </dgm:pt>
    <dgm:pt modelId="{D696DF0C-8E05-4E0E-BF0C-C549DD76DC92}" type="pres">
      <dgm:prSet presAssocID="{46B49C93-FE12-4E2E-BBB2-85DB3E974791}" presName="hierChild3" presStyleCnt="0"/>
      <dgm:spPr/>
      <dgm:t>
        <a:bodyPr/>
        <a:lstStyle/>
        <a:p>
          <a:endParaRPr lang="zh-CN" altLang="en-US"/>
        </a:p>
      </dgm:t>
    </dgm:pt>
    <dgm:pt modelId="{3F042C6B-A402-4F0E-BAF1-AE3700899FFA}" type="pres">
      <dgm:prSet presAssocID="{70CB9D8B-665F-49CC-95CD-DE85BAF3E555}" presName="Name10" presStyleLbl="parChTrans1D2" presStyleIdx="2" presStyleCnt="3"/>
      <dgm:spPr/>
      <dgm:t>
        <a:bodyPr/>
        <a:lstStyle/>
        <a:p>
          <a:endParaRPr lang="zh-CN" altLang="en-US"/>
        </a:p>
      </dgm:t>
    </dgm:pt>
    <dgm:pt modelId="{9C708512-BECB-4CEA-9BCF-0EBC073CB7DE}" type="pres">
      <dgm:prSet presAssocID="{715C97FE-FD4F-4EF3-BC42-2F0D010E1424}" presName="hierRoot2" presStyleCnt="0"/>
      <dgm:spPr/>
      <dgm:t>
        <a:bodyPr/>
        <a:lstStyle/>
        <a:p>
          <a:endParaRPr lang="zh-CN" altLang="en-US"/>
        </a:p>
      </dgm:t>
    </dgm:pt>
    <dgm:pt modelId="{32816980-E7B6-46B5-A485-269963081C6C}" type="pres">
      <dgm:prSet presAssocID="{715C97FE-FD4F-4EF3-BC42-2F0D010E1424}" presName="composite2" presStyleCnt="0"/>
      <dgm:spPr/>
      <dgm:t>
        <a:bodyPr/>
        <a:lstStyle/>
        <a:p>
          <a:endParaRPr lang="zh-CN" altLang="en-US"/>
        </a:p>
      </dgm:t>
    </dgm:pt>
    <dgm:pt modelId="{2155B96F-1F04-463F-A143-0F749EF312AB}" type="pres">
      <dgm:prSet presAssocID="{715C97FE-FD4F-4EF3-BC42-2F0D010E1424}" presName="background2" presStyleLbl="node2" presStyleIdx="2" presStyleCnt="3"/>
      <dgm:spPr/>
      <dgm:t>
        <a:bodyPr/>
        <a:lstStyle/>
        <a:p>
          <a:endParaRPr lang="zh-CN" altLang="en-US"/>
        </a:p>
      </dgm:t>
    </dgm:pt>
    <dgm:pt modelId="{0E8DF5AF-353D-4CE3-A8EB-85791C69B057}" type="pres">
      <dgm:prSet presAssocID="{715C97FE-FD4F-4EF3-BC42-2F0D010E1424}" presName="text2" presStyleLbl="fgAcc2" presStyleIdx="2" presStyleCnt="3" custScaleX="20549" custScaleY="205335">
        <dgm:presLayoutVars>
          <dgm:chPref val="3"/>
        </dgm:presLayoutVars>
      </dgm:prSet>
      <dgm:spPr/>
      <dgm:t>
        <a:bodyPr/>
        <a:lstStyle/>
        <a:p>
          <a:endParaRPr lang="zh-CN" altLang="en-US"/>
        </a:p>
      </dgm:t>
    </dgm:pt>
    <dgm:pt modelId="{2544C296-7039-404E-908D-FEEDE71FFA86}" type="pres">
      <dgm:prSet presAssocID="{715C97FE-FD4F-4EF3-BC42-2F0D010E1424}" presName="hierChild3" presStyleCnt="0"/>
      <dgm:spPr/>
      <dgm:t>
        <a:bodyPr/>
        <a:lstStyle/>
        <a:p>
          <a:endParaRPr lang="zh-CN" altLang="en-US"/>
        </a:p>
      </dgm:t>
    </dgm:pt>
  </dgm:ptLst>
  <dgm:cxnLst>
    <dgm:cxn modelId="{49C9F05B-538C-4D14-8350-1EE2FA85F95F}" srcId="{A4EA3067-E201-44B3-9325-9C017941EC12}" destId="{46B49C93-FE12-4E2E-BBB2-85DB3E974791}" srcOrd="1" destOrd="0" parTransId="{A34C0B48-C993-44AB-A89F-1150DD542AA0}" sibTransId="{B87408D2-7293-498F-987B-324456F7C0A9}"/>
    <dgm:cxn modelId="{595F9EA1-F3A3-43FE-96E1-D69BD3D8E66A}" type="presOf" srcId="{9E93E2A6-6AD1-4A77-986F-91E74C7D0128}" destId="{6E366258-FE8D-4E64-8CC2-86AF3A16A0A0}" srcOrd="0" destOrd="0" presId="urn:microsoft.com/office/officeart/2005/8/layout/hierarchy1#1"/>
    <dgm:cxn modelId="{0EAAF0FC-E83A-4298-912F-7A9E73E40E9E}" type="presOf" srcId="{70CB9D8B-665F-49CC-95CD-DE85BAF3E555}" destId="{3F042C6B-A402-4F0E-BAF1-AE3700899FFA}" srcOrd="0" destOrd="0" presId="urn:microsoft.com/office/officeart/2005/8/layout/hierarchy1#1"/>
    <dgm:cxn modelId="{128B06B7-0D74-404E-ACED-F6D4CE8253CB}" type="presOf" srcId="{A34C0B48-C993-44AB-A89F-1150DD542AA0}" destId="{97F94023-0E81-4CBC-BDE6-A4BDAFA2F61C}" srcOrd="0" destOrd="0" presId="urn:microsoft.com/office/officeart/2005/8/layout/hierarchy1#1"/>
    <dgm:cxn modelId="{01C28C87-3469-4F43-AEFF-BC4E85A5EA02}" type="presOf" srcId="{46B49C93-FE12-4E2E-BBB2-85DB3E974791}" destId="{EBF56F70-6585-465D-BD72-03323D6D8220}" srcOrd="0" destOrd="0" presId="urn:microsoft.com/office/officeart/2005/8/layout/hierarchy1#1"/>
    <dgm:cxn modelId="{A3D6CFC4-4E5E-4F44-8334-6802B9C424DA}" type="presOf" srcId="{715C97FE-FD4F-4EF3-BC42-2F0D010E1424}" destId="{0E8DF5AF-353D-4CE3-A8EB-85791C69B057}" srcOrd="0" destOrd="0" presId="urn:microsoft.com/office/officeart/2005/8/layout/hierarchy1#1"/>
    <dgm:cxn modelId="{4EF33BA6-8F7B-4FEE-A4C0-DF26F0C28DB7}" srcId="{A4EA3067-E201-44B3-9325-9C017941EC12}" destId="{715C97FE-FD4F-4EF3-BC42-2F0D010E1424}" srcOrd="2" destOrd="0" parTransId="{70CB9D8B-665F-49CC-95CD-DE85BAF3E555}" sibTransId="{167058C3-DE65-45E7-984F-20ACBDEB8BC4}"/>
    <dgm:cxn modelId="{6C0658A5-FA5A-4599-8E42-AA620A3D99F8}" type="presOf" srcId="{3633E3D3-9410-45E2-B349-72CB3248E110}" destId="{DAEA805F-D571-477F-8D19-9DAEC31723E9}" srcOrd="0" destOrd="0" presId="urn:microsoft.com/office/officeart/2005/8/layout/hierarchy1#1"/>
    <dgm:cxn modelId="{E56B9581-E5C4-48A1-BE3D-D365B517BE24}" type="presOf" srcId="{1D073AA4-321C-4435-9AC5-67BB57C0B0BF}" destId="{0F3ADCB2-701A-4880-B89A-22BC91A02216}" srcOrd="0" destOrd="0" presId="urn:microsoft.com/office/officeart/2005/8/layout/hierarchy1#1"/>
    <dgm:cxn modelId="{B7A372DE-06B4-4758-9A78-E2B017CC7021}" srcId="{9E93E2A6-6AD1-4A77-986F-91E74C7D0128}" destId="{A4EA3067-E201-44B3-9325-9C017941EC12}" srcOrd="0" destOrd="0" parTransId="{89D7852C-D2F7-4C1D-9920-91670202E19B}" sibTransId="{D59B4284-322B-4B54-B71D-8C49546A0E1C}"/>
    <dgm:cxn modelId="{870BCF6E-0E0B-4649-AEC4-895AAB910499}" srcId="{A4EA3067-E201-44B3-9325-9C017941EC12}" destId="{1D073AA4-321C-4435-9AC5-67BB57C0B0BF}" srcOrd="0" destOrd="0" parTransId="{3633E3D3-9410-45E2-B349-72CB3248E110}" sibTransId="{C64D0686-A45C-4922-9212-3CF5F5C88268}"/>
    <dgm:cxn modelId="{A9F9F86F-A90D-437E-99E8-AB387C4773CF}" type="presOf" srcId="{A4EA3067-E201-44B3-9325-9C017941EC12}" destId="{60B61FE9-4998-4E0D-AD7A-8F510B26F58A}" srcOrd="0" destOrd="0" presId="urn:microsoft.com/office/officeart/2005/8/layout/hierarchy1#1"/>
    <dgm:cxn modelId="{B914FC64-4119-4B7E-A3FA-96CC00269AB0}" type="presParOf" srcId="{6E366258-FE8D-4E64-8CC2-86AF3A16A0A0}" destId="{675A4A35-6D3B-435B-9AEC-74C9C297C6F9}" srcOrd="0" destOrd="0" presId="urn:microsoft.com/office/officeart/2005/8/layout/hierarchy1#1"/>
    <dgm:cxn modelId="{1CF35474-0297-4540-9444-4B60ADF81801}" type="presParOf" srcId="{675A4A35-6D3B-435B-9AEC-74C9C297C6F9}" destId="{31713AFA-3232-4BBB-8572-F57C12F6F226}" srcOrd="0" destOrd="0" presId="urn:microsoft.com/office/officeart/2005/8/layout/hierarchy1#1"/>
    <dgm:cxn modelId="{BB6ED7EE-E729-4338-860E-D88E8972FBED}" type="presParOf" srcId="{31713AFA-3232-4BBB-8572-F57C12F6F226}" destId="{04AAA6CA-DAF8-4167-ABA1-9EFD081FC14E}" srcOrd="0" destOrd="0" presId="urn:microsoft.com/office/officeart/2005/8/layout/hierarchy1#1"/>
    <dgm:cxn modelId="{AD460FF1-5114-41CB-9528-708A921FB4ED}" type="presParOf" srcId="{31713AFA-3232-4BBB-8572-F57C12F6F226}" destId="{60B61FE9-4998-4E0D-AD7A-8F510B26F58A}" srcOrd="1" destOrd="0" presId="urn:microsoft.com/office/officeart/2005/8/layout/hierarchy1#1"/>
    <dgm:cxn modelId="{67B41E67-59C7-4A05-9D52-A0DFED175C24}" type="presParOf" srcId="{675A4A35-6D3B-435B-9AEC-74C9C297C6F9}" destId="{F004C56F-E628-4B73-A2B8-BA4853ED7D8F}" srcOrd="1" destOrd="0" presId="urn:microsoft.com/office/officeart/2005/8/layout/hierarchy1#1"/>
    <dgm:cxn modelId="{6D133799-C8EA-414E-81C6-59C8D3F15645}" type="presParOf" srcId="{F004C56F-E628-4B73-A2B8-BA4853ED7D8F}" destId="{DAEA805F-D571-477F-8D19-9DAEC31723E9}" srcOrd="0" destOrd="0" presId="urn:microsoft.com/office/officeart/2005/8/layout/hierarchy1#1"/>
    <dgm:cxn modelId="{B29D14D4-ADA3-4394-954A-02CECC631EF7}" type="presParOf" srcId="{F004C56F-E628-4B73-A2B8-BA4853ED7D8F}" destId="{D3475B1B-BEEE-46A0-BEC0-DC0D25E5666F}" srcOrd="1" destOrd="0" presId="urn:microsoft.com/office/officeart/2005/8/layout/hierarchy1#1"/>
    <dgm:cxn modelId="{9B3010AC-2EF8-4A4C-BF76-52C6DF482A3D}" type="presParOf" srcId="{D3475B1B-BEEE-46A0-BEC0-DC0D25E5666F}" destId="{7497B7D9-EDB4-4C8A-885B-4EA18E283E0A}" srcOrd="0" destOrd="0" presId="urn:microsoft.com/office/officeart/2005/8/layout/hierarchy1#1"/>
    <dgm:cxn modelId="{803645F4-049E-4E5D-AEB7-345FCCECDC1A}" type="presParOf" srcId="{7497B7D9-EDB4-4C8A-885B-4EA18E283E0A}" destId="{0EBA5795-3D3C-4A0D-9180-F1A53B6F78B8}" srcOrd="0" destOrd="0" presId="urn:microsoft.com/office/officeart/2005/8/layout/hierarchy1#1"/>
    <dgm:cxn modelId="{C06999BE-C46E-454B-9E9C-E7A9243853F4}" type="presParOf" srcId="{7497B7D9-EDB4-4C8A-885B-4EA18E283E0A}" destId="{0F3ADCB2-701A-4880-B89A-22BC91A02216}" srcOrd="1" destOrd="0" presId="urn:microsoft.com/office/officeart/2005/8/layout/hierarchy1#1"/>
    <dgm:cxn modelId="{8E499CEC-B2CB-4095-BA86-56C11CDF5F8C}" type="presParOf" srcId="{D3475B1B-BEEE-46A0-BEC0-DC0D25E5666F}" destId="{FA58D39D-85B9-49BA-BD2E-7AF1872502AC}" srcOrd="1" destOrd="0" presId="urn:microsoft.com/office/officeart/2005/8/layout/hierarchy1#1"/>
    <dgm:cxn modelId="{46C25EBD-1ED8-4120-8EF8-8428BDD0CEF8}" type="presParOf" srcId="{F004C56F-E628-4B73-A2B8-BA4853ED7D8F}" destId="{97F94023-0E81-4CBC-BDE6-A4BDAFA2F61C}" srcOrd="2" destOrd="0" presId="urn:microsoft.com/office/officeart/2005/8/layout/hierarchy1#1"/>
    <dgm:cxn modelId="{22D68100-9C00-4D37-88D2-88AE6F9936F1}" type="presParOf" srcId="{F004C56F-E628-4B73-A2B8-BA4853ED7D8F}" destId="{E56004B4-A421-41B5-9AC3-635B5DE938B7}" srcOrd="3" destOrd="0" presId="urn:microsoft.com/office/officeart/2005/8/layout/hierarchy1#1"/>
    <dgm:cxn modelId="{3DBDB226-4170-4FAA-A761-CBD56DC8E30D}" type="presParOf" srcId="{E56004B4-A421-41B5-9AC3-635B5DE938B7}" destId="{F3620ABE-D32C-4B42-A52D-367936D22619}" srcOrd="0" destOrd="0" presId="urn:microsoft.com/office/officeart/2005/8/layout/hierarchy1#1"/>
    <dgm:cxn modelId="{207B17BB-B18A-49F5-951A-3B40716C8E1A}" type="presParOf" srcId="{F3620ABE-D32C-4B42-A52D-367936D22619}" destId="{3CB52251-0C2C-4179-A56B-9D2BD87A3C52}" srcOrd="0" destOrd="0" presId="urn:microsoft.com/office/officeart/2005/8/layout/hierarchy1#1"/>
    <dgm:cxn modelId="{2BBBFE7C-A6A8-49D3-9131-AB845B232E71}" type="presParOf" srcId="{F3620ABE-D32C-4B42-A52D-367936D22619}" destId="{EBF56F70-6585-465D-BD72-03323D6D8220}" srcOrd="1" destOrd="0" presId="urn:microsoft.com/office/officeart/2005/8/layout/hierarchy1#1"/>
    <dgm:cxn modelId="{AEFB048F-D478-4EE1-8BCA-E8C9A7AF90D4}" type="presParOf" srcId="{E56004B4-A421-41B5-9AC3-635B5DE938B7}" destId="{D696DF0C-8E05-4E0E-BF0C-C549DD76DC92}" srcOrd="1" destOrd="0" presId="urn:microsoft.com/office/officeart/2005/8/layout/hierarchy1#1"/>
    <dgm:cxn modelId="{02514FFE-9DF1-4F3C-ABB7-367CF2F05ED7}" type="presParOf" srcId="{F004C56F-E628-4B73-A2B8-BA4853ED7D8F}" destId="{3F042C6B-A402-4F0E-BAF1-AE3700899FFA}" srcOrd="4" destOrd="0" presId="urn:microsoft.com/office/officeart/2005/8/layout/hierarchy1#1"/>
    <dgm:cxn modelId="{53E6CF43-AAA7-4FFE-8BB1-E4E99F848CD9}" type="presParOf" srcId="{F004C56F-E628-4B73-A2B8-BA4853ED7D8F}" destId="{9C708512-BECB-4CEA-9BCF-0EBC073CB7DE}" srcOrd="5" destOrd="0" presId="urn:microsoft.com/office/officeart/2005/8/layout/hierarchy1#1"/>
    <dgm:cxn modelId="{E7E25E7D-0A7F-4E6A-856E-98FB5728849A}" type="presParOf" srcId="{9C708512-BECB-4CEA-9BCF-0EBC073CB7DE}" destId="{32816980-E7B6-46B5-A485-269963081C6C}" srcOrd="0" destOrd="0" presId="urn:microsoft.com/office/officeart/2005/8/layout/hierarchy1#1"/>
    <dgm:cxn modelId="{5631584B-0EF2-4DF4-882F-31EC344FB321}" type="presParOf" srcId="{32816980-E7B6-46B5-A485-269963081C6C}" destId="{2155B96F-1F04-463F-A143-0F749EF312AB}" srcOrd="0" destOrd="0" presId="urn:microsoft.com/office/officeart/2005/8/layout/hierarchy1#1"/>
    <dgm:cxn modelId="{B1A5E255-B697-49B9-B04F-89F80217F2B0}" type="presParOf" srcId="{32816980-E7B6-46B5-A485-269963081C6C}" destId="{0E8DF5AF-353D-4CE3-A8EB-85791C69B057}" srcOrd="1" destOrd="0" presId="urn:microsoft.com/office/officeart/2005/8/layout/hierarchy1#1"/>
    <dgm:cxn modelId="{4FFEA6A6-B7A9-4626-9471-29EEBD2CCAC4}" type="presParOf" srcId="{9C708512-BECB-4CEA-9BCF-0EBC073CB7DE}" destId="{2544C296-7039-404E-908D-FEEDE71FFA86}" srcOrd="1" destOrd="0" presId="urn:microsoft.com/office/officeart/2005/8/layout/hierarchy1#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57756C4-837A-47A3-BB8F-C37778811EDE}" type="doc">
      <dgm:prSet loTypeId="urn:microsoft.com/office/officeart/2005/8/layout/list1#1" loCatId="list" qsTypeId="urn:microsoft.com/office/officeart/2005/8/quickstyle/3d1#2" qsCatId="3D" csTypeId="urn:microsoft.com/office/officeart/2005/8/colors/accent2_2#1" csCatId="accent2" phldr="1"/>
      <dgm:spPr/>
      <dgm:t>
        <a:bodyPr/>
        <a:lstStyle/>
        <a:p>
          <a:endParaRPr lang="zh-CN" altLang="en-US"/>
        </a:p>
      </dgm:t>
    </dgm:pt>
    <dgm:pt modelId="{14CA0A2C-9472-4FEF-836C-9788B9F3F591}">
      <dgm:prSet phldrT="[文本]"/>
      <dgm:spPr/>
      <dgm:t>
        <a:bodyPr/>
        <a:lstStyle/>
        <a:p>
          <a:r>
            <a:rPr lang="zh-CN" altLang="zh-CN" b="1" dirty="0" smtClean="0">
              <a:effectLst>
                <a:outerShdw blurRad="38100" dist="38100" dir="2700000" algn="tl">
                  <a:srgbClr val="000000">
                    <a:alpha val="43137"/>
                  </a:srgbClr>
                </a:outerShdw>
              </a:effectLst>
              <a:latin typeface="+mj-ea"/>
              <a:ea typeface="+mj-ea"/>
            </a:rPr>
            <a:t>数据库的概念结构</a:t>
          </a:r>
          <a:endParaRPr lang="zh-CN" altLang="en-US" b="1" dirty="0">
            <a:effectLst>
              <a:outerShdw blurRad="38100" dist="38100" dir="2700000" algn="tl">
                <a:srgbClr val="000000">
                  <a:alpha val="43137"/>
                </a:srgbClr>
              </a:outerShdw>
            </a:effectLst>
            <a:latin typeface="+mj-ea"/>
            <a:ea typeface="+mj-ea"/>
          </a:endParaRPr>
        </a:p>
      </dgm:t>
    </dgm:pt>
    <dgm:pt modelId="{5EB6BD32-8C3A-4329-9B0F-B5403B64435B}" cxnId="{DD950AA8-E996-47E0-8A0D-541C5703E6E2}" type="parTrans">
      <dgm:prSet/>
      <dgm:spPr/>
      <dgm:t>
        <a:bodyPr/>
        <a:lstStyle/>
        <a:p>
          <a:endParaRPr lang="zh-CN" altLang="en-US">
            <a:latin typeface="+mj-ea"/>
            <a:ea typeface="+mj-ea"/>
          </a:endParaRPr>
        </a:p>
      </dgm:t>
    </dgm:pt>
    <dgm:pt modelId="{B32394A0-9978-4894-9D9C-5F54CC4D8BF0}" cxnId="{DD950AA8-E996-47E0-8A0D-541C5703E6E2}" type="sibTrans">
      <dgm:prSet/>
      <dgm:spPr/>
      <dgm:t>
        <a:bodyPr/>
        <a:lstStyle/>
        <a:p>
          <a:endParaRPr lang="zh-CN" altLang="en-US">
            <a:latin typeface="+mj-ea"/>
            <a:ea typeface="+mj-ea"/>
          </a:endParaRPr>
        </a:p>
      </dgm:t>
    </dgm:pt>
    <dgm:pt modelId="{5A630582-589C-4E8D-8429-2A434A757FF8}">
      <dgm:prSet phldrT="[文本]"/>
      <dgm:spPr/>
      <dgm:t>
        <a:bodyPr/>
        <a:lstStyle/>
        <a:p>
          <a:r>
            <a:rPr lang="zh-CN" altLang="zh-CN" b="1" dirty="0" smtClean="0">
              <a:effectLst>
                <a:outerShdw blurRad="38100" dist="38100" dir="2700000" algn="tl">
                  <a:srgbClr val="000000">
                    <a:alpha val="43137"/>
                  </a:srgbClr>
                </a:outerShdw>
              </a:effectLst>
              <a:latin typeface="+mj-ea"/>
              <a:ea typeface="+mj-ea"/>
            </a:rPr>
            <a:t>数据库的逻辑结构</a:t>
          </a:r>
          <a:endParaRPr lang="zh-CN" altLang="en-US" b="1" dirty="0">
            <a:effectLst>
              <a:outerShdw blurRad="38100" dist="38100" dir="2700000" algn="tl">
                <a:srgbClr val="000000">
                  <a:alpha val="43137"/>
                </a:srgbClr>
              </a:outerShdw>
            </a:effectLst>
            <a:latin typeface="+mj-ea"/>
            <a:ea typeface="+mj-ea"/>
          </a:endParaRPr>
        </a:p>
      </dgm:t>
    </dgm:pt>
    <dgm:pt modelId="{28D87519-9913-444B-9287-8B9F85B0C907}" cxnId="{BFE94CC9-C171-46EA-8663-625BAEBD59C2}" type="parTrans">
      <dgm:prSet/>
      <dgm:spPr/>
      <dgm:t>
        <a:bodyPr/>
        <a:lstStyle/>
        <a:p>
          <a:endParaRPr lang="zh-CN" altLang="en-US">
            <a:latin typeface="+mj-ea"/>
            <a:ea typeface="+mj-ea"/>
          </a:endParaRPr>
        </a:p>
      </dgm:t>
    </dgm:pt>
    <dgm:pt modelId="{64420698-A8BB-41AA-A572-4983F1AB7A40}" cxnId="{BFE94CC9-C171-46EA-8663-625BAEBD59C2}" type="sibTrans">
      <dgm:prSet/>
      <dgm:spPr/>
      <dgm:t>
        <a:bodyPr/>
        <a:lstStyle/>
        <a:p>
          <a:endParaRPr lang="zh-CN" altLang="en-US">
            <a:latin typeface="+mj-ea"/>
            <a:ea typeface="+mj-ea"/>
          </a:endParaRPr>
        </a:p>
      </dgm:t>
    </dgm:pt>
    <dgm:pt modelId="{2F22FB26-488B-42AF-BA49-D01507D05ECA}">
      <dgm:prSet phldrT="[文本]"/>
      <dgm:spPr/>
      <dgm:t>
        <a:bodyPr/>
        <a:lstStyle/>
        <a:p>
          <a:r>
            <a:rPr lang="zh-CN" altLang="zh-CN" b="1" dirty="0" smtClean="0">
              <a:effectLst>
                <a:outerShdw blurRad="38100" dist="38100" dir="2700000" algn="tl">
                  <a:srgbClr val="000000">
                    <a:alpha val="43137"/>
                  </a:srgbClr>
                </a:outerShdw>
              </a:effectLst>
              <a:latin typeface="+mj-ea"/>
              <a:ea typeface="+mj-ea"/>
            </a:rPr>
            <a:t>数据库的物理结构</a:t>
          </a:r>
          <a:endParaRPr lang="zh-CN" altLang="en-US" b="1" dirty="0">
            <a:effectLst>
              <a:outerShdw blurRad="38100" dist="38100" dir="2700000" algn="tl">
                <a:srgbClr val="000000">
                  <a:alpha val="43137"/>
                </a:srgbClr>
              </a:outerShdw>
            </a:effectLst>
            <a:latin typeface="+mj-ea"/>
            <a:ea typeface="+mj-ea"/>
          </a:endParaRPr>
        </a:p>
      </dgm:t>
    </dgm:pt>
    <dgm:pt modelId="{D048B3FF-48A8-497E-B953-E26747DA0463}" cxnId="{8F470BFC-49D2-4763-9A2D-BA9FBC7F20AA}" type="parTrans">
      <dgm:prSet/>
      <dgm:spPr/>
      <dgm:t>
        <a:bodyPr/>
        <a:lstStyle/>
        <a:p>
          <a:endParaRPr lang="zh-CN" altLang="en-US">
            <a:latin typeface="+mj-ea"/>
            <a:ea typeface="+mj-ea"/>
          </a:endParaRPr>
        </a:p>
      </dgm:t>
    </dgm:pt>
    <dgm:pt modelId="{58934D23-4D92-4C61-A38E-015E242F8A59}" cxnId="{8F470BFC-49D2-4763-9A2D-BA9FBC7F20AA}" type="sibTrans">
      <dgm:prSet/>
      <dgm:spPr/>
      <dgm:t>
        <a:bodyPr/>
        <a:lstStyle/>
        <a:p>
          <a:endParaRPr lang="zh-CN" altLang="en-US">
            <a:latin typeface="+mj-ea"/>
            <a:ea typeface="+mj-ea"/>
          </a:endParaRPr>
        </a:p>
      </dgm:t>
    </dgm:pt>
    <dgm:pt modelId="{191FB02D-C9D6-4DA2-A020-D6F9ACED80FF}">
      <dgm:prSet/>
      <dgm:spPr/>
      <dgm:t>
        <a:bodyPr/>
        <a:lstStyle/>
        <a:p>
          <a:r>
            <a:rPr lang="zh-CN" altLang="zh-CN" smtClean="0">
              <a:latin typeface="+mj-ea"/>
              <a:ea typeface="+mj-ea"/>
            </a:rPr>
            <a:t>是系统中各种数据模型的共同基础，它描述了系统最基础的数据结构，独立于特定的数据库系统。 </a:t>
          </a:r>
          <a:endParaRPr lang="zh-CN" altLang="en-US">
            <a:latin typeface="+mj-ea"/>
            <a:ea typeface="+mj-ea"/>
          </a:endParaRPr>
        </a:p>
      </dgm:t>
    </dgm:pt>
    <dgm:pt modelId="{8540FD7F-8A40-46E9-AAFC-CECECCAC28AD}" cxnId="{7F257E77-180D-4035-AB1A-36E147767DC4}" type="parTrans">
      <dgm:prSet/>
      <dgm:spPr/>
      <dgm:t>
        <a:bodyPr/>
        <a:lstStyle/>
        <a:p>
          <a:endParaRPr lang="zh-CN" altLang="en-US">
            <a:latin typeface="+mj-ea"/>
            <a:ea typeface="+mj-ea"/>
          </a:endParaRPr>
        </a:p>
      </dgm:t>
    </dgm:pt>
    <dgm:pt modelId="{DDC0225B-FD7C-4D6C-89A8-107844342697}" cxnId="{7F257E77-180D-4035-AB1A-36E147767DC4}" type="sibTrans">
      <dgm:prSet/>
      <dgm:spPr/>
      <dgm:t>
        <a:bodyPr/>
        <a:lstStyle/>
        <a:p>
          <a:endParaRPr lang="zh-CN" altLang="en-US">
            <a:latin typeface="+mj-ea"/>
            <a:ea typeface="+mj-ea"/>
          </a:endParaRPr>
        </a:p>
      </dgm:t>
    </dgm:pt>
    <dgm:pt modelId="{5FC506D2-4ACA-45EE-B01F-8019B87CBD42}">
      <dgm:prSet/>
      <dgm:spPr/>
      <dgm:t>
        <a:bodyPr/>
        <a:lstStyle/>
        <a:p>
          <a:r>
            <a:rPr lang="zh-CN" altLang="zh-CN" smtClean="0">
              <a:latin typeface="+mj-ea"/>
              <a:ea typeface="+mj-ea"/>
            </a:rPr>
            <a:t>提供了比较接近数据库内部构造的逻辑描述，它能够为数据库的物理结构创建提供便利。</a:t>
          </a:r>
          <a:endParaRPr lang="zh-CN" altLang="en-US">
            <a:latin typeface="+mj-ea"/>
            <a:ea typeface="+mj-ea"/>
          </a:endParaRPr>
        </a:p>
      </dgm:t>
    </dgm:pt>
    <dgm:pt modelId="{629D81BE-E03A-41E8-AD16-0AF3D054812C}" cxnId="{AFCC77DC-E16C-4270-B65C-9E07762B03FF}" type="parTrans">
      <dgm:prSet/>
      <dgm:spPr/>
      <dgm:t>
        <a:bodyPr/>
        <a:lstStyle/>
        <a:p>
          <a:endParaRPr lang="zh-CN" altLang="en-US">
            <a:latin typeface="+mj-ea"/>
            <a:ea typeface="+mj-ea"/>
          </a:endParaRPr>
        </a:p>
      </dgm:t>
    </dgm:pt>
    <dgm:pt modelId="{2C12CC21-A42F-46D0-9E40-D742951B7D50}" cxnId="{AFCC77DC-E16C-4270-B65C-9E07762B03FF}" type="sibTrans">
      <dgm:prSet/>
      <dgm:spPr/>
      <dgm:t>
        <a:bodyPr/>
        <a:lstStyle/>
        <a:p>
          <a:endParaRPr lang="zh-CN" altLang="en-US">
            <a:latin typeface="+mj-ea"/>
            <a:ea typeface="+mj-ea"/>
          </a:endParaRPr>
        </a:p>
      </dgm:t>
    </dgm:pt>
    <dgm:pt modelId="{00942154-EC2E-4B35-A9DE-A9AEDE29D1AA}">
      <dgm:prSet/>
      <dgm:spPr/>
      <dgm:t>
        <a:bodyPr/>
        <a:lstStyle/>
        <a:p>
          <a:r>
            <a:rPr lang="zh-CN" altLang="zh-CN" smtClean="0">
              <a:latin typeface="+mj-ea"/>
              <a:ea typeface="+mj-ea"/>
            </a:rPr>
            <a:t>指数据库的物理数据模型，它包括数据库服务器物理空间上的表、存储过程、字段、视图、触发器、索引等，与特定的数据库系统密切相关。</a:t>
          </a:r>
          <a:endParaRPr lang="zh-CN" altLang="en-US">
            <a:latin typeface="+mj-ea"/>
            <a:ea typeface="+mj-ea"/>
          </a:endParaRPr>
        </a:p>
      </dgm:t>
    </dgm:pt>
    <dgm:pt modelId="{EBAF9141-4EB1-4F70-BFE3-C13E0209C42D}" cxnId="{AD2C5180-CC77-4C1A-A59C-4349BDE8F038}" type="parTrans">
      <dgm:prSet/>
      <dgm:spPr/>
      <dgm:t>
        <a:bodyPr/>
        <a:lstStyle/>
        <a:p>
          <a:endParaRPr lang="zh-CN" altLang="en-US">
            <a:latin typeface="+mj-ea"/>
            <a:ea typeface="+mj-ea"/>
          </a:endParaRPr>
        </a:p>
      </dgm:t>
    </dgm:pt>
    <dgm:pt modelId="{034E5E9B-58C6-4622-B8AE-45F42525C90F}" cxnId="{AD2C5180-CC77-4C1A-A59C-4349BDE8F038}" type="sibTrans">
      <dgm:prSet/>
      <dgm:spPr/>
      <dgm:t>
        <a:bodyPr/>
        <a:lstStyle/>
        <a:p>
          <a:endParaRPr lang="zh-CN" altLang="en-US">
            <a:latin typeface="+mj-ea"/>
            <a:ea typeface="+mj-ea"/>
          </a:endParaRPr>
        </a:p>
      </dgm:t>
    </dgm:pt>
    <dgm:pt modelId="{9CC7497E-5802-4A31-8F71-8201E5FE7A39}" type="pres">
      <dgm:prSet presAssocID="{157756C4-837A-47A3-BB8F-C37778811EDE}" presName="linear" presStyleCnt="0">
        <dgm:presLayoutVars>
          <dgm:dir/>
          <dgm:animLvl val="lvl"/>
          <dgm:resizeHandles val="exact"/>
        </dgm:presLayoutVars>
      </dgm:prSet>
      <dgm:spPr/>
      <dgm:t>
        <a:bodyPr/>
        <a:lstStyle/>
        <a:p>
          <a:endParaRPr lang="zh-CN" altLang="en-US"/>
        </a:p>
      </dgm:t>
    </dgm:pt>
    <dgm:pt modelId="{D367D42A-D8D5-42FE-8602-F8DAAA669737}" type="pres">
      <dgm:prSet presAssocID="{14CA0A2C-9472-4FEF-836C-9788B9F3F591}" presName="parentLin" presStyleCnt="0"/>
      <dgm:spPr/>
      <dgm:t>
        <a:bodyPr/>
        <a:lstStyle/>
        <a:p>
          <a:endParaRPr lang="zh-CN" altLang="en-US"/>
        </a:p>
      </dgm:t>
    </dgm:pt>
    <dgm:pt modelId="{C710D3AC-CDF7-4475-8EC3-FE1A1D9A71C5}" type="pres">
      <dgm:prSet presAssocID="{14CA0A2C-9472-4FEF-836C-9788B9F3F591}" presName="parentLeftMargin" presStyleLbl="node1" presStyleIdx="0" presStyleCnt="3"/>
      <dgm:spPr/>
      <dgm:t>
        <a:bodyPr/>
        <a:lstStyle/>
        <a:p>
          <a:endParaRPr lang="zh-CN" altLang="en-US"/>
        </a:p>
      </dgm:t>
    </dgm:pt>
    <dgm:pt modelId="{B0EC77D2-EBEA-4684-B4B2-A3D85C0ECADA}" type="pres">
      <dgm:prSet presAssocID="{14CA0A2C-9472-4FEF-836C-9788B9F3F591}" presName="parentText" presStyleLbl="node1" presStyleIdx="0" presStyleCnt="3">
        <dgm:presLayoutVars>
          <dgm:chMax val="0"/>
          <dgm:bulletEnabled val="1"/>
        </dgm:presLayoutVars>
      </dgm:prSet>
      <dgm:spPr/>
      <dgm:t>
        <a:bodyPr/>
        <a:lstStyle/>
        <a:p>
          <a:endParaRPr lang="zh-CN" altLang="en-US"/>
        </a:p>
      </dgm:t>
    </dgm:pt>
    <dgm:pt modelId="{68AD82D2-84D2-4B4E-8F7A-8D4E2C687E0B}" type="pres">
      <dgm:prSet presAssocID="{14CA0A2C-9472-4FEF-836C-9788B9F3F591}" presName="negativeSpace" presStyleCnt="0"/>
      <dgm:spPr/>
      <dgm:t>
        <a:bodyPr/>
        <a:lstStyle/>
        <a:p>
          <a:endParaRPr lang="zh-CN" altLang="en-US"/>
        </a:p>
      </dgm:t>
    </dgm:pt>
    <dgm:pt modelId="{AEC12650-2A2F-4F4B-9359-A8A6AE74D501}" type="pres">
      <dgm:prSet presAssocID="{14CA0A2C-9472-4FEF-836C-9788B9F3F591}" presName="childText" presStyleLbl="conFgAcc1" presStyleIdx="0" presStyleCnt="3">
        <dgm:presLayoutVars>
          <dgm:bulletEnabled val="1"/>
        </dgm:presLayoutVars>
      </dgm:prSet>
      <dgm:spPr/>
      <dgm:t>
        <a:bodyPr/>
        <a:lstStyle/>
        <a:p>
          <a:endParaRPr lang="zh-CN" altLang="en-US"/>
        </a:p>
      </dgm:t>
    </dgm:pt>
    <dgm:pt modelId="{45CC70BB-E141-46DD-B5D0-0862C070FB55}" type="pres">
      <dgm:prSet presAssocID="{B32394A0-9978-4894-9D9C-5F54CC4D8BF0}" presName="spaceBetweenRectangles" presStyleCnt="0"/>
      <dgm:spPr/>
      <dgm:t>
        <a:bodyPr/>
        <a:lstStyle/>
        <a:p>
          <a:endParaRPr lang="zh-CN" altLang="en-US"/>
        </a:p>
      </dgm:t>
    </dgm:pt>
    <dgm:pt modelId="{A4A2A197-41F3-417B-BEA3-51BE19090437}" type="pres">
      <dgm:prSet presAssocID="{5A630582-589C-4E8D-8429-2A434A757FF8}" presName="parentLin" presStyleCnt="0"/>
      <dgm:spPr/>
      <dgm:t>
        <a:bodyPr/>
        <a:lstStyle/>
        <a:p>
          <a:endParaRPr lang="zh-CN" altLang="en-US"/>
        </a:p>
      </dgm:t>
    </dgm:pt>
    <dgm:pt modelId="{22CDD940-DB5C-4B06-955D-1AAA38E218E5}" type="pres">
      <dgm:prSet presAssocID="{5A630582-589C-4E8D-8429-2A434A757FF8}" presName="parentLeftMargin" presStyleLbl="node1" presStyleIdx="0" presStyleCnt="3"/>
      <dgm:spPr/>
      <dgm:t>
        <a:bodyPr/>
        <a:lstStyle/>
        <a:p>
          <a:endParaRPr lang="zh-CN" altLang="en-US"/>
        </a:p>
      </dgm:t>
    </dgm:pt>
    <dgm:pt modelId="{6CEB8B27-F328-4CE8-97FF-4EE11A9D5A40}" type="pres">
      <dgm:prSet presAssocID="{5A630582-589C-4E8D-8429-2A434A757FF8}" presName="parentText" presStyleLbl="node1" presStyleIdx="1" presStyleCnt="3">
        <dgm:presLayoutVars>
          <dgm:chMax val="0"/>
          <dgm:bulletEnabled val="1"/>
        </dgm:presLayoutVars>
      </dgm:prSet>
      <dgm:spPr/>
      <dgm:t>
        <a:bodyPr/>
        <a:lstStyle/>
        <a:p>
          <a:endParaRPr lang="zh-CN" altLang="en-US"/>
        </a:p>
      </dgm:t>
    </dgm:pt>
    <dgm:pt modelId="{0F68158A-707F-4888-8BEE-6972DF376052}" type="pres">
      <dgm:prSet presAssocID="{5A630582-589C-4E8D-8429-2A434A757FF8}" presName="negativeSpace" presStyleCnt="0"/>
      <dgm:spPr/>
      <dgm:t>
        <a:bodyPr/>
        <a:lstStyle/>
        <a:p>
          <a:endParaRPr lang="zh-CN" altLang="en-US"/>
        </a:p>
      </dgm:t>
    </dgm:pt>
    <dgm:pt modelId="{EF616A94-776F-482A-81AC-F544E76EBB94}" type="pres">
      <dgm:prSet presAssocID="{5A630582-589C-4E8D-8429-2A434A757FF8}" presName="childText" presStyleLbl="conFgAcc1" presStyleIdx="1" presStyleCnt="3">
        <dgm:presLayoutVars>
          <dgm:bulletEnabled val="1"/>
        </dgm:presLayoutVars>
      </dgm:prSet>
      <dgm:spPr/>
      <dgm:t>
        <a:bodyPr/>
        <a:lstStyle/>
        <a:p>
          <a:endParaRPr lang="zh-CN" altLang="en-US"/>
        </a:p>
      </dgm:t>
    </dgm:pt>
    <dgm:pt modelId="{0A1E477F-0692-4C0C-9315-859583F6B9D6}" type="pres">
      <dgm:prSet presAssocID="{64420698-A8BB-41AA-A572-4983F1AB7A40}" presName="spaceBetweenRectangles" presStyleCnt="0"/>
      <dgm:spPr/>
      <dgm:t>
        <a:bodyPr/>
        <a:lstStyle/>
        <a:p>
          <a:endParaRPr lang="zh-CN" altLang="en-US"/>
        </a:p>
      </dgm:t>
    </dgm:pt>
    <dgm:pt modelId="{660DFF66-3BAF-4FB0-B097-3FD6CE9C02CC}" type="pres">
      <dgm:prSet presAssocID="{2F22FB26-488B-42AF-BA49-D01507D05ECA}" presName="parentLin" presStyleCnt="0"/>
      <dgm:spPr/>
      <dgm:t>
        <a:bodyPr/>
        <a:lstStyle/>
        <a:p>
          <a:endParaRPr lang="zh-CN" altLang="en-US"/>
        </a:p>
      </dgm:t>
    </dgm:pt>
    <dgm:pt modelId="{4FCBCBAA-699B-4A27-B815-C9C126A404BB}" type="pres">
      <dgm:prSet presAssocID="{2F22FB26-488B-42AF-BA49-D01507D05ECA}" presName="parentLeftMargin" presStyleLbl="node1" presStyleIdx="1" presStyleCnt="3"/>
      <dgm:spPr/>
      <dgm:t>
        <a:bodyPr/>
        <a:lstStyle/>
        <a:p>
          <a:endParaRPr lang="zh-CN" altLang="en-US"/>
        </a:p>
      </dgm:t>
    </dgm:pt>
    <dgm:pt modelId="{FC0B3963-4AE4-4080-AF44-B07895F08E3F}" type="pres">
      <dgm:prSet presAssocID="{2F22FB26-488B-42AF-BA49-D01507D05ECA}" presName="parentText" presStyleLbl="node1" presStyleIdx="2" presStyleCnt="3">
        <dgm:presLayoutVars>
          <dgm:chMax val="0"/>
          <dgm:bulletEnabled val="1"/>
        </dgm:presLayoutVars>
      </dgm:prSet>
      <dgm:spPr/>
      <dgm:t>
        <a:bodyPr/>
        <a:lstStyle/>
        <a:p>
          <a:endParaRPr lang="zh-CN" altLang="en-US"/>
        </a:p>
      </dgm:t>
    </dgm:pt>
    <dgm:pt modelId="{A86B4A17-3026-4EDC-9B0F-B526A10A0CDD}" type="pres">
      <dgm:prSet presAssocID="{2F22FB26-488B-42AF-BA49-D01507D05ECA}" presName="negativeSpace" presStyleCnt="0"/>
      <dgm:spPr/>
      <dgm:t>
        <a:bodyPr/>
        <a:lstStyle/>
        <a:p>
          <a:endParaRPr lang="zh-CN" altLang="en-US"/>
        </a:p>
      </dgm:t>
    </dgm:pt>
    <dgm:pt modelId="{86BB0AFD-DCF3-46FA-87E6-8DDE0580E3A9}" type="pres">
      <dgm:prSet presAssocID="{2F22FB26-488B-42AF-BA49-D01507D05ECA}" presName="childText" presStyleLbl="conFgAcc1" presStyleIdx="2" presStyleCnt="3">
        <dgm:presLayoutVars>
          <dgm:bulletEnabled val="1"/>
        </dgm:presLayoutVars>
      </dgm:prSet>
      <dgm:spPr/>
      <dgm:t>
        <a:bodyPr/>
        <a:lstStyle/>
        <a:p>
          <a:endParaRPr lang="zh-CN" altLang="en-US"/>
        </a:p>
      </dgm:t>
    </dgm:pt>
  </dgm:ptLst>
  <dgm:cxnLst>
    <dgm:cxn modelId="{AFCC77DC-E16C-4270-B65C-9E07762B03FF}" srcId="{5A630582-589C-4E8D-8429-2A434A757FF8}" destId="{5FC506D2-4ACA-45EE-B01F-8019B87CBD42}" srcOrd="0" destOrd="0" parTransId="{629D81BE-E03A-41E8-AD16-0AF3D054812C}" sibTransId="{2C12CC21-A42F-46D0-9E40-D742951B7D50}"/>
    <dgm:cxn modelId="{377533CD-E3BC-4034-9EE8-C7502025330E}" type="presOf" srcId="{14CA0A2C-9472-4FEF-836C-9788B9F3F591}" destId="{C710D3AC-CDF7-4475-8EC3-FE1A1D9A71C5}" srcOrd="0" destOrd="0" presId="urn:microsoft.com/office/officeart/2005/8/layout/list1#1"/>
    <dgm:cxn modelId="{98288070-887A-4B0B-BF0F-312FE1655647}" type="presOf" srcId="{14CA0A2C-9472-4FEF-836C-9788B9F3F591}" destId="{B0EC77D2-EBEA-4684-B4B2-A3D85C0ECADA}" srcOrd="1" destOrd="0" presId="urn:microsoft.com/office/officeart/2005/8/layout/list1#1"/>
    <dgm:cxn modelId="{AD2C5180-CC77-4C1A-A59C-4349BDE8F038}" srcId="{2F22FB26-488B-42AF-BA49-D01507D05ECA}" destId="{00942154-EC2E-4B35-A9DE-A9AEDE29D1AA}" srcOrd="0" destOrd="0" parTransId="{EBAF9141-4EB1-4F70-BFE3-C13E0209C42D}" sibTransId="{034E5E9B-58C6-4622-B8AE-45F42525C90F}"/>
    <dgm:cxn modelId="{6234416E-D832-46E4-8423-CC2FA0DFE52D}" type="presOf" srcId="{157756C4-837A-47A3-BB8F-C37778811EDE}" destId="{9CC7497E-5802-4A31-8F71-8201E5FE7A39}" srcOrd="0" destOrd="0" presId="urn:microsoft.com/office/officeart/2005/8/layout/list1#1"/>
    <dgm:cxn modelId="{DD950AA8-E996-47E0-8A0D-541C5703E6E2}" srcId="{157756C4-837A-47A3-BB8F-C37778811EDE}" destId="{14CA0A2C-9472-4FEF-836C-9788B9F3F591}" srcOrd="0" destOrd="0" parTransId="{5EB6BD32-8C3A-4329-9B0F-B5403B64435B}" sibTransId="{B32394A0-9978-4894-9D9C-5F54CC4D8BF0}"/>
    <dgm:cxn modelId="{0120CE57-8F99-41B7-B69B-4BDE5DC66A47}" type="presOf" srcId="{2F22FB26-488B-42AF-BA49-D01507D05ECA}" destId="{FC0B3963-4AE4-4080-AF44-B07895F08E3F}" srcOrd="1" destOrd="0" presId="urn:microsoft.com/office/officeart/2005/8/layout/list1#1"/>
    <dgm:cxn modelId="{BFE94CC9-C171-46EA-8663-625BAEBD59C2}" srcId="{157756C4-837A-47A3-BB8F-C37778811EDE}" destId="{5A630582-589C-4E8D-8429-2A434A757FF8}" srcOrd="1" destOrd="0" parTransId="{28D87519-9913-444B-9287-8B9F85B0C907}" sibTransId="{64420698-A8BB-41AA-A572-4983F1AB7A40}"/>
    <dgm:cxn modelId="{5F38D1ED-F844-4C69-B9F3-D980A81A554F}" type="presOf" srcId="{5A630582-589C-4E8D-8429-2A434A757FF8}" destId="{22CDD940-DB5C-4B06-955D-1AAA38E218E5}" srcOrd="0" destOrd="0" presId="urn:microsoft.com/office/officeart/2005/8/layout/list1#1"/>
    <dgm:cxn modelId="{8F470BFC-49D2-4763-9A2D-BA9FBC7F20AA}" srcId="{157756C4-837A-47A3-BB8F-C37778811EDE}" destId="{2F22FB26-488B-42AF-BA49-D01507D05ECA}" srcOrd="2" destOrd="0" parTransId="{D048B3FF-48A8-497E-B953-E26747DA0463}" sibTransId="{58934D23-4D92-4C61-A38E-015E242F8A59}"/>
    <dgm:cxn modelId="{EAFCEBC1-E51C-4C10-9835-4E4FE6ADDE9B}" type="presOf" srcId="{2F22FB26-488B-42AF-BA49-D01507D05ECA}" destId="{4FCBCBAA-699B-4A27-B815-C9C126A404BB}" srcOrd="0" destOrd="0" presId="urn:microsoft.com/office/officeart/2005/8/layout/list1#1"/>
    <dgm:cxn modelId="{DA7C17CA-9AE4-4F48-82C7-7D89124812D3}" type="presOf" srcId="{191FB02D-C9D6-4DA2-A020-D6F9ACED80FF}" destId="{AEC12650-2A2F-4F4B-9359-A8A6AE74D501}" srcOrd="0" destOrd="0" presId="urn:microsoft.com/office/officeart/2005/8/layout/list1#1"/>
    <dgm:cxn modelId="{ED9B5D72-E709-449D-B04F-6FC92BDD840B}" type="presOf" srcId="{5FC506D2-4ACA-45EE-B01F-8019B87CBD42}" destId="{EF616A94-776F-482A-81AC-F544E76EBB94}" srcOrd="0" destOrd="0" presId="urn:microsoft.com/office/officeart/2005/8/layout/list1#1"/>
    <dgm:cxn modelId="{94998762-4C92-47D0-AAE7-66F28144B345}" type="presOf" srcId="{00942154-EC2E-4B35-A9DE-A9AEDE29D1AA}" destId="{86BB0AFD-DCF3-46FA-87E6-8DDE0580E3A9}" srcOrd="0" destOrd="0" presId="urn:microsoft.com/office/officeart/2005/8/layout/list1#1"/>
    <dgm:cxn modelId="{7F257E77-180D-4035-AB1A-36E147767DC4}" srcId="{14CA0A2C-9472-4FEF-836C-9788B9F3F591}" destId="{191FB02D-C9D6-4DA2-A020-D6F9ACED80FF}" srcOrd="0" destOrd="0" parTransId="{8540FD7F-8A40-46E9-AAFC-CECECCAC28AD}" sibTransId="{DDC0225B-FD7C-4D6C-89A8-107844342697}"/>
    <dgm:cxn modelId="{12DBE338-54C2-40A1-8701-1A5A5CD55ACC}" type="presOf" srcId="{5A630582-589C-4E8D-8429-2A434A757FF8}" destId="{6CEB8B27-F328-4CE8-97FF-4EE11A9D5A40}" srcOrd="1" destOrd="0" presId="urn:microsoft.com/office/officeart/2005/8/layout/list1#1"/>
    <dgm:cxn modelId="{E21179B7-19AE-4394-9B27-7BF6A4364D72}" type="presParOf" srcId="{9CC7497E-5802-4A31-8F71-8201E5FE7A39}" destId="{D367D42A-D8D5-42FE-8602-F8DAAA669737}" srcOrd="0" destOrd="0" presId="urn:microsoft.com/office/officeart/2005/8/layout/list1#1"/>
    <dgm:cxn modelId="{F0051D7A-A45D-484F-B0E6-667FBC634F44}" type="presParOf" srcId="{D367D42A-D8D5-42FE-8602-F8DAAA669737}" destId="{C710D3AC-CDF7-4475-8EC3-FE1A1D9A71C5}" srcOrd="0" destOrd="0" presId="urn:microsoft.com/office/officeart/2005/8/layout/list1#1"/>
    <dgm:cxn modelId="{25F85DE7-B30D-402D-BD64-3259DFC22A80}" type="presParOf" srcId="{D367D42A-D8D5-42FE-8602-F8DAAA669737}" destId="{B0EC77D2-EBEA-4684-B4B2-A3D85C0ECADA}" srcOrd="1" destOrd="0" presId="urn:microsoft.com/office/officeart/2005/8/layout/list1#1"/>
    <dgm:cxn modelId="{1E53E80E-5AE2-4E07-85B0-831B9D07A505}" type="presParOf" srcId="{9CC7497E-5802-4A31-8F71-8201E5FE7A39}" destId="{68AD82D2-84D2-4B4E-8F7A-8D4E2C687E0B}" srcOrd="1" destOrd="0" presId="urn:microsoft.com/office/officeart/2005/8/layout/list1#1"/>
    <dgm:cxn modelId="{36666E89-097A-4490-A785-606057106577}" type="presParOf" srcId="{9CC7497E-5802-4A31-8F71-8201E5FE7A39}" destId="{AEC12650-2A2F-4F4B-9359-A8A6AE74D501}" srcOrd="2" destOrd="0" presId="urn:microsoft.com/office/officeart/2005/8/layout/list1#1"/>
    <dgm:cxn modelId="{A441BF99-9D0C-4B0B-9BC3-D45EE12CB7B0}" type="presParOf" srcId="{9CC7497E-5802-4A31-8F71-8201E5FE7A39}" destId="{45CC70BB-E141-46DD-B5D0-0862C070FB55}" srcOrd="3" destOrd="0" presId="urn:microsoft.com/office/officeart/2005/8/layout/list1#1"/>
    <dgm:cxn modelId="{936D0AF9-B709-4806-B315-6CF08A37C59A}" type="presParOf" srcId="{9CC7497E-5802-4A31-8F71-8201E5FE7A39}" destId="{A4A2A197-41F3-417B-BEA3-51BE19090437}" srcOrd="4" destOrd="0" presId="urn:microsoft.com/office/officeart/2005/8/layout/list1#1"/>
    <dgm:cxn modelId="{17BB100E-1E34-4B3B-A804-859C316D2EFF}" type="presParOf" srcId="{A4A2A197-41F3-417B-BEA3-51BE19090437}" destId="{22CDD940-DB5C-4B06-955D-1AAA38E218E5}" srcOrd="0" destOrd="0" presId="urn:microsoft.com/office/officeart/2005/8/layout/list1#1"/>
    <dgm:cxn modelId="{F0D31BB8-DAEE-4900-843E-0E4DDECF3BCD}" type="presParOf" srcId="{A4A2A197-41F3-417B-BEA3-51BE19090437}" destId="{6CEB8B27-F328-4CE8-97FF-4EE11A9D5A40}" srcOrd="1" destOrd="0" presId="urn:microsoft.com/office/officeart/2005/8/layout/list1#1"/>
    <dgm:cxn modelId="{41C40B06-69F5-4D55-8C0C-189ECCD1E5F2}" type="presParOf" srcId="{9CC7497E-5802-4A31-8F71-8201E5FE7A39}" destId="{0F68158A-707F-4888-8BEE-6972DF376052}" srcOrd="5" destOrd="0" presId="urn:microsoft.com/office/officeart/2005/8/layout/list1#1"/>
    <dgm:cxn modelId="{E3BE19F8-9BEE-4505-9993-CE1FA254D854}" type="presParOf" srcId="{9CC7497E-5802-4A31-8F71-8201E5FE7A39}" destId="{EF616A94-776F-482A-81AC-F544E76EBB94}" srcOrd="6" destOrd="0" presId="urn:microsoft.com/office/officeart/2005/8/layout/list1#1"/>
    <dgm:cxn modelId="{BCD04AA8-440F-4287-87F4-691A5ECBADA0}" type="presParOf" srcId="{9CC7497E-5802-4A31-8F71-8201E5FE7A39}" destId="{0A1E477F-0692-4C0C-9315-859583F6B9D6}" srcOrd="7" destOrd="0" presId="urn:microsoft.com/office/officeart/2005/8/layout/list1#1"/>
    <dgm:cxn modelId="{018A69B1-DED1-4420-8B5B-E5C23B22774E}" type="presParOf" srcId="{9CC7497E-5802-4A31-8F71-8201E5FE7A39}" destId="{660DFF66-3BAF-4FB0-B097-3FD6CE9C02CC}" srcOrd="8" destOrd="0" presId="urn:microsoft.com/office/officeart/2005/8/layout/list1#1"/>
    <dgm:cxn modelId="{442DC8EE-3A6D-4D0A-9FFA-0A61AA54CC4F}" type="presParOf" srcId="{660DFF66-3BAF-4FB0-B097-3FD6CE9C02CC}" destId="{4FCBCBAA-699B-4A27-B815-C9C126A404BB}" srcOrd="0" destOrd="0" presId="urn:microsoft.com/office/officeart/2005/8/layout/list1#1"/>
    <dgm:cxn modelId="{BA079DE0-6885-4947-8A5A-6EFA6674CBA1}" type="presParOf" srcId="{660DFF66-3BAF-4FB0-B097-3FD6CE9C02CC}" destId="{FC0B3963-4AE4-4080-AF44-B07895F08E3F}" srcOrd="1" destOrd="0" presId="urn:microsoft.com/office/officeart/2005/8/layout/list1#1"/>
    <dgm:cxn modelId="{D7DB1E77-3731-478D-B953-115E55B0910F}" type="presParOf" srcId="{9CC7497E-5802-4A31-8F71-8201E5FE7A39}" destId="{A86B4A17-3026-4EDC-9B0F-B526A10A0CDD}" srcOrd="9" destOrd="0" presId="urn:microsoft.com/office/officeart/2005/8/layout/list1#1"/>
    <dgm:cxn modelId="{D54CC02F-0DCF-4930-AD80-AF49C96A88CB}" type="presParOf" srcId="{9CC7497E-5802-4A31-8F71-8201E5FE7A39}" destId="{86BB0AFD-DCF3-46FA-87E6-8DDE0580E3A9}" srcOrd="10" destOrd="0" presId="urn:microsoft.com/office/officeart/2005/8/layout/list1#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2438400" cy="3639405"/>
        <a:chOff x="0" y="0"/>
        <a:chExt cx="2438400" cy="3639405"/>
      </a:xfrm>
    </dsp:grpSpPr>
    <dsp:sp modelId="{DAEA805F-D571-477F-8D19-9DAEC31723E9}">
      <dsp:nvSpPr>
        <dsp:cNvPr id="5" name="任意多边形 4"/>
        <dsp:cNvSpPr/>
      </dsp:nvSpPr>
      <dsp:spPr bwMode="white">
        <a:xfrm>
          <a:off x="343783" y="577477"/>
          <a:ext cx="775370" cy="523748"/>
        </a:xfrm>
        <a:custGeom>
          <a:avLst/>
          <a:gdLst/>
          <a:ahLst/>
          <a:cxnLst/>
          <a:pathLst>
            <a:path w="1221" h="825">
              <a:moveTo>
                <a:pt x="1221" y="0"/>
              </a:moveTo>
              <a:lnTo>
                <a:pt x="1221" y="669"/>
              </a:lnTo>
              <a:lnTo>
                <a:pt x="0" y="669"/>
              </a:lnTo>
              <a:lnTo>
                <a:pt x="0" y="825"/>
              </a:lnTo>
            </a:path>
          </a:pathLst>
        </a:custGeom>
        <a:sp3d prstMaterial="matte"/>
      </dsp:spPr>
      <dsp:style>
        <a:lnRef idx="2">
          <a:schemeClr val="accent2"/>
        </a:lnRef>
        <a:fillRef idx="0">
          <a:schemeClr val="accent3">
            <a:tint val="90000"/>
          </a:schemeClr>
        </a:fillRef>
        <a:effectRef idx="0">
          <a:scrgbClr r="0" g="0" b="0"/>
        </a:effectRef>
        <a:fontRef idx="minor"/>
      </dsp:style>
      <dsp:txXfrm>
        <a:off x="343783" y="577477"/>
        <a:ext cx="775370" cy="523748"/>
      </dsp:txXfrm>
    </dsp:sp>
    <dsp:sp modelId="{97F94023-0E81-4CBC-BDE6-A4BDAFA2F61C}">
      <dsp:nvSpPr>
        <dsp:cNvPr id="8" name="任意多边形 7"/>
        <dsp:cNvSpPr/>
      </dsp:nvSpPr>
      <dsp:spPr bwMode="white">
        <a:xfrm>
          <a:off x="1119153" y="577477"/>
          <a:ext cx="8806" cy="523748"/>
        </a:xfrm>
        <a:custGeom>
          <a:avLst/>
          <a:gdLst/>
          <a:ahLst/>
          <a:cxnLst/>
          <a:pathLst>
            <a:path w="14" h="825">
              <a:moveTo>
                <a:pt x="0" y="0"/>
              </a:moveTo>
              <a:lnTo>
                <a:pt x="0" y="669"/>
              </a:lnTo>
              <a:lnTo>
                <a:pt x="14" y="669"/>
              </a:lnTo>
              <a:lnTo>
                <a:pt x="14" y="825"/>
              </a:lnTo>
            </a:path>
          </a:pathLst>
        </a:custGeom>
        <a:sp3d prstMaterial="matte"/>
      </dsp:spPr>
      <dsp:style>
        <a:lnRef idx="2">
          <a:schemeClr val="accent2"/>
        </a:lnRef>
        <a:fillRef idx="0">
          <a:schemeClr val="accent3">
            <a:tint val="90000"/>
          </a:schemeClr>
        </a:fillRef>
        <a:effectRef idx="0">
          <a:scrgbClr r="0" g="0" b="0"/>
        </a:effectRef>
        <a:fontRef idx="minor"/>
      </dsp:style>
      <dsp:txXfrm>
        <a:off x="1119153" y="577477"/>
        <a:ext cx="8806" cy="523748"/>
      </dsp:txXfrm>
    </dsp:sp>
    <dsp:sp modelId="{3F042C6B-A402-4F0E-BAF1-AE3700899FFA}">
      <dsp:nvSpPr>
        <dsp:cNvPr id="11" name="任意多边形 10"/>
        <dsp:cNvSpPr/>
      </dsp:nvSpPr>
      <dsp:spPr bwMode="white">
        <a:xfrm>
          <a:off x="1119153" y="577477"/>
          <a:ext cx="784176" cy="523748"/>
        </a:xfrm>
        <a:custGeom>
          <a:avLst/>
          <a:gdLst/>
          <a:ahLst/>
          <a:cxnLst/>
          <a:pathLst>
            <a:path w="1235" h="825">
              <a:moveTo>
                <a:pt x="0" y="0"/>
              </a:moveTo>
              <a:lnTo>
                <a:pt x="0" y="669"/>
              </a:lnTo>
              <a:lnTo>
                <a:pt x="1235" y="669"/>
              </a:lnTo>
              <a:lnTo>
                <a:pt x="1235" y="825"/>
              </a:lnTo>
            </a:path>
          </a:pathLst>
        </a:custGeom>
        <a:sp3d prstMaterial="matte"/>
      </dsp:spPr>
      <dsp:style>
        <a:lnRef idx="2">
          <a:schemeClr val="accent2"/>
        </a:lnRef>
        <a:fillRef idx="0">
          <a:schemeClr val="accent3">
            <a:tint val="90000"/>
          </a:schemeClr>
        </a:fillRef>
        <a:effectRef idx="0">
          <a:scrgbClr r="0" g="0" b="0"/>
        </a:effectRef>
        <a:fontRef idx="minor"/>
      </dsp:style>
      <dsp:txXfrm>
        <a:off x="1119153" y="577477"/>
        <a:ext cx="784176" cy="523748"/>
      </dsp:txXfrm>
    </dsp:sp>
    <dsp:sp modelId="{04AAA6CA-DAF8-4167-ABA1-9EFD081FC14E}">
      <dsp:nvSpPr>
        <dsp:cNvPr id="3" name="圆角矩形 2"/>
        <dsp:cNvSpPr/>
      </dsp:nvSpPr>
      <dsp:spPr bwMode="white">
        <a:xfrm>
          <a:off x="227578" y="0"/>
          <a:ext cx="1783150" cy="577477"/>
        </a:xfrm>
        <a:prstGeom prst="roundRect">
          <a:avLst>
            <a:gd name="adj" fmla="val 10000"/>
          </a:avLst>
        </a:prstGeom>
        <a:sp3d prstMaterial="plastic">
          <a:bevelT w="120900" h="88900"/>
          <a:bevelB w="88900" h="31750" prst="angle"/>
        </a:sp3d>
      </dsp:spPr>
      <dsp:style>
        <a:lnRef idx="0">
          <a:schemeClr val="lt1"/>
        </a:lnRef>
        <a:fillRef idx="3">
          <a:schemeClr val="accent1"/>
        </a:fillRef>
        <a:effectRef idx="2">
          <a:scrgbClr r="0" g="0" b="0"/>
        </a:effectRef>
        <a:fontRef idx="minor">
          <a:schemeClr val="lt1"/>
        </a:fontRef>
      </dsp:style>
      <dsp:txXfrm>
        <a:off x="227578" y="0"/>
        <a:ext cx="1783150" cy="577477"/>
      </dsp:txXfrm>
    </dsp:sp>
    <dsp:sp modelId="{60B61FE9-4998-4E0D-AD7A-8F510B26F58A}">
      <dsp:nvSpPr>
        <dsp:cNvPr id="4" name="圆角矩形 3"/>
        <dsp:cNvSpPr/>
      </dsp:nvSpPr>
      <dsp:spPr bwMode="white">
        <a:xfrm>
          <a:off x="427672" y="190090"/>
          <a:ext cx="1783150" cy="577477"/>
        </a:xfrm>
        <a:prstGeom prst="roundRect">
          <a:avLst>
            <a:gd name="adj" fmla="val 10000"/>
          </a:avLst>
        </a:prstGeom>
        <a:sp3d z="190500" extrusionH="12700" prstMaterial="plastic">
          <a:bevelT w="50800" h="50800"/>
        </a:sp3d>
      </dsp:spPr>
      <dsp:style>
        <a:lnRef idx="1">
          <a:schemeClr val="accent1"/>
        </a:lnRef>
        <a:fillRef idx="1">
          <a:schemeClr val="lt1">
            <a:alpha val="90000"/>
          </a:schemeClr>
        </a:fillRef>
        <a:effectRef idx="2">
          <a:scrgbClr r="0" g="0" b="0"/>
        </a:effectRef>
        <a:fontRef idx="minor"/>
      </dsp:style>
      <dsp:txBody>
        <a:bodyPr lIns="64769" tIns="64769" rIns="64769" bIns="64769"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zh-CN" b="1" dirty="0" smtClean="0">
              <a:solidFill>
                <a:schemeClr val="dk1"/>
              </a:solidFill>
              <a:latin typeface="+mj-ea"/>
              <a:ea typeface="+mj-ea"/>
            </a:rPr>
            <a:t>数据库结构设计</a:t>
          </a:r>
          <a:endParaRPr lang="zh-CN" altLang="en-US" dirty="0">
            <a:solidFill>
              <a:schemeClr val="dk1"/>
            </a:solidFill>
            <a:latin typeface="+mj-ea"/>
            <a:ea typeface="+mj-ea"/>
          </a:endParaRPr>
        </a:p>
      </dsp:txBody>
      <dsp:txXfrm>
        <a:off x="427672" y="190090"/>
        <a:ext cx="1783150" cy="577477"/>
      </dsp:txXfrm>
    </dsp:sp>
    <dsp:sp modelId="{0EBA5795-3D3C-4A0D-9180-F1A53B6F78B8}">
      <dsp:nvSpPr>
        <dsp:cNvPr id="6" name="圆角矩形 5"/>
        <dsp:cNvSpPr/>
      </dsp:nvSpPr>
      <dsp:spPr bwMode="white">
        <a:xfrm>
          <a:off x="149948" y="1101225"/>
          <a:ext cx="387669" cy="2348090"/>
        </a:xfrm>
        <a:prstGeom prst="roundRect">
          <a:avLst>
            <a:gd name="adj" fmla="val 10000"/>
          </a:avLst>
        </a:prstGeom>
        <a:sp3d prstMaterial="plastic">
          <a:bevelT w="120900" h="88900"/>
          <a:bevelB w="88900" h="31750" prst="angle"/>
        </a:sp3d>
      </dsp:spPr>
      <dsp:style>
        <a:lnRef idx="0">
          <a:schemeClr val="lt1"/>
        </a:lnRef>
        <a:fillRef idx="3">
          <a:schemeClr val="accent2">
            <a:hueOff val="0"/>
            <a:satOff val="0"/>
            <a:lumOff val="0"/>
            <a:alpha val="100000"/>
          </a:schemeClr>
        </a:fillRef>
        <a:effectRef idx="1">
          <a:scrgbClr r="0" g="0" b="0"/>
        </a:effectRef>
        <a:fontRef idx="minor">
          <a:schemeClr val="lt1"/>
        </a:fontRef>
      </dsp:style>
      <dsp:txXfrm>
        <a:off x="149948" y="1101225"/>
        <a:ext cx="387669" cy="2348090"/>
      </dsp:txXfrm>
    </dsp:sp>
    <dsp:sp modelId="{0F3ADCB2-701A-4880-B89A-22BC91A02216}">
      <dsp:nvSpPr>
        <dsp:cNvPr id="7" name="圆角矩形 6"/>
        <dsp:cNvSpPr/>
      </dsp:nvSpPr>
      <dsp:spPr bwMode="white">
        <a:xfrm>
          <a:off x="350043" y="1291315"/>
          <a:ext cx="387669" cy="2348090"/>
        </a:xfrm>
        <a:prstGeom prst="roundRect">
          <a:avLst>
            <a:gd name="adj" fmla="val 10000"/>
          </a:avLst>
        </a:prstGeom>
        <a:sp3d z="190500" extrusionH="12700" prstMaterial="plastic">
          <a:bevelT w="50800" h="50800"/>
        </a:sp3d>
      </dsp:spPr>
      <dsp:style>
        <a:lnRef idx="1">
          <a:schemeClr val="accent2">
            <a:hueOff val="0"/>
            <a:satOff val="0"/>
            <a:lumOff val="0"/>
            <a:alpha val="100000"/>
          </a:schemeClr>
        </a:lnRef>
        <a:fillRef idx="1">
          <a:schemeClr val="lt1">
            <a:alpha val="90000"/>
          </a:schemeClr>
        </a:fillRef>
        <a:effectRef idx="2">
          <a:scrgbClr r="0" g="0" b="0"/>
        </a:effectRef>
        <a:fontRef idx="minor"/>
      </dsp:style>
      <dsp:txBody>
        <a:bodyPr lIns="64769" tIns="64769" rIns="64769" bIns="64769"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zh-CN" dirty="0" smtClean="0">
              <a:solidFill>
                <a:schemeClr val="dk1"/>
              </a:solidFill>
              <a:latin typeface="+mj-ea"/>
              <a:ea typeface="+mj-ea"/>
            </a:rPr>
            <a:t>概念结构设计</a:t>
          </a:r>
          <a:endParaRPr lang="zh-CN" altLang="en-US" dirty="0">
            <a:solidFill>
              <a:schemeClr val="dk1"/>
            </a:solidFill>
            <a:latin typeface="+mj-ea"/>
            <a:ea typeface="+mj-ea"/>
          </a:endParaRPr>
        </a:p>
      </dsp:txBody>
      <dsp:txXfrm>
        <a:off x="350043" y="1291315"/>
        <a:ext cx="387669" cy="2348090"/>
      </dsp:txXfrm>
    </dsp:sp>
    <dsp:sp modelId="{3CB52251-0C2C-4179-A56B-9D2BD87A3C52}">
      <dsp:nvSpPr>
        <dsp:cNvPr id="9" name="圆角矩形 8"/>
        <dsp:cNvSpPr/>
      </dsp:nvSpPr>
      <dsp:spPr bwMode="white">
        <a:xfrm>
          <a:off x="937807" y="1101225"/>
          <a:ext cx="380304" cy="2348090"/>
        </a:xfrm>
        <a:prstGeom prst="roundRect">
          <a:avLst>
            <a:gd name="adj" fmla="val 10000"/>
          </a:avLst>
        </a:prstGeom>
        <a:sp3d prstMaterial="plastic">
          <a:bevelT w="120900" h="88900"/>
          <a:bevelB w="88900" h="31750" prst="angle"/>
        </a:sp3d>
      </dsp:spPr>
      <dsp:style>
        <a:lnRef idx="0">
          <a:schemeClr val="lt1"/>
        </a:lnRef>
        <a:fillRef idx="3">
          <a:schemeClr val="accent2">
            <a:hueOff val="0"/>
            <a:satOff val="0"/>
            <a:lumOff val="0"/>
            <a:alpha val="100000"/>
          </a:schemeClr>
        </a:fillRef>
        <a:effectRef idx="1">
          <a:scrgbClr r="0" g="0" b="0"/>
        </a:effectRef>
        <a:fontRef idx="minor">
          <a:schemeClr val="lt1"/>
        </a:fontRef>
      </dsp:style>
      <dsp:txXfrm>
        <a:off x="937807" y="1101225"/>
        <a:ext cx="380304" cy="2348090"/>
      </dsp:txXfrm>
    </dsp:sp>
    <dsp:sp modelId="{EBF56F70-6585-465D-BD72-03323D6D8220}">
      <dsp:nvSpPr>
        <dsp:cNvPr id="10" name="圆角矩形 9"/>
        <dsp:cNvSpPr/>
      </dsp:nvSpPr>
      <dsp:spPr bwMode="white">
        <a:xfrm>
          <a:off x="1137902" y="1291315"/>
          <a:ext cx="380304" cy="2348090"/>
        </a:xfrm>
        <a:prstGeom prst="roundRect">
          <a:avLst>
            <a:gd name="adj" fmla="val 10000"/>
          </a:avLst>
        </a:prstGeom>
        <a:sp3d z="190500" extrusionH="12700" prstMaterial="plastic">
          <a:bevelT w="50800" h="50800"/>
        </a:sp3d>
      </dsp:spPr>
      <dsp:style>
        <a:lnRef idx="1">
          <a:schemeClr val="accent2">
            <a:hueOff val="0"/>
            <a:satOff val="0"/>
            <a:lumOff val="0"/>
            <a:alpha val="100000"/>
          </a:schemeClr>
        </a:lnRef>
        <a:fillRef idx="1">
          <a:schemeClr val="lt1">
            <a:alpha val="90000"/>
          </a:schemeClr>
        </a:fillRef>
        <a:effectRef idx="2">
          <a:scrgbClr r="0" g="0" b="0"/>
        </a:effectRef>
        <a:fontRef idx="minor"/>
      </dsp:style>
      <dsp:txBody>
        <a:bodyPr lIns="64769" tIns="64769" rIns="64769" bIns="64769"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zh-CN" dirty="0" smtClean="0">
              <a:solidFill>
                <a:schemeClr val="dk1"/>
              </a:solidFill>
              <a:latin typeface="+mj-ea"/>
              <a:ea typeface="+mj-ea"/>
            </a:rPr>
            <a:t>逻辑结构设计</a:t>
          </a:r>
          <a:endParaRPr lang="zh-CN" altLang="en-US" dirty="0">
            <a:solidFill>
              <a:schemeClr val="dk1"/>
            </a:solidFill>
            <a:latin typeface="+mj-ea"/>
            <a:ea typeface="+mj-ea"/>
          </a:endParaRPr>
        </a:p>
      </dsp:txBody>
      <dsp:txXfrm>
        <a:off x="1137902" y="1291315"/>
        <a:ext cx="380304" cy="2348090"/>
      </dsp:txXfrm>
    </dsp:sp>
    <dsp:sp modelId="{2155B96F-1F04-463F-A143-0F749EF312AB}">
      <dsp:nvSpPr>
        <dsp:cNvPr id="12" name="圆角矩形 11"/>
        <dsp:cNvSpPr/>
      </dsp:nvSpPr>
      <dsp:spPr bwMode="white">
        <a:xfrm>
          <a:off x="1718300" y="1101225"/>
          <a:ext cx="370057" cy="2348090"/>
        </a:xfrm>
        <a:prstGeom prst="roundRect">
          <a:avLst>
            <a:gd name="adj" fmla="val 10000"/>
          </a:avLst>
        </a:prstGeom>
        <a:sp3d prstMaterial="plastic">
          <a:bevelT w="120900" h="88900"/>
          <a:bevelB w="88900" h="31750" prst="angle"/>
        </a:sp3d>
      </dsp:spPr>
      <dsp:style>
        <a:lnRef idx="0">
          <a:schemeClr val="lt1"/>
        </a:lnRef>
        <a:fillRef idx="3">
          <a:schemeClr val="accent2">
            <a:hueOff val="0"/>
            <a:satOff val="0"/>
            <a:lumOff val="0"/>
            <a:alpha val="100000"/>
          </a:schemeClr>
        </a:fillRef>
        <a:effectRef idx="1">
          <a:scrgbClr r="0" g="0" b="0"/>
        </a:effectRef>
        <a:fontRef idx="minor">
          <a:schemeClr val="lt1"/>
        </a:fontRef>
      </dsp:style>
      <dsp:txXfrm>
        <a:off x="1718300" y="1101225"/>
        <a:ext cx="370057" cy="2348090"/>
      </dsp:txXfrm>
    </dsp:sp>
    <dsp:sp modelId="{0E8DF5AF-353D-4CE3-A8EB-85791C69B057}">
      <dsp:nvSpPr>
        <dsp:cNvPr id="13" name="圆角矩形 12"/>
        <dsp:cNvSpPr/>
      </dsp:nvSpPr>
      <dsp:spPr bwMode="white">
        <a:xfrm>
          <a:off x="1918395" y="1291315"/>
          <a:ext cx="370057" cy="2348090"/>
        </a:xfrm>
        <a:prstGeom prst="roundRect">
          <a:avLst>
            <a:gd name="adj" fmla="val 10000"/>
          </a:avLst>
        </a:prstGeom>
        <a:sp3d z="190500" extrusionH="12700" prstMaterial="plastic">
          <a:bevelT w="50800" h="50800"/>
        </a:sp3d>
      </dsp:spPr>
      <dsp:style>
        <a:lnRef idx="1">
          <a:schemeClr val="accent2">
            <a:hueOff val="0"/>
            <a:satOff val="0"/>
            <a:lumOff val="0"/>
            <a:alpha val="100000"/>
          </a:schemeClr>
        </a:lnRef>
        <a:fillRef idx="1">
          <a:schemeClr val="lt1">
            <a:alpha val="90000"/>
          </a:schemeClr>
        </a:fillRef>
        <a:effectRef idx="2">
          <a:scrgbClr r="0" g="0" b="0"/>
        </a:effectRef>
        <a:fontRef idx="minor"/>
      </dsp:style>
      <dsp:txBody>
        <a:bodyPr lIns="64769" tIns="64769" rIns="64769" bIns="64769"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zh-CN" altLang="zh-CN" dirty="0" smtClean="0">
              <a:solidFill>
                <a:schemeClr val="dk1"/>
              </a:solidFill>
              <a:latin typeface="+mj-ea"/>
              <a:ea typeface="+mj-ea"/>
            </a:rPr>
            <a:t>物理结构设计</a:t>
          </a:r>
          <a:endParaRPr lang="zh-CN" altLang="en-US" dirty="0">
            <a:solidFill>
              <a:schemeClr val="dk1"/>
            </a:solidFill>
            <a:latin typeface="+mj-ea"/>
            <a:ea typeface="+mj-ea"/>
          </a:endParaRPr>
        </a:p>
      </dsp:txBody>
      <dsp:txXfrm>
        <a:off x="1918395" y="1291315"/>
        <a:ext cx="370057" cy="234809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791200" cy="4343400"/>
        <a:chOff x="0" y="0"/>
        <a:chExt cx="5791200" cy="4343400"/>
      </a:xfrm>
    </dsp:grpSpPr>
    <dsp:sp modelId="{AEC12650-2A2F-4F4B-9359-A8A6AE74D501}">
      <dsp:nvSpPr>
        <dsp:cNvPr id="5" name="矩形 4"/>
        <dsp:cNvSpPr/>
      </dsp:nvSpPr>
      <dsp:spPr bwMode="white">
        <a:xfrm>
          <a:off x="0" y="307567"/>
          <a:ext cx="5791200" cy="1011555"/>
        </a:xfrm>
        <a:prstGeom prst="rect">
          <a:avLst/>
        </a:prstGeom>
        <a:sp3d z="190500" extrusionH="12700" prstMaterial="plastic">
          <a:bevelT w="50800" h="50800"/>
        </a:sp3d>
      </dsp:spPr>
      <dsp:style>
        <a:lnRef idx="1">
          <a:schemeClr val="accent2"/>
        </a:lnRef>
        <a:fillRef idx="1">
          <a:schemeClr val="lt1">
            <a:alpha val="90000"/>
          </a:schemeClr>
        </a:fillRef>
        <a:effectRef idx="2">
          <a:scrgbClr r="0" g="0" b="0"/>
        </a:effectRef>
        <a:fontRef idx="minor"/>
      </dsp:style>
      <dsp:txBody>
        <a:bodyPr lIns="449461" tIns="333248" rIns="449461" bIns="113792" anchor="t"/>
        <a:lstStyle>
          <a:lvl1pPr algn="l">
            <a:defRPr sz="16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1">
            <a:lnSpc>
              <a:spcPct val="100000"/>
            </a:lnSpc>
            <a:spcBef>
              <a:spcPct val="0"/>
            </a:spcBef>
            <a:spcAft>
              <a:spcPct val="15000"/>
            </a:spcAft>
            <a:buChar char="•"/>
          </a:pPr>
          <a:r>
            <a:rPr lang="zh-CN" altLang="zh-CN" smtClean="0">
              <a:solidFill>
                <a:schemeClr val="dk1"/>
              </a:solidFill>
              <a:latin typeface="+mj-ea"/>
              <a:ea typeface="+mj-ea"/>
            </a:rPr>
            <a:t>是系统中各种数据模型的共同基础，它描述了系统最基础的数据结构，独立于特定的数据库系统。 </a:t>
          </a:r>
          <a:endParaRPr lang="zh-CN" altLang="en-US">
            <a:solidFill>
              <a:schemeClr val="dk1"/>
            </a:solidFill>
            <a:latin typeface="+mj-ea"/>
            <a:ea typeface="+mj-ea"/>
          </a:endParaRPr>
        </a:p>
      </dsp:txBody>
      <dsp:txXfrm>
        <a:off x="0" y="307567"/>
        <a:ext cx="5791200" cy="1011555"/>
      </dsp:txXfrm>
    </dsp:sp>
    <dsp:sp modelId="{B0EC77D2-EBEA-4684-B4B2-A3D85C0ECADA}">
      <dsp:nvSpPr>
        <dsp:cNvPr id="4" name="圆角矩形 3"/>
        <dsp:cNvSpPr/>
      </dsp:nvSpPr>
      <dsp:spPr bwMode="white">
        <a:xfrm>
          <a:off x="289560" y="56647"/>
          <a:ext cx="4053840" cy="501840"/>
        </a:xfrm>
        <a:prstGeom prst="roundRect">
          <a:avLst/>
        </a:prstGeom>
        <a:sp3d prstMaterial="plastic">
          <a:bevelT w="120900" h="88900"/>
          <a:bevelB w="88900" h="31750" prst="angle"/>
        </a:sp3d>
      </dsp:spPr>
      <dsp:style>
        <a:lnRef idx="0">
          <a:schemeClr val="lt1"/>
        </a:lnRef>
        <a:fillRef idx="3">
          <a:schemeClr val="accent2"/>
        </a:fillRef>
        <a:effectRef idx="2">
          <a:scrgbClr r="0" g="0" b="0"/>
        </a:effectRef>
        <a:fontRef idx="minor">
          <a:schemeClr val="lt1"/>
        </a:fontRef>
      </dsp:style>
      <dsp:txBody>
        <a:bodyPr lIns="153225" tIns="0" rIns="153225" bIns="0"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zh-CN" altLang="zh-CN" b="1" dirty="0" smtClean="0">
              <a:effectLst>
                <a:outerShdw blurRad="38100" dist="38100" dir="2700000" algn="tl">
                  <a:srgbClr val="000000">
                    <a:alpha val="43137"/>
                  </a:srgbClr>
                </a:outerShdw>
              </a:effectLst>
              <a:latin typeface="+mj-ea"/>
              <a:ea typeface="+mj-ea"/>
            </a:rPr>
            <a:t>数据库的概念结构</a:t>
          </a:r>
          <a:endParaRPr lang="zh-CN" altLang="en-US" b="1" dirty="0">
            <a:effectLst>
              <a:outerShdw blurRad="38100" dist="38100" dir="2700000" algn="tl">
                <a:srgbClr val="000000">
                  <a:alpha val="43137"/>
                </a:srgbClr>
              </a:outerShdw>
            </a:effectLst>
            <a:latin typeface="+mj-ea"/>
            <a:ea typeface="+mj-ea"/>
          </a:endParaRPr>
        </a:p>
      </dsp:txBody>
      <dsp:txXfrm>
        <a:off x="289560" y="56647"/>
        <a:ext cx="4053840" cy="501840"/>
      </dsp:txXfrm>
    </dsp:sp>
    <dsp:sp modelId="{EF616A94-776F-482A-81AC-F544E76EBB94}">
      <dsp:nvSpPr>
        <dsp:cNvPr id="8" name="矩形 7"/>
        <dsp:cNvSpPr/>
      </dsp:nvSpPr>
      <dsp:spPr bwMode="white">
        <a:xfrm>
          <a:off x="0" y="1661842"/>
          <a:ext cx="5791200" cy="1011555"/>
        </a:xfrm>
        <a:prstGeom prst="rect">
          <a:avLst/>
        </a:prstGeom>
        <a:sp3d z="190500" extrusionH="12700" prstMaterial="plastic">
          <a:bevelT w="50800" h="50800"/>
        </a:sp3d>
      </dsp:spPr>
      <dsp:style>
        <a:lnRef idx="1">
          <a:schemeClr val="accent2"/>
        </a:lnRef>
        <a:fillRef idx="1">
          <a:schemeClr val="lt1">
            <a:alpha val="90000"/>
          </a:schemeClr>
        </a:fillRef>
        <a:effectRef idx="2">
          <a:scrgbClr r="0" g="0" b="0"/>
        </a:effectRef>
        <a:fontRef idx="minor"/>
      </dsp:style>
      <dsp:txBody>
        <a:bodyPr lIns="449461" tIns="333248" rIns="449461" bIns="113792" anchor="t"/>
        <a:lstStyle>
          <a:lvl1pPr algn="l">
            <a:defRPr sz="16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1">
            <a:lnSpc>
              <a:spcPct val="100000"/>
            </a:lnSpc>
            <a:spcBef>
              <a:spcPct val="0"/>
            </a:spcBef>
            <a:spcAft>
              <a:spcPct val="15000"/>
            </a:spcAft>
            <a:buChar char="•"/>
          </a:pPr>
          <a:r>
            <a:rPr lang="zh-CN" altLang="zh-CN" smtClean="0">
              <a:solidFill>
                <a:schemeClr val="dk1"/>
              </a:solidFill>
              <a:latin typeface="+mj-ea"/>
              <a:ea typeface="+mj-ea"/>
            </a:rPr>
            <a:t>提供了比较接近数据库内部构造的逻辑描述，它能够为数据库的物理结构创建提供便利。</a:t>
          </a:r>
          <a:endParaRPr lang="zh-CN" altLang="en-US">
            <a:solidFill>
              <a:schemeClr val="dk1"/>
            </a:solidFill>
            <a:latin typeface="+mj-ea"/>
            <a:ea typeface="+mj-ea"/>
          </a:endParaRPr>
        </a:p>
      </dsp:txBody>
      <dsp:txXfrm>
        <a:off x="0" y="1661842"/>
        <a:ext cx="5791200" cy="1011555"/>
      </dsp:txXfrm>
    </dsp:sp>
    <dsp:sp modelId="{6CEB8B27-F328-4CE8-97FF-4EE11A9D5A40}">
      <dsp:nvSpPr>
        <dsp:cNvPr id="7" name="圆角矩形 6"/>
        <dsp:cNvSpPr/>
      </dsp:nvSpPr>
      <dsp:spPr bwMode="white">
        <a:xfrm>
          <a:off x="289560" y="1410923"/>
          <a:ext cx="4053840" cy="501840"/>
        </a:xfrm>
        <a:prstGeom prst="roundRect">
          <a:avLst/>
        </a:prstGeom>
        <a:sp3d prstMaterial="plastic">
          <a:bevelT w="120900" h="88900"/>
          <a:bevelB w="88900" h="31750" prst="angle"/>
        </a:sp3d>
      </dsp:spPr>
      <dsp:style>
        <a:lnRef idx="0">
          <a:schemeClr val="lt1"/>
        </a:lnRef>
        <a:fillRef idx="3">
          <a:schemeClr val="accent2"/>
        </a:fillRef>
        <a:effectRef idx="2">
          <a:scrgbClr r="0" g="0" b="0"/>
        </a:effectRef>
        <a:fontRef idx="minor">
          <a:schemeClr val="lt1"/>
        </a:fontRef>
      </dsp:style>
      <dsp:txBody>
        <a:bodyPr lIns="153225" tIns="0" rIns="153225" bIns="0"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zh-CN" altLang="zh-CN" b="1" dirty="0" smtClean="0">
              <a:effectLst>
                <a:outerShdw blurRad="38100" dist="38100" dir="2700000" algn="tl">
                  <a:srgbClr val="000000">
                    <a:alpha val="43137"/>
                  </a:srgbClr>
                </a:outerShdw>
              </a:effectLst>
              <a:latin typeface="+mj-ea"/>
              <a:ea typeface="+mj-ea"/>
            </a:rPr>
            <a:t>数据库的逻辑结构</a:t>
          </a:r>
          <a:endParaRPr lang="zh-CN" altLang="en-US" b="1" dirty="0">
            <a:effectLst>
              <a:outerShdw blurRad="38100" dist="38100" dir="2700000" algn="tl">
                <a:srgbClr val="000000">
                  <a:alpha val="43137"/>
                </a:srgbClr>
              </a:outerShdw>
            </a:effectLst>
            <a:latin typeface="+mj-ea"/>
            <a:ea typeface="+mj-ea"/>
          </a:endParaRPr>
        </a:p>
      </dsp:txBody>
      <dsp:txXfrm>
        <a:off x="289560" y="1410923"/>
        <a:ext cx="4053840" cy="501840"/>
      </dsp:txXfrm>
    </dsp:sp>
    <dsp:sp modelId="{86BB0AFD-DCF3-46FA-87E6-8DDE0580E3A9}">
      <dsp:nvSpPr>
        <dsp:cNvPr id="11" name="矩形 10"/>
        <dsp:cNvSpPr/>
      </dsp:nvSpPr>
      <dsp:spPr bwMode="white">
        <a:xfrm>
          <a:off x="0" y="3016118"/>
          <a:ext cx="5791200" cy="1270635"/>
        </a:xfrm>
        <a:prstGeom prst="rect">
          <a:avLst/>
        </a:prstGeom>
        <a:sp3d z="190500" extrusionH="12700" prstMaterial="plastic">
          <a:bevelT w="50800" h="50800"/>
        </a:sp3d>
      </dsp:spPr>
      <dsp:style>
        <a:lnRef idx="1">
          <a:schemeClr val="accent2"/>
        </a:lnRef>
        <a:fillRef idx="1">
          <a:schemeClr val="lt1">
            <a:alpha val="90000"/>
          </a:schemeClr>
        </a:fillRef>
        <a:effectRef idx="2">
          <a:scrgbClr r="0" g="0" b="0"/>
        </a:effectRef>
        <a:fontRef idx="minor"/>
      </dsp:style>
      <dsp:txBody>
        <a:bodyPr lIns="449461" tIns="333248" rIns="449461" bIns="113792" anchor="t"/>
        <a:lstStyle>
          <a:lvl1pPr algn="l">
            <a:defRPr sz="1600"/>
          </a:lvl1pPr>
          <a:lvl2pPr marL="171450" indent="-171450" algn="l">
            <a:defRPr sz="1600"/>
          </a:lvl2pPr>
          <a:lvl3pPr marL="342900" indent="-171450" algn="l">
            <a:defRPr sz="1600"/>
          </a:lvl3pPr>
          <a:lvl4pPr marL="514350" indent="-171450" algn="l">
            <a:defRPr sz="1600"/>
          </a:lvl4pPr>
          <a:lvl5pPr marL="685800" indent="-171450" algn="l">
            <a:defRPr sz="1600"/>
          </a:lvl5pPr>
          <a:lvl6pPr marL="857250" indent="-171450" algn="l">
            <a:defRPr sz="1600"/>
          </a:lvl6pPr>
          <a:lvl7pPr marL="1028700" indent="-171450" algn="l">
            <a:defRPr sz="1600"/>
          </a:lvl7pPr>
          <a:lvl8pPr marL="1200150" indent="-171450" algn="l">
            <a:defRPr sz="1600"/>
          </a:lvl8pPr>
          <a:lvl9pPr marL="1371600" indent="-171450" algn="l">
            <a:defRPr sz="1600"/>
          </a:lvl9pPr>
        </a:lstStyle>
        <a:p>
          <a:pPr lvl="1">
            <a:lnSpc>
              <a:spcPct val="100000"/>
            </a:lnSpc>
            <a:spcBef>
              <a:spcPct val="0"/>
            </a:spcBef>
            <a:spcAft>
              <a:spcPct val="15000"/>
            </a:spcAft>
            <a:buChar char="•"/>
          </a:pPr>
          <a:r>
            <a:rPr lang="zh-CN" altLang="zh-CN" smtClean="0">
              <a:solidFill>
                <a:schemeClr val="dk1"/>
              </a:solidFill>
              <a:latin typeface="+mj-ea"/>
              <a:ea typeface="+mj-ea"/>
            </a:rPr>
            <a:t>指数据库的物理数据模型，它包括数据库服务器物理空间上的表、存储过程、字段、视图、触发器、索引等，与特定的数据库系统密切相关。</a:t>
          </a:r>
          <a:endParaRPr lang="zh-CN" altLang="en-US">
            <a:solidFill>
              <a:schemeClr val="dk1"/>
            </a:solidFill>
            <a:latin typeface="+mj-ea"/>
            <a:ea typeface="+mj-ea"/>
          </a:endParaRPr>
        </a:p>
      </dsp:txBody>
      <dsp:txXfrm>
        <a:off x="0" y="3016118"/>
        <a:ext cx="5791200" cy="1270635"/>
      </dsp:txXfrm>
    </dsp:sp>
    <dsp:sp modelId="{FC0B3963-4AE4-4080-AF44-B07895F08E3F}">
      <dsp:nvSpPr>
        <dsp:cNvPr id="10" name="圆角矩形 9"/>
        <dsp:cNvSpPr/>
      </dsp:nvSpPr>
      <dsp:spPr bwMode="white">
        <a:xfrm>
          <a:off x="289560" y="2765197"/>
          <a:ext cx="4053840" cy="501840"/>
        </a:xfrm>
        <a:prstGeom prst="roundRect">
          <a:avLst/>
        </a:prstGeom>
        <a:sp3d prstMaterial="plastic">
          <a:bevelT w="120900" h="88900"/>
          <a:bevelB w="88900" h="31750" prst="angle"/>
        </a:sp3d>
      </dsp:spPr>
      <dsp:style>
        <a:lnRef idx="0">
          <a:schemeClr val="lt1"/>
        </a:lnRef>
        <a:fillRef idx="3">
          <a:schemeClr val="accent2"/>
        </a:fillRef>
        <a:effectRef idx="2">
          <a:scrgbClr r="0" g="0" b="0"/>
        </a:effectRef>
        <a:fontRef idx="minor">
          <a:schemeClr val="lt1"/>
        </a:fontRef>
      </dsp:style>
      <dsp:txBody>
        <a:bodyPr lIns="153225" tIns="0" rIns="153225" bIns="0" anchor="ctr"/>
        <a:lstStyle>
          <a:lvl1pPr algn="l">
            <a:defRPr sz="16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0">
            <a:lnSpc>
              <a:spcPct val="100000"/>
            </a:lnSpc>
            <a:spcBef>
              <a:spcPct val="0"/>
            </a:spcBef>
            <a:spcAft>
              <a:spcPct val="35000"/>
            </a:spcAft>
          </a:pPr>
          <a:r>
            <a:rPr lang="zh-CN" altLang="zh-CN" b="1" dirty="0" smtClean="0">
              <a:effectLst>
                <a:outerShdw blurRad="38100" dist="38100" dir="2700000" algn="tl">
                  <a:srgbClr val="000000">
                    <a:alpha val="43137"/>
                  </a:srgbClr>
                </a:outerShdw>
              </a:effectLst>
              <a:latin typeface="+mj-ea"/>
              <a:ea typeface="+mj-ea"/>
            </a:rPr>
            <a:t>数据库的物理结构</a:t>
          </a:r>
          <a:endParaRPr lang="zh-CN" altLang="en-US" b="1" dirty="0">
            <a:effectLst>
              <a:outerShdw blurRad="38100" dist="38100" dir="2700000" algn="tl">
                <a:srgbClr val="000000">
                  <a:alpha val="43137"/>
                </a:srgbClr>
              </a:outerShdw>
            </a:effectLst>
            <a:latin typeface="+mj-ea"/>
            <a:ea typeface="+mj-ea"/>
          </a:endParaRPr>
        </a:p>
      </dsp:txBody>
      <dsp:txXfrm>
        <a:off x="289560" y="2765197"/>
        <a:ext cx="4053840" cy="501840"/>
      </dsp:txXfrm>
    </dsp:sp>
    <dsp:sp modelId="{C710D3AC-CDF7-4475-8EC3-FE1A1D9A71C5}">
      <dsp:nvSpPr>
        <dsp:cNvPr id="3" name="矩形 2" hidden="1"/>
        <dsp:cNvSpPr/>
      </dsp:nvSpPr>
      <dsp:spPr>
        <a:xfrm>
          <a:off x="0" y="56647"/>
          <a:ext cx="289560" cy="501840"/>
        </a:xfrm>
        <a:prstGeom prst="rect">
          <a:avLst/>
        </a:prstGeom>
      </dsp:spPr>
      <dsp:txXfrm>
        <a:off x="0" y="56647"/>
        <a:ext cx="289560" cy="501840"/>
      </dsp:txXfrm>
    </dsp:sp>
    <dsp:sp modelId="{22CDD940-DB5C-4B06-955D-1AAA38E218E5}">
      <dsp:nvSpPr>
        <dsp:cNvPr id="6" name="矩形 5" hidden="1"/>
        <dsp:cNvSpPr/>
      </dsp:nvSpPr>
      <dsp:spPr>
        <a:xfrm>
          <a:off x="0" y="1410923"/>
          <a:ext cx="289560" cy="501840"/>
        </a:xfrm>
        <a:prstGeom prst="rect">
          <a:avLst/>
        </a:prstGeom>
      </dsp:spPr>
      <dsp:txXfrm>
        <a:off x="0" y="1410923"/>
        <a:ext cx="289560" cy="501840"/>
      </dsp:txXfrm>
    </dsp:sp>
    <dsp:sp modelId="{4FCBCBAA-699B-4A27-B815-C9C126A404BB}">
      <dsp:nvSpPr>
        <dsp:cNvPr id="9" name="矩形 8" hidden="1"/>
        <dsp:cNvSpPr/>
      </dsp:nvSpPr>
      <dsp:spPr>
        <a:xfrm>
          <a:off x="0" y="2765197"/>
          <a:ext cx="289560" cy="501840"/>
        </a:xfrm>
        <a:prstGeom prst="rect">
          <a:avLst/>
        </a:prstGeom>
      </dsp:spPr>
      <dsp:txXfrm>
        <a:off x="0" y="2765197"/>
        <a:ext cx="289560" cy="50184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srcNode" val="background"/>
                    <dgm:param type="dstNode" val="background2"/>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srcNode" val="background2"/>
                            <dgm:param type="dstNode" val="background3"/>
                            <dgm:param type="dim" val="1D"/>
                            <dgm:param type="endSty" val="noArr"/>
                            <dgm:param type="connRout" val="bend"/>
                            <dgm:param type="begPts" val="bCtr"/>
                            <dgm:param type="endPts" val="tCtr"/>
                            <dgm:param type="bendPt" val="end"/>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srcNode" val="background3"/>
                                        <dgm:param type="dstNode" val="background4"/>
                                        <dgm:param type="dim" val="1D"/>
                                        <dgm:param type="endSty" val="noArr"/>
                                        <dgm:param type="connRout" val="bend"/>
                                        <dgm:param type="begPts" val="bCtr"/>
                                        <dgm:param type="endPts" val="tCtr"/>
                                        <dgm:param type="bendPt" val="end"/>
                                      </dgm:alg>
                                    </dgm:if>
                                    <dgm:else name="Name26">
                                      <dgm:alg type="conn">
                                        <dgm:param type="srcNode" val="background4"/>
                                        <dgm:param type="dstNode" val="background4"/>
                                        <dgm:param type="dim" val="1D"/>
                                        <dgm:param type="endSty" val="noArr"/>
                                        <dgm:param type="connRout" val="bend"/>
                                        <dgm:param type="begPts" val="bCtr"/>
                                        <dgm:param type="endPts" val="tCtr"/>
                                        <dgm:param type="bendPt" val="end"/>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3d1#2">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B55A7A-C502-46B6-855A-4BBB11597EE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8659B1-BC94-4B1F-9D70-551345BF8F3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8A599-32F8-4B61-A0CD-2608407245F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49A97-A90C-496F-AD26-75D9C1389A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514350" rtl="0" eaLnBrk="1" latinLnBrk="0" hangingPunct="1">
      <a:defRPr sz="675" kern="1200">
        <a:solidFill>
          <a:schemeClr val="tx1"/>
        </a:solidFill>
        <a:latin typeface="+mn-lt"/>
        <a:ea typeface="+mn-ea"/>
        <a:cs typeface="+mn-cs"/>
      </a:defRPr>
    </a:lvl1pPr>
    <a:lvl2pPr marL="257175" algn="l" defTabSz="514350" rtl="0" eaLnBrk="1" latinLnBrk="0" hangingPunct="1">
      <a:defRPr sz="675" kern="1200">
        <a:solidFill>
          <a:schemeClr val="tx1"/>
        </a:solidFill>
        <a:latin typeface="+mn-lt"/>
        <a:ea typeface="+mn-ea"/>
        <a:cs typeface="+mn-cs"/>
      </a:defRPr>
    </a:lvl2pPr>
    <a:lvl3pPr marL="514350" algn="l" defTabSz="514350" rtl="0" eaLnBrk="1" latinLnBrk="0" hangingPunct="1">
      <a:defRPr sz="675" kern="1200">
        <a:solidFill>
          <a:schemeClr val="tx1"/>
        </a:solidFill>
        <a:latin typeface="+mn-lt"/>
        <a:ea typeface="+mn-ea"/>
        <a:cs typeface="+mn-cs"/>
      </a:defRPr>
    </a:lvl3pPr>
    <a:lvl4pPr marL="771525" algn="l" defTabSz="514350" rtl="0" eaLnBrk="1" latinLnBrk="0" hangingPunct="1">
      <a:defRPr sz="675" kern="1200">
        <a:solidFill>
          <a:schemeClr val="tx1"/>
        </a:solidFill>
        <a:latin typeface="+mn-lt"/>
        <a:ea typeface="+mn-ea"/>
        <a:cs typeface="+mn-cs"/>
      </a:defRPr>
    </a:lvl4pPr>
    <a:lvl5pPr marL="1028700" algn="l" defTabSz="514350" rtl="0" eaLnBrk="1" latinLnBrk="0" hangingPunct="1">
      <a:defRPr sz="675" kern="1200">
        <a:solidFill>
          <a:schemeClr val="tx1"/>
        </a:solidFill>
        <a:latin typeface="+mn-lt"/>
        <a:ea typeface="+mn-ea"/>
        <a:cs typeface="+mn-cs"/>
      </a:defRPr>
    </a:lvl5pPr>
    <a:lvl6pPr marL="1285875" algn="l" defTabSz="514350" rtl="0" eaLnBrk="1" latinLnBrk="0" hangingPunct="1">
      <a:defRPr sz="675" kern="1200">
        <a:solidFill>
          <a:schemeClr val="tx1"/>
        </a:solidFill>
        <a:latin typeface="+mn-lt"/>
        <a:ea typeface="+mn-ea"/>
        <a:cs typeface="+mn-cs"/>
      </a:defRPr>
    </a:lvl6pPr>
    <a:lvl7pPr marL="1543050" algn="l" defTabSz="514350" rtl="0" eaLnBrk="1" latinLnBrk="0" hangingPunct="1">
      <a:defRPr sz="675" kern="1200">
        <a:solidFill>
          <a:schemeClr val="tx1"/>
        </a:solidFill>
        <a:latin typeface="+mn-lt"/>
        <a:ea typeface="+mn-ea"/>
        <a:cs typeface="+mn-cs"/>
      </a:defRPr>
    </a:lvl7pPr>
    <a:lvl8pPr marL="1800225" algn="l" defTabSz="514350" rtl="0" eaLnBrk="1" latinLnBrk="0" hangingPunct="1">
      <a:defRPr sz="675" kern="1200">
        <a:solidFill>
          <a:schemeClr val="tx1"/>
        </a:solidFill>
        <a:latin typeface="+mn-lt"/>
        <a:ea typeface="+mn-ea"/>
        <a:cs typeface="+mn-cs"/>
      </a:defRPr>
    </a:lvl8pPr>
    <a:lvl9pPr marL="2057400" algn="l" defTabSz="514350" rtl="0" eaLnBrk="1" latinLnBrk="0" hangingPunct="1">
      <a:defRPr sz="6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eaLnBrk="1" hangingPunct="1"/>
            <a:r>
              <a:rPr lang="zh-CN" altLang="en-US" sz="2400" dirty="0" smtClean="0"/>
              <a:t>要从面向对象的观点来理解数据管理：</a:t>
            </a:r>
            <a:endParaRPr lang="zh-CN" altLang="en-US" sz="2400" dirty="0" smtClean="0"/>
          </a:p>
          <a:p>
            <a:pPr lvl="1" algn="l" eaLnBrk="1" hangingPunct="1">
              <a:buFont typeface="Wingdings" panose="05000000000000000000" pitchFamily="2" charset="2"/>
              <a:buChar char="ü"/>
            </a:pPr>
            <a:r>
              <a:rPr lang="zh-CN" altLang="en-US" sz="2400" dirty="0" smtClean="0"/>
              <a:t>数据管理不等于就是数据库设计；</a:t>
            </a:r>
            <a:endParaRPr lang="zh-CN" altLang="en-US" sz="2400" dirty="0" smtClean="0"/>
          </a:p>
          <a:p>
            <a:pPr lvl="1" algn="l" eaLnBrk="1" hangingPunct="1">
              <a:buFont typeface="Wingdings" panose="05000000000000000000" pitchFamily="2" charset="2"/>
              <a:buChar char="ü"/>
            </a:pPr>
            <a:r>
              <a:rPr lang="zh-CN" altLang="en-US" sz="2400" dirty="0" smtClean="0"/>
              <a:t>数据概念分析到数据对象设计遵循面向对象方法；</a:t>
            </a:r>
            <a:endParaRPr lang="zh-CN" altLang="en-US" sz="2400" dirty="0" smtClean="0"/>
          </a:p>
          <a:p>
            <a:pPr lvl="1" algn="l" eaLnBrk="1" hangingPunct="1">
              <a:buFont typeface="Wingdings" panose="05000000000000000000" pitchFamily="2" charset="2"/>
              <a:buChar char="ü"/>
            </a:pPr>
            <a:r>
              <a:rPr lang="zh-CN" altLang="en-US" sz="2400" dirty="0" smtClean="0"/>
              <a:t>数据对象与数据实体是由“数据管理层”隔离的，应用程序访问的是数据对象；</a:t>
            </a:r>
            <a:endParaRPr lang="zh-CN" altLang="en-US" sz="2400" dirty="0" smtClean="0"/>
          </a:p>
          <a:p>
            <a:pPr lvl="1" algn="l" eaLnBrk="1" hangingPunct="1">
              <a:buFont typeface="Wingdings" panose="05000000000000000000" pitchFamily="2" charset="2"/>
              <a:buChar char="ü"/>
            </a:pPr>
            <a:r>
              <a:rPr lang="zh-CN" altLang="en-US" sz="2400" dirty="0" smtClean="0"/>
              <a:t>数据对象与数据实体存在着</a:t>
            </a:r>
            <a:r>
              <a:rPr lang="en-US" altLang="zh-CN" sz="2400" dirty="0" smtClean="0"/>
              <a:t>OR</a:t>
            </a:r>
            <a:r>
              <a:rPr lang="zh-CN" altLang="en-US" sz="2400" dirty="0" smtClean="0"/>
              <a:t>映射；</a:t>
            </a:r>
            <a:endParaRPr lang="en-US" altLang="zh-CN" sz="2400" dirty="0" smtClean="0"/>
          </a:p>
          <a:p>
            <a:pPr algn="l" eaLnBrk="1" hangingPunct="1">
              <a:buFont typeface="Wingdings" panose="05000000000000000000" pitchFamily="2" charset="2"/>
              <a:buChar char="Ø"/>
            </a:pPr>
            <a:r>
              <a:rPr lang="zh-CN" altLang="en-US" sz="2400" dirty="0" smtClean="0">
                <a:latin typeface="黑体" panose="02010609060101010101" charset="-122"/>
              </a:rPr>
              <a:t>  要从关系数据的概念提升到面向对象的新概念：</a:t>
            </a:r>
            <a:endParaRPr lang="en-US" altLang="zh-CN" sz="2400" dirty="0" smtClean="0">
              <a:latin typeface="黑体" panose="02010609060101010101" charset="-122"/>
            </a:endParaRPr>
          </a:p>
          <a:p>
            <a:pPr lvl="1" algn="l" eaLnBrk="1" hangingPunct="1"/>
            <a:r>
              <a:rPr lang="zh-CN" altLang="en-US" sz="2400" b="1" dirty="0" smtClean="0"/>
              <a:t>数据管理、实体模型、对象持久化</a:t>
            </a:r>
            <a:r>
              <a:rPr lang="zh-CN" altLang="en-US" sz="2400" dirty="0" smtClean="0"/>
              <a:t> 、</a:t>
            </a:r>
            <a:r>
              <a:rPr lang="en-US" altLang="zh-CN" sz="2400" b="1" dirty="0" smtClean="0"/>
              <a:t>OR</a:t>
            </a:r>
            <a:r>
              <a:rPr lang="zh-CN" altLang="en-US" sz="2400" b="1" dirty="0" smtClean="0"/>
              <a:t>映射</a:t>
            </a:r>
            <a:r>
              <a:rPr lang="zh-CN" altLang="en-US" sz="2400" dirty="0" smtClean="0"/>
              <a:t> 、</a:t>
            </a:r>
            <a:r>
              <a:rPr lang="zh-CN" altLang="en-US" sz="2400" b="1" dirty="0" smtClean="0"/>
              <a:t>数据库驱动接口</a:t>
            </a:r>
            <a:r>
              <a:rPr lang="zh-CN" altLang="en-US" sz="2400" dirty="0" smtClean="0"/>
              <a:t> 、</a:t>
            </a:r>
            <a:r>
              <a:rPr lang="zh-CN" altLang="en-US" sz="2400" b="1" dirty="0" smtClean="0"/>
              <a:t>数据隔离层（持久化层）、持久化层框架</a:t>
            </a:r>
            <a:r>
              <a:rPr lang="zh-CN" altLang="en-US" sz="2400" dirty="0" smtClean="0"/>
              <a:t> </a:t>
            </a:r>
            <a:r>
              <a:rPr lang="zh-CN" altLang="en-US" sz="2400" b="1" dirty="0" smtClean="0"/>
              <a:t>等</a:t>
            </a:r>
            <a:r>
              <a:rPr lang="zh-CN" altLang="en-US" sz="2400" dirty="0" smtClean="0"/>
              <a:t>；</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eaLnBrk="1" hangingPunct="1"/>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CEF922D-F1DB-427D-A817-092530074BE5}"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左上图表示过程</a:t>
            </a:r>
            <a:r>
              <a:rPr lang="en-US" altLang="zh-CN" dirty="0" smtClean="0"/>
              <a:t>2</a:t>
            </a:r>
            <a:r>
              <a:rPr lang="zh-CN" altLang="en-US" dirty="0" smtClean="0"/>
              <a:t>是建立在过程</a:t>
            </a:r>
            <a:r>
              <a:rPr lang="en-US" altLang="zh-CN" dirty="0" smtClean="0"/>
              <a:t>1</a:t>
            </a:r>
            <a:r>
              <a:rPr lang="zh-CN" altLang="en-US" dirty="0" smtClean="0"/>
              <a:t>的基础上进行的，过程</a:t>
            </a:r>
            <a:r>
              <a:rPr lang="en-US" altLang="zh-CN" dirty="0" smtClean="0"/>
              <a:t>3</a:t>
            </a:r>
            <a:r>
              <a:rPr lang="zh-CN" altLang="en-US" dirty="0" smtClean="0"/>
              <a:t>独立进行。</a:t>
            </a:r>
            <a:endParaRPr lang="en-US" altLang="zh-CN" dirty="0" smtClean="0"/>
          </a:p>
          <a:p>
            <a:r>
              <a:rPr lang="zh-CN" altLang="en-US" dirty="0" smtClean="0"/>
              <a:t>右上图表示</a:t>
            </a:r>
            <a:r>
              <a:rPr lang="en-US" altLang="zh-CN" dirty="0" smtClean="0"/>
              <a:t>1</a:t>
            </a:r>
            <a:r>
              <a:rPr lang="zh-CN" altLang="en-US" dirty="0" smtClean="0"/>
              <a:t>、</a:t>
            </a:r>
            <a:r>
              <a:rPr lang="en-US" altLang="zh-CN" dirty="0" smtClean="0"/>
              <a:t>2</a:t>
            </a:r>
            <a:r>
              <a:rPr lang="zh-CN" altLang="en-US" dirty="0" smtClean="0"/>
              <a:t>、</a:t>
            </a:r>
            <a:r>
              <a:rPr lang="en-US" altLang="zh-CN" dirty="0" smtClean="0"/>
              <a:t>3</a:t>
            </a:r>
            <a:r>
              <a:rPr lang="zh-CN" altLang="en-US" dirty="0" smtClean="0"/>
              <a:t>过程都是独立的，彼此没有依赖关系。 </a:t>
            </a:r>
            <a:endParaRPr lang="en-US" altLang="zh-CN" dirty="0" smtClean="0"/>
          </a:p>
          <a:p>
            <a:r>
              <a:rPr lang="zh-CN" altLang="en-US" dirty="0" smtClean="0"/>
              <a:t>下图表示</a:t>
            </a:r>
            <a:r>
              <a:rPr lang="en-US" altLang="zh-CN" dirty="0" smtClean="0"/>
              <a:t>2</a:t>
            </a:r>
            <a:r>
              <a:rPr lang="zh-CN" altLang="en-US" dirty="0" smtClean="0"/>
              <a:t>、</a:t>
            </a:r>
            <a:r>
              <a:rPr lang="en-US" altLang="zh-CN" dirty="0" smtClean="0"/>
              <a:t>3</a:t>
            </a:r>
            <a:r>
              <a:rPr lang="zh-CN" altLang="en-US" dirty="0" smtClean="0"/>
              <a:t>过程均依赖于过程</a:t>
            </a:r>
            <a:r>
              <a:rPr lang="en-US" altLang="zh-CN" dirty="0" smtClean="0"/>
              <a:t>1</a:t>
            </a:r>
            <a:r>
              <a:rPr lang="zh-CN" altLang="en-US" dirty="0" smtClean="0"/>
              <a:t>，过程</a:t>
            </a:r>
            <a:r>
              <a:rPr lang="en-US" altLang="zh-CN" dirty="0" smtClean="0"/>
              <a:t>1</a:t>
            </a:r>
            <a:r>
              <a:rPr lang="zh-CN" altLang="en-US" dirty="0" smtClean="0"/>
              <a:t>贯穿始末，且过程</a:t>
            </a:r>
            <a:r>
              <a:rPr lang="en-US" altLang="zh-CN" dirty="0" smtClean="0"/>
              <a:t>3</a:t>
            </a:r>
            <a:r>
              <a:rPr lang="zh-CN" altLang="en-US" dirty="0" smtClean="0"/>
              <a:t>同时还依赖于过程</a:t>
            </a:r>
            <a:r>
              <a:rPr lang="en-US" altLang="zh-CN" dirty="0" smtClean="0"/>
              <a:t>2</a:t>
            </a:r>
            <a:r>
              <a:rPr lang="zh-CN" altLang="en-US" dirty="0" smtClean="0"/>
              <a:t>，过程</a:t>
            </a:r>
            <a:r>
              <a:rPr lang="en-US" altLang="zh-CN" dirty="0" smtClean="0"/>
              <a:t>2</a:t>
            </a:r>
            <a:r>
              <a:rPr lang="zh-CN" altLang="en-US" dirty="0" smtClean="0"/>
              <a:t>贯穿过程</a:t>
            </a:r>
            <a:r>
              <a:rPr lang="en-US" altLang="zh-CN" dirty="0" smtClean="0"/>
              <a:t>3</a:t>
            </a:r>
            <a:r>
              <a:rPr lang="zh-CN" altLang="en-US" dirty="0" smtClean="0"/>
              <a:t>始末</a:t>
            </a:r>
            <a:endParaRPr lang="zh-CN" altLang="en-US" dirty="0"/>
          </a:p>
        </p:txBody>
      </p:sp>
      <p:sp>
        <p:nvSpPr>
          <p:cNvPr id="4" name="灯片编号占位符 3"/>
          <p:cNvSpPr>
            <a:spLocks noGrp="1"/>
          </p:cNvSpPr>
          <p:nvPr>
            <p:ph type="sldNum" sz="quarter" idx="10"/>
          </p:nvPr>
        </p:nvSpPr>
        <p:spPr/>
        <p:txBody>
          <a:bodyPr/>
          <a:lstStyle/>
          <a:p>
            <a:fld id="{9CEF922D-F1DB-427D-A817-092530074BE5}"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48649C4-DF96-4AB7-8EFA-C60B664AC0E4}" type="slidenum">
              <a:rPr lang="zh-CN" altLang="en-US" smtClean="0"/>
            </a:fld>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767E3A5C-521F-4F1A-BFAE-8F77205BC6D1}"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xfrm>
            <a:off x="914400" y="4343400"/>
            <a:ext cx="5029200" cy="4114800"/>
          </a:xfrm>
          <a:noFill/>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6D30D5B6-8491-4A22-9421-29F0617D7529}"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82947" name="Rectangle 2"/>
          <p:cNvSpPr>
            <a:spLocks noGrp="1" noRot="1" noChangeAspect="1" noChangeArrowheads="1" noTextEdit="1"/>
          </p:cNvSpPr>
          <p:nvPr>
            <p:ph type="sldImg"/>
          </p:nvPr>
        </p:nvSpPr>
        <p:spPr/>
      </p:sp>
      <p:sp>
        <p:nvSpPr>
          <p:cNvPr id="82948" name="Rectangle 3"/>
          <p:cNvSpPr>
            <a:spLocks noGrp="1" noChangeArrowheads="1"/>
          </p:cNvSpPr>
          <p:nvPr>
            <p:ph type="body" idx="1"/>
          </p:nvPr>
        </p:nvSpPr>
        <p:spPr>
          <a:xfrm>
            <a:off x="914400" y="4343400"/>
            <a:ext cx="5029200" cy="4114800"/>
          </a:xfrm>
          <a:noFill/>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39E2FBF4-C6B3-45D3-B7BB-A361A1EDA032}"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xfrm>
            <a:off x="914400" y="4343400"/>
            <a:ext cx="5029200" cy="4114800"/>
          </a:xfrm>
          <a:noFill/>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从上面各项设计工作的概念来看，</a:t>
            </a:r>
            <a:r>
              <a:rPr lang="en-US" altLang="zh-CN" sz="1200" b="0" i="0" kern="1200" dirty="0">
                <a:solidFill>
                  <a:schemeClr val="tx1"/>
                </a:solidFill>
                <a:effectLst/>
                <a:latin typeface="+mn-lt"/>
                <a:ea typeface="+mn-ea"/>
                <a:cs typeface="+mn-cs"/>
              </a:rPr>
              <a:t>UI </a:t>
            </a:r>
            <a:r>
              <a:rPr lang="zh-CN" altLang="en-US" sz="1200" b="0" i="0" kern="1200" dirty="0">
                <a:solidFill>
                  <a:schemeClr val="tx1"/>
                </a:solidFill>
                <a:effectLst/>
                <a:latin typeface="+mn-lt"/>
                <a:ea typeface="+mn-ea"/>
                <a:cs typeface="+mn-cs"/>
              </a:rPr>
              <a:t>的概念比较广，包含了软硬件设计，也囊括其他各项设计的部分内涵。而</a:t>
            </a:r>
            <a:r>
              <a:rPr lang="en-US" altLang="zh-CN" sz="1200" b="0" i="0" kern="1200" dirty="0">
                <a:solidFill>
                  <a:schemeClr val="tx1"/>
                </a:solidFill>
                <a:effectLst/>
                <a:latin typeface="+mn-lt"/>
                <a:ea typeface="+mn-ea"/>
                <a:cs typeface="+mn-cs"/>
              </a:rPr>
              <a:t>GUI </a:t>
            </a:r>
            <a:r>
              <a:rPr lang="zh-CN" altLang="en-US" sz="1200" b="0" i="0" kern="1200" dirty="0">
                <a:solidFill>
                  <a:schemeClr val="tx1"/>
                </a:solidFill>
                <a:effectLst/>
                <a:latin typeface="+mn-lt"/>
                <a:ea typeface="+mn-ea"/>
                <a:cs typeface="+mn-cs"/>
              </a:rPr>
              <a:t>设计比</a:t>
            </a:r>
            <a:r>
              <a:rPr lang="en-US" altLang="zh-CN" sz="1200" b="0" i="0" kern="1200" dirty="0">
                <a:solidFill>
                  <a:schemeClr val="tx1"/>
                </a:solidFill>
                <a:effectLst/>
                <a:latin typeface="+mn-lt"/>
                <a:ea typeface="+mn-ea"/>
                <a:cs typeface="+mn-cs"/>
              </a:rPr>
              <a:t>UI </a:t>
            </a:r>
            <a:r>
              <a:rPr lang="zh-CN" altLang="en-US" sz="1200" b="0" i="0" kern="1200" dirty="0">
                <a:solidFill>
                  <a:schemeClr val="tx1"/>
                </a:solidFill>
                <a:effectLst/>
                <a:latin typeface="+mn-lt"/>
                <a:ea typeface="+mn-ea"/>
                <a:cs typeface="+mn-cs"/>
              </a:rPr>
              <a:t>设计稍窄。目前，国内大部分</a:t>
            </a:r>
            <a:r>
              <a:rPr lang="en-US" altLang="zh-CN" sz="1200" b="0" i="0" kern="1200" dirty="0">
                <a:solidFill>
                  <a:schemeClr val="tx1"/>
                </a:solidFill>
                <a:effectLst/>
                <a:latin typeface="+mn-lt"/>
                <a:ea typeface="+mn-ea"/>
                <a:cs typeface="+mn-cs"/>
              </a:rPr>
              <a:t>UI </a:t>
            </a:r>
            <a:r>
              <a:rPr lang="zh-CN" altLang="en-US" sz="1200" b="0" i="0" kern="1200" dirty="0">
                <a:solidFill>
                  <a:schemeClr val="tx1"/>
                </a:solidFill>
                <a:effectLst/>
                <a:latin typeface="+mn-lt"/>
                <a:ea typeface="+mn-ea"/>
                <a:cs typeface="+mn-cs"/>
              </a:rPr>
              <a:t>设计师其实做的是</a:t>
            </a:r>
            <a:r>
              <a:rPr lang="en-US" altLang="zh-CN" sz="1200" b="0" i="0" kern="1200" dirty="0">
                <a:solidFill>
                  <a:schemeClr val="tx1"/>
                </a:solidFill>
                <a:effectLst/>
                <a:latin typeface="+mn-lt"/>
                <a:ea typeface="+mn-ea"/>
                <a:cs typeface="+mn-cs"/>
              </a:rPr>
              <a:t>GUI</a:t>
            </a:r>
            <a:r>
              <a:rPr lang="zh-CN" altLang="en-US" sz="1200" b="0" i="0" kern="1200" dirty="0">
                <a:solidFill>
                  <a:schemeClr val="tx1"/>
                </a:solidFill>
                <a:effectLst/>
                <a:latin typeface="+mn-lt"/>
                <a:ea typeface="+mn-ea"/>
                <a:cs typeface="+mn-cs"/>
              </a:rPr>
              <a:t>，他们大多出自美术院校。</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简单地讲，</a:t>
            </a:r>
            <a:r>
              <a:rPr lang="en-US" altLang="zh-CN" sz="1200" b="0" i="0" kern="1200" dirty="0">
                <a:solidFill>
                  <a:schemeClr val="tx1"/>
                </a:solidFill>
                <a:effectLst/>
                <a:latin typeface="+mn-lt"/>
                <a:ea typeface="+mn-ea"/>
                <a:cs typeface="+mn-cs"/>
              </a:rPr>
              <a:t>ID </a:t>
            </a:r>
            <a:r>
              <a:rPr lang="zh-CN" altLang="en-US" sz="1200" b="0" i="0" kern="1200" dirty="0">
                <a:solidFill>
                  <a:schemeClr val="tx1"/>
                </a:solidFill>
                <a:effectLst/>
                <a:latin typeface="+mn-lt"/>
                <a:ea typeface="+mn-ea"/>
                <a:cs typeface="+mn-cs"/>
              </a:rPr>
              <a:t>设计只是指人和电脑之间的互动过程，目前一般是软件工程师在做。</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而</a:t>
            </a:r>
            <a:r>
              <a:rPr lang="en-US" altLang="zh-CN" sz="1200" b="0" i="0" kern="1200" dirty="0">
                <a:solidFill>
                  <a:schemeClr val="tx1"/>
                </a:solidFill>
                <a:effectLst/>
                <a:latin typeface="+mn-lt"/>
                <a:ea typeface="+mn-ea"/>
                <a:cs typeface="+mn-cs"/>
              </a:rPr>
              <a:t>UE </a:t>
            </a:r>
            <a:r>
              <a:rPr lang="zh-CN" altLang="en-US" sz="1200" b="0" i="0" kern="1200" dirty="0">
                <a:solidFill>
                  <a:schemeClr val="tx1"/>
                </a:solidFill>
                <a:effectLst/>
                <a:latin typeface="+mn-lt"/>
                <a:ea typeface="+mn-ea"/>
                <a:cs typeface="+mn-cs"/>
              </a:rPr>
              <a:t>设计从简单理解上</a:t>
            </a:r>
            <a:r>
              <a:rPr lang="zh-CN" altLang="en-US" sz="1200" b="0" i="0" kern="1200" dirty="0" smtClean="0">
                <a:solidFill>
                  <a:schemeClr val="tx1"/>
                </a:solidFill>
                <a:effectLst/>
                <a:latin typeface="+mn-lt"/>
                <a:ea typeface="+mn-ea"/>
                <a:cs typeface="+mn-cs"/>
              </a:rPr>
              <a:t>，关注的是用户的行为习惯和心理感受，就是</a:t>
            </a:r>
            <a:r>
              <a:rPr lang="zh-CN" altLang="en-US" sz="1200" b="0" i="0" kern="1200" dirty="0">
                <a:solidFill>
                  <a:schemeClr val="tx1"/>
                </a:solidFill>
                <a:effectLst/>
                <a:latin typeface="+mn-lt"/>
                <a:ea typeface="+mn-ea"/>
                <a:cs typeface="+mn-cs"/>
              </a:rPr>
              <a:t>琢磨人会怎么用软件或者硬件才觉得得心应手。</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dirty="0"/>
              <a:t>在很多的大公司里，如腾讯、阿里、百度、谷歌这样的巨头，它们的</a:t>
            </a:r>
            <a:r>
              <a:rPr lang="en-US" altLang="zh-CN" dirty="0"/>
              <a:t>UI</a:t>
            </a:r>
            <a:r>
              <a:rPr lang="zh-CN" altLang="en-US" dirty="0"/>
              <a:t>分工是很明确的，指的就是交互设计，交互设计师的主要任务就是发掘需求以及根据需求来进行构架。但是在一些小公司里是没有专门的交互设计的岗位的，</a:t>
            </a:r>
            <a:r>
              <a:rPr lang="en-US" altLang="zh-CN" dirty="0"/>
              <a:t>UI</a:t>
            </a:r>
            <a:r>
              <a:rPr lang="zh-CN" altLang="en-US" dirty="0"/>
              <a:t>设计师通常既要做交互也要做视觉，这就造成了</a:t>
            </a:r>
            <a:r>
              <a:rPr lang="en-US" altLang="zh-CN" dirty="0"/>
              <a:t>UI</a:t>
            </a:r>
            <a:r>
              <a:rPr lang="zh-CN" altLang="en-US" dirty="0"/>
              <a:t>的指向不是很明确。</a:t>
            </a:r>
            <a:endParaRPr lang="zh-CN" altLang="en-US" dirty="0"/>
          </a:p>
          <a:p>
            <a:r>
              <a:rPr lang="zh-CN" altLang="en-US" dirty="0"/>
              <a:t>如果想要准确使用，视觉设计肯定是</a:t>
            </a:r>
            <a:r>
              <a:rPr lang="en-US" altLang="zh-CN" dirty="0"/>
              <a:t>GUI</a:t>
            </a:r>
            <a:r>
              <a:rPr lang="zh-CN" altLang="en-US" dirty="0"/>
              <a:t>，这个没问题，交互设计我们使用</a:t>
            </a:r>
            <a:r>
              <a:rPr lang="en-US" altLang="zh-CN" dirty="0"/>
              <a:t>UE</a:t>
            </a:r>
            <a:r>
              <a:rPr lang="zh-CN" altLang="en-US" dirty="0"/>
              <a:t>来代表可能会更好一点。</a:t>
            </a:r>
            <a:r>
              <a:rPr lang="en-US" altLang="zh-CN" dirty="0"/>
              <a:t>UE</a:t>
            </a:r>
            <a:r>
              <a:rPr lang="zh-CN" altLang="en-US" dirty="0"/>
              <a:t>这样的岗位一般只有规模比较大的公司才设置，大概是有两种方向：交互设计和用户研究。在很多公司里，发展到后期你可能既是交互设计师也是产品经理，因为交互设计师和产品经理在前期的工作任务中，特别是对需求的把控上，有很多是重合的。</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1525F8DD-147E-4AE9-A5E5-03B390E7ADC7}"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525F8DD-147E-4AE9-A5E5-03B390E7ADC7}"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国外</a:t>
            </a:r>
            <a:r>
              <a:rPr lang="en-US" altLang="zh-CN" dirty="0"/>
              <a:t>UE</a:t>
            </a:r>
            <a:r>
              <a:rPr lang="zh-CN" altLang="en-US" dirty="0"/>
              <a:t>招聘要求。</a:t>
            </a:r>
            <a:r>
              <a:rPr lang="zh-CN" altLang="en-US" sz="1200" b="0" i="0" kern="1200" dirty="0">
                <a:solidFill>
                  <a:schemeClr val="tx1"/>
                </a:solidFill>
                <a:effectLst/>
                <a:latin typeface="+mn-lt"/>
                <a:ea typeface="+mn-ea"/>
                <a:cs typeface="+mn-cs"/>
              </a:rPr>
              <a:t>未来的用户体验设计师就是要具备界面设计、交互设计、图形美术设计及以用户为中心的原型和体验设计于一身的全能型设计人才。</a:t>
            </a:r>
            <a:endParaRPr lang="zh-CN" altLang="en-US" dirty="0"/>
          </a:p>
        </p:txBody>
      </p:sp>
      <p:sp>
        <p:nvSpPr>
          <p:cNvPr id="4" name="灯片编号占位符 3"/>
          <p:cNvSpPr>
            <a:spLocks noGrp="1"/>
          </p:cNvSpPr>
          <p:nvPr>
            <p:ph type="sldNum" sz="quarter" idx="10"/>
          </p:nvPr>
        </p:nvSpPr>
        <p:spPr/>
        <p:txBody>
          <a:bodyPr/>
          <a:lstStyle/>
          <a:p>
            <a:fld id="{1525F8DD-147E-4AE9-A5E5-03B390E7ADC7}"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案例：一个输入法的故事，重度脑瘫女孩的网上求助，她使用的一款鼠标打字的软件无法更新了。</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AI </a:t>
            </a:r>
            <a:r>
              <a:rPr lang="zh-CN" altLang="en-US" sz="1200" b="0" i="0" kern="1200" dirty="0">
                <a:solidFill>
                  <a:schemeClr val="tx1"/>
                </a:solidFill>
                <a:effectLst/>
                <a:latin typeface="+mn-lt"/>
                <a:ea typeface="+mn-ea"/>
                <a:cs typeface="+mn-cs"/>
              </a:rPr>
              <a:t>语音转录越来越强，我们甚至可以流畅地语音输入文字。</a:t>
            </a:r>
            <a:r>
              <a:rPr lang="zh-CN" altLang="en-US" dirty="0"/>
              <a:t>鼠标打字的软件</a:t>
            </a:r>
            <a:r>
              <a:rPr lang="zh-CN" altLang="en-US" sz="1200" b="0" i="0" kern="1200" dirty="0">
                <a:solidFill>
                  <a:schemeClr val="tx1"/>
                </a:solidFill>
                <a:effectLst/>
                <a:latin typeface="+mn-lt"/>
                <a:ea typeface="+mn-ea"/>
                <a:cs typeface="+mn-cs"/>
              </a:rPr>
              <a:t>的界面由一个个部首偏旁按钮组成，用户</a:t>
            </a:r>
            <a:r>
              <a:rPr lang="zh-CN" altLang="en-US" sz="1200" b="1" i="0" kern="1200" dirty="0">
                <a:solidFill>
                  <a:schemeClr val="tx1"/>
                </a:solidFill>
                <a:effectLst/>
                <a:latin typeface="+mn-lt"/>
                <a:ea typeface="+mn-ea"/>
                <a:cs typeface="+mn-cs"/>
              </a:rPr>
              <a:t>只要点击鼠标</a:t>
            </a:r>
            <a:r>
              <a:rPr lang="zh-CN" altLang="en-US" sz="1200" b="0" i="0" kern="1200" dirty="0">
                <a:solidFill>
                  <a:schemeClr val="tx1"/>
                </a:solidFill>
                <a:effectLst/>
                <a:latin typeface="+mn-lt"/>
                <a:ea typeface="+mn-ea"/>
                <a:cs typeface="+mn-cs"/>
              </a:rPr>
              <a:t>来一个个点选就能完成中文输入。</a:t>
            </a:r>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mp.weixin.qq.com/s?__biz=MzA5NDc1NzQ4MA==&amp;mid=2653393642&amp;idx=1&amp;sn=143d79bce23d3d76798c39357f2fe2d7&amp;chksm=8b9a85edbced0cfbdd773ec2d581dee1fa0d2ed331e6e2f11a5825dcb69598b512261d6d8436&amp;mpshare=1&amp;scene=23&amp;srcid=111881LOyYg7GTrauLKdk2VG&amp;sharer_sharetime=1574067031755&amp;sharer_shareid=ecb3000ffda272887de952418b765399#rd</a:t>
            </a:r>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EFB65412-EC77-49D4-8590-0D523F0BF4E3}"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114691" name="Rectangle 2"/>
          <p:cNvSpPr>
            <a:spLocks noGrp="1" noRot="1" noChangeAspect="1" noChangeArrowheads="1" noTextEdit="1"/>
          </p:cNvSpPr>
          <p:nvPr>
            <p:ph type="sldImg"/>
          </p:nvPr>
        </p:nvSpPr>
        <p:spPr/>
      </p:sp>
      <p:sp>
        <p:nvSpPr>
          <p:cNvPr id="114692" name="Rectangle 3"/>
          <p:cNvSpPr>
            <a:spLocks noGrp="1" noChangeArrowheads="1"/>
          </p:cNvSpPr>
          <p:nvPr>
            <p:ph type="body" idx="1"/>
          </p:nvPr>
        </p:nvSpPr>
        <p:spPr>
          <a:xfrm>
            <a:off x="914400" y="4343400"/>
            <a:ext cx="5029200" cy="4114800"/>
          </a:xfrm>
          <a:noFill/>
        </p:spPr>
        <p:txBody>
          <a:bodyPr/>
          <a:lstStyle/>
          <a:p>
            <a:pPr marL="228600" lvl="0" indent="-228600">
              <a:buFont typeface="+mj-lt"/>
              <a:buAutoNum type="arabicPeriod"/>
            </a:pPr>
            <a:r>
              <a:rPr lang="zh-CN" altLang="en-US" dirty="0">
                <a:ea typeface="+mn-ea"/>
              </a:rPr>
              <a:t>尽量保持一致性</a:t>
            </a:r>
            <a:endParaRPr lang="zh-CN" altLang="en-US" dirty="0">
              <a:ea typeface="+mn-ea"/>
            </a:endParaRPr>
          </a:p>
          <a:p>
            <a:pPr marL="228600" lvl="0" indent="-228600">
              <a:buFont typeface="+mj-lt"/>
              <a:buAutoNum type="arabicPeriod"/>
            </a:pPr>
            <a:r>
              <a:rPr lang="zh-CN" altLang="en-US" dirty="0">
                <a:ea typeface="+mn-ea"/>
              </a:rPr>
              <a:t>为熟练用户提供快捷键</a:t>
            </a:r>
            <a:endParaRPr lang="zh-CN" altLang="en-US" dirty="0">
              <a:ea typeface="+mn-ea"/>
            </a:endParaRPr>
          </a:p>
          <a:p>
            <a:pPr marL="228600" lvl="0" indent="-228600">
              <a:buFont typeface="+mj-lt"/>
              <a:buAutoNum type="arabicPeriod"/>
            </a:pPr>
            <a:r>
              <a:rPr lang="zh-CN" altLang="en-US" dirty="0">
                <a:ea typeface="+mn-ea"/>
              </a:rPr>
              <a:t>提供有效反馈</a:t>
            </a:r>
            <a:endParaRPr lang="zh-CN" altLang="en-US" dirty="0">
              <a:ea typeface="+mn-ea"/>
            </a:endParaRPr>
          </a:p>
          <a:p>
            <a:pPr marL="228600" lvl="0" indent="-228600">
              <a:buFont typeface="+mj-lt"/>
              <a:buAutoNum type="arabicPeriod"/>
            </a:pPr>
            <a:r>
              <a:rPr lang="zh-CN" altLang="en-US" dirty="0">
                <a:ea typeface="+mn-ea"/>
              </a:rPr>
              <a:t>设计完整的对话过程</a:t>
            </a:r>
            <a:endParaRPr lang="zh-CN" altLang="en-US" dirty="0">
              <a:ea typeface="+mn-ea"/>
            </a:endParaRPr>
          </a:p>
          <a:p>
            <a:pPr marL="228600" lvl="0" indent="-228600">
              <a:buFont typeface="+mj-lt"/>
              <a:buAutoNum type="arabicPeriod"/>
            </a:pPr>
            <a:r>
              <a:rPr lang="zh-CN" altLang="en-US" dirty="0">
                <a:ea typeface="+mn-ea"/>
              </a:rPr>
              <a:t>提供简单的错误处理机制</a:t>
            </a:r>
            <a:endParaRPr lang="zh-CN" altLang="en-US" dirty="0">
              <a:ea typeface="+mn-ea"/>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defRPr/>
            </a:pPr>
            <a:r>
              <a:rPr lang="zh-CN" altLang="en-US" dirty="0">
                <a:ea typeface="+mn-ea"/>
              </a:rPr>
              <a:t>允许撤销动作（</a:t>
            </a:r>
            <a:r>
              <a:rPr lang="zh-CN" altLang="en-US" sz="1200" dirty="0"/>
              <a:t>对用户的操作具有容错性，如</a:t>
            </a:r>
            <a:r>
              <a:rPr lang="en-US" altLang="zh-CN" sz="1200" dirty="0"/>
              <a:t>UNDO</a:t>
            </a:r>
            <a:r>
              <a:rPr lang="zh-CN" altLang="en-US" dirty="0">
                <a:ea typeface="+mn-ea"/>
              </a:rPr>
              <a:t>）</a:t>
            </a:r>
            <a:endParaRPr lang="zh-CN" altLang="en-US" dirty="0">
              <a:ea typeface="+mn-ea"/>
            </a:endParaRPr>
          </a:p>
          <a:p>
            <a:pPr marL="228600" lvl="0" indent="-228600">
              <a:buFont typeface="+mj-lt"/>
              <a:buAutoNum type="arabicPeriod"/>
            </a:pPr>
            <a:r>
              <a:rPr lang="zh-CN" altLang="en-US" dirty="0">
                <a:ea typeface="+mn-ea"/>
              </a:rPr>
              <a:t>提供控制的内部轨迹</a:t>
            </a:r>
            <a:endParaRPr lang="zh-CN" altLang="en-US" dirty="0">
              <a:ea typeface="+mn-ea"/>
            </a:endParaRPr>
          </a:p>
          <a:p>
            <a:pPr marL="228600" lvl="0" indent="-228600">
              <a:buFont typeface="+mj-lt"/>
              <a:buAutoNum type="arabicPeriod"/>
            </a:pPr>
            <a:r>
              <a:rPr lang="zh-CN" altLang="en-US" dirty="0">
                <a:ea typeface="+mn-ea"/>
              </a:rPr>
              <a:t>减少短期记忆负担（</a:t>
            </a:r>
            <a:r>
              <a:rPr lang="zh-CN" altLang="en-US" sz="1200" dirty="0"/>
              <a:t>易学、易用、操作方便</a:t>
            </a:r>
            <a:r>
              <a:rPr lang="zh-CN" altLang="en-US" dirty="0">
                <a:ea typeface="+mn-ea"/>
              </a:rPr>
              <a:t>）</a:t>
            </a:r>
            <a:endParaRPr lang="en-US" altLang="zh-CN" dirty="0">
              <a:ea typeface="+mn-ea"/>
            </a:endParaRPr>
          </a:p>
          <a:p>
            <a:pPr marL="228600" lvl="0" indent="-228600">
              <a:buFont typeface="+mj-lt"/>
              <a:buAutoNum type="arabicPeriod"/>
            </a:pPr>
            <a:r>
              <a:rPr lang="zh-CN" altLang="en-US" sz="1200" dirty="0"/>
              <a:t>具有语境敏感的帮助功能</a:t>
            </a:r>
            <a:endParaRPr lang="en-US" altLang="zh-CN" sz="1200" dirty="0"/>
          </a:p>
          <a:p>
            <a:pPr marL="228600" lvl="0" indent="-228600">
              <a:buFont typeface="+mj-lt"/>
              <a:buAutoNum type="arabicPeriod"/>
            </a:pPr>
            <a:r>
              <a:rPr lang="zh-CN" altLang="en-US" sz="1200" dirty="0"/>
              <a:t>减少重复的输入和操作</a:t>
            </a:r>
            <a:endParaRPr lang="en-US" altLang="zh-CN" sz="1200" dirty="0">
              <a:ea typeface="+mn-ea"/>
            </a:endParaRPr>
          </a:p>
          <a:p>
            <a:pPr marL="228600" lvl="0" indent="-228600">
              <a:buFont typeface="+mj-lt"/>
              <a:buAutoNum type="arabicPeriod"/>
            </a:pPr>
            <a:r>
              <a:rPr lang="zh-CN" altLang="en-US" sz="2000" dirty="0"/>
              <a:t>防止灾难性的错误</a:t>
            </a:r>
            <a:endParaRPr lang="en-US" altLang="zh-CN" sz="20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defRPr/>
            </a:pPr>
            <a:r>
              <a:rPr lang="zh-CN" altLang="en-US" sz="2000" dirty="0"/>
              <a:t>使用户的注意力集中在当前的任务上而不是界面上</a:t>
            </a:r>
            <a:endParaRPr lang="en-US" altLang="zh-CN" sz="2000" dirty="0"/>
          </a:p>
          <a:p>
            <a:pPr marL="228600" lvl="0" indent="-228600">
              <a:buFont typeface="+mj-lt"/>
              <a:buAutoNum type="arabicPeriod"/>
            </a:pPr>
            <a:r>
              <a:rPr lang="zh-CN" altLang="en-US" sz="2000" dirty="0"/>
              <a:t>其它：如艺术性、趣味性、风格、视感等</a:t>
            </a:r>
            <a:endParaRPr lang="en-US" altLang="zh-CN" sz="2000" dirty="0"/>
          </a:p>
          <a:p>
            <a:pPr eaLnBrk="1" hangingPunct="1"/>
            <a:endParaRPr lang="zh-CN" altLang="zh-CN" dirty="0">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p>
            <a:fld id="{2FD7F90C-BC63-456C-BE15-7359C93BD526}"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115715" name="Rectangle 2"/>
          <p:cNvSpPr>
            <a:spLocks noGrp="1" noRot="1" noChangeAspect="1" noChangeArrowheads="1" noTextEdit="1"/>
          </p:cNvSpPr>
          <p:nvPr>
            <p:ph type="sldImg"/>
          </p:nvPr>
        </p:nvSpPr>
        <p:spPr/>
      </p:sp>
      <p:sp>
        <p:nvSpPr>
          <p:cNvPr id="115716" name="Rectangle 3"/>
          <p:cNvSpPr>
            <a:spLocks noGrp="1" noChangeArrowheads="1"/>
          </p:cNvSpPr>
          <p:nvPr>
            <p:ph type="body" idx="1"/>
          </p:nvPr>
        </p:nvSpPr>
        <p:spPr>
          <a:xfrm>
            <a:off x="914400" y="4343400"/>
            <a:ext cx="5029200" cy="4114800"/>
          </a:xfrm>
          <a:noFill/>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711B7039-593A-4A87-A706-493369A4DEE9}"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116739" name="Rectangle 2"/>
          <p:cNvSpPr>
            <a:spLocks noGrp="1" noRot="1" noChangeAspect="1" noChangeArrowheads="1" noTextEdit="1"/>
          </p:cNvSpPr>
          <p:nvPr>
            <p:ph type="sldImg"/>
          </p:nvPr>
        </p:nvSpPr>
        <p:spPr/>
      </p:sp>
      <p:sp>
        <p:nvSpPr>
          <p:cNvPr id="116740" name="Rectangle 3"/>
          <p:cNvSpPr>
            <a:spLocks noGrp="1" noChangeArrowheads="1"/>
          </p:cNvSpPr>
          <p:nvPr>
            <p:ph type="body" idx="1"/>
          </p:nvPr>
        </p:nvSpPr>
        <p:spPr>
          <a:xfrm>
            <a:off x="914400" y="4343400"/>
            <a:ext cx="5029200" cy="4114800"/>
          </a:xfrm>
          <a:noFill/>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CF56A88F-30BC-4A50-803A-894AB41BD9E9}" type="slidenum">
              <a:rPr lang="en-US" altLang="zh-CN" smtClean="0">
                <a:ea typeface="宋体" panose="02010600030101010101" pitchFamily="2" charset="-122"/>
              </a:rPr>
            </a:fld>
            <a:endParaRPr lang="en-US" altLang="zh-CN">
              <a:ea typeface="宋体" panose="02010600030101010101" pitchFamily="2" charset="-122"/>
            </a:endParaRPr>
          </a:p>
        </p:txBody>
      </p:sp>
      <p:sp>
        <p:nvSpPr>
          <p:cNvPr id="117763" name="Rectangle 2"/>
          <p:cNvSpPr>
            <a:spLocks noGrp="1" noRot="1" noChangeAspect="1" noChangeArrowheads="1" noTextEdit="1"/>
          </p:cNvSpPr>
          <p:nvPr>
            <p:ph type="sldImg"/>
          </p:nvPr>
        </p:nvSpPr>
        <p:spPr/>
      </p:sp>
      <p:sp>
        <p:nvSpPr>
          <p:cNvPr id="117764" name="Rectangle 3"/>
          <p:cNvSpPr>
            <a:spLocks noGrp="1" noChangeArrowheads="1"/>
          </p:cNvSpPr>
          <p:nvPr>
            <p:ph type="body" idx="1"/>
          </p:nvPr>
        </p:nvSpPr>
        <p:spPr>
          <a:xfrm>
            <a:off x="914400" y="4343400"/>
            <a:ext cx="5029200" cy="4114800"/>
          </a:xfrm>
          <a:noFill/>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defRPr>
            </a:lvl9pPr>
          </a:lstStyle>
          <a:p>
            <a:fld id="{00C8C2FF-A272-4888-B6F1-99597A1FB6CE}" type="slidenum">
              <a:rPr lang="zh-CN" altLang="en-US"/>
            </a:fld>
            <a:endParaRPr lang="en-US" altLang="zh-CN"/>
          </a:p>
        </p:txBody>
      </p:sp>
      <p:sp>
        <p:nvSpPr>
          <p:cNvPr id="60419" name="Rectangle 2"/>
          <p:cNvSpPr>
            <a:spLocks noGrp="1" noRot="1" noChangeAspect="1" noChangeArrowheads="1" noTextEdit="1"/>
          </p:cNvSpPr>
          <p:nvPr>
            <p:ph type="sldImg"/>
          </p:nvPr>
        </p:nvSpPr>
        <p:spPr/>
      </p:sp>
      <p:sp>
        <p:nvSpPr>
          <p:cNvPr id="604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购物车</a:t>
            </a:r>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C82E783-649F-44DC-A8F6-E4C5105E118F}"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Rectangle 6"/>
          <p:cNvSpPr/>
          <p:nvPr userDrawn="1"/>
        </p:nvSpPr>
        <p:spPr>
          <a:xfrm>
            <a:off x="0" y="-1"/>
            <a:ext cx="9144000" cy="34290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3720103"/>
            <a:ext cx="5829300" cy="1097280"/>
          </a:xfrm>
        </p:spPr>
        <p:txBody>
          <a:bodyPr anchor="ctr">
            <a:normAutofit/>
          </a:bodyPr>
          <a:lstStyle>
            <a:lvl1pPr algn="r">
              <a:defRPr sz="3750" spc="150" baseline="0"/>
            </a:lvl1pPr>
          </a:lstStyle>
          <a:p>
            <a:r>
              <a:rPr lang="zh-CN" altLang="en-US" dirty="0" smtClean="0"/>
              <a:t>单击此处编辑母版标题样式</a:t>
            </a:r>
            <a:endParaRPr lang="en-US" dirty="0"/>
          </a:p>
        </p:txBody>
      </p:sp>
      <p:sp>
        <p:nvSpPr>
          <p:cNvPr id="3" name="Subtitle 2"/>
          <p:cNvSpPr>
            <a:spLocks noGrp="1"/>
          </p:cNvSpPr>
          <p:nvPr>
            <p:ph type="subTitle" idx="1" hasCustomPrompt="1"/>
          </p:nvPr>
        </p:nvSpPr>
        <p:spPr>
          <a:xfrm>
            <a:off x="6457950" y="3720103"/>
            <a:ext cx="2400300" cy="1097280"/>
          </a:xfrm>
        </p:spPr>
        <p:txBody>
          <a:bodyPr lIns="91440" rIns="91440" anchor="ctr">
            <a:normAutofit/>
          </a:bodyPr>
          <a:lstStyle>
            <a:lvl1pPr marL="0" indent="0" algn="l">
              <a:lnSpc>
                <a:spcPct val="100000"/>
              </a:lnSpc>
              <a:spcBef>
                <a:spcPts val="0"/>
              </a:spcBef>
              <a:buNone/>
              <a:defRPr sz="1350">
                <a:solidFill>
                  <a:schemeClr val="tx1">
                    <a:lumMod val="90000"/>
                    <a:lumOff val="10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zh-CN" altLang="en-US" dirty="0" smtClean="0"/>
              <a:t>单击以编辑母版副标题样式</a:t>
            </a:r>
            <a:endParaRPr lang="en-US" dirty="0"/>
          </a:p>
        </p:txBody>
      </p:sp>
      <p:sp>
        <p:nvSpPr>
          <p:cNvPr id="4" name="Date Placeholder 3"/>
          <p:cNvSpPr>
            <a:spLocks noGrp="1"/>
          </p:cNvSpPr>
          <p:nvPr>
            <p:ph type="dt" sz="half" idx="10"/>
          </p:nvPr>
        </p:nvSpPr>
        <p:spPr/>
        <p:txBody>
          <a:bodyPr/>
          <a:lstStyle>
            <a:lvl1pPr algn="ctr">
              <a:defRPr sz="1600">
                <a:latin typeface="+mn-lt"/>
              </a:defRPr>
            </a:lvl1pPr>
          </a:lstStyle>
          <a:p>
            <a:fld id="{A06F0430-8175-43D2-8F25-1B13FE5FA0C2}" type="datetime1">
              <a:rPr lang="zh-CN" altLang="en-US" smtClean="0"/>
            </a:fld>
            <a:endParaRPr lang="zh-CN" altLang="en-US" dirty="0"/>
          </a:p>
        </p:txBody>
      </p:sp>
      <p:sp>
        <p:nvSpPr>
          <p:cNvPr id="5" name="Footer Placeholder 4"/>
          <p:cNvSpPr>
            <a:spLocks noGrp="1"/>
          </p:cNvSpPr>
          <p:nvPr>
            <p:ph type="ftr" sz="quarter" idx="11"/>
          </p:nvPr>
        </p:nvSpPr>
        <p:spPr>
          <a:xfrm>
            <a:off x="2298032" y="4853028"/>
            <a:ext cx="5760261" cy="205740"/>
          </a:xfrm>
        </p:spPr>
        <p:txBody>
          <a:bodyPr/>
          <a:lstStyle>
            <a:lvl1pPr algn="ctr">
              <a:defRPr sz="1600">
                <a:latin typeface="+mn-lt"/>
              </a:defRPr>
            </a:lvl1pPr>
          </a:lstStyle>
          <a:p>
            <a:r>
              <a:rPr lang="zh-CN" altLang="en-US" smtClean="0"/>
              <a:t>软件工程</a:t>
            </a:r>
            <a:endParaRPr lang="zh-CN" altLang="en-US" dirty="0"/>
          </a:p>
        </p:txBody>
      </p:sp>
      <p:sp>
        <p:nvSpPr>
          <p:cNvPr id="6" name="Slide Number Placeholder 5"/>
          <p:cNvSpPr>
            <a:spLocks noGrp="1"/>
          </p:cNvSpPr>
          <p:nvPr>
            <p:ph type="sldNum" sz="quarter" idx="12"/>
          </p:nvPr>
        </p:nvSpPr>
        <p:spPr/>
        <p:txBody>
          <a:bodyPr/>
          <a:lstStyle>
            <a:lvl1pPr algn="ctr">
              <a:defRPr sz="1600">
                <a:latin typeface="+mn-lt"/>
              </a:defRPr>
            </a:lvl1pPr>
          </a:lstStyle>
          <a:p>
            <a:fld id="{F528F39D-B5E5-4CA7-906C-979D5A62978D}" type="slidenum">
              <a:rPr lang="zh-CN" altLang="en-US" smtClean="0"/>
            </a:fld>
            <a:endParaRPr lang="zh-CN" altLang="en-US"/>
          </a:p>
        </p:txBody>
      </p:sp>
      <p:cxnSp>
        <p:nvCxnSpPr>
          <p:cNvPr id="8" name="Straight Connector 7"/>
          <p:cNvCxnSpPr/>
          <p:nvPr/>
        </p:nvCxnSpPr>
        <p:spPr>
          <a:xfrm flipV="1">
            <a:off x="6290132" y="3948080"/>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42900" y="114820"/>
            <a:ext cx="692368" cy="692368"/>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单击此处编辑母版标题样式</a:t>
            </a:r>
            <a:endParaRPr lang="en-US" dirty="0"/>
          </a:p>
        </p:txBody>
      </p:sp>
      <p:sp>
        <p:nvSpPr>
          <p:cNvPr id="3" name="Content Placeholder 2"/>
          <p:cNvSpPr>
            <a:spLocks noGrp="1"/>
          </p:cNvSpPr>
          <p:nvPr>
            <p:ph idx="1" hasCustomPrompt="1"/>
          </p:nvPr>
        </p:nvSpPr>
        <p:spPr/>
        <p:txBody>
          <a:bodyPr/>
          <a:lstStyle>
            <a:lvl3pPr marL="1080135" indent="-288290">
              <a:buFont typeface="Wingdings 3" panose="05040102010807070707" pitchFamily="18" charset="2"/>
              <a:buChar char=""/>
              <a:defRPr/>
            </a:lvl3pPr>
            <a:lvl4pPr marL="1259840" indent="-288290">
              <a:buFont typeface="Wingdings 3" panose="05040102010807070707" pitchFamily="18" charset="2"/>
              <a:buChar char=""/>
              <a:defRPr/>
            </a:lvl4pPr>
            <a:lvl5pPr marL="1440180" indent="-288290">
              <a:buFont typeface="Wingdings 3" panose="05040102010807070707" pitchFamily="18" charset="2"/>
              <a:buChar char=""/>
              <a:defRPr/>
            </a:lvl5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4" name="Date Placeholder 3"/>
          <p:cNvSpPr>
            <a:spLocks noGrp="1"/>
          </p:cNvSpPr>
          <p:nvPr>
            <p:ph type="dt" sz="half" idx="10"/>
          </p:nvPr>
        </p:nvSpPr>
        <p:spPr/>
        <p:txBody>
          <a:bodyPr/>
          <a:lstStyle>
            <a:lvl1pPr algn="ctr">
              <a:defRPr sz="1600" b="0">
                <a:solidFill>
                  <a:schemeClr val="bg1"/>
                </a:solidFill>
                <a:latin typeface="+mn-lt"/>
              </a:defRPr>
            </a:lvl1pPr>
          </a:lstStyle>
          <a:p>
            <a:fld id="{A27FFCF3-5DB9-49D0-BBEE-7C9A8855386B}" type="datetime1">
              <a:rPr lang="zh-CN" altLang="en-US" smtClean="0"/>
            </a:fld>
            <a:endParaRPr lang="zh-CN" altLang="en-US" dirty="0"/>
          </a:p>
        </p:txBody>
      </p:sp>
      <p:sp>
        <p:nvSpPr>
          <p:cNvPr id="5" name="Footer Placeholder 4"/>
          <p:cNvSpPr>
            <a:spLocks noGrp="1"/>
          </p:cNvSpPr>
          <p:nvPr>
            <p:ph type="ftr" sz="quarter" idx="11"/>
          </p:nvPr>
        </p:nvSpPr>
        <p:spPr>
          <a:xfrm>
            <a:off x="2383703" y="4853028"/>
            <a:ext cx="5674590" cy="205740"/>
          </a:xfrm>
        </p:spPr>
        <p:txBody>
          <a:bodyPr/>
          <a:lstStyle>
            <a:lvl1pPr algn="ctr">
              <a:defRPr sz="1600" b="0">
                <a:solidFill>
                  <a:schemeClr val="bg1"/>
                </a:solidFill>
                <a:latin typeface="+mn-lt"/>
              </a:defRPr>
            </a:lvl1pPr>
          </a:lstStyle>
          <a:p>
            <a:r>
              <a:rPr lang="zh-CN" altLang="en-US" dirty="0" smtClean="0"/>
              <a:t>软件工程</a:t>
            </a:r>
            <a:endParaRPr lang="zh-CN" altLang="en-US" dirty="0"/>
          </a:p>
        </p:txBody>
      </p:sp>
      <p:sp>
        <p:nvSpPr>
          <p:cNvPr id="6" name="Slide Number Placeholder 5"/>
          <p:cNvSpPr>
            <a:spLocks noGrp="1"/>
          </p:cNvSpPr>
          <p:nvPr>
            <p:ph type="sldNum" sz="quarter" idx="12"/>
          </p:nvPr>
        </p:nvSpPr>
        <p:spPr/>
        <p:txBody>
          <a:bodyPr/>
          <a:lstStyle>
            <a:lvl1pPr algn="ctr">
              <a:defRPr sz="1600" b="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95958" y="-12032"/>
            <a:ext cx="7882609" cy="860498"/>
          </a:xfrm>
        </p:spPr>
        <p:txBody>
          <a:bodyPr/>
          <a:lstStyle/>
          <a:p>
            <a:r>
              <a:rPr lang="zh-CN" altLang="en-US" dirty="0" smtClean="0"/>
              <a:t>单击此处编辑母版标题样式</a:t>
            </a:r>
            <a:endParaRPr lang="en-US" dirty="0"/>
          </a:p>
        </p:txBody>
      </p:sp>
      <p:sp>
        <p:nvSpPr>
          <p:cNvPr id="3" name="Content Placeholder 2"/>
          <p:cNvSpPr>
            <a:spLocks noGrp="1"/>
          </p:cNvSpPr>
          <p:nvPr>
            <p:ph sz="half" idx="1" hasCustomPrompt="1"/>
          </p:nvPr>
        </p:nvSpPr>
        <p:spPr>
          <a:xfrm>
            <a:off x="768096" y="969475"/>
            <a:ext cx="3566160" cy="3762546"/>
          </a:xfrm>
        </p:spPr>
        <p:txBody>
          <a:body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4" name="Content Placeholder 3"/>
          <p:cNvSpPr>
            <a:spLocks noGrp="1"/>
          </p:cNvSpPr>
          <p:nvPr>
            <p:ph sz="half" idx="2" hasCustomPrompt="1"/>
          </p:nvPr>
        </p:nvSpPr>
        <p:spPr>
          <a:xfrm>
            <a:off x="4491990" y="969473"/>
            <a:ext cx="3566160" cy="3762547"/>
          </a:xfrm>
        </p:spPr>
        <p:txBody>
          <a:body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5" name="Date Placeholder 4"/>
          <p:cNvSpPr>
            <a:spLocks noGrp="1"/>
          </p:cNvSpPr>
          <p:nvPr>
            <p:ph type="dt" sz="half" idx="10"/>
          </p:nvPr>
        </p:nvSpPr>
        <p:spPr/>
        <p:txBody>
          <a:bodyPr/>
          <a:lstStyle>
            <a:lvl1pPr algn="ctr">
              <a:defRPr sz="1600">
                <a:solidFill>
                  <a:schemeClr val="bg1"/>
                </a:solidFill>
                <a:latin typeface="+mn-lt"/>
              </a:defRPr>
            </a:lvl1pPr>
          </a:lstStyle>
          <a:p>
            <a:fld id="{E2C76C7A-3865-46C4-9A2E-96C9D90AD38B}" type="datetime1">
              <a:rPr lang="zh-CN" altLang="en-US" smtClean="0"/>
            </a:fld>
            <a:endParaRPr lang="zh-CN" altLang="en-US" dirty="0"/>
          </a:p>
        </p:txBody>
      </p:sp>
      <p:sp>
        <p:nvSpPr>
          <p:cNvPr id="6" name="Footer Placeholder 5"/>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smtClean="0"/>
              <a:t>软件工程</a:t>
            </a:r>
            <a:endParaRPr lang="zh-CN" altLang="en-US"/>
          </a:p>
        </p:txBody>
      </p:sp>
      <p:sp>
        <p:nvSpPr>
          <p:cNvPr id="7" name="Slide Number Placeholder 6"/>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80918" y="0"/>
            <a:ext cx="7290054" cy="848467"/>
          </a:xfrm>
        </p:spPr>
        <p:txBody>
          <a:bodyPr/>
          <a:lstStyle/>
          <a:p>
            <a:r>
              <a:rPr lang="zh-CN" altLang="en-US" dirty="0" smtClean="0"/>
              <a:t>单击此处编辑母版标题样式</a:t>
            </a:r>
            <a:endParaRPr lang="en-US" dirty="0"/>
          </a:p>
        </p:txBody>
      </p:sp>
      <p:sp>
        <p:nvSpPr>
          <p:cNvPr id="3" name="Text Placeholder 2"/>
          <p:cNvSpPr>
            <a:spLocks noGrp="1"/>
          </p:cNvSpPr>
          <p:nvPr>
            <p:ph type="body" idx="1" hasCustomPrompt="1"/>
          </p:nvPr>
        </p:nvSpPr>
        <p:spPr>
          <a:xfrm>
            <a:off x="768096" y="993491"/>
            <a:ext cx="3566160" cy="617220"/>
          </a:xfrm>
        </p:spPr>
        <p:txBody>
          <a:bodyPr lIns="137160" rIns="137160" anchor="ctr">
            <a:normAutofit/>
          </a:bodyPr>
          <a:lstStyle>
            <a:lvl1pPr marL="0" indent="0">
              <a:spcBef>
                <a:spcPts val="0"/>
              </a:spcBef>
              <a:spcAft>
                <a:spcPts val="0"/>
              </a:spcAft>
              <a:buNone/>
              <a:defRPr sz="1725" b="0" cap="none" baseline="0">
                <a:solidFill>
                  <a:schemeClr val="accent2">
                    <a:lumMod val="75000"/>
                  </a:schemeClr>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编辑母版文本样式</a:t>
            </a:r>
            <a:endParaRPr lang="zh-CN" altLang="en-US" smtClean="0"/>
          </a:p>
        </p:txBody>
      </p:sp>
      <p:sp>
        <p:nvSpPr>
          <p:cNvPr id="4" name="Content Placeholder 3"/>
          <p:cNvSpPr>
            <a:spLocks noGrp="1"/>
          </p:cNvSpPr>
          <p:nvPr>
            <p:ph sz="half" idx="2" hasCustomPrompt="1"/>
          </p:nvPr>
        </p:nvSpPr>
        <p:spPr>
          <a:xfrm>
            <a:off x="768096" y="1584605"/>
            <a:ext cx="3566160" cy="2506179"/>
          </a:xfrm>
        </p:spPr>
        <p:txBody>
          <a:bodyPr lIns="45720" rIns="4572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hasCustomPrompt="1"/>
          </p:nvPr>
        </p:nvSpPr>
        <p:spPr>
          <a:xfrm>
            <a:off x="4491990" y="993491"/>
            <a:ext cx="3566160" cy="617220"/>
          </a:xfrm>
        </p:spPr>
        <p:txBody>
          <a:bodyPr lIns="137160" rIns="137160" anchor="ctr">
            <a:normAutofit/>
          </a:bodyPr>
          <a:lstStyle>
            <a:lvl1pPr marL="0" indent="0">
              <a:spcBef>
                <a:spcPts val="0"/>
              </a:spcBef>
              <a:spcAft>
                <a:spcPts val="0"/>
              </a:spcAft>
              <a:buNone/>
              <a:defRPr lang="en-US" sz="1725" b="0" kern="1200" cap="none" baseline="0" dirty="0">
                <a:solidFill>
                  <a:schemeClr val="accent2">
                    <a:lumMod val="75000"/>
                  </a:schemeClr>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zh-CN" altLang="en-US" smtClean="0"/>
              <a:t>编辑母版文本样式</a:t>
            </a:r>
            <a:endParaRPr lang="zh-CN" altLang="en-US" smtClean="0"/>
          </a:p>
        </p:txBody>
      </p:sp>
      <p:sp>
        <p:nvSpPr>
          <p:cNvPr id="6" name="Content Placeholder 5"/>
          <p:cNvSpPr>
            <a:spLocks noGrp="1"/>
          </p:cNvSpPr>
          <p:nvPr>
            <p:ph sz="quarter" idx="4" hasCustomPrompt="1"/>
          </p:nvPr>
        </p:nvSpPr>
        <p:spPr>
          <a:xfrm>
            <a:off x="4491990" y="1584605"/>
            <a:ext cx="3566160" cy="2506179"/>
          </a:xfrm>
        </p:spPr>
        <p:txBody>
          <a:bodyPr lIns="45720" rIns="4572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lvl1pPr algn="ctr">
              <a:defRPr sz="1600">
                <a:solidFill>
                  <a:schemeClr val="bg1"/>
                </a:solidFill>
                <a:latin typeface="+mn-lt"/>
              </a:defRPr>
            </a:lvl1pPr>
          </a:lstStyle>
          <a:p>
            <a:fld id="{6382A227-01E2-4A01-A501-015106D6B082}" type="datetime1">
              <a:rPr lang="zh-CN" altLang="en-US" smtClean="0"/>
            </a:fld>
            <a:endParaRPr lang="zh-CN" altLang="en-US"/>
          </a:p>
        </p:txBody>
      </p:sp>
      <p:sp>
        <p:nvSpPr>
          <p:cNvPr id="8" name="Footer Placeholder 7"/>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smtClean="0"/>
              <a:t>软件工程</a:t>
            </a:r>
            <a:endParaRPr lang="zh-CN" altLang="en-US"/>
          </a:p>
        </p:txBody>
      </p:sp>
      <p:sp>
        <p:nvSpPr>
          <p:cNvPr id="9" name="Slide Number Placeholder 8"/>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lvl1pPr algn="ctr">
              <a:defRPr sz="1600">
                <a:solidFill>
                  <a:schemeClr val="bg1"/>
                </a:solidFill>
                <a:latin typeface="+mn-lt"/>
              </a:defRPr>
            </a:lvl1pPr>
          </a:lstStyle>
          <a:p>
            <a:fld id="{8A04FD4D-9B84-4BB4-88A9-8CD88404B5E3}" type="datetime1">
              <a:rPr lang="zh-CN" altLang="en-US" smtClean="0"/>
            </a:fld>
            <a:endParaRPr lang="zh-CN" altLang="en-US"/>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smtClean="0"/>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9" name="矩形 8"/>
          <p:cNvSpPr/>
          <p:nvPr userDrawn="1"/>
        </p:nvSpPr>
        <p:spPr>
          <a:xfrm>
            <a:off x="0" y="4215740"/>
            <a:ext cx="9144000" cy="8786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Date Placeholder 2"/>
          <p:cNvSpPr>
            <a:spLocks noGrp="1"/>
          </p:cNvSpPr>
          <p:nvPr>
            <p:ph type="dt" sz="half" idx="10"/>
          </p:nvPr>
        </p:nvSpPr>
        <p:spPr/>
        <p:txBody>
          <a:bodyPr/>
          <a:lstStyle>
            <a:lvl1pPr algn="ctr">
              <a:defRPr sz="1600">
                <a:solidFill>
                  <a:schemeClr val="accent1">
                    <a:lumMod val="50000"/>
                  </a:schemeClr>
                </a:solidFill>
                <a:latin typeface="+mn-lt"/>
              </a:defRPr>
            </a:lvl1pPr>
          </a:lstStyle>
          <a:p>
            <a:fld id="{09F09578-077F-41C9-9AF2-25A941B0B377}" type="datetime1">
              <a:rPr lang="zh-CN" altLang="en-US" smtClean="0"/>
            </a:fld>
            <a:endParaRPr lang="zh-CN" altLang="en-US" dirty="0"/>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accent1">
                    <a:lumMod val="50000"/>
                  </a:schemeClr>
                </a:solidFill>
                <a:latin typeface="+mn-lt"/>
              </a:defRPr>
            </a:lvl1pPr>
          </a:lstStyle>
          <a:p>
            <a:r>
              <a:rPr lang="zh-CN" altLang="en-US" smtClean="0"/>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accent1">
                    <a:lumMod val="50000"/>
                  </a:schemeClr>
                </a:solidFill>
                <a:latin typeface="+mn-lt"/>
              </a:defRPr>
            </a:lvl1pPr>
          </a:lstStyle>
          <a:p>
            <a:fld id="{F528F39D-B5E5-4CA7-906C-979D5A62978D}" type="slidenum">
              <a:rPr lang="zh-CN" altLang="en-US" smtClean="0"/>
            </a:fld>
            <a:endParaRPr lang="zh-CN" altLang="en-US"/>
          </a:p>
        </p:txBody>
      </p:sp>
      <p:sp>
        <p:nvSpPr>
          <p:cNvPr id="6" name="矩形 5"/>
          <p:cNvSpPr/>
          <p:nvPr userDrawn="1"/>
        </p:nvSpPr>
        <p:spPr>
          <a:xfrm>
            <a:off x="0" y="11875"/>
            <a:ext cx="9144000" cy="13894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cxnSp>
        <p:nvCxnSpPr>
          <p:cNvPr id="8" name="Straight Connector 6"/>
          <p:cNvCxnSpPr/>
          <p:nvPr userDrawn="1"/>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6000"/>
            </a:lvl1pPr>
          </a:lstStyle>
          <a:p>
            <a:r>
              <a:rPr lang="zh-CN" altLang="en-US" dirty="0" smtClean="0"/>
              <a:t>单击此处编辑母版标题样式</a:t>
            </a:r>
            <a:endParaRPr lang="zh-CN" altLang="en-US" dirty="0"/>
          </a:p>
        </p:txBody>
      </p:sp>
      <p:sp>
        <p:nvSpPr>
          <p:cNvPr id="3" name="副标题 2"/>
          <p:cNvSpPr>
            <a:spLocks noGrp="1"/>
          </p:cNvSpPr>
          <p:nvPr>
            <p:ph type="subTitle" idx="1" hasCustomPrompt="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65F183EA-4293-428F-A9A0-64AD06AAC48D}" type="datetime1">
              <a:rPr lang="zh-CN" altLang="en-US" smtClean="0"/>
            </a:fld>
            <a:endParaRPr lang="zh-CN" altLang="en-US"/>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1_节标题">
    <p:spTree>
      <p:nvGrpSpPr>
        <p:cNvPr id="1" name=""/>
        <p:cNvGrpSpPr/>
        <p:nvPr/>
      </p:nvGrpSpPr>
      <p:grpSpPr>
        <a:xfrm>
          <a:off x="0" y="0"/>
          <a:ext cx="0" cy="0"/>
          <a:chOff x="0" y="0"/>
          <a:chExt cx="0" cy="0"/>
        </a:xfrm>
      </p:grpSpPr>
      <p:sp>
        <p:nvSpPr>
          <p:cNvPr id="2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0B9E2D44-D0CC-4295-923C-C34275BF58B0}"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dirty="0"/>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8342" y="-14837"/>
            <a:ext cx="692368" cy="692368"/>
          </a:xfrm>
          <a:prstGeom prst="rect">
            <a:avLst/>
          </a:prstGeom>
        </p:spPr>
      </p:pic>
      <p:cxnSp>
        <p:nvCxnSpPr>
          <p:cNvPr id="9" name="Straight Connector 6"/>
          <p:cNvCxnSpPr/>
          <p:nvPr userDrawn="1"/>
        </p:nvCxnSpPr>
        <p:spPr>
          <a:xfrm flipV="1">
            <a:off x="574526" y="677531"/>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4223189" y="780125"/>
            <a:ext cx="0" cy="386756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userDrawn="1"/>
        </p:nvSpPr>
        <p:spPr>
          <a:xfrm>
            <a:off x="835829" y="1395230"/>
            <a:ext cx="1992037" cy="1992037"/>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MH_Others_1"/>
          <p:cNvSpPr txBox="1"/>
          <p:nvPr userDrawn="1">
            <p:custDataLst>
              <p:tags r:id="rId3"/>
            </p:custDataLst>
          </p:nvPr>
        </p:nvSpPr>
        <p:spPr>
          <a:xfrm>
            <a:off x="1448688" y="1467661"/>
            <a:ext cx="1286564" cy="1847174"/>
          </a:xfrm>
          <a:prstGeom prst="rect">
            <a:avLst/>
          </a:prstGeom>
          <a:noFill/>
        </p:spPr>
        <p:txBody>
          <a:bodyPr wrap="square" lIns="0" tIns="0" rIns="0" bIns="0" rtlCol="0" anchor="ctr" anchorCtr="0">
            <a:noAutofit/>
          </a:bodyPr>
          <a:lstStyle/>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目</a:t>
            </a:r>
            <a:endParaRPr lang="en-US" altLang="zh-CN"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录</a:t>
            </a:r>
            <a:endPar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MH_Others_2"/>
          <p:cNvSpPr txBox="1"/>
          <p:nvPr userDrawn="1">
            <p:custDataLst>
              <p:tags r:id="rId4"/>
            </p:custDataLst>
          </p:nvPr>
        </p:nvSpPr>
        <p:spPr>
          <a:xfrm rot="5400000">
            <a:off x="589962" y="2191193"/>
            <a:ext cx="1932333" cy="400110"/>
          </a:xfrm>
          <a:prstGeom prst="rect">
            <a:avLst/>
          </a:prstGeom>
          <a:noFill/>
        </p:spPr>
        <p:txBody>
          <a:bodyPr wrap="square">
            <a:spAutoFit/>
          </a:bodyPr>
          <a:lstStyle/>
          <a:p>
            <a:pPr algn="ctr">
              <a:defRPr/>
            </a:pPr>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userDrawn="1"/>
        </p:nvSpPr>
        <p:spPr>
          <a:xfrm>
            <a:off x="0" y="1342074"/>
            <a:ext cx="9144000" cy="38014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p:cNvSpPr>
            <a:spLocks noGrp="1"/>
          </p:cNvSpPr>
          <p:nvPr>
            <p:ph type="title" hasCustomPrompt="1"/>
          </p:nvPr>
        </p:nvSpPr>
        <p:spPr>
          <a:xfrm>
            <a:off x="952609" y="385011"/>
            <a:ext cx="7886700" cy="935851"/>
          </a:xfrm>
        </p:spPr>
        <p:txBody>
          <a:bodyPr anchor="b">
            <a:normAutofit/>
          </a:bodyPr>
          <a:lstStyle>
            <a:lvl1pPr>
              <a:defRPr sz="4000">
                <a:solidFill>
                  <a:schemeClr val="tx2"/>
                </a:solidFill>
              </a:defRPr>
            </a:lvl1pPr>
          </a:lstStyle>
          <a:p>
            <a:r>
              <a:rPr lang="zh-CN" altLang="en-US" dirty="0" smtClean="0"/>
              <a:t>编辑母版标</a:t>
            </a:r>
            <a:endParaRPr lang="zh-CN" altLang="en-US" dirty="0"/>
          </a:p>
        </p:txBody>
      </p:sp>
      <p:sp>
        <p:nvSpPr>
          <p:cNvPr id="3" name="文本占位符 2"/>
          <p:cNvSpPr>
            <a:spLocks noGrp="1"/>
          </p:cNvSpPr>
          <p:nvPr>
            <p:ph type="body" idx="1" hasCustomPrompt="1"/>
          </p:nvPr>
        </p:nvSpPr>
        <p:spPr>
          <a:xfrm>
            <a:off x="768096" y="1506009"/>
            <a:ext cx="7886700" cy="3090054"/>
          </a:xfrm>
        </p:spPr>
        <p:txBody>
          <a:bodyPr>
            <a:normAutofit/>
          </a:bodyPr>
          <a:lstStyle>
            <a:lvl1pPr marL="0" indent="0">
              <a:lnSpc>
                <a:spcPct val="120000"/>
              </a:lnSpc>
              <a:spcBef>
                <a:spcPts val="1200"/>
              </a:spcBef>
              <a:spcAft>
                <a:spcPts val="0"/>
              </a:spcAft>
              <a:buNone/>
              <a:defRPr sz="2800" b="0">
                <a:solidFill>
                  <a:schemeClr val="bg1"/>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smtClean="0"/>
              <a:t>编辑母版文本样式</a:t>
            </a:r>
            <a:endParaRPr lang="zh-CN" altLang="en-US" dirty="0" smtClean="0"/>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41890DF4-640E-4EFD-BA1C-14B4C094A0E2}"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60241" y="17062"/>
            <a:ext cx="692368" cy="692368"/>
          </a:xfrm>
          <a:prstGeom prst="rect">
            <a:avLst/>
          </a:prstGeom>
        </p:spPr>
      </p:pic>
      <p:cxnSp>
        <p:nvCxnSpPr>
          <p:cNvPr id="9" name="Straight Connector 6"/>
          <p:cNvCxnSpPr/>
          <p:nvPr userDrawn="1"/>
        </p:nvCxnSpPr>
        <p:spPr>
          <a:xfrm flipV="1">
            <a:off x="606425" y="649706"/>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lgn="ctr">
              <a:defRPr sz="1600">
                <a:solidFill>
                  <a:schemeClr val="bg1"/>
                </a:solidFill>
                <a:latin typeface="+mn-lt"/>
              </a:defRPr>
            </a:lvl1pPr>
          </a:lstStyle>
          <a:p>
            <a:fld id="{2CB833AF-D774-4312-A44F-695B850464AB}" type="datetime1">
              <a:rPr lang="zh-CN" altLang="en-US" smtClean="0"/>
            </a:fld>
            <a:endParaRPr lang="zh-CN" altLang="en-US"/>
          </a:p>
        </p:txBody>
      </p:sp>
      <p:sp>
        <p:nvSpPr>
          <p:cNvPr id="3" name="页脚占位符 2"/>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smtClean="0"/>
              <a:t>软件工程</a:t>
            </a:r>
            <a:endParaRPr lang="zh-CN" altLang="en-US"/>
          </a:p>
        </p:txBody>
      </p:sp>
      <p:sp>
        <p:nvSpPr>
          <p:cNvPr id="4" name="灯片编号占位符 3"/>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120" name="文本框 119"/>
          <p:cNvSpPr txBox="1"/>
          <p:nvPr userDrawn="1"/>
        </p:nvSpPr>
        <p:spPr>
          <a:xfrm>
            <a:off x="4264202" y="2007508"/>
            <a:ext cx="4241369" cy="1223412"/>
          </a:xfrm>
          <a:prstGeom prst="rect">
            <a:avLst/>
          </a:prstGeom>
          <a:noFill/>
        </p:spPr>
        <p:txBody>
          <a:bodyPr wrap="square" rtlCol="0" anchor="ct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lvl="0">
              <a:defRPr sz="11500" spc="50">
                <a:ln w="11430"/>
                <a:solidFill>
                  <a:srgbClr val="008EE6"/>
                </a:solidFill>
                <a:effectLst>
                  <a:outerShdw blurRad="38100" dist="38100" dir="2700000" algn="tl">
                    <a:srgbClr val="000000">
                      <a:alpha val="43137"/>
                    </a:srgbClr>
                  </a:outerShdw>
                </a:effectLst>
                <a:latin typeface="华康俪金黑W8(P)" pitchFamily="34" charset="-122"/>
                <a:ea typeface="华康俪金黑W8(P)" pitchFamily="34" charset="-122"/>
                <a:cs typeface="经典繁仿黑" pitchFamily="49" charset="-122"/>
              </a:defRPr>
            </a:lvl1pPr>
          </a:lstStyle>
          <a:p>
            <a:pPr lvl="0"/>
            <a:r>
              <a:rPr lang="zh-CN" altLang="en-US" sz="7350" dirty="0">
                <a:solidFill>
                  <a:schemeClr val="tx1">
                    <a:lumMod val="65000"/>
                    <a:lumOff val="35000"/>
                  </a:schemeClr>
                </a:solidFill>
              </a:rPr>
              <a:t>谢谢聆听</a:t>
            </a:r>
            <a:endParaRPr lang="en-US" altLang="zh-CN" sz="7350" dirty="0">
              <a:solidFill>
                <a:schemeClr val="tx1">
                  <a:lumMod val="65000"/>
                  <a:lumOff val="35000"/>
                </a:schemeClr>
              </a:solidFill>
            </a:endParaRPr>
          </a:p>
        </p:txBody>
      </p:sp>
      <p:grpSp>
        <p:nvGrpSpPr>
          <p:cNvPr id="4" name="组合 3"/>
          <p:cNvGrpSpPr/>
          <p:nvPr userDrawn="1"/>
        </p:nvGrpSpPr>
        <p:grpSpPr>
          <a:xfrm>
            <a:off x="833860" y="1704155"/>
            <a:ext cx="3193793" cy="2085294"/>
            <a:chOff x="705272" y="1639861"/>
            <a:chExt cx="3193793" cy="2085294"/>
          </a:xfrm>
        </p:grpSpPr>
        <p:grpSp>
          <p:nvGrpSpPr>
            <p:cNvPr id="2" name="组合 1"/>
            <p:cNvGrpSpPr/>
            <p:nvPr userDrawn="1"/>
          </p:nvGrpSpPr>
          <p:grpSpPr>
            <a:xfrm>
              <a:off x="705272" y="1639861"/>
              <a:ext cx="3193793" cy="2085294"/>
              <a:chOff x="721633" y="1980294"/>
              <a:chExt cx="3233738" cy="2111375"/>
            </a:xfrm>
          </p:grpSpPr>
          <p:sp>
            <p:nvSpPr>
              <p:cNvPr id="9" name="Freeform 148"/>
              <p:cNvSpPr/>
              <p:nvPr userDrawn="1"/>
            </p:nvSpPr>
            <p:spPr bwMode="auto">
              <a:xfrm>
                <a:off x="721633" y="1980294"/>
                <a:ext cx="3233738" cy="2111375"/>
              </a:xfrm>
              <a:custGeom>
                <a:avLst/>
                <a:gdLst>
                  <a:gd name="T0" fmla="*/ 778 w 861"/>
                  <a:gd name="T1" fmla="*/ 437 h 562"/>
                  <a:gd name="T2" fmla="*/ 778 w 861"/>
                  <a:gd name="T3" fmla="*/ 21 h 562"/>
                  <a:gd name="T4" fmla="*/ 756 w 861"/>
                  <a:gd name="T5" fmla="*/ 0 h 562"/>
                  <a:gd name="T6" fmla="*/ 105 w 861"/>
                  <a:gd name="T7" fmla="*/ 0 h 562"/>
                  <a:gd name="T8" fmla="*/ 84 w 861"/>
                  <a:gd name="T9" fmla="*/ 21 h 562"/>
                  <a:gd name="T10" fmla="*/ 84 w 861"/>
                  <a:gd name="T11" fmla="*/ 436 h 562"/>
                  <a:gd name="T12" fmla="*/ 0 w 861"/>
                  <a:gd name="T13" fmla="*/ 530 h 562"/>
                  <a:gd name="T14" fmla="*/ 24 w 861"/>
                  <a:gd name="T15" fmla="*/ 562 h 562"/>
                  <a:gd name="T16" fmla="*/ 838 w 861"/>
                  <a:gd name="T17" fmla="*/ 562 h 562"/>
                  <a:gd name="T18" fmla="*/ 861 w 861"/>
                  <a:gd name="T19" fmla="*/ 530 h 562"/>
                  <a:gd name="T20" fmla="*/ 778 w 861"/>
                  <a:gd name="T21" fmla="*/ 437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61" h="562">
                    <a:moveTo>
                      <a:pt x="778" y="437"/>
                    </a:moveTo>
                    <a:cubicBezTo>
                      <a:pt x="778" y="21"/>
                      <a:pt x="778" y="21"/>
                      <a:pt x="778" y="21"/>
                    </a:cubicBezTo>
                    <a:cubicBezTo>
                      <a:pt x="778" y="9"/>
                      <a:pt x="768" y="0"/>
                      <a:pt x="756" y="0"/>
                    </a:cubicBezTo>
                    <a:cubicBezTo>
                      <a:pt x="105" y="0"/>
                      <a:pt x="105" y="0"/>
                      <a:pt x="105" y="0"/>
                    </a:cubicBezTo>
                    <a:cubicBezTo>
                      <a:pt x="93" y="0"/>
                      <a:pt x="84" y="9"/>
                      <a:pt x="84" y="21"/>
                    </a:cubicBezTo>
                    <a:cubicBezTo>
                      <a:pt x="84" y="436"/>
                      <a:pt x="84" y="436"/>
                      <a:pt x="84" y="436"/>
                    </a:cubicBezTo>
                    <a:cubicBezTo>
                      <a:pt x="0" y="530"/>
                      <a:pt x="0" y="530"/>
                      <a:pt x="0" y="530"/>
                    </a:cubicBezTo>
                    <a:cubicBezTo>
                      <a:pt x="0" y="543"/>
                      <a:pt x="11" y="562"/>
                      <a:pt x="24" y="562"/>
                    </a:cubicBezTo>
                    <a:cubicBezTo>
                      <a:pt x="838" y="562"/>
                      <a:pt x="838" y="562"/>
                      <a:pt x="838" y="562"/>
                    </a:cubicBezTo>
                    <a:cubicBezTo>
                      <a:pt x="851" y="562"/>
                      <a:pt x="861" y="543"/>
                      <a:pt x="861" y="530"/>
                    </a:cubicBezTo>
                    <a:lnTo>
                      <a:pt x="778" y="437"/>
                    </a:lnTo>
                    <a:close/>
                  </a:path>
                </a:pathLst>
              </a:custGeom>
              <a:solidFill>
                <a:srgbClr val="68686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0" name="Rectangle 149"/>
              <p:cNvSpPr>
                <a:spLocks noChangeArrowheads="1"/>
              </p:cNvSpPr>
              <p:nvPr userDrawn="1"/>
            </p:nvSpPr>
            <p:spPr bwMode="auto">
              <a:xfrm>
                <a:off x="1169308" y="2115231"/>
                <a:ext cx="2343150" cy="1404938"/>
              </a:xfrm>
              <a:prstGeom prst="rect">
                <a:avLst/>
              </a:prstGeom>
              <a:solidFill>
                <a:srgbClr val="F9F3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1" name="Freeform 150"/>
              <p:cNvSpPr/>
              <p:nvPr userDrawn="1"/>
            </p:nvSpPr>
            <p:spPr bwMode="auto">
              <a:xfrm>
                <a:off x="2118633" y="3975781"/>
                <a:ext cx="439738" cy="74613"/>
              </a:xfrm>
              <a:custGeom>
                <a:avLst/>
                <a:gdLst>
                  <a:gd name="T0" fmla="*/ 0 w 117"/>
                  <a:gd name="T1" fmla="*/ 0 h 20"/>
                  <a:gd name="T2" fmla="*/ 0 w 117"/>
                  <a:gd name="T3" fmla="*/ 0 h 20"/>
                  <a:gd name="T4" fmla="*/ 14 w 117"/>
                  <a:gd name="T5" fmla="*/ 20 h 20"/>
                  <a:gd name="T6" fmla="*/ 104 w 117"/>
                  <a:gd name="T7" fmla="*/ 20 h 20"/>
                  <a:gd name="T8" fmla="*/ 117 w 117"/>
                  <a:gd name="T9" fmla="*/ 0 h 20"/>
                  <a:gd name="T10" fmla="*/ 117 w 117"/>
                  <a:gd name="T11" fmla="*/ 0 h 20"/>
                  <a:gd name="T12" fmla="*/ 0 w 1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17" h="20">
                    <a:moveTo>
                      <a:pt x="0" y="0"/>
                    </a:moveTo>
                    <a:cubicBezTo>
                      <a:pt x="0" y="0"/>
                      <a:pt x="0" y="0"/>
                      <a:pt x="0" y="0"/>
                    </a:cubicBezTo>
                    <a:cubicBezTo>
                      <a:pt x="0" y="7"/>
                      <a:pt x="6" y="20"/>
                      <a:pt x="14" y="20"/>
                    </a:cubicBezTo>
                    <a:cubicBezTo>
                      <a:pt x="104" y="20"/>
                      <a:pt x="104" y="20"/>
                      <a:pt x="104" y="20"/>
                    </a:cubicBezTo>
                    <a:cubicBezTo>
                      <a:pt x="111" y="20"/>
                      <a:pt x="117" y="7"/>
                      <a:pt x="117" y="0"/>
                    </a:cubicBezTo>
                    <a:cubicBezTo>
                      <a:pt x="117" y="0"/>
                      <a:pt x="117" y="0"/>
                      <a:pt x="117" y="0"/>
                    </a:cubicBezTo>
                    <a:lnTo>
                      <a:pt x="0" y="0"/>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sp>
          <p:nvSpPr>
            <p:cNvPr id="108" name="矩形 107"/>
            <p:cNvSpPr/>
            <p:nvPr userDrawn="1"/>
          </p:nvSpPr>
          <p:spPr>
            <a:xfrm>
              <a:off x="2091447" y="2022227"/>
              <a:ext cx="1325371" cy="369332"/>
            </a:xfrm>
            <a:prstGeom prst="rect">
              <a:avLst/>
            </a:prstGeom>
          </p:spPr>
          <p:txBody>
            <a:bodyPr wrap="square">
              <a:spAutoFit/>
            </a:bodyPr>
            <a:lstStyle/>
            <a:p>
              <a:pPr algn="l">
                <a:lnSpc>
                  <a:spcPct val="120000"/>
                </a:lnSpc>
              </a:pPr>
              <a:r>
                <a:rPr lang="en-US" altLang="zh-CN" sz="1500" kern="1200" dirty="0">
                  <a:solidFill>
                    <a:schemeClr val="tx1">
                      <a:lumMod val="65000"/>
                      <a:lumOff val="35000"/>
                    </a:schemeClr>
                  </a:solidFill>
                  <a:latin typeface="+mj-ea"/>
                  <a:ea typeface="+mj-ea"/>
                  <a:cs typeface="+mn-cs"/>
                </a:rPr>
                <a:t>Thank You</a:t>
              </a:r>
              <a:r>
                <a:rPr lang="zh-CN" altLang="en-US" sz="1500" kern="1200" dirty="0">
                  <a:solidFill>
                    <a:schemeClr val="tx1">
                      <a:lumMod val="65000"/>
                      <a:lumOff val="35000"/>
                    </a:schemeClr>
                  </a:solidFill>
                  <a:latin typeface="+mj-ea"/>
                  <a:ea typeface="+mj-ea"/>
                  <a:cs typeface="+mn-cs"/>
                </a:rPr>
                <a:t>！</a:t>
              </a:r>
              <a:endParaRPr lang="zh-CN" altLang="en-US" sz="1500" kern="1200" dirty="0">
                <a:solidFill>
                  <a:schemeClr val="tx1">
                    <a:lumMod val="65000"/>
                    <a:lumOff val="35000"/>
                  </a:schemeClr>
                </a:solidFill>
                <a:latin typeface="+mj-ea"/>
                <a:ea typeface="+mj-ea"/>
                <a:cs typeface="+mn-cs"/>
              </a:endParaRPr>
            </a:p>
          </p:txBody>
        </p:sp>
        <p:grpSp>
          <p:nvGrpSpPr>
            <p:cNvPr id="114" name="组合 113"/>
            <p:cNvGrpSpPr/>
            <p:nvPr userDrawn="1"/>
          </p:nvGrpSpPr>
          <p:grpSpPr>
            <a:xfrm>
              <a:off x="2160453" y="2672657"/>
              <a:ext cx="1134000" cy="48600"/>
              <a:chOff x="0" y="4978400"/>
              <a:chExt cx="11157019" cy="406400"/>
            </a:xfrm>
          </p:grpSpPr>
          <p:sp>
            <p:nvSpPr>
              <p:cNvPr id="115" name="矩形 114"/>
              <p:cNvSpPr/>
              <p:nvPr userDrawn="1"/>
            </p:nvSpPr>
            <p:spPr>
              <a:xfrm>
                <a:off x="0" y="4978400"/>
                <a:ext cx="2788596" cy="406400"/>
              </a:xfrm>
              <a:prstGeom prst="rect">
                <a:avLst/>
              </a:prstGeom>
              <a:solidFill>
                <a:srgbClr val="9EC4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6" name="矩形 115"/>
              <p:cNvSpPr/>
              <p:nvPr userDrawn="1"/>
            </p:nvSpPr>
            <p:spPr>
              <a:xfrm>
                <a:off x="2788596" y="4978400"/>
                <a:ext cx="2788596" cy="406400"/>
              </a:xfrm>
              <a:prstGeom prst="rect">
                <a:avLst/>
              </a:prstGeom>
              <a:solidFill>
                <a:srgbClr val="CA0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7" name="矩形 116"/>
              <p:cNvSpPr/>
              <p:nvPr userDrawn="1"/>
            </p:nvSpPr>
            <p:spPr>
              <a:xfrm>
                <a:off x="5577192" y="4978400"/>
                <a:ext cx="2788596" cy="406400"/>
              </a:xfrm>
              <a:prstGeom prst="rect">
                <a:avLst/>
              </a:prstGeom>
              <a:solidFill>
                <a:srgbClr val="FF8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8" name="矩形 117"/>
              <p:cNvSpPr/>
              <p:nvPr userDrawn="1"/>
            </p:nvSpPr>
            <p:spPr>
              <a:xfrm>
                <a:off x="8368423" y="4978400"/>
                <a:ext cx="2788596" cy="406400"/>
              </a:xfrm>
              <a:prstGeom prst="rect">
                <a:avLst/>
              </a:prstGeom>
              <a:solidFill>
                <a:srgbClr val="008E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grpSp>
        <p:pic>
          <p:nvPicPr>
            <p:cNvPr id="110" name="Picture 2"/>
            <p:cNvPicPr>
              <a:picLocks noChangeAspect="1" noChangeArrowheads="1"/>
            </p:cNvPicPr>
            <p:nvPr userDrawn="1"/>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colorTemperature colorTemp="4700"/>
                      </a14:imgEffect>
                      <a14:imgEffect>
                        <a14:saturation sat="0"/>
                      </a14:imgEffect>
                    </a14:imgLayer>
                  </a14:imgProps>
                </a:ext>
              </a:extLst>
            </a:blip>
            <a:srcRect/>
            <a:stretch>
              <a:fillRect/>
            </a:stretch>
          </p:blipFill>
          <p:spPr bwMode="auto">
            <a:xfrm>
              <a:off x="1367669" y="2007508"/>
              <a:ext cx="675000" cy="675000"/>
            </a:xfrm>
            <a:prstGeom prst="rect">
              <a:avLst/>
            </a:prstGeom>
            <a:noFill/>
            <a:ln w="9525">
              <a:noFill/>
              <a:miter lim="800000"/>
              <a:headEnd/>
              <a:tailEnd/>
            </a:ln>
            <a:effectLst/>
          </p:spPr>
        </p:pic>
      </p:grpSp>
      <p:sp>
        <p:nvSpPr>
          <p:cNvPr id="20" name="日期占位符 3"/>
          <p:cNvSpPr>
            <a:spLocks noGrp="1"/>
          </p:cNvSpPr>
          <p:nvPr>
            <p:ph type="dt" sz="half" idx="10"/>
          </p:nvPr>
        </p:nvSpPr>
        <p:spPr>
          <a:xfrm>
            <a:off x="768096" y="4853028"/>
            <a:ext cx="1615607" cy="205740"/>
          </a:xfrm>
        </p:spPr>
        <p:txBody>
          <a:bodyPr/>
          <a:lstStyle>
            <a:lvl1pPr algn="ctr">
              <a:defRPr sz="1600">
                <a:solidFill>
                  <a:schemeClr val="bg1"/>
                </a:solidFill>
                <a:latin typeface="+mn-lt"/>
              </a:defRPr>
            </a:lvl1pPr>
          </a:lstStyle>
          <a:p>
            <a:fld id="{95AB9801-3ED4-439D-A8DF-7E5EC789BACE}" type="datetime1">
              <a:rPr lang="zh-CN" altLang="en-US" smtClean="0"/>
            </a:fld>
            <a:endParaRPr lang="zh-CN" altLang="en-US" dirty="0"/>
          </a:p>
        </p:txBody>
      </p:sp>
      <p:sp>
        <p:nvSpPr>
          <p:cNvPr id="21"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smtClean="0"/>
              <a:t>软件工程</a:t>
            </a:r>
            <a:endParaRPr lang="zh-CN" altLang="en-US" dirty="0"/>
          </a:p>
        </p:txBody>
      </p:sp>
      <p:sp>
        <p:nvSpPr>
          <p:cNvPr id="22" name="灯片编号占位符 5"/>
          <p:cNvSpPr>
            <a:spLocks noGrp="1"/>
          </p:cNvSpPr>
          <p:nvPr>
            <p:ph type="sldNum" sz="quarter" idx="12"/>
          </p:nvPr>
        </p:nvSpPr>
        <p:spPr>
          <a:xfrm>
            <a:off x="8128000" y="4853028"/>
            <a:ext cx="730250" cy="205740"/>
          </a:xfrm>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transition>
    <p:cove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8" name="矩形"/>
          <p:cNvSpPr/>
          <p:nvPr/>
        </p:nvSpPr>
        <p:spPr>
          <a:xfrm>
            <a:off x="-3743" y="80319"/>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19"/>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4" name="文本占位符 3"/>
          <p:cNvSpPr>
            <a:spLocks noGrp="1"/>
          </p:cNvSpPr>
          <p:nvPr>
            <p:ph type="body" sz="quarter" idx="11"/>
          </p:nvPr>
        </p:nvSpPr>
        <p:spPr>
          <a:xfrm>
            <a:off x="627064" y="1009651"/>
            <a:ext cx="7615237" cy="3545681"/>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2"/>
          </p:nvPr>
        </p:nvSpPr>
        <p:spPr>
          <a:xfrm>
            <a:off x="6727032" y="4805958"/>
            <a:ext cx="1920240" cy="274320"/>
          </a:xfrm>
          <a:prstGeom prst="rect">
            <a:avLst/>
          </a:prstGeom>
        </p:spPr>
        <p:txBody>
          <a:bodyPr/>
          <a:lstStyle>
            <a:lvl1pPr>
              <a:defRPr sz="1200"/>
            </a:lvl1pPr>
          </a:lstStyle>
          <a:p>
            <a:fld id="{85EB7E5A-AAFB-45B8-A9F6-445D3BCB3303}" type="datetime1">
              <a:rPr lang="zh-CN" altLang="en-US" smtClean="0"/>
            </a:fld>
            <a:endParaRPr lang="zh-CN" altLang="en-US"/>
          </a:p>
        </p:txBody>
      </p:sp>
      <p:sp>
        <p:nvSpPr>
          <p:cNvPr id="10" name="页脚占位符 4"/>
          <p:cNvSpPr>
            <a:spLocks noGrp="1"/>
          </p:cNvSpPr>
          <p:nvPr>
            <p:ph type="ftr" sz="quarter" idx="13"/>
          </p:nvPr>
        </p:nvSpPr>
        <p:spPr>
          <a:xfrm>
            <a:off x="4380074" y="4805960"/>
            <a:ext cx="2350681" cy="273844"/>
          </a:xfrm>
          <a:prstGeom prst="rect">
            <a:avLst/>
          </a:prstGeom>
        </p:spPr>
        <p:txBody>
          <a:bodyPr/>
          <a:lstStyle>
            <a:lvl1pPr>
              <a:defRPr sz="1200"/>
            </a:lvl1pPr>
          </a:lstStyle>
          <a:p>
            <a:r>
              <a:rPr lang="zh-CN" altLang="en-US" smtClean="0"/>
              <a:t>软件工程</a:t>
            </a:r>
            <a:endParaRPr lang="zh-CN" altLang="en-US" dirty="0"/>
          </a:p>
        </p:txBody>
      </p:sp>
      <p:sp>
        <p:nvSpPr>
          <p:cNvPr id="11" name="灯片编号占位符 5"/>
          <p:cNvSpPr>
            <a:spLocks noGrp="1"/>
          </p:cNvSpPr>
          <p:nvPr>
            <p:ph type="sldNum" sz="quarter" idx="14"/>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
        <p:nvSpPr>
          <p:cNvPr id="8" name="矩形"/>
          <p:cNvSpPr/>
          <p:nvPr/>
        </p:nvSpPr>
        <p:spPr>
          <a:xfrm>
            <a:off x="-3743" y="80320"/>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C71C1C"/>
              </a:solidFill>
            </a:endParaRPr>
          </a:p>
        </p:txBody>
      </p:sp>
      <p:sp>
        <p:nvSpPr>
          <p:cNvPr id="9" name="矩形"/>
          <p:cNvSpPr/>
          <p:nvPr/>
        </p:nvSpPr>
        <p:spPr>
          <a:xfrm>
            <a:off x="2284129" y="80320"/>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rgbClr val="C71C1C"/>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内容页">
    <p:spTree>
      <p:nvGrpSpPr>
        <p:cNvPr id="1" name=""/>
        <p:cNvGrpSpPr/>
        <p:nvPr/>
      </p:nvGrpSpPr>
      <p:grpSpPr>
        <a:xfrm>
          <a:off x="0" y="0"/>
          <a:ext cx="0" cy="0"/>
          <a:chOff x="0" y="0"/>
          <a:chExt cx="0" cy="0"/>
        </a:xfrm>
      </p:grpSpPr>
      <p:sp>
        <p:nvSpPr>
          <p:cNvPr id="8" name="矩形"/>
          <p:cNvSpPr/>
          <p:nvPr/>
        </p:nvSpPr>
        <p:spPr>
          <a:xfrm>
            <a:off x="-3743" y="80320"/>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20"/>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7" name="日期占位符 3"/>
          <p:cNvSpPr>
            <a:spLocks noGrp="1"/>
          </p:cNvSpPr>
          <p:nvPr>
            <p:ph type="dt" sz="half" idx="11"/>
          </p:nvPr>
        </p:nvSpPr>
        <p:spPr>
          <a:xfrm>
            <a:off x="6727032" y="4805958"/>
            <a:ext cx="1920240" cy="274320"/>
          </a:xfrm>
          <a:prstGeom prst="rect">
            <a:avLst/>
          </a:prstGeom>
        </p:spPr>
        <p:txBody>
          <a:bodyPr/>
          <a:lstStyle>
            <a:lvl1pPr>
              <a:defRPr sz="1200"/>
            </a:lvl1pPr>
          </a:lstStyle>
          <a:p>
            <a:fld id="{B93FD511-9220-4900-BBE5-625A0704E401}" type="datetime1">
              <a:rPr lang="zh-CN" altLang="en-US" smtClean="0"/>
            </a:fld>
            <a:endParaRPr lang="zh-CN" altLang="en-US"/>
          </a:p>
        </p:txBody>
      </p:sp>
      <p:sp>
        <p:nvSpPr>
          <p:cNvPr id="10" name="页脚占位符 4"/>
          <p:cNvSpPr>
            <a:spLocks noGrp="1"/>
          </p:cNvSpPr>
          <p:nvPr>
            <p:ph type="ftr" sz="quarter" idx="12"/>
          </p:nvPr>
        </p:nvSpPr>
        <p:spPr>
          <a:xfrm>
            <a:off x="4380074" y="4805960"/>
            <a:ext cx="2350681" cy="273844"/>
          </a:xfrm>
          <a:prstGeom prst="rect">
            <a:avLst/>
          </a:prstGeom>
        </p:spPr>
        <p:txBody>
          <a:bodyPr/>
          <a:lstStyle>
            <a:lvl1pPr>
              <a:defRPr sz="1200"/>
            </a:lvl1pPr>
          </a:lstStyle>
          <a:p>
            <a:r>
              <a:rPr lang="zh-CN" altLang="en-US" smtClean="0"/>
              <a:t>软件工程</a:t>
            </a:r>
            <a:endParaRPr lang="zh-CN" altLang="en-US" dirty="0"/>
          </a:p>
        </p:txBody>
      </p:sp>
      <p:sp>
        <p:nvSpPr>
          <p:cNvPr id="11" name="灯片编号占位符 5"/>
          <p:cNvSpPr>
            <a:spLocks noGrp="1"/>
          </p:cNvSpPr>
          <p:nvPr>
            <p:ph type="sldNum" sz="quarter" idx="13"/>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8097" y="925167"/>
            <a:ext cx="7832833" cy="3806854"/>
          </a:xfrm>
          <a:prstGeom prst="rect">
            <a:avLst/>
          </a:prstGeom>
        </p:spPr>
        <p:txBody>
          <a:bodyPr vert="horz" lIns="45720" tIns="45720" rIns="45720" bIns="45720" rtlCol="0">
            <a:normAutofit/>
          </a:body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4" name="Date Placeholder 3"/>
          <p:cNvSpPr>
            <a:spLocks noGrp="1"/>
          </p:cNvSpPr>
          <p:nvPr>
            <p:ph type="dt" sz="half" idx="2"/>
          </p:nvPr>
        </p:nvSpPr>
        <p:spPr>
          <a:xfrm>
            <a:off x="768096" y="4853028"/>
            <a:ext cx="1615607"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511F9EF4-7349-454F-8B9E-39E631142BC9}" type="datetime1">
              <a:rPr lang="zh-CN" altLang="en-US" smtClean="0"/>
            </a:fld>
            <a:endParaRPr lang="zh-CN" altLang="en-US"/>
          </a:p>
        </p:txBody>
      </p:sp>
      <p:sp>
        <p:nvSpPr>
          <p:cNvPr id="5" name="Footer Placeholder 4"/>
          <p:cNvSpPr>
            <a:spLocks noGrp="1"/>
          </p:cNvSpPr>
          <p:nvPr>
            <p:ph type="ftr" sz="quarter" idx="3"/>
          </p:nvPr>
        </p:nvSpPr>
        <p:spPr>
          <a:xfrm>
            <a:off x="3632199" y="4853028"/>
            <a:ext cx="4426094" cy="205740"/>
          </a:xfrm>
          <a:prstGeom prst="rect">
            <a:avLst/>
          </a:prstGeom>
        </p:spPr>
        <p:txBody>
          <a:bodyPr vert="horz" lIns="91440" tIns="45720" rIns="91440" bIns="45720" rtlCol="0" anchor="ctr"/>
          <a:lstStyle>
            <a:lvl1pPr algn="r">
              <a:defRPr sz="750" cap="all" baseline="0">
                <a:solidFill>
                  <a:schemeClr val="tx1">
                    <a:lumMod val="90000"/>
                    <a:lumOff val="10000"/>
                  </a:schemeClr>
                </a:solidFill>
                <a:latin typeface="+mj-lt"/>
              </a:defRPr>
            </a:lvl1pPr>
          </a:lstStyle>
          <a:p>
            <a:r>
              <a:rPr lang="zh-CN" altLang="en-US" smtClean="0"/>
              <a:t>软件工程</a:t>
            </a:r>
            <a:endParaRPr lang="zh-CN" altLang="en-US"/>
          </a:p>
        </p:txBody>
      </p:sp>
      <p:sp>
        <p:nvSpPr>
          <p:cNvPr id="6" name="Slide Number Placeholder 5"/>
          <p:cNvSpPr>
            <a:spLocks noGrp="1"/>
          </p:cNvSpPr>
          <p:nvPr>
            <p:ph type="sldNum" sz="quarter" idx="4"/>
          </p:nvPr>
        </p:nvSpPr>
        <p:spPr>
          <a:xfrm>
            <a:off x="8128000" y="4853028"/>
            <a:ext cx="730250"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F528F39D-B5E5-4CA7-906C-979D5A62978D}" type="slidenum">
              <a:rPr lang="zh-CN" altLang="en-US" smtClean="0"/>
            </a:fld>
            <a:endParaRPr lang="zh-CN" altLang="en-US"/>
          </a:p>
        </p:txBody>
      </p:sp>
      <p:cxnSp>
        <p:nvCxnSpPr>
          <p:cNvPr id="7" name="Straight Connector 6"/>
          <p:cNvCxnSpPr/>
          <p:nvPr/>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图片 9"/>
          <p:cNvPicPr>
            <a:picLocks noChangeAspect="1"/>
          </p:cNvPicPr>
          <p:nvPr userDrawn="1"/>
        </p:nvPicPr>
        <p:blipFill>
          <a:blip r:embed="rId1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sp>
        <p:nvSpPr>
          <p:cNvPr id="2" name="Title Placeholder 1"/>
          <p:cNvSpPr>
            <a:spLocks noGrp="1"/>
          </p:cNvSpPr>
          <p:nvPr>
            <p:ph type="title"/>
          </p:nvPr>
        </p:nvSpPr>
        <p:spPr>
          <a:xfrm>
            <a:off x="1094321" y="0"/>
            <a:ext cx="7763929" cy="828913"/>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iming>
    <p:tnLst>
      <p:par>
        <p:cTn id="1" dur="indefinite" restart="never" nodeType="tmRoot"/>
      </p:par>
    </p:tnLst>
  </p:timing>
  <p:hf hdr="0"/>
  <p:txStyles>
    <p:title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p:titleStyle>
    <p:body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1" Type="http://schemas.openxmlformats.org/officeDocument/2006/relationships/slideLayout" Target="../slideLayouts/slideLayout2.xml"/><Relationship Id="rId10" Type="http://schemas.microsoft.com/office/2007/relationships/diagramDrawing" Target="../diagrams/drawing2.xml"/><Relationship Id="rId1"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0.xml"/><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8.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0.xml"/><Relationship Id="rId1" Type="http://schemas.openxmlformats.org/officeDocument/2006/relationships/image" Target="../media/image7.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wm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1.wmf"/></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2.wm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3.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3.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3.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3.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9.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9.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5.xml"/><Relationship Id="rId2" Type="http://schemas.openxmlformats.org/officeDocument/2006/relationships/image" Target="../media/image23.wmf"/><Relationship Id="rId1" Type="http://schemas.openxmlformats.org/officeDocument/2006/relationships/image" Target="../media/image22.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4.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3.wmf"/><Relationship Id="rId1" Type="http://schemas.openxmlformats.org/officeDocument/2006/relationships/image" Target="../media/image2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wmf"/><Relationship Id="rId1" Type="http://schemas.openxmlformats.org/officeDocument/2006/relationships/image" Target="../media/image22.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3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2.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image" Target="../media/image31.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image" Target="../media/image32.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33.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image" Target="../media/image36.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image" Target="../media/image37.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0.xml"/><Relationship Id="rId2" Type="http://schemas.openxmlformats.org/officeDocument/2006/relationships/image" Target="../media/image39.png"/><Relationship Id="rId1" Type="http://schemas.openxmlformats.org/officeDocument/2006/relationships/image" Target="../media/image38.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23.wmf"/></Relationships>
</file>

<file path=ppt/slides/_rels/slide69.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5.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4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image" Target="../media/image4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image" Target="../media/image46.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7.emf"/></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8.emf"/></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49.emf"/></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0.emf"/></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emf"/></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5.emf"/><Relationship Id="rId1" Type="http://schemas.openxmlformats.org/officeDocument/2006/relationships/image" Target="../media/image54.emf"/></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0.xml"/><Relationship Id="rId1" Type="http://schemas.openxmlformats.org/officeDocument/2006/relationships/image" Target="../media/image7.jpe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image" Target="../media/image7.jpe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56.jpe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image" Target="../media/image57.pn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5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2.xml"/><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60.png"/></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4.png"/><Relationship Id="rId1" Type="http://schemas.openxmlformats.org/officeDocument/2006/relationships/image" Target="../media/image63.png"/></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5.emf"/></Relationships>
</file>

<file path=ppt/slides/_rels/slide120.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5.xml"/><Relationship Id="rId2" Type="http://schemas.openxmlformats.org/officeDocument/2006/relationships/image" Target="../media/image66.png"/><Relationship Id="rId1" Type="http://schemas.openxmlformats.org/officeDocument/2006/relationships/oleObject" Target="../embeddings/oleObject1.bin"/></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7.png"/></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8.png"/></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69.png"/></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0.png"/></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image" Target="../media/image71.png"/></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image" Target="../media/image72.png"/></Relationships>
</file>

<file path=ppt/slides/_rels/slide1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4.png"/><Relationship Id="rId1" Type="http://schemas.openxmlformats.org/officeDocument/2006/relationships/image" Target="../media/image73.png"/></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5.png"/></Relationships>
</file>

<file path=ppt/slides/_rels/slide1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7.png"/><Relationship Id="rId1" Type="http://schemas.openxmlformats.org/officeDocument/2006/relationships/image" Target="../media/image76.png"/></Relationships>
</file>

<file path=ppt/slides/_rels/slide1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image" Target="../media/image78.png"/></Relationships>
</file>

<file path=ppt/slides/_rels/slide1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2.png"/><Relationship Id="rId1" Type="http://schemas.openxmlformats.org/officeDocument/2006/relationships/image" Target="../media/image81.png"/></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1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image" Target="../media/image84.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87.png"/></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88.png"/></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89.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75645" y="987551"/>
            <a:ext cx="8582606" cy="2468645"/>
          </a:xfrm>
        </p:spPr>
        <p:txBody>
          <a:bodyPr>
            <a:normAutofit/>
          </a:bodyPr>
          <a:lstStyle/>
          <a:p>
            <a:pPr>
              <a:lnSpc>
                <a:spcPct val="100000"/>
              </a:lnSpc>
              <a:spcBef>
                <a:spcPts val="3600"/>
              </a:spcBef>
              <a:spcAft>
                <a:spcPts val="3600"/>
              </a:spcAft>
            </a:pPr>
            <a:r>
              <a:rPr lang="zh-CN" altLang="en-US" sz="4800" dirty="0">
                <a:solidFill>
                  <a:srgbClr val="000000"/>
                </a:solidFill>
              </a:rPr>
              <a:t>软件工程</a:t>
            </a:r>
            <a:br>
              <a:rPr lang="en-US" altLang="zh-CN" sz="4800" dirty="0">
                <a:solidFill>
                  <a:srgbClr val="000000"/>
                </a:solidFill>
              </a:rPr>
            </a:br>
            <a:r>
              <a:rPr lang="zh-CN" altLang="en-US" sz="3200" u="sng" cap="none" dirty="0" smtClean="0">
                <a:solidFill>
                  <a:srgbClr val="000000"/>
                </a:solidFill>
                <a:effectLst>
                  <a:outerShdw blurRad="38100" dist="38100" dir="2700000" algn="tl">
                    <a:srgbClr val="000000">
                      <a:alpha val="43137"/>
                    </a:srgbClr>
                  </a:outerShdw>
                </a:effectLst>
                <a:ea typeface="华文中宋" panose="02010600040101010101" pitchFamily="2" charset="-122"/>
              </a:rPr>
              <a:t>软件设计</a:t>
            </a:r>
            <a:r>
              <a:rPr lang="en-US" altLang="zh-CN" sz="3200" u="sng" cap="none" dirty="0" smtClean="0">
                <a:solidFill>
                  <a:srgbClr val="000000"/>
                </a:solidFill>
                <a:effectLst>
                  <a:outerShdw blurRad="38100" dist="38100" dir="2700000" algn="tl">
                    <a:srgbClr val="000000">
                      <a:alpha val="43137"/>
                    </a:srgbClr>
                  </a:outerShdw>
                </a:effectLst>
                <a:ea typeface="华文中宋" panose="02010600040101010101" pitchFamily="2" charset="-122"/>
              </a:rPr>
              <a:t>2</a:t>
            </a:r>
            <a:endParaRPr lang="en-US" altLang="zh-CN" sz="3200" u="sng" cap="none" dirty="0" smtClean="0">
              <a:solidFill>
                <a:srgbClr val="000000"/>
              </a:solidFill>
              <a:effectLst>
                <a:outerShdw blurRad="38100" dist="38100" dir="2700000" algn="tl">
                  <a:srgbClr val="000000">
                    <a:alpha val="43137"/>
                  </a:srgbClr>
                </a:outerShdw>
              </a:effectLst>
              <a:ea typeface="华文中宋" panose="02010600040101010101" pitchFamily="2" charset="-122"/>
            </a:endParaRPr>
          </a:p>
        </p:txBody>
      </p:sp>
      <p:sp>
        <p:nvSpPr>
          <p:cNvPr id="3" name="副标题 2"/>
          <p:cNvSpPr>
            <a:spLocks noGrp="1"/>
          </p:cNvSpPr>
          <p:nvPr>
            <p:ph type="subTitle" idx="1"/>
          </p:nvPr>
        </p:nvSpPr>
        <p:spPr>
          <a:xfrm>
            <a:off x="1958907" y="3620351"/>
            <a:ext cx="6899344" cy="1380882"/>
          </a:xfrm>
        </p:spPr>
        <p:txBody>
          <a:bodyPr>
            <a:normAutofit/>
          </a:bodyPr>
          <a:lstStyle/>
          <a:p>
            <a:r>
              <a:rPr lang="zh-CN" altLang="en-US" sz="1800" dirty="0">
                <a:latin typeface="+mj-ea"/>
                <a:ea typeface="+mj-ea"/>
              </a:rPr>
              <a:t>          </a:t>
            </a:r>
            <a:r>
              <a:rPr lang="zh-CN" altLang="en-US" sz="1800" dirty="0" smtClean="0">
                <a:latin typeface="+mj-ea"/>
                <a:ea typeface="+mj-ea"/>
              </a:rPr>
              <a:t>河南大学软件学院                                          楚广琳</a:t>
            </a:r>
            <a:endParaRPr lang="zh-CN" altLang="en-US" sz="18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前情回顾</a:t>
            </a:r>
            <a:endParaRPr lang="zh-CN" altLang="en-US" dirty="0"/>
          </a:p>
        </p:txBody>
      </p:sp>
      <p:sp>
        <p:nvSpPr>
          <p:cNvPr id="3" name="内容占位符 2"/>
          <p:cNvSpPr>
            <a:spLocks noGrp="1"/>
          </p:cNvSpPr>
          <p:nvPr>
            <p:ph idx="1"/>
          </p:nvPr>
        </p:nvSpPr>
        <p:spPr>
          <a:xfrm>
            <a:off x="1094321" y="936246"/>
            <a:ext cx="4172159" cy="3682051"/>
          </a:xfrm>
        </p:spPr>
        <p:txBody>
          <a:bodyPr>
            <a:normAutofit lnSpcReduction="10000"/>
          </a:bodyPr>
          <a:lstStyle/>
          <a:p>
            <a:pPr marL="457200" indent="-457200">
              <a:lnSpc>
                <a:spcPct val="120000"/>
              </a:lnSpc>
              <a:spcBef>
                <a:spcPts val="600"/>
              </a:spcBef>
            </a:pPr>
            <a:r>
              <a:rPr lang="zh-CN" altLang="en-US" dirty="0" smtClean="0">
                <a:solidFill>
                  <a:schemeClr val="bg2">
                    <a:lumMod val="50000"/>
                  </a:schemeClr>
                </a:solidFill>
              </a:rPr>
              <a:t>第</a:t>
            </a:r>
            <a:r>
              <a:rPr lang="en-US" altLang="zh-CN" dirty="0">
                <a:solidFill>
                  <a:schemeClr val="bg2">
                    <a:lumMod val="50000"/>
                  </a:schemeClr>
                </a:solidFill>
              </a:rPr>
              <a:t>5</a:t>
            </a:r>
            <a:r>
              <a:rPr lang="zh-CN" altLang="en-US" dirty="0">
                <a:solidFill>
                  <a:schemeClr val="bg2">
                    <a:lumMod val="50000"/>
                  </a:schemeClr>
                </a:solidFill>
              </a:rPr>
              <a:t>章 总体设计</a:t>
            </a:r>
            <a:endParaRPr lang="en-US" altLang="zh-CN" dirty="0">
              <a:solidFill>
                <a:schemeClr val="bg2">
                  <a:lumMod val="50000"/>
                </a:schemeClr>
              </a:solidFill>
            </a:endParaRPr>
          </a:p>
          <a:p>
            <a:pPr marL="1108710" lvl="1" indent="-457200">
              <a:lnSpc>
                <a:spcPct val="120000"/>
              </a:lnSpc>
              <a:spcBef>
                <a:spcPts val="600"/>
              </a:spcBef>
            </a:pPr>
            <a:r>
              <a:rPr lang="zh-CN" altLang="en-US" dirty="0">
                <a:solidFill>
                  <a:schemeClr val="bg2">
                    <a:lumMod val="50000"/>
                  </a:schemeClr>
                </a:solidFill>
              </a:rPr>
              <a:t>设计过程</a:t>
            </a:r>
            <a:endParaRPr lang="en-US" altLang="zh-CN" dirty="0">
              <a:solidFill>
                <a:schemeClr val="bg2">
                  <a:lumMod val="50000"/>
                </a:schemeClr>
              </a:solidFill>
            </a:endParaRPr>
          </a:p>
          <a:p>
            <a:pPr marL="457200" indent="-457200">
              <a:lnSpc>
                <a:spcPct val="120000"/>
              </a:lnSpc>
              <a:spcBef>
                <a:spcPts val="600"/>
              </a:spcBef>
            </a:pPr>
            <a:r>
              <a:rPr lang="zh-CN" altLang="en-US" dirty="0">
                <a:solidFill>
                  <a:schemeClr val="bg2">
                    <a:lumMod val="50000"/>
                  </a:schemeClr>
                </a:solidFill>
              </a:rPr>
              <a:t>第</a:t>
            </a:r>
            <a:r>
              <a:rPr lang="en-US" altLang="zh-CN" dirty="0">
                <a:solidFill>
                  <a:schemeClr val="bg2">
                    <a:lumMod val="50000"/>
                  </a:schemeClr>
                </a:solidFill>
              </a:rPr>
              <a:t>11</a:t>
            </a:r>
            <a:r>
              <a:rPr lang="zh-CN" altLang="en-US" dirty="0">
                <a:solidFill>
                  <a:schemeClr val="bg2">
                    <a:lumMod val="50000"/>
                  </a:schemeClr>
                </a:solidFill>
              </a:rPr>
              <a:t>章 面向对象设计</a:t>
            </a:r>
            <a:endParaRPr lang="en-US" altLang="zh-CN" dirty="0">
              <a:solidFill>
                <a:schemeClr val="bg2">
                  <a:lumMod val="50000"/>
                </a:schemeClr>
              </a:solidFill>
            </a:endParaRPr>
          </a:p>
          <a:p>
            <a:pPr marL="1108710" lvl="1" indent="-457200">
              <a:lnSpc>
                <a:spcPct val="120000"/>
              </a:lnSpc>
              <a:spcBef>
                <a:spcPts val="600"/>
              </a:spcBef>
            </a:pPr>
            <a:r>
              <a:rPr lang="zh-CN" altLang="en-US" dirty="0">
                <a:solidFill>
                  <a:schemeClr val="bg2">
                    <a:lumMod val="50000"/>
                  </a:schemeClr>
                </a:solidFill>
              </a:rPr>
              <a:t>设计数据管理</a:t>
            </a:r>
            <a:r>
              <a:rPr lang="zh-CN" altLang="en-US" dirty="0" smtClean="0">
                <a:solidFill>
                  <a:schemeClr val="bg2">
                    <a:lumMod val="50000"/>
                  </a:schemeClr>
                </a:solidFill>
              </a:rPr>
              <a:t>子系统</a:t>
            </a:r>
            <a:endParaRPr lang="zh-CN" altLang="en-US" dirty="0" smtClean="0">
              <a:solidFill>
                <a:schemeClr val="bg2">
                  <a:lumMod val="50000"/>
                </a:schemeClr>
              </a:solidFill>
            </a:endParaRPr>
          </a:p>
          <a:p>
            <a:pPr marL="1108710" lvl="1" indent="-457200">
              <a:lnSpc>
                <a:spcPct val="120000"/>
              </a:lnSpc>
              <a:spcBef>
                <a:spcPts val="600"/>
              </a:spcBef>
            </a:pPr>
            <a:r>
              <a:rPr lang="zh-CN" altLang="en-US" dirty="0" smtClean="0">
                <a:solidFill>
                  <a:schemeClr val="bg2">
                    <a:lumMod val="50000"/>
                  </a:schemeClr>
                </a:solidFill>
                <a:sym typeface="+mn-ea"/>
              </a:rPr>
              <a:t>软件体系结构</a:t>
            </a:r>
            <a:endParaRPr lang="en-US" altLang="zh-CN" dirty="0" smtClean="0">
              <a:solidFill>
                <a:schemeClr val="bg2">
                  <a:lumMod val="50000"/>
                </a:schemeClr>
              </a:solidFill>
            </a:endParaRPr>
          </a:p>
          <a:p>
            <a:pPr>
              <a:lnSpc>
                <a:spcPct val="120000"/>
              </a:lnSpc>
              <a:spcBef>
                <a:spcPts val="600"/>
              </a:spcBef>
            </a:pPr>
            <a:r>
              <a:rPr lang="zh-CN" altLang="en-US" dirty="0" smtClean="0">
                <a:solidFill>
                  <a:schemeClr val="bg2">
                    <a:lumMod val="50000"/>
                  </a:schemeClr>
                </a:solidFill>
              </a:rPr>
              <a:t>实验：</a:t>
            </a:r>
            <a:endParaRPr lang="en-US" altLang="zh-CN" dirty="0" smtClean="0">
              <a:solidFill>
                <a:schemeClr val="bg2">
                  <a:lumMod val="50000"/>
                </a:schemeClr>
              </a:solidFill>
            </a:endParaRPr>
          </a:p>
          <a:p>
            <a:pPr lvl="1">
              <a:lnSpc>
                <a:spcPct val="120000"/>
              </a:lnSpc>
              <a:spcBef>
                <a:spcPts val="600"/>
              </a:spcBef>
            </a:pPr>
            <a:r>
              <a:rPr lang="zh-CN" altLang="en-US" dirty="0" smtClean="0">
                <a:solidFill>
                  <a:schemeClr val="bg2">
                    <a:lumMod val="50000"/>
                  </a:schemeClr>
                </a:solidFill>
              </a:rPr>
              <a:t>编写需求规格说明书</a:t>
            </a:r>
            <a:r>
              <a:rPr lang="en-US" altLang="zh-CN" dirty="0" smtClean="0">
                <a:solidFill>
                  <a:schemeClr val="bg2">
                    <a:lumMod val="50000"/>
                  </a:schemeClr>
                </a:solidFill>
              </a:rPr>
              <a:t>SRS</a:t>
            </a:r>
            <a:endParaRPr lang="zh-CN" altLang="en-US" dirty="0">
              <a:solidFill>
                <a:schemeClr val="bg2">
                  <a:lumMod val="50000"/>
                </a:schemeClr>
              </a:solidFill>
            </a:endParaRPr>
          </a:p>
        </p:txBody>
      </p:sp>
      <p:sp>
        <p:nvSpPr>
          <p:cNvPr id="4" name="日期占位符 3"/>
          <p:cNvSpPr>
            <a:spLocks noGrp="1"/>
          </p:cNvSpPr>
          <p:nvPr>
            <p:ph type="dt" sz="half" idx="10"/>
          </p:nvPr>
        </p:nvSpPr>
        <p:spPr/>
        <p:txBody>
          <a:bodyPr/>
          <a:lstStyle/>
          <a:p>
            <a:fld id="{805EDB01-C757-4BB6-94F3-4E0FB09A6DA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9" name="组合 8"/>
          <p:cNvGrpSpPr/>
          <p:nvPr/>
        </p:nvGrpSpPr>
        <p:grpSpPr>
          <a:xfrm>
            <a:off x="6236034" y="1841214"/>
            <a:ext cx="1891966" cy="1999512"/>
            <a:chOff x="1516062" y="3403601"/>
            <a:chExt cx="2560638" cy="2846387"/>
          </a:xfrm>
          <a:solidFill>
            <a:schemeClr val="tx1">
              <a:lumMod val="65000"/>
              <a:lumOff val="35000"/>
            </a:schemeClr>
          </a:solidFill>
        </p:grpSpPr>
        <p:sp>
          <p:nvSpPr>
            <p:cNvPr id="10" name="Freeform 6"/>
            <p:cNvSpPr/>
            <p:nvPr/>
          </p:nvSpPr>
          <p:spPr bwMode="auto">
            <a:xfrm>
              <a:off x="1516062" y="3403601"/>
              <a:ext cx="2405063" cy="2846387"/>
            </a:xfrm>
            <a:custGeom>
              <a:avLst/>
              <a:gdLst>
                <a:gd name="T0" fmla="*/ 2572 w 2702"/>
                <a:gd name="T1" fmla="*/ 0 h 3200"/>
                <a:gd name="T2" fmla="*/ 2606 w 2702"/>
                <a:gd name="T3" fmla="*/ 11 h 3200"/>
                <a:gd name="T4" fmla="*/ 2700 w 2702"/>
                <a:gd name="T5" fmla="*/ 145 h 3200"/>
                <a:gd name="T6" fmla="*/ 2700 w 2702"/>
                <a:gd name="T7" fmla="*/ 885 h 3200"/>
                <a:gd name="T8" fmla="*/ 2699 w 2702"/>
                <a:gd name="T9" fmla="*/ 898 h 3200"/>
                <a:gd name="T10" fmla="*/ 2604 w 2702"/>
                <a:gd name="T11" fmla="*/ 803 h 3200"/>
                <a:gd name="T12" fmla="*/ 2601 w 2702"/>
                <a:gd name="T13" fmla="*/ 780 h 3200"/>
                <a:gd name="T14" fmla="*/ 2600 w 2702"/>
                <a:gd name="T15" fmla="*/ 164 h 3200"/>
                <a:gd name="T16" fmla="*/ 2536 w 2702"/>
                <a:gd name="T17" fmla="*/ 100 h 3200"/>
                <a:gd name="T18" fmla="*/ 164 w 2702"/>
                <a:gd name="T19" fmla="*/ 100 h 3200"/>
                <a:gd name="T20" fmla="*/ 100 w 2702"/>
                <a:gd name="T21" fmla="*/ 163 h 3200"/>
                <a:gd name="T22" fmla="*/ 100 w 2702"/>
                <a:gd name="T23" fmla="*/ 3037 h 3200"/>
                <a:gd name="T24" fmla="*/ 162 w 2702"/>
                <a:gd name="T25" fmla="*/ 3100 h 3200"/>
                <a:gd name="T26" fmla="*/ 2538 w 2702"/>
                <a:gd name="T27" fmla="*/ 3100 h 3200"/>
                <a:gd name="T28" fmla="*/ 2600 w 2702"/>
                <a:gd name="T29" fmla="*/ 3037 h 3200"/>
                <a:gd name="T30" fmla="*/ 2600 w 2702"/>
                <a:gd name="T31" fmla="*/ 1674 h 3200"/>
                <a:gd name="T32" fmla="*/ 2615 w 2702"/>
                <a:gd name="T33" fmla="*/ 1637 h 3200"/>
                <a:gd name="T34" fmla="*/ 2696 w 2702"/>
                <a:gd name="T35" fmla="*/ 1555 h 3200"/>
                <a:gd name="T36" fmla="*/ 2700 w 2702"/>
                <a:gd name="T37" fmla="*/ 1558 h 3200"/>
                <a:gd name="T38" fmla="*/ 2700 w 2702"/>
                <a:gd name="T39" fmla="*/ 1581 h 3200"/>
                <a:gd name="T40" fmla="*/ 2702 w 2702"/>
                <a:gd name="T41" fmla="*/ 3019 h 3200"/>
                <a:gd name="T42" fmla="*/ 2572 w 2702"/>
                <a:gd name="T43" fmla="*/ 3200 h 3200"/>
                <a:gd name="T44" fmla="*/ 128 w 2702"/>
                <a:gd name="T45" fmla="*/ 3200 h 3200"/>
                <a:gd name="T46" fmla="*/ 36 w 2702"/>
                <a:gd name="T47" fmla="*/ 3146 h 3200"/>
                <a:gd name="T48" fmla="*/ 0 w 2702"/>
                <a:gd name="T49" fmla="*/ 3072 h 3200"/>
                <a:gd name="T50" fmla="*/ 0 w 2702"/>
                <a:gd name="T51" fmla="*/ 128 h 3200"/>
                <a:gd name="T52" fmla="*/ 36 w 2702"/>
                <a:gd name="T53" fmla="*/ 54 h 3200"/>
                <a:gd name="T54" fmla="*/ 128 w 2702"/>
                <a:gd name="T55" fmla="*/ 0 h 3200"/>
                <a:gd name="T56" fmla="*/ 2572 w 2702"/>
                <a:gd name="T57" fmla="*/ 0 h 3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02" h="3200">
                  <a:moveTo>
                    <a:pt x="2572" y="0"/>
                  </a:moveTo>
                  <a:cubicBezTo>
                    <a:pt x="2583" y="4"/>
                    <a:pt x="2595" y="6"/>
                    <a:pt x="2606" y="11"/>
                  </a:cubicBezTo>
                  <a:cubicBezTo>
                    <a:pt x="2664" y="37"/>
                    <a:pt x="2699" y="81"/>
                    <a:pt x="2700" y="145"/>
                  </a:cubicBezTo>
                  <a:cubicBezTo>
                    <a:pt x="2701" y="392"/>
                    <a:pt x="2700" y="639"/>
                    <a:pt x="2700" y="885"/>
                  </a:cubicBezTo>
                  <a:cubicBezTo>
                    <a:pt x="2700" y="888"/>
                    <a:pt x="2700" y="891"/>
                    <a:pt x="2699" y="898"/>
                  </a:cubicBezTo>
                  <a:cubicBezTo>
                    <a:pt x="2666" y="865"/>
                    <a:pt x="2634" y="834"/>
                    <a:pt x="2604" y="803"/>
                  </a:cubicBezTo>
                  <a:cubicBezTo>
                    <a:pt x="2600" y="798"/>
                    <a:pt x="2601" y="788"/>
                    <a:pt x="2601" y="780"/>
                  </a:cubicBezTo>
                  <a:cubicBezTo>
                    <a:pt x="2600" y="575"/>
                    <a:pt x="2600" y="370"/>
                    <a:pt x="2600" y="164"/>
                  </a:cubicBezTo>
                  <a:cubicBezTo>
                    <a:pt x="2600" y="115"/>
                    <a:pt x="2585" y="100"/>
                    <a:pt x="2536" y="100"/>
                  </a:cubicBezTo>
                  <a:cubicBezTo>
                    <a:pt x="1745" y="100"/>
                    <a:pt x="955" y="100"/>
                    <a:pt x="164" y="100"/>
                  </a:cubicBezTo>
                  <a:cubicBezTo>
                    <a:pt x="117" y="100"/>
                    <a:pt x="100" y="116"/>
                    <a:pt x="100" y="163"/>
                  </a:cubicBezTo>
                  <a:cubicBezTo>
                    <a:pt x="100" y="1121"/>
                    <a:pt x="100" y="2079"/>
                    <a:pt x="100" y="3037"/>
                  </a:cubicBezTo>
                  <a:cubicBezTo>
                    <a:pt x="100" y="3083"/>
                    <a:pt x="117" y="3100"/>
                    <a:pt x="162" y="3100"/>
                  </a:cubicBezTo>
                  <a:cubicBezTo>
                    <a:pt x="954" y="3100"/>
                    <a:pt x="1746" y="3100"/>
                    <a:pt x="2538" y="3100"/>
                  </a:cubicBezTo>
                  <a:cubicBezTo>
                    <a:pt x="2584" y="3100"/>
                    <a:pt x="2600" y="3084"/>
                    <a:pt x="2600" y="3037"/>
                  </a:cubicBezTo>
                  <a:cubicBezTo>
                    <a:pt x="2600" y="2583"/>
                    <a:pt x="2600" y="2128"/>
                    <a:pt x="2600" y="1674"/>
                  </a:cubicBezTo>
                  <a:cubicBezTo>
                    <a:pt x="2600" y="1658"/>
                    <a:pt x="2604" y="1647"/>
                    <a:pt x="2615" y="1637"/>
                  </a:cubicBezTo>
                  <a:cubicBezTo>
                    <a:pt x="2643" y="1610"/>
                    <a:pt x="2669" y="1582"/>
                    <a:pt x="2696" y="1555"/>
                  </a:cubicBezTo>
                  <a:cubicBezTo>
                    <a:pt x="2697" y="1556"/>
                    <a:pt x="2699" y="1557"/>
                    <a:pt x="2700" y="1558"/>
                  </a:cubicBezTo>
                  <a:cubicBezTo>
                    <a:pt x="2700" y="1565"/>
                    <a:pt x="2700" y="1573"/>
                    <a:pt x="2700" y="1581"/>
                  </a:cubicBezTo>
                  <a:cubicBezTo>
                    <a:pt x="2700" y="2060"/>
                    <a:pt x="2699" y="2539"/>
                    <a:pt x="2702" y="3019"/>
                  </a:cubicBezTo>
                  <a:cubicBezTo>
                    <a:pt x="2702" y="3120"/>
                    <a:pt x="2654" y="3182"/>
                    <a:pt x="2572" y="3200"/>
                  </a:cubicBezTo>
                  <a:cubicBezTo>
                    <a:pt x="1757" y="3200"/>
                    <a:pt x="943" y="3200"/>
                    <a:pt x="128" y="3200"/>
                  </a:cubicBezTo>
                  <a:cubicBezTo>
                    <a:pt x="92" y="3191"/>
                    <a:pt x="58" y="3177"/>
                    <a:pt x="36" y="3146"/>
                  </a:cubicBezTo>
                  <a:cubicBezTo>
                    <a:pt x="21" y="3123"/>
                    <a:pt x="12" y="3097"/>
                    <a:pt x="0" y="3072"/>
                  </a:cubicBezTo>
                  <a:cubicBezTo>
                    <a:pt x="0" y="2091"/>
                    <a:pt x="0" y="1109"/>
                    <a:pt x="0" y="128"/>
                  </a:cubicBezTo>
                  <a:cubicBezTo>
                    <a:pt x="12" y="103"/>
                    <a:pt x="21" y="77"/>
                    <a:pt x="36" y="54"/>
                  </a:cubicBezTo>
                  <a:cubicBezTo>
                    <a:pt x="58" y="23"/>
                    <a:pt x="92" y="9"/>
                    <a:pt x="128" y="0"/>
                  </a:cubicBezTo>
                  <a:cubicBezTo>
                    <a:pt x="943" y="0"/>
                    <a:pt x="1757" y="0"/>
                    <a:pt x="257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7"/>
            <p:cNvSpPr/>
            <p:nvPr/>
          </p:nvSpPr>
          <p:spPr bwMode="auto">
            <a:xfrm>
              <a:off x="3448050" y="4132263"/>
              <a:ext cx="628650" cy="633412"/>
            </a:xfrm>
            <a:custGeom>
              <a:avLst/>
              <a:gdLst>
                <a:gd name="T0" fmla="*/ 706 w 706"/>
                <a:gd name="T1" fmla="*/ 410 h 714"/>
                <a:gd name="T2" fmla="*/ 682 w 706"/>
                <a:gd name="T3" fmla="*/ 441 h 714"/>
                <a:gd name="T4" fmla="*/ 441 w 706"/>
                <a:gd name="T5" fmla="*/ 681 h 714"/>
                <a:gd name="T6" fmla="*/ 357 w 706"/>
                <a:gd name="T7" fmla="*/ 682 h 714"/>
                <a:gd name="T8" fmla="*/ 31 w 706"/>
                <a:gd name="T9" fmla="*/ 356 h 714"/>
                <a:gd name="T10" fmla="*/ 31 w 706"/>
                <a:gd name="T11" fmla="*/ 274 h 714"/>
                <a:gd name="T12" fmla="*/ 274 w 706"/>
                <a:gd name="T13" fmla="*/ 31 h 714"/>
                <a:gd name="T14" fmla="*/ 357 w 706"/>
                <a:gd name="T15" fmla="*/ 32 h 714"/>
                <a:gd name="T16" fmla="*/ 677 w 706"/>
                <a:gd name="T17" fmla="*/ 351 h 714"/>
                <a:gd name="T18" fmla="*/ 706 w 706"/>
                <a:gd name="T19" fmla="*/ 386 h 714"/>
                <a:gd name="T20" fmla="*/ 706 w 706"/>
                <a:gd name="T21" fmla="*/ 410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6" h="714">
                  <a:moveTo>
                    <a:pt x="706" y="410"/>
                  </a:moveTo>
                  <a:cubicBezTo>
                    <a:pt x="698" y="420"/>
                    <a:pt x="691" y="432"/>
                    <a:pt x="682" y="441"/>
                  </a:cubicBezTo>
                  <a:cubicBezTo>
                    <a:pt x="602" y="521"/>
                    <a:pt x="522" y="601"/>
                    <a:pt x="441" y="681"/>
                  </a:cubicBezTo>
                  <a:cubicBezTo>
                    <a:pt x="409" y="714"/>
                    <a:pt x="389" y="714"/>
                    <a:pt x="357" y="682"/>
                  </a:cubicBezTo>
                  <a:cubicBezTo>
                    <a:pt x="248" y="573"/>
                    <a:pt x="139" y="465"/>
                    <a:pt x="31" y="356"/>
                  </a:cubicBezTo>
                  <a:cubicBezTo>
                    <a:pt x="0" y="326"/>
                    <a:pt x="0" y="305"/>
                    <a:pt x="31" y="274"/>
                  </a:cubicBezTo>
                  <a:cubicBezTo>
                    <a:pt x="112" y="193"/>
                    <a:pt x="193" y="112"/>
                    <a:pt x="274" y="31"/>
                  </a:cubicBezTo>
                  <a:cubicBezTo>
                    <a:pt x="305" y="0"/>
                    <a:pt x="326" y="0"/>
                    <a:pt x="357" y="32"/>
                  </a:cubicBezTo>
                  <a:cubicBezTo>
                    <a:pt x="464" y="138"/>
                    <a:pt x="570" y="245"/>
                    <a:pt x="677" y="351"/>
                  </a:cubicBezTo>
                  <a:cubicBezTo>
                    <a:pt x="687" y="362"/>
                    <a:pt x="696" y="374"/>
                    <a:pt x="706" y="386"/>
                  </a:cubicBezTo>
                  <a:cubicBezTo>
                    <a:pt x="706" y="394"/>
                    <a:pt x="706" y="402"/>
                    <a:pt x="706" y="410"/>
                  </a:cubicBezTo>
                  <a:close/>
                </a:path>
              </a:pathLst>
            </a:custGeom>
            <a:solidFill>
              <a:srgbClr val="FF94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0"/>
            <p:cNvSpPr/>
            <p:nvPr/>
          </p:nvSpPr>
          <p:spPr bwMode="auto">
            <a:xfrm>
              <a:off x="2587625" y="4483100"/>
              <a:ext cx="1139825" cy="1143000"/>
            </a:xfrm>
            <a:custGeom>
              <a:avLst/>
              <a:gdLst>
                <a:gd name="T0" fmla="*/ 1281 w 1281"/>
                <a:gd name="T1" fmla="*/ 396 h 1285"/>
                <a:gd name="T2" fmla="*/ 1267 w 1281"/>
                <a:gd name="T3" fmla="*/ 426 h 1285"/>
                <a:gd name="T4" fmla="*/ 1252 w 1281"/>
                <a:gd name="T5" fmla="*/ 442 h 1285"/>
                <a:gd name="T6" fmla="*/ 443 w 1281"/>
                <a:gd name="T7" fmla="*/ 1251 h 1285"/>
                <a:gd name="T8" fmla="*/ 356 w 1281"/>
                <a:gd name="T9" fmla="*/ 1251 h 1285"/>
                <a:gd name="T10" fmla="*/ 32 w 1281"/>
                <a:gd name="T11" fmla="*/ 927 h 1285"/>
                <a:gd name="T12" fmla="*/ 32 w 1281"/>
                <a:gd name="T13" fmla="*/ 844 h 1285"/>
                <a:gd name="T14" fmla="*/ 846 w 1281"/>
                <a:gd name="T15" fmla="*/ 30 h 1285"/>
                <a:gd name="T16" fmla="*/ 928 w 1281"/>
                <a:gd name="T17" fmla="*/ 30 h 1285"/>
                <a:gd name="T18" fmla="*/ 1256 w 1281"/>
                <a:gd name="T19" fmla="*/ 358 h 1285"/>
                <a:gd name="T20" fmla="*/ 1281 w 1281"/>
                <a:gd name="T21" fmla="*/ 396 h 1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1" h="1285">
                  <a:moveTo>
                    <a:pt x="1281" y="396"/>
                  </a:moveTo>
                  <a:cubicBezTo>
                    <a:pt x="1275" y="409"/>
                    <a:pt x="1272" y="418"/>
                    <a:pt x="1267" y="426"/>
                  </a:cubicBezTo>
                  <a:cubicBezTo>
                    <a:pt x="1263" y="432"/>
                    <a:pt x="1257" y="437"/>
                    <a:pt x="1252" y="442"/>
                  </a:cubicBezTo>
                  <a:cubicBezTo>
                    <a:pt x="982" y="712"/>
                    <a:pt x="712" y="981"/>
                    <a:pt x="443" y="1251"/>
                  </a:cubicBezTo>
                  <a:cubicBezTo>
                    <a:pt x="409" y="1285"/>
                    <a:pt x="390" y="1285"/>
                    <a:pt x="356" y="1251"/>
                  </a:cubicBezTo>
                  <a:cubicBezTo>
                    <a:pt x="248" y="1143"/>
                    <a:pt x="140" y="1035"/>
                    <a:pt x="32" y="927"/>
                  </a:cubicBezTo>
                  <a:cubicBezTo>
                    <a:pt x="0" y="895"/>
                    <a:pt x="0" y="876"/>
                    <a:pt x="32" y="844"/>
                  </a:cubicBezTo>
                  <a:cubicBezTo>
                    <a:pt x="303" y="573"/>
                    <a:pt x="575" y="301"/>
                    <a:pt x="846" y="30"/>
                  </a:cubicBezTo>
                  <a:cubicBezTo>
                    <a:pt x="876" y="0"/>
                    <a:pt x="898" y="0"/>
                    <a:pt x="928" y="30"/>
                  </a:cubicBezTo>
                  <a:cubicBezTo>
                    <a:pt x="1037" y="139"/>
                    <a:pt x="1147" y="248"/>
                    <a:pt x="1256" y="358"/>
                  </a:cubicBezTo>
                  <a:cubicBezTo>
                    <a:pt x="1266" y="369"/>
                    <a:pt x="1273" y="383"/>
                    <a:pt x="1281" y="396"/>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1"/>
            <p:cNvSpPr/>
            <p:nvPr/>
          </p:nvSpPr>
          <p:spPr bwMode="auto">
            <a:xfrm>
              <a:off x="2332038" y="5340350"/>
              <a:ext cx="538163" cy="539750"/>
            </a:xfrm>
            <a:custGeom>
              <a:avLst/>
              <a:gdLst>
                <a:gd name="T0" fmla="*/ 21 w 604"/>
                <a:gd name="T1" fmla="*/ 606 h 606"/>
                <a:gd name="T2" fmla="*/ 1 w 604"/>
                <a:gd name="T3" fmla="*/ 584 h 606"/>
                <a:gd name="T4" fmla="*/ 8 w 604"/>
                <a:gd name="T5" fmla="*/ 561 h 606"/>
                <a:gd name="T6" fmla="*/ 183 w 604"/>
                <a:gd name="T7" fmla="*/ 35 h 606"/>
                <a:gd name="T8" fmla="*/ 231 w 604"/>
                <a:gd name="T9" fmla="*/ 23 h 606"/>
                <a:gd name="T10" fmla="*/ 581 w 604"/>
                <a:gd name="T11" fmla="*/ 374 h 606"/>
                <a:gd name="T12" fmla="*/ 569 w 604"/>
                <a:gd name="T13" fmla="*/ 425 h 606"/>
                <a:gd name="T14" fmla="*/ 35 w 604"/>
                <a:gd name="T15" fmla="*/ 602 h 606"/>
                <a:gd name="T16" fmla="*/ 21 w 604"/>
                <a:gd name="T17" fmla="*/ 606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4" h="606">
                  <a:moveTo>
                    <a:pt x="21" y="606"/>
                  </a:moveTo>
                  <a:cubicBezTo>
                    <a:pt x="5" y="606"/>
                    <a:pt x="0" y="596"/>
                    <a:pt x="1" y="584"/>
                  </a:cubicBezTo>
                  <a:cubicBezTo>
                    <a:pt x="2" y="576"/>
                    <a:pt x="5" y="568"/>
                    <a:pt x="8" y="561"/>
                  </a:cubicBezTo>
                  <a:cubicBezTo>
                    <a:pt x="66" y="385"/>
                    <a:pt x="124" y="210"/>
                    <a:pt x="183" y="35"/>
                  </a:cubicBezTo>
                  <a:cubicBezTo>
                    <a:pt x="193" y="3"/>
                    <a:pt x="207" y="0"/>
                    <a:pt x="231" y="23"/>
                  </a:cubicBezTo>
                  <a:cubicBezTo>
                    <a:pt x="348" y="140"/>
                    <a:pt x="464" y="257"/>
                    <a:pt x="581" y="374"/>
                  </a:cubicBezTo>
                  <a:cubicBezTo>
                    <a:pt x="604" y="397"/>
                    <a:pt x="600" y="415"/>
                    <a:pt x="569" y="425"/>
                  </a:cubicBezTo>
                  <a:cubicBezTo>
                    <a:pt x="391" y="484"/>
                    <a:pt x="213" y="543"/>
                    <a:pt x="35" y="602"/>
                  </a:cubicBezTo>
                  <a:cubicBezTo>
                    <a:pt x="30" y="604"/>
                    <a:pt x="25" y="605"/>
                    <a:pt x="21" y="6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2"/>
            <p:cNvSpPr/>
            <p:nvPr/>
          </p:nvSpPr>
          <p:spPr bwMode="auto">
            <a:xfrm>
              <a:off x="1990725" y="4032250"/>
              <a:ext cx="1454150" cy="42862"/>
            </a:xfrm>
            <a:custGeom>
              <a:avLst/>
              <a:gdLst>
                <a:gd name="T0" fmla="*/ 1634 w 1634"/>
                <a:gd name="T1" fmla="*/ 0 h 48"/>
                <a:gd name="T2" fmla="*/ 1634 w 1634"/>
                <a:gd name="T3" fmla="*/ 48 h 48"/>
                <a:gd name="T4" fmla="*/ 0 w 1634"/>
                <a:gd name="T5" fmla="*/ 48 h 48"/>
                <a:gd name="T6" fmla="*/ 0 w 1634"/>
                <a:gd name="T7" fmla="*/ 0 h 48"/>
                <a:gd name="T8" fmla="*/ 1634 w 1634"/>
                <a:gd name="T9" fmla="*/ 0 h 48"/>
              </a:gdLst>
              <a:ahLst/>
              <a:cxnLst>
                <a:cxn ang="0">
                  <a:pos x="T0" y="T1"/>
                </a:cxn>
                <a:cxn ang="0">
                  <a:pos x="T2" y="T3"/>
                </a:cxn>
                <a:cxn ang="0">
                  <a:pos x="T4" y="T5"/>
                </a:cxn>
                <a:cxn ang="0">
                  <a:pos x="T6" y="T7"/>
                </a:cxn>
                <a:cxn ang="0">
                  <a:pos x="T8" y="T9"/>
                </a:cxn>
              </a:cxnLst>
              <a:rect l="0" t="0" r="r" b="b"/>
              <a:pathLst>
                <a:path w="1634" h="48">
                  <a:moveTo>
                    <a:pt x="1634" y="0"/>
                  </a:moveTo>
                  <a:cubicBezTo>
                    <a:pt x="1634" y="17"/>
                    <a:pt x="1634" y="32"/>
                    <a:pt x="1634" y="48"/>
                  </a:cubicBezTo>
                  <a:cubicBezTo>
                    <a:pt x="1090" y="48"/>
                    <a:pt x="546" y="48"/>
                    <a:pt x="0" y="48"/>
                  </a:cubicBezTo>
                  <a:cubicBezTo>
                    <a:pt x="0" y="32"/>
                    <a:pt x="0" y="17"/>
                    <a:pt x="0" y="0"/>
                  </a:cubicBezTo>
                  <a:cubicBezTo>
                    <a:pt x="544" y="0"/>
                    <a:pt x="1088" y="0"/>
                    <a:pt x="16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3"/>
            <p:cNvSpPr/>
            <p:nvPr/>
          </p:nvSpPr>
          <p:spPr bwMode="auto">
            <a:xfrm>
              <a:off x="1992313" y="4548188"/>
              <a:ext cx="1184275" cy="44450"/>
            </a:xfrm>
            <a:custGeom>
              <a:avLst/>
              <a:gdLst>
                <a:gd name="T0" fmla="*/ 1331 w 1331"/>
                <a:gd name="T1" fmla="*/ 0 h 51"/>
                <a:gd name="T2" fmla="*/ 1245 w 1331"/>
                <a:gd name="T3" fmla="*/ 51 h 51"/>
                <a:gd name="T4" fmla="*/ 28 w 1331"/>
                <a:gd name="T5" fmla="*/ 50 h 51"/>
                <a:gd name="T6" fmla="*/ 0 w 1331"/>
                <a:gd name="T7" fmla="*/ 50 h 51"/>
                <a:gd name="T8" fmla="*/ 0 w 1331"/>
                <a:gd name="T9" fmla="*/ 0 h 51"/>
                <a:gd name="T10" fmla="*/ 1331 w 1331"/>
                <a:gd name="T11" fmla="*/ 0 h 51"/>
              </a:gdLst>
              <a:ahLst/>
              <a:cxnLst>
                <a:cxn ang="0">
                  <a:pos x="T0" y="T1"/>
                </a:cxn>
                <a:cxn ang="0">
                  <a:pos x="T2" y="T3"/>
                </a:cxn>
                <a:cxn ang="0">
                  <a:pos x="T4" y="T5"/>
                </a:cxn>
                <a:cxn ang="0">
                  <a:pos x="T6" y="T7"/>
                </a:cxn>
                <a:cxn ang="0">
                  <a:pos x="T8" y="T9"/>
                </a:cxn>
                <a:cxn ang="0">
                  <a:pos x="T10" y="T11"/>
                </a:cxn>
              </a:cxnLst>
              <a:rect l="0" t="0" r="r" b="b"/>
              <a:pathLst>
                <a:path w="1331" h="51">
                  <a:moveTo>
                    <a:pt x="1331" y="0"/>
                  </a:moveTo>
                  <a:cubicBezTo>
                    <a:pt x="1304" y="25"/>
                    <a:pt x="1287" y="51"/>
                    <a:pt x="1245" y="51"/>
                  </a:cubicBezTo>
                  <a:cubicBezTo>
                    <a:pt x="839" y="49"/>
                    <a:pt x="433" y="50"/>
                    <a:pt x="28" y="50"/>
                  </a:cubicBezTo>
                  <a:cubicBezTo>
                    <a:pt x="19" y="50"/>
                    <a:pt x="10" y="50"/>
                    <a:pt x="0" y="50"/>
                  </a:cubicBezTo>
                  <a:cubicBezTo>
                    <a:pt x="0" y="33"/>
                    <a:pt x="0" y="17"/>
                    <a:pt x="0" y="0"/>
                  </a:cubicBezTo>
                  <a:cubicBezTo>
                    <a:pt x="442" y="0"/>
                    <a:pt x="884" y="0"/>
                    <a:pt x="133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4"/>
            <p:cNvSpPr/>
            <p:nvPr/>
          </p:nvSpPr>
          <p:spPr bwMode="auto">
            <a:xfrm>
              <a:off x="1990725" y="5062538"/>
              <a:ext cx="668338" cy="44450"/>
            </a:xfrm>
            <a:custGeom>
              <a:avLst/>
              <a:gdLst>
                <a:gd name="T0" fmla="*/ 751 w 751"/>
                <a:gd name="T1" fmla="*/ 4 h 49"/>
                <a:gd name="T2" fmla="*/ 710 w 751"/>
                <a:gd name="T3" fmla="*/ 42 h 49"/>
                <a:gd name="T4" fmla="*/ 692 w 751"/>
                <a:gd name="T5" fmla="*/ 49 h 49"/>
                <a:gd name="T6" fmla="*/ 11 w 751"/>
                <a:gd name="T7" fmla="*/ 49 h 49"/>
                <a:gd name="T8" fmla="*/ 0 w 751"/>
                <a:gd name="T9" fmla="*/ 48 h 49"/>
                <a:gd name="T10" fmla="*/ 0 w 751"/>
                <a:gd name="T11" fmla="*/ 0 h 49"/>
                <a:gd name="T12" fmla="*/ 748 w 751"/>
                <a:gd name="T13" fmla="*/ 0 h 49"/>
                <a:gd name="T14" fmla="*/ 751 w 751"/>
                <a:gd name="T15" fmla="*/ 4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1" h="49">
                  <a:moveTo>
                    <a:pt x="751" y="4"/>
                  </a:moveTo>
                  <a:cubicBezTo>
                    <a:pt x="737" y="17"/>
                    <a:pt x="724" y="30"/>
                    <a:pt x="710" y="42"/>
                  </a:cubicBezTo>
                  <a:cubicBezTo>
                    <a:pt x="705" y="46"/>
                    <a:pt x="698" y="49"/>
                    <a:pt x="692" y="49"/>
                  </a:cubicBezTo>
                  <a:cubicBezTo>
                    <a:pt x="465" y="49"/>
                    <a:pt x="238" y="49"/>
                    <a:pt x="11" y="49"/>
                  </a:cubicBezTo>
                  <a:cubicBezTo>
                    <a:pt x="8" y="49"/>
                    <a:pt x="4" y="48"/>
                    <a:pt x="0" y="48"/>
                  </a:cubicBezTo>
                  <a:cubicBezTo>
                    <a:pt x="0" y="32"/>
                    <a:pt x="0" y="17"/>
                    <a:pt x="0" y="0"/>
                  </a:cubicBezTo>
                  <a:cubicBezTo>
                    <a:pt x="250" y="0"/>
                    <a:pt x="499" y="0"/>
                    <a:pt x="748" y="0"/>
                  </a:cubicBezTo>
                  <a:cubicBezTo>
                    <a:pt x="749" y="2"/>
                    <a:pt x="750" y="3"/>
                    <a:pt x="75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15"/>
            <p:cNvSpPr/>
            <p:nvPr/>
          </p:nvSpPr>
          <p:spPr bwMode="auto">
            <a:xfrm>
              <a:off x="3081338" y="5575300"/>
              <a:ext cx="363538" cy="46037"/>
            </a:xfrm>
            <a:custGeom>
              <a:avLst/>
              <a:gdLst>
                <a:gd name="T0" fmla="*/ 0 w 407"/>
                <a:gd name="T1" fmla="*/ 52 h 52"/>
                <a:gd name="T2" fmla="*/ 86 w 407"/>
                <a:gd name="T3" fmla="*/ 1 h 52"/>
                <a:gd name="T4" fmla="*/ 384 w 407"/>
                <a:gd name="T5" fmla="*/ 3 h 52"/>
                <a:gd name="T6" fmla="*/ 407 w 407"/>
                <a:gd name="T7" fmla="*/ 3 h 52"/>
                <a:gd name="T8" fmla="*/ 407 w 407"/>
                <a:gd name="T9" fmla="*/ 52 h 52"/>
                <a:gd name="T10" fmla="*/ 0 w 407"/>
                <a:gd name="T11" fmla="*/ 52 h 52"/>
              </a:gdLst>
              <a:ahLst/>
              <a:cxnLst>
                <a:cxn ang="0">
                  <a:pos x="T0" y="T1"/>
                </a:cxn>
                <a:cxn ang="0">
                  <a:pos x="T2" y="T3"/>
                </a:cxn>
                <a:cxn ang="0">
                  <a:pos x="T4" y="T5"/>
                </a:cxn>
                <a:cxn ang="0">
                  <a:pos x="T6" y="T7"/>
                </a:cxn>
                <a:cxn ang="0">
                  <a:pos x="T8" y="T9"/>
                </a:cxn>
                <a:cxn ang="0">
                  <a:pos x="T10" y="T11"/>
                </a:cxn>
              </a:cxnLst>
              <a:rect l="0" t="0" r="r" b="b"/>
              <a:pathLst>
                <a:path w="407" h="52">
                  <a:moveTo>
                    <a:pt x="0" y="52"/>
                  </a:moveTo>
                  <a:cubicBezTo>
                    <a:pt x="26" y="26"/>
                    <a:pt x="43" y="0"/>
                    <a:pt x="86" y="1"/>
                  </a:cubicBezTo>
                  <a:cubicBezTo>
                    <a:pt x="185" y="6"/>
                    <a:pt x="285" y="3"/>
                    <a:pt x="384" y="3"/>
                  </a:cubicBezTo>
                  <a:cubicBezTo>
                    <a:pt x="391" y="3"/>
                    <a:pt x="398" y="3"/>
                    <a:pt x="407" y="3"/>
                  </a:cubicBezTo>
                  <a:cubicBezTo>
                    <a:pt x="407" y="19"/>
                    <a:pt x="407" y="35"/>
                    <a:pt x="407" y="52"/>
                  </a:cubicBezTo>
                  <a:cubicBezTo>
                    <a:pt x="273" y="52"/>
                    <a:pt x="139" y="52"/>
                    <a:pt x="0"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16"/>
            <p:cNvSpPr/>
            <p:nvPr/>
          </p:nvSpPr>
          <p:spPr bwMode="auto">
            <a:xfrm>
              <a:off x="1990725" y="5578475"/>
              <a:ext cx="339725" cy="44450"/>
            </a:xfrm>
            <a:custGeom>
              <a:avLst/>
              <a:gdLst>
                <a:gd name="T0" fmla="*/ 0 w 381"/>
                <a:gd name="T1" fmla="*/ 49 h 49"/>
                <a:gd name="T2" fmla="*/ 0 w 381"/>
                <a:gd name="T3" fmla="*/ 0 h 49"/>
                <a:gd name="T4" fmla="*/ 381 w 381"/>
                <a:gd name="T5" fmla="*/ 0 h 49"/>
                <a:gd name="T6" fmla="*/ 367 w 381"/>
                <a:gd name="T7" fmla="*/ 43 h 49"/>
                <a:gd name="T8" fmla="*/ 356 w 381"/>
                <a:gd name="T9" fmla="*/ 49 h 49"/>
                <a:gd name="T10" fmla="*/ 0 w 381"/>
                <a:gd name="T11" fmla="*/ 49 h 49"/>
              </a:gdLst>
              <a:ahLst/>
              <a:cxnLst>
                <a:cxn ang="0">
                  <a:pos x="T0" y="T1"/>
                </a:cxn>
                <a:cxn ang="0">
                  <a:pos x="T2" y="T3"/>
                </a:cxn>
                <a:cxn ang="0">
                  <a:pos x="T4" y="T5"/>
                </a:cxn>
                <a:cxn ang="0">
                  <a:pos x="T6" y="T7"/>
                </a:cxn>
                <a:cxn ang="0">
                  <a:pos x="T8" y="T9"/>
                </a:cxn>
                <a:cxn ang="0">
                  <a:pos x="T10" y="T11"/>
                </a:cxn>
              </a:cxnLst>
              <a:rect l="0" t="0" r="r" b="b"/>
              <a:pathLst>
                <a:path w="381" h="49">
                  <a:moveTo>
                    <a:pt x="0" y="49"/>
                  </a:moveTo>
                  <a:cubicBezTo>
                    <a:pt x="0" y="32"/>
                    <a:pt x="0" y="17"/>
                    <a:pt x="0" y="0"/>
                  </a:cubicBezTo>
                  <a:cubicBezTo>
                    <a:pt x="126" y="0"/>
                    <a:pt x="252" y="0"/>
                    <a:pt x="381" y="0"/>
                  </a:cubicBezTo>
                  <a:cubicBezTo>
                    <a:pt x="376" y="15"/>
                    <a:pt x="372" y="29"/>
                    <a:pt x="367" y="43"/>
                  </a:cubicBezTo>
                  <a:cubicBezTo>
                    <a:pt x="366" y="46"/>
                    <a:pt x="360" y="49"/>
                    <a:pt x="356" y="49"/>
                  </a:cubicBezTo>
                  <a:cubicBezTo>
                    <a:pt x="238" y="49"/>
                    <a:pt x="120" y="49"/>
                    <a:pt x="0"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本节课程速递</a:t>
            </a:r>
            <a:endParaRPr lang="zh-CN" altLang="en-US" b="1" dirty="0"/>
          </a:p>
        </p:txBody>
      </p:sp>
      <p:sp>
        <p:nvSpPr>
          <p:cNvPr id="3" name="内容占位符 2"/>
          <p:cNvSpPr>
            <a:spLocks noGrp="1"/>
          </p:cNvSpPr>
          <p:nvPr>
            <p:ph idx="1"/>
          </p:nvPr>
        </p:nvSpPr>
        <p:spPr>
          <a:xfrm>
            <a:off x="979714" y="1010654"/>
            <a:ext cx="7878536" cy="3416969"/>
          </a:xfrm>
        </p:spPr>
        <p:txBody>
          <a:bodyPr>
            <a:normAutofit/>
          </a:bodyPr>
          <a:lstStyle/>
          <a:p>
            <a:pPr marL="457200" indent="-457200">
              <a:lnSpc>
                <a:spcPct val="120000"/>
              </a:lnSpc>
            </a:pPr>
            <a:r>
              <a:rPr lang="zh-CN" altLang="en-US" dirty="0">
                <a:solidFill>
                  <a:schemeClr val="bg2">
                    <a:lumMod val="50000"/>
                  </a:schemeClr>
                </a:solidFill>
              </a:rPr>
              <a:t>第</a:t>
            </a:r>
            <a:r>
              <a:rPr lang="en-US" altLang="zh-CN" dirty="0">
                <a:solidFill>
                  <a:schemeClr val="bg2">
                    <a:lumMod val="50000"/>
                  </a:schemeClr>
                </a:solidFill>
              </a:rPr>
              <a:t>10</a:t>
            </a:r>
            <a:r>
              <a:rPr lang="zh-CN" altLang="en-US" dirty="0">
                <a:solidFill>
                  <a:schemeClr val="bg2">
                    <a:lumMod val="50000"/>
                  </a:schemeClr>
                </a:solidFill>
              </a:rPr>
              <a:t>章 行为建模</a:t>
            </a:r>
            <a:endParaRPr lang="en-US" altLang="zh-CN" dirty="0">
              <a:solidFill>
                <a:schemeClr val="bg2">
                  <a:lumMod val="50000"/>
                </a:schemeClr>
              </a:solidFill>
            </a:endParaRPr>
          </a:p>
          <a:p>
            <a:pPr marL="1108710" lvl="1" indent="-457200">
              <a:lnSpc>
                <a:spcPct val="120000"/>
              </a:lnSpc>
            </a:pPr>
            <a:r>
              <a:rPr lang="zh-CN" altLang="en-US" dirty="0">
                <a:solidFill>
                  <a:schemeClr val="bg2">
                    <a:lumMod val="50000"/>
                  </a:schemeClr>
                </a:solidFill>
              </a:rPr>
              <a:t>顺序图建模</a:t>
            </a:r>
            <a:endParaRPr lang="en-US" altLang="zh-CN" dirty="0">
              <a:solidFill>
                <a:schemeClr val="bg2">
                  <a:lumMod val="50000"/>
                </a:schemeClr>
              </a:solidFill>
            </a:endParaRPr>
          </a:p>
          <a:p>
            <a:pPr marL="1108710" lvl="1" indent="-457200">
              <a:lnSpc>
                <a:spcPct val="120000"/>
              </a:lnSpc>
            </a:pPr>
            <a:r>
              <a:rPr lang="zh-CN" altLang="en-US" dirty="0">
                <a:solidFill>
                  <a:schemeClr val="bg2">
                    <a:lumMod val="50000"/>
                  </a:schemeClr>
                </a:solidFill>
              </a:rPr>
              <a:t>通信图建模</a:t>
            </a:r>
            <a:endParaRPr lang="en-US" altLang="zh-CN" dirty="0">
              <a:solidFill>
                <a:schemeClr val="bg2">
                  <a:lumMod val="50000"/>
                </a:schemeClr>
              </a:solidFill>
            </a:endParaRPr>
          </a:p>
          <a:p>
            <a:pPr marL="1108710" lvl="1" indent="-457200">
              <a:lnSpc>
                <a:spcPct val="120000"/>
              </a:lnSpc>
            </a:pPr>
            <a:r>
              <a:rPr lang="zh-CN" altLang="en-US" dirty="0">
                <a:solidFill>
                  <a:schemeClr val="bg2">
                    <a:lumMod val="50000"/>
                  </a:schemeClr>
                </a:solidFill>
              </a:rPr>
              <a:t>状态图建模</a:t>
            </a:r>
            <a:endParaRPr lang="en-US" altLang="zh-CN" dirty="0">
              <a:solidFill>
                <a:schemeClr val="bg2">
                  <a:lumMod val="50000"/>
                </a:schemeClr>
              </a:solidFill>
            </a:endParaRPr>
          </a:p>
        </p:txBody>
      </p:sp>
      <p:sp>
        <p:nvSpPr>
          <p:cNvPr id="7" name="日期占位符 6"/>
          <p:cNvSpPr>
            <a:spLocks noGrp="1"/>
          </p:cNvSpPr>
          <p:nvPr>
            <p:ph type="dt" sz="half" idx="10"/>
          </p:nvPr>
        </p:nvSpPr>
        <p:spPr/>
        <p:txBody>
          <a:bodyPr/>
          <a:lstStyle/>
          <a:p>
            <a:fld id="{BAC39442-2B7D-4B5C-BB12-759729507DE1}"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dirty="0"/>
              <a:t>软件工程</a:t>
            </a:r>
            <a:endParaRPr lang="zh-CN" altLang="en-US" dirty="0"/>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0" name="图片 9"/>
          <p:cNvPicPr>
            <a:picLocks noChangeAspect="1"/>
          </p:cNvPicPr>
          <p:nvPr/>
        </p:nvPicPr>
        <p:blipFill>
          <a:blip r:embed="rId1">
            <a:clrChange>
              <a:clrFrom>
                <a:srgbClr val="F6F6F6"/>
              </a:clrFrom>
              <a:clrTo>
                <a:srgbClr val="F6F6F6">
                  <a:alpha val="0"/>
                </a:srgbClr>
              </a:clrTo>
            </a:clrChange>
          </a:blip>
          <a:stretch>
            <a:fillRect/>
          </a:stretch>
        </p:blipFill>
        <p:spPr>
          <a:xfrm>
            <a:off x="5719422" y="1518906"/>
            <a:ext cx="3098189" cy="325309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数据模型</a:t>
            </a:r>
            <a:r>
              <a:rPr lang="zh-CN" altLang="en-US" dirty="0"/>
              <a:t>设计</a:t>
            </a:r>
            <a:endParaRPr lang="zh-CN" altLang="en-US" dirty="0"/>
          </a:p>
        </p:txBody>
      </p:sp>
      <p:sp>
        <p:nvSpPr>
          <p:cNvPr id="4" name="内容占位符 3"/>
          <p:cNvSpPr>
            <a:spLocks noGrp="1"/>
          </p:cNvSpPr>
          <p:nvPr>
            <p:ph idx="1"/>
          </p:nvPr>
        </p:nvSpPr>
        <p:spPr>
          <a:xfrm>
            <a:off x="768097" y="1088019"/>
            <a:ext cx="7832833" cy="3574551"/>
          </a:xfrm>
        </p:spPr>
        <p:txBody>
          <a:bodyPr>
            <a:normAutofit/>
          </a:bodyPr>
          <a:lstStyle/>
          <a:p>
            <a:pPr>
              <a:lnSpc>
                <a:spcPct val="120000"/>
              </a:lnSpc>
              <a:spcBef>
                <a:spcPts val="600"/>
              </a:spcBef>
            </a:pPr>
            <a:r>
              <a:rPr lang="zh-CN" altLang="en-US" sz="2400" dirty="0"/>
              <a:t>在设计阶段要对存储的数据及其结构进行设计。</a:t>
            </a:r>
            <a:endParaRPr lang="en-US" altLang="zh-CN" sz="2400" dirty="0"/>
          </a:p>
          <a:p>
            <a:pPr>
              <a:lnSpc>
                <a:spcPct val="120000"/>
              </a:lnSpc>
              <a:spcBef>
                <a:spcPts val="600"/>
              </a:spcBef>
            </a:pPr>
            <a:r>
              <a:rPr lang="zh-CN" altLang="en-US" sz="2400" dirty="0"/>
              <a:t>首先在高层（用户的角度）建立数据模型，然后逐步将这个数据模型变为将来进行编码的模型。</a:t>
            </a:r>
            <a:endParaRPr lang="en-US" altLang="zh-CN" sz="2400" dirty="0"/>
          </a:p>
          <a:p>
            <a:pPr>
              <a:lnSpc>
                <a:spcPct val="120000"/>
              </a:lnSpc>
              <a:spcBef>
                <a:spcPts val="600"/>
              </a:spcBef>
            </a:pPr>
            <a:r>
              <a:rPr lang="zh-CN" altLang="en-US" sz="2400" dirty="0"/>
              <a:t>数据模型是系统内部的静态数据结构，包括：数据对象、数据属性和关系。（与领域类图对应</a:t>
            </a:r>
            <a:r>
              <a:rPr lang="zh-CN" altLang="en-US" sz="2400" dirty="0" smtClean="0"/>
              <a:t>）</a:t>
            </a:r>
            <a:endParaRPr lang="en-US" altLang="zh-CN" sz="24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fld id="{0D6734AA-2C99-4ADC-BC9C-B8397234D11C}"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数据库结构设计</a:t>
            </a:r>
            <a:endParaRPr lang="zh-CN" altLang="en-US" dirty="0"/>
          </a:p>
        </p:txBody>
      </p:sp>
      <p:sp>
        <p:nvSpPr>
          <p:cNvPr id="4" name="日期占位符 3"/>
          <p:cNvSpPr>
            <a:spLocks noGrp="1"/>
          </p:cNvSpPr>
          <p:nvPr>
            <p:ph type="dt" sz="half" idx="10"/>
          </p:nvPr>
        </p:nvSpPr>
        <p:spPr/>
        <p:txBody>
          <a:bodyPr/>
          <a:lstStyle/>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aphicFrame>
        <p:nvGraphicFramePr>
          <p:cNvPr id="7" name="图示 6"/>
          <p:cNvGraphicFramePr/>
          <p:nvPr/>
        </p:nvGraphicFramePr>
        <p:xfrm>
          <a:off x="231153" y="905863"/>
          <a:ext cx="2438400" cy="363940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8" name="图示 7"/>
          <p:cNvGraphicFramePr/>
          <p:nvPr/>
        </p:nvGraphicFramePr>
        <p:xfrm>
          <a:off x="2955402" y="553866"/>
          <a:ext cx="5791200" cy="43434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数据库设计的步骤</a:t>
            </a:r>
            <a:endParaRPr lang="zh-CN" altLang="en-US" dirty="0"/>
          </a:p>
        </p:txBody>
      </p:sp>
      <p:sp>
        <p:nvSpPr>
          <p:cNvPr id="2" name="内容占位符 1"/>
          <p:cNvSpPr>
            <a:spLocks noGrp="1"/>
          </p:cNvSpPr>
          <p:nvPr>
            <p:ph idx="1"/>
          </p:nvPr>
        </p:nvSpPr>
        <p:spPr>
          <a:xfrm>
            <a:off x="768097" y="925167"/>
            <a:ext cx="8090153" cy="3806854"/>
          </a:xfrm>
        </p:spPr>
        <p:txBody>
          <a:bodyPr>
            <a:noAutofit/>
          </a:bodyPr>
          <a:lstStyle/>
          <a:p>
            <a:pPr marL="342900" indent="-342900">
              <a:lnSpc>
                <a:spcPct val="100000"/>
              </a:lnSpc>
              <a:spcBef>
                <a:spcPts val="800"/>
              </a:spcBef>
              <a:buFont typeface="+mj-lt"/>
              <a:buAutoNum type="arabicPeriod"/>
            </a:pPr>
            <a:r>
              <a:rPr lang="zh-CN" altLang="en-US" sz="2000" dirty="0"/>
              <a:t>需求阶段的数据收集，构建数据字典，明确哪些数据需要存储，要完成什么样的数据处理功能。</a:t>
            </a:r>
            <a:endParaRPr lang="en-US" altLang="zh-CN" sz="2000" dirty="0"/>
          </a:p>
          <a:p>
            <a:pPr marL="342900" indent="-342900">
              <a:lnSpc>
                <a:spcPct val="100000"/>
              </a:lnSpc>
              <a:spcBef>
                <a:spcPts val="800"/>
              </a:spcBef>
              <a:buFont typeface="+mj-lt"/>
              <a:buAutoNum type="arabicPeriod"/>
            </a:pPr>
            <a:r>
              <a:rPr lang="zh-CN" altLang="en-US" sz="2000" dirty="0"/>
              <a:t>概念结构设计，用</a:t>
            </a:r>
            <a:r>
              <a:rPr lang="en-US" altLang="zh-CN" sz="2000" dirty="0"/>
              <a:t>E-R</a:t>
            </a:r>
            <a:r>
              <a:rPr lang="zh-CN" altLang="en-US" sz="2000" dirty="0"/>
              <a:t>图描述现实世界的概念模型。</a:t>
            </a:r>
            <a:endParaRPr lang="en-US" altLang="zh-CN" sz="2000" dirty="0"/>
          </a:p>
          <a:p>
            <a:pPr marL="342900" indent="-342900">
              <a:lnSpc>
                <a:spcPct val="100000"/>
              </a:lnSpc>
              <a:spcBef>
                <a:spcPts val="800"/>
              </a:spcBef>
              <a:buFont typeface="+mj-lt"/>
              <a:buAutoNum type="arabicPeriod"/>
            </a:pPr>
            <a:r>
              <a:rPr lang="zh-CN" altLang="en-US" sz="2000" dirty="0"/>
              <a:t>逻辑结构设计，将概念模型转换为能够被</a:t>
            </a:r>
            <a:r>
              <a:rPr lang="en-US" altLang="zh-CN" sz="2000" dirty="0"/>
              <a:t>DBMS</a:t>
            </a:r>
            <a:r>
              <a:rPr lang="zh-CN" altLang="en-US" sz="2000" dirty="0"/>
              <a:t>支持的数据模型。</a:t>
            </a:r>
            <a:endParaRPr lang="en-US" altLang="zh-CN" sz="2000" dirty="0"/>
          </a:p>
          <a:p>
            <a:pPr marL="342900" indent="-342900">
              <a:lnSpc>
                <a:spcPct val="100000"/>
              </a:lnSpc>
              <a:spcBef>
                <a:spcPts val="800"/>
              </a:spcBef>
              <a:buFont typeface="+mj-lt"/>
              <a:buAutoNum type="arabicPeriod"/>
            </a:pPr>
            <a:r>
              <a:rPr lang="zh-CN" altLang="en-US" sz="2000" dirty="0"/>
              <a:t>物理结构设计，明确选取合适的</a:t>
            </a:r>
            <a:r>
              <a:rPr lang="en-US" altLang="zh-CN" sz="2000" dirty="0"/>
              <a:t>DBMS</a:t>
            </a:r>
            <a:r>
              <a:rPr lang="zh-CN" altLang="en-US" sz="2000" dirty="0"/>
              <a:t>，搭建应用环境，配置数据库服务器，设计数据的存储结构和存取方法，如索引、视图、存储过程、触发器等。</a:t>
            </a:r>
            <a:endParaRPr lang="en-US" altLang="zh-CN" sz="2000" dirty="0"/>
          </a:p>
          <a:p>
            <a:pPr marL="342900" indent="-342900">
              <a:lnSpc>
                <a:spcPct val="100000"/>
              </a:lnSpc>
              <a:spcBef>
                <a:spcPts val="800"/>
              </a:spcBef>
              <a:buFont typeface="+mj-lt"/>
              <a:buAutoNum type="arabicPeriod"/>
            </a:pPr>
            <a:r>
              <a:rPr lang="zh-CN" altLang="en-US" sz="2000" dirty="0"/>
              <a:t>系统实施，建立数据库，组织数据入库，编写和调试程序，运行测试。</a:t>
            </a:r>
            <a:endParaRPr lang="en-US" altLang="zh-CN" sz="2000" dirty="0"/>
          </a:p>
          <a:p>
            <a:pPr marL="342900" indent="-342900">
              <a:lnSpc>
                <a:spcPct val="100000"/>
              </a:lnSpc>
              <a:spcBef>
                <a:spcPts val="800"/>
              </a:spcBef>
              <a:buFont typeface="+mj-lt"/>
              <a:buAutoNum type="arabicPeriod"/>
            </a:pPr>
            <a:r>
              <a:rPr lang="zh-CN" altLang="en-US" sz="2000" dirty="0"/>
              <a:t>运行维护，维护数据库安全性与完整性，根据需求改正和改进数据库的功能。</a:t>
            </a:r>
            <a:endParaRPr lang="zh-CN" altLang="en-US" sz="20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fld id="{AD9F5211-FE33-43B3-8D0B-D8974C58AF42}"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up)">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up)">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342900" indent="-342900"/>
            <a:r>
              <a:rPr lang="zh-CN" altLang="en-US" sz="2000" dirty="0"/>
              <a:t>描述数据库中的数据元素、组成结构体的复杂数据元素、重复的数据项、一个数据项的枚举值以及可选的数据项等。</a:t>
            </a:r>
            <a:endParaRPr lang="en-US" altLang="zh-CN" sz="2000" dirty="0"/>
          </a:p>
          <a:p>
            <a:pPr marL="342900" indent="-342900"/>
            <a:r>
              <a:rPr lang="zh-CN" altLang="en-US" sz="2000" dirty="0"/>
              <a:t>在面向对象的分析方法中，需求阶段用领域类图来代替数据字典。但是在数据建模阶段，通过对数据的语义唯一性定义等方面，还是能够指导整个项目的开发过程。</a:t>
            </a:r>
            <a:endParaRPr lang="en-US" altLang="zh-CN" sz="2000" dirty="0"/>
          </a:p>
          <a:p>
            <a:pPr marL="342900" indent="-342900"/>
            <a:r>
              <a:rPr lang="zh-CN" altLang="en-US" sz="2000" dirty="0"/>
              <a:t>编写方法：解读业务分析报告，根据用例进行数据的归类，形成不同的数据集，定义元素的唯一性说明。</a:t>
            </a:r>
            <a:endParaRPr lang="en-US" altLang="zh-CN" sz="2000" dirty="0"/>
          </a:p>
          <a:p>
            <a:pPr marL="342900" indent="-342900"/>
            <a:r>
              <a:rPr lang="zh-CN" altLang="en-US" sz="2000" dirty="0"/>
              <a:t>常见格式如下</a:t>
            </a:r>
            <a:r>
              <a:rPr lang="zh-CN" altLang="en-US" sz="2000" dirty="0" smtClean="0"/>
              <a:t>：          </a:t>
            </a:r>
            <a:r>
              <a:rPr lang="en-US" altLang="zh-CN" sz="2000" dirty="0" smtClean="0"/>
              <a:t>               </a:t>
            </a:r>
            <a:r>
              <a:rPr lang="zh-CN" altLang="en-US" sz="2000" dirty="0"/>
              <a:t>数据集名称</a:t>
            </a:r>
            <a:endParaRPr lang="zh-CN" altLang="en-US" sz="20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数据字典</a:t>
            </a:r>
            <a:endParaRPr lang="zh-CN" altLang="en-US" dirty="0"/>
          </a:p>
        </p:txBody>
      </p:sp>
      <p:graphicFrame>
        <p:nvGraphicFramePr>
          <p:cNvPr id="5" name="表格 4"/>
          <p:cNvGraphicFramePr>
            <a:graphicFrameLocks noGrp="1"/>
          </p:cNvGraphicFramePr>
          <p:nvPr/>
        </p:nvGraphicFramePr>
        <p:xfrm>
          <a:off x="2838638" y="4086687"/>
          <a:ext cx="5230660" cy="645334"/>
        </p:xfrm>
        <a:graphic>
          <a:graphicData uri="http://schemas.openxmlformats.org/drawingml/2006/table">
            <a:tbl>
              <a:tblPr firstRow="1" bandRow="1">
                <a:tableStyleId>{5C22544A-7EE6-4342-B048-85BDC9FD1C3A}</a:tableStyleId>
              </a:tblPr>
              <a:tblGrid>
                <a:gridCol w="1046132"/>
                <a:gridCol w="1046132"/>
                <a:gridCol w="1046132"/>
                <a:gridCol w="1046132"/>
                <a:gridCol w="1046132"/>
              </a:tblGrid>
              <a:tr h="342450">
                <a:tc>
                  <a:txBody>
                    <a:bodyPr/>
                    <a:lstStyle/>
                    <a:p>
                      <a:pPr algn="ctr"/>
                      <a:r>
                        <a:rPr lang="zh-CN" altLang="en-US" sz="1500" dirty="0"/>
                        <a:t>标识符</a:t>
                      </a:r>
                      <a:endParaRPr lang="zh-CN" altLang="en-US" sz="1500" dirty="0"/>
                    </a:p>
                  </a:txBody>
                  <a:tcPr marL="68580" marR="68580" marT="34290" marB="34290" anchor="ctr"/>
                </a:tc>
                <a:tc>
                  <a:txBody>
                    <a:bodyPr/>
                    <a:lstStyle/>
                    <a:p>
                      <a:pPr algn="ctr"/>
                      <a:r>
                        <a:rPr lang="zh-CN" altLang="en-US" sz="1500" dirty="0"/>
                        <a:t>中文名称</a:t>
                      </a:r>
                      <a:endParaRPr lang="zh-CN" altLang="en-US" sz="1500" dirty="0"/>
                    </a:p>
                  </a:txBody>
                  <a:tcPr marL="68580" marR="68580" marT="34290" marB="34290" anchor="ctr"/>
                </a:tc>
                <a:tc>
                  <a:txBody>
                    <a:bodyPr/>
                    <a:lstStyle/>
                    <a:p>
                      <a:pPr algn="ctr"/>
                      <a:r>
                        <a:rPr lang="zh-CN" altLang="en-US" sz="1500" dirty="0"/>
                        <a:t>英文名称</a:t>
                      </a:r>
                      <a:endParaRPr lang="zh-CN" altLang="en-US" sz="1500" dirty="0"/>
                    </a:p>
                  </a:txBody>
                  <a:tcPr marL="68580" marR="68580" marT="34290" marB="34290" anchor="ctr"/>
                </a:tc>
                <a:tc>
                  <a:txBody>
                    <a:bodyPr/>
                    <a:lstStyle/>
                    <a:p>
                      <a:pPr algn="ctr"/>
                      <a:r>
                        <a:rPr lang="zh-CN" altLang="en-US" sz="1500" dirty="0"/>
                        <a:t>字段取值</a:t>
                      </a:r>
                      <a:endParaRPr lang="zh-CN" altLang="en-US" sz="1500" dirty="0"/>
                    </a:p>
                  </a:txBody>
                  <a:tcPr marL="68580" marR="68580" marT="34290" marB="34290" anchor="ctr"/>
                </a:tc>
                <a:tc>
                  <a:txBody>
                    <a:bodyPr/>
                    <a:lstStyle/>
                    <a:p>
                      <a:pPr algn="ctr"/>
                      <a:r>
                        <a:rPr lang="zh-CN" altLang="en-US" sz="1500" dirty="0"/>
                        <a:t>备注</a:t>
                      </a:r>
                      <a:endParaRPr lang="zh-CN" altLang="en-US" sz="1500" dirty="0"/>
                    </a:p>
                  </a:txBody>
                  <a:tcPr marL="68580" marR="68580" marT="34290" marB="34290" anchor="ctr"/>
                </a:tc>
              </a:tr>
              <a:tr h="302884">
                <a:tc>
                  <a:txBody>
                    <a:bodyPr/>
                    <a:lstStyle/>
                    <a:p>
                      <a:pPr algn="ctr"/>
                      <a:endParaRPr lang="zh-CN" altLang="en-US" sz="1500" dirty="0"/>
                    </a:p>
                  </a:txBody>
                  <a:tcPr marL="68580" marR="68580" marT="34290" marB="34290" anchor="ctr"/>
                </a:tc>
                <a:tc>
                  <a:txBody>
                    <a:bodyPr/>
                    <a:lstStyle/>
                    <a:p>
                      <a:pPr algn="ctr"/>
                      <a:endParaRPr lang="zh-CN" altLang="en-US" sz="1500" dirty="0"/>
                    </a:p>
                  </a:txBody>
                  <a:tcPr marL="68580" marR="68580" marT="34290" marB="34290" anchor="ctr"/>
                </a:tc>
                <a:tc>
                  <a:txBody>
                    <a:bodyPr/>
                    <a:lstStyle/>
                    <a:p>
                      <a:pPr algn="ctr"/>
                      <a:endParaRPr lang="zh-CN" altLang="en-US" sz="1500" dirty="0"/>
                    </a:p>
                  </a:txBody>
                  <a:tcPr marL="68580" marR="68580" marT="34290" marB="34290" anchor="ctr"/>
                </a:tc>
                <a:tc>
                  <a:txBody>
                    <a:bodyPr/>
                    <a:lstStyle/>
                    <a:p>
                      <a:pPr algn="ctr"/>
                      <a:endParaRPr lang="zh-CN" altLang="en-US" sz="1500" dirty="0"/>
                    </a:p>
                  </a:txBody>
                  <a:tcPr marL="68580" marR="68580" marT="34290" marB="34290" anchor="ctr"/>
                </a:tc>
                <a:tc>
                  <a:txBody>
                    <a:bodyPr/>
                    <a:lstStyle/>
                    <a:p>
                      <a:pPr algn="ctr"/>
                      <a:endParaRPr lang="zh-CN" altLang="en-US" sz="1500" dirty="0"/>
                    </a:p>
                  </a:txBody>
                  <a:tcPr marL="68580" marR="68580" marT="34290" marB="34290" anchor="ctr"/>
                </a:tc>
              </a:tr>
            </a:tbl>
          </a:graphicData>
        </a:graphic>
      </p:graphicFrame>
      <p:sp>
        <p:nvSpPr>
          <p:cNvPr id="6" name="日期占位符 5"/>
          <p:cNvSpPr>
            <a:spLocks noGrp="1"/>
          </p:cNvSpPr>
          <p:nvPr>
            <p:ph type="dt" sz="half" idx="10"/>
          </p:nvPr>
        </p:nvSpPr>
        <p:spPr/>
        <p:txBody>
          <a:bodyPr/>
          <a:lstStyle/>
          <a:p>
            <a:fld id="{58EABF80-8725-425F-B378-3858CCF4D1D9}"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randombar(horizontal)">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数据持久化</a:t>
            </a:r>
            <a:endParaRPr lang="zh-CN" altLang="en-US" dirty="0"/>
          </a:p>
        </p:txBody>
      </p:sp>
      <p:sp>
        <p:nvSpPr>
          <p:cNvPr id="2" name="内容占位符 1"/>
          <p:cNvSpPr>
            <a:spLocks noGrp="1"/>
          </p:cNvSpPr>
          <p:nvPr>
            <p:ph idx="1"/>
          </p:nvPr>
        </p:nvSpPr>
        <p:spPr>
          <a:xfrm>
            <a:off x="768096" y="810222"/>
            <a:ext cx="7832833" cy="3854373"/>
          </a:xfrm>
        </p:spPr>
        <p:txBody>
          <a:bodyPr>
            <a:noAutofit/>
          </a:bodyPr>
          <a:lstStyle/>
          <a:p>
            <a:pPr marL="342900" indent="-342900">
              <a:lnSpc>
                <a:spcPct val="120000"/>
              </a:lnSpc>
            </a:pPr>
            <a:r>
              <a:rPr lang="zh-CN" altLang="en-US" sz="2000" dirty="0" smtClean="0">
                <a:sym typeface="+mn-ea"/>
              </a:rPr>
              <a:t>数据持久化就是将内存中的数据模型转换为存储模型,以及将存储模型转换为内存中的数据模型的统称。 </a:t>
            </a:r>
            <a:endParaRPr lang="zh-CN" altLang="en-US" sz="2000" dirty="0" smtClean="0"/>
          </a:p>
          <a:p>
            <a:pPr marL="342900" indent="-342900">
              <a:lnSpc>
                <a:spcPct val="120000"/>
              </a:lnSpc>
            </a:pPr>
            <a:r>
              <a:rPr lang="zh-CN" altLang="en-US" sz="2000" dirty="0" smtClean="0"/>
              <a:t>面向对象的数据模型用类表达，称“实体模型”，</a:t>
            </a:r>
            <a:r>
              <a:rPr lang="en-US" altLang="zh-CN" sz="2000" dirty="0" smtClean="0"/>
              <a:t>OOD</a:t>
            </a:r>
            <a:r>
              <a:rPr lang="zh-CN" altLang="en-US" sz="2000" dirty="0" smtClean="0"/>
              <a:t>是将</a:t>
            </a:r>
            <a:r>
              <a:rPr lang="en-US" altLang="zh-CN" sz="2000" dirty="0" smtClean="0"/>
              <a:t>OOA</a:t>
            </a:r>
            <a:r>
              <a:rPr lang="zh-CN" altLang="en-US" sz="2000" dirty="0" smtClean="0"/>
              <a:t>的 “实体模型”进行细化，应用程序操作的是数据实体的对象，故称对象持久化。</a:t>
            </a:r>
            <a:endParaRPr lang="en-US" altLang="zh-CN" sz="2000" dirty="0" smtClean="0"/>
          </a:p>
          <a:p>
            <a:pPr marL="342900" indent="-342900">
              <a:lnSpc>
                <a:spcPct val="120000"/>
              </a:lnSpc>
            </a:pPr>
            <a:r>
              <a:rPr lang="zh-CN" altLang="en-US" sz="2000" dirty="0"/>
              <a:t>被持久化的对象依然保存在关系数据库中，数据库表中的一条记录就是一个实体对象</a:t>
            </a:r>
            <a:r>
              <a:rPr lang="zh-CN" altLang="en-US" sz="2000" dirty="0" smtClean="0"/>
              <a:t>。</a:t>
            </a:r>
            <a:endParaRPr lang="en-US" altLang="zh-CN" sz="2000" dirty="0" smtClean="0"/>
          </a:p>
          <a:p>
            <a:pPr marL="342900" indent="-342900">
              <a:lnSpc>
                <a:spcPct val="120000"/>
              </a:lnSpc>
            </a:pPr>
            <a:r>
              <a:rPr lang="zh-CN" altLang="en-US" sz="2000" dirty="0"/>
              <a:t>但内存中的对象与记录是在不同的物理空间，具有不同的表达方式，因此从</a:t>
            </a:r>
            <a:r>
              <a:rPr lang="en-US" altLang="zh-CN" sz="2000" dirty="0"/>
              <a:t>“</a:t>
            </a:r>
            <a:r>
              <a:rPr lang="zh-CN" altLang="en-US" sz="2000" dirty="0"/>
              <a:t>实体模型”到“关系模型”之间需要</a:t>
            </a:r>
            <a:r>
              <a:rPr lang="en-US" altLang="zh-CN" sz="2000" dirty="0"/>
              <a:t>OR</a:t>
            </a:r>
            <a:r>
              <a:rPr lang="zh-CN" altLang="en-US" sz="2000" dirty="0"/>
              <a:t>映射 </a:t>
            </a:r>
            <a:r>
              <a:rPr lang="zh-CN" altLang="en-US" sz="2000" dirty="0" smtClean="0"/>
              <a:t>。</a:t>
            </a:r>
            <a:endParaRPr lang="en-US" altLang="zh-CN" sz="20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fld id="{238F1E80-F46F-477F-BC14-A5E8CB8B806D}"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up)">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up)">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Rectangle 6"/>
          <p:cNvSpPr>
            <a:spLocks noChangeArrowheads="1"/>
          </p:cNvSpPr>
          <p:nvPr/>
        </p:nvSpPr>
        <p:spPr bwMode="auto">
          <a:xfrm>
            <a:off x="6780393" y="775692"/>
            <a:ext cx="1692275" cy="766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1950" indent="-361950" eaLnBrk="0" hangingPunct="0">
              <a:defRPr>
                <a:solidFill>
                  <a:schemeClr val="tx1"/>
                </a:solidFill>
                <a:latin typeface="Arial" panose="020B0604020202020204" pitchFamily="34" charset="0"/>
                <a:ea typeface="宋体" panose="02010600030101010101" pitchFamily="2" charset="-122"/>
              </a:defRPr>
            </a:lvl1pPr>
            <a:lvl2pPr marL="800100" indent="-34290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5000"/>
              </a:spcBef>
              <a:buFont typeface="Wingdings" panose="05000000000000000000" pitchFamily="2" charset="2"/>
              <a:buNone/>
            </a:pPr>
            <a:r>
              <a:rPr lang="zh-CN" altLang="en-US" b="1" dirty="0"/>
              <a:t>应用程序直接</a:t>
            </a:r>
            <a:endParaRPr lang="zh-CN" altLang="en-US" b="1" dirty="0"/>
          </a:p>
          <a:p>
            <a:pPr algn="ctr" eaLnBrk="1" hangingPunct="1">
              <a:spcBef>
                <a:spcPct val="55000"/>
              </a:spcBef>
              <a:buFont typeface="Wingdings" panose="05000000000000000000" pitchFamily="2" charset="2"/>
              <a:buNone/>
            </a:pPr>
            <a:r>
              <a:rPr lang="zh-CN" altLang="en-US" b="1" dirty="0"/>
              <a:t>访问</a:t>
            </a:r>
            <a:r>
              <a:rPr lang="en-US" altLang="zh-CN" b="1" dirty="0"/>
              <a:t>DBMS</a:t>
            </a:r>
            <a:endParaRPr lang="en-US" altLang="zh-CN" b="1" dirty="0"/>
          </a:p>
        </p:txBody>
      </p:sp>
      <p:grpSp>
        <p:nvGrpSpPr>
          <p:cNvPr id="10" name="Group 15"/>
          <p:cNvGrpSpPr>
            <a:grpSpLocks noChangeAspect="1"/>
          </p:cNvGrpSpPr>
          <p:nvPr/>
        </p:nvGrpSpPr>
        <p:grpSpPr bwMode="auto">
          <a:xfrm>
            <a:off x="1235255" y="180517"/>
            <a:ext cx="5400675" cy="2043112"/>
            <a:chOff x="3010" y="4121"/>
            <a:chExt cx="5782" cy="1518"/>
          </a:xfrm>
        </p:grpSpPr>
        <p:sp>
          <p:nvSpPr>
            <p:cNvPr id="11" name="AutoShape 16"/>
            <p:cNvSpPr>
              <a:spLocks noChangeAspect="1" noChangeArrowheads="1"/>
            </p:cNvSpPr>
            <p:nvPr/>
          </p:nvSpPr>
          <p:spPr bwMode="auto">
            <a:xfrm>
              <a:off x="3010" y="4121"/>
              <a:ext cx="5782" cy="1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12" name="Group 17"/>
            <p:cNvGrpSpPr/>
            <p:nvPr/>
          </p:nvGrpSpPr>
          <p:grpSpPr bwMode="auto">
            <a:xfrm>
              <a:off x="3010" y="4121"/>
              <a:ext cx="5664" cy="1518"/>
              <a:chOff x="3010" y="4121"/>
              <a:chExt cx="6608" cy="2277"/>
            </a:xfrm>
          </p:grpSpPr>
          <p:sp>
            <p:nvSpPr>
              <p:cNvPr id="13" name="Rectangle 18"/>
              <p:cNvSpPr>
                <a:spLocks noChangeArrowheads="1"/>
              </p:cNvSpPr>
              <p:nvPr/>
            </p:nvSpPr>
            <p:spPr bwMode="auto">
              <a:xfrm>
                <a:off x="3010" y="4121"/>
                <a:ext cx="6608" cy="1518"/>
              </a:xfrm>
              <a:prstGeom prst="rect">
                <a:avLst/>
              </a:prstGeom>
              <a:noFill/>
              <a:ln w="12700">
                <a:solidFill>
                  <a:srgbClr val="000000"/>
                </a:solidFill>
                <a:prstDash val="dash"/>
                <a:miter lim="800000"/>
              </a:ln>
              <a:extLst>
                <a:ext uri="{909E8E84-426E-40DD-AFC4-6F175D3DCCD1}">
                  <a14:hiddenFill xmlns:a14="http://schemas.microsoft.com/office/drawing/2010/main">
                    <a:solidFill>
                      <a:srgbClr val="FFFFFF"/>
                    </a:solidFill>
                  </a14:hiddenFill>
                </a:ext>
              </a:extLst>
            </p:spPr>
            <p:txBody>
              <a:bodyPr lIns="0" tIns="0" rIns="0" bIns="29261"/>
              <a:lstStyle/>
              <a:p>
                <a:pPr>
                  <a:lnSpc>
                    <a:spcPct val="96000"/>
                  </a:lnSpc>
                </a:pPr>
                <a:r>
                  <a:rPr lang="zh-CN" altLang="en-US" b="1" dirty="0">
                    <a:solidFill>
                      <a:srgbClr val="000000"/>
                    </a:solidFill>
                    <a:latin typeface="宋体" panose="02010600030101010101" pitchFamily="2" charset="-122"/>
                  </a:rPr>
                  <a:t>应用程序</a:t>
                </a:r>
                <a:r>
                  <a:rPr lang="en-US" altLang="zh-CN" b="1" dirty="0">
                    <a:solidFill>
                      <a:srgbClr val="000000"/>
                    </a:solidFill>
                    <a:latin typeface="宋体" panose="02010600030101010101" pitchFamily="2" charset="-122"/>
                  </a:rPr>
                  <a:t>(</a:t>
                </a:r>
                <a:r>
                  <a:rPr lang="zh-CN" altLang="en-US" b="1" dirty="0">
                    <a:solidFill>
                      <a:srgbClr val="000000"/>
                    </a:solidFill>
                    <a:latin typeface="宋体" panose="02010600030101010101" pitchFamily="2" charset="-122"/>
                  </a:rPr>
                  <a:t>主体部件</a:t>
                </a:r>
                <a:r>
                  <a:rPr lang="en-US" altLang="zh-CN" b="1" dirty="0">
                    <a:solidFill>
                      <a:srgbClr val="000000"/>
                    </a:solidFill>
                    <a:latin typeface="宋体" panose="02010600030101010101" pitchFamily="2" charset="-122"/>
                  </a:rPr>
                  <a:t>)</a:t>
                </a:r>
                <a:endParaRPr lang="en-US" altLang="zh-CN" dirty="0"/>
              </a:p>
            </p:txBody>
          </p:sp>
          <p:grpSp>
            <p:nvGrpSpPr>
              <p:cNvPr id="14" name="Group 19"/>
              <p:cNvGrpSpPr/>
              <p:nvPr/>
            </p:nvGrpSpPr>
            <p:grpSpPr bwMode="auto">
              <a:xfrm>
                <a:off x="3128" y="4563"/>
                <a:ext cx="1298" cy="823"/>
                <a:chOff x="3228" y="4310"/>
                <a:chExt cx="2156" cy="1859"/>
              </a:xfrm>
            </p:grpSpPr>
            <p:sp>
              <p:nvSpPr>
                <p:cNvPr id="28" name="Rectangle 20"/>
                <p:cNvSpPr>
                  <a:spLocks noChangeArrowheads="1"/>
                </p:cNvSpPr>
                <p:nvPr/>
              </p:nvSpPr>
              <p:spPr bwMode="auto">
                <a:xfrm>
                  <a:off x="3228" y="4310"/>
                  <a:ext cx="2144" cy="1859"/>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29261"/>
                <a:lstStyle/>
                <a:p>
                  <a:pPr>
                    <a:lnSpc>
                      <a:spcPct val="96000"/>
                    </a:lnSpc>
                  </a:pPr>
                  <a:r>
                    <a:rPr lang="en-US" altLang="zh-CN" sz="1600" b="1">
                      <a:solidFill>
                        <a:srgbClr val="000000"/>
                      </a:solidFill>
                      <a:latin typeface="宋体" panose="02010600030101010101" pitchFamily="2" charset="-122"/>
                    </a:rPr>
                    <a:t>ClassA</a:t>
                  </a:r>
                  <a:endParaRPr lang="en-US" altLang="zh-CN" sz="1600"/>
                </a:p>
              </p:txBody>
            </p:sp>
            <p:sp>
              <p:nvSpPr>
                <p:cNvPr id="29" name="Line 21"/>
                <p:cNvSpPr>
                  <a:spLocks noChangeShapeType="1"/>
                </p:cNvSpPr>
                <p:nvPr/>
              </p:nvSpPr>
              <p:spPr bwMode="auto">
                <a:xfrm>
                  <a:off x="3228" y="5179"/>
                  <a:ext cx="2144"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lIns="0" tIns="0" rIns="0"/>
                <a:lstStyle/>
                <a:p>
                  <a:endParaRPr lang="zh-CN" altLang="en-US"/>
                </a:p>
              </p:txBody>
            </p:sp>
            <p:sp>
              <p:nvSpPr>
                <p:cNvPr id="30" name="Line 22"/>
                <p:cNvSpPr>
                  <a:spLocks noChangeShapeType="1"/>
                </p:cNvSpPr>
                <p:nvPr/>
              </p:nvSpPr>
              <p:spPr bwMode="auto">
                <a:xfrm>
                  <a:off x="3241" y="5687"/>
                  <a:ext cx="2143"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lIns="0" tIns="0" rIns="0"/>
                <a:lstStyle/>
                <a:p>
                  <a:endParaRPr lang="zh-CN" altLang="en-US"/>
                </a:p>
              </p:txBody>
            </p:sp>
          </p:grpSp>
          <p:grpSp>
            <p:nvGrpSpPr>
              <p:cNvPr id="15" name="Group 23"/>
              <p:cNvGrpSpPr/>
              <p:nvPr/>
            </p:nvGrpSpPr>
            <p:grpSpPr bwMode="auto">
              <a:xfrm>
                <a:off x="4898" y="4563"/>
                <a:ext cx="1181" cy="823"/>
                <a:chOff x="5984" y="4310"/>
                <a:chExt cx="2168" cy="1736"/>
              </a:xfrm>
            </p:grpSpPr>
            <p:sp>
              <p:nvSpPr>
                <p:cNvPr id="25" name="Rectangle 24"/>
                <p:cNvSpPr>
                  <a:spLocks noChangeArrowheads="1"/>
                </p:cNvSpPr>
                <p:nvPr/>
              </p:nvSpPr>
              <p:spPr bwMode="auto">
                <a:xfrm>
                  <a:off x="5984" y="4310"/>
                  <a:ext cx="2143" cy="1736"/>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29261"/>
                <a:lstStyle/>
                <a:p>
                  <a:pPr>
                    <a:lnSpc>
                      <a:spcPct val="96000"/>
                    </a:lnSpc>
                  </a:pPr>
                  <a:r>
                    <a:rPr lang="en-US" altLang="zh-CN" sz="1600" b="1" dirty="0" err="1">
                      <a:solidFill>
                        <a:srgbClr val="000000"/>
                      </a:solidFill>
                      <a:latin typeface="宋体" panose="02010600030101010101" pitchFamily="2" charset="-122"/>
                    </a:rPr>
                    <a:t>ClassB</a:t>
                  </a:r>
                  <a:endParaRPr lang="en-US" altLang="zh-CN" sz="1600" dirty="0"/>
                </a:p>
              </p:txBody>
            </p:sp>
            <p:sp>
              <p:nvSpPr>
                <p:cNvPr id="26" name="Line 25"/>
                <p:cNvSpPr>
                  <a:spLocks noChangeShapeType="1"/>
                </p:cNvSpPr>
                <p:nvPr/>
              </p:nvSpPr>
              <p:spPr bwMode="auto">
                <a:xfrm>
                  <a:off x="6008" y="5139"/>
                  <a:ext cx="2144"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lIns="0" tIns="0" rIns="0"/>
                <a:lstStyle/>
                <a:p>
                  <a:endParaRPr lang="zh-CN" altLang="en-US"/>
                </a:p>
              </p:txBody>
            </p:sp>
            <p:sp>
              <p:nvSpPr>
                <p:cNvPr id="27" name="Line 26"/>
                <p:cNvSpPr>
                  <a:spLocks noChangeShapeType="1"/>
                </p:cNvSpPr>
                <p:nvPr/>
              </p:nvSpPr>
              <p:spPr bwMode="auto">
                <a:xfrm>
                  <a:off x="5984" y="5644"/>
                  <a:ext cx="2143"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lIns="0" tIns="0" rIns="0"/>
                <a:lstStyle/>
                <a:p>
                  <a:endParaRPr lang="zh-CN" altLang="en-US"/>
                </a:p>
              </p:txBody>
            </p:sp>
          </p:grpSp>
          <p:grpSp>
            <p:nvGrpSpPr>
              <p:cNvPr id="16" name="Group 27"/>
              <p:cNvGrpSpPr/>
              <p:nvPr/>
            </p:nvGrpSpPr>
            <p:grpSpPr bwMode="auto">
              <a:xfrm>
                <a:off x="8202" y="4563"/>
                <a:ext cx="1063" cy="823"/>
                <a:chOff x="10885" y="4310"/>
                <a:chExt cx="2164" cy="1736"/>
              </a:xfrm>
            </p:grpSpPr>
            <p:sp>
              <p:nvSpPr>
                <p:cNvPr id="22" name="Rectangle 28"/>
                <p:cNvSpPr>
                  <a:spLocks noChangeArrowheads="1"/>
                </p:cNvSpPr>
                <p:nvPr/>
              </p:nvSpPr>
              <p:spPr bwMode="auto">
                <a:xfrm>
                  <a:off x="10885" y="4310"/>
                  <a:ext cx="2143" cy="1736"/>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29261"/>
                <a:lstStyle/>
                <a:p>
                  <a:pPr>
                    <a:lnSpc>
                      <a:spcPct val="96000"/>
                    </a:lnSpc>
                  </a:pPr>
                  <a:r>
                    <a:rPr lang="en-US" altLang="zh-CN" sz="1600" b="1">
                      <a:solidFill>
                        <a:srgbClr val="000000"/>
                      </a:solidFill>
                      <a:latin typeface="宋体" panose="02010600030101010101" pitchFamily="2" charset="-122"/>
                    </a:rPr>
                    <a:t>ClassC</a:t>
                  </a:r>
                  <a:endParaRPr lang="en-US" altLang="zh-CN" sz="1600"/>
                </a:p>
              </p:txBody>
            </p:sp>
            <p:sp>
              <p:nvSpPr>
                <p:cNvPr id="23" name="Line 29"/>
                <p:cNvSpPr>
                  <a:spLocks noChangeShapeType="1"/>
                </p:cNvSpPr>
                <p:nvPr/>
              </p:nvSpPr>
              <p:spPr bwMode="auto">
                <a:xfrm>
                  <a:off x="10885" y="5219"/>
                  <a:ext cx="2143"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lIns="0" tIns="0" rIns="0"/>
                <a:lstStyle/>
                <a:p>
                  <a:endParaRPr lang="zh-CN" altLang="en-US"/>
                </a:p>
              </p:txBody>
            </p:sp>
            <p:sp>
              <p:nvSpPr>
                <p:cNvPr id="24" name="Line 30"/>
                <p:cNvSpPr>
                  <a:spLocks noChangeShapeType="1"/>
                </p:cNvSpPr>
                <p:nvPr/>
              </p:nvSpPr>
              <p:spPr bwMode="auto">
                <a:xfrm>
                  <a:off x="10903" y="5644"/>
                  <a:ext cx="2146"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lIns="0" tIns="0" rIns="0"/>
                <a:lstStyle/>
                <a:p>
                  <a:endParaRPr lang="zh-CN" altLang="en-US"/>
                </a:p>
              </p:txBody>
            </p:sp>
          </p:grpSp>
          <p:sp>
            <p:nvSpPr>
              <p:cNvPr id="17" name="Rectangle 31"/>
              <p:cNvSpPr>
                <a:spLocks noChangeArrowheads="1"/>
              </p:cNvSpPr>
              <p:nvPr/>
            </p:nvSpPr>
            <p:spPr bwMode="auto">
              <a:xfrm>
                <a:off x="6668" y="4627"/>
                <a:ext cx="828" cy="678"/>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29261"/>
              <a:lstStyle/>
              <a:p>
                <a:pPr algn="just"/>
                <a:r>
                  <a:rPr lang="en-US" altLang="zh-CN" sz="1600" b="1">
                    <a:solidFill>
                      <a:srgbClr val="000000"/>
                    </a:solidFill>
                    <a:latin typeface="Times New Roman" panose="02020603050405020304" pitchFamily="18" charset="0"/>
                  </a:rPr>
                  <a:t>······</a:t>
                </a:r>
                <a:endParaRPr lang="en-US" altLang="zh-CN" sz="1600"/>
              </a:p>
            </p:txBody>
          </p:sp>
          <p:sp>
            <p:nvSpPr>
              <p:cNvPr id="18" name="Rectangle 32"/>
              <p:cNvSpPr>
                <a:spLocks noChangeArrowheads="1"/>
              </p:cNvSpPr>
              <p:nvPr/>
            </p:nvSpPr>
            <p:spPr bwMode="auto">
              <a:xfrm>
                <a:off x="3246" y="5892"/>
                <a:ext cx="6136" cy="506"/>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29261"/>
              <a:lstStyle/>
              <a:p>
                <a:pPr>
                  <a:lnSpc>
                    <a:spcPct val="96000"/>
                  </a:lnSpc>
                </a:pPr>
                <a:r>
                  <a:rPr lang="zh-CN" altLang="en-US" b="1">
                    <a:solidFill>
                      <a:srgbClr val="000000"/>
                    </a:solidFill>
                    <a:latin typeface="宋体" panose="02010600030101010101" pitchFamily="2" charset="-122"/>
                  </a:rPr>
                  <a:t>数据管理系统</a:t>
                </a:r>
                <a:r>
                  <a:rPr lang="en-US" altLang="zh-CN" b="1">
                    <a:solidFill>
                      <a:srgbClr val="000000"/>
                    </a:solidFill>
                    <a:latin typeface="宋体" panose="02010600030101010101" pitchFamily="2" charset="-122"/>
                  </a:rPr>
                  <a:t>(DBMS)</a:t>
                </a:r>
                <a:endParaRPr lang="en-US" altLang="zh-CN"/>
              </a:p>
            </p:txBody>
          </p:sp>
          <p:sp>
            <p:nvSpPr>
              <p:cNvPr id="19" name="Line 33"/>
              <p:cNvSpPr>
                <a:spLocks noChangeShapeType="1"/>
              </p:cNvSpPr>
              <p:nvPr/>
            </p:nvSpPr>
            <p:spPr bwMode="auto">
              <a:xfrm>
                <a:off x="3718" y="5386"/>
                <a:ext cx="1" cy="506"/>
              </a:xfrm>
              <a:prstGeom prst="line">
                <a:avLst/>
              </a:prstGeom>
              <a:noFill/>
              <a:ln w="12700">
                <a:solidFill>
                  <a:srgbClr val="000000"/>
                </a:solidFill>
                <a:round/>
                <a:tailEnd type="triangle" w="med" len="med"/>
              </a:ln>
              <a:extLst>
                <a:ext uri="{909E8E84-426E-40DD-AFC4-6F175D3DCCD1}">
                  <a14:hiddenFill xmlns:a14="http://schemas.microsoft.com/office/drawing/2010/main">
                    <a:noFill/>
                  </a14:hiddenFill>
                </a:ext>
              </a:extLst>
            </p:spPr>
            <p:txBody>
              <a:bodyPr lIns="0" tIns="0" rIns="0"/>
              <a:lstStyle/>
              <a:p>
                <a:endParaRPr lang="zh-CN" altLang="en-US"/>
              </a:p>
            </p:txBody>
          </p:sp>
          <p:sp>
            <p:nvSpPr>
              <p:cNvPr id="20" name="Line 34"/>
              <p:cNvSpPr>
                <a:spLocks noChangeShapeType="1"/>
              </p:cNvSpPr>
              <p:nvPr/>
            </p:nvSpPr>
            <p:spPr bwMode="auto">
              <a:xfrm>
                <a:off x="5488" y="5386"/>
                <a:ext cx="1" cy="506"/>
              </a:xfrm>
              <a:prstGeom prst="line">
                <a:avLst/>
              </a:prstGeom>
              <a:noFill/>
              <a:ln w="12700">
                <a:solidFill>
                  <a:srgbClr val="000000"/>
                </a:solidFill>
                <a:round/>
                <a:tailEnd type="triangle" w="med" len="med"/>
              </a:ln>
              <a:extLst>
                <a:ext uri="{909E8E84-426E-40DD-AFC4-6F175D3DCCD1}">
                  <a14:hiddenFill xmlns:a14="http://schemas.microsoft.com/office/drawing/2010/main">
                    <a:noFill/>
                  </a14:hiddenFill>
                </a:ext>
              </a:extLst>
            </p:spPr>
            <p:txBody>
              <a:bodyPr lIns="0" tIns="0" rIns="0"/>
              <a:lstStyle/>
              <a:p>
                <a:endParaRPr lang="zh-CN" altLang="en-US"/>
              </a:p>
            </p:txBody>
          </p:sp>
          <p:sp>
            <p:nvSpPr>
              <p:cNvPr id="21" name="Line 35"/>
              <p:cNvSpPr>
                <a:spLocks noChangeShapeType="1"/>
              </p:cNvSpPr>
              <p:nvPr/>
            </p:nvSpPr>
            <p:spPr bwMode="auto">
              <a:xfrm flipH="1">
                <a:off x="8674" y="5386"/>
                <a:ext cx="1" cy="506"/>
              </a:xfrm>
              <a:prstGeom prst="line">
                <a:avLst/>
              </a:prstGeom>
              <a:noFill/>
              <a:ln w="12700">
                <a:solidFill>
                  <a:srgbClr val="000000"/>
                </a:solidFill>
                <a:round/>
                <a:tailEnd type="triangle" w="med" len="med"/>
              </a:ln>
              <a:extLst>
                <a:ext uri="{909E8E84-426E-40DD-AFC4-6F175D3DCCD1}">
                  <a14:hiddenFill xmlns:a14="http://schemas.microsoft.com/office/drawing/2010/main">
                    <a:noFill/>
                  </a14:hiddenFill>
                </a:ext>
              </a:extLst>
            </p:spPr>
            <p:txBody>
              <a:bodyPr lIns="0" tIns="0" rIns="0"/>
              <a:lstStyle/>
              <a:p>
                <a:endParaRPr lang="zh-CN" altLang="en-US"/>
              </a:p>
            </p:txBody>
          </p:sp>
        </p:grpSp>
      </p:grpSp>
      <p:grpSp>
        <p:nvGrpSpPr>
          <p:cNvPr id="31" name="Group 36"/>
          <p:cNvGrpSpPr/>
          <p:nvPr/>
        </p:nvGrpSpPr>
        <p:grpSpPr bwMode="auto">
          <a:xfrm>
            <a:off x="1235255" y="2544162"/>
            <a:ext cx="5545138" cy="2089150"/>
            <a:chOff x="3010" y="4121"/>
            <a:chExt cx="6608" cy="3036"/>
          </a:xfrm>
        </p:grpSpPr>
        <p:sp>
          <p:nvSpPr>
            <p:cNvPr id="32" name="Rectangle 37"/>
            <p:cNvSpPr>
              <a:spLocks noChangeArrowheads="1"/>
            </p:cNvSpPr>
            <p:nvPr/>
          </p:nvSpPr>
          <p:spPr bwMode="auto">
            <a:xfrm>
              <a:off x="3010" y="4121"/>
              <a:ext cx="6608" cy="1518"/>
            </a:xfrm>
            <a:prstGeom prst="rect">
              <a:avLst/>
            </a:prstGeom>
            <a:noFill/>
            <a:ln w="12700">
              <a:solidFill>
                <a:srgbClr val="000000"/>
              </a:solidFill>
              <a:prstDash val="dash"/>
              <a:miter lim="800000"/>
            </a:ln>
            <a:extLst>
              <a:ext uri="{909E8E84-426E-40DD-AFC4-6F175D3DCCD1}">
                <a14:hiddenFill xmlns:a14="http://schemas.microsoft.com/office/drawing/2010/main">
                  <a:solidFill>
                    <a:srgbClr val="FFFFFF"/>
                  </a:solidFill>
                </a14:hiddenFill>
              </a:ext>
            </a:extLst>
          </p:spPr>
          <p:txBody>
            <a:bodyPr lIns="0" tIns="0" rIns="0" bIns="29261"/>
            <a:lstStyle/>
            <a:p>
              <a:pPr>
                <a:lnSpc>
                  <a:spcPct val="96000"/>
                </a:lnSpc>
              </a:pPr>
              <a:r>
                <a:rPr lang="zh-CN" altLang="en-US" b="1">
                  <a:solidFill>
                    <a:srgbClr val="000000"/>
                  </a:solidFill>
                  <a:latin typeface="宋体" panose="02010600030101010101" pitchFamily="2" charset="-122"/>
                </a:rPr>
                <a:t>应用程序</a:t>
              </a:r>
              <a:r>
                <a:rPr lang="en-US" altLang="zh-CN" b="1">
                  <a:solidFill>
                    <a:srgbClr val="000000"/>
                  </a:solidFill>
                  <a:latin typeface="宋体" panose="02010600030101010101" pitchFamily="2" charset="-122"/>
                </a:rPr>
                <a:t>(</a:t>
              </a:r>
              <a:r>
                <a:rPr lang="zh-CN" altLang="en-US" b="1">
                  <a:solidFill>
                    <a:srgbClr val="000000"/>
                  </a:solidFill>
                  <a:latin typeface="宋体" panose="02010600030101010101" pitchFamily="2" charset="-122"/>
                </a:rPr>
                <a:t>主体部件</a:t>
              </a:r>
              <a:r>
                <a:rPr lang="en-US" altLang="zh-CN" b="1">
                  <a:solidFill>
                    <a:srgbClr val="000000"/>
                  </a:solidFill>
                  <a:latin typeface="宋体" panose="02010600030101010101" pitchFamily="2" charset="-122"/>
                </a:rPr>
                <a:t>)</a:t>
              </a:r>
              <a:endParaRPr lang="en-US" altLang="zh-CN"/>
            </a:p>
          </p:txBody>
        </p:sp>
        <p:grpSp>
          <p:nvGrpSpPr>
            <p:cNvPr id="33" name="Group 38"/>
            <p:cNvGrpSpPr/>
            <p:nvPr/>
          </p:nvGrpSpPr>
          <p:grpSpPr bwMode="auto">
            <a:xfrm>
              <a:off x="3128" y="4563"/>
              <a:ext cx="1298" cy="823"/>
              <a:chOff x="3228" y="4310"/>
              <a:chExt cx="2156" cy="1859"/>
            </a:xfrm>
          </p:grpSpPr>
          <p:sp>
            <p:nvSpPr>
              <p:cNvPr id="49" name="Rectangle 39"/>
              <p:cNvSpPr>
                <a:spLocks noChangeArrowheads="1"/>
              </p:cNvSpPr>
              <p:nvPr/>
            </p:nvSpPr>
            <p:spPr bwMode="auto">
              <a:xfrm>
                <a:off x="3228" y="4310"/>
                <a:ext cx="2144" cy="1859"/>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29261"/>
              <a:lstStyle/>
              <a:p>
                <a:pPr>
                  <a:lnSpc>
                    <a:spcPct val="96000"/>
                  </a:lnSpc>
                </a:pPr>
                <a:r>
                  <a:rPr lang="en-US" altLang="zh-CN" sz="1600" b="1">
                    <a:solidFill>
                      <a:srgbClr val="000000"/>
                    </a:solidFill>
                    <a:latin typeface="宋体" panose="02010600030101010101" pitchFamily="2" charset="-122"/>
                  </a:rPr>
                  <a:t>ClassA</a:t>
                </a:r>
                <a:endParaRPr lang="en-US" altLang="zh-CN" sz="1600"/>
              </a:p>
            </p:txBody>
          </p:sp>
          <p:sp>
            <p:nvSpPr>
              <p:cNvPr id="50" name="Line 40"/>
              <p:cNvSpPr>
                <a:spLocks noChangeShapeType="1"/>
              </p:cNvSpPr>
              <p:nvPr/>
            </p:nvSpPr>
            <p:spPr bwMode="auto">
              <a:xfrm>
                <a:off x="3228" y="5179"/>
                <a:ext cx="2144"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lIns="0" tIns="0" rIns="0"/>
              <a:lstStyle/>
              <a:p>
                <a:endParaRPr lang="zh-CN" altLang="en-US"/>
              </a:p>
            </p:txBody>
          </p:sp>
          <p:sp>
            <p:nvSpPr>
              <p:cNvPr id="51" name="Line 41"/>
              <p:cNvSpPr>
                <a:spLocks noChangeShapeType="1"/>
              </p:cNvSpPr>
              <p:nvPr/>
            </p:nvSpPr>
            <p:spPr bwMode="auto">
              <a:xfrm>
                <a:off x="3241" y="5687"/>
                <a:ext cx="2143"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lIns="0" tIns="0" rIns="0"/>
              <a:lstStyle/>
              <a:p>
                <a:endParaRPr lang="zh-CN" altLang="en-US"/>
              </a:p>
            </p:txBody>
          </p:sp>
        </p:grpSp>
        <p:grpSp>
          <p:nvGrpSpPr>
            <p:cNvPr id="34" name="Group 42"/>
            <p:cNvGrpSpPr/>
            <p:nvPr/>
          </p:nvGrpSpPr>
          <p:grpSpPr bwMode="auto">
            <a:xfrm>
              <a:off x="4898" y="4563"/>
              <a:ext cx="1181" cy="823"/>
              <a:chOff x="5984" y="4310"/>
              <a:chExt cx="2168" cy="1736"/>
            </a:xfrm>
          </p:grpSpPr>
          <p:sp>
            <p:nvSpPr>
              <p:cNvPr id="46" name="Rectangle 43"/>
              <p:cNvSpPr>
                <a:spLocks noChangeArrowheads="1"/>
              </p:cNvSpPr>
              <p:nvPr/>
            </p:nvSpPr>
            <p:spPr bwMode="auto">
              <a:xfrm>
                <a:off x="5984" y="4310"/>
                <a:ext cx="2143" cy="1736"/>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29261"/>
              <a:lstStyle/>
              <a:p>
                <a:pPr>
                  <a:lnSpc>
                    <a:spcPct val="96000"/>
                  </a:lnSpc>
                </a:pPr>
                <a:r>
                  <a:rPr lang="en-US" altLang="zh-CN" sz="1600" b="1">
                    <a:solidFill>
                      <a:srgbClr val="000000"/>
                    </a:solidFill>
                    <a:latin typeface="宋体" panose="02010600030101010101" pitchFamily="2" charset="-122"/>
                  </a:rPr>
                  <a:t>ClassB</a:t>
                </a:r>
                <a:endParaRPr lang="en-US" altLang="zh-CN" sz="1600"/>
              </a:p>
            </p:txBody>
          </p:sp>
          <p:sp>
            <p:nvSpPr>
              <p:cNvPr id="47" name="Line 44"/>
              <p:cNvSpPr>
                <a:spLocks noChangeShapeType="1"/>
              </p:cNvSpPr>
              <p:nvPr/>
            </p:nvSpPr>
            <p:spPr bwMode="auto">
              <a:xfrm>
                <a:off x="6008" y="5139"/>
                <a:ext cx="2144"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lIns="0" tIns="0" rIns="0"/>
              <a:lstStyle/>
              <a:p>
                <a:endParaRPr lang="zh-CN" altLang="en-US"/>
              </a:p>
            </p:txBody>
          </p:sp>
          <p:sp>
            <p:nvSpPr>
              <p:cNvPr id="48" name="Line 45"/>
              <p:cNvSpPr>
                <a:spLocks noChangeShapeType="1"/>
              </p:cNvSpPr>
              <p:nvPr/>
            </p:nvSpPr>
            <p:spPr bwMode="auto">
              <a:xfrm>
                <a:off x="5984" y="5644"/>
                <a:ext cx="2143"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lIns="0" tIns="0" rIns="0"/>
              <a:lstStyle/>
              <a:p>
                <a:endParaRPr lang="zh-CN" altLang="en-US"/>
              </a:p>
            </p:txBody>
          </p:sp>
        </p:grpSp>
        <p:grpSp>
          <p:nvGrpSpPr>
            <p:cNvPr id="35" name="Group 46"/>
            <p:cNvGrpSpPr/>
            <p:nvPr/>
          </p:nvGrpSpPr>
          <p:grpSpPr bwMode="auto">
            <a:xfrm>
              <a:off x="8202" y="4563"/>
              <a:ext cx="1063" cy="823"/>
              <a:chOff x="10885" y="4310"/>
              <a:chExt cx="2164" cy="1736"/>
            </a:xfrm>
          </p:grpSpPr>
          <p:sp>
            <p:nvSpPr>
              <p:cNvPr id="43" name="Rectangle 47"/>
              <p:cNvSpPr>
                <a:spLocks noChangeArrowheads="1"/>
              </p:cNvSpPr>
              <p:nvPr/>
            </p:nvSpPr>
            <p:spPr bwMode="auto">
              <a:xfrm>
                <a:off x="10885" y="4310"/>
                <a:ext cx="2143" cy="1736"/>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29261"/>
              <a:lstStyle/>
              <a:p>
                <a:pPr>
                  <a:lnSpc>
                    <a:spcPct val="96000"/>
                  </a:lnSpc>
                </a:pPr>
                <a:r>
                  <a:rPr lang="en-US" altLang="zh-CN" sz="1600" b="1">
                    <a:solidFill>
                      <a:srgbClr val="000000"/>
                    </a:solidFill>
                    <a:latin typeface="宋体" panose="02010600030101010101" pitchFamily="2" charset="-122"/>
                  </a:rPr>
                  <a:t>ClassC</a:t>
                </a:r>
                <a:endParaRPr lang="en-US" altLang="zh-CN" sz="1600"/>
              </a:p>
            </p:txBody>
          </p:sp>
          <p:sp>
            <p:nvSpPr>
              <p:cNvPr id="44" name="Line 48"/>
              <p:cNvSpPr>
                <a:spLocks noChangeShapeType="1"/>
              </p:cNvSpPr>
              <p:nvPr/>
            </p:nvSpPr>
            <p:spPr bwMode="auto">
              <a:xfrm>
                <a:off x="10885" y="5219"/>
                <a:ext cx="2143"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lIns="0" tIns="0" rIns="0"/>
              <a:lstStyle/>
              <a:p>
                <a:endParaRPr lang="zh-CN" altLang="en-US"/>
              </a:p>
            </p:txBody>
          </p:sp>
          <p:sp>
            <p:nvSpPr>
              <p:cNvPr id="45" name="Line 49"/>
              <p:cNvSpPr>
                <a:spLocks noChangeShapeType="1"/>
              </p:cNvSpPr>
              <p:nvPr/>
            </p:nvSpPr>
            <p:spPr bwMode="auto">
              <a:xfrm>
                <a:off x="10903" y="5644"/>
                <a:ext cx="2146" cy="0"/>
              </a:xfrm>
              <a:prstGeom prst="line">
                <a:avLst/>
              </a:prstGeom>
              <a:noFill/>
              <a:ln w="12700">
                <a:solidFill>
                  <a:srgbClr val="000000"/>
                </a:solidFill>
                <a:round/>
              </a:ln>
              <a:extLst>
                <a:ext uri="{909E8E84-426E-40DD-AFC4-6F175D3DCCD1}">
                  <a14:hiddenFill xmlns:a14="http://schemas.microsoft.com/office/drawing/2010/main">
                    <a:noFill/>
                  </a14:hiddenFill>
                </a:ext>
              </a:extLst>
            </p:spPr>
            <p:txBody>
              <a:bodyPr lIns="0" tIns="0" rIns="0"/>
              <a:lstStyle/>
              <a:p>
                <a:endParaRPr lang="zh-CN" altLang="en-US"/>
              </a:p>
            </p:txBody>
          </p:sp>
        </p:grpSp>
        <p:sp>
          <p:nvSpPr>
            <p:cNvPr id="36" name="Rectangle 50"/>
            <p:cNvSpPr>
              <a:spLocks noChangeArrowheads="1"/>
            </p:cNvSpPr>
            <p:nvPr/>
          </p:nvSpPr>
          <p:spPr bwMode="auto">
            <a:xfrm>
              <a:off x="6668" y="4627"/>
              <a:ext cx="828" cy="678"/>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29261"/>
            <a:lstStyle/>
            <a:p>
              <a:pPr algn="just"/>
              <a:r>
                <a:rPr lang="en-US" altLang="zh-CN" sz="1600" b="1">
                  <a:solidFill>
                    <a:srgbClr val="000000"/>
                  </a:solidFill>
                  <a:latin typeface="Times New Roman" panose="02020603050405020304" pitchFamily="18" charset="0"/>
                </a:rPr>
                <a:t>······</a:t>
              </a:r>
              <a:endParaRPr lang="en-US" altLang="zh-CN" sz="1600"/>
            </a:p>
          </p:txBody>
        </p:sp>
        <p:sp>
          <p:nvSpPr>
            <p:cNvPr id="37" name="Rectangle 51"/>
            <p:cNvSpPr>
              <a:spLocks noChangeArrowheads="1"/>
            </p:cNvSpPr>
            <p:nvPr/>
          </p:nvSpPr>
          <p:spPr bwMode="auto">
            <a:xfrm>
              <a:off x="3246" y="6651"/>
              <a:ext cx="6018" cy="506"/>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lIns="0" tIns="0" rIns="0" bIns="29261"/>
            <a:lstStyle/>
            <a:p>
              <a:pPr>
                <a:lnSpc>
                  <a:spcPct val="96000"/>
                </a:lnSpc>
              </a:pPr>
              <a:r>
                <a:rPr lang="zh-CN" altLang="en-US" b="1">
                  <a:solidFill>
                    <a:srgbClr val="000000"/>
                  </a:solidFill>
                  <a:latin typeface="宋体" panose="02010600030101010101" pitchFamily="2" charset="-122"/>
                </a:rPr>
                <a:t>数据管理系统</a:t>
              </a:r>
              <a:r>
                <a:rPr lang="en-US" altLang="zh-CN" b="1">
                  <a:solidFill>
                    <a:srgbClr val="000000"/>
                  </a:solidFill>
                  <a:latin typeface="宋体" panose="02010600030101010101" pitchFamily="2" charset="-122"/>
                </a:rPr>
                <a:t>(DBMS)</a:t>
              </a:r>
              <a:endParaRPr lang="en-US" altLang="zh-CN"/>
            </a:p>
          </p:txBody>
        </p:sp>
        <p:sp>
          <p:nvSpPr>
            <p:cNvPr id="38" name="Line 52"/>
            <p:cNvSpPr>
              <a:spLocks noChangeShapeType="1"/>
            </p:cNvSpPr>
            <p:nvPr/>
          </p:nvSpPr>
          <p:spPr bwMode="auto">
            <a:xfrm>
              <a:off x="3718" y="5386"/>
              <a:ext cx="1" cy="506"/>
            </a:xfrm>
            <a:prstGeom prst="line">
              <a:avLst/>
            </a:prstGeom>
            <a:noFill/>
            <a:ln w="12700">
              <a:solidFill>
                <a:srgbClr val="000000"/>
              </a:solidFill>
              <a:round/>
              <a:tailEnd type="triangle" w="med" len="med"/>
            </a:ln>
            <a:extLst>
              <a:ext uri="{909E8E84-426E-40DD-AFC4-6F175D3DCCD1}">
                <a14:hiddenFill xmlns:a14="http://schemas.microsoft.com/office/drawing/2010/main">
                  <a:noFill/>
                </a14:hiddenFill>
              </a:ext>
            </a:extLst>
          </p:spPr>
          <p:txBody>
            <a:bodyPr lIns="0" tIns="0" rIns="0"/>
            <a:lstStyle/>
            <a:p>
              <a:endParaRPr lang="zh-CN" altLang="en-US"/>
            </a:p>
          </p:txBody>
        </p:sp>
        <p:sp>
          <p:nvSpPr>
            <p:cNvPr id="39" name="Line 53"/>
            <p:cNvSpPr>
              <a:spLocks noChangeShapeType="1"/>
            </p:cNvSpPr>
            <p:nvPr/>
          </p:nvSpPr>
          <p:spPr bwMode="auto">
            <a:xfrm>
              <a:off x="5488" y="5386"/>
              <a:ext cx="1" cy="506"/>
            </a:xfrm>
            <a:prstGeom prst="line">
              <a:avLst/>
            </a:prstGeom>
            <a:noFill/>
            <a:ln w="12700">
              <a:solidFill>
                <a:srgbClr val="000000"/>
              </a:solidFill>
              <a:round/>
              <a:tailEnd type="triangle" w="med" len="med"/>
            </a:ln>
            <a:extLst>
              <a:ext uri="{909E8E84-426E-40DD-AFC4-6F175D3DCCD1}">
                <a14:hiddenFill xmlns:a14="http://schemas.microsoft.com/office/drawing/2010/main">
                  <a:noFill/>
                </a14:hiddenFill>
              </a:ext>
            </a:extLst>
          </p:spPr>
          <p:txBody>
            <a:bodyPr lIns="0" tIns="0" rIns="0"/>
            <a:lstStyle/>
            <a:p>
              <a:endParaRPr lang="zh-CN" altLang="en-US"/>
            </a:p>
          </p:txBody>
        </p:sp>
        <p:sp>
          <p:nvSpPr>
            <p:cNvPr id="40" name="Line 54"/>
            <p:cNvSpPr>
              <a:spLocks noChangeShapeType="1"/>
            </p:cNvSpPr>
            <p:nvPr/>
          </p:nvSpPr>
          <p:spPr bwMode="auto">
            <a:xfrm flipH="1">
              <a:off x="8674" y="5386"/>
              <a:ext cx="1" cy="506"/>
            </a:xfrm>
            <a:prstGeom prst="line">
              <a:avLst/>
            </a:prstGeom>
            <a:noFill/>
            <a:ln w="12700">
              <a:solidFill>
                <a:srgbClr val="000000"/>
              </a:solidFill>
              <a:round/>
              <a:tailEnd type="triangle" w="med" len="med"/>
            </a:ln>
            <a:extLst>
              <a:ext uri="{909E8E84-426E-40DD-AFC4-6F175D3DCCD1}">
                <a14:hiddenFill xmlns:a14="http://schemas.microsoft.com/office/drawing/2010/main">
                  <a:noFill/>
                </a14:hiddenFill>
              </a:ext>
            </a:extLst>
          </p:spPr>
          <p:txBody>
            <a:bodyPr lIns="0" tIns="0" rIns="0"/>
            <a:lstStyle/>
            <a:p>
              <a:endParaRPr lang="zh-CN" altLang="en-US"/>
            </a:p>
          </p:txBody>
        </p:sp>
        <p:sp>
          <p:nvSpPr>
            <p:cNvPr id="41" name="Rectangle 55"/>
            <p:cNvSpPr>
              <a:spLocks noChangeArrowheads="1"/>
            </p:cNvSpPr>
            <p:nvPr/>
          </p:nvSpPr>
          <p:spPr bwMode="auto">
            <a:xfrm>
              <a:off x="3246" y="5892"/>
              <a:ext cx="6018" cy="506"/>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lIns="56693" tIns="0" rIns="56693" bIns="28346"/>
            <a:lstStyle/>
            <a:p>
              <a:pPr>
                <a:lnSpc>
                  <a:spcPct val="96000"/>
                </a:lnSpc>
              </a:pPr>
              <a:r>
                <a:rPr lang="zh-CN" altLang="en-US" b="1" dirty="0">
                  <a:solidFill>
                    <a:srgbClr val="000000"/>
                  </a:solidFill>
                  <a:latin typeface="宋体" panose="02010600030101010101" pitchFamily="2" charset="-122"/>
                </a:rPr>
                <a:t>数据管理部件（</a:t>
              </a:r>
              <a:r>
                <a:rPr lang="en-US" altLang="zh-CN" b="1" dirty="0">
                  <a:solidFill>
                    <a:srgbClr val="000000"/>
                  </a:solidFill>
                  <a:latin typeface="宋体" panose="02010600030101010101" pitchFamily="2" charset="-122"/>
                </a:rPr>
                <a:t>DMC</a:t>
              </a:r>
              <a:r>
                <a:rPr lang="zh-CN" altLang="en-US" b="1" dirty="0">
                  <a:solidFill>
                    <a:srgbClr val="000000"/>
                  </a:solidFill>
                  <a:latin typeface="宋体" panose="02010600030101010101" pitchFamily="2" charset="-122"/>
                </a:rPr>
                <a:t>）</a:t>
              </a:r>
              <a:endParaRPr lang="zh-CN" altLang="en-US" dirty="0"/>
            </a:p>
          </p:txBody>
        </p:sp>
        <p:sp>
          <p:nvSpPr>
            <p:cNvPr id="42" name="Line 56"/>
            <p:cNvSpPr>
              <a:spLocks noChangeShapeType="1"/>
            </p:cNvSpPr>
            <p:nvPr/>
          </p:nvSpPr>
          <p:spPr bwMode="auto">
            <a:xfrm>
              <a:off x="6196" y="6398"/>
              <a:ext cx="1" cy="313"/>
            </a:xfrm>
            <a:prstGeom prst="line">
              <a:avLst/>
            </a:prstGeom>
            <a:noFill/>
            <a:ln w="1905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2" name="Rectangle 6"/>
          <p:cNvSpPr>
            <a:spLocks noChangeArrowheads="1"/>
          </p:cNvSpPr>
          <p:nvPr/>
        </p:nvSpPr>
        <p:spPr bwMode="auto">
          <a:xfrm>
            <a:off x="6851830" y="2542575"/>
            <a:ext cx="16208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878205" indent="-342900" eaLnBrk="0" hangingPunct="0">
              <a:defRPr>
                <a:solidFill>
                  <a:schemeClr val="tx1"/>
                </a:solidFill>
                <a:latin typeface="Arial" panose="020B0604020202020204" pitchFamily="34" charset="0"/>
                <a:ea typeface="宋体" panose="02010600030101010101" pitchFamily="2" charset="-122"/>
              </a:defRPr>
            </a:lvl2pPr>
            <a:lvl3pPr marL="1285875" indent="-228600" eaLnBrk="0" hangingPunct="0">
              <a:defRPr>
                <a:solidFill>
                  <a:schemeClr val="tx1"/>
                </a:solidFill>
                <a:latin typeface="Arial" panose="020B0604020202020204" pitchFamily="34" charset="0"/>
                <a:ea typeface="宋体" panose="02010600030101010101" pitchFamily="2" charset="-122"/>
              </a:defRPr>
            </a:lvl3pPr>
            <a:lvl4pPr marL="1694180" indent="-228600" eaLnBrk="0" hangingPunct="0">
              <a:defRPr>
                <a:solidFill>
                  <a:schemeClr val="tx1"/>
                </a:solidFill>
                <a:latin typeface="Arial" panose="020B0604020202020204" pitchFamily="34" charset="0"/>
                <a:ea typeface="宋体" panose="02010600030101010101" pitchFamily="2" charset="-122"/>
              </a:defRPr>
            </a:lvl4pPr>
            <a:lvl5pPr marL="2101850" indent="-228600" eaLnBrk="0" hangingPunct="0">
              <a:defRPr>
                <a:solidFill>
                  <a:schemeClr val="tx1"/>
                </a:solidFill>
                <a:latin typeface="Arial" panose="020B0604020202020204" pitchFamily="34" charset="0"/>
                <a:ea typeface="宋体" panose="02010600030101010101" pitchFamily="2" charset="-122"/>
              </a:defRPr>
            </a:lvl5pPr>
            <a:lvl6pPr marL="255905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1625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7345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930650" indent="-228600" algn="ctr"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5000"/>
              </a:spcBef>
              <a:buFont typeface="Wingdings" panose="05000000000000000000" pitchFamily="2" charset="2"/>
              <a:buNone/>
            </a:pPr>
            <a:r>
              <a:rPr lang="zh-CN" altLang="en-US" b="1" dirty="0"/>
              <a:t>应用程序与</a:t>
            </a:r>
            <a:r>
              <a:rPr lang="en-US" altLang="zh-CN" b="1" dirty="0" smtClean="0"/>
              <a:t>DBMS</a:t>
            </a:r>
            <a:r>
              <a:rPr lang="zh-CN" altLang="en-US" b="1" dirty="0" smtClean="0"/>
              <a:t>之间</a:t>
            </a:r>
            <a:r>
              <a:rPr lang="zh-CN" altLang="en-US" b="1" dirty="0"/>
              <a:t>增加数据管理层</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52"/>
                                        </p:tgtEl>
                                        <p:attrNameLst>
                                          <p:attrName>style.visibility</p:attrName>
                                        </p:attrNameLst>
                                      </p:cBhvr>
                                      <p:to>
                                        <p:strVal val="visible"/>
                                      </p:to>
                                    </p:set>
                                    <p:anim calcmode="lin" valueType="num">
                                      <p:cBhvr additive="base">
                                        <p:cTn id="12" dur="500" fill="hold"/>
                                        <p:tgtEl>
                                          <p:spTgt spid="52"/>
                                        </p:tgtEl>
                                        <p:attrNameLst>
                                          <p:attrName>ppt_x</p:attrName>
                                        </p:attrNameLst>
                                      </p:cBhvr>
                                      <p:tavLst>
                                        <p:tav tm="0">
                                          <p:val>
                                            <p:strVal val="#ppt_x"/>
                                          </p:val>
                                        </p:tav>
                                        <p:tav tm="100000">
                                          <p:val>
                                            <p:strVal val="#ppt_x"/>
                                          </p:val>
                                        </p:tav>
                                      </p:tavLst>
                                    </p:anim>
                                    <p:anim calcmode="lin" valueType="num">
                                      <p:cBhvr additive="base">
                                        <p:cTn id="13"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数据持久</a:t>
            </a:r>
            <a:r>
              <a:rPr lang="zh-CN" altLang="en-US" dirty="0" smtClean="0"/>
              <a:t>化方式</a:t>
            </a:r>
            <a:endParaRPr lang="zh-CN" altLang="en-US" dirty="0"/>
          </a:p>
        </p:txBody>
      </p:sp>
      <p:sp>
        <p:nvSpPr>
          <p:cNvPr id="2" name="内容占位符 1"/>
          <p:cNvSpPr>
            <a:spLocks noGrp="1"/>
          </p:cNvSpPr>
          <p:nvPr>
            <p:ph idx="1"/>
          </p:nvPr>
        </p:nvSpPr>
        <p:spPr/>
        <p:txBody>
          <a:bodyPr>
            <a:noAutofit/>
          </a:bodyPr>
          <a:lstStyle/>
          <a:p>
            <a:r>
              <a:rPr lang="zh-CN" altLang="en-US" sz="2400" dirty="0">
                <a:solidFill>
                  <a:srgbClr val="FF0000"/>
                </a:solidFill>
              </a:rPr>
              <a:t>数据的持久化</a:t>
            </a:r>
            <a:r>
              <a:rPr lang="zh-CN" altLang="en-US" sz="2400" dirty="0"/>
              <a:t>是指系统中要使用到的永久性数据或是系统产生的数据处理结果，将以什么样的形式进行保存。</a:t>
            </a:r>
            <a:endParaRPr lang="en-US" altLang="zh-CN" sz="2400" dirty="0"/>
          </a:p>
          <a:p>
            <a:pPr>
              <a:lnSpc>
                <a:spcPct val="110000"/>
              </a:lnSpc>
            </a:pPr>
            <a:r>
              <a:rPr lang="zh-CN" altLang="en-US" sz="2400" dirty="0" smtClean="0"/>
              <a:t>目前</a:t>
            </a:r>
            <a:r>
              <a:rPr lang="zh-CN" altLang="en-US" sz="2400" dirty="0"/>
              <a:t>的较为常见的主要有两种：</a:t>
            </a:r>
            <a:endParaRPr lang="en-US" altLang="zh-CN" sz="2400" dirty="0"/>
          </a:p>
          <a:p>
            <a:pPr marL="342900" indent="-342900">
              <a:buFont typeface="+mj-lt"/>
              <a:buAutoNum type="arabicPeriod"/>
            </a:pPr>
            <a:r>
              <a:rPr lang="zh-CN" altLang="en-US" sz="2000" dirty="0">
                <a:solidFill>
                  <a:srgbClr val="FF0000"/>
                </a:solidFill>
              </a:rPr>
              <a:t>数据库管理系统（</a:t>
            </a:r>
            <a:r>
              <a:rPr lang="en-US" altLang="zh-CN" sz="2000" dirty="0">
                <a:solidFill>
                  <a:srgbClr val="FF0000"/>
                </a:solidFill>
              </a:rPr>
              <a:t>DBMS</a:t>
            </a:r>
            <a:r>
              <a:rPr lang="zh-CN" altLang="en-US" sz="2000" dirty="0">
                <a:solidFill>
                  <a:srgbClr val="FF0000"/>
                </a:solidFill>
              </a:rPr>
              <a:t>）：</a:t>
            </a:r>
            <a:r>
              <a:rPr lang="zh-CN" altLang="en-US" sz="2000" dirty="0"/>
              <a:t>以数据库形式存储。可以实现数据的共享和安全存取。</a:t>
            </a:r>
            <a:endParaRPr lang="en-US" altLang="zh-CN" sz="2000" dirty="0"/>
          </a:p>
          <a:p>
            <a:pPr marL="342900" indent="-342900">
              <a:buFont typeface="+mj-lt"/>
              <a:buAutoNum type="arabicPeriod"/>
            </a:pPr>
            <a:r>
              <a:rPr lang="zh-CN" altLang="en-US" sz="2000" dirty="0">
                <a:solidFill>
                  <a:srgbClr val="FF0000"/>
                </a:solidFill>
              </a:rPr>
              <a:t>文件存储模式：</a:t>
            </a:r>
            <a:r>
              <a:rPr lang="zh-CN" altLang="en-US" sz="2000" dirty="0"/>
              <a:t>以文件形式存储。使用方便，例如系统的配置信息常以配置文件的形式存在，</a:t>
            </a:r>
            <a:r>
              <a:rPr lang="en-US" altLang="zh-CN" sz="2000" dirty="0"/>
              <a:t>XML</a:t>
            </a:r>
            <a:r>
              <a:rPr lang="zh-CN" altLang="en-US" sz="2000" dirty="0"/>
              <a:t>文件。但是面对大量数据的存取，文件在数据共享、存取速度、安全性等方面有所欠缺。</a:t>
            </a:r>
            <a:endParaRPr lang="en-US" altLang="zh-CN" sz="20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日期占位符 4"/>
          <p:cNvSpPr>
            <a:spLocks noGrp="1"/>
          </p:cNvSpPr>
          <p:nvPr>
            <p:ph type="dt" sz="half" idx="10"/>
          </p:nvPr>
        </p:nvSpPr>
        <p:spPr/>
        <p:txBody>
          <a:bodyPr/>
          <a:lstStyle/>
          <a:p>
            <a:fld id="{238F1E80-F46F-477F-BC14-A5E8CB8B806D}"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up)">
                                      <p:cBhvr>
                                        <p:cTn id="16" dur="500"/>
                                        <p:tgtEl>
                                          <p:spTgt spid="2">
                                            <p:txEl>
                                              <p:pRg st="2" end="2"/>
                                            </p:txEl>
                                          </p:spTgt>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wipe(up)">
                                      <p:cBhvr>
                                        <p:cTn id="20"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数据管理设计</a:t>
            </a:r>
            <a:endParaRPr lang="zh-CN" altLang="en-US" dirty="0"/>
          </a:p>
        </p:txBody>
      </p:sp>
      <p:sp>
        <p:nvSpPr>
          <p:cNvPr id="3" name="内容占位符 2"/>
          <p:cNvSpPr>
            <a:spLocks noGrp="1"/>
          </p:cNvSpPr>
          <p:nvPr>
            <p:ph idx="1"/>
          </p:nvPr>
        </p:nvSpPr>
        <p:spPr>
          <a:xfrm>
            <a:off x="768096" y="1075638"/>
            <a:ext cx="7832833" cy="3068099"/>
          </a:xfrm>
        </p:spPr>
        <p:txBody>
          <a:bodyPr>
            <a:noAutofit/>
          </a:bodyPr>
          <a:lstStyle/>
          <a:p>
            <a:pPr marL="342900" indent="-342900" algn="l">
              <a:lnSpc>
                <a:spcPct val="120000"/>
              </a:lnSpc>
            </a:pPr>
            <a:r>
              <a:rPr lang="zh-CN" altLang="en-US" sz="2400" dirty="0" smtClean="0"/>
              <a:t>数据管理</a:t>
            </a:r>
            <a:r>
              <a:rPr lang="zh-CN" altLang="en-US" sz="2400" dirty="0"/>
              <a:t>部件设计内容就是管理对象持久化和</a:t>
            </a:r>
            <a:r>
              <a:rPr lang="en-US" altLang="zh-CN" sz="2400" dirty="0"/>
              <a:t>OR</a:t>
            </a:r>
            <a:r>
              <a:rPr lang="zh-CN" altLang="en-US" sz="2400" dirty="0"/>
              <a:t>映射，这层也称为“数据隔离层”，或称持久化层。</a:t>
            </a:r>
            <a:endParaRPr lang="zh-CN" altLang="en-US" sz="2400" dirty="0"/>
          </a:p>
          <a:p>
            <a:pPr marL="342900" indent="-342900" algn="l">
              <a:lnSpc>
                <a:spcPct val="120000"/>
              </a:lnSpc>
            </a:pPr>
            <a:r>
              <a:rPr lang="zh-CN" altLang="en-US" sz="2400" dirty="0"/>
              <a:t>尽管访问数据对象不是直接访问</a:t>
            </a:r>
            <a:r>
              <a:rPr lang="en-US" altLang="zh-CN" sz="2400" dirty="0"/>
              <a:t>DBMS</a:t>
            </a:r>
            <a:r>
              <a:rPr lang="zh-CN" altLang="en-US" sz="2400" dirty="0"/>
              <a:t>，但最终还是要访问数据库，持久化层的底层技术是数据库的驱动</a:t>
            </a:r>
            <a:r>
              <a:rPr lang="zh-CN" altLang="en-US" sz="2400" dirty="0" smtClean="0"/>
              <a:t>接口。 </a:t>
            </a:r>
            <a:endParaRPr lang="en-US" altLang="zh-CN" sz="2400" dirty="0" smtClean="0"/>
          </a:p>
          <a:p>
            <a:pPr marL="342900" indent="-342900" algn="l">
              <a:lnSpc>
                <a:spcPct val="120000"/>
              </a:lnSpc>
            </a:pPr>
            <a:r>
              <a:rPr lang="zh-CN" altLang="en-US" sz="2400" dirty="0" smtClean="0"/>
              <a:t>采用</a:t>
            </a:r>
            <a:r>
              <a:rPr lang="zh-CN" altLang="en-US" sz="2400" dirty="0"/>
              <a:t>持久化框架可以大大降低持久层的设计和开发</a:t>
            </a:r>
            <a:r>
              <a:rPr lang="zh-CN" altLang="en-US" sz="2400" dirty="0" smtClean="0"/>
              <a:t>难度。</a:t>
            </a:r>
            <a:endParaRPr lang="zh-CN" altLang="en-US" sz="2400" dirty="0"/>
          </a:p>
        </p:txBody>
      </p:sp>
      <p:sp>
        <p:nvSpPr>
          <p:cNvPr id="4" name="日期占位符 3"/>
          <p:cNvSpPr>
            <a:spLocks noGrp="1"/>
          </p:cNvSpPr>
          <p:nvPr>
            <p:ph type="dt" sz="half" idx="10"/>
          </p:nvPr>
        </p:nvSpPr>
        <p:spPr/>
        <p:txBody>
          <a:bodyPr/>
          <a:lstStyle/>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数据库选择策略</a:t>
            </a:r>
            <a:endParaRPr lang="zh-CN" altLang="en-US" dirty="0"/>
          </a:p>
        </p:txBody>
      </p:sp>
      <p:sp>
        <p:nvSpPr>
          <p:cNvPr id="3" name="内容占位符 2"/>
          <p:cNvSpPr>
            <a:spLocks noGrp="1"/>
          </p:cNvSpPr>
          <p:nvPr>
            <p:ph idx="1"/>
          </p:nvPr>
        </p:nvSpPr>
        <p:spPr/>
        <p:txBody>
          <a:bodyPr/>
          <a:lstStyle/>
          <a:p>
            <a:pPr marL="0" indent="0" algn="ctr">
              <a:buNone/>
            </a:pPr>
            <a:r>
              <a:rPr lang="en-US" altLang="zh-CN" dirty="0" smtClean="0"/>
              <a:t>11.8 </a:t>
            </a:r>
            <a:r>
              <a:rPr lang="zh-CN" altLang="en-US" dirty="0" smtClean="0"/>
              <a:t>数据库选择策略</a:t>
            </a:r>
            <a:endParaRPr lang="en-US" altLang="zh-CN" dirty="0"/>
          </a:p>
          <a:p>
            <a:r>
              <a:rPr lang="zh-CN" altLang="en-US" dirty="0" smtClean="0"/>
              <a:t>常用数据库的介绍</a:t>
            </a:r>
            <a:endParaRPr lang="en-US" altLang="zh-CN" dirty="0" smtClean="0"/>
          </a:p>
          <a:p>
            <a:pPr lvl="1"/>
            <a:r>
              <a:rPr lang="en-US" altLang="zh-CN" dirty="0"/>
              <a:t>MySQL</a:t>
            </a:r>
            <a:r>
              <a:rPr lang="zh-CN" altLang="en-US" dirty="0"/>
              <a:t>、</a:t>
            </a:r>
            <a:r>
              <a:rPr lang="en-US" altLang="zh-CN" dirty="0" err="1" smtClean="0"/>
              <a:t>Redis</a:t>
            </a:r>
            <a:r>
              <a:rPr lang="zh-CN" altLang="en-US" dirty="0" smtClean="0"/>
              <a:t>、</a:t>
            </a:r>
            <a:r>
              <a:rPr lang="en-US" altLang="zh-CN" dirty="0" err="1" smtClean="0"/>
              <a:t>MangoDB</a:t>
            </a:r>
            <a:endParaRPr lang="zh-CN" altLang="en-US" dirty="0"/>
          </a:p>
        </p:txBody>
      </p:sp>
      <p:sp>
        <p:nvSpPr>
          <p:cNvPr id="4" name="日期占位符 3"/>
          <p:cNvSpPr>
            <a:spLocks noGrp="1"/>
          </p:cNvSpPr>
          <p:nvPr>
            <p:ph type="dt" sz="half" idx="10"/>
          </p:nvPr>
        </p:nvSpPr>
        <p:spPr/>
        <p:txBody>
          <a:bodyPr/>
          <a:lstStyle/>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p:cNvPicPr>
            <a:picLocks noChangeAspect="1" noChangeArrowheads="1"/>
          </p:cNvPicPr>
          <p:nvPr/>
        </p:nvPicPr>
        <p:blipFill rotWithShape="1">
          <a:blip r:embed="rId1" cstate="print"/>
          <a:srcRect t="8858" b="6775"/>
          <a:stretch>
            <a:fillRect/>
          </a:stretch>
        </p:blipFill>
        <p:spPr bwMode="auto">
          <a:xfrm>
            <a:off x="1141651" y="775235"/>
            <a:ext cx="68586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p:cNvSpPr/>
          <p:nvPr/>
        </p:nvSpPr>
        <p:spPr>
          <a:xfrm>
            <a:off x="4143876" y="2451460"/>
            <a:ext cx="5000124" cy="1526456"/>
          </a:xfrm>
          <a:prstGeom prst="rect">
            <a:avLst/>
          </a:prstGeom>
          <a:solidFill>
            <a:srgbClr val="0070C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5" name="矩形"/>
          <p:cNvSpPr/>
          <p:nvPr/>
        </p:nvSpPr>
        <p:spPr>
          <a:xfrm>
            <a:off x="0" y="2451460"/>
            <a:ext cx="4143875" cy="152645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6" name="矩形"/>
          <p:cNvSpPr/>
          <p:nvPr/>
        </p:nvSpPr>
        <p:spPr>
          <a:xfrm>
            <a:off x="1142325" y="2431210"/>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7" name="矩形"/>
          <p:cNvSpPr/>
          <p:nvPr/>
        </p:nvSpPr>
        <p:spPr>
          <a:xfrm>
            <a:off x="1142325" y="3977915"/>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10" name="文本"/>
          <p:cNvSpPr/>
          <p:nvPr/>
        </p:nvSpPr>
        <p:spPr>
          <a:xfrm>
            <a:off x="4191650" y="2938139"/>
            <a:ext cx="4904027" cy="400110"/>
          </a:xfrm>
          <a:prstGeom prst="rect">
            <a:avLst/>
          </a:prstGeom>
        </p:spPr>
        <p:txBody>
          <a:bodyPr wrap="square">
            <a:spAutoFit/>
          </a:bodyPr>
          <a:lstStyle/>
          <a:p>
            <a:pPr algn="ctr"/>
            <a:r>
              <a:rPr lang="zh-CN" altLang="en-US" sz="2000" b="1" spc="169" dirty="0">
                <a:solidFill>
                  <a:schemeClr val="bg1"/>
                </a:solidFill>
                <a:latin typeface="+mj-ea"/>
                <a:ea typeface="+mj-ea"/>
                <a:sym typeface="+mn-ea"/>
              </a:rPr>
              <a:t>工作</a:t>
            </a:r>
            <a:r>
              <a:rPr lang="zh-CN" altLang="en-US" sz="2000" b="1" spc="169" dirty="0" smtClean="0">
                <a:solidFill>
                  <a:schemeClr val="bg1"/>
                </a:solidFill>
                <a:latin typeface="+mj-ea"/>
                <a:ea typeface="+mj-ea"/>
                <a:sym typeface="+mn-ea"/>
              </a:rPr>
              <a:t>任务：</a:t>
            </a:r>
            <a:r>
              <a:rPr lang="zh-CN" altLang="en-US" sz="2000" b="1" spc="169" dirty="0" smtClean="0">
                <a:solidFill>
                  <a:schemeClr val="bg1"/>
                </a:solidFill>
                <a:latin typeface="+mj-ea"/>
                <a:ea typeface="+mj-ea"/>
                <a:sym typeface="+mn-ea"/>
              </a:rPr>
              <a:t>完成系统数据库设计</a:t>
            </a:r>
            <a:endParaRPr lang="zh-CN" altLang="en-US" sz="2000" b="1" spc="169" dirty="0">
              <a:solidFill>
                <a:schemeClr val="bg1"/>
              </a:solidFill>
              <a:latin typeface="+mj-ea"/>
              <a:ea typeface="+mj-ea"/>
              <a:sym typeface="+mn-ea"/>
            </a:endParaRPr>
          </a:p>
        </p:txBody>
      </p:sp>
      <p:sp>
        <p:nvSpPr>
          <p:cNvPr id="4" name="日期占位符 3"/>
          <p:cNvSpPr>
            <a:spLocks noGrp="1"/>
          </p:cNvSpPr>
          <p:nvPr>
            <p:ph type="dt" sz="half" idx="10"/>
          </p:nvPr>
        </p:nvSpPr>
        <p:spPr/>
        <p:txBody>
          <a:bodyPr/>
          <a:lstStyle/>
          <a:p>
            <a:fld id="{9220F4FE-C3A2-467F-9B33-773170A47F66}"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smtClean="0"/>
              <a:t>软件工程</a:t>
            </a:r>
            <a:endParaRPr lang="zh-CN" altLang="en-US" dirty="0"/>
          </a:p>
        </p:txBody>
      </p:sp>
      <p:sp>
        <p:nvSpPr>
          <p:cNvPr id="11" name="灯片编号占位符 10"/>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16" presetClass="entr" presetSubtype="37"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outVertical)">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6" grpId="0" bldLvl="0" animBg="1"/>
      <p:bldP spid="7" grpId="0" bldLvl="0" animBg="1"/>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45" name="Picture 21"/>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3806" t="3441" r="5730" b="3363"/>
          <a:stretch>
            <a:fillRect/>
          </a:stretch>
        </p:blipFill>
        <p:spPr bwMode="auto">
          <a:xfrm>
            <a:off x="1598201" y="700819"/>
            <a:ext cx="6145262" cy="4328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标题 5"/>
          <p:cNvSpPr>
            <a:spLocks noGrp="1"/>
          </p:cNvSpPr>
          <p:nvPr>
            <p:ph type="title"/>
          </p:nvPr>
        </p:nvSpPr>
        <p:spPr/>
        <p:txBody>
          <a:bodyPr/>
          <a:lstStyle/>
          <a:p>
            <a:r>
              <a:rPr lang="zh-CN" altLang="en-US" dirty="0">
                <a:latin typeface="+mj-ea"/>
              </a:rPr>
              <a:t>网上报名系统的数据建模</a:t>
            </a:r>
            <a:r>
              <a:rPr lang="en-US" altLang="zh-CN" dirty="0">
                <a:latin typeface="+mj-ea"/>
              </a:rPr>
              <a:t>——</a:t>
            </a:r>
            <a:r>
              <a:rPr lang="zh-CN" altLang="en-US" dirty="0">
                <a:latin typeface="+mj-ea"/>
              </a:rPr>
              <a:t>领域类</a:t>
            </a:r>
            <a:r>
              <a:rPr lang="zh-CN" altLang="en-US" dirty="0" smtClean="0">
                <a:latin typeface="+mj-ea"/>
              </a:rPr>
              <a:t>图</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日期占位符 6"/>
          <p:cNvSpPr>
            <a:spLocks noGrp="1"/>
          </p:cNvSpPr>
          <p:nvPr>
            <p:ph type="dt" sz="half" idx="10"/>
          </p:nvPr>
        </p:nvSpPr>
        <p:spPr/>
        <p:txBody>
          <a:bodyPr/>
          <a:lstStyle/>
          <a:p>
            <a:fld id="{35CAAF1A-7BC0-4EF2-87B0-02F0828638DD}" type="datetime1">
              <a:rPr lang="zh-CN" altLang="en-US" smtClean="0"/>
            </a:fld>
            <a:endParaRPr lang="zh-CN" altLang="en-US"/>
          </a:p>
        </p:txBody>
      </p:sp>
      <p:sp>
        <p:nvSpPr>
          <p:cNvPr id="9" name="页脚占位符 8"/>
          <p:cNvSpPr>
            <a:spLocks noGrp="1"/>
          </p:cNvSpPr>
          <p:nvPr>
            <p:ph type="ftr" sz="quarter" idx="11"/>
          </p:nvPr>
        </p:nvSpPr>
        <p:spPr/>
        <p:txBody>
          <a:bodyPr/>
          <a:lstStyle/>
          <a:p>
            <a:r>
              <a:rPr lang="zh-CN" altLang="en-US" smtClean="0"/>
              <a:t>软件工程</a:t>
            </a:r>
            <a:endParaRPr lang="zh-CN"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5"/>
          <p:cNvSpPr txBox="1">
            <a:spLocks noChangeArrowheads="1"/>
          </p:cNvSpPr>
          <p:nvPr/>
        </p:nvSpPr>
        <p:spPr bwMode="auto">
          <a:xfrm>
            <a:off x="846320" y="1037193"/>
            <a:ext cx="8011929" cy="3024097"/>
          </a:xfrm>
          <a:prstGeom prst="rect">
            <a:avLst/>
          </a:prstGeom>
          <a:noFill/>
          <a:ln w="9525" algn="ctr">
            <a:noFill/>
            <a:miter lim="800000"/>
          </a:ln>
          <a:effectLst/>
        </p:spPr>
        <p:txBody>
          <a:bodyPr wrap="square" lIns="80963" tIns="40481" rIns="80963" bIns="40481">
            <a:spAutoFit/>
          </a:bodyPr>
          <a:lstStyle/>
          <a:p>
            <a:pPr marL="257175" indent="-257175">
              <a:lnSpc>
                <a:spcPct val="130000"/>
              </a:lnSpc>
              <a:spcBef>
                <a:spcPts val="900"/>
              </a:spcBef>
              <a:buFont typeface="Arial" panose="020B0604020202020204" pitchFamily="34" charset="0"/>
              <a:buChar char="•"/>
            </a:pPr>
            <a:r>
              <a:rPr lang="zh-CN" altLang="en-US" sz="2400" b="1" dirty="0">
                <a:latin typeface="+mj-ea"/>
                <a:ea typeface="+mj-ea"/>
              </a:rPr>
              <a:t>根据用户访谈得知，更新</a:t>
            </a:r>
            <a:r>
              <a:rPr lang="zh-CN" altLang="en-US" sz="2400" b="1" dirty="0" smtClean="0">
                <a:latin typeface="+mj-ea"/>
                <a:ea typeface="+mj-ea"/>
              </a:rPr>
              <a:t>需求：</a:t>
            </a:r>
            <a:endParaRPr lang="en-US" altLang="zh-CN" sz="2400" b="1" dirty="0">
              <a:latin typeface="+mj-ea"/>
              <a:ea typeface="+mj-ea"/>
            </a:endParaRPr>
          </a:p>
          <a:p>
            <a:pPr marL="342900" indent="-342900">
              <a:lnSpc>
                <a:spcPct val="130000"/>
              </a:lnSpc>
              <a:spcBef>
                <a:spcPts val="900"/>
              </a:spcBef>
              <a:buFont typeface="+mj-lt"/>
              <a:buAutoNum type="arabicPeriod"/>
            </a:pPr>
            <a:r>
              <a:rPr lang="zh-CN" altLang="en-US" sz="2000" dirty="0">
                <a:latin typeface="+mj-ea"/>
                <a:ea typeface="+mj-ea"/>
              </a:rPr>
              <a:t>用户需添加“邮箱” 、“身份证号”。</a:t>
            </a:r>
            <a:endParaRPr lang="en-US" altLang="zh-CN" sz="2000" dirty="0">
              <a:latin typeface="+mj-ea"/>
              <a:ea typeface="+mj-ea"/>
            </a:endParaRPr>
          </a:p>
          <a:p>
            <a:pPr marL="342900" indent="-342900">
              <a:lnSpc>
                <a:spcPct val="130000"/>
              </a:lnSpc>
              <a:spcBef>
                <a:spcPts val="900"/>
              </a:spcBef>
              <a:buFont typeface="+mj-lt"/>
              <a:buAutoNum type="arabicPeriod"/>
            </a:pPr>
            <a:r>
              <a:rPr lang="zh-CN" altLang="en-US" sz="2000" dirty="0">
                <a:latin typeface="+mj-ea"/>
                <a:ea typeface="+mj-ea"/>
              </a:rPr>
              <a:t>单位需增加“负责人”。</a:t>
            </a:r>
            <a:endParaRPr lang="en-US" altLang="zh-CN" sz="2000" dirty="0">
              <a:latin typeface="+mj-ea"/>
              <a:ea typeface="+mj-ea"/>
            </a:endParaRPr>
          </a:p>
          <a:p>
            <a:pPr marL="342900" indent="-342900">
              <a:lnSpc>
                <a:spcPct val="130000"/>
              </a:lnSpc>
              <a:spcBef>
                <a:spcPts val="900"/>
              </a:spcBef>
              <a:buFont typeface="+mj-lt"/>
              <a:buAutoNum type="arabicPeriod"/>
            </a:pPr>
            <a:r>
              <a:rPr lang="zh-CN" altLang="en-US" sz="2000" dirty="0">
                <a:latin typeface="+mj-ea"/>
                <a:ea typeface="+mj-ea"/>
              </a:rPr>
              <a:t>参赛单位信息后台不做管理，参赛运动员报名中增加“领队”、“医生”、“工作人员”。</a:t>
            </a:r>
            <a:endParaRPr lang="en-US" altLang="zh-CN" sz="2000" dirty="0">
              <a:latin typeface="+mj-ea"/>
              <a:ea typeface="+mj-ea"/>
            </a:endParaRPr>
          </a:p>
          <a:p>
            <a:pPr marL="342900" indent="-342900">
              <a:lnSpc>
                <a:spcPct val="130000"/>
              </a:lnSpc>
              <a:spcBef>
                <a:spcPts val="900"/>
              </a:spcBef>
              <a:buFont typeface="+mj-lt"/>
              <a:buAutoNum type="arabicPeriod"/>
            </a:pPr>
            <a:r>
              <a:rPr lang="zh-CN" altLang="en-US" sz="2000" dirty="0">
                <a:latin typeface="+mj-ea"/>
                <a:ea typeface="+mj-ea"/>
              </a:rPr>
              <a:t>赛事需加入赛事状态一项，用于运动员报名操作。</a:t>
            </a:r>
            <a:endParaRPr lang="zh-CN" altLang="en-US" sz="2000" dirty="0">
              <a:latin typeface="+mj-ea"/>
              <a:ea typeface="+mj-ea"/>
            </a:endParaRPr>
          </a:p>
        </p:txBody>
      </p:sp>
      <p:sp>
        <p:nvSpPr>
          <p:cNvPr id="5" name="标题 4"/>
          <p:cNvSpPr>
            <a:spLocks noGrp="1"/>
          </p:cNvSpPr>
          <p:nvPr>
            <p:ph type="title"/>
          </p:nvPr>
        </p:nvSpPr>
        <p:spPr/>
        <p:txBody>
          <a:bodyPr/>
          <a:lstStyle/>
          <a:p>
            <a:r>
              <a:rPr lang="zh-CN" altLang="en-US" dirty="0">
                <a:latin typeface="+mj-ea"/>
              </a:rPr>
              <a:t>网上报名系统的数据建模</a:t>
            </a:r>
            <a:r>
              <a:rPr lang="en-US" altLang="zh-CN" dirty="0">
                <a:latin typeface="+mj-ea"/>
              </a:rPr>
              <a:t>——</a:t>
            </a:r>
            <a:r>
              <a:rPr lang="zh-CN" altLang="en-US" dirty="0">
                <a:latin typeface="+mj-ea"/>
              </a:rPr>
              <a:t>领域类</a:t>
            </a:r>
            <a:r>
              <a:rPr lang="zh-CN" altLang="en-US" dirty="0" smtClean="0">
                <a:latin typeface="+mj-ea"/>
              </a:rPr>
              <a:t>图</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日期占位符 6"/>
          <p:cNvSpPr>
            <a:spLocks noGrp="1"/>
          </p:cNvSpPr>
          <p:nvPr>
            <p:ph type="dt" sz="half" idx="10"/>
          </p:nvPr>
        </p:nvSpPr>
        <p:spPr/>
        <p:txBody>
          <a:bodyPr/>
          <a:lstStyle/>
          <a:p>
            <a:fld id="{447191A1-618D-4F6C-9913-37BB7D3378B2}"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smtClean="0"/>
              <a:t>软件工程</a:t>
            </a:r>
            <a:endParaRPr lang="zh-CN" alt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4" name="Picture 8"/>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3460" t="3914" r="5711" b="3951"/>
          <a:stretch>
            <a:fillRect/>
          </a:stretch>
        </p:blipFill>
        <p:spPr bwMode="auto">
          <a:xfrm>
            <a:off x="1470068" y="671333"/>
            <a:ext cx="6122923" cy="4284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p:txBody>
          <a:bodyPr/>
          <a:lstStyle/>
          <a:p>
            <a:r>
              <a:rPr lang="zh-CN" altLang="en-US" dirty="0">
                <a:latin typeface="+mj-ea"/>
              </a:rPr>
              <a:t>修改后的领域类</a:t>
            </a:r>
            <a:r>
              <a:rPr lang="zh-CN" altLang="en-US" dirty="0" smtClean="0">
                <a:latin typeface="+mj-ea"/>
              </a:rPr>
              <a:t>图</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1A089616-F25C-49DF-AA1E-2243A8D61E17}"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5"/>
          <p:cNvSpPr txBox="1">
            <a:spLocks noChangeArrowheads="1"/>
          </p:cNvSpPr>
          <p:nvPr/>
        </p:nvSpPr>
        <p:spPr bwMode="auto">
          <a:xfrm>
            <a:off x="795662" y="1046730"/>
            <a:ext cx="7943223" cy="2482410"/>
          </a:xfrm>
          <a:prstGeom prst="rect">
            <a:avLst/>
          </a:prstGeom>
          <a:noFill/>
          <a:ln w="9525" algn="ctr">
            <a:noFill/>
            <a:miter lim="800000"/>
          </a:ln>
          <a:effectLst/>
        </p:spPr>
        <p:txBody>
          <a:bodyPr wrap="square" lIns="80963" tIns="40481" rIns="80963" bIns="40481">
            <a:spAutoFit/>
          </a:bodyPr>
          <a:lstStyle/>
          <a:p>
            <a:pPr algn="l">
              <a:lnSpc>
                <a:spcPct val="130000"/>
              </a:lnSpc>
            </a:pPr>
            <a:r>
              <a:rPr lang="zh-CN" altLang="en-US" sz="2400" dirty="0">
                <a:solidFill>
                  <a:schemeClr val="accent1">
                    <a:lumMod val="50000"/>
                  </a:schemeClr>
                </a:solidFill>
                <a:latin typeface="+mj-ea"/>
                <a:ea typeface="+mj-ea"/>
              </a:rPr>
              <a:t>      领域类图描述的是系统中的数据对象，又称为 </a:t>
            </a:r>
            <a:r>
              <a:rPr lang="en-US" altLang="zh-CN" sz="2400" dirty="0">
                <a:solidFill>
                  <a:schemeClr val="accent1">
                    <a:lumMod val="50000"/>
                  </a:schemeClr>
                </a:solidFill>
                <a:latin typeface="+mj-ea"/>
                <a:ea typeface="+mj-ea"/>
              </a:rPr>
              <a:t>Object Model</a:t>
            </a:r>
            <a:r>
              <a:rPr lang="zh-CN" altLang="en-US" sz="2400" dirty="0">
                <a:solidFill>
                  <a:schemeClr val="accent1">
                    <a:lumMod val="50000"/>
                  </a:schemeClr>
                </a:solidFill>
                <a:latin typeface="+mj-ea"/>
                <a:ea typeface="+mj-ea"/>
              </a:rPr>
              <a:t>，属于概念级别的模型，需要映射为表（</a:t>
            </a:r>
            <a:r>
              <a:rPr lang="en-US" altLang="zh-CN" sz="2400" dirty="0">
                <a:solidFill>
                  <a:schemeClr val="accent1">
                    <a:lumMod val="50000"/>
                  </a:schemeClr>
                </a:solidFill>
                <a:latin typeface="+mj-ea"/>
                <a:ea typeface="+mj-ea"/>
              </a:rPr>
              <a:t>Data Model</a:t>
            </a:r>
            <a:r>
              <a:rPr lang="zh-CN" altLang="en-US" sz="2400" dirty="0">
                <a:solidFill>
                  <a:schemeClr val="accent1">
                    <a:lumMod val="50000"/>
                  </a:schemeClr>
                </a:solidFill>
                <a:latin typeface="+mj-ea"/>
                <a:ea typeface="+mj-ea"/>
              </a:rPr>
              <a:t>）才能被计算机存储</a:t>
            </a:r>
            <a:r>
              <a:rPr lang="zh-CN" altLang="en-US" sz="2400" dirty="0" smtClean="0">
                <a:solidFill>
                  <a:schemeClr val="accent1">
                    <a:lumMod val="50000"/>
                  </a:schemeClr>
                </a:solidFill>
                <a:latin typeface="+mj-ea"/>
                <a:ea typeface="+mj-ea"/>
              </a:rPr>
              <a:t>。</a:t>
            </a:r>
            <a:endParaRPr lang="en-US" altLang="zh-CN" sz="2400" dirty="0" smtClean="0">
              <a:solidFill>
                <a:schemeClr val="accent1">
                  <a:lumMod val="50000"/>
                </a:schemeClr>
              </a:solidFill>
              <a:latin typeface="+mj-ea"/>
              <a:ea typeface="+mj-ea"/>
            </a:endParaRPr>
          </a:p>
          <a:p>
            <a:pPr algn="l">
              <a:lnSpc>
                <a:spcPct val="130000"/>
              </a:lnSpc>
            </a:pPr>
            <a:endParaRPr lang="en-US" altLang="zh-CN" sz="2400" dirty="0">
              <a:solidFill>
                <a:schemeClr val="accent1">
                  <a:lumMod val="50000"/>
                </a:schemeClr>
              </a:solidFill>
              <a:latin typeface="+mj-ea"/>
              <a:ea typeface="+mj-ea"/>
            </a:endParaRPr>
          </a:p>
          <a:p>
            <a:pPr algn="ctr">
              <a:lnSpc>
                <a:spcPct val="130000"/>
              </a:lnSpc>
            </a:pPr>
            <a:r>
              <a:rPr lang="zh-CN" altLang="en-US" sz="2400" dirty="0">
                <a:solidFill>
                  <a:schemeClr val="accent1">
                    <a:lumMod val="50000"/>
                  </a:schemeClr>
                </a:solidFill>
                <a:latin typeface="+mj-ea"/>
                <a:ea typeface="+mj-ea"/>
              </a:rPr>
              <a:t>根据领域类图，可以进行数据库</a:t>
            </a:r>
            <a:r>
              <a:rPr lang="zh-CN" altLang="en-US" sz="2400" dirty="0" smtClean="0">
                <a:solidFill>
                  <a:schemeClr val="accent1">
                    <a:lumMod val="50000"/>
                  </a:schemeClr>
                </a:solidFill>
                <a:latin typeface="+mj-ea"/>
                <a:ea typeface="+mj-ea"/>
              </a:rPr>
              <a:t>设计。</a:t>
            </a:r>
            <a:endParaRPr lang="zh-CN" altLang="en-US" sz="2400" dirty="0">
              <a:solidFill>
                <a:schemeClr val="accent1">
                  <a:lumMod val="50000"/>
                </a:schemeClr>
              </a:solidFill>
              <a:latin typeface="+mj-ea"/>
              <a:ea typeface="+mj-ea"/>
            </a:endParaRPr>
          </a:p>
        </p:txBody>
      </p:sp>
      <p:sp>
        <p:nvSpPr>
          <p:cNvPr id="2" name="标题 1"/>
          <p:cNvSpPr>
            <a:spLocks noGrp="1"/>
          </p:cNvSpPr>
          <p:nvPr>
            <p:ph type="title"/>
          </p:nvPr>
        </p:nvSpPr>
        <p:spPr/>
        <p:txBody>
          <a:bodyPr/>
          <a:lstStyle/>
          <a:p>
            <a:r>
              <a:rPr lang="zh-CN" altLang="en-US" dirty="0">
                <a:latin typeface="+mj-ea"/>
              </a:rPr>
              <a:t>网上报名系统的数据建模</a:t>
            </a:r>
            <a:r>
              <a:rPr lang="en-US" altLang="zh-CN" dirty="0">
                <a:latin typeface="+mj-ea"/>
              </a:rPr>
              <a:t>——</a:t>
            </a:r>
            <a:r>
              <a:rPr lang="zh-CN" altLang="en-US" dirty="0">
                <a:latin typeface="+mj-ea"/>
              </a:rPr>
              <a:t>领域类</a:t>
            </a:r>
            <a:r>
              <a:rPr lang="zh-CN" altLang="en-US" dirty="0" smtClean="0">
                <a:latin typeface="+mj-ea"/>
              </a:rPr>
              <a:t>图</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3" name="日期占位符 2"/>
          <p:cNvSpPr>
            <a:spLocks noGrp="1"/>
          </p:cNvSpPr>
          <p:nvPr>
            <p:ph type="dt" sz="half" idx="10"/>
          </p:nvPr>
        </p:nvSpPr>
        <p:spPr/>
        <p:txBody>
          <a:bodyPr/>
          <a:lstStyle/>
          <a:p>
            <a:fld id="{CB236DD9-47E3-4206-9055-4E72792ACB88}"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r>
              <a:rPr lang="zh-CN" altLang="en-US" dirty="0" smtClean="0"/>
              <a:t>数据库设计</a:t>
            </a:r>
            <a:r>
              <a:rPr lang="zh-CN" altLang="en-US" dirty="0"/>
              <a:t>原则</a:t>
            </a:r>
            <a:endParaRPr lang="zh-CN" altLang="en-US" dirty="0"/>
          </a:p>
        </p:txBody>
      </p:sp>
      <p:sp>
        <p:nvSpPr>
          <p:cNvPr id="215043" name="Rectangle 3"/>
          <p:cNvSpPr>
            <a:spLocks noGrp="1" noChangeArrowheads="1"/>
          </p:cNvSpPr>
          <p:nvPr>
            <p:ph idx="1"/>
          </p:nvPr>
        </p:nvSpPr>
        <p:spPr>
          <a:xfrm>
            <a:off x="768097" y="1134319"/>
            <a:ext cx="7832833" cy="3597702"/>
          </a:xfrm>
        </p:spPr>
        <p:txBody>
          <a:bodyPr>
            <a:normAutofit/>
          </a:bodyPr>
          <a:lstStyle/>
          <a:p>
            <a:pPr marL="0" indent="-311785">
              <a:lnSpc>
                <a:spcPct val="90000"/>
              </a:lnSpc>
            </a:pPr>
            <a:r>
              <a:rPr lang="zh-CN" altLang="en-US" sz="2400" dirty="0" smtClean="0"/>
              <a:t>每</a:t>
            </a:r>
            <a:r>
              <a:rPr lang="zh-CN" altLang="en-US" sz="2400" dirty="0"/>
              <a:t>一个类成为一个数据库表。</a:t>
            </a:r>
            <a:endParaRPr lang="zh-CN" altLang="en-US" sz="2400" dirty="0"/>
          </a:p>
          <a:p>
            <a:pPr marL="0" indent="-311785">
              <a:lnSpc>
                <a:spcPct val="90000"/>
              </a:lnSpc>
            </a:pPr>
            <a:r>
              <a:rPr lang="zh-CN" altLang="en-US" sz="2400" dirty="0"/>
              <a:t>关系映射：</a:t>
            </a:r>
            <a:endParaRPr lang="zh-CN" altLang="en-US" sz="2400" dirty="0"/>
          </a:p>
          <a:p>
            <a:pPr marL="651510" lvl="1" indent="-311785">
              <a:lnSpc>
                <a:spcPct val="90000"/>
              </a:lnSpc>
              <a:buFontTx/>
              <a:buAutoNum type="arabicPeriod"/>
            </a:pPr>
            <a:r>
              <a:rPr lang="zh-CN" altLang="en-US" sz="2000" dirty="0"/>
              <a:t>一对多的关系映射为数据库表的主外键关联（</a:t>
            </a:r>
            <a:r>
              <a:rPr lang="en-US" altLang="zh-CN" sz="2000" dirty="0"/>
              <a:t>1</a:t>
            </a:r>
            <a:r>
              <a:rPr lang="zh-CN" altLang="en-US" sz="2000" dirty="0"/>
              <a:t>方的主键加入</a:t>
            </a:r>
            <a:r>
              <a:rPr lang="en-US" altLang="zh-CN" sz="2000" dirty="0"/>
              <a:t>n</a:t>
            </a:r>
            <a:r>
              <a:rPr lang="zh-CN" altLang="en-US" sz="2000" dirty="0"/>
              <a:t>方成为外键）</a:t>
            </a:r>
            <a:endParaRPr lang="zh-CN" altLang="en-US" sz="2000" dirty="0"/>
          </a:p>
          <a:p>
            <a:pPr marL="651510" lvl="1" indent="-311785">
              <a:lnSpc>
                <a:spcPct val="90000"/>
              </a:lnSpc>
              <a:buFontTx/>
              <a:buAutoNum type="arabicPeriod"/>
            </a:pPr>
            <a:r>
              <a:rPr lang="zh-CN" altLang="en-US" sz="2000" dirty="0"/>
              <a:t>一对一的关系映射为数据库表的主外键关联（</a:t>
            </a:r>
            <a:r>
              <a:rPr lang="en-US" altLang="zh-CN" sz="2000" dirty="0"/>
              <a:t>1</a:t>
            </a:r>
            <a:r>
              <a:rPr lang="zh-CN" altLang="en-US" sz="2000" dirty="0"/>
              <a:t>方的 主键加入另一方成为外键）</a:t>
            </a:r>
            <a:endParaRPr lang="zh-CN" altLang="en-US" sz="2000" dirty="0"/>
          </a:p>
          <a:p>
            <a:pPr marL="651510" lvl="1" indent="-311785">
              <a:lnSpc>
                <a:spcPct val="90000"/>
              </a:lnSpc>
              <a:buFontTx/>
              <a:buAutoNum type="arabicPeriod"/>
            </a:pPr>
            <a:r>
              <a:rPr lang="zh-CN" altLang="en-US" sz="2000" dirty="0"/>
              <a:t>多对多的关系映射：产生第三张表，将两个多方的主键加入其中成为外键，两个外键的组合成为主键</a:t>
            </a:r>
            <a:r>
              <a:rPr lang="zh-CN" altLang="en-US" sz="2000" dirty="0" smtClean="0"/>
              <a:t>。</a:t>
            </a:r>
            <a:endParaRPr lang="zh-CN" altLang="en-US" sz="20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fld id="{FF73DEBF-3383-4B50-B03D-12C646635C33}"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15043">
                                            <p:txEl>
                                              <p:pRg st="0" end="0"/>
                                            </p:txEl>
                                          </p:spTgt>
                                        </p:tgtEl>
                                        <p:attrNameLst>
                                          <p:attrName>style.visibility</p:attrName>
                                        </p:attrNameLst>
                                      </p:cBhvr>
                                      <p:to>
                                        <p:strVal val="visible"/>
                                      </p:to>
                                    </p:set>
                                    <p:animEffect transition="in" filter="wipe(up)">
                                      <p:cBhvr>
                                        <p:cTn id="7" dur="500"/>
                                        <p:tgtEl>
                                          <p:spTgt spid="2150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15043">
                                            <p:txEl>
                                              <p:pRg st="1" end="1"/>
                                            </p:txEl>
                                          </p:spTgt>
                                        </p:tgtEl>
                                        <p:attrNameLst>
                                          <p:attrName>style.visibility</p:attrName>
                                        </p:attrNameLst>
                                      </p:cBhvr>
                                      <p:to>
                                        <p:strVal val="visible"/>
                                      </p:to>
                                    </p:set>
                                    <p:animEffect transition="in" filter="wipe(up)">
                                      <p:cBhvr>
                                        <p:cTn id="12" dur="500"/>
                                        <p:tgtEl>
                                          <p:spTgt spid="215043">
                                            <p:txEl>
                                              <p:pRg st="1" end="1"/>
                                            </p:txEl>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215043">
                                            <p:txEl>
                                              <p:pRg st="2" end="2"/>
                                            </p:txEl>
                                          </p:spTgt>
                                        </p:tgtEl>
                                        <p:attrNameLst>
                                          <p:attrName>style.visibility</p:attrName>
                                        </p:attrNameLst>
                                      </p:cBhvr>
                                      <p:to>
                                        <p:strVal val="visible"/>
                                      </p:to>
                                    </p:set>
                                    <p:animEffect transition="in" filter="wipe(up)">
                                      <p:cBhvr>
                                        <p:cTn id="15" dur="500"/>
                                        <p:tgtEl>
                                          <p:spTgt spid="215043">
                                            <p:txEl>
                                              <p:pRg st="2" end="2"/>
                                            </p:txEl>
                                          </p:spTgt>
                                        </p:tgtEl>
                                      </p:cBhvr>
                                    </p:animEffect>
                                  </p:childTnLst>
                                </p:cTn>
                              </p:par>
                              <p:par>
                                <p:cTn id="16" presetID="22" presetClass="entr" presetSubtype="1" fill="hold" grpId="0" nodeType="withEffect">
                                  <p:stCondLst>
                                    <p:cond delay="0"/>
                                  </p:stCondLst>
                                  <p:childTnLst>
                                    <p:set>
                                      <p:cBhvr>
                                        <p:cTn id="17" dur="1" fill="hold">
                                          <p:stCondLst>
                                            <p:cond delay="0"/>
                                          </p:stCondLst>
                                        </p:cTn>
                                        <p:tgtEl>
                                          <p:spTgt spid="215043">
                                            <p:txEl>
                                              <p:pRg st="3" end="3"/>
                                            </p:txEl>
                                          </p:spTgt>
                                        </p:tgtEl>
                                        <p:attrNameLst>
                                          <p:attrName>style.visibility</p:attrName>
                                        </p:attrNameLst>
                                      </p:cBhvr>
                                      <p:to>
                                        <p:strVal val="visible"/>
                                      </p:to>
                                    </p:set>
                                    <p:animEffect transition="in" filter="wipe(up)">
                                      <p:cBhvr>
                                        <p:cTn id="18" dur="500"/>
                                        <p:tgtEl>
                                          <p:spTgt spid="215043">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215043">
                                            <p:txEl>
                                              <p:pRg st="4" end="4"/>
                                            </p:txEl>
                                          </p:spTgt>
                                        </p:tgtEl>
                                        <p:attrNameLst>
                                          <p:attrName>style.visibility</p:attrName>
                                        </p:attrNameLst>
                                      </p:cBhvr>
                                      <p:to>
                                        <p:strVal val="visible"/>
                                      </p:to>
                                    </p:set>
                                    <p:animEffect transition="in" filter="wipe(up)">
                                      <p:cBhvr>
                                        <p:cTn id="21" dur="500"/>
                                        <p:tgtEl>
                                          <p:spTgt spid="2150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r>
              <a:rPr lang="zh-CN" altLang="en-US" dirty="0" smtClean="0"/>
              <a:t>数据库设计</a:t>
            </a:r>
            <a:r>
              <a:rPr lang="zh-CN" altLang="en-US" dirty="0"/>
              <a:t>原则</a:t>
            </a:r>
            <a:endParaRPr lang="zh-CN" altLang="en-US" dirty="0"/>
          </a:p>
        </p:txBody>
      </p:sp>
      <p:sp>
        <p:nvSpPr>
          <p:cNvPr id="215043" name="Rectangle 3"/>
          <p:cNvSpPr>
            <a:spLocks noGrp="1" noChangeArrowheads="1"/>
          </p:cNvSpPr>
          <p:nvPr>
            <p:ph idx="1"/>
          </p:nvPr>
        </p:nvSpPr>
        <p:spPr>
          <a:xfrm>
            <a:off x="768097" y="1088019"/>
            <a:ext cx="7832833" cy="3644001"/>
          </a:xfrm>
        </p:spPr>
        <p:txBody>
          <a:bodyPr>
            <a:normAutofit/>
          </a:bodyPr>
          <a:lstStyle/>
          <a:p>
            <a:pPr marL="0" indent="-311785">
              <a:lnSpc>
                <a:spcPct val="120000"/>
              </a:lnSpc>
            </a:pPr>
            <a:r>
              <a:rPr lang="zh-CN" altLang="en-US" sz="2400" dirty="0"/>
              <a:t>利用数据库三范式检查表，从而考察领域类图的分析是否合理，消除冗余数据。</a:t>
            </a:r>
            <a:endParaRPr lang="zh-CN" altLang="en-US" sz="2400" dirty="0"/>
          </a:p>
          <a:p>
            <a:pPr marL="0" indent="-311785">
              <a:lnSpc>
                <a:spcPct val="120000"/>
              </a:lnSpc>
            </a:pPr>
            <a:r>
              <a:rPr lang="zh-CN" altLang="en-US" sz="2400" dirty="0"/>
              <a:t>检查数据是否能够反映用例视图的需要。</a:t>
            </a:r>
            <a:endParaRPr lang="en-US" altLang="zh-CN" sz="2400" dirty="0"/>
          </a:p>
          <a:p>
            <a:pPr marL="0" indent="-311785">
              <a:lnSpc>
                <a:spcPct val="120000"/>
              </a:lnSpc>
            </a:pPr>
            <a:r>
              <a:rPr lang="zh-CN" altLang="en-US" sz="2400" dirty="0"/>
              <a:t>进一步与用户再次确认使用的数据。</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fld id="{3E80F7D5-D04F-45AB-97A1-802872844779}"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15043">
                                            <p:txEl>
                                              <p:pRg st="0" end="0"/>
                                            </p:txEl>
                                          </p:spTgt>
                                        </p:tgtEl>
                                        <p:attrNameLst>
                                          <p:attrName>style.visibility</p:attrName>
                                        </p:attrNameLst>
                                      </p:cBhvr>
                                      <p:to>
                                        <p:strVal val="visible"/>
                                      </p:to>
                                    </p:set>
                                    <p:animEffect transition="in" filter="wipe(up)">
                                      <p:cBhvr>
                                        <p:cTn id="7" dur="500"/>
                                        <p:tgtEl>
                                          <p:spTgt spid="2150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15043">
                                            <p:txEl>
                                              <p:pRg st="1" end="1"/>
                                            </p:txEl>
                                          </p:spTgt>
                                        </p:tgtEl>
                                        <p:attrNameLst>
                                          <p:attrName>style.visibility</p:attrName>
                                        </p:attrNameLst>
                                      </p:cBhvr>
                                      <p:to>
                                        <p:strVal val="visible"/>
                                      </p:to>
                                    </p:set>
                                    <p:animEffect transition="in" filter="wipe(up)">
                                      <p:cBhvr>
                                        <p:cTn id="12" dur="500"/>
                                        <p:tgtEl>
                                          <p:spTgt spid="2150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15043">
                                            <p:txEl>
                                              <p:pRg st="2" end="2"/>
                                            </p:txEl>
                                          </p:spTgt>
                                        </p:tgtEl>
                                        <p:attrNameLst>
                                          <p:attrName>style.visibility</p:attrName>
                                        </p:attrNameLst>
                                      </p:cBhvr>
                                      <p:to>
                                        <p:strVal val="visible"/>
                                      </p:to>
                                    </p:set>
                                    <p:animEffect transition="in" filter="wipe(up)">
                                      <p:cBhvr>
                                        <p:cTn id="17" dur="500"/>
                                        <p:tgtEl>
                                          <p:spTgt spid="2150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rPr>
              <a:t>编写表结构</a:t>
            </a:r>
            <a:r>
              <a:rPr lang="zh-CN" altLang="en-US" dirty="0" smtClean="0">
                <a:latin typeface="+mn-ea"/>
              </a:rPr>
              <a:t>说明</a:t>
            </a:r>
            <a:endParaRPr lang="zh-CN" altLang="en-US" dirty="0"/>
          </a:p>
        </p:txBody>
      </p:sp>
      <p:sp>
        <p:nvSpPr>
          <p:cNvPr id="7" name="灯片编号占位符 6"/>
          <p:cNvSpPr>
            <a:spLocks noGrp="1"/>
          </p:cNvSpPr>
          <p:nvPr>
            <p:ph type="sldNum" sz="quarter" idx="12"/>
          </p:nvPr>
        </p:nvSpPr>
        <p:spPr/>
        <p:txBody>
          <a:bodyPr/>
          <a:lstStyle/>
          <a:p>
            <a:fld id="{58AE5905-16B5-4376-8977-98E1E2F27F66}" type="slidenum">
              <a:rPr lang="en-US" altLang="zh-CN" smtClean="0"/>
            </a:fld>
            <a:endParaRPr lang="en-US" altLang="zh-CN"/>
          </a:p>
        </p:txBody>
      </p:sp>
      <p:graphicFrame>
        <p:nvGraphicFramePr>
          <p:cNvPr id="4" name="表格 3"/>
          <p:cNvGraphicFramePr>
            <a:graphicFrameLocks noGrp="1"/>
          </p:cNvGraphicFramePr>
          <p:nvPr/>
        </p:nvGraphicFramePr>
        <p:xfrm>
          <a:off x="1453136" y="1329107"/>
          <a:ext cx="6098527" cy="3393884"/>
        </p:xfrm>
        <a:graphic>
          <a:graphicData uri="http://schemas.openxmlformats.org/drawingml/2006/table">
            <a:tbl>
              <a:tblPr firstRow="1" firstCol="1" bandRow="1">
                <a:tableStyleId>{5C22544A-7EE6-4342-B048-85BDC9FD1C3A}</a:tableStyleId>
              </a:tblPr>
              <a:tblGrid>
                <a:gridCol w="1219419"/>
                <a:gridCol w="1219419"/>
                <a:gridCol w="884508"/>
                <a:gridCol w="1014752"/>
                <a:gridCol w="1760429"/>
              </a:tblGrid>
              <a:tr h="261068">
                <a:tc>
                  <a:txBody>
                    <a:bodyPr/>
                    <a:lstStyle/>
                    <a:p>
                      <a:pPr algn="ctr">
                        <a:spcAft>
                          <a:spcPts val="0"/>
                        </a:spcAft>
                      </a:pPr>
                      <a:r>
                        <a:rPr lang="zh-CN" sz="1400" kern="100" dirty="0">
                          <a:effectLst/>
                          <a:latin typeface="+mj-ea"/>
                          <a:ea typeface="+mj-ea"/>
                        </a:rPr>
                        <a:t>字段名称</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dirty="0">
                          <a:effectLst/>
                          <a:latin typeface="+mj-ea"/>
                          <a:ea typeface="+mj-ea"/>
                        </a:rPr>
                        <a:t>数据类型</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dirty="0">
                          <a:effectLst/>
                          <a:latin typeface="+mj-ea"/>
                          <a:ea typeface="+mj-ea"/>
                        </a:rPr>
                        <a:t>是否为空</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是否主键</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备注</a:t>
                      </a:r>
                      <a:endParaRPr lang="zh-CN" sz="1400" kern="100">
                        <a:effectLst/>
                        <a:latin typeface="+mj-ea"/>
                        <a:ea typeface="+mj-ea"/>
                        <a:cs typeface="Times New Roman" panose="02020603050405020304"/>
                      </a:endParaRPr>
                    </a:p>
                  </a:txBody>
                  <a:tcPr marL="51435" marR="51435" marT="0" marB="0" anchor="ctr"/>
                </a:tc>
              </a:tr>
              <a:tr h="261068">
                <a:tc>
                  <a:txBody>
                    <a:bodyPr/>
                    <a:lstStyle/>
                    <a:p>
                      <a:pPr algn="ctr">
                        <a:spcAft>
                          <a:spcPts val="0"/>
                        </a:spcAft>
                      </a:pPr>
                      <a:r>
                        <a:rPr lang="en-US" sz="1400" kern="100" dirty="0" err="1">
                          <a:effectLst/>
                          <a:latin typeface="+mj-ea"/>
                          <a:ea typeface="+mj-ea"/>
                        </a:rPr>
                        <a:t>fUsername</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varchar(30)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dirty="0">
                          <a:effectLst/>
                          <a:latin typeface="+mj-ea"/>
                          <a:ea typeface="+mj-ea"/>
                        </a:rPr>
                        <a:t>否</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dirty="0">
                          <a:effectLst/>
                          <a:latin typeface="+mj-ea"/>
                          <a:ea typeface="+mj-ea"/>
                        </a:rPr>
                        <a:t>是</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用户名</a:t>
                      </a:r>
                      <a:endParaRPr lang="zh-CN" sz="1400" kern="100">
                        <a:effectLst/>
                        <a:latin typeface="+mj-ea"/>
                        <a:ea typeface="+mj-ea"/>
                        <a:cs typeface="Times New Roman" panose="02020603050405020304"/>
                      </a:endParaRPr>
                    </a:p>
                  </a:txBody>
                  <a:tcPr marL="51435" marR="51435" marT="0" marB="0" anchor="ctr"/>
                </a:tc>
              </a:tr>
              <a:tr h="261068">
                <a:tc>
                  <a:txBody>
                    <a:bodyPr/>
                    <a:lstStyle/>
                    <a:p>
                      <a:pPr algn="ctr">
                        <a:spcAft>
                          <a:spcPts val="0"/>
                        </a:spcAft>
                      </a:pPr>
                      <a:r>
                        <a:rPr lang="en-US" sz="1400" kern="100" dirty="0" err="1">
                          <a:effectLst/>
                          <a:latin typeface="+mj-ea"/>
                          <a:ea typeface="+mj-ea"/>
                        </a:rPr>
                        <a:t>fPassword</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varchar(64)</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a:effectLst/>
                          <a:latin typeface="+mj-ea"/>
                          <a:ea typeface="+mj-ea"/>
                        </a:rPr>
                        <a:t> </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密码</a:t>
                      </a:r>
                      <a:endParaRPr lang="zh-CN" sz="1400" kern="100">
                        <a:effectLst/>
                        <a:latin typeface="+mj-ea"/>
                        <a:ea typeface="+mj-ea"/>
                        <a:cs typeface="Times New Roman" panose="02020603050405020304"/>
                      </a:endParaRPr>
                    </a:p>
                  </a:txBody>
                  <a:tcPr marL="51435" marR="51435" marT="0" marB="0" anchor="ctr"/>
                </a:tc>
              </a:tr>
              <a:tr h="261068">
                <a:tc>
                  <a:txBody>
                    <a:bodyPr/>
                    <a:lstStyle/>
                    <a:p>
                      <a:pPr algn="ctr">
                        <a:spcAft>
                          <a:spcPts val="0"/>
                        </a:spcAft>
                      </a:pPr>
                      <a:r>
                        <a:rPr lang="en-US" sz="1400" kern="100" dirty="0" err="1">
                          <a:effectLst/>
                          <a:latin typeface="+mj-ea"/>
                          <a:ea typeface="+mj-ea"/>
                        </a:rPr>
                        <a:t>fName</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varchar(20)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a:effectLst/>
                          <a:latin typeface="+mj-ea"/>
                          <a:ea typeface="+mj-ea"/>
                        </a:rPr>
                        <a:t> </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真实姓名</a:t>
                      </a:r>
                      <a:endParaRPr lang="zh-CN" sz="1400" kern="100">
                        <a:effectLst/>
                        <a:latin typeface="+mj-ea"/>
                        <a:ea typeface="+mj-ea"/>
                        <a:cs typeface="Times New Roman" panose="02020603050405020304"/>
                      </a:endParaRPr>
                    </a:p>
                  </a:txBody>
                  <a:tcPr marL="51435" marR="51435" marT="0" marB="0" anchor="ctr"/>
                </a:tc>
              </a:tr>
              <a:tr h="261068">
                <a:tc>
                  <a:txBody>
                    <a:bodyPr/>
                    <a:lstStyle/>
                    <a:p>
                      <a:pPr algn="ctr">
                        <a:spcAft>
                          <a:spcPts val="0"/>
                        </a:spcAft>
                      </a:pPr>
                      <a:r>
                        <a:rPr lang="en-US" sz="1400" kern="100" dirty="0" err="1">
                          <a:effectLst/>
                          <a:latin typeface="+mj-ea"/>
                          <a:ea typeface="+mj-ea"/>
                        </a:rPr>
                        <a:t>fTel</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varchar(15)</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a:effectLst/>
                          <a:latin typeface="+mj-ea"/>
                          <a:ea typeface="+mj-ea"/>
                        </a:rPr>
                        <a:t> </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dirty="0">
                          <a:effectLst/>
                          <a:latin typeface="+mj-ea"/>
                          <a:ea typeface="+mj-ea"/>
                        </a:rPr>
                        <a:t>联系电话</a:t>
                      </a:r>
                      <a:endParaRPr lang="zh-CN" sz="1400" kern="100" dirty="0">
                        <a:effectLst/>
                        <a:latin typeface="+mj-ea"/>
                        <a:ea typeface="+mj-ea"/>
                        <a:cs typeface="Times New Roman" panose="02020603050405020304"/>
                      </a:endParaRPr>
                    </a:p>
                  </a:txBody>
                  <a:tcPr marL="51435" marR="51435" marT="0" marB="0" anchor="ctr"/>
                </a:tc>
              </a:tr>
              <a:tr h="261068">
                <a:tc>
                  <a:txBody>
                    <a:bodyPr/>
                    <a:lstStyle/>
                    <a:p>
                      <a:pPr algn="ctr">
                        <a:spcAft>
                          <a:spcPts val="0"/>
                        </a:spcAft>
                      </a:pPr>
                      <a:r>
                        <a:rPr lang="en-US" sz="1400" kern="100" dirty="0" err="1">
                          <a:effectLst/>
                          <a:latin typeface="+mj-ea"/>
                          <a:ea typeface="+mj-ea"/>
                        </a:rPr>
                        <a:t>fEmail</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varchar(50)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a:effectLst/>
                          <a:latin typeface="+mj-ea"/>
                          <a:ea typeface="+mj-ea"/>
                        </a:rPr>
                        <a:t> </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邮箱</a:t>
                      </a:r>
                      <a:endParaRPr lang="zh-CN" sz="1400" kern="100">
                        <a:effectLst/>
                        <a:latin typeface="+mj-ea"/>
                        <a:ea typeface="+mj-ea"/>
                        <a:cs typeface="Times New Roman" panose="02020603050405020304"/>
                      </a:endParaRPr>
                    </a:p>
                  </a:txBody>
                  <a:tcPr marL="51435" marR="51435" marT="0" marB="0" anchor="ctr"/>
                </a:tc>
              </a:tr>
              <a:tr h="261068">
                <a:tc>
                  <a:txBody>
                    <a:bodyPr/>
                    <a:lstStyle/>
                    <a:p>
                      <a:pPr algn="ctr">
                        <a:spcAft>
                          <a:spcPts val="0"/>
                        </a:spcAft>
                      </a:pPr>
                      <a:r>
                        <a:rPr lang="en-US" sz="1400" kern="100" dirty="0" err="1">
                          <a:effectLst/>
                          <a:latin typeface="+mj-ea"/>
                          <a:ea typeface="+mj-ea"/>
                        </a:rPr>
                        <a:t>fDept</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err="1">
                          <a:effectLst/>
                          <a:latin typeface="+mj-ea"/>
                          <a:ea typeface="+mj-ea"/>
                        </a:rPr>
                        <a:t>varchar</a:t>
                      </a:r>
                      <a:r>
                        <a:rPr lang="en-US" sz="1400" kern="100" dirty="0">
                          <a:effectLst/>
                          <a:latin typeface="+mj-ea"/>
                          <a:ea typeface="+mj-ea"/>
                        </a:rPr>
                        <a:t>(6)</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所属单位，外键</a:t>
                      </a:r>
                      <a:endParaRPr lang="zh-CN" sz="1400" kern="100">
                        <a:effectLst/>
                        <a:latin typeface="+mj-ea"/>
                        <a:ea typeface="+mj-ea"/>
                        <a:cs typeface="Times New Roman" panose="02020603050405020304"/>
                      </a:endParaRPr>
                    </a:p>
                  </a:txBody>
                  <a:tcPr marL="51435" marR="51435" marT="0" marB="0" anchor="ctr"/>
                </a:tc>
              </a:tr>
              <a:tr h="261068">
                <a:tc>
                  <a:txBody>
                    <a:bodyPr/>
                    <a:lstStyle/>
                    <a:p>
                      <a:pPr algn="ctr">
                        <a:spcAft>
                          <a:spcPts val="0"/>
                        </a:spcAft>
                      </a:pPr>
                      <a:r>
                        <a:rPr lang="en-US" sz="1400" kern="100">
                          <a:effectLst/>
                          <a:latin typeface="+mj-ea"/>
                          <a:ea typeface="+mj-ea"/>
                        </a:rPr>
                        <a:t>fUsertype</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err="1">
                          <a:effectLst/>
                          <a:latin typeface="+mj-ea"/>
                          <a:ea typeface="+mj-ea"/>
                        </a:rPr>
                        <a:t>varchar</a:t>
                      </a:r>
                      <a:r>
                        <a:rPr lang="en-US" sz="1400" kern="100" dirty="0">
                          <a:effectLst/>
                          <a:latin typeface="+mj-ea"/>
                          <a:ea typeface="+mj-ea"/>
                        </a:rPr>
                        <a:t>(20)</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a:effectLst/>
                          <a:latin typeface="+mj-ea"/>
                          <a:ea typeface="+mj-ea"/>
                        </a:rPr>
                        <a:t> </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dirty="0">
                          <a:effectLst/>
                          <a:latin typeface="+mj-ea"/>
                          <a:ea typeface="+mj-ea"/>
                        </a:rPr>
                        <a:t>用户类别</a:t>
                      </a:r>
                      <a:endParaRPr lang="zh-CN" sz="1400" kern="100" dirty="0">
                        <a:effectLst/>
                        <a:latin typeface="+mj-ea"/>
                        <a:ea typeface="+mj-ea"/>
                        <a:cs typeface="Times New Roman" panose="02020603050405020304"/>
                      </a:endParaRPr>
                    </a:p>
                  </a:txBody>
                  <a:tcPr marL="51435" marR="51435" marT="0" marB="0" anchor="ctr"/>
                </a:tc>
              </a:tr>
              <a:tr h="261068">
                <a:tc>
                  <a:txBody>
                    <a:bodyPr/>
                    <a:lstStyle/>
                    <a:p>
                      <a:pPr algn="ctr">
                        <a:spcAft>
                          <a:spcPts val="0"/>
                        </a:spcAft>
                      </a:pPr>
                      <a:r>
                        <a:rPr lang="en-US" sz="1400" kern="100">
                          <a:effectLst/>
                          <a:latin typeface="+mj-ea"/>
                          <a:ea typeface="+mj-ea"/>
                        </a:rPr>
                        <a:t>fRegistDate</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err="1">
                          <a:effectLst/>
                          <a:latin typeface="+mj-ea"/>
                          <a:ea typeface="+mj-ea"/>
                        </a:rPr>
                        <a:t>datetime</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a:effectLst/>
                          <a:latin typeface="+mj-ea"/>
                          <a:ea typeface="+mj-ea"/>
                        </a:rPr>
                        <a:t> </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注册时间</a:t>
                      </a:r>
                      <a:endParaRPr lang="zh-CN" sz="1400" kern="100">
                        <a:effectLst/>
                        <a:latin typeface="+mj-ea"/>
                        <a:ea typeface="+mj-ea"/>
                        <a:cs typeface="Times New Roman" panose="02020603050405020304"/>
                      </a:endParaRPr>
                    </a:p>
                  </a:txBody>
                  <a:tcPr marL="51435" marR="51435" marT="0" marB="0" anchor="ctr"/>
                </a:tc>
              </a:tr>
              <a:tr h="261068">
                <a:tc>
                  <a:txBody>
                    <a:bodyPr/>
                    <a:lstStyle/>
                    <a:p>
                      <a:pPr algn="ctr">
                        <a:spcAft>
                          <a:spcPts val="0"/>
                        </a:spcAft>
                      </a:pPr>
                      <a:r>
                        <a:rPr lang="en-US" sz="1400" kern="100">
                          <a:effectLst/>
                          <a:latin typeface="+mj-ea"/>
                          <a:ea typeface="+mj-ea"/>
                        </a:rPr>
                        <a:t>fTips</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err="1">
                          <a:effectLst/>
                          <a:latin typeface="+mj-ea"/>
                          <a:ea typeface="+mj-ea"/>
                        </a:rPr>
                        <a:t>varchar</a:t>
                      </a:r>
                      <a:r>
                        <a:rPr lang="en-US" sz="1400" kern="100" dirty="0">
                          <a:effectLst/>
                          <a:latin typeface="+mj-ea"/>
                          <a:ea typeface="+mj-ea"/>
                        </a:rPr>
                        <a:t>(50)</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提示问题</a:t>
                      </a:r>
                      <a:endParaRPr lang="zh-CN" sz="1400" kern="100">
                        <a:effectLst/>
                        <a:latin typeface="+mj-ea"/>
                        <a:ea typeface="+mj-ea"/>
                        <a:cs typeface="Times New Roman" panose="02020603050405020304"/>
                      </a:endParaRPr>
                    </a:p>
                  </a:txBody>
                  <a:tcPr marL="51435" marR="51435" marT="0" marB="0" anchor="ctr"/>
                </a:tc>
              </a:tr>
              <a:tr h="261068">
                <a:tc>
                  <a:txBody>
                    <a:bodyPr/>
                    <a:lstStyle/>
                    <a:p>
                      <a:pPr algn="ctr">
                        <a:spcAft>
                          <a:spcPts val="0"/>
                        </a:spcAft>
                      </a:pPr>
                      <a:r>
                        <a:rPr lang="en-US" sz="1400" kern="100">
                          <a:effectLst/>
                          <a:latin typeface="+mj-ea"/>
                          <a:ea typeface="+mj-ea"/>
                        </a:rPr>
                        <a:t>fAnswer</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err="1">
                          <a:effectLst/>
                          <a:latin typeface="+mj-ea"/>
                          <a:ea typeface="+mj-ea"/>
                        </a:rPr>
                        <a:t>varchar</a:t>
                      </a:r>
                      <a:r>
                        <a:rPr lang="en-US" sz="1400" kern="100" dirty="0">
                          <a:effectLst/>
                          <a:latin typeface="+mj-ea"/>
                          <a:ea typeface="+mj-ea"/>
                        </a:rPr>
                        <a:t>(50)</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a:effectLst/>
                          <a:latin typeface="+mj-ea"/>
                          <a:ea typeface="+mj-ea"/>
                        </a:rPr>
                        <a:t> </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答案</a:t>
                      </a:r>
                      <a:endParaRPr lang="zh-CN" sz="1400" kern="100">
                        <a:effectLst/>
                        <a:latin typeface="+mj-ea"/>
                        <a:ea typeface="+mj-ea"/>
                        <a:cs typeface="Times New Roman" panose="02020603050405020304"/>
                      </a:endParaRPr>
                    </a:p>
                  </a:txBody>
                  <a:tcPr marL="51435" marR="51435" marT="0" marB="0" anchor="ctr"/>
                </a:tc>
              </a:tr>
              <a:tr h="261068">
                <a:tc>
                  <a:txBody>
                    <a:bodyPr/>
                    <a:lstStyle/>
                    <a:p>
                      <a:pPr algn="ctr">
                        <a:spcAft>
                          <a:spcPts val="0"/>
                        </a:spcAft>
                      </a:pPr>
                      <a:r>
                        <a:rPr lang="en-US" sz="1400" kern="100">
                          <a:effectLst/>
                          <a:latin typeface="+mj-ea"/>
                          <a:ea typeface="+mj-ea"/>
                        </a:rPr>
                        <a:t>fId</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a:effectLst/>
                          <a:latin typeface="+mj-ea"/>
                          <a:ea typeface="+mj-ea"/>
                        </a:rPr>
                        <a:t>char(18)</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a:effectLst/>
                          <a:latin typeface="+mj-ea"/>
                          <a:ea typeface="+mj-ea"/>
                        </a:rPr>
                        <a:t> </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a:effectLst/>
                          <a:latin typeface="+mj-ea"/>
                          <a:ea typeface="+mj-ea"/>
                        </a:rPr>
                        <a:t> </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身份证号码</a:t>
                      </a:r>
                      <a:endParaRPr lang="zh-CN" sz="1400" kern="100">
                        <a:effectLst/>
                        <a:latin typeface="+mj-ea"/>
                        <a:ea typeface="+mj-ea"/>
                        <a:cs typeface="Times New Roman" panose="02020603050405020304"/>
                      </a:endParaRPr>
                    </a:p>
                  </a:txBody>
                  <a:tcPr marL="51435" marR="51435" marT="0" marB="0" anchor="ctr"/>
                </a:tc>
              </a:tr>
              <a:tr h="261068">
                <a:tc>
                  <a:txBody>
                    <a:bodyPr/>
                    <a:lstStyle/>
                    <a:p>
                      <a:pPr algn="ctr">
                        <a:spcAft>
                          <a:spcPts val="0"/>
                        </a:spcAft>
                      </a:pPr>
                      <a:r>
                        <a:rPr lang="en-US" sz="1400" kern="100">
                          <a:effectLst/>
                          <a:latin typeface="+mj-ea"/>
                          <a:ea typeface="+mj-ea"/>
                        </a:rPr>
                        <a:t>fMemo</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varchar(200)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a:effectLst/>
                          <a:latin typeface="+mj-ea"/>
                          <a:ea typeface="+mj-ea"/>
                        </a:rPr>
                        <a:t> </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a:effectLst/>
                          <a:latin typeface="+mj-ea"/>
                          <a:ea typeface="+mj-ea"/>
                        </a:rPr>
                        <a:t> </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dirty="0">
                          <a:effectLst/>
                          <a:latin typeface="+mj-ea"/>
                          <a:ea typeface="+mj-ea"/>
                        </a:rPr>
                        <a:t>备注</a:t>
                      </a:r>
                      <a:endParaRPr lang="zh-CN" sz="1400" kern="100" dirty="0">
                        <a:effectLst/>
                        <a:latin typeface="+mj-ea"/>
                        <a:ea typeface="+mj-ea"/>
                        <a:cs typeface="Times New Roman" panose="02020603050405020304"/>
                      </a:endParaRPr>
                    </a:p>
                  </a:txBody>
                  <a:tcPr marL="51435" marR="51435" marT="0" marB="0" anchor="ctr"/>
                </a:tc>
              </a:tr>
            </a:tbl>
          </a:graphicData>
        </a:graphic>
      </p:graphicFrame>
      <p:sp>
        <p:nvSpPr>
          <p:cNvPr id="5" name="Rectangle 1"/>
          <p:cNvSpPr>
            <a:spLocks noChangeArrowheads="1"/>
          </p:cNvSpPr>
          <p:nvPr/>
        </p:nvSpPr>
        <p:spPr bwMode="auto">
          <a:xfrm>
            <a:off x="885977" y="802118"/>
            <a:ext cx="2000317" cy="526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123786" rIns="68580" bIns="123786" numCol="1" anchor="ctr" anchorCtr="0" compatLnSpc="1">
            <a:spAutoFit/>
          </a:bodyPr>
          <a:lstStyle/>
          <a:p>
            <a:pPr defTabSz="685800" fontAlgn="base">
              <a:spcBef>
                <a:spcPct val="0"/>
              </a:spcBef>
              <a:spcAft>
                <a:spcPct val="0"/>
              </a:spcAft>
            </a:pPr>
            <a:r>
              <a:rPr lang="en-US" altLang="zh-CN" b="1" dirty="0">
                <a:latin typeface="+mj-ea"/>
                <a:ea typeface="+mj-ea"/>
                <a:cs typeface="Times New Roman" panose="02020603050405020304" pitchFamily="18" charset="0"/>
              </a:rPr>
              <a:t>1</a:t>
            </a:r>
            <a:r>
              <a:rPr lang="zh-CN" altLang="en-US" b="1" dirty="0">
                <a:latin typeface="+mj-ea"/>
                <a:ea typeface="+mj-ea"/>
                <a:cs typeface="Times New Roman" panose="02020603050405020304" pitchFamily="18" charset="0"/>
              </a:rPr>
              <a:t>、用户表</a:t>
            </a:r>
            <a:r>
              <a:rPr lang="en-US" altLang="zh-CN" b="1" dirty="0">
                <a:latin typeface="+mj-ea"/>
                <a:ea typeface="+mj-ea"/>
                <a:cs typeface="Times New Roman" panose="02020603050405020304" pitchFamily="18" charset="0"/>
              </a:rPr>
              <a:t>(</a:t>
            </a:r>
            <a:r>
              <a:rPr lang="en-US" altLang="zh-CN" b="1" dirty="0" err="1">
                <a:latin typeface="+mj-ea"/>
                <a:ea typeface="+mj-ea"/>
                <a:cs typeface="Times New Roman" panose="02020603050405020304" pitchFamily="18" charset="0"/>
              </a:rPr>
              <a:t>t_user</a:t>
            </a:r>
            <a:r>
              <a:rPr lang="en-US" altLang="zh-CN" b="1" dirty="0">
                <a:latin typeface="+mj-ea"/>
                <a:ea typeface="+mj-ea"/>
                <a:cs typeface="Times New Roman" panose="02020603050405020304" pitchFamily="18" charset="0"/>
              </a:rPr>
              <a:t>)</a:t>
            </a:r>
            <a:endParaRPr lang="en-US" altLang="zh-CN" b="1" dirty="0">
              <a:latin typeface="+mj-ea"/>
              <a:ea typeface="+mj-ea"/>
              <a:cs typeface="Times New Roman" panose="02020603050405020304" pitchFamily="18" charset="0"/>
            </a:endParaRPr>
          </a:p>
        </p:txBody>
      </p:sp>
      <p:sp>
        <p:nvSpPr>
          <p:cNvPr id="3" name="日期占位符 2"/>
          <p:cNvSpPr>
            <a:spLocks noGrp="1"/>
          </p:cNvSpPr>
          <p:nvPr>
            <p:ph type="dt" sz="half" idx="10"/>
          </p:nvPr>
        </p:nvSpPr>
        <p:spPr/>
        <p:txBody>
          <a:bodyPr/>
          <a:lstStyle/>
          <a:p>
            <a:fld id="{2157CE68-2F43-48C9-8991-63C42E06CAA3}"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1292682" y="1508680"/>
          <a:ext cx="6034646" cy="3080720"/>
        </p:xfrm>
        <a:graphic>
          <a:graphicData uri="http://schemas.openxmlformats.org/drawingml/2006/table">
            <a:tbl>
              <a:tblPr firstRow="1" firstCol="1" bandRow="1">
                <a:tableStyleId>{5C22544A-7EE6-4342-B048-85BDC9FD1C3A}</a:tableStyleId>
              </a:tblPr>
              <a:tblGrid>
                <a:gridCol w="1206646"/>
                <a:gridCol w="1206646"/>
                <a:gridCol w="1206646"/>
                <a:gridCol w="1207354"/>
                <a:gridCol w="1207354"/>
              </a:tblGrid>
              <a:tr h="308072">
                <a:tc>
                  <a:txBody>
                    <a:bodyPr/>
                    <a:lstStyle/>
                    <a:p>
                      <a:pPr algn="ctr">
                        <a:spcAft>
                          <a:spcPts val="0"/>
                        </a:spcAft>
                      </a:pPr>
                      <a:r>
                        <a:rPr lang="zh-CN" sz="1400" kern="100">
                          <a:effectLst/>
                          <a:latin typeface="+mj-ea"/>
                          <a:ea typeface="+mj-ea"/>
                        </a:rPr>
                        <a:t>字段名称</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数据类型</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是否为空</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是否主键</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备注</a:t>
                      </a:r>
                      <a:endParaRPr lang="zh-CN" sz="1400" kern="100">
                        <a:effectLst/>
                        <a:latin typeface="+mj-ea"/>
                        <a:ea typeface="+mj-ea"/>
                        <a:cs typeface="Times New Roman" panose="02020603050405020304"/>
                      </a:endParaRPr>
                    </a:p>
                  </a:txBody>
                  <a:tcPr marL="51435" marR="51435" marT="0" marB="0" anchor="ctr"/>
                </a:tc>
              </a:tr>
              <a:tr h="308072">
                <a:tc>
                  <a:txBody>
                    <a:bodyPr/>
                    <a:lstStyle/>
                    <a:p>
                      <a:pPr algn="ctr">
                        <a:spcAft>
                          <a:spcPts val="0"/>
                        </a:spcAft>
                      </a:pPr>
                      <a:r>
                        <a:rPr lang="en-US" sz="1400" kern="100">
                          <a:effectLst/>
                          <a:latin typeface="+mj-ea"/>
                          <a:ea typeface="+mj-ea"/>
                        </a:rPr>
                        <a:t>fCode</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varchar(6)</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否</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是</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dirty="0">
                          <a:effectLst/>
                          <a:latin typeface="+mj-ea"/>
                          <a:ea typeface="+mj-ea"/>
                        </a:rPr>
                        <a:t>单位代码</a:t>
                      </a:r>
                      <a:endParaRPr lang="zh-CN" sz="1400" kern="100" dirty="0">
                        <a:effectLst/>
                        <a:latin typeface="+mj-ea"/>
                        <a:ea typeface="+mj-ea"/>
                        <a:cs typeface="Times New Roman" panose="02020603050405020304"/>
                      </a:endParaRPr>
                    </a:p>
                  </a:txBody>
                  <a:tcPr marL="51435" marR="51435" marT="0" marB="0" anchor="ctr"/>
                </a:tc>
              </a:tr>
              <a:tr h="308072">
                <a:tc>
                  <a:txBody>
                    <a:bodyPr/>
                    <a:lstStyle/>
                    <a:p>
                      <a:pPr algn="ctr">
                        <a:spcAft>
                          <a:spcPts val="0"/>
                        </a:spcAft>
                      </a:pPr>
                      <a:r>
                        <a:rPr lang="en-US" sz="1400" kern="100">
                          <a:effectLst/>
                          <a:latin typeface="+mj-ea"/>
                          <a:ea typeface="+mj-ea"/>
                        </a:rPr>
                        <a:t>fDeptName</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varchar(100)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否</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单位名称</a:t>
                      </a:r>
                      <a:endParaRPr lang="zh-CN" sz="1400" kern="100">
                        <a:effectLst/>
                        <a:latin typeface="+mj-ea"/>
                        <a:ea typeface="+mj-ea"/>
                        <a:cs typeface="Times New Roman" panose="02020603050405020304"/>
                      </a:endParaRPr>
                    </a:p>
                  </a:txBody>
                  <a:tcPr marL="51435" marR="51435" marT="0" marB="0" anchor="ctr"/>
                </a:tc>
              </a:tr>
              <a:tr h="308072">
                <a:tc>
                  <a:txBody>
                    <a:bodyPr/>
                    <a:lstStyle/>
                    <a:p>
                      <a:pPr algn="ctr">
                        <a:spcAft>
                          <a:spcPts val="0"/>
                        </a:spcAft>
                      </a:pPr>
                      <a:r>
                        <a:rPr lang="en-US" sz="1400" kern="100">
                          <a:effectLst/>
                          <a:latin typeface="+mj-ea"/>
                          <a:ea typeface="+mj-ea"/>
                        </a:rPr>
                        <a:t>fAddress</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varchar(100)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dirty="0">
                          <a:effectLst/>
                          <a:latin typeface="+mj-ea"/>
                          <a:ea typeface="+mj-ea"/>
                        </a:rPr>
                        <a:t>单位地址</a:t>
                      </a:r>
                      <a:endParaRPr lang="zh-CN" sz="1400" kern="100" dirty="0">
                        <a:effectLst/>
                        <a:latin typeface="+mj-ea"/>
                        <a:ea typeface="+mj-ea"/>
                        <a:cs typeface="Times New Roman" panose="02020603050405020304"/>
                      </a:endParaRPr>
                    </a:p>
                  </a:txBody>
                  <a:tcPr marL="51435" marR="51435" marT="0" marB="0" anchor="ctr"/>
                </a:tc>
              </a:tr>
              <a:tr h="308072">
                <a:tc>
                  <a:txBody>
                    <a:bodyPr/>
                    <a:lstStyle/>
                    <a:p>
                      <a:pPr algn="ctr">
                        <a:spcAft>
                          <a:spcPts val="0"/>
                        </a:spcAft>
                      </a:pPr>
                      <a:r>
                        <a:rPr lang="en-US" sz="1400" kern="100">
                          <a:effectLst/>
                          <a:latin typeface="+mj-ea"/>
                          <a:ea typeface="+mj-ea"/>
                        </a:rPr>
                        <a:t>fContact</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varchar(20)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联系人</a:t>
                      </a:r>
                      <a:endParaRPr lang="zh-CN" sz="1400" kern="100">
                        <a:effectLst/>
                        <a:latin typeface="+mj-ea"/>
                        <a:ea typeface="+mj-ea"/>
                        <a:cs typeface="Times New Roman" panose="02020603050405020304"/>
                      </a:endParaRPr>
                    </a:p>
                  </a:txBody>
                  <a:tcPr marL="51435" marR="51435" marT="0" marB="0" anchor="ctr"/>
                </a:tc>
              </a:tr>
              <a:tr h="308072">
                <a:tc>
                  <a:txBody>
                    <a:bodyPr/>
                    <a:lstStyle/>
                    <a:p>
                      <a:pPr algn="ctr">
                        <a:spcAft>
                          <a:spcPts val="0"/>
                        </a:spcAft>
                      </a:pPr>
                      <a:r>
                        <a:rPr lang="en-US" sz="1400" kern="100">
                          <a:effectLst/>
                          <a:latin typeface="+mj-ea"/>
                          <a:ea typeface="+mj-ea"/>
                        </a:rPr>
                        <a:t>fCharger</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varchar(20)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负责人</a:t>
                      </a:r>
                      <a:endParaRPr lang="zh-CN" sz="1400" kern="100">
                        <a:effectLst/>
                        <a:latin typeface="+mj-ea"/>
                        <a:ea typeface="+mj-ea"/>
                        <a:cs typeface="Times New Roman" panose="02020603050405020304"/>
                      </a:endParaRPr>
                    </a:p>
                  </a:txBody>
                  <a:tcPr marL="51435" marR="51435" marT="0" marB="0" anchor="ctr"/>
                </a:tc>
              </a:tr>
              <a:tr h="308072">
                <a:tc>
                  <a:txBody>
                    <a:bodyPr/>
                    <a:lstStyle/>
                    <a:p>
                      <a:pPr algn="ctr">
                        <a:spcAft>
                          <a:spcPts val="0"/>
                        </a:spcAft>
                      </a:pPr>
                      <a:r>
                        <a:rPr lang="en-US" sz="1400" kern="100">
                          <a:effectLst/>
                          <a:latin typeface="+mj-ea"/>
                          <a:ea typeface="+mj-ea"/>
                        </a:rPr>
                        <a:t>fTel</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varchar(15)</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联系电话</a:t>
                      </a:r>
                      <a:endParaRPr lang="zh-CN" sz="1400" kern="100">
                        <a:effectLst/>
                        <a:latin typeface="+mj-ea"/>
                        <a:ea typeface="+mj-ea"/>
                        <a:cs typeface="Times New Roman" panose="02020603050405020304"/>
                      </a:endParaRPr>
                    </a:p>
                  </a:txBody>
                  <a:tcPr marL="51435" marR="51435" marT="0" marB="0" anchor="ctr"/>
                </a:tc>
              </a:tr>
              <a:tr h="308072">
                <a:tc>
                  <a:txBody>
                    <a:bodyPr/>
                    <a:lstStyle/>
                    <a:p>
                      <a:pPr algn="ctr">
                        <a:spcAft>
                          <a:spcPts val="0"/>
                        </a:spcAft>
                      </a:pPr>
                      <a:r>
                        <a:rPr lang="en-US" sz="1400" kern="100">
                          <a:effectLst/>
                          <a:latin typeface="+mj-ea"/>
                          <a:ea typeface="+mj-ea"/>
                        </a:rPr>
                        <a:t>fZip</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char(6)</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邮编</a:t>
                      </a:r>
                      <a:endParaRPr lang="zh-CN" sz="1400" kern="100">
                        <a:effectLst/>
                        <a:latin typeface="+mj-ea"/>
                        <a:ea typeface="+mj-ea"/>
                        <a:cs typeface="Times New Roman" panose="02020603050405020304"/>
                      </a:endParaRPr>
                    </a:p>
                  </a:txBody>
                  <a:tcPr marL="51435" marR="51435" marT="0" marB="0" anchor="ctr"/>
                </a:tc>
              </a:tr>
              <a:tr h="308072">
                <a:tc>
                  <a:txBody>
                    <a:bodyPr/>
                    <a:lstStyle/>
                    <a:p>
                      <a:pPr algn="ctr">
                        <a:spcAft>
                          <a:spcPts val="0"/>
                        </a:spcAft>
                      </a:pPr>
                      <a:r>
                        <a:rPr lang="en-US" sz="1400" kern="100">
                          <a:effectLst/>
                          <a:latin typeface="+mj-ea"/>
                          <a:ea typeface="+mj-ea"/>
                        </a:rPr>
                        <a:t>fFax</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varchar(15)</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传真</a:t>
                      </a:r>
                      <a:endParaRPr lang="zh-CN" sz="1400" kern="100">
                        <a:effectLst/>
                        <a:latin typeface="+mj-ea"/>
                        <a:ea typeface="+mj-ea"/>
                        <a:cs typeface="Times New Roman" panose="02020603050405020304"/>
                      </a:endParaRPr>
                    </a:p>
                  </a:txBody>
                  <a:tcPr marL="51435" marR="51435" marT="0" marB="0" anchor="ctr"/>
                </a:tc>
              </a:tr>
              <a:tr h="308072">
                <a:tc>
                  <a:txBody>
                    <a:bodyPr/>
                    <a:lstStyle/>
                    <a:p>
                      <a:pPr algn="ctr">
                        <a:spcAft>
                          <a:spcPts val="0"/>
                        </a:spcAft>
                      </a:pPr>
                      <a:r>
                        <a:rPr lang="en-US" sz="1400" kern="100">
                          <a:effectLst/>
                          <a:latin typeface="+mj-ea"/>
                          <a:ea typeface="+mj-ea"/>
                        </a:rPr>
                        <a:t>fMemo</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varchar(200)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dirty="0">
                          <a:effectLst/>
                          <a:latin typeface="+mj-ea"/>
                          <a:ea typeface="+mj-ea"/>
                        </a:rPr>
                        <a:t>备注</a:t>
                      </a:r>
                      <a:endParaRPr lang="zh-CN" sz="1400" kern="100" dirty="0">
                        <a:effectLst/>
                        <a:latin typeface="+mj-ea"/>
                        <a:ea typeface="+mj-ea"/>
                        <a:cs typeface="Times New Roman" panose="02020603050405020304"/>
                      </a:endParaRPr>
                    </a:p>
                  </a:txBody>
                  <a:tcPr marL="51435" marR="51435" marT="0" marB="0" anchor="ctr"/>
                </a:tc>
              </a:tr>
            </a:tbl>
          </a:graphicData>
        </a:graphic>
      </p:graphicFrame>
      <p:sp>
        <p:nvSpPr>
          <p:cNvPr id="6" name="Rectangle 7"/>
          <p:cNvSpPr>
            <a:spLocks noChangeArrowheads="1"/>
          </p:cNvSpPr>
          <p:nvPr/>
        </p:nvSpPr>
        <p:spPr bwMode="auto">
          <a:xfrm>
            <a:off x="974390" y="812874"/>
            <a:ext cx="2121415" cy="526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123786" rIns="68580" bIns="123786" numCol="1" anchor="ctr" anchorCtr="0" compatLnSpc="1">
            <a:spAutoFit/>
          </a:bodyPr>
          <a:lstStyle/>
          <a:p>
            <a:pPr defTabSz="685800" fontAlgn="base">
              <a:spcBef>
                <a:spcPct val="0"/>
              </a:spcBef>
              <a:spcAft>
                <a:spcPct val="0"/>
              </a:spcAft>
            </a:pPr>
            <a:r>
              <a:rPr lang="en-US" altLang="zh-CN" b="1" dirty="0">
                <a:latin typeface="+mj-ea"/>
                <a:ea typeface="+mj-ea"/>
                <a:cs typeface="Times New Roman" panose="02020603050405020304" pitchFamily="18" charset="0"/>
              </a:rPr>
              <a:t>2</a:t>
            </a:r>
            <a:r>
              <a:rPr lang="zh-CN" altLang="en-US" b="1" dirty="0">
                <a:latin typeface="+mj-ea"/>
                <a:ea typeface="+mj-ea"/>
                <a:cs typeface="Times New Roman" panose="02020603050405020304" pitchFamily="18" charset="0"/>
              </a:rPr>
              <a:t>、单位表</a:t>
            </a:r>
            <a:r>
              <a:rPr lang="en-US" altLang="zh-CN" b="1" dirty="0">
                <a:latin typeface="+mj-ea"/>
                <a:ea typeface="+mj-ea"/>
                <a:cs typeface="Times New Roman" panose="02020603050405020304" pitchFamily="18" charset="0"/>
              </a:rPr>
              <a:t>(</a:t>
            </a:r>
            <a:r>
              <a:rPr lang="en-US" altLang="zh-CN" b="1" dirty="0" err="1">
                <a:latin typeface="+mj-ea"/>
                <a:ea typeface="+mj-ea"/>
                <a:cs typeface="Times New Roman" panose="02020603050405020304" pitchFamily="18" charset="0"/>
              </a:rPr>
              <a:t>t_dept</a:t>
            </a:r>
            <a:r>
              <a:rPr lang="en-US" altLang="zh-CN" b="1" dirty="0">
                <a:latin typeface="+mj-ea"/>
                <a:ea typeface="+mj-ea"/>
                <a:cs typeface="Times New Roman" panose="02020603050405020304" pitchFamily="18" charset="0"/>
              </a:rPr>
              <a:t>)</a:t>
            </a:r>
            <a:endParaRPr lang="en-US" altLang="zh-CN" b="1" dirty="0">
              <a:latin typeface="+mj-ea"/>
              <a:ea typeface="+mj-ea"/>
              <a:cs typeface="Times New Roman" panose="02020603050405020304" pitchFamily="18" charset="0"/>
            </a:endParaRPr>
          </a:p>
        </p:txBody>
      </p:sp>
      <p:sp>
        <p:nvSpPr>
          <p:cNvPr id="2" name="标题 1"/>
          <p:cNvSpPr>
            <a:spLocks noGrp="1"/>
          </p:cNvSpPr>
          <p:nvPr>
            <p:ph type="title"/>
          </p:nvPr>
        </p:nvSpPr>
        <p:spPr/>
        <p:txBody>
          <a:bodyPr/>
          <a:lstStyle/>
          <a:p>
            <a:r>
              <a:rPr lang="zh-CN" altLang="en-US" dirty="0">
                <a:latin typeface="+mn-ea"/>
              </a:rPr>
              <a:t>编写表结构</a:t>
            </a:r>
            <a:r>
              <a:rPr lang="zh-CN" altLang="en-US" dirty="0" smtClean="0">
                <a:latin typeface="+mn-ea"/>
              </a:rPr>
              <a:t>说明</a:t>
            </a:r>
            <a:endParaRPr lang="zh-CN" altLang="en-US" dirty="0"/>
          </a:p>
        </p:txBody>
      </p:sp>
      <p:sp>
        <p:nvSpPr>
          <p:cNvPr id="8" name="灯片编号占位符 7"/>
          <p:cNvSpPr>
            <a:spLocks noGrp="1"/>
          </p:cNvSpPr>
          <p:nvPr>
            <p:ph type="sldNum" sz="quarter" idx="12"/>
          </p:nvPr>
        </p:nvSpPr>
        <p:spPr/>
        <p:txBody>
          <a:bodyPr/>
          <a:lstStyle/>
          <a:p>
            <a:fld id="{58AE5905-16B5-4376-8977-98E1E2F27F66}" type="slidenum">
              <a:rPr lang="en-US" altLang="zh-CN" smtClean="0"/>
            </a:fld>
            <a:endParaRPr lang="en-US" altLang="zh-CN"/>
          </a:p>
        </p:txBody>
      </p:sp>
      <p:sp>
        <p:nvSpPr>
          <p:cNvPr id="3" name="日期占位符 2"/>
          <p:cNvSpPr>
            <a:spLocks noGrp="1"/>
          </p:cNvSpPr>
          <p:nvPr>
            <p:ph type="dt" sz="half" idx="10"/>
          </p:nvPr>
        </p:nvSpPr>
        <p:spPr/>
        <p:txBody>
          <a:bodyPr/>
          <a:lstStyle/>
          <a:p>
            <a:fld id="{DF6AF7D5-E132-4B65-A905-383D86B92E75}"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mn-ea"/>
              </a:rPr>
              <a:t>编写表结构</a:t>
            </a:r>
            <a:r>
              <a:rPr lang="zh-CN" altLang="en-US" dirty="0" smtClean="0">
                <a:latin typeface="+mn-ea"/>
              </a:rPr>
              <a:t>说明</a:t>
            </a:r>
            <a:endParaRPr lang="zh-CN" altLang="en-US" dirty="0"/>
          </a:p>
        </p:txBody>
      </p:sp>
      <p:sp>
        <p:nvSpPr>
          <p:cNvPr id="6" name="灯片编号占位符 5"/>
          <p:cNvSpPr>
            <a:spLocks noGrp="1"/>
          </p:cNvSpPr>
          <p:nvPr>
            <p:ph type="sldNum" sz="quarter" idx="12"/>
          </p:nvPr>
        </p:nvSpPr>
        <p:spPr/>
        <p:txBody>
          <a:bodyPr/>
          <a:lstStyle/>
          <a:p>
            <a:fld id="{58AE5905-16B5-4376-8977-98E1E2F27F66}" type="slidenum">
              <a:rPr lang="en-US" altLang="zh-CN" smtClean="0"/>
            </a:fld>
            <a:endParaRPr lang="en-US" altLang="zh-CN" dirty="0"/>
          </a:p>
        </p:txBody>
      </p:sp>
      <p:graphicFrame>
        <p:nvGraphicFramePr>
          <p:cNvPr id="4" name="表格 3"/>
          <p:cNvGraphicFramePr>
            <a:graphicFrameLocks noGrp="1"/>
          </p:cNvGraphicFramePr>
          <p:nvPr/>
        </p:nvGraphicFramePr>
        <p:xfrm>
          <a:off x="1682693" y="1611160"/>
          <a:ext cx="6445309" cy="1891862"/>
        </p:xfrm>
        <a:graphic>
          <a:graphicData uri="http://schemas.openxmlformats.org/drawingml/2006/table">
            <a:tbl>
              <a:tblPr firstRow="1" firstCol="1" bandRow="1">
                <a:tableStyleId>{5C22544A-7EE6-4342-B048-85BDC9FD1C3A}</a:tableStyleId>
              </a:tblPr>
              <a:tblGrid>
                <a:gridCol w="1288759"/>
                <a:gridCol w="1288759"/>
                <a:gridCol w="1122017"/>
                <a:gridCol w="1250066"/>
                <a:gridCol w="1495708"/>
              </a:tblGrid>
              <a:tr h="367037">
                <a:tc>
                  <a:txBody>
                    <a:bodyPr/>
                    <a:lstStyle/>
                    <a:p>
                      <a:pPr algn="ctr">
                        <a:spcAft>
                          <a:spcPts val="0"/>
                        </a:spcAft>
                      </a:pPr>
                      <a:r>
                        <a:rPr lang="zh-CN" sz="1600" kern="100" dirty="0">
                          <a:effectLst/>
                          <a:latin typeface="+mj-ea"/>
                          <a:ea typeface="+mj-ea"/>
                        </a:rPr>
                        <a:t>字段名称</a:t>
                      </a:r>
                      <a:endParaRPr lang="zh-CN" sz="16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dirty="0">
                          <a:effectLst/>
                          <a:latin typeface="+mj-ea"/>
                          <a:ea typeface="+mj-ea"/>
                        </a:rPr>
                        <a:t>数据类型</a:t>
                      </a:r>
                      <a:endParaRPr lang="zh-CN" sz="16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是否为空</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是否主键</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备注</a:t>
                      </a:r>
                      <a:endParaRPr lang="zh-CN" sz="1600" kern="100">
                        <a:effectLst/>
                        <a:latin typeface="+mj-ea"/>
                        <a:ea typeface="+mj-ea"/>
                        <a:cs typeface="Times New Roman" panose="02020603050405020304"/>
                      </a:endParaRPr>
                    </a:p>
                  </a:txBody>
                  <a:tcPr marL="51435" marR="51435" marT="0" marB="0" anchor="ctr"/>
                </a:tc>
              </a:tr>
              <a:tr h="367037">
                <a:tc>
                  <a:txBody>
                    <a:bodyPr/>
                    <a:lstStyle/>
                    <a:p>
                      <a:pPr algn="ctr">
                        <a:spcAft>
                          <a:spcPts val="0"/>
                        </a:spcAft>
                      </a:pPr>
                      <a:r>
                        <a:rPr lang="en-US" sz="1600" kern="100">
                          <a:effectLst/>
                          <a:latin typeface="+mj-ea"/>
                          <a:ea typeface="+mj-ea"/>
                        </a:rPr>
                        <a:t>fId</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int</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否</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是</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dirty="0">
                          <a:effectLst/>
                          <a:latin typeface="+mj-ea"/>
                          <a:ea typeface="+mj-ea"/>
                        </a:rPr>
                        <a:t>ID</a:t>
                      </a:r>
                      <a:r>
                        <a:rPr lang="zh-CN" sz="1600" kern="100" dirty="0">
                          <a:effectLst/>
                          <a:latin typeface="+mj-ea"/>
                          <a:ea typeface="+mj-ea"/>
                        </a:rPr>
                        <a:t>，自增</a:t>
                      </a:r>
                      <a:endParaRPr lang="zh-CN" sz="1600" kern="100" dirty="0">
                        <a:effectLst/>
                        <a:latin typeface="+mj-ea"/>
                        <a:ea typeface="+mj-ea"/>
                        <a:cs typeface="Times New Roman" panose="02020603050405020304"/>
                      </a:endParaRPr>
                    </a:p>
                  </a:txBody>
                  <a:tcPr marL="51435" marR="51435" marT="0" marB="0" anchor="ctr"/>
                </a:tc>
              </a:tr>
              <a:tr h="423714">
                <a:tc>
                  <a:txBody>
                    <a:bodyPr/>
                    <a:lstStyle/>
                    <a:p>
                      <a:pPr algn="ctr">
                        <a:spcAft>
                          <a:spcPts val="0"/>
                        </a:spcAft>
                      </a:pPr>
                      <a:r>
                        <a:rPr lang="en-US" sz="1600" kern="100">
                          <a:effectLst/>
                          <a:latin typeface="+mj-ea"/>
                          <a:ea typeface="+mj-ea"/>
                        </a:rPr>
                        <a:t>fItemName</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varchar(100)</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否</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dirty="0">
                          <a:effectLst/>
                          <a:latin typeface="+mj-ea"/>
                          <a:ea typeface="+mj-ea"/>
                        </a:rPr>
                        <a:t>竞赛项目名称</a:t>
                      </a:r>
                      <a:endParaRPr lang="zh-CN" sz="1600" kern="100" dirty="0">
                        <a:effectLst/>
                        <a:latin typeface="+mj-ea"/>
                        <a:ea typeface="+mj-ea"/>
                        <a:cs typeface="Times New Roman" panose="02020603050405020304"/>
                      </a:endParaRPr>
                    </a:p>
                  </a:txBody>
                  <a:tcPr marL="51435" marR="51435" marT="0" marB="0" anchor="ctr"/>
                </a:tc>
              </a:tr>
              <a:tr h="367037">
                <a:tc>
                  <a:txBody>
                    <a:bodyPr/>
                    <a:lstStyle/>
                    <a:p>
                      <a:pPr algn="ctr">
                        <a:spcAft>
                          <a:spcPts val="0"/>
                        </a:spcAft>
                      </a:pPr>
                      <a:r>
                        <a:rPr lang="en-US" sz="1600" kern="100">
                          <a:effectLst/>
                          <a:latin typeface="+mj-ea"/>
                          <a:ea typeface="+mj-ea"/>
                        </a:rPr>
                        <a:t>fAbbr</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varchar(20)</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否</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缩写</a:t>
                      </a:r>
                      <a:endParaRPr lang="zh-CN" sz="1600" kern="100">
                        <a:effectLst/>
                        <a:latin typeface="+mj-ea"/>
                        <a:ea typeface="+mj-ea"/>
                        <a:cs typeface="Times New Roman" panose="02020603050405020304"/>
                      </a:endParaRPr>
                    </a:p>
                  </a:txBody>
                  <a:tcPr marL="51435" marR="51435" marT="0" marB="0" anchor="ctr"/>
                </a:tc>
              </a:tr>
              <a:tr h="367037">
                <a:tc>
                  <a:txBody>
                    <a:bodyPr/>
                    <a:lstStyle/>
                    <a:p>
                      <a:pPr algn="ctr">
                        <a:spcAft>
                          <a:spcPts val="0"/>
                        </a:spcAft>
                      </a:pPr>
                      <a:r>
                        <a:rPr lang="en-US" sz="1600" kern="100" dirty="0" err="1">
                          <a:effectLst/>
                          <a:latin typeface="+mj-ea"/>
                          <a:ea typeface="+mj-ea"/>
                        </a:rPr>
                        <a:t>fGroup</a:t>
                      </a:r>
                      <a:endParaRPr lang="zh-CN" sz="16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dirty="0">
                          <a:effectLst/>
                          <a:latin typeface="+mj-ea"/>
                          <a:ea typeface="+mj-ea"/>
                        </a:rPr>
                        <a:t>varchar(20)</a:t>
                      </a:r>
                      <a:endParaRPr lang="zh-CN" sz="16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否</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dirty="0">
                          <a:effectLst/>
                          <a:latin typeface="+mj-ea"/>
                          <a:ea typeface="+mj-ea"/>
                        </a:rPr>
                        <a:t>组别</a:t>
                      </a:r>
                      <a:endParaRPr lang="zh-CN" sz="1600" kern="100" dirty="0">
                        <a:effectLst/>
                        <a:latin typeface="+mj-ea"/>
                        <a:ea typeface="+mj-ea"/>
                        <a:cs typeface="Times New Roman" panose="02020603050405020304"/>
                      </a:endParaRPr>
                    </a:p>
                  </a:txBody>
                  <a:tcPr marL="51435" marR="51435" marT="0" marB="0" anchor="ctr"/>
                </a:tc>
              </a:tr>
            </a:tbl>
          </a:graphicData>
        </a:graphic>
      </p:graphicFrame>
      <p:sp>
        <p:nvSpPr>
          <p:cNvPr id="5" name="Rectangle 1"/>
          <p:cNvSpPr>
            <a:spLocks noChangeArrowheads="1"/>
          </p:cNvSpPr>
          <p:nvPr/>
        </p:nvSpPr>
        <p:spPr bwMode="auto">
          <a:xfrm>
            <a:off x="965064" y="877972"/>
            <a:ext cx="2586285" cy="526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123786" rIns="68580" bIns="123786" numCol="1" anchor="ctr" anchorCtr="0" compatLnSpc="1">
            <a:spAutoFit/>
          </a:bodyPr>
          <a:lstStyle/>
          <a:p>
            <a:pPr defTabSz="685800" fontAlgn="base">
              <a:spcBef>
                <a:spcPct val="0"/>
              </a:spcBef>
              <a:spcAft>
                <a:spcPct val="0"/>
              </a:spcAft>
            </a:pPr>
            <a:r>
              <a:rPr lang="en-US" altLang="zh-CN" b="1" dirty="0">
                <a:latin typeface="+mj-ea"/>
                <a:ea typeface="+mj-ea"/>
                <a:cs typeface="Times New Roman" panose="02020603050405020304" pitchFamily="18" charset="0"/>
              </a:rPr>
              <a:t>3</a:t>
            </a:r>
            <a:r>
              <a:rPr lang="zh-CN" altLang="en-US" b="1" dirty="0">
                <a:latin typeface="+mj-ea"/>
                <a:ea typeface="+mj-ea"/>
                <a:cs typeface="Times New Roman" panose="02020603050405020304" pitchFamily="18" charset="0"/>
              </a:rPr>
              <a:t>、竞赛项目表</a:t>
            </a:r>
            <a:r>
              <a:rPr lang="en-US" altLang="zh-CN" b="1" dirty="0">
                <a:latin typeface="+mj-ea"/>
                <a:ea typeface="+mj-ea"/>
                <a:cs typeface="Times New Roman" panose="02020603050405020304" pitchFamily="18" charset="0"/>
              </a:rPr>
              <a:t>(</a:t>
            </a:r>
            <a:r>
              <a:rPr lang="en-US" altLang="zh-CN" b="1" dirty="0" err="1">
                <a:latin typeface="+mj-ea"/>
                <a:ea typeface="+mj-ea"/>
                <a:cs typeface="Times New Roman" panose="02020603050405020304" pitchFamily="18" charset="0"/>
              </a:rPr>
              <a:t>t_item</a:t>
            </a:r>
            <a:r>
              <a:rPr lang="en-US" altLang="zh-CN" b="1" dirty="0">
                <a:latin typeface="+mj-ea"/>
                <a:ea typeface="+mj-ea"/>
                <a:cs typeface="Times New Roman" panose="02020603050405020304" pitchFamily="18" charset="0"/>
              </a:rPr>
              <a:t>)</a:t>
            </a:r>
            <a:endParaRPr lang="en-US" altLang="zh-CN" b="1" dirty="0">
              <a:latin typeface="+mj-ea"/>
              <a:ea typeface="+mj-ea"/>
              <a:cs typeface="Times New Roman" panose="02020603050405020304" pitchFamily="18" charset="0"/>
            </a:endParaRPr>
          </a:p>
        </p:txBody>
      </p:sp>
      <p:sp>
        <p:nvSpPr>
          <p:cNvPr id="3" name="日期占位符 2"/>
          <p:cNvSpPr>
            <a:spLocks noGrp="1"/>
          </p:cNvSpPr>
          <p:nvPr>
            <p:ph type="dt" sz="half" idx="10"/>
          </p:nvPr>
        </p:nvSpPr>
        <p:spPr/>
        <p:txBody>
          <a:bodyPr/>
          <a:lstStyle/>
          <a:p>
            <a:fld id="{4965051B-5AE6-41B4-91D2-6FD95649FEB9}"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smtClean="0"/>
              <a:t>软件工程</a:t>
            </a:r>
            <a:endParaRPr lang="zh-CN"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1617111" y="1470450"/>
          <a:ext cx="5886655" cy="3023223"/>
        </p:xfrm>
        <a:graphic>
          <a:graphicData uri="http://schemas.openxmlformats.org/drawingml/2006/table">
            <a:tbl>
              <a:tblPr firstRow="1" firstCol="1" bandRow="1">
                <a:tableStyleId>{5C22544A-7EE6-4342-B048-85BDC9FD1C3A}</a:tableStyleId>
              </a:tblPr>
              <a:tblGrid>
                <a:gridCol w="1177055"/>
                <a:gridCol w="1177055"/>
                <a:gridCol w="1177055"/>
                <a:gridCol w="1177745"/>
                <a:gridCol w="1177745"/>
              </a:tblGrid>
              <a:tr h="370929">
                <a:tc>
                  <a:txBody>
                    <a:bodyPr/>
                    <a:lstStyle/>
                    <a:p>
                      <a:pPr algn="ctr">
                        <a:spcAft>
                          <a:spcPts val="0"/>
                        </a:spcAft>
                      </a:pPr>
                      <a:r>
                        <a:rPr lang="zh-CN" sz="1400" kern="100" dirty="0">
                          <a:effectLst/>
                          <a:latin typeface="+mj-ea"/>
                          <a:ea typeface="+mj-ea"/>
                        </a:rPr>
                        <a:t>字段名称</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数据类型</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是否为空</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是否主键</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备注</a:t>
                      </a:r>
                      <a:endParaRPr lang="zh-CN" sz="1400" kern="100">
                        <a:effectLst/>
                        <a:latin typeface="+mj-ea"/>
                        <a:ea typeface="+mj-ea"/>
                        <a:cs typeface="Times New Roman" panose="02020603050405020304"/>
                      </a:endParaRPr>
                    </a:p>
                  </a:txBody>
                  <a:tcPr marL="51435" marR="51435" marT="0" marB="0" anchor="ctr"/>
                </a:tc>
              </a:tr>
              <a:tr h="370929">
                <a:tc>
                  <a:txBody>
                    <a:bodyPr/>
                    <a:lstStyle/>
                    <a:p>
                      <a:pPr algn="ctr">
                        <a:spcAft>
                          <a:spcPts val="0"/>
                        </a:spcAft>
                      </a:pPr>
                      <a:r>
                        <a:rPr lang="en-US" sz="1400" kern="100">
                          <a:effectLst/>
                          <a:latin typeface="+mj-ea"/>
                          <a:ea typeface="+mj-ea"/>
                        </a:rPr>
                        <a:t>fNo</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varchar(20)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否</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是</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注册证号</a:t>
                      </a:r>
                      <a:endParaRPr lang="zh-CN" sz="1400" kern="100">
                        <a:effectLst/>
                        <a:latin typeface="+mj-ea"/>
                        <a:ea typeface="+mj-ea"/>
                        <a:cs typeface="Times New Roman" panose="02020603050405020304"/>
                      </a:endParaRPr>
                    </a:p>
                  </a:txBody>
                  <a:tcPr marL="51435" marR="51435" marT="0" marB="0" anchor="ctr"/>
                </a:tc>
              </a:tr>
              <a:tr h="411480">
                <a:tc>
                  <a:txBody>
                    <a:bodyPr/>
                    <a:lstStyle/>
                    <a:p>
                      <a:pPr algn="ctr">
                        <a:spcAft>
                          <a:spcPts val="0"/>
                        </a:spcAft>
                      </a:pPr>
                      <a:r>
                        <a:rPr lang="en-US" sz="1400" kern="100">
                          <a:effectLst/>
                          <a:latin typeface="+mj-ea"/>
                          <a:ea typeface="+mj-ea"/>
                        </a:rPr>
                        <a:t>fAthleteName</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varchar(50)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否</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姓名</a:t>
                      </a:r>
                      <a:endParaRPr lang="zh-CN" sz="1400" kern="100">
                        <a:effectLst/>
                        <a:latin typeface="+mj-ea"/>
                        <a:ea typeface="+mj-ea"/>
                        <a:cs typeface="Times New Roman" panose="02020603050405020304"/>
                      </a:endParaRPr>
                    </a:p>
                  </a:txBody>
                  <a:tcPr marL="51435" marR="51435" marT="0" marB="0" anchor="ctr"/>
                </a:tc>
              </a:tr>
              <a:tr h="370929">
                <a:tc>
                  <a:txBody>
                    <a:bodyPr/>
                    <a:lstStyle/>
                    <a:p>
                      <a:pPr algn="ctr">
                        <a:spcAft>
                          <a:spcPts val="0"/>
                        </a:spcAft>
                      </a:pPr>
                      <a:r>
                        <a:rPr lang="en-US" sz="1400" kern="100">
                          <a:effectLst/>
                          <a:latin typeface="+mj-ea"/>
                          <a:ea typeface="+mj-ea"/>
                        </a:rPr>
                        <a:t>fGender</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否</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性别</a:t>
                      </a:r>
                      <a:endParaRPr lang="zh-CN" sz="1400" kern="100">
                        <a:effectLst/>
                        <a:latin typeface="+mj-ea"/>
                        <a:ea typeface="+mj-ea"/>
                        <a:cs typeface="Times New Roman" panose="02020603050405020304"/>
                      </a:endParaRPr>
                    </a:p>
                  </a:txBody>
                  <a:tcPr marL="51435" marR="51435" marT="0" marB="0" anchor="ctr"/>
                </a:tc>
              </a:tr>
              <a:tr h="370929">
                <a:tc>
                  <a:txBody>
                    <a:bodyPr/>
                    <a:lstStyle/>
                    <a:p>
                      <a:pPr algn="ctr">
                        <a:spcAft>
                          <a:spcPts val="0"/>
                        </a:spcAft>
                      </a:pPr>
                      <a:r>
                        <a:rPr lang="en-US" sz="1400" kern="100">
                          <a:effectLst/>
                          <a:latin typeface="+mj-ea"/>
                          <a:ea typeface="+mj-ea"/>
                        </a:rPr>
                        <a:t>fBirthdate</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datetime</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否</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出生日期</a:t>
                      </a:r>
                      <a:endParaRPr lang="zh-CN" sz="1400" kern="100">
                        <a:effectLst/>
                        <a:latin typeface="+mj-ea"/>
                        <a:ea typeface="+mj-ea"/>
                        <a:cs typeface="Times New Roman" panose="02020603050405020304"/>
                      </a:endParaRPr>
                    </a:p>
                  </a:txBody>
                  <a:tcPr marL="51435" marR="51435" marT="0" marB="0" anchor="ctr"/>
                </a:tc>
              </a:tr>
              <a:tr h="370929">
                <a:tc>
                  <a:txBody>
                    <a:bodyPr/>
                    <a:lstStyle/>
                    <a:p>
                      <a:pPr algn="ctr">
                        <a:spcAft>
                          <a:spcPts val="0"/>
                        </a:spcAft>
                      </a:pPr>
                      <a:r>
                        <a:rPr lang="en-US" sz="1400" kern="100">
                          <a:effectLst/>
                          <a:latin typeface="+mj-ea"/>
                          <a:ea typeface="+mj-ea"/>
                        </a:rPr>
                        <a:t>fDept</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varchar(50)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否</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所属单位</a:t>
                      </a:r>
                      <a:endParaRPr lang="zh-CN" sz="1400" kern="100">
                        <a:effectLst/>
                        <a:latin typeface="+mj-ea"/>
                        <a:ea typeface="+mj-ea"/>
                        <a:cs typeface="Times New Roman" panose="02020603050405020304"/>
                      </a:endParaRPr>
                    </a:p>
                  </a:txBody>
                  <a:tcPr marL="51435" marR="51435" marT="0" marB="0" anchor="ctr"/>
                </a:tc>
              </a:tr>
              <a:tr h="370929">
                <a:tc>
                  <a:txBody>
                    <a:bodyPr/>
                    <a:lstStyle/>
                    <a:p>
                      <a:pPr algn="ctr">
                        <a:spcAft>
                          <a:spcPts val="0"/>
                        </a:spcAft>
                      </a:pPr>
                      <a:r>
                        <a:rPr lang="en-US" sz="1400" kern="100">
                          <a:effectLst/>
                          <a:latin typeface="+mj-ea"/>
                          <a:ea typeface="+mj-ea"/>
                        </a:rPr>
                        <a:t>fId</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char(18)</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否</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身份证号</a:t>
                      </a:r>
                      <a:endParaRPr lang="zh-CN" sz="1400" kern="100">
                        <a:effectLst/>
                        <a:latin typeface="+mj-ea"/>
                        <a:ea typeface="+mj-ea"/>
                        <a:cs typeface="Times New Roman" panose="02020603050405020304"/>
                      </a:endParaRPr>
                    </a:p>
                  </a:txBody>
                  <a:tcPr marL="51435" marR="51435" marT="0" marB="0" anchor="ctr"/>
                </a:tc>
              </a:tr>
              <a:tr h="370929">
                <a:tc>
                  <a:txBody>
                    <a:bodyPr/>
                    <a:lstStyle/>
                    <a:p>
                      <a:pPr algn="ctr">
                        <a:spcAft>
                          <a:spcPts val="0"/>
                        </a:spcAft>
                      </a:pPr>
                      <a:r>
                        <a:rPr lang="en-US" sz="1400" kern="100">
                          <a:effectLst/>
                          <a:latin typeface="+mj-ea"/>
                          <a:ea typeface="+mj-ea"/>
                        </a:rPr>
                        <a:t>fMemo</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varchar(200)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a:effectLst/>
                          <a:latin typeface="+mj-ea"/>
                          <a:ea typeface="+mj-ea"/>
                        </a:rPr>
                        <a:t> </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dirty="0">
                          <a:effectLst/>
                          <a:latin typeface="+mj-ea"/>
                          <a:ea typeface="+mj-ea"/>
                        </a:rPr>
                        <a:t>备注</a:t>
                      </a:r>
                      <a:endParaRPr lang="zh-CN" sz="1400" kern="100" dirty="0">
                        <a:effectLst/>
                        <a:latin typeface="+mj-ea"/>
                        <a:ea typeface="+mj-ea"/>
                        <a:cs typeface="Times New Roman" panose="02020603050405020304"/>
                      </a:endParaRPr>
                    </a:p>
                  </a:txBody>
                  <a:tcPr marL="51435" marR="51435" marT="0" marB="0" anchor="ctr"/>
                </a:tc>
              </a:tr>
            </a:tbl>
          </a:graphicData>
        </a:graphic>
      </p:graphicFrame>
      <p:sp>
        <p:nvSpPr>
          <p:cNvPr id="5" name="Rectangle 1"/>
          <p:cNvSpPr>
            <a:spLocks noChangeArrowheads="1"/>
          </p:cNvSpPr>
          <p:nvPr/>
        </p:nvSpPr>
        <p:spPr bwMode="auto">
          <a:xfrm>
            <a:off x="955424" y="886187"/>
            <a:ext cx="2704908" cy="526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123786" rIns="68580" bIns="123786" numCol="1" anchor="ctr" anchorCtr="0" compatLnSpc="1">
            <a:spAutoFit/>
          </a:bodyPr>
          <a:lstStyle/>
          <a:p>
            <a:pPr defTabSz="685800" fontAlgn="base">
              <a:spcBef>
                <a:spcPct val="0"/>
              </a:spcBef>
              <a:spcAft>
                <a:spcPct val="0"/>
              </a:spcAft>
            </a:pPr>
            <a:r>
              <a:rPr lang="en-US" altLang="zh-CN" b="1" dirty="0">
                <a:latin typeface="+mj-ea"/>
                <a:ea typeface="+mj-ea"/>
                <a:cs typeface="Times New Roman" panose="02020603050405020304" pitchFamily="18" charset="0"/>
              </a:rPr>
              <a:t>4</a:t>
            </a:r>
            <a:r>
              <a:rPr lang="zh-CN" altLang="en-US" b="1" dirty="0">
                <a:latin typeface="+mj-ea"/>
                <a:ea typeface="+mj-ea"/>
                <a:cs typeface="Times New Roman" panose="02020603050405020304" pitchFamily="18" charset="0"/>
              </a:rPr>
              <a:t>、运动员表</a:t>
            </a:r>
            <a:r>
              <a:rPr lang="en-US" altLang="zh-CN" b="1" dirty="0">
                <a:latin typeface="+mj-ea"/>
                <a:ea typeface="+mj-ea"/>
                <a:cs typeface="Times New Roman" panose="02020603050405020304" pitchFamily="18" charset="0"/>
              </a:rPr>
              <a:t>(</a:t>
            </a:r>
            <a:r>
              <a:rPr lang="en-US" altLang="zh-CN" b="1" dirty="0" err="1">
                <a:latin typeface="+mj-ea"/>
                <a:ea typeface="+mj-ea"/>
                <a:cs typeface="Times New Roman" panose="02020603050405020304" pitchFamily="18" charset="0"/>
              </a:rPr>
              <a:t>t_athlete</a:t>
            </a:r>
            <a:r>
              <a:rPr lang="en-US" altLang="zh-CN" b="1" dirty="0">
                <a:latin typeface="+mj-ea"/>
                <a:ea typeface="+mj-ea"/>
                <a:cs typeface="Times New Roman" panose="02020603050405020304" pitchFamily="18" charset="0"/>
              </a:rPr>
              <a:t>)</a:t>
            </a:r>
            <a:endParaRPr lang="en-US" altLang="zh-CN" b="1" dirty="0">
              <a:latin typeface="+mj-ea"/>
              <a:ea typeface="+mj-ea"/>
              <a:cs typeface="Times New Roman" panose="02020603050405020304" pitchFamily="18" charset="0"/>
            </a:endParaRPr>
          </a:p>
        </p:txBody>
      </p:sp>
      <p:sp>
        <p:nvSpPr>
          <p:cNvPr id="7" name="标题 6"/>
          <p:cNvSpPr>
            <a:spLocks noGrp="1"/>
          </p:cNvSpPr>
          <p:nvPr>
            <p:ph type="title"/>
          </p:nvPr>
        </p:nvSpPr>
        <p:spPr/>
        <p:txBody>
          <a:bodyPr/>
          <a:lstStyle/>
          <a:p>
            <a:r>
              <a:rPr lang="zh-CN" altLang="en-US" dirty="0">
                <a:latin typeface="+mn-ea"/>
              </a:rPr>
              <a:t>编写表结构</a:t>
            </a:r>
            <a:r>
              <a:rPr lang="zh-CN" altLang="en-US" dirty="0" smtClean="0">
                <a:latin typeface="+mn-ea"/>
              </a:rPr>
              <a:t>说明</a:t>
            </a:r>
            <a:endParaRPr lang="zh-CN" altLang="en-US" dirty="0"/>
          </a:p>
        </p:txBody>
      </p:sp>
      <p:sp>
        <p:nvSpPr>
          <p:cNvPr id="6" name="灯片编号占位符 5"/>
          <p:cNvSpPr>
            <a:spLocks noGrp="1"/>
          </p:cNvSpPr>
          <p:nvPr>
            <p:ph type="sldNum" sz="quarter" idx="12"/>
          </p:nvPr>
        </p:nvSpPr>
        <p:spPr/>
        <p:txBody>
          <a:bodyPr/>
          <a:lstStyle/>
          <a:p>
            <a:fld id="{58AE5905-16B5-4376-8977-98E1E2F27F66}" type="slidenum">
              <a:rPr lang="en-US" altLang="zh-CN" smtClean="0"/>
            </a:fld>
            <a:endParaRPr lang="en-US" altLang="zh-CN"/>
          </a:p>
        </p:txBody>
      </p:sp>
      <p:sp>
        <p:nvSpPr>
          <p:cNvPr id="8" name="日期占位符 7"/>
          <p:cNvSpPr>
            <a:spLocks noGrp="1"/>
          </p:cNvSpPr>
          <p:nvPr>
            <p:ph type="dt" sz="half" idx="10"/>
          </p:nvPr>
        </p:nvSpPr>
        <p:spPr/>
        <p:txBody>
          <a:bodyPr/>
          <a:lstStyle/>
          <a:p>
            <a:fld id="{10CF1EC3-3919-4F3C-8381-95AF70D919C7}" type="datetime1">
              <a:rPr lang="zh-CN" altLang="en-US" smtClean="0"/>
            </a:fld>
            <a:endParaRPr lang="zh-CN" altLang="en-US"/>
          </a:p>
        </p:txBody>
      </p:sp>
      <p:sp>
        <p:nvSpPr>
          <p:cNvPr id="9" name="页脚占位符 8"/>
          <p:cNvSpPr>
            <a:spLocks noGrp="1"/>
          </p:cNvSpPr>
          <p:nvPr>
            <p:ph type="ftr" sz="quarter" idx="11"/>
          </p:nvPr>
        </p:nvSpPr>
        <p:spPr/>
        <p:txBody>
          <a:bodyPr/>
          <a:lstStyle/>
          <a:p>
            <a:r>
              <a:rPr lang="zh-CN" altLang="en-US" smtClean="0"/>
              <a:t>软件工程</a:t>
            </a:r>
            <a:endParaRPr lang="zh-CN"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729574" y="916073"/>
            <a:ext cx="2232021"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pPr defTabSz="685800" fontAlgn="base">
              <a:spcBef>
                <a:spcPct val="0"/>
              </a:spcBef>
              <a:spcAft>
                <a:spcPct val="0"/>
              </a:spcAft>
            </a:pPr>
            <a:r>
              <a:rPr lang="en-US" altLang="zh-CN" b="1" dirty="0">
                <a:latin typeface="+mj-ea"/>
                <a:ea typeface="+mj-ea"/>
                <a:cs typeface="Times New Roman" panose="02020603050405020304" pitchFamily="18" charset="0"/>
              </a:rPr>
              <a:t>5</a:t>
            </a:r>
            <a:r>
              <a:rPr lang="zh-CN" altLang="en-US" b="1" dirty="0">
                <a:latin typeface="+mj-ea"/>
                <a:ea typeface="+mj-ea"/>
                <a:cs typeface="Times New Roman" panose="02020603050405020304" pitchFamily="18" charset="0"/>
              </a:rPr>
              <a:t>、赛事表</a:t>
            </a:r>
            <a:r>
              <a:rPr lang="en-US" altLang="zh-CN" b="1" dirty="0">
                <a:latin typeface="+mj-ea"/>
                <a:ea typeface="+mj-ea"/>
                <a:cs typeface="Times New Roman" panose="02020603050405020304" pitchFamily="18" charset="0"/>
              </a:rPr>
              <a:t>(</a:t>
            </a:r>
            <a:r>
              <a:rPr lang="en-US" altLang="zh-CN" b="1" dirty="0" err="1">
                <a:latin typeface="+mj-ea"/>
                <a:ea typeface="+mj-ea"/>
                <a:cs typeface="Times New Roman" panose="02020603050405020304" pitchFamily="18" charset="0"/>
              </a:rPr>
              <a:t>t_game</a:t>
            </a:r>
            <a:r>
              <a:rPr lang="en-US" altLang="zh-CN" b="1" dirty="0">
                <a:latin typeface="+mj-ea"/>
                <a:ea typeface="+mj-ea"/>
                <a:cs typeface="Times New Roman" panose="02020603050405020304" pitchFamily="18" charset="0"/>
              </a:rPr>
              <a:t>)</a:t>
            </a:r>
            <a:endParaRPr lang="en-US" altLang="zh-CN" dirty="0">
              <a:latin typeface="+mj-ea"/>
              <a:ea typeface="+mj-ea"/>
              <a:cs typeface="宋体" panose="02010600030101010101" pitchFamily="2" charset="-122"/>
            </a:endParaRPr>
          </a:p>
        </p:txBody>
      </p:sp>
      <p:sp>
        <p:nvSpPr>
          <p:cNvPr id="6" name="标题 5"/>
          <p:cNvSpPr>
            <a:spLocks noGrp="1"/>
          </p:cNvSpPr>
          <p:nvPr>
            <p:ph type="title"/>
          </p:nvPr>
        </p:nvSpPr>
        <p:spPr/>
        <p:txBody>
          <a:bodyPr/>
          <a:lstStyle/>
          <a:p>
            <a:r>
              <a:rPr lang="zh-CN" altLang="en-US" dirty="0">
                <a:latin typeface="+mn-ea"/>
              </a:rPr>
              <a:t>编写表结构</a:t>
            </a:r>
            <a:r>
              <a:rPr lang="zh-CN" altLang="en-US" dirty="0" smtClean="0">
                <a:latin typeface="+mn-ea"/>
              </a:rPr>
              <a:t>说明</a:t>
            </a:r>
            <a:endParaRPr lang="zh-CN" altLang="en-US" dirty="0"/>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4" name="表格 3"/>
          <p:cNvGraphicFramePr>
            <a:graphicFrameLocks noGrp="1"/>
          </p:cNvGraphicFramePr>
          <p:nvPr/>
        </p:nvGraphicFramePr>
        <p:xfrm>
          <a:off x="3052372" y="0"/>
          <a:ext cx="5940661" cy="5120640"/>
        </p:xfrm>
        <a:graphic>
          <a:graphicData uri="http://schemas.openxmlformats.org/drawingml/2006/table">
            <a:tbl>
              <a:tblPr firstRow="1" firstCol="1" bandRow="1">
                <a:tableStyleId>{5C22544A-7EE6-4342-B048-85BDC9FD1C3A}</a:tableStyleId>
              </a:tblPr>
              <a:tblGrid>
                <a:gridCol w="1428293"/>
                <a:gridCol w="1309255"/>
                <a:gridCol w="810491"/>
                <a:gridCol w="822960"/>
                <a:gridCol w="1569662"/>
              </a:tblGrid>
              <a:tr h="182880">
                <a:tc>
                  <a:txBody>
                    <a:bodyPr/>
                    <a:lstStyle/>
                    <a:p>
                      <a:pPr algn="ctr">
                        <a:spcAft>
                          <a:spcPts val="0"/>
                        </a:spcAft>
                      </a:pPr>
                      <a:r>
                        <a:rPr lang="zh-CN" sz="1400" kern="100" dirty="0">
                          <a:effectLst/>
                          <a:latin typeface="+mj-ea"/>
                          <a:ea typeface="+mj-ea"/>
                        </a:rPr>
                        <a:t>字段名称</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数据类型</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是否为空</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是否主键</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备注</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fId</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int</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否</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是</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ID</a:t>
                      </a:r>
                      <a:r>
                        <a:rPr lang="zh-CN" sz="1400" kern="100">
                          <a:effectLst/>
                          <a:latin typeface="+mj-ea"/>
                          <a:ea typeface="+mj-ea"/>
                        </a:rPr>
                        <a:t>，自增</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fGameName</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varchar(100)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赛事名称</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fYear</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char(4)</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赛事年份</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fHost</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varchar(100)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主办单位</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fCoHost</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varchar(100)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协办单位</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fHostPerson</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varchar(20)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主办单位联系人</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fHostTel</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varchar(15)</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主办单位电话</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dirty="0" err="1">
                          <a:effectLst/>
                          <a:latin typeface="+mj-ea"/>
                          <a:ea typeface="+mj-ea"/>
                        </a:rPr>
                        <a:t>fCoHostPerson</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varchar(20)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协办单位联系人</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dirty="0" err="1">
                          <a:effectLst/>
                          <a:latin typeface="+mj-ea"/>
                          <a:ea typeface="+mj-ea"/>
                        </a:rPr>
                        <a:t>fCoHostTel</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err="1">
                          <a:effectLst/>
                          <a:latin typeface="+mj-ea"/>
                          <a:ea typeface="+mj-ea"/>
                        </a:rPr>
                        <a:t>varchar</a:t>
                      </a:r>
                      <a:r>
                        <a:rPr lang="en-US" sz="1400" kern="100" dirty="0">
                          <a:effectLst/>
                          <a:latin typeface="+mj-ea"/>
                          <a:ea typeface="+mj-ea"/>
                        </a:rPr>
                        <a:t>(15)</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协办单位电话</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fTime</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varchar(20)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比赛时间</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fPlace</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varchar(100)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比赛地点</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fBeginTime</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datetime</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报名开始时间</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fEndTime</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datetime</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报名截至时间</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fMethod</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varchar(100)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报名方法</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fItem</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varchar(200)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竞赛项目</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fRule</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varchar(1000)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dirty="0">
                          <a:effectLst/>
                          <a:latin typeface="+mj-ea"/>
                          <a:ea typeface="+mj-ea"/>
                        </a:rPr>
                        <a:t>竞赛办法</a:t>
                      </a:r>
                      <a:endParaRPr lang="zh-CN" sz="1400" kern="100" dirty="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fCloth</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varchar(1000)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dirty="0">
                          <a:effectLst/>
                          <a:latin typeface="+mj-ea"/>
                          <a:ea typeface="+mj-ea"/>
                        </a:rPr>
                        <a:t>参赛服装和器材</a:t>
                      </a:r>
                      <a:endParaRPr lang="zh-CN" sz="1400" kern="100" dirty="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fPride</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varchar(1000)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奖励与计分办法</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fOther</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varchar(1000)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dirty="0">
                          <a:effectLst/>
                          <a:latin typeface="+mj-ea"/>
                          <a:ea typeface="+mj-ea"/>
                        </a:rPr>
                        <a:t> </a:t>
                      </a:r>
                      <a:endParaRPr lang="zh-CN" sz="14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其它</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fAppend</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varchar(100)</a:t>
                      </a:r>
                      <a:endParaRPr lang="zh-CN" sz="1400" kern="100">
                        <a:effectLst/>
                        <a:latin typeface="+mj-ea"/>
                        <a:ea typeface="+mj-ea"/>
                        <a:cs typeface="Times New Roman" panose="02020603050405020304"/>
                      </a:endParaRPr>
                    </a:p>
                  </a:txBody>
                  <a:tcPr marL="51435" marR="51435" marT="0" marB="0" anchor="ctr"/>
                </a:tc>
                <a:tc>
                  <a:txBody>
                    <a:bodyPr/>
                    <a:lstStyle/>
                    <a:p>
                      <a:endParaRPr lang="zh-CN" altLang="en-US" sz="1400" dirty="0">
                        <a:latin typeface="+mj-ea"/>
                        <a:ea typeface="+mj-ea"/>
                      </a:endParaRPr>
                    </a:p>
                  </a:txBody>
                  <a:tcPr marL="51435" marR="51435" marT="0" marB="0" anchor="ctr"/>
                </a:tc>
                <a:tc>
                  <a:txBody>
                    <a:bodyPr/>
                    <a:lstStyle/>
                    <a:p>
                      <a:endParaRPr lang="zh-CN" altLang="en-US" sz="1400" dirty="0">
                        <a:latin typeface="+mj-ea"/>
                        <a:ea typeface="+mj-ea"/>
                      </a:endParaRPr>
                    </a:p>
                  </a:txBody>
                  <a:tcPr marL="51435" marR="51435" marT="0" marB="0" anchor="ctr"/>
                </a:tc>
                <a:tc>
                  <a:txBody>
                    <a:bodyPr/>
                    <a:lstStyle/>
                    <a:p>
                      <a:pPr algn="ctr">
                        <a:spcAft>
                          <a:spcPts val="0"/>
                        </a:spcAft>
                      </a:pPr>
                      <a:r>
                        <a:rPr lang="zh-CN" sz="1400" kern="100">
                          <a:effectLst/>
                          <a:latin typeface="+mj-ea"/>
                          <a:ea typeface="+mj-ea"/>
                        </a:rPr>
                        <a:t>相关附件</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fStatus</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varchar(10)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a:effectLst/>
                          <a:latin typeface="+mj-ea"/>
                          <a:ea typeface="+mj-ea"/>
                        </a:rPr>
                        <a:t>状态</a:t>
                      </a:r>
                      <a:endParaRPr lang="zh-CN" sz="1400" kern="100">
                        <a:effectLst/>
                        <a:latin typeface="+mj-ea"/>
                        <a:ea typeface="+mj-ea"/>
                        <a:cs typeface="Times New Roman" panose="02020603050405020304"/>
                      </a:endParaRPr>
                    </a:p>
                  </a:txBody>
                  <a:tcPr marL="51435" marR="51435" marT="0" marB="0" anchor="ctr"/>
                </a:tc>
              </a:tr>
              <a:tr h="182880">
                <a:tc>
                  <a:txBody>
                    <a:bodyPr/>
                    <a:lstStyle/>
                    <a:p>
                      <a:pPr algn="ctr">
                        <a:spcAft>
                          <a:spcPts val="0"/>
                        </a:spcAft>
                      </a:pPr>
                      <a:r>
                        <a:rPr lang="en-US" sz="1400" kern="100">
                          <a:effectLst/>
                          <a:latin typeface="+mj-ea"/>
                          <a:ea typeface="+mj-ea"/>
                        </a:rPr>
                        <a:t>fMemo</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varchar(200)</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400" kern="100">
                          <a:effectLst/>
                          <a:latin typeface="+mj-ea"/>
                          <a:ea typeface="+mj-ea"/>
                        </a:rPr>
                        <a:t> </a:t>
                      </a:r>
                      <a:endParaRPr lang="zh-CN" sz="14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400" kern="100" dirty="0">
                          <a:effectLst/>
                          <a:latin typeface="+mj-ea"/>
                          <a:ea typeface="+mj-ea"/>
                        </a:rPr>
                        <a:t>备注</a:t>
                      </a:r>
                      <a:endParaRPr lang="zh-CN" sz="1400" kern="100" dirty="0">
                        <a:effectLst/>
                        <a:latin typeface="+mj-ea"/>
                        <a:ea typeface="+mj-ea"/>
                        <a:cs typeface="Times New Roman" panose="02020603050405020304"/>
                      </a:endParaRPr>
                    </a:p>
                  </a:txBody>
                  <a:tcPr marL="51435" marR="51435" marT="0" marB="0" anchor="ctr"/>
                </a:tc>
              </a:tr>
            </a:tbl>
          </a:graphicData>
        </a:graphic>
      </p:graphicFrame>
      <p:sp>
        <p:nvSpPr>
          <p:cNvPr id="9" name="日期占位符 8"/>
          <p:cNvSpPr>
            <a:spLocks noGrp="1"/>
          </p:cNvSpPr>
          <p:nvPr>
            <p:ph type="dt" sz="half" idx="10"/>
          </p:nvPr>
        </p:nvSpPr>
        <p:spPr/>
        <p:txBody>
          <a:bodyPr/>
          <a:lstStyle/>
          <a:p>
            <a:fld id="{288C503A-A6DE-4A79-BDC0-19EDAD34BD3D}"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1466302" y="1549014"/>
          <a:ext cx="6175901" cy="1386727"/>
        </p:xfrm>
        <a:graphic>
          <a:graphicData uri="http://schemas.openxmlformats.org/drawingml/2006/table">
            <a:tbl>
              <a:tblPr firstRow="1" firstCol="1" bandRow="1">
                <a:tableStyleId>{5C22544A-7EE6-4342-B048-85BDC9FD1C3A}</a:tableStyleId>
              </a:tblPr>
              <a:tblGrid>
                <a:gridCol w="1122508"/>
                <a:gridCol w="1122508"/>
                <a:gridCol w="1122508"/>
                <a:gridCol w="1123166"/>
                <a:gridCol w="1685211"/>
              </a:tblGrid>
              <a:tr h="317066">
                <a:tc>
                  <a:txBody>
                    <a:bodyPr/>
                    <a:lstStyle/>
                    <a:p>
                      <a:pPr algn="ctr">
                        <a:spcAft>
                          <a:spcPts val="0"/>
                        </a:spcAft>
                      </a:pPr>
                      <a:r>
                        <a:rPr lang="zh-CN" sz="1600" kern="100" dirty="0">
                          <a:effectLst/>
                          <a:latin typeface="+mj-ea"/>
                          <a:ea typeface="+mj-ea"/>
                        </a:rPr>
                        <a:t>字段名称</a:t>
                      </a:r>
                      <a:endParaRPr lang="zh-CN" sz="16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dirty="0">
                          <a:effectLst/>
                          <a:latin typeface="+mj-ea"/>
                          <a:ea typeface="+mj-ea"/>
                        </a:rPr>
                        <a:t>数据类型</a:t>
                      </a:r>
                      <a:endParaRPr lang="zh-CN" sz="16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是否为空</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是否主键</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备注</a:t>
                      </a:r>
                      <a:endParaRPr lang="zh-CN" sz="1600" kern="100">
                        <a:effectLst/>
                        <a:latin typeface="+mj-ea"/>
                        <a:ea typeface="+mj-ea"/>
                        <a:cs typeface="Times New Roman" panose="02020603050405020304"/>
                      </a:endParaRPr>
                    </a:p>
                  </a:txBody>
                  <a:tcPr marL="51435" marR="51435" marT="0" marB="0" anchor="ctr"/>
                </a:tc>
              </a:tr>
              <a:tr h="306129">
                <a:tc>
                  <a:txBody>
                    <a:bodyPr/>
                    <a:lstStyle/>
                    <a:p>
                      <a:pPr algn="ctr">
                        <a:spcAft>
                          <a:spcPts val="0"/>
                        </a:spcAft>
                      </a:pPr>
                      <a:r>
                        <a:rPr lang="en-US" sz="1600" kern="100">
                          <a:effectLst/>
                          <a:latin typeface="+mj-ea"/>
                          <a:ea typeface="+mj-ea"/>
                        </a:rPr>
                        <a:t>fId</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int</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否</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dirty="0">
                          <a:effectLst/>
                          <a:latin typeface="+mj-ea"/>
                          <a:ea typeface="+mj-ea"/>
                        </a:rPr>
                        <a:t>是</a:t>
                      </a:r>
                      <a:endParaRPr lang="zh-CN" sz="16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编号，自增</a:t>
                      </a:r>
                      <a:endParaRPr lang="zh-CN" sz="1600" kern="100">
                        <a:effectLst/>
                        <a:latin typeface="+mj-ea"/>
                        <a:ea typeface="+mj-ea"/>
                        <a:cs typeface="Times New Roman" panose="02020603050405020304"/>
                      </a:endParaRPr>
                    </a:p>
                  </a:txBody>
                  <a:tcPr marL="51435" marR="51435" marT="0" marB="0" anchor="ctr"/>
                </a:tc>
              </a:tr>
              <a:tr h="275852">
                <a:tc>
                  <a:txBody>
                    <a:bodyPr/>
                    <a:lstStyle/>
                    <a:p>
                      <a:pPr algn="ctr">
                        <a:spcAft>
                          <a:spcPts val="0"/>
                        </a:spcAft>
                      </a:pPr>
                      <a:r>
                        <a:rPr lang="en-US" sz="1600" kern="100">
                          <a:effectLst/>
                          <a:latin typeface="+mj-ea"/>
                          <a:ea typeface="+mj-ea"/>
                        </a:rPr>
                        <a:t>fGameId</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int</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否</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赛事编号，外键</a:t>
                      </a:r>
                      <a:endParaRPr lang="zh-CN" sz="1600" kern="100">
                        <a:effectLst/>
                        <a:latin typeface="+mj-ea"/>
                        <a:ea typeface="+mj-ea"/>
                        <a:cs typeface="Times New Roman" panose="02020603050405020304"/>
                      </a:endParaRPr>
                    </a:p>
                  </a:txBody>
                  <a:tcPr marL="51435" marR="51435" marT="0" marB="0" anchor="ctr"/>
                </a:tc>
              </a:tr>
              <a:tr h="299258">
                <a:tc>
                  <a:txBody>
                    <a:bodyPr/>
                    <a:lstStyle/>
                    <a:p>
                      <a:pPr algn="ctr">
                        <a:spcAft>
                          <a:spcPts val="0"/>
                        </a:spcAft>
                      </a:pPr>
                      <a:r>
                        <a:rPr lang="en-US" sz="1600" kern="100">
                          <a:effectLst/>
                          <a:latin typeface="+mj-ea"/>
                          <a:ea typeface="+mj-ea"/>
                        </a:rPr>
                        <a:t>fItemId</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dirty="0" err="1">
                          <a:effectLst/>
                          <a:latin typeface="+mj-ea"/>
                          <a:ea typeface="+mj-ea"/>
                        </a:rPr>
                        <a:t>int</a:t>
                      </a:r>
                      <a:endParaRPr lang="zh-CN" sz="16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否</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dirty="0">
                          <a:effectLst/>
                          <a:latin typeface="+mj-ea"/>
                          <a:ea typeface="+mj-ea"/>
                        </a:rPr>
                        <a:t> </a:t>
                      </a:r>
                      <a:endParaRPr lang="zh-CN" sz="16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dirty="0">
                          <a:effectLst/>
                          <a:latin typeface="+mj-ea"/>
                          <a:ea typeface="+mj-ea"/>
                        </a:rPr>
                        <a:t>比赛项目编号，外键</a:t>
                      </a:r>
                      <a:endParaRPr lang="zh-CN" sz="1600" kern="100" dirty="0">
                        <a:effectLst/>
                        <a:latin typeface="+mj-ea"/>
                        <a:ea typeface="+mj-ea"/>
                        <a:cs typeface="Times New Roman" panose="02020603050405020304"/>
                      </a:endParaRPr>
                    </a:p>
                  </a:txBody>
                  <a:tcPr marL="51435" marR="51435" marT="0" marB="0" anchor="ctr"/>
                </a:tc>
              </a:tr>
            </a:tbl>
          </a:graphicData>
        </a:graphic>
      </p:graphicFrame>
      <p:sp>
        <p:nvSpPr>
          <p:cNvPr id="5" name="Rectangle 1"/>
          <p:cNvSpPr>
            <a:spLocks noChangeArrowheads="1"/>
          </p:cNvSpPr>
          <p:nvPr/>
        </p:nvSpPr>
        <p:spPr bwMode="auto">
          <a:xfrm>
            <a:off x="937152" y="908824"/>
            <a:ext cx="3218445"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pPr defTabSz="685800" fontAlgn="base">
              <a:spcBef>
                <a:spcPct val="0"/>
              </a:spcBef>
              <a:spcAft>
                <a:spcPct val="0"/>
              </a:spcAft>
            </a:pPr>
            <a:r>
              <a:rPr lang="en-US" altLang="zh-CN" b="1" dirty="0">
                <a:latin typeface="+mj-ea"/>
                <a:ea typeface="+mj-ea"/>
                <a:cs typeface="Times New Roman" panose="02020603050405020304" pitchFamily="18" charset="0"/>
              </a:rPr>
              <a:t>6</a:t>
            </a:r>
            <a:r>
              <a:rPr lang="zh-CN" altLang="en-US" b="1" dirty="0">
                <a:latin typeface="+mj-ea"/>
                <a:ea typeface="+mj-ea"/>
                <a:cs typeface="Times New Roman" panose="02020603050405020304" pitchFamily="18" charset="0"/>
              </a:rPr>
              <a:t>、赛事项目表</a:t>
            </a:r>
            <a:r>
              <a:rPr lang="en-US" altLang="zh-CN" b="1" dirty="0">
                <a:latin typeface="+mj-ea"/>
                <a:ea typeface="+mj-ea"/>
                <a:cs typeface="Times New Roman" panose="02020603050405020304" pitchFamily="18" charset="0"/>
              </a:rPr>
              <a:t>(</a:t>
            </a:r>
            <a:r>
              <a:rPr lang="en-US" altLang="zh-CN" b="1" dirty="0" err="1">
                <a:latin typeface="+mj-ea"/>
                <a:ea typeface="+mj-ea"/>
                <a:cs typeface="Times New Roman" panose="02020603050405020304" pitchFamily="18" charset="0"/>
              </a:rPr>
              <a:t>t_gameitem</a:t>
            </a:r>
            <a:r>
              <a:rPr lang="en-US" altLang="zh-CN" b="1" dirty="0">
                <a:latin typeface="+mj-ea"/>
                <a:ea typeface="+mj-ea"/>
                <a:cs typeface="Times New Roman" panose="02020603050405020304" pitchFamily="18" charset="0"/>
              </a:rPr>
              <a:t>)</a:t>
            </a:r>
            <a:endParaRPr lang="en-US" altLang="zh-CN" b="1" dirty="0">
              <a:latin typeface="+mj-ea"/>
              <a:ea typeface="+mj-ea"/>
              <a:cs typeface="宋体" panose="02010600030101010101" pitchFamily="2" charset="-122"/>
            </a:endParaRPr>
          </a:p>
        </p:txBody>
      </p:sp>
      <p:sp>
        <p:nvSpPr>
          <p:cNvPr id="2" name="标题 1"/>
          <p:cNvSpPr>
            <a:spLocks noGrp="1"/>
          </p:cNvSpPr>
          <p:nvPr>
            <p:ph type="title"/>
          </p:nvPr>
        </p:nvSpPr>
        <p:spPr/>
        <p:txBody>
          <a:bodyPr/>
          <a:lstStyle/>
          <a:p>
            <a:r>
              <a:rPr lang="zh-CN" altLang="en-US" dirty="0">
                <a:latin typeface="+mn-ea"/>
              </a:rPr>
              <a:t>编写表结构</a:t>
            </a:r>
            <a:r>
              <a:rPr lang="zh-CN" altLang="en-US" dirty="0" smtClean="0">
                <a:latin typeface="+mn-ea"/>
              </a:rPr>
              <a:t>说明</a:t>
            </a:r>
            <a:endParaRPr lang="zh-CN" altLang="en-US" dirty="0"/>
          </a:p>
        </p:txBody>
      </p:sp>
      <p:sp>
        <p:nvSpPr>
          <p:cNvPr id="6" name="灯片编号占位符 5"/>
          <p:cNvSpPr>
            <a:spLocks noGrp="1"/>
          </p:cNvSpPr>
          <p:nvPr>
            <p:ph type="sldNum" sz="quarter" idx="12"/>
          </p:nvPr>
        </p:nvSpPr>
        <p:spPr/>
        <p:txBody>
          <a:bodyPr/>
          <a:lstStyle/>
          <a:p>
            <a:fld id="{58AE5905-16B5-4376-8977-98E1E2F27F66}" type="slidenum">
              <a:rPr lang="en-US" altLang="zh-CN" smtClean="0"/>
            </a:fld>
            <a:endParaRPr lang="en-US" altLang="zh-CN"/>
          </a:p>
        </p:txBody>
      </p:sp>
      <p:sp>
        <p:nvSpPr>
          <p:cNvPr id="3" name="日期占位符 2"/>
          <p:cNvSpPr>
            <a:spLocks noGrp="1"/>
          </p:cNvSpPr>
          <p:nvPr>
            <p:ph type="dt" sz="half" idx="10"/>
          </p:nvPr>
        </p:nvSpPr>
        <p:spPr/>
        <p:txBody>
          <a:bodyPr/>
          <a:lstStyle/>
          <a:p>
            <a:fld id="{337F6932-00AE-4486-BEDC-0F177256753A}"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smtClean="0"/>
              <a:t>软件工程</a:t>
            </a:r>
            <a:endParaRPr lang="zh-CN" alt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1582635" y="1389695"/>
          <a:ext cx="6787299" cy="2902551"/>
        </p:xfrm>
        <a:graphic>
          <a:graphicData uri="http://schemas.openxmlformats.org/drawingml/2006/table">
            <a:tbl>
              <a:tblPr firstRow="1" firstCol="1" bandRow="1">
                <a:tableStyleId>{5C22544A-7EE6-4342-B048-85BDC9FD1C3A}</a:tableStyleId>
              </a:tblPr>
              <a:tblGrid>
                <a:gridCol w="1525604"/>
                <a:gridCol w="1200648"/>
                <a:gridCol w="1035041"/>
                <a:gridCol w="942900"/>
                <a:gridCol w="2083106"/>
              </a:tblGrid>
              <a:tr h="268319">
                <a:tc>
                  <a:txBody>
                    <a:bodyPr/>
                    <a:lstStyle/>
                    <a:p>
                      <a:pPr algn="ctr">
                        <a:spcAft>
                          <a:spcPts val="0"/>
                        </a:spcAft>
                      </a:pPr>
                      <a:r>
                        <a:rPr lang="zh-CN" sz="1600" kern="100" dirty="0">
                          <a:effectLst/>
                          <a:latin typeface="+mj-ea"/>
                          <a:ea typeface="+mj-ea"/>
                        </a:rPr>
                        <a:t>字段名称</a:t>
                      </a:r>
                      <a:endParaRPr lang="zh-CN" sz="16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数据类型</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dirty="0">
                          <a:effectLst/>
                          <a:latin typeface="+mj-ea"/>
                          <a:ea typeface="+mj-ea"/>
                        </a:rPr>
                        <a:t>是否为空</a:t>
                      </a:r>
                      <a:endParaRPr lang="zh-CN" sz="16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是否主键</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备注</a:t>
                      </a:r>
                      <a:endParaRPr lang="zh-CN" sz="1600" kern="100">
                        <a:effectLst/>
                        <a:latin typeface="+mj-ea"/>
                        <a:ea typeface="+mj-ea"/>
                        <a:cs typeface="Times New Roman" panose="02020603050405020304"/>
                      </a:endParaRPr>
                    </a:p>
                  </a:txBody>
                  <a:tcPr marL="51435" marR="51435" marT="0" marB="0" anchor="ctr"/>
                </a:tc>
              </a:tr>
              <a:tr h="268319">
                <a:tc>
                  <a:txBody>
                    <a:bodyPr/>
                    <a:lstStyle/>
                    <a:p>
                      <a:pPr algn="ctr">
                        <a:spcAft>
                          <a:spcPts val="0"/>
                        </a:spcAft>
                      </a:pPr>
                      <a:r>
                        <a:rPr lang="en-US" sz="1600" kern="100">
                          <a:effectLst/>
                          <a:latin typeface="+mj-ea"/>
                          <a:ea typeface="+mj-ea"/>
                        </a:rPr>
                        <a:t>fId</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int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否</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是</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编号，自增</a:t>
                      </a:r>
                      <a:endParaRPr lang="zh-CN" sz="1600" kern="100">
                        <a:effectLst/>
                        <a:latin typeface="+mj-ea"/>
                        <a:ea typeface="+mj-ea"/>
                        <a:cs typeface="Times New Roman" panose="02020603050405020304"/>
                      </a:endParaRPr>
                    </a:p>
                  </a:txBody>
                  <a:tcPr marL="51435" marR="51435" marT="0" marB="0" anchor="ctr"/>
                </a:tc>
              </a:tr>
              <a:tr h="424286">
                <a:tc>
                  <a:txBody>
                    <a:bodyPr/>
                    <a:lstStyle/>
                    <a:p>
                      <a:pPr algn="ctr">
                        <a:spcAft>
                          <a:spcPts val="0"/>
                        </a:spcAft>
                      </a:pPr>
                      <a:r>
                        <a:rPr lang="en-US" sz="1600" kern="100">
                          <a:effectLst/>
                          <a:latin typeface="+mj-ea"/>
                          <a:ea typeface="+mj-ea"/>
                        </a:rPr>
                        <a:t>fGameItemId</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int</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否</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比赛项编号，与</a:t>
                      </a:r>
                      <a:r>
                        <a:rPr lang="en-US" sz="1600" kern="100">
                          <a:effectLst/>
                          <a:latin typeface="+mj-ea"/>
                          <a:ea typeface="+mj-ea"/>
                        </a:rPr>
                        <a:t>t_gameitem</a:t>
                      </a:r>
                      <a:r>
                        <a:rPr lang="zh-CN" sz="1600" kern="100">
                          <a:effectLst/>
                          <a:latin typeface="+mj-ea"/>
                          <a:ea typeface="+mj-ea"/>
                        </a:rPr>
                        <a:t>主键关联</a:t>
                      </a:r>
                      <a:endParaRPr lang="zh-CN" sz="1600" kern="100">
                        <a:effectLst/>
                        <a:latin typeface="+mj-ea"/>
                        <a:ea typeface="+mj-ea"/>
                        <a:cs typeface="Times New Roman" panose="02020603050405020304"/>
                      </a:endParaRPr>
                    </a:p>
                  </a:txBody>
                  <a:tcPr marL="51435" marR="51435" marT="0" marB="0" anchor="ctr"/>
                </a:tc>
              </a:tr>
              <a:tr h="268319">
                <a:tc>
                  <a:txBody>
                    <a:bodyPr/>
                    <a:lstStyle/>
                    <a:p>
                      <a:pPr algn="ctr">
                        <a:spcAft>
                          <a:spcPts val="0"/>
                        </a:spcAft>
                      </a:pPr>
                      <a:r>
                        <a:rPr lang="en-US" sz="1600" kern="100">
                          <a:effectLst/>
                          <a:latin typeface="+mj-ea"/>
                          <a:ea typeface="+mj-ea"/>
                        </a:rPr>
                        <a:t>fNo</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dirty="0" err="1">
                          <a:effectLst/>
                          <a:latin typeface="+mj-ea"/>
                          <a:ea typeface="+mj-ea"/>
                        </a:rPr>
                        <a:t>varchar</a:t>
                      </a:r>
                      <a:r>
                        <a:rPr lang="en-US" sz="1600" kern="100" dirty="0">
                          <a:effectLst/>
                          <a:latin typeface="+mj-ea"/>
                          <a:ea typeface="+mj-ea"/>
                        </a:rPr>
                        <a:t>(20)</a:t>
                      </a:r>
                      <a:endParaRPr lang="zh-CN" sz="1600" kern="100" dirty="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否</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注册证号</a:t>
                      </a:r>
                      <a:endParaRPr lang="zh-CN" sz="1600" kern="100">
                        <a:effectLst/>
                        <a:latin typeface="+mj-ea"/>
                        <a:ea typeface="+mj-ea"/>
                        <a:cs typeface="Times New Roman" panose="02020603050405020304"/>
                      </a:endParaRPr>
                    </a:p>
                  </a:txBody>
                  <a:tcPr marL="51435" marR="51435" marT="0" marB="0" anchor="ctr"/>
                </a:tc>
              </a:tr>
              <a:tr h="268319">
                <a:tc>
                  <a:txBody>
                    <a:bodyPr/>
                    <a:lstStyle/>
                    <a:p>
                      <a:pPr algn="ctr">
                        <a:spcAft>
                          <a:spcPts val="0"/>
                        </a:spcAft>
                      </a:pPr>
                      <a:r>
                        <a:rPr lang="en-US" sz="1600" kern="100">
                          <a:effectLst/>
                          <a:latin typeface="+mj-ea"/>
                          <a:ea typeface="+mj-ea"/>
                        </a:rPr>
                        <a:t>fAthleteName</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varchar(50)</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否</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运动员姓名</a:t>
                      </a:r>
                      <a:endParaRPr lang="zh-CN" sz="1600" kern="100">
                        <a:effectLst/>
                        <a:latin typeface="+mj-ea"/>
                        <a:ea typeface="+mj-ea"/>
                        <a:cs typeface="Times New Roman" panose="02020603050405020304"/>
                      </a:endParaRPr>
                    </a:p>
                  </a:txBody>
                  <a:tcPr marL="51435" marR="51435" marT="0" marB="0" anchor="ctr"/>
                </a:tc>
              </a:tr>
              <a:tr h="268319">
                <a:tc>
                  <a:txBody>
                    <a:bodyPr/>
                    <a:lstStyle/>
                    <a:p>
                      <a:pPr algn="ctr">
                        <a:spcAft>
                          <a:spcPts val="0"/>
                        </a:spcAft>
                      </a:pPr>
                      <a:r>
                        <a:rPr lang="en-US" sz="1600" kern="100">
                          <a:effectLst/>
                          <a:latin typeface="+mj-ea"/>
                          <a:ea typeface="+mj-ea"/>
                        </a:rPr>
                        <a:t>fGroup</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varchar(50)</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组别</a:t>
                      </a:r>
                      <a:endParaRPr lang="zh-CN" sz="1600" kern="100">
                        <a:effectLst/>
                        <a:latin typeface="+mj-ea"/>
                        <a:ea typeface="+mj-ea"/>
                        <a:cs typeface="Times New Roman" panose="02020603050405020304"/>
                      </a:endParaRPr>
                    </a:p>
                  </a:txBody>
                  <a:tcPr marL="51435" marR="51435" marT="0" marB="0" anchor="ctr"/>
                </a:tc>
              </a:tr>
              <a:tr h="268319">
                <a:tc>
                  <a:txBody>
                    <a:bodyPr/>
                    <a:lstStyle/>
                    <a:p>
                      <a:pPr algn="ctr">
                        <a:spcAft>
                          <a:spcPts val="0"/>
                        </a:spcAft>
                      </a:pPr>
                      <a:r>
                        <a:rPr lang="en-US" sz="1600" kern="100">
                          <a:effectLst/>
                          <a:latin typeface="+mj-ea"/>
                          <a:ea typeface="+mj-ea"/>
                        </a:rPr>
                        <a:t>fLeader</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领队</a:t>
                      </a:r>
                      <a:endParaRPr lang="zh-CN" sz="1600" kern="100">
                        <a:effectLst/>
                        <a:latin typeface="+mj-ea"/>
                        <a:ea typeface="+mj-ea"/>
                        <a:cs typeface="Times New Roman" panose="02020603050405020304"/>
                      </a:endParaRPr>
                    </a:p>
                  </a:txBody>
                  <a:tcPr marL="51435" marR="51435" marT="0" marB="0" anchor="ctr"/>
                </a:tc>
              </a:tr>
              <a:tr h="268319">
                <a:tc>
                  <a:txBody>
                    <a:bodyPr/>
                    <a:lstStyle/>
                    <a:p>
                      <a:pPr algn="ctr">
                        <a:spcAft>
                          <a:spcPts val="0"/>
                        </a:spcAft>
                      </a:pPr>
                      <a:r>
                        <a:rPr lang="en-US" sz="1600" kern="100">
                          <a:effectLst/>
                          <a:latin typeface="+mj-ea"/>
                          <a:ea typeface="+mj-ea"/>
                        </a:rPr>
                        <a:t>fDoctor</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医生</a:t>
                      </a:r>
                      <a:endParaRPr lang="zh-CN" sz="1600" kern="100">
                        <a:effectLst/>
                        <a:latin typeface="+mj-ea"/>
                        <a:ea typeface="+mj-ea"/>
                        <a:cs typeface="Times New Roman" panose="02020603050405020304"/>
                      </a:endParaRPr>
                    </a:p>
                  </a:txBody>
                  <a:tcPr marL="51435" marR="51435" marT="0" marB="0" anchor="ctr"/>
                </a:tc>
              </a:tr>
              <a:tr h="268319">
                <a:tc>
                  <a:txBody>
                    <a:bodyPr/>
                    <a:lstStyle/>
                    <a:p>
                      <a:pPr algn="ctr">
                        <a:spcAft>
                          <a:spcPts val="0"/>
                        </a:spcAft>
                      </a:pPr>
                      <a:r>
                        <a:rPr lang="en-US" sz="1600" kern="100">
                          <a:effectLst/>
                          <a:latin typeface="+mj-ea"/>
                          <a:ea typeface="+mj-ea"/>
                        </a:rPr>
                        <a:t>fMember</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a:effectLst/>
                          <a:latin typeface="+mj-ea"/>
                          <a:ea typeface="+mj-ea"/>
                        </a:rPr>
                        <a:t>工作人员</a:t>
                      </a:r>
                      <a:endParaRPr lang="zh-CN" sz="1600" kern="100">
                        <a:effectLst/>
                        <a:latin typeface="+mj-ea"/>
                        <a:ea typeface="+mj-ea"/>
                        <a:cs typeface="Times New Roman" panose="02020603050405020304"/>
                      </a:endParaRPr>
                    </a:p>
                  </a:txBody>
                  <a:tcPr marL="51435" marR="51435" marT="0" marB="0" anchor="ctr"/>
                </a:tc>
              </a:tr>
              <a:tr h="268319">
                <a:tc>
                  <a:txBody>
                    <a:bodyPr/>
                    <a:lstStyle/>
                    <a:p>
                      <a:pPr algn="ctr">
                        <a:spcAft>
                          <a:spcPts val="0"/>
                        </a:spcAft>
                      </a:pPr>
                      <a:r>
                        <a:rPr lang="en-US" sz="1600" kern="100">
                          <a:effectLst/>
                          <a:latin typeface="+mj-ea"/>
                          <a:ea typeface="+mj-ea"/>
                        </a:rPr>
                        <a:t>fMemo</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en-US" sz="1600" kern="100">
                          <a:effectLst/>
                          <a:latin typeface="+mj-ea"/>
                          <a:ea typeface="+mj-ea"/>
                        </a:rPr>
                        <a:t> </a:t>
                      </a:r>
                      <a:endParaRPr lang="zh-CN" sz="1600" kern="100">
                        <a:effectLst/>
                        <a:latin typeface="+mj-ea"/>
                        <a:ea typeface="+mj-ea"/>
                        <a:cs typeface="Times New Roman" panose="02020603050405020304"/>
                      </a:endParaRPr>
                    </a:p>
                  </a:txBody>
                  <a:tcPr marL="51435" marR="51435" marT="0" marB="0" anchor="ctr"/>
                </a:tc>
                <a:tc>
                  <a:txBody>
                    <a:bodyPr/>
                    <a:lstStyle/>
                    <a:p>
                      <a:pPr algn="ctr">
                        <a:spcAft>
                          <a:spcPts val="0"/>
                        </a:spcAft>
                      </a:pPr>
                      <a:r>
                        <a:rPr lang="zh-CN" sz="1600" kern="100" dirty="0">
                          <a:effectLst/>
                          <a:latin typeface="+mj-ea"/>
                          <a:ea typeface="+mj-ea"/>
                        </a:rPr>
                        <a:t>备注</a:t>
                      </a:r>
                      <a:endParaRPr lang="zh-CN" sz="1600" kern="100" dirty="0">
                        <a:effectLst/>
                        <a:latin typeface="+mj-ea"/>
                        <a:ea typeface="+mj-ea"/>
                        <a:cs typeface="Times New Roman" panose="02020603050405020304"/>
                      </a:endParaRPr>
                    </a:p>
                  </a:txBody>
                  <a:tcPr marL="51435" marR="51435" marT="0" marB="0" anchor="ctr"/>
                </a:tc>
              </a:tr>
            </a:tbl>
          </a:graphicData>
        </a:graphic>
      </p:graphicFrame>
      <p:sp>
        <p:nvSpPr>
          <p:cNvPr id="5" name="Rectangle 1"/>
          <p:cNvSpPr>
            <a:spLocks noChangeArrowheads="1"/>
          </p:cNvSpPr>
          <p:nvPr/>
        </p:nvSpPr>
        <p:spPr bwMode="auto">
          <a:xfrm>
            <a:off x="887907" y="863638"/>
            <a:ext cx="3517630" cy="346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pPr defTabSz="685800" fontAlgn="base">
              <a:spcBef>
                <a:spcPct val="0"/>
              </a:spcBef>
              <a:spcAft>
                <a:spcPct val="0"/>
              </a:spcAft>
            </a:pPr>
            <a:r>
              <a:rPr lang="en-US" altLang="zh-CN" b="1" dirty="0">
                <a:latin typeface="+mj-ea"/>
                <a:ea typeface="+mj-ea"/>
                <a:cs typeface="Times New Roman" panose="02020603050405020304" pitchFamily="18" charset="0"/>
              </a:rPr>
              <a:t>7</a:t>
            </a:r>
            <a:r>
              <a:rPr lang="zh-CN" altLang="en-US" b="1" dirty="0">
                <a:latin typeface="+mj-ea"/>
                <a:ea typeface="+mj-ea"/>
                <a:cs typeface="Times New Roman" panose="02020603050405020304" pitchFamily="18" charset="0"/>
              </a:rPr>
              <a:t>、运动员报名信息表</a:t>
            </a:r>
            <a:r>
              <a:rPr lang="en-US" altLang="zh-CN" b="1" dirty="0">
                <a:latin typeface="+mj-ea"/>
                <a:ea typeface="+mj-ea"/>
                <a:cs typeface="Times New Roman" panose="02020603050405020304" pitchFamily="18" charset="0"/>
              </a:rPr>
              <a:t>(</a:t>
            </a:r>
            <a:r>
              <a:rPr lang="en-US" altLang="zh-CN" b="1" dirty="0" err="1">
                <a:latin typeface="+mj-ea"/>
                <a:ea typeface="+mj-ea"/>
                <a:cs typeface="Times New Roman" panose="02020603050405020304" pitchFamily="18" charset="0"/>
              </a:rPr>
              <a:t>t_signup</a:t>
            </a:r>
            <a:r>
              <a:rPr lang="en-US" altLang="zh-CN" b="1" dirty="0">
                <a:latin typeface="+mj-ea"/>
                <a:ea typeface="+mj-ea"/>
                <a:cs typeface="Times New Roman" panose="02020603050405020304" pitchFamily="18" charset="0"/>
              </a:rPr>
              <a:t>)</a:t>
            </a:r>
            <a:endParaRPr lang="en-US" altLang="zh-CN" b="1" dirty="0">
              <a:latin typeface="+mj-ea"/>
              <a:ea typeface="+mj-ea"/>
              <a:cs typeface="宋体" panose="02010600030101010101" pitchFamily="2" charset="-122"/>
            </a:endParaRPr>
          </a:p>
        </p:txBody>
      </p:sp>
      <p:sp>
        <p:nvSpPr>
          <p:cNvPr id="7" name="标题 6"/>
          <p:cNvSpPr>
            <a:spLocks noGrp="1"/>
          </p:cNvSpPr>
          <p:nvPr>
            <p:ph type="title"/>
          </p:nvPr>
        </p:nvSpPr>
        <p:spPr/>
        <p:txBody>
          <a:bodyPr/>
          <a:lstStyle/>
          <a:p>
            <a:r>
              <a:rPr lang="zh-CN" altLang="en-US" dirty="0">
                <a:latin typeface="+mn-ea"/>
              </a:rPr>
              <a:t>编写表结构</a:t>
            </a:r>
            <a:r>
              <a:rPr lang="zh-CN" altLang="en-US" dirty="0" smtClean="0">
                <a:latin typeface="+mn-ea"/>
              </a:rPr>
              <a:t>说明</a:t>
            </a:r>
            <a:endParaRPr lang="zh-CN" altLang="en-US" dirty="0"/>
          </a:p>
        </p:txBody>
      </p:sp>
      <p:sp>
        <p:nvSpPr>
          <p:cNvPr id="6" name="灯片编号占位符 5"/>
          <p:cNvSpPr>
            <a:spLocks noGrp="1"/>
          </p:cNvSpPr>
          <p:nvPr>
            <p:ph type="sldNum" sz="quarter" idx="12"/>
          </p:nvPr>
        </p:nvSpPr>
        <p:spPr/>
        <p:txBody>
          <a:bodyPr/>
          <a:lstStyle/>
          <a:p>
            <a:fld id="{58AE5905-16B5-4376-8977-98E1E2F27F66}" type="slidenum">
              <a:rPr lang="en-US" altLang="zh-CN" smtClean="0"/>
            </a:fld>
            <a:endParaRPr lang="en-US" altLang="zh-CN"/>
          </a:p>
        </p:txBody>
      </p:sp>
      <p:sp>
        <p:nvSpPr>
          <p:cNvPr id="8" name="日期占位符 7"/>
          <p:cNvSpPr>
            <a:spLocks noGrp="1"/>
          </p:cNvSpPr>
          <p:nvPr>
            <p:ph type="dt" sz="half" idx="10"/>
          </p:nvPr>
        </p:nvSpPr>
        <p:spPr/>
        <p:txBody>
          <a:bodyPr/>
          <a:lstStyle/>
          <a:p>
            <a:fld id="{872AE23D-FCF0-48EF-B54C-D3FCD7CFC2F3}" type="datetime1">
              <a:rPr lang="zh-CN" altLang="en-US" smtClean="0"/>
            </a:fld>
            <a:endParaRPr lang="zh-CN" altLang="en-US"/>
          </a:p>
        </p:txBody>
      </p:sp>
      <p:sp>
        <p:nvSpPr>
          <p:cNvPr id="9" name="页脚占位符 8"/>
          <p:cNvSpPr>
            <a:spLocks noGrp="1"/>
          </p:cNvSpPr>
          <p:nvPr>
            <p:ph type="ftr" sz="quarter" idx="11"/>
          </p:nvPr>
        </p:nvSpPr>
        <p:spPr/>
        <p:txBody>
          <a:bodyPr/>
          <a:lstStyle/>
          <a:p>
            <a:r>
              <a:rPr lang="zh-CN" altLang="en-US" smtClean="0"/>
              <a:t>软件工程</a:t>
            </a:r>
            <a:endParaRPr lang="zh-CN" alt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normAutofit/>
          </a:bodyPr>
          <a:lstStyle/>
          <a:p>
            <a:r>
              <a:rPr lang="zh-CN" altLang="en-US" dirty="0">
                <a:latin typeface="+mn-ea"/>
              </a:rPr>
              <a:t>增加一个数据库视图</a:t>
            </a:r>
            <a:endParaRPr lang="zh-CN" altLang="en-US" dirty="0">
              <a:latin typeface="+mn-ea"/>
            </a:endParaRPr>
          </a:p>
        </p:txBody>
      </p:sp>
      <p:sp>
        <p:nvSpPr>
          <p:cNvPr id="271363" name="Rectangle 3"/>
          <p:cNvSpPr>
            <a:spLocks noGrp="1" noChangeArrowheads="1"/>
          </p:cNvSpPr>
          <p:nvPr>
            <p:ph idx="1"/>
          </p:nvPr>
        </p:nvSpPr>
        <p:spPr/>
        <p:txBody>
          <a:bodyPr>
            <a:normAutofit/>
          </a:bodyPr>
          <a:lstStyle/>
          <a:p>
            <a:pPr>
              <a:lnSpc>
                <a:spcPct val="120000"/>
              </a:lnSpc>
            </a:pPr>
            <a:r>
              <a:rPr lang="zh-CN" altLang="en-US" sz="2400" dirty="0"/>
              <a:t>这里值得注意的是：</a:t>
            </a:r>
            <a:endParaRPr lang="zh-CN" altLang="en-US" sz="2400" dirty="0"/>
          </a:p>
          <a:p>
            <a:pPr>
              <a:lnSpc>
                <a:spcPct val="120000"/>
              </a:lnSpc>
            </a:pPr>
            <a:r>
              <a:rPr lang="zh-CN" altLang="en-US" sz="2400" dirty="0"/>
              <a:t>系统设计需要满足系统需求。在需求规格说明书中，新增运动员报名信息和显示报名信息时，显示的内容包括（</a:t>
            </a:r>
            <a:r>
              <a:rPr lang="zh-CN" altLang="zh-CN" sz="2400" dirty="0"/>
              <a:t>赛事名称，</a:t>
            </a:r>
            <a:r>
              <a:rPr lang="zh-CN" altLang="en-US" sz="2400" dirty="0"/>
              <a:t>组别，</a:t>
            </a:r>
            <a:r>
              <a:rPr lang="zh-CN" altLang="zh-CN" sz="2400" dirty="0"/>
              <a:t>竞赛项目名称，参赛单位，运动员注册证号，</a:t>
            </a:r>
            <a:r>
              <a:rPr lang="zh-CN" altLang="en-US" sz="2400" dirty="0"/>
              <a:t>运动员姓名，</a:t>
            </a:r>
            <a:r>
              <a:rPr lang="zh-CN" altLang="zh-CN" sz="2400" dirty="0"/>
              <a:t>备注</a:t>
            </a:r>
            <a:r>
              <a:rPr lang="zh-CN" altLang="en-US" sz="2400" dirty="0"/>
              <a:t>）</a:t>
            </a:r>
            <a:endParaRPr lang="zh-CN" altLang="en-US" sz="2400" dirty="0"/>
          </a:p>
          <a:p>
            <a:pPr>
              <a:lnSpc>
                <a:spcPct val="120000"/>
              </a:lnSpc>
            </a:pPr>
            <a:r>
              <a:rPr lang="zh-CN" altLang="en-US" sz="2400" dirty="0"/>
              <a:t>而赛事名称来自赛事表，竞赛项目名称来自于竞赛项目表，因此，在数据库中，需要增加一个</a:t>
            </a:r>
            <a:r>
              <a:rPr lang="zh-CN" altLang="en-US" sz="2400" b="1" dirty="0">
                <a:solidFill>
                  <a:srgbClr val="FF0000"/>
                </a:solidFill>
              </a:rPr>
              <a:t>视图</a:t>
            </a:r>
            <a:r>
              <a:rPr lang="zh-CN" altLang="en-US" sz="2400" dirty="0"/>
              <a:t>：报名视图。</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fld id="{90D76780-6BD5-4554-B1FE-0A8600DF6710}"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p:cNvPicPr>
            <a:picLocks noChangeAspect="1" noChangeArrowheads="1"/>
          </p:cNvPicPr>
          <p:nvPr/>
        </p:nvPicPr>
        <p:blipFill rotWithShape="1">
          <a:blip r:embed="rId1" cstate="print"/>
          <a:srcRect t="8858" b="6775"/>
          <a:stretch>
            <a:fillRect/>
          </a:stretch>
        </p:blipFill>
        <p:spPr bwMode="auto">
          <a:xfrm>
            <a:off x="1141651" y="775235"/>
            <a:ext cx="68586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p:cNvSpPr/>
          <p:nvPr/>
        </p:nvSpPr>
        <p:spPr>
          <a:xfrm>
            <a:off x="4141853" y="2461584"/>
            <a:ext cx="5000124" cy="1526456"/>
          </a:xfrm>
          <a:prstGeom prst="rect">
            <a:avLst/>
          </a:prstGeom>
          <a:solidFill>
            <a:schemeClr val="accent2">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5" name="矩形"/>
          <p:cNvSpPr/>
          <p:nvPr/>
        </p:nvSpPr>
        <p:spPr>
          <a:xfrm>
            <a:off x="0" y="2451460"/>
            <a:ext cx="4143875" cy="152645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6" name="矩形"/>
          <p:cNvSpPr/>
          <p:nvPr/>
        </p:nvSpPr>
        <p:spPr>
          <a:xfrm>
            <a:off x="1142325" y="2431210"/>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7" name="矩形"/>
          <p:cNvSpPr/>
          <p:nvPr/>
        </p:nvSpPr>
        <p:spPr>
          <a:xfrm>
            <a:off x="1142325" y="3977915"/>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10" name="文本"/>
          <p:cNvSpPr/>
          <p:nvPr/>
        </p:nvSpPr>
        <p:spPr>
          <a:xfrm>
            <a:off x="4182098" y="2836217"/>
            <a:ext cx="4904027" cy="400110"/>
          </a:xfrm>
          <a:prstGeom prst="rect">
            <a:avLst/>
          </a:prstGeom>
        </p:spPr>
        <p:txBody>
          <a:bodyPr wrap="square">
            <a:spAutoFit/>
          </a:bodyPr>
          <a:lstStyle/>
          <a:p>
            <a:pPr algn="ctr"/>
            <a:r>
              <a:rPr lang="zh-CN" altLang="en-US" sz="2000" b="1" spc="169" dirty="0">
                <a:solidFill>
                  <a:schemeClr val="bg1"/>
                </a:solidFill>
                <a:latin typeface="+mj-ea"/>
                <a:ea typeface="+mj-ea"/>
                <a:sym typeface="+mn-ea"/>
              </a:rPr>
              <a:t>工作</a:t>
            </a:r>
            <a:r>
              <a:rPr lang="zh-CN" altLang="en-US" sz="2000" b="1" spc="169" dirty="0" smtClean="0">
                <a:solidFill>
                  <a:schemeClr val="bg1"/>
                </a:solidFill>
                <a:latin typeface="+mj-ea"/>
                <a:ea typeface="+mj-ea"/>
                <a:sym typeface="+mn-ea"/>
              </a:rPr>
              <a:t>任务</a:t>
            </a:r>
            <a:r>
              <a:rPr lang="en-US" altLang="zh-CN" sz="2000" b="1" spc="169" dirty="0" smtClean="0">
                <a:solidFill>
                  <a:schemeClr val="bg1"/>
                </a:solidFill>
                <a:latin typeface="+mj-ea"/>
                <a:ea typeface="+mj-ea"/>
                <a:sym typeface="+mn-ea"/>
              </a:rPr>
              <a:t>1</a:t>
            </a:r>
            <a:r>
              <a:rPr lang="zh-CN" altLang="en-US" sz="2000" b="1" spc="169" dirty="0" smtClean="0">
                <a:solidFill>
                  <a:schemeClr val="bg1"/>
                </a:solidFill>
                <a:latin typeface="+mj-ea"/>
                <a:ea typeface="+mj-ea"/>
                <a:sym typeface="+mn-ea"/>
              </a:rPr>
              <a:t>：完成系统行为建模</a:t>
            </a:r>
            <a:endParaRPr lang="zh-CN" altLang="en-US" sz="2000" b="1" spc="169" dirty="0">
              <a:solidFill>
                <a:schemeClr val="bg1"/>
              </a:solidFill>
              <a:latin typeface="+mj-ea"/>
              <a:ea typeface="+mj-ea"/>
              <a:sym typeface="+mn-ea"/>
            </a:endParaRPr>
          </a:p>
        </p:txBody>
      </p:sp>
      <p:sp>
        <p:nvSpPr>
          <p:cNvPr id="4" name="日期占位符 3"/>
          <p:cNvSpPr>
            <a:spLocks noGrp="1"/>
          </p:cNvSpPr>
          <p:nvPr>
            <p:ph type="dt" sz="half" idx="10"/>
          </p:nvPr>
        </p:nvSpPr>
        <p:spPr/>
        <p:txBody>
          <a:bodyPr/>
          <a:lstStyle/>
          <a:p>
            <a:fld id="{A95C9A94-EE57-4888-B6E1-910CAEC8DA1E}"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smtClean="0"/>
              <a:t>软件工程</a:t>
            </a:r>
            <a:endParaRPr lang="zh-CN" altLang="en-US" dirty="0"/>
          </a:p>
        </p:txBody>
      </p:sp>
      <p:sp>
        <p:nvSpPr>
          <p:cNvPr id="11" name="灯片编号占位符 10"/>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2" name="文本"/>
          <p:cNvSpPr txBox="1"/>
          <p:nvPr/>
        </p:nvSpPr>
        <p:spPr>
          <a:xfrm>
            <a:off x="4292273" y="3260467"/>
            <a:ext cx="4723394" cy="507831"/>
          </a:xfrm>
          <a:prstGeom prst="rect">
            <a:avLst/>
          </a:prstGeom>
          <a:noFill/>
        </p:spPr>
        <p:txBody>
          <a:bodyPr wrap="square" rtlCol="0" anchor="t">
            <a:spAutoFit/>
          </a:bodyPr>
          <a:lstStyle>
            <a:defPPr>
              <a:defRPr lang="zh-CN"/>
            </a:defPPr>
            <a:lvl1pPr indent="467995">
              <a:lnSpc>
                <a:spcPct val="150000"/>
              </a:lnSpc>
              <a:spcAft>
                <a:spcPts val="1500"/>
              </a:spcAft>
              <a:defRPr sz="1600" spc="150">
                <a:solidFill>
                  <a:schemeClr val="tx1">
                    <a:lumMod val="95000"/>
                    <a:lumOff val="5000"/>
                  </a:schemeClr>
                </a:solidFill>
                <a:latin typeface="+mn-ea"/>
              </a:defRPr>
            </a:lvl1pPr>
          </a:lstStyle>
          <a:p>
            <a:pPr indent="0" algn="ctr"/>
            <a:r>
              <a:rPr lang="zh-CN" altLang="en-US" sz="1800" dirty="0" smtClean="0">
                <a:solidFill>
                  <a:schemeClr val="bg1"/>
                </a:solidFill>
              </a:rPr>
              <a:t>交付</a:t>
            </a:r>
            <a:r>
              <a:rPr lang="zh-CN" altLang="en-US" sz="1800" dirty="0">
                <a:solidFill>
                  <a:schemeClr val="bg1"/>
                </a:solidFill>
              </a:rPr>
              <a:t>的工作产品</a:t>
            </a:r>
            <a:r>
              <a:rPr lang="zh-CN" altLang="en-US" sz="1800" dirty="0" smtClean="0">
                <a:solidFill>
                  <a:schemeClr val="bg1"/>
                </a:solidFill>
              </a:rPr>
              <a:t>：系统时序图</a:t>
            </a:r>
            <a:endParaRPr lang="zh-CN" altLang="en-US" sz="1800" dirty="0">
              <a:solidFill>
                <a:schemeClr val="bg1"/>
              </a:solidFill>
            </a:endParaRPr>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16" presetClass="entr" presetSubtype="37"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outVertical)">
                                      <p:cBhvr>
                                        <p:cTn id="26" dur="500"/>
                                        <p:tgtEl>
                                          <p:spTgt spid="10"/>
                                        </p:tgtEl>
                                      </p:cBhvr>
                                    </p:animEffect>
                                  </p:childTnLst>
                                </p:cTn>
                              </p:par>
                            </p:childTnLst>
                          </p:cTn>
                        </p:par>
                        <p:par>
                          <p:cTn id="27" fill="hold">
                            <p:stCondLst>
                              <p:cond delay="2500"/>
                            </p:stCondLst>
                            <p:childTnLst>
                              <p:par>
                                <p:cTn id="28" presetID="42"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1000"/>
                                        <p:tgtEl>
                                          <p:spTgt spid="12"/>
                                        </p:tgtEl>
                                      </p:cBhvr>
                                    </p:animEffect>
                                    <p:anim calcmode="lin" valueType="num">
                                      <p:cBhvr>
                                        <p:cTn id="31" dur="1000" fill="hold"/>
                                        <p:tgtEl>
                                          <p:spTgt spid="12"/>
                                        </p:tgtEl>
                                        <p:attrNameLst>
                                          <p:attrName>ppt_x</p:attrName>
                                        </p:attrNameLst>
                                      </p:cBhvr>
                                      <p:tavLst>
                                        <p:tav tm="0">
                                          <p:val>
                                            <p:strVal val="#ppt_x"/>
                                          </p:val>
                                        </p:tav>
                                        <p:tav tm="100000">
                                          <p:val>
                                            <p:strVal val="#ppt_x"/>
                                          </p:val>
                                        </p:tav>
                                      </p:tavLst>
                                    </p:anim>
                                    <p:anim calcmode="lin" valueType="num">
                                      <p:cBhvr>
                                        <p:cTn id="3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6" grpId="0" bldLvl="0" animBg="1"/>
      <p:bldP spid="7" grpId="0" bldLvl="0" animBg="1"/>
      <p:bldP spid="10"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Rot="1" noChangeArrowheads="1"/>
          </p:cNvSpPr>
          <p:nvPr>
            <p:ph type="title"/>
          </p:nvPr>
        </p:nvSpPr>
        <p:spPr/>
        <p:txBody>
          <a:bodyPr>
            <a:normAutofit/>
          </a:bodyPr>
          <a:lstStyle/>
          <a:p>
            <a:r>
              <a:rPr lang="zh-CN" altLang="en-US" dirty="0"/>
              <a:t>知识点</a:t>
            </a:r>
            <a:r>
              <a:rPr lang="zh-CN" altLang="en-US" dirty="0" smtClean="0"/>
              <a:t>：动态</a:t>
            </a:r>
            <a:r>
              <a:rPr lang="zh-CN" altLang="en-US" dirty="0"/>
              <a:t>视图</a:t>
            </a:r>
            <a:r>
              <a:rPr lang="en-US" altLang="zh-CN" dirty="0"/>
              <a:t>——</a:t>
            </a:r>
            <a:r>
              <a:rPr lang="zh-CN" altLang="en-US" dirty="0"/>
              <a:t>时序图</a:t>
            </a:r>
            <a:endParaRPr lang="zh-CN" altLang="en-US" dirty="0"/>
          </a:p>
        </p:txBody>
      </p:sp>
      <p:sp>
        <p:nvSpPr>
          <p:cNvPr id="251907" name="Rectangle 3"/>
          <p:cNvSpPr>
            <a:spLocks noGrp="1" noRot="1" noChangeArrowheads="1"/>
          </p:cNvSpPr>
          <p:nvPr>
            <p:ph idx="1"/>
          </p:nvPr>
        </p:nvSpPr>
        <p:spPr>
          <a:xfrm>
            <a:off x="768097" y="1037063"/>
            <a:ext cx="7832833" cy="3694958"/>
          </a:xfrm>
        </p:spPr>
        <p:txBody>
          <a:bodyPr>
            <a:normAutofit/>
          </a:bodyPr>
          <a:lstStyle/>
          <a:p>
            <a:pPr marL="342900" indent="-342900">
              <a:buFont typeface="+mj-lt"/>
              <a:buAutoNum type="arabicPeriod"/>
            </a:pPr>
            <a:r>
              <a:rPr lang="zh-CN" altLang="en-US" sz="2400" dirty="0" smtClean="0"/>
              <a:t>时序</a:t>
            </a:r>
            <a:r>
              <a:rPr lang="zh-CN" altLang="en-US" sz="2400" dirty="0"/>
              <a:t>图的相关概念</a:t>
            </a:r>
            <a:endParaRPr lang="zh-CN" altLang="en-US" sz="2400" dirty="0"/>
          </a:p>
          <a:p>
            <a:pPr marL="342900" indent="-342900">
              <a:buFont typeface="+mj-lt"/>
              <a:buAutoNum type="arabicPeriod"/>
            </a:pPr>
            <a:r>
              <a:rPr lang="zh-CN" altLang="en-US" sz="2400" dirty="0" smtClean="0"/>
              <a:t>时序</a:t>
            </a:r>
            <a:r>
              <a:rPr lang="zh-CN" altLang="en-US" sz="2400" dirty="0"/>
              <a:t>图的用途</a:t>
            </a:r>
            <a:endParaRPr lang="zh-CN" altLang="en-US" sz="2400" dirty="0"/>
          </a:p>
          <a:p>
            <a:pPr marL="342900" indent="-342900">
              <a:buFont typeface="+mj-lt"/>
              <a:buAutoNum type="arabicPeriod"/>
            </a:pPr>
            <a:r>
              <a:rPr lang="zh-CN" altLang="en-US" sz="2400" dirty="0" smtClean="0"/>
              <a:t>时序</a:t>
            </a:r>
            <a:r>
              <a:rPr lang="zh-CN" altLang="en-US" sz="2400" dirty="0"/>
              <a:t>图的建模技术</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9" name="矩形 8"/>
          <p:cNvSpPr/>
          <p:nvPr/>
        </p:nvSpPr>
        <p:spPr>
          <a:xfrm>
            <a:off x="1210410" y="2828594"/>
            <a:ext cx="7208761" cy="1200329"/>
          </a:xfrm>
          <a:prstGeom prst="rect">
            <a:avLst/>
          </a:prstGeom>
        </p:spPr>
        <p:txBody>
          <a:bodyPr wrap="square">
            <a:spAutoFit/>
          </a:bodyPr>
          <a:lstStyle/>
          <a:p>
            <a:pPr algn="just"/>
            <a:r>
              <a:rPr lang="zh-CN" altLang="en-US" sz="2400" dirty="0">
                <a:solidFill>
                  <a:schemeClr val="accent1">
                    <a:lumMod val="50000"/>
                  </a:schemeClr>
                </a:solidFill>
                <a:latin typeface="+mj-ea"/>
                <a:ea typeface="+mj-ea"/>
              </a:rPr>
              <a:t>       通过</a:t>
            </a:r>
            <a:r>
              <a:rPr lang="en-US" altLang="zh-CN" sz="2400" dirty="0">
                <a:solidFill>
                  <a:schemeClr val="accent1">
                    <a:lumMod val="50000"/>
                  </a:schemeClr>
                </a:solidFill>
                <a:latin typeface="+mj-ea"/>
                <a:ea typeface="+mj-ea"/>
              </a:rPr>
              <a:t>RUP</a:t>
            </a:r>
            <a:r>
              <a:rPr lang="zh-CN" altLang="en-US" sz="2400" dirty="0">
                <a:solidFill>
                  <a:schemeClr val="accent1">
                    <a:lumMod val="50000"/>
                  </a:schemeClr>
                </a:solidFill>
                <a:latin typeface="+mj-ea"/>
                <a:ea typeface="+mj-ea"/>
              </a:rPr>
              <a:t>方法开发软件时，我们是以用例为材料来构造交互图的，交互图通常是对用例的实现，表达的是交互图中对象的相互协作，完成用例的功能。</a:t>
            </a:r>
            <a:endParaRPr lang="zh-CN" altLang="en-US" sz="2400" dirty="0">
              <a:solidFill>
                <a:schemeClr val="accent1">
                  <a:lumMod val="50000"/>
                </a:schemeClr>
              </a:solidFill>
              <a:latin typeface="+mj-ea"/>
              <a:ea typeface="+mj-ea"/>
            </a:endParaRPr>
          </a:p>
        </p:txBody>
      </p:sp>
      <p:sp>
        <p:nvSpPr>
          <p:cNvPr id="2" name="日期占位符 1"/>
          <p:cNvSpPr>
            <a:spLocks noGrp="1"/>
          </p:cNvSpPr>
          <p:nvPr>
            <p:ph type="dt" sz="half" idx="10"/>
          </p:nvPr>
        </p:nvSpPr>
        <p:spPr/>
        <p:txBody>
          <a:bodyPr/>
          <a:lstStyle/>
          <a:p>
            <a:fld id="{BD20C7DC-B387-4834-818B-8D8DCF4093FB}"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9" name="Rectangle 3"/>
          <p:cNvSpPr>
            <a:spLocks noGrp="1" noChangeArrowheads="1"/>
          </p:cNvSpPr>
          <p:nvPr>
            <p:ph idx="1"/>
          </p:nvPr>
        </p:nvSpPr>
        <p:spPr>
          <a:xfrm>
            <a:off x="870976" y="907184"/>
            <a:ext cx="7683190" cy="3772392"/>
          </a:xfrm>
        </p:spPr>
        <p:txBody>
          <a:bodyPr>
            <a:noAutofit/>
          </a:bodyPr>
          <a:lstStyle/>
          <a:p>
            <a:pPr>
              <a:lnSpc>
                <a:spcPct val="120000"/>
              </a:lnSpc>
              <a:buFontTx/>
              <a:buNone/>
            </a:pPr>
            <a:r>
              <a:rPr lang="en-US" altLang="zh-CN" sz="2400" dirty="0"/>
              <a:t>1. </a:t>
            </a:r>
            <a:r>
              <a:rPr lang="zh-CN" altLang="en-US" sz="2400" dirty="0"/>
              <a:t>交互图的概念</a:t>
            </a:r>
            <a:endParaRPr lang="zh-CN" altLang="en-US" sz="2400" dirty="0"/>
          </a:p>
          <a:p>
            <a:pPr>
              <a:lnSpc>
                <a:spcPct val="120000"/>
              </a:lnSpc>
              <a:buFontTx/>
              <a:buNone/>
            </a:pPr>
            <a:r>
              <a:rPr lang="zh-CN" altLang="en-US" sz="2000" dirty="0"/>
              <a:t>     交互图</a:t>
            </a:r>
            <a:r>
              <a:rPr lang="en-US" altLang="zh-CN" sz="2000" dirty="0"/>
              <a:t>(interaction): </a:t>
            </a:r>
            <a:r>
              <a:rPr lang="zh-CN" altLang="en-US" sz="2000" dirty="0"/>
              <a:t>用来描述对象之间、对象与参与者之间的动态协作关系，以及协作过程中行为次序的图形。</a:t>
            </a:r>
            <a:endParaRPr lang="zh-CN" altLang="en-US" sz="2000" dirty="0"/>
          </a:p>
          <a:p>
            <a:pPr>
              <a:lnSpc>
                <a:spcPct val="120000"/>
              </a:lnSpc>
              <a:buFontTx/>
              <a:buNone/>
            </a:pPr>
            <a:r>
              <a:rPr lang="en-US" altLang="zh-CN" sz="2400" dirty="0"/>
              <a:t>2. </a:t>
            </a:r>
            <a:r>
              <a:rPr lang="zh-CN" altLang="en-US" sz="2400" dirty="0"/>
              <a:t>交互图的类型 </a:t>
            </a:r>
            <a:endParaRPr lang="zh-CN" altLang="en-US" sz="2400" dirty="0"/>
          </a:p>
          <a:p>
            <a:pPr>
              <a:lnSpc>
                <a:spcPct val="120000"/>
              </a:lnSpc>
            </a:pPr>
            <a:r>
              <a:rPr lang="zh-CN" altLang="en-US" sz="1600" dirty="0"/>
              <a:t>顺序图（ </a:t>
            </a:r>
            <a:r>
              <a:rPr lang="en-US" altLang="zh-CN" sz="1600" dirty="0"/>
              <a:t>Sequence  Diagram </a:t>
            </a:r>
            <a:r>
              <a:rPr lang="zh-CN" altLang="en-US" sz="1600" dirty="0"/>
              <a:t>）</a:t>
            </a:r>
            <a:endParaRPr lang="en-US" altLang="zh-CN" sz="1600" dirty="0"/>
          </a:p>
          <a:p>
            <a:pPr>
              <a:lnSpc>
                <a:spcPct val="120000"/>
              </a:lnSpc>
            </a:pPr>
            <a:r>
              <a:rPr lang="zh-CN" altLang="en-US" sz="1600" dirty="0"/>
              <a:t>通信图（ </a:t>
            </a:r>
            <a:r>
              <a:rPr lang="en-US" altLang="zh-CN" sz="1600" dirty="0"/>
              <a:t>Communication  Diagram </a:t>
            </a:r>
            <a:r>
              <a:rPr lang="zh-CN" altLang="en-US" sz="1600" dirty="0"/>
              <a:t>） </a:t>
            </a:r>
            <a:endParaRPr lang="en-US" altLang="zh-CN" sz="1600" dirty="0"/>
          </a:p>
          <a:p>
            <a:pPr>
              <a:lnSpc>
                <a:spcPct val="120000"/>
              </a:lnSpc>
            </a:pPr>
            <a:r>
              <a:rPr lang="zh-CN" altLang="en-US" sz="1600" dirty="0"/>
              <a:t>交互概览图（</a:t>
            </a:r>
            <a:r>
              <a:rPr lang="en-US" altLang="zh-CN" sz="1600" dirty="0"/>
              <a:t>Interaction Overview Diagram</a:t>
            </a:r>
            <a:r>
              <a:rPr lang="zh-CN" altLang="en-US" sz="1600" dirty="0"/>
              <a:t>）</a:t>
            </a:r>
            <a:endParaRPr lang="en-US" altLang="zh-CN" sz="1600" dirty="0"/>
          </a:p>
          <a:p>
            <a:pPr>
              <a:lnSpc>
                <a:spcPct val="120000"/>
              </a:lnSpc>
            </a:pPr>
            <a:r>
              <a:rPr lang="zh-CN" altLang="en-US" sz="1600" dirty="0"/>
              <a:t>时间图（</a:t>
            </a:r>
            <a:r>
              <a:rPr lang="en-US" altLang="zh-CN" sz="1600" dirty="0"/>
              <a:t>Timing Diagram</a:t>
            </a:r>
            <a:r>
              <a:rPr lang="zh-CN" altLang="en-US" sz="1600" dirty="0"/>
              <a:t>）  </a:t>
            </a:r>
            <a:endParaRPr lang="zh-CN" altLang="en-US" sz="1600" dirty="0"/>
          </a:p>
        </p:txBody>
      </p:sp>
      <p:sp>
        <p:nvSpPr>
          <p:cNvPr id="352258" name="Rectangle 2"/>
          <p:cNvSpPr>
            <a:spLocks noGrp="1" noChangeArrowheads="1"/>
          </p:cNvSpPr>
          <p:nvPr>
            <p:ph type="title"/>
          </p:nvPr>
        </p:nvSpPr>
        <p:spPr/>
        <p:txBody>
          <a:bodyPr/>
          <a:lstStyle/>
          <a:p>
            <a:r>
              <a:rPr lang="en-US" altLang="zh-CN" b="1" dirty="0">
                <a:solidFill>
                  <a:schemeClr val="bg1"/>
                </a:solidFill>
              </a:rPr>
              <a:t> </a:t>
            </a:r>
            <a:r>
              <a:rPr lang="zh-CN" altLang="en-US" dirty="0"/>
              <a:t>交互图的概念</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6F067515-6D27-48B6-A5F5-318728E600ED}"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normAutofit/>
          </a:bodyPr>
          <a:lstStyle/>
          <a:p>
            <a:r>
              <a:rPr lang="zh-CN" altLang="en-US" dirty="0" smtClean="0"/>
              <a:t>时序图的概念及符号表示</a:t>
            </a:r>
            <a:endParaRPr lang="zh-CN" altLang="en-US" dirty="0" smtClean="0"/>
          </a:p>
        </p:txBody>
      </p:sp>
      <p:sp>
        <p:nvSpPr>
          <p:cNvPr id="69635" name="Rectangle 3"/>
          <p:cNvSpPr>
            <a:spLocks noGrp="1" noChangeArrowheads="1"/>
          </p:cNvSpPr>
          <p:nvPr>
            <p:ph idx="1"/>
          </p:nvPr>
        </p:nvSpPr>
        <p:spPr/>
        <p:txBody>
          <a:bodyPr/>
          <a:lstStyle/>
          <a:p>
            <a:pPr>
              <a:lnSpc>
                <a:spcPct val="120000"/>
              </a:lnSpc>
              <a:spcBef>
                <a:spcPts val="450"/>
              </a:spcBef>
              <a:buNone/>
            </a:pPr>
            <a:r>
              <a:rPr lang="zh-CN" altLang="en-US" sz="2400" dirty="0"/>
              <a:t>         时序图描述了对象之间传递消息的时间顺序，它用来表示用例的行为顺序。</a:t>
            </a:r>
            <a:endParaRPr lang="en-US" altLang="zh-CN" sz="2400" dirty="0"/>
          </a:p>
          <a:p>
            <a:pPr>
              <a:lnSpc>
                <a:spcPct val="120000"/>
              </a:lnSpc>
              <a:spcBef>
                <a:spcPts val="1350"/>
              </a:spcBef>
            </a:pPr>
            <a:r>
              <a:rPr lang="zh-CN" altLang="en-US" sz="2400" dirty="0" smtClean="0"/>
              <a:t>时序图包括了</a:t>
            </a:r>
            <a:r>
              <a:rPr lang="en-US" altLang="zh-CN" sz="2400" dirty="0" smtClean="0"/>
              <a:t>4</a:t>
            </a:r>
            <a:r>
              <a:rPr lang="zh-CN" altLang="en-US" sz="2400" dirty="0" smtClean="0"/>
              <a:t>个元素，分别是：</a:t>
            </a:r>
            <a:endParaRPr lang="en-US" altLang="zh-CN" sz="2400" dirty="0" smtClean="0"/>
          </a:p>
          <a:p>
            <a:pPr marL="600075" lvl="1" indent="-342900">
              <a:lnSpc>
                <a:spcPct val="120000"/>
              </a:lnSpc>
              <a:spcBef>
                <a:spcPts val="450"/>
              </a:spcBef>
              <a:buFont typeface="+mj-lt"/>
              <a:buAutoNum type="arabicPeriod"/>
            </a:pPr>
            <a:r>
              <a:rPr lang="zh-CN" altLang="en-US" sz="2000" dirty="0"/>
              <a:t>对象（</a:t>
            </a:r>
            <a:r>
              <a:rPr lang="en-US" altLang="zh-CN" sz="2000" dirty="0"/>
              <a:t>Object</a:t>
            </a:r>
            <a:r>
              <a:rPr lang="zh-CN" altLang="en-US" sz="2000" dirty="0"/>
              <a:t>）</a:t>
            </a:r>
            <a:endParaRPr lang="en-US" altLang="zh-CN" sz="2000" dirty="0"/>
          </a:p>
          <a:p>
            <a:pPr marL="600075" lvl="1" indent="-342900">
              <a:lnSpc>
                <a:spcPct val="120000"/>
              </a:lnSpc>
              <a:spcBef>
                <a:spcPts val="450"/>
              </a:spcBef>
              <a:buFont typeface="+mj-lt"/>
              <a:buAutoNum type="arabicPeriod"/>
            </a:pPr>
            <a:r>
              <a:rPr lang="zh-CN" altLang="en-US" sz="2000" dirty="0"/>
              <a:t>生命线（</a:t>
            </a:r>
            <a:r>
              <a:rPr lang="en-US" altLang="zh-CN" sz="2000" dirty="0"/>
              <a:t>Lifeline</a:t>
            </a:r>
            <a:r>
              <a:rPr lang="zh-CN" altLang="en-US" sz="2000" dirty="0"/>
              <a:t>）</a:t>
            </a:r>
            <a:endParaRPr lang="en-US" altLang="zh-CN" sz="2000" dirty="0"/>
          </a:p>
          <a:p>
            <a:pPr marL="600075" lvl="1" indent="-342900">
              <a:lnSpc>
                <a:spcPct val="120000"/>
              </a:lnSpc>
              <a:spcBef>
                <a:spcPts val="450"/>
              </a:spcBef>
              <a:buFont typeface="+mj-lt"/>
              <a:buAutoNum type="arabicPeriod"/>
            </a:pPr>
            <a:r>
              <a:rPr lang="zh-CN" altLang="en-US" sz="2000" dirty="0"/>
              <a:t>激活（</a:t>
            </a:r>
            <a:r>
              <a:rPr lang="en-US" altLang="zh-CN" sz="2000" dirty="0"/>
              <a:t>Activation</a:t>
            </a:r>
            <a:r>
              <a:rPr lang="zh-CN" altLang="en-US" sz="2000" dirty="0"/>
              <a:t>）</a:t>
            </a:r>
            <a:endParaRPr lang="en-US" altLang="zh-CN" sz="2000" dirty="0"/>
          </a:p>
          <a:p>
            <a:pPr marL="600075" lvl="1" indent="-342900">
              <a:lnSpc>
                <a:spcPct val="120000"/>
              </a:lnSpc>
              <a:spcBef>
                <a:spcPts val="450"/>
              </a:spcBef>
              <a:buFont typeface="+mj-lt"/>
              <a:buAutoNum type="arabicPeriod"/>
            </a:pPr>
            <a:r>
              <a:rPr lang="zh-CN" altLang="en-US" sz="2000" dirty="0"/>
              <a:t>消息（</a:t>
            </a:r>
            <a:r>
              <a:rPr lang="en-US" altLang="zh-CN" sz="2000" dirty="0"/>
              <a:t>Message</a:t>
            </a:r>
            <a:r>
              <a:rPr lang="zh-CN" altLang="en-US" sz="2000" dirty="0"/>
              <a:t>）</a:t>
            </a:r>
            <a:endParaRPr lang="zh-CN" altLang="en-US" sz="2000" dirty="0"/>
          </a:p>
        </p:txBody>
      </p:sp>
      <p:sp>
        <p:nvSpPr>
          <p:cNvPr id="3" name="日期占位符 2"/>
          <p:cNvSpPr>
            <a:spLocks noGrp="1"/>
          </p:cNvSpPr>
          <p:nvPr>
            <p:ph type="dt" sz="half" idx="10"/>
          </p:nvPr>
        </p:nvSpPr>
        <p:spPr/>
        <p:txBody>
          <a:bodyPr/>
          <a:lstStyle/>
          <a:p>
            <a:fld id="{61C1220D-9D78-46C1-A515-04DFE697800F}"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5" name="组合 4"/>
          <p:cNvGrpSpPr/>
          <p:nvPr/>
        </p:nvGrpSpPr>
        <p:grpSpPr>
          <a:xfrm>
            <a:off x="4233516" y="1353372"/>
            <a:ext cx="4705351" cy="3705396"/>
            <a:chOff x="1949450" y="838200"/>
            <a:chExt cx="6273801" cy="4940528"/>
          </a:xfrm>
        </p:grpSpPr>
        <p:grpSp>
          <p:nvGrpSpPr>
            <p:cNvPr id="6" name="Group 3"/>
            <p:cNvGrpSpPr/>
            <p:nvPr/>
          </p:nvGrpSpPr>
          <p:grpSpPr bwMode="auto">
            <a:xfrm>
              <a:off x="1949450" y="4343402"/>
              <a:ext cx="2470150" cy="1389063"/>
              <a:chOff x="1228" y="2736"/>
              <a:chExt cx="1556" cy="875"/>
            </a:xfrm>
          </p:grpSpPr>
          <p:sp>
            <p:nvSpPr>
              <p:cNvPr id="19" name="Line 4"/>
              <p:cNvSpPr>
                <a:spLocks noChangeShapeType="1"/>
              </p:cNvSpPr>
              <p:nvPr/>
            </p:nvSpPr>
            <p:spPr bwMode="auto">
              <a:xfrm flipV="1">
                <a:off x="1728" y="2736"/>
                <a:ext cx="1056" cy="632"/>
              </a:xfrm>
              <a:prstGeom prst="line">
                <a:avLst/>
              </a:prstGeom>
              <a:noFill/>
              <a:ln w="57150">
                <a:solidFill>
                  <a:srgbClr val="FF0000"/>
                </a:solidFill>
                <a:round/>
                <a:tailEnd type="triangle" w="med" len="med"/>
              </a:ln>
              <a:effectLst/>
            </p:spPr>
            <p:txBody>
              <a:bodyPr wrap="none" lIns="80963" tIns="40481" rIns="80963" bIns="40481" anchor="ctr"/>
              <a:lstStyle/>
              <a:p>
                <a:endParaRPr lang="zh-CN" altLang="en-US" sz="1350"/>
              </a:p>
            </p:txBody>
          </p:sp>
          <p:sp>
            <p:nvSpPr>
              <p:cNvPr id="20" name="Text Box 5"/>
              <p:cNvSpPr txBox="1">
                <a:spLocks noChangeArrowheads="1"/>
              </p:cNvSpPr>
              <p:nvPr/>
            </p:nvSpPr>
            <p:spPr bwMode="auto">
              <a:xfrm>
                <a:off x="1228" y="3368"/>
                <a:ext cx="574" cy="243"/>
              </a:xfrm>
              <a:prstGeom prst="rect">
                <a:avLst/>
              </a:prstGeom>
              <a:noFill/>
              <a:ln w="9525" algn="ctr">
                <a:noFill/>
                <a:miter lim="800000"/>
              </a:ln>
              <a:effectLst/>
            </p:spPr>
            <p:txBody>
              <a:bodyPr wrap="none" lIns="80963" tIns="40481" rIns="80963" bIns="40481">
                <a:spAutoFit/>
              </a:bodyPr>
              <a:lstStyle/>
              <a:p>
                <a:r>
                  <a:rPr lang="zh-CN" altLang="en-US" sz="1350"/>
                  <a:t>生命线</a:t>
                </a:r>
                <a:endParaRPr lang="zh-CN" altLang="en-US" sz="1350"/>
              </a:p>
            </p:txBody>
          </p:sp>
        </p:grpSp>
        <p:pic>
          <p:nvPicPr>
            <p:cNvPr id="7" name="Picture 6"/>
            <p:cNvPicPr>
              <a:picLocks noChangeAspect="1" noChangeArrowheads="1"/>
            </p:cNvPicPr>
            <p:nvPr/>
          </p:nvPicPr>
          <p:blipFill rotWithShape="1">
            <a:blip r:embed="rId1" cstate="print"/>
            <a:srcRect b="10480"/>
            <a:stretch>
              <a:fillRect/>
            </a:stretch>
          </p:blipFill>
          <p:spPr bwMode="auto">
            <a:xfrm>
              <a:off x="3886200" y="1116014"/>
              <a:ext cx="3222625" cy="4662714"/>
            </a:xfrm>
            <a:prstGeom prst="rect">
              <a:avLst/>
            </a:prstGeom>
            <a:noFill/>
            <a:ln w="9525" algn="ctr">
              <a:noFill/>
              <a:miter lim="800000"/>
              <a:headEnd/>
              <a:tailEnd/>
            </a:ln>
            <a:effectLst/>
          </p:spPr>
        </p:pic>
        <p:grpSp>
          <p:nvGrpSpPr>
            <p:cNvPr id="8" name="Group 10"/>
            <p:cNvGrpSpPr/>
            <p:nvPr/>
          </p:nvGrpSpPr>
          <p:grpSpPr bwMode="auto">
            <a:xfrm>
              <a:off x="6538914" y="2743202"/>
              <a:ext cx="1531938" cy="614363"/>
              <a:chOff x="4119" y="1728"/>
              <a:chExt cx="965" cy="387"/>
            </a:xfrm>
          </p:grpSpPr>
          <p:sp>
            <p:nvSpPr>
              <p:cNvPr id="17" name="Text Box 11"/>
              <p:cNvSpPr txBox="1">
                <a:spLocks noChangeArrowheads="1"/>
              </p:cNvSpPr>
              <p:nvPr/>
            </p:nvSpPr>
            <p:spPr bwMode="auto">
              <a:xfrm>
                <a:off x="4656" y="1872"/>
                <a:ext cx="428" cy="243"/>
              </a:xfrm>
              <a:prstGeom prst="rect">
                <a:avLst/>
              </a:prstGeom>
              <a:noFill/>
              <a:ln w="9525" algn="ctr">
                <a:noFill/>
                <a:miter lim="800000"/>
              </a:ln>
              <a:effectLst/>
            </p:spPr>
            <p:txBody>
              <a:bodyPr wrap="none" lIns="80963" tIns="40481" rIns="80963" bIns="40481">
                <a:spAutoFit/>
              </a:bodyPr>
              <a:lstStyle/>
              <a:p>
                <a:r>
                  <a:rPr lang="zh-CN" altLang="en-US" sz="1350"/>
                  <a:t>激活</a:t>
                </a:r>
                <a:endParaRPr lang="zh-CN" altLang="en-US" sz="1350"/>
              </a:p>
            </p:txBody>
          </p:sp>
          <p:sp>
            <p:nvSpPr>
              <p:cNvPr id="18" name="Line 12"/>
              <p:cNvSpPr>
                <a:spLocks noChangeShapeType="1"/>
              </p:cNvSpPr>
              <p:nvPr/>
            </p:nvSpPr>
            <p:spPr bwMode="auto">
              <a:xfrm flipH="1" flipV="1">
                <a:off x="4119" y="1728"/>
                <a:ext cx="576" cy="240"/>
              </a:xfrm>
              <a:prstGeom prst="line">
                <a:avLst/>
              </a:prstGeom>
              <a:noFill/>
              <a:ln w="57150">
                <a:solidFill>
                  <a:srgbClr val="FF0000"/>
                </a:solidFill>
                <a:round/>
                <a:tailEnd type="triangle" w="med" len="med"/>
              </a:ln>
              <a:effectLst/>
            </p:spPr>
            <p:txBody>
              <a:bodyPr wrap="none" lIns="80963" tIns="40481" rIns="80963" bIns="40481" anchor="ctr"/>
              <a:lstStyle/>
              <a:p>
                <a:endParaRPr lang="zh-CN" altLang="en-US" sz="1350"/>
              </a:p>
            </p:txBody>
          </p:sp>
        </p:grpSp>
        <p:grpSp>
          <p:nvGrpSpPr>
            <p:cNvPr id="9" name="Group 13"/>
            <p:cNvGrpSpPr/>
            <p:nvPr/>
          </p:nvGrpSpPr>
          <p:grpSpPr bwMode="auto">
            <a:xfrm>
              <a:off x="2743200" y="2514601"/>
              <a:ext cx="2667000" cy="995363"/>
              <a:chOff x="1728" y="1584"/>
              <a:chExt cx="1680" cy="627"/>
            </a:xfrm>
          </p:grpSpPr>
          <p:sp>
            <p:nvSpPr>
              <p:cNvPr id="15" name="Line 14"/>
              <p:cNvSpPr>
                <a:spLocks noChangeShapeType="1"/>
              </p:cNvSpPr>
              <p:nvPr/>
            </p:nvSpPr>
            <p:spPr bwMode="auto">
              <a:xfrm flipV="1">
                <a:off x="2352" y="1584"/>
                <a:ext cx="1056" cy="480"/>
              </a:xfrm>
              <a:prstGeom prst="line">
                <a:avLst/>
              </a:prstGeom>
              <a:noFill/>
              <a:ln w="57150">
                <a:solidFill>
                  <a:srgbClr val="FF0000"/>
                </a:solidFill>
                <a:round/>
                <a:tailEnd type="triangle" w="med" len="med"/>
              </a:ln>
              <a:effectLst/>
            </p:spPr>
            <p:txBody>
              <a:bodyPr wrap="none" lIns="80963" tIns="40481" rIns="80963" bIns="40481" anchor="ctr"/>
              <a:lstStyle/>
              <a:p>
                <a:endParaRPr lang="zh-CN" altLang="en-US" sz="1350"/>
              </a:p>
            </p:txBody>
          </p:sp>
          <p:sp>
            <p:nvSpPr>
              <p:cNvPr id="16" name="Text Box 15"/>
              <p:cNvSpPr txBox="1">
                <a:spLocks noChangeArrowheads="1"/>
              </p:cNvSpPr>
              <p:nvPr/>
            </p:nvSpPr>
            <p:spPr bwMode="auto">
              <a:xfrm>
                <a:off x="1728" y="1968"/>
                <a:ext cx="428" cy="243"/>
              </a:xfrm>
              <a:prstGeom prst="rect">
                <a:avLst/>
              </a:prstGeom>
              <a:noFill/>
              <a:ln w="9525" algn="ctr">
                <a:noFill/>
                <a:miter lim="800000"/>
              </a:ln>
              <a:effectLst/>
            </p:spPr>
            <p:txBody>
              <a:bodyPr wrap="none" lIns="80963" tIns="40481" rIns="80963" bIns="40481">
                <a:spAutoFit/>
              </a:bodyPr>
              <a:lstStyle/>
              <a:p>
                <a:r>
                  <a:rPr lang="zh-CN" altLang="en-US" sz="1350"/>
                  <a:t>消息</a:t>
                </a:r>
                <a:endParaRPr lang="zh-CN" altLang="en-US" sz="1350"/>
              </a:p>
            </p:txBody>
          </p:sp>
        </p:grpSp>
        <p:grpSp>
          <p:nvGrpSpPr>
            <p:cNvPr id="10" name="Group 22"/>
            <p:cNvGrpSpPr/>
            <p:nvPr/>
          </p:nvGrpSpPr>
          <p:grpSpPr bwMode="auto">
            <a:xfrm>
              <a:off x="4697413" y="838200"/>
              <a:ext cx="3525838" cy="884238"/>
              <a:chOff x="2959" y="528"/>
              <a:chExt cx="2221" cy="557"/>
            </a:xfrm>
          </p:grpSpPr>
          <p:grpSp>
            <p:nvGrpSpPr>
              <p:cNvPr id="11" name="Group 7"/>
              <p:cNvGrpSpPr/>
              <p:nvPr/>
            </p:nvGrpSpPr>
            <p:grpSpPr bwMode="auto">
              <a:xfrm>
                <a:off x="4224" y="528"/>
                <a:ext cx="956" cy="480"/>
                <a:chOff x="4224" y="528"/>
                <a:chExt cx="956" cy="480"/>
              </a:xfrm>
            </p:grpSpPr>
            <p:sp>
              <p:nvSpPr>
                <p:cNvPr id="13" name="Text Box 8"/>
                <p:cNvSpPr txBox="1">
                  <a:spLocks noChangeArrowheads="1"/>
                </p:cNvSpPr>
                <p:nvPr/>
              </p:nvSpPr>
              <p:spPr bwMode="auto">
                <a:xfrm>
                  <a:off x="4752" y="528"/>
                  <a:ext cx="428" cy="243"/>
                </a:xfrm>
                <a:prstGeom prst="rect">
                  <a:avLst/>
                </a:prstGeom>
                <a:noFill/>
                <a:ln w="9525" algn="ctr">
                  <a:noFill/>
                  <a:miter lim="800000"/>
                </a:ln>
                <a:effectLst/>
              </p:spPr>
              <p:txBody>
                <a:bodyPr wrap="none" lIns="80963" tIns="40481" rIns="80963" bIns="40481">
                  <a:spAutoFit/>
                </a:bodyPr>
                <a:lstStyle/>
                <a:p>
                  <a:r>
                    <a:rPr lang="zh-CN" altLang="en-US" sz="1350"/>
                    <a:t>对象</a:t>
                  </a:r>
                  <a:endParaRPr lang="zh-CN" altLang="en-US" sz="1350"/>
                </a:p>
              </p:txBody>
            </p:sp>
            <p:sp>
              <p:nvSpPr>
                <p:cNvPr id="14" name="Line 9"/>
                <p:cNvSpPr>
                  <a:spLocks noChangeShapeType="1"/>
                </p:cNvSpPr>
                <p:nvPr/>
              </p:nvSpPr>
              <p:spPr bwMode="auto">
                <a:xfrm flipH="1">
                  <a:off x="4224" y="672"/>
                  <a:ext cx="576" cy="336"/>
                </a:xfrm>
                <a:prstGeom prst="line">
                  <a:avLst/>
                </a:prstGeom>
                <a:noFill/>
                <a:ln w="57150">
                  <a:solidFill>
                    <a:srgbClr val="FF0000"/>
                  </a:solidFill>
                  <a:round/>
                  <a:tailEnd type="triangle" w="med" len="med"/>
                </a:ln>
                <a:effectLst/>
              </p:spPr>
              <p:txBody>
                <a:bodyPr wrap="none" lIns="80963" tIns="40481" rIns="80963" bIns="40481" anchor="ctr"/>
                <a:lstStyle/>
                <a:p>
                  <a:endParaRPr lang="zh-CN" altLang="en-US" sz="1350"/>
                </a:p>
              </p:txBody>
            </p:sp>
          </p:grpSp>
          <p:sp>
            <p:nvSpPr>
              <p:cNvPr id="12" name="Line 21"/>
              <p:cNvSpPr>
                <a:spLocks noChangeShapeType="1"/>
              </p:cNvSpPr>
              <p:nvPr/>
            </p:nvSpPr>
            <p:spPr bwMode="auto">
              <a:xfrm flipH="1">
                <a:off x="2959" y="672"/>
                <a:ext cx="1841" cy="413"/>
              </a:xfrm>
              <a:prstGeom prst="line">
                <a:avLst/>
              </a:prstGeom>
              <a:noFill/>
              <a:ln w="57150">
                <a:solidFill>
                  <a:srgbClr val="FF0000"/>
                </a:solidFill>
                <a:round/>
                <a:tailEnd type="triangle" w="med" len="med"/>
              </a:ln>
              <a:effectLst/>
            </p:spPr>
            <p:txBody>
              <a:bodyPr wrap="none" lIns="80963" tIns="40481" rIns="80963" bIns="40481" anchor="ctr"/>
              <a:lstStyle/>
              <a:p>
                <a:endParaRPr lang="zh-CN" altLang="en-US" sz="1350"/>
              </a:p>
            </p:txBody>
          </p:sp>
        </p:gr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9635">
                                            <p:txEl>
                                              <p:pRg st="1" end="1"/>
                                            </p:txEl>
                                          </p:spTgt>
                                        </p:tgtEl>
                                        <p:attrNameLst>
                                          <p:attrName>style.visibility</p:attrName>
                                        </p:attrNameLst>
                                      </p:cBhvr>
                                      <p:to>
                                        <p:strVal val="visible"/>
                                      </p:to>
                                    </p:set>
                                    <p:animEffect transition="in" filter="wipe(up)">
                                      <p:cBhvr>
                                        <p:cTn id="7" dur="500"/>
                                        <p:tgtEl>
                                          <p:spTgt spid="69635">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69635">
                                            <p:txEl>
                                              <p:pRg st="2" end="2"/>
                                            </p:txEl>
                                          </p:spTgt>
                                        </p:tgtEl>
                                        <p:attrNameLst>
                                          <p:attrName>style.visibility</p:attrName>
                                        </p:attrNameLst>
                                      </p:cBhvr>
                                      <p:to>
                                        <p:strVal val="visible"/>
                                      </p:to>
                                    </p:set>
                                    <p:animEffect transition="in" filter="wipe(up)">
                                      <p:cBhvr>
                                        <p:cTn id="10" dur="500"/>
                                        <p:tgtEl>
                                          <p:spTgt spid="69635">
                                            <p:txEl>
                                              <p:pRg st="2" end="2"/>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69635">
                                            <p:txEl>
                                              <p:pRg st="3" end="3"/>
                                            </p:txEl>
                                          </p:spTgt>
                                        </p:tgtEl>
                                        <p:attrNameLst>
                                          <p:attrName>style.visibility</p:attrName>
                                        </p:attrNameLst>
                                      </p:cBhvr>
                                      <p:to>
                                        <p:strVal val="visible"/>
                                      </p:to>
                                    </p:set>
                                    <p:animEffect transition="in" filter="wipe(up)">
                                      <p:cBhvr>
                                        <p:cTn id="13" dur="500"/>
                                        <p:tgtEl>
                                          <p:spTgt spid="69635">
                                            <p:txEl>
                                              <p:pRg st="3" end="3"/>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69635">
                                            <p:txEl>
                                              <p:pRg st="4" end="4"/>
                                            </p:txEl>
                                          </p:spTgt>
                                        </p:tgtEl>
                                        <p:attrNameLst>
                                          <p:attrName>style.visibility</p:attrName>
                                        </p:attrNameLst>
                                      </p:cBhvr>
                                      <p:to>
                                        <p:strVal val="visible"/>
                                      </p:to>
                                    </p:set>
                                    <p:animEffect transition="in" filter="wipe(up)">
                                      <p:cBhvr>
                                        <p:cTn id="16" dur="500"/>
                                        <p:tgtEl>
                                          <p:spTgt spid="69635">
                                            <p:txEl>
                                              <p:pRg st="4" end="4"/>
                                            </p:txEl>
                                          </p:spTgt>
                                        </p:tgtEl>
                                      </p:cBhvr>
                                    </p:animEffect>
                                  </p:childTnLst>
                                </p:cTn>
                              </p:par>
                              <p:par>
                                <p:cTn id="17" presetID="22" presetClass="entr" presetSubtype="1" fill="hold" nodeType="withEffect">
                                  <p:stCondLst>
                                    <p:cond delay="0"/>
                                  </p:stCondLst>
                                  <p:childTnLst>
                                    <p:set>
                                      <p:cBhvr>
                                        <p:cTn id="18" dur="1" fill="hold">
                                          <p:stCondLst>
                                            <p:cond delay="0"/>
                                          </p:stCondLst>
                                        </p:cTn>
                                        <p:tgtEl>
                                          <p:spTgt spid="69635">
                                            <p:txEl>
                                              <p:pRg st="5" end="5"/>
                                            </p:txEl>
                                          </p:spTgt>
                                        </p:tgtEl>
                                        <p:attrNameLst>
                                          <p:attrName>style.visibility</p:attrName>
                                        </p:attrNameLst>
                                      </p:cBhvr>
                                      <p:to>
                                        <p:strVal val="visible"/>
                                      </p:to>
                                    </p:set>
                                    <p:animEffect transition="in" filter="wipe(up)">
                                      <p:cBhvr>
                                        <p:cTn id="19" dur="500"/>
                                        <p:tgtEl>
                                          <p:spTgt spid="69635">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randombar(horizontal)">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988" name="Picture 4"/>
          <p:cNvPicPr>
            <a:picLocks noChangeAspect="1" noChangeArrowheads="1"/>
          </p:cNvPicPr>
          <p:nvPr/>
        </p:nvPicPr>
        <p:blipFill>
          <a:blip r:embed="rId1" cstate="print"/>
          <a:srcRect/>
          <a:stretch>
            <a:fillRect/>
          </a:stretch>
        </p:blipFill>
        <p:spPr bwMode="auto">
          <a:xfrm>
            <a:off x="762394" y="828913"/>
            <a:ext cx="8037442" cy="3743087"/>
          </a:xfrm>
          <a:prstGeom prst="rect">
            <a:avLst/>
          </a:prstGeom>
          <a:noFill/>
          <a:ln w="9525" algn="ctr">
            <a:noFill/>
            <a:miter lim="800000"/>
            <a:headEnd/>
            <a:tailEnd/>
          </a:ln>
          <a:effectLst/>
        </p:spPr>
      </p:pic>
      <p:sp>
        <p:nvSpPr>
          <p:cNvPr id="9" name="标题 8"/>
          <p:cNvSpPr>
            <a:spLocks noGrp="1"/>
          </p:cNvSpPr>
          <p:nvPr>
            <p:ph type="title"/>
          </p:nvPr>
        </p:nvSpPr>
        <p:spPr/>
        <p:txBody>
          <a:bodyPr/>
          <a:lstStyle/>
          <a:p>
            <a:r>
              <a:rPr lang="zh-CN" altLang="en-US" dirty="0"/>
              <a:t>学生上课的时序</a:t>
            </a:r>
            <a:r>
              <a:rPr lang="zh-CN" altLang="en-US" dirty="0" smtClean="0"/>
              <a:t>图</a:t>
            </a:r>
            <a:endParaRPr lang="zh-CN" altLang="en-US" dirty="0"/>
          </a:p>
        </p:txBody>
      </p:sp>
      <p:sp>
        <p:nvSpPr>
          <p:cNvPr id="3" name="日期占位符 2"/>
          <p:cNvSpPr>
            <a:spLocks noGrp="1"/>
          </p:cNvSpPr>
          <p:nvPr>
            <p:ph type="dt" sz="half" idx="10"/>
          </p:nvPr>
        </p:nvSpPr>
        <p:spPr/>
        <p:txBody>
          <a:bodyPr/>
          <a:lstStyle/>
          <a:p>
            <a:fld id="{B9A33FE4-026C-48B7-888B-FAA8185BE610}"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Text Box 7"/>
          <p:cNvSpPr txBox="1">
            <a:spLocks noChangeArrowheads="1"/>
          </p:cNvSpPr>
          <p:nvPr/>
        </p:nvSpPr>
        <p:spPr bwMode="auto">
          <a:xfrm>
            <a:off x="1729330" y="3997805"/>
            <a:ext cx="2215351" cy="574195"/>
          </a:xfrm>
          <a:prstGeom prst="rect">
            <a:avLst/>
          </a:prstGeom>
          <a:noFill/>
          <a:ln w="9525" algn="ctr">
            <a:noFill/>
            <a:miter lim="800000"/>
          </a:ln>
          <a:effectLst/>
        </p:spPr>
        <p:txBody>
          <a:bodyPr wrap="none" lIns="80963" tIns="40481" rIns="80963" bIns="40481">
            <a:spAutoFit/>
          </a:bodyPr>
          <a:lstStyle/>
          <a:p>
            <a:pPr algn="l"/>
            <a:r>
              <a:rPr lang="en-US" altLang="zh-CN" sz="1600" dirty="0">
                <a:latin typeface="+mj-ea"/>
                <a:ea typeface="+mj-ea"/>
              </a:rPr>
              <a:t>1.</a:t>
            </a:r>
            <a:r>
              <a:rPr lang="zh-CN" altLang="en-US" sz="1600" dirty="0">
                <a:latin typeface="+mj-ea"/>
                <a:ea typeface="+mj-ea"/>
              </a:rPr>
              <a:t>交互的对象</a:t>
            </a:r>
            <a:endParaRPr lang="zh-CN" altLang="en-US" sz="1600" dirty="0">
              <a:latin typeface="+mj-ea"/>
              <a:ea typeface="+mj-ea"/>
            </a:endParaRPr>
          </a:p>
          <a:p>
            <a:pPr algn="l"/>
            <a:r>
              <a:rPr lang="en-US" altLang="zh-CN" sz="1600" dirty="0">
                <a:latin typeface="+mj-ea"/>
                <a:ea typeface="+mj-ea"/>
              </a:rPr>
              <a:t>2.</a:t>
            </a:r>
            <a:r>
              <a:rPr lang="zh-CN" altLang="en-US" sz="1600" dirty="0">
                <a:latin typeface="+mj-ea"/>
                <a:ea typeface="+mj-ea"/>
              </a:rPr>
              <a:t>消息交互的时间顺序</a:t>
            </a:r>
            <a:endParaRPr lang="zh-CN" altLang="en-US" sz="16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97988"/>
                                        </p:tgtEl>
                                        <p:attrNameLst>
                                          <p:attrName>style.visibility</p:attrName>
                                        </p:attrNameLst>
                                      </p:cBhvr>
                                      <p:to>
                                        <p:strVal val="visible"/>
                                      </p:to>
                                    </p:set>
                                    <p:animEffect transition="in" filter="randombar(horizontal)">
                                      <p:cBhvr>
                                        <p:cTn id="7" dur="500"/>
                                        <p:tgtEl>
                                          <p:spTgt spid="297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旅客到机场换登机牌的时序</a:t>
            </a:r>
            <a:r>
              <a:rPr lang="zh-CN" altLang="en-US" dirty="0" smtClean="0"/>
              <a:t>图</a:t>
            </a:r>
            <a:endParaRPr lang="zh-CN" altLang="en-US" dirty="0"/>
          </a:p>
        </p:txBody>
      </p:sp>
      <p:sp>
        <p:nvSpPr>
          <p:cNvPr id="4" name="日期占位符 3"/>
          <p:cNvSpPr>
            <a:spLocks noGrp="1"/>
          </p:cNvSpPr>
          <p:nvPr>
            <p:ph type="dt" sz="half" idx="10"/>
          </p:nvPr>
        </p:nvSpPr>
        <p:spPr/>
        <p:txBody>
          <a:bodyPr/>
          <a:lstStyle/>
          <a:p>
            <a:fld id="{95680E04-229A-4630-AC03-C7416921B7A0}"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290822" name="Picture 6"/>
          <p:cNvPicPr>
            <a:picLocks noChangeAspect="1" noChangeArrowheads="1"/>
          </p:cNvPicPr>
          <p:nvPr/>
        </p:nvPicPr>
        <p:blipFill>
          <a:blip r:embed="rId1" cstate="print"/>
          <a:srcRect/>
          <a:stretch>
            <a:fillRect/>
          </a:stretch>
        </p:blipFill>
        <p:spPr bwMode="auto">
          <a:xfrm>
            <a:off x="2453410" y="689558"/>
            <a:ext cx="3961265" cy="4369210"/>
          </a:xfrm>
          <a:prstGeom prst="rect">
            <a:avLst/>
          </a:prstGeom>
          <a:noFill/>
          <a:ln w="9525" algn="ctr">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90822"/>
                                        </p:tgtEl>
                                        <p:attrNameLst>
                                          <p:attrName>style.visibility</p:attrName>
                                        </p:attrNameLst>
                                      </p:cBhvr>
                                      <p:to>
                                        <p:strVal val="visible"/>
                                      </p:to>
                                    </p:set>
                                    <p:animEffect transition="in" filter="randombar(horizontal)">
                                      <p:cBhvr>
                                        <p:cTn id="7" dur="500"/>
                                        <p:tgtEl>
                                          <p:spTgt spid="290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7747" name="Picture 3"/>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1443174" y="801410"/>
            <a:ext cx="6101954" cy="4031456"/>
          </a:xfrm>
          <a:prstGeom prst="rect">
            <a:avLst/>
          </a:prstGeom>
          <a:noFill/>
        </p:spPr>
      </p:pic>
      <p:sp>
        <p:nvSpPr>
          <p:cNvPr id="6" name="标题 5"/>
          <p:cNvSpPr>
            <a:spLocks noGrp="1"/>
          </p:cNvSpPr>
          <p:nvPr>
            <p:ph type="title"/>
          </p:nvPr>
        </p:nvSpPr>
        <p:spPr/>
        <p:txBody>
          <a:bodyPr/>
          <a:lstStyle/>
          <a:p>
            <a:r>
              <a:rPr lang="zh-CN" altLang="en-US" dirty="0"/>
              <a:t>赤壁之战的时序</a:t>
            </a:r>
            <a:r>
              <a:rPr lang="zh-CN" altLang="en-US" dirty="0" smtClean="0"/>
              <a:t>图</a:t>
            </a:r>
            <a:endParaRPr lang="zh-CN" altLang="en-US" dirty="0"/>
          </a:p>
        </p:txBody>
      </p:sp>
      <p:sp>
        <p:nvSpPr>
          <p:cNvPr id="4" name="日期占位符 3"/>
          <p:cNvSpPr>
            <a:spLocks noGrp="1"/>
          </p:cNvSpPr>
          <p:nvPr>
            <p:ph type="dt" sz="half" idx="10"/>
          </p:nvPr>
        </p:nvSpPr>
        <p:spPr/>
        <p:txBody>
          <a:bodyPr/>
          <a:lstStyle/>
          <a:p>
            <a:fld id="{05231F2D-FA00-438E-9382-7887E2895DA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87747"/>
                                        </p:tgtEl>
                                        <p:attrNameLst>
                                          <p:attrName>style.visibility</p:attrName>
                                        </p:attrNameLst>
                                      </p:cBhvr>
                                      <p:to>
                                        <p:strVal val="visible"/>
                                      </p:to>
                                    </p:set>
                                    <p:animEffect transition="in" filter="randombar(horizontal)">
                                      <p:cBhvr>
                                        <p:cTn id="7" dur="500"/>
                                        <p:tgtEl>
                                          <p:spTgt spid="287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770" name="Picture 2"/>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1387418" y="911425"/>
            <a:ext cx="6101954" cy="4031456"/>
          </a:xfrm>
          <a:prstGeom prst="rect">
            <a:avLst/>
          </a:prstGeom>
          <a:noFill/>
        </p:spPr>
      </p:pic>
      <p:pic>
        <p:nvPicPr>
          <p:cNvPr id="288771" name="Picture 3"/>
          <p:cNvPicPr>
            <a:picLocks noChangeAspect="1" noChangeArrowheads="1"/>
          </p:cNvPicPr>
          <p:nvPr/>
        </p:nvPicPr>
        <p:blipFill>
          <a:blip r:embed="rId2" cstate="print"/>
          <a:srcRect/>
          <a:stretch>
            <a:fillRect/>
          </a:stretch>
        </p:blipFill>
        <p:spPr bwMode="auto">
          <a:xfrm>
            <a:off x="2208617" y="254410"/>
            <a:ext cx="866692" cy="817958"/>
          </a:xfrm>
          <a:prstGeom prst="rect">
            <a:avLst/>
          </a:prstGeom>
          <a:noFill/>
        </p:spPr>
      </p:pic>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47285345-1BDB-4376-AF12-EF1E90032C82}"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9794" name="Picture 2"/>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1387418" y="904555"/>
            <a:ext cx="6101954" cy="4031456"/>
          </a:xfrm>
          <a:prstGeom prst="rect">
            <a:avLst/>
          </a:prstGeom>
          <a:noFill/>
        </p:spPr>
      </p:pic>
      <p:pic>
        <p:nvPicPr>
          <p:cNvPr id="289795" name="Picture 3"/>
          <p:cNvPicPr>
            <a:picLocks noChangeAspect="1" noChangeArrowheads="1"/>
          </p:cNvPicPr>
          <p:nvPr/>
        </p:nvPicPr>
        <p:blipFill>
          <a:blip r:embed="rId2" cstate="print"/>
          <a:srcRect b="44154"/>
          <a:stretch>
            <a:fillRect/>
          </a:stretch>
        </p:blipFill>
        <p:spPr bwMode="auto">
          <a:xfrm>
            <a:off x="3034481" y="208379"/>
            <a:ext cx="1317206" cy="1030486"/>
          </a:xfrm>
          <a:prstGeom prst="rect">
            <a:avLst/>
          </a:prstGeom>
          <a:noFill/>
        </p:spPr>
      </p:pic>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F182DF18-1CFF-4630-A256-FB2C35C259AA}"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0818" name="Picture 2"/>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1387418" y="911425"/>
            <a:ext cx="6101954" cy="4031456"/>
          </a:xfrm>
          <a:prstGeom prst="rect">
            <a:avLst/>
          </a:prstGeom>
          <a:noFill/>
        </p:spPr>
      </p:pic>
      <p:pic>
        <p:nvPicPr>
          <p:cNvPr id="290819" name="Picture 3"/>
          <p:cNvPicPr>
            <a:picLocks noChangeAspect="1" noChangeArrowheads="1"/>
          </p:cNvPicPr>
          <p:nvPr/>
        </p:nvPicPr>
        <p:blipFill>
          <a:blip r:embed="rId2" cstate="print"/>
          <a:srcRect/>
          <a:stretch>
            <a:fillRect/>
          </a:stretch>
        </p:blipFill>
        <p:spPr bwMode="auto">
          <a:xfrm>
            <a:off x="4128382" y="232288"/>
            <a:ext cx="1133450" cy="801099"/>
          </a:xfrm>
          <a:prstGeom prst="rect">
            <a:avLst/>
          </a:prstGeom>
          <a:noFill/>
        </p:spPr>
      </p:pic>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D2EC0B4C-5AA0-4FF5-A516-339C08A30F8C}"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1842" name="Picture 2"/>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1387418" y="910636"/>
            <a:ext cx="6101954" cy="4031456"/>
          </a:xfrm>
          <a:prstGeom prst="rect">
            <a:avLst/>
          </a:prstGeom>
          <a:noFill/>
        </p:spPr>
      </p:pic>
      <p:pic>
        <p:nvPicPr>
          <p:cNvPr id="291843" name="Picture 3"/>
          <p:cNvPicPr>
            <a:picLocks noChangeAspect="1" noChangeArrowheads="1"/>
          </p:cNvPicPr>
          <p:nvPr/>
        </p:nvPicPr>
        <p:blipFill>
          <a:blip r:embed="rId2" cstate="print"/>
          <a:srcRect/>
          <a:stretch>
            <a:fillRect/>
          </a:stretch>
        </p:blipFill>
        <p:spPr bwMode="auto">
          <a:xfrm>
            <a:off x="5335230" y="311587"/>
            <a:ext cx="1362459" cy="698601"/>
          </a:xfrm>
          <a:prstGeom prst="rect">
            <a:avLst/>
          </a:prstGeom>
          <a:noFill/>
        </p:spPr>
      </p:pic>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BB4785F1-4E83-408F-BE27-7C89DCB60B4C}"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866" name="Picture 2"/>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1387418" y="911425"/>
            <a:ext cx="6101954" cy="4031456"/>
          </a:xfrm>
          <a:prstGeom prst="rect">
            <a:avLst/>
          </a:prstGeom>
          <a:noFill/>
        </p:spPr>
      </p:pic>
      <p:pic>
        <p:nvPicPr>
          <p:cNvPr id="292867" name="Picture 3"/>
          <p:cNvPicPr>
            <a:picLocks noChangeAspect="1" noChangeArrowheads="1"/>
          </p:cNvPicPr>
          <p:nvPr/>
        </p:nvPicPr>
        <p:blipFill>
          <a:blip r:embed="rId2" cstate="print"/>
          <a:srcRect/>
          <a:stretch>
            <a:fillRect/>
          </a:stretch>
        </p:blipFill>
        <p:spPr bwMode="auto">
          <a:xfrm>
            <a:off x="6491959" y="254409"/>
            <a:ext cx="1019535" cy="748598"/>
          </a:xfrm>
          <a:prstGeom prst="rect">
            <a:avLst/>
          </a:prstGeom>
          <a:noFill/>
        </p:spPr>
      </p:pic>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8CE92619-F1D9-483E-8E08-5B757EF7C343}"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Text Box 2"/>
          <p:cNvSpPr txBox="1">
            <a:spLocks noChangeArrowheads="1"/>
          </p:cNvSpPr>
          <p:nvPr/>
        </p:nvSpPr>
        <p:spPr bwMode="auto">
          <a:xfrm>
            <a:off x="3871063" y="1181484"/>
            <a:ext cx="3402806" cy="1200329"/>
          </a:xfrm>
          <a:prstGeom prst="rect">
            <a:avLst/>
          </a:prstGeom>
          <a:noFill/>
          <a:ln w="9525">
            <a:solidFill>
              <a:schemeClr val="folHlink"/>
            </a:solidFill>
            <a:miter lim="800000"/>
          </a:ln>
          <a:effectLst/>
        </p:spPr>
        <p:txBody>
          <a:bodyPr wrap="square">
            <a:spAutoFit/>
          </a:bodyPr>
          <a:lstStyle/>
          <a:p>
            <a:r>
              <a:rPr lang="en-US" altLang="zh-CN" dirty="0">
                <a:latin typeface="+mj-ea"/>
                <a:ea typeface="+mj-ea"/>
              </a:rPr>
              <a:t>Public class </a:t>
            </a:r>
            <a:r>
              <a:rPr lang="zh-CN" altLang="en-US" dirty="0">
                <a:latin typeface="+mj-ea"/>
                <a:ea typeface="+mj-ea"/>
              </a:rPr>
              <a:t>刘备</a:t>
            </a:r>
            <a:endParaRPr lang="zh-CN" altLang="en-US" dirty="0">
              <a:latin typeface="+mj-ea"/>
              <a:ea typeface="+mj-ea"/>
            </a:endParaRPr>
          </a:p>
          <a:p>
            <a:r>
              <a:rPr lang="en-US" altLang="zh-CN" dirty="0">
                <a:latin typeface="+mj-ea"/>
                <a:ea typeface="+mj-ea"/>
              </a:rPr>
              <a:t>{</a:t>
            </a:r>
            <a:endParaRPr lang="en-US" altLang="zh-CN" dirty="0">
              <a:latin typeface="+mj-ea"/>
              <a:ea typeface="+mj-ea"/>
            </a:endParaRPr>
          </a:p>
          <a:p>
            <a:r>
              <a:rPr lang="en-US" altLang="zh-CN" dirty="0">
                <a:latin typeface="+mj-ea"/>
                <a:ea typeface="+mj-ea"/>
              </a:rPr>
              <a:t>   public void </a:t>
            </a:r>
            <a:r>
              <a:rPr lang="zh-CN" altLang="en-US" dirty="0">
                <a:latin typeface="+mj-ea"/>
                <a:ea typeface="+mj-ea"/>
              </a:rPr>
              <a:t>应战</a:t>
            </a:r>
            <a:r>
              <a:rPr lang="en-US" altLang="zh-CN" dirty="0">
                <a:latin typeface="+mj-ea"/>
                <a:ea typeface="+mj-ea"/>
              </a:rPr>
              <a:t>();</a:t>
            </a:r>
            <a:endParaRPr lang="en-US" altLang="zh-CN" dirty="0">
              <a:latin typeface="+mj-ea"/>
              <a:ea typeface="+mj-ea"/>
            </a:endParaRPr>
          </a:p>
          <a:p>
            <a:r>
              <a:rPr lang="en-US" altLang="zh-CN" dirty="0">
                <a:latin typeface="+mj-ea"/>
                <a:ea typeface="+mj-ea"/>
              </a:rPr>
              <a:t>}</a:t>
            </a:r>
            <a:endParaRPr lang="en-US" altLang="zh-CN" dirty="0">
              <a:latin typeface="+mj-ea"/>
              <a:ea typeface="+mj-ea"/>
            </a:endParaRPr>
          </a:p>
        </p:txBody>
      </p:sp>
      <p:pic>
        <p:nvPicPr>
          <p:cNvPr id="293891" name="Picture 3"/>
          <p:cNvPicPr>
            <a:picLocks noChangeAspect="1" noChangeArrowheads="1"/>
          </p:cNvPicPr>
          <p:nvPr/>
        </p:nvPicPr>
        <p:blipFill>
          <a:blip r:embed="rId1" cstate="print"/>
          <a:srcRect r="62671" b="55151"/>
          <a:stretch>
            <a:fillRect/>
          </a:stretch>
        </p:blipFill>
        <p:spPr bwMode="auto">
          <a:xfrm>
            <a:off x="2006851" y="1276542"/>
            <a:ext cx="1287067" cy="981459"/>
          </a:xfrm>
          <a:prstGeom prst="rect">
            <a:avLst/>
          </a:prstGeom>
          <a:noFill/>
        </p:spPr>
      </p:pic>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Rectangle 2"/>
          <p:cNvSpPr>
            <a:spLocks noChangeArrowheads="1"/>
          </p:cNvSpPr>
          <p:nvPr/>
        </p:nvSpPr>
        <p:spPr bwMode="auto">
          <a:xfrm>
            <a:off x="3871063" y="2772607"/>
            <a:ext cx="3402806" cy="1892826"/>
          </a:xfrm>
          <a:prstGeom prst="rect">
            <a:avLst/>
          </a:prstGeom>
          <a:noFill/>
          <a:ln w="9525">
            <a:solidFill>
              <a:schemeClr val="folHlink"/>
            </a:solidFill>
            <a:miter lim="800000"/>
          </a:ln>
          <a:effectLst/>
        </p:spPr>
        <p:txBody>
          <a:bodyPr>
            <a:spAutoFit/>
          </a:bodyPr>
          <a:lstStyle/>
          <a:p>
            <a:pPr>
              <a:lnSpc>
                <a:spcPct val="110000"/>
              </a:lnSpc>
            </a:pPr>
            <a:r>
              <a:rPr kumimoji="1" lang="en-US" altLang="zh-TW" dirty="0">
                <a:latin typeface="+mj-ea"/>
                <a:ea typeface="+mj-ea"/>
              </a:rPr>
              <a:t>P</a:t>
            </a:r>
            <a:r>
              <a:rPr kumimoji="1" lang="en-US" altLang="zh-CN" dirty="0">
                <a:latin typeface="+mj-ea"/>
                <a:ea typeface="+mj-ea"/>
              </a:rPr>
              <a:t>ublic class  </a:t>
            </a:r>
            <a:r>
              <a:rPr kumimoji="1" lang="zh-TW" altLang="zh-TW" dirty="0">
                <a:latin typeface="+mj-ea"/>
                <a:ea typeface="+mj-ea"/>
              </a:rPr>
              <a:t>孔明</a:t>
            </a:r>
            <a:endParaRPr kumimoji="1" lang="en-US" altLang="zh-TW" dirty="0">
              <a:latin typeface="+mj-ea"/>
              <a:ea typeface="+mj-ea"/>
            </a:endParaRPr>
          </a:p>
          <a:p>
            <a:pPr>
              <a:lnSpc>
                <a:spcPct val="110000"/>
              </a:lnSpc>
            </a:pPr>
            <a:r>
              <a:rPr kumimoji="1" lang="en-US" altLang="zh-CN" dirty="0">
                <a:latin typeface="+mj-ea"/>
                <a:ea typeface="+mj-ea"/>
              </a:rPr>
              <a:t>{</a:t>
            </a:r>
            <a:endParaRPr kumimoji="1" lang="en-US" altLang="zh-CN" dirty="0">
              <a:latin typeface="+mj-ea"/>
              <a:ea typeface="+mj-ea"/>
            </a:endParaRPr>
          </a:p>
          <a:p>
            <a:r>
              <a:rPr lang="en-US" altLang="zh-CN" dirty="0">
                <a:latin typeface="+mj-ea"/>
                <a:ea typeface="+mj-ea"/>
              </a:rPr>
              <a:t>  public void   </a:t>
            </a:r>
            <a:r>
              <a:rPr kumimoji="1" lang="zh-CN" altLang="en-US" dirty="0">
                <a:latin typeface="+mj-ea"/>
                <a:ea typeface="+mj-ea"/>
              </a:rPr>
              <a:t>拟定策略</a:t>
            </a:r>
            <a:r>
              <a:rPr kumimoji="1" lang="zh-TW" altLang="zh-TW" dirty="0">
                <a:latin typeface="+mj-ea"/>
                <a:ea typeface="+mj-ea"/>
              </a:rPr>
              <a:t>()</a:t>
            </a:r>
            <a:r>
              <a:rPr kumimoji="1" lang="zh-TW" altLang="en-US" dirty="0">
                <a:latin typeface="+mj-ea"/>
                <a:ea typeface="+mj-ea"/>
              </a:rPr>
              <a:t>;</a:t>
            </a:r>
            <a:endParaRPr kumimoji="1" lang="en-US" altLang="zh-TW" dirty="0">
              <a:latin typeface="+mj-ea"/>
              <a:ea typeface="+mj-ea"/>
            </a:endParaRPr>
          </a:p>
          <a:p>
            <a:pPr>
              <a:lnSpc>
                <a:spcPct val="110000"/>
              </a:lnSpc>
            </a:pPr>
            <a:r>
              <a:rPr kumimoji="1" lang="en-US" altLang="zh-CN" dirty="0">
                <a:latin typeface="+mj-ea"/>
                <a:ea typeface="+mj-ea"/>
              </a:rPr>
              <a:t>   public void</a:t>
            </a:r>
            <a:r>
              <a:rPr lang="en-US" altLang="zh-CN" dirty="0">
                <a:latin typeface="+mj-ea"/>
                <a:ea typeface="+mj-ea"/>
              </a:rPr>
              <a:t>  </a:t>
            </a:r>
            <a:r>
              <a:rPr kumimoji="1" lang="zh-CN" altLang="en-US" dirty="0">
                <a:latin typeface="+mj-ea"/>
                <a:ea typeface="+mj-ea"/>
              </a:rPr>
              <a:t>联合孙权</a:t>
            </a:r>
            <a:r>
              <a:rPr kumimoji="1" lang="zh-TW" altLang="zh-TW" dirty="0">
                <a:latin typeface="+mj-ea"/>
                <a:ea typeface="+mj-ea"/>
              </a:rPr>
              <a:t>()</a:t>
            </a:r>
            <a:r>
              <a:rPr kumimoji="1" lang="zh-TW" altLang="en-US" dirty="0">
                <a:latin typeface="+mj-ea"/>
                <a:ea typeface="+mj-ea"/>
              </a:rPr>
              <a:t>;</a:t>
            </a:r>
            <a:endParaRPr kumimoji="1" lang="zh-TW" altLang="zh-CN" dirty="0">
              <a:latin typeface="+mj-ea"/>
              <a:ea typeface="+mj-ea"/>
            </a:endParaRPr>
          </a:p>
          <a:p>
            <a:pPr>
              <a:lnSpc>
                <a:spcPct val="110000"/>
              </a:lnSpc>
            </a:pPr>
            <a:r>
              <a:rPr kumimoji="1" lang="en-US" altLang="zh-CN" dirty="0">
                <a:latin typeface="+mj-ea"/>
                <a:ea typeface="+mj-ea"/>
              </a:rPr>
              <a:t>   private</a:t>
            </a:r>
            <a:r>
              <a:rPr kumimoji="1" lang="en-US" altLang="zh-TW" dirty="0">
                <a:latin typeface="+mj-ea"/>
                <a:ea typeface="+mj-ea"/>
              </a:rPr>
              <a:t> </a:t>
            </a:r>
            <a:r>
              <a:rPr lang="en-US" altLang="zh-CN" dirty="0">
                <a:latin typeface="+mj-ea"/>
                <a:ea typeface="+mj-ea"/>
              </a:rPr>
              <a:t>void </a:t>
            </a:r>
            <a:r>
              <a:rPr kumimoji="1" lang="zh-CN" altLang="en-US" dirty="0">
                <a:latin typeface="+mj-ea"/>
                <a:ea typeface="+mj-ea"/>
              </a:rPr>
              <a:t>借东风火攻</a:t>
            </a:r>
            <a:r>
              <a:rPr kumimoji="1" lang="zh-TW" altLang="zh-TW" dirty="0">
                <a:latin typeface="+mj-ea"/>
                <a:ea typeface="+mj-ea"/>
              </a:rPr>
              <a:t>()</a:t>
            </a:r>
            <a:r>
              <a:rPr kumimoji="1" lang="zh-TW" altLang="en-US" dirty="0">
                <a:latin typeface="+mj-ea"/>
                <a:ea typeface="+mj-ea"/>
              </a:rPr>
              <a:t>;</a:t>
            </a:r>
            <a:endParaRPr kumimoji="1" lang="en-US" altLang="zh-TW" dirty="0">
              <a:latin typeface="+mj-ea"/>
              <a:ea typeface="+mj-ea"/>
            </a:endParaRPr>
          </a:p>
          <a:p>
            <a:pPr>
              <a:lnSpc>
                <a:spcPct val="110000"/>
              </a:lnSpc>
            </a:pPr>
            <a:r>
              <a:rPr kumimoji="1" lang="en-US" altLang="zh-CN" dirty="0">
                <a:latin typeface="+mj-ea"/>
                <a:ea typeface="+mj-ea"/>
              </a:rPr>
              <a:t>}</a:t>
            </a:r>
            <a:endParaRPr kumimoji="1" lang="en-US" altLang="zh-TW" dirty="0">
              <a:latin typeface="+mj-ea"/>
              <a:ea typeface="+mj-ea"/>
            </a:endParaRPr>
          </a:p>
        </p:txBody>
      </p:sp>
      <p:pic>
        <p:nvPicPr>
          <p:cNvPr id="6" name="Picture 3"/>
          <p:cNvPicPr>
            <a:picLocks noChangeAspect="1" noChangeArrowheads="1"/>
          </p:cNvPicPr>
          <p:nvPr/>
        </p:nvPicPr>
        <p:blipFill>
          <a:blip r:embed="rId2" cstate="print"/>
          <a:srcRect b="44205"/>
          <a:stretch>
            <a:fillRect/>
          </a:stretch>
        </p:blipFill>
        <p:spPr bwMode="auto">
          <a:xfrm>
            <a:off x="1898965" y="3113384"/>
            <a:ext cx="1502838" cy="1174632"/>
          </a:xfrm>
          <a:prstGeom prst="rect">
            <a:avLst/>
          </a:prstGeom>
          <a:noFill/>
        </p:spPr>
      </p:pic>
      <p:sp>
        <p:nvSpPr>
          <p:cNvPr id="3" name="日期占位符 2"/>
          <p:cNvSpPr>
            <a:spLocks noGrp="1"/>
          </p:cNvSpPr>
          <p:nvPr>
            <p:ph type="dt" sz="half" idx="10"/>
          </p:nvPr>
        </p:nvSpPr>
        <p:spPr/>
        <p:txBody>
          <a:bodyPr/>
          <a:lstStyle/>
          <a:p>
            <a:fld id="{CE6F93AB-C8E8-4E41-955E-6ECEE724CF45}"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5938" name="Picture 2"/>
          <p:cNvPicPr>
            <a:picLocks noChangeAspect="1" noChangeArrowheads="1"/>
          </p:cNvPicPr>
          <p:nvPr/>
        </p:nvPicPr>
        <p:blipFill>
          <a:blip r:embed="rId1" cstate="print"/>
          <a:srcRect t="62227" r="62671"/>
          <a:stretch>
            <a:fillRect/>
          </a:stretch>
        </p:blipFill>
        <p:spPr bwMode="auto">
          <a:xfrm>
            <a:off x="2058691" y="1333079"/>
            <a:ext cx="1272050" cy="765225"/>
          </a:xfrm>
          <a:prstGeom prst="rect">
            <a:avLst/>
          </a:prstGeom>
          <a:noFill/>
        </p:spPr>
      </p:pic>
      <p:sp>
        <p:nvSpPr>
          <p:cNvPr id="295939" name="Rectangle 3"/>
          <p:cNvSpPr>
            <a:spLocks noChangeArrowheads="1"/>
          </p:cNvSpPr>
          <p:nvPr/>
        </p:nvSpPr>
        <p:spPr bwMode="auto">
          <a:xfrm>
            <a:off x="3869531" y="1129904"/>
            <a:ext cx="3509963" cy="1200329"/>
          </a:xfrm>
          <a:prstGeom prst="rect">
            <a:avLst/>
          </a:prstGeom>
          <a:noFill/>
          <a:ln w="9525">
            <a:solidFill>
              <a:schemeClr val="folHlink"/>
            </a:solidFill>
            <a:miter lim="800000"/>
          </a:ln>
          <a:effectLst/>
        </p:spPr>
        <p:txBody>
          <a:bodyPr>
            <a:spAutoFit/>
          </a:bodyPr>
          <a:lstStyle/>
          <a:p>
            <a:r>
              <a:rPr kumimoji="1" lang="en-US" altLang="zh-CN" dirty="0">
                <a:latin typeface="+mj-ea"/>
                <a:ea typeface="+mj-ea"/>
              </a:rPr>
              <a:t>Public class </a:t>
            </a:r>
            <a:r>
              <a:rPr kumimoji="1" lang="zh-CN" altLang="en-US" dirty="0">
                <a:latin typeface="+mj-ea"/>
                <a:ea typeface="+mj-ea"/>
              </a:rPr>
              <a:t>关羽</a:t>
            </a:r>
            <a:endParaRPr kumimoji="1" lang="en-US" altLang="zh-CN" dirty="0">
              <a:latin typeface="+mj-ea"/>
              <a:ea typeface="+mj-ea"/>
            </a:endParaRPr>
          </a:p>
          <a:p>
            <a:r>
              <a:rPr kumimoji="1" lang="en-US" altLang="zh-CN" dirty="0">
                <a:latin typeface="+mj-ea"/>
                <a:ea typeface="+mj-ea"/>
              </a:rPr>
              <a:t>{</a:t>
            </a:r>
            <a:endParaRPr kumimoji="1" lang="en-US" altLang="zh-CN" dirty="0">
              <a:latin typeface="+mj-ea"/>
              <a:ea typeface="+mj-ea"/>
            </a:endParaRPr>
          </a:p>
          <a:p>
            <a:r>
              <a:rPr lang="en-US" altLang="zh-CN" dirty="0">
                <a:latin typeface="+mj-ea"/>
                <a:ea typeface="+mj-ea"/>
              </a:rPr>
              <a:t>    Public void  </a:t>
            </a:r>
            <a:r>
              <a:rPr kumimoji="1" lang="zh-TW" altLang="en-US" dirty="0">
                <a:latin typeface="+mj-ea"/>
                <a:ea typeface="+mj-ea"/>
              </a:rPr>
              <a:t>防守荊州</a:t>
            </a:r>
            <a:r>
              <a:rPr kumimoji="1" lang="zh-TW" altLang="zh-TW" dirty="0">
                <a:latin typeface="+mj-ea"/>
                <a:ea typeface="+mj-ea"/>
              </a:rPr>
              <a:t>()</a:t>
            </a:r>
            <a:r>
              <a:rPr kumimoji="1" lang="zh-TW" altLang="en-US" dirty="0">
                <a:latin typeface="+mj-ea"/>
                <a:ea typeface="+mj-ea"/>
              </a:rPr>
              <a:t>;</a:t>
            </a:r>
            <a:endParaRPr kumimoji="1" lang="zh-TW" altLang="zh-CN" dirty="0">
              <a:latin typeface="+mj-ea"/>
              <a:ea typeface="+mj-ea"/>
            </a:endParaRPr>
          </a:p>
          <a:p>
            <a:r>
              <a:rPr kumimoji="1" lang="en-US" altLang="zh-CN" dirty="0">
                <a:latin typeface="+mj-ea"/>
                <a:ea typeface="+mj-ea"/>
              </a:rPr>
              <a:t>}</a:t>
            </a:r>
            <a:endParaRPr kumimoji="1" lang="en-US" altLang="zh-TW" dirty="0">
              <a:latin typeface="+mj-ea"/>
              <a:ea typeface="+mj-ea"/>
            </a:endParaRPr>
          </a:p>
        </p:txBody>
      </p:sp>
      <p:sp>
        <p:nvSpPr>
          <p:cNvPr id="295940" name="Rectangle 4"/>
          <p:cNvSpPr>
            <a:spLocks noChangeArrowheads="1"/>
          </p:cNvSpPr>
          <p:nvPr/>
        </p:nvSpPr>
        <p:spPr bwMode="auto">
          <a:xfrm>
            <a:off x="3905250" y="2950369"/>
            <a:ext cx="3529013" cy="1200329"/>
          </a:xfrm>
          <a:prstGeom prst="rect">
            <a:avLst/>
          </a:prstGeom>
          <a:noFill/>
          <a:ln w="9525">
            <a:solidFill>
              <a:schemeClr val="folHlink"/>
            </a:solidFill>
            <a:miter lim="800000"/>
          </a:ln>
          <a:effectLst/>
        </p:spPr>
        <p:txBody>
          <a:bodyPr>
            <a:spAutoFit/>
          </a:bodyPr>
          <a:lstStyle/>
          <a:p>
            <a:r>
              <a:rPr kumimoji="1" lang="en-US" altLang="zh-CN">
                <a:latin typeface="+mj-ea"/>
                <a:ea typeface="+mj-ea"/>
              </a:rPr>
              <a:t>Public class </a:t>
            </a:r>
            <a:r>
              <a:rPr kumimoji="1" lang="zh-CN" altLang="en-US">
                <a:latin typeface="+mj-ea"/>
                <a:ea typeface="+mj-ea"/>
              </a:rPr>
              <a:t>张飞</a:t>
            </a:r>
            <a:endParaRPr kumimoji="1" lang="zh-CN" altLang="en-US">
              <a:latin typeface="+mj-ea"/>
              <a:ea typeface="+mj-ea"/>
            </a:endParaRPr>
          </a:p>
          <a:p>
            <a:r>
              <a:rPr kumimoji="1" lang="en-US" altLang="zh-CN">
                <a:latin typeface="+mj-ea"/>
                <a:ea typeface="+mj-ea"/>
              </a:rPr>
              <a:t>{</a:t>
            </a:r>
            <a:endParaRPr kumimoji="1" lang="en-US" altLang="zh-CN">
              <a:latin typeface="+mj-ea"/>
              <a:ea typeface="+mj-ea"/>
            </a:endParaRPr>
          </a:p>
          <a:p>
            <a:r>
              <a:rPr kumimoji="1" lang="en-US" altLang="zh-CN">
                <a:latin typeface="+mj-ea"/>
                <a:ea typeface="+mj-ea"/>
              </a:rPr>
              <a:t>   public</a:t>
            </a:r>
            <a:r>
              <a:rPr kumimoji="1" lang="en-US" altLang="zh-TW">
                <a:latin typeface="+mj-ea"/>
                <a:ea typeface="+mj-ea"/>
              </a:rPr>
              <a:t> </a:t>
            </a:r>
            <a:r>
              <a:rPr kumimoji="1" lang="en-US" altLang="zh-CN">
                <a:latin typeface="+mj-ea"/>
                <a:ea typeface="+mj-ea"/>
              </a:rPr>
              <a:t>void </a:t>
            </a:r>
            <a:r>
              <a:rPr lang="en-US" altLang="zh-CN">
                <a:latin typeface="+mj-ea"/>
                <a:ea typeface="+mj-ea"/>
              </a:rPr>
              <a:t> </a:t>
            </a:r>
            <a:r>
              <a:rPr kumimoji="1" lang="zh-CN" altLang="en-US">
                <a:latin typeface="+mj-ea"/>
                <a:ea typeface="+mj-ea"/>
              </a:rPr>
              <a:t>防守荆州前线</a:t>
            </a:r>
            <a:r>
              <a:rPr kumimoji="1" lang="zh-TW" altLang="zh-TW">
                <a:latin typeface="+mj-ea"/>
                <a:ea typeface="+mj-ea"/>
              </a:rPr>
              <a:t>()</a:t>
            </a:r>
            <a:r>
              <a:rPr kumimoji="1" lang="zh-TW" altLang="en-US">
                <a:latin typeface="+mj-ea"/>
                <a:ea typeface="+mj-ea"/>
              </a:rPr>
              <a:t>;</a:t>
            </a:r>
            <a:endParaRPr kumimoji="1" lang="zh-TW" altLang="zh-CN">
              <a:latin typeface="+mj-ea"/>
              <a:ea typeface="+mj-ea"/>
            </a:endParaRPr>
          </a:p>
          <a:p>
            <a:r>
              <a:rPr kumimoji="1" lang="en-US" altLang="zh-CN">
                <a:latin typeface="+mj-ea"/>
                <a:ea typeface="+mj-ea"/>
              </a:rPr>
              <a:t>}</a:t>
            </a:r>
            <a:endParaRPr kumimoji="1" lang="en-US" altLang="zh-TW">
              <a:latin typeface="+mj-ea"/>
              <a:ea typeface="+mj-ea"/>
            </a:endParaRPr>
          </a:p>
        </p:txBody>
      </p:sp>
      <p:pic>
        <p:nvPicPr>
          <p:cNvPr id="295941" name="Picture 5"/>
          <p:cNvPicPr>
            <a:picLocks noChangeAspect="1" noChangeArrowheads="1"/>
          </p:cNvPicPr>
          <p:nvPr/>
        </p:nvPicPr>
        <p:blipFill>
          <a:blip r:embed="rId2" cstate="print"/>
          <a:srcRect t="62769"/>
          <a:stretch>
            <a:fillRect/>
          </a:stretch>
        </p:blipFill>
        <p:spPr bwMode="auto">
          <a:xfrm>
            <a:off x="1891337" y="3117153"/>
            <a:ext cx="1606758" cy="838007"/>
          </a:xfrm>
          <a:prstGeom prst="rect">
            <a:avLst/>
          </a:prstGeom>
          <a:noFill/>
        </p:spPr>
      </p:pic>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35F83092-4EF0-4402-9ABC-02309072A954}"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62" name="Picture 2"/>
          <p:cNvPicPr>
            <a:picLocks noChangeAspect="1" noChangeArrowheads="1"/>
          </p:cNvPicPr>
          <p:nvPr/>
        </p:nvPicPr>
        <p:blipFill>
          <a:blip r:embed="rId1" cstate="print"/>
          <a:srcRect/>
          <a:stretch>
            <a:fillRect/>
          </a:stretch>
        </p:blipFill>
        <p:spPr bwMode="auto">
          <a:xfrm>
            <a:off x="2079562" y="2045726"/>
            <a:ext cx="1120839" cy="774904"/>
          </a:xfrm>
          <a:prstGeom prst="rect">
            <a:avLst/>
          </a:prstGeom>
          <a:noFill/>
        </p:spPr>
      </p:pic>
      <p:sp>
        <p:nvSpPr>
          <p:cNvPr id="296963" name="Rectangle 3"/>
          <p:cNvSpPr>
            <a:spLocks noChangeArrowheads="1"/>
          </p:cNvSpPr>
          <p:nvPr/>
        </p:nvSpPr>
        <p:spPr bwMode="auto">
          <a:xfrm>
            <a:off x="3977878" y="1815704"/>
            <a:ext cx="3529013" cy="1200329"/>
          </a:xfrm>
          <a:prstGeom prst="rect">
            <a:avLst/>
          </a:prstGeom>
          <a:noFill/>
          <a:ln w="9525">
            <a:solidFill>
              <a:schemeClr val="folHlink"/>
            </a:solidFill>
            <a:miter lim="800000"/>
          </a:ln>
          <a:effectLst/>
        </p:spPr>
        <p:txBody>
          <a:bodyPr>
            <a:spAutoFit/>
          </a:bodyPr>
          <a:lstStyle/>
          <a:p>
            <a:r>
              <a:rPr kumimoji="1" lang="en-US" altLang="zh-CN">
                <a:latin typeface="+mj-ea"/>
                <a:ea typeface="+mj-ea"/>
              </a:rPr>
              <a:t>Public class </a:t>
            </a:r>
            <a:r>
              <a:rPr kumimoji="1" lang="zh-CN" altLang="en-US">
                <a:latin typeface="+mj-ea"/>
                <a:ea typeface="+mj-ea"/>
              </a:rPr>
              <a:t>孙权</a:t>
            </a:r>
            <a:endParaRPr kumimoji="1" lang="en-US" altLang="zh-CN">
              <a:latin typeface="+mj-ea"/>
              <a:ea typeface="+mj-ea"/>
            </a:endParaRPr>
          </a:p>
          <a:p>
            <a:r>
              <a:rPr kumimoji="1" lang="en-US" altLang="zh-CN">
                <a:latin typeface="+mj-ea"/>
                <a:ea typeface="+mj-ea"/>
              </a:rPr>
              <a:t>{</a:t>
            </a:r>
            <a:endParaRPr kumimoji="1" lang="en-US" altLang="zh-CN">
              <a:latin typeface="+mj-ea"/>
              <a:ea typeface="+mj-ea"/>
            </a:endParaRPr>
          </a:p>
          <a:p>
            <a:r>
              <a:rPr lang="en-US" altLang="zh-CN">
                <a:latin typeface="+mj-ea"/>
                <a:ea typeface="+mj-ea"/>
              </a:rPr>
              <a:t>   public void  </a:t>
            </a:r>
            <a:r>
              <a:rPr kumimoji="1" lang="zh-CN" altLang="en-US">
                <a:latin typeface="+mj-ea"/>
                <a:ea typeface="+mj-ea"/>
              </a:rPr>
              <a:t>领兵相助</a:t>
            </a:r>
            <a:r>
              <a:rPr kumimoji="1" lang="zh-TW" altLang="zh-TW">
                <a:latin typeface="+mj-ea"/>
                <a:ea typeface="+mj-ea"/>
              </a:rPr>
              <a:t>()</a:t>
            </a:r>
            <a:r>
              <a:rPr kumimoji="1" lang="zh-TW" altLang="en-US">
                <a:latin typeface="+mj-ea"/>
                <a:ea typeface="+mj-ea"/>
              </a:rPr>
              <a:t>;</a:t>
            </a:r>
            <a:endParaRPr kumimoji="1" lang="zh-TW" altLang="zh-CN">
              <a:latin typeface="+mj-ea"/>
              <a:ea typeface="+mj-ea"/>
            </a:endParaRPr>
          </a:p>
          <a:p>
            <a:r>
              <a:rPr kumimoji="1" lang="en-US" altLang="zh-CN">
                <a:latin typeface="+mj-ea"/>
                <a:ea typeface="+mj-ea"/>
              </a:rPr>
              <a:t>}</a:t>
            </a:r>
            <a:endParaRPr kumimoji="1" lang="en-US" altLang="zh-TW">
              <a:latin typeface="+mj-ea"/>
              <a:ea typeface="+mj-ea"/>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C73555BB-32F5-4BBB-8976-AC7B4F5837E4}"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8" name="Text Box 4"/>
          <p:cNvSpPr txBox="1">
            <a:spLocks noChangeArrowheads="1"/>
          </p:cNvSpPr>
          <p:nvPr/>
        </p:nvSpPr>
        <p:spPr bwMode="auto">
          <a:xfrm>
            <a:off x="1464788" y="1652303"/>
            <a:ext cx="6775963" cy="1015663"/>
          </a:xfrm>
          <a:prstGeom prst="rect">
            <a:avLst/>
          </a:prstGeom>
          <a:noFill/>
          <a:ln w="9525">
            <a:noFill/>
            <a:miter lim="800000"/>
          </a:ln>
          <a:effectLst/>
        </p:spPr>
        <p:txBody>
          <a:bodyPr wrap="square">
            <a:spAutoFit/>
          </a:bodyPr>
          <a:lstStyle/>
          <a:p>
            <a:pPr>
              <a:spcBef>
                <a:spcPct val="50000"/>
              </a:spcBef>
            </a:pPr>
            <a:r>
              <a:rPr lang="zh-CN" altLang="en-US" sz="2400" dirty="0">
                <a:latin typeface="+mj-ea"/>
                <a:ea typeface="+mj-ea"/>
              </a:rPr>
              <a:t>用例图、类图、活动图、时序图之间是什么关系？</a:t>
            </a:r>
            <a:endParaRPr lang="zh-CN" altLang="en-US" sz="2400" dirty="0">
              <a:latin typeface="+mj-ea"/>
              <a:ea typeface="+mj-ea"/>
            </a:endParaRPr>
          </a:p>
          <a:p>
            <a:pPr>
              <a:spcBef>
                <a:spcPct val="50000"/>
              </a:spcBef>
            </a:pPr>
            <a:r>
              <a:rPr lang="zh-CN" altLang="en-US" sz="2400" dirty="0">
                <a:latin typeface="+mj-ea"/>
                <a:ea typeface="+mj-ea"/>
              </a:rPr>
              <a:t>时序图有什么作用？</a:t>
            </a:r>
            <a:endParaRPr lang="zh-CN" altLang="en-US" sz="2400" dirty="0">
              <a:latin typeface="+mj-ea"/>
              <a:ea typeface="+mj-ea"/>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标题 2"/>
          <p:cNvSpPr>
            <a:spLocks noGrp="1"/>
          </p:cNvSpPr>
          <p:nvPr>
            <p:ph type="title"/>
          </p:nvPr>
        </p:nvSpPr>
        <p:spPr/>
        <p:txBody>
          <a:bodyPr/>
          <a:lstStyle/>
          <a:p>
            <a:r>
              <a:rPr lang="zh-CN" altLang="en-US" dirty="0"/>
              <a:t>思考</a:t>
            </a:r>
            <a:endParaRPr lang="zh-CN" altLang="en-US" dirty="0"/>
          </a:p>
        </p:txBody>
      </p:sp>
      <p:sp>
        <p:nvSpPr>
          <p:cNvPr id="4" name="日期占位符 3"/>
          <p:cNvSpPr>
            <a:spLocks noGrp="1"/>
          </p:cNvSpPr>
          <p:nvPr>
            <p:ph type="dt" sz="half" idx="10"/>
          </p:nvPr>
        </p:nvSpPr>
        <p:spPr/>
        <p:txBody>
          <a:bodyPr/>
          <a:lstStyle/>
          <a:p>
            <a:fld id="{D9DB8C23-3D86-45C1-93BA-DAF52A9EF88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5588"/>
                                        </p:tgtEl>
                                        <p:attrNameLst>
                                          <p:attrName>style.visibility</p:attrName>
                                        </p:attrNameLst>
                                      </p:cBhvr>
                                      <p:to>
                                        <p:strVal val="visible"/>
                                      </p:to>
                                    </p:set>
                                    <p:animEffect transition="in" filter="wipe(left)">
                                      <p:cBhvr>
                                        <p:cTn id="7" dur="500"/>
                                        <p:tgtEl>
                                          <p:spTgt spid="195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8"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006511" y="1486822"/>
            <a:ext cx="6674762" cy="2158101"/>
            <a:chOff x="1151347" y="1982429"/>
            <a:chExt cx="8899682" cy="2877468"/>
          </a:xfrm>
        </p:grpSpPr>
        <p:sp>
          <p:nvSpPr>
            <p:cNvPr id="153616" name="Rectangle 16"/>
            <p:cNvSpPr>
              <a:spLocks noChangeArrowheads="1"/>
            </p:cNvSpPr>
            <p:nvPr/>
          </p:nvSpPr>
          <p:spPr bwMode="auto">
            <a:xfrm>
              <a:off x="3238908" y="1982429"/>
              <a:ext cx="6401752" cy="615553"/>
            </a:xfrm>
            <a:prstGeom prst="rect">
              <a:avLst/>
            </a:prstGeom>
            <a:noFill/>
            <a:ln w="9525">
              <a:noFill/>
              <a:miter lim="800000"/>
            </a:ln>
            <a:effectLst/>
          </p:spPr>
          <p:txBody>
            <a:bodyPr wrap="none">
              <a:spAutoFit/>
            </a:bodyPr>
            <a:lstStyle/>
            <a:p>
              <a:r>
                <a:rPr lang="zh-CN" altLang="en-US" sz="2400" dirty="0">
                  <a:latin typeface="+mj-ea"/>
                  <a:ea typeface="+mj-ea"/>
                </a:rPr>
                <a:t>活动图（从用户的角度描述用例）</a:t>
              </a:r>
              <a:endParaRPr lang="zh-CN" altLang="en-US" sz="2400" dirty="0">
                <a:latin typeface="+mj-ea"/>
                <a:ea typeface="+mj-ea"/>
              </a:endParaRPr>
            </a:p>
          </p:txBody>
        </p:sp>
        <p:sp>
          <p:nvSpPr>
            <p:cNvPr id="153620" name="Oval 20"/>
            <p:cNvSpPr>
              <a:spLocks noChangeArrowheads="1"/>
            </p:cNvSpPr>
            <p:nvPr/>
          </p:nvSpPr>
          <p:spPr bwMode="auto">
            <a:xfrm>
              <a:off x="1151347" y="2534879"/>
              <a:ext cx="1512887" cy="720725"/>
            </a:xfrm>
            <a:prstGeom prst="ellipse">
              <a:avLst/>
            </a:prstGeom>
            <a:noFill/>
            <a:ln w="9525">
              <a:solidFill>
                <a:srgbClr val="D24726"/>
              </a:solidFill>
              <a:round/>
            </a:ln>
            <a:effectLst/>
          </p:spPr>
          <p:txBody>
            <a:bodyPr wrap="none" anchor="ctr"/>
            <a:lstStyle/>
            <a:p>
              <a:pPr algn="ctr"/>
              <a:r>
                <a:rPr lang="zh-CN" altLang="en-US" sz="2400" dirty="0">
                  <a:latin typeface="+mj-ea"/>
                  <a:ea typeface="+mj-ea"/>
                </a:rPr>
                <a:t>用例</a:t>
              </a:r>
              <a:endParaRPr lang="zh-CN" altLang="en-US" sz="2400" dirty="0">
                <a:latin typeface="+mj-ea"/>
                <a:ea typeface="+mj-ea"/>
              </a:endParaRPr>
            </a:p>
          </p:txBody>
        </p:sp>
        <p:sp>
          <p:nvSpPr>
            <p:cNvPr id="153621" name="Rectangle 21"/>
            <p:cNvSpPr>
              <a:spLocks noChangeArrowheads="1"/>
            </p:cNvSpPr>
            <p:nvPr/>
          </p:nvSpPr>
          <p:spPr bwMode="auto">
            <a:xfrm>
              <a:off x="3238908" y="3111142"/>
              <a:ext cx="6812121" cy="615553"/>
            </a:xfrm>
            <a:prstGeom prst="rect">
              <a:avLst/>
            </a:prstGeom>
            <a:noFill/>
            <a:ln w="9525">
              <a:noFill/>
              <a:miter lim="800000"/>
            </a:ln>
            <a:effectLst/>
          </p:spPr>
          <p:txBody>
            <a:bodyPr wrap="none">
              <a:spAutoFit/>
            </a:bodyPr>
            <a:lstStyle/>
            <a:p>
              <a:r>
                <a:rPr lang="zh-CN" altLang="en-US" sz="2400" dirty="0">
                  <a:latin typeface="+mj-ea"/>
                  <a:ea typeface="+mj-ea"/>
                </a:rPr>
                <a:t>时序图（从计算机的角度描述用例）</a:t>
              </a:r>
              <a:endParaRPr lang="zh-CN" altLang="en-US" sz="2400" dirty="0">
                <a:latin typeface="+mj-ea"/>
                <a:ea typeface="+mj-ea"/>
              </a:endParaRPr>
            </a:p>
          </p:txBody>
        </p:sp>
        <p:sp>
          <p:nvSpPr>
            <p:cNvPr id="153622" name="Line 22"/>
            <p:cNvSpPr>
              <a:spLocks noChangeShapeType="1"/>
            </p:cNvSpPr>
            <p:nvPr/>
          </p:nvSpPr>
          <p:spPr bwMode="auto">
            <a:xfrm flipH="1">
              <a:off x="2540409" y="2247542"/>
              <a:ext cx="698500" cy="384175"/>
            </a:xfrm>
            <a:prstGeom prst="line">
              <a:avLst/>
            </a:prstGeom>
            <a:noFill/>
            <a:ln w="9525">
              <a:solidFill>
                <a:srgbClr val="D24726"/>
              </a:solidFill>
              <a:round/>
              <a:tailEnd type="triangle" w="med" len="med"/>
            </a:ln>
            <a:effectLst/>
          </p:spPr>
          <p:txBody>
            <a:bodyPr/>
            <a:lstStyle/>
            <a:p>
              <a:endParaRPr lang="zh-CN" altLang="en-US" sz="1600">
                <a:latin typeface="+mj-ea"/>
                <a:ea typeface="+mj-ea"/>
              </a:endParaRPr>
            </a:p>
          </p:txBody>
        </p:sp>
        <p:sp>
          <p:nvSpPr>
            <p:cNvPr id="153623" name="Line 23"/>
            <p:cNvSpPr>
              <a:spLocks noChangeShapeType="1"/>
            </p:cNvSpPr>
            <p:nvPr/>
          </p:nvSpPr>
          <p:spPr bwMode="auto">
            <a:xfrm flipH="1" flipV="1">
              <a:off x="2540409" y="3065104"/>
              <a:ext cx="771525" cy="261938"/>
            </a:xfrm>
            <a:prstGeom prst="line">
              <a:avLst/>
            </a:prstGeom>
            <a:noFill/>
            <a:ln w="9525">
              <a:solidFill>
                <a:srgbClr val="D24726"/>
              </a:solidFill>
              <a:round/>
              <a:tailEnd type="triangle" w="med" len="med"/>
            </a:ln>
            <a:effectLst/>
          </p:spPr>
          <p:txBody>
            <a:bodyPr/>
            <a:lstStyle/>
            <a:p>
              <a:endParaRPr lang="zh-CN" altLang="en-US" sz="1600">
                <a:latin typeface="+mj-ea"/>
                <a:ea typeface="+mj-ea"/>
              </a:endParaRPr>
            </a:p>
          </p:txBody>
        </p:sp>
        <p:sp>
          <p:nvSpPr>
            <p:cNvPr id="153624" name="Rectangle 24"/>
            <p:cNvSpPr>
              <a:spLocks noChangeArrowheads="1"/>
            </p:cNvSpPr>
            <p:nvPr/>
          </p:nvSpPr>
          <p:spPr bwMode="auto">
            <a:xfrm>
              <a:off x="5126260" y="4244344"/>
              <a:ext cx="2708433" cy="615553"/>
            </a:xfrm>
            <a:prstGeom prst="rect">
              <a:avLst/>
            </a:prstGeom>
            <a:noFill/>
            <a:ln w="9525">
              <a:noFill/>
              <a:miter lim="800000"/>
            </a:ln>
            <a:effectLst/>
          </p:spPr>
          <p:txBody>
            <a:bodyPr wrap="none">
              <a:spAutoFit/>
            </a:bodyPr>
            <a:lstStyle/>
            <a:p>
              <a:r>
                <a:rPr lang="zh-CN" altLang="en-US" sz="2400" dirty="0">
                  <a:latin typeface="+mj-ea"/>
                  <a:ea typeface="+mj-ea"/>
                </a:rPr>
                <a:t>对象间的交互</a:t>
              </a:r>
              <a:endParaRPr lang="zh-CN" altLang="en-US" sz="2400" dirty="0">
                <a:latin typeface="+mj-ea"/>
                <a:ea typeface="+mj-ea"/>
              </a:endParaRPr>
            </a:p>
          </p:txBody>
        </p:sp>
        <p:sp>
          <p:nvSpPr>
            <p:cNvPr id="153625" name="Line 25"/>
            <p:cNvSpPr>
              <a:spLocks noChangeShapeType="1"/>
            </p:cNvSpPr>
            <p:nvPr/>
          </p:nvSpPr>
          <p:spPr bwMode="auto">
            <a:xfrm flipH="1" flipV="1">
              <a:off x="6132735" y="3642682"/>
              <a:ext cx="0" cy="601663"/>
            </a:xfrm>
            <a:prstGeom prst="line">
              <a:avLst/>
            </a:prstGeom>
            <a:noFill/>
            <a:ln w="38100">
              <a:solidFill>
                <a:srgbClr val="D24726"/>
              </a:solidFill>
              <a:round/>
              <a:tailEnd type="triangle" w="med" len="med"/>
            </a:ln>
            <a:effectLst/>
          </p:spPr>
          <p:txBody>
            <a:bodyPr/>
            <a:lstStyle/>
            <a:p>
              <a:r>
                <a:rPr lang="en-US" altLang="zh-CN" sz="1600" dirty="0">
                  <a:latin typeface="+mj-ea"/>
                  <a:ea typeface="+mj-ea"/>
                </a:rPr>
                <a:t>.</a:t>
              </a:r>
              <a:endParaRPr lang="zh-CN" altLang="en-US" sz="1600" dirty="0">
                <a:latin typeface="+mj-ea"/>
                <a:ea typeface="+mj-ea"/>
              </a:endParaRPr>
            </a:p>
          </p:txBody>
        </p:sp>
      </p:grpSp>
      <p:sp>
        <p:nvSpPr>
          <p:cNvPr id="5" name="标题 4"/>
          <p:cNvSpPr>
            <a:spLocks noGrp="1"/>
          </p:cNvSpPr>
          <p:nvPr>
            <p:ph type="title"/>
          </p:nvPr>
        </p:nvSpPr>
        <p:spPr/>
        <p:txBody>
          <a:bodyPr/>
          <a:lstStyle/>
          <a:p>
            <a:r>
              <a:rPr lang="zh-CN" altLang="en-US" dirty="0"/>
              <a:t>用例图、活动图、时序图之间的</a:t>
            </a:r>
            <a:r>
              <a:rPr lang="zh-CN" altLang="en-US" dirty="0" smtClean="0"/>
              <a:t>关系</a:t>
            </a:r>
            <a:endParaRPr lang="zh-CN" altLang="en-US" dirty="0"/>
          </a:p>
        </p:txBody>
      </p:sp>
      <p:sp>
        <p:nvSpPr>
          <p:cNvPr id="3" name="日期占位符 2"/>
          <p:cNvSpPr>
            <a:spLocks noGrp="1"/>
          </p:cNvSpPr>
          <p:nvPr>
            <p:ph type="dt" sz="half" idx="10"/>
          </p:nvPr>
        </p:nvSpPr>
        <p:spPr/>
        <p:txBody>
          <a:bodyPr/>
          <a:lstStyle/>
          <a:p>
            <a:fld id="{22B5E40A-FA58-4700-B78B-4AF9780CDA45}"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日期占位符 3"/>
          <p:cNvSpPr>
            <a:spLocks noGrp="1"/>
          </p:cNvSpPr>
          <p:nvPr>
            <p:ph type="dt" sz="half" idx="10"/>
          </p:nvPr>
        </p:nvSpPr>
        <p:spPr/>
        <p:txBody>
          <a:bodyPr/>
          <a:lstStyle/>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3" y="-10759"/>
            <a:ext cx="9133465" cy="43557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3540" name="Picture 4"/>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2789635" y="2373293"/>
            <a:ext cx="3671888" cy="1860947"/>
          </a:xfrm>
          <a:prstGeom prst="rect">
            <a:avLst/>
          </a:prstGeom>
          <a:noFill/>
        </p:spPr>
      </p:pic>
      <p:grpSp>
        <p:nvGrpSpPr>
          <p:cNvPr id="2" name="Group 11"/>
          <p:cNvGrpSpPr/>
          <p:nvPr/>
        </p:nvGrpSpPr>
        <p:grpSpPr bwMode="auto">
          <a:xfrm>
            <a:off x="2626519" y="1085497"/>
            <a:ext cx="3835004" cy="1084660"/>
            <a:chOff x="1292" y="1096"/>
            <a:chExt cx="3221" cy="911"/>
          </a:xfrm>
        </p:grpSpPr>
        <p:pic>
          <p:nvPicPr>
            <p:cNvPr id="193538" name="Picture 2"/>
            <p:cNvPicPr>
              <a:picLocks noChangeAspect="1" noChangeArrowheads="1"/>
            </p:cNvPicPr>
            <p:nvPr/>
          </p:nvPicPr>
          <p:blipFill>
            <a:blip r:embed="rId2" cstate="print"/>
            <a:srcRect l="2994" r="76749"/>
            <a:stretch>
              <a:fillRect/>
            </a:stretch>
          </p:blipFill>
          <p:spPr bwMode="auto">
            <a:xfrm>
              <a:off x="1292" y="1096"/>
              <a:ext cx="635" cy="911"/>
            </a:xfrm>
            <a:prstGeom prst="rect">
              <a:avLst/>
            </a:prstGeom>
            <a:noFill/>
            <a:ln w="9525">
              <a:noFill/>
              <a:miter lim="800000"/>
              <a:headEnd/>
              <a:tailEnd/>
            </a:ln>
            <a:effectLst/>
          </p:spPr>
        </p:pic>
        <p:pic>
          <p:nvPicPr>
            <p:cNvPr id="193541" name="Picture 5"/>
            <p:cNvPicPr>
              <a:picLocks noChangeAspect="1" noChangeArrowheads="1"/>
            </p:cNvPicPr>
            <p:nvPr/>
          </p:nvPicPr>
          <p:blipFill>
            <a:blip r:embed="rId2" cstate="print"/>
            <a:srcRect l="76781" r="2962"/>
            <a:stretch>
              <a:fillRect/>
            </a:stretch>
          </p:blipFill>
          <p:spPr bwMode="auto">
            <a:xfrm>
              <a:off x="3878" y="1096"/>
              <a:ext cx="635" cy="911"/>
            </a:xfrm>
            <a:prstGeom prst="rect">
              <a:avLst/>
            </a:prstGeom>
            <a:noFill/>
            <a:ln w="9525">
              <a:noFill/>
              <a:miter lim="800000"/>
              <a:headEnd/>
              <a:tailEnd/>
            </a:ln>
            <a:effectLst/>
          </p:spPr>
        </p:pic>
        <p:pic>
          <p:nvPicPr>
            <p:cNvPr id="193542" name="Picture 6"/>
            <p:cNvPicPr>
              <a:picLocks noChangeAspect="1" noChangeArrowheads="1"/>
            </p:cNvPicPr>
            <p:nvPr/>
          </p:nvPicPr>
          <p:blipFill>
            <a:blip r:embed="rId2" cstate="print"/>
            <a:srcRect l="39169" r="40573"/>
            <a:stretch>
              <a:fillRect/>
            </a:stretch>
          </p:blipFill>
          <p:spPr bwMode="auto">
            <a:xfrm>
              <a:off x="2653" y="1096"/>
              <a:ext cx="635" cy="911"/>
            </a:xfrm>
            <a:prstGeom prst="rect">
              <a:avLst/>
            </a:prstGeom>
            <a:noFill/>
            <a:ln w="9525">
              <a:noFill/>
              <a:miter lim="800000"/>
              <a:headEnd/>
              <a:tailEnd/>
            </a:ln>
            <a:effectLst/>
          </p:spPr>
        </p:pic>
      </p:grpSp>
      <p:sp>
        <p:nvSpPr>
          <p:cNvPr id="193546" name="Text Box 10"/>
          <p:cNvSpPr txBox="1">
            <a:spLocks noChangeArrowheads="1"/>
          </p:cNvSpPr>
          <p:nvPr/>
        </p:nvSpPr>
        <p:spPr bwMode="auto">
          <a:xfrm>
            <a:off x="2512858" y="4234240"/>
            <a:ext cx="4429125" cy="369332"/>
          </a:xfrm>
          <a:prstGeom prst="rect">
            <a:avLst/>
          </a:prstGeom>
          <a:noFill/>
          <a:ln w="9525">
            <a:noFill/>
            <a:miter lim="800000"/>
          </a:ln>
          <a:effectLst/>
        </p:spPr>
        <p:txBody>
          <a:bodyPr>
            <a:spAutoFit/>
          </a:bodyPr>
          <a:lstStyle/>
          <a:p>
            <a:pPr>
              <a:spcBef>
                <a:spcPct val="50000"/>
              </a:spcBef>
            </a:pPr>
            <a:r>
              <a:rPr lang="zh-CN" altLang="en-US" b="1" dirty="0">
                <a:solidFill>
                  <a:srgbClr val="FF0000"/>
                </a:solidFill>
              </a:rPr>
              <a:t>思考：消息是什么？与类是什么关系？</a:t>
            </a:r>
            <a:endParaRPr lang="en-US" altLang="zh-CN" b="1" dirty="0">
              <a:solidFill>
                <a:srgbClr val="FF0000"/>
              </a:solidFill>
            </a:endParaRPr>
          </a:p>
        </p:txBody>
      </p:sp>
      <p:sp>
        <p:nvSpPr>
          <p:cNvPr id="7" name="标题 6"/>
          <p:cNvSpPr>
            <a:spLocks noGrp="1"/>
          </p:cNvSpPr>
          <p:nvPr>
            <p:ph type="title"/>
          </p:nvPr>
        </p:nvSpPr>
        <p:spPr/>
        <p:txBody>
          <a:bodyPr/>
          <a:lstStyle/>
          <a:p>
            <a:r>
              <a:rPr lang="zh-CN" altLang="en-US" dirty="0"/>
              <a:t>类图与时序图之间的</a:t>
            </a:r>
            <a:r>
              <a:rPr lang="zh-CN" altLang="en-US" dirty="0" smtClean="0"/>
              <a:t>关系</a:t>
            </a:r>
            <a:endParaRPr lang="zh-CN" altLang="en-US" dirty="0"/>
          </a:p>
        </p:txBody>
      </p:sp>
      <p:sp>
        <p:nvSpPr>
          <p:cNvPr id="5" name="日期占位符 4"/>
          <p:cNvSpPr>
            <a:spLocks noGrp="1"/>
          </p:cNvSpPr>
          <p:nvPr>
            <p:ph type="dt" sz="half" idx="10"/>
          </p:nvPr>
        </p:nvSpPr>
        <p:spPr/>
        <p:txBody>
          <a:bodyPr/>
          <a:lstStyle/>
          <a:p>
            <a:fld id="{4D8E5CA9-0263-45B1-B171-DA1870E48841}"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93540"/>
                                        </p:tgtEl>
                                        <p:attrNameLst>
                                          <p:attrName>style.visibility</p:attrName>
                                        </p:attrNameLst>
                                      </p:cBhvr>
                                      <p:to>
                                        <p:strVal val="visible"/>
                                      </p:to>
                                    </p:set>
                                    <p:animEffect transition="in" filter="randombar(horizontal)">
                                      <p:cBhvr>
                                        <p:cTn id="12" dur="500"/>
                                        <p:tgtEl>
                                          <p:spTgt spid="1935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3546"/>
                                        </p:tgtEl>
                                        <p:attrNameLst>
                                          <p:attrName>style.visibility</p:attrName>
                                        </p:attrNameLst>
                                      </p:cBhvr>
                                      <p:to>
                                        <p:strVal val="visible"/>
                                      </p:to>
                                    </p:set>
                                    <p:animEffect transition="in" filter="wipe(left)">
                                      <p:cBhvr>
                                        <p:cTn id="17" dur="500"/>
                                        <p:tgtEl>
                                          <p:spTgt spid="193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6"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a:t>类图与时序图之间的</a:t>
            </a:r>
            <a:r>
              <a:rPr lang="zh-CN" altLang="en-US" dirty="0" smtClean="0"/>
              <a:t>关系</a:t>
            </a:r>
            <a:endParaRPr lang="zh-CN" altLang="en-US" dirty="0"/>
          </a:p>
        </p:txBody>
      </p:sp>
      <p:sp>
        <p:nvSpPr>
          <p:cNvPr id="4" name="日期占位符 3"/>
          <p:cNvSpPr>
            <a:spLocks noGrp="1"/>
          </p:cNvSpPr>
          <p:nvPr>
            <p:ph type="dt" sz="half" idx="10"/>
          </p:nvPr>
        </p:nvSpPr>
        <p:spPr/>
        <p:txBody>
          <a:bodyPr/>
          <a:lstStyle/>
          <a:p>
            <a:fld id="{5F235420-679F-417D-A65D-020B3C64E05B}"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194617" name="Group 57"/>
          <p:cNvGraphicFramePr>
            <a:graphicFrameLocks noGrp="1"/>
          </p:cNvGraphicFramePr>
          <p:nvPr>
            <p:ph idx="4294967295"/>
          </p:nvPr>
        </p:nvGraphicFramePr>
        <p:xfrm>
          <a:off x="2200429" y="1674060"/>
          <a:ext cx="5159439" cy="1028700"/>
        </p:xfrm>
        <a:graphic>
          <a:graphicData uri="http://schemas.openxmlformats.org/drawingml/2006/table">
            <a:tbl>
              <a:tblPr>
                <a:tableStyleId>{BC89EF96-8CEA-46FF-86C4-4CE0E7609802}</a:tableStyleId>
              </a:tblPr>
              <a:tblGrid>
                <a:gridCol w="2580782"/>
                <a:gridCol w="2578657"/>
              </a:tblGrid>
              <a:tr h="342900">
                <a:tc>
                  <a:txBody>
                    <a:bodyPr/>
                    <a:lstStyle/>
                    <a:p>
                      <a:pPr marL="0" marR="0" lvl="0" indent="0" algn="ctr" defTabSz="0" rtl="0" eaLnBrk="0" fontAlgn="base" latinLnBrk="0" hangingPunct="0">
                        <a:lnSpc>
                          <a:spcPct val="100000"/>
                        </a:lnSpc>
                        <a:spcBef>
                          <a:spcPct val="20000"/>
                        </a:spcBef>
                        <a:spcAft>
                          <a:spcPct val="0"/>
                        </a:spcAft>
                        <a:buClrTx/>
                        <a:buSzTx/>
                        <a:buFontTx/>
                        <a:buNone/>
                      </a:pPr>
                      <a:r>
                        <a:rPr kumimoji="0" lang="zh-CN" altLang="en-US" sz="1800" b="1" u="none" strike="noStrike" cap="none" normalizeH="0" baseline="0" dirty="0" smtClean="0">
                          <a:ln>
                            <a:noFill/>
                          </a:ln>
                          <a:solidFill>
                            <a:schemeClr val="bg1"/>
                          </a:solidFill>
                          <a:effectLst/>
                        </a:rPr>
                        <a:t>类图</a:t>
                      </a:r>
                      <a:endParaRPr kumimoji="0" lang="zh-CN" altLang="en-US" sz="18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a:txBody>
                  <a:tcPr marL="73243" marR="73243" marT="34290" marB="34290" horzOverflow="overflow">
                    <a:solidFill>
                      <a:schemeClr val="accent1"/>
                    </a:solidFill>
                  </a:tcPr>
                </a:tc>
                <a:tc>
                  <a:txBody>
                    <a:bodyPr/>
                    <a:lstStyle/>
                    <a:p>
                      <a:pPr marL="0" marR="0" lvl="0" indent="0" algn="ctr" defTabSz="0" rtl="0" eaLnBrk="0" fontAlgn="base" latinLnBrk="0" hangingPunct="0">
                        <a:lnSpc>
                          <a:spcPct val="100000"/>
                        </a:lnSpc>
                        <a:spcBef>
                          <a:spcPct val="20000"/>
                        </a:spcBef>
                        <a:spcAft>
                          <a:spcPct val="0"/>
                        </a:spcAft>
                        <a:buClrTx/>
                        <a:buSzTx/>
                        <a:buFontTx/>
                        <a:buNone/>
                      </a:pPr>
                      <a:r>
                        <a:rPr kumimoji="0" lang="zh-CN" altLang="en-US" sz="1800" b="1" u="none" strike="noStrike" cap="none" normalizeH="0" baseline="0" dirty="0" smtClean="0">
                          <a:ln>
                            <a:noFill/>
                          </a:ln>
                          <a:solidFill>
                            <a:schemeClr val="bg1"/>
                          </a:solidFill>
                          <a:effectLst/>
                        </a:rPr>
                        <a:t>时序图</a:t>
                      </a:r>
                      <a:endParaRPr kumimoji="0" lang="zh-CN" altLang="en-US" sz="1800" b="1" i="0" u="none" strike="noStrike" cap="none" normalizeH="0" baseline="0" dirty="0" smtClean="0">
                        <a:ln>
                          <a:noFill/>
                        </a:ln>
                        <a:solidFill>
                          <a:schemeClr val="bg1"/>
                        </a:solidFill>
                        <a:effectLst/>
                        <a:latin typeface="Arial" panose="020B0604020202020204" pitchFamily="34" charset="0"/>
                        <a:ea typeface="宋体" panose="02010600030101010101" pitchFamily="2" charset="-122"/>
                      </a:endParaRPr>
                    </a:p>
                  </a:txBody>
                  <a:tcPr marL="73243" marR="73243" marT="34290" marB="34290" horzOverflow="overflow">
                    <a:solidFill>
                      <a:schemeClr val="accent1"/>
                    </a:solidFill>
                  </a:tcPr>
                </a:tc>
              </a:tr>
              <a:tr h="342900">
                <a:tc>
                  <a:txBody>
                    <a:bodyPr/>
                    <a:lstStyle/>
                    <a:p>
                      <a:pPr marL="0" marR="0" lvl="0" indent="0" algn="ctr" defTabSz="0" rtl="0" eaLnBrk="0" fontAlgn="base" latinLnBrk="0" hangingPunct="0">
                        <a:lnSpc>
                          <a:spcPct val="100000"/>
                        </a:lnSpc>
                        <a:spcBef>
                          <a:spcPct val="20000"/>
                        </a:spcBef>
                        <a:spcAft>
                          <a:spcPct val="0"/>
                        </a:spcAft>
                        <a:buClrTx/>
                        <a:buSzTx/>
                        <a:buFontTx/>
                        <a:buNone/>
                      </a:pPr>
                      <a:r>
                        <a:rPr kumimoji="0" lang="zh-CN" altLang="en-US" sz="1800" u="none" strike="noStrike" cap="none" normalizeH="0" baseline="0" smtClean="0">
                          <a:ln>
                            <a:noFill/>
                          </a:ln>
                          <a:solidFill>
                            <a:schemeClr val="tx1"/>
                          </a:solidFill>
                          <a:effectLst/>
                        </a:rPr>
                        <a:t>类</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73243" marR="73243" marT="34290" marB="34290" horzOverflow="overflow"/>
                </a:tc>
                <a:tc>
                  <a:txBody>
                    <a:bodyPr/>
                    <a:lstStyle/>
                    <a:p>
                      <a:pPr marL="0" marR="0" lvl="0" indent="0" algn="ctr" defTabSz="0" rtl="0" eaLnBrk="0" fontAlgn="base" latinLnBrk="0" hangingPunct="0">
                        <a:lnSpc>
                          <a:spcPct val="100000"/>
                        </a:lnSpc>
                        <a:spcBef>
                          <a:spcPct val="20000"/>
                        </a:spcBef>
                        <a:spcAft>
                          <a:spcPct val="0"/>
                        </a:spcAft>
                        <a:buClrTx/>
                        <a:buSzTx/>
                        <a:buFontTx/>
                        <a:buNone/>
                      </a:pPr>
                      <a:r>
                        <a:rPr kumimoji="0" lang="zh-CN" altLang="en-US" sz="1800" u="none" strike="noStrike" cap="none" normalizeH="0" baseline="0" smtClean="0">
                          <a:ln>
                            <a:noFill/>
                          </a:ln>
                          <a:solidFill>
                            <a:schemeClr val="tx1"/>
                          </a:solidFill>
                          <a:effectLst/>
                        </a:rPr>
                        <a:t>对象</a:t>
                      </a: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73243" marR="73243" marT="34290" marB="34290" horzOverflow="overflow"/>
                </a:tc>
              </a:tr>
              <a:tr h="342900">
                <a:tc>
                  <a:txBody>
                    <a:bodyPr/>
                    <a:lstStyle/>
                    <a:p>
                      <a:pPr marL="0" marR="0" lvl="0" indent="0" algn="ctr" defTabSz="0" rtl="0" eaLnBrk="0" fontAlgn="base" latinLnBrk="0" hangingPunct="0">
                        <a:lnSpc>
                          <a:spcPct val="100000"/>
                        </a:lnSpc>
                        <a:spcBef>
                          <a:spcPct val="20000"/>
                        </a:spcBef>
                        <a:spcAft>
                          <a:spcPct val="0"/>
                        </a:spcAft>
                        <a:buClrTx/>
                        <a:buSzTx/>
                        <a:buFontTx/>
                        <a:buNone/>
                      </a:pPr>
                      <a:r>
                        <a:rPr kumimoji="0" lang="zh-CN" altLang="en-US" sz="1800" u="none" strike="noStrike" cap="none" normalizeH="0" baseline="0" dirty="0" smtClean="0">
                          <a:ln>
                            <a:noFill/>
                          </a:ln>
                          <a:solidFill>
                            <a:schemeClr val="tx1"/>
                          </a:solidFill>
                          <a:effectLst/>
                        </a:rPr>
                        <a:t>操作</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73243" marR="73243" marT="34290" marB="34290" horzOverflow="overflow"/>
                </a:tc>
                <a:tc>
                  <a:txBody>
                    <a:bodyPr/>
                    <a:lstStyle/>
                    <a:p>
                      <a:pPr marL="0" marR="0" lvl="0" indent="0" algn="ctr" defTabSz="0" rtl="0" eaLnBrk="0" fontAlgn="base" latinLnBrk="0" hangingPunct="0">
                        <a:lnSpc>
                          <a:spcPct val="100000"/>
                        </a:lnSpc>
                        <a:spcBef>
                          <a:spcPct val="20000"/>
                        </a:spcBef>
                        <a:spcAft>
                          <a:spcPct val="0"/>
                        </a:spcAft>
                        <a:buClrTx/>
                        <a:buSzTx/>
                        <a:buFontTx/>
                        <a:buNone/>
                      </a:pPr>
                      <a:r>
                        <a:rPr kumimoji="0" lang="zh-CN" altLang="en-US" sz="1800" u="none" strike="noStrike" cap="none" normalizeH="0" baseline="0" dirty="0" smtClean="0">
                          <a:ln>
                            <a:noFill/>
                          </a:ln>
                          <a:solidFill>
                            <a:schemeClr val="tx1"/>
                          </a:solidFill>
                          <a:effectLst/>
                        </a:rPr>
                        <a:t>消息</a:t>
                      </a:r>
                      <a:endPar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73243" marR="73243" marT="34290" marB="34290" horzOverflow="overflow"/>
                </a:tc>
              </a:tr>
            </a:tbl>
          </a:graphicData>
        </a:graphic>
      </p:graphicFrame>
      <p:sp>
        <p:nvSpPr>
          <p:cNvPr id="194632" name="Text Box 72"/>
          <p:cNvSpPr txBox="1">
            <a:spLocks noChangeArrowheads="1"/>
          </p:cNvSpPr>
          <p:nvPr/>
        </p:nvSpPr>
        <p:spPr bwMode="auto">
          <a:xfrm>
            <a:off x="1094321" y="3191067"/>
            <a:ext cx="7763929" cy="461665"/>
          </a:xfrm>
          <a:prstGeom prst="rect">
            <a:avLst/>
          </a:prstGeom>
          <a:noFill/>
          <a:ln w="9525">
            <a:noFill/>
            <a:miter lim="800000"/>
          </a:ln>
          <a:effectLst/>
        </p:spPr>
        <p:txBody>
          <a:bodyPr wrap="square">
            <a:spAutoFit/>
          </a:bodyPr>
          <a:lstStyle/>
          <a:p>
            <a:pPr>
              <a:spcBef>
                <a:spcPct val="50000"/>
              </a:spcBef>
            </a:pPr>
            <a:r>
              <a:rPr lang="zh-CN" altLang="en-US" sz="2400" dirty="0">
                <a:latin typeface="+mj-ea"/>
                <a:ea typeface="+mj-ea"/>
              </a:rPr>
              <a:t>类图描述系统的静态结构，时序图描述系统的动态行为。</a:t>
            </a:r>
            <a:endParaRPr lang="zh-CN" altLang="en-US" sz="24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94617"/>
                                        </p:tgtEl>
                                        <p:attrNameLst>
                                          <p:attrName>style.visibility</p:attrName>
                                        </p:attrNameLst>
                                      </p:cBhvr>
                                      <p:to>
                                        <p:strVal val="visible"/>
                                      </p:to>
                                    </p:set>
                                    <p:animEffect transition="in" filter="randombar(horizontal)">
                                      <p:cBhvr>
                                        <p:cTn id="7" dur="500"/>
                                        <p:tgtEl>
                                          <p:spTgt spid="1946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632"/>
                                        </p:tgtEl>
                                        <p:attrNameLst>
                                          <p:attrName>style.visibility</p:attrName>
                                        </p:attrNameLst>
                                      </p:cBhvr>
                                      <p:to>
                                        <p:strVal val="visible"/>
                                      </p:to>
                                    </p:set>
                                    <p:animEffect transition="in" filter="wipe(left)">
                                      <p:cBhvr>
                                        <p:cTn id="12" dur="500"/>
                                        <p:tgtEl>
                                          <p:spTgt spid="194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32"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类图与时序图之间的</a:t>
            </a:r>
            <a:r>
              <a:rPr lang="zh-CN" altLang="en-US" dirty="0" smtClean="0"/>
              <a:t>关系</a:t>
            </a:r>
            <a:endParaRPr lang="zh-CN" altLang="en-US" dirty="0"/>
          </a:p>
        </p:txBody>
      </p:sp>
      <p:sp>
        <p:nvSpPr>
          <p:cNvPr id="2" name="日期占位符 1"/>
          <p:cNvSpPr>
            <a:spLocks noGrp="1"/>
          </p:cNvSpPr>
          <p:nvPr>
            <p:ph type="dt" sz="half" idx="10"/>
          </p:nvPr>
        </p:nvSpPr>
        <p:spPr/>
        <p:txBody>
          <a:bodyPr/>
          <a:lstStyle/>
          <a:p>
            <a:fld id="{ABB44F17-3CED-4D7A-9EFC-A7D023718B5B}"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8" name="图片 7"/>
          <p:cNvPicPr>
            <a:picLocks noChangeAspect="1"/>
          </p:cNvPicPr>
          <p:nvPr/>
        </p:nvPicPr>
        <p:blipFill>
          <a:blip r:embed="rId1">
            <a:clrChange>
              <a:clrFrom>
                <a:srgbClr val="FFFFFF"/>
              </a:clrFrom>
              <a:clrTo>
                <a:srgbClr val="FFFFFF">
                  <a:alpha val="0"/>
                </a:srgbClr>
              </a:clrTo>
            </a:clrChange>
          </a:blip>
          <a:stretch>
            <a:fillRect/>
          </a:stretch>
        </p:blipFill>
        <p:spPr>
          <a:xfrm rot="21444272">
            <a:off x="1158936" y="888526"/>
            <a:ext cx="6786563" cy="3007519"/>
          </a:xfrm>
          <a:prstGeom prst="rect">
            <a:avLst/>
          </a:prstGeom>
        </p:spPr>
      </p:pic>
      <p:sp>
        <p:nvSpPr>
          <p:cNvPr id="11" name="文本框 10"/>
          <p:cNvSpPr txBox="1"/>
          <p:nvPr/>
        </p:nvSpPr>
        <p:spPr>
          <a:xfrm>
            <a:off x="2807454" y="4048165"/>
            <a:ext cx="4031873" cy="400110"/>
          </a:xfrm>
          <a:prstGeom prst="rect">
            <a:avLst/>
          </a:prstGeom>
          <a:noFill/>
        </p:spPr>
        <p:txBody>
          <a:bodyPr wrap="none" rtlCol="0">
            <a:spAutoFit/>
          </a:bodyPr>
          <a:lstStyle/>
          <a:p>
            <a:r>
              <a:rPr lang="zh-CN" altLang="en-US" sz="2000" dirty="0">
                <a:latin typeface="+mj-ea"/>
                <a:ea typeface="+mj-ea"/>
              </a:rPr>
              <a:t>用例与领域类和实现类之间的关系</a:t>
            </a:r>
            <a:endParaRPr lang="zh-CN" altLang="en-US" sz="20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826" name="Picture 2"/>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2058244" y="2142242"/>
            <a:ext cx="4157663" cy="1981200"/>
          </a:xfrm>
          <a:prstGeom prst="rect">
            <a:avLst/>
          </a:prstGeom>
          <a:noFill/>
        </p:spPr>
      </p:pic>
      <p:pic>
        <p:nvPicPr>
          <p:cNvPr id="205827" name="Picture 3"/>
          <p:cNvPicPr>
            <a:picLocks noChangeAspect="1" noChangeArrowheads="1"/>
          </p:cNvPicPr>
          <p:nvPr/>
        </p:nvPicPr>
        <p:blipFill>
          <a:blip r:embed="rId2" cstate="print"/>
          <a:srcRect l="76781" r="2962"/>
          <a:stretch>
            <a:fillRect/>
          </a:stretch>
        </p:blipFill>
        <p:spPr bwMode="auto">
          <a:xfrm>
            <a:off x="6693868" y="2795099"/>
            <a:ext cx="756047" cy="1084659"/>
          </a:xfrm>
          <a:prstGeom prst="rect">
            <a:avLst/>
          </a:prstGeom>
          <a:noFill/>
          <a:ln w="9525">
            <a:noFill/>
            <a:miter lim="800000"/>
            <a:headEnd/>
            <a:tailEnd/>
          </a:ln>
          <a:effectLst/>
        </p:spPr>
      </p:pic>
      <p:sp>
        <p:nvSpPr>
          <p:cNvPr id="205828" name="Text Box 4"/>
          <p:cNvSpPr txBox="1">
            <a:spLocks noChangeArrowheads="1"/>
          </p:cNvSpPr>
          <p:nvPr/>
        </p:nvSpPr>
        <p:spPr bwMode="auto">
          <a:xfrm>
            <a:off x="3157730" y="4225337"/>
            <a:ext cx="3401615" cy="369332"/>
          </a:xfrm>
          <a:prstGeom prst="rect">
            <a:avLst/>
          </a:prstGeom>
          <a:noFill/>
          <a:ln w="9525">
            <a:noFill/>
            <a:miter lim="800000"/>
          </a:ln>
          <a:effectLst/>
        </p:spPr>
        <p:txBody>
          <a:bodyPr>
            <a:spAutoFit/>
          </a:bodyPr>
          <a:lstStyle/>
          <a:p>
            <a:pPr>
              <a:spcBef>
                <a:spcPct val="50000"/>
              </a:spcBef>
            </a:pPr>
            <a:r>
              <a:rPr lang="zh-CN" altLang="en-US" b="1" dirty="0">
                <a:solidFill>
                  <a:srgbClr val="FF0000"/>
                </a:solidFill>
              </a:rPr>
              <a:t>需要在类</a:t>
            </a:r>
            <a:r>
              <a:rPr lang="en-US" altLang="zh-CN" b="1" dirty="0">
                <a:solidFill>
                  <a:srgbClr val="FF0000"/>
                </a:solidFill>
              </a:rPr>
              <a:t>C</a:t>
            </a:r>
            <a:r>
              <a:rPr lang="zh-CN" altLang="en-US" b="1" dirty="0">
                <a:solidFill>
                  <a:srgbClr val="FF0000"/>
                </a:solidFill>
              </a:rPr>
              <a:t>中添加操作“</a:t>
            </a:r>
            <a:r>
              <a:rPr lang="en-US" altLang="zh-CN" b="1" dirty="0">
                <a:solidFill>
                  <a:srgbClr val="FF0000"/>
                </a:solidFill>
              </a:rPr>
              <a:t>K”</a:t>
            </a:r>
            <a:endParaRPr lang="en-US" altLang="zh-CN" b="1" dirty="0">
              <a:solidFill>
                <a:srgbClr val="FF0000"/>
              </a:solidFill>
            </a:endParaRPr>
          </a:p>
        </p:txBody>
      </p:sp>
      <p:sp>
        <p:nvSpPr>
          <p:cNvPr id="205829" name="Text Box 5"/>
          <p:cNvSpPr txBox="1">
            <a:spLocks noChangeArrowheads="1"/>
          </p:cNvSpPr>
          <p:nvPr/>
        </p:nvSpPr>
        <p:spPr bwMode="auto">
          <a:xfrm>
            <a:off x="972337" y="1048271"/>
            <a:ext cx="7772400" cy="853567"/>
          </a:xfrm>
          <a:prstGeom prst="rect">
            <a:avLst/>
          </a:prstGeom>
          <a:noFill/>
          <a:ln w="9525">
            <a:noFill/>
            <a:miter lim="800000"/>
          </a:ln>
          <a:effectLst/>
        </p:spPr>
        <p:txBody>
          <a:bodyPr wrap="square">
            <a:spAutoFit/>
          </a:bodyPr>
          <a:lstStyle/>
          <a:p>
            <a:pPr>
              <a:lnSpc>
                <a:spcPct val="130000"/>
              </a:lnSpc>
            </a:pPr>
            <a:r>
              <a:rPr lang="zh-CN" altLang="en-US" sz="2000" dirty="0">
                <a:latin typeface="+mj-ea"/>
                <a:ea typeface="+mj-ea"/>
              </a:rPr>
              <a:t>若出现了一个新的消息（不是类中的操作），则需要为类添加一个新的操作。</a:t>
            </a:r>
            <a:endParaRPr lang="zh-CN" altLang="en-US" sz="2000" dirty="0">
              <a:latin typeface="+mj-ea"/>
              <a:ea typeface="+mj-ea"/>
            </a:endParaRPr>
          </a:p>
        </p:txBody>
      </p:sp>
      <p:sp>
        <p:nvSpPr>
          <p:cNvPr id="10" name="标题 9"/>
          <p:cNvSpPr>
            <a:spLocks noGrp="1"/>
          </p:cNvSpPr>
          <p:nvPr>
            <p:ph type="title"/>
          </p:nvPr>
        </p:nvSpPr>
        <p:spPr/>
        <p:txBody>
          <a:bodyPr/>
          <a:lstStyle/>
          <a:p>
            <a:r>
              <a:rPr lang="zh-CN" altLang="en-US" dirty="0"/>
              <a:t>类图与时序图之间的</a:t>
            </a:r>
            <a:r>
              <a:rPr lang="zh-CN" altLang="en-US" dirty="0" smtClean="0"/>
              <a:t>关系</a:t>
            </a:r>
            <a:endParaRPr lang="zh-CN" altLang="en-US" dirty="0"/>
          </a:p>
        </p:txBody>
      </p:sp>
      <p:sp>
        <p:nvSpPr>
          <p:cNvPr id="4" name="日期占位符 3"/>
          <p:cNvSpPr>
            <a:spLocks noGrp="1"/>
          </p:cNvSpPr>
          <p:nvPr>
            <p:ph type="dt" sz="half" idx="10"/>
          </p:nvPr>
        </p:nvSpPr>
        <p:spPr/>
        <p:txBody>
          <a:bodyPr/>
          <a:lstStyle/>
          <a:p>
            <a:fld id="{596B7900-831F-4738-BE1C-B3362507C8AD}"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5829"/>
                                        </p:tgtEl>
                                        <p:attrNameLst>
                                          <p:attrName>style.visibility</p:attrName>
                                        </p:attrNameLst>
                                      </p:cBhvr>
                                      <p:to>
                                        <p:strVal val="visible"/>
                                      </p:to>
                                    </p:set>
                                    <p:animEffect transition="in" filter="wipe(left)">
                                      <p:cBhvr>
                                        <p:cTn id="7" dur="500"/>
                                        <p:tgtEl>
                                          <p:spTgt spid="20582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05826"/>
                                        </p:tgtEl>
                                        <p:attrNameLst>
                                          <p:attrName>style.visibility</p:attrName>
                                        </p:attrNameLst>
                                      </p:cBhvr>
                                      <p:to>
                                        <p:strVal val="visible"/>
                                      </p:to>
                                    </p:set>
                                    <p:animEffect transition="in" filter="randombar(horizontal)">
                                      <p:cBhvr>
                                        <p:cTn id="12" dur="500"/>
                                        <p:tgtEl>
                                          <p:spTgt spid="20582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205827"/>
                                        </p:tgtEl>
                                        <p:attrNameLst>
                                          <p:attrName>style.visibility</p:attrName>
                                        </p:attrNameLst>
                                      </p:cBhvr>
                                      <p:to>
                                        <p:strVal val="visible"/>
                                      </p:to>
                                    </p:set>
                                    <p:animEffect transition="in" filter="randombar(horizontal)">
                                      <p:cBhvr>
                                        <p:cTn id="17" dur="500"/>
                                        <p:tgtEl>
                                          <p:spTgt spid="20582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05828"/>
                                        </p:tgtEl>
                                        <p:attrNameLst>
                                          <p:attrName>style.visibility</p:attrName>
                                        </p:attrNameLst>
                                      </p:cBhvr>
                                      <p:to>
                                        <p:strVal val="visible"/>
                                      </p:to>
                                    </p:set>
                                    <p:animEffect transition="in" filter="barn(inVertical)">
                                      <p:cBhvr>
                                        <p:cTn id="22" dur="500"/>
                                        <p:tgtEl>
                                          <p:spTgt spid="205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8" grpId="0" bldLvl="0" animBg="1"/>
      <p:bldP spid="205829"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smtClean="0"/>
              <a:t>时序</a:t>
            </a:r>
            <a:r>
              <a:rPr lang="zh-CN" altLang="en-US" dirty="0"/>
              <a:t>图的</a:t>
            </a:r>
            <a:r>
              <a:rPr lang="zh-CN" altLang="en-US" dirty="0" smtClean="0"/>
              <a:t>作用</a:t>
            </a:r>
            <a:endParaRPr lang="zh-CN" altLang="en-US" dirty="0"/>
          </a:p>
        </p:txBody>
      </p:sp>
      <p:sp>
        <p:nvSpPr>
          <p:cNvPr id="3" name="文本框 2"/>
          <p:cNvSpPr txBox="1"/>
          <p:nvPr/>
        </p:nvSpPr>
        <p:spPr>
          <a:xfrm>
            <a:off x="669073" y="1201577"/>
            <a:ext cx="8189177" cy="2677656"/>
          </a:xfrm>
          <a:prstGeom prst="rect">
            <a:avLst/>
          </a:prstGeom>
          <a:noFill/>
        </p:spPr>
        <p:txBody>
          <a:bodyPr wrap="square" rtlCol="0">
            <a:spAutoFit/>
          </a:bodyPr>
          <a:lstStyle/>
          <a:p>
            <a:pPr marL="342900" indent="-342900">
              <a:spcBef>
                <a:spcPct val="50000"/>
              </a:spcBef>
              <a:buFont typeface="Arial" panose="020B0604020202020204" pitchFamily="34" charset="0"/>
              <a:buChar char="•"/>
            </a:pPr>
            <a:r>
              <a:rPr lang="zh-CN" altLang="en-US" sz="2400" dirty="0">
                <a:latin typeface="+mj-ea"/>
                <a:ea typeface="+mj-ea"/>
              </a:rPr>
              <a:t>用对象间的交互来描述用例</a:t>
            </a:r>
            <a:endParaRPr lang="zh-CN" altLang="en-US" sz="2400" dirty="0">
              <a:latin typeface="+mj-ea"/>
              <a:ea typeface="+mj-ea"/>
            </a:endParaRPr>
          </a:p>
          <a:p>
            <a:pPr marL="342900" indent="-342900">
              <a:spcBef>
                <a:spcPct val="50000"/>
              </a:spcBef>
              <a:buFont typeface="Arial" panose="020B0604020202020204" pitchFamily="34" charset="0"/>
              <a:buChar char="•"/>
            </a:pPr>
            <a:r>
              <a:rPr lang="zh-CN" altLang="en-US" sz="2400" dirty="0">
                <a:latin typeface="+mj-ea"/>
                <a:ea typeface="+mj-ea"/>
              </a:rPr>
              <a:t>寻找类的操作：</a:t>
            </a:r>
            <a:endParaRPr lang="en-US" altLang="zh-CN" sz="2400" dirty="0">
              <a:latin typeface="+mj-ea"/>
              <a:ea typeface="+mj-ea"/>
            </a:endParaRPr>
          </a:p>
          <a:p>
            <a:pPr marL="685800" lvl="1" indent="-342900">
              <a:spcBef>
                <a:spcPct val="50000"/>
              </a:spcBef>
              <a:buFont typeface="Arial" panose="020B0604020202020204" pitchFamily="34" charset="0"/>
              <a:buChar char="•"/>
            </a:pPr>
            <a:r>
              <a:rPr lang="zh-CN" altLang="en-US" sz="2000" dirty="0">
                <a:latin typeface="+mj-ea"/>
                <a:ea typeface="+mj-ea"/>
              </a:rPr>
              <a:t>描述用例的事件流，标识参与这个用例的对象，并以服务的形式将用例的行为分配到对象上；</a:t>
            </a:r>
            <a:endParaRPr lang="en-US" altLang="zh-CN" sz="2000" dirty="0">
              <a:latin typeface="+mj-ea"/>
              <a:ea typeface="+mj-ea"/>
            </a:endParaRPr>
          </a:p>
          <a:p>
            <a:pPr marL="685800" lvl="1" indent="-342900">
              <a:lnSpc>
                <a:spcPct val="120000"/>
              </a:lnSpc>
              <a:spcBef>
                <a:spcPct val="50000"/>
              </a:spcBef>
              <a:buFont typeface="Arial" panose="020B0604020202020204" pitchFamily="34" charset="0"/>
              <a:buChar char="•"/>
            </a:pPr>
            <a:r>
              <a:rPr lang="zh-CN" altLang="en-US" sz="2000" dirty="0">
                <a:latin typeface="+mj-ea"/>
                <a:ea typeface="+mj-ea"/>
              </a:rPr>
              <a:t>通过分析时序图，可以细化用例的流程，以便发现更多的对象和服务。</a:t>
            </a:r>
            <a:endParaRPr lang="zh-CN" altLang="en-US" sz="2000" dirty="0">
              <a:latin typeface="+mj-ea"/>
              <a:ea typeface="+mj-ea"/>
            </a:endParaRPr>
          </a:p>
        </p:txBody>
      </p:sp>
      <p:sp>
        <p:nvSpPr>
          <p:cNvPr id="5" name="日期占位符 4"/>
          <p:cNvSpPr>
            <a:spLocks noGrp="1"/>
          </p:cNvSpPr>
          <p:nvPr>
            <p:ph type="dt" sz="half" idx="10"/>
          </p:nvPr>
        </p:nvSpPr>
        <p:spPr/>
        <p:txBody>
          <a:bodyPr/>
          <a:lstStyle/>
          <a:p>
            <a:fld id="{6FE8C661-3A4F-446B-A9CD-94CDF37E08CA}"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87A6A4D9-6108-44AE-88D9-74138F02C31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46919"/>
            <a:ext cx="9144000" cy="4357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71682" name="Rectangle 2"/>
          <p:cNvSpPr>
            <a:spLocks noGrp="1" noChangeArrowheads="1"/>
          </p:cNvSpPr>
          <p:nvPr>
            <p:ph type="title"/>
          </p:nvPr>
        </p:nvSpPr>
        <p:spPr/>
        <p:txBody>
          <a:bodyPr/>
          <a:lstStyle/>
          <a:p>
            <a:pPr algn="l"/>
            <a:r>
              <a:rPr lang="zh-CN" altLang="en-US" dirty="0" smtClean="0"/>
              <a:t>时序图的组成</a:t>
            </a:r>
            <a:endParaRPr lang="zh-CN" altLang="en-US" dirty="0" smtClean="0"/>
          </a:p>
        </p:txBody>
      </p:sp>
      <p:sp>
        <p:nvSpPr>
          <p:cNvPr id="71693" name="Text Box 13"/>
          <p:cNvSpPr txBox="1">
            <a:spLocks noChangeArrowheads="1"/>
          </p:cNvSpPr>
          <p:nvPr/>
        </p:nvSpPr>
        <p:spPr bwMode="auto">
          <a:xfrm>
            <a:off x="768096" y="871067"/>
            <a:ext cx="8090154" cy="1384995"/>
          </a:xfrm>
          <a:prstGeom prst="rect">
            <a:avLst/>
          </a:prstGeom>
          <a:noFill/>
          <a:ln w="9525">
            <a:noFill/>
            <a:miter lim="800000"/>
          </a:ln>
          <a:effectLst/>
        </p:spPr>
        <p:txBody>
          <a:bodyPr wrap="square">
            <a:spAutoFit/>
          </a:bodyPr>
          <a:lstStyle/>
          <a:p>
            <a:pPr>
              <a:lnSpc>
                <a:spcPct val="140000"/>
              </a:lnSpc>
            </a:pPr>
            <a:r>
              <a:rPr lang="zh-CN" altLang="en-US" sz="2000" dirty="0">
                <a:latin typeface="+mj-ea"/>
                <a:ea typeface="+mj-ea"/>
              </a:rPr>
              <a:t>一、对象</a:t>
            </a:r>
            <a:endParaRPr lang="zh-CN" altLang="en-US" sz="2000" dirty="0">
              <a:latin typeface="+mj-ea"/>
              <a:ea typeface="+mj-ea"/>
            </a:endParaRPr>
          </a:p>
          <a:p>
            <a:pPr>
              <a:lnSpc>
                <a:spcPct val="140000"/>
              </a:lnSpc>
            </a:pPr>
            <a:r>
              <a:rPr lang="zh-CN" altLang="en-US" sz="2000" dirty="0">
                <a:latin typeface="+mj-ea"/>
                <a:ea typeface="+mj-ea"/>
              </a:rPr>
              <a:t>对象是类的实例，对象是通过类来创建的，我们可以把类看作是创建对象的模板。</a:t>
            </a:r>
            <a:endParaRPr lang="zh-CN" altLang="en-US" sz="2000" dirty="0">
              <a:latin typeface="+mj-ea"/>
              <a:ea typeface="+mj-ea"/>
            </a:endParaRPr>
          </a:p>
        </p:txBody>
      </p:sp>
      <p:pic>
        <p:nvPicPr>
          <p:cNvPr id="71701" name="Picture 21"/>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2610253" y="1888913"/>
            <a:ext cx="3671888" cy="1860947"/>
          </a:xfrm>
          <a:prstGeom prst="rect">
            <a:avLst/>
          </a:prstGeom>
          <a:noFill/>
        </p:spPr>
      </p:pic>
      <p:grpSp>
        <p:nvGrpSpPr>
          <p:cNvPr id="2" name="Group 22"/>
          <p:cNvGrpSpPr/>
          <p:nvPr/>
        </p:nvGrpSpPr>
        <p:grpSpPr bwMode="auto">
          <a:xfrm>
            <a:off x="2528695" y="3672814"/>
            <a:ext cx="3835004" cy="1084659"/>
            <a:chOff x="1292" y="1096"/>
            <a:chExt cx="3221" cy="911"/>
          </a:xfrm>
        </p:grpSpPr>
        <p:pic>
          <p:nvPicPr>
            <p:cNvPr id="71703" name="Picture 23"/>
            <p:cNvPicPr>
              <a:picLocks noChangeAspect="1" noChangeArrowheads="1"/>
            </p:cNvPicPr>
            <p:nvPr/>
          </p:nvPicPr>
          <p:blipFill>
            <a:blip r:embed="rId2" cstate="print"/>
            <a:srcRect l="2994" r="76749"/>
            <a:stretch>
              <a:fillRect/>
            </a:stretch>
          </p:blipFill>
          <p:spPr bwMode="auto">
            <a:xfrm>
              <a:off x="1292" y="1096"/>
              <a:ext cx="635" cy="911"/>
            </a:xfrm>
            <a:prstGeom prst="rect">
              <a:avLst/>
            </a:prstGeom>
            <a:noFill/>
            <a:ln w="9525">
              <a:noFill/>
              <a:miter lim="800000"/>
              <a:headEnd/>
              <a:tailEnd/>
            </a:ln>
            <a:effectLst/>
          </p:spPr>
        </p:pic>
        <p:pic>
          <p:nvPicPr>
            <p:cNvPr id="71704" name="Picture 24"/>
            <p:cNvPicPr>
              <a:picLocks noChangeAspect="1" noChangeArrowheads="1"/>
            </p:cNvPicPr>
            <p:nvPr/>
          </p:nvPicPr>
          <p:blipFill>
            <a:blip r:embed="rId2" cstate="print"/>
            <a:srcRect l="76781" r="2962"/>
            <a:stretch>
              <a:fillRect/>
            </a:stretch>
          </p:blipFill>
          <p:spPr bwMode="auto">
            <a:xfrm>
              <a:off x="3878" y="1096"/>
              <a:ext cx="635" cy="911"/>
            </a:xfrm>
            <a:prstGeom prst="rect">
              <a:avLst/>
            </a:prstGeom>
            <a:noFill/>
            <a:ln w="9525">
              <a:noFill/>
              <a:miter lim="800000"/>
              <a:headEnd/>
              <a:tailEnd/>
            </a:ln>
            <a:effectLst/>
          </p:spPr>
        </p:pic>
        <p:pic>
          <p:nvPicPr>
            <p:cNvPr id="71705" name="Picture 25"/>
            <p:cNvPicPr>
              <a:picLocks noChangeAspect="1" noChangeArrowheads="1"/>
            </p:cNvPicPr>
            <p:nvPr/>
          </p:nvPicPr>
          <p:blipFill>
            <a:blip r:embed="rId2" cstate="print"/>
            <a:srcRect l="39169" r="40573"/>
            <a:stretch>
              <a:fillRect/>
            </a:stretch>
          </p:blipFill>
          <p:spPr bwMode="auto">
            <a:xfrm>
              <a:off x="2653" y="1096"/>
              <a:ext cx="635" cy="911"/>
            </a:xfrm>
            <a:prstGeom prst="rect">
              <a:avLst/>
            </a:prstGeom>
            <a:noFill/>
            <a:ln w="9525">
              <a:noFill/>
              <a:miter lim="800000"/>
              <a:headEnd/>
              <a:tailEnd/>
            </a:ln>
            <a:effectLst/>
          </p:spPr>
        </p:pic>
      </p:grpSp>
      <p:sp>
        <p:nvSpPr>
          <p:cNvPr id="4" name="日期占位符 3"/>
          <p:cNvSpPr>
            <a:spLocks noGrp="1"/>
          </p:cNvSpPr>
          <p:nvPr>
            <p:ph type="dt" sz="half" idx="10"/>
          </p:nvPr>
        </p:nvSpPr>
        <p:spPr/>
        <p:txBody>
          <a:bodyPr/>
          <a:lstStyle/>
          <a:p>
            <a:fld id="{8CC4D4A2-4DC5-4B8D-9C4E-ACAFF13D7F5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latin typeface="宋体" panose="02010600030101010101" pitchFamily="2" charset="-122"/>
              </a:rPr>
              <a:t>时序图的</a:t>
            </a:r>
            <a:r>
              <a:rPr lang="zh-CN" altLang="en-US" dirty="0" smtClean="0">
                <a:latin typeface="宋体" panose="02010600030101010101" pitchFamily="2" charset="-122"/>
              </a:rPr>
              <a:t>组成</a:t>
            </a:r>
            <a:endParaRPr lang="zh-CN" altLang="en-US" dirty="0"/>
          </a:p>
        </p:txBody>
      </p:sp>
      <p:sp>
        <p:nvSpPr>
          <p:cNvPr id="3" name="文本占位符 2"/>
          <p:cNvSpPr>
            <a:spLocks noGrp="1"/>
          </p:cNvSpPr>
          <p:nvPr>
            <p:ph idx="1"/>
          </p:nvPr>
        </p:nvSpPr>
        <p:spPr/>
        <p:txBody>
          <a:bodyPr>
            <a:normAutofit lnSpcReduction="10000"/>
          </a:bodyPr>
          <a:lstStyle/>
          <a:p>
            <a:pPr>
              <a:lnSpc>
                <a:spcPct val="80000"/>
              </a:lnSpc>
              <a:spcAft>
                <a:spcPts val="1350"/>
              </a:spcAft>
              <a:buNone/>
            </a:pPr>
            <a:r>
              <a:rPr lang="en-US" altLang="zh-CN" sz="2100" dirty="0">
                <a:latin typeface="+mn-ea"/>
              </a:rPr>
              <a:t>1</a:t>
            </a:r>
            <a:r>
              <a:rPr lang="zh-CN" altLang="en-US" sz="2100" dirty="0">
                <a:latin typeface="+mn-ea"/>
              </a:rPr>
              <a:t>、</a:t>
            </a:r>
            <a:r>
              <a:rPr lang="zh-CN" altLang="en-US" sz="2100" dirty="0">
                <a:latin typeface="宋体" panose="02010600030101010101" pitchFamily="2" charset="-122"/>
              </a:rPr>
              <a:t>对象的符号</a:t>
            </a:r>
            <a:endParaRPr lang="zh-CN" altLang="en-US" sz="1800" dirty="0">
              <a:latin typeface="宋体" panose="02010600030101010101" pitchFamily="2" charset="-122"/>
            </a:endParaRPr>
          </a:p>
          <a:p>
            <a:pPr>
              <a:lnSpc>
                <a:spcPct val="80000"/>
              </a:lnSpc>
              <a:buFontTx/>
              <a:buNone/>
            </a:pPr>
            <a:r>
              <a:rPr lang="zh-CN" altLang="en-US" sz="1800" dirty="0">
                <a:latin typeface="宋体" panose="02010600030101010101" pitchFamily="2" charset="-122"/>
              </a:rPr>
              <a:t>  时序图中的每个对象显示在单独的列里。</a:t>
            </a:r>
            <a:endParaRPr lang="en-US" altLang="zh-CN" sz="1800" dirty="0">
              <a:latin typeface="宋体" panose="02010600030101010101" pitchFamily="2" charset="-122"/>
            </a:endParaRPr>
          </a:p>
          <a:p>
            <a:pPr>
              <a:lnSpc>
                <a:spcPct val="80000"/>
              </a:lnSpc>
              <a:buFontTx/>
              <a:buNone/>
            </a:pPr>
            <a:endParaRPr lang="en-US" altLang="zh-CN" sz="1800" dirty="0">
              <a:latin typeface="宋体" panose="02010600030101010101" pitchFamily="2" charset="-122"/>
            </a:endParaRPr>
          </a:p>
          <a:p>
            <a:pPr>
              <a:lnSpc>
                <a:spcPct val="80000"/>
              </a:lnSpc>
              <a:buFontTx/>
              <a:buNone/>
            </a:pPr>
            <a:endParaRPr lang="en-US" altLang="zh-CN" sz="1800" dirty="0">
              <a:latin typeface="宋体" panose="02010600030101010101" pitchFamily="2" charset="-122"/>
            </a:endParaRPr>
          </a:p>
          <a:p>
            <a:pPr>
              <a:lnSpc>
                <a:spcPct val="80000"/>
              </a:lnSpc>
              <a:buFontTx/>
              <a:buNone/>
            </a:pPr>
            <a:endParaRPr lang="en-US" altLang="zh-CN" sz="1800" dirty="0">
              <a:latin typeface="宋体" panose="02010600030101010101" pitchFamily="2" charset="-122"/>
            </a:endParaRPr>
          </a:p>
          <a:p>
            <a:pPr marL="0" indent="0">
              <a:spcBef>
                <a:spcPct val="50000"/>
              </a:spcBef>
              <a:buNone/>
            </a:pPr>
            <a:r>
              <a:rPr lang="en-US" altLang="zh-CN" sz="2100" dirty="0"/>
              <a:t>2</a:t>
            </a:r>
            <a:r>
              <a:rPr lang="zh-CN" altLang="en-US" sz="2100" dirty="0"/>
              <a:t>、对象的左右排列位置</a:t>
            </a:r>
            <a:endParaRPr lang="zh-CN" altLang="en-US" sz="2100" dirty="0"/>
          </a:p>
          <a:p>
            <a:pPr marL="0" indent="0">
              <a:spcBef>
                <a:spcPts val="450"/>
              </a:spcBef>
              <a:buNone/>
            </a:pPr>
            <a:r>
              <a:rPr lang="zh-CN" altLang="en-US" sz="1800" dirty="0"/>
              <a:t>       对象的左右顺序并不重要，但是为了图面的清晰整洁起见，通常应遵循以下两个原则：</a:t>
            </a:r>
            <a:endParaRPr lang="zh-CN" altLang="en-US" sz="1800" dirty="0"/>
          </a:p>
          <a:p>
            <a:pPr marL="0" indent="0">
              <a:spcBef>
                <a:spcPts val="450"/>
              </a:spcBef>
              <a:buNone/>
            </a:pPr>
            <a:r>
              <a:rPr lang="zh-CN" altLang="en-US" sz="1800" dirty="0"/>
              <a:t>（</a:t>
            </a:r>
            <a:r>
              <a:rPr lang="en-US" altLang="zh-CN" sz="1800" dirty="0"/>
              <a:t>1</a:t>
            </a:r>
            <a:r>
              <a:rPr lang="zh-CN" altLang="en-US" sz="1800" dirty="0"/>
              <a:t>）把交互频繁的对象尽可能地靠拢。</a:t>
            </a:r>
            <a:endParaRPr lang="zh-CN" altLang="en-US" sz="1800" dirty="0"/>
          </a:p>
          <a:p>
            <a:pPr marL="0" indent="0">
              <a:spcBef>
                <a:spcPts val="450"/>
              </a:spcBef>
              <a:buNone/>
            </a:pPr>
            <a:r>
              <a:rPr lang="zh-CN" altLang="en-US" sz="1800" dirty="0"/>
              <a:t>（</a:t>
            </a:r>
            <a:r>
              <a:rPr lang="en-US" altLang="zh-CN" sz="1800" dirty="0"/>
              <a:t>2</a:t>
            </a:r>
            <a:r>
              <a:rPr lang="zh-CN" altLang="en-US" sz="1800" dirty="0"/>
              <a:t>）把初始化整个交互活动的对象（有时是一个参与者）放置在最左边。</a:t>
            </a:r>
            <a:endParaRPr lang="zh-CN" altLang="en-US" sz="1800" dirty="0"/>
          </a:p>
        </p:txBody>
      </p:sp>
      <p:sp>
        <p:nvSpPr>
          <p:cNvPr id="5" name="日期占位符 4"/>
          <p:cNvSpPr>
            <a:spLocks noGrp="1"/>
          </p:cNvSpPr>
          <p:nvPr>
            <p:ph type="dt" sz="half" idx="10"/>
          </p:nvPr>
        </p:nvSpPr>
        <p:spPr/>
        <p:txBody>
          <a:bodyPr/>
          <a:lstStyle/>
          <a:p>
            <a:fld id="{BD906A3F-79F8-4C87-A74D-DB9E0A801688}"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grpSp>
        <p:nvGrpSpPr>
          <p:cNvPr id="4" name="组合 3"/>
          <p:cNvGrpSpPr/>
          <p:nvPr/>
        </p:nvGrpSpPr>
        <p:grpSpPr>
          <a:xfrm>
            <a:off x="2106512" y="1950157"/>
            <a:ext cx="5156001" cy="1022157"/>
            <a:chOff x="989320" y="2985831"/>
            <a:chExt cx="6874668" cy="1362876"/>
          </a:xfrm>
        </p:grpSpPr>
        <p:pic>
          <p:nvPicPr>
            <p:cNvPr id="210948" name="Picture 4"/>
            <p:cNvPicPr>
              <a:picLocks noChangeAspect="1" noChangeArrowheads="1"/>
            </p:cNvPicPr>
            <p:nvPr/>
          </p:nvPicPr>
          <p:blipFill>
            <a:blip r:embed="rId1" cstate="print"/>
            <a:srcRect/>
            <a:stretch>
              <a:fillRect/>
            </a:stretch>
          </p:blipFill>
          <p:spPr bwMode="auto">
            <a:xfrm>
              <a:off x="3221345" y="2985831"/>
              <a:ext cx="2376487" cy="827088"/>
            </a:xfrm>
            <a:prstGeom prst="rect">
              <a:avLst/>
            </a:prstGeom>
            <a:noFill/>
          </p:spPr>
        </p:pic>
        <p:pic>
          <p:nvPicPr>
            <p:cNvPr id="210949" name="Picture 5"/>
            <p:cNvPicPr>
              <a:picLocks noChangeAspect="1" noChangeArrowheads="1"/>
            </p:cNvPicPr>
            <p:nvPr/>
          </p:nvPicPr>
          <p:blipFill>
            <a:blip r:embed="rId2" cstate="print"/>
            <a:srcRect/>
            <a:stretch>
              <a:fillRect/>
            </a:stretch>
          </p:blipFill>
          <p:spPr bwMode="auto">
            <a:xfrm>
              <a:off x="989320" y="3011231"/>
              <a:ext cx="1728787" cy="781050"/>
            </a:xfrm>
            <a:prstGeom prst="rect">
              <a:avLst/>
            </a:prstGeom>
            <a:noFill/>
          </p:spPr>
        </p:pic>
        <p:pic>
          <p:nvPicPr>
            <p:cNvPr id="210950" name="Picture 6"/>
            <p:cNvPicPr>
              <a:picLocks noChangeAspect="1" noChangeArrowheads="1"/>
            </p:cNvPicPr>
            <p:nvPr/>
          </p:nvPicPr>
          <p:blipFill>
            <a:blip r:embed="rId3" cstate="print"/>
            <a:srcRect/>
            <a:stretch>
              <a:fillRect/>
            </a:stretch>
          </p:blipFill>
          <p:spPr bwMode="auto">
            <a:xfrm>
              <a:off x="6101070" y="3011231"/>
              <a:ext cx="1655763" cy="785813"/>
            </a:xfrm>
            <a:prstGeom prst="rect">
              <a:avLst/>
            </a:prstGeom>
            <a:noFill/>
          </p:spPr>
        </p:pic>
        <p:sp>
          <p:nvSpPr>
            <p:cNvPr id="210951" name="Text Box 7"/>
            <p:cNvSpPr txBox="1">
              <a:spLocks noChangeArrowheads="1"/>
            </p:cNvSpPr>
            <p:nvPr/>
          </p:nvSpPr>
          <p:spPr bwMode="auto">
            <a:xfrm>
              <a:off x="5993913" y="3856264"/>
              <a:ext cx="1870075" cy="492443"/>
            </a:xfrm>
            <a:prstGeom prst="rect">
              <a:avLst/>
            </a:prstGeom>
            <a:noFill/>
            <a:ln w="9525">
              <a:noFill/>
              <a:miter lim="800000"/>
            </a:ln>
            <a:effectLst/>
          </p:spPr>
          <p:txBody>
            <a:bodyPr>
              <a:spAutoFit/>
            </a:bodyPr>
            <a:lstStyle/>
            <a:p>
              <a:pPr algn="ctr"/>
              <a:r>
                <a:rPr lang="zh-CN" altLang="en-US" dirty="0">
                  <a:solidFill>
                    <a:srgbClr val="FF0000"/>
                  </a:solidFill>
                </a:rPr>
                <a:t>匿名对象</a:t>
              </a:r>
              <a:endParaRPr lang="zh-CN" altLang="en-US" dirty="0">
                <a:solidFill>
                  <a:srgbClr val="FF0000"/>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up)">
                                      <p:cBhvr>
                                        <p:cTn id="11" dur="500"/>
                                        <p:tgtEl>
                                          <p:spTgt spid="3">
                                            <p:txEl>
                                              <p:pRg st="1" end="1"/>
                                            </p:txEl>
                                          </p:spTgt>
                                        </p:tgtEl>
                                      </p:cBhvr>
                                    </p:animEffect>
                                  </p:childTnLst>
                                </p:cTn>
                              </p:par>
                            </p:childTnLst>
                          </p:cTn>
                        </p:par>
                        <p:par>
                          <p:cTn id="12" fill="hold">
                            <p:stCondLst>
                              <p:cond delay="1000"/>
                            </p:stCondLst>
                            <p:childTnLst>
                              <p:par>
                                <p:cTn id="13" presetID="14" presetClass="entr" presetSubtype="1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randombar(horizontal)">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wipe(up)">
                                      <p:cBhvr>
                                        <p:cTn id="20" dur="500"/>
                                        <p:tgtEl>
                                          <p:spTgt spid="3">
                                            <p:txEl>
                                              <p:pRg st="5" end="5"/>
                                            </p:txEl>
                                          </p:spTgt>
                                        </p:tgtEl>
                                      </p:cBhvr>
                                    </p:animEffect>
                                  </p:childTnLst>
                                </p:cTn>
                              </p:par>
                            </p:childTnLst>
                          </p:cTn>
                        </p:par>
                        <p:par>
                          <p:cTn id="21" fill="hold">
                            <p:stCondLst>
                              <p:cond delay="500"/>
                            </p:stCondLst>
                            <p:childTnLst>
                              <p:par>
                                <p:cTn id="22" presetID="22" presetClass="entr" presetSubtype="1" fill="hold" grpId="0" nodeType="after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wipe(up)">
                                      <p:cBhvr>
                                        <p:cTn id="24" dur="500"/>
                                        <p:tgtEl>
                                          <p:spTgt spid="3">
                                            <p:txEl>
                                              <p:pRg st="6" end="6"/>
                                            </p:txEl>
                                          </p:spTgt>
                                        </p:tgtEl>
                                      </p:cBhvr>
                                    </p:animEffect>
                                  </p:childTnLst>
                                </p:cTn>
                              </p:par>
                            </p:childTnLst>
                          </p:cTn>
                        </p:par>
                        <p:par>
                          <p:cTn id="25" fill="hold">
                            <p:stCondLst>
                              <p:cond delay="1000"/>
                            </p:stCondLst>
                            <p:childTnLst>
                              <p:par>
                                <p:cTn id="26" presetID="22" presetClass="entr" presetSubtype="1" fill="hold" grpId="0" nodeType="after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up)">
                                      <p:cBhvr>
                                        <p:cTn id="28" dur="500"/>
                                        <p:tgtEl>
                                          <p:spTgt spid="3">
                                            <p:txEl>
                                              <p:pRg st="7" end="7"/>
                                            </p:txEl>
                                          </p:spTgt>
                                        </p:tgtEl>
                                      </p:cBhvr>
                                    </p:animEffect>
                                  </p:childTnLst>
                                </p:cTn>
                              </p:par>
                            </p:childTnLst>
                          </p:cTn>
                        </p:par>
                        <p:par>
                          <p:cTn id="29" fill="hold">
                            <p:stCondLst>
                              <p:cond delay="1500"/>
                            </p:stCondLst>
                            <p:childTnLst>
                              <p:par>
                                <p:cTn id="30" presetID="22" presetClass="entr" presetSubtype="1" fill="hold" grpId="0" nodeType="after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wipe(up)">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5" name="Text Box 3"/>
          <p:cNvSpPr txBox="1">
            <a:spLocks noChangeArrowheads="1"/>
          </p:cNvSpPr>
          <p:nvPr/>
        </p:nvSpPr>
        <p:spPr bwMode="auto">
          <a:xfrm>
            <a:off x="869795" y="893263"/>
            <a:ext cx="7393259" cy="3170099"/>
          </a:xfrm>
          <a:prstGeom prst="rect">
            <a:avLst/>
          </a:prstGeom>
          <a:noFill/>
          <a:ln w="9525">
            <a:noFill/>
            <a:miter lim="800000"/>
          </a:ln>
          <a:effectLst/>
        </p:spPr>
        <p:txBody>
          <a:bodyPr wrap="square">
            <a:spAutoFit/>
          </a:bodyPr>
          <a:lstStyle/>
          <a:p>
            <a:r>
              <a:rPr lang="zh-CN" altLang="en-US" sz="2000" dirty="0">
                <a:latin typeface="+mj-ea"/>
                <a:ea typeface="+mj-ea"/>
              </a:rPr>
              <a:t>二、生命线（</a:t>
            </a:r>
            <a:r>
              <a:rPr lang="en-US" altLang="zh-CN" sz="2000" dirty="0">
                <a:latin typeface="+mj-ea"/>
                <a:ea typeface="+mj-ea"/>
              </a:rPr>
              <a:t>lifeline</a:t>
            </a:r>
            <a:r>
              <a:rPr lang="zh-CN" altLang="en-US" sz="2000" dirty="0">
                <a:latin typeface="+mj-ea"/>
                <a:ea typeface="+mj-ea"/>
              </a:rPr>
              <a:t>）</a:t>
            </a:r>
            <a:endParaRPr lang="zh-CN" altLang="en-US" sz="2000" dirty="0">
              <a:latin typeface="+mj-ea"/>
              <a:ea typeface="+mj-ea"/>
            </a:endParaRPr>
          </a:p>
          <a:p>
            <a:endParaRPr lang="zh-CN" altLang="en-US" sz="2000" dirty="0">
              <a:latin typeface="+mj-ea"/>
              <a:ea typeface="+mj-ea"/>
            </a:endParaRPr>
          </a:p>
          <a:p>
            <a:r>
              <a:rPr lang="zh-CN" altLang="en-US" sz="2000" dirty="0">
                <a:latin typeface="+mj-ea"/>
                <a:ea typeface="+mj-ea"/>
              </a:rPr>
              <a:t>表示对象的生存时间。生命线从对象创建开始到对象销毁时终止。</a:t>
            </a:r>
            <a:endParaRPr lang="en-US" altLang="zh-CN" sz="2000" dirty="0">
              <a:latin typeface="+mj-ea"/>
              <a:ea typeface="+mj-ea"/>
            </a:endParaRPr>
          </a:p>
          <a:p>
            <a:endParaRPr lang="en-US" altLang="zh-CN" sz="2000" dirty="0">
              <a:latin typeface="+mj-ea"/>
              <a:ea typeface="+mj-ea"/>
            </a:endParaRPr>
          </a:p>
          <a:p>
            <a:endParaRPr lang="en-US" altLang="zh-CN" sz="2000" dirty="0">
              <a:latin typeface="+mj-ea"/>
              <a:ea typeface="+mj-ea"/>
            </a:endParaRPr>
          </a:p>
          <a:p>
            <a:endParaRPr lang="en-US" altLang="zh-CN" sz="2000" dirty="0">
              <a:latin typeface="+mj-ea"/>
              <a:ea typeface="+mj-ea"/>
            </a:endParaRPr>
          </a:p>
          <a:p>
            <a:endParaRPr lang="en-US" altLang="zh-CN" sz="2000" dirty="0">
              <a:latin typeface="+mj-ea"/>
              <a:ea typeface="+mj-ea"/>
            </a:endParaRPr>
          </a:p>
          <a:p>
            <a:endParaRPr lang="en-US" altLang="zh-CN" sz="2000" dirty="0">
              <a:latin typeface="+mj-ea"/>
              <a:ea typeface="+mj-ea"/>
            </a:endParaRPr>
          </a:p>
          <a:p>
            <a:endParaRPr lang="en-US" altLang="zh-CN" sz="2000" dirty="0">
              <a:latin typeface="+mj-ea"/>
              <a:ea typeface="+mj-ea"/>
            </a:endParaRPr>
          </a:p>
          <a:p>
            <a:endParaRPr lang="zh-CN" altLang="en-US" sz="2000" dirty="0">
              <a:latin typeface="+mj-ea"/>
              <a:ea typeface="+mj-ea"/>
            </a:endParaRPr>
          </a:p>
        </p:txBody>
      </p:sp>
      <p:pic>
        <p:nvPicPr>
          <p:cNvPr id="156681" name="Picture 9"/>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5862542" y="1849007"/>
            <a:ext cx="1074367" cy="859112"/>
          </a:xfrm>
          <a:prstGeom prst="rect">
            <a:avLst/>
          </a:prstGeom>
          <a:noFill/>
        </p:spPr>
      </p:pic>
      <p:sp>
        <p:nvSpPr>
          <p:cNvPr id="156682" name="Text Box 10"/>
          <p:cNvSpPr txBox="1">
            <a:spLocks noChangeArrowheads="1"/>
          </p:cNvSpPr>
          <p:nvPr/>
        </p:nvSpPr>
        <p:spPr bwMode="auto">
          <a:xfrm>
            <a:off x="995164" y="2133221"/>
            <a:ext cx="4123246" cy="1723549"/>
          </a:xfrm>
          <a:prstGeom prst="rect">
            <a:avLst/>
          </a:prstGeom>
          <a:noFill/>
          <a:ln w="9525">
            <a:noFill/>
            <a:miter lim="800000"/>
          </a:ln>
          <a:effectLst/>
        </p:spPr>
        <p:txBody>
          <a:bodyPr wrap="square">
            <a:spAutoFit/>
          </a:bodyPr>
          <a:lstStyle/>
          <a:p>
            <a:pPr marL="257175" indent="-257175" eaLnBrk="0" hangingPunct="0">
              <a:lnSpc>
                <a:spcPct val="90000"/>
              </a:lnSpc>
              <a:spcBef>
                <a:spcPct val="20000"/>
              </a:spcBef>
              <a:buFont typeface="Arial" panose="020B0604020202020204" pitchFamily="34" charset="0"/>
              <a:buChar char="•"/>
            </a:pPr>
            <a:r>
              <a:rPr lang="zh-CN" altLang="en-US" sz="2000" dirty="0">
                <a:latin typeface="+mj-ea"/>
                <a:ea typeface="+mj-ea"/>
              </a:rPr>
              <a:t>对象在生命线上的两种状态：</a:t>
            </a:r>
            <a:endParaRPr lang="zh-CN" altLang="en-US" sz="2000" dirty="0">
              <a:latin typeface="+mj-ea"/>
              <a:ea typeface="+mj-ea"/>
            </a:endParaRPr>
          </a:p>
          <a:p>
            <a:pPr eaLnBrk="0" hangingPunct="0">
              <a:lnSpc>
                <a:spcPct val="90000"/>
              </a:lnSpc>
              <a:spcBef>
                <a:spcPct val="20000"/>
              </a:spcBef>
            </a:pPr>
            <a:endParaRPr lang="zh-CN" altLang="en-US" sz="2000" dirty="0">
              <a:latin typeface="+mj-ea"/>
              <a:ea typeface="+mj-ea"/>
            </a:endParaRPr>
          </a:p>
          <a:p>
            <a:pPr marL="342900" indent="-342900" eaLnBrk="0" hangingPunct="0">
              <a:lnSpc>
                <a:spcPct val="90000"/>
              </a:lnSpc>
              <a:spcBef>
                <a:spcPct val="20000"/>
              </a:spcBef>
              <a:buFont typeface="+mj-lt"/>
              <a:buAutoNum type="arabicPeriod"/>
            </a:pPr>
            <a:r>
              <a:rPr lang="zh-CN" altLang="en-US" sz="2000" dirty="0">
                <a:latin typeface="+mj-ea"/>
                <a:ea typeface="+mj-ea"/>
              </a:rPr>
              <a:t>休眠状态</a:t>
            </a:r>
            <a:endParaRPr lang="zh-CN" altLang="en-US" sz="2000" dirty="0">
              <a:latin typeface="+mj-ea"/>
              <a:ea typeface="+mj-ea"/>
            </a:endParaRPr>
          </a:p>
          <a:p>
            <a:pPr marL="342900" indent="-342900" eaLnBrk="0" hangingPunct="0">
              <a:lnSpc>
                <a:spcPct val="90000"/>
              </a:lnSpc>
              <a:spcBef>
                <a:spcPct val="20000"/>
              </a:spcBef>
              <a:buFont typeface="+mj-lt"/>
              <a:buAutoNum type="arabicPeriod"/>
            </a:pPr>
            <a:endParaRPr lang="zh-CN" altLang="en-US" sz="2000" dirty="0">
              <a:latin typeface="+mj-ea"/>
              <a:ea typeface="+mj-ea"/>
            </a:endParaRPr>
          </a:p>
          <a:p>
            <a:pPr marL="342900" indent="-342900" eaLnBrk="0" hangingPunct="0">
              <a:lnSpc>
                <a:spcPct val="90000"/>
              </a:lnSpc>
              <a:spcBef>
                <a:spcPct val="20000"/>
              </a:spcBef>
              <a:buFont typeface="+mj-lt"/>
              <a:buAutoNum type="arabicPeriod"/>
            </a:pPr>
            <a:r>
              <a:rPr lang="zh-CN" altLang="en-US" sz="2000" dirty="0">
                <a:latin typeface="+mj-ea"/>
                <a:ea typeface="+mj-ea"/>
              </a:rPr>
              <a:t>激活状态</a:t>
            </a:r>
            <a:endParaRPr lang="zh-CN" altLang="en-US" sz="2000" dirty="0">
              <a:latin typeface="+mj-ea"/>
              <a:ea typeface="+mj-ea"/>
            </a:endParaRPr>
          </a:p>
        </p:txBody>
      </p:sp>
      <p:sp>
        <p:nvSpPr>
          <p:cNvPr id="7" name="标题 6"/>
          <p:cNvSpPr>
            <a:spLocks noGrp="1"/>
          </p:cNvSpPr>
          <p:nvPr>
            <p:ph type="title"/>
          </p:nvPr>
        </p:nvSpPr>
        <p:spPr/>
        <p:txBody>
          <a:bodyPr/>
          <a:lstStyle/>
          <a:p>
            <a:r>
              <a:rPr lang="zh-CN" altLang="en-US" dirty="0">
                <a:latin typeface="宋体" panose="02010600030101010101" pitchFamily="2" charset="-122"/>
              </a:rPr>
              <a:t>时序图的</a:t>
            </a:r>
            <a:r>
              <a:rPr lang="zh-CN" altLang="en-US" dirty="0" smtClean="0">
                <a:latin typeface="宋体" panose="02010600030101010101" pitchFamily="2" charset="-122"/>
              </a:rPr>
              <a:t>组成</a:t>
            </a:r>
            <a:endParaRPr lang="zh-CN" altLang="en-US" dirty="0"/>
          </a:p>
        </p:txBody>
      </p:sp>
      <p:sp>
        <p:nvSpPr>
          <p:cNvPr id="4" name="日期占位符 3"/>
          <p:cNvSpPr>
            <a:spLocks noGrp="1"/>
          </p:cNvSpPr>
          <p:nvPr>
            <p:ph type="dt" sz="half" idx="10"/>
          </p:nvPr>
        </p:nvSpPr>
        <p:spPr/>
        <p:txBody>
          <a:bodyPr/>
          <a:lstStyle/>
          <a:p>
            <a:fld id="{F11B273F-3B76-4798-B9C4-D43501A3F89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8" name="Picture 8"/>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4536398" y="2740294"/>
            <a:ext cx="3726656" cy="1888331"/>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56675">
                                            <p:txEl>
                                              <p:pRg st="0" end="0"/>
                                            </p:txEl>
                                          </p:spTgt>
                                        </p:tgtEl>
                                        <p:attrNameLst>
                                          <p:attrName>style.visibility</p:attrName>
                                        </p:attrNameLst>
                                      </p:cBhvr>
                                      <p:to>
                                        <p:strVal val="visible"/>
                                      </p:to>
                                    </p:set>
                                    <p:animEffect transition="in" filter="wipe(up)">
                                      <p:cBhvr>
                                        <p:cTn id="7" dur="500"/>
                                        <p:tgtEl>
                                          <p:spTgt spid="1566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6675">
                                            <p:txEl>
                                              <p:pRg st="2" end="2"/>
                                            </p:txEl>
                                          </p:spTgt>
                                        </p:tgtEl>
                                        <p:attrNameLst>
                                          <p:attrName>style.visibility</p:attrName>
                                        </p:attrNameLst>
                                      </p:cBhvr>
                                      <p:to>
                                        <p:strVal val="visible"/>
                                      </p:to>
                                    </p:set>
                                    <p:animEffect transition="in" filter="wipe(up)">
                                      <p:cBhvr>
                                        <p:cTn id="12" dur="500"/>
                                        <p:tgtEl>
                                          <p:spTgt spid="15667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56681"/>
                                        </p:tgtEl>
                                        <p:attrNameLst>
                                          <p:attrName>style.visibility</p:attrName>
                                        </p:attrNameLst>
                                      </p:cBhvr>
                                      <p:to>
                                        <p:strVal val="visible"/>
                                      </p:to>
                                    </p:set>
                                    <p:animEffect transition="in" filter="randombar(horizontal)">
                                      <p:cBhvr>
                                        <p:cTn id="17" dur="500"/>
                                        <p:tgtEl>
                                          <p:spTgt spid="15668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56682">
                                            <p:txEl>
                                              <p:pRg st="0" end="0"/>
                                            </p:txEl>
                                          </p:spTgt>
                                        </p:tgtEl>
                                        <p:attrNameLst>
                                          <p:attrName>style.visibility</p:attrName>
                                        </p:attrNameLst>
                                      </p:cBhvr>
                                      <p:to>
                                        <p:strVal val="visible"/>
                                      </p:to>
                                    </p:set>
                                    <p:animEffect transition="in" filter="wipe(up)">
                                      <p:cBhvr>
                                        <p:cTn id="22" dur="500"/>
                                        <p:tgtEl>
                                          <p:spTgt spid="15668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56682">
                                            <p:txEl>
                                              <p:pRg st="2" end="2"/>
                                            </p:txEl>
                                          </p:spTgt>
                                        </p:tgtEl>
                                        <p:attrNameLst>
                                          <p:attrName>style.visibility</p:attrName>
                                        </p:attrNameLst>
                                      </p:cBhvr>
                                      <p:to>
                                        <p:strVal val="visible"/>
                                      </p:to>
                                    </p:set>
                                    <p:animEffect transition="in" filter="wipe(up)">
                                      <p:cBhvr>
                                        <p:cTn id="27" dur="500"/>
                                        <p:tgtEl>
                                          <p:spTgt spid="15668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56682">
                                            <p:txEl>
                                              <p:pRg st="4" end="4"/>
                                            </p:txEl>
                                          </p:spTgt>
                                        </p:tgtEl>
                                        <p:attrNameLst>
                                          <p:attrName>style.visibility</p:attrName>
                                        </p:attrNameLst>
                                      </p:cBhvr>
                                      <p:to>
                                        <p:strVal val="visible"/>
                                      </p:to>
                                    </p:set>
                                    <p:animEffect transition="in" filter="wipe(up)">
                                      <p:cBhvr>
                                        <p:cTn id="32" dur="500"/>
                                        <p:tgtEl>
                                          <p:spTgt spid="15668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randombar(horizontal)">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build="p"/>
      <p:bldP spid="156682"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prstGeom prst="rect">
            <a:avLst/>
          </a:prstGeom>
        </p:spPr>
        <p:txBody>
          <a:bodyPr>
            <a:normAutofit/>
          </a:bodyPr>
          <a:lstStyle/>
          <a:p>
            <a:pPr algn="l"/>
            <a:r>
              <a:rPr lang="zh-CN" altLang="en-US" dirty="0">
                <a:latin typeface="宋体" panose="02010600030101010101" pitchFamily="2" charset="-122"/>
              </a:rPr>
              <a:t>三、消息</a:t>
            </a:r>
            <a:endParaRPr lang="zh-CN" altLang="en-US" dirty="0">
              <a:latin typeface="宋体" panose="02010600030101010101" pitchFamily="2" charset="-122"/>
            </a:endParaRPr>
          </a:p>
        </p:txBody>
      </p:sp>
      <p:sp>
        <p:nvSpPr>
          <p:cNvPr id="3" name="文本占位符 2"/>
          <p:cNvSpPr>
            <a:spLocks noGrp="1"/>
          </p:cNvSpPr>
          <p:nvPr>
            <p:ph idx="1"/>
          </p:nvPr>
        </p:nvSpPr>
        <p:spPr>
          <a:xfrm>
            <a:off x="768097" y="1048215"/>
            <a:ext cx="7832833" cy="3683806"/>
          </a:xfrm>
        </p:spPr>
        <p:txBody>
          <a:bodyPr>
            <a:normAutofit/>
          </a:bodyPr>
          <a:lstStyle/>
          <a:p>
            <a:pPr>
              <a:lnSpc>
                <a:spcPct val="120000"/>
              </a:lnSpc>
              <a:buNone/>
            </a:pPr>
            <a:r>
              <a:rPr lang="en-US" altLang="zh-CN" sz="2400" dirty="0">
                <a:latin typeface="宋体" panose="02010600030101010101" pitchFamily="2" charset="-122"/>
              </a:rPr>
              <a:t>1</a:t>
            </a:r>
            <a:r>
              <a:rPr lang="zh-CN" altLang="en-US" sz="2400" dirty="0">
                <a:latin typeface="宋体" panose="02010600030101010101" pitchFamily="2" charset="-122"/>
              </a:rPr>
              <a:t>、消息的概念</a:t>
            </a:r>
            <a:endParaRPr lang="zh-CN" altLang="en-US" sz="2400" dirty="0">
              <a:latin typeface="宋体" panose="02010600030101010101" pitchFamily="2" charset="-122"/>
            </a:endParaRPr>
          </a:p>
          <a:p>
            <a:pPr>
              <a:lnSpc>
                <a:spcPct val="120000"/>
              </a:lnSpc>
              <a:buNone/>
            </a:pPr>
            <a:r>
              <a:rPr lang="zh-CN" altLang="en-US" sz="2400" dirty="0">
                <a:latin typeface="宋体" panose="02010600030101010101" pitchFamily="2" charset="-122"/>
              </a:rPr>
              <a:t>     对象之间的交互是通过互发消息来实现的。一个对象可以请求（要求）另一个对象做某件事件。</a:t>
            </a:r>
            <a:endParaRPr lang="zh-CN" altLang="en-US" sz="2400" dirty="0">
              <a:latin typeface="宋体" panose="02010600030101010101" pitchFamily="2" charset="-122"/>
            </a:endParaRPr>
          </a:p>
        </p:txBody>
      </p:sp>
      <p:sp>
        <p:nvSpPr>
          <p:cNvPr id="4" name="日期占位符 3"/>
          <p:cNvSpPr>
            <a:spLocks noGrp="1"/>
          </p:cNvSpPr>
          <p:nvPr>
            <p:ph type="dt" sz="half" idx="10"/>
          </p:nvPr>
        </p:nvSpPr>
        <p:spPr/>
        <p:txBody>
          <a:bodyPr/>
          <a:lstStyle/>
          <a:p>
            <a:fld id="{DA315E9E-1287-425F-9468-2C39AC613486}" type="datetime1">
              <a:rPr lang="zh-CN" altLang="en-US" smtClean="0"/>
            </a:fld>
            <a:endParaRPr lang="zh-CN" altLang="en-US"/>
          </a:p>
        </p:txBody>
      </p:sp>
      <p:sp>
        <p:nvSpPr>
          <p:cNvPr id="5" name="页脚占位符 4"/>
          <p:cNvSpPr>
            <a:spLocks noGrp="1"/>
          </p:cNvSpPr>
          <p:nvPr>
            <p:ph type="ftr" sz="quarter" idx="11"/>
          </p:nvPr>
        </p:nvSpPr>
        <p:spPr>
          <a:prstGeom prst="rect">
            <a:avLst/>
          </a:prstGeom>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a:prstGeom prst="rect">
            <a:avLst/>
          </a:prstGeom>
        </p:spPr>
        <p:txBody>
          <a:bodyPr/>
          <a:lstStyle/>
          <a:p>
            <a:fld id="{0C913308-F349-4B6D-A68A-DD1791B4A57B}" type="slidenum">
              <a:rPr lang="zh-CN" altLang="en-US" smtClean="0"/>
            </a:fld>
            <a:endParaRPr lang="zh-CN" altLang="en-US" dirty="0"/>
          </a:p>
        </p:txBody>
      </p:sp>
      <p:sp>
        <p:nvSpPr>
          <p:cNvPr id="74766" name="Rectangle 14"/>
          <p:cNvSpPr>
            <a:spLocks noChangeArrowheads="1"/>
          </p:cNvSpPr>
          <p:nvPr/>
        </p:nvSpPr>
        <p:spPr bwMode="auto">
          <a:xfrm>
            <a:off x="869505" y="2828594"/>
            <a:ext cx="7731425" cy="760616"/>
          </a:xfrm>
          <a:prstGeom prst="rect">
            <a:avLst/>
          </a:prstGeom>
          <a:noFill/>
          <a:ln w="9525">
            <a:noFill/>
            <a:miter lim="800000"/>
          </a:ln>
        </p:spPr>
        <p:txBody>
          <a:bodyPr lIns="35100" rIns="35100"/>
          <a:lstStyle/>
          <a:p>
            <a:pPr marL="257175" indent="-257175" defTabSz="0" eaLnBrk="0" hangingPunct="0">
              <a:lnSpc>
                <a:spcPct val="120000"/>
              </a:lnSpc>
              <a:spcBef>
                <a:spcPct val="20000"/>
              </a:spcBef>
              <a:buFont typeface="Arial" panose="020B0604020202020204" pitchFamily="34" charset="0"/>
              <a:buChar char="•"/>
            </a:pPr>
            <a:r>
              <a:rPr lang="zh-CN" altLang="en-US" sz="2000" dirty="0">
                <a:latin typeface="+mj-ea"/>
                <a:ea typeface="+mj-ea"/>
              </a:rPr>
              <a:t>消息从源对象指向目标对象。消息一旦发送便将控制从源对象转移到目标对象。</a:t>
            </a:r>
            <a:endParaRPr lang="zh-CN" altLang="en-US" sz="20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4754"/>
                                        </p:tgtEl>
                                        <p:attrNameLst>
                                          <p:attrName>style.visibility</p:attrName>
                                        </p:attrNameLst>
                                      </p:cBhvr>
                                      <p:to>
                                        <p:strVal val="visible"/>
                                      </p:to>
                                    </p:set>
                                    <p:animEffect transition="in" filter="wipe(down)">
                                      <p:cBhvr>
                                        <p:cTn id="7" dur="500"/>
                                        <p:tgtEl>
                                          <p:spTgt spid="747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500"/>
                                        <p:tgtEl>
                                          <p:spTgt spid="3">
                                            <p:txEl>
                                              <p:pRg st="0" end="0"/>
                                            </p:txEl>
                                          </p:spTgt>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wipe(up)">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74766"/>
                                        </p:tgtEl>
                                        <p:attrNameLst>
                                          <p:attrName>style.visibility</p:attrName>
                                        </p:attrNameLst>
                                      </p:cBhvr>
                                      <p:to>
                                        <p:strVal val="visible"/>
                                      </p:to>
                                    </p:set>
                                    <p:animEffect transition="in" filter="wipe(up)">
                                      <p:cBhvr>
                                        <p:cTn id="21" dur="500"/>
                                        <p:tgtEl>
                                          <p:spTgt spid="74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p:bldP spid="3" grpId="0" build="p"/>
      <p:bldP spid="7476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9" name="Text Box 5"/>
          <p:cNvSpPr txBox="1">
            <a:spLocks noChangeArrowheads="1"/>
          </p:cNvSpPr>
          <p:nvPr/>
        </p:nvSpPr>
        <p:spPr bwMode="auto">
          <a:xfrm>
            <a:off x="1859252" y="3412766"/>
            <a:ext cx="5347097" cy="369332"/>
          </a:xfrm>
          <a:prstGeom prst="rect">
            <a:avLst/>
          </a:prstGeom>
          <a:noFill/>
          <a:ln w="9525">
            <a:noFill/>
            <a:miter lim="800000"/>
          </a:ln>
          <a:effectLst/>
        </p:spPr>
        <p:txBody>
          <a:bodyPr>
            <a:spAutoFit/>
          </a:bodyPr>
          <a:lstStyle/>
          <a:p>
            <a:pPr>
              <a:spcBef>
                <a:spcPct val="50000"/>
              </a:spcBef>
            </a:pPr>
            <a:r>
              <a:rPr lang="zh-CN" altLang="en-US" b="1" dirty="0">
                <a:solidFill>
                  <a:srgbClr val="FF0000"/>
                </a:solidFill>
              </a:rPr>
              <a:t>时序图中，消息的阅读顺序是严格自上而下的</a:t>
            </a:r>
            <a:endParaRPr lang="zh-CN" altLang="en-US" b="1" dirty="0">
              <a:solidFill>
                <a:srgbClr val="FF0000"/>
              </a:solidFill>
            </a:endParaRPr>
          </a:p>
        </p:txBody>
      </p:sp>
      <p:pic>
        <p:nvPicPr>
          <p:cNvPr id="159756" name="Picture 12"/>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2521541" y="1192170"/>
            <a:ext cx="3726656" cy="1888331"/>
          </a:xfrm>
          <a:prstGeom prst="rect">
            <a:avLst/>
          </a:prstGeom>
          <a:noFill/>
        </p:spPr>
      </p:pic>
      <p:sp>
        <p:nvSpPr>
          <p:cNvPr id="8" name="标题 7"/>
          <p:cNvSpPr>
            <a:spLocks noGrp="1"/>
          </p:cNvSpPr>
          <p:nvPr>
            <p:ph type="title"/>
          </p:nvPr>
        </p:nvSpPr>
        <p:spPr/>
        <p:txBody>
          <a:bodyPr/>
          <a:lstStyle/>
          <a:p>
            <a:r>
              <a:rPr lang="zh-CN" altLang="en-US" dirty="0">
                <a:latin typeface="宋体" panose="02010600030101010101" pitchFamily="2" charset="-122"/>
              </a:rPr>
              <a:t>时序图的</a:t>
            </a:r>
            <a:r>
              <a:rPr lang="zh-CN" altLang="en-US" dirty="0" smtClean="0">
                <a:latin typeface="宋体" panose="02010600030101010101" pitchFamily="2" charset="-122"/>
              </a:rPr>
              <a:t>组成</a:t>
            </a:r>
            <a:endParaRPr lang="zh-CN" altLang="en-US" dirty="0"/>
          </a:p>
        </p:txBody>
      </p:sp>
      <p:sp>
        <p:nvSpPr>
          <p:cNvPr id="3" name="日期占位符 2"/>
          <p:cNvSpPr>
            <a:spLocks noGrp="1"/>
          </p:cNvSpPr>
          <p:nvPr>
            <p:ph type="dt" sz="half" idx="10"/>
          </p:nvPr>
        </p:nvSpPr>
        <p:spPr/>
        <p:txBody>
          <a:bodyPr/>
          <a:lstStyle/>
          <a:p>
            <a:fld id="{4C968085-8B96-409C-8B90-848BFD95A657}"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9756"/>
                                        </p:tgtEl>
                                        <p:attrNameLst>
                                          <p:attrName>style.visibility</p:attrName>
                                        </p:attrNameLst>
                                      </p:cBhvr>
                                      <p:to>
                                        <p:strVal val="visible"/>
                                      </p:to>
                                    </p:set>
                                    <p:animEffect transition="in" filter="randombar(horizontal)">
                                      <p:cBhvr>
                                        <p:cTn id="7" dur="500"/>
                                        <p:tgtEl>
                                          <p:spTgt spid="159756"/>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59749"/>
                                        </p:tgtEl>
                                        <p:attrNameLst>
                                          <p:attrName>style.visibility</p:attrName>
                                        </p:attrNameLst>
                                      </p:cBhvr>
                                      <p:to>
                                        <p:strVal val="visible"/>
                                      </p:to>
                                    </p:set>
                                    <p:animEffect transition="in" filter="barn(inVertical)">
                                      <p:cBhvr>
                                        <p:cTn id="11" dur="500"/>
                                        <p:tgtEl>
                                          <p:spTgt spid="159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9"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Text Box 3"/>
          <p:cNvSpPr txBox="1">
            <a:spLocks noChangeArrowheads="1"/>
          </p:cNvSpPr>
          <p:nvPr/>
        </p:nvSpPr>
        <p:spPr bwMode="auto">
          <a:xfrm>
            <a:off x="1545547" y="1103885"/>
            <a:ext cx="5831681" cy="400110"/>
          </a:xfrm>
          <a:prstGeom prst="rect">
            <a:avLst/>
          </a:prstGeom>
          <a:noFill/>
          <a:ln w="9525">
            <a:noFill/>
            <a:miter lim="800000"/>
          </a:ln>
          <a:effectLst/>
        </p:spPr>
        <p:txBody>
          <a:bodyPr>
            <a:spAutoFit/>
          </a:bodyPr>
          <a:lstStyle/>
          <a:p>
            <a:pPr eaLnBrk="0" hangingPunct="0">
              <a:spcBef>
                <a:spcPct val="20000"/>
              </a:spcBef>
            </a:pPr>
            <a:r>
              <a:rPr lang="en-US" altLang="zh-CN" sz="2000" dirty="0">
                <a:latin typeface="+mj-ea"/>
                <a:ea typeface="+mj-ea"/>
              </a:rPr>
              <a:t>  2</a:t>
            </a:r>
            <a:r>
              <a:rPr lang="zh-CN" altLang="en-US" sz="2000" dirty="0">
                <a:latin typeface="+mj-ea"/>
                <a:ea typeface="+mj-ea"/>
              </a:rPr>
              <a:t>、消息的类型与符号</a:t>
            </a:r>
            <a:endParaRPr lang="zh-CN" altLang="en-US" sz="2000" dirty="0">
              <a:latin typeface="+mj-ea"/>
              <a:ea typeface="+mj-ea"/>
            </a:endParaRPr>
          </a:p>
        </p:txBody>
      </p:sp>
      <p:pic>
        <p:nvPicPr>
          <p:cNvPr id="120838" name="Picture 6"/>
          <p:cNvPicPr>
            <a:picLocks noChangeAspect="1" noChangeArrowheads="1"/>
          </p:cNvPicPr>
          <p:nvPr/>
        </p:nvPicPr>
        <p:blipFill>
          <a:blip r:embed="rId1" cstate="print">
            <a:clrChange>
              <a:clrFrom>
                <a:srgbClr val="FFFFFF"/>
              </a:clrFrom>
              <a:clrTo>
                <a:srgbClr val="FFFFFF">
                  <a:alpha val="0"/>
                </a:srgbClr>
              </a:clrTo>
            </a:clrChange>
          </a:blip>
          <a:srcRect l="40569" t="42625" r="38977" b="38654"/>
          <a:stretch>
            <a:fillRect/>
          </a:stretch>
        </p:blipFill>
        <p:spPr bwMode="auto">
          <a:xfrm>
            <a:off x="5217435" y="1800420"/>
            <a:ext cx="2430065" cy="1675209"/>
          </a:xfrm>
          <a:prstGeom prst="rect">
            <a:avLst/>
          </a:prstGeom>
          <a:noFill/>
          <a:ln w="9525">
            <a:noFill/>
            <a:miter lim="800000"/>
            <a:headEnd/>
            <a:tailEnd/>
          </a:ln>
        </p:spPr>
      </p:pic>
      <p:sp>
        <p:nvSpPr>
          <p:cNvPr id="120841" name="Text Box 9"/>
          <p:cNvSpPr txBox="1">
            <a:spLocks noChangeArrowheads="1"/>
          </p:cNvSpPr>
          <p:nvPr/>
        </p:nvSpPr>
        <p:spPr bwMode="auto">
          <a:xfrm>
            <a:off x="1706282" y="1983044"/>
            <a:ext cx="3511153" cy="1600438"/>
          </a:xfrm>
          <a:prstGeom prst="rect">
            <a:avLst/>
          </a:prstGeom>
          <a:noFill/>
          <a:ln w="9525">
            <a:noFill/>
            <a:miter lim="800000"/>
          </a:ln>
          <a:effectLst/>
        </p:spPr>
        <p:txBody>
          <a:bodyPr>
            <a:spAutoFit/>
          </a:bodyPr>
          <a:lstStyle/>
          <a:p>
            <a:pPr>
              <a:lnSpc>
                <a:spcPct val="70000"/>
              </a:lnSpc>
            </a:pPr>
            <a:r>
              <a:rPr lang="zh-CN" altLang="en-US" sz="2000" dirty="0">
                <a:latin typeface="+mj-ea"/>
                <a:ea typeface="+mj-ea"/>
              </a:rPr>
              <a:t>简单消息（包括反身消息）</a:t>
            </a:r>
            <a:endParaRPr lang="en-US" altLang="zh-CN" sz="2000" dirty="0">
              <a:latin typeface="+mj-ea"/>
              <a:ea typeface="+mj-ea"/>
            </a:endParaRPr>
          </a:p>
          <a:p>
            <a:pPr>
              <a:lnSpc>
                <a:spcPct val="70000"/>
              </a:lnSpc>
            </a:pPr>
            <a:endParaRPr lang="zh-CN" altLang="en-US" sz="2000" dirty="0">
              <a:latin typeface="+mj-ea"/>
              <a:ea typeface="+mj-ea"/>
            </a:endParaRPr>
          </a:p>
          <a:p>
            <a:pPr>
              <a:lnSpc>
                <a:spcPct val="70000"/>
              </a:lnSpc>
            </a:pPr>
            <a:r>
              <a:rPr lang="zh-CN" altLang="en-US" sz="2000" dirty="0">
                <a:latin typeface="+mj-ea"/>
                <a:ea typeface="+mj-ea"/>
              </a:rPr>
              <a:t>同步消息</a:t>
            </a:r>
            <a:endParaRPr lang="en-US" altLang="zh-CN" sz="2000" dirty="0">
              <a:latin typeface="+mj-ea"/>
              <a:ea typeface="+mj-ea"/>
            </a:endParaRPr>
          </a:p>
          <a:p>
            <a:pPr>
              <a:lnSpc>
                <a:spcPct val="70000"/>
              </a:lnSpc>
            </a:pPr>
            <a:endParaRPr lang="zh-CN" altLang="en-US" sz="2000" dirty="0">
              <a:latin typeface="+mj-ea"/>
              <a:ea typeface="+mj-ea"/>
            </a:endParaRPr>
          </a:p>
          <a:p>
            <a:pPr>
              <a:lnSpc>
                <a:spcPct val="70000"/>
              </a:lnSpc>
            </a:pPr>
            <a:r>
              <a:rPr lang="zh-CN" altLang="en-US" sz="2000" dirty="0">
                <a:latin typeface="+mj-ea"/>
                <a:ea typeface="+mj-ea"/>
              </a:rPr>
              <a:t>异步消息</a:t>
            </a:r>
            <a:endParaRPr lang="en-US" altLang="zh-CN" sz="2000" dirty="0">
              <a:latin typeface="+mj-ea"/>
              <a:ea typeface="+mj-ea"/>
            </a:endParaRPr>
          </a:p>
          <a:p>
            <a:pPr>
              <a:lnSpc>
                <a:spcPct val="70000"/>
              </a:lnSpc>
            </a:pPr>
            <a:endParaRPr lang="zh-CN" altLang="en-US" sz="2000" dirty="0">
              <a:latin typeface="+mj-ea"/>
              <a:ea typeface="+mj-ea"/>
            </a:endParaRPr>
          </a:p>
          <a:p>
            <a:pPr>
              <a:lnSpc>
                <a:spcPct val="70000"/>
              </a:lnSpc>
            </a:pPr>
            <a:r>
              <a:rPr lang="zh-CN" altLang="en-US" sz="2000" dirty="0">
                <a:latin typeface="+mj-ea"/>
                <a:ea typeface="+mj-ea"/>
              </a:rPr>
              <a:t>返回消息（可选）</a:t>
            </a:r>
            <a:endParaRPr lang="zh-CN" altLang="en-US" sz="2000" dirty="0">
              <a:latin typeface="+mj-ea"/>
              <a:ea typeface="+mj-ea"/>
            </a:endParaRPr>
          </a:p>
        </p:txBody>
      </p:sp>
      <p:sp>
        <p:nvSpPr>
          <p:cNvPr id="5" name="标题 4"/>
          <p:cNvSpPr>
            <a:spLocks noGrp="1"/>
          </p:cNvSpPr>
          <p:nvPr>
            <p:ph type="title"/>
          </p:nvPr>
        </p:nvSpPr>
        <p:spPr/>
        <p:txBody>
          <a:bodyPr/>
          <a:lstStyle/>
          <a:p>
            <a:r>
              <a:rPr lang="zh-CN" altLang="en-US" dirty="0">
                <a:latin typeface="宋体" panose="02010600030101010101" pitchFamily="2" charset="-122"/>
              </a:rPr>
              <a:t>时序图的</a:t>
            </a:r>
            <a:r>
              <a:rPr lang="zh-CN" altLang="en-US" dirty="0" smtClean="0">
                <a:latin typeface="宋体" panose="02010600030101010101" pitchFamily="2" charset="-122"/>
              </a:rPr>
              <a:t>组成</a:t>
            </a:r>
            <a:endParaRPr lang="zh-CN" altLang="en-US" dirty="0"/>
          </a:p>
        </p:txBody>
      </p:sp>
      <p:sp>
        <p:nvSpPr>
          <p:cNvPr id="2" name="日期占位符 1"/>
          <p:cNvSpPr>
            <a:spLocks noGrp="1"/>
          </p:cNvSpPr>
          <p:nvPr>
            <p:ph type="dt" sz="half" idx="10"/>
          </p:nvPr>
        </p:nvSpPr>
        <p:spPr/>
        <p:txBody>
          <a:bodyPr/>
          <a:lstStyle/>
          <a:p>
            <a:fld id="{E9D0EB8E-CBB5-42D5-9E56-D82EDCC8E3DC}"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0835"/>
                                        </p:tgtEl>
                                        <p:attrNameLst>
                                          <p:attrName>style.visibility</p:attrName>
                                        </p:attrNameLst>
                                      </p:cBhvr>
                                      <p:to>
                                        <p:strVal val="visible"/>
                                      </p:to>
                                    </p:set>
                                    <p:animEffect transition="in" filter="wipe(up)">
                                      <p:cBhvr>
                                        <p:cTn id="7" dur="500"/>
                                        <p:tgtEl>
                                          <p:spTgt spid="1208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0841"/>
                                        </p:tgtEl>
                                        <p:attrNameLst>
                                          <p:attrName>style.visibility</p:attrName>
                                        </p:attrNameLst>
                                      </p:cBhvr>
                                      <p:to>
                                        <p:strVal val="visible"/>
                                      </p:to>
                                    </p:set>
                                    <p:animEffect transition="in" filter="wipe(up)">
                                      <p:cBhvr>
                                        <p:cTn id="12" dur="500"/>
                                        <p:tgtEl>
                                          <p:spTgt spid="120841"/>
                                        </p:tgtEl>
                                      </p:cBhvr>
                                    </p:animEffect>
                                  </p:childTnLst>
                                </p:cTn>
                              </p:par>
                            </p:childTnLst>
                          </p:cTn>
                        </p:par>
                        <p:par>
                          <p:cTn id="13" fill="hold">
                            <p:stCondLst>
                              <p:cond delay="500"/>
                            </p:stCondLst>
                            <p:childTnLst>
                              <p:par>
                                <p:cTn id="14" presetID="14" presetClass="entr" presetSubtype="10" fill="hold" nodeType="afterEffect">
                                  <p:stCondLst>
                                    <p:cond delay="0"/>
                                  </p:stCondLst>
                                  <p:childTnLst>
                                    <p:set>
                                      <p:cBhvr>
                                        <p:cTn id="15" dur="1" fill="hold">
                                          <p:stCondLst>
                                            <p:cond delay="0"/>
                                          </p:stCondLst>
                                        </p:cTn>
                                        <p:tgtEl>
                                          <p:spTgt spid="120838"/>
                                        </p:tgtEl>
                                        <p:attrNameLst>
                                          <p:attrName>style.visibility</p:attrName>
                                        </p:attrNameLst>
                                      </p:cBhvr>
                                      <p:to>
                                        <p:strVal val="visible"/>
                                      </p:to>
                                    </p:set>
                                    <p:animEffect transition="in" filter="randombar(horizontal)">
                                      <p:cBhvr>
                                        <p:cTn id="16" dur="500"/>
                                        <p:tgtEl>
                                          <p:spTgt spid="1208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ldLvl="0" animBg="1"/>
      <p:bldP spid="120841"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2" name="Text Box 6"/>
          <p:cNvSpPr txBox="1">
            <a:spLocks noChangeArrowheads="1"/>
          </p:cNvSpPr>
          <p:nvPr/>
        </p:nvSpPr>
        <p:spPr bwMode="auto">
          <a:xfrm>
            <a:off x="762192" y="850446"/>
            <a:ext cx="7913457" cy="1311128"/>
          </a:xfrm>
          <a:prstGeom prst="rect">
            <a:avLst/>
          </a:prstGeom>
          <a:noFill/>
          <a:ln w="9525">
            <a:noFill/>
            <a:miter lim="800000"/>
          </a:ln>
          <a:effectLst/>
        </p:spPr>
        <p:txBody>
          <a:bodyPr wrap="square">
            <a:spAutoFit/>
          </a:bodyPr>
          <a:lstStyle/>
          <a:p>
            <a:pPr eaLnBrk="0" hangingPunct="0">
              <a:spcBef>
                <a:spcPct val="20000"/>
              </a:spcBef>
            </a:pPr>
            <a:r>
              <a:rPr lang="zh-CN" altLang="en-US" dirty="0">
                <a:latin typeface="+mj-ea"/>
                <a:ea typeface="+mj-ea"/>
              </a:rPr>
              <a:t>（</a:t>
            </a:r>
            <a:r>
              <a:rPr lang="en-US" altLang="zh-CN" dirty="0">
                <a:latin typeface="+mj-ea"/>
                <a:ea typeface="+mj-ea"/>
              </a:rPr>
              <a:t>1</a:t>
            </a:r>
            <a:r>
              <a:rPr lang="zh-CN" altLang="en-US" dirty="0">
                <a:latin typeface="+mj-ea"/>
                <a:ea typeface="+mj-ea"/>
              </a:rPr>
              <a:t>）简单消息</a:t>
            </a:r>
            <a:endParaRPr lang="zh-CN" altLang="en-US" dirty="0">
              <a:latin typeface="+mj-ea"/>
              <a:ea typeface="+mj-ea"/>
            </a:endParaRPr>
          </a:p>
          <a:p>
            <a:pPr eaLnBrk="0" hangingPunct="0">
              <a:spcBef>
                <a:spcPct val="20000"/>
              </a:spcBef>
            </a:pPr>
            <a:r>
              <a:rPr lang="zh-CN" altLang="en-US" dirty="0">
                <a:latin typeface="+mj-ea"/>
                <a:ea typeface="+mj-ea"/>
              </a:rPr>
              <a:t>简单消息是没有区分同步和异步的消息。</a:t>
            </a:r>
            <a:endParaRPr lang="zh-CN" altLang="en-US" dirty="0">
              <a:latin typeface="+mj-ea"/>
              <a:ea typeface="+mj-ea"/>
            </a:endParaRPr>
          </a:p>
          <a:p>
            <a:pPr eaLnBrk="0" hangingPunct="0">
              <a:spcBef>
                <a:spcPct val="20000"/>
              </a:spcBef>
            </a:pPr>
            <a:r>
              <a:rPr lang="zh-CN" altLang="en-US" dirty="0">
                <a:latin typeface="+mj-ea"/>
                <a:ea typeface="+mj-ea"/>
              </a:rPr>
              <a:t>简单消息用从一对象的生命线指向另一个对象的生命线的直线箭头来表示，箭头上面标出消息名。</a:t>
            </a:r>
            <a:endParaRPr lang="zh-CN" altLang="en-US" dirty="0">
              <a:latin typeface="+mj-ea"/>
              <a:ea typeface="+mj-ea"/>
            </a:endParaRPr>
          </a:p>
        </p:txBody>
      </p:sp>
      <p:pic>
        <p:nvPicPr>
          <p:cNvPr id="75785" name="Picture 9"/>
          <p:cNvPicPr>
            <a:picLocks noChangeAspect="1" noChangeArrowheads="1"/>
          </p:cNvPicPr>
          <p:nvPr/>
        </p:nvPicPr>
        <p:blipFill rotWithShape="1">
          <a:blip r:embed="rId1" cstate="print">
            <a:clrChange>
              <a:clrFrom>
                <a:srgbClr val="FFFFFF"/>
              </a:clrFrom>
              <a:clrTo>
                <a:srgbClr val="FFFFFF">
                  <a:alpha val="0"/>
                </a:srgbClr>
              </a:clrTo>
            </a:clrChange>
          </a:blip>
          <a:srcRect l="9667"/>
          <a:stretch>
            <a:fillRect/>
          </a:stretch>
        </p:blipFill>
        <p:spPr bwMode="auto">
          <a:xfrm>
            <a:off x="3732971" y="2051955"/>
            <a:ext cx="3637078" cy="2841494"/>
          </a:xfrm>
          <a:prstGeom prst="rect">
            <a:avLst/>
          </a:prstGeom>
          <a:noFill/>
        </p:spPr>
      </p:pic>
      <p:sp>
        <p:nvSpPr>
          <p:cNvPr id="5" name="标题 4"/>
          <p:cNvSpPr>
            <a:spLocks noGrp="1"/>
          </p:cNvSpPr>
          <p:nvPr>
            <p:ph type="title"/>
          </p:nvPr>
        </p:nvSpPr>
        <p:spPr/>
        <p:txBody>
          <a:bodyPr/>
          <a:lstStyle/>
          <a:p>
            <a:r>
              <a:rPr lang="zh-CN" altLang="en-US" dirty="0">
                <a:latin typeface="宋体" panose="02010600030101010101" pitchFamily="2" charset="-122"/>
              </a:rPr>
              <a:t>消息的</a:t>
            </a:r>
            <a:r>
              <a:rPr lang="zh-CN" altLang="en-US" dirty="0" smtClean="0">
                <a:latin typeface="宋体" panose="02010600030101010101" pitchFamily="2" charset="-122"/>
              </a:rPr>
              <a:t>类型</a:t>
            </a:r>
            <a:endParaRPr lang="zh-CN" altLang="en-US" dirty="0"/>
          </a:p>
        </p:txBody>
      </p:sp>
      <p:sp>
        <p:nvSpPr>
          <p:cNvPr id="2" name="日期占位符 1"/>
          <p:cNvSpPr>
            <a:spLocks noGrp="1"/>
          </p:cNvSpPr>
          <p:nvPr>
            <p:ph type="dt" sz="half" idx="10"/>
          </p:nvPr>
        </p:nvSpPr>
        <p:spPr/>
        <p:txBody>
          <a:bodyPr/>
          <a:lstStyle/>
          <a:p>
            <a:fld id="{E54AF6FB-541A-4D86-BDA5-CCE0BE2D2043}"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5782"/>
                                        </p:tgtEl>
                                        <p:attrNameLst>
                                          <p:attrName>style.visibility</p:attrName>
                                        </p:attrNameLst>
                                      </p:cBhvr>
                                      <p:to>
                                        <p:strVal val="visible"/>
                                      </p:to>
                                    </p:set>
                                    <p:animEffect transition="in" filter="wipe(up)">
                                      <p:cBhvr>
                                        <p:cTn id="7" dur="500"/>
                                        <p:tgtEl>
                                          <p:spTgt spid="7578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5785"/>
                                        </p:tgtEl>
                                        <p:attrNameLst>
                                          <p:attrName>style.visibility</p:attrName>
                                        </p:attrNameLst>
                                      </p:cBhvr>
                                      <p:to>
                                        <p:strVal val="visible"/>
                                      </p:to>
                                    </p:set>
                                    <p:animEffect transition="in" filter="randombar(horizontal)">
                                      <p:cBhvr>
                                        <p:cTn id="12" dur="500"/>
                                        <p:tgtEl>
                                          <p:spTgt spid="757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2"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8" name="Text Box 4"/>
          <p:cNvSpPr txBox="1">
            <a:spLocks noChangeArrowheads="1"/>
          </p:cNvSpPr>
          <p:nvPr/>
        </p:nvSpPr>
        <p:spPr bwMode="auto">
          <a:xfrm>
            <a:off x="1016261" y="1012931"/>
            <a:ext cx="7763929" cy="1631216"/>
          </a:xfrm>
          <a:prstGeom prst="rect">
            <a:avLst/>
          </a:prstGeom>
          <a:noFill/>
          <a:ln w="9525">
            <a:noFill/>
            <a:miter lim="800000"/>
          </a:ln>
          <a:effectLst/>
        </p:spPr>
        <p:txBody>
          <a:bodyPr wrap="square">
            <a:spAutoFit/>
          </a:bodyPr>
          <a:lstStyle/>
          <a:p>
            <a:r>
              <a:rPr lang="zh-CN" altLang="en-US" sz="2000" dirty="0"/>
              <a:t>你叫我去吃饭，我听到了就和你去吃饭；如果没有听到，你就不停的叫，直到我告诉你听到了，才一起去吃饭。</a:t>
            </a:r>
            <a:endParaRPr lang="zh-CN" altLang="en-US" sz="2000" dirty="0"/>
          </a:p>
          <a:p>
            <a:endParaRPr lang="zh-CN" altLang="en-US" sz="2000" dirty="0"/>
          </a:p>
          <a:p>
            <a:r>
              <a:rPr lang="zh-CN" altLang="en-US" sz="2000" dirty="0"/>
              <a:t>你叫我去吃饭，然后自己去吃饭，我得到消息后可能立即走，也可能等到下班才去吃饭。</a:t>
            </a:r>
            <a:endParaRPr lang="zh-CN" altLang="en-US" sz="2000" dirty="0"/>
          </a:p>
        </p:txBody>
      </p:sp>
      <p:pic>
        <p:nvPicPr>
          <p:cNvPr id="175111" name="Picture 7"/>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4732104" y="2557166"/>
            <a:ext cx="2808685" cy="1997869"/>
          </a:xfrm>
          <a:prstGeom prst="rect">
            <a:avLst/>
          </a:prstGeom>
          <a:noFill/>
        </p:spPr>
      </p:pic>
      <p:sp>
        <p:nvSpPr>
          <p:cNvPr id="5" name="标题 4"/>
          <p:cNvSpPr>
            <a:spLocks noGrp="1"/>
          </p:cNvSpPr>
          <p:nvPr>
            <p:ph type="title"/>
          </p:nvPr>
        </p:nvSpPr>
        <p:spPr/>
        <p:txBody>
          <a:bodyPr/>
          <a:lstStyle/>
          <a:p>
            <a:r>
              <a:rPr lang="zh-CN" altLang="en-US" dirty="0">
                <a:latin typeface="宋体" panose="02010600030101010101" pitchFamily="2" charset="-122"/>
              </a:rPr>
              <a:t>实例：同步与</a:t>
            </a:r>
            <a:r>
              <a:rPr lang="zh-CN" altLang="en-US" dirty="0" smtClean="0">
                <a:latin typeface="宋体" panose="02010600030101010101" pitchFamily="2" charset="-122"/>
              </a:rPr>
              <a:t>异步</a:t>
            </a:r>
            <a:endParaRPr lang="zh-CN" altLang="en-US" dirty="0"/>
          </a:p>
        </p:txBody>
      </p:sp>
      <p:sp>
        <p:nvSpPr>
          <p:cNvPr id="3" name="日期占位符 2"/>
          <p:cNvSpPr>
            <a:spLocks noGrp="1"/>
          </p:cNvSpPr>
          <p:nvPr>
            <p:ph type="dt" sz="half" idx="10"/>
          </p:nvPr>
        </p:nvSpPr>
        <p:spPr/>
        <p:txBody>
          <a:bodyPr/>
          <a:lstStyle/>
          <a:p>
            <a:fld id="{D57459C7-34EB-4EF1-8B8B-CFD195821872}" type="datetime1">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75111"/>
                                        </p:tgtEl>
                                        <p:attrNameLst>
                                          <p:attrName>style.visibility</p:attrName>
                                        </p:attrNameLst>
                                      </p:cBhvr>
                                      <p:to>
                                        <p:strVal val="visible"/>
                                      </p:to>
                                    </p:set>
                                    <p:animEffect transition="in" filter="randombar(horizontal)">
                                      <p:cBhvr>
                                        <p:cTn id="7" dur="500"/>
                                        <p:tgtEl>
                                          <p:spTgt spid="1751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75108"/>
                                        </p:tgtEl>
                                        <p:attrNameLst>
                                          <p:attrName>style.visibility</p:attrName>
                                        </p:attrNameLst>
                                      </p:cBhvr>
                                      <p:to>
                                        <p:strVal val="visible"/>
                                      </p:to>
                                    </p:set>
                                    <p:animEffect transition="in" filter="wipe(up)">
                                      <p:cBhvr>
                                        <p:cTn id="12" dur="500"/>
                                        <p:tgtEl>
                                          <p:spTgt spid="175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8" grpId="0" bldLvl="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latin typeface="宋体" panose="02010600030101010101" pitchFamily="2" charset="-122"/>
              </a:rPr>
              <a:t>消息的</a:t>
            </a:r>
            <a:r>
              <a:rPr lang="zh-CN" altLang="en-US" dirty="0" smtClean="0">
                <a:latin typeface="宋体" panose="02010600030101010101" pitchFamily="2" charset="-122"/>
              </a:rPr>
              <a:t>类型</a:t>
            </a:r>
            <a:endParaRPr lang="zh-CN" altLang="en-US" dirty="0"/>
          </a:p>
        </p:txBody>
      </p:sp>
      <p:sp>
        <p:nvSpPr>
          <p:cNvPr id="3" name="文本占位符 2"/>
          <p:cNvSpPr>
            <a:spLocks noGrp="1"/>
          </p:cNvSpPr>
          <p:nvPr>
            <p:ph idx="1"/>
          </p:nvPr>
        </p:nvSpPr>
        <p:spPr/>
        <p:txBody>
          <a:bodyPr>
            <a:normAutofit/>
          </a:bodyPr>
          <a:lstStyle/>
          <a:p>
            <a:pPr>
              <a:lnSpc>
                <a:spcPct val="120000"/>
              </a:lnSpc>
              <a:spcBef>
                <a:spcPct val="0"/>
              </a:spcBef>
              <a:buFontTx/>
              <a:buNone/>
            </a:pPr>
            <a:r>
              <a:rPr lang="zh-CN" altLang="en-US" sz="2000" dirty="0">
                <a:latin typeface="+mn-ea"/>
              </a:rPr>
              <a:t> （</a:t>
            </a:r>
            <a:r>
              <a:rPr lang="en-US" altLang="zh-CN" sz="2000" dirty="0">
                <a:latin typeface="+mn-ea"/>
              </a:rPr>
              <a:t>2</a:t>
            </a:r>
            <a:r>
              <a:rPr lang="zh-CN" altLang="en-US" sz="2000" dirty="0">
                <a:latin typeface="+mn-ea"/>
              </a:rPr>
              <a:t>）同步消息</a:t>
            </a:r>
            <a:endParaRPr lang="zh-CN" altLang="en-US" sz="2000" dirty="0">
              <a:latin typeface="+mn-ea"/>
            </a:endParaRPr>
          </a:p>
          <a:p>
            <a:pPr>
              <a:lnSpc>
                <a:spcPct val="120000"/>
              </a:lnSpc>
              <a:spcBef>
                <a:spcPct val="0"/>
              </a:spcBef>
              <a:buFontTx/>
              <a:buNone/>
            </a:pPr>
            <a:r>
              <a:rPr lang="zh-CN" altLang="en-US" sz="2000" dirty="0">
                <a:latin typeface="+mn-ea"/>
              </a:rPr>
              <a:t>  消息的发送者把进程控制传递给消息的接收者，然后暂停活动，等待消息接收者的回应消息。</a:t>
            </a:r>
            <a:endParaRPr lang="zh-CN" altLang="en-US" sz="2000" dirty="0">
              <a:latin typeface="+mn-ea"/>
            </a:endParaRPr>
          </a:p>
        </p:txBody>
      </p:sp>
      <p:sp>
        <p:nvSpPr>
          <p:cNvPr id="4" name="日期占位符 3"/>
          <p:cNvSpPr>
            <a:spLocks noGrp="1"/>
          </p:cNvSpPr>
          <p:nvPr>
            <p:ph type="dt" sz="half" idx="10"/>
          </p:nvPr>
        </p:nvSpPr>
        <p:spPr/>
        <p:txBody>
          <a:bodyPr/>
          <a:lstStyle/>
          <a:p>
            <a:fld id="{F7F06265-FE4B-4C9C-8B7E-286E394D00AC}"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76810" name="Text Box 10"/>
          <p:cNvSpPr txBox="1">
            <a:spLocks noChangeArrowheads="1"/>
          </p:cNvSpPr>
          <p:nvPr/>
        </p:nvSpPr>
        <p:spPr bwMode="auto">
          <a:xfrm>
            <a:off x="1952097" y="3880394"/>
            <a:ext cx="6048375" cy="646331"/>
          </a:xfrm>
          <a:prstGeom prst="rect">
            <a:avLst/>
          </a:prstGeom>
          <a:noFill/>
          <a:ln w="9525">
            <a:noFill/>
            <a:miter lim="800000"/>
          </a:ln>
          <a:effectLst/>
        </p:spPr>
        <p:txBody>
          <a:bodyPr>
            <a:spAutoFit/>
          </a:bodyPr>
          <a:lstStyle/>
          <a:p>
            <a:r>
              <a:rPr lang="zh-CN" altLang="en-US" dirty="0"/>
              <a:t>你叫我去吃饭，我听到了就和你去吃饭；如果没有听到，你就不停的叫，直到我告诉你听到了，才一起去吃饭。</a:t>
            </a:r>
            <a:endParaRPr lang="zh-CN" altLang="en-US" dirty="0"/>
          </a:p>
        </p:txBody>
      </p:sp>
      <p:pic>
        <p:nvPicPr>
          <p:cNvPr id="76811" name="Picture 11"/>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2551508" y="2244248"/>
            <a:ext cx="4266010" cy="1510904"/>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6811"/>
                                        </p:tgtEl>
                                        <p:attrNameLst>
                                          <p:attrName>style.visibility</p:attrName>
                                        </p:attrNameLst>
                                      </p:cBhvr>
                                      <p:to>
                                        <p:strVal val="visible"/>
                                      </p:to>
                                    </p:set>
                                    <p:animEffect transition="in" filter="randombar(horizontal)">
                                      <p:cBhvr>
                                        <p:cTn id="12" dur="500"/>
                                        <p:tgtEl>
                                          <p:spTgt spid="768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6810"/>
                                        </p:tgtEl>
                                        <p:attrNameLst>
                                          <p:attrName>style.visibility</p:attrName>
                                        </p:attrNameLst>
                                      </p:cBhvr>
                                      <p:to>
                                        <p:strVal val="visible"/>
                                      </p:to>
                                    </p:set>
                                    <p:animEffect transition="in" filter="wipe(up)">
                                      <p:cBhvr>
                                        <p:cTn id="17" dur="500"/>
                                        <p:tgtEl>
                                          <p:spTgt spid="768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6810"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latin typeface="宋体" panose="02010600030101010101" pitchFamily="2" charset="-122"/>
              </a:rPr>
              <a:t>消息的</a:t>
            </a:r>
            <a:r>
              <a:rPr lang="zh-CN" altLang="en-US" dirty="0" smtClean="0">
                <a:latin typeface="宋体" panose="02010600030101010101" pitchFamily="2" charset="-122"/>
              </a:rPr>
              <a:t>类型</a:t>
            </a:r>
            <a:endParaRPr lang="zh-CN" altLang="en-US" dirty="0"/>
          </a:p>
        </p:txBody>
      </p:sp>
      <p:sp>
        <p:nvSpPr>
          <p:cNvPr id="3" name="文本占位符 2"/>
          <p:cNvSpPr>
            <a:spLocks noGrp="1"/>
          </p:cNvSpPr>
          <p:nvPr>
            <p:ph idx="1"/>
          </p:nvPr>
        </p:nvSpPr>
        <p:spPr/>
        <p:txBody>
          <a:bodyPr>
            <a:normAutofit/>
          </a:bodyPr>
          <a:lstStyle/>
          <a:p>
            <a:pPr>
              <a:lnSpc>
                <a:spcPct val="120000"/>
              </a:lnSpc>
              <a:spcBef>
                <a:spcPts val="600"/>
              </a:spcBef>
              <a:buNone/>
            </a:pPr>
            <a:r>
              <a:rPr lang="zh-CN" altLang="en-US" sz="2000" dirty="0">
                <a:latin typeface="+mn-ea"/>
              </a:rPr>
              <a:t> （</a:t>
            </a:r>
            <a:r>
              <a:rPr lang="en-US" altLang="zh-CN" sz="2000" dirty="0">
                <a:latin typeface="+mn-ea"/>
              </a:rPr>
              <a:t>3</a:t>
            </a:r>
            <a:r>
              <a:rPr lang="zh-CN" altLang="en-US" sz="2000" dirty="0">
                <a:latin typeface="+mn-ea"/>
              </a:rPr>
              <a:t>）异步消息</a:t>
            </a:r>
            <a:endParaRPr lang="zh-CN" altLang="en-US" sz="2000" dirty="0">
              <a:latin typeface="+mn-ea"/>
            </a:endParaRPr>
          </a:p>
          <a:p>
            <a:pPr>
              <a:lnSpc>
                <a:spcPct val="120000"/>
              </a:lnSpc>
              <a:spcBef>
                <a:spcPts val="0"/>
              </a:spcBef>
              <a:buNone/>
            </a:pPr>
            <a:r>
              <a:rPr lang="zh-CN" altLang="en-US" sz="2000" dirty="0">
                <a:latin typeface="+mn-ea"/>
              </a:rPr>
              <a:t>  消息的发送者将消息发送给消息的接收者后，不用等待回应的消息，即可开始另一个活动。</a:t>
            </a:r>
            <a:endParaRPr lang="zh-CN" altLang="en-US" sz="2000" dirty="0">
              <a:latin typeface="+mn-ea"/>
            </a:endParaRPr>
          </a:p>
          <a:p>
            <a:pPr>
              <a:lnSpc>
                <a:spcPct val="120000"/>
              </a:lnSpc>
            </a:pPr>
            <a:endParaRPr lang="zh-CN" altLang="en-US" sz="2000" dirty="0">
              <a:latin typeface="+mn-ea"/>
            </a:endParaRPr>
          </a:p>
        </p:txBody>
      </p:sp>
      <p:sp>
        <p:nvSpPr>
          <p:cNvPr id="4" name="日期占位符 3"/>
          <p:cNvSpPr>
            <a:spLocks noGrp="1"/>
          </p:cNvSpPr>
          <p:nvPr>
            <p:ph type="dt" sz="half" idx="10"/>
          </p:nvPr>
        </p:nvSpPr>
        <p:spPr/>
        <p:txBody>
          <a:bodyPr/>
          <a:lstStyle/>
          <a:p>
            <a:fld id="{392AECA3-DB30-451A-8790-A4887E1FFC9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77831" name="Text Box 7"/>
          <p:cNvSpPr txBox="1">
            <a:spLocks noChangeArrowheads="1"/>
          </p:cNvSpPr>
          <p:nvPr/>
        </p:nvSpPr>
        <p:spPr bwMode="auto">
          <a:xfrm>
            <a:off x="2033060" y="3922587"/>
            <a:ext cx="5181780" cy="646331"/>
          </a:xfrm>
          <a:prstGeom prst="rect">
            <a:avLst/>
          </a:prstGeom>
          <a:noFill/>
          <a:ln w="9525">
            <a:noFill/>
            <a:miter lim="800000"/>
          </a:ln>
          <a:effectLst/>
        </p:spPr>
        <p:txBody>
          <a:bodyPr wrap="square">
            <a:spAutoFit/>
          </a:bodyPr>
          <a:lstStyle/>
          <a:p>
            <a:r>
              <a:rPr lang="zh-CN" altLang="en-US" dirty="0"/>
              <a:t>你叫我去吃饭，然后自己去吃饭，我得到消息后可能立即走，也可能等到下班才去吃饭。</a:t>
            </a:r>
            <a:endParaRPr lang="zh-CN" altLang="en-US" dirty="0"/>
          </a:p>
        </p:txBody>
      </p:sp>
      <p:pic>
        <p:nvPicPr>
          <p:cNvPr id="77832" name="Picture 8"/>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2852960" y="2105693"/>
            <a:ext cx="3888581" cy="1816894"/>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7832"/>
                                        </p:tgtEl>
                                        <p:attrNameLst>
                                          <p:attrName>style.visibility</p:attrName>
                                        </p:attrNameLst>
                                      </p:cBhvr>
                                      <p:to>
                                        <p:strVal val="visible"/>
                                      </p:to>
                                    </p:set>
                                    <p:animEffect transition="in" filter="randombar(horizontal)">
                                      <p:cBhvr>
                                        <p:cTn id="12" dur="500"/>
                                        <p:tgtEl>
                                          <p:spTgt spid="7783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7831"/>
                                        </p:tgtEl>
                                        <p:attrNameLst>
                                          <p:attrName>style.visibility</p:attrName>
                                        </p:attrNameLst>
                                      </p:cBhvr>
                                      <p:to>
                                        <p:strVal val="visible"/>
                                      </p:to>
                                    </p:set>
                                    <p:animEffect transition="in" filter="wipe(up)">
                                      <p:cBhvr>
                                        <p:cTn id="17" dur="500"/>
                                        <p:tgtEl>
                                          <p:spTgt spid="77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7831"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9" name="Picture 4"/>
          <p:cNvPicPr>
            <a:picLocks noChangeAspect="1" noChangeArrowheads="1"/>
          </p:cNvPicPr>
          <p:nvPr/>
        </p:nvPicPr>
        <p:blipFill rotWithShape="1">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l="18393" t="25314" r="26384" b="35589"/>
          <a:stretch>
            <a:fillRect/>
          </a:stretch>
        </p:blipFill>
        <p:spPr bwMode="auto">
          <a:xfrm>
            <a:off x="1541462" y="686868"/>
            <a:ext cx="6426994" cy="367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6"/>
          <p:cNvSpPr>
            <a:spLocks noGrp="1"/>
          </p:cNvSpPr>
          <p:nvPr>
            <p:ph type="title"/>
          </p:nvPr>
        </p:nvSpPr>
        <p:spPr/>
        <p:txBody>
          <a:bodyPr/>
          <a:lstStyle/>
          <a:p>
            <a:r>
              <a:rPr lang="zh-CN" altLang="en-US" dirty="0"/>
              <a:t>带同步和异步消息的时序</a:t>
            </a:r>
            <a:r>
              <a:rPr lang="zh-CN" altLang="en-US" dirty="0" smtClean="0"/>
              <a:t>图</a:t>
            </a:r>
            <a:endParaRPr lang="zh-CN" altLang="en-US" dirty="0"/>
          </a:p>
        </p:txBody>
      </p:sp>
      <p:sp>
        <p:nvSpPr>
          <p:cNvPr id="4" name="日期占位符 3"/>
          <p:cNvSpPr>
            <a:spLocks noGrp="1"/>
          </p:cNvSpPr>
          <p:nvPr>
            <p:ph type="dt" sz="half" idx="10"/>
          </p:nvPr>
        </p:nvSpPr>
        <p:spPr/>
        <p:txBody>
          <a:bodyPr/>
          <a:lstStyle/>
          <a:p>
            <a:fld id="{29D057D7-6056-4D82-A985-D361E15F907C}"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Text Box 7"/>
          <p:cNvSpPr txBox="1">
            <a:spLocks noChangeArrowheads="1"/>
          </p:cNvSpPr>
          <p:nvPr/>
        </p:nvSpPr>
        <p:spPr bwMode="auto">
          <a:xfrm>
            <a:off x="3101137" y="4197767"/>
            <a:ext cx="3063714" cy="369332"/>
          </a:xfrm>
          <a:prstGeom prst="rect">
            <a:avLst/>
          </a:prstGeom>
          <a:noFill/>
          <a:ln w="9525">
            <a:noFill/>
            <a:miter lim="800000"/>
          </a:ln>
          <a:effectLst/>
        </p:spPr>
        <p:txBody>
          <a:bodyPr wrap="square">
            <a:spAutoFit/>
          </a:bodyPr>
          <a:lstStyle/>
          <a:p>
            <a:pPr algn="ctr"/>
            <a:r>
              <a:rPr lang="zh-CN" altLang="en-US" b="1" dirty="0"/>
              <a:t>修改采购合同数据时序图</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3319"/>
                                        </p:tgtEl>
                                        <p:attrNameLst>
                                          <p:attrName>style.visibility</p:attrName>
                                        </p:attrNameLst>
                                      </p:cBhvr>
                                      <p:to>
                                        <p:strVal val="visible"/>
                                      </p:to>
                                    </p:set>
                                    <p:animEffect transition="in" filter="randombar(horizontal)">
                                      <p:cBhvr>
                                        <p:cTn id="7" dur="500"/>
                                        <p:tgtEl>
                                          <p:spTgt spid="1331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8" name="Picture 5"/>
          <p:cNvPicPr>
            <a:picLocks noChangeAspect="1" noChangeArrowheads="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l="17361" t="23299" r="21872" b="37869"/>
          <a:stretch>
            <a:fillRect/>
          </a:stretch>
        </p:blipFill>
        <p:spPr bwMode="auto">
          <a:xfrm>
            <a:off x="1401681" y="1094118"/>
            <a:ext cx="6373416" cy="310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标题 6"/>
          <p:cNvSpPr>
            <a:spLocks noGrp="1"/>
          </p:cNvSpPr>
          <p:nvPr>
            <p:ph type="title"/>
          </p:nvPr>
        </p:nvSpPr>
        <p:spPr/>
        <p:txBody>
          <a:bodyPr/>
          <a:lstStyle/>
          <a:p>
            <a:r>
              <a:rPr lang="zh-CN" altLang="en-US" dirty="0"/>
              <a:t>带条件和分支并发执行的时序</a:t>
            </a:r>
            <a:r>
              <a:rPr lang="zh-CN" altLang="en-US" dirty="0" smtClean="0"/>
              <a:t>图</a:t>
            </a:r>
            <a:endParaRPr lang="zh-CN" altLang="en-US" dirty="0"/>
          </a:p>
        </p:txBody>
      </p:sp>
      <p:sp>
        <p:nvSpPr>
          <p:cNvPr id="3" name="日期占位符 2"/>
          <p:cNvSpPr>
            <a:spLocks noGrp="1"/>
          </p:cNvSpPr>
          <p:nvPr>
            <p:ph type="dt" sz="half" idx="10"/>
          </p:nvPr>
        </p:nvSpPr>
        <p:spPr/>
        <p:txBody>
          <a:bodyPr/>
          <a:lstStyle/>
          <a:p>
            <a:fld id="{E4766FA3-86FD-47EC-8401-B52BC6F313F3}"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 name="Text Box 7"/>
          <p:cNvSpPr txBox="1">
            <a:spLocks noChangeArrowheads="1"/>
          </p:cNvSpPr>
          <p:nvPr/>
        </p:nvSpPr>
        <p:spPr bwMode="auto">
          <a:xfrm>
            <a:off x="3056532" y="4228487"/>
            <a:ext cx="3063714" cy="369332"/>
          </a:xfrm>
          <a:prstGeom prst="rect">
            <a:avLst/>
          </a:prstGeom>
          <a:noFill/>
          <a:ln w="9525">
            <a:noFill/>
            <a:miter lim="800000"/>
          </a:ln>
          <a:effectLst/>
        </p:spPr>
        <p:txBody>
          <a:bodyPr wrap="square">
            <a:spAutoFit/>
          </a:bodyPr>
          <a:lstStyle/>
          <a:p>
            <a:pPr algn="ctr"/>
            <a:r>
              <a:rPr lang="zh-CN" altLang="en-US" b="1" dirty="0"/>
              <a:t>打印文件时序图</a:t>
            </a:r>
            <a:endParaRPr lang="zh-CN" altLang="en-US" b="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368"/>
                                        </p:tgtEl>
                                        <p:attrNameLst>
                                          <p:attrName>style.visibility</p:attrName>
                                        </p:attrNameLst>
                                      </p:cBhvr>
                                      <p:to>
                                        <p:strVal val="visible"/>
                                      </p:to>
                                    </p:set>
                                    <p:animEffect transition="in" filter="randombar(horizontal)">
                                      <p:cBhvr>
                                        <p:cTn id="7" dur="500"/>
                                        <p:tgtEl>
                                          <p:spTgt spid="1536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7"/>
          <p:cNvSpPr>
            <a:spLocks noGrp="1"/>
          </p:cNvSpPr>
          <p:nvPr>
            <p:ph type="ftr" sz="quarter" idx="11"/>
          </p:nvPr>
        </p:nvSpPr>
        <p:spPr/>
        <p:txBody>
          <a:bodyPr/>
          <a:lstStyle/>
          <a:p>
            <a:r>
              <a:rPr lang="zh-CN" altLang="en-US" dirty="0"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grpSp>
        <p:nvGrpSpPr>
          <p:cNvPr id="6" name="组合 5"/>
          <p:cNvGrpSpPr/>
          <p:nvPr/>
        </p:nvGrpSpPr>
        <p:grpSpPr>
          <a:xfrm>
            <a:off x="1985607" y="0"/>
            <a:ext cx="6636774" cy="5132440"/>
            <a:chOff x="0" y="0"/>
            <a:chExt cx="9144000" cy="7182466"/>
          </a:xfrm>
        </p:grpSpPr>
        <p:pic>
          <p:nvPicPr>
            <p:cNvPr id="4" name="图片 3"/>
            <p:cNvPicPr>
              <a:picLocks noChangeAspect="1"/>
            </p:cNvPicPr>
            <p:nvPr/>
          </p:nvPicPr>
          <p:blipFill>
            <a:blip r:embed="rId1"/>
            <a:stretch>
              <a:fillRect/>
            </a:stretch>
          </p:blipFill>
          <p:spPr>
            <a:xfrm>
              <a:off x="0" y="0"/>
              <a:ext cx="9144000" cy="4521353"/>
            </a:xfrm>
            <a:prstGeom prst="rect">
              <a:avLst/>
            </a:prstGeom>
          </p:spPr>
        </p:pic>
        <p:pic>
          <p:nvPicPr>
            <p:cNvPr id="5" name="图片 4"/>
            <p:cNvPicPr>
              <a:picLocks noChangeAspect="1"/>
            </p:cNvPicPr>
            <p:nvPr/>
          </p:nvPicPr>
          <p:blipFill rotWithShape="1">
            <a:blip r:embed="rId2"/>
            <a:srcRect b="6369"/>
            <a:stretch>
              <a:fillRect/>
            </a:stretch>
          </p:blipFill>
          <p:spPr>
            <a:xfrm>
              <a:off x="24273" y="4462362"/>
              <a:ext cx="8854255" cy="2720104"/>
            </a:xfrm>
            <a:prstGeom prst="rect">
              <a:avLst/>
            </a:prstGeom>
          </p:spPr>
        </p:pic>
      </p:grpSp>
      <p:sp>
        <p:nvSpPr>
          <p:cNvPr id="7" name="文本框 6"/>
          <p:cNvSpPr txBox="1"/>
          <p:nvPr/>
        </p:nvSpPr>
        <p:spPr>
          <a:xfrm>
            <a:off x="919982" y="1489037"/>
            <a:ext cx="553998" cy="2516073"/>
          </a:xfrm>
          <a:prstGeom prst="rect">
            <a:avLst/>
          </a:prstGeom>
          <a:noFill/>
        </p:spPr>
        <p:txBody>
          <a:bodyPr vert="eaVert" wrap="none" rtlCol="0">
            <a:spAutoFit/>
          </a:bodyPr>
          <a:lstStyle/>
          <a:p>
            <a:r>
              <a:rPr lang="zh-CN" altLang="en-US" sz="2400" b="1" dirty="0"/>
              <a:t>借书的基本时序图</a:t>
            </a:r>
            <a:endParaRPr lang="zh-CN" altLang="en-US" sz="2400" b="1" dirty="0"/>
          </a:p>
        </p:txBody>
      </p:sp>
      <p:sp>
        <p:nvSpPr>
          <p:cNvPr id="3" name="日期占位符 2"/>
          <p:cNvSpPr>
            <a:spLocks noGrp="1"/>
          </p:cNvSpPr>
          <p:nvPr>
            <p:ph type="dt" sz="half" idx="10"/>
          </p:nvPr>
        </p:nvSpPr>
        <p:spPr/>
        <p:txBody>
          <a:bodyPr/>
          <a:lstStyle/>
          <a:p>
            <a:fld id="{1ED99D97-D669-409A-842A-90CC9BFA0C75}" type="datetime1">
              <a:rPr lang="zh-CN" altLang="en-US" smtClean="0"/>
            </a:fld>
            <a:endParaRPr lang="zh-CN" alt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3" name="图片 2"/>
          <p:cNvPicPr>
            <a:picLocks noChangeAspect="1"/>
          </p:cNvPicPr>
          <p:nvPr/>
        </p:nvPicPr>
        <p:blipFill>
          <a:blip r:embed="rId1"/>
          <a:stretch>
            <a:fillRect/>
          </a:stretch>
        </p:blipFill>
        <p:spPr>
          <a:xfrm>
            <a:off x="2090587" y="36221"/>
            <a:ext cx="5802387" cy="5022547"/>
          </a:xfrm>
          <a:prstGeom prst="rect">
            <a:avLst/>
          </a:prstGeom>
        </p:spPr>
      </p:pic>
      <p:sp>
        <p:nvSpPr>
          <p:cNvPr id="4" name="文本框 3"/>
          <p:cNvSpPr txBox="1"/>
          <p:nvPr/>
        </p:nvSpPr>
        <p:spPr>
          <a:xfrm>
            <a:off x="936675" y="1451138"/>
            <a:ext cx="553998" cy="2516073"/>
          </a:xfrm>
          <a:prstGeom prst="rect">
            <a:avLst/>
          </a:prstGeom>
          <a:noFill/>
        </p:spPr>
        <p:txBody>
          <a:bodyPr vert="eaVert" wrap="none" rtlCol="0">
            <a:spAutoFit/>
          </a:bodyPr>
          <a:lstStyle/>
          <a:p>
            <a:r>
              <a:rPr lang="zh-CN" altLang="en-US" sz="2400" b="1" dirty="0"/>
              <a:t>借书失败的时序图</a:t>
            </a:r>
            <a:endParaRPr lang="zh-CN" altLang="en-US" sz="2400" b="1" dirty="0"/>
          </a:p>
        </p:txBody>
      </p:sp>
      <p:sp>
        <p:nvSpPr>
          <p:cNvPr id="5" name="日期占位符 4"/>
          <p:cNvSpPr>
            <a:spLocks noGrp="1"/>
          </p:cNvSpPr>
          <p:nvPr>
            <p:ph type="dt" sz="half" idx="10"/>
          </p:nvPr>
        </p:nvSpPr>
        <p:spPr/>
        <p:txBody>
          <a:bodyPr/>
          <a:lstStyle/>
          <a:p>
            <a:fld id="{114839FF-6FC4-4423-B8DA-CE8E5E3745ED}"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latin typeface="宋体" panose="02010600030101010101" pitchFamily="2" charset="-122"/>
              </a:rPr>
              <a:t>时序图的</a:t>
            </a:r>
            <a:r>
              <a:rPr lang="zh-CN" altLang="en-US" dirty="0" smtClean="0">
                <a:latin typeface="宋体" panose="02010600030101010101" pitchFamily="2" charset="-122"/>
              </a:rPr>
              <a:t>组成</a:t>
            </a:r>
            <a:endParaRPr lang="zh-CN" altLang="en-US" dirty="0"/>
          </a:p>
        </p:txBody>
      </p:sp>
      <p:sp>
        <p:nvSpPr>
          <p:cNvPr id="3" name="文本占位符 2"/>
          <p:cNvSpPr>
            <a:spLocks noGrp="1"/>
          </p:cNvSpPr>
          <p:nvPr>
            <p:ph idx="1"/>
          </p:nvPr>
        </p:nvSpPr>
        <p:spPr/>
        <p:txBody>
          <a:bodyPr>
            <a:noAutofit/>
          </a:bodyPr>
          <a:lstStyle/>
          <a:p>
            <a:pPr>
              <a:lnSpc>
                <a:spcPct val="120000"/>
              </a:lnSpc>
              <a:buNone/>
            </a:pPr>
            <a:r>
              <a:rPr lang="zh-CN" altLang="en-US" sz="2000" dirty="0"/>
              <a:t>四、激活</a:t>
            </a:r>
            <a:endParaRPr lang="zh-CN" altLang="en-US" sz="2000" dirty="0"/>
          </a:p>
          <a:p>
            <a:pPr>
              <a:lnSpc>
                <a:spcPct val="120000"/>
              </a:lnSpc>
              <a:buNone/>
            </a:pPr>
            <a:r>
              <a:rPr lang="en-US" altLang="zh-CN" sz="2000" dirty="0">
                <a:latin typeface="宋体" panose="02010600030101010101" pitchFamily="2" charset="-122"/>
              </a:rPr>
              <a:t>1</a:t>
            </a:r>
            <a:r>
              <a:rPr lang="zh-CN" altLang="en-US" sz="2000" dirty="0">
                <a:latin typeface="宋体" panose="02010600030101010101" pitchFamily="2" charset="-122"/>
              </a:rPr>
              <a:t>、激活的概念</a:t>
            </a:r>
            <a:endParaRPr lang="zh-CN" altLang="en-US" sz="2000" dirty="0">
              <a:latin typeface="宋体" panose="02010600030101010101" pitchFamily="2" charset="-122"/>
            </a:endParaRPr>
          </a:p>
          <a:p>
            <a:pPr>
              <a:lnSpc>
                <a:spcPct val="120000"/>
              </a:lnSpc>
            </a:pPr>
            <a:r>
              <a:rPr lang="zh-CN" altLang="en-US" sz="2000" dirty="0">
                <a:latin typeface="宋体" panose="02010600030101010101" pitchFamily="2" charset="-122"/>
              </a:rPr>
              <a:t>当一个对象没有被激活期时，该对象处于休眠状态，什么事都不做，但它仍然存在，等待新的消息来激活它。</a:t>
            </a:r>
            <a:endParaRPr lang="zh-CN" altLang="en-US" sz="2000" dirty="0">
              <a:latin typeface="宋体" panose="02010600030101010101" pitchFamily="2" charset="-122"/>
            </a:endParaRPr>
          </a:p>
          <a:p>
            <a:pPr>
              <a:lnSpc>
                <a:spcPct val="120000"/>
              </a:lnSpc>
            </a:pPr>
            <a:r>
              <a:rPr lang="zh-CN" altLang="en-US" sz="2000" dirty="0">
                <a:latin typeface="宋体" panose="02010600030101010101" pitchFamily="2" charset="-122"/>
              </a:rPr>
              <a:t>当一条消息被传递给对象的时候，它会触发该对象的某个行为，这是就说该对象被激活了。</a:t>
            </a:r>
            <a:endParaRPr lang="zh-CN" altLang="en-US" sz="2000" dirty="0">
              <a:latin typeface="宋体" panose="02010600030101010101" pitchFamily="2" charset="-122"/>
            </a:endParaRPr>
          </a:p>
          <a:p>
            <a:pPr>
              <a:lnSpc>
                <a:spcPct val="120000"/>
              </a:lnSpc>
            </a:pPr>
            <a:r>
              <a:rPr lang="zh-CN" altLang="en-US" sz="2000" dirty="0">
                <a:latin typeface="宋体" panose="02010600030101010101" pitchFamily="2" charset="-122"/>
              </a:rPr>
              <a:t>当一个对象处于激活期时，表明该对象正在执行某个动作。 </a:t>
            </a:r>
            <a:endParaRPr lang="zh-CN" altLang="en-US" sz="2000" dirty="0"/>
          </a:p>
        </p:txBody>
      </p:sp>
      <p:sp>
        <p:nvSpPr>
          <p:cNvPr id="4" name="日期占位符 3"/>
          <p:cNvSpPr>
            <a:spLocks noGrp="1"/>
          </p:cNvSpPr>
          <p:nvPr>
            <p:ph type="dt" sz="half" idx="10"/>
          </p:nvPr>
        </p:nvSpPr>
        <p:spPr/>
        <p:txBody>
          <a:bodyPr/>
          <a:lstStyle/>
          <a:p>
            <a:fld id="{08566219-8A45-438C-B8DA-C74798FCEE3E}"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C90F16DE-5362-49A4-BB78-DA269D510E1B}" type="slidenum">
              <a:rPr lang="en-US" altLang="zh-CN" smtClean="0"/>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latin typeface="宋体" panose="02010600030101010101" pitchFamily="2" charset="-122"/>
              </a:rPr>
              <a:t>时序图的</a:t>
            </a:r>
            <a:r>
              <a:rPr lang="zh-CN" altLang="en-US" dirty="0" smtClean="0">
                <a:latin typeface="宋体" panose="02010600030101010101" pitchFamily="2" charset="-122"/>
              </a:rPr>
              <a:t>组成</a:t>
            </a:r>
            <a:endParaRPr lang="zh-CN" altLang="en-US" dirty="0"/>
          </a:p>
        </p:txBody>
      </p:sp>
      <p:sp>
        <p:nvSpPr>
          <p:cNvPr id="4" name="文本占位符 3"/>
          <p:cNvSpPr>
            <a:spLocks noGrp="1"/>
          </p:cNvSpPr>
          <p:nvPr>
            <p:ph idx="1"/>
          </p:nvPr>
        </p:nvSpPr>
        <p:spPr/>
        <p:txBody>
          <a:bodyPr>
            <a:normAutofit/>
          </a:bodyPr>
          <a:lstStyle/>
          <a:p>
            <a:pPr>
              <a:buFontTx/>
              <a:buNone/>
            </a:pPr>
            <a:r>
              <a:rPr lang="zh-CN" altLang="en-US" sz="2000" dirty="0">
                <a:latin typeface="+mn-ea"/>
              </a:rPr>
              <a:t> </a:t>
            </a:r>
            <a:r>
              <a:rPr lang="en-US" altLang="zh-CN" sz="2000" dirty="0">
                <a:latin typeface="+mn-ea"/>
              </a:rPr>
              <a:t>2</a:t>
            </a:r>
            <a:r>
              <a:rPr lang="zh-CN" altLang="en-US" sz="2000" dirty="0">
                <a:latin typeface="+mn-ea"/>
              </a:rPr>
              <a:t>、激活的符号</a:t>
            </a:r>
            <a:endParaRPr lang="zh-CN" altLang="en-US" sz="2000" dirty="0">
              <a:latin typeface="+mn-ea"/>
            </a:endParaRPr>
          </a:p>
          <a:p>
            <a:pPr>
              <a:buFontTx/>
              <a:buNone/>
            </a:pPr>
            <a:r>
              <a:rPr lang="zh-CN" altLang="en-US" sz="2000" dirty="0">
                <a:latin typeface="+mn-ea"/>
              </a:rPr>
              <a:t>  激活用一个细长的矩阵框（在生命线上）表示。</a:t>
            </a:r>
            <a:endParaRPr lang="zh-CN" altLang="en-US" sz="2000" dirty="0">
              <a:latin typeface="+mn-ea"/>
            </a:endParaRPr>
          </a:p>
        </p:txBody>
      </p:sp>
      <p:sp>
        <p:nvSpPr>
          <p:cNvPr id="3" name="日期占位符 2"/>
          <p:cNvSpPr>
            <a:spLocks noGrp="1"/>
          </p:cNvSpPr>
          <p:nvPr>
            <p:ph type="dt" sz="half" idx="10"/>
          </p:nvPr>
        </p:nvSpPr>
        <p:spPr/>
        <p:txBody>
          <a:bodyPr/>
          <a:lstStyle/>
          <a:p>
            <a:fld id="{AE1A9411-AD58-4624-AF36-EACA97DA8A37}"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C90F16DE-5362-49A4-BB78-DA269D510E1B}" type="slidenum">
              <a:rPr lang="en-US" altLang="zh-CN" smtClean="0"/>
            </a:fld>
            <a:endParaRPr lang="en-US" altLang="zh-CN"/>
          </a:p>
        </p:txBody>
      </p:sp>
      <p:pic>
        <p:nvPicPr>
          <p:cNvPr id="157705" name="Picture 9"/>
          <p:cNvPicPr>
            <a:picLocks noChangeAspect="1" noChangeArrowheads="1"/>
          </p:cNvPicPr>
          <p:nvPr/>
        </p:nvPicPr>
        <p:blipFill rotWithShape="1">
          <a:blip r:embed="rId1" cstate="print">
            <a:clrChange>
              <a:clrFrom>
                <a:srgbClr val="FFFFFF"/>
              </a:clrFrom>
              <a:clrTo>
                <a:srgbClr val="FFFFFF">
                  <a:alpha val="0"/>
                </a:srgbClr>
              </a:clrTo>
            </a:clrChange>
          </a:blip>
          <a:srcRect l="10504"/>
          <a:stretch>
            <a:fillRect/>
          </a:stretch>
        </p:blipFill>
        <p:spPr bwMode="auto">
          <a:xfrm>
            <a:off x="1364619" y="1962846"/>
            <a:ext cx="3449591" cy="2720885"/>
          </a:xfrm>
          <a:prstGeom prst="rect">
            <a:avLst/>
          </a:prstGeom>
          <a:noFill/>
        </p:spPr>
      </p:pic>
      <p:sp>
        <p:nvSpPr>
          <p:cNvPr id="157703" name="Text Box 7"/>
          <p:cNvSpPr txBox="1">
            <a:spLocks noChangeArrowheads="1"/>
          </p:cNvSpPr>
          <p:nvPr/>
        </p:nvSpPr>
        <p:spPr bwMode="auto">
          <a:xfrm>
            <a:off x="5220998" y="2018833"/>
            <a:ext cx="3320673" cy="2400657"/>
          </a:xfrm>
          <a:prstGeom prst="rect">
            <a:avLst/>
          </a:prstGeom>
          <a:noFill/>
          <a:ln w="9525">
            <a:noFill/>
            <a:miter lim="800000"/>
          </a:ln>
          <a:effectLst/>
        </p:spPr>
        <p:txBody>
          <a:bodyPr wrap="square">
            <a:spAutoFit/>
          </a:bodyPr>
          <a:lstStyle/>
          <a:p>
            <a:pPr>
              <a:spcBef>
                <a:spcPct val="50000"/>
              </a:spcBef>
            </a:pPr>
            <a:r>
              <a:rPr lang="zh-CN" altLang="en-US" sz="2000" dirty="0">
                <a:latin typeface="+mj-ea"/>
                <a:ea typeface="+mj-ea"/>
              </a:rPr>
              <a:t>矩形框的高度表示对象执行一个操作所经历的时间段，矩形的顶部表示动作的开始，底部表示动作的结束。</a:t>
            </a:r>
            <a:endParaRPr lang="zh-CN" altLang="en-US" sz="2000" dirty="0">
              <a:latin typeface="+mj-ea"/>
              <a:ea typeface="+mj-ea"/>
            </a:endParaRPr>
          </a:p>
          <a:p>
            <a:pPr>
              <a:spcBef>
                <a:spcPct val="50000"/>
              </a:spcBef>
            </a:pPr>
            <a:r>
              <a:rPr lang="zh-CN" altLang="en-US" sz="2000" dirty="0">
                <a:latin typeface="+mj-ea"/>
                <a:ea typeface="+mj-ea"/>
              </a:rPr>
              <a:t>对象接收消息后可以由自己的某个操作来完成，也可以通过其他对象的操作来完成。</a:t>
            </a:r>
            <a:endParaRPr lang="zh-CN" altLang="en-US" sz="20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57705"/>
                                        </p:tgtEl>
                                        <p:attrNameLst>
                                          <p:attrName>style.visibility</p:attrName>
                                        </p:attrNameLst>
                                      </p:cBhvr>
                                      <p:to>
                                        <p:strVal val="visible"/>
                                      </p:to>
                                    </p:set>
                                    <p:animEffect transition="in" filter="randombar(horizontal)">
                                      <p:cBhvr>
                                        <p:cTn id="12" dur="500"/>
                                        <p:tgtEl>
                                          <p:spTgt spid="15770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57703"/>
                                        </p:tgtEl>
                                        <p:attrNameLst>
                                          <p:attrName>style.visibility</p:attrName>
                                        </p:attrNameLst>
                                      </p:cBhvr>
                                      <p:to>
                                        <p:strVal val="visible"/>
                                      </p:to>
                                    </p:set>
                                    <p:animEffect transition="in" filter="wipe(up)">
                                      <p:cBhvr>
                                        <p:cTn id="17" dur="500"/>
                                        <p:tgtEl>
                                          <p:spTgt spid="1577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7703"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572941" y="1383507"/>
            <a:ext cx="3835003" cy="1084660"/>
            <a:chOff x="1906588" y="1844675"/>
            <a:chExt cx="5113337" cy="1446213"/>
          </a:xfrm>
        </p:grpSpPr>
        <p:pic>
          <p:nvPicPr>
            <p:cNvPr id="199682" name="Picture 2"/>
            <p:cNvPicPr>
              <a:picLocks noChangeAspect="1" noChangeArrowheads="1"/>
            </p:cNvPicPr>
            <p:nvPr/>
          </p:nvPicPr>
          <p:blipFill>
            <a:blip r:embed="rId1" cstate="print"/>
            <a:srcRect l="2994" r="76749"/>
            <a:stretch>
              <a:fillRect/>
            </a:stretch>
          </p:blipFill>
          <p:spPr bwMode="auto">
            <a:xfrm>
              <a:off x="1906588" y="1844675"/>
              <a:ext cx="1008062" cy="1446213"/>
            </a:xfrm>
            <a:prstGeom prst="rect">
              <a:avLst/>
            </a:prstGeom>
            <a:noFill/>
            <a:ln w="9525">
              <a:noFill/>
              <a:miter lim="800000"/>
              <a:headEnd/>
              <a:tailEnd/>
            </a:ln>
            <a:effectLst/>
          </p:spPr>
        </p:pic>
        <p:pic>
          <p:nvPicPr>
            <p:cNvPr id="199685" name="Picture 5"/>
            <p:cNvPicPr>
              <a:picLocks noChangeAspect="1" noChangeArrowheads="1"/>
            </p:cNvPicPr>
            <p:nvPr/>
          </p:nvPicPr>
          <p:blipFill>
            <a:blip r:embed="rId1" cstate="print"/>
            <a:srcRect l="76781" r="2962"/>
            <a:stretch>
              <a:fillRect/>
            </a:stretch>
          </p:blipFill>
          <p:spPr bwMode="auto">
            <a:xfrm>
              <a:off x="6011863" y="1844675"/>
              <a:ext cx="1008062" cy="1446213"/>
            </a:xfrm>
            <a:prstGeom prst="rect">
              <a:avLst/>
            </a:prstGeom>
            <a:noFill/>
            <a:ln w="9525">
              <a:noFill/>
              <a:miter lim="800000"/>
              <a:headEnd/>
              <a:tailEnd/>
            </a:ln>
            <a:effectLst/>
          </p:spPr>
        </p:pic>
        <p:pic>
          <p:nvPicPr>
            <p:cNvPr id="199686" name="Picture 6"/>
            <p:cNvPicPr>
              <a:picLocks noChangeAspect="1" noChangeArrowheads="1"/>
            </p:cNvPicPr>
            <p:nvPr/>
          </p:nvPicPr>
          <p:blipFill>
            <a:blip r:embed="rId1" cstate="print"/>
            <a:srcRect l="39169" r="40573"/>
            <a:stretch>
              <a:fillRect/>
            </a:stretch>
          </p:blipFill>
          <p:spPr bwMode="auto">
            <a:xfrm>
              <a:off x="4067175" y="1844675"/>
              <a:ext cx="1008063" cy="1446213"/>
            </a:xfrm>
            <a:prstGeom prst="rect">
              <a:avLst/>
            </a:prstGeom>
            <a:noFill/>
            <a:ln w="9525">
              <a:noFill/>
              <a:miter lim="800000"/>
              <a:headEnd/>
              <a:tailEnd/>
            </a:ln>
            <a:effectLst/>
          </p:spPr>
        </p:pic>
      </p:grpSp>
      <p:grpSp>
        <p:nvGrpSpPr>
          <p:cNvPr id="4" name="组合 3"/>
          <p:cNvGrpSpPr/>
          <p:nvPr/>
        </p:nvGrpSpPr>
        <p:grpSpPr>
          <a:xfrm>
            <a:off x="2411016" y="2975372"/>
            <a:ext cx="4267200" cy="676275"/>
            <a:chOff x="1690688" y="3967163"/>
            <a:chExt cx="5689600" cy="901700"/>
          </a:xfrm>
        </p:grpSpPr>
        <p:pic>
          <p:nvPicPr>
            <p:cNvPr id="199683" name="Picture 3"/>
            <p:cNvPicPr>
              <a:picLocks noChangeAspect="1" noChangeArrowheads="1"/>
            </p:cNvPicPr>
            <p:nvPr/>
          </p:nvPicPr>
          <p:blipFill>
            <a:blip r:embed="rId2" cstate="print"/>
            <a:srcRect l="73238"/>
            <a:stretch>
              <a:fillRect/>
            </a:stretch>
          </p:blipFill>
          <p:spPr bwMode="auto">
            <a:xfrm>
              <a:off x="5722938" y="3967163"/>
              <a:ext cx="1657350" cy="901700"/>
            </a:xfrm>
            <a:prstGeom prst="rect">
              <a:avLst/>
            </a:prstGeom>
            <a:noFill/>
          </p:spPr>
        </p:pic>
        <p:pic>
          <p:nvPicPr>
            <p:cNvPr id="199687" name="Picture 7"/>
            <p:cNvPicPr>
              <a:picLocks noChangeAspect="1" noChangeArrowheads="1"/>
            </p:cNvPicPr>
            <p:nvPr/>
          </p:nvPicPr>
          <p:blipFill>
            <a:blip r:embed="rId2" cstate="print"/>
            <a:srcRect l="36043" r="37195"/>
            <a:stretch>
              <a:fillRect/>
            </a:stretch>
          </p:blipFill>
          <p:spPr bwMode="auto">
            <a:xfrm>
              <a:off x="3635375" y="3967163"/>
              <a:ext cx="1657350" cy="901700"/>
            </a:xfrm>
            <a:prstGeom prst="rect">
              <a:avLst/>
            </a:prstGeom>
            <a:noFill/>
          </p:spPr>
        </p:pic>
        <p:pic>
          <p:nvPicPr>
            <p:cNvPr id="199688" name="Picture 8"/>
            <p:cNvPicPr>
              <a:picLocks noChangeAspect="1" noChangeArrowheads="1"/>
            </p:cNvPicPr>
            <p:nvPr/>
          </p:nvPicPr>
          <p:blipFill>
            <a:blip r:embed="rId2" cstate="print"/>
            <a:srcRect r="73264"/>
            <a:stretch>
              <a:fillRect/>
            </a:stretch>
          </p:blipFill>
          <p:spPr bwMode="auto">
            <a:xfrm>
              <a:off x="1690688" y="3967163"/>
              <a:ext cx="1655762" cy="901700"/>
            </a:xfrm>
            <a:prstGeom prst="rect">
              <a:avLst/>
            </a:prstGeom>
            <a:noFill/>
          </p:spPr>
        </p:pic>
      </p:grpSp>
      <p:sp>
        <p:nvSpPr>
          <p:cNvPr id="8" name="标题 7"/>
          <p:cNvSpPr>
            <a:spLocks noGrp="1"/>
          </p:cNvSpPr>
          <p:nvPr>
            <p:ph type="title"/>
          </p:nvPr>
        </p:nvSpPr>
        <p:spPr/>
        <p:txBody>
          <a:bodyPr/>
          <a:lstStyle/>
          <a:p>
            <a:r>
              <a:rPr lang="zh-CN" altLang="en-US" dirty="0"/>
              <a:t>思考：有如下的三个</a:t>
            </a:r>
            <a:r>
              <a:rPr lang="zh-CN" altLang="en-US" dirty="0" smtClean="0"/>
              <a:t>类</a:t>
            </a:r>
            <a:endParaRPr lang="zh-CN" altLang="en-US" dirty="0"/>
          </a:p>
        </p:txBody>
      </p:sp>
      <p:sp>
        <p:nvSpPr>
          <p:cNvPr id="6" name="日期占位符 5"/>
          <p:cNvSpPr>
            <a:spLocks noGrp="1"/>
          </p:cNvSpPr>
          <p:nvPr>
            <p:ph type="dt" sz="half" idx="10"/>
          </p:nvPr>
        </p:nvSpPr>
        <p:spPr/>
        <p:txBody>
          <a:bodyPr/>
          <a:lstStyle/>
          <a:p>
            <a:fld id="{5B0ABBE7-857F-42DA-A5B0-D65B202B7926}" type="datetime1">
              <a:rPr lang="zh-CN" altLang="en-US" smtClean="0"/>
            </a:fld>
            <a:endParaRPr lang="zh-CN" altLang="en-US"/>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0716" name="Picture 12"/>
          <p:cNvPicPr>
            <a:picLocks noChangeAspect="1" noChangeArrowheads="1"/>
          </p:cNvPicPr>
          <p:nvPr/>
        </p:nvPicPr>
        <p:blipFill>
          <a:blip r:embed="rId1" cstate="print">
            <a:clrChange>
              <a:clrFrom>
                <a:srgbClr val="FFFFFF"/>
              </a:clrFrom>
              <a:clrTo>
                <a:srgbClr val="FFFFFF">
                  <a:alpha val="0"/>
                </a:srgbClr>
              </a:clrTo>
            </a:clrChange>
          </a:blip>
          <a:srcRect/>
          <a:stretch>
            <a:fillRect/>
          </a:stretch>
        </p:blipFill>
        <p:spPr bwMode="auto">
          <a:xfrm>
            <a:off x="4736443" y="1065271"/>
            <a:ext cx="2808685" cy="1627584"/>
          </a:xfrm>
          <a:prstGeom prst="rect">
            <a:avLst/>
          </a:prstGeom>
          <a:noFill/>
        </p:spPr>
      </p:pic>
      <p:pic>
        <p:nvPicPr>
          <p:cNvPr id="200715" name="Picture 1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575899" y="1058466"/>
            <a:ext cx="2753916" cy="1737122"/>
          </a:xfrm>
          <a:prstGeom prst="rect">
            <a:avLst/>
          </a:prstGeom>
          <a:noFill/>
        </p:spPr>
      </p:pic>
      <p:pic>
        <p:nvPicPr>
          <p:cNvPr id="200719" name="Picture 15"/>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3075901" y="3031946"/>
            <a:ext cx="2808685" cy="1694260"/>
          </a:xfrm>
          <a:prstGeom prst="rect">
            <a:avLst/>
          </a:prstGeom>
          <a:noFill/>
        </p:spPr>
      </p:pic>
      <p:sp>
        <p:nvSpPr>
          <p:cNvPr id="6" name="标题 5"/>
          <p:cNvSpPr>
            <a:spLocks noGrp="1"/>
          </p:cNvSpPr>
          <p:nvPr>
            <p:ph type="title"/>
          </p:nvPr>
        </p:nvSpPr>
        <p:spPr/>
        <p:txBody>
          <a:bodyPr/>
          <a:lstStyle/>
          <a:p>
            <a:r>
              <a:rPr lang="zh-CN" altLang="en-US" dirty="0"/>
              <a:t>三个图有什么区别</a:t>
            </a:r>
            <a:r>
              <a:rPr lang="zh-CN" altLang="en-US" dirty="0" smtClean="0"/>
              <a:t>？</a:t>
            </a:r>
            <a:endParaRPr lang="zh-CN" altLang="en-US" dirty="0"/>
          </a:p>
        </p:txBody>
      </p:sp>
      <p:sp>
        <p:nvSpPr>
          <p:cNvPr id="4" name="日期占位符 3"/>
          <p:cNvSpPr>
            <a:spLocks noGrp="1"/>
          </p:cNvSpPr>
          <p:nvPr>
            <p:ph type="dt" sz="half" idx="10"/>
          </p:nvPr>
        </p:nvSpPr>
        <p:spPr/>
        <p:txBody>
          <a:bodyPr/>
          <a:lstStyle/>
          <a:p>
            <a:fld id="{9EF4CA8C-2E9E-4392-BC44-CDDB33D6FA57}"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00715"/>
                                        </p:tgtEl>
                                        <p:attrNameLst>
                                          <p:attrName>style.visibility</p:attrName>
                                        </p:attrNameLst>
                                      </p:cBhvr>
                                      <p:to>
                                        <p:strVal val="visible"/>
                                      </p:to>
                                    </p:set>
                                    <p:animEffect transition="in" filter="randombar(horizontal)">
                                      <p:cBhvr>
                                        <p:cTn id="7" dur="500"/>
                                        <p:tgtEl>
                                          <p:spTgt spid="200715"/>
                                        </p:tgtEl>
                                      </p:cBhvr>
                                    </p:animEffect>
                                  </p:childTnLst>
                                </p:cTn>
                              </p:par>
                              <p:par>
                                <p:cTn id="8" presetID="14" presetClass="entr" presetSubtype="10" fill="hold" nodeType="withEffect">
                                  <p:stCondLst>
                                    <p:cond delay="0"/>
                                  </p:stCondLst>
                                  <p:childTnLst>
                                    <p:set>
                                      <p:cBhvr>
                                        <p:cTn id="9" dur="1" fill="hold">
                                          <p:stCondLst>
                                            <p:cond delay="0"/>
                                          </p:stCondLst>
                                        </p:cTn>
                                        <p:tgtEl>
                                          <p:spTgt spid="200716"/>
                                        </p:tgtEl>
                                        <p:attrNameLst>
                                          <p:attrName>style.visibility</p:attrName>
                                        </p:attrNameLst>
                                      </p:cBhvr>
                                      <p:to>
                                        <p:strVal val="visible"/>
                                      </p:to>
                                    </p:set>
                                    <p:animEffect transition="in" filter="randombar(horizontal)">
                                      <p:cBhvr>
                                        <p:cTn id="10" dur="500"/>
                                        <p:tgtEl>
                                          <p:spTgt spid="200716"/>
                                        </p:tgtEl>
                                      </p:cBhvr>
                                    </p:animEffect>
                                  </p:childTnLst>
                                </p:cTn>
                              </p:par>
                              <p:par>
                                <p:cTn id="11" presetID="14" presetClass="entr" presetSubtype="10" fill="hold" nodeType="withEffect">
                                  <p:stCondLst>
                                    <p:cond delay="0"/>
                                  </p:stCondLst>
                                  <p:childTnLst>
                                    <p:set>
                                      <p:cBhvr>
                                        <p:cTn id="12" dur="1" fill="hold">
                                          <p:stCondLst>
                                            <p:cond delay="0"/>
                                          </p:stCondLst>
                                        </p:cTn>
                                        <p:tgtEl>
                                          <p:spTgt spid="200719"/>
                                        </p:tgtEl>
                                        <p:attrNameLst>
                                          <p:attrName>style.visibility</p:attrName>
                                        </p:attrNameLst>
                                      </p:cBhvr>
                                      <p:to>
                                        <p:strVal val="visible"/>
                                      </p:to>
                                    </p:set>
                                    <p:animEffect transition="in" filter="randombar(horizontal)">
                                      <p:cBhvr>
                                        <p:cTn id="13" dur="500"/>
                                        <p:tgtEl>
                                          <p:spTgt spid="2007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如何建立时序图</a:t>
            </a:r>
            <a:endParaRPr lang="zh-CN" altLang="en-US" dirty="0"/>
          </a:p>
        </p:txBody>
      </p:sp>
      <p:sp>
        <p:nvSpPr>
          <p:cNvPr id="6" name="内容占位符 5"/>
          <p:cNvSpPr>
            <a:spLocks noGrp="1"/>
          </p:cNvSpPr>
          <p:nvPr>
            <p:ph idx="1"/>
          </p:nvPr>
        </p:nvSpPr>
        <p:spPr>
          <a:xfrm>
            <a:off x="768098" y="992460"/>
            <a:ext cx="7929854" cy="3661504"/>
          </a:xfrm>
        </p:spPr>
        <p:txBody>
          <a:bodyPr>
            <a:normAutofit fontScale="77500" lnSpcReduction="20000"/>
          </a:bodyPr>
          <a:lstStyle/>
          <a:p>
            <a:pPr marL="457200" indent="-457200">
              <a:lnSpc>
                <a:spcPct val="120000"/>
              </a:lnSpc>
            </a:pPr>
            <a:r>
              <a:rPr lang="zh-CN" altLang="en-US" dirty="0" smtClean="0"/>
              <a:t>用例图和领域类图是时序图绘制的前提，是绘制时序图的基础。</a:t>
            </a:r>
            <a:endParaRPr lang="en-US" altLang="zh-CN" dirty="0" smtClean="0"/>
          </a:p>
          <a:p>
            <a:pPr marL="457200" indent="-457200">
              <a:lnSpc>
                <a:spcPct val="120000"/>
              </a:lnSpc>
            </a:pPr>
            <a:r>
              <a:rPr lang="zh-CN" altLang="en-US" dirty="0"/>
              <a:t>用</a:t>
            </a:r>
            <a:r>
              <a:rPr lang="zh-CN" altLang="en-US" dirty="0" smtClean="0"/>
              <a:t>例图和领域类图已经基本将框架描述清楚了，为了能够更加完整的设计出时序图，建议对业务分析报告进行认真研究，可以更加透彻的了解用户需求，可以更加准确的设计时序图。</a:t>
            </a:r>
            <a:endParaRPr lang="en-US" altLang="zh-CN" dirty="0" smtClean="0"/>
          </a:p>
          <a:p>
            <a:pPr marL="457200" indent="-457200">
              <a:lnSpc>
                <a:spcPct val="120000"/>
              </a:lnSpc>
            </a:pPr>
            <a:r>
              <a:rPr lang="zh-CN" altLang="en-US" dirty="0"/>
              <a:t>时序</a:t>
            </a:r>
            <a:r>
              <a:rPr lang="zh-CN" altLang="en-US" dirty="0" smtClean="0"/>
              <a:t>图其实就是对用例图的进一步说明，描述系统内部的动态结构，以及系统内部各个对象之间的通信关系。</a:t>
            </a:r>
            <a:endParaRPr lang="en-US" altLang="zh-CN" dirty="0" smtClean="0"/>
          </a:p>
          <a:p>
            <a:pPr marL="457200" indent="-457200">
              <a:lnSpc>
                <a:spcPct val="120000"/>
              </a:lnSpc>
            </a:pPr>
            <a:r>
              <a:rPr lang="zh-CN" altLang="en-US" dirty="0" smtClean="0"/>
              <a:t>由此可知，绘制时序图，可以首先针对用例图、用例描述以及业务分析报告等文档进行分析和解读。</a:t>
            </a:r>
            <a:endParaRPr lang="zh-CN" altLang="en-US" dirty="0"/>
          </a:p>
        </p:txBody>
      </p:sp>
      <p:sp>
        <p:nvSpPr>
          <p:cNvPr id="2" name="日期占位符 1"/>
          <p:cNvSpPr>
            <a:spLocks noGrp="1"/>
          </p:cNvSpPr>
          <p:nvPr>
            <p:ph type="dt" sz="half" idx="10"/>
          </p:nvPr>
        </p:nvSpPr>
        <p:spPr/>
        <p:txBody>
          <a:bodyPr/>
          <a:lstStyle/>
          <a:p>
            <a:fld id="{F36DE1BA-AF09-4BE7-93F4-43E81634D4FB}"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up)">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up)">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up)">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up)">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40" name="Rectangle 4"/>
          <p:cNvSpPr>
            <a:spLocks noChangeArrowheads="1"/>
          </p:cNvSpPr>
          <p:nvPr/>
        </p:nvSpPr>
        <p:spPr bwMode="auto">
          <a:xfrm>
            <a:off x="917188" y="828913"/>
            <a:ext cx="7769612" cy="3787319"/>
          </a:xfrm>
          <a:prstGeom prst="rect">
            <a:avLst/>
          </a:prstGeom>
          <a:noFill/>
          <a:ln w="9525">
            <a:noFill/>
            <a:miter lim="800000"/>
          </a:ln>
          <a:effectLst/>
        </p:spPr>
        <p:txBody>
          <a:bodyPr/>
          <a:lstStyle/>
          <a:p>
            <a:pPr marL="257175" indent="-257175">
              <a:lnSpc>
                <a:spcPct val="140000"/>
              </a:lnSpc>
              <a:spcBef>
                <a:spcPct val="20000"/>
              </a:spcBef>
            </a:pPr>
            <a:r>
              <a:rPr lang="zh-CN" altLang="en-US" sz="2000" dirty="0">
                <a:solidFill>
                  <a:schemeClr val="tx2">
                    <a:lumMod val="90000"/>
                    <a:lumOff val="10000"/>
                  </a:schemeClr>
                </a:solidFill>
                <a:latin typeface="+mj-ea"/>
                <a:ea typeface="+mj-ea"/>
              </a:rPr>
              <a:t>① 从用例中识别交互过程</a:t>
            </a:r>
            <a:r>
              <a:rPr lang="en-US" altLang="zh-CN" sz="2000" dirty="0">
                <a:solidFill>
                  <a:schemeClr val="tx2">
                    <a:lumMod val="90000"/>
                    <a:lumOff val="10000"/>
                  </a:schemeClr>
                </a:solidFill>
                <a:latin typeface="+mj-ea"/>
                <a:ea typeface="+mj-ea"/>
              </a:rPr>
              <a:t>;</a:t>
            </a:r>
            <a:endParaRPr lang="en-US" altLang="zh-CN" sz="2000" dirty="0">
              <a:solidFill>
                <a:schemeClr val="tx2">
                  <a:lumMod val="90000"/>
                  <a:lumOff val="10000"/>
                </a:schemeClr>
              </a:solidFill>
              <a:latin typeface="+mj-ea"/>
              <a:ea typeface="+mj-ea"/>
            </a:endParaRPr>
          </a:p>
          <a:p>
            <a:pPr marL="257175" indent="-257175">
              <a:lnSpc>
                <a:spcPct val="140000"/>
              </a:lnSpc>
              <a:spcBef>
                <a:spcPct val="20000"/>
              </a:spcBef>
            </a:pPr>
            <a:r>
              <a:rPr lang="zh-CN" altLang="zh-CN" sz="2000" dirty="0">
                <a:solidFill>
                  <a:schemeClr val="tx2">
                    <a:lumMod val="90000"/>
                    <a:lumOff val="10000"/>
                  </a:schemeClr>
                </a:solidFill>
                <a:latin typeface="+mj-ea"/>
                <a:ea typeface="+mj-ea"/>
              </a:rPr>
              <a:t>②</a:t>
            </a:r>
            <a:r>
              <a:rPr lang="en-US" altLang="zh-CN" sz="2000" dirty="0">
                <a:solidFill>
                  <a:schemeClr val="tx2">
                    <a:lumMod val="90000"/>
                    <a:lumOff val="10000"/>
                  </a:schemeClr>
                </a:solidFill>
                <a:latin typeface="+mj-ea"/>
                <a:ea typeface="+mj-ea"/>
              </a:rPr>
              <a:t> </a:t>
            </a:r>
            <a:r>
              <a:rPr lang="zh-CN" altLang="en-US" sz="2000" dirty="0">
                <a:solidFill>
                  <a:schemeClr val="tx2">
                    <a:lumMod val="90000"/>
                    <a:lumOff val="10000"/>
                  </a:schemeClr>
                </a:solidFill>
                <a:latin typeface="+mj-ea"/>
                <a:ea typeface="+mj-ea"/>
              </a:rPr>
              <a:t>识别参与交互过程的对象（包括用例的参与者、边界对象和控制对象）</a:t>
            </a:r>
            <a:r>
              <a:rPr lang="en-US" altLang="zh-CN" sz="2000" dirty="0">
                <a:solidFill>
                  <a:schemeClr val="tx2">
                    <a:lumMod val="90000"/>
                    <a:lumOff val="10000"/>
                  </a:schemeClr>
                </a:solidFill>
                <a:latin typeface="+mj-ea"/>
                <a:ea typeface="+mj-ea"/>
              </a:rPr>
              <a:t>;</a:t>
            </a:r>
            <a:endParaRPr lang="en-US" altLang="zh-CN" sz="2000" dirty="0">
              <a:solidFill>
                <a:schemeClr val="tx2">
                  <a:lumMod val="90000"/>
                  <a:lumOff val="10000"/>
                </a:schemeClr>
              </a:solidFill>
              <a:latin typeface="+mj-ea"/>
              <a:ea typeface="+mj-ea"/>
            </a:endParaRPr>
          </a:p>
          <a:p>
            <a:pPr marL="257175" indent="-257175">
              <a:lnSpc>
                <a:spcPct val="140000"/>
              </a:lnSpc>
              <a:spcBef>
                <a:spcPct val="20000"/>
              </a:spcBef>
            </a:pPr>
            <a:r>
              <a:rPr lang="en-US" altLang="zh-CN" sz="2000" dirty="0">
                <a:solidFill>
                  <a:schemeClr val="tx2">
                    <a:lumMod val="90000"/>
                    <a:lumOff val="10000"/>
                  </a:schemeClr>
                </a:solidFill>
                <a:latin typeface="+mj-ea"/>
                <a:ea typeface="+mj-ea"/>
              </a:rPr>
              <a:t>③ </a:t>
            </a:r>
            <a:r>
              <a:rPr lang="zh-CN" altLang="en-US" sz="2000" dirty="0">
                <a:solidFill>
                  <a:schemeClr val="tx2">
                    <a:lumMod val="90000"/>
                    <a:lumOff val="10000"/>
                  </a:schemeClr>
                </a:solidFill>
                <a:latin typeface="+mj-ea"/>
                <a:ea typeface="+mj-ea"/>
              </a:rPr>
              <a:t>为每一个对象设置生命线，并确定对象的存在期限</a:t>
            </a:r>
            <a:r>
              <a:rPr lang="en-US" altLang="zh-CN" sz="2000" dirty="0">
                <a:solidFill>
                  <a:schemeClr val="tx2">
                    <a:lumMod val="90000"/>
                    <a:lumOff val="10000"/>
                  </a:schemeClr>
                </a:solidFill>
                <a:latin typeface="+mj-ea"/>
                <a:ea typeface="+mj-ea"/>
              </a:rPr>
              <a:t>;</a:t>
            </a:r>
            <a:endParaRPr lang="en-US" altLang="zh-CN" sz="2000" dirty="0">
              <a:solidFill>
                <a:schemeClr val="tx2">
                  <a:lumMod val="90000"/>
                  <a:lumOff val="10000"/>
                </a:schemeClr>
              </a:solidFill>
              <a:latin typeface="+mj-ea"/>
              <a:ea typeface="+mj-ea"/>
            </a:endParaRPr>
          </a:p>
          <a:p>
            <a:pPr marL="257175" indent="-257175">
              <a:lnSpc>
                <a:spcPct val="140000"/>
              </a:lnSpc>
              <a:spcBef>
                <a:spcPct val="20000"/>
              </a:spcBef>
            </a:pPr>
            <a:r>
              <a:rPr lang="en-US" altLang="zh-CN" sz="2000" dirty="0">
                <a:solidFill>
                  <a:schemeClr val="tx2">
                    <a:lumMod val="90000"/>
                    <a:lumOff val="10000"/>
                  </a:schemeClr>
                </a:solidFill>
                <a:latin typeface="+mj-ea"/>
                <a:ea typeface="+mj-ea"/>
              </a:rPr>
              <a:t>④ </a:t>
            </a:r>
            <a:r>
              <a:rPr lang="zh-CN" altLang="en-US" sz="2000" dirty="0">
                <a:solidFill>
                  <a:schemeClr val="tx2">
                    <a:lumMod val="90000"/>
                    <a:lumOff val="10000"/>
                  </a:schemeClr>
                </a:solidFill>
                <a:latin typeface="+mj-ea"/>
                <a:ea typeface="+mj-ea"/>
              </a:rPr>
              <a:t>按时间顺序列出分析对象之间进行消息传递的序列，从引发交互的初始消息开始，在对象生命线上依次画出交互的消息</a:t>
            </a:r>
            <a:r>
              <a:rPr lang="en-US" altLang="zh-CN" sz="2000" dirty="0">
                <a:solidFill>
                  <a:schemeClr val="tx2">
                    <a:lumMod val="90000"/>
                    <a:lumOff val="10000"/>
                  </a:schemeClr>
                </a:solidFill>
                <a:latin typeface="+mj-ea"/>
                <a:ea typeface="+mj-ea"/>
              </a:rPr>
              <a:t>;</a:t>
            </a:r>
            <a:endParaRPr lang="en-US" altLang="zh-CN" sz="2000" dirty="0">
              <a:solidFill>
                <a:schemeClr val="tx2">
                  <a:lumMod val="90000"/>
                  <a:lumOff val="10000"/>
                </a:schemeClr>
              </a:solidFill>
              <a:latin typeface="+mj-ea"/>
              <a:ea typeface="+mj-ea"/>
            </a:endParaRPr>
          </a:p>
          <a:p>
            <a:pPr marL="257175" indent="-257175">
              <a:lnSpc>
                <a:spcPct val="140000"/>
              </a:lnSpc>
              <a:spcBef>
                <a:spcPct val="20000"/>
              </a:spcBef>
            </a:pPr>
            <a:r>
              <a:rPr lang="en-US" altLang="zh-CN" sz="2000" dirty="0">
                <a:solidFill>
                  <a:schemeClr val="tx2">
                    <a:lumMod val="90000"/>
                    <a:lumOff val="10000"/>
                  </a:schemeClr>
                </a:solidFill>
                <a:latin typeface="+mj-ea"/>
                <a:ea typeface="+mj-ea"/>
              </a:rPr>
              <a:t>⑤ </a:t>
            </a:r>
            <a:r>
              <a:rPr lang="zh-CN" altLang="en-US" sz="2000" dirty="0">
                <a:solidFill>
                  <a:schemeClr val="tx2">
                    <a:lumMod val="90000"/>
                    <a:lumOff val="10000"/>
                  </a:schemeClr>
                </a:solidFill>
                <a:latin typeface="+mj-ea"/>
                <a:ea typeface="+mj-ea"/>
              </a:rPr>
              <a:t>如果需要，可以给消息增加时间约束，以及前置条件和后置条件。若备选流比较复杂，可以单独绘制时序图。</a:t>
            </a:r>
            <a:endParaRPr lang="zh-CN" altLang="en-US" sz="2000" dirty="0">
              <a:solidFill>
                <a:schemeClr val="tx2">
                  <a:lumMod val="90000"/>
                  <a:lumOff val="10000"/>
                </a:schemeClr>
              </a:solidFill>
              <a:latin typeface="+mj-ea"/>
              <a:ea typeface="+mj-ea"/>
            </a:endParaRPr>
          </a:p>
        </p:txBody>
      </p:sp>
      <p:sp>
        <p:nvSpPr>
          <p:cNvPr id="6" name="标题 5"/>
          <p:cNvSpPr>
            <a:spLocks noGrp="1"/>
          </p:cNvSpPr>
          <p:nvPr>
            <p:ph type="title"/>
          </p:nvPr>
        </p:nvSpPr>
        <p:spPr/>
        <p:txBody>
          <a:bodyPr/>
          <a:lstStyle/>
          <a:p>
            <a:r>
              <a:rPr kumimoji="1" lang="zh-CN" altLang="en-US" dirty="0"/>
              <a:t>建立时序图的</a:t>
            </a:r>
            <a:r>
              <a:rPr kumimoji="1" lang="zh-CN" altLang="en-US" dirty="0" smtClean="0"/>
              <a:t>步骤</a:t>
            </a:r>
            <a:endParaRPr lang="zh-CN" altLang="en-US" dirty="0"/>
          </a:p>
        </p:txBody>
      </p:sp>
      <p:sp>
        <p:nvSpPr>
          <p:cNvPr id="3" name="日期占位符 2"/>
          <p:cNvSpPr>
            <a:spLocks noGrp="1"/>
          </p:cNvSpPr>
          <p:nvPr>
            <p:ph type="dt" sz="half" idx="10"/>
          </p:nvPr>
        </p:nvSpPr>
        <p:spPr/>
        <p:txBody>
          <a:bodyPr/>
          <a:lstStyle/>
          <a:p>
            <a:fld id="{3949B9DC-EB33-4DD2-BD0E-8B927D551807}"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72740"/>
                                        </p:tgtEl>
                                        <p:attrNameLst>
                                          <p:attrName>style.visibility</p:attrName>
                                        </p:attrNameLst>
                                      </p:cBhvr>
                                      <p:to>
                                        <p:strVal val="visible"/>
                                      </p:to>
                                    </p:set>
                                    <p:animEffect transition="in" filter="wipe(up)">
                                      <p:cBhvr>
                                        <p:cTn id="7" dur="500"/>
                                        <p:tgtEl>
                                          <p:spTgt spid="372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40"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50000"/>
              </a:lnSpc>
            </a:pPr>
            <a:r>
              <a:rPr lang="zh-CN" altLang="en-US" sz="2400" dirty="0"/>
              <a:t>下面以网上报名系统为例，进行动态行为建模，分析时序图如何建立。</a:t>
            </a:r>
            <a:endParaRPr lang="zh-CN" altLang="en-US" sz="24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smtClean="0"/>
              <a:t>网上报名系统的动态行为建模</a:t>
            </a:r>
            <a:endParaRPr lang="zh-CN" altLang="en-US" dirty="0"/>
          </a:p>
        </p:txBody>
      </p:sp>
      <p:sp>
        <p:nvSpPr>
          <p:cNvPr id="5" name="日期占位符 4"/>
          <p:cNvSpPr>
            <a:spLocks noGrp="1"/>
          </p:cNvSpPr>
          <p:nvPr>
            <p:ph type="dt" sz="half" idx="10"/>
          </p:nvPr>
        </p:nvSpPr>
        <p:spPr/>
        <p:txBody>
          <a:bodyPr/>
          <a:lstStyle/>
          <a:p>
            <a:fld id="{9C493FCE-A892-490C-86BD-87B7FD2D632A}"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descr="http://s6.sinaimg.cn/large/885b4acehf35cbbb376f5&amp;690"/>
          <p:cNvPicPr>
            <a:picLocks noChangeAspect="1" noChangeArrowheads="1"/>
          </p:cNvPicPr>
          <p:nvPr/>
        </p:nvPicPr>
        <p:blipFill rotWithShape="1">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l="2229" r="1965"/>
          <a:stretch>
            <a:fillRect/>
          </a:stretch>
        </p:blipFill>
        <p:spPr bwMode="auto">
          <a:xfrm>
            <a:off x="2010552" y="0"/>
            <a:ext cx="6847698" cy="4666051"/>
          </a:xfrm>
          <a:prstGeom prst="rect">
            <a:avLst/>
          </a:prstGeom>
        </p:spPr>
        <p:style>
          <a:lnRef idx="2">
            <a:schemeClr val="accent1"/>
          </a:lnRef>
          <a:fillRef idx="1">
            <a:schemeClr val="lt1"/>
          </a:fillRef>
          <a:effectRef idx="0">
            <a:schemeClr val="accent1"/>
          </a:effectRef>
          <a:fontRef idx="minor">
            <a:schemeClr val="dk1"/>
          </a:fontRef>
        </p:style>
      </p:pic>
      <p:sp>
        <p:nvSpPr>
          <p:cNvPr id="11" name="标题 10"/>
          <p:cNvSpPr>
            <a:spLocks noGrp="1"/>
          </p:cNvSpPr>
          <p:nvPr>
            <p:ph type="title"/>
          </p:nvPr>
        </p:nvSpPr>
        <p:spPr/>
        <p:txBody>
          <a:bodyPr/>
          <a:lstStyle/>
          <a:p>
            <a:r>
              <a:rPr kumimoji="1" lang="zh-CN" altLang="en-US" dirty="0"/>
              <a:t>登录时序图     </a:t>
            </a:r>
            <a:endParaRPr lang="zh-CN" altLang="en-US" dirty="0"/>
          </a:p>
        </p:txBody>
      </p:sp>
      <p:sp>
        <p:nvSpPr>
          <p:cNvPr id="2" name="日期占位符 1"/>
          <p:cNvSpPr>
            <a:spLocks noGrp="1"/>
          </p:cNvSpPr>
          <p:nvPr>
            <p:ph type="dt" sz="half" idx="10"/>
          </p:nvPr>
        </p:nvSpPr>
        <p:spPr/>
        <p:txBody>
          <a:bodyPr/>
          <a:lstStyle/>
          <a:p>
            <a:fld id="{257B1245-0C8E-4981-B783-1F35F39F5BF8}"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32098"/>
                                        </p:tgtEl>
                                        <p:attrNameLst>
                                          <p:attrName>style.visibility</p:attrName>
                                        </p:attrNameLst>
                                      </p:cBhvr>
                                      <p:to>
                                        <p:strVal val="visible"/>
                                      </p:to>
                                    </p:set>
                                    <p:animEffect transition="in" filter="randombar(horizontal)">
                                      <p:cBhvr>
                                        <p:cTn id="7" dur="500"/>
                                        <p:tgtEl>
                                          <p:spTgt spid="132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6" name="标题 5"/>
          <p:cNvSpPr>
            <a:spLocks noGrp="1"/>
          </p:cNvSpPr>
          <p:nvPr>
            <p:ph type="title"/>
          </p:nvPr>
        </p:nvSpPr>
        <p:spPr/>
        <p:txBody>
          <a:bodyPr/>
          <a:lstStyle/>
          <a:p>
            <a:r>
              <a:rPr lang="zh-CN" altLang="en-US" dirty="0"/>
              <a:t>添加</a:t>
            </a:r>
            <a:r>
              <a:rPr lang="zh-CN" altLang="en-US" dirty="0" smtClean="0"/>
              <a:t>用户</a:t>
            </a:r>
            <a:endParaRPr lang="zh-CN" altLang="en-US" dirty="0"/>
          </a:p>
        </p:txBody>
      </p:sp>
      <p:graphicFrame>
        <p:nvGraphicFramePr>
          <p:cNvPr id="4" name="表格 3"/>
          <p:cNvGraphicFramePr>
            <a:graphicFrameLocks noGrp="1"/>
          </p:cNvGraphicFramePr>
          <p:nvPr/>
        </p:nvGraphicFramePr>
        <p:xfrm>
          <a:off x="768096" y="828913"/>
          <a:ext cx="8090154" cy="3819623"/>
        </p:xfrm>
        <a:graphic>
          <a:graphicData uri="http://schemas.openxmlformats.org/drawingml/2006/table">
            <a:tbl>
              <a:tblPr firstRow="1" firstCol="1" bandRow="1">
                <a:tableStyleId>{5C22544A-7EE6-4342-B048-85BDC9FD1C3A}</a:tableStyleId>
              </a:tblPr>
              <a:tblGrid>
                <a:gridCol w="1434037"/>
                <a:gridCol w="6656117"/>
              </a:tblGrid>
              <a:tr h="318302">
                <a:tc>
                  <a:txBody>
                    <a:bodyPr/>
                    <a:lstStyle/>
                    <a:p>
                      <a:pPr algn="ctr">
                        <a:spcAft>
                          <a:spcPts val="0"/>
                        </a:spcAft>
                      </a:pPr>
                      <a:r>
                        <a:rPr lang="zh-CN" sz="1600" kern="100" dirty="0">
                          <a:effectLst/>
                          <a:latin typeface="+mj-ea"/>
                          <a:ea typeface="+mj-ea"/>
                        </a:rPr>
                        <a:t>用例名</a:t>
                      </a:r>
                      <a:endParaRPr lang="zh-CN" sz="1600" kern="100" dirty="0">
                        <a:effectLst/>
                        <a:latin typeface="+mj-ea"/>
                        <a:ea typeface="+mj-ea"/>
                        <a:cs typeface="Times New Roman" panose="02020603050405020304"/>
                      </a:endParaRPr>
                    </a:p>
                  </a:txBody>
                  <a:tcPr marL="51435" marR="51435" marT="0" marB="0"/>
                </a:tc>
                <a:tc>
                  <a:txBody>
                    <a:bodyPr/>
                    <a:lstStyle/>
                    <a:p>
                      <a:pPr algn="just">
                        <a:spcAft>
                          <a:spcPts val="0"/>
                        </a:spcAft>
                      </a:pPr>
                      <a:r>
                        <a:rPr lang="zh-CN" altLang="en-US" sz="1600" kern="100" dirty="0" smtClean="0">
                          <a:effectLst/>
                          <a:latin typeface="+mj-ea"/>
                          <a:ea typeface="+mj-ea"/>
                        </a:rPr>
                        <a:t>添加</a:t>
                      </a:r>
                      <a:r>
                        <a:rPr lang="zh-CN" sz="1600" kern="100" dirty="0" smtClean="0">
                          <a:effectLst/>
                          <a:latin typeface="+mj-ea"/>
                          <a:ea typeface="+mj-ea"/>
                        </a:rPr>
                        <a:t>用户</a:t>
                      </a:r>
                      <a:endParaRPr lang="zh-CN" sz="1600" kern="100" dirty="0">
                        <a:effectLst/>
                        <a:latin typeface="+mj-ea"/>
                        <a:ea typeface="+mj-ea"/>
                        <a:cs typeface="Times New Roman" panose="02020603050405020304"/>
                      </a:endParaRPr>
                    </a:p>
                  </a:txBody>
                  <a:tcPr marL="51435" marR="51435" marT="0" marB="0"/>
                </a:tc>
              </a:tr>
              <a:tr h="318302">
                <a:tc>
                  <a:txBody>
                    <a:bodyPr/>
                    <a:lstStyle/>
                    <a:p>
                      <a:pPr algn="ctr">
                        <a:spcAft>
                          <a:spcPts val="0"/>
                        </a:spcAft>
                      </a:pPr>
                      <a:r>
                        <a:rPr lang="zh-CN" sz="1600" kern="100" dirty="0">
                          <a:effectLst/>
                          <a:latin typeface="+mj-ea"/>
                          <a:ea typeface="+mj-ea"/>
                        </a:rPr>
                        <a:t>用例描述</a:t>
                      </a:r>
                      <a:endParaRPr lang="zh-CN" sz="1600" kern="100" dirty="0">
                        <a:effectLst/>
                        <a:latin typeface="+mj-ea"/>
                        <a:ea typeface="+mj-ea"/>
                        <a:cs typeface="Times New Roman" panose="02020603050405020304"/>
                      </a:endParaRPr>
                    </a:p>
                  </a:txBody>
                  <a:tcPr marL="51435" marR="51435" marT="0" marB="0"/>
                </a:tc>
                <a:tc>
                  <a:txBody>
                    <a:bodyPr/>
                    <a:lstStyle/>
                    <a:p>
                      <a:pPr algn="just">
                        <a:spcAft>
                          <a:spcPts val="0"/>
                        </a:spcAft>
                      </a:pPr>
                      <a:r>
                        <a:rPr lang="zh-CN" sz="1600" kern="100" dirty="0">
                          <a:effectLst/>
                          <a:latin typeface="+mj-ea"/>
                          <a:ea typeface="+mj-ea"/>
                        </a:rPr>
                        <a:t>管理员添加省队用户信息</a:t>
                      </a:r>
                      <a:endParaRPr lang="zh-CN" sz="1600" kern="100" dirty="0">
                        <a:effectLst/>
                        <a:latin typeface="+mj-ea"/>
                        <a:ea typeface="+mj-ea"/>
                        <a:cs typeface="Times New Roman" panose="02020603050405020304"/>
                      </a:endParaRPr>
                    </a:p>
                  </a:txBody>
                  <a:tcPr marL="51435" marR="51435" marT="0" marB="0"/>
                </a:tc>
              </a:tr>
              <a:tr h="318302">
                <a:tc>
                  <a:txBody>
                    <a:bodyPr/>
                    <a:lstStyle/>
                    <a:p>
                      <a:pPr algn="ctr">
                        <a:spcAft>
                          <a:spcPts val="0"/>
                        </a:spcAft>
                      </a:pPr>
                      <a:r>
                        <a:rPr lang="zh-CN" sz="1600" kern="100" dirty="0">
                          <a:effectLst/>
                          <a:latin typeface="+mj-ea"/>
                          <a:ea typeface="+mj-ea"/>
                        </a:rPr>
                        <a:t>参与者</a:t>
                      </a:r>
                      <a:endParaRPr lang="zh-CN" sz="1600" kern="100" dirty="0">
                        <a:effectLst/>
                        <a:latin typeface="+mj-ea"/>
                        <a:ea typeface="+mj-ea"/>
                        <a:cs typeface="Times New Roman" panose="02020603050405020304"/>
                      </a:endParaRPr>
                    </a:p>
                  </a:txBody>
                  <a:tcPr marL="51435" marR="51435" marT="0" marB="0"/>
                </a:tc>
                <a:tc>
                  <a:txBody>
                    <a:bodyPr/>
                    <a:lstStyle/>
                    <a:p>
                      <a:pPr algn="just">
                        <a:spcAft>
                          <a:spcPts val="0"/>
                        </a:spcAft>
                      </a:pPr>
                      <a:r>
                        <a:rPr lang="zh-CN" sz="1600" kern="100">
                          <a:effectLst/>
                          <a:latin typeface="+mj-ea"/>
                          <a:ea typeface="+mj-ea"/>
                        </a:rPr>
                        <a:t>赛艇协会管理员</a:t>
                      </a:r>
                      <a:endParaRPr lang="zh-CN" sz="1600" kern="100">
                        <a:effectLst/>
                        <a:latin typeface="+mj-ea"/>
                        <a:ea typeface="+mj-ea"/>
                        <a:cs typeface="Times New Roman" panose="02020603050405020304"/>
                      </a:endParaRPr>
                    </a:p>
                  </a:txBody>
                  <a:tcPr marL="51435" marR="51435" marT="0" marB="0"/>
                </a:tc>
              </a:tr>
              <a:tr h="318302">
                <a:tc>
                  <a:txBody>
                    <a:bodyPr/>
                    <a:lstStyle/>
                    <a:p>
                      <a:pPr algn="ctr">
                        <a:spcAft>
                          <a:spcPts val="0"/>
                        </a:spcAft>
                      </a:pPr>
                      <a:r>
                        <a:rPr lang="zh-CN" sz="1600" kern="100" dirty="0">
                          <a:effectLst/>
                          <a:latin typeface="+mj-ea"/>
                          <a:ea typeface="+mj-ea"/>
                        </a:rPr>
                        <a:t>前置条件</a:t>
                      </a:r>
                      <a:endParaRPr lang="zh-CN" sz="1600" kern="100" dirty="0">
                        <a:effectLst/>
                        <a:latin typeface="+mj-ea"/>
                        <a:ea typeface="+mj-ea"/>
                        <a:cs typeface="Times New Roman" panose="02020603050405020304"/>
                      </a:endParaRPr>
                    </a:p>
                  </a:txBody>
                  <a:tcPr marL="51435" marR="51435" marT="0" marB="0"/>
                </a:tc>
                <a:tc>
                  <a:txBody>
                    <a:bodyPr/>
                    <a:lstStyle/>
                    <a:p>
                      <a:pPr algn="just">
                        <a:spcAft>
                          <a:spcPts val="0"/>
                        </a:spcAft>
                      </a:pPr>
                      <a:r>
                        <a:rPr lang="zh-CN" sz="1600" kern="100">
                          <a:effectLst/>
                          <a:latin typeface="+mj-ea"/>
                          <a:ea typeface="+mj-ea"/>
                        </a:rPr>
                        <a:t>点击“用户管理”</a:t>
                      </a:r>
                      <a:endParaRPr lang="zh-CN" sz="1600" kern="100">
                        <a:effectLst/>
                        <a:latin typeface="+mj-ea"/>
                        <a:ea typeface="+mj-ea"/>
                        <a:cs typeface="Times New Roman" panose="02020603050405020304"/>
                      </a:endParaRPr>
                    </a:p>
                  </a:txBody>
                  <a:tcPr marL="51435" marR="51435" marT="0" marB="0"/>
                </a:tc>
              </a:tr>
              <a:tr h="1591509">
                <a:tc>
                  <a:txBody>
                    <a:bodyPr/>
                    <a:lstStyle/>
                    <a:p>
                      <a:pPr algn="ctr">
                        <a:spcAft>
                          <a:spcPts val="0"/>
                        </a:spcAft>
                      </a:pPr>
                      <a:r>
                        <a:rPr lang="zh-CN" sz="1600" kern="100" dirty="0">
                          <a:effectLst/>
                          <a:latin typeface="+mj-ea"/>
                          <a:ea typeface="+mj-ea"/>
                        </a:rPr>
                        <a:t>基本路径</a:t>
                      </a:r>
                      <a:endParaRPr lang="zh-CN" sz="1600" kern="100" dirty="0">
                        <a:effectLst/>
                        <a:latin typeface="+mj-ea"/>
                        <a:ea typeface="+mj-ea"/>
                        <a:cs typeface="Times New Roman" panose="02020603050405020304"/>
                      </a:endParaRPr>
                    </a:p>
                  </a:txBody>
                  <a:tcPr marL="51435" marR="51435" marT="0" marB="0"/>
                </a:tc>
                <a:tc>
                  <a:txBody>
                    <a:bodyPr/>
                    <a:lstStyle/>
                    <a:p>
                      <a:pPr marL="342900" lvl="0" indent="-342900" algn="just">
                        <a:spcAft>
                          <a:spcPts val="0"/>
                        </a:spcAft>
                        <a:buFont typeface="+mj-lt"/>
                        <a:buAutoNum type="arabicPeriod"/>
                      </a:pPr>
                      <a:r>
                        <a:rPr lang="zh-CN" sz="1600" kern="100" dirty="0">
                          <a:effectLst/>
                          <a:latin typeface="+mj-ea"/>
                          <a:ea typeface="+mj-ea"/>
                        </a:rPr>
                        <a:t>点击</a:t>
                      </a:r>
                      <a:r>
                        <a:rPr lang="zh-CN" sz="1600" kern="100" dirty="0" smtClean="0">
                          <a:effectLst/>
                          <a:latin typeface="+mj-ea"/>
                          <a:ea typeface="+mj-ea"/>
                        </a:rPr>
                        <a:t>“添加”</a:t>
                      </a:r>
                      <a:endParaRPr lang="en-US" altLang="zh-CN" sz="1600" kern="100" dirty="0" smtClean="0">
                        <a:effectLst/>
                        <a:latin typeface="+mj-ea"/>
                        <a:ea typeface="+mj-ea"/>
                      </a:endParaRPr>
                    </a:p>
                    <a:p>
                      <a:pPr marL="342900" lvl="0" indent="-342900" algn="just">
                        <a:spcAft>
                          <a:spcPts val="0"/>
                        </a:spcAft>
                        <a:buFont typeface="+mj-lt"/>
                        <a:buAutoNum type="arabicPeriod"/>
                      </a:pPr>
                      <a:r>
                        <a:rPr lang="zh-CN" altLang="en-US" sz="1600" kern="100" dirty="0" smtClean="0">
                          <a:effectLst/>
                          <a:latin typeface="+mj-ea"/>
                          <a:ea typeface="+mj-ea"/>
                        </a:rPr>
                        <a:t>从下拉列表中选择用户类型（本科生、硕士研究生、博士研究生）。</a:t>
                      </a:r>
                      <a:endParaRPr lang="zh-CN" sz="1600" kern="100" dirty="0">
                        <a:effectLst/>
                        <a:latin typeface="+mj-ea"/>
                        <a:ea typeface="+mj-ea"/>
                      </a:endParaRPr>
                    </a:p>
                    <a:p>
                      <a:pPr marL="342900" lvl="0" indent="-342900" algn="just">
                        <a:spcAft>
                          <a:spcPts val="0"/>
                        </a:spcAft>
                        <a:buFont typeface="+mj-lt"/>
                        <a:buAutoNum type="arabicPeriod"/>
                      </a:pPr>
                      <a:r>
                        <a:rPr lang="zh-CN" sz="1600" kern="100" dirty="0">
                          <a:effectLst/>
                          <a:latin typeface="+mj-ea"/>
                          <a:ea typeface="+mj-ea"/>
                        </a:rPr>
                        <a:t>输入用户信息（用户名，真实姓名，密码，提示问题，答案</a:t>
                      </a:r>
                      <a:r>
                        <a:rPr lang="zh-CN" sz="1600" kern="100" dirty="0" smtClean="0">
                          <a:effectLst/>
                          <a:latin typeface="+mj-ea"/>
                          <a:ea typeface="+mj-ea"/>
                        </a:rPr>
                        <a:t>，联系</a:t>
                      </a:r>
                      <a:r>
                        <a:rPr lang="zh-CN" sz="1600" kern="100" dirty="0">
                          <a:effectLst/>
                          <a:latin typeface="+mj-ea"/>
                          <a:ea typeface="+mj-ea"/>
                        </a:rPr>
                        <a:t>电话</a:t>
                      </a:r>
                      <a:r>
                        <a:rPr lang="zh-CN" sz="1600" kern="100" dirty="0" smtClean="0">
                          <a:effectLst/>
                          <a:latin typeface="+mj-ea"/>
                          <a:ea typeface="+mj-ea"/>
                        </a:rPr>
                        <a:t>，备注</a:t>
                      </a:r>
                      <a:r>
                        <a:rPr lang="zh-CN" sz="1600" kern="100" dirty="0">
                          <a:effectLst/>
                          <a:latin typeface="+mj-ea"/>
                          <a:ea typeface="+mj-ea"/>
                        </a:rPr>
                        <a:t>）</a:t>
                      </a:r>
                      <a:endParaRPr lang="zh-CN" sz="1600" kern="100" dirty="0">
                        <a:effectLst/>
                        <a:latin typeface="+mj-ea"/>
                        <a:ea typeface="+mj-ea"/>
                      </a:endParaRPr>
                    </a:p>
                    <a:p>
                      <a:pPr marL="342900" lvl="0" indent="-342900" algn="just">
                        <a:spcAft>
                          <a:spcPts val="0"/>
                        </a:spcAft>
                        <a:buFont typeface="+mj-lt"/>
                        <a:buAutoNum type="arabicPeriod"/>
                      </a:pPr>
                      <a:r>
                        <a:rPr lang="zh-CN" sz="1600" kern="100" dirty="0">
                          <a:effectLst/>
                          <a:latin typeface="+mj-ea"/>
                          <a:ea typeface="+mj-ea"/>
                        </a:rPr>
                        <a:t>点击“添加”按钮</a:t>
                      </a:r>
                      <a:endParaRPr lang="zh-CN" sz="1600" kern="100" dirty="0">
                        <a:effectLst/>
                        <a:latin typeface="+mj-ea"/>
                        <a:ea typeface="+mj-ea"/>
                      </a:endParaRPr>
                    </a:p>
                    <a:p>
                      <a:pPr marL="342900" lvl="0" indent="-342900" algn="just">
                        <a:spcAft>
                          <a:spcPts val="0"/>
                        </a:spcAft>
                        <a:buFont typeface="+mj-lt"/>
                        <a:buAutoNum type="arabicPeriod"/>
                      </a:pPr>
                      <a:r>
                        <a:rPr lang="zh-CN" sz="1600" kern="100" dirty="0">
                          <a:effectLst/>
                          <a:latin typeface="+mj-ea"/>
                          <a:ea typeface="+mj-ea"/>
                        </a:rPr>
                        <a:t>显示添加成功</a:t>
                      </a:r>
                      <a:endParaRPr lang="zh-CN" sz="1600" kern="100" dirty="0">
                        <a:effectLst/>
                        <a:latin typeface="+mj-ea"/>
                        <a:ea typeface="+mj-ea"/>
                        <a:cs typeface="Times New Roman" panose="02020603050405020304"/>
                      </a:endParaRPr>
                    </a:p>
                  </a:txBody>
                  <a:tcPr marL="51435" marR="51435" marT="0" marB="0"/>
                </a:tc>
              </a:tr>
              <a:tr h="318302">
                <a:tc>
                  <a:txBody>
                    <a:bodyPr/>
                    <a:lstStyle/>
                    <a:p>
                      <a:pPr algn="ctr">
                        <a:spcAft>
                          <a:spcPts val="0"/>
                        </a:spcAft>
                      </a:pPr>
                      <a:r>
                        <a:rPr lang="zh-CN" sz="1600" kern="100" dirty="0">
                          <a:effectLst/>
                          <a:latin typeface="+mj-ea"/>
                          <a:ea typeface="+mj-ea"/>
                        </a:rPr>
                        <a:t>其他路径</a:t>
                      </a:r>
                      <a:endParaRPr lang="zh-CN" sz="1600" kern="100" dirty="0">
                        <a:effectLst/>
                        <a:latin typeface="+mj-ea"/>
                        <a:ea typeface="+mj-ea"/>
                        <a:cs typeface="Times New Roman" panose="02020603050405020304"/>
                      </a:endParaRPr>
                    </a:p>
                  </a:txBody>
                  <a:tcPr marL="51435" marR="51435" marT="0" marB="0"/>
                </a:tc>
                <a:tc>
                  <a:txBody>
                    <a:bodyPr/>
                    <a:lstStyle/>
                    <a:p>
                      <a:pPr algn="just">
                        <a:spcAft>
                          <a:spcPts val="0"/>
                        </a:spcAft>
                      </a:pPr>
                      <a:r>
                        <a:rPr lang="en-US" sz="1600" kern="100" dirty="0" smtClean="0">
                          <a:effectLst/>
                          <a:latin typeface="+mj-ea"/>
                          <a:ea typeface="+mj-ea"/>
                        </a:rPr>
                        <a:t>4 </a:t>
                      </a:r>
                      <a:r>
                        <a:rPr lang="en-US" sz="1600" kern="100" dirty="0">
                          <a:effectLst/>
                          <a:latin typeface="+mj-ea"/>
                          <a:ea typeface="+mj-ea"/>
                        </a:rPr>
                        <a:t>b</a:t>
                      </a:r>
                      <a:r>
                        <a:rPr lang="zh-CN" sz="1600" kern="100" dirty="0">
                          <a:effectLst/>
                          <a:latin typeface="+mj-ea"/>
                          <a:ea typeface="+mj-ea"/>
                        </a:rPr>
                        <a:t>）点击取消，返回到用户信息页面</a:t>
                      </a:r>
                      <a:endParaRPr lang="zh-CN" sz="1600" kern="100" dirty="0">
                        <a:effectLst/>
                        <a:latin typeface="+mj-ea"/>
                        <a:ea typeface="+mj-ea"/>
                        <a:cs typeface="Times New Roman" panose="02020603050405020304"/>
                      </a:endParaRPr>
                    </a:p>
                  </a:txBody>
                  <a:tcPr marL="51435" marR="51435" marT="0" marB="0"/>
                </a:tc>
              </a:tr>
              <a:tr h="318302">
                <a:tc>
                  <a:txBody>
                    <a:bodyPr/>
                    <a:lstStyle/>
                    <a:p>
                      <a:pPr algn="ctr">
                        <a:spcAft>
                          <a:spcPts val="0"/>
                        </a:spcAft>
                      </a:pPr>
                      <a:r>
                        <a:rPr lang="zh-CN" sz="1600" kern="100" dirty="0">
                          <a:effectLst/>
                          <a:latin typeface="+mj-ea"/>
                          <a:ea typeface="+mj-ea"/>
                        </a:rPr>
                        <a:t>异常事件</a:t>
                      </a:r>
                      <a:endParaRPr lang="zh-CN" sz="1600" kern="100" dirty="0">
                        <a:effectLst/>
                        <a:latin typeface="+mj-ea"/>
                        <a:ea typeface="+mj-ea"/>
                        <a:cs typeface="Times New Roman" panose="02020603050405020304"/>
                      </a:endParaRPr>
                    </a:p>
                  </a:txBody>
                  <a:tcPr marL="51435" marR="51435" marT="0" marB="0"/>
                </a:tc>
                <a:tc>
                  <a:txBody>
                    <a:bodyPr/>
                    <a:lstStyle/>
                    <a:p>
                      <a:pPr algn="just">
                        <a:spcAft>
                          <a:spcPts val="0"/>
                        </a:spcAft>
                      </a:pPr>
                      <a:r>
                        <a:rPr lang="zh-CN" sz="1600" kern="100">
                          <a:effectLst/>
                          <a:latin typeface="+mj-ea"/>
                          <a:ea typeface="+mj-ea"/>
                        </a:rPr>
                        <a:t>无</a:t>
                      </a:r>
                      <a:endParaRPr lang="zh-CN" sz="1600" kern="100">
                        <a:effectLst/>
                        <a:latin typeface="+mj-ea"/>
                        <a:ea typeface="+mj-ea"/>
                        <a:cs typeface="Times New Roman" panose="02020603050405020304"/>
                      </a:endParaRPr>
                    </a:p>
                  </a:txBody>
                  <a:tcPr marL="51435" marR="51435" marT="0" marB="0"/>
                </a:tc>
              </a:tr>
              <a:tr h="318302">
                <a:tc>
                  <a:txBody>
                    <a:bodyPr/>
                    <a:lstStyle/>
                    <a:p>
                      <a:pPr algn="ctr">
                        <a:spcAft>
                          <a:spcPts val="0"/>
                        </a:spcAft>
                      </a:pPr>
                      <a:r>
                        <a:rPr lang="zh-CN" sz="1600" kern="100" dirty="0">
                          <a:effectLst/>
                          <a:latin typeface="+mj-ea"/>
                          <a:ea typeface="+mj-ea"/>
                        </a:rPr>
                        <a:t>后置条件</a:t>
                      </a:r>
                      <a:endParaRPr lang="zh-CN" sz="1600" kern="100" dirty="0">
                        <a:effectLst/>
                        <a:latin typeface="+mj-ea"/>
                        <a:ea typeface="+mj-ea"/>
                        <a:cs typeface="Times New Roman" panose="02020603050405020304"/>
                      </a:endParaRPr>
                    </a:p>
                  </a:txBody>
                  <a:tcPr marL="51435" marR="51435" marT="0" marB="0"/>
                </a:tc>
                <a:tc>
                  <a:txBody>
                    <a:bodyPr/>
                    <a:lstStyle/>
                    <a:p>
                      <a:pPr algn="just">
                        <a:spcAft>
                          <a:spcPts val="0"/>
                        </a:spcAft>
                      </a:pPr>
                      <a:r>
                        <a:rPr lang="zh-CN" sz="1600" kern="100" dirty="0">
                          <a:effectLst/>
                          <a:latin typeface="+mj-ea"/>
                          <a:ea typeface="+mj-ea"/>
                        </a:rPr>
                        <a:t>无</a:t>
                      </a:r>
                      <a:endParaRPr lang="zh-CN" sz="1600" kern="100" dirty="0">
                        <a:effectLst/>
                        <a:latin typeface="+mj-ea"/>
                        <a:ea typeface="+mj-ea"/>
                        <a:cs typeface="Times New Roman" panose="02020603050405020304"/>
                      </a:endParaRPr>
                    </a:p>
                  </a:txBody>
                  <a:tcPr marL="51435" marR="51435" marT="0" marB="0"/>
                </a:tc>
              </a:tr>
            </a:tbl>
          </a:graphicData>
        </a:graphic>
      </p:graphicFrame>
      <p:sp>
        <p:nvSpPr>
          <p:cNvPr id="3" name="日期占位符 2"/>
          <p:cNvSpPr>
            <a:spLocks noGrp="1"/>
          </p:cNvSpPr>
          <p:nvPr>
            <p:ph type="dt" sz="half" idx="10"/>
          </p:nvPr>
        </p:nvSpPr>
        <p:spPr/>
        <p:txBody>
          <a:bodyPr/>
          <a:lstStyle/>
          <a:p>
            <a:fld id="{DC5E395C-BD5F-4073-973B-F741F4D0A9E6}"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http://s13.sinaimg.cn/orignal/885b4acehb8955fc066bc&amp;690"/>
          <p:cNvPicPr>
            <a:picLocks noChangeAspect="1" noChangeArrowheads="1"/>
          </p:cNvPicPr>
          <p:nvPr/>
        </p:nvPicPr>
        <p:blipFill rotWithShape="1">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l="2983" b="2846"/>
          <a:stretch>
            <a:fillRect/>
          </a:stretch>
        </p:blipFill>
        <p:spPr bwMode="auto">
          <a:xfrm>
            <a:off x="2866210" y="36942"/>
            <a:ext cx="5143500" cy="5021826"/>
          </a:xfrm>
          <a:prstGeom prst="rect">
            <a:avLst/>
          </a:prstGeom>
        </p:spPr>
        <p:style>
          <a:lnRef idx="2">
            <a:schemeClr val="accent1"/>
          </a:lnRef>
          <a:fillRef idx="1">
            <a:schemeClr val="lt1"/>
          </a:fillRef>
          <a:effectRef idx="0">
            <a:schemeClr val="accent1"/>
          </a:effectRef>
          <a:fontRef idx="minor">
            <a:schemeClr val="dk1"/>
          </a:fontRef>
        </p:style>
      </p:pic>
      <p:sp>
        <p:nvSpPr>
          <p:cNvPr id="11" name="标题 10"/>
          <p:cNvSpPr>
            <a:spLocks noGrp="1"/>
          </p:cNvSpPr>
          <p:nvPr>
            <p:ph type="title"/>
          </p:nvPr>
        </p:nvSpPr>
        <p:spPr/>
        <p:txBody>
          <a:bodyPr vert="horz">
            <a:normAutofit/>
          </a:bodyPr>
          <a:lstStyle/>
          <a:p>
            <a:r>
              <a:rPr lang="zh-CN" altLang="en-US" dirty="0"/>
              <a:t>添加用户</a:t>
            </a:r>
            <a:endParaRPr lang="zh-CN" altLang="en-US" dirty="0"/>
          </a:p>
        </p:txBody>
      </p:sp>
      <p:sp>
        <p:nvSpPr>
          <p:cNvPr id="3" name="日期占位符 2"/>
          <p:cNvSpPr>
            <a:spLocks noGrp="1"/>
          </p:cNvSpPr>
          <p:nvPr>
            <p:ph type="dt" sz="half" idx="10"/>
          </p:nvPr>
        </p:nvSpPr>
        <p:spPr/>
        <p:txBody>
          <a:bodyPr/>
          <a:lstStyle/>
          <a:p>
            <a:fld id="{92FF8FB8-63BD-4905-B86D-FF2B5DFFE4D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vert="horz">
            <a:normAutofit/>
          </a:bodyPr>
          <a:lstStyle/>
          <a:p>
            <a:r>
              <a:rPr lang="zh-CN" altLang="en-US" dirty="0" smtClean="0"/>
              <a:t>管理员</a:t>
            </a:r>
            <a:r>
              <a:rPr lang="zh-CN" altLang="en-US" dirty="0"/>
              <a:t>添加</a:t>
            </a:r>
            <a:r>
              <a:rPr lang="zh-CN" altLang="en-US" dirty="0" smtClean="0"/>
              <a:t>用户时序图</a:t>
            </a:r>
            <a:endParaRPr lang="zh-CN" altLang="en-US" dirty="0"/>
          </a:p>
        </p:txBody>
      </p:sp>
      <p:sp>
        <p:nvSpPr>
          <p:cNvPr id="9" name="日期占位符 8"/>
          <p:cNvSpPr>
            <a:spLocks noGrp="1"/>
          </p:cNvSpPr>
          <p:nvPr>
            <p:ph type="dt" sz="half" idx="10"/>
          </p:nvPr>
        </p:nvSpPr>
        <p:spPr/>
        <p:txBody>
          <a:bodyPr/>
          <a:lstStyle/>
          <a:p>
            <a:fld id="{662350D5-56B8-4E2C-B1E6-07212181FDC4}"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32099" name="Picture 3"/>
          <p:cNvPicPr>
            <a:picLocks noChangeAspect="1" noChangeArrowheads="1"/>
          </p:cNvPicPr>
          <p:nvPr/>
        </p:nvPicPr>
        <p:blipFill rotWithShape="1">
          <a:blip r:embed="rId1">
            <a:extLst>
              <a:ext uri="{28A0092B-C50C-407E-A947-70E740481C1C}">
                <a14:useLocalDpi xmlns:a14="http://schemas.microsoft.com/office/drawing/2010/main" val="0"/>
              </a:ext>
            </a:extLst>
          </a:blip>
          <a:srcRect t="3200" b="12145"/>
          <a:stretch>
            <a:fillRect/>
          </a:stretch>
        </p:blipFill>
        <p:spPr bwMode="auto">
          <a:xfrm>
            <a:off x="1863718" y="727077"/>
            <a:ext cx="5935201" cy="4125951"/>
          </a:xfrm>
          <a:prstGeom prst="rect">
            <a:avLst/>
          </a:prstGeom>
          <a:noFill/>
          <a:ln>
            <a:noFill/>
          </a:ln>
        </p:spPr>
        <p:style>
          <a:lnRef idx="0">
            <a:scrgbClr r="0" g="0" b="0"/>
          </a:lnRef>
          <a:fillRef idx="0">
            <a:scrgbClr r="0" g="0" b="0"/>
          </a:fillRef>
          <a:effectRef idx="0">
            <a:scrgbClr r="0" g="0" b="0"/>
          </a:effectRef>
          <a:fontRef idx="minor">
            <a:schemeClr val="dk1"/>
          </a:fontRef>
        </p:style>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vert="horz">
            <a:normAutofit/>
          </a:bodyPr>
          <a:lstStyle/>
          <a:p>
            <a:r>
              <a:rPr lang="zh-CN" altLang="en-US" dirty="0" smtClean="0"/>
              <a:t>管理员修改用户时序图</a:t>
            </a:r>
            <a:endParaRPr lang="zh-CN" altLang="en-US" dirty="0"/>
          </a:p>
        </p:txBody>
      </p:sp>
      <p:sp>
        <p:nvSpPr>
          <p:cNvPr id="4" name="日期占位符 3"/>
          <p:cNvSpPr>
            <a:spLocks noGrp="1"/>
          </p:cNvSpPr>
          <p:nvPr>
            <p:ph type="dt" sz="half" idx="10"/>
          </p:nvPr>
        </p:nvSpPr>
        <p:spPr/>
        <p:txBody>
          <a:bodyPr/>
          <a:lstStyle/>
          <a:p>
            <a:fld id="{506EB69A-5196-4A19-BC21-72E378A3965F}"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33123" name="Picture 3"/>
          <p:cNvPicPr>
            <a:picLocks noChangeAspect="1" noChangeArrowheads="1"/>
          </p:cNvPicPr>
          <p:nvPr/>
        </p:nvPicPr>
        <p:blipFill rotWithShape="1">
          <a:blip r:embed="rId1">
            <a:extLst>
              <a:ext uri="{28A0092B-C50C-407E-A947-70E740481C1C}">
                <a14:useLocalDpi xmlns:a14="http://schemas.microsoft.com/office/drawing/2010/main" val="0"/>
              </a:ext>
            </a:extLst>
          </a:blip>
          <a:srcRect t="3401" b="10156"/>
          <a:stretch>
            <a:fillRect/>
          </a:stretch>
        </p:blipFill>
        <p:spPr bwMode="auto">
          <a:xfrm>
            <a:off x="1575899" y="702527"/>
            <a:ext cx="6342325" cy="4248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vert="horz"/>
          <a:lstStyle/>
          <a:p>
            <a:r>
              <a:rPr lang="zh-CN" altLang="en-US" dirty="0" smtClean="0"/>
              <a:t>管理员删除用户时序图</a:t>
            </a:r>
            <a:endParaRPr lang="zh-CN" altLang="en-US" dirty="0"/>
          </a:p>
        </p:txBody>
      </p:sp>
      <p:sp>
        <p:nvSpPr>
          <p:cNvPr id="4" name="日期占位符 3"/>
          <p:cNvSpPr>
            <a:spLocks noGrp="1"/>
          </p:cNvSpPr>
          <p:nvPr>
            <p:ph type="dt" sz="half" idx="10"/>
          </p:nvPr>
        </p:nvSpPr>
        <p:spPr/>
        <p:txBody>
          <a:bodyPr/>
          <a:lstStyle/>
          <a:p>
            <a:fld id="{DD64CB33-069E-443E-8E94-927E7573100A}"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34147" name="Picture 3"/>
          <p:cNvPicPr>
            <a:picLocks noChangeAspect="1" noChangeArrowheads="1"/>
          </p:cNvPicPr>
          <p:nvPr/>
        </p:nvPicPr>
        <p:blipFill rotWithShape="1">
          <a:blip r:embed="rId1">
            <a:extLst>
              <a:ext uri="{28A0092B-C50C-407E-A947-70E740481C1C}">
                <a14:useLocalDpi xmlns:a14="http://schemas.microsoft.com/office/drawing/2010/main" val="0"/>
              </a:ext>
            </a:extLst>
          </a:blip>
          <a:srcRect t="3312" b="11319"/>
          <a:stretch>
            <a:fillRect/>
          </a:stretch>
        </p:blipFill>
        <p:spPr bwMode="auto">
          <a:xfrm>
            <a:off x="2453410" y="680224"/>
            <a:ext cx="4486370" cy="4438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en-US" dirty="0" smtClean="0"/>
              <a:t>管理员查询用户时序图</a:t>
            </a:r>
            <a:endParaRPr lang="zh-CN" altLang="en-US" dirty="0"/>
          </a:p>
        </p:txBody>
      </p:sp>
      <p:sp>
        <p:nvSpPr>
          <p:cNvPr id="4" name="日期占位符 3"/>
          <p:cNvSpPr>
            <a:spLocks noGrp="1"/>
          </p:cNvSpPr>
          <p:nvPr>
            <p:ph type="dt" sz="half" idx="10"/>
          </p:nvPr>
        </p:nvSpPr>
        <p:spPr/>
        <p:txBody>
          <a:bodyPr/>
          <a:lstStyle/>
          <a:p>
            <a:fld id="{5B764B5B-8970-43DD-AD6C-D4E137CDBE76}" type="datetime1">
              <a:rPr lang="zh-CN" altLang="en-US" smtClean="0"/>
            </a:fld>
            <a:endParaRPr lang="zh-CN" altLang="en-US" dirty="0"/>
          </a:p>
        </p:txBody>
      </p:sp>
      <p:sp>
        <p:nvSpPr>
          <p:cNvPr id="10" name="页脚占位符 9"/>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35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94321" y="828913"/>
            <a:ext cx="6646046" cy="3739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70000" lnSpcReduction="20000"/>
          </a:bodyPr>
          <a:lstStyle/>
          <a:p>
            <a:r>
              <a:rPr lang="zh-CN" altLang="en-US" dirty="0" smtClean="0"/>
              <a:t>思考：是否需要绘制系统中所有用例的时序图？</a:t>
            </a:r>
            <a:endParaRPr lang="en-US" altLang="zh-CN" dirty="0" smtClean="0"/>
          </a:p>
          <a:p>
            <a:r>
              <a:rPr lang="zh-CN" altLang="en-US" dirty="0" smtClean="0"/>
              <a:t>实际应用中，可根据系统中的用例特征分析，并绘制出有效的时序图。</a:t>
            </a:r>
            <a:endParaRPr lang="en-US" altLang="zh-CN" dirty="0" smtClean="0"/>
          </a:p>
          <a:p>
            <a:r>
              <a:rPr lang="zh-CN" altLang="en-US" dirty="0" smtClean="0">
                <a:solidFill>
                  <a:srgbClr val="FF0000"/>
                </a:solidFill>
              </a:rPr>
              <a:t>筛选的方法：</a:t>
            </a:r>
            <a:endParaRPr lang="en-US" altLang="zh-CN" dirty="0" smtClean="0">
              <a:solidFill>
                <a:srgbClr val="FF0000"/>
              </a:solidFill>
            </a:endParaRPr>
          </a:p>
          <a:p>
            <a:pPr marL="342900" indent="-342900">
              <a:buFont typeface="+mj-lt"/>
              <a:buAutoNum type="arabicPeriod"/>
            </a:pPr>
            <a:r>
              <a:rPr lang="zh-CN" altLang="en-US" dirty="0" smtClean="0"/>
              <a:t>列出所有的用例，根据每个用例中所包含的对象多少进行筛选。一般包含少于三个对象的用例不需画时序图。</a:t>
            </a:r>
            <a:endParaRPr lang="en-US" altLang="zh-CN" dirty="0" smtClean="0"/>
          </a:p>
          <a:p>
            <a:pPr marL="342900" indent="-342900">
              <a:buFont typeface="+mj-lt"/>
              <a:buAutoNum type="arabicPeriod"/>
            </a:pPr>
            <a:r>
              <a:rPr lang="zh-CN" altLang="en-US" dirty="0" smtClean="0"/>
              <a:t>尽管在用例中包含的对象数量较多，但是流程说明的步骤比较少，说明流程的复杂度较低，也不需画时序图。</a:t>
            </a:r>
            <a:endParaRPr lang="en-US" altLang="zh-CN" dirty="0" smtClean="0"/>
          </a:p>
          <a:p>
            <a:pPr marL="342900" indent="-342900">
              <a:buFont typeface="+mj-lt"/>
              <a:buAutoNum type="arabicPeriod"/>
            </a:pPr>
            <a:r>
              <a:rPr lang="zh-CN" altLang="en-US" dirty="0" smtClean="0"/>
              <a:t>尽管流程数量较少，用例中包含的对象也比较少，但是如果涉及其他用例较多，则需要绘制时序图。</a:t>
            </a:r>
            <a:endParaRPr lang="en-US" altLang="zh-CN" dirty="0" smtClean="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smtClean="0"/>
              <a:t>时序图绘制的注意事项</a:t>
            </a:r>
            <a:endParaRPr lang="zh-CN" altLang="en-US" dirty="0"/>
          </a:p>
        </p:txBody>
      </p:sp>
      <p:sp>
        <p:nvSpPr>
          <p:cNvPr id="5" name="日期占位符 4"/>
          <p:cNvSpPr>
            <a:spLocks noGrp="1"/>
          </p:cNvSpPr>
          <p:nvPr>
            <p:ph type="dt" sz="half" idx="10"/>
          </p:nvPr>
        </p:nvSpPr>
        <p:spPr/>
        <p:txBody>
          <a:bodyPr/>
          <a:lstStyle/>
          <a:p>
            <a:fld id="{0EA00C58-7D33-4113-AB9D-9337664F1E2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up)">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up)">
                                      <p:cBhvr>
                                        <p:cTn id="12" dur="500"/>
                                        <p:tgtEl>
                                          <p:spTgt spid="2">
                                            <p:txEl>
                                              <p:pRg st="2" end="2"/>
                                            </p:txEl>
                                          </p:spTgt>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wipe(up)">
                                      <p:cBhvr>
                                        <p:cTn id="16" dur="500"/>
                                        <p:tgtEl>
                                          <p:spTgt spid="2">
                                            <p:txEl>
                                              <p:pRg st="3" end="3"/>
                                            </p:txEl>
                                          </p:spTgt>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2">
                                            <p:txEl>
                                              <p:pRg st="4" end="4"/>
                                            </p:txEl>
                                          </p:spTgt>
                                        </p:tgtEl>
                                        <p:attrNameLst>
                                          <p:attrName>style.visibility</p:attrName>
                                        </p:attrNameLst>
                                      </p:cBhvr>
                                      <p:to>
                                        <p:strVal val="visible"/>
                                      </p:to>
                                    </p:set>
                                    <p:animEffect transition="in" filter="wipe(up)">
                                      <p:cBhvr>
                                        <p:cTn id="20" dur="500"/>
                                        <p:tgtEl>
                                          <p:spTgt spid="2">
                                            <p:txEl>
                                              <p:pRg st="4" end="4"/>
                                            </p:txEl>
                                          </p:spTgt>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wipe(up)">
                                      <p:cBhvr>
                                        <p:cTn id="24"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normAutofit fontScale="85000" lnSpcReduction="20000"/>
          </a:bodyPr>
          <a:lstStyle/>
          <a:p>
            <a:pPr>
              <a:lnSpc>
                <a:spcPct val="120000"/>
              </a:lnSpc>
            </a:pPr>
            <a:r>
              <a:rPr lang="zh-CN" altLang="en-US" dirty="0" smtClean="0"/>
              <a:t>顾客在餐馆用餐与付款的过程描述如下：</a:t>
            </a:r>
            <a:endParaRPr lang="en-US" altLang="zh-CN" dirty="0" smtClean="0"/>
          </a:p>
          <a:p>
            <a:pPr>
              <a:lnSpc>
                <a:spcPct val="120000"/>
              </a:lnSpc>
            </a:pPr>
            <a:r>
              <a:rPr lang="zh-CN" altLang="en-US" dirty="0" smtClean="0"/>
              <a:t>顾客找服务员点菜，点菜后服务员给厨师下单，厨师做完菜后，服务员给顾客上菜，顾客用餐后，向服务员提示结账，服务员收到通知后，通知收款员算账，收款员算账后，服务员把账单给顾客，顾客把信用卡给服务员，服务员送信用卡给收款员，收款员刷卡并打印信用卡签字确认单，并把信用卡及签字确认单给顾客，顾客签字后，把签字确认单给收款员，收款员校对签名，并把存根给顾客。</a:t>
            </a:r>
            <a:endParaRPr lang="en-US" altLang="zh-CN" dirty="0" smtClean="0"/>
          </a:p>
          <a:p>
            <a:pPr>
              <a:lnSpc>
                <a:spcPct val="120000"/>
              </a:lnSpc>
            </a:pPr>
            <a:r>
              <a:rPr lang="zh-CN" altLang="en-US" dirty="0" smtClean="0"/>
              <a:t>根据上述过程，绘制出对应的时序图。</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3" name="标题 2"/>
          <p:cNvSpPr>
            <a:spLocks noGrp="1"/>
          </p:cNvSpPr>
          <p:nvPr>
            <p:ph type="title"/>
          </p:nvPr>
        </p:nvSpPr>
        <p:spPr/>
        <p:txBody>
          <a:bodyPr/>
          <a:lstStyle/>
          <a:p>
            <a:r>
              <a:rPr lang="zh-CN" altLang="en-US" dirty="0" smtClean="0"/>
              <a:t>时序图练习</a:t>
            </a:r>
            <a:endParaRPr lang="zh-CN" altLang="en-US" dirty="0"/>
          </a:p>
        </p:txBody>
      </p:sp>
      <p:sp>
        <p:nvSpPr>
          <p:cNvPr id="5" name="日期占位符 4"/>
          <p:cNvSpPr>
            <a:spLocks noGrp="1"/>
          </p:cNvSpPr>
          <p:nvPr>
            <p:ph type="dt" sz="half" idx="10"/>
          </p:nvPr>
        </p:nvSpPr>
        <p:spPr/>
        <p:txBody>
          <a:bodyPr/>
          <a:lstStyle/>
          <a:p>
            <a:fld id="{31C350DA-5154-4BBB-BFED-3C37FFABA7D6}"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2"/>
          <p:cNvSpPr>
            <a:spLocks noGrp="1"/>
          </p:cNvSpPr>
          <p:nvPr>
            <p:ph type="title"/>
          </p:nvPr>
        </p:nvSpPr>
        <p:spPr/>
        <p:txBody>
          <a:bodyPr vert="horz"/>
          <a:lstStyle/>
          <a:p>
            <a:r>
              <a:rPr lang="zh-CN" altLang="en-US" dirty="0" smtClean="0"/>
              <a:t>顾客用餐的时序图</a:t>
            </a:r>
            <a:endParaRPr lang="zh-CN" altLang="en-US" dirty="0"/>
          </a:p>
        </p:txBody>
      </p:sp>
      <p:sp>
        <p:nvSpPr>
          <p:cNvPr id="2" name="日期占位符 1"/>
          <p:cNvSpPr>
            <a:spLocks noGrp="1"/>
          </p:cNvSpPr>
          <p:nvPr>
            <p:ph type="dt" sz="half" idx="10"/>
          </p:nvPr>
        </p:nvSpPr>
        <p:spPr/>
        <p:txBody>
          <a:bodyPr/>
          <a:lstStyle/>
          <a:p>
            <a:fld id="{36BE38C1-84E7-4EBF-B1AA-DCF2542E279B}"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226307" name="Picture 3"/>
          <p:cNvPicPr>
            <a:picLocks noChangeAspect="1" noChangeArrowheads="1"/>
          </p:cNvPicPr>
          <p:nvPr/>
        </p:nvPicPr>
        <p:blipFill rotWithShape="1">
          <a:blip r:embed="rId1">
            <a:clrChange>
              <a:clrFrom>
                <a:srgbClr val="FFFFFF"/>
              </a:clrFrom>
              <a:clrTo>
                <a:srgbClr val="FFFFFF">
                  <a:alpha val="0"/>
                </a:srgbClr>
              </a:clrTo>
            </a:clrChange>
            <a:extLst>
              <a:ext uri="{28A0092B-C50C-407E-A947-70E740481C1C}">
                <a14:useLocalDpi xmlns:a14="http://schemas.microsoft.com/office/drawing/2010/main" val="0"/>
              </a:ext>
            </a:extLst>
          </a:blip>
          <a:srcRect b="2048"/>
          <a:stretch>
            <a:fillRect/>
          </a:stretch>
        </p:blipFill>
        <p:spPr bwMode="auto">
          <a:xfrm>
            <a:off x="3435350" y="22703"/>
            <a:ext cx="5057775" cy="4933195"/>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r>
              <a:rPr lang="zh-CN" altLang="en-US" dirty="0"/>
              <a:t>通信图（ </a:t>
            </a:r>
            <a:r>
              <a:rPr lang="en-US" altLang="zh-CN" cap="none" dirty="0"/>
              <a:t>Communication</a:t>
            </a:r>
            <a:r>
              <a:rPr lang="en-US" altLang="zh-CN" dirty="0"/>
              <a:t>  </a:t>
            </a:r>
            <a:r>
              <a:rPr lang="en-US" altLang="zh-CN" cap="none" dirty="0"/>
              <a:t>Diagram</a:t>
            </a:r>
            <a:r>
              <a:rPr lang="en-US" altLang="zh-CN" dirty="0"/>
              <a:t> </a:t>
            </a:r>
            <a:r>
              <a:rPr lang="zh-CN" altLang="en-US" dirty="0"/>
              <a:t>） </a:t>
            </a:r>
            <a:endParaRPr lang="zh-CN" altLang="en-US" dirty="0"/>
          </a:p>
        </p:txBody>
      </p:sp>
      <p:sp>
        <p:nvSpPr>
          <p:cNvPr id="4099" name="内容占位符 2"/>
          <p:cNvSpPr>
            <a:spLocks noGrp="1"/>
          </p:cNvSpPr>
          <p:nvPr>
            <p:ph sz="quarter" idx="4294967295"/>
          </p:nvPr>
        </p:nvSpPr>
        <p:spPr>
          <a:xfrm>
            <a:off x="685800" y="1323975"/>
            <a:ext cx="7772400" cy="3019425"/>
          </a:xfrm>
        </p:spPr>
        <p:txBody>
          <a:bodyPr>
            <a:normAutofit fontScale="92500" lnSpcReduction="10000"/>
          </a:bodyPr>
          <a:lstStyle/>
          <a:p>
            <a:r>
              <a:rPr lang="zh-CN" altLang="en-US" dirty="0"/>
              <a:t>通信图</a:t>
            </a:r>
            <a:r>
              <a:rPr lang="zh-CN" altLang="zh-CN" dirty="0"/>
              <a:t>是表现对象</a:t>
            </a:r>
            <a:r>
              <a:rPr lang="zh-CN" altLang="en-US" dirty="0"/>
              <a:t>交互</a:t>
            </a:r>
            <a:r>
              <a:rPr lang="zh-CN" altLang="zh-CN" dirty="0"/>
              <a:t>关系的图，它展现了多个对象在协同工作达成共同目标的过程中互相通信的情况，通过对象和对象之间的链、发送的消息来显示参与交互的对象。</a:t>
            </a:r>
            <a:endParaRPr lang="zh-CN" altLang="zh-CN" dirty="0"/>
          </a:p>
          <a:p>
            <a:r>
              <a:rPr lang="zh-CN" altLang="en-US" dirty="0"/>
              <a:t>通信图</a:t>
            </a:r>
            <a:r>
              <a:rPr lang="zh-CN" altLang="zh-CN" dirty="0"/>
              <a:t>中的元素主要有</a:t>
            </a:r>
            <a:r>
              <a:rPr lang="zh-CN" altLang="zh-CN" dirty="0">
                <a:solidFill>
                  <a:srgbClr val="FF0000"/>
                </a:solidFill>
              </a:rPr>
              <a:t>对象</a:t>
            </a:r>
            <a:r>
              <a:rPr lang="zh-CN" altLang="zh-CN" dirty="0"/>
              <a:t>、</a:t>
            </a:r>
            <a:r>
              <a:rPr lang="zh-CN" altLang="zh-CN" dirty="0">
                <a:solidFill>
                  <a:srgbClr val="FF0000"/>
                </a:solidFill>
              </a:rPr>
              <a:t>消息</a:t>
            </a:r>
            <a:r>
              <a:rPr lang="zh-CN" altLang="zh-CN" dirty="0"/>
              <a:t>和</a:t>
            </a:r>
            <a:r>
              <a:rPr lang="zh-CN" altLang="zh-CN" dirty="0">
                <a:solidFill>
                  <a:srgbClr val="FF0000"/>
                </a:solidFill>
              </a:rPr>
              <a:t>链</a:t>
            </a:r>
            <a:r>
              <a:rPr lang="zh-CN" altLang="zh-CN" dirty="0"/>
              <a:t>三种。对象和链分别作为</a:t>
            </a:r>
            <a:r>
              <a:rPr lang="zh-CN" altLang="en-US" dirty="0"/>
              <a:t>通信图</a:t>
            </a:r>
            <a:r>
              <a:rPr lang="zh-CN" altLang="zh-CN" dirty="0"/>
              <a:t>中的类元角色和关联角色出现，链上可以有消息在对象间传递。</a:t>
            </a:r>
            <a:endParaRPr lang="zh-CN" altLang="en-US" dirty="0"/>
          </a:p>
        </p:txBody>
      </p:sp>
      <p:sp>
        <p:nvSpPr>
          <p:cNvPr id="4" name="灯片编号占位符 1"/>
          <p:cNvSpPr>
            <a:spLocks noGrp="1"/>
          </p:cNvSpPr>
          <p:nvPr>
            <p:ph type="sldNum" sz="quarter" idx="12"/>
          </p:nvPr>
        </p:nvSpPr>
        <p:spPr>
          <a:xfrm>
            <a:off x="8128000" y="4853028"/>
            <a:ext cx="730250" cy="205740"/>
          </a:xfrm>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a:xfrm>
            <a:off x="768096" y="4853028"/>
            <a:ext cx="1615607" cy="205740"/>
          </a:xfrm>
        </p:spPr>
        <p:txBody>
          <a:bodyPr/>
          <a:lstStyle/>
          <a:p>
            <a:fld id="{31C350DA-5154-4BBB-BFED-3C37FFABA7D6}" type="datetime1">
              <a:rPr lang="zh-CN" altLang="en-US" smtClean="0"/>
            </a:fld>
            <a:endParaRPr lang="zh-CN" altLang="en-US" dirty="0"/>
          </a:p>
        </p:txBody>
      </p:sp>
      <p:sp>
        <p:nvSpPr>
          <p:cNvPr id="6" name="页脚占位符 5"/>
          <p:cNvSpPr>
            <a:spLocks noGrp="1"/>
          </p:cNvSpPr>
          <p:nvPr>
            <p:ph type="ftr" sz="quarter" idx="11"/>
          </p:nvPr>
        </p:nvSpPr>
        <p:spPr>
          <a:xfrm>
            <a:off x="2383703" y="4853028"/>
            <a:ext cx="5674590" cy="205740"/>
          </a:xfrm>
        </p:spPr>
        <p:txBody>
          <a:bodyPr/>
          <a:lstStyle/>
          <a:p>
            <a:r>
              <a:rPr lang="zh-CN" altLang="en-US"/>
              <a:t>软件工程</a:t>
            </a:r>
            <a:endParaRPr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a:t>通信图</a:t>
            </a:r>
            <a:r>
              <a:rPr lang="zh-CN" altLang="zh-CN"/>
              <a:t>的概念</a:t>
            </a:r>
            <a:endParaRPr lang="zh-CN" altLang="en-US"/>
          </a:p>
        </p:txBody>
      </p:sp>
      <p:sp>
        <p:nvSpPr>
          <p:cNvPr id="5123" name="内容占位符 2"/>
          <p:cNvSpPr>
            <a:spLocks noGrp="1"/>
          </p:cNvSpPr>
          <p:nvPr>
            <p:ph sz="quarter" idx="4294967295"/>
          </p:nvPr>
        </p:nvSpPr>
        <p:spPr>
          <a:xfrm>
            <a:off x="685800" y="1323975"/>
            <a:ext cx="7772400" cy="3019425"/>
          </a:xfrm>
        </p:spPr>
        <p:txBody>
          <a:bodyPr/>
          <a:lstStyle/>
          <a:p>
            <a:endParaRPr kumimoji="1" lang="zh-CN" altLang="en-US"/>
          </a:p>
        </p:txBody>
      </p:sp>
      <p:pic>
        <p:nvPicPr>
          <p:cNvPr id="5124"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72902" y="816573"/>
            <a:ext cx="5273675" cy="368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1"/>
          <p:cNvSpPr>
            <a:spLocks noGrp="1"/>
          </p:cNvSpPr>
          <p:nvPr>
            <p:ph type="sldNum" sz="quarter" idx="12"/>
          </p:nvPr>
        </p:nvSpPr>
        <p:spPr>
          <a:xfrm>
            <a:off x="8128000" y="4853028"/>
            <a:ext cx="730250" cy="205740"/>
          </a:xfrm>
        </p:spPr>
        <p:txBody>
          <a:bodyPr/>
          <a:lstStyle/>
          <a:p>
            <a:fld id="{0C913308-F349-4B6D-A68A-DD1791B4A57B}" type="slidenum">
              <a:rPr lang="zh-CN" altLang="en-US" smtClean="0"/>
            </a:fld>
            <a:endParaRPr lang="zh-CN" altLang="en-US"/>
          </a:p>
        </p:txBody>
      </p:sp>
      <p:sp>
        <p:nvSpPr>
          <p:cNvPr id="6" name="日期占位符 4"/>
          <p:cNvSpPr>
            <a:spLocks noGrp="1"/>
          </p:cNvSpPr>
          <p:nvPr>
            <p:ph type="dt" sz="half" idx="10"/>
          </p:nvPr>
        </p:nvSpPr>
        <p:spPr>
          <a:xfrm>
            <a:off x="768096" y="4853028"/>
            <a:ext cx="1615607" cy="205740"/>
          </a:xfrm>
        </p:spPr>
        <p:txBody>
          <a:bodyPr/>
          <a:lstStyle/>
          <a:p>
            <a:fld id="{31C350DA-5154-4BBB-BFED-3C37FFABA7D6}" type="datetime1">
              <a:rPr lang="zh-CN" altLang="en-US" smtClean="0"/>
            </a:fld>
            <a:endParaRPr lang="zh-CN" altLang="en-US" dirty="0"/>
          </a:p>
        </p:txBody>
      </p:sp>
      <p:sp>
        <p:nvSpPr>
          <p:cNvPr id="7" name="页脚占位符 5"/>
          <p:cNvSpPr>
            <a:spLocks noGrp="1"/>
          </p:cNvSpPr>
          <p:nvPr>
            <p:ph type="ftr" sz="quarter" idx="11"/>
          </p:nvPr>
        </p:nvSpPr>
        <p:spPr>
          <a:xfrm>
            <a:off x="2383703" y="4853028"/>
            <a:ext cx="5674590" cy="205740"/>
          </a:xfrm>
        </p:spPr>
        <p:txBody>
          <a:bodyPr/>
          <a:lstStyle/>
          <a:p>
            <a:r>
              <a:rPr lang="zh-CN" altLang="en-US"/>
              <a:t>软件工程</a:t>
            </a:r>
            <a:endParaRPr lang="zh-CN" altLang="en-US" dirty="0"/>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zh-CN" altLang="en-US"/>
              <a:t>通信图</a:t>
            </a:r>
            <a:r>
              <a:rPr lang="zh-CN" altLang="zh-CN"/>
              <a:t>的概念</a:t>
            </a:r>
            <a:endParaRPr lang="zh-CN" altLang="en-US"/>
          </a:p>
        </p:txBody>
      </p:sp>
      <p:sp>
        <p:nvSpPr>
          <p:cNvPr id="6147" name="内容占位符 2"/>
          <p:cNvSpPr>
            <a:spLocks noGrp="1"/>
          </p:cNvSpPr>
          <p:nvPr>
            <p:ph sz="quarter" idx="4294967295"/>
          </p:nvPr>
        </p:nvSpPr>
        <p:spPr>
          <a:xfrm>
            <a:off x="478716" y="905659"/>
            <a:ext cx="8229600" cy="3590925"/>
          </a:xfrm>
        </p:spPr>
        <p:txBody>
          <a:bodyPr>
            <a:normAutofit fontScale="92500" lnSpcReduction="20000"/>
          </a:bodyPr>
          <a:lstStyle/>
          <a:p>
            <a:r>
              <a:rPr lang="zh-CN" altLang="zh-CN" sz="2400" dirty="0"/>
              <a:t>从结构方面来看，</a:t>
            </a:r>
            <a:r>
              <a:rPr lang="zh-CN" altLang="en-US" sz="2400" dirty="0"/>
              <a:t>通信图</a:t>
            </a:r>
            <a:r>
              <a:rPr lang="zh-CN" altLang="zh-CN" sz="2400" dirty="0"/>
              <a:t>包含了一个对象的集合并且定义了它们之间的行为方面的关系，表达了一些系统的静态内容。</a:t>
            </a:r>
            <a:endParaRPr lang="en-US" altLang="zh-CN" sz="2400" dirty="0"/>
          </a:p>
          <a:p>
            <a:r>
              <a:rPr lang="zh-CN" altLang="zh-CN" sz="2400" dirty="0"/>
              <a:t>从行为方面来看，</a:t>
            </a:r>
            <a:r>
              <a:rPr lang="zh-CN" altLang="en-US" sz="2400" dirty="0"/>
              <a:t>通信图</a:t>
            </a:r>
            <a:r>
              <a:rPr lang="zh-CN" altLang="zh-CN" sz="2400" dirty="0"/>
              <a:t>包含了在各个对象之间进行传递交换的一系列的消息集合，以完成协作的目的。</a:t>
            </a:r>
            <a:endParaRPr lang="en-US" altLang="zh-CN" sz="2400" dirty="0"/>
          </a:p>
          <a:p>
            <a:r>
              <a:rPr lang="zh-CN" altLang="en-US" sz="2400" dirty="0"/>
              <a:t>通信图</a:t>
            </a:r>
            <a:r>
              <a:rPr lang="zh-CN" altLang="zh-CN" sz="2400" dirty="0"/>
              <a:t>是一种描述协作在某一语境下的空间组织结构的图形化方式，在使用其进行建模时，主要具有以下三个作用</a:t>
            </a:r>
            <a:r>
              <a:rPr lang="zh-CN" altLang="zh-CN" dirty="0"/>
              <a:t>。</a:t>
            </a:r>
            <a:endParaRPr lang="zh-CN" altLang="zh-CN" dirty="0"/>
          </a:p>
          <a:p>
            <a:pPr lvl="1"/>
            <a:r>
              <a:rPr lang="zh-CN" altLang="zh-CN" sz="2000" dirty="0"/>
              <a:t>通过描绘对象之间消息的传递情况来反映具体使用语境的逻辑表达</a:t>
            </a:r>
            <a:r>
              <a:rPr lang="zh-CN" altLang="en-US" sz="2000" dirty="0"/>
              <a:t>。</a:t>
            </a:r>
            <a:endParaRPr lang="en-US" altLang="zh-CN" sz="2000" dirty="0"/>
          </a:p>
          <a:p>
            <a:pPr lvl="1"/>
            <a:r>
              <a:rPr lang="zh-CN" altLang="zh-CN" sz="2000" dirty="0"/>
              <a:t>显示对象及其交互关系的空间组织结构。</a:t>
            </a:r>
            <a:endParaRPr lang="zh-CN" altLang="zh-CN" sz="2000" dirty="0"/>
          </a:p>
          <a:p>
            <a:pPr lvl="1"/>
            <a:r>
              <a:rPr lang="zh-CN" altLang="zh-CN" sz="2000" dirty="0"/>
              <a:t>表达一个操作的实现。</a:t>
            </a:r>
            <a:endParaRPr lang="zh-CN" altLang="zh-CN" sz="2000" dirty="0"/>
          </a:p>
        </p:txBody>
      </p:sp>
      <p:sp>
        <p:nvSpPr>
          <p:cNvPr id="4" name="灯片编号占位符 1"/>
          <p:cNvSpPr>
            <a:spLocks noGrp="1"/>
          </p:cNvSpPr>
          <p:nvPr>
            <p:ph type="sldNum" sz="quarter" idx="12"/>
          </p:nvPr>
        </p:nvSpPr>
        <p:spPr>
          <a:xfrm>
            <a:off x="8128000" y="4853028"/>
            <a:ext cx="730250" cy="205740"/>
          </a:xfrm>
        </p:spPr>
        <p:txBody>
          <a:bodyPr/>
          <a:lstStyle/>
          <a:p>
            <a:fld id="{0C913308-F349-4B6D-A68A-DD1791B4A57B}" type="slidenum">
              <a:rPr lang="zh-CN" altLang="en-US" smtClean="0"/>
            </a:fld>
            <a:endParaRPr lang="zh-CN" altLang="en-US"/>
          </a:p>
        </p:txBody>
      </p:sp>
      <p:sp>
        <p:nvSpPr>
          <p:cNvPr id="5" name="日期占位符 4"/>
          <p:cNvSpPr>
            <a:spLocks noGrp="1"/>
          </p:cNvSpPr>
          <p:nvPr>
            <p:ph type="dt" sz="half" idx="10"/>
          </p:nvPr>
        </p:nvSpPr>
        <p:spPr>
          <a:xfrm>
            <a:off x="768096" y="4853028"/>
            <a:ext cx="1615607" cy="205740"/>
          </a:xfrm>
        </p:spPr>
        <p:txBody>
          <a:bodyPr/>
          <a:lstStyle/>
          <a:p>
            <a:fld id="{31C350DA-5154-4BBB-BFED-3C37FFABA7D6}" type="datetime1">
              <a:rPr lang="zh-CN" altLang="en-US" smtClean="0"/>
            </a:fld>
            <a:endParaRPr lang="zh-CN" altLang="en-US" dirty="0"/>
          </a:p>
        </p:txBody>
      </p:sp>
      <p:sp>
        <p:nvSpPr>
          <p:cNvPr id="6" name="页脚占位符 5"/>
          <p:cNvSpPr>
            <a:spLocks noGrp="1"/>
          </p:cNvSpPr>
          <p:nvPr>
            <p:ph type="ftr" sz="quarter" idx="11"/>
          </p:nvPr>
        </p:nvSpPr>
        <p:spPr>
          <a:xfrm>
            <a:off x="2383703" y="4853028"/>
            <a:ext cx="5674590" cy="205740"/>
          </a:xfrm>
        </p:spPr>
        <p:txBody>
          <a:bodyPr/>
          <a:lstStyle/>
          <a:p>
            <a:r>
              <a:rPr lang="zh-CN" altLang="en-US"/>
              <a:t>软件工程</a:t>
            </a:r>
            <a:endParaRPr lang="zh-CN"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en-US" altLang="zh-CN" dirty="0"/>
              <a:t> </a:t>
            </a:r>
            <a:r>
              <a:rPr lang="zh-CN" altLang="en-US" dirty="0"/>
              <a:t>通信图的组成元素</a:t>
            </a:r>
            <a:endParaRPr lang="zh-CN" altLang="en-US" dirty="0"/>
          </a:p>
        </p:txBody>
      </p:sp>
      <p:sp>
        <p:nvSpPr>
          <p:cNvPr id="7171" name="内容占位符 2"/>
          <p:cNvSpPr>
            <a:spLocks noGrp="1"/>
          </p:cNvSpPr>
          <p:nvPr>
            <p:ph sz="quarter" idx="4294967295"/>
          </p:nvPr>
        </p:nvSpPr>
        <p:spPr>
          <a:xfrm>
            <a:off x="685800" y="1323975"/>
            <a:ext cx="7772400" cy="3019425"/>
          </a:xfrm>
        </p:spPr>
        <p:txBody>
          <a:bodyPr/>
          <a:lstStyle/>
          <a:p>
            <a:r>
              <a:rPr lang="zh-CN" altLang="en-US"/>
              <a:t>对象</a:t>
            </a:r>
            <a:endParaRPr lang="en-US" altLang="zh-CN"/>
          </a:p>
          <a:p>
            <a:r>
              <a:rPr lang="zh-CN" altLang="en-US"/>
              <a:t>链</a:t>
            </a:r>
            <a:endParaRPr lang="en-US" altLang="zh-CN"/>
          </a:p>
          <a:p>
            <a:r>
              <a:rPr lang="zh-CN" altLang="en-US"/>
              <a:t>消息</a:t>
            </a:r>
            <a:endParaRPr lang="zh-CN"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zh-CN" altLang="en-US"/>
              <a:t>对象</a:t>
            </a:r>
            <a:endParaRPr lang="zh-CN" altLang="en-US"/>
          </a:p>
        </p:txBody>
      </p:sp>
      <p:sp>
        <p:nvSpPr>
          <p:cNvPr id="8195" name="内容占位符 2"/>
          <p:cNvSpPr>
            <a:spLocks noGrp="1"/>
          </p:cNvSpPr>
          <p:nvPr>
            <p:ph sz="quarter" idx="4294967295"/>
          </p:nvPr>
        </p:nvSpPr>
        <p:spPr>
          <a:xfrm>
            <a:off x="685800" y="1323975"/>
            <a:ext cx="7772400" cy="3019425"/>
          </a:xfrm>
        </p:spPr>
        <p:txBody>
          <a:bodyPr>
            <a:normAutofit fontScale="77500" lnSpcReduction="20000"/>
          </a:bodyPr>
          <a:lstStyle/>
          <a:p>
            <a:r>
              <a:rPr lang="zh-CN" altLang="en-US"/>
              <a:t>通信图</a:t>
            </a:r>
            <a:r>
              <a:rPr lang="zh-CN" altLang="zh-CN"/>
              <a:t>中的对象与顺序图中对象的概念相同，都是表示类的实例。</a:t>
            </a:r>
            <a:endParaRPr lang="en-US" altLang="zh-CN"/>
          </a:p>
          <a:p>
            <a:r>
              <a:rPr lang="zh-CN" altLang="en-US"/>
              <a:t>通信图</a:t>
            </a:r>
            <a:r>
              <a:rPr lang="zh-CN" altLang="zh-CN"/>
              <a:t>只关注相互有交互作用的对象和对象关系，而忽略其他对象。</a:t>
            </a:r>
            <a:endParaRPr lang="en-US" altLang="zh-CN"/>
          </a:p>
          <a:p>
            <a:r>
              <a:rPr lang="zh-CN" altLang="zh-CN"/>
              <a:t>由于</a:t>
            </a:r>
            <a:r>
              <a:rPr lang="zh-CN" altLang="en-US"/>
              <a:t>通信图</a:t>
            </a:r>
            <a:r>
              <a:rPr lang="zh-CN" altLang="zh-CN"/>
              <a:t>中不表示对象的创建与销毁，因此，对象在</a:t>
            </a:r>
            <a:r>
              <a:rPr lang="zh-CN" altLang="en-US"/>
              <a:t>通信图</a:t>
            </a:r>
            <a:r>
              <a:rPr lang="zh-CN" altLang="zh-CN"/>
              <a:t>中的位置没有限制。</a:t>
            </a:r>
            <a:endParaRPr lang="en-US" altLang="zh-CN"/>
          </a:p>
          <a:p>
            <a:r>
              <a:rPr lang="zh-CN" altLang="zh-CN"/>
              <a:t>与顺序图中对象的表示法不同的是，</a:t>
            </a:r>
            <a:r>
              <a:rPr lang="zh-CN" altLang="en-US"/>
              <a:t>通信图</a:t>
            </a:r>
            <a:r>
              <a:rPr lang="zh-CN" altLang="zh-CN"/>
              <a:t>中的无法显示对象的生命线。</a:t>
            </a:r>
            <a:endParaRPr lang="zh-CN"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a:t>链</a:t>
            </a:r>
            <a:endParaRPr lang="zh-CN" altLang="en-US"/>
          </a:p>
        </p:txBody>
      </p:sp>
      <p:sp>
        <p:nvSpPr>
          <p:cNvPr id="3" name="内容占位符 2"/>
          <p:cNvSpPr>
            <a:spLocks noGrp="1"/>
          </p:cNvSpPr>
          <p:nvPr>
            <p:ph sz="quarter" idx="4294967295"/>
          </p:nvPr>
        </p:nvSpPr>
        <p:spPr>
          <a:xfrm>
            <a:off x="444649" y="996553"/>
            <a:ext cx="5784850" cy="3019425"/>
          </a:xfrm>
        </p:spPr>
        <p:txBody>
          <a:bodyPr>
            <a:noAutofit/>
          </a:bodyPr>
          <a:lstStyle/>
          <a:p>
            <a:pPr>
              <a:defRPr/>
            </a:pPr>
            <a:r>
              <a:rPr lang="zh-CN" altLang="en-US" sz="2000" dirty="0"/>
              <a:t>通信图</a:t>
            </a:r>
            <a:r>
              <a:rPr lang="zh-CN" altLang="zh-CN" sz="2000" dirty="0"/>
              <a:t>中的链与对象图中的链在语义以及表示法上都相同，都是两个（或多个）对象之间的独立连接，是关联的实例。链同时也是</a:t>
            </a:r>
            <a:r>
              <a:rPr lang="zh-CN" altLang="en-US" sz="2000" dirty="0"/>
              <a:t>通信图</a:t>
            </a:r>
            <a:r>
              <a:rPr lang="zh-CN" altLang="zh-CN" sz="2000" dirty="0"/>
              <a:t>中关联角色的实例，其生命受限于协作的生命。</a:t>
            </a:r>
            <a:endParaRPr lang="zh-CN" altLang="zh-CN" sz="2000" dirty="0"/>
          </a:p>
          <a:p>
            <a:pPr>
              <a:defRPr/>
            </a:pPr>
            <a:r>
              <a:rPr lang="zh-CN" altLang="zh-CN" sz="2000" dirty="0"/>
              <a:t>链连接的两个对象之间允许在交互执行过程中进行消息传递和交互。</a:t>
            </a:r>
            <a:r>
              <a:rPr lang="en-US" altLang="zh-CN" sz="2000" dirty="0"/>
              <a:t>UML</a:t>
            </a:r>
            <a:r>
              <a:rPr lang="zh-CN" altLang="zh-CN" sz="2000" dirty="0"/>
              <a:t>也允许对象自身与自身之间建立一条链。链可以通过对自己命名来进行区分和说明，也可以仅仅做连接而不进行命名。</a:t>
            </a:r>
            <a:endParaRPr lang="en-US" altLang="zh-CN" sz="2000" dirty="0"/>
          </a:p>
          <a:p>
            <a:pPr marL="0" indent="0">
              <a:buFont typeface="Wingdings" panose="05000000000000000000" pitchFamily="2" charset="2"/>
              <a:buNone/>
              <a:defRPr/>
            </a:pPr>
            <a:endParaRPr lang="zh-CN" altLang="zh-CN" sz="2000" dirty="0"/>
          </a:p>
        </p:txBody>
      </p:sp>
      <p:pic>
        <p:nvPicPr>
          <p:cNvPr id="9220" name="图片 5"/>
          <p:cNvPicPr>
            <a:picLocks noChangeAspect="1" noChangeArrowheads="1"/>
          </p:cNvPicPr>
          <p:nvPr/>
        </p:nvPicPr>
        <p:blipFill>
          <a:blip r:embed="rId1">
            <a:extLst>
              <a:ext uri="{28A0092B-C50C-407E-A947-70E740481C1C}">
                <a14:useLocalDpi xmlns:a14="http://schemas.microsoft.com/office/drawing/2010/main" val="0"/>
              </a:ext>
            </a:extLst>
          </a:blip>
          <a:srcRect l="2789" t="20753" r="3525" b="10030"/>
          <a:stretch>
            <a:fillRect/>
          </a:stretch>
        </p:blipFill>
        <p:spPr bwMode="auto">
          <a:xfrm>
            <a:off x="6010276" y="2506266"/>
            <a:ext cx="2951163" cy="567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zh-CN"/>
              <a:t>消息</a:t>
            </a:r>
            <a:endParaRPr lang="zh-CN" altLang="en-US"/>
          </a:p>
        </p:txBody>
      </p:sp>
      <p:sp>
        <p:nvSpPr>
          <p:cNvPr id="10243" name="内容占位符 2"/>
          <p:cNvSpPr>
            <a:spLocks noGrp="1"/>
          </p:cNvSpPr>
          <p:nvPr>
            <p:ph sz="quarter" idx="4294967295"/>
          </p:nvPr>
        </p:nvSpPr>
        <p:spPr>
          <a:xfrm>
            <a:off x="685800" y="1323975"/>
            <a:ext cx="4503738" cy="3019425"/>
          </a:xfrm>
        </p:spPr>
        <p:txBody>
          <a:bodyPr>
            <a:normAutofit fontScale="85000" lnSpcReduction="20000"/>
          </a:bodyPr>
          <a:lstStyle/>
          <a:p>
            <a:r>
              <a:rPr lang="zh-CN" altLang="en-US"/>
              <a:t>通信图</a:t>
            </a:r>
            <a:r>
              <a:rPr lang="zh-CN" altLang="zh-CN"/>
              <a:t>的消息需要附加在对象之间的链上，链用于传输或实现消息的传递。</a:t>
            </a:r>
            <a:endParaRPr lang="zh-CN" altLang="zh-CN"/>
          </a:p>
          <a:p>
            <a:r>
              <a:rPr lang="zh-CN" altLang="en-US"/>
              <a:t>通信图</a:t>
            </a:r>
            <a:r>
              <a:rPr lang="zh-CN" altLang="zh-CN"/>
              <a:t>中的消息通过在链的上方或下方添加一个短箭头来表示</a:t>
            </a:r>
            <a:r>
              <a:rPr lang="zh-CN" altLang="en-US"/>
              <a:t>，</a:t>
            </a:r>
            <a:r>
              <a:rPr lang="zh-CN" altLang="zh-CN"/>
              <a:t>通常需要使用阿拉伯数字作为序号来表示</a:t>
            </a:r>
            <a:r>
              <a:rPr lang="zh-CN" altLang="en-US"/>
              <a:t>通信图</a:t>
            </a:r>
            <a:r>
              <a:rPr lang="zh-CN" altLang="zh-CN"/>
              <a:t>中发送消息的顺序。</a:t>
            </a:r>
            <a:endParaRPr lang="zh-CN" altLang="zh-CN"/>
          </a:p>
        </p:txBody>
      </p:sp>
      <p:pic>
        <p:nvPicPr>
          <p:cNvPr id="10244" name="图片 4"/>
          <p:cNvPicPr>
            <a:picLocks noChangeAspect="1" noChangeArrowheads="1"/>
          </p:cNvPicPr>
          <p:nvPr/>
        </p:nvPicPr>
        <p:blipFill>
          <a:blip r:embed="rId1">
            <a:extLst>
              <a:ext uri="{28A0092B-C50C-407E-A947-70E740481C1C}">
                <a14:useLocalDpi xmlns:a14="http://schemas.microsoft.com/office/drawing/2010/main" val="0"/>
              </a:ext>
            </a:extLst>
          </a:blip>
          <a:srcRect l="1926" t="24625" r="2200" b="10413"/>
          <a:stretch>
            <a:fillRect/>
          </a:stretch>
        </p:blipFill>
        <p:spPr bwMode="auto">
          <a:xfrm>
            <a:off x="5040314" y="1847851"/>
            <a:ext cx="3792537" cy="660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图片 5"/>
          <p:cNvPicPr>
            <a:picLocks noChangeAspect="1" noChangeArrowheads="1"/>
          </p:cNvPicPr>
          <p:nvPr/>
        </p:nvPicPr>
        <p:blipFill>
          <a:blip r:embed="rId2">
            <a:extLst>
              <a:ext uri="{28A0092B-C50C-407E-A947-70E740481C1C}">
                <a14:useLocalDpi xmlns:a14="http://schemas.microsoft.com/office/drawing/2010/main" val="0"/>
              </a:ext>
            </a:extLst>
          </a:blip>
          <a:srcRect l="2692" t="25571" r="3123" b="14253"/>
          <a:stretch>
            <a:fillRect/>
          </a:stretch>
        </p:blipFill>
        <p:spPr bwMode="auto">
          <a:xfrm>
            <a:off x="5086350" y="2794397"/>
            <a:ext cx="3746500" cy="570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zh-CN" altLang="en-US" dirty="0"/>
              <a:t>通信图</a:t>
            </a:r>
            <a:r>
              <a:rPr lang="zh-CN" altLang="zh-CN" dirty="0"/>
              <a:t>与顺序图</a:t>
            </a:r>
            <a:endParaRPr lang="zh-CN" altLang="en-US" dirty="0"/>
          </a:p>
        </p:txBody>
      </p:sp>
      <p:sp>
        <p:nvSpPr>
          <p:cNvPr id="11267" name="内容占位符 2"/>
          <p:cNvSpPr>
            <a:spLocks noGrp="1"/>
          </p:cNvSpPr>
          <p:nvPr>
            <p:ph sz="quarter" idx="4294967295"/>
          </p:nvPr>
        </p:nvSpPr>
        <p:spPr>
          <a:xfrm>
            <a:off x="685800" y="1323975"/>
            <a:ext cx="7772400" cy="3019425"/>
          </a:xfrm>
        </p:spPr>
        <p:txBody>
          <a:bodyPr>
            <a:normAutofit fontScale="85000" lnSpcReduction="20000"/>
          </a:bodyPr>
          <a:lstStyle/>
          <a:p>
            <a:r>
              <a:rPr lang="zh-CN" altLang="en-US"/>
              <a:t>通信图</a:t>
            </a:r>
            <a:r>
              <a:rPr lang="zh-CN" altLang="zh-CN"/>
              <a:t>与顺序图的共同点主要有如下</a:t>
            </a:r>
            <a:r>
              <a:rPr lang="en-US" altLang="zh-CN"/>
              <a:t>3</a:t>
            </a:r>
            <a:r>
              <a:rPr lang="zh-CN" altLang="zh-CN"/>
              <a:t>点：</a:t>
            </a:r>
            <a:endParaRPr lang="zh-CN" altLang="zh-CN"/>
          </a:p>
          <a:p>
            <a:pPr lvl="1"/>
            <a:r>
              <a:rPr lang="zh-CN" altLang="zh-CN"/>
              <a:t>主要</a:t>
            </a:r>
            <a:r>
              <a:rPr lang="zh-CN" altLang="zh-CN">
                <a:solidFill>
                  <a:srgbClr val="FF0000"/>
                </a:solidFill>
              </a:rPr>
              <a:t>元素</a:t>
            </a:r>
            <a:r>
              <a:rPr lang="zh-CN" altLang="zh-CN"/>
              <a:t>相同。两种图中的主要元素都是对象与消息，且都支持所有的消息类型。</a:t>
            </a:r>
            <a:endParaRPr lang="zh-CN" altLang="zh-CN"/>
          </a:p>
          <a:p>
            <a:pPr lvl="1"/>
            <a:r>
              <a:rPr lang="zh-CN" altLang="zh-CN"/>
              <a:t>表达</a:t>
            </a:r>
            <a:r>
              <a:rPr lang="zh-CN" altLang="zh-CN">
                <a:solidFill>
                  <a:srgbClr val="FF0000"/>
                </a:solidFill>
              </a:rPr>
              <a:t>语义</a:t>
            </a:r>
            <a:r>
              <a:rPr lang="zh-CN" altLang="zh-CN"/>
              <a:t>相同。两种图都是对系统中的交互建模，描述了系统中某个用例或操作的执行过程，二者的语义是等价的。</a:t>
            </a:r>
            <a:endParaRPr lang="zh-CN" altLang="zh-CN"/>
          </a:p>
          <a:p>
            <a:pPr lvl="1"/>
            <a:r>
              <a:rPr lang="zh-CN" altLang="zh-CN"/>
              <a:t>对象</a:t>
            </a:r>
            <a:r>
              <a:rPr lang="zh-CN" altLang="zh-CN">
                <a:solidFill>
                  <a:srgbClr val="FF0000"/>
                </a:solidFill>
              </a:rPr>
              <a:t>责任</a:t>
            </a:r>
            <a:r>
              <a:rPr lang="zh-CN" altLang="zh-CN"/>
              <a:t>相同。两种图中的对象都担任了发送者与接收者的角色并承担了发送与接收消息的责任。通过对象之间消息的传递来实现系统的功能。</a:t>
            </a:r>
            <a:endParaRPr lang="zh-CN" altLang="zh-CN"/>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zh-CN" altLang="en-US"/>
              <a:t>通信图</a:t>
            </a:r>
            <a:r>
              <a:rPr lang="zh-CN" altLang="zh-CN"/>
              <a:t>与顺序图</a:t>
            </a:r>
            <a:endParaRPr lang="zh-CN" altLang="en-US"/>
          </a:p>
        </p:txBody>
      </p:sp>
      <p:sp>
        <p:nvSpPr>
          <p:cNvPr id="12291" name="内容占位符 2"/>
          <p:cNvSpPr>
            <a:spLocks noGrp="1"/>
          </p:cNvSpPr>
          <p:nvPr>
            <p:ph sz="quarter" idx="4294967295"/>
          </p:nvPr>
        </p:nvSpPr>
        <p:spPr>
          <a:xfrm>
            <a:off x="685800" y="1323975"/>
            <a:ext cx="7772400" cy="3019425"/>
          </a:xfrm>
        </p:spPr>
        <p:txBody>
          <a:bodyPr>
            <a:normAutofit fontScale="85000" lnSpcReduction="10000"/>
          </a:bodyPr>
          <a:lstStyle/>
          <a:p>
            <a:r>
              <a:rPr lang="zh-CN" altLang="zh-CN" sz="2000"/>
              <a:t>两种图之间的不同点也有如下</a:t>
            </a:r>
            <a:r>
              <a:rPr lang="en-US" altLang="zh-CN" sz="2000"/>
              <a:t>3</a:t>
            </a:r>
            <a:r>
              <a:rPr lang="zh-CN" altLang="zh-CN" sz="2000"/>
              <a:t>点：</a:t>
            </a:r>
            <a:endParaRPr lang="zh-CN" altLang="zh-CN" sz="2000"/>
          </a:p>
          <a:p>
            <a:pPr lvl="1"/>
            <a:r>
              <a:rPr lang="zh-CN" altLang="en-US" sz="2000"/>
              <a:t>通信图</a:t>
            </a:r>
            <a:r>
              <a:rPr lang="zh-CN" altLang="zh-CN" sz="2000"/>
              <a:t>偏重于将对象的交互映射到连接它们的链上，这有助于验证类图中对应的类之间关联关系的正确性或建立新的关联关系的必要性。然而顺序图偏重描述交互中消息传递的逻辑顺序。因此</a:t>
            </a:r>
            <a:r>
              <a:rPr lang="zh-CN" altLang="en-US" sz="2000">
                <a:solidFill>
                  <a:srgbClr val="FF0000"/>
                </a:solidFill>
              </a:rPr>
              <a:t>通信图</a:t>
            </a:r>
            <a:r>
              <a:rPr lang="zh-CN" altLang="zh-CN" sz="2000"/>
              <a:t>更适用于展示系统中的</a:t>
            </a:r>
            <a:r>
              <a:rPr lang="zh-CN" altLang="zh-CN" sz="2000">
                <a:solidFill>
                  <a:srgbClr val="FF0000"/>
                </a:solidFill>
              </a:rPr>
              <a:t>对象结构</a:t>
            </a:r>
            <a:r>
              <a:rPr lang="zh-CN" altLang="zh-CN" sz="2000"/>
              <a:t>，而</a:t>
            </a:r>
            <a:r>
              <a:rPr lang="zh-CN" altLang="zh-CN" sz="2000">
                <a:solidFill>
                  <a:srgbClr val="FF0000"/>
                </a:solidFill>
              </a:rPr>
              <a:t>顺序图</a:t>
            </a:r>
            <a:r>
              <a:rPr lang="zh-CN" altLang="zh-CN" sz="2000"/>
              <a:t>则擅长表现交互中</a:t>
            </a:r>
            <a:r>
              <a:rPr lang="zh-CN" altLang="zh-CN" sz="2000">
                <a:solidFill>
                  <a:srgbClr val="FF0000"/>
                </a:solidFill>
              </a:rPr>
              <a:t>消息的顺序</a:t>
            </a:r>
            <a:r>
              <a:rPr lang="zh-CN" altLang="zh-CN" sz="2000"/>
              <a:t>。</a:t>
            </a:r>
            <a:endParaRPr lang="zh-CN" altLang="zh-CN" sz="2000"/>
          </a:p>
          <a:p>
            <a:pPr lvl="1"/>
            <a:r>
              <a:rPr lang="zh-CN" altLang="zh-CN" sz="2000"/>
              <a:t>顺序图可以显式地表现出</a:t>
            </a:r>
            <a:r>
              <a:rPr lang="zh-CN" altLang="zh-CN" sz="2000">
                <a:solidFill>
                  <a:srgbClr val="FF0000"/>
                </a:solidFill>
              </a:rPr>
              <a:t>对象创建与撤销</a:t>
            </a:r>
            <a:r>
              <a:rPr lang="zh-CN" altLang="zh-CN" sz="2000"/>
              <a:t>的过程，而在</a:t>
            </a:r>
            <a:r>
              <a:rPr lang="zh-CN" altLang="en-US" sz="2000"/>
              <a:t>通信图</a:t>
            </a:r>
            <a:r>
              <a:rPr lang="zh-CN" altLang="zh-CN" sz="2000"/>
              <a:t>中，只能通过消息的描述隐式地表现这一点。</a:t>
            </a:r>
            <a:endParaRPr lang="zh-CN" altLang="zh-CN" sz="2000"/>
          </a:p>
          <a:p>
            <a:pPr lvl="1"/>
            <a:r>
              <a:rPr lang="zh-CN" altLang="zh-CN" sz="2000"/>
              <a:t>顺序图还可以</a:t>
            </a:r>
            <a:r>
              <a:rPr lang="zh-CN" altLang="zh-CN" sz="2000">
                <a:solidFill>
                  <a:srgbClr val="FF0000"/>
                </a:solidFill>
              </a:rPr>
              <a:t>表示对象的激活</a:t>
            </a:r>
            <a:r>
              <a:rPr lang="zh-CN" altLang="zh-CN" sz="2000"/>
              <a:t>情况，而对于</a:t>
            </a:r>
            <a:r>
              <a:rPr lang="zh-CN" altLang="en-US" sz="2000"/>
              <a:t>通信图</a:t>
            </a:r>
            <a:r>
              <a:rPr lang="zh-CN" altLang="zh-CN" sz="2000"/>
              <a:t>来说，由于缺少表示时间的信息，除了对消息进行解释，无法清晰地表示对象的激活情况。</a:t>
            </a:r>
            <a:endParaRPr lang="zh-CN" altLang="zh-CN" sz="200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en-US" altLang="zh-CN" dirty="0"/>
              <a:t> </a:t>
            </a:r>
            <a:r>
              <a:rPr lang="zh-CN" altLang="en-US" dirty="0"/>
              <a:t>通信图</a:t>
            </a:r>
            <a:r>
              <a:rPr lang="zh-CN" altLang="zh-CN" dirty="0"/>
              <a:t>建模技术</a:t>
            </a:r>
            <a:endParaRPr lang="zh-CN" altLang="en-US" dirty="0"/>
          </a:p>
        </p:txBody>
      </p:sp>
      <p:sp>
        <p:nvSpPr>
          <p:cNvPr id="13315" name="内容占位符 2"/>
          <p:cNvSpPr>
            <a:spLocks noGrp="1"/>
          </p:cNvSpPr>
          <p:nvPr>
            <p:ph sz="quarter" idx="4294967295"/>
          </p:nvPr>
        </p:nvSpPr>
        <p:spPr>
          <a:xfrm>
            <a:off x="685800" y="1323975"/>
            <a:ext cx="7772400" cy="3019425"/>
          </a:xfrm>
        </p:spPr>
        <p:txBody>
          <a:bodyPr>
            <a:normAutofit fontScale="85000" lnSpcReduction="20000"/>
          </a:bodyPr>
          <a:lstStyle/>
          <a:p>
            <a:r>
              <a:rPr lang="zh-CN" altLang="zh-CN"/>
              <a:t>按组织对控制流建模</a:t>
            </a:r>
            <a:endParaRPr lang="en-US" altLang="zh-CN"/>
          </a:p>
          <a:p>
            <a:pPr lvl="1"/>
            <a:r>
              <a:rPr lang="zh-CN" altLang="zh-CN"/>
              <a:t>识别交互的语境，即交互所处的环境。</a:t>
            </a:r>
            <a:endParaRPr lang="zh-CN" altLang="zh-CN"/>
          </a:p>
          <a:p>
            <a:pPr lvl="1"/>
            <a:r>
              <a:rPr lang="zh-CN" altLang="zh-CN"/>
              <a:t>识别出图中应该存在的对象。</a:t>
            </a:r>
            <a:endParaRPr lang="en-US" altLang="zh-CN"/>
          </a:p>
          <a:p>
            <a:pPr lvl="1"/>
            <a:r>
              <a:rPr lang="zh-CN" altLang="zh-CN"/>
              <a:t>识别可能有消息传递的对象并设置链。</a:t>
            </a:r>
            <a:endParaRPr lang="en-US" altLang="zh-CN"/>
          </a:p>
          <a:p>
            <a:pPr lvl="1"/>
            <a:r>
              <a:rPr lang="zh-CN" altLang="zh-CN"/>
              <a:t>设置对象间的消息。</a:t>
            </a:r>
            <a:endParaRPr lang="en-US" altLang="zh-CN"/>
          </a:p>
          <a:p>
            <a:pPr lvl="1"/>
            <a:r>
              <a:rPr lang="zh-CN" altLang="zh-CN"/>
              <a:t>如果需要更多约束，如时间或空间的约束，可以使用其他的约束来修饰这些消息。</a:t>
            </a:r>
            <a:endParaRPr lang="zh-CN" altLang="zh-CN"/>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p:cNvPicPr>
            <a:picLocks noChangeAspect="1" noChangeArrowheads="1"/>
          </p:cNvPicPr>
          <p:nvPr/>
        </p:nvPicPr>
        <p:blipFill rotWithShape="1">
          <a:blip r:embed="rId1" cstate="print"/>
          <a:srcRect t="8858" b="6775"/>
          <a:stretch>
            <a:fillRect/>
          </a:stretch>
        </p:blipFill>
        <p:spPr bwMode="auto">
          <a:xfrm>
            <a:off x="1141651" y="775235"/>
            <a:ext cx="68586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p:cNvSpPr/>
          <p:nvPr/>
        </p:nvSpPr>
        <p:spPr>
          <a:xfrm>
            <a:off x="4141853" y="2461584"/>
            <a:ext cx="5000124" cy="1526456"/>
          </a:xfrm>
          <a:prstGeom prst="rect">
            <a:avLst/>
          </a:prstGeom>
          <a:solidFill>
            <a:schemeClr val="accent2">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5" name="矩形"/>
          <p:cNvSpPr/>
          <p:nvPr/>
        </p:nvSpPr>
        <p:spPr>
          <a:xfrm>
            <a:off x="0" y="2451460"/>
            <a:ext cx="4143875" cy="152645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6" name="矩形"/>
          <p:cNvSpPr/>
          <p:nvPr/>
        </p:nvSpPr>
        <p:spPr>
          <a:xfrm>
            <a:off x="1142325" y="2431210"/>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7" name="矩形"/>
          <p:cNvSpPr/>
          <p:nvPr/>
        </p:nvSpPr>
        <p:spPr>
          <a:xfrm>
            <a:off x="1142325" y="3977915"/>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10" name="文本"/>
          <p:cNvSpPr/>
          <p:nvPr/>
        </p:nvSpPr>
        <p:spPr>
          <a:xfrm>
            <a:off x="4182098" y="2836217"/>
            <a:ext cx="4904027" cy="398780"/>
          </a:xfrm>
          <a:prstGeom prst="rect">
            <a:avLst/>
          </a:prstGeom>
        </p:spPr>
        <p:txBody>
          <a:bodyPr wrap="square">
            <a:spAutoFit/>
          </a:bodyPr>
          <a:lstStyle/>
          <a:p>
            <a:pPr algn="ctr"/>
            <a:r>
              <a:rPr lang="zh-CN" altLang="en-US" sz="2000" b="1" spc="169" dirty="0">
                <a:solidFill>
                  <a:schemeClr val="bg1"/>
                </a:solidFill>
                <a:latin typeface="+mj-ea"/>
                <a:ea typeface="+mj-ea"/>
                <a:sym typeface="+mn-ea"/>
              </a:rPr>
              <a:t>工作任务</a:t>
            </a:r>
            <a:r>
              <a:rPr lang="en-US" altLang="zh-CN" sz="2000" b="1" spc="169" dirty="0">
                <a:solidFill>
                  <a:schemeClr val="bg1"/>
                </a:solidFill>
                <a:latin typeface="+mj-ea"/>
                <a:ea typeface="+mj-ea"/>
                <a:sym typeface="+mn-ea"/>
              </a:rPr>
              <a:t>1</a:t>
            </a:r>
            <a:r>
              <a:rPr lang="zh-CN" altLang="en-US" sz="2000" b="1" spc="169" dirty="0">
                <a:solidFill>
                  <a:schemeClr val="bg1"/>
                </a:solidFill>
                <a:latin typeface="+mj-ea"/>
                <a:ea typeface="+mj-ea"/>
                <a:sym typeface="+mn-ea"/>
              </a:rPr>
              <a:t>：完成系统动态行为建模</a:t>
            </a:r>
            <a:r>
              <a:rPr lang="en-US" altLang="zh-CN" sz="2000" b="1" spc="169" dirty="0">
                <a:solidFill>
                  <a:schemeClr val="bg1"/>
                </a:solidFill>
                <a:latin typeface="+mj-ea"/>
                <a:ea typeface="+mj-ea"/>
                <a:sym typeface="+mn-ea"/>
              </a:rPr>
              <a:t>2</a:t>
            </a:r>
            <a:endParaRPr lang="en-US" altLang="zh-CN" sz="2000" b="1" spc="169" dirty="0">
              <a:solidFill>
                <a:schemeClr val="bg1"/>
              </a:solidFill>
              <a:latin typeface="+mj-ea"/>
              <a:ea typeface="+mj-ea"/>
              <a:sym typeface="+mn-ea"/>
            </a:endParaRPr>
          </a:p>
        </p:txBody>
      </p:sp>
      <p:sp>
        <p:nvSpPr>
          <p:cNvPr id="4" name="日期占位符 3"/>
          <p:cNvSpPr>
            <a:spLocks noGrp="1"/>
          </p:cNvSpPr>
          <p:nvPr>
            <p:ph type="dt" sz="half" idx="10"/>
          </p:nvPr>
        </p:nvSpPr>
        <p:spPr/>
        <p:txBody>
          <a:bodyPr/>
          <a:lstStyle/>
          <a:p>
            <a:fld id="{5D4BC5F9-6D7A-487F-A4DD-E8AA3444B561}"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a:t>软件工程</a:t>
            </a:r>
            <a:endParaRPr lang="zh-CN" altLang="en-US" dirty="0"/>
          </a:p>
        </p:txBody>
      </p:sp>
      <p:sp>
        <p:nvSpPr>
          <p:cNvPr id="11" name="灯片编号占位符 10"/>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2" name="文本"/>
          <p:cNvSpPr txBox="1"/>
          <p:nvPr/>
        </p:nvSpPr>
        <p:spPr>
          <a:xfrm>
            <a:off x="4292273" y="3260467"/>
            <a:ext cx="4723394" cy="506730"/>
          </a:xfrm>
          <a:prstGeom prst="rect">
            <a:avLst/>
          </a:prstGeom>
          <a:noFill/>
        </p:spPr>
        <p:txBody>
          <a:bodyPr wrap="square" rtlCol="0" anchor="t">
            <a:spAutoFit/>
          </a:bodyPr>
          <a:lstStyle>
            <a:defPPr>
              <a:defRPr lang="zh-CN"/>
            </a:defPPr>
            <a:lvl1pPr indent="467995">
              <a:lnSpc>
                <a:spcPct val="150000"/>
              </a:lnSpc>
              <a:spcAft>
                <a:spcPts val="1500"/>
              </a:spcAft>
              <a:defRPr sz="1600" spc="150">
                <a:solidFill>
                  <a:schemeClr val="tx1">
                    <a:lumMod val="95000"/>
                    <a:lumOff val="5000"/>
                  </a:schemeClr>
                </a:solidFill>
                <a:latin typeface="+mn-ea"/>
              </a:defRPr>
            </a:lvl1pPr>
          </a:lstStyle>
          <a:p>
            <a:pPr indent="0" algn="ctr"/>
            <a:r>
              <a:rPr lang="zh-CN" altLang="en-US" sz="1800" dirty="0">
                <a:solidFill>
                  <a:schemeClr val="bg1"/>
                </a:solidFill>
              </a:rPr>
              <a:t>交付的工作产品：系统状态机图</a:t>
            </a:r>
            <a:endParaRPr lang="zh-CN" altLang="en-US" sz="1800" dirty="0">
              <a:solidFill>
                <a:schemeClr val="bg1"/>
              </a:solidFill>
            </a:endParaRPr>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16" presetClass="entr" presetSubtype="37"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outVertical)">
                                      <p:cBhvr>
                                        <p:cTn id="26" dur="500"/>
                                        <p:tgtEl>
                                          <p:spTgt spid="10"/>
                                        </p:tgtEl>
                                      </p:cBhvr>
                                    </p:animEffect>
                                  </p:childTnLst>
                                </p:cTn>
                              </p:par>
                            </p:childTnLst>
                          </p:cTn>
                        </p:par>
                        <p:par>
                          <p:cTn id="27" fill="hold">
                            <p:stCondLst>
                              <p:cond delay="2500"/>
                            </p:stCondLst>
                            <p:childTnLst>
                              <p:par>
                                <p:cTn id="28" presetID="42"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1000"/>
                                        <p:tgtEl>
                                          <p:spTgt spid="12"/>
                                        </p:tgtEl>
                                      </p:cBhvr>
                                    </p:animEffect>
                                    <p:anim calcmode="lin" valueType="num">
                                      <p:cBhvr>
                                        <p:cTn id="31" dur="1000" fill="hold"/>
                                        <p:tgtEl>
                                          <p:spTgt spid="12"/>
                                        </p:tgtEl>
                                        <p:attrNameLst>
                                          <p:attrName>ppt_x</p:attrName>
                                        </p:attrNameLst>
                                      </p:cBhvr>
                                      <p:tavLst>
                                        <p:tav tm="0">
                                          <p:val>
                                            <p:strVal val="#ppt_x"/>
                                          </p:val>
                                        </p:tav>
                                        <p:tav tm="100000">
                                          <p:val>
                                            <p:strVal val="#ppt_x"/>
                                          </p:val>
                                        </p:tav>
                                      </p:tavLst>
                                    </p:anim>
                                    <p:anim calcmode="lin" valueType="num">
                                      <p:cBhvr>
                                        <p:cTn id="3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6" grpId="0" bldLvl="0" animBg="1"/>
      <p:bldP spid="7" grpId="0" bldLvl="0" animBg="1"/>
      <p:bldP spid="10" grpId="0"/>
      <p:bldP spid="12"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p:cNvPicPr>
            <a:picLocks noChangeAspect="1" noChangeArrowheads="1"/>
          </p:cNvPicPr>
          <p:nvPr/>
        </p:nvPicPr>
        <p:blipFill rotWithShape="1">
          <a:blip r:embed="rId1" cstate="print"/>
          <a:srcRect t="8858" b="6775"/>
          <a:stretch>
            <a:fillRect/>
          </a:stretch>
        </p:blipFill>
        <p:spPr bwMode="auto">
          <a:xfrm>
            <a:off x="1141651" y="775235"/>
            <a:ext cx="6858675"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p:cNvSpPr/>
          <p:nvPr/>
        </p:nvSpPr>
        <p:spPr>
          <a:xfrm>
            <a:off x="4141853" y="2461584"/>
            <a:ext cx="5000124" cy="1526456"/>
          </a:xfrm>
          <a:prstGeom prst="rect">
            <a:avLst/>
          </a:prstGeom>
          <a:solidFill>
            <a:schemeClr val="accent2">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5" name="矩形"/>
          <p:cNvSpPr/>
          <p:nvPr/>
        </p:nvSpPr>
        <p:spPr>
          <a:xfrm>
            <a:off x="0" y="2451460"/>
            <a:ext cx="4143875" cy="1526456"/>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6" name="矩形"/>
          <p:cNvSpPr/>
          <p:nvPr/>
        </p:nvSpPr>
        <p:spPr>
          <a:xfrm>
            <a:off x="1142325" y="2431210"/>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7" name="矩形"/>
          <p:cNvSpPr/>
          <p:nvPr/>
        </p:nvSpPr>
        <p:spPr>
          <a:xfrm>
            <a:off x="1142325" y="3977915"/>
            <a:ext cx="6858675" cy="20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dirty="0"/>
          </a:p>
        </p:txBody>
      </p:sp>
      <p:sp>
        <p:nvSpPr>
          <p:cNvPr id="10" name="文本"/>
          <p:cNvSpPr/>
          <p:nvPr/>
        </p:nvSpPr>
        <p:spPr>
          <a:xfrm>
            <a:off x="4182098" y="2836217"/>
            <a:ext cx="4904027" cy="400110"/>
          </a:xfrm>
          <a:prstGeom prst="rect">
            <a:avLst/>
          </a:prstGeom>
        </p:spPr>
        <p:txBody>
          <a:bodyPr wrap="square">
            <a:spAutoFit/>
          </a:bodyPr>
          <a:lstStyle/>
          <a:p>
            <a:pPr algn="ctr"/>
            <a:r>
              <a:rPr lang="zh-CN" altLang="en-US" sz="2000" b="1" spc="169" dirty="0">
                <a:solidFill>
                  <a:schemeClr val="bg1"/>
                </a:solidFill>
                <a:latin typeface="+mj-ea"/>
                <a:ea typeface="+mj-ea"/>
                <a:sym typeface="+mn-ea"/>
              </a:rPr>
              <a:t>工作</a:t>
            </a:r>
            <a:r>
              <a:rPr lang="zh-CN" altLang="en-US" sz="2000" b="1" spc="169" dirty="0" smtClean="0">
                <a:solidFill>
                  <a:schemeClr val="bg1"/>
                </a:solidFill>
                <a:latin typeface="+mj-ea"/>
                <a:ea typeface="+mj-ea"/>
                <a:sym typeface="+mn-ea"/>
              </a:rPr>
              <a:t>任务</a:t>
            </a:r>
            <a:r>
              <a:rPr lang="en-US" altLang="zh-CN" sz="2000" b="1" spc="169" dirty="0" smtClean="0">
                <a:solidFill>
                  <a:schemeClr val="bg1"/>
                </a:solidFill>
                <a:latin typeface="+mj-ea"/>
                <a:ea typeface="+mj-ea"/>
                <a:sym typeface="+mn-ea"/>
              </a:rPr>
              <a:t>2</a:t>
            </a:r>
            <a:r>
              <a:rPr lang="zh-CN" altLang="en-US" sz="2000" b="1" spc="169" dirty="0">
                <a:solidFill>
                  <a:schemeClr val="bg1"/>
                </a:solidFill>
                <a:latin typeface="+mj-ea"/>
                <a:ea typeface="+mj-ea"/>
                <a:sym typeface="+mn-ea"/>
              </a:rPr>
              <a:t>：完成人机界面设计</a:t>
            </a:r>
            <a:endParaRPr lang="zh-CN" altLang="en-US" sz="2000" b="1" spc="169" dirty="0">
              <a:solidFill>
                <a:schemeClr val="bg1"/>
              </a:solidFill>
              <a:latin typeface="+mj-ea"/>
              <a:ea typeface="+mj-ea"/>
              <a:sym typeface="+mn-ea"/>
            </a:endParaRPr>
          </a:p>
        </p:txBody>
      </p:sp>
      <p:sp>
        <p:nvSpPr>
          <p:cNvPr id="4" name="日期占位符 3"/>
          <p:cNvSpPr>
            <a:spLocks noGrp="1"/>
          </p:cNvSpPr>
          <p:nvPr>
            <p:ph type="dt" sz="half" idx="10"/>
          </p:nvPr>
        </p:nvSpPr>
        <p:spPr/>
        <p:txBody>
          <a:bodyPr/>
          <a:lstStyle/>
          <a:p>
            <a:fld id="{5D4BC5F9-6D7A-487F-A4DD-E8AA3444B561}"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smtClean="0"/>
              <a:t>软件工程</a:t>
            </a:r>
            <a:endParaRPr lang="zh-CN" altLang="en-US" dirty="0"/>
          </a:p>
        </p:txBody>
      </p:sp>
      <p:sp>
        <p:nvSpPr>
          <p:cNvPr id="11" name="灯片编号占位符 10"/>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12" name="文本"/>
          <p:cNvSpPr txBox="1"/>
          <p:nvPr/>
        </p:nvSpPr>
        <p:spPr>
          <a:xfrm>
            <a:off x="4292273" y="3260467"/>
            <a:ext cx="4723394" cy="442878"/>
          </a:xfrm>
          <a:prstGeom prst="rect">
            <a:avLst/>
          </a:prstGeom>
          <a:noFill/>
        </p:spPr>
        <p:txBody>
          <a:bodyPr wrap="square" rtlCol="0" anchor="t">
            <a:spAutoFit/>
          </a:bodyPr>
          <a:lstStyle>
            <a:defPPr>
              <a:defRPr lang="zh-CN"/>
            </a:defPPr>
            <a:lvl1pPr indent="467995">
              <a:lnSpc>
                <a:spcPct val="150000"/>
              </a:lnSpc>
              <a:spcAft>
                <a:spcPts val="1500"/>
              </a:spcAft>
              <a:defRPr sz="1600" spc="150">
                <a:solidFill>
                  <a:schemeClr val="tx1">
                    <a:lumMod val="95000"/>
                    <a:lumOff val="5000"/>
                  </a:schemeClr>
                </a:solidFill>
                <a:latin typeface="+mn-ea"/>
              </a:defRPr>
            </a:lvl1pPr>
          </a:lstStyle>
          <a:p>
            <a:pPr indent="0" algn="ctr"/>
            <a:r>
              <a:rPr lang="zh-CN" altLang="en-US" sz="1800" dirty="0" smtClean="0">
                <a:solidFill>
                  <a:schemeClr val="bg1"/>
                </a:solidFill>
              </a:rPr>
              <a:t>交付</a:t>
            </a:r>
            <a:r>
              <a:rPr lang="zh-CN" altLang="en-US" sz="1800" dirty="0">
                <a:solidFill>
                  <a:schemeClr val="bg1"/>
                </a:solidFill>
              </a:rPr>
              <a:t>的工作产品</a:t>
            </a:r>
            <a:r>
              <a:rPr lang="zh-CN" altLang="en-US" sz="1800" dirty="0" smtClean="0">
                <a:solidFill>
                  <a:schemeClr val="bg1"/>
                </a:solidFill>
              </a:rPr>
              <a:t>：</a:t>
            </a:r>
            <a:r>
              <a:rPr lang="zh-CN" altLang="en-US" sz="1800" dirty="0">
                <a:solidFill>
                  <a:schemeClr val="bg1"/>
                </a:solidFill>
              </a:rPr>
              <a:t>系统用户</a:t>
            </a:r>
            <a:r>
              <a:rPr lang="zh-CN" altLang="en-US" sz="1800" dirty="0" smtClean="0">
                <a:solidFill>
                  <a:schemeClr val="bg1"/>
                </a:solidFill>
              </a:rPr>
              <a:t>界面</a:t>
            </a:r>
            <a:endParaRPr lang="zh-CN" altLang="en-US" sz="1800" dirty="0">
              <a:solidFill>
                <a:schemeClr val="bg1"/>
              </a:solidFill>
            </a:endParaRPr>
          </a:p>
        </p:txBody>
      </p:sp>
    </p:spTree>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left)">
                                      <p:cBhvr>
                                        <p:cTn id="18" dur="500"/>
                                        <p:tgtEl>
                                          <p:spTgt spid="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2000"/>
                            </p:stCondLst>
                            <p:childTnLst>
                              <p:par>
                                <p:cTn id="24" presetID="16" presetClass="entr" presetSubtype="37"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barn(outVertical)">
                                      <p:cBhvr>
                                        <p:cTn id="26" dur="500"/>
                                        <p:tgtEl>
                                          <p:spTgt spid="10"/>
                                        </p:tgtEl>
                                      </p:cBhvr>
                                    </p:animEffect>
                                  </p:childTnLst>
                                </p:cTn>
                              </p:par>
                            </p:childTnLst>
                          </p:cTn>
                        </p:par>
                        <p:par>
                          <p:cTn id="27" fill="hold">
                            <p:stCondLst>
                              <p:cond delay="2500"/>
                            </p:stCondLst>
                            <p:childTnLst>
                              <p:par>
                                <p:cTn id="28" presetID="42"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1000"/>
                                        <p:tgtEl>
                                          <p:spTgt spid="12"/>
                                        </p:tgtEl>
                                      </p:cBhvr>
                                    </p:animEffect>
                                    <p:anim calcmode="lin" valueType="num">
                                      <p:cBhvr>
                                        <p:cTn id="31" dur="1000" fill="hold"/>
                                        <p:tgtEl>
                                          <p:spTgt spid="12"/>
                                        </p:tgtEl>
                                        <p:attrNameLst>
                                          <p:attrName>ppt_x</p:attrName>
                                        </p:attrNameLst>
                                      </p:cBhvr>
                                      <p:tavLst>
                                        <p:tav tm="0">
                                          <p:val>
                                            <p:strVal val="#ppt_x"/>
                                          </p:val>
                                        </p:tav>
                                        <p:tav tm="100000">
                                          <p:val>
                                            <p:strVal val="#ppt_x"/>
                                          </p:val>
                                        </p:tav>
                                      </p:tavLst>
                                    </p:anim>
                                    <p:anim calcmode="lin" valueType="num">
                                      <p:cBhvr>
                                        <p:cTn id="3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p:bldP spid="6" grpId="0" bldLvl="0" animBg="1"/>
      <p:bldP spid="7" grpId="0" bldLvl="0" animBg="1"/>
      <p:bldP spid="10" grpId="0"/>
      <p:bldP spid="12"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r>
              <a:rPr lang="zh-CN" altLang="en-US" dirty="0"/>
              <a:t>人机界面设计概述</a:t>
            </a:r>
            <a:endParaRPr lang="zh-CN" altLang="en-US" dirty="0"/>
          </a:p>
        </p:txBody>
      </p:sp>
      <p:sp>
        <p:nvSpPr>
          <p:cNvPr id="200707" name="Rectangle 3"/>
          <p:cNvSpPr>
            <a:spLocks noGrp="1" noChangeArrowheads="1"/>
          </p:cNvSpPr>
          <p:nvPr>
            <p:ph idx="1"/>
          </p:nvPr>
        </p:nvSpPr>
        <p:spPr>
          <a:xfrm>
            <a:off x="768097" y="1128155"/>
            <a:ext cx="7832833" cy="3603865"/>
          </a:xfrm>
        </p:spPr>
        <p:txBody>
          <a:bodyPr>
            <a:normAutofit/>
          </a:bodyPr>
          <a:lstStyle/>
          <a:p>
            <a:pPr>
              <a:lnSpc>
                <a:spcPct val="130000"/>
              </a:lnSpc>
              <a:spcBef>
                <a:spcPts val="1350"/>
              </a:spcBef>
            </a:pPr>
            <a:r>
              <a:rPr lang="zh-CN" altLang="en-US" sz="2400" dirty="0"/>
              <a:t>对于用户来说，一个友好的界面是至关重要的。</a:t>
            </a:r>
            <a:endParaRPr lang="zh-CN" altLang="en-US" sz="2400" dirty="0"/>
          </a:p>
          <a:p>
            <a:pPr>
              <a:lnSpc>
                <a:spcPct val="130000"/>
              </a:lnSpc>
              <a:spcBef>
                <a:spcPts val="1350"/>
              </a:spcBef>
            </a:pPr>
            <a:r>
              <a:rPr lang="zh-CN" altLang="en-US" sz="2400" dirty="0"/>
              <a:t>用户界面（</a:t>
            </a:r>
            <a:r>
              <a:rPr lang="en-US" altLang="zh-CN" sz="2400" dirty="0">
                <a:solidFill>
                  <a:srgbClr val="FF0000"/>
                </a:solidFill>
              </a:rPr>
              <a:t>U</a:t>
            </a:r>
            <a:r>
              <a:rPr lang="en-US" altLang="zh-CN" sz="2400" dirty="0"/>
              <a:t>ser </a:t>
            </a:r>
            <a:r>
              <a:rPr lang="en-US" altLang="zh-CN" sz="2400" dirty="0">
                <a:solidFill>
                  <a:srgbClr val="FF0000"/>
                </a:solidFill>
              </a:rPr>
              <a:t>I</a:t>
            </a:r>
            <a:r>
              <a:rPr lang="en-US" altLang="zh-CN" sz="2400" dirty="0"/>
              <a:t>nterface</a:t>
            </a:r>
            <a:r>
              <a:rPr lang="zh-CN" altLang="en-US" sz="2400" dirty="0"/>
              <a:t>）的设计质量直接影响用户对软件产品的评价，从而影响软件产品的竞争力和使用寿命，因此，对人机界面的设计必须给予足够的重视。</a:t>
            </a:r>
            <a:endParaRPr lang="zh-CN" altLang="en-US" sz="2400" dirty="0"/>
          </a:p>
        </p:txBody>
      </p:sp>
      <p:sp>
        <p:nvSpPr>
          <p:cNvPr id="2" name="日期占位符 1"/>
          <p:cNvSpPr>
            <a:spLocks noGrp="1"/>
          </p:cNvSpPr>
          <p:nvPr>
            <p:ph type="dt" sz="half" idx="10"/>
          </p:nvPr>
        </p:nvSpPr>
        <p:spPr/>
        <p:txBody>
          <a:bodyPr/>
          <a:lstStyle/>
          <a:p>
            <a:fld id="{6ECE76C4-D851-48AA-9DDF-29189CAE9842}"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7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07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Rectangle 2"/>
          <p:cNvSpPr>
            <a:spLocks noGrp="1" noChangeArrowheads="1"/>
          </p:cNvSpPr>
          <p:nvPr>
            <p:ph type="title"/>
          </p:nvPr>
        </p:nvSpPr>
        <p:spPr/>
        <p:txBody>
          <a:bodyPr/>
          <a:lstStyle/>
          <a:p>
            <a:pPr>
              <a:defRPr/>
            </a:pPr>
            <a:r>
              <a:rPr lang="zh-CN" altLang="en-US" dirty="0"/>
              <a:t>人机界面设计概述</a:t>
            </a:r>
            <a:endParaRPr lang="zh-CN" altLang="en-US" dirty="0"/>
          </a:p>
        </p:txBody>
      </p:sp>
      <p:sp>
        <p:nvSpPr>
          <p:cNvPr id="6148" name="Rectangle 3"/>
          <p:cNvSpPr>
            <a:spLocks noGrp="1" noChangeArrowheads="1"/>
          </p:cNvSpPr>
          <p:nvPr>
            <p:ph idx="1"/>
          </p:nvPr>
        </p:nvSpPr>
        <p:spPr/>
        <p:txBody>
          <a:bodyPr>
            <a:normAutofit fontScale="77500" lnSpcReduction="20000"/>
          </a:bodyPr>
          <a:lstStyle/>
          <a:p>
            <a:pPr algn="just" eaLnBrk="1" hangingPunct="1">
              <a:lnSpc>
                <a:spcPct val="120000"/>
              </a:lnSpc>
            </a:pPr>
            <a:r>
              <a:rPr lang="zh-CN" altLang="en-US" dirty="0"/>
              <a:t>人通过感觉器官认识客观世界，因此设计用户界面时要充分考虑人的视觉、触觉、</a:t>
            </a:r>
            <a:r>
              <a:rPr lang="zh-CN" altLang="en-US" dirty="0" smtClean="0"/>
              <a:t>听觉和情感的</a:t>
            </a:r>
            <a:r>
              <a:rPr lang="zh-CN" altLang="en-US" dirty="0"/>
              <a:t>作用。</a:t>
            </a:r>
            <a:endParaRPr lang="zh-CN" altLang="en-US" dirty="0"/>
          </a:p>
          <a:p>
            <a:pPr algn="just">
              <a:lnSpc>
                <a:spcPct val="120000"/>
              </a:lnSpc>
            </a:pPr>
            <a:r>
              <a:rPr lang="zh-CN" altLang="en-US" dirty="0"/>
              <a:t>人机界面</a:t>
            </a:r>
            <a:r>
              <a:rPr lang="zh-CN" altLang="en-US" dirty="0" smtClean="0"/>
              <a:t>是系统与用户之间交互的接口，人机界面的设计也就是人机接口的设计。包括视觉设计和人机交互设计。</a:t>
            </a:r>
            <a:endParaRPr lang="en-US" altLang="zh-CN" dirty="0"/>
          </a:p>
          <a:p>
            <a:pPr algn="just" eaLnBrk="1" hangingPunct="1">
              <a:lnSpc>
                <a:spcPct val="120000"/>
              </a:lnSpc>
            </a:pPr>
            <a:r>
              <a:rPr lang="zh-CN" altLang="en-US" dirty="0" smtClean="0"/>
              <a:t>人机界面</a:t>
            </a:r>
            <a:r>
              <a:rPr lang="zh-CN" altLang="en-US" dirty="0"/>
              <a:t>是在可视介质上实现的，如正文、图形、图表等。人们根据显示内容的体积、形状、颜色等种种表征来解释所获取的可视信息</a:t>
            </a:r>
            <a:r>
              <a:rPr lang="zh-CN" altLang="en-US" dirty="0" smtClean="0"/>
              <a:t>。因此</a:t>
            </a:r>
            <a:r>
              <a:rPr lang="zh-CN" altLang="en-US" dirty="0"/>
              <a:t>，字体、大小、位置、颜色、形状等都会直接影响信息提取的难易程度。</a:t>
            </a:r>
            <a:endParaRPr lang="en-US" altLang="zh-CN" dirty="0"/>
          </a:p>
          <a:p>
            <a:pPr algn="just" eaLnBrk="1" hangingPunct="1">
              <a:lnSpc>
                <a:spcPct val="120000"/>
              </a:lnSpc>
            </a:pPr>
            <a:r>
              <a:rPr lang="zh-CN" altLang="en-US" dirty="0">
                <a:solidFill>
                  <a:srgbClr val="FF0000"/>
                </a:solidFill>
              </a:rPr>
              <a:t>很好地表示可视信息是设计友好界面的关键。</a:t>
            </a:r>
            <a:endParaRPr lang="zh-CN" altLang="en-US" dirty="0">
              <a:solidFill>
                <a:srgbClr val="FF0000"/>
              </a:solidFill>
            </a:endParaRPr>
          </a:p>
        </p:txBody>
      </p:sp>
      <p:sp>
        <p:nvSpPr>
          <p:cNvPr id="2" name="日期占位符 1"/>
          <p:cNvSpPr>
            <a:spLocks noGrp="1"/>
          </p:cNvSpPr>
          <p:nvPr>
            <p:ph type="dt" sz="half" idx="10"/>
          </p:nvPr>
        </p:nvSpPr>
        <p:spPr/>
        <p:txBody>
          <a:bodyPr/>
          <a:lstStyle/>
          <a:p>
            <a:fld id="{2D27EB5B-B212-4C91-9622-4A322CA1F36A}"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6149" name="灯片编号占位符 5"/>
          <p:cNvSpPr>
            <a:spLocks noGrp="1"/>
          </p:cNvSpPr>
          <p:nvPr>
            <p:ph type="sldNum" sz="quarter" idx="12"/>
          </p:nvPr>
        </p:nvSpPr>
        <p:spPr>
          <a:noFill/>
        </p:spPr>
        <p:txBody>
          <a:bodyPr/>
          <a:lstStyle/>
          <a:p>
            <a:fld id="{FD43FFFB-BA9B-46EA-9CFC-BBCDD273B4E4}" type="slidenum">
              <a:rPr lang="en-US" altLang="zh-CN" smtClean="0">
                <a:ea typeface="宋体" panose="02010600030101010101" pitchFamily="2" charset="-122"/>
              </a:rPr>
            </a:fld>
            <a:endParaRPr lang="en-US" altLang="zh-CN">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mtClean="0"/>
              <a:t>人机界面的作用</a:t>
            </a:r>
            <a:endParaRPr lang="zh-CN" altLang="en-US"/>
          </a:p>
        </p:txBody>
      </p:sp>
      <p:sp>
        <p:nvSpPr>
          <p:cNvPr id="2" name="内容占位符 1"/>
          <p:cNvSpPr>
            <a:spLocks noGrp="1"/>
          </p:cNvSpPr>
          <p:nvPr>
            <p:ph idx="1"/>
          </p:nvPr>
        </p:nvSpPr>
        <p:spPr>
          <a:xfrm>
            <a:off x="827472" y="853917"/>
            <a:ext cx="7877141" cy="3806854"/>
          </a:xfrm>
        </p:spPr>
        <p:txBody>
          <a:bodyPr>
            <a:noAutofit/>
          </a:bodyPr>
          <a:lstStyle/>
          <a:p>
            <a:pPr>
              <a:spcBef>
                <a:spcPts val="600"/>
              </a:spcBef>
            </a:pPr>
            <a:r>
              <a:rPr lang="zh-CN" altLang="en-US" sz="2400" dirty="0" smtClean="0"/>
              <a:t>执行人与系统进行的交互，人进行操作、输入数据，系统进行响应、显示结果；达到操作、响应、显示的功能。主要包括以下作用：</a:t>
            </a:r>
            <a:endParaRPr lang="en-US" altLang="zh-CN" sz="2400" dirty="0" smtClean="0"/>
          </a:p>
          <a:p>
            <a:pPr marL="342900" indent="-342900">
              <a:spcBef>
                <a:spcPts val="600"/>
              </a:spcBef>
              <a:buFont typeface="+mj-lt"/>
              <a:buAutoNum type="arabicPeriod"/>
            </a:pPr>
            <a:r>
              <a:rPr lang="zh-CN" altLang="en-US" sz="2000" dirty="0" smtClean="0"/>
              <a:t>组织系统的操作命令，执行功能操作，管理事件源。</a:t>
            </a:r>
            <a:endParaRPr lang="en-US" altLang="zh-CN" sz="2000" dirty="0" smtClean="0"/>
          </a:p>
          <a:p>
            <a:pPr marL="342900" indent="-342900">
              <a:spcBef>
                <a:spcPts val="600"/>
              </a:spcBef>
              <a:buFont typeface="+mj-lt"/>
              <a:buAutoNum type="arabicPeriod"/>
            </a:pPr>
            <a:r>
              <a:rPr lang="zh-CN" altLang="en-US" sz="2000" dirty="0" smtClean="0"/>
              <a:t>导航深层的链式操作，代替命令行，减轻用户记忆负担，方便操作。</a:t>
            </a:r>
            <a:endParaRPr lang="en-US" altLang="zh-CN" sz="2000" dirty="0" smtClean="0"/>
          </a:p>
          <a:p>
            <a:pPr marL="342900" indent="-342900">
              <a:spcBef>
                <a:spcPts val="600"/>
              </a:spcBef>
              <a:buFont typeface="+mj-lt"/>
              <a:buAutoNum type="arabicPeriod"/>
            </a:pPr>
            <a:r>
              <a:rPr lang="zh-CN" altLang="en-US" sz="2000" dirty="0" smtClean="0"/>
              <a:t>显示事件响应的运行状态和结果。</a:t>
            </a:r>
            <a:endParaRPr lang="en-US" altLang="zh-CN" sz="2000" dirty="0" smtClean="0"/>
          </a:p>
          <a:p>
            <a:pPr marL="342900" indent="-342900">
              <a:spcBef>
                <a:spcPts val="600"/>
              </a:spcBef>
              <a:buFont typeface="+mj-lt"/>
              <a:buAutoNum type="arabicPeriod"/>
            </a:pPr>
            <a:r>
              <a:rPr lang="zh-CN" altLang="en-US" sz="2000" dirty="0" smtClean="0"/>
              <a:t>及时提示操作信息，保证数据的安全操作。</a:t>
            </a:r>
            <a:endParaRPr lang="en-US" altLang="zh-CN" sz="2000" dirty="0" smtClean="0"/>
          </a:p>
          <a:p>
            <a:pPr marL="342900" indent="-342900">
              <a:spcBef>
                <a:spcPts val="600"/>
              </a:spcBef>
              <a:buFont typeface="+mj-lt"/>
              <a:buAutoNum type="arabicPeriod"/>
            </a:pPr>
            <a:r>
              <a:rPr lang="zh-CN" altLang="en-US" sz="2000" dirty="0" smtClean="0"/>
              <a:t>图形化的数据分析，表示直观。</a:t>
            </a:r>
            <a:endParaRPr lang="en-US" altLang="zh-CN" sz="2000" dirty="0" smtClean="0"/>
          </a:p>
          <a:p>
            <a:pPr marL="342900" indent="-342900">
              <a:spcBef>
                <a:spcPts val="600"/>
              </a:spcBef>
              <a:buFont typeface="+mj-lt"/>
              <a:buAutoNum type="arabicPeriod"/>
            </a:pPr>
            <a:r>
              <a:rPr lang="zh-CN" altLang="en-US" sz="2000" dirty="0" smtClean="0"/>
              <a:t>美观的设计，操作的便利友好，人性化服务，提升用户体验的关键。</a:t>
            </a:r>
            <a:endParaRPr lang="zh-CN" altLang="en-US" sz="2000" dirty="0"/>
          </a:p>
        </p:txBody>
      </p:sp>
      <p:sp>
        <p:nvSpPr>
          <p:cNvPr id="5" name="日期占位符 4"/>
          <p:cNvSpPr>
            <a:spLocks noGrp="1"/>
          </p:cNvSpPr>
          <p:nvPr>
            <p:ph type="dt" sz="half" idx="10"/>
          </p:nvPr>
        </p:nvSpPr>
        <p:spPr/>
        <p:txBody>
          <a:bodyPr/>
          <a:lstStyle/>
          <a:p>
            <a:fld id="{89F2CC69-7E4F-4920-9113-57D41FDE656D}"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up)">
                                      <p:cBhvr>
                                        <p:cTn id="7" dur="500"/>
                                        <p:tgtEl>
                                          <p:spTgt spid="2">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wipe(up)">
                                      <p:cBhvr>
                                        <p:cTn id="10" dur="500"/>
                                        <p:tgtEl>
                                          <p:spTgt spid="2">
                                            <p:txEl>
                                              <p:pRg st="2" end="2"/>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wipe(up)">
                                      <p:cBhvr>
                                        <p:cTn id="13" dur="500"/>
                                        <p:tgtEl>
                                          <p:spTgt spid="2">
                                            <p:txEl>
                                              <p:pRg st="3" end="3"/>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wipe(up)">
                                      <p:cBhvr>
                                        <p:cTn id="16" dur="500"/>
                                        <p:tgtEl>
                                          <p:spTgt spid="2">
                                            <p:txEl>
                                              <p:pRg st="4" end="4"/>
                                            </p:txEl>
                                          </p:spTgt>
                                        </p:tgtEl>
                                      </p:cBhvr>
                                    </p:animEffect>
                                  </p:childTnLst>
                                </p:cTn>
                              </p:par>
                              <p:par>
                                <p:cTn id="17" presetID="22" presetClass="entr" presetSubtype="1"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Effect transition="in" filter="wipe(up)">
                                      <p:cBhvr>
                                        <p:cTn id="19" dur="500"/>
                                        <p:tgtEl>
                                          <p:spTgt spid="2">
                                            <p:txEl>
                                              <p:pRg st="5" end="5"/>
                                            </p:txEl>
                                          </p:spTgt>
                                        </p:tgtEl>
                                      </p:cBhvr>
                                    </p:animEffect>
                                  </p:childTnLst>
                                </p:cTn>
                              </p:par>
                              <p:par>
                                <p:cTn id="20" presetID="22" presetClass="entr" presetSubtype="1" fill="hold" nodeType="with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wipe(up)">
                                      <p:cBhvr>
                                        <p:cTn id="2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人机界面的作用</a:t>
            </a:r>
            <a:endParaRPr lang="zh-CN" altLang="en-US"/>
          </a:p>
        </p:txBody>
      </p:sp>
      <p:sp>
        <p:nvSpPr>
          <p:cNvPr id="2" name="内容占位符 1"/>
          <p:cNvSpPr>
            <a:spLocks noGrp="1"/>
          </p:cNvSpPr>
          <p:nvPr>
            <p:ph idx="1"/>
          </p:nvPr>
        </p:nvSpPr>
        <p:spPr>
          <a:xfrm>
            <a:off x="768096" y="1140030"/>
            <a:ext cx="7832833" cy="3615741"/>
          </a:xfrm>
        </p:spPr>
        <p:txBody>
          <a:bodyPr>
            <a:normAutofit/>
          </a:bodyPr>
          <a:lstStyle/>
          <a:p>
            <a:pPr>
              <a:lnSpc>
                <a:spcPct val="150000"/>
              </a:lnSpc>
            </a:pPr>
            <a:r>
              <a:rPr lang="zh-CN" altLang="en-US" dirty="0"/>
              <a:t>虽然好的人机交互部分不可能挽救一个功能很差的软件，但性能很差的人机交互部分将使一个功能很强的产品变得不可接受。</a:t>
            </a:r>
            <a:endParaRPr lang="zh-CN" altLang="en-US" dirty="0"/>
          </a:p>
        </p:txBody>
      </p:sp>
      <p:sp>
        <p:nvSpPr>
          <p:cNvPr id="5" name="日期占位符 4"/>
          <p:cNvSpPr>
            <a:spLocks noGrp="1"/>
          </p:cNvSpPr>
          <p:nvPr>
            <p:ph type="dt" sz="half" idx="10"/>
          </p:nvPr>
        </p:nvSpPr>
        <p:spPr/>
        <p:txBody>
          <a:bodyPr/>
          <a:lstStyle/>
          <a:p>
            <a:fld id="{8600689E-466F-4822-97D6-C3D260A1673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882" name="Rectangle 2"/>
          <p:cNvSpPr>
            <a:spLocks noGrp="1" noChangeArrowheads="1"/>
          </p:cNvSpPr>
          <p:nvPr>
            <p:ph type="title"/>
          </p:nvPr>
        </p:nvSpPr>
        <p:spPr/>
        <p:txBody>
          <a:bodyPr/>
          <a:lstStyle/>
          <a:p>
            <a:pPr eaLnBrk="1" hangingPunct="1">
              <a:defRPr/>
            </a:pPr>
            <a:r>
              <a:rPr lang="zh-CN" altLang="en-US" dirty="0"/>
              <a:t>人机界面风格</a:t>
            </a:r>
            <a:endParaRPr lang="zh-CN" altLang="en-US" dirty="0"/>
          </a:p>
        </p:txBody>
      </p:sp>
      <p:sp>
        <p:nvSpPr>
          <p:cNvPr id="18436" name="Rectangle 3"/>
          <p:cNvSpPr>
            <a:spLocks noGrp="1" noChangeArrowheads="1"/>
          </p:cNvSpPr>
          <p:nvPr>
            <p:ph idx="1"/>
          </p:nvPr>
        </p:nvSpPr>
        <p:spPr/>
        <p:txBody>
          <a:bodyPr>
            <a:normAutofit fontScale="70000" lnSpcReduction="20000"/>
          </a:bodyPr>
          <a:lstStyle/>
          <a:p>
            <a:pPr eaLnBrk="1" hangingPunct="1">
              <a:lnSpc>
                <a:spcPct val="120000"/>
              </a:lnSpc>
              <a:spcBef>
                <a:spcPts val="600"/>
              </a:spcBef>
            </a:pPr>
            <a:r>
              <a:rPr lang="zh-CN" altLang="en-US" dirty="0"/>
              <a:t>第一代：命令和询问方式的界面</a:t>
            </a:r>
            <a:endParaRPr lang="zh-CN" altLang="en-US" dirty="0"/>
          </a:p>
          <a:p>
            <a:pPr eaLnBrk="1" hangingPunct="1">
              <a:lnSpc>
                <a:spcPct val="120000"/>
              </a:lnSpc>
              <a:spcBef>
                <a:spcPts val="600"/>
              </a:spcBef>
              <a:buFontTx/>
              <a:buNone/>
            </a:pPr>
            <a:r>
              <a:rPr lang="zh-CN" altLang="en-US" dirty="0"/>
              <a:t>  正文形式的通信，通过用户命令和用户对系统询问的响应来完成。由于使用正文通信，因此用户容易出错，界面不友善，难以学习。</a:t>
            </a:r>
            <a:endParaRPr lang="en-US" altLang="zh-CN" dirty="0"/>
          </a:p>
          <a:p>
            <a:pPr eaLnBrk="1" hangingPunct="1">
              <a:lnSpc>
                <a:spcPct val="120000"/>
              </a:lnSpc>
              <a:spcBef>
                <a:spcPts val="600"/>
              </a:spcBef>
              <a:buFontTx/>
              <a:buNone/>
            </a:pPr>
            <a:endParaRPr lang="en-US" altLang="zh-CN" dirty="0" smtClean="0"/>
          </a:p>
          <a:p>
            <a:pPr eaLnBrk="1" hangingPunct="1">
              <a:lnSpc>
                <a:spcPct val="120000"/>
              </a:lnSpc>
              <a:spcBef>
                <a:spcPts val="600"/>
              </a:spcBef>
              <a:buFontTx/>
              <a:buNone/>
            </a:pPr>
            <a:endParaRPr lang="en-US" altLang="zh-CN" dirty="0"/>
          </a:p>
          <a:p>
            <a:pPr eaLnBrk="1" hangingPunct="1">
              <a:lnSpc>
                <a:spcPct val="120000"/>
              </a:lnSpc>
              <a:spcBef>
                <a:spcPts val="600"/>
              </a:spcBef>
              <a:buFontTx/>
              <a:buNone/>
            </a:pPr>
            <a:endParaRPr lang="zh-CN" altLang="en-US" dirty="0"/>
          </a:p>
          <a:p>
            <a:pPr eaLnBrk="1" hangingPunct="1">
              <a:lnSpc>
                <a:spcPct val="120000"/>
              </a:lnSpc>
              <a:spcBef>
                <a:spcPts val="600"/>
              </a:spcBef>
            </a:pPr>
            <a:endParaRPr lang="en-US" altLang="zh-CN" dirty="0"/>
          </a:p>
          <a:p>
            <a:pPr eaLnBrk="1" hangingPunct="1">
              <a:lnSpc>
                <a:spcPct val="120000"/>
              </a:lnSpc>
              <a:spcBef>
                <a:spcPts val="600"/>
              </a:spcBef>
            </a:pPr>
            <a:r>
              <a:rPr lang="zh-CN" altLang="en-US" dirty="0"/>
              <a:t>第二代：简单的菜单式界面</a:t>
            </a:r>
            <a:endParaRPr lang="zh-CN" altLang="en-US" dirty="0"/>
          </a:p>
          <a:p>
            <a:pPr eaLnBrk="1" hangingPunct="1">
              <a:lnSpc>
                <a:spcPct val="120000"/>
              </a:lnSpc>
              <a:spcBef>
                <a:spcPts val="600"/>
              </a:spcBef>
              <a:buFontTx/>
              <a:buNone/>
            </a:pPr>
            <a:r>
              <a:rPr lang="zh-CN" altLang="en-US" dirty="0"/>
              <a:t>	与第一代界面相比不易出错，但使用起来乏味，逐层进行不能一步到位。</a:t>
            </a:r>
            <a:endParaRPr lang="zh-CN" altLang="en-US" dirty="0"/>
          </a:p>
          <a:p>
            <a:pPr eaLnBrk="1" hangingPunct="1">
              <a:lnSpc>
                <a:spcPct val="120000"/>
              </a:lnSpc>
              <a:spcBef>
                <a:spcPts val="600"/>
              </a:spcBef>
            </a:pPr>
            <a:endParaRPr lang="en-US" altLang="zh-CN" sz="2100" dirty="0"/>
          </a:p>
        </p:txBody>
      </p:sp>
      <p:sp>
        <p:nvSpPr>
          <p:cNvPr id="2" name="日期占位符 1"/>
          <p:cNvSpPr>
            <a:spLocks noGrp="1"/>
          </p:cNvSpPr>
          <p:nvPr>
            <p:ph type="dt" sz="half" idx="10"/>
          </p:nvPr>
        </p:nvSpPr>
        <p:spPr/>
        <p:txBody>
          <a:bodyPr/>
          <a:lstStyle/>
          <a:p>
            <a:fld id="{B80B0302-B0AA-433F-8786-B8FE86DBF08C}"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18437" name="灯片编号占位符 5"/>
          <p:cNvSpPr>
            <a:spLocks noGrp="1"/>
          </p:cNvSpPr>
          <p:nvPr>
            <p:ph type="sldNum" sz="quarter" idx="12"/>
          </p:nvPr>
        </p:nvSpPr>
        <p:spPr>
          <a:noFill/>
        </p:spPr>
        <p:txBody>
          <a:bodyPr/>
          <a:lstStyle/>
          <a:p>
            <a:fld id="{50FEE783-25C2-48A5-ACC7-3633EA4B2CBD}" type="slidenum">
              <a:rPr lang="en-US" altLang="zh-CN" smtClean="0">
                <a:ea typeface="宋体" panose="02010600030101010101" pitchFamily="2" charset="-122"/>
              </a:rPr>
            </a:fld>
            <a:endParaRPr lang="en-US" altLang="zh-CN">
              <a:ea typeface="宋体" panose="02010600030101010101" pitchFamily="2" charset="-122"/>
            </a:endParaRPr>
          </a:p>
        </p:txBody>
      </p:sp>
      <p:pic>
        <p:nvPicPr>
          <p:cNvPr id="114690" name="Picture 2" descr="C:\Users\QIU\Desktop\103419qxyxyxgkfe8knnge.jpg"/>
          <p:cNvPicPr>
            <a:picLocks noChangeAspect="1" noChangeArrowheads="1"/>
          </p:cNvPicPr>
          <p:nvPr/>
        </p:nvPicPr>
        <p:blipFill rotWithShape="1">
          <a:blip r:embed="rId1"/>
          <a:srcRect t="5479" b="11120"/>
          <a:stretch>
            <a:fillRect/>
          </a:stretch>
        </p:blipFill>
        <p:spPr bwMode="auto">
          <a:xfrm>
            <a:off x="3184093" y="1979628"/>
            <a:ext cx="3000839" cy="155542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8436">
                                            <p:txEl>
                                              <p:pRg st="6" end="6"/>
                                            </p:txEl>
                                          </p:spTgt>
                                        </p:tgtEl>
                                        <p:attrNameLst>
                                          <p:attrName>style.visibility</p:attrName>
                                        </p:attrNameLst>
                                      </p:cBhvr>
                                      <p:to>
                                        <p:strVal val="visible"/>
                                      </p:to>
                                    </p:set>
                                    <p:animEffect transition="in" filter="wipe(up)">
                                      <p:cBhvr>
                                        <p:cTn id="7" dur="500"/>
                                        <p:tgtEl>
                                          <p:spTgt spid="18436">
                                            <p:txEl>
                                              <p:pRg st="6" end="6"/>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18436">
                                            <p:txEl>
                                              <p:pRg st="7" end="7"/>
                                            </p:txEl>
                                          </p:spTgt>
                                        </p:tgtEl>
                                        <p:attrNameLst>
                                          <p:attrName>style.visibility</p:attrName>
                                        </p:attrNameLst>
                                      </p:cBhvr>
                                      <p:to>
                                        <p:strVal val="visible"/>
                                      </p:to>
                                    </p:set>
                                    <p:animEffect transition="in" filter="wipe(up)">
                                      <p:cBhvr>
                                        <p:cTn id="10" dur="500"/>
                                        <p:tgtEl>
                                          <p:spTgt spid="1843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p:txBody>
          <a:bodyPr/>
          <a:lstStyle/>
          <a:p>
            <a:pPr eaLnBrk="1" hangingPunct="1">
              <a:defRPr/>
            </a:pPr>
            <a:r>
              <a:rPr lang="zh-CN" altLang="en-US" dirty="0"/>
              <a:t>人机界面风格</a:t>
            </a:r>
            <a:endParaRPr lang="zh-CN" altLang="en-US" dirty="0"/>
          </a:p>
        </p:txBody>
      </p:sp>
      <p:sp>
        <p:nvSpPr>
          <p:cNvPr id="19459" name="Rectangle 2"/>
          <p:cNvSpPr>
            <a:spLocks noGrp="1" noChangeArrowheads="1"/>
          </p:cNvSpPr>
          <p:nvPr>
            <p:ph idx="1"/>
          </p:nvPr>
        </p:nvSpPr>
        <p:spPr/>
        <p:txBody>
          <a:bodyPr>
            <a:normAutofit lnSpcReduction="10000"/>
          </a:bodyPr>
          <a:lstStyle/>
          <a:p>
            <a:pPr eaLnBrk="1" hangingPunct="1">
              <a:lnSpc>
                <a:spcPct val="120000"/>
              </a:lnSpc>
            </a:pPr>
            <a:r>
              <a:rPr lang="zh-CN" altLang="en-US" sz="2400" dirty="0">
                <a:latin typeface="+mn-ea"/>
              </a:rPr>
              <a:t>第三代：窗口、图标、菜单、指示器四位一体的界面</a:t>
            </a:r>
            <a:endParaRPr lang="zh-CN" altLang="en-US" sz="2400" dirty="0">
              <a:latin typeface="+mn-ea"/>
            </a:endParaRPr>
          </a:p>
          <a:p>
            <a:pPr lvl="1">
              <a:lnSpc>
                <a:spcPct val="120000"/>
              </a:lnSpc>
            </a:pPr>
            <a:r>
              <a:rPr lang="zh-CN" altLang="en-US" sz="2000" dirty="0">
                <a:latin typeface="+mn-ea"/>
              </a:rPr>
              <a:t>能同时显示不同种类的信息，可在多个工作环境（窗口）中切换，窗口使用户能自如地执行许多通信型和认知型任务。</a:t>
            </a:r>
            <a:endParaRPr lang="zh-CN" altLang="en-US" sz="2000" dirty="0">
              <a:latin typeface="+mn-ea"/>
            </a:endParaRPr>
          </a:p>
          <a:p>
            <a:pPr lvl="1">
              <a:lnSpc>
                <a:spcPct val="120000"/>
              </a:lnSpc>
            </a:pPr>
            <a:r>
              <a:rPr lang="zh-CN" altLang="en-US" sz="2000" dirty="0">
                <a:latin typeface="+mn-ea"/>
              </a:rPr>
              <a:t>通过下拉式菜单可方便地执行控制型和对话型任务。</a:t>
            </a:r>
            <a:endParaRPr lang="zh-CN" altLang="en-US" sz="2000" dirty="0">
              <a:latin typeface="+mn-ea"/>
            </a:endParaRPr>
          </a:p>
          <a:p>
            <a:pPr lvl="1">
              <a:lnSpc>
                <a:spcPct val="120000"/>
              </a:lnSpc>
            </a:pPr>
            <a:r>
              <a:rPr lang="zh-CN" altLang="en-US" sz="2000" dirty="0">
                <a:latin typeface="+mn-ea"/>
              </a:rPr>
              <a:t>引入图标、下拉式菜单、按钮和滚动杆技术，可大大减少键盘输入，提高交互效率。</a:t>
            </a:r>
            <a:endParaRPr lang="zh-CN" altLang="en-US" sz="2000" dirty="0">
              <a:latin typeface="+mn-ea"/>
            </a:endParaRPr>
          </a:p>
          <a:p>
            <a:pPr eaLnBrk="1" hangingPunct="1">
              <a:lnSpc>
                <a:spcPct val="120000"/>
              </a:lnSpc>
            </a:pPr>
            <a:r>
              <a:rPr lang="zh-CN" altLang="en-US" sz="2400" dirty="0">
                <a:latin typeface="+mn-ea"/>
              </a:rPr>
              <a:t>第四代：第三代界面与超文本、多任务概念相结合的界面，用户可同时执行多个任务。</a:t>
            </a:r>
            <a:endParaRPr lang="zh-CN" altLang="en-US" sz="2400" dirty="0">
              <a:latin typeface="+mn-ea"/>
            </a:endParaRPr>
          </a:p>
        </p:txBody>
      </p:sp>
      <p:sp>
        <p:nvSpPr>
          <p:cNvPr id="2" name="日期占位符 1"/>
          <p:cNvSpPr>
            <a:spLocks noGrp="1"/>
          </p:cNvSpPr>
          <p:nvPr>
            <p:ph type="dt" sz="half" idx="10"/>
          </p:nvPr>
        </p:nvSpPr>
        <p:spPr/>
        <p:txBody>
          <a:bodyPr/>
          <a:lstStyle/>
          <a:p>
            <a:fld id="{88AB0D82-8E1A-4C79-8C36-E9BFAA910767}"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19460" name="灯片编号占位符 4"/>
          <p:cNvSpPr>
            <a:spLocks noGrp="1"/>
          </p:cNvSpPr>
          <p:nvPr>
            <p:ph type="sldNum" sz="quarter" idx="12"/>
          </p:nvPr>
        </p:nvSpPr>
        <p:spPr>
          <a:noFill/>
        </p:spPr>
        <p:txBody>
          <a:bodyPr/>
          <a:lstStyle/>
          <a:p>
            <a:fld id="{5B845B8C-9D1D-4DAA-A9F7-AADD98A181A2}" type="slidenum">
              <a:rPr lang="en-US" altLang="zh-CN" smtClean="0">
                <a:ea typeface="宋体" panose="02010600030101010101" pitchFamily="2" charset="-122"/>
              </a:rPr>
            </a:fld>
            <a:endParaRPr lang="en-US" altLang="zh-CN">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9459">
                                            <p:txEl>
                                              <p:pRg st="4" end="4"/>
                                            </p:txEl>
                                          </p:spTgt>
                                        </p:tgtEl>
                                        <p:attrNameLst>
                                          <p:attrName>style.visibility</p:attrName>
                                        </p:attrNameLst>
                                      </p:cBhvr>
                                      <p:to>
                                        <p:strVal val="visible"/>
                                      </p:to>
                                    </p:set>
                                    <p:animEffect transition="in" filter="wipe(up)">
                                      <p:cBhvr>
                                        <p:cTn id="7" dur="500"/>
                                        <p:tgtEl>
                                          <p:spTgt spid="1945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r>
              <a:rPr lang="en-US" altLang="zh-CN" dirty="0">
                <a:effectLst/>
              </a:rPr>
              <a:t>UI</a:t>
            </a:r>
            <a:r>
              <a:rPr lang="zh-CN" altLang="en-US" dirty="0">
                <a:effectLst/>
              </a:rPr>
              <a:t>、</a:t>
            </a:r>
            <a:r>
              <a:rPr lang="en-US" altLang="zh-CN" dirty="0"/>
              <a:t>GUI</a:t>
            </a:r>
            <a:r>
              <a:rPr lang="zh-CN" altLang="en-US" dirty="0"/>
              <a:t>、</a:t>
            </a:r>
            <a:r>
              <a:rPr lang="en-US" altLang="zh-CN" dirty="0"/>
              <a:t>UE</a:t>
            </a:r>
            <a:r>
              <a:rPr lang="zh-CN" altLang="en-US" dirty="0"/>
              <a:t>和</a:t>
            </a:r>
            <a:r>
              <a:rPr lang="en-US" altLang="zh-CN" dirty="0"/>
              <a:t>ID</a:t>
            </a:r>
            <a:endParaRPr lang="zh-CN" altLang="en-US" dirty="0"/>
          </a:p>
        </p:txBody>
      </p:sp>
      <p:sp>
        <p:nvSpPr>
          <p:cNvPr id="200707" name="Rectangle 3"/>
          <p:cNvSpPr>
            <a:spLocks noGrp="1" noChangeArrowheads="1"/>
          </p:cNvSpPr>
          <p:nvPr>
            <p:ph idx="1"/>
          </p:nvPr>
        </p:nvSpPr>
        <p:spPr>
          <a:xfrm>
            <a:off x="768097" y="758917"/>
            <a:ext cx="7832833" cy="3896210"/>
          </a:xfrm>
        </p:spPr>
        <p:txBody>
          <a:bodyPr>
            <a:noAutofit/>
          </a:bodyPr>
          <a:lstStyle/>
          <a:p>
            <a:pPr>
              <a:lnSpc>
                <a:spcPct val="100000"/>
              </a:lnSpc>
              <a:spcBef>
                <a:spcPts val="450"/>
              </a:spcBef>
            </a:pPr>
            <a:r>
              <a:rPr lang="en-US" altLang="zh-CN" sz="2400" dirty="0"/>
              <a:t>UI</a:t>
            </a:r>
            <a:r>
              <a:rPr lang="zh-CN" altLang="en-US" sz="2400" dirty="0"/>
              <a:t>（</a:t>
            </a:r>
            <a:r>
              <a:rPr lang="en-US" altLang="zh-CN" sz="2400" dirty="0"/>
              <a:t>User Interface</a:t>
            </a:r>
            <a:r>
              <a:rPr lang="zh-CN" altLang="en-US" sz="2400" dirty="0"/>
              <a:t>）</a:t>
            </a:r>
            <a:endParaRPr lang="en-US" altLang="zh-CN" sz="2400" dirty="0"/>
          </a:p>
          <a:p>
            <a:pPr marL="0" indent="0">
              <a:lnSpc>
                <a:spcPct val="100000"/>
              </a:lnSpc>
              <a:spcBef>
                <a:spcPts val="450"/>
              </a:spcBef>
              <a:buNone/>
            </a:pPr>
            <a:r>
              <a:rPr lang="en-US" altLang="zh-CN" sz="1400" dirty="0"/>
              <a:t>      </a:t>
            </a:r>
            <a:r>
              <a:rPr lang="zh-CN" altLang="en-US" sz="1800" dirty="0"/>
              <a:t>用户界面设计，是指对应用软件的操作逻辑、人机交互、界面的整体设计。</a:t>
            </a:r>
            <a:endParaRPr lang="en-US" altLang="zh-CN" sz="1800" dirty="0"/>
          </a:p>
          <a:p>
            <a:pPr>
              <a:lnSpc>
                <a:spcPct val="100000"/>
              </a:lnSpc>
              <a:spcBef>
                <a:spcPts val="450"/>
              </a:spcBef>
            </a:pPr>
            <a:r>
              <a:rPr lang="en-US" altLang="zh-CN" sz="2400" dirty="0">
                <a:solidFill>
                  <a:srgbClr val="FF0000"/>
                </a:solidFill>
              </a:rPr>
              <a:t>GUI</a:t>
            </a:r>
            <a:r>
              <a:rPr lang="zh-CN" altLang="en-US" sz="2400" dirty="0">
                <a:solidFill>
                  <a:srgbClr val="FF0000"/>
                </a:solidFill>
              </a:rPr>
              <a:t>（</a:t>
            </a:r>
            <a:r>
              <a:rPr lang="en-US" altLang="zh-CN" sz="2400" dirty="0">
                <a:solidFill>
                  <a:srgbClr val="FF0000"/>
                </a:solidFill>
              </a:rPr>
              <a:t>Graphical User Interface</a:t>
            </a:r>
            <a:r>
              <a:rPr lang="zh-CN" altLang="en-US" sz="2400" dirty="0">
                <a:solidFill>
                  <a:srgbClr val="FF0000"/>
                </a:solidFill>
              </a:rPr>
              <a:t>）</a:t>
            </a:r>
            <a:endParaRPr lang="en-US" altLang="zh-CN" sz="2400" dirty="0">
              <a:solidFill>
                <a:srgbClr val="FF0000"/>
              </a:solidFill>
            </a:endParaRPr>
          </a:p>
          <a:p>
            <a:pPr marL="0" indent="0">
              <a:lnSpc>
                <a:spcPct val="100000"/>
              </a:lnSpc>
              <a:spcBef>
                <a:spcPts val="450"/>
              </a:spcBef>
              <a:buNone/>
            </a:pPr>
            <a:r>
              <a:rPr lang="en-US" altLang="zh-CN" sz="1400" dirty="0">
                <a:solidFill>
                  <a:srgbClr val="FF0000"/>
                </a:solidFill>
              </a:rPr>
              <a:t>       </a:t>
            </a:r>
            <a:r>
              <a:rPr lang="zh-CN" altLang="en-US" sz="1800" dirty="0"/>
              <a:t>图形用户界面设计，是指针对采用图形方式显示的操作环境用户接口进行设计。其实就是界面美工，只关心界面的美观和有关视觉方面的设计工作。</a:t>
            </a:r>
            <a:endParaRPr lang="en-US" altLang="zh-CN" sz="1800" dirty="0"/>
          </a:p>
          <a:p>
            <a:pPr>
              <a:lnSpc>
                <a:spcPct val="100000"/>
              </a:lnSpc>
              <a:spcBef>
                <a:spcPts val="450"/>
              </a:spcBef>
            </a:pPr>
            <a:r>
              <a:rPr lang="en-US" altLang="zh-CN" sz="2400" dirty="0"/>
              <a:t>ID</a:t>
            </a:r>
            <a:r>
              <a:rPr lang="zh-CN" altLang="en-US" sz="2400" dirty="0"/>
              <a:t>（</a:t>
            </a:r>
            <a:r>
              <a:rPr lang="en-US" altLang="zh-CN" sz="2400" dirty="0"/>
              <a:t>Interaction Design</a:t>
            </a:r>
            <a:r>
              <a:rPr lang="zh-CN" altLang="en-US" sz="2400" dirty="0"/>
              <a:t>）</a:t>
            </a:r>
            <a:endParaRPr lang="en-US" altLang="zh-CN" sz="2400" dirty="0"/>
          </a:p>
          <a:p>
            <a:pPr marL="0" indent="0">
              <a:lnSpc>
                <a:spcPct val="100000"/>
              </a:lnSpc>
              <a:spcBef>
                <a:spcPts val="450"/>
              </a:spcBef>
              <a:buNone/>
            </a:pPr>
            <a:r>
              <a:rPr lang="en-US" altLang="zh-CN" sz="2400" dirty="0"/>
              <a:t>     </a:t>
            </a:r>
            <a:r>
              <a:rPr lang="zh-CN" altLang="en-US" sz="1800" dirty="0" smtClean="0"/>
              <a:t>交互</a:t>
            </a:r>
            <a:r>
              <a:rPr lang="zh-CN" altLang="en-US" sz="1800" dirty="0"/>
              <a:t>设计，又称互动设计，它考虑的是人、环境与设备的关系和行为，以及传达这种行为的元素的设计。</a:t>
            </a:r>
            <a:endParaRPr lang="en-US" altLang="zh-CN" sz="1800" dirty="0"/>
          </a:p>
          <a:p>
            <a:pPr>
              <a:lnSpc>
                <a:spcPct val="100000"/>
              </a:lnSpc>
              <a:spcBef>
                <a:spcPts val="450"/>
              </a:spcBef>
            </a:pPr>
            <a:r>
              <a:rPr lang="en-US" altLang="zh-CN" sz="2400" dirty="0"/>
              <a:t>UE</a:t>
            </a:r>
            <a:r>
              <a:rPr lang="zh-CN" altLang="en-US" sz="2400" dirty="0"/>
              <a:t>（</a:t>
            </a:r>
            <a:r>
              <a:rPr lang="en-US" altLang="zh-CN" sz="2400" dirty="0"/>
              <a:t>User Experience</a:t>
            </a:r>
            <a:r>
              <a:rPr lang="zh-CN" altLang="en-US" sz="2400" dirty="0"/>
              <a:t>）</a:t>
            </a:r>
            <a:endParaRPr lang="en-US" altLang="zh-CN" sz="2400" dirty="0"/>
          </a:p>
          <a:p>
            <a:pPr marL="0" indent="0">
              <a:lnSpc>
                <a:spcPct val="100000"/>
              </a:lnSpc>
              <a:spcBef>
                <a:spcPts val="450"/>
              </a:spcBef>
              <a:buNone/>
            </a:pPr>
            <a:r>
              <a:rPr lang="en-US" altLang="zh-CN" sz="1800" dirty="0"/>
              <a:t>       </a:t>
            </a:r>
            <a:r>
              <a:rPr lang="zh-CN" altLang="en-US" sz="1800" dirty="0"/>
              <a:t>用户体验设计，它要求设计师能够全面地分析和体察用户在使用某个系统时的感受。</a:t>
            </a:r>
            <a:endParaRPr lang="en-US" altLang="zh-CN" sz="1800" dirty="0"/>
          </a:p>
        </p:txBody>
      </p:sp>
      <p:sp>
        <p:nvSpPr>
          <p:cNvPr id="3" name="日期占位符 2"/>
          <p:cNvSpPr>
            <a:spLocks noGrp="1"/>
          </p:cNvSpPr>
          <p:nvPr>
            <p:ph type="dt" sz="half" idx="10"/>
          </p:nvPr>
        </p:nvSpPr>
        <p:spPr/>
        <p:txBody>
          <a:bodyPr/>
          <a:lstStyle/>
          <a:p>
            <a:fld id="{725367E3-6744-4747-BDEB-E71779CFEF07}"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70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070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070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070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0707">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0707">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0707">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070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63175" y="689424"/>
            <a:ext cx="6341095" cy="4266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2"/>
          <p:cNvSpPr>
            <a:spLocks noGrp="1" noChangeArrowheads="1"/>
          </p:cNvSpPr>
          <p:nvPr>
            <p:ph type="title"/>
          </p:nvPr>
        </p:nvSpPr>
        <p:spPr/>
        <p:txBody>
          <a:bodyPr/>
          <a:lstStyle/>
          <a:p>
            <a:r>
              <a:rPr lang="en-US" altLang="zh-CN" dirty="0"/>
              <a:t>UI </a:t>
            </a:r>
            <a:r>
              <a:rPr lang="zh-CN" altLang="en-US" dirty="0"/>
              <a:t>设计师</a:t>
            </a:r>
            <a:endParaRPr lang="zh-CN" altLang="en-US" dirty="0"/>
          </a:p>
        </p:txBody>
      </p:sp>
      <p:sp>
        <p:nvSpPr>
          <p:cNvPr id="3" name="日期占位符 2"/>
          <p:cNvSpPr>
            <a:spLocks noGrp="1"/>
          </p:cNvSpPr>
          <p:nvPr>
            <p:ph type="dt" sz="half" idx="10"/>
          </p:nvPr>
        </p:nvSpPr>
        <p:spPr/>
        <p:txBody>
          <a:bodyPr/>
          <a:lstStyle/>
          <a:p>
            <a:fld id="{0D5E4CA1-89A3-484A-B52C-97FBBD9E3288}"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55806" y="648183"/>
            <a:ext cx="6504371" cy="4050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2"/>
          <p:cNvSpPr>
            <a:spLocks noGrp="1" noChangeArrowheads="1"/>
          </p:cNvSpPr>
          <p:nvPr>
            <p:ph type="title"/>
          </p:nvPr>
        </p:nvSpPr>
        <p:spPr/>
        <p:txBody>
          <a:bodyPr/>
          <a:lstStyle/>
          <a:p>
            <a:r>
              <a:rPr lang="en-US" altLang="zh-CN" dirty="0"/>
              <a:t>GUI </a:t>
            </a:r>
            <a:r>
              <a:rPr lang="zh-CN" altLang="en-US" dirty="0"/>
              <a:t>设计师</a:t>
            </a:r>
            <a:endParaRPr lang="zh-CN" altLang="en-US" dirty="0"/>
          </a:p>
        </p:txBody>
      </p:sp>
      <p:sp>
        <p:nvSpPr>
          <p:cNvPr id="3" name="日期占位符 2"/>
          <p:cNvSpPr>
            <a:spLocks noGrp="1"/>
          </p:cNvSpPr>
          <p:nvPr>
            <p:ph type="dt" sz="half" idx="10"/>
          </p:nvPr>
        </p:nvSpPr>
        <p:spPr/>
        <p:txBody>
          <a:bodyPr/>
          <a:lstStyle/>
          <a:p>
            <a:fld id="{1948C426-10BD-4044-8E76-E8682DFB6020}"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3" name="Rectangle 3"/>
          <p:cNvSpPr>
            <a:spLocks noGrp="1" noChangeArrowheads="1"/>
          </p:cNvSpPr>
          <p:nvPr>
            <p:ph idx="1"/>
          </p:nvPr>
        </p:nvSpPr>
        <p:spPr>
          <a:xfrm>
            <a:off x="914400" y="1116281"/>
            <a:ext cx="7671459" cy="3621974"/>
          </a:xfrm>
        </p:spPr>
        <p:txBody>
          <a:bodyPr>
            <a:noAutofit/>
          </a:bodyPr>
          <a:lstStyle/>
          <a:p>
            <a:pPr>
              <a:lnSpc>
                <a:spcPct val="120000"/>
              </a:lnSpc>
            </a:pPr>
            <a:r>
              <a:rPr lang="en-US" altLang="zh-CN" sz="2400" dirty="0"/>
              <a:t>UI </a:t>
            </a:r>
            <a:r>
              <a:rPr lang="zh-CN" altLang="en-US" sz="2400" dirty="0"/>
              <a:t>工程师的工作并不是从设计阶段才开始的，早在需求分析阶段，</a:t>
            </a:r>
            <a:r>
              <a:rPr lang="en-US" altLang="zh-CN" sz="2400" dirty="0"/>
              <a:t>UI</a:t>
            </a:r>
            <a:r>
              <a:rPr lang="zh-CN" altLang="en-US" sz="2400" dirty="0"/>
              <a:t>工程师就已经参与到用户访谈中，了解用户的使用习惯，喜好等，为设计用户界面做准备</a:t>
            </a:r>
            <a:r>
              <a:rPr lang="en-US" altLang="zh-CN" sz="2400" dirty="0" smtClean="0"/>
              <a:t>……</a:t>
            </a:r>
            <a:endParaRPr lang="en-US" altLang="zh-CN" sz="2400" dirty="0" smtClean="0"/>
          </a:p>
          <a:p>
            <a:pPr>
              <a:lnSpc>
                <a:spcPct val="120000"/>
              </a:lnSpc>
            </a:pPr>
            <a:r>
              <a:rPr lang="zh-CN" altLang="en-US" sz="2400" dirty="0" smtClean="0"/>
              <a:t>在国外，用户界面设计人员有了一个新的称谓：信息建筑师（</a:t>
            </a:r>
            <a:r>
              <a:rPr lang="en-US" altLang="zh-CN" sz="2400" dirty="0" smtClean="0"/>
              <a:t>Information Architecture</a:t>
            </a:r>
            <a:r>
              <a:rPr lang="zh-CN" altLang="en-US" sz="2400" dirty="0" smtClean="0"/>
              <a:t>），它不仅仅是指美工，而是具有心理学、软件工程学、设计学等综合知识的人。</a:t>
            </a:r>
            <a:endParaRPr lang="en-US" altLang="zh-CN"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fld id="{0801368C-D640-4D7B-9E74-587374C9A28F}"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45763">
                                            <p:txEl>
                                              <p:pRg st="0" end="0"/>
                                            </p:txEl>
                                          </p:spTgt>
                                        </p:tgtEl>
                                        <p:attrNameLst>
                                          <p:attrName>style.visibility</p:attrName>
                                        </p:attrNameLst>
                                      </p:cBhvr>
                                      <p:to>
                                        <p:strVal val="visible"/>
                                      </p:to>
                                    </p:set>
                                    <p:anim calcmode="lin" valueType="num">
                                      <p:cBhvr>
                                        <p:cTn id="7" dur="500" fill="hold"/>
                                        <p:tgtEl>
                                          <p:spTgt spid="24576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4576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245763">
                                            <p:txEl>
                                              <p:pRg st="1" end="1"/>
                                            </p:txEl>
                                          </p:spTgt>
                                        </p:tgtEl>
                                        <p:attrNameLst>
                                          <p:attrName>style.visibility</p:attrName>
                                        </p:attrNameLst>
                                      </p:cBhvr>
                                      <p:to>
                                        <p:strVal val="visible"/>
                                      </p:to>
                                    </p:set>
                                    <p:anim calcmode="lin" valueType="num">
                                      <p:cBhvr>
                                        <p:cTn id="13" dur="500" fill="hold"/>
                                        <p:tgtEl>
                                          <p:spTgt spid="24576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245763">
                                            <p:txEl>
                                              <p:pRg st="1" end="1"/>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63"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514539E7-7782-4C98-B54F-D47BA4897B4B}"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pic>
        <p:nvPicPr>
          <p:cNvPr id="3379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15799" y="-71802"/>
            <a:ext cx="5400600" cy="5130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normAutofit/>
          </a:bodyPr>
          <a:lstStyle/>
          <a:p>
            <a:r>
              <a:rPr lang="en-US" altLang="zh-CN" dirty="0"/>
              <a:t>GUI</a:t>
            </a:r>
            <a:r>
              <a:rPr lang="zh-CN" altLang="en-US" dirty="0"/>
              <a:t>工程师做</a:t>
            </a:r>
            <a:r>
              <a:rPr lang="en-US" altLang="zh-CN" dirty="0"/>
              <a:t>GUI</a:t>
            </a:r>
            <a:r>
              <a:rPr lang="zh-CN" altLang="en-US" dirty="0"/>
              <a:t>设计的准备</a:t>
            </a:r>
            <a:endParaRPr lang="zh-CN" altLang="en-US" dirty="0"/>
          </a:p>
        </p:txBody>
      </p:sp>
      <p:sp>
        <p:nvSpPr>
          <p:cNvPr id="199683" name="Rectangle 3"/>
          <p:cNvSpPr>
            <a:spLocks noGrp="1" noChangeArrowheads="1"/>
          </p:cNvSpPr>
          <p:nvPr>
            <p:ph idx="1"/>
          </p:nvPr>
        </p:nvSpPr>
        <p:spPr>
          <a:xfrm>
            <a:off x="997527" y="925167"/>
            <a:ext cx="7603403" cy="3806854"/>
          </a:xfrm>
        </p:spPr>
        <p:txBody>
          <a:bodyPr>
            <a:normAutofit fontScale="92500" lnSpcReduction="10000"/>
          </a:bodyPr>
          <a:lstStyle/>
          <a:p>
            <a:r>
              <a:rPr lang="zh-CN" altLang="en-US" sz="2600" dirty="0"/>
              <a:t>几种工具：</a:t>
            </a:r>
            <a:endParaRPr lang="zh-CN" altLang="en-US" sz="2600" dirty="0"/>
          </a:p>
          <a:p>
            <a:pPr marL="342900" indent="-342900">
              <a:buFont typeface="+mj-lt"/>
              <a:buAutoNum type="arabicPeriod"/>
            </a:pPr>
            <a:r>
              <a:rPr lang="en-US" altLang="zh-CN" sz="2600" dirty="0"/>
              <a:t>Pencil</a:t>
            </a:r>
            <a:endParaRPr lang="en-US" altLang="zh-CN" sz="2600" dirty="0"/>
          </a:p>
          <a:p>
            <a:pPr marL="342900" indent="-342900">
              <a:buFont typeface="+mj-lt"/>
              <a:buAutoNum type="arabicPeriod"/>
            </a:pPr>
            <a:r>
              <a:rPr lang="en-US" altLang="zh-CN" sz="2600" dirty="0"/>
              <a:t>Microsoft Visio(</a:t>
            </a:r>
            <a:r>
              <a:rPr lang="zh-CN" altLang="en-US" sz="2600" dirty="0"/>
              <a:t>易用</a:t>
            </a:r>
            <a:r>
              <a:rPr lang="en-US" altLang="zh-CN" sz="2600" dirty="0"/>
              <a:t>)</a:t>
            </a:r>
            <a:endParaRPr lang="en-US" altLang="zh-CN" sz="2600" dirty="0"/>
          </a:p>
          <a:p>
            <a:pPr marL="342900" indent="-342900">
              <a:buFont typeface="+mj-lt"/>
              <a:buAutoNum type="arabicPeriod"/>
            </a:pPr>
            <a:r>
              <a:rPr lang="en-US" altLang="zh-CN" sz="2600" dirty="0" err="1"/>
              <a:t>Balsamiq</a:t>
            </a:r>
            <a:r>
              <a:rPr lang="en-US" altLang="zh-CN" sz="2600" dirty="0"/>
              <a:t> mockup(</a:t>
            </a:r>
            <a:r>
              <a:rPr lang="zh-CN" altLang="en-US" sz="2600" dirty="0"/>
              <a:t>草图设计工具</a:t>
            </a:r>
            <a:r>
              <a:rPr lang="en-US" altLang="zh-CN" sz="2600" dirty="0"/>
              <a:t>)</a:t>
            </a:r>
            <a:endParaRPr lang="en-US" altLang="zh-CN" sz="2600" dirty="0"/>
          </a:p>
          <a:p>
            <a:pPr marL="342900" indent="-342900">
              <a:buFont typeface="+mj-lt"/>
              <a:buAutoNum type="arabicPeriod"/>
            </a:pPr>
            <a:r>
              <a:rPr lang="en-US" altLang="zh-CN" sz="2600" dirty="0"/>
              <a:t>GUI Design Studio </a:t>
            </a:r>
            <a:endParaRPr lang="en-US" altLang="zh-CN" sz="2600" dirty="0"/>
          </a:p>
          <a:p>
            <a:pPr marL="342900" indent="-342900">
              <a:buFont typeface="+mj-lt"/>
              <a:buAutoNum type="arabicPeriod"/>
            </a:pPr>
            <a:r>
              <a:rPr lang="en-US" altLang="zh-CN" sz="2600" dirty="0" err="1"/>
              <a:t>Axure</a:t>
            </a:r>
            <a:r>
              <a:rPr lang="en-US" altLang="zh-CN" sz="2600" dirty="0"/>
              <a:t> RP</a:t>
            </a:r>
            <a:endParaRPr lang="en-US" altLang="zh-CN" sz="2600" dirty="0"/>
          </a:p>
          <a:p>
            <a:pPr marL="342900" indent="-342900">
              <a:buFont typeface="+mj-lt"/>
              <a:buAutoNum type="arabicPeriod"/>
            </a:pPr>
            <a:r>
              <a:rPr lang="en-US" altLang="zh-CN" sz="2600" dirty="0"/>
              <a:t>Photoshop/</a:t>
            </a:r>
            <a:r>
              <a:rPr lang="en-US" altLang="zh-CN" sz="2600" dirty="0" err="1"/>
              <a:t>CorelDRAW</a:t>
            </a:r>
            <a:r>
              <a:rPr lang="en-US" altLang="zh-CN" sz="2600" dirty="0"/>
              <a:t>/Illustrator</a:t>
            </a:r>
            <a:endParaRPr lang="en-US" altLang="zh-CN" sz="2600" dirty="0"/>
          </a:p>
        </p:txBody>
      </p:sp>
      <p:sp>
        <p:nvSpPr>
          <p:cNvPr id="2" name="日期占位符 1"/>
          <p:cNvSpPr>
            <a:spLocks noGrp="1"/>
          </p:cNvSpPr>
          <p:nvPr>
            <p:ph type="dt" sz="half" idx="10"/>
          </p:nvPr>
        </p:nvSpPr>
        <p:spPr/>
        <p:txBody>
          <a:bodyPr/>
          <a:lstStyle/>
          <a:p>
            <a:fld id="{FD66B75B-B5F2-41C3-828E-BCD5B5BACD4E}"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noChangeArrowheads="1"/>
          </p:cNvSpPr>
          <p:nvPr>
            <p:ph type="title"/>
          </p:nvPr>
        </p:nvSpPr>
        <p:spPr/>
        <p:txBody>
          <a:bodyPr>
            <a:normAutofit/>
          </a:bodyPr>
          <a:lstStyle/>
          <a:p>
            <a:r>
              <a:rPr lang="en-US" altLang="zh-CN" dirty="0"/>
              <a:t>GUI</a:t>
            </a:r>
            <a:r>
              <a:rPr lang="zh-CN" altLang="en-US" dirty="0"/>
              <a:t>设计过程</a:t>
            </a:r>
            <a:endParaRPr lang="zh-CN" altLang="en-US" dirty="0"/>
          </a:p>
        </p:txBody>
      </p:sp>
      <p:sp>
        <p:nvSpPr>
          <p:cNvPr id="212996" name="Rectangle 4"/>
          <p:cNvSpPr>
            <a:spLocks noChangeArrowheads="1"/>
          </p:cNvSpPr>
          <p:nvPr/>
        </p:nvSpPr>
        <p:spPr bwMode="auto">
          <a:xfrm>
            <a:off x="4037234" y="1878518"/>
            <a:ext cx="1133475" cy="485775"/>
          </a:xfrm>
          <a:prstGeom prst="rect">
            <a:avLst/>
          </a:prstGeom>
          <a:solidFill>
            <a:schemeClr val="accent1">
              <a:lumMod val="20000"/>
              <a:lumOff val="80000"/>
            </a:schemeClr>
          </a:solidFill>
          <a:ln w="9525" algn="ctr">
            <a:solidFill>
              <a:schemeClr val="tx1"/>
            </a:solidFill>
            <a:miter lim="800000"/>
          </a:ln>
          <a:effectLst/>
        </p:spPr>
        <p:txBody>
          <a:bodyPr wrap="none" anchor="ctr"/>
          <a:lstStyle/>
          <a:p>
            <a:pPr algn="ctr"/>
            <a:r>
              <a:rPr lang="zh-CN" altLang="en-US" dirty="0">
                <a:solidFill>
                  <a:prstClr val="black"/>
                </a:solidFill>
                <a:latin typeface="+mj-ea"/>
                <a:ea typeface="+mj-ea"/>
              </a:rPr>
              <a:t>设计原型</a:t>
            </a:r>
            <a:endParaRPr lang="zh-CN" altLang="en-US" dirty="0">
              <a:solidFill>
                <a:prstClr val="black"/>
              </a:solidFill>
              <a:latin typeface="+mj-ea"/>
              <a:ea typeface="+mj-ea"/>
            </a:endParaRPr>
          </a:p>
        </p:txBody>
      </p:sp>
      <p:sp>
        <p:nvSpPr>
          <p:cNvPr id="212997" name="Rectangle 5"/>
          <p:cNvSpPr>
            <a:spLocks noChangeArrowheads="1"/>
          </p:cNvSpPr>
          <p:nvPr/>
        </p:nvSpPr>
        <p:spPr bwMode="auto">
          <a:xfrm>
            <a:off x="5224306" y="3292461"/>
            <a:ext cx="1251615" cy="648111"/>
          </a:xfrm>
          <a:prstGeom prst="rect">
            <a:avLst/>
          </a:prstGeom>
          <a:solidFill>
            <a:schemeClr val="accent1">
              <a:lumMod val="20000"/>
              <a:lumOff val="80000"/>
            </a:schemeClr>
          </a:solidFill>
          <a:ln w="9525" algn="ctr">
            <a:solidFill>
              <a:schemeClr val="tx1"/>
            </a:solidFill>
            <a:miter lim="800000"/>
          </a:ln>
          <a:effectLst/>
        </p:spPr>
        <p:txBody>
          <a:bodyPr wrap="none" anchor="ctr"/>
          <a:lstStyle/>
          <a:p>
            <a:pPr algn="ctr"/>
            <a:r>
              <a:rPr lang="zh-CN" altLang="en-US" dirty="0">
                <a:solidFill>
                  <a:prstClr val="black"/>
                </a:solidFill>
                <a:latin typeface="+mj-ea"/>
                <a:ea typeface="+mj-ea"/>
              </a:rPr>
              <a:t>用户试用</a:t>
            </a:r>
            <a:endParaRPr lang="zh-CN" altLang="en-US" dirty="0">
              <a:solidFill>
                <a:prstClr val="black"/>
              </a:solidFill>
              <a:latin typeface="+mj-ea"/>
              <a:ea typeface="+mj-ea"/>
            </a:endParaRPr>
          </a:p>
          <a:p>
            <a:pPr algn="ctr"/>
            <a:r>
              <a:rPr lang="zh-CN" altLang="en-US" dirty="0">
                <a:solidFill>
                  <a:prstClr val="black"/>
                </a:solidFill>
                <a:latin typeface="+mj-ea"/>
                <a:ea typeface="+mj-ea"/>
              </a:rPr>
              <a:t>和评估</a:t>
            </a:r>
            <a:endParaRPr lang="zh-CN" altLang="en-US" dirty="0">
              <a:solidFill>
                <a:prstClr val="black"/>
              </a:solidFill>
              <a:latin typeface="+mj-ea"/>
              <a:ea typeface="+mj-ea"/>
            </a:endParaRPr>
          </a:p>
        </p:txBody>
      </p:sp>
      <p:sp>
        <p:nvSpPr>
          <p:cNvPr id="212998" name="Rectangle 6"/>
          <p:cNvSpPr>
            <a:spLocks noChangeArrowheads="1"/>
          </p:cNvSpPr>
          <p:nvPr/>
        </p:nvSpPr>
        <p:spPr bwMode="auto">
          <a:xfrm>
            <a:off x="2611618" y="3388826"/>
            <a:ext cx="1241822" cy="540544"/>
          </a:xfrm>
          <a:prstGeom prst="rect">
            <a:avLst/>
          </a:prstGeom>
          <a:solidFill>
            <a:schemeClr val="accent1">
              <a:lumMod val="20000"/>
              <a:lumOff val="80000"/>
            </a:schemeClr>
          </a:solidFill>
          <a:ln w="9525">
            <a:solidFill>
              <a:schemeClr val="tx1"/>
            </a:solidFill>
            <a:miter lim="800000"/>
          </a:ln>
          <a:effectLst/>
        </p:spPr>
        <p:txBody>
          <a:bodyPr wrap="none" anchor="ctr"/>
          <a:lstStyle/>
          <a:p>
            <a:pPr algn="ctr"/>
            <a:r>
              <a:rPr lang="zh-CN" altLang="en-US">
                <a:solidFill>
                  <a:prstClr val="black"/>
                </a:solidFill>
                <a:latin typeface="+mj-ea"/>
                <a:ea typeface="+mj-ea"/>
              </a:rPr>
              <a:t>修改原型</a:t>
            </a:r>
            <a:endParaRPr lang="zh-CN" altLang="en-US">
              <a:solidFill>
                <a:prstClr val="black"/>
              </a:solidFill>
              <a:latin typeface="+mj-ea"/>
              <a:ea typeface="+mj-ea"/>
            </a:endParaRPr>
          </a:p>
        </p:txBody>
      </p:sp>
      <p:sp>
        <p:nvSpPr>
          <p:cNvPr id="212999" name="AutoShape 7"/>
          <p:cNvSpPr>
            <a:spLocks noChangeArrowheads="1"/>
          </p:cNvSpPr>
          <p:nvPr/>
        </p:nvSpPr>
        <p:spPr bwMode="auto">
          <a:xfrm rot="3806097">
            <a:off x="5101519" y="2507158"/>
            <a:ext cx="1123511" cy="431006"/>
          </a:xfrm>
          <a:prstGeom prst="curvedDownArrow">
            <a:avLst>
              <a:gd name="adj1" fmla="val 47293"/>
              <a:gd name="adj2" fmla="val 94586"/>
              <a:gd name="adj3" fmla="val 33333"/>
            </a:avLst>
          </a:prstGeom>
          <a:solidFill>
            <a:schemeClr val="accent1">
              <a:lumMod val="60000"/>
              <a:lumOff val="40000"/>
            </a:schemeClr>
          </a:solidFill>
          <a:ln w="9525">
            <a:solidFill>
              <a:schemeClr val="tx1"/>
            </a:solidFill>
            <a:miter lim="800000"/>
          </a:ln>
          <a:effectLst/>
        </p:spPr>
        <p:txBody>
          <a:bodyPr wrap="none" anchor="ctr"/>
          <a:lstStyle/>
          <a:p>
            <a:endParaRPr lang="zh-CN" altLang="en-US">
              <a:solidFill>
                <a:prstClr val="black"/>
              </a:solidFill>
              <a:latin typeface="+mj-ea"/>
              <a:ea typeface="+mj-ea"/>
            </a:endParaRPr>
          </a:p>
        </p:txBody>
      </p:sp>
      <p:sp>
        <p:nvSpPr>
          <p:cNvPr id="213000" name="AutoShape 8"/>
          <p:cNvSpPr>
            <a:spLocks noChangeArrowheads="1"/>
          </p:cNvSpPr>
          <p:nvPr/>
        </p:nvSpPr>
        <p:spPr bwMode="auto">
          <a:xfrm rot="11181999">
            <a:off x="4070133" y="3550751"/>
            <a:ext cx="1019175" cy="431006"/>
          </a:xfrm>
          <a:prstGeom prst="curvedDownArrow">
            <a:avLst>
              <a:gd name="adj1" fmla="val 47293"/>
              <a:gd name="adj2" fmla="val 94586"/>
              <a:gd name="adj3" fmla="val 33333"/>
            </a:avLst>
          </a:prstGeom>
          <a:solidFill>
            <a:schemeClr val="accent1">
              <a:lumMod val="60000"/>
              <a:lumOff val="40000"/>
            </a:schemeClr>
          </a:solidFill>
          <a:ln w="9525">
            <a:solidFill>
              <a:schemeClr val="tx1"/>
            </a:solidFill>
            <a:miter lim="800000"/>
          </a:ln>
          <a:effectLst/>
        </p:spPr>
        <p:txBody>
          <a:bodyPr wrap="none" anchor="ctr"/>
          <a:lstStyle/>
          <a:p>
            <a:endParaRPr lang="zh-CN" altLang="en-US">
              <a:solidFill>
                <a:prstClr val="black"/>
              </a:solidFill>
              <a:latin typeface="+mj-ea"/>
              <a:ea typeface="+mj-ea"/>
            </a:endParaRPr>
          </a:p>
        </p:txBody>
      </p:sp>
      <p:sp>
        <p:nvSpPr>
          <p:cNvPr id="213001" name="AutoShape 9"/>
          <p:cNvSpPr>
            <a:spLocks noChangeArrowheads="1"/>
          </p:cNvSpPr>
          <p:nvPr/>
        </p:nvSpPr>
        <p:spPr bwMode="auto">
          <a:xfrm rot="-26707277">
            <a:off x="3126182" y="2599087"/>
            <a:ext cx="982986" cy="389339"/>
          </a:xfrm>
          <a:prstGeom prst="curvedDownArrow">
            <a:avLst>
              <a:gd name="adj1" fmla="val 47293"/>
              <a:gd name="adj2" fmla="val 107252"/>
              <a:gd name="adj3" fmla="val 44759"/>
            </a:avLst>
          </a:prstGeom>
          <a:solidFill>
            <a:schemeClr val="accent1">
              <a:lumMod val="60000"/>
              <a:lumOff val="40000"/>
            </a:schemeClr>
          </a:solidFill>
          <a:ln w="9525">
            <a:solidFill>
              <a:schemeClr val="tx1"/>
            </a:solidFill>
            <a:miter lim="800000"/>
          </a:ln>
          <a:effectLst/>
        </p:spPr>
        <p:txBody>
          <a:bodyPr wrap="none" anchor="ctr"/>
          <a:lstStyle/>
          <a:p>
            <a:endParaRPr lang="zh-CN" altLang="en-US">
              <a:solidFill>
                <a:prstClr val="black"/>
              </a:solidFill>
              <a:latin typeface="+mj-ea"/>
              <a:ea typeface="+mj-ea"/>
            </a:endParaRPr>
          </a:p>
        </p:txBody>
      </p:sp>
      <p:sp>
        <p:nvSpPr>
          <p:cNvPr id="213002" name="AutoShape 10"/>
          <p:cNvSpPr>
            <a:spLocks noChangeArrowheads="1"/>
          </p:cNvSpPr>
          <p:nvPr/>
        </p:nvSpPr>
        <p:spPr bwMode="auto">
          <a:xfrm rot="1758802">
            <a:off x="3328544" y="1960048"/>
            <a:ext cx="648891" cy="215504"/>
          </a:xfrm>
          <a:prstGeom prst="rightArrow">
            <a:avLst>
              <a:gd name="adj1" fmla="val 50000"/>
              <a:gd name="adj2" fmla="val 75276"/>
            </a:avLst>
          </a:prstGeom>
          <a:solidFill>
            <a:schemeClr val="accent1">
              <a:lumMod val="60000"/>
              <a:lumOff val="40000"/>
            </a:schemeClr>
          </a:solidFill>
          <a:ln w="9525">
            <a:solidFill>
              <a:schemeClr val="tx1"/>
            </a:solidFill>
            <a:miter lim="800000"/>
          </a:ln>
          <a:effectLst/>
        </p:spPr>
        <p:txBody>
          <a:bodyPr wrap="none" anchor="ctr"/>
          <a:lstStyle/>
          <a:p>
            <a:endParaRPr lang="zh-CN" altLang="en-US">
              <a:solidFill>
                <a:prstClr val="black"/>
              </a:solidFill>
              <a:latin typeface="+mj-ea"/>
              <a:ea typeface="+mj-ea"/>
            </a:endParaRPr>
          </a:p>
        </p:txBody>
      </p:sp>
      <p:sp>
        <p:nvSpPr>
          <p:cNvPr id="213003" name="AutoShape 11"/>
          <p:cNvSpPr>
            <a:spLocks noChangeArrowheads="1"/>
          </p:cNvSpPr>
          <p:nvPr/>
        </p:nvSpPr>
        <p:spPr bwMode="auto">
          <a:xfrm>
            <a:off x="4285636" y="2578010"/>
            <a:ext cx="594122" cy="594122"/>
          </a:xfrm>
          <a:custGeom>
            <a:avLst/>
            <a:gdLst>
              <a:gd name="G0" fmla="+- 0 0 0"/>
              <a:gd name="G1" fmla="+- 3456197 0 0"/>
              <a:gd name="G2" fmla="+- 0 0 3456197"/>
              <a:gd name="G3" fmla="+- 10800 0 0"/>
              <a:gd name="G4" fmla="+- 0 0 0"/>
              <a:gd name="T0" fmla="*/ 360 256 1"/>
              <a:gd name="T1" fmla="*/ 0 256 1"/>
              <a:gd name="G5" fmla="+- G2 T0 T1"/>
              <a:gd name="G6" fmla="?: G2 G2 G5"/>
              <a:gd name="G7" fmla="+- 0 0 G6"/>
              <a:gd name="G8" fmla="+- 7266 0 0"/>
              <a:gd name="G9" fmla="+- 0 0 3456197"/>
              <a:gd name="G10" fmla="+- 7266 0 2700"/>
              <a:gd name="G11" fmla="cos G10 0"/>
              <a:gd name="G12" fmla="sin G10 0"/>
              <a:gd name="G13" fmla="cos 13500 0"/>
              <a:gd name="G14" fmla="sin 13500 0"/>
              <a:gd name="G15" fmla="+- G11 10800 0"/>
              <a:gd name="G16" fmla="+- G12 10800 0"/>
              <a:gd name="G17" fmla="+- G13 10800 0"/>
              <a:gd name="G18" fmla="+- G14 10800 0"/>
              <a:gd name="G19" fmla="*/ 7266 1 2"/>
              <a:gd name="G20" fmla="+- G19 5400 0"/>
              <a:gd name="G21" fmla="cos G20 0"/>
              <a:gd name="G22" fmla="sin G20 0"/>
              <a:gd name="G23" fmla="+- G21 10800 0"/>
              <a:gd name="G24" fmla="+- G12 G23 G22"/>
              <a:gd name="G25" fmla="+- G22 G23 G11"/>
              <a:gd name="G26" fmla="cos 10800 0"/>
              <a:gd name="G27" fmla="sin 10800 0"/>
              <a:gd name="G28" fmla="cos 7266 0"/>
              <a:gd name="G29" fmla="sin 7266 0"/>
              <a:gd name="G30" fmla="+- G26 10800 0"/>
              <a:gd name="G31" fmla="+- G27 10800 0"/>
              <a:gd name="G32" fmla="+- G28 10800 0"/>
              <a:gd name="G33" fmla="+- G29 10800 0"/>
              <a:gd name="G34" fmla="+- G19 5400 0"/>
              <a:gd name="G35" fmla="cos G34 3456197"/>
              <a:gd name="G36" fmla="sin G34 3456197"/>
              <a:gd name="G37" fmla="+/ 3456197 0 2"/>
              <a:gd name="T2" fmla="*/ 180 256 1"/>
              <a:gd name="T3" fmla="*/ 0 256 1"/>
              <a:gd name="G38" fmla="+- G37 T2 T3"/>
              <a:gd name="G39" fmla="?: G2 G37 G38"/>
              <a:gd name="G40" fmla="cos 10800 G39"/>
              <a:gd name="G41" fmla="sin 10800 G39"/>
              <a:gd name="G42" fmla="cos 7266 G39"/>
              <a:gd name="G43" fmla="sin 7266 G39"/>
              <a:gd name="G44" fmla="+- G40 10800 0"/>
              <a:gd name="G45" fmla="+- G41 10800 0"/>
              <a:gd name="G46" fmla="+- G42 10800 0"/>
              <a:gd name="G47" fmla="+- G43 10800 0"/>
              <a:gd name="G48" fmla="+- G35 10800 0"/>
              <a:gd name="G49" fmla="+- G36 10800 0"/>
              <a:gd name="T4" fmla="*/ 1123 w 21600"/>
              <a:gd name="T5" fmla="*/ 6003 h 21600"/>
              <a:gd name="T6" fmla="*/ 16269 w 21600"/>
              <a:gd name="T7" fmla="*/ 17989 h 21600"/>
              <a:gd name="T8" fmla="*/ 4289 w 21600"/>
              <a:gd name="T9" fmla="*/ 7572 h 21600"/>
              <a:gd name="T10" fmla="*/ 24300 w 21600"/>
              <a:gd name="T11" fmla="*/ 10800 h 21600"/>
              <a:gd name="T12" fmla="*/ 19833 w 21600"/>
              <a:gd name="T13" fmla="*/ 15267 h 21600"/>
              <a:gd name="T14" fmla="*/ 15366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8066" y="10800"/>
                </a:moveTo>
                <a:cubicBezTo>
                  <a:pt x="18066" y="6787"/>
                  <a:pt x="14812" y="3534"/>
                  <a:pt x="10800" y="3534"/>
                </a:cubicBezTo>
                <a:cubicBezTo>
                  <a:pt x="6787" y="3534"/>
                  <a:pt x="3534" y="6787"/>
                  <a:pt x="3534" y="10800"/>
                </a:cubicBezTo>
                <a:cubicBezTo>
                  <a:pt x="3534" y="14812"/>
                  <a:pt x="6787" y="18066"/>
                  <a:pt x="10800" y="18066"/>
                </a:cubicBezTo>
                <a:cubicBezTo>
                  <a:pt x="12389" y="18066"/>
                  <a:pt x="13934" y="17544"/>
                  <a:pt x="15199" y="16582"/>
                </a:cubicBezTo>
                <a:lnTo>
                  <a:pt x="17339" y="19395"/>
                </a:lnTo>
                <a:cubicBezTo>
                  <a:pt x="15459" y="20825"/>
                  <a:pt x="13162" y="21599"/>
                  <a:pt x="10800" y="21600"/>
                </a:cubicBezTo>
                <a:cubicBezTo>
                  <a:pt x="4835" y="21600"/>
                  <a:pt x="0" y="16764"/>
                  <a:pt x="0" y="10800"/>
                </a:cubicBezTo>
                <a:cubicBezTo>
                  <a:pt x="0" y="4835"/>
                  <a:pt x="4835" y="0"/>
                  <a:pt x="10800" y="0"/>
                </a:cubicBezTo>
                <a:cubicBezTo>
                  <a:pt x="16764" y="-1"/>
                  <a:pt x="21599" y="4835"/>
                  <a:pt x="21600" y="10799"/>
                </a:cubicBezTo>
                <a:lnTo>
                  <a:pt x="21600" y="10800"/>
                </a:lnTo>
                <a:lnTo>
                  <a:pt x="24300" y="10800"/>
                </a:lnTo>
                <a:lnTo>
                  <a:pt x="19833" y="15267"/>
                </a:lnTo>
                <a:lnTo>
                  <a:pt x="15366" y="10800"/>
                </a:lnTo>
                <a:lnTo>
                  <a:pt x="18066" y="10800"/>
                </a:lnTo>
                <a:close/>
              </a:path>
            </a:pathLst>
          </a:custGeom>
          <a:solidFill>
            <a:srgbClr val="FF3300"/>
          </a:solidFill>
          <a:ln w="38100">
            <a:solidFill>
              <a:schemeClr val="accent1">
                <a:lumMod val="75000"/>
              </a:schemeClr>
            </a:solidFill>
            <a:miter lim="800000"/>
          </a:ln>
          <a:effectLst/>
        </p:spPr>
        <p:txBody>
          <a:bodyPr wrap="none" anchor="ctr"/>
          <a:lstStyle/>
          <a:p>
            <a:endParaRPr lang="zh-CN" altLang="en-US">
              <a:solidFill>
                <a:prstClr val="black"/>
              </a:solidFill>
              <a:latin typeface="+mj-ea"/>
              <a:ea typeface="+mj-ea"/>
            </a:endParaRPr>
          </a:p>
        </p:txBody>
      </p:sp>
      <p:sp>
        <p:nvSpPr>
          <p:cNvPr id="213004" name="Rectangle 12"/>
          <p:cNvSpPr>
            <a:spLocks noChangeArrowheads="1"/>
          </p:cNvSpPr>
          <p:nvPr/>
        </p:nvSpPr>
        <p:spPr bwMode="auto">
          <a:xfrm>
            <a:off x="2319190" y="1557746"/>
            <a:ext cx="917972" cy="432197"/>
          </a:xfrm>
          <a:prstGeom prst="rect">
            <a:avLst/>
          </a:prstGeom>
          <a:solidFill>
            <a:schemeClr val="accent1">
              <a:lumMod val="20000"/>
              <a:lumOff val="80000"/>
            </a:schemeClr>
          </a:solidFill>
          <a:ln w="9525" algn="ctr">
            <a:solidFill>
              <a:schemeClr val="tx1"/>
            </a:solidFill>
            <a:miter lim="800000"/>
          </a:ln>
          <a:effectLst/>
        </p:spPr>
        <p:txBody>
          <a:bodyPr wrap="none" anchor="ctr"/>
          <a:lstStyle/>
          <a:p>
            <a:pPr algn="ctr"/>
            <a:r>
              <a:rPr lang="zh-CN" altLang="en-US" dirty="0">
                <a:solidFill>
                  <a:prstClr val="black"/>
                </a:solidFill>
                <a:latin typeface="+mj-ea"/>
                <a:ea typeface="+mj-ea"/>
              </a:rPr>
              <a:t>评估</a:t>
            </a:r>
            <a:endParaRPr lang="zh-CN" altLang="en-US" dirty="0">
              <a:solidFill>
                <a:prstClr val="black"/>
              </a:solidFill>
              <a:latin typeface="+mj-ea"/>
              <a:ea typeface="+mj-ea"/>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F2C1A724-0955-4EF6-90EE-896195242A2E}"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29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299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299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300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299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300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8" presetClass="emph" presetSubtype="0" fill="hold" grpId="0" nodeType="clickEffect">
                                  <p:stCondLst>
                                    <p:cond delay="0"/>
                                  </p:stCondLst>
                                  <p:childTnLst>
                                    <p:animRot by="21600000">
                                      <p:cBhvr>
                                        <p:cTn id="30" dur="2000" fill="hold"/>
                                        <p:tgtEl>
                                          <p:spTgt spid="213003"/>
                                        </p:tgtEl>
                                        <p:attrNameLst>
                                          <p:attrName>r</p:attrName>
                                        </p:attrNameLst>
                                      </p:cBhvr>
                                    </p:animRo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300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30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6" grpId="0" bldLvl="0" animBg="1"/>
      <p:bldP spid="212997" grpId="0" bldLvl="0" animBg="1"/>
      <p:bldP spid="212998" grpId="0" bldLvl="0" animBg="1"/>
      <p:bldP spid="212999" grpId="0" bldLvl="0" animBg="1"/>
      <p:bldP spid="213000" grpId="0" bldLvl="0" animBg="1"/>
      <p:bldP spid="213001" grpId="0" bldLvl="0" animBg="1"/>
      <p:bldP spid="213002" grpId="0" bldLvl="0" animBg="1"/>
      <p:bldP spid="213003" grpId="0" bldLvl="0" animBg="1"/>
      <p:bldP spid="213004" grpId="0" bldLvl="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mtClean="0"/>
              <a:t>人机界面设计的步骤</a:t>
            </a:r>
            <a:endParaRPr lang="zh-CN" altLang="en-US"/>
          </a:p>
        </p:txBody>
      </p:sp>
      <p:sp>
        <p:nvSpPr>
          <p:cNvPr id="2" name="内容占位符 1"/>
          <p:cNvSpPr>
            <a:spLocks noGrp="1"/>
          </p:cNvSpPr>
          <p:nvPr>
            <p:ph idx="1"/>
          </p:nvPr>
        </p:nvSpPr>
        <p:spPr/>
        <p:txBody>
          <a:bodyPr>
            <a:normAutofit/>
          </a:bodyPr>
          <a:lstStyle/>
          <a:p>
            <a:pPr marL="342900" indent="-342900">
              <a:lnSpc>
                <a:spcPct val="120000"/>
              </a:lnSpc>
              <a:buFont typeface="+mj-lt"/>
              <a:buAutoNum type="arabicPeriod"/>
            </a:pPr>
            <a:r>
              <a:rPr lang="zh-CN" altLang="en-US" sz="2400" dirty="0"/>
              <a:t>从需求模型出发</a:t>
            </a:r>
            <a:r>
              <a:rPr lang="zh-CN" altLang="en-US" sz="2400" dirty="0" smtClean="0"/>
              <a:t>，从</a:t>
            </a:r>
            <a:r>
              <a:rPr lang="en-US" altLang="zh-CN" sz="2400" dirty="0" smtClean="0"/>
              <a:t>Use Case</a:t>
            </a:r>
            <a:r>
              <a:rPr lang="zh-CN" altLang="en-US" sz="2400" dirty="0" smtClean="0"/>
              <a:t>分析人机交互需求。</a:t>
            </a:r>
            <a:endParaRPr lang="en-US" altLang="zh-CN" sz="2400" dirty="0" smtClean="0"/>
          </a:p>
          <a:p>
            <a:pPr marL="342900" indent="-342900">
              <a:lnSpc>
                <a:spcPct val="120000"/>
              </a:lnSpc>
              <a:buFont typeface="+mj-lt"/>
              <a:buAutoNum type="arabicPeriod"/>
            </a:pPr>
            <a:r>
              <a:rPr lang="zh-CN" altLang="en-US" sz="2400" dirty="0" smtClean="0"/>
              <a:t>根据用户进行合理的分类，按照用户的熟练程度，工作性质</a:t>
            </a:r>
            <a:r>
              <a:rPr lang="zh-CN" altLang="en-US" sz="2400" dirty="0"/>
              <a:t>（按技能层次、组织层次、职能等分类</a:t>
            </a:r>
            <a:r>
              <a:rPr lang="zh-CN" altLang="en-US" sz="2400" dirty="0" smtClean="0"/>
              <a:t>）和权限，设计不同层次的用户界面。</a:t>
            </a:r>
            <a:endParaRPr lang="en-US" altLang="zh-CN" sz="2400" dirty="0" smtClean="0"/>
          </a:p>
          <a:p>
            <a:pPr marL="342900" indent="-342900">
              <a:lnSpc>
                <a:spcPct val="120000"/>
              </a:lnSpc>
              <a:buFont typeface="+mj-lt"/>
              <a:buAutoNum type="arabicPeriod"/>
            </a:pPr>
            <a:r>
              <a:rPr lang="zh-CN" altLang="en-US" sz="2400" dirty="0" smtClean="0"/>
              <a:t>选取用户代表并分析其工作流程与习惯。可通过调查表整理相关内容，如：期望软件的用途、主要要求与喜好、技术熟练程度、任务客观场景描述等。</a:t>
            </a:r>
            <a:endParaRPr lang="en-US" altLang="zh-CN" sz="2400" dirty="0" smtClean="0"/>
          </a:p>
        </p:txBody>
      </p:sp>
      <p:sp>
        <p:nvSpPr>
          <p:cNvPr id="5" name="日期占位符 4"/>
          <p:cNvSpPr>
            <a:spLocks noGrp="1"/>
          </p:cNvSpPr>
          <p:nvPr>
            <p:ph type="dt" sz="half" idx="10"/>
          </p:nvPr>
        </p:nvSpPr>
        <p:spPr/>
        <p:txBody>
          <a:bodyPr/>
          <a:lstStyle/>
          <a:p>
            <a:fld id="{2816A339-ED11-4A26-BB59-B50B0F72C137}"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人机界面</a:t>
            </a:r>
            <a:r>
              <a:rPr lang="zh-CN" altLang="en-US" dirty="0" smtClean="0"/>
              <a:t>设计的内容</a:t>
            </a:r>
            <a:endParaRPr lang="zh-CN" altLang="en-US" dirty="0"/>
          </a:p>
        </p:txBody>
      </p:sp>
      <p:sp>
        <p:nvSpPr>
          <p:cNvPr id="2" name="内容占位符 1"/>
          <p:cNvSpPr>
            <a:spLocks noGrp="1"/>
          </p:cNvSpPr>
          <p:nvPr>
            <p:ph idx="1"/>
          </p:nvPr>
        </p:nvSpPr>
        <p:spPr>
          <a:xfrm>
            <a:off x="768096" y="961901"/>
            <a:ext cx="7832833" cy="3635880"/>
          </a:xfrm>
        </p:spPr>
        <p:txBody>
          <a:bodyPr>
            <a:noAutofit/>
          </a:bodyPr>
          <a:lstStyle/>
          <a:p>
            <a:pPr>
              <a:lnSpc>
                <a:spcPct val="100000"/>
              </a:lnSpc>
            </a:pPr>
            <a:r>
              <a:rPr lang="zh-CN" altLang="en-US" sz="2400" dirty="0"/>
              <a:t>设计内容包括：界面结构（布局）、页面元素（命令和菜单）、视觉设计、事件操作（交互设计、事件驱动响应设计）、输出信息的结构等。</a:t>
            </a:r>
            <a:endParaRPr lang="zh-CN" altLang="en-US" sz="2400" dirty="0"/>
          </a:p>
          <a:p>
            <a:pPr marL="342900" indent="-342900">
              <a:lnSpc>
                <a:spcPct val="100000"/>
              </a:lnSpc>
              <a:buFont typeface="+mj-lt"/>
              <a:buAutoNum type="arabicPeriod"/>
            </a:pPr>
            <a:r>
              <a:rPr lang="zh-CN" altLang="en-US" sz="2000" dirty="0" smtClean="0"/>
              <a:t>布局</a:t>
            </a:r>
            <a:r>
              <a:rPr lang="zh-CN" altLang="en-US" sz="2000" dirty="0"/>
              <a:t>设计：根据不同系统的类型考虑内容不同，桌面系统参考</a:t>
            </a:r>
            <a:r>
              <a:rPr lang="en-US" altLang="zh-CN" sz="2000" dirty="0"/>
              <a:t>windows</a:t>
            </a:r>
            <a:r>
              <a:rPr lang="zh-CN" altLang="en-US" sz="2000" dirty="0"/>
              <a:t>和</a:t>
            </a:r>
            <a:r>
              <a:rPr lang="en-US" altLang="zh-CN" sz="2000" dirty="0"/>
              <a:t>Android</a:t>
            </a:r>
            <a:r>
              <a:rPr lang="zh-CN" altLang="en-US" sz="2000" dirty="0"/>
              <a:t>系统界面、</a:t>
            </a:r>
            <a:r>
              <a:rPr lang="en-US" altLang="zh-CN" sz="2000" dirty="0"/>
              <a:t>Web</a:t>
            </a:r>
            <a:r>
              <a:rPr lang="zh-CN" altLang="en-US" sz="2000" dirty="0"/>
              <a:t>网页系统选择合适的布局技术，综合使用</a:t>
            </a:r>
            <a:r>
              <a:rPr lang="en-US" altLang="zh-CN" sz="2000" dirty="0" err="1"/>
              <a:t>HTML+CSS+JS+Ajax</a:t>
            </a:r>
            <a:r>
              <a:rPr lang="zh-CN" altLang="en-US" sz="2000" dirty="0"/>
              <a:t>等。</a:t>
            </a:r>
            <a:endParaRPr lang="en-US" altLang="zh-CN" sz="2000" dirty="0"/>
          </a:p>
          <a:p>
            <a:pPr marL="342900" indent="-342900">
              <a:lnSpc>
                <a:spcPct val="100000"/>
              </a:lnSpc>
              <a:buFont typeface="+mj-lt"/>
              <a:buAutoNum type="arabicPeriod"/>
            </a:pPr>
            <a:r>
              <a:rPr lang="zh-CN" altLang="en-US" sz="2000" dirty="0" smtClean="0"/>
              <a:t>菜单</a:t>
            </a:r>
            <a:r>
              <a:rPr lang="zh-CN" altLang="en-US" sz="2000" dirty="0"/>
              <a:t>设计：线性结构、树状结构、非循环和循环的网状结构等，命令的优化注意导航的互通、命令的分组分类、名称命名的含义明确、是否有快捷操作等</a:t>
            </a:r>
            <a:r>
              <a:rPr lang="zh-CN" altLang="en-US" sz="2000" dirty="0" smtClean="0"/>
              <a:t>。</a:t>
            </a:r>
            <a:endParaRPr lang="en-US" altLang="zh-CN" sz="2000" dirty="0"/>
          </a:p>
        </p:txBody>
      </p:sp>
      <p:sp>
        <p:nvSpPr>
          <p:cNvPr id="5" name="日期占位符 4"/>
          <p:cNvSpPr>
            <a:spLocks noGrp="1"/>
          </p:cNvSpPr>
          <p:nvPr>
            <p:ph type="dt" sz="half" idx="10"/>
          </p:nvPr>
        </p:nvSpPr>
        <p:spPr/>
        <p:txBody>
          <a:bodyPr/>
          <a:lstStyle/>
          <a:p>
            <a:fld id="{B46D09D4-763A-4189-B840-36DDF94FBAC3}"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人机界面设计的内容</a:t>
            </a:r>
            <a:endParaRPr lang="zh-CN" altLang="en-US"/>
          </a:p>
        </p:txBody>
      </p:sp>
      <p:sp>
        <p:nvSpPr>
          <p:cNvPr id="2" name="内容占位符 1"/>
          <p:cNvSpPr>
            <a:spLocks noGrp="1"/>
          </p:cNvSpPr>
          <p:nvPr>
            <p:ph idx="1"/>
          </p:nvPr>
        </p:nvSpPr>
        <p:spPr/>
        <p:txBody>
          <a:bodyPr/>
          <a:lstStyle/>
          <a:p>
            <a:pPr marL="342900" indent="-342900">
              <a:lnSpc>
                <a:spcPct val="120000"/>
              </a:lnSpc>
              <a:buFont typeface="+mj-lt"/>
              <a:buAutoNum type="arabicPeriod" startAt="3"/>
            </a:pPr>
            <a:r>
              <a:rPr lang="zh-CN" altLang="en-US" sz="2400" dirty="0"/>
              <a:t>视觉设计：在结构设计的基础上，参考目标群体的心理模型和任务达成进行视觉设计，包括色差、字体、页面元素等</a:t>
            </a:r>
            <a:r>
              <a:rPr lang="zh-CN" altLang="en-US" sz="2400" dirty="0" smtClean="0"/>
              <a:t>。</a:t>
            </a:r>
            <a:endParaRPr lang="en-US" altLang="zh-CN" sz="2400" dirty="0" smtClean="0"/>
          </a:p>
          <a:p>
            <a:pPr>
              <a:lnSpc>
                <a:spcPct val="120000"/>
              </a:lnSpc>
            </a:pPr>
            <a:r>
              <a:rPr lang="zh-CN" altLang="en-US" sz="2400" dirty="0"/>
              <a:t>考虑界面的清晰明了，减少记忆负担，依赖认知而非记忆，提供视觉线索，提供默认、撤销、恢复操作，提供快捷操作，完善视觉的清晰度，界面协调一致，整个系统页面颜色不超过</a:t>
            </a:r>
            <a:r>
              <a:rPr lang="en-US" altLang="zh-CN" sz="2400" dirty="0"/>
              <a:t>5</a:t>
            </a:r>
            <a:r>
              <a:rPr lang="zh-CN" altLang="en-US" sz="2400" dirty="0"/>
              <a:t>个色系。</a:t>
            </a:r>
            <a:endParaRPr lang="zh-CN" altLang="en-US" sz="2400" dirty="0"/>
          </a:p>
        </p:txBody>
      </p:sp>
      <p:sp>
        <p:nvSpPr>
          <p:cNvPr id="5" name="日期占位符 4"/>
          <p:cNvSpPr>
            <a:spLocks noGrp="1"/>
          </p:cNvSpPr>
          <p:nvPr>
            <p:ph type="dt" sz="half" idx="10"/>
          </p:nvPr>
        </p:nvSpPr>
        <p:spPr/>
        <p:txBody>
          <a:bodyPr/>
          <a:lstStyle/>
          <a:p>
            <a:fld id="{E8656B78-4A06-4B1F-B470-0495DF80A1E9}"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人机界面设计的内容</a:t>
            </a:r>
            <a:endParaRPr lang="zh-CN" altLang="en-US" dirty="0"/>
          </a:p>
        </p:txBody>
      </p:sp>
      <p:sp>
        <p:nvSpPr>
          <p:cNvPr id="2" name="内容占位符 1"/>
          <p:cNvSpPr>
            <a:spLocks noGrp="1"/>
          </p:cNvSpPr>
          <p:nvPr>
            <p:ph idx="1"/>
          </p:nvPr>
        </p:nvSpPr>
        <p:spPr/>
        <p:txBody>
          <a:bodyPr>
            <a:normAutofit fontScale="70000" lnSpcReduction="20000"/>
          </a:bodyPr>
          <a:lstStyle/>
          <a:p>
            <a:pPr marL="342900" indent="-342900">
              <a:buFont typeface="+mj-lt"/>
              <a:buAutoNum type="arabicPeriod" startAt="4"/>
            </a:pPr>
            <a:r>
              <a:rPr lang="zh-CN" altLang="en-US" dirty="0"/>
              <a:t>人机交互</a:t>
            </a:r>
            <a:r>
              <a:rPr lang="zh-CN" altLang="en-US" dirty="0" smtClean="0"/>
              <a:t>设计：即</a:t>
            </a:r>
            <a:r>
              <a:rPr lang="zh-CN" altLang="en-US" dirty="0"/>
              <a:t>操作的设计，目的是使产品让用户能简单使用，任何产品功能的实现都是通过人和机器的交互来完成的。</a:t>
            </a:r>
            <a:endParaRPr lang="en-US" altLang="zh-CN" dirty="0"/>
          </a:p>
          <a:p>
            <a:pPr lvl="1"/>
            <a:r>
              <a:rPr lang="zh-CN" altLang="en-US" sz="2600" dirty="0"/>
              <a:t>交互设计的原则如下：</a:t>
            </a:r>
            <a:endParaRPr lang="en-US" altLang="zh-CN" sz="2600" dirty="0"/>
          </a:p>
          <a:p>
            <a:pPr marL="857250" lvl="2" indent="-342900">
              <a:spcBef>
                <a:spcPts val="450"/>
              </a:spcBef>
              <a:buFont typeface="+mj-lt"/>
              <a:buAutoNum type="alphaLcPeriod"/>
            </a:pPr>
            <a:r>
              <a:rPr lang="zh-CN" altLang="en-US" sz="2600" dirty="0"/>
              <a:t>有清楚的错误提示</a:t>
            </a:r>
            <a:endParaRPr lang="en-US" altLang="zh-CN" sz="2600" dirty="0"/>
          </a:p>
          <a:p>
            <a:pPr marL="857250" lvl="2" indent="-342900">
              <a:spcBef>
                <a:spcPts val="450"/>
              </a:spcBef>
              <a:buFont typeface="+mj-lt"/>
              <a:buAutoNum type="alphaLcPeriod"/>
            </a:pPr>
            <a:r>
              <a:rPr lang="zh-CN" altLang="en-US" sz="2600" dirty="0"/>
              <a:t>让用户控制界面，提供下一步、完成等按钮</a:t>
            </a:r>
            <a:endParaRPr lang="en-US" altLang="zh-CN" sz="2600" dirty="0"/>
          </a:p>
          <a:p>
            <a:pPr marL="857250" lvl="2" indent="-342900">
              <a:spcBef>
                <a:spcPts val="450"/>
              </a:spcBef>
              <a:buFont typeface="+mj-lt"/>
              <a:buAutoNum type="alphaLcPeriod"/>
            </a:pPr>
            <a:r>
              <a:rPr lang="zh-CN" altLang="en-US" sz="2600" dirty="0"/>
              <a:t>针对不同的用户提供不同层次的多种选择</a:t>
            </a:r>
            <a:endParaRPr lang="en-US" altLang="zh-CN" sz="2600" dirty="0"/>
          </a:p>
          <a:p>
            <a:pPr marL="857250" lvl="2" indent="-342900">
              <a:spcBef>
                <a:spcPts val="450"/>
              </a:spcBef>
              <a:buFont typeface="+mj-lt"/>
              <a:buAutoNum type="alphaLcPeriod"/>
            </a:pPr>
            <a:r>
              <a:rPr lang="zh-CN" altLang="en-US" sz="2600" dirty="0"/>
              <a:t>允许兼用鼠标和键盘</a:t>
            </a:r>
            <a:endParaRPr lang="en-US" altLang="zh-CN" sz="2600" dirty="0"/>
          </a:p>
          <a:p>
            <a:pPr marL="857250" lvl="2" indent="-342900">
              <a:spcBef>
                <a:spcPts val="450"/>
              </a:spcBef>
              <a:buFont typeface="+mj-lt"/>
              <a:buAutoNum type="alphaLcPeriod"/>
            </a:pPr>
            <a:r>
              <a:rPr lang="zh-CN" altLang="en-US" sz="2600" dirty="0"/>
              <a:t>允许工作中断，例如编写消息</a:t>
            </a:r>
            <a:endParaRPr lang="en-US" altLang="zh-CN" sz="2600" dirty="0"/>
          </a:p>
          <a:p>
            <a:pPr marL="857250" lvl="2" indent="-342900">
              <a:spcBef>
                <a:spcPts val="450"/>
              </a:spcBef>
              <a:buFont typeface="+mj-lt"/>
              <a:buAutoNum type="alphaLcPeriod"/>
            </a:pPr>
            <a:r>
              <a:rPr lang="zh-CN" altLang="en-US" sz="2600" dirty="0"/>
              <a:t>使用用户的语言，而非技术的语言</a:t>
            </a:r>
            <a:endParaRPr lang="en-US" altLang="zh-CN" sz="2600" dirty="0"/>
          </a:p>
          <a:p>
            <a:pPr marL="857250" lvl="2" indent="-342900">
              <a:spcBef>
                <a:spcPts val="450"/>
              </a:spcBef>
              <a:buFont typeface="+mj-lt"/>
              <a:buAutoNum type="alphaLcPeriod"/>
            </a:pPr>
            <a:r>
              <a:rPr lang="zh-CN" altLang="en-US" sz="2600" dirty="0"/>
              <a:t>导航功能，方便退出</a:t>
            </a:r>
            <a:endParaRPr lang="en-US" altLang="zh-CN" sz="2600" dirty="0"/>
          </a:p>
          <a:p>
            <a:pPr marL="857250" lvl="2" indent="-342900">
              <a:spcBef>
                <a:spcPts val="450"/>
              </a:spcBef>
              <a:buFont typeface="+mj-lt"/>
              <a:buAutoNum type="alphaLcPeriod"/>
            </a:pPr>
            <a:r>
              <a:rPr lang="zh-CN" altLang="en-US" sz="2600" dirty="0"/>
              <a:t>让用户知道自己的位置</a:t>
            </a:r>
            <a:r>
              <a:rPr lang="en-US" altLang="zh-CN" sz="2600" dirty="0"/>
              <a:t>,</a:t>
            </a:r>
            <a:r>
              <a:rPr lang="zh-CN" altLang="en-US" sz="2600" dirty="0"/>
              <a:t>方便做出下一步行动的决定</a:t>
            </a:r>
            <a:endParaRPr lang="en-US" altLang="zh-CN" sz="2600" dirty="0"/>
          </a:p>
        </p:txBody>
      </p:sp>
      <p:sp>
        <p:nvSpPr>
          <p:cNvPr id="5" name="日期占位符 4"/>
          <p:cNvSpPr>
            <a:spLocks noGrp="1"/>
          </p:cNvSpPr>
          <p:nvPr>
            <p:ph type="dt" sz="half" idx="10"/>
          </p:nvPr>
        </p:nvSpPr>
        <p:spPr/>
        <p:txBody>
          <a:bodyPr/>
          <a:lstStyle/>
          <a:p>
            <a:fld id="{708FFA3F-79FD-458F-9D88-D0343727FB9B}"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up)">
                                      <p:cBhvr>
                                        <p:cTn id="7" dur="500"/>
                                        <p:tgtEl>
                                          <p:spTgt spid="2">
                                            <p:txEl>
                                              <p:pRg st="1" end="1"/>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wipe(up)">
                                      <p:cBhvr>
                                        <p:cTn id="10" dur="500"/>
                                        <p:tgtEl>
                                          <p:spTgt spid="2">
                                            <p:txEl>
                                              <p:pRg st="2" end="2"/>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wipe(up)">
                                      <p:cBhvr>
                                        <p:cTn id="13" dur="500"/>
                                        <p:tgtEl>
                                          <p:spTgt spid="2">
                                            <p:txEl>
                                              <p:pRg st="3" end="3"/>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wipe(up)">
                                      <p:cBhvr>
                                        <p:cTn id="16" dur="500"/>
                                        <p:tgtEl>
                                          <p:spTgt spid="2">
                                            <p:txEl>
                                              <p:pRg st="4" end="4"/>
                                            </p:txEl>
                                          </p:spTgt>
                                        </p:tgtEl>
                                      </p:cBhvr>
                                    </p:animEffect>
                                  </p:childTnLst>
                                </p:cTn>
                              </p:par>
                              <p:par>
                                <p:cTn id="17" presetID="22" presetClass="entr" presetSubtype="1"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Effect transition="in" filter="wipe(up)">
                                      <p:cBhvr>
                                        <p:cTn id="19" dur="500"/>
                                        <p:tgtEl>
                                          <p:spTgt spid="2">
                                            <p:txEl>
                                              <p:pRg st="5" end="5"/>
                                            </p:txEl>
                                          </p:spTgt>
                                        </p:tgtEl>
                                      </p:cBhvr>
                                    </p:animEffect>
                                  </p:childTnLst>
                                </p:cTn>
                              </p:par>
                              <p:par>
                                <p:cTn id="20" presetID="22" presetClass="entr" presetSubtype="1" fill="hold" nodeType="withEffect">
                                  <p:stCondLst>
                                    <p:cond delay="0"/>
                                  </p:stCondLst>
                                  <p:childTnLst>
                                    <p:set>
                                      <p:cBhvr>
                                        <p:cTn id="21" dur="1" fill="hold">
                                          <p:stCondLst>
                                            <p:cond delay="0"/>
                                          </p:stCondLst>
                                        </p:cTn>
                                        <p:tgtEl>
                                          <p:spTgt spid="2">
                                            <p:txEl>
                                              <p:pRg st="6" end="6"/>
                                            </p:txEl>
                                          </p:spTgt>
                                        </p:tgtEl>
                                        <p:attrNameLst>
                                          <p:attrName>style.visibility</p:attrName>
                                        </p:attrNameLst>
                                      </p:cBhvr>
                                      <p:to>
                                        <p:strVal val="visible"/>
                                      </p:to>
                                    </p:set>
                                    <p:animEffect transition="in" filter="wipe(up)">
                                      <p:cBhvr>
                                        <p:cTn id="22" dur="500"/>
                                        <p:tgtEl>
                                          <p:spTgt spid="2">
                                            <p:txEl>
                                              <p:pRg st="6" end="6"/>
                                            </p:txEl>
                                          </p:spTgt>
                                        </p:tgtEl>
                                      </p:cBhvr>
                                    </p:animEffect>
                                  </p:childTnLst>
                                </p:cTn>
                              </p:par>
                              <p:par>
                                <p:cTn id="23" presetID="22" presetClass="entr" presetSubtype="1" fill="hold"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animEffect transition="in" filter="wipe(up)">
                                      <p:cBhvr>
                                        <p:cTn id="25" dur="500"/>
                                        <p:tgtEl>
                                          <p:spTgt spid="2">
                                            <p:txEl>
                                              <p:pRg st="7" end="7"/>
                                            </p:txEl>
                                          </p:spTgt>
                                        </p:tgtEl>
                                      </p:cBhvr>
                                    </p:animEffect>
                                  </p:childTnLst>
                                </p:cTn>
                              </p:par>
                              <p:par>
                                <p:cTn id="26" presetID="22" presetClass="entr" presetSubtype="1" fill="hold" nodeType="withEffect">
                                  <p:stCondLst>
                                    <p:cond delay="0"/>
                                  </p:stCondLst>
                                  <p:childTnLst>
                                    <p:set>
                                      <p:cBhvr>
                                        <p:cTn id="27" dur="1" fill="hold">
                                          <p:stCondLst>
                                            <p:cond delay="0"/>
                                          </p:stCondLst>
                                        </p:cTn>
                                        <p:tgtEl>
                                          <p:spTgt spid="2">
                                            <p:txEl>
                                              <p:pRg st="8" end="8"/>
                                            </p:txEl>
                                          </p:spTgt>
                                        </p:tgtEl>
                                        <p:attrNameLst>
                                          <p:attrName>style.visibility</p:attrName>
                                        </p:attrNameLst>
                                      </p:cBhvr>
                                      <p:to>
                                        <p:strVal val="visible"/>
                                      </p:to>
                                    </p:set>
                                    <p:animEffect transition="in" filter="wipe(up)">
                                      <p:cBhvr>
                                        <p:cTn id="28" dur="500"/>
                                        <p:tgtEl>
                                          <p:spTgt spid="2">
                                            <p:txEl>
                                              <p:pRg st="8" end="8"/>
                                            </p:txEl>
                                          </p:spTgt>
                                        </p:tgtEl>
                                      </p:cBhvr>
                                    </p:animEffect>
                                  </p:childTnLst>
                                </p:cTn>
                              </p:par>
                              <p:par>
                                <p:cTn id="29" presetID="22" presetClass="entr" presetSubtype="1" fill="hold" nodeType="with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animEffect transition="in" filter="wipe(up)">
                                      <p:cBhvr>
                                        <p:cTn id="31"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25CEACAF-AE90-418F-87BE-851E3B69F2DC}"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 name="内容占位符 1"/>
          <p:cNvSpPr>
            <a:spLocks noGrp="1"/>
          </p:cNvSpPr>
          <p:nvPr>
            <p:ph idx="4294967295"/>
          </p:nvPr>
        </p:nvSpPr>
        <p:spPr>
          <a:xfrm>
            <a:off x="1025525" y="118754"/>
            <a:ext cx="7832725" cy="4524498"/>
          </a:xfrm>
        </p:spPr>
        <p:txBody>
          <a:bodyPr>
            <a:noAutofit/>
          </a:bodyPr>
          <a:lstStyle/>
          <a:p>
            <a:pPr marL="342900" indent="-342900">
              <a:spcBef>
                <a:spcPts val="750"/>
              </a:spcBef>
              <a:buFont typeface="+mj-lt"/>
              <a:buAutoNum type="arabicPeriod" startAt="5"/>
            </a:pPr>
            <a:r>
              <a:rPr lang="zh-CN" altLang="en-US" sz="2000" dirty="0" smtClean="0"/>
              <a:t>事件驱动响应设计</a:t>
            </a:r>
            <a:endParaRPr lang="en-US" altLang="zh-CN" sz="2000" dirty="0" smtClean="0"/>
          </a:p>
          <a:p>
            <a:pPr lvl="1">
              <a:spcBef>
                <a:spcPts val="750"/>
              </a:spcBef>
            </a:pPr>
            <a:r>
              <a:rPr lang="zh-CN" altLang="en-US" sz="1800" dirty="0" smtClean="0"/>
              <a:t>事件由操作者通过人机交互激发（前台），经过一系列的响应（后台）得到结果。也就是界面类（前台操作）与问题域类（后台运算）之间的通信。在进行二者的通信设计时，要注意以下原则：</a:t>
            </a:r>
            <a:endParaRPr lang="en-US" altLang="zh-CN" sz="1800" dirty="0" smtClean="0"/>
          </a:p>
          <a:p>
            <a:pPr marL="600075" lvl="1" indent="-342900">
              <a:spcBef>
                <a:spcPts val="750"/>
              </a:spcBef>
              <a:buFont typeface="+mj-lt"/>
              <a:buAutoNum type="alphaLcPeriod"/>
            </a:pPr>
            <a:r>
              <a:rPr lang="zh-CN" altLang="en-US" sz="1800" dirty="0" smtClean="0"/>
              <a:t>人机界面只负责输入与输出和窗口更新这样的工作，并把所有面向问题域部分的请求转发给问题域部分，即在界面对象中不应该对业务逻辑进行处理。</a:t>
            </a:r>
            <a:endParaRPr lang="en-US" altLang="zh-CN" sz="1800" dirty="0" smtClean="0"/>
          </a:p>
          <a:p>
            <a:pPr marL="600075" lvl="1" indent="-342900">
              <a:spcBef>
                <a:spcPts val="750"/>
              </a:spcBef>
              <a:buFont typeface="+mj-lt"/>
              <a:buAutoNum type="alphaLcPeriod"/>
            </a:pPr>
            <a:r>
              <a:rPr lang="zh-CN" altLang="en-US" sz="1800" dirty="0"/>
              <a:t>问题</a:t>
            </a:r>
            <a:r>
              <a:rPr lang="zh-CN" altLang="en-US" sz="1800" dirty="0" smtClean="0"/>
              <a:t>域类的对象不应该主动发起与界面类对象之间的通信，而只能对界面类对象进行响应，即只有界面类对象才能访问问题域类的对象。界面类对象向问题域类对象传送的消息叫“请求”，问题域类对象向界面类对象传递的消息叫“回应”或“通知”。</a:t>
            </a:r>
            <a:endParaRPr lang="en-US" altLang="zh-CN" sz="1800" dirty="0" smtClean="0"/>
          </a:p>
          <a:p>
            <a:pPr marL="600075" lvl="1" indent="-342900">
              <a:spcBef>
                <a:spcPts val="750"/>
              </a:spcBef>
              <a:buFont typeface="+mj-lt"/>
              <a:buAutoNum type="alphaLcPeriod"/>
            </a:pPr>
            <a:r>
              <a:rPr lang="zh-CN" altLang="en-US" sz="1800" dirty="0" smtClean="0"/>
              <a:t>尽量减少二者之间的耦合，通常是在二者之间添加控制器或协调类，如</a:t>
            </a:r>
            <a:r>
              <a:rPr lang="en-US" altLang="zh-CN" sz="1800" dirty="0" smtClean="0"/>
              <a:t>MVC</a:t>
            </a:r>
            <a:r>
              <a:rPr lang="zh-CN" altLang="en-US" sz="1800" dirty="0" smtClean="0"/>
              <a:t>模式、观察者模式等。</a:t>
            </a:r>
            <a:endParaRPr lang="zh-CN" altLang="en-US" sz="1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up)">
                                      <p:cBhvr>
                                        <p:cTn id="7" dur="500"/>
                                        <p:tgtEl>
                                          <p:spTgt spid="2">
                                            <p:txEl>
                                              <p:pRg st="2" end="2"/>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wipe(up)">
                                      <p:cBhvr>
                                        <p:cTn id="10" dur="500"/>
                                        <p:tgtEl>
                                          <p:spTgt spid="2">
                                            <p:txEl>
                                              <p:pRg st="3" end="3"/>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wipe(up)">
                                      <p:cBhvr>
                                        <p:cTn id="13"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endParaRPr lang="zh-CN" altLang="en-US" dirty="0"/>
          </a:p>
        </p:txBody>
      </p:sp>
      <p:pic>
        <p:nvPicPr>
          <p:cNvPr id="6" name="图片 5"/>
          <p:cNvPicPr>
            <a:picLocks noChangeAspect="1"/>
          </p:cNvPicPr>
          <p:nvPr/>
        </p:nvPicPr>
        <p:blipFill>
          <a:blip r:embed="rId1"/>
          <a:stretch>
            <a:fillRect/>
          </a:stretch>
        </p:blipFill>
        <p:spPr>
          <a:xfrm>
            <a:off x="1575479" y="98822"/>
            <a:ext cx="2828925" cy="2797493"/>
          </a:xfrm>
          <a:prstGeom prst="rect">
            <a:avLst/>
          </a:prstGeom>
        </p:spPr>
      </p:pic>
      <p:pic>
        <p:nvPicPr>
          <p:cNvPr id="5" name="内容占位符 4"/>
          <p:cNvPicPr>
            <a:picLocks noGrp="1" noChangeAspect="1"/>
          </p:cNvPicPr>
          <p:nvPr>
            <p:ph idx="1"/>
          </p:nvPr>
        </p:nvPicPr>
        <p:blipFill>
          <a:blip r:embed="rId2"/>
          <a:stretch>
            <a:fillRect/>
          </a:stretch>
        </p:blipFill>
        <p:spPr>
          <a:xfrm>
            <a:off x="1575479" y="2714625"/>
            <a:ext cx="6172200" cy="2428875"/>
          </a:xfrm>
          <a:prstGeom prst="rect">
            <a:avLst/>
          </a:prstGeom>
        </p:spPr>
      </p:pic>
      <p:pic>
        <p:nvPicPr>
          <p:cNvPr id="11" name="图片 10"/>
          <p:cNvPicPr>
            <a:picLocks noChangeAspect="1"/>
          </p:cNvPicPr>
          <p:nvPr/>
        </p:nvPicPr>
        <p:blipFill>
          <a:blip r:embed="rId3"/>
          <a:stretch>
            <a:fillRect/>
          </a:stretch>
        </p:blipFill>
        <p:spPr>
          <a:xfrm>
            <a:off x="6286783" y="1190032"/>
            <a:ext cx="1460897" cy="1460897"/>
          </a:xfrm>
          <a:prstGeom prst="rect">
            <a:avLst/>
          </a:prstGeom>
        </p:spPr>
      </p:pic>
      <p:sp>
        <p:nvSpPr>
          <p:cNvPr id="2" name="日期占位符 1"/>
          <p:cNvSpPr>
            <a:spLocks noGrp="1"/>
          </p:cNvSpPr>
          <p:nvPr>
            <p:ph type="dt" sz="half" idx="10"/>
          </p:nvPr>
        </p:nvSpPr>
        <p:spPr/>
        <p:txBody>
          <a:bodyPr/>
          <a:lstStyle/>
          <a:p>
            <a:fld id="{D68F337E-4AC0-4C00-B554-9FBB2990F9C0}"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软件交互设计的目标</a:t>
            </a:r>
            <a:endParaRPr lang="zh-CN" altLang="en-US" dirty="0"/>
          </a:p>
        </p:txBody>
      </p:sp>
      <p:sp>
        <p:nvSpPr>
          <p:cNvPr id="4" name="日期占位符 3"/>
          <p:cNvSpPr>
            <a:spLocks noGrp="1"/>
          </p:cNvSpPr>
          <p:nvPr>
            <p:ph type="dt" sz="half" idx="10"/>
          </p:nvPr>
        </p:nvSpPr>
        <p:spPr/>
        <p:txBody>
          <a:bodyPr/>
          <a:lstStyle/>
          <a:p>
            <a:fld id="{546D07F8-01F9-4779-8A01-2D87A15458B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stretch>
            <a:fillRect/>
          </a:stretch>
        </p:blipFill>
        <p:spPr>
          <a:xfrm>
            <a:off x="2154550" y="2146107"/>
            <a:ext cx="5124610" cy="2346111"/>
          </a:xfrm>
          <a:prstGeom prst="rect">
            <a:avLst/>
          </a:prstGeom>
        </p:spPr>
      </p:pic>
      <p:pic>
        <p:nvPicPr>
          <p:cNvPr id="9" name="图片 8"/>
          <p:cNvPicPr>
            <a:picLocks noChangeAspect="1"/>
          </p:cNvPicPr>
          <p:nvPr/>
        </p:nvPicPr>
        <p:blipFill>
          <a:blip r:embed="rId2"/>
          <a:stretch>
            <a:fillRect/>
          </a:stretch>
        </p:blipFill>
        <p:spPr>
          <a:xfrm>
            <a:off x="1967681" y="1034302"/>
            <a:ext cx="5498348" cy="90641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3"/>
          <p:cNvSpPr>
            <a:spLocks noGrp="1" noChangeArrowheads="1"/>
          </p:cNvSpPr>
          <p:nvPr>
            <p:ph idx="1"/>
          </p:nvPr>
        </p:nvSpPr>
        <p:spPr>
          <a:xfrm>
            <a:off x="1657350" y="1318022"/>
            <a:ext cx="6000750" cy="3187448"/>
          </a:xfrm>
        </p:spPr>
        <p:txBody>
          <a:bodyPr>
            <a:normAutofit/>
          </a:bodyPr>
          <a:lstStyle/>
          <a:p>
            <a:pPr marL="342900" indent="-342900">
              <a:buFont typeface="+mj-lt"/>
              <a:buAutoNum type="arabicPeriod"/>
            </a:pPr>
            <a:r>
              <a:rPr lang="zh-CN" altLang="en-US" sz="3200" dirty="0"/>
              <a:t>让用户拥有控制权 </a:t>
            </a:r>
            <a:endParaRPr lang="zh-CN" altLang="en-US" sz="3200" dirty="0"/>
          </a:p>
          <a:p>
            <a:pPr marL="342900" indent="-342900">
              <a:buFont typeface="+mj-lt"/>
              <a:buAutoNum type="arabicPeriod"/>
            </a:pPr>
            <a:r>
              <a:rPr lang="zh-CN" altLang="en-US" sz="3200" dirty="0"/>
              <a:t>减少用户的记忆负担 </a:t>
            </a:r>
            <a:endParaRPr lang="zh-CN" altLang="en-US" sz="3200" dirty="0"/>
          </a:p>
          <a:p>
            <a:pPr marL="342900" indent="-342900">
              <a:buFont typeface="+mj-lt"/>
              <a:buAutoNum type="arabicPeriod"/>
            </a:pPr>
            <a:r>
              <a:rPr lang="zh-CN" altLang="en-US" sz="3200" dirty="0"/>
              <a:t>保持界面一致 </a:t>
            </a:r>
            <a:endParaRPr lang="zh-CN" altLang="en-US" sz="3200" dirty="0"/>
          </a:p>
        </p:txBody>
      </p:sp>
      <p:sp>
        <p:nvSpPr>
          <p:cNvPr id="50181" name="灯片编号占位符 5"/>
          <p:cNvSpPr>
            <a:spLocks noGrp="1"/>
          </p:cNvSpPr>
          <p:nvPr>
            <p:ph type="sldNum" sz="quarter" idx="12"/>
          </p:nvPr>
        </p:nvSpPr>
        <p:spPr/>
        <p:txBody>
          <a:bodyPr/>
          <a:lstStyle/>
          <a:p>
            <a:fld id="{3201D439-F635-4C48-AD55-6A8390F5EC62}" type="slidenum">
              <a:rPr lang="en-US" altLang="zh-CN" smtClean="0"/>
            </a:fld>
            <a:endParaRPr lang="en-US" altLang="zh-CN"/>
          </a:p>
        </p:txBody>
      </p:sp>
      <p:sp>
        <p:nvSpPr>
          <p:cNvPr id="826370" name="Rectangle 2"/>
          <p:cNvSpPr>
            <a:spLocks noGrp="1" noChangeArrowheads="1"/>
          </p:cNvSpPr>
          <p:nvPr>
            <p:ph type="title"/>
          </p:nvPr>
        </p:nvSpPr>
        <p:spPr/>
        <p:txBody>
          <a:bodyPr/>
          <a:lstStyle/>
          <a:p>
            <a:r>
              <a:rPr lang="zh-CN" altLang="en-US" dirty="0"/>
              <a:t>人机界面设计的黄金原则 </a:t>
            </a:r>
            <a:endParaRPr lang="zh-CN" altLang="en-US" dirty="0"/>
          </a:p>
        </p:txBody>
      </p:sp>
      <p:sp>
        <p:nvSpPr>
          <p:cNvPr id="2" name="日期占位符 1"/>
          <p:cNvSpPr>
            <a:spLocks noGrp="1"/>
          </p:cNvSpPr>
          <p:nvPr>
            <p:ph type="dt" sz="half" idx="10"/>
          </p:nvPr>
        </p:nvSpPr>
        <p:spPr/>
        <p:txBody>
          <a:bodyPr/>
          <a:lstStyle/>
          <a:p>
            <a:fld id="{D0F8D33B-4A77-4E43-B470-469F52AD08C0}"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418" name="Rectangle 2"/>
          <p:cNvSpPr>
            <a:spLocks noGrp="1" noChangeArrowheads="1"/>
          </p:cNvSpPr>
          <p:nvPr>
            <p:ph type="title"/>
          </p:nvPr>
        </p:nvSpPr>
        <p:spPr/>
        <p:txBody>
          <a:bodyPr/>
          <a:lstStyle/>
          <a:p>
            <a:pPr eaLnBrk="1" hangingPunct="1">
              <a:defRPr/>
            </a:pPr>
            <a:r>
              <a:rPr lang="en-US" altLang="zh-CN" dirty="0"/>
              <a:t>1. </a:t>
            </a:r>
            <a:r>
              <a:rPr lang="zh-CN" altLang="en-US" dirty="0"/>
              <a:t>让用户拥有控制权 </a:t>
            </a:r>
            <a:endParaRPr lang="zh-CN" altLang="en-US" dirty="0"/>
          </a:p>
        </p:txBody>
      </p:sp>
      <p:sp>
        <p:nvSpPr>
          <p:cNvPr id="51204" name="Rectangle 3"/>
          <p:cNvSpPr>
            <a:spLocks noGrp="1" noChangeArrowheads="1"/>
          </p:cNvSpPr>
          <p:nvPr>
            <p:ph idx="1"/>
          </p:nvPr>
        </p:nvSpPr>
        <p:spPr/>
        <p:txBody>
          <a:bodyPr>
            <a:normAutofit/>
          </a:bodyPr>
          <a:lstStyle/>
          <a:p>
            <a:pPr marL="405130" indent="-405130">
              <a:lnSpc>
                <a:spcPct val="120000"/>
              </a:lnSpc>
              <a:buNone/>
              <a:defRPr/>
            </a:pPr>
            <a:r>
              <a:rPr lang="en-US" altLang="zh-CN" sz="2400" dirty="0"/>
              <a:t>1) </a:t>
            </a:r>
            <a:r>
              <a:rPr lang="zh-CN" altLang="en-US" sz="2400" dirty="0"/>
              <a:t>交互模式的定义不能强迫用户进入不必要的或不希望的动作的方式</a:t>
            </a:r>
            <a:endParaRPr lang="zh-CN" altLang="en-US" sz="2400" dirty="0"/>
          </a:p>
          <a:p>
            <a:pPr marL="405130" indent="-405130">
              <a:lnSpc>
                <a:spcPct val="120000"/>
              </a:lnSpc>
              <a:buNone/>
              <a:defRPr/>
            </a:pPr>
            <a:r>
              <a:rPr lang="en-US" altLang="zh-CN" sz="2400" dirty="0"/>
              <a:t>2) </a:t>
            </a:r>
            <a:r>
              <a:rPr lang="zh-CN" altLang="en-US" sz="2400" dirty="0"/>
              <a:t>提供灵活的交互</a:t>
            </a:r>
            <a:endParaRPr lang="zh-CN" altLang="en-US" sz="2400" dirty="0"/>
          </a:p>
          <a:p>
            <a:pPr marL="405130" indent="-405130">
              <a:lnSpc>
                <a:spcPct val="120000"/>
              </a:lnSpc>
              <a:buNone/>
              <a:defRPr/>
            </a:pPr>
            <a:r>
              <a:rPr lang="en-US" altLang="zh-CN" sz="2400" dirty="0"/>
              <a:t>3) </a:t>
            </a:r>
            <a:r>
              <a:rPr lang="zh-CN" altLang="en-US" sz="2400" dirty="0"/>
              <a:t>允许用户交互可以被中断和撤销</a:t>
            </a:r>
            <a:endParaRPr lang="zh-CN" altLang="en-US" sz="2400" dirty="0"/>
          </a:p>
          <a:p>
            <a:pPr marL="405130" indent="-405130">
              <a:lnSpc>
                <a:spcPct val="120000"/>
              </a:lnSpc>
              <a:buNone/>
              <a:defRPr/>
            </a:pPr>
            <a:r>
              <a:rPr lang="en-US" altLang="zh-CN" sz="2400" dirty="0"/>
              <a:t>4) </a:t>
            </a:r>
            <a:r>
              <a:rPr lang="zh-CN" altLang="en-US" sz="2400" dirty="0"/>
              <a:t>当技能级别增长时可以使交互流水化并允许定制交互</a:t>
            </a:r>
            <a:endParaRPr lang="zh-CN" altLang="en-US" sz="2400" dirty="0"/>
          </a:p>
          <a:p>
            <a:pPr marL="405130" indent="-405130">
              <a:lnSpc>
                <a:spcPct val="120000"/>
              </a:lnSpc>
              <a:buNone/>
              <a:defRPr/>
            </a:pPr>
            <a:r>
              <a:rPr lang="en-US" altLang="zh-CN" sz="2400" dirty="0"/>
              <a:t>5) </a:t>
            </a:r>
            <a:r>
              <a:rPr lang="zh-CN" altLang="en-US" sz="2400" dirty="0"/>
              <a:t>使用户隔离内部技术细节</a:t>
            </a:r>
            <a:endParaRPr lang="zh-CN" altLang="en-US" sz="2400" dirty="0"/>
          </a:p>
        </p:txBody>
      </p:sp>
      <p:sp>
        <p:nvSpPr>
          <p:cNvPr id="2" name="日期占位符 1"/>
          <p:cNvSpPr>
            <a:spLocks noGrp="1"/>
          </p:cNvSpPr>
          <p:nvPr>
            <p:ph type="dt" sz="half" idx="10"/>
          </p:nvPr>
        </p:nvSpPr>
        <p:spPr/>
        <p:txBody>
          <a:bodyPr/>
          <a:lstStyle/>
          <a:p>
            <a:fld id="{FEA5779F-2CA8-4D44-9CE4-38D10A9B8433}"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51205" name="灯片编号占位符 5"/>
          <p:cNvSpPr>
            <a:spLocks noGrp="1"/>
          </p:cNvSpPr>
          <p:nvPr>
            <p:ph type="sldNum" sz="quarter" idx="12"/>
          </p:nvPr>
        </p:nvSpPr>
        <p:spPr>
          <a:noFill/>
        </p:spPr>
        <p:txBody>
          <a:bodyPr/>
          <a:lstStyle/>
          <a:p>
            <a:fld id="{3B09A133-C9A8-47F9-9E35-3FBC5845A47D}" type="slidenum">
              <a:rPr lang="en-US" altLang="zh-CN" smtClean="0">
                <a:ea typeface="宋体" panose="02010600030101010101" pitchFamily="2" charset="-122"/>
              </a:rPr>
            </a:fld>
            <a:endParaRPr lang="en-US" altLang="zh-CN">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Rectangle 2"/>
          <p:cNvSpPr>
            <a:spLocks noGrp="1" noChangeArrowheads="1"/>
          </p:cNvSpPr>
          <p:nvPr>
            <p:ph type="title"/>
          </p:nvPr>
        </p:nvSpPr>
        <p:spPr/>
        <p:txBody>
          <a:bodyPr/>
          <a:lstStyle/>
          <a:p>
            <a:pPr marL="628650" indent="-628650">
              <a:defRPr/>
            </a:pPr>
            <a:r>
              <a:rPr lang="en-US" altLang="zh-CN" dirty="0"/>
              <a:t>2. </a:t>
            </a:r>
            <a:r>
              <a:rPr lang="zh-CN" altLang="en-US" dirty="0"/>
              <a:t>减少用户的记忆负担</a:t>
            </a:r>
            <a:endParaRPr lang="zh-CN" altLang="en-US" dirty="0"/>
          </a:p>
        </p:txBody>
      </p:sp>
      <p:sp>
        <p:nvSpPr>
          <p:cNvPr id="52228" name="Rectangle 3"/>
          <p:cNvSpPr>
            <a:spLocks noGrp="1" noChangeArrowheads="1"/>
          </p:cNvSpPr>
          <p:nvPr>
            <p:ph idx="1"/>
          </p:nvPr>
        </p:nvSpPr>
        <p:spPr/>
        <p:txBody>
          <a:bodyPr>
            <a:normAutofit fontScale="77500" lnSpcReduction="20000"/>
          </a:bodyPr>
          <a:lstStyle/>
          <a:p>
            <a:pPr marL="401320" indent="-401320">
              <a:lnSpc>
                <a:spcPct val="120000"/>
              </a:lnSpc>
              <a:buNone/>
              <a:defRPr/>
            </a:pPr>
            <a:r>
              <a:rPr lang="en-US" altLang="zh-CN" dirty="0"/>
              <a:t>1) </a:t>
            </a:r>
            <a:r>
              <a:rPr lang="zh-CN" altLang="en-US" dirty="0"/>
              <a:t>减少对短期记忆的要求</a:t>
            </a:r>
            <a:endParaRPr lang="zh-CN" altLang="en-US" dirty="0"/>
          </a:p>
          <a:p>
            <a:pPr marL="401320" indent="-401320">
              <a:lnSpc>
                <a:spcPct val="120000"/>
              </a:lnSpc>
              <a:buNone/>
              <a:defRPr/>
            </a:pPr>
            <a:r>
              <a:rPr lang="en-US" altLang="zh-CN" dirty="0"/>
              <a:t>2) </a:t>
            </a:r>
            <a:r>
              <a:rPr lang="zh-CN" altLang="en-US" dirty="0"/>
              <a:t>建立有意义的缺省</a:t>
            </a:r>
            <a:endParaRPr lang="zh-CN" altLang="en-US" dirty="0"/>
          </a:p>
          <a:p>
            <a:pPr marL="401320" indent="-401320">
              <a:lnSpc>
                <a:spcPct val="120000"/>
              </a:lnSpc>
              <a:buNone/>
              <a:defRPr/>
            </a:pPr>
            <a:r>
              <a:rPr lang="en-US" altLang="zh-CN" dirty="0"/>
              <a:t>3) </a:t>
            </a:r>
            <a:r>
              <a:rPr lang="zh-CN" altLang="en-US" dirty="0"/>
              <a:t>定义直觉性的捷径</a:t>
            </a:r>
            <a:endParaRPr lang="en-US" altLang="zh-CN" dirty="0"/>
          </a:p>
          <a:p>
            <a:pPr marL="401320" indent="-401320">
              <a:lnSpc>
                <a:spcPct val="120000"/>
              </a:lnSpc>
              <a:buNone/>
              <a:defRPr/>
            </a:pPr>
            <a:r>
              <a:rPr lang="en-US" altLang="zh-CN" dirty="0"/>
              <a:t>4) </a:t>
            </a:r>
            <a:r>
              <a:rPr lang="zh-CN" altLang="en-US" dirty="0"/>
              <a:t>关键操作有确认提示</a:t>
            </a:r>
            <a:endParaRPr lang="zh-CN" altLang="en-US" dirty="0"/>
          </a:p>
          <a:p>
            <a:pPr marL="401320" indent="-401320">
              <a:lnSpc>
                <a:spcPct val="120000"/>
              </a:lnSpc>
              <a:buNone/>
              <a:defRPr/>
            </a:pPr>
            <a:r>
              <a:rPr lang="en-US" altLang="zh-CN" dirty="0"/>
              <a:t>5) </a:t>
            </a:r>
            <a:r>
              <a:rPr lang="zh-CN" altLang="en-US" dirty="0"/>
              <a:t>界面的视觉布局应该基于真实世界的隐喻</a:t>
            </a:r>
            <a:endParaRPr lang="zh-CN" altLang="en-US" dirty="0"/>
          </a:p>
          <a:p>
            <a:pPr marL="401320" indent="-401320">
              <a:lnSpc>
                <a:spcPct val="120000"/>
              </a:lnSpc>
              <a:buNone/>
              <a:defRPr/>
            </a:pPr>
            <a:r>
              <a:rPr lang="en-US" altLang="zh-CN" dirty="0"/>
              <a:t>6) </a:t>
            </a:r>
            <a:r>
              <a:rPr lang="zh-CN" altLang="en-US" dirty="0"/>
              <a:t>以不断进展的方式揭示信息</a:t>
            </a:r>
            <a:endParaRPr lang="en-US" altLang="zh-CN" dirty="0"/>
          </a:p>
          <a:p>
            <a:pPr marL="401320" indent="-401320">
              <a:lnSpc>
                <a:spcPct val="120000"/>
              </a:lnSpc>
              <a:buNone/>
              <a:defRPr/>
            </a:pPr>
            <a:r>
              <a:rPr lang="en-US" altLang="zh-CN" dirty="0"/>
              <a:t>7) </a:t>
            </a:r>
            <a:r>
              <a:rPr lang="zh-CN" altLang="en-US" dirty="0"/>
              <a:t>使用朴素的语言来表述错误信息，并给出下一步操作提示，必要时给出详细的帮助信息，并协助用户从错误中恢复工作。</a:t>
            </a:r>
            <a:endParaRPr lang="zh-CN" altLang="en-US" dirty="0"/>
          </a:p>
        </p:txBody>
      </p:sp>
      <p:sp>
        <p:nvSpPr>
          <p:cNvPr id="2" name="日期占位符 1"/>
          <p:cNvSpPr>
            <a:spLocks noGrp="1"/>
          </p:cNvSpPr>
          <p:nvPr>
            <p:ph type="dt" sz="half" idx="10"/>
          </p:nvPr>
        </p:nvSpPr>
        <p:spPr/>
        <p:txBody>
          <a:bodyPr/>
          <a:lstStyle/>
          <a:p>
            <a:fld id="{96B9EEB7-5A15-4CF3-B861-8106DDC0F9BF}"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52229" name="灯片编号占位符 5"/>
          <p:cNvSpPr>
            <a:spLocks noGrp="1"/>
          </p:cNvSpPr>
          <p:nvPr>
            <p:ph type="sldNum" sz="quarter" idx="12"/>
          </p:nvPr>
        </p:nvSpPr>
        <p:spPr>
          <a:noFill/>
        </p:spPr>
        <p:txBody>
          <a:bodyPr/>
          <a:lstStyle/>
          <a:p>
            <a:fld id="{6477B18E-F8E3-4274-A42D-82D4D4945601}" type="slidenum">
              <a:rPr lang="en-US" altLang="zh-CN" smtClean="0">
                <a:ea typeface="宋体" panose="02010600030101010101" pitchFamily="2" charset="-122"/>
              </a:rPr>
            </a:fld>
            <a:endParaRPr lang="en-US" altLang="zh-CN">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Rectangle 2"/>
          <p:cNvSpPr>
            <a:spLocks noGrp="1" noChangeArrowheads="1"/>
          </p:cNvSpPr>
          <p:nvPr>
            <p:ph type="title"/>
          </p:nvPr>
        </p:nvSpPr>
        <p:spPr/>
        <p:txBody>
          <a:bodyPr/>
          <a:lstStyle/>
          <a:p>
            <a:pPr eaLnBrk="1" hangingPunct="1">
              <a:defRPr/>
            </a:pPr>
            <a:r>
              <a:rPr lang="en-US" altLang="zh-CN" dirty="0"/>
              <a:t>3. </a:t>
            </a:r>
            <a:r>
              <a:rPr lang="zh-CN" altLang="en-US" dirty="0"/>
              <a:t>保持界面一致 </a:t>
            </a:r>
            <a:endParaRPr lang="zh-CN" altLang="en-US" dirty="0"/>
          </a:p>
        </p:txBody>
      </p:sp>
      <p:sp>
        <p:nvSpPr>
          <p:cNvPr id="53252" name="Rectangle 3"/>
          <p:cNvSpPr>
            <a:spLocks noGrp="1" noChangeArrowheads="1"/>
          </p:cNvSpPr>
          <p:nvPr>
            <p:ph idx="1"/>
          </p:nvPr>
        </p:nvSpPr>
        <p:spPr/>
        <p:txBody>
          <a:bodyPr>
            <a:normAutofit/>
          </a:bodyPr>
          <a:lstStyle/>
          <a:p>
            <a:pPr marL="401320" indent="-401320">
              <a:lnSpc>
                <a:spcPct val="120000"/>
              </a:lnSpc>
              <a:buNone/>
              <a:defRPr/>
            </a:pPr>
            <a:r>
              <a:rPr lang="en-US" altLang="zh-CN" dirty="0"/>
              <a:t>1) </a:t>
            </a:r>
            <a:r>
              <a:rPr lang="zh-CN" altLang="en-US" dirty="0"/>
              <a:t>允许用户将当前任务放在有意义的语境中</a:t>
            </a:r>
            <a:endParaRPr lang="zh-CN" altLang="en-US" dirty="0"/>
          </a:p>
          <a:p>
            <a:pPr marL="401320" indent="-401320">
              <a:lnSpc>
                <a:spcPct val="120000"/>
              </a:lnSpc>
              <a:buNone/>
              <a:defRPr/>
            </a:pPr>
            <a:r>
              <a:rPr lang="en-US" altLang="zh-CN" dirty="0"/>
              <a:t>2) </a:t>
            </a:r>
            <a:r>
              <a:rPr lang="zh-CN" altLang="en-US" dirty="0"/>
              <a:t>在应用系列内保持一致性（操作方法和表示用语）</a:t>
            </a:r>
            <a:endParaRPr lang="zh-CN" altLang="en-US" dirty="0"/>
          </a:p>
          <a:p>
            <a:pPr marL="401320" indent="-401320">
              <a:lnSpc>
                <a:spcPct val="120000"/>
              </a:lnSpc>
              <a:buNone/>
              <a:defRPr/>
            </a:pPr>
            <a:r>
              <a:rPr lang="en-US" altLang="zh-CN" dirty="0"/>
              <a:t>3) </a:t>
            </a:r>
            <a:r>
              <a:rPr lang="zh-CN" altLang="en-US" dirty="0"/>
              <a:t>不要改变用户已经熟悉的用户交互模型</a:t>
            </a:r>
            <a:endParaRPr lang="zh-CN" altLang="en-US" dirty="0"/>
          </a:p>
          <a:p>
            <a:pPr eaLnBrk="1" hangingPunct="1">
              <a:lnSpc>
                <a:spcPct val="120000"/>
              </a:lnSpc>
              <a:defRPr/>
            </a:pPr>
            <a:endParaRPr lang="en-US" altLang="zh-CN" dirty="0"/>
          </a:p>
        </p:txBody>
      </p:sp>
      <p:sp>
        <p:nvSpPr>
          <p:cNvPr id="2" name="日期占位符 1"/>
          <p:cNvSpPr>
            <a:spLocks noGrp="1"/>
          </p:cNvSpPr>
          <p:nvPr>
            <p:ph type="dt" sz="half" idx="10"/>
          </p:nvPr>
        </p:nvSpPr>
        <p:spPr/>
        <p:txBody>
          <a:bodyPr/>
          <a:lstStyle/>
          <a:p>
            <a:fld id="{1DEEEC3F-7322-4078-B2AE-20DD4DD0CBF3}"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53253" name="灯片编号占位符 5"/>
          <p:cNvSpPr>
            <a:spLocks noGrp="1"/>
          </p:cNvSpPr>
          <p:nvPr>
            <p:ph type="sldNum" sz="quarter" idx="12"/>
          </p:nvPr>
        </p:nvSpPr>
        <p:spPr>
          <a:noFill/>
        </p:spPr>
        <p:txBody>
          <a:bodyPr/>
          <a:lstStyle/>
          <a:p>
            <a:fld id="{0999CEDA-6D09-49E7-8CE1-578DABCACB32}" type="slidenum">
              <a:rPr lang="en-US" altLang="zh-CN" smtClean="0">
                <a:ea typeface="宋体" panose="02010600030101010101" pitchFamily="2" charset="-122"/>
              </a:rPr>
            </a:fld>
            <a:endParaRPr lang="en-US" altLang="zh-CN">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尽量保持</a:t>
            </a:r>
            <a:r>
              <a:rPr lang="zh-CN" altLang="en-US" dirty="0" smtClean="0"/>
              <a:t>一致性</a:t>
            </a:r>
            <a:endParaRPr lang="zh-CN" altLang="en-US" dirty="0"/>
          </a:p>
        </p:txBody>
      </p:sp>
      <p:sp>
        <p:nvSpPr>
          <p:cNvPr id="5" name="日期占位符 4"/>
          <p:cNvSpPr>
            <a:spLocks noGrp="1"/>
          </p:cNvSpPr>
          <p:nvPr>
            <p:ph type="dt" sz="half" idx="10"/>
          </p:nvPr>
        </p:nvSpPr>
        <p:spPr/>
        <p:txBody>
          <a:bodyPr/>
          <a:lstStyle/>
          <a:p>
            <a:fld id="{3CEC9FF1-1000-4328-9F1D-1BD84F37B75A}"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5603" name="Text Box 10"/>
          <p:cNvSpPr txBox="1">
            <a:spLocks noChangeArrowheads="1"/>
          </p:cNvSpPr>
          <p:nvPr/>
        </p:nvSpPr>
        <p:spPr bwMode="auto">
          <a:xfrm>
            <a:off x="1114234" y="890741"/>
            <a:ext cx="461665" cy="3673313"/>
          </a:xfrm>
          <a:prstGeom prst="rect">
            <a:avLst/>
          </a:prstGeom>
        </p:spPr>
        <p:style>
          <a:lnRef idx="2">
            <a:schemeClr val="accent1"/>
          </a:lnRef>
          <a:fillRef idx="1">
            <a:schemeClr val="lt1"/>
          </a:fillRef>
          <a:effectRef idx="0">
            <a:schemeClr val="accent1"/>
          </a:effectRef>
          <a:fontRef idx="minor">
            <a:schemeClr val="dk1"/>
          </a:fontRef>
        </p:style>
        <p:txBody>
          <a:bodyPr vert="eaVert" wrap="non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defRPr>
            </a:lvl9pPr>
          </a:lstStyle>
          <a:p>
            <a:r>
              <a:rPr lang="en-US" altLang="zh-CN" b="1" dirty="0">
                <a:latin typeface="+mj-ea"/>
                <a:ea typeface="+mj-ea"/>
              </a:rPr>
              <a:t>Microsoft Office </a:t>
            </a:r>
            <a:r>
              <a:rPr lang="zh-CN" altLang="en-US" b="1" dirty="0">
                <a:latin typeface="+mj-ea"/>
                <a:ea typeface="+mj-ea"/>
              </a:rPr>
              <a:t>系列软件的界面</a:t>
            </a:r>
            <a:endParaRPr lang="zh-CN" altLang="en-US" b="1" dirty="0">
              <a:latin typeface="+mj-ea"/>
              <a:ea typeface="+mj-ea"/>
            </a:endParaRPr>
          </a:p>
        </p:txBody>
      </p:sp>
      <p:pic>
        <p:nvPicPr>
          <p:cNvPr id="25607" name="图片 1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89084" y="828912"/>
            <a:ext cx="6269166" cy="379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5607"/>
                                        </p:tgtEl>
                                        <p:attrNameLst>
                                          <p:attrName>style.visibility</p:attrName>
                                        </p:attrNameLst>
                                      </p:cBhvr>
                                      <p:to>
                                        <p:strVal val="visible"/>
                                      </p:to>
                                    </p:set>
                                    <p:animEffect transition="in" filter="randombar(horizontal)">
                                      <p:cBhvr>
                                        <p:cTn id="7" dur="500"/>
                                        <p:tgtEl>
                                          <p:spTgt spid="25607"/>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5603"/>
                                        </p:tgtEl>
                                        <p:attrNameLst>
                                          <p:attrName>style.visibility</p:attrName>
                                        </p:attrNameLst>
                                      </p:cBhvr>
                                      <p:to>
                                        <p:strVal val="visible"/>
                                      </p:to>
                                    </p:set>
                                    <p:animEffect transition="in" filter="randombar(horizontal)">
                                      <p:cBhvr>
                                        <p:cTn id="10" dur="500"/>
                                        <p:tgtEl>
                                          <p:spTgt spid="256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ldLvl="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为熟练用户提供</a:t>
            </a:r>
            <a:r>
              <a:rPr lang="zh-CN" altLang="en-US" dirty="0" smtClean="0"/>
              <a:t>快捷键</a:t>
            </a:r>
            <a:endParaRPr lang="zh-CN" altLang="en-US" dirty="0"/>
          </a:p>
        </p:txBody>
      </p:sp>
      <p:sp>
        <p:nvSpPr>
          <p:cNvPr id="3" name="日期占位符 2"/>
          <p:cNvSpPr>
            <a:spLocks noGrp="1"/>
          </p:cNvSpPr>
          <p:nvPr>
            <p:ph type="dt" sz="half" idx="10"/>
          </p:nvPr>
        </p:nvSpPr>
        <p:spPr/>
        <p:txBody>
          <a:bodyPr/>
          <a:lstStyle/>
          <a:p>
            <a:fld id="{518BB917-584C-436D-AA95-6A8C5703BF0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graphicFrame>
        <p:nvGraphicFramePr>
          <p:cNvPr id="26627" name="Object 2"/>
          <p:cNvGraphicFramePr>
            <a:graphicFrameLocks noGrp="1" noChangeAspect="1"/>
          </p:cNvGraphicFramePr>
          <p:nvPr>
            <p:ph idx="4294967295"/>
          </p:nvPr>
        </p:nvGraphicFramePr>
        <p:xfrm>
          <a:off x="5643830" y="54557"/>
          <a:ext cx="1873250" cy="4725988"/>
        </p:xfrm>
        <a:graphic>
          <a:graphicData uri="http://schemas.openxmlformats.org/presentationml/2006/ole">
            <mc:AlternateContent xmlns:mc="http://schemas.openxmlformats.org/markup-compatibility/2006">
              <mc:Choice xmlns:v="urn:schemas-microsoft-com:vml" Requires="v">
                <p:oleObj spid="_x0000_s15397" name="Image" r:id="rId1" imgW="2425700" imgH="6121400" progId="Photoshop.Image.8">
                  <p:embed/>
                </p:oleObj>
              </mc:Choice>
              <mc:Fallback>
                <p:oleObj name="Image" r:id="rId1" imgW="2425700" imgH="6121400" progId="Photoshop.Image.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3830" y="54557"/>
                        <a:ext cx="1873250" cy="4725988"/>
                      </a:xfrm>
                      <a:prstGeom prst="rect">
                        <a:avLst/>
                      </a:prstGeom>
                      <a:noFill/>
                      <a:ln>
                        <a:noFill/>
                      </a:ln>
                      <a:effectLst/>
                    </p:spPr>
                  </p:pic>
                </p:oleObj>
              </mc:Fallback>
            </mc:AlternateContent>
          </a:graphicData>
        </a:graphic>
      </p:graphicFrame>
      <p:sp>
        <p:nvSpPr>
          <p:cNvPr id="26628" name="Text Box 6"/>
          <p:cNvSpPr txBox="1">
            <a:spLocks noChangeArrowheads="1"/>
          </p:cNvSpPr>
          <p:nvPr/>
        </p:nvSpPr>
        <p:spPr bwMode="auto">
          <a:xfrm>
            <a:off x="741623" y="2440860"/>
            <a:ext cx="4902207" cy="40011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defRPr>
            </a:lvl9pPr>
          </a:lstStyle>
          <a:p>
            <a:pPr>
              <a:spcBef>
                <a:spcPct val="50000"/>
              </a:spcBef>
            </a:pPr>
            <a:r>
              <a:rPr lang="en-US" altLang="zh-CN" sz="2000" b="1" dirty="0">
                <a:latin typeface="+mj-ea"/>
                <a:ea typeface="+mj-ea"/>
              </a:rPr>
              <a:t>Adobe Photoshop</a:t>
            </a:r>
            <a:r>
              <a:rPr lang="zh-CN" altLang="en-US" sz="2000" b="1" dirty="0">
                <a:latin typeface="+mj-ea"/>
                <a:ea typeface="+mj-ea"/>
              </a:rPr>
              <a:t>中提供的快捷方式</a:t>
            </a:r>
            <a:endParaRPr lang="zh-CN" altLang="en-US" sz="2000" b="1"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randombar(horizontal)">
                                      <p:cBhvr>
                                        <p:cTn id="7" dur="500"/>
                                        <p:tgtEl>
                                          <p:spTgt spid="26628"/>
                                        </p:tgtEl>
                                      </p:cBhvr>
                                    </p:animEffect>
                                  </p:childTnLst>
                                </p:cTn>
                              </p:par>
                              <p:par>
                                <p:cTn id="8" presetID="14" presetClass="entr" presetSubtype="10" fill="hold" nodeType="withEffect">
                                  <p:stCondLst>
                                    <p:cond delay="0"/>
                                  </p:stCondLst>
                                  <p:childTnLst>
                                    <p:set>
                                      <p:cBhvr>
                                        <p:cTn id="9" dur="1" fill="hold">
                                          <p:stCondLst>
                                            <p:cond delay="0"/>
                                          </p:stCondLst>
                                        </p:cTn>
                                        <p:tgtEl>
                                          <p:spTgt spid="26627"/>
                                        </p:tgtEl>
                                        <p:attrNameLst>
                                          <p:attrName>style.visibility</p:attrName>
                                        </p:attrNameLst>
                                      </p:cBhvr>
                                      <p:to>
                                        <p:strVal val="visible"/>
                                      </p:to>
                                    </p:set>
                                    <p:animEffect transition="in" filter="randombar(horizontal)">
                                      <p:cBhvr>
                                        <p:cTn id="10" dur="500"/>
                                        <p:tgtEl>
                                          <p:spTgt spid="26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bldLvl="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为熟练用户提供</a:t>
            </a:r>
            <a:r>
              <a:rPr lang="zh-CN" altLang="en-US" dirty="0" smtClean="0"/>
              <a:t>快捷键</a:t>
            </a:r>
            <a:endParaRPr lang="zh-CN" altLang="en-US" dirty="0"/>
          </a:p>
        </p:txBody>
      </p:sp>
      <p:sp>
        <p:nvSpPr>
          <p:cNvPr id="3" name="日期占位符 2"/>
          <p:cNvSpPr>
            <a:spLocks noGrp="1"/>
          </p:cNvSpPr>
          <p:nvPr>
            <p:ph type="dt" sz="half" idx="10"/>
          </p:nvPr>
        </p:nvSpPr>
        <p:spPr/>
        <p:txBody>
          <a:bodyPr/>
          <a:lstStyle/>
          <a:p>
            <a:fld id="{C684096E-FD1F-4443-BD19-AFD2DA05BD8F}"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39266" name="Picture 2"/>
          <p:cNvPicPr>
            <a:picLocks noChangeAspect="1" noChangeArrowheads="1"/>
          </p:cNvPicPr>
          <p:nvPr/>
        </p:nvPicPr>
        <p:blipFill>
          <a:blip r:embed="rId1"/>
          <a:srcRect/>
          <a:stretch>
            <a:fillRect/>
          </a:stretch>
        </p:blipFill>
        <p:spPr bwMode="auto">
          <a:xfrm>
            <a:off x="914979" y="1521252"/>
            <a:ext cx="7714413" cy="2026259"/>
          </a:xfrm>
          <a:prstGeom prst="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pic>
      <p:sp>
        <p:nvSpPr>
          <p:cNvPr id="27653" name="Text Box 6"/>
          <p:cNvSpPr txBox="1">
            <a:spLocks noChangeArrowheads="1"/>
          </p:cNvSpPr>
          <p:nvPr/>
        </p:nvSpPr>
        <p:spPr bwMode="auto">
          <a:xfrm>
            <a:off x="3169500" y="3760579"/>
            <a:ext cx="2915840" cy="40011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zh-CN" altLang="en-US" sz="2000" b="1" dirty="0">
                <a:latin typeface="+mj-ea"/>
                <a:ea typeface="+mj-ea"/>
              </a:rPr>
              <a:t>网页上提供的反馈</a:t>
            </a:r>
            <a:endParaRPr lang="zh-CN" altLang="en-US" sz="2000" b="1"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39266"/>
                                        </p:tgtEl>
                                        <p:attrNameLst>
                                          <p:attrName>style.visibility</p:attrName>
                                        </p:attrNameLst>
                                      </p:cBhvr>
                                      <p:to>
                                        <p:strVal val="visible"/>
                                      </p:to>
                                    </p:set>
                                    <p:animEffect transition="in" filter="randombar(horizontal)">
                                      <p:cBhvr>
                                        <p:cTn id="7" dur="500"/>
                                        <p:tgtEl>
                                          <p:spTgt spid="139266"/>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7653"/>
                                        </p:tgtEl>
                                        <p:attrNameLst>
                                          <p:attrName>style.visibility</p:attrName>
                                        </p:attrNameLst>
                                      </p:cBhvr>
                                      <p:to>
                                        <p:strVal val="visible"/>
                                      </p:to>
                                    </p:set>
                                    <p:animEffect transition="in" filter="randombar(horizontal)">
                                      <p:cBhvr>
                                        <p:cTn id="10" dur="500"/>
                                        <p:tgtEl>
                                          <p:spTgt spid="27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bldLvl="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设计完整的对话</a:t>
            </a:r>
            <a:r>
              <a:rPr lang="zh-CN" altLang="en-US" dirty="0" smtClean="0"/>
              <a:t>过程</a:t>
            </a:r>
            <a:endParaRPr lang="zh-CN" altLang="en-US" dirty="0"/>
          </a:p>
        </p:txBody>
      </p:sp>
      <p:sp>
        <p:nvSpPr>
          <p:cNvPr id="3" name="日期占位符 2"/>
          <p:cNvSpPr>
            <a:spLocks noGrp="1"/>
          </p:cNvSpPr>
          <p:nvPr>
            <p:ph type="dt" sz="half" idx="10"/>
          </p:nvPr>
        </p:nvSpPr>
        <p:spPr/>
        <p:txBody>
          <a:bodyPr/>
          <a:lstStyle/>
          <a:p>
            <a:fld id="{3C2594BA-60B7-47C2-9247-D63B317CEBF0}"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28676" name="Picture 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13374" y="934564"/>
            <a:ext cx="6386513"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8676"/>
                                        </p:tgtEl>
                                        <p:attrNameLst>
                                          <p:attrName>style.visibility</p:attrName>
                                        </p:attrNameLst>
                                      </p:cBhvr>
                                      <p:to>
                                        <p:strVal val="visible"/>
                                      </p:to>
                                    </p:set>
                                    <p:animEffect transition="in" filter="randombar(horizontal)">
                                      <p:cBhvr>
                                        <p:cTn id="7" dur="500"/>
                                        <p:tgtEl>
                                          <p:spTgt spid="28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提供简单的错误处理</a:t>
            </a:r>
            <a:r>
              <a:rPr lang="zh-CN" altLang="en-US" dirty="0" smtClean="0"/>
              <a:t>机制</a:t>
            </a:r>
            <a:endParaRPr lang="zh-CN" altLang="en-US" dirty="0"/>
          </a:p>
        </p:txBody>
      </p:sp>
      <p:sp>
        <p:nvSpPr>
          <p:cNvPr id="3" name="日期占位符 2"/>
          <p:cNvSpPr>
            <a:spLocks noGrp="1"/>
          </p:cNvSpPr>
          <p:nvPr>
            <p:ph type="dt" sz="half" idx="10"/>
          </p:nvPr>
        </p:nvSpPr>
        <p:spPr/>
        <p:txBody>
          <a:bodyPr/>
          <a:lstStyle/>
          <a:p>
            <a:fld id="{54A8CAC1-FBED-4D2F-BD33-270DFA65AA02}"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9699" name="Text Box 9"/>
          <p:cNvSpPr txBox="1">
            <a:spLocks noChangeArrowheads="1"/>
          </p:cNvSpPr>
          <p:nvPr/>
        </p:nvSpPr>
        <p:spPr bwMode="auto">
          <a:xfrm>
            <a:off x="2741653" y="4254198"/>
            <a:ext cx="2538413" cy="400110"/>
          </a:xfrm>
          <a:prstGeom prst="rect">
            <a:avLst/>
          </a:prstGeom>
          <a:solidFill>
            <a:schemeClr val="bg1"/>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Times New Roman" panose="02020603050405020304" pitchFamily="18" charset="0"/>
              </a:defRPr>
            </a:lvl1pPr>
            <a:lvl2pPr marL="742950" indent="-285750">
              <a:defRPr>
                <a:solidFill>
                  <a:schemeClr val="tx1"/>
                </a:solidFill>
                <a:latin typeface="Times New Roman" panose="02020603050405020304" pitchFamily="18" charset="0"/>
              </a:defRPr>
            </a:lvl2pPr>
            <a:lvl3pPr marL="1143000" indent="-228600">
              <a:defRPr>
                <a:solidFill>
                  <a:schemeClr val="tx1"/>
                </a:solidFill>
                <a:latin typeface="Times New Roman" panose="02020603050405020304" pitchFamily="18" charset="0"/>
              </a:defRPr>
            </a:lvl3pPr>
            <a:lvl4pPr marL="1600200" indent="-228600">
              <a:defRPr>
                <a:solidFill>
                  <a:schemeClr val="tx1"/>
                </a:solidFill>
                <a:latin typeface="Times New Roman" panose="02020603050405020304" pitchFamily="18" charset="0"/>
              </a:defRPr>
            </a:lvl4pPr>
            <a:lvl5pPr marL="2057400" indent="-228600">
              <a:defRPr>
                <a:solidFill>
                  <a:schemeClr val="tx1"/>
                </a:solidFill>
                <a:latin typeface="Times New Roman" panose="02020603050405020304" pitchFamily="18" charset="0"/>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defRPr>
            </a:lvl9pPr>
          </a:lstStyle>
          <a:p>
            <a:pPr algn="ctr">
              <a:spcBef>
                <a:spcPct val="50000"/>
              </a:spcBef>
            </a:pPr>
            <a:r>
              <a:rPr lang="en-US" altLang="zh-CN" sz="2000" b="1" dirty="0">
                <a:latin typeface="+mj-ea"/>
                <a:ea typeface="+mj-ea"/>
              </a:rPr>
              <a:t>QQ</a:t>
            </a:r>
            <a:r>
              <a:rPr lang="zh-CN" altLang="en-US" sz="2000" b="1" dirty="0">
                <a:latin typeface="+mj-ea"/>
                <a:ea typeface="+mj-ea"/>
              </a:rPr>
              <a:t>错误提示界面</a:t>
            </a:r>
            <a:endParaRPr lang="zh-CN" altLang="en-US" sz="2000" b="1" dirty="0">
              <a:latin typeface="+mj-ea"/>
              <a:ea typeface="+mj-ea"/>
            </a:endParaRPr>
          </a:p>
        </p:txBody>
      </p:sp>
      <p:pic>
        <p:nvPicPr>
          <p:cNvPr id="29702" name="图片 2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54507" y="828913"/>
            <a:ext cx="5742269" cy="3174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9702"/>
                                        </p:tgtEl>
                                        <p:attrNameLst>
                                          <p:attrName>style.visibility</p:attrName>
                                        </p:attrNameLst>
                                      </p:cBhvr>
                                      <p:to>
                                        <p:strVal val="visible"/>
                                      </p:to>
                                    </p:set>
                                    <p:animEffect transition="in" filter="randombar(horizontal)">
                                      <p:cBhvr>
                                        <p:cTn id="7" dur="500"/>
                                        <p:tgtEl>
                                          <p:spTgt spid="2970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9699"/>
                                        </p:tgtEl>
                                        <p:attrNameLst>
                                          <p:attrName>style.visibility</p:attrName>
                                        </p:attrNameLst>
                                      </p:cBhvr>
                                      <p:to>
                                        <p:strVal val="visible"/>
                                      </p:to>
                                    </p:set>
                                    <p:animEffect transition="in" filter="randombar(horizontal)">
                                      <p:cBhvr>
                                        <p:cTn id="10" dur="500"/>
                                        <p:tgtEl>
                                          <p:spTgt spid="296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ldLvl="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允许撤销</a:t>
            </a:r>
            <a:r>
              <a:rPr lang="zh-CN" altLang="en-US" dirty="0" smtClean="0"/>
              <a:t>动作</a:t>
            </a:r>
            <a:endParaRPr lang="zh-CN" altLang="en-US" dirty="0"/>
          </a:p>
        </p:txBody>
      </p:sp>
      <p:sp>
        <p:nvSpPr>
          <p:cNvPr id="3" name="日期占位符 2"/>
          <p:cNvSpPr>
            <a:spLocks noGrp="1"/>
          </p:cNvSpPr>
          <p:nvPr>
            <p:ph type="dt" sz="half" idx="10"/>
          </p:nvPr>
        </p:nvSpPr>
        <p:spPr/>
        <p:txBody>
          <a:bodyPr/>
          <a:lstStyle/>
          <a:p>
            <a:fld id="{B32B951F-B81B-4B89-AED4-E0BEC411CED8}"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3072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2376" y="603282"/>
            <a:ext cx="5327585" cy="4041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0724"/>
                                        </p:tgtEl>
                                        <p:attrNameLst>
                                          <p:attrName>style.visibility</p:attrName>
                                        </p:attrNameLst>
                                      </p:cBhvr>
                                      <p:to>
                                        <p:strVal val="visible"/>
                                      </p:to>
                                    </p:set>
                                    <p:animEffect transition="in" filter="randombar(horizontal)">
                                      <p:cBhvr>
                                        <p:cTn id="7" dur="500"/>
                                        <p:tgtEl>
                                          <p:spTgt spid="30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提供控制的内部</a:t>
            </a:r>
            <a:r>
              <a:rPr lang="zh-CN" altLang="en-US" dirty="0" smtClean="0"/>
              <a:t>轨迹</a:t>
            </a:r>
            <a:endParaRPr lang="zh-CN" altLang="en-US" dirty="0"/>
          </a:p>
        </p:txBody>
      </p:sp>
      <p:sp>
        <p:nvSpPr>
          <p:cNvPr id="3" name="日期占位符 2"/>
          <p:cNvSpPr>
            <a:spLocks noGrp="1"/>
          </p:cNvSpPr>
          <p:nvPr>
            <p:ph type="dt" sz="half" idx="10"/>
          </p:nvPr>
        </p:nvSpPr>
        <p:spPr/>
        <p:txBody>
          <a:bodyPr/>
          <a:lstStyle/>
          <a:p>
            <a:fld id="{B19CD436-2A45-47AF-A982-00DE39124ED9}"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31748"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68449" y="693521"/>
            <a:ext cx="5325973" cy="4040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1748"/>
                                        </p:tgtEl>
                                        <p:attrNameLst>
                                          <p:attrName>style.visibility</p:attrName>
                                        </p:attrNameLst>
                                      </p:cBhvr>
                                      <p:to>
                                        <p:strVal val="visible"/>
                                      </p:to>
                                    </p:set>
                                    <p:animEffect transition="in" filter="randombar(horizontal)">
                                      <p:cBhvr>
                                        <p:cTn id="7" dur="500"/>
                                        <p:tgtEl>
                                          <p:spTgt spid="317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减少短期记忆</a:t>
            </a:r>
            <a:r>
              <a:rPr lang="zh-CN" altLang="en-US" dirty="0" smtClean="0"/>
              <a:t>负担</a:t>
            </a:r>
            <a:endParaRPr lang="zh-CN" altLang="en-US" dirty="0"/>
          </a:p>
        </p:txBody>
      </p:sp>
      <p:sp>
        <p:nvSpPr>
          <p:cNvPr id="3" name="日期占位符 2"/>
          <p:cNvSpPr>
            <a:spLocks noGrp="1"/>
          </p:cNvSpPr>
          <p:nvPr>
            <p:ph type="dt" sz="half" idx="10"/>
          </p:nvPr>
        </p:nvSpPr>
        <p:spPr/>
        <p:txBody>
          <a:bodyPr/>
          <a:lstStyle/>
          <a:p>
            <a:fld id="{625659D5-86C6-4ADC-B30B-FE8A230826B2}" type="datetime1">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594948" name="Text Box 4"/>
          <p:cNvSpPr txBox="1">
            <a:spLocks noChangeArrowheads="1"/>
          </p:cNvSpPr>
          <p:nvPr/>
        </p:nvSpPr>
        <p:spPr bwMode="auto">
          <a:xfrm>
            <a:off x="2689232" y="4039421"/>
            <a:ext cx="3257322" cy="400110"/>
          </a:xfrm>
          <a:prstGeom prst="rect">
            <a:avLst/>
          </a:prstGeom>
          <a:solidFill>
            <a:schemeClr val="bg1"/>
          </a:solidFill>
          <a:ln w="9525">
            <a:noFill/>
            <a:miter lim="800000"/>
          </a:ln>
          <a:effectLst>
            <a:outerShdw dist="35921" dir="2700000" algn="ctr" rotWithShape="0">
              <a:schemeClr val="bg2"/>
            </a:outerShdw>
          </a:effectLst>
        </p:spPr>
        <p:txBody>
          <a:bodyPr wrap="square">
            <a:spAutoFit/>
          </a:bodyPr>
          <a:lstStyle/>
          <a:p>
            <a:pPr algn="ctr">
              <a:spcBef>
                <a:spcPct val="50000"/>
              </a:spcBef>
              <a:defRPr/>
            </a:pPr>
            <a:r>
              <a:rPr lang="zh-CN" altLang="en-US" sz="2000" b="1" kern="100" dirty="0">
                <a:solidFill>
                  <a:srgbClr val="000000"/>
                </a:solidFill>
                <a:latin typeface="+mj-ea"/>
                <a:ea typeface="+mj-ea"/>
              </a:rPr>
              <a:t>微软</a:t>
            </a:r>
            <a:r>
              <a:rPr lang="en-US" altLang="zh-CN" sz="2000" b="1" kern="100" dirty="0">
                <a:solidFill>
                  <a:srgbClr val="000000"/>
                </a:solidFill>
                <a:latin typeface="+mj-ea"/>
                <a:ea typeface="+mj-ea"/>
              </a:rPr>
              <a:t>Project</a:t>
            </a:r>
            <a:r>
              <a:rPr lang="zh-CN" altLang="en-US" sz="2000" b="1" kern="100" dirty="0">
                <a:solidFill>
                  <a:srgbClr val="000000"/>
                </a:solidFill>
                <a:latin typeface="+mj-ea"/>
                <a:ea typeface="+mj-ea"/>
              </a:rPr>
              <a:t>界面</a:t>
            </a:r>
            <a:endParaRPr lang="zh-CN" altLang="en-US" sz="2000" b="1" dirty="0">
              <a:solidFill>
                <a:srgbClr val="000000"/>
              </a:solidFill>
              <a:effectLst>
                <a:outerShdw blurRad="38100" dist="38100" dir="2700000" algn="tl">
                  <a:srgbClr val="C0C0C0"/>
                </a:outerShdw>
              </a:effectLst>
              <a:latin typeface="+mj-ea"/>
              <a:ea typeface="+mj-ea"/>
            </a:endParaRPr>
          </a:p>
        </p:txBody>
      </p:sp>
      <p:pic>
        <p:nvPicPr>
          <p:cNvPr id="32773" name="图片 3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7672" y="1152084"/>
            <a:ext cx="5820442" cy="2622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2773"/>
                                        </p:tgtEl>
                                        <p:attrNameLst>
                                          <p:attrName>style.visibility</p:attrName>
                                        </p:attrNameLst>
                                      </p:cBhvr>
                                      <p:to>
                                        <p:strVal val="visible"/>
                                      </p:to>
                                    </p:set>
                                    <p:animEffect transition="in" filter="randombar(horizontal)">
                                      <p:cBhvr>
                                        <p:cTn id="7" dur="500"/>
                                        <p:tgtEl>
                                          <p:spTgt spid="3277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594948"/>
                                        </p:tgtEl>
                                        <p:attrNameLst>
                                          <p:attrName>style.visibility</p:attrName>
                                        </p:attrNameLst>
                                      </p:cBhvr>
                                      <p:to>
                                        <p:strVal val="visible"/>
                                      </p:to>
                                    </p:set>
                                    <p:animEffect transition="in" filter="randombar(horizontal)">
                                      <p:cBhvr>
                                        <p:cTn id="10" dur="500"/>
                                        <p:tgtEl>
                                          <p:spTgt spid="5949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948" grpId="0" bldLvl="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p:nvPr>
        </p:nvSpPr>
        <p:spPr/>
        <p:txBody>
          <a:bodyPr/>
          <a:lstStyle/>
          <a:p>
            <a:r>
              <a:rPr lang="zh-CN" altLang="en-US" dirty="0"/>
              <a:t>看一些例子</a:t>
            </a:r>
            <a:endParaRPr lang="zh-CN" altLang="en-US" dirty="0"/>
          </a:p>
        </p:txBody>
      </p:sp>
      <p:sp>
        <p:nvSpPr>
          <p:cNvPr id="205827" name="Rectangle 3"/>
          <p:cNvSpPr>
            <a:spLocks noGrp="1" noChangeArrowheads="1"/>
          </p:cNvSpPr>
          <p:nvPr>
            <p:ph idx="1"/>
          </p:nvPr>
        </p:nvSpPr>
        <p:spPr/>
        <p:txBody>
          <a:bodyPr>
            <a:normAutofit/>
          </a:bodyPr>
          <a:lstStyle/>
          <a:p>
            <a:r>
              <a:rPr lang="zh-CN" altLang="en-US" sz="2400" dirty="0"/>
              <a:t>例子</a:t>
            </a:r>
            <a:r>
              <a:rPr lang="en-US" altLang="zh-CN" sz="2400" dirty="0"/>
              <a:t>1</a:t>
            </a:r>
            <a:r>
              <a:rPr lang="zh-CN" altLang="en-US" sz="2400" dirty="0"/>
              <a:t>：对比同一界面的以下两种不同设计，然后说出哪种要好一些？</a:t>
            </a:r>
            <a:endParaRPr lang="zh-CN" altLang="en-US" sz="2400" dirty="0"/>
          </a:p>
        </p:txBody>
      </p:sp>
      <p:sp>
        <p:nvSpPr>
          <p:cNvPr id="2" name="日期占位符 1"/>
          <p:cNvSpPr>
            <a:spLocks noGrp="1"/>
          </p:cNvSpPr>
          <p:nvPr>
            <p:ph type="dt" sz="half" idx="10"/>
          </p:nvPr>
        </p:nvSpPr>
        <p:spPr/>
        <p:txBody>
          <a:bodyPr/>
          <a:lstStyle/>
          <a:p>
            <a:fld id="{FBEECECB-4159-4910-913E-25F819D3E18E}"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10" name="Picture 2" descr="4-GUI1"/>
          <p:cNvPicPr>
            <a:picLocks noChangeAspect="1" noChangeArrowheads="1"/>
          </p:cNvPicPr>
          <p:nvPr/>
        </p:nvPicPr>
        <p:blipFill>
          <a:blip r:embed="rId1" cstate="print"/>
          <a:srcRect/>
          <a:stretch>
            <a:fillRect/>
          </a:stretch>
        </p:blipFill>
        <p:spPr bwMode="auto">
          <a:xfrm>
            <a:off x="1143000" y="1908967"/>
            <a:ext cx="3263081" cy="2596503"/>
          </a:xfrm>
          <a:prstGeom prst="rect">
            <a:avLst/>
          </a:prstGeom>
          <a:noFill/>
        </p:spPr>
      </p:pic>
      <p:pic>
        <p:nvPicPr>
          <p:cNvPr id="11" name="Picture 2" descr="4-GUI2"/>
          <p:cNvPicPr>
            <a:picLocks noChangeAspect="1" noChangeArrowheads="1"/>
          </p:cNvPicPr>
          <p:nvPr/>
        </p:nvPicPr>
        <p:blipFill>
          <a:blip r:embed="rId2" cstate="print"/>
          <a:srcRect/>
          <a:stretch>
            <a:fillRect/>
          </a:stretch>
        </p:blipFill>
        <p:spPr bwMode="auto">
          <a:xfrm>
            <a:off x="4483510" y="1908967"/>
            <a:ext cx="3517490" cy="2597894"/>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例子</a:t>
            </a:r>
            <a:r>
              <a:rPr lang="en-US" altLang="zh-CN" dirty="0"/>
              <a:t>2</a:t>
            </a:r>
            <a:endParaRPr lang="zh-CN" altLang="en-US" dirty="0"/>
          </a:p>
        </p:txBody>
      </p:sp>
      <p:pic>
        <p:nvPicPr>
          <p:cNvPr id="144385" name="Picture 1" descr="C:\Users\QIU\AppData\Roaming\Tencent\Users\94476468\QQ\WinTemp\RichOle\L8%]_)({FREUUW8M(9}VEIL.png"/>
          <p:cNvPicPr>
            <a:picLocks noChangeAspect="1" noChangeArrowheads="1"/>
          </p:cNvPicPr>
          <p:nvPr/>
        </p:nvPicPr>
        <p:blipFill>
          <a:blip r:embed="rId1"/>
          <a:srcRect/>
          <a:stretch>
            <a:fillRect/>
          </a:stretch>
        </p:blipFill>
        <p:spPr bwMode="auto">
          <a:xfrm>
            <a:off x="1272347" y="935982"/>
            <a:ext cx="7087881" cy="3517291"/>
          </a:xfrm>
          <a:prstGeom prst="rect">
            <a:avLst/>
          </a:prstGeom>
          <a:noFill/>
        </p:spPr>
      </p:pic>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fld id="{C0DB4BD8-CE92-4969-B75E-0DF4138482A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更好的设计</a:t>
            </a:r>
            <a:endParaRPr lang="zh-CN" altLang="en-US" dirty="0"/>
          </a:p>
        </p:txBody>
      </p:sp>
      <p:pic>
        <p:nvPicPr>
          <p:cNvPr id="145409" name="Picture 1" descr="C:\Users\QIU\AppData\Roaming\Tencent\Users\94476468\QQ\WinTemp\RichOle\[GT}W6_L@A)M(~81P6R1RWL.png"/>
          <p:cNvPicPr>
            <a:picLocks noChangeAspect="1" noChangeArrowheads="1"/>
          </p:cNvPicPr>
          <p:nvPr/>
        </p:nvPicPr>
        <p:blipFill>
          <a:blip r:embed="rId1"/>
          <a:srcRect/>
          <a:stretch>
            <a:fillRect/>
          </a:stretch>
        </p:blipFill>
        <p:spPr bwMode="auto">
          <a:xfrm>
            <a:off x="1697003" y="828913"/>
            <a:ext cx="5609341" cy="964413"/>
          </a:xfrm>
          <a:prstGeom prst="rect">
            <a:avLst/>
          </a:prstGeom>
          <a:noFill/>
        </p:spPr>
      </p:pic>
      <p:pic>
        <p:nvPicPr>
          <p:cNvPr id="145410" name="Picture 2" descr="C:\Users\QIU\AppData\Roaming\Tencent\Users\94476468\QQ\WinTemp\RichOle\YR)YZ4R6K1KU~]OU5WK3QO6.png"/>
          <p:cNvPicPr>
            <a:picLocks noChangeAspect="1" noChangeArrowheads="1"/>
          </p:cNvPicPr>
          <p:nvPr/>
        </p:nvPicPr>
        <p:blipFill>
          <a:blip r:embed="rId2"/>
          <a:srcRect/>
          <a:stretch>
            <a:fillRect/>
          </a:stretch>
        </p:blipFill>
        <p:spPr bwMode="auto">
          <a:xfrm>
            <a:off x="1697003" y="1885138"/>
            <a:ext cx="5609342" cy="2794406"/>
          </a:xfrm>
          <a:prstGeom prst="rect">
            <a:avLst/>
          </a:prstGeom>
          <a:noFill/>
        </p:spPr>
      </p:pic>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fld id="{8459FB49-3B12-4DD3-8D27-52CACACAD1A6}"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5409"/>
                                        </p:tgtEl>
                                        <p:attrNameLst>
                                          <p:attrName>style.visibility</p:attrName>
                                        </p:attrNameLst>
                                      </p:cBhvr>
                                      <p:to>
                                        <p:strVal val="visible"/>
                                      </p:to>
                                    </p:set>
                                    <p:anim calcmode="lin" valueType="num">
                                      <p:cBhvr additive="base">
                                        <p:cTn id="7" dur="500" fill="hold"/>
                                        <p:tgtEl>
                                          <p:spTgt spid="145409"/>
                                        </p:tgtEl>
                                        <p:attrNameLst>
                                          <p:attrName>ppt_x</p:attrName>
                                        </p:attrNameLst>
                                      </p:cBhvr>
                                      <p:tavLst>
                                        <p:tav tm="0">
                                          <p:val>
                                            <p:strVal val="#ppt_x"/>
                                          </p:val>
                                        </p:tav>
                                        <p:tav tm="100000">
                                          <p:val>
                                            <p:strVal val="#ppt_x"/>
                                          </p:val>
                                        </p:tav>
                                      </p:tavLst>
                                    </p:anim>
                                    <p:anim calcmode="lin" valueType="num">
                                      <p:cBhvr additive="base">
                                        <p:cTn id="8" dur="500" fill="hold"/>
                                        <p:tgtEl>
                                          <p:spTgt spid="14540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145410"/>
                                        </p:tgtEl>
                                        <p:attrNameLst>
                                          <p:attrName>style.visibility</p:attrName>
                                        </p:attrNameLst>
                                      </p:cBhvr>
                                      <p:to>
                                        <p:strVal val="visible"/>
                                      </p:to>
                                    </p:set>
                                    <p:animEffect transition="in" filter="box(in)">
                                      <p:cBhvr>
                                        <p:cTn id="13" dur="500"/>
                                        <p:tgtEl>
                                          <p:spTgt spid="145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例子</a:t>
            </a:r>
            <a:r>
              <a:rPr lang="en-US" altLang="zh-CN" dirty="0"/>
              <a:t>3</a:t>
            </a:r>
            <a:endParaRPr lang="zh-CN" altLang="en-US" dirty="0"/>
          </a:p>
        </p:txBody>
      </p:sp>
      <p:pic>
        <p:nvPicPr>
          <p:cNvPr id="149505" name="Picture 1" descr="C:\Users\QIU\AppData\Roaming\Tencent\Users\94476468\QQ\WinTemp\RichOle\V2%3N%J75RO$ZF2NB19JPXP.png"/>
          <p:cNvPicPr>
            <a:picLocks noChangeAspect="1" noChangeArrowheads="1"/>
          </p:cNvPicPr>
          <p:nvPr/>
        </p:nvPicPr>
        <p:blipFill>
          <a:blip r:embed="rId1"/>
          <a:srcRect/>
          <a:stretch>
            <a:fillRect/>
          </a:stretch>
        </p:blipFill>
        <p:spPr bwMode="auto">
          <a:xfrm>
            <a:off x="1362736" y="835896"/>
            <a:ext cx="3053159" cy="2857999"/>
          </a:xfrm>
          <a:prstGeom prst="rect">
            <a:avLst/>
          </a:prstGeom>
          <a:noFill/>
        </p:spPr>
      </p:pic>
      <p:pic>
        <p:nvPicPr>
          <p:cNvPr id="5" name="Picture 1" descr="C:\Users\QIU\AppData\Roaming\Tencent\Users\94476468\QQ\WinTemp\RichOle\)HG}XYX~TD~{%{BGF[G5E{I.png"/>
          <p:cNvPicPr>
            <a:picLocks noChangeAspect="1" noChangeArrowheads="1"/>
          </p:cNvPicPr>
          <p:nvPr/>
        </p:nvPicPr>
        <p:blipFill>
          <a:blip r:embed="rId2"/>
          <a:srcRect/>
          <a:stretch>
            <a:fillRect/>
          </a:stretch>
        </p:blipFill>
        <p:spPr bwMode="auto">
          <a:xfrm>
            <a:off x="2313996" y="3759496"/>
            <a:ext cx="4653871" cy="1093532"/>
          </a:xfrm>
          <a:prstGeom prst="rect">
            <a:avLst/>
          </a:prstGeom>
          <a:noFill/>
        </p:spPr>
      </p:pic>
      <p:pic>
        <p:nvPicPr>
          <p:cNvPr id="6" name="Picture 2" descr="C:\Users\QIU\AppData\Roaming\Tencent\Users\94476468\QQ\WinTemp\RichOle\{%{0RUX(WGL8UBY64RS9Z7C.png"/>
          <p:cNvPicPr>
            <a:picLocks noChangeAspect="1" noChangeArrowheads="1"/>
          </p:cNvPicPr>
          <p:nvPr/>
        </p:nvPicPr>
        <p:blipFill>
          <a:blip r:embed="rId3"/>
          <a:srcRect/>
          <a:stretch>
            <a:fillRect/>
          </a:stretch>
        </p:blipFill>
        <p:spPr bwMode="auto">
          <a:xfrm>
            <a:off x="4640931" y="835895"/>
            <a:ext cx="3311137" cy="2858000"/>
          </a:xfrm>
          <a:prstGeom prst="rect">
            <a:avLst/>
          </a:prstGeom>
          <a:noFill/>
        </p:spPr>
      </p:pic>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fld id="{2E1C01A1-1EAA-490B-940D-D6476B6B53D1}"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ntr" presetSubtype="16"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amond(in)">
                                      <p:cBhvr>
                                        <p:cTn id="1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例子</a:t>
            </a:r>
            <a:r>
              <a:rPr lang="en-US" altLang="zh-CN" dirty="0"/>
              <a:t>4</a:t>
            </a:r>
            <a:endParaRPr lang="zh-CN" altLang="en-US" dirty="0"/>
          </a:p>
        </p:txBody>
      </p:sp>
      <p:pic>
        <p:nvPicPr>
          <p:cNvPr id="147457" name="Picture 1" descr="C:\Users\QIU\AppData\Roaming\Tencent\Users\94476468\QQ\WinTemp\RichOle\WBL37R~RSY_]W@0[]QV8{%N.png"/>
          <p:cNvPicPr>
            <a:picLocks noChangeAspect="1" noChangeArrowheads="1"/>
          </p:cNvPicPr>
          <p:nvPr/>
        </p:nvPicPr>
        <p:blipFill>
          <a:blip r:embed="rId1"/>
          <a:srcRect/>
          <a:stretch>
            <a:fillRect/>
          </a:stretch>
        </p:blipFill>
        <p:spPr bwMode="auto">
          <a:xfrm>
            <a:off x="2345558" y="908371"/>
            <a:ext cx="4121042" cy="2395259"/>
          </a:xfrm>
          <a:prstGeom prst="rect">
            <a:avLst/>
          </a:prstGeom>
          <a:noFill/>
        </p:spPr>
      </p:pic>
      <p:pic>
        <p:nvPicPr>
          <p:cNvPr id="147458" name="Picture 2" descr="C:\Users\QIU\AppData\Roaming\Tencent\Users\94476468\QQ\WinTemp\RichOle\43KF@_UEKU@L[[(CMI`D}3A.png"/>
          <p:cNvPicPr>
            <a:picLocks noChangeAspect="1" noChangeArrowheads="1"/>
          </p:cNvPicPr>
          <p:nvPr/>
        </p:nvPicPr>
        <p:blipFill>
          <a:blip r:embed="rId2"/>
          <a:srcRect/>
          <a:stretch>
            <a:fillRect/>
          </a:stretch>
        </p:blipFill>
        <p:spPr bwMode="auto">
          <a:xfrm>
            <a:off x="3205031" y="3383088"/>
            <a:ext cx="2650331" cy="1228725"/>
          </a:xfrm>
          <a:prstGeom prst="rect">
            <a:avLst/>
          </a:prstGeom>
          <a:noFill/>
        </p:spPr>
      </p:pic>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fld id="{12BCB571-384E-48C1-B95A-1AD8773FF67E}"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7458"/>
                                        </p:tgtEl>
                                        <p:attrNameLst>
                                          <p:attrName>style.visibility</p:attrName>
                                        </p:attrNameLst>
                                      </p:cBhvr>
                                      <p:to>
                                        <p:strVal val="visible"/>
                                      </p:to>
                                    </p:set>
                                    <p:anim calcmode="lin" valueType="num">
                                      <p:cBhvr additive="base">
                                        <p:cTn id="7" dur="500" fill="hold"/>
                                        <p:tgtEl>
                                          <p:spTgt spid="147458"/>
                                        </p:tgtEl>
                                        <p:attrNameLst>
                                          <p:attrName>ppt_x</p:attrName>
                                        </p:attrNameLst>
                                      </p:cBhvr>
                                      <p:tavLst>
                                        <p:tav tm="0">
                                          <p:val>
                                            <p:strVal val="#ppt_x"/>
                                          </p:val>
                                        </p:tav>
                                        <p:tav tm="100000">
                                          <p:val>
                                            <p:strVal val="#ppt_x"/>
                                          </p:val>
                                        </p:tav>
                                      </p:tavLst>
                                    </p:anim>
                                    <p:anim calcmode="lin" valueType="num">
                                      <p:cBhvr additive="base">
                                        <p:cTn id="8" dur="500" fill="hold"/>
                                        <p:tgtEl>
                                          <p:spTgt spid="1474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例子</a:t>
            </a:r>
            <a:r>
              <a:rPr lang="en-US" altLang="zh-CN" dirty="0"/>
              <a:t>5</a:t>
            </a:r>
            <a:endParaRPr lang="zh-CN" altLang="en-US" dirty="0"/>
          </a:p>
        </p:txBody>
      </p:sp>
      <p:pic>
        <p:nvPicPr>
          <p:cNvPr id="150529" name="Picture 1" descr="C:\Users\QIU\AppData\Roaming\Tencent\Users\94476468\QQ\WinTemp\RichOle\R`Y6TA%%H5]5TI@[%{4R4]K.png"/>
          <p:cNvPicPr>
            <a:picLocks noChangeAspect="1" noChangeArrowheads="1"/>
          </p:cNvPicPr>
          <p:nvPr/>
        </p:nvPicPr>
        <p:blipFill>
          <a:blip r:embed="rId1"/>
          <a:srcRect/>
          <a:stretch>
            <a:fillRect/>
          </a:stretch>
        </p:blipFill>
        <p:spPr bwMode="auto">
          <a:xfrm>
            <a:off x="1632511" y="1116282"/>
            <a:ext cx="5878978" cy="3241868"/>
          </a:xfrm>
          <a:prstGeom prst="rect">
            <a:avLst/>
          </a:prstGeom>
          <a:noFill/>
        </p:spPr>
      </p:pic>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2" name="日期占位符 1"/>
          <p:cNvSpPr>
            <a:spLocks noGrp="1"/>
          </p:cNvSpPr>
          <p:nvPr>
            <p:ph type="dt" sz="half" idx="10"/>
          </p:nvPr>
        </p:nvSpPr>
        <p:spPr/>
        <p:txBody>
          <a:bodyPr/>
          <a:lstStyle/>
          <a:p>
            <a:fld id="{3636A6E7-F9CB-49A4-9903-AD00ACE561E8}"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例子</a:t>
            </a:r>
            <a:r>
              <a:rPr lang="en-US" altLang="zh-CN" dirty="0"/>
              <a:t>6</a:t>
            </a:r>
            <a:endParaRPr lang="zh-CN" altLang="en-US" dirty="0"/>
          </a:p>
        </p:txBody>
      </p:sp>
      <p:sp>
        <p:nvSpPr>
          <p:cNvPr id="2" name="内容占位符 1"/>
          <p:cNvSpPr>
            <a:spLocks noGrp="1"/>
          </p:cNvSpPr>
          <p:nvPr>
            <p:ph idx="1"/>
          </p:nvPr>
        </p:nvSpPr>
        <p:spPr>
          <a:xfrm>
            <a:off x="768097" y="925167"/>
            <a:ext cx="7832833" cy="3477227"/>
          </a:xfrm>
        </p:spPr>
        <p:txBody>
          <a:bodyPr>
            <a:normAutofit fontScale="85000" lnSpcReduction="20000"/>
          </a:bodyPr>
          <a:lstStyle/>
          <a:p>
            <a:r>
              <a:rPr lang="zh-CN" altLang="en-US" dirty="0"/>
              <a:t>汉堡图标</a:t>
            </a:r>
            <a:r>
              <a:rPr lang="zh-CN" altLang="en-US" dirty="0">
                <a:solidFill>
                  <a:srgbClr val="FF0000"/>
                </a:solidFill>
              </a:rPr>
              <a:t>（扫码查看详情）</a:t>
            </a:r>
            <a:endParaRPr lang="en-US" altLang="zh-CN" dirty="0">
              <a:solidFill>
                <a:srgbClr val="FF0000"/>
              </a:solidFill>
            </a:endParaRPr>
          </a:p>
          <a:p>
            <a:endParaRPr lang="en-US" altLang="zh-CN" dirty="0"/>
          </a:p>
          <a:p>
            <a:endParaRPr lang="en-US" altLang="zh-CN" dirty="0"/>
          </a:p>
          <a:p>
            <a:endParaRPr lang="en-US" altLang="zh-CN" dirty="0"/>
          </a:p>
          <a:p>
            <a:endParaRPr lang="en-US" altLang="zh-CN" dirty="0"/>
          </a:p>
          <a:p>
            <a:r>
              <a:rPr lang="zh-CN" altLang="en-US" dirty="0" smtClean="0"/>
              <a:t>为什么</a:t>
            </a:r>
            <a:r>
              <a:rPr lang="zh-CN" altLang="en-US" dirty="0"/>
              <a:t>要避免使用汉堡包菜单</a:t>
            </a:r>
            <a:r>
              <a:rPr lang="en-US" altLang="zh-CN" dirty="0"/>
              <a:t>?</a:t>
            </a:r>
            <a:endParaRPr lang="en-US" altLang="zh-CN" dirty="0"/>
          </a:p>
          <a:p>
            <a:r>
              <a:rPr lang="zh-CN" altLang="en-US" dirty="0">
                <a:solidFill>
                  <a:srgbClr val="FF0000"/>
                </a:solidFill>
              </a:rPr>
              <a:t>扫码查看详情</a:t>
            </a:r>
            <a:endParaRPr lang="zh-CN" altLang="en-US" dirty="0">
              <a:solidFill>
                <a:srgbClr val="FF0000"/>
              </a:solidFill>
            </a:endParaRPr>
          </a:p>
        </p:txBody>
      </p:sp>
      <p:sp>
        <p:nvSpPr>
          <p:cNvPr id="6" name="日期占位符 5"/>
          <p:cNvSpPr>
            <a:spLocks noGrp="1"/>
          </p:cNvSpPr>
          <p:nvPr>
            <p:ph type="dt" sz="half" idx="10"/>
          </p:nvPr>
        </p:nvSpPr>
        <p:spPr/>
        <p:txBody>
          <a:bodyPr/>
          <a:lstStyle/>
          <a:p>
            <a:fld id="{7578469E-53BC-47E7-B25B-86103CD95FBA}"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 name="图片 4"/>
          <p:cNvPicPr>
            <a:picLocks noChangeAspect="1"/>
          </p:cNvPicPr>
          <p:nvPr/>
        </p:nvPicPr>
        <p:blipFill>
          <a:blip r:embed="rId1">
            <a:clrChange>
              <a:clrFrom>
                <a:srgbClr val="FFFFFF"/>
              </a:clrFrom>
              <a:clrTo>
                <a:srgbClr val="FFFFFF">
                  <a:alpha val="0"/>
                </a:srgbClr>
              </a:clrTo>
            </a:clrChange>
          </a:blip>
          <a:stretch>
            <a:fillRect/>
          </a:stretch>
        </p:blipFill>
        <p:spPr>
          <a:xfrm>
            <a:off x="2238068" y="1669603"/>
            <a:ext cx="2080788" cy="1234061"/>
          </a:xfrm>
          <a:prstGeom prst="rect">
            <a:avLst/>
          </a:prstGeom>
        </p:spPr>
      </p:pic>
      <p:pic>
        <p:nvPicPr>
          <p:cNvPr id="8" name="图片 7"/>
          <p:cNvPicPr>
            <a:picLocks noChangeAspect="1"/>
          </p:cNvPicPr>
          <p:nvPr/>
        </p:nvPicPr>
        <p:blipFill rotWithShape="1">
          <a:blip r:embed="rId2">
            <a:clrChange>
              <a:clrFrom>
                <a:srgbClr val="FFFFFF"/>
              </a:clrFrom>
              <a:clrTo>
                <a:srgbClr val="FFFFFF">
                  <a:alpha val="0"/>
                </a:srgbClr>
              </a:clrTo>
            </a:clrChange>
          </a:blip>
          <a:srcRect r="55183"/>
          <a:stretch>
            <a:fillRect/>
          </a:stretch>
        </p:blipFill>
        <p:spPr>
          <a:xfrm>
            <a:off x="6155675" y="1606909"/>
            <a:ext cx="1235774" cy="1234061"/>
          </a:xfrm>
          <a:prstGeom prst="rect">
            <a:avLst/>
          </a:prstGeom>
        </p:spPr>
      </p:pic>
      <p:pic>
        <p:nvPicPr>
          <p:cNvPr id="10" name="图片 9"/>
          <p:cNvPicPr>
            <a:picLocks noChangeAspect="1"/>
          </p:cNvPicPr>
          <p:nvPr/>
        </p:nvPicPr>
        <p:blipFill>
          <a:blip r:embed="rId3"/>
          <a:stretch>
            <a:fillRect/>
          </a:stretch>
        </p:blipFill>
        <p:spPr>
          <a:xfrm>
            <a:off x="6198345" y="3209291"/>
            <a:ext cx="1193104" cy="1193104"/>
          </a:xfrm>
          <a:prstGeom prst="rect">
            <a:avLst/>
          </a:prstGeom>
        </p:spPr>
      </p:pic>
      <p:cxnSp>
        <p:nvCxnSpPr>
          <p:cNvPr id="12" name="直接箭头连接符 11"/>
          <p:cNvCxnSpPr/>
          <p:nvPr/>
        </p:nvCxnSpPr>
        <p:spPr>
          <a:xfrm>
            <a:off x="4994239" y="2903664"/>
            <a:ext cx="1161436" cy="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r>
              <a:rPr lang="zh-CN" altLang="en-US" dirty="0">
                <a:latin typeface="+mj-ea"/>
              </a:rPr>
              <a:t>良好的</a:t>
            </a:r>
            <a:r>
              <a:rPr lang="en-US" altLang="zh-CN" dirty="0">
                <a:latin typeface="+mj-ea"/>
              </a:rPr>
              <a:t>GUI</a:t>
            </a:r>
            <a:r>
              <a:rPr lang="zh-CN" altLang="en-US" dirty="0">
                <a:latin typeface="+mj-ea"/>
              </a:rPr>
              <a:t>设计原则</a:t>
            </a:r>
            <a:endParaRPr lang="zh-CN" altLang="en-US" dirty="0">
              <a:latin typeface="+mj-ea"/>
            </a:endParaRPr>
          </a:p>
        </p:txBody>
      </p:sp>
      <p:sp>
        <p:nvSpPr>
          <p:cNvPr id="208899" name="Rectangle 3"/>
          <p:cNvSpPr>
            <a:spLocks noGrp="1" noChangeArrowheads="1"/>
          </p:cNvSpPr>
          <p:nvPr>
            <p:ph idx="1"/>
          </p:nvPr>
        </p:nvSpPr>
        <p:spPr>
          <a:xfrm>
            <a:off x="768097" y="828913"/>
            <a:ext cx="7832833" cy="3903108"/>
          </a:xfrm>
        </p:spPr>
        <p:txBody>
          <a:bodyPr>
            <a:normAutofit fontScale="92500" lnSpcReduction="20000"/>
          </a:bodyPr>
          <a:lstStyle/>
          <a:p>
            <a:pPr marL="400050" indent="-400050">
              <a:lnSpc>
                <a:spcPct val="120000"/>
              </a:lnSpc>
            </a:pPr>
            <a:r>
              <a:rPr lang="zh-CN" altLang="en-US" sz="2200" dirty="0">
                <a:solidFill>
                  <a:prstClr val="black"/>
                </a:solidFill>
              </a:rPr>
              <a:t>最好的程序界面就是用户无需去阅读操作手册就知道该如何使用的界面。 </a:t>
            </a:r>
            <a:endParaRPr lang="zh-CN" altLang="en-US" sz="2200" dirty="0">
              <a:solidFill>
                <a:prstClr val="black"/>
              </a:solidFill>
            </a:endParaRPr>
          </a:p>
          <a:p>
            <a:pPr marL="400050" indent="-400050">
              <a:lnSpc>
                <a:spcPct val="90000"/>
              </a:lnSpc>
              <a:buFont typeface="+mj-lt"/>
              <a:buAutoNum type="arabicPeriod"/>
            </a:pPr>
            <a:r>
              <a:rPr lang="zh-CN" altLang="en-US" sz="1900" dirty="0"/>
              <a:t>关注用户及其任务，而不是技术；</a:t>
            </a:r>
            <a:endParaRPr lang="zh-CN" altLang="en-US" sz="1900" dirty="0"/>
          </a:p>
          <a:p>
            <a:pPr marL="400050" indent="-400050">
              <a:lnSpc>
                <a:spcPct val="90000"/>
              </a:lnSpc>
              <a:buFont typeface="+mj-lt"/>
              <a:buAutoNum type="arabicPeriod"/>
            </a:pPr>
            <a:r>
              <a:rPr lang="zh-CN" altLang="en-US" sz="1900" dirty="0"/>
              <a:t>首先考虑功能，其次才是表现；</a:t>
            </a:r>
            <a:endParaRPr lang="zh-CN" altLang="en-US" sz="1900" dirty="0"/>
          </a:p>
          <a:p>
            <a:pPr marL="400050" indent="-400050">
              <a:lnSpc>
                <a:spcPct val="90000"/>
              </a:lnSpc>
              <a:buFont typeface="+mj-lt"/>
              <a:buAutoNum type="arabicPeriod"/>
            </a:pPr>
            <a:r>
              <a:rPr lang="zh-CN" altLang="en-US" sz="1900" dirty="0"/>
              <a:t>与用户对任务的看法保持一致；</a:t>
            </a:r>
            <a:endParaRPr lang="zh-CN" altLang="en-US" sz="1900" dirty="0"/>
          </a:p>
          <a:p>
            <a:pPr marL="400050" indent="-400050">
              <a:lnSpc>
                <a:spcPct val="90000"/>
              </a:lnSpc>
              <a:buFont typeface="+mj-lt"/>
              <a:buAutoNum type="arabicPeriod"/>
            </a:pPr>
            <a:r>
              <a:rPr lang="zh-CN" altLang="en-US" sz="1900" dirty="0"/>
              <a:t>设计要符合常见情况；</a:t>
            </a:r>
            <a:endParaRPr lang="zh-CN" altLang="en-US" sz="1900" dirty="0"/>
          </a:p>
          <a:p>
            <a:pPr marL="400050" indent="-400050">
              <a:lnSpc>
                <a:spcPct val="90000"/>
              </a:lnSpc>
              <a:buFont typeface="+mj-lt"/>
              <a:buAutoNum type="arabicPeriod"/>
            </a:pPr>
            <a:r>
              <a:rPr lang="zh-CN" altLang="en-US" sz="1900" dirty="0"/>
              <a:t>不要分散用户对他们目标的注意力；</a:t>
            </a:r>
            <a:endParaRPr lang="zh-CN" altLang="en-US" sz="1900" dirty="0"/>
          </a:p>
          <a:p>
            <a:pPr marL="400050" indent="-400050">
              <a:lnSpc>
                <a:spcPct val="90000"/>
              </a:lnSpc>
              <a:buFont typeface="+mj-lt"/>
              <a:buAutoNum type="arabicPeriod"/>
            </a:pPr>
            <a:r>
              <a:rPr lang="zh-CN" altLang="en-US" sz="1900" dirty="0"/>
              <a:t>促进学习，从外</a:t>
            </a:r>
            <a:r>
              <a:rPr lang="en-US" altLang="zh-CN" sz="1900" dirty="0"/>
              <a:t>(</a:t>
            </a:r>
            <a:r>
              <a:rPr lang="zh-CN" altLang="en-US" sz="1900" dirty="0"/>
              <a:t>用户</a:t>
            </a:r>
            <a:r>
              <a:rPr lang="en-US" altLang="zh-CN" sz="1900" dirty="0"/>
              <a:t>)</a:t>
            </a:r>
            <a:r>
              <a:rPr lang="zh-CN" altLang="en-US" sz="1900" dirty="0"/>
              <a:t>到里</a:t>
            </a:r>
            <a:r>
              <a:rPr lang="en-US" altLang="zh-CN" sz="1900" dirty="0"/>
              <a:t>(</a:t>
            </a:r>
            <a:r>
              <a:rPr lang="zh-CN" altLang="en-US" sz="1900" dirty="0"/>
              <a:t>设计人员</a:t>
            </a:r>
            <a:r>
              <a:rPr lang="en-US" altLang="zh-CN" sz="1900" dirty="0"/>
              <a:t>)</a:t>
            </a:r>
            <a:r>
              <a:rPr lang="zh-CN" altLang="en-US" sz="1900" dirty="0"/>
              <a:t>思考，而不是相反；</a:t>
            </a:r>
            <a:endParaRPr lang="zh-CN" altLang="en-US" sz="1900" dirty="0"/>
          </a:p>
          <a:p>
            <a:pPr marL="400050" indent="-400050">
              <a:lnSpc>
                <a:spcPct val="90000"/>
              </a:lnSpc>
              <a:buFont typeface="+mj-lt"/>
              <a:buAutoNum type="arabicPeriod"/>
            </a:pPr>
            <a:r>
              <a:rPr lang="zh-CN" altLang="en-US" sz="1900" dirty="0"/>
              <a:t>传递信息，而不仅仅是数据；</a:t>
            </a:r>
            <a:endParaRPr lang="zh-CN" altLang="en-US" sz="1900" dirty="0"/>
          </a:p>
          <a:p>
            <a:pPr marL="400050" indent="-400050">
              <a:lnSpc>
                <a:spcPct val="90000"/>
              </a:lnSpc>
              <a:buFont typeface="+mj-lt"/>
              <a:buAutoNum type="arabicPeriod"/>
            </a:pPr>
            <a:r>
              <a:rPr lang="zh-CN" altLang="en-US" sz="1900" dirty="0"/>
              <a:t>设计应满足响应需求；</a:t>
            </a:r>
            <a:endParaRPr lang="zh-CN" altLang="en-US" sz="1900" dirty="0"/>
          </a:p>
          <a:p>
            <a:pPr marL="400050" indent="-400050">
              <a:lnSpc>
                <a:spcPct val="90000"/>
              </a:lnSpc>
              <a:buFont typeface="+mj-lt"/>
              <a:buAutoNum type="arabicPeriod"/>
            </a:pPr>
            <a:r>
              <a:rPr lang="zh-CN" altLang="en-US" sz="1900" dirty="0"/>
              <a:t>通过用户试用发现错误，然后修复它。</a:t>
            </a:r>
            <a:endParaRPr lang="zh-CN" altLang="en-US" sz="1900" dirty="0"/>
          </a:p>
          <a:p>
            <a:pPr marL="400050" indent="-400050">
              <a:lnSpc>
                <a:spcPct val="90000"/>
              </a:lnSpc>
              <a:buFontTx/>
              <a:buAutoNum type="arabicPeriod"/>
            </a:pPr>
            <a:endParaRPr lang="en-US" altLang="zh-CN" sz="1800" dirty="0"/>
          </a:p>
        </p:txBody>
      </p:sp>
      <p:sp>
        <p:nvSpPr>
          <p:cNvPr id="2" name="日期占位符 1"/>
          <p:cNvSpPr>
            <a:spLocks noGrp="1"/>
          </p:cNvSpPr>
          <p:nvPr>
            <p:ph type="dt" sz="half" idx="10"/>
          </p:nvPr>
        </p:nvSpPr>
        <p:spPr/>
        <p:txBody>
          <a:bodyPr/>
          <a:lstStyle/>
          <a:p>
            <a:fld id="{690E9C6D-E190-4C20-8128-1CD183245EDE}"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88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88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88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889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889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889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889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889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889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889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9" grpId="0"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p:nvPr>
        </p:nvSpPr>
        <p:spPr/>
        <p:txBody>
          <a:bodyPr anchor="ctr"/>
          <a:lstStyle/>
          <a:p>
            <a:r>
              <a:rPr lang="zh-CN" altLang="en-US" b="1" dirty="0"/>
              <a:t>网上报名系统的模式分析</a:t>
            </a:r>
            <a:endParaRPr lang="zh-CN" altLang="en-US" b="1" dirty="0"/>
          </a:p>
        </p:txBody>
      </p:sp>
      <p:sp>
        <p:nvSpPr>
          <p:cNvPr id="171011" name="Rectangle 3"/>
          <p:cNvSpPr>
            <a:spLocks noGrp="1" noChangeArrowheads="1"/>
          </p:cNvSpPr>
          <p:nvPr>
            <p:ph idx="1"/>
          </p:nvPr>
        </p:nvSpPr>
        <p:spPr>
          <a:xfrm>
            <a:off x="768097" y="1080655"/>
            <a:ext cx="7832833" cy="3651365"/>
          </a:xfrm>
        </p:spPr>
        <p:txBody>
          <a:bodyPr anchor="t">
            <a:normAutofit/>
          </a:bodyPr>
          <a:lstStyle/>
          <a:p>
            <a:pPr marL="425450" indent="-342900">
              <a:lnSpc>
                <a:spcPct val="90000"/>
              </a:lnSpc>
            </a:pPr>
            <a:r>
              <a:rPr lang="zh-CN" altLang="en-US" sz="2400" dirty="0"/>
              <a:t>任务准备：选择合适的软件架构</a:t>
            </a:r>
            <a:r>
              <a:rPr lang="zh-CN" altLang="en-US" sz="2400" dirty="0" smtClean="0"/>
              <a:t>模式</a:t>
            </a:r>
            <a:endParaRPr lang="en-US" altLang="zh-CN" sz="2400" dirty="0" smtClean="0"/>
          </a:p>
          <a:p>
            <a:pPr marL="425450" indent="-342900">
              <a:lnSpc>
                <a:spcPct val="90000"/>
              </a:lnSpc>
            </a:pPr>
            <a:r>
              <a:rPr lang="zh-CN" altLang="en-US" sz="2400" dirty="0" smtClean="0"/>
              <a:t>在</a:t>
            </a:r>
            <a:r>
              <a:rPr lang="zh-CN" altLang="en-US" sz="2400" dirty="0"/>
              <a:t>进行</a:t>
            </a:r>
            <a:r>
              <a:rPr lang="en-US" altLang="zh-CN" sz="2400" dirty="0"/>
              <a:t>GUI</a:t>
            </a:r>
            <a:r>
              <a:rPr lang="zh-CN" altLang="en-US" sz="2400" dirty="0"/>
              <a:t>设计之前，需要根据用户需求确定要开发的软件模式。不同模式的软件，</a:t>
            </a:r>
            <a:r>
              <a:rPr lang="en-US" altLang="zh-CN" sz="2400" dirty="0"/>
              <a:t>GUI</a:t>
            </a:r>
            <a:r>
              <a:rPr lang="zh-CN" altLang="en-US" sz="2400" dirty="0"/>
              <a:t>设计的方式不同。</a:t>
            </a:r>
            <a:endParaRPr lang="zh-CN" altLang="en-US" sz="2400" dirty="0"/>
          </a:p>
          <a:p>
            <a:pPr marL="82550" indent="0" algn="ctr">
              <a:lnSpc>
                <a:spcPct val="90000"/>
              </a:lnSpc>
              <a:buNone/>
            </a:pPr>
            <a:endParaRPr lang="en-US" altLang="zh-CN" sz="3000" dirty="0" smtClean="0"/>
          </a:p>
          <a:p>
            <a:pPr marL="82550" indent="0" algn="ctr">
              <a:lnSpc>
                <a:spcPct val="90000"/>
              </a:lnSpc>
              <a:buNone/>
            </a:pPr>
            <a:r>
              <a:rPr lang="zh-CN" altLang="en-US" sz="3000" dirty="0" smtClean="0"/>
              <a:t>选择</a:t>
            </a:r>
            <a:r>
              <a:rPr lang="en-US" altLang="zh-CN" sz="3000" dirty="0"/>
              <a:t>B/S</a:t>
            </a:r>
            <a:r>
              <a:rPr lang="zh-CN" altLang="en-US" sz="3000" dirty="0"/>
              <a:t>架构作为系统的架构</a:t>
            </a:r>
            <a:endParaRPr lang="zh-CN" altLang="en-US" sz="3000" dirty="0"/>
          </a:p>
        </p:txBody>
      </p:sp>
      <p:sp>
        <p:nvSpPr>
          <p:cNvPr id="3" name="日期占位符 2"/>
          <p:cNvSpPr>
            <a:spLocks noGrp="1"/>
          </p:cNvSpPr>
          <p:nvPr>
            <p:ph type="dt" sz="half" idx="10"/>
          </p:nvPr>
        </p:nvSpPr>
        <p:spPr/>
        <p:txBody>
          <a:bodyPr/>
          <a:lstStyle/>
          <a:p>
            <a:fld id="{59E8D357-36F3-404A-AF17-0E88A9CDABB4}"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3324C3CF-540A-4F9D-8D77-8D5AA53250FC}" type="slidenum">
              <a:rPr lang="en-US" altLang="zh-CN" smtClean="0">
                <a:solidFill>
                  <a:prstClr val="black"/>
                </a:solidFill>
              </a:rPr>
            </a:fld>
            <a:endParaRPr lang="en-US" altLang="zh-CN">
              <a:solidFill>
                <a:prstClr val="black"/>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710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101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10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1" grpId="0" build="p"/>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normAutofit/>
          </a:bodyPr>
          <a:lstStyle/>
          <a:p>
            <a:r>
              <a:rPr lang="zh-CN" altLang="en-US" dirty="0"/>
              <a:t>登录界面</a:t>
            </a:r>
            <a:endParaRPr lang="zh-CN" altLang="en-US" dirty="0"/>
          </a:p>
        </p:txBody>
      </p:sp>
      <p:sp>
        <p:nvSpPr>
          <p:cNvPr id="3" name="日期占位符 2"/>
          <p:cNvSpPr>
            <a:spLocks noGrp="1"/>
          </p:cNvSpPr>
          <p:nvPr>
            <p:ph type="dt" sz="half" idx="10"/>
          </p:nvPr>
        </p:nvSpPr>
        <p:spPr/>
        <p:txBody>
          <a:bodyPr/>
          <a:lstStyle/>
          <a:p>
            <a:fld id="{9AA8B807-1266-4A7E-BBC6-90B0757392C0}"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5298"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l="8100" b="8136"/>
          <a:stretch>
            <a:fillRect/>
          </a:stretch>
        </p:blipFill>
        <p:spPr bwMode="auto">
          <a:xfrm>
            <a:off x="1809629" y="673167"/>
            <a:ext cx="5651474" cy="3996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8" name="Rectangle 4"/>
          <p:cNvSpPr>
            <a:spLocks noGrp="1" noChangeArrowheads="1"/>
          </p:cNvSpPr>
          <p:nvPr>
            <p:ph type="title"/>
          </p:nvPr>
        </p:nvSpPr>
        <p:spPr/>
        <p:txBody>
          <a:bodyPr/>
          <a:lstStyle/>
          <a:p>
            <a:r>
              <a:rPr lang="zh-CN" altLang="en-US" dirty="0"/>
              <a:t>用户主界面</a:t>
            </a:r>
            <a:endParaRPr lang="zh-CN" altLang="en-US" dirty="0"/>
          </a:p>
        </p:txBody>
      </p:sp>
      <p:sp>
        <p:nvSpPr>
          <p:cNvPr id="3" name="日期占位符 2"/>
          <p:cNvSpPr>
            <a:spLocks noGrp="1"/>
          </p:cNvSpPr>
          <p:nvPr>
            <p:ph type="dt" sz="half" idx="10"/>
          </p:nvPr>
        </p:nvSpPr>
        <p:spPr/>
        <p:txBody>
          <a:bodyPr/>
          <a:lstStyle/>
          <a:p>
            <a:fld id="{DFE434AC-18DD-44D8-B609-0397D2F56F81}"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73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57303" y="803208"/>
            <a:ext cx="6711723" cy="3768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8" name="Rectangle 4"/>
          <p:cNvSpPr>
            <a:spLocks noGrp="1" noChangeArrowheads="1"/>
          </p:cNvSpPr>
          <p:nvPr>
            <p:ph type="title"/>
          </p:nvPr>
        </p:nvSpPr>
        <p:spPr/>
        <p:txBody>
          <a:bodyPr/>
          <a:lstStyle/>
          <a:p>
            <a:r>
              <a:rPr lang="zh-CN" altLang="en-US" dirty="0"/>
              <a:t>管理员主界面</a:t>
            </a:r>
            <a:endParaRPr lang="zh-CN" altLang="en-US" dirty="0"/>
          </a:p>
        </p:txBody>
      </p:sp>
      <p:sp>
        <p:nvSpPr>
          <p:cNvPr id="3" name="日期占位符 2"/>
          <p:cNvSpPr>
            <a:spLocks noGrp="1"/>
          </p:cNvSpPr>
          <p:nvPr>
            <p:ph type="dt" sz="half" idx="10"/>
          </p:nvPr>
        </p:nvSpPr>
        <p:spPr/>
        <p:txBody>
          <a:bodyPr/>
          <a:lstStyle/>
          <a:p>
            <a:fld id="{AA40C44C-29E4-4EF2-978D-538D397D54C4}"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pic>
        <p:nvPicPr>
          <p:cNvPr id="563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15555" y="776812"/>
            <a:ext cx="6642738" cy="3849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9" name="Rectangle 3"/>
          <p:cNvSpPr>
            <a:spLocks noGrp="1" noChangeArrowheads="1"/>
          </p:cNvSpPr>
          <p:nvPr>
            <p:ph idx="1"/>
          </p:nvPr>
        </p:nvSpPr>
        <p:spPr>
          <a:xfrm>
            <a:off x="1287937" y="1282044"/>
            <a:ext cx="6998224" cy="3025461"/>
          </a:xfrm>
        </p:spPr>
        <p:txBody>
          <a:bodyPr/>
          <a:lstStyle/>
          <a:p>
            <a:r>
              <a:rPr lang="zh-CN" altLang="en-US" dirty="0"/>
              <a:t>画出其余的界面来。交给代码人员，他们进行代码编写。</a:t>
            </a:r>
            <a:endParaRPr lang="zh-CN" altLang="en-US" dirty="0"/>
          </a:p>
        </p:txBody>
      </p:sp>
      <p:sp>
        <p:nvSpPr>
          <p:cNvPr id="249858" name="Rectangle 2"/>
          <p:cNvSpPr>
            <a:spLocks noGrp="1" noChangeArrowheads="1"/>
          </p:cNvSpPr>
          <p:nvPr>
            <p:ph type="title"/>
          </p:nvPr>
        </p:nvSpPr>
        <p:spPr/>
        <p:txBody>
          <a:bodyPr/>
          <a:lstStyle/>
          <a:p>
            <a:r>
              <a:rPr lang="zh-CN" altLang="en-US"/>
              <a:t>依次类推</a:t>
            </a:r>
            <a:r>
              <a:rPr lang="en-US" altLang="zh-CN"/>
              <a:t>……</a:t>
            </a:r>
            <a:endParaRPr lang="en-US" altLang="zh-CN"/>
          </a:p>
        </p:txBody>
      </p:sp>
      <p:sp>
        <p:nvSpPr>
          <p:cNvPr id="2" name="灯片编号占位符 1"/>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3" name="日期占位符 2"/>
          <p:cNvSpPr>
            <a:spLocks noGrp="1"/>
          </p:cNvSpPr>
          <p:nvPr>
            <p:ph type="dt" sz="half" idx="10"/>
          </p:nvPr>
        </p:nvSpPr>
        <p:spPr/>
        <p:txBody>
          <a:bodyPr/>
          <a:lstStyle/>
          <a:p>
            <a:fld id="{4DF8BD8A-C909-40C3-B82F-205FCB04D18C}"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课后作业</a:t>
            </a:r>
            <a:endParaRPr lang="zh-CN" altLang="en-US" dirty="0"/>
          </a:p>
        </p:txBody>
      </p:sp>
      <p:sp>
        <p:nvSpPr>
          <p:cNvPr id="3" name="内容占位符 2"/>
          <p:cNvSpPr>
            <a:spLocks noGrp="1"/>
          </p:cNvSpPr>
          <p:nvPr>
            <p:ph idx="1"/>
          </p:nvPr>
        </p:nvSpPr>
        <p:spPr>
          <a:xfrm>
            <a:off x="961752" y="1034143"/>
            <a:ext cx="8043352" cy="3440974"/>
          </a:xfrm>
        </p:spPr>
        <p:txBody>
          <a:bodyPr>
            <a:normAutofit/>
          </a:bodyPr>
          <a:lstStyle/>
          <a:p>
            <a:pPr>
              <a:lnSpc>
                <a:spcPct val="120000"/>
              </a:lnSpc>
            </a:pPr>
            <a:r>
              <a:rPr lang="zh-CN" altLang="en-US" dirty="0"/>
              <a:t>学习慕课视频和相关技术</a:t>
            </a:r>
            <a:endParaRPr lang="en-US" altLang="zh-CN" dirty="0"/>
          </a:p>
          <a:p>
            <a:pPr>
              <a:lnSpc>
                <a:spcPct val="120000"/>
              </a:lnSpc>
            </a:pPr>
            <a:r>
              <a:rPr lang="zh-CN" altLang="en-US" dirty="0"/>
              <a:t>实验内容：</a:t>
            </a:r>
            <a:endParaRPr lang="zh-CN" altLang="en-US" dirty="0"/>
          </a:p>
          <a:p>
            <a:pPr lvl="1">
              <a:lnSpc>
                <a:spcPct val="120000"/>
              </a:lnSpc>
              <a:spcBef>
                <a:spcPts val="600"/>
              </a:spcBef>
            </a:pPr>
            <a:r>
              <a:rPr lang="zh-CN" altLang="en-US" dirty="0">
                <a:sym typeface="+mn-ea"/>
              </a:rPr>
              <a:t>绘制顺序图</a:t>
            </a:r>
            <a:endParaRPr lang="en-US" altLang="zh-CN" dirty="0"/>
          </a:p>
          <a:p>
            <a:pPr lvl="1">
              <a:lnSpc>
                <a:spcPct val="120000"/>
              </a:lnSpc>
              <a:spcBef>
                <a:spcPts val="600"/>
              </a:spcBef>
            </a:pPr>
            <a:r>
              <a:rPr lang="zh-CN" altLang="en-US" dirty="0">
                <a:sym typeface="+mn-ea"/>
              </a:rPr>
              <a:t>完成数据库设计</a:t>
            </a:r>
            <a:endParaRPr lang="en-US" altLang="zh-CN" dirty="0"/>
          </a:p>
          <a:p>
            <a:pPr lvl="1">
              <a:lnSpc>
                <a:spcPct val="120000"/>
              </a:lnSpc>
              <a:spcBef>
                <a:spcPts val="600"/>
              </a:spcBef>
            </a:pPr>
            <a:r>
              <a:rPr lang="zh-CN" altLang="en-US" dirty="0">
                <a:sym typeface="+mn-ea"/>
              </a:rPr>
              <a:t>完成系统界面设计</a:t>
            </a:r>
            <a:endParaRPr lang="zh-CN" altLang="en-US" dirty="0"/>
          </a:p>
          <a:p>
            <a:pPr marL="1108710" lvl="1" indent="-457200">
              <a:lnSpc>
                <a:spcPct val="120000"/>
              </a:lnSpc>
            </a:pPr>
            <a:endParaRPr lang="zh-CN" altLang="en-US" dirty="0"/>
          </a:p>
          <a:p>
            <a:pPr marL="1108710" lvl="1" indent="-457200">
              <a:lnSpc>
                <a:spcPct val="120000"/>
              </a:lnSpc>
            </a:pPr>
            <a:endParaRPr lang="zh-CN" altLang="zh-CN" dirty="0"/>
          </a:p>
        </p:txBody>
      </p:sp>
      <p:sp>
        <p:nvSpPr>
          <p:cNvPr id="4" name="日期占位符 3"/>
          <p:cNvSpPr>
            <a:spLocks noGrp="1"/>
          </p:cNvSpPr>
          <p:nvPr>
            <p:ph type="dt" sz="half" idx="10"/>
          </p:nvPr>
        </p:nvSpPr>
        <p:spPr/>
        <p:txBody>
          <a:bodyPr/>
          <a:lstStyle/>
          <a:p>
            <a:fld id="{0247D8DC-1C3A-473D-8303-AD16E04EAE11}"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729734" y="1070483"/>
            <a:ext cx="4790659" cy="3361377"/>
          </a:xfrm>
        </p:spPr>
        <p:txBody>
          <a:bodyPr>
            <a:normAutofit/>
          </a:bodyPr>
          <a:lstStyle/>
          <a:p>
            <a:pPr>
              <a:lnSpc>
                <a:spcPct val="120000"/>
              </a:lnSpc>
              <a:spcBef>
                <a:spcPts val="450"/>
              </a:spcBef>
            </a:pPr>
            <a:r>
              <a:rPr lang="zh-CN" altLang="en-US" dirty="0" smtClean="0"/>
              <a:t>建立系统</a:t>
            </a:r>
            <a:r>
              <a:rPr lang="zh-CN" altLang="en-US" dirty="0" smtClean="0"/>
              <a:t>行为模型</a:t>
            </a:r>
            <a:endParaRPr lang="zh-CN" altLang="en-US" dirty="0" smtClean="0"/>
          </a:p>
          <a:p>
            <a:pPr marL="994410" lvl="1" indent="-342900">
              <a:lnSpc>
                <a:spcPct val="120000"/>
              </a:lnSpc>
              <a:spcBef>
                <a:spcPts val="900"/>
              </a:spcBef>
              <a:buClr>
                <a:srgbClr val="CA0098"/>
              </a:buClr>
              <a:buFont typeface="Wingdings" panose="05000000000000000000" charset="0"/>
              <a:buChar char="l"/>
            </a:pPr>
            <a:r>
              <a:rPr lang="zh-CN" altLang="en-US" dirty="0" smtClean="0"/>
              <a:t>顺序图建模技术</a:t>
            </a:r>
            <a:endParaRPr lang="en-US" altLang="zh-CN" dirty="0" smtClean="0"/>
          </a:p>
          <a:p>
            <a:pPr marL="457200" indent="-457200">
              <a:lnSpc>
                <a:spcPct val="120000"/>
              </a:lnSpc>
              <a:spcBef>
                <a:spcPts val="900"/>
              </a:spcBef>
            </a:pPr>
            <a:r>
              <a:rPr lang="zh-CN" altLang="en-US" dirty="0" smtClean="0"/>
              <a:t>系统交互界面设计</a:t>
            </a:r>
            <a:endParaRPr lang="en-US" altLang="zh-CN" dirty="0" smtClean="0"/>
          </a:p>
          <a:p>
            <a:pPr marL="994410" lvl="1" indent="-342900">
              <a:lnSpc>
                <a:spcPct val="120000"/>
              </a:lnSpc>
              <a:spcBef>
                <a:spcPts val="900"/>
              </a:spcBef>
              <a:buClr>
                <a:srgbClr val="CA0098"/>
              </a:buClr>
              <a:buFont typeface="Wingdings" panose="05000000000000000000" charset="0"/>
              <a:buChar char="l"/>
            </a:pPr>
            <a:r>
              <a:rPr lang="zh-CN" altLang="en-US" dirty="0" smtClean="0"/>
              <a:t>交互设计目标</a:t>
            </a:r>
            <a:endParaRPr lang="zh-CN" altLang="en-US" dirty="0" smtClean="0"/>
          </a:p>
          <a:p>
            <a:pPr marL="994410" lvl="1" indent="-342900">
              <a:lnSpc>
                <a:spcPct val="120000"/>
              </a:lnSpc>
              <a:spcBef>
                <a:spcPts val="900"/>
              </a:spcBef>
              <a:buClr>
                <a:srgbClr val="CA0098"/>
              </a:buClr>
              <a:buFont typeface="Wingdings" panose="05000000000000000000" charset="0"/>
              <a:buChar char="l"/>
            </a:pPr>
            <a:r>
              <a:rPr lang="zh-CN" altLang="en-US" dirty="0" smtClean="0"/>
              <a:t>原则和注意事项</a:t>
            </a:r>
            <a:endParaRPr lang="en-US" altLang="zh-CN" dirty="0" smtClean="0"/>
          </a:p>
          <a:p>
            <a:pPr marL="457200" indent="-457200">
              <a:lnSpc>
                <a:spcPct val="120000"/>
              </a:lnSpc>
              <a:spcBef>
                <a:spcPts val="900"/>
              </a:spcBef>
            </a:pPr>
            <a:endParaRPr lang="zh-CN" altLang="en-US" dirty="0" smtClean="0"/>
          </a:p>
        </p:txBody>
      </p:sp>
      <p:sp>
        <p:nvSpPr>
          <p:cNvPr id="3" name="灯片编号占位符 2"/>
          <p:cNvSpPr>
            <a:spLocks noGrp="1"/>
          </p:cNvSpPr>
          <p:nvPr>
            <p:ph type="sldNum" sz="quarter" idx="12"/>
          </p:nvPr>
        </p:nvSpPr>
        <p:spPr/>
        <p:txBody>
          <a:bodyPr/>
          <a:lstStyle/>
          <a:p>
            <a:fld id="{0C913308-F349-4B6D-A68A-DD1791B4A57B}" type="slidenum">
              <a:rPr lang="zh-CN" altLang="en-US" smtClean="0"/>
            </a:fld>
            <a:endParaRPr lang="zh-CN" altLang="en-US" dirty="0"/>
          </a:p>
        </p:txBody>
      </p:sp>
      <p:sp>
        <p:nvSpPr>
          <p:cNvPr id="4" name="标题 3"/>
          <p:cNvSpPr>
            <a:spLocks noGrp="1"/>
          </p:cNvSpPr>
          <p:nvPr>
            <p:ph type="title"/>
          </p:nvPr>
        </p:nvSpPr>
        <p:spPr/>
        <p:txBody>
          <a:bodyPr/>
          <a:lstStyle/>
          <a:p>
            <a:r>
              <a:rPr lang="zh-CN" altLang="en-US" dirty="0"/>
              <a:t>本课小结</a:t>
            </a:r>
            <a:endParaRPr lang="zh-CN" altLang="en-US" dirty="0"/>
          </a:p>
        </p:txBody>
      </p:sp>
      <p:grpSp>
        <p:nvGrpSpPr>
          <p:cNvPr id="7" name="Group 6"/>
          <p:cNvGrpSpPr/>
          <p:nvPr/>
        </p:nvGrpSpPr>
        <p:grpSpPr>
          <a:xfrm>
            <a:off x="5567279" y="1403866"/>
            <a:ext cx="3209575" cy="3270280"/>
            <a:chOff x="3827463" y="1565275"/>
            <a:chExt cx="1195388" cy="1271588"/>
          </a:xfrm>
          <a:solidFill>
            <a:srgbClr val="92D050"/>
          </a:solidFill>
        </p:grpSpPr>
        <p:sp>
          <p:nvSpPr>
            <p:cNvPr id="8" name="Freeform 70"/>
            <p:cNvSpPr/>
            <p:nvPr/>
          </p:nvSpPr>
          <p:spPr bwMode="auto">
            <a:xfrm>
              <a:off x="4010026" y="1708150"/>
              <a:ext cx="835025" cy="1128713"/>
            </a:xfrm>
            <a:custGeom>
              <a:avLst/>
              <a:gdLst/>
              <a:ahLst/>
              <a:cxnLst>
                <a:cxn ang="0">
                  <a:pos x="104" y="385"/>
                </a:cxn>
                <a:cxn ang="0">
                  <a:pos x="112" y="230"/>
                </a:cxn>
                <a:cxn ang="0">
                  <a:pos x="6" y="164"/>
                </a:cxn>
                <a:cxn ang="0">
                  <a:pos x="121" y="191"/>
                </a:cxn>
                <a:cxn ang="0">
                  <a:pos x="126" y="93"/>
                </a:cxn>
                <a:cxn ang="0">
                  <a:pos x="76" y="29"/>
                </a:cxn>
                <a:cxn ang="0">
                  <a:pos x="132" y="61"/>
                </a:cxn>
                <a:cxn ang="0">
                  <a:pos x="174" y="5"/>
                </a:cxn>
                <a:cxn ang="0">
                  <a:pos x="149" y="79"/>
                </a:cxn>
                <a:cxn ang="0">
                  <a:pos x="171" y="196"/>
                </a:cxn>
                <a:cxn ang="0">
                  <a:pos x="277" y="149"/>
                </a:cxn>
                <a:cxn ang="0">
                  <a:pos x="177" y="228"/>
                </a:cxn>
                <a:cxn ang="0">
                  <a:pos x="178" y="385"/>
                </a:cxn>
                <a:cxn ang="0">
                  <a:pos x="104" y="385"/>
                </a:cxn>
              </a:cxnLst>
              <a:rect l="0" t="0" r="r" b="b"/>
              <a:pathLst>
                <a:path w="285" h="385">
                  <a:moveTo>
                    <a:pt x="104" y="385"/>
                  </a:moveTo>
                  <a:cubicBezTo>
                    <a:pt x="104" y="385"/>
                    <a:pt x="139" y="260"/>
                    <a:pt x="112" y="230"/>
                  </a:cubicBezTo>
                  <a:cubicBezTo>
                    <a:pt x="64" y="179"/>
                    <a:pt x="0" y="166"/>
                    <a:pt x="6" y="164"/>
                  </a:cubicBezTo>
                  <a:cubicBezTo>
                    <a:pt x="44" y="154"/>
                    <a:pt x="105" y="205"/>
                    <a:pt x="121" y="191"/>
                  </a:cubicBezTo>
                  <a:cubicBezTo>
                    <a:pt x="134" y="180"/>
                    <a:pt x="136" y="117"/>
                    <a:pt x="126" y="93"/>
                  </a:cubicBezTo>
                  <a:cubicBezTo>
                    <a:pt x="107" y="46"/>
                    <a:pt x="60" y="29"/>
                    <a:pt x="76" y="29"/>
                  </a:cubicBezTo>
                  <a:cubicBezTo>
                    <a:pt x="98" y="29"/>
                    <a:pt x="128" y="66"/>
                    <a:pt x="132" y="61"/>
                  </a:cubicBezTo>
                  <a:cubicBezTo>
                    <a:pt x="137" y="57"/>
                    <a:pt x="164" y="0"/>
                    <a:pt x="174" y="5"/>
                  </a:cubicBezTo>
                  <a:cubicBezTo>
                    <a:pt x="177" y="7"/>
                    <a:pt x="149" y="36"/>
                    <a:pt x="149" y="79"/>
                  </a:cubicBezTo>
                  <a:cubicBezTo>
                    <a:pt x="149" y="121"/>
                    <a:pt x="154" y="206"/>
                    <a:pt x="171" y="196"/>
                  </a:cubicBezTo>
                  <a:cubicBezTo>
                    <a:pt x="200" y="178"/>
                    <a:pt x="257" y="147"/>
                    <a:pt x="277" y="149"/>
                  </a:cubicBezTo>
                  <a:cubicBezTo>
                    <a:pt x="285" y="150"/>
                    <a:pt x="196" y="185"/>
                    <a:pt x="177" y="228"/>
                  </a:cubicBezTo>
                  <a:cubicBezTo>
                    <a:pt x="161" y="264"/>
                    <a:pt x="170" y="373"/>
                    <a:pt x="178" y="385"/>
                  </a:cubicBezTo>
                  <a:lnTo>
                    <a:pt x="104" y="385"/>
                  </a:lnTo>
                  <a:close/>
                </a:path>
              </a:pathLst>
            </a:custGeom>
            <a:solidFill>
              <a:srgbClr val="B65310"/>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9" name="Freeform 71"/>
            <p:cNvSpPr/>
            <p:nvPr/>
          </p:nvSpPr>
          <p:spPr bwMode="auto">
            <a:xfrm>
              <a:off x="4495801" y="2089150"/>
              <a:ext cx="166688" cy="114300"/>
            </a:xfrm>
            <a:custGeom>
              <a:avLst/>
              <a:gdLst/>
              <a:ahLst/>
              <a:cxnLst>
                <a:cxn ang="0">
                  <a:pos x="27" y="39"/>
                </a:cxn>
                <a:cxn ang="0">
                  <a:pos x="20" y="0"/>
                </a:cxn>
                <a:cxn ang="0">
                  <a:pos x="27" y="39"/>
                </a:cxn>
              </a:cxnLst>
              <a:rect l="0" t="0" r="r" b="b"/>
              <a:pathLst>
                <a:path w="57" h="39">
                  <a:moveTo>
                    <a:pt x="27" y="39"/>
                  </a:moveTo>
                  <a:cubicBezTo>
                    <a:pt x="27" y="39"/>
                    <a:pt x="0" y="36"/>
                    <a:pt x="20" y="0"/>
                  </a:cubicBezTo>
                  <a:cubicBezTo>
                    <a:pt x="20" y="0"/>
                    <a:pt x="57" y="26"/>
                    <a:pt x="27" y="3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0" name="Freeform 72"/>
            <p:cNvSpPr/>
            <p:nvPr/>
          </p:nvSpPr>
          <p:spPr bwMode="auto">
            <a:xfrm>
              <a:off x="4621213" y="2025650"/>
              <a:ext cx="161925" cy="117475"/>
            </a:xfrm>
            <a:custGeom>
              <a:avLst/>
              <a:gdLst/>
              <a:ahLst/>
              <a:cxnLst>
                <a:cxn ang="0">
                  <a:pos x="23" y="40"/>
                </a:cxn>
                <a:cxn ang="0">
                  <a:pos x="27" y="0"/>
                </a:cxn>
                <a:cxn ang="0">
                  <a:pos x="23" y="40"/>
                </a:cxn>
              </a:cxnLst>
              <a:rect l="0" t="0" r="r" b="b"/>
              <a:pathLst>
                <a:path w="55" h="40">
                  <a:moveTo>
                    <a:pt x="23" y="40"/>
                  </a:moveTo>
                  <a:cubicBezTo>
                    <a:pt x="23" y="40"/>
                    <a:pt x="0" y="32"/>
                    <a:pt x="27" y="0"/>
                  </a:cubicBezTo>
                  <a:cubicBezTo>
                    <a:pt x="27" y="0"/>
                    <a:pt x="55" y="35"/>
                    <a:pt x="23" y="4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1" name="Freeform 73"/>
            <p:cNvSpPr/>
            <p:nvPr/>
          </p:nvSpPr>
          <p:spPr bwMode="auto">
            <a:xfrm>
              <a:off x="4718051" y="1971675"/>
              <a:ext cx="173038" cy="138113"/>
            </a:xfrm>
            <a:custGeom>
              <a:avLst/>
              <a:gdLst/>
              <a:ahLst/>
              <a:cxnLst>
                <a:cxn ang="0">
                  <a:pos x="22" y="47"/>
                </a:cxn>
                <a:cxn ang="0">
                  <a:pos x="40" y="0"/>
                </a:cxn>
                <a:cxn ang="0">
                  <a:pos x="22" y="47"/>
                </a:cxn>
              </a:cxnLst>
              <a:rect l="0" t="0" r="r" b="b"/>
              <a:pathLst>
                <a:path w="59" h="47">
                  <a:moveTo>
                    <a:pt x="22" y="47"/>
                  </a:moveTo>
                  <a:cubicBezTo>
                    <a:pt x="22" y="47"/>
                    <a:pt x="0" y="25"/>
                    <a:pt x="40" y="0"/>
                  </a:cubicBezTo>
                  <a:cubicBezTo>
                    <a:pt x="40" y="0"/>
                    <a:pt x="59" y="43"/>
                    <a:pt x="22" y="4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2" name="Freeform 74"/>
            <p:cNvSpPr/>
            <p:nvPr/>
          </p:nvSpPr>
          <p:spPr bwMode="auto">
            <a:xfrm>
              <a:off x="4873626" y="2009775"/>
              <a:ext cx="149225" cy="117475"/>
            </a:xfrm>
            <a:custGeom>
              <a:avLst/>
              <a:gdLst/>
              <a:ahLst/>
              <a:cxnLst>
                <a:cxn ang="0">
                  <a:pos x="4" y="24"/>
                </a:cxn>
                <a:cxn ang="0">
                  <a:pos x="51" y="10"/>
                </a:cxn>
                <a:cxn ang="0">
                  <a:pos x="39" y="25"/>
                </a:cxn>
                <a:cxn ang="0">
                  <a:pos x="4" y="24"/>
                </a:cxn>
              </a:cxnLst>
              <a:rect l="0" t="0" r="r" b="b"/>
              <a:pathLst>
                <a:path w="51" h="40">
                  <a:moveTo>
                    <a:pt x="4" y="24"/>
                  </a:moveTo>
                  <a:cubicBezTo>
                    <a:pt x="4" y="24"/>
                    <a:pt x="0" y="0"/>
                    <a:pt x="51" y="10"/>
                  </a:cubicBezTo>
                  <a:cubicBezTo>
                    <a:pt x="51" y="10"/>
                    <a:pt x="46" y="15"/>
                    <a:pt x="39" y="25"/>
                  </a:cubicBezTo>
                  <a:cubicBezTo>
                    <a:pt x="32" y="34"/>
                    <a:pt x="11" y="40"/>
                    <a:pt x="4"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3" name="Freeform 75"/>
            <p:cNvSpPr/>
            <p:nvPr/>
          </p:nvSpPr>
          <p:spPr bwMode="auto">
            <a:xfrm>
              <a:off x="4827588" y="2165350"/>
              <a:ext cx="131763" cy="92075"/>
            </a:xfrm>
            <a:custGeom>
              <a:avLst/>
              <a:gdLst/>
              <a:ahLst/>
              <a:cxnLst>
                <a:cxn ang="0">
                  <a:pos x="14" y="0"/>
                </a:cxn>
                <a:cxn ang="0">
                  <a:pos x="45" y="20"/>
                </a:cxn>
                <a:cxn ang="0">
                  <a:pos x="9" y="16"/>
                </a:cxn>
                <a:cxn ang="0">
                  <a:pos x="14" y="0"/>
                </a:cxn>
              </a:cxnLst>
              <a:rect l="0" t="0" r="r" b="b"/>
              <a:pathLst>
                <a:path w="45" h="31">
                  <a:moveTo>
                    <a:pt x="14" y="0"/>
                  </a:moveTo>
                  <a:cubicBezTo>
                    <a:pt x="14" y="0"/>
                    <a:pt x="40" y="3"/>
                    <a:pt x="45" y="20"/>
                  </a:cubicBezTo>
                  <a:cubicBezTo>
                    <a:pt x="45" y="20"/>
                    <a:pt x="28" y="31"/>
                    <a:pt x="9" y="16"/>
                  </a:cubicBezTo>
                  <a:cubicBezTo>
                    <a:pt x="0" y="8"/>
                    <a:pt x="6" y="1"/>
                    <a:pt x="14" y="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4" name="Freeform 76"/>
            <p:cNvSpPr/>
            <p:nvPr/>
          </p:nvSpPr>
          <p:spPr bwMode="auto">
            <a:xfrm>
              <a:off x="4751388" y="2212975"/>
              <a:ext cx="104775" cy="111125"/>
            </a:xfrm>
            <a:custGeom>
              <a:avLst/>
              <a:gdLst/>
              <a:ahLst/>
              <a:cxnLst>
                <a:cxn ang="0">
                  <a:pos x="6" y="8"/>
                </a:cxn>
                <a:cxn ang="0">
                  <a:pos x="27" y="11"/>
                </a:cxn>
                <a:cxn ang="0">
                  <a:pos x="36" y="38"/>
                </a:cxn>
                <a:cxn ang="0">
                  <a:pos x="5" y="23"/>
                </a:cxn>
                <a:cxn ang="0">
                  <a:pos x="6" y="8"/>
                </a:cxn>
              </a:cxnLst>
              <a:rect l="0" t="0" r="r" b="b"/>
              <a:pathLst>
                <a:path w="36" h="38">
                  <a:moveTo>
                    <a:pt x="6" y="8"/>
                  </a:moveTo>
                  <a:cubicBezTo>
                    <a:pt x="6" y="8"/>
                    <a:pt x="17" y="0"/>
                    <a:pt x="27" y="11"/>
                  </a:cubicBezTo>
                  <a:cubicBezTo>
                    <a:pt x="36" y="21"/>
                    <a:pt x="34" y="33"/>
                    <a:pt x="36" y="38"/>
                  </a:cubicBezTo>
                  <a:cubicBezTo>
                    <a:pt x="36" y="38"/>
                    <a:pt x="14" y="35"/>
                    <a:pt x="5" y="23"/>
                  </a:cubicBezTo>
                  <a:cubicBezTo>
                    <a:pt x="0" y="16"/>
                    <a:pt x="4" y="11"/>
                    <a:pt x="6" y="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5" name="Freeform 77"/>
            <p:cNvSpPr/>
            <p:nvPr/>
          </p:nvSpPr>
          <p:spPr bwMode="auto">
            <a:xfrm>
              <a:off x="4638676" y="2279650"/>
              <a:ext cx="138113" cy="111125"/>
            </a:xfrm>
            <a:custGeom>
              <a:avLst/>
              <a:gdLst/>
              <a:ahLst/>
              <a:cxnLst>
                <a:cxn ang="0">
                  <a:pos x="15" y="5"/>
                </a:cxn>
                <a:cxn ang="0">
                  <a:pos x="39" y="12"/>
                </a:cxn>
                <a:cxn ang="0">
                  <a:pos x="47" y="35"/>
                </a:cxn>
                <a:cxn ang="0">
                  <a:pos x="15" y="5"/>
                </a:cxn>
              </a:cxnLst>
              <a:rect l="0" t="0" r="r" b="b"/>
              <a:pathLst>
                <a:path w="47" h="38">
                  <a:moveTo>
                    <a:pt x="15" y="5"/>
                  </a:moveTo>
                  <a:cubicBezTo>
                    <a:pt x="15" y="5"/>
                    <a:pt x="31" y="0"/>
                    <a:pt x="39" y="12"/>
                  </a:cubicBezTo>
                  <a:cubicBezTo>
                    <a:pt x="47" y="23"/>
                    <a:pt x="44" y="31"/>
                    <a:pt x="47" y="35"/>
                  </a:cubicBezTo>
                  <a:cubicBezTo>
                    <a:pt x="47" y="35"/>
                    <a:pt x="0" y="38"/>
                    <a:pt x="15" y="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6" name="Freeform 78"/>
            <p:cNvSpPr/>
            <p:nvPr/>
          </p:nvSpPr>
          <p:spPr bwMode="auto">
            <a:xfrm>
              <a:off x="4132263" y="2089150"/>
              <a:ext cx="123825" cy="117475"/>
            </a:xfrm>
            <a:custGeom>
              <a:avLst/>
              <a:gdLst/>
              <a:ahLst/>
              <a:cxnLst>
                <a:cxn ang="0">
                  <a:pos x="22" y="35"/>
                </a:cxn>
                <a:cxn ang="0">
                  <a:pos x="40" y="0"/>
                </a:cxn>
                <a:cxn ang="0">
                  <a:pos x="40" y="17"/>
                </a:cxn>
                <a:cxn ang="0">
                  <a:pos x="22" y="35"/>
                </a:cxn>
              </a:cxnLst>
              <a:rect l="0" t="0" r="r" b="b"/>
              <a:pathLst>
                <a:path w="42" h="40">
                  <a:moveTo>
                    <a:pt x="22" y="35"/>
                  </a:moveTo>
                  <a:cubicBezTo>
                    <a:pt x="22" y="35"/>
                    <a:pt x="0" y="19"/>
                    <a:pt x="40" y="0"/>
                  </a:cubicBezTo>
                  <a:cubicBezTo>
                    <a:pt x="40" y="0"/>
                    <a:pt x="39" y="8"/>
                    <a:pt x="40" y="17"/>
                  </a:cubicBezTo>
                  <a:cubicBezTo>
                    <a:pt x="42" y="25"/>
                    <a:pt x="36" y="40"/>
                    <a:pt x="22" y="3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7" name="Freeform 79"/>
            <p:cNvSpPr/>
            <p:nvPr/>
          </p:nvSpPr>
          <p:spPr bwMode="auto">
            <a:xfrm>
              <a:off x="4067176" y="2036763"/>
              <a:ext cx="112713" cy="123825"/>
            </a:xfrm>
            <a:custGeom>
              <a:avLst/>
              <a:gdLst/>
              <a:ahLst/>
              <a:cxnLst>
                <a:cxn ang="0">
                  <a:pos x="11" y="36"/>
                </a:cxn>
                <a:cxn ang="0">
                  <a:pos x="17" y="6"/>
                </a:cxn>
                <a:cxn ang="0">
                  <a:pos x="28" y="0"/>
                </a:cxn>
                <a:cxn ang="0">
                  <a:pos x="25" y="39"/>
                </a:cxn>
                <a:cxn ang="0">
                  <a:pos x="11" y="36"/>
                </a:cxn>
              </a:cxnLst>
              <a:rect l="0" t="0" r="r" b="b"/>
              <a:pathLst>
                <a:path w="38" h="42">
                  <a:moveTo>
                    <a:pt x="11" y="36"/>
                  </a:moveTo>
                  <a:cubicBezTo>
                    <a:pt x="11" y="36"/>
                    <a:pt x="0" y="21"/>
                    <a:pt x="17" y="6"/>
                  </a:cubicBezTo>
                  <a:cubicBezTo>
                    <a:pt x="21" y="3"/>
                    <a:pt x="28" y="0"/>
                    <a:pt x="28" y="0"/>
                  </a:cubicBezTo>
                  <a:cubicBezTo>
                    <a:pt x="28" y="0"/>
                    <a:pt x="38" y="31"/>
                    <a:pt x="25" y="39"/>
                  </a:cubicBezTo>
                  <a:cubicBezTo>
                    <a:pt x="20" y="42"/>
                    <a:pt x="14" y="41"/>
                    <a:pt x="11" y="36"/>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8" name="Freeform 80"/>
            <p:cNvSpPr/>
            <p:nvPr/>
          </p:nvSpPr>
          <p:spPr bwMode="auto">
            <a:xfrm>
              <a:off x="3956051" y="2019300"/>
              <a:ext cx="109538" cy="125413"/>
            </a:xfrm>
            <a:custGeom>
              <a:avLst/>
              <a:gdLst/>
              <a:ahLst/>
              <a:cxnLst>
                <a:cxn ang="0">
                  <a:pos x="19" y="42"/>
                </a:cxn>
                <a:cxn ang="0">
                  <a:pos x="9" y="15"/>
                </a:cxn>
                <a:cxn ang="0">
                  <a:pos x="17" y="0"/>
                </a:cxn>
                <a:cxn ang="0">
                  <a:pos x="24" y="11"/>
                </a:cxn>
                <a:cxn ang="0">
                  <a:pos x="19" y="42"/>
                </a:cxn>
              </a:cxnLst>
              <a:rect l="0" t="0" r="r" b="b"/>
              <a:pathLst>
                <a:path w="37" h="43">
                  <a:moveTo>
                    <a:pt x="19" y="42"/>
                  </a:moveTo>
                  <a:cubicBezTo>
                    <a:pt x="9" y="43"/>
                    <a:pt x="0" y="30"/>
                    <a:pt x="9" y="15"/>
                  </a:cubicBezTo>
                  <a:cubicBezTo>
                    <a:pt x="17" y="0"/>
                    <a:pt x="17" y="0"/>
                    <a:pt x="17" y="0"/>
                  </a:cubicBezTo>
                  <a:cubicBezTo>
                    <a:pt x="17" y="0"/>
                    <a:pt x="21" y="7"/>
                    <a:pt x="24" y="11"/>
                  </a:cubicBezTo>
                  <a:cubicBezTo>
                    <a:pt x="30" y="20"/>
                    <a:pt x="37" y="42"/>
                    <a:pt x="19"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9" name="Freeform 81"/>
            <p:cNvSpPr/>
            <p:nvPr/>
          </p:nvSpPr>
          <p:spPr bwMode="auto">
            <a:xfrm>
              <a:off x="3827463" y="2106613"/>
              <a:ext cx="146050" cy="100013"/>
            </a:xfrm>
            <a:custGeom>
              <a:avLst/>
              <a:gdLst/>
              <a:ahLst/>
              <a:cxnLst>
                <a:cxn ang="0">
                  <a:pos x="49" y="24"/>
                </a:cxn>
                <a:cxn ang="0">
                  <a:pos x="9" y="12"/>
                </a:cxn>
                <a:cxn ang="0">
                  <a:pos x="0" y="19"/>
                </a:cxn>
                <a:cxn ang="0">
                  <a:pos x="23" y="33"/>
                </a:cxn>
                <a:cxn ang="0">
                  <a:pos x="49" y="24"/>
                </a:cxn>
              </a:cxnLst>
              <a:rect l="0" t="0" r="r" b="b"/>
              <a:pathLst>
                <a:path w="50" h="34">
                  <a:moveTo>
                    <a:pt x="49" y="24"/>
                  </a:moveTo>
                  <a:cubicBezTo>
                    <a:pt x="49" y="24"/>
                    <a:pt x="30" y="0"/>
                    <a:pt x="9" y="12"/>
                  </a:cubicBezTo>
                  <a:cubicBezTo>
                    <a:pt x="9" y="12"/>
                    <a:pt x="3" y="17"/>
                    <a:pt x="0" y="19"/>
                  </a:cubicBezTo>
                  <a:cubicBezTo>
                    <a:pt x="0" y="19"/>
                    <a:pt x="10" y="32"/>
                    <a:pt x="23" y="33"/>
                  </a:cubicBezTo>
                  <a:cubicBezTo>
                    <a:pt x="35" y="34"/>
                    <a:pt x="50" y="33"/>
                    <a:pt x="49"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0" name="Freeform 82"/>
            <p:cNvSpPr/>
            <p:nvPr/>
          </p:nvSpPr>
          <p:spPr bwMode="auto">
            <a:xfrm>
              <a:off x="3948113" y="2220913"/>
              <a:ext cx="119063" cy="109538"/>
            </a:xfrm>
            <a:custGeom>
              <a:avLst/>
              <a:gdLst/>
              <a:ahLst/>
              <a:cxnLst>
                <a:cxn ang="0">
                  <a:pos x="28" y="1"/>
                </a:cxn>
                <a:cxn ang="0">
                  <a:pos x="7" y="19"/>
                </a:cxn>
                <a:cxn ang="0">
                  <a:pos x="0" y="37"/>
                </a:cxn>
                <a:cxn ang="0">
                  <a:pos x="38" y="20"/>
                </a:cxn>
                <a:cxn ang="0">
                  <a:pos x="28" y="1"/>
                </a:cxn>
              </a:cxnLst>
              <a:rect l="0" t="0" r="r" b="b"/>
              <a:pathLst>
                <a:path w="41" h="37">
                  <a:moveTo>
                    <a:pt x="28" y="1"/>
                  </a:moveTo>
                  <a:cubicBezTo>
                    <a:pt x="23" y="1"/>
                    <a:pt x="8" y="5"/>
                    <a:pt x="7" y="19"/>
                  </a:cubicBezTo>
                  <a:cubicBezTo>
                    <a:pt x="5" y="32"/>
                    <a:pt x="0" y="37"/>
                    <a:pt x="0" y="37"/>
                  </a:cubicBezTo>
                  <a:cubicBezTo>
                    <a:pt x="0" y="37"/>
                    <a:pt x="35" y="35"/>
                    <a:pt x="38" y="20"/>
                  </a:cubicBezTo>
                  <a:cubicBezTo>
                    <a:pt x="41" y="4"/>
                    <a:pt x="33" y="0"/>
                    <a:pt x="28" y="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1" name="Freeform 83"/>
            <p:cNvSpPr/>
            <p:nvPr/>
          </p:nvSpPr>
          <p:spPr bwMode="auto">
            <a:xfrm>
              <a:off x="4056063" y="2265363"/>
              <a:ext cx="179388" cy="128588"/>
            </a:xfrm>
            <a:custGeom>
              <a:avLst/>
              <a:gdLst/>
              <a:ahLst/>
              <a:cxnLst>
                <a:cxn ang="0">
                  <a:pos x="30" y="7"/>
                </a:cxn>
                <a:cxn ang="0">
                  <a:pos x="10" y="44"/>
                </a:cxn>
                <a:cxn ang="0">
                  <a:pos x="30" y="7"/>
                </a:cxn>
              </a:cxnLst>
              <a:rect l="0" t="0" r="r" b="b"/>
              <a:pathLst>
                <a:path w="61" h="44">
                  <a:moveTo>
                    <a:pt x="30" y="7"/>
                  </a:moveTo>
                  <a:cubicBezTo>
                    <a:pt x="18" y="0"/>
                    <a:pt x="0" y="12"/>
                    <a:pt x="10" y="44"/>
                  </a:cubicBezTo>
                  <a:cubicBezTo>
                    <a:pt x="10" y="44"/>
                    <a:pt x="61" y="26"/>
                    <a:pt x="30" y="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2" name="Freeform 84"/>
            <p:cNvSpPr/>
            <p:nvPr/>
          </p:nvSpPr>
          <p:spPr bwMode="auto">
            <a:xfrm>
              <a:off x="4457701" y="1565275"/>
              <a:ext cx="138113" cy="155575"/>
            </a:xfrm>
            <a:custGeom>
              <a:avLst/>
              <a:gdLst/>
              <a:ahLst/>
              <a:cxnLst>
                <a:cxn ang="0">
                  <a:pos x="23" y="44"/>
                </a:cxn>
                <a:cxn ang="0">
                  <a:pos x="42" y="0"/>
                </a:cxn>
                <a:cxn ang="0">
                  <a:pos x="46" y="17"/>
                </a:cxn>
                <a:cxn ang="0">
                  <a:pos x="23" y="44"/>
                </a:cxn>
              </a:cxnLst>
              <a:rect l="0" t="0" r="r" b="b"/>
              <a:pathLst>
                <a:path w="47" h="53">
                  <a:moveTo>
                    <a:pt x="23" y="44"/>
                  </a:moveTo>
                  <a:cubicBezTo>
                    <a:pt x="23" y="44"/>
                    <a:pt x="0" y="21"/>
                    <a:pt x="42" y="0"/>
                  </a:cubicBezTo>
                  <a:cubicBezTo>
                    <a:pt x="42" y="0"/>
                    <a:pt x="45" y="8"/>
                    <a:pt x="46" y="17"/>
                  </a:cubicBezTo>
                  <a:cubicBezTo>
                    <a:pt x="47" y="26"/>
                    <a:pt x="43" y="53"/>
                    <a:pt x="23"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3" name="Freeform 85"/>
            <p:cNvSpPr/>
            <p:nvPr/>
          </p:nvSpPr>
          <p:spPr bwMode="auto">
            <a:xfrm>
              <a:off x="4398963" y="1609725"/>
              <a:ext cx="103188" cy="133350"/>
            </a:xfrm>
            <a:custGeom>
              <a:avLst/>
              <a:gdLst/>
              <a:ahLst/>
              <a:cxnLst>
                <a:cxn ang="0">
                  <a:pos x="24" y="41"/>
                </a:cxn>
                <a:cxn ang="0">
                  <a:pos x="14" y="11"/>
                </a:cxn>
                <a:cxn ang="0">
                  <a:pos x="1" y="0"/>
                </a:cxn>
                <a:cxn ang="0">
                  <a:pos x="1" y="19"/>
                </a:cxn>
                <a:cxn ang="0">
                  <a:pos x="10" y="43"/>
                </a:cxn>
                <a:cxn ang="0">
                  <a:pos x="24" y="41"/>
                </a:cxn>
              </a:cxnLst>
              <a:rect l="0" t="0" r="r" b="b"/>
              <a:pathLst>
                <a:path w="35" h="46">
                  <a:moveTo>
                    <a:pt x="24" y="41"/>
                  </a:moveTo>
                  <a:cubicBezTo>
                    <a:pt x="24" y="41"/>
                    <a:pt x="35" y="25"/>
                    <a:pt x="14" y="11"/>
                  </a:cubicBezTo>
                  <a:cubicBezTo>
                    <a:pt x="3" y="3"/>
                    <a:pt x="1" y="0"/>
                    <a:pt x="1" y="0"/>
                  </a:cubicBezTo>
                  <a:cubicBezTo>
                    <a:pt x="1" y="0"/>
                    <a:pt x="0" y="14"/>
                    <a:pt x="1" y="19"/>
                  </a:cubicBezTo>
                  <a:cubicBezTo>
                    <a:pt x="1" y="24"/>
                    <a:pt x="0" y="38"/>
                    <a:pt x="10" y="43"/>
                  </a:cubicBezTo>
                  <a:cubicBezTo>
                    <a:pt x="17" y="46"/>
                    <a:pt x="24" y="41"/>
                    <a:pt x="2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4" name="Freeform 86"/>
            <p:cNvSpPr/>
            <p:nvPr/>
          </p:nvSpPr>
          <p:spPr bwMode="auto">
            <a:xfrm>
              <a:off x="4527551" y="1682750"/>
              <a:ext cx="138113" cy="131763"/>
            </a:xfrm>
            <a:custGeom>
              <a:avLst/>
              <a:gdLst/>
              <a:ahLst/>
              <a:cxnLst>
                <a:cxn ang="0">
                  <a:pos x="6" y="21"/>
                </a:cxn>
                <a:cxn ang="0">
                  <a:pos x="47" y="34"/>
                </a:cxn>
                <a:cxn ang="0">
                  <a:pos x="9" y="35"/>
                </a:cxn>
                <a:cxn ang="0">
                  <a:pos x="6" y="21"/>
                </a:cxn>
              </a:cxnLst>
              <a:rect l="0" t="0" r="r" b="b"/>
              <a:pathLst>
                <a:path w="47" h="45">
                  <a:moveTo>
                    <a:pt x="6" y="21"/>
                  </a:moveTo>
                  <a:cubicBezTo>
                    <a:pt x="6" y="21"/>
                    <a:pt x="31" y="0"/>
                    <a:pt x="47" y="34"/>
                  </a:cubicBezTo>
                  <a:cubicBezTo>
                    <a:pt x="47" y="34"/>
                    <a:pt x="28" y="45"/>
                    <a:pt x="9" y="35"/>
                  </a:cubicBezTo>
                  <a:cubicBezTo>
                    <a:pt x="0" y="31"/>
                    <a:pt x="6" y="23"/>
                    <a:pt x="6" y="2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5" name="Freeform 87"/>
            <p:cNvSpPr/>
            <p:nvPr/>
          </p:nvSpPr>
          <p:spPr bwMode="auto">
            <a:xfrm>
              <a:off x="4475163" y="1814513"/>
              <a:ext cx="138113" cy="117475"/>
            </a:xfrm>
            <a:custGeom>
              <a:avLst/>
              <a:gdLst/>
              <a:ahLst/>
              <a:cxnLst>
                <a:cxn ang="0">
                  <a:pos x="1" y="20"/>
                </a:cxn>
                <a:cxn ang="0">
                  <a:pos x="47" y="14"/>
                </a:cxn>
                <a:cxn ang="0">
                  <a:pos x="33" y="24"/>
                </a:cxn>
                <a:cxn ang="0">
                  <a:pos x="1" y="20"/>
                </a:cxn>
              </a:cxnLst>
              <a:rect l="0" t="0" r="r" b="b"/>
              <a:pathLst>
                <a:path w="47" h="40">
                  <a:moveTo>
                    <a:pt x="1" y="20"/>
                  </a:moveTo>
                  <a:cubicBezTo>
                    <a:pt x="0" y="15"/>
                    <a:pt x="9" y="0"/>
                    <a:pt x="47" y="14"/>
                  </a:cubicBezTo>
                  <a:cubicBezTo>
                    <a:pt x="47" y="14"/>
                    <a:pt x="38" y="21"/>
                    <a:pt x="33" y="24"/>
                  </a:cubicBezTo>
                  <a:cubicBezTo>
                    <a:pt x="28" y="28"/>
                    <a:pt x="2" y="40"/>
                    <a:pt x="1" y="2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6" name="Freeform 88"/>
            <p:cNvSpPr/>
            <p:nvPr/>
          </p:nvSpPr>
          <p:spPr bwMode="auto">
            <a:xfrm>
              <a:off x="4481513" y="1946275"/>
              <a:ext cx="122238" cy="111125"/>
            </a:xfrm>
            <a:custGeom>
              <a:avLst/>
              <a:gdLst/>
              <a:ahLst/>
              <a:cxnLst>
                <a:cxn ang="0">
                  <a:pos x="1" y="19"/>
                </a:cxn>
                <a:cxn ang="0">
                  <a:pos x="35" y="0"/>
                </a:cxn>
                <a:cxn ang="0">
                  <a:pos x="42" y="0"/>
                </a:cxn>
                <a:cxn ang="0">
                  <a:pos x="24" y="31"/>
                </a:cxn>
                <a:cxn ang="0">
                  <a:pos x="1" y="19"/>
                </a:cxn>
              </a:cxnLst>
              <a:rect l="0" t="0" r="r" b="b"/>
              <a:pathLst>
                <a:path w="42" h="38">
                  <a:moveTo>
                    <a:pt x="1" y="19"/>
                  </a:moveTo>
                  <a:cubicBezTo>
                    <a:pt x="0" y="14"/>
                    <a:pt x="2" y="0"/>
                    <a:pt x="35" y="0"/>
                  </a:cubicBezTo>
                  <a:cubicBezTo>
                    <a:pt x="35" y="0"/>
                    <a:pt x="40" y="1"/>
                    <a:pt x="42" y="0"/>
                  </a:cubicBezTo>
                  <a:cubicBezTo>
                    <a:pt x="42" y="0"/>
                    <a:pt x="36" y="23"/>
                    <a:pt x="24" y="31"/>
                  </a:cubicBezTo>
                  <a:cubicBezTo>
                    <a:pt x="12" y="38"/>
                    <a:pt x="2" y="27"/>
                    <a:pt x="1" y="1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7" name="Freeform 89"/>
            <p:cNvSpPr/>
            <p:nvPr/>
          </p:nvSpPr>
          <p:spPr bwMode="auto">
            <a:xfrm>
              <a:off x="4232276" y="1990725"/>
              <a:ext cx="139700" cy="93663"/>
            </a:xfrm>
            <a:custGeom>
              <a:avLst/>
              <a:gdLst/>
              <a:ahLst/>
              <a:cxnLst>
                <a:cxn ang="0">
                  <a:pos x="46" y="18"/>
                </a:cxn>
                <a:cxn ang="0">
                  <a:pos x="15" y="3"/>
                </a:cxn>
                <a:cxn ang="0">
                  <a:pos x="0" y="5"/>
                </a:cxn>
                <a:cxn ang="0">
                  <a:pos x="24" y="30"/>
                </a:cxn>
                <a:cxn ang="0">
                  <a:pos x="46" y="18"/>
                </a:cxn>
              </a:cxnLst>
              <a:rect l="0" t="0" r="r" b="b"/>
              <a:pathLst>
                <a:path w="48" h="32">
                  <a:moveTo>
                    <a:pt x="46" y="18"/>
                  </a:moveTo>
                  <a:cubicBezTo>
                    <a:pt x="46" y="18"/>
                    <a:pt x="44" y="0"/>
                    <a:pt x="15" y="3"/>
                  </a:cubicBezTo>
                  <a:cubicBezTo>
                    <a:pt x="15" y="3"/>
                    <a:pt x="2" y="6"/>
                    <a:pt x="0" y="5"/>
                  </a:cubicBezTo>
                  <a:cubicBezTo>
                    <a:pt x="0" y="5"/>
                    <a:pt x="10" y="27"/>
                    <a:pt x="24" y="30"/>
                  </a:cubicBezTo>
                  <a:cubicBezTo>
                    <a:pt x="38" y="32"/>
                    <a:pt x="48" y="27"/>
                    <a:pt x="46" y="1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8" name="Freeform 90"/>
            <p:cNvSpPr/>
            <p:nvPr/>
          </p:nvSpPr>
          <p:spPr bwMode="auto">
            <a:xfrm>
              <a:off x="4170363" y="1870075"/>
              <a:ext cx="131763" cy="87313"/>
            </a:xfrm>
            <a:custGeom>
              <a:avLst/>
              <a:gdLst/>
              <a:ahLst/>
              <a:cxnLst>
                <a:cxn ang="0">
                  <a:pos x="41" y="11"/>
                </a:cxn>
                <a:cxn ang="0">
                  <a:pos x="7" y="8"/>
                </a:cxn>
                <a:cxn ang="0">
                  <a:pos x="0" y="18"/>
                </a:cxn>
                <a:cxn ang="0">
                  <a:pos x="19" y="24"/>
                </a:cxn>
                <a:cxn ang="0">
                  <a:pos x="41" y="11"/>
                </a:cxn>
              </a:cxnLst>
              <a:rect l="0" t="0" r="r" b="b"/>
              <a:pathLst>
                <a:path w="45" h="30">
                  <a:moveTo>
                    <a:pt x="41" y="11"/>
                  </a:moveTo>
                  <a:cubicBezTo>
                    <a:pt x="37" y="5"/>
                    <a:pt x="22" y="0"/>
                    <a:pt x="7" y="8"/>
                  </a:cubicBezTo>
                  <a:cubicBezTo>
                    <a:pt x="1" y="12"/>
                    <a:pt x="0" y="18"/>
                    <a:pt x="0" y="18"/>
                  </a:cubicBezTo>
                  <a:cubicBezTo>
                    <a:pt x="0" y="18"/>
                    <a:pt x="13" y="21"/>
                    <a:pt x="19" y="24"/>
                  </a:cubicBezTo>
                  <a:cubicBezTo>
                    <a:pt x="32" y="30"/>
                    <a:pt x="45" y="18"/>
                    <a:pt x="41" y="1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9" name="Freeform 91"/>
            <p:cNvSpPr/>
            <p:nvPr/>
          </p:nvSpPr>
          <p:spPr bwMode="auto">
            <a:xfrm>
              <a:off x="4122738" y="1682750"/>
              <a:ext cx="120650" cy="114300"/>
            </a:xfrm>
            <a:custGeom>
              <a:avLst/>
              <a:gdLst/>
              <a:ahLst/>
              <a:cxnLst>
                <a:cxn ang="0">
                  <a:pos x="30" y="34"/>
                </a:cxn>
                <a:cxn ang="0">
                  <a:pos x="23" y="9"/>
                </a:cxn>
                <a:cxn ang="0">
                  <a:pos x="8" y="0"/>
                </a:cxn>
                <a:cxn ang="0">
                  <a:pos x="9" y="27"/>
                </a:cxn>
                <a:cxn ang="0">
                  <a:pos x="30" y="34"/>
                </a:cxn>
              </a:cxnLst>
              <a:rect l="0" t="0" r="r" b="b"/>
              <a:pathLst>
                <a:path w="41" h="39">
                  <a:moveTo>
                    <a:pt x="30" y="34"/>
                  </a:moveTo>
                  <a:cubicBezTo>
                    <a:pt x="30" y="34"/>
                    <a:pt x="41" y="17"/>
                    <a:pt x="23" y="9"/>
                  </a:cubicBezTo>
                  <a:cubicBezTo>
                    <a:pt x="10" y="3"/>
                    <a:pt x="8" y="0"/>
                    <a:pt x="8" y="0"/>
                  </a:cubicBezTo>
                  <a:cubicBezTo>
                    <a:pt x="8" y="0"/>
                    <a:pt x="0" y="15"/>
                    <a:pt x="9" y="27"/>
                  </a:cubicBezTo>
                  <a:cubicBezTo>
                    <a:pt x="18" y="39"/>
                    <a:pt x="27" y="35"/>
                    <a:pt x="30" y="3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0" name="Freeform 92"/>
            <p:cNvSpPr/>
            <p:nvPr/>
          </p:nvSpPr>
          <p:spPr bwMode="auto">
            <a:xfrm>
              <a:off x="4246563" y="1670050"/>
              <a:ext cx="125413" cy="134938"/>
            </a:xfrm>
            <a:custGeom>
              <a:avLst/>
              <a:gdLst/>
              <a:ahLst/>
              <a:cxnLst>
                <a:cxn ang="0">
                  <a:pos x="14" y="41"/>
                </a:cxn>
                <a:cxn ang="0">
                  <a:pos x="12" y="17"/>
                </a:cxn>
                <a:cxn ang="0">
                  <a:pos x="31" y="0"/>
                </a:cxn>
                <a:cxn ang="0">
                  <a:pos x="35" y="38"/>
                </a:cxn>
                <a:cxn ang="0">
                  <a:pos x="14" y="41"/>
                </a:cxn>
              </a:cxnLst>
              <a:rect l="0" t="0" r="r" b="b"/>
              <a:pathLst>
                <a:path w="43" h="46">
                  <a:moveTo>
                    <a:pt x="14" y="41"/>
                  </a:moveTo>
                  <a:cubicBezTo>
                    <a:pt x="14" y="41"/>
                    <a:pt x="0" y="28"/>
                    <a:pt x="12" y="17"/>
                  </a:cubicBezTo>
                  <a:cubicBezTo>
                    <a:pt x="24" y="5"/>
                    <a:pt x="31" y="4"/>
                    <a:pt x="31" y="0"/>
                  </a:cubicBezTo>
                  <a:cubicBezTo>
                    <a:pt x="31" y="0"/>
                    <a:pt x="43" y="30"/>
                    <a:pt x="35" y="38"/>
                  </a:cubicBezTo>
                  <a:cubicBezTo>
                    <a:pt x="28" y="46"/>
                    <a:pt x="19" y="44"/>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1" name="Freeform 93"/>
            <p:cNvSpPr/>
            <p:nvPr/>
          </p:nvSpPr>
          <p:spPr bwMode="auto">
            <a:xfrm>
              <a:off x="4654551" y="1831975"/>
              <a:ext cx="128588" cy="134938"/>
            </a:xfrm>
            <a:custGeom>
              <a:avLst/>
              <a:gdLst/>
              <a:ahLst/>
              <a:cxnLst>
                <a:cxn ang="0">
                  <a:pos x="8" y="38"/>
                </a:cxn>
                <a:cxn ang="0">
                  <a:pos x="16" y="12"/>
                </a:cxn>
                <a:cxn ang="0">
                  <a:pos x="38" y="0"/>
                </a:cxn>
                <a:cxn ang="0">
                  <a:pos x="35" y="39"/>
                </a:cxn>
                <a:cxn ang="0">
                  <a:pos x="8" y="38"/>
                </a:cxn>
              </a:cxnLst>
              <a:rect l="0" t="0" r="r" b="b"/>
              <a:pathLst>
                <a:path w="44" h="46">
                  <a:moveTo>
                    <a:pt x="8" y="38"/>
                  </a:moveTo>
                  <a:cubicBezTo>
                    <a:pt x="8" y="38"/>
                    <a:pt x="0" y="19"/>
                    <a:pt x="16" y="12"/>
                  </a:cubicBezTo>
                  <a:cubicBezTo>
                    <a:pt x="33" y="5"/>
                    <a:pt x="38" y="0"/>
                    <a:pt x="38" y="0"/>
                  </a:cubicBezTo>
                  <a:cubicBezTo>
                    <a:pt x="38" y="0"/>
                    <a:pt x="44" y="32"/>
                    <a:pt x="35" y="39"/>
                  </a:cubicBezTo>
                  <a:cubicBezTo>
                    <a:pt x="25" y="45"/>
                    <a:pt x="13" y="46"/>
                    <a:pt x="8"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2" name="Freeform 94"/>
            <p:cNvSpPr/>
            <p:nvPr/>
          </p:nvSpPr>
          <p:spPr bwMode="auto">
            <a:xfrm>
              <a:off x="4668838" y="1649413"/>
              <a:ext cx="84138" cy="120650"/>
            </a:xfrm>
            <a:custGeom>
              <a:avLst/>
              <a:gdLst/>
              <a:ahLst/>
              <a:cxnLst>
                <a:cxn ang="0">
                  <a:pos x="14" y="41"/>
                </a:cxn>
                <a:cxn ang="0">
                  <a:pos x="2" y="21"/>
                </a:cxn>
                <a:cxn ang="0">
                  <a:pos x="15" y="0"/>
                </a:cxn>
                <a:cxn ang="0">
                  <a:pos x="27" y="20"/>
                </a:cxn>
                <a:cxn ang="0">
                  <a:pos x="14" y="41"/>
                </a:cxn>
              </a:cxnLst>
              <a:rect l="0" t="0" r="r" b="b"/>
              <a:pathLst>
                <a:path w="29" h="41">
                  <a:moveTo>
                    <a:pt x="14" y="41"/>
                  </a:moveTo>
                  <a:cubicBezTo>
                    <a:pt x="14" y="41"/>
                    <a:pt x="0" y="31"/>
                    <a:pt x="2" y="21"/>
                  </a:cubicBezTo>
                  <a:cubicBezTo>
                    <a:pt x="4" y="11"/>
                    <a:pt x="15" y="3"/>
                    <a:pt x="15" y="0"/>
                  </a:cubicBezTo>
                  <a:cubicBezTo>
                    <a:pt x="15" y="0"/>
                    <a:pt x="26" y="13"/>
                    <a:pt x="27" y="20"/>
                  </a:cubicBezTo>
                  <a:cubicBezTo>
                    <a:pt x="29" y="26"/>
                    <a:pt x="27" y="40"/>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3" name="Freeform 95"/>
            <p:cNvSpPr/>
            <p:nvPr/>
          </p:nvSpPr>
          <p:spPr bwMode="auto">
            <a:xfrm>
              <a:off x="3976688" y="1876425"/>
              <a:ext cx="141288" cy="122238"/>
            </a:xfrm>
            <a:custGeom>
              <a:avLst/>
              <a:gdLst/>
              <a:ahLst/>
              <a:cxnLst>
                <a:cxn ang="0">
                  <a:pos x="31" y="42"/>
                </a:cxn>
                <a:cxn ang="0">
                  <a:pos x="23" y="0"/>
                </a:cxn>
                <a:cxn ang="0">
                  <a:pos x="34" y="11"/>
                </a:cxn>
                <a:cxn ang="0">
                  <a:pos x="31" y="42"/>
                </a:cxn>
              </a:cxnLst>
              <a:rect l="0" t="0" r="r" b="b"/>
              <a:pathLst>
                <a:path w="48" h="42">
                  <a:moveTo>
                    <a:pt x="31" y="42"/>
                  </a:moveTo>
                  <a:cubicBezTo>
                    <a:pt x="31" y="42"/>
                    <a:pt x="0" y="34"/>
                    <a:pt x="23" y="0"/>
                  </a:cubicBezTo>
                  <a:cubicBezTo>
                    <a:pt x="23" y="0"/>
                    <a:pt x="27" y="6"/>
                    <a:pt x="34" y="11"/>
                  </a:cubicBezTo>
                  <a:cubicBezTo>
                    <a:pt x="41" y="16"/>
                    <a:pt x="48" y="42"/>
                    <a:pt x="31"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4" name="Freeform 96"/>
            <p:cNvSpPr/>
            <p:nvPr/>
          </p:nvSpPr>
          <p:spPr bwMode="auto">
            <a:xfrm>
              <a:off x="3830638" y="1901825"/>
              <a:ext cx="169863" cy="128588"/>
            </a:xfrm>
            <a:custGeom>
              <a:avLst/>
              <a:gdLst/>
              <a:ahLst/>
              <a:cxnLst>
                <a:cxn ang="0">
                  <a:pos x="26" y="44"/>
                </a:cxn>
                <a:cxn ang="0">
                  <a:pos x="20" y="0"/>
                </a:cxn>
                <a:cxn ang="0">
                  <a:pos x="28" y="7"/>
                </a:cxn>
                <a:cxn ang="0">
                  <a:pos x="26" y="44"/>
                </a:cxn>
              </a:cxnLst>
              <a:rect l="0" t="0" r="r" b="b"/>
              <a:pathLst>
                <a:path w="58" h="44">
                  <a:moveTo>
                    <a:pt x="26" y="44"/>
                  </a:moveTo>
                  <a:cubicBezTo>
                    <a:pt x="26" y="44"/>
                    <a:pt x="0" y="31"/>
                    <a:pt x="20" y="0"/>
                  </a:cubicBezTo>
                  <a:cubicBezTo>
                    <a:pt x="20" y="0"/>
                    <a:pt x="24" y="5"/>
                    <a:pt x="28" y="7"/>
                  </a:cubicBezTo>
                  <a:cubicBezTo>
                    <a:pt x="41" y="15"/>
                    <a:pt x="58" y="35"/>
                    <a:pt x="26"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5" name="Freeform 97"/>
            <p:cNvSpPr/>
            <p:nvPr/>
          </p:nvSpPr>
          <p:spPr bwMode="auto">
            <a:xfrm>
              <a:off x="3997326" y="1724025"/>
              <a:ext cx="146050" cy="111125"/>
            </a:xfrm>
            <a:custGeom>
              <a:avLst/>
              <a:gdLst/>
              <a:ahLst/>
              <a:cxnLst>
                <a:cxn ang="0">
                  <a:pos x="30" y="38"/>
                </a:cxn>
                <a:cxn ang="0">
                  <a:pos x="18" y="0"/>
                </a:cxn>
                <a:cxn ang="0">
                  <a:pos x="26" y="9"/>
                </a:cxn>
                <a:cxn ang="0">
                  <a:pos x="30" y="38"/>
                </a:cxn>
              </a:cxnLst>
              <a:rect l="0" t="0" r="r" b="b"/>
              <a:pathLst>
                <a:path w="50" h="38">
                  <a:moveTo>
                    <a:pt x="30" y="38"/>
                  </a:moveTo>
                  <a:cubicBezTo>
                    <a:pt x="30" y="38"/>
                    <a:pt x="0" y="38"/>
                    <a:pt x="18" y="0"/>
                  </a:cubicBezTo>
                  <a:cubicBezTo>
                    <a:pt x="18" y="0"/>
                    <a:pt x="22" y="7"/>
                    <a:pt x="26" y="9"/>
                  </a:cubicBezTo>
                  <a:cubicBezTo>
                    <a:pt x="30" y="11"/>
                    <a:pt x="50" y="31"/>
                    <a:pt x="30"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grpSp>
      <p:sp>
        <p:nvSpPr>
          <p:cNvPr id="36" name="日期占位符 35"/>
          <p:cNvSpPr>
            <a:spLocks noGrp="1"/>
          </p:cNvSpPr>
          <p:nvPr>
            <p:ph type="dt" sz="half" idx="10"/>
          </p:nvPr>
        </p:nvSpPr>
        <p:spPr/>
        <p:txBody>
          <a:bodyPr/>
          <a:lstStyle/>
          <a:p>
            <a:fld id="{11A78BC5-36CC-40AB-823F-7C62CAA47C42}" type="datetime1">
              <a:rPr lang="zh-CN" altLang="en-US" smtClean="0"/>
            </a:fld>
            <a:endParaRPr lang="zh-CN" altLang="en-US" dirty="0"/>
          </a:p>
        </p:txBody>
      </p:sp>
      <p:sp>
        <p:nvSpPr>
          <p:cNvPr id="37" name="页脚占位符 36"/>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2953716-606B-47EF-9BAB-07DC0A13A3D6}"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MH" val="20160830110146"/>
  <p:tag name="MH_LIBRARY" val="CONTENTS"/>
  <p:tag name="MH_TYPE" val="OTHERS"/>
  <p:tag name="ID" val="553512"/>
</p:tagLst>
</file>

<file path=ppt/tags/tag2.xml><?xml version="1.0" encoding="utf-8"?>
<p:tagLst xmlns:p="http://schemas.openxmlformats.org/presentationml/2006/main">
  <p:tag name="MH" val="20160830110146"/>
  <p:tag name="MH_LIBRARY" val="CONTENTS"/>
  <p:tag name="MH_TYPE" val="OTHERS"/>
  <p:tag name="ID" val="553512"/>
</p:tagLst>
</file>

<file path=ppt/tags/tag3.xml><?xml version="1.0" encoding="utf-8"?>
<p:tagLst xmlns:p="http://schemas.openxmlformats.org/presentationml/2006/main">
  <p:tag name="KSO_WPP_MARK_KEY" val="adef11c5-7d83-408d-af8a-928cd07d76c0"/>
  <p:tag name="COMMONDATA" val="eyJoZGlkIjoiZDhmZjM3ZTZiYzVhZjRkYzFlNzUwYmM2YTkxODQ5OTUifQ=="/>
</p:tagLst>
</file>

<file path=ppt/theme/_rels/them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积分">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12906</Words>
  <Application>WPS 演示</Application>
  <PresentationFormat>全屏显示(16:9)</PresentationFormat>
  <Paragraphs>2370</Paragraphs>
  <Slides>142</Slides>
  <Notes>52</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142</vt:i4>
      </vt:variant>
    </vt:vector>
  </HeadingPairs>
  <TitlesOfParts>
    <vt:vector size="160" baseType="lpstr">
      <vt:lpstr>Arial</vt:lpstr>
      <vt:lpstr>宋体</vt:lpstr>
      <vt:lpstr>Wingdings</vt:lpstr>
      <vt:lpstr>Wingdings 3</vt:lpstr>
      <vt:lpstr>微软雅黑</vt:lpstr>
      <vt:lpstr>华康俪金黑W8(P)</vt:lpstr>
      <vt:lpstr>黑体</vt:lpstr>
      <vt:lpstr>经典繁仿黑</vt:lpstr>
      <vt:lpstr>华文中宋</vt:lpstr>
      <vt:lpstr>Times New Roman</vt:lpstr>
      <vt:lpstr>Arial Black</vt:lpstr>
      <vt:lpstr>Arial Unicode MS</vt:lpstr>
      <vt:lpstr>等线</vt:lpstr>
      <vt:lpstr>Times New Roman</vt:lpstr>
      <vt:lpstr>Microsoft JhengHei</vt:lpstr>
      <vt:lpstr>Wingdings</vt:lpstr>
      <vt:lpstr>积分</vt:lpstr>
      <vt:lpstr>Photoshop.Image.8</vt:lpstr>
      <vt:lpstr>软件工程 软件设计2</vt:lpstr>
      <vt:lpstr>前情回顾</vt:lpstr>
      <vt:lpstr>本节课程速递</vt:lpstr>
      <vt:lpstr>数据模型设计</vt:lpstr>
      <vt:lpstr>数据库结构设计</vt:lpstr>
      <vt:lpstr>数据库设计的步骤</vt:lpstr>
      <vt:lpstr>数据字典</vt:lpstr>
      <vt:lpstr>数据持久化</vt:lpstr>
      <vt:lpstr>PowerPoint 演示文稿</vt:lpstr>
      <vt:lpstr>数据持久化方式</vt:lpstr>
      <vt:lpstr>数据管理设计</vt:lpstr>
      <vt:lpstr>数据库选择策略</vt:lpstr>
      <vt:lpstr>PowerPoint 演示文稿</vt:lpstr>
      <vt:lpstr>网上报名系统的数据建模——领域类图</vt:lpstr>
      <vt:lpstr>网上报名系统的数据建模——领域类图</vt:lpstr>
      <vt:lpstr>修改后的领域类图</vt:lpstr>
      <vt:lpstr>网上报名系统的数据建模——领域类图</vt:lpstr>
      <vt:lpstr>数据库设计原则</vt:lpstr>
      <vt:lpstr>数据库设计原则</vt:lpstr>
      <vt:lpstr>编写表结构说明</vt:lpstr>
      <vt:lpstr>编写表结构说明</vt:lpstr>
      <vt:lpstr>编写表结构说明</vt:lpstr>
      <vt:lpstr>编写表结构说明</vt:lpstr>
      <vt:lpstr>编写表结构说明</vt:lpstr>
      <vt:lpstr>编写表结构说明</vt:lpstr>
      <vt:lpstr>编写表结构说明</vt:lpstr>
      <vt:lpstr>增加一个数据库视图</vt:lpstr>
      <vt:lpstr>PowerPoint 演示文稿</vt:lpstr>
      <vt:lpstr>知识点：动态视图——时序图</vt:lpstr>
      <vt:lpstr> 交互图的概念</vt:lpstr>
      <vt:lpstr>时序图的概念及符号表示</vt:lpstr>
      <vt:lpstr>学生上课的时序图</vt:lpstr>
      <vt:lpstr>旅客到机场换登机牌的时序图</vt:lpstr>
      <vt:lpstr>赤壁之战的时序图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思考</vt:lpstr>
      <vt:lpstr>用例图、活动图、时序图之间的关系</vt:lpstr>
      <vt:lpstr>PowerPoint 演示文稿</vt:lpstr>
      <vt:lpstr>类图与时序图之间的关系</vt:lpstr>
      <vt:lpstr>类图与时序图之间的关系</vt:lpstr>
      <vt:lpstr>类图与时序图之间的关系</vt:lpstr>
      <vt:lpstr>类图与时序图之间的关系</vt:lpstr>
      <vt:lpstr>时序图的作用</vt:lpstr>
      <vt:lpstr>PowerPoint 演示文稿</vt:lpstr>
      <vt:lpstr>时序图的组成</vt:lpstr>
      <vt:lpstr>时序图的组成</vt:lpstr>
      <vt:lpstr>时序图的组成</vt:lpstr>
      <vt:lpstr>三、消息</vt:lpstr>
      <vt:lpstr>时序图的组成</vt:lpstr>
      <vt:lpstr>时序图的组成</vt:lpstr>
      <vt:lpstr>消息的类型</vt:lpstr>
      <vt:lpstr>实例：同步与异步</vt:lpstr>
      <vt:lpstr>消息的类型</vt:lpstr>
      <vt:lpstr>消息的类型</vt:lpstr>
      <vt:lpstr>带同步和异步消息的时序图</vt:lpstr>
      <vt:lpstr>带条件和分支并发执行的时序图</vt:lpstr>
      <vt:lpstr>PowerPoint 演示文稿</vt:lpstr>
      <vt:lpstr>PowerPoint 演示文稿</vt:lpstr>
      <vt:lpstr>时序图的组成</vt:lpstr>
      <vt:lpstr>时序图的组成</vt:lpstr>
      <vt:lpstr>思考：有如下的三个类</vt:lpstr>
      <vt:lpstr>三个图有什么区别？</vt:lpstr>
      <vt:lpstr>如何建立时序图</vt:lpstr>
      <vt:lpstr>建立时序图的步骤</vt:lpstr>
      <vt:lpstr>网上报名系统的动态行为建模</vt:lpstr>
      <vt:lpstr>登录时序图     </vt:lpstr>
      <vt:lpstr>添加用户</vt:lpstr>
      <vt:lpstr>添加用户</vt:lpstr>
      <vt:lpstr>管理员添加用户时序图</vt:lpstr>
      <vt:lpstr>管理员修改用户时序图</vt:lpstr>
      <vt:lpstr>管理员删除用户时序图</vt:lpstr>
      <vt:lpstr>管理员查询用户时序图</vt:lpstr>
      <vt:lpstr>时序图绘制的注意事项</vt:lpstr>
      <vt:lpstr>时序图练习</vt:lpstr>
      <vt:lpstr>顾客用餐的时序图</vt:lpstr>
      <vt:lpstr>通信图（ Communication  Diagram ） </vt:lpstr>
      <vt:lpstr>通信图的概念</vt:lpstr>
      <vt:lpstr>通信图的概念</vt:lpstr>
      <vt:lpstr> 通信图的组成元素</vt:lpstr>
      <vt:lpstr>对象</vt:lpstr>
      <vt:lpstr>链</vt:lpstr>
      <vt:lpstr>消息</vt:lpstr>
      <vt:lpstr>通信图与顺序图</vt:lpstr>
      <vt:lpstr>通信图与顺序图</vt:lpstr>
      <vt:lpstr> 通信图建模技术</vt:lpstr>
      <vt:lpstr>PowerPoint 演示文稿</vt:lpstr>
      <vt:lpstr>PowerPoint 演示文稿</vt:lpstr>
      <vt:lpstr>人机界面设计概述</vt:lpstr>
      <vt:lpstr>人机界面设计概述</vt:lpstr>
      <vt:lpstr>人机界面的作用</vt:lpstr>
      <vt:lpstr>人机界面的作用</vt:lpstr>
      <vt:lpstr>人机界面风格</vt:lpstr>
      <vt:lpstr>人机界面风格</vt:lpstr>
      <vt:lpstr>UI、GUI、UE和ID</vt:lpstr>
      <vt:lpstr>UI 设计师</vt:lpstr>
      <vt:lpstr>GUI 设计师</vt:lpstr>
      <vt:lpstr>PowerPoint 演示文稿</vt:lpstr>
      <vt:lpstr>PowerPoint 演示文稿</vt:lpstr>
      <vt:lpstr>GUI工程师做GUI设计的准备</vt:lpstr>
      <vt:lpstr>GUI设计过程</vt:lpstr>
      <vt:lpstr>人机界面设计的步骤</vt:lpstr>
      <vt:lpstr>人机界面设计的内容</vt:lpstr>
      <vt:lpstr>人机界面设计的内容</vt:lpstr>
      <vt:lpstr>人机界面设计的内容</vt:lpstr>
      <vt:lpstr>PowerPoint 演示文稿</vt:lpstr>
      <vt:lpstr>PowerPoint 演示文稿</vt:lpstr>
      <vt:lpstr>软件交互设计的目标</vt:lpstr>
      <vt:lpstr>人机界面设计的黄金原则 </vt:lpstr>
      <vt:lpstr>1. 让用户拥有控制权 </vt:lpstr>
      <vt:lpstr>2. 减少用户的记忆负担</vt:lpstr>
      <vt:lpstr>3. 保持界面一致 </vt:lpstr>
      <vt:lpstr>尽量保持一致性</vt:lpstr>
      <vt:lpstr>为熟练用户提供快捷键</vt:lpstr>
      <vt:lpstr>为熟练用户提供快捷键</vt:lpstr>
      <vt:lpstr>设计完整的对话过程</vt:lpstr>
      <vt:lpstr>提供简单的错误处理机制</vt:lpstr>
      <vt:lpstr>允许撤销动作</vt:lpstr>
      <vt:lpstr>提供控制的内部轨迹</vt:lpstr>
      <vt:lpstr>减少短期记忆负担</vt:lpstr>
      <vt:lpstr>看一些例子</vt:lpstr>
      <vt:lpstr>例子2</vt:lpstr>
      <vt:lpstr>更好的设计</vt:lpstr>
      <vt:lpstr>例子3</vt:lpstr>
      <vt:lpstr>例子4</vt:lpstr>
      <vt:lpstr>例子5</vt:lpstr>
      <vt:lpstr>例子6</vt:lpstr>
      <vt:lpstr>良好的GUI设计原则</vt:lpstr>
      <vt:lpstr>网上报名系统的模式分析</vt:lpstr>
      <vt:lpstr>登录界面</vt:lpstr>
      <vt:lpstr>用户主界面</vt:lpstr>
      <vt:lpstr>管理员主界面</vt:lpstr>
      <vt:lpstr>依次类推……</vt:lpstr>
      <vt:lpstr>课后作业</vt:lpstr>
      <vt:lpstr>本课小结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试播内容</dc:title>
  <dc:creator>HUAWEI</dc:creator>
  <cp:lastModifiedBy>lingdang</cp:lastModifiedBy>
  <cp:revision>1111</cp:revision>
  <dcterms:created xsi:type="dcterms:W3CDTF">2020-02-07T06:58:00Z</dcterms:created>
  <dcterms:modified xsi:type="dcterms:W3CDTF">2025-11-24T03:16:49Z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A10C122E964D4278B4F14F1BE059BDA0_13</vt:lpwstr>
  </property>
</Properties>
</file>