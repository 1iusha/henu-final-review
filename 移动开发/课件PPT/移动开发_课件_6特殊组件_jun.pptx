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7.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8.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9.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1.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2.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4.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5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59.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60.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61.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62.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63.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7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79.xml" ContentType="application/vnd.openxmlformats-officedocument.presentationml.notesSlide+xml"/>
  <Override PartName="/ppt/tags/tag74.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89.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tags/tag116.xml" ContentType="application/vnd.openxmlformats-officedocument.presentationml.tags+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tags/tag117.xml" ContentType="application/vnd.openxmlformats-officedocument.presentationml.tags+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tags/tag118.xml" ContentType="application/vnd.openxmlformats-officedocument.presentationml.tags+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tags/tag119.xml" ContentType="application/vnd.openxmlformats-officedocument.presentationml.tags+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tags/tag120.xml" ContentType="application/vnd.openxmlformats-officedocument.presentationml.tags+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tags/tag121.xml" ContentType="application/vnd.openxmlformats-officedocument.presentationml.tags+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69" r:id="rId3"/>
    <p:sldMasterId id="2147483681" r:id="rId4"/>
    <p:sldMasterId id="2147483693" r:id="rId5"/>
    <p:sldMasterId id="2147483705" r:id="rId6"/>
    <p:sldMasterId id="2147483717" r:id="rId7"/>
    <p:sldMasterId id="2147483729" r:id="rId8"/>
    <p:sldMasterId id="2147483741" r:id="rId9"/>
    <p:sldMasterId id="2147483753" r:id="rId10"/>
  </p:sldMasterIdLst>
  <p:notesMasterIdLst>
    <p:notesMasterId r:id="rId157"/>
  </p:notesMasterIdLst>
  <p:handoutMasterIdLst>
    <p:handoutMasterId r:id="rId158"/>
  </p:handoutMasterIdLst>
  <p:sldIdLst>
    <p:sldId id="557" r:id="rId11"/>
    <p:sldId id="592" r:id="rId12"/>
    <p:sldId id="593" r:id="rId13"/>
    <p:sldId id="594" r:id="rId14"/>
    <p:sldId id="759" r:id="rId15"/>
    <p:sldId id="760" r:id="rId16"/>
    <p:sldId id="761" r:id="rId17"/>
    <p:sldId id="762" r:id="rId18"/>
    <p:sldId id="763" r:id="rId19"/>
    <p:sldId id="764" r:id="rId20"/>
    <p:sldId id="765" r:id="rId21"/>
    <p:sldId id="766" r:id="rId22"/>
    <p:sldId id="767" r:id="rId23"/>
    <p:sldId id="772" r:id="rId24"/>
    <p:sldId id="773" r:id="rId25"/>
    <p:sldId id="774" r:id="rId26"/>
    <p:sldId id="598" r:id="rId27"/>
    <p:sldId id="599" r:id="rId28"/>
    <p:sldId id="603" r:id="rId29"/>
    <p:sldId id="604" r:id="rId30"/>
    <p:sldId id="605" r:id="rId31"/>
    <p:sldId id="775" r:id="rId32"/>
    <p:sldId id="606" r:id="rId33"/>
    <p:sldId id="607" r:id="rId34"/>
    <p:sldId id="608" r:id="rId35"/>
    <p:sldId id="609" r:id="rId36"/>
    <p:sldId id="610" r:id="rId37"/>
    <p:sldId id="611" r:id="rId38"/>
    <p:sldId id="613" r:id="rId39"/>
    <p:sldId id="612" r:id="rId40"/>
    <p:sldId id="614" r:id="rId41"/>
    <p:sldId id="615" r:id="rId42"/>
    <p:sldId id="616" r:id="rId43"/>
    <p:sldId id="617" r:id="rId44"/>
    <p:sldId id="618" r:id="rId45"/>
    <p:sldId id="619" r:id="rId46"/>
    <p:sldId id="620" r:id="rId47"/>
    <p:sldId id="621" r:id="rId48"/>
    <p:sldId id="622" r:id="rId49"/>
    <p:sldId id="623" r:id="rId50"/>
    <p:sldId id="624" r:id="rId51"/>
    <p:sldId id="625" r:id="rId52"/>
    <p:sldId id="755" r:id="rId53"/>
    <p:sldId id="756" r:id="rId54"/>
    <p:sldId id="757" r:id="rId55"/>
    <p:sldId id="758" r:id="rId56"/>
    <p:sldId id="740" r:id="rId57"/>
    <p:sldId id="741" r:id="rId58"/>
    <p:sldId id="742" r:id="rId59"/>
    <p:sldId id="743" r:id="rId60"/>
    <p:sldId id="744" r:id="rId61"/>
    <p:sldId id="745" r:id="rId62"/>
    <p:sldId id="746" r:id="rId63"/>
    <p:sldId id="747" r:id="rId64"/>
    <p:sldId id="748" r:id="rId65"/>
    <p:sldId id="749" r:id="rId66"/>
    <p:sldId id="750" r:id="rId67"/>
    <p:sldId id="751" r:id="rId68"/>
    <p:sldId id="718" r:id="rId69"/>
    <p:sldId id="630" r:id="rId70"/>
    <p:sldId id="631" r:id="rId71"/>
    <p:sldId id="632" r:id="rId72"/>
    <p:sldId id="719" r:id="rId73"/>
    <p:sldId id="633" r:id="rId74"/>
    <p:sldId id="634" r:id="rId75"/>
    <p:sldId id="720" r:id="rId76"/>
    <p:sldId id="721" r:id="rId77"/>
    <p:sldId id="722" r:id="rId78"/>
    <p:sldId id="723" r:id="rId79"/>
    <p:sldId id="734" r:id="rId80"/>
    <p:sldId id="725" r:id="rId81"/>
    <p:sldId id="735" r:id="rId82"/>
    <p:sldId id="727" r:id="rId83"/>
    <p:sldId id="736" r:id="rId84"/>
    <p:sldId id="729" r:id="rId85"/>
    <p:sldId id="737" r:id="rId86"/>
    <p:sldId id="731" r:id="rId87"/>
    <p:sldId id="738" r:id="rId88"/>
    <p:sldId id="739" r:id="rId89"/>
    <p:sldId id="683" r:id="rId90"/>
    <p:sldId id="673" r:id="rId91"/>
    <p:sldId id="674" r:id="rId92"/>
    <p:sldId id="675" r:id="rId93"/>
    <p:sldId id="684" r:id="rId94"/>
    <p:sldId id="676" r:id="rId95"/>
    <p:sldId id="677" r:id="rId96"/>
    <p:sldId id="678" r:id="rId97"/>
    <p:sldId id="679" r:id="rId98"/>
    <p:sldId id="680" r:id="rId99"/>
    <p:sldId id="681" r:id="rId100"/>
    <p:sldId id="637" r:id="rId101"/>
    <p:sldId id="638" r:id="rId102"/>
    <p:sldId id="639" r:id="rId103"/>
    <p:sldId id="640" r:id="rId104"/>
    <p:sldId id="641" r:id="rId105"/>
    <p:sldId id="642" r:id="rId106"/>
    <p:sldId id="643" r:id="rId107"/>
    <p:sldId id="644" r:id="rId108"/>
    <p:sldId id="689" r:id="rId109"/>
    <p:sldId id="690" r:id="rId110"/>
    <p:sldId id="691" r:id="rId111"/>
    <p:sldId id="692" r:id="rId112"/>
    <p:sldId id="702" r:id="rId113"/>
    <p:sldId id="694" r:id="rId114"/>
    <p:sldId id="703" r:id="rId115"/>
    <p:sldId id="696" r:id="rId116"/>
    <p:sldId id="704" r:id="rId117"/>
    <p:sldId id="698" r:id="rId118"/>
    <p:sldId id="705" r:id="rId119"/>
    <p:sldId id="706" r:id="rId120"/>
    <p:sldId id="707" r:id="rId121"/>
    <p:sldId id="687" r:id="rId122"/>
    <p:sldId id="688" r:id="rId123"/>
    <p:sldId id="708" r:id="rId124"/>
    <p:sldId id="648" r:id="rId125"/>
    <p:sldId id="649" r:id="rId126"/>
    <p:sldId id="650" r:id="rId127"/>
    <p:sldId id="709" r:id="rId128"/>
    <p:sldId id="651" r:id="rId129"/>
    <p:sldId id="652" r:id="rId130"/>
    <p:sldId id="653" r:id="rId131"/>
    <p:sldId id="654" r:id="rId132"/>
    <p:sldId id="655" r:id="rId133"/>
    <p:sldId id="656" r:id="rId134"/>
    <p:sldId id="657" r:id="rId135"/>
    <p:sldId id="658" r:id="rId136"/>
    <p:sldId id="659" r:id="rId137"/>
    <p:sldId id="660" r:id="rId138"/>
    <p:sldId id="661" r:id="rId139"/>
    <p:sldId id="662" r:id="rId140"/>
    <p:sldId id="716" r:id="rId141"/>
    <p:sldId id="663" r:id="rId142"/>
    <p:sldId id="710" r:id="rId143"/>
    <p:sldId id="711" r:id="rId144"/>
    <p:sldId id="712" r:id="rId145"/>
    <p:sldId id="713" r:id="rId146"/>
    <p:sldId id="714" r:id="rId147"/>
    <p:sldId id="715" r:id="rId148"/>
    <p:sldId id="664" r:id="rId149"/>
    <p:sldId id="717" r:id="rId150"/>
    <p:sldId id="665" r:id="rId151"/>
    <p:sldId id="666" r:id="rId152"/>
    <p:sldId id="669" r:id="rId153"/>
    <p:sldId id="671" r:id="rId154"/>
    <p:sldId id="670" r:id="rId155"/>
    <p:sldId id="776" r:id="rId156"/>
  </p:sldIdLst>
  <p:sldSz cx="12190413" cy="6859588"/>
  <p:notesSz cx="6858000" cy="9144000"/>
  <p:custDataLst>
    <p:tags r:id="rId15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50" userDrawn="1">
          <p15:clr>
            <a:srgbClr val="A4A3A4"/>
          </p15:clr>
        </p15:guide>
        <p15:guide id="3" pos="667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26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C"/>
    <a:srgbClr val="006BBC"/>
    <a:srgbClr val="3992DB"/>
    <a:srgbClr val="008DF6"/>
    <a:srgbClr val="005DA2"/>
    <a:srgbClr val="1369B2"/>
    <a:srgbClr val="595959"/>
    <a:srgbClr val="FAFAFA"/>
    <a:srgbClr val="F2F2F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0" autoAdjust="0"/>
    <p:restoredTop sz="67891" autoAdjust="0"/>
  </p:normalViewPr>
  <p:slideViewPr>
    <p:cSldViewPr showGuides="1">
      <p:cViewPr varScale="1">
        <p:scale>
          <a:sx n="58" d="100"/>
          <a:sy n="58" d="100"/>
        </p:scale>
        <p:origin x="1402" y="43"/>
      </p:cViewPr>
      <p:guideLst>
        <p:guide orient="horz" pos="2160"/>
        <p:guide pos="250"/>
        <p:guide pos="6676"/>
      </p:guideLst>
    </p:cSldViewPr>
  </p:slideViewPr>
  <p:outlineViewPr>
    <p:cViewPr>
      <p:scale>
        <a:sx n="33" d="100"/>
        <a:sy n="33" d="100"/>
      </p:scale>
      <p:origin x="0" y="0"/>
    </p:cViewPr>
  </p:outlineViewPr>
  <p:notesTextViewPr>
    <p:cViewPr>
      <p:scale>
        <a:sx n="100" d="100"/>
        <a:sy n="100" d="100"/>
      </p:scale>
      <p:origin x="0" y="-874"/>
    </p:cViewPr>
  </p:notesTextViewPr>
  <p:notesViewPr>
    <p:cSldViewPr>
      <p:cViewPr varScale="1">
        <p:scale>
          <a:sx n="86" d="100"/>
          <a:sy n="86" d="100"/>
        </p:scale>
        <p:origin x="-3810" y="-90"/>
      </p:cViewPr>
      <p:guideLst>
        <p:guide orient="horz" pos="2880"/>
        <p:guide pos="226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7.xml"/><Relationship Id="rId21" Type="http://schemas.openxmlformats.org/officeDocument/2006/relationships/slide" Target="slides/slide11.xml"/><Relationship Id="rId42" Type="http://schemas.openxmlformats.org/officeDocument/2006/relationships/slide" Target="slides/slide32.xml"/><Relationship Id="rId63" Type="http://schemas.openxmlformats.org/officeDocument/2006/relationships/slide" Target="slides/slide53.xml"/><Relationship Id="rId84" Type="http://schemas.openxmlformats.org/officeDocument/2006/relationships/slide" Target="slides/slide74.xml"/><Relationship Id="rId138" Type="http://schemas.openxmlformats.org/officeDocument/2006/relationships/slide" Target="slides/slide128.xml"/><Relationship Id="rId159" Type="http://schemas.openxmlformats.org/officeDocument/2006/relationships/tags" Target="tags/tag1.xml"/><Relationship Id="rId107" Type="http://schemas.openxmlformats.org/officeDocument/2006/relationships/slide" Target="slides/slide97.xml"/><Relationship Id="rId11" Type="http://schemas.openxmlformats.org/officeDocument/2006/relationships/slide" Target="slides/slide1.xml"/><Relationship Id="rId32" Type="http://schemas.openxmlformats.org/officeDocument/2006/relationships/slide" Target="slides/slide22.xml"/><Relationship Id="rId53" Type="http://schemas.openxmlformats.org/officeDocument/2006/relationships/slide" Target="slides/slide43.xml"/><Relationship Id="rId74" Type="http://schemas.openxmlformats.org/officeDocument/2006/relationships/slide" Target="slides/slide64.xml"/><Relationship Id="rId128" Type="http://schemas.openxmlformats.org/officeDocument/2006/relationships/slide" Target="slides/slide118.xml"/><Relationship Id="rId149" Type="http://schemas.openxmlformats.org/officeDocument/2006/relationships/slide" Target="slides/slide139.xml"/><Relationship Id="rId5" Type="http://schemas.openxmlformats.org/officeDocument/2006/relationships/slideMaster" Target="slideMasters/slideMaster5.xml"/><Relationship Id="rId95" Type="http://schemas.openxmlformats.org/officeDocument/2006/relationships/slide" Target="slides/slide85.xml"/><Relationship Id="rId160" Type="http://schemas.openxmlformats.org/officeDocument/2006/relationships/presProps" Target="presProps.xml"/><Relationship Id="rId22" Type="http://schemas.openxmlformats.org/officeDocument/2006/relationships/slide" Target="slides/slide12.xml"/><Relationship Id="rId43" Type="http://schemas.openxmlformats.org/officeDocument/2006/relationships/slide" Target="slides/slide33.xml"/><Relationship Id="rId64" Type="http://schemas.openxmlformats.org/officeDocument/2006/relationships/slide" Target="slides/slide54.xml"/><Relationship Id="rId118" Type="http://schemas.openxmlformats.org/officeDocument/2006/relationships/slide" Target="slides/slide108.xml"/><Relationship Id="rId139" Type="http://schemas.openxmlformats.org/officeDocument/2006/relationships/slide" Target="slides/slide129.xml"/><Relationship Id="rId85" Type="http://schemas.openxmlformats.org/officeDocument/2006/relationships/slide" Target="slides/slide75.xml"/><Relationship Id="rId150" Type="http://schemas.openxmlformats.org/officeDocument/2006/relationships/slide" Target="slides/slide140.xml"/><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slide" Target="slides/slide93.xml"/><Relationship Id="rId108" Type="http://schemas.openxmlformats.org/officeDocument/2006/relationships/slide" Target="slides/slide98.xml"/><Relationship Id="rId124" Type="http://schemas.openxmlformats.org/officeDocument/2006/relationships/slide" Target="slides/slide114.xml"/><Relationship Id="rId129" Type="http://schemas.openxmlformats.org/officeDocument/2006/relationships/slide" Target="slides/slide119.xml"/><Relationship Id="rId54" Type="http://schemas.openxmlformats.org/officeDocument/2006/relationships/slide" Target="slides/slide44.xml"/><Relationship Id="rId70" Type="http://schemas.openxmlformats.org/officeDocument/2006/relationships/slide" Target="slides/slide60.xml"/><Relationship Id="rId75" Type="http://schemas.openxmlformats.org/officeDocument/2006/relationships/slide" Target="slides/slide65.xml"/><Relationship Id="rId91" Type="http://schemas.openxmlformats.org/officeDocument/2006/relationships/slide" Target="slides/slide81.xml"/><Relationship Id="rId96" Type="http://schemas.openxmlformats.org/officeDocument/2006/relationships/slide" Target="slides/slide86.xml"/><Relationship Id="rId140" Type="http://schemas.openxmlformats.org/officeDocument/2006/relationships/slide" Target="slides/slide130.xml"/><Relationship Id="rId145" Type="http://schemas.openxmlformats.org/officeDocument/2006/relationships/slide" Target="slides/slide135.xml"/><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3.xml"/><Relationship Id="rId28" Type="http://schemas.openxmlformats.org/officeDocument/2006/relationships/slide" Target="slides/slide18.xml"/><Relationship Id="rId49" Type="http://schemas.openxmlformats.org/officeDocument/2006/relationships/slide" Target="slides/slide39.xml"/><Relationship Id="rId114" Type="http://schemas.openxmlformats.org/officeDocument/2006/relationships/slide" Target="slides/slide104.xml"/><Relationship Id="rId119" Type="http://schemas.openxmlformats.org/officeDocument/2006/relationships/slide" Target="slides/slide109.xml"/><Relationship Id="rId44" Type="http://schemas.openxmlformats.org/officeDocument/2006/relationships/slide" Target="slides/slide34.xml"/><Relationship Id="rId60" Type="http://schemas.openxmlformats.org/officeDocument/2006/relationships/slide" Target="slides/slide50.xml"/><Relationship Id="rId65" Type="http://schemas.openxmlformats.org/officeDocument/2006/relationships/slide" Target="slides/slide55.xml"/><Relationship Id="rId81" Type="http://schemas.openxmlformats.org/officeDocument/2006/relationships/slide" Target="slides/slide71.xml"/><Relationship Id="rId86" Type="http://schemas.openxmlformats.org/officeDocument/2006/relationships/slide" Target="slides/slide76.xml"/><Relationship Id="rId130" Type="http://schemas.openxmlformats.org/officeDocument/2006/relationships/slide" Target="slides/slide120.xml"/><Relationship Id="rId135" Type="http://schemas.openxmlformats.org/officeDocument/2006/relationships/slide" Target="slides/slide125.xml"/><Relationship Id="rId151" Type="http://schemas.openxmlformats.org/officeDocument/2006/relationships/slide" Target="slides/slide141.xml"/><Relationship Id="rId156" Type="http://schemas.openxmlformats.org/officeDocument/2006/relationships/slide" Target="slides/slide14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slide" Target="slides/slide9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slide" Target="slides/slide94.xml"/><Relationship Id="rId120" Type="http://schemas.openxmlformats.org/officeDocument/2006/relationships/slide" Target="slides/slide110.xml"/><Relationship Id="rId125" Type="http://schemas.openxmlformats.org/officeDocument/2006/relationships/slide" Target="slides/slide115.xml"/><Relationship Id="rId141" Type="http://schemas.openxmlformats.org/officeDocument/2006/relationships/slide" Target="slides/slide131.xml"/><Relationship Id="rId146" Type="http://schemas.openxmlformats.org/officeDocument/2006/relationships/slide" Target="slides/slide136.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16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110" Type="http://schemas.openxmlformats.org/officeDocument/2006/relationships/slide" Target="slides/slide100.xml"/><Relationship Id="rId115" Type="http://schemas.openxmlformats.org/officeDocument/2006/relationships/slide" Target="slides/slide105.xml"/><Relationship Id="rId131" Type="http://schemas.openxmlformats.org/officeDocument/2006/relationships/slide" Target="slides/slide121.xml"/><Relationship Id="rId136" Type="http://schemas.openxmlformats.org/officeDocument/2006/relationships/slide" Target="slides/slide126.xml"/><Relationship Id="rId157" Type="http://schemas.openxmlformats.org/officeDocument/2006/relationships/notesMaster" Target="notesMasters/notesMaster1.xml"/><Relationship Id="rId61" Type="http://schemas.openxmlformats.org/officeDocument/2006/relationships/slide" Target="slides/slide51.xml"/><Relationship Id="rId82" Type="http://schemas.openxmlformats.org/officeDocument/2006/relationships/slide" Target="slides/slide72.xml"/><Relationship Id="rId152" Type="http://schemas.openxmlformats.org/officeDocument/2006/relationships/slide" Target="slides/slide14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slide" Target="slides/slide90.xml"/><Relationship Id="rId105" Type="http://schemas.openxmlformats.org/officeDocument/2006/relationships/slide" Target="slides/slide95.xml"/><Relationship Id="rId126" Type="http://schemas.openxmlformats.org/officeDocument/2006/relationships/slide" Target="slides/slide116.xml"/><Relationship Id="rId147" Type="http://schemas.openxmlformats.org/officeDocument/2006/relationships/slide" Target="slides/slide137.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slide" Target="slides/slide88.xml"/><Relationship Id="rId121" Type="http://schemas.openxmlformats.org/officeDocument/2006/relationships/slide" Target="slides/slide111.xml"/><Relationship Id="rId142" Type="http://schemas.openxmlformats.org/officeDocument/2006/relationships/slide" Target="slides/slide132.xml"/><Relationship Id="rId163" Type="http://schemas.openxmlformats.org/officeDocument/2006/relationships/tableStyles" Target="tableStyles.xml"/><Relationship Id="rId3" Type="http://schemas.openxmlformats.org/officeDocument/2006/relationships/slideMaster" Target="slideMasters/slideMaster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 Id="rId116" Type="http://schemas.openxmlformats.org/officeDocument/2006/relationships/slide" Target="slides/slide106.xml"/><Relationship Id="rId137" Type="http://schemas.openxmlformats.org/officeDocument/2006/relationships/slide" Target="slides/slide127.xml"/><Relationship Id="rId158" Type="http://schemas.openxmlformats.org/officeDocument/2006/relationships/handoutMaster" Target="handoutMasters/handoutMaster1.xml"/><Relationship Id="rId20" Type="http://schemas.openxmlformats.org/officeDocument/2006/relationships/slide" Target="slides/slide10.xml"/><Relationship Id="rId41" Type="http://schemas.openxmlformats.org/officeDocument/2006/relationships/slide" Target="slides/slide31.xml"/><Relationship Id="rId62" Type="http://schemas.openxmlformats.org/officeDocument/2006/relationships/slide" Target="slides/slide52.xml"/><Relationship Id="rId83" Type="http://schemas.openxmlformats.org/officeDocument/2006/relationships/slide" Target="slides/slide73.xml"/><Relationship Id="rId88" Type="http://schemas.openxmlformats.org/officeDocument/2006/relationships/slide" Target="slides/slide78.xml"/><Relationship Id="rId111" Type="http://schemas.openxmlformats.org/officeDocument/2006/relationships/slide" Target="slides/slide101.xml"/><Relationship Id="rId132" Type="http://schemas.openxmlformats.org/officeDocument/2006/relationships/slide" Target="slides/slide122.xml"/><Relationship Id="rId153" Type="http://schemas.openxmlformats.org/officeDocument/2006/relationships/slide" Target="slides/slide143.xml"/><Relationship Id="rId15" Type="http://schemas.openxmlformats.org/officeDocument/2006/relationships/slide" Target="slides/slide5.xml"/><Relationship Id="rId36" Type="http://schemas.openxmlformats.org/officeDocument/2006/relationships/slide" Target="slides/slide26.xml"/><Relationship Id="rId57" Type="http://schemas.openxmlformats.org/officeDocument/2006/relationships/slide" Target="slides/slide47.xml"/><Relationship Id="rId106" Type="http://schemas.openxmlformats.org/officeDocument/2006/relationships/slide" Target="slides/slide96.xml"/><Relationship Id="rId127" Type="http://schemas.openxmlformats.org/officeDocument/2006/relationships/slide" Target="slides/slide117.xml"/><Relationship Id="rId10" Type="http://schemas.openxmlformats.org/officeDocument/2006/relationships/slideMaster" Target="slideMasters/slideMaster10.xml"/><Relationship Id="rId31" Type="http://schemas.openxmlformats.org/officeDocument/2006/relationships/slide" Target="slides/slide21.xml"/><Relationship Id="rId52" Type="http://schemas.openxmlformats.org/officeDocument/2006/relationships/slide" Target="slides/slide42.xml"/><Relationship Id="rId73" Type="http://schemas.openxmlformats.org/officeDocument/2006/relationships/slide" Target="slides/slide63.xml"/><Relationship Id="rId78" Type="http://schemas.openxmlformats.org/officeDocument/2006/relationships/slide" Target="slides/slide68.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slide" Target="slides/slide91.xml"/><Relationship Id="rId122" Type="http://schemas.openxmlformats.org/officeDocument/2006/relationships/slide" Target="slides/slide112.xml"/><Relationship Id="rId143" Type="http://schemas.openxmlformats.org/officeDocument/2006/relationships/slide" Target="slides/slide133.xml"/><Relationship Id="rId148" Type="http://schemas.openxmlformats.org/officeDocument/2006/relationships/slide" Target="slides/slide138.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16.xml"/><Relationship Id="rId47" Type="http://schemas.openxmlformats.org/officeDocument/2006/relationships/slide" Target="slides/slide37.xml"/><Relationship Id="rId68" Type="http://schemas.openxmlformats.org/officeDocument/2006/relationships/slide" Target="slides/slide58.xml"/><Relationship Id="rId89" Type="http://schemas.openxmlformats.org/officeDocument/2006/relationships/slide" Target="slides/slide79.xml"/><Relationship Id="rId112" Type="http://schemas.openxmlformats.org/officeDocument/2006/relationships/slide" Target="slides/slide102.xml"/><Relationship Id="rId133" Type="http://schemas.openxmlformats.org/officeDocument/2006/relationships/slide" Target="slides/slide123.xml"/><Relationship Id="rId154" Type="http://schemas.openxmlformats.org/officeDocument/2006/relationships/slide" Target="slides/slide144.xml"/><Relationship Id="rId16" Type="http://schemas.openxmlformats.org/officeDocument/2006/relationships/slide" Target="slides/slide6.xml"/><Relationship Id="rId37" Type="http://schemas.openxmlformats.org/officeDocument/2006/relationships/slide" Target="slides/slide27.xml"/><Relationship Id="rId58" Type="http://schemas.openxmlformats.org/officeDocument/2006/relationships/slide" Target="slides/slide48.xml"/><Relationship Id="rId79" Type="http://schemas.openxmlformats.org/officeDocument/2006/relationships/slide" Target="slides/slide69.xml"/><Relationship Id="rId102" Type="http://schemas.openxmlformats.org/officeDocument/2006/relationships/slide" Target="slides/slide92.xml"/><Relationship Id="rId123" Type="http://schemas.openxmlformats.org/officeDocument/2006/relationships/slide" Target="slides/slide113.xml"/><Relationship Id="rId144" Type="http://schemas.openxmlformats.org/officeDocument/2006/relationships/slide" Target="slides/slide134.xml"/><Relationship Id="rId90" Type="http://schemas.openxmlformats.org/officeDocument/2006/relationships/slide" Target="slides/slide80.xml"/><Relationship Id="rId27" Type="http://schemas.openxmlformats.org/officeDocument/2006/relationships/slide" Target="slides/slide17.xml"/><Relationship Id="rId48" Type="http://schemas.openxmlformats.org/officeDocument/2006/relationships/slide" Target="slides/slide38.xml"/><Relationship Id="rId69" Type="http://schemas.openxmlformats.org/officeDocument/2006/relationships/slide" Target="slides/slide59.xml"/><Relationship Id="rId113" Type="http://schemas.openxmlformats.org/officeDocument/2006/relationships/slide" Target="slides/slide103.xml"/><Relationship Id="rId134" Type="http://schemas.openxmlformats.org/officeDocument/2006/relationships/slide" Target="slides/slide124.xml"/><Relationship Id="rId80" Type="http://schemas.openxmlformats.org/officeDocument/2006/relationships/slide" Target="slides/slide70.xml"/><Relationship Id="rId155" Type="http://schemas.openxmlformats.org/officeDocument/2006/relationships/slide" Target="slides/slide1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2025/5/25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2025/5/25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二维码是一种由黑白像素组成的二维图形码，其可存储大量信息。随着移动互联网的</a:t>
            </a:r>
          </a:p>
          <a:p>
            <a:pPr algn="l" fontAlgn="base">
              <a:lnSpc>
                <a:spcPts val="2250"/>
              </a:lnSpc>
              <a:spcAft>
                <a:spcPts val="300"/>
              </a:spcAft>
              <a:buNone/>
            </a:pPr>
            <a:r>
              <a:rPr lang="zh-CN" altLang="en-US" b="0" i="0" dirty="0">
                <a:solidFill>
                  <a:srgbClr val="343434"/>
                </a:solidFill>
                <a:effectLst/>
                <a:latin typeface="PingFang SC"/>
              </a:rPr>
              <a:t>普及，二维码的应用场景越来越广泛，如扫码添加好友、扫码骑车、扫码支付等。这些应</a:t>
            </a:r>
          </a:p>
          <a:p>
            <a:pPr algn="l" fontAlgn="base">
              <a:lnSpc>
                <a:spcPts val="2250"/>
              </a:lnSpc>
              <a:spcAft>
                <a:spcPts val="300"/>
              </a:spcAft>
              <a:buNone/>
            </a:pPr>
            <a:r>
              <a:rPr lang="zh-CN" altLang="en-US" b="0" i="0" dirty="0">
                <a:solidFill>
                  <a:srgbClr val="343434"/>
                </a:solidFill>
                <a:effectLst/>
                <a:latin typeface="PingFang SC"/>
              </a:rPr>
              <a:t>用场景的出现，极大地方便了人们的生活，提高了效率。</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开发框架是基于</a:t>
            </a:r>
            <a:r>
              <a:rPr lang="en-US" altLang="zh-CN" b="0" i="0" dirty="0">
                <a:solidFill>
                  <a:srgbClr val="343434"/>
                </a:solidFill>
                <a:effectLst/>
                <a:latin typeface="PingFang SC"/>
              </a:rPr>
              <a:t>Vue.js</a:t>
            </a:r>
            <a:r>
              <a:rPr lang="zh-CN" altLang="en-US" b="0" i="0" dirty="0">
                <a:solidFill>
                  <a:srgbClr val="343434"/>
                </a:solidFill>
                <a:effectLst/>
                <a:latin typeface="PingFang SC"/>
              </a:rPr>
              <a:t>的</a:t>
            </a:r>
          </a:p>
          <a:p>
            <a:pPr algn="l" fontAlgn="base">
              <a:lnSpc>
                <a:spcPts val="2250"/>
              </a:lnSpc>
              <a:spcAft>
                <a:spcPts val="300"/>
              </a:spcAft>
              <a:buNone/>
            </a:pPr>
            <a:r>
              <a:rPr lang="en-US" altLang="zh-CN" b="0" i="0" dirty="0">
                <a:solidFill>
                  <a:srgbClr val="343434"/>
                </a:solidFill>
                <a:effectLst/>
                <a:latin typeface="PingFang SC"/>
              </a:rPr>
              <a:t>UI</a:t>
            </a:r>
            <a:r>
              <a:rPr lang="zh-CN" altLang="en-US" b="0" i="0" dirty="0">
                <a:solidFill>
                  <a:srgbClr val="343434"/>
                </a:solidFill>
                <a:effectLst/>
                <a:latin typeface="PingFang SC"/>
              </a:rPr>
              <a:t>组件库，提供了</a:t>
            </a:r>
            <a:r>
              <a:rPr lang="en-US" altLang="zh-CN" b="0" i="0" dirty="0" err="1">
                <a:solidFill>
                  <a:srgbClr val="343434"/>
                </a:solidFill>
                <a:effectLst/>
                <a:latin typeface="PingFang SC"/>
              </a:rPr>
              <a:t>QRCode</a:t>
            </a:r>
            <a:r>
              <a:rPr lang="zh-CN" altLang="en-US" b="0" i="0" dirty="0">
                <a:solidFill>
                  <a:srgbClr val="343434"/>
                </a:solidFill>
                <a:effectLst/>
                <a:latin typeface="PingFang SC"/>
              </a:rPr>
              <a:t>组件，可帮助开发者快速生成二维码。</a:t>
            </a:r>
            <a:r>
              <a:rPr lang="en-US" altLang="zh-CN" b="0" i="0" dirty="0" err="1">
                <a:solidFill>
                  <a:srgbClr val="343434"/>
                </a:solidFill>
                <a:effectLst/>
                <a:latin typeface="PingFang SC"/>
              </a:rPr>
              <a:t>QRCode</a:t>
            </a:r>
            <a:r>
              <a:rPr lang="zh-CN" altLang="en-US" b="0" i="0" dirty="0">
                <a:solidFill>
                  <a:srgbClr val="343434"/>
                </a:solidFill>
                <a:effectLst/>
                <a:latin typeface="PingFang SC"/>
              </a:rPr>
              <a:t>组件支持自定</a:t>
            </a:r>
          </a:p>
          <a:p>
            <a:pPr algn="l" fontAlgn="base">
              <a:lnSpc>
                <a:spcPts val="2250"/>
              </a:lnSpc>
              <a:spcAft>
                <a:spcPts val="300"/>
              </a:spcAft>
              <a:buNone/>
            </a:pPr>
            <a:r>
              <a:rPr lang="zh-CN" altLang="en-US" b="0" i="0" dirty="0">
                <a:solidFill>
                  <a:srgbClr val="343434"/>
                </a:solidFill>
                <a:effectLst/>
                <a:latin typeface="PingFang SC"/>
              </a:rPr>
              <a:t>义二维码的大小、颜色、边框等属性，使得开发者可以根据自身品牌风格生成符合需求的</a:t>
            </a:r>
          </a:p>
          <a:p>
            <a:pPr algn="l" fontAlgn="base">
              <a:lnSpc>
                <a:spcPts val="2250"/>
              </a:lnSpc>
              <a:spcAft>
                <a:spcPts val="300"/>
              </a:spcAft>
              <a:buNone/>
            </a:pPr>
            <a:r>
              <a:rPr lang="zh-CN" altLang="en-US" b="0" i="0" dirty="0">
                <a:solidFill>
                  <a:srgbClr val="343434"/>
                </a:solidFill>
                <a:effectLst/>
                <a:latin typeface="PingFang SC"/>
              </a:rPr>
              <a:t>二维码。</a:t>
            </a:r>
            <a:r>
              <a:rPr lang="en-US" altLang="zh-CN" b="0" i="0" dirty="0" err="1">
                <a:solidFill>
                  <a:srgbClr val="343434"/>
                </a:solidFill>
                <a:effectLst/>
                <a:latin typeface="PingFang SC"/>
              </a:rPr>
              <a:t>QRCode</a:t>
            </a:r>
            <a:r>
              <a:rPr lang="zh-CN" altLang="en-US" b="0" i="0" dirty="0">
                <a:solidFill>
                  <a:srgbClr val="343434"/>
                </a:solidFill>
                <a:effectLst/>
                <a:latin typeface="PingFang SC"/>
              </a:rPr>
              <a:t>组件的推出，为开发者提供了一种快速生成二维码的解决方案，使得开</a:t>
            </a:r>
          </a:p>
          <a:p>
            <a:pPr algn="l" fontAlgn="base">
              <a:lnSpc>
                <a:spcPts val="2250"/>
              </a:lnSpc>
              <a:spcAft>
                <a:spcPts val="300"/>
              </a:spcAft>
              <a:buNone/>
            </a:pPr>
            <a:r>
              <a:rPr lang="zh-CN" altLang="en-US" b="0" i="0" dirty="0">
                <a:solidFill>
                  <a:srgbClr val="343434"/>
                </a:solidFill>
                <a:effectLst/>
                <a:latin typeface="PingFang SC"/>
              </a:rPr>
              <a:t>发者能够更专注于业务逻辑的开发。</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err="1">
                <a:solidFill>
                  <a:srgbClr val="343434"/>
                </a:solidFill>
                <a:effectLst/>
                <a:latin typeface="PingFang SC"/>
              </a:rPr>
              <a:t>DataPanel</a:t>
            </a:r>
            <a:r>
              <a:rPr lang="zh-CN" altLang="en-US" b="0" i="0" dirty="0">
                <a:solidFill>
                  <a:srgbClr val="343434"/>
                </a:solidFill>
                <a:effectLst/>
                <a:latin typeface="PingFang SC"/>
              </a:rPr>
              <a:t>数据面板组件是一种用于数据可视化的组件，它主要用于展示多个数据占比</a:t>
            </a:r>
          </a:p>
          <a:p>
            <a:pPr algn="l" fontAlgn="base">
              <a:lnSpc>
                <a:spcPts val="2250"/>
              </a:lnSpc>
              <a:spcAft>
                <a:spcPts val="300"/>
              </a:spcAft>
              <a:buNone/>
            </a:pPr>
            <a:r>
              <a:rPr lang="zh-CN" altLang="en-US" b="0" i="0" dirty="0">
                <a:solidFill>
                  <a:srgbClr val="343434"/>
                </a:solidFill>
                <a:effectLst/>
                <a:latin typeface="PingFang SC"/>
              </a:rPr>
              <a:t>情况。该组件采用占比图的形式，将不同数据之间的比例关系以直观的方式呈现出来，帮</a:t>
            </a:r>
          </a:p>
          <a:p>
            <a:pPr algn="l" fontAlgn="base">
              <a:lnSpc>
                <a:spcPts val="2250"/>
              </a:lnSpc>
              <a:spcAft>
                <a:spcPts val="300"/>
              </a:spcAft>
              <a:buNone/>
            </a:pPr>
            <a:r>
              <a:rPr lang="zh-CN" altLang="en-US" b="0" i="0" dirty="0">
                <a:solidFill>
                  <a:srgbClr val="343434"/>
                </a:solidFill>
                <a:effectLst/>
                <a:latin typeface="PingFang SC"/>
              </a:rPr>
              <a:t>助用户更好地理解数据之间的关系。通过使用</a:t>
            </a:r>
            <a:r>
              <a:rPr lang="en-US" altLang="zh-CN" b="0" i="0" dirty="0" err="1">
                <a:solidFill>
                  <a:srgbClr val="343434"/>
                </a:solidFill>
                <a:effectLst/>
                <a:latin typeface="PingFang SC"/>
              </a:rPr>
              <a:t>DataPanel</a:t>
            </a:r>
            <a:r>
              <a:rPr lang="zh-CN" altLang="en-US" b="0" i="0" dirty="0">
                <a:solidFill>
                  <a:srgbClr val="343434"/>
                </a:solidFill>
                <a:effectLst/>
                <a:latin typeface="PingFang SC"/>
              </a:rPr>
              <a:t>数据面板组件，用户可以快速了解</a:t>
            </a:r>
          </a:p>
          <a:p>
            <a:pPr algn="l" fontAlgn="base">
              <a:lnSpc>
                <a:spcPts val="2250"/>
              </a:lnSpc>
              <a:spcAft>
                <a:spcPts val="300"/>
              </a:spcAft>
              <a:buNone/>
            </a:pPr>
            <a:r>
              <a:rPr lang="zh-CN" altLang="en-US" b="0" i="0" dirty="0">
                <a:solidFill>
                  <a:srgbClr val="343434"/>
                </a:solidFill>
                <a:effectLst/>
                <a:latin typeface="PingFang SC"/>
              </a:rPr>
              <a:t>数据的分布情况，从而更好地进行数据分析和决策。该组件具有简单易用、直观明了、信</a:t>
            </a:r>
          </a:p>
          <a:p>
            <a:pPr algn="l" fontAlgn="base">
              <a:lnSpc>
                <a:spcPts val="2250"/>
              </a:lnSpc>
              <a:spcAft>
                <a:spcPts val="300"/>
              </a:spcAft>
            </a:pPr>
            <a:r>
              <a:rPr lang="zh-CN" altLang="en-US" b="0" i="0" dirty="0">
                <a:solidFill>
                  <a:srgbClr val="343434"/>
                </a:solidFill>
                <a:effectLst/>
                <a:latin typeface="PingFang SC"/>
              </a:rPr>
              <a:t>息量大等优点，是数据可视化中不可或缺的一部分。</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FZSSK--GBK1-0"/>
              </a:rPr>
              <a:t>该组件能够在页面中显示一个警告弹窗，用户可以通过设置文本内容来传递重要的提</a:t>
            </a:r>
          </a:p>
          <a:p>
            <a:pPr algn="l"/>
            <a:r>
              <a:rPr lang="zh-CN" altLang="en-US" sz="1800" b="0" i="0" u="none" strike="noStrike" baseline="0" dirty="0">
                <a:latin typeface="FZSSK--GBK1-0"/>
              </a:rPr>
              <a:t>示信息。此外，该组件还支持响应回调函数，以便在用户关闭弹窗时执行特定的操作，例</a:t>
            </a:r>
          </a:p>
          <a:p>
            <a:pPr algn="l"/>
            <a:r>
              <a:rPr lang="zh-CN" altLang="en-US" sz="1800" b="0" i="0" u="none" strike="noStrike" baseline="0" dirty="0">
                <a:latin typeface="FZSSK--GBK1-0"/>
              </a:rPr>
              <a:t>如更新页面状态或执行其他操作。使用该组件能够使页面更友好地向用户传递重要的提示</a:t>
            </a:r>
          </a:p>
          <a:p>
            <a:pPr algn="l"/>
            <a:r>
              <a:rPr lang="zh-CN" altLang="en-US" sz="1800" b="0" i="0" u="none" strike="noStrike" baseline="0" dirty="0">
                <a:latin typeface="FZSSK--GBK1-0"/>
              </a:rPr>
              <a:t>信息，从而提高用户体验。例如，在用户提交表单时，如果提交失败，可以使用该组件弹</a:t>
            </a:r>
          </a:p>
          <a:p>
            <a:pPr algn="l"/>
            <a:r>
              <a:rPr lang="zh-CN" altLang="en-US" sz="1800" b="0" i="0" u="none" strike="noStrike" baseline="0" dirty="0">
                <a:latin typeface="FZSSK--GBK1-0"/>
              </a:rPr>
              <a:t>出一个警告弹窗，提示用户提交失败的原因，并提供相应的解决方案。这可以帮助用户更</a:t>
            </a:r>
          </a:p>
          <a:p>
            <a:pPr algn="l"/>
            <a:r>
              <a:rPr lang="zh-CN" altLang="en-US" sz="1800" b="0" i="0" u="none" strike="noStrike" baseline="0" dirty="0">
                <a:latin typeface="FZSSK--GBK1-0"/>
              </a:rPr>
              <a:t>快地找到问题所在，从而提高用户满意度。</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22</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FZSSK--GBK1-0"/>
              </a:rPr>
              <a:t>该组件能够在页面中显示一个警告弹窗，用户可以通过设置文本内容来传递重要的提</a:t>
            </a:r>
          </a:p>
          <a:p>
            <a:pPr algn="l"/>
            <a:r>
              <a:rPr lang="zh-CN" altLang="en-US" sz="1800" b="0" i="0" u="none" strike="noStrike" baseline="0" dirty="0">
                <a:latin typeface="FZSSK--GBK1-0"/>
              </a:rPr>
              <a:t>示信息。此外，该组件还支持响应回调函数，以便在用户关闭弹窗时执行特定的操作，例</a:t>
            </a:r>
          </a:p>
          <a:p>
            <a:pPr algn="l"/>
            <a:r>
              <a:rPr lang="zh-CN" altLang="en-US" sz="1800" b="0" i="0" u="none" strike="noStrike" baseline="0" dirty="0">
                <a:latin typeface="FZSSK--GBK1-0"/>
              </a:rPr>
              <a:t>如更新页面状态或执行其他操作。使用该组件能够使页面更友好地向用户传递重要的提示</a:t>
            </a:r>
          </a:p>
          <a:p>
            <a:pPr algn="l"/>
            <a:r>
              <a:rPr lang="zh-CN" altLang="en-US" sz="1800" b="0" i="0" u="none" strike="noStrike" baseline="0" dirty="0">
                <a:latin typeface="FZSSK--GBK1-0"/>
              </a:rPr>
              <a:t>信息，从而提高用户体验。例如，在用户提交表单时，如果提交失败，可以使用该组件弹</a:t>
            </a:r>
          </a:p>
          <a:p>
            <a:pPr algn="l"/>
            <a:r>
              <a:rPr lang="zh-CN" altLang="en-US" sz="1800" b="0" i="0" u="none" strike="noStrike" baseline="0" dirty="0">
                <a:latin typeface="FZSSK--GBK1-0"/>
              </a:rPr>
              <a:t>出一个警告弹窗，提示用户提交失败的原因，并提供相应的解决方案。这可以帮助用户更</a:t>
            </a:r>
          </a:p>
          <a:p>
            <a:pPr algn="l"/>
            <a:r>
              <a:rPr lang="zh-CN" altLang="en-US" sz="1800" b="0" i="0" u="none" strike="noStrike" baseline="0" dirty="0">
                <a:latin typeface="FZSSK--GBK1-0"/>
              </a:rPr>
              <a:t>快地找到问题所在，从而提高用户满意度。</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err="1">
                <a:latin typeface="FZSSK--GBK1-0"/>
              </a:rPr>
              <a:t>ActionSheet</a:t>
            </a:r>
            <a:r>
              <a:rPr lang="zh-CN" altLang="en-US" sz="1800" b="0" i="0" u="none" strike="noStrike" baseline="0" dirty="0">
                <a:latin typeface="FZSSK--GBK1-0"/>
              </a:rPr>
              <a:t>列表选择弹窗是一种常见的移动端弹窗样式，通常出现在需要用户选择某些操作或选项的情况下。它通常由一个按钮或者一个图标触发，当用户点击它时，会弹出一个列表，列表中包含一些选项供用户选择。用户可以通过滑动列表来查看所有选项，并通过点击选项来进行选择。一般来说，</a:t>
            </a:r>
            <a:r>
              <a:rPr lang="en-US" altLang="zh-CN" sz="1800" b="0" i="0" u="none" strike="noStrike" baseline="0" dirty="0" err="1">
                <a:latin typeface="FZSSK--GBK1-0"/>
              </a:rPr>
              <a:t>ActionSheet</a:t>
            </a:r>
            <a:r>
              <a:rPr lang="zh-CN" altLang="en-US" sz="1800" b="0" i="0" u="none" strike="noStrike" baseline="0" dirty="0">
                <a:latin typeface="FZSSK--GBK1-0"/>
              </a:rPr>
              <a:t>列表选择弹窗的样式比较简洁，不会影响用户的主要操作，但可以提供一些辅助的操作。</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r>
              <a:rPr lang="zh-CN" altLang="en-US" sz="1800" dirty="0">
                <a:solidFill>
                  <a:srgbClr val="231F20"/>
                </a:solidFill>
                <a:effectLst/>
                <a:latin typeface="方正书宋_GBK"/>
              </a:rPr>
              <a:t>虽然已经提供了很多内置弹窗效果，但是真实开发过程中往往要达到风格统一。如果 </a:t>
            </a:r>
            <a:endParaRPr lang="zh-CN" altLang="en-US" dirty="0"/>
          </a:p>
          <a:p>
            <a:pPr>
              <a:buNone/>
            </a:pPr>
            <a:r>
              <a:rPr lang="en-US" altLang="zh-CN" sz="1800" dirty="0">
                <a:solidFill>
                  <a:srgbClr val="231F20"/>
                </a:solidFill>
                <a:effectLst/>
                <a:latin typeface="EU-B3"/>
              </a:rPr>
              <a:t>UI </a:t>
            </a:r>
            <a:r>
              <a:rPr lang="zh-CN" altLang="en-US" sz="1800" dirty="0">
                <a:solidFill>
                  <a:srgbClr val="231F20"/>
                </a:solidFill>
                <a:effectLst/>
                <a:latin typeface="方正书宋_GBK"/>
              </a:rPr>
              <a:t>设计的弹窗是其他样式，使用默认对话框就无法统一。</a:t>
            </a:r>
            <a:r>
              <a:rPr lang="en-US" altLang="zh-CN" sz="1800" dirty="0" err="1">
                <a:solidFill>
                  <a:srgbClr val="231F20"/>
                </a:solidFill>
                <a:effectLst/>
                <a:latin typeface="EU-B3"/>
              </a:rPr>
              <a:t>ArkUI</a:t>
            </a:r>
            <a:r>
              <a:rPr lang="en-US" altLang="zh-CN" sz="1800" dirty="0">
                <a:solidFill>
                  <a:srgbClr val="231F20"/>
                </a:solidFill>
                <a:effectLst/>
                <a:latin typeface="EU-B3"/>
              </a:rPr>
              <a:t> </a:t>
            </a:r>
            <a:r>
              <a:rPr lang="zh-CN" altLang="en-US" sz="1800" dirty="0">
                <a:solidFill>
                  <a:srgbClr val="231F20"/>
                </a:solidFill>
                <a:effectLst/>
                <a:latin typeface="方正书宋_GBK"/>
              </a:rPr>
              <a:t>开发框架为解决这种场景， </a:t>
            </a:r>
            <a:endParaRPr lang="zh-CN" altLang="en-US" dirty="0"/>
          </a:p>
          <a:p>
            <a:pPr>
              <a:buNone/>
            </a:pPr>
            <a:r>
              <a:rPr lang="zh-CN" altLang="en-US" sz="1800" dirty="0">
                <a:solidFill>
                  <a:srgbClr val="231F20"/>
                </a:solidFill>
                <a:effectLst/>
                <a:latin typeface="方正书宋_GBK"/>
              </a:rPr>
              <a:t>提供了 </a:t>
            </a:r>
            <a:r>
              <a:rPr lang="en-US" altLang="zh-CN" sz="1800" dirty="0" err="1">
                <a:solidFill>
                  <a:srgbClr val="231F20"/>
                </a:solidFill>
                <a:effectLst/>
                <a:latin typeface="EU-B3"/>
              </a:rPr>
              <a:t>CustomDialogController</a:t>
            </a:r>
            <a:r>
              <a:rPr lang="en-US" altLang="zh-CN" sz="1800" dirty="0">
                <a:solidFill>
                  <a:srgbClr val="231F20"/>
                </a:solidFill>
                <a:effectLst/>
                <a:latin typeface="EU-B3"/>
              </a:rPr>
              <a:t> </a:t>
            </a:r>
            <a:r>
              <a:rPr lang="zh-CN" altLang="en-US" sz="1800" dirty="0">
                <a:solidFill>
                  <a:srgbClr val="231F20"/>
                </a:solidFill>
                <a:effectLst/>
                <a:latin typeface="方正书宋_GBK"/>
              </a:rPr>
              <a:t>接口，支持开发者自定义对话框。通过 </a:t>
            </a:r>
            <a:r>
              <a:rPr lang="en-US" altLang="zh-CN" sz="1800" dirty="0" err="1">
                <a:solidFill>
                  <a:srgbClr val="231F20"/>
                </a:solidFill>
                <a:effectLst/>
                <a:latin typeface="EU-B3"/>
              </a:rPr>
              <a:t>CustomDialogControl</a:t>
            </a:r>
            <a:endParaRPr lang="zh-CN" altLang="en-US" dirty="0"/>
          </a:p>
          <a:p>
            <a:pPr>
              <a:buNone/>
            </a:pPr>
            <a:r>
              <a:rPr lang="en-US" altLang="zh-CN" sz="1800" dirty="0" err="1">
                <a:solidFill>
                  <a:srgbClr val="231F20"/>
                </a:solidFill>
                <a:effectLst/>
                <a:latin typeface="EU-B3"/>
              </a:rPr>
              <a:t>ler</a:t>
            </a:r>
            <a:r>
              <a:rPr lang="en-US" altLang="zh-CN" sz="1800" dirty="0">
                <a:solidFill>
                  <a:srgbClr val="231F20"/>
                </a:solidFill>
                <a:effectLst/>
                <a:latin typeface="EU-B3"/>
              </a:rPr>
              <a:t> </a:t>
            </a:r>
            <a:r>
              <a:rPr lang="zh-CN" altLang="en-US" sz="1800" dirty="0">
                <a:solidFill>
                  <a:srgbClr val="231F20"/>
                </a:solidFill>
                <a:effectLst/>
                <a:latin typeface="方正书宋_GBK"/>
              </a:rPr>
              <a:t>类显示自定义弹窗。使用弹窗组件时，可优先考虑自定义弹窗，便于自定义弹窗的样式 </a:t>
            </a:r>
            <a:endParaRPr lang="zh-CN" altLang="en-US" dirty="0"/>
          </a:p>
          <a:p>
            <a:pPr>
              <a:buNone/>
            </a:pPr>
            <a:r>
              <a:rPr lang="zh-CN" altLang="en-US" sz="1800" dirty="0">
                <a:solidFill>
                  <a:srgbClr val="231F20"/>
                </a:solidFill>
                <a:effectLst/>
                <a:latin typeface="方正书宋_GBK"/>
              </a:rPr>
              <a:t>与内容。</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r>
              <a:rPr lang="zh-CN" altLang="en-US" sz="1800" dirty="0">
                <a:solidFill>
                  <a:srgbClr val="231F20"/>
                </a:solidFill>
                <a:effectLst/>
                <a:latin typeface="方正书宋_GBK"/>
              </a:rPr>
              <a:t>虽然已经提供了很多内置弹窗效果，但是真实开发过程中往往要达到风格统一。如果 </a:t>
            </a:r>
            <a:endParaRPr lang="zh-CN" altLang="en-US" dirty="0"/>
          </a:p>
          <a:p>
            <a:pPr>
              <a:buNone/>
            </a:pPr>
            <a:r>
              <a:rPr lang="en-US" altLang="zh-CN" sz="1800" dirty="0">
                <a:solidFill>
                  <a:srgbClr val="231F20"/>
                </a:solidFill>
                <a:effectLst/>
                <a:latin typeface="EU-B3"/>
              </a:rPr>
              <a:t>UI </a:t>
            </a:r>
            <a:r>
              <a:rPr lang="zh-CN" altLang="en-US" sz="1800" dirty="0">
                <a:solidFill>
                  <a:srgbClr val="231F20"/>
                </a:solidFill>
                <a:effectLst/>
                <a:latin typeface="方正书宋_GBK"/>
              </a:rPr>
              <a:t>设计的弹窗是其他样式，使用默认对话框就无法统一。</a:t>
            </a:r>
            <a:r>
              <a:rPr lang="en-US" altLang="zh-CN" sz="1800" dirty="0" err="1">
                <a:solidFill>
                  <a:srgbClr val="231F20"/>
                </a:solidFill>
                <a:effectLst/>
                <a:latin typeface="EU-B3"/>
              </a:rPr>
              <a:t>ArkUI</a:t>
            </a:r>
            <a:r>
              <a:rPr lang="en-US" altLang="zh-CN" sz="1800" dirty="0">
                <a:solidFill>
                  <a:srgbClr val="231F20"/>
                </a:solidFill>
                <a:effectLst/>
                <a:latin typeface="EU-B3"/>
              </a:rPr>
              <a:t> </a:t>
            </a:r>
            <a:r>
              <a:rPr lang="zh-CN" altLang="en-US" sz="1800" dirty="0">
                <a:solidFill>
                  <a:srgbClr val="231F20"/>
                </a:solidFill>
                <a:effectLst/>
                <a:latin typeface="方正书宋_GBK"/>
              </a:rPr>
              <a:t>开发框架为解决这种场景， </a:t>
            </a:r>
            <a:endParaRPr lang="zh-CN" altLang="en-US" dirty="0"/>
          </a:p>
          <a:p>
            <a:pPr>
              <a:buNone/>
            </a:pPr>
            <a:r>
              <a:rPr lang="zh-CN" altLang="en-US" sz="1800" dirty="0">
                <a:solidFill>
                  <a:srgbClr val="231F20"/>
                </a:solidFill>
                <a:effectLst/>
                <a:latin typeface="方正书宋_GBK"/>
              </a:rPr>
              <a:t>提供了 </a:t>
            </a:r>
            <a:r>
              <a:rPr lang="en-US" altLang="zh-CN" sz="1800" dirty="0" err="1">
                <a:solidFill>
                  <a:srgbClr val="231F20"/>
                </a:solidFill>
                <a:effectLst/>
                <a:latin typeface="EU-B3"/>
              </a:rPr>
              <a:t>CustomDialogController</a:t>
            </a:r>
            <a:r>
              <a:rPr lang="en-US" altLang="zh-CN" sz="1800" dirty="0">
                <a:solidFill>
                  <a:srgbClr val="231F20"/>
                </a:solidFill>
                <a:effectLst/>
                <a:latin typeface="EU-B3"/>
              </a:rPr>
              <a:t> </a:t>
            </a:r>
            <a:r>
              <a:rPr lang="zh-CN" altLang="en-US" sz="1800" dirty="0">
                <a:solidFill>
                  <a:srgbClr val="231F20"/>
                </a:solidFill>
                <a:effectLst/>
                <a:latin typeface="方正书宋_GBK"/>
              </a:rPr>
              <a:t>接口，支持开发者自定义对话框。通过 </a:t>
            </a:r>
            <a:r>
              <a:rPr lang="en-US" altLang="zh-CN" sz="1800" dirty="0" err="1">
                <a:solidFill>
                  <a:srgbClr val="231F20"/>
                </a:solidFill>
                <a:effectLst/>
                <a:latin typeface="EU-B3"/>
              </a:rPr>
              <a:t>CustomDialogControl</a:t>
            </a:r>
            <a:endParaRPr lang="zh-CN" altLang="en-US" dirty="0"/>
          </a:p>
          <a:p>
            <a:pPr>
              <a:buNone/>
            </a:pPr>
            <a:r>
              <a:rPr lang="en-US" altLang="zh-CN" sz="1800" dirty="0" err="1">
                <a:solidFill>
                  <a:srgbClr val="231F20"/>
                </a:solidFill>
                <a:effectLst/>
                <a:latin typeface="EU-B3"/>
              </a:rPr>
              <a:t>ler</a:t>
            </a:r>
            <a:r>
              <a:rPr lang="en-US" altLang="zh-CN" sz="1800" dirty="0">
                <a:solidFill>
                  <a:srgbClr val="231F20"/>
                </a:solidFill>
                <a:effectLst/>
                <a:latin typeface="EU-B3"/>
              </a:rPr>
              <a:t> </a:t>
            </a:r>
            <a:r>
              <a:rPr lang="zh-CN" altLang="en-US" sz="1800" dirty="0">
                <a:solidFill>
                  <a:srgbClr val="231F20"/>
                </a:solidFill>
                <a:effectLst/>
                <a:latin typeface="方正书宋_GBK"/>
              </a:rPr>
              <a:t>类显示自定义弹窗。使用弹窗组件时，可优先考虑自定义弹窗，便于自定义弹窗的样式 </a:t>
            </a:r>
            <a:endParaRPr lang="zh-CN" altLang="en-US" dirty="0"/>
          </a:p>
          <a:p>
            <a:pPr>
              <a:buNone/>
            </a:pPr>
            <a:r>
              <a:rPr lang="zh-CN" altLang="en-US" sz="1800" dirty="0">
                <a:solidFill>
                  <a:srgbClr val="231F20"/>
                </a:solidFill>
                <a:effectLst/>
                <a:latin typeface="方正书宋_GBK"/>
              </a:rPr>
              <a:t>与内容。</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不支持</a:t>
            </a:r>
            <a:r>
              <a:rPr lang="en-US" altLang="zh-CN" dirty="0"/>
              <a:t>previewer</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评分条组件是一种常见的组件，通常用于在项目开发中为用户提供一个可以设</a:t>
            </a:r>
          </a:p>
          <a:p>
            <a:pPr algn="l" fontAlgn="base">
              <a:lnSpc>
                <a:spcPts val="2250"/>
              </a:lnSpc>
              <a:spcAft>
                <a:spcPts val="300"/>
              </a:spcAft>
              <a:buNone/>
            </a:pPr>
            <a:r>
              <a:rPr lang="zh-CN" altLang="en-US" b="0" i="0" dirty="0">
                <a:solidFill>
                  <a:srgbClr val="343434"/>
                </a:solidFill>
                <a:effectLst/>
                <a:latin typeface="PingFang SC"/>
              </a:rPr>
              <a:t>置评分的界面。在实际应用中，可能会有许多场景需要使用这个组件，例如在</a:t>
            </a:r>
            <a:r>
              <a:rPr lang="en-US" altLang="zh-CN" b="0" i="0" dirty="0">
                <a:solidFill>
                  <a:srgbClr val="343434"/>
                </a:solidFill>
                <a:effectLst/>
                <a:latin typeface="PingFang SC"/>
              </a:rPr>
              <a:t>APP</a:t>
            </a:r>
            <a:r>
              <a:rPr lang="zh-CN" altLang="en-US" b="0" i="0" dirty="0">
                <a:solidFill>
                  <a:srgbClr val="343434"/>
                </a:solidFill>
                <a:effectLst/>
                <a:latin typeface="PingFang SC"/>
              </a:rPr>
              <a:t>中弹</a:t>
            </a:r>
          </a:p>
          <a:p>
            <a:pPr algn="l" fontAlgn="base">
              <a:lnSpc>
                <a:spcPts val="2250"/>
              </a:lnSpc>
              <a:spcAft>
                <a:spcPts val="300"/>
              </a:spcAft>
              <a:buNone/>
            </a:pPr>
            <a:r>
              <a:rPr lang="zh-CN" altLang="en-US" b="0" i="0" dirty="0">
                <a:solidFill>
                  <a:srgbClr val="343434"/>
                </a:solidFill>
                <a:effectLst/>
                <a:latin typeface="PingFang SC"/>
              </a:rPr>
              <a:t>出一个窗口，让用户给当前</a:t>
            </a:r>
            <a:r>
              <a:rPr lang="en-US" altLang="zh-CN" b="0" i="0" dirty="0">
                <a:solidFill>
                  <a:srgbClr val="343434"/>
                </a:solidFill>
                <a:effectLst/>
                <a:latin typeface="PingFang SC"/>
              </a:rPr>
              <a:t>APP</a:t>
            </a:r>
            <a:r>
              <a:rPr lang="zh-CN" altLang="en-US" b="0" i="0" dirty="0">
                <a:solidFill>
                  <a:srgbClr val="343434"/>
                </a:solidFill>
                <a:effectLst/>
                <a:latin typeface="PingFang SC"/>
              </a:rPr>
              <a:t>设置评分，或在其他应用场景中。在这种情况下，使用</a:t>
            </a:r>
          </a:p>
          <a:p>
            <a:pPr algn="l" fontAlgn="base">
              <a:lnSpc>
                <a:spcPts val="2250"/>
              </a:lnSpc>
              <a:spcAft>
                <a:spcPts val="300"/>
              </a:spcAft>
              <a:buNone/>
            </a:pP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开发框架提供的评分条组件</a:t>
            </a:r>
            <a:r>
              <a:rPr lang="en-US" altLang="zh-CN" b="0" i="0" dirty="0">
                <a:solidFill>
                  <a:srgbClr val="343434"/>
                </a:solidFill>
                <a:effectLst/>
                <a:latin typeface="PingFang SC"/>
              </a:rPr>
              <a:t>Rating,</a:t>
            </a:r>
            <a:r>
              <a:rPr lang="zh-CN" altLang="en-US" b="0" i="0" dirty="0">
                <a:solidFill>
                  <a:srgbClr val="343434"/>
                </a:solidFill>
                <a:effectLst/>
                <a:latin typeface="PingFang SC"/>
              </a:rPr>
              <a:t>可以轻松实现这个功能。该组件可让用户通过点</a:t>
            </a:r>
          </a:p>
          <a:p>
            <a:pPr algn="l" fontAlgn="base">
              <a:lnSpc>
                <a:spcPts val="2250"/>
              </a:lnSpc>
              <a:spcAft>
                <a:spcPts val="300"/>
              </a:spcAft>
              <a:buNone/>
            </a:pPr>
            <a:r>
              <a:rPr lang="zh-CN" altLang="en-US" b="0" i="0" dirty="0">
                <a:solidFill>
                  <a:srgbClr val="343434"/>
                </a:solidFill>
                <a:effectLst/>
                <a:latin typeface="PingFang SC"/>
              </a:rPr>
              <a:t>击星星图标来设置评分，并且可以根据需要进行自定义设置，例如可以设置评分的最大值、</a:t>
            </a:r>
          </a:p>
          <a:p>
            <a:pPr algn="l" fontAlgn="base">
              <a:lnSpc>
                <a:spcPts val="2250"/>
              </a:lnSpc>
              <a:spcAft>
                <a:spcPts val="300"/>
              </a:spcAft>
              <a:buNone/>
            </a:pPr>
            <a:r>
              <a:rPr lang="zh-CN" altLang="en-US" b="0" i="0" dirty="0">
                <a:solidFill>
                  <a:srgbClr val="343434"/>
                </a:solidFill>
                <a:effectLst/>
                <a:latin typeface="PingFang SC"/>
              </a:rPr>
              <a:t>最小值、步长等。使用</a:t>
            </a: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评分条组件可以让开发者在项目开发中更加高效地实现评分</a:t>
            </a:r>
          </a:p>
          <a:p>
            <a:pPr algn="l" fontAlgn="base">
              <a:lnSpc>
                <a:spcPts val="2250"/>
              </a:lnSpc>
              <a:spcAft>
                <a:spcPts val="300"/>
              </a:spcAft>
              <a:buNone/>
            </a:pPr>
            <a:r>
              <a:rPr lang="zh-CN" altLang="en-US" b="0" i="0" dirty="0">
                <a:solidFill>
                  <a:srgbClr val="343434"/>
                </a:solidFill>
                <a:effectLst/>
                <a:latin typeface="PingFang SC"/>
              </a:rPr>
              <a:t>功能，同时提高用户的体验，让用户更加方便地进行评分操作。该组件的使用方法简单，</a:t>
            </a:r>
          </a:p>
          <a:p>
            <a:pPr algn="l" fontAlgn="base">
              <a:lnSpc>
                <a:spcPts val="2250"/>
              </a:lnSpc>
              <a:spcAft>
                <a:spcPts val="300"/>
              </a:spcAft>
            </a:pPr>
            <a:r>
              <a:rPr lang="zh-CN" altLang="en-US" b="0" i="0" dirty="0">
                <a:solidFill>
                  <a:srgbClr val="343434"/>
                </a:solidFill>
                <a:effectLst/>
                <a:latin typeface="PingFang SC"/>
              </a:rPr>
              <a:t>只需按照框架提供的</a:t>
            </a:r>
            <a:r>
              <a:rPr lang="en-US" altLang="zh-CN" b="0" i="0" dirty="0">
                <a:solidFill>
                  <a:srgbClr val="343434"/>
                </a:solidFill>
                <a:effectLst/>
                <a:latin typeface="PingFang SC"/>
              </a:rPr>
              <a:t>API</a:t>
            </a:r>
            <a:r>
              <a:rPr lang="zh-CN" altLang="en-US" b="0" i="0" dirty="0">
                <a:solidFill>
                  <a:srgbClr val="343434"/>
                </a:solidFill>
                <a:effectLst/>
                <a:latin typeface="PingFang SC"/>
              </a:rPr>
              <a:t>进行调用即可，非常适合在项目开发中使用。</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评分条组件是一种常见的组件，通常用于在项目开发中为用户提供一个可以设</a:t>
            </a:r>
          </a:p>
          <a:p>
            <a:pPr algn="l" fontAlgn="base">
              <a:lnSpc>
                <a:spcPts val="2250"/>
              </a:lnSpc>
              <a:spcAft>
                <a:spcPts val="300"/>
              </a:spcAft>
              <a:buNone/>
            </a:pPr>
            <a:r>
              <a:rPr lang="zh-CN" altLang="en-US" b="0" i="0" dirty="0">
                <a:solidFill>
                  <a:srgbClr val="343434"/>
                </a:solidFill>
                <a:effectLst/>
                <a:latin typeface="PingFang SC"/>
              </a:rPr>
              <a:t>置评分的界面。在实际应用中，可能会有许多场景需要使用这个组件，例如在</a:t>
            </a:r>
            <a:r>
              <a:rPr lang="en-US" altLang="zh-CN" b="0" i="0" dirty="0">
                <a:solidFill>
                  <a:srgbClr val="343434"/>
                </a:solidFill>
                <a:effectLst/>
                <a:latin typeface="PingFang SC"/>
              </a:rPr>
              <a:t>APP</a:t>
            </a:r>
            <a:r>
              <a:rPr lang="zh-CN" altLang="en-US" b="0" i="0" dirty="0">
                <a:solidFill>
                  <a:srgbClr val="343434"/>
                </a:solidFill>
                <a:effectLst/>
                <a:latin typeface="PingFang SC"/>
              </a:rPr>
              <a:t>中弹</a:t>
            </a:r>
          </a:p>
          <a:p>
            <a:pPr algn="l" fontAlgn="base">
              <a:lnSpc>
                <a:spcPts val="2250"/>
              </a:lnSpc>
              <a:spcAft>
                <a:spcPts val="300"/>
              </a:spcAft>
              <a:buNone/>
            </a:pPr>
            <a:r>
              <a:rPr lang="zh-CN" altLang="en-US" b="0" i="0" dirty="0">
                <a:solidFill>
                  <a:srgbClr val="343434"/>
                </a:solidFill>
                <a:effectLst/>
                <a:latin typeface="PingFang SC"/>
              </a:rPr>
              <a:t>出一个窗口，让用户给当前</a:t>
            </a:r>
            <a:r>
              <a:rPr lang="en-US" altLang="zh-CN" b="0" i="0" dirty="0">
                <a:solidFill>
                  <a:srgbClr val="343434"/>
                </a:solidFill>
                <a:effectLst/>
                <a:latin typeface="PingFang SC"/>
              </a:rPr>
              <a:t>APP</a:t>
            </a:r>
            <a:r>
              <a:rPr lang="zh-CN" altLang="en-US" b="0" i="0" dirty="0">
                <a:solidFill>
                  <a:srgbClr val="343434"/>
                </a:solidFill>
                <a:effectLst/>
                <a:latin typeface="PingFang SC"/>
              </a:rPr>
              <a:t>设置评分，或在其他应用场景中。在这种情况下，使用</a:t>
            </a:r>
          </a:p>
          <a:p>
            <a:pPr algn="l" fontAlgn="base">
              <a:lnSpc>
                <a:spcPts val="2250"/>
              </a:lnSpc>
              <a:spcAft>
                <a:spcPts val="300"/>
              </a:spcAft>
              <a:buNone/>
            </a:pP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开发框架提供的评分条组件</a:t>
            </a:r>
            <a:r>
              <a:rPr lang="en-US" altLang="zh-CN" b="0" i="0" dirty="0">
                <a:solidFill>
                  <a:srgbClr val="343434"/>
                </a:solidFill>
                <a:effectLst/>
                <a:latin typeface="PingFang SC"/>
              </a:rPr>
              <a:t>Rating,</a:t>
            </a:r>
            <a:r>
              <a:rPr lang="zh-CN" altLang="en-US" b="0" i="0" dirty="0">
                <a:solidFill>
                  <a:srgbClr val="343434"/>
                </a:solidFill>
                <a:effectLst/>
                <a:latin typeface="PingFang SC"/>
              </a:rPr>
              <a:t>可以轻松实现这个功能。该组件可让用户通过点</a:t>
            </a:r>
          </a:p>
          <a:p>
            <a:pPr algn="l" fontAlgn="base">
              <a:lnSpc>
                <a:spcPts val="2250"/>
              </a:lnSpc>
              <a:spcAft>
                <a:spcPts val="300"/>
              </a:spcAft>
              <a:buNone/>
            </a:pPr>
            <a:r>
              <a:rPr lang="zh-CN" altLang="en-US" b="0" i="0" dirty="0">
                <a:solidFill>
                  <a:srgbClr val="343434"/>
                </a:solidFill>
                <a:effectLst/>
                <a:latin typeface="PingFang SC"/>
              </a:rPr>
              <a:t>击星星图标来设置评分，并且可以根据需要进行自定义设置，例如可以设置评分的最大值、</a:t>
            </a:r>
          </a:p>
          <a:p>
            <a:pPr algn="l" fontAlgn="base">
              <a:lnSpc>
                <a:spcPts val="2250"/>
              </a:lnSpc>
              <a:spcAft>
                <a:spcPts val="300"/>
              </a:spcAft>
              <a:buNone/>
            </a:pPr>
            <a:r>
              <a:rPr lang="zh-CN" altLang="en-US" b="0" i="0" dirty="0">
                <a:solidFill>
                  <a:srgbClr val="343434"/>
                </a:solidFill>
                <a:effectLst/>
                <a:latin typeface="PingFang SC"/>
              </a:rPr>
              <a:t>最小值、步长等。使用</a:t>
            </a: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评分条组件可以让开发者在项目开发中更加高效地实现评分</a:t>
            </a:r>
          </a:p>
          <a:p>
            <a:pPr algn="l" fontAlgn="base">
              <a:lnSpc>
                <a:spcPts val="2250"/>
              </a:lnSpc>
              <a:spcAft>
                <a:spcPts val="300"/>
              </a:spcAft>
              <a:buNone/>
            </a:pPr>
            <a:r>
              <a:rPr lang="zh-CN" altLang="en-US" b="0" i="0" dirty="0">
                <a:solidFill>
                  <a:srgbClr val="343434"/>
                </a:solidFill>
                <a:effectLst/>
                <a:latin typeface="PingFang SC"/>
              </a:rPr>
              <a:t>功能，同时提高用户的体验，让用户更加方便地进行评分操作。该组件的使用方法简单，</a:t>
            </a:r>
          </a:p>
          <a:p>
            <a:pPr algn="l" fontAlgn="base">
              <a:lnSpc>
                <a:spcPts val="2250"/>
              </a:lnSpc>
              <a:spcAft>
                <a:spcPts val="300"/>
              </a:spcAft>
            </a:pPr>
            <a:r>
              <a:rPr lang="zh-CN" altLang="en-US" b="0" i="0" dirty="0">
                <a:solidFill>
                  <a:srgbClr val="343434"/>
                </a:solidFill>
                <a:effectLst/>
                <a:latin typeface="PingFang SC"/>
              </a:rPr>
              <a:t>只需按照框架提供的</a:t>
            </a:r>
            <a:r>
              <a:rPr lang="en-US" altLang="zh-CN" b="0" i="0" dirty="0">
                <a:solidFill>
                  <a:srgbClr val="343434"/>
                </a:solidFill>
                <a:effectLst/>
                <a:latin typeface="PingFang SC"/>
              </a:rPr>
              <a:t>API</a:t>
            </a:r>
            <a:r>
              <a:rPr lang="zh-CN" altLang="en-US" b="0" i="0" dirty="0">
                <a:solidFill>
                  <a:srgbClr val="343434"/>
                </a:solidFill>
                <a:effectLst/>
                <a:latin typeface="PingFang SC"/>
              </a:rPr>
              <a:t>进行调用即可，非常适合在项目开发中使用。</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47</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795A699-AB68-4A20-99FB-6F69DC266D45}" type="slidenum">
              <a:rPr lang="zh-CN" altLang="en-US" smtClean="0"/>
              <a:t>48</a:t>
            </a:fld>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49</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50</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51</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52</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53</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54</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55</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56</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57</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58</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59</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63</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t>66</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67</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795A699-AB68-4A20-99FB-6F69DC266D45}" type="slidenum">
              <a:rPr lang="zh-CN" altLang="en-US" smtClean="0"/>
              <a:t>68</a:t>
            </a:fld>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69</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70</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71</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72</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73</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74</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75</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76</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77</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78</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79</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90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在移动应用开发领域中，下拉刷新功能被广泛应用。该功能使得用户能够获取到最新</a:t>
            </a:r>
          </a:p>
          <a:p>
            <a:pPr algn="l" fontAlgn="base">
              <a:lnSpc>
                <a:spcPts val="2250"/>
              </a:lnSpc>
              <a:spcAft>
                <a:spcPts val="300"/>
              </a:spcAft>
              <a:buNone/>
            </a:pPr>
            <a:r>
              <a:rPr lang="zh-CN" altLang="en-US" b="0" i="0" dirty="0">
                <a:solidFill>
                  <a:srgbClr val="343434"/>
                </a:solidFill>
                <a:effectLst/>
                <a:latin typeface="PingFang SC"/>
              </a:rPr>
              <a:t>的数据或内容，而无需手动刷新或等待自动刷新，因此被认为是一项非常实用的功能。举</a:t>
            </a:r>
          </a:p>
          <a:p>
            <a:pPr algn="l" fontAlgn="base">
              <a:lnSpc>
                <a:spcPts val="2250"/>
              </a:lnSpc>
              <a:spcAft>
                <a:spcPts val="300"/>
              </a:spcAft>
              <a:buNone/>
            </a:pPr>
            <a:r>
              <a:rPr lang="zh-CN" altLang="en-US" b="0" i="0" dirty="0">
                <a:solidFill>
                  <a:srgbClr val="343434"/>
                </a:solidFill>
                <a:effectLst/>
                <a:latin typeface="PingFang SC"/>
              </a:rPr>
              <a:t>例而言，当用户使用新闻应用时，可以通过下拉刷新来获取最新的新闻资讯。为了方便开</a:t>
            </a:r>
          </a:p>
          <a:p>
            <a:pPr algn="l" fontAlgn="base">
              <a:lnSpc>
                <a:spcPts val="2250"/>
              </a:lnSpc>
              <a:spcAft>
                <a:spcPts val="300"/>
              </a:spcAft>
              <a:buNone/>
            </a:pPr>
            <a:r>
              <a:rPr lang="zh-CN" altLang="en-US" b="0" i="0" dirty="0">
                <a:solidFill>
                  <a:srgbClr val="343434"/>
                </a:solidFill>
                <a:effectLst/>
                <a:latin typeface="PingFang SC"/>
              </a:rPr>
              <a:t>发者实现这一功能，</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开发框架提供了一个名为</a:t>
            </a:r>
            <a:r>
              <a:rPr lang="en-US" altLang="zh-CN" b="0" i="0" dirty="0">
                <a:solidFill>
                  <a:srgbClr val="343434"/>
                </a:solidFill>
                <a:effectLst/>
                <a:latin typeface="PingFang SC"/>
              </a:rPr>
              <a:t>Refresh</a:t>
            </a:r>
            <a:r>
              <a:rPr lang="zh-CN" altLang="en-US" b="0" i="0" dirty="0">
                <a:solidFill>
                  <a:srgbClr val="343434"/>
                </a:solidFill>
                <a:effectLst/>
                <a:latin typeface="PingFang SC"/>
              </a:rPr>
              <a:t>的下拉刷新组件。使用该组件</a:t>
            </a:r>
          </a:p>
          <a:p>
            <a:pPr algn="l" fontAlgn="base">
              <a:lnSpc>
                <a:spcPts val="2250"/>
              </a:lnSpc>
              <a:spcAft>
                <a:spcPts val="300"/>
              </a:spcAft>
              <a:buNone/>
            </a:pPr>
            <a:r>
              <a:rPr lang="zh-CN" altLang="en-US" b="0" i="0" dirty="0">
                <a:solidFill>
                  <a:srgbClr val="343434"/>
                </a:solidFill>
                <a:effectLst/>
                <a:latin typeface="PingFang SC"/>
              </a:rPr>
              <a:t>非常简单，只需将需要进行下拉刷新的组件包裹在</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组件中即可。在用户下拉屏幕</a:t>
            </a:r>
          </a:p>
          <a:p>
            <a:pPr algn="l" fontAlgn="base">
              <a:lnSpc>
                <a:spcPts val="2250"/>
              </a:lnSpc>
              <a:spcAft>
                <a:spcPts val="300"/>
              </a:spcAft>
              <a:buNone/>
            </a:pPr>
            <a:r>
              <a:rPr lang="zh-CN" altLang="en-US" b="0" i="0" dirty="0">
                <a:solidFill>
                  <a:srgbClr val="343434"/>
                </a:solidFill>
                <a:effectLst/>
                <a:latin typeface="PingFang SC"/>
              </a:rPr>
              <a:t>时，</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组件会自动触发刷新操作，从而更新数据或内容。总之，下拉刷新功能提高了</a:t>
            </a:r>
          </a:p>
          <a:p>
            <a:pPr algn="l" fontAlgn="base">
              <a:lnSpc>
                <a:spcPts val="2250"/>
              </a:lnSpc>
              <a:spcAft>
                <a:spcPts val="300"/>
              </a:spcAft>
            </a:pPr>
            <a:r>
              <a:rPr lang="zh-CN" altLang="en-US" b="0" i="0" dirty="0">
                <a:solidFill>
                  <a:srgbClr val="343434"/>
                </a:solidFill>
                <a:effectLst/>
                <a:latin typeface="PingFang SC"/>
              </a:rPr>
              <a:t>用户体验，使应用更加便捷和易用。</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91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@Component</a:t>
            </a:r>
            <a:r>
              <a:rPr lang="zh-CN" altLang="en-US" b="0" i="0" dirty="0">
                <a:solidFill>
                  <a:srgbClr val="343434"/>
                </a:solidFill>
                <a:effectLst/>
                <a:latin typeface="PingFang SC"/>
              </a:rPr>
              <a:t>是一个修饰符，它表示</a:t>
            </a:r>
            <a:r>
              <a:rPr lang="en-US" altLang="zh-CN" b="0" i="0" dirty="0">
                <a:solidFill>
                  <a:srgbClr val="343434"/>
                </a:solidFill>
                <a:effectLst/>
                <a:latin typeface="PingFang SC"/>
              </a:rPr>
              <a:t>Ring</a:t>
            </a:r>
            <a:r>
              <a:rPr lang="zh-CN" altLang="en-US" b="0" i="0" dirty="0">
                <a:solidFill>
                  <a:srgbClr val="343434"/>
                </a:solidFill>
                <a:effectLst/>
                <a:latin typeface="PingFang SC"/>
              </a:rPr>
              <a:t>是一个组件。在使用该修饰符时，必须实现</a:t>
            </a:r>
          </a:p>
          <a:p>
            <a:pPr algn="l" fontAlgn="base">
              <a:lnSpc>
                <a:spcPts val="2250"/>
              </a:lnSpc>
              <a:spcAft>
                <a:spcPts val="300"/>
              </a:spcAft>
              <a:buNone/>
            </a:pPr>
            <a:r>
              <a:rPr lang="en-US" altLang="zh-CN" b="0" i="0" dirty="0">
                <a:solidFill>
                  <a:srgbClr val="343434"/>
                </a:solidFill>
                <a:effectLst/>
                <a:latin typeface="PingFang SC"/>
              </a:rPr>
              <a:t>build0</a:t>
            </a:r>
            <a:r>
              <a:rPr lang="zh-CN" altLang="en-US" b="0" i="0" dirty="0">
                <a:solidFill>
                  <a:srgbClr val="343434"/>
                </a:solidFill>
                <a:effectLst/>
                <a:latin typeface="PingFang SC"/>
              </a:rPr>
              <a:t>方法。当组件被创建或者后续有状态更新时，</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方法会被调用。因此，我们只需</a:t>
            </a:r>
          </a:p>
          <a:p>
            <a:pPr algn="l" fontAlgn="base">
              <a:lnSpc>
                <a:spcPts val="2250"/>
              </a:lnSpc>
              <a:spcAft>
                <a:spcPts val="300"/>
              </a:spcAft>
              <a:buNone/>
            </a:pPr>
            <a:r>
              <a:rPr lang="zh-CN" altLang="en-US" b="0" i="0" dirty="0">
                <a:solidFill>
                  <a:srgbClr val="343434"/>
                </a:solidFill>
                <a:effectLst/>
                <a:latin typeface="PingFang SC"/>
              </a:rPr>
              <a:t>要在</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方法内返回布局即可。在该方法内，我们可以使用各种布局控件和属性来构建</a:t>
            </a:r>
          </a:p>
          <a:p>
            <a:pPr algn="l" fontAlgn="base">
              <a:lnSpc>
                <a:spcPts val="2250"/>
              </a:lnSpc>
              <a:spcAft>
                <a:spcPts val="300"/>
              </a:spcAft>
              <a:buNone/>
            </a:pPr>
            <a:r>
              <a:rPr lang="zh-CN" altLang="en-US" b="0" i="0" dirty="0">
                <a:solidFill>
                  <a:srgbClr val="343434"/>
                </a:solidFill>
                <a:effectLst/>
                <a:latin typeface="PingFang SC"/>
              </a:rPr>
              <a:t>我们所需的界面。这样，我们就可以轻松地创建一个功能强大的组件，并在需要时进行更</a:t>
            </a:r>
          </a:p>
          <a:p>
            <a:pPr algn="l" fontAlgn="base">
              <a:lnSpc>
                <a:spcPts val="2250"/>
              </a:lnSpc>
              <a:spcAft>
                <a:spcPts val="300"/>
              </a:spcAft>
              <a:buNone/>
            </a:pPr>
            <a:r>
              <a:rPr lang="zh-CN" altLang="en-US" b="0" i="0" dirty="0">
                <a:solidFill>
                  <a:srgbClr val="343434"/>
                </a:solidFill>
                <a:effectLst/>
                <a:latin typeface="PingFang SC"/>
              </a:rPr>
              <a:t>新和修改。同时，使用组件化的思想可以大大提高代码的复用性和可维护性，使得开发工</a:t>
            </a:r>
          </a:p>
          <a:p>
            <a:pPr algn="l" fontAlgn="base">
              <a:lnSpc>
                <a:spcPts val="2250"/>
              </a:lnSpc>
              <a:spcAft>
                <a:spcPts val="300"/>
              </a:spcAft>
              <a:buNone/>
            </a:pPr>
            <a:r>
              <a:rPr lang="zh-CN" altLang="en-US" b="0" i="0" dirty="0">
                <a:solidFill>
                  <a:srgbClr val="343434"/>
                </a:solidFill>
                <a:effectLst/>
                <a:latin typeface="PingFang SC"/>
              </a:rPr>
              <a:t>作更加高效和便捷。</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在</a:t>
            </a:r>
            <a:r>
              <a:rPr lang="en-US" altLang="zh-CN" b="0" i="0" dirty="0" err="1">
                <a:solidFill>
                  <a:srgbClr val="343434"/>
                </a:solidFill>
                <a:effectLst/>
                <a:latin typeface="PingFang SC"/>
              </a:rPr>
              <a:t>ArkUI</a:t>
            </a:r>
            <a:r>
              <a:rPr lang="zh-CN" altLang="en-US" b="0" i="0" dirty="0">
                <a:solidFill>
                  <a:srgbClr val="343434"/>
                </a:solidFill>
                <a:effectLst/>
                <a:latin typeface="PingFang SC"/>
              </a:rPr>
              <a:t>中，</a:t>
            </a:r>
            <a:r>
              <a:rPr lang="en-US" altLang="zh-CN" b="0" i="0" dirty="0">
                <a:solidFill>
                  <a:srgbClr val="343434"/>
                </a:solidFill>
                <a:effectLst/>
                <a:latin typeface="PingFang SC"/>
              </a:rPr>
              <a:t>export</a:t>
            </a:r>
            <a:r>
              <a:rPr lang="zh-CN" altLang="en-US" b="0" i="0" dirty="0">
                <a:solidFill>
                  <a:srgbClr val="343434"/>
                </a:solidFill>
                <a:effectLst/>
                <a:latin typeface="PingFang SC"/>
              </a:rPr>
              <a:t>是一个非常重要的关键字。它表示当前组件可以被导出，让其他组</a:t>
            </a:r>
          </a:p>
          <a:p>
            <a:pPr algn="l" fontAlgn="base">
              <a:lnSpc>
                <a:spcPts val="2250"/>
              </a:lnSpc>
              <a:spcAft>
                <a:spcPts val="300"/>
              </a:spcAft>
              <a:buNone/>
            </a:pPr>
            <a:r>
              <a:rPr lang="zh-CN" altLang="en-US" b="0" i="0" dirty="0">
                <a:solidFill>
                  <a:srgbClr val="343434"/>
                </a:solidFill>
                <a:effectLst/>
                <a:latin typeface="PingFang SC"/>
              </a:rPr>
              <a:t>件或模块可以调用它。使用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关键字，我们可以封装组件的功能和逻辑，让其他组件</a:t>
            </a:r>
          </a:p>
          <a:p>
            <a:pPr algn="l" fontAlgn="base">
              <a:lnSpc>
                <a:spcPts val="2250"/>
              </a:lnSpc>
              <a:spcAft>
                <a:spcPts val="300"/>
              </a:spcAft>
              <a:buNone/>
            </a:pPr>
            <a:r>
              <a:rPr lang="zh-CN" altLang="en-US" b="0" i="0" dirty="0">
                <a:solidFill>
                  <a:srgbClr val="343434"/>
                </a:solidFill>
                <a:effectLst/>
                <a:latin typeface="PingFang SC"/>
              </a:rPr>
              <a:t>或模块进行复用。当一个组件使用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关键字时，其他组件或模块可以通过</a:t>
            </a:r>
            <a:r>
              <a:rPr lang="en-US" altLang="zh-CN" b="0" i="0" dirty="0">
                <a:solidFill>
                  <a:srgbClr val="343434"/>
                </a:solidFill>
                <a:effectLst/>
                <a:latin typeface="PingFang SC"/>
              </a:rPr>
              <a:t>import</a:t>
            </a:r>
            <a:r>
              <a:rPr lang="zh-CN" altLang="en-US" b="0" i="0" dirty="0">
                <a:solidFill>
                  <a:srgbClr val="343434"/>
                </a:solidFill>
                <a:effectLst/>
                <a:latin typeface="PingFang SC"/>
              </a:rPr>
              <a:t>语句</a:t>
            </a:r>
          </a:p>
          <a:p>
            <a:pPr algn="l" fontAlgn="base">
              <a:lnSpc>
                <a:spcPts val="2250"/>
              </a:lnSpc>
              <a:spcAft>
                <a:spcPts val="300"/>
              </a:spcAft>
              <a:buNone/>
            </a:pPr>
            <a:r>
              <a:rPr lang="zh-CN" altLang="en-US" b="0" i="0" dirty="0">
                <a:solidFill>
                  <a:srgbClr val="343434"/>
                </a:solidFill>
                <a:effectLst/>
                <a:latin typeface="PingFang SC"/>
              </a:rPr>
              <a:t>来引入它。这样，我们就可以在不同的组件中进行组合和嵌套，创建更加复杂的应用程序。</a:t>
            </a:r>
          </a:p>
          <a:p>
            <a:pPr algn="l" fontAlgn="base">
              <a:lnSpc>
                <a:spcPts val="2250"/>
              </a:lnSpc>
              <a:spcAft>
                <a:spcPts val="300"/>
              </a:spcAft>
            </a:pPr>
            <a:r>
              <a:rPr lang="zh-CN" altLang="en-US" b="0" i="0" dirty="0">
                <a:solidFill>
                  <a:srgbClr val="343434"/>
                </a:solidFill>
                <a:effectLst/>
                <a:latin typeface="PingFang SC"/>
              </a:rPr>
              <a:t>需要注意的是，</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关键字可以用在不同的场景中，比如导出函数、类或变量。</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92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@Component</a:t>
            </a:r>
            <a:r>
              <a:rPr lang="zh-CN" altLang="en-US" b="0" i="0" dirty="0">
                <a:solidFill>
                  <a:srgbClr val="343434"/>
                </a:solidFill>
                <a:effectLst/>
                <a:latin typeface="PingFang SC"/>
              </a:rPr>
              <a:t>是一个修饰符，它表示</a:t>
            </a:r>
            <a:r>
              <a:rPr lang="en-US" altLang="zh-CN" b="0" i="0" dirty="0">
                <a:solidFill>
                  <a:srgbClr val="343434"/>
                </a:solidFill>
                <a:effectLst/>
                <a:latin typeface="PingFang SC"/>
              </a:rPr>
              <a:t>Ring</a:t>
            </a:r>
            <a:r>
              <a:rPr lang="zh-CN" altLang="en-US" b="0" i="0" dirty="0">
                <a:solidFill>
                  <a:srgbClr val="343434"/>
                </a:solidFill>
                <a:effectLst/>
                <a:latin typeface="PingFang SC"/>
              </a:rPr>
              <a:t>是一个组件。在使用该修饰符时，必须实现</a:t>
            </a:r>
          </a:p>
          <a:p>
            <a:pPr algn="l" fontAlgn="base">
              <a:lnSpc>
                <a:spcPts val="2250"/>
              </a:lnSpc>
              <a:spcAft>
                <a:spcPts val="300"/>
              </a:spcAft>
              <a:buNone/>
            </a:pPr>
            <a:r>
              <a:rPr lang="en-US" altLang="zh-CN" b="0" i="0" dirty="0">
                <a:solidFill>
                  <a:srgbClr val="343434"/>
                </a:solidFill>
                <a:effectLst/>
                <a:latin typeface="PingFang SC"/>
              </a:rPr>
              <a:t>build0</a:t>
            </a:r>
            <a:r>
              <a:rPr lang="zh-CN" altLang="en-US" b="0" i="0" dirty="0">
                <a:solidFill>
                  <a:srgbClr val="343434"/>
                </a:solidFill>
                <a:effectLst/>
                <a:latin typeface="PingFang SC"/>
              </a:rPr>
              <a:t>方法。当组件被创建或者后续有状态更新时，</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方法会被调用。因此，我们只需</a:t>
            </a:r>
          </a:p>
          <a:p>
            <a:pPr algn="l" fontAlgn="base">
              <a:lnSpc>
                <a:spcPts val="2250"/>
              </a:lnSpc>
              <a:spcAft>
                <a:spcPts val="300"/>
              </a:spcAft>
              <a:buNone/>
            </a:pPr>
            <a:r>
              <a:rPr lang="zh-CN" altLang="en-US" b="0" i="0" dirty="0">
                <a:solidFill>
                  <a:srgbClr val="343434"/>
                </a:solidFill>
                <a:effectLst/>
                <a:latin typeface="PingFang SC"/>
              </a:rPr>
              <a:t>要在</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方法内返回布局即可。在该方法内，我们可以使用各种布局控件和属性来构建</a:t>
            </a:r>
          </a:p>
          <a:p>
            <a:pPr algn="l" fontAlgn="base">
              <a:lnSpc>
                <a:spcPts val="2250"/>
              </a:lnSpc>
              <a:spcAft>
                <a:spcPts val="300"/>
              </a:spcAft>
              <a:buNone/>
            </a:pPr>
            <a:r>
              <a:rPr lang="zh-CN" altLang="en-US" b="0" i="0" dirty="0">
                <a:solidFill>
                  <a:srgbClr val="343434"/>
                </a:solidFill>
                <a:effectLst/>
                <a:latin typeface="PingFang SC"/>
              </a:rPr>
              <a:t>我们所需的界面。这样，我们就可以轻松地创建一个功能强大的组件，并在需要时进行更</a:t>
            </a:r>
          </a:p>
          <a:p>
            <a:pPr algn="l" fontAlgn="base">
              <a:lnSpc>
                <a:spcPts val="2250"/>
              </a:lnSpc>
              <a:spcAft>
                <a:spcPts val="300"/>
              </a:spcAft>
              <a:buNone/>
            </a:pPr>
            <a:r>
              <a:rPr lang="zh-CN" altLang="en-US" b="0" i="0" dirty="0">
                <a:solidFill>
                  <a:srgbClr val="343434"/>
                </a:solidFill>
                <a:effectLst/>
                <a:latin typeface="PingFang SC"/>
              </a:rPr>
              <a:t>新和修改。同时，使用组件化的思想可以大大提高代码的复用性和可维护性，使得开发工</a:t>
            </a:r>
          </a:p>
          <a:p>
            <a:pPr algn="l" fontAlgn="base">
              <a:lnSpc>
                <a:spcPts val="2250"/>
              </a:lnSpc>
              <a:spcAft>
                <a:spcPts val="300"/>
              </a:spcAft>
              <a:buNone/>
            </a:pPr>
            <a:r>
              <a:rPr lang="zh-CN" altLang="en-US" b="0" i="0" dirty="0">
                <a:solidFill>
                  <a:srgbClr val="343434"/>
                </a:solidFill>
                <a:effectLst/>
                <a:latin typeface="PingFang SC"/>
              </a:rPr>
              <a:t>作更加高效和便捷。</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在</a:t>
            </a:r>
            <a:r>
              <a:rPr lang="en-US" altLang="zh-CN" b="0" i="0" dirty="0" err="1">
                <a:solidFill>
                  <a:srgbClr val="343434"/>
                </a:solidFill>
                <a:effectLst/>
                <a:latin typeface="PingFang SC"/>
              </a:rPr>
              <a:t>ArkUI</a:t>
            </a:r>
            <a:r>
              <a:rPr lang="zh-CN" altLang="en-US" b="0" i="0" dirty="0">
                <a:solidFill>
                  <a:srgbClr val="343434"/>
                </a:solidFill>
                <a:effectLst/>
                <a:latin typeface="PingFang SC"/>
              </a:rPr>
              <a:t>中，</a:t>
            </a:r>
            <a:r>
              <a:rPr lang="en-US" altLang="zh-CN" b="0" i="0" dirty="0">
                <a:solidFill>
                  <a:srgbClr val="343434"/>
                </a:solidFill>
                <a:effectLst/>
                <a:latin typeface="PingFang SC"/>
              </a:rPr>
              <a:t>export</a:t>
            </a:r>
            <a:r>
              <a:rPr lang="zh-CN" altLang="en-US" b="0" i="0" dirty="0">
                <a:solidFill>
                  <a:srgbClr val="343434"/>
                </a:solidFill>
                <a:effectLst/>
                <a:latin typeface="PingFang SC"/>
              </a:rPr>
              <a:t>是一个非常重要的关键字。它表示当前组件可以被导出，让其他组</a:t>
            </a:r>
          </a:p>
          <a:p>
            <a:pPr algn="l" fontAlgn="base">
              <a:lnSpc>
                <a:spcPts val="2250"/>
              </a:lnSpc>
              <a:spcAft>
                <a:spcPts val="300"/>
              </a:spcAft>
              <a:buNone/>
            </a:pPr>
            <a:r>
              <a:rPr lang="zh-CN" altLang="en-US" b="0" i="0" dirty="0">
                <a:solidFill>
                  <a:srgbClr val="343434"/>
                </a:solidFill>
                <a:effectLst/>
                <a:latin typeface="PingFang SC"/>
              </a:rPr>
              <a:t>件或模块可以调用它。使用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关键字，我们可以封装组件的功能和逻辑，让其他组件</a:t>
            </a:r>
          </a:p>
          <a:p>
            <a:pPr algn="l" fontAlgn="base">
              <a:lnSpc>
                <a:spcPts val="2250"/>
              </a:lnSpc>
              <a:spcAft>
                <a:spcPts val="300"/>
              </a:spcAft>
              <a:buNone/>
            </a:pPr>
            <a:r>
              <a:rPr lang="zh-CN" altLang="en-US" b="0" i="0" dirty="0">
                <a:solidFill>
                  <a:srgbClr val="343434"/>
                </a:solidFill>
                <a:effectLst/>
                <a:latin typeface="PingFang SC"/>
              </a:rPr>
              <a:t>或模块进行复用。当一个组件使用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关键字时，其他组件或模块可以通过</a:t>
            </a:r>
            <a:r>
              <a:rPr lang="en-US" altLang="zh-CN" b="0" i="0" dirty="0">
                <a:solidFill>
                  <a:srgbClr val="343434"/>
                </a:solidFill>
                <a:effectLst/>
                <a:latin typeface="PingFang SC"/>
              </a:rPr>
              <a:t>import</a:t>
            </a:r>
            <a:r>
              <a:rPr lang="zh-CN" altLang="en-US" b="0" i="0" dirty="0">
                <a:solidFill>
                  <a:srgbClr val="343434"/>
                </a:solidFill>
                <a:effectLst/>
                <a:latin typeface="PingFang SC"/>
              </a:rPr>
              <a:t>语句</a:t>
            </a:r>
          </a:p>
          <a:p>
            <a:pPr algn="l" fontAlgn="base">
              <a:lnSpc>
                <a:spcPts val="2250"/>
              </a:lnSpc>
              <a:spcAft>
                <a:spcPts val="300"/>
              </a:spcAft>
              <a:buNone/>
            </a:pPr>
            <a:r>
              <a:rPr lang="zh-CN" altLang="en-US" b="0" i="0" dirty="0">
                <a:solidFill>
                  <a:srgbClr val="343434"/>
                </a:solidFill>
                <a:effectLst/>
                <a:latin typeface="PingFang SC"/>
              </a:rPr>
              <a:t>来引入它。这样，我们就可以在不同的组件中进行组合和嵌套，创建更加复杂的应用程序。</a:t>
            </a:r>
          </a:p>
          <a:p>
            <a:pPr algn="l" fontAlgn="base">
              <a:lnSpc>
                <a:spcPts val="2250"/>
              </a:lnSpc>
              <a:spcAft>
                <a:spcPts val="300"/>
              </a:spcAft>
            </a:pPr>
            <a:r>
              <a:rPr lang="zh-CN" altLang="en-US" b="0" i="0" dirty="0">
                <a:solidFill>
                  <a:srgbClr val="343434"/>
                </a:solidFill>
                <a:effectLst/>
                <a:latin typeface="PingFang SC"/>
              </a:rPr>
              <a:t>需要注意的是，</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关键字可以用在不同的场景中，比如导出函数、类或变量。</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93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94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95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在自定义组件的实现和使用过程中，有一种情形需要特别注意。当开发者在使用我们</a:t>
            </a:r>
          </a:p>
          <a:p>
            <a:pPr algn="l" fontAlgn="base">
              <a:lnSpc>
                <a:spcPts val="2250"/>
              </a:lnSpc>
              <a:spcAft>
                <a:spcPts val="300"/>
              </a:spcAft>
              <a:buNone/>
            </a:pPr>
            <a:r>
              <a:rPr lang="zh-CN" altLang="en-US" b="0" i="0" dirty="0">
                <a:solidFill>
                  <a:srgbClr val="343434"/>
                </a:solidFill>
                <a:effectLst/>
                <a:latin typeface="PingFang SC"/>
              </a:rPr>
              <a:t>提供的自定义组件时，如果想向该组件内添加额外的子组件，但又不希望修改组件源码，</a:t>
            </a:r>
          </a:p>
          <a:p>
            <a:pPr algn="l" fontAlgn="base">
              <a:lnSpc>
                <a:spcPts val="2250"/>
              </a:lnSpc>
              <a:spcAft>
                <a:spcPts val="300"/>
              </a:spcAft>
              <a:buNone/>
            </a:pPr>
            <a:r>
              <a:rPr lang="zh-CN" altLang="en-US" b="0" i="0" dirty="0">
                <a:solidFill>
                  <a:srgbClr val="343434"/>
                </a:solidFill>
                <a:effectLst/>
                <a:latin typeface="PingFang SC"/>
              </a:rPr>
              <a:t>该如何实现呢</a:t>
            </a:r>
            <a:r>
              <a:rPr lang="en-US" altLang="zh-CN" b="0" i="0" dirty="0">
                <a:solidFill>
                  <a:srgbClr val="343434"/>
                </a:solidFill>
                <a:effectLst/>
                <a:latin typeface="PingFang SC"/>
              </a:rPr>
              <a:t>?</a:t>
            </a:r>
            <a:r>
              <a:rPr lang="zh-CN" altLang="en-US" b="0" i="0" dirty="0">
                <a:solidFill>
                  <a:srgbClr val="343434"/>
                </a:solidFill>
                <a:effectLst/>
                <a:latin typeface="PingFang SC"/>
              </a:rPr>
              <a:t>为解决这一问题，</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@BuilderParam</a:t>
            </a:r>
            <a:r>
              <a:rPr lang="zh-CN" altLang="en-US" b="0" i="0" dirty="0">
                <a:solidFill>
                  <a:srgbClr val="343434"/>
                </a:solidFill>
                <a:effectLst/>
                <a:latin typeface="PingFang SC"/>
              </a:rPr>
              <a:t>修饰符。本节将简</a:t>
            </a:r>
          </a:p>
          <a:p>
            <a:pPr algn="l" fontAlgn="base">
              <a:lnSpc>
                <a:spcPts val="2250"/>
              </a:lnSpc>
              <a:spcAft>
                <a:spcPts val="300"/>
              </a:spcAft>
            </a:pPr>
            <a:r>
              <a:rPr lang="zh-CN" altLang="en-US" b="0" i="0" dirty="0">
                <a:solidFill>
                  <a:srgbClr val="343434"/>
                </a:solidFill>
                <a:effectLst/>
                <a:latin typeface="PingFang SC"/>
              </a:rPr>
              <a:t>要介绍该修饰符的使用方法。</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96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在自定义组件的实现和使用过程中，有一种情形需要特别注意。当开发者在使用我们</a:t>
            </a:r>
          </a:p>
          <a:p>
            <a:pPr algn="l" fontAlgn="base">
              <a:lnSpc>
                <a:spcPts val="2250"/>
              </a:lnSpc>
              <a:spcAft>
                <a:spcPts val="300"/>
              </a:spcAft>
              <a:buNone/>
            </a:pPr>
            <a:r>
              <a:rPr lang="zh-CN" altLang="en-US" b="0" i="0" dirty="0">
                <a:solidFill>
                  <a:srgbClr val="343434"/>
                </a:solidFill>
                <a:effectLst/>
                <a:latin typeface="PingFang SC"/>
              </a:rPr>
              <a:t>提供的自定义组件时，如果想向该组件内添加额外的子组件，但又不希望修改组件源码，</a:t>
            </a:r>
          </a:p>
          <a:p>
            <a:pPr algn="l" fontAlgn="base">
              <a:lnSpc>
                <a:spcPts val="2250"/>
              </a:lnSpc>
              <a:spcAft>
                <a:spcPts val="300"/>
              </a:spcAft>
              <a:buNone/>
            </a:pPr>
            <a:r>
              <a:rPr lang="zh-CN" altLang="en-US" b="0" i="0" dirty="0">
                <a:solidFill>
                  <a:srgbClr val="343434"/>
                </a:solidFill>
                <a:effectLst/>
                <a:latin typeface="PingFang SC"/>
              </a:rPr>
              <a:t>该如何实现呢</a:t>
            </a:r>
            <a:r>
              <a:rPr lang="en-US" altLang="zh-CN" b="0" i="0" dirty="0">
                <a:solidFill>
                  <a:srgbClr val="343434"/>
                </a:solidFill>
                <a:effectLst/>
                <a:latin typeface="PingFang SC"/>
              </a:rPr>
              <a:t>?</a:t>
            </a:r>
            <a:r>
              <a:rPr lang="zh-CN" altLang="en-US" b="0" i="0" dirty="0">
                <a:solidFill>
                  <a:srgbClr val="343434"/>
                </a:solidFill>
                <a:effectLst/>
                <a:latin typeface="PingFang SC"/>
              </a:rPr>
              <a:t>为解决这一问题，</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@BuilderParam</a:t>
            </a:r>
            <a:r>
              <a:rPr lang="zh-CN" altLang="en-US" b="0" i="0" dirty="0">
                <a:solidFill>
                  <a:srgbClr val="343434"/>
                </a:solidFill>
                <a:effectLst/>
                <a:latin typeface="PingFang SC"/>
              </a:rPr>
              <a:t>修饰符。本节将简</a:t>
            </a:r>
          </a:p>
          <a:p>
            <a:pPr algn="l" fontAlgn="base">
              <a:lnSpc>
                <a:spcPts val="2250"/>
              </a:lnSpc>
              <a:spcAft>
                <a:spcPts val="300"/>
              </a:spcAft>
            </a:pPr>
            <a:r>
              <a:rPr lang="zh-CN" altLang="en-US" b="0" i="0" dirty="0">
                <a:solidFill>
                  <a:srgbClr val="343434"/>
                </a:solidFill>
                <a:effectLst/>
                <a:latin typeface="PingFang SC"/>
              </a:rPr>
              <a:t>要介绍该修饰符的使用方法。</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97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在自定义组件的实现和使用过程中，有一种情形需要特别注意。当开发者在使用我们</a:t>
            </a:r>
          </a:p>
          <a:p>
            <a:pPr algn="l" fontAlgn="base">
              <a:lnSpc>
                <a:spcPts val="2250"/>
              </a:lnSpc>
              <a:spcAft>
                <a:spcPts val="300"/>
              </a:spcAft>
              <a:buNone/>
            </a:pPr>
            <a:r>
              <a:rPr lang="zh-CN" altLang="en-US" b="0" i="0" dirty="0">
                <a:solidFill>
                  <a:srgbClr val="343434"/>
                </a:solidFill>
                <a:effectLst/>
                <a:latin typeface="PingFang SC"/>
              </a:rPr>
              <a:t>提供的自定义组件时，如果想向该组件内添加额外的子组件，但又不希望修改组件源码，</a:t>
            </a:r>
          </a:p>
          <a:p>
            <a:pPr algn="l" fontAlgn="base">
              <a:lnSpc>
                <a:spcPts val="2250"/>
              </a:lnSpc>
              <a:spcAft>
                <a:spcPts val="300"/>
              </a:spcAft>
              <a:buNone/>
            </a:pPr>
            <a:r>
              <a:rPr lang="zh-CN" altLang="en-US" b="0" i="0" dirty="0">
                <a:solidFill>
                  <a:srgbClr val="343434"/>
                </a:solidFill>
                <a:effectLst/>
                <a:latin typeface="PingFang SC"/>
              </a:rPr>
              <a:t>该如何实现呢</a:t>
            </a:r>
            <a:r>
              <a:rPr lang="en-US" altLang="zh-CN" b="0" i="0" dirty="0">
                <a:solidFill>
                  <a:srgbClr val="343434"/>
                </a:solidFill>
                <a:effectLst/>
                <a:latin typeface="PingFang SC"/>
              </a:rPr>
              <a:t>?</a:t>
            </a:r>
            <a:r>
              <a:rPr lang="zh-CN" altLang="en-US" b="0" i="0" dirty="0">
                <a:solidFill>
                  <a:srgbClr val="343434"/>
                </a:solidFill>
                <a:effectLst/>
                <a:latin typeface="PingFang SC"/>
              </a:rPr>
              <a:t>为解决这一问题，</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@BuilderParam</a:t>
            </a:r>
            <a:r>
              <a:rPr lang="zh-CN" altLang="en-US" b="0" i="0" dirty="0">
                <a:solidFill>
                  <a:srgbClr val="343434"/>
                </a:solidFill>
                <a:effectLst/>
                <a:latin typeface="PingFang SC"/>
              </a:rPr>
              <a:t>修饰符。本节将简</a:t>
            </a:r>
          </a:p>
          <a:p>
            <a:pPr algn="l" fontAlgn="base">
              <a:lnSpc>
                <a:spcPts val="2250"/>
              </a:lnSpc>
              <a:spcAft>
                <a:spcPts val="300"/>
              </a:spcAft>
            </a:pPr>
            <a:r>
              <a:rPr lang="zh-CN" altLang="en-US" b="0" i="0" dirty="0">
                <a:solidFill>
                  <a:srgbClr val="343434"/>
                </a:solidFill>
                <a:effectLst/>
                <a:latin typeface="PingFang SC"/>
              </a:rPr>
              <a:t>要介绍该修饰符的使用方法。</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98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t>99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795A699-AB68-4A20-99FB-6F69DC266D45}" type="slidenum">
              <a:rPr lang="zh-CN" altLang="en-US" smtClean="0"/>
              <a:t>101</a:t>
            </a:fld>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109</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110</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111</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112</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113</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114</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115</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116</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117</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118</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119</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120</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点击事件是一种用户与计算机交互的方式，通过单击鼠标或触摸屏幕来触发特定的操作或响应。在网页设计和应用程序开发中，点击事件通常用于实现按钮、链接、菜单和其他交互元素的功能。当用户单击一个元素时，浏览器或应用程序会捕获并处理该事件，执行相应的操作，例如打开一个新页面、显示一个弹出窗口或提交表单。点击事件是开发中非常常见和重要的一种事件类型。</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121</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点击事件是一种用户与计算机交互的方式，通过单击鼠标或触摸屏幕来触发特定的操作或响应。在网页设计和应用程序开发中，点击事件通常用于实现按钮、链接、菜单和其他交互元素的功能。当用户单击一个元素时，浏览器或应用程序会捕获并处理该事件，执行相应的操作，例如打开一个新页面、显示一个弹出窗口或提交表单。点击事件是开发中非常常见和重要的一种事件类型。</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122</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触摸事件是指在触摸屏设备上，用户通过手指或者手写笔等物理方式与屏幕进行交互，从而引发的一系列事件。触摸事件包括触摸开始、触摸移动、触摸结束、触摸取消等多种类型，开发者可以通过编写相应的代码来响应这些事件，实现各种交互效果。触摸事件在移动设备上得到广泛的应用，如游戏、应用程序、网页等。</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123</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拖拽事件是指用户通过鼠标或触摸屏幕等操作，在页面上选中某个元素并拖动它，然后将其放置在另一个位置或目标元素上的一种交互方式。在</a:t>
            </a:r>
            <a:r>
              <a:rPr lang="en-US" altLang="zh-CN" dirty="0"/>
              <a:t>Web</a:t>
            </a:r>
            <a:r>
              <a:rPr lang="zh-CN" altLang="en-US" dirty="0"/>
              <a:t>开发中，拖拽事件通常与</a:t>
            </a:r>
            <a:r>
              <a:rPr lang="en-US" altLang="zh-CN" dirty="0" err="1"/>
              <a:t>JavaScipt</a:t>
            </a:r>
            <a:r>
              <a:rPr lang="zh-CN" altLang="en-US" dirty="0"/>
              <a:t>代码结合使用，可以实现诸如拖拽排序、拖拽上传、拖拽复制等功能。</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124</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焦点事件指页面焦点在可获焦组件间移动时触发的事件，组件可使用焦点事件来处理相关逻辑。目前仅支持通过外接键盘的</a:t>
            </a:r>
            <a:r>
              <a:rPr lang="en-US" altLang="zh-CN" dirty="0"/>
              <a:t>tab</a:t>
            </a:r>
            <a:r>
              <a:rPr lang="zh-CN" altLang="en-US" dirty="0"/>
              <a:t>键、方向键触发。</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125</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按键事件指组件与键盘、遥控器等按键设备交互时触发的事件，适用于所有可获焦组件，例如</a:t>
            </a:r>
            <a:r>
              <a:rPr lang="en-US" altLang="zh-CN" dirty="0"/>
              <a:t>Button</a:t>
            </a:r>
            <a:r>
              <a:rPr lang="zh-CN" altLang="en-US" dirty="0"/>
              <a:t>。对于</a:t>
            </a:r>
            <a:r>
              <a:rPr lang="en-US" altLang="zh-CN" dirty="0" err="1"/>
              <a:t>Text,Image</a:t>
            </a:r>
            <a:r>
              <a:rPr lang="zh-CN" altLang="en-US" dirty="0"/>
              <a:t>等默认不可获焦的组件，可以设置</a:t>
            </a:r>
            <a:r>
              <a:rPr lang="en-US" altLang="zh-CN" dirty="0"/>
              <a:t>focusable</a:t>
            </a:r>
            <a:r>
              <a:rPr lang="zh-CN" altLang="en-US" dirty="0"/>
              <a:t>属性为</a:t>
            </a:r>
            <a:r>
              <a:rPr lang="en-US" altLang="zh-CN" dirty="0"/>
              <a:t>true</a:t>
            </a:r>
            <a:r>
              <a:rPr lang="zh-CN" altLang="en-US" dirty="0"/>
              <a:t>后使用按键事件。</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126</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按键事件指组件与键盘、遥控器等按键设备交互时触发的事件，适用于所有可获焦组件，例如</a:t>
            </a:r>
            <a:r>
              <a:rPr lang="en-US" altLang="zh-CN" dirty="0"/>
              <a:t>Button</a:t>
            </a:r>
            <a:r>
              <a:rPr lang="zh-CN" altLang="en-US" dirty="0"/>
              <a:t>。对于</a:t>
            </a:r>
            <a:r>
              <a:rPr lang="en-US" altLang="zh-CN" dirty="0" err="1"/>
              <a:t>Text,Image</a:t>
            </a:r>
            <a:r>
              <a:rPr lang="zh-CN" altLang="en-US" dirty="0"/>
              <a:t>等默认不可获焦的组件，可以设置</a:t>
            </a:r>
            <a:r>
              <a:rPr lang="en-US" altLang="zh-CN" dirty="0"/>
              <a:t>focusable</a:t>
            </a:r>
            <a:r>
              <a:rPr lang="zh-CN" altLang="en-US" dirty="0"/>
              <a:t>属性为</a:t>
            </a:r>
            <a:r>
              <a:rPr lang="en-US" altLang="zh-CN" dirty="0"/>
              <a:t>true</a:t>
            </a:r>
            <a:r>
              <a:rPr lang="zh-CN" altLang="en-US" dirty="0"/>
              <a:t>后使用按键事件。</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127</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当用户在计算机上使用鼠标进行操作时，鼠标事件将会被触发。这些事件包括点击、双击、拖拽、滚动等。在某些情况下，单个鼠标动作可能会触发多个事件。例如，当用户单击鼠标时，可能会触发“</a:t>
            </a:r>
            <a:r>
              <a:rPr lang="en-US" altLang="zh-CN" dirty="0" err="1"/>
              <a:t>mousedown</a:t>
            </a:r>
            <a:r>
              <a:rPr lang="en-US" altLang="zh-CN" dirty="0"/>
              <a:t>”“</a:t>
            </a:r>
            <a:r>
              <a:rPr lang="en-US" altLang="zh-CN" dirty="0" err="1"/>
              <a:t>mouseup</a:t>
            </a:r>
            <a:r>
              <a:rPr lang="en-US" altLang="zh-CN" dirty="0"/>
              <a:t>”</a:t>
            </a:r>
            <a:r>
              <a:rPr lang="zh-CN" altLang="en-US" dirty="0"/>
              <a:t>和“</a:t>
            </a:r>
            <a:r>
              <a:rPr lang="en-US" altLang="zh-CN" dirty="0"/>
              <a:t>click”</a:t>
            </a:r>
            <a:r>
              <a:rPr lang="zh-CN" altLang="en-US" dirty="0"/>
              <a:t>三个不同的事件。在此情况下，事件的触发顺序是固定的，即先触发“</a:t>
            </a:r>
            <a:r>
              <a:rPr lang="en-US" altLang="zh-CN" dirty="0" err="1"/>
              <a:t>mousedown</a:t>
            </a:r>
            <a:r>
              <a:rPr lang="en-US" altLang="zh-CN" dirty="0"/>
              <a:t>”,</a:t>
            </a:r>
            <a:r>
              <a:rPr lang="zh-CN" altLang="en-US" dirty="0"/>
              <a:t>然后是“</a:t>
            </a:r>
            <a:r>
              <a:rPr lang="en-US" altLang="zh-CN" dirty="0" err="1"/>
              <a:t>mouseup</a:t>
            </a:r>
            <a:r>
              <a:rPr lang="en-US" altLang="zh-CN" dirty="0"/>
              <a:t>”,</a:t>
            </a:r>
            <a:r>
              <a:rPr lang="zh-CN" altLang="en-US" dirty="0"/>
              <a:t>最后是“</a:t>
            </a:r>
            <a:r>
              <a:rPr lang="en-US" altLang="zh-CN" dirty="0"/>
              <a:t>click”</a:t>
            </a:r>
            <a:r>
              <a:rPr lang="zh-CN" altLang="en-US" dirty="0"/>
              <a:t>。此外，鼠标事件还具有默认透传的特性，即如果某个元素上绑定了鼠标事件，但该元素没有处理该事件，那么事件将会向上冒泡，直到找到一个处理该事件的元素为止。这样可以方便地实现事件委托，减少事件绑定的数量，提高性能。</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128</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当用户在计算机上使用鼠标进行操作时，鼠标事件将会被触发。这些事件包括点击、双击、拖拽、滚动等。在某些情况下，单个鼠标动作可能会触发多个事件。例如，当用户单击鼠标时，可能会触发“</a:t>
            </a:r>
            <a:r>
              <a:rPr lang="en-US" altLang="zh-CN" dirty="0" err="1"/>
              <a:t>mousedown</a:t>
            </a:r>
            <a:r>
              <a:rPr lang="en-US" altLang="zh-CN" dirty="0"/>
              <a:t>”“</a:t>
            </a:r>
            <a:r>
              <a:rPr lang="en-US" altLang="zh-CN" dirty="0" err="1"/>
              <a:t>mouseup</a:t>
            </a:r>
            <a:r>
              <a:rPr lang="en-US" altLang="zh-CN" dirty="0"/>
              <a:t>”</a:t>
            </a:r>
            <a:r>
              <a:rPr lang="zh-CN" altLang="en-US" dirty="0"/>
              <a:t>和“</a:t>
            </a:r>
            <a:r>
              <a:rPr lang="en-US" altLang="zh-CN" dirty="0"/>
              <a:t>click”</a:t>
            </a:r>
            <a:r>
              <a:rPr lang="zh-CN" altLang="en-US" dirty="0"/>
              <a:t>三个不同的事件。在此情况下，事件的触发顺序是固定的，即先触发“</a:t>
            </a:r>
            <a:r>
              <a:rPr lang="en-US" altLang="zh-CN" dirty="0" err="1"/>
              <a:t>mousedown</a:t>
            </a:r>
            <a:r>
              <a:rPr lang="en-US" altLang="zh-CN" dirty="0"/>
              <a:t>”,</a:t>
            </a:r>
            <a:r>
              <a:rPr lang="zh-CN" altLang="en-US" dirty="0"/>
              <a:t>然后是“</a:t>
            </a:r>
            <a:r>
              <a:rPr lang="en-US" altLang="zh-CN" dirty="0" err="1"/>
              <a:t>mouseup</a:t>
            </a:r>
            <a:r>
              <a:rPr lang="en-US" altLang="zh-CN" dirty="0"/>
              <a:t>”,</a:t>
            </a:r>
            <a:r>
              <a:rPr lang="zh-CN" altLang="en-US" dirty="0"/>
              <a:t>最后是“</a:t>
            </a:r>
            <a:r>
              <a:rPr lang="en-US" altLang="zh-CN" dirty="0"/>
              <a:t>click”</a:t>
            </a:r>
            <a:r>
              <a:rPr lang="zh-CN" altLang="en-US" dirty="0"/>
              <a:t>。此外，鼠标事件还具有默认透传的特性，即如果某个元素上绑定了鼠标事件，但该元素没有处理该事件，那么事件将会向上冒泡，直到找到一个处理该事件的元素为止。这样可以方便地实现事件委托，减少事件绑定的数量，提高性能。</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129</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130</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132</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133</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134</a:t>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135</a:t>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136</a:t>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137</a:t>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138</a:t>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139</a:t>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140</a:t>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使用</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工具可以实现页面间的自动跳转，通过预先定义路由规则，用户只需点击</a:t>
            </a:r>
          </a:p>
          <a:p>
            <a:pPr algn="l" fontAlgn="base">
              <a:lnSpc>
                <a:spcPts val="2250"/>
              </a:lnSpc>
              <a:spcAft>
                <a:spcPts val="300"/>
              </a:spcAft>
              <a:buNone/>
            </a:pPr>
            <a:r>
              <a:rPr lang="zh-CN" altLang="en-US" b="0" i="0" dirty="0">
                <a:solidFill>
                  <a:srgbClr val="343434"/>
                </a:solidFill>
                <a:effectLst/>
                <a:latin typeface="PingFang SC"/>
              </a:rPr>
              <a:t>页面中的链接或按钮即可完成跳转操作，无需编写大量的跳转代码。此外，</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工具还</a:t>
            </a:r>
          </a:p>
          <a:p>
            <a:pPr algn="l" fontAlgn="base">
              <a:lnSpc>
                <a:spcPts val="2250"/>
              </a:lnSpc>
              <a:spcAft>
                <a:spcPts val="300"/>
              </a:spcAft>
              <a:buNone/>
            </a:pPr>
            <a:r>
              <a:rPr lang="zh-CN" altLang="en-US" b="0" i="0" dirty="0">
                <a:solidFill>
                  <a:srgbClr val="343434"/>
                </a:solidFill>
                <a:effectLst/>
                <a:latin typeface="PingFang SC"/>
              </a:rPr>
              <a:t>支持参数传递和获取，方便在不同页面之间传递数据。相比之下，</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工具则更加灵</a:t>
            </a:r>
          </a:p>
          <a:p>
            <a:pPr algn="l" fontAlgn="base">
              <a:lnSpc>
                <a:spcPts val="2250"/>
              </a:lnSpc>
              <a:spcAft>
                <a:spcPts val="300"/>
              </a:spcAft>
              <a:buNone/>
            </a:pPr>
            <a:r>
              <a:rPr lang="zh-CN" altLang="en-US" b="0" i="0" dirty="0">
                <a:solidFill>
                  <a:srgbClr val="343434"/>
                </a:solidFill>
                <a:effectLst/>
                <a:latin typeface="PingFang SC"/>
              </a:rPr>
              <a:t>活，可以自由控制页面的跳转流程，实现动态跳转和页面回退等功能。并且，</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a:t>
            </a:r>
          </a:p>
          <a:p>
            <a:pPr algn="l" fontAlgn="base">
              <a:lnSpc>
                <a:spcPts val="2250"/>
              </a:lnSpc>
              <a:spcAft>
                <a:spcPts val="300"/>
              </a:spcAft>
            </a:pPr>
            <a:r>
              <a:rPr lang="zh-CN" altLang="en-US" b="0" i="0" dirty="0">
                <a:solidFill>
                  <a:srgbClr val="343434"/>
                </a:solidFill>
                <a:effectLst/>
                <a:latin typeface="PingFang SC"/>
              </a:rPr>
              <a:t>具还支持自定义动画效果，为页面跳转增添生动有趣的体验。</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141</a:t>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使用</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工具可以实现页面间的自动跳转，通过预先定义路由规则，用户只需点击</a:t>
            </a:r>
          </a:p>
          <a:p>
            <a:pPr algn="l" fontAlgn="base">
              <a:lnSpc>
                <a:spcPts val="2250"/>
              </a:lnSpc>
              <a:spcAft>
                <a:spcPts val="300"/>
              </a:spcAft>
              <a:buNone/>
            </a:pPr>
            <a:r>
              <a:rPr lang="zh-CN" altLang="en-US" b="0" i="0" dirty="0">
                <a:solidFill>
                  <a:srgbClr val="343434"/>
                </a:solidFill>
                <a:effectLst/>
                <a:latin typeface="PingFang SC"/>
              </a:rPr>
              <a:t>页面中的链接或按钮即可完成跳转操作，无需编写大量的跳转代码。此外，</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工具还</a:t>
            </a:r>
          </a:p>
          <a:p>
            <a:pPr algn="l" fontAlgn="base">
              <a:lnSpc>
                <a:spcPts val="2250"/>
              </a:lnSpc>
              <a:spcAft>
                <a:spcPts val="300"/>
              </a:spcAft>
              <a:buNone/>
            </a:pPr>
            <a:r>
              <a:rPr lang="zh-CN" altLang="en-US" b="0" i="0" dirty="0">
                <a:solidFill>
                  <a:srgbClr val="343434"/>
                </a:solidFill>
                <a:effectLst/>
                <a:latin typeface="PingFang SC"/>
              </a:rPr>
              <a:t>支持参数传递和获取，方便在不同页面之间传递数据。相比之下，</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工具则更加灵</a:t>
            </a:r>
          </a:p>
          <a:p>
            <a:pPr algn="l" fontAlgn="base">
              <a:lnSpc>
                <a:spcPts val="2250"/>
              </a:lnSpc>
              <a:spcAft>
                <a:spcPts val="300"/>
              </a:spcAft>
              <a:buNone/>
            </a:pPr>
            <a:r>
              <a:rPr lang="zh-CN" altLang="en-US" b="0" i="0" dirty="0">
                <a:solidFill>
                  <a:srgbClr val="343434"/>
                </a:solidFill>
                <a:effectLst/>
                <a:latin typeface="PingFang SC"/>
              </a:rPr>
              <a:t>活，可以自由控制页面的跳转流程，实现动态跳转和页面回退等功能。并且，</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a:t>
            </a:r>
          </a:p>
          <a:p>
            <a:pPr algn="l" fontAlgn="base">
              <a:lnSpc>
                <a:spcPts val="2250"/>
              </a:lnSpc>
              <a:spcAft>
                <a:spcPts val="300"/>
              </a:spcAft>
            </a:pPr>
            <a:r>
              <a:rPr lang="zh-CN" altLang="en-US" b="0" i="0" dirty="0">
                <a:solidFill>
                  <a:srgbClr val="343434"/>
                </a:solidFill>
                <a:effectLst/>
                <a:latin typeface="PingFang SC"/>
              </a:rPr>
              <a:t>具还支持自定义动画效果，为页面跳转增添生动有趣的体验。</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142</a:t>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组件是一种广泛应用于页面布局的容器，其功能包括设置页面的标题栏、工</a:t>
            </a:r>
          </a:p>
          <a:p>
            <a:pPr algn="l" fontAlgn="base">
              <a:lnSpc>
                <a:spcPts val="2250"/>
              </a:lnSpc>
              <a:spcAft>
                <a:spcPts val="300"/>
              </a:spcAft>
              <a:buNone/>
            </a:pPr>
            <a:r>
              <a:rPr lang="zh-CN" altLang="en-US" b="0" i="0" dirty="0">
                <a:solidFill>
                  <a:srgbClr val="343434"/>
                </a:solidFill>
                <a:effectLst/>
                <a:latin typeface="PingFang SC"/>
              </a:rPr>
              <a:t>具栏和菜单栏等展示样式。除默认展示样式属性外，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还支持</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a:t>
            </a:r>
          </a:p>
          <a:p>
            <a:pPr algn="l" fontAlgn="base">
              <a:lnSpc>
                <a:spcPts val="2250"/>
              </a:lnSpc>
              <a:spcAft>
                <a:spcPts val="300"/>
              </a:spcAft>
              <a:buNone/>
            </a:pPr>
            <a:r>
              <a:rPr lang="zh-CN" altLang="en-US" b="0" i="0" dirty="0">
                <a:solidFill>
                  <a:srgbClr val="343434"/>
                </a:solidFill>
                <a:effectLst/>
                <a:latin typeface="PingFang SC"/>
              </a:rPr>
              <a:t>以实现个性化的展示样式。在使用</a:t>
            </a:r>
            <a:r>
              <a:rPr lang="en-US" altLang="zh-CN" b="0" i="0" dirty="0">
                <a:solidFill>
                  <a:srgbClr val="343434"/>
                </a:solidFill>
                <a:effectLst/>
                <a:latin typeface="PingFang SC"/>
              </a:rPr>
              <a:t>Navigation</a:t>
            </a:r>
            <a:r>
              <a:rPr lang="zh-CN" altLang="en-US" b="0" i="0" dirty="0">
                <a:solidFill>
                  <a:srgbClr val="343434"/>
                </a:solidFill>
                <a:effectLst/>
                <a:latin typeface="PingFang SC"/>
              </a:rPr>
              <a:t>时，可通过属性和方法进行页面布局的定制</a:t>
            </a:r>
          </a:p>
          <a:p>
            <a:pPr algn="l" fontAlgn="base">
              <a:lnSpc>
                <a:spcPts val="2250"/>
              </a:lnSpc>
              <a:spcAft>
                <a:spcPts val="300"/>
              </a:spcAft>
              <a:buNone/>
            </a:pPr>
            <a:r>
              <a:rPr lang="zh-CN" altLang="en-US" b="0" i="0" dirty="0">
                <a:solidFill>
                  <a:srgbClr val="343434"/>
                </a:solidFill>
                <a:effectLst/>
                <a:latin typeface="PingFang SC"/>
              </a:rPr>
              <a:t>化，如设置标题、背景颜色、图标，添加菜单项、工具按钮等。此外，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支持多种</a:t>
            </a:r>
          </a:p>
          <a:p>
            <a:pPr algn="l" fontAlgn="base">
              <a:lnSpc>
                <a:spcPts val="2250"/>
              </a:lnSpc>
              <a:spcAft>
                <a:spcPts val="300"/>
              </a:spcAft>
              <a:buNone/>
            </a:pPr>
            <a:r>
              <a:rPr lang="zh-CN" altLang="en-US" b="0" i="0" dirty="0">
                <a:solidFill>
                  <a:srgbClr val="343434"/>
                </a:solidFill>
                <a:effectLst/>
                <a:latin typeface="PingFang SC"/>
              </a:rPr>
              <a:t>展示模式，如抽屉式、标签式、底部导航栏式等，以满足不同需求。如需更加灵活地定制</a:t>
            </a:r>
          </a:p>
          <a:p>
            <a:pPr algn="l" fontAlgn="base">
              <a:lnSpc>
                <a:spcPts val="2250"/>
              </a:lnSpc>
              <a:spcAft>
                <a:spcPts val="300"/>
              </a:spcAft>
              <a:buNone/>
            </a:pPr>
            <a:r>
              <a:rPr lang="zh-CN" altLang="en-US" b="0" i="0" dirty="0">
                <a:solidFill>
                  <a:srgbClr val="343434"/>
                </a:solidFill>
                <a:effectLst/>
                <a:latin typeface="PingFang SC"/>
              </a:rPr>
              <a:t>页面布局，可采用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模式，通过编写自定义的</a:t>
            </a:r>
            <a:r>
              <a:rPr lang="en-US" altLang="zh-CN" b="0" i="0" dirty="0">
                <a:solidFill>
                  <a:srgbClr val="343434"/>
                </a:solidFill>
                <a:effectLst/>
                <a:latin typeface="PingFang SC"/>
              </a:rPr>
              <a:t>Widget</a:t>
            </a:r>
            <a:r>
              <a:rPr lang="zh-CN" altLang="en-US" b="0" i="0" dirty="0">
                <a:solidFill>
                  <a:srgbClr val="343434"/>
                </a:solidFill>
                <a:effectLst/>
                <a:latin typeface="PingFang SC"/>
              </a:rPr>
              <a:t>实现个性化的页面展示样</a:t>
            </a:r>
          </a:p>
          <a:p>
            <a:pPr algn="l" fontAlgn="base">
              <a:lnSpc>
                <a:spcPts val="2250"/>
              </a:lnSpc>
              <a:spcAft>
                <a:spcPts val="300"/>
              </a:spcAft>
              <a:buNone/>
            </a:pPr>
            <a:r>
              <a:rPr lang="zh-CN" altLang="en-US" b="0" i="0" dirty="0">
                <a:solidFill>
                  <a:srgbClr val="343434"/>
                </a:solidFill>
                <a:effectLst/>
                <a:latin typeface="PingFang SC"/>
              </a:rPr>
              <a:t>式，包括布局、样式、动画等效果。使用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模式需要一定的编程经验和技巧，</a:t>
            </a:r>
          </a:p>
          <a:p>
            <a:pPr algn="l" fontAlgn="base">
              <a:lnSpc>
                <a:spcPts val="2250"/>
              </a:lnSpc>
              <a:spcAft>
                <a:spcPts val="300"/>
              </a:spcAft>
            </a:pPr>
            <a:r>
              <a:rPr lang="zh-CN" altLang="en-US" b="0" i="0" dirty="0">
                <a:solidFill>
                  <a:srgbClr val="343434"/>
                </a:solidFill>
                <a:effectLst/>
                <a:latin typeface="PingFang SC"/>
              </a:rPr>
              <a:t>但可实现更加个性化的页面设计效果。</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143</a:t>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组件是一种广泛应用于页面布局的容器，其功能包括设置页面的标题栏、工</a:t>
            </a:r>
          </a:p>
          <a:p>
            <a:pPr algn="l" fontAlgn="base">
              <a:lnSpc>
                <a:spcPts val="2250"/>
              </a:lnSpc>
              <a:spcAft>
                <a:spcPts val="300"/>
              </a:spcAft>
              <a:buNone/>
            </a:pPr>
            <a:r>
              <a:rPr lang="zh-CN" altLang="en-US" b="0" i="0" dirty="0">
                <a:solidFill>
                  <a:srgbClr val="343434"/>
                </a:solidFill>
                <a:effectLst/>
                <a:latin typeface="PingFang SC"/>
              </a:rPr>
              <a:t>具栏和菜单栏等展示样式。除默认展示样式属性外，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还支持</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a:t>
            </a:r>
          </a:p>
          <a:p>
            <a:pPr algn="l" fontAlgn="base">
              <a:lnSpc>
                <a:spcPts val="2250"/>
              </a:lnSpc>
              <a:spcAft>
                <a:spcPts val="300"/>
              </a:spcAft>
              <a:buNone/>
            </a:pPr>
            <a:r>
              <a:rPr lang="zh-CN" altLang="en-US" b="0" i="0" dirty="0">
                <a:solidFill>
                  <a:srgbClr val="343434"/>
                </a:solidFill>
                <a:effectLst/>
                <a:latin typeface="PingFang SC"/>
              </a:rPr>
              <a:t>以实现个性化的展示样式。在使用</a:t>
            </a:r>
            <a:r>
              <a:rPr lang="en-US" altLang="zh-CN" b="0" i="0" dirty="0">
                <a:solidFill>
                  <a:srgbClr val="343434"/>
                </a:solidFill>
                <a:effectLst/>
                <a:latin typeface="PingFang SC"/>
              </a:rPr>
              <a:t>Navigation</a:t>
            </a:r>
            <a:r>
              <a:rPr lang="zh-CN" altLang="en-US" b="0" i="0" dirty="0">
                <a:solidFill>
                  <a:srgbClr val="343434"/>
                </a:solidFill>
                <a:effectLst/>
                <a:latin typeface="PingFang SC"/>
              </a:rPr>
              <a:t>时，可通过属性和方法进行页面布局的定制</a:t>
            </a:r>
          </a:p>
          <a:p>
            <a:pPr algn="l" fontAlgn="base">
              <a:lnSpc>
                <a:spcPts val="2250"/>
              </a:lnSpc>
              <a:spcAft>
                <a:spcPts val="300"/>
              </a:spcAft>
              <a:buNone/>
            </a:pPr>
            <a:r>
              <a:rPr lang="zh-CN" altLang="en-US" b="0" i="0" dirty="0">
                <a:solidFill>
                  <a:srgbClr val="343434"/>
                </a:solidFill>
                <a:effectLst/>
                <a:latin typeface="PingFang SC"/>
              </a:rPr>
              <a:t>化，如设置标题、背景颜色、图标，添加菜单项、工具按钮等。此外，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支持多种</a:t>
            </a:r>
          </a:p>
          <a:p>
            <a:pPr algn="l" fontAlgn="base">
              <a:lnSpc>
                <a:spcPts val="2250"/>
              </a:lnSpc>
              <a:spcAft>
                <a:spcPts val="300"/>
              </a:spcAft>
              <a:buNone/>
            </a:pPr>
            <a:r>
              <a:rPr lang="zh-CN" altLang="en-US" b="0" i="0" dirty="0">
                <a:solidFill>
                  <a:srgbClr val="343434"/>
                </a:solidFill>
                <a:effectLst/>
                <a:latin typeface="PingFang SC"/>
              </a:rPr>
              <a:t>展示模式，如抽屉式、标签式、底部导航栏式等，以满足不同需求。如需更加灵活地定制</a:t>
            </a:r>
          </a:p>
          <a:p>
            <a:pPr algn="l" fontAlgn="base">
              <a:lnSpc>
                <a:spcPts val="2250"/>
              </a:lnSpc>
              <a:spcAft>
                <a:spcPts val="300"/>
              </a:spcAft>
              <a:buNone/>
            </a:pPr>
            <a:r>
              <a:rPr lang="zh-CN" altLang="en-US" b="0" i="0" dirty="0">
                <a:solidFill>
                  <a:srgbClr val="343434"/>
                </a:solidFill>
                <a:effectLst/>
                <a:latin typeface="PingFang SC"/>
              </a:rPr>
              <a:t>页面布局，可采用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模式，通过编写自定义的</a:t>
            </a:r>
            <a:r>
              <a:rPr lang="en-US" altLang="zh-CN" b="0" i="0" dirty="0">
                <a:solidFill>
                  <a:srgbClr val="343434"/>
                </a:solidFill>
                <a:effectLst/>
                <a:latin typeface="PingFang SC"/>
              </a:rPr>
              <a:t>Widget</a:t>
            </a:r>
            <a:r>
              <a:rPr lang="zh-CN" altLang="en-US" b="0" i="0" dirty="0">
                <a:solidFill>
                  <a:srgbClr val="343434"/>
                </a:solidFill>
                <a:effectLst/>
                <a:latin typeface="PingFang SC"/>
              </a:rPr>
              <a:t>实现个性化的页面展示样</a:t>
            </a:r>
          </a:p>
          <a:p>
            <a:pPr algn="l" fontAlgn="base">
              <a:lnSpc>
                <a:spcPts val="2250"/>
              </a:lnSpc>
              <a:spcAft>
                <a:spcPts val="300"/>
              </a:spcAft>
              <a:buNone/>
            </a:pPr>
            <a:r>
              <a:rPr lang="zh-CN" altLang="en-US" b="0" i="0" dirty="0">
                <a:solidFill>
                  <a:srgbClr val="343434"/>
                </a:solidFill>
                <a:effectLst/>
                <a:latin typeface="PingFang SC"/>
              </a:rPr>
              <a:t>式，包括布局、样式、动画等效果。使用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模式需要一定的编程经验和技巧，</a:t>
            </a:r>
          </a:p>
          <a:p>
            <a:pPr algn="l" fontAlgn="base">
              <a:lnSpc>
                <a:spcPts val="2250"/>
              </a:lnSpc>
              <a:spcAft>
                <a:spcPts val="300"/>
              </a:spcAft>
            </a:pPr>
            <a:r>
              <a:rPr lang="zh-CN" altLang="en-US" b="0" i="0" dirty="0">
                <a:solidFill>
                  <a:srgbClr val="343434"/>
                </a:solidFill>
                <a:effectLst/>
                <a:latin typeface="PingFang SC"/>
              </a:rPr>
              <a:t>但可实现更加个性化的页面设计效果。</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144</a:t>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组件是一种广泛应用于页面布局的容器，其功能包括设置页面的标题栏、工</a:t>
            </a:r>
          </a:p>
          <a:p>
            <a:pPr algn="l" fontAlgn="base">
              <a:lnSpc>
                <a:spcPts val="2250"/>
              </a:lnSpc>
              <a:spcAft>
                <a:spcPts val="300"/>
              </a:spcAft>
              <a:buNone/>
            </a:pPr>
            <a:r>
              <a:rPr lang="zh-CN" altLang="en-US" b="0" i="0" dirty="0">
                <a:solidFill>
                  <a:srgbClr val="343434"/>
                </a:solidFill>
                <a:effectLst/>
                <a:latin typeface="PingFang SC"/>
              </a:rPr>
              <a:t>具栏和菜单栏等展示样式。除默认展示样式属性外，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还支持</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a:t>
            </a:r>
          </a:p>
          <a:p>
            <a:pPr algn="l" fontAlgn="base">
              <a:lnSpc>
                <a:spcPts val="2250"/>
              </a:lnSpc>
              <a:spcAft>
                <a:spcPts val="300"/>
              </a:spcAft>
              <a:buNone/>
            </a:pPr>
            <a:r>
              <a:rPr lang="zh-CN" altLang="en-US" b="0" i="0" dirty="0">
                <a:solidFill>
                  <a:srgbClr val="343434"/>
                </a:solidFill>
                <a:effectLst/>
                <a:latin typeface="PingFang SC"/>
              </a:rPr>
              <a:t>以实现个性化的展示样式。在使用</a:t>
            </a:r>
            <a:r>
              <a:rPr lang="en-US" altLang="zh-CN" b="0" i="0" dirty="0">
                <a:solidFill>
                  <a:srgbClr val="343434"/>
                </a:solidFill>
                <a:effectLst/>
                <a:latin typeface="PingFang SC"/>
              </a:rPr>
              <a:t>Navigation</a:t>
            </a:r>
            <a:r>
              <a:rPr lang="zh-CN" altLang="en-US" b="0" i="0" dirty="0">
                <a:solidFill>
                  <a:srgbClr val="343434"/>
                </a:solidFill>
                <a:effectLst/>
                <a:latin typeface="PingFang SC"/>
              </a:rPr>
              <a:t>时，可通过属性和方法进行页面布局的定制</a:t>
            </a:r>
          </a:p>
          <a:p>
            <a:pPr algn="l" fontAlgn="base">
              <a:lnSpc>
                <a:spcPts val="2250"/>
              </a:lnSpc>
              <a:spcAft>
                <a:spcPts val="300"/>
              </a:spcAft>
              <a:buNone/>
            </a:pPr>
            <a:r>
              <a:rPr lang="zh-CN" altLang="en-US" b="0" i="0" dirty="0">
                <a:solidFill>
                  <a:srgbClr val="343434"/>
                </a:solidFill>
                <a:effectLst/>
                <a:latin typeface="PingFang SC"/>
              </a:rPr>
              <a:t>化，如设置标题、背景颜色、图标，添加菜单项、工具按钮等。此外，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支持多种</a:t>
            </a:r>
          </a:p>
          <a:p>
            <a:pPr algn="l" fontAlgn="base">
              <a:lnSpc>
                <a:spcPts val="2250"/>
              </a:lnSpc>
              <a:spcAft>
                <a:spcPts val="300"/>
              </a:spcAft>
              <a:buNone/>
            </a:pPr>
            <a:r>
              <a:rPr lang="zh-CN" altLang="en-US" b="0" i="0" dirty="0">
                <a:solidFill>
                  <a:srgbClr val="343434"/>
                </a:solidFill>
                <a:effectLst/>
                <a:latin typeface="PingFang SC"/>
              </a:rPr>
              <a:t>展示模式，如抽屉式、标签式、底部导航栏式等，以满足不同需求。如需更加灵活地定制</a:t>
            </a:r>
          </a:p>
          <a:p>
            <a:pPr algn="l" fontAlgn="base">
              <a:lnSpc>
                <a:spcPts val="2250"/>
              </a:lnSpc>
              <a:spcAft>
                <a:spcPts val="300"/>
              </a:spcAft>
              <a:buNone/>
            </a:pPr>
            <a:r>
              <a:rPr lang="zh-CN" altLang="en-US" b="0" i="0" dirty="0">
                <a:solidFill>
                  <a:srgbClr val="343434"/>
                </a:solidFill>
                <a:effectLst/>
                <a:latin typeface="PingFang SC"/>
              </a:rPr>
              <a:t>页面布局，可采用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模式，通过编写自定义的</a:t>
            </a:r>
            <a:r>
              <a:rPr lang="en-US" altLang="zh-CN" b="0" i="0" dirty="0">
                <a:solidFill>
                  <a:srgbClr val="343434"/>
                </a:solidFill>
                <a:effectLst/>
                <a:latin typeface="PingFang SC"/>
              </a:rPr>
              <a:t>Widget</a:t>
            </a:r>
            <a:r>
              <a:rPr lang="zh-CN" altLang="en-US" b="0" i="0" dirty="0">
                <a:solidFill>
                  <a:srgbClr val="343434"/>
                </a:solidFill>
                <a:effectLst/>
                <a:latin typeface="PingFang SC"/>
              </a:rPr>
              <a:t>实现个性化的页面展示样</a:t>
            </a:r>
          </a:p>
          <a:p>
            <a:pPr algn="l" fontAlgn="base">
              <a:lnSpc>
                <a:spcPts val="2250"/>
              </a:lnSpc>
              <a:spcAft>
                <a:spcPts val="300"/>
              </a:spcAft>
              <a:buNone/>
            </a:pPr>
            <a:r>
              <a:rPr lang="zh-CN" altLang="en-US" b="0" i="0" dirty="0">
                <a:solidFill>
                  <a:srgbClr val="343434"/>
                </a:solidFill>
                <a:effectLst/>
                <a:latin typeface="PingFang SC"/>
              </a:rPr>
              <a:t>式，包括布局、样式、动画等效果。使用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模式需要一定的编程经验和技巧，</a:t>
            </a:r>
          </a:p>
          <a:p>
            <a:pPr algn="l" fontAlgn="base">
              <a:lnSpc>
                <a:spcPts val="2250"/>
              </a:lnSpc>
              <a:spcAft>
                <a:spcPts val="300"/>
              </a:spcAft>
            </a:pPr>
            <a:r>
              <a:rPr lang="zh-CN" altLang="en-US" b="0" i="0" dirty="0">
                <a:solidFill>
                  <a:srgbClr val="343434"/>
                </a:solidFill>
                <a:effectLst/>
                <a:latin typeface="PingFang SC"/>
              </a:rPr>
              <a:t>但可实现更加个性化的页面设计效果。</a:t>
            </a: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145</a:t>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179E1-2A27-8AC5-DD04-2460652536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EC8A54-4E93-1258-7D7A-C39C81C80E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3008BC-F7C7-4343-7291-7A20E98C79D4}"/>
              </a:ext>
            </a:extLst>
          </p:cNvPr>
          <p:cNvSpPr>
            <a:spLocks noGrp="1"/>
          </p:cNvSpPr>
          <p:nvPr>
            <p:ph type="body" idx="1"/>
          </p:nvPr>
        </p:nvSpPr>
        <p:spPr/>
        <p:txBody>
          <a:bodyPr/>
          <a:lstStyle/>
          <a:p>
            <a:r>
              <a:rPr lang="zh-CN" altLang="en-US" dirty="0"/>
              <a:t>易用性层面：</a:t>
            </a:r>
          </a:p>
          <a:p>
            <a:r>
              <a:rPr lang="en-US" altLang="zh-CN" dirty="0"/>
              <a:t>Navigation</a:t>
            </a:r>
            <a:r>
              <a:rPr lang="zh-CN" altLang="en-US" dirty="0"/>
              <a:t>天然具备标题、内容、回退按钮的功能联动，开发者可以直接使用此能力。</a:t>
            </a:r>
            <a:r>
              <a:rPr lang="en-US" altLang="zh-CN" dirty="0"/>
              <a:t>Router</a:t>
            </a:r>
            <a:r>
              <a:rPr lang="zh-CN" altLang="en-US" dirty="0"/>
              <a:t>若要实现此能力，需要自行定义；</a:t>
            </a:r>
          </a:p>
          <a:p>
            <a:r>
              <a:rPr lang="en-US" altLang="zh-CN" dirty="0"/>
              <a:t>Navigation</a:t>
            </a:r>
            <a:r>
              <a:rPr lang="zh-CN" altLang="en-US" dirty="0"/>
              <a:t>的页面是由组件构成，易于实现共享元素的转场。</a:t>
            </a:r>
          </a:p>
          <a:p>
            <a:r>
              <a:rPr lang="zh-CN" altLang="en-US" dirty="0"/>
              <a:t>功能层面：</a:t>
            </a:r>
          </a:p>
          <a:p>
            <a:r>
              <a:rPr lang="en-US" altLang="zh-CN" dirty="0"/>
              <a:t>Navigation</a:t>
            </a:r>
            <a:r>
              <a:rPr lang="zh-CN" altLang="en-US" dirty="0"/>
              <a:t>天然支持一多，</a:t>
            </a:r>
            <a:r>
              <a:rPr lang="en-US" altLang="zh-CN" dirty="0"/>
              <a:t>Router</a:t>
            </a:r>
            <a:r>
              <a:rPr lang="zh-CN" altLang="en-US" dirty="0"/>
              <a:t>不支持；</a:t>
            </a:r>
          </a:p>
          <a:p>
            <a:r>
              <a:rPr lang="en-US" altLang="zh-CN" dirty="0"/>
              <a:t>Navigation</a:t>
            </a:r>
            <a:r>
              <a:rPr lang="zh-CN" altLang="en-US" dirty="0"/>
              <a:t>没有路由数量限制，</a:t>
            </a:r>
            <a:r>
              <a:rPr lang="en-US" altLang="zh-CN" dirty="0"/>
              <a:t>Router</a:t>
            </a:r>
            <a:r>
              <a:rPr lang="zh-CN" altLang="en-US" dirty="0"/>
              <a:t>限制</a:t>
            </a:r>
            <a:r>
              <a:rPr lang="en-US" altLang="zh-CN" dirty="0"/>
              <a:t>32</a:t>
            </a:r>
            <a:r>
              <a:rPr lang="zh-CN" altLang="en-US" dirty="0"/>
              <a:t>个；</a:t>
            </a:r>
          </a:p>
          <a:p>
            <a:r>
              <a:rPr lang="en-US" altLang="zh-CN" dirty="0"/>
              <a:t>Navigation</a:t>
            </a:r>
            <a:r>
              <a:rPr lang="zh-CN" altLang="en-US" dirty="0"/>
              <a:t>可以获取到路由栈</a:t>
            </a:r>
            <a:r>
              <a:rPr lang="en-US" altLang="zh-CN" dirty="0" err="1"/>
              <a:t>NavPathStack</a:t>
            </a:r>
            <a:r>
              <a:rPr lang="zh-CN" altLang="en-US" dirty="0"/>
              <a:t>，并对路由栈进行操作；</a:t>
            </a:r>
          </a:p>
          <a:p>
            <a:r>
              <a:rPr lang="en-US" altLang="zh-CN" dirty="0"/>
              <a:t>Navigation</a:t>
            </a:r>
            <a:r>
              <a:rPr lang="zh-CN" altLang="en-US" dirty="0"/>
              <a:t>可以嵌套在模态对话框中，也就是说可以模态框中定义路由，</a:t>
            </a:r>
            <a:r>
              <a:rPr lang="en-US" altLang="zh-CN" dirty="0"/>
              <a:t>Router</a:t>
            </a:r>
            <a:r>
              <a:rPr lang="zh-CN" altLang="en-US" dirty="0"/>
              <a:t>不支持；</a:t>
            </a:r>
          </a:p>
          <a:p>
            <a:r>
              <a:rPr lang="en-US" altLang="zh-CN" dirty="0"/>
              <a:t>Navigation</a:t>
            </a:r>
            <a:r>
              <a:rPr lang="zh-CN" altLang="en-US" dirty="0"/>
              <a:t>的组件全量由开发者自行控制，开发者可以自定义复杂的动效和属性的设置（背景、模糊等），</a:t>
            </a:r>
            <a:r>
              <a:rPr lang="en-US" altLang="zh-CN" dirty="0"/>
              <a:t>Router</a:t>
            </a:r>
            <a:r>
              <a:rPr lang="zh-CN" altLang="en-US" dirty="0"/>
              <a:t>的</a:t>
            </a:r>
            <a:r>
              <a:rPr lang="en-US" altLang="zh-CN" dirty="0"/>
              <a:t>page</a:t>
            </a:r>
            <a:r>
              <a:rPr lang="zh-CN" altLang="en-US" dirty="0"/>
              <a:t>对象不对外暴露，开发者无法对</a:t>
            </a:r>
            <a:r>
              <a:rPr lang="en-US" altLang="zh-CN" dirty="0"/>
              <a:t>page</a:t>
            </a:r>
            <a:r>
              <a:rPr lang="zh-CN" altLang="en-US" dirty="0"/>
              <a:t>进行处理。</a:t>
            </a:r>
          </a:p>
          <a:p>
            <a:r>
              <a:rPr lang="zh-CN" altLang="en-US" dirty="0"/>
              <a:t>性能层面</a:t>
            </a:r>
          </a:p>
          <a:p>
            <a:r>
              <a:rPr lang="en-US" altLang="zh-CN" dirty="0"/>
              <a:t>Navigation</a:t>
            </a:r>
            <a:r>
              <a:rPr lang="zh-CN" altLang="en-US" dirty="0"/>
              <a:t>传递参数性能更优，</a:t>
            </a:r>
            <a:r>
              <a:rPr lang="en-US" altLang="zh-CN" dirty="0"/>
              <a:t>Navigation</a:t>
            </a:r>
            <a:r>
              <a:rPr lang="zh-CN" altLang="en-US" dirty="0"/>
              <a:t>通过引用传递，</a:t>
            </a:r>
            <a:r>
              <a:rPr lang="en-US" altLang="zh-CN" dirty="0"/>
              <a:t>Router</a:t>
            </a:r>
            <a:r>
              <a:rPr lang="zh-CN" altLang="en-US" dirty="0"/>
              <a:t>通过深拷贝完成；</a:t>
            </a:r>
          </a:p>
          <a:p>
            <a:r>
              <a:rPr lang="en-US" altLang="zh-CN" dirty="0"/>
              <a:t>Navigation</a:t>
            </a:r>
            <a:r>
              <a:rPr lang="zh-CN" altLang="en-US" dirty="0"/>
              <a:t>可以配合动态加载，实现组件动态加载，</a:t>
            </a:r>
            <a:r>
              <a:rPr lang="en-US" altLang="zh-CN" dirty="0"/>
              <a:t>Router</a:t>
            </a:r>
            <a:r>
              <a:rPr lang="zh-CN" altLang="en-US" dirty="0"/>
              <a:t>页面使用</a:t>
            </a:r>
            <a:r>
              <a:rPr lang="en-US" altLang="zh-CN" dirty="0"/>
              <a:t>@Entry</a:t>
            </a:r>
            <a:r>
              <a:rPr lang="zh-CN" altLang="en-US" dirty="0"/>
              <a:t>进行修饰，当前模块加载时会生成全量页面。</a:t>
            </a:r>
          </a:p>
          <a:p>
            <a:r>
              <a:rPr lang="en-US" altLang="zh-CN" dirty="0"/>
              <a:t>Navigation &amp; Router</a:t>
            </a:r>
            <a:r>
              <a:rPr lang="zh-CN" altLang="en-US" dirty="0"/>
              <a:t>结构对比</a:t>
            </a:r>
          </a:p>
          <a:p>
            <a:endParaRPr lang="zh-CN" altLang="en-US" dirty="0"/>
          </a:p>
          <a:p>
            <a:r>
              <a:rPr lang="en-US" altLang="zh-CN" dirty="0"/>
              <a:t>Navigation</a:t>
            </a:r>
            <a:r>
              <a:rPr lang="zh-CN" altLang="en-US" dirty="0"/>
              <a:t>中的每个页面，承载在一个</a:t>
            </a:r>
            <a:r>
              <a:rPr lang="en-US" altLang="zh-CN" dirty="0"/>
              <a:t>page</a:t>
            </a:r>
            <a:r>
              <a:rPr lang="zh-CN" altLang="en-US" dirty="0"/>
              <a:t>里，通过</a:t>
            </a:r>
            <a:r>
              <a:rPr lang="en-US" altLang="zh-CN" dirty="0" err="1"/>
              <a:t>NavDestination</a:t>
            </a:r>
            <a:r>
              <a:rPr lang="zh-CN" altLang="en-US" dirty="0"/>
              <a:t>容器实现基于组件的页面跳转。</a:t>
            </a:r>
          </a:p>
          <a:p>
            <a:r>
              <a:rPr lang="en-US" altLang="zh-CN" dirty="0"/>
              <a:t>Router</a:t>
            </a:r>
            <a:r>
              <a:rPr lang="zh-CN" altLang="en-US" dirty="0"/>
              <a:t>的每一个页面配置在一个单独的</a:t>
            </a:r>
            <a:r>
              <a:rPr lang="en-US" altLang="zh-CN" dirty="0"/>
              <a:t>page</a:t>
            </a:r>
            <a:r>
              <a:rPr lang="zh-CN" altLang="en-US" dirty="0"/>
              <a:t>中，通过</a:t>
            </a:r>
            <a:r>
              <a:rPr lang="en-US" altLang="zh-CN" dirty="0"/>
              <a:t>@Entry</a:t>
            </a:r>
            <a:r>
              <a:rPr lang="zh-CN" altLang="en-US" dirty="0"/>
              <a:t>进行标识。</a:t>
            </a:r>
            <a:br>
              <a:rPr lang="en-US" altLang="zh-CN" dirty="0"/>
            </a:br>
            <a:br>
              <a:rPr lang="en-US" altLang="zh-CN" dirty="0"/>
            </a:br>
            <a:r>
              <a:rPr lang="en-US" altLang="zh-CN" b="0" i="0" dirty="0">
                <a:solidFill>
                  <a:srgbClr val="191B1F"/>
                </a:solidFill>
                <a:effectLst/>
                <a:latin typeface="-apple-system"/>
              </a:rPr>
              <a:t>Navigation</a:t>
            </a:r>
            <a:r>
              <a:rPr lang="zh-CN" altLang="en-US" b="0" i="0" dirty="0">
                <a:solidFill>
                  <a:srgbClr val="191B1F"/>
                </a:solidFill>
                <a:effectLst/>
                <a:latin typeface="-apple-system"/>
              </a:rPr>
              <a:t>组件是路由导航的根视图容器，一般作为</a:t>
            </a:r>
            <a:r>
              <a:rPr lang="en-US" altLang="zh-CN" b="0" i="0" dirty="0">
                <a:solidFill>
                  <a:srgbClr val="191B1F"/>
                </a:solidFill>
                <a:effectLst/>
                <a:latin typeface="-apple-system"/>
              </a:rPr>
              <a:t>Page</a:t>
            </a:r>
            <a:r>
              <a:rPr lang="zh-CN" altLang="en-US" b="0" i="0" dirty="0">
                <a:solidFill>
                  <a:srgbClr val="191B1F"/>
                </a:solidFill>
                <a:effectLst/>
                <a:latin typeface="-apple-system"/>
              </a:rPr>
              <a:t>页面的根容器使用，其内部默认包含了标题栏、内容区和工具栏，其中内容区默认首页显示导航内容（</a:t>
            </a:r>
            <a:r>
              <a:rPr lang="en-US" altLang="zh-CN" b="0" i="0" dirty="0">
                <a:solidFill>
                  <a:srgbClr val="191B1F"/>
                </a:solidFill>
                <a:effectLst/>
                <a:latin typeface="-apple-system"/>
              </a:rPr>
              <a:t>Navigation</a:t>
            </a:r>
            <a:r>
              <a:rPr lang="zh-CN" altLang="en-US" b="0" i="0" dirty="0">
                <a:solidFill>
                  <a:srgbClr val="191B1F"/>
                </a:solidFill>
                <a:effectLst/>
                <a:latin typeface="-apple-system"/>
              </a:rPr>
              <a:t>的子组件）或非首页显示（ </a:t>
            </a:r>
            <a:r>
              <a:rPr lang="en-US" altLang="zh-CN" b="0" i="0" dirty="0" err="1">
                <a:solidFill>
                  <a:srgbClr val="191B1F"/>
                </a:solidFill>
                <a:effectLst/>
                <a:latin typeface="-apple-system"/>
              </a:rPr>
              <a:t>NavDestination</a:t>
            </a:r>
            <a:r>
              <a:rPr lang="en-US" altLang="zh-CN" b="0" i="0" dirty="0">
                <a:solidFill>
                  <a:srgbClr val="191B1F"/>
                </a:solidFill>
                <a:effectLst/>
                <a:latin typeface="-apple-system"/>
              </a:rPr>
              <a:t> </a:t>
            </a:r>
            <a:r>
              <a:rPr lang="zh-CN" altLang="en-US" b="0" i="0">
                <a:solidFill>
                  <a:srgbClr val="191B1F"/>
                </a:solidFill>
                <a:effectLst/>
                <a:latin typeface="-apple-system"/>
              </a:rPr>
              <a:t>的子组件），首页和非首页通过路由进行切换。</a:t>
            </a:r>
            <a:endParaRPr lang="zh-CN" altLang="en-US" dirty="0"/>
          </a:p>
        </p:txBody>
      </p:sp>
      <p:sp>
        <p:nvSpPr>
          <p:cNvPr id="4" name="灯片编号占位符 3">
            <a:extLst>
              <a:ext uri="{FF2B5EF4-FFF2-40B4-BE49-F238E27FC236}">
                <a16:creationId xmlns:a16="http://schemas.microsoft.com/office/drawing/2014/main" id="{5FCC77B4-638E-C74A-781B-073A74F49B18}"/>
              </a:ext>
            </a:extLst>
          </p:cNvPr>
          <p:cNvSpPr>
            <a:spLocks noGrp="1"/>
          </p:cNvSpPr>
          <p:nvPr>
            <p:ph type="sldNum" sz="quarter" idx="5"/>
          </p:nvPr>
        </p:nvSpPr>
        <p:spPr/>
        <p:txBody>
          <a:bodyPr/>
          <a:lstStyle/>
          <a:p>
            <a:fld id="{7392B679-AE23-4750-8FB0-6513430B8953}" type="slidenum">
              <a:rPr lang="zh-CN" altLang="en-US" smtClean="0"/>
              <a:t>146</a:t>
            </a:fld>
            <a:endParaRPr lang="zh-CN" altLang="en-US"/>
          </a:p>
        </p:txBody>
      </p:sp>
    </p:spTree>
    <p:extLst>
      <p:ext uri="{BB962C8B-B14F-4D97-AF65-F5344CB8AC3E}">
        <p14:creationId xmlns:p14="http://schemas.microsoft.com/office/powerpoint/2010/main" val="3822774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8.xml"/><Relationship Id="rId4"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 Id="rId4"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4.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5.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6.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7.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2.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theme" Target="../theme/theme8.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3.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theme" Target="../theme/theme9.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4.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theme" Target="../theme/theme10.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2025/5/25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2025/5/25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4.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5.xml"/><Relationship Id="rId5" Type="http://schemas.openxmlformats.org/officeDocument/2006/relationships/image" Target="../media/image13.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6.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76.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87.xml"/><Relationship Id="rId5" Type="http://schemas.openxmlformats.org/officeDocument/2006/relationships/image" Target="../media/image43.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notesSlide" Target="../notesSlides/notesSlide3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15.xml"/><Relationship Id="rId5" Type="http://schemas.openxmlformats.org/officeDocument/2006/relationships/tags" Target="../tags/tag10.xml"/><Relationship Id="rId4" Type="http://schemas.openxmlformats.org/officeDocument/2006/relationships/tags" Target="../tags/tag9.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5.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5.xml"/><Relationship Id="rId1" Type="http://schemas.openxmlformats.org/officeDocument/2006/relationships/tags" Target="../tags/tag11.xml"/><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5.xml"/><Relationship Id="rId1" Type="http://schemas.openxmlformats.org/officeDocument/2006/relationships/tags" Target="../tags/tag12.xml"/><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5.xml"/><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5.xml"/><Relationship Id="rId1" Type="http://schemas.openxmlformats.org/officeDocument/2006/relationships/tags" Target="../tags/tag13.xml"/><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5.xml"/><Relationship Id="rId1" Type="http://schemas.openxmlformats.org/officeDocument/2006/relationships/tags" Target="../tags/tag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5.xml"/><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49.png"/><Relationship Id="rId5" Type="http://schemas.openxmlformats.org/officeDocument/2006/relationships/notesSlide" Target="../notesSlides/notesSlide50.xml"/><Relationship Id="rId4"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6.xml"/><Relationship Id="rId1" Type="http://schemas.openxmlformats.org/officeDocument/2006/relationships/slideLayout" Target="../slideLayouts/slideLayout10.xml"/><Relationship Id="rId4" Type="http://schemas.openxmlformats.org/officeDocument/2006/relationships/image" Target="../media/image52.png"/></Relationships>
</file>

<file path=ppt/slides/_rels/slide66.xml.rels><?xml version="1.0" encoding="UTF-8" standalone="yes"?>
<Relationships xmlns="http://schemas.openxmlformats.org/package/2006/relationships"><Relationship Id="rId13" Type="http://schemas.openxmlformats.org/officeDocument/2006/relationships/tags" Target="../tags/tag30.xml"/><Relationship Id="rId18" Type="http://schemas.openxmlformats.org/officeDocument/2006/relationships/tags" Target="../tags/tag35.xml"/><Relationship Id="rId26" Type="http://schemas.openxmlformats.org/officeDocument/2006/relationships/tags" Target="../tags/tag43.xml"/><Relationship Id="rId21" Type="http://schemas.openxmlformats.org/officeDocument/2006/relationships/tags" Target="../tags/tag38.xml"/><Relationship Id="rId34" Type="http://schemas.openxmlformats.org/officeDocument/2006/relationships/tags" Target="../tags/tag51.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tags" Target="../tags/tag42.xml"/><Relationship Id="rId33" Type="http://schemas.openxmlformats.org/officeDocument/2006/relationships/tags" Target="../tags/tag50.xml"/><Relationship Id="rId38" Type="http://schemas.openxmlformats.org/officeDocument/2006/relationships/notesSlide" Target="../notesSlides/notesSlide57.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tags" Target="../tags/tag37.xml"/><Relationship Id="rId29" Type="http://schemas.openxmlformats.org/officeDocument/2006/relationships/tags" Target="../tags/tag46.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tags" Target="../tags/tag41.xml"/><Relationship Id="rId32" Type="http://schemas.openxmlformats.org/officeDocument/2006/relationships/tags" Target="../tags/tag49.xml"/><Relationship Id="rId37" Type="http://schemas.openxmlformats.org/officeDocument/2006/relationships/slideLayout" Target="../slideLayouts/slideLayout9.xml"/><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40.xml"/><Relationship Id="rId28" Type="http://schemas.openxmlformats.org/officeDocument/2006/relationships/tags" Target="../tags/tag45.xml"/><Relationship Id="rId36" Type="http://schemas.openxmlformats.org/officeDocument/2006/relationships/tags" Target="../tags/tag53.xml"/><Relationship Id="rId10" Type="http://schemas.openxmlformats.org/officeDocument/2006/relationships/tags" Target="../tags/tag27.xml"/><Relationship Id="rId19" Type="http://schemas.openxmlformats.org/officeDocument/2006/relationships/tags" Target="../tags/tag36.xml"/><Relationship Id="rId31" Type="http://schemas.openxmlformats.org/officeDocument/2006/relationships/tags" Target="../tags/tag48.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tags" Target="../tags/tag39.xml"/><Relationship Id="rId27" Type="http://schemas.openxmlformats.org/officeDocument/2006/relationships/tags" Target="../tags/tag44.xml"/><Relationship Id="rId30" Type="http://schemas.openxmlformats.org/officeDocument/2006/relationships/tags" Target="../tags/tag47.xml"/><Relationship Id="rId35" Type="http://schemas.openxmlformats.org/officeDocument/2006/relationships/tags" Target="../tags/tag52.xml"/><Relationship Id="rId8" Type="http://schemas.openxmlformats.org/officeDocument/2006/relationships/tags" Target="../tags/tag25.xml"/><Relationship Id="rId3" Type="http://schemas.openxmlformats.org/officeDocument/2006/relationships/tags" Target="../tags/tag20.xml"/></Relationships>
</file>

<file path=ppt/slides/_rels/slide67.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notesSlide" Target="../notesSlides/notesSlide58.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Layout" Target="../slideLayouts/slideLayout15.xml"/><Relationship Id="rId5" Type="http://schemas.openxmlformats.org/officeDocument/2006/relationships/tags" Target="../tags/tag58.xml"/><Relationship Id="rId4" Type="http://schemas.openxmlformats.org/officeDocument/2006/relationships/tags" Target="../tags/tag57.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9.xml"/><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9.xml"/><Relationship Id="rId1" Type="http://schemas.openxmlformats.org/officeDocument/2006/relationships/tags" Target="../tags/tag59.xml"/><Relationship Id="rId4" Type="http://schemas.openxmlformats.org/officeDocument/2006/relationships/image" Target="../media/image10.png"/></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5.xml"/><Relationship Id="rId4" Type="http://schemas.openxmlformats.org/officeDocument/2006/relationships/image" Target="../media/image53.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9.xml"/><Relationship Id="rId1" Type="http://schemas.openxmlformats.org/officeDocument/2006/relationships/tags" Target="../tags/tag60.xml"/><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9.xml"/><Relationship Id="rId1" Type="http://schemas.openxmlformats.org/officeDocument/2006/relationships/tags" Target="../tags/tag61.xml"/><Relationship Id="rId4" Type="http://schemas.openxmlformats.org/officeDocument/2006/relationships/image" Target="../media/image10.png"/></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15.xml"/><Relationship Id="rId4" Type="http://schemas.openxmlformats.org/officeDocument/2006/relationships/image" Target="../media/image55.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9.xml"/><Relationship Id="rId1" Type="http://schemas.openxmlformats.org/officeDocument/2006/relationships/tags" Target="../tags/tag62.xml"/><Relationship Id="rId4" Type="http://schemas.openxmlformats.org/officeDocument/2006/relationships/image" Target="../media/image10.png"/></Relationships>
</file>

<file path=ppt/slides/_rels/slide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7.xml"/><Relationship Id="rId1" Type="http://schemas.openxmlformats.org/officeDocument/2006/relationships/slideLayout" Target="../slideLayouts/slideLayout15.xml"/><Relationship Id="rId4" Type="http://schemas.openxmlformats.org/officeDocument/2006/relationships/image" Target="../media/image56.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9.xml"/><Relationship Id="rId1" Type="http://schemas.openxmlformats.org/officeDocument/2006/relationships/tags" Target="../tags/tag63.xml"/><Relationship Id="rId4" Type="http://schemas.openxmlformats.org/officeDocument/2006/relationships/image" Target="../media/image10.png"/></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57.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49.png"/><Relationship Id="rId5" Type="http://schemas.openxmlformats.org/officeDocument/2006/relationships/notesSlide" Target="../notesSlides/notesSlide71.xml"/><Relationship Id="rId4"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13.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8.png"/><Relationship Id="rId5" Type="http://schemas.openxmlformats.org/officeDocument/2006/relationships/image" Target="../media/image49.png"/><Relationship Id="rId4" Type="http://schemas.openxmlformats.org/officeDocument/2006/relationships/notesSlide" Target="../notesSlides/notesSlide72.xml"/></Relationships>
</file>

<file path=ppt/slides/_rels/slide8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4.xml"/><Relationship Id="rId1" Type="http://schemas.openxmlformats.org/officeDocument/2006/relationships/slideLayout" Target="../slideLayouts/slideLayout21.xml"/></Relationships>
</file>

<file path=ppt/slides/_rels/slide8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hyperlink" Target="https://developer.harmonyos.com/cn/docs/documentation/doc-references-V3/arkts-custom-component-lifecycle-0000001482395076-V3#ZH-CN_TOPIC_0000001523488850__abouttoappear" TargetMode="External"/><Relationship Id="rId7" Type="http://schemas.openxmlformats.org/officeDocument/2006/relationships/hyperlink" Target="https://developer.harmonyos.com/cn/docs/documentation/doc-references-V3/arkts-custom-component-lifecycle-0000001482395076-V3#ZH-CN_TOPIC_0000001523488850__onbackpress" TargetMode="External"/><Relationship Id="rId2" Type="http://schemas.openxmlformats.org/officeDocument/2006/relationships/notesSlide" Target="../notesSlides/notesSlide75.xml"/><Relationship Id="rId1" Type="http://schemas.openxmlformats.org/officeDocument/2006/relationships/slideLayout" Target="../slideLayouts/slideLayout15.xml"/><Relationship Id="rId6" Type="http://schemas.openxmlformats.org/officeDocument/2006/relationships/hyperlink" Target="https://developer.harmonyos.com/cn/docs/documentation/doc-references-V3/arkts-custom-component-lifecycle-0000001482395076-V3#ZH-CN_TOPIC_0000001523488850__onpagehide" TargetMode="External"/><Relationship Id="rId5" Type="http://schemas.openxmlformats.org/officeDocument/2006/relationships/hyperlink" Target="https://developer.harmonyos.com/cn/docs/documentation/doc-references-V3/arkts-custom-component-lifecycle-0000001482395076-V3#ZH-CN_TOPIC_0000001523488850__onpageshow" TargetMode="External"/><Relationship Id="rId4" Type="http://schemas.openxmlformats.org/officeDocument/2006/relationships/hyperlink" Target="https://developer.harmonyos.com/cn/docs/documentation/doc-references-V3/arkts-custom-component-lifecycle-0000001482395076-V3#ZH-CN_TOPIC_0000001523488850__abouttodisappear"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13.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49.png"/><Relationship Id="rId5" Type="http://schemas.openxmlformats.org/officeDocument/2006/relationships/notesSlide" Target="../notesSlides/notesSlide77.xml"/><Relationship Id="rId4"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5.xml"/><Relationship Id="rId1" Type="http://schemas.openxmlformats.org/officeDocument/2006/relationships/tags" Target="../tags/tag74.xml"/><Relationship Id="rId4" Type="http://schemas.openxmlformats.org/officeDocument/2006/relationships/image" Target="../media/image13.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3" Type="http://schemas.openxmlformats.org/officeDocument/2006/relationships/tags" Target="../tags/tag87.xml"/><Relationship Id="rId18" Type="http://schemas.openxmlformats.org/officeDocument/2006/relationships/tags" Target="../tags/tag92.xml"/><Relationship Id="rId26" Type="http://schemas.openxmlformats.org/officeDocument/2006/relationships/tags" Target="../tags/tag100.xml"/><Relationship Id="rId21" Type="http://schemas.openxmlformats.org/officeDocument/2006/relationships/tags" Target="../tags/tag95.xml"/><Relationship Id="rId34" Type="http://schemas.openxmlformats.org/officeDocument/2006/relationships/tags" Target="../tags/tag108.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5" Type="http://schemas.openxmlformats.org/officeDocument/2006/relationships/tags" Target="../tags/tag99.xml"/><Relationship Id="rId33" Type="http://schemas.openxmlformats.org/officeDocument/2006/relationships/tags" Target="../tags/tag107.xml"/><Relationship Id="rId38" Type="http://schemas.openxmlformats.org/officeDocument/2006/relationships/notesSlide" Target="../notesSlides/notesSlide89.xml"/><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tags" Target="../tags/tag94.xml"/><Relationship Id="rId29" Type="http://schemas.openxmlformats.org/officeDocument/2006/relationships/tags" Target="../tags/tag103.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24" Type="http://schemas.openxmlformats.org/officeDocument/2006/relationships/tags" Target="../tags/tag98.xml"/><Relationship Id="rId32" Type="http://schemas.openxmlformats.org/officeDocument/2006/relationships/tags" Target="../tags/tag106.xml"/><Relationship Id="rId37" Type="http://schemas.openxmlformats.org/officeDocument/2006/relationships/slideLayout" Target="../slideLayouts/slideLayout9.xml"/><Relationship Id="rId5" Type="http://schemas.openxmlformats.org/officeDocument/2006/relationships/tags" Target="../tags/tag79.xml"/><Relationship Id="rId15" Type="http://schemas.openxmlformats.org/officeDocument/2006/relationships/tags" Target="../tags/tag89.xml"/><Relationship Id="rId23" Type="http://schemas.openxmlformats.org/officeDocument/2006/relationships/tags" Target="../tags/tag97.xml"/><Relationship Id="rId28" Type="http://schemas.openxmlformats.org/officeDocument/2006/relationships/tags" Target="../tags/tag102.xml"/><Relationship Id="rId36" Type="http://schemas.openxmlformats.org/officeDocument/2006/relationships/tags" Target="../tags/tag110.xml"/><Relationship Id="rId10" Type="http://schemas.openxmlformats.org/officeDocument/2006/relationships/tags" Target="../tags/tag84.xml"/><Relationship Id="rId19" Type="http://schemas.openxmlformats.org/officeDocument/2006/relationships/tags" Target="../tags/tag93.xml"/><Relationship Id="rId31" Type="http://schemas.openxmlformats.org/officeDocument/2006/relationships/tags" Target="../tags/tag105.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 Id="rId22" Type="http://schemas.openxmlformats.org/officeDocument/2006/relationships/tags" Target="../tags/tag96.xml"/><Relationship Id="rId27" Type="http://schemas.openxmlformats.org/officeDocument/2006/relationships/tags" Target="../tags/tag101.xml"/><Relationship Id="rId30" Type="http://schemas.openxmlformats.org/officeDocument/2006/relationships/tags" Target="../tags/tag104.xml"/><Relationship Id="rId35" Type="http://schemas.openxmlformats.org/officeDocument/2006/relationships/tags" Target="../tags/tag109.xml"/><Relationship Id="rId8" Type="http://schemas.openxmlformats.org/officeDocument/2006/relationships/tags" Target="../tags/tag82.xml"/><Relationship Id="rId3" Type="http://schemas.openxmlformats.org/officeDocument/2006/relationships/tags" Target="../tags/tag77.xml"/></Relationships>
</file>

<file path=ppt/slides/_rels/slide100.xml.rels><?xml version="1.0" encoding="UTF-8" standalone="yes"?>
<Relationships xmlns="http://schemas.openxmlformats.org/package/2006/relationships"><Relationship Id="rId3" Type="http://schemas.openxmlformats.org/officeDocument/2006/relationships/tags" Target="../tags/tag113.xml"/><Relationship Id="rId7" Type="http://schemas.openxmlformats.org/officeDocument/2006/relationships/notesSlide" Target="../notesSlides/notesSlide90.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Layout" Target="../slideLayouts/slideLayout15.xml"/><Relationship Id="rId5" Type="http://schemas.openxmlformats.org/officeDocument/2006/relationships/tags" Target="../tags/tag115.xml"/><Relationship Id="rId4" Type="http://schemas.openxmlformats.org/officeDocument/2006/relationships/tags" Target="../tags/tag114.xml"/></Relationships>
</file>

<file path=ppt/slides/_rels/slide10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1.xml"/><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9.xml"/><Relationship Id="rId1" Type="http://schemas.openxmlformats.org/officeDocument/2006/relationships/tags" Target="../tags/tag116.xml"/><Relationship Id="rId4" Type="http://schemas.openxmlformats.org/officeDocument/2006/relationships/image" Target="../media/image10.png"/></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3.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9.xml"/><Relationship Id="rId1" Type="http://schemas.openxmlformats.org/officeDocument/2006/relationships/tags" Target="../tags/tag117.xml"/><Relationship Id="rId4" Type="http://schemas.openxmlformats.org/officeDocument/2006/relationships/image" Target="../media/image10.png"/></Relationships>
</file>

<file path=ppt/slides/_rels/slide10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5.xml"/><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9.xml"/><Relationship Id="rId1" Type="http://schemas.openxmlformats.org/officeDocument/2006/relationships/tags" Target="../tags/tag118.xml"/><Relationship Id="rId4" Type="http://schemas.openxmlformats.org/officeDocument/2006/relationships/image" Target="../media/image10.png"/></Relationships>
</file>

<file path=ppt/slides/_rels/slide10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7.xml"/><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9.xml"/><Relationship Id="rId1" Type="http://schemas.openxmlformats.org/officeDocument/2006/relationships/tags" Target="../tags/tag119.xml"/><Relationship Id="rId4" Type="http://schemas.openxmlformats.org/officeDocument/2006/relationships/image" Target="../media/image10.png"/></Relationships>
</file>

<file path=ppt/slides/_rels/slide10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9.xml"/><Relationship Id="rId1" Type="http://schemas.openxmlformats.org/officeDocument/2006/relationships/slideLayout" Target="../slideLayouts/slideLayout15.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0.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3.xml"/></Relationships>
</file>

<file path=ppt/slides/_rels/slide11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0.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2.xml"/><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3.xml"/><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7.xml"/><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9.xml"/><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0.xml"/><Relationship Id="rId1" Type="http://schemas.openxmlformats.org/officeDocument/2006/relationships/slideLayout" Target="../slideLayouts/slideLayout1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0.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15.xml"/><Relationship Id="rId1" Type="http://schemas.openxmlformats.org/officeDocument/2006/relationships/tags" Target="../tags/tag120.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15.xml"/><Relationship Id="rId1" Type="http://schemas.openxmlformats.org/officeDocument/2006/relationships/tags" Target="../tags/tag121.xml"/><Relationship Id="rId5" Type="http://schemas.openxmlformats.org/officeDocument/2006/relationships/image" Target="../media/image13.png"/><Relationship Id="rId4" Type="http://schemas.openxmlformats.org/officeDocument/2006/relationships/image" Target="../media/image49.png"/></Relationships>
</file>

<file path=ppt/slides/_rels/slide1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5.xml"/><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5.xml"/></Relationships>
</file>

<file path=ppt/slides/_rels/slide1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7.xml"/><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8.xml"/><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9.xml"/><Relationship Id="rId1" Type="http://schemas.openxmlformats.org/officeDocument/2006/relationships/slideLayout" Target="../slideLayouts/slideLayout65.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31.xml"/><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0.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0.xml"/></Relationships>
</file>

<file path=ppt/slides/_rels/slide14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34.xml"/><Relationship Id="rId1" Type="http://schemas.openxmlformats.org/officeDocument/2006/relationships/slideLayout" Target="../slideLayouts/slideLayout10.xml"/><Relationship Id="rId5" Type="http://schemas.openxmlformats.org/officeDocument/2006/relationships/image" Target="../media/image85.png"/><Relationship Id="rId4" Type="http://schemas.openxmlformats.org/officeDocument/2006/relationships/image" Target="../media/image84.png"/></Relationships>
</file>

<file path=ppt/slides/_rels/slide14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3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0680" y="1773555"/>
            <a:ext cx="8716010" cy="768350"/>
          </a:xfrm>
          <a:prstGeom prst="rect">
            <a:avLst/>
          </a:prstGeom>
          <a:noFill/>
        </p:spPr>
        <p:txBody>
          <a:bodyPr wrap="square" rtlCol="0" anchor="t">
            <a:spAutoFit/>
          </a:bodyPr>
          <a:lstStyle/>
          <a:p>
            <a:pPr algn="ctr"/>
            <a:r>
              <a:rPr lang="zh-CN" altLang="en-US"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特殊组件</a:t>
            </a:r>
            <a:endParaRPr lang="zh-CN" altLang="en-US" sz="44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3" name="文本框 2"/>
          <p:cNvSpPr txBox="1"/>
          <p:nvPr/>
        </p:nvSpPr>
        <p:spPr>
          <a:xfrm>
            <a:off x="2854960" y="2925445"/>
            <a:ext cx="6096000" cy="415498"/>
          </a:xfrm>
          <a:prstGeom prst="rect">
            <a:avLst/>
          </a:prstGeom>
          <a:noFill/>
        </p:spPr>
        <p:txBody>
          <a:bodyPr wrap="square" rtlCol="0" anchor="t">
            <a:spAutoFit/>
          </a:bodyPr>
          <a:lstStyle/>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9286788" cy="2807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主要介绍现代移动应用中不可或缺的的基本要素如</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Ø"/>
            </a:pPr>
            <a:r>
              <a:rPr lang="zh-CN" altLang="en-US" sz="2000" dirty="0">
                <a:solidFill>
                  <a:srgbClr val="0075CC"/>
                </a:solidFill>
                <a:latin typeface="微软雅黑" panose="020B0503020204020204" pitchFamily="34" charset="-122"/>
                <a:ea typeface="微软雅黑" panose="020B0503020204020204" pitchFamily="34" charset="-122"/>
                <a:cs typeface="+mn-ea"/>
              </a:rPr>
              <a:t>执行进度、加载进度、常用选择器、九宫格密码锁、二维码、弹窗</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等。</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介绍通过这些基础组件实现和用户交互的场景，如</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457200" indent="-457200">
              <a:lnSpc>
                <a:spcPct val="150000"/>
              </a:lnSpc>
              <a:spcBef>
                <a:spcPts val="2400"/>
              </a:spcBef>
              <a:buFont typeface="Wingdings" panose="05000000000000000000" pitchFamily="2" charset="2"/>
              <a:buChar char="Ø"/>
            </a:pPr>
            <a:r>
              <a:rPr lang="zh-CN" altLang="en-US" sz="2000" dirty="0">
                <a:solidFill>
                  <a:srgbClr val="0075CC"/>
                </a:solidFill>
                <a:latin typeface="微软雅黑" panose="020B0503020204020204" pitchFamily="34" charset="-122"/>
                <a:ea typeface="微软雅黑" panose="020B0503020204020204" pitchFamily="34" charset="-122"/>
                <a:cs typeface="+mn-ea"/>
              </a:rPr>
              <a:t>购物应用、社交应用、游戏应用、金融应用</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等。</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特殊组件：进度条</a:t>
            </a:r>
          </a:p>
        </p:txBody>
      </p:sp>
      <p:sp>
        <p:nvSpPr>
          <p:cNvPr id="5" name="矩形 6"/>
          <p:cNvSpPr>
            <a:spLocks noChangeArrowheads="1"/>
          </p:cNvSpPr>
          <p:nvPr/>
        </p:nvSpPr>
        <p:spPr bwMode="auto">
          <a:xfrm>
            <a:off x="982638" y="1197546"/>
            <a:ext cx="756084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Progress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定义参数。</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2400"/>
              </a:spcBef>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Progress(options: </a:t>
            </a:r>
            <a:r>
              <a:rPr lang="en-US" altLang="zh-CN" sz="28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ProgressOptions</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a:t>
            </a:r>
          </a:p>
          <a:p>
            <a:pPr algn="just">
              <a:spcBef>
                <a:spcPts val="2400"/>
              </a:spcBef>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options :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参数内容。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1"/>
          <p:cNvSpPr>
            <a:spLocks noChangeArrowheads="1"/>
          </p:cNvSpPr>
          <p:nvPr/>
        </p:nvSpPr>
        <p:spPr bwMode="auto">
          <a:xfrm>
            <a:off x="3430910" y="3408889"/>
            <a:ext cx="3672408"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@Entry</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@Component</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1" i="0" u="none" strike="noStrike" cap="none" normalizeH="0" baseline="0" dirty="0">
                <a:ln>
                  <a:noFill/>
                </a:ln>
                <a:solidFill>
                  <a:srgbClr val="859801"/>
                </a:solidFill>
                <a:effectLst/>
                <a:latin typeface="Arial Unicode MS" panose="020B0604020202020204" charset="-122"/>
                <a:ea typeface="JetBrains Mono"/>
              </a:rPr>
              <a:t>struct </a:t>
            </a:r>
            <a:r>
              <a:rPr kumimoji="0" lang="zh-CN" altLang="zh-CN" sz="1600" b="0" i="0" u="none" strike="noStrike" cap="none" normalizeH="0" baseline="0" dirty="0">
                <a:ln>
                  <a:noFill/>
                </a:ln>
                <a:solidFill>
                  <a:srgbClr val="507874"/>
                </a:solidFill>
                <a:effectLst/>
                <a:latin typeface="Arial Unicode MS" panose="020B0604020202020204" charset="-122"/>
                <a:ea typeface="JetBrains Mono"/>
              </a:rPr>
              <a:t>Index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build</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Column</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Progress({</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value: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this.value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 </a:t>
            </a: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设置当前进度</a:t>
            </a: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total: 100, // </a:t>
            </a: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设置进度总量</a:t>
            </a: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859801"/>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width</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653170"/>
                </a:solidFill>
                <a:effectLst/>
                <a:latin typeface="Arial Unicode MS" panose="020B0604020202020204" charset="-122"/>
                <a:ea typeface="JetBrains Mono"/>
              </a:rPr>
              <a:t>'100%'</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859801"/>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height</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653170"/>
                </a:solidFill>
                <a:effectLst/>
                <a:latin typeface="Arial Unicode MS" panose="020B0604020202020204" charset="-122"/>
                <a:ea typeface="JetBrains Mono"/>
              </a:rPr>
              <a:t>'100%'</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10" name="图片 9"/>
          <p:cNvPicPr>
            <a:picLocks noChangeAspect="1"/>
          </p:cNvPicPr>
          <p:nvPr/>
        </p:nvPicPr>
        <p:blipFill>
          <a:blip r:embed="rId2"/>
          <a:stretch>
            <a:fillRect/>
          </a:stretch>
        </p:blipFill>
        <p:spPr>
          <a:xfrm>
            <a:off x="8687494" y="1388734"/>
            <a:ext cx="3291626" cy="479174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特殊组件：进度条</a:t>
            </a:r>
          </a:p>
        </p:txBody>
      </p:sp>
      <p:sp>
        <p:nvSpPr>
          <p:cNvPr id="2" name="矩形 6"/>
          <p:cNvSpPr>
            <a:spLocks noChangeArrowheads="1"/>
          </p:cNvSpPr>
          <p:nvPr/>
        </p:nvSpPr>
        <p:spPr bwMode="auto">
          <a:xfrm>
            <a:off x="1166699" y="1053530"/>
            <a:ext cx="885698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Progress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定义参数。</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value: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表示当前进度。</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total:</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表示进度条总长，默认值为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type: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设置进度条的样式，默认值为</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ProgressType.Linear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1168034" y="3429794"/>
            <a:ext cx="9221487" cy="321037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01</a:t>
              </a:r>
            </a:p>
          </p:txBody>
        </p:sp>
      </p:grpSp>
      <p:sp>
        <p:nvSpPr>
          <p:cNvPr id="21" name="矩形 20"/>
          <p:cNvSpPr/>
          <p:nvPr/>
        </p:nvSpPr>
        <p:spPr>
          <a:xfrm>
            <a:off x="6534399" y="3759938"/>
            <a:ext cx="4956499"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文本选择器</a:t>
            </a:r>
            <a:r>
              <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TextPicker</a:t>
            </a:r>
            <a:endPar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文本选择器</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TextPicker</a:t>
            </a:r>
            <a:endPar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966021" y="1848654"/>
            <a:ext cx="8880734" cy="643325"/>
            <a:chOff x="361420" y="710838"/>
            <a:chExt cx="7758114" cy="482569"/>
          </a:xfrm>
        </p:grpSpPr>
        <p:sp>
          <p:nvSpPr>
            <p:cNvPr id="6" name="文本框 5"/>
            <p:cNvSpPr txBox="1"/>
            <p:nvPr/>
          </p:nvSpPr>
          <p:spPr>
            <a:xfrm>
              <a:off x="512119" y="769606"/>
              <a:ext cx="7446548" cy="364865"/>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文本选择器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TextPicker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是滑动选择文本内容的组件。</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20" y="710838"/>
              <a:ext cx="7758114" cy="48256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4" name="图片 3"/>
          <p:cNvPicPr>
            <a:picLocks noChangeAspect="1"/>
          </p:cNvPicPr>
          <p:nvPr/>
        </p:nvPicPr>
        <p:blipFill>
          <a:blip r:embed="rId4"/>
          <a:stretch>
            <a:fillRect/>
          </a:stretch>
        </p:blipFill>
        <p:spPr>
          <a:xfrm>
            <a:off x="966021" y="2846307"/>
            <a:ext cx="9039041" cy="2871190"/>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4"/>
                                        </p:tgtEl>
                                        <p:attrNameLst>
                                          <p:attrName>style.visibility</p:attrName>
                                        </p:attrNameLst>
                                      </p:cBhvr>
                                      <p:to>
                                        <p:strVal val="visible"/>
                                      </p:to>
                                    </p:set>
                                    <p:animEffect transition="in" filter="wedg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TextPicker</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文本选择器</a:t>
            </a:r>
          </a:p>
        </p:txBody>
      </p:sp>
      <p:grpSp>
        <p:nvGrpSpPr>
          <p:cNvPr id="18" name="组合 17"/>
          <p:cNvGrpSpPr/>
          <p:nvPr/>
        </p:nvGrpSpPr>
        <p:grpSpPr>
          <a:xfrm>
            <a:off x="117866" y="960573"/>
            <a:ext cx="11987995" cy="5786301"/>
            <a:chOff x="88413" y="719664"/>
            <a:chExt cx="8992401" cy="4340404"/>
          </a:xfrm>
        </p:grpSpPr>
        <p:grpSp>
          <p:nvGrpSpPr>
            <p:cNvPr id="5" name="组合 4"/>
            <p:cNvGrpSpPr/>
            <p:nvPr/>
          </p:nvGrpSpPr>
          <p:grpSpPr>
            <a:xfrm>
              <a:off x="184198" y="719664"/>
              <a:ext cx="8782249" cy="4340404"/>
              <a:chOff x="643019" y="1319069"/>
              <a:chExt cx="8272333" cy="3866885"/>
            </a:xfrm>
          </p:grpSpPr>
          <p:sp>
            <p:nvSpPr>
              <p:cNvPr id="7" name="文本框 6"/>
              <p:cNvSpPr txBox="1"/>
              <p:nvPr/>
            </p:nvSpPr>
            <p:spPr>
              <a:xfrm>
                <a:off x="741410" y="1788054"/>
                <a:ext cx="4955128" cy="324211"/>
              </a:xfrm>
              <a:prstGeom prst="rect">
                <a:avLst/>
              </a:prstGeom>
              <a:noFill/>
            </p:spPr>
            <p:txBody>
              <a:bodyPr wrap="square" lIns="91397" tIns="45699" rIns="91397" bIns="45699" rtlCol="0">
                <a:spAutoFit/>
              </a:bodyPr>
              <a:lstStyle/>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0" name="组合 9"/>
              <p:cNvGrpSpPr/>
              <p:nvPr/>
            </p:nvGrpSpPr>
            <p:grpSpPr>
              <a:xfrm>
                <a:off x="643019" y="1319069"/>
                <a:ext cx="8272333" cy="3866885"/>
                <a:chOff x="828791" y="1720973"/>
                <a:chExt cx="8272333" cy="3866885"/>
              </a:xfrm>
            </p:grpSpPr>
            <p:sp>
              <p:nvSpPr>
                <p:cNvPr id="13" name="圆角矩形 3"/>
                <p:cNvSpPr/>
                <p:nvPr/>
              </p:nvSpPr>
              <p:spPr>
                <a:xfrm>
                  <a:off x="927182" y="1746877"/>
                  <a:ext cx="2227580" cy="344024"/>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圆角矩形 54"/>
                <p:cNvSpPr/>
                <p:nvPr/>
              </p:nvSpPr>
              <p:spPr>
                <a:xfrm>
                  <a:off x="828791" y="1905347"/>
                  <a:ext cx="8272333" cy="3682511"/>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5" name="Text2"/>
                <p:cNvSpPr txBox="1"/>
                <p:nvPr/>
              </p:nvSpPr>
              <p:spPr>
                <a:xfrm>
                  <a:off x="1164945" y="1720973"/>
                  <a:ext cx="1989817" cy="31051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示例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
          <p:nvSpPr>
            <p:cNvPr id="17" name="文本框 16"/>
            <p:cNvSpPr txBox="1"/>
            <p:nvPr/>
          </p:nvSpPr>
          <p:spPr>
            <a:xfrm>
              <a:off x="88413" y="1383531"/>
              <a:ext cx="8992401" cy="2829367"/>
            </a:xfrm>
            <a:prstGeom prst="rect">
              <a:avLst/>
            </a:prstGeom>
            <a:noFill/>
          </p:spPr>
          <p:txBody>
            <a:bodyPr wrap="square">
              <a:spAutoFit/>
            </a:bodyPr>
            <a:lstStyle/>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1"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private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flowers</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玫瑰</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郁金香</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百合</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康乃馨</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kumimoji="0" lang="en-US"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TextPicker</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E986CD"/>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0" u="none" strike="noStrike" kern="1200" cap="none" spc="0" normalizeH="0" baseline="0" noProof="0">
                  <a:ln>
                    <a:noFill/>
                  </a:ln>
                  <a:solidFill>
                    <a:srgbClr val="E986CD"/>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range</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1"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flowers</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选择器的数据选择列表</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selected</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FF9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0</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设置默认选中项在数组中的索引值</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默认值：</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0</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value</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郁金香</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设置默认选中项的值，优先级低于</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selected,</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默认值：第一个元素值</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0" u="none" strike="noStrike" kern="1200" cap="none" spc="0" normalizeH="0" baseline="0" noProof="0">
                  <a:ln>
                    <a:noFill/>
                  </a:ln>
                  <a:solidFill>
                    <a:srgbClr val="E986CD"/>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width</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FF9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300</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height</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FF9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200</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backgroundColor</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'#ffe7ceee'</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defaultPickerItemHeight</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FF9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30</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Text</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Picker</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各选择项的高度</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onChange</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滑动选中</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TextPicker</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文本内容后，触发该回调</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value</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a:t>
              </a:r>
              <a:r>
                <a:rPr kumimoji="0" lang="zh-CN" altLang="en-US"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string[]</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当前选中项的文本</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 | number[] </a:t>
              </a: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当前选中项的索引值</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1"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kumimoji="0" lang="en-US" altLang="zh-CN" sz="2135" b="0" i="0" u="none" strike="noStrike" kern="1200" cap="none" spc="0" normalizeH="0" baseline="0" noProof="0">
                  <a:ln>
                    <a:noFill/>
                  </a:ln>
                  <a:solidFill>
                    <a:srgbClr val="E986CD"/>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lvl="0" indent="0" algn="l" defTabSz="914400" rtl="0" eaLnBrk="1" fontAlgn="auto" latinLnBrk="0" hangingPunct="1">
                <a:lnSpc>
                  <a:spcPts val="1100"/>
                </a:lnSpc>
                <a:spcBef>
                  <a:spcPts val="600"/>
                </a:spcBef>
                <a:spcAft>
                  <a:spcPts val="600"/>
                </a:spcAft>
                <a:buClrTx/>
                <a:buSzTx/>
                <a:buFontTx/>
                <a:buNone/>
                <a:tabLst>
                  <a:tab pos="180340" algn="l"/>
                  <a:tab pos="408940" algn="l"/>
                </a:tabLst>
                <a:defRPr/>
              </a:pPr>
              <a:r>
                <a:rPr kumimoji="0" lang="en-US" altLang="zh-CN" sz="2135" b="0" i="0" u="none" strike="noStrike" kern="1200" cap="none" spc="0" normalizeH="0" baseline="0" noProof="0">
                  <a:ln>
                    <a:noFill/>
                  </a:ln>
                  <a:solidFill>
                    <a:srgbClr val="E986CD"/>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console</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info</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zh-CN"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您选中的文本是</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value: '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value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653170"/>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index: ' </a:t>
              </a:r>
              <a:r>
                <a:rPr kumimoji="0" lang="en-US" altLang="zh-CN" sz="2135" b="0" i="0" u="none" strike="noStrike" kern="1200" cap="none" spc="0" normalizeH="0" baseline="0" noProof="0">
                  <a:ln>
                    <a:noFill/>
                  </a:ln>
                  <a:solidFill>
                    <a:srgbClr val="859801"/>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en-US" altLang="zh-CN" sz="2135" b="0" i="0" u="none" strike="noStrike" kern="1200" cap="none" spc="0" normalizeH="0" baseline="0" noProof="0">
                  <a:ln>
                    <a:noFill/>
                  </a:ln>
                  <a:solidFill>
                    <a:srgbClr val="080808"/>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kumimoji="0" lang="en-US" altLang="zh-CN" sz="2135" b="0" i="0" u="none" strike="noStrike" kern="12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sym typeface="思源黑体" panose="020B0400000000000000" pitchFamily="34" charset="-122"/>
                </a:rPr>
                <a:t>  </a:t>
              </a:r>
              <a:r>
                <a:rPr kumimoji="0" lang="en-US" altLang="zh-CN" sz="2135" b="0" i="0" u="none" strike="noStrike" kern="100" cap="none" spc="0" normalizeH="0" baseline="0" noProof="0">
                  <a:ln>
                    <a:noFill/>
                  </a:ln>
                  <a:solidFill>
                    <a:srgbClr val="E986CD"/>
                  </a:solidFill>
                  <a:effectLst/>
                  <a:uLnTx/>
                  <a:uFillTx/>
                  <a:latin typeface="思源黑体" panose="020B0400000000000000" pitchFamily="34" charset="-122"/>
                  <a:ea typeface="思源黑体" panose="020B0400000000000000" pitchFamily="34" charset="-122"/>
                  <a:sym typeface="思源黑体" panose="020B0400000000000000" pitchFamily="34" charset="-122"/>
                </a:rPr>
                <a:t>}</a:t>
              </a:r>
              <a:r>
                <a:rPr kumimoji="0" lang="en-US" altLang="zh-CN" sz="2135" b="0" i="0" u="none" strike="noStrike" kern="100" cap="none" spc="0" normalizeH="0" baseline="0" noProof="0">
                  <a:ln>
                    <a:noFill/>
                  </a:ln>
                  <a:solidFill>
                    <a:srgbClr val="6C71C4"/>
                  </a:solidFill>
                  <a:effectLst/>
                  <a:uLnTx/>
                  <a:uFillTx/>
                  <a:latin typeface="思源黑体" panose="020B0400000000000000" pitchFamily="34" charset="-122"/>
                  <a:ea typeface="思源黑体" panose="020B0400000000000000" pitchFamily="34" charset="-122"/>
                  <a:sym typeface="思源黑体" panose="020B0400000000000000" pitchFamily="34" charset="-122"/>
                </a:rPr>
                <a:t>)</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8"/>
                                        </p:tgtEl>
                                        <p:attrNameLst>
                                          <p:attrName>style.visibility</p:attrName>
                                        </p:attrNameLst>
                                      </p:cBhvr>
                                      <p:to>
                                        <p:strVal val="visible"/>
                                      </p:to>
                                    </p:set>
                                    <p:animEffect transition="in" filter="wedge">
                                      <p:cBhvr>
                                        <p:cTn id="11"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21" name="矩形 20"/>
          <p:cNvSpPr/>
          <p:nvPr/>
        </p:nvSpPr>
        <p:spPr>
          <a:xfrm>
            <a:off x="6962705" y="3737364"/>
            <a:ext cx="44398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日期选择器</a:t>
            </a:r>
            <a:r>
              <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DatePicker</a:t>
            </a: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日期选择器</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DatePicker</a:t>
            </a:r>
          </a:p>
        </p:txBody>
      </p:sp>
      <p:grpSp>
        <p:nvGrpSpPr>
          <p:cNvPr id="12" name="组合 11"/>
          <p:cNvGrpSpPr/>
          <p:nvPr/>
        </p:nvGrpSpPr>
        <p:grpSpPr>
          <a:xfrm>
            <a:off x="966021" y="1231468"/>
            <a:ext cx="8898927" cy="1286732"/>
            <a:chOff x="361420" y="247876"/>
            <a:chExt cx="7774007" cy="965200"/>
          </a:xfrm>
        </p:grpSpPr>
        <p:sp>
          <p:nvSpPr>
            <p:cNvPr id="6" name="文本框 5"/>
            <p:cNvSpPr txBox="1"/>
            <p:nvPr/>
          </p:nvSpPr>
          <p:spPr>
            <a:xfrm>
              <a:off x="586350" y="415934"/>
              <a:ext cx="7446548" cy="661138"/>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日期选择器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DatePicker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是选择年月日的滑动选择器组件，默认以 </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1970-1-1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至 </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2100-12-31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的日期区间创建滑动选择器。</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20" y="247876"/>
              <a:ext cx="7774007" cy="96520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5" name="图片 4"/>
          <p:cNvPicPr>
            <a:picLocks noChangeAspect="1"/>
          </p:cNvPicPr>
          <p:nvPr/>
        </p:nvPicPr>
        <p:blipFill>
          <a:blip r:embed="rId4"/>
          <a:stretch>
            <a:fillRect/>
          </a:stretch>
        </p:blipFill>
        <p:spPr>
          <a:xfrm>
            <a:off x="854485" y="3158039"/>
            <a:ext cx="9519155" cy="1820755"/>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5"/>
                                        </p:tgtEl>
                                        <p:attrNameLst>
                                          <p:attrName>style.visibility</p:attrName>
                                        </p:attrNameLst>
                                      </p:cBhvr>
                                      <p:to>
                                        <p:strVal val="visible"/>
                                      </p:to>
                                    </p:set>
                                    <p:animEffect transition="in" filter="wedg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日期选择器</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DatePicker</a:t>
            </a:r>
          </a:p>
        </p:txBody>
      </p:sp>
      <p:grpSp>
        <p:nvGrpSpPr>
          <p:cNvPr id="2" name="组合 1"/>
          <p:cNvGrpSpPr/>
          <p:nvPr/>
        </p:nvGrpSpPr>
        <p:grpSpPr>
          <a:xfrm>
            <a:off x="336601" y="960573"/>
            <a:ext cx="12122495" cy="5732984"/>
            <a:chOff x="252490" y="719664"/>
            <a:chExt cx="9093292" cy="4300410"/>
          </a:xfrm>
        </p:grpSpPr>
        <p:grpSp>
          <p:nvGrpSpPr>
            <p:cNvPr id="5" name="组合 4"/>
            <p:cNvGrpSpPr/>
            <p:nvPr/>
          </p:nvGrpSpPr>
          <p:grpSpPr>
            <a:xfrm>
              <a:off x="252490" y="719664"/>
              <a:ext cx="8639019" cy="4300410"/>
              <a:chOff x="707346" y="1319069"/>
              <a:chExt cx="8137419" cy="3831254"/>
            </a:xfrm>
          </p:grpSpPr>
          <p:sp>
            <p:nvSpPr>
              <p:cNvPr id="7" name="文本框 6"/>
              <p:cNvSpPr txBox="1"/>
              <p:nvPr/>
            </p:nvSpPr>
            <p:spPr>
              <a:xfrm>
                <a:off x="741410" y="1788054"/>
                <a:ext cx="4955128" cy="324211"/>
              </a:xfrm>
              <a:prstGeom prst="rect">
                <a:avLst/>
              </a:prstGeom>
              <a:noFill/>
            </p:spPr>
            <p:txBody>
              <a:bodyPr wrap="square" lIns="91397" tIns="45699" rIns="91397" bIns="45699" rtlCol="0">
                <a:spAutoFit/>
              </a:bodyPr>
              <a:lstStyle/>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0" name="组合 9"/>
              <p:cNvGrpSpPr/>
              <p:nvPr/>
            </p:nvGrpSpPr>
            <p:grpSpPr>
              <a:xfrm>
                <a:off x="707346" y="1319069"/>
                <a:ext cx="8137419" cy="3831254"/>
                <a:chOff x="893118" y="1720973"/>
                <a:chExt cx="8137419" cy="3831254"/>
              </a:xfrm>
            </p:grpSpPr>
            <p:sp>
              <p:nvSpPr>
                <p:cNvPr id="13" name="圆角矩形 3"/>
                <p:cNvSpPr/>
                <p:nvPr/>
              </p:nvSpPr>
              <p:spPr>
                <a:xfrm>
                  <a:off x="927182" y="1746877"/>
                  <a:ext cx="2227580" cy="344024"/>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圆角矩形 54"/>
                <p:cNvSpPr/>
                <p:nvPr/>
              </p:nvSpPr>
              <p:spPr>
                <a:xfrm>
                  <a:off x="893118" y="1918888"/>
                  <a:ext cx="8137419" cy="363333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5" name="Text2"/>
                <p:cNvSpPr txBox="1"/>
                <p:nvPr/>
              </p:nvSpPr>
              <p:spPr>
                <a:xfrm>
                  <a:off x="1164945" y="1720973"/>
                  <a:ext cx="1989817" cy="31051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示例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
          <p:nvSpPr>
            <p:cNvPr id="17" name="文本框 16"/>
            <p:cNvSpPr txBox="1"/>
            <p:nvPr/>
          </p:nvSpPr>
          <p:spPr>
            <a:xfrm>
              <a:off x="353381" y="1246076"/>
              <a:ext cx="8992401" cy="2800311"/>
            </a:xfrm>
            <a:prstGeom prst="rect">
              <a:avLst/>
            </a:prstGeom>
            <a:noFill/>
          </p:spPr>
          <p:txBody>
            <a:bodyPr wrap="square">
              <a:spAutoFit/>
            </a:bodyPr>
            <a:lstStyle/>
            <a:p>
              <a:pPr marL="408940" marR="63500">
                <a:lnSpc>
                  <a:spcPts val="1600"/>
                </a:lnSpc>
                <a:spcBef>
                  <a:spcPts val="600"/>
                </a:spcBef>
                <a:spcAft>
                  <a:spcPts val="600"/>
                </a:spcAft>
                <a:tabLst>
                  <a:tab pos="180340" algn="l"/>
                  <a:tab pos="408940" algn="l"/>
                </a:tabLst>
              </a:pP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DatePicker</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start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b="1">
                  <a:solidFill>
                    <a:srgbClr val="859801"/>
                  </a:solidFill>
                  <a:effectLst/>
                  <a:latin typeface="Consolas" panose="020B0609020204030204" pitchFamily="49" charset="0"/>
                  <a:ea typeface="宋体" panose="02010600030101010101" pitchFamily="2" charset="-122"/>
                  <a:cs typeface="宋体" panose="02010600030101010101" pitchFamily="2" charset="-122"/>
                </a:rPr>
                <a:t>new </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"2020-1-1"</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end</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b="1">
                  <a:solidFill>
                    <a:srgbClr val="859801"/>
                  </a:solidFill>
                  <a:effectLst/>
                  <a:latin typeface="Consolas" panose="020B0609020204030204" pitchFamily="49" charset="0"/>
                  <a:ea typeface="宋体" panose="02010600030101010101" pitchFamily="2" charset="-122"/>
                  <a:cs typeface="宋体" panose="02010600030101010101" pitchFamily="2" charset="-122"/>
                </a:rPr>
                <a:t>new </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"2040-1-1"</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selected</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b="1">
                  <a:solidFill>
                    <a:srgbClr val="859801"/>
                  </a:solidFill>
                  <a:effectLst/>
                  <a:latin typeface="Consolas" panose="020B0609020204030204" pitchFamily="49" charset="0"/>
                  <a:ea typeface="宋体" panose="02010600030101010101" pitchFamily="2" charset="-122"/>
                  <a:cs typeface="宋体" panose="02010600030101010101" pitchFamily="2" charset="-122"/>
                </a:rPr>
                <a:t>new </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lunar</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b="1">
                  <a:solidFill>
                    <a:srgbClr val="859801"/>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width</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FF9170"/>
                  </a:solidFill>
                  <a:effectLst/>
                  <a:latin typeface="Consolas" panose="020B0609020204030204" pitchFamily="49" charset="0"/>
                  <a:ea typeface="宋体" panose="02010600030101010101" pitchFamily="2" charset="-122"/>
                  <a:cs typeface="宋体" panose="02010600030101010101" pitchFamily="2" charset="-122"/>
                </a:rPr>
                <a:t>300</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height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FF9170"/>
                  </a:solidFill>
                  <a:effectLst/>
                  <a:latin typeface="Consolas" panose="020B0609020204030204" pitchFamily="49" charset="0"/>
                  <a:ea typeface="宋体" panose="02010600030101010101" pitchFamily="2" charset="-122"/>
                  <a:cs typeface="宋体" panose="02010600030101010101" pitchFamily="2" charset="-122"/>
                </a:rPr>
                <a:t>200</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backgroundColor</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'#ffe7ceee'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onDateChange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0080"/>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=&gt;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console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log</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您选择的是</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getFullYear</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年</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getMonth</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FF9170"/>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月</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rPr>
                <a:t>getDate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日</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3200">
                <a:solidFill>
                  <a:srgbClr val="5C5C5C"/>
                </a:solidFill>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kern="100">
                  <a:solidFill>
                    <a:srgbClr val="6C71C4"/>
                  </a:solidFill>
                  <a:effectLst/>
                  <a:latin typeface="Times New Roman" panose="02020603050405020304" pitchFamily="18" charset="0"/>
                  <a:ea typeface="宋体" panose="02010600030101010101" pitchFamily="2" charset="-122"/>
                </a:rPr>
                <a:t>  </a:t>
              </a:r>
              <a:r>
                <a:rPr lang="en-US" altLang="zh-CN" kern="100">
                  <a:solidFill>
                    <a:srgbClr val="E986CD"/>
                  </a:solidFill>
                  <a:effectLst/>
                  <a:latin typeface="Times New Roman" panose="02020603050405020304" pitchFamily="18" charset="0"/>
                  <a:ea typeface="宋体" panose="02010600030101010101" pitchFamily="2" charset="-122"/>
                </a:rPr>
                <a:t>}</a:t>
              </a:r>
              <a:r>
                <a:rPr lang="en-US" altLang="zh-CN" kern="100">
                  <a:solidFill>
                    <a:srgbClr val="6C71C4"/>
                  </a:solidFill>
                  <a:effectLst/>
                  <a:latin typeface="Times New Roman" panose="02020603050405020304" pitchFamily="18" charset="0"/>
                  <a:ea typeface="宋体" panose="02010600030101010101" pitchFamily="2" charset="-122"/>
                </a:rPr>
                <a:t>)</a:t>
              </a:r>
              <a:endPar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grpSp>
        <p:nvGrpSpPr>
          <p:cNvPr id="4" name="组合 3"/>
          <p:cNvGrpSpPr/>
          <p:nvPr/>
        </p:nvGrpSpPr>
        <p:grpSpPr>
          <a:xfrm>
            <a:off x="7020592" y="5990046"/>
            <a:ext cx="3717763" cy="683248"/>
            <a:chOff x="602840" y="3657238"/>
            <a:chExt cx="3489785" cy="1456990"/>
          </a:xfrm>
        </p:grpSpPr>
        <p:pic>
          <p:nvPicPr>
            <p:cNvPr id="6" name="图片 5"/>
            <p:cNvPicPr>
              <a:picLocks noChangeAspect="1"/>
            </p:cNvPicPr>
            <p:nvPr/>
          </p:nvPicPr>
          <p:blipFill>
            <a:blip r:embed="rId3"/>
            <a:stretch>
              <a:fillRect/>
            </a:stretch>
          </p:blipFill>
          <p:spPr>
            <a:xfrm>
              <a:off x="2470807" y="3657238"/>
              <a:ext cx="1621818" cy="1456990"/>
            </a:xfrm>
            <a:prstGeom prst="rect">
              <a:avLst/>
            </a:prstGeom>
          </p:spPr>
        </p:pic>
        <p:sp>
          <p:nvSpPr>
            <p:cNvPr id="8"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25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2"/>
                                        </p:tgtEl>
                                        <p:attrNameLst>
                                          <p:attrName>style.visibility</p:attrName>
                                        </p:attrNameLst>
                                      </p:cBhvr>
                                      <p:to>
                                        <p:strVal val="visible"/>
                                      </p:to>
                                    </p:set>
                                    <p:animEffect transition="in" filter="wedge">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4"/>
                                        </p:tgtEl>
                                        <p:attrNameLst>
                                          <p:attrName>style.visibility</p:attrName>
                                        </p:attrNameLst>
                                      </p:cBhvr>
                                      <p:to>
                                        <p:strVal val="visible"/>
                                      </p:to>
                                    </p:set>
                                    <p:animEffect transition="in" filter="wedg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03</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21" name="矩形 20"/>
          <p:cNvSpPr/>
          <p:nvPr/>
        </p:nvSpPr>
        <p:spPr>
          <a:xfrm>
            <a:off x="6962705" y="3737364"/>
            <a:ext cx="5046795"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时间选择器</a:t>
            </a:r>
            <a:r>
              <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TimePicker</a:t>
            </a: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时间选择器</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TimePicker</a:t>
            </a:r>
          </a:p>
        </p:txBody>
      </p:sp>
      <p:grpSp>
        <p:nvGrpSpPr>
          <p:cNvPr id="12" name="组合 11"/>
          <p:cNvGrpSpPr/>
          <p:nvPr/>
        </p:nvGrpSpPr>
        <p:grpSpPr>
          <a:xfrm>
            <a:off x="966021" y="1848654"/>
            <a:ext cx="8880734" cy="643325"/>
            <a:chOff x="361420" y="710838"/>
            <a:chExt cx="7758114" cy="482569"/>
          </a:xfrm>
        </p:grpSpPr>
        <p:sp>
          <p:nvSpPr>
            <p:cNvPr id="6" name="文本框 5"/>
            <p:cNvSpPr txBox="1"/>
            <p:nvPr/>
          </p:nvSpPr>
          <p:spPr>
            <a:xfrm>
              <a:off x="512119" y="769606"/>
              <a:ext cx="7446548" cy="364865"/>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时间选择器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TimePicker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是选择时和分的滑动选择器组件。</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20" y="710838"/>
              <a:ext cx="7758114" cy="48256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5" name="图片 4"/>
          <p:cNvPicPr>
            <a:picLocks noChangeAspect="1"/>
          </p:cNvPicPr>
          <p:nvPr/>
        </p:nvPicPr>
        <p:blipFill>
          <a:blip r:embed="rId4"/>
          <a:stretch>
            <a:fillRect/>
          </a:stretch>
        </p:blipFill>
        <p:spPr>
          <a:xfrm>
            <a:off x="712442" y="3243469"/>
            <a:ext cx="9430190" cy="1577581"/>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5"/>
                                        </p:tgtEl>
                                        <p:attrNameLst>
                                          <p:attrName>style.visibility</p:attrName>
                                        </p:attrNameLst>
                                      </p:cBhvr>
                                      <p:to>
                                        <p:strVal val="visible"/>
                                      </p:to>
                                    </p:set>
                                    <p:animEffect transition="in" filter="wedg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时间选择器</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TimePicker</a:t>
            </a:r>
          </a:p>
        </p:txBody>
      </p:sp>
      <p:grpSp>
        <p:nvGrpSpPr>
          <p:cNvPr id="2" name="组合 1"/>
          <p:cNvGrpSpPr/>
          <p:nvPr/>
        </p:nvGrpSpPr>
        <p:grpSpPr>
          <a:xfrm>
            <a:off x="101050" y="960573"/>
            <a:ext cx="11987995" cy="5617710"/>
            <a:chOff x="75799" y="719664"/>
            <a:chExt cx="8992401" cy="4213941"/>
          </a:xfrm>
        </p:grpSpPr>
        <p:grpSp>
          <p:nvGrpSpPr>
            <p:cNvPr id="5" name="组合 4"/>
            <p:cNvGrpSpPr/>
            <p:nvPr/>
          </p:nvGrpSpPr>
          <p:grpSpPr>
            <a:xfrm>
              <a:off x="184198" y="719664"/>
              <a:ext cx="8671148" cy="4213941"/>
              <a:chOff x="643019" y="1319069"/>
              <a:chExt cx="8167682" cy="3754218"/>
            </a:xfrm>
          </p:grpSpPr>
          <p:sp>
            <p:nvSpPr>
              <p:cNvPr id="7" name="文本框 6"/>
              <p:cNvSpPr txBox="1"/>
              <p:nvPr/>
            </p:nvSpPr>
            <p:spPr>
              <a:xfrm>
                <a:off x="741410" y="1788054"/>
                <a:ext cx="4955128" cy="324211"/>
              </a:xfrm>
              <a:prstGeom prst="rect">
                <a:avLst/>
              </a:prstGeom>
              <a:noFill/>
            </p:spPr>
            <p:txBody>
              <a:bodyPr wrap="square" lIns="91397" tIns="45699" rIns="91397" bIns="45699" rtlCol="0">
                <a:spAutoFit/>
              </a:bodyPr>
              <a:lstStyle/>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0" name="组合 9"/>
              <p:cNvGrpSpPr/>
              <p:nvPr/>
            </p:nvGrpSpPr>
            <p:grpSpPr>
              <a:xfrm>
                <a:off x="643019" y="1319069"/>
                <a:ext cx="8167682" cy="3754218"/>
                <a:chOff x="828791" y="1720973"/>
                <a:chExt cx="8167682" cy="3754218"/>
              </a:xfrm>
            </p:grpSpPr>
            <p:sp>
              <p:nvSpPr>
                <p:cNvPr id="13" name="圆角矩形 3"/>
                <p:cNvSpPr/>
                <p:nvPr/>
              </p:nvSpPr>
              <p:spPr>
                <a:xfrm>
                  <a:off x="927182" y="1746877"/>
                  <a:ext cx="2227580" cy="344024"/>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圆角矩形 54"/>
                <p:cNvSpPr/>
                <p:nvPr/>
              </p:nvSpPr>
              <p:spPr>
                <a:xfrm>
                  <a:off x="828791" y="1905347"/>
                  <a:ext cx="8167682" cy="356984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5" name="Text2"/>
                <p:cNvSpPr txBox="1"/>
                <p:nvPr/>
              </p:nvSpPr>
              <p:spPr>
                <a:xfrm>
                  <a:off x="1164945" y="1720973"/>
                  <a:ext cx="1989817" cy="31051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示例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
          <p:nvSpPr>
            <p:cNvPr id="17" name="文本框 16"/>
            <p:cNvSpPr txBox="1"/>
            <p:nvPr/>
          </p:nvSpPr>
          <p:spPr>
            <a:xfrm>
              <a:off x="75799" y="1582209"/>
              <a:ext cx="8992401" cy="2261588"/>
            </a:xfrm>
            <a:prstGeom prst="rect">
              <a:avLst/>
            </a:prstGeom>
            <a:noFill/>
          </p:spPr>
          <p:txBody>
            <a:bodyPr wrap="square">
              <a:spAutoFit/>
            </a:bodyPr>
            <a:lstStyle/>
            <a:p>
              <a:pPr marL="408940" marR="63500">
                <a:lnSpc>
                  <a:spcPts val="1600"/>
                </a:lnSpc>
                <a:spcBef>
                  <a:spcPts val="600"/>
                </a:spcBef>
                <a:spcAft>
                  <a:spcPts val="600"/>
                </a:spcAft>
                <a:tabLst>
                  <a:tab pos="180340" algn="l"/>
                  <a:tab pos="408940" algn="l"/>
                </a:tabLst>
              </a:pP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TimePicker</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selected</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b="1">
                  <a:solidFill>
                    <a:srgbClr val="859801"/>
                  </a:solidFill>
                  <a:effectLst/>
                  <a:latin typeface="Consolas" panose="020B0609020204030204" pitchFamily="49" charset="0"/>
                  <a:ea typeface="宋体" panose="02010600030101010101" pitchFamily="2" charset="-122"/>
                  <a:cs typeface="宋体" panose="02010600030101010101" pitchFamily="2" charset="-122"/>
                </a:rPr>
                <a:t>new </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Date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设置选择器的默认选中时间，设置默认当前时间</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width</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FF9170"/>
                  </a:solidFill>
                  <a:effectLst/>
                  <a:latin typeface="Consolas" panose="020B0609020204030204" pitchFamily="49" charset="0"/>
                  <a:ea typeface="宋体" panose="02010600030101010101" pitchFamily="2" charset="-122"/>
                  <a:cs typeface="宋体" panose="02010600030101010101" pitchFamily="2" charset="-122"/>
                </a:rPr>
                <a:t>300</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height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FF9170"/>
                  </a:solidFill>
                  <a:effectLst/>
                  <a:latin typeface="Consolas" panose="020B0609020204030204" pitchFamily="49" charset="0"/>
                  <a:ea typeface="宋体" panose="02010600030101010101" pitchFamily="2" charset="-122"/>
                  <a:cs typeface="宋体" panose="02010600030101010101" pitchFamily="2" charset="-122"/>
                </a:rPr>
                <a:t>200</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backgroundColor</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'#ffe7ceee'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useMilitaryTime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b="1">
                  <a:solidFill>
                    <a:srgbClr val="859801"/>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展示时间是否为</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 24</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小时制，默认值为</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false</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onChange</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time:TimePickerResult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=&gt; </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选择器的事件回调，当时间变化时会触发该回调</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console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00A99E"/>
                  </a:solidFill>
                  <a:effectLst/>
                  <a:latin typeface="Consolas" panose="020B0609020204030204" pitchFamily="49" charset="0"/>
                  <a:ea typeface="宋体" panose="02010600030101010101" pitchFamily="2" charset="-122"/>
                  <a:cs typeface="宋体" panose="02010600030101010101" pitchFamily="2" charset="-122"/>
                </a:rPr>
                <a:t>log</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您选择的是</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time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hour</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time</a:t>
              </a:r>
              <a:r>
                <a:rPr lang="en-US" altLang="zh-CN">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11408E"/>
                  </a:solidFill>
                  <a:effectLst/>
                  <a:latin typeface="Consolas" panose="020B0609020204030204" pitchFamily="49" charset="0"/>
                  <a:ea typeface="宋体" panose="02010600030101010101" pitchFamily="2" charset="-122"/>
                  <a:cs typeface="宋体" panose="02010600030101010101" pitchFamily="2" charset="-122"/>
                </a:rPr>
                <a:t>minute</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600"/>
                </a:lnSpc>
                <a:spcBef>
                  <a:spcPts val="600"/>
                </a:spcBef>
                <a:spcAft>
                  <a:spcPts val="600"/>
                </a:spcAft>
                <a:tabLst>
                  <a:tab pos="180340" algn="l"/>
                  <a:tab pos="408940" algn="l"/>
                </a:tabLst>
              </a:pP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p:txBody>
        </p:sp>
      </p:grpSp>
      <p:grpSp>
        <p:nvGrpSpPr>
          <p:cNvPr id="4" name="组合 3"/>
          <p:cNvGrpSpPr/>
          <p:nvPr/>
        </p:nvGrpSpPr>
        <p:grpSpPr>
          <a:xfrm>
            <a:off x="6625542" y="5791569"/>
            <a:ext cx="4203110" cy="786714"/>
            <a:chOff x="602840" y="3657238"/>
            <a:chExt cx="3489785" cy="1456990"/>
          </a:xfrm>
        </p:grpSpPr>
        <p:pic>
          <p:nvPicPr>
            <p:cNvPr id="6" name="图片 5"/>
            <p:cNvPicPr>
              <a:picLocks noChangeAspect="1"/>
            </p:cNvPicPr>
            <p:nvPr/>
          </p:nvPicPr>
          <p:blipFill>
            <a:blip r:embed="rId3"/>
            <a:stretch>
              <a:fillRect/>
            </a:stretch>
          </p:blipFill>
          <p:spPr>
            <a:xfrm>
              <a:off x="2470807" y="3657238"/>
              <a:ext cx="1621818" cy="1456990"/>
            </a:xfrm>
            <a:prstGeom prst="rect">
              <a:avLst/>
            </a:prstGeom>
          </p:spPr>
        </p:pic>
        <p:sp>
          <p:nvSpPr>
            <p:cNvPr id="8"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250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2"/>
                                        </p:tgtEl>
                                        <p:attrNameLst>
                                          <p:attrName>style.visibility</p:attrName>
                                        </p:attrNameLst>
                                      </p:cBhvr>
                                      <p:to>
                                        <p:strVal val="visible"/>
                                      </p:to>
                                    </p:set>
                                    <p:animEffect transition="in" filter="wedge">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4"/>
                                        </p:tgtEl>
                                        <p:attrNameLst>
                                          <p:attrName>style.visibility</p:attrName>
                                        </p:attrNameLst>
                                      </p:cBhvr>
                                      <p:to>
                                        <p:strVal val="visible"/>
                                      </p:to>
                                    </p:set>
                                    <p:animEffect transition="in" filter="wedg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特殊组件：选择器组件</a:t>
            </a:r>
          </a:p>
        </p:txBody>
      </p:sp>
      <p:sp>
        <p:nvSpPr>
          <p:cNvPr id="5" name="矩形 6"/>
          <p:cNvSpPr>
            <a:spLocks noChangeArrowheads="1"/>
          </p:cNvSpPr>
          <p:nvPr/>
        </p:nvSpPr>
        <p:spPr bwMode="auto">
          <a:xfrm>
            <a:off x="982638" y="1197546"/>
            <a:ext cx="9001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TimePicker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时间选择器：</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20090">
              <a:spcBef>
                <a:spcPts val="2400"/>
              </a:spcBef>
            </a:pPr>
            <a:r>
              <a:rPr lang="en-US" altLang="zh-CN" sz="18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useMilitaryTime</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：展示实践是否为</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24</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小时制，默认</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，即时间区间为</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小时</a:t>
            </a:r>
            <a:endPar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20090">
              <a:spcBef>
                <a:spcPts val="2400"/>
              </a:spcBef>
            </a:pPr>
            <a:r>
              <a:rPr lang="en-US" altLang="zh-CN" sz="18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onChange</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：选择器的事件回调，当时间变化会触发该回调</a:t>
            </a:r>
            <a:endPar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1"/>
          <p:cNvSpPr>
            <a:spLocks noChangeArrowheads="1"/>
          </p:cNvSpPr>
          <p:nvPr/>
        </p:nvSpPr>
        <p:spPr bwMode="auto">
          <a:xfrm>
            <a:off x="838622" y="3429794"/>
            <a:ext cx="6264696" cy="2800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@Entry</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@Component</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1" i="0" u="none" strike="noStrike" cap="none" normalizeH="0" baseline="0" dirty="0">
                <a:ln>
                  <a:noFill/>
                </a:ln>
                <a:solidFill>
                  <a:srgbClr val="859801"/>
                </a:solidFill>
                <a:effectLst/>
                <a:latin typeface="Arial Unicode MS" panose="020B0604020202020204" charset="-122"/>
                <a:ea typeface="JetBrains Mono"/>
              </a:rPr>
              <a:t>struct </a:t>
            </a:r>
            <a:r>
              <a:rPr kumimoji="0" lang="zh-CN" altLang="zh-CN" sz="1600" b="0" i="0" u="none" strike="noStrike" cap="none" normalizeH="0" baseline="0" dirty="0">
                <a:ln>
                  <a:noFill/>
                </a:ln>
                <a:solidFill>
                  <a:srgbClr val="507874"/>
                </a:solidFill>
                <a:effectLst/>
                <a:latin typeface="Arial Unicode MS" panose="020B0604020202020204" charset="-122"/>
                <a:ea typeface="JetBrains Mono"/>
              </a:rPr>
              <a:t>Index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build</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Column</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TimePicker</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selected:this.selectedTime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useMilitaryTime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this.isMilitaryTime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onChange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value:TimePickerResult</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=&gt;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this.selectedTime.setHours</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value.hour</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value.minute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console.info('select current date is: ' +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JSON.stringify</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(value))</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2"/>
          <a:stretch>
            <a:fillRect/>
          </a:stretch>
        </p:blipFill>
        <p:spPr>
          <a:xfrm>
            <a:off x="7895406" y="2681247"/>
            <a:ext cx="3810532" cy="371526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特殊组件：选择器组件</a:t>
            </a:r>
          </a:p>
        </p:txBody>
      </p:sp>
      <p:sp>
        <p:nvSpPr>
          <p:cNvPr id="2" name="矩形 6"/>
          <p:cNvSpPr>
            <a:spLocks noChangeArrowheads="1"/>
          </p:cNvSpPr>
          <p:nvPr/>
        </p:nvSpPr>
        <p:spPr bwMode="auto">
          <a:xfrm>
            <a:off x="982638" y="1197546"/>
            <a:ext cx="885698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DatePicker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构造函数。</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start: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设置选择器的开始时间。</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end:</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设置选择器的结束时间。</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selected:</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设置选中项的日期，默认当前系统日期。</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6"/>
          <p:cNvSpPr>
            <a:spLocks noChangeArrowheads="1"/>
          </p:cNvSpPr>
          <p:nvPr/>
        </p:nvSpPr>
        <p:spPr bwMode="auto">
          <a:xfrm>
            <a:off x="982638" y="3645818"/>
            <a:ext cx="885698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DatePicker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lunar: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日期是否以农历的形式显式，默认值为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矩形 6"/>
          <p:cNvSpPr>
            <a:spLocks noChangeArrowheads="1"/>
          </p:cNvSpPr>
          <p:nvPr/>
        </p:nvSpPr>
        <p:spPr bwMode="auto">
          <a:xfrm>
            <a:off x="982638" y="4862984"/>
            <a:ext cx="885698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DatePicker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a:t>
            </a:r>
          </a:p>
          <a:p>
            <a:pPr marL="342900" indent="720090" algn="just">
              <a:spcBef>
                <a:spcPts val="24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onChange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选择器的事件回调，当日期变化时会触发该回调。</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特殊组件：选择器组件</a:t>
            </a:r>
          </a:p>
        </p:txBody>
      </p:sp>
      <p:sp>
        <p:nvSpPr>
          <p:cNvPr id="6" name="Rectangle 1"/>
          <p:cNvSpPr>
            <a:spLocks noChangeArrowheads="1"/>
          </p:cNvSpPr>
          <p:nvPr/>
        </p:nvSpPr>
        <p:spPr bwMode="auto">
          <a:xfrm>
            <a:off x="1162659" y="1044526"/>
            <a:ext cx="6264696" cy="47705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@Entry</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@Component</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1" i="0" u="none" strike="noStrike" cap="none" normalizeH="0" baseline="0" dirty="0">
                <a:ln>
                  <a:noFill/>
                </a:ln>
                <a:solidFill>
                  <a:srgbClr val="859801"/>
                </a:solidFill>
                <a:effectLst/>
                <a:latin typeface="Arial Unicode MS" panose="020B0604020202020204" charset="-122"/>
                <a:ea typeface="JetBrains Mono"/>
              </a:rPr>
              <a:t>struct </a:t>
            </a:r>
            <a:r>
              <a:rPr kumimoji="0" lang="zh-CN" altLang="zh-CN" sz="1600" b="0" i="0" u="none" strike="noStrike" cap="none" normalizeH="0" baseline="0" dirty="0">
                <a:ln>
                  <a:noFill/>
                </a:ln>
                <a:solidFill>
                  <a:srgbClr val="507874"/>
                </a:solidFill>
                <a:effectLst/>
                <a:latin typeface="Arial Unicode MS" panose="020B0604020202020204" charset="-122"/>
                <a:ea typeface="JetBrains Mono"/>
              </a:rPr>
              <a:t>Index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build</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Column</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err="1">
                <a:solidFill>
                  <a:srgbClr val="E986CD"/>
                </a:solidFill>
                <a:latin typeface="Arial Unicode MS" panose="020B0604020202020204" charset="-122"/>
                <a:ea typeface="JetBrains Mono"/>
              </a:rPr>
              <a:t>DatePicker</a:t>
            </a:r>
            <a:r>
              <a:rPr lang="en-US" altLang="zh-CN" sz="1600" dirty="0">
                <a:solidFill>
                  <a:srgbClr val="E986CD"/>
                </a:solidFill>
                <a:latin typeface="Arial Unicode MS" panose="020B0604020202020204" charset="-122"/>
                <a:ea typeface="JetBrains Mono"/>
              </a:rPr>
              <a:t>({</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r>
              <a:rPr lang="en-US" altLang="zh-CN" sz="1600" dirty="0" err="1">
                <a:solidFill>
                  <a:srgbClr val="E986CD"/>
                </a:solidFill>
                <a:latin typeface="Arial Unicode MS" panose="020B0604020202020204" charset="-122"/>
                <a:ea typeface="JetBrains Mono"/>
              </a:rPr>
              <a:t>start:new</a:t>
            </a:r>
            <a:r>
              <a:rPr lang="en-US" altLang="zh-CN" sz="1600" dirty="0">
                <a:solidFill>
                  <a:srgbClr val="E986CD"/>
                </a:solidFill>
                <a:latin typeface="Arial Unicode MS" panose="020B0604020202020204" charset="-122"/>
                <a:ea typeface="JetBrains Mono"/>
              </a:rPr>
              <a:t> Date('2000-1-1'),</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end: new Date('2030-1-1'),</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selected: new Date()</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.lunar(</a:t>
            </a:r>
            <a:r>
              <a:rPr lang="en-US" altLang="zh-CN" sz="1600" dirty="0" err="1">
                <a:solidFill>
                  <a:srgbClr val="E986CD"/>
                </a:solidFill>
                <a:latin typeface="Arial Unicode MS" panose="020B0604020202020204" charset="-122"/>
                <a:ea typeface="JetBrains Mono"/>
              </a:rPr>
              <a:t>this.flag</a:t>
            </a:r>
            <a:r>
              <a:rPr lang="en-US" altLang="zh-CN" sz="1600" dirty="0">
                <a:solidFill>
                  <a:srgbClr val="E986CD"/>
                </a:solidFill>
                <a:latin typeface="Arial Unicode MS" panose="020B0604020202020204" charset="-122"/>
                <a:ea typeface="JetBrains Mono"/>
              </a:rPr>
              <a:t>)</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.width(200)</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.height(120)</a:t>
            </a:r>
          </a:p>
          <a:p>
            <a:pPr marL="0" marR="0" lvl="0" indent="0" algn="l" defTabSz="914400" rtl="0" eaLnBrk="0" fontAlgn="base" latinLnBrk="0" hangingPunct="0">
              <a:lnSpc>
                <a:spcPct val="100000"/>
              </a:lnSpc>
              <a:spcBef>
                <a:spcPct val="0"/>
              </a:spcBef>
              <a:spcAft>
                <a:spcPct val="0"/>
              </a:spcAft>
              <a:buClrTx/>
              <a:buSzTx/>
              <a:buFontTx/>
              <a:buNone/>
            </a:pP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Button(</a:t>
            </a:r>
            <a:r>
              <a:rPr lang="en-US" altLang="zh-CN" sz="1600" dirty="0" err="1">
                <a:solidFill>
                  <a:srgbClr val="E986CD"/>
                </a:solidFill>
                <a:latin typeface="Arial Unicode MS" panose="020B0604020202020204" charset="-122"/>
                <a:ea typeface="JetBrains Mono"/>
              </a:rPr>
              <a:t>this.flag</a:t>
            </a:r>
            <a:r>
              <a:rPr lang="en-US" altLang="zh-CN" sz="1600" dirty="0">
                <a:solidFill>
                  <a:srgbClr val="E986CD"/>
                </a:solidFill>
                <a:latin typeface="Arial Unicode MS" panose="020B0604020202020204" charset="-122"/>
                <a:ea typeface="JetBrains Mono"/>
              </a:rPr>
              <a:t>?"</a:t>
            </a:r>
            <a:r>
              <a:rPr lang="zh-CN" altLang="en-US" sz="1600" dirty="0">
                <a:solidFill>
                  <a:srgbClr val="E986CD"/>
                </a:solidFill>
                <a:latin typeface="Arial Unicode MS" panose="020B0604020202020204" charset="-122"/>
                <a:ea typeface="JetBrains Mono"/>
              </a:rPr>
              <a:t>切换公历</a:t>
            </a:r>
            <a:r>
              <a:rPr lang="en-US" altLang="zh-CN" sz="1600" dirty="0">
                <a:solidFill>
                  <a:srgbClr val="E986CD"/>
                </a:solidFill>
                <a:latin typeface="Arial Unicode MS" panose="020B0604020202020204" charset="-122"/>
                <a:ea typeface="JetBrains Mono"/>
              </a:rPr>
              <a:t>":"</a:t>
            </a:r>
            <a:r>
              <a:rPr lang="zh-CN" altLang="en-US" sz="1600" dirty="0">
                <a:solidFill>
                  <a:srgbClr val="E986CD"/>
                </a:solidFill>
                <a:latin typeface="Arial Unicode MS" panose="020B0604020202020204" charset="-122"/>
                <a:ea typeface="JetBrains Mono"/>
              </a:rPr>
              <a:t>切换农历</a:t>
            </a:r>
            <a:r>
              <a:rPr lang="en-US" altLang="zh-CN" sz="1600" dirty="0">
                <a:solidFill>
                  <a:srgbClr val="E986CD"/>
                </a:solidFill>
                <a:latin typeface="Arial Unicode MS" panose="020B0604020202020204" charset="-122"/>
                <a:ea typeface="JetBrains Mono"/>
              </a:rPr>
              <a:t>")</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r>
              <a:rPr lang="en-US" altLang="zh-CN" sz="1600" dirty="0" err="1">
                <a:solidFill>
                  <a:srgbClr val="E986CD"/>
                </a:solidFill>
                <a:latin typeface="Arial Unicode MS" panose="020B0604020202020204" charset="-122"/>
                <a:ea typeface="JetBrains Mono"/>
              </a:rPr>
              <a:t>onClick</a:t>
            </a:r>
            <a:r>
              <a:rPr lang="en-US" altLang="zh-CN" sz="1600" dirty="0">
                <a:solidFill>
                  <a:srgbClr val="E986CD"/>
                </a:solidFill>
                <a:latin typeface="Arial Unicode MS" panose="020B0604020202020204" charset="-122"/>
                <a:ea typeface="JetBrains Mono"/>
              </a:rPr>
              <a:t>(() =&gt;{</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r>
              <a:rPr lang="en-US" altLang="zh-CN" sz="1600" dirty="0" err="1">
                <a:solidFill>
                  <a:srgbClr val="E986CD"/>
                </a:solidFill>
                <a:latin typeface="Arial Unicode MS" panose="020B0604020202020204" charset="-122"/>
                <a:ea typeface="JetBrains Mono"/>
              </a:rPr>
              <a:t>this.flag</a:t>
            </a:r>
            <a:r>
              <a:rPr lang="en-US" altLang="zh-CN" sz="1600" dirty="0">
                <a:solidFill>
                  <a:srgbClr val="E986CD"/>
                </a:solidFill>
                <a:latin typeface="Arial Unicode MS" panose="020B0604020202020204" charset="-122"/>
                <a:ea typeface="JetBrains Mono"/>
              </a:rPr>
              <a:t> = !</a:t>
            </a:r>
            <a:r>
              <a:rPr lang="en-US" altLang="zh-CN" sz="1600" dirty="0" err="1">
                <a:solidFill>
                  <a:srgbClr val="E986CD"/>
                </a:solidFill>
                <a:latin typeface="Arial Unicode MS" panose="020B0604020202020204" charset="-122"/>
                <a:ea typeface="JetBrains Mono"/>
              </a:rPr>
              <a:t>this.flag</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3" name="图片 2"/>
          <p:cNvPicPr>
            <a:picLocks noChangeAspect="1"/>
          </p:cNvPicPr>
          <p:nvPr/>
        </p:nvPicPr>
        <p:blipFill>
          <a:blip r:embed="rId3"/>
          <a:stretch>
            <a:fillRect/>
          </a:stretch>
        </p:blipFill>
        <p:spPr>
          <a:xfrm>
            <a:off x="6671270" y="1429851"/>
            <a:ext cx="4104456" cy="39998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特殊组件：二维码组件</a:t>
            </a:r>
          </a:p>
        </p:txBody>
      </p:sp>
      <p:sp>
        <p:nvSpPr>
          <p:cNvPr id="6" name="文本框 5"/>
          <p:cNvSpPr txBox="1"/>
          <p:nvPr/>
        </p:nvSpPr>
        <p:spPr>
          <a:xfrm>
            <a:off x="1226185" y="1463040"/>
            <a:ext cx="8585200" cy="3415030"/>
          </a:xfrm>
          <a:prstGeom prst="rect">
            <a:avLst/>
          </a:prstGeom>
          <a:noFill/>
        </p:spPr>
        <p:txBody>
          <a:bodyPr wrap="square">
            <a:spAutoFit/>
          </a:bodyPr>
          <a:lstStyle/>
          <a:p>
            <a:r>
              <a:rPr lang="en-US" altLang="zh-CN" dirty="0"/>
              <a:t>1.QRCode</a:t>
            </a:r>
            <a:r>
              <a:rPr lang="zh-CN" altLang="en-US" dirty="0"/>
              <a:t>构造参数</a:t>
            </a:r>
            <a:br>
              <a:rPr lang="zh-CN" altLang="en-US" dirty="0"/>
            </a:br>
            <a:endParaRPr lang="zh-CN" altLang="en-US" dirty="0"/>
          </a:p>
          <a:p>
            <a:r>
              <a:rPr lang="en-US" altLang="zh-CN" dirty="0"/>
              <a:t>             value:</a:t>
            </a:r>
            <a:r>
              <a:rPr lang="zh-CN" altLang="en-US" dirty="0"/>
              <a:t>设置将要生成二维码的内容。</a:t>
            </a:r>
            <a:br>
              <a:rPr lang="zh-CN" altLang="en-US" dirty="0"/>
            </a:br>
            <a:endParaRPr lang="zh-CN" altLang="en-US" dirty="0"/>
          </a:p>
          <a:p>
            <a:r>
              <a:rPr lang="en-US" altLang="zh-CN" dirty="0"/>
              <a:t>2.QRCode</a:t>
            </a:r>
            <a:r>
              <a:rPr lang="zh-CN" altLang="en-US" dirty="0"/>
              <a:t>属性</a:t>
            </a:r>
            <a:br>
              <a:rPr lang="zh-CN" altLang="en-US" dirty="0"/>
            </a:br>
            <a:endParaRPr lang="zh-CN" altLang="en-US" dirty="0"/>
          </a:p>
          <a:p>
            <a:r>
              <a:rPr lang="en-US" altLang="zh-CN" dirty="0"/>
              <a:t>	color:</a:t>
            </a:r>
            <a:r>
              <a:rPr lang="zh-CN" altLang="en-US" dirty="0"/>
              <a:t>设置二维码颜色，默认为黑色。</a:t>
            </a:r>
            <a:br>
              <a:rPr lang="zh-CN" altLang="en-US" dirty="0"/>
            </a:br>
            <a:endParaRPr lang="zh-CN" altLang="en-US" dirty="0"/>
          </a:p>
          <a:p>
            <a:r>
              <a:rPr lang="en-US" altLang="zh-CN" dirty="0"/>
              <a:t>	</a:t>
            </a:r>
            <a:r>
              <a:rPr lang="en-US" altLang="zh-CN" dirty="0" err="1"/>
              <a:t>backgroundColor</a:t>
            </a:r>
            <a:r>
              <a:rPr lang="en-US" altLang="zh-CN" dirty="0"/>
              <a:t>:</a:t>
            </a:r>
            <a:r>
              <a:rPr lang="zh-CN" altLang="en-US" dirty="0"/>
              <a:t>设置二维码背景色。</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特殊组件：二维码组件</a:t>
            </a:r>
          </a:p>
        </p:txBody>
      </p:sp>
      <p:pic>
        <p:nvPicPr>
          <p:cNvPr id="9" name="图片 8"/>
          <p:cNvPicPr>
            <a:picLocks noChangeAspect="1"/>
          </p:cNvPicPr>
          <p:nvPr/>
        </p:nvPicPr>
        <p:blipFill>
          <a:blip r:embed="rId2"/>
          <a:stretch>
            <a:fillRect/>
          </a:stretch>
        </p:blipFill>
        <p:spPr>
          <a:xfrm>
            <a:off x="7823398" y="1463192"/>
            <a:ext cx="3312368" cy="4497976"/>
          </a:xfrm>
          <a:prstGeom prst="rect">
            <a:avLst/>
          </a:prstGeom>
        </p:spPr>
      </p:pic>
      <p:sp>
        <p:nvSpPr>
          <p:cNvPr id="2" name="Rectangle 1"/>
          <p:cNvSpPr>
            <a:spLocks noChangeArrowheads="1"/>
          </p:cNvSpPr>
          <p:nvPr/>
        </p:nvSpPr>
        <p:spPr bwMode="auto">
          <a:xfrm>
            <a:off x="910630" y="2227158"/>
            <a:ext cx="5760640" cy="2970044"/>
          </a:xfrm>
          <a:prstGeom prst="rect">
            <a:avLst/>
          </a:prstGeom>
          <a:solidFill>
            <a:schemeClr val="tx1"/>
          </a:solid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Stack</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QRCode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info</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二维码内容字符串</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设置二维码颜色</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Image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"app.media.startIcon"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在二维码上叠加一个头像</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0.2</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0.2</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border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White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borderRadius</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padding</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White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borderRadius</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DataPanel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sp>
        <p:nvSpPr>
          <p:cNvPr id="6" name="文本框 5"/>
          <p:cNvSpPr txBox="1"/>
          <p:nvPr/>
        </p:nvSpPr>
        <p:spPr>
          <a:xfrm>
            <a:off x="1225886" y="1463192"/>
            <a:ext cx="9837872" cy="3057055"/>
          </a:xfrm>
          <a:prstGeom prst="rect">
            <a:avLst/>
          </a:prstGeom>
          <a:noFill/>
        </p:spPr>
        <p:txBody>
          <a:bodyPr wrap="square">
            <a:spAutoFit/>
          </a:bodyPr>
          <a:lstStyle/>
          <a:p>
            <a:r>
              <a:rPr lang="en-US" altLang="zh-CN" dirty="0"/>
              <a:t>1. </a:t>
            </a:r>
            <a:r>
              <a:rPr lang="zh-CN" altLang="en-US" dirty="0"/>
              <a:t>构造参数</a:t>
            </a:r>
            <a:br>
              <a:rPr lang="zh-CN" altLang="en-US" dirty="0"/>
            </a:br>
            <a:endParaRPr lang="zh-CN" altLang="en-US" dirty="0"/>
          </a:p>
          <a:p>
            <a:pPr algn="l" fontAlgn="base">
              <a:lnSpc>
                <a:spcPts val="2250"/>
              </a:lnSpc>
              <a:spcAft>
                <a:spcPts val="300"/>
              </a:spcAft>
              <a:buNone/>
            </a:pPr>
            <a:r>
              <a:rPr lang="en-US" altLang="zh-CN" b="0" i="0" dirty="0">
                <a:solidFill>
                  <a:srgbClr val="343434"/>
                </a:solidFill>
                <a:effectLst/>
                <a:latin typeface="PingFang SC"/>
              </a:rPr>
              <a:t>        values:</a:t>
            </a:r>
            <a:r>
              <a:rPr lang="zh-CN" altLang="en-US" b="0" i="0" dirty="0">
                <a:solidFill>
                  <a:srgbClr val="343434"/>
                </a:solidFill>
                <a:effectLst/>
                <a:latin typeface="PingFang SC"/>
              </a:rPr>
              <a:t>数据值列表，最多包含</a:t>
            </a:r>
            <a:r>
              <a:rPr lang="en-US" altLang="zh-CN" b="0" i="0" dirty="0">
                <a:solidFill>
                  <a:srgbClr val="343434"/>
                </a:solidFill>
                <a:effectLst/>
                <a:latin typeface="PingFang SC"/>
              </a:rPr>
              <a:t>9</a:t>
            </a:r>
            <a:r>
              <a:rPr lang="zh-CN" altLang="en-US" b="0" i="0" dirty="0">
                <a:solidFill>
                  <a:srgbClr val="343434"/>
                </a:solidFill>
                <a:effectLst/>
                <a:latin typeface="PingFang SC"/>
              </a:rPr>
              <a:t>个数据，大于</a:t>
            </a:r>
            <a:r>
              <a:rPr lang="en-US" altLang="zh-CN" b="0" i="0" dirty="0">
                <a:solidFill>
                  <a:srgbClr val="343434"/>
                </a:solidFill>
                <a:effectLst/>
                <a:latin typeface="PingFang SC"/>
              </a:rPr>
              <a:t>9</a:t>
            </a:r>
            <a:r>
              <a:rPr lang="zh-CN" altLang="en-US" b="0" i="0" dirty="0">
                <a:solidFill>
                  <a:srgbClr val="343434"/>
                </a:solidFill>
                <a:effectLst/>
                <a:latin typeface="PingFang SC"/>
              </a:rPr>
              <a:t>个数据则取前</a:t>
            </a:r>
            <a:r>
              <a:rPr lang="en-US" altLang="zh-CN" b="0" i="0" dirty="0">
                <a:solidFill>
                  <a:srgbClr val="343434"/>
                </a:solidFill>
                <a:effectLst/>
                <a:latin typeface="PingFang SC"/>
              </a:rPr>
              <a:t>9</a:t>
            </a:r>
            <a:r>
              <a:rPr lang="zh-CN" altLang="en-US" b="0" i="0" dirty="0">
                <a:solidFill>
                  <a:srgbClr val="343434"/>
                </a:solidFill>
                <a:effectLst/>
                <a:latin typeface="PingFang SC"/>
              </a:rPr>
              <a:t>个数据。若数据值小于</a:t>
            </a:r>
            <a:r>
              <a:rPr lang="en-US" altLang="zh-CN" b="0" i="0" dirty="0">
                <a:solidFill>
                  <a:srgbClr val="343434"/>
                </a:solidFill>
                <a:effectLst/>
                <a:latin typeface="PingFang SC"/>
              </a:rPr>
              <a:t>0</a:t>
            </a:r>
            <a:r>
              <a:rPr lang="zh-CN" altLang="en-US" b="0" i="0" dirty="0">
                <a:solidFill>
                  <a:srgbClr val="343434"/>
                </a:solidFill>
                <a:effectLst/>
                <a:latin typeface="PingFang SC"/>
              </a:rPr>
              <a:t>则置为</a:t>
            </a:r>
            <a:r>
              <a:rPr lang="en-US" altLang="zh-CN" b="0" i="0" dirty="0">
                <a:solidFill>
                  <a:srgbClr val="343434"/>
                </a:solidFill>
                <a:effectLst/>
                <a:latin typeface="PingFang SC"/>
              </a:rPr>
              <a:t>0</a:t>
            </a:r>
            <a:r>
              <a:rPr lang="zh-CN" altLang="en-US" b="0" i="0" dirty="0">
                <a:solidFill>
                  <a:srgbClr val="343434"/>
                </a:solidFill>
                <a:effectLst/>
                <a:latin typeface="PingFang SC"/>
              </a:rPr>
              <a:t>。</a:t>
            </a:r>
            <a:endParaRPr lang="en-US" altLang="zh-CN" b="0" i="0" dirty="0">
              <a:solidFill>
                <a:srgbClr val="343434"/>
              </a:solidFill>
              <a:effectLst/>
              <a:latin typeface="PingFang SC"/>
            </a:endParaRPr>
          </a:p>
          <a:p>
            <a:pPr algn="l" fontAlgn="base">
              <a:lnSpc>
                <a:spcPts val="2250"/>
              </a:lnSpc>
              <a:spcAft>
                <a:spcPts val="300"/>
              </a:spcAft>
              <a:buNone/>
            </a:pPr>
            <a:endParaRPr lang="en-US" altLang="zh-CN" b="0" i="0" dirty="0">
              <a:solidFill>
                <a:srgbClr val="343434"/>
              </a:solidFill>
              <a:effectLst/>
              <a:latin typeface="PingFang SC"/>
            </a:endParaRPr>
          </a:p>
          <a:p>
            <a:pPr algn="l" fontAlgn="base">
              <a:lnSpc>
                <a:spcPts val="2250"/>
              </a:lnSpc>
              <a:spcAft>
                <a:spcPts val="300"/>
              </a:spcAft>
              <a:buNone/>
            </a:pPr>
            <a:r>
              <a:rPr lang="en-US" altLang="zh-CN" dirty="0"/>
              <a:t>       max:</a:t>
            </a:r>
            <a:r>
              <a:rPr lang="zh-CN" altLang="en-US" dirty="0"/>
              <a:t>数据的最大值。</a:t>
            </a:r>
            <a:r>
              <a:rPr lang="en-US" altLang="zh-CN" dirty="0"/>
              <a:t>max</a:t>
            </a:r>
            <a:r>
              <a:rPr lang="zh-CN" altLang="en-US" dirty="0"/>
              <a:t>等于</a:t>
            </a:r>
            <a:r>
              <a:rPr lang="en-US" altLang="zh-CN" dirty="0"/>
              <a:t>value</a:t>
            </a:r>
            <a:r>
              <a:rPr lang="zh-CN" altLang="en-US" dirty="0"/>
              <a:t>数组各项的和，默认值为</a:t>
            </a:r>
            <a:r>
              <a:rPr lang="en-US" altLang="zh-CN" dirty="0"/>
              <a:t>100</a:t>
            </a:r>
            <a:r>
              <a:rPr lang="zh-CN" altLang="en-US" dirty="0"/>
              <a:t>。</a:t>
            </a:r>
            <a:endParaRPr lang="en-US" altLang="zh-CN" dirty="0"/>
          </a:p>
          <a:p>
            <a:pPr algn="l" fontAlgn="base">
              <a:lnSpc>
                <a:spcPts val="2250"/>
              </a:lnSpc>
              <a:spcAft>
                <a:spcPts val="300"/>
              </a:spcAft>
              <a:buNone/>
            </a:pPr>
            <a:endParaRPr lang="zh-CN" altLang="en-US" dirty="0"/>
          </a:p>
          <a:p>
            <a:pPr algn="l" fontAlgn="base">
              <a:lnSpc>
                <a:spcPts val="2250"/>
              </a:lnSpc>
              <a:spcAft>
                <a:spcPts val="300"/>
              </a:spcAft>
              <a:buNone/>
            </a:pPr>
            <a:r>
              <a:rPr lang="en-US" altLang="zh-CN" dirty="0"/>
              <a:t>       type:</a:t>
            </a:r>
            <a:r>
              <a:rPr lang="zh-CN" altLang="en-US" dirty="0"/>
              <a:t>数据面板的类型</a:t>
            </a:r>
            <a:r>
              <a:rPr lang="en-US" altLang="zh-CN" dirty="0"/>
              <a:t>(</a:t>
            </a:r>
            <a:r>
              <a:rPr lang="zh-CN" altLang="en-US" dirty="0"/>
              <a:t>不支持动态修改</a:t>
            </a:r>
            <a:r>
              <a:rPr lang="en-US" altLang="zh-CN" dirty="0"/>
              <a:t>),</a:t>
            </a:r>
            <a:r>
              <a:rPr lang="zh-CN" altLang="en-US" dirty="0"/>
              <a:t>默认值</a:t>
            </a:r>
            <a:r>
              <a:rPr lang="en-US" altLang="zh-CN" dirty="0" err="1"/>
              <a:t>DataPanelType.Cirde</a:t>
            </a:r>
            <a:r>
              <a:rPr lang="zh-CN" altLang="en-US" dirty="0"/>
              <a:t>。</a:t>
            </a:r>
            <a:br>
              <a:rPr lang="zh-CN" altLang="en-US" dirty="0"/>
            </a:br>
            <a:endParaRPr lang="zh-CN" altLang="en-US" dirty="0"/>
          </a:p>
        </p:txBody>
      </p:sp>
      <p:pic>
        <p:nvPicPr>
          <p:cNvPr id="4" name="图片 3"/>
          <p:cNvPicPr>
            <a:picLocks noChangeAspect="1"/>
          </p:cNvPicPr>
          <p:nvPr/>
        </p:nvPicPr>
        <p:blipFill>
          <a:blip r:embed="rId3"/>
          <a:stretch>
            <a:fillRect/>
          </a:stretch>
        </p:blipFill>
        <p:spPr>
          <a:xfrm>
            <a:off x="-1" y="4869954"/>
            <a:ext cx="12190413" cy="14035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DataPanel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sp>
        <p:nvSpPr>
          <p:cNvPr id="6" name="文本框 5"/>
          <p:cNvSpPr txBox="1"/>
          <p:nvPr/>
        </p:nvSpPr>
        <p:spPr>
          <a:xfrm>
            <a:off x="1054646" y="997071"/>
            <a:ext cx="9837872" cy="1133452"/>
          </a:xfrm>
          <a:prstGeom prst="rect">
            <a:avLst/>
          </a:prstGeom>
          <a:noFill/>
        </p:spPr>
        <p:txBody>
          <a:bodyPr wrap="square">
            <a:spAutoFit/>
          </a:bodyPr>
          <a:lstStyle/>
          <a:p>
            <a:r>
              <a:rPr lang="en-US" altLang="zh-CN" dirty="0"/>
              <a:t>2. </a:t>
            </a:r>
            <a:r>
              <a:rPr lang="zh-CN" altLang="en-US" dirty="0"/>
              <a:t>属性</a:t>
            </a:r>
            <a:br>
              <a:rPr lang="zh-CN" altLang="en-US" dirty="0"/>
            </a:br>
            <a:endParaRPr lang="zh-CN" altLang="en-US" dirty="0"/>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closeEffect</a:t>
            </a:r>
            <a:r>
              <a:rPr lang="en-US" altLang="zh-CN" b="0" i="0" dirty="0">
                <a:solidFill>
                  <a:srgbClr val="343434"/>
                </a:solidFill>
                <a:effectLst/>
                <a:latin typeface="PingFang SC"/>
              </a:rPr>
              <a:t>:</a:t>
            </a:r>
            <a:r>
              <a:rPr lang="zh-CN" altLang="en-US" b="0" i="0" dirty="0">
                <a:solidFill>
                  <a:srgbClr val="343434"/>
                </a:solidFill>
                <a:effectLst/>
                <a:latin typeface="PingFang SC"/>
              </a:rPr>
              <a:t>禁止数据面板动画效果，默认</a:t>
            </a:r>
            <a:r>
              <a:rPr lang="en-US" altLang="zh-CN" b="0" i="0" dirty="0">
                <a:solidFill>
                  <a:srgbClr val="343434"/>
                </a:solidFill>
                <a:effectLst/>
                <a:latin typeface="PingFang SC"/>
              </a:rPr>
              <a:t>true</a:t>
            </a:r>
            <a:endParaRPr lang="zh-CN" altLang="en-US" dirty="0"/>
          </a:p>
        </p:txBody>
      </p:sp>
      <p:pic>
        <p:nvPicPr>
          <p:cNvPr id="3" name="图片 2"/>
          <p:cNvPicPr>
            <a:picLocks noChangeAspect="1"/>
          </p:cNvPicPr>
          <p:nvPr/>
        </p:nvPicPr>
        <p:blipFill>
          <a:blip r:embed="rId3"/>
          <a:stretch>
            <a:fillRect/>
          </a:stretch>
        </p:blipFill>
        <p:spPr>
          <a:xfrm>
            <a:off x="8399462" y="1563797"/>
            <a:ext cx="3499331" cy="3960483"/>
          </a:xfrm>
          <a:prstGeom prst="rect">
            <a:avLst/>
          </a:prstGeom>
        </p:spPr>
      </p:pic>
      <p:sp>
        <p:nvSpPr>
          <p:cNvPr id="5" name="Rectangle 1"/>
          <p:cNvSpPr>
            <a:spLocks noChangeArrowheads="1"/>
          </p:cNvSpPr>
          <p:nvPr/>
        </p:nvSpPr>
        <p:spPr bwMode="auto">
          <a:xfrm>
            <a:off x="1058716" y="2175594"/>
            <a:ext cx="5591151" cy="453970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Stack</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DataPanel</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values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max</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type</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DataPanelType</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Circle</a:t>
            </a:r>
            <a:b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b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168</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168</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closeEffect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true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3 0 "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35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#182431 "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9.33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lineHeight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12.83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fontWeight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opacity</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0.6</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9.33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lineHeight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12.83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fontWeight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opacity</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0.6</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position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x</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104.42</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y</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78.17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margin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right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4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6" name="文本框 5"/>
          <p:cNvSpPr txBox="1"/>
          <p:nvPr/>
        </p:nvSpPr>
        <p:spPr>
          <a:xfrm>
            <a:off x="420186" y="1269554"/>
            <a:ext cx="11723692" cy="4685706"/>
          </a:xfrm>
          <a:prstGeom prst="rect">
            <a:avLst/>
          </a:prstGeom>
          <a:noFill/>
        </p:spPr>
        <p:txBody>
          <a:bodyPr wrap="square">
            <a:spAutoFit/>
          </a:bodyPr>
          <a:lstStyle/>
          <a:p>
            <a:pPr marL="457200" indent="-457200">
              <a:buAutoNum type="arabicPeriod"/>
            </a:pPr>
            <a:r>
              <a:rPr lang="en-US" altLang="zh-CN" dirty="0" err="1"/>
              <a:t>AlertDiaog</a:t>
            </a:r>
            <a:r>
              <a:rPr lang="zh-CN" altLang="en-US" dirty="0"/>
              <a:t>构造函数</a:t>
            </a:r>
            <a:br>
              <a:rPr lang="zh-CN" altLang="en-US" dirty="0"/>
            </a:br>
            <a:r>
              <a:rPr lang="zh-CN" altLang="en-US" dirty="0"/>
              <a:t>         </a:t>
            </a:r>
            <a:r>
              <a:rPr lang="en-US" altLang="zh-CN" dirty="0"/>
              <a:t>show:</a:t>
            </a:r>
            <a:r>
              <a:rPr lang="zh-CN" altLang="en-US" dirty="0"/>
              <a:t>定义并显示</a:t>
            </a:r>
            <a:r>
              <a:rPr lang="en-US" altLang="zh-CN" dirty="0" err="1"/>
              <a:t>AlertDialog</a:t>
            </a:r>
            <a:r>
              <a:rPr lang="zh-CN" altLang="en-US" dirty="0"/>
              <a:t>组件。该方法被</a:t>
            </a:r>
            <a:r>
              <a:rPr lang="en-US" altLang="zh-CN" dirty="0"/>
              <a:t>static</a:t>
            </a:r>
            <a:r>
              <a:rPr lang="zh-CN" altLang="en-US" dirty="0"/>
              <a:t>修饰使用时不需要</a:t>
            </a:r>
            <a:r>
              <a:rPr lang="en-US" altLang="zh-CN" dirty="0"/>
              <a:t>new</a:t>
            </a:r>
            <a:r>
              <a:rPr lang="zh-CN" altLang="en-US" dirty="0"/>
              <a:t>对象</a:t>
            </a:r>
          </a:p>
          <a:p>
            <a:pPr algn="l" fontAlgn="base">
              <a:lnSpc>
                <a:spcPts val="2250"/>
              </a:lnSpc>
              <a:spcAft>
                <a:spcPts val="300"/>
              </a:spcAft>
              <a:buNone/>
            </a:pPr>
            <a:r>
              <a:rPr lang="en-US" altLang="zh-CN" dirty="0"/>
              <a:t>2.</a:t>
            </a:r>
            <a:r>
              <a:rPr lang="zh-CN" altLang="en-US" dirty="0"/>
              <a:t>单按钮</a:t>
            </a:r>
            <a:r>
              <a:rPr lang="en-US" altLang="zh-CN" dirty="0" err="1"/>
              <a:t>AlertDialogParamWithConfirm</a:t>
            </a:r>
            <a:r>
              <a:rPr lang="zh-CN" altLang="en-US" dirty="0"/>
              <a:t>对象</a:t>
            </a:r>
          </a:p>
          <a:p>
            <a:pPr algn="l" fontAlgn="base">
              <a:lnSpc>
                <a:spcPts val="2250"/>
              </a:lnSpc>
              <a:spcAft>
                <a:spcPts val="300"/>
              </a:spcAft>
              <a:buNone/>
            </a:pPr>
            <a:r>
              <a:rPr lang="en-US" altLang="zh-CN" dirty="0"/>
              <a:t>	title:</a:t>
            </a:r>
            <a:r>
              <a:rPr lang="zh-CN" altLang="en-US" dirty="0"/>
              <a:t>弹窗标题。</a:t>
            </a:r>
          </a:p>
          <a:p>
            <a:pPr algn="l" fontAlgn="base">
              <a:lnSpc>
                <a:spcPts val="2250"/>
              </a:lnSpc>
              <a:spcAft>
                <a:spcPts val="300"/>
              </a:spcAft>
              <a:buNone/>
            </a:pPr>
            <a:r>
              <a:rPr lang="en-US" altLang="zh-CN" dirty="0"/>
              <a:t>	message:</a:t>
            </a:r>
            <a:r>
              <a:rPr lang="zh-CN" altLang="en-US" dirty="0"/>
              <a:t>弹框内容。</a:t>
            </a:r>
          </a:p>
          <a:p>
            <a:pPr algn="l" fontAlgn="base">
              <a:lnSpc>
                <a:spcPts val="2250"/>
              </a:lnSpc>
              <a:spcAft>
                <a:spcPts val="300"/>
              </a:spcAft>
              <a:buNone/>
            </a:pPr>
            <a:r>
              <a:rPr lang="en-US" altLang="zh-CN" dirty="0"/>
              <a:t>	</a:t>
            </a:r>
            <a:r>
              <a:rPr lang="en-US" altLang="zh-CN" dirty="0" err="1"/>
              <a:t>autoCancel</a:t>
            </a:r>
            <a:r>
              <a:rPr lang="en-US" altLang="zh-CN" dirty="0"/>
              <a:t>:</a:t>
            </a:r>
            <a:r>
              <a:rPr lang="zh-CN" altLang="en-US" dirty="0"/>
              <a:t>点击遮障层时，是否关闭弹窗。默认值为</a:t>
            </a:r>
            <a:r>
              <a:rPr lang="en-US" altLang="zh-CN" dirty="0"/>
              <a:t>true</a:t>
            </a:r>
            <a:r>
              <a:rPr lang="zh-CN" altLang="en-US" dirty="0"/>
              <a:t>。</a:t>
            </a:r>
          </a:p>
          <a:p>
            <a:pPr algn="l" fontAlgn="base">
              <a:lnSpc>
                <a:spcPts val="2250"/>
              </a:lnSpc>
              <a:spcAft>
                <a:spcPts val="300"/>
              </a:spcAft>
              <a:buNone/>
            </a:pPr>
            <a:r>
              <a:rPr lang="en-US" altLang="zh-CN" dirty="0"/>
              <a:t>	cancel:</a:t>
            </a:r>
            <a:r>
              <a:rPr lang="zh-CN" altLang="en-US" dirty="0"/>
              <a:t>点击遮障层关闭</a:t>
            </a:r>
            <a:r>
              <a:rPr lang="en-US" altLang="zh-CN" dirty="0"/>
              <a:t>dialog</a:t>
            </a:r>
            <a:r>
              <a:rPr lang="zh-CN" altLang="en-US" dirty="0"/>
              <a:t>时的回调。</a:t>
            </a:r>
          </a:p>
          <a:p>
            <a:pPr algn="l" fontAlgn="base">
              <a:lnSpc>
                <a:spcPts val="2250"/>
              </a:lnSpc>
              <a:spcAft>
                <a:spcPts val="300"/>
              </a:spcAft>
              <a:buNone/>
            </a:pPr>
            <a:r>
              <a:rPr lang="en-US" altLang="zh-CN" dirty="0"/>
              <a:t>	alignment:</a:t>
            </a:r>
            <a:r>
              <a:rPr lang="zh-CN" altLang="en-US" dirty="0"/>
              <a:t>弹窗在垂直方向上的对齐方式。</a:t>
            </a:r>
          </a:p>
          <a:p>
            <a:pPr algn="l" fontAlgn="base">
              <a:lnSpc>
                <a:spcPts val="2250"/>
              </a:lnSpc>
              <a:spcAft>
                <a:spcPts val="300"/>
              </a:spcAft>
              <a:buNone/>
            </a:pPr>
            <a:r>
              <a:rPr lang="en-US" altLang="zh-CN" dirty="0"/>
              <a:t>	offset:</a:t>
            </a:r>
            <a:r>
              <a:rPr lang="zh-CN" altLang="en-US" dirty="0"/>
              <a:t>弹窗相对</a:t>
            </a:r>
            <a:r>
              <a:rPr lang="en-US" altLang="zh-CN" dirty="0"/>
              <a:t>alignment</a:t>
            </a:r>
            <a:r>
              <a:rPr lang="zh-CN" altLang="en-US" dirty="0"/>
              <a:t>所在位置的偏移量。</a:t>
            </a:r>
          </a:p>
          <a:p>
            <a:pPr algn="l" fontAlgn="base">
              <a:lnSpc>
                <a:spcPts val="2250"/>
              </a:lnSpc>
              <a:spcAft>
                <a:spcPts val="300"/>
              </a:spcAft>
              <a:buNone/>
            </a:pPr>
            <a:r>
              <a:rPr lang="en-US" altLang="zh-CN" dirty="0"/>
              <a:t>	</a:t>
            </a:r>
            <a:r>
              <a:rPr lang="en-US" altLang="zh-CN" dirty="0" err="1"/>
              <a:t>gridCount</a:t>
            </a:r>
            <a:r>
              <a:rPr lang="en-US" altLang="zh-CN" dirty="0"/>
              <a:t>:</a:t>
            </a:r>
            <a:r>
              <a:rPr lang="zh-CN" altLang="en-US" dirty="0"/>
              <a:t>弹窗容器宽度所占用的栅格数。当</a:t>
            </a:r>
            <a:r>
              <a:rPr lang="en-US" altLang="zh-CN" dirty="0" err="1"/>
              <a:t>gridCount</a:t>
            </a:r>
            <a:r>
              <a:rPr lang="zh-CN" altLang="en-US" dirty="0"/>
              <a:t>小于等于</a:t>
            </a:r>
            <a:r>
              <a:rPr lang="en-US" altLang="zh-CN" dirty="0"/>
              <a:t>0</a:t>
            </a:r>
            <a:r>
              <a:rPr lang="zh-CN" altLang="en-US" dirty="0"/>
              <a:t>时，弹窗宽度是固定的；大于</a:t>
            </a:r>
            <a:r>
              <a:rPr lang="en-US" altLang="zh-CN" dirty="0"/>
              <a:t>0</a:t>
            </a:r>
            <a:r>
              <a:rPr lang="zh-CN" altLang="en-US" dirty="0"/>
              <a:t>时，按照设置的数值显示宽度。</a:t>
            </a:r>
            <a:r>
              <a:rPr lang="en-US" altLang="zh-CN" dirty="0" err="1"/>
              <a:t>gridCount</a:t>
            </a:r>
            <a:r>
              <a:rPr lang="zh-CN" altLang="en-US" dirty="0"/>
              <a:t>最大值为</a:t>
            </a:r>
            <a:r>
              <a:rPr lang="en-US" altLang="zh-CN" dirty="0"/>
              <a:t>4,</a:t>
            </a:r>
            <a:r>
              <a:rPr lang="zh-CN" altLang="en-US" dirty="0"/>
              <a:t>若值为小数，则向下取整。</a:t>
            </a:r>
          </a:p>
          <a:p>
            <a:pPr algn="l" fontAlgn="base">
              <a:lnSpc>
                <a:spcPts val="2250"/>
              </a:lnSpc>
              <a:spcAft>
                <a:spcPts val="300"/>
              </a:spcAft>
              <a:buNone/>
            </a:pPr>
            <a:r>
              <a:rPr lang="en-US" altLang="zh-CN" dirty="0"/>
              <a:t>	confirm:</a:t>
            </a:r>
            <a:r>
              <a:rPr lang="zh-CN" altLang="en-US" dirty="0"/>
              <a:t>确认按钮的文本内容、文本色、按钮背景色和点击回调。</a:t>
            </a:r>
            <a:br>
              <a:rPr lang="zh-CN" altLang="en-US" dirty="0"/>
            </a:br>
            <a:endParaRPr lang="zh-CN" altLang="en-US" dirty="0"/>
          </a:p>
        </p:txBody>
      </p:sp>
      <p:sp>
        <p:nvSpPr>
          <p:cNvPr id="3" name="文本框 2"/>
          <p:cNvSpPr txBox="1"/>
          <p:nvPr/>
        </p:nvSpPr>
        <p:spPr>
          <a:xfrm>
            <a:off x="420186" y="823417"/>
            <a:ext cx="1642572" cy="461665"/>
          </a:xfrm>
          <a:prstGeom prst="rect">
            <a:avLst/>
          </a:prstGeom>
          <a:noFill/>
        </p:spPr>
        <p:txBody>
          <a:bodyPr wrap="square">
            <a:spAutoFit/>
          </a:bodyPr>
          <a:lstStyle/>
          <a:p>
            <a:r>
              <a:rPr lang="zh-CN" altLang="en-US" dirty="0"/>
              <a:t>警告弹窗</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警告弹窗</a:t>
            </a:r>
            <a:endPar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2" name="组合 11"/>
          <p:cNvGrpSpPr/>
          <p:nvPr/>
        </p:nvGrpSpPr>
        <p:grpSpPr>
          <a:xfrm>
            <a:off x="304411" y="1153755"/>
            <a:ext cx="2355163" cy="3912817"/>
            <a:chOff x="346450" y="505732"/>
            <a:chExt cx="8181262" cy="1873362"/>
          </a:xfrm>
        </p:grpSpPr>
        <p:sp>
          <p:nvSpPr>
            <p:cNvPr id="6" name="文本框 5"/>
            <p:cNvSpPr txBox="1"/>
            <p:nvPr/>
          </p:nvSpPr>
          <p:spPr>
            <a:xfrm>
              <a:off x="494548" y="693211"/>
              <a:ext cx="7463849" cy="1556596"/>
            </a:xfrm>
            <a:prstGeom prst="rect">
              <a:avLst/>
            </a:prstGeom>
            <a:noFill/>
          </p:spPr>
          <p:txBody>
            <a:bodyPr wrap="square">
              <a:spAutoFit/>
            </a:bodyPr>
            <a:lstStyle/>
            <a:p>
              <a:pPr algn="just">
                <a:lnSpc>
                  <a:spcPct val="120000"/>
                </a:lnSpc>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ArkTS API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提供了全局的</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AlertDialog</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，通过</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show</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（）方法定义并显示警告弹窗组件，可设置文本内容与响应回调。</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46450" y="505732"/>
              <a:ext cx="8181262" cy="1873362"/>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6" name="组合 15"/>
          <p:cNvGrpSpPr/>
          <p:nvPr/>
        </p:nvGrpSpPr>
        <p:grpSpPr>
          <a:xfrm>
            <a:off x="2840551" y="763186"/>
            <a:ext cx="10819998" cy="5947877"/>
            <a:chOff x="310646" y="2348372"/>
            <a:chExt cx="8116267" cy="4461605"/>
          </a:xfrm>
        </p:grpSpPr>
        <p:sp>
          <p:nvSpPr>
            <p:cNvPr id="9" name="文本框 8"/>
            <p:cNvSpPr txBox="1"/>
            <p:nvPr/>
          </p:nvSpPr>
          <p:spPr>
            <a:xfrm>
              <a:off x="310646" y="2970579"/>
              <a:ext cx="8116267" cy="3133738"/>
            </a:xfrm>
            <a:prstGeom prst="rect">
              <a:avLst/>
            </a:prstGeom>
            <a:noFill/>
          </p:spPr>
          <p:txBody>
            <a:bodyPr wrap="square">
              <a:spAutoFit/>
            </a:bodyPr>
            <a:lstStyle/>
            <a:p>
              <a:pPr marL="408940" marR="63500">
                <a:lnSpc>
                  <a:spcPts val="1100"/>
                </a:lnSpc>
                <a:spcBef>
                  <a:spcPts val="600"/>
                </a:spcBef>
                <a:spcAft>
                  <a:spcPts val="600"/>
                </a:spcAft>
                <a:tabLst>
                  <a:tab pos="180340" algn="l"/>
                  <a:tab pos="408940" algn="l"/>
                </a:tabLst>
              </a:pPr>
              <a:r>
                <a:rPr lang="en-US" altLang="zh-CN" sz="2135">
                  <a:solidFill>
                    <a:srgbClr val="00A99E"/>
                  </a:solidFill>
                  <a:effectLst/>
                  <a:latin typeface="Consolas" panose="020B0609020204030204" pitchFamily="49" charset="0"/>
                  <a:ea typeface="宋体" panose="02010600030101010101" pitchFamily="2" charset="-122"/>
                  <a:cs typeface="宋体" panose="02010600030101010101" pitchFamily="2" charset="-122"/>
                </a:rPr>
                <a:t>AlertDialog</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00A99E"/>
                  </a:solidFill>
                  <a:effectLst/>
                  <a:latin typeface="Consolas" panose="020B0609020204030204" pitchFamily="49" charset="0"/>
                  <a:ea typeface="宋体" panose="02010600030101010101" pitchFamily="2" charset="-122"/>
                  <a:cs typeface="宋体" panose="02010600030101010101" pitchFamily="2" charset="-122"/>
                </a:rPr>
                <a:t>show</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弹出一个对话框</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title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温度告警</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设置标题</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message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温度超过</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38°C"</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设置内容</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alignment</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DialogAlignment</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Center</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设置弹窗的对齐方式</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confirm</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i="1">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i="1">
                  <a:solidFill>
                    <a:srgbClr val="5C5C5C"/>
                  </a:solidFill>
                  <a:effectLst/>
                  <a:latin typeface="Courier New" panose="02070309020205020404" pitchFamily="49" charset="0"/>
                  <a:ea typeface="宋体" panose="02010600030101010101" pitchFamily="2" charset="-122"/>
                  <a:cs typeface="Courier New" panose="02070309020205020404" pitchFamily="49" charset="0"/>
                </a:rPr>
                <a:t>单个按钮的配置文本</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i="1">
                  <a:solidFill>
                    <a:srgbClr val="5C5C5C"/>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value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确定</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fontColor</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Color</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backgroundColor</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"#aabbcc"</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action</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=&gt;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11408E"/>
                  </a:solidFill>
                  <a:effectLst/>
                  <a:latin typeface="Consolas" panose="020B0609020204030204" pitchFamily="49" charset="0"/>
                  <a:ea typeface="宋体" panose="02010600030101010101" pitchFamily="2" charset="-122"/>
                  <a:cs typeface="宋体" panose="02010600030101010101" pitchFamily="2" charset="-122"/>
                </a:rPr>
                <a:t>console</a:t>
              </a:r>
              <a:r>
                <a:rPr lang="en-US" altLang="zh-CN" sz="213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00A99E"/>
                  </a:solidFill>
                  <a:effectLst/>
                  <a:latin typeface="Consolas" panose="020B0609020204030204" pitchFamily="49" charset="0"/>
                  <a:ea typeface="宋体" panose="02010600030101010101" pitchFamily="2" charset="-122"/>
                  <a:cs typeface="宋体" panose="02010600030101010101" pitchFamily="2" charset="-122"/>
                </a:rPr>
                <a:t>log</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2135">
                  <a:solidFill>
                    <a:srgbClr val="653170"/>
                  </a:solidFill>
                  <a:effectLst/>
                  <a:latin typeface="Courier New" panose="02070309020205020404" pitchFamily="49" charset="0"/>
                  <a:ea typeface="宋体" panose="02010600030101010101" pitchFamily="2" charset="-122"/>
                  <a:cs typeface="Courier New" panose="02070309020205020404" pitchFamily="49" charset="0"/>
                </a:rPr>
                <a:t>点击了</a:t>
              </a:r>
              <a:r>
                <a:rPr lang="en-US" altLang="zh-CN" sz="2135">
                  <a:solidFill>
                    <a:srgbClr val="65317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2135">
                  <a:solidFill>
                    <a:srgbClr val="E986CD"/>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13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213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4" name="组合 3"/>
            <p:cNvGrpSpPr/>
            <p:nvPr/>
          </p:nvGrpSpPr>
          <p:grpSpPr>
            <a:xfrm>
              <a:off x="310646" y="2348372"/>
              <a:ext cx="6920664" cy="4461605"/>
              <a:chOff x="643019" y="1269960"/>
              <a:chExt cx="6723707" cy="5941619"/>
            </a:xfrm>
          </p:grpSpPr>
          <p:sp>
            <p:nvSpPr>
              <p:cNvPr id="5" name="文本框 4"/>
              <p:cNvSpPr txBox="1"/>
              <p:nvPr/>
            </p:nvSpPr>
            <p:spPr>
              <a:xfrm>
                <a:off x="741410" y="1788054"/>
                <a:ext cx="4955128" cy="484630"/>
              </a:xfrm>
              <a:prstGeom prst="rect">
                <a:avLst/>
              </a:prstGeom>
              <a:noFill/>
            </p:spPr>
            <p:txBody>
              <a:bodyPr wrap="square" lIns="91397" tIns="45699" rIns="91397" bIns="45699" rtlCol="0">
                <a:spAutoFit/>
              </a:bodyPr>
              <a:lstStyle/>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0" name="组合 9"/>
              <p:cNvGrpSpPr/>
              <p:nvPr/>
            </p:nvGrpSpPr>
            <p:grpSpPr>
              <a:xfrm>
                <a:off x="643019" y="1269960"/>
                <a:ext cx="6723707" cy="5941619"/>
                <a:chOff x="828791" y="1671864"/>
                <a:chExt cx="6723707" cy="5941619"/>
              </a:xfrm>
            </p:grpSpPr>
            <p:sp>
              <p:nvSpPr>
                <p:cNvPr id="13" name="圆角矩形 3"/>
                <p:cNvSpPr/>
                <p:nvPr/>
              </p:nvSpPr>
              <p:spPr>
                <a:xfrm>
                  <a:off x="927182" y="1746878"/>
                  <a:ext cx="2227580" cy="41188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圆角矩形 54"/>
                <p:cNvSpPr/>
                <p:nvPr/>
              </p:nvSpPr>
              <p:spPr>
                <a:xfrm>
                  <a:off x="828791" y="1905347"/>
                  <a:ext cx="6723707" cy="570813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5" name="Text2"/>
                <p:cNvSpPr txBox="1"/>
                <p:nvPr/>
              </p:nvSpPr>
              <p:spPr>
                <a:xfrm>
                  <a:off x="1164945" y="1671864"/>
                  <a:ext cx="1989816" cy="50249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示例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pic>
        <p:nvPicPr>
          <p:cNvPr id="8" name="图片 7"/>
          <p:cNvPicPr>
            <a:picLocks noChangeAspect="1"/>
          </p:cNvPicPr>
          <p:nvPr/>
        </p:nvPicPr>
        <p:blipFill>
          <a:blip r:embed="rId4"/>
          <a:stretch>
            <a:fillRect/>
          </a:stretch>
        </p:blipFill>
        <p:spPr>
          <a:xfrm>
            <a:off x="8142101" y="4090232"/>
            <a:ext cx="3601563" cy="1837785"/>
          </a:xfrm>
          <a:prstGeom prst="rect">
            <a:avLst/>
          </a:prstGeom>
        </p:spPr>
      </p:pic>
      <p:grpSp>
        <p:nvGrpSpPr>
          <p:cNvPr id="17" name="组合 16"/>
          <p:cNvGrpSpPr/>
          <p:nvPr/>
        </p:nvGrpSpPr>
        <p:grpSpPr>
          <a:xfrm>
            <a:off x="304411" y="5531043"/>
            <a:ext cx="4217264" cy="1364589"/>
            <a:chOff x="602840" y="3657238"/>
            <a:chExt cx="3489785" cy="1456990"/>
          </a:xfrm>
        </p:grpSpPr>
        <p:pic>
          <p:nvPicPr>
            <p:cNvPr id="18" name="图片 17"/>
            <p:cNvPicPr>
              <a:picLocks noChangeAspect="1"/>
            </p:cNvPicPr>
            <p:nvPr/>
          </p:nvPicPr>
          <p:blipFill>
            <a:blip r:embed="rId5"/>
            <a:stretch>
              <a:fillRect/>
            </a:stretch>
          </p:blipFill>
          <p:spPr>
            <a:xfrm>
              <a:off x="2470807" y="3657238"/>
              <a:ext cx="1621818" cy="1456990"/>
            </a:xfrm>
            <a:prstGeom prst="rect">
              <a:avLst/>
            </a:prstGeom>
          </p:spPr>
        </p:pic>
        <p:sp>
          <p:nvSpPr>
            <p:cNvPr id="19"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47500" lnSpcReduction="2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8"/>
                                        </p:tgtEl>
                                        <p:attrNameLst>
                                          <p:attrName>style.visibility</p:attrName>
                                        </p:attrNameLst>
                                      </p:cBhvr>
                                      <p:to>
                                        <p:strVal val="visible"/>
                                      </p:to>
                                    </p:set>
                                    <p:animEffect transition="in" filter="wedg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fill="hold" nodeType="clickEffect">
                                  <p:stCondLst>
                                    <p:cond delay="0"/>
                                  </p:stCondLst>
                                  <p:childTnLst>
                                    <p:set>
                                      <p:cBhvr>
                                        <p:cTn id="19" dur="1000" fill="hold">
                                          <p:stCondLst>
                                            <p:cond delay="0"/>
                                          </p:stCondLst>
                                        </p:cTn>
                                        <p:tgtEl>
                                          <p:spTgt spid="16"/>
                                        </p:tgtEl>
                                        <p:attrNameLst>
                                          <p:attrName>style.visibility</p:attrName>
                                        </p:attrNameLst>
                                      </p:cBhvr>
                                      <p:to>
                                        <p:strVal val="visible"/>
                                      </p:to>
                                    </p:set>
                                    <p:animEffect transition="in" filter="wedge">
                                      <p:cBhvr>
                                        <p:cTn id="20" dur="10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000" fill="hold">
                                          <p:stCondLst>
                                            <p:cond delay="0"/>
                                          </p:stCondLst>
                                        </p:cTn>
                                        <p:tgtEl>
                                          <p:spTgt spid="17"/>
                                        </p:tgtEl>
                                        <p:attrNameLst>
                                          <p:attrName>style.visibility</p:attrName>
                                        </p:attrNameLst>
                                      </p:cBhvr>
                                      <p:to>
                                        <p:strVal val="visible"/>
                                      </p:to>
                                    </p:set>
                                    <p:animEffect transition="in" filter="wedge">
                                      <p:cBhvr>
                                        <p:cTn id="2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警告弹窗</a:t>
            </a:r>
            <a:endParaRPr lang="en-US" altLang="zh-CN" dirty="0"/>
          </a:p>
        </p:txBody>
      </p:sp>
      <p:pic>
        <p:nvPicPr>
          <p:cNvPr id="4" name="图片 3"/>
          <p:cNvPicPr>
            <a:picLocks noChangeAspect="1"/>
          </p:cNvPicPr>
          <p:nvPr/>
        </p:nvPicPr>
        <p:blipFill>
          <a:blip r:embed="rId3"/>
          <a:stretch>
            <a:fillRect/>
          </a:stretch>
        </p:blipFill>
        <p:spPr>
          <a:xfrm>
            <a:off x="5796012" y="1629594"/>
            <a:ext cx="2686425" cy="3953427"/>
          </a:xfrm>
          <a:prstGeom prst="rect">
            <a:avLst/>
          </a:prstGeom>
        </p:spPr>
      </p:pic>
      <p:pic>
        <p:nvPicPr>
          <p:cNvPr id="8" name="图片 7"/>
          <p:cNvPicPr>
            <a:picLocks noChangeAspect="1"/>
          </p:cNvPicPr>
          <p:nvPr/>
        </p:nvPicPr>
        <p:blipFill>
          <a:blip r:embed="rId4"/>
          <a:stretch>
            <a:fillRect/>
          </a:stretch>
        </p:blipFill>
        <p:spPr>
          <a:xfrm>
            <a:off x="8759502" y="1629594"/>
            <a:ext cx="2686425" cy="3991532"/>
          </a:xfrm>
          <a:prstGeom prst="rect">
            <a:avLst/>
          </a:prstGeom>
        </p:spPr>
      </p:pic>
      <p:pic>
        <p:nvPicPr>
          <p:cNvPr id="10" name="图片 9"/>
          <p:cNvPicPr>
            <a:picLocks noChangeAspect="1"/>
          </p:cNvPicPr>
          <p:nvPr/>
        </p:nvPicPr>
        <p:blipFill>
          <a:blip r:embed="rId5"/>
          <a:stretch>
            <a:fillRect/>
          </a:stretch>
        </p:blipFill>
        <p:spPr>
          <a:xfrm>
            <a:off x="910630" y="1272271"/>
            <a:ext cx="4382954" cy="502793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6" name="文本框 5"/>
          <p:cNvSpPr txBox="1"/>
          <p:nvPr/>
        </p:nvSpPr>
        <p:spPr>
          <a:xfrm>
            <a:off x="1270670" y="1721634"/>
            <a:ext cx="11350040" cy="3416320"/>
          </a:xfrm>
          <a:prstGeom prst="rect">
            <a:avLst/>
          </a:prstGeom>
          <a:noFill/>
        </p:spPr>
        <p:txBody>
          <a:bodyPr wrap="square">
            <a:spAutoFit/>
          </a:bodyPr>
          <a:lstStyle/>
          <a:p>
            <a:r>
              <a:rPr lang="en-US" altLang="zh-CN" dirty="0" err="1"/>
              <a:t>ActionSheet</a:t>
            </a:r>
            <a:r>
              <a:rPr lang="zh-CN" altLang="en-US" dirty="0"/>
              <a:t>构造参数如下：</a:t>
            </a:r>
          </a:p>
          <a:p>
            <a:r>
              <a:rPr lang="en-US" altLang="zh-CN" dirty="0"/>
              <a:t>	title:</a:t>
            </a:r>
            <a:r>
              <a:rPr lang="zh-CN" altLang="en-US" dirty="0"/>
              <a:t>弹窗标题。</a:t>
            </a:r>
          </a:p>
          <a:p>
            <a:r>
              <a:rPr lang="en-US" altLang="zh-CN" dirty="0"/>
              <a:t>	message:</a:t>
            </a:r>
            <a:r>
              <a:rPr lang="zh-CN" altLang="en-US" dirty="0"/>
              <a:t>弹框内容。</a:t>
            </a:r>
          </a:p>
          <a:p>
            <a:r>
              <a:rPr lang="en-US" altLang="zh-CN" dirty="0"/>
              <a:t>	confirm:</a:t>
            </a:r>
            <a:r>
              <a:rPr lang="zh-CN" altLang="en-US" dirty="0"/>
              <a:t>确认按钮的文本内容、文本色、按钮背景色和点击回调。</a:t>
            </a:r>
          </a:p>
          <a:p>
            <a:r>
              <a:rPr lang="en-US" altLang="zh-CN" dirty="0"/>
              <a:t>	cancel:</a:t>
            </a:r>
            <a:r>
              <a:rPr lang="zh-CN" altLang="en-US" dirty="0"/>
              <a:t>点击遮障层关闭</a:t>
            </a:r>
            <a:r>
              <a:rPr lang="en-US" altLang="zh-CN" dirty="0"/>
              <a:t>dialog</a:t>
            </a:r>
            <a:r>
              <a:rPr lang="zh-CN" altLang="en-US" dirty="0"/>
              <a:t>时的回调。</a:t>
            </a:r>
          </a:p>
          <a:p>
            <a:r>
              <a:rPr lang="en-US" altLang="zh-CN" dirty="0"/>
              <a:t>	</a:t>
            </a:r>
            <a:r>
              <a:rPr lang="en-US" altLang="zh-CN" dirty="0" err="1"/>
              <a:t>autoCancel</a:t>
            </a:r>
            <a:r>
              <a:rPr lang="en-US" altLang="zh-CN" dirty="0"/>
              <a:t>:</a:t>
            </a:r>
            <a:r>
              <a:rPr lang="zh-CN" altLang="en-US" dirty="0"/>
              <a:t>点击遮障层时，是否关闭弹窗。默认值</a:t>
            </a:r>
            <a:r>
              <a:rPr lang="en-US" altLang="zh-CN" dirty="0"/>
              <a:t>true</a:t>
            </a:r>
            <a:r>
              <a:rPr lang="zh-CN" altLang="en-US" dirty="0"/>
              <a:t>。</a:t>
            </a:r>
          </a:p>
          <a:p>
            <a:r>
              <a:rPr lang="en-US" altLang="zh-CN" dirty="0"/>
              <a:t>	alignment:</a:t>
            </a:r>
            <a:r>
              <a:rPr lang="zh-CN" altLang="en-US" dirty="0"/>
              <a:t>弹窗在垂直方向上的对齐方式。</a:t>
            </a:r>
          </a:p>
          <a:p>
            <a:r>
              <a:rPr lang="en-US" altLang="zh-CN" dirty="0"/>
              <a:t>	offset:</a:t>
            </a:r>
            <a:r>
              <a:rPr lang="zh-CN" altLang="en-US" dirty="0"/>
              <a:t>弹窗相对</a:t>
            </a:r>
            <a:r>
              <a:rPr lang="en-US" altLang="zh-CN" dirty="0"/>
              <a:t>alignment</a:t>
            </a:r>
            <a:r>
              <a:rPr lang="zh-CN" altLang="en-US" dirty="0"/>
              <a:t>所在位置的偏移量。</a:t>
            </a:r>
          </a:p>
          <a:p>
            <a:r>
              <a:rPr lang="en-US" altLang="zh-CN" dirty="0"/>
              <a:t>	sheets:</a:t>
            </a:r>
            <a:r>
              <a:rPr lang="zh-CN" altLang="en-US" dirty="0"/>
              <a:t>设置选项内容，每个选择项支持设置图片、文本和选中的回调。</a:t>
            </a: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列表选择弹窗</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警告弹窗</a:t>
            </a:r>
            <a:endParaRPr lang="en-US" altLang="zh-CN" dirty="0"/>
          </a:p>
        </p:txBody>
      </p:sp>
      <p:pic>
        <p:nvPicPr>
          <p:cNvPr id="5" name="图片 4"/>
          <p:cNvPicPr>
            <a:picLocks noChangeAspect="1"/>
          </p:cNvPicPr>
          <p:nvPr/>
        </p:nvPicPr>
        <p:blipFill>
          <a:blip r:embed="rId3"/>
          <a:srcRect b="41388"/>
          <a:stretch>
            <a:fillRect/>
          </a:stretch>
        </p:blipFill>
        <p:spPr>
          <a:xfrm>
            <a:off x="417835" y="2434205"/>
            <a:ext cx="3052070" cy="3059242"/>
          </a:xfrm>
          <a:prstGeom prst="rect">
            <a:avLst/>
          </a:prstGeom>
        </p:spPr>
      </p:pic>
      <p:pic>
        <p:nvPicPr>
          <p:cNvPr id="9" name="图片 8"/>
          <p:cNvPicPr>
            <a:picLocks noChangeAspect="1"/>
          </p:cNvPicPr>
          <p:nvPr/>
        </p:nvPicPr>
        <p:blipFill>
          <a:blip r:embed="rId3"/>
          <a:srcRect t="58541"/>
          <a:stretch>
            <a:fillRect/>
          </a:stretch>
        </p:blipFill>
        <p:spPr>
          <a:xfrm>
            <a:off x="3469905" y="2565698"/>
            <a:ext cx="3943900" cy="2796256"/>
          </a:xfrm>
          <a:prstGeom prst="rect">
            <a:avLst/>
          </a:prstGeom>
        </p:spPr>
      </p:pic>
      <p:pic>
        <p:nvPicPr>
          <p:cNvPr id="12" name="图片 11"/>
          <p:cNvPicPr>
            <a:picLocks noChangeAspect="1"/>
          </p:cNvPicPr>
          <p:nvPr/>
        </p:nvPicPr>
        <p:blipFill>
          <a:blip r:embed="rId4"/>
          <a:stretch>
            <a:fillRect/>
          </a:stretch>
        </p:blipFill>
        <p:spPr>
          <a:xfrm>
            <a:off x="8096022" y="3199071"/>
            <a:ext cx="3067478" cy="2438740"/>
          </a:xfrm>
          <a:prstGeom prst="rect">
            <a:avLst/>
          </a:prstGeom>
        </p:spPr>
      </p:pic>
      <p:pic>
        <p:nvPicPr>
          <p:cNvPr id="14" name="图片 13"/>
          <p:cNvPicPr>
            <a:picLocks noChangeAspect="1"/>
          </p:cNvPicPr>
          <p:nvPr/>
        </p:nvPicPr>
        <p:blipFill>
          <a:blip r:embed="rId5"/>
          <a:stretch>
            <a:fillRect/>
          </a:stretch>
        </p:blipFill>
        <p:spPr>
          <a:xfrm>
            <a:off x="8096022" y="2307583"/>
            <a:ext cx="3067478" cy="72400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6" name="文本框 5"/>
          <p:cNvSpPr txBox="1"/>
          <p:nvPr/>
        </p:nvSpPr>
        <p:spPr>
          <a:xfrm>
            <a:off x="1270670" y="1721634"/>
            <a:ext cx="11350040" cy="4791696"/>
          </a:xfrm>
          <a:prstGeom prst="rect">
            <a:avLst/>
          </a:prstGeom>
          <a:noFill/>
        </p:spPr>
        <p:txBody>
          <a:bodyPr wrap="square">
            <a:spAutoFit/>
          </a:bodyPr>
          <a:lstStyle/>
          <a:p>
            <a:pPr algn="l" fontAlgn="base">
              <a:lnSpc>
                <a:spcPts val="2250"/>
              </a:lnSpc>
              <a:spcAft>
                <a:spcPts val="300"/>
              </a:spcAft>
              <a:buNone/>
            </a:pPr>
            <a:r>
              <a:rPr lang="en-US" altLang="zh-CN" b="0" i="0" dirty="0" err="1">
                <a:solidFill>
                  <a:srgbClr val="343434"/>
                </a:solidFill>
                <a:effectLst/>
                <a:latin typeface="PingFang SC"/>
              </a:rPr>
              <a:t>DatePickerDialog</a:t>
            </a:r>
            <a:r>
              <a:rPr lang="zh-CN" altLang="en-US" b="0" i="0" dirty="0">
                <a:solidFill>
                  <a:srgbClr val="343434"/>
                </a:solidFill>
                <a:effectLst/>
                <a:latin typeface="PingFang SC"/>
              </a:rPr>
              <a:t>构造参数如下</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start:</a:t>
            </a:r>
            <a:r>
              <a:rPr lang="zh-CN" altLang="en-US" b="0" i="0" dirty="0">
                <a:solidFill>
                  <a:srgbClr val="343434"/>
                </a:solidFill>
                <a:effectLst/>
                <a:latin typeface="PingFang SC"/>
              </a:rPr>
              <a:t>设置选择器的起始日期，默认值为</a:t>
            </a:r>
            <a:r>
              <a:rPr lang="en-US" altLang="zh-CN" b="0" i="0" dirty="0">
                <a:solidFill>
                  <a:srgbClr val="343434"/>
                </a:solidFill>
                <a:effectLst/>
                <a:latin typeface="PingFang SC"/>
              </a:rPr>
              <a:t>Date(“1970-1-1”)</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end:</a:t>
            </a:r>
            <a:r>
              <a:rPr lang="zh-CN" altLang="en-US" b="0" i="0" dirty="0">
                <a:solidFill>
                  <a:srgbClr val="343434"/>
                </a:solidFill>
                <a:effectLst/>
                <a:latin typeface="PingFang SC"/>
              </a:rPr>
              <a:t>设置选择器的结束日期，默认值为</a:t>
            </a:r>
            <a:r>
              <a:rPr lang="en-US" altLang="zh-CN" b="0" i="0" dirty="0">
                <a:solidFill>
                  <a:srgbClr val="343434"/>
                </a:solidFill>
                <a:effectLst/>
                <a:latin typeface="PingFang SC"/>
              </a:rPr>
              <a:t>Date(“2100-12-31”)</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selected:</a:t>
            </a:r>
            <a:r>
              <a:rPr lang="zh-CN" altLang="en-US" b="0" i="0" dirty="0">
                <a:solidFill>
                  <a:srgbClr val="343434"/>
                </a:solidFill>
                <a:effectLst/>
                <a:latin typeface="PingFang SC"/>
              </a:rPr>
              <a:t>设置当前选中的日期，默认值为系统当前时间。</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a:solidFill>
                  <a:srgbClr val="343434"/>
                </a:solidFill>
                <a:effectLst/>
                <a:latin typeface="PingFang SC"/>
              </a:rPr>
              <a:t>lunar:</a:t>
            </a:r>
            <a:r>
              <a:rPr lang="zh-CN" altLang="en-US" b="0" i="0" dirty="0">
                <a:solidFill>
                  <a:srgbClr val="343434"/>
                </a:solidFill>
                <a:effectLst/>
                <a:latin typeface="PingFang SC"/>
              </a:rPr>
              <a:t>日期是否显示为农历，默认值为</a:t>
            </a:r>
            <a:r>
              <a:rPr lang="en-US" altLang="zh-CN" b="0" i="0" dirty="0">
                <a:solidFill>
                  <a:srgbClr val="343434"/>
                </a:solidFill>
                <a:effectLst/>
                <a:latin typeface="PingFang SC"/>
              </a:rPr>
              <a:t>false</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onAccept</a:t>
            </a:r>
            <a:r>
              <a:rPr lang="en-US" altLang="zh-CN" b="0" i="0" dirty="0">
                <a:solidFill>
                  <a:srgbClr val="343434"/>
                </a:solidFill>
                <a:effectLst/>
                <a:latin typeface="PingFang SC"/>
              </a:rPr>
              <a:t>:</a:t>
            </a:r>
            <a:r>
              <a:rPr lang="zh-CN" altLang="en-US" b="0" i="0" dirty="0">
                <a:solidFill>
                  <a:srgbClr val="343434"/>
                </a:solidFill>
                <a:effectLst/>
                <a:latin typeface="PingFang SC"/>
              </a:rPr>
              <a:t>点击弹窗中的“确定”按钮时触发该回调。</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onCancel</a:t>
            </a:r>
            <a:r>
              <a:rPr lang="en-US" altLang="zh-CN" b="0" i="0" dirty="0">
                <a:solidFill>
                  <a:srgbClr val="343434"/>
                </a:solidFill>
                <a:effectLst/>
                <a:latin typeface="PingFang SC"/>
              </a:rPr>
              <a:t>:</a:t>
            </a:r>
            <a:r>
              <a:rPr lang="zh-CN" altLang="en-US" b="0" i="0" dirty="0">
                <a:solidFill>
                  <a:srgbClr val="343434"/>
                </a:solidFill>
                <a:effectLst/>
                <a:latin typeface="PingFang SC"/>
              </a:rPr>
              <a:t>点击弹窗中的“取消”按钮时触发该回调。</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pPr>
            <a:r>
              <a:rPr lang="en-US" altLang="zh-CN" b="0" i="0" dirty="0">
                <a:solidFill>
                  <a:srgbClr val="343434"/>
                </a:solidFill>
                <a:effectLst/>
                <a:latin typeface="PingFang SC"/>
              </a:rPr>
              <a:t>	</a:t>
            </a:r>
            <a:r>
              <a:rPr lang="en-US" altLang="zh-CN" b="0" i="0" dirty="0" err="1">
                <a:solidFill>
                  <a:srgbClr val="343434"/>
                </a:solidFill>
                <a:effectLst/>
                <a:latin typeface="PingFang SC"/>
              </a:rPr>
              <a:t>onChange</a:t>
            </a:r>
            <a:r>
              <a:rPr lang="en-US" altLang="zh-CN" b="0" i="0" dirty="0">
                <a:solidFill>
                  <a:srgbClr val="343434"/>
                </a:solidFill>
                <a:effectLst/>
                <a:latin typeface="PingFang SC"/>
              </a:rPr>
              <a:t>:</a:t>
            </a:r>
            <a:r>
              <a:rPr lang="zh-CN" altLang="en-US" b="0" i="0" dirty="0">
                <a:solidFill>
                  <a:srgbClr val="343434"/>
                </a:solidFill>
                <a:effectLst/>
                <a:latin typeface="PingFang SC"/>
              </a:rPr>
              <a:t>滑动弹窗中的滑动选择器使当前选中项改变时触发该回调。</a:t>
            </a: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日期选择弹窗</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警告弹窗</a:t>
            </a:r>
            <a:endParaRPr lang="en-US" altLang="zh-CN" dirty="0"/>
          </a:p>
        </p:txBody>
      </p:sp>
      <p:pic>
        <p:nvPicPr>
          <p:cNvPr id="4" name="图片 3"/>
          <p:cNvPicPr>
            <a:picLocks noChangeAspect="1"/>
          </p:cNvPicPr>
          <p:nvPr/>
        </p:nvPicPr>
        <p:blipFill>
          <a:blip r:embed="rId3"/>
          <a:stretch>
            <a:fillRect/>
          </a:stretch>
        </p:blipFill>
        <p:spPr>
          <a:xfrm>
            <a:off x="190550" y="2020960"/>
            <a:ext cx="7551533" cy="3635698"/>
          </a:xfrm>
          <a:prstGeom prst="rect">
            <a:avLst/>
          </a:prstGeom>
        </p:spPr>
      </p:pic>
      <p:pic>
        <p:nvPicPr>
          <p:cNvPr id="11" name="图片 10"/>
          <p:cNvPicPr>
            <a:picLocks noChangeAspect="1"/>
          </p:cNvPicPr>
          <p:nvPr/>
        </p:nvPicPr>
        <p:blipFill>
          <a:blip r:embed="rId4"/>
          <a:stretch>
            <a:fillRect/>
          </a:stretch>
        </p:blipFill>
        <p:spPr>
          <a:xfrm>
            <a:off x="7741357" y="1125538"/>
            <a:ext cx="4258506" cy="529551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6" name="文本框 5"/>
          <p:cNvSpPr txBox="1"/>
          <p:nvPr/>
        </p:nvSpPr>
        <p:spPr>
          <a:xfrm>
            <a:off x="1342390" y="1741805"/>
            <a:ext cx="9407525" cy="4843145"/>
          </a:xfrm>
          <a:prstGeom prst="rect">
            <a:avLst/>
          </a:prstGeom>
          <a:noFill/>
        </p:spPr>
        <p:txBody>
          <a:bodyPr wrap="square">
            <a:noAutofit/>
          </a:bodyPr>
          <a:lstStyle/>
          <a:p>
            <a:pPr lvl="0" algn="l">
              <a:buClrTx/>
              <a:buSzTx/>
              <a:buFontTx/>
            </a:pPr>
            <a:r>
              <a:rPr lang="zh-CN" altLang="en-US" dirty="0">
                <a:sym typeface="+mn-ea"/>
              </a:rPr>
              <a:t>CustomDialogController 构造参数：</a:t>
            </a:r>
          </a:p>
          <a:p>
            <a:pPr lvl="1" algn="l"/>
            <a:r>
              <a:rPr>
                <a:sym typeface="+mn-ea"/>
              </a:rPr>
              <a:t>CustomDialogController 的创建需要 CustomDialogControllerOptions 对象：</a:t>
            </a:r>
          </a:p>
          <a:p>
            <a:pPr lvl="1" algn="l"/>
            <a:r>
              <a:rPr>
                <a:sym typeface="+mn-ea"/>
              </a:rPr>
              <a:t>builder：自定义弹窗内容构造器。</a:t>
            </a:r>
          </a:p>
          <a:p>
            <a:pPr lvl="1" algn="l"/>
            <a:r>
              <a:rPr>
                <a:sym typeface="+mn-ea"/>
              </a:rPr>
              <a:t>cancel()：点击遮障层退出时的回调。</a:t>
            </a:r>
          </a:p>
          <a:p>
            <a:pPr lvl="1" algn="l"/>
            <a:r>
              <a:rPr>
                <a:sym typeface="+mn-ea"/>
              </a:rPr>
              <a:t>autoCancel：是否允许点击遮障层退出，默认值为 true。</a:t>
            </a:r>
          </a:p>
          <a:p>
            <a:pPr lvl="1" algn="l"/>
            <a:r>
              <a:rPr>
                <a:sym typeface="+mn-ea"/>
              </a:rPr>
              <a:t>alignment：弹窗在竖直方向上的对齐方式。</a:t>
            </a:r>
          </a:p>
          <a:p>
            <a:pPr lvl="1" algn="l"/>
            <a:r>
              <a:rPr>
                <a:sym typeface="+mn-ea"/>
              </a:rPr>
              <a:t>offset：弹窗相对 alignment 所在位置的偏移量。</a:t>
            </a:r>
          </a:p>
          <a:p>
            <a:pPr lvl="1" algn="l"/>
            <a:r>
              <a:rPr>
                <a:sym typeface="+mn-ea"/>
              </a:rPr>
              <a:t>customStyle：弹窗容器样式是否自定义。</a:t>
            </a:r>
          </a:p>
          <a:p>
            <a:pPr lvl="1" algn="l"/>
            <a:r>
              <a:rPr>
                <a:sym typeface="+mn-ea"/>
              </a:rPr>
              <a:t>gridCount：弹窗宽度占栅格宽度的个数。</a:t>
            </a:r>
          </a:p>
          <a:p>
            <a:pPr lvl="1" algn="l"/>
            <a:r>
              <a:rPr>
                <a:sym typeface="+mn-ea"/>
              </a:rPr>
              <a:t>open()：显示自定义弹窗。</a:t>
            </a:r>
          </a:p>
          <a:p>
            <a:pPr lvl="1" algn="l"/>
            <a:r>
              <a:rPr>
                <a:sym typeface="+mn-ea"/>
              </a:rPr>
              <a:t>close()：关闭显示的自定义弹窗。</a:t>
            </a:r>
          </a:p>
        </p:txBody>
      </p:sp>
      <p:sp>
        <p:nvSpPr>
          <p:cNvPr id="3" name="文本框 2"/>
          <p:cNvSpPr txBox="1"/>
          <p:nvPr/>
        </p:nvSpPr>
        <p:spPr>
          <a:xfrm>
            <a:off x="406216" y="765632"/>
            <a:ext cx="6093068" cy="461665"/>
          </a:xfrm>
          <a:prstGeom prst="rect">
            <a:avLst/>
          </a:prstGeom>
          <a:noFill/>
        </p:spPr>
        <p:txBody>
          <a:bodyPr wrap="square">
            <a:spAutoFit/>
          </a:bodyPr>
          <a:lstStyle/>
          <a:p>
            <a:r>
              <a:rPr lang="zh-CN" altLang="en-US" dirty="0"/>
              <a:t>自定义弹窗</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6" name="文本框 5"/>
          <p:cNvSpPr txBox="1"/>
          <p:nvPr/>
        </p:nvSpPr>
        <p:spPr>
          <a:xfrm>
            <a:off x="0" y="1701602"/>
            <a:ext cx="11891198" cy="2803332"/>
          </a:xfrm>
          <a:prstGeom prst="rect">
            <a:avLst/>
          </a:prstGeom>
          <a:noFill/>
        </p:spPr>
        <p:txBody>
          <a:bodyPr wrap="square">
            <a:spAutoFit/>
          </a:bodyPr>
          <a:lstStyle/>
          <a:p>
            <a:pPr lvl="1" fontAlgn="base">
              <a:lnSpc>
                <a:spcPct val="150000"/>
              </a:lnSpc>
              <a:spcAft>
                <a:spcPts val="300"/>
              </a:spcAft>
            </a:pPr>
            <a:r>
              <a:rPr lang="en-US" altLang="zh-CN" b="0" i="0" dirty="0" err="1">
                <a:solidFill>
                  <a:srgbClr val="343434"/>
                </a:solidFill>
                <a:effectLst/>
                <a:latin typeface="PingFang SC"/>
              </a:rPr>
              <a:t>CustomArkDialog</a:t>
            </a:r>
            <a:r>
              <a:rPr lang="en-US" altLang="zh-CN" b="0" i="0" dirty="0">
                <a:solidFill>
                  <a:srgbClr val="343434"/>
                </a:solidFill>
                <a:effectLst/>
                <a:latin typeface="PingFang SC"/>
              </a:rPr>
              <a:t> </a:t>
            </a:r>
            <a:r>
              <a:rPr lang="zh-CN" altLang="en-US" b="0" i="0" dirty="0">
                <a:solidFill>
                  <a:srgbClr val="343434"/>
                </a:solidFill>
                <a:effectLst/>
                <a:latin typeface="PingFang SC"/>
              </a:rPr>
              <a:t>的布局很简单，仿照的是 </a:t>
            </a:r>
            <a:r>
              <a:rPr lang="en-US" altLang="zh-CN" b="0" i="0" dirty="0">
                <a:solidFill>
                  <a:srgbClr val="343434"/>
                </a:solidFill>
                <a:effectLst/>
                <a:latin typeface="PingFang SC"/>
              </a:rPr>
              <a:t>iOS </a:t>
            </a:r>
            <a:r>
              <a:rPr lang="zh-CN" altLang="en-US" b="0" i="0" dirty="0">
                <a:solidFill>
                  <a:srgbClr val="343434"/>
                </a:solidFill>
                <a:effectLst/>
                <a:latin typeface="PingFang SC"/>
              </a:rPr>
              <a:t>的低电量弹窗。需要注意的是，用 </a:t>
            </a:r>
            <a:r>
              <a:rPr lang="en-US" altLang="zh-CN" b="0" i="0" dirty="0">
                <a:solidFill>
                  <a:srgbClr val="343434"/>
                </a:solidFill>
                <a:effectLst/>
                <a:latin typeface="PingFang SC"/>
              </a:rPr>
              <a:t>@CustomDialog </a:t>
            </a:r>
            <a:r>
              <a:rPr lang="zh-CN" altLang="en-US" b="0" i="0" dirty="0">
                <a:solidFill>
                  <a:srgbClr val="343434"/>
                </a:solidFill>
                <a:effectLst/>
                <a:latin typeface="PingFang SC"/>
              </a:rPr>
              <a:t>修饰符创建的组件，内部必须要定义一个 </a:t>
            </a:r>
            <a:r>
              <a:rPr lang="en-US" altLang="zh-CN" b="0" i="0" dirty="0" err="1">
                <a:solidFill>
                  <a:srgbClr val="343434"/>
                </a:solidFill>
                <a:effectLst/>
                <a:latin typeface="PingFang SC"/>
              </a:rPr>
              <a:t>CustomDialogController</a:t>
            </a:r>
            <a:r>
              <a:rPr lang="en-US" altLang="zh-CN" b="0" i="0" dirty="0">
                <a:solidFill>
                  <a:srgbClr val="343434"/>
                </a:solidFill>
                <a:effectLst/>
                <a:latin typeface="PingFang SC"/>
              </a:rPr>
              <a:t> </a:t>
            </a:r>
            <a:r>
              <a:rPr lang="zh-CN" altLang="en-US" b="0" i="0" dirty="0">
                <a:solidFill>
                  <a:srgbClr val="343434"/>
                </a:solidFill>
                <a:effectLst/>
                <a:latin typeface="PingFang SC"/>
              </a:rPr>
              <a:t>类型的属性，该属性的初始化由 </a:t>
            </a:r>
            <a:r>
              <a:rPr lang="en-US" altLang="zh-CN" b="0" i="0" dirty="0" err="1">
                <a:solidFill>
                  <a:srgbClr val="343434"/>
                </a:solidFill>
                <a:effectLst/>
                <a:latin typeface="PingFang SC"/>
              </a:rPr>
              <a:t>ArkUI</a:t>
            </a:r>
            <a:r>
              <a:rPr lang="en-US" altLang="zh-CN" b="0" i="0" dirty="0">
                <a:solidFill>
                  <a:srgbClr val="343434"/>
                </a:solidFill>
                <a:effectLst/>
                <a:latin typeface="PingFang SC"/>
              </a:rPr>
              <a:t> </a:t>
            </a:r>
            <a:r>
              <a:rPr lang="zh-CN" altLang="en-US" b="0" i="0" dirty="0">
                <a:solidFill>
                  <a:srgbClr val="343434"/>
                </a:solidFill>
                <a:effectLst/>
                <a:latin typeface="PingFang SC"/>
              </a:rPr>
              <a:t>框架自动完成，不需要开发者手动进行初始化操作。这样做的目的是方便开发者控制弹窗的显示和关闭，另外对属性的访问权限不做要求，如果不定义该属性，在项目编译的时候会出现如下异常：</a:t>
            </a: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自定义弹窗</a:t>
            </a:r>
            <a:endParaRPr lang="en-US" altLang="zh-CN" dirty="0"/>
          </a:p>
        </p:txBody>
      </p:sp>
      <p:pic>
        <p:nvPicPr>
          <p:cNvPr id="4" name="图片 3"/>
          <p:cNvPicPr>
            <a:picLocks noChangeAspect="1"/>
          </p:cNvPicPr>
          <p:nvPr/>
        </p:nvPicPr>
        <p:blipFill>
          <a:blip r:embed="rId3"/>
          <a:stretch>
            <a:fillRect/>
          </a:stretch>
        </p:blipFill>
        <p:spPr>
          <a:xfrm>
            <a:off x="107908" y="4874018"/>
            <a:ext cx="11974596" cy="10383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p>
        </p:txBody>
      </p:sp>
      <p:sp>
        <p:nvSpPr>
          <p:cNvPr id="3" name="文本框 2"/>
          <p:cNvSpPr txBox="1"/>
          <p:nvPr/>
        </p:nvSpPr>
        <p:spPr>
          <a:xfrm>
            <a:off x="190550" y="1104129"/>
            <a:ext cx="7551532" cy="830997"/>
          </a:xfrm>
          <a:prstGeom prst="rect">
            <a:avLst/>
          </a:prstGeom>
          <a:noFill/>
        </p:spPr>
        <p:txBody>
          <a:bodyPr wrap="square">
            <a:spAutoFit/>
          </a:bodyPr>
          <a:lstStyle/>
          <a:p>
            <a:r>
              <a:rPr lang="zh-CN" altLang="en-US" dirty="0"/>
              <a:t>定义完</a:t>
            </a:r>
            <a:r>
              <a:rPr lang="en-US" altLang="zh-CN" dirty="0" err="1"/>
              <a:t>CustomArkDialog</a:t>
            </a:r>
            <a:r>
              <a:rPr lang="zh-CN" altLang="en-US" dirty="0"/>
              <a:t>后，使用</a:t>
            </a:r>
            <a:r>
              <a:rPr lang="en-US" altLang="zh-CN" dirty="0" err="1"/>
              <a:t>CustomDialogController</a:t>
            </a:r>
            <a:r>
              <a:rPr lang="zh-CN" altLang="en-US" dirty="0"/>
              <a:t>来创建自定义弹框。示例代码如下所示：</a:t>
            </a:r>
            <a:endParaRPr lang="en-US" altLang="zh-CN" dirty="0"/>
          </a:p>
        </p:txBody>
      </p:sp>
      <p:pic>
        <p:nvPicPr>
          <p:cNvPr id="5" name="图片 4"/>
          <p:cNvPicPr>
            <a:picLocks noChangeAspect="1"/>
          </p:cNvPicPr>
          <p:nvPr/>
        </p:nvPicPr>
        <p:blipFill>
          <a:blip r:embed="rId3"/>
          <a:stretch>
            <a:fillRect/>
          </a:stretch>
        </p:blipFill>
        <p:spPr>
          <a:xfrm>
            <a:off x="1774885" y="1918008"/>
            <a:ext cx="5547756" cy="4902112"/>
          </a:xfrm>
          <a:prstGeom prst="rect">
            <a:avLst/>
          </a:prstGeom>
        </p:spPr>
      </p:pic>
      <p:pic>
        <p:nvPicPr>
          <p:cNvPr id="8" name="图片 7"/>
          <p:cNvPicPr>
            <a:picLocks noChangeAspect="1"/>
          </p:cNvPicPr>
          <p:nvPr/>
        </p:nvPicPr>
        <p:blipFill>
          <a:blip r:embed="rId4"/>
          <a:stretch>
            <a:fillRect/>
          </a:stretch>
        </p:blipFill>
        <p:spPr>
          <a:xfrm>
            <a:off x="8111688" y="2133397"/>
            <a:ext cx="2991267" cy="40105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p>
        </p:txBody>
      </p:sp>
      <p:sp>
        <p:nvSpPr>
          <p:cNvPr id="4" name="文本框 3"/>
          <p:cNvSpPr txBox="1"/>
          <p:nvPr/>
        </p:nvSpPr>
        <p:spPr>
          <a:xfrm>
            <a:off x="694690" y="1053465"/>
            <a:ext cx="9732010" cy="5262245"/>
          </a:xfrm>
          <a:prstGeom prst="rect">
            <a:avLst/>
          </a:prstGeom>
          <a:noFill/>
        </p:spPr>
        <p:txBody>
          <a:bodyPr wrap="square">
            <a:spAutoFit/>
          </a:bodyPr>
          <a:lstStyle/>
          <a:p>
            <a:pPr algn="just"/>
            <a:r>
              <a:rPr lang="zh-CN" altLang="en-US" dirty="0"/>
              <a:t>主要介绍滑动条组件、评分条组件、滚动组件、下拉列表、轮播组件和下拉刷新，这些组件可以让页面内容更加丰富。</a:t>
            </a:r>
            <a:endParaRPr lang="en-US" altLang="zh-CN" dirty="0"/>
          </a:p>
          <a:p>
            <a:pPr marL="342900" indent="-342900" algn="just">
              <a:buFont typeface="Wingdings" panose="05000000000000000000" charset="0"/>
              <a:buChar char="l"/>
            </a:pPr>
            <a:r>
              <a:rPr lang="zh-CN" altLang="en-US" dirty="0"/>
              <a:t>滑动条组件是常用的交互组件，可以让用户调整音量、亮度、选择年龄、价格等。</a:t>
            </a:r>
            <a:endParaRPr lang="en-US" altLang="zh-CN" dirty="0"/>
          </a:p>
          <a:p>
            <a:pPr marL="342900" indent="-342900" algn="just">
              <a:buFont typeface="Wingdings" panose="05000000000000000000" charset="0"/>
              <a:buChar char="l"/>
            </a:pPr>
            <a:r>
              <a:rPr lang="zh-CN" altLang="en-US" dirty="0"/>
              <a:t>评分条组件是常见的评价和打分工具，用户可以通过点击星星或其他图标进行评分。</a:t>
            </a:r>
            <a:endParaRPr lang="en-US" altLang="zh-CN" dirty="0"/>
          </a:p>
          <a:p>
            <a:pPr marL="342900" indent="-342900" algn="just">
              <a:buFont typeface="Wingdings" panose="05000000000000000000" charset="0"/>
              <a:buChar char="l"/>
            </a:pPr>
            <a:r>
              <a:rPr lang="zh-CN" altLang="en-US" dirty="0"/>
              <a:t>滚动组件可以让页面内容在有限的空间内进行滚动展示，节省页面空间，如展示长文本、图片、表格等内容。</a:t>
            </a:r>
            <a:endParaRPr lang="en-US" altLang="zh-CN" dirty="0"/>
          </a:p>
          <a:p>
            <a:pPr marL="342900" indent="-342900" algn="just">
              <a:buFont typeface="Wingdings" panose="05000000000000000000" charset="0"/>
              <a:buChar char="l"/>
            </a:pPr>
            <a:r>
              <a:rPr lang="zh-CN" altLang="en-US" dirty="0"/>
              <a:t>下拉列表是常见的选择工具，用户可以从多个选项中选择一个或多个选项，如选择城市、日期、颜色等。</a:t>
            </a:r>
            <a:endParaRPr lang="en-US" altLang="zh-CN" dirty="0"/>
          </a:p>
          <a:p>
            <a:pPr marL="342900" indent="-342900" algn="just">
              <a:buFont typeface="Wingdings" panose="05000000000000000000" charset="0"/>
              <a:buChar char="l"/>
            </a:pPr>
            <a:r>
              <a:rPr lang="zh-CN" altLang="en-US" dirty="0"/>
              <a:t>轮播组件可以让多张图片或内容在同一位置进行轮流展示，如展示广告、新闻、产品等内容。</a:t>
            </a:r>
            <a:endParaRPr lang="en-US" altLang="zh-CN" dirty="0"/>
          </a:p>
          <a:p>
            <a:pPr indent="0" algn="just">
              <a:buFont typeface="Wingdings" panose="05000000000000000000" charset="0"/>
              <a:buNone/>
            </a:pPr>
            <a:r>
              <a:rPr lang="zh-CN" altLang="en-US" dirty="0"/>
              <a:t>这些组件的设计和使用需要考虑到各种因素，如评分方式、滚动方式、选项样式、轮播方式、刷新方式等，以提高用户的体验和效率。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p>
        </p:txBody>
      </p:sp>
      <p:sp>
        <p:nvSpPr>
          <p:cNvPr id="4" name="文本框 3"/>
          <p:cNvSpPr txBox="1"/>
          <p:nvPr/>
        </p:nvSpPr>
        <p:spPr>
          <a:xfrm>
            <a:off x="622300" y="1341120"/>
            <a:ext cx="10641330" cy="4523105"/>
          </a:xfrm>
          <a:prstGeom prst="rect">
            <a:avLst/>
          </a:prstGeom>
          <a:noFill/>
        </p:spPr>
        <p:txBody>
          <a:bodyPr wrap="square">
            <a:spAutoFit/>
          </a:bodyPr>
          <a:lstStyle/>
          <a:p>
            <a:pPr algn="just"/>
            <a:r>
              <a:rPr lang="en-US" altLang="zh-CN" dirty="0"/>
              <a:t>Slider</a:t>
            </a:r>
            <a:r>
              <a:rPr lang="zh-CN" altLang="en-US" dirty="0"/>
              <a:t>构造参数</a:t>
            </a:r>
          </a:p>
          <a:p>
            <a:pPr lvl="1" algn="just"/>
            <a:r>
              <a:rPr lang="en-US" altLang="zh-CN" dirty="0" err="1"/>
              <a:t>options:Slider</a:t>
            </a:r>
            <a:r>
              <a:rPr lang="zh-CN" altLang="en-US" dirty="0"/>
              <a:t>接收一个</a:t>
            </a:r>
            <a:r>
              <a:rPr lang="en-US" altLang="zh-CN" dirty="0" err="1"/>
              <a:t>SliderOptions</a:t>
            </a:r>
            <a:r>
              <a:rPr lang="zh-CN" altLang="en-US" dirty="0"/>
              <a:t>类型的可选参数，</a:t>
            </a:r>
            <a:r>
              <a:rPr lang="en-US" altLang="zh-CN" dirty="0" err="1"/>
              <a:t>SliderOptions</a:t>
            </a:r>
            <a:r>
              <a:rPr lang="zh-CN" altLang="en-US" dirty="0"/>
              <a:t>参数说明如下：</a:t>
            </a:r>
            <a:endParaRPr lang="en-US" altLang="zh-CN" dirty="0"/>
          </a:p>
          <a:p>
            <a:pPr lvl="2" algn="just"/>
            <a:r>
              <a:rPr lang="en-US" altLang="zh-CN" dirty="0"/>
              <a:t>value:</a:t>
            </a:r>
            <a:r>
              <a:rPr lang="zh-CN" altLang="en-US" dirty="0"/>
              <a:t>滑动条当前进度值，默认值为</a:t>
            </a:r>
            <a:r>
              <a:rPr lang="en-US" altLang="zh-CN" dirty="0"/>
              <a:t>0</a:t>
            </a:r>
            <a:r>
              <a:rPr lang="zh-CN" altLang="en-US" dirty="0"/>
              <a:t>。</a:t>
            </a:r>
          </a:p>
          <a:p>
            <a:pPr lvl="2" algn="just"/>
            <a:r>
              <a:rPr lang="en-US" altLang="zh-CN" dirty="0"/>
              <a:t>min:</a:t>
            </a:r>
            <a:r>
              <a:rPr lang="zh-CN" altLang="en-US" dirty="0"/>
              <a:t>设置滑动条设置最小值，默认值为</a:t>
            </a:r>
            <a:r>
              <a:rPr lang="en-US" altLang="zh-CN" dirty="0"/>
              <a:t>0</a:t>
            </a:r>
            <a:r>
              <a:rPr lang="zh-CN" altLang="en-US" dirty="0"/>
              <a:t>。</a:t>
            </a:r>
          </a:p>
          <a:p>
            <a:pPr lvl="2" algn="just"/>
            <a:r>
              <a:rPr lang="en-US" altLang="zh-CN" dirty="0"/>
              <a:t>max:</a:t>
            </a:r>
            <a:r>
              <a:rPr lang="zh-CN" altLang="en-US" dirty="0"/>
              <a:t>设置滑动条设置最大值，默认为为</a:t>
            </a:r>
            <a:r>
              <a:rPr lang="en-US" altLang="zh-CN" dirty="0"/>
              <a:t>100</a:t>
            </a:r>
            <a:r>
              <a:rPr lang="zh-CN" altLang="en-US" dirty="0"/>
              <a:t>。</a:t>
            </a:r>
          </a:p>
          <a:p>
            <a:pPr lvl="2" algn="just"/>
            <a:r>
              <a:rPr lang="en-US" altLang="zh-CN" dirty="0"/>
              <a:t>step:</a:t>
            </a:r>
            <a:r>
              <a:rPr lang="zh-CN" altLang="en-US" dirty="0"/>
              <a:t>设置</a:t>
            </a:r>
            <a:r>
              <a:rPr lang="en-US" altLang="zh-CN" dirty="0"/>
              <a:t>Slider</a:t>
            </a:r>
            <a:r>
              <a:rPr lang="zh-CN" altLang="en-US" dirty="0"/>
              <a:t>滑动步长，默认值为</a:t>
            </a:r>
            <a:r>
              <a:rPr lang="en-US" altLang="zh-CN" dirty="0"/>
              <a:t>1</a:t>
            </a:r>
            <a:r>
              <a:rPr lang="zh-CN" altLang="en-US" dirty="0"/>
              <a:t>。</a:t>
            </a:r>
          </a:p>
          <a:p>
            <a:pPr lvl="2" algn="just"/>
            <a:r>
              <a:rPr lang="en-US" altLang="zh-CN" dirty="0"/>
              <a:t>style:</a:t>
            </a:r>
            <a:r>
              <a:rPr lang="zh-CN" altLang="en-US" dirty="0"/>
              <a:t>设置滑动条的滑块样式，默认值为</a:t>
            </a:r>
            <a:r>
              <a:rPr lang="en-US" altLang="zh-CN" dirty="0" err="1"/>
              <a:t>yle.OutSet</a:t>
            </a:r>
            <a:r>
              <a:rPr lang="en-US" altLang="zh-CN" dirty="0"/>
              <a:t>,</a:t>
            </a:r>
            <a:r>
              <a:rPr lang="zh-CN" altLang="en-US" dirty="0"/>
              <a:t>具体描述见表。</a:t>
            </a:r>
          </a:p>
          <a:p>
            <a:pPr lvl="2" algn="just"/>
            <a:r>
              <a:rPr lang="en-US" altLang="zh-CN" dirty="0"/>
              <a:t>direction:</a:t>
            </a:r>
            <a:r>
              <a:rPr lang="zh-CN" altLang="en-US" dirty="0"/>
              <a:t>设置滑动条滑动方向为水平或垂直方向，默认值为</a:t>
            </a:r>
            <a:r>
              <a:rPr lang="en-US" altLang="zh-CN" dirty="0" err="1"/>
              <a:t>Axis.Horizontal</a:t>
            </a:r>
            <a:r>
              <a:rPr lang="zh-CN" altLang="en-US" dirty="0"/>
              <a:t>。</a:t>
            </a:r>
          </a:p>
          <a:p>
            <a:pPr lvl="2" algn="just"/>
            <a:r>
              <a:rPr lang="en-US" altLang="zh-CN" dirty="0"/>
              <a:t>reverse:</a:t>
            </a:r>
            <a:r>
              <a:rPr lang="zh-CN" altLang="en-US" dirty="0"/>
              <a:t>设置滑动条取值范围是否反向，横向</a:t>
            </a:r>
            <a:r>
              <a:rPr lang="en-US" altLang="zh-CN" dirty="0"/>
              <a:t>Slider</a:t>
            </a:r>
            <a:r>
              <a:rPr lang="zh-CN" altLang="en-US" dirty="0"/>
              <a:t>默认为从左往右滑动，竖向</a:t>
            </a:r>
            <a:r>
              <a:rPr lang="en-US" altLang="zh-CN" dirty="0"/>
              <a:t>Slider</a:t>
            </a:r>
            <a:r>
              <a:rPr lang="zh-CN" altLang="en-US" dirty="0"/>
              <a:t>默认为从上往下滑动，默认值为</a:t>
            </a:r>
            <a:r>
              <a:rPr lang="en-US" altLang="zh-CN" dirty="0"/>
              <a:t>false</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p>
        </p:txBody>
      </p:sp>
      <p:pic>
        <p:nvPicPr>
          <p:cNvPr id="3" name="图片 2"/>
          <p:cNvPicPr>
            <a:picLocks noChangeAspect="1"/>
          </p:cNvPicPr>
          <p:nvPr/>
        </p:nvPicPr>
        <p:blipFill>
          <a:blip r:embed="rId3"/>
          <a:stretch>
            <a:fillRect/>
          </a:stretch>
        </p:blipFill>
        <p:spPr>
          <a:xfrm>
            <a:off x="0" y="2095656"/>
            <a:ext cx="12190413" cy="1357447"/>
          </a:xfrm>
          <a:prstGeom prst="rect">
            <a:avLst/>
          </a:prstGeom>
        </p:spPr>
      </p:pic>
      <p:pic>
        <p:nvPicPr>
          <p:cNvPr id="6" name="图片 5"/>
          <p:cNvPicPr>
            <a:picLocks noChangeAspect="1"/>
          </p:cNvPicPr>
          <p:nvPr/>
        </p:nvPicPr>
        <p:blipFill>
          <a:blip r:embed="rId4"/>
          <a:stretch>
            <a:fillRect/>
          </a:stretch>
        </p:blipFill>
        <p:spPr>
          <a:xfrm>
            <a:off x="1910" y="3789834"/>
            <a:ext cx="12190413" cy="13663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p>
        </p:txBody>
      </p:sp>
      <p:sp>
        <p:nvSpPr>
          <p:cNvPr id="4" name="文本框 3"/>
          <p:cNvSpPr txBox="1"/>
          <p:nvPr/>
        </p:nvSpPr>
        <p:spPr>
          <a:xfrm>
            <a:off x="1198662" y="1053530"/>
            <a:ext cx="8424936" cy="4163319"/>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Slider</a:t>
            </a:r>
            <a:r>
              <a:rPr lang="zh-CN" altLang="en-US" b="0" i="0" dirty="0">
                <a:solidFill>
                  <a:srgbClr val="343434"/>
                </a:solidFill>
                <a:effectLst/>
                <a:latin typeface="PingFang SC"/>
              </a:rPr>
              <a:t>属性</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blockColor</a:t>
            </a:r>
            <a:r>
              <a:rPr lang="en-US" altLang="zh-CN" b="0" i="0" dirty="0">
                <a:solidFill>
                  <a:srgbClr val="343434"/>
                </a:solidFill>
                <a:effectLst/>
                <a:latin typeface="PingFang SC"/>
              </a:rPr>
              <a:t>:</a:t>
            </a:r>
            <a:r>
              <a:rPr lang="zh-CN" altLang="en-US" b="0" i="0" dirty="0">
                <a:solidFill>
                  <a:srgbClr val="343434"/>
                </a:solidFill>
                <a:effectLst/>
                <a:latin typeface="PingFang SC"/>
              </a:rPr>
              <a:t>设置滑块的颜色。</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trackColor</a:t>
            </a:r>
            <a:r>
              <a:rPr lang="en-US" altLang="zh-CN" b="0" i="0" dirty="0">
                <a:solidFill>
                  <a:srgbClr val="343434"/>
                </a:solidFill>
                <a:effectLst/>
                <a:latin typeface="PingFang SC"/>
              </a:rPr>
              <a:t>:</a:t>
            </a:r>
            <a:r>
              <a:rPr lang="zh-CN" altLang="en-US" b="0" i="0" dirty="0">
                <a:solidFill>
                  <a:srgbClr val="343434"/>
                </a:solidFill>
                <a:effectLst/>
                <a:latin typeface="PingFang SC"/>
              </a:rPr>
              <a:t>设置滑轨的背景颜色。</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selectedColor</a:t>
            </a:r>
            <a:r>
              <a:rPr lang="en-US" altLang="zh-CN" b="0" i="0" dirty="0">
                <a:solidFill>
                  <a:srgbClr val="343434"/>
                </a:solidFill>
                <a:effectLst/>
                <a:latin typeface="PingFang SC"/>
              </a:rPr>
              <a:t>:</a:t>
            </a:r>
            <a:r>
              <a:rPr lang="zh-CN" altLang="en-US" b="0" i="0" dirty="0">
                <a:solidFill>
                  <a:srgbClr val="343434"/>
                </a:solidFill>
                <a:effectLst/>
                <a:latin typeface="PingFang SC"/>
              </a:rPr>
              <a:t>设置滑轨的已滑动部分颜色。</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minLabel</a:t>
            </a:r>
            <a:r>
              <a:rPr lang="en-US" altLang="zh-CN" b="0" i="0" dirty="0">
                <a:solidFill>
                  <a:srgbClr val="343434"/>
                </a:solidFill>
                <a:effectLst/>
                <a:latin typeface="PingFang SC"/>
              </a:rPr>
              <a:t>:</a:t>
            </a:r>
            <a:r>
              <a:rPr lang="zh-CN" altLang="en-US" b="0" i="0" dirty="0">
                <a:solidFill>
                  <a:srgbClr val="343434"/>
                </a:solidFill>
                <a:effectLst/>
                <a:latin typeface="PingFang SC"/>
              </a:rPr>
              <a:t>设置滑动条最小值处的标签。</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maxLabel</a:t>
            </a:r>
            <a:r>
              <a:rPr lang="en-US" altLang="zh-CN" b="0" i="0" dirty="0">
                <a:solidFill>
                  <a:srgbClr val="343434"/>
                </a:solidFill>
                <a:effectLst/>
                <a:latin typeface="PingFang SC"/>
              </a:rPr>
              <a:t>:</a:t>
            </a:r>
            <a:r>
              <a:rPr lang="zh-CN" altLang="en-US" b="0" i="0" dirty="0">
                <a:solidFill>
                  <a:srgbClr val="343434"/>
                </a:solidFill>
                <a:effectLst/>
                <a:latin typeface="PingFang SC"/>
              </a:rPr>
              <a:t>设置滑动条最大值处的标签。</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showSteps</a:t>
            </a:r>
            <a:r>
              <a:rPr lang="en-US" altLang="zh-CN" b="0" i="0" dirty="0">
                <a:solidFill>
                  <a:srgbClr val="343434"/>
                </a:solidFill>
                <a:effectLst/>
                <a:latin typeface="PingFang SC"/>
              </a:rPr>
              <a:t>:</a:t>
            </a:r>
            <a:r>
              <a:rPr lang="zh-CN" altLang="en-US" b="0" i="0" dirty="0">
                <a:solidFill>
                  <a:srgbClr val="343434"/>
                </a:solidFill>
                <a:effectLst/>
                <a:latin typeface="PingFang SC"/>
              </a:rPr>
              <a:t>设置当前是否显示步长刻度值，默认值为</a:t>
            </a:r>
            <a:r>
              <a:rPr lang="en-US" altLang="zh-CN" b="0" i="0" dirty="0">
                <a:solidFill>
                  <a:srgbClr val="343434"/>
                </a:solidFill>
                <a:effectLst/>
                <a:latin typeface="PingFang SC"/>
              </a:rPr>
              <a:t>false</a:t>
            </a:r>
            <a:r>
              <a:rPr lang="zh-CN" altLang="en-US" b="0" i="0" dirty="0">
                <a:solidFill>
                  <a:srgbClr val="343434"/>
                </a:solidFill>
                <a:effectLst/>
                <a:latin typeface="PingFang SC"/>
              </a:rPr>
              <a:t>。</a:t>
            </a:r>
          </a:p>
        </p:txBody>
      </p:sp>
      <p:sp>
        <p:nvSpPr>
          <p:cNvPr id="8" name="文本框 7"/>
          <p:cNvSpPr txBox="1"/>
          <p:nvPr/>
        </p:nvSpPr>
        <p:spPr>
          <a:xfrm>
            <a:off x="1774726" y="5446962"/>
            <a:ext cx="8496944" cy="1651542"/>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show Tips:</a:t>
            </a:r>
            <a:r>
              <a:rPr lang="zh-CN" altLang="en-US" b="0" i="0" dirty="0">
                <a:solidFill>
                  <a:srgbClr val="343434"/>
                </a:solidFill>
                <a:effectLst/>
                <a:latin typeface="PingFang SC"/>
              </a:rPr>
              <a:t>设置滑动时是否显示百分比气泡提示，默认值为</a:t>
            </a:r>
            <a:r>
              <a:rPr lang="en-US" altLang="zh-CN" b="0" i="0" dirty="0">
                <a:solidFill>
                  <a:srgbClr val="343434"/>
                </a:solidFill>
                <a:effectLst/>
                <a:latin typeface="PingFang SC"/>
              </a:rPr>
              <a:t>false</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trackThickness</a:t>
            </a:r>
            <a:r>
              <a:rPr lang="en-US" altLang="zh-CN" b="0" i="0" dirty="0">
                <a:solidFill>
                  <a:srgbClr val="343434"/>
                </a:solidFill>
                <a:effectLst/>
                <a:latin typeface="PingFang SC"/>
              </a:rPr>
              <a:t>:</a:t>
            </a:r>
            <a:r>
              <a:rPr lang="zh-CN" altLang="en-US" b="0" i="0" dirty="0">
                <a:solidFill>
                  <a:srgbClr val="343434"/>
                </a:solidFill>
                <a:effectLst/>
                <a:latin typeface="PingFang SC"/>
              </a:rPr>
              <a:t>设置滑动条粗细。</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p>
        </p:txBody>
      </p:sp>
      <p:sp>
        <p:nvSpPr>
          <p:cNvPr id="3" name="文本框 2"/>
          <p:cNvSpPr txBox="1"/>
          <p:nvPr/>
        </p:nvSpPr>
        <p:spPr>
          <a:xfrm>
            <a:off x="910630" y="1269554"/>
            <a:ext cx="11135767" cy="2573140"/>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Slider</a:t>
            </a:r>
            <a:r>
              <a:rPr lang="zh-CN" altLang="en-US" b="0" i="0" dirty="0">
                <a:solidFill>
                  <a:srgbClr val="343434"/>
                </a:solidFill>
                <a:effectLst/>
                <a:latin typeface="PingFang SC"/>
              </a:rPr>
              <a:t>事件</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onChange</a:t>
            </a:r>
            <a:r>
              <a:rPr lang="en-US" altLang="zh-CN" b="0" i="0" dirty="0">
                <a:solidFill>
                  <a:srgbClr val="343434"/>
                </a:solidFill>
                <a:effectLst/>
                <a:latin typeface="PingFang SC"/>
              </a:rPr>
              <a:t>:</a:t>
            </a:r>
            <a:r>
              <a:rPr lang="zh-CN" altLang="en-US" b="0" i="0" dirty="0">
                <a:solidFill>
                  <a:srgbClr val="343434"/>
                </a:solidFill>
                <a:effectLst/>
                <a:latin typeface="PingFang SC"/>
              </a:rPr>
              <a:t>滑动条滑动时触发事件回调。</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a:solidFill>
                  <a:srgbClr val="343434"/>
                </a:solidFill>
                <a:effectLst/>
                <a:latin typeface="PingFang SC"/>
              </a:rPr>
              <a:t>value:</a:t>
            </a:r>
            <a:r>
              <a:rPr lang="zh-CN" altLang="en-US" b="0" i="0" dirty="0">
                <a:solidFill>
                  <a:srgbClr val="343434"/>
                </a:solidFill>
                <a:effectLst/>
                <a:latin typeface="PingFang SC"/>
              </a:rPr>
              <a:t>表示当前进度值回值有小数，可使用</a:t>
            </a:r>
            <a:r>
              <a:rPr lang="en-US" altLang="zh-CN" b="0" i="0" dirty="0" err="1">
                <a:solidFill>
                  <a:srgbClr val="343434"/>
                </a:solidFill>
                <a:effectLst/>
                <a:latin typeface="PingFang SC"/>
              </a:rPr>
              <a:t>Math.toFixed</a:t>
            </a:r>
            <a:r>
              <a:rPr lang="en-US" altLang="zh-CN" b="0" i="0" dirty="0">
                <a:solidFill>
                  <a:srgbClr val="343434"/>
                </a:solidFill>
                <a:effectLst/>
                <a:latin typeface="PingFang SC"/>
              </a:rPr>
              <a:t>()</a:t>
            </a:r>
            <a:r>
              <a:rPr lang="zh-CN" altLang="en-US" b="0" i="0" dirty="0">
                <a:solidFill>
                  <a:srgbClr val="343434"/>
                </a:solidFill>
                <a:effectLst/>
                <a:latin typeface="PingFang SC"/>
              </a:rPr>
              <a:t>方法将数据处理为预期的精度。</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a:solidFill>
                  <a:srgbClr val="343434"/>
                </a:solidFill>
                <a:effectLst/>
                <a:latin typeface="PingFang SC"/>
              </a:rPr>
              <a:t>mode:</a:t>
            </a:r>
            <a:r>
              <a:rPr lang="zh-CN" altLang="en-US" b="0" i="0" dirty="0">
                <a:solidFill>
                  <a:srgbClr val="343434"/>
                </a:solidFill>
                <a:effectLst/>
                <a:latin typeface="PingFang SC"/>
              </a:rPr>
              <a:t>表示滑动条的拖动状态。</a:t>
            </a:r>
            <a:endParaRPr lang="zh-CN" altLang="en-US" dirty="0"/>
          </a:p>
        </p:txBody>
      </p:sp>
      <p:pic>
        <p:nvPicPr>
          <p:cNvPr id="6" name="图片 5"/>
          <p:cNvPicPr>
            <a:picLocks noChangeAspect="1"/>
          </p:cNvPicPr>
          <p:nvPr/>
        </p:nvPicPr>
        <p:blipFill>
          <a:blip r:embed="rId3"/>
          <a:stretch>
            <a:fillRect/>
          </a:stretch>
        </p:blipFill>
        <p:spPr>
          <a:xfrm>
            <a:off x="-1" y="4149874"/>
            <a:ext cx="12190413" cy="223815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p>
        </p:txBody>
      </p:sp>
      <p:sp>
        <p:nvSpPr>
          <p:cNvPr id="12" name="文本框 11"/>
          <p:cNvSpPr txBox="1"/>
          <p:nvPr/>
        </p:nvSpPr>
        <p:spPr>
          <a:xfrm>
            <a:off x="1342678" y="1341562"/>
            <a:ext cx="11017224" cy="4893647"/>
          </a:xfrm>
          <a:prstGeom prst="rect">
            <a:avLst/>
          </a:prstGeom>
          <a:noFill/>
        </p:spPr>
        <p:txBody>
          <a:bodyPr wrap="square">
            <a:spAutoFit/>
          </a:bodyPr>
          <a:lstStyle/>
          <a:p>
            <a:r>
              <a:rPr lang="en-US" altLang="zh-CN" dirty="0"/>
              <a:t>1.Rating</a:t>
            </a:r>
            <a:r>
              <a:rPr lang="zh-CN" altLang="en-US" dirty="0"/>
              <a:t>构造参数</a:t>
            </a:r>
          </a:p>
          <a:p>
            <a:pPr lvl="1"/>
            <a:r>
              <a:rPr lang="en-US" altLang="zh-CN" dirty="0"/>
              <a:t>rating:</a:t>
            </a:r>
            <a:r>
              <a:rPr lang="zh-CN" altLang="en-US" dirty="0"/>
              <a:t>表示设置当前评分值，默认值为</a:t>
            </a:r>
            <a:r>
              <a:rPr lang="en-US" altLang="zh-CN" dirty="0"/>
              <a:t>0</a:t>
            </a:r>
            <a:r>
              <a:rPr lang="zh-CN" altLang="en-US" dirty="0"/>
              <a:t>。</a:t>
            </a:r>
            <a:endParaRPr lang="en-US" altLang="zh-CN" dirty="0"/>
          </a:p>
          <a:p>
            <a:pPr lvl="1"/>
            <a:r>
              <a:rPr lang="en-US" altLang="zh-CN" dirty="0"/>
              <a:t>indicator:</a:t>
            </a:r>
            <a:r>
              <a:rPr lang="zh-CN" altLang="en-US" dirty="0"/>
              <a:t>表示是否可以操作，设置为</a:t>
            </a:r>
            <a:r>
              <a:rPr lang="en-US" altLang="zh-CN" dirty="0"/>
              <a:t>true</a:t>
            </a:r>
            <a:r>
              <a:rPr lang="zh-CN" altLang="en-US" dirty="0"/>
              <a:t>表示评分条是一个指示条，不可操作，</a:t>
            </a:r>
            <a:r>
              <a:rPr lang="en-US" altLang="zh-CN" dirty="0"/>
              <a:t>false</a:t>
            </a:r>
            <a:r>
              <a:rPr lang="zh-CN" altLang="en-US" dirty="0"/>
              <a:t>表示可以操作的评分条。</a:t>
            </a:r>
          </a:p>
          <a:p>
            <a:r>
              <a:rPr lang="en-US" altLang="zh-CN" dirty="0"/>
              <a:t>2.Rating</a:t>
            </a:r>
            <a:r>
              <a:rPr lang="zh-CN" altLang="en-US" dirty="0"/>
              <a:t>属性介绍</a:t>
            </a:r>
          </a:p>
          <a:p>
            <a:pPr lvl="1"/>
            <a:r>
              <a:rPr lang="en-US" altLang="zh-CN" dirty="0"/>
              <a:t>stars:</a:t>
            </a:r>
            <a:r>
              <a:rPr lang="zh-CN" altLang="en-US" dirty="0"/>
              <a:t>设置星星的总数，默认值为</a:t>
            </a:r>
            <a:r>
              <a:rPr lang="en-US" altLang="zh-CN" dirty="0"/>
              <a:t>5</a:t>
            </a:r>
            <a:r>
              <a:rPr lang="zh-CN" altLang="en-US" dirty="0"/>
              <a:t>。</a:t>
            </a:r>
          </a:p>
          <a:p>
            <a:pPr lvl="1"/>
            <a:r>
              <a:rPr lang="en-US" altLang="zh-CN" dirty="0" err="1"/>
              <a:t>stepSize</a:t>
            </a:r>
            <a:r>
              <a:rPr lang="en-US" altLang="zh-CN" dirty="0"/>
              <a:t>:</a:t>
            </a:r>
            <a:r>
              <a:rPr lang="zh-CN" altLang="en-US" dirty="0"/>
              <a:t>设置操作评级的步长，默认值为</a:t>
            </a:r>
            <a:r>
              <a:rPr lang="en-US" altLang="zh-CN" dirty="0"/>
              <a:t>0.5</a:t>
            </a:r>
            <a:r>
              <a:rPr lang="zh-CN" altLang="en-US" dirty="0"/>
              <a:t>。</a:t>
            </a:r>
          </a:p>
          <a:p>
            <a:pPr lvl="1"/>
            <a:r>
              <a:rPr lang="en-US" altLang="zh-CN" dirty="0" err="1"/>
              <a:t>starStyle</a:t>
            </a:r>
            <a:r>
              <a:rPr lang="en-US" altLang="zh-CN" dirty="0"/>
              <a:t>:</a:t>
            </a:r>
            <a:r>
              <a:rPr lang="zh-CN" altLang="en-US" dirty="0"/>
              <a:t>设置星星的样式，各参数说明如下：</a:t>
            </a:r>
          </a:p>
          <a:p>
            <a:pPr lvl="1"/>
            <a:r>
              <a:rPr lang="en-US" altLang="zh-CN" dirty="0" err="1"/>
              <a:t>backgroundUri</a:t>
            </a:r>
            <a:r>
              <a:rPr lang="en-US" altLang="zh-CN" dirty="0"/>
              <a:t>:</a:t>
            </a:r>
            <a:r>
              <a:rPr lang="zh-CN" altLang="en-US" dirty="0"/>
              <a:t>自定义未选中时星级的图片路径，仅支持本地图片。</a:t>
            </a:r>
          </a:p>
          <a:p>
            <a:pPr lvl="1"/>
            <a:r>
              <a:rPr lang="en-US" altLang="zh-CN" dirty="0" err="1"/>
              <a:t>foregroundUri</a:t>
            </a:r>
            <a:r>
              <a:rPr lang="en-US" altLang="zh-CN" dirty="0"/>
              <a:t>:</a:t>
            </a:r>
            <a:r>
              <a:rPr lang="zh-CN" altLang="en-US" dirty="0"/>
              <a:t>自定义选中时星级的图片路径，仅支持本地图片。</a:t>
            </a:r>
          </a:p>
          <a:p>
            <a:pPr lvl="1"/>
            <a:r>
              <a:rPr lang="en-US" altLang="zh-CN" dirty="0" err="1"/>
              <a:t>secondaryUri</a:t>
            </a:r>
            <a:r>
              <a:rPr lang="en-US" altLang="zh-CN" dirty="0"/>
              <a:t>:</a:t>
            </a:r>
            <a:r>
              <a:rPr lang="zh-CN" altLang="en-US" dirty="0"/>
              <a:t>自定义部分选中时星级的图片路径，仅支持本地图片。</a:t>
            </a:r>
          </a:p>
          <a:p>
            <a:r>
              <a:rPr lang="en-US" altLang="zh-CN" dirty="0"/>
              <a:t>3.Rating</a:t>
            </a:r>
            <a:r>
              <a:rPr lang="zh-CN" altLang="en-US" dirty="0"/>
              <a:t>事件介绍</a:t>
            </a:r>
          </a:p>
          <a:p>
            <a:pPr lvl="1"/>
            <a:r>
              <a:rPr lang="en-US" altLang="zh-CN" dirty="0" err="1"/>
              <a:t>onChange</a:t>
            </a:r>
            <a:r>
              <a:rPr lang="en-US" altLang="zh-CN" dirty="0"/>
              <a:t>:</a:t>
            </a:r>
            <a:r>
              <a:rPr lang="zh-CN" altLang="en-US" dirty="0"/>
              <a:t>评星发生改变时触发该回调。</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Rating</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pic>
        <p:nvPicPr>
          <p:cNvPr id="3" name="图片 2"/>
          <p:cNvPicPr>
            <a:picLocks noChangeAspect="1"/>
          </p:cNvPicPr>
          <p:nvPr/>
        </p:nvPicPr>
        <p:blipFill>
          <a:blip r:embed="rId3"/>
          <a:stretch>
            <a:fillRect/>
          </a:stretch>
        </p:blipFill>
        <p:spPr>
          <a:xfrm>
            <a:off x="910630" y="871153"/>
            <a:ext cx="4801046" cy="5814033"/>
          </a:xfrm>
          <a:prstGeom prst="rect">
            <a:avLst/>
          </a:prstGeom>
        </p:spPr>
      </p:pic>
      <p:pic>
        <p:nvPicPr>
          <p:cNvPr id="5" name="图片 4"/>
          <p:cNvPicPr>
            <a:picLocks noChangeAspect="1"/>
          </p:cNvPicPr>
          <p:nvPr/>
        </p:nvPicPr>
        <p:blipFill>
          <a:blip r:embed="rId4"/>
          <a:srcRect r="50000"/>
          <a:stretch>
            <a:fillRect/>
          </a:stretch>
        </p:blipFill>
        <p:spPr>
          <a:xfrm>
            <a:off x="6599262" y="1485578"/>
            <a:ext cx="4348769" cy="1457528"/>
          </a:xfrm>
          <a:prstGeom prst="rect">
            <a:avLst/>
          </a:prstGeom>
        </p:spPr>
      </p:pic>
      <p:pic>
        <p:nvPicPr>
          <p:cNvPr id="8" name="图片 7"/>
          <p:cNvPicPr>
            <a:picLocks noChangeAspect="1"/>
          </p:cNvPicPr>
          <p:nvPr/>
        </p:nvPicPr>
        <p:blipFill>
          <a:blip r:embed="rId4"/>
          <a:srcRect l="53814"/>
          <a:stretch>
            <a:fillRect/>
          </a:stretch>
        </p:blipFill>
        <p:spPr>
          <a:xfrm>
            <a:off x="6765136" y="3429794"/>
            <a:ext cx="4017019" cy="145752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sp>
        <p:nvSpPr>
          <p:cNvPr id="4" name="文本框 3"/>
          <p:cNvSpPr txBox="1"/>
          <p:nvPr/>
        </p:nvSpPr>
        <p:spPr>
          <a:xfrm>
            <a:off x="1198662" y="1269554"/>
            <a:ext cx="10009112" cy="4246245"/>
          </a:xfrm>
          <a:prstGeom prst="rect">
            <a:avLst/>
          </a:prstGeom>
          <a:noFill/>
        </p:spPr>
        <p:txBody>
          <a:bodyPr wrap="square">
            <a:spAutoFit/>
          </a:bodyPr>
          <a:lstStyle/>
          <a:p>
            <a:pPr algn="just">
              <a:lnSpc>
                <a:spcPct val="150000"/>
              </a:lnSpc>
            </a:pPr>
            <a:r>
              <a:rPr lang="en-US" altLang="zh-CN" sz="2000" dirty="0"/>
              <a:t>1.scroll</a:t>
            </a:r>
            <a:r>
              <a:rPr lang="zh-CN" altLang="en-US" sz="2000" dirty="0"/>
              <a:t>构造参数</a:t>
            </a:r>
          </a:p>
          <a:p>
            <a:pPr lvl="1" algn="just">
              <a:lnSpc>
                <a:spcPct val="150000"/>
              </a:lnSpc>
            </a:pPr>
            <a:r>
              <a:rPr lang="en-US" altLang="zh-CN" sz="2000" dirty="0"/>
              <a:t>scroller:</a:t>
            </a:r>
            <a:r>
              <a:rPr lang="zh-CN" altLang="en-US" sz="2000" dirty="0"/>
              <a:t>给</a:t>
            </a:r>
            <a:r>
              <a:rPr lang="en-US" altLang="zh-CN" sz="2000" dirty="0"/>
              <a:t>Scroll</a:t>
            </a:r>
            <a:r>
              <a:rPr lang="zh-CN" altLang="en-US" sz="2000" dirty="0"/>
              <a:t>绑定一个滚动控制器，该控制器可以控制子组件的各种滚动能力，</a:t>
            </a:r>
            <a:r>
              <a:rPr lang="en-US" altLang="zh-CN" sz="2000" dirty="0"/>
              <a:t>Scroller</a:t>
            </a:r>
            <a:r>
              <a:rPr lang="zh-CN" altLang="en-US" sz="2000" dirty="0"/>
              <a:t>目前支持绑定到</a:t>
            </a:r>
            <a:r>
              <a:rPr lang="en-US" altLang="zh-CN" sz="2000" dirty="0"/>
              <a:t>List</a:t>
            </a:r>
            <a:r>
              <a:rPr lang="zh-CN" altLang="en-US" sz="2000" dirty="0"/>
              <a:t>、</a:t>
            </a:r>
            <a:r>
              <a:rPr lang="en-US" altLang="zh-CN" sz="2000" dirty="0"/>
              <a:t>Scroll</a:t>
            </a:r>
            <a:r>
              <a:rPr lang="zh-CN" altLang="en-US" sz="2000" dirty="0"/>
              <a:t>、</a:t>
            </a:r>
            <a:r>
              <a:rPr lang="en-US" altLang="zh-CN" sz="2000" dirty="0" err="1"/>
              <a:t>ScrollBar</a:t>
            </a:r>
            <a:r>
              <a:rPr lang="zh-CN" altLang="en-US" sz="2000" dirty="0"/>
              <a:t>上。</a:t>
            </a:r>
          </a:p>
          <a:p>
            <a:pPr algn="just">
              <a:lnSpc>
                <a:spcPct val="150000"/>
              </a:lnSpc>
            </a:pPr>
            <a:r>
              <a:rPr lang="en-US" altLang="zh-CN" sz="2000" dirty="0"/>
              <a:t>2.Scroll</a:t>
            </a:r>
            <a:r>
              <a:rPr lang="zh-CN" altLang="en-US" sz="2000" dirty="0"/>
              <a:t>属性</a:t>
            </a:r>
          </a:p>
          <a:p>
            <a:pPr lvl="1" algn="just">
              <a:lnSpc>
                <a:spcPct val="150000"/>
              </a:lnSpc>
            </a:pPr>
            <a:r>
              <a:rPr lang="en-US" altLang="zh-CN" sz="2000" dirty="0"/>
              <a:t>scrollable:</a:t>
            </a:r>
            <a:r>
              <a:rPr lang="zh-CN" altLang="en-US" sz="2000" dirty="0"/>
              <a:t>设置</a:t>
            </a:r>
            <a:r>
              <a:rPr lang="en-US" altLang="zh-CN" sz="2000" dirty="0"/>
              <a:t>Scroll</a:t>
            </a:r>
            <a:r>
              <a:rPr lang="zh-CN" altLang="en-US" sz="2000" dirty="0"/>
              <a:t>的滚动方向，默认值为</a:t>
            </a:r>
            <a:r>
              <a:rPr lang="en-US" altLang="zh-CN" sz="2000" dirty="0" err="1"/>
              <a:t>ScrollDirection.Vertical</a:t>
            </a:r>
            <a:r>
              <a:rPr lang="zh-CN" altLang="en-US" sz="2000" dirty="0"/>
              <a:t>。</a:t>
            </a:r>
          </a:p>
          <a:p>
            <a:pPr lvl="1" algn="just">
              <a:lnSpc>
                <a:spcPct val="150000"/>
              </a:lnSpc>
            </a:pPr>
            <a:r>
              <a:rPr lang="en-US" altLang="zh-CN" sz="2000" dirty="0" err="1"/>
              <a:t>scrollBar</a:t>
            </a:r>
            <a:r>
              <a:rPr lang="en-US" altLang="zh-CN" sz="2000" dirty="0"/>
              <a:t>:</a:t>
            </a:r>
            <a:r>
              <a:rPr lang="zh-CN" altLang="en-US" sz="2000" dirty="0"/>
              <a:t>设置滚动条状态，默认值：</a:t>
            </a:r>
            <a:r>
              <a:rPr lang="en-US" altLang="zh-CN" sz="2000" dirty="0" err="1"/>
              <a:t>BarState.Auto</a:t>
            </a:r>
            <a:r>
              <a:rPr lang="zh-CN" altLang="en-US" sz="2000" dirty="0"/>
              <a:t>。</a:t>
            </a:r>
          </a:p>
          <a:p>
            <a:pPr lvl="1" algn="just">
              <a:lnSpc>
                <a:spcPct val="150000"/>
              </a:lnSpc>
            </a:pPr>
            <a:r>
              <a:rPr lang="en-US" altLang="zh-CN" sz="2000" dirty="0" err="1"/>
              <a:t>scrollBarColor</a:t>
            </a:r>
            <a:r>
              <a:rPr lang="en-US" altLang="zh-CN" sz="2000" dirty="0"/>
              <a:t>:</a:t>
            </a:r>
            <a:r>
              <a:rPr lang="zh-CN" altLang="en-US" sz="2000" dirty="0"/>
              <a:t>设置滚动条的颜色。</a:t>
            </a:r>
          </a:p>
          <a:p>
            <a:pPr lvl="1" algn="just">
              <a:lnSpc>
                <a:spcPct val="150000"/>
              </a:lnSpc>
            </a:pPr>
            <a:r>
              <a:rPr lang="en-US" altLang="zh-CN" sz="2000" dirty="0" err="1"/>
              <a:t>scrollBarWidth</a:t>
            </a:r>
            <a:r>
              <a:rPr lang="en-US" altLang="zh-CN" sz="2000" dirty="0"/>
              <a:t>:</a:t>
            </a:r>
            <a:r>
              <a:rPr lang="zh-CN" altLang="en-US" sz="2000" dirty="0"/>
              <a:t>设置滚动条的宽度。</a:t>
            </a:r>
          </a:p>
          <a:p>
            <a:pPr lvl="1" algn="just">
              <a:lnSpc>
                <a:spcPct val="150000"/>
              </a:lnSpc>
            </a:pPr>
            <a:r>
              <a:rPr lang="en-US" altLang="zh-CN" sz="2000" dirty="0" err="1"/>
              <a:t>edgeEffect</a:t>
            </a:r>
            <a:r>
              <a:rPr lang="en-US" altLang="zh-CN" sz="2000" dirty="0"/>
              <a:t>:</a:t>
            </a:r>
            <a:r>
              <a:rPr lang="zh-CN" altLang="en-US" sz="2000" dirty="0"/>
              <a:t>设置滑动到边缘后效果。默认值为</a:t>
            </a:r>
            <a:r>
              <a:rPr lang="en-US" altLang="zh-CN" sz="2000" dirty="0" err="1"/>
              <a:t>EdgeEffect.None</a:t>
            </a:r>
            <a:r>
              <a:rPr lang="zh-CN" altLang="en-US" sz="2000" dirty="0"/>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pic>
        <p:nvPicPr>
          <p:cNvPr id="3" name="图片 2"/>
          <p:cNvPicPr>
            <a:picLocks noChangeAspect="1"/>
          </p:cNvPicPr>
          <p:nvPr/>
        </p:nvPicPr>
        <p:blipFill>
          <a:blip r:embed="rId3"/>
          <a:stretch>
            <a:fillRect/>
          </a:stretch>
        </p:blipFill>
        <p:spPr>
          <a:xfrm>
            <a:off x="1126654" y="1106212"/>
            <a:ext cx="9706219" cy="5491934"/>
          </a:xfrm>
          <a:prstGeom prst="rect">
            <a:avLst/>
          </a:prstGeom>
        </p:spPr>
      </p:pic>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558702" y="1106952"/>
            <a:ext cx="9455090" cy="5019323"/>
          </a:xfrm>
          <a:prstGeom prst="rect">
            <a:avLst/>
          </a:prstGeom>
          <a:noFill/>
        </p:spPr>
        <p:txBody>
          <a:bodyPr wrap="square">
            <a:spAutoFit/>
          </a:bodyPr>
          <a:lstStyle/>
          <a:p>
            <a:pPr>
              <a:lnSpc>
                <a:spcPct val="150000"/>
              </a:lnSpc>
            </a:pPr>
            <a:r>
              <a:rPr lang="en-US" altLang="zh-CN" dirty="0"/>
              <a:t>3.Scroll</a:t>
            </a:r>
            <a:r>
              <a:rPr lang="zh-CN" altLang="en-US" dirty="0"/>
              <a:t>事件</a:t>
            </a:r>
          </a:p>
          <a:p>
            <a:pPr lvl="1">
              <a:lnSpc>
                <a:spcPct val="150000"/>
              </a:lnSpc>
            </a:pPr>
            <a:r>
              <a:rPr lang="en-US" altLang="zh-CN" dirty="0" err="1"/>
              <a:t>onScroll</a:t>
            </a:r>
            <a:r>
              <a:rPr lang="en-US" altLang="zh-CN" dirty="0"/>
              <a:t>:</a:t>
            </a:r>
            <a:r>
              <a:rPr lang="zh-CN" altLang="en-US" dirty="0"/>
              <a:t>滚动事件回调，返回滚动时水平、竖直方向的偏移量。</a:t>
            </a:r>
          </a:p>
          <a:p>
            <a:pPr lvl="1">
              <a:lnSpc>
                <a:spcPct val="150000"/>
              </a:lnSpc>
            </a:pPr>
            <a:r>
              <a:rPr lang="en-US" altLang="zh-CN" dirty="0" err="1"/>
              <a:t>onScrollEdge</a:t>
            </a:r>
            <a:r>
              <a:rPr lang="en-US" altLang="zh-CN" dirty="0"/>
              <a:t>:</a:t>
            </a:r>
            <a:r>
              <a:rPr lang="zh-CN" altLang="en-US" dirty="0"/>
              <a:t>滚动到边缘事件回调。</a:t>
            </a:r>
          </a:p>
          <a:p>
            <a:pPr lvl="1">
              <a:lnSpc>
                <a:spcPct val="150000"/>
              </a:lnSpc>
            </a:pPr>
            <a:r>
              <a:rPr lang="en-US" altLang="zh-CN" dirty="0" err="1"/>
              <a:t>onScrollEnd</a:t>
            </a:r>
            <a:r>
              <a:rPr lang="en-US" altLang="zh-CN" dirty="0"/>
              <a:t>:</a:t>
            </a:r>
            <a:r>
              <a:rPr lang="zh-CN" altLang="en-US" dirty="0"/>
              <a:t>滚动停止事件回调。</a:t>
            </a:r>
          </a:p>
          <a:p>
            <a:pPr lvl="1">
              <a:lnSpc>
                <a:spcPct val="150000"/>
              </a:lnSpc>
            </a:pPr>
            <a:r>
              <a:rPr lang="en-US" altLang="zh-CN" dirty="0" err="1"/>
              <a:t>onScrollBegin</a:t>
            </a:r>
            <a:r>
              <a:rPr lang="en-US" altLang="zh-CN" dirty="0"/>
              <a:t>:</a:t>
            </a:r>
            <a:r>
              <a:rPr lang="zh-CN" altLang="en-US" dirty="0"/>
              <a:t>滚动开始事件回调。事件参数如下：</a:t>
            </a:r>
          </a:p>
          <a:p>
            <a:pPr lvl="2">
              <a:lnSpc>
                <a:spcPct val="150000"/>
              </a:lnSpc>
            </a:pPr>
            <a:r>
              <a:rPr lang="en-US" altLang="zh-CN" dirty="0"/>
              <a:t>dx:</a:t>
            </a:r>
            <a:r>
              <a:rPr lang="zh-CN" altLang="en-US" dirty="0"/>
              <a:t>即将发生的水平方向滚动量。</a:t>
            </a:r>
          </a:p>
          <a:p>
            <a:pPr lvl="2">
              <a:lnSpc>
                <a:spcPct val="150000"/>
              </a:lnSpc>
            </a:pPr>
            <a:r>
              <a:rPr lang="en-US" altLang="zh-CN" dirty="0" err="1"/>
              <a:t>dy</a:t>
            </a:r>
            <a:r>
              <a:rPr lang="en-US" altLang="zh-CN" dirty="0"/>
              <a:t>:</a:t>
            </a:r>
            <a:r>
              <a:rPr lang="zh-CN" altLang="en-US" dirty="0"/>
              <a:t>即将发生的竖直方向滚动量。</a:t>
            </a:r>
          </a:p>
          <a:p>
            <a:pPr lvl="2">
              <a:lnSpc>
                <a:spcPct val="150000"/>
              </a:lnSpc>
            </a:pPr>
            <a:r>
              <a:rPr lang="en-US" altLang="zh-CN" dirty="0" err="1"/>
              <a:t>dxRemain</a:t>
            </a:r>
            <a:r>
              <a:rPr lang="en-US" altLang="zh-CN" dirty="0"/>
              <a:t>:</a:t>
            </a:r>
            <a:r>
              <a:rPr lang="zh-CN" altLang="en-US" dirty="0"/>
              <a:t>水平方向滚动剩余量。</a:t>
            </a:r>
          </a:p>
          <a:p>
            <a:pPr lvl="2">
              <a:lnSpc>
                <a:spcPct val="150000"/>
              </a:lnSpc>
            </a:pPr>
            <a:r>
              <a:rPr lang="en-US" altLang="zh-CN" dirty="0" err="1"/>
              <a:t>dyRemain</a:t>
            </a:r>
            <a:r>
              <a:rPr lang="en-US" altLang="zh-CN" dirty="0"/>
              <a:t>:</a:t>
            </a:r>
            <a:r>
              <a:rPr lang="zh-CN" altLang="en-US" dirty="0"/>
              <a:t>垂直方向滚动剩余量。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198662" y="1053530"/>
            <a:ext cx="10295651" cy="5388655"/>
          </a:xfrm>
          <a:prstGeom prst="rect">
            <a:avLst/>
          </a:prstGeom>
          <a:noFill/>
        </p:spPr>
        <p:txBody>
          <a:bodyPr wrap="square">
            <a:spAutoFit/>
          </a:bodyPr>
          <a:lstStyle/>
          <a:p>
            <a:r>
              <a:rPr lang="en-US" altLang="zh-CN" dirty="0"/>
              <a:t>4.Scroller</a:t>
            </a:r>
            <a:r>
              <a:rPr lang="zh-CN" altLang="en-US" dirty="0"/>
              <a:t>控制器</a:t>
            </a:r>
          </a:p>
          <a:p>
            <a:pPr lvl="1" algn="just">
              <a:lnSpc>
                <a:spcPct val="150000"/>
              </a:lnSpc>
            </a:pPr>
            <a:r>
              <a:rPr lang="en-US" altLang="zh-CN" dirty="0"/>
              <a:t>Scroller</a:t>
            </a:r>
            <a:r>
              <a:rPr lang="zh-CN" altLang="en-US" dirty="0"/>
              <a:t>作为滚动容器组件的控制器，它提供了滚动子组件的各种能力，比如设置子组件滚动指定位置、滚动到底部以及滚动到下一页、上一页等能力。目前</a:t>
            </a:r>
            <a:r>
              <a:rPr lang="en-US" altLang="zh-CN" dirty="0"/>
              <a:t>Scroller</a:t>
            </a:r>
            <a:r>
              <a:rPr lang="zh-CN" altLang="en-US" dirty="0"/>
              <a:t>只支持绑定到</a:t>
            </a:r>
            <a:r>
              <a:rPr lang="en-US" altLang="zh-CN" dirty="0"/>
              <a:t>List</a:t>
            </a:r>
            <a:r>
              <a:rPr lang="zh-CN" altLang="en-US" dirty="0"/>
              <a:t>、</a:t>
            </a:r>
            <a:r>
              <a:rPr lang="en-US" altLang="zh-CN" dirty="0"/>
              <a:t>Scroll</a:t>
            </a:r>
            <a:r>
              <a:rPr lang="zh-CN" altLang="en-US" dirty="0"/>
              <a:t>、</a:t>
            </a:r>
            <a:r>
              <a:rPr lang="en-US" altLang="zh-CN" dirty="0" err="1"/>
              <a:t>ScrollBar</a:t>
            </a:r>
            <a:r>
              <a:rPr lang="zh-CN" altLang="en-US" dirty="0"/>
              <a:t>上。</a:t>
            </a:r>
          </a:p>
          <a:p>
            <a:pPr lvl="1" algn="just">
              <a:lnSpc>
                <a:spcPct val="150000"/>
              </a:lnSpc>
            </a:pPr>
            <a:r>
              <a:rPr lang="en-US" altLang="zh-CN" dirty="0" err="1"/>
              <a:t>scrollTo</a:t>
            </a:r>
            <a:r>
              <a:rPr lang="en-US" altLang="zh-CN" dirty="0"/>
              <a:t>:</a:t>
            </a:r>
            <a:r>
              <a:rPr lang="zh-CN" altLang="en-US" dirty="0"/>
              <a:t>设置子组件滚动到指定位置，在滚动的时候还可以根据</a:t>
            </a:r>
            <a:r>
              <a:rPr lang="en-US" altLang="zh-CN" dirty="0"/>
              <a:t>animation</a:t>
            </a:r>
            <a:r>
              <a:rPr lang="zh-CN" altLang="en-US" dirty="0"/>
              <a:t>参数设置动画。</a:t>
            </a:r>
          </a:p>
          <a:p>
            <a:pPr lvl="1" algn="just">
              <a:lnSpc>
                <a:spcPct val="150000"/>
              </a:lnSpc>
            </a:pPr>
            <a:r>
              <a:rPr lang="en-US" altLang="zh-CN" dirty="0" err="1"/>
              <a:t>scrollEdge</a:t>
            </a:r>
            <a:r>
              <a:rPr lang="en-US" altLang="zh-CN" dirty="0"/>
              <a:t>:</a:t>
            </a:r>
            <a:r>
              <a:rPr lang="zh-CN" altLang="en-US" dirty="0"/>
              <a:t>滚动到边缘，</a:t>
            </a:r>
            <a:r>
              <a:rPr lang="en-US" altLang="zh-CN" dirty="0"/>
              <a:t>Edge</a:t>
            </a:r>
            <a:r>
              <a:rPr lang="zh-CN" altLang="en-US" dirty="0"/>
              <a:t>提供了多种类型。</a:t>
            </a:r>
          </a:p>
          <a:p>
            <a:pPr lvl="1" algn="just">
              <a:lnSpc>
                <a:spcPct val="150000"/>
              </a:lnSpc>
            </a:pPr>
            <a:r>
              <a:rPr lang="en-US" altLang="zh-CN" dirty="0" err="1"/>
              <a:t>scrollPage</a:t>
            </a:r>
            <a:r>
              <a:rPr lang="en-US" altLang="zh-CN" dirty="0"/>
              <a:t>:</a:t>
            </a:r>
            <a:r>
              <a:rPr lang="zh-CN" altLang="en-US" dirty="0"/>
              <a:t>滚动到上一页或者下一页。</a:t>
            </a:r>
          </a:p>
          <a:p>
            <a:pPr lvl="1" algn="just">
              <a:lnSpc>
                <a:spcPct val="150000"/>
              </a:lnSpc>
            </a:pPr>
            <a:r>
              <a:rPr lang="en-US" altLang="zh-CN" dirty="0" err="1"/>
              <a:t>currentOffset</a:t>
            </a:r>
            <a:r>
              <a:rPr lang="en-US" altLang="zh-CN" dirty="0"/>
              <a:t>:</a:t>
            </a:r>
            <a:r>
              <a:rPr lang="zh-CN" altLang="en-US" dirty="0"/>
              <a:t>获取当前滚动的偏移量。</a:t>
            </a:r>
          </a:p>
          <a:p>
            <a:pPr lvl="1" algn="just">
              <a:lnSpc>
                <a:spcPct val="150000"/>
              </a:lnSpc>
            </a:pPr>
            <a:r>
              <a:rPr lang="en-US" altLang="zh-CN" dirty="0" err="1"/>
              <a:t>scrollTolndex</a:t>
            </a:r>
            <a:r>
              <a:rPr lang="en-US" altLang="zh-CN" dirty="0"/>
              <a:t>:</a:t>
            </a:r>
            <a:r>
              <a:rPr lang="zh-CN" altLang="en-US" dirty="0"/>
              <a:t>滚动到指定下标，仅支持</a:t>
            </a:r>
            <a:r>
              <a:rPr lang="en-US" altLang="zh-CN" dirty="0"/>
              <a:t>Grid</a:t>
            </a:r>
            <a:r>
              <a:rPr lang="zh-CN" altLang="en-US" dirty="0"/>
              <a:t>、</a:t>
            </a:r>
            <a:r>
              <a:rPr lang="en-US" altLang="zh-CN" dirty="0"/>
              <a:t>list</a:t>
            </a:r>
            <a:r>
              <a:rPr lang="zh-CN" altLang="en-US" dirty="0"/>
              <a:t>组件。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3"/>
          <a:srcRect b="36430"/>
          <a:stretch>
            <a:fillRect/>
          </a:stretch>
        </p:blipFill>
        <p:spPr>
          <a:xfrm>
            <a:off x="8590599" y="841655"/>
            <a:ext cx="2591113" cy="3636404"/>
          </a:xfrm>
          <a:prstGeom prst="rect">
            <a:avLst/>
          </a:prstGeom>
        </p:spPr>
      </p:pic>
      <p:pic>
        <p:nvPicPr>
          <p:cNvPr id="10" name="图片 9"/>
          <p:cNvPicPr>
            <a:picLocks noChangeAspect="1"/>
          </p:cNvPicPr>
          <p:nvPr/>
        </p:nvPicPr>
        <p:blipFill>
          <a:blip r:embed="rId3"/>
          <a:srcRect t="62369"/>
          <a:stretch>
            <a:fillRect/>
          </a:stretch>
        </p:blipFill>
        <p:spPr>
          <a:xfrm>
            <a:off x="8590599" y="4478059"/>
            <a:ext cx="2591113" cy="2002585"/>
          </a:xfrm>
          <a:prstGeom prst="rect">
            <a:avLst/>
          </a:prstGeom>
        </p:spPr>
      </p:pic>
      <p:pic>
        <p:nvPicPr>
          <p:cNvPr id="12" name="图片 11"/>
          <p:cNvPicPr>
            <a:picLocks noChangeAspect="1"/>
          </p:cNvPicPr>
          <p:nvPr/>
        </p:nvPicPr>
        <p:blipFill>
          <a:blip r:embed="rId4"/>
          <a:stretch>
            <a:fillRect/>
          </a:stretch>
        </p:blipFill>
        <p:spPr>
          <a:xfrm>
            <a:off x="766445" y="981775"/>
            <a:ext cx="6716062" cy="55157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330432" y="1301603"/>
            <a:ext cx="9529548" cy="5262979"/>
          </a:xfrm>
          <a:prstGeom prst="rect">
            <a:avLst/>
          </a:prstGeom>
          <a:noFill/>
        </p:spPr>
        <p:txBody>
          <a:bodyPr wrap="square">
            <a:spAutoFit/>
          </a:bodyPr>
          <a:lstStyle/>
          <a:p>
            <a:r>
              <a:rPr lang="en-US" altLang="zh-CN" dirty="0"/>
              <a:t>1.List</a:t>
            </a:r>
            <a:r>
              <a:rPr lang="zh-CN" altLang="en-US" dirty="0"/>
              <a:t>构造参数</a:t>
            </a:r>
          </a:p>
          <a:p>
            <a:pPr lvl="1"/>
            <a:r>
              <a:rPr lang="en-US" altLang="zh-CN" dirty="0" err="1"/>
              <a:t>initiallndex</a:t>
            </a:r>
            <a:r>
              <a:rPr lang="en-US" altLang="zh-CN" dirty="0"/>
              <a:t>:</a:t>
            </a:r>
            <a:r>
              <a:rPr lang="zh-CN" altLang="en-US" dirty="0"/>
              <a:t>设置当前</a:t>
            </a:r>
            <a:r>
              <a:rPr lang="en-US" altLang="zh-CN" dirty="0"/>
              <a:t>List</a:t>
            </a:r>
            <a:r>
              <a:rPr lang="zh-CN" altLang="en-US" dirty="0"/>
              <a:t>初次加载时视口起始位置显示的</a:t>
            </a:r>
            <a:r>
              <a:rPr lang="en-US" altLang="zh-CN" dirty="0"/>
              <a:t>item</a:t>
            </a:r>
            <a:r>
              <a:rPr lang="zh-CN" altLang="en-US" dirty="0"/>
              <a:t>的索引值。如果设置的值超过了当前</a:t>
            </a:r>
            <a:r>
              <a:rPr lang="en-US" altLang="zh-CN" dirty="0"/>
              <a:t>List</a:t>
            </a:r>
            <a:r>
              <a:rPr lang="zh-CN" altLang="en-US" dirty="0"/>
              <a:t>最后一个</a:t>
            </a:r>
            <a:r>
              <a:rPr lang="en-US" altLang="zh-CN" dirty="0"/>
              <a:t>item</a:t>
            </a:r>
            <a:r>
              <a:rPr lang="zh-CN" altLang="en-US" dirty="0"/>
              <a:t>的索引值，则设置不生效，默认值为</a:t>
            </a:r>
            <a:r>
              <a:rPr lang="en-US" altLang="zh-CN" dirty="0"/>
              <a:t>0</a:t>
            </a:r>
            <a:r>
              <a:rPr lang="zh-CN" altLang="en-US" dirty="0"/>
              <a:t>。</a:t>
            </a:r>
          </a:p>
          <a:p>
            <a:pPr lvl="1"/>
            <a:r>
              <a:rPr lang="en-US" altLang="zh-CN" dirty="0"/>
              <a:t>space:</a:t>
            </a:r>
            <a:r>
              <a:rPr lang="zh-CN" altLang="en-US" dirty="0"/>
              <a:t>列表项间距，默认值为</a:t>
            </a:r>
            <a:r>
              <a:rPr lang="en-US" altLang="zh-CN" dirty="0"/>
              <a:t>0</a:t>
            </a:r>
            <a:r>
              <a:rPr lang="zh-CN" altLang="en-US" dirty="0"/>
              <a:t>。</a:t>
            </a:r>
          </a:p>
          <a:p>
            <a:pPr lvl="1"/>
            <a:r>
              <a:rPr lang="en-US" altLang="zh-CN" dirty="0"/>
              <a:t>scroller:</a:t>
            </a:r>
            <a:r>
              <a:rPr lang="zh-CN" altLang="en-US" dirty="0"/>
              <a:t>可滚动组件的控制器，用于与可滚动组件进行绑定。</a:t>
            </a:r>
          </a:p>
          <a:p>
            <a:r>
              <a:rPr lang="en-US" altLang="zh-CN" dirty="0"/>
              <a:t>2.List</a:t>
            </a:r>
            <a:r>
              <a:rPr lang="zh-CN" altLang="en-US" dirty="0"/>
              <a:t>属性</a:t>
            </a:r>
          </a:p>
          <a:p>
            <a:pPr lvl="1"/>
            <a:r>
              <a:rPr lang="en-US" altLang="zh-CN" dirty="0" err="1"/>
              <a:t>listDirection</a:t>
            </a:r>
            <a:r>
              <a:rPr lang="en-US" altLang="zh-CN" dirty="0"/>
              <a:t>:</a:t>
            </a:r>
            <a:r>
              <a:rPr lang="zh-CN" altLang="en-US" dirty="0"/>
              <a:t>设置</a:t>
            </a:r>
            <a:r>
              <a:rPr lang="en-US" altLang="zh-CN" dirty="0"/>
              <a:t>List</a:t>
            </a:r>
            <a:r>
              <a:rPr lang="zh-CN" altLang="en-US" dirty="0"/>
              <a:t>组件排列方向，默认值为</a:t>
            </a:r>
            <a:r>
              <a:rPr lang="en-US" altLang="zh-CN" dirty="0" err="1"/>
              <a:t>Axis.Vertical</a:t>
            </a:r>
            <a:r>
              <a:rPr lang="zh-CN" altLang="en-US" dirty="0"/>
              <a:t>。</a:t>
            </a:r>
          </a:p>
          <a:p>
            <a:pPr lvl="1"/>
            <a:r>
              <a:rPr lang="en-US" altLang="zh-CN" dirty="0" err="1"/>
              <a:t>scrollBar</a:t>
            </a:r>
            <a:r>
              <a:rPr lang="en-US" altLang="zh-CN" dirty="0"/>
              <a:t>:</a:t>
            </a:r>
            <a:r>
              <a:rPr lang="zh-CN" altLang="en-US" dirty="0"/>
              <a:t>设置滚动条状态。</a:t>
            </a:r>
          </a:p>
          <a:p>
            <a:pPr lvl="1"/>
            <a:r>
              <a:rPr lang="en-US" altLang="zh-CN" dirty="0" err="1"/>
              <a:t>edgeEffect</a:t>
            </a:r>
            <a:r>
              <a:rPr lang="en-US" altLang="zh-CN" dirty="0"/>
              <a:t>:</a:t>
            </a:r>
            <a:r>
              <a:rPr lang="zh-CN" altLang="en-US" dirty="0"/>
              <a:t>设置组件的滑动效果，默认值为</a:t>
            </a:r>
            <a:r>
              <a:rPr lang="en-US" altLang="zh-CN" dirty="0" err="1"/>
              <a:t>EdgeEffect.Spring</a:t>
            </a:r>
            <a:r>
              <a:rPr lang="zh-CN" altLang="en-US" dirty="0"/>
              <a:t>。</a:t>
            </a:r>
            <a:endParaRPr lang="en-US" altLang="zh-CN" dirty="0"/>
          </a:p>
          <a:p>
            <a:pPr lvl="1"/>
            <a:r>
              <a:rPr lang="en-US" altLang="zh-CN" dirty="0"/>
              <a:t>divider:</a:t>
            </a:r>
            <a:r>
              <a:rPr lang="zh-CN" altLang="en-US" dirty="0"/>
              <a:t>设置分割线样式，默认无分割线。</a:t>
            </a:r>
            <a:endParaRPr lang="en-US" altLang="zh-CN" dirty="0"/>
          </a:p>
          <a:p>
            <a:pPr lvl="1"/>
            <a:r>
              <a:rPr lang="en-US" altLang="zh-CN" dirty="0" err="1"/>
              <a:t>editMode</a:t>
            </a:r>
            <a:r>
              <a:rPr lang="en-US" altLang="zh-CN" dirty="0"/>
              <a:t>:</a:t>
            </a:r>
            <a:r>
              <a:rPr lang="zh-CN" altLang="en-US" dirty="0"/>
              <a:t>声明当前</a:t>
            </a:r>
            <a:r>
              <a:rPr lang="en-US" altLang="zh-CN" dirty="0"/>
              <a:t>List</a:t>
            </a:r>
            <a:r>
              <a:rPr lang="zh-CN" altLang="en-US" dirty="0"/>
              <a:t>组件是否处于可编辑模式，默认值为</a:t>
            </a:r>
            <a:r>
              <a:rPr lang="en-US" altLang="zh-CN" dirty="0" err="1"/>
              <a:t>filse</a:t>
            </a:r>
            <a:endParaRPr lang="en-US" altLang="zh-CN" dirty="0"/>
          </a:p>
          <a:p>
            <a:pPr lvl="1"/>
            <a:r>
              <a:rPr lang="en-US" altLang="zh-CN" dirty="0" err="1"/>
              <a:t>cachedCount</a:t>
            </a:r>
            <a:r>
              <a:rPr lang="en-US" altLang="zh-CN" dirty="0"/>
              <a:t>:</a:t>
            </a:r>
            <a:r>
              <a:rPr lang="zh-CN" altLang="en-US" dirty="0"/>
              <a:t>设置</a:t>
            </a:r>
            <a:r>
              <a:rPr lang="en-US" altLang="zh-CN" dirty="0"/>
              <a:t>List</a:t>
            </a:r>
            <a:r>
              <a:rPr lang="zh-CN" altLang="en-US" dirty="0"/>
              <a:t>的缓存数量。</a:t>
            </a:r>
          </a:p>
          <a:p>
            <a:pPr lvl="1"/>
            <a:r>
              <a:rPr lang="en-US" altLang="zh-CN" dirty="0" err="1"/>
              <a:t>chainAnimation</a:t>
            </a:r>
            <a:r>
              <a:rPr lang="en-US" altLang="zh-CN" dirty="0"/>
              <a:t>:</a:t>
            </a:r>
            <a:r>
              <a:rPr lang="zh-CN" altLang="en-US" dirty="0"/>
              <a:t>开启联动效果，默认不开启。</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1194487" y="1701602"/>
            <a:ext cx="10321636" cy="3785652"/>
          </a:xfrm>
          <a:prstGeom prst="rect">
            <a:avLst/>
          </a:prstGeom>
          <a:noFill/>
        </p:spPr>
        <p:txBody>
          <a:bodyPr wrap="square">
            <a:spAutoFit/>
          </a:bodyPr>
          <a:lstStyle/>
          <a:p>
            <a:r>
              <a:rPr lang="en-US" altLang="zh-CN" dirty="0"/>
              <a:t>3.List</a:t>
            </a:r>
            <a:r>
              <a:rPr lang="zh-CN" altLang="en-US" dirty="0"/>
              <a:t>事件</a:t>
            </a:r>
          </a:p>
          <a:p>
            <a:pPr lvl="1"/>
            <a:r>
              <a:rPr lang="en-US" altLang="zh-CN" dirty="0" err="1"/>
              <a:t>onScroll</a:t>
            </a:r>
            <a:r>
              <a:rPr lang="en-US" altLang="zh-CN" dirty="0"/>
              <a:t>:</a:t>
            </a:r>
            <a:r>
              <a:rPr lang="zh-CN" altLang="en-US" dirty="0"/>
              <a:t>列表滑动时触发。</a:t>
            </a:r>
          </a:p>
          <a:p>
            <a:pPr lvl="1"/>
            <a:r>
              <a:rPr lang="en-US" altLang="zh-CN" dirty="0" err="1"/>
              <a:t>onScrollndex</a:t>
            </a:r>
            <a:r>
              <a:rPr lang="en-US" altLang="zh-CN" dirty="0"/>
              <a:t>:</a:t>
            </a:r>
            <a:r>
              <a:rPr lang="zh-CN" altLang="en-US" dirty="0"/>
              <a:t>列表滑动时触发。计算索引值时，</a:t>
            </a:r>
            <a:r>
              <a:rPr lang="en-US" altLang="zh-CN" dirty="0" err="1"/>
              <a:t>ListItemGroup</a:t>
            </a:r>
            <a:r>
              <a:rPr lang="zh-CN" altLang="en-US" dirty="0"/>
              <a:t>作为一个整体占一个索引值，不计算</a:t>
            </a:r>
            <a:r>
              <a:rPr lang="en-US" altLang="zh-CN" dirty="0" err="1"/>
              <a:t>ListltemGroup</a:t>
            </a:r>
            <a:r>
              <a:rPr lang="zh-CN" altLang="en-US" dirty="0"/>
              <a:t>内部</a:t>
            </a:r>
            <a:r>
              <a:rPr lang="en-US" altLang="zh-CN" dirty="0" err="1"/>
              <a:t>Listltem</a:t>
            </a:r>
            <a:r>
              <a:rPr lang="zh-CN" altLang="en-US" dirty="0"/>
              <a:t>的索引值。</a:t>
            </a:r>
          </a:p>
          <a:p>
            <a:pPr lvl="1"/>
            <a:r>
              <a:rPr lang="en-US" altLang="zh-CN" dirty="0" err="1"/>
              <a:t>onReachStart</a:t>
            </a:r>
            <a:r>
              <a:rPr lang="en-US" altLang="zh-CN" dirty="0"/>
              <a:t>:</a:t>
            </a:r>
            <a:r>
              <a:rPr lang="zh-CN" altLang="en-US" dirty="0"/>
              <a:t>滚动到起始位置时触发该回调。</a:t>
            </a:r>
          </a:p>
          <a:p>
            <a:pPr lvl="1"/>
            <a:r>
              <a:rPr lang="en-US" altLang="zh-CN" dirty="0" err="1"/>
              <a:t>onReachEnd</a:t>
            </a:r>
            <a:r>
              <a:rPr lang="en-US" altLang="zh-CN" dirty="0"/>
              <a:t>:</a:t>
            </a:r>
            <a:r>
              <a:rPr lang="zh-CN" altLang="en-US" dirty="0"/>
              <a:t>滚动到底部触发该回调。</a:t>
            </a:r>
          </a:p>
          <a:p>
            <a:pPr lvl="1"/>
            <a:r>
              <a:rPr lang="en-US" altLang="zh-CN" dirty="0" err="1"/>
              <a:t>onltemDelete</a:t>
            </a:r>
            <a:r>
              <a:rPr lang="en-US" altLang="zh-CN" dirty="0"/>
              <a:t>:</a:t>
            </a:r>
            <a:r>
              <a:rPr lang="zh-CN" altLang="en-US" dirty="0"/>
              <a:t>当</a:t>
            </a:r>
            <a:r>
              <a:rPr lang="en-US" altLang="zh-CN" dirty="0"/>
              <a:t>List</a:t>
            </a:r>
            <a:r>
              <a:rPr lang="zh-CN" altLang="en-US" dirty="0"/>
              <a:t>组件在编辑模式时，点击</a:t>
            </a:r>
            <a:r>
              <a:rPr lang="en-US" altLang="zh-CN" dirty="0" err="1"/>
              <a:t>Listltem</a:t>
            </a:r>
            <a:r>
              <a:rPr lang="zh-CN" altLang="en-US" dirty="0"/>
              <a:t>右边出现的删除按钮时触发。</a:t>
            </a:r>
          </a:p>
          <a:p>
            <a:pPr lvl="1"/>
            <a:r>
              <a:rPr lang="en-US" altLang="zh-CN" dirty="0" err="1"/>
              <a:t>onScrollStop</a:t>
            </a:r>
            <a:r>
              <a:rPr lang="en-US" altLang="zh-CN" dirty="0"/>
              <a:t>:</a:t>
            </a:r>
            <a:r>
              <a:rPr lang="zh-CN" altLang="en-US" dirty="0"/>
              <a:t>列表滑动停止时触发。</a:t>
            </a:r>
          </a:p>
          <a:p>
            <a:pPr lvl="1"/>
            <a:r>
              <a:rPr lang="en-US" altLang="zh-CN" dirty="0" err="1"/>
              <a:t>onltemMove</a:t>
            </a:r>
            <a:r>
              <a:rPr lang="en-US" altLang="zh-CN" dirty="0"/>
              <a:t>:</a:t>
            </a:r>
            <a:r>
              <a:rPr lang="zh-CN" altLang="en-US" dirty="0"/>
              <a:t>列表元素发生移动时触发。</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1198662" y="1553393"/>
            <a:ext cx="9433048" cy="3416320"/>
          </a:xfrm>
          <a:prstGeom prst="rect">
            <a:avLst/>
          </a:prstGeom>
          <a:noFill/>
        </p:spPr>
        <p:txBody>
          <a:bodyPr wrap="square">
            <a:spAutoFit/>
          </a:bodyPr>
          <a:lstStyle/>
          <a:p>
            <a:r>
              <a:rPr lang="en-US" altLang="zh-CN" dirty="0"/>
              <a:t>4.Listltem</a:t>
            </a:r>
          </a:p>
          <a:p>
            <a:pPr lvl="1"/>
            <a:r>
              <a:rPr lang="en-US" altLang="zh-CN" dirty="0" err="1"/>
              <a:t>Listltem</a:t>
            </a:r>
            <a:r>
              <a:rPr lang="zh-CN" altLang="en-US" dirty="0"/>
              <a:t>用来展示列表具体</a:t>
            </a:r>
            <a:r>
              <a:rPr lang="en-US" altLang="zh-CN" dirty="0"/>
              <a:t>item,</a:t>
            </a:r>
            <a:r>
              <a:rPr lang="zh-CN" altLang="en-US" dirty="0"/>
              <a:t>它的宽度默认充满</a:t>
            </a:r>
            <a:r>
              <a:rPr lang="en-US" altLang="zh-CN" dirty="0"/>
              <a:t>List</a:t>
            </a:r>
            <a:r>
              <a:rPr lang="zh-CN" altLang="en-US" dirty="0"/>
              <a:t>的宽度，它必须配合</a:t>
            </a:r>
            <a:r>
              <a:rPr lang="en-US" altLang="zh-CN" dirty="0"/>
              <a:t>List</a:t>
            </a:r>
            <a:r>
              <a:rPr lang="zh-CN" altLang="en-US" dirty="0"/>
              <a:t>使用。构造参数为</a:t>
            </a:r>
            <a:r>
              <a:rPr lang="en-US" altLang="zh-CN" dirty="0"/>
              <a:t>value:</a:t>
            </a:r>
            <a:r>
              <a:rPr lang="zh-CN" altLang="en-US" dirty="0"/>
              <a:t>标记位，标记当前</a:t>
            </a:r>
            <a:r>
              <a:rPr lang="en-US" altLang="zh-CN" dirty="0"/>
              <a:t>item</a:t>
            </a:r>
            <a:r>
              <a:rPr lang="zh-CN" altLang="en-US" dirty="0"/>
              <a:t>的</a:t>
            </a:r>
            <a:r>
              <a:rPr lang="en-US" altLang="zh-CN" dirty="0"/>
              <a:t>flag</a:t>
            </a:r>
            <a:r>
              <a:rPr lang="zh-CN" altLang="en-US" dirty="0"/>
              <a:t>。</a:t>
            </a:r>
          </a:p>
          <a:p>
            <a:r>
              <a:rPr lang="en-US" altLang="zh-CN" dirty="0"/>
              <a:t>5.Listltem</a:t>
            </a:r>
            <a:r>
              <a:rPr lang="zh-CN" altLang="en-US" dirty="0"/>
              <a:t>属性</a:t>
            </a:r>
          </a:p>
          <a:p>
            <a:pPr lvl="1"/>
            <a:r>
              <a:rPr lang="en-US" altLang="zh-CN" dirty="0"/>
              <a:t>sicky:</a:t>
            </a:r>
            <a:r>
              <a:rPr lang="zh-CN" altLang="en-US" dirty="0"/>
              <a:t>设置</a:t>
            </a:r>
            <a:r>
              <a:rPr lang="en-US" altLang="zh-CN" dirty="0" err="1"/>
              <a:t>Listltem</a:t>
            </a:r>
            <a:r>
              <a:rPr lang="zh-CN" altLang="en-US" dirty="0"/>
              <a:t>的吸顶效果，默认值为</a:t>
            </a:r>
            <a:r>
              <a:rPr lang="en-US" altLang="zh-CN" dirty="0" err="1"/>
              <a:t>Sicky.None</a:t>
            </a:r>
            <a:r>
              <a:rPr lang="zh-CN" altLang="en-US" dirty="0"/>
              <a:t>。</a:t>
            </a:r>
          </a:p>
          <a:p>
            <a:pPr lvl="1"/>
            <a:r>
              <a:rPr lang="en-US" altLang="zh-CN" dirty="0"/>
              <a:t>editable:</a:t>
            </a:r>
            <a:r>
              <a:rPr lang="zh-CN" altLang="en-US" dirty="0"/>
              <a:t>当前</a:t>
            </a:r>
            <a:r>
              <a:rPr lang="en-US" altLang="zh-CN" dirty="0" err="1"/>
              <a:t>Listltem</a:t>
            </a:r>
            <a:r>
              <a:rPr lang="zh-CN" altLang="en-US" dirty="0"/>
              <a:t>元素是否可编辑，进入编辑模式后可删除或移动列表项，默认值为</a:t>
            </a:r>
            <a:r>
              <a:rPr lang="en-US" altLang="zh-CN" dirty="0" err="1"/>
              <a:t>filse</a:t>
            </a:r>
            <a:r>
              <a:rPr lang="zh-CN" altLang="en-US" dirty="0"/>
              <a:t>。</a:t>
            </a:r>
          </a:p>
          <a:p>
            <a:pPr lvl="1"/>
            <a:r>
              <a:rPr lang="en-US" altLang="zh-CN" dirty="0"/>
              <a:t>selectable:</a:t>
            </a:r>
            <a:r>
              <a:rPr lang="zh-CN" altLang="en-US" dirty="0"/>
              <a:t>当前</a:t>
            </a:r>
            <a:r>
              <a:rPr lang="en-US" altLang="zh-CN" dirty="0" err="1"/>
              <a:t>ListItem</a:t>
            </a:r>
            <a:r>
              <a:rPr lang="zh-CN" altLang="en-US" dirty="0"/>
              <a:t>元素是否可以被鼠标框选。外层</a:t>
            </a:r>
            <a:r>
              <a:rPr lang="en-US" altLang="zh-CN" dirty="0"/>
              <a:t>List</a:t>
            </a:r>
            <a:r>
              <a:rPr lang="zh-CN" altLang="en-US" dirty="0"/>
              <a:t>容器的鼠标框选开启时，</a:t>
            </a:r>
            <a:r>
              <a:rPr lang="en-US" altLang="zh-CN" dirty="0" err="1"/>
              <a:t>Listltem</a:t>
            </a:r>
            <a:r>
              <a:rPr lang="zh-CN" altLang="en-US" dirty="0"/>
              <a:t>的框选才生效，默认值为</a:t>
            </a:r>
            <a:r>
              <a:rPr lang="en-US" altLang="zh-CN" dirty="0"/>
              <a:t>true</a:t>
            </a:r>
            <a:r>
              <a:rPr lang="zh-CN" altLang="en-US" dirty="0"/>
              <a:t>。</a:t>
            </a:r>
          </a:p>
        </p:txBody>
      </p:sp>
      <p:pic>
        <p:nvPicPr>
          <p:cNvPr id="4" name="图片 3"/>
          <p:cNvPicPr>
            <a:picLocks noChangeAspect="1"/>
          </p:cNvPicPr>
          <p:nvPr/>
        </p:nvPicPr>
        <p:blipFill>
          <a:blip r:embed="rId3"/>
          <a:stretch>
            <a:fillRect/>
          </a:stretch>
        </p:blipFill>
        <p:spPr>
          <a:xfrm>
            <a:off x="331776" y="4969713"/>
            <a:ext cx="11526859" cy="1752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4" name="图片 3"/>
          <p:cNvPicPr>
            <a:picLocks noChangeAspect="1"/>
          </p:cNvPicPr>
          <p:nvPr/>
        </p:nvPicPr>
        <p:blipFill>
          <a:blip r:embed="rId3"/>
          <a:stretch>
            <a:fillRect/>
          </a:stretch>
        </p:blipFill>
        <p:spPr>
          <a:xfrm>
            <a:off x="622598" y="1128843"/>
            <a:ext cx="5667047" cy="2300951"/>
          </a:xfrm>
          <a:prstGeom prst="rect">
            <a:avLst/>
          </a:prstGeom>
        </p:spPr>
      </p:pic>
      <p:pic>
        <p:nvPicPr>
          <p:cNvPr id="9" name="图片 8"/>
          <p:cNvPicPr>
            <a:picLocks noChangeAspect="1"/>
          </p:cNvPicPr>
          <p:nvPr/>
        </p:nvPicPr>
        <p:blipFill>
          <a:blip r:embed="rId4"/>
          <a:stretch>
            <a:fillRect/>
          </a:stretch>
        </p:blipFill>
        <p:spPr>
          <a:xfrm>
            <a:off x="622598" y="3429794"/>
            <a:ext cx="5667047" cy="2883625"/>
          </a:xfrm>
          <a:prstGeom prst="rect">
            <a:avLst/>
          </a:prstGeom>
        </p:spPr>
      </p:pic>
      <p:pic>
        <p:nvPicPr>
          <p:cNvPr id="11" name="图片 10"/>
          <p:cNvPicPr>
            <a:picLocks noChangeAspect="1"/>
          </p:cNvPicPr>
          <p:nvPr/>
        </p:nvPicPr>
        <p:blipFill>
          <a:blip r:embed="rId5"/>
          <a:stretch>
            <a:fillRect/>
          </a:stretch>
        </p:blipFill>
        <p:spPr>
          <a:xfrm>
            <a:off x="7031310" y="1128843"/>
            <a:ext cx="3960440" cy="518457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1199563" y="2197081"/>
            <a:ext cx="4528927" cy="317719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矩形 2"/>
          <p:cNvSpPr/>
          <p:nvPr/>
        </p:nvSpPr>
        <p:spPr>
          <a:xfrm>
            <a:off x="944096" y="152679"/>
            <a:ext cx="674667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完成任务达成的技能目标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圆角矩形 3"/>
          <p:cNvSpPr/>
          <p:nvPr/>
        </p:nvSpPr>
        <p:spPr>
          <a:xfrm>
            <a:off x="1236050" y="1877980"/>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 name="椭圆 5"/>
          <p:cNvSpPr/>
          <p:nvPr/>
        </p:nvSpPr>
        <p:spPr>
          <a:xfrm>
            <a:off x="662844"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01</a:t>
            </a:r>
          </a:p>
        </p:txBody>
      </p:sp>
      <p:sp>
        <p:nvSpPr>
          <p:cNvPr id="8" name="空心弧 7"/>
          <p:cNvSpPr/>
          <p:nvPr/>
        </p:nvSpPr>
        <p:spPr>
          <a:xfrm rot="1740000">
            <a:off x="485628" y="1482465"/>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 name="Text2"/>
          <p:cNvSpPr txBox="1"/>
          <p:nvPr/>
        </p:nvSpPr>
        <p:spPr>
          <a:xfrm>
            <a:off x="1663448" y="1922846"/>
            <a:ext cx="2443945" cy="508767"/>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任务描述</a:t>
            </a:r>
            <a:r>
              <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p>
        </p:txBody>
      </p:sp>
      <p:sp>
        <p:nvSpPr>
          <p:cNvPr id="56" name="圆角矩形 55"/>
          <p:cNvSpPr/>
          <p:nvPr>
            <p:custDataLst>
              <p:tags r:id="rId1"/>
            </p:custDataLst>
          </p:nvPr>
        </p:nvSpPr>
        <p:spPr>
          <a:xfrm>
            <a:off x="6977894" y="2151833"/>
            <a:ext cx="4985321" cy="322244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2" name="圆角矩形 61"/>
          <p:cNvSpPr/>
          <p:nvPr>
            <p:custDataLst>
              <p:tags r:id="rId2"/>
            </p:custDataLst>
          </p:nvPr>
        </p:nvSpPr>
        <p:spPr>
          <a:xfrm>
            <a:off x="6978741" y="1880942"/>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3" name="椭圆 62"/>
          <p:cNvSpPr/>
          <p:nvPr>
            <p:custDataLst>
              <p:tags r:id="rId3"/>
            </p:custDataLst>
          </p:nvPr>
        </p:nvSpPr>
        <p:spPr>
          <a:xfrm>
            <a:off x="6503836"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02</a:t>
            </a:r>
          </a:p>
        </p:txBody>
      </p:sp>
      <p:sp>
        <p:nvSpPr>
          <p:cNvPr id="64" name="空心弧 63"/>
          <p:cNvSpPr/>
          <p:nvPr>
            <p:custDataLst>
              <p:tags r:id="rId4"/>
            </p:custDataLst>
          </p:nvPr>
        </p:nvSpPr>
        <p:spPr>
          <a:xfrm rot="1740000">
            <a:off x="6263960" y="1437217"/>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5" name="Text2"/>
          <p:cNvSpPr txBox="1"/>
          <p:nvPr>
            <p:custDataLst>
              <p:tags r:id="rId5"/>
            </p:custDataLst>
          </p:nvPr>
        </p:nvSpPr>
        <p:spPr>
          <a:xfrm>
            <a:off x="7462450" y="1890921"/>
            <a:ext cx="2247637" cy="55363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技能目标</a:t>
            </a: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p>
        </p:txBody>
      </p:sp>
      <p:sp>
        <p:nvSpPr>
          <p:cNvPr id="5" name="文本框 4"/>
          <p:cNvSpPr txBox="1"/>
          <p:nvPr/>
        </p:nvSpPr>
        <p:spPr>
          <a:xfrm>
            <a:off x="1681731" y="2537064"/>
            <a:ext cx="3824682" cy="881380"/>
          </a:xfrm>
          <a:prstGeom prst="rect">
            <a:avLst/>
          </a:prstGeom>
          <a:noFill/>
        </p:spPr>
        <p:txBody>
          <a:bodyPr wrap="square" rtlCol="0">
            <a:spAutoFit/>
          </a:bodyPr>
          <a:lstStyle/>
          <a:p>
            <a:pPr>
              <a:lnSpc>
                <a:spcPct val="120000"/>
              </a:lnSpc>
              <a:defRPr/>
            </a:pP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本任务使用</a:t>
            </a:r>
            <a:r>
              <a:rPr lang="en-US" altLang="zh-CN"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List</a:t>
            </a: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列表组件开发常见的列表数据展示。</a:t>
            </a:r>
          </a:p>
        </p:txBody>
      </p:sp>
      <p:grpSp>
        <p:nvGrpSpPr>
          <p:cNvPr id="11" name="组合 10"/>
          <p:cNvGrpSpPr/>
          <p:nvPr/>
        </p:nvGrpSpPr>
        <p:grpSpPr>
          <a:xfrm>
            <a:off x="7093213" y="2556697"/>
            <a:ext cx="4214048" cy="435965"/>
            <a:chOff x="3644" y="2232"/>
            <a:chExt cx="4978" cy="515"/>
          </a:xfrm>
        </p:grpSpPr>
        <p:sp>
          <p:nvSpPr>
            <p:cNvPr id="12" name="文本框 11"/>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能使用</a:t>
              </a:r>
              <a:r>
                <a:rPr lang="en-US" altLang="zh-CN"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List</a:t>
              </a: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组件展示列表数据</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3" name="椭圆 1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p>
          </p:txBody>
        </p:sp>
      </p:grpSp>
      <p:grpSp>
        <p:nvGrpSpPr>
          <p:cNvPr id="14" name="组合 13"/>
          <p:cNvGrpSpPr/>
          <p:nvPr/>
        </p:nvGrpSpPr>
        <p:grpSpPr>
          <a:xfrm>
            <a:off x="7093213" y="3287256"/>
            <a:ext cx="4622924" cy="435965"/>
            <a:chOff x="3644" y="3293"/>
            <a:chExt cx="5461" cy="515"/>
          </a:xfrm>
        </p:grpSpPr>
        <p:sp>
          <p:nvSpPr>
            <p:cNvPr id="15" name="文本框 14"/>
            <p:cNvSpPr txBox="1"/>
            <p:nvPr/>
          </p:nvSpPr>
          <p:spPr>
            <a:xfrm>
              <a:off x="4075" y="3293"/>
              <a:ext cx="5030"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能删除列表项的数据</a:t>
              </a:r>
            </a:p>
          </p:txBody>
        </p:sp>
        <p:sp>
          <p:nvSpPr>
            <p:cNvPr id="16" name="椭圆 15"/>
            <p:cNvSpPr/>
            <p:nvPr/>
          </p:nvSpPr>
          <p:spPr>
            <a:xfrm>
              <a:off x="3644" y="3332"/>
              <a:ext cx="431" cy="42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par>
                                <p:cTn id="9" presetID="21" presetClass="entr" presetSubtype="1" fill="hold" grpId="0" nodeType="withEffect">
                                  <p:stCondLst>
                                    <p:cond delay="200"/>
                                  </p:stCondLst>
                                  <p:childTnLst>
                                    <p:set>
                                      <p:cBhvr>
                                        <p:cTn id="10" dur="1000" fill="hold">
                                          <p:stCondLst>
                                            <p:cond delay="0"/>
                                          </p:stCondLst>
                                        </p:cTn>
                                        <p:tgtEl>
                                          <p:spTgt spid="6"/>
                                        </p:tgtEl>
                                        <p:attrNameLst>
                                          <p:attrName>style.visibility</p:attrName>
                                        </p:attrNameLst>
                                      </p:cBhvr>
                                      <p:to>
                                        <p:strVal val="visible"/>
                                      </p:to>
                                    </p:set>
                                    <p:animEffect transition="in" filter="wheel(1)">
                                      <p:cBhvr>
                                        <p:cTn id="11" dur="1000"/>
                                        <p:tgtEl>
                                          <p:spTgt spid="6"/>
                                        </p:tgtEl>
                                      </p:cBhvr>
                                    </p:animEffect>
                                  </p:childTnLst>
                                </p:cTn>
                              </p:par>
                              <p:par>
                                <p:cTn id="12" presetID="21" presetClass="entr" presetSubtype="1" fill="hold" grpId="0" nodeType="withEffect">
                                  <p:stCondLst>
                                    <p:cond delay="200"/>
                                  </p:stCondLst>
                                  <p:childTnLst>
                                    <p:set>
                                      <p:cBhvr>
                                        <p:cTn id="13" dur="1000" fill="hold">
                                          <p:stCondLst>
                                            <p:cond delay="0"/>
                                          </p:stCondLst>
                                        </p:cTn>
                                        <p:tgtEl>
                                          <p:spTgt spid="8"/>
                                        </p:tgtEl>
                                        <p:attrNameLst>
                                          <p:attrName>style.visibility</p:attrName>
                                        </p:attrNameLst>
                                      </p:cBhvr>
                                      <p:to>
                                        <p:strVal val="visible"/>
                                      </p:to>
                                    </p:set>
                                    <p:animEffect transition="in" filter="wheel(1)">
                                      <p:cBhvr>
                                        <p:cTn id="14" dur="1000"/>
                                        <p:tgtEl>
                                          <p:spTgt spid="8"/>
                                        </p:tgtEl>
                                      </p:cBhvr>
                                    </p:animEffect>
                                  </p:childTnLst>
                                </p:cTn>
                              </p:par>
                              <p:par>
                                <p:cTn id="15" presetID="17" presetClass="entr" presetSubtype="8" fill="hold" grpId="0" nodeType="withEffect">
                                  <p:stCondLst>
                                    <p:cond delay="0"/>
                                  </p:stCondLst>
                                  <p:childTnLst>
                                    <p:set>
                                      <p:cBhvr additive="base">
                                        <p:cTn id="16" dur="500"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anim calcmode="lin" valueType="num">
                                      <p:cBhvr additive="base">
                                        <p:cTn id="19" dur="500" fill="hold"/>
                                        <p:tgtEl>
                                          <p:spTgt spid="4"/>
                                        </p:tgtEl>
                                        <p:attrNameLst>
                                          <p:attrName>ppt_w</p:attrName>
                                        </p:attrNameLst>
                                      </p:cBhvr>
                                      <p:tavLst>
                                        <p:tav tm="0">
                                          <p:val>
                                            <p:fltVal val="0"/>
                                          </p:val>
                                        </p:tav>
                                        <p:tav tm="100000">
                                          <p:val>
                                            <p:strVal val="#ppt_w"/>
                                          </p:val>
                                        </p:tav>
                                      </p:tavLst>
                                    </p:anim>
                                    <p:anim calcmode="lin" valueType="num">
                                      <p:cBhvr additive="base">
                                        <p:cTn id="20" dur="500" fill="hold"/>
                                        <p:tgtEl>
                                          <p:spTgt spid="4"/>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iterate type="lt">
                                    <p:tmPct val="20000"/>
                                  </p:iterate>
                                  <p:childTnLst>
                                    <p:set>
                                      <p:cBhvr>
                                        <p:cTn id="22" dur="1" fill="hold">
                                          <p:stCondLst>
                                            <p:cond delay="0"/>
                                          </p:stCondLst>
                                        </p:cTn>
                                        <p:tgtEl>
                                          <p:spTgt spid="2">
                                            <p:txEl>
                                              <p:pRg st="0" end="0"/>
                                            </p:txEl>
                                          </p:spTgt>
                                        </p:tgtEl>
                                        <p:attrNameLst>
                                          <p:attrName>style.visibility</p:attrName>
                                        </p:attrNameLst>
                                      </p:cBhvr>
                                      <p:to>
                                        <p:strVal val="visible"/>
                                      </p:to>
                                    </p:set>
                                    <p:anim calcmode="lin" valueType="num">
                                      <p:cBhvr>
                                        <p:cTn id="23"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0" end="0"/>
                                            </p:txEl>
                                          </p:spTgt>
                                        </p:tgtEl>
                                        <p:attrNameLst>
                                          <p:attrName>ppt_h</p:attrName>
                                        </p:attrNameLst>
                                      </p:cBhvr>
                                      <p:tavLst>
                                        <p:tav tm="0">
                                          <p:val>
                                            <p:strVal val="#ppt_h"/>
                                          </p:val>
                                        </p:tav>
                                        <p:tav tm="100000">
                                          <p:val>
                                            <p:strVal val="#ppt_h"/>
                                          </p:val>
                                        </p:tav>
                                      </p:tavLst>
                                    </p:anim>
                                  </p:childTnLst>
                                </p:cTn>
                              </p:par>
                              <p:par>
                                <p:cTn id="25" presetID="20" presetClass="entr" presetSubtype="0" fill="hold" grpId="0" nodeType="withEffect">
                                  <p:stCondLst>
                                    <p:cond delay="0"/>
                                  </p:stCondLst>
                                  <p:childTnLst>
                                    <p:set>
                                      <p:cBhvr>
                                        <p:cTn id="26" dur="1000" fill="hold">
                                          <p:stCondLst>
                                            <p:cond delay="0"/>
                                          </p:stCondLst>
                                        </p:cTn>
                                        <p:tgtEl>
                                          <p:spTgt spid="55"/>
                                        </p:tgtEl>
                                        <p:attrNameLst>
                                          <p:attrName>style.visibility</p:attrName>
                                        </p:attrNameLst>
                                      </p:cBhvr>
                                      <p:to>
                                        <p:strVal val="visible"/>
                                      </p:to>
                                    </p:set>
                                    <p:animEffect transition="in" filter="wedge">
                                      <p:cBhvr>
                                        <p:cTn id="27" dur="1000"/>
                                        <p:tgtEl>
                                          <p:spTgt spid="55"/>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p:cTn id="30"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31"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32" dur="10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000" fill="hold">
                                          <p:stCondLst>
                                            <p:cond delay="0"/>
                                          </p:stCondLst>
                                        </p:cTn>
                                        <p:tgtEl>
                                          <p:spTgt spid="63"/>
                                        </p:tgtEl>
                                        <p:attrNameLst>
                                          <p:attrName>style.visibility</p:attrName>
                                        </p:attrNameLst>
                                      </p:cBhvr>
                                      <p:to>
                                        <p:strVal val="visible"/>
                                      </p:to>
                                    </p:set>
                                    <p:animEffect transition="in" filter="wheel(1)">
                                      <p:cBhvr>
                                        <p:cTn id="37" dur="1000"/>
                                        <p:tgtEl>
                                          <p:spTgt spid="63"/>
                                        </p:tgtEl>
                                      </p:cBhvr>
                                    </p:animEffect>
                                  </p:childTnLst>
                                </p:cTn>
                              </p:par>
                            </p:childTnLst>
                          </p:cTn>
                        </p:par>
                        <p:par>
                          <p:cTn id="38" fill="hold">
                            <p:stCondLst>
                              <p:cond delay="1000"/>
                            </p:stCondLst>
                            <p:childTnLst>
                              <p:par>
                                <p:cTn id="39" presetID="21" presetClass="entr" presetSubtype="1" fill="hold" grpId="0" nodeType="afterEffect">
                                  <p:stCondLst>
                                    <p:cond delay="0"/>
                                  </p:stCondLst>
                                  <p:childTnLst>
                                    <p:set>
                                      <p:cBhvr>
                                        <p:cTn id="40" dur="1000" fill="hold">
                                          <p:stCondLst>
                                            <p:cond delay="0"/>
                                          </p:stCondLst>
                                        </p:cTn>
                                        <p:tgtEl>
                                          <p:spTgt spid="64"/>
                                        </p:tgtEl>
                                        <p:attrNameLst>
                                          <p:attrName>style.visibility</p:attrName>
                                        </p:attrNameLst>
                                      </p:cBhvr>
                                      <p:to>
                                        <p:strVal val="visible"/>
                                      </p:to>
                                    </p:set>
                                    <p:animEffect transition="in" filter="wheel(1)">
                                      <p:cBhvr>
                                        <p:cTn id="41" dur="1000"/>
                                        <p:tgtEl>
                                          <p:spTgt spid="64"/>
                                        </p:tgtEl>
                                      </p:cBhvr>
                                    </p:animEffect>
                                  </p:childTnLst>
                                </p:cTn>
                              </p:par>
                              <p:par>
                                <p:cTn id="42" presetID="17" presetClass="entr" presetSubtype="8" fill="hold" grpId="0" nodeType="withEffect">
                                  <p:stCondLst>
                                    <p:cond delay="0"/>
                                  </p:stCondLst>
                                  <p:childTnLst>
                                    <p:set>
                                      <p:cBhvr additive="base">
                                        <p:cTn id="43" dur="500" fill="hold">
                                          <p:stCondLst>
                                            <p:cond delay="0"/>
                                          </p:stCondLst>
                                        </p:cTn>
                                        <p:tgtEl>
                                          <p:spTgt spid="62"/>
                                        </p:tgtEl>
                                        <p:attrNameLst>
                                          <p:attrName>style.visibility</p:attrName>
                                        </p:attrNameLst>
                                      </p:cBhvr>
                                      <p:to>
                                        <p:strVal val="visible"/>
                                      </p:to>
                                    </p:set>
                                    <p:anim calcmode="lin" valueType="num">
                                      <p:cBhvr additive="base">
                                        <p:cTn id="44" dur="500" fill="hold"/>
                                        <p:tgtEl>
                                          <p:spTgt spid="62"/>
                                        </p:tgtEl>
                                        <p:attrNameLst>
                                          <p:attrName>ppt_x</p:attrName>
                                        </p:attrNameLst>
                                      </p:cBhvr>
                                      <p:tavLst>
                                        <p:tav tm="0">
                                          <p:val>
                                            <p:strVal val="#ppt_x-#ppt_w/2"/>
                                          </p:val>
                                        </p:tav>
                                        <p:tav tm="100000">
                                          <p:val>
                                            <p:strVal val="#ppt_x"/>
                                          </p:val>
                                        </p:tav>
                                      </p:tavLst>
                                    </p:anim>
                                    <p:anim calcmode="lin" valueType="num">
                                      <p:cBhvr additive="base">
                                        <p:cTn id="45" dur="500" fill="hold"/>
                                        <p:tgtEl>
                                          <p:spTgt spid="62"/>
                                        </p:tgtEl>
                                        <p:attrNameLst>
                                          <p:attrName>ppt_y</p:attrName>
                                        </p:attrNameLst>
                                      </p:cBhvr>
                                      <p:tavLst>
                                        <p:tav tm="0">
                                          <p:val>
                                            <p:strVal val="#ppt_y"/>
                                          </p:val>
                                        </p:tav>
                                        <p:tav tm="100000">
                                          <p:val>
                                            <p:strVal val="#ppt_y"/>
                                          </p:val>
                                        </p:tav>
                                      </p:tavLst>
                                    </p:anim>
                                    <p:anim calcmode="lin" valueType="num">
                                      <p:cBhvr additive="base">
                                        <p:cTn id="46" dur="500" fill="hold"/>
                                        <p:tgtEl>
                                          <p:spTgt spid="62"/>
                                        </p:tgtEl>
                                        <p:attrNameLst>
                                          <p:attrName>ppt_w</p:attrName>
                                        </p:attrNameLst>
                                      </p:cBhvr>
                                      <p:tavLst>
                                        <p:tav tm="0">
                                          <p:val>
                                            <p:fltVal val="0"/>
                                          </p:val>
                                        </p:tav>
                                        <p:tav tm="100000">
                                          <p:val>
                                            <p:strVal val="#ppt_w"/>
                                          </p:val>
                                        </p:tav>
                                      </p:tavLst>
                                    </p:anim>
                                    <p:anim calcmode="lin" valueType="num">
                                      <p:cBhvr additive="base">
                                        <p:cTn id="47" dur="500" fill="hold"/>
                                        <p:tgtEl>
                                          <p:spTgt spid="62"/>
                                        </p:tgtEl>
                                        <p:attrNameLst>
                                          <p:attrName>ppt_h</p:attrName>
                                        </p:attrNameLst>
                                      </p:cBhvr>
                                      <p:tavLst>
                                        <p:tav tm="0">
                                          <p:val>
                                            <p:strVal val="#ppt_h"/>
                                          </p:val>
                                        </p:tav>
                                        <p:tav tm="100000">
                                          <p:val>
                                            <p:strVal val="#ppt_h"/>
                                          </p:val>
                                        </p:tav>
                                      </p:tavLst>
                                    </p:anim>
                                  </p:childTnLst>
                                </p:cTn>
                              </p:par>
                              <p:par>
                                <p:cTn id="48" presetID="17" presetClass="entr" presetSubtype="10" fill="hold" nodeType="withEffect">
                                  <p:stCondLst>
                                    <p:cond delay="0"/>
                                  </p:stCondLst>
                                  <p:iterate type="lt">
                                    <p:tmPct val="20000"/>
                                  </p:iterate>
                                  <p:childTnLst>
                                    <p:set>
                                      <p:cBhvr>
                                        <p:cTn id="49" dur="1" fill="hold">
                                          <p:stCondLst>
                                            <p:cond delay="0"/>
                                          </p:stCondLst>
                                        </p:cTn>
                                        <p:tgtEl>
                                          <p:spTgt spid="65">
                                            <p:txEl>
                                              <p:pRg st="0" end="0"/>
                                            </p:txEl>
                                          </p:spTgt>
                                        </p:tgtEl>
                                        <p:attrNameLst>
                                          <p:attrName>style.visibility</p:attrName>
                                        </p:attrNameLst>
                                      </p:cBhvr>
                                      <p:to>
                                        <p:strVal val="visible"/>
                                      </p:to>
                                    </p:set>
                                    <p:anim calcmode="lin" valueType="num">
                                      <p:cBhvr>
                                        <p:cTn id="50" dur="500" fill="hold"/>
                                        <p:tgtEl>
                                          <p:spTgt spid="65">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65">
                                            <p:txEl>
                                              <p:pRg st="0" end="0"/>
                                            </p:txEl>
                                          </p:spTgt>
                                        </p:tgtEl>
                                        <p:attrNameLst>
                                          <p:attrName>ppt_h</p:attrName>
                                        </p:attrNameLst>
                                      </p:cBhvr>
                                      <p:tavLst>
                                        <p:tav tm="0">
                                          <p:val>
                                            <p:strVal val="#ppt_h"/>
                                          </p:val>
                                        </p:tav>
                                        <p:tav tm="100000">
                                          <p:val>
                                            <p:strVal val="#ppt_h"/>
                                          </p:val>
                                        </p:tav>
                                      </p:tavLst>
                                    </p:anim>
                                  </p:childTnLst>
                                </p:cTn>
                              </p:par>
                            </p:childTnLst>
                          </p:cTn>
                        </p:par>
                        <p:par>
                          <p:cTn id="52" fill="hold">
                            <p:stCondLst>
                              <p:cond delay="2000"/>
                            </p:stCondLst>
                            <p:childTnLst>
                              <p:par>
                                <p:cTn id="53" presetID="20" presetClass="entr" presetSubtype="0" fill="hold" grpId="0" nodeType="afterEffect">
                                  <p:stCondLst>
                                    <p:cond delay="0"/>
                                  </p:stCondLst>
                                  <p:childTnLst>
                                    <p:set>
                                      <p:cBhvr>
                                        <p:cTn id="54" dur="1000" fill="hold">
                                          <p:stCondLst>
                                            <p:cond delay="0"/>
                                          </p:stCondLst>
                                        </p:cTn>
                                        <p:tgtEl>
                                          <p:spTgt spid="56"/>
                                        </p:tgtEl>
                                        <p:attrNameLst>
                                          <p:attrName>style.visibility</p:attrName>
                                        </p:attrNameLst>
                                      </p:cBhvr>
                                      <p:to>
                                        <p:strVal val="visible"/>
                                      </p:to>
                                    </p:set>
                                    <p:animEffect transition="in" filter="wedge">
                                      <p:cBhvr>
                                        <p:cTn id="55" dur="10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decel="100000"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500" fill="hold"/>
                                        <p:tgtEl>
                                          <p:spTgt spid="11"/>
                                        </p:tgtEl>
                                        <p:attrNameLst>
                                          <p:attrName>ppt_x</p:attrName>
                                        </p:attrNameLst>
                                      </p:cBhvr>
                                      <p:tavLst>
                                        <p:tav tm="0">
                                          <p:val>
                                            <p:strVal val="1+#ppt_w/2"/>
                                          </p:val>
                                        </p:tav>
                                        <p:tav tm="100000">
                                          <p:val>
                                            <p:strVal val="#ppt_x"/>
                                          </p:val>
                                        </p:tav>
                                      </p:tavLst>
                                    </p:anim>
                                    <p:anim calcmode="lin" valueType="num">
                                      <p:cBhvr additive="base">
                                        <p:cTn id="61"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decel="100000"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additive="base">
                                        <p:cTn id="66" dur="500" fill="hold"/>
                                        <p:tgtEl>
                                          <p:spTgt spid="14"/>
                                        </p:tgtEl>
                                        <p:attrNameLst>
                                          <p:attrName>ppt_x</p:attrName>
                                        </p:attrNameLst>
                                      </p:cBhvr>
                                      <p:tavLst>
                                        <p:tav tm="0">
                                          <p:val>
                                            <p:strVal val="1+#ppt_w/2"/>
                                          </p:val>
                                        </p:tav>
                                        <p:tav tm="100000">
                                          <p:val>
                                            <p:strVal val="#ppt_x"/>
                                          </p:val>
                                        </p:tav>
                                      </p:tavLst>
                                    </p:anim>
                                    <p:anim calcmode="lin" valueType="num">
                                      <p:cBhvr additive="base">
                                        <p:cTn id="67"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3" grpId="0"/>
      <p:bldP spid="4" grpId="0" bldLvl="0" animBg="1"/>
      <p:bldP spid="6" grpId="0" bldLvl="0" animBg="1"/>
      <p:bldP spid="8" grpId="0" bldLvl="0" animBg="1"/>
      <p:bldP spid="56" grpId="0" bldLvl="0" animBg="1"/>
      <p:bldP spid="62" grpId="0" bldLvl="0" animBg="1"/>
      <p:bldP spid="63" grpId="0" bldLvl="0" animBg="1"/>
      <p:bldP spid="64" grpId="0" bldLvl="0" animBg="1"/>
      <p:bldP spid="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8849" y="152820"/>
            <a:ext cx="629590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任务实施步骤</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9" name="组合 18"/>
          <p:cNvGrpSpPr/>
          <p:nvPr/>
        </p:nvGrpSpPr>
        <p:grpSpPr>
          <a:xfrm>
            <a:off x="748104" y="1444720"/>
            <a:ext cx="10519915" cy="4175557"/>
            <a:chOff x="669925" y="1108214"/>
            <a:chExt cx="10521559" cy="4176209"/>
          </a:xfrm>
        </p:grpSpPr>
        <p:sp>
          <p:nvSpPr>
            <p:cNvPr id="21" name="išļídé"/>
            <p:cNvSpPr/>
            <p:nvPr/>
          </p:nvSpPr>
          <p:spPr bwMode="auto">
            <a:xfrm>
              <a:off x="669925" y="1700809"/>
              <a:ext cx="9794527" cy="3583614"/>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solidFill>
              <a:prstDash val="dash"/>
              <a:miter lim="800000"/>
            </a:ln>
          </p:spPr>
          <p:txBody>
            <a:bodyPr vert="horz" wrap="square" lIns="109710" tIns="54855" rIns="109710" bIns="54855" numCol="1" anchor="t" anchorCtr="0" compatLnSpc="1"/>
            <a:lstStyle/>
            <a:p>
              <a:pPr>
                <a:lnSpc>
                  <a:spcPct val="120000"/>
                </a:lnSpc>
              </a:pPr>
              <a:endParaRPr lang="en-US" sz="2160" dirty="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iśľíḑé"/>
            <p:cNvSpPr/>
            <p:nvPr/>
          </p:nvSpPr>
          <p:spPr bwMode="auto">
            <a:xfrm>
              <a:off x="2616440" y="3258380"/>
              <a:ext cx="777020" cy="724217"/>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íṧļiḑé"/>
            <p:cNvSpPr/>
            <p:nvPr/>
          </p:nvSpPr>
          <p:spPr>
            <a:xfrm>
              <a:off x="2873120" y="3452092"/>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îṥḻîďe"/>
            <p:cNvSpPr/>
            <p:nvPr/>
          </p:nvSpPr>
          <p:spPr bwMode="auto">
            <a:xfrm>
              <a:off x="4522343" y="3825624"/>
              <a:ext cx="777020" cy="774892"/>
            </a:xfrm>
            <a:prstGeom prst="ellipse">
              <a:avLst/>
            </a:prstGeom>
            <a:solidFill>
              <a:schemeClr val="accent1"/>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íšļîḍé"/>
            <p:cNvSpPr/>
            <p:nvPr/>
          </p:nvSpPr>
          <p:spPr>
            <a:xfrm>
              <a:off x="4804357" y="4096502"/>
              <a:ext cx="236448" cy="236449"/>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7" y="0"/>
                    <a:pt x="9818" y="440"/>
                    <a:pt x="9818" y="982"/>
                  </a:cubicBezTo>
                  <a:lnTo>
                    <a:pt x="982" y="982"/>
                  </a:lnTo>
                  <a:cubicBezTo>
                    <a:pt x="439" y="982"/>
                    <a:pt x="0" y="1422"/>
                    <a:pt x="0" y="1964"/>
                  </a:cubicBezTo>
                  <a:lnTo>
                    <a:pt x="0" y="2945"/>
                  </a:lnTo>
                  <a:cubicBezTo>
                    <a:pt x="0" y="3488"/>
                    <a:pt x="439" y="3927"/>
                    <a:pt x="982" y="3927"/>
                  </a:cubicBezTo>
                  <a:lnTo>
                    <a:pt x="982" y="15709"/>
                  </a:lnTo>
                  <a:cubicBezTo>
                    <a:pt x="982" y="16252"/>
                    <a:pt x="1421" y="16691"/>
                    <a:pt x="1964" y="16691"/>
                  </a:cubicBezTo>
                  <a:lnTo>
                    <a:pt x="10309" y="16691"/>
                  </a:lnTo>
                  <a:lnTo>
                    <a:pt x="10309" y="17960"/>
                  </a:lnTo>
                  <a:lnTo>
                    <a:pt x="7507" y="20762"/>
                  </a:lnTo>
                  <a:cubicBezTo>
                    <a:pt x="7419" y="20851"/>
                    <a:pt x="7364" y="20974"/>
                    <a:pt x="7364" y="21109"/>
                  </a:cubicBezTo>
                  <a:cubicBezTo>
                    <a:pt x="7364" y="21380"/>
                    <a:pt x="7583" y="21600"/>
                    <a:pt x="7855" y="21600"/>
                  </a:cubicBezTo>
                  <a:cubicBezTo>
                    <a:pt x="7990" y="21600"/>
                    <a:pt x="8113" y="21545"/>
                    <a:pt x="8202" y="21456"/>
                  </a:cubicBezTo>
                  <a:lnTo>
                    <a:pt x="10800" y="18858"/>
                  </a:lnTo>
                  <a:lnTo>
                    <a:pt x="13398" y="21456"/>
                  </a:lnTo>
                  <a:cubicBezTo>
                    <a:pt x="13488" y="21545"/>
                    <a:pt x="13610" y="21600"/>
                    <a:pt x="13745" y="21600"/>
                  </a:cubicBezTo>
                  <a:cubicBezTo>
                    <a:pt x="14017" y="21600"/>
                    <a:pt x="14236" y="21380"/>
                    <a:pt x="14236" y="21109"/>
                  </a:cubicBezTo>
                  <a:cubicBezTo>
                    <a:pt x="14236" y="20974"/>
                    <a:pt x="14182"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6200" y="5891"/>
                  </a:moveTo>
                  <a:cubicBezTo>
                    <a:pt x="16471" y="5891"/>
                    <a:pt x="16691" y="6111"/>
                    <a:pt x="16691" y="6382"/>
                  </a:cubicBezTo>
                  <a:cubicBezTo>
                    <a:pt x="16691" y="6653"/>
                    <a:pt x="16471" y="6873"/>
                    <a:pt x="16200" y="6873"/>
                  </a:cubicBezTo>
                  <a:cubicBezTo>
                    <a:pt x="15929" y="6873"/>
                    <a:pt x="15709" y="6653"/>
                    <a:pt x="15709" y="6382"/>
                  </a:cubicBezTo>
                  <a:cubicBezTo>
                    <a:pt x="15709" y="6111"/>
                    <a:pt x="15929" y="5891"/>
                    <a:pt x="16200" y="5891"/>
                  </a:cubicBezTo>
                  <a:moveTo>
                    <a:pt x="16200" y="7855"/>
                  </a:moveTo>
                  <a:cubicBezTo>
                    <a:pt x="17013" y="7855"/>
                    <a:pt x="17673" y="7196"/>
                    <a:pt x="17673" y="6382"/>
                  </a:cubicBezTo>
                  <a:cubicBezTo>
                    <a:pt x="17673" y="5569"/>
                    <a:pt x="17013" y="4909"/>
                    <a:pt x="16200" y="4909"/>
                  </a:cubicBezTo>
                  <a:cubicBezTo>
                    <a:pt x="15387" y="4909"/>
                    <a:pt x="14727" y="5569"/>
                    <a:pt x="14727" y="6382"/>
                  </a:cubicBezTo>
                  <a:cubicBezTo>
                    <a:pt x="14727" y="7196"/>
                    <a:pt x="15387" y="7855"/>
                    <a:pt x="16200" y="7855"/>
                  </a:cubicBezTo>
                  <a:moveTo>
                    <a:pt x="8422" y="8135"/>
                  </a:moveTo>
                  <a:lnTo>
                    <a:pt x="11926" y="11638"/>
                  </a:lnTo>
                  <a:cubicBezTo>
                    <a:pt x="12015" y="11727"/>
                    <a:pt x="12138" y="11782"/>
                    <a:pt x="12273" y="11782"/>
                  </a:cubicBezTo>
                  <a:cubicBezTo>
                    <a:pt x="12408" y="11782"/>
                    <a:pt x="12531" y="11727"/>
                    <a:pt x="12620" y="11638"/>
                  </a:cubicBezTo>
                  <a:lnTo>
                    <a:pt x="14183" y="10075"/>
                  </a:lnTo>
                  <a:lnTo>
                    <a:pt x="16200" y="12764"/>
                  </a:lnTo>
                  <a:lnTo>
                    <a:pt x="5336" y="12764"/>
                  </a:lnTo>
                  <a:cubicBezTo>
                    <a:pt x="5336" y="12764"/>
                    <a:pt x="8422" y="8135"/>
                    <a:pt x="8422" y="8135"/>
                  </a:cubicBezTo>
                  <a:close/>
                  <a:moveTo>
                    <a:pt x="4418" y="13745"/>
                  </a:moveTo>
                  <a:lnTo>
                    <a:pt x="17182" y="13745"/>
                  </a:lnTo>
                  <a:cubicBezTo>
                    <a:pt x="17453" y="13745"/>
                    <a:pt x="17673" y="13526"/>
                    <a:pt x="17673" y="13255"/>
                  </a:cubicBezTo>
                  <a:cubicBezTo>
                    <a:pt x="17673" y="13144"/>
                    <a:pt x="17630" y="13047"/>
                    <a:pt x="17568" y="12965"/>
                  </a:cubicBezTo>
                  <a:lnTo>
                    <a:pt x="17575" y="12960"/>
                  </a:lnTo>
                  <a:lnTo>
                    <a:pt x="14629" y="9033"/>
                  </a:lnTo>
                  <a:lnTo>
                    <a:pt x="14622" y="9038"/>
                  </a:lnTo>
                  <a:cubicBezTo>
                    <a:pt x="14533" y="8919"/>
                    <a:pt x="14397" y="8836"/>
                    <a:pt x="14236" y="8836"/>
                  </a:cubicBezTo>
                  <a:cubicBezTo>
                    <a:pt x="14101" y="8836"/>
                    <a:pt x="13978" y="8891"/>
                    <a:pt x="13889" y="8980"/>
                  </a:cubicBezTo>
                  <a:lnTo>
                    <a:pt x="12273" y="10597"/>
                  </a:lnTo>
                  <a:lnTo>
                    <a:pt x="8693" y="7017"/>
                  </a:lnTo>
                  <a:cubicBezTo>
                    <a:pt x="8604" y="6928"/>
                    <a:pt x="8481" y="6873"/>
                    <a:pt x="8345" y="6873"/>
                  </a:cubicBezTo>
                  <a:cubicBezTo>
                    <a:pt x="8175" y="6873"/>
                    <a:pt x="8033" y="6965"/>
                    <a:pt x="7945" y="7097"/>
                  </a:cubicBezTo>
                  <a:lnTo>
                    <a:pt x="7937" y="7091"/>
                  </a:lnTo>
                  <a:lnTo>
                    <a:pt x="4010" y="12982"/>
                  </a:lnTo>
                  <a:lnTo>
                    <a:pt x="4017" y="12988"/>
                  </a:lnTo>
                  <a:cubicBezTo>
                    <a:pt x="3965" y="13066"/>
                    <a:pt x="3927" y="13154"/>
                    <a:pt x="3927" y="13255"/>
                  </a:cubicBezTo>
                  <a:cubicBezTo>
                    <a:pt x="3927" y="13526"/>
                    <a:pt x="4147" y="13745"/>
                    <a:pt x="4418" y="1374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îşḷíďé"/>
            <p:cNvSpPr/>
            <p:nvPr/>
          </p:nvSpPr>
          <p:spPr bwMode="auto">
            <a:xfrm>
              <a:off x="6465051" y="2514529"/>
              <a:ext cx="687758" cy="685872"/>
            </a:xfrm>
            <a:prstGeom prst="ellipse">
              <a:avLst/>
            </a:prstGeom>
            <a:solidFill>
              <a:srgbClr val="0A5AB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îS1îḋe"/>
            <p:cNvSpPr/>
            <p:nvPr/>
          </p:nvSpPr>
          <p:spPr>
            <a:xfrm>
              <a:off x="6677173" y="26929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8280" y="18579"/>
                  </a:moveTo>
                  <a:cubicBezTo>
                    <a:pt x="20323" y="16614"/>
                    <a:pt x="21600" y="13859"/>
                    <a:pt x="21600" y="10800"/>
                  </a:cubicBezTo>
                  <a:cubicBezTo>
                    <a:pt x="21600" y="4835"/>
                    <a:pt x="16764" y="0"/>
                    <a:pt x="10800" y="0"/>
                  </a:cubicBezTo>
                  <a:cubicBezTo>
                    <a:pt x="4836" y="0"/>
                    <a:pt x="0" y="4835"/>
                    <a:pt x="0" y="10800"/>
                  </a:cubicBezTo>
                  <a:cubicBezTo>
                    <a:pt x="0" y="13859"/>
                    <a:pt x="1277" y="16614"/>
                    <a:pt x="3320" y="18579"/>
                  </a:cubicBezTo>
                  <a:lnTo>
                    <a:pt x="2107" y="20762"/>
                  </a:lnTo>
                  <a:cubicBezTo>
                    <a:pt x="2019" y="20851"/>
                    <a:pt x="1964" y="20974"/>
                    <a:pt x="1964" y="21109"/>
                  </a:cubicBezTo>
                  <a:cubicBezTo>
                    <a:pt x="1964" y="21380"/>
                    <a:pt x="2184" y="21600"/>
                    <a:pt x="2455" y="21600"/>
                  </a:cubicBezTo>
                  <a:cubicBezTo>
                    <a:pt x="2590" y="21600"/>
                    <a:pt x="2713" y="21545"/>
                    <a:pt x="2802" y="21456"/>
                  </a:cubicBezTo>
                  <a:cubicBezTo>
                    <a:pt x="2858" y="21400"/>
                    <a:pt x="2894" y="21327"/>
                    <a:pt x="2917" y="21248"/>
                  </a:cubicBezTo>
                  <a:lnTo>
                    <a:pt x="4044" y="19219"/>
                  </a:lnTo>
                  <a:cubicBezTo>
                    <a:pt x="5895" y="20706"/>
                    <a:pt x="8242" y="21600"/>
                    <a:pt x="10800" y="21600"/>
                  </a:cubicBezTo>
                  <a:cubicBezTo>
                    <a:pt x="13358" y="21600"/>
                    <a:pt x="15705" y="20706"/>
                    <a:pt x="17555" y="19219"/>
                  </a:cubicBezTo>
                  <a:lnTo>
                    <a:pt x="18683" y="21248"/>
                  </a:lnTo>
                  <a:cubicBezTo>
                    <a:pt x="18743" y="21450"/>
                    <a:pt x="18923" y="21600"/>
                    <a:pt x="19145" y="21600"/>
                  </a:cubicBezTo>
                  <a:cubicBezTo>
                    <a:pt x="19416" y="21600"/>
                    <a:pt x="19636" y="21380"/>
                    <a:pt x="19636" y="21109"/>
                  </a:cubicBezTo>
                  <a:cubicBezTo>
                    <a:pt x="19636" y="20974"/>
                    <a:pt x="19581" y="20851"/>
                    <a:pt x="19493" y="20762"/>
                  </a:cubicBezTo>
                  <a:cubicBezTo>
                    <a:pt x="19493" y="20762"/>
                    <a:pt x="18280" y="18579"/>
                    <a:pt x="18280" y="18579"/>
                  </a:cubicBezTo>
                  <a:close/>
                  <a:moveTo>
                    <a:pt x="10800" y="16691"/>
                  </a:moveTo>
                  <a:cubicBezTo>
                    <a:pt x="7547" y="16691"/>
                    <a:pt x="4909" y="14053"/>
                    <a:pt x="4909" y="10800"/>
                  </a:cubicBezTo>
                  <a:cubicBezTo>
                    <a:pt x="4909" y="7547"/>
                    <a:pt x="7547" y="4909"/>
                    <a:pt x="10800" y="4909"/>
                  </a:cubicBezTo>
                  <a:cubicBezTo>
                    <a:pt x="14053" y="4909"/>
                    <a:pt x="16691" y="7547"/>
                    <a:pt x="16691" y="10800"/>
                  </a:cubicBezTo>
                  <a:cubicBezTo>
                    <a:pt x="16691" y="14053"/>
                    <a:pt x="14053" y="16691"/>
                    <a:pt x="10800" y="16691"/>
                  </a:cubicBezTo>
                  <a:moveTo>
                    <a:pt x="10800" y="3927"/>
                  </a:moveTo>
                  <a:cubicBezTo>
                    <a:pt x="7004" y="3927"/>
                    <a:pt x="3927" y="7004"/>
                    <a:pt x="3927" y="10800"/>
                  </a:cubicBezTo>
                  <a:cubicBezTo>
                    <a:pt x="3927" y="14596"/>
                    <a:pt x="7004" y="17673"/>
                    <a:pt x="10800" y="17673"/>
                  </a:cubicBezTo>
                  <a:cubicBezTo>
                    <a:pt x="14596" y="17673"/>
                    <a:pt x="17673" y="14596"/>
                    <a:pt x="17673" y="10800"/>
                  </a:cubicBezTo>
                  <a:cubicBezTo>
                    <a:pt x="17673" y="7004"/>
                    <a:pt x="14596" y="3927"/>
                    <a:pt x="10800" y="3927"/>
                  </a:cubicBezTo>
                  <a:moveTo>
                    <a:pt x="10800" y="12764"/>
                  </a:moveTo>
                  <a:cubicBezTo>
                    <a:pt x="9716" y="12764"/>
                    <a:pt x="8836" y="11884"/>
                    <a:pt x="8836" y="10800"/>
                  </a:cubicBezTo>
                  <a:cubicBezTo>
                    <a:pt x="8836" y="9716"/>
                    <a:pt x="9716" y="8836"/>
                    <a:pt x="10800" y="8836"/>
                  </a:cubicBezTo>
                  <a:cubicBezTo>
                    <a:pt x="11884" y="8836"/>
                    <a:pt x="12764" y="9716"/>
                    <a:pt x="12764" y="10800"/>
                  </a:cubicBezTo>
                  <a:cubicBezTo>
                    <a:pt x="12764" y="11884"/>
                    <a:pt x="11884" y="12764"/>
                    <a:pt x="10800" y="12764"/>
                  </a:cubicBezTo>
                  <a:moveTo>
                    <a:pt x="10800" y="7855"/>
                  </a:moveTo>
                  <a:cubicBezTo>
                    <a:pt x="9173" y="7855"/>
                    <a:pt x="7855" y="9173"/>
                    <a:pt x="7855" y="10800"/>
                  </a:cubicBezTo>
                  <a:cubicBezTo>
                    <a:pt x="7855" y="12427"/>
                    <a:pt x="9173" y="13745"/>
                    <a:pt x="10800" y="13745"/>
                  </a:cubicBezTo>
                  <a:cubicBezTo>
                    <a:pt x="12427" y="13745"/>
                    <a:pt x="13745" y="12427"/>
                    <a:pt x="13745" y="10800"/>
                  </a:cubicBezTo>
                  <a:cubicBezTo>
                    <a:pt x="13745" y="9173"/>
                    <a:pt x="12427" y="7855"/>
                    <a:pt x="10800" y="785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5" name="îṥḻîḋe"/>
            <p:cNvSpPr/>
            <p:nvPr/>
          </p:nvSpPr>
          <p:spPr bwMode="auto">
            <a:xfrm>
              <a:off x="8343900" y="3021574"/>
              <a:ext cx="726206" cy="724216"/>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íṥlïḍê"/>
            <p:cNvSpPr/>
            <p:nvPr/>
          </p:nvSpPr>
          <p:spPr>
            <a:xfrm>
              <a:off x="8567338" y="324401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ïṥḻíde"/>
            <p:cNvSpPr/>
            <p:nvPr/>
          </p:nvSpPr>
          <p:spPr>
            <a:xfrm rot="816452">
              <a:off x="10423986" y="1108214"/>
              <a:ext cx="767498" cy="76749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accent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iṥḻïḓé"/>
            <p:cNvSpPr/>
            <p:nvPr/>
          </p:nvSpPr>
          <p:spPr bwMode="auto">
            <a:xfrm>
              <a:off x="1182445" y="4358759"/>
              <a:ext cx="777020" cy="774892"/>
            </a:xfrm>
            <a:prstGeom prst="ellipse">
              <a:avLst/>
            </a:prstGeom>
            <a:solidFill>
              <a:srgbClr val="00B0F0"/>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ïsḻiḑè"/>
            <p:cNvSpPr/>
            <p:nvPr/>
          </p:nvSpPr>
          <p:spPr>
            <a:xfrm>
              <a:off x="1416280" y="4600517"/>
              <a:ext cx="309352" cy="331184"/>
            </a:xfrm>
            <a:custGeom>
              <a:avLst/>
              <a:gdLst>
                <a:gd name="connsiteX0" fmla="*/ 482620 w 607097"/>
                <a:gd name="connsiteY0" fmla="*/ 381169 h 606722"/>
                <a:gd name="connsiteX1" fmla="*/ 496768 w 607097"/>
                <a:gd name="connsiteY1" fmla="*/ 381169 h 606722"/>
                <a:gd name="connsiteX2" fmla="*/ 510916 w 607097"/>
                <a:gd name="connsiteY2" fmla="*/ 395381 h 606722"/>
                <a:gd name="connsiteX3" fmla="*/ 510916 w 607097"/>
                <a:gd name="connsiteY3" fmla="*/ 409505 h 606722"/>
                <a:gd name="connsiteX4" fmla="*/ 503887 w 607097"/>
                <a:gd name="connsiteY4" fmla="*/ 412525 h 606722"/>
                <a:gd name="connsiteX5" fmla="*/ 496768 w 607097"/>
                <a:gd name="connsiteY5" fmla="*/ 409505 h 606722"/>
                <a:gd name="connsiteX6" fmla="*/ 482620 w 607097"/>
                <a:gd name="connsiteY6" fmla="*/ 395381 h 606722"/>
                <a:gd name="connsiteX7" fmla="*/ 482620 w 607097"/>
                <a:gd name="connsiteY7" fmla="*/ 381169 h 606722"/>
                <a:gd name="connsiteX8" fmla="*/ 546398 w 607097"/>
                <a:gd name="connsiteY8" fmla="*/ 242745 h 606722"/>
                <a:gd name="connsiteX9" fmla="*/ 566606 w 607097"/>
                <a:gd name="connsiteY9" fmla="*/ 242745 h 606722"/>
                <a:gd name="connsiteX10" fmla="*/ 576754 w 607097"/>
                <a:gd name="connsiteY10" fmla="*/ 252756 h 606722"/>
                <a:gd name="connsiteX11" fmla="*/ 566606 w 607097"/>
                <a:gd name="connsiteY11" fmla="*/ 262856 h 606722"/>
                <a:gd name="connsiteX12" fmla="*/ 546398 w 607097"/>
                <a:gd name="connsiteY12" fmla="*/ 262856 h 606722"/>
                <a:gd name="connsiteX13" fmla="*/ 536249 w 607097"/>
                <a:gd name="connsiteY13" fmla="*/ 252756 h 606722"/>
                <a:gd name="connsiteX14" fmla="*/ 546398 w 607097"/>
                <a:gd name="connsiteY14" fmla="*/ 242745 h 606722"/>
                <a:gd name="connsiteX15" fmla="*/ 353968 w 607097"/>
                <a:gd name="connsiteY15" fmla="*/ 101120 h 606722"/>
                <a:gd name="connsiteX16" fmla="*/ 364118 w 607097"/>
                <a:gd name="connsiteY16" fmla="*/ 111251 h 606722"/>
                <a:gd name="connsiteX17" fmla="*/ 364118 w 607097"/>
                <a:gd name="connsiteY17" fmla="*/ 242683 h 606722"/>
                <a:gd name="connsiteX18" fmla="*/ 424838 w 607097"/>
                <a:gd name="connsiteY18" fmla="*/ 242683 h 606722"/>
                <a:gd name="connsiteX19" fmla="*/ 434988 w 607097"/>
                <a:gd name="connsiteY19" fmla="*/ 252725 h 606722"/>
                <a:gd name="connsiteX20" fmla="*/ 424838 w 607097"/>
                <a:gd name="connsiteY20" fmla="*/ 262856 h 606722"/>
                <a:gd name="connsiteX21" fmla="*/ 353968 w 607097"/>
                <a:gd name="connsiteY21" fmla="*/ 262856 h 606722"/>
                <a:gd name="connsiteX22" fmla="*/ 343818 w 607097"/>
                <a:gd name="connsiteY22" fmla="*/ 252725 h 606722"/>
                <a:gd name="connsiteX23" fmla="*/ 343818 w 607097"/>
                <a:gd name="connsiteY23" fmla="*/ 111251 h 606722"/>
                <a:gd name="connsiteX24" fmla="*/ 353968 w 607097"/>
                <a:gd name="connsiteY24" fmla="*/ 101120 h 606722"/>
                <a:gd name="connsiteX25" fmla="*/ 496768 w 607097"/>
                <a:gd name="connsiteY25" fmla="*/ 96101 h 606722"/>
                <a:gd name="connsiteX26" fmla="*/ 510916 w 607097"/>
                <a:gd name="connsiteY26" fmla="*/ 96101 h 606722"/>
                <a:gd name="connsiteX27" fmla="*/ 510916 w 607097"/>
                <a:gd name="connsiteY27" fmla="*/ 110217 h 606722"/>
                <a:gd name="connsiteX28" fmla="*/ 496768 w 607097"/>
                <a:gd name="connsiteY28" fmla="*/ 124334 h 606722"/>
                <a:gd name="connsiteX29" fmla="*/ 489650 w 607097"/>
                <a:gd name="connsiteY29" fmla="*/ 127441 h 606722"/>
                <a:gd name="connsiteX30" fmla="*/ 482620 w 607097"/>
                <a:gd name="connsiteY30" fmla="*/ 124334 h 606722"/>
                <a:gd name="connsiteX31" fmla="*/ 482620 w 607097"/>
                <a:gd name="connsiteY31" fmla="*/ 110217 h 606722"/>
                <a:gd name="connsiteX32" fmla="*/ 196955 w 607097"/>
                <a:gd name="connsiteY32" fmla="*/ 96101 h 606722"/>
                <a:gd name="connsiteX33" fmla="*/ 211110 w 607097"/>
                <a:gd name="connsiteY33" fmla="*/ 96101 h 606722"/>
                <a:gd name="connsiteX34" fmla="*/ 225355 w 607097"/>
                <a:gd name="connsiteY34" fmla="*/ 110217 h 606722"/>
                <a:gd name="connsiteX35" fmla="*/ 225355 w 607097"/>
                <a:gd name="connsiteY35" fmla="*/ 124334 h 606722"/>
                <a:gd name="connsiteX36" fmla="*/ 218233 w 607097"/>
                <a:gd name="connsiteY36" fmla="*/ 127441 h 606722"/>
                <a:gd name="connsiteX37" fmla="*/ 211110 w 607097"/>
                <a:gd name="connsiteY37" fmla="*/ 124334 h 606722"/>
                <a:gd name="connsiteX38" fmla="*/ 196955 w 607097"/>
                <a:gd name="connsiteY38" fmla="*/ 110217 h 606722"/>
                <a:gd name="connsiteX39" fmla="*/ 196955 w 607097"/>
                <a:gd name="connsiteY39" fmla="*/ 96101 h 606722"/>
                <a:gd name="connsiteX40" fmla="*/ 103963 w 607097"/>
                <a:gd name="connsiteY40" fmla="*/ 81761 h 606722"/>
                <a:gd name="connsiteX41" fmla="*/ 87598 w 607097"/>
                <a:gd name="connsiteY41" fmla="*/ 90026 h 606722"/>
                <a:gd name="connsiteX42" fmla="*/ 62322 w 607097"/>
                <a:gd name="connsiteY42" fmla="*/ 115266 h 606722"/>
                <a:gd name="connsiteX43" fmla="*/ 34998 w 607097"/>
                <a:gd name="connsiteY43" fmla="*/ 265902 h 606722"/>
                <a:gd name="connsiteX44" fmla="*/ 75494 w 607097"/>
                <a:gd name="connsiteY44" fmla="*/ 322602 h 606722"/>
                <a:gd name="connsiteX45" fmla="*/ 283044 w 607097"/>
                <a:gd name="connsiteY45" fmla="*/ 530826 h 606722"/>
                <a:gd name="connsiteX46" fmla="*/ 327634 w 607097"/>
                <a:gd name="connsiteY46" fmla="*/ 565219 h 606722"/>
                <a:gd name="connsiteX47" fmla="*/ 490684 w 607097"/>
                <a:gd name="connsiteY47" fmla="*/ 545046 h 606722"/>
                <a:gd name="connsiteX48" fmla="*/ 515960 w 607097"/>
                <a:gd name="connsiteY48" fmla="*/ 519717 h 606722"/>
                <a:gd name="connsiteX49" fmla="*/ 521033 w 607097"/>
                <a:gd name="connsiteY49" fmla="*/ 485324 h 606722"/>
                <a:gd name="connsiteX50" fmla="*/ 434969 w 607097"/>
                <a:gd name="connsiteY50" fmla="*/ 411561 h 606722"/>
                <a:gd name="connsiteX51" fmla="*/ 414321 w 607097"/>
                <a:gd name="connsiteY51" fmla="*/ 406318 h 606722"/>
                <a:gd name="connsiteX52" fmla="*/ 413698 w 607097"/>
                <a:gd name="connsiteY52" fmla="*/ 406496 h 606722"/>
                <a:gd name="connsiteX53" fmla="*/ 405599 w 607097"/>
                <a:gd name="connsiteY53" fmla="*/ 413605 h 606722"/>
                <a:gd name="connsiteX54" fmla="*/ 404620 w 607097"/>
                <a:gd name="connsiteY54" fmla="*/ 414583 h 606722"/>
                <a:gd name="connsiteX55" fmla="*/ 373202 w 607097"/>
                <a:gd name="connsiteY55" fmla="*/ 447910 h 606722"/>
                <a:gd name="connsiteX56" fmla="*/ 349528 w 607097"/>
                <a:gd name="connsiteY56" fmla="*/ 459552 h 606722"/>
                <a:gd name="connsiteX57" fmla="*/ 405599 w 607097"/>
                <a:gd name="connsiteY57" fmla="*/ 475282 h 606722"/>
                <a:gd name="connsiteX58" fmla="*/ 414677 w 607097"/>
                <a:gd name="connsiteY58" fmla="*/ 486391 h 606722"/>
                <a:gd name="connsiteX59" fmla="*/ 404620 w 607097"/>
                <a:gd name="connsiteY59" fmla="*/ 495456 h 606722"/>
                <a:gd name="connsiteX60" fmla="*/ 403552 w 607097"/>
                <a:gd name="connsiteY60" fmla="*/ 495456 h 606722"/>
                <a:gd name="connsiteX61" fmla="*/ 287138 w 607097"/>
                <a:gd name="connsiteY61" fmla="*/ 441866 h 606722"/>
                <a:gd name="connsiteX62" fmla="*/ 286426 w 607097"/>
                <a:gd name="connsiteY62" fmla="*/ 441067 h 606722"/>
                <a:gd name="connsiteX63" fmla="*/ 284112 w 607097"/>
                <a:gd name="connsiteY63" fmla="*/ 438845 h 606722"/>
                <a:gd name="connsiteX64" fmla="*/ 176777 w 607097"/>
                <a:gd name="connsiteY64" fmla="*/ 331666 h 606722"/>
                <a:gd name="connsiteX65" fmla="*/ 111895 w 607097"/>
                <a:gd name="connsiteY65" fmla="*/ 213379 h 606722"/>
                <a:gd name="connsiteX66" fmla="*/ 121062 w 607097"/>
                <a:gd name="connsiteY66" fmla="*/ 202270 h 606722"/>
                <a:gd name="connsiteX67" fmla="*/ 132188 w 607097"/>
                <a:gd name="connsiteY67" fmla="*/ 211335 h 606722"/>
                <a:gd name="connsiteX68" fmla="*/ 146428 w 607097"/>
                <a:gd name="connsiteY68" fmla="*/ 259325 h 606722"/>
                <a:gd name="connsiteX69" fmla="*/ 158532 w 607097"/>
                <a:gd name="connsiteY69" fmla="*/ 233553 h 606722"/>
                <a:gd name="connsiteX70" fmla="*/ 191907 w 607097"/>
                <a:gd name="connsiteY70" fmla="*/ 202270 h 606722"/>
                <a:gd name="connsiteX71" fmla="*/ 192975 w 607097"/>
                <a:gd name="connsiteY71" fmla="*/ 201204 h 606722"/>
                <a:gd name="connsiteX72" fmla="*/ 200006 w 607097"/>
                <a:gd name="connsiteY72" fmla="*/ 193117 h 606722"/>
                <a:gd name="connsiteX73" fmla="*/ 194933 w 607097"/>
                <a:gd name="connsiteY73" fmla="*/ 170899 h 606722"/>
                <a:gd name="connsiteX74" fmla="*/ 121062 w 607097"/>
                <a:gd name="connsiteY74" fmla="*/ 84961 h 606722"/>
                <a:gd name="connsiteX75" fmla="*/ 103963 w 607097"/>
                <a:gd name="connsiteY75" fmla="*/ 81761 h 606722"/>
                <a:gd name="connsiteX76" fmla="*/ 353980 w 607097"/>
                <a:gd name="connsiteY76" fmla="*/ 30273 h 606722"/>
                <a:gd name="connsiteX77" fmla="*/ 364141 w 607097"/>
                <a:gd name="connsiteY77" fmla="*/ 40422 h 606722"/>
                <a:gd name="connsiteX78" fmla="*/ 364141 w 607097"/>
                <a:gd name="connsiteY78" fmla="*/ 60719 h 606722"/>
                <a:gd name="connsiteX79" fmla="*/ 353980 w 607097"/>
                <a:gd name="connsiteY79" fmla="*/ 70778 h 606722"/>
                <a:gd name="connsiteX80" fmla="*/ 343818 w 607097"/>
                <a:gd name="connsiteY80" fmla="*/ 60719 h 606722"/>
                <a:gd name="connsiteX81" fmla="*/ 343818 w 607097"/>
                <a:gd name="connsiteY81" fmla="*/ 40422 h 606722"/>
                <a:gd name="connsiteX82" fmla="*/ 353980 w 607097"/>
                <a:gd name="connsiteY82" fmla="*/ 30273 h 606722"/>
                <a:gd name="connsiteX83" fmla="*/ 353978 w 607097"/>
                <a:gd name="connsiteY83" fmla="*/ 20263 h 606722"/>
                <a:gd name="connsiteX84" fmla="*/ 174819 w 607097"/>
                <a:gd name="connsiteY84" fmla="*/ 104957 h 606722"/>
                <a:gd name="connsiteX85" fmla="*/ 214246 w 607097"/>
                <a:gd name="connsiteY85" fmla="*/ 160768 h 606722"/>
                <a:gd name="connsiteX86" fmla="*/ 221278 w 607097"/>
                <a:gd name="connsiteY86" fmla="*/ 198182 h 606722"/>
                <a:gd name="connsiteX87" fmla="*/ 215938 w 607097"/>
                <a:gd name="connsiteY87" fmla="*/ 209025 h 606722"/>
                <a:gd name="connsiteX88" fmla="*/ 210152 w 607097"/>
                <a:gd name="connsiteY88" fmla="*/ 215157 h 606722"/>
                <a:gd name="connsiteX89" fmla="*/ 206147 w 607097"/>
                <a:gd name="connsiteY89" fmla="*/ 218445 h 606722"/>
                <a:gd name="connsiteX90" fmla="*/ 176777 w 607097"/>
                <a:gd name="connsiteY90" fmla="*/ 244662 h 606722"/>
                <a:gd name="connsiteX91" fmla="*/ 182829 w 607097"/>
                <a:gd name="connsiteY91" fmla="*/ 308382 h 606722"/>
                <a:gd name="connsiteX92" fmla="*/ 189504 w 607097"/>
                <a:gd name="connsiteY92" fmla="*/ 315136 h 606722"/>
                <a:gd name="connsiteX93" fmla="*/ 189949 w 607097"/>
                <a:gd name="connsiteY93" fmla="*/ 315492 h 606722"/>
                <a:gd name="connsiteX94" fmla="*/ 191640 w 607097"/>
                <a:gd name="connsiteY94" fmla="*/ 317269 h 606722"/>
                <a:gd name="connsiteX95" fmla="*/ 298263 w 607097"/>
                <a:gd name="connsiteY95" fmla="*/ 424714 h 606722"/>
                <a:gd name="connsiteX96" fmla="*/ 362077 w 607097"/>
                <a:gd name="connsiteY96" fmla="*/ 430758 h 606722"/>
                <a:gd name="connsiteX97" fmla="*/ 388422 w 607097"/>
                <a:gd name="connsiteY97" fmla="*/ 401430 h 606722"/>
                <a:gd name="connsiteX98" fmla="*/ 408625 w 607097"/>
                <a:gd name="connsiteY98" fmla="*/ 386233 h 606722"/>
                <a:gd name="connsiteX99" fmla="*/ 419661 w 607097"/>
                <a:gd name="connsiteY99" fmla="*/ 384900 h 606722"/>
                <a:gd name="connsiteX100" fmla="*/ 446094 w 607097"/>
                <a:gd name="connsiteY100" fmla="*/ 392365 h 606722"/>
                <a:gd name="connsiteX101" fmla="*/ 501987 w 607097"/>
                <a:gd name="connsiteY101" fmla="*/ 431646 h 606722"/>
                <a:gd name="connsiteX102" fmla="*/ 586894 w 607097"/>
                <a:gd name="connsiteY102" fmla="*/ 252749 h 606722"/>
                <a:gd name="connsiteX103" fmla="*/ 353978 w 607097"/>
                <a:gd name="connsiteY103" fmla="*/ 20263 h 606722"/>
                <a:gd name="connsiteX104" fmla="*/ 353978 w 607097"/>
                <a:gd name="connsiteY104" fmla="*/ 0 h 606722"/>
                <a:gd name="connsiteX105" fmla="*/ 607097 w 607097"/>
                <a:gd name="connsiteY105" fmla="*/ 252749 h 606722"/>
                <a:gd name="connsiteX106" fmla="*/ 517384 w 607097"/>
                <a:gd name="connsiteY106" fmla="*/ 445421 h 606722"/>
                <a:gd name="connsiteX107" fmla="*/ 540257 w 607097"/>
                <a:gd name="connsiteY107" fmla="*/ 474215 h 606722"/>
                <a:gd name="connsiteX108" fmla="*/ 531179 w 607097"/>
                <a:gd name="connsiteY108" fmla="*/ 532870 h 606722"/>
                <a:gd name="connsiteX109" fmla="*/ 505814 w 607097"/>
                <a:gd name="connsiteY109" fmla="*/ 559176 h 606722"/>
                <a:gd name="connsiteX110" fmla="*/ 401505 w 607097"/>
                <a:gd name="connsiteY110" fmla="*/ 606722 h 606722"/>
                <a:gd name="connsiteX111" fmla="*/ 318556 w 607097"/>
                <a:gd name="connsiteY111" fmla="*/ 582460 h 606722"/>
                <a:gd name="connsiteX112" fmla="*/ 268893 w 607097"/>
                <a:gd name="connsiteY112" fmla="*/ 543979 h 606722"/>
                <a:gd name="connsiteX113" fmla="*/ 61343 w 607097"/>
                <a:gd name="connsiteY113" fmla="*/ 336732 h 606722"/>
                <a:gd name="connsiteX114" fmla="*/ 16753 w 607097"/>
                <a:gd name="connsiteY114" fmla="*/ 275056 h 606722"/>
                <a:gd name="connsiteX115" fmla="*/ 48171 w 607097"/>
                <a:gd name="connsiteY115" fmla="*/ 101135 h 606722"/>
                <a:gd name="connsiteX116" fmla="*/ 73447 w 607097"/>
                <a:gd name="connsiteY116" fmla="*/ 75807 h 606722"/>
                <a:gd name="connsiteX117" fmla="*/ 132188 w 607097"/>
                <a:gd name="connsiteY117" fmla="*/ 66742 h 606722"/>
                <a:gd name="connsiteX118" fmla="*/ 160757 w 607097"/>
                <a:gd name="connsiteY118" fmla="*/ 89315 h 606722"/>
                <a:gd name="connsiteX119" fmla="*/ 353978 w 607097"/>
                <a:gd name="connsiteY11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097" h="606722">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chemeClr val="bg1"/>
            </a:solidFill>
            <a:ln w="12700">
              <a:miter lim="400000"/>
            </a:ln>
          </p:spPr>
          <p:txBody>
            <a:bodyPr lIns="22851" tIns="22851" rIns="22851" bIns="22851"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44" name="文本框 43"/>
          <p:cNvSpPr txBox="1"/>
          <p:nvPr/>
        </p:nvSpPr>
        <p:spPr>
          <a:xfrm>
            <a:off x="870682" y="4318655"/>
            <a:ext cx="773430" cy="1806504"/>
          </a:xfrm>
          <a:prstGeom prst="rect">
            <a:avLst/>
          </a:prstGeom>
          <a:noFill/>
        </p:spPr>
        <p:txBody>
          <a:bodyPr vert="eaVert" wrap="square" rtlCol="0">
            <a:spAutoFit/>
          </a:bodyPr>
          <a:lstStyle/>
          <a:p>
            <a:pPr algn="dist">
              <a:lnSpc>
                <a:spcPct val="120000"/>
              </a:lnSpc>
            </a:pPr>
            <a:r>
              <a:rPr lang="en-US" altLang="zh-CN" sz="3200">
                <a:solidFill>
                  <a:schemeClr val="bg1">
                    <a:lumMod val="65000"/>
                  </a:schemeClr>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STEPS</a:t>
            </a:r>
          </a:p>
        </p:txBody>
      </p:sp>
      <p:grpSp>
        <p:nvGrpSpPr>
          <p:cNvPr id="45" name="组合 44"/>
          <p:cNvGrpSpPr/>
          <p:nvPr/>
        </p:nvGrpSpPr>
        <p:grpSpPr>
          <a:xfrm>
            <a:off x="96610" y="4428780"/>
            <a:ext cx="888862" cy="1266629"/>
            <a:chOff x="4848640" y="2234522"/>
            <a:chExt cx="666751" cy="950120"/>
          </a:xfrm>
        </p:grpSpPr>
        <p:sp>
          <p:nvSpPr>
            <p:cNvPr id="46" name="Freeform 50"/>
            <p:cNvSpPr/>
            <p:nvPr/>
          </p:nvSpPr>
          <p:spPr bwMode="auto">
            <a:xfrm>
              <a:off x="4848640" y="2764351"/>
              <a:ext cx="296466" cy="420291"/>
            </a:xfrm>
            <a:custGeom>
              <a:avLst/>
              <a:gdLst>
                <a:gd name="T0" fmla="*/ 7 w 104"/>
                <a:gd name="T1" fmla="*/ 122 h 148"/>
                <a:gd name="T2" fmla="*/ 7 w 104"/>
                <a:gd name="T3" fmla="*/ 123 h 148"/>
                <a:gd name="T4" fmla="*/ 7 w 104"/>
                <a:gd name="T5" fmla="*/ 128 h 148"/>
                <a:gd name="T6" fmla="*/ 0 w 104"/>
                <a:gd name="T7" fmla="*/ 138 h 148"/>
                <a:gd name="T8" fmla="*/ 10 w 104"/>
                <a:gd name="T9" fmla="*/ 148 h 148"/>
                <a:gd name="T10" fmla="*/ 20 w 104"/>
                <a:gd name="T11" fmla="*/ 138 h 148"/>
                <a:gd name="T12" fmla="*/ 14 w 104"/>
                <a:gd name="T13" fmla="*/ 129 h 148"/>
                <a:gd name="T14" fmla="*/ 14 w 104"/>
                <a:gd name="T15" fmla="*/ 125 h 148"/>
                <a:gd name="T16" fmla="*/ 46 w 104"/>
                <a:gd name="T17" fmla="*/ 114 h 148"/>
                <a:gd name="T18" fmla="*/ 48 w 104"/>
                <a:gd name="T19" fmla="*/ 128 h 148"/>
                <a:gd name="T20" fmla="*/ 41 w 104"/>
                <a:gd name="T21" fmla="*/ 138 h 148"/>
                <a:gd name="T22" fmla="*/ 51 w 104"/>
                <a:gd name="T23" fmla="*/ 148 h 148"/>
                <a:gd name="T24" fmla="*/ 61 w 104"/>
                <a:gd name="T25" fmla="*/ 138 h 148"/>
                <a:gd name="T26" fmla="*/ 56 w 104"/>
                <a:gd name="T27" fmla="*/ 129 h 148"/>
                <a:gd name="T28" fmla="*/ 57 w 104"/>
                <a:gd name="T29" fmla="*/ 114 h 148"/>
                <a:gd name="T30" fmla="*/ 83 w 104"/>
                <a:gd name="T31" fmla="*/ 120 h 148"/>
                <a:gd name="T32" fmla="*/ 89 w 104"/>
                <a:gd name="T33" fmla="*/ 124 h 148"/>
                <a:gd name="T34" fmla="*/ 89 w 104"/>
                <a:gd name="T35" fmla="*/ 125 h 148"/>
                <a:gd name="T36" fmla="*/ 89 w 104"/>
                <a:gd name="T37" fmla="*/ 129 h 148"/>
                <a:gd name="T38" fmla="*/ 83 w 104"/>
                <a:gd name="T39" fmla="*/ 138 h 148"/>
                <a:gd name="T40" fmla="*/ 93 w 104"/>
                <a:gd name="T41" fmla="*/ 148 h 148"/>
                <a:gd name="T42" fmla="*/ 104 w 104"/>
                <a:gd name="T43" fmla="*/ 138 h 148"/>
                <a:gd name="T44" fmla="*/ 97 w 104"/>
                <a:gd name="T45" fmla="*/ 128 h 148"/>
                <a:gd name="T46" fmla="*/ 97 w 104"/>
                <a:gd name="T47" fmla="*/ 123 h 148"/>
                <a:gd name="T48" fmla="*/ 96 w 104"/>
                <a:gd name="T49" fmla="*/ 122 h 148"/>
                <a:gd name="T50" fmla="*/ 58 w 104"/>
                <a:gd name="T51" fmla="*/ 107 h 148"/>
                <a:gd name="T52" fmla="*/ 60 w 104"/>
                <a:gd name="T53" fmla="*/ 92 h 148"/>
                <a:gd name="T54" fmla="*/ 88 w 104"/>
                <a:gd name="T55" fmla="*/ 92 h 148"/>
                <a:gd name="T56" fmla="*/ 98 w 104"/>
                <a:gd name="T57" fmla="*/ 83 h 148"/>
                <a:gd name="T58" fmla="*/ 88 w 104"/>
                <a:gd name="T59" fmla="*/ 73 h 148"/>
                <a:gd name="T60" fmla="*/ 24 w 104"/>
                <a:gd name="T61" fmla="*/ 73 h 148"/>
                <a:gd name="T62" fmla="*/ 20 w 104"/>
                <a:gd name="T63" fmla="*/ 9 h 148"/>
                <a:gd name="T64" fmla="*/ 10 w 104"/>
                <a:gd name="T65" fmla="*/ 0 h 148"/>
                <a:gd name="T66" fmla="*/ 1 w 104"/>
                <a:gd name="T67" fmla="*/ 10 h 148"/>
                <a:gd name="T68" fmla="*/ 1 w 104"/>
                <a:gd name="T69" fmla="*/ 10 h 148"/>
                <a:gd name="T70" fmla="*/ 6 w 104"/>
                <a:gd name="T71" fmla="*/ 83 h 148"/>
                <a:gd name="T72" fmla="*/ 15 w 104"/>
                <a:gd name="T73" fmla="*/ 92 h 148"/>
                <a:gd name="T74" fmla="*/ 44 w 104"/>
                <a:gd name="T75" fmla="*/ 92 h 148"/>
                <a:gd name="T76" fmla="*/ 46 w 104"/>
                <a:gd name="T77" fmla="*/ 107 h 148"/>
                <a:gd name="T78" fmla="*/ 7 w 104"/>
                <a:gd name="T79" fmla="*/ 1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4" h="148">
                  <a:moveTo>
                    <a:pt x="7" y="122"/>
                  </a:moveTo>
                  <a:cubicBezTo>
                    <a:pt x="7" y="123"/>
                    <a:pt x="7" y="123"/>
                    <a:pt x="7" y="123"/>
                  </a:cubicBezTo>
                  <a:cubicBezTo>
                    <a:pt x="7" y="128"/>
                    <a:pt x="7" y="128"/>
                    <a:pt x="7" y="128"/>
                  </a:cubicBezTo>
                  <a:cubicBezTo>
                    <a:pt x="3" y="130"/>
                    <a:pt x="0" y="133"/>
                    <a:pt x="0" y="138"/>
                  </a:cubicBezTo>
                  <a:cubicBezTo>
                    <a:pt x="0" y="144"/>
                    <a:pt x="4" y="148"/>
                    <a:pt x="10" y="148"/>
                  </a:cubicBezTo>
                  <a:cubicBezTo>
                    <a:pt x="15" y="148"/>
                    <a:pt x="20" y="144"/>
                    <a:pt x="20" y="138"/>
                  </a:cubicBezTo>
                  <a:cubicBezTo>
                    <a:pt x="20" y="134"/>
                    <a:pt x="18" y="130"/>
                    <a:pt x="14" y="129"/>
                  </a:cubicBezTo>
                  <a:cubicBezTo>
                    <a:pt x="14" y="125"/>
                    <a:pt x="14" y="125"/>
                    <a:pt x="14" y="125"/>
                  </a:cubicBezTo>
                  <a:cubicBezTo>
                    <a:pt x="16" y="123"/>
                    <a:pt x="24" y="116"/>
                    <a:pt x="46" y="114"/>
                  </a:cubicBezTo>
                  <a:cubicBezTo>
                    <a:pt x="48" y="128"/>
                    <a:pt x="48" y="128"/>
                    <a:pt x="48" y="128"/>
                  </a:cubicBezTo>
                  <a:cubicBezTo>
                    <a:pt x="44" y="130"/>
                    <a:pt x="41" y="134"/>
                    <a:pt x="41" y="138"/>
                  </a:cubicBezTo>
                  <a:cubicBezTo>
                    <a:pt x="41" y="144"/>
                    <a:pt x="46" y="148"/>
                    <a:pt x="51" y="148"/>
                  </a:cubicBezTo>
                  <a:cubicBezTo>
                    <a:pt x="57" y="148"/>
                    <a:pt x="61" y="144"/>
                    <a:pt x="61" y="138"/>
                  </a:cubicBezTo>
                  <a:cubicBezTo>
                    <a:pt x="61" y="134"/>
                    <a:pt x="59" y="131"/>
                    <a:pt x="56" y="129"/>
                  </a:cubicBezTo>
                  <a:cubicBezTo>
                    <a:pt x="57" y="114"/>
                    <a:pt x="57" y="114"/>
                    <a:pt x="57" y="114"/>
                  </a:cubicBezTo>
                  <a:cubicBezTo>
                    <a:pt x="70" y="115"/>
                    <a:pt x="78" y="118"/>
                    <a:pt x="83" y="120"/>
                  </a:cubicBezTo>
                  <a:cubicBezTo>
                    <a:pt x="86" y="122"/>
                    <a:pt x="88" y="123"/>
                    <a:pt x="89" y="124"/>
                  </a:cubicBezTo>
                  <a:cubicBezTo>
                    <a:pt x="89" y="125"/>
                    <a:pt x="89" y="125"/>
                    <a:pt x="89" y="125"/>
                  </a:cubicBezTo>
                  <a:cubicBezTo>
                    <a:pt x="89" y="129"/>
                    <a:pt x="89" y="129"/>
                    <a:pt x="89" y="129"/>
                  </a:cubicBezTo>
                  <a:cubicBezTo>
                    <a:pt x="86" y="130"/>
                    <a:pt x="83" y="134"/>
                    <a:pt x="83" y="138"/>
                  </a:cubicBezTo>
                  <a:cubicBezTo>
                    <a:pt x="83" y="144"/>
                    <a:pt x="88" y="148"/>
                    <a:pt x="93" y="148"/>
                  </a:cubicBezTo>
                  <a:cubicBezTo>
                    <a:pt x="99" y="148"/>
                    <a:pt x="104" y="144"/>
                    <a:pt x="104" y="138"/>
                  </a:cubicBezTo>
                  <a:cubicBezTo>
                    <a:pt x="104" y="134"/>
                    <a:pt x="101" y="130"/>
                    <a:pt x="97" y="128"/>
                  </a:cubicBezTo>
                  <a:cubicBezTo>
                    <a:pt x="97" y="123"/>
                    <a:pt x="97" y="123"/>
                    <a:pt x="97" y="123"/>
                  </a:cubicBezTo>
                  <a:cubicBezTo>
                    <a:pt x="96" y="122"/>
                    <a:pt x="96" y="122"/>
                    <a:pt x="96" y="122"/>
                  </a:cubicBezTo>
                  <a:cubicBezTo>
                    <a:pt x="96" y="121"/>
                    <a:pt x="88" y="108"/>
                    <a:pt x="58" y="107"/>
                  </a:cubicBezTo>
                  <a:cubicBezTo>
                    <a:pt x="60" y="92"/>
                    <a:pt x="60" y="92"/>
                    <a:pt x="60" y="92"/>
                  </a:cubicBezTo>
                  <a:cubicBezTo>
                    <a:pt x="88" y="92"/>
                    <a:pt x="88" y="92"/>
                    <a:pt x="88" y="92"/>
                  </a:cubicBezTo>
                  <a:cubicBezTo>
                    <a:pt x="94" y="92"/>
                    <a:pt x="98" y="88"/>
                    <a:pt x="98" y="83"/>
                  </a:cubicBezTo>
                  <a:cubicBezTo>
                    <a:pt x="98" y="77"/>
                    <a:pt x="94" y="73"/>
                    <a:pt x="88" y="73"/>
                  </a:cubicBezTo>
                  <a:cubicBezTo>
                    <a:pt x="24" y="73"/>
                    <a:pt x="24" y="73"/>
                    <a:pt x="24" y="73"/>
                  </a:cubicBezTo>
                  <a:cubicBezTo>
                    <a:pt x="20" y="9"/>
                    <a:pt x="20" y="9"/>
                    <a:pt x="20" y="9"/>
                  </a:cubicBezTo>
                  <a:cubicBezTo>
                    <a:pt x="20" y="4"/>
                    <a:pt x="15" y="0"/>
                    <a:pt x="10" y="0"/>
                  </a:cubicBezTo>
                  <a:cubicBezTo>
                    <a:pt x="5" y="0"/>
                    <a:pt x="1" y="5"/>
                    <a:pt x="1" y="10"/>
                  </a:cubicBezTo>
                  <a:cubicBezTo>
                    <a:pt x="1" y="10"/>
                    <a:pt x="1" y="10"/>
                    <a:pt x="1" y="10"/>
                  </a:cubicBezTo>
                  <a:cubicBezTo>
                    <a:pt x="6" y="83"/>
                    <a:pt x="6" y="83"/>
                    <a:pt x="6" y="83"/>
                  </a:cubicBezTo>
                  <a:cubicBezTo>
                    <a:pt x="6" y="88"/>
                    <a:pt x="10" y="92"/>
                    <a:pt x="15" y="92"/>
                  </a:cubicBezTo>
                  <a:cubicBezTo>
                    <a:pt x="44" y="92"/>
                    <a:pt x="44" y="92"/>
                    <a:pt x="44" y="92"/>
                  </a:cubicBezTo>
                  <a:cubicBezTo>
                    <a:pt x="46" y="107"/>
                    <a:pt x="46" y="107"/>
                    <a:pt x="46" y="107"/>
                  </a:cubicBezTo>
                  <a:cubicBezTo>
                    <a:pt x="16" y="108"/>
                    <a:pt x="8" y="121"/>
                    <a:pt x="7" y="122"/>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7" name="Oval 51"/>
            <p:cNvSpPr>
              <a:spLocks noChangeArrowheads="1"/>
            </p:cNvSpPr>
            <p:nvPr/>
          </p:nvSpPr>
          <p:spPr bwMode="auto">
            <a:xfrm>
              <a:off x="4968894" y="2435738"/>
              <a:ext cx="159544" cy="158354"/>
            </a:xfrm>
            <a:prstGeom prst="ellipse">
              <a:avLst/>
            </a:pr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8" name="Freeform 52"/>
            <p:cNvSpPr/>
            <p:nvPr/>
          </p:nvSpPr>
          <p:spPr bwMode="auto">
            <a:xfrm>
              <a:off x="4968894" y="2628619"/>
              <a:ext cx="319088" cy="116681"/>
            </a:xfrm>
            <a:custGeom>
              <a:avLst/>
              <a:gdLst>
                <a:gd name="T0" fmla="*/ 29 w 112"/>
                <a:gd name="T1" fmla="*/ 10 h 41"/>
                <a:gd name="T2" fmla="*/ 20 w 112"/>
                <a:gd name="T3" fmla="*/ 6 h 41"/>
                <a:gd name="T4" fmla="*/ 18 w 112"/>
                <a:gd name="T5" fmla="*/ 4 h 41"/>
                <a:gd name="T6" fmla="*/ 18 w 112"/>
                <a:gd name="T7" fmla="*/ 4 h 41"/>
                <a:gd name="T8" fmla="*/ 18 w 112"/>
                <a:gd name="T9" fmla="*/ 4 h 41"/>
                <a:gd name="T10" fmla="*/ 4 w 112"/>
                <a:gd name="T11" fmla="*/ 5 h 41"/>
                <a:gd name="T12" fmla="*/ 5 w 112"/>
                <a:gd name="T13" fmla="*/ 19 h 41"/>
                <a:gd name="T14" fmla="*/ 5 w 112"/>
                <a:gd name="T15" fmla="*/ 19 h 41"/>
                <a:gd name="T16" fmla="*/ 21 w 112"/>
                <a:gd name="T17" fmla="*/ 29 h 41"/>
                <a:gd name="T18" fmla="*/ 21 w 112"/>
                <a:gd name="T19" fmla="*/ 29 h 41"/>
                <a:gd name="T20" fmla="*/ 103 w 112"/>
                <a:gd name="T21" fmla="*/ 35 h 41"/>
                <a:gd name="T22" fmla="*/ 112 w 112"/>
                <a:gd name="T23" fmla="*/ 24 h 41"/>
                <a:gd name="T24" fmla="*/ 100 w 112"/>
                <a:gd name="T25" fmla="*/ 16 h 41"/>
                <a:gd name="T26" fmla="*/ 29 w 112"/>
                <a:gd name="T27"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41">
                  <a:moveTo>
                    <a:pt x="29" y="10"/>
                  </a:moveTo>
                  <a:cubicBezTo>
                    <a:pt x="25" y="8"/>
                    <a:pt x="22" y="7"/>
                    <a:pt x="20" y="6"/>
                  </a:cubicBezTo>
                  <a:cubicBezTo>
                    <a:pt x="19" y="5"/>
                    <a:pt x="18" y="5"/>
                    <a:pt x="18" y="4"/>
                  </a:cubicBezTo>
                  <a:cubicBezTo>
                    <a:pt x="18" y="4"/>
                    <a:pt x="18" y="4"/>
                    <a:pt x="18" y="4"/>
                  </a:cubicBezTo>
                  <a:cubicBezTo>
                    <a:pt x="18" y="4"/>
                    <a:pt x="18" y="4"/>
                    <a:pt x="18" y="4"/>
                  </a:cubicBezTo>
                  <a:cubicBezTo>
                    <a:pt x="14" y="0"/>
                    <a:pt x="7" y="1"/>
                    <a:pt x="4" y="5"/>
                  </a:cubicBezTo>
                  <a:cubicBezTo>
                    <a:pt x="0" y="9"/>
                    <a:pt x="0" y="15"/>
                    <a:pt x="5" y="19"/>
                  </a:cubicBezTo>
                  <a:cubicBezTo>
                    <a:pt x="5" y="19"/>
                    <a:pt x="5" y="19"/>
                    <a:pt x="5" y="19"/>
                  </a:cubicBezTo>
                  <a:cubicBezTo>
                    <a:pt x="5" y="20"/>
                    <a:pt x="10" y="24"/>
                    <a:pt x="21" y="29"/>
                  </a:cubicBezTo>
                  <a:cubicBezTo>
                    <a:pt x="21" y="29"/>
                    <a:pt x="21" y="29"/>
                    <a:pt x="21" y="29"/>
                  </a:cubicBezTo>
                  <a:cubicBezTo>
                    <a:pt x="37" y="35"/>
                    <a:pt x="63" y="41"/>
                    <a:pt x="103" y="35"/>
                  </a:cubicBezTo>
                  <a:cubicBezTo>
                    <a:pt x="109" y="35"/>
                    <a:pt x="112" y="30"/>
                    <a:pt x="112" y="24"/>
                  </a:cubicBezTo>
                  <a:cubicBezTo>
                    <a:pt x="111" y="19"/>
                    <a:pt x="106" y="15"/>
                    <a:pt x="100" y="16"/>
                  </a:cubicBezTo>
                  <a:cubicBezTo>
                    <a:pt x="64" y="21"/>
                    <a:pt x="41" y="15"/>
                    <a:pt x="29" y="1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9" name="Freeform 54"/>
            <p:cNvSpPr/>
            <p:nvPr/>
          </p:nvSpPr>
          <p:spPr bwMode="auto">
            <a:xfrm>
              <a:off x="4917696" y="2589328"/>
              <a:ext cx="364331" cy="569119"/>
            </a:xfrm>
            <a:custGeom>
              <a:avLst/>
              <a:gdLst>
                <a:gd name="T0" fmla="*/ 115 w 128"/>
                <a:gd name="T1" fmla="*/ 111 h 201"/>
                <a:gd name="T2" fmla="*/ 100 w 128"/>
                <a:gd name="T3" fmla="*/ 98 h 201"/>
                <a:gd name="T4" fmla="*/ 58 w 128"/>
                <a:gd name="T5" fmla="*/ 98 h 201"/>
                <a:gd name="T6" fmla="*/ 57 w 128"/>
                <a:gd name="T7" fmla="*/ 91 h 201"/>
                <a:gd name="T8" fmla="*/ 52 w 128"/>
                <a:gd name="T9" fmla="*/ 49 h 201"/>
                <a:gd name="T10" fmla="*/ 38 w 128"/>
                <a:gd name="T11" fmla="*/ 44 h 201"/>
                <a:gd name="T12" fmla="*/ 21 w 128"/>
                <a:gd name="T13" fmla="*/ 34 h 201"/>
                <a:gd name="T14" fmla="*/ 20 w 128"/>
                <a:gd name="T15" fmla="*/ 18 h 201"/>
                <a:gd name="T16" fmla="*/ 29 w 128"/>
                <a:gd name="T17" fmla="*/ 14 h 201"/>
                <a:gd name="T18" fmla="*/ 37 w 128"/>
                <a:gd name="T19" fmla="*/ 17 h 201"/>
                <a:gd name="T20" fmla="*/ 39 w 128"/>
                <a:gd name="T21" fmla="*/ 18 h 201"/>
                <a:gd name="T22" fmla="*/ 48 w 128"/>
                <a:gd name="T23" fmla="*/ 22 h 201"/>
                <a:gd name="T24" fmla="*/ 52 w 128"/>
                <a:gd name="T25" fmla="*/ 24 h 201"/>
                <a:gd name="T26" fmla="*/ 48 w 128"/>
                <a:gd name="T27" fmla="*/ 15 h 201"/>
                <a:gd name="T28" fmla="*/ 41 w 128"/>
                <a:gd name="T29" fmla="*/ 8 h 201"/>
                <a:gd name="T30" fmla="*/ 40 w 128"/>
                <a:gd name="T31" fmla="*/ 7 h 201"/>
                <a:gd name="T32" fmla="*/ 35 w 128"/>
                <a:gd name="T33" fmla="*/ 4 h 201"/>
                <a:gd name="T34" fmla="*/ 3 w 128"/>
                <a:gd name="T35" fmla="*/ 31 h 201"/>
                <a:gd name="T36" fmla="*/ 9 w 128"/>
                <a:gd name="T37" fmla="*/ 106 h 201"/>
                <a:gd name="T38" fmla="*/ 34 w 128"/>
                <a:gd name="T39" fmla="*/ 129 h 201"/>
                <a:gd name="T40" fmla="*/ 34 w 128"/>
                <a:gd name="T41" fmla="*/ 129 h 201"/>
                <a:gd name="T42" fmla="*/ 37 w 128"/>
                <a:gd name="T43" fmla="*/ 129 h 201"/>
                <a:gd name="T44" fmla="*/ 87 w 128"/>
                <a:gd name="T45" fmla="*/ 129 h 201"/>
                <a:gd name="T46" fmla="*/ 96 w 128"/>
                <a:gd name="T47" fmla="*/ 188 h 201"/>
                <a:gd name="T48" fmla="*/ 111 w 128"/>
                <a:gd name="T49" fmla="*/ 201 h 201"/>
                <a:gd name="T50" fmla="*/ 114 w 128"/>
                <a:gd name="T51" fmla="*/ 201 h 201"/>
                <a:gd name="T52" fmla="*/ 127 w 128"/>
                <a:gd name="T53" fmla="*/ 183 h 201"/>
                <a:gd name="T54" fmla="*/ 115 w 128"/>
                <a:gd name="T55" fmla="*/ 11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 h="201">
                  <a:moveTo>
                    <a:pt x="115" y="111"/>
                  </a:moveTo>
                  <a:cubicBezTo>
                    <a:pt x="114" y="104"/>
                    <a:pt x="108" y="98"/>
                    <a:pt x="100" y="98"/>
                  </a:cubicBezTo>
                  <a:cubicBezTo>
                    <a:pt x="58" y="98"/>
                    <a:pt x="58" y="98"/>
                    <a:pt x="58" y="98"/>
                  </a:cubicBezTo>
                  <a:cubicBezTo>
                    <a:pt x="58" y="96"/>
                    <a:pt x="58" y="93"/>
                    <a:pt x="57" y="91"/>
                  </a:cubicBezTo>
                  <a:cubicBezTo>
                    <a:pt x="53" y="78"/>
                    <a:pt x="51" y="63"/>
                    <a:pt x="52" y="49"/>
                  </a:cubicBezTo>
                  <a:cubicBezTo>
                    <a:pt x="46" y="47"/>
                    <a:pt x="42" y="46"/>
                    <a:pt x="38" y="44"/>
                  </a:cubicBezTo>
                  <a:cubicBezTo>
                    <a:pt x="28" y="40"/>
                    <a:pt x="22" y="35"/>
                    <a:pt x="21" y="34"/>
                  </a:cubicBezTo>
                  <a:cubicBezTo>
                    <a:pt x="16" y="30"/>
                    <a:pt x="16" y="22"/>
                    <a:pt x="20" y="18"/>
                  </a:cubicBezTo>
                  <a:cubicBezTo>
                    <a:pt x="22" y="15"/>
                    <a:pt x="26" y="14"/>
                    <a:pt x="29" y="14"/>
                  </a:cubicBezTo>
                  <a:cubicBezTo>
                    <a:pt x="32" y="14"/>
                    <a:pt x="35" y="15"/>
                    <a:pt x="37" y="17"/>
                  </a:cubicBezTo>
                  <a:cubicBezTo>
                    <a:pt x="38" y="17"/>
                    <a:pt x="38" y="17"/>
                    <a:pt x="39" y="18"/>
                  </a:cubicBezTo>
                  <a:cubicBezTo>
                    <a:pt x="41" y="19"/>
                    <a:pt x="44" y="21"/>
                    <a:pt x="48" y="22"/>
                  </a:cubicBezTo>
                  <a:cubicBezTo>
                    <a:pt x="49" y="23"/>
                    <a:pt x="51" y="24"/>
                    <a:pt x="52" y="24"/>
                  </a:cubicBezTo>
                  <a:cubicBezTo>
                    <a:pt x="51" y="20"/>
                    <a:pt x="50" y="18"/>
                    <a:pt x="48" y="15"/>
                  </a:cubicBezTo>
                  <a:cubicBezTo>
                    <a:pt x="48" y="15"/>
                    <a:pt x="43" y="9"/>
                    <a:pt x="41" y="8"/>
                  </a:cubicBezTo>
                  <a:cubicBezTo>
                    <a:pt x="41" y="8"/>
                    <a:pt x="40" y="7"/>
                    <a:pt x="40" y="7"/>
                  </a:cubicBezTo>
                  <a:cubicBezTo>
                    <a:pt x="38" y="6"/>
                    <a:pt x="36" y="5"/>
                    <a:pt x="35" y="4"/>
                  </a:cubicBezTo>
                  <a:cubicBezTo>
                    <a:pt x="22" y="0"/>
                    <a:pt x="6" y="11"/>
                    <a:pt x="3" y="31"/>
                  </a:cubicBezTo>
                  <a:cubicBezTo>
                    <a:pt x="0" y="56"/>
                    <a:pt x="2" y="82"/>
                    <a:pt x="9" y="106"/>
                  </a:cubicBezTo>
                  <a:cubicBezTo>
                    <a:pt x="13" y="119"/>
                    <a:pt x="24" y="128"/>
                    <a:pt x="34" y="129"/>
                  </a:cubicBezTo>
                  <a:cubicBezTo>
                    <a:pt x="34" y="129"/>
                    <a:pt x="34" y="129"/>
                    <a:pt x="34" y="129"/>
                  </a:cubicBezTo>
                  <a:cubicBezTo>
                    <a:pt x="35" y="129"/>
                    <a:pt x="36" y="129"/>
                    <a:pt x="37" y="129"/>
                  </a:cubicBezTo>
                  <a:cubicBezTo>
                    <a:pt x="87" y="129"/>
                    <a:pt x="87" y="129"/>
                    <a:pt x="87" y="129"/>
                  </a:cubicBezTo>
                  <a:cubicBezTo>
                    <a:pt x="96" y="188"/>
                    <a:pt x="96" y="188"/>
                    <a:pt x="96" y="188"/>
                  </a:cubicBezTo>
                  <a:cubicBezTo>
                    <a:pt x="97" y="196"/>
                    <a:pt x="104" y="201"/>
                    <a:pt x="111" y="201"/>
                  </a:cubicBezTo>
                  <a:cubicBezTo>
                    <a:pt x="112" y="201"/>
                    <a:pt x="113" y="201"/>
                    <a:pt x="114" y="201"/>
                  </a:cubicBezTo>
                  <a:cubicBezTo>
                    <a:pt x="122" y="200"/>
                    <a:pt x="128" y="192"/>
                    <a:pt x="127" y="183"/>
                  </a:cubicBezTo>
                  <a:lnTo>
                    <a:pt x="115" y="111"/>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0" name="Freeform 55"/>
            <p:cNvSpPr/>
            <p:nvPr/>
          </p:nvSpPr>
          <p:spPr bwMode="auto">
            <a:xfrm>
              <a:off x="5068906" y="2628619"/>
              <a:ext cx="221456" cy="47625"/>
            </a:xfrm>
            <a:custGeom>
              <a:avLst/>
              <a:gdLst>
                <a:gd name="T0" fmla="*/ 38 w 78"/>
                <a:gd name="T1" fmla="*/ 16 h 17"/>
                <a:gd name="T2" fmla="*/ 65 w 78"/>
                <a:gd name="T3" fmla="*/ 14 h 17"/>
                <a:gd name="T4" fmla="*/ 67 w 78"/>
                <a:gd name="T5" fmla="*/ 14 h 17"/>
                <a:gd name="T6" fmla="*/ 75 w 78"/>
                <a:gd name="T7" fmla="*/ 17 h 17"/>
                <a:gd name="T8" fmla="*/ 77 w 78"/>
                <a:gd name="T9" fmla="*/ 8 h 17"/>
                <a:gd name="T10" fmla="*/ 64 w 78"/>
                <a:gd name="T11" fmla="*/ 2 h 17"/>
                <a:gd name="T12" fmla="*/ 0 w 78"/>
                <a:gd name="T13" fmla="*/ 10 h 17"/>
                <a:gd name="T14" fmla="*/ 38 w 78"/>
                <a:gd name="T15" fmla="*/ 16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7">
                  <a:moveTo>
                    <a:pt x="38" y="16"/>
                  </a:moveTo>
                  <a:cubicBezTo>
                    <a:pt x="46" y="16"/>
                    <a:pt x="55" y="15"/>
                    <a:pt x="65" y="14"/>
                  </a:cubicBezTo>
                  <a:cubicBezTo>
                    <a:pt x="66" y="14"/>
                    <a:pt x="66" y="14"/>
                    <a:pt x="67" y="14"/>
                  </a:cubicBezTo>
                  <a:cubicBezTo>
                    <a:pt x="70" y="14"/>
                    <a:pt x="73" y="15"/>
                    <a:pt x="75" y="17"/>
                  </a:cubicBezTo>
                  <a:cubicBezTo>
                    <a:pt x="77" y="15"/>
                    <a:pt x="78" y="11"/>
                    <a:pt x="77" y="8"/>
                  </a:cubicBezTo>
                  <a:cubicBezTo>
                    <a:pt x="75" y="3"/>
                    <a:pt x="69" y="0"/>
                    <a:pt x="64" y="2"/>
                  </a:cubicBezTo>
                  <a:cubicBezTo>
                    <a:pt x="35" y="11"/>
                    <a:pt x="14" y="12"/>
                    <a:pt x="0" y="10"/>
                  </a:cubicBezTo>
                  <a:cubicBezTo>
                    <a:pt x="11" y="14"/>
                    <a:pt x="24" y="16"/>
                    <a:pt x="38" y="16"/>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1" name="Freeform 56"/>
            <p:cNvSpPr>
              <a:spLocks noEditPoints="1"/>
            </p:cNvSpPr>
            <p:nvPr/>
          </p:nvSpPr>
          <p:spPr bwMode="auto">
            <a:xfrm>
              <a:off x="5122484" y="2234522"/>
              <a:ext cx="302419" cy="263129"/>
            </a:xfrm>
            <a:custGeom>
              <a:avLst/>
              <a:gdLst>
                <a:gd name="T0" fmla="*/ 21 w 106"/>
                <a:gd name="T1" fmla="*/ 93 h 93"/>
                <a:gd name="T2" fmla="*/ 20 w 106"/>
                <a:gd name="T3" fmla="*/ 91 h 93"/>
                <a:gd name="T4" fmla="*/ 20 w 106"/>
                <a:gd name="T5" fmla="*/ 91 h 93"/>
                <a:gd name="T6" fmla="*/ 20 w 106"/>
                <a:gd name="T7" fmla="*/ 91 h 93"/>
                <a:gd name="T8" fmla="*/ 20 w 106"/>
                <a:gd name="T9" fmla="*/ 77 h 93"/>
                <a:gd name="T10" fmla="*/ 19 w 106"/>
                <a:gd name="T11" fmla="*/ 77 h 93"/>
                <a:gd name="T12" fmla="*/ 0 w 106"/>
                <a:gd name="T13" fmla="*/ 43 h 93"/>
                <a:gd name="T14" fmla="*/ 56 w 106"/>
                <a:gd name="T15" fmla="*/ 1 h 93"/>
                <a:gd name="T16" fmla="*/ 105 w 106"/>
                <a:gd name="T17" fmla="*/ 45 h 93"/>
                <a:gd name="T18" fmla="*/ 55 w 106"/>
                <a:gd name="T19" fmla="*/ 88 h 93"/>
                <a:gd name="T20" fmla="*/ 37 w 106"/>
                <a:gd name="T21" fmla="*/ 85 h 93"/>
                <a:gd name="T22" fmla="*/ 37 w 106"/>
                <a:gd name="T23" fmla="*/ 85 h 93"/>
                <a:gd name="T24" fmla="*/ 22 w 106"/>
                <a:gd name="T25" fmla="*/ 93 h 93"/>
                <a:gd name="T26" fmla="*/ 22 w 106"/>
                <a:gd name="T27" fmla="*/ 93 h 93"/>
                <a:gd name="T28" fmla="*/ 21 w 106"/>
                <a:gd name="T29" fmla="*/ 93 h 93"/>
                <a:gd name="T30" fmla="*/ 56 w 106"/>
                <a:gd name="T31" fmla="*/ 5 h 93"/>
                <a:gd name="T32" fmla="*/ 4 w 106"/>
                <a:gd name="T33" fmla="*/ 43 h 93"/>
                <a:gd name="T34" fmla="*/ 23 w 106"/>
                <a:gd name="T35" fmla="*/ 75 h 93"/>
                <a:gd name="T36" fmla="*/ 24 w 106"/>
                <a:gd name="T37" fmla="*/ 76 h 93"/>
                <a:gd name="T38" fmla="*/ 23 w 106"/>
                <a:gd name="T39" fmla="*/ 88 h 93"/>
                <a:gd name="T40" fmla="*/ 35 w 106"/>
                <a:gd name="T41" fmla="*/ 81 h 93"/>
                <a:gd name="T42" fmla="*/ 36 w 106"/>
                <a:gd name="T43" fmla="*/ 81 h 93"/>
                <a:gd name="T44" fmla="*/ 37 w 106"/>
                <a:gd name="T45" fmla="*/ 81 h 93"/>
                <a:gd name="T46" fmla="*/ 55 w 106"/>
                <a:gd name="T47" fmla="*/ 84 h 93"/>
                <a:gd name="T48" fmla="*/ 102 w 106"/>
                <a:gd name="T49" fmla="*/ 45 h 93"/>
                <a:gd name="T50" fmla="*/ 56 w 106"/>
                <a:gd name="T51" fmla="*/ 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 h="93">
                  <a:moveTo>
                    <a:pt x="21" y="93"/>
                  </a:moveTo>
                  <a:cubicBezTo>
                    <a:pt x="20" y="93"/>
                    <a:pt x="20" y="92"/>
                    <a:pt x="20" y="91"/>
                  </a:cubicBezTo>
                  <a:cubicBezTo>
                    <a:pt x="20" y="91"/>
                    <a:pt x="20" y="91"/>
                    <a:pt x="20" y="91"/>
                  </a:cubicBezTo>
                  <a:cubicBezTo>
                    <a:pt x="20" y="91"/>
                    <a:pt x="20" y="91"/>
                    <a:pt x="20" y="91"/>
                  </a:cubicBezTo>
                  <a:cubicBezTo>
                    <a:pt x="20" y="77"/>
                    <a:pt x="20" y="77"/>
                    <a:pt x="20" y="77"/>
                  </a:cubicBezTo>
                  <a:cubicBezTo>
                    <a:pt x="19" y="77"/>
                    <a:pt x="19" y="77"/>
                    <a:pt x="19" y="77"/>
                  </a:cubicBezTo>
                  <a:cubicBezTo>
                    <a:pt x="7" y="68"/>
                    <a:pt x="0" y="56"/>
                    <a:pt x="0" y="43"/>
                  </a:cubicBezTo>
                  <a:cubicBezTo>
                    <a:pt x="1" y="19"/>
                    <a:pt x="25" y="0"/>
                    <a:pt x="56" y="1"/>
                  </a:cubicBezTo>
                  <a:cubicBezTo>
                    <a:pt x="85" y="1"/>
                    <a:pt x="106" y="20"/>
                    <a:pt x="105" y="45"/>
                  </a:cubicBezTo>
                  <a:cubicBezTo>
                    <a:pt x="105" y="71"/>
                    <a:pt x="84" y="88"/>
                    <a:pt x="55" y="88"/>
                  </a:cubicBezTo>
                  <a:cubicBezTo>
                    <a:pt x="49" y="88"/>
                    <a:pt x="43" y="87"/>
                    <a:pt x="37" y="85"/>
                  </a:cubicBezTo>
                  <a:cubicBezTo>
                    <a:pt x="37" y="85"/>
                    <a:pt x="37" y="85"/>
                    <a:pt x="37" y="85"/>
                  </a:cubicBezTo>
                  <a:cubicBezTo>
                    <a:pt x="22" y="93"/>
                    <a:pt x="22" y="93"/>
                    <a:pt x="22" y="93"/>
                  </a:cubicBezTo>
                  <a:cubicBezTo>
                    <a:pt x="22" y="93"/>
                    <a:pt x="22" y="93"/>
                    <a:pt x="22" y="93"/>
                  </a:cubicBezTo>
                  <a:lnTo>
                    <a:pt x="21" y="93"/>
                  </a:lnTo>
                  <a:close/>
                  <a:moveTo>
                    <a:pt x="56" y="5"/>
                  </a:moveTo>
                  <a:cubicBezTo>
                    <a:pt x="28" y="4"/>
                    <a:pt x="4" y="22"/>
                    <a:pt x="4" y="43"/>
                  </a:cubicBezTo>
                  <a:cubicBezTo>
                    <a:pt x="4" y="56"/>
                    <a:pt x="11" y="67"/>
                    <a:pt x="23" y="75"/>
                  </a:cubicBezTo>
                  <a:cubicBezTo>
                    <a:pt x="23" y="75"/>
                    <a:pt x="24" y="76"/>
                    <a:pt x="24" y="76"/>
                  </a:cubicBezTo>
                  <a:cubicBezTo>
                    <a:pt x="23" y="88"/>
                    <a:pt x="23" y="88"/>
                    <a:pt x="23" y="88"/>
                  </a:cubicBezTo>
                  <a:cubicBezTo>
                    <a:pt x="35" y="81"/>
                    <a:pt x="35" y="81"/>
                    <a:pt x="35" y="81"/>
                  </a:cubicBezTo>
                  <a:cubicBezTo>
                    <a:pt x="36" y="81"/>
                    <a:pt x="36" y="81"/>
                    <a:pt x="36" y="81"/>
                  </a:cubicBezTo>
                  <a:cubicBezTo>
                    <a:pt x="37" y="81"/>
                    <a:pt x="37" y="81"/>
                    <a:pt x="37" y="81"/>
                  </a:cubicBezTo>
                  <a:cubicBezTo>
                    <a:pt x="43" y="83"/>
                    <a:pt x="49" y="84"/>
                    <a:pt x="55" y="84"/>
                  </a:cubicBezTo>
                  <a:cubicBezTo>
                    <a:pt x="82" y="84"/>
                    <a:pt x="101" y="68"/>
                    <a:pt x="102" y="45"/>
                  </a:cubicBezTo>
                  <a:cubicBezTo>
                    <a:pt x="102" y="22"/>
                    <a:pt x="83" y="5"/>
                    <a:pt x="56" y="5"/>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2" name="Rectangle 57"/>
            <p:cNvSpPr>
              <a:spLocks noChangeArrowheads="1"/>
            </p:cNvSpPr>
            <p:nvPr/>
          </p:nvSpPr>
          <p:spPr bwMode="auto">
            <a:xfrm>
              <a:off x="5239165" y="2722679"/>
              <a:ext cx="126206" cy="16669"/>
            </a:xfrm>
            <a:prstGeom prst="rect">
              <a:avLst/>
            </a:prstGeom>
            <a:solidFill>
              <a:srgbClr val="566C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3" name="Freeform 59"/>
            <p:cNvSpPr/>
            <p:nvPr/>
          </p:nvSpPr>
          <p:spPr bwMode="auto">
            <a:xfrm>
              <a:off x="5376087" y="2911988"/>
              <a:ext cx="139304" cy="266700"/>
            </a:xfrm>
            <a:custGeom>
              <a:avLst/>
              <a:gdLst>
                <a:gd name="T0" fmla="*/ 5 w 49"/>
                <a:gd name="T1" fmla="*/ 94 h 94"/>
                <a:gd name="T2" fmla="*/ 44 w 49"/>
                <a:gd name="T3" fmla="*/ 94 h 94"/>
                <a:gd name="T4" fmla="*/ 49 w 49"/>
                <a:gd name="T5" fmla="*/ 84 h 94"/>
                <a:gd name="T6" fmla="*/ 49 w 49"/>
                <a:gd name="T7" fmla="*/ 12 h 94"/>
                <a:gd name="T8" fmla="*/ 37 w 49"/>
                <a:gd name="T9" fmla="*/ 0 h 94"/>
                <a:gd name="T10" fmla="*/ 12 w 49"/>
                <a:gd name="T11" fmla="*/ 0 h 94"/>
                <a:gd name="T12" fmla="*/ 0 w 49"/>
                <a:gd name="T13" fmla="*/ 12 h 94"/>
                <a:gd name="T14" fmla="*/ 0 w 49"/>
                <a:gd name="T15" fmla="*/ 84 h 94"/>
                <a:gd name="T16" fmla="*/ 5 w 49"/>
                <a:gd name="T1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94">
                  <a:moveTo>
                    <a:pt x="5" y="94"/>
                  </a:moveTo>
                  <a:cubicBezTo>
                    <a:pt x="44" y="94"/>
                    <a:pt x="44" y="94"/>
                    <a:pt x="44" y="94"/>
                  </a:cubicBezTo>
                  <a:cubicBezTo>
                    <a:pt x="47" y="92"/>
                    <a:pt x="49" y="88"/>
                    <a:pt x="49" y="84"/>
                  </a:cubicBezTo>
                  <a:cubicBezTo>
                    <a:pt x="49" y="12"/>
                    <a:pt x="49" y="12"/>
                    <a:pt x="49" y="12"/>
                  </a:cubicBezTo>
                  <a:cubicBezTo>
                    <a:pt x="49" y="5"/>
                    <a:pt x="44" y="0"/>
                    <a:pt x="37" y="0"/>
                  </a:cubicBezTo>
                  <a:cubicBezTo>
                    <a:pt x="12" y="0"/>
                    <a:pt x="12" y="0"/>
                    <a:pt x="12" y="0"/>
                  </a:cubicBezTo>
                  <a:cubicBezTo>
                    <a:pt x="5" y="0"/>
                    <a:pt x="0" y="5"/>
                    <a:pt x="0" y="12"/>
                  </a:cubicBezTo>
                  <a:cubicBezTo>
                    <a:pt x="0" y="84"/>
                    <a:pt x="0" y="84"/>
                    <a:pt x="0" y="84"/>
                  </a:cubicBezTo>
                  <a:cubicBezTo>
                    <a:pt x="0" y="88"/>
                    <a:pt x="2" y="92"/>
                    <a:pt x="5" y="94"/>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4" name="Freeform 60"/>
            <p:cNvSpPr/>
            <p:nvPr/>
          </p:nvSpPr>
          <p:spPr bwMode="auto">
            <a:xfrm>
              <a:off x="5433237" y="2472647"/>
              <a:ext cx="34529" cy="252413"/>
            </a:xfrm>
            <a:custGeom>
              <a:avLst/>
              <a:gdLst>
                <a:gd name="T0" fmla="*/ 0 w 29"/>
                <a:gd name="T1" fmla="*/ 0 h 212"/>
                <a:gd name="T2" fmla="*/ 0 w 29"/>
                <a:gd name="T3" fmla="*/ 167 h 212"/>
                <a:gd name="T4" fmla="*/ 14 w 29"/>
                <a:gd name="T5" fmla="*/ 167 h 212"/>
                <a:gd name="T6" fmla="*/ 14 w 29"/>
                <a:gd name="T7" fmla="*/ 212 h 212"/>
                <a:gd name="T8" fmla="*/ 29 w 29"/>
                <a:gd name="T9" fmla="*/ 212 h 212"/>
                <a:gd name="T10" fmla="*/ 29 w 29"/>
                <a:gd name="T11" fmla="*/ 167 h 212"/>
                <a:gd name="T12" fmla="*/ 29 w 29"/>
                <a:gd name="T13" fmla="*/ 121 h 212"/>
                <a:gd name="T14" fmla="*/ 29 w 29"/>
                <a:gd name="T15" fmla="*/ 0 h 212"/>
                <a:gd name="T16" fmla="*/ 0 w 29"/>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12">
                  <a:moveTo>
                    <a:pt x="0" y="0"/>
                  </a:moveTo>
                  <a:lnTo>
                    <a:pt x="0" y="167"/>
                  </a:lnTo>
                  <a:lnTo>
                    <a:pt x="14" y="167"/>
                  </a:lnTo>
                  <a:lnTo>
                    <a:pt x="14" y="212"/>
                  </a:lnTo>
                  <a:lnTo>
                    <a:pt x="29" y="212"/>
                  </a:lnTo>
                  <a:lnTo>
                    <a:pt x="29" y="167"/>
                  </a:lnTo>
                  <a:lnTo>
                    <a:pt x="29" y="121"/>
                  </a:lnTo>
                  <a:lnTo>
                    <a:pt x="29" y="0"/>
                  </a:lnTo>
                  <a:lnTo>
                    <a:pt x="0" y="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5" name="Freeform 62"/>
            <p:cNvSpPr>
              <a:spLocks noEditPoints="1"/>
            </p:cNvSpPr>
            <p:nvPr/>
          </p:nvSpPr>
          <p:spPr bwMode="auto">
            <a:xfrm>
              <a:off x="5179634" y="2319057"/>
              <a:ext cx="110729" cy="114300"/>
            </a:xfrm>
            <a:custGeom>
              <a:avLst/>
              <a:gdLst>
                <a:gd name="T0" fmla="*/ 22 w 39"/>
                <a:gd name="T1" fmla="*/ 4 h 40"/>
                <a:gd name="T2" fmla="*/ 27 w 39"/>
                <a:gd name="T3" fmla="*/ 8 h 40"/>
                <a:gd name="T4" fmla="*/ 29 w 39"/>
                <a:gd name="T5" fmla="*/ 7 h 40"/>
                <a:gd name="T6" fmla="*/ 32 w 39"/>
                <a:gd name="T7" fmla="*/ 9 h 40"/>
                <a:gd name="T8" fmla="*/ 31 w 39"/>
                <a:gd name="T9" fmla="*/ 12 h 40"/>
                <a:gd name="T10" fmla="*/ 35 w 39"/>
                <a:gd name="T11" fmla="*/ 17 h 40"/>
                <a:gd name="T12" fmla="*/ 36 w 39"/>
                <a:gd name="T13" fmla="*/ 21 h 40"/>
                <a:gd name="T14" fmla="*/ 33 w 39"/>
                <a:gd name="T15" fmla="*/ 23 h 40"/>
                <a:gd name="T16" fmla="*/ 32 w 39"/>
                <a:gd name="T17" fmla="*/ 29 h 40"/>
                <a:gd name="T18" fmla="*/ 30 w 39"/>
                <a:gd name="T19" fmla="*/ 33 h 40"/>
                <a:gd name="T20" fmla="*/ 28 w 39"/>
                <a:gd name="T21" fmla="*/ 33 h 40"/>
                <a:gd name="T22" fmla="*/ 22 w 39"/>
                <a:gd name="T23" fmla="*/ 34 h 40"/>
                <a:gd name="T24" fmla="*/ 21 w 39"/>
                <a:gd name="T25" fmla="*/ 37 h 40"/>
                <a:gd name="T26" fmla="*/ 16 w 39"/>
                <a:gd name="T27" fmla="*/ 35 h 40"/>
                <a:gd name="T28" fmla="*/ 12 w 39"/>
                <a:gd name="T29" fmla="*/ 32 h 40"/>
                <a:gd name="T30" fmla="*/ 9 w 39"/>
                <a:gd name="T31" fmla="*/ 33 h 40"/>
                <a:gd name="T32" fmla="*/ 6 w 39"/>
                <a:gd name="T33" fmla="*/ 31 h 40"/>
                <a:gd name="T34" fmla="*/ 8 w 39"/>
                <a:gd name="T35" fmla="*/ 28 h 40"/>
                <a:gd name="T36" fmla="*/ 4 w 39"/>
                <a:gd name="T37" fmla="*/ 23 h 40"/>
                <a:gd name="T38" fmla="*/ 2 w 39"/>
                <a:gd name="T39" fmla="*/ 19 h 40"/>
                <a:gd name="T40" fmla="*/ 6 w 39"/>
                <a:gd name="T41" fmla="*/ 17 h 40"/>
                <a:gd name="T42" fmla="*/ 6 w 39"/>
                <a:gd name="T43" fmla="*/ 11 h 40"/>
                <a:gd name="T44" fmla="*/ 8 w 39"/>
                <a:gd name="T45" fmla="*/ 7 h 40"/>
                <a:gd name="T46" fmla="*/ 10 w 39"/>
                <a:gd name="T47" fmla="*/ 7 h 40"/>
                <a:gd name="T48" fmla="*/ 16 w 39"/>
                <a:gd name="T49" fmla="*/ 6 h 40"/>
                <a:gd name="T50" fmla="*/ 18 w 39"/>
                <a:gd name="T51" fmla="*/ 3 h 40"/>
                <a:gd name="T52" fmla="*/ 21 w 39"/>
                <a:gd name="T53" fmla="*/ 0 h 40"/>
                <a:gd name="T54" fmla="*/ 14 w 39"/>
                <a:gd name="T55" fmla="*/ 4 h 40"/>
                <a:gd name="T56" fmla="*/ 9 w 39"/>
                <a:gd name="T57" fmla="*/ 4 h 40"/>
                <a:gd name="T58" fmla="*/ 4 w 39"/>
                <a:gd name="T59" fmla="*/ 7 h 40"/>
                <a:gd name="T60" fmla="*/ 4 w 39"/>
                <a:gd name="T61" fmla="*/ 13 h 40"/>
                <a:gd name="T62" fmla="*/ 0 w 39"/>
                <a:gd name="T63" fmla="*/ 19 h 40"/>
                <a:gd name="T64" fmla="*/ 3 w 39"/>
                <a:gd name="T65" fmla="*/ 26 h 40"/>
                <a:gd name="T66" fmla="*/ 3 w 39"/>
                <a:gd name="T67" fmla="*/ 30 h 40"/>
                <a:gd name="T68" fmla="*/ 6 w 39"/>
                <a:gd name="T69" fmla="*/ 35 h 40"/>
                <a:gd name="T70" fmla="*/ 12 w 39"/>
                <a:gd name="T71" fmla="*/ 35 h 40"/>
                <a:gd name="T72" fmla="*/ 18 w 39"/>
                <a:gd name="T73" fmla="*/ 40 h 40"/>
                <a:gd name="T74" fmla="*/ 25 w 39"/>
                <a:gd name="T75" fmla="*/ 36 h 40"/>
                <a:gd name="T76" fmla="*/ 29 w 39"/>
                <a:gd name="T77" fmla="*/ 36 h 40"/>
                <a:gd name="T78" fmla="*/ 34 w 39"/>
                <a:gd name="T79" fmla="*/ 33 h 40"/>
                <a:gd name="T80" fmla="*/ 34 w 39"/>
                <a:gd name="T81" fmla="*/ 27 h 40"/>
                <a:gd name="T82" fmla="*/ 39 w 39"/>
                <a:gd name="T83" fmla="*/ 21 h 40"/>
                <a:gd name="T84" fmla="*/ 35 w 39"/>
                <a:gd name="T85" fmla="*/ 14 h 40"/>
                <a:gd name="T86" fmla="*/ 35 w 39"/>
                <a:gd name="T87" fmla="*/ 10 h 40"/>
                <a:gd name="T88" fmla="*/ 32 w 39"/>
                <a:gd name="T89" fmla="*/ 5 h 40"/>
                <a:gd name="T90" fmla="*/ 27 w 39"/>
                <a:gd name="T91" fmla="*/ 5 h 40"/>
                <a:gd name="T92" fmla="*/ 21 w 39"/>
                <a:gd name="T9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9" h="40">
                  <a:moveTo>
                    <a:pt x="21" y="3"/>
                  </a:moveTo>
                  <a:cubicBezTo>
                    <a:pt x="21" y="3"/>
                    <a:pt x="22" y="4"/>
                    <a:pt x="22" y="4"/>
                  </a:cubicBezTo>
                  <a:cubicBezTo>
                    <a:pt x="22" y="6"/>
                    <a:pt x="22" y="6"/>
                    <a:pt x="22" y="6"/>
                  </a:cubicBezTo>
                  <a:cubicBezTo>
                    <a:pt x="24" y="7"/>
                    <a:pt x="26" y="7"/>
                    <a:pt x="27" y="8"/>
                  </a:cubicBezTo>
                  <a:cubicBezTo>
                    <a:pt x="28" y="7"/>
                    <a:pt x="28" y="7"/>
                    <a:pt x="28" y="7"/>
                  </a:cubicBezTo>
                  <a:cubicBezTo>
                    <a:pt x="28" y="7"/>
                    <a:pt x="29" y="7"/>
                    <a:pt x="29" y="7"/>
                  </a:cubicBezTo>
                  <a:cubicBezTo>
                    <a:pt x="30" y="7"/>
                    <a:pt x="30" y="7"/>
                    <a:pt x="30" y="7"/>
                  </a:cubicBezTo>
                  <a:cubicBezTo>
                    <a:pt x="32" y="9"/>
                    <a:pt x="32" y="9"/>
                    <a:pt x="32" y="9"/>
                  </a:cubicBezTo>
                  <a:cubicBezTo>
                    <a:pt x="33" y="10"/>
                    <a:pt x="33" y="10"/>
                    <a:pt x="32" y="11"/>
                  </a:cubicBezTo>
                  <a:cubicBezTo>
                    <a:pt x="31" y="12"/>
                    <a:pt x="31" y="12"/>
                    <a:pt x="31" y="12"/>
                  </a:cubicBezTo>
                  <a:cubicBezTo>
                    <a:pt x="32" y="14"/>
                    <a:pt x="33" y="15"/>
                    <a:pt x="33" y="17"/>
                  </a:cubicBezTo>
                  <a:cubicBezTo>
                    <a:pt x="35" y="17"/>
                    <a:pt x="35" y="17"/>
                    <a:pt x="35" y="17"/>
                  </a:cubicBezTo>
                  <a:cubicBezTo>
                    <a:pt x="35" y="17"/>
                    <a:pt x="36" y="18"/>
                    <a:pt x="36" y="19"/>
                  </a:cubicBezTo>
                  <a:cubicBezTo>
                    <a:pt x="36" y="21"/>
                    <a:pt x="36" y="21"/>
                    <a:pt x="36" y="21"/>
                  </a:cubicBezTo>
                  <a:cubicBezTo>
                    <a:pt x="36" y="22"/>
                    <a:pt x="35" y="23"/>
                    <a:pt x="35" y="23"/>
                  </a:cubicBezTo>
                  <a:cubicBezTo>
                    <a:pt x="33" y="23"/>
                    <a:pt x="33" y="23"/>
                    <a:pt x="33" y="23"/>
                  </a:cubicBezTo>
                  <a:cubicBezTo>
                    <a:pt x="33" y="25"/>
                    <a:pt x="32" y="26"/>
                    <a:pt x="31" y="28"/>
                  </a:cubicBezTo>
                  <a:cubicBezTo>
                    <a:pt x="32" y="29"/>
                    <a:pt x="32" y="29"/>
                    <a:pt x="32" y="29"/>
                  </a:cubicBezTo>
                  <a:cubicBezTo>
                    <a:pt x="33" y="29"/>
                    <a:pt x="33" y="30"/>
                    <a:pt x="32" y="31"/>
                  </a:cubicBezTo>
                  <a:cubicBezTo>
                    <a:pt x="30" y="33"/>
                    <a:pt x="30" y="33"/>
                    <a:pt x="30" y="33"/>
                  </a:cubicBezTo>
                  <a:cubicBezTo>
                    <a:pt x="30" y="33"/>
                    <a:pt x="30" y="33"/>
                    <a:pt x="29" y="33"/>
                  </a:cubicBezTo>
                  <a:cubicBezTo>
                    <a:pt x="29" y="33"/>
                    <a:pt x="28" y="33"/>
                    <a:pt x="28" y="33"/>
                  </a:cubicBezTo>
                  <a:cubicBezTo>
                    <a:pt x="27" y="32"/>
                    <a:pt x="27" y="32"/>
                    <a:pt x="27" y="32"/>
                  </a:cubicBezTo>
                  <a:cubicBezTo>
                    <a:pt x="26" y="33"/>
                    <a:pt x="24" y="33"/>
                    <a:pt x="22" y="34"/>
                  </a:cubicBezTo>
                  <a:cubicBezTo>
                    <a:pt x="22" y="35"/>
                    <a:pt x="22" y="35"/>
                    <a:pt x="22" y="35"/>
                  </a:cubicBezTo>
                  <a:cubicBezTo>
                    <a:pt x="22" y="36"/>
                    <a:pt x="21" y="37"/>
                    <a:pt x="21" y="37"/>
                  </a:cubicBezTo>
                  <a:cubicBezTo>
                    <a:pt x="18" y="37"/>
                    <a:pt x="18" y="37"/>
                    <a:pt x="18" y="37"/>
                  </a:cubicBezTo>
                  <a:cubicBezTo>
                    <a:pt x="17" y="37"/>
                    <a:pt x="16" y="36"/>
                    <a:pt x="16" y="35"/>
                  </a:cubicBezTo>
                  <a:cubicBezTo>
                    <a:pt x="16" y="34"/>
                    <a:pt x="16" y="34"/>
                    <a:pt x="16" y="34"/>
                  </a:cubicBezTo>
                  <a:cubicBezTo>
                    <a:pt x="15" y="33"/>
                    <a:pt x="13" y="33"/>
                    <a:pt x="12" y="32"/>
                  </a:cubicBezTo>
                  <a:cubicBezTo>
                    <a:pt x="10" y="33"/>
                    <a:pt x="10" y="33"/>
                    <a:pt x="10" y="33"/>
                  </a:cubicBezTo>
                  <a:cubicBezTo>
                    <a:pt x="10" y="33"/>
                    <a:pt x="10" y="33"/>
                    <a:pt x="9" y="33"/>
                  </a:cubicBezTo>
                  <a:cubicBezTo>
                    <a:pt x="9" y="33"/>
                    <a:pt x="9" y="33"/>
                    <a:pt x="8" y="33"/>
                  </a:cubicBezTo>
                  <a:cubicBezTo>
                    <a:pt x="6" y="31"/>
                    <a:pt x="6" y="31"/>
                    <a:pt x="6" y="31"/>
                  </a:cubicBezTo>
                  <a:cubicBezTo>
                    <a:pt x="6" y="30"/>
                    <a:pt x="6" y="29"/>
                    <a:pt x="6" y="29"/>
                  </a:cubicBezTo>
                  <a:cubicBezTo>
                    <a:pt x="8" y="28"/>
                    <a:pt x="8" y="28"/>
                    <a:pt x="8" y="28"/>
                  </a:cubicBezTo>
                  <a:cubicBezTo>
                    <a:pt x="7" y="26"/>
                    <a:pt x="6" y="25"/>
                    <a:pt x="6" y="23"/>
                  </a:cubicBezTo>
                  <a:cubicBezTo>
                    <a:pt x="4" y="23"/>
                    <a:pt x="4" y="23"/>
                    <a:pt x="4" y="23"/>
                  </a:cubicBezTo>
                  <a:cubicBezTo>
                    <a:pt x="3" y="23"/>
                    <a:pt x="2" y="22"/>
                    <a:pt x="2" y="21"/>
                  </a:cubicBezTo>
                  <a:cubicBezTo>
                    <a:pt x="2" y="19"/>
                    <a:pt x="2" y="19"/>
                    <a:pt x="2" y="19"/>
                  </a:cubicBezTo>
                  <a:cubicBezTo>
                    <a:pt x="2" y="18"/>
                    <a:pt x="3" y="17"/>
                    <a:pt x="4" y="17"/>
                  </a:cubicBezTo>
                  <a:cubicBezTo>
                    <a:pt x="6" y="17"/>
                    <a:pt x="6" y="17"/>
                    <a:pt x="6" y="17"/>
                  </a:cubicBezTo>
                  <a:cubicBezTo>
                    <a:pt x="6" y="15"/>
                    <a:pt x="7" y="14"/>
                    <a:pt x="8" y="12"/>
                  </a:cubicBezTo>
                  <a:cubicBezTo>
                    <a:pt x="6" y="11"/>
                    <a:pt x="6" y="11"/>
                    <a:pt x="6" y="11"/>
                  </a:cubicBezTo>
                  <a:cubicBezTo>
                    <a:pt x="6" y="10"/>
                    <a:pt x="6" y="10"/>
                    <a:pt x="6" y="9"/>
                  </a:cubicBezTo>
                  <a:cubicBezTo>
                    <a:pt x="8" y="7"/>
                    <a:pt x="8" y="7"/>
                    <a:pt x="8" y="7"/>
                  </a:cubicBezTo>
                  <a:cubicBezTo>
                    <a:pt x="9" y="7"/>
                    <a:pt x="9" y="7"/>
                    <a:pt x="9" y="7"/>
                  </a:cubicBezTo>
                  <a:cubicBezTo>
                    <a:pt x="10" y="7"/>
                    <a:pt x="10" y="7"/>
                    <a:pt x="10" y="7"/>
                  </a:cubicBezTo>
                  <a:cubicBezTo>
                    <a:pt x="12" y="8"/>
                    <a:pt x="12" y="8"/>
                    <a:pt x="12" y="8"/>
                  </a:cubicBezTo>
                  <a:cubicBezTo>
                    <a:pt x="13" y="7"/>
                    <a:pt x="15" y="7"/>
                    <a:pt x="16" y="6"/>
                  </a:cubicBezTo>
                  <a:cubicBezTo>
                    <a:pt x="16" y="4"/>
                    <a:pt x="16" y="4"/>
                    <a:pt x="16" y="4"/>
                  </a:cubicBezTo>
                  <a:cubicBezTo>
                    <a:pt x="16" y="4"/>
                    <a:pt x="17" y="3"/>
                    <a:pt x="18" y="3"/>
                  </a:cubicBezTo>
                  <a:cubicBezTo>
                    <a:pt x="21" y="3"/>
                    <a:pt x="21" y="3"/>
                    <a:pt x="21" y="3"/>
                  </a:cubicBezTo>
                  <a:moveTo>
                    <a:pt x="21" y="0"/>
                  </a:moveTo>
                  <a:cubicBezTo>
                    <a:pt x="18" y="0"/>
                    <a:pt x="18" y="0"/>
                    <a:pt x="18" y="0"/>
                  </a:cubicBezTo>
                  <a:cubicBezTo>
                    <a:pt x="16" y="0"/>
                    <a:pt x="14" y="2"/>
                    <a:pt x="14" y="4"/>
                  </a:cubicBezTo>
                  <a:cubicBezTo>
                    <a:pt x="13" y="4"/>
                    <a:pt x="13" y="4"/>
                    <a:pt x="12" y="5"/>
                  </a:cubicBezTo>
                  <a:cubicBezTo>
                    <a:pt x="11" y="4"/>
                    <a:pt x="10" y="4"/>
                    <a:pt x="9" y="4"/>
                  </a:cubicBezTo>
                  <a:cubicBezTo>
                    <a:pt x="8" y="4"/>
                    <a:pt x="7" y="4"/>
                    <a:pt x="6" y="5"/>
                  </a:cubicBezTo>
                  <a:cubicBezTo>
                    <a:pt x="4" y="7"/>
                    <a:pt x="4" y="7"/>
                    <a:pt x="4" y="7"/>
                  </a:cubicBezTo>
                  <a:cubicBezTo>
                    <a:pt x="4" y="8"/>
                    <a:pt x="3" y="9"/>
                    <a:pt x="3" y="10"/>
                  </a:cubicBezTo>
                  <a:cubicBezTo>
                    <a:pt x="3" y="11"/>
                    <a:pt x="4" y="12"/>
                    <a:pt x="4" y="13"/>
                  </a:cubicBezTo>
                  <a:cubicBezTo>
                    <a:pt x="4" y="13"/>
                    <a:pt x="4" y="14"/>
                    <a:pt x="3" y="14"/>
                  </a:cubicBezTo>
                  <a:cubicBezTo>
                    <a:pt x="1" y="15"/>
                    <a:pt x="0" y="16"/>
                    <a:pt x="0" y="19"/>
                  </a:cubicBezTo>
                  <a:cubicBezTo>
                    <a:pt x="0" y="21"/>
                    <a:pt x="0" y="21"/>
                    <a:pt x="0" y="21"/>
                  </a:cubicBezTo>
                  <a:cubicBezTo>
                    <a:pt x="0" y="23"/>
                    <a:pt x="1" y="25"/>
                    <a:pt x="3" y="26"/>
                  </a:cubicBezTo>
                  <a:cubicBezTo>
                    <a:pt x="4" y="26"/>
                    <a:pt x="4" y="27"/>
                    <a:pt x="4" y="27"/>
                  </a:cubicBezTo>
                  <a:cubicBezTo>
                    <a:pt x="4" y="28"/>
                    <a:pt x="3" y="29"/>
                    <a:pt x="3" y="30"/>
                  </a:cubicBezTo>
                  <a:cubicBezTo>
                    <a:pt x="3" y="31"/>
                    <a:pt x="4" y="32"/>
                    <a:pt x="4" y="33"/>
                  </a:cubicBezTo>
                  <a:cubicBezTo>
                    <a:pt x="6" y="35"/>
                    <a:pt x="6" y="35"/>
                    <a:pt x="6" y="35"/>
                  </a:cubicBezTo>
                  <a:cubicBezTo>
                    <a:pt x="7" y="36"/>
                    <a:pt x="8" y="36"/>
                    <a:pt x="9" y="36"/>
                  </a:cubicBezTo>
                  <a:cubicBezTo>
                    <a:pt x="10" y="36"/>
                    <a:pt x="11" y="36"/>
                    <a:pt x="12" y="35"/>
                  </a:cubicBezTo>
                  <a:cubicBezTo>
                    <a:pt x="13" y="35"/>
                    <a:pt x="13" y="36"/>
                    <a:pt x="14" y="36"/>
                  </a:cubicBezTo>
                  <a:cubicBezTo>
                    <a:pt x="14" y="38"/>
                    <a:pt x="16" y="40"/>
                    <a:pt x="18" y="40"/>
                  </a:cubicBezTo>
                  <a:cubicBezTo>
                    <a:pt x="21" y="40"/>
                    <a:pt x="21" y="40"/>
                    <a:pt x="21" y="40"/>
                  </a:cubicBezTo>
                  <a:cubicBezTo>
                    <a:pt x="23" y="40"/>
                    <a:pt x="25" y="38"/>
                    <a:pt x="25" y="36"/>
                  </a:cubicBezTo>
                  <a:cubicBezTo>
                    <a:pt x="25" y="36"/>
                    <a:pt x="26" y="35"/>
                    <a:pt x="27" y="35"/>
                  </a:cubicBezTo>
                  <a:cubicBezTo>
                    <a:pt x="27" y="36"/>
                    <a:pt x="28" y="36"/>
                    <a:pt x="29" y="36"/>
                  </a:cubicBezTo>
                  <a:cubicBezTo>
                    <a:pt x="30" y="36"/>
                    <a:pt x="31" y="36"/>
                    <a:pt x="32" y="35"/>
                  </a:cubicBezTo>
                  <a:cubicBezTo>
                    <a:pt x="34" y="33"/>
                    <a:pt x="34" y="33"/>
                    <a:pt x="34" y="33"/>
                  </a:cubicBezTo>
                  <a:cubicBezTo>
                    <a:pt x="35" y="32"/>
                    <a:pt x="35" y="31"/>
                    <a:pt x="35" y="30"/>
                  </a:cubicBezTo>
                  <a:cubicBezTo>
                    <a:pt x="35" y="29"/>
                    <a:pt x="35" y="28"/>
                    <a:pt x="34" y="27"/>
                  </a:cubicBezTo>
                  <a:cubicBezTo>
                    <a:pt x="35" y="27"/>
                    <a:pt x="35" y="26"/>
                    <a:pt x="35" y="26"/>
                  </a:cubicBezTo>
                  <a:cubicBezTo>
                    <a:pt x="37" y="25"/>
                    <a:pt x="39" y="23"/>
                    <a:pt x="39" y="21"/>
                  </a:cubicBezTo>
                  <a:cubicBezTo>
                    <a:pt x="39" y="19"/>
                    <a:pt x="39" y="19"/>
                    <a:pt x="39" y="19"/>
                  </a:cubicBezTo>
                  <a:cubicBezTo>
                    <a:pt x="39" y="16"/>
                    <a:pt x="37" y="15"/>
                    <a:pt x="35" y="14"/>
                  </a:cubicBezTo>
                  <a:cubicBezTo>
                    <a:pt x="35" y="14"/>
                    <a:pt x="35" y="13"/>
                    <a:pt x="34" y="13"/>
                  </a:cubicBezTo>
                  <a:cubicBezTo>
                    <a:pt x="35" y="12"/>
                    <a:pt x="35" y="11"/>
                    <a:pt x="35" y="10"/>
                  </a:cubicBezTo>
                  <a:cubicBezTo>
                    <a:pt x="35" y="9"/>
                    <a:pt x="35" y="8"/>
                    <a:pt x="34" y="7"/>
                  </a:cubicBezTo>
                  <a:cubicBezTo>
                    <a:pt x="32" y="5"/>
                    <a:pt x="32" y="5"/>
                    <a:pt x="32" y="5"/>
                  </a:cubicBezTo>
                  <a:cubicBezTo>
                    <a:pt x="31" y="4"/>
                    <a:pt x="30" y="4"/>
                    <a:pt x="29" y="4"/>
                  </a:cubicBezTo>
                  <a:cubicBezTo>
                    <a:pt x="28" y="4"/>
                    <a:pt x="27" y="4"/>
                    <a:pt x="27" y="5"/>
                  </a:cubicBezTo>
                  <a:cubicBezTo>
                    <a:pt x="26" y="4"/>
                    <a:pt x="25" y="4"/>
                    <a:pt x="25" y="4"/>
                  </a:cubicBezTo>
                  <a:cubicBezTo>
                    <a:pt x="25" y="2"/>
                    <a:pt x="23" y="0"/>
                    <a:pt x="21" y="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6" name="Freeform 64"/>
            <p:cNvSpPr>
              <a:spLocks noEditPoints="1"/>
            </p:cNvSpPr>
            <p:nvPr/>
          </p:nvSpPr>
          <p:spPr bwMode="auto">
            <a:xfrm>
              <a:off x="5218925" y="2361919"/>
              <a:ext cx="28575" cy="28575"/>
            </a:xfrm>
            <a:custGeom>
              <a:avLst/>
              <a:gdLst>
                <a:gd name="T0" fmla="*/ 5 w 10"/>
                <a:gd name="T1" fmla="*/ 10 h 10"/>
                <a:gd name="T2" fmla="*/ 0 w 10"/>
                <a:gd name="T3" fmla="*/ 5 h 10"/>
                <a:gd name="T4" fmla="*/ 5 w 10"/>
                <a:gd name="T5" fmla="*/ 0 h 10"/>
                <a:gd name="T6" fmla="*/ 10 w 10"/>
                <a:gd name="T7" fmla="*/ 5 h 10"/>
                <a:gd name="T8" fmla="*/ 5 w 10"/>
                <a:gd name="T9" fmla="*/ 10 h 10"/>
                <a:gd name="T10" fmla="*/ 5 w 10"/>
                <a:gd name="T11" fmla="*/ 1 h 10"/>
                <a:gd name="T12" fmla="*/ 2 w 10"/>
                <a:gd name="T13" fmla="*/ 5 h 10"/>
                <a:gd name="T14" fmla="*/ 5 w 10"/>
                <a:gd name="T15" fmla="*/ 8 h 10"/>
                <a:gd name="T16" fmla="*/ 9 w 10"/>
                <a:gd name="T17" fmla="*/ 5 h 10"/>
                <a:gd name="T18" fmla="*/ 5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10"/>
                  </a:moveTo>
                  <a:cubicBezTo>
                    <a:pt x="3" y="10"/>
                    <a:pt x="0" y="8"/>
                    <a:pt x="0" y="5"/>
                  </a:cubicBezTo>
                  <a:cubicBezTo>
                    <a:pt x="0" y="2"/>
                    <a:pt x="3" y="0"/>
                    <a:pt x="5" y="0"/>
                  </a:cubicBezTo>
                  <a:cubicBezTo>
                    <a:pt x="8" y="0"/>
                    <a:pt x="10" y="2"/>
                    <a:pt x="10" y="5"/>
                  </a:cubicBezTo>
                  <a:cubicBezTo>
                    <a:pt x="10" y="8"/>
                    <a:pt x="8" y="10"/>
                    <a:pt x="5" y="10"/>
                  </a:cubicBezTo>
                  <a:close/>
                  <a:moveTo>
                    <a:pt x="5" y="1"/>
                  </a:moveTo>
                  <a:cubicBezTo>
                    <a:pt x="3" y="1"/>
                    <a:pt x="2" y="3"/>
                    <a:pt x="2" y="5"/>
                  </a:cubicBezTo>
                  <a:cubicBezTo>
                    <a:pt x="2" y="7"/>
                    <a:pt x="3" y="8"/>
                    <a:pt x="5" y="8"/>
                  </a:cubicBezTo>
                  <a:cubicBezTo>
                    <a:pt x="7" y="8"/>
                    <a:pt x="9" y="7"/>
                    <a:pt x="9" y="5"/>
                  </a:cubicBezTo>
                  <a:cubicBezTo>
                    <a:pt x="9" y="3"/>
                    <a:pt x="7" y="1"/>
                    <a:pt x="5"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7" name="Freeform 66"/>
            <p:cNvSpPr>
              <a:spLocks noEditPoints="1"/>
            </p:cNvSpPr>
            <p:nvPr/>
          </p:nvSpPr>
          <p:spPr bwMode="auto">
            <a:xfrm>
              <a:off x="5312984" y="2314294"/>
              <a:ext cx="42863" cy="41672"/>
            </a:xfrm>
            <a:custGeom>
              <a:avLst/>
              <a:gdLst>
                <a:gd name="T0" fmla="*/ 8 w 15"/>
                <a:gd name="T1" fmla="*/ 15 h 15"/>
                <a:gd name="T2" fmla="*/ 0 w 15"/>
                <a:gd name="T3" fmla="*/ 7 h 15"/>
                <a:gd name="T4" fmla="*/ 8 w 15"/>
                <a:gd name="T5" fmla="*/ 0 h 15"/>
                <a:gd name="T6" fmla="*/ 15 w 15"/>
                <a:gd name="T7" fmla="*/ 7 h 15"/>
                <a:gd name="T8" fmla="*/ 8 w 15"/>
                <a:gd name="T9" fmla="*/ 15 h 15"/>
                <a:gd name="T10" fmla="*/ 8 w 15"/>
                <a:gd name="T11" fmla="*/ 1 h 15"/>
                <a:gd name="T12" fmla="*/ 2 w 15"/>
                <a:gd name="T13" fmla="*/ 7 h 15"/>
                <a:gd name="T14" fmla="*/ 8 w 15"/>
                <a:gd name="T15" fmla="*/ 14 h 15"/>
                <a:gd name="T16" fmla="*/ 14 w 15"/>
                <a:gd name="T17" fmla="*/ 7 h 15"/>
                <a:gd name="T18" fmla="*/ 8 w 15"/>
                <a:gd name="T19"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8" y="15"/>
                  </a:moveTo>
                  <a:cubicBezTo>
                    <a:pt x="4" y="15"/>
                    <a:pt x="0" y="11"/>
                    <a:pt x="0" y="7"/>
                  </a:cubicBezTo>
                  <a:cubicBezTo>
                    <a:pt x="0" y="3"/>
                    <a:pt x="4" y="0"/>
                    <a:pt x="8" y="0"/>
                  </a:cubicBezTo>
                  <a:cubicBezTo>
                    <a:pt x="12" y="0"/>
                    <a:pt x="15" y="3"/>
                    <a:pt x="15" y="7"/>
                  </a:cubicBezTo>
                  <a:cubicBezTo>
                    <a:pt x="15" y="11"/>
                    <a:pt x="12" y="15"/>
                    <a:pt x="8" y="15"/>
                  </a:cubicBezTo>
                  <a:close/>
                  <a:moveTo>
                    <a:pt x="8" y="1"/>
                  </a:moveTo>
                  <a:cubicBezTo>
                    <a:pt x="4" y="1"/>
                    <a:pt x="2" y="4"/>
                    <a:pt x="2" y="7"/>
                  </a:cubicBezTo>
                  <a:cubicBezTo>
                    <a:pt x="2" y="11"/>
                    <a:pt x="4" y="14"/>
                    <a:pt x="8" y="14"/>
                  </a:cubicBezTo>
                  <a:cubicBezTo>
                    <a:pt x="11" y="14"/>
                    <a:pt x="14" y="11"/>
                    <a:pt x="14" y="7"/>
                  </a:cubicBezTo>
                  <a:cubicBezTo>
                    <a:pt x="14" y="4"/>
                    <a:pt x="11" y="1"/>
                    <a:pt x="8"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8" name="Freeform 58"/>
            <p:cNvSpPr/>
            <p:nvPr/>
          </p:nvSpPr>
          <p:spPr bwMode="auto">
            <a:xfrm>
              <a:off x="5171300" y="2753635"/>
              <a:ext cx="321469" cy="425054"/>
            </a:xfrm>
            <a:custGeom>
              <a:avLst/>
              <a:gdLst>
                <a:gd name="T0" fmla="*/ 71 w 113"/>
                <a:gd name="T1" fmla="*/ 150 h 150"/>
                <a:gd name="T2" fmla="*/ 68 w 113"/>
                <a:gd name="T3" fmla="*/ 140 h 150"/>
                <a:gd name="T4" fmla="*/ 68 w 113"/>
                <a:gd name="T5" fmla="*/ 68 h 150"/>
                <a:gd name="T6" fmla="*/ 84 w 113"/>
                <a:gd name="T7" fmla="*/ 52 h 150"/>
                <a:gd name="T8" fmla="*/ 113 w 113"/>
                <a:gd name="T9" fmla="*/ 52 h 150"/>
                <a:gd name="T10" fmla="*/ 113 w 113"/>
                <a:gd name="T11" fmla="*/ 0 h 150"/>
                <a:gd name="T12" fmla="*/ 6 w 113"/>
                <a:gd name="T13" fmla="*/ 0 h 150"/>
                <a:gd name="T14" fmla="*/ 0 w 113"/>
                <a:gd name="T15" fmla="*/ 6 h 150"/>
                <a:gd name="T16" fmla="*/ 0 w 113"/>
                <a:gd name="T17" fmla="*/ 7 h 150"/>
                <a:gd name="T18" fmla="*/ 6 w 113"/>
                <a:gd name="T19" fmla="*/ 13 h 150"/>
                <a:gd name="T20" fmla="*/ 48 w 113"/>
                <a:gd name="T21" fmla="*/ 13 h 150"/>
                <a:gd name="T22" fmla="*/ 48 w 113"/>
                <a:gd name="T23" fmla="*/ 150 h 150"/>
                <a:gd name="T24" fmla="*/ 71 w 113"/>
                <a:gd name="T25"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50">
                  <a:moveTo>
                    <a:pt x="71" y="150"/>
                  </a:moveTo>
                  <a:cubicBezTo>
                    <a:pt x="69" y="147"/>
                    <a:pt x="68" y="144"/>
                    <a:pt x="68" y="140"/>
                  </a:cubicBezTo>
                  <a:cubicBezTo>
                    <a:pt x="68" y="68"/>
                    <a:pt x="68" y="68"/>
                    <a:pt x="68" y="68"/>
                  </a:cubicBezTo>
                  <a:cubicBezTo>
                    <a:pt x="68" y="59"/>
                    <a:pt x="75" y="52"/>
                    <a:pt x="84" y="52"/>
                  </a:cubicBezTo>
                  <a:cubicBezTo>
                    <a:pt x="113" y="52"/>
                    <a:pt x="113" y="52"/>
                    <a:pt x="113" y="52"/>
                  </a:cubicBezTo>
                  <a:cubicBezTo>
                    <a:pt x="113" y="0"/>
                    <a:pt x="113" y="0"/>
                    <a:pt x="113" y="0"/>
                  </a:cubicBezTo>
                  <a:cubicBezTo>
                    <a:pt x="6" y="0"/>
                    <a:pt x="6" y="0"/>
                    <a:pt x="6" y="0"/>
                  </a:cubicBezTo>
                  <a:cubicBezTo>
                    <a:pt x="3" y="0"/>
                    <a:pt x="0" y="3"/>
                    <a:pt x="0" y="6"/>
                  </a:cubicBezTo>
                  <a:cubicBezTo>
                    <a:pt x="0" y="7"/>
                    <a:pt x="0" y="7"/>
                    <a:pt x="0" y="7"/>
                  </a:cubicBezTo>
                  <a:cubicBezTo>
                    <a:pt x="0" y="10"/>
                    <a:pt x="3" y="13"/>
                    <a:pt x="6" y="13"/>
                  </a:cubicBezTo>
                  <a:cubicBezTo>
                    <a:pt x="48" y="13"/>
                    <a:pt x="48" y="13"/>
                    <a:pt x="48" y="13"/>
                  </a:cubicBezTo>
                  <a:cubicBezTo>
                    <a:pt x="48" y="150"/>
                    <a:pt x="48" y="150"/>
                    <a:pt x="48" y="150"/>
                  </a:cubicBezTo>
                  <a:lnTo>
                    <a:pt x="71" y="15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grpSp>
      <p:grpSp>
        <p:nvGrpSpPr>
          <p:cNvPr id="20" name="组合 19"/>
          <p:cNvGrpSpPr/>
          <p:nvPr/>
        </p:nvGrpSpPr>
        <p:grpSpPr>
          <a:xfrm>
            <a:off x="7608291" y="1365219"/>
            <a:ext cx="4214048" cy="3990316"/>
            <a:chOff x="3559404" y="1512179"/>
            <a:chExt cx="3161030" cy="2993205"/>
          </a:xfrm>
        </p:grpSpPr>
        <p:grpSp>
          <p:nvGrpSpPr>
            <p:cNvPr id="14" name="组合 13"/>
            <p:cNvGrpSpPr/>
            <p:nvPr/>
          </p:nvGrpSpPr>
          <p:grpSpPr>
            <a:xfrm>
              <a:off x="3559404" y="4178359"/>
              <a:ext cx="3161030" cy="327025"/>
              <a:chOff x="3644" y="2232"/>
              <a:chExt cx="4978" cy="515"/>
            </a:xfrm>
          </p:grpSpPr>
          <p:sp>
            <p:nvSpPr>
              <p:cNvPr id="15" name="文本框 14"/>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使用</a:t>
                </a:r>
                <a:r>
                  <a:rPr lang="en-US" altLang="zh-CN"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List</a:t>
                </a: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显示列表数据</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6" name="椭圆 15"/>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p>
            </p:txBody>
          </p:sp>
        </p:grpSp>
        <p:pic>
          <p:nvPicPr>
            <p:cNvPr id="10" name="图片 9"/>
            <p:cNvPicPr>
              <a:picLocks noChangeAspect="1"/>
            </p:cNvPicPr>
            <p:nvPr/>
          </p:nvPicPr>
          <p:blipFill>
            <a:blip r:embed="rId3"/>
            <a:stretch>
              <a:fillRect/>
            </a:stretch>
          </p:blipFill>
          <p:spPr>
            <a:xfrm>
              <a:off x="3611394" y="1512179"/>
              <a:ext cx="2193039" cy="2438267"/>
            </a:xfrm>
            <a:prstGeom prst="rect">
              <a:avLst/>
            </a:prstGeom>
          </p:spPr>
        </p:pic>
      </p:grpSp>
      <p:grpSp>
        <p:nvGrpSpPr>
          <p:cNvPr id="6" name="组合 5"/>
          <p:cNvGrpSpPr/>
          <p:nvPr/>
        </p:nvGrpSpPr>
        <p:grpSpPr>
          <a:xfrm>
            <a:off x="1073318" y="1027040"/>
            <a:ext cx="4401275" cy="2438178"/>
            <a:chOff x="805114" y="769522"/>
            <a:chExt cx="3301472" cy="1828919"/>
          </a:xfrm>
        </p:grpSpPr>
        <p:grpSp>
          <p:nvGrpSpPr>
            <p:cNvPr id="67" name="组合 66"/>
            <p:cNvGrpSpPr/>
            <p:nvPr/>
          </p:nvGrpSpPr>
          <p:grpSpPr>
            <a:xfrm>
              <a:off x="945556" y="2271416"/>
              <a:ext cx="3161030" cy="327025"/>
              <a:chOff x="3644" y="2232"/>
              <a:chExt cx="4978" cy="515"/>
            </a:xfrm>
          </p:grpSpPr>
          <p:sp>
            <p:nvSpPr>
              <p:cNvPr id="68" name="文本框 67"/>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整理工程资源</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9" name="椭圆 6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p>
            </p:txBody>
          </p:sp>
        </p:grpSp>
        <p:pic>
          <p:nvPicPr>
            <p:cNvPr id="5" name="图片 4"/>
            <p:cNvPicPr>
              <a:picLocks noChangeAspect="1"/>
            </p:cNvPicPr>
            <p:nvPr/>
          </p:nvPicPr>
          <p:blipFill>
            <a:blip r:embed="rId4"/>
            <a:stretch>
              <a:fillRect/>
            </a:stretch>
          </p:blipFill>
          <p:spPr>
            <a:xfrm>
              <a:off x="805114" y="769522"/>
              <a:ext cx="2431875" cy="1432440"/>
            </a:xfrm>
            <a:prstGeom prst="rect">
              <a:avLst/>
            </a:prstGeom>
          </p:spPr>
        </p:pic>
      </p:grpSp>
      <p:grpSp>
        <p:nvGrpSpPr>
          <p:cNvPr id="11" name="组合 10"/>
          <p:cNvGrpSpPr/>
          <p:nvPr/>
        </p:nvGrpSpPr>
        <p:grpSpPr>
          <a:xfrm>
            <a:off x="4762937" y="1779529"/>
            <a:ext cx="4214048" cy="435965"/>
            <a:chOff x="3644" y="2232"/>
            <a:chExt cx="4978" cy="515"/>
          </a:xfrm>
        </p:grpSpPr>
        <p:sp>
          <p:nvSpPr>
            <p:cNvPr id="13" name="文本框 12"/>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处理数据源</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7" name="椭圆 16"/>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4*#ppt_w"/>
                                          </p:val>
                                        </p:tav>
                                        <p:tav tm="100000">
                                          <p:val>
                                            <p:strVal val="#ppt_w"/>
                                          </p:val>
                                        </p:tav>
                                      </p:tavLst>
                                    </p:anim>
                                    <p:anim calcmode="lin" valueType="num">
                                      <p:cBhvr>
                                        <p:cTn id="8" dur="500" fill="hold"/>
                                        <p:tgtEl>
                                          <p:spTgt spid="2"/>
                                        </p:tgtEl>
                                        <p:attrNameLst>
                                          <p:attrName>ppt_h</p:attrName>
                                        </p:attrNameLst>
                                      </p:cBhvr>
                                      <p:tavLst>
                                        <p:tav tm="0">
                                          <p:val>
                                            <p:strVal val="4*#ppt_h"/>
                                          </p:val>
                                        </p:tav>
                                        <p:tav tm="100000">
                                          <p:val>
                                            <p:strVal val="#ppt_h"/>
                                          </p:val>
                                        </p:tav>
                                      </p:tavLst>
                                    </p:anim>
                                  </p:childTnLst>
                                </p:cTn>
                              </p:par>
                              <p:par>
                                <p:cTn id="9" presetID="2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10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down)">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534399" y="3714071"/>
            <a:ext cx="5474538"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01</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906260" y="16682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06258" y="166824"/>
            <a:ext cx="6510451"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p>
        </p:txBody>
      </p:sp>
      <p:grpSp>
        <p:nvGrpSpPr>
          <p:cNvPr id="2" name="组合 1"/>
          <p:cNvGrpSpPr/>
          <p:nvPr/>
        </p:nvGrpSpPr>
        <p:grpSpPr>
          <a:xfrm>
            <a:off x="811556" y="1073082"/>
            <a:ext cx="9462953" cy="1338611"/>
            <a:chOff x="718601" y="1001507"/>
            <a:chExt cx="5463510" cy="1129432"/>
          </a:xfrm>
        </p:grpSpPr>
        <p:sp>
          <p:nvSpPr>
            <p:cNvPr id="4" name="文本框 3"/>
            <p:cNvSpPr txBox="1"/>
            <p:nvPr/>
          </p:nvSpPr>
          <p:spPr>
            <a:xfrm>
              <a:off x="790091" y="1291968"/>
              <a:ext cx="5215874" cy="742579"/>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将任务需要的图片资源放到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media</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目录下，创建任务所需的类和文件，将任务</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4</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的工具类</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ToastUtil.ets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文件复制并粘贴到工程中。</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8" name="圆角矩形 54"/>
            <p:cNvSpPr/>
            <p:nvPr/>
          </p:nvSpPr>
          <p:spPr>
            <a:xfrm>
              <a:off x="718601" y="1001507"/>
              <a:ext cx="5463510" cy="1129432"/>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7" name="组合 6"/>
          <p:cNvGrpSpPr/>
          <p:nvPr/>
        </p:nvGrpSpPr>
        <p:grpSpPr>
          <a:xfrm>
            <a:off x="7760289" y="4859038"/>
            <a:ext cx="3785486" cy="1704838"/>
            <a:chOff x="602840" y="3657238"/>
            <a:chExt cx="3489785" cy="1456990"/>
          </a:xfrm>
        </p:grpSpPr>
        <p:pic>
          <p:nvPicPr>
            <p:cNvPr id="19" name="图片 18"/>
            <p:cNvPicPr>
              <a:picLocks noChangeAspect="1"/>
            </p:cNvPicPr>
            <p:nvPr/>
          </p:nvPicPr>
          <p:blipFill>
            <a:blip r:embed="rId3"/>
            <a:stretch>
              <a:fillRect/>
            </a:stretch>
          </p:blipFill>
          <p:spPr>
            <a:xfrm>
              <a:off x="2470807" y="3657238"/>
              <a:ext cx="1621818" cy="1456990"/>
            </a:xfrm>
            <a:prstGeom prst="rect">
              <a:avLst/>
            </a:prstGeom>
          </p:spPr>
        </p:pic>
        <p:sp>
          <p:nvSpPr>
            <p:cNvPr id="20"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7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10" name="图片 9"/>
          <p:cNvPicPr>
            <a:picLocks noChangeAspect="1"/>
          </p:cNvPicPr>
          <p:nvPr/>
        </p:nvPicPr>
        <p:blipFill>
          <a:blip r:embed="rId4"/>
          <a:stretch>
            <a:fillRect/>
          </a:stretch>
        </p:blipFill>
        <p:spPr>
          <a:xfrm>
            <a:off x="1259270" y="2871252"/>
            <a:ext cx="5352308" cy="315265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10"/>
                                        </p:tgtEl>
                                        <p:attrNameLst>
                                          <p:attrName>style.visibility</p:attrName>
                                        </p:attrNameLst>
                                      </p:cBhvr>
                                      <p:to>
                                        <p:strVal val="visible"/>
                                      </p:to>
                                    </p:set>
                                    <p:animEffect transition="in" filter="wedg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000" fill="hold">
                                          <p:stCondLst>
                                            <p:cond delay="0"/>
                                          </p:stCondLst>
                                        </p:cTn>
                                        <p:tgtEl>
                                          <p:spTgt spid="7"/>
                                        </p:tgtEl>
                                        <p:attrNameLst>
                                          <p:attrName>style.visibility</p:attrName>
                                        </p:attrNameLst>
                                      </p:cBhvr>
                                      <p:to>
                                        <p:strVal val="visible"/>
                                      </p:to>
                                    </p:set>
                                    <p:animEffect transition="in" filter="wedge">
                                      <p:cBhvr>
                                        <p:cTn id="2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534399" y="3714071"/>
            <a:ext cx="5474538"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处理数据源</a:t>
            </a: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906260" y="16682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06258" y="166824"/>
            <a:ext cx="6510451"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处理数据源</a:t>
            </a:r>
          </a:p>
        </p:txBody>
      </p:sp>
      <p:grpSp>
        <p:nvGrpSpPr>
          <p:cNvPr id="2" name="组合 1"/>
          <p:cNvGrpSpPr/>
          <p:nvPr/>
        </p:nvGrpSpPr>
        <p:grpSpPr>
          <a:xfrm>
            <a:off x="1040885" y="1107477"/>
            <a:ext cx="9994241" cy="2336845"/>
            <a:chOff x="718601" y="1001507"/>
            <a:chExt cx="5396006" cy="948914"/>
          </a:xfrm>
        </p:grpSpPr>
        <p:sp>
          <p:nvSpPr>
            <p:cNvPr id="4" name="文本框 3"/>
            <p:cNvSpPr txBox="1"/>
            <p:nvPr/>
          </p:nvSpPr>
          <p:spPr>
            <a:xfrm>
              <a:off x="839464" y="1111886"/>
              <a:ext cx="5215874" cy="838535"/>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ets/common/model/Setting.ets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中编写</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Setting</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类，类中属性有</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icon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和</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，分别用来描述图片和文字，提供构造方法用于初始化数据。</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266700">
                <a:lnSpc>
                  <a:spcPct val="120000"/>
                </a:lnSpc>
              </a:pPr>
              <a:r>
                <a:rPr lang="zh-CN" altLang="en-US" sz="2135">
                  <a:latin typeface="思源黑体" panose="020B0400000000000000" pitchFamily="34" charset="-122"/>
                  <a:ea typeface="思源黑体" panose="020B0400000000000000" pitchFamily="34" charset="-122"/>
                  <a:sym typeface="思源黑体" panose="020B0400000000000000" pitchFamily="34" charset="-122"/>
                </a:rPr>
                <a:t>在</a:t>
              </a:r>
              <a:r>
                <a:rPr lang="en-US" altLang="zh-CN" sz="2135">
                  <a:latin typeface="思源黑体" panose="020B0400000000000000" pitchFamily="34" charset="-122"/>
                  <a:ea typeface="思源黑体" panose="020B0400000000000000" pitchFamily="34" charset="-122"/>
                  <a:sym typeface="思源黑体" panose="020B0400000000000000" pitchFamily="34" charset="-122"/>
                </a:rPr>
                <a:t>ets/viewmodel/SettingViewModel.ets</a:t>
              </a:r>
              <a:r>
                <a:rPr lang="zh-CN" altLang="en-US" sz="2135">
                  <a:latin typeface="思源黑体" panose="020B0400000000000000" pitchFamily="34" charset="-122"/>
                  <a:ea typeface="思源黑体" panose="020B0400000000000000" pitchFamily="34" charset="-122"/>
                  <a:sym typeface="思源黑体" panose="020B0400000000000000" pitchFamily="34" charset="-122"/>
                </a:rPr>
                <a:t>中，初始化数据源并用</a:t>
              </a:r>
              <a:r>
                <a:rPr lang="en-US" altLang="zh-CN" sz="2135">
                  <a:latin typeface="思源黑体" panose="020B0400000000000000" pitchFamily="34" charset="-122"/>
                  <a:ea typeface="思源黑体" panose="020B0400000000000000" pitchFamily="34" charset="-122"/>
                  <a:sym typeface="思源黑体" panose="020B0400000000000000" pitchFamily="34" charset="-122"/>
                </a:rPr>
                <a:t>export default</a:t>
              </a:r>
              <a:r>
                <a:rPr lang="zh-CN" altLang="en-US" sz="2135">
                  <a:latin typeface="思源黑体" panose="020B0400000000000000" pitchFamily="34" charset="-122"/>
                  <a:ea typeface="思源黑体" panose="020B0400000000000000" pitchFamily="34" charset="-122"/>
                  <a:sym typeface="思源黑体" panose="020B0400000000000000" pitchFamily="34" charset="-122"/>
                </a:rPr>
                <a:t>进行导出。</a:t>
              </a:r>
              <a:endParaRPr lang="en-US" altLang="zh-CN" sz="2135">
                <a:latin typeface="思源黑体" panose="020B0400000000000000" pitchFamily="34" charset="-122"/>
                <a:ea typeface="思源黑体" panose="020B0400000000000000" pitchFamily="34" charset="-122"/>
                <a:sym typeface="思源黑体" panose="020B0400000000000000" pitchFamily="34" charset="-122"/>
              </a:endParaRPr>
            </a:p>
            <a:p>
              <a:pPr indent="266700">
                <a:lnSpc>
                  <a:spcPct val="120000"/>
                </a:lnSpc>
              </a:pP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8" name="圆角矩形 54"/>
            <p:cNvSpPr/>
            <p:nvPr/>
          </p:nvSpPr>
          <p:spPr>
            <a:xfrm>
              <a:off x="718601" y="1001507"/>
              <a:ext cx="5396006" cy="807878"/>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7" name="组合 6"/>
          <p:cNvGrpSpPr/>
          <p:nvPr/>
        </p:nvGrpSpPr>
        <p:grpSpPr>
          <a:xfrm>
            <a:off x="7082295" y="4119538"/>
            <a:ext cx="3785486" cy="1704838"/>
            <a:chOff x="602840" y="3657238"/>
            <a:chExt cx="3489785" cy="1456990"/>
          </a:xfrm>
        </p:grpSpPr>
        <p:pic>
          <p:nvPicPr>
            <p:cNvPr id="19" name="图片 18"/>
            <p:cNvPicPr>
              <a:picLocks noChangeAspect="1"/>
            </p:cNvPicPr>
            <p:nvPr/>
          </p:nvPicPr>
          <p:blipFill>
            <a:blip r:embed="rId3"/>
            <a:stretch>
              <a:fillRect/>
            </a:stretch>
          </p:blipFill>
          <p:spPr>
            <a:xfrm>
              <a:off x="2470807" y="3657238"/>
              <a:ext cx="1621818" cy="1456990"/>
            </a:xfrm>
            <a:prstGeom prst="rect">
              <a:avLst/>
            </a:prstGeom>
          </p:spPr>
        </p:pic>
        <p:sp>
          <p:nvSpPr>
            <p:cNvPr id="20"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7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6" name="图片 5"/>
          <p:cNvPicPr>
            <a:picLocks noChangeAspect="1"/>
          </p:cNvPicPr>
          <p:nvPr/>
        </p:nvPicPr>
        <p:blipFill>
          <a:blip r:embed="rId4"/>
          <a:stretch>
            <a:fillRect/>
          </a:stretch>
        </p:blipFill>
        <p:spPr>
          <a:xfrm>
            <a:off x="3300872" y="3490445"/>
            <a:ext cx="1456114" cy="2963022"/>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6"/>
                                        </p:tgtEl>
                                        <p:attrNameLst>
                                          <p:attrName>style.visibility</p:attrName>
                                        </p:attrNameLst>
                                      </p:cBhvr>
                                      <p:to>
                                        <p:strVal val="visible"/>
                                      </p:to>
                                    </p:set>
                                    <p:animEffect transition="in" filter="wedg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000" fill="hold">
                                          <p:stCondLst>
                                            <p:cond delay="0"/>
                                          </p:stCondLst>
                                        </p:cTn>
                                        <p:tgtEl>
                                          <p:spTgt spid="7"/>
                                        </p:tgtEl>
                                        <p:attrNameLst>
                                          <p:attrName>style.visibility</p:attrName>
                                        </p:attrNameLst>
                                      </p:cBhvr>
                                      <p:to>
                                        <p:strVal val="visible"/>
                                      </p:to>
                                    </p:set>
                                    <p:animEffect transition="in" filter="wedge">
                                      <p:cBhvr>
                                        <p:cTn id="2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004751" y="3714071"/>
            <a:ext cx="60041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使用</a:t>
            </a:r>
            <a:r>
              <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List</a:t>
            </a: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显示列表数据</a:t>
            </a: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03</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906260" y="16682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5"/>
            <a:ext cx="8625385"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认识</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List</a:t>
            </a:r>
            <a:endPar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pic>
        <p:nvPicPr>
          <p:cNvPr id="4" name="图片 3"/>
          <p:cNvPicPr>
            <a:picLocks noChangeAspect="1"/>
          </p:cNvPicPr>
          <p:nvPr/>
        </p:nvPicPr>
        <p:blipFill>
          <a:blip r:embed="rId3"/>
          <a:stretch>
            <a:fillRect/>
          </a:stretch>
        </p:blipFill>
        <p:spPr>
          <a:xfrm>
            <a:off x="2537064" y="4065028"/>
            <a:ext cx="7115968" cy="1334985"/>
          </a:xfrm>
          <a:prstGeom prst="rect">
            <a:avLst/>
          </a:prstGeom>
        </p:spPr>
      </p:pic>
      <p:grpSp>
        <p:nvGrpSpPr>
          <p:cNvPr id="14" name="组合 13"/>
          <p:cNvGrpSpPr/>
          <p:nvPr/>
        </p:nvGrpSpPr>
        <p:grpSpPr>
          <a:xfrm>
            <a:off x="624293" y="1577878"/>
            <a:ext cx="10369745" cy="1901270"/>
            <a:chOff x="298173" y="1820298"/>
            <a:chExt cx="7778524" cy="1426175"/>
          </a:xfrm>
        </p:grpSpPr>
        <p:sp>
          <p:nvSpPr>
            <p:cNvPr id="6" name="文本框 5"/>
            <p:cNvSpPr txBox="1"/>
            <p:nvPr/>
          </p:nvSpPr>
          <p:spPr>
            <a:xfrm>
              <a:off x="479433" y="2400357"/>
              <a:ext cx="7306245" cy="661138"/>
            </a:xfrm>
            <a:prstGeom prst="rect">
              <a:avLst/>
            </a:prstGeom>
            <a:noFill/>
          </p:spPr>
          <p:txBody>
            <a:bodyPr wrap="square">
              <a:spAutoFit/>
            </a:bodyPr>
            <a:lstStyle/>
            <a:p>
              <a:pPr>
                <a:lnSpc>
                  <a:spcPct val="120000"/>
                </a:lnSpc>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是很常用的滚动类容器组件之一，列表包含一系列相同宽度的列表项，适合连续、多行呈现同类数据。</a:t>
              </a:r>
            </a:p>
          </p:txBody>
        </p:sp>
        <p:grpSp>
          <p:nvGrpSpPr>
            <p:cNvPr id="8" name="组合 7"/>
            <p:cNvGrpSpPr/>
            <p:nvPr/>
          </p:nvGrpSpPr>
          <p:grpSpPr>
            <a:xfrm>
              <a:off x="298173" y="1820298"/>
              <a:ext cx="7778524" cy="1426175"/>
              <a:chOff x="927182" y="1385836"/>
              <a:chExt cx="7554942" cy="1514724"/>
            </a:xfrm>
          </p:grpSpPr>
          <p:sp>
            <p:nvSpPr>
              <p:cNvPr id="9" name="圆角矩形 3"/>
              <p:cNvSpPr/>
              <p:nvPr/>
            </p:nvSpPr>
            <p:spPr>
              <a:xfrm>
                <a:off x="927182" y="1446783"/>
                <a:ext cx="2069289" cy="376334"/>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0" name="圆角矩形 54"/>
              <p:cNvSpPr/>
              <p:nvPr/>
            </p:nvSpPr>
            <p:spPr>
              <a:xfrm>
                <a:off x="987278" y="1630053"/>
                <a:ext cx="7494846" cy="127050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1" name="Text2"/>
              <p:cNvSpPr txBox="1"/>
              <p:nvPr/>
            </p:nvSpPr>
            <p:spPr>
              <a:xfrm>
                <a:off x="1034791" y="1385836"/>
                <a:ext cx="2414998"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特点</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14"/>
                                        </p:tgtEl>
                                        <p:attrNameLst>
                                          <p:attrName>style.visibility</p:attrName>
                                        </p:attrNameLst>
                                      </p:cBhvr>
                                      <p:to>
                                        <p:strVal val="visible"/>
                                      </p:to>
                                    </p:set>
                                    <p:animEffect transition="in" filter="wedge">
                                      <p:cBhvr>
                                        <p:cTn id="12" dur="1000"/>
                                        <p:tgtEl>
                                          <p:spTgt spid="1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4"/>
                                        </p:tgtEl>
                                        <p:attrNameLst>
                                          <p:attrName>style.visibility</p:attrName>
                                        </p:attrNameLst>
                                      </p:cBhvr>
                                      <p:to>
                                        <p:strVal val="visible"/>
                                      </p:to>
                                    </p:set>
                                    <p:animEffect transition="in" filter="wedg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5"/>
            <a:ext cx="8625385"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List</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的子组件</a:t>
            </a:r>
            <a:endParaRPr lang="zh-CN" altLang="en-US" sz="4265" b="1">
              <a:solidFill>
                <a:srgbClr val="FF0000"/>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2" name="圆角矩形 55"/>
          <p:cNvSpPr/>
          <p:nvPr>
            <p:custDataLst>
              <p:tags r:id="rId1"/>
            </p:custDataLst>
          </p:nvPr>
        </p:nvSpPr>
        <p:spPr>
          <a:xfrm>
            <a:off x="399720" y="1082527"/>
            <a:ext cx="11068742" cy="116844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8" name="组合 7"/>
          <p:cNvGrpSpPr/>
          <p:nvPr/>
        </p:nvGrpSpPr>
        <p:grpSpPr>
          <a:xfrm>
            <a:off x="397499" y="2529242"/>
            <a:ext cx="11776076" cy="4763135"/>
            <a:chOff x="741408" y="936165"/>
            <a:chExt cx="8579534" cy="3794744"/>
          </a:xfrm>
        </p:grpSpPr>
        <p:sp>
          <p:nvSpPr>
            <p:cNvPr id="9" name="文本框 8"/>
            <p:cNvSpPr txBox="1"/>
            <p:nvPr/>
          </p:nvSpPr>
          <p:spPr>
            <a:xfrm>
              <a:off x="741408" y="1364661"/>
              <a:ext cx="8579534" cy="3366248"/>
            </a:xfrm>
            <a:prstGeom prst="rect">
              <a:avLst/>
            </a:prstGeom>
            <a:noFill/>
          </p:spPr>
          <p:txBody>
            <a:bodyPr wrap="square" lIns="91397" tIns="45699" rIns="91397" bIns="45699" rtlCol="0">
              <a:spAutoFit/>
            </a:bodyPr>
            <a:lstStyle/>
            <a:p>
              <a:pPr marL="408940" marR="63500">
                <a:lnSpc>
                  <a:spcPct val="120000"/>
                </a:lnSpc>
                <a:spcBef>
                  <a:spcPct val="0"/>
                </a:spcBef>
                <a:spcAft>
                  <a:spcPct val="0"/>
                </a:spcAft>
                <a:tabLst>
                  <a:tab pos="180340" algn="l"/>
                  <a:tab pos="408940" algn="l"/>
                </a:tabLst>
              </a:pPr>
              <a:r>
                <a:rPr lang="en-US" altLang="zh-CN">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ForEach</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a:solidFill>
                    <a:srgbClr val="11408E"/>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数据存放的数组或集合</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数组或集合</a:t>
              </a:r>
              <a:r>
                <a:rPr lang="zh-CN" altLang="en-US">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中成员的类型</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ListItem</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a:t>
              </a:r>
              <a:r>
                <a:rPr lang="zh-CN" altLang="zh-CN"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的子组件</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 ListItem</a:t>
              </a:r>
              <a:r>
                <a:rPr lang="zh-CN" altLang="zh-CN"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布局</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lvl="0" algn="just">
                <a:lnSpc>
                  <a:spcPct val="120000"/>
                </a:lnSpc>
                <a:spcBef>
                  <a:spcPct val="0"/>
                </a:spcBef>
                <a:spcAft>
                  <a:spcPct val="0"/>
                </a:spcAft>
                <a:buClr>
                  <a:srgbClr val="292929"/>
                </a:buClr>
                <a:buSzTx/>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0" name="组合 9"/>
            <p:cNvGrpSpPr/>
            <p:nvPr/>
          </p:nvGrpSpPr>
          <p:grpSpPr>
            <a:xfrm>
              <a:off x="741409" y="936165"/>
              <a:ext cx="8065819" cy="3242056"/>
              <a:chOff x="927181" y="1338069"/>
              <a:chExt cx="8065819" cy="3242056"/>
            </a:xfrm>
          </p:grpSpPr>
          <p:sp>
            <p:nvSpPr>
              <p:cNvPr id="11" name="圆角矩形 3"/>
              <p:cNvSpPr/>
              <p:nvPr/>
            </p:nvSpPr>
            <p:spPr>
              <a:xfrm>
                <a:off x="927182" y="1407828"/>
                <a:ext cx="2094291" cy="319374"/>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2" name="圆角矩形 54"/>
              <p:cNvSpPr/>
              <p:nvPr/>
            </p:nvSpPr>
            <p:spPr>
              <a:xfrm>
                <a:off x="927181" y="1562525"/>
                <a:ext cx="8065819" cy="301760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Text2"/>
              <p:cNvSpPr txBox="1"/>
              <p:nvPr/>
            </p:nvSpPr>
            <p:spPr>
              <a:xfrm>
                <a:off x="1113160" y="1338069"/>
                <a:ext cx="2568540" cy="398648"/>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28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语法</a:t>
                </a:r>
                <a:endParaRPr lang="en-US" altLang="zh-CN" sz="28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5" name="组合 14"/>
          <p:cNvGrpSpPr/>
          <p:nvPr/>
        </p:nvGrpSpPr>
        <p:grpSpPr>
          <a:xfrm>
            <a:off x="397499" y="802783"/>
            <a:ext cx="11285855" cy="1334134"/>
            <a:chOff x="298171" y="601303"/>
            <a:chExt cx="8465714" cy="1000757"/>
          </a:xfrm>
        </p:grpSpPr>
        <p:sp>
          <p:nvSpPr>
            <p:cNvPr id="5" name="圆角矩形 3"/>
            <p:cNvSpPr/>
            <p:nvPr/>
          </p:nvSpPr>
          <p:spPr>
            <a:xfrm>
              <a:off x="298171" y="631110"/>
              <a:ext cx="2068557" cy="309948"/>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 name="文本框 5"/>
            <p:cNvSpPr txBox="1"/>
            <p:nvPr/>
          </p:nvSpPr>
          <p:spPr>
            <a:xfrm>
              <a:off x="410107" y="940922"/>
              <a:ext cx="8353778" cy="661138"/>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使用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时，通常将</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要展示的数据放在数组中，</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的子组件必须是</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ListItem</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，它的宽度默认充满</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的宽度，通常配合</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ForEach</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循环从数组中取出数据渲染</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ListItem</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子组件。</a:t>
              </a:r>
            </a:p>
          </p:txBody>
        </p:sp>
        <p:sp>
          <p:nvSpPr>
            <p:cNvPr id="4" name="Text2"/>
            <p:cNvSpPr txBox="1"/>
            <p:nvPr/>
          </p:nvSpPr>
          <p:spPr>
            <a:xfrm>
              <a:off x="525490" y="601303"/>
              <a:ext cx="919132" cy="375170"/>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28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说明</a:t>
              </a:r>
              <a:endParaRPr lang="en-US" altLang="zh-CN" sz="28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grpId="0" nodeType="after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8"/>
                                        </p:tgtEl>
                                        <p:attrNameLst>
                                          <p:attrName>style.visibility</p:attrName>
                                        </p:attrNameLst>
                                      </p:cBhvr>
                                      <p:to>
                                        <p:strVal val="visible"/>
                                      </p:to>
                                    </p:set>
                                    <p:animEffect transition="in" filter="wedg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85667" y="122171"/>
            <a:ext cx="8625385"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List</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的属性</a:t>
            </a:r>
          </a:p>
        </p:txBody>
      </p:sp>
      <p:grpSp>
        <p:nvGrpSpPr>
          <p:cNvPr id="8" name="组合 7"/>
          <p:cNvGrpSpPr/>
          <p:nvPr/>
        </p:nvGrpSpPr>
        <p:grpSpPr>
          <a:xfrm>
            <a:off x="417393" y="2331351"/>
            <a:ext cx="11190330" cy="4090054"/>
            <a:chOff x="741409" y="1005923"/>
            <a:chExt cx="8152786" cy="3258505"/>
          </a:xfrm>
        </p:grpSpPr>
        <p:sp>
          <p:nvSpPr>
            <p:cNvPr id="9" name="文本框 8"/>
            <p:cNvSpPr txBox="1"/>
            <p:nvPr/>
          </p:nvSpPr>
          <p:spPr>
            <a:xfrm>
              <a:off x="881526" y="1472756"/>
              <a:ext cx="8012669" cy="2589187"/>
            </a:xfrm>
            <a:prstGeom prst="rect">
              <a:avLst/>
            </a:prstGeom>
            <a:noFill/>
          </p:spPr>
          <p:txBody>
            <a:bodyPr wrap="square" lIns="91397" tIns="45699" rIns="91397" bIns="45699" rtlCol="0">
              <a:spAutoFit/>
            </a:bodyPr>
            <a:lstStyle/>
            <a:p>
              <a:pPr marL="408940" marR="63500">
                <a:lnSpc>
                  <a:spcPct val="120000"/>
                </a:lnSpc>
                <a:tabLst>
                  <a:tab pos="180340" algn="l"/>
                  <a:tab pos="408940" algn="l"/>
                </a:tabLst>
              </a:pP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ListItem</a:t>
              </a:r>
              <a:r>
                <a:rPr lang="zh-CN" altLang="zh-CN" sz="2135">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子组件</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listDirection</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Axis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Vertical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设置子组件竖直方向排列</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edgeEffect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EdgeEffect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Spring</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滑动到边缘时的弹性物理动效</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divider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strokeWidth</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设置分割线宽度</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color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Color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Green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设置分割线颜色</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0" name="组合 9"/>
            <p:cNvGrpSpPr/>
            <p:nvPr/>
          </p:nvGrpSpPr>
          <p:grpSpPr>
            <a:xfrm>
              <a:off x="741409" y="1005923"/>
              <a:ext cx="8012670" cy="3258505"/>
              <a:chOff x="927181" y="1407827"/>
              <a:chExt cx="8012670" cy="3258505"/>
            </a:xfrm>
          </p:grpSpPr>
          <p:sp>
            <p:nvSpPr>
              <p:cNvPr id="11" name="圆角矩形 3"/>
              <p:cNvSpPr/>
              <p:nvPr/>
            </p:nvSpPr>
            <p:spPr>
              <a:xfrm>
                <a:off x="927182" y="1407827"/>
                <a:ext cx="265276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2" name="圆角矩形 54"/>
              <p:cNvSpPr/>
              <p:nvPr/>
            </p:nvSpPr>
            <p:spPr>
              <a:xfrm>
                <a:off x="927181" y="1562526"/>
                <a:ext cx="8012670" cy="310380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Text2"/>
              <p:cNvSpPr txBox="1"/>
              <p:nvPr/>
            </p:nvSpPr>
            <p:spPr>
              <a:xfrm>
                <a:off x="1192315" y="1424654"/>
                <a:ext cx="2414998"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常用属性</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5" name="组合 14"/>
          <p:cNvGrpSpPr/>
          <p:nvPr/>
        </p:nvGrpSpPr>
        <p:grpSpPr>
          <a:xfrm>
            <a:off x="417393" y="765494"/>
            <a:ext cx="10999470" cy="1254091"/>
            <a:chOff x="153909" y="1820298"/>
            <a:chExt cx="8250892" cy="940715"/>
          </a:xfrm>
        </p:grpSpPr>
        <p:sp>
          <p:nvSpPr>
            <p:cNvPr id="16" name="文本框 15"/>
            <p:cNvSpPr txBox="1"/>
            <p:nvPr/>
          </p:nvSpPr>
          <p:spPr>
            <a:xfrm>
              <a:off x="426843" y="2235653"/>
              <a:ext cx="7977958" cy="364865"/>
            </a:xfrm>
            <a:prstGeom prst="rect">
              <a:avLst/>
            </a:prstGeom>
            <a:noFill/>
          </p:spPr>
          <p:txBody>
            <a:bodyPr wrap="square">
              <a:spAutoFit/>
            </a:bodyPr>
            <a:lstStyle/>
            <a:p>
              <a:pPr>
                <a:lnSpc>
                  <a:spcPct val="120000"/>
                </a:lnSpc>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List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列表组件按照水平或者竖直方向线性排列子组件，常用的属性有方向、分割线等。</a:t>
              </a:r>
            </a:p>
          </p:txBody>
        </p:sp>
        <p:grpSp>
          <p:nvGrpSpPr>
            <p:cNvPr id="17" name="组合 16"/>
            <p:cNvGrpSpPr/>
            <p:nvPr/>
          </p:nvGrpSpPr>
          <p:grpSpPr>
            <a:xfrm>
              <a:off x="153909" y="1820298"/>
              <a:ext cx="8244832" cy="940715"/>
              <a:chOff x="787065" y="1385836"/>
              <a:chExt cx="8007846" cy="999122"/>
            </a:xfrm>
          </p:grpSpPr>
          <p:sp>
            <p:nvSpPr>
              <p:cNvPr id="18" name="圆角矩形 3"/>
              <p:cNvSpPr/>
              <p:nvPr/>
            </p:nvSpPr>
            <p:spPr>
              <a:xfrm>
                <a:off x="927182" y="1446783"/>
                <a:ext cx="2069289" cy="376334"/>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9" name="圆角矩形 54"/>
              <p:cNvSpPr/>
              <p:nvPr/>
            </p:nvSpPr>
            <p:spPr>
              <a:xfrm>
                <a:off x="787065" y="1630052"/>
                <a:ext cx="8007846" cy="75490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0" name="Text2"/>
              <p:cNvSpPr txBox="1"/>
              <p:nvPr/>
            </p:nvSpPr>
            <p:spPr>
              <a:xfrm>
                <a:off x="1034791" y="1385836"/>
                <a:ext cx="2414998"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说明</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8"/>
                                        </p:tgtEl>
                                        <p:attrNameLst>
                                          <p:attrName>style.visibility</p:attrName>
                                        </p:attrNameLst>
                                      </p:cBhvr>
                                      <p:to>
                                        <p:strVal val="visible"/>
                                      </p:to>
                                    </p:set>
                                    <p:animEffect transition="in" filter="wedge">
                                      <p:cBhvr>
                                        <p:cTn id="12" dur="1000"/>
                                        <p:tgtEl>
                                          <p:spTgt spid="8"/>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15"/>
                                        </p:tgtEl>
                                        <p:attrNameLst>
                                          <p:attrName>style.visibility</p:attrName>
                                        </p:attrNameLst>
                                      </p:cBhvr>
                                      <p:to>
                                        <p:strVal val="visible"/>
                                      </p:to>
                                    </p:set>
                                    <p:animEffect transition="in" filter="wedge">
                                      <p:cBhvr>
                                        <p:cTn id="16"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5"/>
            <a:ext cx="8625385"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List</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的事件</a:t>
            </a:r>
          </a:p>
        </p:txBody>
      </p:sp>
      <p:grpSp>
        <p:nvGrpSpPr>
          <p:cNvPr id="8" name="组合 7"/>
          <p:cNvGrpSpPr/>
          <p:nvPr/>
        </p:nvGrpSpPr>
        <p:grpSpPr>
          <a:xfrm>
            <a:off x="558897" y="1505624"/>
            <a:ext cx="11072300" cy="3608231"/>
            <a:chOff x="741409" y="1005923"/>
            <a:chExt cx="8066795" cy="2874642"/>
          </a:xfrm>
        </p:grpSpPr>
        <p:sp>
          <p:nvSpPr>
            <p:cNvPr id="9" name="文本框 8"/>
            <p:cNvSpPr txBox="1"/>
            <p:nvPr/>
          </p:nvSpPr>
          <p:spPr>
            <a:xfrm>
              <a:off x="795535" y="1729486"/>
              <a:ext cx="8012669" cy="2151079"/>
            </a:xfrm>
            <a:prstGeom prst="rect">
              <a:avLst/>
            </a:prstGeom>
            <a:noFill/>
          </p:spPr>
          <p:txBody>
            <a:bodyPr wrap="square" lIns="91397" tIns="45699" rIns="91397" bIns="45699" rtlCol="0">
              <a:spAutoFit/>
            </a:bodyPr>
            <a:lstStyle/>
            <a:p>
              <a:pPr marL="408940" marR="63500">
                <a:lnSpc>
                  <a:spcPct val="120000"/>
                </a:lnSpc>
                <a:spcBef>
                  <a:spcPct val="0"/>
                </a:spcBef>
                <a:spcAft>
                  <a:spcPct val="0"/>
                </a:spcAft>
                <a:tabLst>
                  <a:tab pos="180340" algn="l"/>
                  <a:tab pos="408940" algn="l"/>
                </a:tabLst>
              </a:pPr>
              <a:r>
                <a:rPr lang="en-US" altLang="zh-CN"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declare class </a:t>
              </a:r>
              <a:r>
                <a:rPr lang="en-US"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ListAttribute</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&lt;</a:t>
              </a:r>
              <a:r>
                <a:rPr lang="en-US" altLang="zh-CN">
                  <a:solidFill>
                    <a:srgbClr val="20999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extends </a:t>
              </a:r>
              <a:r>
                <a:rPr lang="en-US"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CommonMethod</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&lt;</a:t>
              </a:r>
              <a:r>
                <a:rPr lang="en-US" altLang="zh-CN">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onReachStart</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event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滚动到顶部触发</a:t>
              </a:r>
              <a:r>
                <a:rPr lang="zh-CN" altLang="zh-CN"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onReachEnd</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event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a:t>
              </a:r>
              <a:r>
                <a:rPr lang="en-US" altLang="zh-CN">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滚动到底部触发</a:t>
              </a:r>
              <a:r>
                <a:rPr lang="zh-CN" altLang="zh-CN"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endParaRPr lang="zh-CN" altLang="en-US" sz="2135">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0" name="组合 9"/>
            <p:cNvGrpSpPr/>
            <p:nvPr/>
          </p:nvGrpSpPr>
          <p:grpSpPr>
            <a:xfrm>
              <a:off x="741409" y="1005923"/>
              <a:ext cx="8066795" cy="2706064"/>
              <a:chOff x="927181" y="1407827"/>
              <a:chExt cx="8066795" cy="2706064"/>
            </a:xfrm>
          </p:grpSpPr>
          <p:sp>
            <p:nvSpPr>
              <p:cNvPr id="11" name="圆角矩形 3"/>
              <p:cNvSpPr/>
              <p:nvPr/>
            </p:nvSpPr>
            <p:spPr>
              <a:xfrm>
                <a:off x="927182" y="1407827"/>
                <a:ext cx="265276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2" name="圆角矩形 54"/>
              <p:cNvSpPr/>
              <p:nvPr/>
            </p:nvSpPr>
            <p:spPr>
              <a:xfrm>
                <a:off x="927181" y="1562525"/>
                <a:ext cx="8066795" cy="255136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Text2"/>
              <p:cNvSpPr txBox="1"/>
              <p:nvPr/>
            </p:nvSpPr>
            <p:spPr>
              <a:xfrm>
                <a:off x="1192315" y="1424654"/>
                <a:ext cx="2414998"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常用事件</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8"/>
                                        </p:tgtEl>
                                        <p:attrNameLst>
                                          <p:attrName>style.visibility</p:attrName>
                                        </p:attrNameLst>
                                      </p:cBhvr>
                                      <p:to>
                                        <p:strVal val="visible"/>
                                      </p:to>
                                    </p:set>
                                    <p:animEffect transition="in" filter="wedge">
                                      <p:cBhvr>
                                        <p:cTn id="1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使用</a:t>
            </a:r>
            <a:r>
              <a:rPr lang="en-US" altLang="zh-CN"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List</a:t>
            </a: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展示列表数据</a:t>
            </a:r>
          </a:p>
        </p:txBody>
      </p:sp>
      <p:grpSp>
        <p:nvGrpSpPr>
          <p:cNvPr id="4" name="组合 3"/>
          <p:cNvGrpSpPr/>
          <p:nvPr/>
        </p:nvGrpSpPr>
        <p:grpSpPr>
          <a:xfrm>
            <a:off x="701216" y="931487"/>
            <a:ext cx="9771380" cy="1150935"/>
            <a:chOff x="662969" y="980223"/>
            <a:chExt cx="7276692" cy="889185"/>
          </a:xfrm>
        </p:grpSpPr>
        <p:sp>
          <p:nvSpPr>
            <p:cNvPr id="5" name="文本框 4"/>
            <p:cNvSpPr txBox="1"/>
            <p:nvPr/>
          </p:nvSpPr>
          <p:spPr>
            <a:xfrm>
              <a:off x="662969" y="1422732"/>
              <a:ext cx="7276692" cy="374808"/>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TestList.ets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页面中编写代码，实现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List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列表数据展示和列表项的删除效果。</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80223"/>
              <a:ext cx="7120254" cy="889185"/>
              <a:chOff x="899812" y="1382127"/>
              <a:chExt cx="7120254" cy="889185"/>
            </a:xfrm>
          </p:grpSpPr>
          <p:sp>
            <p:nvSpPr>
              <p:cNvPr id="7" name="圆角矩形 3"/>
              <p:cNvSpPr/>
              <p:nvPr/>
            </p:nvSpPr>
            <p:spPr>
              <a:xfrm>
                <a:off x="899814" y="1436469"/>
                <a:ext cx="1832379" cy="315095"/>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89"/>
                <a:ext cx="7120254" cy="62412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82127"/>
                <a:ext cx="1530361"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要求</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8451431" y="3844240"/>
            <a:ext cx="2134874" cy="2193794"/>
            <a:chOff x="2335381" y="2441954"/>
            <a:chExt cx="2441552" cy="2701546"/>
          </a:xfrm>
        </p:grpSpPr>
        <p:pic>
          <p:nvPicPr>
            <p:cNvPr id="13" name="图片 12"/>
            <p:cNvPicPr>
              <a:picLocks noChangeAspect="1"/>
            </p:cNvPicPr>
            <p:nvPr/>
          </p:nvPicPr>
          <p:blipFill>
            <a:blip r:embed="rId3"/>
            <a:stretch>
              <a:fillRect/>
            </a:stretch>
          </p:blipFill>
          <p:spPr>
            <a:xfrm>
              <a:off x="2859579" y="3421010"/>
              <a:ext cx="1917354" cy="1722490"/>
            </a:xfrm>
            <a:prstGeom prst="rect">
              <a:avLst/>
            </a:prstGeom>
          </p:spPr>
        </p:pic>
        <p:sp>
          <p:nvSpPr>
            <p:cNvPr id="14" name="ïsḷîde"/>
            <p:cNvSpPr/>
            <p:nvPr/>
          </p:nvSpPr>
          <p:spPr>
            <a:xfrm>
              <a:off x="2335381" y="2441954"/>
              <a:ext cx="2441552" cy="691607"/>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00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2" name="图片 1"/>
          <p:cNvPicPr>
            <a:picLocks noChangeAspect="1"/>
          </p:cNvPicPr>
          <p:nvPr/>
        </p:nvPicPr>
        <p:blipFill>
          <a:blip r:embed="rId4"/>
          <a:stretch>
            <a:fillRect/>
          </a:stretch>
        </p:blipFill>
        <p:spPr>
          <a:xfrm>
            <a:off x="911238" y="2499319"/>
            <a:ext cx="6467523" cy="342846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2"/>
                                        </p:tgtEl>
                                        <p:attrNameLst>
                                          <p:attrName>style.visibility</p:attrName>
                                        </p:attrNameLst>
                                      </p:cBhvr>
                                      <p:to>
                                        <p:strVal val="visible"/>
                                      </p:to>
                                    </p:set>
                                    <p:animEffect transition="in" filter="wedg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wedge">
                                      <p:cBhvr>
                                        <p:cTn id="2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滑块视图容器组件</a:t>
            </a: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Swiper</a:t>
            </a:r>
          </a:p>
        </p:txBody>
      </p:sp>
      <p:grpSp>
        <p:nvGrpSpPr>
          <p:cNvPr id="12" name="组合 11"/>
          <p:cNvGrpSpPr/>
          <p:nvPr/>
        </p:nvGrpSpPr>
        <p:grpSpPr>
          <a:xfrm>
            <a:off x="479550" y="982896"/>
            <a:ext cx="10918179" cy="1517924"/>
            <a:chOff x="361420" y="710838"/>
            <a:chExt cx="7845704" cy="1138621"/>
          </a:xfrm>
        </p:grpSpPr>
        <p:sp>
          <p:nvSpPr>
            <p:cNvPr id="6" name="文本框 5"/>
            <p:cNvSpPr txBox="1"/>
            <p:nvPr/>
          </p:nvSpPr>
          <p:spPr>
            <a:xfrm>
              <a:off x="512119" y="769606"/>
              <a:ext cx="7446548" cy="957412"/>
            </a:xfrm>
            <a:prstGeom prst="rect">
              <a:avLst/>
            </a:prstGeom>
            <a:noFill/>
          </p:spPr>
          <p:txBody>
            <a:bodyPr wrap="square">
              <a:spAutoFit/>
            </a:bodyPr>
            <a:lstStyle/>
            <a:p>
              <a:pPr>
                <a:lnSpc>
                  <a:spcPct val="120000"/>
                </a:lnSpc>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Swiper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是滑块视图容器，提供子组件滑动轮播显示的能力，</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Swiper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包含的每一个子组件就表示一个页面，</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Swiper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可以绑定一个</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SwiperController</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控制器，用来控制上一页或者下一页的翻页</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并在事件的处理方法中进行翻页控制。</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3"/>
              </p:custDataLst>
            </p:nvPr>
          </p:nvSpPr>
          <p:spPr>
            <a:xfrm>
              <a:off x="361420" y="710838"/>
              <a:ext cx="7845704" cy="1138621"/>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357659" y="2675338"/>
            <a:ext cx="10826457" cy="4014909"/>
            <a:chOff x="361419" y="3487905"/>
            <a:chExt cx="8121112" cy="3011652"/>
          </a:xfrm>
        </p:grpSpPr>
        <p:sp>
          <p:nvSpPr>
            <p:cNvPr id="8" name="圆角矩形 55"/>
            <p:cNvSpPr/>
            <p:nvPr>
              <p:custDataLst>
                <p:tags r:id="rId2"/>
              </p:custDataLst>
            </p:nvPr>
          </p:nvSpPr>
          <p:spPr>
            <a:xfrm>
              <a:off x="361419" y="3487905"/>
              <a:ext cx="8121112" cy="3011652"/>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452852" y="3639873"/>
              <a:ext cx="7912214" cy="2735055"/>
            </a:xfrm>
            <a:prstGeom prst="rect">
              <a:avLst/>
            </a:prstGeom>
            <a:noFill/>
          </p:spPr>
          <p:txBody>
            <a:bodyPr wrap="square">
              <a:spAutoFit/>
            </a:bodyPr>
            <a:lstStyle/>
            <a:p>
              <a:pPr marL="408940" marR="63500">
                <a:lnSpc>
                  <a:spcPct val="120000"/>
                </a:lnSpc>
                <a:tabLst>
                  <a:tab pos="180340" algn="l"/>
                  <a:tab pos="408940" algn="l"/>
                </a:tabLst>
              </a:pP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private </a:t>
              </a:r>
              <a:r>
                <a:rPr lang="en-US" altLang="zh-CN" sz="2135">
                  <a:solidFill>
                    <a:srgbClr val="DE7C27"/>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swiperController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SwiperController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new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SwiperController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swiperController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子</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组件</a:t>
              </a:r>
              <a:r>
                <a:rPr lang="en-US"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1</a:t>
              </a:r>
              <a:endPar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子</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组件</a:t>
              </a:r>
              <a:r>
                <a:rPr lang="en-US"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2</a:t>
              </a:r>
              <a:endPar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子</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组件</a:t>
              </a:r>
              <a:r>
                <a:rPr lang="en-US"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3</a:t>
              </a:r>
              <a:endPar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en-US"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控制翻页</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swiperController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showNext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下一页</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swiperController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showPrevious</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上一页</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pic>
        <p:nvPicPr>
          <p:cNvPr id="7" name="图片 6" descr="537278f7a07fdbada666bdacf26f64b1"/>
          <p:cNvPicPr>
            <a:picLocks noChangeAspect="1"/>
          </p:cNvPicPr>
          <p:nvPr>
            <p:custDataLst>
              <p:tags r:id="rId1"/>
            </p:custDataLst>
          </p:nvPr>
        </p:nvPicPr>
        <p:blipFill>
          <a:blip r:embed="rId6"/>
          <a:stretch>
            <a:fillRect/>
          </a:stretch>
        </p:blipFill>
        <p:spPr>
          <a:xfrm>
            <a:off x="8846271" y="2500820"/>
            <a:ext cx="8202555" cy="5655661"/>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11"/>
                                        </p:tgtEl>
                                        <p:attrNameLst>
                                          <p:attrName>style.visibility</p:attrName>
                                        </p:attrNameLst>
                                      </p:cBhvr>
                                      <p:to>
                                        <p:strVal val="visible"/>
                                      </p:to>
                                    </p:set>
                                    <p:animEffect transition="in" filter="wedge">
                                      <p:cBhvr>
                                        <p:cTn id="15" dur="1000"/>
                                        <p:tgtEl>
                                          <p:spTgt spid="11"/>
                                        </p:tgtEl>
                                      </p:cBhvr>
                                    </p:animEffect>
                                  </p:childTnLst>
                                </p:cTn>
                              </p:par>
                              <p:par>
                                <p:cTn id="16" presetID="42"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1198662" y="1342859"/>
            <a:ext cx="10369152" cy="3785652"/>
          </a:xfrm>
          <a:prstGeom prst="rect">
            <a:avLst/>
          </a:prstGeom>
          <a:noFill/>
        </p:spPr>
        <p:txBody>
          <a:bodyPr wrap="square">
            <a:spAutoFit/>
          </a:bodyPr>
          <a:lstStyle/>
          <a:p>
            <a:r>
              <a:rPr lang="en-US" altLang="zh-CN" dirty="0"/>
              <a:t>1.Swiper</a:t>
            </a:r>
            <a:r>
              <a:rPr lang="zh-CN" altLang="en-US" dirty="0"/>
              <a:t>构造参数</a:t>
            </a:r>
          </a:p>
          <a:p>
            <a:pPr lvl="1"/>
            <a:r>
              <a:rPr lang="en-US" altLang="zh-CN" dirty="0"/>
              <a:t>controller:</a:t>
            </a:r>
            <a:r>
              <a:rPr lang="zh-CN" altLang="en-US" dirty="0"/>
              <a:t>给</a:t>
            </a:r>
            <a:r>
              <a:rPr lang="en-US" altLang="zh-CN" dirty="0"/>
              <a:t>Swiper</a:t>
            </a:r>
            <a:r>
              <a:rPr lang="zh-CN" altLang="en-US" dirty="0"/>
              <a:t>绑定一个控制器，用来控制页面翻页。</a:t>
            </a:r>
          </a:p>
          <a:p>
            <a:r>
              <a:rPr lang="en-US" altLang="zh-CN" dirty="0"/>
              <a:t>2.Swiper</a:t>
            </a:r>
            <a:r>
              <a:rPr lang="zh-CN" altLang="en-US" dirty="0"/>
              <a:t>属性</a:t>
            </a:r>
          </a:p>
          <a:p>
            <a:pPr lvl="1"/>
            <a:r>
              <a:rPr lang="en-US" altLang="zh-CN" dirty="0"/>
              <a:t>index:</a:t>
            </a:r>
            <a:r>
              <a:rPr lang="zh-CN" altLang="en-US" dirty="0"/>
              <a:t>设置当前在容器中显示的子组件的索引值，默认值为</a:t>
            </a:r>
            <a:r>
              <a:rPr lang="en-US" altLang="zh-CN" dirty="0"/>
              <a:t>0</a:t>
            </a:r>
            <a:r>
              <a:rPr lang="zh-CN" altLang="en-US" dirty="0"/>
              <a:t>。</a:t>
            </a:r>
          </a:p>
          <a:p>
            <a:pPr lvl="1"/>
            <a:r>
              <a:rPr lang="en-US" altLang="zh-CN" dirty="0" err="1"/>
              <a:t>autoPlay</a:t>
            </a:r>
            <a:r>
              <a:rPr lang="en-US" altLang="zh-CN" dirty="0"/>
              <a:t>:</a:t>
            </a:r>
            <a:r>
              <a:rPr lang="zh-CN" altLang="en-US" dirty="0"/>
              <a:t>子组件是否自动播放，自动播放状态下，导航点不可操作，默认为</a:t>
            </a:r>
            <a:r>
              <a:rPr lang="en-US" altLang="zh-CN" dirty="0"/>
              <a:t>false</a:t>
            </a:r>
            <a:r>
              <a:rPr lang="zh-CN" altLang="en-US" dirty="0"/>
              <a:t>。</a:t>
            </a:r>
          </a:p>
          <a:p>
            <a:pPr lvl="1"/>
            <a:r>
              <a:rPr lang="en-US" altLang="zh-CN" dirty="0"/>
              <a:t>interval:</a:t>
            </a:r>
            <a:r>
              <a:rPr lang="zh-CN" altLang="en-US" dirty="0"/>
              <a:t>使用自动播放时播放的时间间隔，单位为</a:t>
            </a:r>
            <a:r>
              <a:rPr lang="en-US" altLang="zh-CN" dirty="0" err="1"/>
              <a:t>ms</a:t>
            </a:r>
            <a:r>
              <a:rPr lang="en-US" altLang="zh-CN" dirty="0"/>
              <a:t>,</a:t>
            </a:r>
            <a:r>
              <a:rPr lang="zh-CN" altLang="en-US" dirty="0"/>
              <a:t>默认值为</a:t>
            </a:r>
            <a:r>
              <a:rPr lang="en-US" altLang="zh-CN" dirty="0"/>
              <a:t>3000</a:t>
            </a:r>
            <a:r>
              <a:rPr lang="zh-CN" altLang="en-US" dirty="0"/>
              <a:t>。</a:t>
            </a:r>
          </a:p>
          <a:p>
            <a:pPr lvl="1"/>
            <a:r>
              <a:rPr lang="en-US" altLang="zh-CN" dirty="0"/>
              <a:t>indicator:</a:t>
            </a:r>
            <a:r>
              <a:rPr lang="zh-CN" altLang="en-US" dirty="0"/>
              <a:t>是否启用导航点指示器，默认为</a:t>
            </a:r>
            <a:r>
              <a:rPr lang="en-US" altLang="zh-CN" dirty="0"/>
              <a:t>true</a:t>
            </a:r>
            <a:r>
              <a:rPr lang="zh-CN" altLang="en-US" dirty="0"/>
              <a:t>。</a:t>
            </a:r>
          </a:p>
          <a:p>
            <a:pPr lvl="1"/>
            <a:r>
              <a:rPr lang="en-US" altLang="zh-CN" dirty="0"/>
              <a:t>loop:</a:t>
            </a:r>
            <a:r>
              <a:rPr lang="zh-CN" altLang="en-US" dirty="0"/>
              <a:t>是否开启循环。设置为</a:t>
            </a:r>
            <a:r>
              <a:rPr lang="en-US" altLang="zh-CN" dirty="0"/>
              <a:t>true</a:t>
            </a:r>
            <a:r>
              <a:rPr lang="zh-CN" altLang="en-US" dirty="0"/>
              <a:t>时表示开启循环，在</a:t>
            </a:r>
            <a:r>
              <a:rPr lang="en-US" altLang="zh-CN" dirty="0" err="1"/>
              <a:t>LazyForEach</a:t>
            </a:r>
            <a:r>
              <a:rPr lang="zh-CN" altLang="en-US" dirty="0"/>
              <a:t>懒循环加载模式下，加载的组件数量建议大于</a:t>
            </a:r>
            <a:r>
              <a:rPr lang="en-US" altLang="zh-CN" dirty="0"/>
              <a:t>5</a:t>
            </a:r>
            <a:r>
              <a:rPr lang="zh-CN" altLang="en-US" dirty="0"/>
              <a:t>个。默认值为</a:t>
            </a:r>
            <a:r>
              <a:rPr lang="en-US" altLang="zh-CN" dirty="0"/>
              <a:t>true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270670" y="1193353"/>
            <a:ext cx="10081120" cy="4465325"/>
          </a:xfrm>
          <a:prstGeom prst="rect">
            <a:avLst/>
          </a:prstGeom>
          <a:noFill/>
        </p:spPr>
        <p:txBody>
          <a:bodyPr wrap="square">
            <a:spAutoFit/>
          </a:bodyPr>
          <a:lstStyle/>
          <a:p>
            <a:pPr>
              <a:lnSpc>
                <a:spcPct val="150000"/>
              </a:lnSpc>
            </a:pPr>
            <a:r>
              <a:rPr lang="en-US" altLang="zh-CN" dirty="0"/>
              <a:t>duration:</a:t>
            </a:r>
            <a:r>
              <a:rPr lang="zh-CN" altLang="en-US" dirty="0"/>
              <a:t>子组件切换的动画时长，单位为</a:t>
            </a:r>
            <a:r>
              <a:rPr lang="en-US" altLang="zh-CN" dirty="0" err="1"/>
              <a:t>ms</a:t>
            </a:r>
            <a:r>
              <a:rPr lang="en-US" altLang="zh-CN" dirty="0"/>
              <a:t>,</a:t>
            </a:r>
            <a:r>
              <a:rPr lang="zh-CN" altLang="en-US" dirty="0"/>
              <a:t>默认值</a:t>
            </a:r>
            <a:r>
              <a:rPr lang="en-US" altLang="zh-CN" dirty="0"/>
              <a:t>400</a:t>
            </a:r>
            <a:r>
              <a:rPr lang="zh-CN" altLang="en-US" dirty="0"/>
              <a:t>。</a:t>
            </a:r>
          </a:p>
          <a:p>
            <a:pPr>
              <a:lnSpc>
                <a:spcPct val="150000"/>
              </a:lnSpc>
            </a:pPr>
            <a:r>
              <a:rPr lang="en-US" altLang="zh-CN" dirty="0"/>
              <a:t>vertical:</a:t>
            </a:r>
            <a:r>
              <a:rPr lang="zh-CN" altLang="en-US" dirty="0"/>
              <a:t>是否纵向滑动，默认是</a:t>
            </a:r>
            <a:r>
              <a:rPr lang="en-US" altLang="zh-CN" dirty="0"/>
              <a:t>false</a:t>
            </a:r>
            <a:r>
              <a:rPr lang="zh-CN" altLang="en-US" dirty="0"/>
              <a:t>。</a:t>
            </a:r>
          </a:p>
          <a:p>
            <a:pPr>
              <a:lnSpc>
                <a:spcPct val="150000"/>
              </a:lnSpc>
            </a:pPr>
            <a:r>
              <a:rPr lang="en-US" altLang="zh-CN" dirty="0" err="1"/>
              <a:t>itemSpace</a:t>
            </a:r>
            <a:r>
              <a:rPr lang="en-US" altLang="zh-CN" dirty="0"/>
              <a:t>:</a:t>
            </a:r>
            <a:r>
              <a:rPr lang="zh-CN" altLang="en-US" dirty="0"/>
              <a:t>设置子组件与子组件之间间隙，默认值为</a:t>
            </a:r>
            <a:r>
              <a:rPr lang="en-US" altLang="zh-CN" dirty="0"/>
              <a:t>0</a:t>
            </a:r>
            <a:r>
              <a:rPr lang="zh-CN" altLang="en-US" dirty="0"/>
              <a:t>。</a:t>
            </a:r>
          </a:p>
          <a:p>
            <a:pPr>
              <a:lnSpc>
                <a:spcPct val="150000"/>
              </a:lnSpc>
            </a:pPr>
            <a:r>
              <a:rPr lang="en-US" altLang="zh-CN" dirty="0" err="1"/>
              <a:t>cachedCount</a:t>
            </a:r>
            <a:r>
              <a:rPr lang="en-US" altLang="zh-CN" dirty="0"/>
              <a:t>:</a:t>
            </a:r>
            <a:r>
              <a:rPr lang="zh-CN" altLang="en-US" dirty="0"/>
              <a:t>设置预加载子组件个数，默认值为</a:t>
            </a:r>
            <a:r>
              <a:rPr lang="en-US" altLang="zh-CN" dirty="0"/>
              <a:t>1</a:t>
            </a:r>
            <a:r>
              <a:rPr lang="zh-CN" altLang="en-US" dirty="0"/>
              <a:t>。</a:t>
            </a:r>
          </a:p>
          <a:p>
            <a:pPr>
              <a:lnSpc>
                <a:spcPct val="150000"/>
              </a:lnSpc>
            </a:pPr>
            <a:r>
              <a:rPr lang="en-US" altLang="zh-CN" dirty="0" err="1"/>
              <a:t>disableSwipe</a:t>
            </a:r>
            <a:r>
              <a:rPr lang="en-US" altLang="zh-CN" dirty="0"/>
              <a:t>:</a:t>
            </a:r>
            <a:r>
              <a:rPr lang="zh-CN" altLang="en-US" dirty="0"/>
              <a:t>禁用组件滑动切换功能。默认为</a:t>
            </a:r>
            <a:r>
              <a:rPr lang="en-US" altLang="zh-CN" dirty="0"/>
              <a:t>false</a:t>
            </a:r>
          </a:p>
          <a:p>
            <a:pPr>
              <a:lnSpc>
                <a:spcPct val="150000"/>
              </a:lnSpc>
            </a:pPr>
            <a:r>
              <a:rPr lang="en-US" altLang="zh-CN" dirty="0"/>
              <a:t>curve:</a:t>
            </a:r>
            <a:r>
              <a:rPr lang="zh-CN" altLang="en-US" dirty="0"/>
              <a:t>设置</a:t>
            </a:r>
            <a:r>
              <a:rPr lang="en-US" altLang="zh-CN" dirty="0"/>
              <a:t>Swiper</a:t>
            </a:r>
            <a:r>
              <a:rPr lang="zh-CN" altLang="en-US" dirty="0"/>
              <a:t>的动画曲线，默认为淡入淡出曲线，默认值为</a:t>
            </a:r>
            <a:r>
              <a:rPr lang="en-US" altLang="zh-CN" dirty="0" err="1"/>
              <a:t>Curve.Ease</a:t>
            </a:r>
            <a:r>
              <a:rPr lang="zh-CN" altLang="en-US" dirty="0"/>
              <a:t>。</a:t>
            </a:r>
          </a:p>
          <a:p>
            <a:pPr>
              <a:lnSpc>
                <a:spcPct val="150000"/>
              </a:lnSpc>
            </a:pPr>
            <a:r>
              <a:rPr lang="en-US" altLang="zh-CN" dirty="0" err="1"/>
              <a:t>displayCount</a:t>
            </a:r>
            <a:r>
              <a:rPr lang="en-US" altLang="zh-CN" dirty="0"/>
              <a:t>:</a:t>
            </a:r>
            <a:r>
              <a:rPr lang="zh-CN" altLang="en-US" dirty="0"/>
              <a:t>设置一页内元素显示个数，默认值为</a:t>
            </a:r>
            <a:r>
              <a:rPr lang="en-US" altLang="zh-CN" dirty="0"/>
              <a:t>1</a:t>
            </a:r>
          </a:p>
          <a:p>
            <a:pPr>
              <a:lnSpc>
                <a:spcPct val="150000"/>
              </a:lnSpc>
            </a:pPr>
            <a:r>
              <a:rPr lang="en-US" altLang="zh-CN" dirty="0" err="1"/>
              <a:t>effectMode</a:t>
            </a:r>
            <a:r>
              <a:rPr lang="en-US" altLang="zh-CN" dirty="0"/>
              <a:t>:</a:t>
            </a:r>
            <a:r>
              <a:rPr lang="zh-CN" altLang="en-US" dirty="0"/>
              <a:t>滑动效果，默认值为</a:t>
            </a:r>
            <a:r>
              <a:rPr lang="en-US" altLang="zh-CN" dirty="0" err="1"/>
              <a:t>EdgeEffect.Spring</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3"/>
          <a:stretch>
            <a:fillRect/>
          </a:stretch>
        </p:blipFill>
        <p:spPr>
          <a:xfrm>
            <a:off x="3503568" y="837413"/>
            <a:ext cx="7050042" cy="5854565"/>
          </a:xfrm>
          <a:prstGeom prst="rect">
            <a:avLst/>
          </a:prstGeom>
        </p:spPr>
      </p:pic>
      <p:sp>
        <p:nvSpPr>
          <p:cNvPr id="11" name="文本框 10"/>
          <p:cNvSpPr txBox="1"/>
          <p:nvPr/>
        </p:nvSpPr>
        <p:spPr>
          <a:xfrm>
            <a:off x="334645" y="1557655"/>
            <a:ext cx="2710180" cy="460375"/>
          </a:xfrm>
          <a:prstGeom prst="rect">
            <a:avLst/>
          </a:prstGeom>
          <a:noFill/>
        </p:spPr>
        <p:txBody>
          <a:bodyPr wrap="square">
            <a:spAutoFit/>
          </a:bodyPr>
          <a:lstStyle/>
          <a:p>
            <a:r>
              <a:rPr lang="en-US" altLang="zh-CN" dirty="0"/>
              <a:t>Curve </a:t>
            </a:r>
            <a:r>
              <a:rPr lang="zh-CN" altLang="en-US" dirty="0"/>
              <a:t>枚举说明</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88347" y="101300"/>
            <a:ext cx="6685314"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Swiper</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的属性</a:t>
            </a:r>
          </a:p>
        </p:txBody>
      </p:sp>
      <p:grpSp>
        <p:nvGrpSpPr>
          <p:cNvPr id="4" name="组合 3"/>
          <p:cNvGrpSpPr/>
          <p:nvPr/>
        </p:nvGrpSpPr>
        <p:grpSpPr>
          <a:xfrm>
            <a:off x="-1" y="780968"/>
            <a:ext cx="11753067" cy="5860873"/>
            <a:chOff x="413586" y="1337769"/>
            <a:chExt cx="8816178" cy="4396342"/>
          </a:xfrm>
        </p:grpSpPr>
        <p:sp>
          <p:nvSpPr>
            <p:cNvPr id="5" name="文本框 4"/>
            <p:cNvSpPr txBox="1"/>
            <p:nvPr/>
          </p:nvSpPr>
          <p:spPr>
            <a:xfrm>
              <a:off x="413586" y="1814914"/>
              <a:ext cx="8720667" cy="3919197"/>
            </a:xfrm>
            <a:prstGeom prst="rect">
              <a:avLst/>
            </a:prstGeom>
            <a:noFill/>
          </p:spPr>
          <p:txBody>
            <a:bodyPr wrap="square" lIns="91397" tIns="45699" rIns="91397" bIns="45699" rtlCol="0">
              <a:spAutoFit/>
            </a:bodyPr>
            <a:lstStyle/>
            <a:p>
              <a:pPr marL="408940" marR="63500">
                <a:lnSpc>
                  <a:spcPct val="120000"/>
                </a:lnSpc>
                <a:spcBef>
                  <a:spcPct val="0"/>
                </a:spcBef>
                <a:spcAft>
                  <a:spcPct val="0"/>
                </a:spcAft>
                <a:tabLst>
                  <a:tab pos="180340" algn="l"/>
                  <a:tab pos="408940" algn="l"/>
                </a:tabLst>
              </a:pP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子组件</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默认显示第几页，默认</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0</a:t>
              </a:r>
              <a:endPar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autoPlay</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true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是否自动播放，默认</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false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，当设置为自动播放时，导航点无法点击</a:t>
              </a: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interval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1000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设置自动播放时，播放的时间间隔，单位毫秒，默认</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3000</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indicator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true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是否显示导航点指示器，默认显示</a:t>
              </a: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loop</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true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kumimoji="0" lang="en-US"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kumimoji="0" lang="zh-CN" altLang="zh-CN" sz="2135" b="0" i="0" u="none" strike="noStrike" kern="1200" cap="none" spc="0" normalizeH="0" baseline="0" noProof="0">
                  <a:ln>
                    <a:noFill/>
                  </a:ln>
                  <a:solidFill>
                    <a:srgbClr val="5C5C5C"/>
                  </a:solidFill>
                  <a:effectLst/>
                  <a:uLnTx/>
                  <a:uFillTx/>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是否开启循环显示，默认开启</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duration</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100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页面切换的动画时长，单位为毫秒，默认是</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400</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vertical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false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是否竖直翻页，默认是</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false</a:t>
              </a:r>
              <a:endPar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itemSpace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设置子组件与子组件之间间隙，默认是</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0</a:t>
              </a:r>
              <a:endPar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页面切换时</a:t>
              </a:r>
              <a:r>
                <a:rPr lang="zh-CN" altLang="en-US"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的回调方法</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显示当前第几页</a:t>
              </a: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onChange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事件处理</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其他属性略</a:t>
              </a:r>
            </a:p>
            <a:p>
              <a:pPr lvl="0">
                <a:lnSpc>
                  <a:spcPct val="120000"/>
                </a:lnSpc>
                <a:spcBef>
                  <a:spcPct val="0"/>
                </a:spcBef>
                <a:spcAft>
                  <a:spcPct val="0"/>
                </a:spcAft>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7" name="组合 6"/>
            <p:cNvGrpSpPr/>
            <p:nvPr/>
          </p:nvGrpSpPr>
          <p:grpSpPr>
            <a:xfrm>
              <a:off x="643019" y="1337769"/>
              <a:ext cx="8586745" cy="4122735"/>
              <a:chOff x="828791" y="1739673"/>
              <a:chExt cx="8586745" cy="4122735"/>
            </a:xfrm>
          </p:grpSpPr>
          <p:sp>
            <p:nvSpPr>
              <p:cNvPr id="10" name="圆角矩形 3"/>
              <p:cNvSpPr/>
              <p:nvPr/>
            </p:nvSpPr>
            <p:spPr>
              <a:xfrm>
                <a:off x="927182" y="1759551"/>
                <a:ext cx="2227580" cy="331349"/>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圆角矩形 54"/>
              <p:cNvSpPr/>
              <p:nvPr/>
            </p:nvSpPr>
            <p:spPr>
              <a:xfrm>
                <a:off x="828791" y="1905347"/>
                <a:ext cx="8586745" cy="3957061"/>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Text2"/>
              <p:cNvSpPr txBox="1"/>
              <p:nvPr/>
            </p:nvSpPr>
            <p:spPr>
              <a:xfrm>
                <a:off x="1046063" y="1739673"/>
                <a:ext cx="1989817" cy="331349"/>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常用属性</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2" name="组合 1"/>
          <p:cNvGrpSpPr/>
          <p:nvPr/>
        </p:nvGrpSpPr>
        <p:grpSpPr>
          <a:xfrm>
            <a:off x="7271717" y="4976715"/>
            <a:ext cx="4354021" cy="1638092"/>
            <a:chOff x="1666520" y="3704690"/>
            <a:chExt cx="3266026" cy="1228761"/>
          </a:xfrm>
        </p:grpSpPr>
        <p:pic>
          <p:nvPicPr>
            <p:cNvPr id="26" name="图片 25"/>
            <p:cNvPicPr>
              <a:picLocks noChangeAspect="1"/>
            </p:cNvPicPr>
            <p:nvPr/>
          </p:nvPicPr>
          <p:blipFill>
            <a:blip r:embed="rId3"/>
            <a:stretch>
              <a:fillRect/>
            </a:stretch>
          </p:blipFill>
          <p:spPr>
            <a:xfrm>
              <a:off x="3564776" y="3704690"/>
              <a:ext cx="1367770" cy="1228761"/>
            </a:xfrm>
            <a:prstGeom prst="rect">
              <a:avLst/>
            </a:prstGeom>
          </p:spPr>
        </p:pic>
        <p:sp>
          <p:nvSpPr>
            <p:cNvPr id="27" name="ïsḷîde"/>
            <p:cNvSpPr/>
            <p:nvPr/>
          </p:nvSpPr>
          <p:spPr>
            <a:xfrm>
              <a:off x="1666520" y="3946330"/>
              <a:ext cx="1662355" cy="377933"/>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5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par>
                                <p:cTn id="8" presetID="20" presetClass="entr" presetSubtype="0" fill="hold" nodeType="withEffect">
                                  <p:stCondLst>
                                    <p:cond delay="0"/>
                                  </p:stCondLst>
                                  <p:childTnLst>
                                    <p:set>
                                      <p:cBhvr>
                                        <p:cTn id="9" dur="1000" fill="hold">
                                          <p:stCondLst>
                                            <p:cond delay="0"/>
                                          </p:stCondLst>
                                        </p:cTn>
                                        <p:tgtEl>
                                          <p:spTgt spid="4"/>
                                        </p:tgtEl>
                                        <p:attrNameLst>
                                          <p:attrName>style.visibility</p:attrName>
                                        </p:attrNameLst>
                                      </p:cBhvr>
                                      <p:to>
                                        <p:strVal val="visible"/>
                                      </p:to>
                                    </p:set>
                                    <p:animEffect transition="in" filter="wedg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270670" y="1125538"/>
            <a:ext cx="9001000" cy="5019323"/>
          </a:xfrm>
          <a:prstGeom prst="rect">
            <a:avLst/>
          </a:prstGeom>
          <a:noFill/>
        </p:spPr>
        <p:txBody>
          <a:bodyPr wrap="square">
            <a:spAutoFit/>
          </a:bodyPr>
          <a:lstStyle/>
          <a:p>
            <a:pPr>
              <a:lnSpc>
                <a:spcPct val="150000"/>
              </a:lnSpc>
            </a:pPr>
            <a:r>
              <a:rPr lang="en-US" altLang="zh-CN" dirty="0"/>
              <a:t>3.Swiper</a:t>
            </a:r>
            <a:r>
              <a:rPr lang="zh-CN" altLang="en-US" dirty="0"/>
              <a:t>事件</a:t>
            </a:r>
          </a:p>
          <a:p>
            <a:pPr lvl="1">
              <a:lnSpc>
                <a:spcPct val="150000"/>
              </a:lnSpc>
            </a:pPr>
            <a:r>
              <a:rPr lang="en-US" altLang="zh-CN" dirty="0" err="1"/>
              <a:t>onChange</a:t>
            </a:r>
            <a:r>
              <a:rPr lang="en-US" altLang="zh-CN" dirty="0"/>
              <a:t>:</a:t>
            </a:r>
            <a:r>
              <a:rPr lang="zh-CN" altLang="en-US" dirty="0"/>
              <a:t>当前显示的子组件索引变化时触发该事件，返回值为当前显示的子组件的索引值。</a:t>
            </a:r>
            <a:r>
              <a:rPr lang="en-US" altLang="zh-CN" dirty="0"/>
              <a:t>Index:</a:t>
            </a:r>
            <a:r>
              <a:rPr lang="zh-CN" altLang="en-US" dirty="0"/>
              <a:t>当前显示元素的索引。</a:t>
            </a:r>
          </a:p>
          <a:p>
            <a:pPr>
              <a:lnSpc>
                <a:spcPct val="150000"/>
              </a:lnSpc>
            </a:pPr>
            <a:r>
              <a:rPr lang="en-US" altLang="zh-CN" dirty="0"/>
              <a:t>4.SwiperController</a:t>
            </a:r>
            <a:r>
              <a:rPr lang="zh-CN" altLang="en-US" dirty="0"/>
              <a:t>控制器</a:t>
            </a:r>
          </a:p>
          <a:p>
            <a:pPr lvl="1">
              <a:lnSpc>
                <a:spcPct val="150000"/>
              </a:lnSpc>
            </a:pPr>
            <a:r>
              <a:rPr lang="en-US" altLang="zh-CN" dirty="0" err="1"/>
              <a:t>SwiperController</a:t>
            </a:r>
            <a:r>
              <a:rPr lang="zh-CN" altLang="en-US" dirty="0"/>
              <a:t>是</a:t>
            </a:r>
            <a:r>
              <a:rPr lang="en-US" altLang="zh-CN" dirty="0"/>
              <a:t>Swiper</a:t>
            </a:r>
            <a:r>
              <a:rPr lang="zh-CN" altLang="en-US" dirty="0"/>
              <a:t>的页面切换控制器，可以将此对象绑定至</a:t>
            </a:r>
            <a:r>
              <a:rPr lang="en-US" altLang="zh-CN" dirty="0"/>
              <a:t>Swiper</a:t>
            </a:r>
            <a:r>
              <a:rPr lang="zh-CN" altLang="en-US" dirty="0"/>
              <a:t>组件上，然后通过它控制翻页。提供方法如下。</a:t>
            </a:r>
          </a:p>
          <a:p>
            <a:pPr lvl="1">
              <a:lnSpc>
                <a:spcPct val="150000"/>
              </a:lnSpc>
            </a:pPr>
            <a:r>
              <a:rPr lang="en-US" altLang="zh-CN" dirty="0" err="1"/>
              <a:t>showNext</a:t>
            </a:r>
            <a:r>
              <a:rPr lang="zh-CN" altLang="en-US" dirty="0"/>
              <a:t>：翻至下一页。</a:t>
            </a:r>
          </a:p>
          <a:p>
            <a:pPr lvl="1">
              <a:lnSpc>
                <a:spcPct val="150000"/>
              </a:lnSpc>
            </a:pPr>
            <a:r>
              <a:rPr lang="en-US" altLang="zh-CN" dirty="0" err="1"/>
              <a:t>showPrevious</a:t>
            </a:r>
            <a:r>
              <a:rPr lang="zh-CN" altLang="en-US" dirty="0"/>
              <a:t>：翻至上一页。</a:t>
            </a:r>
          </a:p>
          <a:p>
            <a:pPr lvl="1">
              <a:lnSpc>
                <a:spcPct val="150000"/>
              </a:lnSpc>
            </a:pPr>
            <a:r>
              <a:rPr lang="en-US" altLang="zh-CN" dirty="0" err="1"/>
              <a:t>finishAnimation</a:t>
            </a:r>
            <a:r>
              <a:rPr lang="zh-CN" altLang="en-US" dirty="0"/>
              <a:t>：停止播放动画。</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3"/>
          <a:stretch>
            <a:fillRect/>
          </a:stretch>
        </p:blipFill>
        <p:spPr>
          <a:xfrm>
            <a:off x="7175574" y="1197417"/>
            <a:ext cx="3963862" cy="4790967"/>
          </a:xfrm>
          <a:prstGeom prst="rect">
            <a:avLst/>
          </a:prstGeom>
        </p:spPr>
      </p:pic>
      <p:pic>
        <p:nvPicPr>
          <p:cNvPr id="9" name="图片 8"/>
          <p:cNvPicPr>
            <a:picLocks noChangeAspect="1"/>
          </p:cNvPicPr>
          <p:nvPr/>
        </p:nvPicPr>
        <p:blipFill>
          <a:blip r:embed="rId4"/>
          <a:stretch>
            <a:fillRect/>
          </a:stretch>
        </p:blipFill>
        <p:spPr>
          <a:xfrm>
            <a:off x="766614" y="1569031"/>
            <a:ext cx="5441713" cy="433602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773930" y="2678496"/>
            <a:ext cx="11833745" cy="9772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 </a:t>
            </a:r>
            <a:r>
              <a:rPr lang="zh-CN" altLang="en-US"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使用</a:t>
            </a:r>
            <a:r>
              <a:rPr lang="en-US" altLang="zh-CN"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Swriper</a:t>
            </a:r>
            <a:r>
              <a:rPr lang="zh-CN" altLang="en-US"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实现轮播页面</a:t>
            </a:r>
            <a:endParaRPr lang="en-US" altLang="zh-CN" sz="4800" b="1" dirty="0">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9" name="Freeform 359"/>
          <p:cNvSpPr/>
          <p:nvPr/>
        </p:nvSpPr>
        <p:spPr>
          <a:xfrm>
            <a:off x="410220" y="3580974"/>
            <a:ext cx="1086104" cy="801668"/>
          </a:xfrm>
          <a:custGeom>
            <a:avLst/>
            <a:gdLst/>
            <a:ahLst/>
            <a:cxnLst>
              <a:cxn ang="0">
                <a:pos x="wd2" y="hd2"/>
              </a:cxn>
              <a:cxn ang="5400000">
                <a:pos x="wd2" y="hd2"/>
              </a:cxn>
              <a:cxn ang="10800000">
                <a:pos x="wd2" y="hd2"/>
              </a:cxn>
              <a:cxn ang="16200000">
                <a:pos x="wd2" y="hd2"/>
              </a:cxn>
            </a:cxnLst>
            <a:rect l="0" t="0" r="r" b="b"/>
            <a:pathLst>
              <a:path w="21600" h="21600" extrusionOk="0">
                <a:moveTo>
                  <a:pt x="15632" y="21600"/>
                </a:moveTo>
                <a:cubicBezTo>
                  <a:pt x="5258" y="21600"/>
                  <a:pt x="5258" y="21600"/>
                  <a:pt x="5258" y="21600"/>
                </a:cubicBezTo>
                <a:cubicBezTo>
                  <a:pt x="3837" y="21600"/>
                  <a:pt x="2558" y="20815"/>
                  <a:pt x="1563" y="19440"/>
                </a:cubicBezTo>
                <a:cubicBezTo>
                  <a:pt x="568" y="18065"/>
                  <a:pt x="0" y="16102"/>
                  <a:pt x="0" y="14138"/>
                </a:cubicBezTo>
                <a:cubicBezTo>
                  <a:pt x="0" y="11782"/>
                  <a:pt x="853" y="9425"/>
                  <a:pt x="2274" y="8051"/>
                </a:cubicBezTo>
                <a:cubicBezTo>
                  <a:pt x="2274" y="8051"/>
                  <a:pt x="2274" y="7855"/>
                  <a:pt x="2274" y="7855"/>
                </a:cubicBezTo>
                <a:cubicBezTo>
                  <a:pt x="2274" y="4713"/>
                  <a:pt x="4121" y="2356"/>
                  <a:pt x="6253" y="2356"/>
                </a:cubicBezTo>
                <a:cubicBezTo>
                  <a:pt x="6821" y="2356"/>
                  <a:pt x="7389" y="2356"/>
                  <a:pt x="7816" y="2749"/>
                </a:cubicBezTo>
                <a:cubicBezTo>
                  <a:pt x="8953" y="982"/>
                  <a:pt x="10658" y="0"/>
                  <a:pt x="12363" y="0"/>
                </a:cubicBezTo>
                <a:cubicBezTo>
                  <a:pt x="13784" y="0"/>
                  <a:pt x="15205" y="589"/>
                  <a:pt x="16342" y="1767"/>
                </a:cubicBezTo>
                <a:cubicBezTo>
                  <a:pt x="17195" y="2749"/>
                  <a:pt x="18047" y="4124"/>
                  <a:pt x="18474" y="5695"/>
                </a:cubicBezTo>
                <a:cubicBezTo>
                  <a:pt x="20321" y="7265"/>
                  <a:pt x="21600" y="10015"/>
                  <a:pt x="21600" y="13156"/>
                </a:cubicBezTo>
                <a:cubicBezTo>
                  <a:pt x="21600" y="15316"/>
                  <a:pt x="20889" y="17476"/>
                  <a:pt x="19895" y="19047"/>
                </a:cubicBezTo>
                <a:cubicBezTo>
                  <a:pt x="18758" y="20618"/>
                  <a:pt x="17195" y="21600"/>
                  <a:pt x="15632" y="21600"/>
                </a:cubicBez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0" name="组合 4563"/>
          <p:cNvGrpSpPr/>
          <p:nvPr/>
        </p:nvGrpSpPr>
        <p:grpSpPr>
          <a:xfrm>
            <a:off x="2135282" y="5204567"/>
            <a:ext cx="1077638" cy="778812"/>
            <a:chOff x="164400" y="439344"/>
            <a:chExt cx="1425746" cy="986402"/>
          </a:xfrm>
        </p:grpSpPr>
        <p:sp>
          <p:nvSpPr>
            <p:cNvPr id="11" name="Freeform 4387"/>
            <p:cNvSpPr/>
            <p:nvPr>
              <p:custDataLst>
                <p:tags r:id="rId31"/>
              </p:custDataLst>
            </p:nvPr>
          </p:nvSpPr>
          <p:spPr>
            <a:xfrm>
              <a:off x="493200" y="547054"/>
              <a:ext cx="1096946" cy="878692"/>
            </a:xfrm>
            <a:custGeom>
              <a:avLst/>
              <a:gdLst/>
              <a:ahLst/>
              <a:cxnLst>
                <a:cxn ang="0">
                  <a:pos x="wd2" y="hd2"/>
                </a:cxn>
                <a:cxn ang="5400000">
                  <a:pos x="wd2" y="hd2"/>
                </a:cxn>
                <a:cxn ang="10800000">
                  <a:pos x="wd2" y="hd2"/>
                </a:cxn>
                <a:cxn ang="16200000">
                  <a:pos x="wd2" y="hd2"/>
                </a:cxn>
              </a:cxnLst>
              <a:rect l="0" t="0" r="r" b="b"/>
              <a:pathLst>
                <a:path w="21600" h="21600" extrusionOk="0">
                  <a:moveTo>
                    <a:pt x="6480" y="0"/>
                  </a:moveTo>
                  <a:cubicBezTo>
                    <a:pt x="15120" y="0"/>
                    <a:pt x="15120" y="0"/>
                    <a:pt x="15120" y="0"/>
                  </a:cubicBezTo>
                  <a:cubicBezTo>
                    <a:pt x="18697" y="0"/>
                    <a:pt x="21600" y="3628"/>
                    <a:pt x="21600" y="8100"/>
                  </a:cubicBezTo>
                  <a:cubicBezTo>
                    <a:pt x="21600" y="12572"/>
                    <a:pt x="18697" y="16200"/>
                    <a:pt x="15120" y="16200"/>
                  </a:cubicBezTo>
                  <a:cubicBezTo>
                    <a:pt x="15120" y="21600"/>
                    <a:pt x="15120" y="21600"/>
                    <a:pt x="15120" y="21600"/>
                  </a:cubicBezTo>
                  <a:cubicBezTo>
                    <a:pt x="10800" y="16200"/>
                    <a:pt x="10800" y="16200"/>
                    <a:pt x="10800" y="16200"/>
                  </a:cubicBezTo>
                  <a:cubicBezTo>
                    <a:pt x="6480" y="16200"/>
                    <a:pt x="6480" y="16200"/>
                    <a:pt x="6480" y="16200"/>
                  </a:cubicBezTo>
                  <a:cubicBezTo>
                    <a:pt x="2902" y="16200"/>
                    <a:pt x="0" y="12572"/>
                    <a:pt x="0" y="8100"/>
                  </a:cubicBezTo>
                  <a:cubicBezTo>
                    <a:pt x="0" y="3628"/>
                    <a:pt x="2902" y="0"/>
                    <a:pt x="6480" y="0"/>
                  </a:cubicBezTo>
                </a:path>
              </a:pathLst>
            </a:custGeom>
            <a:solidFill>
              <a:srgbClr val="566CD3"/>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Freeform 4388"/>
            <p:cNvSpPr/>
            <p:nvPr>
              <p:custDataLst>
                <p:tags r:id="rId32"/>
              </p:custDataLst>
            </p:nvPr>
          </p:nvSpPr>
          <p:spPr>
            <a:xfrm>
              <a:off x="164400" y="439344"/>
              <a:ext cx="1096946" cy="875858"/>
            </a:xfrm>
            <a:custGeom>
              <a:avLst/>
              <a:gdLst/>
              <a:ahLst/>
              <a:cxnLst>
                <a:cxn ang="0">
                  <a:pos x="wd2" y="hd2"/>
                </a:cxn>
                <a:cxn ang="5400000">
                  <a:pos x="wd2" y="hd2"/>
                </a:cxn>
                <a:cxn ang="10800000">
                  <a:pos x="wd2" y="hd2"/>
                </a:cxn>
                <a:cxn ang="16200000">
                  <a:pos x="wd2" y="hd2"/>
                </a:cxn>
              </a:cxnLst>
              <a:rect l="0" t="0" r="r" b="b"/>
              <a:pathLst>
                <a:path w="21600" h="21600" extrusionOk="0">
                  <a:moveTo>
                    <a:pt x="15120" y="0"/>
                  </a:moveTo>
                  <a:cubicBezTo>
                    <a:pt x="6480" y="0"/>
                    <a:pt x="6480" y="0"/>
                    <a:pt x="6480" y="0"/>
                  </a:cubicBezTo>
                  <a:cubicBezTo>
                    <a:pt x="2902" y="0"/>
                    <a:pt x="0" y="3628"/>
                    <a:pt x="0" y="8100"/>
                  </a:cubicBezTo>
                  <a:cubicBezTo>
                    <a:pt x="0" y="12572"/>
                    <a:pt x="2902" y="16200"/>
                    <a:pt x="6480" y="16200"/>
                  </a:cubicBezTo>
                  <a:cubicBezTo>
                    <a:pt x="6480" y="21600"/>
                    <a:pt x="6480" y="21600"/>
                    <a:pt x="6480" y="21600"/>
                  </a:cubicBezTo>
                  <a:cubicBezTo>
                    <a:pt x="10800" y="16200"/>
                    <a:pt x="10800" y="16200"/>
                    <a:pt x="10800" y="16200"/>
                  </a:cubicBezTo>
                  <a:cubicBezTo>
                    <a:pt x="15120" y="16200"/>
                    <a:pt x="15120" y="16200"/>
                    <a:pt x="15120" y="16200"/>
                  </a:cubicBezTo>
                  <a:cubicBezTo>
                    <a:pt x="18697" y="16200"/>
                    <a:pt x="21600" y="12572"/>
                    <a:pt x="21600" y="8100"/>
                  </a:cubicBezTo>
                  <a:cubicBezTo>
                    <a:pt x="21600" y="3628"/>
                    <a:pt x="18697" y="0"/>
                    <a:pt x="15120" y="0"/>
                  </a:cubicBezTo>
                </a:path>
              </a:pathLst>
            </a:custGeom>
            <a:solidFill>
              <a:srgbClr val="B9B8F1"/>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Freeform 4389"/>
            <p:cNvSpPr/>
            <p:nvPr>
              <p:custDataLst>
                <p:tags r:id="rId33"/>
              </p:custDataLst>
            </p:nvPr>
          </p:nvSpPr>
          <p:spPr>
            <a:xfrm>
              <a:off x="651931" y="549890"/>
              <a:ext cx="637760" cy="626423"/>
            </a:xfrm>
            <a:custGeom>
              <a:avLst/>
              <a:gdLst/>
              <a:ahLst/>
              <a:cxnLst>
                <a:cxn ang="0">
                  <a:pos x="wd2" y="hd2"/>
                </a:cxn>
                <a:cxn ang="5400000">
                  <a:pos x="wd2" y="hd2"/>
                </a:cxn>
                <a:cxn ang="10800000">
                  <a:pos x="wd2" y="hd2"/>
                </a:cxn>
                <a:cxn ang="16200000">
                  <a:pos x="wd2" y="hd2"/>
                </a:cxn>
              </a:cxnLst>
              <a:rect l="0" t="0" r="r" b="b"/>
              <a:pathLst>
                <a:path w="21600" h="21600" extrusionOk="0">
                  <a:moveTo>
                    <a:pt x="17884" y="0"/>
                  </a:moveTo>
                  <a:cubicBezTo>
                    <a:pt x="19568" y="1948"/>
                    <a:pt x="20613" y="4485"/>
                    <a:pt x="20671" y="7318"/>
                  </a:cubicBezTo>
                  <a:cubicBezTo>
                    <a:pt x="20671" y="7318"/>
                    <a:pt x="20671" y="7318"/>
                    <a:pt x="20671" y="7318"/>
                  </a:cubicBezTo>
                  <a:cubicBezTo>
                    <a:pt x="20671" y="7318"/>
                    <a:pt x="20671" y="7318"/>
                    <a:pt x="20671" y="7377"/>
                  </a:cubicBezTo>
                  <a:cubicBezTo>
                    <a:pt x="20671" y="7377"/>
                    <a:pt x="20671" y="7377"/>
                    <a:pt x="20671" y="7377"/>
                  </a:cubicBezTo>
                  <a:cubicBezTo>
                    <a:pt x="20671" y="7377"/>
                    <a:pt x="20671" y="7377"/>
                    <a:pt x="20671" y="7377"/>
                  </a:cubicBezTo>
                  <a:cubicBezTo>
                    <a:pt x="20671" y="7377"/>
                    <a:pt x="20671" y="7377"/>
                    <a:pt x="20671" y="7377"/>
                  </a:cubicBezTo>
                  <a:cubicBezTo>
                    <a:pt x="20671" y="7377"/>
                    <a:pt x="20671" y="7436"/>
                    <a:pt x="20671" y="7436"/>
                  </a:cubicBezTo>
                  <a:cubicBezTo>
                    <a:pt x="20671" y="7436"/>
                    <a:pt x="20671" y="7436"/>
                    <a:pt x="20671" y="7436"/>
                  </a:cubicBezTo>
                  <a:cubicBezTo>
                    <a:pt x="20671" y="7436"/>
                    <a:pt x="20671" y="7436"/>
                    <a:pt x="20671" y="7436"/>
                  </a:cubicBezTo>
                  <a:cubicBezTo>
                    <a:pt x="20671" y="7436"/>
                    <a:pt x="20671" y="7436"/>
                    <a:pt x="20671" y="7436"/>
                  </a:cubicBezTo>
                  <a:cubicBezTo>
                    <a:pt x="20671" y="7495"/>
                    <a:pt x="20671" y="7495"/>
                    <a:pt x="20671" y="7495"/>
                  </a:cubicBezTo>
                  <a:cubicBezTo>
                    <a:pt x="20671" y="7495"/>
                    <a:pt x="20671" y="7495"/>
                    <a:pt x="20671" y="7495"/>
                  </a:cubicBezTo>
                  <a:cubicBezTo>
                    <a:pt x="20671" y="7495"/>
                    <a:pt x="20671" y="7495"/>
                    <a:pt x="20671" y="7495"/>
                  </a:cubicBezTo>
                  <a:cubicBezTo>
                    <a:pt x="20671" y="7495"/>
                    <a:pt x="20671" y="7495"/>
                    <a:pt x="20671" y="7495"/>
                  </a:cubicBezTo>
                  <a:cubicBezTo>
                    <a:pt x="20671" y="13751"/>
                    <a:pt x="15677" y="18826"/>
                    <a:pt x="9523" y="18826"/>
                  </a:cubicBezTo>
                  <a:cubicBezTo>
                    <a:pt x="2090" y="18826"/>
                    <a:pt x="2090" y="18826"/>
                    <a:pt x="2090" y="18826"/>
                  </a:cubicBezTo>
                  <a:cubicBezTo>
                    <a:pt x="0" y="20951"/>
                    <a:pt x="0" y="20951"/>
                    <a:pt x="0" y="20951"/>
                  </a:cubicBezTo>
                  <a:cubicBezTo>
                    <a:pt x="406" y="21187"/>
                    <a:pt x="813" y="21423"/>
                    <a:pt x="1219" y="21600"/>
                  </a:cubicBezTo>
                  <a:cubicBezTo>
                    <a:pt x="3019" y="19770"/>
                    <a:pt x="3019" y="19770"/>
                    <a:pt x="3019" y="19770"/>
                  </a:cubicBezTo>
                  <a:cubicBezTo>
                    <a:pt x="10452" y="19770"/>
                    <a:pt x="10452" y="19770"/>
                    <a:pt x="10452" y="19770"/>
                  </a:cubicBezTo>
                  <a:cubicBezTo>
                    <a:pt x="16606" y="19770"/>
                    <a:pt x="21600" y="14695"/>
                    <a:pt x="21600" y="8439"/>
                  </a:cubicBezTo>
                  <a:cubicBezTo>
                    <a:pt x="21600" y="5075"/>
                    <a:pt x="20148" y="2066"/>
                    <a:pt x="17884" y="0"/>
                  </a:cubicBezTo>
                </a:path>
              </a:pathLst>
            </a:custGeom>
            <a:solidFill>
              <a:srgbClr val="A5A3A5"/>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 name="Freeform 4390"/>
            <p:cNvSpPr/>
            <p:nvPr>
              <p:custDataLst>
                <p:tags r:id="rId34"/>
              </p:custDataLst>
            </p:nvPr>
          </p:nvSpPr>
          <p:spPr>
            <a:xfrm>
              <a:off x="714290" y="547054"/>
              <a:ext cx="547056" cy="549892"/>
            </a:xfrm>
            <a:custGeom>
              <a:avLst/>
              <a:gdLst/>
              <a:ahLst/>
              <a:cxnLst>
                <a:cxn ang="0">
                  <a:pos x="wd2" y="hd2"/>
                </a:cxn>
                <a:cxn ang="5400000">
                  <a:pos x="wd2" y="hd2"/>
                </a:cxn>
                <a:cxn ang="10800000">
                  <a:pos x="wd2" y="hd2"/>
                </a:cxn>
                <a:cxn ang="16200000">
                  <a:pos x="wd2" y="hd2"/>
                </a:cxn>
              </a:cxnLst>
              <a:rect l="0" t="0" r="r" b="b"/>
              <a:pathLst>
                <a:path w="21600" h="21600" extrusionOk="0">
                  <a:moveTo>
                    <a:pt x="21600" y="8640"/>
                  </a:moveTo>
                  <a:cubicBezTo>
                    <a:pt x="21600" y="15795"/>
                    <a:pt x="15795" y="21600"/>
                    <a:pt x="8640" y="21600"/>
                  </a:cubicBezTo>
                  <a:cubicBezTo>
                    <a:pt x="0" y="21600"/>
                    <a:pt x="0" y="21600"/>
                    <a:pt x="0" y="21600"/>
                  </a:cubicBezTo>
                  <a:cubicBezTo>
                    <a:pt x="8640" y="21600"/>
                    <a:pt x="8640" y="21600"/>
                    <a:pt x="8640" y="21600"/>
                  </a:cubicBezTo>
                  <a:cubicBezTo>
                    <a:pt x="15795" y="21600"/>
                    <a:pt x="21600" y="15795"/>
                    <a:pt x="21600" y="8640"/>
                  </a:cubicBezTo>
                  <a:cubicBezTo>
                    <a:pt x="21600" y="8640"/>
                    <a:pt x="21600" y="8640"/>
                    <a:pt x="21600" y="8640"/>
                  </a:cubicBezTo>
                  <a:moveTo>
                    <a:pt x="21600" y="8572"/>
                  </a:moveTo>
                  <a:cubicBezTo>
                    <a:pt x="21600" y="8640"/>
                    <a:pt x="21600" y="8640"/>
                    <a:pt x="21600" y="8640"/>
                  </a:cubicBezTo>
                  <a:cubicBezTo>
                    <a:pt x="21600" y="8640"/>
                    <a:pt x="21600" y="8640"/>
                    <a:pt x="21600" y="8572"/>
                  </a:cubicBezTo>
                  <a:moveTo>
                    <a:pt x="21600" y="8572"/>
                  </a:moveTo>
                  <a:cubicBezTo>
                    <a:pt x="21600" y="8572"/>
                    <a:pt x="21600" y="8572"/>
                    <a:pt x="21600" y="8572"/>
                  </a:cubicBezTo>
                  <a:cubicBezTo>
                    <a:pt x="21600" y="8572"/>
                    <a:pt x="21600" y="8572"/>
                    <a:pt x="21600" y="8572"/>
                  </a:cubicBezTo>
                  <a:moveTo>
                    <a:pt x="21600" y="8505"/>
                  </a:moveTo>
                  <a:cubicBezTo>
                    <a:pt x="21600" y="8505"/>
                    <a:pt x="21600" y="8572"/>
                    <a:pt x="21600" y="8572"/>
                  </a:cubicBezTo>
                  <a:cubicBezTo>
                    <a:pt x="21600" y="8572"/>
                    <a:pt x="21600" y="8505"/>
                    <a:pt x="21600" y="8505"/>
                  </a:cubicBezTo>
                  <a:moveTo>
                    <a:pt x="21600" y="8505"/>
                  </a:moveTo>
                  <a:cubicBezTo>
                    <a:pt x="21600" y="8505"/>
                    <a:pt x="21600" y="8505"/>
                    <a:pt x="21600" y="8505"/>
                  </a:cubicBezTo>
                  <a:cubicBezTo>
                    <a:pt x="21600" y="8505"/>
                    <a:pt x="21600" y="8505"/>
                    <a:pt x="21600" y="8505"/>
                  </a:cubicBezTo>
                  <a:moveTo>
                    <a:pt x="21600" y="8438"/>
                  </a:moveTo>
                  <a:cubicBezTo>
                    <a:pt x="21600" y="8438"/>
                    <a:pt x="21600" y="8438"/>
                    <a:pt x="21600" y="8505"/>
                  </a:cubicBezTo>
                  <a:cubicBezTo>
                    <a:pt x="21600" y="8438"/>
                    <a:pt x="21600" y="8438"/>
                    <a:pt x="21600" y="8438"/>
                  </a:cubicBezTo>
                  <a:moveTo>
                    <a:pt x="18360" y="0"/>
                  </a:moveTo>
                  <a:cubicBezTo>
                    <a:pt x="20317" y="2295"/>
                    <a:pt x="21533" y="5197"/>
                    <a:pt x="21600" y="8438"/>
                  </a:cubicBezTo>
                  <a:cubicBezTo>
                    <a:pt x="21533" y="5197"/>
                    <a:pt x="20317" y="2295"/>
                    <a:pt x="18360" y="67"/>
                  </a:cubicBezTo>
                  <a:cubicBezTo>
                    <a:pt x="18360" y="67"/>
                    <a:pt x="18360" y="67"/>
                    <a:pt x="18360" y="0"/>
                  </a:cubicBezTo>
                </a:path>
              </a:pathLst>
            </a:custGeom>
            <a:solidFill>
              <a:srgbClr val="D6D5D6"/>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5" name="Freeform 4391"/>
            <p:cNvGrpSpPr/>
            <p:nvPr/>
          </p:nvGrpSpPr>
          <p:grpSpPr>
            <a:xfrm>
              <a:off x="1165027" y="547054"/>
              <a:ext cx="25401" cy="1"/>
              <a:chOff x="0" y="0"/>
              <a:chExt cx="25400" cy="0"/>
            </a:xfrm>
          </p:grpSpPr>
          <p:sp>
            <p:nvSpPr>
              <p:cNvPr id="16" name="线条"/>
              <p:cNvSpPr/>
              <p:nvPr>
                <p:custDataLst>
                  <p:tags r:id="rId35"/>
                </p:custDataLst>
              </p:nvPr>
            </p:nvSpPr>
            <p:spPr>
              <a:xfrm>
                <a:off x="0" y="0"/>
                <a:ext cx="25400" cy="0"/>
              </a:xfrm>
              <a:prstGeom prst="line">
                <a:avLst/>
              </a:prstGeom>
              <a:no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 name="线条"/>
              <p:cNvSpPr/>
              <p:nvPr>
                <p:custDataLst>
                  <p:tags r:id="rId36"/>
                </p:custDataLst>
              </p:nvPr>
            </p:nvSpPr>
            <p:spPr>
              <a:xfrm flipH="1" flipV="1">
                <a:off x="0" y="-1"/>
                <a:ext cx="25400" cy="1"/>
              </a:xfrm>
              <a:prstGeom prst="line">
                <a:avLst/>
              </a:prstGeom>
              <a:no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grpSp>
        <p:nvGrpSpPr>
          <p:cNvPr id="18" name="组合 17"/>
          <p:cNvGrpSpPr/>
          <p:nvPr/>
        </p:nvGrpSpPr>
        <p:grpSpPr>
          <a:xfrm>
            <a:off x="8193058" y="4270944"/>
            <a:ext cx="3118633" cy="2871445"/>
            <a:chOff x="7198886" y="1925853"/>
            <a:chExt cx="3667225" cy="3232489"/>
          </a:xfrm>
        </p:grpSpPr>
        <p:grpSp>
          <p:nvGrpSpPr>
            <p:cNvPr id="19" name="组合 18"/>
            <p:cNvGrpSpPr/>
            <p:nvPr/>
          </p:nvGrpSpPr>
          <p:grpSpPr>
            <a:xfrm>
              <a:off x="7198886" y="1925853"/>
              <a:ext cx="3667225" cy="3232489"/>
              <a:chOff x="6944627" y="-461747"/>
              <a:chExt cx="3667225" cy="3232489"/>
            </a:xfrm>
          </p:grpSpPr>
          <p:sp>
            <p:nvSpPr>
              <p:cNvPr id="39" name="梯形 38"/>
              <p:cNvSpPr/>
              <p:nvPr>
                <p:custDataLst>
                  <p:tags r:id="rId26"/>
                </p:custDataLst>
              </p:nvPr>
            </p:nvSpPr>
            <p:spPr>
              <a:xfrm>
                <a:off x="8152597" y="2026296"/>
                <a:ext cx="1251284" cy="668690"/>
              </a:xfrm>
              <a:prstGeom prst="trapezoid">
                <a:avLst>
                  <a:gd name="adj" fmla="val 278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矩形: 圆顶角 39"/>
              <p:cNvSpPr/>
              <p:nvPr>
                <p:custDataLst>
                  <p:tags r:id="rId27"/>
                </p:custDataLst>
              </p:nvPr>
            </p:nvSpPr>
            <p:spPr>
              <a:xfrm>
                <a:off x="6944627" y="-461747"/>
                <a:ext cx="3667225" cy="2357924"/>
              </a:xfrm>
              <a:prstGeom prst="round2SameRect">
                <a:avLst>
                  <a:gd name="adj1" fmla="val 4421"/>
                  <a:gd name="adj2" fmla="val 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1" name="矩形: 圆角 40"/>
              <p:cNvSpPr/>
              <p:nvPr>
                <p:custDataLst>
                  <p:tags r:id="rId28"/>
                </p:custDataLst>
              </p:nvPr>
            </p:nvSpPr>
            <p:spPr>
              <a:xfrm>
                <a:off x="7034655" y="-339212"/>
                <a:ext cx="3489159" cy="2143344"/>
              </a:xfrm>
              <a:prstGeom prst="roundRect">
                <a:avLst>
                  <a:gd name="adj" fmla="val 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矩形: 圆顶角 41"/>
              <p:cNvSpPr/>
              <p:nvPr>
                <p:custDataLst>
                  <p:tags r:id="rId29"/>
                </p:custDataLst>
              </p:nvPr>
            </p:nvSpPr>
            <p:spPr>
              <a:xfrm flipV="1">
                <a:off x="6944627" y="1896177"/>
                <a:ext cx="3667225" cy="247167"/>
              </a:xfrm>
              <a:prstGeom prst="round2SameRect">
                <a:avLst>
                  <a:gd name="adj1" fmla="val 22505"/>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3" name="矩形: 圆顶角 42"/>
              <p:cNvSpPr/>
              <p:nvPr>
                <p:custDataLst>
                  <p:tags r:id="rId30"/>
                </p:custDataLst>
              </p:nvPr>
            </p:nvSpPr>
            <p:spPr>
              <a:xfrm>
                <a:off x="7883312" y="2619230"/>
                <a:ext cx="1789854" cy="151512"/>
              </a:xfrm>
              <a:prstGeom prst="round2SameRect">
                <a:avLst>
                  <a:gd name="adj1" fmla="val 50000"/>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0" name="组合 19"/>
            <p:cNvGrpSpPr/>
            <p:nvPr/>
          </p:nvGrpSpPr>
          <p:grpSpPr>
            <a:xfrm>
              <a:off x="9399108" y="2305903"/>
              <a:ext cx="1167319" cy="1610083"/>
              <a:chOff x="1954302" y="3582658"/>
              <a:chExt cx="1762124" cy="2248484"/>
            </a:xfrm>
          </p:grpSpPr>
          <p:sp>
            <p:nvSpPr>
              <p:cNvPr id="32" name="矩形 31"/>
              <p:cNvSpPr/>
              <p:nvPr>
                <p:custDataLst>
                  <p:tags r:id="rId20"/>
                </p:custDataLst>
              </p:nvPr>
            </p:nvSpPr>
            <p:spPr>
              <a:xfrm>
                <a:off x="1954302" y="5785423"/>
                <a:ext cx="1762124" cy="45719"/>
              </a:xfrm>
              <a:prstGeom prst="rect">
                <a:avLst/>
              </a:prstGeom>
              <a:solidFill>
                <a:srgbClr val="FF8A31"/>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33" name="组合 32"/>
              <p:cNvGrpSpPr/>
              <p:nvPr/>
            </p:nvGrpSpPr>
            <p:grpSpPr>
              <a:xfrm>
                <a:off x="2149249" y="4203097"/>
                <a:ext cx="1319349" cy="1540927"/>
                <a:chOff x="2234438" y="3860441"/>
                <a:chExt cx="1413592" cy="1989653"/>
              </a:xfrm>
            </p:grpSpPr>
            <p:sp>
              <p:nvSpPr>
                <p:cNvPr id="35" name="矩形 34"/>
                <p:cNvSpPr/>
                <p:nvPr>
                  <p:custDataLst>
                    <p:tags r:id="rId22"/>
                  </p:custDataLst>
                </p:nvPr>
              </p:nvSpPr>
              <p:spPr>
                <a:xfrm>
                  <a:off x="2234438" y="4346829"/>
                  <a:ext cx="249509" cy="1503265"/>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矩形 35"/>
                <p:cNvSpPr/>
                <p:nvPr>
                  <p:custDataLst>
                    <p:tags r:id="rId23"/>
                  </p:custDataLst>
                </p:nvPr>
              </p:nvSpPr>
              <p:spPr>
                <a:xfrm>
                  <a:off x="2628779" y="4008806"/>
                  <a:ext cx="249509" cy="1841288"/>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矩形 36"/>
                <p:cNvSpPr/>
                <p:nvPr>
                  <p:custDataLst>
                    <p:tags r:id="rId24"/>
                  </p:custDataLst>
                </p:nvPr>
              </p:nvSpPr>
              <p:spPr>
                <a:xfrm>
                  <a:off x="3025842" y="4249315"/>
                  <a:ext cx="249509" cy="1600779"/>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8" name="矩形 37"/>
                <p:cNvSpPr/>
                <p:nvPr>
                  <p:custDataLst>
                    <p:tags r:id="rId25"/>
                  </p:custDataLst>
                </p:nvPr>
              </p:nvSpPr>
              <p:spPr>
                <a:xfrm>
                  <a:off x="3398521" y="3860441"/>
                  <a:ext cx="249509" cy="1989653"/>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34" name="任意多边形: 形状 33"/>
              <p:cNvSpPr/>
              <p:nvPr>
                <p:custDataLst>
                  <p:tags r:id="rId21"/>
                </p:custDataLst>
              </p:nvPr>
            </p:nvSpPr>
            <p:spPr>
              <a:xfrm>
                <a:off x="2179460" y="3582658"/>
                <a:ext cx="1289139" cy="557765"/>
              </a:xfrm>
              <a:custGeom>
                <a:avLst/>
                <a:gdLst>
                  <a:gd name="connsiteX0" fmla="*/ 0 w 1075266"/>
                  <a:gd name="connsiteY0" fmla="*/ 474134 h 474134"/>
                  <a:gd name="connsiteX1" fmla="*/ 351366 w 1075266"/>
                  <a:gd name="connsiteY1" fmla="*/ 114300 h 474134"/>
                  <a:gd name="connsiteX2" fmla="*/ 715433 w 1075266"/>
                  <a:gd name="connsiteY2" fmla="*/ 321734 h 474134"/>
                  <a:gd name="connsiteX3" fmla="*/ 1075266 w 1075266"/>
                  <a:gd name="connsiteY3" fmla="*/ 0 h 474134"/>
                </a:gdLst>
                <a:ahLst/>
                <a:cxnLst>
                  <a:cxn ang="0">
                    <a:pos x="connsiteX0" y="connsiteY0"/>
                  </a:cxn>
                  <a:cxn ang="0">
                    <a:pos x="connsiteX1" y="connsiteY1"/>
                  </a:cxn>
                  <a:cxn ang="0">
                    <a:pos x="connsiteX2" y="connsiteY2"/>
                  </a:cxn>
                  <a:cxn ang="0">
                    <a:pos x="connsiteX3" y="connsiteY3"/>
                  </a:cxn>
                </a:cxnLst>
                <a:rect l="l" t="t" r="r" b="b"/>
                <a:pathLst>
                  <a:path w="1075266" h="474134">
                    <a:moveTo>
                      <a:pt x="0" y="474134"/>
                    </a:moveTo>
                    <a:lnTo>
                      <a:pt x="351366" y="114300"/>
                    </a:lnTo>
                    <a:lnTo>
                      <a:pt x="715433" y="321734"/>
                    </a:lnTo>
                    <a:lnTo>
                      <a:pt x="1075266" y="0"/>
                    </a:lnTo>
                  </a:path>
                </a:pathLst>
              </a:custGeom>
              <a:noFill/>
              <a:ln w="50800">
                <a:solidFill>
                  <a:srgbClr val="1D41D5"/>
                </a:solidFill>
                <a:headEnd type="none"/>
                <a:tailEnd type="stealth"/>
              </a:ln>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1" name="组合 20"/>
            <p:cNvGrpSpPr/>
            <p:nvPr/>
          </p:nvGrpSpPr>
          <p:grpSpPr>
            <a:xfrm>
              <a:off x="7490345" y="2354346"/>
              <a:ext cx="1579687" cy="1578525"/>
              <a:chOff x="7490345" y="2333046"/>
              <a:chExt cx="1579687" cy="1578525"/>
            </a:xfrm>
          </p:grpSpPr>
          <p:sp>
            <p:nvSpPr>
              <p:cNvPr id="22" name="矩形 21"/>
              <p:cNvSpPr/>
              <p:nvPr>
                <p:custDataLst>
                  <p:tags r:id="rId10"/>
                </p:custDataLst>
              </p:nvPr>
            </p:nvSpPr>
            <p:spPr>
              <a:xfrm>
                <a:off x="7490346" y="2333046"/>
                <a:ext cx="964679" cy="966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3" name="矩形 22"/>
              <p:cNvSpPr/>
              <p:nvPr>
                <p:custDataLst>
                  <p:tags r:id="rId11"/>
                </p:custDataLst>
              </p:nvPr>
            </p:nvSpPr>
            <p:spPr>
              <a:xfrm>
                <a:off x="7490345" y="2559810"/>
                <a:ext cx="1535787"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4" name="矩形 23"/>
              <p:cNvSpPr/>
              <p:nvPr>
                <p:custDataLst>
                  <p:tags r:id="rId12"/>
                </p:custDataLst>
              </p:nvPr>
            </p:nvSpPr>
            <p:spPr>
              <a:xfrm>
                <a:off x="7490346" y="2726783"/>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5" name="矩形 24"/>
              <p:cNvSpPr/>
              <p:nvPr>
                <p:custDataLst>
                  <p:tags r:id="rId13"/>
                </p:custDataLst>
              </p:nvPr>
            </p:nvSpPr>
            <p:spPr>
              <a:xfrm>
                <a:off x="7490346" y="2893756"/>
                <a:ext cx="13403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6" name="矩形 25"/>
              <p:cNvSpPr/>
              <p:nvPr>
                <p:custDataLst>
                  <p:tags r:id="rId14"/>
                </p:custDataLst>
              </p:nvPr>
            </p:nvSpPr>
            <p:spPr>
              <a:xfrm>
                <a:off x="7490346" y="3060729"/>
                <a:ext cx="1103344"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矩形 26"/>
              <p:cNvSpPr/>
              <p:nvPr>
                <p:custDataLst>
                  <p:tags r:id="rId15"/>
                </p:custDataLst>
              </p:nvPr>
            </p:nvSpPr>
            <p:spPr>
              <a:xfrm>
                <a:off x="7490346" y="3227702"/>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矩形 27"/>
              <p:cNvSpPr/>
              <p:nvPr>
                <p:custDataLst>
                  <p:tags r:id="rId16"/>
                </p:custDataLst>
              </p:nvPr>
            </p:nvSpPr>
            <p:spPr>
              <a:xfrm>
                <a:off x="7490346" y="3453938"/>
                <a:ext cx="647225" cy="1178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矩形 28"/>
              <p:cNvSpPr/>
              <p:nvPr>
                <p:custDataLst>
                  <p:tags r:id="rId17"/>
                </p:custDataLst>
              </p:nvPr>
            </p:nvSpPr>
            <p:spPr>
              <a:xfrm>
                <a:off x="8317252" y="3453938"/>
                <a:ext cx="208681" cy="1178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矩形 29"/>
              <p:cNvSpPr/>
              <p:nvPr>
                <p:custDataLst>
                  <p:tags r:id="rId18"/>
                </p:custDataLst>
              </p:nvPr>
            </p:nvSpPr>
            <p:spPr>
              <a:xfrm>
                <a:off x="7490346" y="3680987"/>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矩形 30"/>
              <p:cNvSpPr/>
              <p:nvPr>
                <p:custDataLst>
                  <p:tags r:id="rId19"/>
                </p:custDataLst>
              </p:nvPr>
            </p:nvSpPr>
            <p:spPr>
              <a:xfrm>
                <a:off x="7490345" y="3842085"/>
                <a:ext cx="1579687" cy="6948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grpSp>
        <p:nvGrpSpPr>
          <p:cNvPr id="45" name="组合 44"/>
          <p:cNvGrpSpPr/>
          <p:nvPr/>
        </p:nvGrpSpPr>
        <p:grpSpPr>
          <a:xfrm>
            <a:off x="7129513" y="4880448"/>
            <a:ext cx="1086104" cy="1934331"/>
            <a:chOff x="6734340" y="3532686"/>
            <a:chExt cx="1277118" cy="2177415"/>
          </a:xfrm>
        </p:grpSpPr>
        <p:sp>
          <p:nvSpPr>
            <p:cNvPr id="46" name="任意多边形: 形状 45"/>
            <p:cNvSpPr/>
            <p:nvPr>
              <p:custDataLst>
                <p:tags r:id="rId4"/>
              </p:custDataLst>
            </p:nvPr>
          </p:nvSpPr>
          <p:spPr>
            <a:xfrm>
              <a:off x="6734340" y="3532686"/>
              <a:ext cx="1277118" cy="2177415"/>
            </a:xfrm>
            <a:custGeom>
              <a:avLst/>
              <a:gdLst>
                <a:gd name="connsiteX0" fmla="*/ 125879 w 1277118"/>
                <a:gd name="connsiteY0" fmla="*/ 0 h 2177415"/>
                <a:gd name="connsiteX1" fmla="*/ 1148165 w 1277118"/>
                <a:gd name="connsiteY1" fmla="*/ 0 h 2177415"/>
                <a:gd name="connsiteX2" fmla="*/ 1277118 w 1277118"/>
                <a:gd name="connsiteY2" fmla="*/ 128940 h 2177415"/>
                <a:gd name="connsiteX3" fmla="*/ 1277118 w 1277118"/>
                <a:gd name="connsiteY3" fmla="*/ 175410 h 2177415"/>
                <a:gd name="connsiteX4" fmla="*/ 1277118 w 1277118"/>
                <a:gd name="connsiteY4" fmla="*/ 205986 h 2177415"/>
                <a:gd name="connsiteX5" fmla="*/ 1277118 w 1277118"/>
                <a:gd name="connsiteY5" fmla="*/ 209241 h 2177415"/>
                <a:gd name="connsiteX6" fmla="*/ 1277118 w 1277118"/>
                <a:gd name="connsiteY6" fmla="*/ 319283 h 2177415"/>
                <a:gd name="connsiteX7" fmla="*/ 1277118 w 1277118"/>
                <a:gd name="connsiteY7" fmla="*/ 1858132 h 2177415"/>
                <a:gd name="connsiteX8" fmla="*/ 1277118 w 1277118"/>
                <a:gd name="connsiteY8" fmla="*/ 1904603 h 2177415"/>
                <a:gd name="connsiteX9" fmla="*/ 1277118 w 1277118"/>
                <a:gd name="connsiteY9" fmla="*/ 1918945 h 2177415"/>
                <a:gd name="connsiteX10" fmla="*/ 1277118 w 1277118"/>
                <a:gd name="connsiteY10" fmla="*/ 1938433 h 2177415"/>
                <a:gd name="connsiteX11" fmla="*/ 1277118 w 1277118"/>
                <a:gd name="connsiteY11" fmla="*/ 2048475 h 2177415"/>
                <a:gd name="connsiteX12" fmla="*/ 1148165 w 1277118"/>
                <a:gd name="connsiteY12" fmla="*/ 2177415 h 2177415"/>
                <a:gd name="connsiteX13" fmla="*/ 125879 w 1277118"/>
                <a:gd name="connsiteY13" fmla="*/ 2177415 h 2177415"/>
                <a:gd name="connsiteX14" fmla="*/ 0 w 1277118"/>
                <a:gd name="connsiteY14" fmla="*/ 2048475 h 2177415"/>
                <a:gd name="connsiteX15" fmla="*/ 0 w 1277118"/>
                <a:gd name="connsiteY15" fmla="*/ 1920960 h 2177415"/>
                <a:gd name="connsiteX16" fmla="*/ 0 w 1277118"/>
                <a:gd name="connsiteY16" fmla="*/ 1918945 h 2177415"/>
                <a:gd name="connsiteX17" fmla="*/ 0 w 1277118"/>
                <a:gd name="connsiteY17" fmla="*/ 1858132 h 2177415"/>
                <a:gd name="connsiteX18" fmla="*/ 0 w 1277118"/>
                <a:gd name="connsiteY18" fmla="*/ 319283 h 2177415"/>
                <a:gd name="connsiteX19" fmla="*/ 0 w 1277118"/>
                <a:gd name="connsiteY19" fmla="*/ 238982 h 2177415"/>
                <a:gd name="connsiteX20" fmla="*/ 0 w 1277118"/>
                <a:gd name="connsiteY20" fmla="*/ 205986 h 2177415"/>
                <a:gd name="connsiteX21" fmla="*/ 0 w 1277118"/>
                <a:gd name="connsiteY21" fmla="*/ 191768 h 2177415"/>
                <a:gd name="connsiteX22" fmla="*/ 0 w 1277118"/>
                <a:gd name="connsiteY22" fmla="*/ 128940 h 2177415"/>
                <a:gd name="connsiteX23" fmla="*/ 125879 w 1277118"/>
                <a:gd name="connsiteY23" fmla="*/ 0 h 217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77118" h="2177415">
                  <a:moveTo>
                    <a:pt x="125879" y="0"/>
                  </a:moveTo>
                  <a:cubicBezTo>
                    <a:pt x="125879" y="0"/>
                    <a:pt x="125879" y="0"/>
                    <a:pt x="1148165" y="0"/>
                  </a:cubicBezTo>
                  <a:cubicBezTo>
                    <a:pt x="1218761" y="0"/>
                    <a:pt x="1277118" y="58328"/>
                    <a:pt x="1277118" y="128940"/>
                  </a:cubicBezTo>
                  <a:cubicBezTo>
                    <a:pt x="1277118" y="128940"/>
                    <a:pt x="1277118" y="128940"/>
                    <a:pt x="1277118" y="175410"/>
                  </a:cubicBezTo>
                  <a:lnTo>
                    <a:pt x="1277118" y="205986"/>
                  </a:lnTo>
                  <a:lnTo>
                    <a:pt x="1277118" y="209241"/>
                  </a:lnTo>
                  <a:cubicBezTo>
                    <a:pt x="1277118" y="236008"/>
                    <a:pt x="1277118" y="271697"/>
                    <a:pt x="1277118" y="319283"/>
                  </a:cubicBezTo>
                  <a:lnTo>
                    <a:pt x="1277118" y="1858132"/>
                  </a:lnTo>
                  <a:cubicBezTo>
                    <a:pt x="1277118" y="1858132"/>
                    <a:pt x="1277118" y="1858132"/>
                    <a:pt x="1277118" y="1904603"/>
                  </a:cubicBezTo>
                  <a:lnTo>
                    <a:pt x="1277118" y="1918945"/>
                  </a:lnTo>
                  <a:lnTo>
                    <a:pt x="1277118" y="1938433"/>
                  </a:lnTo>
                  <a:cubicBezTo>
                    <a:pt x="1277118" y="1965200"/>
                    <a:pt x="1277118" y="2000889"/>
                    <a:pt x="1277118" y="2048475"/>
                  </a:cubicBezTo>
                  <a:cubicBezTo>
                    <a:pt x="1277118" y="2119087"/>
                    <a:pt x="1218761" y="2177415"/>
                    <a:pt x="1148165" y="2177415"/>
                  </a:cubicBezTo>
                  <a:cubicBezTo>
                    <a:pt x="1148165" y="2177415"/>
                    <a:pt x="1148165" y="2177415"/>
                    <a:pt x="125879" y="2177415"/>
                  </a:cubicBezTo>
                  <a:cubicBezTo>
                    <a:pt x="55283" y="2177415"/>
                    <a:pt x="0" y="2119087"/>
                    <a:pt x="0" y="2048475"/>
                  </a:cubicBezTo>
                  <a:cubicBezTo>
                    <a:pt x="0" y="2048475"/>
                    <a:pt x="0" y="2048475"/>
                    <a:pt x="0" y="1920960"/>
                  </a:cubicBezTo>
                  <a:lnTo>
                    <a:pt x="0" y="1918945"/>
                  </a:lnTo>
                  <a:lnTo>
                    <a:pt x="0" y="1858132"/>
                  </a:lnTo>
                  <a:lnTo>
                    <a:pt x="0" y="319283"/>
                  </a:lnTo>
                  <a:cubicBezTo>
                    <a:pt x="0" y="319283"/>
                    <a:pt x="0" y="319283"/>
                    <a:pt x="0" y="238982"/>
                  </a:cubicBezTo>
                  <a:lnTo>
                    <a:pt x="0" y="205986"/>
                  </a:lnTo>
                  <a:lnTo>
                    <a:pt x="0" y="191768"/>
                  </a:lnTo>
                  <a:cubicBezTo>
                    <a:pt x="0" y="173552"/>
                    <a:pt x="0" y="152733"/>
                    <a:pt x="0" y="128940"/>
                  </a:cubicBezTo>
                  <a:cubicBezTo>
                    <a:pt x="0" y="58328"/>
                    <a:pt x="55283" y="0"/>
                    <a:pt x="125879" y="0"/>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sz="3200">
                <a:solidFill>
                  <a:schemeClr val="lt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7" name="Rectangle 4361"/>
            <p:cNvSpPr/>
            <p:nvPr>
              <p:custDataLst>
                <p:tags r:id="rId5"/>
              </p:custDataLst>
            </p:nvPr>
          </p:nvSpPr>
          <p:spPr>
            <a:xfrm>
              <a:off x="6805291" y="3634807"/>
              <a:ext cx="1130145" cy="1952609"/>
            </a:xfrm>
            <a:prstGeom prst="rect">
              <a:avLst/>
            </a:prstGeom>
            <a:solidFill>
              <a:schemeClr val="bg1">
                <a:lumMod val="95000"/>
              </a:schemeClr>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8" name="Freeform 4377"/>
            <p:cNvSpPr/>
            <p:nvPr>
              <p:custDataLst>
                <p:tags r:id="rId6"/>
              </p:custDataLst>
            </p:nvPr>
          </p:nvSpPr>
          <p:spPr>
            <a:xfrm>
              <a:off x="6876242"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00" y="21600"/>
                    <a:pt x="16114" y="21600"/>
                  </a:cubicBezTo>
                  <a:cubicBezTo>
                    <a:pt x="5486" y="21600"/>
                    <a:pt x="5486" y="21600"/>
                    <a:pt x="5486" y="21600"/>
                  </a:cubicBezTo>
                  <a:cubicBezTo>
                    <a:pt x="2400" y="21600"/>
                    <a:pt x="0" y="19200"/>
                    <a:pt x="0" y="16114"/>
                  </a:cubicBezTo>
                  <a:cubicBezTo>
                    <a:pt x="0" y="5486"/>
                    <a:pt x="0" y="5486"/>
                    <a:pt x="0" y="5486"/>
                  </a:cubicBezTo>
                  <a:cubicBezTo>
                    <a:pt x="0" y="2400"/>
                    <a:pt x="2400" y="0"/>
                    <a:pt x="5486" y="0"/>
                  </a:cubicBezTo>
                  <a:cubicBezTo>
                    <a:pt x="16114" y="0"/>
                    <a:pt x="16114" y="0"/>
                    <a:pt x="16114" y="0"/>
                  </a:cubicBezTo>
                  <a:cubicBezTo>
                    <a:pt x="192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9" name="Freeform 4378"/>
            <p:cNvSpPr/>
            <p:nvPr>
              <p:custDataLst>
                <p:tags r:id="rId7"/>
              </p:custDataLst>
            </p:nvPr>
          </p:nvSpPr>
          <p:spPr>
            <a:xfrm>
              <a:off x="7139774" y="5324927"/>
              <a:ext cx="197649"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37" y="21600"/>
                    <a:pt x="16200" y="21600"/>
                  </a:cubicBezTo>
                  <a:cubicBezTo>
                    <a:pt x="5400" y="21600"/>
                    <a:pt x="5400" y="21600"/>
                    <a:pt x="5400" y="21600"/>
                  </a:cubicBezTo>
                  <a:cubicBezTo>
                    <a:pt x="2700" y="21600"/>
                    <a:pt x="0" y="19200"/>
                    <a:pt x="0" y="16114"/>
                  </a:cubicBezTo>
                  <a:cubicBezTo>
                    <a:pt x="0" y="5486"/>
                    <a:pt x="0" y="5486"/>
                    <a:pt x="0" y="5486"/>
                  </a:cubicBezTo>
                  <a:cubicBezTo>
                    <a:pt x="0" y="2400"/>
                    <a:pt x="2700" y="0"/>
                    <a:pt x="5400" y="0"/>
                  </a:cubicBezTo>
                  <a:cubicBezTo>
                    <a:pt x="16200" y="0"/>
                    <a:pt x="16200" y="0"/>
                    <a:pt x="16200" y="0"/>
                  </a:cubicBezTo>
                  <a:cubicBezTo>
                    <a:pt x="19237"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0" name="Freeform 4379"/>
            <p:cNvSpPr/>
            <p:nvPr>
              <p:custDataLst>
                <p:tags r:id="rId8"/>
              </p:custDataLst>
            </p:nvPr>
          </p:nvSpPr>
          <p:spPr>
            <a:xfrm>
              <a:off x="7408372"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8900" y="21600"/>
                    <a:pt x="16200" y="21600"/>
                  </a:cubicBezTo>
                  <a:cubicBezTo>
                    <a:pt x="5400" y="21600"/>
                    <a:pt x="5400" y="21600"/>
                    <a:pt x="5400" y="21600"/>
                  </a:cubicBezTo>
                  <a:cubicBezTo>
                    <a:pt x="2362" y="21600"/>
                    <a:pt x="0" y="19200"/>
                    <a:pt x="0" y="16114"/>
                  </a:cubicBezTo>
                  <a:cubicBezTo>
                    <a:pt x="0" y="5486"/>
                    <a:pt x="0" y="5486"/>
                    <a:pt x="0" y="5486"/>
                  </a:cubicBezTo>
                  <a:cubicBezTo>
                    <a:pt x="0" y="2400"/>
                    <a:pt x="2362" y="0"/>
                    <a:pt x="5400" y="0"/>
                  </a:cubicBezTo>
                  <a:cubicBezTo>
                    <a:pt x="16200" y="0"/>
                    <a:pt x="16200" y="0"/>
                    <a:pt x="16200" y="0"/>
                  </a:cubicBezTo>
                  <a:cubicBezTo>
                    <a:pt x="189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1" name="Freeform 4380"/>
            <p:cNvSpPr/>
            <p:nvPr>
              <p:custDataLst>
                <p:tags r:id="rId9"/>
              </p:custDataLst>
            </p:nvPr>
          </p:nvSpPr>
          <p:spPr>
            <a:xfrm>
              <a:off x="7671903"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00" y="21600"/>
                    <a:pt x="16114" y="21600"/>
                  </a:cubicBezTo>
                  <a:cubicBezTo>
                    <a:pt x="5486" y="21600"/>
                    <a:pt x="5486" y="21600"/>
                    <a:pt x="5486" y="21600"/>
                  </a:cubicBezTo>
                  <a:cubicBezTo>
                    <a:pt x="2400" y="21600"/>
                    <a:pt x="0" y="19200"/>
                    <a:pt x="0" y="16114"/>
                  </a:cubicBezTo>
                  <a:cubicBezTo>
                    <a:pt x="0" y="5486"/>
                    <a:pt x="0" y="5486"/>
                    <a:pt x="0" y="5486"/>
                  </a:cubicBezTo>
                  <a:cubicBezTo>
                    <a:pt x="0" y="2400"/>
                    <a:pt x="2400" y="0"/>
                    <a:pt x="5486" y="0"/>
                  </a:cubicBezTo>
                  <a:cubicBezTo>
                    <a:pt x="16114" y="0"/>
                    <a:pt x="16114" y="0"/>
                    <a:pt x="16114" y="0"/>
                  </a:cubicBezTo>
                  <a:cubicBezTo>
                    <a:pt x="192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57" name="组合 56"/>
          <p:cNvGrpSpPr/>
          <p:nvPr/>
        </p:nvGrpSpPr>
        <p:grpSpPr>
          <a:xfrm>
            <a:off x="10792467" y="5771002"/>
            <a:ext cx="1307896" cy="980287"/>
            <a:chOff x="11332293" y="4413896"/>
            <a:chExt cx="484965" cy="348128"/>
          </a:xfrm>
        </p:grpSpPr>
        <p:sp>
          <p:nvSpPr>
            <p:cNvPr id="58" name="Freeform 376"/>
            <p:cNvSpPr/>
            <p:nvPr>
              <p:custDataLst>
                <p:tags r:id="rId1"/>
              </p:custDataLst>
            </p:nvPr>
          </p:nvSpPr>
          <p:spPr>
            <a:xfrm>
              <a:off x="11511388" y="4669457"/>
              <a:ext cx="126775" cy="92567"/>
            </a:xfrm>
            <a:custGeom>
              <a:avLst/>
              <a:gdLst/>
              <a:ahLst/>
              <a:cxnLst>
                <a:cxn ang="0">
                  <a:pos x="wd2" y="hd2"/>
                </a:cxn>
                <a:cxn ang="5400000">
                  <a:pos x="wd2" y="hd2"/>
                </a:cxn>
                <a:cxn ang="10800000">
                  <a:pos x="wd2" y="hd2"/>
                </a:cxn>
                <a:cxn ang="16200000">
                  <a:pos x="wd2" y="hd2"/>
                </a:cxn>
              </a:cxnLst>
              <a:rect l="0" t="0" r="r" b="b"/>
              <a:pathLst>
                <a:path w="21600" h="21600" extrusionOk="0">
                  <a:moveTo>
                    <a:pt x="0" y="5959"/>
                  </a:moveTo>
                  <a:cubicBezTo>
                    <a:pt x="10800" y="21600"/>
                    <a:pt x="10800" y="21600"/>
                    <a:pt x="10800" y="21600"/>
                  </a:cubicBezTo>
                  <a:cubicBezTo>
                    <a:pt x="21600" y="5959"/>
                    <a:pt x="21600" y="5959"/>
                    <a:pt x="21600" y="5959"/>
                  </a:cubicBezTo>
                  <a:cubicBezTo>
                    <a:pt x="18900" y="2234"/>
                    <a:pt x="15120" y="0"/>
                    <a:pt x="10800" y="0"/>
                  </a:cubicBezTo>
                  <a:cubicBezTo>
                    <a:pt x="6480" y="0"/>
                    <a:pt x="2700" y="2234"/>
                    <a:pt x="0" y="5959"/>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9" name="Freeform 377"/>
            <p:cNvSpPr/>
            <p:nvPr>
              <p:custDataLst>
                <p:tags r:id="rId2"/>
              </p:custDataLst>
            </p:nvPr>
          </p:nvSpPr>
          <p:spPr>
            <a:xfrm>
              <a:off x="11422846" y="4542683"/>
              <a:ext cx="305870" cy="114702"/>
            </a:xfrm>
            <a:custGeom>
              <a:avLst/>
              <a:gdLst/>
              <a:ahLst/>
              <a:cxnLst>
                <a:cxn ang="0">
                  <a:pos x="wd2" y="hd2"/>
                </a:cxn>
                <a:cxn ang="5400000">
                  <a:pos x="wd2" y="hd2"/>
                </a:cxn>
                <a:cxn ang="10800000">
                  <a:pos x="wd2" y="hd2"/>
                </a:cxn>
                <a:cxn ang="16200000">
                  <a:pos x="wd2" y="hd2"/>
                </a:cxn>
              </a:cxnLst>
              <a:rect l="0" t="0" r="r" b="b"/>
              <a:pathLst>
                <a:path w="21600" h="21600" extrusionOk="0">
                  <a:moveTo>
                    <a:pt x="0" y="11400"/>
                  </a:moveTo>
                  <a:cubicBezTo>
                    <a:pt x="3600" y="21600"/>
                    <a:pt x="3600" y="21600"/>
                    <a:pt x="3600" y="21600"/>
                  </a:cubicBezTo>
                  <a:cubicBezTo>
                    <a:pt x="5625" y="16800"/>
                    <a:pt x="8100" y="13800"/>
                    <a:pt x="10800" y="13800"/>
                  </a:cubicBezTo>
                  <a:cubicBezTo>
                    <a:pt x="13500" y="13800"/>
                    <a:pt x="15975" y="16800"/>
                    <a:pt x="18000" y="21600"/>
                  </a:cubicBezTo>
                  <a:cubicBezTo>
                    <a:pt x="21600" y="11400"/>
                    <a:pt x="21600" y="11400"/>
                    <a:pt x="21600" y="11400"/>
                  </a:cubicBezTo>
                  <a:cubicBezTo>
                    <a:pt x="18675" y="4200"/>
                    <a:pt x="15075" y="0"/>
                    <a:pt x="10800" y="0"/>
                  </a:cubicBezTo>
                  <a:cubicBezTo>
                    <a:pt x="6525" y="0"/>
                    <a:pt x="2925" y="4200"/>
                    <a:pt x="0" y="11400"/>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0" name="Freeform 378"/>
            <p:cNvSpPr/>
            <p:nvPr>
              <p:custDataLst>
                <p:tags r:id="rId3"/>
              </p:custDataLst>
            </p:nvPr>
          </p:nvSpPr>
          <p:spPr>
            <a:xfrm>
              <a:off x="11332293" y="4413896"/>
              <a:ext cx="484965" cy="15092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6679" y="0"/>
                    <a:pt x="2842" y="5055"/>
                    <a:pt x="0" y="13787"/>
                  </a:cubicBezTo>
                  <a:cubicBezTo>
                    <a:pt x="2274" y="21600"/>
                    <a:pt x="2274" y="21600"/>
                    <a:pt x="2274" y="21600"/>
                  </a:cubicBezTo>
                  <a:cubicBezTo>
                    <a:pt x="3411" y="18383"/>
                    <a:pt x="4689" y="15626"/>
                    <a:pt x="5968" y="13787"/>
                  </a:cubicBezTo>
                  <a:cubicBezTo>
                    <a:pt x="7532" y="11489"/>
                    <a:pt x="9095" y="10570"/>
                    <a:pt x="10800" y="10570"/>
                  </a:cubicBezTo>
                  <a:cubicBezTo>
                    <a:pt x="12505" y="10570"/>
                    <a:pt x="14068" y="11489"/>
                    <a:pt x="15632" y="13787"/>
                  </a:cubicBezTo>
                  <a:cubicBezTo>
                    <a:pt x="16911" y="15626"/>
                    <a:pt x="18189" y="18383"/>
                    <a:pt x="19326" y="21600"/>
                  </a:cubicBezTo>
                  <a:cubicBezTo>
                    <a:pt x="21600" y="13787"/>
                    <a:pt x="21600" y="13787"/>
                    <a:pt x="21600" y="13787"/>
                  </a:cubicBezTo>
                  <a:cubicBezTo>
                    <a:pt x="18758" y="5055"/>
                    <a:pt x="14921" y="0"/>
                    <a:pt x="10800" y="0"/>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p:cTn id="23" dur="500" fill="hold"/>
                                        <p:tgtEl>
                                          <p:spTgt spid="57"/>
                                        </p:tgtEl>
                                        <p:attrNameLst>
                                          <p:attrName>ppt_w</p:attrName>
                                        </p:attrNameLst>
                                      </p:cBhvr>
                                      <p:tavLst>
                                        <p:tav tm="0">
                                          <p:val>
                                            <p:fltVal val="0"/>
                                          </p:val>
                                        </p:tav>
                                        <p:tav tm="100000">
                                          <p:val>
                                            <p:strVal val="#ppt_w"/>
                                          </p:val>
                                        </p:tav>
                                      </p:tavLst>
                                    </p:anim>
                                    <p:anim calcmode="lin" valueType="num">
                                      <p:cBhvr>
                                        <p:cTn id="24" dur="5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iterate type="lt">
                                    <p:tmPct val="20000"/>
                                  </p:iterate>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linds(horizontal)">
                                      <p:cBhvr>
                                        <p:cTn id="2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1199563" y="2197081"/>
            <a:ext cx="4528927" cy="317719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矩形 2"/>
          <p:cNvSpPr/>
          <p:nvPr/>
        </p:nvSpPr>
        <p:spPr>
          <a:xfrm>
            <a:off x="944096" y="152679"/>
            <a:ext cx="674667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完成任务达成的技能目标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圆角矩形 3"/>
          <p:cNvSpPr/>
          <p:nvPr/>
        </p:nvSpPr>
        <p:spPr>
          <a:xfrm>
            <a:off x="1236050" y="1877980"/>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 name="椭圆 5"/>
          <p:cNvSpPr/>
          <p:nvPr/>
        </p:nvSpPr>
        <p:spPr>
          <a:xfrm>
            <a:off x="662844"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01</a:t>
            </a:r>
          </a:p>
        </p:txBody>
      </p:sp>
      <p:sp>
        <p:nvSpPr>
          <p:cNvPr id="8" name="空心弧 7"/>
          <p:cNvSpPr/>
          <p:nvPr/>
        </p:nvSpPr>
        <p:spPr>
          <a:xfrm rot="1740000">
            <a:off x="485628" y="1482465"/>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 name="Text2"/>
          <p:cNvSpPr txBox="1"/>
          <p:nvPr/>
        </p:nvSpPr>
        <p:spPr>
          <a:xfrm>
            <a:off x="1663448" y="1922846"/>
            <a:ext cx="2443945" cy="508767"/>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任务描述</a:t>
            </a:r>
            <a:r>
              <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p>
        </p:txBody>
      </p:sp>
      <p:sp>
        <p:nvSpPr>
          <p:cNvPr id="56" name="圆角矩形 55"/>
          <p:cNvSpPr/>
          <p:nvPr>
            <p:custDataLst>
              <p:tags r:id="rId1"/>
            </p:custDataLst>
          </p:nvPr>
        </p:nvSpPr>
        <p:spPr>
          <a:xfrm>
            <a:off x="6977894" y="2151833"/>
            <a:ext cx="4985321" cy="322244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2" name="圆角矩形 61"/>
          <p:cNvSpPr/>
          <p:nvPr>
            <p:custDataLst>
              <p:tags r:id="rId2"/>
            </p:custDataLst>
          </p:nvPr>
        </p:nvSpPr>
        <p:spPr>
          <a:xfrm>
            <a:off x="6978741" y="1880942"/>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3" name="椭圆 62"/>
          <p:cNvSpPr/>
          <p:nvPr>
            <p:custDataLst>
              <p:tags r:id="rId3"/>
            </p:custDataLst>
          </p:nvPr>
        </p:nvSpPr>
        <p:spPr>
          <a:xfrm>
            <a:off x="6503836"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02</a:t>
            </a:r>
          </a:p>
        </p:txBody>
      </p:sp>
      <p:sp>
        <p:nvSpPr>
          <p:cNvPr id="64" name="空心弧 63"/>
          <p:cNvSpPr/>
          <p:nvPr>
            <p:custDataLst>
              <p:tags r:id="rId4"/>
            </p:custDataLst>
          </p:nvPr>
        </p:nvSpPr>
        <p:spPr>
          <a:xfrm rot="1740000">
            <a:off x="6263960" y="1437217"/>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5" name="Text2"/>
          <p:cNvSpPr txBox="1"/>
          <p:nvPr>
            <p:custDataLst>
              <p:tags r:id="rId5"/>
            </p:custDataLst>
          </p:nvPr>
        </p:nvSpPr>
        <p:spPr>
          <a:xfrm>
            <a:off x="7462450" y="1890921"/>
            <a:ext cx="2247637" cy="55363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技能目标</a:t>
            </a: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p>
        </p:txBody>
      </p:sp>
      <p:sp>
        <p:nvSpPr>
          <p:cNvPr id="5" name="文本框 4"/>
          <p:cNvSpPr txBox="1"/>
          <p:nvPr/>
        </p:nvSpPr>
        <p:spPr>
          <a:xfrm>
            <a:off x="1681731" y="2537064"/>
            <a:ext cx="3824682" cy="1671320"/>
          </a:xfrm>
          <a:prstGeom prst="rect">
            <a:avLst/>
          </a:prstGeom>
          <a:noFill/>
        </p:spPr>
        <p:txBody>
          <a:bodyPr wrap="square" rtlCol="0">
            <a:spAutoFit/>
          </a:bodyPr>
          <a:lstStyle/>
          <a:p>
            <a:pPr>
              <a:lnSpc>
                <a:spcPct val="120000"/>
              </a:lnSpc>
              <a:defRPr/>
            </a:pP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本任务使用滑块视图容器组件</a:t>
            </a:r>
            <a:r>
              <a:rPr lang="en-US" altLang="zh-CN"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Swiper</a:t>
            </a: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，配合层叠布局和页面路由，完成页面的轮播功能和跳转到指定的详情页。</a:t>
            </a:r>
            <a:endParaRPr lang="en-US" altLang="zh-CN" sz="2135" kern="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nvGrpSpPr>
          <p:cNvPr id="11" name="组合 10"/>
          <p:cNvGrpSpPr/>
          <p:nvPr/>
        </p:nvGrpSpPr>
        <p:grpSpPr>
          <a:xfrm>
            <a:off x="7093213" y="2758220"/>
            <a:ext cx="4214048" cy="435965"/>
            <a:chOff x="3644" y="2232"/>
            <a:chExt cx="4978" cy="515"/>
          </a:xfrm>
        </p:grpSpPr>
        <p:sp>
          <p:nvSpPr>
            <p:cNvPr id="12" name="文本框 11"/>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能正确使用滑块视图容器</a:t>
              </a:r>
              <a:r>
                <a:rPr lang="en-US" altLang="zh-CN"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Swiper</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3" name="椭圆 1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p>
          </p:txBody>
        </p:sp>
      </p:grpSp>
      <p:grpSp>
        <p:nvGrpSpPr>
          <p:cNvPr id="14" name="组合 13"/>
          <p:cNvGrpSpPr/>
          <p:nvPr/>
        </p:nvGrpSpPr>
        <p:grpSpPr>
          <a:xfrm>
            <a:off x="7093213" y="3317779"/>
            <a:ext cx="4642395" cy="445277"/>
            <a:chOff x="3644" y="3228"/>
            <a:chExt cx="5484" cy="526"/>
          </a:xfrm>
        </p:grpSpPr>
        <p:sp>
          <p:nvSpPr>
            <p:cNvPr id="15" name="文本框 14"/>
            <p:cNvSpPr txBox="1"/>
            <p:nvPr/>
          </p:nvSpPr>
          <p:spPr>
            <a:xfrm>
              <a:off x="4098" y="3228"/>
              <a:ext cx="5030"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能开发轮播页</a:t>
              </a:r>
            </a:p>
          </p:txBody>
        </p:sp>
        <p:sp>
          <p:nvSpPr>
            <p:cNvPr id="16" name="椭圆 15"/>
            <p:cNvSpPr/>
            <p:nvPr/>
          </p:nvSpPr>
          <p:spPr>
            <a:xfrm>
              <a:off x="3644" y="3332"/>
              <a:ext cx="431" cy="42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par>
                                <p:cTn id="9" presetID="21" presetClass="entr" presetSubtype="1" fill="hold" grpId="0" nodeType="withEffect">
                                  <p:stCondLst>
                                    <p:cond delay="200"/>
                                  </p:stCondLst>
                                  <p:childTnLst>
                                    <p:set>
                                      <p:cBhvr>
                                        <p:cTn id="10" dur="1000" fill="hold">
                                          <p:stCondLst>
                                            <p:cond delay="0"/>
                                          </p:stCondLst>
                                        </p:cTn>
                                        <p:tgtEl>
                                          <p:spTgt spid="6"/>
                                        </p:tgtEl>
                                        <p:attrNameLst>
                                          <p:attrName>style.visibility</p:attrName>
                                        </p:attrNameLst>
                                      </p:cBhvr>
                                      <p:to>
                                        <p:strVal val="visible"/>
                                      </p:to>
                                    </p:set>
                                    <p:animEffect transition="in" filter="wheel(1)">
                                      <p:cBhvr>
                                        <p:cTn id="11" dur="1000"/>
                                        <p:tgtEl>
                                          <p:spTgt spid="6"/>
                                        </p:tgtEl>
                                      </p:cBhvr>
                                    </p:animEffect>
                                  </p:childTnLst>
                                </p:cTn>
                              </p:par>
                              <p:par>
                                <p:cTn id="12" presetID="21" presetClass="entr" presetSubtype="1" fill="hold" grpId="0" nodeType="withEffect">
                                  <p:stCondLst>
                                    <p:cond delay="200"/>
                                  </p:stCondLst>
                                  <p:childTnLst>
                                    <p:set>
                                      <p:cBhvr>
                                        <p:cTn id="13" dur="1000" fill="hold">
                                          <p:stCondLst>
                                            <p:cond delay="0"/>
                                          </p:stCondLst>
                                        </p:cTn>
                                        <p:tgtEl>
                                          <p:spTgt spid="8"/>
                                        </p:tgtEl>
                                        <p:attrNameLst>
                                          <p:attrName>style.visibility</p:attrName>
                                        </p:attrNameLst>
                                      </p:cBhvr>
                                      <p:to>
                                        <p:strVal val="visible"/>
                                      </p:to>
                                    </p:set>
                                    <p:animEffect transition="in" filter="wheel(1)">
                                      <p:cBhvr>
                                        <p:cTn id="14" dur="1000"/>
                                        <p:tgtEl>
                                          <p:spTgt spid="8"/>
                                        </p:tgtEl>
                                      </p:cBhvr>
                                    </p:animEffect>
                                  </p:childTnLst>
                                </p:cTn>
                              </p:par>
                              <p:par>
                                <p:cTn id="15" presetID="17" presetClass="entr" presetSubtype="8" fill="hold" grpId="0" nodeType="withEffect">
                                  <p:stCondLst>
                                    <p:cond delay="0"/>
                                  </p:stCondLst>
                                  <p:childTnLst>
                                    <p:set>
                                      <p:cBhvr additive="base">
                                        <p:cTn id="16" dur="500"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anim calcmode="lin" valueType="num">
                                      <p:cBhvr additive="base">
                                        <p:cTn id="19" dur="500" fill="hold"/>
                                        <p:tgtEl>
                                          <p:spTgt spid="4"/>
                                        </p:tgtEl>
                                        <p:attrNameLst>
                                          <p:attrName>ppt_w</p:attrName>
                                        </p:attrNameLst>
                                      </p:cBhvr>
                                      <p:tavLst>
                                        <p:tav tm="0">
                                          <p:val>
                                            <p:fltVal val="0"/>
                                          </p:val>
                                        </p:tav>
                                        <p:tav tm="100000">
                                          <p:val>
                                            <p:strVal val="#ppt_w"/>
                                          </p:val>
                                        </p:tav>
                                      </p:tavLst>
                                    </p:anim>
                                    <p:anim calcmode="lin" valueType="num">
                                      <p:cBhvr additive="base">
                                        <p:cTn id="20" dur="500" fill="hold"/>
                                        <p:tgtEl>
                                          <p:spTgt spid="4"/>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iterate type="lt">
                                    <p:tmPct val="20000"/>
                                  </p:iterate>
                                  <p:childTnLst>
                                    <p:set>
                                      <p:cBhvr>
                                        <p:cTn id="22" dur="1" fill="hold">
                                          <p:stCondLst>
                                            <p:cond delay="0"/>
                                          </p:stCondLst>
                                        </p:cTn>
                                        <p:tgtEl>
                                          <p:spTgt spid="2">
                                            <p:txEl>
                                              <p:pRg st="0" end="0"/>
                                            </p:txEl>
                                          </p:spTgt>
                                        </p:tgtEl>
                                        <p:attrNameLst>
                                          <p:attrName>style.visibility</p:attrName>
                                        </p:attrNameLst>
                                      </p:cBhvr>
                                      <p:to>
                                        <p:strVal val="visible"/>
                                      </p:to>
                                    </p:set>
                                    <p:anim calcmode="lin" valueType="num">
                                      <p:cBhvr>
                                        <p:cTn id="23"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0" end="0"/>
                                            </p:txEl>
                                          </p:spTgt>
                                        </p:tgtEl>
                                        <p:attrNameLst>
                                          <p:attrName>ppt_h</p:attrName>
                                        </p:attrNameLst>
                                      </p:cBhvr>
                                      <p:tavLst>
                                        <p:tav tm="0">
                                          <p:val>
                                            <p:strVal val="#ppt_h"/>
                                          </p:val>
                                        </p:tav>
                                        <p:tav tm="100000">
                                          <p:val>
                                            <p:strVal val="#ppt_h"/>
                                          </p:val>
                                        </p:tav>
                                      </p:tavLst>
                                    </p:anim>
                                  </p:childTnLst>
                                </p:cTn>
                              </p:par>
                              <p:par>
                                <p:cTn id="25" presetID="20" presetClass="entr" presetSubtype="0" fill="hold" grpId="0" nodeType="withEffect">
                                  <p:stCondLst>
                                    <p:cond delay="0"/>
                                  </p:stCondLst>
                                  <p:childTnLst>
                                    <p:set>
                                      <p:cBhvr>
                                        <p:cTn id="26" dur="1000" fill="hold">
                                          <p:stCondLst>
                                            <p:cond delay="0"/>
                                          </p:stCondLst>
                                        </p:cTn>
                                        <p:tgtEl>
                                          <p:spTgt spid="55"/>
                                        </p:tgtEl>
                                        <p:attrNameLst>
                                          <p:attrName>style.visibility</p:attrName>
                                        </p:attrNameLst>
                                      </p:cBhvr>
                                      <p:to>
                                        <p:strVal val="visible"/>
                                      </p:to>
                                    </p:set>
                                    <p:animEffect transition="in" filter="wedge">
                                      <p:cBhvr>
                                        <p:cTn id="27" dur="1000"/>
                                        <p:tgtEl>
                                          <p:spTgt spid="55"/>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p:cTn id="30"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31"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32" dur="10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000" fill="hold">
                                          <p:stCondLst>
                                            <p:cond delay="0"/>
                                          </p:stCondLst>
                                        </p:cTn>
                                        <p:tgtEl>
                                          <p:spTgt spid="63"/>
                                        </p:tgtEl>
                                        <p:attrNameLst>
                                          <p:attrName>style.visibility</p:attrName>
                                        </p:attrNameLst>
                                      </p:cBhvr>
                                      <p:to>
                                        <p:strVal val="visible"/>
                                      </p:to>
                                    </p:set>
                                    <p:animEffect transition="in" filter="wheel(1)">
                                      <p:cBhvr>
                                        <p:cTn id="37" dur="1000"/>
                                        <p:tgtEl>
                                          <p:spTgt spid="63"/>
                                        </p:tgtEl>
                                      </p:cBhvr>
                                    </p:animEffect>
                                  </p:childTnLst>
                                </p:cTn>
                              </p:par>
                            </p:childTnLst>
                          </p:cTn>
                        </p:par>
                        <p:par>
                          <p:cTn id="38" fill="hold">
                            <p:stCondLst>
                              <p:cond delay="1000"/>
                            </p:stCondLst>
                            <p:childTnLst>
                              <p:par>
                                <p:cTn id="39" presetID="21" presetClass="entr" presetSubtype="1" fill="hold" grpId="0" nodeType="afterEffect">
                                  <p:stCondLst>
                                    <p:cond delay="0"/>
                                  </p:stCondLst>
                                  <p:childTnLst>
                                    <p:set>
                                      <p:cBhvr>
                                        <p:cTn id="40" dur="1000" fill="hold">
                                          <p:stCondLst>
                                            <p:cond delay="0"/>
                                          </p:stCondLst>
                                        </p:cTn>
                                        <p:tgtEl>
                                          <p:spTgt spid="64"/>
                                        </p:tgtEl>
                                        <p:attrNameLst>
                                          <p:attrName>style.visibility</p:attrName>
                                        </p:attrNameLst>
                                      </p:cBhvr>
                                      <p:to>
                                        <p:strVal val="visible"/>
                                      </p:to>
                                    </p:set>
                                    <p:animEffect transition="in" filter="wheel(1)">
                                      <p:cBhvr>
                                        <p:cTn id="41" dur="1000"/>
                                        <p:tgtEl>
                                          <p:spTgt spid="64"/>
                                        </p:tgtEl>
                                      </p:cBhvr>
                                    </p:animEffect>
                                  </p:childTnLst>
                                </p:cTn>
                              </p:par>
                              <p:par>
                                <p:cTn id="42" presetID="17" presetClass="entr" presetSubtype="8" fill="hold" grpId="0" nodeType="withEffect">
                                  <p:stCondLst>
                                    <p:cond delay="0"/>
                                  </p:stCondLst>
                                  <p:childTnLst>
                                    <p:set>
                                      <p:cBhvr additive="base">
                                        <p:cTn id="43" dur="500" fill="hold">
                                          <p:stCondLst>
                                            <p:cond delay="0"/>
                                          </p:stCondLst>
                                        </p:cTn>
                                        <p:tgtEl>
                                          <p:spTgt spid="62"/>
                                        </p:tgtEl>
                                        <p:attrNameLst>
                                          <p:attrName>style.visibility</p:attrName>
                                        </p:attrNameLst>
                                      </p:cBhvr>
                                      <p:to>
                                        <p:strVal val="visible"/>
                                      </p:to>
                                    </p:set>
                                    <p:anim calcmode="lin" valueType="num">
                                      <p:cBhvr additive="base">
                                        <p:cTn id="44" dur="500" fill="hold"/>
                                        <p:tgtEl>
                                          <p:spTgt spid="62"/>
                                        </p:tgtEl>
                                        <p:attrNameLst>
                                          <p:attrName>ppt_x</p:attrName>
                                        </p:attrNameLst>
                                      </p:cBhvr>
                                      <p:tavLst>
                                        <p:tav tm="0">
                                          <p:val>
                                            <p:strVal val="#ppt_x-#ppt_w/2"/>
                                          </p:val>
                                        </p:tav>
                                        <p:tav tm="100000">
                                          <p:val>
                                            <p:strVal val="#ppt_x"/>
                                          </p:val>
                                        </p:tav>
                                      </p:tavLst>
                                    </p:anim>
                                    <p:anim calcmode="lin" valueType="num">
                                      <p:cBhvr additive="base">
                                        <p:cTn id="45" dur="500" fill="hold"/>
                                        <p:tgtEl>
                                          <p:spTgt spid="62"/>
                                        </p:tgtEl>
                                        <p:attrNameLst>
                                          <p:attrName>ppt_y</p:attrName>
                                        </p:attrNameLst>
                                      </p:cBhvr>
                                      <p:tavLst>
                                        <p:tav tm="0">
                                          <p:val>
                                            <p:strVal val="#ppt_y"/>
                                          </p:val>
                                        </p:tav>
                                        <p:tav tm="100000">
                                          <p:val>
                                            <p:strVal val="#ppt_y"/>
                                          </p:val>
                                        </p:tav>
                                      </p:tavLst>
                                    </p:anim>
                                    <p:anim calcmode="lin" valueType="num">
                                      <p:cBhvr additive="base">
                                        <p:cTn id="46" dur="500" fill="hold"/>
                                        <p:tgtEl>
                                          <p:spTgt spid="62"/>
                                        </p:tgtEl>
                                        <p:attrNameLst>
                                          <p:attrName>ppt_w</p:attrName>
                                        </p:attrNameLst>
                                      </p:cBhvr>
                                      <p:tavLst>
                                        <p:tav tm="0">
                                          <p:val>
                                            <p:fltVal val="0"/>
                                          </p:val>
                                        </p:tav>
                                        <p:tav tm="100000">
                                          <p:val>
                                            <p:strVal val="#ppt_w"/>
                                          </p:val>
                                        </p:tav>
                                      </p:tavLst>
                                    </p:anim>
                                    <p:anim calcmode="lin" valueType="num">
                                      <p:cBhvr additive="base">
                                        <p:cTn id="47" dur="500" fill="hold"/>
                                        <p:tgtEl>
                                          <p:spTgt spid="62"/>
                                        </p:tgtEl>
                                        <p:attrNameLst>
                                          <p:attrName>ppt_h</p:attrName>
                                        </p:attrNameLst>
                                      </p:cBhvr>
                                      <p:tavLst>
                                        <p:tav tm="0">
                                          <p:val>
                                            <p:strVal val="#ppt_h"/>
                                          </p:val>
                                        </p:tav>
                                        <p:tav tm="100000">
                                          <p:val>
                                            <p:strVal val="#ppt_h"/>
                                          </p:val>
                                        </p:tav>
                                      </p:tavLst>
                                    </p:anim>
                                  </p:childTnLst>
                                </p:cTn>
                              </p:par>
                              <p:par>
                                <p:cTn id="48" presetID="17" presetClass="entr" presetSubtype="10" fill="hold" nodeType="withEffect">
                                  <p:stCondLst>
                                    <p:cond delay="0"/>
                                  </p:stCondLst>
                                  <p:iterate type="lt">
                                    <p:tmPct val="20000"/>
                                  </p:iterate>
                                  <p:childTnLst>
                                    <p:set>
                                      <p:cBhvr>
                                        <p:cTn id="49" dur="1" fill="hold">
                                          <p:stCondLst>
                                            <p:cond delay="0"/>
                                          </p:stCondLst>
                                        </p:cTn>
                                        <p:tgtEl>
                                          <p:spTgt spid="65">
                                            <p:txEl>
                                              <p:pRg st="0" end="0"/>
                                            </p:txEl>
                                          </p:spTgt>
                                        </p:tgtEl>
                                        <p:attrNameLst>
                                          <p:attrName>style.visibility</p:attrName>
                                        </p:attrNameLst>
                                      </p:cBhvr>
                                      <p:to>
                                        <p:strVal val="visible"/>
                                      </p:to>
                                    </p:set>
                                    <p:anim calcmode="lin" valueType="num">
                                      <p:cBhvr>
                                        <p:cTn id="50" dur="500" fill="hold"/>
                                        <p:tgtEl>
                                          <p:spTgt spid="65">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65">
                                            <p:txEl>
                                              <p:pRg st="0" end="0"/>
                                            </p:txEl>
                                          </p:spTgt>
                                        </p:tgtEl>
                                        <p:attrNameLst>
                                          <p:attrName>ppt_h</p:attrName>
                                        </p:attrNameLst>
                                      </p:cBhvr>
                                      <p:tavLst>
                                        <p:tav tm="0">
                                          <p:val>
                                            <p:strVal val="#ppt_h"/>
                                          </p:val>
                                        </p:tav>
                                        <p:tav tm="100000">
                                          <p:val>
                                            <p:strVal val="#ppt_h"/>
                                          </p:val>
                                        </p:tav>
                                      </p:tavLst>
                                    </p:anim>
                                  </p:childTnLst>
                                </p:cTn>
                              </p:par>
                            </p:childTnLst>
                          </p:cTn>
                        </p:par>
                        <p:par>
                          <p:cTn id="52" fill="hold">
                            <p:stCondLst>
                              <p:cond delay="2000"/>
                            </p:stCondLst>
                            <p:childTnLst>
                              <p:par>
                                <p:cTn id="53" presetID="20" presetClass="entr" presetSubtype="0" fill="hold" grpId="0" nodeType="afterEffect">
                                  <p:stCondLst>
                                    <p:cond delay="0"/>
                                  </p:stCondLst>
                                  <p:childTnLst>
                                    <p:set>
                                      <p:cBhvr>
                                        <p:cTn id="54" dur="1000" fill="hold">
                                          <p:stCondLst>
                                            <p:cond delay="0"/>
                                          </p:stCondLst>
                                        </p:cTn>
                                        <p:tgtEl>
                                          <p:spTgt spid="56"/>
                                        </p:tgtEl>
                                        <p:attrNameLst>
                                          <p:attrName>style.visibility</p:attrName>
                                        </p:attrNameLst>
                                      </p:cBhvr>
                                      <p:to>
                                        <p:strVal val="visible"/>
                                      </p:to>
                                    </p:set>
                                    <p:animEffect transition="in" filter="wedge">
                                      <p:cBhvr>
                                        <p:cTn id="55" dur="10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decel="100000"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500" fill="hold"/>
                                        <p:tgtEl>
                                          <p:spTgt spid="11"/>
                                        </p:tgtEl>
                                        <p:attrNameLst>
                                          <p:attrName>ppt_x</p:attrName>
                                        </p:attrNameLst>
                                      </p:cBhvr>
                                      <p:tavLst>
                                        <p:tav tm="0">
                                          <p:val>
                                            <p:strVal val="1+#ppt_w/2"/>
                                          </p:val>
                                        </p:tav>
                                        <p:tav tm="100000">
                                          <p:val>
                                            <p:strVal val="#ppt_x"/>
                                          </p:val>
                                        </p:tav>
                                      </p:tavLst>
                                    </p:anim>
                                    <p:anim calcmode="lin" valueType="num">
                                      <p:cBhvr additive="base">
                                        <p:cTn id="61"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decel="100000"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additive="base">
                                        <p:cTn id="66" dur="500" fill="hold"/>
                                        <p:tgtEl>
                                          <p:spTgt spid="14"/>
                                        </p:tgtEl>
                                        <p:attrNameLst>
                                          <p:attrName>ppt_x</p:attrName>
                                        </p:attrNameLst>
                                      </p:cBhvr>
                                      <p:tavLst>
                                        <p:tav tm="0">
                                          <p:val>
                                            <p:strVal val="1+#ppt_w/2"/>
                                          </p:val>
                                        </p:tav>
                                        <p:tav tm="100000">
                                          <p:val>
                                            <p:strVal val="#ppt_x"/>
                                          </p:val>
                                        </p:tav>
                                      </p:tavLst>
                                    </p:anim>
                                    <p:anim calcmode="lin" valueType="num">
                                      <p:cBhvr additive="base">
                                        <p:cTn id="67"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3" grpId="0"/>
      <p:bldP spid="4" grpId="0" bldLvl="0" animBg="1"/>
      <p:bldP spid="6" grpId="0" bldLvl="0" animBg="1"/>
      <p:bldP spid="8" grpId="0" bldLvl="0" animBg="1"/>
      <p:bldP spid="56" grpId="0" bldLvl="0" animBg="1"/>
      <p:bldP spid="62" grpId="0" bldLvl="0" animBg="1"/>
      <p:bldP spid="63" grpId="0" bldLvl="0" animBg="1"/>
      <p:bldP spid="64" grpId="0" bldLvl="0" animBg="1"/>
      <p:bldP spid="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8849" y="152820"/>
            <a:ext cx="629590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任务实施步骤</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9" name="组合 18"/>
          <p:cNvGrpSpPr/>
          <p:nvPr/>
        </p:nvGrpSpPr>
        <p:grpSpPr>
          <a:xfrm>
            <a:off x="748104" y="1444720"/>
            <a:ext cx="10519915" cy="4175557"/>
            <a:chOff x="669925" y="1108214"/>
            <a:chExt cx="10521559" cy="4176209"/>
          </a:xfrm>
        </p:grpSpPr>
        <p:sp>
          <p:nvSpPr>
            <p:cNvPr id="21" name="išļídé"/>
            <p:cNvSpPr/>
            <p:nvPr/>
          </p:nvSpPr>
          <p:spPr bwMode="auto">
            <a:xfrm>
              <a:off x="669925" y="1700809"/>
              <a:ext cx="9794527" cy="3583614"/>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solidFill>
              <a:prstDash val="dash"/>
              <a:miter lim="800000"/>
            </a:ln>
          </p:spPr>
          <p:txBody>
            <a:bodyPr vert="horz" wrap="square" lIns="109710" tIns="54855" rIns="109710" bIns="54855" numCol="1" anchor="t" anchorCtr="0" compatLnSpc="1"/>
            <a:lstStyle/>
            <a:p>
              <a:pPr>
                <a:lnSpc>
                  <a:spcPct val="120000"/>
                </a:lnSpc>
              </a:pPr>
              <a:endParaRPr lang="en-US" sz="2160" dirty="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iśľíḑé"/>
            <p:cNvSpPr/>
            <p:nvPr/>
          </p:nvSpPr>
          <p:spPr bwMode="auto">
            <a:xfrm>
              <a:off x="2616440" y="3258380"/>
              <a:ext cx="777020" cy="724217"/>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íṧļiḑé"/>
            <p:cNvSpPr/>
            <p:nvPr/>
          </p:nvSpPr>
          <p:spPr>
            <a:xfrm>
              <a:off x="2873120" y="3452092"/>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îṥḻîďe"/>
            <p:cNvSpPr/>
            <p:nvPr/>
          </p:nvSpPr>
          <p:spPr bwMode="auto">
            <a:xfrm>
              <a:off x="4522343" y="3825624"/>
              <a:ext cx="777020" cy="774892"/>
            </a:xfrm>
            <a:prstGeom prst="ellipse">
              <a:avLst/>
            </a:prstGeom>
            <a:solidFill>
              <a:schemeClr val="accent1"/>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íšļîḍé"/>
            <p:cNvSpPr/>
            <p:nvPr/>
          </p:nvSpPr>
          <p:spPr>
            <a:xfrm>
              <a:off x="4804357" y="4096502"/>
              <a:ext cx="236448" cy="236449"/>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7" y="0"/>
                    <a:pt x="9818" y="440"/>
                    <a:pt x="9818" y="982"/>
                  </a:cubicBezTo>
                  <a:lnTo>
                    <a:pt x="982" y="982"/>
                  </a:lnTo>
                  <a:cubicBezTo>
                    <a:pt x="439" y="982"/>
                    <a:pt x="0" y="1422"/>
                    <a:pt x="0" y="1964"/>
                  </a:cubicBezTo>
                  <a:lnTo>
                    <a:pt x="0" y="2945"/>
                  </a:lnTo>
                  <a:cubicBezTo>
                    <a:pt x="0" y="3488"/>
                    <a:pt x="439" y="3927"/>
                    <a:pt x="982" y="3927"/>
                  </a:cubicBezTo>
                  <a:lnTo>
                    <a:pt x="982" y="15709"/>
                  </a:lnTo>
                  <a:cubicBezTo>
                    <a:pt x="982" y="16252"/>
                    <a:pt x="1421" y="16691"/>
                    <a:pt x="1964" y="16691"/>
                  </a:cubicBezTo>
                  <a:lnTo>
                    <a:pt x="10309" y="16691"/>
                  </a:lnTo>
                  <a:lnTo>
                    <a:pt x="10309" y="17960"/>
                  </a:lnTo>
                  <a:lnTo>
                    <a:pt x="7507" y="20762"/>
                  </a:lnTo>
                  <a:cubicBezTo>
                    <a:pt x="7419" y="20851"/>
                    <a:pt x="7364" y="20974"/>
                    <a:pt x="7364" y="21109"/>
                  </a:cubicBezTo>
                  <a:cubicBezTo>
                    <a:pt x="7364" y="21380"/>
                    <a:pt x="7583" y="21600"/>
                    <a:pt x="7855" y="21600"/>
                  </a:cubicBezTo>
                  <a:cubicBezTo>
                    <a:pt x="7990" y="21600"/>
                    <a:pt x="8113" y="21545"/>
                    <a:pt x="8202" y="21456"/>
                  </a:cubicBezTo>
                  <a:lnTo>
                    <a:pt x="10800" y="18858"/>
                  </a:lnTo>
                  <a:lnTo>
                    <a:pt x="13398" y="21456"/>
                  </a:lnTo>
                  <a:cubicBezTo>
                    <a:pt x="13488" y="21545"/>
                    <a:pt x="13610" y="21600"/>
                    <a:pt x="13745" y="21600"/>
                  </a:cubicBezTo>
                  <a:cubicBezTo>
                    <a:pt x="14017" y="21600"/>
                    <a:pt x="14236" y="21380"/>
                    <a:pt x="14236" y="21109"/>
                  </a:cubicBezTo>
                  <a:cubicBezTo>
                    <a:pt x="14236" y="20974"/>
                    <a:pt x="14182"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6200" y="5891"/>
                  </a:moveTo>
                  <a:cubicBezTo>
                    <a:pt x="16471" y="5891"/>
                    <a:pt x="16691" y="6111"/>
                    <a:pt x="16691" y="6382"/>
                  </a:cubicBezTo>
                  <a:cubicBezTo>
                    <a:pt x="16691" y="6653"/>
                    <a:pt x="16471" y="6873"/>
                    <a:pt x="16200" y="6873"/>
                  </a:cubicBezTo>
                  <a:cubicBezTo>
                    <a:pt x="15929" y="6873"/>
                    <a:pt x="15709" y="6653"/>
                    <a:pt x="15709" y="6382"/>
                  </a:cubicBezTo>
                  <a:cubicBezTo>
                    <a:pt x="15709" y="6111"/>
                    <a:pt x="15929" y="5891"/>
                    <a:pt x="16200" y="5891"/>
                  </a:cubicBezTo>
                  <a:moveTo>
                    <a:pt x="16200" y="7855"/>
                  </a:moveTo>
                  <a:cubicBezTo>
                    <a:pt x="17013" y="7855"/>
                    <a:pt x="17673" y="7196"/>
                    <a:pt x="17673" y="6382"/>
                  </a:cubicBezTo>
                  <a:cubicBezTo>
                    <a:pt x="17673" y="5569"/>
                    <a:pt x="17013" y="4909"/>
                    <a:pt x="16200" y="4909"/>
                  </a:cubicBezTo>
                  <a:cubicBezTo>
                    <a:pt x="15387" y="4909"/>
                    <a:pt x="14727" y="5569"/>
                    <a:pt x="14727" y="6382"/>
                  </a:cubicBezTo>
                  <a:cubicBezTo>
                    <a:pt x="14727" y="7196"/>
                    <a:pt x="15387" y="7855"/>
                    <a:pt x="16200" y="7855"/>
                  </a:cubicBezTo>
                  <a:moveTo>
                    <a:pt x="8422" y="8135"/>
                  </a:moveTo>
                  <a:lnTo>
                    <a:pt x="11926" y="11638"/>
                  </a:lnTo>
                  <a:cubicBezTo>
                    <a:pt x="12015" y="11727"/>
                    <a:pt x="12138" y="11782"/>
                    <a:pt x="12273" y="11782"/>
                  </a:cubicBezTo>
                  <a:cubicBezTo>
                    <a:pt x="12408" y="11782"/>
                    <a:pt x="12531" y="11727"/>
                    <a:pt x="12620" y="11638"/>
                  </a:cubicBezTo>
                  <a:lnTo>
                    <a:pt x="14183" y="10075"/>
                  </a:lnTo>
                  <a:lnTo>
                    <a:pt x="16200" y="12764"/>
                  </a:lnTo>
                  <a:lnTo>
                    <a:pt x="5336" y="12764"/>
                  </a:lnTo>
                  <a:cubicBezTo>
                    <a:pt x="5336" y="12764"/>
                    <a:pt x="8422" y="8135"/>
                    <a:pt x="8422" y="8135"/>
                  </a:cubicBezTo>
                  <a:close/>
                  <a:moveTo>
                    <a:pt x="4418" y="13745"/>
                  </a:moveTo>
                  <a:lnTo>
                    <a:pt x="17182" y="13745"/>
                  </a:lnTo>
                  <a:cubicBezTo>
                    <a:pt x="17453" y="13745"/>
                    <a:pt x="17673" y="13526"/>
                    <a:pt x="17673" y="13255"/>
                  </a:cubicBezTo>
                  <a:cubicBezTo>
                    <a:pt x="17673" y="13144"/>
                    <a:pt x="17630" y="13047"/>
                    <a:pt x="17568" y="12965"/>
                  </a:cubicBezTo>
                  <a:lnTo>
                    <a:pt x="17575" y="12960"/>
                  </a:lnTo>
                  <a:lnTo>
                    <a:pt x="14629" y="9033"/>
                  </a:lnTo>
                  <a:lnTo>
                    <a:pt x="14622" y="9038"/>
                  </a:lnTo>
                  <a:cubicBezTo>
                    <a:pt x="14533" y="8919"/>
                    <a:pt x="14397" y="8836"/>
                    <a:pt x="14236" y="8836"/>
                  </a:cubicBezTo>
                  <a:cubicBezTo>
                    <a:pt x="14101" y="8836"/>
                    <a:pt x="13978" y="8891"/>
                    <a:pt x="13889" y="8980"/>
                  </a:cubicBezTo>
                  <a:lnTo>
                    <a:pt x="12273" y="10597"/>
                  </a:lnTo>
                  <a:lnTo>
                    <a:pt x="8693" y="7017"/>
                  </a:lnTo>
                  <a:cubicBezTo>
                    <a:pt x="8604" y="6928"/>
                    <a:pt x="8481" y="6873"/>
                    <a:pt x="8345" y="6873"/>
                  </a:cubicBezTo>
                  <a:cubicBezTo>
                    <a:pt x="8175" y="6873"/>
                    <a:pt x="8033" y="6965"/>
                    <a:pt x="7945" y="7097"/>
                  </a:cubicBezTo>
                  <a:lnTo>
                    <a:pt x="7937" y="7091"/>
                  </a:lnTo>
                  <a:lnTo>
                    <a:pt x="4010" y="12982"/>
                  </a:lnTo>
                  <a:lnTo>
                    <a:pt x="4017" y="12988"/>
                  </a:lnTo>
                  <a:cubicBezTo>
                    <a:pt x="3965" y="13066"/>
                    <a:pt x="3927" y="13154"/>
                    <a:pt x="3927" y="13255"/>
                  </a:cubicBezTo>
                  <a:cubicBezTo>
                    <a:pt x="3927" y="13526"/>
                    <a:pt x="4147" y="13745"/>
                    <a:pt x="4418" y="1374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îşḷíďé"/>
            <p:cNvSpPr/>
            <p:nvPr/>
          </p:nvSpPr>
          <p:spPr bwMode="auto">
            <a:xfrm>
              <a:off x="6465051" y="2514529"/>
              <a:ext cx="687758" cy="685872"/>
            </a:xfrm>
            <a:prstGeom prst="ellipse">
              <a:avLst/>
            </a:prstGeom>
            <a:solidFill>
              <a:srgbClr val="0A5AB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îS1îḋe"/>
            <p:cNvSpPr/>
            <p:nvPr/>
          </p:nvSpPr>
          <p:spPr>
            <a:xfrm>
              <a:off x="6677173" y="26929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8280" y="18579"/>
                  </a:moveTo>
                  <a:cubicBezTo>
                    <a:pt x="20323" y="16614"/>
                    <a:pt x="21600" y="13859"/>
                    <a:pt x="21600" y="10800"/>
                  </a:cubicBezTo>
                  <a:cubicBezTo>
                    <a:pt x="21600" y="4835"/>
                    <a:pt x="16764" y="0"/>
                    <a:pt x="10800" y="0"/>
                  </a:cubicBezTo>
                  <a:cubicBezTo>
                    <a:pt x="4836" y="0"/>
                    <a:pt x="0" y="4835"/>
                    <a:pt x="0" y="10800"/>
                  </a:cubicBezTo>
                  <a:cubicBezTo>
                    <a:pt x="0" y="13859"/>
                    <a:pt x="1277" y="16614"/>
                    <a:pt x="3320" y="18579"/>
                  </a:cubicBezTo>
                  <a:lnTo>
                    <a:pt x="2107" y="20762"/>
                  </a:lnTo>
                  <a:cubicBezTo>
                    <a:pt x="2019" y="20851"/>
                    <a:pt x="1964" y="20974"/>
                    <a:pt x="1964" y="21109"/>
                  </a:cubicBezTo>
                  <a:cubicBezTo>
                    <a:pt x="1964" y="21380"/>
                    <a:pt x="2184" y="21600"/>
                    <a:pt x="2455" y="21600"/>
                  </a:cubicBezTo>
                  <a:cubicBezTo>
                    <a:pt x="2590" y="21600"/>
                    <a:pt x="2713" y="21545"/>
                    <a:pt x="2802" y="21456"/>
                  </a:cubicBezTo>
                  <a:cubicBezTo>
                    <a:pt x="2858" y="21400"/>
                    <a:pt x="2894" y="21327"/>
                    <a:pt x="2917" y="21248"/>
                  </a:cubicBezTo>
                  <a:lnTo>
                    <a:pt x="4044" y="19219"/>
                  </a:lnTo>
                  <a:cubicBezTo>
                    <a:pt x="5895" y="20706"/>
                    <a:pt x="8242" y="21600"/>
                    <a:pt x="10800" y="21600"/>
                  </a:cubicBezTo>
                  <a:cubicBezTo>
                    <a:pt x="13358" y="21600"/>
                    <a:pt x="15705" y="20706"/>
                    <a:pt x="17555" y="19219"/>
                  </a:cubicBezTo>
                  <a:lnTo>
                    <a:pt x="18683" y="21248"/>
                  </a:lnTo>
                  <a:cubicBezTo>
                    <a:pt x="18743" y="21450"/>
                    <a:pt x="18923" y="21600"/>
                    <a:pt x="19145" y="21600"/>
                  </a:cubicBezTo>
                  <a:cubicBezTo>
                    <a:pt x="19416" y="21600"/>
                    <a:pt x="19636" y="21380"/>
                    <a:pt x="19636" y="21109"/>
                  </a:cubicBezTo>
                  <a:cubicBezTo>
                    <a:pt x="19636" y="20974"/>
                    <a:pt x="19581" y="20851"/>
                    <a:pt x="19493" y="20762"/>
                  </a:cubicBezTo>
                  <a:cubicBezTo>
                    <a:pt x="19493" y="20762"/>
                    <a:pt x="18280" y="18579"/>
                    <a:pt x="18280" y="18579"/>
                  </a:cubicBezTo>
                  <a:close/>
                  <a:moveTo>
                    <a:pt x="10800" y="16691"/>
                  </a:moveTo>
                  <a:cubicBezTo>
                    <a:pt x="7547" y="16691"/>
                    <a:pt x="4909" y="14053"/>
                    <a:pt x="4909" y="10800"/>
                  </a:cubicBezTo>
                  <a:cubicBezTo>
                    <a:pt x="4909" y="7547"/>
                    <a:pt x="7547" y="4909"/>
                    <a:pt x="10800" y="4909"/>
                  </a:cubicBezTo>
                  <a:cubicBezTo>
                    <a:pt x="14053" y="4909"/>
                    <a:pt x="16691" y="7547"/>
                    <a:pt x="16691" y="10800"/>
                  </a:cubicBezTo>
                  <a:cubicBezTo>
                    <a:pt x="16691" y="14053"/>
                    <a:pt x="14053" y="16691"/>
                    <a:pt x="10800" y="16691"/>
                  </a:cubicBezTo>
                  <a:moveTo>
                    <a:pt x="10800" y="3927"/>
                  </a:moveTo>
                  <a:cubicBezTo>
                    <a:pt x="7004" y="3927"/>
                    <a:pt x="3927" y="7004"/>
                    <a:pt x="3927" y="10800"/>
                  </a:cubicBezTo>
                  <a:cubicBezTo>
                    <a:pt x="3927" y="14596"/>
                    <a:pt x="7004" y="17673"/>
                    <a:pt x="10800" y="17673"/>
                  </a:cubicBezTo>
                  <a:cubicBezTo>
                    <a:pt x="14596" y="17673"/>
                    <a:pt x="17673" y="14596"/>
                    <a:pt x="17673" y="10800"/>
                  </a:cubicBezTo>
                  <a:cubicBezTo>
                    <a:pt x="17673" y="7004"/>
                    <a:pt x="14596" y="3927"/>
                    <a:pt x="10800" y="3927"/>
                  </a:cubicBezTo>
                  <a:moveTo>
                    <a:pt x="10800" y="12764"/>
                  </a:moveTo>
                  <a:cubicBezTo>
                    <a:pt x="9716" y="12764"/>
                    <a:pt x="8836" y="11884"/>
                    <a:pt x="8836" y="10800"/>
                  </a:cubicBezTo>
                  <a:cubicBezTo>
                    <a:pt x="8836" y="9716"/>
                    <a:pt x="9716" y="8836"/>
                    <a:pt x="10800" y="8836"/>
                  </a:cubicBezTo>
                  <a:cubicBezTo>
                    <a:pt x="11884" y="8836"/>
                    <a:pt x="12764" y="9716"/>
                    <a:pt x="12764" y="10800"/>
                  </a:cubicBezTo>
                  <a:cubicBezTo>
                    <a:pt x="12764" y="11884"/>
                    <a:pt x="11884" y="12764"/>
                    <a:pt x="10800" y="12764"/>
                  </a:cubicBezTo>
                  <a:moveTo>
                    <a:pt x="10800" y="7855"/>
                  </a:moveTo>
                  <a:cubicBezTo>
                    <a:pt x="9173" y="7855"/>
                    <a:pt x="7855" y="9173"/>
                    <a:pt x="7855" y="10800"/>
                  </a:cubicBezTo>
                  <a:cubicBezTo>
                    <a:pt x="7855" y="12427"/>
                    <a:pt x="9173" y="13745"/>
                    <a:pt x="10800" y="13745"/>
                  </a:cubicBezTo>
                  <a:cubicBezTo>
                    <a:pt x="12427" y="13745"/>
                    <a:pt x="13745" y="12427"/>
                    <a:pt x="13745" y="10800"/>
                  </a:cubicBezTo>
                  <a:cubicBezTo>
                    <a:pt x="13745" y="9173"/>
                    <a:pt x="12427" y="7855"/>
                    <a:pt x="10800" y="785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5" name="îṥḻîḋe"/>
            <p:cNvSpPr/>
            <p:nvPr/>
          </p:nvSpPr>
          <p:spPr bwMode="auto">
            <a:xfrm>
              <a:off x="8343900" y="3021574"/>
              <a:ext cx="726206" cy="724216"/>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íṥlïḍê"/>
            <p:cNvSpPr/>
            <p:nvPr/>
          </p:nvSpPr>
          <p:spPr>
            <a:xfrm>
              <a:off x="8567338" y="324401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ïṥḻíde"/>
            <p:cNvSpPr/>
            <p:nvPr/>
          </p:nvSpPr>
          <p:spPr>
            <a:xfrm rot="816452">
              <a:off x="10423986" y="1108214"/>
              <a:ext cx="767498" cy="76749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accent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iṥḻïḓé"/>
            <p:cNvSpPr/>
            <p:nvPr/>
          </p:nvSpPr>
          <p:spPr bwMode="auto">
            <a:xfrm>
              <a:off x="1182445" y="4358759"/>
              <a:ext cx="777020" cy="774892"/>
            </a:xfrm>
            <a:prstGeom prst="ellipse">
              <a:avLst/>
            </a:prstGeom>
            <a:solidFill>
              <a:srgbClr val="00B0F0"/>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ïsḻiḑè"/>
            <p:cNvSpPr/>
            <p:nvPr/>
          </p:nvSpPr>
          <p:spPr>
            <a:xfrm>
              <a:off x="1416280" y="4600517"/>
              <a:ext cx="309352" cy="331184"/>
            </a:xfrm>
            <a:custGeom>
              <a:avLst/>
              <a:gdLst>
                <a:gd name="connsiteX0" fmla="*/ 482620 w 607097"/>
                <a:gd name="connsiteY0" fmla="*/ 381169 h 606722"/>
                <a:gd name="connsiteX1" fmla="*/ 496768 w 607097"/>
                <a:gd name="connsiteY1" fmla="*/ 381169 h 606722"/>
                <a:gd name="connsiteX2" fmla="*/ 510916 w 607097"/>
                <a:gd name="connsiteY2" fmla="*/ 395381 h 606722"/>
                <a:gd name="connsiteX3" fmla="*/ 510916 w 607097"/>
                <a:gd name="connsiteY3" fmla="*/ 409505 h 606722"/>
                <a:gd name="connsiteX4" fmla="*/ 503887 w 607097"/>
                <a:gd name="connsiteY4" fmla="*/ 412525 h 606722"/>
                <a:gd name="connsiteX5" fmla="*/ 496768 w 607097"/>
                <a:gd name="connsiteY5" fmla="*/ 409505 h 606722"/>
                <a:gd name="connsiteX6" fmla="*/ 482620 w 607097"/>
                <a:gd name="connsiteY6" fmla="*/ 395381 h 606722"/>
                <a:gd name="connsiteX7" fmla="*/ 482620 w 607097"/>
                <a:gd name="connsiteY7" fmla="*/ 381169 h 606722"/>
                <a:gd name="connsiteX8" fmla="*/ 546398 w 607097"/>
                <a:gd name="connsiteY8" fmla="*/ 242745 h 606722"/>
                <a:gd name="connsiteX9" fmla="*/ 566606 w 607097"/>
                <a:gd name="connsiteY9" fmla="*/ 242745 h 606722"/>
                <a:gd name="connsiteX10" fmla="*/ 576754 w 607097"/>
                <a:gd name="connsiteY10" fmla="*/ 252756 h 606722"/>
                <a:gd name="connsiteX11" fmla="*/ 566606 w 607097"/>
                <a:gd name="connsiteY11" fmla="*/ 262856 h 606722"/>
                <a:gd name="connsiteX12" fmla="*/ 546398 w 607097"/>
                <a:gd name="connsiteY12" fmla="*/ 262856 h 606722"/>
                <a:gd name="connsiteX13" fmla="*/ 536249 w 607097"/>
                <a:gd name="connsiteY13" fmla="*/ 252756 h 606722"/>
                <a:gd name="connsiteX14" fmla="*/ 546398 w 607097"/>
                <a:gd name="connsiteY14" fmla="*/ 242745 h 606722"/>
                <a:gd name="connsiteX15" fmla="*/ 353968 w 607097"/>
                <a:gd name="connsiteY15" fmla="*/ 101120 h 606722"/>
                <a:gd name="connsiteX16" fmla="*/ 364118 w 607097"/>
                <a:gd name="connsiteY16" fmla="*/ 111251 h 606722"/>
                <a:gd name="connsiteX17" fmla="*/ 364118 w 607097"/>
                <a:gd name="connsiteY17" fmla="*/ 242683 h 606722"/>
                <a:gd name="connsiteX18" fmla="*/ 424838 w 607097"/>
                <a:gd name="connsiteY18" fmla="*/ 242683 h 606722"/>
                <a:gd name="connsiteX19" fmla="*/ 434988 w 607097"/>
                <a:gd name="connsiteY19" fmla="*/ 252725 h 606722"/>
                <a:gd name="connsiteX20" fmla="*/ 424838 w 607097"/>
                <a:gd name="connsiteY20" fmla="*/ 262856 h 606722"/>
                <a:gd name="connsiteX21" fmla="*/ 353968 w 607097"/>
                <a:gd name="connsiteY21" fmla="*/ 262856 h 606722"/>
                <a:gd name="connsiteX22" fmla="*/ 343818 w 607097"/>
                <a:gd name="connsiteY22" fmla="*/ 252725 h 606722"/>
                <a:gd name="connsiteX23" fmla="*/ 343818 w 607097"/>
                <a:gd name="connsiteY23" fmla="*/ 111251 h 606722"/>
                <a:gd name="connsiteX24" fmla="*/ 353968 w 607097"/>
                <a:gd name="connsiteY24" fmla="*/ 101120 h 606722"/>
                <a:gd name="connsiteX25" fmla="*/ 496768 w 607097"/>
                <a:gd name="connsiteY25" fmla="*/ 96101 h 606722"/>
                <a:gd name="connsiteX26" fmla="*/ 510916 w 607097"/>
                <a:gd name="connsiteY26" fmla="*/ 96101 h 606722"/>
                <a:gd name="connsiteX27" fmla="*/ 510916 w 607097"/>
                <a:gd name="connsiteY27" fmla="*/ 110217 h 606722"/>
                <a:gd name="connsiteX28" fmla="*/ 496768 w 607097"/>
                <a:gd name="connsiteY28" fmla="*/ 124334 h 606722"/>
                <a:gd name="connsiteX29" fmla="*/ 489650 w 607097"/>
                <a:gd name="connsiteY29" fmla="*/ 127441 h 606722"/>
                <a:gd name="connsiteX30" fmla="*/ 482620 w 607097"/>
                <a:gd name="connsiteY30" fmla="*/ 124334 h 606722"/>
                <a:gd name="connsiteX31" fmla="*/ 482620 w 607097"/>
                <a:gd name="connsiteY31" fmla="*/ 110217 h 606722"/>
                <a:gd name="connsiteX32" fmla="*/ 196955 w 607097"/>
                <a:gd name="connsiteY32" fmla="*/ 96101 h 606722"/>
                <a:gd name="connsiteX33" fmla="*/ 211110 w 607097"/>
                <a:gd name="connsiteY33" fmla="*/ 96101 h 606722"/>
                <a:gd name="connsiteX34" fmla="*/ 225355 w 607097"/>
                <a:gd name="connsiteY34" fmla="*/ 110217 h 606722"/>
                <a:gd name="connsiteX35" fmla="*/ 225355 w 607097"/>
                <a:gd name="connsiteY35" fmla="*/ 124334 h 606722"/>
                <a:gd name="connsiteX36" fmla="*/ 218233 w 607097"/>
                <a:gd name="connsiteY36" fmla="*/ 127441 h 606722"/>
                <a:gd name="connsiteX37" fmla="*/ 211110 w 607097"/>
                <a:gd name="connsiteY37" fmla="*/ 124334 h 606722"/>
                <a:gd name="connsiteX38" fmla="*/ 196955 w 607097"/>
                <a:gd name="connsiteY38" fmla="*/ 110217 h 606722"/>
                <a:gd name="connsiteX39" fmla="*/ 196955 w 607097"/>
                <a:gd name="connsiteY39" fmla="*/ 96101 h 606722"/>
                <a:gd name="connsiteX40" fmla="*/ 103963 w 607097"/>
                <a:gd name="connsiteY40" fmla="*/ 81761 h 606722"/>
                <a:gd name="connsiteX41" fmla="*/ 87598 w 607097"/>
                <a:gd name="connsiteY41" fmla="*/ 90026 h 606722"/>
                <a:gd name="connsiteX42" fmla="*/ 62322 w 607097"/>
                <a:gd name="connsiteY42" fmla="*/ 115266 h 606722"/>
                <a:gd name="connsiteX43" fmla="*/ 34998 w 607097"/>
                <a:gd name="connsiteY43" fmla="*/ 265902 h 606722"/>
                <a:gd name="connsiteX44" fmla="*/ 75494 w 607097"/>
                <a:gd name="connsiteY44" fmla="*/ 322602 h 606722"/>
                <a:gd name="connsiteX45" fmla="*/ 283044 w 607097"/>
                <a:gd name="connsiteY45" fmla="*/ 530826 h 606722"/>
                <a:gd name="connsiteX46" fmla="*/ 327634 w 607097"/>
                <a:gd name="connsiteY46" fmla="*/ 565219 h 606722"/>
                <a:gd name="connsiteX47" fmla="*/ 490684 w 607097"/>
                <a:gd name="connsiteY47" fmla="*/ 545046 h 606722"/>
                <a:gd name="connsiteX48" fmla="*/ 515960 w 607097"/>
                <a:gd name="connsiteY48" fmla="*/ 519717 h 606722"/>
                <a:gd name="connsiteX49" fmla="*/ 521033 w 607097"/>
                <a:gd name="connsiteY49" fmla="*/ 485324 h 606722"/>
                <a:gd name="connsiteX50" fmla="*/ 434969 w 607097"/>
                <a:gd name="connsiteY50" fmla="*/ 411561 h 606722"/>
                <a:gd name="connsiteX51" fmla="*/ 414321 w 607097"/>
                <a:gd name="connsiteY51" fmla="*/ 406318 h 606722"/>
                <a:gd name="connsiteX52" fmla="*/ 413698 w 607097"/>
                <a:gd name="connsiteY52" fmla="*/ 406496 h 606722"/>
                <a:gd name="connsiteX53" fmla="*/ 405599 w 607097"/>
                <a:gd name="connsiteY53" fmla="*/ 413605 h 606722"/>
                <a:gd name="connsiteX54" fmla="*/ 404620 w 607097"/>
                <a:gd name="connsiteY54" fmla="*/ 414583 h 606722"/>
                <a:gd name="connsiteX55" fmla="*/ 373202 w 607097"/>
                <a:gd name="connsiteY55" fmla="*/ 447910 h 606722"/>
                <a:gd name="connsiteX56" fmla="*/ 349528 w 607097"/>
                <a:gd name="connsiteY56" fmla="*/ 459552 h 606722"/>
                <a:gd name="connsiteX57" fmla="*/ 405599 w 607097"/>
                <a:gd name="connsiteY57" fmla="*/ 475282 h 606722"/>
                <a:gd name="connsiteX58" fmla="*/ 414677 w 607097"/>
                <a:gd name="connsiteY58" fmla="*/ 486391 h 606722"/>
                <a:gd name="connsiteX59" fmla="*/ 404620 w 607097"/>
                <a:gd name="connsiteY59" fmla="*/ 495456 h 606722"/>
                <a:gd name="connsiteX60" fmla="*/ 403552 w 607097"/>
                <a:gd name="connsiteY60" fmla="*/ 495456 h 606722"/>
                <a:gd name="connsiteX61" fmla="*/ 287138 w 607097"/>
                <a:gd name="connsiteY61" fmla="*/ 441866 h 606722"/>
                <a:gd name="connsiteX62" fmla="*/ 286426 w 607097"/>
                <a:gd name="connsiteY62" fmla="*/ 441067 h 606722"/>
                <a:gd name="connsiteX63" fmla="*/ 284112 w 607097"/>
                <a:gd name="connsiteY63" fmla="*/ 438845 h 606722"/>
                <a:gd name="connsiteX64" fmla="*/ 176777 w 607097"/>
                <a:gd name="connsiteY64" fmla="*/ 331666 h 606722"/>
                <a:gd name="connsiteX65" fmla="*/ 111895 w 607097"/>
                <a:gd name="connsiteY65" fmla="*/ 213379 h 606722"/>
                <a:gd name="connsiteX66" fmla="*/ 121062 w 607097"/>
                <a:gd name="connsiteY66" fmla="*/ 202270 h 606722"/>
                <a:gd name="connsiteX67" fmla="*/ 132188 w 607097"/>
                <a:gd name="connsiteY67" fmla="*/ 211335 h 606722"/>
                <a:gd name="connsiteX68" fmla="*/ 146428 w 607097"/>
                <a:gd name="connsiteY68" fmla="*/ 259325 h 606722"/>
                <a:gd name="connsiteX69" fmla="*/ 158532 w 607097"/>
                <a:gd name="connsiteY69" fmla="*/ 233553 h 606722"/>
                <a:gd name="connsiteX70" fmla="*/ 191907 w 607097"/>
                <a:gd name="connsiteY70" fmla="*/ 202270 h 606722"/>
                <a:gd name="connsiteX71" fmla="*/ 192975 w 607097"/>
                <a:gd name="connsiteY71" fmla="*/ 201204 h 606722"/>
                <a:gd name="connsiteX72" fmla="*/ 200006 w 607097"/>
                <a:gd name="connsiteY72" fmla="*/ 193117 h 606722"/>
                <a:gd name="connsiteX73" fmla="*/ 194933 w 607097"/>
                <a:gd name="connsiteY73" fmla="*/ 170899 h 606722"/>
                <a:gd name="connsiteX74" fmla="*/ 121062 w 607097"/>
                <a:gd name="connsiteY74" fmla="*/ 84961 h 606722"/>
                <a:gd name="connsiteX75" fmla="*/ 103963 w 607097"/>
                <a:gd name="connsiteY75" fmla="*/ 81761 h 606722"/>
                <a:gd name="connsiteX76" fmla="*/ 353980 w 607097"/>
                <a:gd name="connsiteY76" fmla="*/ 30273 h 606722"/>
                <a:gd name="connsiteX77" fmla="*/ 364141 w 607097"/>
                <a:gd name="connsiteY77" fmla="*/ 40422 h 606722"/>
                <a:gd name="connsiteX78" fmla="*/ 364141 w 607097"/>
                <a:gd name="connsiteY78" fmla="*/ 60719 h 606722"/>
                <a:gd name="connsiteX79" fmla="*/ 353980 w 607097"/>
                <a:gd name="connsiteY79" fmla="*/ 70778 h 606722"/>
                <a:gd name="connsiteX80" fmla="*/ 343818 w 607097"/>
                <a:gd name="connsiteY80" fmla="*/ 60719 h 606722"/>
                <a:gd name="connsiteX81" fmla="*/ 343818 w 607097"/>
                <a:gd name="connsiteY81" fmla="*/ 40422 h 606722"/>
                <a:gd name="connsiteX82" fmla="*/ 353980 w 607097"/>
                <a:gd name="connsiteY82" fmla="*/ 30273 h 606722"/>
                <a:gd name="connsiteX83" fmla="*/ 353978 w 607097"/>
                <a:gd name="connsiteY83" fmla="*/ 20263 h 606722"/>
                <a:gd name="connsiteX84" fmla="*/ 174819 w 607097"/>
                <a:gd name="connsiteY84" fmla="*/ 104957 h 606722"/>
                <a:gd name="connsiteX85" fmla="*/ 214246 w 607097"/>
                <a:gd name="connsiteY85" fmla="*/ 160768 h 606722"/>
                <a:gd name="connsiteX86" fmla="*/ 221278 w 607097"/>
                <a:gd name="connsiteY86" fmla="*/ 198182 h 606722"/>
                <a:gd name="connsiteX87" fmla="*/ 215938 w 607097"/>
                <a:gd name="connsiteY87" fmla="*/ 209025 h 606722"/>
                <a:gd name="connsiteX88" fmla="*/ 210152 w 607097"/>
                <a:gd name="connsiteY88" fmla="*/ 215157 h 606722"/>
                <a:gd name="connsiteX89" fmla="*/ 206147 w 607097"/>
                <a:gd name="connsiteY89" fmla="*/ 218445 h 606722"/>
                <a:gd name="connsiteX90" fmla="*/ 176777 w 607097"/>
                <a:gd name="connsiteY90" fmla="*/ 244662 h 606722"/>
                <a:gd name="connsiteX91" fmla="*/ 182829 w 607097"/>
                <a:gd name="connsiteY91" fmla="*/ 308382 h 606722"/>
                <a:gd name="connsiteX92" fmla="*/ 189504 w 607097"/>
                <a:gd name="connsiteY92" fmla="*/ 315136 h 606722"/>
                <a:gd name="connsiteX93" fmla="*/ 189949 w 607097"/>
                <a:gd name="connsiteY93" fmla="*/ 315492 h 606722"/>
                <a:gd name="connsiteX94" fmla="*/ 191640 w 607097"/>
                <a:gd name="connsiteY94" fmla="*/ 317269 h 606722"/>
                <a:gd name="connsiteX95" fmla="*/ 298263 w 607097"/>
                <a:gd name="connsiteY95" fmla="*/ 424714 h 606722"/>
                <a:gd name="connsiteX96" fmla="*/ 362077 w 607097"/>
                <a:gd name="connsiteY96" fmla="*/ 430758 h 606722"/>
                <a:gd name="connsiteX97" fmla="*/ 388422 w 607097"/>
                <a:gd name="connsiteY97" fmla="*/ 401430 h 606722"/>
                <a:gd name="connsiteX98" fmla="*/ 408625 w 607097"/>
                <a:gd name="connsiteY98" fmla="*/ 386233 h 606722"/>
                <a:gd name="connsiteX99" fmla="*/ 419661 w 607097"/>
                <a:gd name="connsiteY99" fmla="*/ 384900 h 606722"/>
                <a:gd name="connsiteX100" fmla="*/ 446094 w 607097"/>
                <a:gd name="connsiteY100" fmla="*/ 392365 h 606722"/>
                <a:gd name="connsiteX101" fmla="*/ 501987 w 607097"/>
                <a:gd name="connsiteY101" fmla="*/ 431646 h 606722"/>
                <a:gd name="connsiteX102" fmla="*/ 586894 w 607097"/>
                <a:gd name="connsiteY102" fmla="*/ 252749 h 606722"/>
                <a:gd name="connsiteX103" fmla="*/ 353978 w 607097"/>
                <a:gd name="connsiteY103" fmla="*/ 20263 h 606722"/>
                <a:gd name="connsiteX104" fmla="*/ 353978 w 607097"/>
                <a:gd name="connsiteY104" fmla="*/ 0 h 606722"/>
                <a:gd name="connsiteX105" fmla="*/ 607097 w 607097"/>
                <a:gd name="connsiteY105" fmla="*/ 252749 h 606722"/>
                <a:gd name="connsiteX106" fmla="*/ 517384 w 607097"/>
                <a:gd name="connsiteY106" fmla="*/ 445421 h 606722"/>
                <a:gd name="connsiteX107" fmla="*/ 540257 w 607097"/>
                <a:gd name="connsiteY107" fmla="*/ 474215 h 606722"/>
                <a:gd name="connsiteX108" fmla="*/ 531179 w 607097"/>
                <a:gd name="connsiteY108" fmla="*/ 532870 h 606722"/>
                <a:gd name="connsiteX109" fmla="*/ 505814 w 607097"/>
                <a:gd name="connsiteY109" fmla="*/ 559176 h 606722"/>
                <a:gd name="connsiteX110" fmla="*/ 401505 w 607097"/>
                <a:gd name="connsiteY110" fmla="*/ 606722 h 606722"/>
                <a:gd name="connsiteX111" fmla="*/ 318556 w 607097"/>
                <a:gd name="connsiteY111" fmla="*/ 582460 h 606722"/>
                <a:gd name="connsiteX112" fmla="*/ 268893 w 607097"/>
                <a:gd name="connsiteY112" fmla="*/ 543979 h 606722"/>
                <a:gd name="connsiteX113" fmla="*/ 61343 w 607097"/>
                <a:gd name="connsiteY113" fmla="*/ 336732 h 606722"/>
                <a:gd name="connsiteX114" fmla="*/ 16753 w 607097"/>
                <a:gd name="connsiteY114" fmla="*/ 275056 h 606722"/>
                <a:gd name="connsiteX115" fmla="*/ 48171 w 607097"/>
                <a:gd name="connsiteY115" fmla="*/ 101135 h 606722"/>
                <a:gd name="connsiteX116" fmla="*/ 73447 w 607097"/>
                <a:gd name="connsiteY116" fmla="*/ 75807 h 606722"/>
                <a:gd name="connsiteX117" fmla="*/ 132188 w 607097"/>
                <a:gd name="connsiteY117" fmla="*/ 66742 h 606722"/>
                <a:gd name="connsiteX118" fmla="*/ 160757 w 607097"/>
                <a:gd name="connsiteY118" fmla="*/ 89315 h 606722"/>
                <a:gd name="connsiteX119" fmla="*/ 353978 w 607097"/>
                <a:gd name="connsiteY11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097" h="606722">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chemeClr val="bg1"/>
            </a:solidFill>
            <a:ln w="12700">
              <a:miter lim="400000"/>
            </a:ln>
          </p:spPr>
          <p:txBody>
            <a:bodyPr lIns="22851" tIns="22851" rIns="22851" bIns="22851"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44" name="文本框 43"/>
          <p:cNvSpPr txBox="1"/>
          <p:nvPr/>
        </p:nvSpPr>
        <p:spPr>
          <a:xfrm>
            <a:off x="870682" y="4318655"/>
            <a:ext cx="773430" cy="1806504"/>
          </a:xfrm>
          <a:prstGeom prst="rect">
            <a:avLst/>
          </a:prstGeom>
          <a:noFill/>
        </p:spPr>
        <p:txBody>
          <a:bodyPr vert="eaVert" wrap="square" rtlCol="0">
            <a:spAutoFit/>
          </a:bodyPr>
          <a:lstStyle/>
          <a:p>
            <a:pPr algn="dist">
              <a:lnSpc>
                <a:spcPct val="120000"/>
              </a:lnSpc>
            </a:pPr>
            <a:r>
              <a:rPr lang="en-US" altLang="zh-CN" sz="3200">
                <a:solidFill>
                  <a:schemeClr val="bg1">
                    <a:lumMod val="65000"/>
                  </a:schemeClr>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STEPS</a:t>
            </a:r>
          </a:p>
        </p:txBody>
      </p:sp>
      <p:grpSp>
        <p:nvGrpSpPr>
          <p:cNvPr id="45" name="组合 44"/>
          <p:cNvGrpSpPr/>
          <p:nvPr/>
        </p:nvGrpSpPr>
        <p:grpSpPr>
          <a:xfrm>
            <a:off x="96610" y="4428780"/>
            <a:ext cx="888862" cy="1266629"/>
            <a:chOff x="4848640" y="2234522"/>
            <a:chExt cx="666751" cy="950120"/>
          </a:xfrm>
        </p:grpSpPr>
        <p:sp>
          <p:nvSpPr>
            <p:cNvPr id="46" name="Freeform 50"/>
            <p:cNvSpPr/>
            <p:nvPr/>
          </p:nvSpPr>
          <p:spPr bwMode="auto">
            <a:xfrm>
              <a:off x="4848640" y="2764351"/>
              <a:ext cx="296466" cy="420291"/>
            </a:xfrm>
            <a:custGeom>
              <a:avLst/>
              <a:gdLst>
                <a:gd name="T0" fmla="*/ 7 w 104"/>
                <a:gd name="T1" fmla="*/ 122 h 148"/>
                <a:gd name="T2" fmla="*/ 7 w 104"/>
                <a:gd name="T3" fmla="*/ 123 h 148"/>
                <a:gd name="T4" fmla="*/ 7 w 104"/>
                <a:gd name="T5" fmla="*/ 128 h 148"/>
                <a:gd name="T6" fmla="*/ 0 w 104"/>
                <a:gd name="T7" fmla="*/ 138 h 148"/>
                <a:gd name="T8" fmla="*/ 10 w 104"/>
                <a:gd name="T9" fmla="*/ 148 h 148"/>
                <a:gd name="T10" fmla="*/ 20 w 104"/>
                <a:gd name="T11" fmla="*/ 138 h 148"/>
                <a:gd name="T12" fmla="*/ 14 w 104"/>
                <a:gd name="T13" fmla="*/ 129 h 148"/>
                <a:gd name="T14" fmla="*/ 14 w 104"/>
                <a:gd name="T15" fmla="*/ 125 h 148"/>
                <a:gd name="T16" fmla="*/ 46 w 104"/>
                <a:gd name="T17" fmla="*/ 114 h 148"/>
                <a:gd name="T18" fmla="*/ 48 w 104"/>
                <a:gd name="T19" fmla="*/ 128 h 148"/>
                <a:gd name="T20" fmla="*/ 41 w 104"/>
                <a:gd name="T21" fmla="*/ 138 h 148"/>
                <a:gd name="T22" fmla="*/ 51 w 104"/>
                <a:gd name="T23" fmla="*/ 148 h 148"/>
                <a:gd name="T24" fmla="*/ 61 w 104"/>
                <a:gd name="T25" fmla="*/ 138 h 148"/>
                <a:gd name="T26" fmla="*/ 56 w 104"/>
                <a:gd name="T27" fmla="*/ 129 h 148"/>
                <a:gd name="T28" fmla="*/ 57 w 104"/>
                <a:gd name="T29" fmla="*/ 114 h 148"/>
                <a:gd name="T30" fmla="*/ 83 w 104"/>
                <a:gd name="T31" fmla="*/ 120 h 148"/>
                <a:gd name="T32" fmla="*/ 89 w 104"/>
                <a:gd name="T33" fmla="*/ 124 h 148"/>
                <a:gd name="T34" fmla="*/ 89 w 104"/>
                <a:gd name="T35" fmla="*/ 125 h 148"/>
                <a:gd name="T36" fmla="*/ 89 w 104"/>
                <a:gd name="T37" fmla="*/ 129 h 148"/>
                <a:gd name="T38" fmla="*/ 83 w 104"/>
                <a:gd name="T39" fmla="*/ 138 h 148"/>
                <a:gd name="T40" fmla="*/ 93 w 104"/>
                <a:gd name="T41" fmla="*/ 148 h 148"/>
                <a:gd name="T42" fmla="*/ 104 w 104"/>
                <a:gd name="T43" fmla="*/ 138 h 148"/>
                <a:gd name="T44" fmla="*/ 97 w 104"/>
                <a:gd name="T45" fmla="*/ 128 h 148"/>
                <a:gd name="T46" fmla="*/ 97 w 104"/>
                <a:gd name="T47" fmla="*/ 123 h 148"/>
                <a:gd name="T48" fmla="*/ 96 w 104"/>
                <a:gd name="T49" fmla="*/ 122 h 148"/>
                <a:gd name="T50" fmla="*/ 58 w 104"/>
                <a:gd name="T51" fmla="*/ 107 h 148"/>
                <a:gd name="T52" fmla="*/ 60 w 104"/>
                <a:gd name="T53" fmla="*/ 92 h 148"/>
                <a:gd name="T54" fmla="*/ 88 w 104"/>
                <a:gd name="T55" fmla="*/ 92 h 148"/>
                <a:gd name="T56" fmla="*/ 98 w 104"/>
                <a:gd name="T57" fmla="*/ 83 h 148"/>
                <a:gd name="T58" fmla="*/ 88 w 104"/>
                <a:gd name="T59" fmla="*/ 73 h 148"/>
                <a:gd name="T60" fmla="*/ 24 w 104"/>
                <a:gd name="T61" fmla="*/ 73 h 148"/>
                <a:gd name="T62" fmla="*/ 20 w 104"/>
                <a:gd name="T63" fmla="*/ 9 h 148"/>
                <a:gd name="T64" fmla="*/ 10 w 104"/>
                <a:gd name="T65" fmla="*/ 0 h 148"/>
                <a:gd name="T66" fmla="*/ 1 w 104"/>
                <a:gd name="T67" fmla="*/ 10 h 148"/>
                <a:gd name="T68" fmla="*/ 1 w 104"/>
                <a:gd name="T69" fmla="*/ 10 h 148"/>
                <a:gd name="T70" fmla="*/ 6 w 104"/>
                <a:gd name="T71" fmla="*/ 83 h 148"/>
                <a:gd name="T72" fmla="*/ 15 w 104"/>
                <a:gd name="T73" fmla="*/ 92 h 148"/>
                <a:gd name="T74" fmla="*/ 44 w 104"/>
                <a:gd name="T75" fmla="*/ 92 h 148"/>
                <a:gd name="T76" fmla="*/ 46 w 104"/>
                <a:gd name="T77" fmla="*/ 107 h 148"/>
                <a:gd name="T78" fmla="*/ 7 w 104"/>
                <a:gd name="T79" fmla="*/ 1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4" h="148">
                  <a:moveTo>
                    <a:pt x="7" y="122"/>
                  </a:moveTo>
                  <a:cubicBezTo>
                    <a:pt x="7" y="123"/>
                    <a:pt x="7" y="123"/>
                    <a:pt x="7" y="123"/>
                  </a:cubicBezTo>
                  <a:cubicBezTo>
                    <a:pt x="7" y="128"/>
                    <a:pt x="7" y="128"/>
                    <a:pt x="7" y="128"/>
                  </a:cubicBezTo>
                  <a:cubicBezTo>
                    <a:pt x="3" y="130"/>
                    <a:pt x="0" y="133"/>
                    <a:pt x="0" y="138"/>
                  </a:cubicBezTo>
                  <a:cubicBezTo>
                    <a:pt x="0" y="144"/>
                    <a:pt x="4" y="148"/>
                    <a:pt x="10" y="148"/>
                  </a:cubicBezTo>
                  <a:cubicBezTo>
                    <a:pt x="15" y="148"/>
                    <a:pt x="20" y="144"/>
                    <a:pt x="20" y="138"/>
                  </a:cubicBezTo>
                  <a:cubicBezTo>
                    <a:pt x="20" y="134"/>
                    <a:pt x="18" y="130"/>
                    <a:pt x="14" y="129"/>
                  </a:cubicBezTo>
                  <a:cubicBezTo>
                    <a:pt x="14" y="125"/>
                    <a:pt x="14" y="125"/>
                    <a:pt x="14" y="125"/>
                  </a:cubicBezTo>
                  <a:cubicBezTo>
                    <a:pt x="16" y="123"/>
                    <a:pt x="24" y="116"/>
                    <a:pt x="46" y="114"/>
                  </a:cubicBezTo>
                  <a:cubicBezTo>
                    <a:pt x="48" y="128"/>
                    <a:pt x="48" y="128"/>
                    <a:pt x="48" y="128"/>
                  </a:cubicBezTo>
                  <a:cubicBezTo>
                    <a:pt x="44" y="130"/>
                    <a:pt x="41" y="134"/>
                    <a:pt x="41" y="138"/>
                  </a:cubicBezTo>
                  <a:cubicBezTo>
                    <a:pt x="41" y="144"/>
                    <a:pt x="46" y="148"/>
                    <a:pt x="51" y="148"/>
                  </a:cubicBezTo>
                  <a:cubicBezTo>
                    <a:pt x="57" y="148"/>
                    <a:pt x="61" y="144"/>
                    <a:pt x="61" y="138"/>
                  </a:cubicBezTo>
                  <a:cubicBezTo>
                    <a:pt x="61" y="134"/>
                    <a:pt x="59" y="131"/>
                    <a:pt x="56" y="129"/>
                  </a:cubicBezTo>
                  <a:cubicBezTo>
                    <a:pt x="57" y="114"/>
                    <a:pt x="57" y="114"/>
                    <a:pt x="57" y="114"/>
                  </a:cubicBezTo>
                  <a:cubicBezTo>
                    <a:pt x="70" y="115"/>
                    <a:pt x="78" y="118"/>
                    <a:pt x="83" y="120"/>
                  </a:cubicBezTo>
                  <a:cubicBezTo>
                    <a:pt x="86" y="122"/>
                    <a:pt x="88" y="123"/>
                    <a:pt x="89" y="124"/>
                  </a:cubicBezTo>
                  <a:cubicBezTo>
                    <a:pt x="89" y="125"/>
                    <a:pt x="89" y="125"/>
                    <a:pt x="89" y="125"/>
                  </a:cubicBezTo>
                  <a:cubicBezTo>
                    <a:pt x="89" y="129"/>
                    <a:pt x="89" y="129"/>
                    <a:pt x="89" y="129"/>
                  </a:cubicBezTo>
                  <a:cubicBezTo>
                    <a:pt x="86" y="130"/>
                    <a:pt x="83" y="134"/>
                    <a:pt x="83" y="138"/>
                  </a:cubicBezTo>
                  <a:cubicBezTo>
                    <a:pt x="83" y="144"/>
                    <a:pt x="88" y="148"/>
                    <a:pt x="93" y="148"/>
                  </a:cubicBezTo>
                  <a:cubicBezTo>
                    <a:pt x="99" y="148"/>
                    <a:pt x="104" y="144"/>
                    <a:pt x="104" y="138"/>
                  </a:cubicBezTo>
                  <a:cubicBezTo>
                    <a:pt x="104" y="134"/>
                    <a:pt x="101" y="130"/>
                    <a:pt x="97" y="128"/>
                  </a:cubicBezTo>
                  <a:cubicBezTo>
                    <a:pt x="97" y="123"/>
                    <a:pt x="97" y="123"/>
                    <a:pt x="97" y="123"/>
                  </a:cubicBezTo>
                  <a:cubicBezTo>
                    <a:pt x="96" y="122"/>
                    <a:pt x="96" y="122"/>
                    <a:pt x="96" y="122"/>
                  </a:cubicBezTo>
                  <a:cubicBezTo>
                    <a:pt x="96" y="121"/>
                    <a:pt x="88" y="108"/>
                    <a:pt x="58" y="107"/>
                  </a:cubicBezTo>
                  <a:cubicBezTo>
                    <a:pt x="60" y="92"/>
                    <a:pt x="60" y="92"/>
                    <a:pt x="60" y="92"/>
                  </a:cubicBezTo>
                  <a:cubicBezTo>
                    <a:pt x="88" y="92"/>
                    <a:pt x="88" y="92"/>
                    <a:pt x="88" y="92"/>
                  </a:cubicBezTo>
                  <a:cubicBezTo>
                    <a:pt x="94" y="92"/>
                    <a:pt x="98" y="88"/>
                    <a:pt x="98" y="83"/>
                  </a:cubicBezTo>
                  <a:cubicBezTo>
                    <a:pt x="98" y="77"/>
                    <a:pt x="94" y="73"/>
                    <a:pt x="88" y="73"/>
                  </a:cubicBezTo>
                  <a:cubicBezTo>
                    <a:pt x="24" y="73"/>
                    <a:pt x="24" y="73"/>
                    <a:pt x="24" y="73"/>
                  </a:cubicBezTo>
                  <a:cubicBezTo>
                    <a:pt x="20" y="9"/>
                    <a:pt x="20" y="9"/>
                    <a:pt x="20" y="9"/>
                  </a:cubicBezTo>
                  <a:cubicBezTo>
                    <a:pt x="20" y="4"/>
                    <a:pt x="15" y="0"/>
                    <a:pt x="10" y="0"/>
                  </a:cubicBezTo>
                  <a:cubicBezTo>
                    <a:pt x="5" y="0"/>
                    <a:pt x="1" y="5"/>
                    <a:pt x="1" y="10"/>
                  </a:cubicBezTo>
                  <a:cubicBezTo>
                    <a:pt x="1" y="10"/>
                    <a:pt x="1" y="10"/>
                    <a:pt x="1" y="10"/>
                  </a:cubicBezTo>
                  <a:cubicBezTo>
                    <a:pt x="6" y="83"/>
                    <a:pt x="6" y="83"/>
                    <a:pt x="6" y="83"/>
                  </a:cubicBezTo>
                  <a:cubicBezTo>
                    <a:pt x="6" y="88"/>
                    <a:pt x="10" y="92"/>
                    <a:pt x="15" y="92"/>
                  </a:cubicBezTo>
                  <a:cubicBezTo>
                    <a:pt x="44" y="92"/>
                    <a:pt x="44" y="92"/>
                    <a:pt x="44" y="92"/>
                  </a:cubicBezTo>
                  <a:cubicBezTo>
                    <a:pt x="46" y="107"/>
                    <a:pt x="46" y="107"/>
                    <a:pt x="46" y="107"/>
                  </a:cubicBezTo>
                  <a:cubicBezTo>
                    <a:pt x="16" y="108"/>
                    <a:pt x="8" y="121"/>
                    <a:pt x="7" y="122"/>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7" name="Oval 51"/>
            <p:cNvSpPr>
              <a:spLocks noChangeArrowheads="1"/>
            </p:cNvSpPr>
            <p:nvPr/>
          </p:nvSpPr>
          <p:spPr bwMode="auto">
            <a:xfrm>
              <a:off x="4968894" y="2435738"/>
              <a:ext cx="159544" cy="158354"/>
            </a:xfrm>
            <a:prstGeom prst="ellipse">
              <a:avLst/>
            </a:pr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8" name="Freeform 52"/>
            <p:cNvSpPr/>
            <p:nvPr/>
          </p:nvSpPr>
          <p:spPr bwMode="auto">
            <a:xfrm>
              <a:off x="4968894" y="2628619"/>
              <a:ext cx="319088" cy="116681"/>
            </a:xfrm>
            <a:custGeom>
              <a:avLst/>
              <a:gdLst>
                <a:gd name="T0" fmla="*/ 29 w 112"/>
                <a:gd name="T1" fmla="*/ 10 h 41"/>
                <a:gd name="T2" fmla="*/ 20 w 112"/>
                <a:gd name="T3" fmla="*/ 6 h 41"/>
                <a:gd name="T4" fmla="*/ 18 w 112"/>
                <a:gd name="T5" fmla="*/ 4 h 41"/>
                <a:gd name="T6" fmla="*/ 18 w 112"/>
                <a:gd name="T7" fmla="*/ 4 h 41"/>
                <a:gd name="T8" fmla="*/ 18 w 112"/>
                <a:gd name="T9" fmla="*/ 4 h 41"/>
                <a:gd name="T10" fmla="*/ 4 w 112"/>
                <a:gd name="T11" fmla="*/ 5 h 41"/>
                <a:gd name="T12" fmla="*/ 5 w 112"/>
                <a:gd name="T13" fmla="*/ 19 h 41"/>
                <a:gd name="T14" fmla="*/ 5 w 112"/>
                <a:gd name="T15" fmla="*/ 19 h 41"/>
                <a:gd name="T16" fmla="*/ 21 w 112"/>
                <a:gd name="T17" fmla="*/ 29 h 41"/>
                <a:gd name="T18" fmla="*/ 21 w 112"/>
                <a:gd name="T19" fmla="*/ 29 h 41"/>
                <a:gd name="T20" fmla="*/ 103 w 112"/>
                <a:gd name="T21" fmla="*/ 35 h 41"/>
                <a:gd name="T22" fmla="*/ 112 w 112"/>
                <a:gd name="T23" fmla="*/ 24 h 41"/>
                <a:gd name="T24" fmla="*/ 100 w 112"/>
                <a:gd name="T25" fmla="*/ 16 h 41"/>
                <a:gd name="T26" fmla="*/ 29 w 112"/>
                <a:gd name="T27"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41">
                  <a:moveTo>
                    <a:pt x="29" y="10"/>
                  </a:moveTo>
                  <a:cubicBezTo>
                    <a:pt x="25" y="8"/>
                    <a:pt x="22" y="7"/>
                    <a:pt x="20" y="6"/>
                  </a:cubicBezTo>
                  <a:cubicBezTo>
                    <a:pt x="19" y="5"/>
                    <a:pt x="18" y="5"/>
                    <a:pt x="18" y="4"/>
                  </a:cubicBezTo>
                  <a:cubicBezTo>
                    <a:pt x="18" y="4"/>
                    <a:pt x="18" y="4"/>
                    <a:pt x="18" y="4"/>
                  </a:cubicBezTo>
                  <a:cubicBezTo>
                    <a:pt x="18" y="4"/>
                    <a:pt x="18" y="4"/>
                    <a:pt x="18" y="4"/>
                  </a:cubicBezTo>
                  <a:cubicBezTo>
                    <a:pt x="14" y="0"/>
                    <a:pt x="7" y="1"/>
                    <a:pt x="4" y="5"/>
                  </a:cubicBezTo>
                  <a:cubicBezTo>
                    <a:pt x="0" y="9"/>
                    <a:pt x="0" y="15"/>
                    <a:pt x="5" y="19"/>
                  </a:cubicBezTo>
                  <a:cubicBezTo>
                    <a:pt x="5" y="19"/>
                    <a:pt x="5" y="19"/>
                    <a:pt x="5" y="19"/>
                  </a:cubicBezTo>
                  <a:cubicBezTo>
                    <a:pt x="5" y="20"/>
                    <a:pt x="10" y="24"/>
                    <a:pt x="21" y="29"/>
                  </a:cubicBezTo>
                  <a:cubicBezTo>
                    <a:pt x="21" y="29"/>
                    <a:pt x="21" y="29"/>
                    <a:pt x="21" y="29"/>
                  </a:cubicBezTo>
                  <a:cubicBezTo>
                    <a:pt x="37" y="35"/>
                    <a:pt x="63" y="41"/>
                    <a:pt x="103" y="35"/>
                  </a:cubicBezTo>
                  <a:cubicBezTo>
                    <a:pt x="109" y="35"/>
                    <a:pt x="112" y="30"/>
                    <a:pt x="112" y="24"/>
                  </a:cubicBezTo>
                  <a:cubicBezTo>
                    <a:pt x="111" y="19"/>
                    <a:pt x="106" y="15"/>
                    <a:pt x="100" y="16"/>
                  </a:cubicBezTo>
                  <a:cubicBezTo>
                    <a:pt x="64" y="21"/>
                    <a:pt x="41" y="15"/>
                    <a:pt x="29" y="1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9" name="Freeform 54"/>
            <p:cNvSpPr/>
            <p:nvPr/>
          </p:nvSpPr>
          <p:spPr bwMode="auto">
            <a:xfrm>
              <a:off x="4917696" y="2589328"/>
              <a:ext cx="364331" cy="569119"/>
            </a:xfrm>
            <a:custGeom>
              <a:avLst/>
              <a:gdLst>
                <a:gd name="T0" fmla="*/ 115 w 128"/>
                <a:gd name="T1" fmla="*/ 111 h 201"/>
                <a:gd name="T2" fmla="*/ 100 w 128"/>
                <a:gd name="T3" fmla="*/ 98 h 201"/>
                <a:gd name="T4" fmla="*/ 58 w 128"/>
                <a:gd name="T5" fmla="*/ 98 h 201"/>
                <a:gd name="T6" fmla="*/ 57 w 128"/>
                <a:gd name="T7" fmla="*/ 91 h 201"/>
                <a:gd name="T8" fmla="*/ 52 w 128"/>
                <a:gd name="T9" fmla="*/ 49 h 201"/>
                <a:gd name="T10" fmla="*/ 38 w 128"/>
                <a:gd name="T11" fmla="*/ 44 h 201"/>
                <a:gd name="T12" fmla="*/ 21 w 128"/>
                <a:gd name="T13" fmla="*/ 34 h 201"/>
                <a:gd name="T14" fmla="*/ 20 w 128"/>
                <a:gd name="T15" fmla="*/ 18 h 201"/>
                <a:gd name="T16" fmla="*/ 29 w 128"/>
                <a:gd name="T17" fmla="*/ 14 h 201"/>
                <a:gd name="T18" fmla="*/ 37 w 128"/>
                <a:gd name="T19" fmla="*/ 17 h 201"/>
                <a:gd name="T20" fmla="*/ 39 w 128"/>
                <a:gd name="T21" fmla="*/ 18 h 201"/>
                <a:gd name="T22" fmla="*/ 48 w 128"/>
                <a:gd name="T23" fmla="*/ 22 h 201"/>
                <a:gd name="T24" fmla="*/ 52 w 128"/>
                <a:gd name="T25" fmla="*/ 24 h 201"/>
                <a:gd name="T26" fmla="*/ 48 w 128"/>
                <a:gd name="T27" fmla="*/ 15 h 201"/>
                <a:gd name="T28" fmla="*/ 41 w 128"/>
                <a:gd name="T29" fmla="*/ 8 h 201"/>
                <a:gd name="T30" fmla="*/ 40 w 128"/>
                <a:gd name="T31" fmla="*/ 7 h 201"/>
                <a:gd name="T32" fmla="*/ 35 w 128"/>
                <a:gd name="T33" fmla="*/ 4 h 201"/>
                <a:gd name="T34" fmla="*/ 3 w 128"/>
                <a:gd name="T35" fmla="*/ 31 h 201"/>
                <a:gd name="T36" fmla="*/ 9 w 128"/>
                <a:gd name="T37" fmla="*/ 106 h 201"/>
                <a:gd name="T38" fmla="*/ 34 w 128"/>
                <a:gd name="T39" fmla="*/ 129 h 201"/>
                <a:gd name="T40" fmla="*/ 34 w 128"/>
                <a:gd name="T41" fmla="*/ 129 h 201"/>
                <a:gd name="T42" fmla="*/ 37 w 128"/>
                <a:gd name="T43" fmla="*/ 129 h 201"/>
                <a:gd name="T44" fmla="*/ 87 w 128"/>
                <a:gd name="T45" fmla="*/ 129 h 201"/>
                <a:gd name="T46" fmla="*/ 96 w 128"/>
                <a:gd name="T47" fmla="*/ 188 h 201"/>
                <a:gd name="T48" fmla="*/ 111 w 128"/>
                <a:gd name="T49" fmla="*/ 201 h 201"/>
                <a:gd name="T50" fmla="*/ 114 w 128"/>
                <a:gd name="T51" fmla="*/ 201 h 201"/>
                <a:gd name="T52" fmla="*/ 127 w 128"/>
                <a:gd name="T53" fmla="*/ 183 h 201"/>
                <a:gd name="T54" fmla="*/ 115 w 128"/>
                <a:gd name="T55" fmla="*/ 11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 h="201">
                  <a:moveTo>
                    <a:pt x="115" y="111"/>
                  </a:moveTo>
                  <a:cubicBezTo>
                    <a:pt x="114" y="104"/>
                    <a:pt x="108" y="98"/>
                    <a:pt x="100" y="98"/>
                  </a:cubicBezTo>
                  <a:cubicBezTo>
                    <a:pt x="58" y="98"/>
                    <a:pt x="58" y="98"/>
                    <a:pt x="58" y="98"/>
                  </a:cubicBezTo>
                  <a:cubicBezTo>
                    <a:pt x="58" y="96"/>
                    <a:pt x="58" y="93"/>
                    <a:pt x="57" y="91"/>
                  </a:cubicBezTo>
                  <a:cubicBezTo>
                    <a:pt x="53" y="78"/>
                    <a:pt x="51" y="63"/>
                    <a:pt x="52" y="49"/>
                  </a:cubicBezTo>
                  <a:cubicBezTo>
                    <a:pt x="46" y="47"/>
                    <a:pt x="42" y="46"/>
                    <a:pt x="38" y="44"/>
                  </a:cubicBezTo>
                  <a:cubicBezTo>
                    <a:pt x="28" y="40"/>
                    <a:pt x="22" y="35"/>
                    <a:pt x="21" y="34"/>
                  </a:cubicBezTo>
                  <a:cubicBezTo>
                    <a:pt x="16" y="30"/>
                    <a:pt x="16" y="22"/>
                    <a:pt x="20" y="18"/>
                  </a:cubicBezTo>
                  <a:cubicBezTo>
                    <a:pt x="22" y="15"/>
                    <a:pt x="26" y="14"/>
                    <a:pt x="29" y="14"/>
                  </a:cubicBezTo>
                  <a:cubicBezTo>
                    <a:pt x="32" y="14"/>
                    <a:pt x="35" y="15"/>
                    <a:pt x="37" y="17"/>
                  </a:cubicBezTo>
                  <a:cubicBezTo>
                    <a:pt x="38" y="17"/>
                    <a:pt x="38" y="17"/>
                    <a:pt x="39" y="18"/>
                  </a:cubicBezTo>
                  <a:cubicBezTo>
                    <a:pt x="41" y="19"/>
                    <a:pt x="44" y="21"/>
                    <a:pt x="48" y="22"/>
                  </a:cubicBezTo>
                  <a:cubicBezTo>
                    <a:pt x="49" y="23"/>
                    <a:pt x="51" y="24"/>
                    <a:pt x="52" y="24"/>
                  </a:cubicBezTo>
                  <a:cubicBezTo>
                    <a:pt x="51" y="20"/>
                    <a:pt x="50" y="18"/>
                    <a:pt x="48" y="15"/>
                  </a:cubicBezTo>
                  <a:cubicBezTo>
                    <a:pt x="48" y="15"/>
                    <a:pt x="43" y="9"/>
                    <a:pt x="41" y="8"/>
                  </a:cubicBezTo>
                  <a:cubicBezTo>
                    <a:pt x="41" y="8"/>
                    <a:pt x="40" y="7"/>
                    <a:pt x="40" y="7"/>
                  </a:cubicBezTo>
                  <a:cubicBezTo>
                    <a:pt x="38" y="6"/>
                    <a:pt x="36" y="5"/>
                    <a:pt x="35" y="4"/>
                  </a:cubicBezTo>
                  <a:cubicBezTo>
                    <a:pt x="22" y="0"/>
                    <a:pt x="6" y="11"/>
                    <a:pt x="3" y="31"/>
                  </a:cubicBezTo>
                  <a:cubicBezTo>
                    <a:pt x="0" y="56"/>
                    <a:pt x="2" y="82"/>
                    <a:pt x="9" y="106"/>
                  </a:cubicBezTo>
                  <a:cubicBezTo>
                    <a:pt x="13" y="119"/>
                    <a:pt x="24" y="128"/>
                    <a:pt x="34" y="129"/>
                  </a:cubicBezTo>
                  <a:cubicBezTo>
                    <a:pt x="34" y="129"/>
                    <a:pt x="34" y="129"/>
                    <a:pt x="34" y="129"/>
                  </a:cubicBezTo>
                  <a:cubicBezTo>
                    <a:pt x="35" y="129"/>
                    <a:pt x="36" y="129"/>
                    <a:pt x="37" y="129"/>
                  </a:cubicBezTo>
                  <a:cubicBezTo>
                    <a:pt x="87" y="129"/>
                    <a:pt x="87" y="129"/>
                    <a:pt x="87" y="129"/>
                  </a:cubicBezTo>
                  <a:cubicBezTo>
                    <a:pt x="96" y="188"/>
                    <a:pt x="96" y="188"/>
                    <a:pt x="96" y="188"/>
                  </a:cubicBezTo>
                  <a:cubicBezTo>
                    <a:pt x="97" y="196"/>
                    <a:pt x="104" y="201"/>
                    <a:pt x="111" y="201"/>
                  </a:cubicBezTo>
                  <a:cubicBezTo>
                    <a:pt x="112" y="201"/>
                    <a:pt x="113" y="201"/>
                    <a:pt x="114" y="201"/>
                  </a:cubicBezTo>
                  <a:cubicBezTo>
                    <a:pt x="122" y="200"/>
                    <a:pt x="128" y="192"/>
                    <a:pt x="127" y="183"/>
                  </a:cubicBezTo>
                  <a:lnTo>
                    <a:pt x="115" y="111"/>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0" name="Freeform 55"/>
            <p:cNvSpPr/>
            <p:nvPr/>
          </p:nvSpPr>
          <p:spPr bwMode="auto">
            <a:xfrm>
              <a:off x="5068906" y="2628619"/>
              <a:ext cx="221456" cy="47625"/>
            </a:xfrm>
            <a:custGeom>
              <a:avLst/>
              <a:gdLst>
                <a:gd name="T0" fmla="*/ 38 w 78"/>
                <a:gd name="T1" fmla="*/ 16 h 17"/>
                <a:gd name="T2" fmla="*/ 65 w 78"/>
                <a:gd name="T3" fmla="*/ 14 h 17"/>
                <a:gd name="T4" fmla="*/ 67 w 78"/>
                <a:gd name="T5" fmla="*/ 14 h 17"/>
                <a:gd name="T6" fmla="*/ 75 w 78"/>
                <a:gd name="T7" fmla="*/ 17 h 17"/>
                <a:gd name="T8" fmla="*/ 77 w 78"/>
                <a:gd name="T9" fmla="*/ 8 h 17"/>
                <a:gd name="T10" fmla="*/ 64 w 78"/>
                <a:gd name="T11" fmla="*/ 2 h 17"/>
                <a:gd name="T12" fmla="*/ 0 w 78"/>
                <a:gd name="T13" fmla="*/ 10 h 17"/>
                <a:gd name="T14" fmla="*/ 38 w 78"/>
                <a:gd name="T15" fmla="*/ 16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7">
                  <a:moveTo>
                    <a:pt x="38" y="16"/>
                  </a:moveTo>
                  <a:cubicBezTo>
                    <a:pt x="46" y="16"/>
                    <a:pt x="55" y="15"/>
                    <a:pt x="65" y="14"/>
                  </a:cubicBezTo>
                  <a:cubicBezTo>
                    <a:pt x="66" y="14"/>
                    <a:pt x="66" y="14"/>
                    <a:pt x="67" y="14"/>
                  </a:cubicBezTo>
                  <a:cubicBezTo>
                    <a:pt x="70" y="14"/>
                    <a:pt x="73" y="15"/>
                    <a:pt x="75" y="17"/>
                  </a:cubicBezTo>
                  <a:cubicBezTo>
                    <a:pt x="77" y="15"/>
                    <a:pt x="78" y="11"/>
                    <a:pt x="77" y="8"/>
                  </a:cubicBezTo>
                  <a:cubicBezTo>
                    <a:pt x="75" y="3"/>
                    <a:pt x="69" y="0"/>
                    <a:pt x="64" y="2"/>
                  </a:cubicBezTo>
                  <a:cubicBezTo>
                    <a:pt x="35" y="11"/>
                    <a:pt x="14" y="12"/>
                    <a:pt x="0" y="10"/>
                  </a:cubicBezTo>
                  <a:cubicBezTo>
                    <a:pt x="11" y="14"/>
                    <a:pt x="24" y="16"/>
                    <a:pt x="38" y="16"/>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1" name="Freeform 56"/>
            <p:cNvSpPr>
              <a:spLocks noEditPoints="1"/>
            </p:cNvSpPr>
            <p:nvPr/>
          </p:nvSpPr>
          <p:spPr bwMode="auto">
            <a:xfrm>
              <a:off x="5122484" y="2234522"/>
              <a:ext cx="302419" cy="263129"/>
            </a:xfrm>
            <a:custGeom>
              <a:avLst/>
              <a:gdLst>
                <a:gd name="T0" fmla="*/ 21 w 106"/>
                <a:gd name="T1" fmla="*/ 93 h 93"/>
                <a:gd name="T2" fmla="*/ 20 w 106"/>
                <a:gd name="T3" fmla="*/ 91 h 93"/>
                <a:gd name="T4" fmla="*/ 20 w 106"/>
                <a:gd name="T5" fmla="*/ 91 h 93"/>
                <a:gd name="T6" fmla="*/ 20 w 106"/>
                <a:gd name="T7" fmla="*/ 91 h 93"/>
                <a:gd name="T8" fmla="*/ 20 w 106"/>
                <a:gd name="T9" fmla="*/ 77 h 93"/>
                <a:gd name="T10" fmla="*/ 19 w 106"/>
                <a:gd name="T11" fmla="*/ 77 h 93"/>
                <a:gd name="T12" fmla="*/ 0 w 106"/>
                <a:gd name="T13" fmla="*/ 43 h 93"/>
                <a:gd name="T14" fmla="*/ 56 w 106"/>
                <a:gd name="T15" fmla="*/ 1 h 93"/>
                <a:gd name="T16" fmla="*/ 105 w 106"/>
                <a:gd name="T17" fmla="*/ 45 h 93"/>
                <a:gd name="T18" fmla="*/ 55 w 106"/>
                <a:gd name="T19" fmla="*/ 88 h 93"/>
                <a:gd name="T20" fmla="*/ 37 w 106"/>
                <a:gd name="T21" fmla="*/ 85 h 93"/>
                <a:gd name="T22" fmla="*/ 37 w 106"/>
                <a:gd name="T23" fmla="*/ 85 h 93"/>
                <a:gd name="T24" fmla="*/ 22 w 106"/>
                <a:gd name="T25" fmla="*/ 93 h 93"/>
                <a:gd name="T26" fmla="*/ 22 w 106"/>
                <a:gd name="T27" fmla="*/ 93 h 93"/>
                <a:gd name="T28" fmla="*/ 21 w 106"/>
                <a:gd name="T29" fmla="*/ 93 h 93"/>
                <a:gd name="T30" fmla="*/ 56 w 106"/>
                <a:gd name="T31" fmla="*/ 5 h 93"/>
                <a:gd name="T32" fmla="*/ 4 w 106"/>
                <a:gd name="T33" fmla="*/ 43 h 93"/>
                <a:gd name="T34" fmla="*/ 23 w 106"/>
                <a:gd name="T35" fmla="*/ 75 h 93"/>
                <a:gd name="T36" fmla="*/ 24 w 106"/>
                <a:gd name="T37" fmla="*/ 76 h 93"/>
                <a:gd name="T38" fmla="*/ 23 w 106"/>
                <a:gd name="T39" fmla="*/ 88 h 93"/>
                <a:gd name="T40" fmla="*/ 35 w 106"/>
                <a:gd name="T41" fmla="*/ 81 h 93"/>
                <a:gd name="T42" fmla="*/ 36 w 106"/>
                <a:gd name="T43" fmla="*/ 81 h 93"/>
                <a:gd name="T44" fmla="*/ 37 w 106"/>
                <a:gd name="T45" fmla="*/ 81 h 93"/>
                <a:gd name="T46" fmla="*/ 55 w 106"/>
                <a:gd name="T47" fmla="*/ 84 h 93"/>
                <a:gd name="T48" fmla="*/ 102 w 106"/>
                <a:gd name="T49" fmla="*/ 45 h 93"/>
                <a:gd name="T50" fmla="*/ 56 w 106"/>
                <a:gd name="T51" fmla="*/ 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 h="93">
                  <a:moveTo>
                    <a:pt x="21" y="93"/>
                  </a:moveTo>
                  <a:cubicBezTo>
                    <a:pt x="20" y="93"/>
                    <a:pt x="20" y="92"/>
                    <a:pt x="20" y="91"/>
                  </a:cubicBezTo>
                  <a:cubicBezTo>
                    <a:pt x="20" y="91"/>
                    <a:pt x="20" y="91"/>
                    <a:pt x="20" y="91"/>
                  </a:cubicBezTo>
                  <a:cubicBezTo>
                    <a:pt x="20" y="91"/>
                    <a:pt x="20" y="91"/>
                    <a:pt x="20" y="91"/>
                  </a:cubicBezTo>
                  <a:cubicBezTo>
                    <a:pt x="20" y="77"/>
                    <a:pt x="20" y="77"/>
                    <a:pt x="20" y="77"/>
                  </a:cubicBezTo>
                  <a:cubicBezTo>
                    <a:pt x="19" y="77"/>
                    <a:pt x="19" y="77"/>
                    <a:pt x="19" y="77"/>
                  </a:cubicBezTo>
                  <a:cubicBezTo>
                    <a:pt x="7" y="68"/>
                    <a:pt x="0" y="56"/>
                    <a:pt x="0" y="43"/>
                  </a:cubicBezTo>
                  <a:cubicBezTo>
                    <a:pt x="1" y="19"/>
                    <a:pt x="25" y="0"/>
                    <a:pt x="56" y="1"/>
                  </a:cubicBezTo>
                  <a:cubicBezTo>
                    <a:pt x="85" y="1"/>
                    <a:pt x="106" y="20"/>
                    <a:pt x="105" y="45"/>
                  </a:cubicBezTo>
                  <a:cubicBezTo>
                    <a:pt x="105" y="71"/>
                    <a:pt x="84" y="88"/>
                    <a:pt x="55" y="88"/>
                  </a:cubicBezTo>
                  <a:cubicBezTo>
                    <a:pt x="49" y="88"/>
                    <a:pt x="43" y="87"/>
                    <a:pt x="37" y="85"/>
                  </a:cubicBezTo>
                  <a:cubicBezTo>
                    <a:pt x="37" y="85"/>
                    <a:pt x="37" y="85"/>
                    <a:pt x="37" y="85"/>
                  </a:cubicBezTo>
                  <a:cubicBezTo>
                    <a:pt x="22" y="93"/>
                    <a:pt x="22" y="93"/>
                    <a:pt x="22" y="93"/>
                  </a:cubicBezTo>
                  <a:cubicBezTo>
                    <a:pt x="22" y="93"/>
                    <a:pt x="22" y="93"/>
                    <a:pt x="22" y="93"/>
                  </a:cubicBezTo>
                  <a:lnTo>
                    <a:pt x="21" y="93"/>
                  </a:lnTo>
                  <a:close/>
                  <a:moveTo>
                    <a:pt x="56" y="5"/>
                  </a:moveTo>
                  <a:cubicBezTo>
                    <a:pt x="28" y="4"/>
                    <a:pt x="4" y="22"/>
                    <a:pt x="4" y="43"/>
                  </a:cubicBezTo>
                  <a:cubicBezTo>
                    <a:pt x="4" y="56"/>
                    <a:pt x="11" y="67"/>
                    <a:pt x="23" y="75"/>
                  </a:cubicBezTo>
                  <a:cubicBezTo>
                    <a:pt x="23" y="75"/>
                    <a:pt x="24" y="76"/>
                    <a:pt x="24" y="76"/>
                  </a:cubicBezTo>
                  <a:cubicBezTo>
                    <a:pt x="23" y="88"/>
                    <a:pt x="23" y="88"/>
                    <a:pt x="23" y="88"/>
                  </a:cubicBezTo>
                  <a:cubicBezTo>
                    <a:pt x="35" y="81"/>
                    <a:pt x="35" y="81"/>
                    <a:pt x="35" y="81"/>
                  </a:cubicBezTo>
                  <a:cubicBezTo>
                    <a:pt x="36" y="81"/>
                    <a:pt x="36" y="81"/>
                    <a:pt x="36" y="81"/>
                  </a:cubicBezTo>
                  <a:cubicBezTo>
                    <a:pt x="37" y="81"/>
                    <a:pt x="37" y="81"/>
                    <a:pt x="37" y="81"/>
                  </a:cubicBezTo>
                  <a:cubicBezTo>
                    <a:pt x="43" y="83"/>
                    <a:pt x="49" y="84"/>
                    <a:pt x="55" y="84"/>
                  </a:cubicBezTo>
                  <a:cubicBezTo>
                    <a:pt x="82" y="84"/>
                    <a:pt x="101" y="68"/>
                    <a:pt x="102" y="45"/>
                  </a:cubicBezTo>
                  <a:cubicBezTo>
                    <a:pt x="102" y="22"/>
                    <a:pt x="83" y="5"/>
                    <a:pt x="56" y="5"/>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2" name="Rectangle 57"/>
            <p:cNvSpPr>
              <a:spLocks noChangeArrowheads="1"/>
            </p:cNvSpPr>
            <p:nvPr/>
          </p:nvSpPr>
          <p:spPr bwMode="auto">
            <a:xfrm>
              <a:off x="5239165" y="2722679"/>
              <a:ext cx="126206" cy="16669"/>
            </a:xfrm>
            <a:prstGeom prst="rect">
              <a:avLst/>
            </a:prstGeom>
            <a:solidFill>
              <a:srgbClr val="566C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3" name="Freeform 59"/>
            <p:cNvSpPr/>
            <p:nvPr/>
          </p:nvSpPr>
          <p:spPr bwMode="auto">
            <a:xfrm>
              <a:off x="5376087" y="2911988"/>
              <a:ext cx="139304" cy="266700"/>
            </a:xfrm>
            <a:custGeom>
              <a:avLst/>
              <a:gdLst>
                <a:gd name="T0" fmla="*/ 5 w 49"/>
                <a:gd name="T1" fmla="*/ 94 h 94"/>
                <a:gd name="T2" fmla="*/ 44 w 49"/>
                <a:gd name="T3" fmla="*/ 94 h 94"/>
                <a:gd name="T4" fmla="*/ 49 w 49"/>
                <a:gd name="T5" fmla="*/ 84 h 94"/>
                <a:gd name="T6" fmla="*/ 49 w 49"/>
                <a:gd name="T7" fmla="*/ 12 h 94"/>
                <a:gd name="T8" fmla="*/ 37 w 49"/>
                <a:gd name="T9" fmla="*/ 0 h 94"/>
                <a:gd name="T10" fmla="*/ 12 w 49"/>
                <a:gd name="T11" fmla="*/ 0 h 94"/>
                <a:gd name="T12" fmla="*/ 0 w 49"/>
                <a:gd name="T13" fmla="*/ 12 h 94"/>
                <a:gd name="T14" fmla="*/ 0 w 49"/>
                <a:gd name="T15" fmla="*/ 84 h 94"/>
                <a:gd name="T16" fmla="*/ 5 w 49"/>
                <a:gd name="T1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94">
                  <a:moveTo>
                    <a:pt x="5" y="94"/>
                  </a:moveTo>
                  <a:cubicBezTo>
                    <a:pt x="44" y="94"/>
                    <a:pt x="44" y="94"/>
                    <a:pt x="44" y="94"/>
                  </a:cubicBezTo>
                  <a:cubicBezTo>
                    <a:pt x="47" y="92"/>
                    <a:pt x="49" y="88"/>
                    <a:pt x="49" y="84"/>
                  </a:cubicBezTo>
                  <a:cubicBezTo>
                    <a:pt x="49" y="12"/>
                    <a:pt x="49" y="12"/>
                    <a:pt x="49" y="12"/>
                  </a:cubicBezTo>
                  <a:cubicBezTo>
                    <a:pt x="49" y="5"/>
                    <a:pt x="44" y="0"/>
                    <a:pt x="37" y="0"/>
                  </a:cubicBezTo>
                  <a:cubicBezTo>
                    <a:pt x="12" y="0"/>
                    <a:pt x="12" y="0"/>
                    <a:pt x="12" y="0"/>
                  </a:cubicBezTo>
                  <a:cubicBezTo>
                    <a:pt x="5" y="0"/>
                    <a:pt x="0" y="5"/>
                    <a:pt x="0" y="12"/>
                  </a:cubicBezTo>
                  <a:cubicBezTo>
                    <a:pt x="0" y="84"/>
                    <a:pt x="0" y="84"/>
                    <a:pt x="0" y="84"/>
                  </a:cubicBezTo>
                  <a:cubicBezTo>
                    <a:pt x="0" y="88"/>
                    <a:pt x="2" y="92"/>
                    <a:pt x="5" y="94"/>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4" name="Freeform 60"/>
            <p:cNvSpPr/>
            <p:nvPr/>
          </p:nvSpPr>
          <p:spPr bwMode="auto">
            <a:xfrm>
              <a:off x="5433237" y="2472647"/>
              <a:ext cx="34529" cy="252413"/>
            </a:xfrm>
            <a:custGeom>
              <a:avLst/>
              <a:gdLst>
                <a:gd name="T0" fmla="*/ 0 w 29"/>
                <a:gd name="T1" fmla="*/ 0 h 212"/>
                <a:gd name="T2" fmla="*/ 0 w 29"/>
                <a:gd name="T3" fmla="*/ 167 h 212"/>
                <a:gd name="T4" fmla="*/ 14 w 29"/>
                <a:gd name="T5" fmla="*/ 167 h 212"/>
                <a:gd name="T6" fmla="*/ 14 w 29"/>
                <a:gd name="T7" fmla="*/ 212 h 212"/>
                <a:gd name="T8" fmla="*/ 29 w 29"/>
                <a:gd name="T9" fmla="*/ 212 h 212"/>
                <a:gd name="T10" fmla="*/ 29 w 29"/>
                <a:gd name="T11" fmla="*/ 167 h 212"/>
                <a:gd name="T12" fmla="*/ 29 w 29"/>
                <a:gd name="T13" fmla="*/ 121 h 212"/>
                <a:gd name="T14" fmla="*/ 29 w 29"/>
                <a:gd name="T15" fmla="*/ 0 h 212"/>
                <a:gd name="T16" fmla="*/ 0 w 29"/>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12">
                  <a:moveTo>
                    <a:pt x="0" y="0"/>
                  </a:moveTo>
                  <a:lnTo>
                    <a:pt x="0" y="167"/>
                  </a:lnTo>
                  <a:lnTo>
                    <a:pt x="14" y="167"/>
                  </a:lnTo>
                  <a:lnTo>
                    <a:pt x="14" y="212"/>
                  </a:lnTo>
                  <a:lnTo>
                    <a:pt x="29" y="212"/>
                  </a:lnTo>
                  <a:lnTo>
                    <a:pt x="29" y="167"/>
                  </a:lnTo>
                  <a:lnTo>
                    <a:pt x="29" y="121"/>
                  </a:lnTo>
                  <a:lnTo>
                    <a:pt x="29" y="0"/>
                  </a:lnTo>
                  <a:lnTo>
                    <a:pt x="0" y="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5" name="Freeform 62"/>
            <p:cNvSpPr>
              <a:spLocks noEditPoints="1"/>
            </p:cNvSpPr>
            <p:nvPr/>
          </p:nvSpPr>
          <p:spPr bwMode="auto">
            <a:xfrm>
              <a:off x="5179634" y="2319057"/>
              <a:ext cx="110729" cy="114300"/>
            </a:xfrm>
            <a:custGeom>
              <a:avLst/>
              <a:gdLst>
                <a:gd name="T0" fmla="*/ 22 w 39"/>
                <a:gd name="T1" fmla="*/ 4 h 40"/>
                <a:gd name="T2" fmla="*/ 27 w 39"/>
                <a:gd name="T3" fmla="*/ 8 h 40"/>
                <a:gd name="T4" fmla="*/ 29 w 39"/>
                <a:gd name="T5" fmla="*/ 7 h 40"/>
                <a:gd name="T6" fmla="*/ 32 w 39"/>
                <a:gd name="T7" fmla="*/ 9 h 40"/>
                <a:gd name="T8" fmla="*/ 31 w 39"/>
                <a:gd name="T9" fmla="*/ 12 h 40"/>
                <a:gd name="T10" fmla="*/ 35 w 39"/>
                <a:gd name="T11" fmla="*/ 17 h 40"/>
                <a:gd name="T12" fmla="*/ 36 w 39"/>
                <a:gd name="T13" fmla="*/ 21 h 40"/>
                <a:gd name="T14" fmla="*/ 33 w 39"/>
                <a:gd name="T15" fmla="*/ 23 h 40"/>
                <a:gd name="T16" fmla="*/ 32 w 39"/>
                <a:gd name="T17" fmla="*/ 29 h 40"/>
                <a:gd name="T18" fmla="*/ 30 w 39"/>
                <a:gd name="T19" fmla="*/ 33 h 40"/>
                <a:gd name="T20" fmla="*/ 28 w 39"/>
                <a:gd name="T21" fmla="*/ 33 h 40"/>
                <a:gd name="T22" fmla="*/ 22 w 39"/>
                <a:gd name="T23" fmla="*/ 34 h 40"/>
                <a:gd name="T24" fmla="*/ 21 w 39"/>
                <a:gd name="T25" fmla="*/ 37 h 40"/>
                <a:gd name="T26" fmla="*/ 16 w 39"/>
                <a:gd name="T27" fmla="*/ 35 h 40"/>
                <a:gd name="T28" fmla="*/ 12 w 39"/>
                <a:gd name="T29" fmla="*/ 32 h 40"/>
                <a:gd name="T30" fmla="*/ 9 w 39"/>
                <a:gd name="T31" fmla="*/ 33 h 40"/>
                <a:gd name="T32" fmla="*/ 6 w 39"/>
                <a:gd name="T33" fmla="*/ 31 h 40"/>
                <a:gd name="T34" fmla="*/ 8 w 39"/>
                <a:gd name="T35" fmla="*/ 28 h 40"/>
                <a:gd name="T36" fmla="*/ 4 w 39"/>
                <a:gd name="T37" fmla="*/ 23 h 40"/>
                <a:gd name="T38" fmla="*/ 2 w 39"/>
                <a:gd name="T39" fmla="*/ 19 h 40"/>
                <a:gd name="T40" fmla="*/ 6 w 39"/>
                <a:gd name="T41" fmla="*/ 17 h 40"/>
                <a:gd name="T42" fmla="*/ 6 w 39"/>
                <a:gd name="T43" fmla="*/ 11 h 40"/>
                <a:gd name="T44" fmla="*/ 8 w 39"/>
                <a:gd name="T45" fmla="*/ 7 h 40"/>
                <a:gd name="T46" fmla="*/ 10 w 39"/>
                <a:gd name="T47" fmla="*/ 7 h 40"/>
                <a:gd name="T48" fmla="*/ 16 w 39"/>
                <a:gd name="T49" fmla="*/ 6 h 40"/>
                <a:gd name="T50" fmla="*/ 18 w 39"/>
                <a:gd name="T51" fmla="*/ 3 h 40"/>
                <a:gd name="T52" fmla="*/ 21 w 39"/>
                <a:gd name="T53" fmla="*/ 0 h 40"/>
                <a:gd name="T54" fmla="*/ 14 w 39"/>
                <a:gd name="T55" fmla="*/ 4 h 40"/>
                <a:gd name="T56" fmla="*/ 9 w 39"/>
                <a:gd name="T57" fmla="*/ 4 h 40"/>
                <a:gd name="T58" fmla="*/ 4 w 39"/>
                <a:gd name="T59" fmla="*/ 7 h 40"/>
                <a:gd name="T60" fmla="*/ 4 w 39"/>
                <a:gd name="T61" fmla="*/ 13 h 40"/>
                <a:gd name="T62" fmla="*/ 0 w 39"/>
                <a:gd name="T63" fmla="*/ 19 h 40"/>
                <a:gd name="T64" fmla="*/ 3 w 39"/>
                <a:gd name="T65" fmla="*/ 26 h 40"/>
                <a:gd name="T66" fmla="*/ 3 w 39"/>
                <a:gd name="T67" fmla="*/ 30 h 40"/>
                <a:gd name="T68" fmla="*/ 6 w 39"/>
                <a:gd name="T69" fmla="*/ 35 h 40"/>
                <a:gd name="T70" fmla="*/ 12 w 39"/>
                <a:gd name="T71" fmla="*/ 35 h 40"/>
                <a:gd name="T72" fmla="*/ 18 w 39"/>
                <a:gd name="T73" fmla="*/ 40 h 40"/>
                <a:gd name="T74" fmla="*/ 25 w 39"/>
                <a:gd name="T75" fmla="*/ 36 h 40"/>
                <a:gd name="T76" fmla="*/ 29 w 39"/>
                <a:gd name="T77" fmla="*/ 36 h 40"/>
                <a:gd name="T78" fmla="*/ 34 w 39"/>
                <a:gd name="T79" fmla="*/ 33 h 40"/>
                <a:gd name="T80" fmla="*/ 34 w 39"/>
                <a:gd name="T81" fmla="*/ 27 h 40"/>
                <a:gd name="T82" fmla="*/ 39 w 39"/>
                <a:gd name="T83" fmla="*/ 21 h 40"/>
                <a:gd name="T84" fmla="*/ 35 w 39"/>
                <a:gd name="T85" fmla="*/ 14 h 40"/>
                <a:gd name="T86" fmla="*/ 35 w 39"/>
                <a:gd name="T87" fmla="*/ 10 h 40"/>
                <a:gd name="T88" fmla="*/ 32 w 39"/>
                <a:gd name="T89" fmla="*/ 5 h 40"/>
                <a:gd name="T90" fmla="*/ 27 w 39"/>
                <a:gd name="T91" fmla="*/ 5 h 40"/>
                <a:gd name="T92" fmla="*/ 21 w 39"/>
                <a:gd name="T9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9" h="40">
                  <a:moveTo>
                    <a:pt x="21" y="3"/>
                  </a:moveTo>
                  <a:cubicBezTo>
                    <a:pt x="21" y="3"/>
                    <a:pt x="22" y="4"/>
                    <a:pt x="22" y="4"/>
                  </a:cubicBezTo>
                  <a:cubicBezTo>
                    <a:pt x="22" y="6"/>
                    <a:pt x="22" y="6"/>
                    <a:pt x="22" y="6"/>
                  </a:cubicBezTo>
                  <a:cubicBezTo>
                    <a:pt x="24" y="7"/>
                    <a:pt x="26" y="7"/>
                    <a:pt x="27" y="8"/>
                  </a:cubicBezTo>
                  <a:cubicBezTo>
                    <a:pt x="28" y="7"/>
                    <a:pt x="28" y="7"/>
                    <a:pt x="28" y="7"/>
                  </a:cubicBezTo>
                  <a:cubicBezTo>
                    <a:pt x="28" y="7"/>
                    <a:pt x="29" y="7"/>
                    <a:pt x="29" y="7"/>
                  </a:cubicBezTo>
                  <a:cubicBezTo>
                    <a:pt x="30" y="7"/>
                    <a:pt x="30" y="7"/>
                    <a:pt x="30" y="7"/>
                  </a:cubicBezTo>
                  <a:cubicBezTo>
                    <a:pt x="32" y="9"/>
                    <a:pt x="32" y="9"/>
                    <a:pt x="32" y="9"/>
                  </a:cubicBezTo>
                  <a:cubicBezTo>
                    <a:pt x="33" y="10"/>
                    <a:pt x="33" y="10"/>
                    <a:pt x="32" y="11"/>
                  </a:cubicBezTo>
                  <a:cubicBezTo>
                    <a:pt x="31" y="12"/>
                    <a:pt x="31" y="12"/>
                    <a:pt x="31" y="12"/>
                  </a:cubicBezTo>
                  <a:cubicBezTo>
                    <a:pt x="32" y="14"/>
                    <a:pt x="33" y="15"/>
                    <a:pt x="33" y="17"/>
                  </a:cubicBezTo>
                  <a:cubicBezTo>
                    <a:pt x="35" y="17"/>
                    <a:pt x="35" y="17"/>
                    <a:pt x="35" y="17"/>
                  </a:cubicBezTo>
                  <a:cubicBezTo>
                    <a:pt x="35" y="17"/>
                    <a:pt x="36" y="18"/>
                    <a:pt x="36" y="19"/>
                  </a:cubicBezTo>
                  <a:cubicBezTo>
                    <a:pt x="36" y="21"/>
                    <a:pt x="36" y="21"/>
                    <a:pt x="36" y="21"/>
                  </a:cubicBezTo>
                  <a:cubicBezTo>
                    <a:pt x="36" y="22"/>
                    <a:pt x="35" y="23"/>
                    <a:pt x="35" y="23"/>
                  </a:cubicBezTo>
                  <a:cubicBezTo>
                    <a:pt x="33" y="23"/>
                    <a:pt x="33" y="23"/>
                    <a:pt x="33" y="23"/>
                  </a:cubicBezTo>
                  <a:cubicBezTo>
                    <a:pt x="33" y="25"/>
                    <a:pt x="32" y="26"/>
                    <a:pt x="31" y="28"/>
                  </a:cubicBezTo>
                  <a:cubicBezTo>
                    <a:pt x="32" y="29"/>
                    <a:pt x="32" y="29"/>
                    <a:pt x="32" y="29"/>
                  </a:cubicBezTo>
                  <a:cubicBezTo>
                    <a:pt x="33" y="29"/>
                    <a:pt x="33" y="30"/>
                    <a:pt x="32" y="31"/>
                  </a:cubicBezTo>
                  <a:cubicBezTo>
                    <a:pt x="30" y="33"/>
                    <a:pt x="30" y="33"/>
                    <a:pt x="30" y="33"/>
                  </a:cubicBezTo>
                  <a:cubicBezTo>
                    <a:pt x="30" y="33"/>
                    <a:pt x="30" y="33"/>
                    <a:pt x="29" y="33"/>
                  </a:cubicBezTo>
                  <a:cubicBezTo>
                    <a:pt x="29" y="33"/>
                    <a:pt x="28" y="33"/>
                    <a:pt x="28" y="33"/>
                  </a:cubicBezTo>
                  <a:cubicBezTo>
                    <a:pt x="27" y="32"/>
                    <a:pt x="27" y="32"/>
                    <a:pt x="27" y="32"/>
                  </a:cubicBezTo>
                  <a:cubicBezTo>
                    <a:pt x="26" y="33"/>
                    <a:pt x="24" y="33"/>
                    <a:pt x="22" y="34"/>
                  </a:cubicBezTo>
                  <a:cubicBezTo>
                    <a:pt x="22" y="35"/>
                    <a:pt x="22" y="35"/>
                    <a:pt x="22" y="35"/>
                  </a:cubicBezTo>
                  <a:cubicBezTo>
                    <a:pt x="22" y="36"/>
                    <a:pt x="21" y="37"/>
                    <a:pt x="21" y="37"/>
                  </a:cubicBezTo>
                  <a:cubicBezTo>
                    <a:pt x="18" y="37"/>
                    <a:pt x="18" y="37"/>
                    <a:pt x="18" y="37"/>
                  </a:cubicBezTo>
                  <a:cubicBezTo>
                    <a:pt x="17" y="37"/>
                    <a:pt x="16" y="36"/>
                    <a:pt x="16" y="35"/>
                  </a:cubicBezTo>
                  <a:cubicBezTo>
                    <a:pt x="16" y="34"/>
                    <a:pt x="16" y="34"/>
                    <a:pt x="16" y="34"/>
                  </a:cubicBezTo>
                  <a:cubicBezTo>
                    <a:pt x="15" y="33"/>
                    <a:pt x="13" y="33"/>
                    <a:pt x="12" y="32"/>
                  </a:cubicBezTo>
                  <a:cubicBezTo>
                    <a:pt x="10" y="33"/>
                    <a:pt x="10" y="33"/>
                    <a:pt x="10" y="33"/>
                  </a:cubicBezTo>
                  <a:cubicBezTo>
                    <a:pt x="10" y="33"/>
                    <a:pt x="10" y="33"/>
                    <a:pt x="9" y="33"/>
                  </a:cubicBezTo>
                  <a:cubicBezTo>
                    <a:pt x="9" y="33"/>
                    <a:pt x="9" y="33"/>
                    <a:pt x="8" y="33"/>
                  </a:cubicBezTo>
                  <a:cubicBezTo>
                    <a:pt x="6" y="31"/>
                    <a:pt x="6" y="31"/>
                    <a:pt x="6" y="31"/>
                  </a:cubicBezTo>
                  <a:cubicBezTo>
                    <a:pt x="6" y="30"/>
                    <a:pt x="6" y="29"/>
                    <a:pt x="6" y="29"/>
                  </a:cubicBezTo>
                  <a:cubicBezTo>
                    <a:pt x="8" y="28"/>
                    <a:pt x="8" y="28"/>
                    <a:pt x="8" y="28"/>
                  </a:cubicBezTo>
                  <a:cubicBezTo>
                    <a:pt x="7" y="26"/>
                    <a:pt x="6" y="25"/>
                    <a:pt x="6" y="23"/>
                  </a:cubicBezTo>
                  <a:cubicBezTo>
                    <a:pt x="4" y="23"/>
                    <a:pt x="4" y="23"/>
                    <a:pt x="4" y="23"/>
                  </a:cubicBezTo>
                  <a:cubicBezTo>
                    <a:pt x="3" y="23"/>
                    <a:pt x="2" y="22"/>
                    <a:pt x="2" y="21"/>
                  </a:cubicBezTo>
                  <a:cubicBezTo>
                    <a:pt x="2" y="19"/>
                    <a:pt x="2" y="19"/>
                    <a:pt x="2" y="19"/>
                  </a:cubicBezTo>
                  <a:cubicBezTo>
                    <a:pt x="2" y="18"/>
                    <a:pt x="3" y="17"/>
                    <a:pt x="4" y="17"/>
                  </a:cubicBezTo>
                  <a:cubicBezTo>
                    <a:pt x="6" y="17"/>
                    <a:pt x="6" y="17"/>
                    <a:pt x="6" y="17"/>
                  </a:cubicBezTo>
                  <a:cubicBezTo>
                    <a:pt x="6" y="15"/>
                    <a:pt x="7" y="14"/>
                    <a:pt x="8" y="12"/>
                  </a:cubicBezTo>
                  <a:cubicBezTo>
                    <a:pt x="6" y="11"/>
                    <a:pt x="6" y="11"/>
                    <a:pt x="6" y="11"/>
                  </a:cubicBezTo>
                  <a:cubicBezTo>
                    <a:pt x="6" y="10"/>
                    <a:pt x="6" y="10"/>
                    <a:pt x="6" y="9"/>
                  </a:cubicBezTo>
                  <a:cubicBezTo>
                    <a:pt x="8" y="7"/>
                    <a:pt x="8" y="7"/>
                    <a:pt x="8" y="7"/>
                  </a:cubicBezTo>
                  <a:cubicBezTo>
                    <a:pt x="9" y="7"/>
                    <a:pt x="9" y="7"/>
                    <a:pt x="9" y="7"/>
                  </a:cubicBezTo>
                  <a:cubicBezTo>
                    <a:pt x="10" y="7"/>
                    <a:pt x="10" y="7"/>
                    <a:pt x="10" y="7"/>
                  </a:cubicBezTo>
                  <a:cubicBezTo>
                    <a:pt x="12" y="8"/>
                    <a:pt x="12" y="8"/>
                    <a:pt x="12" y="8"/>
                  </a:cubicBezTo>
                  <a:cubicBezTo>
                    <a:pt x="13" y="7"/>
                    <a:pt x="15" y="7"/>
                    <a:pt x="16" y="6"/>
                  </a:cubicBezTo>
                  <a:cubicBezTo>
                    <a:pt x="16" y="4"/>
                    <a:pt x="16" y="4"/>
                    <a:pt x="16" y="4"/>
                  </a:cubicBezTo>
                  <a:cubicBezTo>
                    <a:pt x="16" y="4"/>
                    <a:pt x="17" y="3"/>
                    <a:pt x="18" y="3"/>
                  </a:cubicBezTo>
                  <a:cubicBezTo>
                    <a:pt x="21" y="3"/>
                    <a:pt x="21" y="3"/>
                    <a:pt x="21" y="3"/>
                  </a:cubicBezTo>
                  <a:moveTo>
                    <a:pt x="21" y="0"/>
                  </a:moveTo>
                  <a:cubicBezTo>
                    <a:pt x="18" y="0"/>
                    <a:pt x="18" y="0"/>
                    <a:pt x="18" y="0"/>
                  </a:cubicBezTo>
                  <a:cubicBezTo>
                    <a:pt x="16" y="0"/>
                    <a:pt x="14" y="2"/>
                    <a:pt x="14" y="4"/>
                  </a:cubicBezTo>
                  <a:cubicBezTo>
                    <a:pt x="13" y="4"/>
                    <a:pt x="13" y="4"/>
                    <a:pt x="12" y="5"/>
                  </a:cubicBezTo>
                  <a:cubicBezTo>
                    <a:pt x="11" y="4"/>
                    <a:pt x="10" y="4"/>
                    <a:pt x="9" y="4"/>
                  </a:cubicBezTo>
                  <a:cubicBezTo>
                    <a:pt x="8" y="4"/>
                    <a:pt x="7" y="4"/>
                    <a:pt x="6" y="5"/>
                  </a:cubicBezTo>
                  <a:cubicBezTo>
                    <a:pt x="4" y="7"/>
                    <a:pt x="4" y="7"/>
                    <a:pt x="4" y="7"/>
                  </a:cubicBezTo>
                  <a:cubicBezTo>
                    <a:pt x="4" y="8"/>
                    <a:pt x="3" y="9"/>
                    <a:pt x="3" y="10"/>
                  </a:cubicBezTo>
                  <a:cubicBezTo>
                    <a:pt x="3" y="11"/>
                    <a:pt x="4" y="12"/>
                    <a:pt x="4" y="13"/>
                  </a:cubicBezTo>
                  <a:cubicBezTo>
                    <a:pt x="4" y="13"/>
                    <a:pt x="4" y="14"/>
                    <a:pt x="3" y="14"/>
                  </a:cubicBezTo>
                  <a:cubicBezTo>
                    <a:pt x="1" y="15"/>
                    <a:pt x="0" y="16"/>
                    <a:pt x="0" y="19"/>
                  </a:cubicBezTo>
                  <a:cubicBezTo>
                    <a:pt x="0" y="21"/>
                    <a:pt x="0" y="21"/>
                    <a:pt x="0" y="21"/>
                  </a:cubicBezTo>
                  <a:cubicBezTo>
                    <a:pt x="0" y="23"/>
                    <a:pt x="1" y="25"/>
                    <a:pt x="3" y="26"/>
                  </a:cubicBezTo>
                  <a:cubicBezTo>
                    <a:pt x="4" y="26"/>
                    <a:pt x="4" y="27"/>
                    <a:pt x="4" y="27"/>
                  </a:cubicBezTo>
                  <a:cubicBezTo>
                    <a:pt x="4" y="28"/>
                    <a:pt x="3" y="29"/>
                    <a:pt x="3" y="30"/>
                  </a:cubicBezTo>
                  <a:cubicBezTo>
                    <a:pt x="3" y="31"/>
                    <a:pt x="4" y="32"/>
                    <a:pt x="4" y="33"/>
                  </a:cubicBezTo>
                  <a:cubicBezTo>
                    <a:pt x="6" y="35"/>
                    <a:pt x="6" y="35"/>
                    <a:pt x="6" y="35"/>
                  </a:cubicBezTo>
                  <a:cubicBezTo>
                    <a:pt x="7" y="36"/>
                    <a:pt x="8" y="36"/>
                    <a:pt x="9" y="36"/>
                  </a:cubicBezTo>
                  <a:cubicBezTo>
                    <a:pt x="10" y="36"/>
                    <a:pt x="11" y="36"/>
                    <a:pt x="12" y="35"/>
                  </a:cubicBezTo>
                  <a:cubicBezTo>
                    <a:pt x="13" y="35"/>
                    <a:pt x="13" y="36"/>
                    <a:pt x="14" y="36"/>
                  </a:cubicBezTo>
                  <a:cubicBezTo>
                    <a:pt x="14" y="38"/>
                    <a:pt x="16" y="40"/>
                    <a:pt x="18" y="40"/>
                  </a:cubicBezTo>
                  <a:cubicBezTo>
                    <a:pt x="21" y="40"/>
                    <a:pt x="21" y="40"/>
                    <a:pt x="21" y="40"/>
                  </a:cubicBezTo>
                  <a:cubicBezTo>
                    <a:pt x="23" y="40"/>
                    <a:pt x="25" y="38"/>
                    <a:pt x="25" y="36"/>
                  </a:cubicBezTo>
                  <a:cubicBezTo>
                    <a:pt x="25" y="36"/>
                    <a:pt x="26" y="35"/>
                    <a:pt x="27" y="35"/>
                  </a:cubicBezTo>
                  <a:cubicBezTo>
                    <a:pt x="27" y="36"/>
                    <a:pt x="28" y="36"/>
                    <a:pt x="29" y="36"/>
                  </a:cubicBezTo>
                  <a:cubicBezTo>
                    <a:pt x="30" y="36"/>
                    <a:pt x="31" y="36"/>
                    <a:pt x="32" y="35"/>
                  </a:cubicBezTo>
                  <a:cubicBezTo>
                    <a:pt x="34" y="33"/>
                    <a:pt x="34" y="33"/>
                    <a:pt x="34" y="33"/>
                  </a:cubicBezTo>
                  <a:cubicBezTo>
                    <a:pt x="35" y="32"/>
                    <a:pt x="35" y="31"/>
                    <a:pt x="35" y="30"/>
                  </a:cubicBezTo>
                  <a:cubicBezTo>
                    <a:pt x="35" y="29"/>
                    <a:pt x="35" y="28"/>
                    <a:pt x="34" y="27"/>
                  </a:cubicBezTo>
                  <a:cubicBezTo>
                    <a:pt x="35" y="27"/>
                    <a:pt x="35" y="26"/>
                    <a:pt x="35" y="26"/>
                  </a:cubicBezTo>
                  <a:cubicBezTo>
                    <a:pt x="37" y="25"/>
                    <a:pt x="39" y="23"/>
                    <a:pt x="39" y="21"/>
                  </a:cubicBezTo>
                  <a:cubicBezTo>
                    <a:pt x="39" y="19"/>
                    <a:pt x="39" y="19"/>
                    <a:pt x="39" y="19"/>
                  </a:cubicBezTo>
                  <a:cubicBezTo>
                    <a:pt x="39" y="16"/>
                    <a:pt x="37" y="15"/>
                    <a:pt x="35" y="14"/>
                  </a:cubicBezTo>
                  <a:cubicBezTo>
                    <a:pt x="35" y="14"/>
                    <a:pt x="35" y="13"/>
                    <a:pt x="34" y="13"/>
                  </a:cubicBezTo>
                  <a:cubicBezTo>
                    <a:pt x="35" y="12"/>
                    <a:pt x="35" y="11"/>
                    <a:pt x="35" y="10"/>
                  </a:cubicBezTo>
                  <a:cubicBezTo>
                    <a:pt x="35" y="9"/>
                    <a:pt x="35" y="8"/>
                    <a:pt x="34" y="7"/>
                  </a:cubicBezTo>
                  <a:cubicBezTo>
                    <a:pt x="32" y="5"/>
                    <a:pt x="32" y="5"/>
                    <a:pt x="32" y="5"/>
                  </a:cubicBezTo>
                  <a:cubicBezTo>
                    <a:pt x="31" y="4"/>
                    <a:pt x="30" y="4"/>
                    <a:pt x="29" y="4"/>
                  </a:cubicBezTo>
                  <a:cubicBezTo>
                    <a:pt x="28" y="4"/>
                    <a:pt x="27" y="4"/>
                    <a:pt x="27" y="5"/>
                  </a:cubicBezTo>
                  <a:cubicBezTo>
                    <a:pt x="26" y="4"/>
                    <a:pt x="25" y="4"/>
                    <a:pt x="25" y="4"/>
                  </a:cubicBezTo>
                  <a:cubicBezTo>
                    <a:pt x="25" y="2"/>
                    <a:pt x="23" y="0"/>
                    <a:pt x="21" y="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6" name="Freeform 64"/>
            <p:cNvSpPr>
              <a:spLocks noEditPoints="1"/>
            </p:cNvSpPr>
            <p:nvPr/>
          </p:nvSpPr>
          <p:spPr bwMode="auto">
            <a:xfrm>
              <a:off x="5218925" y="2361919"/>
              <a:ext cx="28575" cy="28575"/>
            </a:xfrm>
            <a:custGeom>
              <a:avLst/>
              <a:gdLst>
                <a:gd name="T0" fmla="*/ 5 w 10"/>
                <a:gd name="T1" fmla="*/ 10 h 10"/>
                <a:gd name="T2" fmla="*/ 0 w 10"/>
                <a:gd name="T3" fmla="*/ 5 h 10"/>
                <a:gd name="T4" fmla="*/ 5 w 10"/>
                <a:gd name="T5" fmla="*/ 0 h 10"/>
                <a:gd name="T6" fmla="*/ 10 w 10"/>
                <a:gd name="T7" fmla="*/ 5 h 10"/>
                <a:gd name="T8" fmla="*/ 5 w 10"/>
                <a:gd name="T9" fmla="*/ 10 h 10"/>
                <a:gd name="T10" fmla="*/ 5 w 10"/>
                <a:gd name="T11" fmla="*/ 1 h 10"/>
                <a:gd name="T12" fmla="*/ 2 w 10"/>
                <a:gd name="T13" fmla="*/ 5 h 10"/>
                <a:gd name="T14" fmla="*/ 5 w 10"/>
                <a:gd name="T15" fmla="*/ 8 h 10"/>
                <a:gd name="T16" fmla="*/ 9 w 10"/>
                <a:gd name="T17" fmla="*/ 5 h 10"/>
                <a:gd name="T18" fmla="*/ 5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10"/>
                  </a:moveTo>
                  <a:cubicBezTo>
                    <a:pt x="3" y="10"/>
                    <a:pt x="0" y="8"/>
                    <a:pt x="0" y="5"/>
                  </a:cubicBezTo>
                  <a:cubicBezTo>
                    <a:pt x="0" y="2"/>
                    <a:pt x="3" y="0"/>
                    <a:pt x="5" y="0"/>
                  </a:cubicBezTo>
                  <a:cubicBezTo>
                    <a:pt x="8" y="0"/>
                    <a:pt x="10" y="2"/>
                    <a:pt x="10" y="5"/>
                  </a:cubicBezTo>
                  <a:cubicBezTo>
                    <a:pt x="10" y="8"/>
                    <a:pt x="8" y="10"/>
                    <a:pt x="5" y="10"/>
                  </a:cubicBezTo>
                  <a:close/>
                  <a:moveTo>
                    <a:pt x="5" y="1"/>
                  </a:moveTo>
                  <a:cubicBezTo>
                    <a:pt x="3" y="1"/>
                    <a:pt x="2" y="3"/>
                    <a:pt x="2" y="5"/>
                  </a:cubicBezTo>
                  <a:cubicBezTo>
                    <a:pt x="2" y="7"/>
                    <a:pt x="3" y="8"/>
                    <a:pt x="5" y="8"/>
                  </a:cubicBezTo>
                  <a:cubicBezTo>
                    <a:pt x="7" y="8"/>
                    <a:pt x="9" y="7"/>
                    <a:pt x="9" y="5"/>
                  </a:cubicBezTo>
                  <a:cubicBezTo>
                    <a:pt x="9" y="3"/>
                    <a:pt x="7" y="1"/>
                    <a:pt x="5"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7" name="Freeform 66"/>
            <p:cNvSpPr>
              <a:spLocks noEditPoints="1"/>
            </p:cNvSpPr>
            <p:nvPr/>
          </p:nvSpPr>
          <p:spPr bwMode="auto">
            <a:xfrm>
              <a:off x="5312984" y="2314294"/>
              <a:ext cx="42863" cy="41672"/>
            </a:xfrm>
            <a:custGeom>
              <a:avLst/>
              <a:gdLst>
                <a:gd name="T0" fmla="*/ 8 w 15"/>
                <a:gd name="T1" fmla="*/ 15 h 15"/>
                <a:gd name="T2" fmla="*/ 0 w 15"/>
                <a:gd name="T3" fmla="*/ 7 h 15"/>
                <a:gd name="T4" fmla="*/ 8 w 15"/>
                <a:gd name="T5" fmla="*/ 0 h 15"/>
                <a:gd name="T6" fmla="*/ 15 w 15"/>
                <a:gd name="T7" fmla="*/ 7 h 15"/>
                <a:gd name="T8" fmla="*/ 8 w 15"/>
                <a:gd name="T9" fmla="*/ 15 h 15"/>
                <a:gd name="T10" fmla="*/ 8 w 15"/>
                <a:gd name="T11" fmla="*/ 1 h 15"/>
                <a:gd name="T12" fmla="*/ 2 w 15"/>
                <a:gd name="T13" fmla="*/ 7 h 15"/>
                <a:gd name="T14" fmla="*/ 8 w 15"/>
                <a:gd name="T15" fmla="*/ 14 h 15"/>
                <a:gd name="T16" fmla="*/ 14 w 15"/>
                <a:gd name="T17" fmla="*/ 7 h 15"/>
                <a:gd name="T18" fmla="*/ 8 w 15"/>
                <a:gd name="T19"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8" y="15"/>
                  </a:moveTo>
                  <a:cubicBezTo>
                    <a:pt x="4" y="15"/>
                    <a:pt x="0" y="11"/>
                    <a:pt x="0" y="7"/>
                  </a:cubicBezTo>
                  <a:cubicBezTo>
                    <a:pt x="0" y="3"/>
                    <a:pt x="4" y="0"/>
                    <a:pt x="8" y="0"/>
                  </a:cubicBezTo>
                  <a:cubicBezTo>
                    <a:pt x="12" y="0"/>
                    <a:pt x="15" y="3"/>
                    <a:pt x="15" y="7"/>
                  </a:cubicBezTo>
                  <a:cubicBezTo>
                    <a:pt x="15" y="11"/>
                    <a:pt x="12" y="15"/>
                    <a:pt x="8" y="15"/>
                  </a:cubicBezTo>
                  <a:close/>
                  <a:moveTo>
                    <a:pt x="8" y="1"/>
                  </a:moveTo>
                  <a:cubicBezTo>
                    <a:pt x="4" y="1"/>
                    <a:pt x="2" y="4"/>
                    <a:pt x="2" y="7"/>
                  </a:cubicBezTo>
                  <a:cubicBezTo>
                    <a:pt x="2" y="11"/>
                    <a:pt x="4" y="14"/>
                    <a:pt x="8" y="14"/>
                  </a:cubicBezTo>
                  <a:cubicBezTo>
                    <a:pt x="11" y="14"/>
                    <a:pt x="14" y="11"/>
                    <a:pt x="14" y="7"/>
                  </a:cubicBezTo>
                  <a:cubicBezTo>
                    <a:pt x="14" y="4"/>
                    <a:pt x="11" y="1"/>
                    <a:pt x="8"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8" name="Freeform 58"/>
            <p:cNvSpPr/>
            <p:nvPr/>
          </p:nvSpPr>
          <p:spPr bwMode="auto">
            <a:xfrm>
              <a:off x="5171300" y="2753635"/>
              <a:ext cx="321469" cy="425054"/>
            </a:xfrm>
            <a:custGeom>
              <a:avLst/>
              <a:gdLst>
                <a:gd name="T0" fmla="*/ 71 w 113"/>
                <a:gd name="T1" fmla="*/ 150 h 150"/>
                <a:gd name="T2" fmla="*/ 68 w 113"/>
                <a:gd name="T3" fmla="*/ 140 h 150"/>
                <a:gd name="T4" fmla="*/ 68 w 113"/>
                <a:gd name="T5" fmla="*/ 68 h 150"/>
                <a:gd name="T6" fmla="*/ 84 w 113"/>
                <a:gd name="T7" fmla="*/ 52 h 150"/>
                <a:gd name="T8" fmla="*/ 113 w 113"/>
                <a:gd name="T9" fmla="*/ 52 h 150"/>
                <a:gd name="T10" fmla="*/ 113 w 113"/>
                <a:gd name="T11" fmla="*/ 0 h 150"/>
                <a:gd name="T12" fmla="*/ 6 w 113"/>
                <a:gd name="T13" fmla="*/ 0 h 150"/>
                <a:gd name="T14" fmla="*/ 0 w 113"/>
                <a:gd name="T15" fmla="*/ 6 h 150"/>
                <a:gd name="T16" fmla="*/ 0 w 113"/>
                <a:gd name="T17" fmla="*/ 7 h 150"/>
                <a:gd name="T18" fmla="*/ 6 w 113"/>
                <a:gd name="T19" fmla="*/ 13 h 150"/>
                <a:gd name="T20" fmla="*/ 48 w 113"/>
                <a:gd name="T21" fmla="*/ 13 h 150"/>
                <a:gd name="T22" fmla="*/ 48 w 113"/>
                <a:gd name="T23" fmla="*/ 150 h 150"/>
                <a:gd name="T24" fmla="*/ 71 w 113"/>
                <a:gd name="T25"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50">
                  <a:moveTo>
                    <a:pt x="71" y="150"/>
                  </a:moveTo>
                  <a:cubicBezTo>
                    <a:pt x="69" y="147"/>
                    <a:pt x="68" y="144"/>
                    <a:pt x="68" y="140"/>
                  </a:cubicBezTo>
                  <a:cubicBezTo>
                    <a:pt x="68" y="68"/>
                    <a:pt x="68" y="68"/>
                    <a:pt x="68" y="68"/>
                  </a:cubicBezTo>
                  <a:cubicBezTo>
                    <a:pt x="68" y="59"/>
                    <a:pt x="75" y="52"/>
                    <a:pt x="84" y="52"/>
                  </a:cubicBezTo>
                  <a:cubicBezTo>
                    <a:pt x="113" y="52"/>
                    <a:pt x="113" y="52"/>
                    <a:pt x="113" y="52"/>
                  </a:cubicBezTo>
                  <a:cubicBezTo>
                    <a:pt x="113" y="0"/>
                    <a:pt x="113" y="0"/>
                    <a:pt x="113" y="0"/>
                  </a:cubicBezTo>
                  <a:cubicBezTo>
                    <a:pt x="6" y="0"/>
                    <a:pt x="6" y="0"/>
                    <a:pt x="6" y="0"/>
                  </a:cubicBezTo>
                  <a:cubicBezTo>
                    <a:pt x="3" y="0"/>
                    <a:pt x="0" y="3"/>
                    <a:pt x="0" y="6"/>
                  </a:cubicBezTo>
                  <a:cubicBezTo>
                    <a:pt x="0" y="7"/>
                    <a:pt x="0" y="7"/>
                    <a:pt x="0" y="7"/>
                  </a:cubicBezTo>
                  <a:cubicBezTo>
                    <a:pt x="0" y="10"/>
                    <a:pt x="3" y="13"/>
                    <a:pt x="6" y="13"/>
                  </a:cubicBezTo>
                  <a:cubicBezTo>
                    <a:pt x="48" y="13"/>
                    <a:pt x="48" y="13"/>
                    <a:pt x="48" y="13"/>
                  </a:cubicBezTo>
                  <a:cubicBezTo>
                    <a:pt x="48" y="150"/>
                    <a:pt x="48" y="150"/>
                    <a:pt x="48" y="150"/>
                  </a:cubicBezTo>
                  <a:lnTo>
                    <a:pt x="71" y="15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grpSp>
      <p:grpSp>
        <p:nvGrpSpPr>
          <p:cNvPr id="5" name="组合 4"/>
          <p:cNvGrpSpPr/>
          <p:nvPr/>
        </p:nvGrpSpPr>
        <p:grpSpPr>
          <a:xfrm>
            <a:off x="1101681" y="1243185"/>
            <a:ext cx="2876572" cy="2324717"/>
            <a:chOff x="826390" y="931656"/>
            <a:chExt cx="2157766" cy="1743810"/>
          </a:xfrm>
        </p:grpSpPr>
        <p:grpSp>
          <p:nvGrpSpPr>
            <p:cNvPr id="25" name="组合 24"/>
            <p:cNvGrpSpPr/>
            <p:nvPr/>
          </p:nvGrpSpPr>
          <p:grpSpPr>
            <a:xfrm>
              <a:off x="1144561" y="2348441"/>
              <a:ext cx="1839595" cy="327025"/>
              <a:chOff x="3644" y="2232"/>
              <a:chExt cx="2897" cy="515"/>
            </a:xfrm>
          </p:grpSpPr>
          <p:sp>
            <p:nvSpPr>
              <p:cNvPr id="38" name="文本框 37"/>
              <p:cNvSpPr txBox="1"/>
              <p:nvPr/>
            </p:nvSpPr>
            <p:spPr>
              <a:xfrm>
                <a:off x="4098" y="2232"/>
                <a:ext cx="2443"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整理工程资源</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9" name="椭圆 3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p>
            </p:txBody>
          </p:sp>
        </p:grpSp>
        <p:pic>
          <p:nvPicPr>
            <p:cNvPr id="4" name="图片 3"/>
            <p:cNvPicPr>
              <a:picLocks noChangeAspect="1"/>
            </p:cNvPicPr>
            <p:nvPr/>
          </p:nvPicPr>
          <p:blipFill>
            <a:blip r:embed="rId3"/>
            <a:stretch>
              <a:fillRect/>
            </a:stretch>
          </p:blipFill>
          <p:spPr>
            <a:xfrm>
              <a:off x="826390" y="931656"/>
              <a:ext cx="2042417" cy="1344143"/>
            </a:xfrm>
            <a:prstGeom prst="rect">
              <a:avLst/>
            </a:prstGeom>
          </p:spPr>
        </p:pic>
      </p:grpSp>
      <p:grpSp>
        <p:nvGrpSpPr>
          <p:cNvPr id="8" name="组合 7"/>
          <p:cNvGrpSpPr/>
          <p:nvPr/>
        </p:nvGrpSpPr>
        <p:grpSpPr>
          <a:xfrm>
            <a:off x="6315452" y="1008556"/>
            <a:ext cx="5205760" cy="5285247"/>
            <a:chOff x="4737329" y="755657"/>
            <a:chExt cx="3904930" cy="3964555"/>
          </a:xfrm>
        </p:grpSpPr>
        <p:grpSp>
          <p:nvGrpSpPr>
            <p:cNvPr id="67" name="组合 66"/>
            <p:cNvGrpSpPr/>
            <p:nvPr/>
          </p:nvGrpSpPr>
          <p:grpSpPr>
            <a:xfrm>
              <a:off x="5481229" y="3621898"/>
              <a:ext cx="3161030" cy="327025"/>
              <a:chOff x="3644" y="2232"/>
              <a:chExt cx="4978" cy="515"/>
            </a:xfrm>
          </p:grpSpPr>
          <p:sp>
            <p:nvSpPr>
              <p:cNvPr id="68" name="文本框 67"/>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处理名山的数据源</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9" name="椭圆 6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p>
            </p:txBody>
          </p:sp>
        </p:grpSp>
        <p:grpSp>
          <p:nvGrpSpPr>
            <p:cNvPr id="43" name="组合 42"/>
            <p:cNvGrpSpPr/>
            <p:nvPr/>
          </p:nvGrpSpPr>
          <p:grpSpPr>
            <a:xfrm>
              <a:off x="5470558" y="3217848"/>
              <a:ext cx="2861945" cy="327025"/>
              <a:chOff x="3644" y="2232"/>
              <a:chExt cx="4507" cy="515"/>
            </a:xfrm>
          </p:grpSpPr>
          <p:sp>
            <p:nvSpPr>
              <p:cNvPr id="62" name="文本框 61"/>
              <p:cNvSpPr txBox="1"/>
              <p:nvPr/>
            </p:nvSpPr>
            <p:spPr>
              <a:xfrm>
                <a:off x="4098" y="2232"/>
                <a:ext cx="4053"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创建名山类</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3" name="椭圆 6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p>
            </p:txBody>
          </p:sp>
        </p:grpSp>
        <p:grpSp>
          <p:nvGrpSpPr>
            <p:cNvPr id="14" name="组合 13"/>
            <p:cNvGrpSpPr/>
            <p:nvPr/>
          </p:nvGrpSpPr>
          <p:grpSpPr>
            <a:xfrm>
              <a:off x="5470558" y="4011978"/>
              <a:ext cx="3161030" cy="327025"/>
              <a:chOff x="3644" y="2232"/>
              <a:chExt cx="4978" cy="515"/>
            </a:xfrm>
          </p:grpSpPr>
          <p:sp>
            <p:nvSpPr>
              <p:cNvPr id="15" name="文本框 14"/>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实现名山图片的轮播功能</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6" name="椭圆 15"/>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4</a:t>
                </a:r>
              </a:p>
            </p:txBody>
          </p:sp>
        </p:grpSp>
        <p:grpSp>
          <p:nvGrpSpPr>
            <p:cNvPr id="17" name="组合 16"/>
            <p:cNvGrpSpPr/>
            <p:nvPr/>
          </p:nvGrpSpPr>
          <p:grpSpPr>
            <a:xfrm>
              <a:off x="5465160" y="4393187"/>
              <a:ext cx="3161030" cy="327025"/>
              <a:chOff x="3644" y="2232"/>
              <a:chExt cx="4978" cy="515"/>
            </a:xfrm>
          </p:grpSpPr>
          <p:sp>
            <p:nvSpPr>
              <p:cNvPr id="18" name="文本框 17"/>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从轮播页跳转到指定的名山详情页</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0" name="椭圆 19"/>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5</a:t>
                </a:r>
              </a:p>
            </p:txBody>
          </p:sp>
        </p:grpSp>
        <p:pic>
          <p:nvPicPr>
            <p:cNvPr id="6" name="图片 5"/>
            <p:cNvPicPr>
              <a:picLocks noChangeAspect="1"/>
            </p:cNvPicPr>
            <p:nvPr/>
          </p:nvPicPr>
          <p:blipFill>
            <a:blip r:embed="rId4"/>
            <a:stretch>
              <a:fillRect/>
            </a:stretch>
          </p:blipFill>
          <p:spPr>
            <a:xfrm>
              <a:off x="4737329" y="755657"/>
              <a:ext cx="2765019" cy="2315984"/>
            </a:xfrm>
            <a:prstGeom prst="rect">
              <a:avLst/>
            </a:prstGeom>
          </p:spPr>
        </p:pic>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4*#ppt_w"/>
                                          </p:val>
                                        </p:tav>
                                        <p:tav tm="100000">
                                          <p:val>
                                            <p:strVal val="#ppt_w"/>
                                          </p:val>
                                        </p:tav>
                                      </p:tavLst>
                                    </p:anim>
                                    <p:anim calcmode="lin" valueType="num">
                                      <p:cBhvr>
                                        <p:cTn id="8" dur="500" fill="hold"/>
                                        <p:tgtEl>
                                          <p:spTgt spid="2"/>
                                        </p:tgtEl>
                                        <p:attrNameLst>
                                          <p:attrName>ppt_h</p:attrName>
                                        </p:attrNameLst>
                                      </p:cBhvr>
                                      <p:tavLst>
                                        <p:tav tm="0">
                                          <p:val>
                                            <p:strVal val="4*#ppt_h"/>
                                          </p:val>
                                        </p:tav>
                                        <p:tav tm="100000">
                                          <p:val>
                                            <p:strVal val="#ppt_h"/>
                                          </p:val>
                                        </p:tav>
                                      </p:tavLst>
                                    </p:anim>
                                  </p:childTnLst>
                                </p:cTn>
                              </p:par>
                              <p:par>
                                <p:cTn id="9" presetID="2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10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534399" y="3714071"/>
            <a:ext cx="5474538"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01</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4438765" y="2614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06258" y="166824"/>
            <a:ext cx="6510451"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p>
        </p:txBody>
      </p:sp>
      <p:grpSp>
        <p:nvGrpSpPr>
          <p:cNvPr id="9" name="组合 8"/>
          <p:cNvGrpSpPr/>
          <p:nvPr/>
        </p:nvGrpSpPr>
        <p:grpSpPr>
          <a:xfrm>
            <a:off x="803660" y="1362011"/>
            <a:ext cx="3936933" cy="3345890"/>
            <a:chOff x="714042" y="1245287"/>
            <a:chExt cx="2918173" cy="2584959"/>
          </a:xfrm>
        </p:grpSpPr>
        <p:sp>
          <p:nvSpPr>
            <p:cNvPr id="10" name="文本框 9"/>
            <p:cNvSpPr txBox="1"/>
            <p:nvPr/>
          </p:nvSpPr>
          <p:spPr>
            <a:xfrm>
              <a:off x="790091" y="1291968"/>
              <a:ext cx="2775193" cy="1595388"/>
            </a:xfrm>
            <a:prstGeom prst="rect">
              <a:avLst/>
            </a:prstGeom>
            <a:noFill/>
          </p:spPr>
          <p:txBody>
            <a:bodyPr wrap="square" lIns="91397" tIns="45699" rIns="91397" bIns="45699" rtlCol="0">
              <a:spAutoFit/>
            </a:bodyPr>
            <a:lstStyle/>
            <a:p>
              <a:pPr indent="266700" algn="just">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将任务需要的图片资源放到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media</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string.json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中添加本任务需要的字符串资源，创建大山类</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和数据源</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MountainViewModel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7" name="圆角矩形 54"/>
            <p:cNvSpPr/>
            <p:nvPr/>
          </p:nvSpPr>
          <p:spPr>
            <a:xfrm>
              <a:off x="714042" y="1245287"/>
              <a:ext cx="2918173" cy="258495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8" name="组合 17"/>
          <p:cNvGrpSpPr/>
          <p:nvPr/>
        </p:nvGrpSpPr>
        <p:grpSpPr>
          <a:xfrm>
            <a:off x="803661" y="4876726"/>
            <a:ext cx="4652320" cy="1942350"/>
            <a:chOff x="602840" y="3657238"/>
            <a:chExt cx="3489785" cy="1456990"/>
          </a:xfrm>
        </p:grpSpPr>
        <p:pic>
          <p:nvPicPr>
            <p:cNvPr id="19" name="图片 18"/>
            <p:cNvPicPr>
              <a:picLocks noChangeAspect="1"/>
            </p:cNvPicPr>
            <p:nvPr/>
          </p:nvPicPr>
          <p:blipFill>
            <a:blip r:embed="rId3"/>
            <a:stretch>
              <a:fillRect/>
            </a:stretch>
          </p:blipFill>
          <p:spPr>
            <a:xfrm>
              <a:off x="2470807" y="3657238"/>
              <a:ext cx="1621818" cy="1456990"/>
            </a:xfrm>
            <a:prstGeom prst="rect">
              <a:avLst/>
            </a:prstGeom>
          </p:spPr>
        </p:pic>
        <p:sp>
          <p:nvSpPr>
            <p:cNvPr id="20"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87500" lnSpcReduction="1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21" name="图片 20"/>
          <p:cNvPicPr>
            <a:picLocks noChangeAspect="1"/>
          </p:cNvPicPr>
          <p:nvPr/>
        </p:nvPicPr>
        <p:blipFill>
          <a:blip r:embed="rId4"/>
          <a:stretch>
            <a:fillRect/>
          </a:stretch>
        </p:blipFill>
        <p:spPr>
          <a:xfrm>
            <a:off x="5155217" y="1308067"/>
            <a:ext cx="6400646" cy="4212355"/>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4*#ppt_w"/>
                                          </p:val>
                                        </p:tav>
                                        <p:tav tm="100000">
                                          <p:val>
                                            <p:strVal val="#ppt_w"/>
                                          </p:val>
                                        </p:tav>
                                      </p:tavLst>
                                    </p:anim>
                                    <p:anim calcmode="lin" valueType="num">
                                      <p:cBhvr>
                                        <p:cTn id="8" dur="500" fill="hold"/>
                                        <p:tgtEl>
                                          <p:spTgt spid="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9"/>
                                        </p:tgtEl>
                                        <p:attrNameLst>
                                          <p:attrName>style.visibility</p:attrName>
                                        </p:attrNameLst>
                                      </p:cBhvr>
                                      <p:to>
                                        <p:strVal val="visible"/>
                                      </p:to>
                                    </p:set>
                                    <p:animEffect transition="in" filter="wedge">
                                      <p:cBhvr>
                                        <p:cTn id="12" dur="1000"/>
                                        <p:tgtEl>
                                          <p:spTgt spid="9"/>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21"/>
                                        </p:tgtEl>
                                        <p:attrNameLst>
                                          <p:attrName>style.visibility</p:attrName>
                                        </p:attrNameLst>
                                      </p:cBhvr>
                                      <p:to>
                                        <p:strVal val="visible"/>
                                      </p:to>
                                    </p:set>
                                    <p:animEffect transition="in" filter="wedge">
                                      <p:cBhvr>
                                        <p:cTn id="16" dur="10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8"/>
                                        </p:tgtEl>
                                        <p:attrNameLst>
                                          <p:attrName>style.visibility</p:attrName>
                                        </p:attrNameLst>
                                      </p:cBhvr>
                                      <p:to>
                                        <p:strVal val="visible"/>
                                      </p:to>
                                    </p:set>
                                    <p:animEffect transition="in" filter="wedge">
                                      <p:cBhvr>
                                        <p:cTn id="21"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004751" y="3714071"/>
            <a:ext cx="60041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创建名山类</a:t>
            </a: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Tree>
  </p:cSld>
  <p:clrMapOvr>
    <a:masterClrMapping/>
  </p:clrMapOvr>
  <p:transition spd="slow">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0714" y="166824"/>
            <a:ext cx="7905943"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创建名山类</a:t>
            </a:r>
          </a:p>
        </p:txBody>
      </p:sp>
      <p:grpSp>
        <p:nvGrpSpPr>
          <p:cNvPr id="4" name="组合 3"/>
          <p:cNvGrpSpPr/>
          <p:nvPr/>
        </p:nvGrpSpPr>
        <p:grpSpPr>
          <a:xfrm>
            <a:off x="769797" y="1348866"/>
            <a:ext cx="2734857" cy="5052105"/>
            <a:chOff x="714041" y="1034565"/>
            <a:chExt cx="2036632" cy="3903137"/>
          </a:xfrm>
        </p:grpSpPr>
        <p:sp>
          <p:nvSpPr>
            <p:cNvPr id="5" name="文本框 4"/>
            <p:cNvSpPr txBox="1"/>
            <p:nvPr/>
          </p:nvSpPr>
          <p:spPr>
            <a:xfrm>
              <a:off x="924703" y="1588107"/>
              <a:ext cx="1509864" cy="2815964"/>
            </a:xfrm>
            <a:prstGeom prst="rect">
              <a:avLst/>
            </a:prstGeom>
            <a:noFill/>
          </p:spPr>
          <p:txBody>
            <a:bodyPr wrap="square" lIns="91397" tIns="45699" rIns="91397" bIns="45699" rtlCol="0">
              <a:spAutoFit/>
            </a:bodyPr>
            <a:lstStyle/>
            <a:p>
              <a:pPr indent="266700">
                <a:lnSpc>
                  <a:spcPct val="120000"/>
                </a:lnSpc>
              </a:pP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类用来描述山的数据，由山的名字、描述和对应的图片构成，用构造方法初始化数据，用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export default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导出类。</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nvGrpSpPr>
            <p:cNvPr id="6" name="组合 5"/>
            <p:cNvGrpSpPr/>
            <p:nvPr/>
          </p:nvGrpSpPr>
          <p:grpSpPr>
            <a:xfrm>
              <a:off x="714041" y="1034565"/>
              <a:ext cx="2036632" cy="3903137"/>
              <a:chOff x="899813" y="1436469"/>
              <a:chExt cx="2036632" cy="3903137"/>
            </a:xfrm>
          </p:grpSpPr>
          <p:sp>
            <p:nvSpPr>
              <p:cNvPr id="7" name="圆角矩形 3"/>
              <p:cNvSpPr/>
              <p:nvPr/>
            </p:nvSpPr>
            <p:spPr>
              <a:xfrm>
                <a:off x="899813" y="1436469"/>
                <a:ext cx="1301154"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4" y="1647190"/>
                <a:ext cx="2036631" cy="369241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995296" y="1436469"/>
                <a:ext cx="1373780"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分析</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0" name="组合 9"/>
          <p:cNvGrpSpPr/>
          <p:nvPr/>
        </p:nvGrpSpPr>
        <p:grpSpPr>
          <a:xfrm>
            <a:off x="5941088" y="679631"/>
            <a:ext cx="6098024" cy="5941269"/>
            <a:chOff x="640903" y="1034565"/>
            <a:chExt cx="4541164" cy="4590085"/>
          </a:xfrm>
        </p:grpSpPr>
        <p:sp>
          <p:nvSpPr>
            <p:cNvPr id="11" name="文本框 10"/>
            <p:cNvSpPr txBox="1"/>
            <p:nvPr/>
          </p:nvSpPr>
          <p:spPr>
            <a:xfrm>
              <a:off x="924703" y="1588107"/>
              <a:ext cx="4257364" cy="4036543"/>
            </a:xfrm>
            <a:prstGeom prst="rect">
              <a:avLst/>
            </a:prstGeom>
            <a:noFill/>
          </p:spPr>
          <p:txBody>
            <a:bodyPr wrap="square" lIns="91397" tIns="45699" rIns="91397" bIns="45699" rtlCol="0">
              <a:spAutoFit/>
            </a:bodyPr>
            <a:lstStyle/>
            <a:p>
              <a:pPr marL="408940" marR="63500">
                <a:lnSpc>
                  <a:spcPct val="120000"/>
                </a:lnSpc>
                <a:tabLst>
                  <a:tab pos="180340" algn="l"/>
                  <a:tab pos="408940" algn="l"/>
                </a:tabLst>
              </a:pP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export default class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public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name</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名称</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public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icon</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Resource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图片</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public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describe</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Resource </a:t>
              </a: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80808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描述</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808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constructor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name</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icon</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Resource</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describe</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Resource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name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name</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icon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icon</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describe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describe</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2" name="组合 11"/>
            <p:cNvGrpSpPr/>
            <p:nvPr/>
          </p:nvGrpSpPr>
          <p:grpSpPr>
            <a:xfrm>
              <a:off x="640903" y="1034565"/>
              <a:ext cx="4477086" cy="4420173"/>
              <a:chOff x="826675" y="1436469"/>
              <a:chExt cx="4477086" cy="4420173"/>
            </a:xfrm>
          </p:grpSpPr>
          <p:sp>
            <p:nvSpPr>
              <p:cNvPr id="13" name="圆角矩形 3"/>
              <p:cNvSpPr/>
              <p:nvPr/>
            </p:nvSpPr>
            <p:spPr>
              <a:xfrm>
                <a:off x="899813" y="1436469"/>
                <a:ext cx="1301154"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 name="圆角矩形 54"/>
              <p:cNvSpPr/>
              <p:nvPr/>
            </p:nvSpPr>
            <p:spPr>
              <a:xfrm>
                <a:off x="826675" y="1720565"/>
                <a:ext cx="4477086" cy="413607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5" name="Text2"/>
              <p:cNvSpPr txBox="1"/>
              <p:nvPr/>
            </p:nvSpPr>
            <p:spPr>
              <a:xfrm>
                <a:off x="995296" y="1436469"/>
                <a:ext cx="1373780"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代码</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pic>
        <p:nvPicPr>
          <p:cNvPr id="17" name="图片 16"/>
          <p:cNvPicPr>
            <a:picLocks noChangeAspect="1"/>
          </p:cNvPicPr>
          <p:nvPr/>
        </p:nvPicPr>
        <p:blipFill>
          <a:blip r:embed="rId3"/>
          <a:stretch>
            <a:fillRect/>
          </a:stretch>
        </p:blipFill>
        <p:spPr>
          <a:xfrm>
            <a:off x="3632870" y="1843242"/>
            <a:ext cx="1918154" cy="4009317"/>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000" fill="hold">
                                          <p:stCondLst>
                                            <p:cond delay="0"/>
                                          </p:stCondLst>
                                        </p:cTn>
                                        <p:tgtEl>
                                          <p:spTgt spid="4"/>
                                        </p:tgtEl>
                                        <p:attrNameLst>
                                          <p:attrName>style.visibility</p:attrName>
                                        </p:attrNameLst>
                                      </p:cBhvr>
                                      <p:to>
                                        <p:strVal val="visible"/>
                                      </p:to>
                                    </p:set>
                                    <p:animEffect transition="in" filter="wedge">
                                      <p:cBhvr>
                                        <p:cTn id="13" dur="1000"/>
                                        <p:tgtEl>
                                          <p:spTgt spid="4"/>
                                        </p:tgtEl>
                                      </p:cBhvr>
                                    </p:animEffect>
                                  </p:childTnLst>
                                </p:cTn>
                              </p:par>
                            </p:childTnLst>
                          </p:cTn>
                        </p:par>
                        <p:par>
                          <p:cTn id="14" fill="hold">
                            <p:stCondLst>
                              <p:cond delay="1000"/>
                            </p:stCondLst>
                            <p:childTnLst>
                              <p:par>
                                <p:cTn id="15" presetID="20" presetClass="entr" presetSubtype="0" fill="hold" nodeType="afterEffect">
                                  <p:stCondLst>
                                    <p:cond delay="0"/>
                                  </p:stCondLst>
                                  <p:childTnLst>
                                    <p:set>
                                      <p:cBhvr>
                                        <p:cTn id="16" dur="1000" fill="hold">
                                          <p:stCondLst>
                                            <p:cond delay="0"/>
                                          </p:stCondLst>
                                        </p:cTn>
                                        <p:tgtEl>
                                          <p:spTgt spid="17"/>
                                        </p:tgtEl>
                                        <p:attrNameLst>
                                          <p:attrName>style.visibility</p:attrName>
                                        </p:attrNameLst>
                                      </p:cBhvr>
                                      <p:to>
                                        <p:strVal val="visible"/>
                                      </p:to>
                                    </p:set>
                                    <p:animEffect transition="in" filter="wedge">
                                      <p:cBhvr>
                                        <p:cTn id="17" dur="10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000" fill="hold">
                                          <p:stCondLst>
                                            <p:cond delay="0"/>
                                          </p:stCondLst>
                                        </p:cTn>
                                        <p:tgtEl>
                                          <p:spTgt spid="10"/>
                                        </p:tgtEl>
                                        <p:attrNameLst>
                                          <p:attrName>style.visibility</p:attrName>
                                        </p:attrNameLst>
                                      </p:cBhvr>
                                      <p:to>
                                        <p:strVal val="visible"/>
                                      </p:to>
                                    </p:set>
                                    <p:animEffect transition="in" filter="wedge">
                                      <p:cBhvr>
                                        <p:cTn id="2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307104" y="3737666"/>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处理名山的数据源</a:t>
            </a:r>
          </a:p>
        </p:txBody>
      </p:sp>
      <p:pic>
        <p:nvPicPr>
          <p:cNvPr id="2" name="图片 1" descr="6cbd895e3f1f9f150d2b104f3375e1e6"/>
          <p:cNvPicPr>
            <a:picLocks noChangeAspect="1"/>
          </p:cNvPicPr>
          <p:nvPr/>
        </p:nvPicPr>
        <p:blipFill>
          <a:blip r:embed="rId4"/>
          <a:stretch>
            <a:fillRect/>
          </a:stretch>
        </p:blipFill>
        <p:spPr>
          <a:xfrm>
            <a:off x="1" y="1399646"/>
            <a:ext cx="6165540" cy="4119147"/>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03</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718675" y="40494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处理名山的数据源</a:t>
            </a:r>
          </a:p>
        </p:txBody>
      </p:sp>
      <p:grpSp>
        <p:nvGrpSpPr>
          <p:cNvPr id="4" name="组合 3"/>
          <p:cNvGrpSpPr/>
          <p:nvPr/>
        </p:nvGrpSpPr>
        <p:grpSpPr>
          <a:xfrm>
            <a:off x="769796" y="1295702"/>
            <a:ext cx="6387935" cy="5071407"/>
            <a:chOff x="714040" y="993493"/>
            <a:chExt cx="4757060" cy="3918049"/>
          </a:xfrm>
        </p:grpSpPr>
        <p:sp>
          <p:nvSpPr>
            <p:cNvPr id="5" name="文本框 4"/>
            <p:cNvSpPr txBox="1"/>
            <p:nvPr/>
          </p:nvSpPr>
          <p:spPr>
            <a:xfrm>
              <a:off x="924704" y="1601928"/>
              <a:ext cx="3755023" cy="3121108"/>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每一个名山都有名字、描述和图片，很多个名山项的数据可以通过数据源进行提供。</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定义类</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MountainViewModel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，在类内的构造方法里初始化每个名山对象，并将对象放入数组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中，并提供方法</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getMountains()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用于对外提供名山的数据源</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就是</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mountains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数组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，最后用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export default </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导出数据源对象。</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266700">
                <a:lnSpc>
                  <a:spcPct val="120000"/>
                </a:lnSpc>
              </a:pP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3918049"/>
              <a:chOff x="899812" y="1395397"/>
              <a:chExt cx="4757060" cy="3918049"/>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192633" cy="366625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说明</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10194689" y="4136682"/>
            <a:ext cx="1701537" cy="1905548"/>
            <a:chOff x="2796227" y="2636127"/>
            <a:chExt cx="2185962" cy="2507373"/>
          </a:xfrm>
        </p:grpSpPr>
        <p:pic>
          <p:nvPicPr>
            <p:cNvPr id="13" name="图片 12"/>
            <p:cNvPicPr>
              <a:picLocks noChangeAspect="1"/>
            </p:cNvPicPr>
            <p:nvPr/>
          </p:nvPicPr>
          <p:blipFill>
            <a:blip r:embed="rId3"/>
            <a:stretch>
              <a:fillRect/>
            </a:stretch>
          </p:blipFill>
          <p:spPr>
            <a:xfrm>
              <a:off x="2859579" y="3421010"/>
              <a:ext cx="1917354" cy="1722490"/>
            </a:xfrm>
            <a:prstGeom prst="rect">
              <a:avLst/>
            </a:prstGeom>
          </p:spPr>
        </p:pic>
        <p:sp>
          <p:nvSpPr>
            <p:cNvPr id="14" name="ïsḷîde"/>
            <p:cNvSpPr/>
            <p:nvPr/>
          </p:nvSpPr>
          <p:spPr>
            <a:xfrm>
              <a:off x="2796227" y="2636127"/>
              <a:ext cx="2185962" cy="529591"/>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37500" lnSpcReduction="20000"/>
            </a:bodyPr>
            <a:lstStyle/>
            <a:p>
              <a:pP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2" name="图片 1"/>
          <p:cNvPicPr>
            <a:picLocks noChangeAspect="1"/>
          </p:cNvPicPr>
          <p:nvPr/>
        </p:nvPicPr>
        <p:blipFill>
          <a:blip r:embed="rId4"/>
          <a:stretch>
            <a:fillRect/>
          </a:stretch>
        </p:blipFill>
        <p:spPr>
          <a:xfrm>
            <a:off x="7093236" y="1621615"/>
            <a:ext cx="2312967" cy="483455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2"/>
                                        </p:tgtEl>
                                        <p:attrNameLst>
                                          <p:attrName>style.visibility</p:attrName>
                                        </p:attrNameLst>
                                      </p:cBhvr>
                                      <p:to>
                                        <p:strVal val="visible"/>
                                      </p:to>
                                    </p:set>
                                    <p:animEffect transition="in" filter="wedg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wedge">
                                      <p:cBhvr>
                                        <p:cTn id="2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307104" y="3737666"/>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实现名山图片的轮播功能</a:t>
            </a:r>
          </a:p>
        </p:txBody>
      </p:sp>
      <p:pic>
        <p:nvPicPr>
          <p:cNvPr id="2" name="图片 1" descr="6cbd895e3f1f9f150d2b104f3375e1e6"/>
          <p:cNvPicPr>
            <a:picLocks noChangeAspect="1"/>
          </p:cNvPicPr>
          <p:nvPr/>
        </p:nvPicPr>
        <p:blipFill>
          <a:blip r:embed="rId4"/>
          <a:stretch>
            <a:fillRect/>
          </a:stretch>
        </p:blipFill>
        <p:spPr>
          <a:xfrm>
            <a:off x="1" y="1399646"/>
            <a:ext cx="6165540" cy="4119147"/>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04</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718675" y="4773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实现名山图片的轮播功能</a:t>
            </a:r>
          </a:p>
        </p:txBody>
      </p:sp>
      <p:grpSp>
        <p:nvGrpSpPr>
          <p:cNvPr id="4" name="组合 3"/>
          <p:cNvGrpSpPr/>
          <p:nvPr/>
        </p:nvGrpSpPr>
        <p:grpSpPr>
          <a:xfrm>
            <a:off x="769796" y="1295702"/>
            <a:ext cx="6387935" cy="2482221"/>
            <a:chOff x="714040" y="993493"/>
            <a:chExt cx="4757060" cy="1917706"/>
          </a:xfrm>
        </p:grpSpPr>
        <p:sp>
          <p:nvSpPr>
            <p:cNvPr id="5" name="文本框 4"/>
            <p:cNvSpPr txBox="1"/>
            <p:nvPr/>
          </p:nvSpPr>
          <p:spPr>
            <a:xfrm>
              <a:off x="924704" y="1601928"/>
              <a:ext cx="3755023" cy="1290241"/>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页面，导入名山类和数据源；使用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组件实现轮播功能，并给</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绑定控制器，实现上下翻页；设置</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的属性，实现自动播放等。</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1917706"/>
              <a:chOff x="899812" y="1395397"/>
              <a:chExt cx="4757060" cy="1917706"/>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036607" cy="166591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过程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911238" y="3956603"/>
            <a:ext cx="5470234" cy="2296294"/>
            <a:chOff x="673616" y="3421010"/>
            <a:chExt cx="4103317" cy="1722490"/>
          </a:xfrm>
        </p:grpSpPr>
        <p:pic>
          <p:nvPicPr>
            <p:cNvPr id="13" name="图片 12"/>
            <p:cNvPicPr>
              <a:picLocks noChangeAspect="1"/>
            </p:cNvPicPr>
            <p:nvPr/>
          </p:nvPicPr>
          <p:blipFill>
            <a:blip r:embed="rId3"/>
            <a:stretch>
              <a:fillRect/>
            </a:stretch>
          </p:blipFill>
          <p:spPr>
            <a:xfrm>
              <a:off x="2859579" y="3421010"/>
              <a:ext cx="1917354" cy="1722490"/>
            </a:xfrm>
            <a:prstGeom prst="rect">
              <a:avLst/>
            </a:prstGeom>
          </p:spPr>
        </p:pic>
        <p:sp>
          <p:nvSpPr>
            <p:cNvPr id="14"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90000" lnSpcReduction="10000"/>
            </a:bodyPr>
            <a:lstStyle/>
            <a:p>
              <a:pPr algn="ctr">
                <a:lnSpc>
                  <a:spcPct val="12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15" name="图片 14"/>
          <p:cNvPicPr>
            <a:picLocks noChangeAspect="1"/>
          </p:cNvPicPr>
          <p:nvPr/>
        </p:nvPicPr>
        <p:blipFill>
          <a:blip r:embed="rId4"/>
          <a:stretch>
            <a:fillRect/>
          </a:stretch>
        </p:blipFill>
        <p:spPr>
          <a:xfrm>
            <a:off x="7157731" y="1356710"/>
            <a:ext cx="3369380" cy="4842426"/>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15"/>
                                        </p:tgtEl>
                                        <p:attrNameLst>
                                          <p:attrName>style.visibility</p:attrName>
                                        </p:attrNameLst>
                                      </p:cBhvr>
                                      <p:to>
                                        <p:strVal val="visible"/>
                                      </p:to>
                                    </p:set>
                                    <p:animEffect transition="in" filter="wedge">
                                      <p:cBhvr>
                                        <p:cTn id="16" dur="10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wedge">
                                      <p:cBhvr>
                                        <p:cTn id="2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190285" y="3737666"/>
            <a:ext cx="5898228" cy="1280795"/>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从轮播页跳转到指定的</a:t>
            </a:r>
            <a:endPar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名山详情页</a:t>
            </a:r>
          </a:p>
        </p:txBody>
      </p:sp>
      <p:pic>
        <p:nvPicPr>
          <p:cNvPr id="2" name="图片 1" descr="6cbd895e3f1f9f150d2b104f3375e1e6"/>
          <p:cNvPicPr>
            <a:picLocks noChangeAspect="1"/>
          </p:cNvPicPr>
          <p:nvPr/>
        </p:nvPicPr>
        <p:blipFill>
          <a:blip r:embed="rId4"/>
          <a:stretch>
            <a:fillRect/>
          </a:stretch>
        </p:blipFill>
        <p:spPr>
          <a:xfrm>
            <a:off x="1" y="1399646"/>
            <a:ext cx="6165540" cy="4119147"/>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05</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Tree>
  </p:cSld>
  <p:clrMapOvr>
    <a:masterClrMapping/>
  </p:clrMapOvr>
  <p:transition spd="slow">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从轮播页跳转到指定的名山详情页</a:t>
            </a:r>
          </a:p>
        </p:txBody>
      </p:sp>
      <p:grpSp>
        <p:nvGrpSpPr>
          <p:cNvPr id="4" name="组合 3"/>
          <p:cNvGrpSpPr/>
          <p:nvPr/>
        </p:nvGrpSpPr>
        <p:grpSpPr>
          <a:xfrm>
            <a:off x="769796" y="1295702"/>
            <a:ext cx="6387935" cy="3344016"/>
            <a:chOff x="714040" y="993493"/>
            <a:chExt cx="4757060" cy="2583507"/>
          </a:xfrm>
        </p:grpSpPr>
        <p:sp>
          <p:nvSpPr>
            <p:cNvPr id="5" name="文本框 4"/>
            <p:cNvSpPr txBox="1"/>
            <p:nvPr/>
          </p:nvSpPr>
          <p:spPr>
            <a:xfrm>
              <a:off x="924704" y="1601927"/>
              <a:ext cx="3755022" cy="1595385"/>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中导入路由模块，给循环渲染中的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Image</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组件添加事件处理，使用路由模块跳转到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pages/Detail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详情页，跳转时传递当前轮播页对应的名山对象</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6" name="组合 5"/>
            <p:cNvGrpSpPr/>
            <p:nvPr/>
          </p:nvGrpSpPr>
          <p:grpSpPr>
            <a:xfrm>
              <a:off x="714040" y="993493"/>
              <a:ext cx="4757060" cy="2583507"/>
              <a:chOff x="899812" y="1395397"/>
              <a:chExt cx="4757060" cy="2583507"/>
            </a:xfrm>
          </p:grpSpPr>
          <p:sp>
            <p:nvSpPr>
              <p:cNvPr id="7"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899812" y="1647190"/>
                <a:ext cx="4036607" cy="233171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过程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2" name="组合 11"/>
          <p:cNvGrpSpPr/>
          <p:nvPr/>
        </p:nvGrpSpPr>
        <p:grpSpPr>
          <a:xfrm>
            <a:off x="7157731" y="5252221"/>
            <a:ext cx="3907055" cy="1134819"/>
            <a:chOff x="673616" y="3421010"/>
            <a:chExt cx="4103317" cy="1722490"/>
          </a:xfrm>
        </p:grpSpPr>
        <p:pic>
          <p:nvPicPr>
            <p:cNvPr id="13" name="图片 12"/>
            <p:cNvPicPr>
              <a:picLocks noChangeAspect="1"/>
            </p:cNvPicPr>
            <p:nvPr/>
          </p:nvPicPr>
          <p:blipFill>
            <a:blip r:embed="rId3"/>
            <a:stretch>
              <a:fillRect/>
            </a:stretch>
          </p:blipFill>
          <p:spPr>
            <a:xfrm>
              <a:off x="2859579" y="3421010"/>
              <a:ext cx="1917354" cy="1722490"/>
            </a:xfrm>
            <a:prstGeom prst="rect">
              <a:avLst/>
            </a:prstGeom>
          </p:spPr>
        </p:pic>
        <p:sp>
          <p:nvSpPr>
            <p:cNvPr id="14" name="ïsḷîde"/>
            <p:cNvSpPr/>
            <p:nvPr/>
          </p:nvSpPr>
          <p:spPr>
            <a:xfrm>
              <a:off x="673616" y="3867776"/>
              <a:ext cx="2185963" cy="694778"/>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450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2" name="图片 1"/>
          <p:cNvPicPr>
            <a:picLocks noChangeAspect="1"/>
          </p:cNvPicPr>
          <p:nvPr/>
        </p:nvPicPr>
        <p:blipFill>
          <a:blip r:embed="rId4"/>
          <a:stretch>
            <a:fillRect/>
          </a:stretch>
        </p:blipFill>
        <p:spPr>
          <a:xfrm>
            <a:off x="6853369" y="1621615"/>
            <a:ext cx="3907055" cy="3272555"/>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wedge">
                                      <p:cBhvr>
                                        <p:cTn id="12" dur="1000"/>
                                        <p:tgtEl>
                                          <p:spTgt spid="4"/>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2"/>
                                        </p:tgtEl>
                                        <p:attrNameLst>
                                          <p:attrName>style.visibility</p:attrName>
                                        </p:attrNameLst>
                                      </p:cBhvr>
                                      <p:to>
                                        <p:strVal val="visible"/>
                                      </p:to>
                                    </p:set>
                                    <p:animEffect transition="in" filter="wedg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wedge">
                                      <p:cBhvr>
                                        <p:cTn id="2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38315" y="85008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任务小结</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3" name="圆角矩形 54"/>
          <p:cNvSpPr/>
          <p:nvPr/>
        </p:nvSpPr>
        <p:spPr>
          <a:xfrm>
            <a:off x="1095898" y="2435540"/>
            <a:ext cx="10264371" cy="315879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 name="文本框 4"/>
          <p:cNvSpPr txBox="1"/>
          <p:nvPr/>
        </p:nvSpPr>
        <p:spPr>
          <a:xfrm>
            <a:off x="1388093" y="2825462"/>
            <a:ext cx="9570214" cy="2306320"/>
          </a:xfrm>
          <a:prstGeom prst="rect">
            <a:avLst/>
          </a:prstGeom>
          <a:noFill/>
        </p:spPr>
        <p:txBody>
          <a:bodyPr wrap="square">
            <a:spAutoFit/>
          </a:bodyPr>
          <a:lstStyle/>
          <a:p>
            <a:pPr indent="266700" algn="just">
              <a:lnSpc>
                <a:spcPct val="120000"/>
              </a:lnSpc>
            </a:pP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本任务学习了滑块视图容器</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Swiper</a:t>
            </a: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的使用，并从类的设计、数据源的设计、路由的跳转和参数传递开始讲起，按正常开发流程进行轮播页面的开发。</a:t>
            </a:r>
          </a:p>
          <a:p>
            <a:pPr indent="266700" algn="just">
              <a:lnSpc>
                <a:spcPct val="120000"/>
              </a:lnSpc>
            </a:pP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轮播页一般用于向用户突出介绍产品的功能和特性，在</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App</a:t>
            </a: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的引导页中，也可以使用轮播功能，有兴趣的读者可以自行实现。</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0680" y="1773555"/>
            <a:ext cx="8716010" cy="768350"/>
          </a:xfrm>
          <a:prstGeom prst="rect">
            <a:avLst/>
          </a:prstGeom>
          <a:noFill/>
        </p:spPr>
        <p:txBody>
          <a:bodyPr wrap="square" rtlCol="0" anchor="t">
            <a:spAutoFit/>
          </a:bodyPr>
          <a:lstStyle/>
          <a:p>
            <a:pPr algn="ctr"/>
            <a:r>
              <a:rPr lang="zh-CN" altLang="en-US" sz="4400"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自定义组件</a:t>
            </a:r>
            <a:endParaRPr lang="zh-CN" altLang="en-US" sz="44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3" name="文本框 2"/>
          <p:cNvSpPr txBox="1"/>
          <p:nvPr/>
        </p:nvSpPr>
        <p:spPr>
          <a:xfrm>
            <a:off x="2854960" y="2925445"/>
            <a:ext cx="6096000" cy="415498"/>
          </a:xfrm>
          <a:prstGeom prst="rect">
            <a:avLst/>
          </a:prstGeom>
          <a:noFill/>
        </p:spPr>
        <p:txBody>
          <a:bodyPr wrap="square" rtlCol="0" anchor="t">
            <a:spAutoFit/>
          </a:bodyPr>
          <a:lstStyle/>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3133" y="169023"/>
            <a:ext cx="6616667"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自定义组件的使用规则</a:t>
            </a:r>
          </a:p>
        </p:txBody>
      </p:sp>
      <p:grpSp>
        <p:nvGrpSpPr>
          <p:cNvPr id="12" name="组合 11"/>
          <p:cNvGrpSpPr/>
          <p:nvPr/>
        </p:nvGrpSpPr>
        <p:grpSpPr>
          <a:xfrm>
            <a:off x="253690" y="1245335"/>
            <a:ext cx="4168763" cy="1789184"/>
            <a:chOff x="361418" y="710838"/>
            <a:chExt cx="6517064" cy="683594"/>
          </a:xfrm>
        </p:grpSpPr>
        <p:sp>
          <p:nvSpPr>
            <p:cNvPr id="6" name="文本框 5"/>
            <p:cNvSpPr txBox="1"/>
            <p:nvPr/>
          </p:nvSpPr>
          <p:spPr>
            <a:xfrm>
              <a:off x="512118" y="769606"/>
              <a:ext cx="6167317" cy="487655"/>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自定义组件是一个可组合的组件，可以组合使用内置组件、其他组件、公共属性和方法。</a:t>
              </a:r>
              <a:endPar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3"/>
              </p:custDataLst>
            </p:nvPr>
          </p:nvSpPr>
          <p:spPr>
            <a:xfrm>
              <a:off x="361418" y="710838"/>
              <a:ext cx="6517064" cy="68359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7" name="图片 6" descr="537278f7a07fdbada666bdacf26f64b1"/>
          <p:cNvPicPr>
            <a:picLocks noChangeAspect="1"/>
          </p:cNvPicPr>
          <p:nvPr>
            <p:custDataLst>
              <p:tags r:id="rId1"/>
            </p:custDataLst>
          </p:nvPr>
        </p:nvPicPr>
        <p:blipFill>
          <a:blip r:embed="rId6"/>
          <a:stretch>
            <a:fillRect/>
          </a:stretch>
        </p:blipFill>
        <p:spPr>
          <a:xfrm>
            <a:off x="8846271" y="2500820"/>
            <a:ext cx="8202555" cy="5655661"/>
          </a:xfrm>
          <a:prstGeom prst="rect">
            <a:avLst/>
          </a:prstGeom>
        </p:spPr>
      </p:pic>
      <p:pic>
        <p:nvPicPr>
          <p:cNvPr id="4" name="图片 3"/>
          <p:cNvPicPr>
            <a:picLocks noChangeAspect="1"/>
          </p:cNvPicPr>
          <p:nvPr/>
        </p:nvPicPr>
        <p:blipFill>
          <a:blip r:embed="rId7"/>
          <a:stretch>
            <a:fillRect/>
          </a:stretch>
        </p:blipFill>
        <p:spPr>
          <a:xfrm>
            <a:off x="4700229" y="1848519"/>
            <a:ext cx="7236176" cy="3374286"/>
          </a:xfrm>
          <a:prstGeom prst="rect">
            <a:avLst/>
          </a:prstGeom>
        </p:spPr>
      </p:pic>
      <p:grpSp>
        <p:nvGrpSpPr>
          <p:cNvPr id="5" name="组合 4"/>
          <p:cNvGrpSpPr/>
          <p:nvPr/>
        </p:nvGrpSpPr>
        <p:grpSpPr>
          <a:xfrm>
            <a:off x="253690" y="3188334"/>
            <a:ext cx="4282160" cy="3355816"/>
            <a:chOff x="361418" y="710838"/>
            <a:chExt cx="6694338" cy="1282157"/>
          </a:xfrm>
        </p:grpSpPr>
        <p:sp>
          <p:nvSpPr>
            <p:cNvPr id="10" name="文本框 9"/>
            <p:cNvSpPr txBox="1"/>
            <p:nvPr/>
          </p:nvSpPr>
          <p:spPr>
            <a:xfrm>
              <a:off x="512118" y="769606"/>
              <a:ext cx="6366363" cy="1091280"/>
            </a:xfrm>
            <a:prstGeom prst="rect">
              <a:avLst/>
            </a:prstGeom>
            <a:noFill/>
          </p:spPr>
          <p:txBody>
            <a:bodyPr wrap="square">
              <a:spAutoFit/>
            </a:bodyPr>
            <a:lstStyle/>
            <a:p>
              <a:pPr>
                <a:lnSpc>
                  <a:spcPct val="120000"/>
                </a:lnSpc>
              </a:pPr>
              <a:r>
                <a:rPr lang="zh-CN" altLang="en-US"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页面可以由一个或多个自定义组件组成，一个自定义组件如果用了</a:t>
              </a:r>
              <a:r>
                <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@Entry</a:t>
              </a:r>
              <a:r>
                <a:rPr lang="zh-CN" altLang="en-US"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装饰，则这个组件是页面的入口组件。在单个</a:t>
              </a:r>
              <a:r>
                <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UI</a:t>
              </a:r>
              <a:r>
                <a:rPr lang="zh-CN" altLang="en-US"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页面中，最多可以使用</a:t>
              </a:r>
              <a:r>
                <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@Entry</a:t>
              </a:r>
              <a:r>
                <a:rPr lang="zh-CN" altLang="en-US"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装饰一个自定义组件；如果用了</a:t>
              </a:r>
              <a:r>
                <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@Preview</a:t>
              </a:r>
              <a:r>
                <a:rPr lang="zh-CN" altLang="en-US"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，则说明这个组件可以预览。</a:t>
              </a:r>
              <a:endPar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13" name="圆角矩形 55"/>
            <p:cNvSpPr/>
            <p:nvPr>
              <p:custDataLst>
                <p:tags r:id="rId2"/>
              </p:custDataLst>
            </p:nvPr>
          </p:nvSpPr>
          <p:spPr>
            <a:xfrm>
              <a:off x="361418" y="710838"/>
              <a:ext cx="6694338" cy="128215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par>
                                <p:cTn id="12"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20" presetClass="entr" presetSubtype="0" fill="hold" nodeType="afterEffect">
                                  <p:stCondLst>
                                    <p:cond delay="0"/>
                                  </p:stCondLst>
                                  <p:childTnLst>
                                    <p:set>
                                      <p:cBhvr>
                                        <p:cTn id="19" dur="1000" fill="hold">
                                          <p:stCondLst>
                                            <p:cond delay="0"/>
                                          </p:stCondLst>
                                        </p:cTn>
                                        <p:tgtEl>
                                          <p:spTgt spid="4"/>
                                        </p:tgtEl>
                                        <p:attrNameLst>
                                          <p:attrName>style.visibility</p:attrName>
                                        </p:attrNameLst>
                                      </p:cBhvr>
                                      <p:to>
                                        <p:strVal val="visible"/>
                                      </p:to>
                                    </p:set>
                                    <p:animEffect transition="in" filter="wedge">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000" fill="hold">
                                          <p:stCondLst>
                                            <p:cond delay="0"/>
                                          </p:stCondLst>
                                        </p:cTn>
                                        <p:tgtEl>
                                          <p:spTgt spid="5"/>
                                        </p:tgtEl>
                                        <p:attrNameLst>
                                          <p:attrName>style.visibility</p:attrName>
                                        </p:attrNameLst>
                                      </p:cBhvr>
                                      <p:to>
                                        <p:strVal val="visible"/>
                                      </p:to>
                                    </p:set>
                                    <p:animEffect transition="in" filter="wedge">
                                      <p:cBhvr>
                                        <p:cTn id="2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3133" y="169023"/>
            <a:ext cx="6616667"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自定义组件的导出和导入</a:t>
            </a:r>
          </a:p>
        </p:txBody>
      </p:sp>
      <p:grpSp>
        <p:nvGrpSpPr>
          <p:cNvPr id="12" name="组合 11"/>
          <p:cNvGrpSpPr/>
          <p:nvPr/>
        </p:nvGrpSpPr>
        <p:grpSpPr>
          <a:xfrm>
            <a:off x="324700" y="2168468"/>
            <a:ext cx="4385648" cy="3004616"/>
            <a:chOff x="361418" y="710838"/>
            <a:chExt cx="6856122" cy="1147974"/>
          </a:xfrm>
        </p:grpSpPr>
        <p:sp>
          <p:nvSpPr>
            <p:cNvPr id="6" name="文本框 5"/>
            <p:cNvSpPr txBox="1"/>
            <p:nvPr/>
          </p:nvSpPr>
          <p:spPr>
            <a:xfrm>
              <a:off x="512118" y="875075"/>
              <a:ext cx="6557406" cy="789468"/>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自定义组件可以用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export default</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进行导出，在需要使用自定义组件的页面或其他组件中，使用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import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组件名 </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from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带路径的组件名’导入该组件。</a:t>
              </a:r>
              <a:endPar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2"/>
              </p:custDataLst>
            </p:nvPr>
          </p:nvSpPr>
          <p:spPr>
            <a:xfrm>
              <a:off x="361418" y="710838"/>
              <a:ext cx="6856122" cy="114797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7" name="图片 6" descr="537278f7a07fdbada666bdacf26f64b1"/>
          <p:cNvPicPr>
            <a:picLocks noChangeAspect="1"/>
          </p:cNvPicPr>
          <p:nvPr>
            <p:custDataLst>
              <p:tags r:id="rId1"/>
            </p:custDataLst>
          </p:nvPr>
        </p:nvPicPr>
        <p:blipFill>
          <a:blip r:embed="rId5"/>
          <a:stretch>
            <a:fillRect/>
          </a:stretch>
        </p:blipFill>
        <p:spPr>
          <a:xfrm>
            <a:off x="8846271" y="2500820"/>
            <a:ext cx="8202555" cy="5655661"/>
          </a:xfrm>
          <a:prstGeom prst="rect">
            <a:avLst/>
          </a:prstGeom>
        </p:spPr>
      </p:pic>
      <p:pic>
        <p:nvPicPr>
          <p:cNvPr id="5" name="图片 4"/>
          <p:cNvPicPr>
            <a:picLocks noChangeAspect="1"/>
          </p:cNvPicPr>
          <p:nvPr/>
        </p:nvPicPr>
        <p:blipFill>
          <a:blip r:embed="rId6"/>
          <a:stretch>
            <a:fillRect/>
          </a:stretch>
        </p:blipFill>
        <p:spPr>
          <a:xfrm>
            <a:off x="5137606" y="1675196"/>
            <a:ext cx="7540974" cy="4231661"/>
          </a:xfrm>
          <a:prstGeom prst="rect">
            <a:avLst/>
          </a:prstGeom>
        </p:spPr>
      </p:pic>
      <p:grpSp>
        <p:nvGrpSpPr>
          <p:cNvPr id="8" name="组合 7"/>
          <p:cNvGrpSpPr/>
          <p:nvPr/>
        </p:nvGrpSpPr>
        <p:grpSpPr>
          <a:xfrm>
            <a:off x="767360" y="5363207"/>
            <a:ext cx="3895509" cy="1216481"/>
            <a:chOff x="673616" y="3421010"/>
            <a:chExt cx="4103317" cy="1722490"/>
          </a:xfrm>
        </p:grpSpPr>
        <p:pic>
          <p:nvPicPr>
            <p:cNvPr id="9" name="图片 8"/>
            <p:cNvPicPr>
              <a:picLocks noChangeAspect="1"/>
            </p:cNvPicPr>
            <p:nvPr/>
          </p:nvPicPr>
          <p:blipFill>
            <a:blip r:embed="rId7"/>
            <a:stretch>
              <a:fillRect/>
            </a:stretch>
          </p:blipFill>
          <p:spPr>
            <a:xfrm>
              <a:off x="2859579" y="3421010"/>
              <a:ext cx="1917354" cy="1722490"/>
            </a:xfrm>
            <a:prstGeom prst="rect">
              <a:avLst/>
            </a:prstGeom>
          </p:spPr>
        </p:pic>
        <p:sp>
          <p:nvSpPr>
            <p:cNvPr id="10"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300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par>
                                <p:cTn id="12"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20" presetClass="entr" presetSubtype="0" fill="hold" nodeType="afterEffect">
                                  <p:stCondLst>
                                    <p:cond delay="0"/>
                                  </p:stCondLst>
                                  <p:childTnLst>
                                    <p:set>
                                      <p:cBhvr>
                                        <p:cTn id="19" dur="1000" fill="hold">
                                          <p:stCondLst>
                                            <p:cond delay="0"/>
                                          </p:stCondLst>
                                        </p:cTn>
                                        <p:tgtEl>
                                          <p:spTgt spid="5"/>
                                        </p:tgtEl>
                                        <p:attrNameLst>
                                          <p:attrName>style.visibility</p:attrName>
                                        </p:attrNameLst>
                                      </p:cBhvr>
                                      <p:to>
                                        <p:strVal val="visible"/>
                                      </p:to>
                                    </p:set>
                                    <p:animEffect transition="in" filter="wedg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000" fill="hold">
                                          <p:stCondLst>
                                            <p:cond delay="0"/>
                                          </p:stCondLst>
                                        </p:cTn>
                                        <p:tgtEl>
                                          <p:spTgt spid="8"/>
                                        </p:tgtEl>
                                        <p:attrNameLst>
                                          <p:attrName>style.visibility</p:attrName>
                                        </p:attrNameLst>
                                      </p:cBhvr>
                                      <p:to>
                                        <p:strVal val="visible"/>
                                      </p:to>
                                    </p:set>
                                    <p:animEffect transition="in" filter="wedge">
                                      <p:cBhvr>
                                        <p:cTn id="2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21" name="矩形 20"/>
          <p:cNvSpPr/>
          <p:nvPr/>
        </p:nvSpPr>
        <p:spPr>
          <a:xfrm>
            <a:off x="6962705" y="3737364"/>
            <a:ext cx="44398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组件和页面的生命周期</a:t>
            </a: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p>
        </p:txBody>
      </p:sp>
      <p:sp>
        <p:nvSpPr>
          <p:cNvPr id="4" name="文本框 3"/>
          <p:cNvSpPr txBox="1"/>
          <p:nvPr/>
        </p:nvSpPr>
        <p:spPr>
          <a:xfrm>
            <a:off x="5658520" y="6367312"/>
            <a:ext cx="1474761" cy="461665"/>
          </a:xfrm>
          <a:prstGeom prst="rect">
            <a:avLst/>
          </a:prstGeom>
          <a:noFill/>
        </p:spPr>
        <p:txBody>
          <a:bodyPr wrap="square">
            <a:spAutoFit/>
          </a:bodyPr>
          <a:lstStyle/>
          <a:p>
            <a:r>
              <a:rPr lang="zh-CN" altLang="en-US" dirty="0"/>
              <a:t>生命周期</a:t>
            </a:r>
          </a:p>
        </p:txBody>
      </p:sp>
      <p:pic>
        <p:nvPicPr>
          <p:cNvPr id="5" name="图片 4"/>
          <p:cNvPicPr>
            <a:picLocks noChangeAspect="1"/>
          </p:cNvPicPr>
          <p:nvPr/>
        </p:nvPicPr>
        <p:blipFill>
          <a:blip r:embed="rId3"/>
          <a:stretch>
            <a:fillRect/>
          </a:stretch>
        </p:blipFill>
        <p:spPr>
          <a:xfrm>
            <a:off x="4362230" y="1049591"/>
            <a:ext cx="4067343" cy="509154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组件和页面的生命周期</a:t>
            </a:r>
          </a:p>
        </p:txBody>
      </p:sp>
      <p:grpSp>
        <p:nvGrpSpPr>
          <p:cNvPr id="14" name="组合 13"/>
          <p:cNvGrpSpPr/>
          <p:nvPr/>
        </p:nvGrpSpPr>
        <p:grpSpPr>
          <a:xfrm>
            <a:off x="530040" y="961079"/>
            <a:ext cx="5280967" cy="3221754"/>
            <a:chOff x="643020" y="1288567"/>
            <a:chExt cx="3961344" cy="2416693"/>
          </a:xfrm>
        </p:grpSpPr>
        <p:sp>
          <p:nvSpPr>
            <p:cNvPr id="15" name="文本框 14"/>
            <p:cNvSpPr txBox="1"/>
            <p:nvPr/>
          </p:nvSpPr>
          <p:spPr>
            <a:xfrm>
              <a:off x="741410" y="1788054"/>
              <a:ext cx="3862954" cy="1917206"/>
            </a:xfrm>
            <a:prstGeom prst="rect">
              <a:avLst/>
            </a:prstGeom>
            <a:noFill/>
          </p:spPr>
          <p:txBody>
            <a:bodyPr wrap="square" lIns="91397" tIns="45699" rIns="91397" bIns="45699" rtlCol="0">
              <a:spAutoFit/>
            </a:bodyPr>
            <a:lstStyle/>
            <a:p>
              <a:pPr marL="342900" lvl="0" indent="-342900">
                <a:lnSpc>
                  <a:spcPct val="120000"/>
                </a:lnSpc>
                <a:buFont typeface="Wingdings" panose="05000000000000000000" pitchFamily="2" charset="2"/>
                <a:buChar char=""/>
              </a:pPr>
              <a:r>
                <a:rPr lang="en-US" altLang="zh-CN" sz="2135" u="sng"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hlinkClick r:id="rId3"/>
                </a:rPr>
                <a:t>aboutToAppear</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a:t>
              </a:r>
              <a:r>
                <a:rPr lang="zh-CN"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：在创建自定义组件的新实例后，回调该接口</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a:t>
              </a:r>
              <a:r>
                <a:rPr lang="zh-CN"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在执行其</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build()</a:t>
              </a:r>
              <a:r>
                <a:rPr lang="zh-CN"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函数之前执行</a:t>
              </a:r>
              <a:r>
                <a:rPr lang="zh-CN" altLang="en-US"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t>
              </a:r>
              <a:endParaRPr lang="en-US" altLang="zh-CN" sz="2135" kern="100">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a:p>
              <a:pPr marL="342900" indent="-342900">
                <a:lnSpc>
                  <a:spcPct val="120000"/>
                </a:lnSpc>
                <a:buFont typeface="Wingdings" panose="05000000000000000000" pitchFamily="2" charset="2"/>
                <a:buChar char=""/>
              </a:pPr>
              <a:r>
                <a:rPr lang="en-US" altLang="zh-CN" u="sng">
                  <a:solidFill>
                    <a:srgbClr val="000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hlinkClick r:id="rId4"/>
                </a:rPr>
                <a:t>aboutToDisappear</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()：在自定义组件即将析构销毁时执行。</a:t>
              </a:r>
              <a:endParaRPr lang="zh-CN" altLang="zh-CN" sz="3200">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342900" lvl="0" indent="-342900">
                <a:lnSpc>
                  <a:spcPct val="120000"/>
                </a:lnSpc>
                <a:buFont typeface="Wingdings" panose="05000000000000000000" pitchFamily="2" charset="2"/>
                <a:buChar char=""/>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6" name="组合 15"/>
            <p:cNvGrpSpPr/>
            <p:nvPr/>
          </p:nvGrpSpPr>
          <p:grpSpPr>
            <a:xfrm>
              <a:off x="643020" y="1288567"/>
              <a:ext cx="3961344" cy="2253975"/>
              <a:chOff x="828792" y="1690471"/>
              <a:chExt cx="3961344" cy="2253975"/>
            </a:xfrm>
          </p:grpSpPr>
          <p:sp>
            <p:nvSpPr>
              <p:cNvPr id="17" name="圆角矩形 3"/>
              <p:cNvSpPr/>
              <p:nvPr/>
            </p:nvSpPr>
            <p:spPr>
              <a:xfrm>
                <a:off x="927182" y="1690471"/>
                <a:ext cx="3081718" cy="39846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8" name="圆角矩形 54"/>
              <p:cNvSpPr/>
              <p:nvPr/>
            </p:nvSpPr>
            <p:spPr>
              <a:xfrm>
                <a:off x="828792" y="1905347"/>
                <a:ext cx="3961344" cy="203909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9" name="Text2"/>
              <p:cNvSpPr txBox="1"/>
              <p:nvPr/>
            </p:nvSpPr>
            <p:spPr>
              <a:xfrm>
                <a:off x="974509" y="1690471"/>
                <a:ext cx="3022948" cy="357181"/>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组件的生命周期函数</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20" name="组合 19"/>
          <p:cNvGrpSpPr/>
          <p:nvPr/>
        </p:nvGrpSpPr>
        <p:grpSpPr>
          <a:xfrm>
            <a:off x="6115252" y="899621"/>
            <a:ext cx="5975718" cy="4318445"/>
            <a:chOff x="643019" y="1247285"/>
            <a:chExt cx="4482489" cy="3239340"/>
          </a:xfrm>
        </p:grpSpPr>
        <p:sp>
          <p:nvSpPr>
            <p:cNvPr id="21" name="文本框 20"/>
            <p:cNvSpPr txBox="1"/>
            <p:nvPr/>
          </p:nvSpPr>
          <p:spPr>
            <a:xfrm>
              <a:off x="741410" y="1788055"/>
              <a:ext cx="4112531" cy="2141555"/>
            </a:xfrm>
            <a:prstGeom prst="rect">
              <a:avLst/>
            </a:prstGeom>
            <a:noFill/>
          </p:spPr>
          <p:txBody>
            <a:bodyPr wrap="square" lIns="91397" tIns="45699" rIns="91397" bIns="45699" rtlCol="0">
              <a:spAutoFit/>
            </a:bodyPr>
            <a:lstStyle/>
            <a:p>
              <a:pPr marL="342900" lvl="0" indent="-342900">
                <a:lnSpc>
                  <a:spcPct val="120000"/>
                </a:lnSpc>
                <a:buFont typeface="Wingdings" panose="05000000000000000000" pitchFamily="2" charset="2"/>
                <a:buChar char=""/>
              </a:pPr>
              <a:r>
                <a:rPr lang="en-US" altLang="zh-CN" sz="2135" u="sng">
                  <a:solidFill>
                    <a:srgbClr val="000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hlinkClick r:id="rId5"/>
                </a:rPr>
                <a:t>onPageShow</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：页面每次显示时触发</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C1F2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1C1F21"/>
                  </a:solidFill>
                  <a:effectLst/>
                  <a:latin typeface="思源黑体" panose="020B0400000000000000" pitchFamily="34" charset="-122"/>
                  <a:ea typeface="思源黑体" panose="020B0400000000000000" pitchFamily="34" charset="-122"/>
                  <a:cs typeface="Helvetica" panose="020B0604020202020204" pitchFamily="34" charset="0"/>
                  <a:sym typeface="思源黑体" panose="020B0400000000000000" pitchFamily="34" charset="-122"/>
                </a:rPr>
                <a:t>包括路由过程、应用进入前后台等场景</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p>
            <a:p>
              <a:pPr marL="342900" lvl="0" indent="-342900">
                <a:lnSpc>
                  <a:spcPct val="120000"/>
                </a:lnSpc>
                <a:buFont typeface="Wingdings" panose="05000000000000000000" pitchFamily="2" charset="2"/>
                <a:buChar char=""/>
              </a:pPr>
              <a:r>
                <a:rPr lang="en-US" altLang="zh-CN" sz="2135" u="sng">
                  <a:solidFill>
                    <a:srgbClr val="000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hlinkClick r:id="rId6"/>
                </a:rPr>
                <a:t>onPageHide</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：页面每次隐藏时触发一次</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C1F2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zh-CN" sz="2135">
                  <a:solidFill>
                    <a:srgbClr val="1C1F21"/>
                  </a:solidFill>
                  <a:effectLst/>
                  <a:latin typeface="思源黑体" panose="020B0400000000000000" pitchFamily="34" charset="-122"/>
                  <a:ea typeface="思源黑体" panose="020B0400000000000000" pitchFamily="34" charset="-122"/>
                  <a:cs typeface="Helvetica" panose="020B0604020202020204" pitchFamily="34" charset="0"/>
                  <a:sym typeface="思源黑体" panose="020B0400000000000000" pitchFamily="34" charset="-122"/>
                </a:rPr>
                <a:t>包括路由过程、应用进入前后台等场景</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p>
            <a:p>
              <a:pPr marL="342900" lvl="0" indent="-342900">
                <a:lnSpc>
                  <a:spcPct val="120000"/>
                </a:lnSpc>
                <a:buFont typeface="Wingdings" panose="05000000000000000000" pitchFamily="2" charset="2"/>
                <a:buChar char=""/>
              </a:pPr>
              <a:r>
                <a:rPr lang="en-US" altLang="zh-CN" sz="2135" u="sng">
                  <a:solidFill>
                    <a:srgbClr val="000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hlinkClick r:id="rId7"/>
                </a:rPr>
                <a:t>onBackPress</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：当用户点击返回按钮时触发。</a:t>
              </a:r>
            </a:p>
            <a:p>
              <a:pPr marL="342900" lvl="0" indent="-342900">
                <a:lnSpc>
                  <a:spcPct val="120000"/>
                </a:lnSpc>
                <a:buFont typeface="Wingdings" panose="05000000000000000000" pitchFamily="2" charset="2"/>
                <a:buChar char=""/>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22" name="组合 21"/>
            <p:cNvGrpSpPr/>
            <p:nvPr/>
          </p:nvGrpSpPr>
          <p:grpSpPr>
            <a:xfrm>
              <a:off x="643019" y="1247285"/>
              <a:ext cx="4482489" cy="3239340"/>
              <a:chOff x="828791" y="1649189"/>
              <a:chExt cx="4482489" cy="3239340"/>
            </a:xfrm>
          </p:grpSpPr>
          <p:sp>
            <p:nvSpPr>
              <p:cNvPr id="23" name="圆角矩形 3"/>
              <p:cNvSpPr/>
              <p:nvPr/>
            </p:nvSpPr>
            <p:spPr>
              <a:xfrm>
                <a:off x="927182" y="1690471"/>
                <a:ext cx="3081718" cy="39846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4" name="圆角矩形 54"/>
              <p:cNvSpPr/>
              <p:nvPr/>
            </p:nvSpPr>
            <p:spPr>
              <a:xfrm>
                <a:off x="828791" y="1905346"/>
                <a:ext cx="4482489" cy="298318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5" name="Text2"/>
              <p:cNvSpPr txBox="1"/>
              <p:nvPr/>
            </p:nvSpPr>
            <p:spPr>
              <a:xfrm>
                <a:off x="974509" y="1649189"/>
                <a:ext cx="3022948"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页面的生命周期函数</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pic>
        <p:nvPicPr>
          <p:cNvPr id="26" name="图片 25"/>
          <p:cNvPicPr>
            <a:picLocks noChangeAspect="1"/>
          </p:cNvPicPr>
          <p:nvPr/>
        </p:nvPicPr>
        <p:blipFill>
          <a:blip r:embed="rId8"/>
          <a:stretch>
            <a:fillRect/>
          </a:stretch>
        </p:blipFill>
        <p:spPr>
          <a:xfrm>
            <a:off x="655623" y="3984111"/>
            <a:ext cx="5029799" cy="2706136"/>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4"/>
                                        </p:tgtEl>
                                        <p:attrNameLst>
                                          <p:attrName>style.visibility</p:attrName>
                                        </p:attrNameLst>
                                      </p:cBhvr>
                                      <p:to>
                                        <p:strVal val="visible"/>
                                      </p:to>
                                    </p:set>
                                    <p:animEffect transition="in" filter="wedge">
                                      <p:cBhvr>
                                        <p:cTn id="11" dur="10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20"/>
                                        </p:tgtEl>
                                        <p:attrNameLst>
                                          <p:attrName>style.visibility</p:attrName>
                                        </p:attrNameLst>
                                      </p:cBhvr>
                                      <p:to>
                                        <p:strVal val="visible"/>
                                      </p:to>
                                    </p:set>
                                    <p:animEffect transition="in" filter="wedge">
                                      <p:cBhvr>
                                        <p:cTn id="16" dur="10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par>
                          <p:cTn id="21" fill="hold">
                            <p:stCondLst>
                              <p:cond delay="0"/>
                            </p:stCondLst>
                            <p:childTnLst>
                              <p:par>
                                <p:cTn id="22" presetID="56" presetClass="path" presetSubtype="0" accel="50000" decel="50000" fill="hold" nodeType="afterEffect">
                                  <p:stCondLst>
                                    <p:cond delay="0"/>
                                  </p:stCondLst>
                                  <p:childTnLst>
                                    <p:animMotion origin="layout" path="M 0 0 L 0.25 -0.25 E" pathEditMode="relative" ptsTypes="">
                                      <p:cBhvr>
                                        <p:cTn id="23" dur="2000" fill="hold"/>
                                        <p:tgtEl>
                                          <p:spTgt spid="26"/>
                                        </p:tgtEl>
                                        <p:attrNameLst>
                                          <p:attrName>ppt_x</p:attrName>
                                          <p:attrName>ppt_y</p:attrName>
                                        </p:attrNameLst>
                                      </p:cBhvr>
                                    </p:animMotion>
                                  </p:childTnLst>
                                </p:cTn>
                              </p:par>
                            </p:childTnLst>
                          </p:cTn>
                        </p:par>
                        <p:par>
                          <p:cTn id="24" fill="hold">
                            <p:stCondLst>
                              <p:cond delay="2000"/>
                            </p:stCondLst>
                            <p:childTnLst>
                              <p:par>
                                <p:cTn id="25" presetID="6" presetClass="emph" presetSubtype="0" fill="hold" nodeType="afterEffect">
                                  <p:stCondLst>
                                    <p:cond delay="0"/>
                                  </p:stCondLst>
                                  <p:childTnLst>
                                    <p:animScale>
                                      <p:cBhvr>
                                        <p:cTn id="26" dur="2000" fill="hold"/>
                                        <p:tgtEl>
                                          <p:spTgt spid="2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03</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21" name="矩形 20"/>
          <p:cNvSpPr/>
          <p:nvPr/>
        </p:nvSpPr>
        <p:spPr>
          <a:xfrm>
            <a:off x="6962705" y="3737364"/>
            <a:ext cx="44398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条件渲染语法</a:t>
            </a: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条件渲染语法</a:t>
            </a:r>
          </a:p>
        </p:txBody>
      </p:sp>
      <p:grpSp>
        <p:nvGrpSpPr>
          <p:cNvPr id="12" name="组合 11"/>
          <p:cNvGrpSpPr/>
          <p:nvPr/>
        </p:nvGrpSpPr>
        <p:grpSpPr>
          <a:xfrm>
            <a:off x="418603" y="894097"/>
            <a:ext cx="11471555" cy="2679056"/>
            <a:chOff x="361419" y="710838"/>
            <a:chExt cx="7847440" cy="2009606"/>
          </a:xfrm>
        </p:grpSpPr>
        <p:sp>
          <p:nvSpPr>
            <p:cNvPr id="6" name="文本框 5"/>
            <p:cNvSpPr txBox="1"/>
            <p:nvPr/>
          </p:nvSpPr>
          <p:spPr>
            <a:xfrm>
              <a:off x="512119" y="769606"/>
              <a:ext cx="7446548" cy="1846233"/>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ArkTS</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声明式开发范式中，组件可以使用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if/else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条件渲染，满足条件就渲染对应状态下的</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UI</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内容，条件渲染使用说明如下：</a:t>
              </a:r>
            </a:p>
            <a:p>
              <a:pPr marL="285750" indent="-285750">
                <a:lnSpc>
                  <a:spcPct val="120000"/>
                </a:lnSpc>
                <a:buFont typeface="Wingdings" panose="05000000000000000000" pitchFamily="2" charset="2"/>
                <a:buChar char="l"/>
              </a:pP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if/else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条件语句可以使用状态变量，并且在更新场景下必须使用状态变量。</a:t>
              </a:r>
            </a:p>
            <a:p>
              <a:pPr marL="285750" indent="-285750">
                <a:lnSpc>
                  <a:spcPct val="120000"/>
                </a:lnSpc>
                <a:buFont typeface="Wingdings" panose="05000000000000000000" pitchFamily="2" charset="2"/>
                <a:buChar char="l"/>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使用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if/else</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可以使子组件的渲染依赖条件语句。</a:t>
              </a:r>
            </a:p>
            <a:p>
              <a:pPr marL="285750" indent="-285750">
                <a:lnSpc>
                  <a:spcPct val="120000"/>
                </a:lnSpc>
                <a:buFont typeface="Wingdings" panose="05000000000000000000" pitchFamily="2" charset="2"/>
                <a:buChar char="l"/>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必须在容器组件内使用。</a:t>
              </a:r>
            </a:p>
            <a:p>
              <a:pPr marL="285750" indent="-285750">
                <a:lnSpc>
                  <a:spcPct val="120000"/>
                </a:lnSpc>
                <a:buFont typeface="Wingdings" panose="05000000000000000000" pitchFamily="2" charset="2"/>
                <a:buChar char="l"/>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某些容器组件限制子组件的类型或数量。</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3"/>
              </p:custDataLst>
            </p:nvPr>
          </p:nvSpPr>
          <p:spPr>
            <a:xfrm>
              <a:off x="361419" y="710838"/>
              <a:ext cx="7847440" cy="200960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143326" y="3874652"/>
            <a:ext cx="11876669" cy="2505607"/>
            <a:chOff x="-42167" y="2762612"/>
            <a:chExt cx="14796005" cy="1815291"/>
          </a:xfrm>
        </p:grpSpPr>
        <p:sp>
          <p:nvSpPr>
            <p:cNvPr id="8" name="圆角矩形 55"/>
            <p:cNvSpPr/>
            <p:nvPr>
              <p:custDataLst>
                <p:tags r:id="rId2"/>
              </p:custDataLst>
            </p:nvPr>
          </p:nvSpPr>
          <p:spPr>
            <a:xfrm>
              <a:off x="361419" y="2762612"/>
              <a:ext cx="8515993" cy="1815291"/>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42167" y="2762612"/>
              <a:ext cx="14796005" cy="1783162"/>
            </a:xfrm>
            <a:prstGeom prst="rect">
              <a:avLst/>
            </a:prstGeom>
            <a:noFill/>
          </p:spPr>
          <p:txBody>
            <a:bodyPr wrap="square">
              <a:spAutoFit/>
            </a:bodyPr>
            <a:lstStyle/>
            <a:p>
              <a:pPr marL="408940" marR="63500">
                <a:lnSpc>
                  <a:spcPct val="120000"/>
                </a:lnSpc>
                <a:tabLst>
                  <a:tab pos="180340" algn="l"/>
                  <a:tab pos="408940" algn="l"/>
                </a:tabLst>
              </a:pPr>
              <a:r>
                <a:rPr lang="en-US" altLang="zh-CN" sz="2135">
                  <a:solidFill>
                    <a:srgbClr val="808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@State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count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if </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count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653170"/>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我是自定义组件</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fontSize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pic>
        <p:nvPicPr>
          <p:cNvPr id="4" name="图片 3" descr="537278f7a07fdbada666bdacf26f64b1"/>
          <p:cNvPicPr>
            <a:picLocks noChangeAspect="1"/>
          </p:cNvPicPr>
          <p:nvPr>
            <p:custDataLst>
              <p:tags r:id="rId1"/>
            </p:custDataLst>
          </p:nvPr>
        </p:nvPicPr>
        <p:blipFill>
          <a:blip r:embed="rId6"/>
          <a:stretch>
            <a:fillRect/>
          </a:stretch>
        </p:blipFill>
        <p:spPr>
          <a:xfrm>
            <a:off x="6860461" y="2464579"/>
            <a:ext cx="8202555" cy="5655661"/>
          </a:xfrm>
          <a:prstGeom prst="rect">
            <a:avLst/>
          </a:prstGeom>
        </p:spPr>
      </p:pic>
      <p:grpSp>
        <p:nvGrpSpPr>
          <p:cNvPr id="5" name="组合 4"/>
          <p:cNvGrpSpPr/>
          <p:nvPr/>
        </p:nvGrpSpPr>
        <p:grpSpPr>
          <a:xfrm>
            <a:off x="5813286" y="4541503"/>
            <a:ext cx="4588478" cy="1501813"/>
            <a:chOff x="673616" y="3421010"/>
            <a:chExt cx="4103317" cy="1722490"/>
          </a:xfrm>
        </p:grpSpPr>
        <p:pic>
          <p:nvPicPr>
            <p:cNvPr id="14" name="图片 13"/>
            <p:cNvPicPr>
              <a:picLocks noChangeAspect="1"/>
            </p:cNvPicPr>
            <p:nvPr/>
          </p:nvPicPr>
          <p:blipFill>
            <a:blip r:embed="rId7"/>
            <a:stretch>
              <a:fillRect/>
            </a:stretch>
          </p:blipFill>
          <p:spPr>
            <a:xfrm>
              <a:off x="2859579" y="3421010"/>
              <a:ext cx="1917354" cy="1722490"/>
            </a:xfrm>
            <a:prstGeom prst="rect">
              <a:avLst/>
            </a:prstGeom>
          </p:spPr>
        </p:pic>
        <p:sp>
          <p:nvSpPr>
            <p:cNvPr id="15" name="ïsḷîde"/>
            <p:cNvSpPr/>
            <p:nvPr/>
          </p:nvSpPr>
          <p:spPr>
            <a:xfrm>
              <a:off x="673616" y="3867775"/>
              <a:ext cx="2185963" cy="696064"/>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7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11"/>
                                        </p:tgtEl>
                                        <p:attrNameLst>
                                          <p:attrName>style.visibility</p:attrName>
                                        </p:attrNameLst>
                                      </p:cBhvr>
                                      <p:to>
                                        <p:strVal val="visible"/>
                                      </p:to>
                                    </p:set>
                                    <p:animEffect transition="in" filter="wedge">
                                      <p:cBhvr>
                                        <p:cTn id="15" dur="1000"/>
                                        <p:tgtEl>
                                          <p:spTgt spid="11"/>
                                        </p:tgtEl>
                                      </p:cBhvr>
                                    </p:animEffect>
                                  </p:childTnLst>
                                </p:cTn>
                              </p:par>
                              <p:par>
                                <p:cTn id="16" presetID="42"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000" fill="hold">
                                          <p:stCondLst>
                                            <p:cond delay="0"/>
                                          </p:stCondLst>
                                        </p:cTn>
                                        <p:tgtEl>
                                          <p:spTgt spid="5"/>
                                        </p:tgtEl>
                                        <p:attrNameLst>
                                          <p:attrName>style.visibility</p:attrName>
                                        </p:attrNameLst>
                                      </p:cBhvr>
                                      <p:to>
                                        <p:strVal val="visible"/>
                                      </p:to>
                                    </p:set>
                                    <p:animEffect transition="in" filter="wedge">
                                      <p:cBhvr>
                                        <p:cTn id="2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04</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21" name="矩形 20"/>
          <p:cNvSpPr/>
          <p:nvPr/>
        </p:nvSpPr>
        <p:spPr>
          <a:xfrm>
            <a:off x="6962705" y="3737364"/>
            <a:ext cx="44398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循环渲染语法</a:t>
            </a: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循环渲染语法</a:t>
            </a:r>
          </a:p>
        </p:txBody>
      </p:sp>
      <p:grpSp>
        <p:nvGrpSpPr>
          <p:cNvPr id="12" name="组合 11"/>
          <p:cNvGrpSpPr/>
          <p:nvPr/>
        </p:nvGrpSpPr>
        <p:grpSpPr>
          <a:xfrm>
            <a:off x="512916" y="1112904"/>
            <a:ext cx="11164263" cy="1029583"/>
            <a:chOff x="346450" y="505732"/>
            <a:chExt cx="2354607" cy="2776834"/>
          </a:xfrm>
        </p:grpSpPr>
        <p:sp>
          <p:nvSpPr>
            <p:cNvPr id="6" name="文本框 5"/>
            <p:cNvSpPr txBox="1"/>
            <p:nvPr/>
          </p:nvSpPr>
          <p:spPr>
            <a:xfrm>
              <a:off x="423067" y="505732"/>
              <a:ext cx="2058413" cy="2377123"/>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ArkTS</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声明式开发范式中，重复出现的组件可以用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ForEach</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循环来迭代渲染，组件需要的数据放在数组中，</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ForEach</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在迭代数组时利用每一数据项创建子组件。</a:t>
              </a:r>
              <a:endParaRPr lang="en-US" altLang="zh-CN"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2"/>
              </p:custDataLst>
            </p:nvPr>
          </p:nvSpPr>
          <p:spPr>
            <a:xfrm>
              <a:off x="346450" y="505732"/>
              <a:ext cx="2354607" cy="277683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11" name="组合 10"/>
          <p:cNvGrpSpPr/>
          <p:nvPr/>
        </p:nvGrpSpPr>
        <p:grpSpPr>
          <a:xfrm>
            <a:off x="512915" y="2320067"/>
            <a:ext cx="11164262" cy="3426299"/>
            <a:chOff x="2962453" y="3353988"/>
            <a:chExt cx="8374505" cy="2570126"/>
          </a:xfrm>
        </p:grpSpPr>
        <p:sp>
          <p:nvSpPr>
            <p:cNvPr id="8" name="圆角矩形 55"/>
            <p:cNvSpPr/>
            <p:nvPr>
              <p:custDataLst>
                <p:tags r:id="rId1"/>
              </p:custDataLst>
            </p:nvPr>
          </p:nvSpPr>
          <p:spPr>
            <a:xfrm>
              <a:off x="2962453" y="3353988"/>
              <a:ext cx="8374505" cy="257012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3022189" y="3416714"/>
              <a:ext cx="8117527" cy="2438781"/>
            </a:xfrm>
            <a:prstGeom prst="rect">
              <a:avLst/>
            </a:prstGeom>
            <a:noFill/>
          </p:spPr>
          <p:txBody>
            <a:bodyPr wrap="square">
              <a:spAutoFit/>
            </a:bodyPr>
            <a:lstStyle/>
            <a:p>
              <a:pPr marL="48260" marR="63500" indent="-48260">
                <a:lnSpc>
                  <a:spcPct val="120000"/>
                </a:lnSpc>
                <a:tabLst>
                  <a:tab pos="180340" algn="l"/>
                  <a:tab pos="408940" algn="l"/>
                </a:tabLst>
              </a:pP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ForEach</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参数</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arr</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必须是数组</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indent="2667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any</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参数</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：生成子组件的箭头函数，为数组中的每一个数据项创建一个或多个子组件</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indent="2667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itemGenerator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any</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参数</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：匿名函数，用于给数组中的每一个数据项生成唯一且固定的键值</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indent="266700">
                <a:lnSpc>
                  <a:spcPct val="120000"/>
                </a:lnSpc>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keyGenerator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any</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11"/>
                                        </p:tgtEl>
                                        <p:attrNameLst>
                                          <p:attrName>style.visibility</p:attrName>
                                        </p:attrNameLst>
                                      </p:cBhvr>
                                      <p:to>
                                        <p:strVal val="visible"/>
                                      </p:to>
                                    </p:set>
                                    <p:animEffect transition="in" filter="wedge">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循环渲染示例</a:t>
            </a:r>
          </a:p>
        </p:txBody>
      </p:sp>
      <p:grpSp>
        <p:nvGrpSpPr>
          <p:cNvPr id="11" name="组合 10"/>
          <p:cNvGrpSpPr/>
          <p:nvPr/>
        </p:nvGrpSpPr>
        <p:grpSpPr>
          <a:xfrm>
            <a:off x="1142929" y="1645612"/>
            <a:ext cx="10866631" cy="3075677"/>
            <a:chOff x="2988469" y="3300825"/>
            <a:chExt cx="8151247" cy="2307118"/>
          </a:xfrm>
        </p:grpSpPr>
        <p:sp>
          <p:nvSpPr>
            <p:cNvPr id="8" name="圆角矩形 55"/>
            <p:cNvSpPr/>
            <p:nvPr>
              <p:custDataLst>
                <p:tags r:id="rId1"/>
              </p:custDataLst>
            </p:nvPr>
          </p:nvSpPr>
          <p:spPr>
            <a:xfrm>
              <a:off x="2988469" y="3300825"/>
              <a:ext cx="7249430" cy="2307118"/>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文本框 8"/>
            <p:cNvSpPr txBox="1"/>
            <p:nvPr/>
          </p:nvSpPr>
          <p:spPr>
            <a:xfrm>
              <a:off x="3022189" y="3416714"/>
              <a:ext cx="8117527" cy="1846233"/>
            </a:xfrm>
            <a:prstGeom prst="rect">
              <a:avLst/>
            </a:prstGeom>
            <a:noFill/>
          </p:spPr>
          <p:txBody>
            <a:bodyPr wrap="square">
              <a:spAutoFit/>
            </a:bodyPr>
            <a:lstStyle/>
            <a:p>
              <a:pPr marL="48260" marR="63500" indent="-48260">
                <a:lnSpc>
                  <a:spcPct val="120000"/>
                </a:lnSpc>
                <a:spcBef>
                  <a:spcPct val="0"/>
                </a:spcBef>
                <a:spcAft>
                  <a:spcPct val="0"/>
                </a:spcAft>
                <a:tabLst>
                  <a:tab pos="180340" algn="l"/>
                  <a:tab pos="408940" algn="l"/>
                </a:tabLst>
              </a:pP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0800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@State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10</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20</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30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spcBef>
                  <a:spcPct val="0"/>
                </a:spcBef>
                <a:spcAft>
                  <a:spcPct val="0"/>
                </a:spcAft>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spcBef>
                  <a:spcPct val="0"/>
                </a:spcBef>
                <a:spcAft>
                  <a:spcPct val="0"/>
                </a:spcAft>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ForEach</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this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Text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 value: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item</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fontSize</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18</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8260" marR="63500" indent="-48260">
                <a:lnSpc>
                  <a:spcPct val="120000"/>
                </a:lnSpc>
                <a:spcBef>
                  <a:spcPct val="0"/>
                </a:spcBef>
                <a:spcAft>
                  <a:spcPct val="0"/>
                </a:spcAft>
                <a:tabLst>
                  <a:tab pos="180340" algn="l"/>
                  <a:tab pos="408940" algn="l"/>
                </a:tabLst>
              </a:pP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Divider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strokeWidth</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color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Color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Black</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a:lnSpc>
                  <a:spcPct val="120000"/>
                </a:lnSpc>
                <a:spcBef>
                  <a:spcPct val="0"/>
                </a:spcBef>
                <a:spcAft>
                  <a:spcPct val="0"/>
                </a:spcAft>
              </a:pPr>
              <a:r>
                <a:rPr lang="en-US" altLang="zh-CN" sz="2135" kern="100">
                  <a:solidFill>
                    <a:srgbClr val="6C71C4"/>
                  </a:solidFill>
                  <a:effectLst/>
                  <a:latin typeface="思源黑体" panose="020B0400000000000000" pitchFamily="34" charset="-122"/>
                  <a:ea typeface="思源黑体" panose="020B0400000000000000" pitchFamily="34" charset="-122"/>
                  <a:sym typeface="思源黑体" panose="020B0400000000000000" pitchFamily="34" charset="-122"/>
                </a:rPr>
                <a:t>      </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a:t>
              </a:r>
              <a:r>
                <a:rPr lang="en-US" altLang="zh-CN" sz="2135"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 </a:t>
              </a:r>
              <a:r>
                <a:rPr lang="en-US" altLang="zh-CN" sz="2135" kern="100">
                  <a:solidFill>
                    <a:srgbClr val="6C71C4"/>
                  </a:solidFill>
                  <a:effectLst/>
                  <a:latin typeface="思源黑体" panose="020B0400000000000000" pitchFamily="34" charset="-122"/>
                  <a:ea typeface="思源黑体" panose="020B0400000000000000" pitchFamily="34" charset="-122"/>
                  <a:sym typeface="思源黑体" panose="020B0400000000000000" pitchFamily="34" charset="-122"/>
                </a:rPr>
                <a:t>(</a:t>
              </a:r>
              <a:r>
                <a:rPr lang="en-US" altLang="zh-CN" sz="2135" kern="100">
                  <a:solidFill>
                    <a:srgbClr val="11408E"/>
                  </a:solidFill>
                  <a:effectLst/>
                  <a:latin typeface="思源黑体" panose="020B0400000000000000" pitchFamily="34" charset="-122"/>
                  <a:ea typeface="思源黑体" panose="020B0400000000000000" pitchFamily="34" charset="-122"/>
                  <a:sym typeface="思源黑体" panose="020B0400000000000000" pitchFamily="34" charset="-122"/>
                </a:rPr>
                <a:t>item</a:t>
              </a:r>
              <a:r>
                <a:rPr lang="en-US" altLang="zh-CN" sz="2135"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 </a:t>
              </a:r>
              <a:r>
                <a:rPr lang="en-US" altLang="zh-CN" sz="2135" kern="100">
                  <a:solidFill>
                    <a:srgbClr val="000080"/>
                  </a:solidFill>
                  <a:effectLst/>
                  <a:latin typeface="思源黑体" panose="020B0400000000000000" pitchFamily="34" charset="-122"/>
                  <a:ea typeface="思源黑体" panose="020B0400000000000000" pitchFamily="34" charset="-122"/>
                  <a:sym typeface="思源黑体" panose="020B0400000000000000" pitchFamily="34" charset="-122"/>
                </a:rPr>
                <a:t>number</a:t>
              </a:r>
              <a:r>
                <a:rPr lang="en-US" altLang="zh-CN" sz="2135" kern="100">
                  <a:solidFill>
                    <a:srgbClr val="6C71C4"/>
                  </a:solidFill>
                  <a:effectLst/>
                  <a:latin typeface="思源黑体" panose="020B0400000000000000" pitchFamily="34" charset="-122"/>
                  <a:ea typeface="思源黑体" panose="020B0400000000000000" pitchFamily="34" charset="-122"/>
                  <a:sym typeface="思源黑体" panose="020B0400000000000000" pitchFamily="34" charset="-122"/>
                </a:rPr>
                <a:t>) </a:t>
              </a:r>
              <a:r>
                <a:rPr lang="en-US" altLang="zh-CN" sz="2135"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=&gt; </a:t>
              </a:r>
              <a:r>
                <a:rPr lang="en-US" altLang="zh-CN" sz="2135" kern="100">
                  <a:solidFill>
                    <a:srgbClr val="11408E"/>
                  </a:solidFill>
                  <a:effectLst/>
                  <a:latin typeface="思源黑体" panose="020B0400000000000000" pitchFamily="34" charset="-122"/>
                  <a:ea typeface="思源黑体" panose="020B0400000000000000" pitchFamily="34" charset="-122"/>
                  <a:sym typeface="思源黑体" panose="020B0400000000000000" pitchFamily="34" charset="-122"/>
                </a:rPr>
                <a:t>item</a:t>
              </a:r>
              <a:r>
                <a:rPr lang="en-US" altLang="zh-CN" sz="2135"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a:t>
              </a:r>
              <a:r>
                <a:rPr lang="en-US" altLang="zh-CN" sz="2135" kern="100">
                  <a:solidFill>
                    <a:srgbClr val="00A99E"/>
                  </a:solidFill>
                  <a:effectLst/>
                  <a:latin typeface="思源黑体" panose="020B0400000000000000" pitchFamily="34" charset="-122"/>
                  <a:ea typeface="思源黑体" panose="020B0400000000000000" pitchFamily="34" charset="-122"/>
                  <a:sym typeface="思源黑体" panose="020B0400000000000000" pitchFamily="34" charset="-122"/>
                </a:rPr>
                <a:t>toString</a:t>
              </a:r>
              <a:r>
                <a:rPr lang="en-US" altLang="zh-CN" sz="2135" kern="100">
                  <a:solidFill>
                    <a:srgbClr val="6C71C4"/>
                  </a:solidFill>
                  <a:effectLst/>
                  <a:latin typeface="思源黑体" panose="020B0400000000000000" pitchFamily="34" charset="-122"/>
                  <a:ea typeface="思源黑体" panose="020B0400000000000000" pitchFamily="34"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grpSp>
        <p:nvGrpSpPr>
          <p:cNvPr id="4" name="组合 3"/>
          <p:cNvGrpSpPr/>
          <p:nvPr/>
        </p:nvGrpSpPr>
        <p:grpSpPr>
          <a:xfrm>
            <a:off x="5801452" y="5188433"/>
            <a:ext cx="4588478" cy="1501813"/>
            <a:chOff x="673616" y="3421010"/>
            <a:chExt cx="4103317" cy="1722490"/>
          </a:xfrm>
        </p:grpSpPr>
        <p:pic>
          <p:nvPicPr>
            <p:cNvPr id="5" name="图片 4"/>
            <p:cNvPicPr>
              <a:picLocks noChangeAspect="1"/>
            </p:cNvPicPr>
            <p:nvPr/>
          </p:nvPicPr>
          <p:blipFill>
            <a:blip r:embed="rId4"/>
            <a:stretch>
              <a:fillRect/>
            </a:stretch>
          </p:blipFill>
          <p:spPr>
            <a:xfrm>
              <a:off x="2859579" y="3421010"/>
              <a:ext cx="1917354" cy="1722490"/>
            </a:xfrm>
            <a:prstGeom prst="rect">
              <a:avLst/>
            </a:prstGeom>
          </p:spPr>
        </p:pic>
        <p:sp>
          <p:nvSpPr>
            <p:cNvPr id="7" name="ïsḷîde"/>
            <p:cNvSpPr/>
            <p:nvPr/>
          </p:nvSpPr>
          <p:spPr>
            <a:xfrm>
              <a:off x="673616" y="3867775"/>
              <a:ext cx="2185963" cy="696064"/>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7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000" fill="hold">
                                          <p:stCondLst>
                                            <p:cond delay="0"/>
                                          </p:stCondLst>
                                        </p:cTn>
                                        <p:tgtEl>
                                          <p:spTgt spid="11"/>
                                        </p:tgtEl>
                                        <p:attrNameLst>
                                          <p:attrName>style.visibility</p:attrName>
                                        </p:attrNameLst>
                                      </p:cBhvr>
                                      <p:to>
                                        <p:strVal val="visible"/>
                                      </p:to>
                                    </p:set>
                                    <p:animEffect transition="in" filter="wedge">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4"/>
                                        </p:tgtEl>
                                        <p:attrNameLst>
                                          <p:attrName>style.visibility</p:attrName>
                                        </p:attrNameLst>
                                      </p:cBhvr>
                                      <p:to>
                                        <p:strVal val="visible"/>
                                      </p:to>
                                    </p:set>
                                    <p:animEffect transition="in" filter="wedg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558702" y="1840400"/>
            <a:ext cx="9505056" cy="2203167"/>
          </a:xfrm>
          <a:prstGeom prst="rect">
            <a:avLst/>
          </a:prstGeom>
          <a:noFill/>
        </p:spPr>
        <p:txBody>
          <a:bodyPr wrap="square">
            <a:spAutoFit/>
          </a:bodyPr>
          <a:lstStyle/>
          <a:p>
            <a:pPr algn="just">
              <a:lnSpc>
                <a:spcPct val="200000"/>
              </a:lnSpc>
            </a:pPr>
            <a:r>
              <a:rPr lang="zh-CN" altLang="en-US" dirty="0"/>
              <a:t>介绍在</a:t>
            </a:r>
            <a:r>
              <a:rPr lang="en-US" altLang="zh-CN" dirty="0" err="1"/>
              <a:t>ArkUI</a:t>
            </a:r>
            <a:r>
              <a:rPr lang="zh-CN" altLang="en-US" dirty="0"/>
              <a:t>开发框架中自定义组件的语法规则</a:t>
            </a:r>
            <a:endParaRPr lang="en-US" altLang="zh-CN" dirty="0"/>
          </a:p>
          <a:p>
            <a:pPr lvl="1" algn="just">
              <a:lnSpc>
                <a:spcPct val="200000"/>
              </a:lnSpc>
            </a:pPr>
            <a:r>
              <a:rPr lang="zh-CN" altLang="en-US" dirty="0"/>
              <a:t>先通过示例分别介绍如何使用</a:t>
            </a:r>
            <a:r>
              <a:rPr lang="en-US" altLang="zh-CN" dirty="0"/>
              <a:t>circle</a:t>
            </a:r>
            <a:r>
              <a:rPr lang="zh-CN" altLang="en-US" dirty="0"/>
              <a:t>自定义圆和</a:t>
            </a:r>
            <a:r>
              <a:rPr lang="en-US" altLang="zh-CN" dirty="0"/>
              <a:t>canvas</a:t>
            </a:r>
            <a:r>
              <a:rPr lang="zh-CN" altLang="en-US" dirty="0"/>
              <a:t>自定义圆，介绍如何自定义标题栏以及如何使用自定义插槽容器组件。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自定义圆环</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478582" y="1166406"/>
            <a:ext cx="11161240" cy="688009"/>
          </a:xfrm>
          <a:prstGeom prst="rect">
            <a:avLst/>
          </a:prstGeom>
          <a:noFill/>
        </p:spPr>
        <p:txBody>
          <a:bodyPr wrap="square">
            <a:spAutoFit/>
          </a:bodyPr>
          <a:lstStyle/>
          <a:p>
            <a:pPr algn="l" fontAlgn="base">
              <a:lnSpc>
                <a:spcPts val="2250"/>
              </a:lnSpc>
              <a:spcAft>
                <a:spcPts val="300"/>
              </a:spcAft>
              <a:buNone/>
            </a:pPr>
            <a:r>
              <a:rPr lang="zh-CN" altLang="en-US" b="0" i="0" dirty="0">
                <a:solidFill>
                  <a:srgbClr val="343434"/>
                </a:solidFill>
                <a:effectLst/>
                <a:latin typeface="PingFang SC"/>
              </a:rPr>
              <a:t>自定义圆环的实现非常简单，可以通过组合现有控件或者使用</a:t>
            </a:r>
            <a:r>
              <a:rPr lang="en-US" altLang="zh-CN" b="0" i="0" dirty="0">
                <a:solidFill>
                  <a:srgbClr val="343434"/>
                </a:solidFill>
                <a:effectLst/>
                <a:latin typeface="PingFang SC"/>
              </a:rPr>
              <a:t>Canvas</a:t>
            </a:r>
            <a:r>
              <a:rPr lang="zh-CN" altLang="en-US" b="0" i="0" dirty="0">
                <a:solidFill>
                  <a:srgbClr val="343434"/>
                </a:solidFill>
                <a:effectLst/>
                <a:latin typeface="PingFang SC"/>
              </a:rPr>
              <a:t>自绘制的方式来实现一个自定义组件。</a:t>
            </a:r>
          </a:p>
        </p:txBody>
      </p:sp>
      <p:pic>
        <p:nvPicPr>
          <p:cNvPr id="3" name="图片 2"/>
          <p:cNvPicPr>
            <a:picLocks noChangeAspect="1"/>
          </p:cNvPicPr>
          <p:nvPr/>
        </p:nvPicPr>
        <p:blipFill>
          <a:blip r:embed="rId3"/>
          <a:stretch>
            <a:fillRect/>
          </a:stretch>
        </p:blipFill>
        <p:spPr>
          <a:xfrm>
            <a:off x="1702719" y="2781722"/>
            <a:ext cx="6408712" cy="224966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自定义圆环</a:t>
            </a: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Rectangle 1"/>
          <p:cNvSpPr>
            <a:spLocks noChangeArrowheads="1"/>
          </p:cNvSpPr>
          <p:nvPr/>
        </p:nvSpPr>
        <p:spPr bwMode="auto">
          <a:xfrm>
            <a:off x="2450788" y="3412673"/>
            <a:ext cx="2352774" cy="244682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Circle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大圆充满父布局</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Circle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小圆居中显示</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fill</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Blue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3"/>
          <a:stretch>
            <a:fillRect/>
          </a:stretch>
        </p:blipFill>
        <p:spPr>
          <a:xfrm>
            <a:off x="6023198" y="3627475"/>
            <a:ext cx="1857634" cy="1629002"/>
          </a:xfrm>
          <a:prstGeom prst="rect">
            <a:avLst/>
          </a:prstGeom>
        </p:spPr>
      </p:pic>
      <p:sp>
        <p:nvSpPr>
          <p:cNvPr id="11" name="文本框 10"/>
          <p:cNvSpPr txBox="1"/>
          <p:nvPr/>
        </p:nvSpPr>
        <p:spPr>
          <a:xfrm>
            <a:off x="1234666" y="1498328"/>
            <a:ext cx="9577064" cy="1200329"/>
          </a:xfrm>
          <a:prstGeom prst="rect">
            <a:avLst/>
          </a:prstGeom>
          <a:noFill/>
        </p:spPr>
        <p:txBody>
          <a:bodyPr wrap="square">
            <a:spAutoFit/>
          </a:bodyPr>
          <a:lstStyle/>
          <a:p>
            <a:r>
              <a:rPr lang="zh-CN" altLang="en-US" dirty="0"/>
              <a:t>实现</a:t>
            </a:r>
            <a:r>
              <a:rPr lang="en-US" altLang="zh-CN" dirty="0"/>
              <a:t>Ring</a:t>
            </a:r>
            <a:r>
              <a:rPr lang="zh-CN" altLang="en-US" dirty="0"/>
              <a:t>的布局：</a:t>
            </a:r>
            <a:endParaRPr lang="en-US" altLang="zh-CN" dirty="0"/>
          </a:p>
          <a:p>
            <a:r>
              <a:rPr lang="zh-CN" altLang="en-US" dirty="0"/>
              <a:t>目前通过堆叠的方式实现了</a:t>
            </a:r>
            <a:r>
              <a:rPr lang="en-US" altLang="zh-CN" dirty="0"/>
              <a:t>Ring</a:t>
            </a:r>
            <a:r>
              <a:rPr lang="zh-CN" altLang="en-US" dirty="0"/>
              <a:t>组件，但是这个圆环不能设置颜色和大小，因此接下来我们需要定义一下圆环具有的属性。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自定义标题栏</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TitleBar</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 name="文本框 4"/>
          <p:cNvSpPr txBox="1"/>
          <p:nvPr/>
        </p:nvSpPr>
        <p:spPr>
          <a:xfrm>
            <a:off x="1462202" y="842730"/>
            <a:ext cx="10105612" cy="1200329"/>
          </a:xfrm>
          <a:prstGeom prst="rect">
            <a:avLst/>
          </a:prstGeom>
          <a:noFill/>
        </p:spPr>
        <p:txBody>
          <a:bodyPr wrap="square">
            <a:spAutoFit/>
          </a:bodyPr>
          <a:lstStyle/>
          <a:p>
            <a:r>
              <a:rPr lang="zh-CN" altLang="en-US" dirty="0"/>
              <a:t>标题栏在移动端开发中是一个很常用的控件，带有标题栏的页面一般都是分成两部分，上边是标题栏，下边是页面内容；而标题栏的样式一般都是左边是一个返回键，中间是标题，右边是菜单，如图所示。</a:t>
            </a:r>
          </a:p>
        </p:txBody>
      </p:sp>
      <p:pic>
        <p:nvPicPr>
          <p:cNvPr id="10" name="图片 9"/>
          <p:cNvPicPr>
            <a:picLocks noChangeAspect="1"/>
          </p:cNvPicPr>
          <p:nvPr/>
        </p:nvPicPr>
        <p:blipFill>
          <a:blip r:embed="rId3"/>
          <a:stretch>
            <a:fillRect/>
          </a:stretch>
        </p:blipFill>
        <p:spPr>
          <a:xfrm>
            <a:off x="3935095" y="1989455"/>
            <a:ext cx="4051935" cy="46393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自定义标题栏</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TitleBar</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文本框 4"/>
          <p:cNvSpPr txBox="1"/>
          <p:nvPr/>
        </p:nvSpPr>
        <p:spPr>
          <a:xfrm>
            <a:off x="1318186" y="1030650"/>
            <a:ext cx="10033604" cy="461665"/>
          </a:xfrm>
          <a:prstGeom prst="rect">
            <a:avLst/>
          </a:prstGeom>
          <a:noFill/>
        </p:spPr>
        <p:txBody>
          <a:bodyPr wrap="square">
            <a:spAutoFit/>
          </a:bodyPr>
          <a:lstStyle/>
          <a:p>
            <a:r>
              <a:rPr lang="zh-CN" altLang="en-US" dirty="0"/>
              <a:t>为了简单实现这一布局，直接使用</a:t>
            </a:r>
            <a:r>
              <a:rPr lang="en-US" altLang="zh-CN" dirty="0"/>
              <a:t>Flex</a:t>
            </a:r>
            <a:r>
              <a:rPr lang="zh-CN" altLang="en-US" dirty="0"/>
              <a:t>组件把它在主轴方向上均分成</a:t>
            </a:r>
            <a:r>
              <a:rPr lang="en-US" altLang="zh-CN" dirty="0"/>
              <a:t>3</a:t>
            </a:r>
            <a:r>
              <a:rPr lang="zh-CN" altLang="en-US" dirty="0"/>
              <a:t>份</a:t>
            </a:r>
          </a:p>
        </p:txBody>
      </p:sp>
      <p:sp>
        <p:nvSpPr>
          <p:cNvPr id="13" name="Rectangle 1"/>
          <p:cNvSpPr>
            <a:spLocks noChangeArrowheads="1"/>
          </p:cNvSpPr>
          <p:nvPr/>
        </p:nvSpPr>
        <p:spPr bwMode="auto">
          <a:xfrm>
            <a:off x="927086" y="1845618"/>
            <a:ext cx="5375127" cy="452431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a:ln>
                  <a:noFill/>
                </a:ln>
                <a:solidFill>
                  <a:srgbClr val="65CCE1"/>
                </a:solidFill>
                <a:effectLst/>
                <a:latin typeface="Arial Unicode MS" panose="020B0604020202020204" charset="-122"/>
                <a:ea typeface="JetBrains Mono"/>
              </a:rPr>
              <a:t>Stack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alignContent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Start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返回键左对齐</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Image</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"app.media.startIcon"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35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55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objectFit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ImageFit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Contain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margin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left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18</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600" b="0" i="0" u="none" strike="noStrike" cap="none" normalizeH="0" baseline="0">
                <a:ln>
                  <a:noFill/>
                </a:ln>
                <a:solidFill>
                  <a:srgbClr val="FAA23D"/>
                </a:solidFill>
                <a:effectLst/>
                <a:latin typeface="Arial Unicode MS" panose="020B0604020202020204" charset="-122"/>
                <a:ea typeface="JetBrains Mono"/>
              </a:rPr>
            </a:b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layoutWeight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使用权重属性均分父布局</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S</a:t>
            </a:r>
            <a:br>
              <a:rPr kumimoji="0" lang="zh-CN" altLang="zh-CN" sz="1600" b="0" i="0" u="none" strike="noStrike" cap="none" normalizeH="0" baseline="0">
                <a:ln>
                  <a:noFill/>
                </a:ln>
                <a:solidFill>
                  <a:srgbClr val="808080"/>
                </a:solidFill>
                <a:effectLst/>
                <a:latin typeface="Arial Unicode MS" panose="020B0604020202020204" charset="-122"/>
                <a:ea typeface="JetBrains Mono"/>
              </a:rPr>
            </a:br>
            <a:r>
              <a:rPr kumimoji="0" lang="zh-CN" altLang="zh-CN" sz="16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Stack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alignContent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Center</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标题居中对齐</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标题</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fontSize</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25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fontColor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Red</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Black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使用权重属性均分父布局</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layoutWeight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Stack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alignContent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End</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菜单右对齐</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Image</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"app.media.app_icon"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35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55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objectFit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ImageFit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Contain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margin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right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10</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15" name="图片 14"/>
          <p:cNvPicPr>
            <a:picLocks noChangeAspect="1"/>
          </p:cNvPicPr>
          <p:nvPr/>
        </p:nvPicPr>
        <p:blipFill>
          <a:blip r:embed="rId3"/>
          <a:stretch>
            <a:fillRect/>
          </a:stretch>
        </p:blipFill>
        <p:spPr>
          <a:xfrm>
            <a:off x="6481103" y="2420452"/>
            <a:ext cx="4667901" cy="23625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p>
        </p:txBody>
      </p:sp>
      <p:sp>
        <p:nvSpPr>
          <p:cNvPr id="4" name="文本框 3"/>
          <p:cNvSpPr txBox="1"/>
          <p:nvPr/>
        </p:nvSpPr>
        <p:spPr>
          <a:xfrm>
            <a:off x="1198662" y="1540180"/>
            <a:ext cx="9342294" cy="1569660"/>
          </a:xfrm>
          <a:prstGeom prst="rect">
            <a:avLst/>
          </a:prstGeom>
          <a:noFill/>
        </p:spPr>
        <p:txBody>
          <a:bodyPr wrap="square">
            <a:spAutoFit/>
          </a:bodyPr>
          <a:lstStyle/>
          <a:p>
            <a:r>
              <a:rPr lang="en-US" altLang="zh-CN" dirty="0"/>
              <a:t>1.@BuilderParam</a:t>
            </a:r>
            <a:r>
              <a:rPr lang="zh-CN" altLang="en-US" dirty="0"/>
              <a:t>定义</a:t>
            </a:r>
          </a:p>
          <a:p>
            <a:r>
              <a:rPr lang="en-US" altLang="zh-CN" dirty="0" err="1"/>
              <a:t>BuilderParam</a:t>
            </a:r>
            <a:r>
              <a:rPr lang="zh-CN" altLang="en-US" dirty="0"/>
              <a:t>定义在</a:t>
            </a:r>
            <a:r>
              <a:rPr lang="en-US" altLang="zh-CN" dirty="0" err="1"/>
              <a:t>common.d.ts</a:t>
            </a:r>
            <a:r>
              <a:rPr lang="zh-CN" altLang="en-US" dirty="0"/>
              <a:t>文件中，是一个属性修饰符，修饰的属性类型为</a:t>
            </a:r>
            <a:r>
              <a:rPr lang="en-US" altLang="zh-CN" dirty="0"/>
              <a:t>0=&gt;0,</a:t>
            </a:r>
            <a:r>
              <a:rPr lang="zh-CN" altLang="en-US" dirty="0"/>
              <a:t>因此需要在自定义组件</a:t>
            </a:r>
            <a:r>
              <a:rPr lang="en-US" altLang="zh-CN" dirty="0" err="1"/>
              <a:t>CustomWidget</a:t>
            </a:r>
            <a:r>
              <a:rPr lang="zh-CN" altLang="en-US" dirty="0"/>
              <a:t>内部声明一个属性，比如</a:t>
            </a:r>
            <a:r>
              <a:rPr lang="en-US" altLang="zh-CN" dirty="0" err="1"/>
              <a:t>chid</a:t>
            </a:r>
            <a:endParaRPr lang="zh-CN" altLang="en-US" dirty="0"/>
          </a:p>
        </p:txBody>
      </p:sp>
      <p:pic>
        <p:nvPicPr>
          <p:cNvPr id="9" name="图片 8"/>
          <p:cNvPicPr>
            <a:picLocks noChangeAspect="1"/>
          </p:cNvPicPr>
          <p:nvPr/>
        </p:nvPicPr>
        <p:blipFill>
          <a:blip r:embed="rId3"/>
          <a:stretch>
            <a:fillRect/>
          </a:stretch>
        </p:blipFill>
        <p:spPr>
          <a:xfrm>
            <a:off x="1598215" y="3538432"/>
            <a:ext cx="8665048" cy="143128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p>
        </p:txBody>
      </p:sp>
      <p:sp>
        <p:nvSpPr>
          <p:cNvPr id="5" name="文本框 4"/>
          <p:cNvSpPr txBox="1"/>
          <p:nvPr/>
        </p:nvSpPr>
        <p:spPr>
          <a:xfrm>
            <a:off x="1162926" y="823417"/>
            <a:ext cx="9961596" cy="1200329"/>
          </a:xfrm>
          <a:prstGeom prst="rect">
            <a:avLst/>
          </a:prstGeom>
          <a:noFill/>
        </p:spPr>
        <p:txBody>
          <a:bodyPr wrap="square">
            <a:spAutoFit/>
          </a:bodyPr>
          <a:lstStyle/>
          <a:p>
            <a:r>
              <a:rPr lang="en-US" altLang="zh-CN" dirty="0"/>
              <a:t>2.@BuilderParam</a:t>
            </a:r>
            <a:r>
              <a:rPr lang="zh-CN" altLang="en-US" dirty="0"/>
              <a:t>使用介绍</a:t>
            </a:r>
          </a:p>
          <a:p>
            <a:r>
              <a:rPr lang="en-US" altLang="zh-CN" dirty="0" err="1"/>
              <a:t>CustomWidget</a:t>
            </a:r>
            <a:r>
              <a:rPr lang="zh-CN" altLang="en-US" dirty="0"/>
              <a:t>组件添加</a:t>
            </a:r>
            <a:r>
              <a:rPr lang="en-US" altLang="zh-CN" dirty="0" err="1"/>
              <a:t>dhild</a:t>
            </a:r>
            <a:r>
              <a:rPr lang="zh-CN" altLang="en-US" dirty="0"/>
              <a:t>属性后，表示该组件具备了额外添加子组件的能力，接下来在需要添加子组件的地方使用</a:t>
            </a:r>
            <a:r>
              <a:rPr lang="en-US" altLang="zh-CN" dirty="0"/>
              <a:t>child</a:t>
            </a:r>
            <a:r>
              <a:rPr lang="zh-CN" altLang="en-US" dirty="0"/>
              <a:t>属性做占位即可</a:t>
            </a:r>
          </a:p>
        </p:txBody>
      </p:sp>
      <p:sp>
        <p:nvSpPr>
          <p:cNvPr id="11" name="Rectangle 1"/>
          <p:cNvSpPr>
            <a:spLocks noChangeArrowheads="1"/>
          </p:cNvSpPr>
          <p:nvPr/>
        </p:nvSpPr>
        <p:spPr bwMode="auto">
          <a:xfrm>
            <a:off x="3358902" y="2205658"/>
            <a:ext cx="4536504" cy="401648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BBB529"/>
                </a:solidFill>
                <a:effectLst/>
                <a:latin typeface="Arial Unicode MS" panose="020B0604020202020204" charset="-122"/>
                <a:ea typeface="JetBrains Mono"/>
              </a:rPr>
              <a:t>@Component </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export struct </a:t>
            </a:r>
            <a:r>
              <a:rPr kumimoji="0" lang="zh-CN" altLang="zh-CN" sz="1700" b="0" i="0" u="none" strike="noStrike" cap="none" normalizeH="0" baseline="0" dirty="0">
                <a:ln>
                  <a:noFill/>
                </a:ln>
                <a:solidFill>
                  <a:srgbClr val="507874"/>
                </a:solidFill>
                <a:effectLst/>
                <a:latin typeface="Arial Unicode MS" panose="020B0604020202020204" charset="-122"/>
                <a:ea typeface="JetBrains Mono"/>
              </a:rPr>
              <a:t>CustomWidget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BB529"/>
                </a:solidFill>
                <a:effectLst/>
                <a:latin typeface="Arial Unicode MS" panose="020B0604020202020204" charset="-122"/>
                <a:ea typeface="JetBrains Mono"/>
              </a:rPr>
              <a:t>@BuilderParam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child</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=&gt;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build</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Courier New" panose="02070309020205020404" pitchFamily="49" charset="0"/>
                <a:ea typeface="JetBrains Mono"/>
                <a:cs typeface="Courier New" panose="02070309020205020404" pitchFamily="49" charset="0"/>
              </a:rPr>
              <a:t>原始子组件</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1"</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child</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在这里插入额外的子组件</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Courier New" panose="02070309020205020404" pitchFamily="49" charset="0"/>
                <a:ea typeface="JetBrains Mono"/>
                <a:cs typeface="Courier New" panose="02070309020205020404" pitchFamily="49" charset="0"/>
              </a:rPr>
              <a:t>原始子组件</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2"</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child</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在这里插入额外的子组件</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p>
        </p:txBody>
      </p:sp>
      <p:sp>
        <p:nvSpPr>
          <p:cNvPr id="4" name="文本框 3"/>
          <p:cNvSpPr txBox="1"/>
          <p:nvPr/>
        </p:nvSpPr>
        <p:spPr>
          <a:xfrm>
            <a:off x="1462202" y="1056339"/>
            <a:ext cx="9529548" cy="461665"/>
          </a:xfrm>
          <a:prstGeom prst="rect">
            <a:avLst/>
          </a:prstGeom>
          <a:noFill/>
        </p:spPr>
        <p:txBody>
          <a:bodyPr wrap="square">
            <a:spAutoFit/>
          </a:bodyPr>
          <a:lstStyle/>
          <a:p>
            <a:r>
              <a:rPr lang="en-US" altLang="zh-CN" dirty="0" err="1"/>
              <a:t>CustomWidget</a:t>
            </a:r>
            <a:r>
              <a:rPr lang="en-US" altLang="zh-CN" dirty="0"/>
              <a:t> </a:t>
            </a:r>
            <a:r>
              <a:rPr lang="zh-CN" altLang="en-US" dirty="0"/>
              <a:t>组件添加完占位后，就可以直接给其添加子组件了</a:t>
            </a:r>
          </a:p>
        </p:txBody>
      </p:sp>
      <p:sp>
        <p:nvSpPr>
          <p:cNvPr id="7" name="Rectangle 1"/>
          <p:cNvSpPr>
            <a:spLocks noChangeArrowheads="1"/>
          </p:cNvSpPr>
          <p:nvPr/>
        </p:nvSpPr>
        <p:spPr bwMode="auto">
          <a:xfrm>
            <a:off x="1079595" y="1740563"/>
            <a:ext cx="4295007" cy="480131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1" i="0" u="none" strike="noStrike" cap="none" normalizeH="0" baseline="0">
                <a:ln>
                  <a:noFill/>
                </a:ln>
                <a:solidFill>
                  <a:srgbClr val="E2DA90"/>
                </a:solidFill>
                <a:effectLst/>
                <a:latin typeface="Arial Unicode MS" panose="020B0604020202020204" charset="-122"/>
                <a:ea typeface="JetBrains Mono"/>
              </a:rPr>
              <a:t>import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CustomWidget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from </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"../common/CustomWidget"</a:t>
            </a:r>
            <a:br>
              <a:rPr kumimoji="0" lang="zh-CN" altLang="zh-CN" sz="1700" b="0" i="0" u="none" strike="noStrike" cap="none" normalizeH="0" baseline="0">
                <a:ln>
                  <a:noFill/>
                </a:ln>
                <a:solidFill>
                  <a:srgbClr val="AA7DFC"/>
                </a:solidFill>
                <a:effectLst/>
                <a:latin typeface="Arial Unicode MS" panose="020B0604020202020204" charset="-122"/>
                <a:ea typeface="JetBrains Mono"/>
              </a:rPr>
            </a:br>
            <a:r>
              <a:rPr kumimoji="0" lang="zh-CN" altLang="zh-CN" sz="1700" b="0" i="0" u="none" strike="noStrike" cap="none" normalizeH="0" baseline="0">
                <a:ln>
                  <a:noFill/>
                </a:ln>
                <a:solidFill>
                  <a:srgbClr val="BBB529"/>
                </a:solidFill>
                <a:effectLst/>
                <a:latin typeface="Arial Unicode MS" panose="020B0604020202020204" charset="-122"/>
                <a:ea typeface="JetBrains Mono"/>
              </a:rPr>
              <a:t>@Entry @Component </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struct </a:t>
            </a:r>
            <a:r>
              <a:rPr kumimoji="0" lang="zh-CN" altLang="zh-CN" sz="1700" b="0" i="0" u="none" strike="noStrike" cap="none" normalizeH="0" baseline="0">
                <a:ln>
                  <a:noFill/>
                </a:ln>
                <a:solidFill>
                  <a:srgbClr val="507874"/>
                </a:solidFill>
                <a:effectLst/>
                <a:latin typeface="Arial Unicode MS" panose="020B0604020202020204" charset="-122"/>
                <a:ea typeface="JetBrains Mono"/>
              </a:rPr>
              <a:t>CustomWidgetTest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build</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CustomWidget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使用</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CustomWidget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组件并给它添加了两个子组件</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Text</a:t>
            </a:r>
            <a:br>
              <a:rPr kumimoji="0" lang="zh-CN" altLang="zh-CN" sz="1700" b="0" i="0" u="none" strike="noStrike" cap="none" normalizeH="0" baseline="0">
                <a:ln>
                  <a:noFill/>
                </a:ln>
                <a:solidFill>
                  <a:srgbClr val="808080"/>
                </a:solidFill>
                <a:effectLst/>
                <a:latin typeface="Arial Unicode MS" panose="020B0604020202020204" charset="-122"/>
                <a:ea typeface="JetBrains Mono"/>
              </a:rPr>
            </a:b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添加子组件</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aaa"</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添加子组件</a:t>
            </a:r>
            <a:b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Pink</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添加子组件</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bbb"</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添加子组件</a:t>
            </a:r>
            <a:b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Pink</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10" name="图片 9"/>
          <p:cNvPicPr>
            <a:picLocks noChangeAspect="1"/>
          </p:cNvPicPr>
          <p:nvPr/>
        </p:nvPicPr>
        <p:blipFill>
          <a:blip r:embed="rId3"/>
          <a:stretch>
            <a:fillRect/>
          </a:stretch>
        </p:blipFill>
        <p:spPr>
          <a:xfrm>
            <a:off x="5596513" y="2123026"/>
            <a:ext cx="6419048" cy="266666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630420" y="2527366"/>
            <a:ext cx="11833745" cy="186372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使用自定义组件和渲染组件</a:t>
            </a:r>
            <a:endParaRPr lang="en-US" altLang="zh-CN"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a:p>
            <a:pPr algn="ctr">
              <a:lnSpc>
                <a:spcPct val="120000"/>
              </a:lnSpc>
            </a:pPr>
            <a:r>
              <a:rPr lang="zh-CN" altLang="en-US" sz="4800" b="1">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开发设置页</a:t>
            </a:r>
            <a:endParaRPr lang="en-US" altLang="zh-CN" sz="4800" b="1" dirty="0">
              <a:solidFill>
                <a:srgbClr val="1D41D5"/>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9" name="Freeform 359"/>
          <p:cNvSpPr/>
          <p:nvPr/>
        </p:nvSpPr>
        <p:spPr>
          <a:xfrm>
            <a:off x="410220" y="3580974"/>
            <a:ext cx="1086104" cy="801668"/>
          </a:xfrm>
          <a:custGeom>
            <a:avLst/>
            <a:gdLst/>
            <a:ahLst/>
            <a:cxnLst>
              <a:cxn ang="0">
                <a:pos x="wd2" y="hd2"/>
              </a:cxn>
              <a:cxn ang="5400000">
                <a:pos x="wd2" y="hd2"/>
              </a:cxn>
              <a:cxn ang="10800000">
                <a:pos x="wd2" y="hd2"/>
              </a:cxn>
              <a:cxn ang="16200000">
                <a:pos x="wd2" y="hd2"/>
              </a:cxn>
            </a:cxnLst>
            <a:rect l="0" t="0" r="r" b="b"/>
            <a:pathLst>
              <a:path w="21600" h="21600" extrusionOk="0">
                <a:moveTo>
                  <a:pt x="15632" y="21600"/>
                </a:moveTo>
                <a:cubicBezTo>
                  <a:pt x="5258" y="21600"/>
                  <a:pt x="5258" y="21600"/>
                  <a:pt x="5258" y="21600"/>
                </a:cubicBezTo>
                <a:cubicBezTo>
                  <a:pt x="3837" y="21600"/>
                  <a:pt x="2558" y="20815"/>
                  <a:pt x="1563" y="19440"/>
                </a:cubicBezTo>
                <a:cubicBezTo>
                  <a:pt x="568" y="18065"/>
                  <a:pt x="0" y="16102"/>
                  <a:pt x="0" y="14138"/>
                </a:cubicBezTo>
                <a:cubicBezTo>
                  <a:pt x="0" y="11782"/>
                  <a:pt x="853" y="9425"/>
                  <a:pt x="2274" y="8051"/>
                </a:cubicBezTo>
                <a:cubicBezTo>
                  <a:pt x="2274" y="8051"/>
                  <a:pt x="2274" y="7855"/>
                  <a:pt x="2274" y="7855"/>
                </a:cubicBezTo>
                <a:cubicBezTo>
                  <a:pt x="2274" y="4713"/>
                  <a:pt x="4121" y="2356"/>
                  <a:pt x="6253" y="2356"/>
                </a:cubicBezTo>
                <a:cubicBezTo>
                  <a:pt x="6821" y="2356"/>
                  <a:pt x="7389" y="2356"/>
                  <a:pt x="7816" y="2749"/>
                </a:cubicBezTo>
                <a:cubicBezTo>
                  <a:pt x="8953" y="982"/>
                  <a:pt x="10658" y="0"/>
                  <a:pt x="12363" y="0"/>
                </a:cubicBezTo>
                <a:cubicBezTo>
                  <a:pt x="13784" y="0"/>
                  <a:pt x="15205" y="589"/>
                  <a:pt x="16342" y="1767"/>
                </a:cubicBezTo>
                <a:cubicBezTo>
                  <a:pt x="17195" y="2749"/>
                  <a:pt x="18047" y="4124"/>
                  <a:pt x="18474" y="5695"/>
                </a:cubicBezTo>
                <a:cubicBezTo>
                  <a:pt x="20321" y="7265"/>
                  <a:pt x="21600" y="10015"/>
                  <a:pt x="21600" y="13156"/>
                </a:cubicBezTo>
                <a:cubicBezTo>
                  <a:pt x="21600" y="15316"/>
                  <a:pt x="20889" y="17476"/>
                  <a:pt x="19895" y="19047"/>
                </a:cubicBezTo>
                <a:cubicBezTo>
                  <a:pt x="18758" y="20618"/>
                  <a:pt x="17195" y="21600"/>
                  <a:pt x="15632" y="21600"/>
                </a:cubicBez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0" name="组合 4563"/>
          <p:cNvGrpSpPr/>
          <p:nvPr/>
        </p:nvGrpSpPr>
        <p:grpSpPr>
          <a:xfrm>
            <a:off x="2135282" y="5204567"/>
            <a:ext cx="1077638" cy="778812"/>
            <a:chOff x="164400" y="439344"/>
            <a:chExt cx="1425746" cy="986402"/>
          </a:xfrm>
        </p:grpSpPr>
        <p:sp>
          <p:nvSpPr>
            <p:cNvPr id="11" name="Freeform 4387"/>
            <p:cNvSpPr/>
            <p:nvPr>
              <p:custDataLst>
                <p:tags r:id="rId31"/>
              </p:custDataLst>
            </p:nvPr>
          </p:nvSpPr>
          <p:spPr>
            <a:xfrm>
              <a:off x="493200" y="547054"/>
              <a:ext cx="1096946" cy="878692"/>
            </a:xfrm>
            <a:custGeom>
              <a:avLst/>
              <a:gdLst/>
              <a:ahLst/>
              <a:cxnLst>
                <a:cxn ang="0">
                  <a:pos x="wd2" y="hd2"/>
                </a:cxn>
                <a:cxn ang="5400000">
                  <a:pos x="wd2" y="hd2"/>
                </a:cxn>
                <a:cxn ang="10800000">
                  <a:pos x="wd2" y="hd2"/>
                </a:cxn>
                <a:cxn ang="16200000">
                  <a:pos x="wd2" y="hd2"/>
                </a:cxn>
              </a:cxnLst>
              <a:rect l="0" t="0" r="r" b="b"/>
              <a:pathLst>
                <a:path w="21600" h="21600" extrusionOk="0">
                  <a:moveTo>
                    <a:pt x="6480" y="0"/>
                  </a:moveTo>
                  <a:cubicBezTo>
                    <a:pt x="15120" y="0"/>
                    <a:pt x="15120" y="0"/>
                    <a:pt x="15120" y="0"/>
                  </a:cubicBezTo>
                  <a:cubicBezTo>
                    <a:pt x="18697" y="0"/>
                    <a:pt x="21600" y="3628"/>
                    <a:pt x="21600" y="8100"/>
                  </a:cubicBezTo>
                  <a:cubicBezTo>
                    <a:pt x="21600" y="12572"/>
                    <a:pt x="18697" y="16200"/>
                    <a:pt x="15120" y="16200"/>
                  </a:cubicBezTo>
                  <a:cubicBezTo>
                    <a:pt x="15120" y="21600"/>
                    <a:pt x="15120" y="21600"/>
                    <a:pt x="15120" y="21600"/>
                  </a:cubicBezTo>
                  <a:cubicBezTo>
                    <a:pt x="10800" y="16200"/>
                    <a:pt x="10800" y="16200"/>
                    <a:pt x="10800" y="16200"/>
                  </a:cubicBezTo>
                  <a:cubicBezTo>
                    <a:pt x="6480" y="16200"/>
                    <a:pt x="6480" y="16200"/>
                    <a:pt x="6480" y="16200"/>
                  </a:cubicBezTo>
                  <a:cubicBezTo>
                    <a:pt x="2902" y="16200"/>
                    <a:pt x="0" y="12572"/>
                    <a:pt x="0" y="8100"/>
                  </a:cubicBezTo>
                  <a:cubicBezTo>
                    <a:pt x="0" y="3628"/>
                    <a:pt x="2902" y="0"/>
                    <a:pt x="6480" y="0"/>
                  </a:cubicBezTo>
                </a:path>
              </a:pathLst>
            </a:custGeom>
            <a:solidFill>
              <a:srgbClr val="566CD3"/>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Freeform 4388"/>
            <p:cNvSpPr/>
            <p:nvPr>
              <p:custDataLst>
                <p:tags r:id="rId32"/>
              </p:custDataLst>
            </p:nvPr>
          </p:nvSpPr>
          <p:spPr>
            <a:xfrm>
              <a:off x="164400" y="439344"/>
              <a:ext cx="1096946" cy="875858"/>
            </a:xfrm>
            <a:custGeom>
              <a:avLst/>
              <a:gdLst/>
              <a:ahLst/>
              <a:cxnLst>
                <a:cxn ang="0">
                  <a:pos x="wd2" y="hd2"/>
                </a:cxn>
                <a:cxn ang="5400000">
                  <a:pos x="wd2" y="hd2"/>
                </a:cxn>
                <a:cxn ang="10800000">
                  <a:pos x="wd2" y="hd2"/>
                </a:cxn>
                <a:cxn ang="16200000">
                  <a:pos x="wd2" y="hd2"/>
                </a:cxn>
              </a:cxnLst>
              <a:rect l="0" t="0" r="r" b="b"/>
              <a:pathLst>
                <a:path w="21600" h="21600" extrusionOk="0">
                  <a:moveTo>
                    <a:pt x="15120" y="0"/>
                  </a:moveTo>
                  <a:cubicBezTo>
                    <a:pt x="6480" y="0"/>
                    <a:pt x="6480" y="0"/>
                    <a:pt x="6480" y="0"/>
                  </a:cubicBezTo>
                  <a:cubicBezTo>
                    <a:pt x="2902" y="0"/>
                    <a:pt x="0" y="3628"/>
                    <a:pt x="0" y="8100"/>
                  </a:cubicBezTo>
                  <a:cubicBezTo>
                    <a:pt x="0" y="12572"/>
                    <a:pt x="2902" y="16200"/>
                    <a:pt x="6480" y="16200"/>
                  </a:cubicBezTo>
                  <a:cubicBezTo>
                    <a:pt x="6480" y="21600"/>
                    <a:pt x="6480" y="21600"/>
                    <a:pt x="6480" y="21600"/>
                  </a:cubicBezTo>
                  <a:cubicBezTo>
                    <a:pt x="10800" y="16200"/>
                    <a:pt x="10800" y="16200"/>
                    <a:pt x="10800" y="16200"/>
                  </a:cubicBezTo>
                  <a:cubicBezTo>
                    <a:pt x="15120" y="16200"/>
                    <a:pt x="15120" y="16200"/>
                    <a:pt x="15120" y="16200"/>
                  </a:cubicBezTo>
                  <a:cubicBezTo>
                    <a:pt x="18697" y="16200"/>
                    <a:pt x="21600" y="12572"/>
                    <a:pt x="21600" y="8100"/>
                  </a:cubicBezTo>
                  <a:cubicBezTo>
                    <a:pt x="21600" y="3628"/>
                    <a:pt x="18697" y="0"/>
                    <a:pt x="15120" y="0"/>
                  </a:cubicBezTo>
                </a:path>
              </a:pathLst>
            </a:custGeom>
            <a:solidFill>
              <a:srgbClr val="B9B8F1"/>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Freeform 4389"/>
            <p:cNvSpPr/>
            <p:nvPr>
              <p:custDataLst>
                <p:tags r:id="rId33"/>
              </p:custDataLst>
            </p:nvPr>
          </p:nvSpPr>
          <p:spPr>
            <a:xfrm>
              <a:off x="651931" y="549890"/>
              <a:ext cx="637760" cy="626423"/>
            </a:xfrm>
            <a:custGeom>
              <a:avLst/>
              <a:gdLst/>
              <a:ahLst/>
              <a:cxnLst>
                <a:cxn ang="0">
                  <a:pos x="wd2" y="hd2"/>
                </a:cxn>
                <a:cxn ang="5400000">
                  <a:pos x="wd2" y="hd2"/>
                </a:cxn>
                <a:cxn ang="10800000">
                  <a:pos x="wd2" y="hd2"/>
                </a:cxn>
                <a:cxn ang="16200000">
                  <a:pos x="wd2" y="hd2"/>
                </a:cxn>
              </a:cxnLst>
              <a:rect l="0" t="0" r="r" b="b"/>
              <a:pathLst>
                <a:path w="21600" h="21600" extrusionOk="0">
                  <a:moveTo>
                    <a:pt x="17884" y="0"/>
                  </a:moveTo>
                  <a:cubicBezTo>
                    <a:pt x="19568" y="1948"/>
                    <a:pt x="20613" y="4485"/>
                    <a:pt x="20671" y="7318"/>
                  </a:cubicBezTo>
                  <a:cubicBezTo>
                    <a:pt x="20671" y="7318"/>
                    <a:pt x="20671" y="7318"/>
                    <a:pt x="20671" y="7318"/>
                  </a:cubicBezTo>
                  <a:cubicBezTo>
                    <a:pt x="20671" y="7318"/>
                    <a:pt x="20671" y="7318"/>
                    <a:pt x="20671" y="7377"/>
                  </a:cubicBezTo>
                  <a:cubicBezTo>
                    <a:pt x="20671" y="7377"/>
                    <a:pt x="20671" y="7377"/>
                    <a:pt x="20671" y="7377"/>
                  </a:cubicBezTo>
                  <a:cubicBezTo>
                    <a:pt x="20671" y="7377"/>
                    <a:pt x="20671" y="7377"/>
                    <a:pt x="20671" y="7377"/>
                  </a:cubicBezTo>
                  <a:cubicBezTo>
                    <a:pt x="20671" y="7377"/>
                    <a:pt x="20671" y="7377"/>
                    <a:pt x="20671" y="7377"/>
                  </a:cubicBezTo>
                  <a:cubicBezTo>
                    <a:pt x="20671" y="7377"/>
                    <a:pt x="20671" y="7436"/>
                    <a:pt x="20671" y="7436"/>
                  </a:cubicBezTo>
                  <a:cubicBezTo>
                    <a:pt x="20671" y="7436"/>
                    <a:pt x="20671" y="7436"/>
                    <a:pt x="20671" y="7436"/>
                  </a:cubicBezTo>
                  <a:cubicBezTo>
                    <a:pt x="20671" y="7436"/>
                    <a:pt x="20671" y="7436"/>
                    <a:pt x="20671" y="7436"/>
                  </a:cubicBezTo>
                  <a:cubicBezTo>
                    <a:pt x="20671" y="7436"/>
                    <a:pt x="20671" y="7436"/>
                    <a:pt x="20671" y="7436"/>
                  </a:cubicBezTo>
                  <a:cubicBezTo>
                    <a:pt x="20671" y="7495"/>
                    <a:pt x="20671" y="7495"/>
                    <a:pt x="20671" y="7495"/>
                  </a:cubicBezTo>
                  <a:cubicBezTo>
                    <a:pt x="20671" y="7495"/>
                    <a:pt x="20671" y="7495"/>
                    <a:pt x="20671" y="7495"/>
                  </a:cubicBezTo>
                  <a:cubicBezTo>
                    <a:pt x="20671" y="7495"/>
                    <a:pt x="20671" y="7495"/>
                    <a:pt x="20671" y="7495"/>
                  </a:cubicBezTo>
                  <a:cubicBezTo>
                    <a:pt x="20671" y="7495"/>
                    <a:pt x="20671" y="7495"/>
                    <a:pt x="20671" y="7495"/>
                  </a:cubicBezTo>
                  <a:cubicBezTo>
                    <a:pt x="20671" y="13751"/>
                    <a:pt x="15677" y="18826"/>
                    <a:pt x="9523" y="18826"/>
                  </a:cubicBezTo>
                  <a:cubicBezTo>
                    <a:pt x="2090" y="18826"/>
                    <a:pt x="2090" y="18826"/>
                    <a:pt x="2090" y="18826"/>
                  </a:cubicBezTo>
                  <a:cubicBezTo>
                    <a:pt x="0" y="20951"/>
                    <a:pt x="0" y="20951"/>
                    <a:pt x="0" y="20951"/>
                  </a:cubicBezTo>
                  <a:cubicBezTo>
                    <a:pt x="406" y="21187"/>
                    <a:pt x="813" y="21423"/>
                    <a:pt x="1219" y="21600"/>
                  </a:cubicBezTo>
                  <a:cubicBezTo>
                    <a:pt x="3019" y="19770"/>
                    <a:pt x="3019" y="19770"/>
                    <a:pt x="3019" y="19770"/>
                  </a:cubicBezTo>
                  <a:cubicBezTo>
                    <a:pt x="10452" y="19770"/>
                    <a:pt x="10452" y="19770"/>
                    <a:pt x="10452" y="19770"/>
                  </a:cubicBezTo>
                  <a:cubicBezTo>
                    <a:pt x="16606" y="19770"/>
                    <a:pt x="21600" y="14695"/>
                    <a:pt x="21600" y="8439"/>
                  </a:cubicBezTo>
                  <a:cubicBezTo>
                    <a:pt x="21600" y="5075"/>
                    <a:pt x="20148" y="2066"/>
                    <a:pt x="17884" y="0"/>
                  </a:cubicBezTo>
                </a:path>
              </a:pathLst>
            </a:custGeom>
            <a:solidFill>
              <a:srgbClr val="A5A3A5"/>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 name="Freeform 4390"/>
            <p:cNvSpPr/>
            <p:nvPr>
              <p:custDataLst>
                <p:tags r:id="rId34"/>
              </p:custDataLst>
            </p:nvPr>
          </p:nvSpPr>
          <p:spPr>
            <a:xfrm>
              <a:off x="714290" y="547054"/>
              <a:ext cx="547056" cy="549892"/>
            </a:xfrm>
            <a:custGeom>
              <a:avLst/>
              <a:gdLst/>
              <a:ahLst/>
              <a:cxnLst>
                <a:cxn ang="0">
                  <a:pos x="wd2" y="hd2"/>
                </a:cxn>
                <a:cxn ang="5400000">
                  <a:pos x="wd2" y="hd2"/>
                </a:cxn>
                <a:cxn ang="10800000">
                  <a:pos x="wd2" y="hd2"/>
                </a:cxn>
                <a:cxn ang="16200000">
                  <a:pos x="wd2" y="hd2"/>
                </a:cxn>
              </a:cxnLst>
              <a:rect l="0" t="0" r="r" b="b"/>
              <a:pathLst>
                <a:path w="21600" h="21600" extrusionOk="0">
                  <a:moveTo>
                    <a:pt x="21600" y="8640"/>
                  </a:moveTo>
                  <a:cubicBezTo>
                    <a:pt x="21600" y="15795"/>
                    <a:pt x="15795" y="21600"/>
                    <a:pt x="8640" y="21600"/>
                  </a:cubicBezTo>
                  <a:cubicBezTo>
                    <a:pt x="0" y="21600"/>
                    <a:pt x="0" y="21600"/>
                    <a:pt x="0" y="21600"/>
                  </a:cubicBezTo>
                  <a:cubicBezTo>
                    <a:pt x="8640" y="21600"/>
                    <a:pt x="8640" y="21600"/>
                    <a:pt x="8640" y="21600"/>
                  </a:cubicBezTo>
                  <a:cubicBezTo>
                    <a:pt x="15795" y="21600"/>
                    <a:pt x="21600" y="15795"/>
                    <a:pt x="21600" y="8640"/>
                  </a:cubicBezTo>
                  <a:cubicBezTo>
                    <a:pt x="21600" y="8640"/>
                    <a:pt x="21600" y="8640"/>
                    <a:pt x="21600" y="8640"/>
                  </a:cubicBezTo>
                  <a:moveTo>
                    <a:pt x="21600" y="8572"/>
                  </a:moveTo>
                  <a:cubicBezTo>
                    <a:pt x="21600" y="8640"/>
                    <a:pt x="21600" y="8640"/>
                    <a:pt x="21600" y="8640"/>
                  </a:cubicBezTo>
                  <a:cubicBezTo>
                    <a:pt x="21600" y="8640"/>
                    <a:pt x="21600" y="8640"/>
                    <a:pt x="21600" y="8572"/>
                  </a:cubicBezTo>
                  <a:moveTo>
                    <a:pt x="21600" y="8572"/>
                  </a:moveTo>
                  <a:cubicBezTo>
                    <a:pt x="21600" y="8572"/>
                    <a:pt x="21600" y="8572"/>
                    <a:pt x="21600" y="8572"/>
                  </a:cubicBezTo>
                  <a:cubicBezTo>
                    <a:pt x="21600" y="8572"/>
                    <a:pt x="21600" y="8572"/>
                    <a:pt x="21600" y="8572"/>
                  </a:cubicBezTo>
                  <a:moveTo>
                    <a:pt x="21600" y="8505"/>
                  </a:moveTo>
                  <a:cubicBezTo>
                    <a:pt x="21600" y="8505"/>
                    <a:pt x="21600" y="8572"/>
                    <a:pt x="21600" y="8572"/>
                  </a:cubicBezTo>
                  <a:cubicBezTo>
                    <a:pt x="21600" y="8572"/>
                    <a:pt x="21600" y="8505"/>
                    <a:pt x="21600" y="8505"/>
                  </a:cubicBezTo>
                  <a:moveTo>
                    <a:pt x="21600" y="8505"/>
                  </a:moveTo>
                  <a:cubicBezTo>
                    <a:pt x="21600" y="8505"/>
                    <a:pt x="21600" y="8505"/>
                    <a:pt x="21600" y="8505"/>
                  </a:cubicBezTo>
                  <a:cubicBezTo>
                    <a:pt x="21600" y="8505"/>
                    <a:pt x="21600" y="8505"/>
                    <a:pt x="21600" y="8505"/>
                  </a:cubicBezTo>
                  <a:moveTo>
                    <a:pt x="21600" y="8438"/>
                  </a:moveTo>
                  <a:cubicBezTo>
                    <a:pt x="21600" y="8438"/>
                    <a:pt x="21600" y="8438"/>
                    <a:pt x="21600" y="8505"/>
                  </a:cubicBezTo>
                  <a:cubicBezTo>
                    <a:pt x="21600" y="8438"/>
                    <a:pt x="21600" y="8438"/>
                    <a:pt x="21600" y="8438"/>
                  </a:cubicBezTo>
                  <a:moveTo>
                    <a:pt x="18360" y="0"/>
                  </a:moveTo>
                  <a:cubicBezTo>
                    <a:pt x="20317" y="2295"/>
                    <a:pt x="21533" y="5197"/>
                    <a:pt x="21600" y="8438"/>
                  </a:cubicBezTo>
                  <a:cubicBezTo>
                    <a:pt x="21533" y="5197"/>
                    <a:pt x="20317" y="2295"/>
                    <a:pt x="18360" y="67"/>
                  </a:cubicBezTo>
                  <a:cubicBezTo>
                    <a:pt x="18360" y="67"/>
                    <a:pt x="18360" y="67"/>
                    <a:pt x="18360" y="0"/>
                  </a:cubicBezTo>
                </a:path>
              </a:pathLst>
            </a:custGeom>
            <a:solidFill>
              <a:srgbClr val="D6D5D6"/>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5" name="Freeform 4391"/>
            <p:cNvGrpSpPr/>
            <p:nvPr/>
          </p:nvGrpSpPr>
          <p:grpSpPr>
            <a:xfrm>
              <a:off x="1165027" y="547054"/>
              <a:ext cx="25401" cy="1"/>
              <a:chOff x="0" y="0"/>
              <a:chExt cx="25400" cy="0"/>
            </a:xfrm>
          </p:grpSpPr>
          <p:sp>
            <p:nvSpPr>
              <p:cNvPr id="16" name="线条"/>
              <p:cNvSpPr/>
              <p:nvPr>
                <p:custDataLst>
                  <p:tags r:id="rId35"/>
                </p:custDataLst>
              </p:nvPr>
            </p:nvSpPr>
            <p:spPr>
              <a:xfrm>
                <a:off x="0" y="0"/>
                <a:ext cx="25400" cy="0"/>
              </a:xfrm>
              <a:prstGeom prst="line">
                <a:avLst/>
              </a:prstGeom>
              <a:no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 name="线条"/>
              <p:cNvSpPr/>
              <p:nvPr>
                <p:custDataLst>
                  <p:tags r:id="rId36"/>
                </p:custDataLst>
              </p:nvPr>
            </p:nvSpPr>
            <p:spPr>
              <a:xfrm flipH="1" flipV="1">
                <a:off x="0" y="-1"/>
                <a:ext cx="25400" cy="1"/>
              </a:xfrm>
              <a:prstGeom prst="line">
                <a:avLst/>
              </a:prstGeom>
              <a:no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grpSp>
        <p:nvGrpSpPr>
          <p:cNvPr id="18" name="组合 17"/>
          <p:cNvGrpSpPr/>
          <p:nvPr/>
        </p:nvGrpSpPr>
        <p:grpSpPr>
          <a:xfrm>
            <a:off x="8193058" y="4270944"/>
            <a:ext cx="3118633" cy="2871445"/>
            <a:chOff x="7198886" y="1925853"/>
            <a:chExt cx="3667225" cy="3232489"/>
          </a:xfrm>
        </p:grpSpPr>
        <p:grpSp>
          <p:nvGrpSpPr>
            <p:cNvPr id="19" name="组合 18"/>
            <p:cNvGrpSpPr/>
            <p:nvPr/>
          </p:nvGrpSpPr>
          <p:grpSpPr>
            <a:xfrm>
              <a:off x="7198886" y="1925853"/>
              <a:ext cx="3667225" cy="3232489"/>
              <a:chOff x="6944627" y="-461747"/>
              <a:chExt cx="3667225" cy="3232489"/>
            </a:xfrm>
          </p:grpSpPr>
          <p:sp>
            <p:nvSpPr>
              <p:cNvPr id="39" name="梯形 38"/>
              <p:cNvSpPr/>
              <p:nvPr>
                <p:custDataLst>
                  <p:tags r:id="rId26"/>
                </p:custDataLst>
              </p:nvPr>
            </p:nvSpPr>
            <p:spPr>
              <a:xfrm>
                <a:off x="8152597" y="2026296"/>
                <a:ext cx="1251284" cy="668690"/>
              </a:xfrm>
              <a:prstGeom prst="trapezoid">
                <a:avLst>
                  <a:gd name="adj" fmla="val 278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矩形: 圆顶角 39"/>
              <p:cNvSpPr/>
              <p:nvPr>
                <p:custDataLst>
                  <p:tags r:id="rId27"/>
                </p:custDataLst>
              </p:nvPr>
            </p:nvSpPr>
            <p:spPr>
              <a:xfrm>
                <a:off x="6944627" y="-461747"/>
                <a:ext cx="3667225" cy="2357924"/>
              </a:xfrm>
              <a:prstGeom prst="round2SameRect">
                <a:avLst>
                  <a:gd name="adj1" fmla="val 4421"/>
                  <a:gd name="adj2" fmla="val 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1" name="矩形: 圆角 40"/>
              <p:cNvSpPr/>
              <p:nvPr>
                <p:custDataLst>
                  <p:tags r:id="rId28"/>
                </p:custDataLst>
              </p:nvPr>
            </p:nvSpPr>
            <p:spPr>
              <a:xfrm>
                <a:off x="7034655" y="-339212"/>
                <a:ext cx="3489159" cy="2143344"/>
              </a:xfrm>
              <a:prstGeom prst="roundRect">
                <a:avLst>
                  <a:gd name="adj" fmla="val 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矩形: 圆顶角 41"/>
              <p:cNvSpPr/>
              <p:nvPr>
                <p:custDataLst>
                  <p:tags r:id="rId29"/>
                </p:custDataLst>
              </p:nvPr>
            </p:nvSpPr>
            <p:spPr>
              <a:xfrm flipV="1">
                <a:off x="6944627" y="1896177"/>
                <a:ext cx="3667225" cy="247167"/>
              </a:xfrm>
              <a:prstGeom prst="round2SameRect">
                <a:avLst>
                  <a:gd name="adj1" fmla="val 22505"/>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3" name="矩形: 圆顶角 42"/>
              <p:cNvSpPr/>
              <p:nvPr>
                <p:custDataLst>
                  <p:tags r:id="rId30"/>
                </p:custDataLst>
              </p:nvPr>
            </p:nvSpPr>
            <p:spPr>
              <a:xfrm>
                <a:off x="7883312" y="2619230"/>
                <a:ext cx="1789854" cy="151512"/>
              </a:xfrm>
              <a:prstGeom prst="round2SameRect">
                <a:avLst>
                  <a:gd name="adj1" fmla="val 50000"/>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0" name="组合 19"/>
            <p:cNvGrpSpPr/>
            <p:nvPr/>
          </p:nvGrpSpPr>
          <p:grpSpPr>
            <a:xfrm>
              <a:off x="9399108" y="2305903"/>
              <a:ext cx="1167319" cy="1610083"/>
              <a:chOff x="1954302" y="3582658"/>
              <a:chExt cx="1762124" cy="2248484"/>
            </a:xfrm>
          </p:grpSpPr>
          <p:sp>
            <p:nvSpPr>
              <p:cNvPr id="32" name="矩形 31"/>
              <p:cNvSpPr/>
              <p:nvPr>
                <p:custDataLst>
                  <p:tags r:id="rId20"/>
                </p:custDataLst>
              </p:nvPr>
            </p:nvSpPr>
            <p:spPr>
              <a:xfrm>
                <a:off x="1954302" y="5785423"/>
                <a:ext cx="1762124" cy="45719"/>
              </a:xfrm>
              <a:prstGeom prst="rect">
                <a:avLst/>
              </a:prstGeom>
              <a:solidFill>
                <a:srgbClr val="FF8A31"/>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33" name="组合 32"/>
              <p:cNvGrpSpPr/>
              <p:nvPr/>
            </p:nvGrpSpPr>
            <p:grpSpPr>
              <a:xfrm>
                <a:off x="2149249" y="4203097"/>
                <a:ext cx="1319349" cy="1540927"/>
                <a:chOff x="2234438" y="3860441"/>
                <a:chExt cx="1413592" cy="1989653"/>
              </a:xfrm>
            </p:grpSpPr>
            <p:sp>
              <p:nvSpPr>
                <p:cNvPr id="35" name="矩形 34"/>
                <p:cNvSpPr/>
                <p:nvPr>
                  <p:custDataLst>
                    <p:tags r:id="rId22"/>
                  </p:custDataLst>
                </p:nvPr>
              </p:nvSpPr>
              <p:spPr>
                <a:xfrm>
                  <a:off x="2234438" y="4346829"/>
                  <a:ext cx="249509" cy="1503265"/>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矩形 35"/>
                <p:cNvSpPr/>
                <p:nvPr>
                  <p:custDataLst>
                    <p:tags r:id="rId23"/>
                  </p:custDataLst>
                </p:nvPr>
              </p:nvSpPr>
              <p:spPr>
                <a:xfrm>
                  <a:off x="2628779" y="4008806"/>
                  <a:ext cx="249509" cy="1841288"/>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矩形 36"/>
                <p:cNvSpPr/>
                <p:nvPr>
                  <p:custDataLst>
                    <p:tags r:id="rId24"/>
                  </p:custDataLst>
                </p:nvPr>
              </p:nvSpPr>
              <p:spPr>
                <a:xfrm>
                  <a:off x="3025842" y="4249315"/>
                  <a:ext cx="249509" cy="1600779"/>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8" name="矩形 37"/>
                <p:cNvSpPr/>
                <p:nvPr>
                  <p:custDataLst>
                    <p:tags r:id="rId25"/>
                  </p:custDataLst>
                </p:nvPr>
              </p:nvSpPr>
              <p:spPr>
                <a:xfrm>
                  <a:off x="3398521" y="3860441"/>
                  <a:ext cx="249509" cy="1989653"/>
                </a:xfrm>
                <a:prstGeom prst="rect">
                  <a:avLst/>
                </a:prstGeom>
                <a:solidFill>
                  <a:srgbClr val="1D41D5"/>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34" name="任意多边形: 形状 33"/>
              <p:cNvSpPr/>
              <p:nvPr>
                <p:custDataLst>
                  <p:tags r:id="rId21"/>
                </p:custDataLst>
              </p:nvPr>
            </p:nvSpPr>
            <p:spPr>
              <a:xfrm>
                <a:off x="2179460" y="3582658"/>
                <a:ext cx="1289139" cy="557765"/>
              </a:xfrm>
              <a:custGeom>
                <a:avLst/>
                <a:gdLst>
                  <a:gd name="connsiteX0" fmla="*/ 0 w 1075266"/>
                  <a:gd name="connsiteY0" fmla="*/ 474134 h 474134"/>
                  <a:gd name="connsiteX1" fmla="*/ 351366 w 1075266"/>
                  <a:gd name="connsiteY1" fmla="*/ 114300 h 474134"/>
                  <a:gd name="connsiteX2" fmla="*/ 715433 w 1075266"/>
                  <a:gd name="connsiteY2" fmla="*/ 321734 h 474134"/>
                  <a:gd name="connsiteX3" fmla="*/ 1075266 w 1075266"/>
                  <a:gd name="connsiteY3" fmla="*/ 0 h 474134"/>
                </a:gdLst>
                <a:ahLst/>
                <a:cxnLst>
                  <a:cxn ang="0">
                    <a:pos x="connsiteX0" y="connsiteY0"/>
                  </a:cxn>
                  <a:cxn ang="0">
                    <a:pos x="connsiteX1" y="connsiteY1"/>
                  </a:cxn>
                  <a:cxn ang="0">
                    <a:pos x="connsiteX2" y="connsiteY2"/>
                  </a:cxn>
                  <a:cxn ang="0">
                    <a:pos x="connsiteX3" y="connsiteY3"/>
                  </a:cxn>
                </a:cxnLst>
                <a:rect l="l" t="t" r="r" b="b"/>
                <a:pathLst>
                  <a:path w="1075266" h="474134">
                    <a:moveTo>
                      <a:pt x="0" y="474134"/>
                    </a:moveTo>
                    <a:lnTo>
                      <a:pt x="351366" y="114300"/>
                    </a:lnTo>
                    <a:lnTo>
                      <a:pt x="715433" y="321734"/>
                    </a:lnTo>
                    <a:lnTo>
                      <a:pt x="1075266" y="0"/>
                    </a:lnTo>
                  </a:path>
                </a:pathLst>
              </a:custGeom>
              <a:noFill/>
              <a:ln w="50800">
                <a:solidFill>
                  <a:srgbClr val="1D41D5"/>
                </a:solidFill>
                <a:headEnd type="none"/>
                <a:tailEnd type="stealth"/>
              </a:ln>
              <a:effectLst/>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20000"/>
                  </a:lnSpc>
                </a:pPr>
                <a:endParaRPr lang="zh-CN" altLang="en-US" sz="2135">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21" name="组合 20"/>
            <p:cNvGrpSpPr/>
            <p:nvPr/>
          </p:nvGrpSpPr>
          <p:grpSpPr>
            <a:xfrm>
              <a:off x="7490345" y="2354346"/>
              <a:ext cx="1579687" cy="1578525"/>
              <a:chOff x="7490345" y="2333046"/>
              <a:chExt cx="1579687" cy="1578525"/>
            </a:xfrm>
          </p:grpSpPr>
          <p:sp>
            <p:nvSpPr>
              <p:cNvPr id="22" name="矩形 21"/>
              <p:cNvSpPr/>
              <p:nvPr>
                <p:custDataLst>
                  <p:tags r:id="rId10"/>
                </p:custDataLst>
              </p:nvPr>
            </p:nvSpPr>
            <p:spPr>
              <a:xfrm>
                <a:off x="7490346" y="2333046"/>
                <a:ext cx="964679" cy="966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3" name="矩形 22"/>
              <p:cNvSpPr/>
              <p:nvPr>
                <p:custDataLst>
                  <p:tags r:id="rId11"/>
                </p:custDataLst>
              </p:nvPr>
            </p:nvSpPr>
            <p:spPr>
              <a:xfrm>
                <a:off x="7490345" y="2559810"/>
                <a:ext cx="1535787"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4" name="矩形 23"/>
              <p:cNvSpPr/>
              <p:nvPr>
                <p:custDataLst>
                  <p:tags r:id="rId12"/>
                </p:custDataLst>
              </p:nvPr>
            </p:nvSpPr>
            <p:spPr>
              <a:xfrm>
                <a:off x="7490346" y="2726783"/>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5" name="矩形 24"/>
              <p:cNvSpPr/>
              <p:nvPr>
                <p:custDataLst>
                  <p:tags r:id="rId13"/>
                </p:custDataLst>
              </p:nvPr>
            </p:nvSpPr>
            <p:spPr>
              <a:xfrm>
                <a:off x="7490346" y="2893756"/>
                <a:ext cx="13403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6" name="矩形 25"/>
              <p:cNvSpPr/>
              <p:nvPr>
                <p:custDataLst>
                  <p:tags r:id="rId14"/>
                </p:custDataLst>
              </p:nvPr>
            </p:nvSpPr>
            <p:spPr>
              <a:xfrm>
                <a:off x="7490346" y="3060729"/>
                <a:ext cx="1103344"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矩形 26"/>
              <p:cNvSpPr/>
              <p:nvPr>
                <p:custDataLst>
                  <p:tags r:id="rId15"/>
                </p:custDataLst>
              </p:nvPr>
            </p:nvSpPr>
            <p:spPr>
              <a:xfrm>
                <a:off x="7490346" y="3227702"/>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矩形 27"/>
              <p:cNvSpPr/>
              <p:nvPr>
                <p:custDataLst>
                  <p:tags r:id="rId16"/>
                </p:custDataLst>
              </p:nvPr>
            </p:nvSpPr>
            <p:spPr>
              <a:xfrm>
                <a:off x="7490346" y="3453938"/>
                <a:ext cx="647225" cy="1178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矩形 28"/>
              <p:cNvSpPr/>
              <p:nvPr>
                <p:custDataLst>
                  <p:tags r:id="rId17"/>
                </p:custDataLst>
              </p:nvPr>
            </p:nvSpPr>
            <p:spPr>
              <a:xfrm>
                <a:off x="8317252" y="3453938"/>
                <a:ext cx="208681" cy="117845"/>
              </a:xfrm>
              <a:prstGeom prst="rect">
                <a:avLst/>
              </a:prstGeom>
              <a:solidFill>
                <a:srgbClr val="FF64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矩形 29"/>
              <p:cNvSpPr/>
              <p:nvPr>
                <p:custDataLst>
                  <p:tags r:id="rId18"/>
                </p:custDataLst>
              </p:nvPr>
            </p:nvSpPr>
            <p:spPr>
              <a:xfrm>
                <a:off x="7490346" y="3680987"/>
                <a:ext cx="1264188" cy="5851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矩形 30"/>
              <p:cNvSpPr/>
              <p:nvPr>
                <p:custDataLst>
                  <p:tags r:id="rId19"/>
                </p:custDataLst>
              </p:nvPr>
            </p:nvSpPr>
            <p:spPr>
              <a:xfrm>
                <a:off x="7490345" y="3842085"/>
                <a:ext cx="1579687" cy="69486"/>
              </a:xfrm>
              <a:prstGeom prst="rect">
                <a:avLst/>
              </a:prstGeom>
              <a:solidFill>
                <a:srgbClr val="9A9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grpSp>
        <p:nvGrpSpPr>
          <p:cNvPr id="45" name="组合 44"/>
          <p:cNvGrpSpPr/>
          <p:nvPr/>
        </p:nvGrpSpPr>
        <p:grpSpPr>
          <a:xfrm>
            <a:off x="7129513" y="4880448"/>
            <a:ext cx="1086104" cy="1934331"/>
            <a:chOff x="6734340" y="3532686"/>
            <a:chExt cx="1277118" cy="2177415"/>
          </a:xfrm>
        </p:grpSpPr>
        <p:sp>
          <p:nvSpPr>
            <p:cNvPr id="46" name="任意多边形: 形状 45"/>
            <p:cNvSpPr/>
            <p:nvPr>
              <p:custDataLst>
                <p:tags r:id="rId4"/>
              </p:custDataLst>
            </p:nvPr>
          </p:nvSpPr>
          <p:spPr>
            <a:xfrm>
              <a:off x="6734340" y="3532686"/>
              <a:ext cx="1277118" cy="2177415"/>
            </a:xfrm>
            <a:custGeom>
              <a:avLst/>
              <a:gdLst>
                <a:gd name="connsiteX0" fmla="*/ 125879 w 1277118"/>
                <a:gd name="connsiteY0" fmla="*/ 0 h 2177415"/>
                <a:gd name="connsiteX1" fmla="*/ 1148165 w 1277118"/>
                <a:gd name="connsiteY1" fmla="*/ 0 h 2177415"/>
                <a:gd name="connsiteX2" fmla="*/ 1277118 w 1277118"/>
                <a:gd name="connsiteY2" fmla="*/ 128940 h 2177415"/>
                <a:gd name="connsiteX3" fmla="*/ 1277118 w 1277118"/>
                <a:gd name="connsiteY3" fmla="*/ 175410 h 2177415"/>
                <a:gd name="connsiteX4" fmla="*/ 1277118 w 1277118"/>
                <a:gd name="connsiteY4" fmla="*/ 205986 h 2177415"/>
                <a:gd name="connsiteX5" fmla="*/ 1277118 w 1277118"/>
                <a:gd name="connsiteY5" fmla="*/ 209241 h 2177415"/>
                <a:gd name="connsiteX6" fmla="*/ 1277118 w 1277118"/>
                <a:gd name="connsiteY6" fmla="*/ 319283 h 2177415"/>
                <a:gd name="connsiteX7" fmla="*/ 1277118 w 1277118"/>
                <a:gd name="connsiteY7" fmla="*/ 1858132 h 2177415"/>
                <a:gd name="connsiteX8" fmla="*/ 1277118 w 1277118"/>
                <a:gd name="connsiteY8" fmla="*/ 1904603 h 2177415"/>
                <a:gd name="connsiteX9" fmla="*/ 1277118 w 1277118"/>
                <a:gd name="connsiteY9" fmla="*/ 1918945 h 2177415"/>
                <a:gd name="connsiteX10" fmla="*/ 1277118 w 1277118"/>
                <a:gd name="connsiteY10" fmla="*/ 1938433 h 2177415"/>
                <a:gd name="connsiteX11" fmla="*/ 1277118 w 1277118"/>
                <a:gd name="connsiteY11" fmla="*/ 2048475 h 2177415"/>
                <a:gd name="connsiteX12" fmla="*/ 1148165 w 1277118"/>
                <a:gd name="connsiteY12" fmla="*/ 2177415 h 2177415"/>
                <a:gd name="connsiteX13" fmla="*/ 125879 w 1277118"/>
                <a:gd name="connsiteY13" fmla="*/ 2177415 h 2177415"/>
                <a:gd name="connsiteX14" fmla="*/ 0 w 1277118"/>
                <a:gd name="connsiteY14" fmla="*/ 2048475 h 2177415"/>
                <a:gd name="connsiteX15" fmla="*/ 0 w 1277118"/>
                <a:gd name="connsiteY15" fmla="*/ 1920960 h 2177415"/>
                <a:gd name="connsiteX16" fmla="*/ 0 w 1277118"/>
                <a:gd name="connsiteY16" fmla="*/ 1918945 h 2177415"/>
                <a:gd name="connsiteX17" fmla="*/ 0 w 1277118"/>
                <a:gd name="connsiteY17" fmla="*/ 1858132 h 2177415"/>
                <a:gd name="connsiteX18" fmla="*/ 0 w 1277118"/>
                <a:gd name="connsiteY18" fmla="*/ 319283 h 2177415"/>
                <a:gd name="connsiteX19" fmla="*/ 0 w 1277118"/>
                <a:gd name="connsiteY19" fmla="*/ 238982 h 2177415"/>
                <a:gd name="connsiteX20" fmla="*/ 0 w 1277118"/>
                <a:gd name="connsiteY20" fmla="*/ 205986 h 2177415"/>
                <a:gd name="connsiteX21" fmla="*/ 0 w 1277118"/>
                <a:gd name="connsiteY21" fmla="*/ 191768 h 2177415"/>
                <a:gd name="connsiteX22" fmla="*/ 0 w 1277118"/>
                <a:gd name="connsiteY22" fmla="*/ 128940 h 2177415"/>
                <a:gd name="connsiteX23" fmla="*/ 125879 w 1277118"/>
                <a:gd name="connsiteY23" fmla="*/ 0 h 217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77118" h="2177415">
                  <a:moveTo>
                    <a:pt x="125879" y="0"/>
                  </a:moveTo>
                  <a:cubicBezTo>
                    <a:pt x="125879" y="0"/>
                    <a:pt x="125879" y="0"/>
                    <a:pt x="1148165" y="0"/>
                  </a:cubicBezTo>
                  <a:cubicBezTo>
                    <a:pt x="1218761" y="0"/>
                    <a:pt x="1277118" y="58328"/>
                    <a:pt x="1277118" y="128940"/>
                  </a:cubicBezTo>
                  <a:cubicBezTo>
                    <a:pt x="1277118" y="128940"/>
                    <a:pt x="1277118" y="128940"/>
                    <a:pt x="1277118" y="175410"/>
                  </a:cubicBezTo>
                  <a:lnTo>
                    <a:pt x="1277118" y="205986"/>
                  </a:lnTo>
                  <a:lnTo>
                    <a:pt x="1277118" y="209241"/>
                  </a:lnTo>
                  <a:cubicBezTo>
                    <a:pt x="1277118" y="236008"/>
                    <a:pt x="1277118" y="271697"/>
                    <a:pt x="1277118" y="319283"/>
                  </a:cubicBezTo>
                  <a:lnTo>
                    <a:pt x="1277118" y="1858132"/>
                  </a:lnTo>
                  <a:cubicBezTo>
                    <a:pt x="1277118" y="1858132"/>
                    <a:pt x="1277118" y="1858132"/>
                    <a:pt x="1277118" y="1904603"/>
                  </a:cubicBezTo>
                  <a:lnTo>
                    <a:pt x="1277118" y="1918945"/>
                  </a:lnTo>
                  <a:lnTo>
                    <a:pt x="1277118" y="1938433"/>
                  </a:lnTo>
                  <a:cubicBezTo>
                    <a:pt x="1277118" y="1965200"/>
                    <a:pt x="1277118" y="2000889"/>
                    <a:pt x="1277118" y="2048475"/>
                  </a:cubicBezTo>
                  <a:cubicBezTo>
                    <a:pt x="1277118" y="2119087"/>
                    <a:pt x="1218761" y="2177415"/>
                    <a:pt x="1148165" y="2177415"/>
                  </a:cubicBezTo>
                  <a:cubicBezTo>
                    <a:pt x="1148165" y="2177415"/>
                    <a:pt x="1148165" y="2177415"/>
                    <a:pt x="125879" y="2177415"/>
                  </a:cubicBezTo>
                  <a:cubicBezTo>
                    <a:pt x="55283" y="2177415"/>
                    <a:pt x="0" y="2119087"/>
                    <a:pt x="0" y="2048475"/>
                  </a:cubicBezTo>
                  <a:cubicBezTo>
                    <a:pt x="0" y="2048475"/>
                    <a:pt x="0" y="2048475"/>
                    <a:pt x="0" y="1920960"/>
                  </a:cubicBezTo>
                  <a:lnTo>
                    <a:pt x="0" y="1918945"/>
                  </a:lnTo>
                  <a:lnTo>
                    <a:pt x="0" y="1858132"/>
                  </a:lnTo>
                  <a:lnTo>
                    <a:pt x="0" y="319283"/>
                  </a:lnTo>
                  <a:cubicBezTo>
                    <a:pt x="0" y="319283"/>
                    <a:pt x="0" y="319283"/>
                    <a:pt x="0" y="238982"/>
                  </a:cubicBezTo>
                  <a:lnTo>
                    <a:pt x="0" y="205986"/>
                  </a:lnTo>
                  <a:lnTo>
                    <a:pt x="0" y="191768"/>
                  </a:lnTo>
                  <a:cubicBezTo>
                    <a:pt x="0" y="173552"/>
                    <a:pt x="0" y="152733"/>
                    <a:pt x="0" y="128940"/>
                  </a:cubicBezTo>
                  <a:cubicBezTo>
                    <a:pt x="0" y="58328"/>
                    <a:pt x="55283" y="0"/>
                    <a:pt x="125879" y="0"/>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sz="3200">
                <a:solidFill>
                  <a:schemeClr val="lt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7" name="Rectangle 4361"/>
            <p:cNvSpPr/>
            <p:nvPr>
              <p:custDataLst>
                <p:tags r:id="rId5"/>
              </p:custDataLst>
            </p:nvPr>
          </p:nvSpPr>
          <p:spPr>
            <a:xfrm>
              <a:off x="6805291" y="3634807"/>
              <a:ext cx="1130145" cy="1952609"/>
            </a:xfrm>
            <a:prstGeom prst="rect">
              <a:avLst/>
            </a:prstGeom>
            <a:solidFill>
              <a:schemeClr val="bg1">
                <a:lumMod val="95000"/>
              </a:schemeClr>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8" name="Freeform 4377"/>
            <p:cNvSpPr/>
            <p:nvPr>
              <p:custDataLst>
                <p:tags r:id="rId6"/>
              </p:custDataLst>
            </p:nvPr>
          </p:nvSpPr>
          <p:spPr>
            <a:xfrm>
              <a:off x="6876242"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00" y="21600"/>
                    <a:pt x="16114" y="21600"/>
                  </a:cubicBezTo>
                  <a:cubicBezTo>
                    <a:pt x="5486" y="21600"/>
                    <a:pt x="5486" y="21600"/>
                    <a:pt x="5486" y="21600"/>
                  </a:cubicBezTo>
                  <a:cubicBezTo>
                    <a:pt x="2400" y="21600"/>
                    <a:pt x="0" y="19200"/>
                    <a:pt x="0" y="16114"/>
                  </a:cubicBezTo>
                  <a:cubicBezTo>
                    <a:pt x="0" y="5486"/>
                    <a:pt x="0" y="5486"/>
                    <a:pt x="0" y="5486"/>
                  </a:cubicBezTo>
                  <a:cubicBezTo>
                    <a:pt x="0" y="2400"/>
                    <a:pt x="2400" y="0"/>
                    <a:pt x="5486" y="0"/>
                  </a:cubicBezTo>
                  <a:cubicBezTo>
                    <a:pt x="16114" y="0"/>
                    <a:pt x="16114" y="0"/>
                    <a:pt x="16114" y="0"/>
                  </a:cubicBezTo>
                  <a:cubicBezTo>
                    <a:pt x="192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9" name="Freeform 4378"/>
            <p:cNvSpPr/>
            <p:nvPr>
              <p:custDataLst>
                <p:tags r:id="rId7"/>
              </p:custDataLst>
            </p:nvPr>
          </p:nvSpPr>
          <p:spPr>
            <a:xfrm>
              <a:off x="7139774" y="5324927"/>
              <a:ext cx="197649"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37" y="21600"/>
                    <a:pt x="16200" y="21600"/>
                  </a:cubicBezTo>
                  <a:cubicBezTo>
                    <a:pt x="5400" y="21600"/>
                    <a:pt x="5400" y="21600"/>
                    <a:pt x="5400" y="21600"/>
                  </a:cubicBezTo>
                  <a:cubicBezTo>
                    <a:pt x="2700" y="21600"/>
                    <a:pt x="0" y="19200"/>
                    <a:pt x="0" y="16114"/>
                  </a:cubicBezTo>
                  <a:cubicBezTo>
                    <a:pt x="0" y="5486"/>
                    <a:pt x="0" y="5486"/>
                    <a:pt x="0" y="5486"/>
                  </a:cubicBezTo>
                  <a:cubicBezTo>
                    <a:pt x="0" y="2400"/>
                    <a:pt x="2700" y="0"/>
                    <a:pt x="5400" y="0"/>
                  </a:cubicBezTo>
                  <a:cubicBezTo>
                    <a:pt x="16200" y="0"/>
                    <a:pt x="16200" y="0"/>
                    <a:pt x="16200" y="0"/>
                  </a:cubicBezTo>
                  <a:cubicBezTo>
                    <a:pt x="19237"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0" name="Freeform 4379"/>
            <p:cNvSpPr/>
            <p:nvPr>
              <p:custDataLst>
                <p:tags r:id="rId8"/>
              </p:custDataLst>
            </p:nvPr>
          </p:nvSpPr>
          <p:spPr>
            <a:xfrm>
              <a:off x="7408372"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8900" y="21600"/>
                    <a:pt x="16200" y="21600"/>
                  </a:cubicBezTo>
                  <a:cubicBezTo>
                    <a:pt x="5400" y="21600"/>
                    <a:pt x="5400" y="21600"/>
                    <a:pt x="5400" y="21600"/>
                  </a:cubicBezTo>
                  <a:cubicBezTo>
                    <a:pt x="2362" y="21600"/>
                    <a:pt x="0" y="19200"/>
                    <a:pt x="0" y="16114"/>
                  </a:cubicBezTo>
                  <a:cubicBezTo>
                    <a:pt x="0" y="5486"/>
                    <a:pt x="0" y="5486"/>
                    <a:pt x="0" y="5486"/>
                  </a:cubicBezTo>
                  <a:cubicBezTo>
                    <a:pt x="0" y="2400"/>
                    <a:pt x="2362" y="0"/>
                    <a:pt x="5400" y="0"/>
                  </a:cubicBezTo>
                  <a:cubicBezTo>
                    <a:pt x="16200" y="0"/>
                    <a:pt x="16200" y="0"/>
                    <a:pt x="16200" y="0"/>
                  </a:cubicBezTo>
                  <a:cubicBezTo>
                    <a:pt x="189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1" name="Freeform 4380"/>
            <p:cNvSpPr/>
            <p:nvPr>
              <p:custDataLst>
                <p:tags r:id="rId9"/>
              </p:custDataLst>
            </p:nvPr>
          </p:nvSpPr>
          <p:spPr>
            <a:xfrm>
              <a:off x="7671903" y="5324927"/>
              <a:ext cx="192582" cy="192584"/>
            </a:xfrm>
            <a:custGeom>
              <a:avLst/>
              <a:gdLst/>
              <a:ahLst/>
              <a:cxnLst>
                <a:cxn ang="0">
                  <a:pos x="wd2" y="hd2"/>
                </a:cxn>
                <a:cxn ang="5400000">
                  <a:pos x="wd2" y="hd2"/>
                </a:cxn>
                <a:cxn ang="10800000">
                  <a:pos x="wd2" y="hd2"/>
                </a:cxn>
                <a:cxn ang="16200000">
                  <a:pos x="wd2" y="hd2"/>
                </a:cxn>
              </a:cxnLst>
              <a:rect l="0" t="0" r="r" b="b"/>
              <a:pathLst>
                <a:path w="21600" h="21600" extrusionOk="0">
                  <a:moveTo>
                    <a:pt x="21600" y="16114"/>
                  </a:moveTo>
                  <a:cubicBezTo>
                    <a:pt x="21600" y="19200"/>
                    <a:pt x="19200" y="21600"/>
                    <a:pt x="16114" y="21600"/>
                  </a:cubicBezTo>
                  <a:cubicBezTo>
                    <a:pt x="5486" y="21600"/>
                    <a:pt x="5486" y="21600"/>
                    <a:pt x="5486" y="21600"/>
                  </a:cubicBezTo>
                  <a:cubicBezTo>
                    <a:pt x="2400" y="21600"/>
                    <a:pt x="0" y="19200"/>
                    <a:pt x="0" y="16114"/>
                  </a:cubicBezTo>
                  <a:cubicBezTo>
                    <a:pt x="0" y="5486"/>
                    <a:pt x="0" y="5486"/>
                    <a:pt x="0" y="5486"/>
                  </a:cubicBezTo>
                  <a:cubicBezTo>
                    <a:pt x="0" y="2400"/>
                    <a:pt x="2400" y="0"/>
                    <a:pt x="5486" y="0"/>
                  </a:cubicBezTo>
                  <a:cubicBezTo>
                    <a:pt x="16114" y="0"/>
                    <a:pt x="16114" y="0"/>
                    <a:pt x="16114" y="0"/>
                  </a:cubicBezTo>
                  <a:cubicBezTo>
                    <a:pt x="19200" y="0"/>
                    <a:pt x="21600" y="2400"/>
                    <a:pt x="21600" y="5486"/>
                  </a:cubicBezTo>
                  <a:lnTo>
                    <a:pt x="21600" y="16114"/>
                  </a:lnTo>
                  <a:close/>
                </a:path>
              </a:pathLst>
            </a:custGeom>
            <a:solidFill>
              <a:srgbClr val="9A9AEC"/>
            </a:solidFill>
            <a:ln w="1270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57" name="组合 56"/>
          <p:cNvGrpSpPr/>
          <p:nvPr/>
        </p:nvGrpSpPr>
        <p:grpSpPr>
          <a:xfrm>
            <a:off x="10792467" y="5771002"/>
            <a:ext cx="1307896" cy="980287"/>
            <a:chOff x="11332293" y="4413896"/>
            <a:chExt cx="484965" cy="348128"/>
          </a:xfrm>
        </p:grpSpPr>
        <p:sp>
          <p:nvSpPr>
            <p:cNvPr id="58" name="Freeform 376"/>
            <p:cNvSpPr/>
            <p:nvPr>
              <p:custDataLst>
                <p:tags r:id="rId1"/>
              </p:custDataLst>
            </p:nvPr>
          </p:nvSpPr>
          <p:spPr>
            <a:xfrm>
              <a:off x="11511388" y="4669457"/>
              <a:ext cx="126775" cy="92567"/>
            </a:xfrm>
            <a:custGeom>
              <a:avLst/>
              <a:gdLst/>
              <a:ahLst/>
              <a:cxnLst>
                <a:cxn ang="0">
                  <a:pos x="wd2" y="hd2"/>
                </a:cxn>
                <a:cxn ang="5400000">
                  <a:pos x="wd2" y="hd2"/>
                </a:cxn>
                <a:cxn ang="10800000">
                  <a:pos x="wd2" y="hd2"/>
                </a:cxn>
                <a:cxn ang="16200000">
                  <a:pos x="wd2" y="hd2"/>
                </a:cxn>
              </a:cxnLst>
              <a:rect l="0" t="0" r="r" b="b"/>
              <a:pathLst>
                <a:path w="21600" h="21600" extrusionOk="0">
                  <a:moveTo>
                    <a:pt x="0" y="5959"/>
                  </a:moveTo>
                  <a:cubicBezTo>
                    <a:pt x="10800" y="21600"/>
                    <a:pt x="10800" y="21600"/>
                    <a:pt x="10800" y="21600"/>
                  </a:cubicBezTo>
                  <a:cubicBezTo>
                    <a:pt x="21600" y="5959"/>
                    <a:pt x="21600" y="5959"/>
                    <a:pt x="21600" y="5959"/>
                  </a:cubicBezTo>
                  <a:cubicBezTo>
                    <a:pt x="18900" y="2234"/>
                    <a:pt x="15120" y="0"/>
                    <a:pt x="10800" y="0"/>
                  </a:cubicBezTo>
                  <a:cubicBezTo>
                    <a:pt x="6480" y="0"/>
                    <a:pt x="2700" y="2234"/>
                    <a:pt x="0" y="5959"/>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9" name="Freeform 377"/>
            <p:cNvSpPr/>
            <p:nvPr>
              <p:custDataLst>
                <p:tags r:id="rId2"/>
              </p:custDataLst>
            </p:nvPr>
          </p:nvSpPr>
          <p:spPr>
            <a:xfrm>
              <a:off x="11422846" y="4542683"/>
              <a:ext cx="305870" cy="114702"/>
            </a:xfrm>
            <a:custGeom>
              <a:avLst/>
              <a:gdLst/>
              <a:ahLst/>
              <a:cxnLst>
                <a:cxn ang="0">
                  <a:pos x="wd2" y="hd2"/>
                </a:cxn>
                <a:cxn ang="5400000">
                  <a:pos x="wd2" y="hd2"/>
                </a:cxn>
                <a:cxn ang="10800000">
                  <a:pos x="wd2" y="hd2"/>
                </a:cxn>
                <a:cxn ang="16200000">
                  <a:pos x="wd2" y="hd2"/>
                </a:cxn>
              </a:cxnLst>
              <a:rect l="0" t="0" r="r" b="b"/>
              <a:pathLst>
                <a:path w="21600" h="21600" extrusionOk="0">
                  <a:moveTo>
                    <a:pt x="0" y="11400"/>
                  </a:moveTo>
                  <a:cubicBezTo>
                    <a:pt x="3600" y="21600"/>
                    <a:pt x="3600" y="21600"/>
                    <a:pt x="3600" y="21600"/>
                  </a:cubicBezTo>
                  <a:cubicBezTo>
                    <a:pt x="5625" y="16800"/>
                    <a:pt x="8100" y="13800"/>
                    <a:pt x="10800" y="13800"/>
                  </a:cubicBezTo>
                  <a:cubicBezTo>
                    <a:pt x="13500" y="13800"/>
                    <a:pt x="15975" y="16800"/>
                    <a:pt x="18000" y="21600"/>
                  </a:cubicBezTo>
                  <a:cubicBezTo>
                    <a:pt x="21600" y="11400"/>
                    <a:pt x="21600" y="11400"/>
                    <a:pt x="21600" y="11400"/>
                  </a:cubicBezTo>
                  <a:cubicBezTo>
                    <a:pt x="18675" y="4200"/>
                    <a:pt x="15075" y="0"/>
                    <a:pt x="10800" y="0"/>
                  </a:cubicBezTo>
                  <a:cubicBezTo>
                    <a:pt x="6525" y="0"/>
                    <a:pt x="2925" y="4200"/>
                    <a:pt x="0" y="11400"/>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0" name="Freeform 378"/>
            <p:cNvSpPr/>
            <p:nvPr>
              <p:custDataLst>
                <p:tags r:id="rId3"/>
              </p:custDataLst>
            </p:nvPr>
          </p:nvSpPr>
          <p:spPr>
            <a:xfrm>
              <a:off x="11332293" y="4413896"/>
              <a:ext cx="484965" cy="15092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6679" y="0"/>
                    <a:pt x="2842" y="5055"/>
                    <a:pt x="0" y="13787"/>
                  </a:cubicBezTo>
                  <a:cubicBezTo>
                    <a:pt x="2274" y="21600"/>
                    <a:pt x="2274" y="21600"/>
                    <a:pt x="2274" y="21600"/>
                  </a:cubicBezTo>
                  <a:cubicBezTo>
                    <a:pt x="3411" y="18383"/>
                    <a:pt x="4689" y="15626"/>
                    <a:pt x="5968" y="13787"/>
                  </a:cubicBezTo>
                  <a:cubicBezTo>
                    <a:pt x="7532" y="11489"/>
                    <a:pt x="9095" y="10570"/>
                    <a:pt x="10800" y="10570"/>
                  </a:cubicBezTo>
                  <a:cubicBezTo>
                    <a:pt x="12505" y="10570"/>
                    <a:pt x="14068" y="11489"/>
                    <a:pt x="15632" y="13787"/>
                  </a:cubicBezTo>
                  <a:cubicBezTo>
                    <a:pt x="16911" y="15626"/>
                    <a:pt x="18189" y="18383"/>
                    <a:pt x="19326" y="21600"/>
                  </a:cubicBezTo>
                  <a:cubicBezTo>
                    <a:pt x="21600" y="13787"/>
                    <a:pt x="21600" y="13787"/>
                    <a:pt x="21600" y="13787"/>
                  </a:cubicBezTo>
                  <a:cubicBezTo>
                    <a:pt x="18758" y="5055"/>
                    <a:pt x="14921" y="0"/>
                    <a:pt x="10800" y="0"/>
                  </a:cubicBezTo>
                  <a:close/>
                </a:path>
              </a:pathLst>
            </a:custGeom>
            <a:solidFill>
              <a:srgbClr val="A5A5EE"/>
            </a:solidFill>
            <a:ln w="0" cap="flat">
              <a:noFill/>
              <a:miter lim="400000"/>
            </a:ln>
            <a:effectLst/>
          </p:spPr>
          <p:txBody>
            <a:bodyPr wrap="square" lIns="121899" tIns="121899" rIns="121899" bIns="121899" numCol="1" anchor="t">
              <a:noAutofit/>
            </a:bodyPr>
            <a:lstStyle/>
            <a:p>
              <a:pPr>
                <a:lnSpc>
                  <a:spcPct val="120000"/>
                </a:lnSpc>
              </a:pPr>
              <a:endParaRPr sz="3200">
                <a:latin typeface="思源黑体" panose="020B0400000000000000" pitchFamily="34" charset="-122"/>
                <a:ea typeface="思源黑体" panose="020B0400000000000000" pitchFamily="34"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p:cTn id="23" dur="500" fill="hold"/>
                                        <p:tgtEl>
                                          <p:spTgt spid="57"/>
                                        </p:tgtEl>
                                        <p:attrNameLst>
                                          <p:attrName>ppt_w</p:attrName>
                                        </p:attrNameLst>
                                      </p:cBhvr>
                                      <p:tavLst>
                                        <p:tav tm="0">
                                          <p:val>
                                            <p:fltVal val="0"/>
                                          </p:val>
                                        </p:tav>
                                        <p:tav tm="100000">
                                          <p:val>
                                            <p:strVal val="#ppt_w"/>
                                          </p:val>
                                        </p:tav>
                                      </p:tavLst>
                                    </p:anim>
                                    <p:anim calcmode="lin" valueType="num">
                                      <p:cBhvr>
                                        <p:cTn id="24" dur="5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iterate type="lt">
                                    <p:tmPct val="20000"/>
                                  </p:iterate>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linds(horizontal)">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iterate type="lt">
                                    <p:tmPct val="20000"/>
                                  </p:iterate>
                                  <p:childTnLst>
                                    <p:set>
                                      <p:cBhvr>
                                        <p:cTn id="33" dur="1" fill="hold">
                                          <p:stCondLst>
                                            <p:cond delay="0"/>
                                          </p:stCondLst>
                                        </p:cTn>
                                        <p:tgtEl>
                                          <p:spTgt spid="7">
                                            <p:txEl>
                                              <p:pRg st="1" end="1"/>
                                            </p:txEl>
                                          </p:spTgt>
                                        </p:tgtEl>
                                        <p:attrNameLst>
                                          <p:attrName>style.visibility</p:attrName>
                                        </p:attrNameLst>
                                      </p:cBhvr>
                                      <p:to>
                                        <p:strVal val="visible"/>
                                      </p:to>
                                    </p:set>
                                    <p:animEffect transition="in" filter="blinds(horizontal)">
                                      <p:cBhvr>
                                        <p:cTn id="34"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1199563" y="2197081"/>
            <a:ext cx="4528927" cy="317719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 name="矩形 2"/>
          <p:cNvSpPr/>
          <p:nvPr/>
        </p:nvSpPr>
        <p:spPr>
          <a:xfrm>
            <a:off x="944096" y="152679"/>
            <a:ext cx="674667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完成任务达成的技能目标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4" name="圆角矩形 3"/>
          <p:cNvSpPr/>
          <p:nvPr/>
        </p:nvSpPr>
        <p:spPr>
          <a:xfrm>
            <a:off x="1236050" y="1877980"/>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 name="椭圆 5"/>
          <p:cNvSpPr/>
          <p:nvPr/>
        </p:nvSpPr>
        <p:spPr>
          <a:xfrm>
            <a:off x="662844"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01</a:t>
            </a:r>
          </a:p>
        </p:txBody>
      </p:sp>
      <p:sp>
        <p:nvSpPr>
          <p:cNvPr id="8" name="空心弧 7"/>
          <p:cNvSpPr/>
          <p:nvPr/>
        </p:nvSpPr>
        <p:spPr>
          <a:xfrm rot="1740000">
            <a:off x="485628" y="1482465"/>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 name="Text2"/>
          <p:cNvSpPr txBox="1"/>
          <p:nvPr/>
        </p:nvSpPr>
        <p:spPr>
          <a:xfrm>
            <a:off x="1663448" y="1922846"/>
            <a:ext cx="2443945" cy="508767"/>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任务描述</a:t>
            </a:r>
            <a:r>
              <a:rPr lang="en-US" altLang="zh-CN" sz="3200" b="1">
                <a:solidFill>
                  <a:schemeClr val="accent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p>
        </p:txBody>
      </p:sp>
      <p:sp>
        <p:nvSpPr>
          <p:cNvPr id="56" name="圆角矩形 55"/>
          <p:cNvSpPr/>
          <p:nvPr>
            <p:custDataLst>
              <p:tags r:id="rId1"/>
            </p:custDataLst>
          </p:nvPr>
        </p:nvSpPr>
        <p:spPr>
          <a:xfrm>
            <a:off x="6977894" y="2151833"/>
            <a:ext cx="4985322" cy="390888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2" name="圆角矩形 61"/>
          <p:cNvSpPr/>
          <p:nvPr>
            <p:custDataLst>
              <p:tags r:id="rId2"/>
            </p:custDataLst>
          </p:nvPr>
        </p:nvSpPr>
        <p:spPr>
          <a:xfrm>
            <a:off x="6978741" y="1880942"/>
            <a:ext cx="2969643" cy="553633"/>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3" name="椭圆 62"/>
          <p:cNvSpPr/>
          <p:nvPr>
            <p:custDataLst>
              <p:tags r:id="rId3"/>
            </p:custDataLst>
          </p:nvPr>
        </p:nvSpPr>
        <p:spPr>
          <a:xfrm>
            <a:off x="6503836" y="1665923"/>
            <a:ext cx="959850" cy="959850"/>
          </a:xfrm>
          <a:prstGeom prst="ellipse">
            <a:avLst/>
          </a:prstGeom>
          <a:solidFill>
            <a:schemeClr val="bg1">
              <a:lumMod val="95000"/>
            </a:schemeClr>
          </a:solid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200">
                <a:solidFill>
                  <a:srgbClr val="566CD3"/>
                </a:solidFill>
                <a:latin typeface="思源黑体" panose="020B0400000000000000" pitchFamily="34" charset="-122"/>
                <a:ea typeface="思源黑体" panose="020B0400000000000000" pitchFamily="34" charset="-122"/>
                <a:sym typeface="思源黑体" panose="020B0400000000000000" pitchFamily="34" charset="-122"/>
              </a:rPr>
              <a:t>02</a:t>
            </a:r>
          </a:p>
        </p:txBody>
      </p:sp>
      <p:sp>
        <p:nvSpPr>
          <p:cNvPr id="64" name="空心弧 63"/>
          <p:cNvSpPr/>
          <p:nvPr>
            <p:custDataLst>
              <p:tags r:id="rId4"/>
            </p:custDataLst>
          </p:nvPr>
        </p:nvSpPr>
        <p:spPr>
          <a:xfrm rot="1740000">
            <a:off x="6263960" y="1437217"/>
            <a:ext cx="1439775" cy="1439775"/>
          </a:xfrm>
          <a:prstGeom prst="blockArc">
            <a:avLst>
              <a:gd name="adj1" fmla="val 5440382"/>
              <a:gd name="adj2" fmla="val 10847683"/>
              <a:gd name="adj3" fmla="val 1278"/>
            </a:avLst>
          </a:prstGeom>
          <a:ln>
            <a:gradFill>
              <a:gsLst>
                <a:gs pos="0">
                  <a:schemeClr val="accent1">
                    <a:lumMod val="5000"/>
                    <a:lumOff val="95000"/>
                  </a:schemeClr>
                </a:gs>
                <a:gs pos="100000">
                  <a:srgbClr val="566CD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65" name="Text2"/>
          <p:cNvSpPr txBox="1"/>
          <p:nvPr>
            <p:custDataLst>
              <p:tags r:id="rId5"/>
            </p:custDataLst>
          </p:nvPr>
        </p:nvSpPr>
        <p:spPr>
          <a:xfrm>
            <a:off x="7462450" y="1890921"/>
            <a:ext cx="2247637" cy="55363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技能目标</a:t>
            </a:r>
            <a:r>
              <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 </a:t>
            </a:r>
          </a:p>
        </p:txBody>
      </p:sp>
      <p:sp>
        <p:nvSpPr>
          <p:cNvPr id="5" name="文本框 4"/>
          <p:cNvSpPr txBox="1"/>
          <p:nvPr/>
        </p:nvSpPr>
        <p:spPr>
          <a:xfrm>
            <a:off x="1681731" y="2537064"/>
            <a:ext cx="3824682" cy="2066290"/>
          </a:xfrm>
          <a:prstGeom prst="rect">
            <a:avLst/>
          </a:prstGeom>
          <a:noFill/>
        </p:spPr>
        <p:txBody>
          <a:bodyPr wrap="square" rtlCol="0">
            <a:spAutoFit/>
          </a:bodyPr>
          <a:lstStyle/>
          <a:p>
            <a:pPr>
              <a:lnSpc>
                <a:spcPct val="120000"/>
              </a:lnSpc>
              <a:defRPr/>
            </a:pP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本任务讲解自定义组件的规则和组件渲染，并进行自定义组件的创建、导出和导入，完成</a:t>
            </a:r>
            <a:r>
              <a:rPr lang="en-US" altLang="zh-CN"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App</a:t>
            </a:r>
            <a:r>
              <a:rPr lang="zh-CN" altLang="en-US" sz="2135" kern="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中常见的设置页的设计与开发。</a:t>
            </a:r>
            <a:endParaRPr lang="en-US" altLang="zh-CN" sz="2135" kern="0"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nvGrpSpPr>
          <p:cNvPr id="11" name="组合 10"/>
          <p:cNvGrpSpPr/>
          <p:nvPr/>
        </p:nvGrpSpPr>
        <p:grpSpPr>
          <a:xfrm>
            <a:off x="7093213" y="2556697"/>
            <a:ext cx="4214048" cy="435965"/>
            <a:chOff x="3644" y="2232"/>
            <a:chExt cx="4978" cy="515"/>
          </a:xfrm>
        </p:grpSpPr>
        <p:sp>
          <p:nvSpPr>
            <p:cNvPr id="12" name="文本框 11"/>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能分析需要自定义的组件</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3" name="椭圆 1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p>
          </p:txBody>
        </p:sp>
      </p:grpSp>
      <p:grpSp>
        <p:nvGrpSpPr>
          <p:cNvPr id="14" name="组合 13"/>
          <p:cNvGrpSpPr/>
          <p:nvPr/>
        </p:nvGrpSpPr>
        <p:grpSpPr>
          <a:xfrm>
            <a:off x="7101678" y="3009615"/>
            <a:ext cx="4642395" cy="445277"/>
            <a:chOff x="3644" y="3228"/>
            <a:chExt cx="5484" cy="526"/>
          </a:xfrm>
        </p:grpSpPr>
        <p:sp>
          <p:nvSpPr>
            <p:cNvPr id="15" name="文本框 14"/>
            <p:cNvSpPr txBox="1"/>
            <p:nvPr/>
          </p:nvSpPr>
          <p:spPr>
            <a:xfrm>
              <a:off x="4098" y="3228"/>
              <a:ext cx="5030"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能创建自定义组件</a:t>
              </a:r>
            </a:p>
          </p:txBody>
        </p:sp>
        <p:sp>
          <p:nvSpPr>
            <p:cNvPr id="16" name="椭圆 15"/>
            <p:cNvSpPr/>
            <p:nvPr/>
          </p:nvSpPr>
          <p:spPr>
            <a:xfrm>
              <a:off x="3644" y="3332"/>
              <a:ext cx="431" cy="42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p>
          </p:txBody>
        </p:sp>
      </p:grpSp>
      <p:grpSp>
        <p:nvGrpSpPr>
          <p:cNvPr id="18" name="组合 17"/>
          <p:cNvGrpSpPr/>
          <p:nvPr/>
        </p:nvGrpSpPr>
        <p:grpSpPr>
          <a:xfrm>
            <a:off x="7101678" y="3548330"/>
            <a:ext cx="4443459" cy="435965"/>
            <a:chOff x="3644" y="4164"/>
            <a:chExt cx="5249" cy="515"/>
          </a:xfrm>
        </p:grpSpPr>
        <p:sp>
          <p:nvSpPr>
            <p:cNvPr id="19" name="文本框 18"/>
            <p:cNvSpPr txBox="1"/>
            <p:nvPr/>
          </p:nvSpPr>
          <p:spPr>
            <a:xfrm>
              <a:off x="4098" y="4164"/>
              <a:ext cx="4795"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能导出和导入组件</a:t>
              </a:r>
            </a:p>
          </p:txBody>
        </p:sp>
        <p:sp>
          <p:nvSpPr>
            <p:cNvPr id="20" name="椭圆 19"/>
            <p:cNvSpPr/>
            <p:nvPr/>
          </p:nvSpPr>
          <p:spPr>
            <a:xfrm>
              <a:off x="3644" y="4227"/>
              <a:ext cx="431" cy="41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p>
          </p:txBody>
        </p:sp>
      </p:grpSp>
      <p:grpSp>
        <p:nvGrpSpPr>
          <p:cNvPr id="21" name="组合 20"/>
          <p:cNvGrpSpPr/>
          <p:nvPr/>
        </p:nvGrpSpPr>
        <p:grpSpPr>
          <a:xfrm>
            <a:off x="7101678" y="4059711"/>
            <a:ext cx="6476835" cy="435965"/>
            <a:chOff x="3644" y="5256"/>
            <a:chExt cx="7651" cy="515"/>
          </a:xfrm>
        </p:grpSpPr>
        <p:sp>
          <p:nvSpPr>
            <p:cNvPr id="22" name="文本框 21"/>
            <p:cNvSpPr txBox="1"/>
            <p:nvPr/>
          </p:nvSpPr>
          <p:spPr>
            <a:xfrm>
              <a:off x="4098" y="5256"/>
              <a:ext cx="7197"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能正确传递参数给自定义组件</a:t>
              </a:r>
            </a:p>
          </p:txBody>
        </p:sp>
        <p:sp>
          <p:nvSpPr>
            <p:cNvPr id="23" name="椭圆 22"/>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4</a:t>
              </a:r>
            </a:p>
          </p:txBody>
        </p:sp>
      </p:grpSp>
      <p:grpSp>
        <p:nvGrpSpPr>
          <p:cNvPr id="7" name="组合 6"/>
          <p:cNvGrpSpPr/>
          <p:nvPr/>
        </p:nvGrpSpPr>
        <p:grpSpPr>
          <a:xfrm>
            <a:off x="7101678" y="4532429"/>
            <a:ext cx="6476835" cy="435965"/>
            <a:chOff x="3644" y="5256"/>
            <a:chExt cx="7651" cy="515"/>
          </a:xfrm>
        </p:grpSpPr>
        <p:sp>
          <p:nvSpPr>
            <p:cNvPr id="9" name="文本框 8"/>
            <p:cNvSpPr txBox="1"/>
            <p:nvPr/>
          </p:nvSpPr>
          <p:spPr>
            <a:xfrm>
              <a:off x="4098" y="5256"/>
              <a:ext cx="7197"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能正确的使用条件和循环渲染</a:t>
              </a:r>
            </a:p>
          </p:txBody>
        </p:sp>
        <p:sp>
          <p:nvSpPr>
            <p:cNvPr id="10" name="椭圆 9"/>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5</a:t>
              </a:r>
            </a:p>
          </p:txBody>
        </p:sp>
      </p:grpSp>
      <p:grpSp>
        <p:nvGrpSpPr>
          <p:cNvPr id="24" name="组合 23"/>
          <p:cNvGrpSpPr/>
          <p:nvPr/>
        </p:nvGrpSpPr>
        <p:grpSpPr>
          <a:xfrm>
            <a:off x="7093213" y="5027681"/>
            <a:ext cx="6476835" cy="435965"/>
            <a:chOff x="3644" y="5256"/>
            <a:chExt cx="7651" cy="515"/>
          </a:xfrm>
        </p:grpSpPr>
        <p:sp>
          <p:nvSpPr>
            <p:cNvPr id="25" name="文本框 24"/>
            <p:cNvSpPr txBox="1"/>
            <p:nvPr/>
          </p:nvSpPr>
          <p:spPr>
            <a:xfrm>
              <a:off x="4098" y="5256"/>
              <a:ext cx="7197"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能完成设置页的设计与开发</a:t>
              </a:r>
            </a:p>
          </p:txBody>
        </p:sp>
        <p:sp>
          <p:nvSpPr>
            <p:cNvPr id="26" name="椭圆 25"/>
            <p:cNvSpPr/>
            <p:nvPr/>
          </p:nvSpPr>
          <p:spPr>
            <a:xfrm>
              <a:off x="3644" y="5319"/>
              <a:ext cx="431" cy="389"/>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6</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par>
                                <p:cTn id="9" presetID="21" presetClass="entr" presetSubtype="1" fill="hold" grpId="0" nodeType="withEffect">
                                  <p:stCondLst>
                                    <p:cond delay="200"/>
                                  </p:stCondLst>
                                  <p:childTnLst>
                                    <p:set>
                                      <p:cBhvr>
                                        <p:cTn id="10" dur="1000" fill="hold">
                                          <p:stCondLst>
                                            <p:cond delay="0"/>
                                          </p:stCondLst>
                                        </p:cTn>
                                        <p:tgtEl>
                                          <p:spTgt spid="6"/>
                                        </p:tgtEl>
                                        <p:attrNameLst>
                                          <p:attrName>style.visibility</p:attrName>
                                        </p:attrNameLst>
                                      </p:cBhvr>
                                      <p:to>
                                        <p:strVal val="visible"/>
                                      </p:to>
                                    </p:set>
                                    <p:animEffect transition="in" filter="wheel(1)">
                                      <p:cBhvr>
                                        <p:cTn id="11" dur="1000"/>
                                        <p:tgtEl>
                                          <p:spTgt spid="6"/>
                                        </p:tgtEl>
                                      </p:cBhvr>
                                    </p:animEffect>
                                  </p:childTnLst>
                                </p:cTn>
                              </p:par>
                              <p:par>
                                <p:cTn id="12" presetID="21" presetClass="entr" presetSubtype="1" fill="hold" grpId="0" nodeType="withEffect">
                                  <p:stCondLst>
                                    <p:cond delay="200"/>
                                  </p:stCondLst>
                                  <p:childTnLst>
                                    <p:set>
                                      <p:cBhvr>
                                        <p:cTn id="13" dur="1000" fill="hold">
                                          <p:stCondLst>
                                            <p:cond delay="0"/>
                                          </p:stCondLst>
                                        </p:cTn>
                                        <p:tgtEl>
                                          <p:spTgt spid="8"/>
                                        </p:tgtEl>
                                        <p:attrNameLst>
                                          <p:attrName>style.visibility</p:attrName>
                                        </p:attrNameLst>
                                      </p:cBhvr>
                                      <p:to>
                                        <p:strVal val="visible"/>
                                      </p:to>
                                    </p:set>
                                    <p:animEffect transition="in" filter="wheel(1)">
                                      <p:cBhvr>
                                        <p:cTn id="14" dur="1000"/>
                                        <p:tgtEl>
                                          <p:spTgt spid="8"/>
                                        </p:tgtEl>
                                      </p:cBhvr>
                                    </p:animEffect>
                                  </p:childTnLst>
                                </p:cTn>
                              </p:par>
                              <p:par>
                                <p:cTn id="15" presetID="17" presetClass="entr" presetSubtype="8" fill="hold" grpId="0" nodeType="withEffect">
                                  <p:stCondLst>
                                    <p:cond delay="0"/>
                                  </p:stCondLst>
                                  <p:childTnLst>
                                    <p:set>
                                      <p:cBhvr additive="base">
                                        <p:cTn id="16" dur="500"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anim calcmode="lin" valueType="num">
                                      <p:cBhvr additive="base">
                                        <p:cTn id="19" dur="500" fill="hold"/>
                                        <p:tgtEl>
                                          <p:spTgt spid="4"/>
                                        </p:tgtEl>
                                        <p:attrNameLst>
                                          <p:attrName>ppt_w</p:attrName>
                                        </p:attrNameLst>
                                      </p:cBhvr>
                                      <p:tavLst>
                                        <p:tav tm="0">
                                          <p:val>
                                            <p:fltVal val="0"/>
                                          </p:val>
                                        </p:tav>
                                        <p:tav tm="100000">
                                          <p:val>
                                            <p:strVal val="#ppt_w"/>
                                          </p:val>
                                        </p:tav>
                                      </p:tavLst>
                                    </p:anim>
                                    <p:anim calcmode="lin" valueType="num">
                                      <p:cBhvr additive="base">
                                        <p:cTn id="20" dur="500" fill="hold"/>
                                        <p:tgtEl>
                                          <p:spTgt spid="4"/>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iterate type="lt">
                                    <p:tmPct val="20000"/>
                                  </p:iterate>
                                  <p:childTnLst>
                                    <p:set>
                                      <p:cBhvr>
                                        <p:cTn id="22" dur="1" fill="hold">
                                          <p:stCondLst>
                                            <p:cond delay="0"/>
                                          </p:stCondLst>
                                        </p:cTn>
                                        <p:tgtEl>
                                          <p:spTgt spid="2">
                                            <p:txEl>
                                              <p:pRg st="0" end="0"/>
                                            </p:txEl>
                                          </p:spTgt>
                                        </p:tgtEl>
                                        <p:attrNameLst>
                                          <p:attrName>style.visibility</p:attrName>
                                        </p:attrNameLst>
                                      </p:cBhvr>
                                      <p:to>
                                        <p:strVal val="visible"/>
                                      </p:to>
                                    </p:set>
                                    <p:anim calcmode="lin" valueType="num">
                                      <p:cBhvr>
                                        <p:cTn id="23"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0" end="0"/>
                                            </p:txEl>
                                          </p:spTgt>
                                        </p:tgtEl>
                                        <p:attrNameLst>
                                          <p:attrName>ppt_h</p:attrName>
                                        </p:attrNameLst>
                                      </p:cBhvr>
                                      <p:tavLst>
                                        <p:tav tm="0">
                                          <p:val>
                                            <p:strVal val="#ppt_h"/>
                                          </p:val>
                                        </p:tav>
                                        <p:tav tm="100000">
                                          <p:val>
                                            <p:strVal val="#ppt_h"/>
                                          </p:val>
                                        </p:tav>
                                      </p:tavLst>
                                    </p:anim>
                                  </p:childTnLst>
                                </p:cTn>
                              </p:par>
                              <p:par>
                                <p:cTn id="25" presetID="20" presetClass="entr" presetSubtype="0" fill="hold" grpId="0" nodeType="withEffect">
                                  <p:stCondLst>
                                    <p:cond delay="0"/>
                                  </p:stCondLst>
                                  <p:childTnLst>
                                    <p:set>
                                      <p:cBhvr>
                                        <p:cTn id="26" dur="1000" fill="hold">
                                          <p:stCondLst>
                                            <p:cond delay="0"/>
                                          </p:stCondLst>
                                        </p:cTn>
                                        <p:tgtEl>
                                          <p:spTgt spid="55"/>
                                        </p:tgtEl>
                                        <p:attrNameLst>
                                          <p:attrName>style.visibility</p:attrName>
                                        </p:attrNameLst>
                                      </p:cBhvr>
                                      <p:to>
                                        <p:strVal val="visible"/>
                                      </p:to>
                                    </p:set>
                                    <p:animEffect transition="in" filter="wedge">
                                      <p:cBhvr>
                                        <p:cTn id="27" dur="1000"/>
                                        <p:tgtEl>
                                          <p:spTgt spid="55"/>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p:cTn id="30"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31"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32" dur="10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000" fill="hold">
                                          <p:stCondLst>
                                            <p:cond delay="0"/>
                                          </p:stCondLst>
                                        </p:cTn>
                                        <p:tgtEl>
                                          <p:spTgt spid="63"/>
                                        </p:tgtEl>
                                        <p:attrNameLst>
                                          <p:attrName>style.visibility</p:attrName>
                                        </p:attrNameLst>
                                      </p:cBhvr>
                                      <p:to>
                                        <p:strVal val="visible"/>
                                      </p:to>
                                    </p:set>
                                    <p:animEffect transition="in" filter="wheel(1)">
                                      <p:cBhvr>
                                        <p:cTn id="37" dur="1000"/>
                                        <p:tgtEl>
                                          <p:spTgt spid="63"/>
                                        </p:tgtEl>
                                      </p:cBhvr>
                                    </p:animEffect>
                                  </p:childTnLst>
                                </p:cTn>
                              </p:par>
                            </p:childTnLst>
                          </p:cTn>
                        </p:par>
                        <p:par>
                          <p:cTn id="38" fill="hold">
                            <p:stCondLst>
                              <p:cond delay="1000"/>
                            </p:stCondLst>
                            <p:childTnLst>
                              <p:par>
                                <p:cTn id="39" presetID="21" presetClass="entr" presetSubtype="1" fill="hold" grpId="0" nodeType="afterEffect">
                                  <p:stCondLst>
                                    <p:cond delay="0"/>
                                  </p:stCondLst>
                                  <p:childTnLst>
                                    <p:set>
                                      <p:cBhvr>
                                        <p:cTn id="40" dur="1000" fill="hold">
                                          <p:stCondLst>
                                            <p:cond delay="0"/>
                                          </p:stCondLst>
                                        </p:cTn>
                                        <p:tgtEl>
                                          <p:spTgt spid="64"/>
                                        </p:tgtEl>
                                        <p:attrNameLst>
                                          <p:attrName>style.visibility</p:attrName>
                                        </p:attrNameLst>
                                      </p:cBhvr>
                                      <p:to>
                                        <p:strVal val="visible"/>
                                      </p:to>
                                    </p:set>
                                    <p:animEffect transition="in" filter="wheel(1)">
                                      <p:cBhvr>
                                        <p:cTn id="41" dur="1000"/>
                                        <p:tgtEl>
                                          <p:spTgt spid="64"/>
                                        </p:tgtEl>
                                      </p:cBhvr>
                                    </p:animEffect>
                                  </p:childTnLst>
                                </p:cTn>
                              </p:par>
                              <p:par>
                                <p:cTn id="42" presetID="17" presetClass="entr" presetSubtype="8" fill="hold" grpId="0" nodeType="withEffect">
                                  <p:stCondLst>
                                    <p:cond delay="0"/>
                                  </p:stCondLst>
                                  <p:childTnLst>
                                    <p:set>
                                      <p:cBhvr additive="base">
                                        <p:cTn id="43" dur="500" fill="hold">
                                          <p:stCondLst>
                                            <p:cond delay="0"/>
                                          </p:stCondLst>
                                        </p:cTn>
                                        <p:tgtEl>
                                          <p:spTgt spid="62"/>
                                        </p:tgtEl>
                                        <p:attrNameLst>
                                          <p:attrName>style.visibility</p:attrName>
                                        </p:attrNameLst>
                                      </p:cBhvr>
                                      <p:to>
                                        <p:strVal val="visible"/>
                                      </p:to>
                                    </p:set>
                                    <p:anim calcmode="lin" valueType="num">
                                      <p:cBhvr additive="base">
                                        <p:cTn id="44" dur="500" fill="hold"/>
                                        <p:tgtEl>
                                          <p:spTgt spid="62"/>
                                        </p:tgtEl>
                                        <p:attrNameLst>
                                          <p:attrName>ppt_x</p:attrName>
                                        </p:attrNameLst>
                                      </p:cBhvr>
                                      <p:tavLst>
                                        <p:tav tm="0">
                                          <p:val>
                                            <p:strVal val="#ppt_x-#ppt_w/2"/>
                                          </p:val>
                                        </p:tav>
                                        <p:tav tm="100000">
                                          <p:val>
                                            <p:strVal val="#ppt_x"/>
                                          </p:val>
                                        </p:tav>
                                      </p:tavLst>
                                    </p:anim>
                                    <p:anim calcmode="lin" valueType="num">
                                      <p:cBhvr additive="base">
                                        <p:cTn id="45" dur="500" fill="hold"/>
                                        <p:tgtEl>
                                          <p:spTgt spid="62"/>
                                        </p:tgtEl>
                                        <p:attrNameLst>
                                          <p:attrName>ppt_y</p:attrName>
                                        </p:attrNameLst>
                                      </p:cBhvr>
                                      <p:tavLst>
                                        <p:tav tm="0">
                                          <p:val>
                                            <p:strVal val="#ppt_y"/>
                                          </p:val>
                                        </p:tav>
                                        <p:tav tm="100000">
                                          <p:val>
                                            <p:strVal val="#ppt_y"/>
                                          </p:val>
                                        </p:tav>
                                      </p:tavLst>
                                    </p:anim>
                                    <p:anim calcmode="lin" valueType="num">
                                      <p:cBhvr additive="base">
                                        <p:cTn id="46" dur="500" fill="hold"/>
                                        <p:tgtEl>
                                          <p:spTgt spid="62"/>
                                        </p:tgtEl>
                                        <p:attrNameLst>
                                          <p:attrName>ppt_w</p:attrName>
                                        </p:attrNameLst>
                                      </p:cBhvr>
                                      <p:tavLst>
                                        <p:tav tm="0">
                                          <p:val>
                                            <p:fltVal val="0"/>
                                          </p:val>
                                        </p:tav>
                                        <p:tav tm="100000">
                                          <p:val>
                                            <p:strVal val="#ppt_w"/>
                                          </p:val>
                                        </p:tav>
                                      </p:tavLst>
                                    </p:anim>
                                    <p:anim calcmode="lin" valueType="num">
                                      <p:cBhvr additive="base">
                                        <p:cTn id="47" dur="500" fill="hold"/>
                                        <p:tgtEl>
                                          <p:spTgt spid="62"/>
                                        </p:tgtEl>
                                        <p:attrNameLst>
                                          <p:attrName>ppt_h</p:attrName>
                                        </p:attrNameLst>
                                      </p:cBhvr>
                                      <p:tavLst>
                                        <p:tav tm="0">
                                          <p:val>
                                            <p:strVal val="#ppt_h"/>
                                          </p:val>
                                        </p:tav>
                                        <p:tav tm="100000">
                                          <p:val>
                                            <p:strVal val="#ppt_h"/>
                                          </p:val>
                                        </p:tav>
                                      </p:tavLst>
                                    </p:anim>
                                  </p:childTnLst>
                                </p:cTn>
                              </p:par>
                              <p:par>
                                <p:cTn id="48" presetID="17" presetClass="entr" presetSubtype="10" fill="hold" nodeType="withEffect">
                                  <p:stCondLst>
                                    <p:cond delay="0"/>
                                  </p:stCondLst>
                                  <p:iterate type="lt">
                                    <p:tmPct val="20000"/>
                                  </p:iterate>
                                  <p:childTnLst>
                                    <p:set>
                                      <p:cBhvr>
                                        <p:cTn id="49" dur="1" fill="hold">
                                          <p:stCondLst>
                                            <p:cond delay="0"/>
                                          </p:stCondLst>
                                        </p:cTn>
                                        <p:tgtEl>
                                          <p:spTgt spid="65">
                                            <p:txEl>
                                              <p:pRg st="0" end="0"/>
                                            </p:txEl>
                                          </p:spTgt>
                                        </p:tgtEl>
                                        <p:attrNameLst>
                                          <p:attrName>style.visibility</p:attrName>
                                        </p:attrNameLst>
                                      </p:cBhvr>
                                      <p:to>
                                        <p:strVal val="visible"/>
                                      </p:to>
                                    </p:set>
                                    <p:anim calcmode="lin" valueType="num">
                                      <p:cBhvr>
                                        <p:cTn id="50" dur="500" fill="hold"/>
                                        <p:tgtEl>
                                          <p:spTgt spid="65">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65">
                                            <p:txEl>
                                              <p:pRg st="0" end="0"/>
                                            </p:txEl>
                                          </p:spTgt>
                                        </p:tgtEl>
                                        <p:attrNameLst>
                                          <p:attrName>ppt_h</p:attrName>
                                        </p:attrNameLst>
                                      </p:cBhvr>
                                      <p:tavLst>
                                        <p:tav tm="0">
                                          <p:val>
                                            <p:strVal val="#ppt_h"/>
                                          </p:val>
                                        </p:tav>
                                        <p:tav tm="100000">
                                          <p:val>
                                            <p:strVal val="#ppt_h"/>
                                          </p:val>
                                        </p:tav>
                                      </p:tavLst>
                                    </p:anim>
                                  </p:childTnLst>
                                </p:cTn>
                              </p:par>
                            </p:childTnLst>
                          </p:cTn>
                        </p:par>
                        <p:par>
                          <p:cTn id="52" fill="hold">
                            <p:stCondLst>
                              <p:cond delay="2000"/>
                            </p:stCondLst>
                            <p:childTnLst>
                              <p:par>
                                <p:cTn id="53" presetID="20" presetClass="entr" presetSubtype="0" fill="hold" grpId="0" nodeType="afterEffect">
                                  <p:stCondLst>
                                    <p:cond delay="0"/>
                                  </p:stCondLst>
                                  <p:childTnLst>
                                    <p:set>
                                      <p:cBhvr>
                                        <p:cTn id="54" dur="1000" fill="hold">
                                          <p:stCondLst>
                                            <p:cond delay="0"/>
                                          </p:stCondLst>
                                        </p:cTn>
                                        <p:tgtEl>
                                          <p:spTgt spid="56"/>
                                        </p:tgtEl>
                                        <p:attrNameLst>
                                          <p:attrName>style.visibility</p:attrName>
                                        </p:attrNameLst>
                                      </p:cBhvr>
                                      <p:to>
                                        <p:strVal val="visible"/>
                                      </p:to>
                                    </p:set>
                                    <p:animEffect transition="in" filter="wedge">
                                      <p:cBhvr>
                                        <p:cTn id="55" dur="10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decel="100000"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500" fill="hold"/>
                                        <p:tgtEl>
                                          <p:spTgt spid="11"/>
                                        </p:tgtEl>
                                        <p:attrNameLst>
                                          <p:attrName>ppt_x</p:attrName>
                                        </p:attrNameLst>
                                      </p:cBhvr>
                                      <p:tavLst>
                                        <p:tav tm="0">
                                          <p:val>
                                            <p:strVal val="1+#ppt_w/2"/>
                                          </p:val>
                                        </p:tav>
                                        <p:tav tm="100000">
                                          <p:val>
                                            <p:strVal val="#ppt_x"/>
                                          </p:val>
                                        </p:tav>
                                      </p:tavLst>
                                    </p:anim>
                                    <p:anim calcmode="lin" valueType="num">
                                      <p:cBhvr additive="base">
                                        <p:cTn id="61"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decel="100000"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additive="base">
                                        <p:cTn id="66" dur="500" fill="hold"/>
                                        <p:tgtEl>
                                          <p:spTgt spid="14"/>
                                        </p:tgtEl>
                                        <p:attrNameLst>
                                          <p:attrName>ppt_x</p:attrName>
                                        </p:attrNameLst>
                                      </p:cBhvr>
                                      <p:tavLst>
                                        <p:tav tm="0">
                                          <p:val>
                                            <p:strVal val="1+#ppt_w/2"/>
                                          </p:val>
                                        </p:tav>
                                        <p:tav tm="100000">
                                          <p:val>
                                            <p:strVal val="#ppt_x"/>
                                          </p:val>
                                        </p:tav>
                                      </p:tavLst>
                                    </p:anim>
                                    <p:anim calcmode="lin" valueType="num">
                                      <p:cBhvr additive="base">
                                        <p:cTn id="67"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2" decel="100000" fill="hold" nodeType="click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1+#ppt_w/2"/>
                                          </p:val>
                                        </p:tav>
                                        <p:tav tm="100000">
                                          <p:val>
                                            <p:strVal val="#ppt_x"/>
                                          </p:val>
                                        </p:tav>
                                      </p:tavLst>
                                    </p:anim>
                                    <p:anim calcmode="lin" valueType="num">
                                      <p:cBhvr additive="base">
                                        <p:cTn id="73"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2" decel="100000" fill="hold" nodeType="clickEffect">
                                  <p:stCondLst>
                                    <p:cond delay="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00" fill="hold"/>
                                        <p:tgtEl>
                                          <p:spTgt spid="21"/>
                                        </p:tgtEl>
                                        <p:attrNameLst>
                                          <p:attrName>ppt_x</p:attrName>
                                        </p:attrNameLst>
                                      </p:cBhvr>
                                      <p:tavLst>
                                        <p:tav tm="0">
                                          <p:val>
                                            <p:strVal val="1+#ppt_w/2"/>
                                          </p:val>
                                        </p:tav>
                                        <p:tav tm="100000">
                                          <p:val>
                                            <p:strVal val="#ppt_x"/>
                                          </p:val>
                                        </p:tav>
                                      </p:tavLst>
                                    </p:anim>
                                    <p:anim calcmode="lin" valueType="num">
                                      <p:cBhvr additive="base">
                                        <p:cTn id="79"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2" decel="100000" fill="hold" nodeType="clickEffect">
                                  <p:stCondLst>
                                    <p:cond delay="0"/>
                                  </p:stCondLst>
                                  <p:childTnLst>
                                    <p:set>
                                      <p:cBhvr>
                                        <p:cTn id="83" dur="1" fill="hold">
                                          <p:stCondLst>
                                            <p:cond delay="0"/>
                                          </p:stCondLst>
                                        </p:cTn>
                                        <p:tgtEl>
                                          <p:spTgt spid="7"/>
                                        </p:tgtEl>
                                        <p:attrNameLst>
                                          <p:attrName>style.visibility</p:attrName>
                                        </p:attrNameLst>
                                      </p:cBhvr>
                                      <p:to>
                                        <p:strVal val="visible"/>
                                      </p:to>
                                    </p:set>
                                    <p:anim calcmode="lin" valueType="num">
                                      <p:cBhvr additive="base">
                                        <p:cTn id="84" dur="500" fill="hold"/>
                                        <p:tgtEl>
                                          <p:spTgt spid="7"/>
                                        </p:tgtEl>
                                        <p:attrNameLst>
                                          <p:attrName>ppt_x</p:attrName>
                                        </p:attrNameLst>
                                      </p:cBhvr>
                                      <p:tavLst>
                                        <p:tav tm="0">
                                          <p:val>
                                            <p:strVal val="1+#ppt_w/2"/>
                                          </p:val>
                                        </p:tav>
                                        <p:tav tm="100000">
                                          <p:val>
                                            <p:strVal val="#ppt_x"/>
                                          </p:val>
                                        </p:tav>
                                      </p:tavLst>
                                    </p:anim>
                                    <p:anim calcmode="lin" valueType="num">
                                      <p:cBhvr additive="base">
                                        <p:cTn id="85"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2" decel="100000" fill="hold" nodeType="clickEffect">
                                  <p:stCondLst>
                                    <p:cond delay="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00" fill="hold"/>
                                        <p:tgtEl>
                                          <p:spTgt spid="24"/>
                                        </p:tgtEl>
                                        <p:attrNameLst>
                                          <p:attrName>ppt_x</p:attrName>
                                        </p:attrNameLst>
                                      </p:cBhvr>
                                      <p:tavLst>
                                        <p:tav tm="0">
                                          <p:val>
                                            <p:strVal val="1+#ppt_w/2"/>
                                          </p:val>
                                        </p:tav>
                                        <p:tav tm="100000">
                                          <p:val>
                                            <p:strVal val="#ppt_x"/>
                                          </p:val>
                                        </p:tav>
                                      </p:tavLst>
                                    </p:anim>
                                    <p:anim calcmode="lin" valueType="num">
                                      <p:cBhvr additive="base">
                                        <p:cTn id="91"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3" grpId="0"/>
      <p:bldP spid="4" grpId="0" bldLvl="0" animBg="1"/>
      <p:bldP spid="6" grpId="0" bldLvl="0" animBg="1"/>
      <p:bldP spid="8" grpId="0" bldLvl="0" animBg="1"/>
      <p:bldP spid="56" grpId="0" bldLvl="0" animBg="1"/>
      <p:bldP spid="62" grpId="0" bldLvl="0" animBg="1"/>
      <p:bldP spid="63" grpId="0" bldLvl="0" animBg="1"/>
      <p:bldP spid="64" grpId="0" bldLvl="0" animBg="1"/>
      <p:bldP spid="5"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8849" y="152820"/>
            <a:ext cx="6295901"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任务实施步骤</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19" name="组合 18"/>
          <p:cNvGrpSpPr/>
          <p:nvPr/>
        </p:nvGrpSpPr>
        <p:grpSpPr>
          <a:xfrm>
            <a:off x="748104" y="1444720"/>
            <a:ext cx="10519915" cy="4175557"/>
            <a:chOff x="669925" y="1108214"/>
            <a:chExt cx="10521559" cy="4176209"/>
          </a:xfrm>
        </p:grpSpPr>
        <p:sp>
          <p:nvSpPr>
            <p:cNvPr id="21" name="išļídé"/>
            <p:cNvSpPr/>
            <p:nvPr/>
          </p:nvSpPr>
          <p:spPr bwMode="auto">
            <a:xfrm>
              <a:off x="669925" y="1700809"/>
              <a:ext cx="9794527" cy="3583614"/>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solidFill>
              <a:prstDash val="dash"/>
              <a:miter lim="800000"/>
            </a:ln>
          </p:spPr>
          <p:txBody>
            <a:bodyPr vert="horz" wrap="square" lIns="109710" tIns="54855" rIns="109710" bIns="54855" numCol="1" anchor="t" anchorCtr="0" compatLnSpc="1"/>
            <a:lstStyle/>
            <a:p>
              <a:pPr>
                <a:lnSpc>
                  <a:spcPct val="120000"/>
                </a:lnSpc>
              </a:pPr>
              <a:endParaRPr lang="en-US" sz="2160" dirty="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7" name="iśľíḑé"/>
            <p:cNvSpPr/>
            <p:nvPr/>
          </p:nvSpPr>
          <p:spPr bwMode="auto">
            <a:xfrm>
              <a:off x="2616440" y="3258380"/>
              <a:ext cx="777020" cy="724217"/>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8" name="íṧļiḑé"/>
            <p:cNvSpPr/>
            <p:nvPr/>
          </p:nvSpPr>
          <p:spPr>
            <a:xfrm>
              <a:off x="2873120" y="3452092"/>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481" y="12956"/>
                  </a:moveTo>
                  <a:cubicBezTo>
                    <a:pt x="17070" y="12258"/>
                    <a:pt x="16576" y="11533"/>
                    <a:pt x="16011" y="10795"/>
                  </a:cubicBezTo>
                  <a:cubicBezTo>
                    <a:pt x="16573" y="10063"/>
                    <a:pt x="17072" y="9339"/>
                    <a:pt x="17481" y="8644"/>
                  </a:cubicBezTo>
                  <a:cubicBezTo>
                    <a:pt x="19410" y="9181"/>
                    <a:pt x="20618" y="9948"/>
                    <a:pt x="20618" y="10800"/>
                  </a:cubicBezTo>
                  <a:cubicBezTo>
                    <a:pt x="20618" y="11652"/>
                    <a:pt x="19410" y="12419"/>
                    <a:pt x="17481" y="12956"/>
                  </a:cubicBezTo>
                  <a:moveTo>
                    <a:pt x="17742" y="17743"/>
                  </a:moveTo>
                  <a:cubicBezTo>
                    <a:pt x="17140" y="18345"/>
                    <a:pt x="15740" y="18028"/>
                    <a:pt x="13996" y="17045"/>
                  </a:cubicBezTo>
                  <a:cubicBezTo>
                    <a:pt x="14198" y="16261"/>
                    <a:pt x="14365" y="15406"/>
                    <a:pt x="14487" y="14488"/>
                  </a:cubicBezTo>
                  <a:cubicBezTo>
                    <a:pt x="15405" y="14366"/>
                    <a:pt x="16261" y="14198"/>
                    <a:pt x="17044" y="13996"/>
                  </a:cubicBezTo>
                  <a:cubicBezTo>
                    <a:pt x="18028" y="15740"/>
                    <a:pt x="18345" y="17140"/>
                    <a:pt x="17742" y="17743"/>
                  </a:cubicBezTo>
                  <a:moveTo>
                    <a:pt x="15404" y="11561"/>
                  </a:moveTo>
                  <a:cubicBezTo>
                    <a:pt x="15837" y="12119"/>
                    <a:pt x="16219" y="12662"/>
                    <a:pt x="16554" y="13185"/>
                  </a:cubicBezTo>
                  <a:cubicBezTo>
                    <a:pt x="15950" y="13317"/>
                    <a:pt x="15295" y="13429"/>
                    <a:pt x="14597" y="13517"/>
                  </a:cubicBezTo>
                  <a:cubicBezTo>
                    <a:pt x="14631" y="13155"/>
                    <a:pt x="14655" y="12784"/>
                    <a:pt x="14677" y="12409"/>
                  </a:cubicBezTo>
                  <a:cubicBezTo>
                    <a:pt x="14930" y="12127"/>
                    <a:pt x="15170" y="11844"/>
                    <a:pt x="15404" y="11561"/>
                  </a:cubicBezTo>
                  <a:moveTo>
                    <a:pt x="15402" y="10032"/>
                  </a:moveTo>
                  <a:cubicBezTo>
                    <a:pt x="15170" y="9752"/>
                    <a:pt x="14928" y="9471"/>
                    <a:pt x="14677" y="9191"/>
                  </a:cubicBezTo>
                  <a:cubicBezTo>
                    <a:pt x="14655" y="8817"/>
                    <a:pt x="14631" y="8445"/>
                    <a:pt x="14597" y="8084"/>
                  </a:cubicBezTo>
                  <a:cubicBezTo>
                    <a:pt x="15295" y="8171"/>
                    <a:pt x="15950" y="8283"/>
                    <a:pt x="16554" y="8415"/>
                  </a:cubicBezTo>
                  <a:cubicBezTo>
                    <a:pt x="16221" y="8935"/>
                    <a:pt x="15832" y="9478"/>
                    <a:pt x="15402" y="10032"/>
                  </a:cubicBezTo>
                  <a:moveTo>
                    <a:pt x="17742" y="3857"/>
                  </a:moveTo>
                  <a:cubicBezTo>
                    <a:pt x="18345" y="4460"/>
                    <a:pt x="18028" y="5860"/>
                    <a:pt x="17044" y="7604"/>
                  </a:cubicBezTo>
                  <a:cubicBezTo>
                    <a:pt x="16261" y="7402"/>
                    <a:pt x="15405" y="7234"/>
                    <a:pt x="14487" y="7112"/>
                  </a:cubicBezTo>
                  <a:cubicBezTo>
                    <a:pt x="14365" y="6194"/>
                    <a:pt x="14198" y="5339"/>
                    <a:pt x="13996" y="4555"/>
                  </a:cubicBezTo>
                  <a:cubicBezTo>
                    <a:pt x="15740" y="3572"/>
                    <a:pt x="17140" y="3255"/>
                    <a:pt x="17742" y="3857"/>
                  </a:cubicBezTo>
                  <a:moveTo>
                    <a:pt x="13718" y="12012"/>
                  </a:moveTo>
                  <a:cubicBezTo>
                    <a:pt x="13448" y="12303"/>
                    <a:pt x="13172" y="12593"/>
                    <a:pt x="12882" y="12883"/>
                  </a:cubicBezTo>
                  <a:cubicBezTo>
                    <a:pt x="12593" y="13172"/>
                    <a:pt x="12303" y="13449"/>
                    <a:pt x="12012" y="13719"/>
                  </a:cubicBezTo>
                  <a:cubicBezTo>
                    <a:pt x="11614" y="13733"/>
                    <a:pt x="11212" y="13745"/>
                    <a:pt x="10800" y="13745"/>
                  </a:cubicBezTo>
                  <a:cubicBezTo>
                    <a:pt x="10387" y="13745"/>
                    <a:pt x="9985" y="13733"/>
                    <a:pt x="9587" y="13719"/>
                  </a:cubicBezTo>
                  <a:cubicBezTo>
                    <a:pt x="9297" y="13449"/>
                    <a:pt x="9006" y="13172"/>
                    <a:pt x="8717" y="12883"/>
                  </a:cubicBezTo>
                  <a:cubicBezTo>
                    <a:pt x="8428" y="12593"/>
                    <a:pt x="8152" y="12303"/>
                    <a:pt x="7881" y="12012"/>
                  </a:cubicBezTo>
                  <a:cubicBezTo>
                    <a:pt x="7866" y="11614"/>
                    <a:pt x="7855" y="11212"/>
                    <a:pt x="7855" y="10800"/>
                  </a:cubicBezTo>
                  <a:cubicBezTo>
                    <a:pt x="7855" y="10388"/>
                    <a:pt x="7866" y="9986"/>
                    <a:pt x="7881" y="9587"/>
                  </a:cubicBezTo>
                  <a:cubicBezTo>
                    <a:pt x="8152" y="9297"/>
                    <a:pt x="8428" y="9007"/>
                    <a:pt x="8717" y="8717"/>
                  </a:cubicBezTo>
                  <a:cubicBezTo>
                    <a:pt x="9006" y="8428"/>
                    <a:pt x="9297" y="8151"/>
                    <a:pt x="9587" y="7881"/>
                  </a:cubicBezTo>
                  <a:cubicBezTo>
                    <a:pt x="9985" y="7867"/>
                    <a:pt x="10387" y="7855"/>
                    <a:pt x="10800" y="7855"/>
                  </a:cubicBezTo>
                  <a:cubicBezTo>
                    <a:pt x="11212" y="7855"/>
                    <a:pt x="11614" y="7867"/>
                    <a:pt x="12012" y="7881"/>
                  </a:cubicBezTo>
                  <a:cubicBezTo>
                    <a:pt x="12303" y="8151"/>
                    <a:pt x="12593" y="8428"/>
                    <a:pt x="12882" y="8717"/>
                  </a:cubicBezTo>
                  <a:cubicBezTo>
                    <a:pt x="13172" y="9007"/>
                    <a:pt x="13448" y="9297"/>
                    <a:pt x="13718" y="9587"/>
                  </a:cubicBezTo>
                  <a:cubicBezTo>
                    <a:pt x="13733" y="9986"/>
                    <a:pt x="13745" y="10388"/>
                    <a:pt x="13745" y="10800"/>
                  </a:cubicBezTo>
                  <a:cubicBezTo>
                    <a:pt x="13745" y="11212"/>
                    <a:pt x="13733" y="11614"/>
                    <a:pt x="13718" y="12012"/>
                  </a:cubicBezTo>
                  <a:moveTo>
                    <a:pt x="13185" y="16555"/>
                  </a:moveTo>
                  <a:cubicBezTo>
                    <a:pt x="12662" y="16219"/>
                    <a:pt x="12120" y="15837"/>
                    <a:pt x="11561" y="15404"/>
                  </a:cubicBezTo>
                  <a:cubicBezTo>
                    <a:pt x="11844" y="15170"/>
                    <a:pt x="12127" y="14931"/>
                    <a:pt x="12409" y="14677"/>
                  </a:cubicBezTo>
                  <a:cubicBezTo>
                    <a:pt x="12783" y="14655"/>
                    <a:pt x="13155" y="14631"/>
                    <a:pt x="13517" y="14597"/>
                  </a:cubicBezTo>
                  <a:cubicBezTo>
                    <a:pt x="13429" y="15295"/>
                    <a:pt x="13316" y="15950"/>
                    <a:pt x="13185" y="16555"/>
                  </a:cubicBezTo>
                  <a:moveTo>
                    <a:pt x="10800" y="20618"/>
                  </a:moveTo>
                  <a:cubicBezTo>
                    <a:pt x="9948" y="20618"/>
                    <a:pt x="9181" y="19410"/>
                    <a:pt x="8643" y="17481"/>
                  </a:cubicBezTo>
                  <a:cubicBezTo>
                    <a:pt x="9339" y="17072"/>
                    <a:pt x="10062" y="16573"/>
                    <a:pt x="10795" y="16011"/>
                  </a:cubicBezTo>
                  <a:cubicBezTo>
                    <a:pt x="11532" y="16576"/>
                    <a:pt x="12258" y="17070"/>
                    <a:pt x="12957" y="17481"/>
                  </a:cubicBezTo>
                  <a:cubicBezTo>
                    <a:pt x="12419" y="19410"/>
                    <a:pt x="11652" y="20618"/>
                    <a:pt x="10800" y="20618"/>
                  </a:cubicBezTo>
                  <a:moveTo>
                    <a:pt x="8083" y="14597"/>
                  </a:moveTo>
                  <a:cubicBezTo>
                    <a:pt x="8445" y="14631"/>
                    <a:pt x="8816" y="14655"/>
                    <a:pt x="9190" y="14677"/>
                  </a:cubicBezTo>
                  <a:cubicBezTo>
                    <a:pt x="9471" y="14929"/>
                    <a:pt x="9751" y="15170"/>
                    <a:pt x="10032" y="15403"/>
                  </a:cubicBezTo>
                  <a:cubicBezTo>
                    <a:pt x="9478" y="15832"/>
                    <a:pt x="8935" y="16221"/>
                    <a:pt x="8415" y="16555"/>
                  </a:cubicBezTo>
                  <a:cubicBezTo>
                    <a:pt x="8283" y="15950"/>
                    <a:pt x="8171" y="15295"/>
                    <a:pt x="8083" y="14597"/>
                  </a:cubicBezTo>
                  <a:moveTo>
                    <a:pt x="8415" y="5045"/>
                  </a:moveTo>
                  <a:cubicBezTo>
                    <a:pt x="8938" y="5381"/>
                    <a:pt x="9480" y="5762"/>
                    <a:pt x="10038" y="6196"/>
                  </a:cubicBezTo>
                  <a:cubicBezTo>
                    <a:pt x="9756" y="6430"/>
                    <a:pt x="9473" y="6670"/>
                    <a:pt x="9190" y="6924"/>
                  </a:cubicBezTo>
                  <a:cubicBezTo>
                    <a:pt x="8816" y="6945"/>
                    <a:pt x="8445" y="6969"/>
                    <a:pt x="8083" y="7003"/>
                  </a:cubicBezTo>
                  <a:cubicBezTo>
                    <a:pt x="8171" y="6305"/>
                    <a:pt x="8283" y="5650"/>
                    <a:pt x="8415" y="5045"/>
                  </a:cubicBezTo>
                  <a:moveTo>
                    <a:pt x="10800" y="982"/>
                  </a:moveTo>
                  <a:cubicBezTo>
                    <a:pt x="11652" y="982"/>
                    <a:pt x="12419" y="2191"/>
                    <a:pt x="12957" y="4119"/>
                  </a:cubicBezTo>
                  <a:cubicBezTo>
                    <a:pt x="12261" y="4528"/>
                    <a:pt x="11537" y="5027"/>
                    <a:pt x="10804" y="5589"/>
                  </a:cubicBezTo>
                  <a:cubicBezTo>
                    <a:pt x="10067" y="5024"/>
                    <a:pt x="9341" y="4530"/>
                    <a:pt x="8643" y="4119"/>
                  </a:cubicBezTo>
                  <a:cubicBezTo>
                    <a:pt x="9181" y="2191"/>
                    <a:pt x="9948" y="982"/>
                    <a:pt x="10800" y="982"/>
                  </a:cubicBezTo>
                  <a:moveTo>
                    <a:pt x="13517" y="7003"/>
                  </a:moveTo>
                  <a:cubicBezTo>
                    <a:pt x="13155" y="6969"/>
                    <a:pt x="12783" y="6945"/>
                    <a:pt x="12409" y="6924"/>
                  </a:cubicBezTo>
                  <a:cubicBezTo>
                    <a:pt x="12129" y="6671"/>
                    <a:pt x="11848" y="6430"/>
                    <a:pt x="11568" y="6198"/>
                  </a:cubicBezTo>
                  <a:cubicBezTo>
                    <a:pt x="12122" y="5768"/>
                    <a:pt x="12665" y="5379"/>
                    <a:pt x="13185" y="5045"/>
                  </a:cubicBezTo>
                  <a:cubicBezTo>
                    <a:pt x="13316" y="5650"/>
                    <a:pt x="13429" y="6305"/>
                    <a:pt x="13517" y="7003"/>
                  </a:cubicBezTo>
                  <a:moveTo>
                    <a:pt x="7112" y="7112"/>
                  </a:moveTo>
                  <a:cubicBezTo>
                    <a:pt x="6194" y="7234"/>
                    <a:pt x="5339" y="7402"/>
                    <a:pt x="4555" y="7604"/>
                  </a:cubicBezTo>
                  <a:cubicBezTo>
                    <a:pt x="3572" y="5860"/>
                    <a:pt x="3255" y="4460"/>
                    <a:pt x="3858" y="3857"/>
                  </a:cubicBezTo>
                  <a:cubicBezTo>
                    <a:pt x="4460" y="3255"/>
                    <a:pt x="5860" y="3572"/>
                    <a:pt x="7604" y="4555"/>
                  </a:cubicBezTo>
                  <a:cubicBezTo>
                    <a:pt x="7402" y="5339"/>
                    <a:pt x="7234" y="6194"/>
                    <a:pt x="7112" y="7112"/>
                  </a:cubicBezTo>
                  <a:moveTo>
                    <a:pt x="3858" y="17743"/>
                  </a:moveTo>
                  <a:cubicBezTo>
                    <a:pt x="3255" y="17140"/>
                    <a:pt x="3572" y="15740"/>
                    <a:pt x="4555" y="13996"/>
                  </a:cubicBezTo>
                  <a:cubicBezTo>
                    <a:pt x="5339" y="14198"/>
                    <a:pt x="6194" y="14366"/>
                    <a:pt x="7112" y="14488"/>
                  </a:cubicBezTo>
                  <a:cubicBezTo>
                    <a:pt x="7234" y="15406"/>
                    <a:pt x="7402" y="16261"/>
                    <a:pt x="7604" y="17045"/>
                  </a:cubicBezTo>
                  <a:cubicBezTo>
                    <a:pt x="5860" y="18028"/>
                    <a:pt x="4460" y="18345"/>
                    <a:pt x="3858" y="17743"/>
                  </a:cubicBezTo>
                  <a:moveTo>
                    <a:pt x="7003" y="13517"/>
                  </a:moveTo>
                  <a:cubicBezTo>
                    <a:pt x="6305" y="13429"/>
                    <a:pt x="5650" y="13317"/>
                    <a:pt x="5045" y="13185"/>
                  </a:cubicBezTo>
                  <a:cubicBezTo>
                    <a:pt x="5379" y="12665"/>
                    <a:pt x="5768" y="12122"/>
                    <a:pt x="6197" y="11568"/>
                  </a:cubicBezTo>
                  <a:cubicBezTo>
                    <a:pt x="6429" y="11848"/>
                    <a:pt x="6671" y="12129"/>
                    <a:pt x="6923" y="12409"/>
                  </a:cubicBezTo>
                  <a:cubicBezTo>
                    <a:pt x="6944" y="12784"/>
                    <a:pt x="6968" y="13155"/>
                    <a:pt x="7003" y="13517"/>
                  </a:cubicBezTo>
                  <a:moveTo>
                    <a:pt x="6923" y="9191"/>
                  </a:moveTo>
                  <a:cubicBezTo>
                    <a:pt x="6669" y="9473"/>
                    <a:pt x="6429" y="9756"/>
                    <a:pt x="6196" y="10039"/>
                  </a:cubicBezTo>
                  <a:cubicBezTo>
                    <a:pt x="5763" y="9481"/>
                    <a:pt x="5381" y="8938"/>
                    <a:pt x="5045" y="8415"/>
                  </a:cubicBezTo>
                  <a:cubicBezTo>
                    <a:pt x="5650" y="8283"/>
                    <a:pt x="6305" y="8171"/>
                    <a:pt x="7003" y="8084"/>
                  </a:cubicBezTo>
                  <a:cubicBezTo>
                    <a:pt x="6968" y="8445"/>
                    <a:pt x="6944" y="8816"/>
                    <a:pt x="6923" y="9191"/>
                  </a:cubicBezTo>
                  <a:moveTo>
                    <a:pt x="982" y="10800"/>
                  </a:moveTo>
                  <a:cubicBezTo>
                    <a:pt x="982" y="9948"/>
                    <a:pt x="2190" y="9181"/>
                    <a:pt x="4119" y="8644"/>
                  </a:cubicBezTo>
                  <a:cubicBezTo>
                    <a:pt x="4530" y="9342"/>
                    <a:pt x="5023" y="10067"/>
                    <a:pt x="5588" y="10805"/>
                  </a:cubicBezTo>
                  <a:cubicBezTo>
                    <a:pt x="5027" y="11537"/>
                    <a:pt x="4528" y="12262"/>
                    <a:pt x="4119" y="12956"/>
                  </a:cubicBezTo>
                  <a:cubicBezTo>
                    <a:pt x="2190" y="12419"/>
                    <a:pt x="982" y="11652"/>
                    <a:pt x="982" y="10800"/>
                  </a:cubicBezTo>
                  <a:moveTo>
                    <a:pt x="21600" y="10800"/>
                  </a:moveTo>
                  <a:cubicBezTo>
                    <a:pt x="21600" y="9624"/>
                    <a:pt x="20173" y="8571"/>
                    <a:pt x="17918" y="7853"/>
                  </a:cubicBezTo>
                  <a:cubicBezTo>
                    <a:pt x="19002" y="5750"/>
                    <a:pt x="19269" y="3995"/>
                    <a:pt x="18437" y="3163"/>
                  </a:cubicBezTo>
                  <a:cubicBezTo>
                    <a:pt x="17605" y="2332"/>
                    <a:pt x="15850" y="2598"/>
                    <a:pt x="13748" y="3682"/>
                  </a:cubicBezTo>
                  <a:cubicBezTo>
                    <a:pt x="13029" y="1427"/>
                    <a:pt x="11976" y="0"/>
                    <a:pt x="10800" y="0"/>
                  </a:cubicBezTo>
                  <a:cubicBezTo>
                    <a:pt x="9623" y="0"/>
                    <a:pt x="8571" y="1427"/>
                    <a:pt x="7852" y="3682"/>
                  </a:cubicBezTo>
                  <a:cubicBezTo>
                    <a:pt x="5750" y="2598"/>
                    <a:pt x="3995" y="2332"/>
                    <a:pt x="3163" y="3163"/>
                  </a:cubicBezTo>
                  <a:cubicBezTo>
                    <a:pt x="2331" y="3995"/>
                    <a:pt x="2598" y="5750"/>
                    <a:pt x="3682" y="7853"/>
                  </a:cubicBezTo>
                  <a:cubicBezTo>
                    <a:pt x="1426" y="8571"/>
                    <a:pt x="0" y="9624"/>
                    <a:pt x="0" y="10800"/>
                  </a:cubicBezTo>
                  <a:cubicBezTo>
                    <a:pt x="0" y="11976"/>
                    <a:pt x="1426" y="13029"/>
                    <a:pt x="3682" y="13748"/>
                  </a:cubicBezTo>
                  <a:cubicBezTo>
                    <a:pt x="2598" y="15851"/>
                    <a:pt x="2331" y="17605"/>
                    <a:pt x="3163" y="18437"/>
                  </a:cubicBezTo>
                  <a:cubicBezTo>
                    <a:pt x="3995" y="19268"/>
                    <a:pt x="5750" y="19002"/>
                    <a:pt x="7852" y="17918"/>
                  </a:cubicBezTo>
                  <a:cubicBezTo>
                    <a:pt x="8571" y="20173"/>
                    <a:pt x="9623" y="21600"/>
                    <a:pt x="10800" y="21600"/>
                  </a:cubicBezTo>
                  <a:cubicBezTo>
                    <a:pt x="11976" y="21600"/>
                    <a:pt x="13029" y="20173"/>
                    <a:pt x="13748" y="17918"/>
                  </a:cubicBezTo>
                  <a:cubicBezTo>
                    <a:pt x="15850" y="19002"/>
                    <a:pt x="17605" y="19268"/>
                    <a:pt x="18437" y="18437"/>
                  </a:cubicBezTo>
                  <a:cubicBezTo>
                    <a:pt x="19269" y="17605"/>
                    <a:pt x="19002" y="15851"/>
                    <a:pt x="17918" y="13748"/>
                  </a:cubicBezTo>
                  <a:cubicBezTo>
                    <a:pt x="20173" y="13029"/>
                    <a:pt x="21600" y="11976"/>
                    <a:pt x="21600" y="10800"/>
                  </a:cubicBezTo>
                  <a:moveTo>
                    <a:pt x="10800" y="9818"/>
                  </a:moveTo>
                  <a:cubicBezTo>
                    <a:pt x="10258" y="9818"/>
                    <a:pt x="9818" y="10258"/>
                    <a:pt x="9818" y="10800"/>
                  </a:cubicBezTo>
                  <a:cubicBezTo>
                    <a:pt x="9818" y="11342"/>
                    <a:pt x="10258" y="11782"/>
                    <a:pt x="10800" y="11782"/>
                  </a:cubicBezTo>
                  <a:cubicBezTo>
                    <a:pt x="11342" y="11782"/>
                    <a:pt x="11782" y="11342"/>
                    <a:pt x="11782" y="10800"/>
                  </a:cubicBezTo>
                  <a:cubicBezTo>
                    <a:pt x="11782" y="10258"/>
                    <a:pt x="11342" y="9818"/>
                    <a:pt x="10800" y="9818"/>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9" name="îṥḻîďe"/>
            <p:cNvSpPr/>
            <p:nvPr/>
          </p:nvSpPr>
          <p:spPr bwMode="auto">
            <a:xfrm>
              <a:off x="4522343" y="3825624"/>
              <a:ext cx="777020" cy="774892"/>
            </a:xfrm>
            <a:prstGeom prst="ellipse">
              <a:avLst/>
            </a:prstGeom>
            <a:solidFill>
              <a:schemeClr val="accent1"/>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0" name="íšļîḍé"/>
            <p:cNvSpPr/>
            <p:nvPr/>
          </p:nvSpPr>
          <p:spPr>
            <a:xfrm>
              <a:off x="4804357" y="4096502"/>
              <a:ext cx="236448" cy="236449"/>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7" y="0"/>
                    <a:pt x="9818" y="440"/>
                    <a:pt x="9818" y="982"/>
                  </a:cubicBezTo>
                  <a:lnTo>
                    <a:pt x="982" y="982"/>
                  </a:lnTo>
                  <a:cubicBezTo>
                    <a:pt x="439" y="982"/>
                    <a:pt x="0" y="1422"/>
                    <a:pt x="0" y="1964"/>
                  </a:cubicBezTo>
                  <a:lnTo>
                    <a:pt x="0" y="2945"/>
                  </a:lnTo>
                  <a:cubicBezTo>
                    <a:pt x="0" y="3488"/>
                    <a:pt x="439" y="3927"/>
                    <a:pt x="982" y="3927"/>
                  </a:cubicBezTo>
                  <a:lnTo>
                    <a:pt x="982" y="15709"/>
                  </a:lnTo>
                  <a:cubicBezTo>
                    <a:pt x="982" y="16252"/>
                    <a:pt x="1421" y="16691"/>
                    <a:pt x="1964" y="16691"/>
                  </a:cubicBezTo>
                  <a:lnTo>
                    <a:pt x="10309" y="16691"/>
                  </a:lnTo>
                  <a:lnTo>
                    <a:pt x="10309" y="17960"/>
                  </a:lnTo>
                  <a:lnTo>
                    <a:pt x="7507" y="20762"/>
                  </a:lnTo>
                  <a:cubicBezTo>
                    <a:pt x="7419" y="20851"/>
                    <a:pt x="7364" y="20974"/>
                    <a:pt x="7364" y="21109"/>
                  </a:cubicBezTo>
                  <a:cubicBezTo>
                    <a:pt x="7364" y="21380"/>
                    <a:pt x="7583" y="21600"/>
                    <a:pt x="7855" y="21600"/>
                  </a:cubicBezTo>
                  <a:cubicBezTo>
                    <a:pt x="7990" y="21600"/>
                    <a:pt x="8113" y="21545"/>
                    <a:pt x="8202" y="21456"/>
                  </a:cubicBezTo>
                  <a:lnTo>
                    <a:pt x="10800" y="18858"/>
                  </a:lnTo>
                  <a:lnTo>
                    <a:pt x="13398" y="21456"/>
                  </a:lnTo>
                  <a:cubicBezTo>
                    <a:pt x="13488" y="21545"/>
                    <a:pt x="13610" y="21600"/>
                    <a:pt x="13745" y="21600"/>
                  </a:cubicBezTo>
                  <a:cubicBezTo>
                    <a:pt x="14017" y="21600"/>
                    <a:pt x="14236" y="21380"/>
                    <a:pt x="14236" y="21109"/>
                  </a:cubicBezTo>
                  <a:cubicBezTo>
                    <a:pt x="14236" y="20974"/>
                    <a:pt x="14182"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6200" y="5891"/>
                  </a:moveTo>
                  <a:cubicBezTo>
                    <a:pt x="16471" y="5891"/>
                    <a:pt x="16691" y="6111"/>
                    <a:pt x="16691" y="6382"/>
                  </a:cubicBezTo>
                  <a:cubicBezTo>
                    <a:pt x="16691" y="6653"/>
                    <a:pt x="16471" y="6873"/>
                    <a:pt x="16200" y="6873"/>
                  </a:cubicBezTo>
                  <a:cubicBezTo>
                    <a:pt x="15929" y="6873"/>
                    <a:pt x="15709" y="6653"/>
                    <a:pt x="15709" y="6382"/>
                  </a:cubicBezTo>
                  <a:cubicBezTo>
                    <a:pt x="15709" y="6111"/>
                    <a:pt x="15929" y="5891"/>
                    <a:pt x="16200" y="5891"/>
                  </a:cubicBezTo>
                  <a:moveTo>
                    <a:pt x="16200" y="7855"/>
                  </a:moveTo>
                  <a:cubicBezTo>
                    <a:pt x="17013" y="7855"/>
                    <a:pt x="17673" y="7196"/>
                    <a:pt x="17673" y="6382"/>
                  </a:cubicBezTo>
                  <a:cubicBezTo>
                    <a:pt x="17673" y="5569"/>
                    <a:pt x="17013" y="4909"/>
                    <a:pt x="16200" y="4909"/>
                  </a:cubicBezTo>
                  <a:cubicBezTo>
                    <a:pt x="15387" y="4909"/>
                    <a:pt x="14727" y="5569"/>
                    <a:pt x="14727" y="6382"/>
                  </a:cubicBezTo>
                  <a:cubicBezTo>
                    <a:pt x="14727" y="7196"/>
                    <a:pt x="15387" y="7855"/>
                    <a:pt x="16200" y="7855"/>
                  </a:cubicBezTo>
                  <a:moveTo>
                    <a:pt x="8422" y="8135"/>
                  </a:moveTo>
                  <a:lnTo>
                    <a:pt x="11926" y="11638"/>
                  </a:lnTo>
                  <a:cubicBezTo>
                    <a:pt x="12015" y="11727"/>
                    <a:pt x="12138" y="11782"/>
                    <a:pt x="12273" y="11782"/>
                  </a:cubicBezTo>
                  <a:cubicBezTo>
                    <a:pt x="12408" y="11782"/>
                    <a:pt x="12531" y="11727"/>
                    <a:pt x="12620" y="11638"/>
                  </a:cubicBezTo>
                  <a:lnTo>
                    <a:pt x="14183" y="10075"/>
                  </a:lnTo>
                  <a:lnTo>
                    <a:pt x="16200" y="12764"/>
                  </a:lnTo>
                  <a:lnTo>
                    <a:pt x="5336" y="12764"/>
                  </a:lnTo>
                  <a:cubicBezTo>
                    <a:pt x="5336" y="12764"/>
                    <a:pt x="8422" y="8135"/>
                    <a:pt x="8422" y="8135"/>
                  </a:cubicBezTo>
                  <a:close/>
                  <a:moveTo>
                    <a:pt x="4418" y="13745"/>
                  </a:moveTo>
                  <a:lnTo>
                    <a:pt x="17182" y="13745"/>
                  </a:lnTo>
                  <a:cubicBezTo>
                    <a:pt x="17453" y="13745"/>
                    <a:pt x="17673" y="13526"/>
                    <a:pt x="17673" y="13255"/>
                  </a:cubicBezTo>
                  <a:cubicBezTo>
                    <a:pt x="17673" y="13144"/>
                    <a:pt x="17630" y="13047"/>
                    <a:pt x="17568" y="12965"/>
                  </a:cubicBezTo>
                  <a:lnTo>
                    <a:pt x="17575" y="12960"/>
                  </a:lnTo>
                  <a:lnTo>
                    <a:pt x="14629" y="9033"/>
                  </a:lnTo>
                  <a:lnTo>
                    <a:pt x="14622" y="9038"/>
                  </a:lnTo>
                  <a:cubicBezTo>
                    <a:pt x="14533" y="8919"/>
                    <a:pt x="14397" y="8836"/>
                    <a:pt x="14236" y="8836"/>
                  </a:cubicBezTo>
                  <a:cubicBezTo>
                    <a:pt x="14101" y="8836"/>
                    <a:pt x="13978" y="8891"/>
                    <a:pt x="13889" y="8980"/>
                  </a:cubicBezTo>
                  <a:lnTo>
                    <a:pt x="12273" y="10597"/>
                  </a:lnTo>
                  <a:lnTo>
                    <a:pt x="8693" y="7017"/>
                  </a:lnTo>
                  <a:cubicBezTo>
                    <a:pt x="8604" y="6928"/>
                    <a:pt x="8481" y="6873"/>
                    <a:pt x="8345" y="6873"/>
                  </a:cubicBezTo>
                  <a:cubicBezTo>
                    <a:pt x="8175" y="6873"/>
                    <a:pt x="8033" y="6965"/>
                    <a:pt x="7945" y="7097"/>
                  </a:cubicBezTo>
                  <a:lnTo>
                    <a:pt x="7937" y="7091"/>
                  </a:lnTo>
                  <a:lnTo>
                    <a:pt x="4010" y="12982"/>
                  </a:lnTo>
                  <a:lnTo>
                    <a:pt x="4017" y="12988"/>
                  </a:lnTo>
                  <a:cubicBezTo>
                    <a:pt x="3965" y="13066"/>
                    <a:pt x="3927" y="13154"/>
                    <a:pt x="3927" y="13255"/>
                  </a:cubicBezTo>
                  <a:cubicBezTo>
                    <a:pt x="3927" y="13526"/>
                    <a:pt x="4147" y="13745"/>
                    <a:pt x="4418" y="1374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îşḷíďé"/>
            <p:cNvSpPr/>
            <p:nvPr/>
          </p:nvSpPr>
          <p:spPr bwMode="auto">
            <a:xfrm>
              <a:off x="6465051" y="2514529"/>
              <a:ext cx="687758" cy="685872"/>
            </a:xfrm>
            <a:prstGeom prst="ellipse">
              <a:avLst/>
            </a:prstGeom>
            <a:solidFill>
              <a:srgbClr val="0A5AB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îS1îḋe"/>
            <p:cNvSpPr/>
            <p:nvPr/>
          </p:nvSpPr>
          <p:spPr>
            <a:xfrm>
              <a:off x="6677173" y="26929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8280" y="18579"/>
                  </a:moveTo>
                  <a:cubicBezTo>
                    <a:pt x="20323" y="16614"/>
                    <a:pt x="21600" y="13859"/>
                    <a:pt x="21600" y="10800"/>
                  </a:cubicBezTo>
                  <a:cubicBezTo>
                    <a:pt x="21600" y="4835"/>
                    <a:pt x="16764" y="0"/>
                    <a:pt x="10800" y="0"/>
                  </a:cubicBezTo>
                  <a:cubicBezTo>
                    <a:pt x="4836" y="0"/>
                    <a:pt x="0" y="4835"/>
                    <a:pt x="0" y="10800"/>
                  </a:cubicBezTo>
                  <a:cubicBezTo>
                    <a:pt x="0" y="13859"/>
                    <a:pt x="1277" y="16614"/>
                    <a:pt x="3320" y="18579"/>
                  </a:cubicBezTo>
                  <a:lnTo>
                    <a:pt x="2107" y="20762"/>
                  </a:lnTo>
                  <a:cubicBezTo>
                    <a:pt x="2019" y="20851"/>
                    <a:pt x="1964" y="20974"/>
                    <a:pt x="1964" y="21109"/>
                  </a:cubicBezTo>
                  <a:cubicBezTo>
                    <a:pt x="1964" y="21380"/>
                    <a:pt x="2184" y="21600"/>
                    <a:pt x="2455" y="21600"/>
                  </a:cubicBezTo>
                  <a:cubicBezTo>
                    <a:pt x="2590" y="21600"/>
                    <a:pt x="2713" y="21545"/>
                    <a:pt x="2802" y="21456"/>
                  </a:cubicBezTo>
                  <a:cubicBezTo>
                    <a:pt x="2858" y="21400"/>
                    <a:pt x="2894" y="21327"/>
                    <a:pt x="2917" y="21248"/>
                  </a:cubicBezTo>
                  <a:lnTo>
                    <a:pt x="4044" y="19219"/>
                  </a:lnTo>
                  <a:cubicBezTo>
                    <a:pt x="5895" y="20706"/>
                    <a:pt x="8242" y="21600"/>
                    <a:pt x="10800" y="21600"/>
                  </a:cubicBezTo>
                  <a:cubicBezTo>
                    <a:pt x="13358" y="21600"/>
                    <a:pt x="15705" y="20706"/>
                    <a:pt x="17555" y="19219"/>
                  </a:cubicBezTo>
                  <a:lnTo>
                    <a:pt x="18683" y="21248"/>
                  </a:lnTo>
                  <a:cubicBezTo>
                    <a:pt x="18743" y="21450"/>
                    <a:pt x="18923" y="21600"/>
                    <a:pt x="19145" y="21600"/>
                  </a:cubicBezTo>
                  <a:cubicBezTo>
                    <a:pt x="19416" y="21600"/>
                    <a:pt x="19636" y="21380"/>
                    <a:pt x="19636" y="21109"/>
                  </a:cubicBezTo>
                  <a:cubicBezTo>
                    <a:pt x="19636" y="20974"/>
                    <a:pt x="19581" y="20851"/>
                    <a:pt x="19493" y="20762"/>
                  </a:cubicBezTo>
                  <a:cubicBezTo>
                    <a:pt x="19493" y="20762"/>
                    <a:pt x="18280" y="18579"/>
                    <a:pt x="18280" y="18579"/>
                  </a:cubicBezTo>
                  <a:close/>
                  <a:moveTo>
                    <a:pt x="10800" y="16691"/>
                  </a:moveTo>
                  <a:cubicBezTo>
                    <a:pt x="7547" y="16691"/>
                    <a:pt x="4909" y="14053"/>
                    <a:pt x="4909" y="10800"/>
                  </a:cubicBezTo>
                  <a:cubicBezTo>
                    <a:pt x="4909" y="7547"/>
                    <a:pt x="7547" y="4909"/>
                    <a:pt x="10800" y="4909"/>
                  </a:cubicBezTo>
                  <a:cubicBezTo>
                    <a:pt x="14053" y="4909"/>
                    <a:pt x="16691" y="7547"/>
                    <a:pt x="16691" y="10800"/>
                  </a:cubicBezTo>
                  <a:cubicBezTo>
                    <a:pt x="16691" y="14053"/>
                    <a:pt x="14053" y="16691"/>
                    <a:pt x="10800" y="16691"/>
                  </a:cubicBezTo>
                  <a:moveTo>
                    <a:pt x="10800" y="3927"/>
                  </a:moveTo>
                  <a:cubicBezTo>
                    <a:pt x="7004" y="3927"/>
                    <a:pt x="3927" y="7004"/>
                    <a:pt x="3927" y="10800"/>
                  </a:cubicBezTo>
                  <a:cubicBezTo>
                    <a:pt x="3927" y="14596"/>
                    <a:pt x="7004" y="17673"/>
                    <a:pt x="10800" y="17673"/>
                  </a:cubicBezTo>
                  <a:cubicBezTo>
                    <a:pt x="14596" y="17673"/>
                    <a:pt x="17673" y="14596"/>
                    <a:pt x="17673" y="10800"/>
                  </a:cubicBezTo>
                  <a:cubicBezTo>
                    <a:pt x="17673" y="7004"/>
                    <a:pt x="14596" y="3927"/>
                    <a:pt x="10800" y="3927"/>
                  </a:cubicBezTo>
                  <a:moveTo>
                    <a:pt x="10800" y="12764"/>
                  </a:moveTo>
                  <a:cubicBezTo>
                    <a:pt x="9716" y="12764"/>
                    <a:pt x="8836" y="11884"/>
                    <a:pt x="8836" y="10800"/>
                  </a:cubicBezTo>
                  <a:cubicBezTo>
                    <a:pt x="8836" y="9716"/>
                    <a:pt x="9716" y="8836"/>
                    <a:pt x="10800" y="8836"/>
                  </a:cubicBezTo>
                  <a:cubicBezTo>
                    <a:pt x="11884" y="8836"/>
                    <a:pt x="12764" y="9716"/>
                    <a:pt x="12764" y="10800"/>
                  </a:cubicBezTo>
                  <a:cubicBezTo>
                    <a:pt x="12764" y="11884"/>
                    <a:pt x="11884" y="12764"/>
                    <a:pt x="10800" y="12764"/>
                  </a:cubicBezTo>
                  <a:moveTo>
                    <a:pt x="10800" y="7855"/>
                  </a:moveTo>
                  <a:cubicBezTo>
                    <a:pt x="9173" y="7855"/>
                    <a:pt x="7855" y="9173"/>
                    <a:pt x="7855" y="10800"/>
                  </a:cubicBezTo>
                  <a:cubicBezTo>
                    <a:pt x="7855" y="12427"/>
                    <a:pt x="9173" y="13745"/>
                    <a:pt x="10800" y="13745"/>
                  </a:cubicBezTo>
                  <a:cubicBezTo>
                    <a:pt x="12427" y="13745"/>
                    <a:pt x="13745" y="12427"/>
                    <a:pt x="13745" y="10800"/>
                  </a:cubicBezTo>
                  <a:cubicBezTo>
                    <a:pt x="13745" y="9173"/>
                    <a:pt x="12427" y="7855"/>
                    <a:pt x="10800" y="7855"/>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5" name="îṥḻîḋe"/>
            <p:cNvSpPr/>
            <p:nvPr/>
          </p:nvSpPr>
          <p:spPr bwMode="auto">
            <a:xfrm>
              <a:off x="8343900" y="3021574"/>
              <a:ext cx="726206" cy="724216"/>
            </a:xfrm>
            <a:prstGeom prst="ellipse">
              <a:avLst/>
            </a:prstGeom>
            <a:solidFill>
              <a:srgbClr val="A5A5EE"/>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íṥlïḍê"/>
            <p:cNvSpPr/>
            <p:nvPr/>
          </p:nvSpPr>
          <p:spPr>
            <a:xfrm>
              <a:off x="8567338" y="324401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ïṥḻíde"/>
            <p:cNvSpPr/>
            <p:nvPr/>
          </p:nvSpPr>
          <p:spPr>
            <a:xfrm rot="816452">
              <a:off x="10423986" y="1108214"/>
              <a:ext cx="767498" cy="76749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accent1"/>
            </a:solidFill>
            <a:ln w="12700">
              <a:miter lim="400000"/>
            </a:ln>
          </p:spPr>
          <p:txBody>
            <a:bodyPr lIns="22851" tIns="22851" rIns="22851" bIns="22851" anchor="ct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iṥḻïḓé"/>
            <p:cNvSpPr/>
            <p:nvPr/>
          </p:nvSpPr>
          <p:spPr bwMode="auto">
            <a:xfrm>
              <a:off x="1182445" y="4358759"/>
              <a:ext cx="777020" cy="774892"/>
            </a:xfrm>
            <a:prstGeom prst="ellipse">
              <a:avLst/>
            </a:prstGeom>
            <a:solidFill>
              <a:srgbClr val="00B0F0"/>
            </a:solidFill>
            <a:effectLst/>
          </p:spPr>
          <p:style>
            <a:lnRef idx="0">
              <a:schemeClr val="accent1"/>
            </a:lnRef>
            <a:fillRef idx="3">
              <a:schemeClr val="accent1"/>
            </a:fillRef>
            <a:effectRef idx="3">
              <a:schemeClr val="accent1"/>
            </a:effectRef>
            <a:fontRef idx="minor">
              <a:schemeClr val="lt1"/>
            </a:fontRef>
          </p:style>
          <p:txBody>
            <a:bodyPr vert="horz" wrap="square" lIns="109710" tIns="54855" rIns="109710" bIns="54855" numCol="1" anchor="ctr" anchorCtr="0" compatLnSpc="1"/>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endParaRPr lang="en-US" sz="2880" dirty="0">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ïsḻiḑè"/>
            <p:cNvSpPr/>
            <p:nvPr/>
          </p:nvSpPr>
          <p:spPr>
            <a:xfrm>
              <a:off x="1416280" y="4600517"/>
              <a:ext cx="309352" cy="331184"/>
            </a:xfrm>
            <a:custGeom>
              <a:avLst/>
              <a:gdLst>
                <a:gd name="connsiteX0" fmla="*/ 482620 w 607097"/>
                <a:gd name="connsiteY0" fmla="*/ 381169 h 606722"/>
                <a:gd name="connsiteX1" fmla="*/ 496768 w 607097"/>
                <a:gd name="connsiteY1" fmla="*/ 381169 h 606722"/>
                <a:gd name="connsiteX2" fmla="*/ 510916 w 607097"/>
                <a:gd name="connsiteY2" fmla="*/ 395381 h 606722"/>
                <a:gd name="connsiteX3" fmla="*/ 510916 w 607097"/>
                <a:gd name="connsiteY3" fmla="*/ 409505 h 606722"/>
                <a:gd name="connsiteX4" fmla="*/ 503887 w 607097"/>
                <a:gd name="connsiteY4" fmla="*/ 412525 h 606722"/>
                <a:gd name="connsiteX5" fmla="*/ 496768 w 607097"/>
                <a:gd name="connsiteY5" fmla="*/ 409505 h 606722"/>
                <a:gd name="connsiteX6" fmla="*/ 482620 w 607097"/>
                <a:gd name="connsiteY6" fmla="*/ 395381 h 606722"/>
                <a:gd name="connsiteX7" fmla="*/ 482620 w 607097"/>
                <a:gd name="connsiteY7" fmla="*/ 381169 h 606722"/>
                <a:gd name="connsiteX8" fmla="*/ 546398 w 607097"/>
                <a:gd name="connsiteY8" fmla="*/ 242745 h 606722"/>
                <a:gd name="connsiteX9" fmla="*/ 566606 w 607097"/>
                <a:gd name="connsiteY9" fmla="*/ 242745 h 606722"/>
                <a:gd name="connsiteX10" fmla="*/ 576754 w 607097"/>
                <a:gd name="connsiteY10" fmla="*/ 252756 h 606722"/>
                <a:gd name="connsiteX11" fmla="*/ 566606 w 607097"/>
                <a:gd name="connsiteY11" fmla="*/ 262856 h 606722"/>
                <a:gd name="connsiteX12" fmla="*/ 546398 w 607097"/>
                <a:gd name="connsiteY12" fmla="*/ 262856 h 606722"/>
                <a:gd name="connsiteX13" fmla="*/ 536249 w 607097"/>
                <a:gd name="connsiteY13" fmla="*/ 252756 h 606722"/>
                <a:gd name="connsiteX14" fmla="*/ 546398 w 607097"/>
                <a:gd name="connsiteY14" fmla="*/ 242745 h 606722"/>
                <a:gd name="connsiteX15" fmla="*/ 353968 w 607097"/>
                <a:gd name="connsiteY15" fmla="*/ 101120 h 606722"/>
                <a:gd name="connsiteX16" fmla="*/ 364118 w 607097"/>
                <a:gd name="connsiteY16" fmla="*/ 111251 h 606722"/>
                <a:gd name="connsiteX17" fmla="*/ 364118 w 607097"/>
                <a:gd name="connsiteY17" fmla="*/ 242683 h 606722"/>
                <a:gd name="connsiteX18" fmla="*/ 424838 w 607097"/>
                <a:gd name="connsiteY18" fmla="*/ 242683 h 606722"/>
                <a:gd name="connsiteX19" fmla="*/ 434988 w 607097"/>
                <a:gd name="connsiteY19" fmla="*/ 252725 h 606722"/>
                <a:gd name="connsiteX20" fmla="*/ 424838 w 607097"/>
                <a:gd name="connsiteY20" fmla="*/ 262856 h 606722"/>
                <a:gd name="connsiteX21" fmla="*/ 353968 w 607097"/>
                <a:gd name="connsiteY21" fmla="*/ 262856 h 606722"/>
                <a:gd name="connsiteX22" fmla="*/ 343818 w 607097"/>
                <a:gd name="connsiteY22" fmla="*/ 252725 h 606722"/>
                <a:gd name="connsiteX23" fmla="*/ 343818 w 607097"/>
                <a:gd name="connsiteY23" fmla="*/ 111251 h 606722"/>
                <a:gd name="connsiteX24" fmla="*/ 353968 w 607097"/>
                <a:gd name="connsiteY24" fmla="*/ 101120 h 606722"/>
                <a:gd name="connsiteX25" fmla="*/ 496768 w 607097"/>
                <a:gd name="connsiteY25" fmla="*/ 96101 h 606722"/>
                <a:gd name="connsiteX26" fmla="*/ 510916 w 607097"/>
                <a:gd name="connsiteY26" fmla="*/ 96101 h 606722"/>
                <a:gd name="connsiteX27" fmla="*/ 510916 w 607097"/>
                <a:gd name="connsiteY27" fmla="*/ 110217 h 606722"/>
                <a:gd name="connsiteX28" fmla="*/ 496768 w 607097"/>
                <a:gd name="connsiteY28" fmla="*/ 124334 h 606722"/>
                <a:gd name="connsiteX29" fmla="*/ 489650 w 607097"/>
                <a:gd name="connsiteY29" fmla="*/ 127441 h 606722"/>
                <a:gd name="connsiteX30" fmla="*/ 482620 w 607097"/>
                <a:gd name="connsiteY30" fmla="*/ 124334 h 606722"/>
                <a:gd name="connsiteX31" fmla="*/ 482620 w 607097"/>
                <a:gd name="connsiteY31" fmla="*/ 110217 h 606722"/>
                <a:gd name="connsiteX32" fmla="*/ 196955 w 607097"/>
                <a:gd name="connsiteY32" fmla="*/ 96101 h 606722"/>
                <a:gd name="connsiteX33" fmla="*/ 211110 w 607097"/>
                <a:gd name="connsiteY33" fmla="*/ 96101 h 606722"/>
                <a:gd name="connsiteX34" fmla="*/ 225355 w 607097"/>
                <a:gd name="connsiteY34" fmla="*/ 110217 h 606722"/>
                <a:gd name="connsiteX35" fmla="*/ 225355 w 607097"/>
                <a:gd name="connsiteY35" fmla="*/ 124334 h 606722"/>
                <a:gd name="connsiteX36" fmla="*/ 218233 w 607097"/>
                <a:gd name="connsiteY36" fmla="*/ 127441 h 606722"/>
                <a:gd name="connsiteX37" fmla="*/ 211110 w 607097"/>
                <a:gd name="connsiteY37" fmla="*/ 124334 h 606722"/>
                <a:gd name="connsiteX38" fmla="*/ 196955 w 607097"/>
                <a:gd name="connsiteY38" fmla="*/ 110217 h 606722"/>
                <a:gd name="connsiteX39" fmla="*/ 196955 w 607097"/>
                <a:gd name="connsiteY39" fmla="*/ 96101 h 606722"/>
                <a:gd name="connsiteX40" fmla="*/ 103963 w 607097"/>
                <a:gd name="connsiteY40" fmla="*/ 81761 h 606722"/>
                <a:gd name="connsiteX41" fmla="*/ 87598 w 607097"/>
                <a:gd name="connsiteY41" fmla="*/ 90026 h 606722"/>
                <a:gd name="connsiteX42" fmla="*/ 62322 w 607097"/>
                <a:gd name="connsiteY42" fmla="*/ 115266 h 606722"/>
                <a:gd name="connsiteX43" fmla="*/ 34998 w 607097"/>
                <a:gd name="connsiteY43" fmla="*/ 265902 h 606722"/>
                <a:gd name="connsiteX44" fmla="*/ 75494 w 607097"/>
                <a:gd name="connsiteY44" fmla="*/ 322602 h 606722"/>
                <a:gd name="connsiteX45" fmla="*/ 283044 w 607097"/>
                <a:gd name="connsiteY45" fmla="*/ 530826 h 606722"/>
                <a:gd name="connsiteX46" fmla="*/ 327634 w 607097"/>
                <a:gd name="connsiteY46" fmla="*/ 565219 h 606722"/>
                <a:gd name="connsiteX47" fmla="*/ 490684 w 607097"/>
                <a:gd name="connsiteY47" fmla="*/ 545046 h 606722"/>
                <a:gd name="connsiteX48" fmla="*/ 515960 w 607097"/>
                <a:gd name="connsiteY48" fmla="*/ 519717 h 606722"/>
                <a:gd name="connsiteX49" fmla="*/ 521033 w 607097"/>
                <a:gd name="connsiteY49" fmla="*/ 485324 h 606722"/>
                <a:gd name="connsiteX50" fmla="*/ 434969 w 607097"/>
                <a:gd name="connsiteY50" fmla="*/ 411561 h 606722"/>
                <a:gd name="connsiteX51" fmla="*/ 414321 w 607097"/>
                <a:gd name="connsiteY51" fmla="*/ 406318 h 606722"/>
                <a:gd name="connsiteX52" fmla="*/ 413698 w 607097"/>
                <a:gd name="connsiteY52" fmla="*/ 406496 h 606722"/>
                <a:gd name="connsiteX53" fmla="*/ 405599 w 607097"/>
                <a:gd name="connsiteY53" fmla="*/ 413605 h 606722"/>
                <a:gd name="connsiteX54" fmla="*/ 404620 w 607097"/>
                <a:gd name="connsiteY54" fmla="*/ 414583 h 606722"/>
                <a:gd name="connsiteX55" fmla="*/ 373202 w 607097"/>
                <a:gd name="connsiteY55" fmla="*/ 447910 h 606722"/>
                <a:gd name="connsiteX56" fmla="*/ 349528 w 607097"/>
                <a:gd name="connsiteY56" fmla="*/ 459552 h 606722"/>
                <a:gd name="connsiteX57" fmla="*/ 405599 w 607097"/>
                <a:gd name="connsiteY57" fmla="*/ 475282 h 606722"/>
                <a:gd name="connsiteX58" fmla="*/ 414677 w 607097"/>
                <a:gd name="connsiteY58" fmla="*/ 486391 h 606722"/>
                <a:gd name="connsiteX59" fmla="*/ 404620 w 607097"/>
                <a:gd name="connsiteY59" fmla="*/ 495456 h 606722"/>
                <a:gd name="connsiteX60" fmla="*/ 403552 w 607097"/>
                <a:gd name="connsiteY60" fmla="*/ 495456 h 606722"/>
                <a:gd name="connsiteX61" fmla="*/ 287138 w 607097"/>
                <a:gd name="connsiteY61" fmla="*/ 441866 h 606722"/>
                <a:gd name="connsiteX62" fmla="*/ 286426 w 607097"/>
                <a:gd name="connsiteY62" fmla="*/ 441067 h 606722"/>
                <a:gd name="connsiteX63" fmla="*/ 284112 w 607097"/>
                <a:gd name="connsiteY63" fmla="*/ 438845 h 606722"/>
                <a:gd name="connsiteX64" fmla="*/ 176777 w 607097"/>
                <a:gd name="connsiteY64" fmla="*/ 331666 h 606722"/>
                <a:gd name="connsiteX65" fmla="*/ 111895 w 607097"/>
                <a:gd name="connsiteY65" fmla="*/ 213379 h 606722"/>
                <a:gd name="connsiteX66" fmla="*/ 121062 w 607097"/>
                <a:gd name="connsiteY66" fmla="*/ 202270 h 606722"/>
                <a:gd name="connsiteX67" fmla="*/ 132188 w 607097"/>
                <a:gd name="connsiteY67" fmla="*/ 211335 h 606722"/>
                <a:gd name="connsiteX68" fmla="*/ 146428 w 607097"/>
                <a:gd name="connsiteY68" fmla="*/ 259325 h 606722"/>
                <a:gd name="connsiteX69" fmla="*/ 158532 w 607097"/>
                <a:gd name="connsiteY69" fmla="*/ 233553 h 606722"/>
                <a:gd name="connsiteX70" fmla="*/ 191907 w 607097"/>
                <a:gd name="connsiteY70" fmla="*/ 202270 h 606722"/>
                <a:gd name="connsiteX71" fmla="*/ 192975 w 607097"/>
                <a:gd name="connsiteY71" fmla="*/ 201204 h 606722"/>
                <a:gd name="connsiteX72" fmla="*/ 200006 w 607097"/>
                <a:gd name="connsiteY72" fmla="*/ 193117 h 606722"/>
                <a:gd name="connsiteX73" fmla="*/ 194933 w 607097"/>
                <a:gd name="connsiteY73" fmla="*/ 170899 h 606722"/>
                <a:gd name="connsiteX74" fmla="*/ 121062 w 607097"/>
                <a:gd name="connsiteY74" fmla="*/ 84961 h 606722"/>
                <a:gd name="connsiteX75" fmla="*/ 103963 w 607097"/>
                <a:gd name="connsiteY75" fmla="*/ 81761 h 606722"/>
                <a:gd name="connsiteX76" fmla="*/ 353980 w 607097"/>
                <a:gd name="connsiteY76" fmla="*/ 30273 h 606722"/>
                <a:gd name="connsiteX77" fmla="*/ 364141 w 607097"/>
                <a:gd name="connsiteY77" fmla="*/ 40422 h 606722"/>
                <a:gd name="connsiteX78" fmla="*/ 364141 w 607097"/>
                <a:gd name="connsiteY78" fmla="*/ 60719 h 606722"/>
                <a:gd name="connsiteX79" fmla="*/ 353980 w 607097"/>
                <a:gd name="connsiteY79" fmla="*/ 70778 h 606722"/>
                <a:gd name="connsiteX80" fmla="*/ 343818 w 607097"/>
                <a:gd name="connsiteY80" fmla="*/ 60719 h 606722"/>
                <a:gd name="connsiteX81" fmla="*/ 343818 w 607097"/>
                <a:gd name="connsiteY81" fmla="*/ 40422 h 606722"/>
                <a:gd name="connsiteX82" fmla="*/ 353980 w 607097"/>
                <a:gd name="connsiteY82" fmla="*/ 30273 h 606722"/>
                <a:gd name="connsiteX83" fmla="*/ 353978 w 607097"/>
                <a:gd name="connsiteY83" fmla="*/ 20263 h 606722"/>
                <a:gd name="connsiteX84" fmla="*/ 174819 w 607097"/>
                <a:gd name="connsiteY84" fmla="*/ 104957 h 606722"/>
                <a:gd name="connsiteX85" fmla="*/ 214246 w 607097"/>
                <a:gd name="connsiteY85" fmla="*/ 160768 h 606722"/>
                <a:gd name="connsiteX86" fmla="*/ 221278 w 607097"/>
                <a:gd name="connsiteY86" fmla="*/ 198182 h 606722"/>
                <a:gd name="connsiteX87" fmla="*/ 215938 w 607097"/>
                <a:gd name="connsiteY87" fmla="*/ 209025 h 606722"/>
                <a:gd name="connsiteX88" fmla="*/ 210152 w 607097"/>
                <a:gd name="connsiteY88" fmla="*/ 215157 h 606722"/>
                <a:gd name="connsiteX89" fmla="*/ 206147 w 607097"/>
                <a:gd name="connsiteY89" fmla="*/ 218445 h 606722"/>
                <a:gd name="connsiteX90" fmla="*/ 176777 w 607097"/>
                <a:gd name="connsiteY90" fmla="*/ 244662 h 606722"/>
                <a:gd name="connsiteX91" fmla="*/ 182829 w 607097"/>
                <a:gd name="connsiteY91" fmla="*/ 308382 h 606722"/>
                <a:gd name="connsiteX92" fmla="*/ 189504 w 607097"/>
                <a:gd name="connsiteY92" fmla="*/ 315136 h 606722"/>
                <a:gd name="connsiteX93" fmla="*/ 189949 w 607097"/>
                <a:gd name="connsiteY93" fmla="*/ 315492 h 606722"/>
                <a:gd name="connsiteX94" fmla="*/ 191640 w 607097"/>
                <a:gd name="connsiteY94" fmla="*/ 317269 h 606722"/>
                <a:gd name="connsiteX95" fmla="*/ 298263 w 607097"/>
                <a:gd name="connsiteY95" fmla="*/ 424714 h 606722"/>
                <a:gd name="connsiteX96" fmla="*/ 362077 w 607097"/>
                <a:gd name="connsiteY96" fmla="*/ 430758 h 606722"/>
                <a:gd name="connsiteX97" fmla="*/ 388422 w 607097"/>
                <a:gd name="connsiteY97" fmla="*/ 401430 h 606722"/>
                <a:gd name="connsiteX98" fmla="*/ 408625 w 607097"/>
                <a:gd name="connsiteY98" fmla="*/ 386233 h 606722"/>
                <a:gd name="connsiteX99" fmla="*/ 419661 w 607097"/>
                <a:gd name="connsiteY99" fmla="*/ 384900 h 606722"/>
                <a:gd name="connsiteX100" fmla="*/ 446094 w 607097"/>
                <a:gd name="connsiteY100" fmla="*/ 392365 h 606722"/>
                <a:gd name="connsiteX101" fmla="*/ 501987 w 607097"/>
                <a:gd name="connsiteY101" fmla="*/ 431646 h 606722"/>
                <a:gd name="connsiteX102" fmla="*/ 586894 w 607097"/>
                <a:gd name="connsiteY102" fmla="*/ 252749 h 606722"/>
                <a:gd name="connsiteX103" fmla="*/ 353978 w 607097"/>
                <a:gd name="connsiteY103" fmla="*/ 20263 h 606722"/>
                <a:gd name="connsiteX104" fmla="*/ 353978 w 607097"/>
                <a:gd name="connsiteY104" fmla="*/ 0 h 606722"/>
                <a:gd name="connsiteX105" fmla="*/ 607097 w 607097"/>
                <a:gd name="connsiteY105" fmla="*/ 252749 h 606722"/>
                <a:gd name="connsiteX106" fmla="*/ 517384 w 607097"/>
                <a:gd name="connsiteY106" fmla="*/ 445421 h 606722"/>
                <a:gd name="connsiteX107" fmla="*/ 540257 w 607097"/>
                <a:gd name="connsiteY107" fmla="*/ 474215 h 606722"/>
                <a:gd name="connsiteX108" fmla="*/ 531179 w 607097"/>
                <a:gd name="connsiteY108" fmla="*/ 532870 h 606722"/>
                <a:gd name="connsiteX109" fmla="*/ 505814 w 607097"/>
                <a:gd name="connsiteY109" fmla="*/ 559176 h 606722"/>
                <a:gd name="connsiteX110" fmla="*/ 401505 w 607097"/>
                <a:gd name="connsiteY110" fmla="*/ 606722 h 606722"/>
                <a:gd name="connsiteX111" fmla="*/ 318556 w 607097"/>
                <a:gd name="connsiteY111" fmla="*/ 582460 h 606722"/>
                <a:gd name="connsiteX112" fmla="*/ 268893 w 607097"/>
                <a:gd name="connsiteY112" fmla="*/ 543979 h 606722"/>
                <a:gd name="connsiteX113" fmla="*/ 61343 w 607097"/>
                <a:gd name="connsiteY113" fmla="*/ 336732 h 606722"/>
                <a:gd name="connsiteX114" fmla="*/ 16753 w 607097"/>
                <a:gd name="connsiteY114" fmla="*/ 275056 h 606722"/>
                <a:gd name="connsiteX115" fmla="*/ 48171 w 607097"/>
                <a:gd name="connsiteY115" fmla="*/ 101135 h 606722"/>
                <a:gd name="connsiteX116" fmla="*/ 73447 w 607097"/>
                <a:gd name="connsiteY116" fmla="*/ 75807 h 606722"/>
                <a:gd name="connsiteX117" fmla="*/ 132188 w 607097"/>
                <a:gd name="connsiteY117" fmla="*/ 66742 h 606722"/>
                <a:gd name="connsiteX118" fmla="*/ 160757 w 607097"/>
                <a:gd name="connsiteY118" fmla="*/ 89315 h 606722"/>
                <a:gd name="connsiteX119" fmla="*/ 353978 w 607097"/>
                <a:gd name="connsiteY11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097" h="606722">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chemeClr val="bg1"/>
            </a:solidFill>
            <a:ln w="12700">
              <a:miter lim="400000"/>
            </a:ln>
          </p:spPr>
          <p:txBody>
            <a:bodyPr lIns="22851" tIns="22851" rIns="22851" bIns="22851"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05740">
                <a:lnSpc>
                  <a:spcPct val="120000"/>
                </a:lnSpc>
                <a:defRPr sz="3000" cap="none">
                  <a:solidFill>
                    <a:srgbClr val="FFFFFF"/>
                  </a:solidFill>
                  <a:effectLst>
                    <a:outerShdw blurRad="38100" dist="12700" dir="5400000" rotWithShape="0">
                      <a:srgbClr val="000000">
                        <a:alpha val="50000"/>
                      </a:srgbClr>
                    </a:outerShdw>
                  </a:effectLst>
                </a:defRPr>
              </a:pPr>
              <a:endParaRPr>
                <a:latin typeface="思源黑体" panose="020B0400000000000000" pitchFamily="34" charset="-122"/>
                <a:ea typeface="思源黑体" panose="020B0400000000000000" pitchFamily="34" charset="-122"/>
                <a:sym typeface="思源黑体" panose="020B0400000000000000" pitchFamily="34" charset="-122"/>
              </a:endParaRPr>
            </a:p>
          </p:txBody>
        </p:sp>
      </p:grpSp>
      <p:sp>
        <p:nvSpPr>
          <p:cNvPr id="44" name="文本框 43"/>
          <p:cNvSpPr txBox="1"/>
          <p:nvPr/>
        </p:nvSpPr>
        <p:spPr>
          <a:xfrm>
            <a:off x="870682" y="4318655"/>
            <a:ext cx="773430" cy="1806504"/>
          </a:xfrm>
          <a:prstGeom prst="rect">
            <a:avLst/>
          </a:prstGeom>
          <a:noFill/>
        </p:spPr>
        <p:txBody>
          <a:bodyPr vert="eaVert" wrap="square" rtlCol="0">
            <a:spAutoFit/>
          </a:bodyPr>
          <a:lstStyle/>
          <a:p>
            <a:pPr algn="dist">
              <a:lnSpc>
                <a:spcPct val="120000"/>
              </a:lnSpc>
            </a:pPr>
            <a:r>
              <a:rPr lang="en-US" altLang="zh-CN" sz="3200">
                <a:solidFill>
                  <a:schemeClr val="bg1">
                    <a:lumMod val="65000"/>
                  </a:schemeClr>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STEPS</a:t>
            </a:r>
          </a:p>
        </p:txBody>
      </p:sp>
      <p:grpSp>
        <p:nvGrpSpPr>
          <p:cNvPr id="45" name="组合 44"/>
          <p:cNvGrpSpPr/>
          <p:nvPr/>
        </p:nvGrpSpPr>
        <p:grpSpPr>
          <a:xfrm>
            <a:off x="96610" y="4428780"/>
            <a:ext cx="888862" cy="1266629"/>
            <a:chOff x="4848640" y="2234522"/>
            <a:chExt cx="666751" cy="950120"/>
          </a:xfrm>
        </p:grpSpPr>
        <p:sp>
          <p:nvSpPr>
            <p:cNvPr id="46" name="Freeform 50"/>
            <p:cNvSpPr/>
            <p:nvPr/>
          </p:nvSpPr>
          <p:spPr bwMode="auto">
            <a:xfrm>
              <a:off x="4848640" y="2764351"/>
              <a:ext cx="296466" cy="420291"/>
            </a:xfrm>
            <a:custGeom>
              <a:avLst/>
              <a:gdLst>
                <a:gd name="T0" fmla="*/ 7 w 104"/>
                <a:gd name="T1" fmla="*/ 122 h 148"/>
                <a:gd name="T2" fmla="*/ 7 w 104"/>
                <a:gd name="T3" fmla="*/ 123 h 148"/>
                <a:gd name="T4" fmla="*/ 7 w 104"/>
                <a:gd name="T5" fmla="*/ 128 h 148"/>
                <a:gd name="T6" fmla="*/ 0 w 104"/>
                <a:gd name="T7" fmla="*/ 138 h 148"/>
                <a:gd name="T8" fmla="*/ 10 w 104"/>
                <a:gd name="T9" fmla="*/ 148 h 148"/>
                <a:gd name="T10" fmla="*/ 20 w 104"/>
                <a:gd name="T11" fmla="*/ 138 h 148"/>
                <a:gd name="T12" fmla="*/ 14 w 104"/>
                <a:gd name="T13" fmla="*/ 129 h 148"/>
                <a:gd name="T14" fmla="*/ 14 w 104"/>
                <a:gd name="T15" fmla="*/ 125 h 148"/>
                <a:gd name="T16" fmla="*/ 46 w 104"/>
                <a:gd name="T17" fmla="*/ 114 h 148"/>
                <a:gd name="T18" fmla="*/ 48 w 104"/>
                <a:gd name="T19" fmla="*/ 128 h 148"/>
                <a:gd name="T20" fmla="*/ 41 w 104"/>
                <a:gd name="T21" fmla="*/ 138 h 148"/>
                <a:gd name="T22" fmla="*/ 51 w 104"/>
                <a:gd name="T23" fmla="*/ 148 h 148"/>
                <a:gd name="T24" fmla="*/ 61 w 104"/>
                <a:gd name="T25" fmla="*/ 138 h 148"/>
                <a:gd name="T26" fmla="*/ 56 w 104"/>
                <a:gd name="T27" fmla="*/ 129 h 148"/>
                <a:gd name="T28" fmla="*/ 57 w 104"/>
                <a:gd name="T29" fmla="*/ 114 h 148"/>
                <a:gd name="T30" fmla="*/ 83 w 104"/>
                <a:gd name="T31" fmla="*/ 120 h 148"/>
                <a:gd name="T32" fmla="*/ 89 w 104"/>
                <a:gd name="T33" fmla="*/ 124 h 148"/>
                <a:gd name="T34" fmla="*/ 89 w 104"/>
                <a:gd name="T35" fmla="*/ 125 h 148"/>
                <a:gd name="T36" fmla="*/ 89 w 104"/>
                <a:gd name="T37" fmla="*/ 129 h 148"/>
                <a:gd name="T38" fmla="*/ 83 w 104"/>
                <a:gd name="T39" fmla="*/ 138 h 148"/>
                <a:gd name="T40" fmla="*/ 93 w 104"/>
                <a:gd name="T41" fmla="*/ 148 h 148"/>
                <a:gd name="T42" fmla="*/ 104 w 104"/>
                <a:gd name="T43" fmla="*/ 138 h 148"/>
                <a:gd name="T44" fmla="*/ 97 w 104"/>
                <a:gd name="T45" fmla="*/ 128 h 148"/>
                <a:gd name="T46" fmla="*/ 97 w 104"/>
                <a:gd name="T47" fmla="*/ 123 h 148"/>
                <a:gd name="T48" fmla="*/ 96 w 104"/>
                <a:gd name="T49" fmla="*/ 122 h 148"/>
                <a:gd name="T50" fmla="*/ 58 w 104"/>
                <a:gd name="T51" fmla="*/ 107 h 148"/>
                <a:gd name="T52" fmla="*/ 60 w 104"/>
                <a:gd name="T53" fmla="*/ 92 h 148"/>
                <a:gd name="T54" fmla="*/ 88 w 104"/>
                <a:gd name="T55" fmla="*/ 92 h 148"/>
                <a:gd name="T56" fmla="*/ 98 w 104"/>
                <a:gd name="T57" fmla="*/ 83 h 148"/>
                <a:gd name="T58" fmla="*/ 88 w 104"/>
                <a:gd name="T59" fmla="*/ 73 h 148"/>
                <a:gd name="T60" fmla="*/ 24 w 104"/>
                <a:gd name="T61" fmla="*/ 73 h 148"/>
                <a:gd name="T62" fmla="*/ 20 w 104"/>
                <a:gd name="T63" fmla="*/ 9 h 148"/>
                <a:gd name="T64" fmla="*/ 10 w 104"/>
                <a:gd name="T65" fmla="*/ 0 h 148"/>
                <a:gd name="T66" fmla="*/ 1 w 104"/>
                <a:gd name="T67" fmla="*/ 10 h 148"/>
                <a:gd name="T68" fmla="*/ 1 w 104"/>
                <a:gd name="T69" fmla="*/ 10 h 148"/>
                <a:gd name="T70" fmla="*/ 6 w 104"/>
                <a:gd name="T71" fmla="*/ 83 h 148"/>
                <a:gd name="T72" fmla="*/ 15 w 104"/>
                <a:gd name="T73" fmla="*/ 92 h 148"/>
                <a:gd name="T74" fmla="*/ 44 w 104"/>
                <a:gd name="T75" fmla="*/ 92 h 148"/>
                <a:gd name="T76" fmla="*/ 46 w 104"/>
                <a:gd name="T77" fmla="*/ 107 h 148"/>
                <a:gd name="T78" fmla="*/ 7 w 104"/>
                <a:gd name="T79" fmla="*/ 1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4" h="148">
                  <a:moveTo>
                    <a:pt x="7" y="122"/>
                  </a:moveTo>
                  <a:cubicBezTo>
                    <a:pt x="7" y="123"/>
                    <a:pt x="7" y="123"/>
                    <a:pt x="7" y="123"/>
                  </a:cubicBezTo>
                  <a:cubicBezTo>
                    <a:pt x="7" y="128"/>
                    <a:pt x="7" y="128"/>
                    <a:pt x="7" y="128"/>
                  </a:cubicBezTo>
                  <a:cubicBezTo>
                    <a:pt x="3" y="130"/>
                    <a:pt x="0" y="133"/>
                    <a:pt x="0" y="138"/>
                  </a:cubicBezTo>
                  <a:cubicBezTo>
                    <a:pt x="0" y="144"/>
                    <a:pt x="4" y="148"/>
                    <a:pt x="10" y="148"/>
                  </a:cubicBezTo>
                  <a:cubicBezTo>
                    <a:pt x="15" y="148"/>
                    <a:pt x="20" y="144"/>
                    <a:pt x="20" y="138"/>
                  </a:cubicBezTo>
                  <a:cubicBezTo>
                    <a:pt x="20" y="134"/>
                    <a:pt x="18" y="130"/>
                    <a:pt x="14" y="129"/>
                  </a:cubicBezTo>
                  <a:cubicBezTo>
                    <a:pt x="14" y="125"/>
                    <a:pt x="14" y="125"/>
                    <a:pt x="14" y="125"/>
                  </a:cubicBezTo>
                  <a:cubicBezTo>
                    <a:pt x="16" y="123"/>
                    <a:pt x="24" y="116"/>
                    <a:pt x="46" y="114"/>
                  </a:cubicBezTo>
                  <a:cubicBezTo>
                    <a:pt x="48" y="128"/>
                    <a:pt x="48" y="128"/>
                    <a:pt x="48" y="128"/>
                  </a:cubicBezTo>
                  <a:cubicBezTo>
                    <a:pt x="44" y="130"/>
                    <a:pt x="41" y="134"/>
                    <a:pt x="41" y="138"/>
                  </a:cubicBezTo>
                  <a:cubicBezTo>
                    <a:pt x="41" y="144"/>
                    <a:pt x="46" y="148"/>
                    <a:pt x="51" y="148"/>
                  </a:cubicBezTo>
                  <a:cubicBezTo>
                    <a:pt x="57" y="148"/>
                    <a:pt x="61" y="144"/>
                    <a:pt x="61" y="138"/>
                  </a:cubicBezTo>
                  <a:cubicBezTo>
                    <a:pt x="61" y="134"/>
                    <a:pt x="59" y="131"/>
                    <a:pt x="56" y="129"/>
                  </a:cubicBezTo>
                  <a:cubicBezTo>
                    <a:pt x="57" y="114"/>
                    <a:pt x="57" y="114"/>
                    <a:pt x="57" y="114"/>
                  </a:cubicBezTo>
                  <a:cubicBezTo>
                    <a:pt x="70" y="115"/>
                    <a:pt x="78" y="118"/>
                    <a:pt x="83" y="120"/>
                  </a:cubicBezTo>
                  <a:cubicBezTo>
                    <a:pt x="86" y="122"/>
                    <a:pt x="88" y="123"/>
                    <a:pt x="89" y="124"/>
                  </a:cubicBezTo>
                  <a:cubicBezTo>
                    <a:pt x="89" y="125"/>
                    <a:pt x="89" y="125"/>
                    <a:pt x="89" y="125"/>
                  </a:cubicBezTo>
                  <a:cubicBezTo>
                    <a:pt x="89" y="129"/>
                    <a:pt x="89" y="129"/>
                    <a:pt x="89" y="129"/>
                  </a:cubicBezTo>
                  <a:cubicBezTo>
                    <a:pt x="86" y="130"/>
                    <a:pt x="83" y="134"/>
                    <a:pt x="83" y="138"/>
                  </a:cubicBezTo>
                  <a:cubicBezTo>
                    <a:pt x="83" y="144"/>
                    <a:pt x="88" y="148"/>
                    <a:pt x="93" y="148"/>
                  </a:cubicBezTo>
                  <a:cubicBezTo>
                    <a:pt x="99" y="148"/>
                    <a:pt x="104" y="144"/>
                    <a:pt x="104" y="138"/>
                  </a:cubicBezTo>
                  <a:cubicBezTo>
                    <a:pt x="104" y="134"/>
                    <a:pt x="101" y="130"/>
                    <a:pt x="97" y="128"/>
                  </a:cubicBezTo>
                  <a:cubicBezTo>
                    <a:pt x="97" y="123"/>
                    <a:pt x="97" y="123"/>
                    <a:pt x="97" y="123"/>
                  </a:cubicBezTo>
                  <a:cubicBezTo>
                    <a:pt x="96" y="122"/>
                    <a:pt x="96" y="122"/>
                    <a:pt x="96" y="122"/>
                  </a:cubicBezTo>
                  <a:cubicBezTo>
                    <a:pt x="96" y="121"/>
                    <a:pt x="88" y="108"/>
                    <a:pt x="58" y="107"/>
                  </a:cubicBezTo>
                  <a:cubicBezTo>
                    <a:pt x="60" y="92"/>
                    <a:pt x="60" y="92"/>
                    <a:pt x="60" y="92"/>
                  </a:cubicBezTo>
                  <a:cubicBezTo>
                    <a:pt x="88" y="92"/>
                    <a:pt x="88" y="92"/>
                    <a:pt x="88" y="92"/>
                  </a:cubicBezTo>
                  <a:cubicBezTo>
                    <a:pt x="94" y="92"/>
                    <a:pt x="98" y="88"/>
                    <a:pt x="98" y="83"/>
                  </a:cubicBezTo>
                  <a:cubicBezTo>
                    <a:pt x="98" y="77"/>
                    <a:pt x="94" y="73"/>
                    <a:pt x="88" y="73"/>
                  </a:cubicBezTo>
                  <a:cubicBezTo>
                    <a:pt x="24" y="73"/>
                    <a:pt x="24" y="73"/>
                    <a:pt x="24" y="73"/>
                  </a:cubicBezTo>
                  <a:cubicBezTo>
                    <a:pt x="20" y="9"/>
                    <a:pt x="20" y="9"/>
                    <a:pt x="20" y="9"/>
                  </a:cubicBezTo>
                  <a:cubicBezTo>
                    <a:pt x="20" y="4"/>
                    <a:pt x="15" y="0"/>
                    <a:pt x="10" y="0"/>
                  </a:cubicBezTo>
                  <a:cubicBezTo>
                    <a:pt x="5" y="0"/>
                    <a:pt x="1" y="5"/>
                    <a:pt x="1" y="10"/>
                  </a:cubicBezTo>
                  <a:cubicBezTo>
                    <a:pt x="1" y="10"/>
                    <a:pt x="1" y="10"/>
                    <a:pt x="1" y="10"/>
                  </a:cubicBezTo>
                  <a:cubicBezTo>
                    <a:pt x="6" y="83"/>
                    <a:pt x="6" y="83"/>
                    <a:pt x="6" y="83"/>
                  </a:cubicBezTo>
                  <a:cubicBezTo>
                    <a:pt x="6" y="88"/>
                    <a:pt x="10" y="92"/>
                    <a:pt x="15" y="92"/>
                  </a:cubicBezTo>
                  <a:cubicBezTo>
                    <a:pt x="44" y="92"/>
                    <a:pt x="44" y="92"/>
                    <a:pt x="44" y="92"/>
                  </a:cubicBezTo>
                  <a:cubicBezTo>
                    <a:pt x="46" y="107"/>
                    <a:pt x="46" y="107"/>
                    <a:pt x="46" y="107"/>
                  </a:cubicBezTo>
                  <a:cubicBezTo>
                    <a:pt x="16" y="108"/>
                    <a:pt x="8" y="121"/>
                    <a:pt x="7" y="122"/>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7" name="Oval 51"/>
            <p:cNvSpPr>
              <a:spLocks noChangeArrowheads="1"/>
            </p:cNvSpPr>
            <p:nvPr/>
          </p:nvSpPr>
          <p:spPr bwMode="auto">
            <a:xfrm>
              <a:off x="4968894" y="2435738"/>
              <a:ext cx="159544" cy="158354"/>
            </a:xfrm>
            <a:prstGeom prst="ellipse">
              <a:avLst/>
            </a:pr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8" name="Freeform 52"/>
            <p:cNvSpPr/>
            <p:nvPr/>
          </p:nvSpPr>
          <p:spPr bwMode="auto">
            <a:xfrm>
              <a:off x="4968894" y="2628619"/>
              <a:ext cx="319088" cy="116681"/>
            </a:xfrm>
            <a:custGeom>
              <a:avLst/>
              <a:gdLst>
                <a:gd name="T0" fmla="*/ 29 w 112"/>
                <a:gd name="T1" fmla="*/ 10 h 41"/>
                <a:gd name="T2" fmla="*/ 20 w 112"/>
                <a:gd name="T3" fmla="*/ 6 h 41"/>
                <a:gd name="T4" fmla="*/ 18 w 112"/>
                <a:gd name="T5" fmla="*/ 4 h 41"/>
                <a:gd name="T6" fmla="*/ 18 w 112"/>
                <a:gd name="T7" fmla="*/ 4 h 41"/>
                <a:gd name="T8" fmla="*/ 18 w 112"/>
                <a:gd name="T9" fmla="*/ 4 h 41"/>
                <a:gd name="T10" fmla="*/ 4 w 112"/>
                <a:gd name="T11" fmla="*/ 5 h 41"/>
                <a:gd name="T12" fmla="*/ 5 w 112"/>
                <a:gd name="T13" fmla="*/ 19 h 41"/>
                <a:gd name="T14" fmla="*/ 5 w 112"/>
                <a:gd name="T15" fmla="*/ 19 h 41"/>
                <a:gd name="T16" fmla="*/ 21 w 112"/>
                <a:gd name="T17" fmla="*/ 29 h 41"/>
                <a:gd name="T18" fmla="*/ 21 w 112"/>
                <a:gd name="T19" fmla="*/ 29 h 41"/>
                <a:gd name="T20" fmla="*/ 103 w 112"/>
                <a:gd name="T21" fmla="*/ 35 h 41"/>
                <a:gd name="T22" fmla="*/ 112 w 112"/>
                <a:gd name="T23" fmla="*/ 24 h 41"/>
                <a:gd name="T24" fmla="*/ 100 w 112"/>
                <a:gd name="T25" fmla="*/ 16 h 41"/>
                <a:gd name="T26" fmla="*/ 29 w 112"/>
                <a:gd name="T27"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41">
                  <a:moveTo>
                    <a:pt x="29" y="10"/>
                  </a:moveTo>
                  <a:cubicBezTo>
                    <a:pt x="25" y="8"/>
                    <a:pt x="22" y="7"/>
                    <a:pt x="20" y="6"/>
                  </a:cubicBezTo>
                  <a:cubicBezTo>
                    <a:pt x="19" y="5"/>
                    <a:pt x="18" y="5"/>
                    <a:pt x="18" y="4"/>
                  </a:cubicBezTo>
                  <a:cubicBezTo>
                    <a:pt x="18" y="4"/>
                    <a:pt x="18" y="4"/>
                    <a:pt x="18" y="4"/>
                  </a:cubicBezTo>
                  <a:cubicBezTo>
                    <a:pt x="18" y="4"/>
                    <a:pt x="18" y="4"/>
                    <a:pt x="18" y="4"/>
                  </a:cubicBezTo>
                  <a:cubicBezTo>
                    <a:pt x="14" y="0"/>
                    <a:pt x="7" y="1"/>
                    <a:pt x="4" y="5"/>
                  </a:cubicBezTo>
                  <a:cubicBezTo>
                    <a:pt x="0" y="9"/>
                    <a:pt x="0" y="15"/>
                    <a:pt x="5" y="19"/>
                  </a:cubicBezTo>
                  <a:cubicBezTo>
                    <a:pt x="5" y="19"/>
                    <a:pt x="5" y="19"/>
                    <a:pt x="5" y="19"/>
                  </a:cubicBezTo>
                  <a:cubicBezTo>
                    <a:pt x="5" y="20"/>
                    <a:pt x="10" y="24"/>
                    <a:pt x="21" y="29"/>
                  </a:cubicBezTo>
                  <a:cubicBezTo>
                    <a:pt x="21" y="29"/>
                    <a:pt x="21" y="29"/>
                    <a:pt x="21" y="29"/>
                  </a:cubicBezTo>
                  <a:cubicBezTo>
                    <a:pt x="37" y="35"/>
                    <a:pt x="63" y="41"/>
                    <a:pt x="103" y="35"/>
                  </a:cubicBezTo>
                  <a:cubicBezTo>
                    <a:pt x="109" y="35"/>
                    <a:pt x="112" y="30"/>
                    <a:pt x="112" y="24"/>
                  </a:cubicBezTo>
                  <a:cubicBezTo>
                    <a:pt x="111" y="19"/>
                    <a:pt x="106" y="15"/>
                    <a:pt x="100" y="16"/>
                  </a:cubicBezTo>
                  <a:cubicBezTo>
                    <a:pt x="64" y="21"/>
                    <a:pt x="41" y="15"/>
                    <a:pt x="29" y="1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49" name="Freeform 54"/>
            <p:cNvSpPr/>
            <p:nvPr/>
          </p:nvSpPr>
          <p:spPr bwMode="auto">
            <a:xfrm>
              <a:off x="4917696" y="2589328"/>
              <a:ext cx="364331" cy="569119"/>
            </a:xfrm>
            <a:custGeom>
              <a:avLst/>
              <a:gdLst>
                <a:gd name="T0" fmla="*/ 115 w 128"/>
                <a:gd name="T1" fmla="*/ 111 h 201"/>
                <a:gd name="T2" fmla="*/ 100 w 128"/>
                <a:gd name="T3" fmla="*/ 98 h 201"/>
                <a:gd name="T4" fmla="*/ 58 w 128"/>
                <a:gd name="T5" fmla="*/ 98 h 201"/>
                <a:gd name="T6" fmla="*/ 57 w 128"/>
                <a:gd name="T7" fmla="*/ 91 h 201"/>
                <a:gd name="T8" fmla="*/ 52 w 128"/>
                <a:gd name="T9" fmla="*/ 49 h 201"/>
                <a:gd name="T10" fmla="*/ 38 w 128"/>
                <a:gd name="T11" fmla="*/ 44 h 201"/>
                <a:gd name="T12" fmla="*/ 21 w 128"/>
                <a:gd name="T13" fmla="*/ 34 h 201"/>
                <a:gd name="T14" fmla="*/ 20 w 128"/>
                <a:gd name="T15" fmla="*/ 18 h 201"/>
                <a:gd name="T16" fmla="*/ 29 w 128"/>
                <a:gd name="T17" fmla="*/ 14 h 201"/>
                <a:gd name="T18" fmla="*/ 37 w 128"/>
                <a:gd name="T19" fmla="*/ 17 h 201"/>
                <a:gd name="T20" fmla="*/ 39 w 128"/>
                <a:gd name="T21" fmla="*/ 18 h 201"/>
                <a:gd name="T22" fmla="*/ 48 w 128"/>
                <a:gd name="T23" fmla="*/ 22 h 201"/>
                <a:gd name="T24" fmla="*/ 52 w 128"/>
                <a:gd name="T25" fmla="*/ 24 h 201"/>
                <a:gd name="T26" fmla="*/ 48 w 128"/>
                <a:gd name="T27" fmla="*/ 15 h 201"/>
                <a:gd name="T28" fmla="*/ 41 w 128"/>
                <a:gd name="T29" fmla="*/ 8 h 201"/>
                <a:gd name="T30" fmla="*/ 40 w 128"/>
                <a:gd name="T31" fmla="*/ 7 h 201"/>
                <a:gd name="T32" fmla="*/ 35 w 128"/>
                <a:gd name="T33" fmla="*/ 4 h 201"/>
                <a:gd name="T34" fmla="*/ 3 w 128"/>
                <a:gd name="T35" fmla="*/ 31 h 201"/>
                <a:gd name="T36" fmla="*/ 9 w 128"/>
                <a:gd name="T37" fmla="*/ 106 h 201"/>
                <a:gd name="T38" fmla="*/ 34 w 128"/>
                <a:gd name="T39" fmla="*/ 129 h 201"/>
                <a:gd name="T40" fmla="*/ 34 w 128"/>
                <a:gd name="T41" fmla="*/ 129 h 201"/>
                <a:gd name="T42" fmla="*/ 37 w 128"/>
                <a:gd name="T43" fmla="*/ 129 h 201"/>
                <a:gd name="T44" fmla="*/ 87 w 128"/>
                <a:gd name="T45" fmla="*/ 129 h 201"/>
                <a:gd name="T46" fmla="*/ 96 w 128"/>
                <a:gd name="T47" fmla="*/ 188 h 201"/>
                <a:gd name="T48" fmla="*/ 111 w 128"/>
                <a:gd name="T49" fmla="*/ 201 h 201"/>
                <a:gd name="T50" fmla="*/ 114 w 128"/>
                <a:gd name="T51" fmla="*/ 201 h 201"/>
                <a:gd name="T52" fmla="*/ 127 w 128"/>
                <a:gd name="T53" fmla="*/ 183 h 201"/>
                <a:gd name="T54" fmla="*/ 115 w 128"/>
                <a:gd name="T55" fmla="*/ 11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 h="201">
                  <a:moveTo>
                    <a:pt x="115" y="111"/>
                  </a:moveTo>
                  <a:cubicBezTo>
                    <a:pt x="114" y="104"/>
                    <a:pt x="108" y="98"/>
                    <a:pt x="100" y="98"/>
                  </a:cubicBezTo>
                  <a:cubicBezTo>
                    <a:pt x="58" y="98"/>
                    <a:pt x="58" y="98"/>
                    <a:pt x="58" y="98"/>
                  </a:cubicBezTo>
                  <a:cubicBezTo>
                    <a:pt x="58" y="96"/>
                    <a:pt x="58" y="93"/>
                    <a:pt x="57" y="91"/>
                  </a:cubicBezTo>
                  <a:cubicBezTo>
                    <a:pt x="53" y="78"/>
                    <a:pt x="51" y="63"/>
                    <a:pt x="52" y="49"/>
                  </a:cubicBezTo>
                  <a:cubicBezTo>
                    <a:pt x="46" y="47"/>
                    <a:pt x="42" y="46"/>
                    <a:pt x="38" y="44"/>
                  </a:cubicBezTo>
                  <a:cubicBezTo>
                    <a:pt x="28" y="40"/>
                    <a:pt x="22" y="35"/>
                    <a:pt x="21" y="34"/>
                  </a:cubicBezTo>
                  <a:cubicBezTo>
                    <a:pt x="16" y="30"/>
                    <a:pt x="16" y="22"/>
                    <a:pt x="20" y="18"/>
                  </a:cubicBezTo>
                  <a:cubicBezTo>
                    <a:pt x="22" y="15"/>
                    <a:pt x="26" y="14"/>
                    <a:pt x="29" y="14"/>
                  </a:cubicBezTo>
                  <a:cubicBezTo>
                    <a:pt x="32" y="14"/>
                    <a:pt x="35" y="15"/>
                    <a:pt x="37" y="17"/>
                  </a:cubicBezTo>
                  <a:cubicBezTo>
                    <a:pt x="38" y="17"/>
                    <a:pt x="38" y="17"/>
                    <a:pt x="39" y="18"/>
                  </a:cubicBezTo>
                  <a:cubicBezTo>
                    <a:pt x="41" y="19"/>
                    <a:pt x="44" y="21"/>
                    <a:pt x="48" y="22"/>
                  </a:cubicBezTo>
                  <a:cubicBezTo>
                    <a:pt x="49" y="23"/>
                    <a:pt x="51" y="24"/>
                    <a:pt x="52" y="24"/>
                  </a:cubicBezTo>
                  <a:cubicBezTo>
                    <a:pt x="51" y="20"/>
                    <a:pt x="50" y="18"/>
                    <a:pt x="48" y="15"/>
                  </a:cubicBezTo>
                  <a:cubicBezTo>
                    <a:pt x="48" y="15"/>
                    <a:pt x="43" y="9"/>
                    <a:pt x="41" y="8"/>
                  </a:cubicBezTo>
                  <a:cubicBezTo>
                    <a:pt x="41" y="8"/>
                    <a:pt x="40" y="7"/>
                    <a:pt x="40" y="7"/>
                  </a:cubicBezTo>
                  <a:cubicBezTo>
                    <a:pt x="38" y="6"/>
                    <a:pt x="36" y="5"/>
                    <a:pt x="35" y="4"/>
                  </a:cubicBezTo>
                  <a:cubicBezTo>
                    <a:pt x="22" y="0"/>
                    <a:pt x="6" y="11"/>
                    <a:pt x="3" y="31"/>
                  </a:cubicBezTo>
                  <a:cubicBezTo>
                    <a:pt x="0" y="56"/>
                    <a:pt x="2" y="82"/>
                    <a:pt x="9" y="106"/>
                  </a:cubicBezTo>
                  <a:cubicBezTo>
                    <a:pt x="13" y="119"/>
                    <a:pt x="24" y="128"/>
                    <a:pt x="34" y="129"/>
                  </a:cubicBezTo>
                  <a:cubicBezTo>
                    <a:pt x="34" y="129"/>
                    <a:pt x="34" y="129"/>
                    <a:pt x="34" y="129"/>
                  </a:cubicBezTo>
                  <a:cubicBezTo>
                    <a:pt x="35" y="129"/>
                    <a:pt x="36" y="129"/>
                    <a:pt x="37" y="129"/>
                  </a:cubicBezTo>
                  <a:cubicBezTo>
                    <a:pt x="87" y="129"/>
                    <a:pt x="87" y="129"/>
                    <a:pt x="87" y="129"/>
                  </a:cubicBezTo>
                  <a:cubicBezTo>
                    <a:pt x="96" y="188"/>
                    <a:pt x="96" y="188"/>
                    <a:pt x="96" y="188"/>
                  </a:cubicBezTo>
                  <a:cubicBezTo>
                    <a:pt x="97" y="196"/>
                    <a:pt x="104" y="201"/>
                    <a:pt x="111" y="201"/>
                  </a:cubicBezTo>
                  <a:cubicBezTo>
                    <a:pt x="112" y="201"/>
                    <a:pt x="113" y="201"/>
                    <a:pt x="114" y="201"/>
                  </a:cubicBezTo>
                  <a:cubicBezTo>
                    <a:pt x="122" y="200"/>
                    <a:pt x="128" y="192"/>
                    <a:pt x="127" y="183"/>
                  </a:cubicBezTo>
                  <a:lnTo>
                    <a:pt x="115" y="111"/>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0" name="Freeform 55"/>
            <p:cNvSpPr/>
            <p:nvPr/>
          </p:nvSpPr>
          <p:spPr bwMode="auto">
            <a:xfrm>
              <a:off x="5068906" y="2628619"/>
              <a:ext cx="221456" cy="47625"/>
            </a:xfrm>
            <a:custGeom>
              <a:avLst/>
              <a:gdLst>
                <a:gd name="T0" fmla="*/ 38 w 78"/>
                <a:gd name="T1" fmla="*/ 16 h 17"/>
                <a:gd name="T2" fmla="*/ 65 w 78"/>
                <a:gd name="T3" fmla="*/ 14 h 17"/>
                <a:gd name="T4" fmla="*/ 67 w 78"/>
                <a:gd name="T5" fmla="*/ 14 h 17"/>
                <a:gd name="T6" fmla="*/ 75 w 78"/>
                <a:gd name="T7" fmla="*/ 17 h 17"/>
                <a:gd name="T8" fmla="*/ 77 w 78"/>
                <a:gd name="T9" fmla="*/ 8 h 17"/>
                <a:gd name="T10" fmla="*/ 64 w 78"/>
                <a:gd name="T11" fmla="*/ 2 h 17"/>
                <a:gd name="T12" fmla="*/ 0 w 78"/>
                <a:gd name="T13" fmla="*/ 10 h 17"/>
                <a:gd name="T14" fmla="*/ 38 w 78"/>
                <a:gd name="T15" fmla="*/ 16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7">
                  <a:moveTo>
                    <a:pt x="38" y="16"/>
                  </a:moveTo>
                  <a:cubicBezTo>
                    <a:pt x="46" y="16"/>
                    <a:pt x="55" y="15"/>
                    <a:pt x="65" y="14"/>
                  </a:cubicBezTo>
                  <a:cubicBezTo>
                    <a:pt x="66" y="14"/>
                    <a:pt x="66" y="14"/>
                    <a:pt x="67" y="14"/>
                  </a:cubicBezTo>
                  <a:cubicBezTo>
                    <a:pt x="70" y="14"/>
                    <a:pt x="73" y="15"/>
                    <a:pt x="75" y="17"/>
                  </a:cubicBezTo>
                  <a:cubicBezTo>
                    <a:pt x="77" y="15"/>
                    <a:pt x="78" y="11"/>
                    <a:pt x="77" y="8"/>
                  </a:cubicBezTo>
                  <a:cubicBezTo>
                    <a:pt x="75" y="3"/>
                    <a:pt x="69" y="0"/>
                    <a:pt x="64" y="2"/>
                  </a:cubicBezTo>
                  <a:cubicBezTo>
                    <a:pt x="35" y="11"/>
                    <a:pt x="14" y="12"/>
                    <a:pt x="0" y="10"/>
                  </a:cubicBezTo>
                  <a:cubicBezTo>
                    <a:pt x="11" y="14"/>
                    <a:pt x="24" y="16"/>
                    <a:pt x="38" y="16"/>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1" name="Freeform 56"/>
            <p:cNvSpPr>
              <a:spLocks noEditPoints="1"/>
            </p:cNvSpPr>
            <p:nvPr/>
          </p:nvSpPr>
          <p:spPr bwMode="auto">
            <a:xfrm>
              <a:off x="5122484" y="2234522"/>
              <a:ext cx="302419" cy="263129"/>
            </a:xfrm>
            <a:custGeom>
              <a:avLst/>
              <a:gdLst>
                <a:gd name="T0" fmla="*/ 21 w 106"/>
                <a:gd name="T1" fmla="*/ 93 h 93"/>
                <a:gd name="T2" fmla="*/ 20 w 106"/>
                <a:gd name="T3" fmla="*/ 91 h 93"/>
                <a:gd name="T4" fmla="*/ 20 w 106"/>
                <a:gd name="T5" fmla="*/ 91 h 93"/>
                <a:gd name="T6" fmla="*/ 20 w 106"/>
                <a:gd name="T7" fmla="*/ 91 h 93"/>
                <a:gd name="T8" fmla="*/ 20 w 106"/>
                <a:gd name="T9" fmla="*/ 77 h 93"/>
                <a:gd name="T10" fmla="*/ 19 w 106"/>
                <a:gd name="T11" fmla="*/ 77 h 93"/>
                <a:gd name="T12" fmla="*/ 0 w 106"/>
                <a:gd name="T13" fmla="*/ 43 h 93"/>
                <a:gd name="T14" fmla="*/ 56 w 106"/>
                <a:gd name="T15" fmla="*/ 1 h 93"/>
                <a:gd name="T16" fmla="*/ 105 w 106"/>
                <a:gd name="T17" fmla="*/ 45 h 93"/>
                <a:gd name="T18" fmla="*/ 55 w 106"/>
                <a:gd name="T19" fmla="*/ 88 h 93"/>
                <a:gd name="T20" fmla="*/ 37 w 106"/>
                <a:gd name="T21" fmla="*/ 85 h 93"/>
                <a:gd name="T22" fmla="*/ 37 w 106"/>
                <a:gd name="T23" fmla="*/ 85 h 93"/>
                <a:gd name="T24" fmla="*/ 22 w 106"/>
                <a:gd name="T25" fmla="*/ 93 h 93"/>
                <a:gd name="T26" fmla="*/ 22 w 106"/>
                <a:gd name="T27" fmla="*/ 93 h 93"/>
                <a:gd name="T28" fmla="*/ 21 w 106"/>
                <a:gd name="T29" fmla="*/ 93 h 93"/>
                <a:gd name="T30" fmla="*/ 56 w 106"/>
                <a:gd name="T31" fmla="*/ 5 h 93"/>
                <a:gd name="T32" fmla="*/ 4 w 106"/>
                <a:gd name="T33" fmla="*/ 43 h 93"/>
                <a:gd name="T34" fmla="*/ 23 w 106"/>
                <a:gd name="T35" fmla="*/ 75 h 93"/>
                <a:gd name="T36" fmla="*/ 24 w 106"/>
                <a:gd name="T37" fmla="*/ 76 h 93"/>
                <a:gd name="T38" fmla="*/ 23 w 106"/>
                <a:gd name="T39" fmla="*/ 88 h 93"/>
                <a:gd name="T40" fmla="*/ 35 w 106"/>
                <a:gd name="T41" fmla="*/ 81 h 93"/>
                <a:gd name="T42" fmla="*/ 36 w 106"/>
                <a:gd name="T43" fmla="*/ 81 h 93"/>
                <a:gd name="T44" fmla="*/ 37 w 106"/>
                <a:gd name="T45" fmla="*/ 81 h 93"/>
                <a:gd name="T46" fmla="*/ 55 w 106"/>
                <a:gd name="T47" fmla="*/ 84 h 93"/>
                <a:gd name="T48" fmla="*/ 102 w 106"/>
                <a:gd name="T49" fmla="*/ 45 h 93"/>
                <a:gd name="T50" fmla="*/ 56 w 106"/>
                <a:gd name="T51" fmla="*/ 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 h="93">
                  <a:moveTo>
                    <a:pt x="21" y="93"/>
                  </a:moveTo>
                  <a:cubicBezTo>
                    <a:pt x="20" y="93"/>
                    <a:pt x="20" y="92"/>
                    <a:pt x="20" y="91"/>
                  </a:cubicBezTo>
                  <a:cubicBezTo>
                    <a:pt x="20" y="91"/>
                    <a:pt x="20" y="91"/>
                    <a:pt x="20" y="91"/>
                  </a:cubicBezTo>
                  <a:cubicBezTo>
                    <a:pt x="20" y="91"/>
                    <a:pt x="20" y="91"/>
                    <a:pt x="20" y="91"/>
                  </a:cubicBezTo>
                  <a:cubicBezTo>
                    <a:pt x="20" y="77"/>
                    <a:pt x="20" y="77"/>
                    <a:pt x="20" y="77"/>
                  </a:cubicBezTo>
                  <a:cubicBezTo>
                    <a:pt x="19" y="77"/>
                    <a:pt x="19" y="77"/>
                    <a:pt x="19" y="77"/>
                  </a:cubicBezTo>
                  <a:cubicBezTo>
                    <a:pt x="7" y="68"/>
                    <a:pt x="0" y="56"/>
                    <a:pt x="0" y="43"/>
                  </a:cubicBezTo>
                  <a:cubicBezTo>
                    <a:pt x="1" y="19"/>
                    <a:pt x="25" y="0"/>
                    <a:pt x="56" y="1"/>
                  </a:cubicBezTo>
                  <a:cubicBezTo>
                    <a:pt x="85" y="1"/>
                    <a:pt x="106" y="20"/>
                    <a:pt x="105" y="45"/>
                  </a:cubicBezTo>
                  <a:cubicBezTo>
                    <a:pt x="105" y="71"/>
                    <a:pt x="84" y="88"/>
                    <a:pt x="55" y="88"/>
                  </a:cubicBezTo>
                  <a:cubicBezTo>
                    <a:pt x="49" y="88"/>
                    <a:pt x="43" y="87"/>
                    <a:pt x="37" y="85"/>
                  </a:cubicBezTo>
                  <a:cubicBezTo>
                    <a:pt x="37" y="85"/>
                    <a:pt x="37" y="85"/>
                    <a:pt x="37" y="85"/>
                  </a:cubicBezTo>
                  <a:cubicBezTo>
                    <a:pt x="22" y="93"/>
                    <a:pt x="22" y="93"/>
                    <a:pt x="22" y="93"/>
                  </a:cubicBezTo>
                  <a:cubicBezTo>
                    <a:pt x="22" y="93"/>
                    <a:pt x="22" y="93"/>
                    <a:pt x="22" y="93"/>
                  </a:cubicBezTo>
                  <a:lnTo>
                    <a:pt x="21" y="93"/>
                  </a:lnTo>
                  <a:close/>
                  <a:moveTo>
                    <a:pt x="56" y="5"/>
                  </a:moveTo>
                  <a:cubicBezTo>
                    <a:pt x="28" y="4"/>
                    <a:pt x="4" y="22"/>
                    <a:pt x="4" y="43"/>
                  </a:cubicBezTo>
                  <a:cubicBezTo>
                    <a:pt x="4" y="56"/>
                    <a:pt x="11" y="67"/>
                    <a:pt x="23" y="75"/>
                  </a:cubicBezTo>
                  <a:cubicBezTo>
                    <a:pt x="23" y="75"/>
                    <a:pt x="24" y="76"/>
                    <a:pt x="24" y="76"/>
                  </a:cubicBezTo>
                  <a:cubicBezTo>
                    <a:pt x="23" y="88"/>
                    <a:pt x="23" y="88"/>
                    <a:pt x="23" y="88"/>
                  </a:cubicBezTo>
                  <a:cubicBezTo>
                    <a:pt x="35" y="81"/>
                    <a:pt x="35" y="81"/>
                    <a:pt x="35" y="81"/>
                  </a:cubicBezTo>
                  <a:cubicBezTo>
                    <a:pt x="36" y="81"/>
                    <a:pt x="36" y="81"/>
                    <a:pt x="36" y="81"/>
                  </a:cubicBezTo>
                  <a:cubicBezTo>
                    <a:pt x="37" y="81"/>
                    <a:pt x="37" y="81"/>
                    <a:pt x="37" y="81"/>
                  </a:cubicBezTo>
                  <a:cubicBezTo>
                    <a:pt x="43" y="83"/>
                    <a:pt x="49" y="84"/>
                    <a:pt x="55" y="84"/>
                  </a:cubicBezTo>
                  <a:cubicBezTo>
                    <a:pt x="82" y="84"/>
                    <a:pt x="101" y="68"/>
                    <a:pt x="102" y="45"/>
                  </a:cubicBezTo>
                  <a:cubicBezTo>
                    <a:pt x="102" y="22"/>
                    <a:pt x="83" y="5"/>
                    <a:pt x="56" y="5"/>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2" name="Rectangle 57"/>
            <p:cNvSpPr>
              <a:spLocks noChangeArrowheads="1"/>
            </p:cNvSpPr>
            <p:nvPr/>
          </p:nvSpPr>
          <p:spPr bwMode="auto">
            <a:xfrm>
              <a:off x="5239165" y="2722679"/>
              <a:ext cx="126206" cy="16669"/>
            </a:xfrm>
            <a:prstGeom prst="rect">
              <a:avLst/>
            </a:prstGeom>
            <a:solidFill>
              <a:srgbClr val="566CD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3" name="Freeform 59"/>
            <p:cNvSpPr/>
            <p:nvPr/>
          </p:nvSpPr>
          <p:spPr bwMode="auto">
            <a:xfrm>
              <a:off x="5376087" y="2911988"/>
              <a:ext cx="139304" cy="266700"/>
            </a:xfrm>
            <a:custGeom>
              <a:avLst/>
              <a:gdLst>
                <a:gd name="T0" fmla="*/ 5 w 49"/>
                <a:gd name="T1" fmla="*/ 94 h 94"/>
                <a:gd name="T2" fmla="*/ 44 w 49"/>
                <a:gd name="T3" fmla="*/ 94 h 94"/>
                <a:gd name="T4" fmla="*/ 49 w 49"/>
                <a:gd name="T5" fmla="*/ 84 h 94"/>
                <a:gd name="T6" fmla="*/ 49 w 49"/>
                <a:gd name="T7" fmla="*/ 12 h 94"/>
                <a:gd name="T8" fmla="*/ 37 w 49"/>
                <a:gd name="T9" fmla="*/ 0 h 94"/>
                <a:gd name="T10" fmla="*/ 12 w 49"/>
                <a:gd name="T11" fmla="*/ 0 h 94"/>
                <a:gd name="T12" fmla="*/ 0 w 49"/>
                <a:gd name="T13" fmla="*/ 12 h 94"/>
                <a:gd name="T14" fmla="*/ 0 w 49"/>
                <a:gd name="T15" fmla="*/ 84 h 94"/>
                <a:gd name="T16" fmla="*/ 5 w 49"/>
                <a:gd name="T1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94">
                  <a:moveTo>
                    <a:pt x="5" y="94"/>
                  </a:moveTo>
                  <a:cubicBezTo>
                    <a:pt x="44" y="94"/>
                    <a:pt x="44" y="94"/>
                    <a:pt x="44" y="94"/>
                  </a:cubicBezTo>
                  <a:cubicBezTo>
                    <a:pt x="47" y="92"/>
                    <a:pt x="49" y="88"/>
                    <a:pt x="49" y="84"/>
                  </a:cubicBezTo>
                  <a:cubicBezTo>
                    <a:pt x="49" y="12"/>
                    <a:pt x="49" y="12"/>
                    <a:pt x="49" y="12"/>
                  </a:cubicBezTo>
                  <a:cubicBezTo>
                    <a:pt x="49" y="5"/>
                    <a:pt x="44" y="0"/>
                    <a:pt x="37" y="0"/>
                  </a:cubicBezTo>
                  <a:cubicBezTo>
                    <a:pt x="12" y="0"/>
                    <a:pt x="12" y="0"/>
                    <a:pt x="12" y="0"/>
                  </a:cubicBezTo>
                  <a:cubicBezTo>
                    <a:pt x="5" y="0"/>
                    <a:pt x="0" y="5"/>
                    <a:pt x="0" y="12"/>
                  </a:cubicBezTo>
                  <a:cubicBezTo>
                    <a:pt x="0" y="84"/>
                    <a:pt x="0" y="84"/>
                    <a:pt x="0" y="84"/>
                  </a:cubicBezTo>
                  <a:cubicBezTo>
                    <a:pt x="0" y="88"/>
                    <a:pt x="2" y="92"/>
                    <a:pt x="5" y="94"/>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4" name="Freeform 60"/>
            <p:cNvSpPr/>
            <p:nvPr/>
          </p:nvSpPr>
          <p:spPr bwMode="auto">
            <a:xfrm>
              <a:off x="5433237" y="2472647"/>
              <a:ext cx="34529" cy="252413"/>
            </a:xfrm>
            <a:custGeom>
              <a:avLst/>
              <a:gdLst>
                <a:gd name="T0" fmla="*/ 0 w 29"/>
                <a:gd name="T1" fmla="*/ 0 h 212"/>
                <a:gd name="T2" fmla="*/ 0 w 29"/>
                <a:gd name="T3" fmla="*/ 167 h 212"/>
                <a:gd name="T4" fmla="*/ 14 w 29"/>
                <a:gd name="T5" fmla="*/ 167 h 212"/>
                <a:gd name="T6" fmla="*/ 14 w 29"/>
                <a:gd name="T7" fmla="*/ 212 h 212"/>
                <a:gd name="T8" fmla="*/ 29 w 29"/>
                <a:gd name="T9" fmla="*/ 212 h 212"/>
                <a:gd name="T10" fmla="*/ 29 w 29"/>
                <a:gd name="T11" fmla="*/ 167 h 212"/>
                <a:gd name="T12" fmla="*/ 29 w 29"/>
                <a:gd name="T13" fmla="*/ 121 h 212"/>
                <a:gd name="T14" fmla="*/ 29 w 29"/>
                <a:gd name="T15" fmla="*/ 0 h 212"/>
                <a:gd name="T16" fmla="*/ 0 w 29"/>
                <a:gd name="T1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12">
                  <a:moveTo>
                    <a:pt x="0" y="0"/>
                  </a:moveTo>
                  <a:lnTo>
                    <a:pt x="0" y="167"/>
                  </a:lnTo>
                  <a:lnTo>
                    <a:pt x="14" y="167"/>
                  </a:lnTo>
                  <a:lnTo>
                    <a:pt x="14" y="212"/>
                  </a:lnTo>
                  <a:lnTo>
                    <a:pt x="29" y="212"/>
                  </a:lnTo>
                  <a:lnTo>
                    <a:pt x="29" y="167"/>
                  </a:lnTo>
                  <a:lnTo>
                    <a:pt x="29" y="121"/>
                  </a:lnTo>
                  <a:lnTo>
                    <a:pt x="29" y="0"/>
                  </a:lnTo>
                  <a:lnTo>
                    <a:pt x="0" y="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5" name="Freeform 62"/>
            <p:cNvSpPr>
              <a:spLocks noEditPoints="1"/>
            </p:cNvSpPr>
            <p:nvPr/>
          </p:nvSpPr>
          <p:spPr bwMode="auto">
            <a:xfrm>
              <a:off x="5179634" y="2319057"/>
              <a:ext cx="110729" cy="114300"/>
            </a:xfrm>
            <a:custGeom>
              <a:avLst/>
              <a:gdLst>
                <a:gd name="T0" fmla="*/ 22 w 39"/>
                <a:gd name="T1" fmla="*/ 4 h 40"/>
                <a:gd name="T2" fmla="*/ 27 w 39"/>
                <a:gd name="T3" fmla="*/ 8 h 40"/>
                <a:gd name="T4" fmla="*/ 29 w 39"/>
                <a:gd name="T5" fmla="*/ 7 h 40"/>
                <a:gd name="T6" fmla="*/ 32 w 39"/>
                <a:gd name="T7" fmla="*/ 9 h 40"/>
                <a:gd name="T8" fmla="*/ 31 w 39"/>
                <a:gd name="T9" fmla="*/ 12 h 40"/>
                <a:gd name="T10" fmla="*/ 35 w 39"/>
                <a:gd name="T11" fmla="*/ 17 h 40"/>
                <a:gd name="T12" fmla="*/ 36 w 39"/>
                <a:gd name="T13" fmla="*/ 21 h 40"/>
                <a:gd name="T14" fmla="*/ 33 w 39"/>
                <a:gd name="T15" fmla="*/ 23 h 40"/>
                <a:gd name="T16" fmla="*/ 32 w 39"/>
                <a:gd name="T17" fmla="*/ 29 h 40"/>
                <a:gd name="T18" fmla="*/ 30 w 39"/>
                <a:gd name="T19" fmla="*/ 33 h 40"/>
                <a:gd name="T20" fmla="*/ 28 w 39"/>
                <a:gd name="T21" fmla="*/ 33 h 40"/>
                <a:gd name="T22" fmla="*/ 22 w 39"/>
                <a:gd name="T23" fmla="*/ 34 h 40"/>
                <a:gd name="T24" fmla="*/ 21 w 39"/>
                <a:gd name="T25" fmla="*/ 37 h 40"/>
                <a:gd name="T26" fmla="*/ 16 w 39"/>
                <a:gd name="T27" fmla="*/ 35 h 40"/>
                <a:gd name="T28" fmla="*/ 12 w 39"/>
                <a:gd name="T29" fmla="*/ 32 h 40"/>
                <a:gd name="T30" fmla="*/ 9 w 39"/>
                <a:gd name="T31" fmla="*/ 33 h 40"/>
                <a:gd name="T32" fmla="*/ 6 w 39"/>
                <a:gd name="T33" fmla="*/ 31 h 40"/>
                <a:gd name="T34" fmla="*/ 8 w 39"/>
                <a:gd name="T35" fmla="*/ 28 h 40"/>
                <a:gd name="T36" fmla="*/ 4 w 39"/>
                <a:gd name="T37" fmla="*/ 23 h 40"/>
                <a:gd name="T38" fmla="*/ 2 w 39"/>
                <a:gd name="T39" fmla="*/ 19 h 40"/>
                <a:gd name="T40" fmla="*/ 6 w 39"/>
                <a:gd name="T41" fmla="*/ 17 h 40"/>
                <a:gd name="T42" fmla="*/ 6 w 39"/>
                <a:gd name="T43" fmla="*/ 11 h 40"/>
                <a:gd name="T44" fmla="*/ 8 w 39"/>
                <a:gd name="T45" fmla="*/ 7 h 40"/>
                <a:gd name="T46" fmla="*/ 10 w 39"/>
                <a:gd name="T47" fmla="*/ 7 h 40"/>
                <a:gd name="T48" fmla="*/ 16 w 39"/>
                <a:gd name="T49" fmla="*/ 6 h 40"/>
                <a:gd name="T50" fmla="*/ 18 w 39"/>
                <a:gd name="T51" fmla="*/ 3 h 40"/>
                <a:gd name="T52" fmla="*/ 21 w 39"/>
                <a:gd name="T53" fmla="*/ 0 h 40"/>
                <a:gd name="T54" fmla="*/ 14 w 39"/>
                <a:gd name="T55" fmla="*/ 4 h 40"/>
                <a:gd name="T56" fmla="*/ 9 w 39"/>
                <a:gd name="T57" fmla="*/ 4 h 40"/>
                <a:gd name="T58" fmla="*/ 4 w 39"/>
                <a:gd name="T59" fmla="*/ 7 h 40"/>
                <a:gd name="T60" fmla="*/ 4 w 39"/>
                <a:gd name="T61" fmla="*/ 13 h 40"/>
                <a:gd name="T62" fmla="*/ 0 w 39"/>
                <a:gd name="T63" fmla="*/ 19 h 40"/>
                <a:gd name="T64" fmla="*/ 3 w 39"/>
                <a:gd name="T65" fmla="*/ 26 h 40"/>
                <a:gd name="T66" fmla="*/ 3 w 39"/>
                <a:gd name="T67" fmla="*/ 30 h 40"/>
                <a:gd name="T68" fmla="*/ 6 w 39"/>
                <a:gd name="T69" fmla="*/ 35 h 40"/>
                <a:gd name="T70" fmla="*/ 12 w 39"/>
                <a:gd name="T71" fmla="*/ 35 h 40"/>
                <a:gd name="T72" fmla="*/ 18 w 39"/>
                <a:gd name="T73" fmla="*/ 40 h 40"/>
                <a:gd name="T74" fmla="*/ 25 w 39"/>
                <a:gd name="T75" fmla="*/ 36 h 40"/>
                <a:gd name="T76" fmla="*/ 29 w 39"/>
                <a:gd name="T77" fmla="*/ 36 h 40"/>
                <a:gd name="T78" fmla="*/ 34 w 39"/>
                <a:gd name="T79" fmla="*/ 33 h 40"/>
                <a:gd name="T80" fmla="*/ 34 w 39"/>
                <a:gd name="T81" fmla="*/ 27 h 40"/>
                <a:gd name="T82" fmla="*/ 39 w 39"/>
                <a:gd name="T83" fmla="*/ 21 h 40"/>
                <a:gd name="T84" fmla="*/ 35 w 39"/>
                <a:gd name="T85" fmla="*/ 14 h 40"/>
                <a:gd name="T86" fmla="*/ 35 w 39"/>
                <a:gd name="T87" fmla="*/ 10 h 40"/>
                <a:gd name="T88" fmla="*/ 32 w 39"/>
                <a:gd name="T89" fmla="*/ 5 h 40"/>
                <a:gd name="T90" fmla="*/ 27 w 39"/>
                <a:gd name="T91" fmla="*/ 5 h 40"/>
                <a:gd name="T92" fmla="*/ 21 w 39"/>
                <a:gd name="T9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9" h="40">
                  <a:moveTo>
                    <a:pt x="21" y="3"/>
                  </a:moveTo>
                  <a:cubicBezTo>
                    <a:pt x="21" y="3"/>
                    <a:pt x="22" y="4"/>
                    <a:pt x="22" y="4"/>
                  </a:cubicBezTo>
                  <a:cubicBezTo>
                    <a:pt x="22" y="6"/>
                    <a:pt x="22" y="6"/>
                    <a:pt x="22" y="6"/>
                  </a:cubicBezTo>
                  <a:cubicBezTo>
                    <a:pt x="24" y="7"/>
                    <a:pt x="26" y="7"/>
                    <a:pt x="27" y="8"/>
                  </a:cubicBezTo>
                  <a:cubicBezTo>
                    <a:pt x="28" y="7"/>
                    <a:pt x="28" y="7"/>
                    <a:pt x="28" y="7"/>
                  </a:cubicBezTo>
                  <a:cubicBezTo>
                    <a:pt x="28" y="7"/>
                    <a:pt x="29" y="7"/>
                    <a:pt x="29" y="7"/>
                  </a:cubicBezTo>
                  <a:cubicBezTo>
                    <a:pt x="30" y="7"/>
                    <a:pt x="30" y="7"/>
                    <a:pt x="30" y="7"/>
                  </a:cubicBezTo>
                  <a:cubicBezTo>
                    <a:pt x="32" y="9"/>
                    <a:pt x="32" y="9"/>
                    <a:pt x="32" y="9"/>
                  </a:cubicBezTo>
                  <a:cubicBezTo>
                    <a:pt x="33" y="10"/>
                    <a:pt x="33" y="10"/>
                    <a:pt x="32" y="11"/>
                  </a:cubicBezTo>
                  <a:cubicBezTo>
                    <a:pt x="31" y="12"/>
                    <a:pt x="31" y="12"/>
                    <a:pt x="31" y="12"/>
                  </a:cubicBezTo>
                  <a:cubicBezTo>
                    <a:pt x="32" y="14"/>
                    <a:pt x="33" y="15"/>
                    <a:pt x="33" y="17"/>
                  </a:cubicBezTo>
                  <a:cubicBezTo>
                    <a:pt x="35" y="17"/>
                    <a:pt x="35" y="17"/>
                    <a:pt x="35" y="17"/>
                  </a:cubicBezTo>
                  <a:cubicBezTo>
                    <a:pt x="35" y="17"/>
                    <a:pt x="36" y="18"/>
                    <a:pt x="36" y="19"/>
                  </a:cubicBezTo>
                  <a:cubicBezTo>
                    <a:pt x="36" y="21"/>
                    <a:pt x="36" y="21"/>
                    <a:pt x="36" y="21"/>
                  </a:cubicBezTo>
                  <a:cubicBezTo>
                    <a:pt x="36" y="22"/>
                    <a:pt x="35" y="23"/>
                    <a:pt x="35" y="23"/>
                  </a:cubicBezTo>
                  <a:cubicBezTo>
                    <a:pt x="33" y="23"/>
                    <a:pt x="33" y="23"/>
                    <a:pt x="33" y="23"/>
                  </a:cubicBezTo>
                  <a:cubicBezTo>
                    <a:pt x="33" y="25"/>
                    <a:pt x="32" y="26"/>
                    <a:pt x="31" y="28"/>
                  </a:cubicBezTo>
                  <a:cubicBezTo>
                    <a:pt x="32" y="29"/>
                    <a:pt x="32" y="29"/>
                    <a:pt x="32" y="29"/>
                  </a:cubicBezTo>
                  <a:cubicBezTo>
                    <a:pt x="33" y="29"/>
                    <a:pt x="33" y="30"/>
                    <a:pt x="32" y="31"/>
                  </a:cubicBezTo>
                  <a:cubicBezTo>
                    <a:pt x="30" y="33"/>
                    <a:pt x="30" y="33"/>
                    <a:pt x="30" y="33"/>
                  </a:cubicBezTo>
                  <a:cubicBezTo>
                    <a:pt x="30" y="33"/>
                    <a:pt x="30" y="33"/>
                    <a:pt x="29" y="33"/>
                  </a:cubicBezTo>
                  <a:cubicBezTo>
                    <a:pt x="29" y="33"/>
                    <a:pt x="28" y="33"/>
                    <a:pt x="28" y="33"/>
                  </a:cubicBezTo>
                  <a:cubicBezTo>
                    <a:pt x="27" y="32"/>
                    <a:pt x="27" y="32"/>
                    <a:pt x="27" y="32"/>
                  </a:cubicBezTo>
                  <a:cubicBezTo>
                    <a:pt x="26" y="33"/>
                    <a:pt x="24" y="33"/>
                    <a:pt x="22" y="34"/>
                  </a:cubicBezTo>
                  <a:cubicBezTo>
                    <a:pt x="22" y="35"/>
                    <a:pt x="22" y="35"/>
                    <a:pt x="22" y="35"/>
                  </a:cubicBezTo>
                  <a:cubicBezTo>
                    <a:pt x="22" y="36"/>
                    <a:pt x="21" y="37"/>
                    <a:pt x="21" y="37"/>
                  </a:cubicBezTo>
                  <a:cubicBezTo>
                    <a:pt x="18" y="37"/>
                    <a:pt x="18" y="37"/>
                    <a:pt x="18" y="37"/>
                  </a:cubicBezTo>
                  <a:cubicBezTo>
                    <a:pt x="17" y="37"/>
                    <a:pt x="16" y="36"/>
                    <a:pt x="16" y="35"/>
                  </a:cubicBezTo>
                  <a:cubicBezTo>
                    <a:pt x="16" y="34"/>
                    <a:pt x="16" y="34"/>
                    <a:pt x="16" y="34"/>
                  </a:cubicBezTo>
                  <a:cubicBezTo>
                    <a:pt x="15" y="33"/>
                    <a:pt x="13" y="33"/>
                    <a:pt x="12" y="32"/>
                  </a:cubicBezTo>
                  <a:cubicBezTo>
                    <a:pt x="10" y="33"/>
                    <a:pt x="10" y="33"/>
                    <a:pt x="10" y="33"/>
                  </a:cubicBezTo>
                  <a:cubicBezTo>
                    <a:pt x="10" y="33"/>
                    <a:pt x="10" y="33"/>
                    <a:pt x="9" y="33"/>
                  </a:cubicBezTo>
                  <a:cubicBezTo>
                    <a:pt x="9" y="33"/>
                    <a:pt x="9" y="33"/>
                    <a:pt x="8" y="33"/>
                  </a:cubicBezTo>
                  <a:cubicBezTo>
                    <a:pt x="6" y="31"/>
                    <a:pt x="6" y="31"/>
                    <a:pt x="6" y="31"/>
                  </a:cubicBezTo>
                  <a:cubicBezTo>
                    <a:pt x="6" y="30"/>
                    <a:pt x="6" y="29"/>
                    <a:pt x="6" y="29"/>
                  </a:cubicBezTo>
                  <a:cubicBezTo>
                    <a:pt x="8" y="28"/>
                    <a:pt x="8" y="28"/>
                    <a:pt x="8" y="28"/>
                  </a:cubicBezTo>
                  <a:cubicBezTo>
                    <a:pt x="7" y="26"/>
                    <a:pt x="6" y="25"/>
                    <a:pt x="6" y="23"/>
                  </a:cubicBezTo>
                  <a:cubicBezTo>
                    <a:pt x="4" y="23"/>
                    <a:pt x="4" y="23"/>
                    <a:pt x="4" y="23"/>
                  </a:cubicBezTo>
                  <a:cubicBezTo>
                    <a:pt x="3" y="23"/>
                    <a:pt x="2" y="22"/>
                    <a:pt x="2" y="21"/>
                  </a:cubicBezTo>
                  <a:cubicBezTo>
                    <a:pt x="2" y="19"/>
                    <a:pt x="2" y="19"/>
                    <a:pt x="2" y="19"/>
                  </a:cubicBezTo>
                  <a:cubicBezTo>
                    <a:pt x="2" y="18"/>
                    <a:pt x="3" y="17"/>
                    <a:pt x="4" y="17"/>
                  </a:cubicBezTo>
                  <a:cubicBezTo>
                    <a:pt x="6" y="17"/>
                    <a:pt x="6" y="17"/>
                    <a:pt x="6" y="17"/>
                  </a:cubicBezTo>
                  <a:cubicBezTo>
                    <a:pt x="6" y="15"/>
                    <a:pt x="7" y="14"/>
                    <a:pt x="8" y="12"/>
                  </a:cubicBezTo>
                  <a:cubicBezTo>
                    <a:pt x="6" y="11"/>
                    <a:pt x="6" y="11"/>
                    <a:pt x="6" y="11"/>
                  </a:cubicBezTo>
                  <a:cubicBezTo>
                    <a:pt x="6" y="10"/>
                    <a:pt x="6" y="10"/>
                    <a:pt x="6" y="9"/>
                  </a:cubicBezTo>
                  <a:cubicBezTo>
                    <a:pt x="8" y="7"/>
                    <a:pt x="8" y="7"/>
                    <a:pt x="8" y="7"/>
                  </a:cubicBezTo>
                  <a:cubicBezTo>
                    <a:pt x="9" y="7"/>
                    <a:pt x="9" y="7"/>
                    <a:pt x="9" y="7"/>
                  </a:cubicBezTo>
                  <a:cubicBezTo>
                    <a:pt x="10" y="7"/>
                    <a:pt x="10" y="7"/>
                    <a:pt x="10" y="7"/>
                  </a:cubicBezTo>
                  <a:cubicBezTo>
                    <a:pt x="12" y="8"/>
                    <a:pt x="12" y="8"/>
                    <a:pt x="12" y="8"/>
                  </a:cubicBezTo>
                  <a:cubicBezTo>
                    <a:pt x="13" y="7"/>
                    <a:pt x="15" y="7"/>
                    <a:pt x="16" y="6"/>
                  </a:cubicBezTo>
                  <a:cubicBezTo>
                    <a:pt x="16" y="4"/>
                    <a:pt x="16" y="4"/>
                    <a:pt x="16" y="4"/>
                  </a:cubicBezTo>
                  <a:cubicBezTo>
                    <a:pt x="16" y="4"/>
                    <a:pt x="17" y="3"/>
                    <a:pt x="18" y="3"/>
                  </a:cubicBezTo>
                  <a:cubicBezTo>
                    <a:pt x="21" y="3"/>
                    <a:pt x="21" y="3"/>
                    <a:pt x="21" y="3"/>
                  </a:cubicBezTo>
                  <a:moveTo>
                    <a:pt x="21" y="0"/>
                  </a:moveTo>
                  <a:cubicBezTo>
                    <a:pt x="18" y="0"/>
                    <a:pt x="18" y="0"/>
                    <a:pt x="18" y="0"/>
                  </a:cubicBezTo>
                  <a:cubicBezTo>
                    <a:pt x="16" y="0"/>
                    <a:pt x="14" y="2"/>
                    <a:pt x="14" y="4"/>
                  </a:cubicBezTo>
                  <a:cubicBezTo>
                    <a:pt x="13" y="4"/>
                    <a:pt x="13" y="4"/>
                    <a:pt x="12" y="5"/>
                  </a:cubicBezTo>
                  <a:cubicBezTo>
                    <a:pt x="11" y="4"/>
                    <a:pt x="10" y="4"/>
                    <a:pt x="9" y="4"/>
                  </a:cubicBezTo>
                  <a:cubicBezTo>
                    <a:pt x="8" y="4"/>
                    <a:pt x="7" y="4"/>
                    <a:pt x="6" y="5"/>
                  </a:cubicBezTo>
                  <a:cubicBezTo>
                    <a:pt x="4" y="7"/>
                    <a:pt x="4" y="7"/>
                    <a:pt x="4" y="7"/>
                  </a:cubicBezTo>
                  <a:cubicBezTo>
                    <a:pt x="4" y="8"/>
                    <a:pt x="3" y="9"/>
                    <a:pt x="3" y="10"/>
                  </a:cubicBezTo>
                  <a:cubicBezTo>
                    <a:pt x="3" y="11"/>
                    <a:pt x="4" y="12"/>
                    <a:pt x="4" y="13"/>
                  </a:cubicBezTo>
                  <a:cubicBezTo>
                    <a:pt x="4" y="13"/>
                    <a:pt x="4" y="14"/>
                    <a:pt x="3" y="14"/>
                  </a:cubicBezTo>
                  <a:cubicBezTo>
                    <a:pt x="1" y="15"/>
                    <a:pt x="0" y="16"/>
                    <a:pt x="0" y="19"/>
                  </a:cubicBezTo>
                  <a:cubicBezTo>
                    <a:pt x="0" y="21"/>
                    <a:pt x="0" y="21"/>
                    <a:pt x="0" y="21"/>
                  </a:cubicBezTo>
                  <a:cubicBezTo>
                    <a:pt x="0" y="23"/>
                    <a:pt x="1" y="25"/>
                    <a:pt x="3" y="26"/>
                  </a:cubicBezTo>
                  <a:cubicBezTo>
                    <a:pt x="4" y="26"/>
                    <a:pt x="4" y="27"/>
                    <a:pt x="4" y="27"/>
                  </a:cubicBezTo>
                  <a:cubicBezTo>
                    <a:pt x="4" y="28"/>
                    <a:pt x="3" y="29"/>
                    <a:pt x="3" y="30"/>
                  </a:cubicBezTo>
                  <a:cubicBezTo>
                    <a:pt x="3" y="31"/>
                    <a:pt x="4" y="32"/>
                    <a:pt x="4" y="33"/>
                  </a:cubicBezTo>
                  <a:cubicBezTo>
                    <a:pt x="6" y="35"/>
                    <a:pt x="6" y="35"/>
                    <a:pt x="6" y="35"/>
                  </a:cubicBezTo>
                  <a:cubicBezTo>
                    <a:pt x="7" y="36"/>
                    <a:pt x="8" y="36"/>
                    <a:pt x="9" y="36"/>
                  </a:cubicBezTo>
                  <a:cubicBezTo>
                    <a:pt x="10" y="36"/>
                    <a:pt x="11" y="36"/>
                    <a:pt x="12" y="35"/>
                  </a:cubicBezTo>
                  <a:cubicBezTo>
                    <a:pt x="13" y="35"/>
                    <a:pt x="13" y="36"/>
                    <a:pt x="14" y="36"/>
                  </a:cubicBezTo>
                  <a:cubicBezTo>
                    <a:pt x="14" y="38"/>
                    <a:pt x="16" y="40"/>
                    <a:pt x="18" y="40"/>
                  </a:cubicBezTo>
                  <a:cubicBezTo>
                    <a:pt x="21" y="40"/>
                    <a:pt x="21" y="40"/>
                    <a:pt x="21" y="40"/>
                  </a:cubicBezTo>
                  <a:cubicBezTo>
                    <a:pt x="23" y="40"/>
                    <a:pt x="25" y="38"/>
                    <a:pt x="25" y="36"/>
                  </a:cubicBezTo>
                  <a:cubicBezTo>
                    <a:pt x="25" y="36"/>
                    <a:pt x="26" y="35"/>
                    <a:pt x="27" y="35"/>
                  </a:cubicBezTo>
                  <a:cubicBezTo>
                    <a:pt x="27" y="36"/>
                    <a:pt x="28" y="36"/>
                    <a:pt x="29" y="36"/>
                  </a:cubicBezTo>
                  <a:cubicBezTo>
                    <a:pt x="30" y="36"/>
                    <a:pt x="31" y="36"/>
                    <a:pt x="32" y="35"/>
                  </a:cubicBezTo>
                  <a:cubicBezTo>
                    <a:pt x="34" y="33"/>
                    <a:pt x="34" y="33"/>
                    <a:pt x="34" y="33"/>
                  </a:cubicBezTo>
                  <a:cubicBezTo>
                    <a:pt x="35" y="32"/>
                    <a:pt x="35" y="31"/>
                    <a:pt x="35" y="30"/>
                  </a:cubicBezTo>
                  <a:cubicBezTo>
                    <a:pt x="35" y="29"/>
                    <a:pt x="35" y="28"/>
                    <a:pt x="34" y="27"/>
                  </a:cubicBezTo>
                  <a:cubicBezTo>
                    <a:pt x="35" y="27"/>
                    <a:pt x="35" y="26"/>
                    <a:pt x="35" y="26"/>
                  </a:cubicBezTo>
                  <a:cubicBezTo>
                    <a:pt x="37" y="25"/>
                    <a:pt x="39" y="23"/>
                    <a:pt x="39" y="21"/>
                  </a:cubicBezTo>
                  <a:cubicBezTo>
                    <a:pt x="39" y="19"/>
                    <a:pt x="39" y="19"/>
                    <a:pt x="39" y="19"/>
                  </a:cubicBezTo>
                  <a:cubicBezTo>
                    <a:pt x="39" y="16"/>
                    <a:pt x="37" y="15"/>
                    <a:pt x="35" y="14"/>
                  </a:cubicBezTo>
                  <a:cubicBezTo>
                    <a:pt x="35" y="14"/>
                    <a:pt x="35" y="13"/>
                    <a:pt x="34" y="13"/>
                  </a:cubicBezTo>
                  <a:cubicBezTo>
                    <a:pt x="35" y="12"/>
                    <a:pt x="35" y="11"/>
                    <a:pt x="35" y="10"/>
                  </a:cubicBezTo>
                  <a:cubicBezTo>
                    <a:pt x="35" y="9"/>
                    <a:pt x="35" y="8"/>
                    <a:pt x="34" y="7"/>
                  </a:cubicBezTo>
                  <a:cubicBezTo>
                    <a:pt x="32" y="5"/>
                    <a:pt x="32" y="5"/>
                    <a:pt x="32" y="5"/>
                  </a:cubicBezTo>
                  <a:cubicBezTo>
                    <a:pt x="31" y="4"/>
                    <a:pt x="30" y="4"/>
                    <a:pt x="29" y="4"/>
                  </a:cubicBezTo>
                  <a:cubicBezTo>
                    <a:pt x="28" y="4"/>
                    <a:pt x="27" y="4"/>
                    <a:pt x="27" y="5"/>
                  </a:cubicBezTo>
                  <a:cubicBezTo>
                    <a:pt x="26" y="4"/>
                    <a:pt x="25" y="4"/>
                    <a:pt x="25" y="4"/>
                  </a:cubicBezTo>
                  <a:cubicBezTo>
                    <a:pt x="25" y="2"/>
                    <a:pt x="23" y="0"/>
                    <a:pt x="21" y="0"/>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6" name="Freeform 64"/>
            <p:cNvSpPr>
              <a:spLocks noEditPoints="1"/>
            </p:cNvSpPr>
            <p:nvPr/>
          </p:nvSpPr>
          <p:spPr bwMode="auto">
            <a:xfrm>
              <a:off x="5218925" y="2361919"/>
              <a:ext cx="28575" cy="28575"/>
            </a:xfrm>
            <a:custGeom>
              <a:avLst/>
              <a:gdLst>
                <a:gd name="T0" fmla="*/ 5 w 10"/>
                <a:gd name="T1" fmla="*/ 10 h 10"/>
                <a:gd name="T2" fmla="*/ 0 w 10"/>
                <a:gd name="T3" fmla="*/ 5 h 10"/>
                <a:gd name="T4" fmla="*/ 5 w 10"/>
                <a:gd name="T5" fmla="*/ 0 h 10"/>
                <a:gd name="T6" fmla="*/ 10 w 10"/>
                <a:gd name="T7" fmla="*/ 5 h 10"/>
                <a:gd name="T8" fmla="*/ 5 w 10"/>
                <a:gd name="T9" fmla="*/ 10 h 10"/>
                <a:gd name="T10" fmla="*/ 5 w 10"/>
                <a:gd name="T11" fmla="*/ 1 h 10"/>
                <a:gd name="T12" fmla="*/ 2 w 10"/>
                <a:gd name="T13" fmla="*/ 5 h 10"/>
                <a:gd name="T14" fmla="*/ 5 w 10"/>
                <a:gd name="T15" fmla="*/ 8 h 10"/>
                <a:gd name="T16" fmla="*/ 9 w 10"/>
                <a:gd name="T17" fmla="*/ 5 h 10"/>
                <a:gd name="T18" fmla="*/ 5 w 10"/>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5" y="10"/>
                  </a:moveTo>
                  <a:cubicBezTo>
                    <a:pt x="3" y="10"/>
                    <a:pt x="0" y="8"/>
                    <a:pt x="0" y="5"/>
                  </a:cubicBezTo>
                  <a:cubicBezTo>
                    <a:pt x="0" y="2"/>
                    <a:pt x="3" y="0"/>
                    <a:pt x="5" y="0"/>
                  </a:cubicBezTo>
                  <a:cubicBezTo>
                    <a:pt x="8" y="0"/>
                    <a:pt x="10" y="2"/>
                    <a:pt x="10" y="5"/>
                  </a:cubicBezTo>
                  <a:cubicBezTo>
                    <a:pt x="10" y="8"/>
                    <a:pt x="8" y="10"/>
                    <a:pt x="5" y="10"/>
                  </a:cubicBezTo>
                  <a:close/>
                  <a:moveTo>
                    <a:pt x="5" y="1"/>
                  </a:moveTo>
                  <a:cubicBezTo>
                    <a:pt x="3" y="1"/>
                    <a:pt x="2" y="3"/>
                    <a:pt x="2" y="5"/>
                  </a:cubicBezTo>
                  <a:cubicBezTo>
                    <a:pt x="2" y="7"/>
                    <a:pt x="3" y="8"/>
                    <a:pt x="5" y="8"/>
                  </a:cubicBezTo>
                  <a:cubicBezTo>
                    <a:pt x="7" y="8"/>
                    <a:pt x="9" y="7"/>
                    <a:pt x="9" y="5"/>
                  </a:cubicBezTo>
                  <a:cubicBezTo>
                    <a:pt x="9" y="3"/>
                    <a:pt x="7" y="1"/>
                    <a:pt x="5"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7" name="Freeform 66"/>
            <p:cNvSpPr>
              <a:spLocks noEditPoints="1"/>
            </p:cNvSpPr>
            <p:nvPr/>
          </p:nvSpPr>
          <p:spPr bwMode="auto">
            <a:xfrm>
              <a:off x="5312984" y="2314294"/>
              <a:ext cx="42863" cy="41672"/>
            </a:xfrm>
            <a:custGeom>
              <a:avLst/>
              <a:gdLst>
                <a:gd name="T0" fmla="*/ 8 w 15"/>
                <a:gd name="T1" fmla="*/ 15 h 15"/>
                <a:gd name="T2" fmla="*/ 0 w 15"/>
                <a:gd name="T3" fmla="*/ 7 h 15"/>
                <a:gd name="T4" fmla="*/ 8 w 15"/>
                <a:gd name="T5" fmla="*/ 0 h 15"/>
                <a:gd name="T6" fmla="*/ 15 w 15"/>
                <a:gd name="T7" fmla="*/ 7 h 15"/>
                <a:gd name="T8" fmla="*/ 8 w 15"/>
                <a:gd name="T9" fmla="*/ 15 h 15"/>
                <a:gd name="T10" fmla="*/ 8 w 15"/>
                <a:gd name="T11" fmla="*/ 1 h 15"/>
                <a:gd name="T12" fmla="*/ 2 w 15"/>
                <a:gd name="T13" fmla="*/ 7 h 15"/>
                <a:gd name="T14" fmla="*/ 8 w 15"/>
                <a:gd name="T15" fmla="*/ 14 h 15"/>
                <a:gd name="T16" fmla="*/ 14 w 15"/>
                <a:gd name="T17" fmla="*/ 7 h 15"/>
                <a:gd name="T18" fmla="*/ 8 w 15"/>
                <a:gd name="T19"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8" y="15"/>
                  </a:moveTo>
                  <a:cubicBezTo>
                    <a:pt x="4" y="15"/>
                    <a:pt x="0" y="11"/>
                    <a:pt x="0" y="7"/>
                  </a:cubicBezTo>
                  <a:cubicBezTo>
                    <a:pt x="0" y="3"/>
                    <a:pt x="4" y="0"/>
                    <a:pt x="8" y="0"/>
                  </a:cubicBezTo>
                  <a:cubicBezTo>
                    <a:pt x="12" y="0"/>
                    <a:pt x="15" y="3"/>
                    <a:pt x="15" y="7"/>
                  </a:cubicBezTo>
                  <a:cubicBezTo>
                    <a:pt x="15" y="11"/>
                    <a:pt x="12" y="15"/>
                    <a:pt x="8" y="15"/>
                  </a:cubicBezTo>
                  <a:close/>
                  <a:moveTo>
                    <a:pt x="8" y="1"/>
                  </a:moveTo>
                  <a:cubicBezTo>
                    <a:pt x="4" y="1"/>
                    <a:pt x="2" y="4"/>
                    <a:pt x="2" y="7"/>
                  </a:cubicBezTo>
                  <a:cubicBezTo>
                    <a:pt x="2" y="11"/>
                    <a:pt x="4" y="14"/>
                    <a:pt x="8" y="14"/>
                  </a:cubicBezTo>
                  <a:cubicBezTo>
                    <a:pt x="11" y="14"/>
                    <a:pt x="14" y="11"/>
                    <a:pt x="14" y="7"/>
                  </a:cubicBezTo>
                  <a:cubicBezTo>
                    <a:pt x="14" y="4"/>
                    <a:pt x="11" y="1"/>
                    <a:pt x="8" y="1"/>
                  </a:cubicBez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sp>
          <p:nvSpPr>
            <p:cNvPr id="58" name="Freeform 58"/>
            <p:cNvSpPr/>
            <p:nvPr/>
          </p:nvSpPr>
          <p:spPr bwMode="auto">
            <a:xfrm>
              <a:off x="5171300" y="2753635"/>
              <a:ext cx="321469" cy="425054"/>
            </a:xfrm>
            <a:custGeom>
              <a:avLst/>
              <a:gdLst>
                <a:gd name="T0" fmla="*/ 71 w 113"/>
                <a:gd name="T1" fmla="*/ 150 h 150"/>
                <a:gd name="T2" fmla="*/ 68 w 113"/>
                <a:gd name="T3" fmla="*/ 140 h 150"/>
                <a:gd name="T4" fmla="*/ 68 w 113"/>
                <a:gd name="T5" fmla="*/ 68 h 150"/>
                <a:gd name="T6" fmla="*/ 84 w 113"/>
                <a:gd name="T7" fmla="*/ 52 h 150"/>
                <a:gd name="T8" fmla="*/ 113 w 113"/>
                <a:gd name="T9" fmla="*/ 52 h 150"/>
                <a:gd name="T10" fmla="*/ 113 w 113"/>
                <a:gd name="T11" fmla="*/ 0 h 150"/>
                <a:gd name="T12" fmla="*/ 6 w 113"/>
                <a:gd name="T13" fmla="*/ 0 h 150"/>
                <a:gd name="T14" fmla="*/ 0 w 113"/>
                <a:gd name="T15" fmla="*/ 6 h 150"/>
                <a:gd name="T16" fmla="*/ 0 w 113"/>
                <a:gd name="T17" fmla="*/ 7 h 150"/>
                <a:gd name="T18" fmla="*/ 6 w 113"/>
                <a:gd name="T19" fmla="*/ 13 h 150"/>
                <a:gd name="T20" fmla="*/ 48 w 113"/>
                <a:gd name="T21" fmla="*/ 13 h 150"/>
                <a:gd name="T22" fmla="*/ 48 w 113"/>
                <a:gd name="T23" fmla="*/ 150 h 150"/>
                <a:gd name="T24" fmla="*/ 71 w 113"/>
                <a:gd name="T25"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50">
                  <a:moveTo>
                    <a:pt x="71" y="150"/>
                  </a:moveTo>
                  <a:cubicBezTo>
                    <a:pt x="69" y="147"/>
                    <a:pt x="68" y="144"/>
                    <a:pt x="68" y="140"/>
                  </a:cubicBezTo>
                  <a:cubicBezTo>
                    <a:pt x="68" y="68"/>
                    <a:pt x="68" y="68"/>
                    <a:pt x="68" y="68"/>
                  </a:cubicBezTo>
                  <a:cubicBezTo>
                    <a:pt x="68" y="59"/>
                    <a:pt x="75" y="52"/>
                    <a:pt x="84" y="52"/>
                  </a:cubicBezTo>
                  <a:cubicBezTo>
                    <a:pt x="113" y="52"/>
                    <a:pt x="113" y="52"/>
                    <a:pt x="113" y="52"/>
                  </a:cubicBezTo>
                  <a:cubicBezTo>
                    <a:pt x="113" y="0"/>
                    <a:pt x="113" y="0"/>
                    <a:pt x="113" y="0"/>
                  </a:cubicBezTo>
                  <a:cubicBezTo>
                    <a:pt x="6" y="0"/>
                    <a:pt x="6" y="0"/>
                    <a:pt x="6" y="0"/>
                  </a:cubicBezTo>
                  <a:cubicBezTo>
                    <a:pt x="3" y="0"/>
                    <a:pt x="0" y="3"/>
                    <a:pt x="0" y="6"/>
                  </a:cubicBezTo>
                  <a:cubicBezTo>
                    <a:pt x="0" y="7"/>
                    <a:pt x="0" y="7"/>
                    <a:pt x="0" y="7"/>
                  </a:cubicBezTo>
                  <a:cubicBezTo>
                    <a:pt x="0" y="10"/>
                    <a:pt x="3" y="13"/>
                    <a:pt x="6" y="13"/>
                  </a:cubicBezTo>
                  <a:cubicBezTo>
                    <a:pt x="48" y="13"/>
                    <a:pt x="48" y="13"/>
                    <a:pt x="48" y="13"/>
                  </a:cubicBezTo>
                  <a:cubicBezTo>
                    <a:pt x="48" y="150"/>
                    <a:pt x="48" y="150"/>
                    <a:pt x="48" y="150"/>
                  </a:cubicBezTo>
                  <a:lnTo>
                    <a:pt x="71" y="150"/>
                  </a:lnTo>
                  <a:close/>
                </a:path>
              </a:pathLst>
            </a:custGeom>
            <a:solidFill>
              <a:srgbClr val="566CD3"/>
            </a:solid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pPr defTabSz="685800">
                <a:lnSpc>
                  <a:spcPct val="120000"/>
                </a:lnSpc>
                <a:defRPr/>
              </a:pPr>
              <a:endParaRPr lang="id-ID" sz="1800" dirty="0">
                <a:solidFill>
                  <a:prstClr val="black"/>
                </a:solidFill>
                <a:latin typeface="思源黑体" panose="020B0400000000000000" pitchFamily="34" charset="-122"/>
                <a:ea typeface="思源黑体" panose="020B0400000000000000" pitchFamily="34" charset="-122"/>
                <a:cs typeface="+mn-ea"/>
                <a:sym typeface="思源黑体" panose="020B0400000000000000" pitchFamily="34" charset="-122"/>
              </a:endParaRPr>
            </a:p>
          </p:txBody>
        </p:sp>
      </p:grpSp>
      <p:grpSp>
        <p:nvGrpSpPr>
          <p:cNvPr id="67" name="组合 66"/>
          <p:cNvGrpSpPr/>
          <p:nvPr/>
        </p:nvGrpSpPr>
        <p:grpSpPr>
          <a:xfrm>
            <a:off x="7222778" y="5458166"/>
            <a:ext cx="4214048" cy="435965"/>
            <a:chOff x="3644" y="2232"/>
            <a:chExt cx="4978" cy="515"/>
          </a:xfrm>
        </p:grpSpPr>
        <p:sp>
          <p:nvSpPr>
            <p:cNvPr id="68" name="文本框 67"/>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用循环渲染设置项</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9" name="椭圆 6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3</a:t>
              </a:r>
            </a:p>
          </p:txBody>
        </p:sp>
      </p:grpSp>
      <p:grpSp>
        <p:nvGrpSpPr>
          <p:cNvPr id="14" name="组合 13"/>
          <p:cNvGrpSpPr/>
          <p:nvPr/>
        </p:nvGrpSpPr>
        <p:grpSpPr>
          <a:xfrm>
            <a:off x="7222778" y="6030876"/>
            <a:ext cx="4214048" cy="435965"/>
            <a:chOff x="3644" y="2232"/>
            <a:chExt cx="4978" cy="515"/>
          </a:xfrm>
        </p:grpSpPr>
        <p:sp>
          <p:nvSpPr>
            <p:cNvPr id="15" name="文本框 14"/>
            <p:cNvSpPr txBox="1"/>
            <p:nvPr/>
          </p:nvSpPr>
          <p:spPr>
            <a:xfrm>
              <a:off x="4098" y="2232"/>
              <a:ext cx="4524"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验证组件和页面的生命周期</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16" name="椭圆 15"/>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4</a:t>
              </a:r>
            </a:p>
          </p:txBody>
        </p:sp>
      </p:grpSp>
      <p:grpSp>
        <p:nvGrpSpPr>
          <p:cNvPr id="5" name="组合 4"/>
          <p:cNvGrpSpPr/>
          <p:nvPr/>
        </p:nvGrpSpPr>
        <p:grpSpPr>
          <a:xfrm>
            <a:off x="1162438" y="1700889"/>
            <a:ext cx="2881003" cy="1867012"/>
            <a:chOff x="871965" y="1274988"/>
            <a:chExt cx="2161090" cy="1400478"/>
          </a:xfrm>
        </p:grpSpPr>
        <p:grpSp>
          <p:nvGrpSpPr>
            <p:cNvPr id="25" name="组合 24"/>
            <p:cNvGrpSpPr/>
            <p:nvPr/>
          </p:nvGrpSpPr>
          <p:grpSpPr>
            <a:xfrm>
              <a:off x="1144561" y="2348441"/>
              <a:ext cx="1839595" cy="327025"/>
              <a:chOff x="3644" y="2232"/>
              <a:chExt cx="2897" cy="515"/>
            </a:xfrm>
          </p:grpSpPr>
          <p:sp>
            <p:nvSpPr>
              <p:cNvPr id="38" name="文本框 37"/>
              <p:cNvSpPr txBox="1"/>
              <p:nvPr/>
            </p:nvSpPr>
            <p:spPr>
              <a:xfrm>
                <a:off x="4098" y="2232"/>
                <a:ext cx="2443"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整理工程资源</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9" name="椭圆 38"/>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1</a:t>
                </a:r>
              </a:p>
            </p:txBody>
          </p:sp>
        </p:grpSp>
        <p:pic>
          <p:nvPicPr>
            <p:cNvPr id="4" name="图片 3"/>
            <p:cNvPicPr>
              <a:picLocks noChangeAspect="1"/>
            </p:cNvPicPr>
            <p:nvPr/>
          </p:nvPicPr>
          <p:blipFill>
            <a:blip r:embed="rId3"/>
            <a:stretch>
              <a:fillRect/>
            </a:stretch>
          </p:blipFill>
          <p:spPr>
            <a:xfrm>
              <a:off x="871965" y="1274988"/>
              <a:ext cx="2161090" cy="845677"/>
            </a:xfrm>
            <a:prstGeom prst="rect">
              <a:avLst/>
            </a:prstGeom>
          </p:spPr>
        </p:pic>
      </p:grpSp>
      <p:grpSp>
        <p:nvGrpSpPr>
          <p:cNvPr id="43" name="组合 42"/>
          <p:cNvGrpSpPr/>
          <p:nvPr/>
        </p:nvGrpSpPr>
        <p:grpSpPr>
          <a:xfrm>
            <a:off x="7229974" y="4845800"/>
            <a:ext cx="3815330" cy="435965"/>
            <a:chOff x="3644" y="2232"/>
            <a:chExt cx="4507" cy="515"/>
          </a:xfrm>
        </p:grpSpPr>
        <p:sp>
          <p:nvSpPr>
            <p:cNvPr id="62" name="文本框 61"/>
            <p:cNvSpPr txBox="1"/>
            <p:nvPr/>
          </p:nvSpPr>
          <p:spPr>
            <a:xfrm>
              <a:off x="4098" y="2232"/>
              <a:ext cx="4053" cy="515"/>
            </a:xfrm>
            <a:prstGeom prst="rect">
              <a:avLst/>
            </a:prstGeom>
            <a:noFill/>
          </p:spPr>
          <p:txBody>
            <a:bodyPr wrap="square" rtlCol="0">
              <a:spAutoFit/>
            </a:bodyPr>
            <a:lstStyle/>
            <a:p>
              <a:pPr>
                <a:lnSpc>
                  <a:spcPct val="120000"/>
                </a:lnSpc>
              </a:pPr>
              <a:r>
                <a:rPr lang="zh-CN" altLang="en-US" sz="1865">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开发自定义的设置项组件</a:t>
              </a:r>
              <a:endParaRPr lang="zh-CN" altLang="en-US" sz="1865" dirty="0">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63" name="椭圆 62"/>
            <p:cNvSpPr/>
            <p:nvPr/>
          </p:nvSpPr>
          <p:spPr>
            <a:xfrm>
              <a:off x="3644" y="2295"/>
              <a:ext cx="434" cy="383"/>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865">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2</a:t>
              </a:r>
            </a:p>
          </p:txBody>
        </p:sp>
      </p:grpSp>
      <p:pic>
        <p:nvPicPr>
          <p:cNvPr id="12" name="图片 11"/>
          <p:cNvPicPr>
            <a:picLocks noChangeAspect="1"/>
          </p:cNvPicPr>
          <p:nvPr/>
        </p:nvPicPr>
        <p:blipFill>
          <a:blip r:embed="rId4"/>
          <a:stretch>
            <a:fillRect/>
          </a:stretch>
        </p:blipFill>
        <p:spPr>
          <a:xfrm>
            <a:off x="4846431" y="892586"/>
            <a:ext cx="6881986" cy="3939350"/>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4*#ppt_w"/>
                                          </p:val>
                                        </p:tav>
                                        <p:tav tm="100000">
                                          <p:val>
                                            <p:strVal val="#ppt_w"/>
                                          </p:val>
                                        </p:tav>
                                      </p:tavLst>
                                    </p:anim>
                                    <p:anim calcmode="lin" valueType="num">
                                      <p:cBhvr>
                                        <p:cTn id="8" dur="500" fill="hold"/>
                                        <p:tgtEl>
                                          <p:spTgt spid="2"/>
                                        </p:tgtEl>
                                        <p:attrNameLst>
                                          <p:attrName>ppt_h</p:attrName>
                                        </p:attrNameLst>
                                      </p:cBhvr>
                                      <p:tavLst>
                                        <p:tav tm="0">
                                          <p:val>
                                            <p:strVal val="4*#ppt_h"/>
                                          </p:val>
                                        </p:tav>
                                        <p:tav tm="100000">
                                          <p:val>
                                            <p:strVal val="#ppt_h"/>
                                          </p:val>
                                        </p:tav>
                                      </p:tavLst>
                                    </p:anim>
                                  </p:childTnLst>
                                </p:cTn>
                              </p:par>
                              <p:par>
                                <p:cTn id="9" presetID="2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10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down)">
                                      <p:cBhvr>
                                        <p:cTn id="26" dur="5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wipe(down)">
                                      <p:cBhvr>
                                        <p:cTn id="31" dur="500"/>
                                        <p:tgtEl>
                                          <p:spTgt spid="6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6454517" y="2637973"/>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534399" y="3714071"/>
            <a:ext cx="5474538"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6454742" y="2637894"/>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01</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4367010" y="33319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4222863" y="189049"/>
            <a:ext cx="6510451"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整理工程资源</a:t>
            </a:r>
          </a:p>
        </p:txBody>
      </p:sp>
      <p:grpSp>
        <p:nvGrpSpPr>
          <p:cNvPr id="27" name="组合 26"/>
          <p:cNvGrpSpPr/>
          <p:nvPr/>
        </p:nvGrpSpPr>
        <p:grpSpPr>
          <a:xfrm>
            <a:off x="837950" y="1125670"/>
            <a:ext cx="10366900" cy="1730473"/>
            <a:chOff x="714042" y="1245288"/>
            <a:chExt cx="7684259" cy="1336924"/>
          </a:xfrm>
        </p:grpSpPr>
        <p:sp>
          <p:nvSpPr>
            <p:cNvPr id="28" name="文本框 27"/>
            <p:cNvSpPr txBox="1"/>
            <p:nvPr/>
          </p:nvSpPr>
          <p:spPr>
            <a:xfrm>
              <a:off x="790091" y="1291969"/>
              <a:ext cx="7460353" cy="1290243"/>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将项目</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任务</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4</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的工程</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Project1_Task4</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进行复制，并重命名为</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Project2_Task5</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；在工程</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Project2_Task5</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color.json</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中创建颜色资源，将任务需要的图片资源整理到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media</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目录下创建设置页涉及到的目录和文件，将项目</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任务</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5</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ToastUtil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工具类复制到</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util</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目录下。</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29" name="圆角矩形 54"/>
            <p:cNvSpPr/>
            <p:nvPr/>
          </p:nvSpPr>
          <p:spPr>
            <a:xfrm>
              <a:off x="714042" y="1245288"/>
              <a:ext cx="7684259" cy="130329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30" name="图片 29"/>
          <p:cNvPicPr>
            <a:picLocks noChangeAspect="1"/>
          </p:cNvPicPr>
          <p:nvPr/>
        </p:nvPicPr>
        <p:blipFill>
          <a:blip r:embed="rId3"/>
          <a:stretch>
            <a:fillRect/>
          </a:stretch>
        </p:blipFill>
        <p:spPr>
          <a:xfrm>
            <a:off x="906258" y="2997524"/>
            <a:ext cx="8687798" cy="3399706"/>
          </a:xfrm>
          <a:prstGeom prst="rect">
            <a:avLst/>
          </a:prstGeom>
        </p:spPr>
      </p:pic>
      <p:grpSp>
        <p:nvGrpSpPr>
          <p:cNvPr id="31" name="组合 30"/>
          <p:cNvGrpSpPr/>
          <p:nvPr/>
        </p:nvGrpSpPr>
        <p:grpSpPr>
          <a:xfrm>
            <a:off x="7914738" y="4984193"/>
            <a:ext cx="4142374" cy="1727413"/>
            <a:chOff x="602840" y="3657238"/>
            <a:chExt cx="3489785" cy="1456990"/>
          </a:xfrm>
        </p:grpSpPr>
        <p:pic>
          <p:nvPicPr>
            <p:cNvPr id="32" name="图片 31"/>
            <p:cNvPicPr>
              <a:picLocks noChangeAspect="1"/>
            </p:cNvPicPr>
            <p:nvPr/>
          </p:nvPicPr>
          <p:blipFill>
            <a:blip r:embed="rId4"/>
            <a:stretch>
              <a:fillRect/>
            </a:stretch>
          </p:blipFill>
          <p:spPr>
            <a:xfrm>
              <a:off x="2470807" y="3657238"/>
              <a:ext cx="1621818" cy="1456990"/>
            </a:xfrm>
            <a:prstGeom prst="rect">
              <a:avLst/>
            </a:prstGeom>
          </p:spPr>
        </p:pic>
        <p:sp>
          <p:nvSpPr>
            <p:cNvPr id="33"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7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4*#ppt_w"/>
                                          </p:val>
                                        </p:tav>
                                        <p:tav tm="100000">
                                          <p:val>
                                            <p:strVal val="#ppt_w"/>
                                          </p:val>
                                        </p:tav>
                                      </p:tavLst>
                                    </p:anim>
                                    <p:anim calcmode="lin" valueType="num">
                                      <p:cBhvr>
                                        <p:cTn id="8" dur="500" fill="hold"/>
                                        <p:tgtEl>
                                          <p:spTgt spid="1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7"/>
                                        </p:tgtEl>
                                        <p:attrNameLst>
                                          <p:attrName>style.visibility</p:attrName>
                                        </p:attrNameLst>
                                      </p:cBhvr>
                                      <p:to>
                                        <p:strVal val="visible"/>
                                      </p:to>
                                    </p:set>
                                    <p:animEffect transition="in" filter="wedge">
                                      <p:cBhvr>
                                        <p:cTn id="12" dur="1000"/>
                                        <p:tgtEl>
                                          <p:spTgt spid="27"/>
                                        </p:tgtEl>
                                      </p:cBhvr>
                                    </p:animEffect>
                                  </p:childTnLst>
                                </p:cTn>
                              </p:par>
                            </p:childTnLst>
                          </p:cTn>
                        </p:par>
                        <p:par>
                          <p:cTn id="13" fill="hold">
                            <p:stCondLst>
                              <p:cond delay="1500"/>
                            </p:stCondLst>
                            <p:childTnLst>
                              <p:par>
                                <p:cTn id="14" presetID="20" presetClass="entr" presetSubtype="0" fill="hold" nodeType="afterEffect">
                                  <p:stCondLst>
                                    <p:cond delay="0"/>
                                  </p:stCondLst>
                                  <p:childTnLst>
                                    <p:set>
                                      <p:cBhvr>
                                        <p:cTn id="15" dur="1000" fill="hold">
                                          <p:stCondLst>
                                            <p:cond delay="0"/>
                                          </p:stCondLst>
                                        </p:cTn>
                                        <p:tgtEl>
                                          <p:spTgt spid="30"/>
                                        </p:tgtEl>
                                        <p:attrNameLst>
                                          <p:attrName>style.visibility</p:attrName>
                                        </p:attrNameLst>
                                      </p:cBhvr>
                                      <p:to>
                                        <p:strVal val="visible"/>
                                      </p:to>
                                    </p:set>
                                    <p:animEffect transition="in" filter="wedge">
                                      <p:cBhvr>
                                        <p:cTn id="16" dur="10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31"/>
                                        </p:tgtEl>
                                        <p:attrNameLst>
                                          <p:attrName>style.visibility</p:attrName>
                                        </p:attrNameLst>
                                      </p:cBhvr>
                                      <p:to>
                                        <p:strVal val="visible"/>
                                      </p:to>
                                    </p:set>
                                    <p:animEffect transition="in" filter="wedge">
                                      <p:cBhvr>
                                        <p:cTn id="21"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004751" y="3714071"/>
            <a:ext cx="6004186"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开发自定义的设置项组件</a:t>
            </a:r>
            <a:endPar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pic>
        <p:nvPicPr>
          <p:cNvPr id="2" name="图片 1" descr="6cbd895e3f1f9f150d2b104f3375e1e6"/>
          <p:cNvPicPr>
            <a:picLocks noChangeAspect="1"/>
          </p:cNvPicPr>
          <p:nvPr/>
        </p:nvPicPr>
        <p:blipFill>
          <a:blip r:embed="rId4"/>
          <a:stretch>
            <a:fillRect/>
          </a:stretch>
        </p:blipFill>
        <p:spPr>
          <a:xfrm>
            <a:off x="0" y="1399646"/>
            <a:ext cx="6127129" cy="4093484"/>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934575" y="33319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898014" y="166824"/>
            <a:ext cx="7905943"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开发自定义的设置项组件</a:t>
            </a:r>
            <a:endParaRPr lang="en-US" altLang="zh-CN"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grpSp>
        <p:nvGrpSpPr>
          <p:cNvPr id="27" name="组合 26"/>
          <p:cNvGrpSpPr/>
          <p:nvPr/>
        </p:nvGrpSpPr>
        <p:grpSpPr>
          <a:xfrm>
            <a:off x="769797" y="1284584"/>
            <a:ext cx="6529377" cy="5100102"/>
            <a:chOff x="714041" y="984903"/>
            <a:chExt cx="4862391" cy="3940216"/>
          </a:xfrm>
        </p:grpSpPr>
        <p:sp>
          <p:nvSpPr>
            <p:cNvPr id="28" name="文本框 27"/>
            <p:cNvSpPr txBox="1"/>
            <p:nvPr/>
          </p:nvSpPr>
          <p:spPr>
            <a:xfrm>
              <a:off x="924703" y="1588107"/>
              <a:ext cx="3249155" cy="3121106"/>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每一个设置项的</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UI</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，由左边图片、左边文字和右边图片构成，每一项间用分隔线组件隔开。</a:t>
              </a:r>
              <a:endPar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ets/view/SettingItem.ets</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中编写代码，实现自定义的设置项组件</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SettingItem</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，变化的左边图片和文字用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@State</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状态变量修饰，用</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export default</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导出设置项组件，当文字为注销时，用条件渲染不出现分隔线。</a:t>
              </a:r>
              <a:endParaRPr lang="zh-CN" altLang="en-US" sz="2135" dirty="0">
                <a:solidFill>
                  <a:schemeClr val="tx1">
                    <a:lumMod val="65000"/>
                    <a:lumOff val="35000"/>
                  </a:schemeClr>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nvGrpSpPr>
            <p:cNvPr id="29" name="组合 28"/>
            <p:cNvGrpSpPr/>
            <p:nvPr/>
          </p:nvGrpSpPr>
          <p:grpSpPr>
            <a:xfrm>
              <a:off x="714041" y="984903"/>
              <a:ext cx="4862391" cy="3940216"/>
              <a:chOff x="899813" y="1386807"/>
              <a:chExt cx="4862391" cy="3940216"/>
            </a:xfrm>
          </p:grpSpPr>
          <p:sp>
            <p:nvSpPr>
              <p:cNvPr id="30" name="圆角矩形 3"/>
              <p:cNvSpPr/>
              <p:nvPr/>
            </p:nvSpPr>
            <p:spPr>
              <a:xfrm>
                <a:off x="899813" y="1436469"/>
                <a:ext cx="1630379" cy="341972"/>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圆角矩形 54"/>
              <p:cNvSpPr/>
              <p:nvPr/>
            </p:nvSpPr>
            <p:spPr>
              <a:xfrm>
                <a:off x="899813" y="1647189"/>
                <a:ext cx="3723146" cy="367983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Text2"/>
              <p:cNvSpPr txBox="1"/>
              <p:nvPr/>
            </p:nvSpPr>
            <p:spPr>
              <a:xfrm>
                <a:off x="1110475" y="138680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组件树</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33" name="组合 32"/>
          <p:cNvGrpSpPr/>
          <p:nvPr/>
        </p:nvGrpSpPr>
        <p:grpSpPr>
          <a:xfrm>
            <a:off x="7564627" y="5130687"/>
            <a:ext cx="4142374" cy="1727413"/>
            <a:chOff x="602840" y="3657238"/>
            <a:chExt cx="3489785" cy="1456990"/>
          </a:xfrm>
        </p:grpSpPr>
        <p:pic>
          <p:nvPicPr>
            <p:cNvPr id="34" name="图片 33"/>
            <p:cNvPicPr>
              <a:picLocks noChangeAspect="1"/>
            </p:cNvPicPr>
            <p:nvPr/>
          </p:nvPicPr>
          <p:blipFill>
            <a:blip r:embed="rId3"/>
            <a:stretch>
              <a:fillRect/>
            </a:stretch>
          </p:blipFill>
          <p:spPr>
            <a:xfrm>
              <a:off x="2470807" y="3657238"/>
              <a:ext cx="1621818" cy="1456990"/>
            </a:xfrm>
            <a:prstGeom prst="rect">
              <a:avLst/>
            </a:prstGeom>
          </p:spPr>
        </p:pic>
        <p:sp>
          <p:nvSpPr>
            <p:cNvPr id="35" name="ïsḷîde"/>
            <p:cNvSpPr/>
            <p:nvPr/>
          </p:nvSpPr>
          <p:spPr>
            <a:xfrm>
              <a:off x="602840" y="3894438"/>
              <a:ext cx="1691628" cy="49129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67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36" name="图片 35"/>
          <p:cNvPicPr>
            <a:picLocks noChangeAspect="1"/>
          </p:cNvPicPr>
          <p:nvPr/>
        </p:nvPicPr>
        <p:blipFill>
          <a:blip r:embed="rId4"/>
          <a:stretch>
            <a:fillRect/>
          </a:stretch>
        </p:blipFill>
        <p:spPr>
          <a:xfrm>
            <a:off x="6052242" y="1791503"/>
            <a:ext cx="5875179" cy="3363038"/>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4*#ppt_w"/>
                                          </p:val>
                                        </p:tav>
                                        <p:tav tm="100000">
                                          <p:val>
                                            <p:strVal val="#ppt_w"/>
                                          </p:val>
                                        </p:tav>
                                      </p:tavLst>
                                    </p:anim>
                                    <p:anim calcmode="lin" valueType="num">
                                      <p:cBhvr>
                                        <p:cTn id="8" dur="500" fill="hold"/>
                                        <p:tgtEl>
                                          <p:spTgt spid="1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7"/>
                                        </p:tgtEl>
                                        <p:attrNameLst>
                                          <p:attrName>style.visibility</p:attrName>
                                        </p:attrNameLst>
                                      </p:cBhvr>
                                      <p:to>
                                        <p:strVal val="visible"/>
                                      </p:to>
                                    </p:set>
                                    <p:animEffect transition="in" filter="wedg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down)">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000" fill="hold">
                                          <p:stCondLst>
                                            <p:cond delay="0"/>
                                          </p:stCondLst>
                                        </p:cTn>
                                        <p:tgtEl>
                                          <p:spTgt spid="33"/>
                                        </p:tgtEl>
                                        <p:attrNameLst>
                                          <p:attrName>style.visibility</p:attrName>
                                        </p:attrNameLst>
                                      </p:cBhvr>
                                      <p:to>
                                        <p:strVal val="visible"/>
                                      </p:to>
                                    </p:set>
                                    <p:animEffect transition="in" filter="wedge">
                                      <p:cBhvr>
                                        <p:cTn id="22"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307104" y="3737666"/>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用循环渲染设置项</a:t>
            </a:r>
          </a:p>
        </p:txBody>
      </p:sp>
      <p:pic>
        <p:nvPicPr>
          <p:cNvPr id="2" name="图片 1" descr="6cbd895e3f1f9f150d2b104f3375e1e6"/>
          <p:cNvPicPr>
            <a:picLocks noChangeAspect="1"/>
          </p:cNvPicPr>
          <p:nvPr/>
        </p:nvPicPr>
        <p:blipFill>
          <a:blip r:embed="rId4"/>
          <a:stretch>
            <a:fillRect/>
          </a:stretch>
        </p:blipFill>
        <p:spPr>
          <a:xfrm>
            <a:off x="-26034" y="1917806"/>
            <a:ext cx="6165540" cy="4119147"/>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03</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431020" y="40558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用循环渲染设置项</a:t>
            </a:r>
          </a:p>
        </p:txBody>
      </p:sp>
      <p:grpSp>
        <p:nvGrpSpPr>
          <p:cNvPr id="27" name="组合 26"/>
          <p:cNvGrpSpPr/>
          <p:nvPr/>
        </p:nvGrpSpPr>
        <p:grpSpPr>
          <a:xfrm>
            <a:off x="769797" y="1295702"/>
            <a:ext cx="6387934" cy="4342313"/>
            <a:chOff x="714041" y="993493"/>
            <a:chExt cx="4757059" cy="3354768"/>
          </a:xfrm>
        </p:grpSpPr>
        <p:sp>
          <p:nvSpPr>
            <p:cNvPr id="28" name="文本框 27"/>
            <p:cNvSpPr txBox="1"/>
            <p:nvPr/>
          </p:nvSpPr>
          <p:spPr>
            <a:xfrm>
              <a:off x="924704" y="1601929"/>
              <a:ext cx="2620286" cy="2510819"/>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在设置页，导入设置类、设置项的数据源、自定义的设置项组件和消息弹窗工具类；在组件的生命周期函数中获取数据源；用循环渲染自定义的设置项组件，并使用数据源给自定义的设置项组件传递参数。</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29" name="组合 28"/>
            <p:cNvGrpSpPr/>
            <p:nvPr/>
          </p:nvGrpSpPr>
          <p:grpSpPr>
            <a:xfrm>
              <a:off x="714041" y="993493"/>
              <a:ext cx="4757059" cy="3354768"/>
              <a:chOff x="899813" y="1395397"/>
              <a:chExt cx="4757059" cy="3354768"/>
            </a:xfrm>
          </p:grpSpPr>
          <p:sp>
            <p:nvSpPr>
              <p:cNvPr id="30"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1" name="圆角矩形 54"/>
              <p:cNvSpPr/>
              <p:nvPr/>
            </p:nvSpPr>
            <p:spPr>
              <a:xfrm>
                <a:off x="899813" y="1647191"/>
                <a:ext cx="3049489" cy="3102974"/>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过程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33" name="组合 32"/>
          <p:cNvGrpSpPr/>
          <p:nvPr/>
        </p:nvGrpSpPr>
        <p:grpSpPr>
          <a:xfrm>
            <a:off x="6220583" y="4762620"/>
            <a:ext cx="4503562" cy="1939209"/>
            <a:chOff x="673616" y="3421010"/>
            <a:chExt cx="4103317" cy="1722490"/>
          </a:xfrm>
        </p:grpSpPr>
        <p:pic>
          <p:nvPicPr>
            <p:cNvPr id="34" name="图片 33"/>
            <p:cNvPicPr>
              <a:picLocks noChangeAspect="1"/>
            </p:cNvPicPr>
            <p:nvPr/>
          </p:nvPicPr>
          <p:blipFill>
            <a:blip r:embed="rId3"/>
            <a:stretch>
              <a:fillRect/>
            </a:stretch>
          </p:blipFill>
          <p:spPr>
            <a:xfrm>
              <a:off x="2859579" y="3421010"/>
              <a:ext cx="1917354" cy="1722490"/>
            </a:xfrm>
            <a:prstGeom prst="rect">
              <a:avLst/>
            </a:prstGeom>
          </p:spPr>
        </p:pic>
        <p:sp>
          <p:nvSpPr>
            <p:cNvPr id="35"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7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36" name="图片 35"/>
          <p:cNvPicPr>
            <a:picLocks noChangeAspect="1"/>
          </p:cNvPicPr>
          <p:nvPr/>
        </p:nvPicPr>
        <p:blipFill>
          <a:blip r:embed="rId4"/>
          <a:stretch>
            <a:fillRect/>
          </a:stretch>
        </p:blipFill>
        <p:spPr>
          <a:xfrm>
            <a:off x="5295039" y="950682"/>
            <a:ext cx="6733718" cy="3854479"/>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4*#ppt_w"/>
                                          </p:val>
                                        </p:tav>
                                        <p:tav tm="100000">
                                          <p:val>
                                            <p:strVal val="#ppt_w"/>
                                          </p:val>
                                        </p:tav>
                                      </p:tavLst>
                                    </p:anim>
                                    <p:anim calcmode="lin" valueType="num">
                                      <p:cBhvr>
                                        <p:cTn id="8" dur="500" fill="hold"/>
                                        <p:tgtEl>
                                          <p:spTgt spid="1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7"/>
                                        </p:tgtEl>
                                        <p:attrNameLst>
                                          <p:attrName>style.visibility</p:attrName>
                                        </p:attrNameLst>
                                      </p:cBhvr>
                                      <p:to>
                                        <p:strVal val="visible"/>
                                      </p:to>
                                    </p:set>
                                    <p:animEffect transition="in" filter="wedg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down)">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000" fill="hold">
                                          <p:stCondLst>
                                            <p:cond delay="0"/>
                                          </p:stCondLst>
                                        </p:cTn>
                                        <p:tgtEl>
                                          <p:spTgt spid="33"/>
                                        </p:tgtEl>
                                        <p:attrNameLst>
                                          <p:attrName>style.visibility</p:attrName>
                                        </p:attrNameLst>
                                      </p:cBhvr>
                                      <p:to>
                                        <p:strVal val="visible"/>
                                      </p:to>
                                    </p:set>
                                    <p:animEffect transition="in" filter="wedge">
                                      <p:cBhvr>
                                        <p:cTn id="22"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8420477" y="2258878"/>
            <a:ext cx="1247792" cy="1247792"/>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21" name="矩形 20"/>
          <p:cNvSpPr/>
          <p:nvPr/>
        </p:nvSpPr>
        <p:spPr>
          <a:xfrm>
            <a:off x="6307104" y="3737666"/>
            <a:ext cx="5781407" cy="640080"/>
          </a:xfrm>
          <a:prstGeom prst="rect">
            <a:avLst/>
          </a:prstGeom>
        </p:spPr>
        <p:txBody>
          <a:bodyPr wrap="square" lIns="0" tIns="0" rIns="0" bIns="0">
            <a:spAutoFit/>
          </a:bodyPr>
          <a:lstStyle/>
          <a:p>
            <a:pPr algn="ctr">
              <a:lnSpc>
                <a:spcPct val="120000"/>
              </a:lnSpc>
            </a:pP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验证组件和页面的生命周期</a:t>
            </a:r>
          </a:p>
        </p:txBody>
      </p:sp>
      <p:pic>
        <p:nvPicPr>
          <p:cNvPr id="2" name="图片 1" descr="6cbd895e3f1f9f150d2b104f3375e1e6"/>
          <p:cNvPicPr>
            <a:picLocks noChangeAspect="1"/>
          </p:cNvPicPr>
          <p:nvPr/>
        </p:nvPicPr>
        <p:blipFill>
          <a:blip r:embed="rId4"/>
          <a:stretch>
            <a:fillRect/>
          </a:stretch>
        </p:blipFill>
        <p:spPr>
          <a:xfrm>
            <a:off x="1" y="1399646"/>
            <a:ext cx="6165540" cy="4119147"/>
          </a:xfrm>
          <a:prstGeom prst="rect">
            <a:avLst/>
          </a:prstGeom>
        </p:spPr>
      </p:pic>
      <p:sp>
        <p:nvSpPr>
          <p:cNvPr id="4" name="文本框 3"/>
          <p:cNvSpPr txBox="1"/>
          <p:nvPr>
            <p:custDataLst>
              <p:tags r:id="rId1"/>
            </p:custDataLst>
          </p:nvPr>
        </p:nvSpPr>
        <p:spPr>
          <a:xfrm>
            <a:off x="8395937" y="2374369"/>
            <a:ext cx="1343790" cy="1247805"/>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04</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sp>
        <p:nvSpPr>
          <p:cNvPr id="3" name="矩形 2"/>
          <p:cNvSpPr/>
          <p:nvPr/>
        </p:nvSpPr>
        <p:spPr>
          <a:xfrm>
            <a:off x="3862820" y="333194"/>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任务实施</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验证组件和页面的生命周期（需修改）</a:t>
            </a:r>
          </a:p>
        </p:txBody>
      </p:sp>
      <p:grpSp>
        <p:nvGrpSpPr>
          <p:cNvPr id="28" name="组合 27"/>
          <p:cNvGrpSpPr/>
          <p:nvPr/>
        </p:nvGrpSpPr>
        <p:grpSpPr>
          <a:xfrm>
            <a:off x="769796" y="1174626"/>
            <a:ext cx="6387935" cy="2261807"/>
            <a:chOff x="714040" y="993493"/>
            <a:chExt cx="4757060" cy="1747418"/>
          </a:xfrm>
        </p:grpSpPr>
        <p:sp>
          <p:nvSpPr>
            <p:cNvPr id="29" name="文本框 28"/>
            <p:cNvSpPr txBox="1"/>
            <p:nvPr/>
          </p:nvSpPr>
          <p:spPr>
            <a:xfrm>
              <a:off x="924704" y="1601928"/>
              <a:ext cx="3755023" cy="985097"/>
            </a:xfrm>
            <a:prstGeom prst="rect">
              <a:avLst/>
            </a:prstGeom>
            <a:noFill/>
          </p:spPr>
          <p:txBody>
            <a:bodyPr wrap="square" lIns="91397" tIns="45699" rIns="91397" bIns="45699" rtlCol="0">
              <a:spAutoFit/>
            </a:bodyPr>
            <a:lstStyle/>
            <a:p>
              <a:pPr indent="266700">
                <a:lnSpc>
                  <a:spcPct val="120000"/>
                </a:lnSpc>
              </a:pP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修改</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SettingItem</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组件的代码，添加组件的生命周期函数；修改页面</a:t>
              </a:r>
              <a:r>
                <a:rPr lang="en-US"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Index</a:t>
              </a:r>
              <a:r>
                <a:rPr lang="zh-CN" altLang="en-US"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的代码，添加页面的生命周期函数。</a:t>
              </a:r>
              <a:endParaRPr lang="zh-CN" altLang="en-US" sz="2135" dirty="0">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30" name="组合 29"/>
            <p:cNvGrpSpPr/>
            <p:nvPr/>
          </p:nvGrpSpPr>
          <p:grpSpPr>
            <a:xfrm>
              <a:off x="714040" y="993493"/>
              <a:ext cx="4757060" cy="1747418"/>
              <a:chOff x="899812" y="1395397"/>
              <a:chExt cx="4757060" cy="1747418"/>
            </a:xfrm>
          </p:grpSpPr>
          <p:sp>
            <p:nvSpPr>
              <p:cNvPr id="31" name="圆角矩形 3"/>
              <p:cNvSpPr/>
              <p:nvPr/>
            </p:nvSpPr>
            <p:spPr>
              <a:xfrm>
                <a:off x="899813" y="1436469"/>
                <a:ext cx="2360242" cy="415290"/>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 name="圆角矩形 54"/>
              <p:cNvSpPr/>
              <p:nvPr/>
            </p:nvSpPr>
            <p:spPr>
              <a:xfrm>
                <a:off x="899812" y="1647190"/>
                <a:ext cx="4036607" cy="1495625"/>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3" name="Text2"/>
              <p:cNvSpPr txBox="1"/>
              <p:nvPr/>
            </p:nvSpPr>
            <p:spPr>
              <a:xfrm>
                <a:off x="1005143" y="1395397"/>
                <a:ext cx="4651729" cy="39163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生命周期</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34" name="组合 33"/>
          <p:cNvGrpSpPr/>
          <p:nvPr/>
        </p:nvGrpSpPr>
        <p:grpSpPr>
          <a:xfrm>
            <a:off x="7157731" y="5636498"/>
            <a:ext cx="4039097" cy="1558007"/>
            <a:chOff x="673616" y="3421010"/>
            <a:chExt cx="4103317" cy="1722490"/>
          </a:xfrm>
        </p:grpSpPr>
        <p:pic>
          <p:nvPicPr>
            <p:cNvPr id="35" name="图片 34"/>
            <p:cNvPicPr>
              <a:picLocks noChangeAspect="1"/>
            </p:cNvPicPr>
            <p:nvPr/>
          </p:nvPicPr>
          <p:blipFill>
            <a:blip r:embed="rId3"/>
            <a:stretch>
              <a:fillRect/>
            </a:stretch>
          </p:blipFill>
          <p:spPr>
            <a:xfrm>
              <a:off x="2859579" y="3421010"/>
              <a:ext cx="1917354" cy="1722490"/>
            </a:xfrm>
            <a:prstGeom prst="rect">
              <a:avLst/>
            </a:prstGeom>
          </p:spPr>
        </p:pic>
        <p:sp>
          <p:nvSpPr>
            <p:cNvPr id="36" name="ïsḷîde"/>
            <p:cNvSpPr/>
            <p:nvPr/>
          </p:nvSpPr>
          <p:spPr>
            <a:xfrm>
              <a:off x="673616" y="3867776"/>
              <a:ext cx="2185963" cy="529590"/>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5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pic>
        <p:nvPicPr>
          <p:cNvPr id="37" name="图片 36"/>
          <p:cNvPicPr>
            <a:picLocks noChangeAspect="1"/>
          </p:cNvPicPr>
          <p:nvPr/>
        </p:nvPicPr>
        <p:blipFill>
          <a:blip r:embed="rId4"/>
          <a:stretch>
            <a:fillRect/>
          </a:stretch>
        </p:blipFill>
        <p:spPr>
          <a:xfrm>
            <a:off x="6277196" y="977504"/>
            <a:ext cx="5694918" cy="2287161"/>
          </a:xfrm>
          <a:prstGeom prst="rect">
            <a:avLst/>
          </a:prstGeom>
        </p:spPr>
      </p:pic>
      <p:pic>
        <p:nvPicPr>
          <p:cNvPr id="38" name="图片 37"/>
          <p:cNvPicPr>
            <a:picLocks noChangeAspect="1"/>
          </p:cNvPicPr>
          <p:nvPr/>
        </p:nvPicPr>
        <p:blipFill>
          <a:blip r:embed="rId5"/>
          <a:stretch>
            <a:fillRect/>
          </a:stretch>
        </p:blipFill>
        <p:spPr>
          <a:xfrm>
            <a:off x="769796" y="3633273"/>
            <a:ext cx="5270384" cy="2859036"/>
          </a:xfrm>
          <a:prstGeom prst="rect">
            <a:avLst/>
          </a:prstGeom>
        </p:spPr>
      </p:pic>
      <p:pic>
        <p:nvPicPr>
          <p:cNvPr id="39" name="图片 38"/>
          <p:cNvPicPr>
            <a:picLocks noChangeAspect="1"/>
          </p:cNvPicPr>
          <p:nvPr/>
        </p:nvPicPr>
        <p:blipFill>
          <a:blip r:embed="rId6"/>
          <a:stretch>
            <a:fillRect/>
          </a:stretch>
        </p:blipFill>
        <p:spPr>
          <a:xfrm>
            <a:off x="6277196" y="3766505"/>
            <a:ext cx="5538087" cy="1918139"/>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strVal val="4*#ppt_w"/>
                                          </p:val>
                                        </p:tav>
                                        <p:tav tm="100000">
                                          <p:val>
                                            <p:strVal val="#ppt_w"/>
                                          </p:val>
                                        </p:tav>
                                      </p:tavLst>
                                    </p:anim>
                                    <p:anim calcmode="lin" valueType="num">
                                      <p:cBhvr>
                                        <p:cTn id="8" dur="500" fill="hold"/>
                                        <p:tgtEl>
                                          <p:spTgt spid="2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8"/>
                                        </p:tgtEl>
                                        <p:attrNameLst>
                                          <p:attrName>style.visibility</p:attrName>
                                        </p:attrNameLst>
                                      </p:cBhvr>
                                      <p:to>
                                        <p:strVal val="visible"/>
                                      </p:to>
                                    </p:set>
                                    <p:animEffect transition="in" filter="wedge">
                                      <p:cBhvr>
                                        <p:cTn id="12" dur="10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000" fill="hold">
                                          <p:stCondLst>
                                            <p:cond delay="0"/>
                                          </p:stCondLst>
                                        </p:cTn>
                                        <p:tgtEl>
                                          <p:spTgt spid="37"/>
                                        </p:tgtEl>
                                        <p:attrNameLst>
                                          <p:attrName>style.visibility</p:attrName>
                                        </p:attrNameLst>
                                      </p:cBhvr>
                                      <p:to>
                                        <p:strVal val="visible"/>
                                      </p:to>
                                    </p:set>
                                    <p:animEffect transition="in" filter="wedge">
                                      <p:cBhvr>
                                        <p:cTn id="17" dur="10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000" fill="hold">
                                          <p:stCondLst>
                                            <p:cond delay="0"/>
                                          </p:stCondLst>
                                        </p:cTn>
                                        <p:tgtEl>
                                          <p:spTgt spid="38"/>
                                        </p:tgtEl>
                                        <p:attrNameLst>
                                          <p:attrName>style.visibility</p:attrName>
                                        </p:attrNameLst>
                                      </p:cBhvr>
                                      <p:to>
                                        <p:strVal val="visible"/>
                                      </p:to>
                                    </p:set>
                                    <p:animEffect transition="in" filter="wedge">
                                      <p:cBhvr>
                                        <p:cTn id="22" dur="10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000" fill="hold">
                                          <p:stCondLst>
                                            <p:cond delay="0"/>
                                          </p:stCondLst>
                                        </p:cTn>
                                        <p:tgtEl>
                                          <p:spTgt spid="39"/>
                                        </p:tgtEl>
                                        <p:attrNameLst>
                                          <p:attrName>style.visibility</p:attrName>
                                        </p:attrNameLst>
                                      </p:cBhvr>
                                      <p:to>
                                        <p:strVal val="visible"/>
                                      </p:to>
                                    </p:set>
                                    <p:animEffect transition="in" filter="wedge">
                                      <p:cBhvr>
                                        <p:cTn id="27" dur="10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0" presetClass="entr" presetSubtype="0" fill="hold" nodeType="clickEffect">
                                  <p:stCondLst>
                                    <p:cond delay="0"/>
                                  </p:stCondLst>
                                  <p:childTnLst>
                                    <p:set>
                                      <p:cBhvr>
                                        <p:cTn id="31" dur="1000" fill="hold">
                                          <p:stCondLst>
                                            <p:cond delay="0"/>
                                          </p:stCondLst>
                                        </p:cTn>
                                        <p:tgtEl>
                                          <p:spTgt spid="34"/>
                                        </p:tgtEl>
                                        <p:attrNameLst>
                                          <p:attrName>style.visibility</p:attrName>
                                        </p:attrNameLst>
                                      </p:cBhvr>
                                      <p:to>
                                        <p:strVal val="visible"/>
                                      </p:to>
                                    </p:set>
                                    <p:animEffect transition="in" filter="wedge">
                                      <p:cBhvr>
                                        <p:cTn id="32"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69796" y="157441"/>
            <a:ext cx="9816510" cy="738550"/>
          </a:xfrm>
          <a:prstGeom prst="rect">
            <a:avLst/>
          </a:prstGeom>
        </p:spPr>
        <p:txBody>
          <a:bodyPr wrap="square" lIns="0" tIns="0" rIns="0" bIns="0">
            <a:noAutofit/>
          </a:bodyPr>
          <a:lstStyle/>
          <a:p>
            <a:pPr>
              <a:lnSpc>
                <a:spcPct val="120000"/>
              </a:lnSpc>
            </a:pPr>
            <a:r>
              <a:rPr lang="zh-CN" altLang="en-US" sz="42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验证组件和页面的生命周期</a:t>
            </a:r>
          </a:p>
        </p:txBody>
      </p:sp>
      <p:pic>
        <p:nvPicPr>
          <p:cNvPr id="10" name="图片 9"/>
          <p:cNvPicPr>
            <a:picLocks noChangeAspect="1"/>
          </p:cNvPicPr>
          <p:nvPr/>
        </p:nvPicPr>
        <p:blipFill>
          <a:blip r:embed="rId3"/>
          <a:stretch>
            <a:fillRect/>
          </a:stretch>
        </p:blipFill>
        <p:spPr>
          <a:xfrm>
            <a:off x="1668995" y="1367156"/>
            <a:ext cx="8852103" cy="476261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2460" y="909139"/>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任务小结</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
        <p:nvSpPr>
          <p:cNvPr id="3" name="圆角矩形 54"/>
          <p:cNvSpPr/>
          <p:nvPr/>
        </p:nvSpPr>
        <p:spPr>
          <a:xfrm>
            <a:off x="1240045" y="2494595"/>
            <a:ext cx="10021698" cy="3203939"/>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5" name="文本框 4"/>
          <p:cNvSpPr txBox="1"/>
          <p:nvPr/>
        </p:nvSpPr>
        <p:spPr>
          <a:xfrm>
            <a:off x="1532238" y="2884517"/>
            <a:ext cx="9570214" cy="2749550"/>
          </a:xfrm>
          <a:prstGeom prst="rect">
            <a:avLst/>
          </a:prstGeom>
          <a:noFill/>
        </p:spPr>
        <p:txBody>
          <a:bodyPr wrap="square">
            <a:spAutoFit/>
          </a:bodyPr>
          <a:lstStyle/>
          <a:p>
            <a:pPr indent="266700" algn="just">
              <a:lnSpc>
                <a:spcPct val="120000"/>
              </a:lnSpc>
            </a:pP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本任务主要讲解了</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ArkTS</a:t>
            </a: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开发过程中很重要的自定义组件的相关操作，从分析需要自定义的组件开始，到学会抽取自定义组件需要的参数，再到导出和导入组件、调用自定义组件并正确传递参数，同时使用条件和循环进行组件的渲染，同时验证了组件的生命周期函数，完整清晰的把自定义组件的开发流程讲明白了，读者需要好好揣摩其中用法，并在后续的</a:t>
            </a:r>
            <a:r>
              <a:rPr lang="en-US" altLang="zh-CN">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UI</a:t>
            </a:r>
            <a:r>
              <a:rPr lang="zh-CN" altLang="en-US">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设计中进行应用。</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10" name="文本框 9"/>
          <p:cNvSpPr txBox="1"/>
          <p:nvPr/>
        </p:nvSpPr>
        <p:spPr>
          <a:xfrm>
            <a:off x="694606" y="1557586"/>
            <a:ext cx="11233248" cy="4401205"/>
          </a:xfrm>
          <a:prstGeom prst="rect">
            <a:avLst/>
          </a:prstGeom>
          <a:noFill/>
        </p:spPr>
        <p:txBody>
          <a:bodyPr wrap="square">
            <a:spAutoFit/>
          </a:bodyPr>
          <a:lstStyle/>
          <a:p>
            <a:r>
              <a:rPr lang="en-US" altLang="zh-CN" sz="2000" dirty="0"/>
              <a:t>1 </a:t>
            </a:r>
            <a:r>
              <a:rPr lang="zh-CN" altLang="en-US" sz="2000" dirty="0"/>
              <a:t>常用属性设置</a:t>
            </a:r>
          </a:p>
          <a:p>
            <a:pPr lvl="1"/>
            <a:r>
              <a:rPr lang="en-US" altLang="zh-CN" sz="2000" dirty="0"/>
              <a:t>width:</a:t>
            </a:r>
            <a:r>
              <a:rPr lang="zh-CN" altLang="en-US" sz="2000" dirty="0"/>
              <a:t>设置组件自身的宽度，缺省时使用元素自身内容需要的宽度。若子组件的宽度大于父组件的宽度，则会画出父组件的范围。</a:t>
            </a:r>
          </a:p>
          <a:p>
            <a:pPr lvl="1"/>
            <a:r>
              <a:rPr lang="en-US" altLang="zh-CN" sz="2000" dirty="0"/>
              <a:t>height:</a:t>
            </a:r>
            <a:r>
              <a:rPr lang="zh-CN" altLang="en-US" sz="2000" dirty="0"/>
              <a:t>设置组件自身的高度，缺省时使用元素自身内容需要的高度。若子组件的高度大于父组件的高度，则会画出父组件的范围。</a:t>
            </a:r>
          </a:p>
          <a:p>
            <a:pPr lvl="1"/>
            <a:r>
              <a:rPr lang="en-US" altLang="zh-CN" sz="2000" dirty="0"/>
              <a:t>size:</a:t>
            </a:r>
            <a:r>
              <a:rPr lang="zh-CN" altLang="en-US" sz="2000" dirty="0"/>
              <a:t>设置高宽尺寸。</a:t>
            </a:r>
          </a:p>
          <a:p>
            <a:pPr lvl="1"/>
            <a:r>
              <a:rPr lang="en-US" altLang="zh-CN" sz="2000" dirty="0"/>
              <a:t>clip:</a:t>
            </a:r>
            <a:r>
              <a:rPr lang="zh-CN" altLang="en-US" sz="2000" dirty="0"/>
              <a:t>参数为相应类型的组件，按指定的形状对当前组件进行裁剪；参数为</a:t>
            </a:r>
            <a:r>
              <a:rPr lang="en-US" altLang="zh-CN" sz="2000" dirty="0" err="1"/>
              <a:t>boolean</a:t>
            </a:r>
            <a:r>
              <a:rPr lang="zh-CN" altLang="en-US" sz="2000" dirty="0"/>
              <a:t>类型时，设置是否按照父容器边缘轮廓进行裁剪。默认值为</a:t>
            </a:r>
            <a:r>
              <a:rPr lang="en-US" altLang="zh-CN" sz="2000" dirty="0"/>
              <a:t>false</a:t>
            </a:r>
            <a:r>
              <a:rPr lang="zh-CN" altLang="en-US" sz="2000" dirty="0"/>
              <a:t>。</a:t>
            </a:r>
          </a:p>
          <a:p>
            <a:pPr lvl="1"/>
            <a:r>
              <a:rPr lang="en-US" altLang="zh-CN" sz="2000" dirty="0" err="1"/>
              <a:t>backgroundColor</a:t>
            </a:r>
            <a:r>
              <a:rPr lang="en-US" altLang="zh-CN" sz="2000" dirty="0"/>
              <a:t>:</a:t>
            </a:r>
            <a:r>
              <a:rPr lang="zh-CN" altLang="en-US" sz="2000" dirty="0"/>
              <a:t>设置组件的背景色。</a:t>
            </a:r>
          </a:p>
          <a:p>
            <a:pPr lvl="1"/>
            <a:r>
              <a:rPr lang="zh-CN" altLang="en-US" sz="2000" dirty="0"/>
              <a:t>需要注意的是，在设置组件的宽高时，若未指定具体数值，则组件会自动采用其自身内容的宽高。例如，若希望组件充满父组件，可以设置其宽高为”</a:t>
            </a:r>
            <a:r>
              <a:rPr lang="en-US" altLang="zh-CN" sz="2000" dirty="0"/>
              <a:t>100%"</a:t>
            </a:r>
            <a:r>
              <a:rPr lang="zh-CN" altLang="en-US" sz="2000" dirty="0"/>
              <a:t>。此外，当同时设置了</a:t>
            </a:r>
            <a:r>
              <a:rPr lang="en-US" altLang="zh-CN" sz="2000" dirty="0"/>
              <a:t>size</a:t>
            </a:r>
            <a:r>
              <a:rPr lang="zh-CN" altLang="en-US" sz="2000" dirty="0"/>
              <a:t>和</a:t>
            </a:r>
            <a:r>
              <a:rPr lang="en-US" altLang="zh-CN" sz="2000" dirty="0"/>
              <a:t>width/height</a:t>
            </a:r>
            <a:r>
              <a:rPr lang="zh-CN" altLang="en-US" sz="2000" dirty="0"/>
              <a:t>时，组件会以最后设置的值为准。值得注意的是，若子组件的宽高超过了父组件的宽高，子组件会默认绘制出父组件的可视范围。为了避免这种情况，可以使用</a:t>
            </a:r>
            <a:r>
              <a:rPr lang="en-US" altLang="zh-CN" sz="2000" dirty="0"/>
              <a:t>clip(rue)</a:t>
            </a:r>
            <a:r>
              <a:rPr lang="zh-CN" altLang="en-US" sz="2000" dirty="0"/>
              <a:t>方法限制子组件不超出父组件的范围。</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10" name="文本框 9"/>
          <p:cNvSpPr txBox="1"/>
          <p:nvPr/>
        </p:nvSpPr>
        <p:spPr>
          <a:xfrm>
            <a:off x="837982" y="1702048"/>
            <a:ext cx="10631711" cy="4399915"/>
          </a:xfrm>
          <a:prstGeom prst="rect">
            <a:avLst/>
          </a:prstGeom>
          <a:noFill/>
        </p:spPr>
        <p:txBody>
          <a:bodyPr wrap="square">
            <a:spAutoFit/>
          </a:bodyPr>
          <a:lstStyle/>
          <a:p>
            <a:r>
              <a:rPr lang="en-US" altLang="zh-CN" sz="2800" dirty="0" err="1"/>
              <a:t>aspectRatio</a:t>
            </a:r>
            <a:r>
              <a:rPr lang="en-US" altLang="zh-CN" sz="2800" dirty="0"/>
              <a:t>:</a:t>
            </a:r>
            <a:r>
              <a:rPr lang="zh-CN" altLang="en-US" sz="2800" dirty="0"/>
              <a:t>指定当前组件的宽高比，</a:t>
            </a:r>
            <a:r>
              <a:rPr lang="en-US" altLang="zh-CN" sz="2800" dirty="0" err="1"/>
              <a:t>aspectRatio</a:t>
            </a:r>
            <a:r>
              <a:rPr lang="en-US" altLang="zh-CN" sz="2800" dirty="0"/>
              <a:t>=width/height</a:t>
            </a:r>
            <a:r>
              <a:rPr lang="zh-CN" altLang="en-US" sz="2800" dirty="0"/>
              <a:t>。</a:t>
            </a:r>
          </a:p>
          <a:p>
            <a:endParaRPr lang="zh-CN" altLang="en-US" sz="2800" dirty="0"/>
          </a:p>
          <a:p>
            <a:r>
              <a:rPr lang="en-US" altLang="zh-CN" sz="2800" dirty="0"/>
              <a:t>padding:</a:t>
            </a:r>
            <a:r>
              <a:rPr lang="zh-CN" altLang="en-US" sz="2800" dirty="0"/>
              <a:t>设置内边距属性。</a:t>
            </a:r>
          </a:p>
          <a:p>
            <a:endParaRPr lang="zh-CN" altLang="en-US" sz="2800" dirty="0"/>
          </a:p>
          <a:p>
            <a:r>
              <a:rPr lang="en-US" altLang="zh-CN" sz="2800" dirty="0"/>
              <a:t>margin:</a:t>
            </a:r>
            <a:r>
              <a:rPr lang="zh-CN" altLang="en-US" sz="2800" dirty="0"/>
              <a:t>设置外边距属性。</a:t>
            </a:r>
          </a:p>
          <a:p>
            <a:r>
              <a:rPr lang="zh-CN" altLang="en-US" sz="2800" dirty="0"/>
              <a:t>请留意，在设置组件的内边距和外边距时，若只设置了一个值，则该值会同时应用于四个方向的边距。此外，当使用</a:t>
            </a:r>
            <a:r>
              <a:rPr lang="en-US" altLang="zh-CN" sz="2800" dirty="0"/>
              <a:t>PaddingMargin</a:t>
            </a:r>
            <a:r>
              <a:rPr lang="zh-CN" altLang="en-US" sz="2800" dirty="0"/>
              <a:t>参数类型时，可以单独设置边距。若使用百分比进行设置，则上下左右内外距均以父容器的宽度作为基础值。</a:t>
            </a:r>
          </a:p>
          <a:p>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10" name="文本框 9"/>
          <p:cNvSpPr txBox="1"/>
          <p:nvPr/>
        </p:nvSpPr>
        <p:spPr>
          <a:xfrm>
            <a:off x="837982" y="1342003"/>
            <a:ext cx="10631711" cy="4523105"/>
          </a:xfrm>
          <a:prstGeom prst="rect">
            <a:avLst/>
          </a:prstGeom>
          <a:noFill/>
        </p:spPr>
        <p:txBody>
          <a:bodyPr wrap="square">
            <a:spAutoFit/>
          </a:bodyPr>
          <a:lstStyle/>
          <a:p>
            <a:r>
              <a:rPr lang="en-US" altLang="zh-CN" dirty="0" err="1"/>
              <a:t>layoutWeight</a:t>
            </a:r>
            <a:r>
              <a:rPr lang="en-US" altLang="zh-CN" dirty="0"/>
              <a:t>:</a:t>
            </a:r>
            <a:r>
              <a:rPr lang="zh-CN" altLang="en-US" dirty="0"/>
              <a:t>在父容器尺寸确定的情况下，若子元素设置了</a:t>
            </a:r>
            <a:r>
              <a:rPr lang="en-US" altLang="zh-CN" dirty="0" err="1"/>
              <a:t>layoutWeight</a:t>
            </a:r>
            <a:r>
              <a:rPr lang="zh-CN" altLang="en-US" dirty="0"/>
              <a:t>属性，则该子元素与其他兄弟元素在主轴尺寸上按照其权重进行分配，而不考虑元素本身的尺寸设置。</a:t>
            </a:r>
          </a:p>
          <a:p>
            <a:r>
              <a:rPr lang="zh-CN" altLang="en-US" dirty="0"/>
              <a:t>这表示该子元素会自适应地占据剩余的空间。需要注意的是，该属性仅在 </a:t>
            </a:r>
            <a:r>
              <a:rPr lang="en-US" altLang="zh-CN" dirty="0"/>
              <a:t>Row/Column/Flex </a:t>
            </a:r>
            <a:r>
              <a:rPr lang="zh-CN" altLang="en-US" dirty="0"/>
              <a:t>布局中生效。</a:t>
            </a:r>
          </a:p>
          <a:p>
            <a:endParaRPr lang="zh-CN" altLang="en-US" dirty="0"/>
          </a:p>
          <a:p>
            <a:r>
              <a:rPr lang="en-US" altLang="zh-CN" dirty="0" err="1"/>
              <a:t>constraintSize</a:t>
            </a:r>
            <a:r>
              <a:rPr lang="zh-CN" altLang="en-US" dirty="0"/>
              <a:t>：设置约束尺寸，组件布局时，进行尺寸范围限制。</a:t>
            </a:r>
            <a:r>
              <a:rPr lang="en-US" altLang="zh-CN" dirty="0" err="1"/>
              <a:t>constraintSize</a:t>
            </a:r>
            <a:r>
              <a:rPr lang="en-US" altLang="zh-CN" dirty="0"/>
              <a:t> </a:t>
            </a:r>
            <a:r>
              <a:rPr lang="zh-CN" altLang="en-US" dirty="0"/>
              <a:t>的优先级高于 </a:t>
            </a:r>
            <a:r>
              <a:rPr lang="en-US" altLang="zh-CN" dirty="0"/>
              <a:t>Width </a:t>
            </a:r>
            <a:r>
              <a:rPr lang="zh-CN" altLang="en-US" dirty="0"/>
              <a:t>和 </a:t>
            </a:r>
            <a:r>
              <a:rPr lang="en-US" altLang="zh-CN" dirty="0"/>
              <a:t>Height</a:t>
            </a:r>
            <a:r>
              <a:rPr lang="zh-CN" altLang="en-US" dirty="0"/>
              <a:t>。若设置的 </a:t>
            </a:r>
            <a:r>
              <a:rPr lang="en-US" altLang="zh-CN" dirty="0" err="1"/>
              <a:t>minWidth</a:t>
            </a:r>
            <a:r>
              <a:rPr lang="en-US" altLang="zh-CN" dirty="0"/>
              <a:t> </a:t>
            </a:r>
            <a:r>
              <a:rPr lang="zh-CN" altLang="en-US" dirty="0"/>
              <a:t>大于 </a:t>
            </a:r>
            <a:r>
              <a:rPr lang="en-US" altLang="zh-CN" dirty="0" err="1"/>
              <a:t>maxWidth</a:t>
            </a:r>
            <a:r>
              <a:rPr lang="zh-CN" altLang="en-US" dirty="0"/>
              <a:t>，则 </a:t>
            </a:r>
            <a:r>
              <a:rPr lang="en-US" altLang="zh-CN" dirty="0" err="1"/>
              <a:t>minWidth</a:t>
            </a:r>
            <a:r>
              <a:rPr lang="en-US" altLang="zh-CN" dirty="0"/>
              <a:t> </a:t>
            </a:r>
            <a:r>
              <a:rPr lang="zh-CN" altLang="en-US" dirty="0"/>
              <a:t>生效，</a:t>
            </a:r>
            <a:r>
              <a:rPr lang="en-US" altLang="zh-CN" dirty="0" err="1"/>
              <a:t>minHeight</a:t>
            </a:r>
            <a:r>
              <a:rPr lang="zh-CN" altLang="en-US" dirty="0"/>
              <a:t>与 </a:t>
            </a:r>
            <a:r>
              <a:rPr lang="en-US" altLang="zh-CN" dirty="0" err="1"/>
              <a:t>maxHeight</a:t>
            </a:r>
            <a:r>
              <a:rPr lang="en-US" altLang="zh-CN" dirty="0"/>
              <a:t> </a:t>
            </a:r>
            <a:r>
              <a:rPr lang="zh-CN" altLang="en-US" dirty="0"/>
              <a:t>同理。</a:t>
            </a:r>
          </a:p>
          <a:p>
            <a:endParaRPr lang="zh-CN" altLang="en-US" dirty="0"/>
          </a:p>
          <a:p>
            <a:r>
              <a:rPr lang="en-US" altLang="zh-CN" dirty="0"/>
              <a:t>align</a:t>
            </a:r>
            <a:r>
              <a:rPr lang="zh-CN" altLang="en-US" dirty="0"/>
              <a:t>：设置元素内容的对齐方式，只有当设置的 </a:t>
            </a:r>
            <a:r>
              <a:rPr lang="en-US" altLang="zh-CN" dirty="0"/>
              <a:t>width </a:t>
            </a:r>
            <a:r>
              <a:rPr lang="zh-CN" altLang="en-US" dirty="0"/>
              <a:t>和 </a:t>
            </a:r>
            <a:r>
              <a:rPr lang="en-US" altLang="zh-CN" dirty="0"/>
              <a:t>height </a:t>
            </a:r>
            <a:r>
              <a:rPr lang="zh-CN" altLang="en-US" dirty="0"/>
              <a:t>大小超过元素本身内容大小时生效。</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2" name="Rectangle 1"/>
          <p:cNvSpPr>
            <a:spLocks noChangeArrowheads="1"/>
          </p:cNvSpPr>
          <p:nvPr/>
        </p:nvSpPr>
        <p:spPr bwMode="auto">
          <a:xfrm>
            <a:off x="910630" y="1125538"/>
            <a:ext cx="2998863" cy="532453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a:ln>
                  <a:noFill/>
                </a:ln>
                <a:solidFill>
                  <a:srgbClr val="65CCE1"/>
                </a:solidFill>
                <a:effectLst/>
                <a:latin typeface="Arial Unicode MS" panose="020B0604020202020204" charset="-122"/>
                <a:ea typeface="JetBrains Mono"/>
              </a:rPr>
              <a:t>Row</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space</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顶部左对齐</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40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align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TopStart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顶部居中</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40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align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Top</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顶部右对齐</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40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align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TopEnd</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3"/>
          <a:stretch>
            <a:fillRect/>
          </a:stretch>
        </p:blipFill>
        <p:spPr>
          <a:xfrm>
            <a:off x="4939365" y="1701602"/>
            <a:ext cx="6829514" cy="326811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6" name="文本框 5"/>
          <p:cNvSpPr txBox="1"/>
          <p:nvPr/>
        </p:nvSpPr>
        <p:spPr>
          <a:xfrm>
            <a:off x="1222884" y="1125538"/>
            <a:ext cx="9169508" cy="4154984"/>
          </a:xfrm>
          <a:prstGeom prst="rect">
            <a:avLst/>
          </a:prstGeom>
          <a:noFill/>
        </p:spPr>
        <p:txBody>
          <a:bodyPr wrap="square">
            <a:spAutoFit/>
          </a:bodyPr>
          <a:lstStyle/>
          <a:p>
            <a:r>
              <a:rPr lang="en-US" altLang="zh-CN" dirty="0"/>
              <a:t>2 </a:t>
            </a:r>
            <a:r>
              <a:rPr lang="zh-CN" altLang="en-US" dirty="0"/>
              <a:t>其他属性</a:t>
            </a:r>
          </a:p>
          <a:p>
            <a:pPr lvl="1"/>
            <a:r>
              <a:rPr lang="en-US" altLang="zh-CN" dirty="0" err="1"/>
              <a:t>OpenHarmony</a:t>
            </a:r>
            <a:r>
              <a:rPr lang="zh-CN" altLang="en-US" dirty="0"/>
              <a:t>还提供其他通用属性，简介如下。</a:t>
            </a:r>
          </a:p>
          <a:p>
            <a:pPr lvl="1"/>
            <a:r>
              <a:rPr lang="en-US" altLang="zh-CN" dirty="0" err="1"/>
              <a:t>markAnchor</a:t>
            </a:r>
            <a:r>
              <a:rPr lang="en-US" altLang="zh-CN" dirty="0"/>
              <a:t>:</a:t>
            </a:r>
            <a:r>
              <a:rPr lang="zh-CN" altLang="en-US" dirty="0"/>
              <a:t>设置元素在位置定位时的锚点，以元素左上角作为基准点进行偏移。通常配合</a:t>
            </a:r>
            <a:r>
              <a:rPr lang="en-US" altLang="zh-CN" dirty="0"/>
              <a:t>position</a:t>
            </a:r>
            <a:r>
              <a:rPr lang="zh-CN" altLang="en-US" dirty="0"/>
              <a:t>和</a:t>
            </a:r>
            <a:r>
              <a:rPr lang="en-US" altLang="zh-CN" dirty="0"/>
              <a:t>offset</a:t>
            </a:r>
            <a:r>
              <a:rPr lang="zh-CN" altLang="en-US" dirty="0"/>
              <a:t>属性使用，单独使用时，效果类似</a:t>
            </a:r>
            <a:r>
              <a:rPr lang="en-US" altLang="zh-CN" dirty="0"/>
              <a:t>offset</a:t>
            </a:r>
            <a:r>
              <a:rPr lang="zh-CN" altLang="en-US" dirty="0"/>
              <a:t>。</a:t>
            </a:r>
          </a:p>
          <a:p>
            <a:pPr lvl="1"/>
            <a:r>
              <a:rPr lang="en-US" altLang="zh-CN" dirty="0"/>
              <a:t>Border:</a:t>
            </a:r>
            <a:r>
              <a:rPr lang="zh-CN" altLang="en-US" dirty="0"/>
              <a:t>统一边框样式设置接口。</a:t>
            </a:r>
          </a:p>
          <a:p>
            <a:pPr lvl="1"/>
            <a:r>
              <a:rPr lang="en-US" altLang="zh-CN" dirty="0" err="1"/>
              <a:t>backgroundlmage</a:t>
            </a:r>
            <a:r>
              <a:rPr lang="en-US" altLang="zh-CN" dirty="0"/>
              <a:t>:</a:t>
            </a:r>
            <a:r>
              <a:rPr lang="zh-CN" altLang="en-US" dirty="0"/>
              <a:t>设置背景图片。</a:t>
            </a:r>
          </a:p>
          <a:p>
            <a:pPr lvl="1"/>
            <a:r>
              <a:rPr lang="en-US" altLang="zh-CN" dirty="0" err="1"/>
              <a:t>backgroundImageSize</a:t>
            </a:r>
            <a:r>
              <a:rPr lang="en-US" altLang="zh-CN" dirty="0"/>
              <a:t>:</a:t>
            </a:r>
            <a:r>
              <a:rPr lang="zh-CN" altLang="en-US" dirty="0"/>
              <a:t>设置背景图像的高度和宽度。当输入为</a:t>
            </a:r>
            <a:r>
              <a:rPr lang="en-US" altLang="zh-CN" dirty="0"/>
              <a:t>(</a:t>
            </a:r>
            <a:r>
              <a:rPr lang="en-US" altLang="zh-CN" dirty="0" err="1"/>
              <a:t>width:Length,height:Length</a:t>
            </a:r>
            <a:r>
              <a:rPr lang="en-US" altLang="zh-CN" dirty="0"/>
              <a:t>}</a:t>
            </a:r>
            <a:r>
              <a:rPr lang="zh-CN" altLang="en-US" dirty="0"/>
              <a:t>对象时，如果只设置一个属性，则第二个属性保持图片原始宽高比进行调整。默认保持原图的比例不变，默认值为</a:t>
            </a:r>
            <a:r>
              <a:rPr lang="en-US" altLang="zh-CN" dirty="0" err="1"/>
              <a:t>ImageSize.Auto</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4" name="文本框 3"/>
          <p:cNvSpPr txBox="1"/>
          <p:nvPr/>
        </p:nvSpPr>
        <p:spPr>
          <a:xfrm>
            <a:off x="165077" y="1125409"/>
            <a:ext cx="12025336" cy="6554470"/>
          </a:xfrm>
          <a:prstGeom prst="rect">
            <a:avLst/>
          </a:prstGeom>
          <a:noFill/>
        </p:spPr>
        <p:txBody>
          <a:bodyPr wrap="square">
            <a:spAutoFit/>
          </a:bodyPr>
          <a:lstStyle/>
          <a:p>
            <a:r>
              <a:rPr lang="en-US" altLang="zh-CN" sz="2800" dirty="0" err="1"/>
              <a:t>backgroundlmagePosition</a:t>
            </a:r>
            <a:r>
              <a:rPr lang="en-US" altLang="zh-CN" sz="2800" dirty="0"/>
              <a:t>:</a:t>
            </a:r>
            <a:r>
              <a:rPr lang="zh-CN" altLang="en-US" sz="2800" dirty="0"/>
              <a:t>设置背景图在组件中显示位置，即相对于组件左上角的坐标。</a:t>
            </a:r>
          </a:p>
          <a:p>
            <a:endParaRPr lang="zh-CN" altLang="en-US" sz="2800" dirty="0"/>
          </a:p>
          <a:p>
            <a:r>
              <a:rPr lang="en-US" altLang="zh-CN" sz="2800" dirty="0" err="1"/>
              <a:t>backgroundBlurStyle</a:t>
            </a:r>
            <a:r>
              <a:rPr lang="en-US" altLang="zh-CN" sz="2800" dirty="0"/>
              <a:t>:</a:t>
            </a:r>
            <a:r>
              <a:rPr lang="zh-CN" altLang="en-US" sz="2800" dirty="0"/>
              <a:t>为当前组件提供一种在背景和内容之间的模糊能力，入参为模糊材质。</a:t>
            </a:r>
          </a:p>
          <a:p>
            <a:endParaRPr lang="zh-CN" altLang="en-US" sz="2800" dirty="0"/>
          </a:p>
          <a:p>
            <a:r>
              <a:rPr lang="en-US" altLang="zh-CN" sz="2800" dirty="0" err="1"/>
              <a:t>borderStyle</a:t>
            </a:r>
            <a:r>
              <a:rPr lang="en-US" altLang="zh-CN" sz="2800" dirty="0"/>
              <a:t>:</a:t>
            </a:r>
            <a:r>
              <a:rPr lang="zh-CN" altLang="en-US" sz="2800" dirty="0"/>
              <a:t>设置元素的边框样式。</a:t>
            </a:r>
          </a:p>
          <a:p>
            <a:endParaRPr lang="zh-CN" altLang="en-US" sz="2800" dirty="0"/>
          </a:p>
          <a:p>
            <a:r>
              <a:rPr lang="en-US" altLang="zh-CN" sz="2800" dirty="0" err="1"/>
              <a:t>borderWidth</a:t>
            </a:r>
            <a:r>
              <a:rPr lang="en-US" altLang="zh-CN" sz="2800" dirty="0"/>
              <a:t>:</a:t>
            </a:r>
            <a:r>
              <a:rPr lang="zh-CN" altLang="en-US" sz="2800" dirty="0"/>
              <a:t>设置元素的边框宽度，不支持百分比。</a:t>
            </a:r>
          </a:p>
          <a:p>
            <a:endParaRPr lang="zh-CN" altLang="en-US" sz="2800" dirty="0"/>
          </a:p>
          <a:p>
            <a:r>
              <a:rPr lang="en-US" altLang="zh-CN" sz="2800" dirty="0" err="1"/>
              <a:t>borderColor</a:t>
            </a:r>
            <a:r>
              <a:rPr lang="en-US" altLang="zh-CN" sz="2800" dirty="0"/>
              <a:t>:</a:t>
            </a:r>
            <a:r>
              <a:rPr lang="zh-CN" altLang="en-US" sz="2800" dirty="0"/>
              <a:t>设置元素的边框颜色，默认值为</a:t>
            </a:r>
            <a:r>
              <a:rPr lang="en-US" altLang="zh-CN" sz="2800" dirty="0"/>
              <a:t>Color Black</a:t>
            </a:r>
            <a:r>
              <a:rPr lang="zh-CN" altLang="en-US" sz="2800" dirty="0"/>
              <a:t>。</a:t>
            </a:r>
          </a:p>
          <a:p>
            <a:endParaRPr lang="zh-CN" altLang="en-US" sz="2800" dirty="0"/>
          </a:p>
          <a:p>
            <a:r>
              <a:rPr lang="en-US" altLang="zh-CN" sz="2800" dirty="0">
                <a:sym typeface="+mn-ea"/>
              </a:rPr>
              <a:t>colors:</a:t>
            </a:r>
            <a:r>
              <a:rPr lang="zh-CN" altLang="en-US" sz="2800" dirty="0">
                <a:sym typeface="+mn-ea"/>
              </a:rPr>
              <a:t>为渐变的颜色描述。</a:t>
            </a:r>
            <a:endParaRPr lang="zh-CN" altLang="en-US" sz="2800" dirty="0"/>
          </a:p>
          <a:p>
            <a:endParaRPr lang="zh-CN" altLang="en-US" sz="2800" dirty="0"/>
          </a:p>
          <a:p>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4" name="文本框 3"/>
          <p:cNvSpPr txBox="1"/>
          <p:nvPr/>
        </p:nvSpPr>
        <p:spPr>
          <a:xfrm>
            <a:off x="165077" y="1269554"/>
            <a:ext cx="12025336" cy="5692775"/>
          </a:xfrm>
          <a:prstGeom prst="rect">
            <a:avLst/>
          </a:prstGeom>
          <a:noFill/>
        </p:spPr>
        <p:txBody>
          <a:bodyPr wrap="square">
            <a:spAutoFit/>
          </a:bodyPr>
          <a:lstStyle/>
          <a:p>
            <a:r>
              <a:rPr lang="en-US" altLang="zh-CN" sz="2800" dirty="0" err="1"/>
              <a:t>borderRadius</a:t>
            </a:r>
            <a:r>
              <a:rPr lang="en-US" altLang="zh-CN" sz="2800" dirty="0"/>
              <a:t>:</a:t>
            </a:r>
            <a:r>
              <a:rPr lang="zh-CN" altLang="en-US" sz="2800" dirty="0"/>
              <a:t>设置元素的边框圆角半径，不支持百分比。</a:t>
            </a:r>
          </a:p>
          <a:p>
            <a:endParaRPr lang="zh-CN" altLang="en-US" sz="2800" dirty="0"/>
          </a:p>
          <a:p>
            <a:r>
              <a:rPr lang="en-US" altLang="zh-CN" sz="2800" dirty="0" err="1"/>
              <a:t>borderlmage</a:t>
            </a:r>
            <a:r>
              <a:rPr lang="en-US" altLang="zh-CN" sz="2800" dirty="0"/>
              <a:t>:</a:t>
            </a:r>
            <a:r>
              <a:rPr lang="zh-CN" altLang="en-US" sz="2800" dirty="0"/>
              <a:t>设置图像边框。</a:t>
            </a:r>
          </a:p>
          <a:p>
            <a:endParaRPr lang="zh-CN" altLang="en-US" sz="2800" dirty="0"/>
          </a:p>
          <a:p>
            <a:r>
              <a:rPr lang="en-US" altLang="zh-CN" sz="2800" dirty="0" err="1"/>
              <a:t>vsibility</a:t>
            </a:r>
            <a:r>
              <a:rPr lang="en-US" altLang="zh-CN" sz="2800" dirty="0"/>
              <a:t>:</a:t>
            </a:r>
            <a:r>
              <a:rPr lang="zh-CN" altLang="en-US" sz="2800" dirty="0"/>
              <a:t>设置组件的显示和隐藏，默认值为</a:t>
            </a:r>
            <a:r>
              <a:rPr lang="en-US" altLang="zh-CN" sz="2800" dirty="0" err="1"/>
              <a:t>Visbiliy.Visible</a:t>
            </a:r>
            <a:r>
              <a:rPr lang="zh-CN" altLang="en-US" sz="2800" dirty="0"/>
              <a:t>。</a:t>
            </a:r>
          </a:p>
          <a:p>
            <a:endParaRPr lang="zh-CN" altLang="en-US" sz="2800" dirty="0"/>
          </a:p>
          <a:p>
            <a:r>
              <a:rPr lang="en-US" altLang="zh-CN" sz="2800" dirty="0" err="1"/>
              <a:t>linearGradient</a:t>
            </a:r>
            <a:r>
              <a:rPr lang="en-US" altLang="zh-CN" sz="2800" dirty="0"/>
              <a:t>:</a:t>
            </a:r>
            <a:r>
              <a:rPr lang="zh-CN" altLang="en-US" sz="2800" dirty="0"/>
              <a:t>设置组件的渐变样式，参数说明如下：</a:t>
            </a:r>
          </a:p>
          <a:p>
            <a:endParaRPr lang="zh-CN" altLang="en-US" sz="2800" dirty="0"/>
          </a:p>
          <a:p>
            <a:r>
              <a:rPr lang="en-US" altLang="zh-CN" sz="2800" dirty="0"/>
              <a:t>angle:</a:t>
            </a:r>
            <a:r>
              <a:rPr lang="zh-CN" altLang="en-US" sz="2800" dirty="0"/>
              <a:t>线性渐变的起始角度。</a:t>
            </a:r>
            <a:r>
              <a:rPr lang="en-US" altLang="zh-CN" sz="2800" dirty="0"/>
              <a:t>0</a:t>
            </a:r>
            <a:r>
              <a:rPr lang="zh-CN" altLang="en-US" sz="2800" dirty="0"/>
              <a:t>点方向顺时针旋转为正向角度。默认值为</a:t>
            </a:r>
            <a:r>
              <a:rPr lang="en-US" altLang="zh-CN" sz="2800" dirty="0"/>
              <a:t>180</a:t>
            </a:r>
            <a:r>
              <a:rPr lang="zh-CN" altLang="en-US" sz="2800" dirty="0"/>
              <a:t>。</a:t>
            </a:r>
          </a:p>
          <a:p>
            <a:endParaRPr lang="zh-CN" altLang="en-US" sz="2800" dirty="0"/>
          </a:p>
          <a:p>
            <a:r>
              <a:rPr lang="en-US" altLang="zh-CN" sz="2800" dirty="0"/>
              <a:t>direction:</a:t>
            </a:r>
            <a:r>
              <a:rPr lang="zh-CN" altLang="en-US" sz="2800" dirty="0"/>
              <a:t>线性渐变的方向，设置</a:t>
            </a:r>
            <a:r>
              <a:rPr lang="en-US" altLang="zh-CN" sz="2800" dirty="0"/>
              <a:t>angle</a:t>
            </a:r>
            <a:r>
              <a:rPr lang="zh-CN" altLang="en-US" sz="2800" dirty="0"/>
              <a:t>后不生效。默认值为</a:t>
            </a:r>
            <a:r>
              <a:rPr lang="en-US" altLang="zh-CN" sz="2800" dirty="0" err="1"/>
              <a:t>GradientDirection.Bottom</a:t>
            </a:r>
            <a:r>
              <a:rPr lang="zh-CN" altLang="en-US" sz="2800" dirty="0"/>
              <a:t>。</a:t>
            </a:r>
          </a:p>
          <a:p>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4" name="文本框 3"/>
          <p:cNvSpPr txBox="1"/>
          <p:nvPr/>
        </p:nvSpPr>
        <p:spPr>
          <a:xfrm>
            <a:off x="118098" y="858833"/>
            <a:ext cx="12025336" cy="6000750"/>
          </a:xfrm>
          <a:prstGeom prst="rect">
            <a:avLst/>
          </a:prstGeom>
          <a:noFill/>
        </p:spPr>
        <p:txBody>
          <a:bodyPr wrap="square">
            <a:spAutoFit/>
          </a:bodyPr>
          <a:lstStyle/>
          <a:p>
            <a:r>
              <a:rPr lang="en-US" altLang="zh-CN" dirty="0"/>
              <a:t>repeating:</a:t>
            </a:r>
            <a:r>
              <a:rPr lang="zh-CN" altLang="en-US" dirty="0"/>
              <a:t>为渐变的颜色重复着色，默认值为</a:t>
            </a:r>
            <a:r>
              <a:rPr lang="en-US" altLang="zh-CN" dirty="0"/>
              <a:t>6ilse</a:t>
            </a:r>
            <a:r>
              <a:rPr lang="zh-CN" altLang="en-US" dirty="0"/>
              <a:t>。</a:t>
            </a:r>
          </a:p>
          <a:p>
            <a:endParaRPr lang="zh-CN" altLang="en-US" dirty="0"/>
          </a:p>
          <a:p>
            <a:r>
              <a:rPr lang="en-US" altLang="zh-CN" dirty="0"/>
              <a:t>grayscale:</a:t>
            </a:r>
            <a:r>
              <a:rPr lang="zh-CN" altLang="en-US" dirty="0"/>
              <a:t>该函数为当前组件添加灰度效果。其参数值定义了灰度转换的比例，当参数值为</a:t>
            </a:r>
            <a:r>
              <a:rPr lang="en-US" altLang="zh-CN" dirty="0"/>
              <a:t>1.0</a:t>
            </a:r>
            <a:r>
              <a:rPr lang="zh-CN" altLang="en-US" dirty="0"/>
              <a:t>时，图像将完全转换为灰度图像；当参数值为</a:t>
            </a:r>
            <a:r>
              <a:rPr lang="en-US" altLang="zh-CN" dirty="0"/>
              <a:t>0.0</a:t>
            </a:r>
            <a:r>
              <a:rPr lang="zh-CN" altLang="en-US" dirty="0"/>
              <a:t>时，图像不会发生任何变化；当参数值在</a:t>
            </a:r>
            <a:r>
              <a:rPr lang="en-US" altLang="zh-CN" dirty="0"/>
              <a:t>0.0</a:t>
            </a:r>
            <a:r>
              <a:rPr lang="zh-CN" altLang="en-US" dirty="0"/>
              <a:t>和</a:t>
            </a:r>
            <a:r>
              <a:rPr lang="en-US" altLang="zh-CN" dirty="0"/>
              <a:t>1.0</a:t>
            </a:r>
            <a:r>
              <a:rPr lang="zh-CN" altLang="en-US" dirty="0"/>
              <a:t>之间时，效果呈线性变化。该参数值的单位为百分比。</a:t>
            </a:r>
          </a:p>
          <a:p>
            <a:endParaRPr lang="zh-CN" altLang="en-US" dirty="0"/>
          </a:p>
          <a:p>
            <a:r>
              <a:rPr lang="en-US" altLang="zh-CN" dirty="0"/>
              <a:t>enabled:</a:t>
            </a:r>
            <a:r>
              <a:rPr lang="zh-CN" altLang="en-US" dirty="0"/>
              <a:t>值为</a:t>
            </a:r>
            <a:r>
              <a:rPr lang="en-US" altLang="zh-CN" dirty="0"/>
              <a:t>true</a:t>
            </a:r>
            <a:r>
              <a:rPr lang="zh-CN" altLang="en-US" dirty="0"/>
              <a:t>表示组件可交互，响应点击等操作。值为</a:t>
            </a:r>
            <a:r>
              <a:rPr lang="en-US" altLang="zh-CN" dirty="0"/>
              <a:t>fake</a:t>
            </a:r>
            <a:r>
              <a:rPr lang="zh-CN" altLang="en-US" dirty="0"/>
              <a:t>表示组件不可交互，不响应点击等操作，默认值为</a:t>
            </a:r>
            <a:r>
              <a:rPr lang="en-US" altLang="zh-CN" dirty="0"/>
              <a:t>true</a:t>
            </a:r>
            <a:r>
              <a:rPr lang="zh-CN" altLang="en-US" dirty="0"/>
              <a:t>。</a:t>
            </a:r>
          </a:p>
          <a:p>
            <a:endParaRPr lang="zh-CN" altLang="en-US" dirty="0"/>
          </a:p>
          <a:p>
            <a:r>
              <a:rPr lang="en-US" altLang="zh-CN" dirty="0"/>
              <a:t>touchable:</a:t>
            </a:r>
            <a:r>
              <a:rPr lang="zh-CN" altLang="en-US" dirty="0"/>
              <a:t>设置当前组件是否可以响应点击事件、触摸事件等手指交互事件。</a:t>
            </a:r>
            <a:r>
              <a:rPr lang="en-US" altLang="zh-CN" dirty="0"/>
              <a:t>true</a:t>
            </a:r>
            <a:r>
              <a:rPr lang="zh-CN" altLang="en-US" dirty="0"/>
              <a:t>表示可以触摸，</a:t>
            </a:r>
            <a:r>
              <a:rPr lang="en-US" altLang="zh-CN" dirty="0" err="1"/>
              <a:t>falbe</a:t>
            </a:r>
            <a:r>
              <a:rPr lang="zh-CN" altLang="en-US" dirty="0"/>
              <a:t>不可以触摸，默认值为</a:t>
            </a:r>
            <a:r>
              <a:rPr lang="en-US" altLang="zh-CN" dirty="0"/>
              <a:t>true</a:t>
            </a:r>
            <a:r>
              <a:rPr lang="zh-CN" altLang="en-US" dirty="0"/>
              <a:t>。</a:t>
            </a:r>
          </a:p>
          <a:p>
            <a:endParaRPr lang="zh-CN" altLang="en-US" dirty="0"/>
          </a:p>
          <a:p>
            <a:r>
              <a:rPr lang="en-US" altLang="zh-CN" dirty="0"/>
              <a:t>opacity:</a:t>
            </a:r>
            <a:r>
              <a:rPr lang="zh-CN" altLang="en-US" dirty="0"/>
              <a:t>是指元素的不透明度，取值范围在</a:t>
            </a:r>
            <a:r>
              <a:rPr lang="en-US" altLang="zh-CN" dirty="0"/>
              <a:t>0</a:t>
            </a:r>
            <a:r>
              <a:rPr lang="zh-CN" altLang="en-US" dirty="0"/>
              <a:t>到</a:t>
            </a:r>
            <a:r>
              <a:rPr lang="en-US" altLang="zh-CN" dirty="0"/>
              <a:t>1</a:t>
            </a:r>
            <a:r>
              <a:rPr lang="zh-CN" altLang="en-US" dirty="0"/>
              <a:t>之间。当取值为</a:t>
            </a:r>
            <a:r>
              <a:rPr lang="en-US" altLang="zh-CN" dirty="0"/>
              <a:t>1</a:t>
            </a:r>
            <a:r>
              <a:rPr lang="zh-CN" altLang="en-US" dirty="0"/>
              <a:t>时，元素完全不透明；当取值为</a:t>
            </a:r>
            <a:r>
              <a:rPr lang="en-US" altLang="zh-CN" dirty="0"/>
              <a:t>0</a:t>
            </a:r>
            <a:r>
              <a:rPr lang="zh-CN" altLang="en-US" dirty="0"/>
              <a:t>时，元素完全透明。通过设置元素的</a:t>
            </a:r>
            <a:r>
              <a:rPr lang="en-US" altLang="zh-CN" dirty="0"/>
              <a:t>opacity</a:t>
            </a:r>
            <a:r>
              <a:rPr lang="zh-CN" altLang="en-US" dirty="0"/>
              <a:t>属性，可以实现隐藏组件的效果，但是该组件在布局中仍然占据着相应的空间。需注意的是，组件具备继承其父组件该属性的能力，默认值为</a:t>
            </a:r>
            <a:r>
              <a:rPr lang="en-US" altLang="zh-CN" dirty="0"/>
              <a:t>1</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4" name="文本框 3"/>
          <p:cNvSpPr txBox="1"/>
          <p:nvPr/>
        </p:nvSpPr>
        <p:spPr>
          <a:xfrm>
            <a:off x="1054100" y="1125220"/>
            <a:ext cx="10231120" cy="5262245"/>
          </a:xfrm>
          <a:prstGeom prst="rect">
            <a:avLst/>
          </a:prstGeom>
          <a:noFill/>
        </p:spPr>
        <p:txBody>
          <a:bodyPr wrap="square">
            <a:spAutoFit/>
          </a:bodyPr>
          <a:lstStyle/>
          <a:p>
            <a:r>
              <a:rPr lang="en-US" altLang="zh-CN" dirty="0"/>
              <a:t>opacity:</a:t>
            </a:r>
            <a:r>
              <a:rPr lang="zh-CN" altLang="en-US" dirty="0"/>
              <a:t>是指元素的不透明度，取值范围在</a:t>
            </a:r>
            <a:r>
              <a:rPr lang="en-US" altLang="zh-CN" dirty="0"/>
              <a:t>0</a:t>
            </a:r>
            <a:r>
              <a:rPr lang="zh-CN" altLang="en-US" dirty="0"/>
              <a:t>到</a:t>
            </a:r>
            <a:r>
              <a:rPr lang="en-US" altLang="zh-CN" dirty="0"/>
              <a:t>1</a:t>
            </a:r>
            <a:r>
              <a:rPr lang="zh-CN" altLang="en-US" dirty="0"/>
              <a:t>之间。当取值为</a:t>
            </a:r>
            <a:r>
              <a:rPr lang="en-US" altLang="zh-CN" dirty="0"/>
              <a:t>1</a:t>
            </a:r>
            <a:r>
              <a:rPr lang="zh-CN" altLang="en-US" dirty="0"/>
              <a:t>时，元素完全不透明；当取值为</a:t>
            </a:r>
            <a:r>
              <a:rPr lang="en-US" altLang="zh-CN" dirty="0"/>
              <a:t>0</a:t>
            </a:r>
            <a:r>
              <a:rPr lang="zh-CN" altLang="en-US" dirty="0"/>
              <a:t>时，元素完全透明。通过设置元素的</a:t>
            </a:r>
            <a:r>
              <a:rPr lang="en-US" altLang="zh-CN" dirty="0"/>
              <a:t>opacity</a:t>
            </a:r>
            <a:r>
              <a:rPr lang="zh-CN" altLang="en-US" dirty="0"/>
              <a:t>属性，可以实现隐藏组件的效果，但是该组件在布局中仍然占据着相应的空间。需注意的是，组件具备继承其父组件该属性的能力，默认值为</a:t>
            </a:r>
            <a:r>
              <a:rPr lang="en-US" altLang="zh-CN" dirty="0"/>
              <a:t>1</a:t>
            </a:r>
            <a:r>
              <a:rPr lang="zh-CN" altLang="en-US" dirty="0"/>
              <a:t>。</a:t>
            </a:r>
          </a:p>
          <a:p>
            <a:r>
              <a:rPr lang="en-US" altLang="zh-CN" dirty="0"/>
              <a:t>focusable:</a:t>
            </a:r>
            <a:r>
              <a:rPr lang="zh-CN" altLang="en-US" dirty="0"/>
              <a:t>设置当前组件是否可以获焦，支持焦点控制的组件有</a:t>
            </a:r>
            <a:r>
              <a:rPr lang="en-US" altLang="zh-CN" dirty="0"/>
              <a:t>Button</a:t>
            </a:r>
            <a:r>
              <a:rPr lang="zh-CN" altLang="en-US" dirty="0"/>
              <a:t>、</a:t>
            </a:r>
            <a:r>
              <a:rPr lang="en-US" altLang="zh-CN" dirty="0"/>
              <a:t>Text</a:t>
            </a:r>
            <a:r>
              <a:rPr lang="zh-CN" altLang="en-US" dirty="0"/>
              <a:t>、</a:t>
            </a:r>
            <a:r>
              <a:rPr lang="en-US" altLang="zh-CN" dirty="0"/>
              <a:t>Image</a:t>
            </a:r>
            <a:r>
              <a:rPr lang="zh-CN" altLang="en-US" dirty="0"/>
              <a:t>、</a:t>
            </a:r>
            <a:r>
              <a:rPr lang="en-US" altLang="zh-CN" dirty="0"/>
              <a:t>List</a:t>
            </a:r>
            <a:r>
              <a:rPr lang="zh-CN" altLang="en-US" dirty="0"/>
              <a:t>、</a:t>
            </a:r>
            <a:r>
              <a:rPr lang="en-US" altLang="zh-CN" dirty="0"/>
              <a:t>Grid</a:t>
            </a:r>
            <a:r>
              <a:rPr lang="zh-CN" altLang="en-US" dirty="0"/>
              <a:t>。</a:t>
            </a:r>
          </a:p>
          <a:p>
            <a:r>
              <a:rPr lang="en-US" altLang="zh-CN" dirty="0" err="1"/>
              <a:t>rotute</a:t>
            </a:r>
            <a:r>
              <a:rPr lang="en-US" altLang="zh-CN" dirty="0"/>
              <a:t>:</a:t>
            </a:r>
            <a:r>
              <a:rPr lang="zh-CN" altLang="en-US" dirty="0"/>
              <a:t>旋转。</a:t>
            </a:r>
          </a:p>
          <a:p>
            <a:r>
              <a:rPr lang="en-US" altLang="zh-CN" dirty="0"/>
              <a:t>translate:</a:t>
            </a:r>
            <a:r>
              <a:rPr lang="zh-CN" altLang="en-US" dirty="0"/>
              <a:t>平移。</a:t>
            </a:r>
          </a:p>
          <a:p>
            <a:r>
              <a:rPr lang="en-US" altLang="zh-CN" dirty="0"/>
              <a:t>scale:</a:t>
            </a:r>
            <a:r>
              <a:rPr lang="zh-CN" altLang="en-US" dirty="0"/>
              <a:t>缩放。</a:t>
            </a:r>
          </a:p>
          <a:p>
            <a:r>
              <a:rPr lang="en-US" altLang="zh-CN" dirty="0"/>
              <a:t>direction:</a:t>
            </a:r>
            <a:r>
              <a:rPr lang="zh-CN" altLang="en-US" dirty="0"/>
              <a:t>设置元素水平方向的布局，默认值为</a:t>
            </a:r>
            <a:r>
              <a:rPr lang="en-US" altLang="zh-CN" dirty="0" err="1"/>
              <a:t>Direction.Auto</a:t>
            </a:r>
            <a:r>
              <a:rPr lang="zh-CN" altLang="en-US" dirty="0"/>
              <a:t>。</a:t>
            </a:r>
          </a:p>
          <a:p>
            <a:r>
              <a:rPr lang="en-US" altLang="zh-CN" dirty="0"/>
              <a:t>position:</a:t>
            </a:r>
            <a:r>
              <a:rPr lang="zh-CN" altLang="en-US" dirty="0"/>
              <a:t>绝对定位，设置元素左上角相对于父容器左上角偏移位置。在布局容器中，设置该属性不影响父容器布局，仅在绘制时进行位置调整。</a:t>
            </a:r>
          </a:p>
          <a:p>
            <a:r>
              <a:rPr lang="en-US" altLang="zh-CN" dirty="0"/>
              <a:t>offset:</a:t>
            </a:r>
            <a:r>
              <a:rPr lang="zh-CN" altLang="en-US" dirty="0"/>
              <a:t>相对定位，设置元素相对于自身的偏移量。设置该属性，不影响父容器布局，仅在绘制时进行位置调整。</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5" name="文本框 4"/>
          <p:cNvSpPr txBox="1"/>
          <p:nvPr/>
        </p:nvSpPr>
        <p:spPr>
          <a:xfrm>
            <a:off x="910382" y="1845370"/>
            <a:ext cx="10657184" cy="3172663"/>
          </a:xfrm>
          <a:prstGeom prst="rect">
            <a:avLst/>
          </a:prstGeom>
          <a:noFill/>
        </p:spPr>
        <p:txBody>
          <a:bodyPr wrap="square">
            <a:spAutoFit/>
          </a:bodyPr>
          <a:lstStyle/>
          <a:p>
            <a:r>
              <a:rPr lang="en-US" altLang="zh-CN" dirty="0"/>
              <a:t>1 </a:t>
            </a:r>
            <a:r>
              <a:rPr lang="zh-CN" altLang="en-US" dirty="0"/>
              <a:t>点击事件</a:t>
            </a:r>
          </a:p>
          <a:p>
            <a:pPr lvl="1">
              <a:lnSpc>
                <a:spcPct val="150000"/>
              </a:lnSpc>
            </a:pPr>
            <a:r>
              <a:rPr lang="en-US" altLang="zh-CN" dirty="0" err="1"/>
              <a:t>onClick</a:t>
            </a:r>
            <a:r>
              <a:rPr lang="en-US" altLang="zh-CN" dirty="0"/>
              <a:t>:</a:t>
            </a:r>
            <a:r>
              <a:rPr lang="zh-CN" altLang="en-US" dirty="0"/>
              <a:t>点击动作触发该回调，</a:t>
            </a:r>
            <a:r>
              <a:rPr lang="en-US" altLang="zh-CN" dirty="0" err="1"/>
              <a:t>ClickEvent</a:t>
            </a:r>
            <a:r>
              <a:rPr lang="zh-CN" altLang="en-US" dirty="0"/>
              <a:t>对象说明如下。</a:t>
            </a:r>
          </a:p>
          <a:p>
            <a:pPr lvl="1">
              <a:lnSpc>
                <a:spcPct val="150000"/>
              </a:lnSpc>
            </a:pPr>
            <a:r>
              <a:rPr lang="en-US" altLang="zh-CN" dirty="0" err="1"/>
              <a:t>screenX</a:t>
            </a:r>
            <a:r>
              <a:rPr lang="en-US" altLang="zh-CN" dirty="0"/>
              <a:t>:</a:t>
            </a:r>
            <a:r>
              <a:rPr lang="zh-CN" altLang="en-US" dirty="0"/>
              <a:t>点击位置相对于应用窗口左上角的</a:t>
            </a:r>
            <a:r>
              <a:rPr lang="en-US" altLang="zh-CN" dirty="0"/>
              <a:t>x</a:t>
            </a:r>
            <a:r>
              <a:rPr lang="zh-CN" altLang="en-US" dirty="0"/>
              <a:t>坐标。</a:t>
            </a:r>
          </a:p>
          <a:p>
            <a:pPr lvl="1">
              <a:lnSpc>
                <a:spcPct val="150000"/>
              </a:lnSpc>
            </a:pPr>
            <a:r>
              <a:rPr lang="en-US" altLang="zh-CN" dirty="0" err="1"/>
              <a:t>screenY</a:t>
            </a:r>
            <a:r>
              <a:rPr lang="en-US" altLang="zh-CN" dirty="0"/>
              <a:t>:</a:t>
            </a:r>
            <a:r>
              <a:rPr lang="zh-CN" altLang="en-US" dirty="0"/>
              <a:t>点击位置相对于应用窗口左上角的</a:t>
            </a:r>
            <a:r>
              <a:rPr lang="en-US" altLang="zh-CN" dirty="0"/>
              <a:t>y</a:t>
            </a:r>
            <a:r>
              <a:rPr lang="zh-CN" altLang="en-US" dirty="0"/>
              <a:t>坐标。</a:t>
            </a:r>
          </a:p>
          <a:p>
            <a:pPr lvl="1">
              <a:lnSpc>
                <a:spcPct val="150000"/>
              </a:lnSpc>
            </a:pPr>
            <a:r>
              <a:rPr lang="en-US" altLang="zh-CN" dirty="0"/>
              <a:t>x:</a:t>
            </a:r>
            <a:r>
              <a:rPr lang="zh-CN" altLang="en-US" dirty="0"/>
              <a:t>点击位置相对于被点击元素左上角的</a:t>
            </a:r>
            <a:r>
              <a:rPr lang="en-US" altLang="zh-CN" dirty="0"/>
              <a:t>x</a:t>
            </a:r>
            <a:r>
              <a:rPr lang="zh-CN" altLang="en-US" dirty="0"/>
              <a:t>坐标。</a:t>
            </a:r>
          </a:p>
          <a:p>
            <a:pPr lvl="1">
              <a:lnSpc>
                <a:spcPct val="150000"/>
              </a:lnSpc>
            </a:pPr>
            <a:r>
              <a:rPr lang="en-US" altLang="zh-CN" dirty="0"/>
              <a:t>y:</a:t>
            </a:r>
            <a:r>
              <a:rPr lang="zh-CN" altLang="en-US" dirty="0"/>
              <a:t>点击位置相对于被点击元素左上角的</a:t>
            </a:r>
            <a:r>
              <a:rPr lang="en-US" altLang="zh-CN" dirty="0"/>
              <a:t>y</a:t>
            </a:r>
            <a:r>
              <a:rPr lang="zh-CN" altLang="en-US" dirty="0"/>
              <a:t>坐标。</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2" name="Rectangle 1"/>
          <p:cNvSpPr>
            <a:spLocks noChangeArrowheads="1"/>
          </p:cNvSpPr>
          <p:nvPr/>
        </p:nvSpPr>
        <p:spPr bwMode="auto">
          <a:xfrm>
            <a:off x="910630" y="1355579"/>
            <a:ext cx="3646935" cy="506292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a:ln>
                  <a:noFill/>
                </a:ln>
                <a:solidFill>
                  <a:srgbClr val="BBB529"/>
                </a:solidFill>
                <a:effectLst/>
                <a:latin typeface="Arial Unicode MS" panose="020B0604020202020204" charset="-122"/>
                <a:ea typeface="JetBrains Mono"/>
              </a:rPr>
              <a:t>@Entry </a:t>
            </a:r>
            <a:br>
              <a:rPr kumimoji="0" lang="zh-CN" altLang="zh-CN" sz="1700" b="0" i="0" u="none" strike="noStrike" cap="none" normalizeH="0" baseline="0">
                <a:ln>
                  <a:noFill/>
                </a:ln>
                <a:solidFill>
                  <a:srgbClr val="BBB529"/>
                </a:solidFill>
                <a:effectLst/>
                <a:latin typeface="Arial Unicode MS" panose="020B0604020202020204" charset="-122"/>
                <a:ea typeface="JetBrains Mono"/>
              </a:rPr>
            </a:br>
            <a:r>
              <a:rPr kumimoji="0" lang="zh-CN" altLang="zh-CN" sz="1700" b="0" i="0" u="none" strike="noStrike" cap="none" normalizeH="0" baseline="0">
                <a:ln>
                  <a:noFill/>
                </a:ln>
                <a:solidFill>
                  <a:srgbClr val="BBB529"/>
                </a:solidFill>
                <a:effectLst/>
                <a:latin typeface="Arial Unicode MS" panose="020B0604020202020204" charset="-122"/>
                <a:ea typeface="JetBrains Mono"/>
              </a:rPr>
              <a:t>@Component </a:t>
            </a:r>
            <a:br>
              <a:rPr kumimoji="0" lang="zh-CN" altLang="zh-CN" sz="1700" b="0" i="0" u="none" strike="noStrike" cap="none" normalizeH="0" baseline="0">
                <a:ln>
                  <a:noFill/>
                </a:ln>
                <a:solidFill>
                  <a:srgbClr val="BBB529"/>
                </a:solidFill>
                <a:effectLst/>
                <a:latin typeface="Arial Unicode MS" panose="020B0604020202020204" charset="-122"/>
                <a:ea typeface="JetBrains Mono"/>
              </a:rPr>
            </a:br>
            <a:r>
              <a:rPr kumimoji="0" lang="zh-CN" altLang="zh-CN" sz="1700" b="1" i="0" u="none" strike="noStrike" cap="none" normalizeH="0" baseline="0">
                <a:ln>
                  <a:noFill/>
                </a:ln>
                <a:solidFill>
                  <a:srgbClr val="E2DA90"/>
                </a:solidFill>
                <a:effectLst/>
                <a:latin typeface="Arial Unicode MS" panose="020B0604020202020204" charset="-122"/>
                <a:ea typeface="JetBrains Mono"/>
              </a:rPr>
              <a:t>struct </a:t>
            </a:r>
            <a:r>
              <a:rPr kumimoji="0" lang="zh-CN" altLang="zh-CN" sz="1700" b="0" i="0" u="none" strike="noStrike" cap="none" normalizeH="0" baseline="0">
                <a:ln>
                  <a:noFill/>
                </a:ln>
                <a:solidFill>
                  <a:srgbClr val="507874"/>
                </a:solidFill>
                <a:effectLst/>
                <a:latin typeface="Arial Unicode MS" panose="020B0604020202020204" charset="-122"/>
                <a:ea typeface="JetBrains Mono"/>
              </a:rPr>
              <a:t>Index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BBB529"/>
                </a:solidFill>
                <a:effectLst/>
                <a:latin typeface="Arial Unicode MS" panose="020B0604020202020204" charset="-122"/>
                <a:ea typeface="JetBrains Mono"/>
              </a:rPr>
              <a:t>@State </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msg</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CC7832"/>
                </a:solidFill>
                <a:effectLst/>
                <a:latin typeface="Arial Unicode MS" panose="020B0604020202020204" charset="-122"/>
                <a:ea typeface="JetBrains Mono"/>
              </a:rPr>
              <a:t>string</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br>
              <a:rPr kumimoji="0" lang="zh-CN" altLang="zh-CN" sz="1700" b="0" i="0" u="none" strike="noStrike" cap="none" normalizeH="0" baseline="0">
                <a:ln>
                  <a:noFill/>
                </a:ln>
                <a:solidFill>
                  <a:srgbClr val="AA7DFC"/>
                </a:solidFill>
                <a:effectLst/>
                <a:latin typeface="Arial Unicode MS" panose="020B0604020202020204" charset="-122"/>
                <a:ea typeface="JetBrains Mono"/>
              </a:rPr>
            </a:b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build</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space</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Button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点击事件</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onClick</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CC7832"/>
                </a:solidFill>
                <a:effectLst/>
                <a:latin typeface="Arial Unicode MS" panose="020B0604020202020204" charset="-122"/>
                <a:ea typeface="JetBrains Mono"/>
              </a:rPr>
              <a:t>ClickEvent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=&gt;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msg</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相对窗口坐标</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screenX</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screenY</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\n</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相对元素坐标</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x</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y</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msg</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padding</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size</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6" name="图片 5"/>
          <p:cNvPicPr>
            <a:picLocks noChangeAspect="1"/>
          </p:cNvPicPr>
          <p:nvPr/>
        </p:nvPicPr>
        <p:blipFill>
          <a:blip r:embed="rId3"/>
          <a:stretch>
            <a:fillRect/>
          </a:stretch>
        </p:blipFill>
        <p:spPr>
          <a:xfrm>
            <a:off x="5591150" y="2425375"/>
            <a:ext cx="5104762" cy="24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5" name="文本框 4"/>
          <p:cNvSpPr txBox="1"/>
          <p:nvPr/>
        </p:nvSpPr>
        <p:spPr>
          <a:xfrm>
            <a:off x="1414686" y="1485578"/>
            <a:ext cx="8807018" cy="2308324"/>
          </a:xfrm>
          <a:prstGeom prst="rect">
            <a:avLst/>
          </a:prstGeom>
          <a:noFill/>
        </p:spPr>
        <p:txBody>
          <a:bodyPr wrap="square">
            <a:spAutoFit/>
          </a:bodyPr>
          <a:lstStyle/>
          <a:p>
            <a:r>
              <a:rPr lang="en-US" altLang="zh-CN" dirty="0"/>
              <a:t>2 </a:t>
            </a:r>
            <a:r>
              <a:rPr lang="zh-CN" altLang="en-US" dirty="0"/>
              <a:t>触摸事件</a:t>
            </a:r>
            <a:endParaRPr lang="en-US" altLang="zh-CN" dirty="0"/>
          </a:p>
          <a:p>
            <a:r>
              <a:rPr lang="en-US" altLang="zh-CN" dirty="0" err="1"/>
              <a:t>onTouch</a:t>
            </a:r>
            <a:r>
              <a:rPr lang="en-US" altLang="zh-CN" dirty="0"/>
              <a:t>:</a:t>
            </a:r>
            <a:r>
              <a:rPr lang="zh-CN" altLang="en-US" dirty="0"/>
              <a:t>手指触摸动作触发该回调，</a:t>
            </a:r>
            <a:r>
              <a:rPr lang="en-US" altLang="zh-CN" dirty="0" err="1"/>
              <a:t>TouchEvent</a:t>
            </a:r>
            <a:r>
              <a:rPr lang="zh-CN" altLang="en-US" dirty="0"/>
              <a:t>对象说明如下：</a:t>
            </a:r>
          </a:p>
          <a:p>
            <a:pPr lvl="1"/>
            <a:r>
              <a:rPr lang="en-US" altLang="zh-CN" dirty="0"/>
              <a:t>type:</a:t>
            </a:r>
            <a:r>
              <a:rPr lang="zh-CN" altLang="en-US" dirty="0"/>
              <a:t>触摸事件的类型，</a:t>
            </a:r>
            <a:r>
              <a:rPr lang="en-US" altLang="zh-CN" dirty="0" err="1"/>
              <a:t>TouchType</a:t>
            </a:r>
            <a:r>
              <a:rPr lang="zh-CN" altLang="en-US" dirty="0"/>
              <a:t>枚举说明见表。</a:t>
            </a:r>
          </a:p>
          <a:p>
            <a:pPr lvl="1"/>
            <a:r>
              <a:rPr lang="en-US" altLang="zh-CN" dirty="0"/>
              <a:t>Touches:</a:t>
            </a:r>
            <a:r>
              <a:rPr lang="zh-CN" altLang="en-US" dirty="0"/>
              <a:t>全部手指信息。</a:t>
            </a:r>
          </a:p>
          <a:p>
            <a:pPr lvl="1"/>
            <a:r>
              <a:rPr lang="en-US" altLang="zh-CN" dirty="0" err="1"/>
              <a:t>changedTouches</a:t>
            </a:r>
            <a:r>
              <a:rPr lang="en-US" altLang="zh-CN" dirty="0"/>
              <a:t>:</a:t>
            </a:r>
            <a:r>
              <a:rPr lang="zh-CN" altLang="en-US" dirty="0"/>
              <a:t>当前发生变化的手指信息。</a:t>
            </a:r>
          </a:p>
          <a:p>
            <a:pPr lvl="1"/>
            <a:r>
              <a:rPr lang="en-US" altLang="zh-CN" dirty="0" err="1"/>
              <a:t>stopPropagation</a:t>
            </a:r>
            <a:r>
              <a:rPr lang="en-US" altLang="zh-CN" dirty="0"/>
              <a:t>:</a:t>
            </a:r>
            <a:r>
              <a:rPr lang="zh-CN" altLang="en-US" dirty="0"/>
              <a:t>阻塞事件冒泡。</a:t>
            </a:r>
          </a:p>
        </p:txBody>
      </p:sp>
      <p:pic>
        <p:nvPicPr>
          <p:cNvPr id="10" name="图片 9"/>
          <p:cNvPicPr>
            <a:picLocks noChangeAspect="1"/>
          </p:cNvPicPr>
          <p:nvPr/>
        </p:nvPicPr>
        <p:blipFill>
          <a:blip r:embed="rId3"/>
          <a:stretch>
            <a:fillRect/>
          </a:stretch>
        </p:blipFill>
        <p:spPr>
          <a:xfrm>
            <a:off x="1707584" y="4293890"/>
            <a:ext cx="8221222" cy="156231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4" name="文本框 3"/>
          <p:cNvSpPr txBox="1"/>
          <p:nvPr/>
        </p:nvSpPr>
        <p:spPr>
          <a:xfrm>
            <a:off x="1208280" y="1701602"/>
            <a:ext cx="10431542" cy="3416320"/>
          </a:xfrm>
          <a:prstGeom prst="rect">
            <a:avLst/>
          </a:prstGeom>
          <a:noFill/>
        </p:spPr>
        <p:txBody>
          <a:bodyPr wrap="square">
            <a:spAutoFit/>
          </a:bodyPr>
          <a:lstStyle/>
          <a:p>
            <a:r>
              <a:rPr lang="en-US" altLang="zh-CN" dirty="0"/>
              <a:t>3 </a:t>
            </a:r>
            <a:r>
              <a:rPr lang="zh-CN" altLang="en-US" dirty="0"/>
              <a:t>拖拽事件</a:t>
            </a:r>
          </a:p>
          <a:p>
            <a:r>
              <a:rPr lang="zh-CN" altLang="en-US" dirty="0"/>
              <a:t>拖拽事件包括</a:t>
            </a:r>
            <a:r>
              <a:rPr lang="en-US" altLang="zh-CN" dirty="0" err="1"/>
              <a:t>dragstart</a:t>
            </a:r>
            <a:r>
              <a:rPr lang="zh-CN" altLang="en-US" dirty="0"/>
              <a:t>、</a:t>
            </a:r>
            <a:r>
              <a:rPr lang="en-US" altLang="zh-CN" dirty="0"/>
              <a:t>drag</a:t>
            </a:r>
            <a:r>
              <a:rPr lang="zh-CN" altLang="en-US" dirty="0"/>
              <a:t>、</a:t>
            </a:r>
            <a:r>
              <a:rPr lang="en-US" altLang="zh-CN" dirty="0" err="1"/>
              <a:t>dagend</a:t>
            </a:r>
            <a:r>
              <a:rPr lang="zh-CN" altLang="en-US" dirty="0"/>
              <a:t>、</a:t>
            </a:r>
            <a:r>
              <a:rPr lang="en-US" altLang="zh-CN" dirty="0" err="1"/>
              <a:t>dragenter</a:t>
            </a:r>
            <a:r>
              <a:rPr lang="zh-CN" altLang="en-US" dirty="0"/>
              <a:t>、</a:t>
            </a:r>
            <a:r>
              <a:rPr lang="en-US" altLang="zh-CN" dirty="0" err="1"/>
              <a:t>dragover</a:t>
            </a:r>
            <a:r>
              <a:rPr lang="zh-CN" altLang="en-US" dirty="0"/>
              <a:t>、</a:t>
            </a:r>
            <a:r>
              <a:rPr lang="en-US" altLang="zh-CN" dirty="0" err="1"/>
              <a:t>dragleave</a:t>
            </a:r>
            <a:r>
              <a:rPr lang="zh-CN" altLang="en-US" dirty="0"/>
              <a:t>、</a:t>
            </a:r>
            <a:r>
              <a:rPr lang="en-US" altLang="zh-CN" dirty="0"/>
              <a:t>drop</a:t>
            </a:r>
            <a:r>
              <a:rPr lang="zh-CN" altLang="en-US" dirty="0"/>
              <a:t>等，开发者可以根据自己的需求选择相应的事件并编写相应的代码逻辑。</a:t>
            </a:r>
          </a:p>
          <a:p>
            <a:pPr lvl="1"/>
            <a:r>
              <a:rPr lang="en-US" altLang="zh-CN" dirty="0" err="1"/>
              <a:t>onDragStart</a:t>
            </a:r>
            <a:r>
              <a:rPr lang="en-US" altLang="zh-CN" dirty="0"/>
              <a:t>:</a:t>
            </a:r>
            <a:r>
              <a:rPr lang="zh-CN" altLang="en-US" dirty="0"/>
              <a:t>第一次拖拽此事件绑定的组件时，触发回调。</a:t>
            </a:r>
          </a:p>
          <a:p>
            <a:pPr lvl="1"/>
            <a:r>
              <a:rPr lang="en-US" altLang="zh-CN" dirty="0" err="1"/>
              <a:t>onDragEnter</a:t>
            </a:r>
            <a:r>
              <a:rPr lang="en-US" altLang="zh-CN" dirty="0"/>
              <a:t>:</a:t>
            </a:r>
            <a:r>
              <a:rPr lang="zh-CN" altLang="en-US" dirty="0"/>
              <a:t>拖拽进入组件范围内时，触发回调。</a:t>
            </a:r>
          </a:p>
          <a:p>
            <a:pPr lvl="1"/>
            <a:r>
              <a:rPr lang="en-US" altLang="zh-CN" dirty="0" err="1"/>
              <a:t>onDragMove</a:t>
            </a:r>
            <a:r>
              <a:rPr lang="en-US" altLang="zh-CN" dirty="0"/>
              <a:t>:</a:t>
            </a:r>
            <a:r>
              <a:rPr lang="zh-CN" altLang="en-US" dirty="0"/>
              <a:t>拖拽在组件范围内移动时，触发回调。</a:t>
            </a:r>
          </a:p>
          <a:p>
            <a:pPr lvl="1"/>
            <a:r>
              <a:rPr lang="en-US" altLang="zh-CN" dirty="0" err="1"/>
              <a:t>onDragLeave</a:t>
            </a:r>
            <a:r>
              <a:rPr lang="en-US" altLang="zh-CN" dirty="0"/>
              <a:t>:</a:t>
            </a:r>
            <a:r>
              <a:rPr lang="zh-CN" altLang="en-US" dirty="0"/>
              <a:t>拖拽离开组件范围内时，触发回调。</a:t>
            </a:r>
          </a:p>
          <a:p>
            <a:pPr lvl="1"/>
            <a:r>
              <a:rPr lang="en-US" altLang="zh-CN" dirty="0" err="1"/>
              <a:t>onDrop</a:t>
            </a:r>
            <a:r>
              <a:rPr lang="en-US" altLang="zh-CN" dirty="0"/>
              <a:t>:</a:t>
            </a:r>
            <a:r>
              <a:rPr lang="zh-CN" altLang="en-US" dirty="0"/>
              <a:t>绑定此事件的组件可作为拖拽释放目标，当在本组件范围内停止拖拽行为时，触发回调。</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4" name="文本框 3"/>
          <p:cNvSpPr txBox="1"/>
          <p:nvPr/>
        </p:nvSpPr>
        <p:spPr>
          <a:xfrm>
            <a:off x="1630710" y="1721634"/>
            <a:ext cx="8590994" cy="3416320"/>
          </a:xfrm>
          <a:prstGeom prst="rect">
            <a:avLst/>
          </a:prstGeom>
          <a:noFill/>
        </p:spPr>
        <p:txBody>
          <a:bodyPr wrap="square">
            <a:spAutoFit/>
          </a:bodyPr>
          <a:lstStyle/>
          <a:p>
            <a:r>
              <a:rPr lang="en-US" altLang="zh-CN" dirty="0"/>
              <a:t>4 </a:t>
            </a:r>
            <a:r>
              <a:rPr lang="zh-CN" altLang="en-US" dirty="0"/>
              <a:t>焦点事件</a:t>
            </a:r>
          </a:p>
          <a:p>
            <a:pPr lvl="1"/>
            <a:r>
              <a:rPr lang="en-US" altLang="zh-CN" dirty="0" err="1"/>
              <a:t>onFocus</a:t>
            </a:r>
            <a:r>
              <a:rPr lang="en-US" altLang="zh-CN" dirty="0"/>
              <a:t>:</a:t>
            </a:r>
            <a:r>
              <a:rPr lang="zh-CN" altLang="en-US" dirty="0"/>
              <a:t>当前组件获取焦点时触发的回调。</a:t>
            </a:r>
          </a:p>
          <a:p>
            <a:pPr lvl="1"/>
            <a:r>
              <a:rPr lang="en-US" altLang="zh-CN" dirty="0" err="1"/>
              <a:t>onBlur</a:t>
            </a:r>
            <a:r>
              <a:rPr lang="en-US" altLang="zh-CN" dirty="0"/>
              <a:t>:</a:t>
            </a:r>
            <a:r>
              <a:rPr lang="zh-CN" altLang="en-US" dirty="0"/>
              <a:t>当前组件失去焦点时触发的回调。</a:t>
            </a:r>
            <a:endParaRPr lang="en-US" altLang="zh-CN" dirty="0"/>
          </a:p>
          <a:p>
            <a:pPr lvl="1"/>
            <a:r>
              <a:rPr lang="en-US" altLang="zh-CN" dirty="0"/>
              <a:t>Button</a:t>
            </a:r>
            <a:r>
              <a:rPr lang="zh-CN" altLang="en-US" dirty="0"/>
              <a:t>、</a:t>
            </a:r>
            <a:r>
              <a:rPr lang="en-US" altLang="zh-CN" dirty="0" err="1"/>
              <a:t>TextInput</a:t>
            </a:r>
            <a:r>
              <a:rPr lang="zh-CN" altLang="en-US" dirty="0"/>
              <a:t>等组件具备默认的交互逻辑，这些组件默认状态下是可获得焦点的。而相对的，</a:t>
            </a:r>
            <a:r>
              <a:rPr lang="en-US" altLang="zh-CN" dirty="0"/>
              <a:t>Text</a:t>
            </a:r>
            <a:r>
              <a:rPr lang="zh-CN" altLang="en-US" dirty="0"/>
              <a:t>、</a:t>
            </a:r>
            <a:r>
              <a:rPr lang="en-US" altLang="zh-CN" dirty="0"/>
              <a:t>Image</a:t>
            </a:r>
            <a:r>
              <a:rPr lang="zh-CN" altLang="en-US" dirty="0"/>
              <a:t>等组件在默认状态下是不可获得焦点的。在不可获得焦点的状态下，无法触发焦点事件，此时需要将</a:t>
            </a:r>
            <a:r>
              <a:rPr lang="en-US" altLang="zh-CN" dirty="0"/>
              <a:t>focusable</a:t>
            </a:r>
            <a:r>
              <a:rPr lang="zh-CN" altLang="en-US" dirty="0"/>
              <a:t>属性设置为</a:t>
            </a:r>
            <a:r>
              <a:rPr lang="en-US" altLang="zh-CN" dirty="0"/>
              <a:t>true,</a:t>
            </a:r>
            <a:r>
              <a:rPr lang="zh-CN" altLang="en-US" dirty="0"/>
              <a:t>方可触发焦点事件。</a:t>
            </a:r>
          </a:p>
          <a:p>
            <a:pPr lvl="1"/>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4" name="文本框 3"/>
          <p:cNvSpPr txBox="1"/>
          <p:nvPr/>
        </p:nvSpPr>
        <p:spPr>
          <a:xfrm>
            <a:off x="1079359" y="1325153"/>
            <a:ext cx="11089232" cy="4154984"/>
          </a:xfrm>
          <a:prstGeom prst="rect">
            <a:avLst/>
          </a:prstGeom>
          <a:noFill/>
        </p:spPr>
        <p:txBody>
          <a:bodyPr wrap="square">
            <a:spAutoFit/>
          </a:bodyPr>
          <a:lstStyle/>
          <a:p>
            <a:r>
              <a:rPr lang="en-US" altLang="zh-CN" dirty="0"/>
              <a:t>5 </a:t>
            </a:r>
            <a:r>
              <a:rPr lang="zh-CN" altLang="en-US" dirty="0"/>
              <a:t>按键事件</a:t>
            </a:r>
          </a:p>
          <a:p>
            <a:pPr lvl="1"/>
            <a:r>
              <a:rPr lang="en-US" altLang="zh-CN" dirty="0" err="1"/>
              <a:t>onKeyEvent</a:t>
            </a:r>
            <a:r>
              <a:rPr lang="en-US" altLang="zh-CN" dirty="0"/>
              <a:t>:</a:t>
            </a:r>
            <a:r>
              <a:rPr lang="zh-CN" altLang="en-US" dirty="0"/>
              <a:t>绑定该方法的组件获焦后，按键动作触发该方法调用。</a:t>
            </a:r>
          </a:p>
          <a:p>
            <a:pPr lvl="1"/>
            <a:r>
              <a:rPr lang="en-US" altLang="zh-CN" dirty="0"/>
              <a:t>type:</a:t>
            </a:r>
            <a:r>
              <a:rPr lang="zh-CN" altLang="en-US" dirty="0"/>
              <a:t>按键的类型，</a:t>
            </a:r>
            <a:r>
              <a:rPr lang="en-US" altLang="zh-CN" dirty="0" err="1"/>
              <a:t>KeyType</a:t>
            </a:r>
            <a:r>
              <a:rPr lang="zh-CN" altLang="en-US" dirty="0"/>
              <a:t>枚举见表。</a:t>
            </a:r>
          </a:p>
          <a:p>
            <a:pPr lvl="1"/>
            <a:r>
              <a:rPr lang="en-US" altLang="zh-CN" dirty="0" err="1"/>
              <a:t>keyCode</a:t>
            </a:r>
            <a:r>
              <a:rPr lang="en-US" altLang="zh-CN" dirty="0"/>
              <a:t>:</a:t>
            </a:r>
            <a:r>
              <a:rPr lang="zh-CN" altLang="en-US" dirty="0"/>
              <a:t>按键的键码。</a:t>
            </a:r>
          </a:p>
          <a:p>
            <a:pPr lvl="1"/>
            <a:r>
              <a:rPr lang="en-US" altLang="zh-CN" dirty="0" err="1"/>
              <a:t>keyText</a:t>
            </a:r>
            <a:r>
              <a:rPr lang="en-US" altLang="zh-CN" dirty="0"/>
              <a:t>:</a:t>
            </a:r>
            <a:r>
              <a:rPr lang="zh-CN" altLang="en-US" dirty="0"/>
              <a:t>按键的键值。</a:t>
            </a:r>
          </a:p>
          <a:p>
            <a:pPr lvl="1"/>
            <a:r>
              <a:rPr lang="en-US" altLang="zh-CN" dirty="0" err="1"/>
              <a:t>keySource</a:t>
            </a:r>
            <a:r>
              <a:rPr lang="en-US" altLang="zh-CN" dirty="0"/>
              <a:t>:</a:t>
            </a:r>
            <a:r>
              <a:rPr lang="zh-CN" altLang="en-US" dirty="0"/>
              <a:t>触发当前按键的输入设备类型，</a:t>
            </a:r>
            <a:r>
              <a:rPr lang="en-US" altLang="zh-CN" dirty="0" err="1"/>
              <a:t>KeySource</a:t>
            </a:r>
            <a:r>
              <a:rPr lang="zh-CN" altLang="en-US" dirty="0"/>
              <a:t>枚举见表。</a:t>
            </a:r>
          </a:p>
          <a:p>
            <a:pPr lvl="1"/>
            <a:r>
              <a:rPr lang="en-US" altLang="zh-CN" dirty="0" err="1"/>
              <a:t>deviceld</a:t>
            </a:r>
            <a:r>
              <a:rPr lang="en-US" altLang="zh-CN" dirty="0"/>
              <a:t>:</a:t>
            </a:r>
            <a:r>
              <a:rPr lang="zh-CN" altLang="en-US" dirty="0"/>
              <a:t>触发当前按键的输入设备</a:t>
            </a:r>
            <a:r>
              <a:rPr lang="en-US" altLang="zh-CN" dirty="0"/>
              <a:t>ID</a:t>
            </a:r>
            <a:r>
              <a:rPr lang="zh-CN" altLang="en-US" dirty="0"/>
              <a:t>。</a:t>
            </a:r>
          </a:p>
          <a:p>
            <a:pPr lvl="1"/>
            <a:r>
              <a:rPr lang="en-US" altLang="zh-CN" dirty="0" err="1"/>
              <a:t>metaKey</a:t>
            </a:r>
            <a:r>
              <a:rPr lang="en-US" altLang="zh-CN" dirty="0"/>
              <a:t>:</a:t>
            </a:r>
            <a:r>
              <a:rPr lang="zh-CN" altLang="en-US" dirty="0"/>
              <a:t>按键发生时元键</a:t>
            </a:r>
            <a:r>
              <a:rPr lang="en-US" altLang="zh-CN" dirty="0"/>
              <a:t>(</a:t>
            </a:r>
            <a:r>
              <a:rPr lang="zh-CN" altLang="en-US" dirty="0"/>
              <a:t>即</a:t>
            </a:r>
            <a:r>
              <a:rPr lang="en-US" altLang="zh-CN" dirty="0"/>
              <a:t>Windows</a:t>
            </a:r>
            <a:r>
              <a:rPr lang="zh-CN" altLang="en-US" dirty="0"/>
              <a:t>键盘的</a:t>
            </a:r>
            <a:r>
              <a:rPr lang="en-US" altLang="zh-CN" dirty="0"/>
              <a:t>WIN</a:t>
            </a:r>
            <a:r>
              <a:rPr lang="zh-CN" altLang="en-US" dirty="0"/>
              <a:t>键、</a:t>
            </a:r>
            <a:r>
              <a:rPr lang="en-US" altLang="zh-CN" dirty="0"/>
              <a:t>Mac</a:t>
            </a:r>
            <a:r>
              <a:rPr lang="zh-CN" altLang="en-US" dirty="0"/>
              <a:t>键盘的</a:t>
            </a:r>
            <a:r>
              <a:rPr lang="en-US" altLang="zh-CN" dirty="0"/>
              <a:t>Command</a:t>
            </a:r>
            <a:r>
              <a:rPr lang="zh-CN" altLang="en-US" dirty="0"/>
              <a:t>键</a:t>
            </a:r>
            <a:r>
              <a:rPr lang="en-US" altLang="zh-CN" dirty="0"/>
              <a:t>)</a:t>
            </a:r>
            <a:r>
              <a:rPr lang="zh-CN" altLang="en-US" dirty="0"/>
              <a:t>的状态，</a:t>
            </a:r>
            <a:r>
              <a:rPr lang="en-US" altLang="zh-CN" dirty="0"/>
              <a:t>1</a:t>
            </a:r>
            <a:r>
              <a:rPr lang="zh-CN" altLang="en-US" dirty="0"/>
              <a:t>表示按压态，</a:t>
            </a:r>
            <a:r>
              <a:rPr lang="en-US" altLang="zh-CN" dirty="0"/>
              <a:t>0</a:t>
            </a:r>
            <a:r>
              <a:rPr lang="zh-CN" altLang="en-US" dirty="0"/>
              <a:t>表示未按压态。</a:t>
            </a:r>
          </a:p>
          <a:p>
            <a:pPr lvl="1"/>
            <a:r>
              <a:rPr lang="en-US" altLang="zh-CN" dirty="0"/>
              <a:t>Timestamp:</a:t>
            </a:r>
            <a:r>
              <a:rPr lang="zh-CN" altLang="en-US" dirty="0"/>
              <a:t>按键发生时的时间戳。</a:t>
            </a:r>
          </a:p>
          <a:p>
            <a:pPr lvl="1"/>
            <a:r>
              <a:rPr lang="en-US" altLang="zh-CN" dirty="0" err="1"/>
              <a:t>stopPropagation</a:t>
            </a:r>
            <a:r>
              <a:rPr lang="en-US" altLang="zh-CN" dirty="0"/>
              <a:t>:</a:t>
            </a:r>
            <a:r>
              <a:rPr lang="zh-CN" altLang="en-US" dirty="0"/>
              <a:t>阻塞事件冒泡传递。</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4" name="文本框 3"/>
          <p:cNvSpPr txBox="1"/>
          <p:nvPr/>
        </p:nvSpPr>
        <p:spPr>
          <a:xfrm>
            <a:off x="1079359" y="1325153"/>
            <a:ext cx="11089232" cy="461665"/>
          </a:xfrm>
          <a:prstGeom prst="rect">
            <a:avLst/>
          </a:prstGeom>
          <a:noFill/>
        </p:spPr>
        <p:txBody>
          <a:bodyPr wrap="square">
            <a:spAutoFit/>
          </a:bodyPr>
          <a:lstStyle/>
          <a:p>
            <a:r>
              <a:rPr lang="en-US" altLang="zh-CN" dirty="0"/>
              <a:t>5 </a:t>
            </a:r>
            <a:r>
              <a:rPr lang="zh-CN" altLang="en-US" dirty="0"/>
              <a:t>按键事件</a:t>
            </a:r>
          </a:p>
        </p:txBody>
      </p:sp>
      <p:pic>
        <p:nvPicPr>
          <p:cNvPr id="9" name="图片 8"/>
          <p:cNvPicPr>
            <a:picLocks noChangeAspect="1"/>
          </p:cNvPicPr>
          <p:nvPr/>
        </p:nvPicPr>
        <p:blipFill>
          <a:blip r:embed="rId3"/>
          <a:stretch>
            <a:fillRect/>
          </a:stretch>
        </p:blipFill>
        <p:spPr>
          <a:xfrm>
            <a:off x="1702718" y="2133650"/>
            <a:ext cx="8306959" cy="2743583"/>
          </a:xfrm>
          <a:prstGeom prst="rect">
            <a:avLst/>
          </a:prstGeom>
        </p:spPr>
      </p:pic>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126654" y="1373503"/>
            <a:ext cx="9217024" cy="461665"/>
          </a:xfrm>
          <a:prstGeom prst="rect">
            <a:avLst/>
          </a:prstGeom>
          <a:noFill/>
        </p:spPr>
        <p:txBody>
          <a:bodyPr wrap="square">
            <a:spAutoFit/>
          </a:bodyPr>
          <a:lstStyle/>
          <a:p>
            <a:r>
              <a:rPr lang="en-US" altLang="zh-CN" dirty="0"/>
              <a:t>6 </a:t>
            </a:r>
            <a:r>
              <a:rPr lang="zh-CN" altLang="en-US" dirty="0"/>
              <a:t>鼠标事件</a:t>
            </a:r>
          </a:p>
        </p:txBody>
      </p:sp>
      <p:sp>
        <p:nvSpPr>
          <p:cNvPr id="12" name="文本框 11"/>
          <p:cNvSpPr txBox="1"/>
          <p:nvPr/>
        </p:nvSpPr>
        <p:spPr>
          <a:xfrm>
            <a:off x="1270676" y="1885426"/>
            <a:ext cx="10919737" cy="3785652"/>
          </a:xfrm>
          <a:prstGeom prst="rect">
            <a:avLst/>
          </a:prstGeom>
          <a:noFill/>
        </p:spPr>
        <p:txBody>
          <a:bodyPr wrap="square">
            <a:spAutoFit/>
          </a:bodyPr>
          <a:lstStyle/>
          <a:p>
            <a:r>
              <a:rPr lang="en-US" altLang="zh-CN" dirty="0" err="1"/>
              <a:t>onHover</a:t>
            </a:r>
            <a:r>
              <a:rPr lang="en-US" altLang="zh-CN" dirty="0"/>
              <a:t>:</a:t>
            </a:r>
            <a:r>
              <a:rPr lang="zh-CN" altLang="en-US" dirty="0"/>
              <a:t>鼠标进入或退出组件时触发该回调。</a:t>
            </a:r>
          </a:p>
          <a:p>
            <a:r>
              <a:rPr lang="en-US" altLang="zh-CN" dirty="0" err="1"/>
              <a:t>isHover</a:t>
            </a:r>
            <a:r>
              <a:rPr lang="en-US" altLang="zh-CN" dirty="0"/>
              <a:t>:</a:t>
            </a:r>
            <a:r>
              <a:rPr lang="zh-CN" altLang="en-US" dirty="0"/>
              <a:t>表示鼠标是否悬浮在组件上，鼠标进入时为</a:t>
            </a:r>
            <a:r>
              <a:rPr lang="en-US" altLang="zh-CN" dirty="0"/>
              <a:t>true,</a:t>
            </a:r>
            <a:r>
              <a:rPr lang="zh-CN" altLang="en-US" dirty="0"/>
              <a:t>退出时为</a:t>
            </a:r>
            <a:r>
              <a:rPr lang="en-US" altLang="zh-CN" dirty="0"/>
              <a:t>false</a:t>
            </a:r>
            <a:r>
              <a:rPr lang="zh-CN" altLang="en-US" dirty="0"/>
              <a:t>。</a:t>
            </a:r>
          </a:p>
          <a:p>
            <a:r>
              <a:rPr lang="en-US" altLang="zh-CN" dirty="0" err="1"/>
              <a:t>onMouse</a:t>
            </a:r>
            <a:r>
              <a:rPr lang="en-US" altLang="zh-CN" dirty="0"/>
              <a:t>:</a:t>
            </a:r>
            <a:r>
              <a:rPr lang="zh-CN" altLang="en-US" dirty="0"/>
              <a:t>当前组件被鼠标按键点击时或者鼠标在组件上悬浮移动时，触发该回调，</a:t>
            </a:r>
            <a:r>
              <a:rPr lang="en-US" altLang="zh-CN" dirty="0"/>
              <a:t>event</a:t>
            </a:r>
            <a:r>
              <a:rPr lang="zh-CN" altLang="en-US" dirty="0"/>
              <a:t>返回值包含触发事件时的时间截、鼠标按键、动作、鼠标位置在整个屏幕上的坐标和相对于当前组件的坐标。</a:t>
            </a:r>
          </a:p>
          <a:p>
            <a:r>
              <a:rPr lang="en-US" altLang="zh-CN" dirty="0" err="1"/>
              <a:t>MouseEvent</a:t>
            </a:r>
            <a:r>
              <a:rPr lang="zh-CN" altLang="en-US" dirty="0"/>
              <a:t>对象说明如下。</a:t>
            </a:r>
          </a:p>
          <a:p>
            <a:r>
              <a:rPr lang="en-US" altLang="zh-CN" dirty="0" err="1"/>
              <a:t>screenX</a:t>
            </a:r>
            <a:r>
              <a:rPr lang="en-US" altLang="zh-CN" dirty="0"/>
              <a:t>:</a:t>
            </a:r>
            <a:r>
              <a:rPr lang="zh-CN" altLang="en-US" dirty="0"/>
              <a:t>鼠标位置相对于应用窗口左上角的</a:t>
            </a:r>
            <a:r>
              <a:rPr lang="en-US" altLang="zh-CN" dirty="0"/>
              <a:t>x</a:t>
            </a:r>
            <a:r>
              <a:rPr lang="zh-CN" altLang="en-US" dirty="0"/>
              <a:t>坐标。</a:t>
            </a:r>
          </a:p>
          <a:p>
            <a:r>
              <a:rPr lang="en-US" altLang="zh-CN" dirty="0" err="1"/>
              <a:t>screenY</a:t>
            </a:r>
            <a:r>
              <a:rPr lang="en-US" altLang="zh-CN" dirty="0"/>
              <a:t>:</a:t>
            </a:r>
            <a:r>
              <a:rPr lang="zh-CN" altLang="en-US" dirty="0"/>
              <a:t>鼠标位置相对于应用窗口左上角的</a:t>
            </a:r>
            <a:r>
              <a:rPr lang="en-US" altLang="zh-CN" dirty="0"/>
              <a:t>y</a:t>
            </a:r>
            <a:r>
              <a:rPr lang="zh-CN" altLang="en-US" dirty="0"/>
              <a:t>坐标。</a:t>
            </a:r>
          </a:p>
          <a:p>
            <a:r>
              <a:rPr lang="en-US" altLang="zh-CN" dirty="0"/>
              <a:t>x:</a:t>
            </a:r>
            <a:r>
              <a:rPr lang="zh-CN" altLang="en-US" dirty="0"/>
              <a:t>鼠标位置相对于当前组件左上角的</a:t>
            </a:r>
            <a:r>
              <a:rPr lang="en-US" altLang="zh-CN" dirty="0"/>
              <a:t>x</a:t>
            </a:r>
            <a:r>
              <a:rPr lang="zh-CN" altLang="en-US" dirty="0"/>
              <a:t>坐标。</a:t>
            </a:r>
          </a:p>
          <a:p>
            <a:r>
              <a:rPr lang="en-US" altLang="zh-CN" dirty="0"/>
              <a:t>y:</a:t>
            </a:r>
            <a:r>
              <a:rPr lang="zh-CN" altLang="en-US" dirty="0"/>
              <a:t>鼠标位置相对于当前组件左上角的</a:t>
            </a:r>
            <a:r>
              <a:rPr lang="en-US" altLang="zh-CN" dirty="0"/>
              <a:t>y</a:t>
            </a:r>
            <a:r>
              <a:rPr lang="zh-CN" altLang="en-US" dirty="0"/>
              <a:t>坐标。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342678" y="1322957"/>
            <a:ext cx="10514909" cy="2308324"/>
          </a:xfrm>
          <a:prstGeom prst="rect">
            <a:avLst/>
          </a:prstGeom>
          <a:noFill/>
        </p:spPr>
        <p:txBody>
          <a:bodyPr wrap="square">
            <a:spAutoFit/>
          </a:bodyPr>
          <a:lstStyle/>
          <a:p>
            <a:r>
              <a:rPr lang="en-US" altLang="zh-CN" dirty="0"/>
              <a:t>button:</a:t>
            </a:r>
            <a:r>
              <a:rPr lang="zh-CN" altLang="en-US" dirty="0"/>
              <a:t>鼠标按键，</a:t>
            </a:r>
            <a:r>
              <a:rPr lang="en-US" altLang="zh-CN" dirty="0" err="1"/>
              <a:t>MouseButton</a:t>
            </a:r>
            <a:r>
              <a:rPr lang="zh-CN" altLang="en-US" dirty="0"/>
              <a:t>枚举说明见表。</a:t>
            </a:r>
          </a:p>
          <a:p>
            <a:r>
              <a:rPr lang="en-US" altLang="zh-CN" dirty="0"/>
              <a:t>action:</a:t>
            </a:r>
            <a:r>
              <a:rPr lang="zh-CN" altLang="en-US" dirty="0"/>
              <a:t>鼠标动作，</a:t>
            </a:r>
            <a:r>
              <a:rPr lang="en-US" altLang="zh-CN" dirty="0" err="1"/>
              <a:t>MouseAction</a:t>
            </a:r>
            <a:r>
              <a:rPr lang="zh-CN" altLang="en-US" dirty="0"/>
              <a:t>枚举说明见表。</a:t>
            </a:r>
          </a:p>
          <a:p>
            <a:r>
              <a:rPr lang="en-US" altLang="zh-CN" dirty="0" err="1"/>
              <a:t>stopPropagation</a:t>
            </a:r>
            <a:r>
              <a:rPr lang="en-US" altLang="zh-CN" dirty="0"/>
              <a:t>:</a:t>
            </a:r>
            <a:r>
              <a:rPr lang="zh-CN" altLang="en-US" dirty="0"/>
              <a:t>阻塞事件冒泡。</a:t>
            </a:r>
          </a:p>
          <a:p>
            <a:r>
              <a:rPr lang="en-US" altLang="zh-CN" dirty="0"/>
              <a:t>timestamp:</a:t>
            </a:r>
            <a:r>
              <a:rPr lang="zh-CN" altLang="en-US" dirty="0"/>
              <a:t>事件时间戳，触发事件时距离系统启动的时间间隔，单位</a:t>
            </a:r>
            <a:r>
              <a:rPr lang="en-US" altLang="zh-CN" dirty="0"/>
              <a:t>ns(</a:t>
            </a:r>
            <a:r>
              <a:rPr lang="zh-CN" altLang="en-US" dirty="0"/>
              <a:t>纳秒</a:t>
            </a:r>
            <a:r>
              <a:rPr lang="en-US" altLang="zh-CN" dirty="0"/>
              <a:t>)</a:t>
            </a:r>
            <a:r>
              <a:rPr lang="zh-CN" altLang="en-US" dirty="0"/>
              <a:t>。</a:t>
            </a:r>
          </a:p>
          <a:p>
            <a:r>
              <a:rPr lang="en-US" altLang="zh-CN" dirty="0"/>
              <a:t>target:</a:t>
            </a:r>
            <a:r>
              <a:rPr lang="zh-CN" altLang="en-US" dirty="0"/>
              <a:t>触发手势事件的元素对象显示区域。</a:t>
            </a:r>
          </a:p>
          <a:p>
            <a:r>
              <a:rPr lang="en-US" altLang="zh-CN" dirty="0"/>
              <a:t>source:</a:t>
            </a:r>
            <a:r>
              <a:rPr lang="zh-CN" altLang="en-US" dirty="0"/>
              <a:t>事件输入设备，</a:t>
            </a:r>
            <a:r>
              <a:rPr lang="en-US" altLang="zh-CN" dirty="0" err="1"/>
              <a:t>SourceType</a:t>
            </a:r>
            <a:r>
              <a:rPr lang="zh-CN" altLang="en-US" dirty="0"/>
              <a:t>枚举说明见表。</a:t>
            </a:r>
          </a:p>
        </p:txBody>
      </p:sp>
      <p:pic>
        <p:nvPicPr>
          <p:cNvPr id="9" name="图片 8"/>
          <p:cNvPicPr>
            <a:picLocks noChangeAspect="1"/>
          </p:cNvPicPr>
          <p:nvPr/>
        </p:nvPicPr>
        <p:blipFill>
          <a:blip r:embed="rId3"/>
          <a:srcRect b="60563"/>
          <a:stretch>
            <a:fillRect/>
          </a:stretch>
        </p:blipFill>
        <p:spPr>
          <a:xfrm>
            <a:off x="1630710" y="3861842"/>
            <a:ext cx="8440328" cy="2419406"/>
          </a:xfrm>
          <a:prstGeom prst="rect">
            <a:avLst/>
          </a:prstGeom>
        </p:spPr>
      </p:pic>
      <p:sp>
        <p:nvSpPr>
          <p:cNvPr id="13" name="矩形 12"/>
          <p:cNvSpPr/>
          <p:nvPr/>
        </p:nvSpPr>
        <p:spPr>
          <a:xfrm>
            <a:off x="4367014" y="3888194"/>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p>
        </p:txBody>
      </p:sp>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a:srcRect t="40320"/>
          <a:stretch>
            <a:fillRect/>
          </a:stretch>
        </p:blipFill>
        <p:spPr>
          <a:xfrm>
            <a:off x="1225319" y="1701602"/>
            <a:ext cx="9093747" cy="3944817"/>
          </a:xfrm>
          <a:prstGeom prst="rect">
            <a:avLst/>
          </a:prstGeom>
        </p:spPr>
      </p:pic>
      <p:sp>
        <p:nvSpPr>
          <p:cNvPr id="6" name="矩形 5"/>
          <p:cNvSpPr/>
          <p:nvPr/>
        </p:nvSpPr>
        <p:spPr>
          <a:xfrm>
            <a:off x="4186994" y="1764195"/>
            <a:ext cx="864096"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67014" y="3854746"/>
            <a:ext cx="936104"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0680" y="1773555"/>
            <a:ext cx="8716010" cy="768350"/>
          </a:xfrm>
          <a:prstGeom prst="rect">
            <a:avLst/>
          </a:prstGeom>
          <a:noFill/>
        </p:spPr>
        <p:txBody>
          <a:bodyPr wrap="square" rtlCol="0" anchor="t">
            <a:spAutoFit/>
          </a:bodyPr>
          <a:lstStyle/>
          <a:p>
            <a:pPr algn="ctr"/>
            <a:r>
              <a:rPr lang="zh-CN" altLang="en-US" sz="4400" dirty="0">
                <a:solidFill>
                  <a:schemeClr val="accent1"/>
                </a:solidFill>
                <a:effectLst>
                  <a:outerShdw blurRad="38100" dist="25400" dir="5400000" algn="ctr" rotWithShape="0">
                    <a:srgbClr val="6E747A">
                      <a:alpha val="43000"/>
                    </a:srgbClr>
                  </a:outerShdw>
                </a:effectLst>
                <a:cs typeface="+mn-ea"/>
                <a:sym typeface="宋体" panose="02010600030101010101" pitchFamily="2" charset="-122"/>
              </a:rPr>
              <a:t>页面跳转</a:t>
            </a:r>
            <a:endParaRPr lang="zh-CN" altLang="en-US"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endParaRPr>
          </a:p>
        </p:txBody>
      </p:sp>
      <p:sp>
        <p:nvSpPr>
          <p:cNvPr id="3" name="文本框 2"/>
          <p:cNvSpPr txBox="1"/>
          <p:nvPr/>
        </p:nvSpPr>
        <p:spPr>
          <a:xfrm>
            <a:off x="2854960" y="2925445"/>
            <a:ext cx="6096000" cy="415498"/>
          </a:xfrm>
          <a:prstGeom prst="rect">
            <a:avLst/>
          </a:prstGeom>
          <a:noFill/>
        </p:spPr>
        <p:txBody>
          <a:bodyPr wrap="square" rtlCol="0" anchor="t">
            <a:spAutoFit/>
          </a:bodyPr>
          <a:lstStyle/>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p>
        </p:txBody>
      </p:sp>
      <p:sp>
        <p:nvSpPr>
          <p:cNvPr id="4" name="文本框 3"/>
          <p:cNvSpPr txBox="1"/>
          <p:nvPr/>
        </p:nvSpPr>
        <p:spPr>
          <a:xfrm>
            <a:off x="1990750" y="1845618"/>
            <a:ext cx="7943750" cy="3357329"/>
          </a:xfrm>
          <a:prstGeom prst="rect">
            <a:avLst/>
          </a:prstGeom>
          <a:noFill/>
        </p:spPr>
        <p:txBody>
          <a:bodyPr wrap="square">
            <a:spAutoFit/>
          </a:bodyPr>
          <a:lstStyle/>
          <a:p>
            <a:pPr algn="just">
              <a:lnSpc>
                <a:spcPct val="150000"/>
              </a:lnSpc>
            </a:pPr>
            <a:r>
              <a:rPr lang="zh-CN" altLang="en-US" dirty="0"/>
              <a:t>我们将学习</a:t>
            </a:r>
            <a:r>
              <a:rPr lang="en-US" altLang="zh-CN" dirty="0" err="1"/>
              <a:t>arkui</a:t>
            </a:r>
            <a:r>
              <a:rPr lang="zh-CN" altLang="en-US" dirty="0"/>
              <a:t>框架</a:t>
            </a:r>
            <a:r>
              <a:rPr lang="en-US" altLang="zh-CN" dirty="0"/>
              <a:t>router</a:t>
            </a:r>
            <a:r>
              <a:rPr lang="zh-CN" altLang="en-US" dirty="0"/>
              <a:t>页面跳转和传值的方法。本章从定义路由、配置路由、跳转页面以及传递参数等方面进行详细讲解，以帮助读者轻松掌握使用该框架进行页面导航的技巧和方法。在后续的内容中，本章进一步介绍</a:t>
            </a:r>
            <a:r>
              <a:rPr lang="en-US" altLang="zh-CN" dirty="0"/>
              <a:t>Navigation</a:t>
            </a:r>
            <a:r>
              <a:rPr lang="zh-CN" altLang="en-US" dirty="0"/>
              <a:t>页面导航的重要性，并讲解使用</a:t>
            </a:r>
            <a:r>
              <a:rPr lang="en-US" altLang="zh-CN" dirty="0" err="1"/>
              <a:t>arkui</a:t>
            </a:r>
            <a:r>
              <a:rPr lang="zh-CN" altLang="en-US" dirty="0"/>
              <a:t>框架实现导航栏的定义、配置和操作按钮的添加等功能。</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3133" y="169023"/>
            <a:ext cx="6616667"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页面路由</a:t>
            </a:r>
          </a:p>
        </p:txBody>
      </p:sp>
      <p:grpSp>
        <p:nvGrpSpPr>
          <p:cNvPr id="12" name="组合 11"/>
          <p:cNvGrpSpPr/>
          <p:nvPr/>
        </p:nvGrpSpPr>
        <p:grpSpPr>
          <a:xfrm>
            <a:off x="487981" y="1057699"/>
            <a:ext cx="11131623" cy="982149"/>
            <a:chOff x="361418" y="710838"/>
            <a:chExt cx="16713201" cy="379190"/>
          </a:xfrm>
        </p:grpSpPr>
        <p:sp>
          <p:nvSpPr>
            <p:cNvPr id="6" name="文本框 5"/>
            <p:cNvSpPr txBox="1"/>
            <p:nvPr/>
          </p:nvSpPr>
          <p:spPr>
            <a:xfrm>
              <a:off x="512119" y="769606"/>
              <a:ext cx="16141757" cy="187794"/>
            </a:xfrm>
            <a:prstGeom prst="rect">
              <a:avLst/>
            </a:prstGeom>
            <a:noFill/>
          </p:spPr>
          <p:txBody>
            <a:bodyPr wrap="square">
              <a:spAutoFit/>
            </a:bodyPr>
            <a:lstStyle/>
            <a:p>
              <a:pPr>
                <a:lnSpc>
                  <a:spcPct val="120000"/>
                </a:lnSpc>
              </a:pP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页面内跳转，直接使用</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ArkAPI</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提供的页面路由模块</a:t>
              </a:r>
              <a:r>
                <a:rPr lang="en-US" altLang="zh-CN"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router </a:t>
              </a:r>
              <a:r>
                <a:rPr lang="zh-CN" altLang="en-US" sz="2135" kern="100">
                  <a:solidFill>
                    <a:srgbClr val="000000"/>
                  </a:solidFill>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，使用时需要先导入。</a:t>
              </a:r>
              <a:endParaRPr lang="en-US" altLang="zh-CN" sz="2135" kern="100">
                <a:solidFill>
                  <a:srgbClr val="00000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endParaRPr>
            </a:p>
          </p:txBody>
        </p:sp>
        <p:sp>
          <p:nvSpPr>
            <p:cNvPr id="2" name="圆角矩形 55"/>
            <p:cNvSpPr/>
            <p:nvPr>
              <p:custDataLst>
                <p:tags r:id="rId1"/>
              </p:custDataLst>
            </p:nvPr>
          </p:nvSpPr>
          <p:spPr>
            <a:xfrm>
              <a:off x="361418" y="710838"/>
              <a:ext cx="16713201" cy="37919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grpSp>
      <p:grpSp>
        <p:nvGrpSpPr>
          <p:cNvPr id="4" name="组合 3"/>
          <p:cNvGrpSpPr/>
          <p:nvPr/>
        </p:nvGrpSpPr>
        <p:grpSpPr>
          <a:xfrm>
            <a:off x="421597" y="2115640"/>
            <a:ext cx="11131622" cy="1140167"/>
            <a:chOff x="543424" y="1288567"/>
            <a:chExt cx="8350021" cy="855259"/>
          </a:xfrm>
        </p:grpSpPr>
        <p:sp>
          <p:nvSpPr>
            <p:cNvPr id="5" name="文本框 4"/>
            <p:cNvSpPr txBox="1"/>
            <p:nvPr/>
          </p:nvSpPr>
          <p:spPr>
            <a:xfrm>
              <a:off x="766018" y="1699712"/>
              <a:ext cx="7871841" cy="363912"/>
            </a:xfrm>
            <a:prstGeom prst="rect">
              <a:avLst/>
            </a:prstGeom>
            <a:noFill/>
          </p:spPr>
          <p:txBody>
            <a:bodyPr wrap="square" lIns="91397" tIns="45699" rIns="91397" bIns="45699" rtlCol="0">
              <a:spAutoFit/>
            </a:bodyPr>
            <a:lstStyle/>
            <a:p>
              <a:pPr lvl="0">
                <a:lnSpc>
                  <a:spcPct val="120000"/>
                </a:lnSpc>
              </a:pPr>
              <a:r>
                <a:rPr lang="en-US" altLang="zh-CN" sz="2135" b="1"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import </a:t>
              </a:r>
              <a:r>
                <a:rPr lang="en-US" altLang="zh-CN" sz="2135" kern="100">
                  <a:solidFill>
                    <a:srgbClr val="11408E"/>
                  </a:solidFill>
                  <a:effectLst/>
                  <a:latin typeface="思源黑体" panose="020B0400000000000000" pitchFamily="34" charset="-122"/>
                  <a:ea typeface="思源黑体" panose="020B0400000000000000" pitchFamily="34" charset="-122"/>
                  <a:sym typeface="思源黑体" panose="020B0400000000000000" pitchFamily="34" charset="-122"/>
                </a:rPr>
                <a:t>router </a:t>
              </a:r>
              <a:r>
                <a:rPr lang="en-US" altLang="zh-CN" sz="2135" b="1"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from </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'@ohos.router'</a:t>
              </a:r>
              <a:endParaRPr lang="zh-CN" altLang="zh-CN" sz="2135" u="sng" kern="100">
                <a:solidFill>
                  <a:srgbClr val="000000"/>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9" name="组合 8"/>
            <p:cNvGrpSpPr/>
            <p:nvPr/>
          </p:nvGrpSpPr>
          <p:grpSpPr>
            <a:xfrm>
              <a:off x="543424" y="1288567"/>
              <a:ext cx="8350021" cy="855259"/>
              <a:chOff x="729196" y="1690471"/>
              <a:chExt cx="8350021" cy="855259"/>
            </a:xfrm>
          </p:grpSpPr>
          <p:sp>
            <p:nvSpPr>
              <p:cNvPr id="10" name="圆角矩形 3"/>
              <p:cNvSpPr/>
              <p:nvPr/>
            </p:nvSpPr>
            <p:spPr>
              <a:xfrm>
                <a:off x="927182" y="1731753"/>
                <a:ext cx="1925485"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1" name="圆角矩形 54"/>
              <p:cNvSpPr/>
              <p:nvPr/>
            </p:nvSpPr>
            <p:spPr>
              <a:xfrm>
                <a:off x="729196" y="1905347"/>
                <a:ext cx="8350021" cy="64038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3" name="Text2"/>
              <p:cNvSpPr txBox="1"/>
              <p:nvPr/>
            </p:nvSpPr>
            <p:spPr>
              <a:xfrm>
                <a:off x="974509" y="1690471"/>
                <a:ext cx="2343824" cy="357181"/>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导入</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4" name="组合 13"/>
          <p:cNvGrpSpPr/>
          <p:nvPr/>
        </p:nvGrpSpPr>
        <p:grpSpPr>
          <a:xfrm>
            <a:off x="268735" y="3628837"/>
            <a:ext cx="11260938" cy="3168695"/>
            <a:chOff x="446422" y="1276618"/>
            <a:chExt cx="8447023" cy="2376893"/>
          </a:xfrm>
        </p:grpSpPr>
        <p:sp>
          <p:nvSpPr>
            <p:cNvPr id="15" name="文本框 14"/>
            <p:cNvSpPr txBox="1"/>
            <p:nvPr/>
          </p:nvSpPr>
          <p:spPr>
            <a:xfrm>
              <a:off x="446422" y="1808230"/>
              <a:ext cx="7871841" cy="1845281"/>
            </a:xfrm>
            <a:prstGeom prst="rect">
              <a:avLst/>
            </a:prstGeom>
            <a:noFill/>
          </p:spPr>
          <p:txBody>
            <a:bodyPr wrap="square" lIns="91397" tIns="45699" rIns="91397" bIns="45699" rtlCol="0">
              <a:spAutoFit/>
            </a:bodyPr>
            <a:lstStyle/>
            <a:p>
              <a:pPr marL="408940" marR="63500">
                <a:lnSpc>
                  <a:spcPct val="120000"/>
                </a:lnSpc>
                <a:spcBef>
                  <a:spcPct val="0"/>
                </a:spcBef>
                <a:spcAft>
                  <a:spcPct val="0"/>
                </a:spcAft>
                <a:tabLst>
                  <a:tab pos="180340" algn="l"/>
                  <a:tab pos="408940" algn="l"/>
                </a:tabLst>
              </a:pP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interface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RouterOptions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目标页面的路径，该路径必须在</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pages</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下配置，否则不起作用</a:t>
              </a: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url</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可选参数，向目标页面传递参数</a:t>
              </a: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params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Object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a:lnSpc>
                  <a:spcPct val="120000"/>
                </a:lnSpc>
                <a:spcBef>
                  <a:spcPct val="0"/>
                </a:spcBef>
                <a:spcAft>
                  <a:spcPct val="0"/>
                </a:spcAft>
              </a:pPr>
              <a:r>
                <a:rPr lang="en-US" altLang="zh-CN" sz="2135" kern="100">
                  <a:solidFill>
                    <a:srgbClr val="859801"/>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  </a:t>
              </a:r>
              <a:r>
                <a:rPr lang="en-US" altLang="zh-CN" sz="2135" kern="100">
                  <a:solidFill>
                    <a:srgbClr val="E986CD"/>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t>
              </a:r>
              <a:endParaRPr lang="zh-CN" altLang="zh-CN" sz="2135" u="sng" kern="100">
                <a:solidFill>
                  <a:srgbClr val="000000"/>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6" name="组合 15"/>
            <p:cNvGrpSpPr/>
            <p:nvPr/>
          </p:nvGrpSpPr>
          <p:grpSpPr>
            <a:xfrm>
              <a:off x="543424" y="1276618"/>
              <a:ext cx="8350021" cy="2296416"/>
              <a:chOff x="729196" y="1678522"/>
              <a:chExt cx="8350021" cy="2296416"/>
            </a:xfrm>
          </p:grpSpPr>
          <p:sp>
            <p:nvSpPr>
              <p:cNvPr id="17" name="圆角矩形 3"/>
              <p:cNvSpPr/>
              <p:nvPr/>
            </p:nvSpPr>
            <p:spPr>
              <a:xfrm>
                <a:off x="927182" y="1731753"/>
                <a:ext cx="2343824"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8" name="圆角矩形 54"/>
              <p:cNvSpPr/>
              <p:nvPr/>
            </p:nvSpPr>
            <p:spPr>
              <a:xfrm>
                <a:off x="729196" y="1905347"/>
                <a:ext cx="8350021" cy="2069591"/>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9" name="Text2"/>
              <p:cNvSpPr txBox="1"/>
              <p:nvPr/>
            </p:nvSpPr>
            <p:spPr>
              <a:xfrm>
                <a:off x="908155" y="1678522"/>
                <a:ext cx="2343824" cy="357181"/>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页面跳转的信息</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2"/>
                                        </p:tgtEl>
                                        <p:attrNameLst>
                                          <p:attrName>style.visibility</p:attrName>
                                        </p:attrNameLst>
                                      </p:cBhvr>
                                      <p:to>
                                        <p:strVal val="visible"/>
                                      </p:to>
                                    </p:set>
                                    <p:animEffect transition="in" filter="wedge">
                                      <p:cBhvr>
                                        <p:cTn id="11" dur="10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4"/>
                                        </p:tgtEl>
                                        <p:attrNameLst>
                                          <p:attrName>style.visibility</p:attrName>
                                        </p:attrNameLst>
                                      </p:cBhvr>
                                      <p:to>
                                        <p:strVal val="visible"/>
                                      </p:to>
                                    </p:set>
                                    <p:animEffect transition="in" filter="wedg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14"/>
                                        </p:tgtEl>
                                        <p:attrNameLst>
                                          <p:attrName>style.visibility</p:attrName>
                                        </p:attrNameLst>
                                      </p:cBhvr>
                                      <p:to>
                                        <p:strVal val="visible"/>
                                      </p:to>
                                    </p:set>
                                    <p:animEffect transition="in" filter="wedge">
                                      <p:cBhvr>
                                        <p:cTn id="2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3133" y="169023"/>
            <a:ext cx="6616667"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页面路由</a:t>
            </a:r>
          </a:p>
        </p:txBody>
      </p:sp>
      <p:grpSp>
        <p:nvGrpSpPr>
          <p:cNvPr id="14" name="组合 13"/>
          <p:cNvGrpSpPr/>
          <p:nvPr/>
        </p:nvGrpSpPr>
        <p:grpSpPr>
          <a:xfrm>
            <a:off x="339746" y="1218666"/>
            <a:ext cx="11767504" cy="5185263"/>
            <a:chOff x="446422" y="1270874"/>
            <a:chExt cx="8827007" cy="3889555"/>
          </a:xfrm>
        </p:grpSpPr>
        <p:sp>
          <p:nvSpPr>
            <p:cNvPr id="15" name="文本框 14"/>
            <p:cNvSpPr txBox="1"/>
            <p:nvPr/>
          </p:nvSpPr>
          <p:spPr>
            <a:xfrm>
              <a:off x="446422" y="1808230"/>
              <a:ext cx="7871841" cy="3326650"/>
            </a:xfrm>
            <a:prstGeom prst="rect">
              <a:avLst/>
            </a:prstGeom>
            <a:noFill/>
          </p:spPr>
          <p:txBody>
            <a:bodyPr wrap="square" lIns="91397" tIns="45699" rIns="91397" bIns="45699" rtlCol="0">
              <a:spAutoFit/>
            </a:bodyPr>
            <a:lstStyle/>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跳转到应用内的指定页面</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异常响应结果为</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Promise</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异步方式</a:t>
              </a: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function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pushUrl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options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RouterOptions</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Promise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用应用内的某个页面替换当前页面，并销毁被替换的页面</a:t>
              </a: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function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replaceUrl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options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RouterOptions</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Promise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&lt;</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返回上一页面或指定的页面</a:t>
              </a: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function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back</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options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RouterOptions</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清空页面栈中的所有历史页面，仅保留当前页面作为栈顶页面</a:t>
              </a: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function </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clear</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0008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void</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获取发起跳转的页面往当前页传入的参数</a:t>
              </a:r>
            </a:p>
            <a:p>
              <a:pPr>
                <a:lnSpc>
                  <a:spcPct val="120000"/>
                </a:lnSpc>
                <a:spcBef>
                  <a:spcPct val="0"/>
                </a:spcBef>
                <a:spcAft>
                  <a:spcPct val="0"/>
                </a:spcAft>
              </a:pP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            </a:t>
              </a:r>
              <a:r>
                <a:rPr lang="en-US" altLang="zh-CN" sz="2135" b="1" kern="100">
                  <a:solidFill>
                    <a:srgbClr val="859801"/>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function </a:t>
              </a:r>
              <a:r>
                <a:rPr lang="en-US" altLang="zh-CN" sz="2135" kern="100">
                  <a:solidFill>
                    <a:srgbClr val="00A99E"/>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getParams</a:t>
              </a:r>
              <a:r>
                <a:rPr lang="en-US" altLang="zh-CN" sz="2135" kern="100">
                  <a:solidFill>
                    <a:srgbClr val="6C71C4"/>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t>
              </a:r>
              <a:r>
                <a:rPr lang="en-US" altLang="zh-CN" sz="2135" kern="100">
                  <a:solidFill>
                    <a:srgbClr val="859801"/>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 </a:t>
              </a:r>
              <a:r>
                <a:rPr lang="en-US" altLang="zh-CN" sz="2135" kern="100">
                  <a:solidFill>
                    <a:srgbClr val="000080"/>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Object</a:t>
              </a:r>
              <a:r>
                <a:rPr lang="en-US" altLang="zh-CN" sz="2135" kern="100">
                  <a:solidFill>
                    <a:srgbClr val="859801"/>
                  </a:solidFill>
                  <a:effectLst/>
                  <a:latin typeface="思源黑体" panose="020B0400000000000000" pitchFamily="34" charset="-122"/>
                  <a:ea typeface="思源黑体" panose="020B0400000000000000" pitchFamily="34" charset="-122"/>
                  <a:cs typeface="Times New Roman" panose="02020603050405020304" pitchFamily="18" charset="0"/>
                  <a:sym typeface="思源黑体" panose="020B0400000000000000" pitchFamily="34" charset="-122"/>
                </a:rPr>
                <a:t>;</a:t>
              </a:r>
            </a:p>
            <a:p>
              <a:pPr>
                <a:lnSpc>
                  <a:spcPct val="120000"/>
                </a:lnSpc>
                <a:spcBef>
                  <a:spcPct val="0"/>
                </a:spcBef>
                <a:spcAft>
                  <a:spcPct val="0"/>
                </a:spcAft>
              </a:pP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zh-CN" altLang="en-US"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其他函数略</a:t>
              </a:r>
              <a:endParaRPr lang="zh-CN" altLang="zh-CN" sz="2135" u="sng" kern="100">
                <a:solidFill>
                  <a:srgbClr val="000000"/>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nvGrpSpPr>
            <p:cNvPr id="16" name="组合 15"/>
            <p:cNvGrpSpPr/>
            <p:nvPr/>
          </p:nvGrpSpPr>
          <p:grpSpPr>
            <a:xfrm>
              <a:off x="543424" y="1270874"/>
              <a:ext cx="8730005" cy="3889555"/>
              <a:chOff x="729196" y="1672778"/>
              <a:chExt cx="8730005" cy="3889555"/>
            </a:xfrm>
          </p:grpSpPr>
          <p:sp>
            <p:nvSpPr>
              <p:cNvPr id="17" name="圆角矩形 3"/>
              <p:cNvSpPr/>
              <p:nvPr/>
            </p:nvSpPr>
            <p:spPr>
              <a:xfrm>
                <a:off x="927182" y="1731753"/>
                <a:ext cx="3178132"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8" name="圆角矩形 54"/>
              <p:cNvSpPr/>
              <p:nvPr/>
            </p:nvSpPr>
            <p:spPr>
              <a:xfrm>
                <a:off x="729196" y="1905347"/>
                <a:ext cx="8730005" cy="365698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9" name="Text2"/>
              <p:cNvSpPr txBox="1"/>
              <p:nvPr/>
            </p:nvSpPr>
            <p:spPr>
              <a:xfrm>
                <a:off x="927182" y="1672778"/>
                <a:ext cx="3509182" cy="410412"/>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常用的页面跳转的函数</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4"/>
                                        </p:tgtEl>
                                        <p:attrNameLst>
                                          <p:attrName>style.visibility</p:attrName>
                                        </p:attrNameLst>
                                      </p:cBhvr>
                                      <p:to>
                                        <p:strVal val="visible"/>
                                      </p:to>
                                    </p:set>
                                    <p:animEffect transition="in" filter="wedge">
                                      <p:cBhvr>
                                        <p:cTn id="1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3133" y="169023"/>
            <a:ext cx="6616667" cy="788035"/>
          </a:xfrm>
          <a:prstGeom prst="rect">
            <a:avLst/>
          </a:prstGeom>
        </p:spPr>
        <p:txBody>
          <a:bodyPr wrap="square" lIns="0" tIns="0" rIns="0" bIns="0">
            <a:sp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页面跳转并传递参数</a:t>
            </a:r>
          </a:p>
        </p:txBody>
      </p:sp>
      <p:pic>
        <p:nvPicPr>
          <p:cNvPr id="7" name="图片 6" descr="537278f7a07fdbada666bdacf26f64b1"/>
          <p:cNvPicPr>
            <a:picLocks noChangeAspect="1"/>
          </p:cNvPicPr>
          <p:nvPr>
            <p:custDataLst>
              <p:tags r:id="rId1"/>
            </p:custDataLst>
          </p:nvPr>
        </p:nvPicPr>
        <p:blipFill>
          <a:blip r:embed="rId4"/>
          <a:stretch>
            <a:fillRect/>
          </a:stretch>
        </p:blipFill>
        <p:spPr>
          <a:xfrm>
            <a:off x="8846271" y="2500820"/>
            <a:ext cx="8202555" cy="5655661"/>
          </a:xfrm>
          <a:prstGeom prst="rect">
            <a:avLst/>
          </a:prstGeom>
        </p:spPr>
      </p:pic>
      <p:grpSp>
        <p:nvGrpSpPr>
          <p:cNvPr id="14" name="组合 13"/>
          <p:cNvGrpSpPr/>
          <p:nvPr/>
        </p:nvGrpSpPr>
        <p:grpSpPr>
          <a:xfrm>
            <a:off x="469061" y="1060555"/>
            <a:ext cx="10915381" cy="3611202"/>
            <a:chOff x="446422" y="1270874"/>
            <a:chExt cx="8187815" cy="2708825"/>
          </a:xfrm>
        </p:grpSpPr>
        <p:sp>
          <p:nvSpPr>
            <p:cNvPr id="15" name="文本框 14"/>
            <p:cNvSpPr txBox="1"/>
            <p:nvPr/>
          </p:nvSpPr>
          <p:spPr>
            <a:xfrm>
              <a:off x="446422" y="1808230"/>
              <a:ext cx="7871841" cy="2141555"/>
            </a:xfrm>
            <a:prstGeom prst="rect">
              <a:avLst/>
            </a:prstGeom>
            <a:noFill/>
          </p:spPr>
          <p:txBody>
            <a:bodyPr wrap="square" lIns="91397" tIns="45699" rIns="91397" bIns="45699" rtlCol="0">
              <a:spAutoFit/>
            </a:bodyPr>
            <a:lstStyle/>
            <a:p>
              <a:pPr marL="408940" marR="63500">
                <a:lnSpc>
                  <a:spcPct val="120000"/>
                </a:lnSpc>
                <a:tabLst>
                  <a:tab pos="180340" algn="l"/>
                  <a:tab pos="408940" algn="l"/>
                </a:tabLst>
              </a:pP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router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pushUrl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url</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"pages/DestPage"</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目标页面</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params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传递参数</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key1</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'val1'</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参数</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key2</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653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'val2'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参数</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2</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16" name="组合 15"/>
            <p:cNvGrpSpPr/>
            <p:nvPr/>
          </p:nvGrpSpPr>
          <p:grpSpPr>
            <a:xfrm>
              <a:off x="543424" y="1270874"/>
              <a:ext cx="8090813" cy="2708825"/>
              <a:chOff x="729196" y="1672778"/>
              <a:chExt cx="8090813" cy="2708825"/>
            </a:xfrm>
          </p:grpSpPr>
          <p:sp>
            <p:nvSpPr>
              <p:cNvPr id="17" name="圆角矩形 3"/>
              <p:cNvSpPr/>
              <p:nvPr/>
            </p:nvSpPr>
            <p:spPr>
              <a:xfrm>
                <a:off x="927182" y="1731753"/>
                <a:ext cx="3178132"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8" name="圆角矩形 54"/>
              <p:cNvSpPr/>
              <p:nvPr/>
            </p:nvSpPr>
            <p:spPr>
              <a:xfrm>
                <a:off x="729196" y="1905347"/>
                <a:ext cx="8090813" cy="2476256"/>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9" name="Text2"/>
              <p:cNvSpPr txBox="1"/>
              <p:nvPr/>
            </p:nvSpPr>
            <p:spPr>
              <a:xfrm>
                <a:off x="927182" y="1672778"/>
                <a:ext cx="3509182" cy="410412"/>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跳转并传参</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2" name="组合 1"/>
          <p:cNvGrpSpPr/>
          <p:nvPr/>
        </p:nvGrpSpPr>
        <p:grpSpPr>
          <a:xfrm>
            <a:off x="339746" y="4657206"/>
            <a:ext cx="12689856" cy="1973454"/>
            <a:chOff x="446422" y="1270874"/>
            <a:chExt cx="9518879" cy="1480322"/>
          </a:xfrm>
        </p:grpSpPr>
        <p:sp>
          <p:nvSpPr>
            <p:cNvPr id="4" name="文本框 3"/>
            <p:cNvSpPr txBox="1"/>
            <p:nvPr/>
          </p:nvSpPr>
          <p:spPr>
            <a:xfrm>
              <a:off x="446422" y="1808231"/>
              <a:ext cx="9518879" cy="748306"/>
            </a:xfrm>
            <a:prstGeom prst="rect">
              <a:avLst/>
            </a:prstGeom>
            <a:noFill/>
          </p:spPr>
          <p:txBody>
            <a:bodyPr wrap="square" lIns="91397" tIns="45699" rIns="91397" bIns="45699" rtlCol="0">
              <a:spAutoFit/>
            </a:bodyPr>
            <a:lstStyle/>
            <a:p>
              <a:pPr marL="408940" marR="63500">
                <a:lnSpc>
                  <a:spcPts val="1100"/>
                </a:lnSpc>
                <a:spcBef>
                  <a:spcPts val="600"/>
                </a:spcBef>
                <a:spcAft>
                  <a:spcPts val="600"/>
                </a:spcAft>
                <a:tabLst>
                  <a:tab pos="180340" algn="l"/>
                  <a:tab pos="408940" algn="l"/>
                </a:tabLst>
              </a:pPr>
              <a:r>
                <a:rPr lang="en-US" altLang="zh-CN" sz="1865">
                  <a:solidFill>
                    <a:srgbClr val="808000"/>
                  </a:solidFill>
                  <a:effectLst/>
                  <a:latin typeface="Consolas" panose="020B0609020204030204" pitchFamily="49" charset="0"/>
                  <a:ea typeface="宋体" panose="02010600030101010101" pitchFamily="2" charset="-122"/>
                  <a:cs typeface="宋体" panose="02010600030101010101" pitchFamily="2" charset="-122"/>
                </a:rPr>
                <a:t>@State </a:t>
              </a:r>
              <a:r>
                <a:rPr lang="en-US" altLang="zh-CN" sz="1865">
                  <a:solidFill>
                    <a:srgbClr val="11408E"/>
                  </a:solidFill>
                  <a:effectLst/>
                  <a:latin typeface="Consolas" panose="020B0609020204030204" pitchFamily="49" charset="0"/>
                  <a:ea typeface="宋体" panose="02010600030101010101" pitchFamily="2" charset="-122"/>
                  <a:cs typeface="宋体" panose="02010600030101010101" pitchFamily="2" charset="-122"/>
                </a:rPr>
                <a:t>val1</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string </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65">
                  <a:solidFill>
                    <a:srgbClr val="11408E"/>
                  </a:solidFill>
                  <a:effectLst/>
                  <a:latin typeface="Consolas" panose="020B0609020204030204" pitchFamily="49" charset="0"/>
                  <a:ea typeface="宋体" panose="02010600030101010101" pitchFamily="2" charset="-122"/>
                  <a:cs typeface="宋体" panose="02010600030101010101" pitchFamily="2" charset="-122"/>
                </a:rPr>
                <a:t>router</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65">
                  <a:solidFill>
                    <a:srgbClr val="00A99E"/>
                  </a:solidFill>
                  <a:effectLst/>
                  <a:latin typeface="Consolas" panose="020B0609020204030204" pitchFamily="49" charset="0"/>
                  <a:ea typeface="宋体" panose="02010600030101010101" pitchFamily="2" charset="-122"/>
                  <a:cs typeface="宋体" panose="02010600030101010101" pitchFamily="2" charset="-122"/>
                </a:rPr>
                <a:t>getParams</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b="1">
                  <a:solidFill>
                    <a:srgbClr val="859801"/>
                  </a:solidFill>
                  <a:effectLst/>
                  <a:latin typeface="Consolas" panose="020B0609020204030204" pitchFamily="49" charset="0"/>
                  <a:ea typeface="宋体" panose="02010600030101010101" pitchFamily="2" charset="-122"/>
                  <a:cs typeface="宋体" panose="02010600030101010101" pitchFamily="2" charset="-122"/>
                </a:rPr>
                <a:t>as </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Record</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string</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string</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&gt;</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65">
                  <a:solidFill>
                    <a:srgbClr val="653170"/>
                  </a:solidFill>
                  <a:effectLst/>
                  <a:latin typeface="Consolas" panose="020B0609020204030204" pitchFamily="49" charset="0"/>
                  <a:ea typeface="宋体" panose="02010600030101010101" pitchFamily="2" charset="-122"/>
                  <a:cs typeface="宋体" panose="02010600030101010101" pitchFamily="2" charset="-122"/>
                </a:rPr>
                <a:t>"key1"</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ts val="1100"/>
                </a:lnSpc>
                <a:spcBef>
                  <a:spcPts val="600"/>
                </a:spcBef>
                <a:spcAft>
                  <a:spcPts val="600"/>
                </a:spcAft>
                <a:tabLst>
                  <a:tab pos="180340" algn="l"/>
                  <a:tab pos="408940" algn="l"/>
                </a:tabLst>
              </a:pPr>
              <a:r>
                <a:rPr lang="en-US" altLang="zh-CN" sz="1865">
                  <a:solidFill>
                    <a:srgbClr val="808000"/>
                  </a:solidFill>
                  <a:effectLst/>
                  <a:latin typeface="Consolas" panose="020B0609020204030204" pitchFamily="49" charset="0"/>
                  <a:ea typeface="宋体" panose="02010600030101010101" pitchFamily="2" charset="-122"/>
                  <a:cs typeface="宋体" panose="02010600030101010101" pitchFamily="2" charset="-122"/>
                </a:rPr>
                <a:t>@State </a:t>
              </a:r>
              <a:r>
                <a:rPr lang="en-US" altLang="zh-CN" sz="1865">
                  <a:solidFill>
                    <a:srgbClr val="11408E"/>
                  </a:solidFill>
                  <a:effectLst/>
                  <a:latin typeface="Consolas" panose="020B0609020204030204" pitchFamily="49" charset="0"/>
                  <a:ea typeface="宋体" panose="02010600030101010101" pitchFamily="2" charset="-122"/>
                  <a:cs typeface="宋体" panose="02010600030101010101" pitchFamily="2" charset="-122"/>
                </a:rPr>
                <a:t>val2</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string </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65">
                  <a:solidFill>
                    <a:srgbClr val="11408E"/>
                  </a:solidFill>
                  <a:effectLst/>
                  <a:latin typeface="Consolas" panose="020B0609020204030204" pitchFamily="49" charset="0"/>
                  <a:ea typeface="宋体" panose="02010600030101010101" pitchFamily="2" charset="-122"/>
                  <a:cs typeface="宋体" panose="02010600030101010101" pitchFamily="2" charset="-122"/>
                </a:rPr>
                <a:t>router</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65">
                  <a:solidFill>
                    <a:srgbClr val="00A99E"/>
                  </a:solidFill>
                  <a:effectLst/>
                  <a:latin typeface="Consolas" panose="020B0609020204030204" pitchFamily="49" charset="0"/>
                  <a:ea typeface="宋体" panose="02010600030101010101" pitchFamily="2" charset="-122"/>
                  <a:cs typeface="宋体" panose="02010600030101010101" pitchFamily="2" charset="-122"/>
                </a:rPr>
                <a:t>getParams</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b="1">
                  <a:solidFill>
                    <a:srgbClr val="859801"/>
                  </a:solidFill>
                  <a:effectLst/>
                  <a:latin typeface="Consolas" panose="020B0609020204030204" pitchFamily="49" charset="0"/>
                  <a:ea typeface="宋体" panose="02010600030101010101" pitchFamily="2" charset="-122"/>
                  <a:cs typeface="宋体" panose="02010600030101010101" pitchFamily="2" charset="-122"/>
                </a:rPr>
                <a:t>as </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Record</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string</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rPr>
                <a:t>string</a:t>
              </a:r>
              <a:r>
                <a:rPr lang="en-US" altLang="zh-CN" sz="1865">
                  <a:solidFill>
                    <a:srgbClr val="859801"/>
                  </a:solidFill>
                  <a:effectLst/>
                  <a:latin typeface="Consolas" panose="020B0609020204030204" pitchFamily="49" charset="0"/>
                  <a:ea typeface="宋体" panose="02010600030101010101" pitchFamily="2" charset="-122"/>
                  <a:cs typeface="宋体" panose="02010600030101010101" pitchFamily="2" charset="-122"/>
                </a:rPr>
                <a:t>&gt;</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65">
                  <a:solidFill>
                    <a:srgbClr val="653170"/>
                  </a:solidFill>
                  <a:effectLst/>
                  <a:latin typeface="Consolas" panose="020B0609020204030204" pitchFamily="49" charset="0"/>
                  <a:ea typeface="宋体" panose="02010600030101010101" pitchFamily="2" charset="-122"/>
                  <a:cs typeface="宋体" panose="02010600030101010101" pitchFamily="2" charset="-122"/>
                </a:rPr>
                <a:t>"key2"</a:t>
              </a:r>
              <a:r>
                <a:rPr lang="en-US" altLang="zh-CN" sz="1865">
                  <a:solidFill>
                    <a:srgbClr val="6C71C4"/>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65">
                <a:solidFill>
                  <a:srgbClr val="5C5C5C"/>
                </a:solidFill>
                <a:effectLst/>
                <a:latin typeface="Consolas" panose="020B0609020204030204" pitchFamily="49" charset="0"/>
                <a:ea typeface="宋体" panose="02010600030101010101" pitchFamily="2" charset="-122"/>
                <a:cs typeface="宋体" panose="02010600030101010101" pitchFamily="2" charset="-122"/>
              </a:endParaRPr>
            </a:p>
            <a:p>
              <a:pPr marL="408940" marR="63500">
                <a:lnSpc>
                  <a:spcPct val="120000"/>
                </a:lnSpc>
                <a:tabLst>
                  <a:tab pos="180340" algn="l"/>
                  <a:tab pos="408940" algn="l"/>
                </a:tabLst>
              </a:pP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5" name="组合 4"/>
            <p:cNvGrpSpPr/>
            <p:nvPr/>
          </p:nvGrpSpPr>
          <p:grpSpPr>
            <a:xfrm>
              <a:off x="543424" y="1270874"/>
              <a:ext cx="8090813" cy="1480322"/>
              <a:chOff x="729196" y="1672778"/>
              <a:chExt cx="8090813" cy="1480322"/>
            </a:xfrm>
          </p:grpSpPr>
          <p:sp>
            <p:nvSpPr>
              <p:cNvPr id="6" name="圆角矩形 3"/>
              <p:cNvSpPr/>
              <p:nvPr/>
            </p:nvSpPr>
            <p:spPr>
              <a:xfrm>
                <a:off x="927182" y="1731753"/>
                <a:ext cx="3178132"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 name="圆角矩形 54"/>
              <p:cNvSpPr/>
              <p:nvPr/>
            </p:nvSpPr>
            <p:spPr>
              <a:xfrm>
                <a:off x="729196" y="1905347"/>
                <a:ext cx="8090813" cy="1247753"/>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9" name="Text2"/>
              <p:cNvSpPr txBox="1"/>
              <p:nvPr/>
            </p:nvSpPr>
            <p:spPr>
              <a:xfrm>
                <a:off x="927182" y="1672778"/>
                <a:ext cx="3509182" cy="410412"/>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目标页面接收参数</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10" name="组合 9"/>
          <p:cNvGrpSpPr/>
          <p:nvPr/>
        </p:nvGrpSpPr>
        <p:grpSpPr>
          <a:xfrm>
            <a:off x="7569124" y="2906677"/>
            <a:ext cx="4144432" cy="1469589"/>
            <a:chOff x="5889479" y="3967836"/>
            <a:chExt cx="3108810" cy="1102364"/>
          </a:xfrm>
        </p:grpSpPr>
        <p:pic>
          <p:nvPicPr>
            <p:cNvPr id="11" name="图片 10"/>
            <p:cNvPicPr>
              <a:picLocks noChangeAspect="1"/>
            </p:cNvPicPr>
            <p:nvPr/>
          </p:nvPicPr>
          <p:blipFill>
            <a:blip r:embed="rId5"/>
            <a:stretch>
              <a:fillRect/>
            </a:stretch>
          </p:blipFill>
          <p:spPr>
            <a:xfrm>
              <a:off x="7713765" y="3967836"/>
              <a:ext cx="1284524" cy="1102364"/>
            </a:xfrm>
            <a:prstGeom prst="rect">
              <a:avLst/>
            </a:prstGeom>
          </p:spPr>
        </p:pic>
        <p:sp>
          <p:nvSpPr>
            <p:cNvPr id="12" name="ïsḷîde"/>
            <p:cNvSpPr/>
            <p:nvPr/>
          </p:nvSpPr>
          <p:spPr>
            <a:xfrm>
              <a:off x="5889479" y="4324007"/>
              <a:ext cx="1464477" cy="27092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3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par>
                                <p:cTn id="8" presetID="42"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anim calcmode="lin" valueType="num">
                                      <p:cBhvr>
                                        <p:cTn id="11" dur="1000" fill="hold"/>
                                        <p:tgtEl>
                                          <p:spTgt spid="7"/>
                                        </p:tgtEl>
                                        <p:attrNameLst>
                                          <p:attrName>ppt_x</p:attrName>
                                        </p:attrNameLst>
                                      </p:cBhvr>
                                      <p:tavLst>
                                        <p:tav tm="0">
                                          <p:val>
                                            <p:strVal val="#ppt_x"/>
                                          </p:val>
                                        </p:tav>
                                        <p:tav tm="100000">
                                          <p:val>
                                            <p:strVal val="#ppt_x"/>
                                          </p:val>
                                        </p:tav>
                                      </p:tavLst>
                                    </p:anim>
                                    <p:anim calcmode="lin" valueType="num">
                                      <p:cBhvr>
                                        <p:cTn id="12" dur="1000" fill="hold"/>
                                        <p:tgtEl>
                                          <p:spTgt spid="7"/>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20" presetClass="entr" presetSubtype="0" fill="hold" nodeType="afterEffect">
                                  <p:stCondLst>
                                    <p:cond delay="0"/>
                                  </p:stCondLst>
                                  <p:childTnLst>
                                    <p:set>
                                      <p:cBhvr>
                                        <p:cTn id="15" dur="1000" fill="hold">
                                          <p:stCondLst>
                                            <p:cond delay="0"/>
                                          </p:stCondLst>
                                        </p:cTn>
                                        <p:tgtEl>
                                          <p:spTgt spid="14"/>
                                        </p:tgtEl>
                                        <p:attrNameLst>
                                          <p:attrName>style.visibility</p:attrName>
                                        </p:attrNameLst>
                                      </p:cBhvr>
                                      <p:to>
                                        <p:strVal val="visible"/>
                                      </p:to>
                                    </p:set>
                                    <p:animEffect transition="in" filter="wedge">
                                      <p:cBhvr>
                                        <p:cTn id="16" dur="1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000" fill="hold">
                                          <p:stCondLst>
                                            <p:cond delay="0"/>
                                          </p:stCondLst>
                                        </p:cTn>
                                        <p:tgtEl>
                                          <p:spTgt spid="2"/>
                                        </p:tgtEl>
                                        <p:attrNameLst>
                                          <p:attrName>style.visibility</p:attrName>
                                        </p:attrNameLst>
                                      </p:cBhvr>
                                      <p:to>
                                        <p:strVal val="visible"/>
                                      </p:to>
                                    </p:set>
                                    <p:animEffect transition="in" filter="wedge">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nodeType="clickEffect">
                                  <p:stCondLst>
                                    <p:cond delay="0"/>
                                  </p:stCondLst>
                                  <p:childTnLst>
                                    <p:set>
                                      <p:cBhvr>
                                        <p:cTn id="25" dur="1000" fill="hold">
                                          <p:stCondLst>
                                            <p:cond delay="0"/>
                                          </p:stCondLst>
                                        </p:cTn>
                                        <p:tgtEl>
                                          <p:spTgt spid="10"/>
                                        </p:tgtEl>
                                        <p:attrNameLst>
                                          <p:attrName>style.visibility</p:attrName>
                                        </p:attrNameLst>
                                      </p:cBhvr>
                                      <p:to>
                                        <p:strVal val="visible"/>
                                      </p:to>
                                    </p:set>
                                    <p:animEffect transition="in" filter="wedge">
                                      <p:cBhvr>
                                        <p:cTn id="2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72150" y="2259179"/>
            <a:ext cx="1343790" cy="1247944"/>
            <a:chOff x="5328140" y="1203598"/>
            <a:chExt cx="1008000" cy="936104"/>
          </a:xfrm>
        </p:grpSpPr>
        <p:sp>
          <p:nvSpPr>
            <p:cNvPr id="11" name="椭圆 10"/>
            <p:cNvSpPr/>
            <p:nvPr/>
          </p:nvSpPr>
          <p:spPr>
            <a:xfrm>
              <a:off x="5364088" y="1203598"/>
              <a:ext cx="936104" cy="936104"/>
            </a:xfrm>
            <a:prstGeom prst="ellipse">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dirty="0">
                <a:latin typeface="思源黑体" panose="020B0400000000000000" pitchFamily="34" charset="-122"/>
                <a:ea typeface="思源黑体" panose="020B0400000000000000" pitchFamily="34" charset="-122"/>
                <a:cs typeface="Bebas" charset="0"/>
                <a:sym typeface="思源黑体" panose="020B0400000000000000" pitchFamily="34" charset="-122"/>
              </a:endParaRPr>
            </a:p>
          </p:txBody>
        </p:sp>
        <p:sp>
          <p:nvSpPr>
            <p:cNvPr id="13" name="文本框 12"/>
            <p:cNvSpPr txBox="1"/>
            <p:nvPr/>
          </p:nvSpPr>
          <p:spPr>
            <a:xfrm>
              <a:off x="5328140" y="1203702"/>
              <a:ext cx="1008000" cy="936000"/>
            </a:xfrm>
            <a:prstGeom prst="rect">
              <a:avLst/>
            </a:prstGeom>
            <a:noFill/>
          </p:spPr>
          <p:txBody>
            <a:bodyPr wrap="square" lIns="86683" tIns="43341" rIns="86683" bIns="43341" rtlCol="0">
              <a:noAutofit/>
            </a:bodyPr>
            <a:lstStyle/>
            <a:p>
              <a:pPr algn="ctr">
                <a:lnSpc>
                  <a:spcPct val="120000"/>
                </a:lnSpc>
              </a:pPr>
              <a:r>
                <a:rPr lang="en-US" altLang="zh-CN" sz="5865" b="1">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02</a:t>
              </a:r>
              <a:endParaRPr lang="en-US" altLang="zh-CN" sz="5865" b="1" dirty="0">
                <a:solidFill>
                  <a:schemeClr val="bg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endParaRPr>
            </a:p>
          </p:txBody>
        </p:sp>
      </p:grpSp>
      <p:sp>
        <p:nvSpPr>
          <p:cNvPr id="21" name="矩形 20"/>
          <p:cNvSpPr/>
          <p:nvPr/>
        </p:nvSpPr>
        <p:spPr>
          <a:xfrm>
            <a:off x="6962705" y="3737364"/>
            <a:ext cx="4439886" cy="640080"/>
          </a:xfrm>
          <a:prstGeom prst="rect">
            <a:avLst/>
          </a:prstGeom>
        </p:spPr>
        <p:txBody>
          <a:bodyPr wrap="square" lIns="0" tIns="0" rIns="0" bIns="0">
            <a:spAutoFit/>
          </a:bodyPr>
          <a:lstStyle/>
          <a:p>
            <a:pPr algn="ctr">
              <a:lnSpc>
                <a:spcPct val="120000"/>
              </a:lnSpc>
            </a:pPr>
            <a:r>
              <a:rPr lang="en-US" altLang="zh-CN"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setInterval()</a:t>
            </a:r>
            <a:r>
              <a:rPr lang="zh-CN" altLang="en-US" sz="3465">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函数</a:t>
            </a:r>
          </a:p>
        </p:txBody>
      </p:sp>
      <p:pic>
        <p:nvPicPr>
          <p:cNvPr id="2" name="图片 1" descr="6cbd895e3f1f9f150d2b104f3375e1e6"/>
          <p:cNvPicPr>
            <a:picLocks noChangeAspect="1"/>
          </p:cNvPicPr>
          <p:nvPr/>
        </p:nvPicPr>
        <p:blipFill>
          <a:blip r:embed="rId3"/>
          <a:stretch>
            <a:fillRect/>
          </a:stretch>
        </p:blipFill>
        <p:spPr>
          <a:xfrm>
            <a:off x="0" y="1399646"/>
            <a:ext cx="6534399" cy="4365578"/>
          </a:xfrm>
          <a:prstGeom prst="rect">
            <a:avLst/>
          </a:prstGeom>
        </p:spPr>
      </p:pic>
      <p:sp>
        <p:nvSpPr>
          <p:cNvPr id="3" name="矩形 2"/>
          <p:cNvSpPr/>
          <p:nvPr/>
        </p:nvSpPr>
        <p:spPr>
          <a:xfrm>
            <a:off x="888200" y="192488"/>
            <a:ext cx="6231695" cy="901559"/>
          </a:xfrm>
          <a:prstGeom prst="rect">
            <a:avLst/>
          </a:prstGeom>
        </p:spPr>
        <p:txBody>
          <a:bodyPr wrap="square" lIns="0" tIns="0" rIns="0" bIns="0">
            <a:noAutofit/>
          </a:bodyPr>
          <a:lstStyle/>
          <a:p>
            <a:pPr>
              <a:lnSpc>
                <a:spcPct val="120000"/>
              </a:lnSpc>
            </a:pP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知识储备</a:t>
            </a:r>
            <a:endParaRPr lang="zh-CN" altLang="en-US" sz="4265" b="1" dirty="0">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endParaRPr>
          </a:p>
        </p:txBody>
      </p:sp>
    </p:spTree>
  </p:cSld>
  <p:clrMapOvr>
    <a:masterClrMapping/>
  </p:clrMapOvr>
  <p:transition spd="slow">
    <p:random/>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setInterval()</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函数</a:t>
            </a:r>
          </a:p>
        </p:txBody>
      </p:sp>
      <p:grpSp>
        <p:nvGrpSpPr>
          <p:cNvPr id="14" name="组合 13"/>
          <p:cNvGrpSpPr/>
          <p:nvPr/>
        </p:nvGrpSpPr>
        <p:grpSpPr>
          <a:xfrm>
            <a:off x="530037" y="961079"/>
            <a:ext cx="11465806" cy="1823187"/>
            <a:chOff x="643018" y="1288567"/>
            <a:chExt cx="8600698" cy="1367604"/>
          </a:xfrm>
        </p:grpSpPr>
        <p:sp>
          <p:nvSpPr>
            <p:cNvPr id="15" name="文本框 14"/>
            <p:cNvSpPr txBox="1"/>
            <p:nvPr/>
          </p:nvSpPr>
          <p:spPr>
            <a:xfrm>
              <a:off x="766017" y="1699712"/>
              <a:ext cx="8477699" cy="956459"/>
            </a:xfrm>
            <a:prstGeom prst="rect">
              <a:avLst/>
            </a:prstGeom>
            <a:noFill/>
          </p:spPr>
          <p:txBody>
            <a:bodyPr wrap="square" lIns="91397" tIns="45699" rIns="91397" bIns="45699" rtlCol="0">
              <a:spAutoFit/>
            </a:bodyPr>
            <a:lstStyle/>
            <a:p>
              <a:pPr lvl="0">
                <a:lnSpc>
                  <a:spcPct val="120000"/>
                </a:lnSpc>
              </a:pPr>
              <a:r>
                <a:rPr lang="en-US" altLang="zh-CN"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ArkTS API</a:t>
              </a:r>
              <a:r>
                <a:rPr lang="zh-CN" altLang="en-US"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中的</a:t>
              </a:r>
              <a:r>
                <a:rPr lang="en-US" altLang="zh-CN"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Timer</a:t>
              </a:r>
              <a:r>
                <a:rPr lang="zh-CN" altLang="en-US"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定时器模块提供基础的定时器能力，支持按照指定的时间执行对应函数。</a:t>
              </a:r>
            </a:p>
            <a:p>
              <a:pPr lvl="0">
                <a:lnSpc>
                  <a:spcPct val="120000"/>
                </a:lnSpc>
              </a:pPr>
              <a:r>
                <a:rPr lang="en-US" altLang="zh-CN"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Timer</a:t>
              </a:r>
              <a:r>
                <a:rPr lang="zh-CN" altLang="en-US"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模块中的</a:t>
              </a:r>
              <a:r>
                <a:rPr lang="en-US" altLang="zh-CN"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setInterval</a:t>
              </a:r>
              <a:r>
                <a:rPr lang="zh-CN" altLang="en-US" sz="2135" kern="100">
                  <a:solidFill>
                    <a:srgbClr val="000000"/>
                  </a:solidFill>
                  <a:effectLst/>
                  <a:latin typeface="思源黑体" panose="020B0400000000000000" pitchFamily="34" charset="-122"/>
                  <a:ea typeface="思源黑体" panose="020B0400000000000000" pitchFamily="34" charset="-122"/>
                  <a:sym typeface="思源黑体" panose="020B0400000000000000" pitchFamily="34" charset="-122"/>
                </a:rPr>
                <a:t>函数用于重复调用一个函数，在每次调用之间具有固定的时间延迟。</a:t>
              </a:r>
            </a:p>
          </p:txBody>
        </p:sp>
        <p:grpSp>
          <p:nvGrpSpPr>
            <p:cNvPr id="16" name="组合 15"/>
            <p:cNvGrpSpPr/>
            <p:nvPr/>
          </p:nvGrpSpPr>
          <p:grpSpPr>
            <a:xfrm>
              <a:off x="643018" y="1288567"/>
              <a:ext cx="8509341" cy="1250205"/>
              <a:chOff x="828790" y="1690471"/>
              <a:chExt cx="8509341" cy="1250205"/>
            </a:xfrm>
          </p:grpSpPr>
          <p:sp>
            <p:nvSpPr>
              <p:cNvPr id="17" name="圆角矩形 3"/>
              <p:cNvSpPr/>
              <p:nvPr/>
            </p:nvSpPr>
            <p:spPr>
              <a:xfrm>
                <a:off x="927182" y="1731753"/>
                <a:ext cx="1925485"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8" name="圆角矩形 54"/>
              <p:cNvSpPr/>
              <p:nvPr/>
            </p:nvSpPr>
            <p:spPr>
              <a:xfrm>
                <a:off x="828790" y="1905348"/>
                <a:ext cx="8509341" cy="1035328"/>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9" name="Text2"/>
              <p:cNvSpPr txBox="1"/>
              <p:nvPr/>
            </p:nvSpPr>
            <p:spPr>
              <a:xfrm>
                <a:off x="974509" y="1690471"/>
                <a:ext cx="2343824" cy="357181"/>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定时器模块</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grpSp>
        <p:nvGrpSpPr>
          <p:cNvPr id="7" name="组合 6"/>
          <p:cNvGrpSpPr/>
          <p:nvPr/>
        </p:nvGrpSpPr>
        <p:grpSpPr>
          <a:xfrm>
            <a:off x="339839" y="2779649"/>
            <a:ext cx="11656004" cy="2716277"/>
            <a:chOff x="335181" y="2588910"/>
            <a:chExt cx="8743369" cy="2037526"/>
          </a:xfrm>
        </p:grpSpPr>
        <p:grpSp>
          <p:nvGrpSpPr>
            <p:cNvPr id="20" name="组合 19"/>
            <p:cNvGrpSpPr/>
            <p:nvPr/>
          </p:nvGrpSpPr>
          <p:grpSpPr>
            <a:xfrm>
              <a:off x="397591" y="2588910"/>
              <a:ext cx="8509341" cy="2003044"/>
              <a:chOff x="643018" y="1247285"/>
              <a:chExt cx="8509341" cy="2003044"/>
            </a:xfrm>
          </p:grpSpPr>
          <p:sp>
            <p:nvSpPr>
              <p:cNvPr id="21" name="文本框 20"/>
              <p:cNvSpPr txBox="1"/>
              <p:nvPr/>
            </p:nvSpPr>
            <p:spPr>
              <a:xfrm>
                <a:off x="741410" y="1788055"/>
                <a:ext cx="4112531" cy="363912"/>
              </a:xfrm>
              <a:prstGeom prst="rect">
                <a:avLst/>
              </a:prstGeom>
              <a:noFill/>
            </p:spPr>
            <p:txBody>
              <a:bodyPr wrap="square" lIns="91397" tIns="45699" rIns="91397" bIns="45699" rtlCol="0">
                <a:spAutoFit/>
              </a:bodyPr>
              <a:lstStyle/>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22" name="组合 21"/>
              <p:cNvGrpSpPr/>
              <p:nvPr/>
            </p:nvGrpSpPr>
            <p:grpSpPr>
              <a:xfrm>
                <a:off x="643018" y="1247285"/>
                <a:ext cx="8509341" cy="2003044"/>
                <a:chOff x="828790" y="1649189"/>
                <a:chExt cx="8509341" cy="2003044"/>
              </a:xfrm>
            </p:grpSpPr>
            <p:sp>
              <p:nvSpPr>
                <p:cNvPr id="23" name="圆角矩形 3"/>
                <p:cNvSpPr/>
                <p:nvPr/>
              </p:nvSpPr>
              <p:spPr>
                <a:xfrm>
                  <a:off x="927182" y="1690471"/>
                  <a:ext cx="1925484"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4" name="圆角矩形 54"/>
                <p:cNvSpPr/>
                <p:nvPr/>
              </p:nvSpPr>
              <p:spPr>
                <a:xfrm>
                  <a:off x="828790" y="1905346"/>
                  <a:ext cx="8509341" cy="1746887"/>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5" name="Text2"/>
                <p:cNvSpPr txBox="1"/>
                <p:nvPr/>
              </p:nvSpPr>
              <p:spPr>
                <a:xfrm>
                  <a:off x="974545" y="1649189"/>
                  <a:ext cx="2916058" cy="398684"/>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en-US" altLang="zh-CN" sz="28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setInterval()</a:t>
                  </a:r>
                </a:p>
              </p:txBody>
            </p:sp>
          </p:grpSp>
        </p:grpSp>
        <p:sp>
          <p:nvSpPr>
            <p:cNvPr id="5" name="文本框 4"/>
            <p:cNvSpPr txBox="1"/>
            <p:nvPr/>
          </p:nvSpPr>
          <p:spPr>
            <a:xfrm>
              <a:off x="335181" y="3076476"/>
              <a:ext cx="8743369" cy="1549960"/>
            </a:xfrm>
            <a:prstGeom prst="rect">
              <a:avLst/>
            </a:prstGeom>
            <a:noFill/>
          </p:spPr>
          <p:txBody>
            <a:bodyPr wrap="square">
              <a:spAutoFit/>
            </a:bodyPr>
            <a:lstStyle/>
            <a:p>
              <a:pPr marL="408940" marR="63500">
                <a:lnSpc>
                  <a:spcPct val="120000"/>
                </a:lnSpc>
                <a:spcBef>
                  <a:spcPct val="0"/>
                </a:spcBef>
                <a:spcAft>
                  <a:spcPct val="0"/>
                </a:spcAft>
                <a:tabLst>
                  <a:tab pos="180340" algn="l"/>
                  <a:tab pos="408940" algn="l"/>
                </a:tabLst>
              </a:pP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setInterval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DE7C27"/>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handler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Function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string</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要重复调用的函数</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DE7C27"/>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delay</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number</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延迟的毫秒数（一秒等于</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1000</a:t>
              </a:r>
              <a:r>
                <a:rPr lang="zh-CN" altLang="zh-CN" sz="2135">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毫秒），函数的调用会在该延迟之后发生</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DE7C27"/>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arguments</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080808"/>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any</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附加参数，一旦定时器到期，他们会作为参数传递给</a:t>
              </a:r>
              <a:r>
                <a:rPr lang="en-US"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handler</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a:lnSpc>
                  <a:spcPct val="120000"/>
                </a:lnSpc>
                <a:spcBef>
                  <a:spcPct val="0"/>
                </a:spcBef>
                <a:spcAft>
                  <a:spcPct val="0"/>
                </a:spcAft>
              </a:pPr>
              <a:r>
                <a:rPr lang="en-US" altLang="zh-CN" sz="2135"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 </a:t>
              </a:r>
              <a:r>
                <a:rPr lang="en-US" altLang="zh-CN" sz="2135" kern="100">
                  <a:solidFill>
                    <a:srgbClr val="11408E"/>
                  </a:solidFill>
                  <a:effectLst/>
                  <a:latin typeface="思源黑体" panose="020B0400000000000000" pitchFamily="34" charset="-122"/>
                  <a:ea typeface="思源黑体" panose="020B0400000000000000" pitchFamily="34" charset="-122"/>
                  <a:sym typeface="思源黑体" panose="020B0400000000000000" pitchFamily="34" charset="-122"/>
                </a:rPr>
                <a:t>number </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a:t>
              </a:r>
              <a:r>
                <a:rPr lang="zh-CN" altLang="zh-CN" sz="2135" kern="100">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函数的返回值为</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intervalID</a:t>
              </a:r>
              <a:r>
                <a:rPr lang="zh-CN" altLang="zh-CN" sz="2135" kern="100">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，重复定时器的</a:t>
              </a:r>
              <a:r>
                <a:rPr lang="en-US" altLang="zh-CN" sz="2135" kern="100">
                  <a:effectLst/>
                  <a:latin typeface="思源黑体" panose="020B0400000000000000" pitchFamily="34" charset="-122"/>
                  <a:ea typeface="思源黑体" panose="020B0400000000000000" pitchFamily="34" charset="-122"/>
                  <a:sym typeface="思源黑体" panose="020B0400000000000000" pitchFamily="34" charset="-122"/>
                </a:rPr>
                <a:t>ID</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14"/>
                                        </p:tgtEl>
                                        <p:attrNameLst>
                                          <p:attrName>style.visibility</p:attrName>
                                        </p:attrNameLst>
                                      </p:cBhvr>
                                      <p:to>
                                        <p:strVal val="visible"/>
                                      </p:to>
                                    </p:set>
                                    <p:animEffect transition="in" filter="wedge">
                                      <p:cBhvr>
                                        <p:cTn id="11" dur="1000"/>
                                        <p:tgtEl>
                                          <p:spTgt spid="14"/>
                                        </p:tgtEl>
                                      </p:cBhvr>
                                    </p:animEffect>
                                  </p:childTnLst>
                                </p:cTn>
                              </p:par>
                            </p:childTnLst>
                          </p:cTn>
                        </p:par>
                        <p:par>
                          <p:cTn id="12" fill="hold">
                            <p:stCondLst>
                              <p:cond delay="2000"/>
                            </p:stCondLst>
                            <p:childTnLst>
                              <p:par>
                                <p:cTn id="13" presetID="20" presetClass="entr" presetSubtype="0" fill="hold" nodeType="afterEffect">
                                  <p:stCondLst>
                                    <p:cond delay="0"/>
                                  </p:stCondLst>
                                  <p:childTnLst>
                                    <p:set>
                                      <p:cBhvr>
                                        <p:cTn id="14" dur="1000" fill="hold">
                                          <p:stCondLst>
                                            <p:cond delay="0"/>
                                          </p:stCondLst>
                                        </p:cTn>
                                        <p:tgtEl>
                                          <p:spTgt spid="7"/>
                                        </p:tgtEl>
                                        <p:attrNameLst>
                                          <p:attrName>style.visibility</p:attrName>
                                        </p:attrNameLst>
                                      </p:cBhvr>
                                      <p:to>
                                        <p:strVal val="visible"/>
                                      </p:to>
                                    </p:set>
                                    <p:animEffect transition="in" filter="wedge">
                                      <p:cBhvr>
                                        <p:cTn id="1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4485" y="169023"/>
            <a:ext cx="6685314" cy="788035"/>
          </a:xfrm>
          <a:prstGeom prst="rect">
            <a:avLst/>
          </a:prstGeom>
        </p:spPr>
        <p:txBody>
          <a:bodyPr wrap="square" lIns="0" tIns="0" rIns="0" bIns="0">
            <a:spAutoFit/>
          </a:bodyPr>
          <a:lstStyle/>
          <a:p>
            <a:pPr>
              <a:lnSpc>
                <a:spcPct val="120000"/>
              </a:lnSpc>
            </a:pPr>
            <a:r>
              <a:rPr lang="en-US" altLang="zh-CN"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setInterval()</a:t>
            </a:r>
            <a:r>
              <a:rPr lang="zh-CN" altLang="en-US" sz="4265" b="1">
                <a:solidFill>
                  <a:srgbClr val="566CD3"/>
                </a:solidFill>
                <a:latin typeface="思源黑体" panose="020B0400000000000000" pitchFamily="34" charset="-122"/>
                <a:ea typeface="思源黑体" panose="020B0400000000000000" pitchFamily="34" charset="-122"/>
                <a:cs typeface="思源黑体 Bold" panose="020B0800000000000000" charset="-122"/>
                <a:sym typeface="思源黑体" panose="020B0400000000000000" pitchFamily="34" charset="-122"/>
              </a:rPr>
              <a:t>函数</a:t>
            </a:r>
          </a:p>
        </p:txBody>
      </p:sp>
      <p:grpSp>
        <p:nvGrpSpPr>
          <p:cNvPr id="7" name="组合 6"/>
          <p:cNvGrpSpPr/>
          <p:nvPr/>
        </p:nvGrpSpPr>
        <p:grpSpPr>
          <a:xfrm>
            <a:off x="476539" y="1823350"/>
            <a:ext cx="10941873" cy="3578317"/>
            <a:chOff x="397592" y="2588910"/>
            <a:chExt cx="8207687" cy="2684157"/>
          </a:xfrm>
        </p:grpSpPr>
        <p:grpSp>
          <p:nvGrpSpPr>
            <p:cNvPr id="20" name="组合 19"/>
            <p:cNvGrpSpPr/>
            <p:nvPr/>
          </p:nvGrpSpPr>
          <p:grpSpPr>
            <a:xfrm>
              <a:off x="397592" y="2588910"/>
              <a:ext cx="4724903" cy="2684157"/>
              <a:chOff x="643019" y="1247285"/>
              <a:chExt cx="4724903" cy="2684157"/>
            </a:xfrm>
          </p:grpSpPr>
          <p:sp>
            <p:nvSpPr>
              <p:cNvPr id="21" name="文本框 20"/>
              <p:cNvSpPr txBox="1"/>
              <p:nvPr/>
            </p:nvSpPr>
            <p:spPr>
              <a:xfrm>
                <a:off x="741410" y="1788055"/>
                <a:ext cx="4112531" cy="363912"/>
              </a:xfrm>
              <a:prstGeom prst="rect">
                <a:avLst/>
              </a:prstGeom>
              <a:noFill/>
            </p:spPr>
            <p:txBody>
              <a:bodyPr wrap="square" lIns="91397" tIns="45699" rIns="91397" bIns="45699" rtlCol="0">
                <a:spAutoFit/>
              </a:bodyPr>
              <a:lstStyle/>
              <a:p>
                <a:pPr lvl="0">
                  <a:lnSpc>
                    <a:spcPct val="120000"/>
                  </a:lnSpc>
                </a:pPr>
                <a:endParaRPr lang="zh-CN" altLang="zh-CN" sz="2135">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nvGrpSpPr>
              <p:cNvPr id="22" name="组合 21"/>
              <p:cNvGrpSpPr/>
              <p:nvPr/>
            </p:nvGrpSpPr>
            <p:grpSpPr>
              <a:xfrm>
                <a:off x="643019" y="1247285"/>
                <a:ext cx="4724903" cy="2684157"/>
                <a:chOff x="828791" y="1649189"/>
                <a:chExt cx="4724903" cy="2684157"/>
              </a:xfrm>
            </p:grpSpPr>
            <p:sp>
              <p:nvSpPr>
                <p:cNvPr id="23" name="圆角矩形 3"/>
                <p:cNvSpPr/>
                <p:nvPr/>
              </p:nvSpPr>
              <p:spPr>
                <a:xfrm>
                  <a:off x="927182" y="1690471"/>
                  <a:ext cx="1925484" cy="357181"/>
                </a:xfrm>
                <a:prstGeom prst="roundRect">
                  <a:avLst>
                    <a:gd name="adj" fmla="val 50000"/>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4" name="圆角矩形 54"/>
                <p:cNvSpPr/>
                <p:nvPr/>
              </p:nvSpPr>
              <p:spPr>
                <a:xfrm>
                  <a:off x="828791" y="1905346"/>
                  <a:ext cx="4724903" cy="2428000"/>
                </a:xfrm>
                <a:prstGeom prst="roundRect">
                  <a:avLst>
                    <a:gd name="adj" fmla="val 7188"/>
                  </a:avLst>
                </a:prstGeom>
                <a:noFill/>
                <a:ln>
                  <a:solidFill>
                    <a:srgbClr val="566C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25" name="Text2"/>
                <p:cNvSpPr txBox="1"/>
                <p:nvPr/>
              </p:nvSpPr>
              <p:spPr>
                <a:xfrm>
                  <a:off x="974509" y="1649189"/>
                  <a:ext cx="1878157" cy="398463"/>
                </a:xfrm>
                <a:prstGeom prst="rect">
                  <a:avLst/>
                </a:prstGeom>
                <a:noFill/>
              </p:spPr>
              <p:txBody>
                <a:bodyPr wrap="square"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0000"/>
                    </a:lnSpc>
                  </a:pPr>
                  <a:r>
                    <a:rPr lang="zh-CN" altLang="en-US"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rPr>
                    <a:t>示例</a:t>
                  </a:r>
                  <a:endParaRPr lang="en-US" altLang="zh-CN" sz="3200" b="1">
                    <a:solidFill>
                      <a:schemeClr val="bg1"/>
                    </a:solidFill>
                    <a:latin typeface="思源黑体" panose="020B0400000000000000" pitchFamily="34" charset="-122"/>
                    <a:ea typeface="思源黑体" panose="020B0400000000000000" pitchFamily="34" charset="-122"/>
                    <a:cs typeface="思源黑体 CN Heavy" panose="020B0A00000000000000" charset="-122"/>
                    <a:sym typeface="思源黑体" panose="020B0400000000000000" pitchFamily="34" charset="-122"/>
                  </a:endParaRPr>
                </a:p>
              </p:txBody>
            </p:sp>
          </p:grpSp>
        </p:grpSp>
        <p:sp>
          <p:nvSpPr>
            <p:cNvPr id="5" name="文本框 4"/>
            <p:cNvSpPr txBox="1"/>
            <p:nvPr/>
          </p:nvSpPr>
          <p:spPr>
            <a:xfrm>
              <a:off x="477852" y="3109011"/>
              <a:ext cx="8127427" cy="1846233"/>
            </a:xfrm>
            <a:prstGeom prst="rect">
              <a:avLst/>
            </a:prstGeom>
            <a:noFill/>
          </p:spPr>
          <p:txBody>
            <a:bodyPr wrap="square">
              <a:spAutoFit/>
            </a:bodyPr>
            <a:lstStyle/>
            <a:p>
              <a:pPr marL="408940" marR="63500">
                <a:lnSpc>
                  <a:spcPct val="120000"/>
                </a:lnSpc>
                <a:spcBef>
                  <a:spcPct val="0"/>
                </a:spcBef>
                <a:spcAft>
                  <a:spcPct val="0"/>
                </a:spcAft>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每隔</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秒执行一次定时任务</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b="1">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let </a:t>
              </a:r>
              <a:r>
                <a:rPr lang="en-US" altLang="zh-CN" sz="2135">
                  <a:solidFill>
                    <a:srgbClr val="11408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intervalID </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00A99E"/>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setInterval</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=&gt;</a:t>
              </a: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业务代码</a:t>
              </a:r>
              <a:r>
                <a:rPr lang="zh-CN"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 </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a:solidFill>
                    <a:srgbClr val="E986CD"/>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859801"/>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en-US" altLang="zh-CN" sz="2135">
                  <a:solidFill>
                    <a:srgbClr val="FF9170"/>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1000</a:t>
              </a:r>
              <a:r>
                <a:rPr lang="en-US" altLang="zh-CN" sz="2135">
                  <a:solidFill>
                    <a:srgbClr val="6C71C4"/>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marL="408940" marR="63500">
                <a:lnSpc>
                  <a:spcPct val="120000"/>
                </a:lnSpc>
                <a:spcBef>
                  <a:spcPct val="0"/>
                </a:spcBef>
                <a:spcAft>
                  <a:spcPct val="0"/>
                </a:spcAft>
                <a:tabLst>
                  <a:tab pos="180340" algn="l"/>
                  <a:tab pos="408940" algn="l"/>
                </a:tabLst>
              </a:pPr>
              <a:r>
                <a:rPr lang="en-US" altLang="zh-CN" sz="2135" i="1">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rPr>
                <a:t>//</a:t>
              </a:r>
              <a:r>
                <a:rPr lang="zh-CN" altLang="zh-CN" sz="2135" i="1">
                  <a:solidFill>
                    <a:srgbClr val="5C5C5C"/>
                  </a:solidFill>
                  <a:effectLst/>
                  <a:latin typeface="思源黑体" panose="020B0400000000000000" pitchFamily="34" charset="-122"/>
                  <a:ea typeface="思源黑体" panose="020B0400000000000000" pitchFamily="34" charset="-122"/>
                  <a:cs typeface="Courier New" panose="02070309020205020404" pitchFamily="49" charset="0"/>
                  <a:sym typeface="思源黑体" panose="020B0400000000000000" pitchFamily="34" charset="-122"/>
                </a:rPr>
                <a:t>停止任务</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a:p>
              <a:pPr>
                <a:lnSpc>
                  <a:spcPct val="120000"/>
                </a:lnSpc>
                <a:spcBef>
                  <a:spcPct val="0"/>
                </a:spcBef>
                <a:spcAft>
                  <a:spcPct val="0"/>
                </a:spcAft>
              </a:pPr>
              <a:r>
                <a:rPr lang="en-US" altLang="zh-CN" sz="2135" kern="100">
                  <a:solidFill>
                    <a:srgbClr val="00A99E"/>
                  </a:solidFill>
                  <a:effectLst/>
                  <a:latin typeface="思源黑体" panose="020B0400000000000000" pitchFamily="34" charset="-122"/>
                  <a:ea typeface="思源黑体" panose="020B0400000000000000" pitchFamily="34" charset="-122"/>
                  <a:sym typeface="思源黑体" panose="020B0400000000000000" pitchFamily="34" charset="-122"/>
                </a:rPr>
                <a:t>        clearInterval</a:t>
              </a:r>
              <a:r>
                <a:rPr lang="en-US" altLang="zh-CN" sz="2135" kern="100">
                  <a:solidFill>
                    <a:srgbClr val="6C71C4"/>
                  </a:solidFill>
                  <a:effectLst/>
                  <a:latin typeface="思源黑体" panose="020B0400000000000000" pitchFamily="34" charset="-122"/>
                  <a:ea typeface="思源黑体" panose="020B0400000000000000" pitchFamily="34" charset="-122"/>
                  <a:sym typeface="思源黑体" panose="020B0400000000000000" pitchFamily="34" charset="-122"/>
                </a:rPr>
                <a:t>(</a:t>
              </a:r>
              <a:r>
                <a:rPr lang="en-US" altLang="zh-CN" sz="2135" b="1"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this</a:t>
              </a:r>
              <a:r>
                <a:rPr lang="en-US" altLang="zh-CN" sz="2135" kern="100">
                  <a:solidFill>
                    <a:srgbClr val="859801"/>
                  </a:solidFill>
                  <a:effectLst/>
                  <a:latin typeface="思源黑体" panose="020B0400000000000000" pitchFamily="34" charset="-122"/>
                  <a:ea typeface="思源黑体" panose="020B0400000000000000" pitchFamily="34" charset="-122"/>
                  <a:sym typeface="思源黑体" panose="020B0400000000000000" pitchFamily="34" charset="-122"/>
                </a:rPr>
                <a:t>.</a:t>
              </a:r>
              <a:r>
                <a:rPr lang="en-US" altLang="zh-CN" sz="2135" kern="100">
                  <a:solidFill>
                    <a:srgbClr val="11408E"/>
                  </a:solidFill>
                  <a:effectLst/>
                  <a:latin typeface="思源黑体" panose="020B0400000000000000" pitchFamily="34" charset="-122"/>
                  <a:ea typeface="思源黑体" panose="020B0400000000000000" pitchFamily="34" charset="-122"/>
                  <a:sym typeface="思源黑体" panose="020B0400000000000000" pitchFamily="34" charset="-122"/>
                </a:rPr>
                <a:t>intervalID</a:t>
              </a:r>
              <a:r>
                <a:rPr lang="en-US" altLang="zh-CN" sz="2135" kern="100">
                  <a:solidFill>
                    <a:srgbClr val="6C71C4"/>
                  </a:solidFill>
                  <a:effectLst/>
                  <a:latin typeface="思源黑体" panose="020B0400000000000000" pitchFamily="34" charset="-122"/>
                  <a:ea typeface="思源黑体" panose="020B0400000000000000" pitchFamily="34" charset="-122"/>
                  <a:sym typeface="思源黑体" panose="020B0400000000000000" pitchFamily="34" charset="-122"/>
                </a:rPr>
                <a:t>)</a:t>
              </a:r>
              <a:endParaRPr lang="zh-CN" altLang="zh-CN" sz="2135">
                <a:solidFill>
                  <a:srgbClr val="5C5C5C"/>
                </a:solidFill>
                <a:effectLst/>
                <a:latin typeface="思源黑体" panose="020B0400000000000000" pitchFamily="34" charset="-122"/>
                <a:ea typeface="思源黑体" panose="020B0400000000000000" pitchFamily="34" charset="-122"/>
                <a:cs typeface="宋体" panose="02010600030101010101" pitchFamily="2" charset="-122"/>
                <a:sym typeface="思源黑体" panose="020B0400000000000000" pitchFamily="34" charset="-122"/>
              </a:endParaRPr>
            </a:p>
          </p:txBody>
        </p:sp>
      </p:grpSp>
      <p:grpSp>
        <p:nvGrpSpPr>
          <p:cNvPr id="8" name="组合 7"/>
          <p:cNvGrpSpPr/>
          <p:nvPr/>
        </p:nvGrpSpPr>
        <p:grpSpPr>
          <a:xfrm>
            <a:off x="7569124" y="2906677"/>
            <a:ext cx="4144432" cy="1469589"/>
            <a:chOff x="5889479" y="3967836"/>
            <a:chExt cx="3108810" cy="1102364"/>
          </a:xfrm>
        </p:grpSpPr>
        <p:pic>
          <p:nvPicPr>
            <p:cNvPr id="4" name="图片 3"/>
            <p:cNvPicPr>
              <a:picLocks noChangeAspect="1"/>
            </p:cNvPicPr>
            <p:nvPr/>
          </p:nvPicPr>
          <p:blipFill>
            <a:blip r:embed="rId3"/>
            <a:stretch>
              <a:fillRect/>
            </a:stretch>
          </p:blipFill>
          <p:spPr>
            <a:xfrm>
              <a:off x="7713765" y="3967836"/>
              <a:ext cx="1284524" cy="1102364"/>
            </a:xfrm>
            <a:prstGeom prst="rect">
              <a:avLst/>
            </a:prstGeom>
          </p:spPr>
        </p:pic>
        <p:sp>
          <p:nvSpPr>
            <p:cNvPr id="6" name="ïsḷîde"/>
            <p:cNvSpPr/>
            <p:nvPr/>
          </p:nvSpPr>
          <p:spPr>
            <a:xfrm>
              <a:off x="5889479" y="4324007"/>
              <a:ext cx="1464477" cy="270925"/>
            </a:xfrm>
            <a:prstGeom prst="frame">
              <a:avLst>
                <a:gd name="adj1"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1900" tIns="60950" rIns="121900" bIns="60950" anchor="ctr">
              <a:normAutofit fontScale="32500" lnSpcReduction="20000"/>
            </a:bodyPr>
            <a:lstStyle/>
            <a:p>
              <a:pPr algn="ctr">
                <a:lnSpc>
                  <a:spcPct val="140000"/>
                </a:lnSpc>
                <a:spcBef>
                  <a:spcPct val="0"/>
                </a:spcBef>
              </a:pPr>
              <a:r>
                <a:rPr lang="zh-CN" altLang="en-US" sz="3200" b="1">
                  <a:solidFill>
                    <a:schemeClr val="tx1"/>
                  </a:solidFill>
                  <a:latin typeface="思源黑体" panose="020B0400000000000000" pitchFamily="34" charset="-122"/>
                  <a:ea typeface="思源黑体" panose="020B0400000000000000" pitchFamily="34" charset="-122"/>
                  <a:cs typeface="思源黑体 Regular" panose="020B0500000000000000" charset="-122"/>
                  <a:sym typeface="思源黑体" panose="020B0400000000000000" pitchFamily="34" charset="-122"/>
                </a:rPr>
                <a:t>代码演示</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edge">
                                      <p:cBhvr>
                                        <p:cTn id="7" dur="1000"/>
                                        <p:tgtEl>
                                          <p:spTgt spid="3"/>
                                        </p:tgtEl>
                                      </p:cBhvr>
                                    </p:animEffect>
                                  </p:childTnLst>
                                </p:cTn>
                              </p:par>
                            </p:childTnLst>
                          </p:cTn>
                        </p:par>
                        <p:par>
                          <p:cTn id="8" fill="hold">
                            <p:stCondLst>
                              <p:cond delay="1000"/>
                            </p:stCondLst>
                            <p:childTnLst>
                              <p:par>
                                <p:cTn id="9" presetID="20" presetClass="entr" presetSubtype="0" fill="hold" nodeType="afterEffect">
                                  <p:stCondLst>
                                    <p:cond delay="0"/>
                                  </p:stCondLst>
                                  <p:childTnLst>
                                    <p:set>
                                      <p:cBhvr>
                                        <p:cTn id="10" dur="1000" fill="hold">
                                          <p:stCondLst>
                                            <p:cond delay="0"/>
                                          </p:stCondLst>
                                        </p:cTn>
                                        <p:tgtEl>
                                          <p:spTgt spid="7"/>
                                        </p:tgtEl>
                                        <p:attrNameLst>
                                          <p:attrName>style.visibility</p:attrName>
                                        </p:attrNameLst>
                                      </p:cBhvr>
                                      <p:to>
                                        <p:strVal val="visible"/>
                                      </p:to>
                                    </p:set>
                                    <p:animEffect transition="in" filter="wedge">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000" fill="hold">
                                          <p:stCondLst>
                                            <p:cond delay="0"/>
                                          </p:stCondLst>
                                        </p:cTn>
                                        <p:tgtEl>
                                          <p:spTgt spid="8"/>
                                        </p:tgtEl>
                                        <p:attrNameLst>
                                          <p:attrName>style.visibility</p:attrName>
                                        </p:attrNameLst>
                                      </p:cBhvr>
                                      <p:to>
                                        <p:strVal val="visible"/>
                                      </p:to>
                                    </p:set>
                                    <p:animEffect transition="in" filter="wedg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p>
        </p:txBody>
      </p:sp>
      <p:sp>
        <p:nvSpPr>
          <p:cNvPr id="5" name="文本框 4"/>
          <p:cNvSpPr txBox="1"/>
          <p:nvPr/>
        </p:nvSpPr>
        <p:spPr>
          <a:xfrm>
            <a:off x="838622" y="952014"/>
            <a:ext cx="10945216" cy="1569660"/>
          </a:xfrm>
          <a:prstGeom prst="rect">
            <a:avLst/>
          </a:prstGeom>
          <a:noFill/>
        </p:spPr>
        <p:txBody>
          <a:bodyPr wrap="square">
            <a:spAutoFit/>
          </a:bodyPr>
          <a:lstStyle/>
          <a:p>
            <a:r>
              <a:rPr lang="zh-CN" altLang="en-US" dirty="0"/>
              <a:t>在应用程序开发中，页面跳转可以被分为两种类型：页面内跳转和页面间跳转。页面内跳转指的是在同一</a:t>
            </a:r>
            <a:r>
              <a:rPr lang="en-US" altLang="zh-CN" dirty="0"/>
              <a:t>Ability</a:t>
            </a:r>
            <a:r>
              <a:rPr lang="zh-CN" altLang="en-US" dirty="0"/>
              <a:t>内部进行的页面跳转，可以通过使用</a:t>
            </a:r>
            <a:r>
              <a:rPr lang="en-US" altLang="zh-CN" dirty="0"/>
              <a:t>Router</a:t>
            </a:r>
            <a:r>
              <a:rPr lang="zh-CN" altLang="en-US" dirty="0"/>
              <a:t>或</a:t>
            </a:r>
            <a:r>
              <a:rPr lang="en-US" altLang="zh-CN" dirty="0"/>
              <a:t>Navigator</a:t>
            </a:r>
            <a:r>
              <a:rPr lang="zh-CN" altLang="en-US" dirty="0"/>
              <a:t>来实现。而页面间跳转则是指所跳转的页面属于不同的</a:t>
            </a:r>
            <a:r>
              <a:rPr lang="en-US" altLang="zh-CN" dirty="0"/>
              <a:t>Ability,</a:t>
            </a:r>
            <a:r>
              <a:rPr lang="zh-CN" altLang="en-US" dirty="0"/>
              <a:t>这种跳转需要借助</a:t>
            </a:r>
            <a:r>
              <a:rPr lang="en-US" altLang="zh-CN" dirty="0" err="1"/>
              <a:t>startAbility</a:t>
            </a:r>
            <a:r>
              <a:rPr lang="zh-CN" altLang="en-US" dirty="0"/>
              <a:t>方法来实现。</a:t>
            </a:r>
          </a:p>
        </p:txBody>
      </p:sp>
      <p:pic>
        <p:nvPicPr>
          <p:cNvPr id="7" name="图片 6"/>
          <p:cNvPicPr>
            <a:picLocks noChangeAspect="1"/>
          </p:cNvPicPr>
          <p:nvPr/>
        </p:nvPicPr>
        <p:blipFill>
          <a:blip r:embed="rId3"/>
          <a:srcRect t="2890"/>
          <a:stretch>
            <a:fillRect/>
          </a:stretch>
        </p:blipFill>
        <p:spPr>
          <a:xfrm>
            <a:off x="2206774" y="2422614"/>
            <a:ext cx="7582958" cy="432019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p>
        </p:txBody>
      </p:sp>
      <p:pic>
        <p:nvPicPr>
          <p:cNvPr id="5" name="图片 4"/>
          <p:cNvPicPr>
            <a:picLocks noChangeAspect="1"/>
          </p:cNvPicPr>
          <p:nvPr/>
        </p:nvPicPr>
        <p:blipFill>
          <a:blip r:embed="rId3"/>
          <a:stretch>
            <a:fillRect/>
          </a:stretch>
        </p:blipFill>
        <p:spPr>
          <a:xfrm>
            <a:off x="1198002" y="1197504"/>
            <a:ext cx="3334215" cy="1524213"/>
          </a:xfrm>
          <a:prstGeom prst="rect">
            <a:avLst/>
          </a:prstGeom>
        </p:spPr>
      </p:pic>
      <p:pic>
        <p:nvPicPr>
          <p:cNvPr id="7" name="图片 6"/>
          <p:cNvPicPr>
            <a:picLocks noChangeAspect="1"/>
          </p:cNvPicPr>
          <p:nvPr/>
        </p:nvPicPr>
        <p:blipFill>
          <a:blip r:embed="rId4"/>
          <a:stretch>
            <a:fillRect/>
          </a:stretch>
        </p:blipFill>
        <p:spPr>
          <a:xfrm>
            <a:off x="406157" y="3069518"/>
            <a:ext cx="6163535" cy="2819794"/>
          </a:xfrm>
          <a:prstGeom prst="rect">
            <a:avLst/>
          </a:prstGeom>
        </p:spPr>
      </p:pic>
      <p:pic>
        <p:nvPicPr>
          <p:cNvPr id="9" name="图片 8"/>
          <p:cNvPicPr>
            <a:picLocks noChangeAspect="1"/>
          </p:cNvPicPr>
          <p:nvPr/>
        </p:nvPicPr>
        <p:blipFill>
          <a:blip r:embed="rId5"/>
          <a:stretch>
            <a:fillRect/>
          </a:stretch>
        </p:blipFill>
        <p:spPr>
          <a:xfrm>
            <a:off x="6959178" y="981904"/>
            <a:ext cx="4925112" cy="3762900"/>
          </a:xfrm>
          <a:prstGeom prst="rect">
            <a:avLst/>
          </a:prstGeom>
        </p:spPr>
      </p:pic>
      <p:pic>
        <p:nvPicPr>
          <p:cNvPr id="11" name="图片 10"/>
          <p:cNvPicPr>
            <a:picLocks noChangeAspect="1"/>
          </p:cNvPicPr>
          <p:nvPr/>
        </p:nvPicPr>
        <p:blipFill>
          <a:blip r:embed="rId6"/>
          <a:stretch>
            <a:fillRect/>
          </a:stretch>
        </p:blipFill>
        <p:spPr>
          <a:xfrm>
            <a:off x="6177262" y="4700384"/>
            <a:ext cx="6057143" cy="18380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p>
        </p:txBody>
      </p:sp>
      <p:sp>
        <p:nvSpPr>
          <p:cNvPr id="4" name="文本框 3"/>
          <p:cNvSpPr txBox="1"/>
          <p:nvPr/>
        </p:nvSpPr>
        <p:spPr>
          <a:xfrm>
            <a:off x="1247180" y="1485578"/>
            <a:ext cx="9793088" cy="4154984"/>
          </a:xfrm>
          <a:prstGeom prst="rect">
            <a:avLst/>
          </a:prstGeom>
          <a:noFill/>
        </p:spPr>
        <p:txBody>
          <a:bodyPr wrap="square">
            <a:spAutoFit/>
          </a:bodyPr>
          <a:lstStyle/>
          <a:p>
            <a:r>
              <a:rPr lang="en-US" altLang="zh-CN" dirty="0"/>
              <a:t>1 Router</a:t>
            </a:r>
            <a:r>
              <a:rPr lang="zh-CN" altLang="en-US" dirty="0"/>
              <a:t>定义介绍</a:t>
            </a:r>
          </a:p>
          <a:p>
            <a:pPr lvl="1"/>
            <a:r>
              <a:rPr lang="en-US" altLang="zh-CN" dirty="0" err="1"/>
              <a:t>pushUrl</a:t>
            </a:r>
            <a:r>
              <a:rPr lang="en-US" altLang="zh-CN" dirty="0"/>
              <a:t>:</a:t>
            </a:r>
            <a:r>
              <a:rPr lang="zh-CN" altLang="en-US" dirty="0"/>
              <a:t>跳转到应用内的指定页面，新页面在栈顶位置，页面路由栈支持的最大</a:t>
            </a:r>
            <a:r>
              <a:rPr lang="en-US" altLang="zh-CN" dirty="0"/>
              <a:t>Page</a:t>
            </a:r>
            <a:r>
              <a:rPr lang="zh-CN" altLang="en-US" dirty="0"/>
              <a:t>数量为</a:t>
            </a:r>
            <a:r>
              <a:rPr lang="en-US" altLang="zh-CN" dirty="0"/>
              <a:t>32</a:t>
            </a:r>
            <a:r>
              <a:rPr lang="zh-CN" altLang="en-US" dirty="0"/>
              <a:t>。</a:t>
            </a:r>
          </a:p>
          <a:p>
            <a:pPr lvl="1"/>
            <a:r>
              <a:rPr lang="en-US" altLang="zh-CN" dirty="0" err="1"/>
              <a:t>replaceUrl</a:t>
            </a:r>
            <a:r>
              <a:rPr lang="en-US" altLang="zh-CN" dirty="0"/>
              <a:t>:</a:t>
            </a:r>
            <a:r>
              <a:rPr lang="zh-CN" altLang="en-US" dirty="0"/>
              <a:t>用应用内的某个页面替换当前页面。</a:t>
            </a:r>
          </a:p>
          <a:p>
            <a:pPr lvl="1"/>
            <a:r>
              <a:rPr lang="en-US" altLang="zh-CN" dirty="0"/>
              <a:t>back:</a:t>
            </a:r>
            <a:r>
              <a:rPr lang="zh-CN" altLang="en-US" dirty="0"/>
              <a:t>返回上一页面或指定的页面。</a:t>
            </a:r>
          </a:p>
          <a:p>
            <a:pPr lvl="1"/>
            <a:r>
              <a:rPr lang="en-US" altLang="zh-CN" dirty="0"/>
              <a:t>clear:</a:t>
            </a:r>
            <a:r>
              <a:rPr lang="zh-CN" altLang="en-US" dirty="0"/>
              <a:t>清空页面栈中的所有历史页面，仅保留当前页面作为栈顶页面。</a:t>
            </a:r>
          </a:p>
          <a:p>
            <a:pPr lvl="1"/>
            <a:r>
              <a:rPr lang="en-US" altLang="zh-CN" dirty="0" err="1"/>
              <a:t>getLength</a:t>
            </a:r>
            <a:r>
              <a:rPr lang="en-US" altLang="zh-CN" dirty="0"/>
              <a:t>:</a:t>
            </a:r>
            <a:r>
              <a:rPr lang="zh-CN" altLang="en-US" dirty="0"/>
              <a:t>获取当前在页面栈内的页面数量。</a:t>
            </a:r>
          </a:p>
          <a:p>
            <a:pPr lvl="1"/>
            <a:r>
              <a:rPr lang="en-US" altLang="zh-CN" dirty="0" err="1"/>
              <a:t>getState</a:t>
            </a:r>
            <a:r>
              <a:rPr lang="en-US" altLang="zh-CN" dirty="0"/>
              <a:t>:</a:t>
            </a:r>
            <a:r>
              <a:rPr lang="zh-CN" altLang="en-US" dirty="0"/>
              <a:t>获取当前页面的状态信息。</a:t>
            </a:r>
            <a:endParaRPr lang="en-US" altLang="zh-CN" dirty="0"/>
          </a:p>
          <a:p>
            <a:pPr lvl="1"/>
            <a:r>
              <a:rPr lang="en-US" altLang="zh-CN" dirty="0" err="1"/>
              <a:t>showAlertBeforeBackPage</a:t>
            </a:r>
            <a:r>
              <a:rPr lang="en-US" altLang="zh-CN" dirty="0"/>
              <a:t>:</a:t>
            </a:r>
            <a:r>
              <a:rPr lang="zh-CN" altLang="en-US" dirty="0"/>
              <a:t>开启页面返回询问对话框。</a:t>
            </a:r>
          </a:p>
          <a:p>
            <a:pPr lvl="1"/>
            <a:r>
              <a:rPr lang="en-US" altLang="zh-CN" dirty="0" err="1"/>
              <a:t>hideAlertBeforeBackPage</a:t>
            </a:r>
            <a:r>
              <a:rPr lang="en-US" altLang="zh-CN" dirty="0"/>
              <a:t>:</a:t>
            </a:r>
            <a:r>
              <a:rPr lang="zh-CN" altLang="en-US" dirty="0"/>
              <a:t>禁用页面返回询问对话框。</a:t>
            </a:r>
          </a:p>
          <a:p>
            <a:pPr lvl="1"/>
            <a:r>
              <a:rPr lang="en-US" altLang="zh-CN" dirty="0" err="1"/>
              <a:t>getParams</a:t>
            </a:r>
            <a:r>
              <a:rPr lang="en-US" altLang="zh-CN" dirty="0"/>
              <a:t>:</a:t>
            </a:r>
            <a:r>
              <a:rPr lang="zh-CN" altLang="en-US" dirty="0"/>
              <a:t>获取通过路由传递过来的参数。</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p>
        </p:txBody>
      </p:sp>
      <p:pic>
        <p:nvPicPr>
          <p:cNvPr id="5" name="图片 4"/>
          <p:cNvPicPr>
            <a:picLocks noChangeAspect="1"/>
          </p:cNvPicPr>
          <p:nvPr/>
        </p:nvPicPr>
        <p:blipFill>
          <a:blip r:embed="rId3"/>
          <a:stretch>
            <a:fillRect/>
          </a:stretch>
        </p:blipFill>
        <p:spPr>
          <a:xfrm>
            <a:off x="1285523" y="981522"/>
            <a:ext cx="9619365" cy="5222395"/>
          </a:xfrm>
          <a:prstGeom prst="rect">
            <a:avLst/>
          </a:prstGeom>
        </p:spPr>
      </p:pic>
      <p:sp>
        <p:nvSpPr>
          <p:cNvPr id="7" name="文本框 6"/>
          <p:cNvSpPr txBox="1"/>
          <p:nvPr/>
        </p:nvSpPr>
        <p:spPr>
          <a:xfrm>
            <a:off x="3862958" y="6310114"/>
            <a:ext cx="6096000" cy="461665"/>
          </a:xfrm>
          <a:prstGeom prst="rect">
            <a:avLst/>
          </a:prstGeom>
          <a:noFill/>
        </p:spPr>
        <p:txBody>
          <a:bodyPr wrap="square">
            <a:spAutoFit/>
          </a:bodyPr>
          <a:lstStyle/>
          <a:p>
            <a:r>
              <a:rPr lang="en-US" altLang="zh-CN" dirty="0"/>
              <a:t>Router</a:t>
            </a:r>
            <a:r>
              <a:rPr lang="zh-CN" altLang="en-US" dirty="0"/>
              <a:t>参数对象说明</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p>
        </p:txBody>
      </p:sp>
      <p:sp>
        <p:nvSpPr>
          <p:cNvPr id="4" name="文本框 3"/>
          <p:cNvSpPr txBox="1"/>
          <p:nvPr/>
        </p:nvSpPr>
        <p:spPr>
          <a:xfrm>
            <a:off x="1630710" y="1721634"/>
            <a:ext cx="9001000" cy="3046988"/>
          </a:xfrm>
          <a:prstGeom prst="rect">
            <a:avLst/>
          </a:prstGeom>
          <a:noFill/>
        </p:spPr>
        <p:txBody>
          <a:bodyPr wrap="square">
            <a:spAutoFit/>
          </a:bodyPr>
          <a:lstStyle/>
          <a:p>
            <a:r>
              <a:rPr lang="en-US" altLang="zh-CN" dirty="0"/>
              <a:t>1 Navigation</a:t>
            </a:r>
            <a:r>
              <a:rPr lang="zh-CN" altLang="en-US" dirty="0"/>
              <a:t>定义介绍</a:t>
            </a:r>
          </a:p>
          <a:p>
            <a:pPr lvl="1"/>
            <a:r>
              <a:rPr lang="zh-CN" altLang="en-US" dirty="0"/>
              <a:t>该组件为路由容器组件，提供路由跳转能力。默认情况下，该组件的导航样式为一个带有返回箭头的标题栏及其子控件组成的组件。</a:t>
            </a:r>
          </a:p>
          <a:p>
            <a:r>
              <a:rPr lang="en-US" altLang="zh-CN" dirty="0"/>
              <a:t>2 Navigation</a:t>
            </a:r>
            <a:r>
              <a:rPr lang="zh-CN" altLang="en-US" dirty="0"/>
              <a:t>属性介绍</a:t>
            </a:r>
          </a:p>
          <a:p>
            <a:pPr lvl="1"/>
            <a:r>
              <a:rPr lang="en-US" altLang="zh-CN" dirty="0"/>
              <a:t>title:</a:t>
            </a:r>
            <a:r>
              <a:rPr lang="zh-CN" altLang="en-US" dirty="0"/>
              <a:t>设置导航栏的标题，当参数类型为</a:t>
            </a:r>
            <a:r>
              <a:rPr lang="en-US" altLang="zh-CN" dirty="0"/>
              <a:t>string</a:t>
            </a:r>
            <a:r>
              <a:rPr lang="zh-CN" altLang="en-US" dirty="0"/>
              <a:t>时，可以直接设置标题，但样式不可修改；当参数为</a:t>
            </a:r>
            <a:r>
              <a:rPr lang="en-US" altLang="zh-CN" dirty="0" err="1"/>
              <a:t>CustomBuilder</a:t>
            </a:r>
            <a:r>
              <a:rPr lang="zh-CN" altLang="en-US" dirty="0"/>
              <a:t>时，可以自定义标题样式。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p>
        </p:txBody>
      </p:sp>
      <p:sp>
        <p:nvSpPr>
          <p:cNvPr id="5" name="文本框 4"/>
          <p:cNvSpPr txBox="1"/>
          <p:nvPr/>
        </p:nvSpPr>
        <p:spPr>
          <a:xfrm>
            <a:off x="1166292" y="981522"/>
            <a:ext cx="9505056" cy="3785652"/>
          </a:xfrm>
          <a:prstGeom prst="rect">
            <a:avLst/>
          </a:prstGeom>
          <a:noFill/>
        </p:spPr>
        <p:txBody>
          <a:bodyPr wrap="square">
            <a:spAutoFit/>
          </a:bodyPr>
          <a:lstStyle/>
          <a:p>
            <a:r>
              <a:rPr lang="en-US" altLang="zh-CN" dirty="0" err="1"/>
              <a:t>subTitle</a:t>
            </a:r>
            <a:r>
              <a:rPr lang="en-US" altLang="zh-CN" dirty="0"/>
              <a:t>:</a:t>
            </a:r>
            <a:r>
              <a:rPr lang="zh-CN" altLang="en-US" dirty="0"/>
              <a:t>设置页面的副标题。</a:t>
            </a:r>
          </a:p>
          <a:p>
            <a:r>
              <a:rPr lang="en-US" altLang="zh-CN" dirty="0" err="1"/>
              <a:t>hideBackButton</a:t>
            </a:r>
            <a:r>
              <a:rPr lang="en-US" altLang="zh-CN" dirty="0"/>
              <a:t>:</a:t>
            </a:r>
            <a:r>
              <a:rPr lang="zh-CN" altLang="en-US" dirty="0"/>
              <a:t>隐藏返回键，若为</a:t>
            </a:r>
            <a:r>
              <a:rPr lang="en-US" altLang="zh-CN" dirty="0"/>
              <a:t>true</a:t>
            </a:r>
            <a:r>
              <a:rPr lang="zh-CN" altLang="en-US" dirty="0"/>
              <a:t>则隐藏返回键，若为</a:t>
            </a:r>
            <a:r>
              <a:rPr lang="en-US" altLang="zh-CN" dirty="0"/>
              <a:t>false</a:t>
            </a:r>
            <a:r>
              <a:rPr lang="zh-CN" altLang="en-US" dirty="0"/>
              <a:t>则显示返回键。默认值为</a:t>
            </a:r>
            <a:r>
              <a:rPr lang="en-US" altLang="zh-CN" dirty="0"/>
              <a:t>false</a:t>
            </a:r>
            <a:r>
              <a:rPr lang="zh-CN" altLang="en-US" dirty="0"/>
              <a:t>。</a:t>
            </a:r>
          </a:p>
          <a:p>
            <a:r>
              <a:rPr lang="en-US" altLang="zh-CN" dirty="0" err="1"/>
              <a:t>toolBar</a:t>
            </a:r>
            <a:r>
              <a:rPr lang="en-US" altLang="zh-CN" dirty="0"/>
              <a:t>:</a:t>
            </a:r>
            <a:r>
              <a:rPr lang="zh-CN" altLang="en-US" dirty="0"/>
              <a:t>设置工具栏内容。当参数类型为</a:t>
            </a:r>
            <a:r>
              <a:rPr lang="en-US" altLang="zh-CN" dirty="0"/>
              <a:t>object</a:t>
            </a:r>
            <a:r>
              <a:rPr lang="zh-CN" altLang="en-US" dirty="0"/>
              <a:t>时，可以直接设置工具栏选项，但样式不支持修改；当参数为</a:t>
            </a:r>
            <a:r>
              <a:rPr lang="en-US" altLang="zh-CN" dirty="0" err="1"/>
              <a:t>CustomBuilder</a:t>
            </a:r>
            <a:r>
              <a:rPr lang="zh-CN" altLang="en-US" dirty="0"/>
              <a:t>时，可以自定义标题栏。</a:t>
            </a:r>
          </a:p>
          <a:p>
            <a:r>
              <a:rPr lang="en-US" altLang="zh-CN" dirty="0" err="1"/>
              <a:t>hideTitleBar</a:t>
            </a:r>
            <a:r>
              <a:rPr lang="en-US" altLang="zh-CN" dirty="0"/>
              <a:t>:</a:t>
            </a:r>
            <a:r>
              <a:rPr lang="zh-CN" altLang="en-US" dirty="0"/>
              <a:t>隐藏标题栏。</a:t>
            </a:r>
          </a:p>
          <a:p>
            <a:r>
              <a:rPr lang="en-US" altLang="zh-CN" dirty="0" err="1"/>
              <a:t>hideToolBar</a:t>
            </a:r>
            <a:r>
              <a:rPr lang="en-US" altLang="zh-CN" dirty="0"/>
              <a:t>:</a:t>
            </a:r>
            <a:r>
              <a:rPr lang="zh-CN" altLang="en-US" dirty="0"/>
              <a:t>隐藏工具栏。</a:t>
            </a:r>
          </a:p>
          <a:p>
            <a:r>
              <a:rPr lang="en-US" altLang="zh-CN" dirty="0"/>
              <a:t>menus:</a:t>
            </a:r>
            <a:r>
              <a:rPr lang="zh-CN" altLang="en-US" dirty="0"/>
              <a:t>设置标题栏右上角的菜单项，参数类型有</a:t>
            </a:r>
            <a:r>
              <a:rPr lang="en-US" altLang="zh-CN" dirty="0" err="1"/>
              <a:t>NavigationMenultem</a:t>
            </a:r>
            <a:r>
              <a:rPr lang="zh-CN" altLang="en-US" dirty="0"/>
              <a:t>和</a:t>
            </a:r>
            <a:r>
              <a:rPr lang="en-US" altLang="zh-CN" dirty="0" err="1"/>
              <a:t>CustomBuilder</a:t>
            </a:r>
            <a:r>
              <a:rPr lang="en-US" altLang="zh-CN" dirty="0"/>
              <a:t>,</a:t>
            </a:r>
            <a:r>
              <a:rPr lang="zh-CN" altLang="en-US" dirty="0"/>
              <a:t>当参数为</a:t>
            </a:r>
            <a:r>
              <a:rPr lang="en-US" altLang="zh-CN" dirty="0" err="1"/>
              <a:t>CustomBuilder</a:t>
            </a:r>
            <a:r>
              <a:rPr lang="zh-CN" altLang="en-US" dirty="0"/>
              <a:t>时可以自定义菜单项。</a:t>
            </a:r>
          </a:p>
        </p:txBody>
      </p:sp>
      <p:sp>
        <p:nvSpPr>
          <p:cNvPr id="6" name="文本框 5"/>
          <p:cNvSpPr txBox="1"/>
          <p:nvPr/>
        </p:nvSpPr>
        <p:spPr>
          <a:xfrm>
            <a:off x="766614" y="4896129"/>
            <a:ext cx="9721080" cy="1200329"/>
          </a:xfrm>
          <a:prstGeom prst="rect">
            <a:avLst/>
          </a:prstGeom>
          <a:noFill/>
        </p:spPr>
        <p:txBody>
          <a:bodyPr wrap="square">
            <a:spAutoFit/>
          </a:bodyPr>
          <a:lstStyle/>
          <a:p>
            <a:r>
              <a:rPr lang="en-US" altLang="zh-CN" dirty="0"/>
              <a:t>3 Navigation</a:t>
            </a:r>
            <a:r>
              <a:rPr lang="zh-CN" altLang="en-US" dirty="0"/>
              <a:t>事件介绍</a:t>
            </a:r>
          </a:p>
          <a:p>
            <a:pPr lvl="1"/>
            <a:r>
              <a:rPr lang="en-US" altLang="zh-CN" dirty="0" err="1"/>
              <a:t>onTitleModeChange</a:t>
            </a:r>
            <a:r>
              <a:rPr lang="en-US" altLang="zh-CN" dirty="0"/>
              <a:t>:</a:t>
            </a:r>
            <a:r>
              <a:rPr lang="zh-CN" altLang="en-US" dirty="0"/>
              <a:t>当</a:t>
            </a:r>
            <a:r>
              <a:rPr lang="en-US" altLang="zh-CN" dirty="0" err="1"/>
              <a:t>titleMode</a:t>
            </a:r>
            <a:r>
              <a:rPr lang="zh-CN" altLang="en-US" dirty="0"/>
              <a:t>为</a:t>
            </a:r>
            <a:r>
              <a:rPr lang="en-US" altLang="zh-CN" dirty="0"/>
              <a:t>Navigation </a:t>
            </a:r>
            <a:r>
              <a:rPr lang="en-US" altLang="zh-CN" dirty="0" err="1"/>
              <a:t>TitleMode.Free</a:t>
            </a:r>
            <a:r>
              <a:rPr lang="zh-CN" altLang="en-US" dirty="0"/>
              <a:t>时，随着可滚动组件的滑动标题栏模式发生变化时触发此回调。</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p>
        </p:txBody>
      </p:sp>
      <p:pic>
        <p:nvPicPr>
          <p:cNvPr id="5" name="图片 4"/>
          <p:cNvPicPr>
            <a:picLocks noChangeAspect="1"/>
          </p:cNvPicPr>
          <p:nvPr/>
        </p:nvPicPr>
        <p:blipFill>
          <a:blip r:embed="rId3"/>
          <a:stretch>
            <a:fillRect/>
          </a:stretch>
        </p:blipFill>
        <p:spPr>
          <a:xfrm>
            <a:off x="1126654" y="909514"/>
            <a:ext cx="6805997" cy="4240713"/>
          </a:xfrm>
          <a:prstGeom prst="rect">
            <a:avLst/>
          </a:prstGeom>
        </p:spPr>
      </p:pic>
      <p:pic>
        <p:nvPicPr>
          <p:cNvPr id="7" name="图片 6"/>
          <p:cNvPicPr>
            <a:picLocks noChangeAspect="1"/>
          </p:cNvPicPr>
          <p:nvPr/>
        </p:nvPicPr>
        <p:blipFill>
          <a:blip r:embed="rId4"/>
          <a:stretch>
            <a:fillRect/>
          </a:stretch>
        </p:blipFill>
        <p:spPr>
          <a:xfrm>
            <a:off x="1126654" y="5151582"/>
            <a:ext cx="6805997" cy="798492"/>
          </a:xfrm>
          <a:prstGeom prst="rect">
            <a:avLst/>
          </a:prstGeom>
        </p:spPr>
      </p:pic>
      <p:pic>
        <p:nvPicPr>
          <p:cNvPr id="9" name="图片 8"/>
          <p:cNvPicPr>
            <a:picLocks noChangeAspect="1"/>
          </p:cNvPicPr>
          <p:nvPr/>
        </p:nvPicPr>
        <p:blipFill>
          <a:blip r:embed="rId5"/>
          <a:stretch>
            <a:fillRect/>
          </a:stretch>
        </p:blipFill>
        <p:spPr>
          <a:xfrm>
            <a:off x="8039422" y="934556"/>
            <a:ext cx="3885714" cy="499047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4A05D-163F-975B-512C-AD99274C9DE4}"/>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B7718287-D583-B1D4-6BB5-3C8BF604E6D2}"/>
              </a:ext>
            </a:extLst>
          </p:cNvPr>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p>
        </p:txBody>
      </p:sp>
      <p:pic>
        <p:nvPicPr>
          <p:cNvPr id="2" name="图片 1">
            <a:extLst>
              <a:ext uri="{FF2B5EF4-FFF2-40B4-BE49-F238E27FC236}">
                <a16:creationId xmlns:a16="http://schemas.microsoft.com/office/drawing/2014/main" id="{12192136-00FF-FC0F-6899-8A4D085F72E1}"/>
              </a:ext>
            </a:extLst>
          </p:cNvPr>
          <p:cNvPicPr>
            <a:picLocks noChangeAspect="1"/>
          </p:cNvPicPr>
          <p:nvPr/>
        </p:nvPicPr>
        <p:blipFill>
          <a:blip r:embed="rId3"/>
          <a:stretch>
            <a:fillRect/>
          </a:stretch>
        </p:blipFill>
        <p:spPr>
          <a:xfrm>
            <a:off x="2344415" y="823417"/>
            <a:ext cx="7598618" cy="5783393"/>
          </a:xfrm>
          <a:prstGeom prst="rect">
            <a:avLst/>
          </a:prstGeom>
        </p:spPr>
      </p:pic>
    </p:spTree>
    <p:extLst>
      <p:ext uri="{BB962C8B-B14F-4D97-AF65-F5344CB8AC3E}">
        <p14:creationId xmlns:p14="http://schemas.microsoft.com/office/powerpoint/2010/main" val="133974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RESOURCE_RECORD_KEY" val="{&quot;13&quot;:[19951231,4722044]}"/>
  <p:tag name="COMMONDATA" val="eyJoZGlkIjoiMmY3OGQzYjMxY2QzZmFmMmIzM2UwNDA3YWIzYzc4MmY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93,&quot;width&quot;:9562}"/>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93,&quot;width&quot;:9562}"/>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93,&quot;width&quot;:9562}"/>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93,&quot;width&quot;:9562}"/>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93,&quot;width&quot;:9562}"/>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18100</Words>
  <Application>Microsoft Office PowerPoint</Application>
  <PresentationFormat>自定义</PresentationFormat>
  <Paragraphs>1285</Paragraphs>
  <Slides>146</Slides>
  <Notes>135</Notes>
  <HiddenSlides>0</HiddenSlides>
  <MMClips>0</MMClips>
  <ScaleCrop>false</ScaleCrop>
  <HeadingPairs>
    <vt:vector size="6" baseType="variant">
      <vt:variant>
        <vt:lpstr>已用的字体</vt:lpstr>
      </vt:variant>
      <vt:variant>
        <vt:i4>15</vt:i4>
      </vt:variant>
      <vt:variant>
        <vt:lpstr>主题</vt:lpstr>
      </vt:variant>
      <vt:variant>
        <vt:i4>10</vt:i4>
      </vt:variant>
      <vt:variant>
        <vt:lpstr>幻灯片标题</vt:lpstr>
      </vt:variant>
      <vt:variant>
        <vt:i4>146</vt:i4>
      </vt:variant>
    </vt:vector>
  </HeadingPairs>
  <TitlesOfParts>
    <vt:vector size="171" baseType="lpstr">
      <vt:lpstr>-apple-system</vt:lpstr>
      <vt:lpstr>Arial Unicode MS</vt:lpstr>
      <vt:lpstr>EU-B3</vt:lpstr>
      <vt:lpstr>FZSSK--GBK1-0</vt:lpstr>
      <vt:lpstr>PingFang SC</vt:lpstr>
      <vt:lpstr>方正书宋_GBK</vt:lpstr>
      <vt:lpstr>思源黑体</vt:lpstr>
      <vt:lpstr>微软雅黑</vt:lpstr>
      <vt:lpstr>字魂105号-简雅黑</vt:lpstr>
      <vt:lpstr>Arial</vt:lpstr>
      <vt:lpstr>Calibri</vt:lpstr>
      <vt:lpstr>Consolas</vt:lpstr>
      <vt:lpstr>Courier New</vt:lpstr>
      <vt:lpstr>Times New Roman</vt:lpstr>
      <vt:lpstr>Wingdings</vt:lpstr>
      <vt:lpstr>webwppDefTheme</vt:lpstr>
      <vt:lpstr>Office 主题</vt:lpstr>
      <vt:lpstr>1_Office 主题</vt:lpstr>
      <vt:lpstr>2_Office 主题</vt:lpstr>
      <vt:lpstr>3_Office 主题</vt:lpstr>
      <vt:lpstr>4_Office 主题</vt:lpstr>
      <vt:lpstr>5_Office 主题</vt:lpstr>
      <vt:lpstr>6_Office 主题</vt:lpstr>
      <vt:lpstr>7_Office 主题</vt:lpstr>
      <vt:lpstr>8_Office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man old</cp:lastModifiedBy>
  <cp:revision>1293</cp:revision>
  <dcterms:created xsi:type="dcterms:W3CDTF">2020-11-11T09:29:00Z</dcterms:created>
  <dcterms:modified xsi:type="dcterms:W3CDTF">2025-05-25T07:41:18Z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8F4FA44A7E604823A8EA874AF86BC43D_13</vt:lpwstr>
  </property>
</Properties>
</file>