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  <p:sldMasterId id="2147483672" r:id="rId4"/>
    <p:sldMasterId id="2147483684" r:id="rId5"/>
    <p:sldMasterId id="2147483696" r:id="rId6"/>
  </p:sldMasterIdLst>
  <p:notesMasterIdLst>
    <p:notesMasterId r:id="rId8"/>
  </p:notesMasterIdLst>
  <p:handoutMasterIdLst>
    <p:handoutMasterId r:id="rId98"/>
  </p:handoutMasterIdLst>
  <p:sldIdLst>
    <p:sldId id="325" r:id="rId7"/>
    <p:sldId id="1129" r:id="rId9"/>
    <p:sldId id="2594" r:id="rId10"/>
    <p:sldId id="2446" r:id="rId11"/>
    <p:sldId id="2447" r:id="rId12"/>
    <p:sldId id="1144" r:id="rId13"/>
    <p:sldId id="2597" r:id="rId14"/>
    <p:sldId id="2619" r:id="rId15"/>
    <p:sldId id="2614" r:id="rId16"/>
    <p:sldId id="2615" r:id="rId17"/>
    <p:sldId id="2598" r:id="rId18"/>
    <p:sldId id="2599" r:id="rId19"/>
    <p:sldId id="2600" r:id="rId20"/>
    <p:sldId id="2617" r:id="rId21"/>
    <p:sldId id="2618" r:id="rId22"/>
    <p:sldId id="2630" r:id="rId23"/>
    <p:sldId id="2631" r:id="rId24"/>
    <p:sldId id="2632" r:id="rId25"/>
    <p:sldId id="2633" r:id="rId26"/>
    <p:sldId id="2634" r:id="rId27"/>
    <p:sldId id="2616" r:id="rId28"/>
    <p:sldId id="2620" r:id="rId29"/>
    <p:sldId id="2636" r:id="rId30"/>
    <p:sldId id="2635" r:id="rId31"/>
    <p:sldId id="2637" r:id="rId32"/>
    <p:sldId id="2601" r:id="rId33"/>
    <p:sldId id="2621" r:id="rId34"/>
    <p:sldId id="2639" r:id="rId35"/>
    <p:sldId id="2638" r:id="rId36"/>
    <p:sldId id="2640" r:id="rId37"/>
    <p:sldId id="2641" r:id="rId38"/>
    <p:sldId id="2642" r:id="rId39"/>
    <p:sldId id="2602" r:id="rId40"/>
    <p:sldId id="2643" r:id="rId41"/>
    <p:sldId id="2644" r:id="rId42"/>
    <p:sldId id="2603" r:id="rId43"/>
    <p:sldId id="2622" r:id="rId44"/>
    <p:sldId id="2646" r:id="rId45"/>
    <p:sldId id="2645" r:id="rId46"/>
    <p:sldId id="2648" r:id="rId47"/>
    <p:sldId id="2647" r:id="rId48"/>
    <p:sldId id="2649" r:id="rId49"/>
    <p:sldId id="2650" r:id="rId50"/>
    <p:sldId id="2595" r:id="rId51"/>
    <p:sldId id="2604" r:id="rId52"/>
    <p:sldId id="2623" r:id="rId53"/>
    <p:sldId id="2651" r:id="rId54"/>
    <p:sldId id="2678" r:id="rId55"/>
    <p:sldId id="2605" r:id="rId56"/>
    <p:sldId id="2625" r:id="rId57"/>
    <p:sldId id="2652" r:id="rId58"/>
    <p:sldId id="2653" r:id="rId59"/>
    <p:sldId id="2654" r:id="rId60"/>
    <p:sldId id="2656" r:id="rId61"/>
    <p:sldId id="2655" r:id="rId62"/>
    <p:sldId id="2657" r:id="rId63"/>
    <p:sldId id="2608" r:id="rId64"/>
    <p:sldId id="2658" r:id="rId65"/>
    <p:sldId id="2609" r:id="rId66"/>
    <p:sldId id="2659" r:id="rId67"/>
    <p:sldId id="2660" r:id="rId68"/>
    <p:sldId id="2610" r:id="rId69"/>
    <p:sldId id="2626" r:id="rId70"/>
    <p:sldId id="2661" r:id="rId71"/>
    <p:sldId id="2662" r:id="rId72"/>
    <p:sldId id="2611" r:id="rId73"/>
    <p:sldId id="2663" r:id="rId74"/>
    <p:sldId id="2664" r:id="rId75"/>
    <p:sldId id="2665" r:id="rId76"/>
    <p:sldId id="2666" r:id="rId77"/>
    <p:sldId id="2667" r:id="rId78"/>
    <p:sldId id="2668" r:id="rId79"/>
    <p:sldId id="2669" r:id="rId80"/>
    <p:sldId id="2612" r:id="rId81"/>
    <p:sldId id="2627" r:id="rId82"/>
    <p:sldId id="2670" r:id="rId83"/>
    <p:sldId id="2671" r:id="rId84"/>
    <p:sldId id="2672" r:id="rId85"/>
    <p:sldId id="2613" r:id="rId86"/>
    <p:sldId id="2628" r:id="rId87"/>
    <p:sldId id="2673" r:id="rId88"/>
    <p:sldId id="2674" r:id="rId89"/>
    <p:sldId id="2675" r:id="rId90"/>
    <p:sldId id="2676" r:id="rId91"/>
    <p:sldId id="2677" r:id="rId92"/>
    <p:sldId id="2596" r:id="rId93"/>
    <p:sldId id="2593" r:id="rId94"/>
    <p:sldId id="2629" r:id="rId95"/>
    <p:sldId id="1431" r:id="rId96"/>
    <p:sldId id="326" r:id="rId97"/>
  </p:sldIdLst>
  <p:sldSz cx="12190095" cy="6859270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1" userDrawn="1">
          <p15:clr>
            <a:srgbClr val="A4A3A4"/>
          </p15:clr>
        </p15:guide>
        <p15:guide id="2" pos="301" userDrawn="1">
          <p15:clr>
            <a:srgbClr val="A4A3A4"/>
          </p15:clr>
        </p15:guide>
        <p15:guide id="3" pos="642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rd" initials="W用" lastIdx="1" clrIdx="0"/>
  <p:cmAuthor id="2" name="lzq" initials="lzq" lastIdx="1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1369B3"/>
    <a:srgbClr val="1369B2"/>
    <a:srgbClr val="FFFFFF"/>
    <a:srgbClr val="F2F2F2"/>
    <a:srgbClr val="EBAD13"/>
    <a:srgbClr val="BBBBBB"/>
    <a:srgbClr val="FAFAFA"/>
    <a:srgbClr val="006BBC"/>
    <a:srgbClr val="0075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49" autoAdjust="0"/>
    <p:restoredTop sz="94108" autoAdjust="0"/>
  </p:normalViewPr>
  <p:slideViewPr>
    <p:cSldViewPr showGuides="1">
      <p:cViewPr varScale="1">
        <p:scale>
          <a:sx n="67" d="100"/>
          <a:sy n="67" d="100"/>
        </p:scale>
        <p:origin x="78" y="456"/>
      </p:cViewPr>
      <p:guideLst>
        <p:guide orient="horz" pos="4321"/>
        <p:guide pos="301"/>
        <p:guide pos="64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1596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" Type="http://schemas.openxmlformats.org/officeDocument/2006/relationships/slide" Target="slides/slide2.xml"/><Relationship Id="rId89" Type="http://schemas.openxmlformats.org/officeDocument/2006/relationships/slide" Target="slides/slide82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80" Type="http://schemas.openxmlformats.org/officeDocument/2006/relationships/slide" Target="slides/slide73.xml"/><Relationship Id="rId8" Type="http://schemas.openxmlformats.org/officeDocument/2006/relationships/notesMaster" Target="notesMasters/notesMaster1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7" Type="http://schemas.openxmlformats.org/officeDocument/2006/relationships/slide" Target="slides/slide1.xml"/><Relationship Id="rId69" Type="http://schemas.openxmlformats.org/officeDocument/2006/relationships/slide" Target="slides/slide62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0" Type="http://schemas.openxmlformats.org/officeDocument/2006/relationships/slide" Target="slides/slide53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2.xml"/><Relationship Id="rId58" Type="http://schemas.openxmlformats.org/officeDocument/2006/relationships/slide" Target="slides/slide51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0" Type="http://schemas.openxmlformats.org/officeDocument/2006/relationships/slide" Target="slides/slide3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2" Type="http://schemas.openxmlformats.org/officeDocument/2006/relationships/commentAuthors" Target="commentAuthors.xml"/><Relationship Id="rId101" Type="http://schemas.openxmlformats.org/officeDocument/2006/relationships/tableStyles" Target="tableStyles.xml"/><Relationship Id="rId100" Type="http://schemas.openxmlformats.org/officeDocument/2006/relationships/viewProps" Target="viewProps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一、核心定义与底层逻辑</a:t>
            </a:r>
            <a:endParaRPr lang="zh-CN" altLang="en-US"/>
          </a:p>
          <a:p>
            <a:r>
              <a:rPr lang="zh-CN" altLang="en-US"/>
              <a:t>鸿蒙的 </a:t>
            </a:r>
            <a:r>
              <a:rPr lang="en-US" altLang="zh-CN"/>
              <a:t>router </a:t>
            </a:r>
            <a:r>
              <a:rPr lang="zh-CN" altLang="en-US"/>
              <a:t>页面路由，本质上是用页面栈（先进后出）来管理页面跳转的，两种模式的核心差异，就是栈中如何处理相同 </a:t>
            </a:r>
            <a:r>
              <a:rPr lang="en-US" altLang="zh-CN"/>
              <a:t>URL </a:t>
            </a:r>
            <a:r>
              <a:rPr lang="zh-CN" altLang="en-US"/>
              <a:t>的页面实例。</a:t>
            </a:r>
            <a:endParaRPr lang="zh-CN" altLang="en-US"/>
          </a:p>
          <a:p>
            <a:r>
              <a:rPr lang="zh-CN" altLang="en-US"/>
              <a:t>1. 标准实例模式（</a:t>
            </a:r>
            <a:r>
              <a:rPr lang="en-US" altLang="zh-CN"/>
              <a:t>RouterMode.Standard，</a:t>
            </a:r>
            <a:r>
              <a:rPr lang="zh-CN" altLang="en-US"/>
              <a:t>默认模式）</a:t>
            </a:r>
            <a:endParaRPr lang="zh-CN" altLang="en-US"/>
          </a:p>
          <a:p>
            <a:r>
              <a:rPr lang="zh-CN" altLang="en-US"/>
              <a:t>工作机制：每次调用跳转，都会创建一个全新的目标页实例，直接压入栈顶，完全不管栈里有没有同 </a:t>
            </a:r>
            <a:r>
              <a:rPr lang="en-US" altLang="zh-CN"/>
              <a:t>URL </a:t>
            </a:r>
            <a:r>
              <a:rPr lang="zh-CN" altLang="en-US"/>
              <a:t>的页面。</a:t>
            </a:r>
            <a:endParaRPr lang="zh-CN" altLang="en-US"/>
          </a:p>
          <a:p>
            <a:r>
              <a:rPr lang="zh-CN" altLang="en-US"/>
              <a:t>栈的变化示例：</a:t>
            </a:r>
            <a:endParaRPr lang="zh-CN" altLang="en-US"/>
          </a:p>
          <a:p>
            <a:r>
              <a:rPr lang="zh-CN" altLang="en-US"/>
              <a:t>初始栈：[</a:t>
            </a:r>
            <a:r>
              <a:rPr lang="en-US" altLang="zh-CN"/>
              <a:t>A]</a:t>
            </a:r>
            <a:endParaRPr lang="en-US" altLang="zh-CN"/>
          </a:p>
          <a:p>
            <a:r>
              <a:rPr lang="zh-CN" altLang="en-US"/>
              <a:t>跳转到 </a:t>
            </a:r>
            <a:r>
              <a:rPr lang="en-US" altLang="zh-CN"/>
              <a:t>B（Standard </a:t>
            </a:r>
            <a:r>
              <a:rPr lang="zh-CN" altLang="en-US"/>
              <a:t>模式）→ 栈：[</a:t>
            </a:r>
            <a:r>
              <a:rPr lang="en-US" altLang="zh-CN"/>
              <a:t>A, B1]（B1 </a:t>
            </a:r>
            <a:r>
              <a:rPr lang="zh-CN" altLang="en-US"/>
              <a:t>是新实例）</a:t>
            </a:r>
            <a:endParaRPr lang="zh-CN" altLang="en-US"/>
          </a:p>
          <a:p>
            <a:r>
              <a:rPr lang="zh-CN" altLang="en-US"/>
              <a:t>再跳转到 </a:t>
            </a:r>
            <a:r>
              <a:rPr lang="en-US" altLang="zh-CN"/>
              <a:t>B（Standard </a:t>
            </a:r>
            <a:r>
              <a:rPr lang="zh-CN" altLang="en-US"/>
              <a:t>模式）→ 栈：[</a:t>
            </a:r>
            <a:r>
              <a:rPr lang="en-US" altLang="zh-CN"/>
              <a:t>A, B1, B2]（B2 </a:t>
            </a:r>
            <a:r>
              <a:rPr lang="zh-CN" altLang="en-US"/>
              <a:t>是又一个新实例）</a:t>
            </a:r>
            <a:endParaRPr lang="zh-CN" altLang="en-US"/>
          </a:p>
          <a:p>
            <a:r>
              <a:rPr lang="zh-CN" altLang="en-US"/>
              <a:t>关键特点：同 </a:t>
            </a:r>
            <a:r>
              <a:rPr lang="en-US" altLang="zh-CN"/>
              <a:t>URL </a:t>
            </a:r>
            <a:r>
              <a:rPr lang="zh-CN" altLang="en-US"/>
              <a:t>的页面可以有多个独立实例，每个实例的状态互不干扰，返回时会按栈的顺序依次退出。</a:t>
            </a:r>
            <a:endParaRPr lang="zh-CN" altLang="en-US"/>
          </a:p>
          <a:p>
            <a:r>
              <a:rPr lang="zh-CN" altLang="en-US"/>
              <a:t>2. 单实例模式（</a:t>
            </a:r>
            <a:r>
              <a:rPr lang="en-US" altLang="zh-CN"/>
              <a:t>RouterMode.Single）</a:t>
            </a:r>
            <a:endParaRPr lang="en-US" altLang="zh-CN"/>
          </a:p>
          <a:p>
            <a:r>
              <a:rPr lang="zh-CN" altLang="en-US"/>
              <a:t>工作机制：跳转时会先检查栈里有没有同 </a:t>
            </a:r>
            <a:r>
              <a:rPr lang="en-US" altLang="zh-CN"/>
              <a:t>URL </a:t>
            </a:r>
            <a:r>
              <a:rPr lang="zh-CN" altLang="en-US"/>
              <a:t>的页面：</a:t>
            </a:r>
            <a:endParaRPr lang="zh-CN" altLang="en-US"/>
          </a:p>
          <a:p>
            <a:r>
              <a:rPr lang="zh-CN" altLang="en-US"/>
              <a:t>如果不存在：和 </a:t>
            </a:r>
            <a:r>
              <a:rPr lang="en-US" altLang="zh-CN"/>
              <a:t>Standard </a:t>
            </a:r>
            <a:r>
              <a:rPr lang="zh-CN" altLang="en-US"/>
              <a:t>模式一样，创建新实例压入栈顶。</a:t>
            </a:r>
            <a:endParaRPr lang="zh-CN" altLang="en-US"/>
          </a:p>
          <a:p>
            <a:r>
              <a:rPr lang="zh-CN" altLang="en-US"/>
              <a:t>如果存在：找到离栈顶最近的那个同 </a:t>
            </a:r>
            <a:r>
              <a:rPr lang="en-US" altLang="zh-CN"/>
              <a:t>URL </a:t>
            </a:r>
            <a:r>
              <a:rPr lang="zh-CN" altLang="en-US"/>
              <a:t>页面，直接把它移动到栈顶，并触发页面重新加载（</a:t>
            </a:r>
            <a:r>
              <a:rPr lang="en-US" altLang="zh-CN"/>
              <a:t>onPageShow</a:t>
            </a:r>
            <a:r>
              <a:rPr lang="zh-CN" altLang="en-US"/>
              <a:t>等生命周期），不会创建新实例。</a:t>
            </a:r>
            <a:endParaRPr lang="zh-CN" altLang="en-US"/>
          </a:p>
          <a:p>
            <a:r>
              <a:rPr lang="zh-CN" altLang="en-US"/>
              <a:t>栈的变化示例：</a:t>
            </a:r>
            <a:endParaRPr lang="zh-CN" altLang="en-US"/>
          </a:p>
          <a:p>
            <a:r>
              <a:rPr lang="zh-CN" altLang="en-US"/>
              <a:t>初始栈：[</a:t>
            </a:r>
            <a:r>
              <a:rPr lang="en-US" altLang="zh-CN"/>
              <a:t>A, B1, C]</a:t>
            </a:r>
            <a:endParaRPr lang="en-US" altLang="zh-CN"/>
          </a:p>
          <a:p>
            <a:r>
              <a:rPr lang="zh-CN" altLang="en-US"/>
              <a:t>跳转到 </a:t>
            </a:r>
            <a:r>
              <a:rPr lang="en-US" altLang="zh-CN"/>
              <a:t>B（Single </a:t>
            </a:r>
            <a:r>
              <a:rPr lang="zh-CN" altLang="en-US"/>
              <a:t>模式）→ 栈：[</a:t>
            </a:r>
            <a:r>
              <a:rPr lang="en-US" altLang="zh-CN"/>
              <a:t>A, C, B1]（B1 </a:t>
            </a:r>
            <a:r>
              <a:rPr lang="zh-CN" altLang="en-US"/>
              <a:t>被移到栈顶，状态会重新加载）</a:t>
            </a:r>
            <a:endParaRPr lang="zh-CN" altLang="en-US"/>
          </a:p>
          <a:p>
            <a:r>
              <a:rPr lang="zh-CN" altLang="en-US"/>
              <a:t>关键特点：同 </a:t>
            </a:r>
            <a:r>
              <a:rPr lang="en-US" altLang="zh-CN"/>
              <a:t>URL </a:t>
            </a:r>
            <a:r>
              <a:rPr lang="zh-CN" altLang="en-US"/>
              <a:t>的页面在栈里只会保留一个 “活跃副本”，避免重复创建实例，保证页面状态的一致性。</a:t>
            </a:r>
            <a:endParaRPr lang="zh-CN" altLang="en-US"/>
          </a:p>
          <a:p>
            <a:r>
              <a:rPr lang="zh-CN" altLang="en-US"/>
              <a:t>二、关键维度对比表</a:t>
            </a:r>
            <a:endParaRPr lang="zh-CN" altLang="en-US"/>
          </a:p>
          <a:p>
            <a:r>
              <a:rPr lang="zh-CN" altLang="en-US"/>
              <a:t>表格</a:t>
            </a:r>
            <a:endParaRPr lang="zh-CN" altLang="en-US"/>
          </a:p>
          <a:p>
            <a:r>
              <a:rPr lang="zh-CN" altLang="en-US"/>
              <a:t>对比维度	标准实例模式（</a:t>
            </a:r>
            <a:r>
              <a:rPr lang="en-US" altLang="zh-CN"/>
              <a:t>Standard）	</a:t>
            </a:r>
            <a:r>
              <a:rPr lang="zh-CN" altLang="en-US"/>
              <a:t>单实例模式（</a:t>
            </a:r>
            <a:r>
              <a:rPr lang="en-US" altLang="zh-CN"/>
              <a:t>Single）</a:t>
            </a:r>
            <a:endParaRPr lang="en-US" altLang="zh-CN"/>
          </a:p>
          <a:p>
            <a:r>
              <a:rPr lang="zh-CN" altLang="en-US"/>
              <a:t>实例创建规则	每次跳转都新建实例	栈中存在则移动旧实例，不存在才新建</a:t>
            </a:r>
            <a:endParaRPr lang="zh-CN" altLang="en-US"/>
          </a:p>
          <a:p>
            <a:r>
              <a:rPr lang="zh-CN" altLang="en-US"/>
              <a:t>同 </a:t>
            </a:r>
            <a:r>
              <a:rPr lang="en-US" altLang="zh-CN"/>
              <a:t>URL </a:t>
            </a:r>
            <a:r>
              <a:rPr lang="zh-CN" altLang="en-US"/>
              <a:t>实例数量	允许多个独立实例	栈中最多只有一个活跃实例</a:t>
            </a:r>
            <a:endParaRPr lang="zh-CN" altLang="en-US"/>
          </a:p>
          <a:p>
            <a:r>
              <a:rPr lang="zh-CN" altLang="en-US"/>
              <a:t>页面栈变化	栈长度持续增加，历史路径完整	栈长度可能不变，旧实例被移动而非新增</a:t>
            </a:r>
            <a:endParaRPr lang="zh-CN" altLang="en-US"/>
          </a:p>
          <a:p>
            <a:r>
              <a:rPr lang="zh-CN" altLang="en-US"/>
              <a:t>返回逻辑	按入栈顺序依次返回，会经过所有中间页面	直接回到被移动到栈顶的目标页，中间页面会被 “跳过”</a:t>
            </a:r>
            <a:endParaRPr lang="zh-CN" altLang="en-US"/>
          </a:p>
          <a:p>
            <a:r>
              <a:rPr lang="zh-CN" altLang="en-US"/>
              <a:t>内存占用	可能更高（多个实例占用资源）	更低（避免重复创建实例）</a:t>
            </a:r>
            <a:endParaRPr lang="zh-CN" altLang="en-US"/>
          </a:p>
          <a:p>
            <a:r>
              <a:rPr lang="zh-CN" altLang="en-US"/>
              <a:t>页面状态	每个实例状态独立，互不影响	只有一个实例，状态全局一致</a:t>
            </a:r>
            <a:endParaRPr lang="zh-CN" altLang="en-US"/>
          </a:p>
          <a:p>
            <a:r>
              <a:rPr lang="zh-CN" altLang="en-US"/>
              <a:t>三、典型场景与代码示例</a:t>
            </a:r>
            <a:endParaRPr lang="zh-CN" altLang="en-US"/>
          </a:p>
          <a:p>
            <a:r>
              <a:rPr lang="zh-CN" altLang="en-US"/>
              <a:t>1. 标准实例模式适用场景</a:t>
            </a:r>
            <a:endParaRPr lang="zh-CN" altLang="en-US"/>
          </a:p>
          <a:p>
            <a:r>
              <a:rPr lang="zh-CN" altLang="en-US"/>
              <a:t>适合需要在同一 </a:t>
            </a:r>
            <a:r>
              <a:rPr lang="en-US" altLang="zh-CN"/>
              <a:t>URL </a:t>
            </a:r>
            <a:r>
              <a:rPr lang="zh-CN" altLang="en-US"/>
              <a:t>下展示不同内容 / 状态的场景，比如：</a:t>
            </a:r>
            <a:endParaRPr lang="zh-CN" altLang="en-US"/>
          </a:p>
          <a:p>
            <a:r>
              <a:rPr lang="zh-CN" altLang="en-US"/>
              <a:t>博客 </a:t>
            </a:r>
            <a:r>
              <a:rPr lang="en-US" altLang="zh-CN"/>
              <a:t>APP </a:t>
            </a:r>
            <a:r>
              <a:rPr lang="zh-CN" altLang="en-US"/>
              <a:t>的不同文章详情页（</a:t>
            </a:r>
            <a:r>
              <a:rPr lang="en-US" altLang="zh-CN"/>
              <a:t>URL </a:t>
            </a:r>
            <a:r>
              <a:rPr lang="zh-CN" altLang="en-US"/>
              <a:t>相同但文章 </a:t>
            </a:r>
            <a:r>
              <a:rPr lang="en-US" altLang="zh-CN"/>
              <a:t>ID </a:t>
            </a:r>
            <a:r>
              <a:rPr lang="zh-CN" altLang="en-US"/>
              <a:t>不同，每个页面需要独立状态）</a:t>
            </a:r>
            <a:endParaRPr lang="zh-CN" altLang="en-US"/>
          </a:p>
          <a:p>
            <a:r>
              <a:rPr lang="zh-CN" altLang="en-US"/>
              <a:t>电商 </a:t>
            </a:r>
            <a:r>
              <a:rPr lang="en-US" altLang="zh-CN"/>
              <a:t>APP </a:t>
            </a:r>
            <a:r>
              <a:rPr lang="zh-CN" altLang="en-US"/>
              <a:t>的搜索结果页（多次搜索需要保留不同的搜索状态）</a:t>
            </a:r>
            <a:endParaRPr lang="zh-CN" altLang="en-US"/>
          </a:p>
          <a:p>
            <a:r>
              <a:rPr lang="en-US" altLang="zh-CN"/>
              <a:t>typescript</a:t>
            </a:r>
            <a:endParaRPr lang="en-US" altLang="zh-CN"/>
          </a:p>
          <a:p>
            <a:r>
              <a:rPr lang="zh-CN" altLang="en-US"/>
              <a:t>运行</a:t>
            </a:r>
            <a:endParaRPr lang="zh-CN" altLang="en-US"/>
          </a:p>
          <a:p>
            <a:r>
              <a:rPr lang="zh-CN" altLang="en-US"/>
              <a:t>// 标准实例模式跳转示例</a:t>
            </a:r>
            <a:endParaRPr lang="zh-CN" altLang="en-US"/>
          </a:p>
          <a:p>
            <a:r>
              <a:rPr lang="en-US" altLang="zh-CN"/>
              <a:t>router.pushUrl({</a:t>
            </a:r>
            <a:endParaRPr lang="en-US" altLang="zh-CN"/>
          </a:p>
          <a:p>
            <a:r>
              <a:rPr lang="en-US" altLang="zh-CN"/>
              <a:t>  url: 'pages/ArticleDetail',</a:t>
            </a:r>
            <a:endParaRPr lang="en-US" altLang="zh-CN"/>
          </a:p>
          <a:p>
            <a:r>
              <a:rPr lang="en-US" altLang="zh-CN"/>
              <a:t>  params: { articleId: 123 },</a:t>
            </a:r>
            <a:endParaRPr lang="en-US" altLang="zh-CN"/>
          </a:p>
          <a:p>
            <a:r>
              <a:rPr lang="en-US" altLang="zh-CN"/>
              <a:t>  mode: router.RouterMode.Standard // </a:t>
            </a:r>
            <a:r>
              <a:rPr lang="zh-CN" altLang="en-US"/>
              <a:t>可省略，默认就是</a:t>
            </a:r>
            <a:r>
              <a:rPr lang="en-US" altLang="zh-CN"/>
              <a:t>Standard</a:t>
            </a:r>
            <a:endParaRPr lang="en-US" altLang="zh-CN"/>
          </a:p>
          <a:p>
            <a:r>
              <a:rPr lang="en-US" altLang="zh-CN"/>
              <a:t>});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router.pushUrl({</a:t>
            </a:r>
            <a:endParaRPr lang="en-US" altLang="zh-CN"/>
          </a:p>
          <a:p>
            <a:r>
              <a:rPr lang="en-US" altLang="zh-CN"/>
              <a:t>  url: 'pages/ArticleDetail',</a:t>
            </a:r>
            <a:endParaRPr lang="en-US" altLang="zh-CN"/>
          </a:p>
          <a:p>
            <a:r>
              <a:rPr lang="en-US" altLang="zh-CN"/>
              <a:t>  params: { articleId: 456 },</a:t>
            </a:r>
            <a:endParaRPr lang="en-US" altLang="zh-CN"/>
          </a:p>
          <a:p>
            <a:r>
              <a:rPr lang="en-US" altLang="zh-CN"/>
              <a:t>  mode: router.RouterMode.Standard</a:t>
            </a:r>
            <a:endParaRPr lang="en-US" altLang="zh-CN"/>
          </a:p>
          <a:p>
            <a:r>
              <a:rPr lang="en-US" altLang="zh-CN"/>
              <a:t>});</a:t>
            </a:r>
            <a:endParaRPr lang="en-US" altLang="zh-CN"/>
          </a:p>
          <a:p>
            <a:r>
              <a:rPr lang="zh-CN" altLang="en-US"/>
              <a:t>// 此时栈里会有两个</a:t>
            </a:r>
            <a:r>
              <a:rPr lang="en-US" altLang="zh-CN"/>
              <a:t>ArticleDetail</a:t>
            </a:r>
            <a:r>
              <a:rPr lang="zh-CN" altLang="en-US"/>
              <a:t>实例，分别对应不同的文章</a:t>
            </a:r>
            <a:endParaRPr lang="zh-CN" altLang="en-US"/>
          </a:p>
          <a:p>
            <a:r>
              <a:rPr lang="zh-CN" altLang="en-US"/>
              <a:t>2. 单实例模式适用场景</a:t>
            </a:r>
            <a:endParaRPr lang="zh-CN" altLang="en-US"/>
          </a:p>
          <a:p>
            <a:r>
              <a:rPr lang="zh-CN" altLang="en-US"/>
              <a:t>适合需要保持页面状态一致性的场景，比如：</a:t>
            </a:r>
            <a:endParaRPr lang="zh-CN" altLang="en-US"/>
          </a:p>
          <a:p>
            <a:r>
              <a:rPr lang="zh-CN" altLang="en-US"/>
              <a:t>电商 </a:t>
            </a:r>
            <a:r>
              <a:rPr lang="en-US" altLang="zh-CN"/>
              <a:t>APP </a:t>
            </a:r>
            <a:r>
              <a:rPr lang="zh-CN" altLang="en-US"/>
              <a:t>的商品详情页（从商品列表、推荐页多次进入，只保留一个实例，避免重复加载和状态混乱）</a:t>
            </a:r>
            <a:endParaRPr lang="zh-CN" altLang="en-US"/>
          </a:p>
          <a:p>
            <a:r>
              <a:rPr lang="zh-CN" altLang="en-US"/>
              <a:t>设置页、个人中心页（全局唯一，不需要多个实例）</a:t>
            </a:r>
            <a:endParaRPr lang="zh-CN" altLang="en-US"/>
          </a:p>
          <a:p>
            <a:r>
              <a:rPr lang="en-US" altLang="zh-CN"/>
              <a:t>typescript</a:t>
            </a:r>
            <a:endParaRPr lang="en-US" altLang="zh-CN"/>
          </a:p>
          <a:p>
            <a:r>
              <a:rPr lang="zh-CN" altLang="en-US"/>
              <a:t>运行</a:t>
            </a:r>
            <a:endParaRPr lang="zh-CN" altLang="en-US"/>
          </a:p>
          <a:p>
            <a:r>
              <a:rPr lang="zh-CN" altLang="en-US"/>
              <a:t>// 单实例模式跳转示例</a:t>
            </a:r>
            <a:endParaRPr lang="zh-CN" altLang="en-US"/>
          </a:p>
          <a:p>
            <a:r>
              <a:rPr lang="zh-CN" altLang="en-US"/>
              <a:t>// 第一次跳转商品详情页（栈中无实例，新建）</a:t>
            </a:r>
            <a:endParaRPr lang="zh-CN" altLang="en-US"/>
          </a:p>
          <a:p>
            <a:r>
              <a:rPr lang="en-US" altLang="zh-CN"/>
              <a:t>router.pushUrl({</a:t>
            </a:r>
            <a:endParaRPr lang="en-US" altLang="zh-CN"/>
          </a:p>
          <a:p>
            <a:r>
              <a:rPr lang="en-US" altLang="zh-CN"/>
              <a:t>  url: 'pages/GoodsDetail',</a:t>
            </a:r>
            <a:endParaRPr lang="en-US" altLang="zh-CN"/>
          </a:p>
          <a:p>
            <a:r>
              <a:rPr lang="en-US" altLang="zh-CN"/>
              <a:t>  params: { goodsId: 789 },</a:t>
            </a:r>
            <a:endParaRPr lang="en-US" altLang="zh-CN"/>
          </a:p>
          <a:p>
            <a:r>
              <a:rPr lang="en-US" altLang="zh-CN"/>
              <a:t>  mode: router.RouterMode.Single</a:t>
            </a:r>
            <a:endParaRPr lang="en-US" altLang="zh-CN"/>
          </a:p>
          <a:p>
            <a:r>
              <a:rPr lang="en-US" altLang="zh-CN"/>
              <a:t>});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// 第二次跳转同一商品详情页（栈中已有实例，移动到栈顶）</a:t>
            </a:r>
            <a:endParaRPr lang="zh-CN" altLang="en-US"/>
          </a:p>
          <a:p>
            <a:r>
              <a:rPr lang="en-US" altLang="zh-CN"/>
              <a:t>router.pushUrl({</a:t>
            </a:r>
            <a:endParaRPr lang="en-US" altLang="zh-CN"/>
          </a:p>
          <a:p>
            <a:r>
              <a:rPr lang="en-US" altLang="zh-CN"/>
              <a:t>  url: 'pages/GoodsDetail',</a:t>
            </a:r>
            <a:endParaRPr lang="en-US" altLang="zh-CN"/>
          </a:p>
          <a:p>
            <a:r>
              <a:rPr lang="en-US" altLang="zh-CN"/>
              <a:t>  params: { goodsId: 789 },</a:t>
            </a:r>
            <a:endParaRPr lang="en-US" altLang="zh-CN"/>
          </a:p>
          <a:p>
            <a:r>
              <a:rPr lang="en-US" altLang="zh-CN"/>
              <a:t>  mode: router.RouterMode.Single</a:t>
            </a:r>
            <a:endParaRPr lang="en-US" altLang="zh-CN"/>
          </a:p>
          <a:p>
            <a:r>
              <a:rPr lang="en-US" altLang="zh-CN"/>
              <a:t>});</a:t>
            </a:r>
            <a:endParaRPr lang="en-US" altLang="zh-CN"/>
          </a:p>
          <a:p>
            <a:r>
              <a:rPr lang="zh-CN" altLang="en-US"/>
              <a:t>// 此时栈里只会有一个</a:t>
            </a:r>
            <a:r>
              <a:rPr lang="en-US" altLang="zh-CN"/>
              <a:t>GoodsDetail</a:t>
            </a:r>
            <a:r>
              <a:rPr lang="zh-CN" altLang="en-US"/>
              <a:t>实例，旧的被移动到栈顶，不会新建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197957"/>
            <a:ext cx="12190413" cy="2425257"/>
            <a:chOff x="170694" y="176370"/>
            <a:chExt cx="3936004" cy="782777"/>
          </a:xfrm>
        </p:grpSpPr>
        <p:sp>
          <p:nvSpPr>
            <p:cNvPr id="44" name="等腰三角形 43"/>
            <p:cNvSpPr/>
            <p:nvPr/>
          </p:nvSpPr>
          <p:spPr>
            <a:xfrm>
              <a:off x="1662530" y="176370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459484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10271745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8543778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9407762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6815811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7679795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2413" cy="238918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3625"/>
            <a:ext cx="9142413" cy="16557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BA547ACE-A7D1-480A-B753-D8782B6D2C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A8FCBC2E-FA6F-4192-B030-7C07F59CD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4013" cy="43529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BA547ACE-A7D1-480A-B753-D8782B6D2C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A8FCBC2E-FA6F-4192-B030-7C07F59CD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4013" cy="285432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91050"/>
            <a:ext cx="10514013" cy="1500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BA547ACE-A7D1-480A-B753-D8782B6D2C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A8FCBC2E-FA6F-4192-B030-7C07F59CD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0013" cy="43529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0613" y="1825625"/>
            <a:ext cx="5181600" cy="43529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BA547ACE-A7D1-480A-B753-D8782B6D2C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A8FCBC2E-FA6F-4192-B030-7C07F59CD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4012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6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0613" y="1681163"/>
            <a:ext cx="51831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0613" y="2505075"/>
            <a:ext cx="5183187" cy="3686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BA547ACE-A7D1-480A-B753-D8782B6D2C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A8FCBC2E-FA6F-4192-B030-7C07F59CD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BA547ACE-A7D1-480A-B753-D8782B6D2C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A8FCBC2E-FA6F-4192-B030-7C07F59CD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BA547ACE-A7D1-480A-B753-D8782B6D2C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A8FCBC2E-FA6F-4192-B030-7C07F59CD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0612" cy="48752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BA547ACE-A7D1-480A-B753-D8782B6D2C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A8FCBC2E-FA6F-4192-B030-7C07F59CD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0612" cy="4875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BA547ACE-A7D1-480A-B753-D8782B6D2C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A8FCBC2E-FA6F-4192-B030-7C07F59CD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4013" cy="43529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BA547ACE-A7D1-480A-B753-D8782B6D2C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A8FCBC2E-FA6F-4192-B030-7C07F59CD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7313" cy="58134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34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BA547ACE-A7D1-480A-B753-D8782B6D2C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A8FCBC2E-FA6F-4192-B030-7C07F59CD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2413" cy="23891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3625"/>
            <a:ext cx="9142413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4013" cy="28543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91050"/>
            <a:ext cx="10514013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0013" cy="43529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0613" y="1825625"/>
            <a:ext cx="5181600" cy="43529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4012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61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0613" y="1681163"/>
            <a:ext cx="51831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0613" y="2505075"/>
            <a:ext cx="5183187" cy="36861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0612" cy="48752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0612" cy="48752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7313" cy="58134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342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2413" cy="23891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3625"/>
            <a:ext cx="9142413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4013" cy="28543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91050"/>
            <a:ext cx="10514013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0013" cy="43529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0613" y="1825625"/>
            <a:ext cx="5181600" cy="43529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4012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61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0613" y="1681163"/>
            <a:ext cx="51831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0613" y="2505075"/>
            <a:ext cx="5183187" cy="36861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0612" cy="48752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0612" cy="48752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7313" cy="58134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342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8" name="等腰三角形 7"/>
            <p:cNvSpPr/>
            <p:nvPr/>
          </p:nvSpPr>
          <p:spPr>
            <a:xfrm>
              <a:off x="1760162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等腰三角形 8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平行四边形 10"/>
            <p:cNvSpPr/>
            <p:nvPr/>
          </p:nvSpPr>
          <p:spPr>
            <a:xfrm>
              <a:off x="376965" y="178257"/>
              <a:ext cx="1557497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10271745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8543778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9407762" y="1700153"/>
            <a:ext cx="577036" cy="577246"/>
            <a:chOff x="5436096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6815811" y="1700153"/>
            <a:ext cx="577036" cy="577246"/>
            <a:chOff x="3491880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5" name="组合 24"/>
          <p:cNvGrpSpPr/>
          <p:nvPr userDrawn="1"/>
        </p:nvGrpSpPr>
        <p:grpSpPr>
          <a:xfrm>
            <a:off x="7679795" y="1700153"/>
            <a:ext cx="577036" cy="577246"/>
            <a:chOff x="4139952" y="1274820"/>
            <a:chExt cx="432833" cy="432834"/>
          </a:xfrm>
        </p:grpSpPr>
        <p:sp>
          <p:nvSpPr>
            <p:cNvPr id="26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4013" cy="4352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4013" cy="4352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1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5.xml"/><Relationship Id="rId1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2.emf"/><Relationship Id="rId1" Type="http://schemas.openxmlformats.org/officeDocument/2006/relationships/oleObject" Target="../embeddings/oleObject2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3.emf"/><Relationship Id="rId1" Type="http://schemas.openxmlformats.org/officeDocument/2006/relationships/oleObject" Target="../embeddings/oleObject3.bin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4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6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7.emf"/><Relationship Id="rId1" Type="http://schemas.openxmlformats.org/officeDocument/2006/relationships/oleObject" Target="../embeddings/oleObject4.bin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8.png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20.png"/><Relationship Id="rId2" Type="http://schemas.openxmlformats.org/officeDocument/2006/relationships/image" Target="../media/image19.emf"/><Relationship Id="rId1" Type="http://schemas.openxmlformats.org/officeDocument/2006/relationships/oleObject" Target="../embeddings/oleObject5.bin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6.xml"/><Relationship Id="rId1" Type="http://schemas.openxmlformats.org/officeDocument/2006/relationships/image" Target="../media/image8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4.emf"/><Relationship Id="rId1" Type="http://schemas.openxmlformats.org/officeDocument/2006/relationships/oleObject" Target="../embeddings/oleObject6.bin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8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8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5.emf"/><Relationship Id="rId1" Type="http://schemas.openxmlformats.org/officeDocument/2006/relationships/oleObject" Target="../embeddings/oleObject7.bin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6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6.emf"/><Relationship Id="rId1" Type="http://schemas.openxmlformats.org/officeDocument/2006/relationships/oleObject" Target="../embeddings/oleObject8.bin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7.pn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422798" y="2781722"/>
            <a:ext cx="7488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4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6</a:t>
            </a:r>
            <a:r>
              <a:rPr lang="zh-CN" altLang="en-US" sz="4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章 </a:t>
            </a:r>
            <a:r>
              <a:rPr lang="zh-CN" altLang="en-US" sz="4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路由</a:t>
            </a:r>
            <a:r>
              <a:rPr lang="zh-CN" altLang="en-US" sz="4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和组件导航</a:t>
            </a:r>
            <a:endParaRPr lang="en-US" altLang="zh-CN" sz="4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550590" y="3861842"/>
            <a:ext cx="9793088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鸿蒙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HarmonyOS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应用开发基础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083617" y="1817518"/>
            <a:ext cx="10051200" cy="688077"/>
            <a:chOff x="976532" y="1800499"/>
            <a:chExt cx="5454886" cy="515938"/>
          </a:xfrm>
        </p:grpSpPr>
        <p:sp>
          <p:nvSpPr>
            <p:cNvPr id="13" name="Pentagon 3"/>
            <p:cNvSpPr/>
            <p:nvPr/>
          </p:nvSpPr>
          <p:spPr bwMode="auto">
            <a:xfrm>
              <a:off x="976532" y="1800499"/>
              <a:ext cx="5454886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 smtClean="0">
                  <a:solidFill>
                    <a:srgbClr val="1369B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页面跳</a:t>
              </a:r>
              <a:r>
                <a:rPr lang="zh-CN" altLang="en-US" sz="2000" dirty="0">
                  <a:solidFill>
                    <a:srgbClr val="1369B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转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，能够通过路由实现页面跳转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4" name="MH_Others_1"/>
            <p:cNvSpPr/>
            <p:nvPr/>
          </p:nvSpPr>
          <p:spPr bwMode="auto">
            <a:xfrm>
              <a:off x="980439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083181" y="2787740"/>
            <a:ext cx="10052585" cy="685961"/>
            <a:chOff x="978872" y="2570436"/>
            <a:chExt cx="5437064" cy="514351"/>
          </a:xfrm>
        </p:grpSpPr>
        <p:sp>
          <p:nvSpPr>
            <p:cNvPr id="17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 smtClean="0">
                  <a:solidFill>
                    <a:srgbClr val="1369B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页面返回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，能够通过路由实现页面返回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8" name="MH_Others_1"/>
            <p:cNvSpPr/>
            <p:nvPr/>
          </p:nvSpPr>
          <p:spPr bwMode="auto">
            <a:xfrm>
              <a:off x="983001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084566" y="3764709"/>
            <a:ext cx="10051200" cy="688079"/>
            <a:chOff x="976532" y="1800498"/>
            <a:chExt cx="5454886" cy="515939"/>
          </a:xfrm>
        </p:grpSpPr>
        <p:sp>
          <p:nvSpPr>
            <p:cNvPr id="29" name="Pentagon 3"/>
            <p:cNvSpPr/>
            <p:nvPr/>
          </p:nvSpPr>
          <p:spPr bwMode="auto">
            <a:xfrm>
              <a:off x="976532" y="1800498"/>
              <a:ext cx="5454886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掌握在</a:t>
              </a:r>
              <a:r>
                <a:rPr lang="zh-CN" altLang="en-US" sz="2000" dirty="0" smtClean="0">
                  <a:solidFill>
                    <a:srgbClr val="1369B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页面</a:t>
              </a:r>
              <a:r>
                <a:rPr lang="zh-CN" altLang="en-US" sz="2000" dirty="0">
                  <a:solidFill>
                    <a:srgbClr val="1369B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返回前询问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，能够在页面返回前弹出一个询问对话框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30" name="MH_Others_1"/>
            <p:cNvSpPr/>
            <p:nvPr/>
          </p:nvSpPr>
          <p:spPr bwMode="auto">
            <a:xfrm>
              <a:off x="980439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083616" y="4717360"/>
            <a:ext cx="10051201" cy="688077"/>
            <a:chOff x="982303" y="3338787"/>
            <a:chExt cx="5433120" cy="515938"/>
          </a:xfrm>
        </p:grpSpPr>
        <p:sp>
          <p:nvSpPr>
            <p:cNvPr id="32" name="Pentagon 6"/>
            <p:cNvSpPr/>
            <p:nvPr/>
          </p:nvSpPr>
          <p:spPr bwMode="auto">
            <a:xfrm>
              <a:off x="982303" y="3338787"/>
              <a:ext cx="5433120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>
                  <a:solidFill>
                    <a:srgbClr val="1369B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跨模块的页面跳转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，能够实现跨模块的页面跳转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33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078850" y="5655581"/>
            <a:ext cx="10051201" cy="688077"/>
            <a:chOff x="982303" y="3338787"/>
            <a:chExt cx="5433120" cy="515938"/>
          </a:xfrm>
        </p:grpSpPr>
        <p:sp>
          <p:nvSpPr>
            <p:cNvPr id="20" name="Pentagon 6"/>
            <p:cNvSpPr/>
            <p:nvPr/>
          </p:nvSpPr>
          <p:spPr bwMode="auto">
            <a:xfrm>
              <a:off x="982303" y="3338787"/>
              <a:ext cx="5433120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熟悉</a:t>
              </a:r>
              <a:r>
                <a:rPr lang="zh-CN" altLang="en-US" sz="2000" dirty="0">
                  <a:solidFill>
                    <a:srgbClr val="1369B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组件导航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，能够描述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ArkUI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中的组件导航功能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1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083617" y="2149524"/>
            <a:ext cx="10051200" cy="688077"/>
            <a:chOff x="976532" y="1800499"/>
            <a:chExt cx="5454886" cy="515938"/>
          </a:xfrm>
        </p:grpSpPr>
        <p:sp>
          <p:nvSpPr>
            <p:cNvPr id="13" name="Pentagon 3"/>
            <p:cNvSpPr/>
            <p:nvPr/>
          </p:nvSpPr>
          <p:spPr bwMode="auto">
            <a:xfrm>
              <a:off x="976532" y="1800499"/>
              <a:ext cx="5454886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2000" dirty="0">
                  <a:solidFill>
                    <a:srgbClr val="1369B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Navigation</a:t>
              </a:r>
              <a:r>
                <a:rPr lang="zh-CN" altLang="en-US" sz="2000" dirty="0">
                  <a:solidFill>
                    <a:srgbClr val="1369B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组件的使用方法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，能够使用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Navigation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组件制作导航页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4" name="MH_Others_1"/>
            <p:cNvSpPr/>
            <p:nvPr/>
          </p:nvSpPr>
          <p:spPr bwMode="auto">
            <a:xfrm>
              <a:off x="980439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083181" y="3119746"/>
            <a:ext cx="10052585" cy="685961"/>
            <a:chOff x="978872" y="2570436"/>
            <a:chExt cx="5437064" cy="514351"/>
          </a:xfrm>
        </p:grpSpPr>
        <p:sp>
          <p:nvSpPr>
            <p:cNvPr id="17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2000" dirty="0" err="1">
                  <a:solidFill>
                    <a:srgbClr val="1369B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NavPathStack</a:t>
              </a:r>
              <a:r>
                <a:rPr lang="zh-CN" altLang="en-US" sz="2000" dirty="0">
                  <a:solidFill>
                    <a:srgbClr val="1369B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对象的使用方法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，能够通过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NavPathStack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对象实现页面跳转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8" name="MH_Others_1"/>
            <p:cNvSpPr/>
            <p:nvPr/>
          </p:nvSpPr>
          <p:spPr bwMode="auto">
            <a:xfrm>
              <a:off x="983001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084566" y="4096715"/>
            <a:ext cx="10051200" cy="688079"/>
            <a:chOff x="976532" y="1800498"/>
            <a:chExt cx="5454886" cy="515939"/>
          </a:xfrm>
        </p:grpSpPr>
        <p:sp>
          <p:nvSpPr>
            <p:cNvPr id="29" name="Pentagon 3"/>
            <p:cNvSpPr/>
            <p:nvPr/>
          </p:nvSpPr>
          <p:spPr bwMode="auto">
            <a:xfrm>
              <a:off x="976532" y="1800498"/>
              <a:ext cx="5454886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sz="2000" dirty="0">
                  <a:solidFill>
                    <a:srgbClr val="1369B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路由表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，能够将所有的子页放到一个表中进行统一管理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30" name="MH_Others_1"/>
            <p:cNvSpPr/>
            <p:nvPr/>
          </p:nvSpPr>
          <p:spPr bwMode="auto">
            <a:xfrm>
              <a:off x="980439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079802" y="5106371"/>
            <a:ext cx="10051200" cy="688079"/>
            <a:chOff x="976532" y="1800498"/>
            <a:chExt cx="5454886" cy="515939"/>
          </a:xfrm>
        </p:grpSpPr>
        <p:sp>
          <p:nvSpPr>
            <p:cNvPr id="20" name="Pentagon 3"/>
            <p:cNvSpPr/>
            <p:nvPr/>
          </p:nvSpPr>
          <p:spPr bwMode="auto">
            <a:xfrm>
              <a:off x="976532" y="1800498"/>
              <a:ext cx="5454886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sz="2000" dirty="0">
                  <a:solidFill>
                    <a:srgbClr val="1369B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拦截器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，能够实现在页面跳转时进行拦截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1" name="MH_Others_1"/>
            <p:cNvSpPr/>
            <p:nvPr/>
          </p:nvSpPr>
          <p:spPr bwMode="auto">
            <a:xfrm>
              <a:off x="980439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4"/>
          <p:cNvSpPr txBox="1"/>
          <p:nvPr/>
        </p:nvSpPr>
        <p:spPr>
          <a:xfrm>
            <a:off x="383260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Summary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TextBox 35"/>
          <p:cNvSpPr txBox="1">
            <a:spLocks noChangeArrowheads="1"/>
          </p:cNvSpPr>
          <p:nvPr/>
        </p:nvSpPr>
        <p:spPr bwMode="auto">
          <a:xfrm>
            <a:off x="910630" y="2696147"/>
            <a:ext cx="10269847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组件导航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鸿蒙应用开发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中实现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的两种方式。其中，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提供了一些方法用于实现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组件导航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则是通过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导航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导航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子页跳转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功能，通过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子页跳转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。本章将对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组件导航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进行详细讲解。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119265" y="2584580"/>
            <a:ext cx="1192190" cy="613062"/>
            <a:chOff x="2215144" y="982844"/>
            <a:chExt cx="1244730" cy="842780"/>
          </a:xfrm>
        </p:grpSpPr>
        <p:sp>
          <p:nvSpPr>
            <p:cNvPr id="32" name="平行四边形 31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3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6.1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106774" y="3484244"/>
            <a:ext cx="1192190" cy="613061"/>
            <a:chOff x="2215144" y="2033848"/>
            <a:chExt cx="1244730" cy="842781"/>
          </a:xfrm>
        </p:grpSpPr>
        <p:sp>
          <p:nvSpPr>
            <p:cNvPr id="35" name="平行四边形 34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6" name="文本框 10"/>
            <p:cNvSpPr txBox="1"/>
            <p:nvPr/>
          </p:nvSpPr>
          <p:spPr>
            <a:xfrm>
              <a:off x="2393075" y="2066405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6.2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024817" y="2562401"/>
            <a:ext cx="5142331" cy="613062"/>
            <a:chOff x="4315150" y="953426"/>
            <a:chExt cx="3857250" cy="540057"/>
          </a:xfrm>
        </p:grpSpPr>
        <p:sp>
          <p:nvSpPr>
            <p:cNvPr id="38" name="矩形 37"/>
            <p:cNvSpPr/>
            <p:nvPr/>
          </p:nvSpPr>
          <p:spPr>
            <a:xfrm>
              <a:off x="4841196" y="1057390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路由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9" name="平行四边形 38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4012326" y="3462073"/>
            <a:ext cx="5142331" cy="613062"/>
            <a:chOff x="4315150" y="1647579"/>
            <a:chExt cx="3857250" cy="540057"/>
          </a:xfrm>
        </p:grpSpPr>
        <p:sp>
          <p:nvSpPr>
            <p:cNvPr id="41" name="矩形 40"/>
            <p:cNvSpPr/>
            <p:nvPr/>
          </p:nvSpPr>
          <p:spPr>
            <a:xfrm>
              <a:off x="4841196" y="17515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组件导航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2" name="平行四边形 41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3103588" y="4400908"/>
            <a:ext cx="1192190" cy="613062"/>
            <a:chOff x="2215144" y="982844"/>
            <a:chExt cx="1244730" cy="842780"/>
          </a:xfrm>
        </p:grpSpPr>
        <p:sp>
          <p:nvSpPr>
            <p:cNvPr id="44" name="平行四边形 43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5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6.3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009140" y="4378729"/>
            <a:ext cx="5142331" cy="613062"/>
            <a:chOff x="4315150" y="953426"/>
            <a:chExt cx="3857250" cy="540057"/>
          </a:xfrm>
        </p:grpSpPr>
        <p:sp>
          <p:nvSpPr>
            <p:cNvPr id="50" name="矩形 49"/>
            <p:cNvSpPr/>
            <p:nvPr/>
          </p:nvSpPr>
          <p:spPr>
            <a:xfrm>
              <a:off x="4841196" y="1057390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阶段案例</a:t>
              </a:r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——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设置中心页面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1" name="平行四边形 50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路由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03816" y="2925738"/>
            <a:ext cx="2088232" cy="1015663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0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</a:t>
            </a:r>
            <a:endParaRPr lang="en-US" altLang="en-GB" sz="60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6.1.1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页面跳转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6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5815965" y="3576722"/>
            <a:ext cx="5429568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页面跳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转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，能够通过路由实现页面跳转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1" name="椭圆 10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6.1.1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页面跳转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10630" y="1197546"/>
            <a:ext cx="105131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是指从一个页面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导航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到另一个页面，并且可以将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从一个页面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传递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到另一个页面。下面演示一个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购物软件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8354" name="Picture 2" descr="绘图1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414" y="2493690"/>
            <a:ext cx="6501600" cy="3450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6.1.1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页面跳转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83038" y="1917626"/>
            <a:ext cx="6624736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鸿蒙应用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负责管理不同页面之间的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参数传递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，它基于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轻量级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栈式管理结构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，每个页面都有唯一的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标识符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，所有被访问过的页面都会被放置在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每当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会根据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标识符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对页面进行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操作，实现页面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188" y="1917626"/>
            <a:ext cx="3283810" cy="35403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6.1.1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页面跳转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222998" y="1721926"/>
            <a:ext cx="7128792" cy="3724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页面栈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后进先出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的数据结构，用于存储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鸿蒙应用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中打开的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始终是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当前页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其他页面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则按照它们被打开的顺序排列在下面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最大容量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个页面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。若超出此限制，可能会导致应用程序出现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异常行为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，例如页面无法正常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压入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页面栈或无法正常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页面栈的最大容量，可以在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页面跳转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时，选择适当的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页面跳转模式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646" y="2068254"/>
            <a:ext cx="2761597" cy="2880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6.1.1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页面跳转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10630" y="1341562"/>
            <a:ext cx="10513168" cy="4508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功能通过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router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（或称为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router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）来实现，该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有两种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导入方式如下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导入方式如下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以上两种导入方式的效果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66814" y="2855420"/>
            <a:ext cx="6480135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router from '@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ohos.router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41612" y="4433544"/>
            <a:ext cx="6480135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router } from '@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kit.ArkUI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6.1.1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页面跳转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10630" y="1096510"/>
            <a:ext cx="105131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router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pushUrl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replaceUrl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，这两个方法都可以实现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，它们的区别在于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是否会替换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77718" y="2349674"/>
          <a:ext cx="10246080" cy="3641667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367394"/>
                <a:gridCol w="7878686"/>
              </a:tblGrid>
              <a:tr h="37750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163208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pushUrl</a:t>
                      </a: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目标页不会替换当前页，而是将当前页压入页面栈以保留当前页的状态，跳转后可以通过返回操作回到当前页。这种模式适用于常规的页面导航，例如从一个列表页跳转到详情页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163208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replaceUrl</a:t>
                      </a: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目标页会替换当前页，当前页会被销毁并释放资源。跳转后无法通过返回操作回到当前页。这种模式适用于需要替换当前页的场景，例如在登录成功后直接跳转到主页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6.1.1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页面跳转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68686" y="1210319"/>
            <a:ext cx="10513168" cy="4739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pushUrl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options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，用于设置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描述信息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，该对象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个属性：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表示目标页的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params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表示传递的参数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传递了参数，则在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中可以通过调用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router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getParams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来获取传递过来的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。如果不需要传递参数，可以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省略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params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41040" y="2131909"/>
            <a:ext cx="6768460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router.pushUrl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(options, mode?, callback?);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6.1.1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页面跳转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10630" y="1111971"/>
            <a:ext cx="10513168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的，用于设置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，包括标准实例模式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router.RouterMode.Standard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和单实例模式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router.RouterMode.Single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，它们的区别在于是否会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新建目标页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，默认使用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标准实例模式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，两种模式的说明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42778" y="2887172"/>
          <a:ext cx="10248872" cy="320691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560799"/>
                <a:gridCol w="7688073"/>
              </a:tblGrid>
              <a:tr h="39364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模式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说明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111140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标准实例模式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每次跳转都会新建一个目标页并压入栈顶。这种模式适用于需要在同一</a:t>
                      </a: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URL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下展示不同内容或状态的场景，例如博客的不同文章页面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1701870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单实例模式</a:t>
                      </a:r>
                      <a:endParaRPr lang="zh-CN" sz="18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如果目标页已经在页面栈中，则离栈顶最近的同</a:t>
                      </a: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URL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页面会被移动到栈顶并重新加载；如果目标页不存在，则按照标准实例模式跳转。这种模式适用于需要保持页面状态一致性的场景，例如购物软件的商品详情页面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6.1.1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页面跳转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54646" y="2005684"/>
            <a:ext cx="105131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callback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的，用于处理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回调函数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。如果省略了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callback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可作为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38"/>
          <p:cNvSpPr/>
          <p:nvPr/>
        </p:nvSpPr>
        <p:spPr>
          <a:xfrm>
            <a:off x="1325642" y="4601699"/>
            <a:ext cx="9661991" cy="117531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8" name="流程图: 资料带 7"/>
          <p:cNvSpPr/>
          <p:nvPr/>
        </p:nvSpPr>
        <p:spPr>
          <a:xfrm>
            <a:off x="1126654" y="4365898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02212" y="4688778"/>
            <a:ext cx="868136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跳转的页面必须是被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@Entry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装饰的组件，并且该页面必须注册到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entry/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/main/resources/base/profile/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main_page.json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文件中。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6.1.1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页面跳转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10630" y="967008"/>
            <a:ext cx="105131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pushUrl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跳转失败时，通常会返回一个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跳转失败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的具体原因。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pushUrl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的常见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及其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82638" y="2184670"/>
          <a:ext cx="10248872" cy="390942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560799"/>
                <a:gridCol w="7688073"/>
              </a:tblGrid>
              <a:tr h="41281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错误码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116553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100001</a:t>
                      </a:r>
                      <a:endParaRPr lang="zh-CN" sz="18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内部错误，可能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是未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成功获取渲染引擎或解析参数失败等原因导致的。需要检查代码逻辑或参数设置，确保跳转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操作</a:t>
                      </a:r>
                      <a:r>
                        <a:rPr lang="zh-CN" alt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能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正确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执行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116553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100002</a:t>
                      </a:r>
                      <a:endParaRPr lang="zh-CN" sz="18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路由页面跳转时输入的路径错误或不存在。需要确保跳转的目标页路径正确，并且在路由配置中正确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注册</a:t>
                      </a:r>
                      <a:r>
                        <a:rPr lang="zh-CN" alt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了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该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页面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116553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100003</a:t>
                      </a:r>
                      <a:endParaRPr lang="zh-CN" sz="18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跳转页面压入页面数量超过</a:t>
                      </a: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32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。在这种情况下，可以考虑优化页面导航逻辑，减少页面数量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6.1.1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页面跳转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10630" y="967008"/>
            <a:ext cx="10513168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replaceUrl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pushUrl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相同，两者接收相同的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参数格式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。当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replaceUrl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跳转失败时，通常会返回一个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跳转失败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的具体原因。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replaceUrl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的常见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及其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46189" y="2599497"/>
          <a:ext cx="10248872" cy="35666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560799"/>
                <a:gridCol w="7688073"/>
              </a:tblGrid>
              <a:tr h="677170"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错误码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8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1444715"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100001</a:t>
                      </a:r>
                      <a:endParaRPr lang="zh-CN" sz="18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内部错误，可能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是未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成功获取渲染引擎或解析参数失败等原因导致的。需要检查代码逻辑或参数设置，确保跳转操作正确执行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1444715"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200002</a:t>
                      </a:r>
                      <a:endParaRPr lang="zh-CN" sz="18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路由页面替换时输入的路径错误或不存在。需要确保跳转的目标页路径正确，并且在路由配置中正确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注册</a:t>
                      </a:r>
                      <a:r>
                        <a:rPr lang="zh-CN" alt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了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该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页面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6.1.1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页面跳转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96678" y="1243212"/>
            <a:ext cx="10513168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下面演示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如何使用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pushUrl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传递参数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处理错误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904790" y="2421682"/>
          <a:ext cx="8496944" cy="2462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" name="Visio" r:id="rId1" imgW="6099810" imgH="1788160" progId="Visio.Drawing.15">
                  <p:embed/>
                </p:oleObj>
              </mc:Choice>
              <mc:Fallback>
                <p:oleObj name="Visio" r:id="rId1" imgW="6099810" imgH="178816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4790" y="2421682"/>
                        <a:ext cx="8496944" cy="24626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6.1.1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页面跳转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52951" y="2349674"/>
            <a:ext cx="105131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时，可能有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都需要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，此时可以将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全部传递给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下一个页面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81898" y="1262275"/>
            <a:ext cx="4705396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91860" y="1402476"/>
            <a:ext cx="4595434" cy="400110"/>
          </a:xfrm>
          <a:prstGeom prst="rect">
            <a:avLst/>
          </a:prstGeom>
          <a:solidFill>
            <a:srgbClr val="1369B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多学一招：在页面跳转时传递所有参数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66926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131795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pic>
        <p:nvPicPr>
          <p:cNvPr id="10" name="图形 11" descr="讲故事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639" y="1045642"/>
            <a:ext cx="936104" cy="9361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6.1.1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页面跳转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52951" y="2133650"/>
            <a:ext cx="10513168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假设有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个页面，现在想要在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跳转到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时传递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跳转到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时传递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跳转到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时传递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，那么可以在每个页面发生跳转时，通过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router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getParams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全部传递过去，示例代码如下。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81898" y="1262275"/>
            <a:ext cx="4705396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91860" y="1402476"/>
            <a:ext cx="4595434" cy="400110"/>
          </a:xfrm>
          <a:prstGeom prst="rect">
            <a:avLst/>
          </a:prstGeom>
          <a:solidFill>
            <a:srgbClr val="1369B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多学一招：在页面跳转时传递所有参数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66926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131795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pic>
        <p:nvPicPr>
          <p:cNvPr id="10" name="图形 11" descr="讲故事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639" y="1045642"/>
            <a:ext cx="936104" cy="93610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054646" y="4220210"/>
            <a:ext cx="10339465" cy="1754326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router.pushUrl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({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url: 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目标页路径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params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router.getParams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});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返回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8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/>
        </p:nvSpPr>
        <p:spPr bwMode="auto">
          <a:xfrm>
            <a:off x="5815965" y="3576722"/>
            <a:ext cx="5429568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页面返回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，能够通过路由实现页面返回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3" name="椭圆 12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返回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375126" y="2321772"/>
            <a:ext cx="5616624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在一个页面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完成操作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后，可能需要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上一个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页面或者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页面，这就需要用到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页面返回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功能。在返回的过程中可以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传递数据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89" y="889620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标注 11"/>
          <p:cNvSpPr/>
          <p:nvPr/>
        </p:nvSpPr>
        <p:spPr bwMode="auto">
          <a:xfrm rot="5400000">
            <a:off x="7102756" y="-26592"/>
            <a:ext cx="2088232" cy="6264699"/>
          </a:xfrm>
          <a:prstGeom prst="wedgeRoundRectCallout">
            <a:avLst/>
          </a:prstGeom>
          <a:noFill/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返回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375126" y="2205658"/>
            <a:ext cx="6048672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router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用于实现页面返回功能，这个方法会将用户导航到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上一个页面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，而且不会重新初始化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上一个页面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，因此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上一个页面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都会被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638" y="1678339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返回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2638" y="1210319"/>
            <a:ext cx="10513168" cy="4739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options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，该参数是一个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，用于设置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。它有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params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表示返回页面的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路径。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params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表示传递的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省略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options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，则表示返回到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上一个页面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。如果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传递了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options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并且传递了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返回页面的路径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，则表示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返回到指定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5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传递了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params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中可以通过调用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router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getParams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来获取传递过来的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。如果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传递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，则可以省略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params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99154" y="1888136"/>
            <a:ext cx="6480135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router.back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(options?);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6.1.2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返回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439022" y="2701007"/>
            <a:ext cx="6336704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下面演示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如何使用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页面返回并传递参数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020" y="2205658"/>
            <a:ext cx="2761597" cy="2880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6.1.3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在页面返回前询问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8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/>
        </p:nvSpPr>
        <p:spPr bwMode="auto">
          <a:xfrm>
            <a:off x="5815965" y="3576722"/>
            <a:ext cx="5429568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在页面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返回前询问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，能够在页面返回前弹出一个询问对话框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3" name="椭圆 12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6.1.3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在页面返回前询问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58066" y="2205658"/>
            <a:ext cx="6120680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在开发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页面返回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功能时，为了避免用户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误点击“返回”按钮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导致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数据丢失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，需要在用户从一个页面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到另一个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一个询问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对话框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，让用户确认是否要执行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返回操作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65" y="889620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标注 11"/>
          <p:cNvSpPr/>
          <p:nvPr/>
        </p:nvSpPr>
        <p:spPr bwMode="auto">
          <a:xfrm rot="5400000">
            <a:off x="6808310" y="-134602"/>
            <a:ext cx="2577214" cy="6595709"/>
          </a:xfrm>
          <a:prstGeom prst="wedgeRoundRectCallout">
            <a:avLst/>
          </a:prstGeom>
          <a:noFill/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6.1.3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在页面返回前询问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31110" y="2188873"/>
            <a:ext cx="5616624" cy="2200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页面返回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前增加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询问对话框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5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内置询问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对话框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自定义询问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对话框</a:t>
            </a:r>
            <a:endParaRPr lang="en-US" altLang="zh-CN" sz="20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5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分别进行讲解。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638" y="1678339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6.1.3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在页面返回前询问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25144" y="1891059"/>
            <a:ext cx="10513168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内置询问</a:t>
            </a:r>
            <a:r>
              <a:rPr lang="zh-CN" altLang="en-US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对话框</a:t>
            </a:r>
            <a:endParaRPr lang="en-US" altLang="zh-CN" sz="2000" b="1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endParaRPr lang="zh-CN" altLang="en-US" sz="1000" b="1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router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showAlertBeforeBackPage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用于实现在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时弹出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询问对话框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的功能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之前，可以通过调用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showAlertBeforeBackPage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询问对话框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，启用后，当调用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询问对话框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就会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自动弹出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6.1.3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在页面返回前询问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2638" y="1341562"/>
            <a:ext cx="10513168" cy="4393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showAlertBeforeBackPage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options</a:t>
            </a:r>
            <a:r>
              <a:rPr lang="zh-CN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</a:t>
            </a:r>
            <a:r>
              <a:rPr lang="zh-CN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</a:t>
            </a:r>
            <a:r>
              <a:rPr lang="zh-CN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message</a:t>
            </a:r>
            <a:r>
              <a:rPr lang="zh-CN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，该属性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string</a:t>
            </a:r>
            <a:r>
              <a:rPr lang="zh-CN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，用于设置</a:t>
            </a:r>
            <a:r>
              <a:rPr lang="zh-CN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询问对话框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的信息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5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调用成功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，则会启用</a:t>
            </a:r>
            <a:r>
              <a:rPr lang="zh-CN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询问</a:t>
            </a:r>
            <a:r>
              <a:rPr lang="zh-CN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对话框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调用失败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，则会</a:t>
            </a:r>
            <a:r>
              <a:rPr lang="zh-CN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抛出异常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，可以通过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try…catch</a:t>
            </a:r>
            <a:r>
              <a:rPr lang="zh-CN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捕获异常，通过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e.code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e.message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r>
              <a:rPr lang="zh-CN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错误信息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54992" y="2299732"/>
            <a:ext cx="6768460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router.showAlertBeforeBackPage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(options);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6.1.3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在页面返回前询问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22007" y="2221708"/>
            <a:ext cx="105131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在弹出的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询问对话框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中，会显示“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”和“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”选项。如果选择“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”，将使页面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停留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；如果选择“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”，就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并根据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决定如何执行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38"/>
          <p:cNvSpPr/>
          <p:nvPr/>
        </p:nvSpPr>
        <p:spPr>
          <a:xfrm>
            <a:off x="1109618" y="4529691"/>
            <a:ext cx="10500614" cy="134837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8" name="流程图: 资料带 7"/>
          <p:cNvSpPr/>
          <p:nvPr/>
        </p:nvSpPr>
        <p:spPr>
          <a:xfrm>
            <a:off x="910630" y="4293890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56542" y="4689340"/>
            <a:ext cx="990550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无法获取用户单击的是“确定”还是“取消”，因为选择的结果是由询问对话框本身进行处理的。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6.1.3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在页面返回前询问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2638" y="1573636"/>
            <a:ext cx="105131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下面通过一个例子演示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询问对话框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使用方法。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在页面中定义一个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，实现当用户单击该按钮时，弹出一个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询问对话框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，询问用户是否确认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放弃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付款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/>
          <p:nvPr/>
        </p:nvPicPr>
        <p:blipFill>
          <a:blip r:embed="rId1"/>
          <a:stretch>
            <a:fillRect/>
          </a:stretch>
        </p:blipFill>
        <p:spPr>
          <a:xfrm>
            <a:off x="4340631" y="3213770"/>
            <a:ext cx="3797182" cy="13242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6.1.3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在页面返回前询问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10630" y="2121891"/>
            <a:ext cx="10513168" cy="2316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自定义询问</a:t>
            </a:r>
            <a:r>
              <a:rPr lang="zh-CN" altLang="en-US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对话框</a:t>
            </a:r>
            <a:endParaRPr lang="en-US" altLang="zh-CN" sz="2000" b="1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b="1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自定义询问对话框可以使用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promptAction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该对象的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showDialog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可以实现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类似使用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showAlertBeforeBackPage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启用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询问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对话框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的效果，并可以获取用户点击的是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哪个按钮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，从而在用户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点击后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执行相应的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6.1.3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在页面返回前询问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10630" y="1505470"/>
            <a:ext cx="10513168" cy="7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下面通过一个例子演示如何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自定义询问对话框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4191518" y="2770930"/>
            <a:ext cx="3951392" cy="14070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6.1.3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在页面返回前询问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38622" y="1945530"/>
            <a:ext cx="105131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前面讲到的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pushUrl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replaceUrl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getParams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showAlertBeforeBackPage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外，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router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还提供了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其他的方法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81898" y="1262275"/>
            <a:ext cx="4777404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91860" y="1402476"/>
            <a:ext cx="4667442" cy="400110"/>
          </a:xfrm>
          <a:prstGeom prst="rect">
            <a:avLst/>
          </a:prstGeom>
          <a:solidFill>
            <a:srgbClr val="1369B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多学一招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：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Router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对象提供的其他方法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026113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190982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形 11" descr="讲故事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639" y="1045642"/>
            <a:ext cx="936104" cy="936104"/>
          </a:xfrm>
          <a:prstGeom prst="rect">
            <a:avLst/>
          </a:prstGeom>
        </p:spPr>
      </p:pic>
      <p:graphicFrame>
        <p:nvGraphicFramePr>
          <p:cNvPr id="13" name="表格 12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996590" y="3016646"/>
          <a:ext cx="10248872" cy="3437483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192088"/>
                <a:gridCol w="7056784"/>
              </a:tblGrid>
              <a:tr h="49106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zh-CN" sz="16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9106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clear()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清空页面栈中的所有历史页面，仅保留当前页面作为栈顶页面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9106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getLength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获取当前页面栈的数量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9106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getState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获取当前页面的状态信息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9106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pushNamedRoute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跳转到指定的命名路由页面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9106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hideAlertBeforeBackPage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UI" panose="020B0502040204020203" pitchFamily="34" charset="0"/>
                        </a:rPr>
                        <a:t>在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UI" panose="020B0502040204020203" pitchFamily="34" charset="0"/>
                        </a:rPr>
                        <a:t>页面返回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UI" panose="020B0502040204020203" pitchFamily="34" charset="0"/>
                        </a:rPr>
                        <a:t>时</a:t>
                      </a:r>
                      <a:r>
                        <a:rPr lang="zh-CN" alt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UI" panose="020B0502040204020203" pitchFamily="34" charset="0"/>
                        </a:rPr>
                        <a:t>禁用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UI" panose="020B0502040204020203" pitchFamily="34" charset="0"/>
                        </a:rPr>
                        <a:t>询问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UI" panose="020B0502040204020203" pitchFamily="34" charset="0"/>
                        </a:rPr>
                        <a:t>对话框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9106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replaceNamedRoute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用指定的命名路由页面替换当前页面，并销毁被替换的页面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6.1.4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跨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模块的页面跳转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9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0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35"/>
          <p:cNvSpPr txBox="1">
            <a:spLocks noChangeArrowheads="1"/>
          </p:cNvSpPr>
          <p:nvPr/>
        </p:nvSpPr>
        <p:spPr bwMode="auto">
          <a:xfrm>
            <a:off x="5815965" y="3576722"/>
            <a:ext cx="5429568" cy="1165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跨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模块的页面跳转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，能够实现跨模块的页面跳转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4" name="椭圆 13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6.1.4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跨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模块的页面跳转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8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297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标注 11"/>
          <p:cNvSpPr/>
          <p:nvPr/>
        </p:nvSpPr>
        <p:spPr bwMode="auto">
          <a:xfrm rot="5400000">
            <a:off x="7175326" y="45418"/>
            <a:ext cx="2160240" cy="6048672"/>
          </a:xfrm>
          <a:prstGeom prst="wedgeRoundRectCallout">
            <a:avLst/>
          </a:prstGeom>
          <a:noFill/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569643" y="2275058"/>
            <a:ext cx="5206084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在实际开发中，一个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可能会有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多个模块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，有时需要实现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跨模块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，也就是从一个模块的页面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到另一个模块的页面。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6.1.4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跨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模块的页面跳转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231110" y="2565698"/>
            <a:ext cx="5184576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鸿蒙应用中的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跨模块跳转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，并且有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基于地址跳转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基于命名路由跳转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两种方式，下面分别进行讲解。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497" y="1925845"/>
            <a:ext cx="3293541" cy="35508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6.1.4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跨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模块的页面跳转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39658" y="1053530"/>
            <a:ext cx="10513168" cy="5432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zh-CN" altLang="en-US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地址跳转</a:t>
            </a:r>
            <a:endParaRPr lang="zh-CN" altLang="en-US" sz="2000" b="1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通过为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router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pushUrl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传递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地址信息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可以实现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跨模块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，地址的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包名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：可以从项目根目录下的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AppScope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/app.json5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中获取。在该文件中，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bundleName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包名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模块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：可以从项目根目录下的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build-profile.json5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获取，在该文件中找到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modules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，里面定义的每个对象对应一个模块，对象的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模块名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页面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：可以从“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模块名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/main/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ets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/pages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下获取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页面文件名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，不要加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后缀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34438" y="2637706"/>
            <a:ext cx="8323608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@bundle: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包名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模块名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ets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/pages/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页面文件名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6.1.4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跨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模块的页面跳转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39658" y="1447254"/>
            <a:ext cx="105131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，实现从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entry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ModeRouter1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页面跳转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library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Index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863484" y="2637706"/>
          <a:ext cx="6665516" cy="2974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" name="Visio" r:id="rId1" imgW="3732530" imgH="1661160" progId="Visio.Drawing.15">
                  <p:embed/>
                </p:oleObj>
              </mc:Choice>
              <mc:Fallback>
                <p:oleObj name="Visio" r:id="rId1" imgW="3732530" imgH="166116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484" y="2637706"/>
                        <a:ext cx="6665516" cy="29746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6.1.4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跨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模块的页面跳转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10630" y="1514176"/>
            <a:ext cx="10513168" cy="3470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zh-CN" altLang="en-US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命名路由跳</a:t>
            </a:r>
            <a:r>
              <a:rPr lang="zh-CN" altLang="en-US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</a:t>
            </a:r>
            <a:endParaRPr lang="en-US" altLang="zh-CN" sz="2000" b="1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b="1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命名路由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是指为一个页面的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，命名后可通过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找到对应的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命名路由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@Entry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装饰器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基础上添加了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命名路由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routeName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就是当前页面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路由名称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27146" y="3496741"/>
            <a:ext cx="6480135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@Entry({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routeName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'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名称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})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6.1.4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跨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模块的页面跳转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10630" y="1557585"/>
            <a:ext cx="10513168" cy="38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命名路由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，可以通过如下方式进行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若要实现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跨模块跳转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，还需要在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entry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下的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oh-package.json5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中配置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依赖的模块信息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，并使用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import()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的页面。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66960" y="2496301"/>
            <a:ext cx="7200508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router.pushNamedRoute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({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name: '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名称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});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6.1.4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跨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模块的页面跳转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10630" y="1485578"/>
            <a:ext cx="105131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下面演示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命名路由跳转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，实现从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entry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ModeRouter2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library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Pay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348882" y="2892054"/>
          <a:ext cx="5636664" cy="2515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5" name="Visio" r:id="rId1" imgW="3732530" imgH="1661160" progId="Visio.Drawing.15">
                  <p:embed/>
                </p:oleObj>
              </mc:Choice>
              <mc:Fallback>
                <p:oleObj name="Visio" r:id="rId1" imgW="3732530" imgH="166116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882" y="2892054"/>
                        <a:ext cx="5636664" cy="25155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组件导航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03816" y="2925738"/>
            <a:ext cx="2088232" cy="1015663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0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</a:t>
            </a:r>
            <a:endParaRPr lang="en-US" altLang="en-GB" sz="60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6.2.1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初识组件导航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8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/>
        </p:nvSpPr>
        <p:spPr bwMode="auto">
          <a:xfrm>
            <a:off x="5815965" y="3576722"/>
            <a:ext cx="5429568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组件导航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，能够描述</a:t>
            </a:r>
            <a:r>
              <a:rPr lang="en-US" altLang="zh-CN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ArkUI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中的组件导航功能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3" name="椭圆 12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6.2.1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初识组件导航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364190" y="2320646"/>
            <a:ext cx="5616624" cy="2546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ArkUI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组件导航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功能包含两个重要的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NavDestination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，它们分别用于实现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导航页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5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导航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用于放置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导航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用于显示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导航项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89" y="889620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标注 11"/>
          <p:cNvSpPr/>
          <p:nvPr/>
        </p:nvSpPr>
        <p:spPr bwMode="auto">
          <a:xfrm rot="5400000">
            <a:off x="6628008" y="491698"/>
            <a:ext cx="3110860" cy="6192691"/>
          </a:xfrm>
          <a:prstGeom prst="wedgeRoundRectCallout">
            <a:avLst/>
          </a:prstGeom>
          <a:noFill/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6.2.1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初识组件导航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29378" name="Picture 2" descr="000000000001111111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972" y="2421682"/>
            <a:ext cx="4532965" cy="3280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939658" y="1168518"/>
            <a:ext cx="10627594" cy="954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导航页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（包含菜单栏）、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组成，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子组件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会显示在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3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子页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（包含菜单栏）、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组成，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NavDestination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子组件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会显示在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内容区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3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6.2.1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初识组件导航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29378" name="Picture 2" descr="000000000001111111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026" y="2896593"/>
            <a:ext cx="4532965" cy="3280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9379" name="Picture 3" descr="00000000000111111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556" y="2929309"/>
            <a:ext cx="4996537" cy="3214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941346" y="930131"/>
            <a:ext cx="10627594" cy="1900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导航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显示模式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，分别是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单栏模式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分栏模式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自适应模式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，默认采用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自适应模式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该模式下，组件会根据设备宽度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动态调整布局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5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当设备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屏幕宽度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小于或等于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520vp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时，组件导航采用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单栏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当设备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屏幕宽度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大于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520vp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时，组件导航采用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分栏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88196" y="6062282"/>
            <a:ext cx="1584176" cy="448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单栏模式</a:t>
            </a:r>
            <a:endParaRPr lang="zh-CN" altLang="en-US" sz="16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173913" y="6062282"/>
            <a:ext cx="1584176" cy="448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分栏模式</a:t>
            </a:r>
            <a:endParaRPr lang="zh-CN" altLang="en-US" sz="16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Navigation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0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1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35"/>
          <p:cNvSpPr txBox="1">
            <a:spLocks noChangeArrowheads="1"/>
          </p:cNvSpPr>
          <p:nvPr/>
        </p:nvSpPr>
        <p:spPr bwMode="auto">
          <a:xfrm>
            <a:off x="5815964" y="3576722"/>
            <a:ext cx="5607833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Navigation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组件的使用方法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，能够使用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Navigation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组件制作导航页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Navigation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36625" y="2688964"/>
            <a:ext cx="5667093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用于实现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导航页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，该组件提供了一些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，用于设置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导航页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90" y="817612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标注 11"/>
          <p:cNvSpPr/>
          <p:nvPr/>
        </p:nvSpPr>
        <p:spPr bwMode="auto">
          <a:xfrm rot="5400000">
            <a:off x="6951020" y="109143"/>
            <a:ext cx="1701216" cy="6236229"/>
          </a:xfrm>
          <a:prstGeom prst="wedgeRoundRectCallout">
            <a:avLst/>
          </a:prstGeom>
          <a:noFill/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Navigation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10629" y="1363867"/>
            <a:ext cx="105131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title</a:t>
            </a:r>
            <a:r>
              <a:rPr lang="zh-CN" altLang="en-US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b="1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title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页面标题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30809" y="2565698"/>
            <a:ext cx="7272808" cy="10156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Navigation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title('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主页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4951904" y="4077866"/>
            <a:ext cx="2430618" cy="100811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Navigation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10630" y="1847651"/>
            <a:ext cx="10513168" cy="26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en-US" altLang="zh-CN" sz="2000" b="1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titleMode</a:t>
            </a:r>
            <a:r>
              <a:rPr lang="zh-CN" altLang="en-US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en-US" altLang="zh-CN" sz="2000" b="1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1000" b="1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titleMode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默认位于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页面的顶部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，用于展示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页面的名称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操作按钮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，“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、“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菜单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有两个常用的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，分别是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Full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Navigation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10630" y="1197546"/>
            <a:ext cx="10513168" cy="26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Full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endParaRPr lang="en-US" altLang="zh-CN" sz="20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Full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通常会占据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页面顶部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全部宽度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垂直方向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上具有较大的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，适用于页面需要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突出标题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的场景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Full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默认模式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，不需要手动设置。如果要手动设置，可以将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titleMode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设置为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NavigationTitleMode.Full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46734" y="4228121"/>
            <a:ext cx="8640960" cy="1289905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Navigation()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.title('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主页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titleMode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NavigationTitleMode.Full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Navigation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10630" y="981522"/>
            <a:ext cx="10513168" cy="2200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endParaRPr lang="en-US" altLang="zh-CN" sz="20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标题文本的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，适用于页面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突出标题的场景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titleMode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设置为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NavigationTitleMode.Mini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即可将标题栏设置为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46734" y="3292017"/>
            <a:ext cx="8640960" cy="1289905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Navigation()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.title('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主页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titleMode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NavigationTitleMode.Mini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834329" y="4941962"/>
          <a:ext cx="4673711" cy="1420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3" name="Visio" r:id="rId1" imgW="3408680" imgH="1042035" progId="Visio.Drawing.15">
                  <p:embed/>
                </p:oleObj>
              </mc:Choice>
              <mc:Fallback>
                <p:oleObj name="Visio" r:id="rId1" imgW="3408680" imgH="1042035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4329" y="4941962"/>
                        <a:ext cx="4673711" cy="14200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Navigation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25144" y="1413570"/>
            <a:ext cx="10513168" cy="26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mode</a:t>
            </a:r>
            <a:r>
              <a:rPr lang="zh-CN" altLang="en-US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en-US" altLang="zh-CN" sz="2000" b="1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b="1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组件导航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显示模式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单栏模式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分栏模式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自适应模式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单栏模式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设置为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NavigationMode.Stack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，即可将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单栏模式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61248" y="4279118"/>
            <a:ext cx="8640960" cy="874407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Navigation()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.mode(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NavigationMode.Stack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Navigation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25144" y="981522"/>
            <a:ext cx="10513168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）分栏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endParaRPr lang="zh-CN" altLang="en-US" sz="5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设置为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NavigationMode.Split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，即可将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分栏模式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61248" y="2564574"/>
            <a:ext cx="8640960" cy="874407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Navigation()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.mode(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NavigationMode.Stack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5144" y="3606343"/>
            <a:ext cx="10513168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）自适应模式</a:t>
            </a:r>
            <a:endParaRPr lang="zh-CN" altLang="en-US" sz="2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自适应模式是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默认模式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，不需要手动设置。如果要手动设置，可以将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设置为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NavigationMode.Auto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61248" y="5273536"/>
            <a:ext cx="8640960" cy="874407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Navigation()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.mode(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NavigationMode.Auto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Navigation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2638" y="1876251"/>
            <a:ext cx="10513168" cy="2777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menus</a:t>
            </a:r>
            <a:r>
              <a:rPr lang="zh-CN" altLang="en-US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en-US" altLang="zh-CN" sz="2000" b="1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menu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菜单栏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，该属性需要传递一个由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NavigationMenuItem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，每个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NavigationMenuItem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代表一个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菜单项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，包含菜单项的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等信息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竖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时菜单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栏最多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支持显示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个图标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时最多支持显示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个图标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，多余的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会被放入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自动生成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的“    ”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菜单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2798" y="4221882"/>
            <a:ext cx="232223" cy="2453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Navigation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2638" y="1155154"/>
            <a:ext cx="10513168" cy="3354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menus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菜单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菜单栏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竖屏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效果如下。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菜单栏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041609" y="2033434"/>
          <a:ext cx="6395226" cy="163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" name="Visio" r:id="rId1" imgW="3315970" imgH="856615" progId="Visio.Drawing.15">
                  <p:embed/>
                </p:oleObj>
              </mc:Choice>
              <mc:Fallback>
                <p:oleObj name="Visio" r:id="rId1" imgW="3315970" imgH="856615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609" y="2033434"/>
                        <a:ext cx="6395226" cy="1637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3322898" y="4876555"/>
            <a:ext cx="5832648" cy="5694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Navigation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2638" y="1701602"/>
            <a:ext cx="10513168" cy="3354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en-US" altLang="zh-CN" sz="2000" b="1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toolbarConfiguration</a:t>
            </a:r>
            <a:r>
              <a:rPr lang="zh-CN" altLang="en-US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en-US" altLang="zh-CN" sz="2000" b="1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b="1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toolbarConfiguration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，该属性需要传入一个由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ToolbarItem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。每个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ToolbarItem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代表一个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工具栏项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，包括工具栏的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等信息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工具栏在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竖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中最多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支持显示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个图标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，多余的图标会被放入自动生成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的“   ”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菜单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5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工具栏会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自动隐藏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，同时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所有选项移动至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菜单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6316" y="3588324"/>
            <a:ext cx="297796" cy="288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Navigation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2638" y="1400794"/>
            <a:ext cx="10513168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toolbarConfiguration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竖屏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效果如下。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工具栏在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3816773" y="2493690"/>
            <a:ext cx="4844897" cy="7909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3100443" y="4725938"/>
            <a:ext cx="6277555" cy="5888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6.2.2 Navigation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组件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2638" y="2133650"/>
            <a:ext cx="105131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除了前面讲到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title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titleMode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menus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toolbarConfiguration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外，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还提供了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其他的属性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181898" y="1262275"/>
            <a:ext cx="5281460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91859" y="1402476"/>
            <a:ext cx="5171499" cy="400110"/>
          </a:xfrm>
          <a:prstGeom prst="rect">
            <a:avLst/>
          </a:prstGeom>
          <a:solidFill>
            <a:srgbClr val="1369B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多学一招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：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Navigation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组件提供的其他属性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535366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700235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形 11" descr="讲故事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639" y="1045642"/>
            <a:ext cx="936104" cy="936104"/>
          </a:xfrm>
          <a:prstGeom prst="rect">
            <a:avLst/>
          </a:prstGeom>
        </p:spPr>
      </p:pic>
      <p:graphicFrame>
        <p:nvGraphicFramePr>
          <p:cNvPr id="13" name="表格 12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982638" y="3273518"/>
          <a:ext cx="10248872" cy="297624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016224"/>
                <a:gridCol w="8232648"/>
              </a:tblGrid>
              <a:tr h="49604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zh-CN" sz="16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9604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hideTitleBar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是否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隐藏标题栏，默认值为</a:t>
                      </a:r>
                      <a:r>
                        <a:rPr 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false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不隐藏标题栏；设置为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true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时表示隐藏标题栏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99208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hideBackButton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是否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隐藏标题栏中的返回键，默认值为</a:t>
                      </a:r>
                      <a:r>
                        <a:rPr 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false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显示返回键；设置为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true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时表示隐藏返回键。返回键仅针对</a:t>
                      </a: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titleMode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为</a:t>
                      </a: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NavigationTitleMode.Mini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有效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9604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hideNarBar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是否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隐藏导航栏，默认值为</a:t>
                      </a:r>
                      <a:r>
                        <a:rPr 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false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显示导航栏，设置为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true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时表示隐藏导航栏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9604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hideToolBar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是否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隐藏工具栏，默认值为</a:t>
                      </a:r>
                      <a:r>
                        <a:rPr 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false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显示工具栏；设置为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true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时表示隐藏工具栏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6.2.3 </a:t>
            </a:r>
            <a:r>
              <a:rPr lang="en-US" altLang="zh-CN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NavPathStack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5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5815965" y="3576722"/>
            <a:ext cx="5429568" cy="1719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en-US" altLang="zh-CN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NavPathStack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对象的使用方法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，能够通过</a:t>
            </a:r>
            <a:r>
              <a:rPr lang="en-US" altLang="zh-CN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NavPathStack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对象实现页面跳转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0" name="椭圆 9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6.2.3 </a:t>
            </a:r>
            <a:r>
              <a:rPr lang="en-US" altLang="zh-CN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NavPathStack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88606" y="2625224"/>
            <a:ext cx="5760640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NavPathStack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页面管理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的能力，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它基于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进行操作，使用它可以切换页面中要显示的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，从而实现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页面跳转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89" y="889620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圆角矩形标注 11"/>
          <p:cNvSpPr/>
          <p:nvPr/>
        </p:nvSpPr>
        <p:spPr bwMode="auto">
          <a:xfrm rot="5400000">
            <a:off x="7067316" y="225436"/>
            <a:ext cx="2088232" cy="6336707"/>
          </a:xfrm>
          <a:prstGeom prst="wedgeRoundRectCallout">
            <a:avLst/>
          </a:prstGeom>
          <a:noFill/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6.2.3 </a:t>
            </a:r>
            <a:r>
              <a:rPr lang="en-US" altLang="zh-CN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NavPathStack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27054" y="2381324"/>
            <a:ext cx="6840760" cy="2200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NavPathStack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的代码为“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new 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NavPathStack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创建了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NavPathStack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后，需要将它作为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传递给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，从而将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NavPathStack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关联起来。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622" y="1678339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6.2.3 </a:t>
            </a:r>
            <a:r>
              <a:rPr lang="en-US" altLang="zh-CN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NavPathStack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54172" y="1470768"/>
            <a:ext cx="10585176" cy="4047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NavPathStack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搭配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navDestination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子页的跳转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navDestination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用于定义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，它需要传入一个由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@Builder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装饰的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自定义构建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自定义构建函数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时有两个注意点，具体如下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自定义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可以接收两个参数：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表示传给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自定义构建函数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中的内容为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子页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的内容，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子页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的内容必须放在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NavDestination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内。在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自定义构建函数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中可以通过判断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来控制相应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的显示。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6.2.3 </a:t>
            </a:r>
            <a:r>
              <a:rPr lang="en-US" altLang="zh-CN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NavPathStack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32681" y="1097536"/>
            <a:ext cx="1051316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NavPathStack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的常用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54646" y="1845618"/>
          <a:ext cx="10244103" cy="427385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024336"/>
                <a:gridCol w="7219767"/>
              </a:tblGrid>
              <a:tr h="57514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zh-CN" sz="18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7514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pushPath</a:t>
                      </a: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将指定的子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页</a:t>
                      </a:r>
                      <a:r>
                        <a:rPr lang="zh-CN" alt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压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入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栈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7514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pushPathByName</a:t>
                      </a: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将指定名称的子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页</a:t>
                      </a:r>
                      <a:r>
                        <a:rPr lang="zh-CN" alt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压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入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栈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7514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replacePath</a:t>
                      </a: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将栈顶的子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页</a:t>
                      </a:r>
                      <a:r>
                        <a:rPr lang="zh-CN" alt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弹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出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栈，将指定的子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页</a:t>
                      </a:r>
                      <a:r>
                        <a:rPr lang="zh-CN" alt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压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入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栈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7514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replacePathByName</a:t>
                      </a: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将栈顶的子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页</a:t>
                      </a:r>
                      <a:r>
                        <a:rPr lang="zh-CN" alt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弹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出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栈，将指定名称的子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页</a:t>
                      </a:r>
                      <a:r>
                        <a:rPr lang="zh-CN" alt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压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入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栈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7514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pop()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将栈顶的子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页</a:t>
                      </a:r>
                      <a:r>
                        <a:rPr lang="zh-CN" alt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弹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出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栈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7514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popToName</a:t>
                      </a: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回退到指定名称的子页，该子页是由栈底开始的第一个符合指定</a:t>
                      </a:r>
                      <a:endParaRPr lang="en-US" altLang="zh-CN" sz="1800" dirty="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  <a:p>
                      <a:pPr indent="2667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名称的子页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6.2.3 </a:t>
            </a:r>
            <a:r>
              <a:rPr lang="en-US" altLang="zh-CN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NavPathStack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47195" y="1126564"/>
            <a:ext cx="10513168" cy="497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pushPath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info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是一个包含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表示要显示的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可选属性，表示传给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onPop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可选属性，表示当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或与其类似的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被调用时执行的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回调函数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isEntry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可选属性，用于标记是否为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入口子页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5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animated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，表示是否有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转场动画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，默认值为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有转场动画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，设为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没有转场动画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67375" y="1832228"/>
            <a:ext cx="7272808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pushPath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(info, animated?)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6.2.3 </a:t>
            </a:r>
            <a:r>
              <a:rPr lang="en-US" altLang="zh-CN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NavPathStack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47195" y="1845618"/>
            <a:ext cx="10513168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pushPathByName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onPop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animated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的含义与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pushPath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中的相同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省略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onPop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animated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可作为第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个参数。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47295" y="2784334"/>
            <a:ext cx="8712968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pushPathByName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(name,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param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onPop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?, animated?)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6.2.3 </a:t>
            </a:r>
            <a:r>
              <a:rPr lang="en-US" altLang="zh-CN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NavPathStack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47195" y="1845618"/>
            <a:ext cx="10513168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result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页面自定义处理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animated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是可选参数，表示是否有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转场动画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47295" y="2784334"/>
            <a:ext cx="8712968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pop(result, animated?)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6.2.3 </a:t>
            </a:r>
            <a:r>
              <a:rPr lang="en-US" altLang="zh-CN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NavPathStack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47195" y="1845618"/>
            <a:ext cx="10513168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popToName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；参数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result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animated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的含义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pop()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47295" y="2784334"/>
            <a:ext cx="8712968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popToName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(name, result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animated?)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6.2.3 </a:t>
            </a:r>
            <a:r>
              <a:rPr lang="en-US" altLang="zh-CN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NavPathStack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39096" y="1413008"/>
            <a:ext cx="6661301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下面演示如何使用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NavPathStack</a:t>
            </a:r>
            <a:r>
              <a:rPr lang="zh-CN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子页的跳</a:t>
            </a:r>
            <a:r>
              <a:rPr lang="zh-CN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926854" y="2493690"/>
          <a:ext cx="6161496" cy="316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4" name="Visio" r:id="rId1" imgW="4265295" imgH="2204720" progId="Visio.Drawing.15">
                  <p:embed/>
                </p:oleObj>
              </mc:Choice>
              <mc:Fallback>
                <p:oleObj name="Visio" r:id="rId1" imgW="4265295" imgH="220472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6854" y="2493690"/>
                        <a:ext cx="6161496" cy="31683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6.2.3 </a:t>
            </a:r>
            <a:r>
              <a:rPr lang="en-US" altLang="zh-CN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NavPathStack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82164" y="2061642"/>
            <a:ext cx="10628156" cy="427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Navigator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路由容器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组件，提供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路由跳转能力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。该组件的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：用于指定跳转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：指定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路由方式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NavigationType.Push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：默认值，表示跳转到应用内的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NavigationType.Replace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：表示使用应用内的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某个页面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替换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，被替换的页面会被销毁。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NavigationType.Back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到指定的页面。当指定的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页面在页面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不存在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不响应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。未传入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返回上一页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81898" y="1262275"/>
            <a:ext cx="3409252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91860" y="1402476"/>
            <a:ext cx="3299290" cy="400110"/>
          </a:xfrm>
          <a:prstGeom prst="rect">
            <a:avLst/>
          </a:prstGeom>
          <a:solidFill>
            <a:srgbClr val="1369B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多学一招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：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Navigator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组件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68530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33399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pic>
        <p:nvPicPr>
          <p:cNvPr id="10" name="图形 11" descr="讲故事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639" y="1045642"/>
            <a:ext cx="936104" cy="9361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6.2.3 </a:t>
            </a:r>
            <a:r>
              <a:rPr lang="en-US" altLang="zh-CN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NavPathStack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82164" y="2310333"/>
            <a:ext cx="10628156" cy="1623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Navigator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可以包含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Navigator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被点击时，就会执行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。为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Navigator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onClick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Navigator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被点击时执行特定操作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Navigator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的示例代码如下。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81898" y="1262275"/>
            <a:ext cx="3409252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91860" y="1402476"/>
            <a:ext cx="3299290" cy="400110"/>
          </a:xfrm>
          <a:prstGeom prst="rect">
            <a:avLst/>
          </a:prstGeom>
          <a:solidFill>
            <a:srgbClr val="1369B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多学一招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：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Navigator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组件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68530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33399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pic>
        <p:nvPicPr>
          <p:cNvPr id="10" name="图形 11" descr="讲故事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639" y="1045642"/>
            <a:ext cx="936104" cy="93610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508518" y="4132274"/>
            <a:ext cx="7375448" cy="13388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Navigator({ target: 'pages/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TargetPage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}) {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Button('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跳转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6.2.4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路由表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8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/>
        </p:nvSpPr>
        <p:spPr bwMode="auto">
          <a:xfrm>
            <a:off x="5815965" y="3576722"/>
            <a:ext cx="5429568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路由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表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，将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所有的子页放到一个表中进行统一管理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3" name="椭圆 12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6.2.4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路由表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93068" y="2277666"/>
            <a:ext cx="6183514" cy="26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在上一小节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子页跳转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，但是这些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同一个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页面文件中，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不利于管理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5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若要让每个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子页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单独保存在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一个页面文件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中，可以通过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来实现。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用于将所有的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子页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放到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中进行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统一管理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625" y="817612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标注 11"/>
          <p:cNvSpPr/>
          <p:nvPr/>
        </p:nvSpPr>
        <p:spPr bwMode="auto">
          <a:xfrm rot="5400000">
            <a:off x="6238894" y="218228"/>
            <a:ext cx="3211896" cy="6811639"/>
          </a:xfrm>
          <a:prstGeom prst="wedgeRoundRectCallout">
            <a:avLst/>
          </a:prstGeom>
          <a:noFill/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6.2.4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路由表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2638" y="1962344"/>
            <a:ext cx="10513168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entry/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/main/module.json5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module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中添加如下代码可以配置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routerMap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用于配置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，其值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profile:router_map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表示将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entry/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/main/resources/base/profile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下的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router_map.json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加载。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99154" y="2923782"/>
            <a:ext cx="6480135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routerMap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": "$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profile:router_map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6.2.4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路由表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2638" y="924028"/>
            <a:ext cx="10513168" cy="566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router_map.json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在配置了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后，不需要为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navDestination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，即可通过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NavPathStack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39570" y="1628470"/>
            <a:ext cx="10297145" cy="3658246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"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routerMap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": [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{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"name": 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子页的名称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",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"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pageSourceFile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": 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子页的文件路径（从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开始）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",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"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buildFunction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": 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子页中导出的自定义构建函数名称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},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……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]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6.2.4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路由表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2638" y="1629032"/>
            <a:ext cx="1051316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下面演示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页面跳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228162" y="2709714"/>
          <a:ext cx="8022119" cy="2088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3" name="Visio" r:id="rId1" imgW="4346575" imgH="1139825" progId="Visio.Drawing.15">
                  <p:embed/>
                </p:oleObj>
              </mc:Choice>
              <mc:Fallback>
                <p:oleObj name="Visio" r:id="rId1" imgW="4346575" imgH="1139825" progId="Visio.Drawing.15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162" y="2709714"/>
                        <a:ext cx="8022119" cy="20882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6.2.5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5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5815965" y="3576722"/>
            <a:ext cx="5429568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拦截器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能够实现在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页面跳转时进行拦截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0" name="椭圆 9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6.2.5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893408" y="2344452"/>
            <a:ext cx="5571447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在开发中，有时需要在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拦截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。例如，判断用户有没有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登录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没有登录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拦截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609" y="817612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圆角矩形标注 11"/>
          <p:cNvSpPr/>
          <p:nvPr/>
        </p:nvSpPr>
        <p:spPr bwMode="auto">
          <a:xfrm rot="5400000">
            <a:off x="6642569" y="-141812"/>
            <a:ext cx="1929703" cy="6480627"/>
          </a:xfrm>
          <a:prstGeom prst="wedgeRoundRectCallout">
            <a:avLst/>
          </a:prstGeom>
          <a:noFill/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6.2.5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2638" y="1876251"/>
            <a:ext cx="10513168" cy="3239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NavPathStack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setInterception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拦截器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，该方法需要传入一个包含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willShow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：页面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回调函数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，允许操作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中生效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didShow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：页面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跳转后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回调函数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，允许操作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下一次跳转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中生效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modeChange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显示模式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（单栏模式、分栏模式）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发生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变更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时（例如在横竖屏切换时）执行的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回调函数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6.2.5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150990" y="2421682"/>
            <a:ext cx="7128792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setInterception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时调用，可以在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onAppear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事件中调用该方法。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onAppear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是组件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时触发的事件。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020" y="1989634"/>
            <a:ext cx="2761597" cy="2880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6.2.5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53136" y="1413570"/>
            <a:ext cx="10441160" cy="4393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will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didShow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en-US" alt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willShow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didShow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的值都是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回调函数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回调函数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个参数，具体如下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跳转之前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页面信息。如果参数值为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navBar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的页面为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首页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：页面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跳转之后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页面信息。如果参数值为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navBar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首页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：当前页面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isAnimated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：当前页面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是否有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6.2.5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39658" y="1413570"/>
            <a:ext cx="10700164" cy="2777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的值有可能是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navBar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，当值是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时，该对象有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pathInfo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：跳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子页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5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pathStack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：当前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NavDestination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所处的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页面栈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5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navDestinationId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：当前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NavDestination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，由系统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自动生成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组件通用属性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无关。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39658" y="4581922"/>
            <a:ext cx="10441160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modeChange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modeChange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回调函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显示模式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6.2.5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拦截器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39096" y="1533214"/>
            <a:ext cx="10585176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下面演示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如何实现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拦截器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entry/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/main/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ets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/pages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下创建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InterceptionPage.ets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拦截器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567277" y="2925738"/>
          <a:ext cx="7328814" cy="1728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2" name="Visio" r:id="rId1" imgW="4346575" imgH="1024255" progId="Visio.Drawing.15">
                  <p:embed/>
                </p:oleObj>
              </mc:Choice>
              <mc:Fallback>
                <p:oleObj name="Visio" r:id="rId1" imgW="4346575" imgH="1024255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277" y="2925738"/>
                        <a:ext cx="7328814" cy="17281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90950" y="3014256"/>
            <a:ext cx="7885728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阶段案例</a:t>
            </a:r>
            <a:r>
              <a:rPr lang="en-US" altLang="zh-CN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设置中心页面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03816" y="2925738"/>
            <a:ext cx="2088232" cy="1015663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0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</a:t>
            </a:r>
            <a:endParaRPr lang="en-US" altLang="en-GB" sz="60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阶段案例</a:t>
            </a: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设置中心页面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5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5815965" y="3576722"/>
            <a:ext cx="5429568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阶段案例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——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设置中心页面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，能够独立完成代码编写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0" name="椭圆 9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31155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阶段案例</a:t>
            </a: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设置中心页面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41666" name="Picture 2" descr="Screenshot_2024-11-06T14180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086" y="1724822"/>
            <a:ext cx="2304256" cy="4588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925144" y="994912"/>
            <a:ext cx="8136904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本案例将实现一个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设置中心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页面，其效果如下图所示。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圆角矩形 26"/>
          <p:cNvSpPr/>
          <p:nvPr/>
        </p:nvSpPr>
        <p:spPr>
          <a:xfrm>
            <a:off x="1198880" y="2026409"/>
            <a:ext cx="9794240" cy="3275593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20" name="TextBox 38"/>
          <p:cNvSpPr txBox="1"/>
          <p:nvPr/>
        </p:nvSpPr>
        <p:spPr>
          <a:xfrm>
            <a:off x="1630710" y="2810188"/>
            <a:ext cx="9001000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主要讲解了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组件导航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的相关知识。其中，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的相关知识主要包括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页面跳转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页面返回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在页面返回前询问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以及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跨模块的页面跳转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组件导航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初识组件导航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Navigation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NavPathStack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。通过本章的学习，读者能够掌握如何实现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页面跳转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，从而开发多页面的鸿蒙应用。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420235" y="161746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5139055" y="161746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5857875" y="161746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6576695" y="161746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630*170"/>
  <p:tag name="TABLE_ENDDRAG_RECT" val="111*202*630*170"/>
</p:tagLst>
</file>

<file path=ppt/tags/tag2.xml><?xml version="1.0" encoding="utf-8"?>
<p:tagLst xmlns:p="http://schemas.openxmlformats.org/presentationml/2006/main">
  <p:tag name="TABLE_ENDDRAG_ORIGIN_RECT" val="630*170"/>
  <p:tag name="TABLE_ENDDRAG_RECT" val="111*202*630*170"/>
</p:tagLst>
</file>

<file path=ppt/tags/tag3.xml><?xml version="1.0" encoding="utf-8"?>
<p:tagLst xmlns:p="http://schemas.openxmlformats.org/presentationml/2006/main">
  <p:tag name="TABLE_ENDDRAG_ORIGIN_RECT" val="630*170"/>
  <p:tag name="TABLE_ENDDRAG_RECT" val="111*202*630*170"/>
</p:tagLst>
</file>

<file path=ppt/tags/tag4.xml><?xml version="1.0" encoding="utf-8"?>
<p:tagLst xmlns:p="http://schemas.openxmlformats.org/presentationml/2006/main">
  <p:tag name="TABLE_ENDDRAG_ORIGIN_RECT" val="630*170"/>
  <p:tag name="TABLE_ENDDRAG_RECT" val="111*202*630*170"/>
</p:tagLst>
</file>

<file path=ppt/tags/tag5.xml><?xml version="1.0" encoding="utf-8"?>
<p:tagLst xmlns:p="http://schemas.openxmlformats.org/presentationml/2006/main">
  <p:tag name="TABLE_ENDDRAG_ORIGIN_RECT" val="630*170"/>
  <p:tag name="TABLE_ENDDRAG_RECT" val="111*202*630*170"/>
</p:tagLst>
</file>

<file path=ppt/tags/tag6.xml><?xml version="1.0" encoding="utf-8"?>
<p:tagLst xmlns:p="http://schemas.openxmlformats.org/presentationml/2006/main">
  <p:tag name="TABLE_ENDDRAG_ORIGIN_RECT" val="630*170"/>
  <p:tag name="TABLE_ENDDRAG_RECT" val="111*202*630*170"/>
</p:tagLst>
</file>

<file path=ppt/tags/tag7.xml><?xml version="1.0" encoding="utf-8"?>
<p:tagLst xmlns:p="http://schemas.openxmlformats.org/presentationml/2006/main">
  <p:tag name="TABLE_ENDDRAG_ORIGIN_RECT" val="630*170"/>
  <p:tag name="TABLE_ENDDRAG_RECT" val="111*202*630*170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12063</Words>
  <Application>WPS 演示</Application>
  <PresentationFormat>自定义</PresentationFormat>
  <Paragraphs>856</Paragraphs>
  <Slides>90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90</vt:i4>
      </vt:variant>
    </vt:vector>
  </HeadingPairs>
  <TitlesOfParts>
    <vt:vector size="133" baseType="lpstr">
      <vt:lpstr>Arial</vt:lpstr>
      <vt:lpstr>宋体</vt:lpstr>
      <vt:lpstr>Wingdings</vt:lpstr>
      <vt:lpstr>微软雅黑</vt:lpstr>
      <vt:lpstr>思源黑体 CN Medium</vt:lpstr>
      <vt:lpstr>黑体</vt:lpstr>
      <vt:lpstr>字魂58号-创中黑</vt:lpstr>
      <vt:lpstr>Source Han Sans K Bold</vt:lpstr>
      <vt:lpstr>Calibri</vt:lpstr>
      <vt:lpstr>U.S. 101</vt:lpstr>
      <vt:lpstr>Segoe Print</vt:lpstr>
      <vt:lpstr>Roboto</vt:lpstr>
      <vt:lpstr>Times New Roman</vt:lpstr>
      <vt:lpstr>Open Sans Light</vt:lpstr>
      <vt:lpstr>字魂105号-简雅黑</vt:lpstr>
      <vt:lpstr>Arial Unicode MS</vt:lpstr>
      <vt:lpstr>思源黑体 CN Regular</vt:lpstr>
      <vt:lpstr>Segoe UI</vt:lpstr>
      <vt:lpstr>Yu Gothic UI Semibold</vt:lpstr>
      <vt:lpstr>等线</vt:lpstr>
      <vt:lpstr>等线 Light</vt:lpstr>
      <vt:lpstr>Source Han Sans K Bold</vt:lpstr>
      <vt:lpstr>字魂58号-创中黑</vt:lpstr>
      <vt:lpstr>思源黑体 CN Medium</vt:lpstr>
      <vt:lpstr>思源黑体 CN Regular</vt:lpstr>
      <vt:lpstr>方正宝黑体 简 Medium</vt:lpstr>
      <vt:lpstr>字魂创中黑</vt:lpstr>
      <vt:lpstr>Wonder Sans Bold</vt:lpstr>
      <vt:lpstr>字小魂简雅黑</vt:lpstr>
      <vt:lpstr>方正悠黑体</vt:lpstr>
      <vt:lpstr>webwppDefTheme</vt:lpstr>
      <vt:lpstr>Office 主题</vt:lpstr>
      <vt:lpstr>1_自定义设计方案</vt:lpstr>
      <vt:lpstr>2_自定义设计方案</vt:lpstr>
      <vt:lpstr>自定义设计方案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oldman</cp:lastModifiedBy>
  <cp:revision>7087</cp:revision>
  <dcterms:created xsi:type="dcterms:W3CDTF">2020-11-09T06:56:00Z</dcterms:created>
  <dcterms:modified xsi:type="dcterms:W3CDTF">2026-05-14T12:46:32Z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F365DA83A89647EAB81DC6BF911B4357_12</vt:lpwstr>
  </property>
</Properties>
</file>