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7"/>
  </p:notesMasterIdLst>
  <p:handoutMasterIdLst>
    <p:handoutMasterId r:id="rId36"/>
  </p:handoutMasterIdLst>
  <p:sldIdLst>
    <p:sldId id="557" r:id="rId4"/>
    <p:sldId id="616" r:id="rId5"/>
    <p:sldId id="618" r:id="rId6"/>
    <p:sldId id="619" r:id="rId8"/>
    <p:sldId id="620" r:id="rId9"/>
    <p:sldId id="621" r:id="rId10"/>
    <p:sldId id="622" r:id="rId11"/>
    <p:sldId id="623" r:id="rId12"/>
    <p:sldId id="624" r:id="rId13"/>
    <p:sldId id="625" r:id="rId14"/>
    <p:sldId id="626" r:id="rId15"/>
    <p:sldId id="627" r:id="rId16"/>
    <p:sldId id="628" r:id="rId17"/>
    <p:sldId id="629" r:id="rId18"/>
    <p:sldId id="640" r:id="rId19"/>
    <p:sldId id="641" r:id="rId20"/>
    <p:sldId id="642" r:id="rId21"/>
    <p:sldId id="643" r:id="rId22"/>
    <p:sldId id="644" r:id="rId23"/>
    <p:sldId id="630" r:id="rId24"/>
    <p:sldId id="631" r:id="rId25"/>
    <p:sldId id="632" r:id="rId26"/>
    <p:sldId id="633" r:id="rId27"/>
    <p:sldId id="634" r:id="rId28"/>
    <p:sldId id="635" r:id="rId29"/>
    <p:sldId id="645" r:id="rId30"/>
    <p:sldId id="646" r:id="rId31"/>
    <p:sldId id="647" r:id="rId32"/>
    <p:sldId id="648" r:id="rId33"/>
    <p:sldId id="636" r:id="rId34"/>
    <p:sldId id="637" r:id="rId35"/>
  </p:sldIdLst>
  <p:sldSz cx="12190095" cy="6859270"/>
  <p:notesSz cx="6858000" cy="9144000"/>
  <p:custDataLst>
    <p:tags r:id="rId40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256" userDrawn="1">
          <p15:clr>
            <a:srgbClr val="A4A3A4"/>
          </p15:clr>
        </p15:guide>
        <p15:guide id="3" pos="66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DF6"/>
    <a:srgbClr val="0075CC"/>
    <a:srgbClr val="005DA2"/>
    <a:srgbClr val="1369B2"/>
    <a:srgbClr val="595959"/>
    <a:srgbClr val="FAFAFA"/>
    <a:srgbClr val="F2F2F2"/>
    <a:srgbClr val="006BBC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30" autoAdjust="0"/>
    <p:restoredTop sz="55672" autoAdjust="0"/>
  </p:normalViewPr>
  <p:slideViewPr>
    <p:cSldViewPr showGuides="1">
      <p:cViewPr varScale="1">
        <p:scale>
          <a:sx n="80" d="100"/>
          <a:sy n="80" d="100"/>
        </p:scale>
        <p:origin x="48" y="53"/>
      </p:cViewPr>
      <p:guideLst>
        <p:guide orient="horz" pos="2209"/>
        <p:guide pos="256"/>
        <p:guide pos="66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45"/>
        <p:guide pos="226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23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三个三角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55" y="103505"/>
            <a:ext cx="779145" cy="617855"/>
          </a:xfrm>
          <a:prstGeom prst="rect">
            <a:avLst/>
          </a:prstGeom>
        </p:spPr>
      </p:pic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4" cstate="print"/>
          <a:srcRect r="69715"/>
          <a:stretch>
            <a:fillRect/>
          </a:stretch>
        </p:blipFill>
        <p:spPr>
          <a:xfrm>
            <a:off x="10875010" y="132080"/>
            <a:ext cx="611505" cy="589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299248" y="402450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83383" y="402450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南门线稿x422222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14780" y="4149725"/>
            <a:ext cx="9155430" cy="2318385"/>
          </a:xfrm>
          <a:prstGeom prst="rect">
            <a:avLst/>
          </a:prstGeom>
        </p:spPr>
      </p:pic>
      <p:pic>
        <p:nvPicPr>
          <p:cNvPr id="5" name="图片 4" descr="河大logo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5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8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0680" y="1773555"/>
            <a:ext cx="871601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2</a:t>
            </a:r>
            <a:r>
              <a:rPr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章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 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TypeScript面向对象</a:t>
            </a:r>
            <a:endParaRPr lang="en-US" altLang="zh-CN" sz="4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54960" y="2925445"/>
            <a:ext cx="6096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685800">
              <a:spcBef>
                <a:spcPts val="1950"/>
              </a:spcBef>
            </a:pPr>
            <a:r>
              <a:rPr lang="zh-CN" altLang="en-US" sz="2100" b="1" dirty="0">
                <a:solidFill>
                  <a:srgbClr val="163F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软件学院</a:t>
            </a:r>
            <a:endParaRPr lang="zh-CN" altLang="en-US" sz="2100" b="1" dirty="0">
              <a:solidFill>
                <a:srgbClr val="163F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圆角矩形 54"/>
          <p:cNvSpPr/>
          <p:nvPr/>
        </p:nvSpPr>
        <p:spPr>
          <a:xfrm>
            <a:off x="1199563" y="2197081"/>
            <a:ext cx="4436084" cy="2753314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236050" y="1877980"/>
            <a:ext cx="296964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2844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01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8" name="空心弧 7"/>
          <p:cNvSpPr/>
          <p:nvPr/>
        </p:nvSpPr>
        <p:spPr>
          <a:xfrm rot="1740000">
            <a:off x="485628" y="1482465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2" name="Text2"/>
          <p:cNvSpPr txBox="1"/>
          <p:nvPr/>
        </p:nvSpPr>
        <p:spPr>
          <a:xfrm>
            <a:off x="1622694" y="1858305"/>
            <a:ext cx="2443945" cy="508767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任务描述</a:t>
            </a:r>
            <a:r>
              <a:rPr lang="en-US" altLang="zh-CN" sz="3200" b="1">
                <a:solidFill>
                  <a:schemeClr val="accent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 </a:t>
            </a:r>
            <a:endParaRPr lang="en-US" altLang="zh-CN" sz="3200" b="1">
              <a:solidFill>
                <a:schemeClr val="accent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sp>
        <p:nvSpPr>
          <p:cNvPr id="56" name="圆角矩形 55"/>
          <p:cNvSpPr/>
          <p:nvPr>
            <p:custDataLst>
              <p:tags r:id="rId1"/>
            </p:custDataLst>
          </p:nvPr>
        </p:nvSpPr>
        <p:spPr>
          <a:xfrm>
            <a:off x="6977894" y="2151833"/>
            <a:ext cx="4446410" cy="2753314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2" name="圆角矩形 61"/>
          <p:cNvSpPr/>
          <p:nvPr>
            <p:custDataLst>
              <p:tags r:id="rId2"/>
            </p:custDataLst>
          </p:nvPr>
        </p:nvSpPr>
        <p:spPr>
          <a:xfrm>
            <a:off x="6978740" y="1880942"/>
            <a:ext cx="442863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3" name="椭圆 62"/>
          <p:cNvSpPr/>
          <p:nvPr>
            <p:custDataLst>
              <p:tags r:id="rId3"/>
            </p:custDataLst>
          </p:nvPr>
        </p:nvSpPr>
        <p:spPr>
          <a:xfrm>
            <a:off x="6503836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02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4" name="空心弧 63"/>
          <p:cNvSpPr/>
          <p:nvPr>
            <p:custDataLst>
              <p:tags r:id="rId4"/>
            </p:custDataLst>
          </p:nvPr>
        </p:nvSpPr>
        <p:spPr>
          <a:xfrm rot="1740000">
            <a:off x="6263960" y="1437217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5" name="Text2"/>
          <p:cNvSpPr txBox="1"/>
          <p:nvPr>
            <p:custDataLst>
              <p:tags r:id="rId5"/>
            </p:custDataLst>
          </p:nvPr>
        </p:nvSpPr>
        <p:spPr>
          <a:xfrm>
            <a:off x="7329407" y="1833820"/>
            <a:ext cx="4187986" cy="553633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en-US" altLang="zh-CN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面向对象</a:t>
            </a:r>
            <a:endParaRPr lang="en-US" altLang="zh-CN" sz="3200" b="1">
              <a:solidFill>
                <a:schemeClr val="bg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8364" y="2541395"/>
            <a:ext cx="3953917" cy="1671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本任务主要学习</a:t>
            </a:r>
            <a:r>
              <a:rPr lang="en-US" altLang="zh-CN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开发语言的面向对象中的类与接口的使用，以支撑</a:t>
            </a:r>
            <a:r>
              <a:rPr lang="en-US" altLang="zh-CN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OpenHarmony</a:t>
            </a: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基于</a:t>
            </a:r>
            <a:r>
              <a:rPr lang="en-US" altLang="zh-CN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的声明式</a:t>
            </a:r>
            <a:r>
              <a:rPr lang="en-US" altLang="zh-CN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开发需求。</a:t>
            </a:r>
            <a:endParaRPr lang="en-US" altLang="zh-CN" sz="2135" kern="0" dirty="0"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400727" y="2635751"/>
            <a:ext cx="3877974" cy="781351"/>
            <a:chOff x="3644" y="2232"/>
            <a:chExt cx="4581" cy="923"/>
          </a:xfrm>
        </p:grpSpPr>
        <p:sp>
          <p:nvSpPr>
            <p:cNvPr id="9" name="文本框 8"/>
            <p:cNvSpPr txBox="1"/>
            <p:nvPr/>
          </p:nvSpPr>
          <p:spPr>
            <a:xfrm>
              <a:off x="4098" y="2232"/>
              <a:ext cx="4127" cy="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认识和使用</a:t>
              </a: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TypeScript</a:t>
              </a: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的类与对象</a:t>
              </a:r>
              <a:endParaRPr lang="zh-CN" altLang="en-US" sz="1865" dirty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3644" y="2295"/>
              <a:ext cx="434" cy="383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1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400727" y="3518205"/>
            <a:ext cx="3877974" cy="781351"/>
            <a:chOff x="3644" y="3228"/>
            <a:chExt cx="4581" cy="923"/>
          </a:xfrm>
        </p:grpSpPr>
        <p:sp>
          <p:nvSpPr>
            <p:cNvPr id="54" name="文本框 53"/>
            <p:cNvSpPr txBox="1"/>
            <p:nvPr/>
          </p:nvSpPr>
          <p:spPr>
            <a:xfrm>
              <a:off x="4098" y="3228"/>
              <a:ext cx="4127" cy="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认识和使用</a:t>
              </a: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TypeScript</a:t>
              </a: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的接口声明与实现</a:t>
              </a:r>
              <a:endParaRPr lang="zh-CN" altLang="en-US" sz="1865" dirty="0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>
              <a:off x="3644" y="3332"/>
              <a:ext cx="431" cy="422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2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054735" y="-38100"/>
            <a:ext cx="8635365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面向对象语法</a:t>
            </a:r>
            <a:endParaRPr lang="zh-CN" altLang="en-US" sz="3600" b="1" dirty="0" smtClean="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99"/>
                            </p:stCondLst>
                            <p:childTnLst>
                              <p:par>
                                <p:cTn id="4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4" grpId="0" bldLvl="0" animBg="1"/>
      <p:bldP spid="6" grpId="0" bldLvl="0" animBg="1"/>
      <p:bldP spid="8" grpId="0" bldLvl="0" animBg="1"/>
      <p:bldP spid="56" grpId="0" bldLvl="0" animBg="1"/>
      <p:bldP spid="62" grpId="0" bldLvl="0" animBg="1"/>
      <p:bldP spid="63" grpId="0" bldLvl="0" animBg="1"/>
      <p:bldP spid="64" grpId="0" bldLvl="0" animBg="1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630990" y="2853539"/>
            <a:ext cx="1343790" cy="1247944"/>
            <a:chOff x="5328140" y="1203598"/>
            <a:chExt cx="1008000" cy="936104"/>
          </a:xfrm>
        </p:grpSpPr>
        <p:sp>
          <p:nvSpPr>
            <p:cNvPr id="11" name="椭圆 10"/>
            <p:cNvSpPr/>
            <p:nvPr/>
          </p:nvSpPr>
          <p:spPr>
            <a:xfrm>
              <a:off x="5364088" y="1203598"/>
              <a:ext cx="936104" cy="936104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>
                <a:latin typeface="思源黑体" panose="020B0400000000000000" pitchFamily="34" charset="-122"/>
                <a:ea typeface="思源黑体" panose="020B0400000000000000" pitchFamily="34" charset="-122"/>
                <a:cs typeface="Bebas" charset="0"/>
                <a:sym typeface="思源黑体" panose="020B04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140" y="1203702"/>
              <a:ext cx="1008000" cy="936000"/>
            </a:xfrm>
            <a:prstGeom prst="rect">
              <a:avLst/>
            </a:prstGeom>
            <a:noFill/>
          </p:spPr>
          <p:txBody>
            <a:bodyPr wrap="square" lIns="86683" tIns="43341" rIns="86683" bIns="43341" rtlCol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865" b="1" dirty="0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01</a:t>
              </a:r>
              <a:endParaRPr lang="en-US" altLang="zh-CN" sz="5865" b="1" dirty="0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4078605" y="3213735"/>
            <a:ext cx="6708775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认识和使用</a:t>
            </a:r>
            <a:r>
              <a:rPr lang="en-US" altLang="zh-CN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3465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18395" y="405848"/>
            <a:ext cx="6231695" cy="90155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面向对象</a:t>
            </a:r>
            <a:endParaRPr lang="zh-CN" altLang="en-US" sz="3600" b="1" dirty="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sp>
        <p:nvSpPr>
          <p:cNvPr id="2" name="圆角矩形 55"/>
          <p:cNvSpPr/>
          <p:nvPr>
            <p:custDataLst>
              <p:tags r:id="rId1"/>
            </p:custDataLst>
          </p:nvPr>
        </p:nvSpPr>
        <p:spPr>
          <a:xfrm>
            <a:off x="397499" y="1323384"/>
            <a:ext cx="11070962" cy="444753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1634" y="1284568"/>
            <a:ext cx="11352398" cy="48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TS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支持面向对象的所有特性，在</a:t>
            </a:r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TS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中使用类描述了所创建的对象共同的属性和方法。</a:t>
            </a:r>
            <a:endParaRPr lang="zh-CN" altLang="en-US" sz="2135" kern="10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7498" y="2430411"/>
            <a:ext cx="11070962" cy="4514710"/>
            <a:chOff x="741409" y="1005923"/>
            <a:chExt cx="8065819" cy="3596826"/>
          </a:xfrm>
        </p:grpSpPr>
        <p:sp>
          <p:nvSpPr>
            <p:cNvPr id="9" name="文本框 8"/>
            <p:cNvSpPr txBox="1"/>
            <p:nvPr/>
          </p:nvSpPr>
          <p:spPr>
            <a:xfrm>
              <a:off x="881526" y="1472756"/>
              <a:ext cx="7469960" cy="3129993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285750" lvl="0" indent="-28575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  <a:buFont typeface="Wingdings" panose="05000000000000000000" pitchFamily="2" charset="2"/>
                <a:buChar char="l"/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定义类的关键字是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class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，类中可以有属性和方法，属性可以定义时初始化，也可以通过构造方法初始化。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lvl="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   class </a:t>
              </a:r>
              <a:r>
                <a:rPr lang="zh-CN" altLang="en-US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类名</a:t>
              </a: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{</a:t>
              </a:r>
              <a:endParaRPr lang="en-US" altLang="zh-CN" sz="3200" kern="10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lvl="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    </a:t>
              </a:r>
              <a:r>
                <a:rPr lang="zh-CN" altLang="en-US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属性</a:t>
              </a: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;</a:t>
              </a:r>
              <a:endParaRPr lang="en-US" altLang="zh-CN" sz="3200" kern="10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lvl="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    </a:t>
              </a:r>
              <a:r>
                <a:rPr lang="zh-CN" altLang="en-US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方法；</a:t>
              </a:r>
              <a:endParaRPr lang="en-US" altLang="zh-CN" sz="3200" kern="10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lvl="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  }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lvl="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endParaRPr lang="zh-CN" altLang="en-US" sz="3200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8065819" cy="3172298"/>
              <a:chOff x="927181" y="1407827"/>
              <a:chExt cx="8065819" cy="3172298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8065819" cy="3017600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定义类</a:t>
                </a:r>
                <a:r>
                  <a:rPr lang="en-US" altLang="zh-CN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-</a:t>
                </a: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语法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ldLvl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21750" y="862300"/>
            <a:ext cx="11337064" cy="5810745"/>
            <a:chOff x="741409" y="1005923"/>
            <a:chExt cx="8259690" cy="4629363"/>
          </a:xfrm>
        </p:grpSpPr>
        <p:sp>
          <p:nvSpPr>
            <p:cNvPr id="9" name="文本框 8"/>
            <p:cNvSpPr txBox="1"/>
            <p:nvPr/>
          </p:nvSpPr>
          <p:spPr>
            <a:xfrm>
              <a:off x="881526" y="1472756"/>
              <a:ext cx="8012669" cy="4162530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class </a:t>
              </a:r>
              <a:r>
                <a:rPr lang="en-US" altLang="zh-CN" sz="2135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 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private 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sz="2135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 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sz="2135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'</a:t>
              </a:r>
              <a:r>
                <a:rPr lang="zh-CN" altLang="zh-CN" sz="2135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红色</a:t>
              </a:r>
              <a:r>
                <a:rPr lang="en-US" altLang="zh-CN" sz="2135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'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属性，可以定义时初始化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private 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type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sz="2135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number 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sz="2135">
                  <a:solidFill>
                    <a:srgbClr val="FF9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1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     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属性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//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使用构造方法给属性做数据初始化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public constructor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sz="2135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,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type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sz="2135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number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 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this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 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this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type 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type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    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public </a:t>
              </a:r>
              <a:r>
                <a:rPr lang="en-US" altLang="zh-CN" sz="2135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getColor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{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return this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}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//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获取属性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的值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       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public </a:t>
              </a:r>
              <a:r>
                <a:rPr lang="en-US" altLang="zh-CN" sz="2135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setColor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sz="2135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this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 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sz="2135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}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en-US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设置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//type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的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get()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和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set()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方法如下</a:t>
              </a:r>
              <a:endParaRPr lang="zh-CN" altLang="zh-CN" sz="2135" i="1">
                <a:solidFill>
                  <a:srgbClr val="808080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Courier New" panose="02070309020205020404" pitchFamily="49" charset="0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public </a:t>
              </a:r>
              <a:r>
                <a:rPr lang="en-US" altLang="zh-CN" sz="2135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show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sz="2135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 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return </a:t>
              </a:r>
              <a:r>
                <a:rPr lang="en-US" altLang="zh-CN" sz="2135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"Car show() is running..."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</a:t>
              </a:r>
              <a:r>
                <a:rPr lang="en-US" altLang="zh-CN" sz="2135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普通方法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135" kern="10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}</a:t>
              </a: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8259690" cy="4575103"/>
              <a:chOff x="927181" y="1407827"/>
              <a:chExt cx="8259690" cy="4575103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8259690" cy="4420405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定义类</a:t>
                </a:r>
                <a:r>
                  <a:rPr lang="en-US" altLang="zh-CN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-</a:t>
                </a: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示例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8897" y="1505624"/>
            <a:ext cx="11072300" cy="2660454"/>
            <a:chOff x="741409" y="1005923"/>
            <a:chExt cx="8066795" cy="2119557"/>
          </a:xfrm>
        </p:grpSpPr>
        <p:sp>
          <p:nvSpPr>
            <p:cNvPr id="9" name="文本框 8"/>
            <p:cNvSpPr txBox="1"/>
            <p:nvPr/>
          </p:nvSpPr>
          <p:spPr>
            <a:xfrm>
              <a:off x="795535" y="1729486"/>
              <a:ext cx="8012669" cy="1368455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694690" marR="63500" indent="-285750">
                <a:lnSpc>
                  <a:spcPct val="120000"/>
                </a:lnSpc>
                <a:buFont typeface="Wingdings" panose="05000000000000000000" pitchFamily="2" charset="2"/>
                <a:buChar char="l"/>
                <a:tabLst>
                  <a:tab pos="180340" algn="l"/>
                  <a:tab pos="408940" algn="l"/>
                </a:tabLst>
              </a:pPr>
              <a:r>
                <a:rPr lang="zh-CN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创建类的实例化对象的关键字是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new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sz="2135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let 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 </a:t>
              </a:r>
              <a:r>
                <a:rPr lang="en-US" altLang="zh-CN" sz="2135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</a:t>
              </a:r>
              <a:r>
                <a:rPr lang="en-US" altLang="zh-CN" sz="2135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 </a:t>
              </a:r>
              <a:r>
                <a:rPr lang="en-US" altLang="zh-CN" sz="2135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sz="2135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new 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sz="2135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"</a:t>
              </a:r>
              <a:r>
                <a:rPr lang="zh-CN" altLang="zh-CN" sz="2135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红色</a:t>
              </a:r>
              <a:r>
                <a:rPr lang="en-US" altLang="zh-CN" sz="2135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"</a:t>
              </a:r>
              <a:r>
                <a:rPr lang="en-US" altLang="zh-CN" sz="2135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,</a:t>
              </a:r>
              <a:r>
                <a:rPr lang="en-US" altLang="zh-CN" sz="2135">
                  <a:solidFill>
                    <a:srgbClr val="FF9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2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sz="2135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console</a:t>
              </a:r>
              <a:r>
                <a:rPr lang="en-US" altLang="zh-CN" sz="2135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 sz="2135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log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sz="2135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</a:t>
              </a:r>
              <a:r>
                <a:rPr lang="en-US" altLang="zh-CN" sz="2135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 sz="2135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getColor</a:t>
              </a:r>
              <a:r>
                <a:rPr lang="en-US" altLang="zh-CN" sz="2135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())</a:t>
              </a:r>
              <a:r>
                <a:rPr lang="en-US" altLang="zh-CN" sz="2135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r>
                <a:rPr lang="en-US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sz="2135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红色</a:t>
              </a:r>
              <a:endParaRPr lang="zh-CN" altLang="zh-CN" sz="2135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7941862" cy="2119557"/>
              <a:chOff x="927181" y="1407827"/>
              <a:chExt cx="7941862" cy="2119557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7941862" cy="1964859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创建并使用对象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8897" y="1505624"/>
            <a:ext cx="11168427" cy="5380517"/>
            <a:chOff x="741409" y="1005923"/>
            <a:chExt cx="8136828" cy="4286604"/>
          </a:xfrm>
        </p:grpSpPr>
        <p:sp>
          <p:nvSpPr>
            <p:cNvPr id="9" name="文本框 8"/>
            <p:cNvSpPr txBox="1"/>
            <p:nvPr/>
          </p:nvSpPr>
          <p:spPr>
            <a:xfrm>
              <a:off x="795535" y="1729486"/>
              <a:ext cx="8012669" cy="3563041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694690" marR="63500" indent="-285750">
                <a:lnSpc>
                  <a:spcPct val="120000"/>
                </a:lnSpc>
                <a:buFont typeface="Wingdings" panose="05000000000000000000" pitchFamily="2" charset="2"/>
                <a:buChar char="l"/>
                <a:tabLst>
                  <a:tab pos="180340" algn="l"/>
                  <a:tab pos="408940" algn="l"/>
                </a:tabLst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类的继承用关键字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extends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，子类继承自父类后，可以重写从父类继承下来的方法，也可以新增新的方法。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class 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Bus </a:t>
              </a:r>
              <a:r>
                <a:rPr lang="en-US" altLang="zh-CN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extends 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增加子类的方法略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//</a:t>
              </a:r>
              <a:r>
                <a:rPr lang="zh-CN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重写父类的</a:t>
              </a: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show()</a:t>
              </a:r>
              <a:r>
                <a:rPr lang="zh-CN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方法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show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 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  </a:t>
              </a:r>
              <a:r>
                <a:rPr lang="en-US" altLang="zh-CN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return 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"Bus show() is running....."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8136828" cy="4043952"/>
              <a:chOff x="927181" y="1407827"/>
              <a:chExt cx="8136828" cy="4043952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8136828" cy="3889254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类的继承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4265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8897" y="1505624"/>
            <a:ext cx="11072300" cy="3848023"/>
            <a:chOff x="741409" y="1005923"/>
            <a:chExt cx="8066795" cy="3065681"/>
          </a:xfrm>
        </p:grpSpPr>
        <p:sp>
          <p:nvSpPr>
            <p:cNvPr id="9" name="文本框 8"/>
            <p:cNvSpPr txBox="1"/>
            <p:nvPr/>
          </p:nvSpPr>
          <p:spPr>
            <a:xfrm>
              <a:off x="795535" y="1729486"/>
              <a:ext cx="8012669" cy="2151079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694690" marR="63500" indent="-28575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  <a:tabLst>
                  <a:tab pos="180340" algn="l"/>
                  <a:tab pos="408940" algn="l"/>
                </a:tabLst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多态是指由继承而产生了相关的不同的类，对同一个方法可以有不同的响应。多态是有前提的，在子类继承父类并重写父类的方法后，使用父类引用指向子类对象，访问的是子类经过重写的方法，从而呈现子类的状态。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let 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car2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</a:t>
              </a:r>
              <a:r>
                <a:rPr lang="en-US" altLang="zh-CN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 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new 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Bus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"</a:t>
              </a:r>
              <a:r>
                <a:rPr lang="zh-CN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蓝色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"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,</a:t>
              </a:r>
              <a:r>
                <a:rPr lang="en-US" altLang="zh-CN">
                  <a:solidFill>
                    <a:srgbClr val="FF9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3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console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log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car2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show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())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r>
                <a:rPr lang="en-US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访问的是</a:t>
              </a:r>
              <a:r>
                <a:rPr lang="en-US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Bus</a:t>
              </a:r>
              <a:r>
                <a:rPr lang="zh-CN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类经过重写的方法</a:t>
              </a:r>
              <a:r>
                <a:rPr lang="en-US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show()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8066795" cy="3065681"/>
              <a:chOff x="927181" y="1407827"/>
              <a:chExt cx="8066795" cy="3065681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8066795" cy="2910983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继承中的多态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圆角矩形 54"/>
          <p:cNvSpPr/>
          <p:nvPr/>
        </p:nvSpPr>
        <p:spPr>
          <a:xfrm>
            <a:off x="1199563" y="2197081"/>
            <a:ext cx="4528927" cy="3177199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4095" y="152680"/>
            <a:ext cx="9004288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236050" y="1877980"/>
            <a:ext cx="296964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2844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01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8" name="空心弧 7"/>
          <p:cNvSpPr/>
          <p:nvPr/>
        </p:nvSpPr>
        <p:spPr>
          <a:xfrm rot="1740000">
            <a:off x="485628" y="1482465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2" name="Text2"/>
          <p:cNvSpPr txBox="1"/>
          <p:nvPr/>
        </p:nvSpPr>
        <p:spPr>
          <a:xfrm>
            <a:off x="1663448" y="1922846"/>
            <a:ext cx="2443945" cy="508767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任务描述</a:t>
            </a:r>
            <a:r>
              <a:rPr lang="en-US" altLang="zh-CN" sz="3200" b="1">
                <a:solidFill>
                  <a:schemeClr val="accent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 </a:t>
            </a:r>
            <a:endParaRPr lang="en-US" altLang="zh-CN" sz="3200" b="1">
              <a:solidFill>
                <a:schemeClr val="accent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sp>
        <p:nvSpPr>
          <p:cNvPr id="56" name="圆角矩形 55"/>
          <p:cNvSpPr/>
          <p:nvPr>
            <p:custDataLst>
              <p:tags r:id="rId1"/>
            </p:custDataLst>
          </p:nvPr>
        </p:nvSpPr>
        <p:spPr>
          <a:xfrm>
            <a:off x="6977895" y="2151833"/>
            <a:ext cx="4312135" cy="3743191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2" name="圆角矩形 61"/>
          <p:cNvSpPr/>
          <p:nvPr>
            <p:custDataLst>
              <p:tags r:id="rId2"/>
            </p:custDataLst>
          </p:nvPr>
        </p:nvSpPr>
        <p:spPr>
          <a:xfrm>
            <a:off x="6978741" y="1880942"/>
            <a:ext cx="296964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3" name="椭圆 62"/>
          <p:cNvSpPr/>
          <p:nvPr>
            <p:custDataLst>
              <p:tags r:id="rId3"/>
            </p:custDataLst>
          </p:nvPr>
        </p:nvSpPr>
        <p:spPr>
          <a:xfrm>
            <a:off x="6503836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02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4" name="空心弧 63"/>
          <p:cNvSpPr/>
          <p:nvPr>
            <p:custDataLst>
              <p:tags r:id="rId4"/>
            </p:custDataLst>
          </p:nvPr>
        </p:nvSpPr>
        <p:spPr>
          <a:xfrm rot="1740000">
            <a:off x="6263960" y="1437217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5" name="Text2"/>
          <p:cNvSpPr txBox="1"/>
          <p:nvPr>
            <p:custDataLst>
              <p:tags r:id="rId5"/>
            </p:custDataLst>
          </p:nvPr>
        </p:nvSpPr>
        <p:spPr>
          <a:xfrm>
            <a:off x="7378426" y="1890921"/>
            <a:ext cx="2918625" cy="540693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设置页的效果</a:t>
            </a:r>
            <a:endParaRPr lang="en-US" altLang="zh-CN" sz="3200" b="1">
              <a:solidFill>
                <a:schemeClr val="bg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81731" y="2537064"/>
            <a:ext cx="3824682" cy="1671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以</a:t>
            </a:r>
            <a:r>
              <a:rPr lang="en-US" altLang="zh-CN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App</a:t>
            </a: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项目常见的设置页使用场景为参考，设计设置页功能对应的类和数据，并做好数据源的初始化。</a:t>
            </a:r>
            <a:endParaRPr lang="zh-CN" altLang="en-US" sz="2135" kern="0"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 t="46034" b="17007"/>
          <a:stretch>
            <a:fillRect/>
          </a:stretch>
        </p:blipFill>
        <p:spPr>
          <a:xfrm>
            <a:off x="7234371" y="2773148"/>
            <a:ext cx="4055660" cy="29771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3" grpId="0"/>
      <p:bldP spid="4" grpId="0" bldLvl="0" animBg="1"/>
      <p:bldP spid="6" grpId="0" bldLvl="0" animBg="1"/>
      <p:bldP spid="8" grpId="0" bldLvl="0" animBg="1"/>
      <p:bldP spid="56" grpId="0" bldLvl="0" animBg="1"/>
      <p:bldP spid="62" grpId="0" bldLvl="0" animBg="1"/>
      <p:bldP spid="63" grpId="0" bldLvl="0" animBg="1"/>
      <p:bldP spid="64" grpId="0" bldLvl="0" animBg="1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圆角矩形 54"/>
          <p:cNvSpPr/>
          <p:nvPr/>
        </p:nvSpPr>
        <p:spPr>
          <a:xfrm>
            <a:off x="1199562" y="2197081"/>
            <a:ext cx="4805474" cy="4325199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4096" y="152679"/>
            <a:ext cx="6746671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236050" y="1877980"/>
            <a:ext cx="296964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2844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03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8" name="空心弧 7"/>
          <p:cNvSpPr/>
          <p:nvPr/>
        </p:nvSpPr>
        <p:spPr>
          <a:xfrm rot="1740000">
            <a:off x="485628" y="1482465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2" name="Text2"/>
          <p:cNvSpPr txBox="1"/>
          <p:nvPr/>
        </p:nvSpPr>
        <p:spPr>
          <a:xfrm>
            <a:off x="1534487" y="1920264"/>
            <a:ext cx="2818965" cy="553633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设置项的构成</a:t>
            </a:r>
            <a:r>
              <a:rPr lang="en-US" altLang="zh-CN" sz="3200" b="1">
                <a:solidFill>
                  <a:schemeClr val="accent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 </a:t>
            </a:r>
            <a:endParaRPr lang="en-US" altLang="zh-CN" sz="3200" b="1">
              <a:solidFill>
                <a:schemeClr val="accent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sp>
        <p:nvSpPr>
          <p:cNvPr id="56" name="圆角矩形 55"/>
          <p:cNvSpPr/>
          <p:nvPr>
            <p:custDataLst>
              <p:tags r:id="rId1"/>
            </p:custDataLst>
          </p:nvPr>
        </p:nvSpPr>
        <p:spPr>
          <a:xfrm>
            <a:off x="6977895" y="2151833"/>
            <a:ext cx="4312135" cy="3743191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2" name="圆角矩形 61"/>
          <p:cNvSpPr/>
          <p:nvPr>
            <p:custDataLst>
              <p:tags r:id="rId2"/>
            </p:custDataLst>
          </p:nvPr>
        </p:nvSpPr>
        <p:spPr>
          <a:xfrm>
            <a:off x="6978741" y="1880942"/>
            <a:ext cx="296964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3" name="椭圆 62"/>
          <p:cNvSpPr/>
          <p:nvPr>
            <p:custDataLst>
              <p:tags r:id="rId3"/>
            </p:custDataLst>
          </p:nvPr>
        </p:nvSpPr>
        <p:spPr>
          <a:xfrm>
            <a:off x="6503836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04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4" name="空心弧 63"/>
          <p:cNvSpPr/>
          <p:nvPr>
            <p:custDataLst>
              <p:tags r:id="rId4"/>
            </p:custDataLst>
          </p:nvPr>
        </p:nvSpPr>
        <p:spPr>
          <a:xfrm rot="1740000">
            <a:off x="6263960" y="1437217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5" name="Text2"/>
          <p:cNvSpPr txBox="1"/>
          <p:nvPr>
            <p:custDataLst>
              <p:tags r:id="rId5"/>
            </p:custDataLst>
          </p:nvPr>
        </p:nvSpPr>
        <p:spPr>
          <a:xfrm>
            <a:off x="7462450" y="1890921"/>
            <a:ext cx="2247637" cy="553633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实施步骤</a:t>
            </a:r>
            <a:endParaRPr lang="en-US" altLang="zh-CN" sz="3200" b="1">
              <a:solidFill>
                <a:schemeClr val="bg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075982" y="2814332"/>
            <a:ext cx="4214048" cy="435965"/>
            <a:chOff x="3644" y="2232"/>
            <a:chExt cx="4978" cy="515"/>
          </a:xfrm>
        </p:grpSpPr>
        <p:sp>
          <p:nvSpPr>
            <p:cNvPr id="12" name="文本框 11"/>
            <p:cNvSpPr txBox="1"/>
            <p:nvPr/>
          </p:nvSpPr>
          <p:spPr>
            <a:xfrm>
              <a:off x="4098" y="2232"/>
              <a:ext cx="4524" cy="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整理工程资源</a:t>
              </a:r>
              <a:endParaRPr lang="zh-CN" altLang="en-US" sz="1865" dirty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644" y="2295"/>
              <a:ext cx="434" cy="383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1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075982" y="3322970"/>
            <a:ext cx="4642395" cy="445277"/>
            <a:chOff x="3644" y="3228"/>
            <a:chExt cx="5484" cy="526"/>
          </a:xfrm>
        </p:grpSpPr>
        <p:sp>
          <p:nvSpPr>
            <p:cNvPr id="15" name="文本框 14"/>
            <p:cNvSpPr txBox="1"/>
            <p:nvPr/>
          </p:nvSpPr>
          <p:spPr>
            <a:xfrm>
              <a:off x="4098" y="3228"/>
              <a:ext cx="5030" cy="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分析设置类的构成</a:t>
              </a:r>
              <a:endParaRPr lang="zh-CN" altLang="en-US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644" y="3332"/>
              <a:ext cx="431" cy="422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2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075982" y="3848879"/>
            <a:ext cx="4443459" cy="435965"/>
            <a:chOff x="3644" y="4164"/>
            <a:chExt cx="5249" cy="515"/>
          </a:xfrm>
        </p:grpSpPr>
        <p:sp>
          <p:nvSpPr>
            <p:cNvPr id="19" name="文本框 18"/>
            <p:cNvSpPr txBox="1"/>
            <p:nvPr/>
          </p:nvSpPr>
          <p:spPr>
            <a:xfrm>
              <a:off x="4098" y="4164"/>
              <a:ext cx="4795" cy="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处理设置项的数据源</a:t>
              </a:r>
              <a:endParaRPr lang="zh-CN" altLang="en-US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644" y="4227"/>
              <a:ext cx="431" cy="412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3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075982" y="4338626"/>
            <a:ext cx="6476835" cy="435965"/>
            <a:chOff x="3644" y="5256"/>
            <a:chExt cx="7651" cy="515"/>
          </a:xfrm>
        </p:grpSpPr>
        <p:sp>
          <p:nvSpPr>
            <p:cNvPr id="22" name="文本框 21"/>
            <p:cNvSpPr txBox="1"/>
            <p:nvPr/>
          </p:nvSpPr>
          <p:spPr>
            <a:xfrm>
              <a:off x="4098" y="5256"/>
              <a:ext cx="7197" cy="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使用数据源开发设置项</a:t>
              </a:r>
              <a:endParaRPr lang="zh-CN" altLang="en-US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3644" y="5319"/>
              <a:ext cx="431" cy="389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4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 t="46034" b="17007"/>
          <a:stretch>
            <a:fillRect/>
          </a:stretch>
        </p:blipFill>
        <p:spPr>
          <a:xfrm>
            <a:off x="1858000" y="3852782"/>
            <a:ext cx="3444099" cy="2528246"/>
          </a:xfrm>
          <a:prstGeom prst="rect">
            <a:avLst/>
          </a:pr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7708" y="2512581"/>
            <a:ext cx="2953652" cy="1235406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3" grpId="0"/>
      <p:bldP spid="4" grpId="0" bldLvl="0" animBg="1"/>
      <p:bldP spid="6" grpId="0" bldLvl="0" animBg="1"/>
      <p:bldP spid="8" grpId="0" bldLvl="0" animBg="1"/>
      <p:bldP spid="56" grpId="0" bldLvl="0" animBg="1"/>
      <p:bldP spid="62" grpId="0" bldLvl="0" animBg="1"/>
      <p:bldP spid="63" grpId="0" bldLvl="0" animBg="1"/>
      <p:bldP spid="6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4" y="169025"/>
            <a:ext cx="9224917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-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任务实施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458" y="1505624"/>
            <a:ext cx="11340696" cy="1661935"/>
            <a:chOff x="467881" y="1005923"/>
            <a:chExt cx="8262337" cy="1324047"/>
          </a:xfrm>
        </p:grpSpPr>
        <p:sp>
          <p:nvSpPr>
            <p:cNvPr id="9" name="文本框 8"/>
            <p:cNvSpPr txBox="1"/>
            <p:nvPr/>
          </p:nvSpPr>
          <p:spPr>
            <a:xfrm>
              <a:off x="467881" y="1552404"/>
              <a:ext cx="8262337" cy="777566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设置页中使用到的类和数据，需要在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ets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目录下进行分目录存放，创建对应的目录和文件，并将图片资源放到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media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目录下。</a:t>
              </a: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8" y="1005923"/>
              <a:ext cx="7988810" cy="1297751"/>
              <a:chOff x="927180" y="1407827"/>
              <a:chExt cx="7988810" cy="1297751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0" y="1562524"/>
                <a:ext cx="7988810" cy="1143054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001585" y="1416240"/>
                <a:ext cx="2578360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1.</a:t>
                </a: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整理工程资源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520" y="3458364"/>
            <a:ext cx="7812816" cy="3231882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4" y="169025"/>
            <a:ext cx="9224917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-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任务实施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458" y="1460213"/>
            <a:ext cx="11447739" cy="2150575"/>
            <a:chOff x="467881" y="969745"/>
            <a:chExt cx="8340324" cy="1713342"/>
          </a:xfrm>
        </p:grpSpPr>
        <p:sp>
          <p:nvSpPr>
            <p:cNvPr id="9" name="文本框 8"/>
            <p:cNvSpPr txBox="1"/>
            <p:nvPr/>
          </p:nvSpPr>
          <p:spPr>
            <a:xfrm>
              <a:off x="467881" y="1552404"/>
              <a:ext cx="8262337" cy="1130683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观察设置页面中的每一个设置项，每一项都由图片和名字构成。针对设置项的数据，可以封装成一个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Setting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类，类内的数据有设置项的名称和图片，并提供构造方法用于初始化数据，用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export default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导出设置类。</a:t>
              </a: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8" y="969745"/>
              <a:ext cx="8066797" cy="1686967"/>
              <a:chOff x="927180" y="1371649"/>
              <a:chExt cx="8066797" cy="1686967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3030154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0" y="1562524"/>
                <a:ext cx="8066797" cy="1496092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927180" y="1371649"/>
                <a:ext cx="2851886" cy="415290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2.</a:t>
                </a: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分析设置类的构成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095" y="3742353"/>
            <a:ext cx="3403773" cy="3057843"/>
          </a:xfrm>
          <a:prstGeom prst="rect">
            <a:avLst/>
          </a:prstGeom>
        </p:spPr>
      </p:pic>
      <p:sp>
        <p:nvSpPr>
          <p:cNvPr id="4" name="ïsḷîde"/>
          <p:cNvSpPr/>
          <p:nvPr/>
        </p:nvSpPr>
        <p:spPr>
          <a:xfrm>
            <a:off x="3924655" y="4423181"/>
            <a:ext cx="2914162" cy="736290"/>
          </a:xfrm>
          <a:prstGeom prst="frame">
            <a:avLst>
              <a:gd name="adj1" fmla="val 70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1900" tIns="60950" rIns="121900" bIns="60950" anchor="ctr">
            <a:normAutofit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代码演示</a:t>
            </a:r>
            <a:endParaRPr lang="zh-CN" altLang="en-US" sz="3200" b="1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84" y="4035868"/>
            <a:ext cx="2953652" cy="1235406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4" y="169025"/>
            <a:ext cx="9224917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-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任务实施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3161" y="980031"/>
            <a:ext cx="11823179" cy="3036399"/>
            <a:chOff x="467881" y="969745"/>
            <a:chExt cx="8613853" cy="2419070"/>
          </a:xfrm>
        </p:grpSpPr>
        <p:sp>
          <p:nvSpPr>
            <p:cNvPr id="9" name="文本框 8"/>
            <p:cNvSpPr txBox="1"/>
            <p:nvPr/>
          </p:nvSpPr>
          <p:spPr>
            <a:xfrm>
              <a:off x="467881" y="1552404"/>
              <a:ext cx="8262337" cy="1836411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每一个设置项都有文字和图片，很多个设置项的文字和图片可以通过数据源进行提供。在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ets/viewmodel/SettingViewModel.ets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中编写代码，定义类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SettingViewModel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，在类内的构造方法里初始化每个设置项对象，并将对象放入数组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settings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中，并提供方法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getSetting()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用于对外提供设置项的数据源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(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就是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settings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数组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)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，最后用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export default 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导出设置项的数据源对象。</a:t>
              </a: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8" y="969745"/>
              <a:ext cx="8340326" cy="2393040"/>
              <a:chOff x="927180" y="1371649"/>
              <a:chExt cx="8340326" cy="2393040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1" y="1407827"/>
                <a:ext cx="35811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0" y="1562524"/>
                <a:ext cx="8340326" cy="2202165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927180" y="1371649"/>
                <a:ext cx="3211068" cy="415290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3.</a:t>
                </a: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处理设置类的数据源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8467" y="4193838"/>
            <a:ext cx="2641867" cy="2373370"/>
          </a:xfrm>
          <a:prstGeom prst="rect">
            <a:avLst/>
          </a:prstGeom>
        </p:spPr>
      </p:pic>
      <p:sp>
        <p:nvSpPr>
          <p:cNvPr id="4" name="ïsḷîde"/>
          <p:cNvSpPr/>
          <p:nvPr/>
        </p:nvSpPr>
        <p:spPr>
          <a:xfrm>
            <a:off x="5763509" y="5012378"/>
            <a:ext cx="2914162" cy="736290"/>
          </a:xfrm>
          <a:prstGeom prst="frame">
            <a:avLst>
              <a:gd name="adj1" fmla="val 70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1900" tIns="60950" rIns="121900" bIns="60950" anchor="ctr">
            <a:normAutofit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代码演示</a:t>
            </a:r>
            <a:endParaRPr lang="zh-CN" altLang="en-US" sz="3200" b="1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46034" b="17007"/>
          <a:stretch>
            <a:fillRect/>
          </a:stretch>
        </p:blipFill>
        <p:spPr>
          <a:xfrm>
            <a:off x="1412013" y="4147372"/>
            <a:ext cx="3464025" cy="254287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4" y="169025"/>
            <a:ext cx="9224917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的类与对象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-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任务实施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36980" y="1606591"/>
            <a:ext cx="11716133" cy="1731867"/>
            <a:chOff x="467881" y="969745"/>
            <a:chExt cx="8535864" cy="1379761"/>
          </a:xfrm>
        </p:grpSpPr>
        <p:sp>
          <p:nvSpPr>
            <p:cNvPr id="9" name="文本框 8"/>
            <p:cNvSpPr txBox="1"/>
            <p:nvPr/>
          </p:nvSpPr>
          <p:spPr>
            <a:xfrm>
              <a:off x="467881" y="1552404"/>
              <a:ext cx="8262337" cy="777566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Index.ets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页面，使用设置项数据源进行测试，将数据源的第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1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项（下标为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0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）数据取出来，用在图片组件和文字组件中。</a:t>
              </a: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7" y="969745"/>
              <a:ext cx="8262338" cy="1379761"/>
              <a:chOff x="927179" y="1371649"/>
              <a:chExt cx="8262338" cy="1379761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1" y="1407827"/>
                <a:ext cx="35811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0" y="1562524"/>
                <a:ext cx="8262337" cy="1188886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927179" y="1371649"/>
                <a:ext cx="3581116" cy="415290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4.</a:t>
                </a: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使用数据源开发设置项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8467" y="3910044"/>
            <a:ext cx="2641867" cy="2373370"/>
          </a:xfrm>
          <a:prstGeom prst="rect">
            <a:avLst/>
          </a:prstGeom>
        </p:spPr>
      </p:pic>
      <p:sp>
        <p:nvSpPr>
          <p:cNvPr id="4" name="ïsḷîde"/>
          <p:cNvSpPr/>
          <p:nvPr/>
        </p:nvSpPr>
        <p:spPr>
          <a:xfrm>
            <a:off x="5466942" y="4598808"/>
            <a:ext cx="2914162" cy="736290"/>
          </a:xfrm>
          <a:prstGeom prst="frame">
            <a:avLst>
              <a:gd name="adj1" fmla="val 70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1900" tIns="60950" rIns="121900" bIns="60950" anchor="ctr">
            <a:normAutofit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代码演示</a:t>
            </a:r>
            <a:endParaRPr lang="zh-CN" altLang="en-US" sz="3200" b="1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885" y="4145118"/>
            <a:ext cx="2953652" cy="1235406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97510" y="405765"/>
            <a:ext cx="11071225" cy="5531485"/>
            <a:chOff x="741409" y="1005923"/>
            <a:chExt cx="8065819" cy="3172298"/>
          </a:xfrm>
        </p:grpSpPr>
        <p:sp>
          <p:nvSpPr>
            <p:cNvPr id="9" name="文本框 8"/>
            <p:cNvSpPr txBox="1"/>
            <p:nvPr/>
          </p:nvSpPr>
          <p:spPr>
            <a:xfrm>
              <a:off x="881526" y="1472756"/>
              <a:ext cx="7469960" cy="644219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285750" lvl="0" indent="-28575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  <a:buFont typeface="Wingdings" panose="05000000000000000000" pitchFamily="2" charset="2"/>
                <a:buChar char="l"/>
              </a:pPr>
              <a:r>
                <a:rPr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在ets/common/model/Setting.ets中编写的设置类代码如下。</a:t>
              </a:r>
              <a:endParaRPr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lvl="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endParaRPr lang="zh-CN" altLang="en-US" sz="3200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8065819" cy="3172298"/>
              <a:chOff x="927181" y="1407827"/>
              <a:chExt cx="8065819" cy="3172298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8065819" cy="3017600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4915" y="2133600"/>
            <a:ext cx="5381625" cy="3105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4645" y="405765"/>
            <a:ext cx="3609975" cy="56832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每一个设置项都有文字和图片，很多个设置项的文字和图片可以通过数据源进行提供。 </a:t>
            </a:r>
            <a:endParaRPr lang="zh-CN" altLang="en-US" sz="2135" kern="10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在ets/viewmodel/SettingViewModel.ets中编写代码，定义类SettingViewModel，在类内的 构造方法里初始化每个设置项对象，并将对象放入数组settings中，并提供方法 </a:t>
            </a:r>
            <a:endParaRPr lang="zh-CN" altLang="en-US" sz="2135" kern="10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getSetting()用于对外提供设置项的数据源(就是settings数组)，最后用export default 导 出设置项的数据源对象，代码如下。 </a:t>
            </a:r>
            <a:endParaRPr lang="zh-CN" altLang="en-US" sz="2135" kern="10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0995" y="193040"/>
            <a:ext cx="7985760" cy="6398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005" y="1197610"/>
            <a:ext cx="5553075" cy="4295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38835" y="333375"/>
            <a:ext cx="9936480" cy="1407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使用数据源开发设置项</a:t>
            </a:r>
            <a:endParaRPr lang="zh-CN" altLang="en-US" sz="2135" kern="10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在Index.ets页面，使用设置项数据源进行测试，将数据源的第1项（下标为0）数据取出来，用在图片组件和文字组件中（关于图片组件和文字组件的详细使用，将会在下一个项目中进行讲解，这里先暂时使用来展示数据），代码如下。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580" y="2205355"/>
            <a:ext cx="8724900" cy="396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925" y="405765"/>
            <a:ext cx="8639175" cy="3657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4063365"/>
            <a:ext cx="4562475" cy="1466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702745" y="2781784"/>
            <a:ext cx="1343790" cy="1247944"/>
            <a:chOff x="5328140" y="1203598"/>
            <a:chExt cx="1008000" cy="936104"/>
          </a:xfrm>
        </p:grpSpPr>
        <p:sp>
          <p:nvSpPr>
            <p:cNvPr id="11" name="椭圆 10"/>
            <p:cNvSpPr/>
            <p:nvPr/>
          </p:nvSpPr>
          <p:spPr>
            <a:xfrm>
              <a:off x="5364088" y="1203598"/>
              <a:ext cx="936104" cy="936104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>
                <a:latin typeface="思源黑体" panose="020B0400000000000000" pitchFamily="34" charset="-122"/>
                <a:ea typeface="思源黑体" panose="020B0400000000000000" pitchFamily="34" charset="-122"/>
                <a:cs typeface="Bebas" charset="0"/>
                <a:sym typeface="思源黑体" panose="020B04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140" y="1203702"/>
              <a:ext cx="1008000" cy="936000"/>
            </a:xfrm>
            <a:prstGeom prst="rect">
              <a:avLst/>
            </a:prstGeom>
            <a:noFill/>
          </p:spPr>
          <p:txBody>
            <a:bodyPr wrap="square" lIns="86683" tIns="43341" rIns="86683" bIns="43341" rtlCol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865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02</a:t>
              </a:r>
              <a:endParaRPr lang="en-US" altLang="zh-CN" sz="5865" b="1" dirty="0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3719195" y="3141980"/>
            <a:ext cx="7935595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认识和使用</a:t>
            </a:r>
            <a:r>
              <a:rPr lang="en-US" altLang="zh-CN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的接口声明与实现</a:t>
            </a:r>
            <a:endParaRPr lang="zh-CN" altLang="en-US" sz="3465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58985" y="405848"/>
            <a:ext cx="6231695" cy="90155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面向对象</a:t>
            </a:r>
            <a:endParaRPr lang="zh-CN" altLang="en-US" sz="3600" b="1" dirty="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的接口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sp>
        <p:nvSpPr>
          <p:cNvPr id="2" name="圆角矩形 55"/>
          <p:cNvSpPr/>
          <p:nvPr>
            <p:custDataLst>
              <p:tags r:id="rId1"/>
            </p:custDataLst>
          </p:nvPr>
        </p:nvSpPr>
        <p:spPr>
          <a:xfrm>
            <a:off x="397499" y="1323384"/>
            <a:ext cx="11070962" cy="444753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1634" y="1284568"/>
            <a:ext cx="11352398" cy="48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接口是特殊的类，使用</a:t>
            </a:r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interface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表示，接口用来限定属性和规定标准行为。</a:t>
            </a:r>
            <a:endParaRPr lang="zh-CN" altLang="en-US" sz="2135" kern="10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7498" y="2430411"/>
            <a:ext cx="11070962" cy="4368026"/>
            <a:chOff x="741409" y="1005923"/>
            <a:chExt cx="8065819" cy="3479964"/>
          </a:xfrm>
        </p:grpSpPr>
        <p:sp>
          <p:nvSpPr>
            <p:cNvPr id="9" name="文本框 8"/>
            <p:cNvSpPr txBox="1"/>
            <p:nvPr/>
          </p:nvSpPr>
          <p:spPr>
            <a:xfrm>
              <a:off x="881526" y="1472756"/>
              <a:ext cx="7469960" cy="3013131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285750" lvl="0" indent="-28575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  <a:buFont typeface="Wingdings" panose="05000000000000000000" pitchFamily="2" charset="2"/>
                <a:buChar char="l"/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声明接口时，属性不能被初始化，行为是没有方法体的抽象方法，接口中的属性和方法默认都是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public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。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b="1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interface </a:t>
              </a:r>
              <a:r>
                <a:rPr lang="en-US" altLang="zh-CN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ICar 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定义接口的一个属性，不能初始化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//sayHi</a:t>
              </a:r>
              <a:r>
                <a:rPr lang="zh-CN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是函数名，该函数没有参数，返回值类型为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sayHi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 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=&gt; </a:t>
              </a:r>
              <a:r>
                <a:rPr lang="en-US" altLang="zh-CN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定义接口的抽象方法，不能有方法体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lvl="0" algn="just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endParaRPr lang="zh-CN" altLang="en-US" sz="3200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8065819" cy="3172298"/>
              <a:chOff x="927181" y="1407827"/>
              <a:chExt cx="8065819" cy="3172298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8065819" cy="3017600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声明接口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ldLvl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的接口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31280" y="862300"/>
            <a:ext cx="11527535" cy="5742639"/>
            <a:chOff x="602641" y="1005923"/>
            <a:chExt cx="8398458" cy="4575103"/>
          </a:xfrm>
        </p:grpSpPr>
        <p:sp>
          <p:nvSpPr>
            <p:cNvPr id="9" name="文本框 8"/>
            <p:cNvSpPr txBox="1"/>
            <p:nvPr/>
          </p:nvSpPr>
          <p:spPr>
            <a:xfrm>
              <a:off x="602641" y="1477836"/>
              <a:ext cx="8012669" cy="3133533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694690" marR="63500" indent="-28575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  <a:tabLst>
                  <a:tab pos="180340" algn="l"/>
                  <a:tab pos="408940" algn="l"/>
                </a:tabLst>
              </a:pPr>
              <a:r>
                <a:rPr lang="zh-CN" altLang="en-US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实现接口，接口声明后可以由具体的类实现（</a:t>
              </a:r>
              <a:r>
                <a:rPr lang="en-US" altLang="zh-CN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implements</a:t>
              </a:r>
              <a:r>
                <a:rPr lang="zh-CN" altLang="en-US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）接口中定义的方法和给属性赋值。</a:t>
              </a:r>
              <a:endParaRPr lang="en-US" altLang="zh-CN" sz="2135" b="1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class 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Bus </a:t>
              </a:r>
              <a:r>
                <a:rPr lang="en-US" altLang="zh-CN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implements 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ICar 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'</a:t>
              </a:r>
              <a:r>
                <a:rPr lang="zh-CN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红色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'</a:t>
              </a:r>
              <a:r>
                <a:rPr lang="zh-CN" altLang="zh-CN">
                  <a:solidFill>
                    <a:srgbClr val="080808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　　　　</a:t>
              </a:r>
              <a:r>
                <a:rPr lang="en-US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可以初始化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sayHi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 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         </a:t>
              </a:r>
              <a:r>
                <a:rPr lang="en-US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实现接口的方法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    </a:t>
              </a:r>
              <a:r>
                <a:rPr lang="en-US" altLang="zh-CN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return 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`Hi,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${</a:t>
              </a:r>
              <a:r>
                <a:rPr lang="en-US" altLang="zh-CN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this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color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`</a:t>
              </a:r>
              <a:r>
                <a:rPr lang="en-US" altLang="zh-CN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09" y="1005923"/>
              <a:ext cx="8259690" cy="4575103"/>
              <a:chOff x="927181" y="1407827"/>
              <a:chExt cx="8259690" cy="4575103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27181" y="1562525"/>
                <a:ext cx="8259690" cy="4420405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实现接口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5"/>
            <a:ext cx="8625385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认识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的接口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87717" y="1742696"/>
            <a:ext cx="11016792" cy="2772060"/>
            <a:chOff x="602641" y="1005923"/>
            <a:chExt cx="8026353" cy="2208473"/>
          </a:xfrm>
        </p:grpSpPr>
        <p:sp>
          <p:nvSpPr>
            <p:cNvPr id="9" name="文本框 8"/>
            <p:cNvSpPr txBox="1"/>
            <p:nvPr/>
          </p:nvSpPr>
          <p:spPr>
            <a:xfrm>
              <a:off x="602641" y="1477836"/>
              <a:ext cx="8012669" cy="1053786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694690" marR="63500" indent="-28575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  <a:tabLst>
                  <a:tab pos="180340" algn="l"/>
                  <a:tab pos="408940" algn="l"/>
                </a:tabLst>
              </a:pPr>
              <a:r>
                <a:rPr lang="zh-CN" altLang="en-US" sz="2135" b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接口多态，当接口的实现类实现了接口中的方法后，接口的引用指向实现类对象，访问的是实现类的方法，从而呈现多种状态。</a:t>
              </a:r>
              <a:endParaRPr lang="en-US" altLang="zh-CN" sz="2135" b="1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b="1" kern="100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      let </a:t>
              </a:r>
              <a:r>
                <a:rPr lang="en-US" altLang="zh-CN" kern="10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car</a:t>
              </a:r>
              <a:r>
                <a:rPr lang="en-US" altLang="zh-CN" kern="100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kern="10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ICar </a:t>
              </a:r>
              <a:r>
                <a:rPr lang="en-US" altLang="zh-CN" kern="100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= </a:t>
              </a:r>
              <a:r>
                <a:rPr lang="en-US" altLang="zh-CN" b="1" kern="100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new </a:t>
              </a:r>
              <a:r>
                <a:rPr lang="en-US" altLang="zh-CN" kern="10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Bus</a:t>
              </a:r>
              <a:r>
                <a:rPr lang="en-US" altLang="zh-CN" kern="10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()</a:t>
              </a:r>
              <a:r>
                <a:rPr lang="en-US" altLang="zh-CN" kern="100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;</a:t>
              </a:r>
              <a:r>
                <a:rPr lang="en-US" altLang="zh-CN" i="1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接口的引用指向实现类的对象</a:t>
              </a: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1410" y="1005923"/>
              <a:ext cx="7887584" cy="2208473"/>
              <a:chOff x="927182" y="1407827"/>
              <a:chExt cx="7887584" cy="2208473"/>
            </a:xfrm>
          </p:grpSpPr>
          <p:sp>
            <p:nvSpPr>
              <p:cNvPr id="11" name="圆角矩形 3"/>
              <p:cNvSpPr/>
              <p:nvPr/>
            </p:nvSpPr>
            <p:spPr>
              <a:xfrm>
                <a:off x="927182" y="1407827"/>
                <a:ext cx="2652762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圆角矩形 54"/>
              <p:cNvSpPr/>
              <p:nvPr/>
            </p:nvSpPr>
            <p:spPr>
              <a:xfrm>
                <a:off x="940865" y="1615472"/>
                <a:ext cx="7873901" cy="2000828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3" name="Text2"/>
              <p:cNvSpPr txBox="1"/>
              <p:nvPr/>
            </p:nvSpPr>
            <p:spPr>
              <a:xfrm>
                <a:off x="1192315" y="1424654"/>
                <a:ext cx="2414998" cy="398463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接口多态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圆角矩形 54"/>
          <p:cNvSpPr/>
          <p:nvPr/>
        </p:nvSpPr>
        <p:spPr>
          <a:xfrm>
            <a:off x="1199563" y="2197081"/>
            <a:ext cx="4528927" cy="3177199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4095" y="152680"/>
            <a:ext cx="9004288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的接口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236050" y="1877980"/>
            <a:ext cx="296964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2844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01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8" name="空心弧 7"/>
          <p:cNvSpPr/>
          <p:nvPr/>
        </p:nvSpPr>
        <p:spPr>
          <a:xfrm rot="1740000">
            <a:off x="485628" y="1482465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2" name="Text2"/>
          <p:cNvSpPr txBox="1"/>
          <p:nvPr/>
        </p:nvSpPr>
        <p:spPr>
          <a:xfrm>
            <a:off x="1663448" y="1922846"/>
            <a:ext cx="2443945" cy="508767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任务描述</a:t>
            </a:r>
            <a:r>
              <a:rPr lang="en-US" altLang="zh-CN" sz="3200" b="1">
                <a:solidFill>
                  <a:schemeClr val="accent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 </a:t>
            </a:r>
            <a:endParaRPr lang="en-US" altLang="zh-CN" sz="3200" b="1">
              <a:solidFill>
                <a:schemeClr val="accent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sp>
        <p:nvSpPr>
          <p:cNvPr id="56" name="圆角矩形 55"/>
          <p:cNvSpPr/>
          <p:nvPr>
            <p:custDataLst>
              <p:tags r:id="rId1"/>
            </p:custDataLst>
          </p:nvPr>
        </p:nvSpPr>
        <p:spPr>
          <a:xfrm>
            <a:off x="6977895" y="2151833"/>
            <a:ext cx="4348242" cy="3222447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2" name="圆角矩形 61"/>
          <p:cNvSpPr/>
          <p:nvPr>
            <p:custDataLst>
              <p:tags r:id="rId2"/>
            </p:custDataLst>
          </p:nvPr>
        </p:nvSpPr>
        <p:spPr>
          <a:xfrm>
            <a:off x="6978741" y="1880942"/>
            <a:ext cx="2969643" cy="553633"/>
          </a:xfrm>
          <a:prstGeom prst="roundRect">
            <a:avLst>
              <a:gd name="adj" fmla="val 50000"/>
            </a:avLst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3" name="椭圆 62"/>
          <p:cNvSpPr/>
          <p:nvPr>
            <p:custDataLst>
              <p:tags r:id="rId3"/>
            </p:custDataLst>
          </p:nvPr>
        </p:nvSpPr>
        <p:spPr>
          <a:xfrm>
            <a:off x="6503836" y="1665923"/>
            <a:ext cx="959850" cy="9598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rPr>
              <a:t>02</a:t>
            </a:r>
            <a:endParaRPr lang="en-US" altLang="zh-CN" sz="320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4" name="空心弧 63"/>
          <p:cNvSpPr/>
          <p:nvPr>
            <p:custDataLst>
              <p:tags r:id="rId4"/>
            </p:custDataLst>
          </p:nvPr>
        </p:nvSpPr>
        <p:spPr>
          <a:xfrm rot="1740000">
            <a:off x="6263960" y="1437217"/>
            <a:ext cx="1439775" cy="1439775"/>
          </a:xfrm>
          <a:prstGeom prst="blockArc">
            <a:avLst>
              <a:gd name="adj1" fmla="val 5440382"/>
              <a:gd name="adj2" fmla="val 10847683"/>
              <a:gd name="adj3" fmla="val 1278"/>
            </a:avLst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6CD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5" name="Text2"/>
          <p:cNvSpPr txBox="1"/>
          <p:nvPr>
            <p:custDataLst>
              <p:tags r:id="rId5"/>
            </p:custDataLst>
          </p:nvPr>
        </p:nvSpPr>
        <p:spPr>
          <a:xfrm>
            <a:off x="7378426" y="1890921"/>
            <a:ext cx="2918625" cy="540693"/>
          </a:xfrm>
          <a:prstGeom prst="rect">
            <a:avLst/>
          </a:prstGeom>
          <a:noFill/>
        </p:spPr>
        <p:txBody>
          <a:bodyPr wrap="square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CN Heavy" panose="020B0A00000000000000" charset="-122"/>
                <a:sym typeface="思源黑体" panose="020B0400000000000000" pitchFamily="34" charset="-122"/>
              </a:rPr>
              <a:t>实施步骤</a:t>
            </a:r>
            <a:endParaRPr lang="en-US" altLang="zh-CN" sz="3200" b="1">
              <a:solidFill>
                <a:schemeClr val="bg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CN Heavy" panose="020B0A00000000000000" charset="-122"/>
              <a:sym typeface="思源黑体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81731" y="2537064"/>
            <a:ext cx="3824682" cy="127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以</a:t>
            </a:r>
            <a:r>
              <a:rPr lang="en-US" altLang="zh-CN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Vehicle</a:t>
            </a:r>
            <a:r>
              <a:rPr lang="zh-CN" altLang="zh-CN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（车辆）接口</a:t>
            </a:r>
            <a:r>
              <a:rPr lang="zh-CN" altLang="en-US" sz="2135" kern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为例，练习接口的声明、实现和接口多态的使用。</a:t>
            </a:r>
            <a:endParaRPr lang="zh-CN" altLang="en-US" sz="2135" kern="0"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301367" y="2840792"/>
            <a:ext cx="4214048" cy="435965"/>
            <a:chOff x="3644" y="2232"/>
            <a:chExt cx="4978" cy="515"/>
          </a:xfrm>
        </p:grpSpPr>
        <p:sp>
          <p:nvSpPr>
            <p:cNvPr id="10" name="文本框 9"/>
            <p:cNvSpPr txBox="1"/>
            <p:nvPr/>
          </p:nvSpPr>
          <p:spPr>
            <a:xfrm>
              <a:off x="4098" y="2232"/>
              <a:ext cx="4524" cy="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声明接口</a:t>
              </a:r>
              <a:endParaRPr lang="zh-CN" altLang="en-US" sz="1865" dirty="0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644" y="2295"/>
              <a:ext cx="434" cy="383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1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301367" y="3349430"/>
            <a:ext cx="4642395" cy="445277"/>
            <a:chOff x="3644" y="3228"/>
            <a:chExt cx="5484" cy="526"/>
          </a:xfrm>
        </p:grpSpPr>
        <p:sp>
          <p:nvSpPr>
            <p:cNvPr id="13" name="文本框 12"/>
            <p:cNvSpPr txBox="1"/>
            <p:nvPr/>
          </p:nvSpPr>
          <p:spPr>
            <a:xfrm>
              <a:off x="4098" y="3228"/>
              <a:ext cx="5030" cy="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实现接口</a:t>
              </a:r>
              <a:endParaRPr lang="zh-CN" altLang="en-US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644" y="3332"/>
              <a:ext cx="431" cy="422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2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301367" y="3875339"/>
            <a:ext cx="4443459" cy="435965"/>
            <a:chOff x="3644" y="4164"/>
            <a:chExt cx="5249" cy="515"/>
          </a:xfrm>
        </p:grpSpPr>
        <p:sp>
          <p:nvSpPr>
            <p:cNvPr id="16" name="文本框 15"/>
            <p:cNvSpPr txBox="1"/>
            <p:nvPr/>
          </p:nvSpPr>
          <p:spPr>
            <a:xfrm>
              <a:off x="4098" y="4164"/>
              <a:ext cx="4795" cy="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实现接口多态</a:t>
              </a:r>
              <a:endParaRPr lang="zh-CN" altLang="en-US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644" y="4227"/>
              <a:ext cx="431" cy="412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865">
                  <a:latin typeface="思源黑体" panose="020B0400000000000000" pitchFamily="34" charset="-122"/>
                  <a:ea typeface="思源黑体" panose="020B0400000000000000" pitchFamily="34" charset="-122"/>
                  <a:cs typeface="思源黑体 Bold" panose="020B0800000000000000" charset="-122"/>
                  <a:sym typeface="思源黑体" panose="020B0400000000000000" pitchFamily="34" charset="-122"/>
                </a:rPr>
                <a:t>3</a:t>
              </a:r>
              <a:endParaRPr lang="en-US" altLang="zh-CN" sz="1865"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3" grpId="0"/>
      <p:bldP spid="4" grpId="0" bldLvl="0" animBg="1"/>
      <p:bldP spid="6" grpId="0" bldLvl="0" animBg="1"/>
      <p:bldP spid="8" grpId="0" bldLvl="0" animBg="1"/>
      <p:bldP spid="56" grpId="0" bldLvl="0" animBg="1"/>
      <p:bldP spid="62" grpId="0" bldLvl="0" animBg="1"/>
      <p:bldP spid="63" grpId="0" bldLvl="0" animBg="1"/>
      <p:bldP spid="64" grpId="0" bldLvl="0" animBg="1"/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4" y="169025"/>
            <a:ext cx="9224917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使用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TypeScript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的接口</a:t>
            </a:r>
            <a:r>
              <a:rPr lang="en-US" altLang="zh-CN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-</a:t>
            </a: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任务实施</a:t>
            </a:r>
            <a:endParaRPr lang="zh-CN" altLang="en-US" sz="3600" b="1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6702" y="4240108"/>
            <a:ext cx="2914162" cy="2617991"/>
          </a:xfrm>
          <a:prstGeom prst="rect">
            <a:avLst/>
          </a:prstGeom>
        </p:spPr>
      </p:pic>
      <p:sp>
        <p:nvSpPr>
          <p:cNvPr id="4" name="ïsḷîde"/>
          <p:cNvSpPr/>
          <p:nvPr/>
        </p:nvSpPr>
        <p:spPr>
          <a:xfrm>
            <a:off x="3496312" y="5315572"/>
            <a:ext cx="2914162" cy="736290"/>
          </a:xfrm>
          <a:prstGeom prst="frame">
            <a:avLst>
              <a:gd name="adj1" fmla="val 70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1900" tIns="60950" rIns="121900" bIns="60950" anchor="ctr">
            <a:normAutofit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代码演示</a:t>
            </a:r>
            <a:endParaRPr lang="zh-CN" altLang="en-US" sz="3200" b="1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58115" y="981710"/>
            <a:ext cx="11523980" cy="3854289"/>
            <a:chOff x="467881" y="969745"/>
            <a:chExt cx="8323896" cy="2770005"/>
          </a:xfrm>
        </p:grpSpPr>
        <p:sp>
          <p:nvSpPr>
            <p:cNvPr id="7" name="文本框 6"/>
            <p:cNvSpPr txBox="1"/>
            <p:nvPr/>
          </p:nvSpPr>
          <p:spPr>
            <a:xfrm>
              <a:off x="467881" y="1552404"/>
              <a:ext cx="8262337" cy="2187346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1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、声明了一个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Vehicle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（车辆）接口，具有启动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start()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和停止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stop()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方法；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2</a:t>
              </a:r>
              <a:r>
                <a:rPr lang="zh-CN" altLang="en-US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、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创建了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Car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和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Bike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类，并实现了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Vehicle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接口中的方法；</a:t>
              </a:r>
              <a:endParaRPr lang="en-US" altLang="zh-CN" kern="10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3</a:t>
              </a:r>
              <a:r>
                <a:rPr lang="zh-CN" altLang="en-US" sz="3200" kern="100"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、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编写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showCarState()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方法，使用多态的概念传入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Vehicle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接口的不同实现类对象，通过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Vehicle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类型的变量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vehicle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来存储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Car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和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Bike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的实例，并通过调用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vehicle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的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start()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和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stop()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方法来启动和停止车辆，展示了接口的多态性，使得能够在运行时动态地调用不同类中的方法。</a:t>
              </a:r>
              <a:endParaRPr lang="zh-CN" altLang="en-US" sz="2135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741407" y="969745"/>
              <a:ext cx="8050370" cy="2730863"/>
              <a:chOff x="927179" y="1371649"/>
              <a:chExt cx="8050370" cy="2730863"/>
            </a:xfrm>
          </p:grpSpPr>
          <p:sp>
            <p:nvSpPr>
              <p:cNvPr id="15" name="圆角矩形 3"/>
              <p:cNvSpPr/>
              <p:nvPr/>
            </p:nvSpPr>
            <p:spPr>
              <a:xfrm>
                <a:off x="927181" y="1407827"/>
                <a:ext cx="35811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6" name="圆角矩形 54"/>
              <p:cNvSpPr/>
              <p:nvPr/>
            </p:nvSpPr>
            <p:spPr>
              <a:xfrm>
                <a:off x="927181" y="1562523"/>
                <a:ext cx="8050368" cy="2539989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7" name="Text2"/>
              <p:cNvSpPr txBox="1"/>
              <p:nvPr/>
            </p:nvSpPr>
            <p:spPr>
              <a:xfrm>
                <a:off x="927179" y="1371649"/>
                <a:ext cx="3581116" cy="415290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接口的声明与使用</a:t>
                </a:r>
                <a:endParaRPr lang="en-US" altLang="zh-CN" sz="3200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115" y="909320"/>
            <a:ext cx="7781925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35" y="333375"/>
            <a:ext cx="8058150" cy="39052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030" y="2781935"/>
            <a:ext cx="645795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115" y="429260"/>
            <a:ext cx="7934325" cy="6000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86535" y="1197610"/>
            <a:ext cx="915733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预览应用，单击不同的Text组件后，在预览日志中查看接口的多态使用的效果，如图所示。 </a:t>
            </a:r>
            <a:endParaRPr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2781935"/>
            <a:ext cx="9658350" cy="1962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959750" y="127518"/>
            <a:ext cx="9174328" cy="66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任务小结</a:t>
            </a:r>
            <a:endParaRPr lang="zh-CN" altLang="en-US" sz="3600" b="1" dirty="0">
              <a:solidFill>
                <a:srgbClr val="566CD3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Bold" panose="020B0800000000000000" charset="-122"/>
              <a:sym typeface="思源黑体" panose="020B0400000000000000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35077" y="1491854"/>
            <a:ext cx="10943911" cy="3101314"/>
            <a:chOff x="692679" y="1426630"/>
            <a:chExt cx="8209216" cy="2326349"/>
          </a:xfrm>
        </p:grpSpPr>
        <p:sp>
          <p:nvSpPr>
            <p:cNvPr id="28" name="文本框 27"/>
            <p:cNvSpPr txBox="1"/>
            <p:nvPr/>
          </p:nvSpPr>
          <p:spPr>
            <a:xfrm>
              <a:off x="817574" y="1738106"/>
              <a:ext cx="8084321" cy="1729058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lvl="0" algn="l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92929"/>
                </a:buClr>
                <a:buSzTx/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本任务使用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TS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中面向对象的语法，初步完成了针对设置页的类与数据源的设计和使用，并学会了声明接口和创建接口的实现类，利用接口的多态性进行了数据的展示。在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ArkTS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的开发中，组件的声明都使用到了接口，组件的属性都继承自公共的类，因此，读者需要重点掌握类与接口的语法，才能进行后续的</a:t>
              </a:r>
              <a:r>
                <a:rPr lang="en-US" altLang="zh-CN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ArkTS</a:t>
              </a: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组件的应用开发。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</p:txBody>
        </p:sp>
        <p:sp>
          <p:nvSpPr>
            <p:cNvPr id="31" name="圆角矩形 54"/>
            <p:cNvSpPr/>
            <p:nvPr/>
          </p:nvSpPr>
          <p:spPr>
            <a:xfrm>
              <a:off x="692679" y="1426630"/>
              <a:ext cx="8148518" cy="2326349"/>
            </a:xfrm>
            <a:prstGeom prst="roundRect">
              <a:avLst>
                <a:gd name="adj" fmla="val 7188"/>
              </a:avLst>
            </a:prstGeom>
            <a:noFill/>
            <a:ln>
              <a:solidFill>
                <a:srgbClr val="566C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59"/>
          <p:cNvSpPr>
            <a:spLocks noChangeArrowheads="1"/>
          </p:cNvSpPr>
          <p:nvPr/>
        </p:nvSpPr>
        <p:spPr bwMode="auto">
          <a:xfrm>
            <a:off x="4078339" y="3035986"/>
            <a:ext cx="3767078" cy="788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265" b="1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感谢聆听！</a:t>
            </a:r>
            <a:endParaRPr lang="zh-CN" altLang="en-US" sz="4265" b="1" cap="all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7121894" y="3934169"/>
            <a:ext cx="4372350" cy="394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Thank you for listening</a:t>
            </a:r>
            <a:endParaRPr lang="en-US" altLang="zh-CN" sz="2135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99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99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bldLvl="0" animBg="1"/>
      <p:bldP spid="10" grpId="0" bldLvl="0" animBg="1"/>
      <p:bldP spid="10" grpId="1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ISPRING_RESOURCE_PATHS_HASH_PRESENTER" val="3f15e6573a385e41c33bb97e7105a62faa5c484"/>
  <p:tag name="COMMONDATA" val="eyJoZGlkIjoiNGEzOWY5OWI3NjllYmMyNjdkZDQ2MDY2OWUyMDdmMzYifQ=="/>
  <p:tag name="RESOURCE_RECORD_KEY" val="{&quot;13&quot;:[19951231,4722044]}"/>
  <p:tag name="commondata" val="eyJoZGlkIjoiMjFiNDVkY2EyMjZlZDM1YjRhYTQ2MjFmNTIxMWRlNWE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3588</Words>
  <Application>WPS 演示</Application>
  <PresentationFormat>自定义</PresentationFormat>
  <Paragraphs>255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思源黑体 CN Medium</vt:lpstr>
      <vt:lpstr>黑体</vt:lpstr>
      <vt:lpstr>思源黑体</vt:lpstr>
      <vt:lpstr>思源黑体 CN Heavy</vt:lpstr>
      <vt:lpstr>思源黑体 Regular</vt:lpstr>
      <vt:lpstr>思源黑体 Bold</vt:lpstr>
      <vt:lpstr>Bebas</vt:lpstr>
      <vt:lpstr>Times New Roman</vt:lpstr>
      <vt:lpstr>Courier New</vt:lpstr>
      <vt:lpstr>字魂105号-简雅黑</vt:lpstr>
      <vt:lpstr>Arial Unicode MS</vt:lpstr>
      <vt:lpstr>Calibri</vt:lpstr>
      <vt:lpstr>Segoe Print</vt:lpstr>
      <vt:lpstr>Wingdings</vt:lpstr>
      <vt:lpstr>思源黑体</vt:lpstr>
      <vt:lpstr>思源黑体 Bold</vt:lpstr>
      <vt:lpstr>思源黑体 CN Heavy</vt:lpstr>
      <vt:lpstr>思源黑体 CN Medium</vt:lpstr>
      <vt:lpstr>思源黑体 Regular</vt:lpstr>
      <vt:lpstr>方正宝黑体 简 Medium</vt:lpstr>
      <vt:lpstr>文道潮黑体</vt:lpstr>
      <vt:lpstr>方正大黑体_GBK</vt:lpstr>
      <vt:lpstr>字小魂简雅黑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罗来干</cp:lastModifiedBy>
  <cp:revision>1091</cp:revision>
  <dcterms:created xsi:type="dcterms:W3CDTF">2020-11-11T09:29:00Z</dcterms:created>
  <dcterms:modified xsi:type="dcterms:W3CDTF">2026-03-30T09:08:57Z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9430FF2094FE4EC3B9F9D20844C07EA1_13</vt:lpwstr>
  </property>
</Properties>
</file>