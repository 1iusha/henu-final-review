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7" r:id="rId3"/>
    <p:sldMasterId id="2147483669" r:id="rId4"/>
  </p:sldMasterIdLst>
  <p:notesMasterIdLst>
    <p:notesMasterId r:id="rId6"/>
  </p:notesMasterIdLst>
  <p:handoutMasterIdLst>
    <p:handoutMasterId r:id="rId46"/>
  </p:handoutMasterIdLst>
  <p:sldIdLst>
    <p:sldId id="557" r:id="rId5"/>
    <p:sldId id="351" r:id="rId7"/>
    <p:sldId id="611" r:id="rId8"/>
    <p:sldId id="613" r:id="rId9"/>
    <p:sldId id="612" r:id="rId10"/>
    <p:sldId id="609" r:id="rId11"/>
    <p:sldId id="610" r:id="rId12"/>
    <p:sldId id="561" r:id="rId13"/>
    <p:sldId id="602" r:id="rId14"/>
    <p:sldId id="559" r:id="rId15"/>
    <p:sldId id="601" r:id="rId16"/>
    <p:sldId id="563" r:id="rId17"/>
    <p:sldId id="564" r:id="rId18"/>
    <p:sldId id="570" r:id="rId19"/>
    <p:sldId id="565" r:id="rId20"/>
    <p:sldId id="603" r:id="rId21"/>
    <p:sldId id="562" r:id="rId22"/>
    <p:sldId id="604" r:id="rId23"/>
    <p:sldId id="605" r:id="rId24"/>
    <p:sldId id="606" r:id="rId25"/>
    <p:sldId id="607" r:id="rId26"/>
    <p:sldId id="600" r:id="rId27"/>
    <p:sldId id="569" r:id="rId28"/>
    <p:sldId id="585" r:id="rId29"/>
    <p:sldId id="586" r:id="rId30"/>
    <p:sldId id="587" r:id="rId31"/>
    <p:sldId id="614" r:id="rId32"/>
    <p:sldId id="588" r:id="rId33"/>
    <p:sldId id="589" r:id="rId34"/>
    <p:sldId id="590" r:id="rId35"/>
    <p:sldId id="591" r:id="rId36"/>
    <p:sldId id="579" r:id="rId37"/>
    <p:sldId id="580" r:id="rId38"/>
    <p:sldId id="581" r:id="rId39"/>
    <p:sldId id="583" r:id="rId40"/>
    <p:sldId id="615" r:id="rId41"/>
    <p:sldId id="616" r:id="rId42"/>
    <p:sldId id="582" r:id="rId43"/>
    <p:sldId id="584" r:id="rId44"/>
    <p:sldId id="571" r:id="rId45"/>
  </p:sldIdLst>
  <p:sldSz cx="12190095" cy="6859270"/>
  <p:notesSz cx="6858000" cy="9144000"/>
  <p:custDataLst>
    <p:tags r:id="rId50"/>
  </p:custDataLst>
  <p:defaultTextStyle>
    <a:defPPr>
      <a:defRPr lang="zh-CN"/>
    </a:defPPr>
    <a:lvl1pPr marL="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2" userDrawn="1">
          <p15:clr>
            <a:srgbClr val="A4A3A4"/>
          </p15:clr>
        </p15:guide>
        <p15:guide id="2" pos="256" userDrawn="1">
          <p15:clr>
            <a:srgbClr val="A4A3A4"/>
          </p15:clr>
        </p15:guide>
        <p15:guide id="3" pos="665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DF6"/>
    <a:srgbClr val="0075CC"/>
    <a:srgbClr val="005DA2"/>
    <a:srgbClr val="1369B2"/>
    <a:srgbClr val="595959"/>
    <a:srgbClr val="FAFAFA"/>
    <a:srgbClr val="F2F2F2"/>
    <a:srgbClr val="006BBC"/>
    <a:srgbClr val="F5F5F5"/>
    <a:srgbClr val="3992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5" autoAdjust="0"/>
    <p:restoredTop sz="55672" autoAdjust="0"/>
  </p:normalViewPr>
  <p:slideViewPr>
    <p:cSldViewPr showGuides="1">
      <p:cViewPr varScale="1">
        <p:scale>
          <a:sx n="59" d="100"/>
          <a:sy n="59" d="100"/>
        </p:scale>
        <p:origin x="2550" y="78"/>
      </p:cViewPr>
      <p:guideLst>
        <p:guide orient="horz" pos="2192"/>
        <p:guide pos="256"/>
        <p:guide pos="665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86" d="100"/>
          <a:sy n="86" d="100"/>
        </p:scale>
        <p:origin x="-3810" y="-90"/>
      </p:cViewPr>
      <p:guideLst>
        <p:guide orient="horz" pos="2922"/>
        <p:guide pos="226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0" Type="http://schemas.openxmlformats.org/officeDocument/2006/relationships/tags" Target="tags/tag1.xml"/><Relationship Id="rId5" Type="http://schemas.openxmlformats.org/officeDocument/2006/relationships/slide" Target="slides/slide1.xml"/><Relationship Id="rId49" Type="http://schemas.openxmlformats.org/officeDocument/2006/relationships/tableStyles" Target="tableStyles.xml"/><Relationship Id="rId48" Type="http://schemas.openxmlformats.org/officeDocument/2006/relationships/viewProps" Target="viewProps.xml"/><Relationship Id="rId47" Type="http://schemas.openxmlformats.org/officeDocument/2006/relationships/presProps" Target="presProps.xml"/><Relationship Id="rId46" Type="http://schemas.openxmlformats.org/officeDocument/2006/relationships/handoutMaster" Target="handoutMasters/handoutMaster1.xml"/><Relationship Id="rId45" Type="http://schemas.openxmlformats.org/officeDocument/2006/relationships/slide" Target="slides/slide40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0" Type="http://schemas.openxmlformats.org/officeDocument/2006/relationships/slide" Target="slides/slide35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53A075-29DF-4CAE-8BA7-CDA0ED456C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924EE-29F1-4E68-A53A-86CBCBDF827A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2B73EA-EE91-4E33-A9C1-8BF5DD7139A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关于这门课大家不用过于担心，虽然现在没有课本，但是最后不管是考试还是其他的考核类型都是上课讲的。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TypeScript </a:t>
            </a:r>
            <a:r>
              <a:rPr lang="zh-CN" altLang="en-US" dirty="0"/>
              <a:t>是一种通用的编程语言，适用于广泛的开发场景。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是专为鸿蒙生态设计的语言，专注于鸿蒙设备的应用开发。</a:t>
            </a:r>
            <a:endParaRPr lang="en-US" altLang="zh-CN" dirty="0"/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是华为为鸿蒙生态（</a:t>
            </a:r>
            <a:r>
              <a:rPr lang="en-US" altLang="zh-CN" dirty="0"/>
              <a:t>HarmonyOS</a:t>
            </a:r>
            <a:r>
              <a:rPr lang="zh-CN" altLang="en-US" dirty="0"/>
              <a:t>）开发的一种基于 </a:t>
            </a:r>
            <a:r>
              <a:rPr lang="en-US" altLang="zh-CN" dirty="0"/>
              <a:t>TypeScript </a:t>
            </a:r>
            <a:r>
              <a:rPr lang="zh-CN" altLang="en-US" dirty="0"/>
              <a:t>的编程语言，而 </a:t>
            </a:r>
            <a:r>
              <a:rPr lang="en-US" altLang="zh-CN" dirty="0"/>
              <a:t>TypeScript </a:t>
            </a:r>
            <a:r>
              <a:rPr lang="zh-CN" altLang="en-US" dirty="0"/>
              <a:t>是微软开发的一种 </a:t>
            </a:r>
            <a:r>
              <a:rPr lang="en-US" altLang="zh-CN" dirty="0"/>
              <a:t>JavaScript </a:t>
            </a:r>
            <a:r>
              <a:rPr lang="zh-CN" altLang="en-US" dirty="0"/>
              <a:t>的超集语言。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依赖于 </a:t>
            </a:r>
            <a:r>
              <a:rPr lang="en-US" altLang="zh-CN" dirty="0"/>
              <a:t>JavaScript </a:t>
            </a:r>
            <a:r>
              <a:rPr lang="zh-CN" altLang="en-US" dirty="0"/>
              <a:t>的 </a:t>
            </a:r>
            <a:r>
              <a:rPr lang="en-US" altLang="zh-CN" dirty="0"/>
              <a:t>API </a:t>
            </a:r>
            <a:r>
              <a:rPr lang="zh-CN" altLang="en-US" dirty="0"/>
              <a:t>和第三方库（如 </a:t>
            </a:r>
            <a:r>
              <a:rPr lang="en-US" altLang="zh-CN" dirty="0"/>
              <a:t>DOM API</a:t>
            </a:r>
            <a:r>
              <a:rPr lang="zh-CN" altLang="en-US" dirty="0"/>
              <a:t>、</a:t>
            </a:r>
            <a:r>
              <a:rPr lang="en-US" altLang="zh-CN" dirty="0"/>
              <a:t>Node.js API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深度集成鸿蒙生态的 </a:t>
            </a:r>
            <a:r>
              <a:rPr lang="en-US" altLang="zh-CN" dirty="0"/>
              <a:t>API</a:t>
            </a:r>
            <a:r>
              <a:rPr lang="zh-CN" altLang="en-US" dirty="0"/>
              <a:t>，提供对鸿蒙设备的原生支持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再进一步说，大家指导什么是声明式</a:t>
            </a:r>
            <a:r>
              <a:rPr lang="en-US" altLang="zh-CN" dirty="0"/>
              <a:t>UI</a:t>
            </a:r>
            <a:r>
              <a:rPr lang="zh-CN" altLang="en-US" dirty="0"/>
              <a:t>吗？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JavaScript </a:t>
            </a:r>
            <a:r>
              <a:rPr lang="zh-CN" altLang="en-US" dirty="0"/>
              <a:t>是动态类型语言，类型在运行时确定，灵活性高，但容易在运行时出现类型错误。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TypeScript </a:t>
            </a:r>
            <a:r>
              <a:rPr lang="zh-CN" altLang="en-US" dirty="0"/>
              <a:t>是静态类型语言，类型在编译时确定，提供了更强的类型检查和代码提示，适合大型项目和团队协作。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TypeScript </a:t>
            </a:r>
            <a:r>
              <a:rPr lang="zh-CN" altLang="en-US" dirty="0"/>
              <a:t>是一种通用的编程语言，适用于广泛的开发场景。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是专为鸿蒙生态设计的语言，专注于鸿蒙设备的应用开发。</a:t>
            </a:r>
            <a:endParaRPr lang="en-US" altLang="zh-CN" dirty="0"/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是华为为鸿蒙生态（</a:t>
            </a:r>
            <a:r>
              <a:rPr lang="en-US" altLang="zh-CN" dirty="0"/>
              <a:t>HarmonyOS</a:t>
            </a:r>
            <a:r>
              <a:rPr lang="zh-CN" altLang="en-US" dirty="0"/>
              <a:t>）开发的一种基于 </a:t>
            </a:r>
            <a:r>
              <a:rPr lang="en-US" altLang="zh-CN" dirty="0"/>
              <a:t>TypeScript </a:t>
            </a:r>
            <a:r>
              <a:rPr lang="zh-CN" altLang="en-US" dirty="0"/>
              <a:t>的编程语言，而 </a:t>
            </a:r>
            <a:r>
              <a:rPr lang="en-US" altLang="zh-CN" dirty="0"/>
              <a:t>TypeScript </a:t>
            </a:r>
            <a:r>
              <a:rPr lang="zh-CN" altLang="en-US" dirty="0"/>
              <a:t>是微软开发的一种 </a:t>
            </a:r>
            <a:r>
              <a:rPr lang="en-US" altLang="zh-CN" dirty="0"/>
              <a:t>JavaScript </a:t>
            </a:r>
            <a:r>
              <a:rPr lang="zh-CN" altLang="en-US" dirty="0"/>
              <a:t>的超集语言。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依赖于 </a:t>
            </a:r>
            <a:r>
              <a:rPr lang="en-US" altLang="zh-CN" dirty="0"/>
              <a:t>JavaScript </a:t>
            </a:r>
            <a:r>
              <a:rPr lang="zh-CN" altLang="en-US" dirty="0"/>
              <a:t>的 </a:t>
            </a:r>
            <a:r>
              <a:rPr lang="en-US" altLang="zh-CN" dirty="0"/>
              <a:t>API </a:t>
            </a:r>
            <a:r>
              <a:rPr lang="zh-CN" altLang="en-US" dirty="0"/>
              <a:t>和第三方库（如 </a:t>
            </a:r>
            <a:r>
              <a:rPr lang="en-US" altLang="zh-CN" dirty="0"/>
              <a:t>DOM API</a:t>
            </a:r>
            <a:r>
              <a:rPr lang="zh-CN" altLang="en-US" dirty="0"/>
              <a:t>、</a:t>
            </a:r>
            <a:r>
              <a:rPr lang="en-US" altLang="zh-CN" dirty="0"/>
              <a:t>Node.js API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深度集成鸿蒙生态的 </a:t>
            </a:r>
            <a:r>
              <a:rPr lang="en-US" altLang="zh-CN" dirty="0"/>
              <a:t>API</a:t>
            </a:r>
            <a:r>
              <a:rPr lang="zh-CN" altLang="en-US" dirty="0"/>
              <a:t>，提供对鸿蒙设备的原生支持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再进一步说，大家指导什么是声明式</a:t>
            </a:r>
            <a:r>
              <a:rPr lang="en-US" altLang="zh-CN" dirty="0"/>
              <a:t>UI</a:t>
            </a:r>
            <a:r>
              <a:rPr lang="zh-CN" altLang="en-US" dirty="0"/>
              <a:t>吗？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TypeScript </a:t>
            </a:r>
            <a:r>
              <a:rPr lang="zh-CN" altLang="en-US" dirty="0"/>
              <a:t>是一种通用的编程语言，适用于广泛的开发场景。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是专为鸿蒙生态设计的语言，专注于鸿蒙设备的应用开发。</a:t>
            </a:r>
            <a:endParaRPr lang="en-US" altLang="zh-CN" dirty="0"/>
          </a:p>
          <a:p>
            <a:r>
              <a:rPr lang="en-US" altLang="zh-CN" dirty="0" err="1"/>
              <a:t>ArkTS</a:t>
            </a:r>
            <a:r>
              <a:rPr lang="en-US" altLang="zh-CN" dirty="0"/>
              <a:t> </a:t>
            </a:r>
            <a:r>
              <a:rPr lang="zh-CN" altLang="en-US" dirty="0"/>
              <a:t>是华为为鸿蒙生态（</a:t>
            </a:r>
            <a:r>
              <a:rPr lang="en-US" altLang="zh-CN" dirty="0"/>
              <a:t>HarmonyOS</a:t>
            </a:r>
            <a:r>
              <a:rPr lang="zh-CN" altLang="en-US" dirty="0"/>
              <a:t>）开发的一种基于 </a:t>
            </a:r>
            <a:r>
              <a:rPr lang="en-US" altLang="zh-CN" dirty="0"/>
              <a:t>TypeScript </a:t>
            </a:r>
            <a:r>
              <a:rPr lang="zh-CN" altLang="en-US" dirty="0"/>
              <a:t>的编程语言，而 </a:t>
            </a:r>
            <a:r>
              <a:rPr lang="en-US" altLang="zh-CN" dirty="0"/>
              <a:t>TypeScript </a:t>
            </a:r>
            <a:r>
              <a:rPr lang="zh-CN" altLang="en-US" dirty="0"/>
              <a:t>是微软开发的一种 </a:t>
            </a:r>
            <a:r>
              <a:rPr lang="en-US" altLang="zh-CN" dirty="0"/>
              <a:t>JavaScript </a:t>
            </a:r>
            <a:r>
              <a:rPr lang="zh-CN" altLang="en-US" dirty="0"/>
              <a:t>的超集语言。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依赖于 </a:t>
            </a:r>
            <a:r>
              <a:rPr lang="en-US" altLang="zh-CN" dirty="0"/>
              <a:t>JavaScript </a:t>
            </a:r>
            <a:r>
              <a:rPr lang="zh-CN" altLang="en-US" dirty="0"/>
              <a:t>的 </a:t>
            </a:r>
            <a:r>
              <a:rPr lang="en-US" altLang="zh-CN" dirty="0"/>
              <a:t>API </a:t>
            </a:r>
            <a:r>
              <a:rPr lang="zh-CN" altLang="en-US" dirty="0"/>
              <a:t>和第三方库（如 </a:t>
            </a:r>
            <a:r>
              <a:rPr lang="en-US" altLang="zh-CN" dirty="0"/>
              <a:t>DOM API</a:t>
            </a:r>
            <a:r>
              <a:rPr lang="zh-CN" altLang="en-US" dirty="0"/>
              <a:t>、</a:t>
            </a:r>
            <a:r>
              <a:rPr lang="en-US" altLang="zh-CN" dirty="0"/>
              <a:t>Node.js API</a:t>
            </a:r>
            <a:r>
              <a:rPr lang="zh-CN" altLang="en-US" dirty="0"/>
              <a:t>）</a:t>
            </a:r>
            <a:endParaRPr lang="en-US" altLang="zh-CN" dirty="0"/>
          </a:p>
          <a:p>
            <a:r>
              <a:rPr lang="zh-CN" altLang="en-US" dirty="0"/>
              <a:t>深度集成鸿蒙生态的 </a:t>
            </a:r>
            <a:r>
              <a:rPr lang="en-US" altLang="zh-CN" dirty="0"/>
              <a:t>API</a:t>
            </a:r>
            <a:r>
              <a:rPr lang="zh-CN" altLang="en-US" dirty="0"/>
              <a:t>，提供对鸿蒙设备的原生支持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再进一步说，大家指导什么是声明式</a:t>
            </a:r>
            <a:r>
              <a:rPr lang="en-US" altLang="zh-CN" dirty="0"/>
              <a:t>UI</a:t>
            </a:r>
            <a:r>
              <a:rPr lang="zh-CN" altLang="en-US" dirty="0"/>
              <a:t>吗？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大家可以看一下这三个例子，对比一下</a:t>
            </a:r>
            <a:r>
              <a:rPr lang="en-US" altLang="zh-CN" dirty="0"/>
              <a:t>var</a:t>
            </a:r>
            <a:r>
              <a:rPr lang="zh-CN" altLang="en-US" dirty="0"/>
              <a:t>、</a:t>
            </a:r>
            <a:r>
              <a:rPr lang="en-US" altLang="zh-CN" dirty="0"/>
              <a:t>let</a:t>
            </a:r>
            <a:r>
              <a:rPr lang="zh-CN" altLang="en-US" dirty="0"/>
              <a:t>以及</a:t>
            </a:r>
            <a:r>
              <a:rPr lang="en-US" altLang="zh-CN" dirty="0"/>
              <a:t>const</a:t>
            </a:r>
            <a:r>
              <a:rPr lang="zh-CN" altLang="en-US" dirty="0"/>
              <a:t>的区别</a:t>
            </a:r>
            <a:endParaRPr lang="zh-CN" altLang="en-US" dirty="0"/>
          </a:p>
          <a:p>
            <a:r>
              <a:rPr lang="en-US" altLang="zh-CN" dirty="0"/>
              <a:t>let </a:t>
            </a:r>
            <a:r>
              <a:rPr lang="zh-CN" altLang="en-US" dirty="0"/>
              <a:t>是块级作用域（</a:t>
            </a:r>
            <a:r>
              <a:rPr lang="en-US" altLang="zh-CN" dirty="0"/>
              <a:t>block-scoped</a:t>
            </a:r>
            <a:r>
              <a:rPr lang="zh-CN" altLang="en-US" dirty="0"/>
              <a:t>），只在</a:t>
            </a:r>
            <a:r>
              <a:rPr lang="en-US" altLang="zh-CN" dirty="0"/>
              <a:t> {} </a:t>
            </a:r>
            <a:r>
              <a:rPr lang="zh-CN" altLang="en-US" dirty="0"/>
              <a:t>内有效。</a:t>
            </a:r>
            <a:endParaRPr lang="zh-CN" altLang="en-US" dirty="0"/>
          </a:p>
          <a:p>
            <a:r>
              <a:rPr lang="en-US" altLang="zh-CN" dirty="0"/>
              <a:t>var </a:t>
            </a:r>
            <a:r>
              <a:rPr lang="zh-CN" altLang="en-US" dirty="0"/>
              <a:t>是函数作用域（</a:t>
            </a:r>
            <a:r>
              <a:rPr lang="en-US" altLang="zh-CN" dirty="0"/>
              <a:t>function-scoped</a:t>
            </a:r>
            <a:r>
              <a:rPr lang="zh-CN" altLang="en-US" dirty="0"/>
              <a:t>），即使在</a:t>
            </a:r>
            <a:r>
              <a:rPr lang="en-US" altLang="zh-CN" dirty="0"/>
              <a:t> if </a:t>
            </a:r>
            <a:r>
              <a:rPr lang="zh-CN" altLang="en-US" dirty="0"/>
              <a:t>块内声明，也能在函数内访问。</a:t>
            </a:r>
            <a:endParaRPr lang="zh-CN" altLang="en-US" dirty="0"/>
          </a:p>
          <a:p>
            <a:r>
              <a:rPr lang="en-US" altLang="zh-CN" dirty="0"/>
              <a:t>var z = 30;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en-US" altLang="en-US" dirty="0"/>
              <a:t>✅</a:t>
            </a:r>
            <a:r>
              <a:rPr lang="en-US" altLang="zh-CN" dirty="0"/>
              <a:t> </a:t>
            </a:r>
            <a:r>
              <a:rPr lang="zh-CN" altLang="en-US" dirty="0"/>
              <a:t>输出</a:t>
            </a:r>
            <a:r>
              <a:rPr lang="en-US" altLang="zh-CN" dirty="0"/>
              <a:t> undefined</a:t>
            </a:r>
            <a:endParaRPr lang="en-US" altLang="zh-CN" dirty="0"/>
          </a:p>
          <a:p>
            <a:r>
              <a:rPr lang="zh-CN" altLang="en-US" dirty="0"/>
              <a:t>因为</a:t>
            </a:r>
            <a:r>
              <a:rPr lang="en-US" altLang="zh-CN" dirty="0"/>
              <a:t> var </a:t>
            </a:r>
            <a:r>
              <a:rPr lang="zh-CN" altLang="en-US" dirty="0"/>
              <a:t>会被</a:t>
            </a:r>
            <a:r>
              <a:rPr lang="en-US" altLang="zh-CN" dirty="0"/>
              <a:t>“</a:t>
            </a:r>
            <a:r>
              <a:rPr lang="zh-CN" altLang="en-US" dirty="0"/>
              <a:t>提升</a:t>
            </a:r>
            <a:r>
              <a:rPr lang="en-US" altLang="zh-CN" dirty="0"/>
              <a:t>”</a:t>
            </a:r>
            <a:r>
              <a:rPr lang="zh-CN" altLang="en-US" dirty="0"/>
              <a:t>到作用域顶部，但赋值不会提升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zh-CN" altLang="en-US" dirty="0"/>
              <a:t>相当于：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const </a:t>
            </a:r>
            <a:r>
              <a:rPr lang="zh-CN" altLang="en-US" dirty="0"/>
              <a:t>的</a:t>
            </a:r>
            <a:r>
              <a:rPr lang="en-US" altLang="zh-CN" dirty="0"/>
              <a:t>“</a:t>
            </a:r>
            <a:r>
              <a:rPr lang="zh-CN" altLang="en-US" dirty="0"/>
              <a:t>常量</a:t>
            </a:r>
            <a:r>
              <a:rPr lang="en-US" altLang="zh-CN" dirty="0"/>
              <a:t>”</a:t>
            </a:r>
            <a:r>
              <a:rPr lang="zh-CN" altLang="en-US" dirty="0"/>
              <a:t>含义</a:t>
            </a:r>
            <a:r>
              <a:rPr lang="en-US" altLang="zh-CN" dirty="0"/>
              <a:t> —— </a:t>
            </a:r>
            <a:r>
              <a:rPr lang="zh-CN" altLang="en-US" dirty="0"/>
              <a:t>引用不可变，内容可变</a:t>
            </a:r>
            <a:endParaRPr lang="zh-CN" altLang="en-US" dirty="0"/>
          </a:p>
          <a:p>
            <a:endParaRPr lang="zh-CN" altLang="en-US" dirty="0"/>
          </a:p>
          <a:p>
            <a:r>
              <a:rPr lang="en-US" altLang="zh-CN" dirty="0"/>
              <a:t>const </a:t>
            </a:r>
            <a:r>
              <a:rPr lang="zh-CN" altLang="en-US" dirty="0"/>
              <a:t>声明的是绑定不可重新赋值，不是值不可变！</a:t>
            </a:r>
            <a:endParaRPr lang="zh-CN" altLang="en-US" dirty="0"/>
          </a:p>
          <a:p>
            <a:r>
              <a:rPr lang="zh-CN" altLang="en-US" dirty="0"/>
              <a:t>你不能做：</a:t>
            </a:r>
            <a:r>
              <a:rPr lang="en-US" altLang="zh-CN" dirty="0"/>
              <a:t>person = {} </a:t>
            </a:r>
            <a:r>
              <a:rPr lang="zh-CN" altLang="en-US" dirty="0"/>
              <a:t>或</a:t>
            </a:r>
            <a:r>
              <a:rPr lang="en-US" altLang="zh-CN" dirty="0"/>
              <a:t> numbers = []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en-US" altLang="en-US" dirty="0"/>
              <a:t>❌</a:t>
            </a:r>
            <a:r>
              <a:rPr lang="en-US" altLang="zh-CN" dirty="0"/>
              <a:t> </a:t>
            </a:r>
            <a:r>
              <a:rPr lang="zh-CN" altLang="en-US" dirty="0"/>
              <a:t>报错</a:t>
            </a:r>
            <a:endParaRPr lang="zh-CN" altLang="en-US" dirty="0"/>
          </a:p>
          <a:p>
            <a:r>
              <a:rPr lang="zh-CN" altLang="en-US" dirty="0"/>
              <a:t>但你可以修改对象</a:t>
            </a:r>
            <a:r>
              <a:rPr lang="en-US" altLang="zh-CN" dirty="0"/>
              <a:t>/</a:t>
            </a:r>
            <a:r>
              <a:rPr lang="zh-CN" altLang="en-US" dirty="0"/>
              <a:t>数组的内容</a:t>
            </a:r>
            <a:r>
              <a:rPr lang="en-US" altLang="zh-CN" dirty="0"/>
              <a:t> </a:t>
            </a:r>
            <a:r>
              <a:rPr lang="en-US" altLang="en-US" dirty="0"/>
              <a:t>→</a:t>
            </a:r>
            <a:r>
              <a:rPr lang="en-US" altLang="zh-CN" dirty="0"/>
              <a:t> </a:t>
            </a:r>
            <a:r>
              <a:rPr lang="en-US" altLang="en-US" dirty="0"/>
              <a:t>✅</a:t>
            </a:r>
            <a:r>
              <a:rPr lang="en-US" altLang="zh-CN" dirty="0"/>
              <a:t> </a:t>
            </a:r>
            <a:r>
              <a:rPr lang="zh-CN" altLang="en-US" dirty="0"/>
              <a:t>合法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类似</a:t>
            </a:r>
            <a:r>
              <a:rPr lang="en-US" altLang="zh-CN" dirty="0"/>
              <a:t>or</a:t>
            </a:r>
            <a:r>
              <a:rPr lang="zh-CN" altLang="en-US" dirty="0"/>
              <a:t>‘或的概念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字面量类型就是告诉你只能选择固定的几个具体值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92B679-AE23-4750-8FB0-6513430B895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669777" y="2309308"/>
            <a:ext cx="10850541" cy="899333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5400" b="0" spc="600">
                <a:effectLst/>
                <a:latin typeface="+mn-ea"/>
                <a:ea typeface="+mn-ea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669820" y="3566185"/>
            <a:ext cx="10850454" cy="801518"/>
          </a:xfrm>
        </p:spPr>
        <p:txBody>
          <a:bodyPr lIns="101600" tIns="38100" rIns="76200" bIns="38100" anchor="ctr" anchorCtr="0">
            <a:no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400" u="none" strike="noStrike" kern="1200" cap="none" spc="200" normalizeH="0" baseline="0">
                <a:solidFill>
                  <a:schemeClr val="tx1"/>
                </a:solidFill>
                <a:uFillTx/>
                <a:latin typeface="+mn-ea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5365" indent="0" algn="ctr">
              <a:buNone/>
              <a:defRPr sz="1600"/>
            </a:lvl6pPr>
            <a:lvl7pPr marL="2742565" indent="0" algn="ctr">
              <a:buNone/>
              <a:defRPr sz="1600"/>
            </a:lvl7pPr>
            <a:lvl8pPr marL="3199765" indent="0" algn="ctr">
              <a:buNone/>
              <a:defRPr sz="1600"/>
            </a:lvl8pPr>
            <a:lvl9pPr marL="3656965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" hasCustomPrompt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标题与图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839974" y="727845"/>
            <a:ext cx="3931306" cy="1115266"/>
          </a:xfrm>
        </p:spPr>
        <p:txBody>
          <a:bodyPr anchor="ctr" anchorCtr="0"/>
          <a:lstStyle>
            <a:lvl1pPr>
              <a:defRPr sz="320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单击此处编辑标题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 hasCustomPrompt="1"/>
          </p:nvPr>
        </p:nvSpPr>
        <p:spPr>
          <a:xfrm>
            <a:off x="5137617" y="727845"/>
            <a:ext cx="6171235" cy="5404215"/>
          </a:xfrm>
        </p:spPr>
        <p:txBody>
          <a:bodyPr/>
          <a:lstStyle>
            <a:lvl1pPr>
              <a:defRPr sz="2400">
                <a:latin typeface="+mn-ea"/>
                <a:ea typeface="+mn-ea"/>
              </a:defRPr>
            </a:lvl1pPr>
            <a:lvl2pPr marL="457200" indent="0">
              <a:buNone/>
              <a:defRPr sz="2400">
                <a:latin typeface="+mn-ea"/>
                <a:ea typeface="+mn-ea"/>
              </a:defRPr>
            </a:lvl2pPr>
            <a:lvl3pPr>
              <a:defRPr sz="2400">
                <a:latin typeface="+mn-ea"/>
                <a:ea typeface="+mn-ea"/>
              </a:defRPr>
            </a:lvl3pPr>
            <a:lvl4pPr>
              <a:defRPr sz="2400">
                <a:latin typeface="+mn-ea"/>
                <a:ea typeface="+mn-ea"/>
              </a:defRPr>
            </a:lvl4pPr>
            <a:lvl5pPr>
              <a:defRPr sz="2400">
                <a:latin typeface="+mn-ea"/>
                <a:ea typeface="+mn-ea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half" idx="2" hasCustomPrompt="1"/>
          </p:nvPr>
        </p:nvSpPr>
        <p:spPr>
          <a:xfrm>
            <a:off x="839974" y="2240060"/>
            <a:ext cx="3931306" cy="3892636"/>
          </a:xfrm>
        </p:spPr>
        <p:txBody>
          <a:bodyPr/>
          <a:lstStyle>
            <a:lvl1pPr marL="342900" indent="-342900">
              <a:buFont typeface="Arial" panose="020B0604020202020204" pitchFamily="34" charset="0"/>
              <a:buChar char="•"/>
              <a:defRPr sz="2400">
                <a:latin typeface="+mn-ea"/>
                <a:ea typeface="+mn-ea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765" indent="0">
              <a:buNone/>
              <a:defRPr sz="1000"/>
            </a:lvl8pPr>
            <a:lvl9pPr marL="3656965" indent="0">
              <a:buNone/>
              <a:defRPr sz="1000"/>
            </a:lvl9pPr>
          </a:lstStyle>
          <a:p>
            <a:pPr lvl="0"/>
            <a:r>
              <a:rPr lang="zh-CN" altLang="en-US"/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>
              <a:sym typeface="+mn-ea"/>
            </a:endParaRPr>
          </a:p>
          <a:p>
            <a:pPr lvl="0"/>
            <a:r>
              <a:rPr lang="zh-CN" altLang="en-US">
                <a:sym typeface="+mn-ea"/>
              </a:rPr>
              <a:t>单击此处编辑正文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注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 hasCustomPrompt="1"/>
          </p:nvPr>
        </p:nvSpPr>
        <p:spPr>
          <a:xfrm>
            <a:off x="669820" y="5606183"/>
            <a:ext cx="10850454" cy="558268"/>
          </a:xfrm>
        </p:spPr>
        <p:txBody>
          <a:bodyPr/>
          <a:lstStyle>
            <a:lvl1pPr>
              <a:defRPr b="0">
                <a:latin typeface="+mn-ea"/>
                <a:ea typeface="+mn-ea"/>
              </a:defRPr>
            </a:lvl1pPr>
          </a:lstStyle>
          <a:p>
            <a:r>
              <a:rPr lang="zh-CN" altLang="en-US"/>
              <a:t>单击此处编辑正文</a:t>
            </a:r>
            <a:endParaRPr lang="zh-CN" altLang="en-US"/>
          </a:p>
        </p:txBody>
      </p:sp>
      <p:sp>
        <p:nvSpPr>
          <p:cNvPr id="8" name="内容占位符 7"/>
          <p:cNvSpPr>
            <a:spLocks noGrp="1"/>
          </p:cNvSpPr>
          <p:nvPr>
            <p:ph idx="1" hasCustomPrompt="1"/>
          </p:nvPr>
        </p:nvSpPr>
        <p:spPr>
          <a:xfrm>
            <a:off x="669820" y="641469"/>
            <a:ext cx="10850454" cy="4556969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单张大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" hasCustomPrompt="1"/>
          </p:nvPr>
        </p:nvSpPr>
        <p:spPr>
          <a:xfrm>
            <a:off x="0" y="0"/>
            <a:ext cx="12194539" cy="686943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457200" marR="0" lvl="1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联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内容占位符 1"/>
          <p:cNvSpPr>
            <a:spLocks noGrp="1"/>
          </p:cNvSpPr>
          <p:nvPr>
            <p:ph sz="half" idx="2" hasCustomPrompt="1"/>
          </p:nvPr>
        </p:nvSpPr>
        <p:spPr>
          <a:xfrm>
            <a:off x="467922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单击此处编辑正文</a:t>
            </a:r>
            <a:endParaRPr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half" idx="13" hasCustomPrompt="1"/>
          </p:nvPr>
        </p:nvSpPr>
        <p:spPr>
          <a:xfrm>
            <a:off x="6286787" y="565255"/>
            <a:ext cx="5399196" cy="572876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4pPr>
            <a:lvl5pPr marL="2056765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4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ea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</a:t>
            </a:r>
            <a:r>
              <a:rPr>
                <a:sym typeface="+mn-ea"/>
              </a:rPr>
              <a:t>正文</a:t>
            </a:r>
            <a:endParaRPr dirty="0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69777" y="623706"/>
            <a:ext cx="10850541" cy="899333"/>
          </a:xfrm>
        </p:spPr>
        <p:txBody>
          <a:bodyPr vert="horz" lIns="101600" tIns="38100" rIns="25400" bIns="38100" rtlCol="0" anchor="ctr" anchorCtr="0">
            <a:no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0" i="0" u="none" strike="noStrike" kern="1200" cap="none" spc="600" normalizeH="0" baseline="0" noProof="1" dirty="0">
                <a:solidFill>
                  <a:schemeClr val="tx1"/>
                </a:solidFill>
                <a:effectLst/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三个三角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55" y="103505"/>
            <a:ext cx="779145" cy="617855"/>
          </a:xfrm>
          <a:prstGeom prst="rect">
            <a:avLst/>
          </a:prstGeom>
        </p:spPr>
      </p:pic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4" cstate="print"/>
          <a:srcRect r="69715"/>
          <a:stretch>
            <a:fillRect/>
          </a:stretch>
        </p:blipFill>
        <p:spPr>
          <a:xfrm>
            <a:off x="10875010" y="132080"/>
            <a:ext cx="611505" cy="589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299248" y="402450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83383" y="402450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南门线稿x422222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14780" y="4149725"/>
            <a:ext cx="9155430" cy="2318385"/>
          </a:xfrm>
          <a:prstGeom prst="rect">
            <a:avLst/>
          </a:prstGeom>
        </p:spPr>
      </p:pic>
      <p:pic>
        <p:nvPicPr>
          <p:cNvPr id="5" name="图片 4" descr="河大logo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组合 41"/>
          <p:cNvGrpSpPr/>
          <p:nvPr userDrawn="1"/>
        </p:nvGrpSpPr>
        <p:grpSpPr>
          <a:xfrm>
            <a:off x="0" y="2202951"/>
            <a:ext cx="12190413" cy="2420263"/>
            <a:chOff x="170694" y="177982"/>
            <a:chExt cx="3936004" cy="781165"/>
          </a:xfrm>
        </p:grpSpPr>
        <p:sp>
          <p:nvSpPr>
            <p:cNvPr id="44" name="等腰三角形 43"/>
            <p:cNvSpPr/>
            <p:nvPr/>
          </p:nvSpPr>
          <p:spPr>
            <a:xfrm>
              <a:off x="1233863" y="177982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等腰三角形 44"/>
            <p:cNvSpPr/>
            <p:nvPr/>
          </p:nvSpPr>
          <p:spPr>
            <a:xfrm flipV="1">
              <a:off x="200258" y="602633"/>
              <a:ext cx="355284" cy="356514"/>
            </a:xfrm>
            <a:prstGeom prst="triangle">
              <a:avLst/>
            </a:prstGeom>
            <a:solidFill>
              <a:schemeClr val="accent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6" name="矩形 45"/>
            <p:cNvSpPr/>
            <p:nvPr/>
          </p:nvSpPr>
          <p:spPr>
            <a:xfrm>
              <a:off x="170694" y="261768"/>
              <a:ext cx="3936004" cy="6119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平行四边形 46"/>
            <p:cNvSpPr/>
            <p:nvPr/>
          </p:nvSpPr>
          <p:spPr>
            <a:xfrm>
              <a:off x="376965" y="178257"/>
              <a:ext cx="1036076" cy="779005"/>
            </a:xfrm>
            <a:prstGeom prst="parallelogram">
              <a:avLst>
                <a:gd name="adj" fmla="val 48207"/>
              </a:avLst>
            </a:prstGeom>
            <a:solidFill>
              <a:srgbClr val="1369B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68580" tIns="34290" rIns="68580" bIns="34290"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文本框 6"/>
            <p:cNvSpPr txBox="1"/>
            <p:nvPr/>
          </p:nvSpPr>
          <p:spPr>
            <a:xfrm>
              <a:off x="619911" y="284178"/>
              <a:ext cx="650908" cy="553578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endParaRPr lang="zh-CN" altLang="en-US" sz="10700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" name="组合 6"/>
          <p:cNvGrpSpPr/>
          <p:nvPr userDrawn="1"/>
        </p:nvGrpSpPr>
        <p:grpSpPr>
          <a:xfrm>
            <a:off x="7919172" y="1700153"/>
            <a:ext cx="575989" cy="577246"/>
            <a:chOff x="6084168" y="1274820"/>
            <a:chExt cx="432048" cy="432834"/>
          </a:xfrm>
        </p:grpSpPr>
        <p:sp>
          <p:nvSpPr>
            <p:cNvPr id="14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9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/>
          <p:cNvGrpSpPr/>
          <p:nvPr userDrawn="1"/>
        </p:nvGrpSpPr>
        <p:grpSpPr>
          <a:xfrm>
            <a:off x="6191205" y="1700678"/>
            <a:ext cx="575989" cy="576197"/>
            <a:chOff x="4788024" y="1275213"/>
            <a:chExt cx="432048" cy="432048"/>
          </a:xfrm>
        </p:grpSpPr>
        <p:sp>
          <p:nvSpPr>
            <p:cNvPr id="17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9" name="组合 8"/>
          <p:cNvGrpSpPr/>
          <p:nvPr userDrawn="1"/>
        </p:nvGrpSpPr>
        <p:grpSpPr>
          <a:xfrm>
            <a:off x="7055189" y="1700153"/>
            <a:ext cx="577036" cy="577246"/>
            <a:chOff x="5436096" y="1274820"/>
            <a:chExt cx="432833" cy="432834"/>
          </a:xfrm>
        </p:grpSpPr>
        <p:sp>
          <p:nvSpPr>
            <p:cNvPr id="25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1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0" name="组合 9"/>
          <p:cNvGrpSpPr/>
          <p:nvPr userDrawn="1"/>
        </p:nvGrpSpPr>
        <p:grpSpPr>
          <a:xfrm>
            <a:off x="4463238" y="1700153"/>
            <a:ext cx="577036" cy="577246"/>
            <a:chOff x="3491880" y="1274820"/>
            <a:chExt cx="432833" cy="432834"/>
          </a:xfrm>
        </p:grpSpPr>
        <p:sp>
          <p:nvSpPr>
            <p:cNvPr id="11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2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5327222" y="1700153"/>
            <a:ext cx="577036" cy="577246"/>
            <a:chOff x="4139952" y="1274820"/>
            <a:chExt cx="432833" cy="432834"/>
          </a:xfrm>
        </p:grpSpPr>
        <p:sp>
          <p:nvSpPr>
            <p:cNvPr id="24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 userDrawn="1"/>
        </p:nvCxnSpPr>
        <p:spPr>
          <a:xfrm>
            <a:off x="1007304" y="834057"/>
            <a:ext cx="10463800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 5"/>
          <p:cNvSpPr/>
          <p:nvPr userDrawn="1"/>
        </p:nvSpPr>
        <p:spPr>
          <a:xfrm>
            <a:off x="0" y="6794447"/>
            <a:ext cx="10631710" cy="8463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 userDrawn="1"/>
        </p:nvSpPr>
        <p:spPr>
          <a:xfrm>
            <a:off x="10703717" y="6794446"/>
            <a:ext cx="1486695" cy="8463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 descr="三个三角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2255" y="103505"/>
            <a:ext cx="779145" cy="617855"/>
          </a:xfrm>
          <a:prstGeom prst="rect">
            <a:avLst/>
          </a:prstGeom>
        </p:spPr>
      </p:pic>
      <p:pic>
        <p:nvPicPr>
          <p:cNvPr id="4" name="图片 3" descr="河大logo"/>
          <p:cNvPicPr>
            <a:picLocks noChangeAspect="1"/>
          </p:cNvPicPr>
          <p:nvPr userDrawn="1"/>
        </p:nvPicPr>
        <p:blipFill>
          <a:blip r:embed="rId4" cstate="print"/>
          <a:srcRect r="69715"/>
          <a:stretch>
            <a:fillRect/>
          </a:stretch>
        </p:blipFill>
        <p:spPr>
          <a:xfrm>
            <a:off x="10875010" y="132080"/>
            <a:ext cx="611505" cy="589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2959" y="4407922"/>
            <a:ext cx="10361851" cy="1362390"/>
          </a:xfrm>
        </p:spPr>
        <p:txBody>
          <a:bodyPr anchor="t"/>
          <a:lstStyle>
            <a:lvl1pPr algn="l">
              <a:defRPr sz="53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2959" y="2907386"/>
            <a:ext cx="10361851" cy="1500534"/>
          </a:xfrm>
        </p:spPr>
        <p:txBody>
          <a:bodyPr anchor="b"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609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84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80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76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72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680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21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6793" y="1600572"/>
            <a:ext cx="5384099" cy="4527011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70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535469"/>
            <a:ext cx="5386216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521" y="2175378"/>
            <a:ext cx="5386216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2562" y="1535469"/>
            <a:ext cx="5388332" cy="639911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600" indent="0">
              <a:buNone/>
              <a:defRPr sz="2700" b="1"/>
            </a:lvl2pPr>
            <a:lvl3pPr marL="1219200" indent="0">
              <a:buNone/>
              <a:defRPr sz="2400" b="1"/>
            </a:lvl3pPr>
            <a:lvl4pPr marL="1828800" indent="0">
              <a:buNone/>
              <a:defRPr sz="2100" b="1"/>
            </a:lvl4pPr>
            <a:lvl5pPr marL="2438400" indent="0">
              <a:buNone/>
              <a:defRPr sz="2100" b="1"/>
            </a:lvl5pPr>
            <a:lvl6pPr marL="3048000" indent="0">
              <a:buNone/>
              <a:defRPr sz="2100" b="1"/>
            </a:lvl6pPr>
            <a:lvl7pPr marL="3657600" indent="0">
              <a:buNone/>
              <a:defRPr sz="2100" b="1"/>
            </a:lvl7pPr>
            <a:lvl8pPr marL="4267200" indent="0">
              <a:buNone/>
              <a:defRPr sz="2100" b="1"/>
            </a:lvl8pPr>
            <a:lvl9pPr marL="4876800" indent="0">
              <a:buNone/>
              <a:defRPr sz="21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2562" y="2175378"/>
            <a:ext cx="5388332" cy="3952203"/>
          </a:xfrm>
        </p:spPr>
        <p:txBody>
          <a:bodyPr/>
          <a:lstStyle>
            <a:lvl1pPr>
              <a:defRPr sz="32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等腰三角形 7"/>
          <p:cNvSpPr/>
          <p:nvPr userDrawn="1"/>
        </p:nvSpPr>
        <p:spPr>
          <a:xfrm flipH="1" flipV="1">
            <a:off x="-767029" y="-29126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 flipH="1" flipV="1">
            <a:off x="1413539" y="0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等腰三角形 9"/>
          <p:cNvSpPr/>
          <p:nvPr userDrawn="1"/>
        </p:nvSpPr>
        <p:spPr>
          <a:xfrm>
            <a:off x="6085438" y="4298493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299248" y="402450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椭圆 1"/>
          <p:cNvSpPr/>
          <p:nvPr userDrawn="1"/>
        </p:nvSpPr>
        <p:spPr>
          <a:xfrm>
            <a:off x="9983383" y="402450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 descr="南门线稿x4222222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1414780" y="4149725"/>
            <a:ext cx="9155430" cy="2318385"/>
          </a:xfrm>
          <a:prstGeom prst="rect">
            <a:avLst/>
          </a:prstGeom>
        </p:spPr>
      </p:pic>
      <p:pic>
        <p:nvPicPr>
          <p:cNvPr id="5" name="图片 4" descr="河大logo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632460" y="476630"/>
            <a:ext cx="2207762" cy="6444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直接连接符 7"/>
          <p:cNvCxnSpPr/>
          <p:nvPr userDrawn="1"/>
        </p:nvCxnSpPr>
        <p:spPr>
          <a:xfrm>
            <a:off x="984634" y="1413103"/>
            <a:ext cx="1019847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组合 8"/>
          <p:cNvGrpSpPr/>
          <p:nvPr userDrawn="1"/>
        </p:nvGrpSpPr>
        <p:grpSpPr>
          <a:xfrm>
            <a:off x="10607120" y="654595"/>
            <a:ext cx="575989" cy="577246"/>
            <a:chOff x="6084168" y="1274820"/>
            <a:chExt cx="432048" cy="432834"/>
          </a:xfrm>
        </p:grpSpPr>
        <p:sp>
          <p:nvSpPr>
            <p:cNvPr id="10" name="椭圆 22"/>
            <p:cNvSpPr>
              <a:spLocks noChangeArrowheads="1"/>
            </p:cNvSpPr>
            <p:nvPr/>
          </p:nvSpPr>
          <p:spPr bwMode="auto">
            <a:xfrm>
              <a:off x="6084168" y="1274820"/>
              <a:ext cx="432048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1" name="Freeform 59"/>
            <p:cNvSpPr>
              <a:spLocks noChangeArrowheads="1"/>
            </p:cNvSpPr>
            <p:nvPr/>
          </p:nvSpPr>
          <p:spPr bwMode="auto">
            <a:xfrm>
              <a:off x="6180302" y="1365898"/>
              <a:ext cx="239780" cy="250679"/>
            </a:xfrm>
            <a:custGeom>
              <a:avLst/>
              <a:gdLst>
                <a:gd name="T0" fmla="*/ 73627430 w 581"/>
                <a:gd name="T1" fmla="*/ 67678707 h 609"/>
                <a:gd name="T2" fmla="*/ 61659637 w 581"/>
                <a:gd name="T3" fmla="*/ 78678142 h 609"/>
                <a:gd name="T4" fmla="*/ 54244957 w 581"/>
                <a:gd name="T5" fmla="*/ 72208055 h 609"/>
                <a:gd name="T6" fmla="*/ 57106883 w 581"/>
                <a:gd name="T7" fmla="*/ 65867111 h 609"/>
                <a:gd name="T8" fmla="*/ 61659637 w 581"/>
                <a:gd name="T9" fmla="*/ 69490662 h 609"/>
                <a:gd name="T10" fmla="*/ 71806401 w 581"/>
                <a:gd name="T11" fmla="*/ 61338122 h 609"/>
                <a:gd name="T12" fmla="*/ 73627430 w 581"/>
                <a:gd name="T13" fmla="*/ 67678707 h 609"/>
                <a:gd name="T14" fmla="*/ 61659637 w 581"/>
                <a:gd name="T15" fmla="*/ 64055516 h 609"/>
                <a:gd name="T16" fmla="*/ 49691843 w 581"/>
                <a:gd name="T17" fmla="*/ 69490662 h 609"/>
                <a:gd name="T18" fmla="*/ 51513233 w 581"/>
                <a:gd name="T19" fmla="*/ 75054951 h 609"/>
                <a:gd name="T20" fmla="*/ 3772261 w 581"/>
                <a:gd name="T21" fmla="*/ 78678142 h 609"/>
                <a:gd name="T22" fmla="*/ 0 w 581"/>
                <a:gd name="T23" fmla="*/ 10999436 h 609"/>
                <a:gd name="T24" fmla="*/ 10146404 w 581"/>
                <a:gd name="T25" fmla="*/ 7246742 h 609"/>
                <a:gd name="T26" fmla="*/ 17561444 w 581"/>
                <a:gd name="T27" fmla="*/ 18246178 h 609"/>
                <a:gd name="T28" fmla="*/ 24845922 w 581"/>
                <a:gd name="T29" fmla="*/ 7246742 h 609"/>
                <a:gd name="T30" fmla="*/ 28488341 w 581"/>
                <a:gd name="T31" fmla="*/ 10999436 h 609"/>
                <a:gd name="T32" fmla="*/ 43318061 w 581"/>
                <a:gd name="T33" fmla="*/ 10999436 h 609"/>
                <a:gd name="T34" fmla="*/ 46960119 w 581"/>
                <a:gd name="T35" fmla="*/ 7246742 h 609"/>
                <a:gd name="T36" fmla="*/ 54244957 w 581"/>
                <a:gd name="T37" fmla="*/ 18246178 h 609"/>
                <a:gd name="T38" fmla="*/ 61659637 w 581"/>
                <a:gd name="T39" fmla="*/ 7246742 h 609"/>
                <a:gd name="T40" fmla="*/ 71806401 w 581"/>
                <a:gd name="T41" fmla="*/ 10999436 h 609"/>
                <a:gd name="T42" fmla="*/ 66212751 w 581"/>
                <a:gd name="T43" fmla="*/ 59526167 h 609"/>
                <a:gd name="T44" fmla="*/ 10146404 w 581"/>
                <a:gd name="T45" fmla="*/ 63149718 h 609"/>
                <a:gd name="T46" fmla="*/ 12878128 w 581"/>
                <a:gd name="T47" fmla="*/ 65867111 h 609"/>
                <a:gd name="T48" fmla="*/ 39545439 w 581"/>
                <a:gd name="T49" fmla="*/ 63149718 h 609"/>
                <a:gd name="T50" fmla="*/ 39545439 w 581"/>
                <a:gd name="T51" fmla="*/ 63149718 h 609"/>
                <a:gd name="T52" fmla="*/ 39545439 w 581"/>
                <a:gd name="T53" fmla="*/ 63149718 h 609"/>
                <a:gd name="T54" fmla="*/ 12878128 w 581"/>
                <a:gd name="T55" fmla="*/ 60431965 h 609"/>
                <a:gd name="T56" fmla="*/ 58017218 w 581"/>
                <a:gd name="T57" fmla="*/ 28339815 h 609"/>
                <a:gd name="T58" fmla="*/ 13788823 w 581"/>
                <a:gd name="T59" fmla="*/ 28339815 h 609"/>
                <a:gd name="T60" fmla="*/ 13788823 w 581"/>
                <a:gd name="T61" fmla="*/ 35715700 h 609"/>
                <a:gd name="T62" fmla="*/ 61659637 w 581"/>
                <a:gd name="T63" fmla="*/ 31963007 h 609"/>
                <a:gd name="T64" fmla="*/ 58017218 w 581"/>
                <a:gd name="T65" fmla="*/ 43868240 h 609"/>
                <a:gd name="T66" fmla="*/ 35903020 w 581"/>
                <a:gd name="T67" fmla="*/ 43868240 h 609"/>
                <a:gd name="T68" fmla="*/ 13788823 w 581"/>
                <a:gd name="T69" fmla="*/ 43868240 h 609"/>
                <a:gd name="T70" fmla="*/ 13788823 w 581"/>
                <a:gd name="T71" fmla="*/ 51244484 h 609"/>
                <a:gd name="T72" fmla="*/ 35903020 w 581"/>
                <a:gd name="T73" fmla="*/ 51244484 h 609"/>
                <a:gd name="T74" fmla="*/ 61659637 w 581"/>
                <a:gd name="T75" fmla="*/ 47491791 h 609"/>
                <a:gd name="T76" fmla="*/ 54244957 w 581"/>
                <a:gd name="T77" fmla="*/ 14622627 h 609"/>
                <a:gd name="T78" fmla="*/ 50602538 w 581"/>
                <a:gd name="T79" fmla="*/ 10999436 h 609"/>
                <a:gd name="T80" fmla="*/ 54244957 w 581"/>
                <a:gd name="T81" fmla="*/ 0 h 609"/>
                <a:gd name="T82" fmla="*/ 58017218 w 581"/>
                <a:gd name="T83" fmla="*/ 10999436 h 609"/>
                <a:gd name="T84" fmla="*/ 35903020 w 581"/>
                <a:gd name="T85" fmla="*/ 14622627 h 609"/>
                <a:gd name="T86" fmla="*/ 32260601 w 581"/>
                <a:gd name="T87" fmla="*/ 10999436 h 609"/>
                <a:gd name="T88" fmla="*/ 35903020 w 581"/>
                <a:gd name="T89" fmla="*/ 0 h 609"/>
                <a:gd name="T90" fmla="*/ 39545439 w 581"/>
                <a:gd name="T91" fmla="*/ 10999436 h 609"/>
                <a:gd name="T92" fmla="*/ 17561444 w 581"/>
                <a:gd name="T93" fmla="*/ 14622627 h 609"/>
                <a:gd name="T94" fmla="*/ 13788823 w 581"/>
                <a:gd name="T95" fmla="*/ 10999436 h 609"/>
                <a:gd name="T96" fmla="*/ 17561444 w 581"/>
                <a:gd name="T97" fmla="*/ 0 h 609"/>
                <a:gd name="T98" fmla="*/ 21203502 w 581"/>
                <a:gd name="T99" fmla="*/ 10999436 h 609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</a:gdLst>
              <a:ahLst/>
              <a:cxnLst>
                <a:cxn ang="T100">
                  <a:pos x="T0" y="T1"/>
                </a:cxn>
                <a:cxn ang="T101">
                  <a:pos x="T2" y="T3"/>
                </a:cxn>
                <a:cxn ang="T102">
                  <a:pos x="T4" y="T5"/>
                </a:cxn>
                <a:cxn ang="T103">
                  <a:pos x="T6" y="T7"/>
                </a:cxn>
                <a:cxn ang="T104">
                  <a:pos x="T8" y="T9"/>
                </a:cxn>
                <a:cxn ang="T105">
                  <a:pos x="T10" y="T11"/>
                </a:cxn>
                <a:cxn ang="T106">
                  <a:pos x="T12" y="T13"/>
                </a:cxn>
                <a:cxn ang="T107">
                  <a:pos x="T14" y="T15"/>
                </a:cxn>
                <a:cxn ang="T108">
                  <a:pos x="T16" y="T17"/>
                </a:cxn>
                <a:cxn ang="T109">
                  <a:pos x="T18" y="T19"/>
                </a:cxn>
                <a:cxn ang="T110">
                  <a:pos x="T20" y="T21"/>
                </a:cxn>
                <a:cxn ang="T111">
                  <a:pos x="T22" y="T23"/>
                </a:cxn>
                <a:cxn ang="T112">
                  <a:pos x="T24" y="T25"/>
                </a:cxn>
                <a:cxn ang="T113">
                  <a:pos x="T26" y="T27"/>
                </a:cxn>
                <a:cxn ang="T114">
                  <a:pos x="T28" y="T29"/>
                </a:cxn>
                <a:cxn ang="T115">
                  <a:pos x="T30" y="T31"/>
                </a:cxn>
                <a:cxn ang="T116">
                  <a:pos x="T32" y="T33"/>
                </a:cxn>
                <a:cxn ang="T117">
                  <a:pos x="T34" y="T35"/>
                </a:cxn>
                <a:cxn ang="T118">
                  <a:pos x="T36" y="T37"/>
                </a:cxn>
                <a:cxn ang="T119">
                  <a:pos x="T38" y="T39"/>
                </a:cxn>
                <a:cxn ang="T120">
                  <a:pos x="T40" y="T41"/>
                </a:cxn>
                <a:cxn ang="T121">
                  <a:pos x="T42" y="T43"/>
                </a:cxn>
                <a:cxn ang="T122">
                  <a:pos x="T44" y="T45"/>
                </a:cxn>
                <a:cxn ang="T123">
                  <a:pos x="T46" y="T47"/>
                </a:cxn>
                <a:cxn ang="T124">
                  <a:pos x="T48" y="T49"/>
                </a:cxn>
                <a:cxn ang="T125">
                  <a:pos x="T50" y="T51"/>
                </a:cxn>
                <a:cxn ang="T126">
                  <a:pos x="T52" y="T53"/>
                </a:cxn>
                <a:cxn ang="T127">
                  <a:pos x="T54" y="T55"/>
                </a:cxn>
                <a:cxn ang="T128">
                  <a:pos x="T56" y="T57"/>
                </a:cxn>
                <a:cxn ang="T129">
                  <a:pos x="T58" y="T59"/>
                </a:cxn>
                <a:cxn ang="T130">
                  <a:pos x="T60" y="T61"/>
                </a:cxn>
                <a:cxn ang="T131">
                  <a:pos x="T62" y="T63"/>
                </a:cxn>
                <a:cxn ang="T132">
                  <a:pos x="T64" y="T65"/>
                </a:cxn>
                <a:cxn ang="T133">
                  <a:pos x="T66" y="T67"/>
                </a:cxn>
                <a:cxn ang="T134">
                  <a:pos x="T68" y="T69"/>
                </a:cxn>
                <a:cxn ang="T135">
                  <a:pos x="T70" y="T71"/>
                </a:cxn>
                <a:cxn ang="T136">
                  <a:pos x="T72" y="T73"/>
                </a:cxn>
                <a:cxn ang="T137">
                  <a:pos x="T74" y="T75"/>
                </a:cxn>
                <a:cxn ang="T138">
                  <a:pos x="T76" y="T77"/>
                </a:cxn>
                <a:cxn ang="T139">
                  <a:pos x="T78" y="T79"/>
                </a:cxn>
                <a:cxn ang="T140">
                  <a:pos x="T80" y="T81"/>
                </a:cxn>
                <a:cxn ang="T141">
                  <a:pos x="T82" y="T83"/>
                </a:cxn>
                <a:cxn ang="T142">
                  <a:pos x="T84" y="T85"/>
                </a:cxn>
                <a:cxn ang="T143">
                  <a:pos x="T86" y="T87"/>
                </a:cxn>
                <a:cxn ang="T144">
                  <a:pos x="T88" y="T89"/>
                </a:cxn>
                <a:cxn ang="T145">
                  <a:pos x="T90" y="T91"/>
                </a:cxn>
                <a:cxn ang="T146">
                  <a:pos x="T92" y="T93"/>
                </a:cxn>
                <a:cxn ang="T147">
                  <a:pos x="T94" y="T95"/>
                </a:cxn>
                <a:cxn ang="T148">
                  <a:pos x="T96" y="T97"/>
                </a:cxn>
                <a:cxn ang="T149">
                  <a:pos x="T98" y="T99"/>
                </a:cxn>
              </a:cxnLst>
              <a:rect l="0" t="0" r="r" b="b"/>
              <a:pathLst>
                <a:path w="581" h="609">
                  <a:moveTo>
                    <a:pt x="566" y="523"/>
                  </a:moveTo>
                  <a:lnTo>
                    <a:pt x="566" y="523"/>
                  </a:lnTo>
                  <a:cubicBezTo>
                    <a:pt x="495" y="594"/>
                    <a:pt x="495" y="594"/>
                    <a:pt x="495" y="594"/>
                  </a:cubicBezTo>
                  <a:cubicBezTo>
                    <a:pt x="488" y="601"/>
                    <a:pt x="481" y="608"/>
                    <a:pt x="474" y="608"/>
                  </a:cubicBezTo>
                  <a:cubicBezTo>
                    <a:pt x="467" y="608"/>
                    <a:pt x="460" y="601"/>
                    <a:pt x="453" y="594"/>
                  </a:cubicBezTo>
                  <a:cubicBezTo>
                    <a:pt x="417" y="558"/>
                    <a:pt x="417" y="558"/>
                    <a:pt x="417" y="558"/>
                  </a:cubicBezTo>
                  <a:cubicBezTo>
                    <a:pt x="410" y="551"/>
                    <a:pt x="410" y="544"/>
                    <a:pt x="410" y="537"/>
                  </a:cubicBezTo>
                  <a:cubicBezTo>
                    <a:pt x="410" y="523"/>
                    <a:pt x="417" y="509"/>
                    <a:pt x="439" y="509"/>
                  </a:cubicBezTo>
                  <a:cubicBezTo>
                    <a:pt x="446" y="509"/>
                    <a:pt x="453" y="516"/>
                    <a:pt x="453" y="523"/>
                  </a:cubicBezTo>
                  <a:cubicBezTo>
                    <a:pt x="474" y="537"/>
                    <a:pt x="474" y="537"/>
                    <a:pt x="474" y="537"/>
                  </a:cubicBezTo>
                  <a:cubicBezTo>
                    <a:pt x="530" y="481"/>
                    <a:pt x="530" y="481"/>
                    <a:pt x="530" y="481"/>
                  </a:cubicBezTo>
                  <a:cubicBezTo>
                    <a:pt x="537" y="474"/>
                    <a:pt x="545" y="474"/>
                    <a:pt x="552" y="474"/>
                  </a:cubicBezTo>
                  <a:cubicBezTo>
                    <a:pt x="566" y="474"/>
                    <a:pt x="580" y="488"/>
                    <a:pt x="580" y="502"/>
                  </a:cubicBezTo>
                  <a:cubicBezTo>
                    <a:pt x="580" y="509"/>
                    <a:pt x="573" y="516"/>
                    <a:pt x="566" y="523"/>
                  </a:cubicBezTo>
                  <a:close/>
                  <a:moveTo>
                    <a:pt x="474" y="495"/>
                  </a:moveTo>
                  <a:lnTo>
                    <a:pt x="474" y="495"/>
                  </a:lnTo>
                  <a:cubicBezTo>
                    <a:pt x="467" y="488"/>
                    <a:pt x="453" y="481"/>
                    <a:pt x="439" y="481"/>
                  </a:cubicBezTo>
                  <a:cubicBezTo>
                    <a:pt x="403" y="481"/>
                    <a:pt x="382" y="509"/>
                    <a:pt x="382" y="537"/>
                  </a:cubicBezTo>
                  <a:cubicBezTo>
                    <a:pt x="382" y="558"/>
                    <a:pt x="389" y="573"/>
                    <a:pt x="396" y="580"/>
                  </a:cubicBezTo>
                  <a:cubicBezTo>
                    <a:pt x="424" y="608"/>
                    <a:pt x="424" y="608"/>
                    <a:pt x="424" y="608"/>
                  </a:cubicBezTo>
                  <a:cubicBezTo>
                    <a:pt x="29" y="608"/>
                    <a:pt x="29" y="608"/>
                    <a:pt x="29" y="608"/>
                  </a:cubicBezTo>
                  <a:cubicBezTo>
                    <a:pt x="15" y="608"/>
                    <a:pt x="0" y="594"/>
                    <a:pt x="0" y="580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71"/>
                    <a:pt x="15" y="56"/>
                    <a:pt x="29" y="56"/>
                  </a:cubicBezTo>
                  <a:cubicBezTo>
                    <a:pt x="78" y="56"/>
                    <a:pt x="78" y="56"/>
                    <a:pt x="78" y="56"/>
                  </a:cubicBezTo>
                  <a:cubicBezTo>
                    <a:pt x="78" y="85"/>
                    <a:pt x="78" y="85"/>
                    <a:pt x="78" y="85"/>
                  </a:cubicBezTo>
                  <a:cubicBezTo>
                    <a:pt x="78" y="120"/>
                    <a:pt x="106" y="141"/>
                    <a:pt x="135" y="141"/>
                  </a:cubicBezTo>
                  <a:cubicBezTo>
                    <a:pt x="163" y="141"/>
                    <a:pt x="191" y="120"/>
                    <a:pt x="191" y="85"/>
                  </a:cubicBezTo>
                  <a:cubicBezTo>
                    <a:pt x="191" y="56"/>
                    <a:pt x="191" y="56"/>
                    <a:pt x="191" y="56"/>
                  </a:cubicBezTo>
                  <a:cubicBezTo>
                    <a:pt x="219" y="56"/>
                    <a:pt x="219" y="56"/>
                    <a:pt x="219" y="56"/>
                  </a:cubicBezTo>
                  <a:cubicBezTo>
                    <a:pt x="219" y="85"/>
                    <a:pt x="219" y="85"/>
                    <a:pt x="219" y="85"/>
                  </a:cubicBezTo>
                  <a:cubicBezTo>
                    <a:pt x="219" y="120"/>
                    <a:pt x="248" y="141"/>
                    <a:pt x="276" y="141"/>
                  </a:cubicBezTo>
                  <a:cubicBezTo>
                    <a:pt x="304" y="141"/>
                    <a:pt x="333" y="120"/>
                    <a:pt x="333" y="85"/>
                  </a:cubicBezTo>
                  <a:cubicBezTo>
                    <a:pt x="333" y="56"/>
                    <a:pt x="333" y="56"/>
                    <a:pt x="333" y="56"/>
                  </a:cubicBezTo>
                  <a:cubicBezTo>
                    <a:pt x="361" y="56"/>
                    <a:pt x="361" y="56"/>
                    <a:pt x="361" y="56"/>
                  </a:cubicBezTo>
                  <a:cubicBezTo>
                    <a:pt x="361" y="85"/>
                    <a:pt x="361" y="85"/>
                    <a:pt x="361" y="85"/>
                  </a:cubicBezTo>
                  <a:cubicBezTo>
                    <a:pt x="361" y="120"/>
                    <a:pt x="389" y="141"/>
                    <a:pt x="417" y="141"/>
                  </a:cubicBezTo>
                  <a:cubicBezTo>
                    <a:pt x="446" y="141"/>
                    <a:pt x="474" y="120"/>
                    <a:pt x="474" y="85"/>
                  </a:cubicBezTo>
                  <a:cubicBezTo>
                    <a:pt x="474" y="56"/>
                    <a:pt x="474" y="56"/>
                    <a:pt x="474" y="56"/>
                  </a:cubicBezTo>
                  <a:cubicBezTo>
                    <a:pt x="523" y="56"/>
                    <a:pt x="523" y="56"/>
                    <a:pt x="523" y="56"/>
                  </a:cubicBezTo>
                  <a:cubicBezTo>
                    <a:pt x="537" y="56"/>
                    <a:pt x="552" y="71"/>
                    <a:pt x="552" y="85"/>
                  </a:cubicBezTo>
                  <a:cubicBezTo>
                    <a:pt x="552" y="445"/>
                    <a:pt x="552" y="445"/>
                    <a:pt x="552" y="445"/>
                  </a:cubicBezTo>
                  <a:cubicBezTo>
                    <a:pt x="530" y="445"/>
                    <a:pt x="516" y="452"/>
                    <a:pt x="509" y="460"/>
                  </a:cubicBezTo>
                  <a:lnTo>
                    <a:pt x="474" y="495"/>
                  </a:lnTo>
                  <a:close/>
                  <a:moveTo>
                    <a:pt x="78" y="488"/>
                  </a:moveTo>
                  <a:lnTo>
                    <a:pt x="78" y="488"/>
                  </a:lnTo>
                  <a:cubicBezTo>
                    <a:pt x="78" y="502"/>
                    <a:pt x="85" y="509"/>
                    <a:pt x="99" y="509"/>
                  </a:cubicBezTo>
                  <a:cubicBezTo>
                    <a:pt x="283" y="509"/>
                    <a:pt x="283" y="509"/>
                    <a:pt x="283" y="509"/>
                  </a:cubicBezTo>
                  <a:cubicBezTo>
                    <a:pt x="297" y="509"/>
                    <a:pt x="304" y="502"/>
                    <a:pt x="304" y="488"/>
                  </a:cubicBezTo>
                  <a:cubicBezTo>
                    <a:pt x="304" y="474"/>
                    <a:pt x="297" y="467"/>
                    <a:pt x="283" y="467"/>
                  </a:cubicBezTo>
                  <a:cubicBezTo>
                    <a:pt x="99" y="467"/>
                    <a:pt x="99" y="467"/>
                    <a:pt x="99" y="467"/>
                  </a:cubicBezTo>
                  <a:cubicBezTo>
                    <a:pt x="85" y="467"/>
                    <a:pt x="78" y="474"/>
                    <a:pt x="78" y="488"/>
                  </a:cubicBezTo>
                  <a:close/>
                  <a:moveTo>
                    <a:pt x="446" y="219"/>
                  </a:moveTo>
                  <a:lnTo>
                    <a:pt x="446" y="219"/>
                  </a:lnTo>
                  <a:cubicBezTo>
                    <a:pt x="106" y="219"/>
                    <a:pt x="106" y="219"/>
                    <a:pt x="106" y="219"/>
                  </a:cubicBezTo>
                  <a:cubicBezTo>
                    <a:pt x="92" y="219"/>
                    <a:pt x="78" y="233"/>
                    <a:pt x="78" y="247"/>
                  </a:cubicBezTo>
                  <a:cubicBezTo>
                    <a:pt x="78" y="262"/>
                    <a:pt x="92" y="276"/>
                    <a:pt x="106" y="276"/>
                  </a:cubicBezTo>
                  <a:cubicBezTo>
                    <a:pt x="446" y="276"/>
                    <a:pt x="446" y="276"/>
                    <a:pt x="446" y="276"/>
                  </a:cubicBezTo>
                  <a:cubicBezTo>
                    <a:pt x="460" y="276"/>
                    <a:pt x="474" y="262"/>
                    <a:pt x="474" y="247"/>
                  </a:cubicBezTo>
                  <a:cubicBezTo>
                    <a:pt x="474" y="233"/>
                    <a:pt x="460" y="219"/>
                    <a:pt x="446" y="219"/>
                  </a:cubicBezTo>
                  <a:close/>
                  <a:moveTo>
                    <a:pt x="446" y="339"/>
                  </a:moveTo>
                  <a:lnTo>
                    <a:pt x="446" y="339"/>
                  </a:lnTo>
                  <a:cubicBezTo>
                    <a:pt x="276" y="339"/>
                    <a:pt x="276" y="339"/>
                    <a:pt x="276" y="339"/>
                  </a:cubicBezTo>
                  <a:cubicBezTo>
                    <a:pt x="226" y="339"/>
                    <a:pt x="226" y="339"/>
                    <a:pt x="226" y="339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92" y="339"/>
                    <a:pt x="78" y="353"/>
                    <a:pt x="78" y="367"/>
                  </a:cubicBezTo>
                  <a:cubicBezTo>
                    <a:pt x="78" y="389"/>
                    <a:pt x="92" y="396"/>
                    <a:pt x="106" y="396"/>
                  </a:cubicBezTo>
                  <a:cubicBezTo>
                    <a:pt x="226" y="396"/>
                    <a:pt x="226" y="396"/>
                    <a:pt x="226" y="396"/>
                  </a:cubicBezTo>
                  <a:cubicBezTo>
                    <a:pt x="276" y="396"/>
                    <a:pt x="276" y="396"/>
                    <a:pt x="276" y="396"/>
                  </a:cubicBezTo>
                  <a:cubicBezTo>
                    <a:pt x="446" y="396"/>
                    <a:pt x="446" y="396"/>
                    <a:pt x="446" y="396"/>
                  </a:cubicBezTo>
                  <a:cubicBezTo>
                    <a:pt x="460" y="396"/>
                    <a:pt x="474" y="389"/>
                    <a:pt x="474" y="367"/>
                  </a:cubicBezTo>
                  <a:cubicBezTo>
                    <a:pt x="474" y="353"/>
                    <a:pt x="460" y="339"/>
                    <a:pt x="446" y="339"/>
                  </a:cubicBezTo>
                  <a:close/>
                  <a:moveTo>
                    <a:pt x="417" y="113"/>
                  </a:moveTo>
                  <a:lnTo>
                    <a:pt x="417" y="113"/>
                  </a:lnTo>
                  <a:cubicBezTo>
                    <a:pt x="403" y="113"/>
                    <a:pt x="389" y="106"/>
                    <a:pt x="389" y="85"/>
                  </a:cubicBezTo>
                  <a:cubicBezTo>
                    <a:pt x="389" y="28"/>
                    <a:pt x="389" y="28"/>
                    <a:pt x="389" y="28"/>
                  </a:cubicBezTo>
                  <a:cubicBezTo>
                    <a:pt x="389" y="14"/>
                    <a:pt x="403" y="0"/>
                    <a:pt x="417" y="0"/>
                  </a:cubicBezTo>
                  <a:cubicBezTo>
                    <a:pt x="431" y="0"/>
                    <a:pt x="446" y="14"/>
                    <a:pt x="446" y="28"/>
                  </a:cubicBezTo>
                  <a:cubicBezTo>
                    <a:pt x="446" y="85"/>
                    <a:pt x="446" y="85"/>
                    <a:pt x="446" y="85"/>
                  </a:cubicBezTo>
                  <a:cubicBezTo>
                    <a:pt x="446" y="106"/>
                    <a:pt x="431" y="113"/>
                    <a:pt x="417" y="113"/>
                  </a:cubicBezTo>
                  <a:close/>
                  <a:moveTo>
                    <a:pt x="276" y="113"/>
                  </a:moveTo>
                  <a:lnTo>
                    <a:pt x="276" y="113"/>
                  </a:lnTo>
                  <a:cubicBezTo>
                    <a:pt x="262" y="113"/>
                    <a:pt x="248" y="106"/>
                    <a:pt x="248" y="85"/>
                  </a:cubicBezTo>
                  <a:cubicBezTo>
                    <a:pt x="248" y="28"/>
                    <a:pt x="248" y="28"/>
                    <a:pt x="248" y="28"/>
                  </a:cubicBezTo>
                  <a:cubicBezTo>
                    <a:pt x="248" y="14"/>
                    <a:pt x="262" y="0"/>
                    <a:pt x="276" y="0"/>
                  </a:cubicBezTo>
                  <a:cubicBezTo>
                    <a:pt x="290" y="0"/>
                    <a:pt x="304" y="14"/>
                    <a:pt x="304" y="28"/>
                  </a:cubicBezTo>
                  <a:cubicBezTo>
                    <a:pt x="304" y="85"/>
                    <a:pt x="304" y="85"/>
                    <a:pt x="304" y="85"/>
                  </a:cubicBezTo>
                  <a:cubicBezTo>
                    <a:pt x="304" y="106"/>
                    <a:pt x="290" y="113"/>
                    <a:pt x="276" y="11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21" y="113"/>
                    <a:pt x="106" y="106"/>
                    <a:pt x="106" y="85"/>
                  </a:cubicBezTo>
                  <a:cubicBezTo>
                    <a:pt x="106" y="28"/>
                    <a:pt x="106" y="28"/>
                    <a:pt x="106" y="28"/>
                  </a:cubicBezTo>
                  <a:cubicBezTo>
                    <a:pt x="106" y="14"/>
                    <a:pt x="121" y="0"/>
                    <a:pt x="135" y="0"/>
                  </a:cubicBezTo>
                  <a:cubicBezTo>
                    <a:pt x="149" y="0"/>
                    <a:pt x="163" y="14"/>
                    <a:pt x="163" y="28"/>
                  </a:cubicBezTo>
                  <a:cubicBezTo>
                    <a:pt x="163" y="85"/>
                    <a:pt x="163" y="85"/>
                    <a:pt x="163" y="85"/>
                  </a:cubicBezTo>
                  <a:cubicBezTo>
                    <a:pt x="163" y="106"/>
                    <a:pt x="149" y="113"/>
                    <a:pt x="135" y="11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 userDrawn="1"/>
        </p:nvGrpSpPr>
        <p:grpSpPr>
          <a:xfrm>
            <a:off x="8879153" y="655120"/>
            <a:ext cx="575989" cy="576197"/>
            <a:chOff x="4788024" y="1275213"/>
            <a:chExt cx="432048" cy="432048"/>
          </a:xfrm>
        </p:grpSpPr>
        <p:sp>
          <p:nvSpPr>
            <p:cNvPr id="13" name="椭圆 65"/>
            <p:cNvSpPr>
              <a:spLocks noChangeArrowheads="1"/>
            </p:cNvSpPr>
            <p:nvPr/>
          </p:nvSpPr>
          <p:spPr bwMode="auto">
            <a:xfrm>
              <a:off x="4788024" y="1275213"/>
              <a:ext cx="432048" cy="432048"/>
            </a:xfrm>
            <a:prstGeom prst="ellipse">
              <a:avLst/>
            </a:prstGeom>
            <a:solidFill>
              <a:srgbClr val="F79600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4" name="Freeform 110"/>
            <p:cNvSpPr>
              <a:spLocks noChangeArrowheads="1"/>
            </p:cNvSpPr>
            <p:nvPr/>
          </p:nvSpPr>
          <p:spPr bwMode="auto">
            <a:xfrm>
              <a:off x="4891102" y="1366806"/>
              <a:ext cx="250679" cy="248862"/>
            </a:xfrm>
            <a:custGeom>
              <a:avLst/>
              <a:gdLst>
                <a:gd name="T0" fmla="*/ 78678142 w 609"/>
                <a:gd name="T1" fmla="*/ 71002280 h 602"/>
                <a:gd name="T2" fmla="*/ 78678142 w 609"/>
                <a:gd name="T3" fmla="*/ 71002280 h 602"/>
                <a:gd name="T4" fmla="*/ 71302258 w 609"/>
                <a:gd name="T5" fmla="*/ 78441997 h 602"/>
                <a:gd name="T6" fmla="*/ 65867111 w 609"/>
                <a:gd name="T7" fmla="*/ 76614673 h 602"/>
                <a:gd name="T8" fmla="*/ 44774038 w 609"/>
                <a:gd name="T9" fmla="*/ 54426302 h 602"/>
                <a:gd name="T10" fmla="*/ 29245613 w 609"/>
                <a:gd name="T11" fmla="*/ 59125033 h 602"/>
                <a:gd name="T12" fmla="*/ 0 w 609"/>
                <a:gd name="T13" fmla="*/ 29497307 h 602"/>
                <a:gd name="T14" fmla="*/ 29245613 w 609"/>
                <a:gd name="T15" fmla="*/ 0 h 602"/>
                <a:gd name="T16" fmla="*/ 58491226 w 609"/>
                <a:gd name="T17" fmla="*/ 29497307 h 602"/>
                <a:gd name="T18" fmla="*/ 54867675 w 609"/>
                <a:gd name="T19" fmla="*/ 44376380 h 602"/>
                <a:gd name="T20" fmla="*/ 75960749 w 609"/>
                <a:gd name="T21" fmla="*/ 65520668 h 602"/>
                <a:gd name="T22" fmla="*/ 78678142 w 609"/>
                <a:gd name="T23" fmla="*/ 71002280 h 602"/>
                <a:gd name="T24" fmla="*/ 29245613 w 609"/>
                <a:gd name="T25" fmla="*/ 7439717 h 602"/>
                <a:gd name="T26" fmla="*/ 29245613 w 609"/>
                <a:gd name="T27" fmla="*/ 7439717 h 602"/>
                <a:gd name="T28" fmla="*/ 7246742 w 609"/>
                <a:gd name="T29" fmla="*/ 29497307 h 602"/>
                <a:gd name="T30" fmla="*/ 29245613 w 609"/>
                <a:gd name="T31" fmla="*/ 51685677 h 602"/>
                <a:gd name="T32" fmla="*/ 51244484 w 609"/>
                <a:gd name="T33" fmla="*/ 29497307 h 602"/>
                <a:gd name="T34" fmla="*/ 29245613 w 609"/>
                <a:gd name="T35" fmla="*/ 7439717 h 602"/>
                <a:gd name="T36" fmla="*/ 42056644 w 609"/>
                <a:gd name="T37" fmla="*/ 33282375 h 602"/>
                <a:gd name="T38" fmla="*/ 42056644 w 609"/>
                <a:gd name="T39" fmla="*/ 33282375 h 602"/>
                <a:gd name="T40" fmla="*/ 32868804 w 609"/>
                <a:gd name="T41" fmla="*/ 33282375 h 602"/>
                <a:gd name="T42" fmla="*/ 32868804 w 609"/>
                <a:gd name="T43" fmla="*/ 41504973 h 602"/>
                <a:gd name="T44" fmla="*/ 29245613 w 609"/>
                <a:gd name="T45" fmla="*/ 45290042 h 602"/>
                <a:gd name="T46" fmla="*/ 25622062 w 609"/>
                <a:gd name="T47" fmla="*/ 41504973 h 602"/>
                <a:gd name="T48" fmla="*/ 25622062 w 609"/>
                <a:gd name="T49" fmla="*/ 33282375 h 602"/>
                <a:gd name="T50" fmla="*/ 17340380 w 609"/>
                <a:gd name="T51" fmla="*/ 33282375 h 602"/>
                <a:gd name="T52" fmla="*/ 13716829 w 609"/>
                <a:gd name="T53" fmla="*/ 29497307 h 602"/>
                <a:gd name="T54" fmla="*/ 17340380 w 609"/>
                <a:gd name="T55" fmla="*/ 25842658 h 602"/>
                <a:gd name="T56" fmla="*/ 25622062 w 609"/>
                <a:gd name="T57" fmla="*/ 25842658 h 602"/>
                <a:gd name="T58" fmla="*/ 25622062 w 609"/>
                <a:gd name="T59" fmla="*/ 16575978 h 602"/>
                <a:gd name="T60" fmla="*/ 29245613 w 609"/>
                <a:gd name="T61" fmla="*/ 12921329 h 602"/>
                <a:gd name="T62" fmla="*/ 32868804 w 609"/>
                <a:gd name="T63" fmla="*/ 16575978 h 602"/>
                <a:gd name="T64" fmla="*/ 32868804 w 609"/>
                <a:gd name="T65" fmla="*/ 25842658 h 602"/>
                <a:gd name="T66" fmla="*/ 42056644 w 609"/>
                <a:gd name="T67" fmla="*/ 25842658 h 602"/>
                <a:gd name="T68" fmla="*/ 45679835 w 609"/>
                <a:gd name="T69" fmla="*/ 29497307 h 602"/>
                <a:gd name="T70" fmla="*/ 42056644 w 609"/>
                <a:gd name="T71" fmla="*/ 33282375 h 602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</a:gdLst>
              <a:ahLst/>
              <a:cxnLst>
                <a:cxn ang="T72">
                  <a:pos x="T0" y="T1"/>
                </a:cxn>
                <a:cxn ang="T73">
                  <a:pos x="T2" y="T3"/>
                </a:cxn>
                <a:cxn ang="T74">
                  <a:pos x="T4" y="T5"/>
                </a:cxn>
                <a:cxn ang="T75">
                  <a:pos x="T6" y="T7"/>
                </a:cxn>
                <a:cxn ang="T76">
                  <a:pos x="T8" y="T9"/>
                </a:cxn>
                <a:cxn ang="T77">
                  <a:pos x="T10" y="T11"/>
                </a:cxn>
                <a:cxn ang="T78">
                  <a:pos x="T12" y="T13"/>
                </a:cxn>
                <a:cxn ang="T79">
                  <a:pos x="T14" y="T15"/>
                </a:cxn>
                <a:cxn ang="T80">
                  <a:pos x="T16" y="T17"/>
                </a:cxn>
                <a:cxn ang="T81">
                  <a:pos x="T18" y="T19"/>
                </a:cxn>
                <a:cxn ang="T82">
                  <a:pos x="T20" y="T21"/>
                </a:cxn>
                <a:cxn ang="T83">
                  <a:pos x="T22" y="T23"/>
                </a:cxn>
                <a:cxn ang="T84">
                  <a:pos x="T24" y="T25"/>
                </a:cxn>
                <a:cxn ang="T85">
                  <a:pos x="T26" y="T27"/>
                </a:cxn>
                <a:cxn ang="T86">
                  <a:pos x="T28" y="T29"/>
                </a:cxn>
                <a:cxn ang="T87">
                  <a:pos x="T30" y="T31"/>
                </a:cxn>
                <a:cxn ang="T88">
                  <a:pos x="T32" y="T33"/>
                </a:cxn>
                <a:cxn ang="T89">
                  <a:pos x="T34" y="T35"/>
                </a:cxn>
                <a:cxn ang="T90">
                  <a:pos x="T36" y="T37"/>
                </a:cxn>
                <a:cxn ang="T91">
                  <a:pos x="T38" y="T39"/>
                </a:cxn>
                <a:cxn ang="T92">
                  <a:pos x="T40" y="T41"/>
                </a:cxn>
                <a:cxn ang="T93">
                  <a:pos x="T42" y="T43"/>
                </a:cxn>
                <a:cxn ang="T94">
                  <a:pos x="T44" y="T45"/>
                </a:cxn>
                <a:cxn ang="T95">
                  <a:pos x="T46" y="T47"/>
                </a:cxn>
                <a:cxn ang="T96">
                  <a:pos x="T48" y="T49"/>
                </a:cxn>
                <a:cxn ang="T97">
                  <a:pos x="T50" y="T51"/>
                </a:cxn>
                <a:cxn ang="T98">
                  <a:pos x="T52" y="T53"/>
                </a:cxn>
                <a:cxn ang="T99">
                  <a:pos x="T54" y="T55"/>
                </a:cxn>
                <a:cxn ang="T100">
                  <a:pos x="T56" y="T57"/>
                </a:cxn>
                <a:cxn ang="T101">
                  <a:pos x="T58" y="T59"/>
                </a:cxn>
                <a:cxn ang="T102">
                  <a:pos x="T60" y="T61"/>
                </a:cxn>
                <a:cxn ang="T103">
                  <a:pos x="T62" y="T63"/>
                </a:cxn>
                <a:cxn ang="T104">
                  <a:pos x="T64" y="T65"/>
                </a:cxn>
                <a:cxn ang="T105">
                  <a:pos x="T66" y="T67"/>
                </a:cxn>
                <a:cxn ang="T106">
                  <a:pos x="T68" y="T69"/>
                </a:cxn>
                <a:cxn ang="T107">
                  <a:pos x="T70" y="T71"/>
                </a:cxn>
              </a:cxnLst>
              <a:rect l="0" t="0" r="r" b="b"/>
              <a:pathLst>
                <a:path w="609" h="602">
                  <a:moveTo>
                    <a:pt x="608" y="544"/>
                  </a:moveTo>
                  <a:lnTo>
                    <a:pt x="608" y="544"/>
                  </a:lnTo>
                  <a:cubicBezTo>
                    <a:pt x="608" y="573"/>
                    <a:pt x="579" y="601"/>
                    <a:pt x="551" y="601"/>
                  </a:cubicBezTo>
                  <a:cubicBezTo>
                    <a:pt x="530" y="601"/>
                    <a:pt x="516" y="594"/>
                    <a:pt x="509" y="587"/>
                  </a:cubicBezTo>
                  <a:cubicBezTo>
                    <a:pt x="346" y="417"/>
                    <a:pt x="346" y="417"/>
                    <a:pt x="346" y="417"/>
                  </a:cubicBezTo>
                  <a:cubicBezTo>
                    <a:pt x="311" y="438"/>
                    <a:pt x="269" y="453"/>
                    <a:pt x="226" y="453"/>
                  </a:cubicBezTo>
                  <a:cubicBezTo>
                    <a:pt x="106" y="453"/>
                    <a:pt x="0" y="347"/>
                    <a:pt x="0" y="226"/>
                  </a:cubicBezTo>
                  <a:cubicBezTo>
                    <a:pt x="0" y="99"/>
                    <a:pt x="106" y="0"/>
                    <a:pt x="226" y="0"/>
                  </a:cubicBezTo>
                  <a:cubicBezTo>
                    <a:pt x="353" y="0"/>
                    <a:pt x="452" y="99"/>
                    <a:pt x="452" y="226"/>
                  </a:cubicBezTo>
                  <a:cubicBezTo>
                    <a:pt x="452" y="269"/>
                    <a:pt x="445" y="304"/>
                    <a:pt x="424" y="340"/>
                  </a:cubicBezTo>
                  <a:cubicBezTo>
                    <a:pt x="587" y="502"/>
                    <a:pt x="587" y="502"/>
                    <a:pt x="587" y="502"/>
                  </a:cubicBezTo>
                  <a:cubicBezTo>
                    <a:pt x="601" y="516"/>
                    <a:pt x="608" y="530"/>
                    <a:pt x="608" y="544"/>
                  </a:cubicBezTo>
                  <a:close/>
                  <a:moveTo>
                    <a:pt x="226" y="57"/>
                  </a:moveTo>
                  <a:lnTo>
                    <a:pt x="226" y="57"/>
                  </a:lnTo>
                  <a:cubicBezTo>
                    <a:pt x="134" y="57"/>
                    <a:pt x="56" y="127"/>
                    <a:pt x="56" y="226"/>
                  </a:cubicBezTo>
                  <a:cubicBezTo>
                    <a:pt x="56" y="318"/>
                    <a:pt x="134" y="396"/>
                    <a:pt x="226" y="396"/>
                  </a:cubicBezTo>
                  <a:cubicBezTo>
                    <a:pt x="325" y="396"/>
                    <a:pt x="396" y="318"/>
                    <a:pt x="396" y="226"/>
                  </a:cubicBezTo>
                  <a:cubicBezTo>
                    <a:pt x="396" y="127"/>
                    <a:pt x="325" y="57"/>
                    <a:pt x="226" y="57"/>
                  </a:cubicBezTo>
                  <a:close/>
                  <a:moveTo>
                    <a:pt x="325" y="255"/>
                  </a:moveTo>
                  <a:lnTo>
                    <a:pt x="325" y="255"/>
                  </a:lnTo>
                  <a:cubicBezTo>
                    <a:pt x="254" y="255"/>
                    <a:pt x="254" y="255"/>
                    <a:pt x="254" y="255"/>
                  </a:cubicBezTo>
                  <a:cubicBezTo>
                    <a:pt x="254" y="318"/>
                    <a:pt x="254" y="318"/>
                    <a:pt x="254" y="318"/>
                  </a:cubicBezTo>
                  <a:cubicBezTo>
                    <a:pt x="254" y="333"/>
                    <a:pt x="247" y="347"/>
                    <a:pt x="226" y="347"/>
                  </a:cubicBezTo>
                  <a:cubicBezTo>
                    <a:pt x="212" y="347"/>
                    <a:pt x="198" y="333"/>
                    <a:pt x="198" y="318"/>
                  </a:cubicBezTo>
                  <a:cubicBezTo>
                    <a:pt x="198" y="255"/>
                    <a:pt x="198" y="255"/>
                    <a:pt x="198" y="255"/>
                  </a:cubicBezTo>
                  <a:cubicBezTo>
                    <a:pt x="134" y="255"/>
                    <a:pt x="134" y="255"/>
                    <a:pt x="134" y="255"/>
                  </a:cubicBezTo>
                  <a:cubicBezTo>
                    <a:pt x="120" y="255"/>
                    <a:pt x="106" y="241"/>
                    <a:pt x="106" y="226"/>
                  </a:cubicBezTo>
                  <a:cubicBezTo>
                    <a:pt x="106" y="205"/>
                    <a:pt x="120" y="198"/>
                    <a:pt x="134" y="198"/>
                  </a:cubicBezTo>
                  <a:cubicBezTo>
                    <a:pt x="198" y="198"/>
                    <a:pt x="198" y="198"/>
                    <a:pt x="198" y="198"/>
                  </a:cubicBezTo>
                  <a:cubicBezTo>
                    <a:pt x="198" y="127"/>
                    <a:pt x="198" y="127"/>
                    <a:pt x="198" y="127"/>
                  </a:cubicBezTo>
                  <a:cubicBezTo>
                    <a:pt x="198" y="113"/>
                    <a:pt x="212" y="99"/>
                    <a:pt x="226" y="99"/>
                  </a:cubicBezTo>
                  <a:cubicBezTo>
                    <a:pt x="247" y="99"/>
                    <a:pt x="254" y="113"/>
                    <a:pt x="254" y="127"/>
                  </a:cubicBezTo>
                  <a:cubicBezTo>
                    <a:pt x="254" y="198"/>
                    <a:pt x="254" y="198"/>
                    <a:pt x="254" y="198"/>
                  </a:cubicBezTo>
                  <a:cubicBezTo>
                    <a:pt x="325" y="198"/>
                    <a:pt x="325" y="198"/>
                    <a:pt x="325" y="198"/>
                  </a:cubicBezTo>
                  <a:cubicBezTo>
                    <a:pt x="339" y="198"/>
                    <a:pt x="353" y="205"/>
                    <a:pt x="353" y="226"/>
                  </a:cubicBezTo>
                  <a:cubicBezTo>
                    <a:pt x="353" y="241"/>
                    <a:pt x="339" y="255"/>
                    <a:pt x="325" y="25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 userDrawn="1"/>
        </p:nvGrpSpPr>
        <p:grpSpPr>
          <a:xfrm>
            <a:off x="9743137" y="654595"/>
            <a:ext cx="577036" cy="577246"/>
            <a:chOff x="5436096" y="1274820"/>
            <a:chExt cx="432833" cy="432834"/>
          </a:xfrm>
        </p:grpSpPr>
        <p:sp>
          <p:nvSpPr>
            <p:cNvPr id="16" name="椭圆 16"/>
            <p:cNvSpPr>
              <a:spLocks noChangeArrowheads="1"/>
            </p:cNvSpPr>
            <p:nvPr/>
          </p:nvSpPr>
          <p:spPr bwMode="auto">
            <a:xfrm>
              <a:off x="5436096" y="1274820"/>
              <a:ext cx="432833" cy="432834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17" name="Freeform 16"/>
            <p:cNvSpPr>
              <a:spLocks noChangeArrowheads="1"/>
            </p:cNvSpPr>
            <p:nvPr/>
          </p:nvSpPr>
          <p:spPr bwMode="auto">
            <a:xfrm>
              <a:off x="5554420" y="1377705"/>
              <a:ext cx="196183" cy="227065"/>
            </a:xfrm>
            <a:custGeom>
              <a:avLst/>
              <a:gdLst>
                <a:gd name="T0" fmla="*/ 58106390 w 475"/>
                <a:gd name="T1" fmla="*/ 71207247 h 552"/>
                <a:gd name="T2" fmla="*/ 58106390 w 475"/>
                <a:gd name="T3" fmla="*/ 71207247 h 552"/>
                <a:gd name="T4" fmla="*/ 54327993 w 475"/>
                <a:gd name="T5" fmla="*/ 71207247 h 552"/>
                <a:gd name="T6" fmla="*/ 54327993 w 475"/>
                <a:gd name="T7" fmla="*/ 0 h 552"/>
                <a:gd name="T8" fmla="*/ 58106390 w 475"/>
                <a:gd name="T9" fmla="*/ 0 h 552"/>
                <a:gd name="T10" fmla="*/ 61754124 w 475"/>
                <a:gd name="T11" fmla="*/ 3618618 h 552"/>
                <a:gd name="T12" fmla="*/ 61754124 w 475"/>
                <a:gd name="T13" fmla="*/ 67588630 h 552"/>
                <a:gd name="T14" fmla="*/ 58106390 w 475"/>
                <a:gd name="T15" fmla="*/ 71207247 h 552"/>
                <a:gd name="T16" fmla="*/ 7426131 w 475"/>
                <a:gd name="T17" fmla="*/ 67588630 h 552"/>
                <a:gd name="T18" fmla="*/ 7426131 w 475"/>
                <a:gd name="T19" fmla="*/ 67588630 h 552"/>
                <a:gd name="T20" fmla="*/ 7426131 w 475"/>
                <a:gd name="T21" fmla="*/ 63970012 h 552"/>
                <a:gd name="T22" fmla="*/ 13809846 w 475"/>
                <a:gd name="T23" fmla="*/ 63970012 h 552"/>
                <a:gd name="T24" fmla="*/ 21235977 w 475"/>
                <a:gd name="T25" fmla="*/ 56603721 h 552"/>
                <a:gd name="T26" fmla="*/ 13809846 w 475"/>
                <a:gd name="T27" fmla="*/ 49237429 h 552"/>
                <a:gd name="T28" fmla="*/ 7426131 w 475"/>
                <a:gd name="T29" fmla="*/ 49237429 h 552"/>
                <a:gd name="T30" fmla="*/ 7426131 w 475"/>
                <a:gd name="T31" fmla="*/ 42905028 h 552"/>
                <a:gd name="T32" fmla="*/ 13809846 w 475"/>
                <a:gd name="T33" fmla="*/ 42905028 h 552"/>
                <a:gd name="T34" fmla="*/ 21235977 w 475"/>
                <a:gd name="T35" fmla="*/ 35539095 h 552"/>
                <a:gd name="T36" fmla="*/ 13809846 w 475"/>
                <a:gd name="T37" fmla="*/ 28301860 h 552"/>
                <a:gd name="T38" fmla="*/ 7426131 w 475"/>
                <a:gd name="T39" fmla="*/ 28301860 h 552"/>
                <a:gd name="T40" fmla="*/ 7426131 w 475"/>
                <a:gd name="T41" fmla="*/ 21840403 h 552"/>
                <a:gd name="T42" fmla="*/ 13809846 w 475"/>
                <a:gd name="T43" fmla="*/ 21840403 h 552"/>
                <a:gd name="T44" fmla="*/ 21235977 w 475"/>
                <a:gd name="T45" fmla="*/ 14603167 h 552"/>
                <a:gd name="T46" fmla="*/ 13809846 w 475"/>
                <a:gd name="T47" fmla="*/ 7236876 h 552"/>
                <a:gd name="T48" fmla="*/ 7426131 w 475"/>
                <a:gd name="T49" fmla="*/ 7236876 h 552"/>
                <a:gd name="T50" fmla="*/ 7426131 w 475"/>
                <a:gd name="T51" fmla="*/ 3618618 h 552"/>
                <a:gd name="T52" fmla="*/ 11074226 w 475"/>
                <a:gd name="T53" fmla="*/ 0 h 552"/>
                <a:gd name="T54" fmla="*/ 50680259 w 475"/>
                <a:gd name="T55" fmla="*/ 0 h 552"/>
                <a:gd name="T56" fmla="*/ 50680259 w 475"/>
                <a:gd name="T57" fmla="*/ 71207247 h 552"/>
                <a:gd name="T58" fmla="*/ 11074226 w 475"/>
                <a:gd name="T59" fmla="*/ 71207247 h 552"/>
                <a:gd name="T60" fmla="*/ 7426131 w 475"/>
                <a:gd name="T61" fmla="*/ 67588630 h 552"/>
                <a:gd name="T62" fmla="*/ 17588243 w 475"/>
                <a:gd name="T63" fmla="*/ 14603167 h 552"/>
                <a:gd name="T64" fmla="*/ 17588243 w 475"/>
                <a:gd name="T65" fmla="*/ 14603167 h 552"/>
                <a:gd name="T66" fmla="*/ 13809846 w 475"/>
                <a:gd name="T67" fmla="*/ 18221785 h 552"/>
                <a:gd name="T68" fmla="*/ 3778036 w 475"/>
                <a:gd name="T69" fmla="*/ 18221785 h 552"/>
                <a:gd name="T70" fmla="*/ 0 w 475"/>
                <a:gd name="T71" fmla="*/ 14603167 h 552"/>
                <a:gd name="T72" fmla="*/ 3778036 w 475"/>
                <a:gd name="T73" fmla="*/ 10984909 h 552"/>
                <a:gd name="T74" fmla="*/ 13809846 w 475"/>
                <a:gd name="T75" fmla="*/ 10984909 h 552"/>
                <a:gd name="T76" fmla="*/ 17588243 w 475"/>
                <a:gd name="T77" fmla="*/ 14603167 h 552"/>
                <a:gd name="T78" fmla="*/ 3778036 w 475"/>
                <a:gd name="T79" fmla="*/ 31920478 h 552"/>
                <a:gd name="T80" fmla="*/ 3778036 w 475"/>
                <a:gd name="T81" fmla="*/ 31920478 h 552"/>
                <a:gd name="T82" fmla="*/ 13809846 w 475"/>
                <a:gd name="T83" fmla="*/ 31920478 h 552"/>
                <a:gd name="T84" fmla="*/ 17588243 w 475"/>
                <a:gd name="T85" fmla="*/ 35539095 h 552"/>
                <a:gd name="T86" fmla="*/ 13809846 w 475"/>
                <a:gd name="T87" fmla="*/ 39286770 h 552"/>
                <a:gd name="T88" fmla="*/ 3778036 w 475"/>
                <a:gd name="T89" fmla="*/ 39286770 h 552"/>
                <a:gd name="T90" fmla="*/ 0 w 475"/>
                <a:gd name="T91" fmla="*/ 35539095 h 552"/>
                <a:gd name="T92" fmla="*/ 3778036 w 475"/>
                <a:gd name="T93" fmla="*/ 31920478 h 552"/>
                <a:gd name="T94" fmla="*/ 3778036 w 475"/>
                <a:gd name="T95" fmla="*/ 52985462 h 552"/>
                <a:gd name="T96" fmla="*/ 3778036 w 475"/>
                <a:gd name="T97" fmla="*/ 52985462 h 552"/>
                <a:gd name="T98" fmla="*/ 13809846 w 475"/>
                <a:gd name="T99" fmla="*/ 52985462 h 552"/>
                <a:gd name="T100" fmla="*/ 17588243 w 475"/>
                <a:gd name="T101" fmla="*/ 56603721 h 552"/>
                <a:gd name="T102" fmla="*/ 13809846 w 475"/>
                <a:gd name="T103" fmla="*/ 60222338 h 552"/>
                <a:gd name="T104" fmla="*/ 3778036 w 475"/>
                <a:gd name="T105" fmla="*/ 60222338 h 552"/>
                <a:gd name="T106" fmla="*/ 0 w 475"/>
                <a:gd name="T107" fmla="*/ 56603721 h 552"/>
                <a:gd name="T108" fmla="*/ 3778036 w 475"/>
                <a:gd name="T109" fmla="*/ 52985462 h 552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</a:gdLst>
              <a:ahLst/>
              <a:cxnLst>
                <a:cxn ang="T110">
                  <a:pos x="T0" y="T1"/>
                </a:cxn>
                <a:cxn ang="T111">
                  <a:pos x="T2" y="T3"/>
                </a:cxn>
                <a:cxn ang="T112">
                  <a:pos x="T4" y="T5"/>
                </a:cxn>
                <a:cxn ang="T113">
                  <a:pos x="T6" y="T7"/>
                </a:cxn>
                <a:cxn ang="T114">
                  <a:pos x="T8" y="T9"/>
                </a:cxn>
                <a:cxn ang="T115">
                  <a:pos x="T10" y="T11"/>
                </a:cxn>
                <a:cxn ang="T116">
                  <a:pos x="T12" y="T13"/>
                </a:cxn>
                <a:cxn ang="T117">
                  <a:pos x="T14" y="T15"/>
                </a:cxn>
                <a:cxn ang="T118">
                  <a:pos x="T16" y="T17"/>
                </a:cxn>
                <a:cxn ang="T119">
                  <a:pos x="T18" y="T19"/>
                </a:cxn>
                <a:cxn ang="T120">
                  <a:pos x="T20" y="T21"/>
                </a:cxn>
                <a:cxn ang="T121">
                  <a:pos x="T22" y="T23"/>
                </a:cxn>
                <a:cxn ang="T122">
                  <a:pos x="T24" y="T25"/>
                </a:cxn>
                <a:cxn ang="T123">
                  <a:pos x="T26" y="T27"/>
                </a:cxn>
                <a:cxn ang="T124">
                  <a:pos x="T28" y="T29"/>
                </a:cxn>
                <a:cxn ang="T125">
                  <a:pos x="T30" y="T31"/>
                </a:cxn>
                <a:cxn ang="T126">
                  <a:pos x="T32" y="T33"/>
                </a:cxn>
                <a:cxn ang="T127">
                  <a:pos x="T34" y="T35"/>
                </a:cxn>
                <a:cxn ang="T128">
                  <a:pos x="T36" y="T37"/>
                </a:cxn>
                <a:cxn ang="T129">
                  <a:pos x="T38" y="T39"/>
                </a:cxn>
                <a:cxn ang="T130">
                  <a:pos x="T40" y="T41"/>
                </a:cxn>
                <a:cxn ang="T131">
                  <a:pos x="T42" y="T43"/>
                </a:cxn>
                <a:cxn ang="T132">
                  <a:pos x="T44" y="T45"/>
                </a:cxn>
                <a:cxn ang="T133">
                  <a:pos x="T46" y="T47"/>
                </a:cxn>
                <a:cxn ang="T134">
                  <a:pos x="T48" y="T49"/>
                </a:cxn>
                <a:cxn ang="T135">
                  <a:pos x="T50" y="T51"/>
                </a:cxn>
                <a:cxn ang="T136">
                  <a:pos x="T52" y="T53"/>
                </a:cxn>
                <a:cxn ang="T137">
                  <a:pos x="T54" y="T55"/>
                </a:cxn>
                <a:cxn ang="T138">
                  <a:pos x="T56" y="T57"/>
                </a:cxn>
                <a:cxn ang="T139">
                  <a:pos x="T58" y="T59"/>
                </a:cxn>
                <a:cxn ang="T140">
                  <a:pos x="T60" y="T61"/>
                </a:cxn>
                <a:cxn ang="T141">
                  <a:pos x="T62" y="T63"/>
                </a:cxn>
                <a:cxn ang="T142">
                  <a:pos x="T64" y="T65"/>
                </a:cxn>
                <a:cxn ang="T143">
                  <a:pos x="T66" y="T67"/>
                </a:cxn>
                <a:cxn ang="T144">
                  <a:pos x="T68" y="T69"/>
                </a:cxn>
                <a:cxn ang="T145">
                  <a:pos x="T70" y="T71"/>
                </a:cxn>
                <a:cxn ang="T146">
                  <a:pos x="T72" y="T73"/>
                </a:cxn>
                <a:cxn ang="T147">
                  <a:pos x="T74" y="T75"/>
                </a:cxn>
                <a:cxn ang="T148">
                  <a:pos x="T76" y="T77"/>
                </a:cxn>
                <a:cxn ang="T149">
                  <a:pos x="T78" y="T79"/>
                </a:cxn>
                <a:cxn ang="T150">
                  <a:pos x="T80" y="T81"/>
                </a:cxn>
                <a:cxn ang="T151">
                  <a:pos x="T82" y="T83"/>
                </a:cxn>
                <a:cxn ang="T152">
                  <a:pos x="T84" y="T85"/>
                </a:cxn>
                <a:cxn ang="T153">
                  <a:pos x="T86" y="T87"/>
                </a:cxn>
                <a:cxn ang="T154">
                  <a:pos x="T88" y="T89"/>
                </a:cxn>
                <a:cxn ang="T155">
                  <a:pos x="T90" y="T91"/>
                </a:cxn>
                <a:cxn ang="T156">
                  <a:pos x="T92" y="T93"/>
                </a:cxn>
                <a:cxn ang="T157">
                  <a:pos x="T94" y="T95"/>
                </a:cxn>
                <a:cxn ang="T158">
                  <a:pos x="T96" y="T97"/>
                </a:cxn>
                <a:cxn ang="T159">
                  <a:pos x="T98" y="T99"/>
                </a:cxn>
                <a:cxn ang="T160">
                  <a:pos x="T100" y="T101"/>
                </a:cxn>
                <a:cxn ang="T161">
                  <a:pos x="T102" y="T103"/>
                </a:cxn>
                <a:cxn ang="T162">
                  <a:pos x="T104" y="T105"/>
                </a:cxn>
                <a:cxn ang="T163">
                  <a:pos x="T106" y="T107"/>
                </a:cxn>
                <a:cxn ang="T164">
                  <a:pos x="T108" y="T109"/>
                </a:cxn>
              </a:cxnLst>
              <a:rect l="0" t="0" r="r" b="b"/>
              <a:pathLst>
                <a:path w="475" h="552">
                  <a:moveTo>
                    <a:pt x="446" y="551"/>
                  </a:moveTo>
                  <a:lnTo>
                    <a:pt x="446" y="551"/>
                  </a:lnTo>
                  <a:cubicBezTo>
                    <a:pt x="417" y="551"/>
                    <a:pt x="417" y="551"/>
                    <a:pt x="417" y="551"/>
                  </a:cubicBezTo>
                  <a:cubicBezTo>
                    <a:pt x="417" y="0"/>
                    <a:pt x="417" y="0"/>
                    <a:pt x="417" y="0"/>
                  </a:cubicBezTo>
                  <a:cubicBezTo>
                    <a:pt x="446" y="0"/>
                    <a:pt x="446" y="0"/>
                    <a:pt x="446" y="0"/>
                  </a:cubicBezTo>
                  <a:cubicBezTo>
                    <a:pt x="460" y="0"/>
                    <a:pt x="474" y="14"/>
                    <a:pt x="474" y="28"/>
                  </a:cubicBezTo>
                  <a:cubicBezTo>
                    <a:pt x="474" y="523"/>
                    <a:pt x="474" y="523"/>
                    <a:pt x="474" y="523"/>
                  </a:cubicBezTo>
                  <a:cubicBezTo>
                    <a:pt x="474" y="537"/>
                    <a:pt x="460" y="551"/>
                    <a:pt x="446" y="551"/>
                  </a:cubicBezTo>
                  <a:close/>
                  <a:moveTo>
                    <a:pt x="57" y="523"/>
                  </a:moveTo>
                  <a:lnTo>
                    <a:pt x="57" y="523"/>
                  </a:lnTo>
                  <a:cubicBezTo>
                    <a:pt x="57" y="495"/>
                    <a:pt x="57" y="495"/>
                    <a:pt x="57" y="495"/>
                  </a:cubicBezTo>
                  <a:cubicBezTo>
                    <a:pt x="106" y="495"/>
                    <a:pt x="106" y="495"/>
                    <a:pt x="106" y="495"/>
                  </a:cubicBezTo>
                  <a:cubicBezTo>
                    <a:pt x="135" y="495"/>
                    <a:pt x="163" y="466"/>
                    <a:pt x="163" y="438"/>
                  </a:cubicBezTo>
                  <a:cubicBezTo>
                    <a:pt x="163" y="403"/>
                    <a:pt x="135" y="381"/>
                    <a:pt x="106" y="381"/>
                  </a:cubicBezTo>
                  <a:cubicBezTo>
                    <a:pt x="57" y="381"/>
                    <a:pt x="57" y="381"/>
                    <a:pt x="57" y="381"/>
                  </a:cubicBezTo>
                  <a:cubicBezTo>
                    <a:pt x="57" y="332"/>
                    <a:pt x="57" y="332"/>
                    <a:pt x="57" y="332"/>
                  </a:cubicBezTo>
                  <a:cubicBezTo>
                    <a:pt x="106" y="332"/>
                    <a:pt x="106" y="332"/>
                    <a:pt x="106" y="332"/>
                  </a:cubicBezTo>
                  <a:cubicBezTo>
                    <a:pt x="135" y="332"/>
                    <a:pt x="163" y="304"/>
                    <a:pt x="163" y="275"/>
                  </a:cubicBezTo>
                  <a:cubicBezTo>
                    <a:pt x="163" y="247"/>
                    <a:pt x="135" y="219"/>
                    <a:pt x="106" y="219"/>
                  </a:cubicBezTo>
                  <a:cubicBezTo>
                    <a:pt x="57" y="219"/>
                    <a:pt x="57" y="219"/>
                    <a:pt x="57" y="219"/>
                  </a:cubicBezTo>
                  <a:cubicBezTo>
                    <a:pt x="57" y="169"/>
                    <a:pt x="57" y="169"/>
                    <a:pt x="57" y="169"/>
                  </a:cubicBezTo>
                  <a:cubicBezTo>
                    <a:pt x="106" y="169"/>
                    <a:pt x="106" y="169"/>
                    <a:pt x="106" y="169"/>
                  </a:cubicBezTo>
                  <a:cubicBezTo>
                    <a:pt x="135" y="169"/>
                    <a:pt x="163" y="148"/>
                    <a:pt x="163" y="113"/>
                  </a:cubicBezTo>
                  <a:cubicBezTo>
                    <a:pt x="163" y="85"/>
                    <a:pt x="135" y="56"/>
                    <a:pt x="106" y="56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57" y="28"/>
                    <a:pt x="57" y="28"/>
                    <a:pt x="57" y="28"/>
                  </a:cubicBezTo>
                  <a:cubicBezTo>
                    <a:pt x="57" y="14"/>
                    <a:pt x="71" y="0"/>
                    <a:pt x="85" y="0"/>
                  </a:cubicBezTo>
                  <a:cubicBezTo>
                    <a:pt x="389" y="0"/>
                    <a:pt x="389" y="0"/>
                    <a:pt x="389" y="0"/>
                  </a:cubicBezTo>
                  <a:cubicBezTo>
                    <a:pt x="389" y="551"/>
                    <a:pt x="389" y="551"/>
                    <a:pt x="389" y="551"/>
                  </a:cubicBezTo>
                  <a:cubicBezTo>
                    <a:pt x="85" y="551"/>
                    <a:pt x="85" y="551"/>
                    <a:pt x="85" y="551"/>
                  </a:cubicBezTo>
                  <a:cubicBezTo>
                    <a:pt x="71" y="551"/>
                    <a:pt x="57" y="537"/>
                    <a:pt x="57" y="523"/>
                  </a:cubicBezTo>
                  <a:close/>
                  <a:moveTo>
                    <a:pt x="135" y="113"/>
                  </a:moveTo>
                  <a:lnTo>
                    <a:pt x="135" y="113"/>
                  </a:lnTo>
                  <a:cubicBezTo>
                    <a:pt x="135" y="134"/>
                    <a:pt x="120" y="141"/>
                    <a:pt x="106" y="141"/>
                  </a:cubicBezTo>
                  <a:cubicBezTo>
                    <a:pt x="29" y="141"/>
                    <a:pt x="29" y="141"/>
                    <a:pt x="29" y="141"/>
                  </a:cubicBezTo>
                  <a:cubicBezTo>
                    <a:pt x="15" y="141"/>
                    <a:pt x="0" y="134"/>
                    <a:pt x="0" y="113"/>
                  </a:cubicBezTo>
                  <a:cubicBezTo>
                    <a:pt x="0" y="99"/>
                    <a:pt x="15" y="85"/>
                    <a:pt x="29" y="85"/>
                  </a:cubicBezTo>
                  <a:cubicBezTo>
                    <a:pt x="106" y="85"/>
                    <a:pt x="106" y="85"/>
                    <a:pt x="106" y="85"/>
                  </a:cubicBezTo>
                  <a:cubicBezTo>
                    <a:pt x="120" y="85"/>
                    <a:pt x="135" y="99"/>
                    <a:pt x="135" y="113"/>
                  </a:cubicBezTo>
                  <a:close/>
                  <a:moveTo>
                    <a:pt x="29" y="247"/>
                  </a:moveTo>
                  <a:lnTo>
                    <a:pt x="29" y="247"/>
                  </a:lnTo>
                  <a:cubicBezTo>
                    <a:pt x="106" y="247"/>
                    <a:pt x="106" y="247"/>
                    <a:pt x="106" y="247"/>
                  </a:cubicBezTo>
                  <a:cubicBezTo>
                    <a:pt x="120" y="247"/>
                    <a:pt x="135" y="261"/>
                    <a:pt x="135" y="275"/>
                  </a:cubicBezTo>
                  <a:cubicBezTo>
                    <a:pt x="135" y="290"/>
                    <a:pt x="120" y="304"/>
                    <a:pt x="106" y="304"/>
                  </a:cubicBezTo>
                  <a:cubicBezTo>
                    <a:pt x="29" y="304"/>
                    <a:pt x="29" y="304"/>
                    <a:pt x="29" y="304"/>
                  </a:cubicBezTo>
                  <a:cubicBezTo>
                    <a:pt x="15" y="304"/>
                    <a:pt x="0" y="290"/>
                    <a:pt x="0" y="275"/>
                  </a:cubicBezTo>
                  <a:cubicBezTo>
                    <a:pt x="0" y="261"/>
                    <a:pt x="15" y="247"/>
                    <a:pt x="29" y="247"/>
                  </a:cubicBezTo>
                  <a:close/>
                  <a:moveTo>
                    <a:pt x="29" y="410"/>
                  </a:moveTo>
                  <a:lnTo>
                    <a:pt x="29" y="410"/>
                  </a:lnTo>
                  <a:cubicBezTo>
                    <a:pt x="106" y="410"/>
                    <a:pt x="106" y="410"/>
                    <a:pt x="106" y="410"/>
                  </a:cubicBezTo>
                  <a:cubicBezTo>
                    <a:pt x="120" y="410"/>
                    <a:pt x="135" y="417"/>
                    <a:pt x="135" y="438"/>
                  </a:cubicBezTo>
                  <a:cubicBezTo>
                    <a:pt x="135" y="452"/>
                    <a:pt x="120" y="466"/>
                    <a:pt x="106" y="466"/>
                  </a:cubicBezTo>
                  <a:cubicBezTo>
                    <a:pt x="29" y="466"/>
                    <a:pt x="29" y="466"/>
                    <a:pt x="29" y="466"/>
                  </a:cubicBezTo>
                  <a:cubicBezTo>
                    <a:pt x="15" y="466"/>
                    <a:pt x="0" y="452"/>
                    <a:pt x="0" y="438"/>
                  </a:cubicBezTo>
                  <a:cubicBezTo>
                    <a:pt x="0" y="417"/>
                    <a:pt x="15" y="410"/>
                    <a:pt x="29" y="41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18" name="组合 17"/>
          <p:cNvGrpSpPr/>
          <p:nvPr userDrawn="1"/>
        </p:nvGrpSpPr>
        <p:grpSpPr>
          <a:xfrm>
            <a:off x="7151187" y="654595"/>
            <a:ext cx="577036" cy="577246"/>
            <a:chOff x="3491880" y="1274820"/>
            <a:chExt cx="432833" cy="432834"/>
          </a:xfrm>
        </p:grpSpPr>
        <p:sp>
          <p:nvSpPr>
            <p:cNvPr id="19" name="椭圆 16"/>
            <p:cNvSpPr>
              <a:spLocks noChangeArrowheads="1"/>
            </p:cNvSpPr>
            <p:nvPr/>
          </p:nvSpPr>
          <p:spPr bwMode="auto">
            <a:xfrm>
              <a:off x="3491880" y="1274820"/>
              <a:ext cx="432833" cy="432834"/>
            </a:xfrm>
            <a:prstGeom prst="ellipse">
              <a:avLst/>
            </a:prstGeom>
            <a:solidFill>
              <a:srgbClr val="1369B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0" name="Freeform 75"/>
            <p:cNvSpPr>
              <a:spLocks noChangeArrowheads="1"/>
            </p:cNvSpPr>
            <p:nvPr/>
          </p:nvSpPr>
          <p:spPr bwMode="auto">
            <a:xfrm>
              <a:off x="3583864" y="1385879"/>
              <a:ext cx="248863" cy="210716"/>
            </a:xfrm>
            <a:custGeom>
              <a:avLst/>
              <a:gdLst>
                <a:gd name="T0" fmla="*/ 74657633 w 602"/>
                <a:gd name="T1" fmla="*/ 66362244 h 510"/>
                <a:gd name="T2" fmla="*/ 74657633 w 602"/>
                <a:gd name="T3" fmla="*/ 66362244 h 510"/>
                <a:gd name="T4" fmla="*/ 3654665 w 602"/>
                <a:gd name="T5" fmla="*/ 66362244 h 510"/>
                <a:gd name="T6" fmla="*/ 0 w 602"/>
                <a:gd name="T7" fmla="*/ 62711741 h 510"/>
                <a:gd name="T8" fmla="*/ 0 w 602"/>
                <a:gd name="T9" fmla="*/ 3650503 h 510"/>
                <a:gd name="T10" fmla="*/ 3654665 w 602"/>
                <a:gd name="T11" fmla="*/ 0 h 510"/>
                <a:gd name="T12" fmla="*/ 7308970 w 602"/>
                <a:gd name="T13" fmla="*/ 3650503 h 510"/>
                <a:gd name="T14" fmla="*/ 7308970 w 602"/>
                <a:gd name="T15" fmla="*/ 50717076 h 510"/>
                <a:gd name="T16" fmla="*/ 7308970 w 602"/>
                <a:gd name="T17" fmla="*/ 50717076 h 510"/>
                <a:gd name="T18" fmla="*/ 7308970 w 602"/>
                <a:gd name="T19" fmla="*/ 58930528 h 510"/>
                <a:gd name="T20" fmla="*/ 74657633 w 602"/>
                <a:gd name="T21" fmla="*/ 58930528 h 510"/>
                <a:gd name="T22" fmla="*/ 78442719 w 602"/>
                <a:gd name="T23" fmla="*/ 62711741 h 510"/>
                <a:gd name="T24" fmla="*/ 74657633 w 602"/>
                <a:gd name="T25" fmla="*/ 66362244 h 510"/>
                <a:gd name="T26" fmla="*/ 66434636 w 602"/>
                <a:gd name="T27" fmla="*/ 55280025 h 510"/>
                <a:gd name="T28" fmla="*/ 66434636 w 602"/>
                <a:gd name="T29" fmla="*/ 55280025 h 510"/>
                <a:gd name="T30" fmla="*/ 58995246 w 602"/>
                <a:gd name="T31" fmla="*/ 55280025 h 510"/>
                <a:gd name="T32" fmla="*/ 55340580 w 602"/>
                <a:gd name="T33" fmla="*/ 51629522 h 510"/>
                <a:gd name="T34" fmla="*/ 55340580 w 602"/>
                <a:gd name="T35" fmla="*/ 25814941 h 510"/>
                <a:gd name="T36" fmla="*/ 58995246 w 602"/>
                <a:gd name="T37" fmla="*/ 22164077 h 510"/>
                <a:gd name="T38" fmla="*/ 66434636 w 602"/>
                <a:gd name="T39" fmla="*/ 22164077 h 510"/>
                <a:gd name="T40" fmla="*/ 70089301 w 602"/>
                <a:gd name="T41" fmla="*/ 25814941 h 510"/>
                <a:gd name="T42" fmla="*/ 70089301 w 602"/>
                <a:gd name="T43" fmla="*/ 51629522 h 510"/>
                <a:gd name="T44" fmla="*/ 66434636 w 602"/>
                <a:gd name="T45" fmla="*/ 55280025 h 510"/>
                <a:gd name="T46" fmla="*/ 45159830 w 602"/>
                <a:gd name="T47" fmla="*/ 55280025 h 510"/>
                <a:gd name="T48" fmla="*/ 45159830 w 602"/>
                <a:gd name="T49" fmla="*/ 55280025 h 510"/>
                <a:gd name="T50" fmla="*/ 37850860 w 602"/>
                <a:gd name="T51" fmla="*/ 55280025 h 510"/>
                <a:gd name="T52" fmla="*/ 34065774 w 602"/>
                <a:gd name="T53" fmla="*/ 51629522 h 510"/>
                <a:gd name="T54" fmla="*/ 34065774 w 602"/>
                <a:gd name="T55" fmla="*/ 11082219 h 510"/>
                <a:gd name="T56" fmla="*/ 37850860 w 602"/>
                <a:gd name="T57" fmla="*/ 7431355 h 510"/>
                <a:gd name="T58" fmla="*/ 45159830 w 602"/>
                <a:gd name="T59" fmla="*/ 7431355 h 510"/>
                <a:gd name="T60" fmla="*/ 48814495 w 602"/>
                <a:gd name="T61" fmla="*/ 11082219 h 510"/>
                <a:gd name="T62" fmla="*/ 48814495 w 602"/>
                <a:gd name="T63" fmla="*/ 51629522 h 510"/>
                <a:gd name="T64" fmla="*/ 45159830 w 602"/>
                <a:gd name="T65" fmla="*/ 55280025 h 510"/>
                <a:gd name="T66" fmla="*/ 24929472 w 602"/>
                <a:gd name="T67" fmla="*/ 55280025 h 510"/>
                <a:gd name="T68" fmla="*/ 24929472 w 602"/>
                <a:gd name="T69" fmla="*/ 55280025 h 510"/>
                <a:gd name="T70" fmla="*/ 17489720 w 602"/>
                <a:gd name="T71" fmla="*/ 55280025 h 510"/>
                <a:gd name="T72" fmla="*/ 13835055 w 602"/>
                <a:gd name="T73" fmla="*/ 51629522 h 510"/>
                <a:gd name="T74" fmla="*/ 13835055 w 602"/>
                <a:gd name="T75" fmla="*/ 44198166 h 510"/>
                <a:gd name="T76" fmla="*/ 17489720 w 602"/>
                <a:gd name="T77" fmla="*/ 40547302 h 510"/>
                <a:gd name="T78" fmla="*/ 24929472 w 602"/>
                <a:gd name="T79" fmla="*/ 40547302 h 510"/>
                <a:gd name="T80" fmla="*/ 28583776 w 602"/>
                <a:gd name="T81" fmla="*/ 44198166 h 510"/>
                <a:gd name="T82" fmla="*/ 28583776 w 602"/>
                <a:gd name="T83" fmla="*/ 51629522 h 510"/>
                <a:gd name="T84" fmla="*/ 24929472 w 602"/>
                <a:gd name="T85" fmla="*/ 55280025 h 51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602" h="510">
                  <a:moveTo>
                    <a:pt x="572" y="509"/>
                  </a:moveTo>
                  <a:lnTo>
                    <a:pt x="572" y="509"/>
                  </a:lnTo>
                  <a:cubicBezTo>
                    <a:pt x="28" y="509"/>
                    <a:pt x="28" y="509"/>
                    <a:pt x="28" y="509"/>
                  </a:cubicBezTo>
                  <a:cubicBezTo>
                    <a:pt x="14" y="509"/>
                    <a:pt x="0" y="502"/>
                    <a:pt x="0" y="481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14"/>
                    <a:pt x="14" y="0"/>
                    <a:pt x="28" y="0"/>
                  </a:cubicBezTo>
                  <a:cubicBezTo>
                    <a:pt x="42" y="0"/>
                    <a:pt x="56" y="14"/>
                    <a:pt x="56" y="28"/>
                  </a:cubicBezTo>
                  <a:cubicBezTo>
                    <a:pt x="56" y="389"/>
                    <a:pt x="56" y="389"/>
                    <a:pt x="56" y="389"/>
                  </a:cubicBezTo>
                  <a:cubicBezTo>
                    <a:pt x="56" y="452"/>
                    <a:pt x="56" y="452"/>
                    <a:pt x="56" y="452"/>
                  </a:cubicBezTo>
                  <a:cubicBezTo>
                    <a:pt x="572" y="452"/>
                    <a:pt x="572" y="452"/>
                    <a:pt x="572" y="452"/>
                  </a:cubicBezTo>
                  <a:cubicBezTo>
                    <a:pt x="594" y="452"/>
                    <a:pt x="601" y="467"/>
                    <a:pt x="601" y="481"/>
                  </a:cubicBezTo>
                  <a:cubicBezTo>
                    <a:pt x="601" y="502"/>
                    <a:pt x="594" y="509"/>
                    <a:pt x="572" y="509"/>
                  </a:cubicBezTo>
                  <a:close/>
                  <a:moveTo>
                    <a:pt x="509" y="424"/>
                  </a:moveTo>
                  <a:lnTo>
                    <a:pt x="509" y="424"/>
                  </a:lnTo>
                  <a:cubicBezTo>
                    <a:pt x="452" y="424"/>
                    <a:pt x="452" y="424"/>
                    <a:pt x="452" y="424"/>
                  </a:cubicBezTo>
                  <a:cubicBezTo>
                    <a:pt x="438" y="424"/>
                    <a:pt x="424" y="417"/>
                    <a:pt x="424" y="396"/>
                  </a:cubicBezTo>
                  <a:cubicBezTo>
                    <a:pt x="424" y="198"/>
                    <a:pt x="424" y="198"/>
                    <a:pt x="424" y="198"/>
                  </a:cubicBezTo>
                  <a:cubicBezTo>
                    <a:pt x="424" y="184"/>
                    <a:pt x="438" y="170"/>
                    <a:pt x="452" y="170"/>
                  </a:cubicBezTo>
                  <a:cubicBezTo>
                    <a:pt x="509" y="170"/>
                    <a:pt x="509" y="170"/>
                    <a:pt x="509" y="170"/>
                  </a:cubicBezTo>
                  <a:cubicBezTo>
                    <a:pt x="523" y="170"/>
                    <a:pt x="537" y="184"/>
                    <a:pt x="537" y="198"/>
                  </a:cubicBezTo>
                  <a:cubicBezTo>
                    <a:pt x="537" y="396"/>
                    <a:pt x="537" y="396"/>
                    <a:pt x="537" y="396"/>
                  </a:cubicBezTo>
                  <a:cubicBezTo>
                    <a:pt x="537" y="417"/>
                    <a:pt x="523" y="424"/>
                    <a:pt x="509" y="424"/>
                  </a:cubicBezTo>
                  <a:close/>
                  <a:moveTo>
                    <a:pt x="346" y="424"/>
                  </a:moveTo>
                  <a:lnTo>
                    <a:pt x="346" y="424"/>
                  </a:lnTo>
                  <a:cubicBezTo>
                    <a:pt x="290" y="424"/>
                    <a:pt x="290" y="424"/>
                    <a:pt x="290" y="424"/>
                  </a:cubicBezTo>
                  <a:cubicBezTo>
                    <a:pt x="276" y="424"/>
                    <a:pt x="261" y="417"/>
                    <a:pt x="261" y="396"/>
                  </a:cubicBezTo>
                  <a:cubicBezTo>
                    <a:pt x="261" y="85"/>
                    <a:pt x="261" y="85"/>
                    <a:pt x="261" y="85"/>
                  </a:cubicBezTo>
                  <a:cubicBezTo>
                    <a:pt x="261" y="71"/>
                    <a:pt x="276" y="57"/>
                    <a:pt x="290" y="57"/>
                  </a:cubicBezTo>
                  <a:cubicBezTo>
                    <a:pt x="346" y="57"/>
                    <a:pt x="346" y="57"/>
                    <a:pt x="346" y="57"/>
                  </a:cubicBezTo>
                  <a:cubicBezTo>
                    <a:pt x="367" y="57"/>
                    <a:pt x="374" y="71"/>
                    <a:pt x="374" y="85"/>
                  </a:cubicBezTo>
                  <a:cubicBezTo>
                    <a:pt x="374" y="396"/>
                    <a:pt x="374" y="396"/>
                    <a:pt x="374" y="396"/>
                  </a:cubicBezTo>
                  <a:cubicBezTo>
                    <a:pt x="374" y="417"/>
                    <a:pt x="367" y="424"/>
                    <a:pt x="346" y="424"/>
                  </a:cubicBezTo>
                  <a:close/>
                  <a:moveTo>
                    <a:pt x="191" y="424"/>
                  </a:moveTo>
                  <a:lnTo>
                    <a:pt x="191" y="424"/>
                  </a:lnTo>
                  <a:cubicBezTo>
                    <a:pt x="134" y="424"/>
                    <a:pt x="134" y="424"/>
                    <a:pt x="134" y="424"/>
                  </a:cubicBezTo>
                  <a:cubicBezTo>
                    <a:pt x="113" y="424"/>
                    <a:pt x="106" y="417"/>
                    <a:pt x="106" y="396"/>
                  </a:cubicBezTo>
                  <a:cubicBezTo>
                    <a:pt x="106" y="339"/>
                    <a:pt x="106" y="339"/>
                    <a:pt x="106" y="339"/>
                  </a:cubicBezTo>
                  <a:cubicBezTo>
                    <a:pt x="106" y="325"/>
                    <a:pt x="113" y="311"/>
                    <a:pt x="134" y="311"/>
                  </a:cubicBezTo>
                  <a:cubicBezTo>
                    <a:pt x="191" y="311"/>
                    <a:pt x="191" y="311"/>
                    <a:pt x="191" y="311"/>
                  </a:cubicBezTo>
                  <a:cubicBezTo>
                    <a:pt x="205" y="311"/>
                    <a:pt x="219" y="325"/>
                    <a:pt x="219" y="339"/>
                  </a:cubicBezTo>
                  <a:cubicBezTo>
                    <a:pt x="219" y="396"/>
                    <a:pt x="219" y="396"/>
                    <a:pt x="219" y="396"/>
                  </a:cubicBezTo>
                  <a:cubicBezTo>
                    <a:pt x="219" y="417"/>
                    <a:pt x="205" y="424"/>
                    <a:pt x="191" y="4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  <p:grpSp>
        <p:nvGrpSpPr>
          <p:cNvPr id="21" name="组合 20"/>
          <p:cNvGrpSpPr/>
          <p:nvPr userDrawn="1"/>
        </p:nvGrpSpPr>
        <p:grpSpPr>
          <a:xfrm>
            <a:off x="8015170" y="654595"/>
            <a:ext cx="577036" cy="577246"/>
            <a:chOff x="4139952" y="1274820"/>
            <a:chExt cx="432833" cy="432834"/>
          </a:xfrm>
        </p:grpSpPr>
        <p:sp>
          <p:nvSpPr>
            <p:cNvPr id="22" name="椭圆 16"/>
            <p:cNvSpPr>
              <a:spLocks noChangeArrowheads="1"/>
            </p:cNvSpPr>
            <p:nvPr/>
          </p:nvSpPr>
          <p:spPr bwMode="auto">
            <a:xfrm>
              <a:off x="4139952" y="1274820"/>
              <a:ext cx="432833" cy="432834"/>
            </a:xfrm>
            <a:prstGeom prst="ellipse">
              <a:avLst/>
            </a:prstGeom>
            <a:solidFill>
              <a:srgbClr val="3992DB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>
                <a:solidFill>
                  <a:srgbClr val="FFFFFF"/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3" name="Freeform 84"/>
            <p:cNvSpPr>
              <a:spLocks noChangeArrowheads="1"/>
            </p:cNvSpPr>
            <p:nvPr/>
          </p:nvSpPr>
          <p:spPr bwMode="auto">
            <a:xfrm>
              <a:off x="4241546" y="1366806"/>
              <a:ext cx="248863" cy="248863"/>
            </a:xfrm>
            <a:custGeom>
              <a:avLst/>
              <a:gdLst>
                <a:gd name="T0" fmla="*/ 43332858 w 602"/>
                <a:gd name="T1" fmla="*/ 34979440 h 602"/>
                <a:gd name="T2" fmla="*/ 43332858 w 602"/>
                <a:gd name="T3" fmla="*/ 34979440 h 602"/>
                <a:gd name="T4" fmla="*/ 43332858 w 602"/>
                <a:gd name="T5" fmla="*/ 0 h 602"/>
                <a:gd name="T6" fmla="*/ 78442719 w 602"/>
                <a:gd name="T7" fmla="*/ 34979440 h 602"/>
                <a:gd name="T8" fmla="*/ 43332858 w 602"/>
                <a:gd name="T9" fmla="*/ 34979440 h 602"/>
                <a:gd name="T10" fmla="*/ 36023527 w 602"/>
                <a:gd name="T11" fmla="*/ 78442719 h 602"/>
                <a:gd name="T12" fmla="*/ 36023527 w 602"/>
                <a:gd name="T13" fmla="*/ 78442719 h 602"/>
                <a:gd name="T14" fmla="*/ 0 w 602"/>
                <a:gd name="T15" fmla="*/ 42419192 h 602"/>
                <a:gd name="T16" fmla="*/ 36023527 w 602"/>
                <a:gd name="T17" fmla="*/ 7308970 h 602"/>
                <a:gd name="T18" fmla="*/ 36023527 w 602"/>
                <a:gd name="T19" fmla="*/ 42419192 h 602"/>
                <a:gd name="T20" fmla="*/ 71002968 w 602"/>
                <a:gd name="T21" fmla="*/ 42419192 h 602"/>
                <a:gd name="T22" fmla="*/ 36023527 w 602"/>
                <a:gd name="T23" fmla="*/ 78442719 h 60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02" h="602">
                  <a:moveTo>
                    <a:pt x="332" y="268"/>
                  </a:moveTo>
                  <a:lnTo>
                    <a:pt x="332" y="268"/>
                  </a:lnTo>
                  <a:cubicBezTo>
                    <a:pt x="332" y="0"/>
                    <a:pt x="332" y="0"/>
                    <a:pt x="332" y="0"/>
                  </a:cubicBezTo>
                  <a:cubicBezTo>
                    <a:pt x="481" y="0"/>
                    <a:pt x="601" y="120"/>
                    <a:pt x="601" y="268"/>
                  </a:cubicBezTo>
                  <a:lnTo>
                    <a:pt x="332" y="268"/>
                  </a:lnTo>
                  <a:close/>
                  <a:moveTo>
                    <a:pt x="276" y="601"/>
                  </a:moveTo>
                  <a:lnTo>
                    <a:pt x="276" y="601"/>
                  </a:lnTo>
                  <a:cubicBezTo>
                    <a:pt x="120" y="601"/>
                    <a:pt x="0" y="480"/>
                    <a:pt x="0" y="325"/>
                  </a:cubicBezTo>
                  <a:cubicBezTo>
                    <a:pt x="0" y="176"/>
                    <a:pt x="120" y="56"/>
                    <a:pt x="276" y="56"/>
                  </a:cubicBezTo>
                  <a:cubicBezTo>
                    <a:pt x="276" y="325"/>
                    <a:pt x="276" y="325"/>
                    <a:pt x="276" y="325"/>
                  </a:cubicBezTo>
                  <a:cubicBezTo>
                    <a:pt x="544" y="325"/>
                    <a:pt x="544" y="325"/>
                    <a:pt x="544" y="325"/>
                  </a:cubicBezTo>
                  <a:cubicBezTo>
                    <a:pt x="544" y="480"/>
                    <a:pt x="424" y="601"/>
                    <a:pt x="276" y="601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none" lIns="34290" tIns="17145" rIns="34290" bIns="17145" anchor="ctr"/>
            <a:lstStyle/>
            <a:p>
              <a:endParaRPr lang="en-US"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2998" y="3789834"/>
            <a:ext cx="3952633" cy="616956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40" name="等腰三角形 39"/>
          <p:cNvSpPr/>
          <p:nvPr userDrawn="1"/>
        </p:nvSpPr>
        <p:spPr>
          <a:xfrm>
            <a:off x="7741543" y="3609725"/>
            <a:ext cx="6887119" cy="3248275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等腰三角形 6"/>
          <p:cNvSpPr/>
          <p:nvPr userDrawn="1"/>
        </p:nvSpPr>
        <p:spPr>
          <a:xfrm flipH="1" flipV="1">
            <a:off x="-766394" y="-28491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等腰三角形 7"/>
          <p:cNvSpPr/>
          <p:nvPr userDrawn="1"/>
        </p:nvSpPr>
        <p:spPr>
          <a:xfrm flipH="1" flipV="1">
            <a:off x="1414174" y="635"/>
            <a:ext cx="3825848" cy="1804442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等腰三角形 8"/>
          <p:cNvSpPr/>
          <p:nvPr userDrawn="1"/>
        </p:nvSpPr>
        <p:spPr>
          <a:xfrm>
            <a:off x="6086073" y="4299128"/>
            <a:ext cx="5426766" cy="2559507"/>
          </a:xfrm>
          <a:prstGeom prst="triangle">
            <a:avLst/>
          </a:prstGeom>
          <a:solidFill>
            <a:srgbClr val="E9EAEF">
              <a:alpha val="5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41" name="组合 40"/>
          <p:cNvGrpSpPr/>
          <p:nvPr userDrawn="1"/>
        </p:nvGrpSpPr>
        <p:grpSpPr>
          <a:xfrm>
            <a:off x="2308773" y="3437345"/>
            <a:ext cx="7551038" cy="105497"/>
            <a:chOff x="2101845" y="3387257"/>
            <a:chExt cx="7551038" cy="105497"/>
          </a:xfrm>
        </p:grpSpPr>
        <p:cxnSp>
          <p:nvCxnSpPr>
            <p:cNvPr id="42" name="直接连接符 41"/>
            <p:cNvCxnSpPr/>
            <p:nvPr/>
          </p:nvCxnSpPr>
          <p:spPr>
            <a:xfrm>
              <a:off x="2369489" y="3440005"/>
              <a:ext cx="7283394" cy="0"/>
            </a:xfrm>
            <a:prstGeom prst="line">
              <a:avLst/>
            </a:prstGeom>
            <a:ln w="28575"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椭圆 44"/>
            <p:cNvSpPr/>
            <p:nvPr/>
          </p:nvSpPr>
          <p:spPr>
            <a:xfrm>
              <a:off x="2101845" y="3387257"/>
              <a:ext cx="105497" cy="105497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椭圆 9"/>
          <p:cNvSpPr/>
          <p:nvPr userDrawn="1"/>
        </p:nvSpPr>
        <p:spPr>
          <a:xfrm>
            <a:off x="10011958" y="3437345"/>
            <a:ext cx="105497" cy="105497"/>
          </a:xfrm>
          <a:prstGeom prst="ellipse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寄语(1)"/>
          <p:cNvPicPr>
            <a:picLocks noChangeAspect="1"/>
          </p:cNvPicPr>
          <p:nvPr userDrawn="1"/>
        </p:nvPicPr>
        <p:blipFill>
          <a:blip r:embed="rId3"/>
          <a:srcRect l="114" t="60287" r="-114" b="572"/>
          <a:stretch>
            <a:fillRect/>
          </a:stretch>
        </p:blipFill>
        <p:spPr>
          <a:xfrm>
            <a:off x="2480310" y="2508250"/>
            <a:ext cx="7532370" cy="1657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8049" y="274702"/>
            <a:ext cx="2742843" cy="585288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521" y="274702"/>
            <a:ext cx="8025355" cy="585288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18.xml"/><Relationship Id="rId1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8.xml"/><Relationship Id="rId8" Type="http://schemas.openxmlformats.org/officeDocument/2006/relationships/slideLayout" Target="../slideLayouts/slideLayout27.xml"/><Relationship Id="rId7" Type="http://schemas.openxmlformats.org/officeDocument/2006/relationships/slideLayout" Target="../slideLayouts/slideLayout26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0.xml"/><Relationship Id="rId10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79605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15357" y="6351009"/>
            <a:ext cx="3959381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09254" y="6351009"/>
            <a:ext cx="2699578" cy="316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>
          <a:xfrm>
            <a:off x="669777" y="581333"/>
            <a:ext cx="10850541" cy="64812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2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n-ea"/>
                <a:ea typeface="+mn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"/>
          </p:nvPr>
        </p:nvSpPr>
        <p:spPr>
          <a:xfrm>
            <a:off x="669820" y="1508404"/>
            <a:ext cx="10850454" cy="4750044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zh-CN" altLang="en-US" dirty="0"/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  <a:p>
            <a:pPr lvl="0"/>
            <a:r>
              <a:rPr lang="zh-CN" altLang="en-US" dirty="0">
                <a:sym typeface="+mn-ea"/>
              </a:rPr>
              <a:t>单击此处编辑正文</a:t>
            </a:r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n-ea"/>
          <a:ea typeface="+mn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4pPr>
      <a:lvl5pPr marL="2056765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ea"/>
          <a:ea typeface="+mn-ea"/>
          <a:cs typeface="+mn-cs"/>
        </a:defRPr>
      </a:lvl5pPr>
      <a:lvl6pPr marL="25139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1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3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565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3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5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7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965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21" y="274702"/>
            <a:ext cx="10971372" cy="1143265"/>
          </a:xfrm>
          <a:prstGeom prst="rect">
            <a:avLst/>
          </a:prstGeom>
        </p:spPr>
        <p:txBody>
          <a:bodyPr vert="horz" lIns="121917" tIns="60958" rIns="121917" bIns="60958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21" y="1600572"/>
            <a:ext cx="10971372" cy="4527011"/>
          </a:xfrm>
          <a:prstGeom prst="rect">
            <a:avLst/>
          </a:prstGeom>
        </p:spPr>
        <p:txBody>
          <a:bodyPr vert="horz" lIns="121917" tIns="60958" rIns="121917" bIns="60958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521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058" y="6357822"/>
            <a:ext cx="3860297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6463" y="6357822"/>
            <a:ext cx="2844430" cy="365210"/>
          </a:xfrm>
          <a:prstGeom prst="rect">
            <a:avLst/>
          </a:prstGeom>
        </p:spPr>
        <p:txBody>
          <a:bodyPr vert="horz" lIns="121917" tIns="60958" rIns="121917" bIns="60958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ctr" defTabSz="1219200" rtl="0" eaLnBrk="1" latinLnBrk="0" hangingPunct="1">
        <a:spcBef>
          <a:spcPct val="0"/>
        </a:spcBef>
        <a:buNone/>
        <a:defRPr sz="59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4300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3700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»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0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0.xml"/><Relationship Id="rId4" Type="http://schemas.openxmlformats.org/officeDocument/2006/relationships/image" Target="../media/image23.png"/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0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3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4.pn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630680" y="1773555"/>
            <a:ext cx="8716010" cy="7683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第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2</a:t>
            </a:r>
            <a:r>
              <a:rPr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章</a:t>
            </a:r>
            <a:r>
              <a:rPr lang="en-US" altLang="zh-CN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 TypeScript</a:t>
            </a:r>
            <a:r>
              <a:rPr lang="zh-CN" altLang="en-US" sz="4400" dirty="0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思源黑体 CN Medium" panose="020B0600000000000000" pitchFamily="34" charset="-122"/>
              </a:rPr>
              <a:t>语法</a:t>
            </a:r>
            <a:endParaRPr lang="zh-CN" altLang="en-US" sz="4400" dirty="0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思源黑体 CN Medium" panose="020B0600000000000000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54960" y="2925445"/>
            <a:ext cx="6096000" cy="4154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 defTabSz="685800">
              <a:spcBef>
                <a:spcPts val="1950"/>
              </a:spcBef>
            </a:pPr>
            <a:r>
              <a:rPr lang="zh-CN" altLang="en-US" sz="2100" b="1" dirty="0">
                <a:solidFill>
                  <a:srgbClr val="163F6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  <a:sym typeface="+mn-ea"/>
              </a:rPr>
              <a:t>软件学院</a:t>
            </a:r>
            <a:endParaRPr lang="en-US" altLang="zh-CN" sz="2100" b="1" dirty="0">
              <a:solidFill>
                <a:srgbClr val="163F6D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JS, TS, and ArkTS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1032" name="Picture 8" descr="https://developer.qcloudimg.com/http-save/yehe-2542479/df73c87077a7c2108bc36fcdbfe31628.png"/>
          <p:cNvPicPr>
            <a:picLocks noChangeAspect="1" noChangeArrowheads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16" t="8344" r="7966" b="8212"/>
          <a:stretch>
            <a:fillRect/>
          </a:stretch>
        </p:blipFill>
        <p:spPr bwMode="auto">
          <a:xfrm>
            <a:off x="3790950" y="1125538"/>
            <a:ext cx="3672408" cy="360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矩形 6"/>
          <p:cNvSpPr>
            <a:spLocks noChangeArrowheads="1"/>
          </p:cNvSpPr>
          <p:nvPr/>
        </p:nvSpPr>
        <p:spPr bwMode="auto">
          <a:xfrm>
            <a:off x="1201337" y="5028059"/>
            <a:ext cx="8494269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HarmonyOS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优选的主力应用开发语言。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ArkTS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围绕应用开发在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TypeScript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（简称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）生态基础上做了进一步扩展，保持了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的基本风格，同时通过规范定义强化开发期静态检查和分析，提升程序执行稳定性和性能。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JS, TS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646" y="1269554"/>
            <a:ext cx="9775984" cy="475252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JS, TS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702" y="1413570"/>
            <a:ext cx="8297285" cy="46805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JS, TS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790" y="1074005"/>
            <a:ext cx="6485658" cy="282362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4766" y="4157666"/>
            <a:ext cx="7465504" cy="24482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命令式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UI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03"/>
          <a:stretch>
            <a:fillRect/>
          </a:stretch>
        </p:blipFill>
        <p:spPr>
          <a:xfrm>
            <a:off x="910630" y="1701602"/>
            <a:ext cx="5930964" cy="41616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823398" y="1760652"/>
            <a:ext cx="320842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特点：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开发者需逐步指示如何获取元素、更新内容、设置定时器</a:t>
            </a:r>
            <a:endParaRPr lang="zh-CN" altLang="en-US" dirty="0"/>
          </a:p>
          <a:p>
            <a:r>
              <a:rPr lang="zh-CN" altLang="en-US" dirty="0"/>
              <a:t>直接操作</a:t>
            </a:r>
            <a:r>
              <a:rPr lang="en-US" altLang="zh-CN" dirty="0"/>
              <a:t>DOM</a:t>
            </a:r>
            <a:r>
              <a:rPr lang="zh-CN" altLang="en-US" dirty="0"/>
              <a:t>（如</a:t>
            </a:r>
            <a:r>
              <a:rPr lang="en-US" altLang="zh-CN" dirty="0" err="1"/>
              <a:t>getElementById</a:t>
            </a:r>
            <a:r>
              <a:rPr lang="zh-CN" altLang="en-US" dirty="0"/>
              <a:t>、</a:t>
            </a:r>
            <a:r>
              <a:rPr lang="en-US" altLang="zh-CN" dirty="0" err="1"/>
              <a:t>innerText</a:t>
            </a:r>
            <a:r>
              <a:rPr lang="zh-CN" altLang="en-US" dirty="0"/>
              <a:t>）</a:t>
            </a:r>
            <a:endParaRPr lang="zh-CN" altLang="en-US" dirty="0"/>
          </a:p>
          <a:p>
            <a:r>
              <a:rPr lang="zh-CN" altLang="en-US" dirty="0"/>
              <a:t>代码复杂度随交互增加而上升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声明式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UI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rcRect t="6730"/>
          <a:stretch>
            <a:fillRect/>
          </a:stretch>
        </p:blipFill>
        <p:spPr>
          <a:xfrm>
            <a:off x="391219" y="1125538"/>
            <a:ext cx="7450610" cy="532859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8183438" y="2349674"/>
            <a:ext cx="382465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易错点警示：</a:t>
            </a:r>
            <a:endParaRPr lang="zh-CN" altLang="en-US" dirty="0"/>
          </a:p>
          <a:p>
            <a:endParaRPr lang="zh-CN" altLang="en-US" dirty="0"/>
          </a:p>
          <a:p>
            <a:r>
              <a:rPr lang="zh-CN" altLang="en-US" dirty="0"/>
              <a:t>命令式</a:t>
            </a:r>
            <a:r>
              <a:rPr lang="en-US" altLang="zh-CN" dirty="0"/>
              <a:t>UI</a:t>
            </a:r>
            <a:r>
              <a:rPr lang="zh-CN" altLang="en-US" dirty="0"/>
              <a:t>中忘记调用</a:t>
            </a:r>
            <a:r>
              <a:rPr lang="en-US" altLang="zh-CN" dirty="0" err="1"/>
              <a:t>updateTime</a:t>
            </a:r>
            <a:r>
              <a:rPr lang="en-US" altLang="zh-CN" dirty="0"/>
              <a:t>()</a:t>
            </a:r>
            <a:r>
              <a:rPr lang="zh-CN" altLang="en-US" dirty="0"/>
              <a:t>会导致界面停滞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声明式</a:t>
            </a:r>
            <a:r>
              <a:rPr lang="en-US" altLang="zh-CN" dirty="0"/>
              <a:t>UI</a:t>
            </a:r>
            <a:r>
              <a:rPr lang="zh-CN" altLang="en-US" dirty="0"/>
              <a:t>未用</a:t>
            </a:r>
            <a:r>
              <a:rPr lang="en-US" altLang="zh-CN" dirty="0"/>
              <a:t>@State</a:t>
            </a:r>
            <a:r>
              <a:rPr lang="zh-CN" altLang="en-US" dirty="0"/>
              <a:t>修饰变量会导致</a:t>
            </a:r>
            <a:r>
              <a:rPr lang="en-US" altLang="zh-CN" dirty="0"/>
              <a:t>UI</a:t>
            </a:r>
            <a:r>
              <a:rPr lang="zh-CN" altLang="en-US" dirty="0"/>
              <a:t>不更新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774726" y="1536968"/>
            <a:ext cx="9286788" cy="37856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变量声明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基本类型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数组与元组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以分号结束语句不是必需的，但仍然强烈建议这么做。如果语句写在同一行则一定需要使用分号来分隔，否则会报错。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一样，大小写敏感。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TS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基本语法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变量与“常量”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38622" y="1413570"/>
            <a:ext cx="33123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function </a:t>
            </a:r>
            <a:r>
              <a:rPr lang="en-US" altLang="zh-CN" dirty="0" err="1"/>
              <a:t>letExample</a:t>
            </a:r>
            <a:r>
              <a:rPr lang="en-US" altLang="zh-CN" dirty="0"/>
              <a:t>() {</a:t>
            </a:r>
            <a:endParaRPr lang="en-US" altLang="zh-CN" dirty="0"/>
          </a:p>
          <a:p>
            <a:r>
              <a:rPr lang="en-US" altLang="zh-CN" dirty="0"/>
              <a:t>    if (true) {</a:t>
            </a:r>
            <a:endParaRPr lang="en-US" altLang="zh-CN" dirty="0"/>
          </a:p>
          <a:p>
            <a:r>
              <a:rPr lang="en-US" altLang="zh-CN" dirty="0"/>
              <a:t>        let y = 20;</a:t>
            </a:r>
            <a:endParaRPr lang="en-US" altLang="zh-CN" dirty="0"/>
          </a:p>
          <a:p>
            <a:r>
              <a:rPr lang="en-US" altLang="zh-CN" dirty="0"/>
              <a:t>        //var y = 20;</a:t>
            </a:r>
            <a:endParaRPr lang="en-US" altLang="zh-CN" dirty="0"/>
          </a:p>
          <a:p>
            <a:r>
              <a:rPr lang="en-US" altLang="zh-CN" dirty="0"/>
              <a:t>    }</a:t>
            </a:r>
            <a:endParaRPr lang="en-US" altLang="zh-CN" dirty="0"/>
          </a:p>
          <a:p>
            <a:r>
              <a:rPr lang="en-US" altLang="zh-CN" dirty="0"/>
              <a:t>    console.log(y); </a:t>
            </a:r>
            <a:endParaRPr lang="zh-CN" altLang="en-US" dirty="0"/>
          </a:p>
          <a:p>
            <a:r>
              <a:rPr lang="en-US" altLang="zh-CN" dirty="0"/>
              <a:t>}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934889" y="5028486"/>
            <a:ext cx="273630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console.log(z); </a:t>
            </a:r>
            <a:endParaRPr lang="zh-CN" altLang="en-US" dirty="0"/>
          </a:p>
          <a:p>
            <a:r>
              <a:rPr lang="en-US" altLang="zh-CN" dirty="0"/>
              <a:t>var z = 30;</a:t>
            </a:r>
            <a:endParaRPr lang="en-US" altLang="zh-CN" dirty="0"/>
          </a:p>
          <a:p>
            <a:r>
              <a:rPr lang="en-US" altLang="zh-CN" dirty="0"/>
              <a:t>//let z = 30;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5858282" y="1989634"/>
            <a:ext cx="54006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const person = { name: "Alice" };</a:t>
            </a:r>
            <a:endParaRPr lang="en-US" altLang="zh-CN" dirty="0"/>
          </a:p>
          <a:p>
            <a:r>
              <a:rPr lang="en-US" altLang="zh-CN" dirty="0"/>
              <a:t>person.name = "Bob"; // </a:t>
            </a:r>
            <a:r>
              <a:rPr lang="zh-CN" altLang="en-US" dirty="0"/>
              <a:t>允许修改属性</a:t>
            </a:r>
            <a:endParaRPr lang="zh-CN" altLang="en-US" dirty="0"/>
          </a:p>
          <a:p>
            <a:r>
              <a:rPr lang="en-US" altLang="zh-CN" dirty="0"/>
              <a:t>console.log(person.name); // </a:t>
            </a:r>
            <a:r>
              <a:rPr lang="zh-CN" altLang="en-US" dirty="0"/>
              <a:t>输出 </a:t>
            </a:r>
            <a:r>
              <a:rPr lang="en-US" altLang="zh-CN" dirty="0"/>
              <a:t>"Bob"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const numbers = [1, 2, 3];</a:t>
            </a:r>
            <a:endParaRPr lang="en-US" altLang="zh-CN" dirty="0"/>
          </a:p>
          <a:p>
            <a:r>
              <a:rPr lang="en-US" altLang="zh-CN" dirty="0" err="1"/>
              <a:t>numbers.push</a:t>
            </a:r>
            <a:r>
              <a:rPr lang="en-US" altLang="zh-CN" dirty="0"/>
              <a:t>(4); // </a:t>
            </a:r>
            <a:r>
              <a:rPr lang="zh-CN" altLang="en-US" dirty="0"/>
              <a:t>允许修改数组</a:t>
            </a:r>
            <a:endParaRPr lang="zh-CN" altLang="en-US" dirty="0"/>
          </a:p>
          <a:p>
            <a:r>
              <a:rPr lang="en-US" altLang="zh-CN" dirty="0"/>
              <a:t>console.log(numbers); // </a:t>
            </a:r>
            <a:r>
              <a:rPr lang="zh-CN" altLang="en-US" dirty="0"/>
              <a:t>输出 </a:t>
            </a:r>
            <a:r>
              <a:rPr lang="en-US" altLang="zh-CN" dirty="0"/>
              <a:t>[1, 2, 3, 4]</a:t>
            </a:r>
            <a:endParaRPr lang="zh-CN" altLang="en-US" dirty="0"/>
          </a:p>
        </p:txBody>
      </p:sp>
      <p:sp>
        <p:nvSpPr>
          <p:cNvPr id="13" name="文本框 12"/>
          <p:cNvSpPr txBox="1"/>
          <p:nvPr/>
        </p:nvSpPr>
        <p:spPr>
          <a:xfrm>
            <a:off x="334566" y="1170097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 1</a:t>
            </a: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34566" y="4297958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 2</a:t>
            </a: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03118" y="1170097"/>
            <a:ext cx="1378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8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Example 3</a:t>
            </a:r>
            <a:endParaRPr lang="zh-CN" altLang="en-US" sz="1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523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定义变量：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spcBef>
                <a:spcPts val="24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var|let varName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type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 [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=value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en-US" altLang="zh-CN" sz="2000" dirty="0">
              <a:solidFill>
                <a:srgbClr val="00B0F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定义变量最好不要用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，建议用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定义常量用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spcBef>
                <a:spcPts val="24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const name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type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=value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严格来说，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定义的不是常量。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实际上相当于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final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定义的量必须初始化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8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Javascript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const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的常量值可以改变，但是类型不能变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变量与“常量”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变量与“常量”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8662" y="1413570"/>
            <a:ext cx="10018981" cy="38884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5493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常用类型：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number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string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boolean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array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void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952500" lvl="1" indent="-342900">
              <a:spcBef>
                <a:spcPts val="6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any	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OpenHarmony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不支持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any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</a:t>
            </a:r>
            <a:endParaRPr lang="en-US" altLang="zh-CN" sz="16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数值都是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number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型，不区分整数和实数。实际上是 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64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位的浮点数。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不区分字符和字符串，都是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string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可以通过设置值为 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null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清空对象。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没有值的变量，其值是 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typeof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也返回 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undefined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any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类型就是“不限定类型”，可以匹配任何类型。</a:t>
            </a:r>
            <a:endParaRPr lang="en-US" altLang="zh-CN" sz="1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类型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3415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字符串可以由双引号或单引号包围。避免歧义。必要时也可使用转义字符。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可以在字符串中换行，通过一个反斜杠即可：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str= "Hello \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Kitty!";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同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Java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一样，字符串支持“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+“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string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类型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054646" y="1773610"/>
            <a:ext cx="9286788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用反引号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`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（记住不是单引号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'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）来定义，允许在字符串中插入变量或表达式，非常适合多行文本和拼接变量。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name: string = "Alice";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greeting: string = `Hello, ${name}! Welcome to TypeScript.`;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console.log(greeting); //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输出：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Hello, Alice! Welcome to TypeScript.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模板字符串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52322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类型断言可以用来手动指定一个值的类型，即允许变量从一种类型更改为另一种类型。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语法格式：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&lt;type&gt;value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注意：</a:t>
            </a:r>
            <a:r>
              <a:rPr lang="en-US" altLang="zh-CN" sz="1800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OpenHarmony</a:t>
            </a:r>
            <a:r>
              <a:rPr lang="zh-CN" altLang="en-US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不支持这种语法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as type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当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类型是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类型的子集，或者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类型是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类型的子集时，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才能被成功断言成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。这是为了在进行类型断言时提供额外的安全性。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和类型转换不同，类型断言发生在编译时，它并没有对数据做任何操作。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类型断言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类型断言就像是你在告诉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TypeScript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编译器：“嘿，我知道这个变量的类型是什么，你不用再猜了，听我的就行！”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类型断言 是你手动告诉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TypeScript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某个变量的类型。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它适用于你知道变量的具体类型，但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TypeScript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不知道或无法推断的情况。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使用类型断言时要小心，确保你的断言是正确的，否则可能导致运行时错误。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类型断言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50790" y="3827519"/>
            <a:ext cx="6192688" cy="2588867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278782" y="3860034"/>
            <a:ext cx="6264696" cy="5058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086668" y="6186261"/>
            <a:ext cx="7176890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16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联合类型 表示一个变量可以是多种类型之一。通过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|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符号实现。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variable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可以是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Type1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、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Type2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Type3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中的任意一种类型。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联合类型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14886" y="1673729"/>
            <a:ext cx="4088452" cy="504056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853" y="3274167"/>
            <a:ext cx="5008139" cy="20278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9848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联合类型与交叉类型的区别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联合类型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3402" y="2412544"/>
            <a:ext cx="7283607" cy="24482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字面量类型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sp>
        <p:nvSpPr>
          <p:cNvPr id="8" name="矩形 6"/>
          <p:cNvSpPr>
            <a:spLocks noChangeArrowheads="1"/>
          </p:cNvSpPr>
          <p:nvPr/>
        </p:nvSpPr>
        <p:spPr bwMode="auto">
          <a:xfrm>
            <a:off x="1126654" y="1773610"/>
            <a:ext cx="9286788" cy="4062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在 </a:t>
            </a:r>
            <a:r>
              <a:rPr lang="en-US" altLang="zh-CN" sz="2000" dirty="0"/>
              <a:t>TypeScript </a:t>
            </a:r>
            <a:r>
              <a:rPr lang="zh-CN" altLang="en-US" sz="2000" dirty="0"/>
              <a:t>中，字面量类型（</a:t>
            </a:r>
            <a:r>
              <a:rPr lang="en-US" altLang="zh-CN" sz="2000" dirty="0"/>
              <a:t>Literal Types</a:t>
            </a:r>
            <a:r>
              <a:rPr lang="zh-CN" altLang="en-US" sz="2000" dirty="0"/>
              <a:t>） 是一种特殊的类型，它表示一个具体的值，而不是一个范围或类型。字面量类型可以是字符串、数字、布尔值或模板字面量的具体值。</a:t>
            </a:r>
            <a:endParaRPr lang="en-US" altLang="zh-CN" sz="2000" dirty="0"/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/>
              <a:t>字面量类型通常与联合类型结合使用，用来限制变量或参数只能取特定的值。</a:t>
            </a:r>
            <a:endParaRPr lang="zh-CN" altLang="en-US" sz="2000" dirty="0"/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/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字面量类型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0670" y="1586725"/>
            <a:ext cx="3677163" cy="147658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9043" y="1629594"/>
            <a:ext cx="2524477" cy="1390844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0670" y="3787247"/>
            <a:ext cx="3200847" cy="149563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043" y="3244246"/>
            <a:ext cx="4115374" cy="25816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6673332" y="3643231"/>
            <a:ext cx="4086795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527254" y="1989634"/>
            <a:ext cx="4086795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198662" y="4149874"/>
            <a:ext cx="4086795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1198662" y="1918710"/>
            <a:ext cx="4086795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字面量类型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b="68373"/>
          <a:stretch>
            <a:fillRect/>
          </a:stretch>
        </p:blipFill>
        <p:spPr>
          <a:xfrm>
            <a:off x="550590" y="1053531"/>
            <a:ext cx="4163006" cy="7200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rcRect b="70473"/>
          <a:stretch>
            <a:fillRect/>
          </a:stretch>
        </p:blipFill>
        <p:spPr>
          <a:xfrm>
            <a:off x="470106" y="3773694"/>
            <a:ext cx="4486901" cy="72008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0418" y="849111"/>
            <a:ext cx="6668431" cy="2924583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1864" y="3927308"/>
            <a:ext cx="4086795" cy="2810267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rcRect t="50000"/>
          <a:stretch>
            <a:fillRect/>
          </a:stretch>
        </p:blipFill>
        <p:spPr>
          <a:xfrm>
            <a:off x="549667" y="2003725"/>
            <a:ext cx="4163929" cy="1137002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rcRect t="42869"/>
          <a:stretch>
            <a:fillRect/>
          </a:stretch>
        </p:blipFill>
        <p:spPr>
          <a:xfrm>
            <a:off x="446049" y="4847701"/>
            <a:ext cx="4487045" cy="1393209"/>
          </a:xfrm>
          <a:prstGeom prst="rect">
            <a:avLst/>
          </a:prstGeom>
        </p:spPr>
      </p:pic>
      <p:sp>
        <p:nvSpPr>
          <p:cNvPr id="13" name="矩形 12"/>
          <p:cNvSpPr/>
          <p:nvPr/>
        </p:nvSpPr>
        <p:spPr>
          <a:xfrm>
            <a:off x="5231110" y="1629594"/>
            <a:ext cx="6768752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5271863" y="4703685"/>
            <a:ext cx="4086795" cy="2880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78314" y="1341562"/>
            <a:ext cx="9286788" cy="4632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 fontAlgn="auto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转成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string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00100" lvl="1" indent="-342900" fontAlgn="auto">
              <a:spcBef>
                <a:spcPts val="1800"/>
              </a:spcBef>
              <a:buFont typeface="Wingdings" panose="05000000000000000000" charset="0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“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+</a:t>
            </a:r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”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运算符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 fontAlgn="auto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转成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number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00100" lvl="1" indent="-342900" fontAlgn="auto">
              <a:spcBef>
                <a:spcPts val="1800"/>
              </a:spcBef>
              <a:buFont typeface="Wingdings" panose="05000000000000000000" charset="0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Number(val)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257300" lvl="2" indent="-342900" fontAlgn="auto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string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：如果能解释成数值，则转成相应的数值，否者结果是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Nan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257300" lvl="2" indent="-342900" fontAlgn="auto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boolean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转成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转成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lvl="0" indent="-342900" fontAlgn="auto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转成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boolean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00100" lvl="1" indent="-342900" fontAlgn="auto">
              <a:spcBef>
                <a:spcPts val="1800"/>
              </a:spcBef>
              <a:buFont typeface="Wingdings" panose="05000000000000000000" charset="0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使用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Boolean(val)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257300" lvl="2" indent="-342900" fontAlgn="auto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tring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：空字符串转成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，其他字符串转成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257300" lvl="2" indent="-342900" fontAlgn="auto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number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转成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false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，其他值转成</a:t>
            </a:r>
            <a:r>
              <a:rPr lang="en-US" altLang="zh-CN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endParaRPr lang="en-US" altLang="zh-CN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类型转换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342678" y="1989634"/>
            <a:ext cx="9286788" cy="22467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标识符可以由字母、数字、下划线、</a:t>
            </a: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$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组成，并且不能以数字开头。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marR="0" lvl="0" indent="-342900" algn="l" defTabSz="1219200" rtl="0" eaLnBrk="1" fontAlgn="auto" latinLnBrk="0" hangingPunct="1">
              <a:lnSpc>
                <a:spcPct val="100000"/>
              </a:lnSpc>
              <a:spcBef>
                <a:spcPts val="24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算术运算符多了求幂运算**</a:t>
            </a:r>
            <a:endParaRPr kumimoji="0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标识符、运算符与流程控制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694606" y="1845618"/>
            <a:ext cx="5544616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函数定义：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funName(para1:type, para2:type, …)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returnType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function body;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如果函数省略返回值类型，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TS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会根据语句自动推断出返回值类型。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函数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7334" y="3052877"/>
            <a:ext cx="3286584" cy="590632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09709" y="1701602"/>
            <a:ext cx="476183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800" dirty="0"/>
              <a:t>TypeScript </a:t>
            </a:r>
            <a:r>
              <a:rPr lang="zh-CN" altLang="en-US" sz="1800" dirty="0"/>
              <a:t>要求函数的参数必须明确指定类型，否则会被推断为 </a:t>
            </a:r>
            <a:r>
              <a:rPr lang="en-US" altLang="zh-CN" sz="1800" dirty="0"/>
              <a:t>any </a:t>
            </a:r>
            <a:r>
              <a:rPr lang="zh-CN" altLang="en-US" sz="1800" dirty="0"/>
              <a:t>类型，从而失去类型检查的优势。</a:t>
            </a:r>
            <a:endParaRPr lang="zh-CN" altLang="en-US" sz="1800" dirty="0"/>
          </a:p>
        </p:txBody>
      </p:sp>
      <p:sp>
        <p:nvSpPr>
          <p:cNvPr id="8" name="文本框 7"/>
          <p:cNvSpPr txBox="1"/>
          <p:nvPr/>
        </p:nvSpPr>
        <p:spPr>
          <a:xfrm>
            <a:off x="6887294" y="4149874"/>
            <a:ext cx="412295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dirty="0"/>
              <a:t>这里 </a:t>
            </a:r>
            <a:r>
              <a:rPr lang="en-US" altLang="zh-CN" sz="1600" dirty="0"/>
              <a:t>a </a:t>
            </a:r>
            <a:r>
              <a:rPr lang="zh-CN" altLang="en-US" sz="1600" dirty="0"/>
              <a:t>和 </a:t>
            </a:r>
            <a:r>
              <a:rPr lang="en-US" altLang="zh-CN" sz="1600" dirty="0"/>
              <a:t>b </a:t>
            </a:r>
            <a:r>
              <a:rPr lang="zh-CN" altLang="en-US" sz="1600" dirty="0"/>
              <a:t>都被明确注解为 </a:t>
            </a:r>
            <a:r>
              <a:rPr lang="en-US" altLang="zh-CN" sz="1600" dirty="0"/>
              <a:t>number </a:t>
            </a:r>
            <a:r>
              <a:rPr lang="zh-CN" altLang="en-US" sz="1600" dirty="0"/>
              <a:t>类型。</a:t>
            </a:r>
            <a:endParaRPr lang="zh-CN" altLang="en-US" sz="1600" dirty="0"/>
          </a:p>
          <a:p>
            <a:endParaRPr lang="zh-CN" altLang="en-US" sz="1600" dirty="0"/>
          </a:p>
          <a:p>
            <a:r>
              <a:rPr lang="zh-CN" altLang="en-US" sz="1600" dirty="0"/>
              <a:t>如果没有类型注解，</a:t>
            </a:r>
            <a:r>
              <a:rPr lang="en-US" altLang="zh-CN" sz="1600" dirty="0"/>
              <a:t>TypeScript </a:t>
            </a:r>
            <a:r>
              <a:rPr lang="zh-CN" altLang="en-US" sz="1600" dirty="0"/>
              <a:t>会推断为 </a:t>
            </a:r>
            <a:r>
              <a:rPr lang="en-US" altLang="zh-CN" sz="1600" dirty="0"/>
              <a:t>any</a:t>
            </a:r>
            <a:r>
              <a:rPr lang="zh-CN" altLang="en-US" sz="1600" dirty="0"/>
              <a:t>，可能导致运行时错误</a:t>
            </a:r>
            <a:endParaRPr lang="zh-CN" altLang="en-US" sz="1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051812" y="1917626"/>
            <a:ext cx="6336704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表达式定义法：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name= function(para1:type, para2:type, …) 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returnType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{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function body;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JS/TS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中，函数是一个“值”。也可以被赋给其它变量。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函数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79382" y="1664097"/>
            <a:ext cx="4220164" cy="44773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33855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箭头函数：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name= (para1:type, para2:type, …)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returnType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=&gt; {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function body;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如果只有一个参数，可省略括号： 参数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=&gt; {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函数体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如果只有一条语句可以省略大括号与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return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： 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1,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2) =&gt; 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表达式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函数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8902" y="4529313"/>
            <a:ext cx="3168352" cy="20688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函数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2678" y="1629594"/>
            <a:ext cx="4220164" cy="447737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095206" y="3198961"/>
            <a:ext cx="44262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怎么在</a:t>
            </a:r>
            <a:r>
              <a:rPr lang="en-US" altLang="zh-CN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ArkTS</a:t>
            </a:r>
            <a:r>
              <a:rPr lang="zh-CN" altLang="en-US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里面改为箭头函数</a:t>
            </a:r>
            <a:endParaRPr lang="zh-CN" altLang="en-US" dirty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213148" y="1629594"/>
            <a:ext cx="9286788" cy="28007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JS/TS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中，函数可以嵌套定义。即可以在函数内部再定义函数。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函数的作用域（即什么地方可以调用这个函数）与变量的作用域类似。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在某个代码块内部定义的函数作用域为该代码块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不在任何代码块内部定义的函数作用域为全局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函数作用域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413570"/>
            <a:ext cx="9286788" cy="36933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JS/TS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函数中，如果我们定义了参数，则我们必须传入这些参数，除非将这些参数设置为可选，可选参数使用问号标识 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?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funName(para1:type, para2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?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:type)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returnType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function body;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可选参数必须放在参数列表的最后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可选参数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145016" cy="40010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我们可以在定义时给定参数的默认值。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funName(para1:type, para2:type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=defVal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, …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returnType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function body;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默认参数必须放在参数列表的最后</a:t>
            </a:r>
            <a:endParaRPr lang="en-US" altLang="zh-CN" sz="20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参数不能同时设为可选和默认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默认参数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406574" y="1701602"/>
            <a:ext cx="5040560" cy="45550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如果不知道要向函数传入多少个参数，可以使用剩余参数。</a:t>
            </a:r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剩余参数允许我们将一个不确定数量的参数作为一个数组传入。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function funName(para1:type, 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…restParas:type[ 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)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 returnType</a:t>
            </a:r>
            <a:r>
              <a:rPr lang="en-US" altLang="zh-CN" sz="18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{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	function body;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}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spcBef>
                <a:spcPts val="2400"/>
              </a:spcBef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剩余参数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51190" y="1996032"/>
            <a:ext cx="5134692" cy="377242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40934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声明数组：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arrName 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:type[]</a:t>
            </a:r>
            <a:r>
              <a:rPr lang="en-US" altLang="zh-CN" sz="2000" dirty="0">
                <a:solidFill>
                  <a:srgbClr val="00B0F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</a:t>
            </a:r>
            <a:r>
              <a:rPr lang="en-US" altLang="zh-CN" sz="2000" dirty="0">
                <a:solidFill>
                  <a:srgbClr val="008D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=[val, val, val, …]</a:t>
            </a:r>
            <a:r>
              <a:rPr lang="en-US" altLang="zh-CN" sz="2000" dirty="0">
                <a:solidFill>
                  <a:srgbClr val="008D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en-US" altLang="zh-CN" dirty="0">
              <a:solidFill>
                <a:srgbClr val="008D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数组可以整体赋值：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arrName = [val, val, val, …]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可以整体输出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702718" y="1989634"/>
            <a:ext cx="7776864" cy="32932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可以改变数组的长度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常用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push()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或直接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arr[arr.length] = newValue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增加数组元素。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不要直接用类似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arr[9] = newValue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来扩容数组，否则数组中可能会出现“洞”（如果以前数组元素少于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9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个的话）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push()/pop()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在数组尾操作；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unshift()/shift()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在数组头操作。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不要用</a:t>
            </a: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来删除元素，使用 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delete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会在数组留下未定义的空洞。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492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可以使用</a:t>
            </a:r>
            <a:r>
              <a: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splice()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方法在数组中间插入或删除元素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fruits = ["Banana", "Orange", "Apple", "Mango"];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fruits.splice(2, 0, "Lemon", "Kiwi");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第一个参数（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2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）定义了应添加新元素的位置（拼接）。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第二个参数（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）定义应删除多少元素。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其余参数（“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Lemon”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，“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Kiwi”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）定义要添加的新元素。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splice()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方法返回一个包含已删除项的数组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fruits.splice(1, 2);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删除原 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fruits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中的从下标为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1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开始的两个元素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35394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More useful methods: 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reverse()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反序数组元素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sort()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排序数组元素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sort(fun())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排序数组元素。可以自定义比值（比大小）函数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fun()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 比值函数输出随机数的话可以用来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shuffle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fun(a, b):number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返回值为正数代表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a&gt;b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，为负数代表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a&lt;b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，为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0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代表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a==b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125538"/>
            <a:ext cx="928678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默认排序：将元素转换为字符串后按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Unicode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码点顺序（字典顺序）排序。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字符串转换：通过 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toString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()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方法将元素转换为字符串。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字典顺序：基于字符的 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Unicode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码点值逐个比较。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数字排序问题：默认排序不适合数字数组，需要使用自定义比较函数。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950" y="822767"/>
            <a:ext cx="4010030" cy="577537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011441"/>
            <a:ext cx="9286788" cy="526297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More useful methods: 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indexOf(value)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查找，找不到则返回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-1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indexOf(value, from)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下标开始查找，找不到则返回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-1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lastIndexOf(value)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反序查找，找不到则返回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-1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lastIndexOf(value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， 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from)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从</a:t>
            </a: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from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下标开始反序查找，找不到则返回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-1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find(fun())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fun()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设置查找条件，返回数组中</a:t>
            </a:r>
            <a:r>
              <a:rPr lang="zh-CN" altLang="en-US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符合条件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的数组元素的值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fun(value, index, array):boolean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是当前的元素值，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是当前的元素下标，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array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是数组本身；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1504950" lvl="2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返回值为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true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即意味着</a:t>
            </a:r>
            <a:r>
              <a:rPr lang="zh-CN" altLang="en-US" sz="1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符合条件</a:t>
            </a:r>
            <a:endParaRPr lang="zh-CN" altLang="en-US" sz="14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u"/>
            </a:pPr>
            <a:r>
              <a:rPr lang="en-US" altLang="zh-CN" sz="16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findIndex(fun())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//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通过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fun()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设置查找条件，返回数组中符合条件的数组元素的下标</a:t>
            </a: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1198662" y="1983244"/>
            <a:ext cx="9286788" cy="2893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285750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遍历数组：可以使用</a:t>
            </a:r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forEach()</a:t>
            </a: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方法</a:t>
            </a: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6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arr.forEach(fun( ))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600"/>
              </a:spcBef>
            </a:pP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fun(value, index, array):void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895350" lvl="1" indent="-28575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其中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value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是当前的元素值，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index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是当前的元素下标，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array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是数组本身；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>
              <a:spcBef>
                <a:spcPts val="2400"/>
              </a:spcBef>
            </a:pPr>
            <a:endParaRPr lang="en-US" altLang="zh-CN" sz="2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数组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6"/>
          <p:cNvSpPr>
            <a:spLocks noChangeArrowheads="1"/>
          </p:cNvSpPr>
          <p:nvPr/>
        </p:nvSpPr>
        <p:spPr bwMode="auto">
          <a:xfrm>
            <a:off x="389827" y="1229191"/>
            <a:ext cx="7429983" cy="4401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数组中元素的数据类型都一般是相同的（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any[] 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类型的数组可以不同），如果存储的元素数据类型不同，则需要使用元组。</a:t>
            </a:r>
            <a:endParaRPr lang="zh-CN" alt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TS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中，元组（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Tuple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）是一种特殊类型的数组，它允许在数组中存储不同类型的元素。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与普通数组不同（也不同于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any[]</a:t>
            </a: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类型的数组），元组中的每个元素都有明确的类型和位置。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元组可以在很多场景下用于表示固定长度、且各元素类型已知的数据结构。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lvl="1">
              <a:spcBef>
                <a:spcPts val="2400"/>
              </a:spcBef>
            </a:pP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let tupleName:[type1, type2, type3, …]</a:t>
            </a:r>
            <a:r>
              <a:rPr lang="en-US" altLang="zh-CN" sz="1800" dirty="0">
                <a:solidFill>
                  <a:srgbClr val="008D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[</a:t>
            </a:r>
            <a:r>
              <a:rPr lang="en-US" altLang="zh-CN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 = [val1, val2, val3, …]</a:t>
            </a:r>
            <a:r>
              <a:rPr lang="en-US" altLang="zh-CN" sz="1800" dirty="0">
                <a:solidFill>
                  <a:srgbClr val="008DF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]</a:t>
            </a:r>
            <a:endParaRPr lang="en-US" altLang="zh-CN" sz="1800" dirty="0">
              <a:solidFill>
                <a:srgbClr val="008DF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342900" indent="-342900">
              <a:spcBef>
                <a:spcPts val="2400"/>
              </a:spcBef>
              <a:buFont typeface="Wingdings" panose="05000000000000000000" pitchFamily="2" charset="2"/>
              <a:buChar char="l"/>
            </a:pPr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元组常用于函数返回多个值的场景，或者表示某些固定结构的数据。</a:t>
            </a:r>
            <a:endParaRPr lang="en-US" altLang="zh-CN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7" name="标题 1"/>
          <p:cNvSpPr>
            <a:spLocks noChangeArrowheads="1"/>
          </p:cNvSpPr>
          <p:nvPr/>
        </p:nvSpPr>
        <p:spPr bwMode="auto">
          <a:xfrm>
            <a:off x="1198662" y="261442"/>
            <a:ext cx="4945062" cy="561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marL="571500" indent="-571500"/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元组（</a:t>
            </a:r>
            <a:r>
              <a:rPr lang="en-US" altLang="zh-CN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tuple</a:t>
            </a:r>
            <a:r>
              <a:rPr lang="zh-CN" altLang="en-US" b="1" dirty="0">
                <a:solidFill>
                  <a:srgbClr val="595959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宋体" panose="02010600030101010101" pitchFamily="2" charset="-122"/>
              </a:rPr>
              <a:t>）</a:t>
            </a:r>
            <a:endParaRPr lang="zh-CN" altLang="en-US" b="1" dirty="0">
              <a:solidFill>
                <a:srgbClr val="595959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71002" y="2421682"/>
            <a:ext cx="3829584" cy="18100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>
</file>

<file path=ppt/tags/tag1.xml><?xml version="1.0" encoding="utf-8"?>
<p:tagLst xmlns:p="http://schemas.openxmlformats.org/presentationml/2006/main">
  <p:tag name="ISPRING_RESOURCE_PATHS_HASH_PRESENTER" val="3f15e6573a385e41c33bb97e7105a62faa5c484"/>
  <p:tag name="COMMONDATA" val="eyJoZGlkIjoiNGEzOWY5OWI3NjllYmMyNjdkZDQ2MDY2OWUyMDdmMzYifQ=="/>
  <p:tag name="RESOURCE_RECORD_KEY" val="{&quot;13&quot;:[19951231,4722044]}"/>
</p:tagLst>
</file>

<file path=ppt/theme/theme1.xml><?xml version="1.0" encoding="utf-8"?>
<a:theme xmlns:a="http://schemas.openxmlformats.org/drawingml/2006/main" name="webwppDef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Office 主题">
  <a:themeElements>
    <a:clrScheme name="自定义 23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5DA2"/>
      </a:accent1>
      <a:accent2>
        <a:srgbClr val="C4C7CB"/>
      </a:accent2>
      <a:accent3>
        <a:srgbClr val="7F7F7F"/>
      </a:accent3>
      <a:accent4>
        <a:srgbClr val="7F7F7F"/>
      </a:accent4>
      <a:accent5>
        <a:srgbClr val="7F7F7F"/>
      </a:accent5>
      <a:accent6>
        <a:srgbClr val="7F7F7F"/>
      </a:accent6>
      <a:hlink>
        <a:srgbClr val="17365D"/>
      </a:hlink>
      <a:folHlink>
        <a:srgbClr val="548DD4"/>
      </a:folHlink>
    </a:clrScheme>
    <a:fontScheme name="ud0ofpxa">
      <a:majorFont>
        <a:latin typeface="字魂105号-简雅黑"/>
        <a:ea typeface="字魂105号-简雅黑"/>
        <a:cs typeface=""/>
      </a:majorFont>
      <a:minorFont>
        <a:latin typeface="字魂105号-简雅黑"/>
        <a:ea typeface="字魂105号-简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chemeClr val="tx1">
                <a:lumMod val="75000"/>
                <a:lumOff val="25000"/>
              </a:schemeClr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4947</Words>
  <Application>WPS 演示</Application>
  <PresentationFormat>自定义</PresentationFormat>
  <Paragraphs>331</Paragraphs>
  <Slides>40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40</vt:i4>
      </vt:variant>
    </vt:vector>
  </HeadingPairs>
  <TitlesOfParts>
    <vt:vector size="53" baseType="lpstr">
      <vt:lpstr>Arial</vt:lpstr>
      <vt:lpstr>宋体</vt:lpstr>
      <vt:lpstr>Wingdings</vt:lpstr>
      <vt:lpstr>微软雅黑</vt:lpstr>
      <vt:lpstr>思源黑体 CN Medium</vt:lpstr>
      <vt:lpstr>黑体</vt:lpstr>
      <vt:lpstr>字魂105号-简雅黑</vt:lpstr>
      <vt:lpstr>Arial Unicode MS</vt:lpstr>
      <vt:lpstr>Calibri</vt:lpstr>
      <vt:lpstr>Wingdings</vt:lpstr>
      <vt:lpstr>webwppDefTheme</vt:lpstr>
      <vt:lpstr>Office 主题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蓝白商务述职报告工作总结ppt模板</dc:title>
  <dc:creator>常董</dc:creator>
  <cp:lastModifiedBy>罗来干</cp:lastModifiedBy>
  <cp:revision>1106</cp:revision>
  <dcterms:created xsi:type="dcterms:W3CDTF">2020-11-11T09:29:00Z</dcterms:created>
  <dcterms:modified xsi:type="dcterms:W3CDTF">2026-03-19T03:10:36Z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FAE737CA4AD043D68B80620E2A9F8656_13</vt:lpwstr>
  </property>
</Properties>
</file>