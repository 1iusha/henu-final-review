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2" r:id="rId4"/>
    <p:sldMasterId id="2147483684" r:id="rId5"/>
    <p:sldMasterId id="2147483696" r:id="rId6"/>
  </p:sldMasterIdLst>
  <p:notesMasterIdLst>
    <p:notesMasterId r:id="rId8"/>
  </p:notesMasterIdLst>
  <p:handoutMasterIdLst>
    <p:handoutMasterId r:id="rId107"/>
  </p:handoutMasterIdLst>
  <p:sldIdLst>
    <p:sldId id="325" r:id="rId7"/>
    <p:sldId id="1129" r:id="rId9"/>
    <p:sldId id="2722" r:id="rId10"/>
    <p:sldId id="2573" r:id="rId11"/>
    <p:sldId id="2447" r:id="rId12"/>
    <p:sldId id="1144" r:id="rId13"/>
    <p:sldId id="1431" r:id="rId14"/>
    <p:sldId id="2750" r:id="rId15"/>
    <p:sldId id="2744" r:id="rId16"/>
    <p:sldId id="2727" r:id="rId17"/>
    <p:sldId id="2745" r:id="rId18"/>
    <p:sldId id="2746" r:id="rId19"/>
    <p:sldId id="2747" r:id="rId20"/>
    <p:sldId id="2748" r:id="rId21"/>
    <p:sldId id="2728" r:id="rId22"/>
    <p:sldId id="2749" r:id="rId23"/>
    <p:sldId id="2729" r:id="rId24"/>
    <p:sldId id="2760" r:id="rId25"/>
    <p:sldId id="2761" r:id="rId26"/>
    <p:sldId id="2763" r:id="rId27"/>
    <p:sldId id="2764" r:id="rId28"/>
    <p:sldId id="2765" r:id="rId29"/>
    <p:sldId id="2766" r:id="rId30"/>
    <p:sldId id="2767" r:id="rId31"/>
    <p:sldId id="2768" r:id="rId32"/>
    <p:sldId id="2769" r:id="rId33"/>
    <p:sldId id="2730" r:id="rId34"/>
    <p:sldId id="2751" r:id="rId35"/>
    <p:sldId id="2759" r:id="rId36"/>
    <p:sldId id="2770" r:id="rId37"/>
    <p:sldId id="2771" r:id="rId38"/>
    <p:sldId id="2772" r:id="rId39"/>
    <p:sldId id="2731" r:id="rId40"/>
    <p:sldId id="2752" r:id="rId41"/>
    <p:sldId id="2732" r:id="rId42"/>
    <p:sldId id="2773" r:id="rId43"/>
    <p:sldId id="2733" r:id="rId44"/>
    <p:sldId id="2774" r:id="rId45"/>
    <p:sldId id="2775" r:id="rId46"/>
    <p:sldId id="2776" r:id="rId47"/>
    <p:sldId id="2777" r:id="rId48"/>
    <p:sldId id="2778" r:id="rId49"/>
    <p:sldId id="2779" r:id="rId50"/>
    <p:sldId id="2780" r:id="rId51"/>
    <p:sldId id="2781" r:id="rId52"/>
    <p:sldId id="2782" r:id="rId53"/>
    <p:sldId id="2783" r:id="rId54"/>
    <p:sldId id="2784" r:id="rId55"/>
    <p:sldId id="2785" r:id="rId56"/>
    <p:sldId id="2786" r:id="rId57"/>
    <p:sldId id="2787" r:id="rId58"/>
    <p:sldId id="2788" r:id="rId59"/>
    <p:sldId id="2789" r:id="rId60"/>
    <p:sldId id="2724" r:id="rId61"/>
    <p:sldId id="2734" r:id="rId62"/>
    <p:sldId id="2753" r:id="rId63"/>
    <p:sldId id="2735" r:id="rId64"/>
    <p:sldId id="2736" r:id="rId65"/>
    <p:sldId id="2737" r:id="rId66"/>
    <p:sldId id="2790" r:id="rId67"/>
    <p:sldId id="2738" r:id="rId68"/>
    <p:sldId id="2754" r:id="rId69"/>
    <p:sldId id="2739" r:id="rId70"/>
    <p:sldId id="2791" r:id="rId71"/>
    <p:sldId id="2740" r:id="rId72"/>
    <p:sldId id="2755" r:id="rId73"/>
    <p:sldId id="2792" r:id="rId74"/>
    <p:sldId id="2793" r:id="rId75"/>
    <p:sldId id="2794" r:id="rId76"/>
    <p:sldId id="2795" r:id="rId77"/>
    <p:sldId id="2796" r:id="rId78"/>
    <p:sldId id="2797" r:id="rId79"/>
    <p:sldId id="2798" r:id="rId80"/>
    <p:sldId id="2741" r:id="rId81"/>
    <p:sldId id="2756" r:id="rId82"/>
    <p:sldId id="2799" r:id="rId83"/>
    <p:sldId id="2800" r:id="rId84"/>
    <p:sldId id="2801" r:id="rId85"/>
    <p:sldId id="2802" r:id="rId86"/>
    <p:sldId id="2803" r:id="rId87"/>
    <p:sldId id="2804" r:id="rId88"/>
    <p:sldId id="2814" r:id="rId89"/>
    <p:sldId id="2742" r:id="rId90"/>
    <p:sldId id="2757" r:id="rId91"/>
    <p:sldId id="2743" r:id="rId92"/>
    <p:sldId id="2805" r:id="rId93"/>
    <p:sldId id="2806" r:id="rId94"/>
    <p:sldId id="2807" r:id="rId95"/>
    <p:sldId id="2808" r:id="rId96"/>
    <p:sldId id="2809" r:id="rId97"/>
    <p:sldId id="2810" r:id="rId98"/>
    <p:sldId id="2811" r:id="rId99"/>
    <p:sldId id="2812" r:id="rId100"/>
    <p:sldId id="2813" r:id="rId101"/>
    <p:sldId id="2725" r:id="rId102"/>
    <p:sldId id="2726" r:id="rId103"/>
    <p:sldId id="2758" r:id="rId104"/>
    <p:sldId id="2723" r:id="rId105"/>
    <p:sldId id="326" r:id="rId106"/>
  </p:sldIdLst>
  <p:sldSz cx="12190095" cy="6859270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rd" initials="W用" lastIdx="1" clrIdx="0"/>
  <p:cmAuthor id="2" name="lzq" initials="lzq" lastIdx="1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1369B3"/>
    <a:srgbClr val="595959"/>
    <a:srgbClr val="FFFFFF"/>
    <a:srgbClr val="F2F2F2"/>
    <a:srgbClr val="EBAD13"/>
    <a:srgbClr val="BBBBBB"/>
    <a:srgbClr val="FAFAFA"/>
    <a:srgbClr val="006BBC"/>
    <a:srgbClr val="007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49" autoAdjust="0"/>
    <p:restoredTop sz="89369" autoAdjust="0"/>
  </p:normalViewPr>
  <p:slideViewPr>
    <p:cSldViewPr showGuides="1">
      <p:cViewPr varScale="1">
        <p:scale>
          <a:sx n="67" d="100"/>
          <a:sy n="67" d="100"/>
        </p:scale>
        <p:origin x="78" y="576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159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" Type="http://schemas.openxmlformats.org/officeDocument/2006/relationships/slide" Target="slides/slide2.xml"/><Relationship Id="rId89" Type="http://schemas.openxmlformats.org/officeDocument/2006/relationships/slide" Target="slides/slide82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80" Type="http://schemas.openxmlformats.org/officeDocument/2006/relationships/slide" Target="slides/slide73.xml"/><Relationship Id="rId8" Type="http://schemas.openxmlformats.org/officeDocument/2006/relationships/notesMaster" Target="notesMasters/notesMaster1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slide" Target="slides/slide5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2.xml"/><Relationship Id="rId58" Type="http://schemas.openxmlformats.org/officeDocument/2006/relationships/slide" Target="slides/slide51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1" Type="http://schemas.openxmlformats.org/officeDocument/2006/relationships/commentAuthors" Target="commentAuthors.xml"/><Relationship Id="rId110" Type="http://schemas.openxmlformats.org/officeDocument/2006/relationships/tableStyles" Target="tableStyles.xml"/><Relationship Id="rId11" Type="http://schemas.openxmlformats.org/officeDocument/2006/relationships/slide" Target="slides/slide4.xml"/><Relationship Id="rId109" Type="http://schemas.openxmlformats.org/officeDocument/2006/relationships/viewProps" Target="viewProps.xml"/><Relationship Id="rId108" Type="http://schemas.openxmlformats.org/officeDocument/2006/relationships/presProps" Target="presProps.xml"/><Relationship Id="rId107" Type="http://schemas.openxmlformats.org/officeDocument/2006/relationships/handoutMaster" Target="handoutMasters/handoutMaster1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197957"/>
            <a:ext cx="12190413" cy="2425257"/>
            <a:chOff x="170694" y="176370"/>
            <a:chExt cx="3936004" cy="782777"/>
          </a:xfrm>
        </p:grpSpPr>
        <p:sp>
          <p:nvSpPr>
            <p:cNvPr id="44" name="等腰三角形 43"/>
            <p:cNvSpPr/>
            <p:nvPr/>
          </p:nvSpPr>
          <p:spPr>
            <a:xfrm>
              <a:off x="1662530" y="176370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459484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271745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543778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407762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6815811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7679795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2413" cy="238918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3625"/>
            <a:ext cx="9142413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4013" cy="4352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4013" cy="285432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91050"/>
            <a:ext cx="10514013" cy="1500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0013" cy="4352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0613" y="1825625"/>
            <a:ext cx="5181600" cy="4352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4012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6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3" y="1681163"/>
            <a:ext cx="51831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0613" y="2505075"/>
            <a:ext cx="5183187" cy="3686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0612" cy="48752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0612" cy="4875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4013" cy="43529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7313" cy="58134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34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BA547ACE-A7D1-480A-B753-D8782B6D2C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/>
          <a:lstStyle/>
          <a:p>
            <a:fld id="{A8FCBC2E-FA6F-4192-B030-7C07F59CDA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2413" cy="23891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3625"/>
            <a:ext cx="9142413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4013" cy="28543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91050"/>
            <a:ext cx="10514013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0013" cy="43529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0613" y="1825625"/>
            <a:ext cx="5181600" cy="43529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4012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61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3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0613" y="2505075"/>
            <a:ext cx="5183187" cy="36861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0612" cy="48752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0612" cy="48752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7313" cy="58134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34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2413" cy="23891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3625"/>
            <a:ext cx="9142413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4013" cy="28543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91050"/>
            <a:ext cx="10514013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0013" cy="43529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0613" y="1825625"/>
            <a:ext cx="5181600" cy="43529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4012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61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0613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0613" y="2505075"/>
            <a:ext cx="5183187" cy="36861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0612" cy="48752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0612" cy="48752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7313" cy="58134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34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8" name="等腰三角形 7"/>
            <p:cNvSpPr/>
            <p:nvPr/>
          </p:nvSpPr>
          <p:spPr>
            <a:xfrm>
              <a:off x="1760162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等腰三角形 8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376965" y="178257"/>
              <a:ext cx="1557497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10271745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8543778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9407762" y="1700153"/>
            <a:ext cx="577036" cy="577246"/>
            <a:chOff x="5436096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6815811" y="1700153"/>
            <a:ext cx="577036" cy="577246"/>
            <a:chOff x="3491880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>
            <a:off x="7679795" y="1700153"/>
            <a:ext cx="577036" cy="577246"/>
            <a:chOff x="4139952" y="1274820"/>
            <a:chExt cx="432833" cy="432834"/>
          </a:xfrm>
        </p:grpSpPr>
        <p:sp>
          <p:nvSpPr>
            <p:cNvPr id="26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4013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6A9C6-6C8C-4B6C-A01F-6593DA2C76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DBCF5-1ADE-4B1B-A6F2-68813D81EE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4013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79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5A164-879C-4283-BFE4-CA2992DECE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7938"/>
            <a:ext cx="411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013" y="63579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808BC-38DA-41DC-8FDF-5F9822E7A4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5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6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4.emf"/><Relationship Id="rId1" Type="http://schemas.openxmlformats.org/officeDocument/2006/relationships/oleObject" Target="../embeddings/oleObject7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1" Type="http://schemas.openxmlformats.org/officeDocument/2006/relationships/image" Target="../media/image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7.png"/><Relationship Id="rId1" Type="http://schemas.openxmlformats.org/officeDocument/2006/relationships/image" Target="../media/image9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9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422798" y="2781722"/>
            <a:ext cx="748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4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4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动画和网络请求</a:t>
            </a:r>
            <a:endParaRPr lang="en-US" altLang="zh-CN" sz="4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550590" y="3861842"/>
            <a:ext cx="9793088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鸿蒙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HarmonyOS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应用开发基础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083617" y="2146131"/>
            <a:ext cx="10051200" cy="688077"/>
            <a:chOff x="976532" y="1800499"/>
            <a:chExt cx="5454886" cy="515938"/>
          </a:xfrm>
        </p:grpSpPr>
        <p:sp>
          <p:nvSpPr>
            <p:cNvPr id="20" name="Pentagon 3"/>
            <p:cNvSpPr/>
            <p:nvPr/>
          </p:nvSpPr>
          <p:spPr bwMode="auto">
            <a:xfrm>
              <a:off x="976532" y="1800499"/>
              <a:ext cx="5454886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属性动画的使用方法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，能够实现属性动画效果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1" name="MH_Others_1"/>
            <p:cNvSpPr/>
            <p:nvPr/>
          </p:nvSpPr>
          <p:spPr bwMode="auto">
            <a:xfrm>
              <a:off x="980439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83181" y="3116353"/>
            <a:ext cx="10052585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图像帧动画的使用方法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，能够实现图像帧动画效果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3001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084566" y="4093321"/>
            <a:ext cx="10051200" cy="688077"/>
            <a:chOff x="976532" y="1800499"/>
            <a:chExt cx="5454886" cy="515938"/>
          </a:xfrm>
        </p:grpSpPr>
        <p:sp>
          <p:nvSpPr>
            <p:cNvPr id="26" name="Pentagon 3"/>
            <p:cNvSpPr/>
            <p:nvPr/>
          </p:nvSpPr>
          <p:spPr bwMode="auto">
            <a:xfrm>
              <a:off x="976532" y="1800499"/>
              <a:ext cx="5454886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转场动画的使用方法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，能够实现转场动画效果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7" name="MH_Others_1"/>
            <p:cNvSpPr/>
            <p:nvPr/>
          </p:nvSpPr>
          <p:spPr bwMode="auto">
            <a:xfrm>
              <a:off x="980439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083616" y="5045973"/>
            <a:ext cx="10051201" cy="688077"/>
            <a:chOff x="982303" y="3338787"/>
            <a:chExt cx="5433120" cy="515938"/>
          </a:xfrm>
        </p:grpSpPr>
        <p:sp>
          <p:nvSpPr>
            <p:cNvPr id="35" name="Pentagon 6"/>
            <p:cNvSpPr/>
            <p:nvPr/>
          </p:nvSpPr>
          <p:spPr bwMode="auto">
            <a:xfrm>
              <a:off x="982303" y="3338787"/>
              <a:ext cx="5433120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网络权限的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申请方法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能够按需申请网络权限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6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083617" y="2146131"/>
            <a:ext cx="10051200" cy="688077"/>
            <a:chOff x="976532" y="1800499"/>
            <a:chExt cx="5454886" cy="515938"/>
          </a:xfrm>
        </p:grpSpPr>
        <p:sp>
          <p:nvSpPr>
            <p:cNvPr id="20" name="Pentagon 3"/>
            <p:cNvSpPr/>
            <p:nvPr/>
          </p:nvSpPr>
          <p:spPr bwMode="auto">
            <a:xfrm>
              <a:off x="976532" y="1800499"/>
              <a:ext cx="5454886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启动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服务器的方法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能够完成服务器的启动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1" name="MH_Others_1"/>
            <p:cNvSpPr/>
            <p:nvPr/>
          </p:nvSpPr>
          <p:spPr bwMode="auto">
            <a:xfrm>
              <a:off x="980439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83181" y="3116353"/>
            <a:ext cx="10052585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Network </a:t>
              </a: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Kit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发送网络请求的方法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Network 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Kit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发送网络请求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3001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084566" y="4093321"/>
            <a:ext cx="10051200" cy="688077"/>
            <a:chOff x="976532" y="1800499"/>
            <a:chExt cx="5454886" cy="515938"/>
          </a:xfrm>
        </p:grpSpPr>
        <p:sp>
          <p:nvSpPr>
            <p:cNvPr id="26" name="Pentagon 3"/>
            <p:cNvSpPr/>
            <p:nvPr/>
          </p:nvSpPr>
          <p:spPr bwMode="auto">
            <a:xfrm>
              <a:off x="976532" y="1800499"/>
              <a:ext cx="5454886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Remote Communication Kit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发送网络请求的方法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Remote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Communication Kit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发送网络请求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7" name="MH_Others_1"/>
            <p:cNvSpPr/>
            <p:nvPr/>
          </p:nvSpPr>
          <p:spPr bwMode="auto">
            <a:xfrm>
              <a:off x="980439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083616" y="5045973"/>
            <a:ext cx="10051201" cy="688077"/>
            <a:chOff x="982303" y="3338787"/>
            <a:chExt cx="5433120" cy="515938"/>
          </a:xfrm>
        </p:grpSpPr>
        <p:sp>
          <p:nvSpPr>
            <p:cNvPr id="35" name="Pentagon 6"/>
            <p:cNvSpPr/>
            <p:nvPr/>
          </p:nvSpPr>
          <p:spPr bwMode="auto">
            <a:xfrm>
              <a:off x="982303" y="3338787"/>
              <a:ext cx="5433120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使用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axios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发送网络请求的方法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axios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发送网络请求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36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/>
          <p:cNvSpPr txBox="1"/>
          <p:nvPr/>
        </p:nvSpPr>
        <p:spPr>
          <a:xfrm>
            <a:off x="383260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910630" y="2565698"/>
            <a:ext cx="10269847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鸿蒙应用开发中，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是两个常见的功能。通过为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添加流畅的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可以增强用户对应用的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交互体验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满意度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，同时也能够有效地引导用户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理解应用功能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；通过为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功能，可以使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线上服务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进行详细讲解。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119265" y="2512572"/>
            <a:ext cx="1192190" cy="613062"/>
            <a:chOff x="2215144" y="982844"/>
            <a:chExt cx="1244730" cy="842780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106774" y="3412236"/>
            <a:ext cx="1192190" cy="613061"/>
            <a:chOff x="2215144" y="2033848"/>
            <a:chExt cx="1244730" cy="842781"/>
          </a:xfrm>
        </p:grpSpPr>
        <p:sp>
          <p:nvSpPr>
            <p:cNvPr id="55" name="平行四边形 5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6" name="文本框 10"/>
            <p:cNvSpPr txBox="1"/>
            <p:nvPr/>
          </p:nvSpPr>
          <p:spPr>
            <a:xfrm>
              <a:off x="2393075" y="2066405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024817" y="2490393"/>
            <a:ext cx="5142331" cy="613062"/>
            <a:chOff x="4315150" y="953426"/>
            <a:chExt cx="3857250" cy="540057"/>
          </a:xfrm>
        </p:grpSpPr>
        <p:sp>
          <p:nvSpPr>
            <p:cNvPr id="58" name="矩形 57"/>
            <p:cNvSpPr/>
            <p:nvPr/>
          </p:nvSpPr>
          <p:spPr>
            <a:xfrm>
              <a:off x="4841196" y="1070176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动画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9" name="平行四边形 58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12326" y="3390065"/>
            <a:ext cx="5142331" cy="613062"/>
            <a:chOff x="4315150" y="1647579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764329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网络请求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103588" y="4328900"/>
            <a:ext cx="1192190" cy="613062"/>
            <a:chOff x="2215144" y="982844"/>
            <a:chExt cx="1244730" cy="842780"/>
          </a:xfrm>
        </p:grpSpPr>
        <p:sp>
          <p:nvSpPr>
            <p:cNvPr id="64" name="平行四边形 63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009140" y="4306721"/>
            <a:ext cx="5142331" cy="613062"/>
            <a:chOff x="4315150" y="953426"/>
            <a:chExt cx="3857250" cy="540057"/>
          </a:xfrm>
        </p:grpSpPr>
        <p:sp>
          <p:nvSpPr>
            <p:cNvPr id="70" name="矩形 69"/>
            <p:cNvSpPr/>
            <p:nvPr/>
          </p:nvSpPr>
          <p:spPr>
            <a:xfrm>
              <a:off x="4841196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阶段案例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——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外卖点餐页面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1" name="平行四边形 70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动画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03816" y="2925738"/>
            <a:ext cx="2088232" cy="1015663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0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</a:t>
            </a:r>
            <a:endParaRPr lang="en-US" altLang="en-GB" sz="60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031769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属性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动画的使用方法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，能够实现属性动画效果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3" name="椭圆 12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49183" y="2268236"/>
            <a:ext cx="5571123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是一种通过在一定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时间范围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内改变组件的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的技术。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在鸿蒙应用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开发中，可以通过设置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89" y="88962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11"/>
          <p:cNvSpPr/>
          <p:nvPr/>
        </p:nvSpPr>
        <p:spPr bwMode="auto">
          <a:xfrm rot="5400000">
            <a:off x="6944225" y="102911"/>
            <a:ext cx="2376266" cy="6264699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59102" y="2277666"/>
            <a:ext cx="5861676" cy="220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种，分别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animateTo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473" y="1925845"/>
            <a:ext cx="3293541" cy="35508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1701602"/>
            <a:ext cx="10369152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属性设置属性</a:t>
            </a:r>
            <a:r>
              <a:rPr lang="zh-CN" altLang="en-US" sz="20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endParaRPr lang="en-US" altLang="zh-CN" sz="2000" b="1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endParaRPr lang="zh-CN" altLang="en-US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时，需要为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，并设置相应的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动画播放时长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延迟时间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，该参数是一个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AnimateParam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，包含了用于设置动画效果的相关属性。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908952"/>
            <a:ext cx="1036915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AnimateParam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2638" y="1629594"/>
          <a:ext cx="10405156" cy="460119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28192"/>
                <a:gridCol w="8676964"/>
              </a:tblGrid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duration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动画时长，默认值为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1000ms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tempo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动画播放速度，默认值为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。数值越大，动画播放速度越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快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；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数值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越小，播放速度越慢。若值为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效果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curve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动画曲线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delay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延迟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播放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时间（即延迟时间）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。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0ms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，表示不延迟播放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iterations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动画播放次数，默认值为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。若设置为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无限次播放，若设置为</a:t>
                      </a:r>
                      <a:r>
                        <a:rPr 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不播放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playMode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动画播放模式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7514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onFinish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播放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完成时执行的回调函数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39096" y="1602010"/>
            <a:ext cx="10369152" cy="3123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curve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常用取值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Curve.EaseInOut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：默认值，表示动画以低速开始和结束。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Curve.Linear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：表示动画从头到尾的速度都是相同的。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Curve.Ease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：表示动画以低速开始，然后加快，在结束前变慢。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Curve.EaseIn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：表示动画以低速开始。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Curve.EaseOut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：表示动画以低速结束。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39096" y="1602010"/>
            <a:ext cx="10369152" cy="3123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playMode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常用取值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PlayMode.Normal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：默认值，表示动画按正常播放。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PlayMode.Reverse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：表示动画反向播放。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PlayMode.Alternate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：表示动画在奇数次（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000" dirty="0" smtClean="0">
                <a:solidFill>
                  <a:srgbClr val="59595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……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正向播放，在偶数次（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000" dirty="0">
                <a:solidFill>
                  <a:srgbClr val="59595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……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反向播放。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PlayMode.AlternateReverse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：表示动画在奇数次反向播放，在偶数次正向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25618" y="1226012"/>
            <a:ext cx="1023965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使用方法。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entry/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/main/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ets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/pages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目录下创建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AnimationPage.ets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两个按钮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，分别是“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”和“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动画开始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”按钮，实现当点击“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动画开始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”按钮时，改变“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并触发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735064" y="3069754"/>
          <a:ext cx="6820758" cy="21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" name="Visio" r:id="rId1" imgW="4531360" imgH="1446530" progId="Visio.Drawing.15">
                  <p:embed/>
                </p:oleObj>
              </mc:Choice>
              <mc:Fallback>
                <p:oleObj name="Visio" r:id="rId1" imgW="4531360" imgH="144653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064" y="3069754"/>
                        <a:ext cx="6820758" cy="21602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1125538"/>
            <a:ext cx="10369152" cy="450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animateTo</a:t>
            </a: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方法设置属性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animateTo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闭包函数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状态变化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状态变化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，其语法格式如下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AnimateParam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，用于设置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event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用于指定一个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闭包函数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闭包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中设置的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组件状态变化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48812" y="3045292"/>
            <a:ext cx="7092787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animateTo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(value, event)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1125538"/>
            <a:ext cx="10441160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animateTo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的使用方法。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entry/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/main/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ets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/pages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目录下创建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AnimateToPage.ets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，定义一个“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”文本和一个“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放大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放大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”按钮时，为文本添加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22402" y="3141127"/>
          <a:ext cx="7521305" cy="23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" name="Visio" r:id="rId1" imgW="7240270" imgH="2274570" progId="Visio.Drawing.15">
                  <p:embed/>
                </p:oleObj>
              </mc:Choice>
              <mc:Fallback>
                <p:oleObj name="Visio" r:id="rId1" imgW="7240270" imgH="227457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02" y="3141127"/>
                        <a:ext cx="7521305" cy="2362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045" y="2958465"/>
            <a:ext cx="2266950" cy="2733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1009426"/>
            <a:ext cx="10369152" cy="5201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对象设置属性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0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（或称为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ArkUI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，它可以为组件提供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，并可以对动画进行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前需要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种导入方式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种导入方式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两种导入方式的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效果相同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6200" y="3586568"/>
            <a:ext cx="6804755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animator from '@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ohos.animator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66814" y="4986548"/>
            <a:ext cx="6824142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Animator as animator } from '@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kit.ArkUI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99062" y="2641368"/>
            <a:ext cx="612068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，用于创建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AnimatorResult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，该实例用于对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88" y="1917626"/>
            <a:ext cx="3283810" cy="3540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879924"/>
            <a:ext cx="10585176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AnimatorOptions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，该实例用于设置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15470" y="1973584"/>
          <a:ext cx="10364312" cy="440853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859158"/>
                <a:gridCol w="8505154"/>
              </a:tblGrid>
              <a:tr h="40077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0077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duration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动画播放的时长，默认值为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，单位为毫秒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0077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easing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动画插值曲线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801552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delay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延时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时间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单位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毫秒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。设置为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时，表示不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延时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播放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。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设置为负数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动画提前播放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的时长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如果提前播放的时长大于动画总时长，动画直接过渡到终点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0077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fill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动画播放前后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样式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0077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direction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动画播放模式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801552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iterations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动画播放次数，默认值为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。设置为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播放，设置为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-1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无限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次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播放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。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除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之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外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其他负数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被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视为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无效取值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zh-CN" alt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取值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无效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默认播放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次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0077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begin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动画插值起点，默认值为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0077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end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动画插值终点，默认值为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1629594"/>
            <a:ext cx="10585176" cy="3123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easing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常用取值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 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'linear'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：动画播放速度为线性。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'ease'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：默认值，动画开始和结束时的播放速度较慢。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'ease-in'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：动画播放速度先慢后快。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'ease-out'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：动画播放速度先快后慢。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'ease-in-out'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：动画播放先加速后减速。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1916833"/>
            <a:ext cx="10585176" cy="26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fill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常用取值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'none'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：在动画播放之前和之后都不会应用任何样式到目标上。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'forwards'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：默认值，动画结束后目标将保留最后一个关键帧的样式。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'backwards'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：动画将在延迟播放期间应用第一个关键帧的样式。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'both'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：相当于同时设置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'forwards'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'backwards'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1847651"/>
            <a:ext cx="10585176" cy="26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direction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常用取值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 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'normal'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默认值，动画正向循环播放。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'reverse'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动画反向循环播放。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'alternate'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：动画交替循环播放，奇数次正向播放，偶数次反向播放。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'alternate-reverse'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：动画反向交替循环播放，奇数次反向播放，偶数次正向播放。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1125538"/>
            <a:ext cx="10585176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AnimatorResult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10630" y="2008394"/>
          <a:ext cx="10248872" cy="372565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838450"/>
                <a:gridCol w="8410422"/>
              </a:tblGrid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play()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启动动画。动画会保留上一次的播放状态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pause()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暂停动画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cancel()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取消动画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reverse()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以相反的顺序播放动画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finish()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结束动画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0630" y="1125538"/>
            <a:ext cx="10585176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AnimatorResult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常用事件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10630" y="2008394"/>
          <a:ext cx="10248872" cy="310471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838450"/>
                <a:gridCol w="8410422"/>
              </a:tblGrid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onFrame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接收到帧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触发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onFinish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播放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完成时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触发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onCancel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动画被取消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触发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20943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onRepeat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动画重复播放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触发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事件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99062" y="1989634"/>
            <a:ext cx="6192688" cy="3123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onFrame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动画播放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连续触发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，它可以接收一个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，该参数表示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，该值与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中设置的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begin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有关，会从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begin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begin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progress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020" y="1989634"/>
            <a:ext cx="2761597" cy="2880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82638" y="1269554"/>
            <a:ext cx="8839947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animator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图像旋转动画效果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26854" y="2350799"/>
          <a:ext cx="6529816" cy="302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Visio" r:id="rId1" imgW="4641215" imgH="2141220" progId="Visio.Drawing.15">
                  <p:embed/>
                </p:oleObj>
              </mc:Choice>
              <mc:Fallback>
                <p:oleObj name="Visio" r:id="rId1" imgW="4641215" imgH="214122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854" y="2350799"/>
                        <a:ext cx="6529816" cy="30243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6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031769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图像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帧动画的使用方法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，能够实现图像帧动画效果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14140" y="1972866"/>
            <a:ext cx="6177610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图像帧动画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是一种通过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逐帧播放图像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的技术，常用于制作简单的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购物车动画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ImageAnimator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逐帧播放图像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需要配置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图像数组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，每张图像可以配置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动画时长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45" y="83755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标注 11"/>
          <p:cNvSpPr/>
          <p:nvPr/>
        </p:nvSpPr>
        <p:spPr bwMode="auto">
          <a:xfrm rot="5400000">
            <a:off x="6295588" y="-42230"/>
            <a:ext cx="3127628" cy="6696743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9658" y="878795"/>
            <a:ext cx="617761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ImageAnimator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3200" y="1514607"/>
          <a:ext cx="10512606" cy="486751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95167"/>
                <a:gridCol w="8917439"/>
              </a:tblGrid>
              <a:tr h="34768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9535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images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图像帧信息集合，每一帧的帧信息包含图像路径、大小、位置和播放时长信息，不支持动态更新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4768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state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动画播放状态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9535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duration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设置动画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播放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时长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1000ms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duration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播放图像；值的改变只会在下一次循环开始时生效；当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images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中任意一帧图像设置了单独的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duration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后，该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属性无效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9535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reverse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动画的播放顺序，默认值为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表示从第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张图像播放到最后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张图像，当设置为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时表示从最后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张图像播放到第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张图像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104303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fixedSize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图像大小是否固定为组件大小，默认值为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，表示图像大小与组件大小一致，此时设置图像的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width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height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top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left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属性是无效的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；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当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时，表示每一张图像的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width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height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top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和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left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属性都要单独设置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4768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fillMode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动画开始前和结束后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样式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9535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iterations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动画播放次数，默认值为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，表示播放一次。若设置为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无限次播放，若设置为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表示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不播放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1917626"/>
            <a:ext cx="9260004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常用取值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AnimationStatus.Initial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：默认值，表示动画处于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AnimationStatus.Running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：表示动画处于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AnimationStatus.Paused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：表示动画处于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AnimationStatus.Stopped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：表示动画处于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1557586"/>
            <a:ext cx="1044116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fillMode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属性的常用取值如下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FillMode.Forwards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动画执行期间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最后一个关键帧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的样式。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FillMode.None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未执行时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不改变样式，动画播放完成后恢复初始样式。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FillMode.Backwards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第一个关键帧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中的样式，并在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该样式。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FillMode.Both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：表示动画将同时遵循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Forwards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Backwards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动画开始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第一个关键帧的样式，在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动画结束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时保持最后一个关键帧的样式。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图像帧动画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4582" y="1201978"/>
            <a:ext cx="1044116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ImageAnimator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购物车动画效果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52211" y="2133650"/>
          <a:ext cx="6702013" cy="3240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3" name="Visio" r:id="rId1" imgW="4560570" imgH="2216785" progId="Visio.Drawing.15">
                  <p:embed/>
                </p:oleObj>
              </mc:Choice>
              <mc:Fallback>
                <p:oleObj name="Visio" r:id="rId1" imgW="4560570" imgH="221678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211" y="2133650"/>
                        <a:ext cx="6702013" cy="3240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5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031769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转场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动画的使用方法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，能够实现转场动画效果 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1" name="椭圆 10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86146" y="1716678"/>
            <a:ext cx="5999534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是一种具有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平滑过渡效果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，通常用于在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画面切换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时使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切换过程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流畅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，以增强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用户体验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消失转场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动画、共享元素转场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98" y="88962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标注 11"/>
          <p:cNvSpPr/>
          <p:nvPr/>
        </p:nvSpPr>
        <p:spPr bwMode="auto">
          <a:xfrm rot="5400000">
            <a:off x="5763352" y="217620"/>
            <a:ext cx="4048084" cy="6552728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1326486"/>
            <a:ext cx="10441160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．模态转场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0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模态转场动画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新界面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旧界面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之上，而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旧界面不消失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的转场方式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ArkUI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中，能够实现弹出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新界面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并具有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模态转场动画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bindContentCover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bindSheet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bindMenu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bindContextMenu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bindPopup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4582" y="1110462"/>
            <a:ext cx="10441160" cy="5193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bindContentCover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 </a:t>
            </a: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bindContentCover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用于将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全屏模态界面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绑定到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上，可以控制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全屏模态界面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，其语法格式如下。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isShow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用于指定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全屏模态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builder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全屏模态界面的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配置全屏模态界面的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，其中用于设置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过渡动画效果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的是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modalTransition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ModalTransition.NONE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：无动画过渡。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ModalTransition.DEFAULT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：上下切换过渡。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ModalTransition.ALPHA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：透明渐变过渡。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90757" y="2555189"/>
            <a:ext cx="6804755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bindContentCover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isShow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builder, options)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4582" y="1342717"/>
            <a:ext cx="10441160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bindSheet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 </a:t>
            </a: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bindSheet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用于将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半屏模态界面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绑定到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上，可以控制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半屏模态界面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，其语法格式如下。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isShow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用于指定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半屏模态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builder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半屏模态界面的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配置半屏模态界面的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半屏模态高度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showClose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是否显示关闭图标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dragBar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是否显示控制条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屏模态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面板的标题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）等属性。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90757" y="2869961"/>
            <a:ext cx="6804755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bindSheet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isShow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builder, options)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4582" y="1342717"/>
            <a:ext cx="1044116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bindMenu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 </a:t>
            </a: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bindMenu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组件绑定菜单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，可以控制菜单的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，其语法格式如下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isShow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菜单，目前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双向数据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配置菜单项图标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，或者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用于配置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弹出菜单的参数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菜单标题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showInSubWindow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是否在子窗口中显示菜单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90757" y="2594164"/>
            <a:ext cx="6804755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bindMenu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isShow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content, options)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8622" y="1197546"/>
            <a:ext cx="1087320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bindContextMenu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 </a:t>
            </a: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bindContextMenu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上下文菜单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。它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bindMenu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的区别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bindContextMenu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一般是通过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长按屏幕操作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右击操作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触发的，而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bindMenu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一般是通过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点击屏幕操作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单击操作触发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bindContextMenu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isShown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用于指定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上下文菜单，目前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数据绑定。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配置菜单项图标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，或者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弹出菜单的参数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placement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菜单显示的位置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arrowOffset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（菜单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或菜单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垂直偏移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）等属性。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18843" y="3717826"/>
            <a:ext cx="6804755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bindContextMenu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isShown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content, options)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8622" y="1398176"/>
            <a:ext cx="10873208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bindPopup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 </a:t>
            </a: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bindPopup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气泡提示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，即一种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气泡样式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对某个组件进行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功能说明。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bindPopup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提示框显示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popup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用于配置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弹出气泡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message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提示内容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showInSubWindow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是否在子窗口中显示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textColor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文本颜色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18843" y="3126368"/>
            <a:ext cx="6804755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bindPopup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(show, popup)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0220" y="1269554"/>
            <a:ext cx="1087320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下面以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bindContentCover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为例演示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的使用方法，实现显示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广告倒计时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055533" y="2277666"/>
          <a:ext cx="6642581" cy="352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" name="Visio" r:id="rId1" imgW="4641215" imgH="2465705" progId="Visio.Drawing.15">
                  <p:embed/>
                </p:oleObj>
              </mc:Choice>
              <mc:Fallback>
                <p:oleObj name="Visio" r:id="rId1" imgW="4641215" imgH="246570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533" y="2277666"/>
                        <a:ext cx="6642581" cy="35283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0220" y="981522"/>
            <a:ext cx="10411570" cy="2054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．出现</a:t>
            </a: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消失转场</a:t>
            </a:r>
            <a:r>
              <a:rPr lang="zh-CN" altLang="en-US" sz="2000" b="1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endParaRPr lang="en-US" altLang="zh-CN" sz="2000" b="1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可以在一个组件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。该属性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TransitionEffect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作为参数，该实例用于指定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。通过调用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TransitionEffect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的静态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方法可以创建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TransitionEffect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，这些静态方法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40220" y="3213770"/>
          <a:ext cx="10512606" cy="309634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058642"/>
                <a:gridCol w="8453964"/>
              </a:tblGrid>
              <a:tr h="44233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opacity()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组件转场时的不透明度效果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translate()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组件转场时的平移效果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scale()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组件转场时的缩放效果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rotate()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组件转场时的旋转效果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move()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用于指定组件转场时从屏幕边缘滑入或向屏幕边缘滑出的效果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2335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asymmetric()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指定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非对称的转场效果，即出现和消失采用不同的转场效果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5706" y="1064700"/>
            <a:ext cx="10411570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opacity()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的参数表示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不透明度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，取值范围为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不透明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完全透明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translate()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的参数是一个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的对象，其中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平移距离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平移距离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平移距离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scale()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的参数是一个包含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的对象，具体如下。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缩放倍数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x&gt;1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轴方向放大，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时保持不变，当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0≤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x&lt;1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轴方向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缩小，当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x&lt;0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轴翻转并缩放。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缩放倍数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y&gt;1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轴方向放大，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时保持不变，当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0≤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y&lt;1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轴方向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缩小，当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y&lt;0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轴翻转并缩放。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缩放倍数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z&gt;1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轴方向放大，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时保持不变，当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0≤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z&lt;1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轴方向缩小，当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z&lt;0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时沿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轴翻转并缩放。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centerX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表示变换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中心点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表示变换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中心点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5932" y="1053530"/>
            <a:ext cx="10627594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rotate()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是一个包含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，其中最常用的是必选属性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angle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它表示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旋转角度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，取值为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时表示沿旋转轴方向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顺时针转动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，取值为负时表示沿旋转轴方向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逆时针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取值可为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'90deg'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都代表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move()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只有一个参数，该参数有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，具体如下。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TransitionEdge.TOP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表示屏幕的上边缘。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TransitionEdge.BOTTOM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表示屏幕的下边缘。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TransitionEdge.START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表示屏幕的左边缘。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TransitionEdge.END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表示屏幕的右边缘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asymmetric()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有两个参数，第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个参数表示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出现时的转场效果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消失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时的转场效果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38"/>
          <p:cNvSpPr/>
          <p:nvPr/>
        </p:nvSpPr>
        <p:spPr>
          <a:xfrm>
            <a:off x="1633102" y="5662859"/>
            <a:ext cx="9344931" cy="74384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6" name="流程图: 资料带 5"/>
          <p:cNvSpPr/>
          <p:nvPr/>
        </p:nvSpPr>
        <p:spPr>
          <a:xfrm>
            <a:off x="1434114" y="5427058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09672" y="5808220"/>
            <a:ext cx="88683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如果不调用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asymmetric()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方法，则默认情况下消失时的转场效果与出现时的转场效果完全相反。</a:t>
            </a:r>
            <a:endParaRPr lang="zh-CN" altLang="en-US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4734" y="1187235"/>
            <a:ext cx="10351895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TransitionEffect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还提供了一些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TransitionEffect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40220" y="2493688"/>
          <a:ext cx="10482523" cy="331237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052751"/>
                <a:gridCol w="8429772"/>
              </a:tblGrid>
              <a:tr h="63077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3077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IDENTITY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禁用转场效果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3077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OPACITY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指定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不透明度为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的转场效果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3077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SLIDE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指定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出现时从左侧滑入、消失时从右侧滑出的转场效果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78929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SLIDE_SWITCH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8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指定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出现时从右侧先缩小再放大滑入、消失时从左侧先缩小再放大滑出的转场效果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4734" y="1426882"/>
            <a:ext cx="1035189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TransitionEffect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54734" y="2565698"/>
          <a:ext cx="10512606" cy="164178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058642"/>
                <a:gridCol w="8453964"/>
              </a:tblGrid>
              <a:tr h="54726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combine()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通过组合的方式实现多种转场效果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animation()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指定组件转场的动画参数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0220" y="1527383"/>
            <a:ext cx="10351895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① 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combine()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会与调用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combine()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合并，例如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A.combine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表示将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转场效果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转场效果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合并。该方法的返回值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为合并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animation()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是一个表示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动画参数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，该对象的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duration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动画播放时长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，默认值为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，单位为毫秒。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tempo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动画播放速度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，值越大则动画播放越快，值越小则播放越慢，默认值为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时表示无动画效果。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curve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动画曲线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，默认值为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Curve.EaseInOut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，表示动画以低速开始和结束。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delay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：动画延迟播放时间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，默认值为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，单位为毫秒，默认不延时播放。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iterations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动画播放次数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，默认值为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，设置为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时表示无限次播放，设置为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不播放。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0220" y="1388385"/>
            <a:ext cx="1035189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，分别是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不透明度效果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旋转效果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平移效果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87675" y="2853730"/>
            <a:ext cx="8856983" cy="2169825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.transition(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TransitionEffect.OPACITY.animation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({ duration: 1000 })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.combine(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TransitionEffect.rotate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({ angle: -180 }))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.combine(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TransitionEffect.move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TransitionEdge.TOP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0220" y="1507644"/>
            <a:ext cx="103518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transition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转场效果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70670" y="2781722"/>
          <a:ext cx="9691490" cy="2013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7" name="Visio" r:id="rId1" imgW="9977120" imgH="2077720" progId="Visio.Drawing.15">
                  <p:embed/>
                </p:oleObj>
              </mc:Choice>
              <mc:Fallback>
                <p:oleObj name="Visio" r:id="rId1" imgW="9977120" imgH="207772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670" y="2781722"/>
                        <a:ext cx="9691490" cy="20133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9895" y="1197546"/>
            <a:ext cx="10351895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．共享元素转场动画 </a:t>
            </a:r>
            <a:endParaRPr lang="en-US" altLang="zh-CN" sz="2000" b="1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页面切换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时，将两个页面中相同的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在切换过程中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自动完成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，从而营造出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是指两个页面中需要添加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共享元素转场动画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sharedTransition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实现，其语法格式如下。 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，当两个页面存在具有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共享元素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时，即可实现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共享元素转场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87674" y="3989422"/>
            <a:ext cx="8856983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sharedTransition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(id, options)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6353" y="1140052"/>
            <a:ext cx="1035189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是一个用于设置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的对象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54734" y="1989634"/>
          <a:ext cx="10512606" cy="383082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56096"/>
                <a:gridCol w="8756510"/>
              </a:tblGrid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duration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共享元素转场动画播放时长，默认值为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1000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，单位为毫秒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curve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共享元素转场动画曲线，默认值为</a:t>
                      </a: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Curve.Linear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，表示动画从头到尾的速度都是相同的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delay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共享元素转场动画延迟执行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时间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。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，表示不延迟播放，单位为毫秒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motionPath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运动路径信息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zIndex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en-US" sz="1600" i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z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轴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type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spcAft>
                          <a:spcPts val="0"/>
                        </a:spcAft>
                      </a:pP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用于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设置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动画类型 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0630" y="951366"/>
            <a:ext cx="10585176" cy="3947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motionPath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常用可选值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：用于设置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：用于设置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：用于设置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rotatable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：表示是否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跟随路径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旋转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，默认值为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不旋转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常用可选值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SharedTransitionEffectType.Exchange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：默认值，表示将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源页面元素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目标页面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位置并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适当缩放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SharedTransitionEffectType.Static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目标页面元素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保持不变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，可以配置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不透明度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46734" y="5548178"/>
            <a:ext cx="8875061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属性值为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SharedTransitionEffectType.Exchange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motionPath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才会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生效。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38"/>
          <p:cNvSpPr/>
          <p:nvPr/>
        </p:nvSpPr>
        <p:spPr>
          <a:xfrm>
            <a:off x="1311128" y="5351931"/>
            <a:ext cx="9666108" cy="9163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8" name="流程图: 资料带 7"/>
          <p:cNvSpPr/>
          <p:nvPr/>
        </p:nvSpPr>
        <p:spPr>
          <a:xfrm>
            <a:off x="1112140" y="5116130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转场动画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8686" y="1714992"/>
            <a:ext cx="10585176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下面演示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sharedTransition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页面跳转时放大图像的转场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848821" y="2637706"/>
          <a:ext cx="4824905" cy="240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" name="Visio" r:id="rId1" imgW="1880870" imgH="943610" progId="Visio.Drawing.15">
                  <p:embed/>
                </p:oleObj>
              </mc:Choice>
              <mc:Fallback>
                <p:oleObj name="Visio" r:id="rId1" imgW="1880870" imgH="94361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821" y="2637706"/>
                        <a:ext cx="4824905" cy="24027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网络请求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03816" y="2925738"/>
            <a:ext cx="2088232" cy="1015663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0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</a:t>
            </a:r>
            <a:endParaRPr lang="en-US" altLang="en-GB" sz="60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申请网络权限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5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031769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网络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权限的申请方法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，能够按需申请网络权限 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1" name="椭圆 10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申请网络权限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15086" y="1989634"/>
            <a:ext cx="55446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具有严格的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应用权限管控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，以确保应用合理地使用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每项权限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。若应用需要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，则需要申请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网络权限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。在正式学习如何申请网络权限之前，介绍一下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权限机制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98" y="88962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标注 11"/>
          <p:cNvSpPr/>
          <p:nvPr/>
        </p:nvSpPr>
        <p:spPr bwMode="auto">
          <a:xfrm rot="5400000">
            <a:off x="6498508" y="-214428"/>
            <a:ext cx="2535916" cy="6336704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申请网络权限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9658" y="1385672"/>
            <a:ext cx="10556148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鸿蒙开发文档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的说明，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在开发应用时进行的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权限申请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遵循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（包括应用引用的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）所需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entry/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/main/module.json5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严格按照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权限开发指导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逐个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权限申请满足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最小化原则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，禁止申请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非必要的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已废弃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。应用申请过多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权限会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引起用户对应用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担忧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使用体验变差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，也会影响到应用的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留存率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应用申请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时，必须填写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权限使用理由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。敏感权限通常是指与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用户隐私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密切相关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的权限，包括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地理位置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健身运动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身体传感器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等权限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须在对应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业务功能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执行前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动态申请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，满足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隐私最小化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某个权限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后，应用与此权限无关的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其他业务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功能应能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正常使用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申请网络权限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822966"/>
            <a:ext cx="104241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授权方式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的不同，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权限类型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可分为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system_grant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系统授权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user_grant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授权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），具体介绍如下。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system_grant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：在该类型的权限许可下，应用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可以访问不涉及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用户或设备的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数据；应用被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执行对操作系统和其他应用产生的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影响可控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user_grant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：在该类型的权限许可下，应用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可以访问涉及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用户或设备的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敏感信息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；应用被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执行可能对操作系统或者其他应用产生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严重影响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申请网络权限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2061642"/>
            <a:ext cx="1042412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system_grant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user_grant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在申请方式上的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对于申请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system_grant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的应用，操作系统会在用户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安装应用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时，自动把相应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授予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对于申请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user_grant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的应用，不仅需要在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安装包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，还需要在应用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弹窗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请求用户授权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。在用户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手动允许授权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才会真正获取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相应权限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成功访问并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8.2.1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申请网络权限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9675" y="1009426"/>
            <a:ext cx="1046660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网络权限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system_grant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，申请方式比较简单，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不需要向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发起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获取该权限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申请网络权限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entry/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/main/module.json5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module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内添加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申请网络权限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的代码，示例代码如下。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04487" y="2723100"/>
            <a:ext cx="8856983" cy="3367397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requestPermissions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[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"name":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ohos.permission.INTERNET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},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{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"name": 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ohos.permission.GET_NETWORK_INFO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启动服务器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5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031769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启动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服务器的方法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，能够完成服务器的启动 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1" name="椭圆 10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启动服务器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90" y="88962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标注 11"/>
          <p:cNvSpPr/>
          <p:nvPr/>
        </p:nvSpPr>
        <p:spPr bwMode="auto">
          <a:xfrm rot="5400000">
            <a:off x="6511898" y="-386910"/>
            <a:ext cx="2895956" cy="7041708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65175" y="1989634"/>
            <a:ext cx="6355515" cy="170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要想学习如何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发送网络请求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准备一个可以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启动服务器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1625318"/>
            <a:ext cx="60928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启动成功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后，会出现如下信息。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30204" y="2632616"/>
            <a:ext cx="8856983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server running at http://192.168.1.100:3000 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51734" y="4773350"/>
            <a:ext cx="887506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信息中的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192.168.1.100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是不固定的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，我们应以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为准。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38"/>
          <p:cNvSpPr/>
          <p:nvPr/>
        </p:nvSpPr>
        <p:spPr>
          <a:xfrm>
            <a:off x="1325642" y="4601699"/>
            <a:ext cx="9666108" cy="92064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1" name="流程图: 资料带 10"/>
          <p:cNvSpPr/>
          <p:nvPr/>
        </p:nvSpPr>
        <p:spPr>
          <a:xfrm>
            <a:off x="1126654" y="4365898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8.2.2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启动服务器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4172" y="1125538"/>
            <a:ext cx="9361040" cy="5009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获取所有数据的接口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http://192.168.1.100:3000/student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{"name":"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","age":18}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获取指定字段数据的接口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http://192.168.1.100:3000/student?field=name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提交数据的接口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http://192.168.1.100:3000/student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{"name":"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","age":18}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message":"Data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saved successfully"}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815611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Network 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6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031769" cy="1719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使用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Network Kit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发送网络请求的方法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Network Kit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发送网络请求 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815611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Network 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13576" y="1892698"/>
            <a:ext cx="6092825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被称为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网络服务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，它主要提供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Hypertext Transfer Protocol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，超文本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WebSocket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网络连接管理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MDNS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Multicast DNS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功能，其中最常用的是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数据请求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90" y="889620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圆角矩形标注 11"/>
          <p:cNvSpPr/>
          <p:nvPr/>
        </p:nvSpPr>
        <p:spPr bwMode="auto">
          <a:xfrm rot="5400000">
            <a:off x="6511898" y="-386910"/>
            <a:ext cx="2895956" cy="7041708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815611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Network 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0630" y="1264604"/>
            <a:ext cx="1044116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）用于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的示例代码如下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后，需要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createHttp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HttpRequest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HttpRequest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代表一个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请求任务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不可复用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2718" y="2615182"/>
            <a:ext cx="8856983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http } from '@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kit.NetworkKit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03479" y="5018402"/>
            <a:ext cx="8856983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httpRequest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http.createHttp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 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815611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Network 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0630" y="1444342"/>
            <a:ext cx="1072919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通过调用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HttpRequest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，该方法的语法格式如下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表示请求的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表示用于设置请求的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callback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表示发送请求后执行的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可以省略，省略时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，并且参数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callback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2718" y="2392654"/>
            <a:ext cx="8856983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request(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options, callback);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815611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Network 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4172" y="1197546"/>
            <a:ext cx="107291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54734" y="2047239"/>
          <a:ext cx="10512606" cy="383082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56096"/>
                <a:gridCol w="8756510"/>
              </a:tblGrid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method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请求方式 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extraData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发送请求的额外数据，默认不发送额外数据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expectDataType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指定返回数据的类型，默认不指定返回数据的类型。如果指定了返回数据的类型，程序将会优先返回指定类型的数据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usingCache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是否使用缓存，默认值为</a:t>
                      </a: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，表示使用缓存。缓存跟随当前进程生效，新缓存会替换旧缓存。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priority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请求并发优先级，值越大优先级越高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取值</a:t>
                      </a:r>
                      <a:r>
                        <a:rPr lang="zh-CN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范围</a:t>
                      </a:r>
                      <a:r>
                        <a:rPr lang="zh-CN" alt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16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1~1000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，默认值为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header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请求头字段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815611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Network 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1413570"/>
            <a:ext cx="10729192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method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可选值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RequestMethod.GET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请求方式，一般用于查询数据。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RequestMethod.POST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方式，一般用于提交数据。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RequestMethod.PUT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请求方式，一般用于修改数据。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RequestMethod.DELETE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请求方式，一般用于删除数据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expectDataType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常用可选值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HttpDataType.STRING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HttpDataType.OBJECT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：对象类型。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815611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Network 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4582" y="1052968"/>
            <a:ext cx="10729192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callback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，该函数的参数是一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HttpResponse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，该实例的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2638" y="2277666"/>
          <a:ext cx="10512606" cy="383082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664296"/>
                <a:gridCol w="7848310"/>
              </a:tblGrid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altLang="en-US" sz="1600" b="1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600" b="1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600" b="1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 b="1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result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服务器的响应内容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resultType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服务器的响应内容的类型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responseCode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服务器的响应状态码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header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服务器的响应头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cookies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服务器的响应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cookies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7261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performanceTiming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请求的各个阶段的耗时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815611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Network 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8686" y="1255040"/>
            <a:ext cx="10513168" cy="459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方法还支持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await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await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字调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省略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callback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，通过返回值接收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HttpResponse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时需要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注意以下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仅支持接收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数据大小为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5MB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以内的数据。 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若请求的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中文字符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其他特殊字符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，需先调用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encodeURIComponent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对这些字符进行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，该函数的参数为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待编码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，返回值为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当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请求发送完成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后，需要调用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destroy()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方法销毁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HttpRequest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实例，从而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释放资源，</a:t>
            </a:r>
            <a:endParaRPr lang="zh-CN" altLang="en-US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该方法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没有返回值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815611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Network 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" y="2422069"/>
            <a:ext cx="2761597" cy="28803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270" y="1845310"/>
            <a:ext cx="6979285" cy="3456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761581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Remote Communication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6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35"/>
          <p:cNvSpPr txBox="1">
            <a:spLocks noChangeArrowheads="1"/>
          </p:cNvSpPr>
          <p:nvPr/>
        </p:nvSpPr>
        <p:spPr bwMode="auto">
          <a:xfrm>
            <a:off x="5670825" y="3576722"/>
            <a:ext cx="5823857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使用 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Remote Communication Kit 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发送网络请求的方法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 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Remote 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Communication Kit 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发送网络请求 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234580" y="3816752"/>
            <a:ext cx="405130" cy="405130"/>
            <a:chOff x="8881" y="4685"/>
            <a:chExt cx="638" cy="638"/>
          </a:xfrm>
        </p:grpSpPr>
        <p:sp>
          <p:nvSpPr>
            <p:cNvPr id="12" name="椭圆 11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761581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Remote Communication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822" y="761299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标注 11"/>
          <p:cNvSpPr/>
          <p:nvPr/>
        </p:nvSpPr>
        <p:spPr bwMode="auto">
          <a:xfrm rot="5400000">
            <a:off x="6253406" y="347637"/>
            <a:ext cx="3528392" cy="6236321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231110" y="1917626"/>
            <a:ext cx="5760639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Remote Communication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被称为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远场通信服务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，它是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提供的另一个用于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的工具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Network Kit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Remote Communication Kit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更专注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，提供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更加便捷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的操作方式。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761581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Remote Communication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197546"/>
            <a:ext cx="10585176" cy="447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Remote Communication Kit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，需要先导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rcp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rcp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rcp</a:t>
            </a:r>
            <a:endParaRPr lang="en-US" altLang="zh-CN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的示例代码如下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rcp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后，需要通过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createSession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createSession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的返回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，它表示一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2718" y="2436196"/>
            <a:ext cx="8856983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{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rcp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 from '@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kit.RemoteCommunicationKit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02718" y="4097374"/>
            <a:ext cx="8856983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session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rcp.createSession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761581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Remote Communication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4582" y="923466"/>
            <a:ext cx="1058517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68124" y="1526303"/>
          <a:ext cx="10549172" cy="453649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46762"/>
                <a:gridCol w="8302410"/>
              </a:tblGrid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6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fetch()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发送请求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</a:t>
                      </a:r>
                      <a:r>
                        <a:rPr lang="zh-CN" sz="16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方式的请求</a:t>
                      </a:r>
                      <a:endParaRPr lang="zh-CN" sz="16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post()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POST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方式的请求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put()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PUT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方式的请求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head()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HEAD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方式的请求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delete()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DELETE</a:t>
                      </a: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方式的请求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downloadToFile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发送下载文件的请求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uploadFromFile</a:t>
                      </a: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发送上传文件的请求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cancel()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取消请求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2409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close()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6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关闭会话</a:t>
                      </a:r>
                      <a:endParaRPr lang="zh-CN" sz="16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761581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Remote Communication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1666" y="1047594"/>
            <a:ext cx="1058517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get()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 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表示请求的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destination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是可选参数，表示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设置该参数。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post()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表示请求的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是可选参数，表示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destination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是可选参数，表示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该参数。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78882" y="1659746"/>
            <a:ext cx="6192688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destination?)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78882" y="4150998"/>
            <a:ext cx="6192688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post(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content?, destination?)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761581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Remote Communication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9658" y="1090242"/>
            <a:ext cx="10585176" cy="1719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Promise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，用于对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Promise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then()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个参数是一个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回调函数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75662" y="3107028"/>
          <a:ext cx="10549172" cy="269903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46762"/>
                <a:gridCol w="8302410"/>
              </a:tblGrid>
              <a:tr h="53980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属性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3980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body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服务器的响应内容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3980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statusCode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服务器的响应状态码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3980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headers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服务器的响应头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3980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cookies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服务器的响应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cookies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761581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Remote Communication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9658" y="1133784"/>
            <a:ext cx="1058517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close()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close()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82263" y="1837643"/>
          <a:ext cx="8935968" cy="161941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03182"/>
                <a:gridCol w="7032786"/>
              </a:tblGrid>
              <a:tr h="53980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3980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toString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获取字符串类型的服务器响应结果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39806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toJSON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JSON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反序列化后的服务器响应结果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111809" y="4552894"/>
            <a:ext cx="8240873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b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close()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761581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Remote Communication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669540"/>
            <a:ext cx="1457960" cy="15208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55250"/>
          <a:stretch>
            <a:fillRect/>
          </a:stretch>
        </p:blipFill>
        <p:spPr>
          <a:xfrm>
            <a:off x="118110" y="1053465"/>
            <a:ext cx="6753225" cy="30689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45806"/>
          <a:stretch>
            <a:fillRect/>
          </a:stretch>
        </p:blipFill>
        <p:spPr>
          <a:xfrm>
            <a:off x="5158740" y="2925445"/>
            <a:ext cx="6753225" cy="3716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761581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8.2.4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Remote Communication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Kit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669540"/>
            <a:ext cx="1457960" cy="15208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480" y="909320"/>
            <a:ext cx="7406640" cy="5850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5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031769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使用</a:t>
            </a:r>
            <a:r>
              <a:rPr lang="en-US" altLang="zh-CN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axios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发送网络请求的方法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，能够使用</a:t>
            </a:r>
            <a:r>
              <a:rPr lang="en-US" altLang="zh-CN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axios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发送网络请求 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1" name="椭圆 10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Picture 7" descr="总结小人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6" y="761299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标注 11"/>
          <p:cNvSpPr/>
          <p:nvPr/>
        </p:nvSpPr>
        <p:spPr bwMode="auto">
          <a:xfrm rot="5400000">
            <a:off x="6734367" y="36507"/>
            <a:ext cx="2223018" cy="6147732"/>
          </a:xfrm>
          <a:prstGeom prst="wedgeRoundRectCallout">
            <a:avLst/>
          </a:prstGeom>
          <a:noFill/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231111" y="2160279"/>
            <a:ext cx="53285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网络请求库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，它常用于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开发中。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允许开发者使用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，从而让具有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快速上手鸿蒙开发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1458" y="981522"/>
            <a:ext cx="10584348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为开发者提供了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OpenHarmony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三方库中心仓”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平台，开发者可以通过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该平台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快速获取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自己的代码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共享到该平台。在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该平台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中可以找到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338" name="Picture 2" descr="weweeweqw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560" y="2164556"/>
            <a:ext cx="6578143" cy="3963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0630" y="1773610"/>
            <a:ext cx="10584348" cy="3439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．安装</a:t>
            </a:r>
            <a:r>
              <a:rPr lang="en-US" altLang="zh-CN" sz="2000" b="1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b="1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鸿蒙项目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ohpm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ohpm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是鸿蒙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包管理工具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前端开发中的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，其用法也与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非常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ohpm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5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）通过执行命令的方式安装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）通过修改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oh-package.json5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0630" y="981522"/>
            <a:ext cx="1058434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）通过执行命令的方式安装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通过执行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的具体步骤如下。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DevEco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Studio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中切换到“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362" name="Picture 2" descr="1-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961" y="2781722"/>
            <a:ext cx="7175686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602244" y="5424506"/>
            <a:ext cx="9217024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在项目根目录下安装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，可以在项目的所有模块中使用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只想在特定模块下使用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，可以先执行“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 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目录名”命令切换到模块目录，再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8"/>
          <p:cNvSpPr/>
          <p:nvPr/>
        </p:nvSpPr>
        <p:spPr>
          <a:xfrm>
            <a:off x="1297176" y="5300915"/>
            <a:ext cx="9666108" cy="11381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7" name="流程图: 资料带 6"/>
          <p:cNvSpPr/>
          <p:nvPr/>
        </p:nvSpPr>
        <p:spPr>
          <a:xfrm>
            <a:off x="1098188" y="5065114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9658" y="1514044"/>
            <a:ext cx="105843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以下命令，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ohpm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表示执行的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install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表示安装，可以简写成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ohos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2.2.4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11395" y="2359099"/>
            <a:ext cx="8240873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b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ohpm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install @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ohos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/axios@2.2.4 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9658" y="2080657"/>
            <a:ext cx="10584348" cy="2285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）通过修改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oh-package.json5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项目根目录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下各有一个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oh-package.json5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下的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oh-package.json5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全局依赖配置文件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，作用于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oh-package.json5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模块级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依赖配置文件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，作用于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模块内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9658" y="1269554"/>
            <a:ext cx="1058434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命令的方式安装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时，程序会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自动向当前目录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oh-package.json5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。如果不想通过执行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命令的方式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，开发者可以手动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oh-package.json5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依赖信息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，将代码写在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dependencies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内，示例代码如下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oh-package.json5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DevEco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Studio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需要同步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的提示，单击“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Sync Now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进行同步，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DevEco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Studio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会自动通过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ohpm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1395" y="3098782"/>
            <a:ext cx="8240873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b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"dependencies": { 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"@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ohos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axios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": "2.2.4" 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}, 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9657" y="1836816"/>
            <a:ext cx="1058434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．使用</a:t>
            </a:r>
            <a:r>
              <a:rPr lang="en-US" altLang="zh-CN" sz="2000" b="1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en-US" altLang="zh-CN" sz="2000" b="1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b="1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，需要先导入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（或称为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），示例代码如下。 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1394" y="3501802"/>
            <a:ext cx="8240873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b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import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axios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from '@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ohos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axios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 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1125538"/>
            <a:ext cx="1058434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58702" y="2061642"/>
          <a:ext cx="8928992" cy="37871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12494"/>
                <a:gridCol w="6716498"/>
              </a:tblGrid>
              <a:tr h="54102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zh-CN" sz="1800" b="1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800" b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create()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创建实例</a:t>
                      </a:r>
                      <a:endParaRPr lang="zh-CN" sz="18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request()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发送请求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方式的请求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delete()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DELTE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方式的请求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post()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POST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方式的请求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put()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>
                        <a:spcAft>
                          <a:spcPts val="0"/>
                        </a:spcAft>
                      </a:pP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发送</a:t>
                      </a:r>
                      <a:r>
                        <a:rPr lang="en-US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PUT</a:t>
                      </a:r>
                      <a:r>
                        <a:rPr lang="zh-CN" sz="18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方式的请求</a:t>
                      </a:r>
                      <a:endParaRPr lang="zh-CN" sz="18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1125538"/>
            <a:ext cx="10584348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get()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请求的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是可选参数，表示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请求的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设置该参数。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post()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 smtClean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500" dirty="0">
              <a:solidFill>
                <a:srgbClr val="1369B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表示请求的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是可选参数，表示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的正文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部分的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是可选参数，表示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请求的相关配置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该参数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4255" y="1744582"/>
            <a:ext cx="6461111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b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get(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config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?)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44255" y="4149874"/>
            <a:ext cx="6461111" cy="458908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b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post(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url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data?,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config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?)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4735492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8.2.5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</a:t>
            </a:r>
            <a:r>
              <a:rPr lang="en-US" altLang="zh-CN" sz="2400" b="1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axios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发送网络请求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75126" y="3109091"/>
            <a:ext cx="4896544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下面通过代码演示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对象的使用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726" y="1918743"/>
            <a:ext cx="2761597" cy="2880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810461" y="3014256"/>
            <a:ext cx="7813720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外卖点餐页面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03816" y="2925738"/>
            <a:ext cx="2088232" cy="1015663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0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8.3</a:t>
            </a:r>
            <a:endParaRPr lang="en-US" altLang="en-GB" sz="60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卖点餐页面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5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5815965" y="3576722"/>
            <a:ext cx="5031769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阶段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案例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——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外卖点餐页面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能够独立完成代码编写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0" name="椭圆 9"/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8.3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阶段案例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——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卖点餐页面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1125538"/>
            <a:ext cx="7399787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本案例将实现一个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外卖点餐页面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，其效果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386" name="Picture 2" descr="8-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897" y="2084024"/>
            <a:ext cx="1995327" cy="39859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7" name="Picture 3" descr="8-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201" y="2070109"/>
            <a:ext cx="2016224" cy="397393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圆角矩形 26"/>
          <p:cNvSpPr/>
          <p:nvPr/>
        </p:nvSpPr>
        <p:spPr>
          <a:xfrm>
            <a:off x="1198880" y="2026409"/>
            <a:ext cx="9794240" cy="3347601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20" name="TextBox 38"/>
          <p:cNvSpPr txBox="1"/>
          <p:nvPr/>
        </p:nvSpPr>
        <p:spPr>
          <a:xfrm>
            <a:off x="1558140" y="2648152"/>
            <a:ext cx="9159530" cy="2308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本章主要讲解了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的相关知识。其中，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的相关知识主要包括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属性动画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图像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帧动画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转场动画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的相关知识主要包括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申请网络权限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启动服务器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Network Kit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、使用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Remote Communication 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Kit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以及使用</a:t>
            </a:r>
            <a:r>
              <a:rPr lang="en-US" altLang="zh-CN" sz="20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axios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。通过本章的学习，读者应该能够运用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提升鸿蒙应用的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交互体验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，能够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运用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实现鸿蒙应用与服务器的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数据传递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420235" y="161746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139055" y="161746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857875" y="161746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576695" y="1617469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2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3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4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5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6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7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8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9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10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11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12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13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14.xml><?xml version="1.0" encoding="utf-8"?>
<p:tagLst xmlns:p="http://schemas.openxmlformats.org/presentationml/2006/main">
  <p:tag name="TABLE_ENDDRAG_ORIGIN_RECT" val="630*170"/>
  <p:tag name="TABLE_ENDDRAG_RECT" val="111*202*630*170"/>
</p:tagLst>
</file>

<file path=ppt/tags/tag15.xml><?xml version="1.0" encoding="utf-8"?>
<p:tagLst xmlns:p="http://schemas.openxmlformats.org/presentationml/2006/main">
  <p:tag name="TABLE_ENDDRAG_ORIGIN_RECT" val="630*170"/>
  <p:tag name="TABLE_ENDDRAG_RECT" val="111*202*630*17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16696</Words>
  <Application>WPS 演示</Application>
  <PresentationFormat>自定义</PresentationFormat>
  <Paragraphs>1229</Paragraphs>
  <Slides>99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99</vt:i4>
      </vt:variant>
    </vt:vector>
  </HeadingPairs>
  <TitlesOfParts>
    <vt:vector size="137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U.S. 101</vt:lpstr>
      <vt:lpstr>Segoe Print</vt:lpstr>
      <vt:lpstr>Roboto</vt:lpstr>
      <vt:lpstr>Times New Roman</vt:lpstr>
      <vt:lpstr>Open Sans Light</vt:lpstr>
      <vt:lpstr>字魂105号-简雅黑</vt:lpstr>
      <vt:lpstr>Arial Unicode MS</vt:lpstr>
      <vt:lpstr>等线</vt:lpstr>
      <vt:lpstr>Yu Gothic UI Semibold</vt:lpstr>
      <vt:lpstr>等线 Light</vt:lpstr>
      <vt:lpstr>Source Han Sans K Bold</vt:lpstr>
      <vt:lpstr>字魂58号-创中黑</vt:lpstr>
      <vt:lpstr>思源黑体 CN Medium</vt:lpstr>
      <vt:lpstr>方正宝黑体 简 Medium</vt:lpstr>
      <vt:lpstr>字魂创中黑</vt:lpstr>
      <vt:lpstr>Wonder Sans Bold</vt:lpstr>
      <vt:lpstr>字小魂简雅黑</vt:lpstr>
      <vt:lpstr>webwppDefTheme</vt:lpstr>
      <vt:lpstr>Office 主题</vt:lpstr>
      <vt:lpstr>1_自定义设计方案</vt:lpstr>
      <vt:lpstr>2_自定义设计方案</vt:lpstr>
      <vt:lpstr>自定义设计方案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Visio.Drawing.15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oldman</cp:lastModifiedBy>
  <cp:revision>7122</cp:revision>
  <dcterms:created xsi:type="dcterms:W3CDTF">2020-11-09T06:56:00Z</dcterms:created>
  <dcterms:modified xsi:type="dcterms:W3CDTF">2026-06-09T06:56:42Z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7D491DAE64C64910A4EC68A422A85805_12</vt:lpwstr>
  </property>
</Properties>
</file>