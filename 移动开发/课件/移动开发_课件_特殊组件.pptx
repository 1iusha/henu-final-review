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11"/>
  </p:notesMasterIdLst>
  <p:handoutMasterIdLst>
    <p:handoutMasterId r:id="rId86"/>
  </p:handoutMasterIdLst>
  <p:sldIdLst>
    <p:sldId id="557" r:id="rId4"/>
    <p:sldId id="592" r:id="rId5"/>
    <p:sldId id="593" r:id="rId6"/>
    <p:sldId id="594" r:id="rId7"/>
    <p:sldId id="595" r:id="rId8"/>
    <p:sldId id="596" r:id="rId9"/>
    <p:sldId id="597" r:id="rId10"/>
    <p:sldId id="598" r:id="rId12"/>
    <p:sldId id="599" r:id="rId13"/>
    <p:sldId id="600" r:id="rId14"/>
    <p:sldId id="601" r:id="rId15"/>
    <p:sldId id="602" r:id="rId16"/>
    <p:sldId id="603" r:id="rId17"/>
    <p:sldId id="604" r:id="rId18"/>
    <p:sldId id="605" r:id="rId19"/>
    <p:sldId id="606" r:id="rId20"/>
    <p:sldId id="607" r:id="rId21"/>
    <p:sldId id="608" r:id="rId22"/>
    <p:sldId id="609" r:id="rId23"/>
    <p:sldId id="610" r:id="rId24"/>
    <p:sldId id="611" r:id="rId25"/>
    <p:sldId id="613" r:id="rId26"/>
    <p:sldId id="612" r:id="rId27"/>
    <p:sldId id="614" r:id="rId28"/>
    <p:sldId id="615" r:id="rId29"/>
    <p:sldId id="616" r:id="rId30"/>
    <p:sldId id="617" r:id="rId31"/>
    <p:sldId id="618" r:id="rId32"/>
    <p:sldId id="619" r:id="rId33"/>
    <p:sldId id="620" r:id="rId34"/>
    <p:sldId id="621" r:id="rId35"/>
    <p:sldId id="622" r:id="rId36"/>
    <p:sldId id="623" r:id="rId37"/>
    <p:sldId id="624" r:id="rId38"/>
    <p:sldId id="625" r:id="rId39"/>
    <p:sldId id="626" r:id="rId40"/>
    <p:sldId id="627" r:id="rId41"/>
    <p:sldId id="628" r:id="rId42"/>
    <p:sldId id="629" r:id="rId43"/>
    <p:sldId id="630" r:id="rId44"/>
    <p:sldId id="631" r:id="rId45"/>
    <p:sldId id="632" r:id="rId46"/>
    <p:sldId id="633" r:id="rId47"/>
    <p:sldId id="634" r:id="rId48"/>
    <p:sldId id="635" r:id="rId49"/>
    <p:sldId id="636" r:id="rId50"/>
    <p:sldId id="637" r:id="rId51"/>
    <p:sldId id="638" r:id="rId52"/>
    <p:sldId id="639" r:id="rId53"/>
    <p:sldId id="640" r:id="rId54"/>
    <p:sldId id="641" r:id="rId55"/>
    <p:sldId id="642" r:id="rId56"/>
    <p:sldId id="643" r:id="rId57"/>
    <p:sldId id="644" r:id="rId58"/>
    <p:sldId id="645" r:id="rId59"/>
    <p:sldId id="646" r:id="rId60"/>
    <p:sldId id="647" r:id="rId61"/>
    <p:sldId id="648" r:id="rId62"/>
    <p:sldId id="649" r:id="rId63"/>
    <p:sldId id="650" r:id="rId64"/>
    <p:sldId id="651" r:id="rId65"/>
    <p:sldId id="652" r:id="rId66"/>
    <p:sldId id="653" r:id="rId67"/>
    <p:sldId id="654" r:id="rId68"/>
    <p:sldId id="655" r:id="rId69"/>
    <p:sldId id="656" r:id="rId70"/>
    <p:sldId id="657" r:id="rId71"/>
    <p:sldId id="658" r:id="rId72"/>
    <p:sldId id="659" r:id="rId73"/>
    <p:sldId id="660" r:id="rId74"/>
    <p:sldId id="661" r:id="rId75"/>
    <p:sldId id="662" r:id="rId76"/>
    <p:sldId id="663" r:id="rId77"/>
    <p:sldId id="664" r:id="rId78"/>
    <p:sldId id="665" r:id="rId79"/>
    <p:sldId id="666" r:id="rId80"/>
    <p:sldId id="667" r:id="rId81"/>
    <p:sldId id="668" r:id="rId82"/>
    <p:sldId id="669" r:id="rId83"/>
    <p:sldId id="671" r:id="rId84"/>
    <p:sldId id="670" r:id="rId85"/>
  </p:sldIdLst>
  <p:sldSz cx="12190095" cy="6859270"/>
  <p:notesSz cx="6858000" cy="9144000"/>
  <p:custDataLst>
    <p:tags r:id="rId9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56" userDrawn="1">
          <p15:clr>
            <a:srgbClr val="A4A3A4"/>
          </p15:clr>
        </p15:guide>
        <p15:guide id="3" pos="66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CC"/>
    <a:srgbClr val="006BBC"/>
    <a:srgbClr val="3992DB"/>
    <a:srgbClr val="008DF6"/>
    <a:srgbClr val="005DA2"/>
    <a:srgbClr val="1369B2"/>
    <a:srgbClr val="595959"/>
    <a:srgbClr val="FAFAFA"/>
    <a:srgbClr val="F2F2F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0" autoAdjust="0"/>
    <p:restoredTop sz="59569" autoAdjust="0"/>
  </p:normalViewPr>
  <p:slideViewPr>
    <p:cSldViewPr showGuides="1">
      <p:cViewPr varScale="1">
        <p:scale>
          <a:sx n="50" d="100"/>
          <a:sy n="50" d="100"/>
        </p:scale>
        <p:origin x="1690" y="48"/>
      </p:cViewPr>
      <p:guideLst>
        <p:guide orient="horz" pos="2192"/>
        <p:guide pos="256"/>
        <p:guide pos="665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922"/>
        <p:guide pos="2262"/>
      </p:guideLst>
    </p:cSldViewPr>
  </p:notes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1.xml"/><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handoutMaster" Target="handoutMasters/handoutMaster1.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developer.huawei.com/consumer/cn/doc/harmonyos-references/ts-basic-components-navdestination" TargetMode="External"/><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二维码是一种由黑白像素组成的二维图形码，其可存储大量信息。随着移动互联网的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普及，二维码的应用场景越来越广泛，如扫码添加好友、扫码骑车、扫码支付等。这些应</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用场景的出现，极大地方便了人们的生活，提高了效率。</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开发框架是基于</a:t>
            </a:r>
            <a:r>
              <a:rPr lang="en-US" altLang="zh-CN" b="0" i="0" dirty="0">
                <a:solidFill>
                  <a:srgbClr val="343434"/>
                </a:solidFill>
                <a:effectLst/>
                <a:latin typeface="PingFang SC"/>
              </a:rPr>
              <a:t>Vue.js</a:t>
            </a:r>
            <a:r>
              <a:rPr lang="zh-CN" altLang="en-US" b="0" i="0" dirty="0">
                <a:solidFill>
                  <a:srgbClr val="343434"/>
                </a:solidFill>
                <a:effectLst/>
                <a:latin typeface="PingFang SC"/>
              </a:rPr>
              <a:t>的</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UI</a:t>
            </a:r>
            <a:r>
              <a:rPr lang="zh-CN" altLang="en-US" b="0" i="0" dirty="0">
                <a:solidFill>
                  <a:srgbClr val="343434"/>
                </a:solidFill>
                <a:effectLst/>
                <a:latin typeface="PingFang SC"/>
              </a:rPr>
              <a:t>组件库，提供了</a:t>
            </a:r>
            <a:r>
              <a:rPr lang="en-US" altLang="zh-CN" b="0" i="0" dirty="0" err="1">
                <a:solidFill>
                  <a:srgbClr val="343434"/>
                </a:solidFill>
                <a:effectLst/>
                <a:latin typeface="PingFang SC"/>
              </a:rPr>
              <a:t>QRCode</a:t>
            </a:r>
            <a:r>
              <a:rPr lang="zh-CN" altLang="en-US" b="0" i="0" dirty="0">
                <a:solidFill>
                  <a:srgbClr val="343434"/>
                </a:solidFill>
                <a:effectLst/>
                <a:latin typeface="PingFang SC"/>
              </a:rPr>
              <a:t>组件，可帮助开发者快速生成二维码。</a:t>
            </a:r>
            <a:r>
              <a:rPr lang="en-US" altLang="zh-CN" b="0" i="0" dirty="0" err="1">
                <a:solidFill>
                  <a:srgbClr val="343434"/>
                </a:solidFill>
                <a:effectLst/>
                <a:latin typeface="PingFang SC"/>
              </a:rPr>
              <a:t>QRCode</a:t>
            </a:r>
            <a:r>
              <a:rPr lang="zh-CN" altLang="en-US" b="0" i="0" dirty="0">
                <a:solidFill>
                  <a:srgbClr val="343434"/>
                </a:solidFill>
                <a:effectLst/>
                <a:latin typeface="PingFang SC"/>
              </a:rPr>
              <a:t>组件支持自定</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义二维码的大小、颜色、边框等属性，使得开发者可以根据自身品牌风格生成符合需求的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二维码。</a:t>
            </a:r>
            <a:r>
              <a:rPr lang="en-US" altLang="zh-CN" b="0" i="0" dirty="0" err="1">
                <a:solidFill>
                  <a:srgbClr val="343434"/>
                </a:solidFill>
                <a:effectLst/>
                <a:latin typeface="PingFang SC"/>
              </a:rPr>
              <a:t>QRCode</a:t>
            </a:r>
            <a:r>
              <a:rPr lang="zh-CN" altLang="en-US" b="0" i="0" dirty="0">
                <a:solidFill>
                  <a:srgbClr val="343434"/>
                </a:solidFill>
                <a:effectLst/>
                <a:latin typeface="PingFang SC"/>
              </a:rPr>
              <a:t>组件的推出，为开发者提供了一种快速生成二维码的解决方案，使得开</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发者能够更专注于业务逻辑的开发。</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ArkUI</a:t>
            </a:r>
            <a:r>
              <a:rPr lang="zh-CN" altLang="en-US" dirty="0"/>
              <a:t>开发框架的</a:t>
            </a:r>
            <a:r>
              <a:rPr lang="en-US" altLang="zh-CN" dirty="0"/>
              <a:t>Toggle</a:t>
            </a:r>
            <a:r>
              <a:rPr lang="zh-CN" altLang="en-US" dirty="0"/>
              <a:t>组件为开发者提供了一种表示开关的解决方案。与</a:t>
            </a:r>
            <a:r>
              <a:rPr lang="en-US" altLang="zh-CN" dirty="0"/>
              <a:t>Button</a:t>
            </a:r>
            <a:r>
              <a:rPr lang="zh-CN" altLang="en-US" dirty="0"/>
              <a:t>组件类似，</a:t>
            </a:r>
            <a:r>
              <a:rPr lang="en-US" altLang="zh-CN" dirty="0"/>
              <a:t>Toggle</a:t>
            </a:r>
            <a:r>
              <a:rPr lang="zh-CN" altLang="en-US" dirty="0"/>
              <a:t>组件也支持添加子组件以实现更为丰富的开关样式。此外，该组件还支持自定义开关样式，以满足用户的个性化需求。</a:t>
            </a:r>
            <a:r>
              <a:rPr lang="en-US" altLang="zh-CN" dirty="0"/>
              <a:t>Toggle</a:t>
            </a:r>
            <a:r>
              <a:rPr lang="zh-CN" altLang="en-US" dirty="0"/>
              <a:t>组件还支持设置默认开关状态，以及在开关状态改变时触发相应的事件。这些功能的实现是通过</a:t>
            </a:r>
            <a:r>
              <a:rPr lang="en-US" altLang="zh-CN" dirty="0"/>
              <a:t>Toggle</a:t>
            </a:r>
            <a:r>
              <a:rPr lang="zh-CN" altLang="en-US" dirty="0"/>
              <a:t>组件内部的逻辑和属性来实现的，用户只需按照框架提供的</a:t>
            </a:r>
            <a:r>
              <a:rPr lang="en-US" altLang="zh-CN" dirty="0"/>
              <a:t>API</a:t>
            </a:r>
            <a:r>
              <a:rPr lang="zh-CN" altLang="en-US" dirty="0"/>
              <a:t>进行设置即可。总体而言，</a:t>
            </a:r>
            <a:r>
              <a:rPr lang="en-US" altLang="zh-CN" dirty="0" err="1"/>
              <a:t>ArkUI</a:t>
            </a:r>
            <a:r>
              <a:rPr lang="zh-CN" altLang="en-US" dirty="0"/>
              <a:t>开发框架的</a:t>
            </a:r>
            <a:r>
              <a:rPr lang="en-US" altLang="zh-CN" dirty="0"/>
              <a:t>Toggle</a:t>
            </a:r>
            <a:r>
              <a:rPr lang="zh-CN" altLang="en-US" dirty="0"/>
              <a:t>组件是一款实用、灵活的组件，能够帮助开发者快速实</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ArkUI</a:t>
            </a:r>
            <a:r>
              <a:rPr lang="zh-CN" altLang="en-US" dirty="0"/>
              <a:t>开发框架的</a:t>
            </a:r>
            <a:r>
              <a:rPr lang="en-US" altLang="zh-CN" dirty="0"/>
              <a:t>Toggle</a:t>
            </a:r>
            <a:r>
              <a:rPr lang="zh-CN" altLang="en-US" dirty="0"/>
              <a:t>组件为开发者提供了一种表示开关的解决方案。与</a:t>
            </a:r>
            <a:r>
              <a:rPr lang="en-US" altLang="zh-CN" dirty="0"/>
              <a:t>Button</a:t>
            </a:r>
            <a:r>
              <a:rPr lang="zh-CN" altLang="en-US" dirty="0"/>
              <a:t>组件类似，</a:t>
            </a:r>
            <a:r>
              <a:rPr lang="en-US" altLang="zh-CN" dirty="0"/>
              <a:t>Toggle</a:t>
            </a:r>
            <a:r>
              <a:rPr lang="zh-CN" altLang="en-US" dirty="0"/>
              <a:t>组件也支持添加子组件以实现更为丰富的开关样式。此外，该组件还支持自定义开关样式，以满足用户的个性化需求。</a:t>
            </a:r>
            <a:r>
              <a:rPr lang="en-US" altLang="zh-CN" dirty="0"/>
              <a:t>Toggle</a:t>
            </a:r>
            <a:r>
              <a:rPr lang="zh-CN" altLang="en-US" dirty="0"/>
              <a:t>组件还支持设置默认开关状态，以及在开关状态改变时触发相应的事件。这些功能的实现是通过</a:t>
            </a:r>
            <a:r>
              <a:rPr lang="en-US" altLang="zh-CN" dirty="0"/>
              <a:t>Toggle</a:t>
            </a:r>
            <a:r>
              <a:rPr lang="zh-CN" altLang="en-US" dirty="0"/>
              <a:t>组件内部的逻辑和属性来实现的，用户只需按照框架提供的</a:t>
            </a:r>
            <a:r>
              <a:rPr lang="en-US" altLang="zh-CN" dirty="0"/>
              <a:t>API</a:t>
            </a:r>
            <a:r>
              <a:rPr lang="zh-CN" altLang="en-US" dirty="0"/>
              <a:t>进行设置即可。总体而言，</a:t>
            </a:r>
            <a:r>
              <a:rPr lang="en-US" altLang="zh-CN" dirty="0" err="1"/>
              <a:t>ArkUI</a:t>
            </a:r>
            <a:r>
              <a:rPr lang="zh-CN" altLang="en-US" dirty="0"/>
              <a:t>开发框架的</a:t>
            </a:r>
            <a:r>
              <a:rPr lang="en-US" altLang="zh-CN" dirty="0"/>
              <a:t>Toggle</a:t>
            </a:r>
            <a:r>
              <a:rPr lang="zh-CN" altLang="en-US" dirty="0"/>
              <a:t>组件是一款实用、灵活的组件，能够帮助开发者快速实</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err="1">
                <a:solidFill>
                  <a:srgbClr val="343434"/>
                </a:solidFill>
                <a:effectLst/>
                <a:latin typeface="PingFang SC"/>
              </a:rPr>
              <a:t>DataPanel</a:t>
            </a:r>
            <a:r>
              <a:rPr lang="zh-CN" altLang="en-US" b="0" i="0" dirty="0">
                <a:solidFill>
                  <a:srgbClr val="343434"/>
                </a:solidFill>
                <a:effectLst/>
                <a:latin typeface="PingFang SC"/>
              </a:rPr>
              <a:t>数据面板组件是一种用于数据可视化的组件，它主要用于展示多个数据占比</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情况。该组件采用占比图的形式，将不同数据之间的比例关系以直观的方式呈现出来，帮</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助用户更好地理解数据之间的关系。通过使用</a:t>
            </a:r>
            <a:r>
              <a:rPr lang="en-US" altLang="zh-CN" b="0" i="0" dirty="0" err="1">
                <a:solidFill>
                  <a:srgbClr val="343434"/>
                </a:solidFill>
                <a:effectLst/>
                <a:latin typeface="PingFang SC"/>
              </a:rPr>
              <a:t>DataPanel</a:t>
            </a:r>
            <a:r>
              <a:rPr lang="zh-CN" altLang="en-US" b="0" i="0" dirty="0">
                <a:solidFill>
                  <a:srgbClr val="343434"/>
                </a:solidFill>
                <a:effectLst/>
                <a:latin typeface="PingFang SC"/>
              </a:rPr>
              <a:t>数据面板组件，用户可以快速了解</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数据的分布情况，从而更好地进行数据分析和决策。该组件具有简单易用、直观明了、信</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息量大等优点，是数据可视化中不可或缺的一部分。</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FZSSK--GBK1-0"/>
              </a:rPr>
              <a:t>该组件能够在页面中显示一个警告弹窗，用户可以通过设置文本内容来传递重要的提</a:t>
            </a:r>
            <a:endParaRPr lang="zh-CN" altLang="en-US" sz="1800" b="0" i="0" u="none" strike="noStrike" baseline="0" dirty="0">
              <a:latin typeface="FZSSK--GBK1-0"/>
            </a:endParaRPr>
          </a:p>
          <a:p>
            <a:pPr algn="l"/>
            <a:r>
              <a:rPr lang="zh-CN" altLang="en-US" sz="1800" b="0" i="0" u="none" strike="noStrike" baseline="0" dirty="0">
                <a:latin typeface="FZSSK--GBK1-0"/>
              </a:rPr>
              <a:t>示信息。此外，该组件还支持响应回调函数，以便在用户关闭弹窗时执行特定的操作，例</a:t>
            </a:r>
            <a:endParaRPr lang="zh-CN" altLang="en-US" sz="1800" b="0" i="0" u="none" strike="noStrike" baseline="0" dirty="0">
              <a:latin typeface="FZSSK--GBK1-0"/>
            </a:endParaRPr>
          </a:p>
          <a:p>
            <a:pPr algn="l"/>
            <a:r>
              <a:rPr lang="zh-CN" altLang="en-US" sz="1800" b="0" i="0" u="none" strike="noStrike" baseline="0" dirty="0">
                <a:latin typeface="FZSSK--GBK1-0"/>
              </a:rPr>
              <a:t>如更新页面状态或执行其他操作。使用该组件能够使页面更友好地向用户传递重要的提示</a:t>
            </a:r>
            <a:endParaRPr lang="zh-CN" altLang="en-US" sz="1800" b="0" i="0" u="none" strike="noStrike" baseline="0" dirty="0">
              <a:latin typeface="FZSSK--GBK1-0"/>
            </a:endParaRPr>
          </a:p>
          <a:p>
            <a:pPr algn="l"/>
            <a:r>
              <a:rPr lang="zh-CN" altLang="en-US" sz="1800" b="0" i="0" u="none" strike="noStrike" baseline="0" dirty="0">
                <a:latin typeface="FZSSK--GBK1-0"/>
              </a:rPr>
              <a:t>信息，从而提高用户体验。例如，在用户提交表单时，如果提交失败，可以使用该组件弹</a:t>
            </a:r>
            <a:endParaRPr lang="zh-CN" altLang="en-US" sz="1800" b="0" i="0" u="none" strike="noStrike" baseline="0" dirty="0">
              <a:latin typeface="FZSSK--GBK1-0"/>
            </a:endParaRPr>
          </a:p>
          <a:p>
            <a:pPr algn="l"/>
            <a:r>
              <a:rPr lang="zh-CN" altLang="en-US" sz="1800" b="0" i="0" u="none" strike="noStrike" baseline="0" dirty="0">
                <a:latin typeface="FZSSK--GBK1-0"/>
              </a:rPr>
              <a:t>出一个警告弹窗，提示用户提交失败的原因，并提供相应的解决方案。这可以帮助用户更</a:t>
            </a:r>
            <a:endParaRPr lang="zh-CN" altLang="en-US" sz="1800" b="0" i="0" u="none" strike="noStrike" baseline="0" dirty="0">
              <a:latin typeface="FZSSK--GBK1-0"/>
            </a:endParaRPr>
          </a:p>
          <a:p>
            <a:pPr algn="l"/>
            <a:r>
              <a:rPr lang="zh-CN" altLang="en-US" sz="1800" b="0" i="0" u="none" strike="noStrike" baseline="0" dirty="0">
                <a:latin typeface="FZSSK--GBK1-0"/>
              </a:rPr>
              <a:t>快地找到问题所在，从而提高用户满意度。</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FZSSK--GBK1-0"/>
              </a:rPr>
              <a:t>该组件能够在页面中显示一个警告弹窗，用户可以通过设置文本内容来传递重要的提</a:t>
            </a:r>
            <a:endParaRPr lang="zh-CN" altLang="en-US" sz="1800" b="0" i="0" u="none" strike="noStrike" baseline="0" dirty="0">
              <a:latin typeface="FZSSK--GBK1-0"/>
            </a:endParaRPr>
          </a:p>
          <a:p>
            <a:pPr algn="l"/>
            <a:r>
              <a:rPr lang="zh-CN" altLang="en-US" sz="1800" b="0" i="0" u="none" strike="noStrike" baseline="0" dirty="0">
                <a:latin typeface="FZSSK--GBK1-0"/>
              </a:rPr>
              <a:t>示信息。此外，该组件还支持响应回调函数，以便在用户关闭弹窗时执行特定的操作，例</a:t>
            </a:r>
            <a:endParaRPr lang="zh-CN" altLang="en-US" sz="1800" b="0" i="0" u="none" strike="noStrike" baseline="0" dirty="0">
              <a:latin typeface="FZSSK--GBK1-0"/>
            </a:endParaRPr>
          </a:p>
          <a:p>
            <a:pPr algn="l"/>
            <a:r>
              <a:rPr lang="zh-CN" altLang="en-US" sz="1800" b="0" i="0" u="none" strike="noStrike" baseline="0" dirty="0">
                <a:latin typeface="FZSSK--GBK1-0"/>
              </a:rPr>
              <a:t>如更新页面状态或执行其他操作。使用该组件能够使页面更友好地向用户传递重要的提示</a:t>
            </a:r>
            <a:endParaRPr lang="zh-CN" altLang="en-US" sz="1800" b="0" i="0" u="none" strike="noStrike" baseline="0" dirty="0">
              <a:latin typeface="FZSSK--GBK1-0"/>
            </a:endParaRPr>
          </a:p>
          <a:p>
            <a:pPr algn="l"/>
            <a:r>
              <a:rPr lang="zh-CN" altLang="en-US" sz="1800" b="0" i="0" u="none" strike="noStrike" baseline="0" dirty="0">
                <a:latin typeface="FZSSK--GBK1-0"/>
              </a:rPr>
              <a:t>信息，从而提高用户体验。例如，在用户提交表单时，如果提交失败，可以使用该组件弹</a:t>
            </a:r>
            <a:endParaRPr lang="zh-CN" altLang="en-US" sz="1800" b="0" i="0" u="none" strike="noStrike" baseline="0" dirty="0">
              <a:latin typeface="FZSSK--GBK1-0"/>
            </a:endParaRPr>
          </a:p>
          <a:p>
            <a:pPr algn="l"/>
            <a:r>
              <a:rPr lang="zh-CN" altLang="en-US" sz="1800" b="0" i="0" u="none" strike="noStrike" baseline="0" dirty="0">
                <a:latin typeface="FZSSK--GBK1-0"/>
              </a:rPr>
              <a:t>出一个警告弹窗，提示用户提交失败的原因，并提供相应的解决方案。这可以帮助用户更</a:t>
            </a:r>
            <a:endParaRPr lang="zh-CN" altLang="en-US" sz="1800" b="0" i="0" u="none" strike="noStrike" baseline="0" dirty="0">
              <a:latin typeface="FZSSK--GBK1-0"/>
            </a:endParaRPr>
          </a:p>
          <a:p>
            <a:pPr algn="l"/>
            <a:r>
              <a:rPr lang="zh-CN" altLang="en-US" sz="1800" b="0" i="0" u="none" strike="noStrike" baseline="0" dirty="0">
                <a:latin typeface="FZSSK--GBK1-0"/>
              </a:rPr>
              <a:t>快地找到问题所在，从而提高用户满意度。</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err="1">
                <a:latin typeface="FZSSK--GBK1-0"/>
              </a:rPr>
              <a:t>ActionSheet</a:t>
            </a:r>
            <a:r>
              <a:rPr lang="zh-CN" altLang="en-US" sz="1800" b="0" i="0" u="none" strike="noStrike" baseline="0" dirty="0">
                <a:latin typeface="FZSSK--GBK1-0"/>
              </a:rPr>
              <a:t>列表选择弹窗是一种常见的移动端弹窗样式，通常出现在需要用户选择某些操作或选项的情况下。它通常由一个按钮或者一个图标触发，当用户点击它时，会弹出一个列表，列表中包含一些选项供用户选择。用户可以通过滑动列表来查看所有选项，并通过点击选项来进行选择。一般来说，</a:t>
            </a:r>
            <a:r>
              <a:rPr lang="en-US" altLang="zh-CN" sz="1800" b="0" i="0" u="none" strike="noStrike" baseline="0" dirty="0" err="1">
                <a:latin typeface="FZSSK--GBK1-0"/>
              </a:rPr>
              <a:t>ActionSheet</a:t>
            </a:r>
            <a:r>
              <a:rPr lang="zh-CN" altLang="en-US" sz="1800" b="0" i="0" u="none" strike="noStrike" baseline="0" dirty="0">
                <a:latin typeface="FZSSK--GBK1-0"/>
              </a:rPr>
              <a:t>列表选择弹窗的样式比较简洁，不会影响用户的主要操作，但可以提供一些辅助的操作。</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r>
              <a:rPr lang="zh-CN" altLang="en-US" sz="1800" dirty="0">
                <a:solidFill>
                  <a:srgbClr val="231F20"/>
                </a:solidFill>
                <a:effectLst/>
                <a:latin typeface="方正书宋_GBK" panose="02000000000000000000" charset="-122"/>
              </a:rPr>
              <a:t>虽然已经提供了很多内置弹窗效果，但是真实开发过程中往往要达到风格统一。如果 </a:t>
            </a:r>
            <a:endParaRPr lang="zh-CN" altLang="en-US" dirty="0"/>
          </a:p>
          <a:p>
            <a:pPr>
              <a:buNone/>
            </a:pPr>
            <a:r>
              <a:rPr lang="en-US" altLang="zh-CN" sz="1800" dirty="0">
                <a:solidFill>
                  <a:srgbClr val="231F20"/>
                </a:solidFill>
                <a:effectLst/>
                <a:latin typeface="EU-B3"/>
              </a:rPr>
              <a:t>UI </a:t>
            </a:r>
            <a:r>
              <a:rPr lang="zh-CN" altLang="en-US" sz="1800" dirty="0">
                <a:solidFill>
                  <a:srgbClr val="231F20"/>
                </a:solidFill>
                <a:effectLst/>
                <a:latin typeface="方正书宋_GBK" panose="02000000000000000000" charset="-122"/>
              </a:rPr>
              <a:t>设计的弹窗是其他样式，使用默认对话框就无法统一。</a:t>
            </a:r>
            <a:r>
              <a:rPr lang="en-US" altLang="zh-CN" sz="1800" dirty="0" err="1">
                <a:solidFill>
                  <a:srgbClr val="231F20"/>
                </a:solidFill>
                <a:effectLst/>
                <a:latin typeface="EU-B3"/>
              </a:rPr>
              <a:t>ArkUI</a:t>
            </a:r>
            <a:r>
              <a:rPr lang="en-US" altLang="zh-CN" sz="1800" dirty="0">
                <a:solidFill>
                  <a:srgbClr val="231F20"/>
                </a:solidFill>
                <a:effectLst/>
                <a:latin typeface="EU-B3"/>
              </a:rPr>
              <a:t> </a:t>
            </a:r>
            <a:r>
              <a:rPr lang="zh-CN" altLang="en-US" sz="1800" dirty="0">
                <a:solidFill>
                  <a:srgbClr val="231F20"/>
                </a:solidFill>
                <a:effectLst/>
                <a:latin typeface="方正书宋_GBK" panose="02000000000000000000" charset="-122"/>
              </a:rPr>
              <a:t>开发框架为解决这种场景， </a:t>
            </a:r>
            <a:endParaRPr lang="zh-CN" altLang="en-US" dirty="0"/>
          </a:p>
          <a:p>
            <a:pPr>
              <a:buNone/>
            </a:pPr>
            <a:r>
              <a:rPr lang="zh-CN" altLang="en-US" sz="1800" dirty="0">
                <a:solidFill>
                  <a:srgbClr val="231F20"/>
                </a:solidFill>
                <a:effectLst/>
                <a:latin typeface="方正书宋_GBK" panose="02000000000000000000" charset="-122"/>
              </a:rPr>
              <a:t>提供了 </a:t>
            </a:r>
            <a:r>
              <a:rPr lang="en-US" altLang="zh-CN" sz="1800" dirty="0" err="1">
                <a:solidFill>
                  <a:srgbClr val="231F20"/>
                </a:solidFill>
                <a:effectLst/>
                <a:latin typeface="EU-B3"/>
              </a:rPr>
              <a:t>CustomDialogController</a:t>
            </a:r>
            <a:r>
              <a:rPr lang="en-US" altLang="zh-CN" sz="1800" dirty="0">
                <a:solidFill>
                  <a:srgbClr val="231F20"/>
                </a:solidFill>
                <a:effectLst/>
                <a:latin typeface="EU-B3"/>
              </a:rPr>
              <a:t> </a:t>
            </a:r>
            <a:r>
              <a:rPr lang="zh-CN" altLang="en-US" sz="1800" dirty="0">
                <a:solidFill>
                  <a:srgbClr val="231F20"/>
                </a:solidFill>
                <a:effectLst/>
                <a:latin typeface="方正书宋_GBK" panose="02000000000000000000" charset="-122"/>
              </a:rPr>
              <a:t>接口，支持开发者自定义对话框。通过 </a:t>
            </a:r>
            <a:r>
              <a:rPr lang="en-US" altLang="zh-CN" sz="1800" dirty="0" err="1">
                <a:solidFill>
                  <a:srgbClr val="231F20"/>
                </a:solidFill>
                <a:effectLst/>
                <a:latin typeface="EU-B3"/>
              </a:rPr>
              <a:t>CustomDialogControl</a:t>
            </a:r>
            <a:endParaRPr lang="zh-CN" altLang="en-US" dirty="0"/>
          </a:p>
          <a:p>
            <a:pPr>
              <a:buNone/>
            </a:pPr>
            <a:r>
              <a:rPr lang="en-US" altLang="zh-CN" sz="1800" dirty="0" err="1">
                <a:solidFill>
                  <a:srgbClr val="231F20"/>
                </a:solidFill>
                <a:effectLst/>
                <a:latin typeface="EU-B3"/>
              </a:rPr>
              <a:t>ler</a:t>
            </a:r>
            <a:r>
              <a:rPr lang="en-US" altLang="zh-CN" sz="1800" dirty="0">
                <a:solidFill>
                  <a:srgbClr val="231F20"/>
                </a:solidFill>
                <a:effectLst/>
                <a:latin typeface="EU-B3"/>
              </a:rPr>
              <a:t> </a:t>
            </a:r>
            <a:r>
              <a:rPr lang="zh-CN" altLang="en-US" sz="1800" dirty="0">
                <a:solidFill>
                  <a:srgbClr val="231F20"/>
                </a:solidFill>
                <a:effectLst/>
                <a:latin typeface="方正书宋_GBK" panose="02000000000000000000" charset="-122"/>
              </a:rPr>
              <a:t>类显示自定义弹窗。使用弹窗组件时，可优先考虑自定义弹窗，便于自定义弹窗的样式 </a:t>
            </a:r>
            <a:endParaRPr lang="zh-CN" altLang="en-US" dirty="0"/>
          </a:p>
          <a:p>
            <a:pPr>
              <a:buNone/>
            </a:pPr>
            <a:r>
              <a:rPr lang="zh-CN" altLang="en-US" sz="1800" dirty="0">
                <a:solidFill>
                  <a:srgbClr val="231F20"/>
                </a:solidFill>
                <a:effectLst/>
                <a:latin typeface="方正书宋_GBK" panose="02000000000000000000" charset="-122"/>
              </a:rPr>
              <a:t>与内容。</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r>
              <a:rPr lang="zh-CN" altLang="en-US" sz="1800" dirty="0">
                <a:solidFill>
                  <a:srgbClr val="231F20"/>
                </a:solidFill>
                <a:effectLst/>
                <a:latin typeface="方正书宋_GBK" panose="02000000000000000000" charset="-122"/>
              </a:rPr>
              <a:t>虽然已经提供了很多内置弹窗效果，但是真实开发过程中往往要达到风格统一。如果 </a:t>
            </a:r>
            <a:endParaRPr lang="zh-CN" altLang="en-US" dirty="0"/>
          </a:p>
          <a:p>
            <a:pPr>
              <a:buNone/>
            </a:pPr>
            <a:r>
              <a:rPr lang="en-US" altLang="zh-CN" sz="1800" dirty="0">
                <a:solidFill>
                  <a:srgbClr val="231F20"/>
                </a:solidFill>
                <a:effectLst/>
                <a:latin typeface="EU-B3"/>
              </a:rPr>
              <a:t>UI </a:t>
            </a:r>
            <a:r>
              <a:rPr lang="zh-CN" altLang="en-US" sz="1800" dirty="0">
                <a:solidFill>
                  <a:srgbClr val="231F20"/>
                </a:solidFill>
                <a:effectLst/>
                <a:latin typeface="方正书宋_GBK" panose="02000000000000000000" charset="-122"/>
              </a:rPr>
              <a:t>设计的弹窗是其他样式，使用默认对话框就无法统一。</a:t>
            </a:r>
            <a:r>
              <a:rPr lang="en-US" altLang="zh-CN" sz="1800" dirty="0" err="1">
                <a:solidFill>
                  <a:srgbClr val="231F20"/>
                </a:solidFill>
                <a:effectLst/>
                <a:latin typeface="EU-B3"/>
              </a:rPr>
              <a:t>ArkUI</a:t>
            </a:r>
            <a:r>
              <a:rPr lang="en-US" altLang="zh-CN" sz="1800" dirty="0">
                <a:solidFill>
                  <a:srgbClr val="231F20"/>
                </a:solidFill>
                <a:effectLst/>
                <a:latin typeface="EU-B3"/>
              </a:rPr>
              <a:t> </a:t>
            </a:r>
            <a:r>
              <a:rPr lang="zh-CN" altLang="en-US" sz="1800" dirty="0">
                <a:solidFill>
                  <a:srgbClr val="231F20"/>
                </a:solidFill>
                <a:effectLst/>
                <a:latin typeface="方正书宋_GBK" panose="02000000000000000000" charset="-122"/>
              </a:rPr>
              <a:t>开发框架为解决这种场景， </a:t>
            </a:r>
            <a:endParaRPr lang="zh-CN" altLang="en-US" dirty="0"/>
          </a:p>
          <a:p>
            <a:pPr>
              <a:buNone/>
            </a:pPr>
            <a:r>
              <a:rPr lang="zh-CN" altLang="en-US" sz="1800" dirty="0">
                <a:solidFill>
                  <a:srgbClr val="231F20"/>
                </a:solidFill>
                <a:effectLst/>
                <a:latin typeface="方正书宋_GBK" panose="02000000000000000000" charset="-122"/>
              </a:rPr>
              <a:t>提供了 </a:t>
            </a:r>
            <a:r>
              <a:rPr lang="en-US" altLang="zh-CN" sz="1800" dirty="0" err="1">
                <a:solidFill>
                  <a:srgbClr val="231F20"/>
                </a:solidFill>
                <a:effectLst/>
                <a:latin typeface="EU-B3"/>
              </a:rPr>
              <a:t>CustomDialogController</a:t>
            </a:r>
            <a:r>
              <a:rPr lang="en-US" altLang="zh-CN" sz="1800" dirty="0">
                <a:solidFill>
                  <a:srgbClr val="231F20"/>
                </a:solidFill>
                <a:effectLst/>
                <a:latin typeface="EU-B3"/>
              </a:rPr>
              <a:t> </a:t>
            </a:r>
            <a:r>
              <a:rPr lang="zh-CN" altLang="en-US" sz="1800" dirty="0">
                <a:solidFill>
                  <a:srgbClr val="231F20"/>
                </a:solidFill>
                <a:effectLst/>
                <a:latin typeface="方正书宋_GBK" panose="02000000000000000000" charset="-122"/>
              </a:rPr>
              <a:t>接口，支持开发者自定义对话框。通过 </a:t>
            </a:r>
            <a:r>
              <a:rPr lang="en-US" altLang="zh-CN" sz="1800" dirty="0" err="1">
                <a:solidFill>
                  <a:srgbClr val="231F20"/>
                </a:solidFill>
                <a:effectLst/>
                <a:latin typeface="EU-B3"/>
              </a:rPr>
              <a:t>CustomDialogControl</a:t>
            </a:r>
            <a:endParaRPr lang="zh-CN" altLang="en-US" dirty="0"/>
          </a:p>
          <a:p>
            <a:pPr>
              <a:buNone/>
            </a:pPr>
            <a:r>
              <a:rPr lang="en-US" altLang="zh-CN" sz="1800" dirty="0" err="1">
                <a:solidFill>
                  <a:srgbClr val="231F20"/>
                </a:solidFill>
                <a:effectLst/>
                <a:latin typeface="EU-B3"/>
              </a:rPr>
              <a:t>ler</a:t>
            </a:r>
            <a:r>
              <a:rPr lang="en-US" altLang="zh-CN" sz="1800" dirty="0">
                <a:solidFill>
                  <a:srgbClr val="231F20"/>
                </a:solidFill>
                <a:effectLst/>
                <a:latin typeface="EU-B3"/>
              </a:rPr>
              <a:t> </a:t>
            </a:r>
            <a:r>
              <a:rPr lang="zh-CN" altLang="en-US" sz="1800" dirty="0">
                <a:solidFill>
                  <a:srgbClr val="231F20"/>
                </a:solidFill>
                <a:effectLst/>
                <a:latin typeface="方正书宋_GBK" panose="02000000000000000000" charset="-122"/>
              </a:rPr>
              <a:t>类显示自定义弹窗。使用弹窗组件时，可优先考虑自定义弹窗，便于自定义弹窗的样式 </a:t>
            </a:r>
            <a:endParaRPr lang="zh-CN" altLang="en-US" dirty="0"/>
          </a:p>
          <a:p>
            <a:pPr>
              <a:buNone/>
            </a:pPr>
            <a:r>
              <a:rPr lang="zh-CN" altLang="en-US" sz="1800" dirty="0">
                <a:solidFill>
                  <a:srgbClr val="231F20"/>
                </a:solidFill>
                <a:effectLst/>
                <a:latin typeface="方正书宋_GBK" panose="02000000000000000000" charset="-122"/>
              </a:rPr>
              <a:t>与内容。</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不支持</a:t>
            </a:r>
            <a:r>
              <a:rPr lang="en-US" altLang="zh-CN" dirty="0"/>
              <a:t>previewer</a:t>
            </a:r>
            <a:r>
              <a:rPr lang="zh-CN" altLang="en-US" dirty="0"/>
              <a:t>，</a:t>
            </a:r>
            <a:r>
              <a:rPr lang="en-US" altLang="zh-CN" dirty="0"/>
              <a:t>Link</a:t>
            </a:r>
            <a:r>
              <a:rPr lang="zh-CN" altLang="en-US" dirty="0"/>
              <a:t>不能在</a:t>
            </a:r>
            <a:r>
              <a:rPr lang="en-US" altLang="zh-CN" dirty="0"/>
              <a:t>@Entry</a:t>
            </a:r>
            <a:r>
              <a:rPr lang="zh-CN" altLang="en-US" dirty="0"/>
              <a:t>装饰的自定义组件中使用，禁止本地初始化，修饰的变量类型要与数据源类型一致</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在项目开发中，常常需要对设备音量大小进行设置或调节屏幕亮度等操作。为了满足</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这些需求，通常会使用滑动条这一组件。值得一提的是，</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Slider</a:t>
            </a:r>
            <a:r>
              <a:rPr lang="zh-CN" altLang="en-US" b="0" i="0" dirty="0">
                <a:solidFill>
                  <a:srgbClr val="343434"/>
                </a:solidFill>
                <a:effectLst/>
                <a:latin typeface="PingFang SC"/>
              </a:rPr>
              <a:t>滑动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条组件，方便开发人员快速实现类似的功能。</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评分条组件是一种常见的组件，通常用于在项目开发中为用户提供一个可以设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置评分的界面。在实际应用中，可能会有许多场景需要使用这个组件，例如在</a:t>
            </a:r>
            <a:r>
              <a:rPr lang="en-US" altLang="zh-CN" b="0" i="0" dirty="0">
                <a:solidFill>
                  <a:srgbClr val="343434"/>
                </a:solidFill>
                <a:effectLst/>
                <a:latin typeface="PingFang SC"/>
              </a:rPr>
              <a:t>APP</a:t>
            </a:r>
            <a:r>
              <a:rPr lang="zh-CN" altLang="en-US" b="0" i="0" dirty="0">
                <a:solidFill>
                  <a:srgbClr val="343434"/>
                </a:solidFill>
                <a:effectLst/>
                <a:latin typeface="PingFang SC"/>
              </a:rPr>
              <a:t>中弹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出一个窗口，让用户给当前</a:t>
            </a:r>
            <a:r>
              <a:rPr lang="en-US" altLang="zh-CN" b="0" i="0" dirty="0">
                <a:solidFill>
                  <a:srgbClr val="343434"/>
                </a:solidFill>
                <a:effectLst/>
                <a:latin typeface="PingFang SC"/>
              </a:rPr>
              <a:t>APP</a:t>
            </a:r>
            <a:r>
              <a:rPr lang="zh-CN" altLang="en-US" b="0" i="0" dirty="0">
                <a:solidFill>
                  <a:srgbClr val="343434"/>
                </a:solidFill>
                <a:effectLst/>
                <a:latin typeface="PingFang SC"/>
              </a:rPr>
              <a:t>设置评分，或在其他应用场景中。在这种情况下，使用</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开发框架提供的评分条组件</a:t>
            </a:r>
            <a:r>
              <a:rPr lang="en-US" altLang="zh-CN" b="0" i="0" dirty="0">
                <a:solidFill>
                  <a:srgbClr val="343434"/>
                </a:solidFill>
                <a:effectLst/>
                <a:latin typeface="PingFang SC"/>
              </a:rPr>
              <a:t>Rating,</a:t>
            </a:r>
            <a:r>
              <a:rPr lang="zh-CN" altLang="en-US" b="0" i="0" dirty="0">
                <a:solidFill>
                  <a:srgbClr val="343434"/>
                </a:solidFill>
                <a:effectLst/>
                <a:latin typeface="PingFang SC"/>
              </a:rPr>
              <a:t>可以轻松实现这个功能。该组件可让用户通过点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击星星图标来设置评分，并且可以根据需要进行自定义设置，例如可以设置评分的最大值、</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最小值、步长等。使用</a:t>
            </a: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评分条组件可以让开发者在项目开发中更加高效地实现评分</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功能，同时提高用户的体验，让用户更加方便地进行评分操作。该组件的使用方法简单，</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只需按照框架提供的</a:t>
            </a:r>
            <a:r>
              <a:rPr lang="en-US" altLang="zh-CN" b="0" i="0" dirty="0">
                <a:solidFill>
                  <a:srgbClr val="343434"/>
                </a:solidFill>
                <a:effectLst/>
                <a:latin typeface="PingFang SC"/>
              </a:rPr>
              <a:t>API</a:t>
            </a:r>
            <a:r>
              <a:rPr lang="zh-CN" altLang="en-US" b="0" i="0" dirty="0">
                <a:solidFill>
                  <a:srgbClr val="343434"/>
                </a:solidFill>
                <a:effectLst/>
                <a:latin typeface="PingFang SC"/>
              </a:rPr>
              <a:t>进行调用即可，非常适合在项目开发中使用。</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评分条组件是一种常见的组件，通常用于在项目开发中为用户提供一个可以设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置评分的界面。在实际应用中，可能会有许多场景需要使用这个组件，例如在</a:t>
            </a:r>
            <a:r>
              <a:rPr lang="en-US" altLang="zh-CN" b="0" i="0" dirty="0">
                <a:solidFill>
                  <a:srgbClr val="343434"/>
                </a:solidFill>
                <a:effectLst/>
                <a:latin typeface="PingFang SC"/>
              </a:rPr>
              <a:t>APP</a:t>
            </a:r>
            <a:r>
              <a:rPr lang="zh-CN" altLang="en-US" b="0" i="0" dirty="0">
                <a:solidFill>
                  <a:srgbClr val="343434"/>
                </a:solidFill>
                <a:effectLst/>
                <a:latin typeface="PingFang SC"/>
              </a:rPr>
              <a:t>中弹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出一个窗口，让用户给当前</a:t>
            </a:r>
            <a:r>
              <a:rPr lang="en-US" altLang="zh-CN" b="0" i="0" dirty="0">
                <a:solidFill>
                  <a:srgbClr val="343434"/>
                </a:solidFill>
                <a:effectLst/>
                <a:latin typeface="PingFang SC"/>
              </a:rPr>
              <a:t>APP</a:t>
            </a:r>
            <a:r>
              <a:rPr lang="zh-CN" altLang="en-US" b="0" i="0" dirty="0">
                <a:solidFill>
                  <a:srgbClr val="343434"/>
                </a:solidFill>
                <a:effectLst/>
                <a:latin typeface="PingFang SC"/>
              </a:rPr>
              <a:t>设置评分，或在其他应用场景中。在这种情况下，使用</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开发框架提供的评分条组件</a:t>
            </a:r>
            <a:r>
              <a:rPr lang="en-US" altLang="zh-CN" b="0" i="0" dirty="0">
                <a:solidFill>
                  <a:srgbClr val="343434"/>
                </a:solidFill>
                <a:effectLst/>
                <a:latin typeface="PingFang SC"/>
              </a:rPr>
              <a:t>Rating,</a:t>
            </a:r>
            <a:r>
              <a:rPr lang="zh-CN" altLang="en-US" b="0" i="0" dirty="0">
                <a:solidFill>
                  <a:srgbClr val="343434"/>
                </a:solidFill>
                <a:effectLst/>
                <a:latin typeface="PingFang SC"/>
              </a:rPr>
              <a:t>可以轻松实现这个功能。该组件可让用户通过点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击星星图标来设置评分，并且可以根据需要进行自定义设置，例如可以设置评分的最大值、</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最小值、步长等。使用</a:t>
            </a:r>
            <a:r>
              <a:rPr lang="en-US" altLang="zh-CN" b="0" i="0" dirty="0">
                <a:solidFill>
                  <a:srgbClr val="343434"/>
                </a:solidFill>
                <a:effectLst/>
                <a:latin typeface="PingFang SC"/>
              </a:rPr>
              <a:t>Rating</a:t>
            </a:r>
            <a:r>
              <a:rPr lang="zh-CN" altLang="en-US" b="0" i="0" dirty="0">
                <a:solidFill>
                  <a:srgbClr val="343434"/>
                </a:solidFill>
                <a:effectLst/>
                <a:latin typeface="PingFang SC"/>
              </a:rPr>
              <a:t>评分条组件可以让开发者在项目开发中更加高效地实现评分</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功能，同时提高用户的体验，让用户更加方便地进行评分操作。该组件的使用方法简单，</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只需按照框架提供的</a:t>
            </a:r>
            <a:r>
              <a:rPr lang="en-US" altLang="zh-CN" b="0" i="0" dirty="0">
                <a:solidFill>
                  <a:srgbClr val="343434"/>
                </a:solidFill>
                <a:effectLst/>
                <a:latin typeface="PingFang SC"/>
              </a:rPr>
              <a:t>API</a:t>
            </a:r>
            <a:r>
              <a:rPr lang="zh-CN" altLang="en-US" b="0" i="0" dirty="0">
                <a:solidFill>
                  <a:srgbClr val="343434"/>
                </a:solidFill>
                <a:effectLst/>
                <a:latin typeface="PingFang SC"/>
              </a:rPr>
              <a:t>进行调用即可，非常适合在项目开发中使用。</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组件是一种容器类组件，具有可滚动的特性。该组件能够容纳一个子组件，并在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子组件的布局尺寸在指定的滚动方向上超过</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组件的视图窗口时，实现滚动效果。水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平滚动和竖直滚动是</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组件支持的两种滚动方向。在实际应用中，</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组件广泛应用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于长列表、图片、文本等内容的展示。</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组件是一种滚动组件的控制器，可控制滚动</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组件的多种行为，例如滚动到特定位置、滚动到边界等。在实际应用中，</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组件常与</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Scroll</a:t>
            </a:r>
            <a:r>
              <a:rPr lang="zh-CN" altLang="en-US" b="0" i="0" dirty="0">
                <a:solidFill>
                  <a:srgbClr val="343434"/>
                </a:solidFill>
                <a:effectLst/>
                <a:latin typeface="PingFang SC"/>
              </a:rPr>
              <a:t>组件搭配使用，以实现复杂的滚动效果。</a:t>
            </a:r>
            <a:r>
              <a:rPr lang="en-US" altLang="zh-CN" b="0" i="0" dirty="0">
                <a:solidFill>
                  <a:srgbClr val="343434"/>
                </a:solidFill>
                <a:effectLst/>
                <a:latin typeface="PingFang SC"/>
              </a:rPr>
              <a:t>Scroller</a:t>
            </a:r>
            <a:r>
              <a:rPr lang="zh-CN" altLang="en-US" b="0" i="0" dirty="0">
                <a:solidFill>
                  <a:srgbClr val="343434"/>
                </a:solidFill>
                <a:effectLst/>
                <a:latin typeface="PingFang SC"/>
              </a:rPr>
              <a:t>组件能够提升用户的交互体验，使用</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户更加方便地浏览</a:t>
            </a:r>
            <a:r>
              <a:rPr lang="en-US" altLang="zh-CN" b="0" i="0" dirty="0">
                <a:solidFill>
                  <a:srgbClr val="343434"/>
                </a:solidFill>
                <a:effectLst/>
                <a:latin typeface="PingFang SC"/>
              </a:rPr>
              <a:t>Scroll</a:t>
            </a:r>
            <a:r>
              <a:rPr lang="zh-CN" altLang="en-US" b="0" i="0" dirty="0">
                <a:solidFill>
                  <a:srgbClr val="343434"/>
                </a:solidFill>
                <a:effectLst/>
                <a:latin typeface="PingFang SC"/>
              </a:rPr>
              <a:t>组件中的内容。</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br>
              <a:rPr lang="en-US" altLang="zh-CN"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br>
              <a:rPr lang="en-US" altLang="zh-CN" b="0" i="0" dirty="0">
                <a:solidFill>
                  <a:srgbClr val="343434"/>
                </a:solidFill>
                <a:effectLst/>
                <a:latin typeface="PingFang SC"/>
              </a:rPr>
            </a:br>
            <a:br>
              <a:rPr lang="en-US" altLang="zh-CN" b="0" i="0" dirty="0">
                <a:solidFill>
                  <a:srgbClr val="343434"/>
                </a:solidFill>
                <a:effectLst/>
                <a:latin typeface="PingFang SC"/>
              </a:rPr>
            </a:br>
            <a:br>
              <a:rPr lang="en-US" altLang="zh-CN" b="0" i="0" dirty="0">
                <a:solidFill>
                  <a:srgbClr val="343434"/>
                </a:solidFill>
                <a:effectLst/>
                <a:latin typeface="PingFang SC"/>
              </a:rPr>
            </a:br>
            <a:r>
              <a:rPr lang="zh-CN" altLang="en-US" b="0" i="0" dirty="0">
                <a:solidFill>
                  <a:srgbClr val="343434"/>
                </a:solidFill>
                <a:effectLst/>
                <a:latin typeface="PingFang SC"/>
              </a:rPr>
              <a:t>链式联动效果是指在手指划动过程中，手指拖动的</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是主动对象，相邻的</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为从动对象，主动对象驱动从动对象联动，驱动效果遵循弹簧物理动效。</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链式动效的驱动效果体现在</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之间的间距上。静止状态下的间距可以通过</a:t>
            </a:r>
            <a:r>
              <a:rPr lang="en-US" altLang="zh-CN" b="0" i="0" dirty="0">
                <a:solidFill>
                  <a:srgbClr val="343434"/>
                </a:solidFill>
                <a:effectLst/>
                <a:latin typeface="PingFang SC"/>
              </a:rPr>
              <a:t>List</a:t>
            </a:r>
            <a:r>
              <a:rPr lang="zh-CN" altLang="en-US" b="0" i="0" dirty="0">
                <a:solidFill>
                  <a:srgbClr val="343434"/>
                </a:solidFill>
                <a:effectLst/>
                <a:latin typeface="PingFang SC"/>
              </a:rPr>
              <a:t>组件</a:t>
            </a:r>
            <a:r>
              <a:rPr lang="en-US" altLang="zh-CN" b="0" i="0" dirty="0">
                <a:solidFill>
                  <a:srgbClr val="343434"/>
                </a:solidFill>
                <a:effectLst/>
                <a:latin typeface="PingFang SC"/>
              </a:rPr>
              <a:t>space</a:t>
            </a:r>
            <a:r>
              <a:rPr lang="zh-CN" altLang="en-US" b="0" i="0" dirty="0">
                <a:solidFill>
                  <a:srgbClr val="343434"/>
                </a:solidFill>
                <a:effectLst/>
                <a:latin typeface="PingFang SC"/>
              </a:rPr>
              <a:t>参数设置，如果不设置</a:t>
            </a:r>
            <a:r>
              <a:rPr lang="en-US" altLang="zh-CN" b="0" i="0" dirty="0">
                <a:solidFill>
                  <a:srgbClr val="343434"/>
                </a:solidFill>
                <a:effectLst/>
                <a:latin typeface="PingFang SC"/>
              </a:rPr>
              <a:t>space</a:t>
            </a:r>
            <a:r>
              <a:rPr lang="zh-CN" altLang="en-US" b="0" i="0" dirty="0">
                <a:solidFill>
                  <a:srgbClr val="343434"/>
                </a:solidFill>
                <a:effectLst/>
                <a:latin typeface="PingFang SC"/>
              </a:rPr>
              <a:t>参数并且启用了链式动效，该间距默认为</a:t>
            </a:r>
            <a:r>
              <a:rPr lang="en-US" altLang="zh-CN" b="0" i="0" dirty="0">
                <a:solidFill>
                  <a:srgbClr val="343434"/>
                </a:solidFill>
                <a:effectLst/>
                <a:latin typeface="PingFang SC"/>
              </a:rPr>
              <a:t>20vp</a:t>
            </a:r>
            <a:r>
              <a:rPr lang="zh-CN" altLang="en-US" b="0" i="0" dirty="0">
                <a:solidFill>
                  <a:srgbClr val="343434"/>
                </a:solidFill>
                <a:effectLst/>
                <a:latin typeface="PingFang SC"/>
              </a:rPr>
              <a:t>。</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链式动效启用后，</a:t>
            </a:r>
            <a:r>
              <a:rPr lang="en-US" altLang="zh-CN" b="0" i="0" dirty="0">
                <a:solidFill>
                  <a:srgbClr val="343434"/>
                </a:solidFill>
                <a:effectLst/>
                <a:latin typeface="PingFang SC"/>
              </a:rPr>
              <a:t>List</a:t>
            </a:r>
            <a:r>
              <a:rPr lang="zh-CN" altLang="en-US" b="0" i="0" dirty="0">
                <a:solidFill>
                  <a:srgbClr val="343434"/>
                </a:solidFill>
                <a:effectLst/>
                <a:latin typeface="PingFang SC"/>
              </a:rPr>
              <a:t>的分割线不显示。</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链式动效生效的前提是</a:t>
            </a:r>
            <a:r>
              <a:rPr lang="en-US" altLang="zh-CN" b="0" i="0" dirty="0">
                <a:solidFill>
                  <a:srgbClr val="343434"/>
                </a:solidFill>
                <a:effectLst/>
                <a:latin typeface="PingFang SC"/>
              </a:rPr>
              <a:t>List</a:t>
            </a:r>
            <a:r>
              <a:rPr lang="zh-CN" altLang="en-US" b="0" i="0" dirty="0">
                <a:solidFill>
                  <a:srgbClr val="343434"/>
                </a:solidFill>
                <a:effectLst/>
                <a:latin typeface="PingFang SC"/>
              </a:rPr>
              <a:t>处于单列模式并且边缘效果为</a:t>
            </a:r>
            <a:r>
              <a:rPr lang="en-US" altLang="zh-CN" b="0" i="0" dirty="0" err="1">
                <a:solidFill>
                  <a:srgbClr val="343434"/>
                </a:solidFill>
                <a:effectLst/>
                <a:latin typeface="PingFang SC"/>
              </a:rPr>
              <a:t>EdgeEffect.Spring</a:t>
            </a:r>
            <a:r>
              <a:rPr lang="zh-CN" altLang="en-US" b="0" i="0" dirty="0">
                <a:solidFill>
                  <a:srgbClr val="343434"/>
                </a:solidFill>
                <a:effectLst/>
                <a:latin typeface="PingFang SC"/>
              </a:rPr>
              <a:t>类型。</a:t>
            </a:r>
            <a:endParaRPr lang="en-US" altLang="zh-CN" b="0" i="0" dirty="0">
              <a:solidFill>
                <a:srgbClr val="343434"/>
              </a:solidFill>
              <a:effectLst/>
              <a:latin typeface="PingFang SC"/>
            </a:endParaRPr>
          </a:p>
          <a:p>
            <a:pPr algn="l" fontAlgn="base">
              <a:lnSpc>
                <a:spcPts val="2250"/>
              </a:lnSpc>
              <a:spcAft>
                <a:spcPts val="300"/>
              </a:spcAft>
            </a:pPr>
            <a:endParaRPr lang="en-US" altLang="zh-CN" b="0" i="0" dirty="0">
              <a:solidFill>
                <a:srgbClr val="343434"/>
              </a:solidFill>
              <a:effectLst/>
              <a:latin typeface="PingFang SC"/>
            </a:endParaRPr>
          </a:p>
          <a:p>
            <a:pPr algn="l" fontAlgn="base">
              <a:lnSpc>
                <a:spcPts val="2250"/>
              </a:lnSpc>
              <a:spcAft>
                <a:spcPts val="300"/>
              </a:spcAft>
            </a:pPr>
            <a:endParaRPr lang="en-US" altLang="zh-CN" b="0" i="0" dirty="0">
              <a:solidFill>
                <a:srgbClr val="343434"/>
              </a:solidFill>
              <a:effectLst/>
              <a:latin typeface="PingFang SC"/>
            </a:endParaRPr>
          </a:p>
          <a:p>
            <a:pPr algn="l" fontAlgn="base">
              <a:lnSpc>
                <a:spcPts val="1800"/>
              </a:lnSpc>
              <a:buNone/>
            </a:pPr>
            <a:r>
              <a:rPr lang="en-US" altLang="zh-CN" b="0" i="0" dirty="0" err="1">
                <a:effectLst/>
                <a:latin typeface="HarmonyOSHans-Regular"/>
              </a:rPr>
              <a:t>alignListItem</a:t>
            </a:r>
            <a:r>
              <a:rPr lang="en-US" altLang="zh-CN" b="0" i="0" dirty="0">
                <a:effectLst/>
                <a:latin typeface="HarmonyOSHans-Regular"/>
              </a:rPr>
              <a:t>(value: </a:t>
            </a:r>
            <a:r>
              <a:rPr lang="en-US" altLang="zh-CN" b="0" i="0" dirty="0" err="1">
                <a:effectLst/>
                <a:latin typeface="HarmonyOSHans-Regular"/>
              </a:rPr>
              <a:t>ListItemAlign</a:t>
            </a:r>
            <a:r>
              <a:rPr lang="en-US" altLang="zh-CN" b="0" i="0" dirty="0">
                <a:effectLst/>
                <a:latin typeface="HarmonyOSHans-Regular"/>
              </a:rPr>
              <a:t>)</a:t>
            </a:r>
            <a:endParaRPr lang="en-US" altLang="zh-CN" b="0" i="0" dirty="0">
              <a:effectLst/>
              <a:latin typeface="HarmonyOSHans-Regular"/>
            </a:endParaRPr>
          </a:p>
          <a:p>
            <a:pPr algn="l" fontAlgn="base">
              <a:lnSpc>
                <a:spcPts val="1800"/>
              </a:lnSpc>
              <a:spcBef>
                <a:spcPts val="1800"/>
              </a:spcBef>
            </a:pPr>
            <a:r>
              <a:rPr lang="zh-CN" altLang="en-US" b="0" i="0" dirty="0">
                <a:effectLst/>
                <a:latin typeface="HarmonyOSHans-Regular"/>
              </a:rPr>
              <a:t>设置</a:t>
            </a:r>
            <a:r>
              <a:rPr lang="en-US" altLang="zh-CN" b="0" i="0" dirty="0">
                <a:effectLst/>
                <a:latin typeface="HarmonyOSHans-Regular"/>
              </a:rPr>
              <a:t>List</a:t>
            </a:r>
            <a:r>
              <a:rPr lang="zh-CN" altLang="en-US" b="0" i="0" dirty="0">
                <a:effectLst/>
                <a:latin typeface="HarmonyOSHans-Regular"/>
              </a:rPr>
              <a:t>交叉轴方向宽度大于</a:t>
            </a:r>
            <a:r>
              <a:rPr lang="en-US" altLang="zh-CN" b="0" i="0" dirty="0" err="1">
                <a:effectLst/>
                <a:latin typeface="HarmonyOSHans-Regular"/>
              </a:rPr>
              <a:t>ListItem</a:t>
            </a:r>
            <a:r>
              <a:rPr lang="zh-CN" altLang="en-US" b="0" i="0" dirty="0">
                <a:effectLst/>
                <a:latin typeface="HarmonyOSHans-Regular"/>
              </a:rPr>
              <a:t>交叉轴宽度 * </a:t>
            </a:r>
            <a:r>
              <a:rPr lang="en-US" altLang="zh-CN" b="0" i="0" dirty="0">
                <a:effectLst/>
                <a:latin typeface="HarmonyOSHans-Regular"/>
              </a:rPr>
              <a:t>lanes</a:t>
            </a:r>
            <a:r>
              <a:rPr lang="zh-CN" altLang="en-US" b="0" i="0" dirty="0">
                <a:effectLst/>
                <a:latin typeface="HarmonyOSHans-Regular"/>
              </a:rPr>
              <a:t>时，</a:t>
            </a:r>
            <a:r>
              <a:rPr lang="en-US" altLang="zh-CN" b="0" i="0" dirty="0" err="1">
                <a:effectLst/>
                <a:latin typeface="HarmonyOSHans-Regular"/>
              </a:rPr>
              <a:t>ListItem</a:t>
            </a:r>
            <a:r>
              <a:rPr lang="zh-CN" altLang="en-US" b="0" i="0" dirty="0">
                <a:effectLst/>
                <a:latin typeface="HarmonyOSHans-Regular"/>
              </a:rPr>
              <a:t>在</a:t>
            </a:r>
            <a:r>
              <a:rPr lang="en-US" altLang="zh-CN" b="0" i="0" dirty="0">
                <a:effectLst/>
                <a:latin typeface="HarmonyOSHans-Regular"/>
              </a:rPr>
              <a:t>List</a:t>
            </a:r>
            <a:r>
              <a:rPr lang="zh-CN" altLang="en-US" b="0" i="0" dirty="0">
                <a:effectLst/>
                <a:latin typeface="HarmonyOSHans-Regular"/>
              </a:rPr>
              <a:t>交叉轴方向的布局方式。</a:t>
            </a:r>
            <a:endParaRPr lang="zh-CN" altLang="en-US" b="0" i="0" dirty="0">
              <a:effectLst/>
              <a:latin typeface="HarmonyOSHans-Regular"/>
            </a:endParaRPr>
          </a:p>
          <a:p>
            <a:pPr algn="l" fontAlgn="base">
              <a:lnSpc>
                <a:spcPts val="2250"/>
              </a:lnSpc>
              <a:spcAft>
                <a:spcPts val="300"/>
              </a:spcAft>
            </a:pPr>
            <a:endParaRPr lang="en-US" altLang="zh-CN" b="0" i="0" dirty="0">
              <a:solidFill>
                <a:srgbClr val="343434"/>
              </a:solidFill>
              <a:effectLst/>
              <a:latin typeface="PingFang SC"/>
            </a:endParaRPr>
          </a:p>
          <a:p>
            <a:pPr algn="l" fontAlgn="base">
              <a:lnSpc>
                <a:spcPts val="2250"/>
              </a:lnSpc>
              <a:spcAft>
                <a:spcPts val="300"/>
              </a:spcAft>
            </a:pPr>
            <a:endParaRPr lang="en-US" altLang="zh-CN" b="0" i="0" dirty="0">
              <a:solidFill>
                <a:srgbClr val="343434"/>
              </a:solidFill>
              <a:effectLst/>
              <a:latin typeface="PingFang SC"/>
            </a:endParaRPr>
          </a:p>
          <a:p>
            <a:pPr marL="0" marR="0" lvl="0" indent="0" algn="l" defTabSz="1219200" rtl="0" eaLnBrk="1" fontAlgn="base" latinLnBrk="0" hangingPunct="1">
              <a:lnSpc>
                <a:spcPts val="2250"/>
              </a:lnSpc>
              <a:spcBef>
                <a:spcPts val="0"/>
              </a:spcBef>
              <a:spcAft>
                <a:spcPts val="300"/>
              </a:spcAft>
              <a:buClrTx/>
              <a:buSzTx/>
              <a:buFontTx/>
              <a:buNone/>
              <a:defRPr/>
            </a:pPr>
            <a:r>
              <a:rPr lang="en-US" altLang="zh-CN" b="0" i="0" dirty="0">
                <a:solidFill>
                  <a:srgbClr val="242728"/>
                </a:solidFill>
                <a:effectLst/>
                <a:latin typeface="HarmonyOSHans-Regular"/>
              </a:rPr>
              <a:t>lanes</a:t>
            </a:r>
            <a:r>
              <a:rPr lang="zh-CN" altLang="en-US" b="0" i="0" dirty="0">
                <a:solidFill>
                  <a:srgbClr val="242728"/>
                </a:solidFill>
                <a:effectLst/>
                <a:latin typeface="HarmonyOSHans-Regular"/>
              </a:rPr>
              <a:t>设置了</a:t>
            </a:r>
            <a:r>
              <a:rPr lang="en-US" altLang="zh-CN" b="0" i="0" dirty="0">
                <a:solidFill>
                  <a:srgbClr val="242728"/>
                </a:solidFill>
                <a:effectLst/>
                <a:latin typeface="HarmonyOSHans-Regular"/>
              </a:rPr>
              <a:t>{</a:t>
            </a:r>
            <a:r>
              <a:rPr lang="en-US" altLang="zh-CN" b="0" i="0" dirty="0" err="1">
                <a:solidFill>
                  <a:srgbClr val="242728"/>
                </a:solidFill>
                <a:effectLst/>
                <a:latin typeface="HarmonyOSHans-Regular"/>
              </a:rPr>
              <a:t>minLength</a:t>
            </a:r>
            <a:r>
              <a:rPr lang="zh-CN" altLang="en-US" b="0" i="0" dirty="0">
                <a:solidFill>
                  <a:srgbClr val="242728"/>
                </a:solidFill>
                <a:effectLst/>
                <a:latin typeface="HarmonyOSHans-Regular"/>
              </a:rPr>
              <a:t>，</a:t>
            </a:r>
            <a:r>
              <a:rPr lang="en-US" altLang="zh-CN" b="0" i="0" dirty="0" err="1">
                <a:solidFill>
                  <a:srgbClr val="242728"/>
                </a:solidFill>
                <a:effectLst/>
                <a:latin typeface="HarmonyOSHans-Regular"/>
              </a:rPr>
              <a:t>maxLength</a:t>
            </a:r>
            <a:r>
              <a:rPr lang="en-US" altLang="zh-CN" b="0" i="0" dirty="0">
                <a:solidFill>
                  <a:srgbClr val="242728"/>
                </a:solidFill>
                <a:effectLst/>
                <a:latin typeface="HarmonyOSHans-Regular"/>
              </a:rPr>
              <a:t>}</a:t>
            </a:r>
            <a:r>
              <a:rPr lang="zh-CN" altLang="en-US" b="0" i="0" dirty="0">
                <a:solidFill>
                  <a:srgbClr val="242728"/>
                </a:solidFill>
                <a:effectLst/>
                <a:latin typeface="HarmonyOSHans-Regular"/>
              </a:rPr>
              <a:t>时，根据</a:t>
            </a:r>
            <a:r>
              <a:rPr lang="en-US" altLang="zh-CN" b="0" i="0" dirty="0">
                <a:solidFill>
                  <a:srgbClr val="242728"/>
                </a:solidFill>
                <a:effectLst/>
                <a:latin typeface="HarmonyOSHans-Regular"/>
              </a:rPr>
              <a:t>List</a:t>
            </a:r>
            <a:r>
              <a:rPr lang="zh-CN" altLang="en-US" b="0" i="0" dirty="0">
                <a:solidFill>
                  <a:srgbClr val="242728"/>
                </a:solidFill>
                <a:effectLst/>
                <a:latin typeface="HarmonyOSHans-Regular"/>
              </a:rPr>
              <a:t>组件的宽度自适应决定</a:t>
            </a:r>
            <a:r>
              <a:rPr lang="en-US" altLang="zh-CN" b="0" i="0" dirty="0">
                <a:solidFill>
                  <a:srgbClr val="242728"/>
                </a:solidFill>
                <a:effectLst/>
                <a:latin typeface="HarmonyOSHans-Regular"/>
              </a:rPr>
              <a:t>lanes</a:t>
            </a:r>
            <a:r>
              <a:rPr lang="zh-CN" altLang="en-US" b="0" i="0" dirty="0">
                <a:solidFill>
                  <a:srgbClr val="242728"/>
                </a:solidFill>
                <a:effectLst/>
                <a:latin typeface="HarmonyOSHans-Regular"/>
              </a:rPr>
              <a:t>数量（即列数），保证缩放过程中</a:t>
            </a:r>
            <a:r>
              <a:rPr lang="en-US" altLang="zh-CN" b="0" i="0" dirty="0">
                <a:solidFill>
                  <a:srgbClr val="242728"/>
                </a:solidFill>
                <a:effectLst/>
                <a:latin typeface="HarmonyOSHans-Regular"/>
              </a:rPr>
              <a:t>lane</a:t>
            </a:r>
            <a:r>
              <a:rPr lang="zh-CN" altLang="en-US" b="0" i="0" dirty="0">
                <a:solidFill>
                  <a:srgbClr val="242728"/>
                </a:solidFill>
                <a:effectLst/>
                <a:latin typeface="HarmonyOSHans-Regular"/>
              </a:rPr>
              <a:t>的宽度符合</a:t>
            </a:r>
            <a:r>
              <a:rPr lang="en-US" altLang="zh-CN" b="0" i="0" dirty="0">
                <a:solidFill>
                  <a:srgbClr val="242728"/>
                </a:solidFill>
                <a:effectLst/>
                <a:latin typeface="HarmonyOSHans-Regular"/>
              </a:rPr>
              <a:t>{</a:t>
            </a:r>
            <a:r>
              <a:rPr lang="en-US" altLang="zh-CN" b="0" i="0" dirty="0" err="1">
                <a:solidFill>
                  <a:srgbClr val="242728"/>
                </a:solidFill>
                <a:effectLst/>
                <a:latin typeface="HarmonyOSHans-Regular"/>
              </a:rPr>
              <a:t>minLength</a:t>
            </a:r>
            <a:r>
              <a:rPr lang="zh-CN" altLang="en-US" b="0" i="0" dirty="0">
                <a:solidFill>
                  <a:srgbClr val="242728"/>
                </a:solidFill>
                <a:effectLst/>
                <a:latin typeface="HarmonyOSHans-Regular"/>
              </a:rPr>
              <a:t>，</a:t>
            </a:r>
            <a:r>
              <a:rPr lang="en-US" altLang="zh-CN" b="0" i="0" dirty="0" err="1">
                <a:solidFill>
                  <a:srgbClr val="242728"/>
                </a:solidFill>
                <a:effectLst/>
                <a:latin typeface="HarmonyOSHans-Regular"/>
              </a:rPr>
              <a:t>maxLength</a:t>
            </a:r>
            <a:r>
              <a:rPr lang="en-US" altLang="zh-CN" b="0" i="0" dirty="0">
                <a:solidFill>
                  <a:srgbClr val="242728"/>
                </a:solidFill>
                <a:effectLst/>
                <a:latin typeface="HarmonyOSHans-Regular"/>
              </a:rPr>
              <a:t>}</a:t>
            </a:r>
            <a:r>
              <a:rPr lang="zh-CN" altLang="en-US" b="0" i="0" dirty="0">
                <a:solidFill>
                  <a:srgbClr val="242728"/>
                </a:solidFill>
                <a:effectLst/>
                <a:latin typeface="HarmonyOSHans-Regular"/>
              </a:rPr>
              <a:t>的限制。其中，</a:t>
            </a:r>
            <a:r>
              <a:rPr lang="en-US" altLang="zh-CN" b="0" i="0" dirty="0" err="1">
                <a:solidFill>
                  <a:srgbClr val="242728"/>
                </a:solidFill>
                <a:effectLst/>
                <a:latin typeface="HarmonyOSHans-Regular"/>
              </a:rPr>
              <a:t>minLength</a:t>
            </a:r>
            <a:r>
              <a:rPr lang="zh-CN" altLang="en-US" b="0" i="0" dirty="0">
                <a:solidFill>
                  <a:srgbClr val="242728"/>
                </a:solidFill>
                <a:effectLst/>
                <a:latin typeface="HarmonyOSHans-Regular"/>
              </a:rPr>
              <a:t>条件会被优先满足，即优先保证符合</a:t>
            </a:r>
            <a:r>
              <a:rPr lang="en-US" altLang="zh-CN" b="0" i="0" dirty="0" err="1">
                <a:solidFill>
                  <a:srgbClr val="242728"/>
                </a:solidFill>
                <a:effectLst/>
                <a:latin typeface="HarmonyOSHans-Regular"/>
              </a:rPr>
              <a:t>ListItem</a:t>
            </a:r>
            <a:r>
              <a:rPr lang="zh-CN" altLang="en-US" b="0" i="0" dirty="0">
                <a:solidFill>
                  <a:srgbClr val="242728"/>
                </a:solidFill>
                <a:effectLst/>
                <a:latin typeface="HarmonyOSHans-Regular"/>
              </a:rPr>
              <a:t>的交叉轴尺寸符合最小限制。</a:t>
            </a:r>
            <a:endParaRPr lang="zh-CN" altLang="en-US" b="0" i="0" dirty="0">
              <a:solidFill>
                <a:srgbClr val="242728"/>
              </a:solidFill>
              <a:effectLst/>
              <a:latin typeface="HarmonyOSHans-Regular"/>
            </a:endParaRPr>
          </a:p>
          <a:p>
            <a:pPr algn="l" fontAlgn="base">
              <a:lnSpc>
                <a:spcPts val="2250"/>
              </a:lnSpc>
              <a:spcAft>
                <a:spcPts val="300"/>
              </a:spcAft>
            </a:pPr>
            <a:endParaRPr lang="en-US" altLang="zh-CN" b="0" i="0" dirty="0">
              <a:solidFill>
                <a:srgbClr val="343434"/>
              </a:solidFill>
              <a:effectLst/>
              <a:latin typeface="PingFang SC"/>
            </a:endParaRPr>
          </a:p>
          <a:p>
            <a:pPr algn="l" fontAlgn="base">
              <a:lnSpc>
                <a:spcPts val="2250"/>
              </a:lnSpc>
              <a:spcAft>
                <a:spcPts val="300"/>
              </a:spcAft>
            </a:pP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List</a:t>
            </a:r>
            <a:r>
              <a:rPr lang="zh-CN" altLang="en-US" b="0" i="0" dirty="0">
                <a:solidFill>
                  <a:srgbClr val="343434"/>
                </a:solidFill>
                <a:effectLst/>
                <a:latin typeface="PingFang SC"/>
              </a:rPr>
              <a:t>组件是被广泛使用的一种滚动类容器组件。它能够在水平或竖直方向线性排列子组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件，从而实现滚动效果。值得注意的是，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组件的子组件必须是</a:t>
            </a:r>
            <a:r>
              <a:rPr lang="en-US" altLang="zh-CN" b="0" i="0" dirty="0" err="1">
                <a:solidFill>
                  <a:srgbClr val="343434"/>
                </a:solidFill>
                <a:effectLst/>
                <a:latin typeface="PingFang SC"/>
              </a:rPr>
              <a:t>ListItem</a:t>
            </a:r>
            <a:r>
              <a:rPr lang="en-US" altLang="zh-CN" b="0" i="0" dirty="0">
                <a:solidFill>
                  <a:srgbClr val="343434"/>
                </a:solidFill>
                <a:effectLst/>
                <a:latin typeface="PingFang SC"/>
              </a:rPr>
              <a:t>,</a:t>
            </a:r>
            <a:r>
              <a:rPr lang="zh-CN" altLang="en-US" b="0" i="0" dirty="0">
                <a:solidFill>
                  <a:srgbClr val="343434"/>
                </a:solidFill>
                <a:effectLst/>
                <a:latin typeface="PingFang SC"/>
              </a:rPr>
              <a:t>因为</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件是</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组件的子组件中唯一合法类型。此外，</a:t>
            </a:r>
            <a:r>
              <a:rPr lang="en-US" altLang="zh-CN" b="0" i="0" dirty="0" err="1">
                <a:solidFill>
                  <a:srgbClr val="343434"/>
                </a:solidFill>
                <a:effectLst/>
                <a:latin typeface="PingFang SC"/>
              </a:rPr>
              <a:t>ListItem</a:t>
            </a:r>
            <a:r>
              <a:rPr lang="zh-CN" altLang="en-US" b="0" i="0" dirty="0">
                <a:solidFill>
                  <a:srgbClr val="343434"/>
                </a:solidFill>
                <a:effectLst/>
                <a:latin typeface="PingFang SC"/>
              </a:rPr>
              <a:t>组件的宽度默认充满</a:t>
            </a:r>
            <a:r>
              <a:rPr lang="en-US" altLang="zh-CN" b="0" i="0" dirty="0">
                <a:solidFill>
                  <a:srgbClr val="343434"/>
                </a:solidFill>
                <a:effectLst/>
                <a:latin typeface="PingFang SC"/>
              </a:rPr>
              <a:t>List</a:t>
            </a:r>
            <a:r>
              <a:rPr lang="zh-CN" altLang="en-US" b="0" i="0" dirty="0">
                <a:solidFill>
                  <a:srgbClr val="343434"/>
                </a:solidFill>
                <a:effectLst/>
                <a:latin typeface="PingFang SC"/>
              </a:rPr>
              <a:t>组件的宽</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度，这样可以保证子组件在</a:t>
            </a:r>
            <a:r>
              <a:rPr lang="en-US" altLang="zh-CN" b="0" i="0" dirty="0">
                <a:solidFill>
                  <a:srgbClr val="343434"/>
                </a:solidFill>
                <a:effectLst/>
                <a:latin typeface="PingFang SC"/>
              </a:rPr>
              <a:t>List</a:t>
            </a:r>
            <a:r>
              <a:rPr lang="zh-CN" altLang="en-US" b="0" i="0" dirty="0">
                <a:solidFill>
                  <a:srgbClr val="343434"/>
                </a:solidFill>
                <a:effectLst/>
                <a:latin typeface="PingFang SC"/>
              </a:rPr>
              <a:t>中的排列效果。</a:t>
            </a:r>
            <a:endParaRPr lang="zh-CN" altLang="en-US" b="0" i="0" dirty="0">
              <a:solidFill>
                <a:srgbClr val="343434"/>
              </a:solidFill>
              <a:effectLst/>
              <a:latin typeface="PingFang SC"/>
            </a:endParaRPr>
          </a:p>
          <a:p>
            <a:pPr algn="l" fontAlgn="base">
              <a:lnSpc>
                <a:spcPts val="2250"/>
              </a:lnSpc>
              <a:spcAft>
                <a:spcPts val="300"/>
              </a:spcAft>
            </a:pPr>
            <a:endParaRPr lang="en-US" altLang="zh-CN" b="0" i="0" dirty="0">
              <a:solidFill>
                <a:srgbClr val="343434"/>
              </a:solidFill>
              <a:effectLst/>
              <a:latin typeface="PingFang SC"/>
            </a:endParaRPr>
          </a:p>
          <a:p>
            <a:pPr algn="l" fontAlgn="base">
              <a:buNone/>
            </a:pPr>
            <a:r>
              <a:rPr lang="en-US" altLang="zh-CN" b="1" i="0" dirty="0">
                <a:solidFill>
                  <a:srgbClr val="000000"/>
                </a:solidFill>
                <a:effectLst/>
                <a:latin typeface="HarmonyOSHans-Regular"/>
              </a:rPr>
              <a:t>@Builder</a:t>
            </a:r>
            <a:r>
              <a:rPr lang="zh-CN" altLang="en-US" b="1" i="0" dirty="0">
                <a:solidFill>
                  <a:srgbClr val="000000"/>
                </a:solidFill>
                <a:effectLst/>
                <a:latin typeface="HarmonyOSHans-Regular"/>
              </a:rPr>
              <a:t>函数</a:t>
            </a:r>
            <a:r>
              <a:rPr lang="zh-CN" altLang="en-US" b="0" i="0" dirty="0">
                <a:solidFill>
                  <a:srgbClr val="000000"/>
                </a:solidFill>
                <a:effectLst/>
                <a:latin typeface="HarmonyOSHans-Regular"/>
              </a:rPr>
              <a:t>：</a:t>
            </a:r>
            <a:endParaRPr lang="zh-CN" altLang="en-US" b="0" i="0" dirty="0">
              <a:solidFill>
                <a:srgbClr val="2A2B31"/>
              </a:solidFill>
              <a:effectLst/>
              <a:latin typeface="HarmonyOSHans-Regular"/>
            </a:endParaRPr>
          </a:p>
          <a:p>
            <a:pPr algn="l" fontAlgn="base">
              <a:buNone/>
            </a:pPr>
            <a:r>
              <a:rPr lang="zh-CN" altLang="en-US" b="0" i="0" dirty="0">
                <a:solidFill>
                  <a:srgbClr val="000000"/>
                </a:solidFill>
                <a:effectLst/>
                <a:latin typeface="HarmonyOSHans-Regular"/>
              </a:rPr>
              <a:t>             </a:t>
            </a:r>
            <a:r>
              <a:rPr lang="en-US" altLang="zh-CN" b="0" i="0" dirty="0">
                <a:solidFill>
                  <a:srgbClr val="000000"/>
                </a:solidFill>
                <a:effectLst/>
                <a:latin typeface="HarmonyOSHans-Regular"/>
              </a:rPr>
              <a:t>@Builder </a:t>
            </a:r>
            <a:r>
              <a:rPr lang="zh-CN" altLang="en-US" b="0" i="0" dirty="0">
                <a:solidFill>
                  <a:srgbClr val="000000"/>
                </a:solidFill>
                <a:effectLst/>
                <a:latin typeface="HarmonyOSHans-Regular"/>
              </a:rPr>
              <a:t>是</a:t>
            </a:r>
            <a:r>
              <a:rPr lang="en-US" altLang="zh-CN" b="0" i="0" dirty="0" err="1">
                <a:solidFill>
                  <a:srgbClr val="000000"/>
                </a:solidFill>
                <a:effectLst/>
                <a:latin typeface="HarmonyOSHans-Regular"/>
              </a:rPr>
              <a:t>ArkUI</a:t>
            </a:r>
            <a:r>
              <a:rPr lang="zh-CN" altLang="en-US" b="0" i="0" dirty="0">
                <a:solidFill>
                  <a:srgbClr val="000000"/>
                </a:solidFill>
                <a:effectLst/>
                <a:latin typeface="HarmonyOSHans-Regular"/>
              </a:rPr>
              <a:t>的装饰器，用于定义可复用的</a:t>
            </a:r>
            <a:r>
              <a:rPr lang="en-US" altLang="zh-CN" b="0" i="0" dirty="0">
                <a:solidFill>
                  <a:srgbClr val="000000"/>
                </a:solidFill>
                <a:effectLst/>
                <a:latin typeface="HarmonyOSHans-Regular"/>
              </a:rPr>
              <a:t>UI</a:t>
            </a:r>
            <a:r>
              <a:rPr lang="zh-CN" altLang="en-US" b="0" i="0" dirty="0">
                <a:solidFill>
                  <a:srgbClr val="000000"/>
                </a:solidFill>
                <a:effectLst/>
                <a:latin typeface="HarmonyOSHans-Regular"/>
              </a:rPr>
              <a:t>片段（这个我们讲了很多次了哦）</a:t>
            </a:r>
            <a:r>
              <a:rPr lang="en-US" altLang="zh-CN" b="0" i="0" dirty="0">
                <a:solidFill>
                  <a:srgbClr val="000000"/>
                </a:solidFill>
                <a:effectLst/>
                <a:latin typeface="HarmonyOSHans-Regular"/>
              </a:rPr>
              <a:t>(</a:t>
            </a:r>
            <a:r>
              <a:rPr lang="zh-CN" altLang="en-US" b="0" i="0" dirty="0">
                <a:solidFill>
                  <a:srgbClr val="000000"/>
                </a:solidFill>
                <a:effectLst/>
                <a:latin typeface="HarmonyOSHans-Regular"/>
              </a:rPr>
              <a:t>用于将复杂的</a:t>
            </a:r>
            <a:r>
              <a:rPr lang="en-US" altLang="zh-CN" b="0" i="0" dirty="0" err="1">
                <a:solidFill>
                  <a:srgbClr val="000000"/>
                </a:solidFill>
                <a:effectLst/>
                <a:latin typeface="HarmonyOSHans-Regular"/>
              </a:rPr>
              <a:t>ui</a:t>
            </a:r>
            <a:r>
              <a:rPr lang="zh-CN" altLang="en-US" b="0" i="0" dirty="0">
                <a:solidFill>
                  <a:srgbClr val="000000"/>
                </a:solidFill>
                <a:effectLst/>
                <a:latin typeface="HarmonyOSHans-Regular"/>
              </a:rPr>
              <a:t>抽象为函数）</a:t>
            </a:r>
            <a:endParaRPr lang="zh-CN" altLang="en-US" b="0" i="0" dirty="0">
              <a:solidFill>
                <a:srgbClr val="2A2B31"/>
              </a:solidFill>
              <a:effectLst/>
              <a:latin typeface="HarmonyOSHans-Regular"/>
            </a:endParaRPr>
          </a:p>
          <a:p>
            <a:pPr algn="l" fontAlgn="base">
              <a:buNone/>
            </a:pPr>
            <a:r>
              <a:rPr lang="zh-CN" altLang="en-US" b="0" i="0" dirty="0">
                <a:solidFill>
                  <a:srgbClr val="000000"/>
                </a:solidFill>
                <a:effectLst/>
                <a:latin typeface="HarmonyOSHans-Regular"/>
              </a:rPr>
              <a:t>              </a:t>
            </a:r>
            <a:r>
              <a:rPr lang="en-US" altLang="zh-CN" b="0" i="0" dirty="0" err="1">
                <a:solidFill>
                  <a:srgbClr val="000000"/>
                </a:solidFill>
                <a:effectLst/>
                <a:latin typeface="HarmonyOSHans-Regular"/>
              </a:rPr>
              <a:t>showTextBuilder</a:t>
            </a:r>
            <a:r>
              <a:rPr lang="en-US" altLang="zh-CN" b="0" i="0" dirty="0">
                <a:solidFill>
                  <a:srgbClr val="000000"/>
                </a:solidFill>
                <a:effectLst/>
                <a:latin typeface="HarmonyOSHans-Regular"/>
              </a:rPr>
              <a:t> </a:t>
            </a:r>
            <a:r>
              <a:rPr lang="zh-CN" altLang="en-US" b="0" i="0" dirty="0">
                <a:solidFill>
                  <a:srgbClr val="000000"/>
                </a:solidFill>
                <a:effectLst/>
                <a:latin typeface="HarmonyOSHans-Regular"/>
              </a:rPr>
              <a:t>函数封装了一个预设样式的</a:t>
            </a:r>
            <a:r>
              <a:rPr lang="en-US" altLang="zh-CN" b="0" i="0" dirty="0">
                <a:solidFill>
                  <a:srgbClr val="000000"/>
                </a:solidFill>
                <a:effectLst/>
                <a:latin typeface="HarmonyOSHans-Regular"/>
              </a:rPr>
              <a:t>Text</a:t>
            </a:r>
            <a:r>
              <a:rPr lang="zh-CN" altLang="en-US" b="0" i="0" dirty="0">
                <a:solidFill>
                  <a:srgbClr val="000000"/>
                </a:solidFill>
                <a:effectLst/>
                <a:latin typeface="HarmonyOSHans-Regular"/>
              </a:rPr>
              <a:t>组件</a:t>
            </a:r>
            <a:endParaRPr lang="zh-CN" altLang="en-US" b="0" i="0" dirty="0">
              <a:solidFill>
                <a:srgbClr val="2A2B31"/>
              </a:solidFill>
              <a:effectLst/>
              <a:latin typeface="HarmonyOSHans-Regular"/>
            </a:endParaRPr>
          </a:p>
          <a:p>
            <a:pPr algn="l" fontAlgn="base">
              <a:buNone/>
            </a:pPr>
            <a:r>
              <a:rPr lang="zh-CN" altLang="en-US" b="0" i="0" dirty="0">
                <a:solidFill>
                  <a:srgbClr val="000000"/>
                </a:solidFill>
                <a:effectLst/>
                <a:latin typeface="HarmonyOSHans-Regular"/>
              </a:rPr>
              <a:t>              可以在多个组件中调用，提高代码复用性</a:t>
            </a:r>
            <a:endParaRPr lang="zh-CN" altLang="en-US" b="0" i="0" dirty="0">
              <a:solidFill>
                <a:srgbClr val="2A2B31"/>
              </a:solidFill>
              <a:effectLst/>
              <a:latin typeface="HarmonyOSHans-Regular"/>
            </a:endParaRPr>
          </a:p>
          <a:p>
            <a:pPr algn="l" fontAlgn="base"/>
            <a:r>
              <a:rPr lang="zh-CN" altLang="en-US" b="0" i="0">
                <a:solidFill>
                  <a:srgbClr val="000000"/>
                </a:solidFill>
                <a:effectLst/>
                <a:latin typeface="HarmonyOSHans-Regular"/>
              </a:rPr>
              <a:t>              支持参数传递（虽然本例未使用）</a:t>
            </a:r>
            <a:endParaRPr lang="zh-CN" altLang="en-US" b="0" i="0">
              <a:solidFill>
                <a:srgbClr val="2A2B31"/>
              </a:solidFill>
              <a:effectLst/>
              <a:latin typeface="HarmonyOSHans-Regular"/>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Swiper</a:t>
            </a:r>
            <a:r>
              <a:rPr lang="zh-CN" altLang="en-US" b="0" i="0" dirty="0">
                <a:solidFill>
                  <a:srgbClr val="343434"/>
                </a:solidFill>
                <a:effectLst/>
                <a:latin typeface="PingFang SC"/>
              </a:rPr>
              <a:t>是一款高效的页面切换类容器组件，旨在协助开发者快速构建具备切换页面显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示功能的应用程序。其核心理念在于将整个页面分割为多个子组件，每个子组件代表一个</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页面。举例而言，若</a:t>
            </a:r>
            <a:r>
              <a:rPr lang="en-US" altLang="zh-CN" b="0" i="0" dirty="0">
                <a:solidFill>
                  <a:srgbClr val="343434"/>
                </a:solidFill>
                <a:effectLst/>
                <a:latin typeface="PingFang SC"/>
              </a:rPr>
              <a:t>Swiper</a:t>
            </a:r>
            <a:r>
              <a:rPr lang="zh-CN" altLang="en-US" b="0" i="0" dirty="0">
                <a:solidFill>
                  <a:srgbClr val="343434"/>
                </a:solidFill>
                <a:effectLst/>
                <a:latin typeface="PingFang SC"/>
              </a:rPr>
              <a:t>包含</a:t>
            </a:r>
            <a:r>
              <a:rPr lang="en-US" altLang="zh-CN" b="0" i="0" dirty="0">
                <a:solidFill>
                  <a:srgbClr val="343434"/>
                </a:solidFill>
                <a:effectLst/>
                <a:latin typeface="PingFang SC"/>
              </a:rPr>
              <a:t>4</a:t>
            </a:r>
            <a:r>
              <a:rPr lang="zh-CN" altLang="en-US" b="0" i="0" dirty="0">
                <a:solidFill>
                  <a:srgbClr val="343434"/>
                </a:solidFill>
                <a:effectLst/>
                <a:latin typeface="PingFang SC"/>
              </a:rPr>
              <a:t>个子组件，则其可切换显示</a:t>
            </a:r>
            <a:r>
              <a:rPr lang="en-US" altLang="zh-CN" b="0" i="0" dirty="0">
                <a:solidFill>
                  <a:srgbClr val="343434"/>
                </a:solidFill>
                <a:effectLst/>
                <a:latin typeface="PingFang SC"/>
              </a:rPr>
              <a:t>4</a:t>
            </a:r>
            <a:r>
              <a:rPr lang="zh-CN" altLang="en-US" b="0" i="0" dirty="0">
                <a:solidFill>
                  <a:srgbClr val="343434"/>
                </a:solidFill>
                <a:effectLst/>
                <a:latin typeface="PingFang SC"/>
              </a:rPr>
              <a:t>个页面。</a:t>
            </a:r>
            <a:r>
              <a:rPr lang="en-US" altLang="zh-CN" b="0" i="0" dirty="0">
                <a:solidFill>
                  <a:srgbClr val="343434"/>
                </a:solidFill>
                <a:effectLst/>
                <a:latin typeface="PingFang SC"/>
              </a:rPr>
              <a:t>Swiper</a:t>
            </a:r>
            <a:r>
              <a:rPr lang="zh-CN" altLang="en-US" b="0" i="0" dirty="0">
                <a:solidFill>
                  <a:srgbClr val="343434"/>
                </a:solidFill>
                <a:effectLst/>
                <a:latin typeface="PingFang SC"/>
              </a:rPr>
              <a:t>的使用极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为简便，只需将子组件添加至</a:t>
            </a:r>
            <a:r>
              <a:rPr lang="en-US" altLang="zh-CN" b="0" i="0" dirty="0">
                <a:solidFill>
                  <a:srgbClr val="343434"/>
                </a:solidFill>
                <a:effectLst/>
                <a:latin typeface="PingFang SC"/>
              </a:rPr>
              <a:t>Swiper</a:t>
            </a:r>
            <a:r>
              <a:rPr lang="zh-CN" altLang="en-US" b="0" i="0" dirty="0">
                <a:solidFill>
                  <a:srgbClr val="343434"/>
                </a:solidFill>
                <a:effectLst/>
                <a:latin typeface="PingFang SC"/>
              </a:rPr>
              <a:t>中即可。此外，</a:t>
            </a:r>
            <a:r>
              <a:rPr lang="en-US" altLang="zh-CN" b="0" i="0" dirty="0">
                <a:solidFill>
                  <a:srgbClr val="343434"/>
                </a:solidFill>
                <a:effectLst/>
                <a:latin typeface="PingFang SC"/>
              </a:rPr>
              <a:t>Swiper</a:t>
            </a:r>
            <a:r>
              <a:rPr lang="zh-CN" altLang="en-US" b="0" i="0" dirty="0">
                <a:solidFill>
                  <a:srgbClr val="343434"/>
                </a:solidFill>
                <a:effectLst/>
                <a:latin typeface="PingFang SC"/>
              </a:rPr>
              <a:t>还提供了一系列实用功能，如</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可绑定</a:t>
            </a:r>
            <a:r>
              <a:rPr lang="en-US" altLang="zh-CN" b="0" i="0" dirty="0" err="1">
                <a:solidFill>
                  <a:srgbClr val="343434"/>
                </a:solidFill>
                <a:effectLst/>
                <a:latin typeface="PingFang SC"/>
              </a:rPr>
              <a:t>SwiperController</a:t>
            </a:r>
            <a:r>
              <a:rPr lang="zh-CN" altLang="en-US" b="0" i="0" dirty="0">
                <a:solidFill>
                  <a:srgbClr val="343434"/>
                </a:solidFill>
                <a:effectLst/>
                <a:latin typeface="PingFang SC"/>
              </a:rPr>
              <a:t>以控制上一页或下一页的显示，从而帮助用户高效浏览页面内容。</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总之，</a:t>
            </a:r>
            <a:r>
              <a:rPr lang="en-US" altLang="zh-CN" b="0" i="0" dirty="0">
                <a:solidFill>
                  <a:srgbClr val="343434"/>
                </a:solidFill>
                <a:effectLst/>
                <a:latin typeface="PingFang SC"/>
              </a:rPr>
              <a:t>Swiper</a:t>
            </a:r>
            <a:r>
              <a:rPr lang="zh-CN" altLang="en-US" b="0" i="0" dirty="0">
                <a:solidFill>
                  <a:srgbClr val="343434"/>
                </a:solidFill>
                <a:effectLst/>
                <a:latin typeface="PingFang SC"/>
              </a:rPr>
              <a:t>是一种实用的组件，能够快速构建具备切换页面显示能力的应用程序。无论</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是移动端应用还是</a:t>
            </a:r>
            <a:r>
              <a:rPr lang="en-US" altLang="zh-CN" b="0" i="0" dirty="0">
                <a:solidFill>
                  <a:srgbClr val="343434"/>
                </a:solidFill>
                <a:effectLst/>
                <a:latin typeface="PingFang SC"/>
              </a:rPr>
              <a:t>PC</a:t>
            </a:r>
            <a:r>
              <a:rPr lang="zh-CN" altLang="en-US" b="0" i="0" dirty="0">
                <a:solidFill>
                  <a:srgbClr val="343434"/>
                </a:solidFill>
                <a:effectLst/>
                <a:latin typeface="PingFang SC"/>
              </a:rPr>
              <a:t>端应用，</a:t>
            </a:r>
            <a:r>
              <a:rPr lang="en-US" altLang="zh-CN" b="0" i="0" dirty="0">
                <a:solidFill>
                  <a:srgbClr val="343434"/>
                </a:solidFill>
                <a:effectLst/>
                <a:latin typeface="PingFang SC"/>
              </a:rPr>
              <a:t>Swiper</a:t>
            </a:r>
            <a:r>
              <a:rPr lang="zh-CN" altLang="en-US" b="0" i="0" dirty="0">
                <a:solidFill>
                  <a:srgbClr val="343434"/>
                </a:solidFill>
                <a:effectLst/>
                <a:latin typeface="PingFang SC"/>
              </a:rPr>
              <a:t>都是值得推荐的组件。</a:t>
            </a:r>
            <a:endParaRPr lang="zh-CN" altLang="en-US" b="0" i="0" dirty="0">
              <a:solidFill>
                <a:srgbClr val="343434"/>
              </a:solidFill>
              <a:effectLst/>
              <a:latin typeface="PingFang SC"/>
            </a:endParaRPr>
          </a:p>
          <a:p>
            <a:pPr algn="l" fontAlgn="base">
              <a:lnSpc>
                <a:spcPts val="2250"/>
              </a:lnSpc>
              <a:spcAft>
                <a:spcPts val="300"/>
              </a:spcAft>
              <a:buNone/>
            </a:pPr>
            <a:endParaRPr lang="en-US" altLang="zh-CN"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ForEach</a:t>
            </a:r>
            <a:r>
              <a:rPr lang="en-US" altLang="zh-CN" b="0" i="0" dirty="0">
                <a:solidFill>
                  <a:srgbClr val="343434"/>
                </a:solidFill>
                <a:effectLst/>
                <a:latin typeface="PingFang SC"/>
              </a:rPr>
              <a:t>:</a:t>
            </a:r>
            <a:r>
              <a:rPr lang="zh-CN" altLang="en-US" b="0" i="0" dirty="0">
                <a:solidFill>
                  <a:srgbClr val="343434"/>
                </a:solidFill>
                <a:effectLst/>
                <a:latin typeface="PingFang SC"/>
              </a:rPr>
              <a:t>如果列表元素少，可一次性全部加载。但若是一次性加载上万条数据会造成性能问题。</a:t>
            </a:r>
            <a:r>
              <a:rPr lang="en-US" altLang="zh-CN" b="0" i="0" dirty="0" err="1">
                <a:solidFill>
                  <a:srgbClr val="343434"/>
                </a:solidFill>
                <a:effectLst/>
                <a:latin typeface="PingFang SC"/>
              </a:rPr>
              <a:t>LazyForEach</a:t>
            </a:r>
            <a:r>
              <a:rPr lang="zh-CN" altLang="en-US" b="0" i="0" dirty="0">
                <a:solidFill>
                  <a:srgbClr val="343434"/>
                </a:solidFill>
                <a:effectLst/>
                <a:latin typeface="PingFang SC"/>
              </a:rPr>
              <a:t>实现了按需加载</a:t>
            </a:r>
            <a:endParaRPr lang="en-US" altLang="zh-CN"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针对列表数据量大、列表组件复杂的场景，减少了页面首次启动时一次性加载数据时间消耗减少了内存峰值</a:t>
            </a:r>
            <a:endParaRPr lang="en-US" altLang="zh-CN"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Foreach</a:t>
            </a:r>
            <a:r>
              <a:rPr lang="zh-CN" altLang="en-US" b="0" i="0" dirty="0">
                <a:solidFill>
                  <a:srgbClr val="343434"/>
                </a:solidFill>
                <a:effectLst/>
                <a:latin typeface="PingFang SC"/>
              </a:rPr>
              <a:t>可以实现任意类型的数据，就是所接受的数据源是可以任意类型的，但是</a:t>
            </a:r>
            <a:r>
              <a:rPr lang="en-US" altLang="zh-CN" b="0" i="0" dirty="0" err="1">
                <a:solidFill>
                  <a:srgbClr val="343434"/>
                </a:solidFill>
                <a:effectLst/>
                <a:latin typeface="PingFang SC"/>
              </a:rPr>
              <a:t>LazyForeach</a:t>
            </a:r>
            <a:r>
              <a:rPr lang="zh-CN" altLang="en-US" b="0" i="0" dirty="0">
                <a:solidFill>
                  <a:srgbClr val="343434"/>
                </a:solidFill>
                <a:effectLst/>
                <a:latin typeface="PingFang SC"/>
              </a:rPr>
              <a:t>的只能是</a:t>
            </a:r>
            <a:r>
              <a:rPr lang="en-US" altLang="zh-CN" b="0" i="0" dirty="0" err="1">
                <a:solidFill>
                  <a:srgbClr val="343434"/>
                </a:solidFill>
                <a:effectLst/>
                <a:latin typeface="PingFang SC"/>
              </a:rPr>
              <a:t>IDataSource</a:t>
            </a:r>
            <a:r>
              <a:rPr lang="zh-CN" altLang="en-US" b="0" i="0" dirty="0">
                <a:solidFill>
                  <a:srgbClr val="343434"/>
                </a:solidFill>
                <a:effectLst/>
                <a:latin typeface="PingFang SC"/>
              </a:rPr>
              <a:t>接口类型的。</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在移动应用开发领域中，下拉刷新功能被广泛应用。该功能使得用户能够获取到最新</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的数据或内容，而无需手动刷新或等待自动刷新，因此被认为是一项非常实用的功能。举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例而言，当用户使用新闻应用时，可以通过下拉刷新来获取最新的新闻资讯。为了方便开</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发者实现这一功能，</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开发框架提供了一个名为</a:t>
            </a:r>
            <a:r>
              <a:rPr lang="en-US" altLang="zh-CN" b="0" i="0" dirty="0">
                <a:solidFill>
                  <a:srgbClr val="343434"/>
                </a:solidFill>
                <a:effectLst/>
                <a:latin typeface="PingFang SC"/>
              </a:rPr>
              <a:t>Refresh</a:t>
            </a:r>
            <a:r>
              <a:rPr lang="zh-CN" altLang="en-US" b="0" i="0" dirty="0">
                <a:solidFill>
                  <a:srgbClr val="343434"/>
                </a:solidFill>
                <a:effectLst/>
                <a:latin typeface="PingFang SC"/>
              </a:rPr>
              <a:t>的下拉刷新组件。使用该组件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非常简单，只需将需要进行下拉刷新的组件包裹在</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组件中即可。在用户下拉屏幕</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时，</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组件会自动触发刷新操作，从而更新数据或内容。总之，下拉刷新功能提高了</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用户体验，使应用更加便捷和易用。</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在移动应用开发领域中，下拉刷新功能被广泛应用。该功能使得用户能够获取到最新</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的数据或内容，而无需手动刷新或等待自动刷新，因此被认为是一项非常实用的功能。举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例而言，当用户使用新闻应用时，可以通过下拉刷新来获取最新的新闻资讯。为了方便开</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发者实现这一功能，</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开发框架提供了一个名为</a:t>
            </a:r>
            <a:r>
              <a:rPr lang="en-US" altLang="zh-CN" b="0" i="0" dirty="0">
                <a:solidFill>
                  <a:srgbClr val="343434"/>
                </a:solidFill>
                <a:effectLst/>
                <a:latin typeface="PingFang SC"/>
              </a:rPr>
              <a:t>Refresh</a:t>
            </a:r>
            <a:r>
              <a:rPr lang="zh-CN" altLang="en-US" b="0" i="0" dirty="0">
                <a:solidFill>
                  <a:srgbClr val="343434"/>
                </a:solidFill>
                <a:effectLst/>
                <a:latin typeface="PingFang SC"/>
              </a:rPr>
              <a:t>的下拉刷新组件。使用该组件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非常简单，只需将需要进行下拉刷新的组件包裹在</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组件中即可。在用户下拉屏幕</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时，</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组件会自动触发刷新操作，从而更新数据或内容。总之，下拉刷新功能提高了</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用户体验，使应用更加便捷和易用。</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在移动应用开发领域中，下拉刷新功能被广泛应用。该功能使得用户能够获取到最新</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的数据或内容，而无需手动刷新或等待自动刷新，因此被认为是一项非常实用的功能。举</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例而言，当用户使用新闻应用时，可以通过下拉刷新来获取最新的新闻资讯。为了方便开</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发者实现这一功能，</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开发框架提供了一个名为</a:t>
            </a:r>
            <a:r>
              <a:rPr lang="en-US" altLang="zh-CN" b="0" i="0" dirty="0">
                <a:solidFill>
                  <a:srgbClr val="343434"/>
                </a:solidFill>
                <a:effectLst/>
                <a:latin typeface="PingFang SC"/>
              </a:rPr>
              <a:t>Refresh</a:t>
            </a:r>
            <a:r>
              <a:rPr lang="zh-CN" altLang="en-US" b="0" i="0" dirty="0">
                <a:solidFill>
                  <a:srgbClr val="343434"/>
                </a:solidFill>
                <a:effectLst/>
                <a:latin typeface="PingFang SC"/>
              </a:rPr>
              <a:t>的下拉刷新组件。使用该组件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非常简单，只需将需要进行下拉刷新的组件包裹在</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组件中即可。在用户下拉屏幕</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时，</a:t>
            </a:r>
            <a:r>
              <a:rPr lang="en-US" altLang="zh-CN" b="0" i="0" dirty="0">
                <a:solidFill>
                  <a:srgbClr val="343434"/>
                </a:solidFill>
                <a:effectLst/>
                <a:latin typeface="PingFang SC"/>
              </a:rPr>
              <a:t>Refresh</a:t>
            </a:r>
            <a:r>
              <a:rPr lang="zh-CN" altLang="en-US" b="0" i="0" dirty="0">
                <a:solidFill>
                  <a:srgbClr val="343434"/>
                </a:solidFill>
                <a:effectLst/>
                <a:latin typeface="PingFang SC"/>
              </a:rPr>
              <a:t>组件会自动触发刷新操作，从而更新数据或内容。总之，下拉刷新功能提高了</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用户体验，使应用更加便捷和易用。</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@Component</a:t>
            </a:r>
            <a:r>
              <a:rPr lang="zh-CN" altLang="en-US" b="0" i="0" dirty="0">
                <a:solidFill>
                  <a:srgbClr val="343434"/>
                </a:solidFill>
                <a:effectLst/>
                <a:latin typeface="PingFang SC"/>
              </a:rPr>
              <a:t>是一个修饰符，它表示</a:t>
            </a:r>
            <a:r>
              <a:rPr lang="en-US" altLang="zh-CN" b="0" i="0" dirty="0">
                <a:solidFill>
                  <a:srgbClr val="343434"/>
                </a:solidFill>
                <a:effectLst/>
                <a:latin typeface="PingFang SC"/>
              </a:rPr>
              <a:t>Ring</a:t>
            </a:r>
            <a:r>
              <a:rPr lang="zh-CN" altLang="en-US" b="0" i="0" dirty="0">
                <a:solidFill>
                  <a:srgbClr val="343434"/>
                </a:solidFill>
                <a:effectLst/>
                <a:latin typeface="PingFang SC"/>
              </a:rPr>
              <a:t>是一个组件。在使用该修饰符时，必须实现</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build0</a:t>
            </a:r>
            <a:r>
              <a:rPr lang="zh-CN" altLang="en-US" b="0" i="0" dirty="0">
                <a:solidFill>
                  <a:srgbClr val="343434"/>
                </a:solidFill>
                <a:effectLst/>
                <a:latin typeface="PingFang SC"/>
              </a:rPr>
              <a:t>方法。当组件被创建或者后续有状态更新时，</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方法会被调用。因此，我们只需</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要在</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方法内返回布局即可。在该方法内，我们可以使用各种布局控件和属性来构建</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我们所需的界面。这样，我们就可以轻松地创建一个功能强大的组件，并在需要时进行更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新和修改。同时，使用组件化的思想可以大大提高代码的复用性和可维护性，使得开发工</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作更加高效和便捷。</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在</a:t>
            </a:r>
            <a:r>
              <a:rPr lang="en-US" altLang="zh-CN" b="0" i="0" dirty="0" err="1">
                <a:solidFill>
                  <a:srgbClr val="343434"/>
                </a:solidFill>
                <a:effectLst/>
                <a:latin typeface="PingFang SC"/>
              </a:rPr>
              <a:t>ArkUI</a:t>
            </a:r>
            <a:r>
              <a:rPr lang="zh-CN" altLang="en-US" b="0" i="0" dirty="0">
                <a:solidFill>
                  <a:srgbClr val="343434"/>
                </a:solidFill>
                <a:effectLst/>
                <a:latin typeface="PingFang SC"/>
              </a:rPr>
              <a:t>中，</a:t>
            </a:r>
            <a:r>
              <a:rPr lang="en-US" altLang="zh-CN" b="0" i="0" dirty="0">
                <a:solidFill>
                  <a:srgbClr val="343434"/>
                </a:solidFill>
                <a:effectLst/>
                <a:latin typeface="PingFang SC"/>
              </a:rPr>
              <a:t>export</a:t>
            </a:r>
            <a:r>
              <a:rPr lang="zh-CN" altLang="en-US" b="0" i="0" dirty="0">
                <a:solidFill>
                  <a:srgbClr val="343434"/>
                </a:solidFill>
                <a:effectLst/>
                <a:latin typeface="PingFang SC"/>
              </a:rPr>
              <a:t>是一个非常重要的关键字。它表示当前组件可以被导出，让其他组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件或模块可以调用它。使用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关键字，我们可以封装组件的功能和逻辑，让其他组件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或模块进行复用。当一个组件使用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关键字时，其他组件或模块可以通过</a:t>
            </a:r>
            <a:r>
              <a:rPr lang="en-US" altLang="zh-CN" b="0" i="0" dirty="0">
                <a:solidFill>
                  <a:srgbClr val="343434"/>
                </a:solidFill>
                <a:effectLst/>
                <a:latin typeface="PingFang SC"/>
              </a:rPr>
              <a:t>import</a:t>
            </a:r>
            <a:r>
              <a:rPr lang="zh-CN" altLang="en-US" b="0" i="0" dirty="0">
                <a:solidFill>
                  <a:srgbClr val="343434"/>
                </a:solidFill>
                <a:effectLst/>
                <a:latin typeface="PingFang SC"/>
              </a:rPr>
              <a:t>语句</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来引入它。这样，我们就可以在不同的组件中进行组合和嵌套，创建更加复杂的应用程序。</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需要注意的是，</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关键字可以用在不同的场景中，比如导出函数、类或变量。</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@Component</a:t>
            </a:r>
            <a:r>
              <a:rPr lang="zh-CN" altLang="en-US" b="0" i="0" dirty="0">
                <a:solidFill>
                  <a:srgbClr val="343434"/>
                </a:solidFill>
                <a:effectLst/>
                <a:latin typeface="PingFang SC"/>
              </a:rPr>
              <a:t>是一个修饰符，它表示</a:t>
            </a:r>
            <a:r>
              <a:rPr lang="en-US" altLang="zh-CN" b="0" i="0" dirty="0">
                <a:solidFill>
                  <a:srgbClr val="343434"/>
                </a:solidFill>
                <a:effectLst/>
                <a:latin typeface="PingFang SC"/>
              </a:rPr>
              <a:t>Ring</a:t>
            </a:r>
            <a:r>
              <a:rPr lang="zh-CN" altLang="en-US" b="0" i="0" dirty="0">
                <a:solidFill>
                  <a:srgbClr val="343434"/>
                </a:solidFill>
                <a:effectLst/>
                <a:latin typeface="PingFang SC"/>
              </a:rPr>
              <a:t>是一个组件。在使用该修饰符时，必须实现</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build0</a:t>
            </a:r>
            <a:r>
              <a:rPr lang="zh-CN" altLang="en-US" b="0" i="0" dirty="0">
                <a:solidFill>
                  <a:srgbClr val="343434"/>
                </a:solidFill>
                <a:effectLst/>
                <a:latin typeface="PingFang SC"/>
              </a:rPr>
              <a:t>方法。当组件被创建或者后续有状态更新时，</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方法会被调用。因此，我们只需</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要在</a:t>
            </a:r>
            <a:r>
              <a:rPr lang="en-US" altLang="zh-CN" b="0" i="0" dirty="0">
                <a:solidFill>
                  <a:srgbClr val="343434"/>
                </a:solidFill>
                <a:effectLst/>
                <a:latin typeface="PingFang SC"/>
              </a:rPr>
              <a:t>build0</a:t>
            </a:r>
            <a:r>
              <a:rPr lang="zh-CN" altLang="en-US" b="0" i="0" dirty="0">
                <a:solidFill>
                  <a:srgbClr val="343434"/>
                </a:solidFill>
                <a:effectLst/>
                <a:latin typeface="PingFang SC"/>
              </a:rPr>
              <a:t>方法内返回布局即可。在该方法内，我们可以使用各种布局控件和属性来构建</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我们所需的界面。这样，我们就可以轻松地创建一个功能强大的组件，并在需要时进行更</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新和修改。同时，使用组件化的思想可以大大提高代码的复用性和可维护性，使得开发工</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作更加高效和便捷。</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在</a:t>
            </a:r>
            <a:r>
              <a:rPr lang="en-US" altLang="zh-CN" b="0" i="0" dirty="0" err="1">
                <a:solidFill>
                  <a:srgbClr val="343434"/>
                </a:solidFill>
                <a:effectLst/>
                <a:latin typeface="PingFang SC"/>
              </a:rPr>
              <a:t>ArkUI</a:t>
            </a:r>
            <a:r>
              <a:rPr lang="zh-CN" altLang="en-US" b="0" i="0" dirty="0">
                <a:solidFill>
                  <a:srgbClr val="343434"/>
                </a:solidFill>
                <a:effectLst/>
                <a:latin typeface="PingFang SC"/>
              </a:rPr>
              <a:t>中，</a:t>
            </a:r>
            <a:r>
              <a:rPr lang="en-US" altLang="zh-CN" b="0" i="0" dirty="0">
                <a:solidFill>
                  <a:srgbClr val="343434"/>
                </a:solidFill>
                <a:effectLst/>
                <a:latin typeface="PingFang SC"/>
              </a:rPr>
              <a:t>export</a:t>
            </a:r>
            <a:r>
              <a:rPr lang="zh-CN" altLang="en-US" b="0" i="0" dirty="0">
                <a:solidFill>
                  <a:srgbClr val="343434"/>
                </a:solidFill>
                <a:effectLst/>
                <a:latin typeface="PingFang SC"/>
              </a:rPr>
              <a:t>是一个非常重要的关键字。它表示当前组件可以被导出，让其他组</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件或模块可以调用它。使用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关键字，我们可以封装组件的功能和逻辑，让其他组件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或模块进行复用。当一个组件使用</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关键字时，其他组件或模块可以通过</a:t>
            </a:r>
            <a:r>
              <a:rPr lang="en-US" altLang="zh-CN" b="0" i="0" dirty="0">
                <a:solidFill>
                  <a:srgbClr val="343434"/>
                </a:solidFill>
                <a:effectLst/>
                <a:latin typeface="PingFang SC"/>
              </a:rPr>
              <a:t>import</a:t>
            </a:r>
            <a:r>
              <a:rPr lang="zh-CN" altLang="en-US" b="0" i="0" dirty="0">
                <a:solidFill>
                  <a:srgbClr val="343434"/>
                </a:solidFill>
                <a:effectLst/>
                <a:latin typeface="PingFang SC"/>
              </a:rPr>
              <a:t>语句</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来引入它。这样，我们就可以在不同的组件中进行组合和嵌套，创建更加复杂的应用程序。</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需要注意的是，</a:t>
            </a:r>
            <a:r>
              <a:rPr lang="en-US" altLang="zh-CN" b="0" i="0" dirty="0">
                <a:solidFill>
                  <a:srgbClr val="343434"/>
                </a:solidFill>
                <a:effectLst/>
                <a:latin typeface="PingFang SC"/>
              </a:rPr>
              <a:t>export</a:t>
            </a:r>
            <a:r>
              <a:rPr lang="zh-CN" altLang="en-US" b="0" i="0" dirty="0">
                <a:solidFill>
                  <a:srgbClr val="343434"/>
                </a:solidFill>
                <a:effectLst/>
                <a:latin typeface="PingFang SC"/>
              </a:rPr>
              <a:t>关键字可以用在不同的场景中，比如导出函数、类或变量。</a:t>
            </a: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在自定义组件的实现和使用过程中，有一种情形需要特别注意。当开发者在使用我们</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提供的自定义组件时，如果想向该组件内添加额外的子组件，但又不希望修改组件源码，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该如何实现呢</a:t>
            </a:r>
            <a:r>
              <a:rPr lang="en-US" altLang="zh-CN" b="0" i="0" dirty="0">
                <a:solidFill>
                  <a:srgbClr val="343434"/>
                </a:solidFill>
                <a:effectLst/>
                <a:latin typeface="PingFang SC"/>
              </a:rPr>
              <a:t>?</a:t>
            </a:r>
            <a:r>
              <a:rPr lang="zh-CN" altLang="en-US" b="0" i="0" dirty="0">
                <a:solidFill>
                  <a:srgbClr val="343434"/>
                </a:solidFill>
                <a:effectLst/>
                <a:latin typeface="PingFang SC"/>
              </a:rPr>
              <a:t>为解决这一问题，</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@BuilderParam</a:t>
            </a:r>
            <a:r>
              <a:rPr lang="zh-CN" altLang="en-US" b="0" i="0" dirty="0">
                <a:solidFill>
                  <a:srgbClr val="343434"/>
                </a:solidFill>
                <a:effectLst/>
                <a:latin typeface="PingFang SC"/>
              </a:rPr>
              <a:t>修饰符。本节将简</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要介绍该修饰符的使用方法。</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在自定义组件的实现和使用过程中，有一种情形需要特别注意。当开发者在使用我们</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提供的自定义组件时，如果想向该组件内添加额外的子组件，但又不希望修改组件源码，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该如何实现呢</a:t>
            </a:r>
            <a:r>
              <a:rPr lang="en-US" altLang="zh-CN" b="0" i="0" dirty="0">
                <a:solidFill>
                  <a:srgbClr val="343434"/>
                </a:solidFill>
                <a:effectLst/>
                <a:latin typeface="PingFang SC"/>
              </a:rPr>
              <a:t>?</a:t>
            </a:r>
            <a:r>
              <a:rPr lang="zh-CN" altLang="en-US" b="0" i="0" dirty="0">
                <a:solidFill>
                  <a:srgbClr val="343434"/>
                </a:solidFill>
                <a:effectLst/>
                <a:latin typeface="PingFang SC"/>
              </a:rPr>
              <a:t>为解决这一问题，</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@BuilderParam</a:t>
            </a:r>
            <a:r>
              <a:rPr lang="zh-CN" altLang="en-US" b="0" i="0" dirty="0">
                <a:solidFill>
                  <a:srgbClr val="343434"/>
                </a:solidFill>
                <a:effectLst/>
                <a:latin typeface="PingFang SC"/>
              </a:rPr>
              <a:t>修饰符。本节将简</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要介绍该修饰符的使用方法。</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在自定义组件的实现和使用过程中，有一种情形需要特别注意。当开发者在使用我们</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提供的自定义组件时，如果想向该组件内添加额外的子组件，但又不希望修改组件源码，</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该如何实现呢</a:t>
            </a:r>
            <a:r>
              <a:rPr lang="en-US" altLang="zh-CN" b="0" i="0" dirty="0">
                <a:solidFill>
                  <a:srgbClr val="343434"/>
                </a:solidFill>
                <a:effectLst/>
                <a:latin typeface="PingFang SC"/>
              </a:rPr>
              <a:t>?</a:t>
            </a:r>
            <a:r>
              <a:rPr lang="zh-CN" altLang="en-US" b="0" i="0" dirty="0">
                <a:solidFill>
                  <a:srgbClr val="343434"/>
                </a:solidFill>
                <a:effectLst/>
                <a:latin typeface="PingFang SC"/>
              </a:rPr>
              <a:t>为解决这一问题，</a:t>
            </a:r>
            <a:r>
              <a:rPr lang="en-US" altLang="zh-CN" b="0" i="0" dirty="0" err="1">
                <a:solidFill>
                  <a:srgbClr val="343434"/>
                </a:solidFill>
                <a:effectLst/>
                <a:latin typeface="PingFang SC"/>
              </a:rPr>
              <a:t>ArkUI</a:t>
            </a:r>
            <a:r>
              <a:rPr lang="zh-CN" altLang="en-US" b="0" i="0" dirty="0">
                <a:solidFill>
                  <a:srgbClr val="343434"/>
                </a:solidFill>
                <a:effectLst/>
                <a:latin typeface="PingFang SC"/>
              </a:rPr>
              <a:t>开发框架提供了</a:t>
            </a:r>
            <a:r>
              <a:rPr lang="en-US" altLang="zh-CN" b="0" i="0" dirty="0">
                <a:solidFill>
                  <a:srgbClr val="343434"/>
                </a:solidFill>
                <a:effectLst/>
                <a:latin typeface="PingFang SC"/>
              </a:rPr>
              <a:t>@BuilderParam</a:t>
            </a:r>
            <a:r>
              <a:rPr lang="zh-CN" altLang="en-US" b="0" i="0" dirty="0">
                <a:solidFill>
                  <a:srgbClr val="343434"/>
                </a:solidFill>
                <a:effectLst/>
                <a:latin typeface="PingFang SC"/>
              </a:rPr>
              <a:t>修饰符。本节将简</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要介绍该修饰符的使用方法。</a:t>
            </a: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自定义组件的生命周期回调函数用于通知用户该自定义组件的生命周期，这些回调函数是私有的，在运行时由开发框架在特定的时间进行调用，不能从应用程序中手动调用这些回调函数。不要在多个窗口复用同一个自定义组件节点，其生命周期可能会紊乱。</a:t>
            </a:r>
            <a:endParaRPr lang="en-US" altLang="zh-CN"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aboutToAppear</a:t>
            </a:r>
            <a:r>
              <a:rPr lang="zh-CN" altLang="en-US" b="0" i="0" dirty="0">
                <a:solidFill>
                  <a:srgbClr val="343434"/>
                </a:solidFill>
                <a:effectLst/>
                <a:latin typeface="PingFang SC"/>
              </a:rPr>
              <a:t>函数在创建自定义组件的新实例后，在执行其</a:t>
            </a:r>
            <a:r>
              <a:rPr lang="en-US" altLang="zh-CN" b="0" i="0" dirty="0">
                <a:solidFill>
                  <a:srgbClr val="343434"/>
                </a:solidFill>
                <a:effectLst/>
                <a:latin typeface="PingFang SC"/>
              </a:rPr>
              <a:t>build()</a:t>
            </a:r>
            <a:r>
              <a:rPr lang="zh-CN" altLang="en-US" b="0" i="0" dirty="0">
                <a:solidFill>
                  <a:srgbClr val="343434"/>
                </a:solidFill>
                <a:effectLst/>
                <a:latin typeface="PingFang SC"/>
              </a:rPr>
              <a:t>函数之前执行。允许在</a:t>
            </a:r>
            <a:r>
              <a:rPr lang="en-US" altLang="zh-CN" b="0" i="0" dirty="0" err="1">
                <a:solidFill>
                  <a:srgbClr val="343434"/>
                </a:solidFill>
                <a:effectLst/>
                <a:latin typeface="PingFang SC"/>
              </a:rPr>
              <a:t>aboutToAppear</a:t>
            </a:r>
            <a:r>
              <a:rPr lang="zh-CN" altLang="en-US" b="0" i="0" dirty="0">
                <a:solidFill>
                  <a:srgbClr val="343434"/>
                </a:solidFill>
                <a:effectLst/>
                <a:latin typeface="PingFang SC"/>
              </a:rPr>
              <a:t>函数中改变状态变量，更改将在后续执行</a:t>
            </a:r>
            <a:r>
              <a:rPr lang="en-US" altLang="zh-CN" b="0" i="0" dirty="0">
                <a:solidFill>
                  <a:srgbClr val="343434"/>
                </a:solidFill>
                <a:effectLst/>
                <a:latin typeface="PingFang SC"/>
              </a:rPr>
              <a:t>build()</a:t>
            </a:r>
            <a:r>
              <a:rPr lang="zh-CN" altLang="en-US" b="0" i="0" dirty="0">
                <a:solidFill>
                  <a:srgbClr val="343434"/>
                </a:solidFill>
                <a:effectLst/>
                <a:latin typeface="PingFang SC"/>
              </a:rPr>
              <a:t>函数中生效。实现自定义布局的自定义组件的</a:t>
            </a:r>
            <a:r>
              <a:rPr lang="en-US" altLang="zh-CN" b="0" i="0" dirty="0" err="1">
                <a:solidFill>
                  <a:srgbClr val="343434"/>
                </a:solidFill>
                <a:effectLst/>
                <a:latin typeface="PingFang SC"/>
              </a:rPr>
              <a:t>aboutToAppear</a:t>
            </a:r>
            <a:r>
              <a:rPr lang="zh-CN" altLang="en-US" b="0" i="0" dirty="0">
                <a:solidFill>
                  <a:srgbClr val="343434"/>
                </a:solidFill>
                <a:effectLst/>
                <a:latin typeface="PingFang SC"/>
              </a:rPr>
              <a:t>生命周期在布局过程中触发。</a:t>
            </a:r>
            <a:endParaRPr lang="en-US" altLang="zh-CN"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aboutToDisappear</a:t>
            </a:r>
            <a:r>
              <a:rPr lang="zh-CN" altLang="en-US" b="0" i="0" dirty="0">
                <a:solidFill>
                  <a:srgbClr val="343434"/>
                </a:solidFill>
                <a:effectLst/>
                <a:latin typeface="PingFang SC"/>
              </a:rPr>
              <a:t>函数在自定义组件析构销毁时执行。不允许在</a:t>
            </a:r>
            <a:r>
              <a:rPr lang="en-US" altLang="zh-CN" b="0" i="0" dirty="0" err="1">
                <a:solidFill>
                  <a:srgbClr val="343434"/>
                </a:solidFill>
                <a:effectLst/>
                <a:latin typeface="PingFang SC"/>
              </a:rPr>
              <a:t>aboutToDisappear</a:t>
            </a:r>
            <a:r>
              <a:rPr lang="zh-CN" altLang="en-US" b="0" i="0" dirty="0">
                <a:solidFill>
                  <a:srgbClr val="343434"/>
                </a:solidFill>
                <a:effectLst/>
                <a:latin typeface="PingFang SC"/>
              </a:rPr>
              <a:t>函数中改变状态变量，特别是</a:t>
            </a:r>
            <a:r>
              <a:rPr lang="en-US" altLang="zh-CN" b="0" i="0" dirty="0">
                <a:solidFill>
                  <a:srgbClr val="343434"/>
                </a:solidFill>
                <a:effectLst/>
                <a:latin typeface="PingFang SC"/>
              </a:rPr>
              <a:t>@Link</a:t>
            </a:r>
            <a:r>
              <a:rPr lang="zh-CN" altLang="en-US" b="0" i="0" dirty="0">
                <a:solidFill>
                  <a:srgbClr val="343434"/>
                </a:solidFill>
                <a:effectLst/>
                <a:latin typeface="PingFang SC"/>
              </a:rPr>
              <a:t>变量的修改可能会导致应用程序行为不稳定。</a:t>
            </a:r>
            <a:endParaRPr lang="en-US" altLang="zh-CN"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页面每次显示时触发一次，包括路由过程、应用进入前台等场景，仅</a:t>
            </a:r>
            <a:r>
              <a:rPr lang="en-US" altLang="zh-CN" b="0" i="0" dirty="0">
                <a:solidFill>
                  <a:srgbClr val="343434"/>
                </a:solidFill>
                <a:effectLst/>
                <a:latin typeface="PingFang SC"/>
              </a:rPr>
              <a:t>@Entry</a:t>
            </a:r>
            <a:r>
              <a:rPr lang="zh-CN" altLang="en-US" b="0" i="0" dirty="0">
                <a:solidFill>
                  <a:srgbClr val="343434"/>
                </a:solidFill>
                <a:effectLst/>
                <a:latin typeface="PingFang SC"/>
              </a:rPr>
              <a:t>装饰的自定义组件作为页面时生效。</a:t>
            </a:r>
            <a:endParaRPr lang="en-US" altLang="zh-CN"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页面每次隐藏时触发一次，包括路由过程、应用进入后台等场景，仅</a:t>
            </a:r>
            <a:r>
              <a:rPr lang="en-US" altLang="zh-CN" b="0" i="0" dirty="0">
                <a:solidFill>
                  <a:srgbClr val="343434"/>
                </a:solidFill>
                <a:effectLst/>
                <a:latin typeface="PingFang SC"/>
              </a:rPr>
              <a:t>@Entry</a:t>
            </a:r>
            <a:r>
              <a:rPr lang="zh-CN" altLang="en-US" b="0" i="0" dirty="0">
                <a:solidFill>
                  <a:srgbClr val="343434"/>
                </a:solidFill>
                <a:effectLst/>
                <a:latin typeface="PingFang SC"/>
              </a:rPr>
              <a:t>装饰的自定义组件作为页面时生效。</a:t>
            </a:r>
            <a:endParaRPr lang="en-US" altLang="zh-CN"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当用户点击返回按钮时触发，仅</a:t>
            </a:r>
            <a:r>
              <a:rPr lang="en-US" altLang="zh-CN" b="0" i="0" dirty="0">
                <a:solidFill>
                  <a:srgbClr val="343434"/>
                </a:solidFill>
                <a:effectLst/>
                <a:latin typeface="PingFang SC"/>
              </a:rPr>
              <a:t>@Entry</a:t>
            </a:r>
            <a:r>
              <a:rPr lang="zh-CN" altLang="en-US" b="0" i="0" dirty="0">
                <a:solidFill>
                  <a:srgbClr val="343434"/>
                </a:solidFill>
                <a:effectLst/>
                <a:latin typeface="PingFang SC"/>
              </a:rPr>
              <a:t>装饰的自定义组件作为页面时生效。返回</a:t>
            </a:r>
            <a:r>
              <a:rPr lang="en-US" altLang="zh-CN" b="0" i="0" dirty="0">
                <a:solidFill>
                  <a:srgbClr val="343434"/>
                </a:solidFill>
                <a:effectLst/>
                <a:latin typeface="PingFang SC"/>
              </a:rPr>
              <a:t>true</a:t>
            </a:r>
            <a:r>
              <a:rPr lang="zh-CN" altLang="en-US" b="0" i="0" dirty="0">
                <a:solidFill>
                  <a:srgbClr val="343434"/>
                </a:solidFill>
                <a:effectLst/>
                <a:latin typeface="PingFang SC"/>
              </a:rPr>
              <a:t>表示页面自己处理返回逻辑，不进行页面路由；返回</a:t>
            </a:r>
            <a:r>
              <a:rPr lang="en-US" altLang="zh-CN" b="0" i="0" dirty="0">
                <a:solidFill>
                  <a:srgbClr val="343434"/>
                </a:solidFill>
                <a:effectLst/>
                <a:latin typeface="PingFang SC"/>
              </a:rPr>
              <a:t>false</a:t>
            </a:r>
            <a:r>
              <a:rPr lang="zh-CN" altLang="en-US" b="0" i="0" dirty="0">
                <a:solidFill>
                  <a:srgbClr val="343434"/>
                </a:solidFill>
                <a:effectLst/>
                <a:latin typeface="PingFang SC"/>
              </a:rPr>
              <a:t>表示使用默认的路由返回逻辑，不设置返回值按照</a:t>
            </a:r>
            <a:r>
              <a:rPr lang="en-US" altLang="zh-CN" b="0" i="0" dirty="0">
                <a:solidFill>
                  <a:srgbClr val="343434"/>
                </a:solidFill>
                <a:effectLst/>
                <a:latin typeface="PingFang SC"/>
              </a:rPr>
              <a:t>false</a:t>
            </a:r>
            <a:r>
              <a:rPr lang="zh-CN" altLang="en-US" b="0" i="0" dirty="0">
                <a:solidFill>
                  <a:srgbClr val="343434"/>
                </a:solidFill>
                <a:effectLst/>
                <a:latin typeface="PingFang SC"/>
              </a:rPr>
              <a:t>处理。</a:t>
            </a:r>
            <a:endParaRPr lang="en-US" altLang="zh-CN"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base" latinLnBrk="0" hangingPunct="1">
              <a:lnSpc>
                <a:spcPts val="2250"/>
              </a:lnSpc>
              <a:spcBef>
                <a:spcPts val="0"/>
              </a:spcBef>
              <a:spcAft>
                <a:spcPts val="300"/>
              </a:spcAft>
              <a:buClrTx/>
              <a:buSzTx/>
              <a:buFontTx/>
              <a:buNone/>
              <a:defRPr/>
            </a:pPr>
            <a:r>
              <a:rPr lang="zh-CN" altLang="en-US" dirty="0"/>
              <a:t>本节简要介绍了通用属性和事件的使用。在应用开发过程中，合理运用通用属性和事件可以有效提升用户体验。自定义组件也是开发者提高效率和代码质量的重要工具。充分利用自定义组件可以实现组件的复用和共享，从而为应用开发提供更加灵活和高效的解决方案。在实际应用开发中，灵活使用通用属性和事件以及自定义组件是非常重要的，这不仅可以为用户提供更加丰富和便捷的交互体验，还可以提高应用的可维护性和可扩展性，使得代码更加易于维护和升级。因此，在设计和实现组件的时候，需要仔细考虑组件的通用性和可扩展性，以充分发挥通用属性和事件以及自定义组件的优势。</a:t>
            </a:r>
            <a:endParaRPr lang="zh-CN" altLang="en-US" dirty="0"/>
          </a:p>
          <a:p>
            <a:pPr algn="l" fontAlgn="base">
              <a:lnSpc>
                <a:spcPts val="2250"/>
              </a:lnSpc>
              <a:spcAft>
                <a:spcPts val="300"/>
              </a:spcAft>
              <a:buNone/>
            </a:pPr>
            <a:endParaRPr lang="zh-CN" altLang="en-US" b="0" i="0" dirty="0">
              <a:solidFill>
                <a:srgbClr val="343434"/>
              </a:solidFill>
              <a:effectLst/>
              <a:latin typeface="PingFang SC"/>
            </a:endParaRPr>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点击事件是一种用户与计算机交互的方式，通过单击鼠标或触摸屏幕来触发特定的操作或响应。在网页设计和应用程序开发中，点击事件通常用于实现按钮、链接、菜单和其他交互元素的功能。当用户单击一个元素时，浏览器或应用程序会捕获并处理该事件，执行相应的操作，例如打开一个新页面、显示一个弹出窗口或提交表单。点击事件是开发中非常常见和重要的一种事件类型。</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点击事件是一种用户与计算机交互的方式，通过单击鼠标或触摸屏幕来触发特定的操作或响应。在网页设计和应用程序开发中，点击事件通常用于实现按钮、链接、菜单和其他交互元素的功能。当用户单击一个元素时，浏览器或应用程序会捕获并处理该事件，执行相应的操作，例如打开一个新页面、显示一个弹出窗口或提交表单。点击事件是开发中非常常见和重要的一种事件类型。</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触摸事件是指在触摸屏设备上，用户通过手指或者手写笔等物理方式与屏幕进行交互，从而引发的一系列事件。触摸事件包括触摸开始、触摸移动、触摸结束、触摸取消等多种类型，开发者可以通过编写相应的代码来响应这些事件，实现各种交互效果。触摸事件在移动设备上得到广泛的应用，如游戏、应用程序、网页等。</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拖拽事件是指用户通过鼠标或触摸屏幕等操作，在页面上选中某个元素并拖动它，然后将其放置在另一个位置或目标元素上的一种交互方式。在</a:t>
            </a:r>
            <a:r>
              <a:rPr lang="en-US" altLang="zh-CN" dirty="0"/>
              <a:t>Web</a:t>
            </a:r>
            <a:r>
              <a:rPr lang="zh-CN" altLang="en-US" dirty="0"/>
              <a:t>开发中，拖拽事件通常与</a:t>
            </a:r>
            <a:r>
              <a:rPr lang="en-US" altLang="zh-CN" dirty="0" err="1"/>
              <a:t>JavaScipt</a:t>
            </a:r>
            <a:r>
              <a:rPr lang="zh-CN" altLang="en-US" dirty="0"/>
              <a:t>代码结合使用，可以实现诸如拖拽排序、拖拽上传、拖拽复制等功能。</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焦点事件指页面焦点在可获焦组件间移动时触发的事件，组件可使用焦点事件来处理相关逻辑。目前仅支持通过外接键盘的</a:t>
            </a:r>
            <a:r>
              <a:rPr lang="en-US" altLang="zh-CN" dirty="0"/>
              <a:t>tab</a:t>
            </a:r>
            <a:r>
              <a:rPr lang="zh-CN" altLang="en-US" dirty="0"/>
              <a:t>键、方向键触发。</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按键事件指组件与键盘、遥控器等按键设备交互时触发的事件，适用于所有可获焦组件，例如</a:t>
            </a:r>
            <a:r>
              <a:rPr lang="en-US" altLang="zh-CN" dirty="0"/>
              <a:t>Button</a:t>
            </a:r>
            <a:r>
              <a:rPr lang="zh-CN" altLang="en-US" dirty="0"/>
              <a:t>。对于</a:t>
            </a:r>
            <a:r>
              <a:rPr lang="en-US" altLang="zh-CN" dirty="0" err="1"/>
              <a:t>Text,Image</a:t>
            </a:r>
            <a:r>
              <a:rPr lang="zh-CN" altLang="en-US" dirty="0"/>
              <a:t>等默认不可获焦的组件，可以设置</a:t>
            </a:r>
            <a:r>
              <a:rPr lang="en-US" altLang="zh-CN" dirty="0"/>
              <a:t>focusable</a:t>
            </a:r>
            <a:r>
              <a:rPr lang="zh-CN" altLang="en-US" dirty="0"/>
              <a:t>属性为</a:t>
            </a:r>
            <a:r>
              <a:rPr lang="en-US" altLang="zh-CN" dirty="0"/>
              <a:t>true</a:t>
            </a:r>
            <a:r>
              <a:rPr lang="zh-CN" altLang="en-US" dirty="0"/>
              <a:t>后使用按键事件。</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按键事件指组件与键盘、遥控器等按键设备交互时触发的事件，适用于所有可获焦组件，例如</a:t>
            </a:r>
            <a:r>
              <a:rPr lang="en-US" altLang="zh-CN" dirty="0"/>
              <a:t>Button</a:t>
            </a:r>
            <a:r>
              <a:rPr lang="zh-CN" altLang="en-US" dirty="0"/>
              <a:t>。对于</a:t>
            </a:r>
            <a:r>
              <a:rPr lang="en-US" altLang="zh-CN" dirty="0" err="1"/>
              <a:t>Text,Image</a:t>
            </a:r>
            <a:r>
              <a:rPr lang="zh-CN" altLang="en-US" dirty="0"/>
              <a:t>等默认不可获焦的组件，可以设置</a:t>
            </a:r>
            <a:r>
              <a:rPr lang="en-US" altLang="zh-CN" dirty="0"/>
              <a:t>focusable</a:t>
            </a:r>
            <a:r>
              <a:rPr lang="zh-CN" altLang="en-US" dirty="0"/>
              <a:t>属性为</a:t>
            </a:r>
            <a:r>
              <a:rPr lang="en-US" altLang="zh-CN" dirty="0"/>
              <a:t>true</a:t>
            </a:r>
            <a:r>
              <a:rPr lang="zh-CN" altLang="en-US" dirty="0"/>
              <a:t>后使用按键事件。</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当用户在计算机上使用鼠标进行操作时，鼠标事件将会被触发。这些事件包括点击、双击、拖拽、滚动等。在某些情况下，单个鼠标动作可能会触发多个事件。例如，当用户单击鼠标时，可能会触发“</a:t>
            </a:r>
            <a:r>
              <a:rPr lang="en-US" altLang="zh-CN" dirty="0" err="1"/>
              <a:t>mousedown</a:t>
            </a:r>
            <a:r>
              <a:rPr lang="en-US" altLang="zh-CN" dirty="0"/>
              <a:t>”“</a:t>
            </a:r>
            <a:r>
              <a:rPr lang="en-US" altLang="zh-CN" dirty="0" err="1"/>
              <a:t>mouseup</a:t>
            </a:r>
            <a:r>
              <a:rPr lang="en-US" altLang="zh-CN" dirty="0"/>
              <a:t>”</a:t>
            </a:r>
            <a:r>
              <a:rPr lang="zh-CN" altLang="en-US" dirty="0"/>
              <a:t>和“</a:t>
            </a:r>
            <a:r>
              <a:rPr lang="en-US" altLang="zh-CN" dirty="0"/>
              <a:t>click”</a:t>
            </a:r>
            <a:r>
              <a:rPr lang="zh-CN" altLang="en-US" dirty="0"/>
              <a:t>三个不同的事件。在此情况下，事件的触发顺序是固定的，即先触发“</a:t>
            </a:r>
            <a:r>
              <a:rPr lang="en-US" altLang="zh-CN" dirty="0" err="1"/>
              <a:t>mousedown</a:t>
            </a:r>
            <a:r>
              <a:rPr lang="en-US" altLang="zh-CN" dirty="0"/>
              <a:t>”,</a:t>
            </a:r>
            <a:r>
              <a:rPr lang="zh-CN" altLang="en-US" dirty="0"/>
              <a:t>然后是“</a:t>
            </a:r>
            <a:r>
              <a:rPr lang="en-US" altLang="zh-CN" dirty="0" err="1"/>
              <a:t>mouseup</a:t>
            </a:r>
            <a:r>
              <a:rPr lang="en-US" altLang="zh-CN" dirty="0"/>
              <a:t>”,</a:t>
            </a:r>
            <a:r>
              <a:rPr lang="zh-CN" altLang="en-US" dirty="0"/>
              <a:t>最后是“</a:t>
            </a:r>
            <a:r>
              <a:rPr lang="en-US" altLang="zh-CN" dirty="0"/>
              <a:t>click”</a:t>
            </a:r>
            <a:r>
              <a:rPr lang="zh-CN" altLang="en-US" dirty="0"/>
              <a:t>。此外，鼠标事件还具有默认透传的特性，即如果某个元素上绑定了鼠标事件，但该元素没有处理该事件，那么事件将会向上冒泡，直到找到一个处理该事件的元素为止。这样可以方便地实现事件委托，减少事件绑定的数量，提高性能。</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当用户在计算机上使用鼠标进行操作时，鼠标事件将会被触发。这些事件包括点击、双击、拖拽、滚动等。在某些情况下，单个鼠标动作可能会触发多个事件。例如，当用户单击鼠标时，可能会触发“</a:t>
            </a:r>
            <a:r>
              <a:rPr lang="en-US" altLang="zh-CN" dirty="0" err="1"/>
              <a:t>mousedown</a:t>
            </a:r>
            <a:r>
              <a:rPr lang="en-US" altLang="zh-CN" dirty="0"/>
              <a:t>”“</a:t>
            </a:r>
            <a:r>
              <a:rPr lang="en-US" altLang="zh-CN" dirty="0" err="1"/>
              <a:t>mouseup</a:t>
            </a:r>
            <a:r>
              <a:rPr lang="en-US" altLang="zh-CN" dirty="0"/>
              <a:t>”</a:t>
            </a:r>
            <a:r>
              <a:rPr lang="zh-CN" altLang="en-US" dirty="0"/>
              <a:t>和“</a:t>
            </a:r>
            <a:r>
              <a:rPr lang="en-US" altLang="zh-CN" dirty="0"/>
              <a:t>click”</a:t>
            </a:r>
            <a:r>
              <a:rPr lang="zh-CN" altLang="en-US" dirty="0"/>
              <a:t>三个不同的事件。在此情况下，事件的触发顺序是固定的，即先触发“</a:t>
            </a:r>
            <a:r>
              <a:rPr lang="en-US" altLang="zh-CN" dirty="0" err="1"/>
              <a:t>mousedown</a:t>
            </a:r>
            <a:r>
              <a:rPr lang="en-US" altLang="zh-CN" dirty="0"/>
              <a:t>”,</a:t>
            </a:r>
            <a:r>
              <a:rPr lang="zh-CN" altLang="en-US" dirty="0"/>
              <a:t>然后是“</a:t>
            </a:r>
            <a:r>
              <a:rPr lang="en-US" altLang="zh-CN" dirty="0" err="1"/>
              <a:t>mouseup</a:t>
            </a:r>
            <a:r>
              <a:rPr lang="en-US" altLang="zh-CN" dirty="0"/>
              <a:t>”,</a:t>
            </a:r>
            <a:r>
              <a:rPr lang="zh-CN" altLang="en-US" dirty="0"/>
              <a:t>最后是“</a:t>
            </a:r>
            <a:r>
              <a:rPr lang="en-US" altLang="zh-CN" dirty="0"/>
              <a:t>click”</a:t>
            </a:r>
            <a:r>
              <a:rPr lang="zh-CN" altLang="en-US" dirty="0"/>
              <a:t>。此外，鼠标事件还具有默认透传的特性，即如果某个元素上绑定了鼠标事件，但该元素没有处理该事件，那么事件将会向上冒泡，直到找到一个处理该事件的元素为止。这样可以方便地实现事件委托，减少事件绑定的数量，提高性能。</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使用</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工具可以实现页面间的自动跳转，通过预先定义路由规则，用户只需点击</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页面中的链接或按钮即可完成跳转操作，无需编写大量的跳转代码。此外，</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工具还</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支持参数传递和获取，方便在不同页面之间传递数据。相比之下，</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工具则更加灵</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活，可以自由控制页面的跳转流程，实现动态跳转和页面回退等功能。并且，</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具还支持自定义动画效果，为页面跳转增添生动有趣的体验。</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使用</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工具可以实现页面间的自动跳转，通过预先定义路由规则，用户只需点击</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页面中的链接或按钮即可完成跳转操作，无需编写大量的跳转代码。此外，</a:t>
            </a:r>
            <a:r>
              <a:rPr lang="en-US" altLang="zh-CN" b="0" i="0" dirty="0">
                <a:solidFill>
                  <a:srgbClr val="343434"/>
                </a:solidFill>
                <a:effectLst/>
                <a:latin typeface="PingFang SC"/>
              </a:rPr>
              <a:t>Router</a:t>
            </a:r>
            <a:r>
              <a:rPr lang="zh-CN" altLang="en-US" b="0" i="0" dirty="0">
                <a:solidFill>
                  <a:srgbClr val="343434"/>
                </a:solidFill>
                <a:effectLst/>
                <a:latin typeface="PingFang SC"/>
              </a:rPr>
              <a:t>工具还</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支持参数传递和获取，方便在不同页面之间传递数据。相比之下，</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工具则更加灵</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活，可以自由控制页面的跳转流程，实现动态跳转和页面回退等功能。并且，</a:t>
            </a:r>
            <a:r>
              <a:rPr lang="en-US" altLang="zh-CN" b="0" i="0" dirty="0">
                <a:solidFill>
                  <a:srgbClr val="343434"/>
                </a:solidFill>
                <a:effectLst/>
                <a:latin typeface="PingFang SC"/>
              </a:rPr>
              <a:t>Navigator</a:t>
            </a:r>
            <a:r>
              <a:rPr lang="zh-CN" altLang="en-US" b="0" i="0" dirty="0">
                <a:solidFill>
                  <a:srgbClr val="343434"/>
                </a:solidFill>
                <a:effectLst/>
                <a:latin typeface="PingFang SC"/>
              </a:rPr>
              <a:t>工</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具还支持自定义动画效果，为页面跳转增添生动有趣的体验。</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zh-CN" altLang="en-US" b="0" i="0" dirty="0">
                <a:solidFill>
                  <a:srgbClr val="343434"/>
                </a:solidFill>
                <a:effectLst/>
                <a:latin typeface="PingFang SC"/>
              </a:rPr>
              <a:t>易用性层面：</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天然具备标题、内容、回退按钮的功能联动，开发者可以直接使用此能力。</a:t>
            </a:r>
            <a:r>
              <a:rPr lang="en-US" altLang="zh-CN" b="0" i="0" dirty="0">
                <a:solidFill>
                  <a:srgbClr val="343434"/>
                </a:solidFill>
                <a:effectLst/>
                <a:latin typeface="PingFang SC"/>
              </a:rPr>
              <a:t>Router</a:t>
            </a:r>
            <a:r>
              <a:rPr lang="zh-CN" altLang="en-US" b="0" i="0" dirty="0">
                <a:solidFill>
                  <a:srgbClr val="343434"/>
                </a:solidFill>
                <a:effectLst/>
                <a:latin typeface="PingFang SC"/>
              </a:rPr>
              <a:t>若要实现此能力，需要自行定义；</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的页面是由组件构成，易于实现共享元素的转场。</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功能层面：</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天然支持一多，</a:t>
            </a:r>
            <a:r>
              <a:rPr lang="en-US" altLang="zh-CN" b="0" i="0" dirty="0">
                <a:solidFill>
                  <a:srgbClr val="343434"/>
                </a:solidFill>
                <a:effectLst/>
                <a:latin typeface="PingFang SC"/>
              </a:rPr>
              <a:t>Router</a:t>
            </a:r>
            <a:r>
              <a:rPr lang="zh-CN" altLang="en-US" b="0" i="0" dirty="0">
                <a:solidFill>
                  <a:srgbClr val="343434"/>
                </a:solidFill>
                <a:effectLst/>
                <a:latin typeface="PingFang SC"/>
              </a:rPr>
              <a:t>不支持；</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没有路由数量限制，</a:t>
            </a:r>
            <a:r>
              <a:rPr lang="en-US" altLang="zh-CN" b="0" i="0" dirty="0">
                <a:solidFill>
                  <a:srgbClr val="343434"/>
                </a:solidFill>
                <a:effectLst/>
                <a:latin typeface="PingFang SC"/>
              </a:rPr>
              <a:t>Router</a:t>
            </a:r>
            <a:r>
              <a:rPr lang="zh-CN" altLang="en-US" b="0" i="0" dirty="0">
                <a:solidFill>
                  <a:srgbClr val="343434"/>
                </a:solidFill>
                <a:effectLst/>
                <a:latin typeface="PingFang SC"/>
              </a:rPr>
              <a:t>限制</a:t>
            </a:r>
            <a:r>
              <a:rPr lang="en-US" altLang="zh-CN" b="0" i="0" dirty="0">
                <a:solidFill>
                  <a:srgbClr val="343434"/>
                </a:solidFill>
                <a:effectLst/>
                <a:latin typeface="PingFang SC"/>
              </a:rPr>
              <a:t>32</a:t>
            </a:r>
            <a:r>
              <a:rPr lang="zh-CN" altLang="en-US" b="0" i="0" dirty="0">
                <a:solidFill>
                  <a:srgbClr val="343434"/>
                </a:solidFill>
                <a:effectLst/>
                <a:latin typeface="PingFang SC"/>
              </a:rPr>
              <a:t>个；</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可以获取到路由栈</a:t>
            </a:r>
            <a:r>
              <a:rPr lang="en-US" altLang="zh-CN" b="0" i="0" dirty="0" err="1">
                <a:solidFill>
                  <a:srgbClr val="343434"/>
                </a:solidFill>
                <a:effectLst/>
                <a:latin typeface="PingFang SC"/>
              </a:rPr>
              <a:t>NavPathStack</a:t>
            </a:r>
            <a:r>
              <a:rPr lang="zh-CN" altLang="en-US" b="0" i="0" dirty="0">
                <a:solidFill>
                  <a:srgbClr val="343434"/>
                </a:solidFill>
                <a:effectLst/>
                <a:latin typeface="PingFang SC"/>
              </a:rPr>
              <a:t>，并对路由栈进行操作；</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可以嵌套在模态对话框中，也就是说可以模态框中定义路由，</a:t>
            </a:r>
            <a:r>
              <a:rPr lang="en-US" altLang="zh-CN" b="0" i="0" dirty="0">
                <a:solidFill>
                  <a:srgbClr val="343434"/>
                </a:solidFill>
                <a:effectLst/>
                <a:latin typeface="PingFang SC"/>
              </a:rPr>
              <a:t>Router</a:t>
            </a:r>
            <a:r>
              <a:rPr lang="zh-CN" altLang="en-US" b="0" i="0" dirty="0">
                <a:solidFill>
                  <a:srgbClr val="343434"/>
                </a:solidFill>
                <a:effectLst/>
                <a:latin typeface="PingFang SC"/>
              </a:rPr>
              <a:t>不支持；</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的组件全量由开发者自行控制，开发者可以自定义复杂的动效和属性的设置（背景、模糊等），</a:t>
            </a:r>
            <a:r>
              <a:rPr lang="en-US" altLang="zh-CN" b="0" i="0" dirty="0">
                <a:solidFill>
                  <a:srgbClr val="343434"/>
                </a:solidFill>
                <a:effectLst/>
                <a:latin typeface="PingFang SC"/>
              </a:rPr>
              <a:t>Router</a:t>
            </a:r>
            <a:r>
              <a:rPr lang="zh-CN" altLang="en-US" b="0" i="0" dirty="0">
                <a:solidFill>
                  <a:srgbClr val="343434"/>
                </a:solidFill>
                <a:effectLst/>
                <a:latin typeface="PingFang SC"/>
              </a:rPr>
              <a:t>的</a:t>
            </a:r>
            <a:r>
              <a:rPr lang="en-US" altLang="zh-CN" b="0" i="0" dirty="0">
                <a:solidFill>
                  <a:srgbClr val="343434"/>
                </a:solidFill>
                <a:effectLst/>
                <a:latin typeface="PingFang SC"/>
              </a:rPr>
              <a:t>page</a:t>
            </a:r>
            <a:r>
              <a:rPr lang="zh-CN" altLang="en-US" b="0" i="0" dirty="0">
                <a:solidFill>
                  <a:srgbClr val="343434"/>
                </a:solidFill>
                <a:effectLst/>
                <a:latin typeface="PingFang SC"/>
              </a:rPr>
              <a:t>对象不对外暴露，开发者无法对</a:t>
            </a:r>
            <a:r>
              <a:rPr lang="en-US" altLang="zh-CN" b="0" i="0" dirty="0">
                <a:solidFill>
                  <a:srgbClr val="343434"/>
                </a:solidFill>
                <a:effectLst/>
                <a:latin typeface="PingFang SC"/>
              </a:rPr>
              <a:t>page</a:t>
            </a:r>
            <a:r>
              <a:rPr lang="zh-CN" altLang="en-US" b="0" i="0" dirty="0">
                <a:solidFill>
                  <a:srgbClr val="343434"/>
                </a:solidFill>
                <a:effectLst/>
                <a:latin typeface="PingFang SC"/>
              </a:rPr>
              <a:t>进行处理。</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性能层面</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传递参数性能更优，</a:t>
            </a:r>
            <a:r>
              <a:rPr lang="en-US" altLang="zh-CN" b="0" i="0" dirty="0">
                <a:solidFill>
                  <a:srgbClr val="343434"/>
                </a:solidFill>
                <a:effectLst/>
                <a:latin typeface="PingFang SC"/>
              </a:rPr>
              <a:t>Navigation</a:t>
            </a:r>
            <a:r>
              <a:rPr lang="zh-CN" altLang="en-US" b="0" i="0" dirty="0">
                <a:solidFill>
                  <a:srgbClr val="343434"/>
                </a:solidFill>
                <a:effectLst/>
                <a:latin typeface="PingFang SC"/>
              </a:rPr>
              <a:t>通过引用传递，</a:t>
            </a:r>
            <a:r>
              <a:rPr lang="en-US" altLang="zh-CN" b="0" i="0" dirty="0">
                <a:solidFill>
                  <a:srgbClr val="343434"/>
                </a:solidFill>
                <a:effectLst/>
                <a:latin typeface="PingFang SC"/>
              </a:rPr>
              <a:t>Router</a:t>
            </a:r>
            <a:r>
              <a:rPr lang="zh-CN" altLang="en-US" b="0" i="0" dirty="0">
                <a:solidFill>
                  <a:srgbClr val="343434"/>
                </a:solidFill>
                <a:effectLst/>
                <a:latin typeface="PingFang SC"/>
              </a:rPr>
              <a:t>通过深拷贝完成；</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可以配合动态加载，实现组件动态加载，</a:t>
            </a:r>
            <a:r>
              <a:rPr lang="en-US" altLang="zh-CN" b="0" i="0" dirty="0">
                <a:solidFill>
                  <a:srgbClr val="343434"/>
                </a:solidFill>
                <a:effectLst/>
                <a:latin typeface="PingFang SC"/>
              </a:rPr>
              <a:t>Router</a:t>
            </a:r>
            <a:r>
              <a:rPr lang="zh-CN" altLang="en-US" b="0" i="0" dirty="0">
                <a:solidFill>
                  <a:srgbClr val="343434"/>
                </a:solidFill>
                <a:effectLst/>
                <a:latin typeface="PingFang SC"/>
              </a:rPr>
              <a:t>页面使用</a:t>
            </a:r>
            <a:r>
              <a:rPr lang="en-US" altLang="zh-CN" b="0" i="0" dirty="0">
                <a:solidFill>
                  <a:srgbClr val="343434"/>
                </a:solidFill>
                <a:effectLst/>
                <a:latin typeface="PingFang SC"/>
              </a:rPr>
              <a:t>@Entry</a:t>
            </a:r>
            <a:r>
              <a:rPr lang="zh-CN" altLang="en-US" b="0" i="0" dirty="0">
                <a:solidFill>
                  <a:srgbClr val="343434"/>
                </a:solidFill>
                <a:effectLst/>
                <a:latin typeface="PingFang SC"/>
              </a:rPr>
              <a:t>进行修饰，当前模块加载时会生成全量页面。</a:t>
            </a:r>
            <a:endParaRPr lang="en-US" altLang="zh-CN" b="0" i="0" dirty="0">
              <a:solidFill>
                <a:srgbClr val="343434"/>
              </a:solidFill>
              <a:effectLst/>
              <a:latin typeface="PingFang SC"/>
            </a:endParaRPr>
          </a:p>
          <a:p>
            <a:pPr algn="l" fontAlgn="base">
              <a:lnSpc>
                <a:spcPts val="2250"/>
              </a:lnSpc>
              <a:spcAft>
                <a:spcPts val="300"/>
              </a:spcAft>
              <a:buNone/>
            </a:pPr>
            <a:endParaRPr lang="en-US" altLang="zh-CN" b="0" i="0" dirty="0">
              <a:solidFill>
                <a:srgbClr val="343434"/>
              </a:solidFill>
              <a:effectLst/>
              <a:latin typeface="PingFang SC"/>
            </a:endParaRPr>
          </a:p>
          <a:p>
            <a:pPr algn="l" fontAlgn="base">
              <a:lnSpc>
                <a:spcPts val="2250"/>
              </a:lnSpc>
              <a:spcAft>
                <a:spcPts val="300"/>
              </a:spcAft>
              <a:buNone/>
            </a:pPr>
            <a:r>
              <a:rPr lang="en-US" altLang="zh-CN" b="0" i="0" dirty="0">
                <a:effectLst/>
                <a:latin typeface="HarmonyOSHans-Regular"/>
              </a:rPr>
              <a:t>Navigation</a:t>
            </a:r>
            <a:r>
              <a:rPr lang="zh-CN" altLang="en-US" b="0" i="0" dirty="0">
                <a:effectLst/>
                <a:latin typeface="HarmonyOSHans-Regular"/>
              </a:rPr>
              <a:t>组件是路由导航的根视图容器，一般作为</a:t>
            </a:r>
            <a:r>
              <a:rPr lang="en-US" altLang="zh-CN" b="0" i="0" dirty="0">
                <a:effectLst/>
                <a:latin typeface="HarmonyOSHans-Regular"/>
              </a:rPr>
              <a:t>Page</a:t>
            </a:r>
            <a:r>
              <a:rPr lang="zh-CN" altLang="en-US" b="0" i="0" dirty="0">
                <a:effectLst/>
                <a:latin typeface="HarmonyOSHans-Regular"/>
              </a:rPr>
              <a:t>页面的根容器使用，其内部默认包含了标题栏、内容区和工具栏，其中内容区默认首页显示导航内容（</a:t>
            </a:r>
            <a:r>
              <a:rPr lang="en-US" altLang="zh-CN" b="0" i="0" dirty="0">
                <a:effectLst/>
                <a:latin typeface="HarmonyOSHans-Regular"/>
              </a:rPr>
              <a:t>Navigation</a:t>
            </a:r>
            <a:r>
              <a:rPr lang="zh-CN" altLang="en-US" b="0" i="0" dirty="0">
                <a:effectLst/>
                <a:latin typeface="HarmonyOSHans-Regular"/>
              </a:rPr>
              <a:t>的子组件）或非首页显示（</a:t>
            </a:r>
            <a:r>
              <a:rPr lang="en-US" altLang="zh-CN" b="0" i="0" u="none" strike="noStrike" dirty="0" err="1">
                <a:solidFill>
                  <a:srgbClr val="0A59F7"/>
                </a:solidFill>
                <a:effectLst/>
                <a:latin typeface="HarmonyOSHans-Regular"/>
                <a:hlinkClick r:id="rId3"/>
              </a:rPr>
              <a:t>NavDestination</a:t>
            </a:r>
            <a:r>
              <a:rPr lang="zh-CN" altLang="en-US" b="0" i="0" dirty="0">
                <a:effectLst/>
                <a:latin typeface="HarmonyOSHans-Regular"/>
              </a:rPr>
              <a:t>的子组件），首页和非首页通过路由进行切换。</a:t>
            </a:r>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组件是一种广泛应用于页面布局的容器，其功能包括设置页面的标题栏、工</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具栏和菜单栏等展示样式。除默认展示样式属性外，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还支持</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以实现个性化的展示样式。在使用</a:t>
            </a:r>
            <a:r>
              <a:rPr lang="en-US" altLang="zh-CN" b="0" i="0" dirty="0">
                <a:solidFill>
                  <a:srgbClr val="343434"/>
                </a:solidFill>
                <a:effectLst/>
                <a:latin typeface="PingFang SC"/>
              </a:rPr>
              <a:t>Navigation</a:t>
            </a:r>
            <a:r>
              <a:rPr lang="zh-CN" altLang="en-US" b="0" i="0" dirty="0">
                <a:solidFill>
                  <a:srgbClr val="343434"/>
                </a:solidFill>
                <a:effectLst/>
                <a:latin typeface="PingFang SC"/>
              </a:rPr>
              <a:t>时，可通过属性和方法进行页面布局的定制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化，如设置标题、背景颜色、图标，添加菜单项、工具按钮等。此外，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支持多种</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展示模式，如抽屉式、标签式、底部导航栏式等，以满足不同需求。如需更加灵活地定制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页面布局，可采用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模式，通过编写自定义的</a:t>
            </a:r>
            <a:r>
              <a:rPr lang="en-US" altLang="zh-CN" b="0" i="0" dirty="0">
                <a:solidFill>
                  <a:srgbClr val="343434"/>
                </a:solidFill>
                <a:effectLst/>
                <a:latin typeface="PingFang SC"/>
              </a:rPr>
              <a:t>Widget</a:t>
            </a:r>
            <a:r>
              <a:rPr lang="zh-CN" altLang="en-US" b="0" i="0" dirty="0">
                <a:solidFill>
                  <a:srgbClr val="343434"/>
                </a:solidFill>
                <a:effectLst/>
                <a:latin typeface="PingFang SC"/>
              </a:rPr>
              <a:t>实现个性化的页面展示样</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式，包括布局、样式、动画等效果。使用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模式需要一定的编程经验和技巧，</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但可实现更加个性化的页面设计效果。</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lnSpc>
                <a:spcPts val="2250"/>
              </a:lnSpc>
              <a:spcAft>
                <a:spcPts val="300"/>
              </a:spcAft>
              <a:buNone/>
            </a:pPr>
            <a:r>
              <a:rPr lang="en-US" altLang="zh-CN" b="0" i="0" dirty="0">
                <a:solidFill>
                  <a:srgbClr val="343434"/>
                </a:solidFill>
                <a:effectLst/>
                <a:latin typeface="PingFang SC"/>
              </a:rPr>
              <a:t>Navigation</a:t>
            </a:r>
            <a:r>
              <a:rPr lang="zh-CN" altLang="en-US" b="0" i="0" dirty="0">
                <a:solidFill>
                  <a:srgbClr val="343434"/>
                </a:solidFill>
                <a:effectLst/>
                <a:latin typeface="PingFang SC"/>
              </a:rPr>
              <a:t>组件是一种广泛应用于页面布局的容器，其功能包括设置页面的标题栏、工</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具栏和菜单栏等展示样式。除默认展示样式属性外，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还支持</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以实现个性化的展示样式。在使用</a:t>
            </a:r>
            <a:r>
              <a:rPr lang="en-US" altLang="zh-CN" b="0" i="0" dirty="0">
                <a:solidFill>
                  <a:srgbClr val="343434"/>
                </a:solidFill>
                <a:effectLst/>
                <a:latin typeface="PingFang SC"/>
              </a:rPr>
              <a:t>Navigation</a:t>
            </a:r>
            <a:r>
              <a:rPr lang="zh-CN" altLang="en-US" b="0" i="0" dirty="0">
                <a:solidFill>
                  <a:srgbClr val="343434"/>
                </a:solidFill>
                <a:effectLst/>
                <a:latin typeface="PingFang SC"/>
              </a:rPr>
              <a:t>时，可通过属性和方法进行页面布局的定制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化，如设置标题、背景颜色、图标，添加菜单项、工具按钮等。此外，</a:t>
            </a:r>
            <a:r>
              <a:rPr lang="en-US" altLang="zh-CN" b="0" i="0" dirty="0">
                <a:solidFill>
                  <a:srgbClr val="343434"/>
                </a:solidFill>
                <a:effectLst/>
                <a:latin typeface="PingFang SC"/>
              </a:rPr>
              <a:t>Navigation</a:t>
            </a:r>
            <a:r>
              <a:rPr lang="zh-CN" altLang="en-US" b="0" i="0" dirty="0">
                <a:solidFill>
                  <a:srgbClr val="343434"/>
                </a:solidFill>
                <a:effectLst/>
                <a:latin typeface="PingFang SC"/>
              </a:rPr>
              <a:t>支持多种</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展示模式，如抽屉式、标签式、底部导航栏式等，以满足不同需求。如需更加灵活地定制</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页面布局，可采用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模式，通过编写自定义的</a:t>
            </a:r>
            <a:r>
              <a:rPr lang="en-US" altLang="zh-CN" b="0" i="0" dirty="0">
                <a:solidFill>
                  <a:srgbClr val="343434"/>
                </a:solidFill>
                <a:effectLst/>
                <a:latin typeface="PingFang SC"/>
              </a:rPr>
              <a:t>Widget</a:t>
            </a:r>
            <a:r>
              <a:rPr lang="zh-CN" altLang="en-US" b="0" i="0" dirty="0">
                <a:solidFill>
                  <a:srgbClr val="343434"/>
                </a:solidFill>
                <a:effectLst/>
                <a:latin typeface="PingFang SC"/>
              </a:rPr>
              <a:t>实现个性化的页面展示样</a:t>
            </a:r>
            <a:endParaRPr lang="zh-CN" altLang="en-US" b="0" i="0" dirty="0">
              <a:solidFill>
                <a:srgbClr val="343434"/>
              </a:solidFill>
              <a:effectLst/>
              <a:latin typeface="PingFang SC"/>
            </a:endParaRPr>
          </a:p>
          <a:p>
            <a:pPr algn="l" fontAlgn="base">
              <a:lnSpc>
                <a:spcPts val="2250"/>
              </a:lnSpc>
              <a:spcAft>
                <a:spcPts val="300"/>
              </a:spcAft>
              <a:buNone/>
            </a:pPr>
            <a:r>
              <a:rPr lang="zh-CN" altLang="en-US" b="0" i="0" dirty="0">
                <a:solidFill>
                  <a:srgbClr val="343434"/>
                </a:solidFill>
                <a:effectLst/>
                <a:latin typeface="PingFang SC"/>
              </a:rPr>
              <a:t>式，包括布局、样式、动画等效果。使用</a:t>
            </a:r>
            <a:r>
              <a:rPr lang="en-US" altLang="zh-CN" b="0" i="0" dirty="0" err="1">
                <a:solidFill>
                  <a:srgbClr val="343434"/>
                </a:solidFill>
                <a:effectLst/>
                <a:latin typeface="PingFang SC"/>
              </a:rPr>
              <a:t>CustomBuilder</a:t>
            </a:r>
            <a:r>
              <a:rPr lang="zh-CN" altLang="en-US" b="0" i="0" dirty="0">
                <a:solidFill>
                  <a:srgbClr val="343434"/>
                </a:solidFill>
                <a:effectLst/>
                <a:latin typeface="PingFang SC"/>
              </a:rPr>
              <a:t>模式需要一定的编程经验和技巧，</a:t>
            </a:r>
            <a:endParaRPr lang="zh-CN" altLang="en-US" b="0" i="0" dirty="0">
              <a:solidFill>
                <a:srgbClr val="343434"/>
              </a:solidFill>
              <a:effectLst/>
              <a:latin typeface="PingFang SC"/>
            </a:endParaRPr>
          </a:p>
          <a:p>
            <a:pPr algn="l" fontAlgn="base">
              <a:lnSpc>
                <a:spcPts val="2250"/>
              </a:lnSpc>
              <a:spcAft>
                <a:spcPts val="300"/>
              </a:spcAft>
            </a:pPr>
            <a:r>
              <a:rPr lang="zh-CN" altLang="en-US" b="0" i="0" dirty="0">
                <a:solidFill>
                  <a:srgbClr val="343434"/>
                </a:solidFill>
                <a:effectLst/>
                <a:latin typeface="PingFang SC"/>
              </a:rPr>
              <a:t>但可实现更加个性化的页面设计效果。</a:t>
            </a:r>
            <a:endParaRPr lang="zh-CN" altLang="en-US" b="0" i="0" dirty="0">
              <a:solidFill>
                <a:srgbClr val="343434"/>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pic>
        <p:nvPicPr>
          <p:cNvPr id="4" name="图片 3" descr="河大logo"/>
          <p:cNvPicPr>
            <a:picLocks noChangeAspect="1"/>
          </p:cNvPicPr>
          <p:nvPr userDrawn="1"/>
        </p:nvPicPr>
        <p:blipFill>
          <a:blip r:embed="rId2"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6794447"/>
            <a:ext cx="10631710" cy="8463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三个三角"/>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255" y="103505"/>
            <a:ext cx="779145" cy="617855"/>
          </a:xfrm>
          <a:prstGeom prst="rect">
            <a:avLst/>
          </a:prstGeom>
        </p:spPr>
      </p:pic>
      <p:pic>
        <p:nvPicPr>
          <p:cNvPr id="4" name="图片 3" descr="河大logo"/>
          <p:cNvPicPr>
            <a:picLocks noChangeAspect="1"/>
          </p:cNvPicPr>
          <p:nvPr userDrawn="1"/>
        </p:nvPicPr>
        <p:blipFill>
          <a:blip r:embed="rId4" cstate="print"/>
          <a:srcRect r="69715"/>
          <a:stretch>
            <a:fillRect/>
          </a:stretch>
        </p:blipFill>
        <p:spPr>
          <a:xfrm>
            <a:off x="10875010" y="132080"/>
            <a:ext cx="611505" cy="589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299248" y="402450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83383" y="402450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南门线稿x4222222"/>
          <p:cNvPicPr>
            <a:picLocks noChangeAspect="1"/>
          </p:cNvPicPr>
          <p:nvPr userDrawn="1"/>
        </p:nvPicPr>
        <p:blipFill>
          <a:blip r:embed="rId2" cstate="print"/>
          <a:stretch>
            <a:fillRect/>
          </a:stretch>
        </p:blipFill>
        <p:spPr>
          <a:xfrm>
            <a:off x="1414780" y="4149725"/>
            <a:ext cx="9155430" cy="2318385"/>
          </a:xfrm>
          <a:prstGeom prst="rect">
            <a:avLst/>
          </a:prstGeom>
        </p:spPr>
      </p:pic>
      <p:pic>
        <p:nvPicPr>
          <p:cNvPr id="5" name="图片 4" descr="河大logo"/>
          <p:cNvPicPr>
            <a:picLocks noChangeAspect="1"/>
          </p:cNvPicPr>
          <p:nvPr userDrawn="1"/>
        </p:nvPicPr>
        <p:blipFill>
          <a:blip r:embed="rId3" cstate="print"/>
          <a:stretch>
            <a:fillRect/>
          </a:stretch>
        </p:blipFill>
        <p:spPr>
          <a:xfrm>
            <a:off x="632460" y="476630"/>
            <a:ext cx="2207762" cy="64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0.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0.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image" Target="../media/image24.png"/><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25.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image" Target="../media/image29.png"/><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image" Target="../media/image32.png"/><Relationship Id="rId1"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image" Target="../media/image35.png"/><Relationship Id="rId1" Type="http://schemas.openxmlformats.org/officeDocument/2006/relationships/image" Target="../media/image3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36.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0.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image" Target="../media/image4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0.xml"/><Relationship Id="rId2" Type="http://schemas.openxmlformats.org/officeDocument/2006/relationships/image" Target="../media/image42.png"/><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image" Target="../media/image43.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0.xml"/><Relationship Id="rId2" Type="http://schemas.openxmlformats.org/officeDocument/2006/relationships/image" Target="../media/image45.png"/><Relationship Id="rId1"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image" Target="../media/image5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image" Target="../media/image5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image" Target="../media/image53.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image" Target="../media/image5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image" Target="../media/image55.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5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image" Target="../media/image57.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image" Target="../media/image5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image" Target="../media/image58.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0.xml"/><Relationship Id="rId1" Type="http://schemas.openxmlformats.org/officeDocument/2006/relationships/image" Target="../media/image59.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0.xml"/><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10.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0680" y="1773555"/>
            <a:ext cx="8716010" cy="768350"/>
          </a:xfrm>
          <a:prstGeom prst="rect">
            <a:avLst/>
          </a:prstGeom>
          <a:noFill/>
        </p:spPr>
        <p:txBody>
          <a:bodyPr wrap="square" rtlCol="0" anchor="t">
            <a:spAutoFit/>
          </a:bodyPr>
          <a:lstStyle/>
          <a:p>
            <a:pPr algn="ctr"/>
            <a:r>
              <a:rPr lang="zh-CN" altLang="en-US" sz="4400" dirty="0">
                <a:solidFill>
                  <a:schemeClr val="accent1"/>
                </a:solidFill>
                <a:effectLst>
                  <a:outerShdw blurRad="38100" dist="25400" dir="5400000" algn="ctr" rotWithShape="0">
                    <a:srgbClr val="6E747A">
                      <a:alpha val="43000"/>
                    </a:srgbClr>
                  </a:outerShdw>
                </a:effectLst>
                <a:cs typeface="+mn-ea"/>
                <a:sym typeface="思源黑体 CN Medium" panose="020B0600000000000000" pitchFamily="34" charset="-122"/>
              </a:rPr>
              <a:t>特殊组件</a:t>
            </a:r>
            <a:endParaRPr lang="zh-CN" altLang="en-US" sz="44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3" name="文本框 2"/>
          <p:cNvSpPr txBox="1"/>
          <p:nvPr/>
        </p:nvSpPr>
        <p:spPr>
          <a:xfrm>
            <a:off x="2854960" y="2925445"/>
            <a:ext cx="6096000" cy="415498"/>
          </a:xfrm>
          <a:prstGeom prst="rect">
            <a:avLst/>
          </a:prstGeom>
          <a:noFill/>
        </p:spPr>
        <p:txBody>
          <a:bodyPr wrap="square" rtlCol="0" anchor="t">
            <a:spAutoFit/>
          </a:bodyPr>
          <a:lstStyle/>
          <a:p>
            <a:pPr algn="ctr" defTabSz="685800">
              <a:spcBef>
                <a:spcPts val="1950"/>
              </a:spcBef>
            </a:pPr>
            <a:r>
              <a:rPr lang="zh-CN" altLang="en-US"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sym typeface="+mn-ea"/>
              </a:rPr>
              <a:t>软件学院</a:t>
            </a:r>
            <a:endParaRPr lang="en-US" altLang="zh-CN" sz="2100" b="1" dirty="0">
              <a:solidFill>
                <a:srgbClr val="163F6D"/>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6"/>
          <p:cNvSpPr>
            <a:spLocks noChangeArrowheads="1"/>
          </p:cNvSpPr>
          <p:nvPr/>
        </p:nvSpPr>
        <p:spPr bwMode="auto">
          <a:xfrm>
            <a:off x="1198662" y="1125538"/>
            <a:ext cx="9286788" cy="2807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主要介绍现代移动应用中不可或缺的的基本要素如</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Ø"/>
            </a:pPr>
            <a:r>
              <a:rPr lang="zh-CN" altLang="en-US" sz="2000" dirty="0">
                <a:solidFill>
                  <a:srgbClr val="0075CC"/>
                </a:solidFill>
                <a:latin typeface="微软雅黑" panose="020B0503020204020204" pitchFamily="34" charset="-122"/>
                <a:ea typeface="微软雅黑" panose="020B0503020204020204" pitchFamily="34" charset="-122"/>
                <a:cs typeface="+mn-ea"/>
              </a:rPr>
              <a:t>执行进度、加载进度、常用选择器、九宫格密码锁、二维码、弹窗</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等。</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342900" indent="-342900">
              <a:lnSpc>
                <a:spcPct val="150000"/>
              </a:lnSpc>
              <a:spcBef>
                <a:spcPts val="2400"/>
              </a:spcBef>
              <a:buFont typeface="Wingdings" panose="05000000000000000000"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介绍通过这些基础组件实现和用户交互的场景，如</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a:p>
            <a:pPr marL="457200" indent="-457200">
              <a:lnSpc>
                <a:spcPct val="150000"/>
              </a:lnSpc>
              <a:spcBef>
                <a:spcPts val="2400"/>
              </a:spcBef>
              <a:buFont typeface="Wingdings" panose="05000000000000000000" pitchFamily="2" charset="2"/>
              <a:buChar char="Ø"/>
            </a:pPr>
            <a:r>
              <a:rPr lang="zh-CN" altLang="en-US" sz="2000" dirty="0">
                <a:solidFill>
                  <a:srgbClr val="0075CC"/>
                </a:solidFill>
                <a:latin typeface="微软雅黑" panose="020B0503020204020204" pitchFamily="34" charset="-122"/>
                <a:ea typeface="微软雅黑" panose="020B0503020204020204" pitchFamily="34" charset="-122"/>
                <a:cs typeface="+mn-ea"/>
              </a:rPr>
              <a:t>购物应用、社交应用、游戏应用、金融应用</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cs typeface="+mn-ea"/>
              </a:rPr>
              <a:t>等。</a:t>
            </a:r>
            <a:endPar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cs typeface="+mn-ea"/>
            </a:endParaRPr>
          </a:p>
        </p:txBody>
      </p:sp>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特殊组件：进度条</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矩形 6"/>
          <p:cNvSpPr>
            <a:spLocks noChangeArrowheads="1"/>
          </p:cNvSpPr>
          <p:nvPr/>
        </p:nvSpPr>
        <p:spPr bwMode="auto">
          <a:xfrm>
            <a:off x="982638" y="1197546"/>
            <a:ext cx="756084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Progress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定义参数。</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2400"/>
              </a:spcBef>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Progress(options: </a:t>
            </a:r>
            <a:r>
              <a:rPr lang="en-US" altLang="zh-CN" sz="28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ProgressOptions</a:t>
            </a: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Bef>
                <a:spcPts val="2400"/>
              </a:spcBef>
            </a:pPr>
            <a:r>
              <a:rPr lang="en-US" altLang="zh-CN" sz="2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options : </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参数内容。</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1"/>
          <p:cNvSpPr>
            <a:spLocks noChangeArrowheads="1"/>
          </p:cNvSpPr>
          <p:nvPr/>
        </p:nvSpPr>
        <p:spPr bwMode="auto">
          <a:xfrm>
            <a:off x="3430910" y="3408889"/>
            <a:ext cx="3672408"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@Entry</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@Component</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1" i="0" u="none" strike="noStrike" cap="none" normalizeH="0" baseline="0" dirty="0">
                <a:ln>
                  <a:noFill/>
                </a:ln>
                <a:solidFill>
                  <a:srgbClr val="859801"/>
                </a:solidFill>
                <a:effectLst/>
                <a:latin typeface="Arial Unicode MS" panose="020B0604020202020204" charset="-122"/>
                <a:ea typeface="JetBrains Mono"/>
              </a:rPr>
              <a:t>struct </a:t>
            </a:r>
            <a:r>
              <a:rPr kumimoji="0" lang="zh-CN" altLang="zh-CN" sz="1600" b="0" i="0" u="none" strike="noStrike" cap="none" normalizeH="0" baseline="0" dirty="0">
                <a:ln>
                  <a:noFill/>
                </a:ln>
                <a:solidFill>
                  <a:srgbClr val="507874"/>
                </a:solidFill>
                <a:effectLst/>
                <a:latin typeface="Arial Unicode MS" panose="020B0604020202020204" charset="-122"/>
                <a:ea typeface="JetBrains Mono"/>
              </a:rPr>
              <a:t>Index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build</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Column</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Progress({</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value: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this.value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 </a:t>
            </a: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设置当前进度</a:t>
            </a:r>
            <a:endParaRPr kumimoji="0" lang="zh-CN" altLang="en-US"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total: 100, // </a:t>
            </a: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设置进度总量</a:t>
            </a:r>
            <a:endParaRPr kumimoji="0" lang="zh-CN" altLang="en-US"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859801"/>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width</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653170"/>
                </a:solidFill>
                <a:effectLst/>
                <a:latin typeface="Arial Unicode MS" panose="020B0604020202020204" charset="-122"/>
                <a:ea typeface="JetBrains Mono"/>
              </a:rPr>
              <a:t>'100%'</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859801"/>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height</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a:t>
            </a:r>
            <a:r>
              <a:rPr kumimoji="0" lang="zh-CN" altLang="zh-CN" sz="1600" b="0" i="0" u="none" strike="noStrike" cap="none" normalizeH="0" baseline="0" dirty="0">
                <a:ln>
                  <a:noFill/>
                </a:ln>
                <a:solidFill>
                  <a:srgbClr val="653170"/>
                </a:solidFill>
                <a:effectLst/>
                <a:latin typeface="Arial Unicode MS" panose="020B0604020202020204" charset="-122"/>
                <a:ea typeface="JetBrains Mono"/>
              </a:rPr>
              <a:t>'100%'</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10" name="图片 9"/>
          <p:cNvPicPr>
            <a:picLocks noChangeAspect="1"/>
          </p:cNvPicPr>
          <p:nvPr/>
        </p:nvPicPr>
        <p:blipFill>
          <a:blip r:embed="rId1"/>
          <a:stretch>
            <a:fillRect/>
          </a:stretch>
        </p:blipFill>
        <p:spPr>
          <a:xfrm>
            <a:off x="8687494" y="1388734"/>
            <a:ext cx="3291626" cy="479174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特殊组件：进度条</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 name="矩形 6"/>
          <p:cNvSpPr>
            <a:spLocks noChangeArrowheads="1"/>
          </p:cNvSpPr>
          <p:nvPr/>
        </p:nvSpPr>
        <p:spPr bwMode="auto">
          <a:xfrm>
            <a:off x="1166699" y="1053530"/>
            <a:ext cx="885698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Progress</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定义参数。</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value: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表示当前进度。</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total:</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表示进度条总长，默认值为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type: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设置进度条的样式，默认值为</a:t>
            </a: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ProgressType.Linear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1168034" y="3429794"/>
            <a:ext cx="9221487" cy="321037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特殊组件：选择器组件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矩形 6"/>
          <p:cNvSpPr>
            <a:spLocks noChangeArrowheads="1"/>
          </p:cNvSpPr>
          <p:nvPr/>
        </p:nvSpPr>
        <p:spPr bwMode="auto">
          <a:xfrm>
            <a:off x="982638" y="1197546"/>
            <a:ext cx="9001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TimePicker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时间选择器：</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20090">
              <a:spcBef>
                <a:spcPts val="2400"/>
              </a:spcBef>
            </a:pPr>
            <a:r>
              <a:rPr lang="en-US" altLang="zh-CN" sz="1800" dirty="0" err="1">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useMilitaryTime</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：展示实践是否为</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24</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小时制，默认</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，即时间区间为</a:t>
            </a:r>
            <a:r>
              <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rPr>
              <a:t>小时</a:t>
            </a:r>
            <a:endPar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20090">
              <a:spcBef>
                <a:spcPts val="2400"/>
              </a:spcBef>
            </a:pPr>
            <a:r>
              <a:rPr lang="en-US" altLang="zh-CN" sz="18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onChange</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：选择器的事件回调，当时间变化会触发该回调</a:t>
            </a:r>
            <a:endParaRPr lang="en-US" altLang="zh-CN" sz="1800" dirty="0">
              <a:solidFill>
                <a:srgbClr val="0075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1"/>
          <p:cNvSpPr>
            <a:spLocks noChangeArrowheads="1"/>
          </p:cNvSpPr>
          <p:nvPr/>
        </p:nvSpPr>
        <p:spPr bwMode="auto">
          <a:xfrm>
            <a:off x="838622" y="3429794"/>
            <a:ext cx="6264696" cy="28007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@Entry</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@Component</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1" i="0" u="none" strike="noStrike" cap="none" normalizeH="0" baseline="0" dirty="0">
                <a:ln>
                  <a:noFill/>
                </a:ln>
                <a:solidFill>
                  <a:srgbClr val="859801"/>
                </a:solidFill>
                <a:effectLst/>
                <a:latin typeface="Arial Unicode MS" panose="020B0604020202020204" charset="-122"/>
                <a:ea typeface="JetBrains Mono"/>
              </a:rPr>
              <a:t>struct </a:t>
            </a:r>
            <a:r>
              <a:rPr kumimoji="0" lang="zh-CN" altLang="zh-CN" sz="1600" b="0" i="0" u="none" strike="noStrike" cap="none" normalizeH="0" baseline="0" dirty="0">
                <a:ln>
                  <a:noFill/>
                </a:ln>
                <a:solidFill>
                  <a:srgbClr val="507874"/>
                </a:solidFill>
                <a:effectLst/>
                <a:latin typeface="Arial Unicode MS" panose="020B0604020202020204" charset="-122"/>
                <a:ea typeface="JetBrains Mono"/>
              </a:rPr>
              <a:t>Index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build</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Column</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TimePicker</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selected:this.selectedTime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useMilitaryTime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this.isMilitaryTime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onChange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value:TimePickerResult</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=&gt; {</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this.selectedTime.setHours</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value.hour</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value.minute</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console.info('select current date is: ' + </a:t>
            </a:r>
            <a:r>
              <a:rPr kumimoji="0" lang="en-US" altLang="zh-CN" sz="1600" b="0" i="0" u="none" strike="noStrike" cap="none" normalizeH="0" baseline="0" dirty="0" err="1">
                <a:ln>
                  <a:noFill/>
                </a:ln>
                <a:solidFill>
                  <a:srgbClr val="E986CD"/>
                </a:solidFill>
                <a:effectLst/>
                <a:latin typeface="Arial Unicode MS" panose="020B0604020202020204" charset="-122"/>
                <a:ea typeface="JetBrains Mono"/>
              </a:rPr>
              <a:t>JSON.stringify</a:t>
            </a: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(value))</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E986CD"/>
                </a:solidFill>
                <a:effectLst/>
                <a:latin typeface="Arial Unicode MS" panose="020B0604020202020204" charset="-122"/>
                <a:ea typeface="JetBrains Mono"/>
              </a:rPr>
              <a:t>        })</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1"/>
          <a:stretch>
            <a:fillRect/>
          </a:stretch>
        </p:blipFill>
        <p:spPr>
          <a:xfrm>
            <a:off x="7895406" y="2681247"/>
            <a:ext cx="3810532" cy="371526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特殊组件：选择器组件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 name="矩形 6"/>
          <p:cNvSpPr>
            <a:spLocks noChangeArrowheads="1"/>
          </p:cNvSpPr>
          <p:nvPr/>
        </p:nvSpPr>
        <p:spPr bwMode="auto">
          <a:xfrm>
            <a:off x="982638" y="1197546"/>
            <a:ext cx="885698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DatePicker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构造函数。</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start: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设置选择器的开始时间。</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end:</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设置选择器的结束时间。</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selected:</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设置选中项的日期，默认当前系统日期。</a:t>
            </a:r>
            <a:endPar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6"/>
          <p:cNvSpPr>
            <a:spLocks noChangeArrowheads="1"/>
          </p:cNvSpPr>
          <p:nvPr/>
        </p:nvSpPr>
        <p:spPr bwMode="auto">
          <a:xfrm>
            <a:off x="982638" y="3645818"/>
            <a:ext cx="885698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DatePicker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属性。</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lunar: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日期是否以农历的形式显式，默认值为</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6"/>
          <p:cNvSpPr>
            <a:spLocks noChangeArrowheads="1"/>
          </p:cNvSpPr>
          <p:nvPr/>
        </p:nvSpPr>
        <p:spPr bwMode="auto">
          <a:xfrm>
            <a:off x="982638" y="4862984"/>
            <a:ext cx="885698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ts val="2400"/>
              </a:spcBef>
              <a:buFont typeface="Wingdings" panose="05000000000000000000" pitchFamily="2" charset="2"/>
              <a:buChar char="l"/>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DatePicker</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事件。</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720090" algn="just">
              <a:spcBef>
                <a:spcPts val="2400"/>
              </a:spcBef>
              <a:buFont typeface="Wingdings" panose="05000000000000000000" pitchFamily="2" charset="2"/>
              <a:buChar char="Ø"/>
            </a:pPr>
            <a:r>
              <a:rPr lang="en-US" altLang="zh-CN" sz="20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onChange</a:t>
            </a:r>
            <a:r>
              <a:rPr lang="en-US" altLang="zh-CN"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选择器的事件回调，当日期变化时会触发该回调。</a:t>
            </a:r>
            <a:endParaRPr lang="zh-CN" altLang="en-US" sz="20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特殊组件：选择器组件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Rectangle 1"/>
          <p:cNvSpPr>
            <a:spLocks noChangeArrowheads="1"/>
          </p:cNvSpPr>
          <p:nvPr/>
        </p:nvSpPr>
        <p:spPr bwMode="auto">
          <a:xfrm>
            <a:off x="1162659" y="1044526"/>
            <a:ext cx="6264696" cy="47705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@Entry</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t>@Component</a:t>
            </a:r>
            <a:br>
              <a:rPr kumimoji="0" lang="zh-CN" altLang="zh-CN" sz="1600" b="0" i="0" u="none" strike="noStrike" cap="none" normalizeH="0" baseline="0" dirty="0">
                <a:ln>
                  <a:noFill/>
                </a:ln>
                <a:solidFill>
                  <a:srgbClr val="808000"/>
                </a:solidFill>
                <a:effectLst/>
                <a:latin typeface="Arial Unicode MS" panose="020B0604020202020204" charset="-122"/>
                <a:ea typeface="JetBrains Mono"/>
              </a:rPr>
            </a:br>
            <a:r>
              <a:rPr kumimoji="0" lang="zh-CN" altLang="zh-CN" sz="1600" b="1" i="0" u="none" strike="noStrike" cap="none" normalizeH="0" baseline="0" dirty="0">
                <a:ln>
                  <a:noFill/>
                </a:ln>
                <a:solidFill>
                  <a:srgbClr val="859801"/>
                </a:solidFill>
                <a:effectLst/>
                <a:latin typeface="Arial Unicode MS" panose="020B0604020202020204" charset="-122"/>
                <a:ea typeface="JetBrains Mono"/>
              </a:rPr>
              <a:t>struct </a:t>
            </a:r>
            <a:r>
              <a:rPr kumimoji="0" lang="zh-CN" altLang="zh-CN" sz="1600" b="0" i="0" u="none" strike="noStrike" cap="none" normalizeH="0" baseline="0" dirty="0">
                <a:ln>
                  <a:noFill/>
                </a:ln>
                <a:solidFill>
                  <a:srgbClr val="507874"/>
                </a:solidFill>
                <a:effectLst/>
                <a:latin typeface="Arial Unicode MS" panose="020B0604020202020204" charset="-122"/>
                <a:ea typeface="JetBrains Mono"/>
              </a:rPr>
              <a:t>Index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build</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b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b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00A99E"/>
                </a:solidFill>
                <a:effectLst/>
                <a:latin typeface="Arial Unicode MS" panose="020B0604020202020204" charset="-122"/>
                <a:ea typeface="JetBrains Mono"/>
              </a:rPr>
              <a:t>Column</a:t>
            </a:r>
            <a:r>
              <a:rPr kumimoji="0" lang="zh-CN" altLang="zh-CN" sz="1600" b="0" i="0" u="none" strike="noStrike" cap="none" normalizeH="0" baseline="0" dirty="0">
                <a:ln>
                  <a:noFill/>
                </a:ln>
                <a:solidFill>
                  <a:srgbClr val="6C71C4"/>
                </a:solidFill>
                <a:effectLst/>
                <a:latin typeface="Arial Unicode MS" panose="020B0604020202020204" charset="-122"/>
                <a:ea typeface="JetBrains Mono"/>
              </a:rPr>
              <a:t>() </a:t>
            </a: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en-US" altLang="zh-CN" sz="1600" b="0" i="0" u="none" strike="noStrike" cap="none" normalizeH="0" baseline="0" dirty="0">
              <a:ln>
                <a:noFill/>
              </a:ln>
              <a:solidFill>
                <a:srgbClr val="E986CD"/>
              </a:solidFill>
              <a:effectLst/>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err="1">
                <a:solidFill>
                  <a:srgbClr val="E986CD"/>
                </a:solidFill>
                <a:latin typeface="Arial Unicode MS" panose="020B0604020202020204" charset="-122"/>
                <a:ea typeface="JetBrains Mono"/>
              </a:rPr>
              <a:t>DatePicker</a:t>
            </a:r>
            <a:r>
              <a:rPr lang="en-US" altLang="zh-CN" sz="1600" dirty="0">
                <a:solidFill>
                  <a:srgbClr val="E986CD"/>
                </a:solidFill>
                <a:latin typeface="Arial Unicode MS" panose="020B0604020202020204" charset="-122"/>
                <a:ea typeface="JetBrains Mono"/>
              </a:rPr>
              <a:t>({</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r>
              <a:rPr lang="en-US" altLang="zh-CN" sz="1600" dirty="0" err="1">
                <a:solidFill>
                  <a:srgbClr val="E986CD"/>
                </a:solidFill>
                <a:latin typeface="Arial Unicode MS" panose="020B0604020202020204" charset="-122"/>
                <a:ea typeface="JetBrains Mono"/>
              </a:rPr>
              <a:t>start:new</a:t>
            </a:r>
            <a:r>
              <a:rPr lang="en-US" altLang="zh-CN" sz="1600" dirty="0">
                <a:solidFill>
                  <a:srgbClr val="E986CD"/>
                </a:solidFill>
                <a:latin typeface="Arial Unicode MS" panose="020B0604020202020204" charset="-122"/>
                <a:ea typeface="JetBrains Mono"/>
              </a:rPr>
              <a:t> Date('2000-1-1'),</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end: new Date('2030-1-1'),</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selected: new Date()</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.lunar(</a:t>
            </a:r>
            <a:r>
              <a:rPr lang="en-US" altLang="zh-CN" sz="1600" dirty="0" err="1">
                <a:solidFill>
                  <a:srgbClr val="E986CD"/>
                </a:solidFill>
                <a:latin typeface="Arial Unicode MS" panose="020B0604020202020204" charset="-122"/>
                <a:ea typeface="JetBrains Mono"/>
              </a:rPr>
              <a:t>this.flag</a:t>
            </a:r>
            <a:r>
              <a:rPr lang="en-US" altLang="zh-CN" sz="1600" dirty="0">
                <a:solidFill>
                  <a:srgbClr val="E986CD"/>
                </a:solidFill>
                <a:latin typeface="Arial Unicode MS" panose="020B0604020202020204" charset="-122"/>
                <a:ea typeface="JetBrains Mono"/>
              </a:rPr>
              <a:t>)</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.width(200)</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.height(120)</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Button(</a:t>
            </a:r>
            <a:r>
              <a:rPr lang="en-US" altLang="zh-CN" sz="1600" dirty="0" err="1">
                <a:solidFill>
                  <a:srgbClr val="E986CD"/>
                </a:solidFill>
                <a:latin typeface="Arial Unicode MS" panose="020B0604020202020204" charset="-122"/>
                <a:ea typeface="JetBrains Mono"/>
              </a:rPr>
              <a:t>this.flag</a:t>
            </a:r>
            <a:r>
              <a:rPr lang="en-US" altLang="zh-CN" sz="1600" dirty="0">
                <a:solidFill>
                  <a:srgbClr val="E986CD"/>
                </a:solidFill>
                <a:latin typeface="Arial Unicode MS" panose="020B0604020202020204" charset="-122"/>
                <a:ea typeface="JetBrains Mono"/>
              </a:rPr>
              <a:t>?"</a:t>
            </a:r>
            <a:r>
              <a:rPr lang="zh-CN" altLang="en-US" sz="1600" dirty="0">
                <a:solidFill>
                  <a:srgbClr val="E986CD"/>
                </a:solidFill>
                <a:latin typeface="Arial Unicode MS" panose="020B0604020202020204" charset="-122"/>
                <a:ea typeface="JetBrains Mono"/>
              </a:rPr>
              <a:t>切换公历</a:t>
            </a:r>
            <a:r>
              <a:rPr lang="en-US" altLang="zh-CN" sz="1600" dirty="0">
                <a:solidFill>
                  <a:srgbClr val="E986CD"/>
                </a:solidFill>
                <a:latin typeface="Arial Unicode MS" panose="020B0604020202020204" charset="-122"/>
                <a:ea typeface="JetBrains Mono"/>
              </a:rPr>
              <a:t>":"</a:t>
            </a:r>
            <a:r>
              <a:rPr lang="zh-CN" altLang="en-US" sz="1600" dirty="0">
                <a:solidFill>
                  <a:srgbClr val="E986CD"/>
                </a:solidFill>
                <a:latin typeface="Arial Unicode MS" panose="020B0604020202020204" charset="-122"/>
                <a:ea typeface="JetBrains Mono"/>
              </a:rPr>
              <a:t>切换农历</a:t>
            </a:r>
            <a:r>
              <a:rPr lang="en-US" altLang="zh-CN" sz="1600" dirty="0">
                <a:solidFill>
                  <a:srgbClr val="E986CD"/>
                </a:solidFill>
                <a:latin typeface="Arial Unicode MS" panose="020B0604020202020204" charset="-122"/>
                <a:ea typeface="JetBrains Mono"/>
              </a:rPr>
              <a:t>")</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r>
              <a:rPr lang="en-US" altLang="zh-CN" sz="1600" dirty="0" err="1">
                <a:solidFill>
                  <a:srgbClr val="E986CD"/>
                </a:solidFill>
                <a:latin typeface="Arial Unicode MS" panose="020B0604020202020204" charset="-122"/>
                <a:ea typeface="JetBrains Mono"/>
              </a:rPr>
              <a:t>onClick</a:t>
            </a:r>
            <a:r>
              <a:rPr lang="en-US" altLang="zh-CN" sz="1600" dirty="0">
                <a:solidFill>
                  <a:srgbClr val="E986CD"/>
                </a:solidFill>
                <a:latin typeface="Arial Unicode MS" panose="020B0604020202020204" charset="-122"/>
                <a:ea typeface="JetBrains Mono"/>
              </a:rPr>
              <a:t>(() =&gt;{</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r>
              <a:rPr lang="en-US" altLang="zh-CN" sz="1600" dirty="0" err="1">
                <a:solidFill>
                  <a:srgbClr val="E986CD"/>
                </a:solidFill>
                <a:latin typeface="Arial Unicode MS" panose="020B0604020202020204" charset="-122"/>
                <a:ea typeface="JetBrains Mono"/>
              </a:rPr>
              <a:t>this.flag</a:t>
            </a:r>
            <a:r>
              <a:rPr lang="en-US" altLang="zh-CN" sz="1600" dirty="0">
                <a:solidFill>
                  <a:srgbClr val="E986CD"/>
                </a:solidFill>
                <a:latin typeface="Arial Unicode MS" panose="020B0604020202020204" charset="-122"/>
                <a:ea typeface="JetBrains Mono"/>
              </a:rPr>
              <a:t> = !</a:t>
            </a:r>
            <a:r>
              <a:rPr lang="en-US" altLang="zh-CN" sz="1600" dirty="0" err="1">
                <a:solidFill>
                  <a:srgbClr val="E986CD"/>
                </a:solidFill>
                <a:latin typeface="Arial Unicode MS" panose="020B0604020202020204" charset="-122"/>
                <a:ea typeface="JetBrains Mono"/>
              </a:rPr>
              <a:t>this.flag</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1600" dirty="0">
                <a:solidFill>
                  <a:srgbClr val="E986CD"/>
                </a:solidFill>
                <a:latin typeface="Arial Unicode MS" panose="020B0604020202020204" charset="-122"/>
                <a:ea typeface="JetBrains Mono"/>
              </a:rPr>
              <a:t>        })</a:t>
            </a:r>
            <a:endParaRPr lang="en-US" altLang="zh-CN" sz="1600" dirty="0">
              <a:solidFill>
                <a:srgbClr val="E986CD"/>
              </a:solidFill>
              <a:latin typeface="Arial Unicode MS" panose="020B0604020202020204" charset="-122"/>
              <a:ea typeface="JetBrains Mon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E986CD"/>
                </a:solidFill>
                <a:effectLst/>
                <a:latin typeface="Arial Unicode MS" panose="020B0604020202020204" charset="-122"/>
                <a:ea typeface="JetBrains Mono"/>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pic>
        <p:nvPicPr>
          <p:cNvPr id="3" name="图片 2"/>
          <p:cNvPicPr>
            <a:picLocks noChangeAspect="1"/>
          </p:cNvPicPr>
          <p:nvPr/>
        </p:nvPicPr>
        <p:blipFill>
          <a:blip r:embed="rId1"/>
          <a:stretch>
            <a:fillRect/>
          </a:stretch>
        </p:blipFill>
        <p:spPr>
          <a:xfrm>
            <a:off x="6671270" y="1429851"/>
            <a:ext cx="4104456" cy="39998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特殊组件：二维码组件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26185" y="1463040"/>
            <a:ext cx="7439025" cy="3415030"/>
          </a:xfrm>
          <a:prstGeom prst="rect">
            <a:avLst/>
          </a:prstGeom>
          <a:noFill/>
        </p:spPr>
        <p:txBody>
          <a:bodyPr wrap="square">
            <a:spAutoFit/>
          </a:bodyPr>
          <a:lstStyle/>
          <a:p>
            <a:r>
              <a:rPr lang="en-US" altLang="zh-CN" dirty="0"/>
              <a:t>1.QRCode</a:t>
            </a:r>
            <a:r>
              <a:rPr lang="zh-CN" altLang="en-US" dirty="0"/>
              <a:t>构造参数</a:t>
            </a:r>
            <a:br>
              <a:rPr lang="zh-CN" altLang="en-US" dirty="0"/>
            </a:br>
            <a:endParaRPr lang="zh-CN" altLang="en-US" dirty="0"/>
          </a:p>
          <a:p>
            <a:r>
              <a:rPr lang="en-US" altLang="zh-CN" dirty="0"/>
              <a:t>        value:</a:t>
            </a:r>
            <a:r>
              <a:rPr lang="zh-CN" altLang="en-US" dirty="0"/>
              <a:t>设置将要生成二维码的内容。</a:t>
            </a:r>
            <a:br>
              <a:rPr lang="zh-CN" altLang="en-US" dirty="0"/>
            </a:br>
            <a:endParaRPr lang="zh-CN" altLang="en-US" dirty="0"/>
          </a:p>
          <a:p>
            <a:r>
              <a:rPr lang="en-US" altLang="zh-CN" dirty="0"/>
              <a:t>2.QRCode</a:t>
            </a:r>
            <a:r>
              <a:rPr lang="zh-CN" altLang="en-US" dirty="0"/>
              <a:t>属性</a:t>
            </a:r>
            <a:br>
              <a:rPr lang="zh-CN" altLang="en-US" dirty="0"/>
            </a:br>
            <a:endParaRPr lang="zh-CN" altLang="en-US" dirty="0"/>
          </a:p>
          <a:p>
            <a:r>
              <a:rPr lang="en-US" altLang="zh-CN" dirty="0"/>
              <a:t>	color:</a:t>
            </a:r>
            <a:r>
              <a:rPr lang="zh-CN" altLang="en-US" dirty="0"/>
              <a:t>设置二维码颜色，默认为黑色。</a:t>
            </a:r>
            <a:br>
              <a:rPr lang="zh-CN" altLang="en-US" dirty="0"/>
            </a:br>
            <a:endParaRPr lang="zh-CN" altLang="en-US" dirty="0"/>
          </a:p>
          <a:p>
            <a:r>
              <a:rPr lang="en-US" altLang="zh-CN" dirty="0"/>
              <a:t>	</a:t>
            </a:r>
            <a:r>
              <a:rPr lang="en-US" altLang="zh-CN" dirty="0" err="1"/>
              <a:t>backgroundColor</a:t>
            </a:r>
            <a:r>
              <a:rPr lang="en-US" altLang="zh-CN" dirty="0"/>
              <a:t>:</a:t>
            </a:r>
            <a:r>
              <a:rPr lang="zh-CN" altLang="en-US" dirty="0"/>
              <a:t>设置二维码背景色。</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特殊组件：二维码组件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9" name="图片 8"/>
          <p:cNvPicPr>
            <a:picLocks noChangeAspect="1"/>
          </p:cNvPicPr>
          <p:nvPr/>
        </p:nvPicPr>
        <p:blipFill>
          <a:blip r:embed="rId1"/>
          <a:stretch>
            <a:fillRect/>
          </a:stretch>
        </p:blipFill>
        <p:spPr>
          <a:xfrm>
            <a:off x="7823398" y="1463192"/>
            <a:ext cx="3312368" cy="4497976"/>
          </a:xfrm>
          <a:prstGeom prst="rect">
            <a:avLst/>
          </a:prstGeom>
        </p:spPr>
      </p:pic>
      <p:sp>
        <p:nvSpPr>
          <p:cNvPr id="2" name="Rectangle 1"/>
          <p:cNvSpPr>
            <a:spLocks noChangeArrowheads="1"/>
          </p:cNvSpPr>
          <p:nvPr/>
        </p:nvSpPr>
        <p:spPr bwMode="auto">
          <a:xfrm>
            <a:off x="910630" y="2227158"/>
            <a:ext cx="5760640" cy="2970044"/>
          </a:xfrm>
          <a:prstGeom prst="rect">
            <a:avLst/>
          </a:prstGeom>
          <a:solidFill>
            <a:schemeClr val="tx1"/>
          </a:solidFill>
          <a:ln>
            <a:noFill/>
          </a:ln>
          <a:effec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Stack</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QRCode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info</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二维码内容字符串</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设置二维码颜色</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Image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"app.media.startIcon"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在二维码上叠加一个头像</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0.2</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qrsize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0.2</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border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White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borderRadius</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padding</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White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borderRadius</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Toggle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25886" y="1463192"/>
            <a:ext cx="9477831" cy="1734185"/>
          </a:xfrm>
          <a:prstGeom prst="rect">
            <a:avLst/>
          </a:prstGeom>
          <a:noFill/>
        </p:spPr>
        <p:txBody>
          <a:bodyPr wrap="square">
            <a:spAutoFit/>
          </a:bodyPr>
          <a:lstStyle/>
          <a:p>
            <a:r>
              <a:rPr lang="en-US" altLang="zh-CN" dirty="0"/>
              <a:t>1. Toggle</a:t>
            </a:r>
            <a:r>
              <a:rPr lang="zh-CN" altLang="en-US" dirty="0"/>
              <a:t>构造参数</a:t>
            </a:r>
            <a:br>
              <a:rPr lang="zh-CN" altLang="en-US" dirty="0"/>
            </a:br>
            <a:endParaRPr lang="zh-CN" altLang="en-US" dirty="0"/>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a:t>isOn</a:t>
            </a:r>
            <a:r>
              <a:rPr lang="en-US" altLang="zh-CN" b="0" i="0" dirty="0">
                <a:solidFill>
                  <a:srgbClr val="343434"/>
                </a:solidFill>
                <a:effectLst/>
                <a:latin typeface="PingFang SC"/>
              </a:rPr>
              <a:t>:</a:t>
            </a:r>
            <a:r>
              <a:rPr lang="zh-CN" altLang="en-US" b="0" i="0" dirty="0">
                <a:solidFill>
                  <a:srgbClr val="343434"/>
                </a:solidFill>
                <a:effectLst/>
                <a:latin typeface="PingFang SC"/>
              </a:rPr>
              <a:t>设置开关状态组件初始化状态。</a:t>
            </a:r>
            <a:r>
              <a:rPr lang="en-US" altLang="zh-CN" b="0" i="0" dirty="0"/>
              <a:t>true</a:t>
            </a:r>
            <a:r>
              <a:rPr lang="en-US" altLang="zh-CN" b="0" i="0" dirty="0">
                <a:solidFill>
                  <a:srgbClr val="343434"/>
                </a:solidFill>
                <a:effectLst/>
                <a:latin typeface="PingFang SC"/>
              </a:rPr>
              <a:t>:</a:t>
            </a:r>
            <a:r>
              <a:rPr lang="zh-CN" altLang="en-US" b="0" i="0" dirty="0">
                <a:solidFill>
                  <a:srgbClr val="343434"/>
                </a:solidFill>
                <a:effectLst/>
                <a:latin typeface="PingFang SC"/>
              </a:rPr>
              <a:t>打开，</a:t>
            </a:r>
            <a:r>
              <a:rPr lang="en-US" altLang="zh-CN" b="0" i="0" dirty="0"/>
              <a:t>false</a:t>
            </a:r>
            <a:r>
              <a:rPr lang="en-US" altLang="zh-CN" b="0" i="0" dirty="0">
                <a:solidFill>
                  <a:srgbClr val="343434"/>
                </a:solidFill>
                <a:effectLst/>
                <a:latin typeface="PingFang SC"/>
              </a:rPr>
              <a:t>:</a:t>
            </a:r>
            <a:r>
              <a:rPr lang="zh-CN" altLang="en-US" b="0" i="0" dirty="0">
                <a:solidFill>
                  <a:srgbClr val="343434"/>
                </a:solidFill>
                <a:effectLst/>
                <a:latin typeface="PingFang SC"/>
              </a:rPr>
              <a:t>关闭。</a:t>
            </a:r>
            <a:endParaRPr lang="zh-CN" altLang="en-US" b="0" i="0" dirty="0">
              <a:solidFill>
                <a:srgbClr val="343434"/>
              </a:solidFill>
              <a:effectLst/>
              <a:latin typeface="PingFang SC"/>
            </a:endParaRPr>
          </a:p>
          <a:p>
            <a:pPr algn="l" fontAlgn="base">
              <a:lnSpc>
                <a:spcPts val="2250"/>
              </a:lnSpc>
              <a:spcAft>
                <a:spcPts val="300"/>
              </a:spcAft>
            </a:pPr>
            <a:r>
              <a:rPr lang="en-US" altLang="zh-CN" b="0" i="0" dirty="0">
                <a:solidFill>
                  <a:srgbClr val="343434"/>
                </a:solidFill>
                <a:effectLst/>
                <a:latin typeface="PingFang SC"/>
              </a:rPr>
              <a:t>       </a:t>
            </a:r>
            <a:r>
              <a:rPr lang="en-US" altLang="zh-CN" b="0" i="0" dirty="0"/>
              <a:t>type</a:t>
            </a:r>
            <a:r>
              <a:rPr lang="en-US" altLang="zh-CN" b="0" i="0" dirty="0">
                <a:solidFill>
                  <a:srgbClr val="343434"/>
                </a:solidFill>
                <a:effectLst/>
                <a:latin typeface="PingFang SC"/>
              </a:rPr>
              <a:t>:</a:t>
            </a:r>
            <a:r>
              <a:rPr lang="zh-CN" altLang="en-US" b="0" i="0" dirty="0">
                <a:solidFill>
                  <a:srgbClr val="343434"/>
                </a:solidFill>
                <a:effectLst/>
                <a:latin typeface="PingFang SC"/>
              </a:rPr>
              <a:t>设置相应的开关类型。</a:t>
            </a:r>
            <a:br>
              <a:rPr lang="zh-CN" altLang="en-US" dirty="0"/>
            </a:br>
            <a:endParaRPr lang="zh-CN" altLang="en-US" dirty="0"/>
          </a:p>
        </p:txBody>
      </p:sp>
      <p:pic>
        <p:nvPicPr>
          <p:cNvPr id="3" name="图片 2"/>
          <p:cNvPicPr>
            <a:picLocks noChangeAspect="1"/>
          </p:cNvPicPr>
          <p:nvPr/>
        </p:nvPicPr>
        <p:blipFill>
          <a:blip r:embed="rId1"/>
          <a:stretch>
            <a:fillRect/>
          </a:stretch>
        </p:blipFill>
        <p:spPr>
          <a:xfrm>
            <a:off x="10748" y="3634568"/>
            <a:ext cx="12190413" cy="248483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Toggle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25886" y="1463192"/>
            <a:ext cx="10629960" cy="1354858"/>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2.Toggle</a:t>
            </a:r>
            <a:r>
              <a:rPr lang="zh-CN" altLang="en-US" b="0" i="0" dirty="0">
                <a:solidFill>
                  <a:srgbClr val="343434"/>
                </a:solidFill>
                <a:effectLst/>
                <a:latin typeface="PingFang SC"/>
              </a:rPr>
              <a:t>属性</a:t>
            </a: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selectedColor</a:t>
            </a:r>
            <a:r>
              <a:rPr lang="en-US" altLang="zh-CN" b="0" i="0" dirty="0">
                <a:solidFill>
                  <a:srgbClr val="343434"/>
                </a:solidFill>
                <a:effectLst/>
                <a:latin typeface="PingFang SC"/>
              </a:rPr>
              <a:t>:</a:t>
            </a:r>
            <a:r>
              <a:rPr lang="zh-CN" altLang="en-US" b="0" i="0" dirty="0">
                <a:solidFill>
                  <a:srgbClr val="343434"/>
                </a:solidFill>
                <a:effectLst/>
                <a:latin typeface="PingFang SC"/>
              </a:rPr>
              <a:t>设置组件打开状态的背景颜色。</a:t>
            </a:r>
            <a:endParaRPr lang="zh-CN" altLang="en-US" b="0" i="0" dirty="0">
              <a:solidFill>
                <a:srgbClr val="343434"/>
              </a:solidFill>
              <a:effectLst/>
              <a:latin typeface="PingFang SC"/>
            </a:endParaRPr>
          </a:p>
          <a:p>
            <a:pPr algn="l" fontAlgn="base">
              <a:lnSpc>
                <a:spcPts val="2250"/>
              </a:lnSpc>
              <a:spcAft>
                <a:spcPts val="300"/>
              </a:spcAft>
              <a:buNone/>
            </a:pPr>
            <a:r>
              <a:rPr lang="en-US" altLang="zh-CN" dirty="0">
                <a:solidFill>
                  <a:srgbClr val="343434"/>
                </a:solidFill>
                <a:latin typeface="PingFang SC"/>
              </a:rPr>
              <a:t>            </a:t>
            </a:r>
            <a:r>
              <a:rPr lang="en-US" altLang="zh-CN" b="0" i="0" dirty="0" err="1">
                <a:solidFill>
                  <a:srgbClr val="343434"/>
                </a:solidFill>
                <a:effectLst/>
                <a:latin typeface="PingFang SC"/>
              </a:rPr>
              <a:t>switchPointColor</a:t>
            </a:r>
            <a:r>
              <a:rPr lang="en-US" altLang="zh-CN" b="0" i="0" dirty="0">
                <a:solidFill>
                  <a:srgbClr val="343434"/>
                </a:solidFill>
                <a:effectLst/>
                <a:latin typeface="PingFang SC"/>
              </a:rPr>
              <a:t>:</a:t>
            </a:r>
            <a:r>
              <a:rPr lang="zh-CN" altLang="en-US" b="0" i="0" dirty="0">
                <a:solidFill>
                  <a:srgbClr val="343434"/>
                </a:solidFill>
                <a:effectLst/>
                <a:latin typeface="PingFang SC"/>
              </a:rPr>
              <a:t>设置</a:t>
            </a:r>
            <a:r>
              <a:rPr lang="en-US" altLang="zh-CN" b="0" i="0" dirty="0">
                <a:solidFill>
                  <a:srgbClr val="343434"/>
                </a:solidFill>
                <a:effectLst/>
                <a:latin typeface="PingFang SC"/>
              </a:rPr>
              <a:t>type</a:t>
            </a:r>
            <a:r>
              <a:rPr lang="zh-CN" altLang="en-US" b="0" i="0" dirty="0">
                <a:solidFill>
                  <a:srgbClr val="343434"/>
                </a:solidFill>
                <a:effectLst/>
                <a:latin typeface="PingFang SC"/>
              </a:rPr>
              <a:t>类型为</a:t>
            </a:r>
            <a:r>
              <a:rPr lang="en-US" altLang="zh-CN" b="0" i="0" dirty="0">
                <a:solidFill>
                  <a:srgbClr val="343434"/>
                </a:solidFill>
                <a:effectLst/>
                <a:latin typeface="PingFang SC"/>
              </a:rPr>
              <a:t>Switch</a:t>
            </a:r>
            <a:r>
              <a:rPr lang="zh-CN" altLang="en-US" b="0" i="0" dirty="0">
                <a:solidFill>
                  <a:srgbClr val="343434"/>
                </a:solidFill>
                <a:effectLst/>
                <a:latin typeface="PingFang SC"/>
              </a:rPr>
              <a:t>时的开关滑块颜色，仅对</a:t>
            </a:r>
            <a:r>
              <a:rPr lang="en-US" altLang="zh-CN" b="0" i="0" dirty="0" err="1">
                <a:solidFill>
                  <a:srgbClr val="343434"/>
                </a:solidFill>
                <a:effectLst/>
                <a:latin typeface="PingFang SC"/>
              </a:rPr>
              <a:t>rype</a:t>
            </a:r>
            <a:r>
              <a:rPr lang="zh-CN" altLang="en-US" b="0" i="0" dirty="0">
                <a:solidFill>
                  <a:srgbClr val="343434"/>
                </a:solidFill>
                <a:effectLst/>
                <a:latin typeface="PingFang SC"/>
              </a:rPr>
              <a:t>为</a:t>
            </a:r>
            <a:r>
              <a:rPr lang="en-US" altLang="zh-CN" b="0" i="0" dirty="0" err="1">
                <a:solidFill>
                  <a:srgbClr val="343434"/>
                </a:solidFill>
                <a:effectLst/>
                <a:latin typeface="PingFang SC"/>
              </a:rPr>
              <a:t>ToggleType.Switch</a:t>
            </a:r>
            <a:r>
              <a:rPr lang="zh-CN" altLang="en-US" b="0" i="0" dirty="0">
                <a:solidFill>
                  <a:srgbClr val="343434"/>
                </a:solidFill>
                <a:effectLst/>
                <a:latin typeface="PingFang SC"/>
              </a:rPr>
              <a:t>生效。</a:t>
            </a:r>
            <a:endParaRPr lang="zh-CN" altLang="en-US" dirty="0"/>
          </a:p>
        </p:txBody>
      </p:sp>
      <p:sp>
        <p:nvSpPr>
          <p:cNvPr id="4" name="文本框 3"/>
          <p:cNvSpPr txBox="1"/>
          <p:nvPr/>
        </p:nvSpPr>
        <p:spPr>
          <a:xfrm>
            <a:off x="1236924" y="4027144"/>
            <a:ext cx="6096000" cy="830997"/>
          </a:xfrm>
          <a:prstGeom prst="rect">
            <a:avLst/>
          </a:prstGeom>
          <a:noFill/>
        </p:spPr>
        <p:txBody>
          <a:bodyPr wrap="square">
            <a:spAutoFit/>
          </a:bodyPr>
          <a:lstStyle/>
          <a:p>
            <a:r>
              <a:rPr lang="en-US" altLang="zh-CN" dirty="0"/>
              <a:t>3.Toggle</a:t>
            </a:r>
            <a:r>
              <a:rPr lang="zh-CN" altLang="en-US" dirty="0"/>
              <a:t>事件</a:t>
            </a:r>
            <a:endParaRPr lang="zh-CN" altLang="en-US" dirty="0"/>
          </a:p>
          <a:p>
            <a:r>
              <a:rPr lang="en-US" altLang="zh-CN" dirty="0"/>
              <a:t>            </a:t>
            </a:r>
            <a:r>
              <a:rPr lang="en-US" altLang="zh-CN" dirty="0" err="1"/>
              <a:t>onChange</a:t>
            </a:r>
            <a:r>
              <a:rPr lang="en-US" altLang="zh-CN" dirty="0"/>
              <a:t>:</a:t>
            </a:r>
            <a:r>
              <a:rPr lang="zh-CN" altLang="en-US" dirty="0"/>
              <a:t>开关状态切换时触发该事件。</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Toggle</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Rectangle 1"/>
          <p:cNvSpPr>
            <a:spLocks noChangeArrowheads="1"/>
          </p:cNvSpPr>
          <p:nvPr/>
        </p:nvSpPr>
        <p:spPr bwMode="auto">
          <a:xfrm>
            <a:off x="1486694" y="1463192"/>
            <a:ext cx="4104456" cy="4708981"/>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Row</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space</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B3E54C"/>
                </a:solidFill>
                <a:effectLst/>
                <a:latin typeface="Arial Unicode MS" panose="020B0604020202020204" charset="-122"/>
                <a:ea typeface="JetBrains Mono"/>
              </a:rPr>
              <a:t>20</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Toggle</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type</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ToggleType</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Switch</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Toggle</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type</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ToggleType</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Switch</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selectedColor</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Pink</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switchPointColor</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Brown</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onChange</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isOn</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=&gt; </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prompt</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65CCE1"/>
                </a:solidFill>
                <a:effectLst/>
                <a:latin typeface="Arial Unicode MS" panose="020B0604020202020204" charset="-122"/>
                <a:ea typeface="JetBrains Mono"/>
              </a:rPr>
              <a:t>showToast</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message</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AA7DFC"/>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AA7DFC"/>
                </a:solidFill>
                <a:effectLst/>
                <a:latin typeface="Courier New" panose="02070309020205020404" pitchFamily="49" charset="0"/>
                <a:ea typeface="JetBrains Mono"/>
                <a:cs typeface="Courier New" panose="02070309020205020404" pitchFamily="49" charset="0"/>
              </a:rPr>
              <a:t>开关状态</a:t>
            </a:r>
            <a:r>
              <a:rPr kumimoji="0" lang="zh-CN" altLang="zh-CN" sz="2000" b="0" i="0" u="none" strike="noStrike" cap="none" normalizeH="0" baseline="0" dirty="0">
                <a:ln>
                  <a:noFill/>
                </a:ln>
                <a:solidFill>
                  <a:srgbClr val="AA7DFC"/>
                </a:solidFill>
                <a:effectLst/>
                <a:latin typeface="Arial Unicode MS" panose="020B0604020202020204" charset="-122"/>
                <a:ea typeface="JetBrains Mono"/>
              </a:rPr>
              <a:t> :" </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isOn</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b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FFFFF"/>
                </a:solidFill>
                <a:effectLst/>
                <a:latin typeface="Arial Unicode MS" panose="020B0604020202020204" charset="-122"/>
                <a:ea typeface="JetBrains Mono"/>
              </a:rPr>
              <a:t>bottom</a:t>
            </a:r>
            <a:r>
              <a:rPr kumimoji="0" lang="zh-CN" altLang="zh-CN" sz="20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AA7DFC"/>
                </a:solidFill>
                <a:effectLst/>
                <a:latin typeface="Arial Unicode MS" panose="020B0604020202020204" charset="-122"/>
                <a:ea typeface="JetBrains Mono"/>
              </a:rPr>
              <a:t>"400"</a:t>
            </a:r>
            <a:br>
              <a:rPr kumimoji="0" lang="zh-CN" altLang="zh-CN" sz="2000" b="0" i="0" u="none" strike="noStrike" cap="none" normalizeH="0" baseline="0" dirty="0">
                <a:ln>
                  <a:noFill/>
                </a:ln>
                <a:solidFill>
                  <a:srgbClr val="AA7DFC"/>
                </a:solidFill>
                <a:effectLst/>
                <a:latin typeface="Arial Unicode MS" panose="020B0604020202020204" charset="-122"/>
                <a:ea typeface="JetBrains Mono"/>
              </a:rPr>
            </a:br>
            <a:r>
              <a:rPr kumimoji="0" lang="zh-CN" altLang="zh-CN" sz="2000" b="0" i="0" u="none" strike="noStrike" cap="none" normalizeH="0" baseline="0" dirty="0">
                <a:ln>
                  <a:noFill/>
                </a:ln>
                <a:solidFill>
                  <a:srgbClr val="AA7DFC"/>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20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2000" b="0" i="0" u="none" strike="noStrike" cap="none" normalizeH="0" baseline="0" dirty="0">
                <a:ln>
                  <a:noFill/>
                </a:ln>
                <a:solidFill>
                  <a:srgbClr val="FAA23D"/>
                </a:solidFill>
                <a:effectLst/>
                <a:latin typeface="Arial Unicode MS" panose="020B0604020202020204" charset="-122"/>
                <a:ea typeface="JetBrains Mono"/>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1"/>
          <a:stretch>
            <a:fillRect/>
          </a:stretch>
        </p:blipFill>
        <p:spPr>
          <a:xfrm>
            <a:off x="7319342" y="1773610"/>
            <a:ext cx="4014124" cy="38529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DataPanel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25886" y="1463192"/>
            <a:ext cx="9837872" cy="3057055"/>
          </a:xfrm>
          <a:prstGeom prst="rect">
            <a:avLst/>
          </a:prstGeom>
          <a:noFill/>
        </p:spPr>
        <p:txBody>
          <a:bodyPr wrap="square">
            <a:spAutoFit/>
          </a:bodyPr>
          <a:lstStyle/>
          <a:p>
            <a:r>
              <a:rPr lang="en-US" altLang="zh-CN" dirty="0"/>
              <a:t>1. </a:t>
            </a:r>
            <a:r>
              <a:rPr lang="zh-CN" altLang="en-US" dirty="0"/>
              <a:t>构造参数</a:t>
            </a:r>
            <a:br>
              <a:rPr lang="zh-CN" altLang="en-US" dirty="0"/>
            </a:br>
            <a:endParaRPr lang="zh-CN" altLang="en-US" dirty="0"/>
          </a:p>
          <a:p>
            <a:pPr algn="l" fontAlgn="base">
              <a:lnSpc>
                <a:spcPts val="2250"/>
              </a:lnSpc>
              <a:spcAft>
                <a:spcPts val="300"/>
              </a:spcAft>
              <a:buNone/>
            </a:pPr>
            <a:r>
              <a:rPr lang="en-US" altLang="zh-CN" b="0" i="0" dirty="0">
                <a:solidFill>
                  <a:srgbClr val="343434"/>
                </a:solidFill>
                <a:effectLst/>
                <a:latin typeface="PingFang SC"/>
              </a:rPr>
              <a:t>        values:</a:t>
            </a:r>
            <a:r>
              <a:rPr lang="zh-CN" altLang="en-US" b="0" i="0" dirty="0">
                <a:solidFill>
                  <a:srgbClr val="343434"/>
                </a:solidFill>
                <a:effectLst/>
                <a:latin typeface="PingFang SC"/>
              </a:rPr>
              <a:t>数据值列表，最多包含</a:t>
            </a:r>
            <a:r>
              <a:rPr lang="en-US" altLang="zh-CN" b="0" i="0" dirty="0">
                <a:solidFill>
                  <a:srgbClr val="343434"/>
                </a:solidFill>
                <a:effectLst/>
                <a:latin typeface="PingFang SC"/>
              </a:rPr>
              <a:t>9</a:t>
            </a:r>
            <a:r>
              <a:rPr lang="zh-CN" altLang="en-US" b="0" i="0" dirty="0">
                <a:solidFill>
                  <a:srgbClr val="343434"/>
                </a:solidFill>
                <a:effectLst/>
                <a:latin typeface="PingFang SC"/>
              </a:rPr>
              <a:t>个数据，大于</a:t>
            </a:r>
            <a:r>
              <a:rPr lang="en-US" altLang="zh-CN" b="0" i="0" dirty="0">
                <a:solidFill>
                  <a:srgbClr val="343434"/>
                </a:solidFill>
                <a:effectLst/>
                <a:latin typeface="PingFang SC"/>
              </a:rPr>
              <a:t>9</a:t>
            </a:r>
            <a:r>
              <a:rPr lang="zh-CN" altLang="en-US" b="0" i="0" dirty="0">
                <a:solidFill>
                  <a:srgbClr val="343434"/>
                </a:solidFill>
                <a:effectLst/>
                <a:latin typeface="PingFang SC"/>
              </a:rPr>
              <a:t>个数据则取前</a:t>
            </a:r>
            <a:r>
              <a:rPr lang="en-US" altLang="zh-CN" b="0" i="0" dirty="0">
                <a:solidFill>
                  <a:srgbClr val="343434"/>
                </a:solidFill>
                <a:effectLst/>
                <a:latin typeface="PingFang SC"/>
              </a:rPr>
              <a:t>9</a:t>
            </a:r>
            <a:r>
              <a:rPr lang="zh-CN" altLang="en-US" b="0" i="0" dirty="0">
                <a:solidFill>
                  <a:srgbClr val="343434"/>
                </a:solidFill>
                <a:effectLst/>
                <a:latin typeface="PingFang SC"/>
              </a:rPr>
              <a:t>个数据。若数据值小于</a:t>
            </a:r>
            <a:r>
              <a:rPr lang="en-US" altLang="zh-CN" b="0" i="0" dirty="0">
                <a:solidFill>
                  <a:srgbClr val="343434"/>
                </a:solidFill>
                <a:effectLst/>
                <a:latin typeface="PingFang SC"/>
              </a:rPr>
              <a:t>0</a:t>
            </a:r>
            <a:r>
              <a:rPr lang="zh-CN" altLang="en-US" b="0" i="0" dirty="0">
                <a:solidFill>
                  <a:srgbClr val="343434"/>
                </a:solidFill>
                <a:effectLst/>
                <a:latin typeface="PingFang SC"/>
              </a:rPr>
              <a:t>则置为</a:t>
            </a:r>
            <a:r>
              <a:rPr lang="en-US" altLang="zh-CN" b="0" i="0" dirty="0">
                <a:solidFill>
                  <a:srgbClr val="343434"/>
                </a:solidFill>
                <a:effectLst/>
                <a:latin typeface="PingFang SC"/>
              </a:rPr>
              <a:t>0</a:t>
            </a:r>
            <a:r>
              <a:rPr lang="zh-CN" altLang="en-US" b="0" i="0" dirty="0">
                <a:solidFill>
                  <a:srgbClr val="343434"/>
                </a:solidFill>
                <a:effectLst/>
                <a:latin typeface="PingFang SC"/>
              </a:rPr>
              <a:t>。</a:t>
            </a:r>
            <a:endParaRPr lang="en-US" altLang="zh-CN" b="0" i="0" dirty="0">
              <a:solidFill>
                <a:srgbClr val="343434"/>
              </a:solidFill>
              <a:effectLst/>
              <a:latin typeface="PingFang SC"/>
            </a:endParaRPr>
          </a:p>
          <a:p>
            <a:pPr algn="l" fontAlgn="base">
              <a:lnSpc>
                <a:spcPts val="2250"/>
              </a:lnSpc>
              <a:spcAft>
                <a:spcPts val="300"/>
              </a:spcAft>
              <a:buNone/>
            </a:pPr>
            <a:endParaRPr lang="en-US" altLang="zh-CN" b="0" i="0" dirty="0">
              <a:solidFill>
                <a:srgbClr val="343434"/>
              </a:solidFill>
              <a:effectLst/>
              <a:latin typeface="PingFang SC"/>
            </a:endParaRPr>
          </a:p>
          <a:p>
            <a:pPr algn="l" fontAlgn="base">
              <a:lnSpc>
                <a:spcPts val="2250"/>
              </a:lnSpc>
              <a:spcAft>
                <a:spcPts val="300"/>
              </a:spcAft>
              <a:buNone/>
            </a:pPr>
            <a:r>
              <a:rPr lang="en-US" altLang="zh-CN" dirty="0"/>
              <a:t>       max:</a:t>
            </a:r>
            <a:r>
              <a:rPr lang="zh-CN" altLang="en-US" dirty="0"/>
              <a:t>数据的最大值。</a:t>
            </a:r>
            <a:r>
              <a:rPr lang="en-US" altLang="zh-CN" dirty="0"/>
              <a:t>max</a:t>
            </a:r>
            <a:r>
              <a:rPr lang="zh-CN" altLang="en-US" dirty="0"/>
              <a:t>等于</a:t>
            </a:r>
            <a:r>
              <a:rPr lang="en-US" altLang="zh-CN" dirty="0"/>
              <a:t>value</a:t>
            </a:r>
            <a:r>
              <a:rPr lang="zh-CN" altLang="en-US" dirty="0"/>
              <a:t>数组各项的和，默认值为</a:t>
            </a:r>
            <a:r>
              <a:rPr lang="en-US" altLang="zh-CN" dirty="0"/>
              <a:t>100</a:t>
            </a:r>
            <a:r>
              <a:rPr lang="zh-CN" altLang="en-US" dirty="0"/>
              <a:t>。</a:t>
            </a:r>
            <a:endParaRPr lang="en-US" altLang="zh-CN" dirty="0"/>
          </a:p>
          <a:p>
            <a:pPr algn="l" fontAlgn="base">
              <a:lnSpc>
                <a:spcPts val="2250"/>
              </a:lnSpc>
              <a:spcAft>
                <a:spcPts val="300"/>
              </a:spcAft>
              <a:buNone/>
            </a:pPr>
            <a:endParaRPr lang="zh-CN" altLang="en-US" dirty="0"/>
          </a:p>
          <a:p>
            <a:pPr algn="l" fontAlgn="base">
              <a:lnSpc>
                <a:spcPts val="2250"/>
              </a:lnSpc>
              <a:spcAft>
                <a:spcPts val="300"/>
              </a:spcAft>
              <a:buNone/>
            </a:pPr>
            <a:r>
              <a:rPr lang="en-US" altLang="zh-CN" dirty="0"/>
              <a:t>       type:</a:t>
            </a:r>
            <a:r>
              <a:rPr lang="zh-CN" altLang="en-US" dirty="0"/>
              <a:t>数据面板的类型</a:t>
            </a:r>
            <a:r>
              <a:rPr lang="en-US" altLang="zh-CN" dirty="0"/>
              <a:t>(</a:t>
            </a:r>
            <a:r>
              <a:rPr lang="zh-CN" altLang="en-US" dirty="0"/>
              <a:t>不支持动态修改</a:t>
            </a:r>
            <a:r>
              <a:rPr lang="en-US" altLang="zh-CN" dirty="0"/>
              <a:t>),</a:t>
            </a:r>
            <a:r>
              <a:rPr lang="zh-CN" altLang="en-US" dirty="0"/>
              <a:t>默认值</a:t>
            </a:r>
            <a:r>
              <a:rPr lang="en-US" altLang="zh-CN" dirty="0" err="1"/>
              <a:t>DataPanelType.Cirde</a:t>
            </a:r>
            <a:r>
              <a:rPr lang="zh-CN" altLang="en-US" dirty="0"/>
              <a:t>。</a:t>
            </a:r>
            <a:br>
              <a:rPr lang="zh-CN" altLang="en-US" dirty="0"/>
            </a:br>
            <a:endParaRPr lang="zh-CN" altLang="en-US" dirty="0"/>
          </a:p>
        </p:txBody>
      </p:sp>
      <p:pic>
        <p:nvPicPr>
          <p:cNvPr id="4" name="图片 3"/>
          <p:cNvPicPr>
            <a:picLocks noChangeAspect="1"/>
          </p:cNvPicPr>
          <p:nvPr/>
        </p:nvPicPr>
        <p:blipFill>
          <a:blip r:embed="rId1"/>
          <a:stretch>
            <a:fillRect/>
          </a:stretch>
        </p:blipFill>
        <p:spPr>
          <a:xfrm>
            <a:off x="-1" y="4869954"/>
            <a:ext cx="12190413" cy="140358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DataPanel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054646" y="997071"/>
            <a:ext cx="9837872" cy="1133452"/>
          </a:xfrm>
          <a:prstGeom prst="rect">
            <a:avLst/>
          </a:prstGeom>
          <a:noFill/>
        </p:spPr>
        <p:txBody>
          <a:bodyPr wrap="square">
            <a:spAutoFit/>
          </a:bodyPr>
          <a:lstStyle/>
          <a:p>
            <a:r>
              <a:rPr lang="en-US" altLang="zh-CN" dirty="0"/>
              <a:t>2. </a:t>
            </a:r>
            <a:r>
              <a:rPr lang="zh-CN" altLang="en-US" dirty="0"/>
              <a:t>属性</a:t>
            </a:r>
            <a:br>
              <a:rPr lang="zh-CN" altLang="en-US" dirty="0"/>
            </a:br>
            <a:endParaRPr lang="zh-CN" altLang="en-US" dirty="0"/>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closeEffect</a:t>
            </a:r>
            <a:r>
              <a:rPr lang="en-US" altLang="zh-CN" b="0" i="0" dirty="0">
                <a:solidFill>
                  <a:srgbClr val="343434"/>
                </a:solidFill>
                <a:effectLst/>
                <a:latin typeface="PingFang SC"/>
              </a:rPr>
              <a:t>:</a:t>
            </a:r>
            <a:r>
              <a:rPr lang="zh-CN" altLang="en-US" b="0" i="0" dirty="0">
                <a:solidFill>
                  <a:srgbClr val="343434"/>
                </a:solidFill>
                <a:effectLst/>
                <a:latin typeface="PingFang SC"/>
              </a:rPr>
              <a:t>禁止数据面板动画效果，默认</a:t>
            </a:r>
            <a:r>
              <a:rPr lang="en-US" altLang="zh-CN" b="0" i="0" dirty="0">
                <a:solidFill>
                  <a:srgbClr val="343434"/>
                </a:solidFill>
                <a:effectLst/>
                <a:latin typeface="PingFang SC"/>
              </a:rPr>
              <a:t>true</a:t>
            </a:r>
            <a:endParaRPr lang="zh-CN" altLang="en-US" dirty="0"/>
          </a:p>
        </p:txBody>
      </p:sp>
      <p:pic>
        <p:nvPicPr>
          <p:cNvPr id="3" name="图片 2"/>
          <p:cNvPicPr>
            <a:picLocks noChangeAspect="1"/>
          </p:cNvPicPr>
          <p:nvPr/>
        </p:nvPicPr>
        <p:blipFill>
          <a:blip r:embed="rId1"/>
          <a:stretch>
            <a:fillRect/>
          </a:stretch>
        </p:blipFill>
        <p:spPr>
          <a:xfrm>
            <a:off x="8399462" y="1563797"/>
            <a:ext cx="3499331" cy="3960483"/>
          </a:xfrm>
          <a:prstGeom prst="rect">
            <a:avLst/>
          </a:prstGeom>
        </p:spPr>
      </p:pic>
      <p:sp>
        <p:nvSpPr>
          <p:cNvPr id="5" name="Rectangle 1"/>
          <p:cNvSpPr>
            <a:spLocks noChangeArrowheads="1"/>
          </p:cNvSpPr>
          <p:nvPr/>
        </p:nvSpPr>
        <p:spPr bwMode="auto">
          <a:xfrm>
            <a:off x="1058716" y="2175594"/>
            <a:ext cx="5591151" cy="453970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Stack</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DataPanel</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values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max</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type</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DataPanelType</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Circle</a:t>
            </a:r>
            <a:b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b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168</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168</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closeEffect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true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3 0 "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35</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#182431 "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9.33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lineHeight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12.83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fontWeight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opacity</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0.6</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9.33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lineHeight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12.83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fontWeight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500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opacity</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0.6</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position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x</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104.42</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y</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78.17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margin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right</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4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420186" y="1269554"/>
            <a:ext cx="11723692" cy="4685706"/>
          </a:xfrm>
          <a:prstGeom prst="rect">
            <a:avLst/>
          </a:prstGeom>
          <a:noFill/>
        </p:spPr>
        <p:txBody>
          <a:bodyPr wrap="square">
            <a:spAutoFit/>
          </a:bodyPr>
          <a:lstStyle/>
          <a:p>
            <a:pPr marL="457200" indent="-457200">
              <a:buAutoNum type="arabicPeriod"/>
            </a:pPr>
            <a:r>
              <a:rPr lang="en-US" altLang="zh-CN" dirty="0" err="1"/>
              <a:t>AlertDiaog</a:t>
            </a:r>
            <a:r>
              <a:rPr lang="zh-CN" altLang="en-US" dirty="0"/>
              <a:t>构造函数</a:t>
            </a:r>
            <a:br>
              <a:rPr lang="zh-CN" altLang="en-US" dirty="0"/>
            </a:br>
            <a:r>
              <a:rPr lang="zh-CN" altLang="en-US" dirty="0"/>
              <a:t>         </a:t>
            </a:r>
            <a:r>
              <a:rPr lang="en-US" altLang="zh-CN" dirty="0"/>
              <a:t>show:</a:t>
            </a:r>
            <a:r>
              <a:rPr lang="zh-CN" altLang="en-US" dirty="0"/>
              <a:t>定义并显示</a:t>
            </a:r>
            <a:r>
              <a:rPr lang="en-US" altLang="zh-CN" dirty="0" err="1"/>
              <a:t>AlertDialog</a:t>
            </a:r>
            <a:r>
              <a:rPr lang="zh-CN" altLang="en-US" dirty="0"/>
              <a:t>组件。</a:t>
            </a:r>
            <a:endParaRPr lang="zh-CN" altLang="en-US" dirty="0"/>
          </a:p>
          <a:p>
            <a:pPr algn="l" fontAlgn="base">
              <a:lnSpc>
                <a:spcPts val="2250"/>
              </a:lnSpc>
              <a:spcAft>
                <a:spcPts val="300"/>
              </a:spcAft>
              <a:buNone/>
            </a:pPr>
            <a:r>
              <a:rPr lang="en-US" altLang="zh-CN" dirty="0"/>
              <a:t>2.</a:t>
            </a:r>
            <a:r>
              <a:rPr lang="zh-CN" altLang="en-US" dirty="0"/>
              <a:t>单按钮</a:t>
            </a:r>
            <a:r>
              <a:rPr lang="en-US" altLang="zh-CN" dirty="0" err="1"/>
              <a:t>AlertDialogParamWithConfirm</a:t>
            </a:r>
            <a:r>
              <a:rPr lang="zh-CN" altLang="en-US" dirty="0"/>
              <a:t>对象</a:t>
            </a:r>
            <a:endParaRPr lang="zh-CN" altLang="en-US" dirty="0"/>
          </a:p>
          <a:p>
            <a:pPr algn="l" fontAlgn="base">
              <a:lnSpc>
                <a:spcPts val="2250"/>
              </a:lnSpc>
              <a:spcAft>
                <a:spcPts val="300"/>
              </a:spcAft>
              <a:buNone/>
            </a:pPr>
            <a:r>
              <a:rPr lang="en-US" altLang="zh-CN" dirty="0"/>
              <a:t>	title:</a:t>
            </a:r>
            <a:r>
              <a:rPr lang="zh-CN" altLang="en-US" dirty="0"/>
              <a:t>弹窗标题。</a:t>
            </a:r>
            <a:endParaRPr lang="zh-CN" altLang="en-US" dirty="0"/>
          </a:p>
          <a:p>
            <a:pPr algn="l" fontAlgn="base">
              <a:lnSpc>
                <a:spcPts val="2250"/>
              </a:lnSpc>
              <a:spcAft>
                <a:spcPts val="300"/>
              </a:spcAft>
              <a:buNone/>
            </a:pPr>
            <a:r>
              <a:rPr lang="en-US" altLang="zh-CN" dirty="0"/>
              <a:t>	message:</a:t>
            </a:r>
            <a:r>
              <a:rPr lang="zh-CN" altLang="en-US" dirty="0"/>
              <a:t>弹框内容。</a:t>
            </a:r>
            <a:endParaRPr lang="zh-CN" altLang="en-US" dirty="0"/>
          </a:p>
          <a:p>
            <a:pPr algn="l" fontAlgn="base">
              <a:lnSpc>
                <a:spcPts val="2250"/>
              </a:lnSpc>
              <a:spcAft>
                <a:spcPts val="300"/>
              </a:spcAft>
              <a:buNone/>
            </a:pPr>
            <a:r>
              <a:rPr lang="en-US" altLang="zh-CN" dirty="0"/>
              <a:t>	</a:t>
            </a:r>
            <a:r>
              <a:rPr lang="en-US" altLang="zh-CN" dirty="0" err="1"/>
              <a:t>autoCancel</a:t>
            </a:r>
            <a:r>
              <a:rPr lang="en-US" altLang="zh-CN" dirty="0"/>
              <a:t>:</a:t>
            </a:r>
            <a:r>
              <a:rPr lang="zh-CN" altLang="en-US" dirty="0"/>
              <a:t>点击遮障层时，是否关闭弹窗。默认值为</a:t>
            </a:r>
            <a:r>
              <a:rPr lang="en-US" altLang="zh-CN" dirty="0"/>
              <a:t>true</a:t>
            </a:r>
            <a:r>
              <a:rPr lang="zh-CN" altLang="en-US" dirty="0"/>
              <a:t>。</a:t>
            </a:r>
            <a:endParaRPr lang="zh-CN" altLang="en-US" dirty="0"/>
          </a:p>
          <a:p>
            <a:pPr algn="l" fontAlgn="base">
              <a:lnSpc>
                <a:spcPts val="2250"/>
              </a:lnSpc>
              <a:spcAft>
                <a:spcPts val="300"/>
              </a:spcAft>
              <a:buNone/>
            </a:pPr>
            <a:r>
              <a:rPr lang="en-US" altLang="zh-CN" dirty="0"/>
              <a:t>	cancel:</a:t>
            </a:r>
            <a:r>
              <a:rPr lang="zh-CN" altLang="en-US" dirty="0"/>
              <a:t>点击遮障层关闭</a:t>
            </a:r>
            <a:r>
              <a:rPr lang="en-US" altLang="zh-CN" dirty="0"/>
              <a:t>dialog</a:t>
            </a:r>
            <a:r>
              <a:rPr lang="zh-CN" altLang="en-US" dirty="0"/>
              <a:t>时的回调。</a:t>
            </a:r>
            <a:endParaRPr lang="zh-CN" altLang="en-US" dirty="0"/>
          </a:p>
          <a:p>
            <a:pPr algn="l" fontAlgn="base">
              <a:lnSpc>
                <a:spcPts val="2250"/>
              </a:lnSpc>
              <a:spcAft>
                <a:spcPts val="300"/>
              </a:spcAft>
              <a:buNone/>
            </a:pPr>
            <a:r>
              <a:rPr lang="en-US" altLang="zh-CN" dirty="0"/>
              <a:t>	alignment:</a:t>
            </a:r>
            <a:r>
              <a:rPr lang="zh-CN" altLang="en-US" dirty="0"/>
              <a:t>弹窗在垂直方向上的对齐方式。</a:t>
            </a:r>
            <a:endParaRPr lang="zh-CN" altLang="en-US" dirty="0"/>
          </a:p>
          <a:p>
            <a:pPr algn="l" fontAlgn="base">
              <a:lnSpc>
                <a:spcPts val="2250"/>
              </a:lnSpc>
              <a:spcAft>
                <a:spcPts val="300"/>
              </a:spcAft>
              <a:buNone/>
            </a:pPr>
            <a:r>
              <a:rPr lang="en-US" altLang="zh-CN" dirty="0"/>
              <a:t>	offset:</a:t>
            </a:r>
            <a:r>
              <a:rPr lang="zh-CN" altLang="en-US" dirty="0"/>
              <a:t>弹窗相对</a:t>
            </a:r>
            <a:r>
              <a:rPr lang="en-US" altLang="zh-CN" dirty="0"/>
              <a:t>alignment</a:t>
            </a:r>
            <a:r>
              <a:rPr lang="zh-CN" altLang="en-US" dirty="0"/>
              <a:t>所在位置的偏移量。</a:t>
            </a:r>
            <a:endParaRPr lang="zh-CN" altLang="en-US" dirty="0"/>
          </a:p>
          <a:p>
            <a:pPr algn="l" fontAlgn="base">
              <a:lnSpc>
                <a:spcPts val="2250"/>
              </a:lnSpc>
              <a:spcAft>
                <a:spcPts val="300"/>
              </a:spcAft>
              <a:buNone/>
            </a:pPr>
            <a:r>
              <a:rPr lang="en-US" altLang="zh-CN" dirty="0"/>
              <a:t>	</a:t>
            </a:r>
            <a:r>
              <a:rPr lang="en-US" altLang="zh-CN" dirty="0" err="1"/>
              <a:t>gridCount</a:t>
            </a:r>
            <a:r>
              <a:rPr lang="en-US" altLang="zh-CN" dirty="0"/>
              <a:t>:</a:t>
            </a:r>
            <a:r>
              <a:rPr lang="zh-CN" altLang="en-US" dirty="0"/>
              <a:t>弹窗容器宽度所占用的栅格数。当</a:t>
            </a:r>
            <a:r>
              <a:rPr lang="en-US" altLang="zh-CN" dirty="0" err="1"/>
              <a:t>gridCount</a:t>
            </a:r>
            <a:r>
              <a:rPr lang="zh-CN" altLang="en-US" dirty="0"/>
              <a:t>小于等于</a:t>
            </a:r>
            <a:r>
              <a:rPr lang="en-US" altLang="zh-CN" dirty="0"/>
              <a:t>0</a:t>
            </a:r>
            <a:r>
              <a:rPr lang="zh-CN" altLang="en-US" dirty="0"/>
              <a:t>时，弹窗宽度是固定的；大于</a:t>
            </a:r>
            <a:r>
              <a:rPr lang="en-US" altLang="zh-CN" dirty="0"/>
              <a:t>0</a:t>
            </a:r>
            <a:r>
              <a:rPr lang="zh-CN" altLang="en-US" dirty="0"/>
              <a:t>时，按照设置的数值显示宽度。</a:t>
            </a:r>
            <a:r>
              <a:rPr lang="en-US" altLang="zh-CN" dirty="0" err="1"/>
              <a:t>gridCount</a:t>
            </a:r>
            <a:r>
              <a:rPr lang="zh-CN" altLang="en-US" dirty="0"/>
              <a:t>最大值为</a:t>
            </a:r>
            <a:r>
              <a:rPr lang="en-US" altLang="zh-CN" dirty="0"/>
              <a:t>4,</a:t>
            </a:r>
            <a:r>
              <a:rPr lang="zh-CN" altLang="en-US" dirty="0"/>
              <a:t>若值为小数，则向下取整。</a:t>
            </a:r>
            <a:endParaRPr lang="zh-CN" altLang="en-US" dirty="0"/>
          </a:p>
          <a:p>
            <a:pPr algn="l" fontAlgn="base">
              <a:lnSpc>
                <a:spcPts val="2250"/>
              </a:lnSpc>
              <a:spcAft>
                <a:spcPts val="300"/>
              </a:spcAft>
              <a:buNone/>
            </a:pPr>
            <a:r>
              <a:rPr lang="en-US" altLang="zh-CN" dirty="0"/>
              <a:t>	confirm:</a:t>
            </a:r>
            <a:r>
              <a:rPr lang="zh-CN" altLang="en-US" dirty="0"/>
              <a:t>确认按钮的文本内容、文本色、按钮背景色和点击回调。</a:t>
            </a:r>
            <a:br>
              <a:rPr lang="zh-CN" altLang="en-US" dirty="0"/>
            </a:br>
            <a:endParaRPr lang="zh-CN" altLang="en-US" dirty="0"/>
          </a:p>
        </p:txBody>
      </p:sp>
      <p:sp>
        <p:nvSpPr>
          <p:cNvPr id="3" name="文本框 2"/>
          <p:cNvSpPr txBox="1"/>
          <p:nvPr/>
        </p:nvSpPr>
        <p:spPr>
          <a:xfrm>
            <a:off x="420186" y="823417"/>
            <a:ext cx="1642572" cy="461665"/>
          </a:xfrm>
          <a:prstGeom prst="rect">
            <a:avLst/>
          </a:prstGeom>
          <a:noFill/>
        </p:spPr>
        <p:txBody>
          <a:bodyPr wrap="square">
            <a:spAutoFit/>
          </a:bodyPr>
          <a:lstStyle/>
          <a:p>
            <a:r>
              <a:rPr lang="zh-CN" altLang="en-US" dirty="0"/>
              <a:t>警告弹窗</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警告弹窗</a:t>
            </a:r>
            <a:endParaRPr lang="en-US" altLang="zh-CN" dirty="0"/>
          </a:p>
        </p:txBody>
      </p:sp>
      <p:pic>
        <p:nvPicPr>
          <p:cNvPr id="4" name="图片 3"/>
          <p:cNvPicPr>
            <a:picLocks noChangeAspect="1"/>
          </p:cNvPicPr>
          <p:nvPr/>
        </p:nvPicPr>
        <p:blipFill>
          <a:blip r:embed="rId1"/>
          <a:stretch>
            <a:fillRect/>
          </a:stretch>
        </p:blipFill>
        <p:spPr>
          <a:xfrm>
            <a:off x="5796012" y="1629594"/>
            <a:ext cx="2686425" cy="3953427"/>
          </a:xfrm>
          <a:prstGeom prst="rect">
            <a:avLst/>
          </a:prstGeom>
        </p:spPr>
      </p:pic>
      <p:pic>
        <p:nvPicPr>
          <p:cNvPr id="8" name="图片 7"/>
          <p:cNvPicPr>
            <a:picLocks noChangeAspect="1"/>
          </p:cNvPicPr>
          <p:nvPr/>
        </p:nvPicPr>
        <p:blipFill>
          <a:blip r:embed="rId2"/>
          <a:stretch>
            <a:fillRect/>
          </a:stretch>
        </p:blipFill>
        <p:spPr>
          <a:xfrm>
            <a:off x="8759502" y="1629594"/>
            <a:ext cx="2686425" cy="3991532"/>
          </a:xfrm>
          <a:prstGeom prst="rect">
            <a:avLst/>
          </a:prstGeom>
        </p:spPr>
      </p:pic>
      <p:pic>
        <p:nvPicPr>
          <p:cNvPr id="10" name="图片 9"/>
          <p:cNvPicPr>
            <a:picLocks noChangeAspect="1"/>
          </p:cNvPicPr>
          <p:nvPr/>
        </p:nvPicPr>
        <p:blipFill>
          <a:blip r:embed="rId3"/>
          <a:stretch>
            <a:fillRect/>
          </a:stretch>
        </p:blipFill>
        <p:spPr>
          <a:xfrm>
            <a:off x="910630" y="1272271"/>
            <a:ext cx="4382954" cy="50279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70670" y="1721634"/>
            <a:ext cx="11350040" cy="3416320"/>
          </a:xfrm>
          <a:prstGeom prst="rect">
            <a:avLst/>
          </a:prstGeom>
          <a:noFill/>
        </p:spPr>
        <p:txBody>
          <a:bodyPr wrap="square">
            <a:spAutoFit/>
          </a:bodyPr>
          <a:lstStyle/>
          <a:p>
            <a:r>
              <a:rPr lang="en-US" altLang="zh-CN" dirty="0" err="1"/>
              <a:t>ActionSheet</a:t>
            </a:r>
            <a:r>
              <a:rPr lang="zh-CN" altLang="en-US" dirty="0"/>
              <a:t>构造参数如下：</a:t>
            </a:r>
            <a:endParaRPr lang="zh-CN" altLang="en-US" dirty="0"/>
          </a:p>
          <a:p>
            <a:r>
              <a:rPr lang="en-US" altLang="zh-CN" dirty="0"/>
              <a:t>	title:</a:t>
            </a:r>
            <a:r>
              <a:rPr lang="zh-CN" altLang="en-US" dirty="0"/>
              <a:t>弹窗标题。</a:t>
            </a:r>
            <a:endParaRPr lang="zh-CN" altLang="en-US" dirty="0"/>
          </a:p>
          <a:p>
            <a:r>
              <a:rPr lang="en-US" altLang="zh-CN" dirty="0"/>
              <a:t>	message:</a:t>
            </a:r>
            <a:r>
              <a:rPr lang="zh-CN" altLang="en-US" dirty="0"/>
              <a:t>弹框内容。</a:t>
            </a:r>
            <a:endParaRPr lang="zh-CN" altLang="en-US" dirty="0"/>
          </a:p>
          <a:p>
            <a:r>
              <a:rPr lang="en-US" altLang="zh-CN" dirty="0"/>
              <a:t>	confirm:</a:t>
            </a:r>
            <a:r>
              <a:rPr lang="zh-CN" altLang="en-US" dirty="0"/>
              <a:t>确认按钮的文本内容、文本色、按钮背景色和点击回调。</a:t>
            </a:r>
            <a:endParaRPr lang="zh-CN" altLang="en-US" dirty="0"/>
          </a:p>
          <a:p>
            <a:r>
              <a:rPr lang="en-US" altLang="zh-CN" dirty="0"/>
              <a:t>	cancel:</a:t>
            </a:r>
            <a:r>
              <a:rPr lang="zh-CN" altLang="en-US" dirty="0"/>
              <a:t>点击遮障层关闭</a:t>
            </a:r>
            <a:r>
              <a:rPr lang="en-US" altLang="zh-CN" dirty="0"/>
              <a:t>dialog</a:t>
            </a:r>
            <a:r>
              <a:rPr lang="zh-CN" altLang="en-US" dirty="0"/>
              <a:t>时的回调。</a:t>
            </a:r>
            <a:endParaRPr lang="zh-CN" altLang="en-US" dirty="0"/>
          </a:p>
          <a:p>
            <a:r>
              <a:rPr lang="en-US" altLang="zh-CN" dirty="0"/>
              <a:t>	</a:t>
            </a:r>
            <a:r>
              <a:rPr lang="en-US" altLang="zh-CN" dirty="0" err="1"/>
              <a:t>autoCancel</a:t>
            </a:r>
            <a:r>
              <a:rPr lang="en-US" altLang="zh-CN" dirty="0"/>
              <a:t>:</a:t>
            </a:r>
            <a:r>
              <a:rPr lang="zh-CN" altLang="en-US" dirty="0"/>
              <a:t>点击遮障层时，是否关闭弹窗。默认值</a:t>
            </a:r>
            <a:r>
              <a:rPr lang="en-US" altLang="zh-CN" dirty="0"/>
              <a:t>true</a:t>
            </a:r>
            <a:r>
              <a:rPr lang="zh-CN" altLang="en-US" dirty="0"/>
              <a:t>。</a:t>
            </a:r>
            <a:endParaRPr lang="zh-CN" altLang="en-US" dirty="0"/>
          </a:p>
          <a:p>
            <a:r>
              <a:rPr lang="en-US" altLang="zh-CN" dirty="0"/>
              <a:t>	alignment:</a:t>
            </a:r>
            <a:r>
              <a:rPr lang="zh-CN" altLang="en-US" dirty="0"/>
              <a:t>弹窗在垂直方向上的对齐方式。</a:t>
            </a:r>
            <a:endParaRPr lang="zh-CN" altLang="en-US" dirty="0"/>
          </a:p>
          <a:p>
            <a:r>
              <a:rPr lang="en-US" altLang="zh-CN" dirty="0"/>
              <a:t>	offset:</a:t>
            </a:r>
            <a:r>
              <a:rPr lang="zh-CN" altLang="en-US" dirty="0"/>
              <a:t>弹窗相对</a:t>
            </a:r>
            <a:r>
              <a:rPr lang="en-US" altLang="zh-CN" dirty="0"/>
              <a:t>alignment</a:t>
            </a:r>
            <a:r>
              <a:rPr lang="zh-CN" altLang="en-US" dirty="0"/>
              <a:t>所在位置的偏移量。</a:t>
            </a:r>
            <a:endParaRPr lang="zh-CN" altLang="en-US" dirty="0"/>
          </a:p>
          <a:p>
            <a:r>
              <a:rPr lang="en-US" altLang="zh-CN" dirty="0"/>
              <a:t>	sheets:</a:t>
            </a:r>
            <a:r>
              <a:rPr lang="zh-CN" altLang="en-US" dirty="0"/>
              <a:t>设置选项内容，每个选择项支持设置图片、文本和选中的回调。</a:t>
            </a:r>
            <a:endParaRPr lang="zh-CN" altLang="en-US" dirty="0"/>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列表选择弹窗</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警告弹窗</a:t>
            </a:r>
            <a:endParaRPr lang="en-US" altLang="zh-CN" dirty="0"/>
          </a:p>
        </p:txBody>
      </p:sp>
      <p:pic>
        <p:nvPicPr>
          <p:cNvPr id="5" name="图片 4"/>
          <p:cNvPicPr>
            <a:picLocks noChangeAspect="1"/>
          </p:cNvPicPr>
          <p:nvPr/>
        </p:nvPicPr>
        <p:blipFill>
          <a:blip r:embed="rId1"/>
          <a:srcRect b="41388"/>
          <a:stretch>
            <a:fillRect/>
          </a:stretch>
        </p:blipFill>
        <p:spPr>
          <a:xfrm>
            <a:off x="417835" y="2434205"/>
            <a:ext cx="3052070" cy="3059242"/>
          </a:xfrm>
          <a:prstGeom prst="rect">
            <a:avLst/>
          </a:prstGeom>
        </p:spPr>
      </p:pic>
      <p:pic>
        <p:nvPicPr>
          <p:cNvPr id="9" name="图片 8"/>
          <p:cNvPicPr>
            <a:picLocks noChangeAspect="1"/>
          </p:cNvPicPr>
          <p:nvPr/>
        </p:nvPicPr>
        <p:blipFill>
          <a:blip r:embed="rId1"/>
          <a:srcRect t="58541"/>
          <a:stretch>
            <a:fillRect/>
          </a:stretch>
        </p:blipFill>
        <p:spPr>
          <a:xfrm>
            <a:off x="3469905" y="2565698"/>
            <a:ext cx="3943900" cy="2796256"/>
          </a:xfrm>
          <a:prstGeom prst="rect">
            <a:avLst/>
          </a:prstGeom>
        </p:spPr>
      </p:pic>
      <p:pic>
        <p:nvPicPr>
          <p:cNvPr id="12" name="图片 11"/>
          <p:cNvPicPr>
            <a:picLocks noChangeAspect="1"/>
          </p:cNvPicPr>
          <p:nvPr/>
        </p:nvPicPr>
        <p:blipFill>
          <a:blip r:embed="rId2"/>
          <a:stretch>
            <a:fillRect/>
          </a:stretch>
        </p:blipFill>
        <p:spPr>
          <a:xfrm>
            <a:off x="8096022" y="3199071"/>
            <a:ext cx="3067478" cy="2438740"/>
          </a:xfrm>
          <a:prstGeom prst="rect">
            <a:avLst/>
          </a:prstGeom>
        </p:spPr>
      </p:pic>
      <p:pic>
        <p:nvPicPr>
          <p:cNvPr id="14" name="图片 13"/>
          <p:cNvPicPr>
            <a:picLocks noChangeAspect="1"/>
          </p:cNvPicPr>
          <p:nvPr/>
        </p:nvPicPr>
        <p:blipFill>
          <a:blip r:embed="rId3"/>
          <a:stretch>
            <a:fillRect/>
          </a:stretch>
        </p:blipFill>
        <p:spPr>
          <a:xfrm>
            <a:off x="8096022" y="2307583"/>
            <a:ext cx="3067478" cy="72400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70670" y="1721634"/>
            <a:ext cx="11350040" cy="4791696"/>
          </a:xfrm>
          <a:prstGeom prst="rect">
            <a:avLst/>
          </a:prstGeom>
          <a:noFill/>
        </p:spPr>
        <p:txBody>
          <a:bodyPr wrap="square">
            <a:spAutoFit/>
          </a:bodyPr>
          <a:lstStyle/>
          <a:p>
            <a:pPr algn="l" fontAlgn="base">
              <a:lnSpc>
                <a:spcPts val="2250"/>
              </a:lnSpc>
              <a:spcAft>
                <a:spcPts val="300"/>
              </a:spcAft>
              <a:buNone/>
            </a:pPr>
            <a:r>
              <a:rPr lang="en-US" altLang="zh-CN" b="0" i="0" dirty="0" err="1">
                <a:solidFill>
                  <a:srgbClr val="343434"/>
                </a:solidFill>
                <a:effectLst/>
                <a:latin typeface="PingFang SC"/>
              </a:rPr>
              <a:t>DatePickerDialog</a:t>
            </a:r>
            <a:r>
              <a:rPr lang="zh-CN" altLang="en-US" b="0" i="0" dirty="0">
                <a:solidFill>
                  <a:srgbClr val="343434"/>
                </a:solidFill>
                <a:effectLst/>
                <a:latin typeface="PingFang SC"/>
              </a:rPr>
              <a:t>构造参数如下</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start:</a:t>
            </a:r>
            <a:r>
              <a:rPr lang="zh-CN" altLang="en-US" b="0" i="0" dirty="0">
                <a:solidFill>
                  <a:srgbClr val="343434"/>
                </a:solidFill>
                <a:effectLst/>
                <a:latin typeface="PingFang SC"/>
              </a:rPr>
              <a:t>设置选择器的起始日期，默认值为</a:t>
            </a:r>
            <a:r>
              <a:rPr lang="en-US" altLang="zh-CN" b="0" i="0" dirty="0">
                <a:solidFill>
                  <a:srgbClr val="343434"/>
                </a:solidFill>
                <a:effectLst/>
                <a:latin typeface="PingFang SC"/>
              </a:rPr>
              <a:t>Date(“1970-1-1”)</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end:</a:t>
            </a:r>
            <a:r>
              <a:rPr lang="zh-CN" altLang="en-US" b="0" i="0" dirty="0">
                <a:solidFill>
                  <a:srgbClr val="343434"/>
                </a:solidFill>
                <a:effectLst/>
                <a:latin typeface="PingFang SC"/>
              </a:rPr>
              <a:t>设置选择器的结束日期，默认值为</a:t>
            </a:r>
            <a:r>
              <a:rPr lang="en-US" altLang="zh-CN" b="0" i="0" dirty="0">
                <a:solidFill>
                  <a:srgbClr val="343434"/>
                </a:solidFill>
                <a:effectLst/>
                <a:latin typeface="PingFang SC"/>
              </a:rPr>
              <a:t>Date(“2100-12-31”)</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selected:</a:t>
            </a:r>
            <a:r>
              <a:rPr lang="zh-CN" altLang="en-US" b="0" i="0" dirty="0">
                <a:solidFill>
                  <a:srgbClr val="343434"/>
                </a:solidFill>
                <a:effectLst/>
                <a:latin typeface="PingFang SC"/>
              </a:rPr>
              <a:t>设置当前选中的日期，默认值为系统当前时间。</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a:solidFill>
                  <a:srgbClr val="343434"/>
                </a:solidFill>
                <a:effectLst/>
                <a:latin typeface="PingFang SC"/>
              </a:rPr>
              <a:t>lunar:</a:t>
            </a:r>
            <a:r>
              <a:rPr lang="zh-CN" altLang="en-US" b="0" i="0" dirty="0">
                <a:solidFill>
                  <a:srgbClr val="343434"/>
                </a:solidFill>
                <a:effectLst/>
                <a:latin typeface="PingFang SC"/>
              </a:rPr>
              <a:t>日期是否显示为农历，默认值为</a:t>
            </a:r>
            <a:r>
              <a:rPr lang="en-US" altLang="zh-CN" b="0" i="0" dirty="0">
                <a:solidFill>
                  <a:srgbClr val="343434"/>
                </a:solidFill>
                <a:effectLst/>
                <a:latin typeface="PingFang SC"/>
              </a:rPr>
              <a:t>false</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onAccept</a:t>
            </a:r>
            <a:r>
              <a:rPr lang="en-US" altLang="zh-CN" b="0" i="0" dirty="0">
                <a:solidFill>
                  <a:srgbClr val="343434"/>
                </a:solidFill>
                <a:effectLst/>
                <a:latin typeface="PingFang SC"/>
              </a:rPr>
              <a:t>:</a:t>
            </a:r>
            <a:r>
              <a:rPr lang="zh-CN" altLang="en-US" b="0" i="0" dirty="0">
                <a:solidFill>
                  <a:srgbClr val="343434"/>
                </a:solidFill>
                <a:effectLst/>
                <a:latin typeface="PingFang SC"/>
              </a:rPr>
              <a:t>点击弹窗中的“确定”按钮时触发该回调。</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a:solidFill>
                  <a:srgbClr val="343434"/>
                </a:solidFill>
                <a:effectLst/>
                <a:latin typeface="PingFang SC"/>
              </a:rPr>
              <a:t>	</a:t>
            </a:r>
            <a:r>
              <a:rPr lang="en-US" altLang="zh-CN" b="0" i="0" dirty="0" err="1">
                <a:solidFill>
                  <a:srgbClr val="343434"/>
                </a:solidFill>
                <a:effectLst/>
                <a:latin typeface="PingFang SC"/>
              </a:rPr>
              <a:t>onCancel</a:t>
            </a:r>
            <a:r>
              <a:rPr lang="en-US" altLang="zh-CN" b="0" i="0" dirty="0">
                <a:solidFill>
                  <a:srgbClr val="343434"/>
                </a:solidFill>
                <a:effectLst/>
                <a:latin typeface="PingFang SC"/>
              </a:rPr>
              <a:t>:</a:t>
            </a:r>
            <a:r>
              <a:rPr lang="zh-CN" altLang="en-US" b="0" i="0" dirty="0">
                <a:solidFill>
                  <a:srgbClr val="343434"/>
                </a:solidFill>
                <a:effectLst/>
                <a:latin typeface="PingFang SC"/>
              </a:rPr>
              <a:t>点击弹窗中的“取消”按钮时触发该回调。</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pPr>
            <a:r>
              <a:rPr lang="en-US" altLang="zh-CN" b="0" i="0" dirty="0">
                <a:solidFill>
                  <a:srgbClr val="343434"/>
                </a:solidFill>
                <a:effectLst/>
                <a:latin typeface="PingFang SC"/>
              </a:rPr>
              <a:t>	</a:t>
            </a:r>
            <a:r>
              <a:rPr lang="en-US" altLang="zh-CN" b="0" i="0" dirty="0" err="1">
                <a:solidFill>
                  <a:srgbClr val="343434"/>
                </a:solidFill>
                <a:effectLst/>
                <a:latin typeface="PingFang SC"/>
              </a:rPr>
              <a:t>onChange</a:t>
            </a:r>
            <a:r>
              <a:rPr lang="en-US" altLang="zh-CN" b="0" i="0" dirty="0">
                <a:solidFill>
                  <a:srgbClr val="343434"/>
                </a:solidFill>
                <a:effectLst/>
                <a:latin typeface="PingFang SC"/>
              </a:rPr>
              <a:t>:</a:t>
            </a:r>
            <a:r>
              <a:rPr lang="zh-CN" altLang="en-US" b="0" i="0" dirty="0">
                <a:solidFill>
                  <a:srgbClr val="343434"/>
                </a:solidFill>
                <a:effectLst/>
                <a:latin typeface="PingFang SC"/>
              </a:rPr>
              <a:t>滑动弹窗中的滑动选择器使当前选中项改变时触发该回调。</a:t>
            </a:r>
            <a:endParaRPr lang="zh-CN" altLang="en-US" b="0" i="0" dirty="0">
              <a:solidFill>
                <a:srgbClr val="343434"/>
              </a:solidFill>
              <a:effectLst/>
              <a:latin typeface="PingFang SC"/>
            </a:endParaRP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日期选择弹窗</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警告弹窗</a:t>
            </a:r>
            <a:endParaRPr lang="en-US" altLang="zh-CN" dirty="0"/>
          </a:p>
        </p:txBody>
      </p:sp>
      <p:pic>
        <p:nvPicPr>
          <p:cNvPr id="4" name="图片 3"/>
          <p:cNvPicPr>
            <a:picLocks noChangeAspect="1"/>
          </p:cNvPicPr>
          <p:nvPr/>
        </p:nvPicPr>
        <p:blipFill>
          <a:blip r:embed="rId1"/>
          <a:stretch>
            <a:fillRect/>
          </a:stretch>
        </p:blipFill>
        <p:spPr>
          <a:xfrm>
            <a:off x="190550" y="2020960"/>
            <a:ext cx="7551533" cy="3635698"/>
          </a:xfrm>
          <a:prstGeom prst="rect">
            <a:avLst/>
          </a:prstGeom>
        </p:spPr>
      </p:pic>
      <p:pic>
        <p:nvPicPr>
          <p:cNvPr id="11" name="图片 10"/>
          <p:cNvPicPr>
            <a:picLocks noChangeAspect="1"/>
          </p:cNvPicPr>
          <p:nvPr/>
        </p:nvPicPr>
        <p:blipFill>
          <a:blip r:embed="rId2"/>
          <a:stretch>
            <a:fillRect/>
          </a:stretch>
        </p:blipFill>
        <p:spPr>
          <a:xfrm>
            <a:off x="7741357" y="1125538"/>
            <a:ext cx="4258506" cy="529551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2206774" y="909515"/>
            <a:ext cx="11278032" cy="5681042"/>
          </a:xfrm>
          <a:prstGeom prst="rect">
            <a:avLst/>
          </a:prstGeom>
          <a:noFill/>
        </p:spPr>
        <p:txBody>
          <a:bodyPr wrap="square">
            <a:spAutoFit/>
          </a:bodyPr>
          <a:lstStyle/>
          <a:p>
            <a:pPr algn="l" fontAlgn="base">
              <a:lnSpc>
                <a:spcPct val="150000"/>
              </a:lnSpc>
              <a:spcAft>
                <a:spcPts val="300"/>
              </a:spcAft>
              <a:buNone/>
            </a:pPr>
            <a:r>
              <a:rPr lang="en-US" altLang="zh-CN" sz="2000" b="0" i="0" dirty="0" err="1">
                <a:solidFill>
                  <a:srgbClr val="343434"/>
                </a:solidFill>
                <a:effectLst/>
                <a:latin typeface="PingFang SC"/>
              </a:rPr>
              <a:t>CustomDialogController</a:t>
            </a:r>
            <a:r>
              <a:rPr lang="en-US" altLang="zh-CN" sz="2000" b="0" i="0" dirty="0">
                <a:solidFill>
                  <a:srgbClr val="343434"/>
                </a:solidFill>
                <a:effectLst/>
                <a:latin typeface="PingFang SC"/>
              </a:rPr>
              <a:t> </a:t>
            </a:r>
            <a:r>
              <a:rPr lang="zh-CN" altLang="en-US" sz="2000" b="0" i="0" dirty="0">
                <a:solidFill>
                  <a:srgbClr val="343434"/>
                </a:solidFill>
                <a:effectLst/>
                <a:latin typeface="PingFang SC"/>
              </a:rPr>
              <a:t>构造参数：</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err="1">
                <a:solidFill>
                  <a:srgbClr val="343434"/>
                </a:solidFill>
                <a:effectLst/>
                <a:latin typeface="PingFang SC"/>
              </a:rPr>
              <a:t>CustomDialogController</a:t>
            </a:r>
            <a:r>
              <a:rPr lang="en-US" altLang="zh-CN" sz="2000" b="0" i="0" dirty="0">
                <a:solidFill>
                  <a:srgbClr val="343434"/>
                </a:solidFill>
                <a:effectLst/>
                <a:latin typeface="PingFang SC"/>
              </a:rPr>
              <a:t> </a:t>
            </a:r>
            <a:r>
              <a:rPr lang="zh-CN" altLang="en-US" sz="2000" b="0" i="0" dirty="0">
                <a:solidFill>
                  <a:srgbClr val="343434"/>
                </a:solidFill>
                <a:effectLst/>
                <a:latin typeface="PingFang SC"/>
              </a:rPr>
              <a:t>的创建需要 </a:t>
            </a:r>
            <a:r>
              <a:rPr lang="en-US" altLang="zh-CN" sz="2000" b="0" i="0" dirty="0" err="1">
                <a:solidFill>
                  <a:srgbClr val="343434"/>
                </a:solidFill>
                <a:effectLst/>
                <a:latin typeface="PingFang SC"/>
              </a:rPr>
              <a:t>CustomDialogControllerOptions</a:t>
            </a:r>
            <a:r>
              <a:rPr lang="en-US" altLang="zh-CN" sz="2000" b="0" i="0" dirty="0">
                <a:solidFill>
                  <a:srgbClr val="343434"/>
                </a:solidFill>
                <a:effectLst/>
                <a:latin typeface="PingFang SC"/>
              </a:rPr>
              <a:t> </a:t>
            </a:r>
            <a:r>
              <a:rPr lang="zh-CN" altLang="en-US" sz="2000" b="0" i="0" dirty="0">
                <a:solidFill>
                  <a:srgbClr val="343434"/>
                </a:solidFill>
                <a:effectLst/>
                <a:latin typeface="PingFang SC"/>
              </a:rPr>
              <a:t>对象：</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a:solidFill>
                  <a:srgbClr val="343434"/>
                </a:solidFill>
                <a:effectLst/>
                <a:latin typeface="PingFang SC"/>
              </a:rPr>
              <a:t>builder</a:t>
            </a:r>
            <a:r>
              <a:rPr lang="zh-CN" altLang="en-US" sz="2000" b="0" i="0" dirty="0">
                <a:solidFill>
                  <a:srgbClr val="343434"/>
                </a:solidFill>
                <a:effectLst/>
                <a:latin typeface="PingFang SC"/>
              </a:rPr>
              <a:t>：自定义弹窗内容构造器。</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a:solidFill>
                  <a:srgbClr val="343434"/>
                </a:solidFill>
                <a:effectLst/>
                <a:latin typeface="PingFang SC"/>
              </a:rPr>
              <a:t>cancel()</a:t>
            </a:r>
            <a:r>
              <a:rPr lang="zh-CN" altLang="en-US" sz="2000" b="0" i="0" dirty="0">
                <a:solidFill>
                  <a:srgbClr val="343434"/>
                </a:solidFill>
                <a:effectLst/>
                <a:latin typeface="PingFang SC"/>
              </a:rPr>
              <a:t>：点击遮障层退出时的回调。</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err="1">
                <a:solidFill>
                  <a:srgbClr val="343434"/>
                </a:solidFill>
                <a:effectLst/>
                <a:latin typeface="PingFang SC"/>
              </a:rPr>
              <a:t>autoCancel</a:t>
            </a:r>
            <a:r>
              <a:rPr lang="zh-CN" altLang="en-US" sz="2000" b="0" i="0" dirty="0">
                <a:solidFill>
                  <a:srgbClr val="343434"/>
                </a:solidFill>
                <a:effectLst/>
                <a:latin typeface="PingFang SC"/>
              </a:rPr>
              <a:t>：是否允许点击遮障层退出，默认值为 </a:t>
            </a:r>
            <a:r>
              <a:rPr lang="en-US" altLang="zh-CN" sz="2000" b="0" i="0" dirty="0">
                <a:solidFill>
                  <a:srgbClr val="343434"/>
                </a:solidFill>
                <a:effectLst/>
                <a:latin typeface="PingFang SC"/>
              </a:rPr>
              <a:t>true</a:t>
            </a:r>
            <a:r>
              <a:rPr lang="zh-CN" altLang="en-US" sz="2000" b="0" i="0" dirty="0">
                <a:solidFill>
                  <a:srgbClr val="343434"/>
                </a:solidFill>
                <a:effectLst/>
                <a:latin typeface="PingFang SC"/>
              </a:rPr>
              <a:t>。</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a:solidFill>
                  <a:srgbClr val="343434"/>
                </a:solidFill>
                <a:effectLst/>
                <a:latin typeface="PingFang SC"/>
              </a:rPr>
              <a:t>alignment</a:t>
            </a:r>
            <a:r>
              <a:rPr lang="zh-CN" altLang="en-US" sz="2000" b="0" i="0" dirty="0">
                <a:solidFill>
                  <a:srgbClr val="343434"/>
                </a:solidFill>
                <a:effectLst/>
                <a:latin typeface="PingFang SC"/>
              </a:rPr>
              <a:t>：弹窗在竖直方向上的对齐方式。</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a:solidFill>
                  <a:srgbClr val="343434"/>
                </a:solidFill>
                <a:effectLst/>
                <a:latin typeface="PingFang SC"/>
              </a:rPr>
              <a:t>offset</a:t>
            </a:r>
            <a:r>
              <a:rPr lang="zh-CN" altLang="en-US" sz="2000" b="0" i="0" dirty="0">
                <a:solidFill>
                  <a:srgbClr val="343434"/>
                </a:solidFill>
                <a:effectLst/>
                <a:latin typeface="PingFang SC"/>
              </a:rPr>
              <a:t>：弹窗相对 </a:t>
            </a:r>
            <a:r>
              <a:rPr lang="en-US" altLang="zh-CN" sz="2000" b="0" i="0" dirty="0">
                <a:solidFill>
                  <a:srgbClr val="343434"/>
                </a:solidFill>
                <a:effectLst/>
                <a:latin typeface="PingFang SC"/>
              </a:rPr>
              <a:t>alignment </a:t>
            </a:r>
            <a:r>
              <a:rPr lang="zh-CN" altLang="en-US" sz="2000" b="0" i="0" dirty="0">
                <a:solidFill>
                  <a:srgbClr val="343434"/>
                </a:solidFill>
                <a:effectLst/>
                <a:latin typeface="PingFang SC"/>
              </a:rPr>
              <a:t>所在位置的偏移量。</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err="1">
                <a:solidFill>
                  <a:srgbClr val="343434"/>
                </a:solidFill>
                <a:effectLst/>
                <a:latin typeface="PingFang SC"/>
              </a:rPr>
              <a:t>customStyle</a:t>
            </a:r>
            <a:r>
              <a:rPr lang="zh-CN" altLang="en-US" sz="2000" b="0" i="0" dirty="0">
                <a:solidFill>
                  <a:srgbClr val="343434"/>
                </a:solidFill>
                <a:effectLst/>
                <a:latin typeface="PingFang SC"/>
              </a:rPr>
              <a:t>：弹窗容器样式是否自定义。</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err="1">
                <a:solidFill>
                  <a:srgbClr val="343434"/>
                </a:solidFill>
                <a:effectLst/>
                <a:latin typeface="PingFang SC"/>
              </a:rPr>
              <a:t>gridCount</a:t>
            </a:r>
            <a:r>
              <a:rPr lang="zh-CN" altLang="en-US" sz="2000" b="0" i="0" dirty="0">
                <a:solidFill>
                  <a:srgbClr val="343434"/>
                </a:solidFill>
                <a:effectLst/>
                <a:latin typeface="PingFang SC"/>
              </a:rPr>
              <a:t>：弹窗宽度占栅格宽度的个数。</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a:solidFill>
                  <a:srgbClr val="343434"/>
                </a:solidFill>
                <a:effectLst/>
                <a:latin typeface="PingFang SC"/>
              </a:rPr>
              <a:t>open()</a:t>
            </a:r>
            <a:r>
              <a:rPr lang="zh-CN" altLang="en-US" sz="2000" b="0" i="0" dirty="0">
                <a:solidFill>
                  <a:srgbClr val="343434"/>
                </a:solidFill>
                <a:effectLst/>
                <a:latin typeface="PingFang SC"/>
              </a:rPr>
              <a:t>：显示自定义弹窗。</a:t>
            </a:r>
            <a:endParaRPr lang="zh-CN" altLang="en-US" sz="2000" b="0" i="0" dirty="0">
              <a:solidFill>
                <a:srgbClr val="343434"/>
              </a:solidFill>
              <a:effectLst/>
              <a:latin typeface="PingFang SC"/>
            </a:endParaRPr>
          </a:p>
          <a:p>
            <a:pPr lvl="1" fontAlgn="base">
              <a:lnSpc>
                <a:spcPct val="150000"/>
              </a:lnSpc>
              <a:spcAft>
                <a:spcPts val="300"/>
              </a:spcAft>
            </a:pPr>
            <a:r>
              <a:rPr lang="en-US" altLang="zh-CN" sz="2000" b="0" i="0" dirty="0">
                <a:solidFill>
                  <a:srgbClr val="343434"/>
                </a:solidFill>
                <a:effectLst/>
                <a:latin typeface="PingFang SC"/>
              </a:rPr>
              <a:t>close()</a:t>
            </a:r>
            <a:r>
              <a:rPr lang="zh-CN" altLang="en-US" sz="2000" b="0" i="0" dirty="0">
                <a:solidFill>
                  <a:srgbClr val="343434"/>
                </a:solidFill>
                <a:effectLst/>
                <a:latin typeface="PingFang SC"/>
              </a:rPr>
              <a:t>：关闭显示的自定义弹窗。</a:t>
            </a:r>
            <a:endParaRPr lang="zh-CN" altLang="en-US" sz="2000" b="0" i="0" dirty="0">
              <a:solidFill>
                <a:srgbClr val="343434"/>
              </a:solidFill>
              <a:effectLst/>
              <a:latin typeface="PingFang SC"/>
            </a:endParaRP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自定义弹窗</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0" y="1701602"/>
            <a:ext cx="11891198" cy="2803332"/>
          </a:xfrm>
          <a:prstGeom prst="rect">
            <a:avLst/>
          </a:prstGeom>
          <a:noFill/>
        </p:spPr>
        <p:txBody>
          <a:bodyPr wrap="square">
            <a:spAutoFit/>
          </a:bodyPr>
          <a:lstStyle/>
          <a:p>
            <a:pPr lvl="1" fontAlgn="base">
              <a:lnSpc>
                <a:spcPct val="150000"/>
              </a:lnSpc>
              <a:spcAft>
                <a:spcPts val="300"/>
              </a:spcAft>
            </a:pPr>
            <a:r>
              <a:rPr lang="en-US" altLang="zh-CN" b="0" i="0" dirty="0" err="1">
                <a:solidFill>
                  <a:srgbClr val="343434"/>
                </a:solidFill>
                <a:effectLst/>
                <a:latin typeface="PingFang SC"/>
              </a:rPr>
              <a:t>CustomArkDialog</a:t>
            </a:r>
            <a:r>
              <a:rPr lang="en-US" altLang="zh-CN" b="0" i="0" dirty="0">
                <a:solidFill>
                  <a:srgbClr val="343434"/>
                </a:solidFill>
                <a:effectLst/>
                <a:latin typeface="PingFang SC"/>
              </a:rPr>
              <a:t> </a:t>
            </a:r>
            <a:r>
              <a:rPr lang="zh-CN" altLang="en-US" b="0" i="0" dirty="0">
                <a:solidFill>
                  <a:srgbClr val="343434"/>
                </a:solidFill>
                <a:effectLst/>
                <a:latin typeface="PingFang SC"/>
              </a:rPr>
              <a:t>的布局很简单，仿照的是 </a:t>
            </a:r>
            <a:r>
              <a:rPr lang="en-US" altLang="zh-CN" b="0" i="0" dirty="0">
                <a:solidFill>
                  <a:srgbClr val="343434"/>
                </a:solidFill>
                <a:effectLst/>
                <a:latin typeface="PingFang SC"/>
              </a:rPr>
              <a:t>iOS </a:t>
            </a:r>
            <a:r>
              <a:rPr lang="zh-CN" altLang="en-US" b="0" i="0" dirty="0">
                <a:solidFill>
                  <a:srgbClr val="343434"/>
                </a:solidFill>
                <a:effectLst/>
                <a:latin typeface="PingFang SC"/>
              </a:rPr>
              <a:t>的低电量弹窗。需要注意的是，用 </a:t>
            </a:r>
            <a:r>
              <a:rPr lang="en-US" altLang="zh-CN" b="0" i="0" dirty="0">
                <a:solidFill>
                  <a:srgbClr val="343434"/>
                </a:solidFill>
                <a:effectLst/>
                <a:latin typeface="PingFang SC"/>
              </a:rPr>
              <a:t>@CustomDialog </a:t>
            </a:r>
            <a:r>
              <a:rPr lang="zh-CN" altLang="en-US" b="0" i="0" dirty="0">
                <a:solidFill>
                  <a:srgbClr val="343434"/>
                </a:solidFill>
                <a:effectLst/>
                <a:latin typeface="PingFang SC"/>
              </a:rPr>
              <a:t>修饰符创建的组件，内部必须要定义一个 </a:t>
            </a:r>
            <a:r>
              <a:rPr lang="en-US" altLang="zh-CN" b="0" i="0" dirty="0" err="1">
                <a:solidFill>
                  <a:srgbClr val="343434"/>
                </a:solidFill>
                <a:effectLst/>
                <a:latin typeface="PingFang SC"/>
              </a:rPr>
              <a:t>CustomDialogController</a:t>
            </a:r>
            <a:r>
              <a:rPr lang="en-US" altLang="zh-CN" b="0" i="0" dirty="0">
                <a:solidFill>
                  <a:srgbClr val="343434"/>
                </a:solidFill>
                <a:effectLst/>
                <a:latin typeface="PingFang SC"/>
              </a:rPr>
              <a:t> </a:t>
            </a:r>
            <a:r>
              <a:rPr lang="zh-CN" altLang="en-US" b="0" i="0" dirty="0">
                <a:solidFill>
                  <a:srgbClr val="343434"/>
                </a:solidFill>
                <a:effectLst/>
                <a:latin typeface="PingFang SC"/>
              </a:rPr>
              <a:t>类型的属性，该属性的初始化由 </a:t>
            </a:r>
            <a:r>
              <a:rPr lang="en-US" altLang="zh-CN" b="0" i="0" dirty="0" err="1">
                <a:solidFill>
                  <a:srgbClr val="343434"/>
                </a:solidFill>
                <a:effectLst/>
                <a:latin typeface="PingFang SC"/>
              </a:rPr>
              <a:t>ArkUI</a:t>
            </a:r>
            <a:r>
              <a:rPr lang="en-US" altLang="zh-CN" b="0" i="0" dirty="0">
                <a:solidFill>
                  <a:srgbClr val="343434"/>
                </a:solidFill>
                <a:effectLst/>
                <a:latin typeface="PingFang SC"/>
              </a:rPr>
              <a:t> </a:t>
            </a:r>
            <a:r>
              <a:rPr lang="zh-CN" altLang="en-US" b="0" i="0" dirty="0">
                <a:solidFill>
                  <a:srgbClr val="343434"/>
                </a:solidFill>
                <a:effectLst/>
                <a:latin typeface="PingFang SC"/>
              </a:rPr>
              <a:t>框架自动完成，不需要开发者手动进行初始化操作。这样做的目的是方便开发者控制弹窗的显示和关闭，另外对属性的访问权限不做要求，如果不定义该属性，在项目编译的时候会出现如下异常：</a:t>
            </a:r>
            <a:endParaRPr lang="zh-CN" altLang="en-US" b="0" i="0" dirty="0">
              <a:solidFill>
                <a:srgbClr val="343434"/>
              </a:solidFill>
              <a:effectLst/>
              <a:latin typeface="PingFang SC"/>
            </a:endParaRPr>
          </a:p>
        </p:txBody>
      </p:sp>
      <p:sp>
        <p:nvSpPr>
          <p:cNvPr id="3" name="文本框 2"/>
          <p:cNvSpPr txBox="1"/>
          <p:nvPr/>
        </p:nvSpPr>
        <p:spPr>
          <a:xfrm>
            <a:off x="420186" y="823417"/>
            <a:ext cx="6093068" cy="461665"/>
          </a:xfrm>
          <a:prstGeom prst="rect">
            <a:avLst/>
          </a:prstGeom>
          <a:noFill/>
        </p:spPr>
        <p:txBody>
          <a:bodyPr wrap="square">
            <a:spAutoFit/>
          </a:bodyPr>
          <a:lstStyle/>
          <a:p>
            <a:r>
              <a:rPr lang="zh-CN" altLang="en-US" dirty="0"/>
              <a:t>自定义弹窗</a:t>
            </a:r>
            <a:endParaRPr lang="en-US" altLang="zh-CN" dirty="0"/>
          </a:p>
        </p:txBody>
      </p:sp>
      <p:pic>
        <p:nvPicPr>
          <p:cNvPr id="4" name="图片 3"/>
          <p:cNvPicPr>
            <a:picLocks noChangeAspect="1"/>
          </p:cNvPicPr>
          <p:nvPr/>
        </p:nvPicPr>
        <p:blipFill>
          <a:blip r:embed="rId1"/>
          <a:stretch>
            <a:fillRect/>
          </a:stretch>
        </p:blipFill>
        <p:spPr>
          <a:xfrm>
            <a:off x="107908" y="4874018"/>
            <a:ext cx="11974596" cy="10383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特殊组件：弹窗组件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文本框 2"/>
          <p:cNvSpPr txBox="1"/>
          <p:nvPr/>
        </p:nvSpPr>
        <p:spPr>
          <a:xfrm>
            <a:off x="190550" y="1104129"/>
            <a:ext cx="7551532" cy="830997"/>
          </a:xfrm>
          <a:prstGeom prst="rect">
            <a:avLst/>
          </a:prstGeom>
          <a:noFill/>
        </p:spPr>
        <p:txBody>
          <a:bodyPr wrap="square">
            <a:spAutoFit/>
          </a:bodyPr>
          <a:lstStyle/>
          <a:p>
            <a:r>
              <a:rPr lang="zh-CN" altLang="en-US" dirty="0"/>
              <a:t>定义完</a:t>
            </a:r>
            <a:r>
              <a:rPr lang="en-US" altLang="zh-CN" dirty="0" err="1"/>
              <a:t>CustomArkDialog</a:t>
            </a:r>
            <a:r>
              <a:rPr lang="zh-CN" altLang="en-US" dirty="0"/>
              <a:t>后，使用</a:t>
            </a:r>
            <a:r>
              <a:rPr lang="en-US" altLang="zh-CN" dirty="0" err="1"/>
              <a:t>CustomDialogController</a:t>
            </a:r>
            <a:r>
              <a:rPr lang="zh-CN" altLang="en-US" dirty="0"/>
              <a:t>来创建自定义弹框。示例代码如下所示：</a:t>
            </a:r>
            <a:endParaRPr lang="en-US" altLang="zh-CN" dirty="0"/>
          </a:p>
        </p:txBody>
      </p:sp>
      <p:pic>
        <p:nvPicPr>
          <p:cNvPr id="5" name="图片 4"/>
          <p:cNvPicPr>
            <a:picLocks noChangeAspect="1"/>
          </p:cNvPicPr>
          <p:nvPr/>
        </p:nvPicPr>
        <p:blipFill>
          <a:blip r:embed="rId1"/>
          <a:stretch>
            <a:fillRect/>
          </a:stretch>
        </p:blipFill>
        <p:spPr>
          <a:xfrm>
            <a:off x="897315" y="1845618"/>
            <a:ext cx="5547756" cy="4902112"/>
          </a:xfrm>
          <a:prstGeom prst="rect">
            <a:avLst/>
          </a:prstGeom>
        </p:spPr>
      </p:pic>
      <p:pic>
        <p:nvPicPr>
          <p:cNvPr id="8" name="图片 7"/>
          <p:cNvPicPr>
            <a:picLocks noChangeAspect="1"/>
          </p:cNvPicPr>
          <p:nvPr/>
        </p:nvPicPr>
        <p:blipFill>
          <a:blip r:embed="rId2"/>
          <a:stretch>
            <a:fillRect/>
          </a:stretch>
        </p:blipFill>
        <p:spPr>
          <a:xfrm>
            <a:off x="7823398" y="2061642"/>
            <a:ext cx="2991267" cy="40105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694606" y="1053530"/>
            <a:ext cx="9937104" cy="5262979"/>
          </a:xfrm>
          <a:prstGeom prst="rect">
            <a:avLst/>
          </a:prstGeom>
          <a:noFill/>
        </p:spPr>
        <p:txBody>
          <a:bodyPr wrap="square">
            <a:spAutoFit/>
          </a:bodyPr>
          <a:lstStyle/>
          <a:p>
            <a:pPr algn="just"/>
            <a:r>
              <a:rPr lang="en-US" altLang="zh-CN" dirty="0"/>
              <a:t>         </a:t>
            </a:r>
            <a:r>
              <a:rPr lang="zh-CN" altLang="en-US" dirty="0"/>
              <a:t>主要介绍滑动条组件、评分条组件、滚动组件、下拉列表、轮播组件和下拉刷新，这些组件可以让页面内容更加丰富。</a:t>
            </a:r>
            <a:endParaRPr lang="en-US" altLang="zh-CN" dirty="0"/>
          </a:p>
          <a:p>
            <a:pPr algn="just"/>
            <a:r>
              <a:rPr lang="zh-CN" altLang="en-US" dirty="0"/>
              <a:t>         滑动条组件是常用的交互组件，可以让用户调整音量、亮度、选择年龄、价格等。</a:t>
            </a:r>
            <a:endParaRPr lang="en-US" altLang="zh-CN" dirty="0"/>
          </a:p>
          <a:p>
            <a:pPr algn="just"/>
            <a:r>
              <a:rPr lang="zh-CN" altLang="en-US" dirty="0"/>
              <a:t>         评分条组件是常见的评价和打分工具，用户可以通过点击星星或其他图标进行评分。</a:t>
            </a:r>
            <a:endParaRPr lang="en-US" altLang="zh-CN" dirty="0"/>
          </a:p>
          <a:p>
            <a:pPr algn="just"/>
            <a:r>
              <a:rPr lang="zh-CN" altLang="en-US" dirty="0"/>
              <a:t>         滚动组件可以让页面内容在有限的空间内进行滚动展示，节省页面空间，如展示长文本、图片、表格等内容。</a:t>
            </a:r>
            <a:endParaRPr lang="en-US" altLang="zh-CN" dirty="0"/>
          </a:p>
          <a:p>
            <a:pPr algn="just"/>
            <a:r>
              <a:rPr lang="zh-CN" altLang="en-US" dirty="0"/>
              <a:t>         下拉列表是常见的选择工具，用户可以从多个选项中选择一个或多个选项，如选择城市、日期、颜色等。</a:t>
            </a:r>
            <a:endParaRPr lang="en-US" altLang="zh-CN" dirty="0"/>
          </a:p>
          <a:p>
            <a:pPr algn="just"/>
            <a:r>
              <a:rPr lang="zh-CN" altLang="en-US" dirty="0"/>
              <a:t>         轮播组件可以让多张图片或内容在同一位置进行轮流展示，如展示广告、新闻、产品等内容。</a:t>
            </a:r>
            <a:endParaRPr lang="en-US" altLang="zh-CN" dirty="0"/>
          </a:p>
          <a:p>
            <a:pPr algn="just"/>
            <a:r>
              <a:rPr lang="zh-CN" altLang="en-US" dirty="0"/>
              <a:t>这些组件的设计和使用需要考虑到各种因素，如评分方式、滚动方式、选项样式、轮播方式、刷新方式等，以提高用户的体验和效率。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694606" y="1053530"/>
            <a:ext cx="9937104" cy="4524315"/>
          </a:xfrm>
          <a:prstGeom prst="rect">
            <a:avLst/>
          </a:prstGeom>
          <a:noFill/>
        </p:spPr>
        <p:txBody>
          <a:bodyPr wrap="square">
            <a:spAutoFit/>
          </a:bodyPr>
          <a:lstStyle/>
          <a:p>
            <a:pPr algn="just"/>
            <a:r>
              <a:rPr lang="en-US" altLang="zh-CN" dirty="0"/>
              <a:t>Slider</a:t>
            </a:r>
            <a:r>
              <a:rPr lang="zh-CN" altLang="en-US" dirty="0"/>
              <a:t>构造参数</a:t>
            </a:r>
            <a:endParaRPr lang="zh-CN" altLang="en-US" dirty="0"/>
          </a:p>
          <a:p>
            <a:pPr lvl="1" algn="just"/>
            <a:r>
              <a:rPr lang="en-US" altLang="zh-CN" dirty="0" err="1"/>
              <a:t>options:Slider</a:t>
            </a:r>
            <a:r>
              <a:rPr lang="zh-CN" altLang="en-US" dirty="0"/>
              <a:t>接收一个</a:t>
            </a:r>
            <a:r>
              <a:rPr lang="en-US" altLang="zh-CN" dirty="0" err="1"/>
              <a:t>SliderOptions</a:t>
            </a:r>
            <a:r>
              <a:rPr lang="zh-CN" altLang="en-US" dirty="0"/>
              <a:t>类型的可选参数，</a:t>
            </a:r>
            <a:r>
              <a:rPr lang="en-US" altLang="zh-CN" dirty="0" err="1"/>
              <a:t>SliderOptions</a:t>
            </a:r>
            <a:r>
              <a:rPr lang="zh-CN" altLang="en-US" dirty="0"/>
              <a:t>参数说明如下：</a:t>
            </a:r>
            <a:endParaRPr lang="en-US" altLang="zh-CN" dirty="0"/>
          </a:p>
          <a:p>
            <a:pPr lvl="2" algn="just"/>
            <a:r>
              <a:rPr lang="en-US" altLang="zh-CN" dirty="0"/>
              <a:t>value:</a:t>
            </a:r>
            <a:r>
              <a:rPr lang="zh-CN" altLang="en-US" dirty="0"/>
              <a:t>滑动条当前进度值，默认值为</a:t>
            </a:r>
            <a:r>
              <a:rPr lang="en-US" altLang="zh-CN" dirty="0"/>
              <a:t>0</a:t>
            </a:r>
            <a:r>
              <a:rPr lang="zh-CN" altLang="en-US" dirty="0"/>
              <a:t>。</a:t>
            </a:r>
            <a:endParaRPr lang="zh-CN" altLang="en-US" dirty="0"/>
          </a:p>
          <a:p>
            <a:pPr lvl="2" algn="just"/>
            <a:r>
              <a:rPr lang="en-US" altLang="zh-CN" dirty="0"/>
              <a:t>min:</a:t>
            </a:r>
            <a:r>
              <a:rPr lang="zh-CN" altLang="en-US" dirty="0"/>
              <a:t>设置滑动条设置最小值，默认值为</a:t>
            </a:r>
            <a:r>
              <a:rPr lang="en-US" altLang="zh-CN" dirty="0"/>
              <a:t>0</a:t>
            </a:r>
            <a:r>
              <a:rPr lang="zh-CN" altLang="en-US" dirty="0"/>
              <a:t>。</a:t>
            </a:r>
            <a:endParaRPr lang="zh-CN" altLang="en-US" dirty="0"/>
          </a:p>
          <a:p>
            <a:pPr lvl="2" algn="just"/>
            <a:r>
              <a:rPr lang="en-US" altLang="zh-CN" dirty="0"/>
              <a:t>max:</a:t>
            </a:r>
            <a:r>
              <a:rPr lang="zh-CN" altLang="en-US" dirty="0"/>
              <a:t>设置滑动条设置最大值，默认为为</a:t>
            </a:r>
            <a:r>
              <a:rPr lang="en-US" altLang="zh-CN" dirty="0"/>
              <a:t>100</a:t>
            </a:r>
            <a:r>
              <a:rPr lang="zh-CN" altLang="en-US" dirty="0"/>
              <a:t>。</a:t>
            </a:r>
            <a:endParaRPr lang="zh-CN" altLang="en-US" dirty="0"/>
          </a:p>
          <a:p>
            <a:pPr lvl="2" algn="just"/>
            <a:r>
              <a:rPr lang="en-US" altLang="zh-CN" dirty="0"/>
              <a:t>step:</a:t>
            </a:r>
            <a:r>
              <a:rPr lang="zh-CN" altLang="en-US" dirty="0"/>
              <a:t>设置</a:t>
            </a:r>
            <a:r>
              <a:rPr lang="en-US" altLang="zh-CN" dirty="0"/>
              <a:t>Slider</a:t>
            </a:r>
            <a:r>
              <a:rPr lang="zh-CN" altLang="en-US" dirty="0"/>
              <a:t>滑动步长，默认值为</a:t>
            </a:r>
            <a:r>
              <a:rPr lang="en-US" altLang="zh-CN" dirty="0"/>
              <a:t>1</a:t>
            </a:r>
            <a:r>
              <a:rPr lang="zh-CN" altLang="en-US" dirty="0"/>
              <a:t>。</a:t>
            </a:r>
            <a:endParaRPr lang="zh-CN" altLang="en-US" dirty="0"/>
          </a:p>
          <a:p>
            <a:pPr lvl="2" algn="just"/>
            <a:r>
              <a:rPr lang="en-US" altLang="zh-CN" dirty="0"/>
              <a:t>style:</a:t>
            </a:r>
            <a:r>
              <a:rPr lang="zh-CN" altLang="en-US" dirty="0"/>
              <a:t>设置滑动条的滑块样式，默认值为</a:t>
            </a:r>
            <a:r>
              <a:rPr lang="en-US" altLang="zh-CN" dirty="0" err="1"/>
              <a:t>Style.OutSet</a:t>
            </a:r>
            <a:r>
              <a:rPr lang="zh-CN" altLang="en-US" dirty="0"/>
              <a:t>。</a:t>
            </a:r>
            <a:endParaRPr lang="zh-CN" altLang="en-US" dirty="0"/>
          </a:p>
          <a:p>
            <a:pPr lvl="2" algn="just"/>
            <a:r>
              <a:rPr lang="en-US" altLang="zh-CN" dirty="0"/>
              <a:t>direction:</a:t>
            </a:r>
            <a:r>
              <a:rPr lang="zh-CN" altLang="en-US" dirty="0"/>
              <a:t>设置滑动条滑动方向为水平或垂直方向，默认值为</a:t>
            </a:r>
            <a:r>
              <a:rPr lang="en-US" altLang="zh-CN" dirty="0" err="1"/>
              <a:t>Axis.Horizontal</a:t>
            </a:r>
            <a:r>
              <a:rPr lang="zh-CN" altLang="en-US" dirty="0"/>
              <a:t>。</a:t>
            </a:r>
            <a:endParaRPr lang="zh-CN" altLang="en-US" dirty="0"/>
          </a:p>
          <a:p>
            <a:pPr lvl="2" algn="just"/>
            <a:r>
              <a:rPr lang="en-US" altLang="zh-CN" dirty="0"/>
              <a:t>reverse:</a:t>
            </a:r>
            <a:r>
              <a:rPr lang="zh-CN" altLang="en-US" dirty="0"/>
              <a:t>设置滑动条取值范围是否反向，横向</a:t>
            </a:r>
            <a:r>
              <a:rPr lang="en-US" altLang="zh-CN" dirty="0"/>
              <a:t>Slider</a:t>
            </a:r>
            <a:r>
              <a:rPr lang="zh-CN" altLang="en-US" dirty="0"/>
              <a:t>默认为从左往右滑动，竖向</a:t>
            </a:r>
            <a:r>
              <a:rPr lang="en-US" altLang="zh-CN" dirty="0"/>
              <a:t>Slider</a:t>
            </a:r>
            <a:r>
              <a:rPr lang="zh-CN" altLang="en-US" dirty="0"/>
              <a:t>默认为从上往下滑动，默认值为</a:t>
            </a:r>
            <a:r>
              <a:rPr lang="en-US" altLang="zh-CN" dirty="0"/>
              <a:t>false</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 name="图片 2"/>
          <p:cNvPicPr>
            <a:picLocks noChangeAspect="1"/>
          </p:cNvPicPr>
          <p:nvPr/>
        </p:nvPicPr>
        <p:blipFill>
          <a:blip r:embed="rId1"/>
          <a:stretch>
            <a:fillRect/>
          </a:stretch>
        </p:blipFill>
        <p:spPr>
          <a:xfrm>
            <a:off x="0" y="2095656"/>
            <a:ext cx="12190413" cy="1357447"/>
          </a:xfrm>
          <a:prstGeom prst="rect">
            <a:avLst/>
          </a:prstGeom>
        </p:spPr>
      </p:pic>
      <p:pic>
        <p:nvPicPr>
          <p:cNvPr id="6" name="图片 5"/>
          <p:cNvPicPr>
            <a:picLocks noChangeAspect="1"/>
          </p:cNvPicPr>
          <p:nvPr/>
        </p:nvPicPr>
        <p:blipFill>
          <a:blip r:embed="rId2"/>
          <a:stretch>
            <a:fillRect/>
          </a:stretch>
        </p:blipFill>
        <p:spPr>
          <a:xfrm>
            <a:off x="1910" y="3789834"/>
            <a:ext cx="12190413" cy="13663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198662" y="1053530"/>
            <a:ext cx="8424936" cy="4163319"/>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Slider</a:t>
            </a:r>
            <a:r>
              <a:rPr lang="zh-CN" altLang="en-US" b="0" i="0" dirty="0">
                <a:solidFill>
                  <a:srgbClr val="343434"/>
                </a:solidFill>
                <a:effectLst/>
                <a:latin typeface="PingFang SC"/>
              </a:rPr>
              <a:t>属性</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blockColor</a:t>
            </a:r>
            <a:r>
              <a:rPr lang="en-US" altLang="zh-CN" b="0" i="0" dirty="0">
                <a:solidFill>
                  <a:srgbClr val="343434"/>
                </a:solidFill>
                <a:effectLst/>
                <a:latin typeface="PingFang SC"/>
              </a:rPr>
              <a:t>:</a:t>
            </a:r>
            <a:r>
              <a:rPr lang="zh-CN" altLang="en-US" b="0" i="0" dirty="0">
                <a:solidFill>
                  <a:srgbClr val="343434"/>
                </a:solidFill>
                <a:effectLst/>
                <a:latin typeface="PingFang SC"/>
              </a:rPr>
              <a:t>设置滑块的颜色。</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trackColor</a:t>
            </a:r>
            <a:r>
              <a:rPr lang="en-US" altLang="zh-CN" b="0" i="0" dirty="0">
                <a:solidFill>
                  <a:srgbClr val="343434"/>
                </a:solidFill>
                <a:effectLst/>
                <a:latin typeface="PingFang SC"/>
              </a:rPr>
              <a:t>:</a:t>
            </a:r>
            <a:r>
              <a:rPr lang="zh-CN" altLang="en-US" b="0" i="0" dirty="0">
                <a:solidFill>
                  <a:srgbClr val="343434"/>
                </a:solidFill>
                <a:effectLst/>
                <a:latin typeface="PingFang SC"/>
              </a:rPr>
              <a:t>设置滑轨的背景颜色。</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selectedColor</a:t>
            </a:r>
            <a:r>
              <a:rPr lang="en-US" altLang="zh-CN" b="0" i="0" dirty="0">
                <a:solidFill>
                  <a:srgbClr val="343434"/>
                </a:solidFill>
                <a:effectLst/>
                <a:latin typeface="PingFang SC"/>
              </a:rPr>
              <a:t>:</a:t>
            </a:r>
            <a:r>
              <a:rPr lang="zh-CN" altLang="en-US" b="0" i="0" dirty="0">
                <a:solidFill>
                  <a:srgbClr val="343434"/>
                </a:solidFill>
                <a:effectLst/>
                <a:latin typeface="PingFang SC"/>
              </a:rPr>
              <a:t>设置滑轨的已滑动部分颜色。</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minLabel</a:t>
            </a:r>
            <a:r>
              <a:rPr lang="en-US" altLang="zh-CN" b="0" i="0" dirty="0">
                <a:solidFill>
                  <a:srgbClr val="343434"/>
                </a:solidFill>
                <a:effectLst/>
                <a:latin typeface="PingFang SC"/>
              </a:rPr>
              <a:t>:</a:t>
            </a:r>
            <a:r>
              <a:rPr lang="zh-CN" altLang="en-US" b="0" i="0" dirty="0">
                <a:solidFill>
                  <a:srgbClr val="343434"/>
                </a:solidFill>
                <a:effectLst/>
                <a:latin typeface="PingFang SC"/>
              </a:rPr>
              <a:t>设置滑动条最小值处的标签。</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maxLabel</a:t>
            </a:r>
            <a:r>
              <a:rPr lang="en-US" altLang="zh-CN" b="0" i="0" dirty="0">
                <a:solidFill>
                  <a:srgbClr val="343434"/>
                </a:solidFill>
                <a:effectLst/>
                <a:latin typeface="PingFang SC"/>
              </a:rPr>
              <a:t>:</a:t>
            </a:r>
            <a:r>
              <a:rPr lang="zh-CN" altLang="en-US" b="0" i="0" dirty="0">
                <a:solidFill>
                  <a:srgbClr val="343434"/>
                </a:solidFill>
                <a:effectLst/>
                <a:latin typeface="PingFang SC"/>
              </a:rPr>
              <a:t>设置滑动条最大值处的标签。</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showSteps</a:t>
            </a:r>
            <a:r>
              <a:rPr lang="en-US" altLang="zh-CN" b="0" i="0" dirty="0">
                <a:solidFill>
                  <a:srgbClr val="343434"/>
                </a:solidFill>
                <a:effectLst/>
                <a:latin typeface="PingFang SC"/>
              </a:rPr>
              <a:t>:</a:t>
            </a:r>
            <a:r>
              <a:rPr lang="zh-CN" altLang="en-US" b="0" i="0" dirty="0">
                <a:solidFill>
                  <a:srgbClr val="343434"/>
                </a:solidFill>
                <a:effectLst/>
                <a:latin typeface="PingFang SC"/>
              </a:rPr>
              <a:t>设置当前是否显示步长刻度值，默认值为</a:t>
            </a:r>
            <a:r>
              <a:rPr lang="en-US" altLang="zh-CN" b="0" i="0" dirty="0">
                <a:solidFill>
                  <a:srgbClr val="343434"/>
                </a:solidFill>
                <a:effectLst/>
                <a:latin typeface="PingFang SC"/>
              </a:rPr>
              <a:t>false</a:t>
            </a:r>
            <a:r>
              <a:rPr lang="zh-CN" altLang="en-US" b="0" i="0" dirty="0">
                <a:solidFill>
                  <a:srgbClr val="343434"/>
                </a:solidFill>
                <a:effectLst/>
                <a:latin typeface="PingFang SC"/>
              </a:rPr>
              <a:t>。</a:t>
            </a:r>
            <a:endParaRPr lang="zh-CN" altLang="en-US" b="0" i="0" dirty="0">
              <a:solidFill>
                <a:srgbClr val="343434"/>
              </a:solidFill>
              <a:effectLst/>
              <a:latin typeface="PingFang SC"/>
            </a:endParaRPr>
          </a:p>
        </p:txBody>
      </p:sp>
      <p:sp>
        <p:nvSpPr>
          <p:cNvPr id="8" name="文本框 7"/>
          <p:cNvSpPr txBox="1"/>
          <p:nvPr/>
        </p:nvSpPr>
        <p:spPr>
          <a:xfrm>
            <a:off x="1774726" y="5446962"/>
            <a:ext cx="8496944" cy="1651542"/>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show Tips:</a:t>
            </a:r>
            <a:r>
              <a:rPr lang="zh-CN" altLang="en-US" b="0" i="0" dirty="0">
                <a:solidFill>
                  <a:srgbClr val="343434"/>
                </a:solidFill>
                <a:effectLst/>
                <a:latin typeface="PingFang SC"/>
              </a:rPr>
              <a:t>设置滑动时是否显示百分比气泡提示，默认值为</a:t>
            </a:r>
            <a:r>
              <a:rPr lang="en-US" altLang="zh-CN" b="0" i="0" dirty="0">
                <a:solidFill>
                  <a:srgbClr val="343434"/>
                </a:solidFill>
                <a:effectLst/>
                <a:latin typeface="PingFang SC"/>
              </a:rPr>
              <a:t>false</a:t>
            </a:r>
            <a:r>
              <a:rPr lang="zh-CN" altLang="en-US" b="0" i="0" dirty="0">
                <a:solidFill>
                  <a:srgbClr val="343434"/>
                </a:solidFill>
                <a:effectLst/>
                <a:latin typeface="PingFang SC"/>
              </a:rPr>
              <a:t>。</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r>
              <a:rPr lang="en-US" altLang="zh-CN" b="0" i="0" dirty="0" err="1">
                <a:solidFill>
                  <a:srgbClr val="343434"/>
                </a:solidFill>
                <a:effectLst/>
                <a:latin typeface="PingFang SC"/>
              </a:rPr>
              <a:t>trackThickness</a:t>
            </a:r>
            <a:r>
              <a:rPr lang="en-US" altLang="zh-CN" b="0" i="0" dirty="0">
                <a:solidFill>
                  <a:srgbClr val="343434"/>
                </a:solidFill>
                <a:effectLst/>
                <a:latin typeface="PingFang SC"/>
              </a:rPr>
              <a:t>:</a:t>
            </a:r>
            <a:r>
              <a:rPr lang="zh-CN" altLang="en-US" b="0" i="0" dirty="0">
                <a:solidFill>
                  <a:srgbClr val="343434"/>
                </a:solidFill>
                <a:effectLst/>
                <a:latin typeface="PingFang SC"/>
              </a:rPr>
              <a:t>设置滑动条粗细。</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algn="l" fontAlgn="base">
              <a:lnSpc>
                <a:spcPts val="2250"/>
              </a:lnSpc>
              <a:spcAft>
                <a:spcPts val="300"/>
              </a:spcAft>
              <a:buNone/>
            </a:pPr>
            <a:endParaRPr lang="zh-CN" altLang="en-US" b="0" i="0" dirty="0">
              <a:solidFill>
                <a:srgbClr val="343434"/>
              </a:solidFill>
              <a:effectLst/>
              <a:latin typeface="PingFang SC"/>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3" name="文本框 2"/>
          <p:cNvSpPr txBox="1"/>
          <p:nvPr/>
        </p:nvSpPr>
        <p:spPr>
          <a:xfrm>
            <a:off x="910630" y="1269554"/>
            <a:ext cx="11135767" cy="2573140"/>
          </a:xfrm>
          <a:prstGeom prst="rect">
            <a:avLst/>
          </a:prstGeom>
          <a:noFill/>
        </p:spPr>
        <p:txBody>
          <a:bodyPr wrap="square">
            <a:spAutoFit/>
          </a:bodyPr>
          <a:lstStyle/>
          <a:p>
            <a:pPr algn="l" fontAlgn="base">
              <a:lnSpc>
                <a:spcPts val="2250"/>
              </a:lnSpc>
              <a:spcAft>
                <a:spcPts val="300"/>
              </a:spcAft>
              <a:buNone/>
            </a:pPr>
            <a:r>
              <a:rPr lang="en-US" altLang="zh-CN" b="0" i="0" dirty="0">
                <a:solidFill>
                  <a:srgbClr val="343434"/>
                </a:solidFill>
                <a:effectLst/>
                <a:latin typeface="PingFang SC"/>
              </a:rPr>
              <a:t>Slider</a:t>
            </a:r>
            <a:r>
              <a:rPr lang="zh-CN" altLang="en-US" b="0" i="0" dirty="0">
                <a:solidFill>
                  <a:srgbClr val="343434"/>
                </a:solidFill>
                <a:effectLst/>
                <a:latin typeface="PingFang SC"/>
              </a:rPr>
              <a:t>事件</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err="1">
                <a:solidFill>
                  <a:srgbClr val="343434"/>
                </a:solidFill>
                <a:effectLst/>
                <a:latin typeface="PingFang SC"/>
              </a:rPr>
              <a:t>onChange</a:t>
            </a:r>
            <a:r>
              <a:rPr lang="en-US" altLang="zh-CN" b="0" i="0" dirty="0">
                <a:solidFill>
                  <a:srgbClr val="343434"/>
                </a:solidFill>
                <a:effectLst/>
                <a:latin typeface="PingFang SC"/>
              </a:rPr>
              <a:t>:</a:t>
            </a:r>
            <a:r>
              <a:rPr lang="zh-CN" altLang="en-US" b="0" i="0" dirty="0">
                <a:solidFill>
                  <a:srgbClr val="343434"/>
                </a:solidFill>
                <a:effectLst/>
                <a:latin typeface="PingFang SC"/>
              </a:rPr>
              <a:t>滑动条滑动时触发事件回调。</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a:solidFill>
                  <a:srgbClr val="343434"/>
                </a:solidFill>
                <a:effectLst/>
                <a:latin typeface="PingFang SC"/>
              </a:rPr>
              <a:t>value:</a:t>
            </a:r>
            <a:r>
              <a:rPr lang="zh-CN" altLang="en-US" b="0" i="0" dirty="0">
                <a:solidFill>
                  <a:srgbClr val="343434"/>
                </a:solidFill>
                <a:effectLst/>
                <a:latin typeface="PingFang SC"/>
              </a:rPr>
              <a:t>表示当前进度值回值有小数，可使用</a:t>
            </a:r>
            <a:r>
              <a:rPr lang="en-US" altLang="zh-CN" b="0" i="0" dirty="0" err="1">
                <a:solidFill>
                  <a:srgbClr val="343434"/>
                </a:solidFill>
                <a:effectLst/>
                <a:latin typeface="PingFang SC"/>
              </a:rPr>
              <a:t>Math.toFixed</a:t>
            </a:r>
            <a:r>
              <a:rPr lang="en-US" altLang="zh-CN" b="0" i="0" dirty="0">
                <a:solidFill>
                  <a:srgbClr val="343434"/>
                </a:solidFill>
                <a:effectLst/>
                <a:latin typeface="PingFang SC"/>
              </a:rPr>
              <a:t>()</a:t>
            </a:r>
            <a:r>
              <a:rPr lang="zh-CN" altLang="en-US" b="0" i="0" dirty="0">
                <a:solidFill>
                  <a:srgbClr val="343434"/>
                </a:solidFill>
                <a:effectLst/>
                <a:latin typeface="PingFang SC"/>
              </a:rPr>
              <a:t>方法将数据处理为预期的精度。</a:t>
            </a:r>
            <a:br>
              <a:rPr lang="zh-CN" altLang="en-US" b="0" i="0" dirty="0">
                <a:solidFill>
                  <a:srgbClr val="343434"/>
                </a:solidFill>
                <a:effectLst/>
                <a:latin typeface="PingFang SC"/>
              </a:rPr>
            </a:br>
            <a:endParaRPr lang="zh-CN" altLang="en-US" b="0" i="0" dirty="0">
              <a:solidFill>
                <a:srgbClr val="343434"/>
              </a:solidFill>
              <a:effectLst/>
              <a:latin typeface="PingFang SC"/>
            </a:endParaRPr>
          </a:p>
          <a:p>
            <a:pPr lvl="1" fontAlgn="base">
              <a:lnSpc>
                <a:spcPts val="2250"/>
              </a:lnSpc>
              <a:spcAft>
                <a:spcPts val="300"/>
              </a:spcAft>
            </a:pPr>
            <a:r>
              <a:rPr lang="en-US" altLang="zh-CN" b="0" i="0" dirty="0">
                <a:solidFill>
                  <a:srgbClr val="343434"/>
                </a:solidFill>
                <a:effectLst/>
                <a:latin typeface="PingFang SC"/>
              </a:rPr>
              <a:t>mode:</a:t>
            </a:r>
            <a:r>
              <a:rPr lang="zh-CN" altLang="en-US" b="0" i="0" dirty="0">
                <a:solidFill>
                  <a:srgbClr val="343434"/>
                </a:solidFill>
                <a:effectLst/>
                <a:latin typeface="PingFang SC"/>
              </a:rPr>
              <a:t>表示滑动条的拖动状态。</a:t>
            </a:r>
            <a:endParaRPr lang="zh-CN" altLang="en-US" dirty="0"/>
          </a:p>
        </p:txBody>
      </p:sp>
      <p:pic>
        <p:nvPicPr>
          <p:cNvPr id="6" name="图片 5"/>
          <p:cNvPicPr>
            <a:picLocks noChangeAspect="1"/>
          </p:cNvPicPr>
          <p:nvPr/>
        </p:nvPicPr>
        <p:blipFill>
          <a:blip r:embed="rId1"/>
          <a:stretch>
            <a:fillRect/>
          </a:stretch>
        </p:blipFill>
        <p:spPr>
          <a:xfrm>
            <a:off x="-1" y="4149874"/>
            <a:ext cx="12190413" cy="22381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滚动类组件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2" name="文本框 11"/>
          <p:cNvSpPr txBox="1"/>
          <p:nvPr/>
        </p:nvSpPr>
        <p:spPr>
          <a:xfrm>
            <a:off x="1342678" y="1341562"/>
            <a:ext cx="11017224" cy="4893647"/>
          </a:xfrm>
          <a:prstGeom prst="rect">
            <a:avLst/>
          </a:prstGeom>
          <a:noFill/>
        </p:spPr>
        <p:txBody>
          <a:bodyPr wrap="square">
            <a:spAutoFit/>
          </a:bodyPr>
          <a:lstStyle/>
          <a:p>
            <a:r>
              <a:rPr lang="en-US" altLang="zh-CN" dirty="0"/>
              <a:t>1.Rating</a:t>
            </a:r>
            <a:r>
              <a:rPr lang="zh-CN" altLang="en-US" dirty="0"/>
              <a:t>构造参数</a:t>
            </a:r>
            <a:endParaRPr lang="zh-CN" altLang="en-US" dirty="0"/>
          </a:p>
          <a:p>
            <a:pPr lvl="1"/>
            <a:r>
              <a:rPr lang="en-US" altLang="zh-CN" dirty="0"/>
              <a:t>rating:</a:t>
            </a:r>
            <a:r>
              <a:rPr lang="zh-CN" altLang="en-US" dirty="0"/>
              <a:t>表示设置当前评分值，默认值为</a:t>
            </a:r>
            <a:r>
              <a:rPr lang="en-US" altLang="zh-CN" dirty="0"/>
              <a:t>0</a:t>
            </a:r>
            <a:r>
              <a:rPr lang="zh-CN" altLang="en-US" dirty="0"/>
              <a:t>。</a:t>
            </a:r>
            <a:endParaRPr lang="en-US" altLang="zh-CN" dirty="0"/>
          </a:p>
          <a:p>
            <a:pPr lvl="1"/>
            <a:r>
              <a:rPr lang="en-US" altLang="zh-CN" dirty="0"/>
              <a:t>indicator:</a:t>
            </a:r>
            <a:r>
              <a:rPr lang="zh-CN" altLang="en-US" dirty="0"/>
              <a:t>表示是否可以操作，设置为</a:t>
            </a:r>
            <a:r>
              <a:rPr lang="en-US" altLang="zh-CN" dirty="0"/>
              <a:t>true</a:t>
            </a:r>
            <a:r>
              <a:rPr lang="zh-CN" altLang="en-US" dirty="0"/>
              <a:t>表示评分条是一个指示条，不可操作，</a:t>
            </a:r>
            <a:r>
              <a:rPr lang="en-US" altLang="zh-CN" dirty="0"/>
              <a:t>false</a:t>
            </a:r>
            <a:r>
              <a:rPr lang="zh-CN" altLang="en-US" dirty="0"/>
              <a:t>表示可以操作的评分条。</a:t>
            </a:r>
            <a:endParaRPr lang="zh-CN" altLang="en-US" dirty="0"/>
          </a:p>
          <a:p>
            <a:r>
              <a:rPr lang="en-US" altLang="zh-CN" dirty="0"/>
              <a:t>2.Rating</a:t>
            </a:r>
            <a:r>
              <a:rPr lang="zh-CN" altLang="en-US" dirty="0"/>
              <a:t>属性介绍</a:t>
            </a:r>
            <a:endParaRPr lang="zh-CN" altLang="en-US" dirty="0"/>
          </a:p>
          <a:p>
            <a:pPr lvl="1"/>
            <a:r>
              <a:rPr lang="en-US" altLang="zh-CN" dirty="0"/>
              <a:t>stars:</a:t>
            </a:r>
            <a:r>
              <a:rPr lang="zh-CN" altLang="en-US" dirty="0"/>
              <a:t>设置星星的总数，默认值为</a:t>
            </a:r>
            <a:r>
              <a:rPr lang="en-US" altLang="zh-CN" dirty="0"/>
              <a:t>5</a:t>
            </a:r>
            <a:r>
              <a:rPr lang="zh-CN" altLang="en-US" dirty="0"/>
              <a:t>。</a:t>
            </a:r>
            <a:endParaRPr lang="zh-CN" altLang="en-US" dirty="0"/>
          </a:p>
          <a:p>
            <a:pPr lvl="1"/>
            <a:r>
              <a:rPr lang="en-US" altLang="zh-CN" dirty="0" err="1"/>
              <a:t>stepSize</a:t>
            </a:r>
            <a:r>
              <a:rPr lang="en-US" altLang="zh-CN" dirty="0"/>
              <a:t>:</a:t>
            </a:r>
            <a:r>
              <a:rPr lang="zh-CN" altLang="en-US" dirty="0"/>
              <a:t>设置操作评级的步长，默认值为</a:t>
            </a:r>
            <a:r>
              <a:rPr lang="en-US" altLang="zh-CN" dirty="0"/>
              <a:t>0.5</a:t>
            </a:r>
            <a:r>
              <a:rPr lang="zh-CN" altLang="en-US" dirty="0"/>
              <a:t>。</a:t>
            </a:r>
            <a:endParaRPr lang="zh-CN" altLang="en-US" dirty="0"/>
          </a:p>
          <a:p>
            <a:pPr lvl="1"/>
            <a:r>
              <a:rPr lang="en-US" altLang="zh-CN" dirty="0" err="1"/>
              <a:t>starStyle</a:t>
            </a:r>
            <a:r>
              <a:rPr lang="en-US" altLang="zh-CN" dirty="0"/>
              <a:t>:</a:t>
            </a:r>
            <a:r>
              <a:rPr lang="zh-CN" altLang="en-US" dirty="0"/>
              <a:t>设置星星的样式，各参数说明如下：</a:t>
            </a:r>
            <a:endParaRPr lang="zh-CN" altLang="en-US" dirty="0"/>
          </a:p>
          <a:p>
            <a:pPr lvl="1"/>
            <a:r>
              <a:rPr lang="en-US" altLang="zh-CN" dirty="0" err="1"/>
              <a:t>backgroundUri</a:t>
            </a:r>
            <a:r>
              <a:rPr lang="en-US" altLang="zh-CN" dirty="0"/>
              <a:t>:</a:t>
            </a:r>
            <a:r>
              <a:rPr lang="zh-CN" altLang="en-US" dirty="0"/>
              <a:t>自定义未选中时星级的图片路径，仅支持本地图片。</a:t>
            </a:r>
            <a:endParaRPr lang="zh-CN" altLang="en-US" dirty="0"/>
          </a:p>
          <a:p>
            <a:pPr lvl="1"/>
            <a:r>
              <a:rPr lang="en-US" altLang="zh-CN" dirty="0" err="1"/>
              <a:t>foregroundUri</a:t>
            </a:r>
            <a:r>
              <a:rPr lang="en-US" altLang="zh-CN" dirty="0"/>
              <a:t>:</a:t>
            </a:r>
            <a:r>
              <a:rPr lang="zh-CN" altLang="en-US" dirty="0"/>
              <a:t>自定义选中时星级的图片路径，仅支持本地图片。</a:t>
            </a:r>
            <a:endParaRPr lang="zh-CN" altLang="en-US" dirty="0"/>
          </a:p>
          <a:p>
            <a:pPr lvl="1"/>
            <a:r>
              <a:rPr lang="en-US" altLang="zh-CN" dirty="0" err="1"/>
              <a:t>secondaryUri</a:t>
            </a:r>
            <a:r>
              <a:rPr lang="en-US" altLang="zh-CN" dirty="0"/>
              <a:t>:</a:t>
            </a:r>
            <a:r>
              <a:rPr lang="zh-CN" altLang="en-US" dirty="0"/>
              <a:t>自定义部分选中时星级的图片路径，仅支持本地图片。</a:t>
            </a:r>
            <a:endParaRPr lang="zh-CN" altLang="en-US" dirty="0"/>
          </a:p>
          <a:p>
            <a:r>
              <a:rPr lang="en-US" altLang="zh-CN" dirty="0"/>
              <a:t>3.Rating</a:t>
            </a:r>
            <a:r>
              <a:rPr lang="zh-CN" altLang="en-US" dirty="0"/>
              <a:t>事件介绍</a:t>
            </a:r>
            <a:endParaRPr lang="zh-CN" altLang="en-US" dirty="0"/>
          </a:p>
          <a:p>
            <a:pPr lvl="1"/>
            <a:r>
              <a:rPr lang="en-US" altLang="zh-CN" dirty="0" err="1"/>
              <a:t>onChange</a:t>
            </a:r>
            <a:r>
              <a:rPr lang="en-US" altLang="zh-CN" dirty="0"/>
              <a:t>:</a:t>
            </a:r>
            <a:r>
              <a:rPr lang="zh-CN" altLang="en-US" dirty="0"/>
              <a:t>评星发生改变时触发该回调。</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Rating</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 name="图片 2"/>
          <p:cNvPicPr>
            <a:picLocks noChangeAspect="1"/>
          </p:cNvPicPr>
          <p:nvPr/>
        </p:nvPicPr>
        <p:blipFill>
          <a:blip r:embed="rId1"/>
          <a:stretch>
            <a:fillRect/>
          </a:stretch>
        </p:blipFill>
        <p:spPr>
          <a:xfrm>
            <a:off x="910630" y="871153"/>
            <a:ext cx="4801046" cy="5814033"/>
          </a:xfrm>
          <a:prstGeom prst="rect">
            <a:avLst/>
          </a:prstGeom>
        </p:spPr>
      </p:pic>
      <p:pic>
        <p:nvPicPr>
          <p:cNvPr id="5" name="图片 4"/>
          <p:cNvPicPr>
            <a:picLocks noChangeAspect="1"/>
          </p:cNvPicPr>
          <p:nvPr/>
        </p:nvPicPr>
        <p:blipFill>
          <a:blip r:embed="rId2"/>
          <a:srcRect r="50000"/>
          <a:stretch>
            <a:fillRect/>
          </a:stretch>
        </p:blipFill>
        <p:spPr>
          <a:xfrm>
            <a:off x="6599262" y="1485578"/>
            <a:ext cx="4348769" cy="1457528"/>
          </a:xfrm>
          <a:prstGeom prst="rect">
            <a:avLst/>
          </a:prstGeom>
        </p:spPr>
      </p:pic>
      <p:pic>
        <p:nvPicPr>
          <p:cNvPr id="8" name="图片 7"/>
          <p:cNvPicPr>
            <a:picLocks noChangeAspect="1"/>
          </p:cNvPicPr>
          <p:nvPr/>
        </p:nvPicPr>
        <p:blipFill>
          <a:blip r:embed="rId2"/>
          <a:srcRect l="53814"/>
          <a:stretch>
            <a:fillRect/>
          </a:stretch>
        </p:blipFill>
        <p:spPr>
          <a:xfrm>
            <a:off x="6765136" y="3429794"/>
            <a:ext cx="4017019" cy="145752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982127" y="765999"/>
            <a:ext cx="10009112" cy="5019323"/>
          </a:xfrm>
          <a:prstGeom prst="rect">
            <a:avLst/>
          </a:prstGeom>
          <a:noFill/>
        </p:spPr>
        <p:txBody>
          <a:bodyPr wrap="square">
            <a:spAutoFit/>
          </a:bodyPr>
          <a:lstStyle/>
          <a:p>
            <a:pPr algn="just">
              <a:lnSpc>
                <a:spcPct val="150000"/>
              </a:lnSpc>
            </a:pPr>
            <a:r>
              <a:rPr lang="en-US" altLang="zh-CN" dirty="0"/>
              <a:t>1.scroll</a:t>
            </a:r>
            <a:r>
              <a:rPr lang="zh-CN" altLang="en-US" dirty="0"/>
              <a:t>构造参数</a:t>
            </a:r>
            <a:endParaRPr lang="zh-CN" altLang="en-US" dirty="0"/>
          </a:p>
          <a:p>
            <a:pPr lvl="1" algn="just">
              <a:lnSpc>
                <a:spcPct val="150000"/>
              </a:lnSpc>
            </a:pPr>
            <a:r>
              <a:rPr lang="en-US" altLang="zh-CN" dirty="0"/>
              <a:t>scroller:</a:t>
            </a:r>
            <a:r>
              <a:rPr lang="zh-CN" altLang="en-US" dirty="0"/>
              <a:t>给</a:t>
            </a:r>
            <a:r>
              <a:rPr lang="en-US" altLang="zh-CN" dirty="0"/>
              <a:t>Scroll</a:t>
            </a:r>
            <a:r>
              <a:rPr lang="zh-CN" altLang="en-US" dirty="0"/>
              <a:t>绑定一个滚动控制器，该控制器可以控制子组件的各种滚动能力，</a:t>
            </a:r>
            <a:r>
              <a:rPr lang="en-US" altLang="zh-CN" dirty="0"/>
              <a:t>Scroller</a:t>
            </a:r>
            <a:r>
              <a:rPr lang="zh-CN" altLang="en-US" dirty="0"/>
              <a:t>目前支持绑定到</a:t>
            </a:r>
            <a:r>
              <a:rPr lang="en-US" altLang="zh-CN" dirty="0"/>
              <a:t>List</a:t>
            </a:r>
            <a:r>
              <a:rPr lang="zh-CN" altLang="en-US" dirty="0"/>
              <a:t>、</a:t>
            </a:r>
            <a:r>
              <a:rPr lang="en-US" altLang="zh-CN" dirty="0"/>
              <a:t>Scroll</a:t>
            </a:r>
            <a:r>
              <a:rPr lang="zh-CN" altLang="en-US" dirty="0"/>
              <a:t>、</a:t>
            </a:r>
            <a:r>
              <a:rPr lang="en-US" altLang="zh-CN" dirty="0" err="1"/>
              <a:t>ScrollBar</a:t>
            </a:r>
            <a:r>
              <a:rPr lang="zh-CN" altLang="en-US" dirty="0"/>
              <a:t>上。</a:t>
            </a:r>
            <a:endParaRPr lang="zh-CN" altLang="en-US" dirty="0"/>
          </a:p>
          <a:p>
            <a:pPr algn="just">
              <a:lnSpc>
                <a:spcPct val="150000"/>
              </a:lnSpc>
            </a:pPr>
            <a:r>
              <a:rPr lang="en-US" altLang="zh-CN" dirty="0"/>
              <a:t>2.Scroll</a:t>
            </a:r>
            <a:r>
              <a:rPr lang="zh-CN" altLang="en-US" dirty="0"/>
              <a:t>属性</a:t>
            </a:r>
            <a:endParaRPr lang="zh-CN" altLang="en-US" dirty="0"/>
          </a:p>
          <a:p>
            <a:pPr lvl="1" algn="just">
              <a:lnSpc>
                <a:spcPct val="150000"/>
              </a:lnSpc>
            </a:pPr>
            <a:r>
              <a:rPr lang="en-US" altLang="zh-CN" dirty="0"/>
              <a:t>scrollable:</a:t>
            </a:r>
            <a:r>
              <a:rPr lang="zh-CN" altLang="en-US" dirty="0"/>
              <a:t>设置</a:t>
            </a:r>
            <a:r>
              <a:rPr lang="en-US" altLang="zh-CN" dirty="0"/>
              <a:t>Scroll</a:t>
            </a:r>
            <a:r>
              <a:rPr lang="zh-CN" altLang="en-US" dirty="0"/>
              <a:t>的滚动方向，默认值为</a:t>
            </a:r>
            <a:r>
              <a:rPr lang="en-US" altLang="zh-CN" dirty="0" err="1"/>
              <a:t>ScrollDirection.Vertical</a:t>
            </a:r>
            <a:r>
              <a:rPr lang="zh-CN" altLang="en-US" dirty="0"/>
              <a:t>。</a:t>
            </a:r>
            <a:endParaRPr lang="zh-CN" altLang="en-US" dirty="0"/>
          </a:p>
          <a:p>
            <a:pPr lvl="1" algn="just">
              <a:lnSpc>
                <a:spcPct val="150000"/>
              </a:lnSpc>
            </a:pPr>
            <a:r>
              <a:rPr lang="en-US" altLang="zh-CN" dirty="0" err="1"/>
              <a:t>scrollBar</a:t>
            </a:r>
            <a:r>
              <a:rPr lang="en-US" altLang="zh-CN" dirty="0"/>
              <a:t>:</a:t>
            </a:r>
            <a:r>
              <a:rPr lang="zh-CN" altLang="en-US" dirty="0"/>
              <a:t>设置滚动条状态，默认值：</a:t>
            </a:r>
            <a:r>
              <a:rPr lang="en-US" altLang="zh-CN" dirty="0" err="1"/>
              <a:t>BarState.Auto</a:t>
            </a:r>
            <a:r>
              <a:rPr lang="zh-CN" altLang="en-US" dirty="0"/>
              <a:t>。</a:t>
            </a:r>
            <a:endParaRPr lang="zh-CN" altLang="en-US" dirty="0"/>
          </a:p>
          <a:p>
            <a:pPr lvl="1" algn="just">
              <a:lnSpc>
                <a:spcPct val="150000"/>
              </a:lnSpc>
            </a:pPr>
            <a:r>
              <a:rPr lang="en-US" altLang="zh-CN" dirty="0" err="1"/>
              <a:t>scrollBarColor</a:t>
            </a:r>
            <a:r>
              <a:rPr lang="en-US" altLang="zh-CN" dirty="0"/>
              <a:t>:</a:t>
            </a:r>
            <a:r>
              <a:rPr lang="zh-CN" altLang="en-US" dirty="0"/>
              <a:t>设置滚动条的颜色。</a:t>
            </a:r>
            <a:endParaRPr lang="zh-CN" altLang="en-US" dirty="0"/>
          </a:p>
          <a:p>
            <a:pPr lvl="1" algn="just">
              <a:lnSpc>
                <a:spcPct val="150000"/>
              </a:lnSpc>
            </a:pPr>
            <a:r>
              <a:rPr lang="en-US" altLang="zh-CN" dirty="0" err="1"/>
              <a:t>scrollBarWidth</a:t>
            </a:r>
            <a:r>
              <a:rPr lang="en-US" altLang="zh-CN" dirty="0"/>
              <a:t>:</a:t>
            </a:r>
            <a:r>
              <a:rPr lang="zh-CN" altLang="en-US" dirty="0"/>
              <a:t>设置滚动条的宽度。</a:t>
            </a:r>
            <a:endParaRPr lang="zh-CN" altLang="en-US" dirty="0"/>
          </a:p>
          <a:p>
            <a:pPr lvl="1" algn="just">
              <a:lnSpc>
                <a:spcPct val="150000"/>
              </a:lnSpc>
            </a:pPr>
            <a:r>
              <a:rPr lang="en-US" altLang="zh-CN" dirty="0" err="1"/>
              <a:t>edgeEffect</a:t>
            </a:r>
            <a:r>
              <a:rPr lang="en-US" altLang="zh-CN" dirty="0"/>
              <a:t>:</a:t>
            </a:r>
            <a:r>
              <a:rPr lang="zh-CN" altLang="en-US" dirty="0"/>
              <a:t>设置滑动到边缘后效果。默认值为</a:t>
            </a:r>
            <a:r>
              <a:rPr lang="en-US" altLang="zh-CN" dirty="0" err="1"/>
              <a:t>EdgeEffect.None</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3" name="图片 2"/>
          <p:cNvPicPr>
            <a:picLocks noChangeAspect="1"/>
          </p:cNvPicPr>
          <p:nvPr/>
        </p:nvPicPr>
        <p:blipFill>
          <a:blip r:embed="rId1"/>
          <a:stretch>
            <a:fillRect/>
          </a:stretch>
        </p:blipFill>
        <p:spPr>
          <a:xfrm>
            <a:off x="1126654" y="1106212"/>
            <a:ext cx="9706219" cy="5491934"/>
          </a:xfrm>
          <a:prstGeom prst="rect">
            <a:avLst/>
          </a:prstGeom>
        </p:spPr>
      </p:pic>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558702" y="1106952"/>
            <a:ext cx="9455090" cy="5019323"/>
          </a:xfrm>
          <a:prstGeom prst="rect">
            <a:avLst/>
          </a:prstGeom>
          <a:noFill/>
        </p:spPr>
        <p:txBody>
          <a:bodyPr wrap="square">
            <a:spAutoFit/>
          </a:bodyPr>
          <a:lstStyle/>
          <a:p>
            <a:pPr>
              <a:lnSpc>
                <a:spcPct val="150000"/>
              </a:lnSpc>
            </a:pPr>
            <a:r>
              <a:rPr lang="en-US" altLang="zh-CN" dirty="0"/>
              <a:t>3.Scroll</a:t>
            </a:r>
            <a:r>
              <a:rPr lang="zh-CN" altLang="en-US" dirty="0"/>
              <a:t>事件</a:t>
            </a:r>
            <a:endParaRPr lang="zh-CN" altLang="en-US" dirty="0"/>
          </a:p>
          <a:p>
            <a:pPr lvl="1">
              <a:lnSpc>
                <a:spcPct val="150000"/>
              </a:lnSpc>
            </a:pPr>
            <a:r>
              <a:rPr lang="en-US" altLang="zh-CN" dirty="0" err="1"/>
              <a:t>onScroll</a:t>
            </a:r>
            <a:r>
              <a:rPr lang="en-US" altLang="zh-CN" dirty="0"/>
              <a:t>:</a:t>
            </a:r>
            <a:r>
              <a:rPr lang="zh-CN" altLang="en-US" dirty="0"/>
              <a:t>滚动事件回调，返回滚动时水平、竖直方向的偏移量。</a:t>
            </a:r>
            <a:endParaRPr lang="zh-CN" altLang="en-US" dirty="0"/>
          </a:p>
          <a:p>
            <a:pPr lvl="1">
              <a:lnSpc>
                <a:spcPct val="150000"/>
              </a:lnSpc>
            </a:pPr>
            <a:r>
              <a:rPr lang="en-US" altLang="zh-CN" dirty="0" err="1"/>
              <a:t>onScrollEdge</a:t>
            </a:r>
            <a:r>
              <a:rPr lang="en-US" altLang="zh-CN" dirty="0"/>
              <a:t>:</a:t>
            </a:r>
            <a:r>
              <a:rPr lang="zh-CN" altLang="en-US" dirty="0"/>
              <a:t>滚动到边缘事件回调。</a:t>
            </a:r>
            <a:endParaRPr lang="zh-CN" altLang="en-US" dirty="0"/>
          </a:p>
          <a:p>
            <a:pPr lvl="1">
              <a:lnSpc>
                <a:spcPct val="150000"/>
              </a:lnSpc>
            </a:pPr>
            <a:r>
              <a:rPr lang="en-US" altLang="zh-CN" dirty="0" err="1"/>
              <a:t>onScrollEnd</a:t>
            </a:r>
            <a:r>
              <a:rPr lang="en-US" altLang="zh-CN" dirty="0"/>
              <a:t>:</a:t>
            </a:r>
            <a:r>
              <a:rPr lang="zh-CN" altLang="en-US" dirty="0"/>
              <a:t>滚动停止事件回调。</a:t>
            </a:r>
            <a:endParaRPr lang="zh-CN" altLang="en-US" dirty="0"/>
          </a:p>
          <a:p>
            <a:pPr lvl="1">
              <a:lnSpc>
                <a:spcPct val="150000"/>
              </a:lnSpc>
            </a:pPr>
            <a:r>
              <a:rPr lang="en-US" altLang="zh-CN" dirty="0" err="1"/>
              <a:t>onScrollBegin</a:t>
            </a:r>
            <a:r>
              <a:rPr lang="en-US" altLang="zh-CN" dirty="0"/>
              <a:t>:</a:t>
            </a:r>
            <a:r>
              <a:rPr lang="zh-CN" altLang="en-US" dirty="0"/>
              <a:t>滚动开始事件回调。事件参数如下：</a:t>
            </a:r>
            <a:endParaRPr lang="zh-CN" altLang="en-US" dirty="0"/>
          </a:p>
          <a:p>
            <a:pPr lvl="2">
              <a:lnSpc>
                <a:spcPct val="150000"/>
              </a:lnSpc>
            </a:pPr>
            <a:r>
              <a:rPr lang="en-US" altLang="zh-CN" dirty="0"/>
              <a:t>dx:</a:t>
            </a:r>
            <a:r>
              <a:rPr lang="zh-CN" altLang="en-US" dirty="0"/>
              <a:t>即将发生的水平方向滚动量。</a:t>
            </a:r>
            <a:endParaRPr lang="zh-CN" altLang="en-US" dirty="0"/>
          </a:p>
          <a:p>
            <a:pPr lvl="2">
              <a:lnSpc>
                <a:spcPct val="150000"/>
              </a:lnSpc>
            </a:pPr>
            <a:r>
              <a:rPr lang="en-US" altLang="zh-CN" dirty="0" err="1"/>
              <a:t>dy</a:t>
            </a:r>
            <a:r>
              <a:rPr lang="en-US" altLang="zh-CN" dirty="0"/>
              <a:t>:</a:t>
            </a:r>
            <a:r>
              <a:rPr lang="zh-CN" altLang="en-US" dirty="0"/>
              <a:t>即将发生的竖直方向滚动量。</a:t>
            </a:r>
            <a:endParaRPr lang="zh-CN" altLang="en-US" dirty="0"/>
          </a:p>
          <a:p>
            <a:pPr lvl="2">
              <a:lnSpc>
                <a:spcPct val="150000"/>
              </a:lnSpc>
            </a:pPr>
            <a:r>
              <a:rPr lang="en-US" altLang="zh-CN" dirty="0" err="1"/>
              <a:t>dxRemain</a:t>
            </a:r>
            <a:r>
              <a:rPr lang="en-US" altLang="zh-CN" dirty="0"/>
              <a:t>:</a:t>
            </a:r>
            <a:r>
              <a:rPr lang="zh-CN" altLang="en-US" dirty="0"/>
              <a:t>水平方向滚动剩余量。</a:t>
            </a:r>
            <a:endParaRPr lang="zh-CN" altLang="en-US" dirty="0"/>
          </a:p>
          <a:p>
            <a:pPr lvl="2">
              <a:lnSpc>
                <a:spcPct val="150000"/>
              </a:lnSpc>
            </a:pPr>
            <a:r>
              <a:rPr lang="en-US" altLang="zh-CN" dirty="0" err="1"/>
              <a:t>dyRemain</a:t>
            </a:r>
            <a:r>
              <a:rPr lang="en-US" altLang="zh-CN" dirty="0"/>
              <a:t>:</a:t>
            </a:r>
            <a:r>
              <a:rPr lang="zh-CN" altLang="en-US" dirty="0"/>
              <a:t>垂直方向滚动剩余量。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198662" y="1053530"/>
            <a:ext cx="10295651" cy="5388655"/>
          </a:xfrm>
          <a:prstGeom prst="rect">
            <a:avLst/>
          </a:prstGeom>
          <a:noFill/>
        </p:spPr>
        <p:txBody>
          <a:bodyPr wrap="square">
            <a:spAutoFit/>
          </a:bodyPr>
          <a:lstStyle/>
          <a:p>
            <a:r>
              <a:rPr lang="en-US" altLang="zh-CN" dirty="0"/>
              <a:t>4.Scroller</a:t>
            </a:r>
            <a:r>
              <a:rPr lang="zh-CN" altLang="en-US" dirty="0"/>
              <a:t>控制器</a:t>
            </a:r>
            <a:endParaRPr lang="zh-CN" altLang="en-US" dirty="0"/>
          </a:p>
          <a:p>
            <a:pPr lvl="1" algn="just">
              <a:lnSpc>
                <a:spcPct val="150000"/>
              </a:lnSpc>
            </a:pPr>
            <a:r>
              <a:rPr lang="en-US" altLang="zh-CN" dirty="0"/>
              <a:t>Scroller</a:t>
            </a:r>
            <a:r>
              <a:rPr lang="zh-CN" altLang="en-US" dirty="0"/>
              <a:t>作为滚动容器组件的控制器，它提供了滚动子组件的各种能力，比如设置子组件滚动指定位置、滚动到底部以及滚动到下一页、上一页等能力。目前</a:t>
            </a:r>
            <a:r>
              <a:rPr lang="en-US" altLang="zh-CN" dirty="0"/>
              <a:t>Scroller</a:t>
            </a:r>
            <a:r>
              <a:rPr lang="zh-CN" altLang="en-US" dirty="0"/>
              <a:t>只支持绑定到</a:t>
            </a:r>
            <a:r>
              <a:rPr lang="en-US" altLang="zh-CN" dirty="0"/>
              <a:t>List</a:t>
            </a:r>
            <a:r>
              <a:rPr lang="zh-CN" altLang="en-US" dirty="0"/>
              <a:t>、</a:t>
            </a:r>
            <a:r>
              <a:rPr lang="en-US" altLang="zh-CN" dirty="0"/>
              <a:t>Scroll</a:t>
            </a:r>
            <a:r>
              <a:rPr lang="zh-CN" altLang="en-US" dirty="0"/>
              <a:t>、</a:t>
            </a:r>
            <a:r>
              <a:rPr lang="en-US" altLang="zh-CN" dirty="0" err="1"/>
              <a:t>ScrollBar</a:t>
            </a:r>
            <a:r>
              <a:rPr lang="zh-CN" altLang="en-US" dirty="0"/>
              <a:t>上。</a:t>
            </a:r>
            <a:endParaRPr lang="zh-CN" altLang="en-US" dirty="0"/>
          </a:p>
          <a:p>
            <a:pPr lvl="1" algn="just">
              <a:lnSpc>
                <a:spcPct val="150000"/>
              </a:lnSpc>
            </a:pPr>
            <a:r>
              <a:rPr lang="en-US" altLang="zh-CN" dirty="0" err="1"/>
              <a:t>scrollTo</a:t>
            </a:r>
            <a:r>
              <a:rPr lang="en-US" altLang="zh-CN" dirty="0"/>
              <a:t>:</a:t>
            </a:r>
            <a:r>
              <a:rPr lang="zh-CN" altLang="en-US" dirty="0"/>
              <a:t>设置子组件滚动到指定位置，在滚动的时候还可以根据</a:t>
            </a:r>
            <a:r>
              <a:rPr lang="en-US" altLang="zh-CN" dirty="0"/>
              <a:t>animation</a:t>
            </a:r>
            <a:r>
              <a:rPr lang="zh-CN" altLang="en-US" dirty="0"/>
              <a:t>参数设置动画。</a:t>
            </a:r>
            <a:endParaRPr lang="zh-CN" altLang="en-US" dirty="0"/>
          </a:p>
          <a:p>
            <a:pPr lvl="1" algn="just">
              <a:lnSpc>
                <a:spcPct val="150000"/>
              </a:lnSpc>
            </a:pPr>
            <a:r>
              <a:rPr lang="en-US" altLang="zh-CN" dirty="0" err="1"/>
              <a:t>scrollEdge</a:t>
            </a:r>
            <a:r>
              <a:rPr lang="en-US" altLang="zh-CN" dirty="0"/>
              <a:t>:</a:t>
            </a:r>
            <a:r>
              <a:rPr lang="zh-CN" altLang="en-US" dirty="0"/>
              <a:t>滚动到边缘，</a:t>
            </a:r>
            <a:r>
              <a:rPr lang="en-US" altLang="zh-CN" dirty="0"/>
              <a:t>Edge</a:t>
            </a:r>
            <a:r>
              <a:rPr lang="zh-CN" altLang="en-US" dirty="0"/>
              <a:t>提供了多种类型。</a:t>
            </a:r>
            <a:endParaRPr lang="zh-CN" altLang="en-US" dirty="0"/>
          </a:p>
          <a:p>
            <a:pPr lvl="1" algn="just">
              <a:lnSpc>
                <a:spcPct val="150000"/>
              </a:lnSpc>
            </a:pPr>
            <a:r>
              <a:rPr lang="en-US" altLang="zh-CN" dirty="0" err="1"/>
              <a:t>scrollPage</a:t>
            </a:r>
            <a:r>
              <a:rPr lang="en-US" altLang="zh-CN" dirty="0"/>
              <a:t>:</a:t>
            </a:r>
            <a:r>
              <a:rPr lang="zh-CN" altLang="en-US" dirty="0"/>
              <a:t>滚动到上一页或者下一页。</a:t>
            </a:r>
            <a:endParaRPr lang="zh-CN" altLang="en-US" dirty="0"/>
          </a:p>
          <a:p>
            <a:pPr lvl="1" algn="just">
              <a:lnSpc>
                <a:spcPct val="150000"/>
              </a:lnSpc>
            </a:pPr>
            <a:r>
              <a:rPr lang="en-US" altLang="zh-CN" dirty="0" err="1"/>
              <a:t>currentOffset</a:t>
            </a:r>
            <a:r>
              <a:rPr lang="en-US" altLang="zh-CN" dirty="0"/>
              <a:t>:</a:t>
            </a:r>
            <a:r>
              <a:rPr lang="zh-CN" altLang="en-US" dirty="0"/>
              <a:t>获取当前滚动的偏移量。</a:t>
            </a:r>
            <a:endParaRPr lang="zh-CN" altLang="en-US" dirty="0"/>
          </a:p>
          <a:p>
            <a:pPr lvl="1" algn="just">
              <a:lnSpc>
                <a:spcPct val="150000"/>
              </a:lnSpc>
            </a:pPr>
            <a:r>
              <a:rPr lang="en-US" altLang="zh-CN" dirty="0" err="1"/>
              <a:t>scrollTolndex</a:t>
            </a:r>
            <a:r>
              <a:rPr lang="en-US" altLang="zh-CN" dirty="0"/>
              <a:t>:</a:t>
            </a:r>
            <a:r>
              <a:rPr lang="zh-CN" altLang="en-US" dirty="0"/>
              <a:t>滚动到指定下标，仅支持</a:t>
            </a:r>
            <a:r>
              <a:rPr lang="en-US" altLang="zh-CN" dirty="0"/>
              <a:t>Grid</a:t>
            </a:r>
            <a:r>
              <a:rPr lang="zh-CN" altLang="en-US" dirty="0"/>
              <a:t>、</a:t>
            </a:r>
            <a:r>
              <a:rPr lang="en-US" altLang="zh-CN" dirty="0"/>
              <a:t>list</a:t>
            </a:r>
            <a:r>
              <a:rPr lang="zh-CN" altLang="en-US" dirty="0"/>
              <a:t>组件。</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scroll</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1"/>
          <a:srcRect b="36430"/>
          <a:stretch>
            <a:fillRect/>
          </a:stretch>
        </p:blipFill>
        <p:spPr>
          <a:xfrm>
            <a:off x="8590599" y="841655"/>
            <a:ext cx="2591113" cy="3636404"/>
          </a:xfrm>
          <a:prstGeom prst="rect">
            <a:avLst/>
          </a:prstGeom>
        </p:spPr>
      </p:pic>
      <p:pic>
        <p:nvPicPr>
          <p:cNvPr id="10" name="图片 9"/>
          <p:cNvPicPr>
            <a:picLocks noChangeAspect="1"/>
          </p:cNvPicPr>
          <p:nvPr/>
        </p:nvPicPr>
        <p:blipFill>
          <a:blip r:embed="rId1"/>
          <a:srcRect t="62369"/>
          <a:stretch>
            <a:fillRect/>
          </a:stretch>
        </p:blipFill>
        <p:spPr>
          <a:xfrm>
            <a:off x="8590599" y="4478059"/>
            <a:ext cx="2591113" cy="2002585"/>
          </a:xfrm>
          <a:prstGeom prst="rect">
            <a:avLst/>
          </a:prstGeom>
        </p:spPr>
      </p:pic>
      <p:pic>
        <p:nvPicPr>
          <p:cNvPr id="12" name="图片 11"/>
          <p:cNvPicPr>
            <a:picLocks noChangeAspect="1"/>
          </p:cNvPicPr>
          <p:nvPr/>
        </p:nvPicPr>
        <p:blipFill>
          <a:blip r:embed="rId2"/>
          <a:stretch>
            <a:fillRect/>
          </a:stretch>
        </p:blipFill>
        <p:spPr>
          <a:xfrm>
            <a:off x="0" y="1053530"/>
            <a:ext cx="6716062" cy="55157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矩形 4"/>
          <p:cNvSpPr/>
          <p:nvPr/>
        </p:nvSpPr>
        <p:spPr>
          <a:xfrm>
            <a:off x="4222998" y="1053530"/>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766445" y="765175"/>
            <a:ext cx="9529445" cy="5668010"/>
          </a:xfrm>
          <a:prstGeom prst="rect">
            <a:avLst/>
          </a:prstGeom>
          <a:noFill/>
        </p:spPr>
        <p:txBody>
          <a:bodyPr wrap="square">
            <a:noAutofit/>
          </a:bodyPr>
          <a:lstStyle/>
          <a:p>
            <a:r>
              <a:rPr lang="en-US" altLang="zh-CN" dirty="0"/>
              <a:t>1.List</a:t>
            </a:r>
            <a:r>
              <a:rPr lang="zh-CN" altLang="en-US" dirty="0"/>
              <a:t>构造参数</a:t>
            </a:r>
            <a:endParaRPr lang="zh-CN" altLang="en-US" dirty="0"/>
          </a:p>
          <a:p>
            <a:pPr lvl="1"/>
            <a:r>
              <a:rPr lang="en-US" altLang="zh-CN" dirty="0" err="1"/>
              <a:t>initiallndex</a:t>
            </a:r>
            <a:r>
              <a:rPr lang="en-US" altLang="zh-CN" dirty="0"/>
              <a:t>:</a:t>
            </a:r>
            <a:r>
              <a:rPr lang="zh-CN" altLang="en-US" dirty="0"/>
              <a:t>设置当前</a:t>
            </a:r>
            <a:r>
              <a:rPr lang="en-US" altLang="zh-CN" dirty="0"/>
              <a:t>List</a:t>
            </a:r>
            <a:r>
              <a:rPr lang="zh-CN" altLang="en-US" dirty="0"/>
              <a:t>初次加载时视口起始位置显示的</a:t>
            </a:r>
            <a:r>
              <a:rPr lang="en-US" altLang="zh-CN" dirty="0"/>
              <a:t>item</a:t>
            </a:r>
            <a:r>
              <a:rPr lang="zh-CN" altLang="en-US" dirty="0"/>
              <a:t>的索引值。如果设置的值超过了当前</a:t>
            </a:r>
            <a:r>
              <a:rPr lang="en-US" altLang="zh-CN" dirty="0"/>
              <a:t>List</a:t>
            </a:r>
            <a:r>
              <a:rPr lang="zh-CN" altLang="en-US" dirty="0"/>
              <a:t>最后一个</a:t>
            </a:r>
            <a:r>
              <a:rPr lang="en-US" altLang="zh-CN" dirty="0"/>
              <a:t>item</a:t>
            </a:r>
            <a:r>
              <a:rPr lang="zh-CN" altLang="en-US" dirty="0"/>
              <a:t>的索引值，则设置不生效，默认值为</a:t>
            </a:r>
            <a:r>
              <a:rPr lang="en-US" altLang="zh-CN" dirty="0"/>
              <a:t>0</a:t>
            </a:r>
            <a:r>
              <a:rPr lang="zh-CN" altLang="en-US" dirty="0"/>
              <a:t>。</a:t>
            </a:r>
            <a:endParaRPr lang="zh-CN" altLang="en-US" dirty="0"/>
          </a:p>
          <a:p>
            <a:pPr lvl="1"/>
            <a:r>
              <a:rPr lang="en-US" altLang="zh-CN" dirty="0"/>
              <a:t>space:</a:t>
            </a:r>
            <a:r>
              <a:rPr lang="zh-CN" altLang="en-US" dirty="0"/>
              <a:t>列表项间距，默认值为</a:t>
            </a:r>
            <a:r>
              <a:rPr lang="en-US" altLang="zh-CN" dirty="0"/>
              <a:t>0</a:t>
            </a:r>
            <a:r>
              <a:rPr lang="zh-CN" altLang="en-US" dirty="0"/>
              <a:t>。</a:t>
            </a:r>
            <a:endParaRPr lang="zh-CN" altLang="en-US" dirty="0"/>
          </a:p>
          <a:p>
            <a:pPr lvl="1"/>
            <a:r>
              <a:rPr lang="en-US" altLang="zh-CN" dirty="0"/>
              <a:t>scroller:</a:t>
            </a:r>
            <a:r>
              <a:rPr lang="zh-CN" altLang="en-US" dirty="0"/>
              <a:t>可滚动组件的控制器，用于与可滚动组件进行绑定。</a:t>
            </a:r>
            <a:endParaRPr lang="zh-CN" altLang="en-US" dirty="0"/>
          </a:p>
          <a:p>
            <a:r>
              <a:rPr lang="en-US" altLang="zh-CN" dirty="0"/>
              <a:t>2.List</a:t>
            </a:r>
            <a:r>
              <a:rPr lang="zh-CN" altLang="en-US" dirty="0"/>
              <a:t>属性</a:t>
            </a:r>
            <a:endParaRPr lang="zh-CN" altLang="en-US" dirty="0"/>
          </a:p>
          <a:p>
            <a:pPr lvl="1"/>
            <a:r>
              <a:rPr lang="en-US" altLang="zh-CN" dirty="0" err="1"/>
              <a:t>listDirection</a:t>
            </a:r>
            <a:r>
              <a:rPr lang="en-US" altLang="zh-CN" dirty="0"/>
              <a:t>:</a:t>
            </a:r>
            <a:r>
              <a:rPr lang="zh-CN" altLang="en-US" dirty="0"/>
              <a:t>设置</a:t>
            </a:r>
            <a:r>
              <a:rPr lang="en-US" altLang="zh-CN" dirty="0"/>
              <a:t>List</a:t>
            </a:r>
            <a:r>
              <a:rPr lang="zh-CN" altLang="en-US" dirty="0"/>
              <a:t>组件排列方向，默认值为</a:t>
            </a:r>
            <a:r>
              <a:rPr lang="en-US" altLang="zh-CN" dirty="0" err="1"/>
              <a:t>Axis.Vertical</a:t>
            </a:r>
            <a:r>
              <a:rPr lang="zh-CN" altLang="en-US" dirty="0"/>
              <a:t>。</a:t>
            </a:r>
            <a:endParaRPr lang="zh-CN" altLang="en-US" dirty="0"/>
          </a:p>
          <a:p>
            <a:pPr lvl="1"/>
            <a:r>
              <a:rPr lang="en-US" altLang="zh-CN" dirty="0" err="1"/>
              <a:t>scrollBar</a:t>
            </a:r>
            <a:r>
              <a:rPr lang="en-US" altLang="zh-CN" dirty="0"/>
              <a:t>:</a:t>
            </a:r>
            <a:r>
              <a:rPr lang="zh-CN" altLang="en-US" dirty="0"/>
              <a:t>设置滚动条状态。</a:t>
            </a:r>
            <a:endParaRPr lang="zh-CN" altLang="en-US" dirty="0"/>
          </a:p>
          <a:p>
            <a:pPr lvl="1"/>
            <a:r>
              <a:rPr lang="en-US" altLang="zh-CN" dirty="0" err="1"/>
              <a:t>edgeEffect</a:t>
            </a:r>
            <a:r>
              <a:rPr lang="en-US" altLang="zh-CN" dirty="0"/>
              <a:t>:</a:t>
            </a:r>
            <a:r>
              <a:rPr lang="zh-CN" altLang="en-US" dirty="0"/>
              <a:t>设置组件的滑动效果，默认值为</a:t>
            </a:r>
            <a:r>
              <a:rPr lang="en-US" altLang="zh-CN" dirty="0" err="1"/>
              <a:t>EdgeEffect.Spring</a:t>
            </a:r>
            <a:r>
              <a:rPr lang="zh-CN" altLang="en-US" dirty="0"/>
              <a:t>。</a:t>
            </a:r>
            <a:endParaRPr lang="en-US" altLang="zh-CN" dirty="0"/>
          </a:p>
          <a:p>
            <a:pPr lvl="1"/>
            <a:r>
              <a:rPr lang="en-US" altLang="zh-CN" dirty="0"/>
              <a:t>divider:</a:t>
            </a:r>
            <a:r>
              <a:rPr lang="zh-CN" altLang="en-US" dirty="0"/>
              <a:t>设置分割线样式，默认无分割线。</a:t>
            </a:r>
            <a:endParaRPr lang="en-US" altLang="zh-CN" dirty="0"/>
          </a:p>
          <a:p>
            <a:pPr lvl="1"/>
            <a:r>
              <a:rPr lang="en-US" altLang="zh-CN" dirty="0" err="1"/>
              <a:t>editMode</a:t>
            </a:r>
            <a:r>
              <a:rPr lang="en-US" altLang="zh-CN" dirty="0"/>
              <a:t>:</a:t>
            </a:r>
            <a:r>
              <a:rPr lang="zh-CN" altLang="en-US" dirty="0"/>
              <a:t>声明当前</a:t>
            </a:r>
            <a:r>
              <a:rPr lang="en-US" altLang="zh-CN" dirty="0"/>
              <a:t>List</a:t>
            </a:r>
            <a:r>
              <a:rPr lang="zh-CN" altLang="en-US" dirty="0"/>
              <a:t>组件是否处于可编辑模式，默认值为</a:t>
            </a:r>
            <a:r>
              <a:rPr lang="en-US" altLang="zh-CN" dirty="0"/>
              <a:t>false</a:t>
            </a:r>
            <a:endParaRPr lang="en-US" altLang="zh-CN" dirty="0"/>
          </a:p>
          <a:p>
            <a:pPr lvl="1"/>
            <a:r>
              <a:rPr lang="en-US" altLang="zh-CN" dirty="0" err="1"/>
              <a:t>cachedCount</a:t>
            </a:r>
            <a:r>
              <a:rPr lang="en-US" altLang="zh-CN" dirty="0"/>
              <a:t>:</a:t>
            </a:r>
            <a:r>
              <a:rPr lang="zh-CN" altLang="en-US" dirty="0"/>
              <a:t>设置</a:t>
            </a:r>
            <a:r>
              <a:rPr lang="en-US" altLang="zh-CN" dirty="0"/>
              <a:t>List</a:t>
            </a:r>
            <a:r>
              <a:rPr lang="zh-CN" altLang="en-US" dirty="0"/>
              <a:t>的缓存数量。</a:t>
            </a:r>
            <a:endParaRPr lang="zh-CN" altLang="en-US" dirty="0"/>
          </a:p>
          <a:p>
            <a:pPr lvl="1"/>
            <a:r>
              <a:rPr lang="en-US" altLang="zh-CN" dirty="0" err="1"/>
              <a:t>chainAnimation</a:t>
            </a:r>
            <a:r>
              <a:rPr lang="en-US" altLang="zh-CN" dirty="0"/>
              <a:t>:</a:t>
            </a:r>
            <a:r>
              <a:rPr lang="zh-CN" altLang="en-US" dirty="0"/>
              <a:t>开启联动效果，默认不开启。</a:t>
            </a:r>
            <a:endParaRPr lang="en-US" altLang="zh-CN" dirty="0"/>
          </a:p>
          <a:p>
            <a:pPr lvl="1"/>
            <a:r>
              <a:rPr lang="en-US" altLang="zh-CN" dirty="0"/>
              <a:t>Lanes:</a:t>
            </a:r>
            <a:r>
              <a:rPr lang="zh-CN" altLang="en-US" dirty="0"/>
              <a:t>设置</a:t>
            </a:r>
            <a:r>
              <a:rPr lang="en-US" altLang="zh-CN" dirty="0"/>
              <a:t>List</a:t>
            </a:r>
            <a:r>
              <a:rPr lang="zh-CN" altLang="en-US" dirty="0"/>
              <a:t>组件的布局列数或行数。</a:t>
            </a:r>
            <a:r>
              <a:rPr lang="en-US" altLang="zh-CN" dirty="0"/>
              <a:t>gutter</a:t>
            </a:r>
            <a:r>
              <a:rPr lang="zh-CN" altLang="en-US" dirty="0"/>
              <a:t>为列间距，当列数大于</a:t>
            </a:r>
            <a:r>
              <a:rPr lang="en-US" altLang="zh-CN" dirty="0"/>
              <a:t>1</a:t>
            </a:r>
            <a:r>
              <a:rPr lang="zh-CN" altLang="en-US" dirty="0"/>
              <a:t>时生效。</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1194487" y="1701602"/>
            <a:ext cx="10321636" cy="3416320"/>
          </a:xfrm>
          <a:prstGeom prst="rect">
            <a:avLst/>
          </a:prstGeom>
          <a:noFill/>
        </p:spPr>
        <p:txBody>
          <a:bodyPr wrap="square">
            <a:spAutoFit/>
          </a:bodyPr>
          <a:lstStyle/>
          <a:p>
            <a:r>
              <a:rPr lang="en-US" altLang="zh-CN" dirty="0"/>
              <a:t>3.List</a:t>
            </a:r>
            <a:r>
              <a:rPr lang="zh-CN" altLang="en-US" dirty="0"/>
              <a:t>事件</a:t>
            </a:r>
            <a:endParaRPr lang="zh-CN" altLang="en-US" dirty="0"/>
          </a:p>
          <a:p>
            <a:pPr lvl="1"/>
            <a:r>
              <a:rPr lang="en-US" altLang="zh-CN" dirty="0" err="1"/>
              <a:t>onScroll</a:t>
            </a:r>
            <a:r>
              <a:rPr lang="en-US" altLang="zh-CN" dirty="0"/>
              <a:t>:</a:t>
            </a:r>
            <a:r>
              <a:rPr lang="zh-CN" altLang="en-US" dirty="0"/>
              <a:t>列表滑动时触发。</a:t>
            </a:r>
            <a:endParaRPr lang="zh-CN" altLang="en-US" dirty="0"/>
          </a:p>
          <a:p>
            <a:pPr lvl="1"/>
            <a:r>
              <a:rPr lang="en-US" altLang="zh-CN" dirty="0" err="1"/>
              <a:t>onScrollndex</a:t>
            </a:r>
            <a:r>
              <a:rPr lang="en-US" altLang="zh-CN" dirty="0"/>
              <a:t>:</a:t>
            </a:r>
            <a:r>
              <a:rPr lang="zh-CN" altLang="en-US" dirty="0"/>
              <a:t>列表滑动时触发。计算索引值时。</a:t>
            </a:r>
            <a:endParaRPr lang="zh-CN" altLang="en-US" dirty="0"/>
          </a:p>
          <a:p>
            <a:pPr lvl="1"/>
            <a:r>
              <a:rPr lang="en-US" altLang="zh-CN" dirty="0" err="1"/>
              <a:t>onReachStart</a:t>
            </a:r>
            <a:r>
              <a:rPr lang="en-US" altLang="zh-CN" dirty="0"/>
              <a:t>:</a:t>
            </a:r>
            <a:r>
              <a:rPr lang="zh-CN" altLang="en-US" dirty="0"/>
              <a:t>滚动到起始位置时触发该回调。</a:t>
            </a:r>
            <a:endParaRPr lang="zh-CN" altLang="en-US" dirty="0"/>
          </a:p>
          <a:p>
            <a:pPr lvl="1"/>
            <a:r>
              <a:rPr lang="en-US" altLang="zh-CN" dirty="0" err="1"/>
              <a:t>onReachEnd</a:t>
            </a:r>
            <a:r>
              <a:rPr lang="en-US" altLang="zh-CN" dirty="0"/>
              <a:t>:</a:t>
            </a:r>
            <a:r>
              <a:rPr lang="zh-CN" altLang="en-US" dirty="0"/>
              <a:t>滚动到底部触发该回调。</a:t>
            </a:r>
            <a:endParaRPr lang="zh-CN" altLang="en-US" dirty="0"/>
          </a:p>
          <a:p>
            <a:pPr lvl="1"/>
            <a:r>
              <a:rPr lang="en-US" altLang="zh-CN" dirty="0" err="1"/>
              <a:t>onltemDelete</a:t>
            </a:r>
            <a:r>
              <a:rPr lang="en-US" altLang="zh-CN" dirty="0"/>
              <a:t>:</a:t>
            </a:r>
            <a:r>
              <a:rPr lang="zh-CN" altLang="en-US" dirty="0"/>
              <a:t>当</a:t>
            </a:r>
            <a:r>
              <a:rPr lang="en-US" altLang="zh-CN" dirty="0"/>
              <a:t>List</a:t>
            </a:r>
            <a:r>
              <a:rPr lang="zh-CN" altLang="en-US" dirty="0"/>
              <a:t>组件在编辑模式时，点击</a:t>
            </a:r>
            <a:r>
              <a:rPr lang="en-US" altLang="zh-CN" dirty="0" err="1"/>
              <a:t>Listltem</a:t>
            </a:r>
            <a:r>
              <a:rPr lang="zh-CN" altLang="en-US" dirty="0"/>
              <a:t>右边出现的删除按钮时触发。</a:t>
            </a:r>
            <a:endParaRPr lang="zh-CN" altLang="en-US" dirty="0"/>
          </a:p>
          <a:p>
            <a:pPr lvl="1"/>
            <a:r>
              <a:rPr lang="en-US" altLang="zh-CN" dirty="0" err="1"/>
              <a:t>onScrollStop</a:t>
            </a:r>
            <a:r>
              <a:rPr lang="en-US" altLang="zh-CN" dirty="0"/>
              <a:t>:</a:t>
            </a:r>
            <a:r>
              <a:rPr lang="zh-CN" altLang="en-US" dirty="0"/>
              <a:t>列表滑动停止时触发。</a:t>
            </a:r>
            <a:endParaRPr lang="zh-CN" altLang="en-US" dirty="0"/>
          </a:p>
          <a:p>
            <a:pPr lvl="1"/>
            <a:r>
              <a:rPr lang="en-US" altLang="zh-CN" dirty="0" err="1"/>
              <a:t>onltemMove</a:t>
            </a:r>
            <a:r>
              <a:rPr lang="en-US" altLang="zh-CN" dirty="0"/>
              <a:t>:</a:t>
            </a:r>
            <a:r>
              <a:rPr lang="zh-CN" altLang="en-US" dirty="0"/>
              <a:t>列表元素发生移动时触发。</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1126272" y="909503"/>
            <a:ext cx="9433048" cy="3416320"/>
          </a:xfrm>
          <a:prstGeom prst="rect">
            <a:avLst/>
          </a:prstGeom>
          <a:noFill/>
        </p:spPr>
        <p:txBody>
          <a:bodyPr wrap="square">
            <a:spAutoFit/>
          </a:bodyPr>
          <a:lstStyle/>
          <a:p>
            <a:r>
              <a:rPr lang="en-US" altLang="zh-CN" dirty="0"/>
              <a:t>4.Listltem</a:t>
            </a:r>
            <a:endParaRPr lang="en-US" altLang="zh-CN" dirty="0"/>
          </a:p>
          <a:p>
            <a:pPr lvl="1"/>
            <a:r>
              <a:rPr lang="en-US" altLang="zh-CN" dirty="0" err="1"/>
              <a:t>Listltem</a:t>
            </a:r>
            <a:r>
              <a:rPr lang="zh-CN" altLang="en-US" dirty="0"/>
              <a:t>用来展示列表具体</a:t>
            </a:r>
            <a:r>
              <a:rPr lang="en-US" altLang="zh-CN" dirty="0"/>
              <a:t>item,</a:t>
            </a:r>
            <a:r>
              <a:rPr lang="zh-CN" altLang="en-US" dirty="0"/>
              <a:t>它的宽度默认充满</a:t>
            </a:r>
            <a:r>
              <a:rPr lang="en-US" altLang="zh-CN" dirty="0"/>
              <a:t>List</a:t>
            </a:r>
            <a:r>
              <a:rPr lang="zh-CN" altLang="en-US" dirty="0"/>
              <a:t>的宽度，它必须配合</a:t>
            </a:r>
            <a:r>
              <a:rPr lang="en-US" altLang="zh-CN" dirty="0"/>
              <a:t>List</a:t>
            </a:r>
            <a:r>
              <a:rPr lang="zh-CN" altLang="en-US" dirty="0"/>
              <a:t>使用。构造参数为</a:t>
            </a:r>
            <a:r>
              <a:rPr lang="en-US" altLang="zh-CN" dirty="0"/>
              <a:t>value:</a:t>
            </a:r>
            <a:r>
              <a:rPr lang="zh-CN" altLang="en-US" dirty="0"/>
              <a:t>标记位，标记当前</a:t>
            </a:r>
            <a:r>
              <a:rPr lang="en-US" altLang="zh-CN" dirty="0"/>
              <a:t>item</a:t>
            </a:r>
            <a:r>
              <a:rPr lang="zh-CN" altLang="en-US" dirty="0"/>
              <a:t>的</a:t>
            </a:r>
            <a:r>
              <a:rPr lang="en-US" altLang="zh-CN" dirty="0"/>
              <a:t>flag</a:t>
            </a:r>
            <a:r>
              <a:rPr lang="zh-CN" altLang="en-US" dirty="0"/>
              <a:t>。</a:t>
            </a:r>
            <a:endParaRPr lang="zh-CN" altLang="en-US" dirty="0"/>
          </a:p>
          <a:p>
            <a:r>
              <a:rPr lang="en-US" altLang="zh-CN" dirty="0"/>
              <a:t>5.Listltem</a:t>
            </a:r>
            <a:r>
              <a:rPr lang="zh-CN" altLang="en-US" dirty="0"/>
              <a:t>属性</a:t>
            </a:r>
            <a:endParaRPr lang="zh-CN" altLang="en-US" dirty="0"/>
          </a:p>
          <a:p>
            <a:pPr lvl="1"/>
            <a:r>
              <a:rPr lang="en-US" altLang="zh-CN" dirty="0"/>
              <a:t>sicky:</a:t>
            </a:r>
            <a:r>
              <a:rPr lang="zh-CN" altLang="en-US" dirty="0"/>
              <a:t>设置</a:t>
            </a:r>
            <a:r>
              <a:rPr lang="en-US" altLang="zh-CN" dirty="0" err="1"/>
              <a:t>Listltem</a:t>
            </a:r>
            <a:r>
              <a:rPr lang="zh-CN" altLang="en-US" dirty="0"/>
              <a:t>的吸顶效果，默认值为</a:t>
            </a:r>
            <a:r>
              <a:rPr lang="en-US" altLang="zh-CN" dirty="0" err="1"/>
              <a:t>Sicky.None</a:t>
            </a:r>
            <a:r>
              <a:rPr lang="zh-CN" altLang="en-US" dirty="0"/>
              <a:t>。</a:t>
            </a:r>
            <a:endParaRPr lang="zh-CN" altLang="en-US" dirty="0"/>
          </a:p>
          <a:p>
            <a:pPr lvl="1"/>
            <a:r>
              <a:rPr lang="en-US" altLang="zh-CN" dirty="0"/>
              <a:t>editable:</a:t>
            </a:r>
            <a:r>
              <a:rPr lang="zh-CN" altLang="en-US" dirty="0"/>
              <a:t>当前</a:t>
            </a:r>
            <a:r>
              <a:rPr lang="en-US" altLang="zh-CN" dirty="0" err="1"/>
              <a:t>Listltem</a:t>
            </a:r>
            <a:r>
              <a:rPr lang="zh-CN" altLang="en-US" dirty="0"/>
              <a:t>元素是否可编辑，进入编辑模式后可删除或移动列表项，默认值为</a:t>
            </a:r>
            <a:r>
              <a:rPr lang="en-US" altLang="zh-CN" dirty="0" err="1"/>
              <a:t>filse</a:t>
            </a:r>
            <a:r>
              <a:rPr lang="zh-CN" altLang="en-US" dirty="0"/>
              <a:t>。</a:t>
            </a:r>
            <a:endParaRPr lang="zh-CN" altLang="en-US" dirty="0"/>
          </a:p>
          <a:p>
            <a:pPr lvl="1"/>
            <a:r>
              <a:rPr lang="en-US" altLang="zh-CN" dirty="0"/>
              <a:t>selectable:</a:t>
            </a:r>
            <a:r>
              <a:rPr lang="zh-CN" altLang="en-US" dirty="0"/>
              <a:t>当前</a:t>
            </a:r>
            <a:r>
              <a:rPr lang="en-US" altLang="zh-CN" dirty="0" err="1"/>
              <a:t>ListItem</a:t>
            </a:r>
            <a:r>
              <a:rPr lang="zh-CN" altLang="en-US" dirty="0"/>
              <a:t>元素是否可以被鼠标框选。外层</a:t>
            </a:r>
            <a:r>
              <a:rPr lang="en-US" altLang="zh-CN" dirty="0"/>
              <a:t>List</a:t>
            </a:r>
            <a:r>
              <a:rPr lang="zh-CN" altLang="en-US" dirty="0"/>
              <a:t>容器的鼠标框选开启时，</a:t>
            </a:r>
            <a:r>
              <a:rPr lang="en-US" altLang="zh-CN" dirty="0" err="1"/>
              <a:t>Listltem</a:t>
            </a:r>
            <a:r>
              <a:rPr lang="zh-CN" altLang="en-US" dirty="0"/>
              <a:t>的框选才生效，默认值为</a:t>
            </a:r>
            <a:r>
              <a:rPr lang="en-US" altLang="zh-CN" dirty="0"/>
              <a:t>true</a:t>
            </a:r>
            <a:r>
              <a:rPr lang="zh-CN" altLang="en-US" dirty="0"/>
              <a:t>。</a:t>
            </a:r>
            <a:endParaRPr lang="zh-CN" altLang="en-US" dirty="0"/>
          </a:p>
        </p:txBody>
      </p:sp>
      <p:pic>
        <p:nvPicPr>
          <p:cNvPr id="4" name="图片 3"/>
          <p:cNvPicPr>
            <a:picLocks noChangeAspect="1"/>
          </p:cNvPicPr>
          <p:nvPr/>
        </p:nvPicPr>
        <p:blipFill>
          <a:blip r:embed="rId1"/>
          <a:stretch>
            <a:fillRect/>
          </a:stretch>
        </p:blipFill>
        <p:spPr>
          <a:xfrm>
            <a:off x="406706" y="4726508"/>
            <a:ext cx="11526859" cy="17528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List</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下拉列表</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4" name="图片 3"/>
          <p:cNvPicPr>
            <a:picLocks noChangeAspect="1"/>
          </p:cNvPicPr>
          <p:nvPr/>
        </p:nvPicPr>
        <p:blipFill>
          <a:blip r:embed="rId1"/>
          <a:stretch>
            <a:fillRect/>
          </a:stretch>
        </p:blipFill>
        <p:spPr>
          <a:xfrm>
            <a:off x="622598" y="1128843"/>
            <a:ext cx="5667047" cy="2300951"/>
          </a:xfrm>
          <a:prstGeom prst="rect">
            <a:avLst/>
          </a:prstGeom>
        </p:spPr>
      </p:pic>
      <p:pic>
        <p:nvPicPr>
          <p:cNvPr id="9" name="图片 8"/>
          <p:cNvPicPr>
            <a:picLocks noChangeAspect="1"/>
          </p:cNvPicPr>
          <p:nvPr/>
        </p:nvPicPr>
        <p:blipFill>
          <a:blip r:embed="rId2"/>
          <a:stretch>
            <a:fillRect/>
          </a:stretch>
        </p:blipFill>
        <p:spPr>
          <a:xfrm>
            <a:off x="622598" y="3429794"/>
            <a:ext cx="5667047" cy="2883625"/>
          </a:xfrm>
          <a:prstGeom prst="rect">
            <a:avLst/>
          </a:prstGeom>
        </p:spPr>
      </p:pic>
      <p:pic>
        <p:nvPicPr>
          <p:cNvPr id="11" name="图片 10"/>
          <p:cNvPicPr>
            <a:picLocks noChangeAspect="1"/>
          </p:cNvPicPr>
          <p:nvPr/>
        </p:nvPicPr>
        <p:blipFill>
          <a:blip r:embed="rId3"/>
          <a:stretch>
            <a:fillRect/>
          </a:stretch>
        </p:blipFill>
        <p:spPr>
          <a:xfrm>
            <a:off x="7031310" y="1128843"/>
            <a:ext cx="3960440" cy="518457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文本框 2"/>
          <p:cNvSpPr txBox="1"/>
          <p:nvPr/>
        </p:nvSpPr>
        <p:spPr>
          <a:xfrm>
            <a:off x="1198662" y="1342859"/>
            <a:ext cx="10369152" cy="3785652"/>
          </a:xfrm>
          <a:prstGeom prst="rect">
            <a:avLst/>
          </a:prstGeom>
          <a:noFill/>
        </p:spPr>
        <p:txBody>
          <a:bodyPr wrap="square">
            <a:spAutoFit/>
          </a:bodyPr>
          <a:lstStyle/>
          <a:p>
            <a:r>
              <a:rPr lang="en-US" altLang="zh-CN" dirty="0"/>
              <a:t>1.Swiper</a:t>
            </a:r>
            <a:r>
              <a:rPr lang="zh-CN" altLang="en-US" dirty="0"/>
              <a:t>构造参数</a:t>
            </a:r>
            <a:endParaRPr lang="zh-CN" altLang="en-US" dirty="0"/>
          </a:p>
          <a:p>
            <a:pPr lvl="1"/>
            <a:r>
              <a:rPr lang="en-US" altLang="zh-CN" dirty="0"/>
              <a:t>controller:</a:t>
            </a:r>
            <a:r>
              <a:rPr lang="zh-CN" altLang="en-US" dirty="0"/>
              <a:t>给</a:t>
            </a:r>
            <a:r>
              <a:rPr lang="en-US" altLang="zh-CN" dirty="0"/>
              <a:t>Swiper</a:t>
            </a:r>
            <a:r>
              <a:rPr lang="zh-CN" altLang="en-US" dirty="0"/>
              <a:t>绑定一个控制器，用来控制页面翻页。</a:t>
            </a:r>
            <a:endParaRPr lang="zh-CN" altLang="en-US" dirty="0"/>
          </a:p>
          <a:p>
            <a:r>
              <a:rPr lang="en-US" altLang="zh-CN" dirty="0"/>
              <a:t>2.Swiper</a:t>
            </a:r>
            <a:r>
              <a:rPr lang="zh-CN" altLang="en-US" dirty="0"/>
              <a:t>属性</a:t>
            </a:r>
            <a:endParaRPr lang="zh-CN" altLang="en-US" dirty="0"/>
          </a:p>
          <a:p>
            <a:pPr lvl="1"/>
            <a:r>
              <a:rPr lang="en-US" altLang="zh-CN" dirty="0"/>
              <a:t>index:</a:t>
            </a:r>
            <a:r>
              <a:rPr lang="zh-CN" altLang="en-US" dirty="0"/>
              <a:t>设置当前在容器中显示的子组件的索引值，默认值为</a:t>
            </a:r>
            <a:r>
              <a:rPr lang="en-US" altLang="zh-CN" dirty="0"/>
              <a:t>0</a:t>
            </a:r>
            <a:r>
              <a:rPr lang="zh-CN" altLang="en-US" dirty="0"/>
              <a:t>。</a:t>
            </a:r>
            <a:endParaRPr lang="zh-CN" altLang="en-US" dirty="0"/>
          </a:p>
          <a:p>
            <a:pPr lvl="1"/>
            <a:r>
              <a:rPr lang="en-US" altLang="zh-CN" dirty="0" err="1"/>
              <a:t>autoPlay</a:t>
            </a:r>
            <a:r>
              <a:rPr lang="en-US" altLang="zh-CN" dirty="0"/>
              <a:t>:</a:t>
            </a:r>
            <a:r>
              <a:rPr lang="zh-CN" altLang="en-US" dirty="0"/>
              <a:t>子组件是否自动播放，自动播放状态下，导航点不可操作，默认为</a:t>
            </a:r>
            <a:r>
              <a:rPr lang="en-US" altLang="zh-CN" dirty="0"/>
              <a:t>false</a:t>
            </a:r>
            <a:r>
              <a:rPr lang="zh-CN" altLang="en-US" dirty="0"/>
              <a:t>。</a:t>
            </a:r>
            <a:endParaRPr lang="zh-CN" altLang="en-US" dirty="0"/>
          </a:p>
          <a:p>
            <a:pPr lvl="1"/>
            <a:r>
              <a:rPr lang="en-US" altLang="zh-CN" dirty="0"/>
              <a:t>interval:</a:t>
            </a:r>
            <a:r>
              <a:rPr lang="zh-CN" altLang="en-US" dirty="0"/>
              <a:t>使用自动播放时播放的时间间隔，单位为</a:t>
            </a:r>
            <a:r>
              <a:rPr lang="en-US" altLang="zh-CN" dirty="0" err="1"/>
              <a:t>ms</a:t>
            </a:r>
            <a:r>
              <a:rPr lang="en-US" altLang="zh-CN" dirty="0"/>
              <a:t>,</a:t>
            </a:r>
            <a:r>
              <a:rPr lang="zh-CN" altLang="en-US" dirty="0"/>
              <a:t>默认值为</a:t>
            </a:r>
            <a:r>
              <a:rPr lang="en-US" altLang="zh-CN" dirty="0"/>
              <a:t>3000</a:t>
            </a:r>
            <a:r>
              <a:rPr lang="zh-CN" altLang="en-US" dirty="0"/>
              <a:t>。</a:t>
            </a:r>
            <a:endParaRPr lang="zh-CN" altLang="en-US" dirty="0"/>
          </a:p>
          <a:p>
            <a:pPr lvl="1"/>
            <a:r>
              <a:rPr lang="en-US" altLang="zh-CN" dirty="0"/>
              <a:t>indicator:</a:t>
            </a:r>
            <a:r>
              <a:rPr lang="zh-CN" altLang="en-US" dirty="0"/>
              <a:t>是否启用导航点指示器，默认为</a:t>
            </a:r>
            <a:r>
              <a:rPr lang="en-US" altLang="zh-CN" dirty="0"/>
              <a:t>true</a:t>
            </a:r>
            <a:r>
              <a:rPr lang="zh-CN" altLang="en-US" dirty="0"/>
              <a:t>。</a:t>
            </a:r>
            <a:endParaRPr lang="zh-CN" altLang="en-US" dirty="0"/>
          </a:p>
          <a:p>
            <a:pPr lvl="1"/>
            <a:r>
              <a:rPr lang="en-US" altLang="zh-CN" dirty="0"/>
              <a:t>loop:</a:t>
            </a:r>
            <a:r>
              <a:rPr lang="zh-CN" altLang="en-US" dirty="0"/>
              <a:t>是否开启循环。设置为</a:t>
            </a:r>
            <a:r>
              <a:rPr lang="en-US" altLang="zh-CN" dirty="0"/>
              <a:t>true</a:t>
            </a:r>
            <a:r>
              <a:rPr lang="zh-CN" altLang="en-US" dirty="0"/>
              <a:t>时表示开启循环，在</a:t>
            </a:r>
            <a:r>
              <a:rPr lang="en-US" altLang="zh-CN" dirty="0" err="1"/>
              <a:t>LazyForEach</a:t>
            </a:r>
            <a:r>
              <a:rPr lang="zh-CN" altLang="en-US" dirty="0"/>
              <a:t>懒循环加载模式下，加载的组件数量建议大于</a:t>
            </a:r>
            <a:r>
              <a:rPr lang="en-US" altLang="zh-CN" dirty="0"/>
              <a:t>5</a:t>
            </a:r>
            <a:r>
              <a:rPr lang="zh-CN" altLang="en-US" dirty="0"/>
              <a:t>个。默认值为</a:t>
            </a:r>
            <a:r>
              <a:rPr lang="en-US" altLang="zh-CN" dirty="0"/>
              <a:t>true</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270670" y="1193353"/>
            <a:ext cx="10081120" cy="4465325"/>
          </a:xfrm>
          <a:prstGeom prst="rect">
            <a:avLst/>
          </a:prstGeom>
          <a:noFill/>
        </p:spPr>
        <p:txBody>
          <a:bodyPr wrap="square">
            <a:spAutoFit/>
          </a:bodyPr>
          <a:lstStyle/>
          <a:p>
            <a:pPr>
              <a:lnSpc>
                <a:spcPct val="150000"/>
              </a:lnSpc>
            </a:pPr>
            <a:r>
              <a:rPr lang="en-US" altLang="zh-CN" dirty="0"/>
              <a:t>duration:</a:t>
            </a:r>
            <a:r>
              <a:rPr lang="zh-CN" altLang="en-US" dirty="0"/>
              <a:t>子组件切换的动画时长，单位为</a:t>
            </a:r>
            <a:r>
              <a:rPr lang="en-US" altLang="zh-CN" dirty="0" err="1"/>
              <a:t>ms</a:t>
            </a:r>
            <a:r>
              <a:rPr lang="en-US" altLang="zh-CN" dirty="0"/>
              <a:t>,</a:t>
            </a:r>
            <a:r>
              <a:rPr lang="zh-CN" altLang="en-US" dirty="0"/>
              <a:t>默认值</a:t>
            </a:r>
            <a:r>
              <a:rPr lang="en-US" altLang="zh-CN" dirty="0"/>
              <a:t>400</a:t>
            </a:r>
            <a:r>
              <a:rPr lang="zh-CN" altLang="en-US" dirty="0"/>
              <a:t>。</a:t>
            </a:r>
            <a:endParaRPr lang="zh-CN" altLang="en-US" dirty="0"/>
          </a:p>
          <a:p>
            <a:pPr>
              <a:lnSpc>
                <a:spcPct val="150000"/>
              </a:lnSpc>
            </a:pPr>
            <a:r>
              <a:rPr lang="en-US" altLang="zh-CN" dirty="0"/>
              <a:t>vertical:</a:t>
            </a:r>
            <a:r>
              <a:rPr lang="zh-CN" altLang="en-US" dirty="0"/>
              <a:t>是否纵向滑动，默认是</a:t>
            </a:r>
            <a:r>
              <a:rPr lang="en-US" altLang="zh-CN" dirty="0"/>
              <a:t>false</a:t>
            </a:r>
            <a:r>
              <a:rPr lang="zh-CN" altLang="en-US" dirty="0"/>
              <a:t>。</a:t>
            </a:r>
            <a:endParaRPr lang="zh-CN" altLang="en-US" dirty="0"/>
          </a:p>
          <a:p>
            <a:pPr>
              <a:lnSpc>
                <a:spcPct val="150000"/>
              </a:lnSpc>
            </a:pPr>
            <a:r>
              <a:rPr lang="en-US" altLang="zh-CN" dirty="0" err="1"/>
              <a:t>itemSpace</a:t>
            </a:r>
            <a:r>
              <a:rPr lang="en-US" altLang="zh-CN" dirty="0"/>
              <a:t>:</a:t>
            </a:r>
            <a:r>
              <a:rPr lang="zh-CN" altLang="en-US" dirty="0"/>
              <a:t>设置子组件与子组件之间间隙，默认值为</a:t>
            </a:r>
            <a:r>
              <a:rPr lang="en-US" altLang="zh-CN" dirty="0"/>
              <a:t>0</a:t>
            </a:r>
            <a:r>
              <a:rPr lang="zh-CN" altLang="en-US" dirty="0"/>
              <a:t>。</a:t>
            </a:r>
            <a:endParaRPr lang="zh-CN" altLang="en-US" dirty="0"/>
          </a:p>
          <a:p>
            <a:pPr>
              <a:lnSpc>
                <a:spcPct val="150000"/>
              </a:lnSpc>
            </a:pPr>
            <a:r>
              <a:rPr lang="en-US" altLang="zh-CN" dirty="0" err="1"/>
              <a:t>cachedCount</a:t>
            </a:r>
            <a:r>
              <a:rPr lang="en-US" altLang="zh-CN" dirty="0"/>
              <a:t>:</a:t>
            </a:r>
            <a:r>
              <a:rPr lang="zh-CN" altLang="en-US" dirty="0"/>
              <a:t>设置预加载子组件个数，默认值为</a:t>
            </a:r>
            <a:r>
              <a:rPr lang="en-US" altLang="zh-CN" dirty="0"/>
              <a:t>1</a:t>
            </a:r>
            <a:r>
              <a:rPr lang="zh-CN" altLang="en-US" dirty="0"/>
              <a:t>。</a:t>
            </a:r>
            <a:endParaRPr lang="zh-CN" altLang="en-US" dirty="0"/>
          </a:p>
          <a:p>
            <a:pPr>
              <a:lnSpc>
                <a:spcPct val="150000"/>
              </a:lnSpc>
            </a:pPr>
            <a:r>
              <a:rPr lang="en-US" altLang="zh-CN" dirty="0" err="1"/>
              <a:t>disableSwipe</a:t>
            </a:r>
            <a:r>
              <a:rPr lang="en-US" altLang="zh-CN" dirty="0"/>
              <a:t>:</a:t>
            </a:r>
            <a:r>
              <a:rPr lang="zh-CN" altLang="en-US" dirty="0"/>
              <a:t>禁用组件滑动切换功能。默认为</a:t>
            </a:r>
            <a:r>
              <a:rPr lang="en-US" altLang="zh-CN" dirty="0"/>
              <a:t>false</a:t>
            </a:r>
            <a:endParaRPr lang="en-US" altLang="zh-CN" dirty="0"/>
          </a:p>
          <a:p>
            <a:pPr>
              <a:lnSpc>
                <a:spcPct val="150000"/>
              </a:lnSpc>
            </a:pPr>
            <a:r>
              <a:rPr lang="en-US" altLang="zh-CN" dirty="0"/>
              <a:t>curve:</a:t>
            </a:r>
            <a:r>
              <a:rPr lang="zh-CN" altLang="en-US" dirty="0"/>
              <a:t>设置</a:t>
            </a:r>
            <a:r>
              <a:rPr lang="en-US" altLang="zh-CN" dirty="0"/>
              <a:t>Swiper</a:t>
            </a:r>
            <a:r>
              <a:rPr lang="zh-CN" altLang="en-US" dirty="0"/>
              <a:t>的动画曲线，默认为淡入淡出曲线，默认值为</a:t>
            </a:r>
            <a:r>
              <a:rPr lang="en-US" altLang="zh-CN" dirty="0" err="1"/>
              <a:t>Curve.Ease</a:t>
            </a:r>
            <a:r>
              <a:rPr lang="zh-CN" altLang="en-US" dirty="0"/>
              <a:t>。</a:t>
            </a:r>
            <a:endParaRPr lang="zh-CN" altLang="en-US" dirty="0"/>
          </a:p>
          <a:p>
            <a:pPr>
              <a:lnSpc>
                <a:spcPct val="150000"/>
              </a:lnSpc>
            </a:pPr>
            <a:r>
              <a:rPr lang="en-US" altLang="zh-CN" dirty="0" err="1"/>
              <a:t>displayCount</a:t>
            </a:r>
            <a:r>
              <a:rPr lang="en-US" altLang="zh-CN" dirty="0"/>
              <a:t>:</a:t>
            </a:r>
            <a:r>
              <a:rPr lang="zh-CN" altLang="en-US" dirty="0"/>
              <a:t>设置一页内元素显示个数，默认值为</a:t>
            </a:r>
            <a:r>
              <a:rPr lang="en-US" altLang="zh-CN" dirty="0"/>
              <a:t>1</a:t>
            </a:r>
            <a:endParaRPr lang="en-US" altLang="zh-CN" dirty="0"/>
          </a:p>
          <a:p>
            <a:pPr>
              <a:lnSpc>
                <a:spcPct val="150000"/>
              </a:lnSpc>
            </a:pPr>
            <a:r>
              <a:rPr lang="en-US" altLang="zh-CN" dirty="0" err="1"/>
              <a:t>effectMode</a:t>
            </a:r>
            <a:r>
              <a:rPr lang="en-US" altLang="zh-CN" dirty="0"/>
              <a:t>:</a:t>
            </a:r>
            <a:r>
              <a:rPr lang="zh-CN" altLang="en-US" dirty="0"/>
              <a:t>滑动效果，默认值为</a:t>
            </a:r>
            <a:r>
              <a:rPr lang="en-US" altLang="zh-CN" dirty="0" err="1"/>
              <a:t>EdgeEffect.Spring</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1"/>
          <a:stretch>
            <a:fillRect/>
          </a:stretch>
        </p:blipFill>
        <p:spPr>
          <a:xfrm>
            <a:off x="2422798" y="827253"/>
            <a:ext cx="7050042" cy="5854565"/>
          </a:xfrm>
          <a:prstGeom prst="rect">
            <a:avLst/>
          </a:prstGeom>
        </p:spPr>
      </p:pic>
      <p:sp>
        <p:nvSpPr>
          <p:cNvPr id="11" name="文本框 10"/>
          <p:cNvSpPr txBox="1"/>
          <p:nvPr/>
        </p:nvSpPr>
        <p:spPr>
          <a:xfrm>
            <a:off x="262558" y="2824832"/>
            <a:ext cx="6097656" cy="461665"/>
          </a:xfrm>
          <a:prstGeom prst="rect">
            <a:avLst/>
          </a:prstGeom>
          <a:noFill/>
        </p:spPr>
        <p:txBody>
          <a:bodyPr wrap="square">
            <a:spAutoFit/>
          </a:bodyPr>
          <a:lstStyle/>
          <a:p>
            <a:r>
              <a:rPr lang="en-US" altLang="zh-CN" dirty="0"/>
              <a:t>Curve </a:t>
            </a:r>
            <a:r>
              <a:rPr lang="zh-CN" altLang="en-US" dirty="0"/>
              <a:t>枚举说明</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270670" y="1125538"/>
            <a:ext cx="9001000" cy="5019323"/>
          </a:xfrm>
          <a:prstGeom prst="rect">
            <a:avLst/>
          </a:prstGeom>
          <a:noFill/>
        </p:spPr>
        <p:txBody>
          <a:bodyPr wrap="square">
            <a:spAutoFit/>
          </a:bodyPr>
          <a:lstStyle/>
          <a:p>
            <a:pPr>
              <a:lnSpc>
                <a:spcPct val="150000"/>
              </a:lnSpc>
            </a:pPr>
            <a:r>
              <a:rPr lang="en-US" altLang="zh-CN" dirty="0"/>
              <a:t>3.Swiper</a:t>
            </a:r>
            <a:r>
              <a:rPr lang="zh-CN" altLang="en-US" dirty="0"/>
              <a:t>事件</a:t>
            </a:r>
            <a:endParaRPr lang="zh-CN" altLang="en-US" dirty="0"/>
          </a:p>
          <a:p>
            <a:pPr lvl="1">
              <a:lnSpc>
                <a:spcPct val="150000"/>
              </a:lnSpc>
            </a:pPr>
            <a:r>
              <a:rPr lang="en-US" altLang="zh-CN" dirty="0" err="1"/>
              <a:t>onChange</a:t>
            </a:r>
            <a:r>
              <a:rPr lang="en-US" altLang="zh-CN" dirty="0"/>
              <a:t>:</a:t>
            </a:r>
            <a:r>
              <a:rPr lang="zh-CN" altLang="en-US" dirty="0"/>
              <a:t>当前显示的子组件索引变化时触发该事件，返回值为当前显示的子组件的索引值。</a:t>
            </a:r>
            <a:r>
              <a:rPr lang="en-US" altLang="zh-CN" dirty="0"/>
              <a:t>Index:</a:t>
            </a:r>
            <a:r>
              <a:rPr lang="zh-CN" altLang="en-US" dirty="0"/>
              <a:t>当前显示元素的索引。</a:t>
            </a:r>
            <a:endParaRPr lang="zh-CN" altLang="en-US" dirty="0"/>
          </a:p>
          <a:p>
            <a:pPr>
              <a:lnSpc>
                <a:spcPct val="150000"/>
              </a:lnSpc>
            </a:pPr>
            <a:r>
              <a:rPr lang="en-US" altLang="zh-CN" dirty="0"/>
              <a:t>4.SwiperController</a:t>
            </a:r>
            <a:r>
              <a:rPr lang="zh-CN" altLang="en-US" dirty="0"/>
              <a:t>控制器</a:t>
            </a:r>
            <a:endParaRPr lang="zh-CN" altLang="en-US" dirty="0"/>
          </a:p>
          <a:p>
            <a:pPr lvl="1">
              <a:lnSpc>
                <a:spcPct val="150000"/>
              </a:lnSpc>
            </a:pPr>
            <a:r>
              <a:rPr lang="en-US" altLang="zh-CN" dirty="0" err="1"/>
              <a:t>SwiperController</a:t>
            </a:r>
            <a:r>
              <a:rPr lang="zh-CN" altLang="en-US" dirty="0"/>
              <a:t>是</a:t>
            </a:r>
            <a:r>
              <a:rPr lang="en-US" altLang="zh-CN" dirty="0"/>
              <a:t>Swiper</a:t>
            </a:r>
            <a:r>
              <a:rPr lang="zh-CN" altLang="en-US" dirty="0"/>
              <a:t>的页面切换控制器，可以将此对象绑定至</a:t>
            </a:r>
            <a:r>
              <a:rPr lang="en-US" altLang="zh-CN" dirty="0"/>
              <a:t>Swiper</a:t>
            </a:r>
            <a:r>
              <a:rPr lang="zh-CN" altLang="en-US" dirty="0"/>
              <a:t>组件上，然后通过它控制翻页。提供方法如下。</a:t>
            </a:r>
            <a:endParaRPr lang="zh-CN" altLang="en-US" dirty="0"/>
          </a:p>
          <a:p>
            <a:pPr lvl="1">
              <a:lnSpc>
                <a:spcPct val="150000"/>
              </a:lnSpc>
            </a:pPr>
            <a:r>
              <a:rPr lang="en-US" altLang="zh-CN" dirty="0" err="1"/>
              <a:t>showNext</a:t>
            </a:r>
            <a:r>
              <a:rPr lang="zh-CN" altLang="en-US" dirty="0"/>
              <a:t>：翻至下一页。</a:t>
            </a:r>
            <a:endParaRPr lang="zh-CN" altLang="en-US" dirty="0"/>
          </a:p>
          <a:p>
            <a:pPr lvl="1">
              <a:lnSpc>
                <a:spcPct val="150000"/>
              </a:lnSpc>
            </a:pPr>
            <a:r>
              <a:rPr lang="en-US" altLang="zh-CN" dirty="0" err="1"/>
              <a:t>showPrevious</a:t>
            </a:r>
            <a:r>
              <a:rPr lang="zh-CN" altLang="en-US" dirty="0"/>
              <a:t>：翻至上一页。</a:t>
            </a:r>
            <a:endParaRPr lang="zh-CN" altLang="en-US" dirty="0"/>
          </a:p>
          <a:p>
            <a:pPr lvl="1">
              <a:lnSpc>
                <a:spcPct val="150000"/>
              </a:lnSpc>
            </a:pPr>
            <a:r>
              <a:rPr lang="en-US" altLang="zh-CN" dirty="0" err="1"/>
              <a:t>finishAnimation</a:t>
            </a:r>
            <a:r>
              <a:rPr lang="zh-CN" altLang="en-US" dirty="0"/>
              <a:t>：停止播放动画。</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Swiper</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轮播</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1"/>
          <a:stretch>
            <a:fillRect/>
          </a:stretch>
        </p:blipFill>
        <p:spPr>
          <a:xfrm>
            <a:off x="7607374" y="1341562"/>
            <a:ext cx="3963862" cy="4790967"/>
          </a:xfrm>
          <a:prstGeom prst="rect">
            <a:avLst/>
          </a:prstGeom>
        </p:spPr>
      </p:pic>
      <p:pic>
        <p:nvPicPr>
          <p:cNvPr id="9" name="图片 8"/>
          <p:cNvPicPr>
            <a:picLocks noChangeAspect="1"/>
          </p:cNvPicPr>
          <p:nvPr/>
        </p:nvPicPr>
        <p:blipFill>
          <a:blip r:embed="rId2"/>
          <a:stretch>
            <a:fillRect/>
          </a:stretch>
        </p:blipFill>
        <p:spPr>
          <a:xfrm>
            <a:off x="766614" y="1569031"/>
            <a:ext cx="5441713" cy="433602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Refeash</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下拉刷新</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文本框 9"/>
          <p:cNvSpPr txBox="1"/>
          <p:nvPr/>
        </p:nvSpPr>
        <p:spPr>
          <a:xfrm>
            <a:off x="822751" y="824021"/>
            <a:ext cx="11367662" cy="2462213"/>
          </a:xfrm>
          <a:prstGeom prst="rect">
            <a:avLst/>
          </a:prstGeom>
          <a:noFill/>
        </p:spPr>
        <p:txBody>
          <a:bodyPr wrap="square">
            <a:spAutoFit/>
          </a:bodyPr>
          <a:lstStyle/>
          <a:p>
            <a:r>
              <a:rPr lang="en-US" altLang="zh-CN" sz="2200" dirty="0"/>
              <a:t>1.Refresh</a:t>
            </a:r>
            <a:r>
              <a:rPr lang="zh-CN" altLang="en-US" sz="2200" dirty="0"/>
              <a:t>构造参数</a:t>
            </a:r>
            <a:endParaRPr lang="zh-CN" altLang="en-US" sz="2200" dirty="0"/>
          </a:p>
          <a:p>
            <a:pPr lvl="1"/>
            <a:r>
              <a:rPr lang="en-US" altLang="zh-CN" sz="2200" dirty="0"/>
              <a:t>refreshing:</a:t>
            </a:r>
            <a:r>
              <a:rPr lang="zh-CN" altLang="en-US" sz="2200" dirty="0"/>
              <a:t>控件是否显示刷新动画，默认不显示。</a:t>
            </a:r>
            <a:endParaRPr lang="zh-CN" altLang="en-US" sz="2200" dirty="0"/>
          </a:p>
          <a:p>
            <a:pPr lvl="1"/>
            <a:r>
              <a:rPr lang="en-US" altLang="zh-CN" sz="2200" dirty="0"/>
              <a:t>offset:</a:t>
            </a:r>
            <a:r>
              <a:rPr lang="zh-CN" altLang="en-US" sz="2200" dirty="0"/>
              <a:t>下拉的偏移量，当下拉的距离超过该值时，控件进入刷新状态，默认值为</a:t>
            </a:r>
            <a:r>
              <a:rPr lang="en-US" altLang="zh-CN" sz="2200" dirty="0"/>
              <a:t>16vp</a:t>
            </a:r>
            <a:r>
              <a:rPr lang="zh-CN" altLang="en-US" sz="2200" dirty="0"/>
              <a:t>。</a:t>
            </a:r>
            <a:endParaRPr lang="zh-CN" altLang="en-US" sz="2200" dirty="0"/>
          </a:p>
          <a:p>
            <a:pPr lvl="1"/>
            <a:r>
              <a:rPr lang="en-US" altLang="zh-CN" sz="2200" dirty="0"/>
              <a:t>friction:</a:t>
            </a:r>
            <a:r>
              <a:rPr lang="zh-CN" altLang="en-US" sz="2200" dirty="0"/>
              <a:t>下拉时的阻力系数，数值越大，下拉距离越小，取值范围为</a:t>
            </a:r>
            <a:r>
              <a:rPr lang="en-US" altLang="zh-CN" sz="2200" dirty="0"/>
              <a:t>0</a:t>
            </a:r>
            <a:r>
              <a:rPr lang="zh-CN" altLang="en-US" sz="2200" dirty="0"/>
              <a:t>到</a:t>
            </a:r>
            <a:r>
              <a:rPr lang="en-US" altLang="zh-CN" sz="2200" dirty="0"/>
              <a:t>100,</a:t>
            </a:r>
            <a:r>
              <a:rPr lang="zh-CN" altLang="en-US" sz="2200" dirty="0"/>
              <a:t>默认值为</a:t>
            </a:r>
            <a:r>
              <a:rPr lang="en-US" altLang="zh-CN" sz="2200" dirty="0"/>
              <a:t>62</a:t>
            </a:r>
            <a:r>
              <a:rPr lang="zh-CN" altLang="en-US" sz="2200" dirty="0"/>
              <a:t>。</a:t>
            </a:r>
            <a:endParaRPr lang="zh-CN" altLang="en-US" sz="2200" dirty="0"/>
          </a:p>
          <a:p>
            <a:r>
              <a:rPr lang="en-US" altLang="zh-CN" sz="2200" dirty="0"/>
              <a:t>2.Refresh</a:t>
            </a:r>
            <a:r>
              <a:rPr lang="zh-CN" altLang="en-US" sz="2200" dirty="0"/>
              <a:t>事件</a:t>
            </a:r>
            <a:endParaRPr lang="zh-CN" altLang="en-US" sz="2200" dirty="0"/>
          </a:p>
          <a:p>
            <a:pPr lvl="1"/>
            <a:r>
              <a:rPr lang="en-US" altLang="zh-CN" sz="2200" dirty="0" err="1"/>
              <a:t>onStateChange</a:t>
            </a:r>
            <a:r>
              <a:rPr lang="en-US" altLang="zh-CN" sz="2200" dirty="0"/>
              <a:t>:</a:t>
            </a:r>
            <a:r>
              <a:rPr lang="zh-CN" altLang="en-US" sz="2200" dirty="0"/>
              <a:t>当前刷新状态变更时，触发回调。</a:t>
            </a:r>
            <a:endParaRPr lang="zh-CN" altLang="en-US" sz="2200" dirty="0"/>
          </a:p>
          <a:p>
            <a:pPr lvl="1"/>
            <a:r>
              <a:rPr lang="en-US" altLang="zh-CN" sz="2200" dirty="0" err="1"/>
              <a:t>onRefreshing</a:t>
            </a:r>
            <a:r>
              <a:rPr lang="en-US" altLang="zh-CN" sz="2200" dirty="0"/>
              <a:t>:</a:t>
            </a:r>
            <a:r>
              <a:rPr lang="zh-CN" altLang="en-US" sz="2200" dirty="0"/>
              <a:t>组件进入</a:t>
            </a:r>
            <a:r>
              <a:rPr lang="en-US" altLang="zh-CN" sz="2200" dirty="0"/>
              <a:t>Refresh</a:t>
            </a:r>
            <a:r>
              <a:rPr lang="zh-CN" altLang="en-US" sz="2200" dirty="0"/>
              <a:t>状态后对外的回调，一般在该回调里进行网络请求等操作。</a:t>
            </a:r>
            <a:endParaRPr lang="zh-CN" altLang="en-US" sz="2200" dirty="0"/>
          </a:p>
        </p:txBody>
      </p:sp>
      <p:pic>
        <p:nvPicPr>
          <p:cNvPr id="12" name="图片 11"/>
          <p:cNvPicPr>
            <a:picLocks noChangeAspect="1"/>
          </p:cNvPicPr>
          <p:nvPr/>
        </p:nvPicPr>
        <p:blipFill>
          <a:blip r:embed="rId1"/>
          <a:stretch>
            <a:fillRect/>
          </a:stretch>
        </p:blipFill>
        <p:spPr>
          <a:xfrm>
            <a:off x="1200775" y="3435974"/>
            <a:ext cx="9926435" cy="306747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Refeash</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下拉刷新</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pic>
        <p:nvPicPr>
          <p:cNvPr id="3" name="图片 2"/>
          <p:cNvPicPr>
            <a:picLocks noChangeAspect="1"/>
          </p:cNvPicPr>
          <p:nvPr/>
        </p:nvPicPr>
        <p:blipFill>
          <a:blip r:embed="rId1"/>
          <a:stretch>
            <a:fillRect/>
          </a:stretch>
        </p:blipFill>
        <p:spPr>
          <a:xfrm>
            <a:off x="426576" y="909514"/>
            <a:ext cx="5760640" cy="5760640"/>
          </a:xfrm>
          <a:prstGeom prst="rect">
            <a:avLst/>
          </a:prstGeom>
        </p:spPr>
      </p:pic>
      <p:pic>
        <p:nvPicPr>
          <p:cNvPr id="5" name="图片 4"/>
          <p:cNvPicPr>
            <a:picLocks noChangeAspect="1"/>
          </p:cNvPicPr>
          <p:nvPr/>
        </p:nvPicPr>
        <p:blipFill>
          <a:blip r:embed="rId2"/>
          <a:stretch>
            <a:fillRect/>
          </a:stretch>
        </p:blipFill>
        <p:spPr>
          <a:xfrm>
            <a:off x="6383238" y="2469018"/>
            <a:ext cx="5228571" cy="153333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1558702" y="1840400"/>
            <a:ext cx="9505056" cy="2203167"/>
          </a:xfrm>
          <a:prstGeom prst="rect">
            <a:avLst/>
          </a:prstGeom>
          <a:noFill/>
        </p:spPr>
        <p:txBody>
          <a:bodyPr wrap="square">
            <a:spAutoFit/>
          </a:bodyPr>
          <a:lstStyle/>
          <a:p>
            <a:pPr algn="just">
              <a:lnSpc>
                <a:spcPct val="200000"/>
              </a:lnSpc>
            </a:pPr>
            <a:r>
              <a:rPr lang="zh-CN" altLang="en-US" dirty="0"/>
              <a:t>介绍在</a:t>
            </a:r>
            <a:r>
              <a:rPr lang="en-US" altLang="zh-CN" dirty="0" err="1"/>
              <a:t>ArkUI</a:t>
            </a:r>
            <a:r>
              <a:rPr lang="zh-CN" altLang="en-US" dirty="0"/>
              <a:t>开发框架中自定义组件的语法规则</a:t>
            </a:r>
            <a:endParaRPr lang="en-US" altLang="zh-CN" dirty="0"/>
          </a:p>
          <a:p>
            <a:pPr lvl="1" algn="just">
              <a:lnSpc>
                <a:spcPct val="200000"/>
              </a:lnSpc>
            </a:pPr>
            <a:r>
              <a:rPr lang="zh-CN" altLang="en-US" dirty="0"/>
              <a:t>先通过示例分别介绍如何使用</a:t>
            </a:r>
            <a:r>
              <a:rPr lang="en-US" altLang="zh-CN" dirty="0"/>
              <a:t>circle</a:t>
            </a:r>
            <a:r>
              <a:rPr lang="zh-CN" altLang="en-US" dirty="0"/>
              <a:t>自定义圆和</a:t>
            </a:r>
            <a:r>
              <a:rPr lang="en-US" altLang="zh-CN" dirty="0"/>
              <a:t>canvas</a:t>
            </a:r>
            <a:r>
              <a:rPr lang="zh-CN" altLang="en-US" dirty="0"/>
              <a:t>自定义圆，介绍如何自定义标题栏以及如何使用自定义插槽容器组件。</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自定义圆环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478582" y="1166406"/>
            <a:ext cx="11161240" cy="688009"/>
          </a:xfrm>
          <a:prstGeom prst="rect">
            <a:avLst/>
          </a:prstGeom>
          <a:noFill/>
        </p:spPr>
        <p:txBody>
          <a:bodyPr wrap="square">
            <a:spAutoFit/>
          </a:bodyPr>
          <a:lstStyle/>
          <a:p>
            <a:pPr algn="l" fontAlgn="base">
              <a:lnSpc>
                <a:spcPts val="2250"/>
              </a:lnSpc>
              <a:spcAft>
                <a:spcPts val="300"/>
              </a:spcAft>
              <a:buNone/>
            </a:pPr>
            <a:r>
              <a:rPr lang="zh-CN" altLang="en-US" b="0" i="0" dirty="0">
                <a:solidFill>
                  <a:srgbClr val="343434"/>
                </a:solidFill>
                <a:effectLst/>
                <a:latin typeface="PingFang SC"/>
              </a:rPr>
              <a:t>自定义圆环的实现非常简单，可以通过组合现有控件或者使用</a:t>
            </a:r>
            <a:r>
              <a:rPr lang="en-US" altLang="zh-CN" b="0" i="0" dirty="0">
                <a:solidFill>
                  <a:srgbClr val="343434"/>
                </a:solidFill>
                <a:effectLst/>
                <a:latin typeface="PingFang SC"/>
              </a:rPr>
              <a:t>Canvas</a:t>
            </a:r>
            <a:r>
              <a:rPr lang="zh-CN" altLang="en-US" b="0" i="0" dirty="0">
                <a:solidFill>
                  <a:srgbClr val="343434"/>
                </a:solidFill>
                <a:effectLst/>
                <a:latin typeface="PingFang SC"/>
              </a:rPr>
              <a:t>自绘制的方式来实现一个自定义组件。</a:t>
            </a:r>
            <a:endParaRPr lang="zh-CN" altLang="en-US" b="0" i="0" dirty="0">
              <a:solidFill>
                <a:srgbClr val="343434"/>
              </a:solidFill>
              <a:effectLst/>
              <a:latin typeface="PingFang SC"/>
            </a:endParaRPr>
          </a:p>
        </p:txBody>
      </p:sp>
      <p:pic>
        <p:nvPicPr>
          <p:cNvPr id="3" name="图片 2"/>
          <p:cNvPicPr>
            <a:picLocks noChangeAspect="1"/>
          </p:cNvPicPr>
          <p:nvPr/>
        </p:nvPicPr>
        <p:blipFill>
          <a:blip r:embed="rId1"/>
          <a:stretch>
            <a:fillRect/>
          </a:stretch>
        </p:blipFill>
        <p:spPr>
          <a:xfrm>
            <a:off x="1702719" y="2781722"/>
            <a:ext cx="6408712" cy="22496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自定义圆环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Rectangle 1"/>
          <p:cNvSpPr>
            <a:spLocks noChangeArrowheads="1"/>
          </p:cNvSpPr>
          <p:nvPr/>
        </p:nvSpPr>
        <p:spPr bwMode="auto">
          <a:xfrm>
            <a:off x="2450788" y="3412673"/>
            <a:ext cx="2352774" cy="244682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Circle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大圆充满父布局</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Circle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小圆居中显示</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83</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fill</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Blue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1"/>
          <a:stretch>
            <a:fillRect/>
          </a:stretch>
        </p:blipFill>
        <p:spPr>
          <a:xfrm>
            <a:off x="6023198" y="3627475"/>
            <a:ext cx="1857634" cy="1629002"/>
          </a:xfrm>
          <a:prstGeom prst="rect">
            <a:avLst/>
          </a:prstGeom>
        </p:spPr>
      </p:pic>
      <p:sp>
        <p:nvSpPr>
          <p:cNvPr id="11" name="文本框 10"/>
          <p:cNvSpPr txBox="1"/>
          <p:nvPr/>
        </p:nvSpPr>
        <p:spPr>
          <a:xfrm>
            <a:off x="1234666" y="1498328"/>
            <a:ext cx="9577064" cy="1200329"/>
          </a:xfrm>
          <a:prstGeom prst="rect">
            <a:avLst/>
          </a:prstGeom>
          <a:noFill/>
        </p:spPr>
        <p:txBody>
          <a:bodyPr wrap="square">
            <a:spAutoFit/>
          </a:bodyPr>
          <a:lstStyle/>
          <a:p>
            <a:r>
              <a:rPr lang="zh-CN" altLang="en-US" dirty="0"/>
              <a:t>实现</a:t>
            </a:r>
            <a:r>
              <a:rPr lang="en-US" altLang="zh-CN" dirty="0"/>
              <a:t>Ring</a:t>
            </a:r>
            <a:r>
              <a:rPr lang="zh-CN" altLang="en-US" dirty="0"/>
              <a:t>的布局：</a:t>
            </a:r>
            <a:endParaRPr lang="en-US" altLang="zh-CN" dirty="0"/>
          </a:p>
          <a:p>
            <a:r>
              <a:rPr lang="zh-CN" altLang="en-US" dirty="0"/>
              <a:t>目前通过堆叠的方式实现了</a:t>
            </a:r>
            <a:r>
              <a:rPr lang="en-US" altLang="zh-CN" dirty="0"/>
              <a:t>Ring</a:t>
            </a:r>
            <a:r>
              <a:rPr lang="zh-CN" altLang="en-US" dirty="0"/>
              <a:t>组件，但是这个圆环不能设置颜色和大小，因此接下来我们需要定义一下圆环具有的属性。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自定义标题栏</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TitleBar</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 name="文本框 4"/>
          <p:cNvSpPr txBox="1"/>
          <p:nvPr/>
        </p:nvSpPr>
        <p:spPr>
          <a:xfrm>
            <a:off x="1462202" y="842730"/>
            <a:ext cx="10105612" cy="1200329"/>
          </a:xfrm>
          <a:prstGeom prst="rect">
            <a:avLst/>
          </a:prstGeom>
          <a:noFill/>
        </p:spPr>
        <p:txBody>
          <a:bodyPr wrap="square">
            <a:spAutoFit/>
          </a:bodyPr>
          <a:lstStyle/>
          <a:p>
            <a:r>
              <a:rPr lang="zh-CN" altLang="en-US" dirty="0"/>
              <a:t>标题栏在移动端开发中是一个很常用的控件，带有标题栏的页面一般都是分成两部分，上边是标题栏，下边是页面内容；而标题栏的样式一般都是左边是一个返回键，中间是标题，右边是菜单，如图所示。</a:t>
            </a:r>
            <a:endParaRPr lang="zh-CN" altLang="en-US" dirty="0"/>
          </a:p>
        </p:txBody>
      </p:sp>
      <p:pic>
        <p:nvPicPr>
          <p:cNvPr id="10" name="图片 9"/>
          <p:cNvPicPr>
            <a:picLocks noChangeAspect="1"/>
          </p:cNvPicPr>
          <p:nvPr/>
        </p:nvPicPr>
        <p:blipFill>
          <a:blip r:embed="rId1"/>
          <a:stretch>
            <a:fillRect/>
          </a:stretch>
        </p:blipFill>
        <p:spPr>
          <a:xfrm>
            <a:off x="3644097" y="1925542"/>
            <a:ext cx="4291870" cy="491374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自定义标题栏</a:t>
            </a:r>
            <a:r>
              <a:rPr lang="en-US" altLang="zh-CN" b="1" dirty="0" err="1">
                <a:solidFill>
                  <a:srgbClr val="595959"/>
                </a:solidFill>
                <a:latin typeface="微软雅黑" panose="020B0503020204020204" pitchFamily="34" charset="-122"/>
                <a:ea typeface="微软雅黑" panose="020B0503020204020204" pitchFamily="34" charset="-122"/>
                <a:sym typeface="宋体" panose="02010600030101010101" pitchFamily="2" charset="-122"/>
              </a:rPr>
              <a:t>TitleBar</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文本框 4"/>
          <p:cNvSpPr txBox="1"/>
          <p:nvPr/>
        </p:nvSpPr>
        <p:spPr>
          <a:xfrm>
            <a:off x="1318186" y="1030650"/>
            <a:ext cx="10033604" cy="461665"/>
          </a:xfrm>
          <a:prstGeom prst="rect">
            <a:avLst/>
          </a:prstGeom>
          <a:noFill/>
        </p:spPr>
        <p:txBody>
          <a:bodyPr wrap="square">
            <a:spAutoFit/>
          </a:bodyPr>
          <a:lstStyle/>
          <a:p>
            <a:r>
              <a:rPr lang="zh-CN" altLang="en-US" dirty="0"/>
              <a:t>为了简单实现这一布局，直接使用</a:t>
            </a:r>
            <a:r>
              <a:rPr lang="en-US" altLang="zh-CN" dirty="0"/>
              <a:t>Flex</a:t>
            </a:r>
            <a:r>
              <a:rPr lang="zh-CN" altLang="en-US" dirty="0"/>
              <a:t>组件把它在主轴方向上均分成</a:t>
            </a:r>
            <a:r>
              <a:rPr lang="en-US" altLang="zh-CN" dirty="0"/>
              <a:t>3</a:t>
            </a:r>
            <a:r>
              <a:rPr lang="zh-CN" altLang="en-US" dirty="0"/>
              <a:t>份</a:t>
            </a:r>
            <a:endParaRPr lang="zh-CN" altLang="en-US" dirty="0"/>
          </a:p>
        </p:txBody>
      </p:sp>
      <p:sp>
        <p:nvSpPr>
          <p:cNvPr id="13" name="Rectangle 1"/>
          <p:cNvSpPr>
            <a:spLocks noChangeArrowheads="1"/>
          </p:cNvSpPr>
          <p:nvPr/>
        </p:nvSpPr>
        <p:spPr bwMode="auto">
          <a:xfrm>
            <a:off x="927086" y="1845618"/>
            <a:ext cx="5375127" cy="452431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a:ln>
                  <a:noFill/>
                </a:ln>
                <a:solidFill>
                  <a:srgbClr val="65CCE1"/>
                </a:solidFill>
                <a:effectLst/>
                <a:latin typeface="Arial Unicode MS" panose="020B0604020202020204" charset="-122"/>
                <a:ea typeface="JetBrains Mono"/>
              </a:rPr>
              <a:t>Stack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alignContent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Start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返回键左对齐</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Image</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"app.media.startIcon"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35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55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objectFit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ImageFit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Contain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margin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left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18</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600" b="0" i="0" u="none" strike="noStrike" cap="none" normalizeH="0" baseline="0">
                <a:ln>
                  <a:noFill/>
                </a:ln>
                <a:solidFill>
                  <a:srgbClr val="FAA23D"/>
                </a:solidFill>
                <a:effectLst/>
                <a:latin typeface="Arial Unicode MS" panose="020B0604020202020204" charset="-122"/>
                <a:ea typeface="JetBrains Mono"/>
              </a:rPr>
            </a:b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layoutWeight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使用权重属性均分父布局</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S</a:t>
            </a:r>
            <a:br>
              <a:rPr kumimoji="0" lang="zh-CN" altLang="zh-CN" sz="1600" b="0" i="0" u="none" strike="noStrike" cap="none" normalizeH="0" baseline="0">
                <a:ln>
                  <a:noFill/>
                </a:ln>
                <a:solidFill>
                  <a:srgbClr val="808080"/>
                </a:solidFill>
                <a:effectLst/>
                <a:latin typeface="Arial Unicode MS" panose="020B0604020202020204" charset="-122"/>
                <a:ea typeface="JetBrains Mono"/>
              </a:rPr>
            </a:br>
            <a:r>
              <a:rPr kumimoji="0" lang="zh-CN" altLang="zh-CN" sz="16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Stack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alignContent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Center</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标题居中对齐</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标题</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fontSize</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25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fontColor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Red</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Black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使用权重属性均分父布局</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layoutWeight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Stack</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alignContent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End</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600" b="0" i="0" u="none" strike="noStrike" cap="none" normalizeH="0" baseline="0">
                <a:ln>
                  <a:noFill/>
                </a:ln>
                <a:solidFill>
                  <a:srgbClr val="808080"/>
                </a:solidFill>
                <a:effectLst/>
                <a:latin typeface="Arial Unicode MS" panose="020B0604020202020204" charset="-122"/>
                <a:ea typeface="JetBrains Mono"/>
              </a:rPr>
              <a:t>//</a:t>
            </a: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菜单右对齐</a:t>
            </a:r>
            <a:b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6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Image</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$r</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AA7DFC"/>
                </a:solidFill>
                <a:effectLst/>
                <a:latin typeface="Arial Unicode MS" panose="020B0604020202020204" charset="-122"/>
                <a:ea typeface="JetBrains Mono"/>
              </a:rPr>
              <a:t>"app.media.app_icon"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35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55</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objectFit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ImageFit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Contain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600" b="0" i="0" u="none" strike="noStrike" cap="none" normalizeH="0" baseline="0">
                <a:ln>
                  <a:noFill/>
                </a:ln>
                <a:solidFill>
                  <a:srgbClr val="DB7E9B"/>
                </a:solidFill>
                <a:effectLst/>
                <a:latin typeface="Arial Unicode MS" panose="020B0604020202020204" charset="-122"/>
                <a:ea typeface="JetBrains Mono"/>
              </a:rPr>
            </a:br>
            <a:r>
              <a:rPr kumimoji="0" lang="zh-CN" altLang="zh-CN" sz="16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65CCE1"/>
                </a:solidFill>
                <a:effectLst/>
                <a:latin typeface="Arial Unicode MS" panose="020B0604020202020204" charset="-122"/>
                <a:ea typeface="JetBrains Mono"/>
              </a:rPr>
              <a:t>margin</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FFFFFF"/>
                </a:solidFill>
                <a:effectLst/>
                <a:latin typeface="Arial Unicode MS" panose="020B0604020202020204" charset="-122"/>
                <a:ea typeface="JetBrains Mono"/>
              </a:rPr>
              <a:t>right</a:t>
            </a:r>
            <a:r>
              <a:rPr kumimoji="0" lang="zh-CN" altLang="zh-CN" sz="16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600" b="0" i="0" u="none" strike="noStrike" cap="none" normalizeH="0" baseline="0">
                <a:ln>
                  <a:noFill/>
                </a:ln>
                <a:solidFill>
                  <a:srgbClr val="B3E54C"/>
                </a:solidFill>
                <a:effectLst/>
                <a:latin typeface="Arial Unicode MS" panose="020B0604020202020204" charset="-122"/>
                <a:ea typeface="JetBrains Mono"/>
              </a:rPr>
              <a:t>10</a:t>
            </a:r>
            <a:r>
              <a:rPr kumimoji="0" lang="zh-CN" altLang="zh-CN" sz="16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600" b="0" i="0" u="none" strike="noStrike" cap="none" normalizeH="0" baseline="0">
                <a:ln>
                  <a:noFill/>
                </a:ln>
                <a:solidFill>
                  <a:srgbClr val="DB7E9B"/>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15" name="图片 14"/>
          <p:cNvPicPr>
            <a:picLocks noChangeAspect="1"/>
          </p:cNvPicPr>
          <p:nvPr/>
        </p:nvPicPr>
        <p:blipFill>
          <a:blip r:embed="rId1"/>
          <a:stretch>
            <a:fillRect/>
          </a:stretch>
        </p:blipFill>
        <p:spPr>
          <a:xfrm>
            <a:off x="6481103" y="2420452"/>
            <a:ext cx="4667901" cy="23625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198662" y="1540180"/>
            <a:ext cx="9342294" cy="1569660"/>
          </a:xfrm>
          <a:prstGeom prst="rect">
            <a:avLst/>
          </a:prstGeom>
          <a:noFill/>
        </p:spPr>
        <p:txBody>
          <a:bodyPr wrap="square">
            <a:spAutoFit/>
          </a:bodyPr>
          <a:lstStyle/>
          <a:p>
            <a:r>
              <a:rPr lang="en-US" altLang="zh-CN" dirty="0"/>
              <a:t>1.@BuilderParam</a:t>
            </a:r>
            <a:r>
              <a:rPr lang="zh-CN" altLang="en-US" dirty="0"/>
              <a:t>定义</a:t>
            </a:r>
            <a:endParaRPr lang="zh-CN" altLang="en-US" dirty="0"/>
          </a:p>
          <a:p>
            <a:r>
              <a:rPr lang="en-US" altLang="zh-CN" dirty="0" err="1"/>
              <a:t>BuilderParam</a:t>
            </a:r>
            <a:r>
              <a:rPr lang="zh-CN" altLang="en-US" dirty="0"/>
              <a:t>定义在</a:t>
            </a:r>
            <a:r>
              <a:rPr lang="en-US" altLang="zh-CN" dirty="0" err="1"/>
              <a:t>common.d.ts</a:t>
            </a:r>
            <a:r>
              <a:rPr lang="zh-CN" altLang="en-US" dirty="0"/>
              <a:t>文件中，是一个属性修饰符，修饰的属性类型为（）</a:t>
            </a:r>
            <a:r>
              <a:rPr lang="en-US" altLang="zh-CN" dirty="0"/>
              <a:t>=&gt;</a:t>
            </a:r>
            <a:r>
              <a:rPr lang="zh-CN" altLang="en-US" dirty="0"/>
              <a:t>（）</a:t>
            </a:r>
            <a:r>
              <a:rPr lang="en-US" altLang="zh-CN" dirty="0"/>
              <a:t>,</a:t>
            </a:r>
            <a:r>
              <a:rPr lang="zh-CN" altLang="en-US" dirty="0"/>
              <a:t>因此需要在自定义组件</a:t>
            </a:r>
            <a:r>
              <a:rPr lang="en-US" altLang="zh-CN" dirty="0" err="1"/>
              <a:t>CustomWidget</a:t>
            </a:r>
            <a:r>
              <a:rPr lang="zh-CN" altLang="en-US" dirty="0"/>
              <a:t>内部声明一个属性，比如</a:t>
            </a:r>
            <a:r>
              <a:rPr lang="en-US" altLang="zh-CN" dirty="0"/>
              <a:t>child</a:t>
            </a:r>
            <a:endParaRPr lang="zh-CN" altLang="en-US" dirty="0"/>
          </a:p>
        </p:txBody>
      </p:sp>
      <p:pic>
        <p:nvPicPr>
          <p:cNvPr id="9" name="图片 8"/>
          <p:cNvPicPr>
            <a:picLocks noChangeAspect="1"/>
          </p:cNvPicPr>
          <p:nvPr/>
        </p:nvPicPr>
        <p:blipFill>
          <a:blip r:embed="rId1"/>
          <a:stretch>
            <a:fillRect/>
          </a:stretch>
        </p:blipFill>
        <p:spPr>
          <a:xfrm>
            <a:off x="1598215" y="3538432"/>
            <a:ext cx="8665048" cy="143128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文本框 4"/>
          <p:cNvSpPr txBox="1"/>
          <p:nvPr/>
        </p:nvSpPr>
        <p:spPr>
          <a:xfrm>
            <a:off x="1162926" y="823417"/>
            <a:ext cx="9961596" cy="1200329"/>
          </a:xfrm>
          <a:prstGeom prst="rect">
            <a:avLst/>
          </a:prstGeom>
          <a:noFill/>
        </p:spPr>
        <p:txBody>
          <a:bodyPr wrap="square">
            <a:spAutoFit/>
          </a:bodyPr>
          <a:lstStyle/>
          <a:p>
            <a:r>
              <a:rPr lang="en-US" altLang="zh-CN" dirty="0"/>
              <a:t>2.@BuilderParam</a:t>
            </a:r>
            <a:r>
              <a:rPr lang="zh-CN" altLang="en-US" dirty="0"/>
              <a:t>使用介绍</a:t>
            </a:r>
            <a:endParaRPr lang="zh-CN" altLang="en-US" dirty="0"/>
          </a:p>
          <a:p>
            <a:r>
              <a:rPr lang="en-US" altLang="zh-CN" dirty="0" err="1"/>
              <a:t>CustomWidget</a:t>
            </a:r>
            <a:r>
              <a:rPr lang="zh-CN" altLang="en-US" dirty="0"/>
              <a:t>组件添加</a:t>
            </a:r>
            <a:r>
              <a:rPr lang="en-US" altLang="zh-CN" dirty="0"/>
              <a:t>child</a:t>
            </a:r>
            <a:r>
              <a:rPr lang="zh-CN" altLang="en-US" dirty="0"/>
              <a:t>属性后，表示该组件具备了额外添加子组件的能力，接下来在需要添加子组件的地方使用</a:t>
            </a:r>
            <a:r>
              <a:rPr lang="en-US" altLang="zh-CN" dirty="0"/>
              <a:t>child</a:t>
            </a:r>
            <a:r>
              <a:rPr lang="zh-CN" altLang="en-US" dirty="0"/>
              <a:t>属性做占位即可</a:t>
            </a:r>
            <a:endParaRPr lang="zh-CN" altLang="en-US" dirty="0"/>
          </a:p>
        </p:txBody>
      </p:sp>
      <p:sp>
        <p:nvSpPr>
          <p:cNvPr id="11" name="Rectangle 1"/>
          <p:cNvSpPr>
            <a:spLocks noChangeArrowheads="1"/>
          </p:cNvSpPr>
          <p:nvPr/>
        </p:nvSpPr>
        <p:spPr bwMode="auto">
          <a:xfrm>
            <a:off x="3358902" y="2205658"/>
            <a:ext cx="4536504" cy="401648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dirty="0">
                <a:ln>
                  <a:noFill/>
                </a:ln>
                <a:solidFill>
                  <a:srgbClr val="BBB529"/>
                </a:solidFill>
                <a:effectLst/>
                <a:latin typeface="Arial Unicode MS" panose="020B0604020202020204" charset="-122"/>
                <a:ea typeface="JetBrains Mono"/>
              </a:rPr>
              <a:t>@Component </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export struct </a:t>
            </a:r>
            <a:r>
              <a:rPr kumimoji="0" lang="zh-CN" altLang="zh-CN" sz="1700" b="0" i="0" u="none" strike="noStrike" cap="none" normalizeH="0" baseline="0" dirty="0">
                <a:ln>
                  <a:noFill/>
                </a:ln>
                <a:solidFill>
                  <a:srgbClr val="507874"/>
                </a:solidFill>
                <a:effectLst/>
                <a:latin typeface="Arial Unicode MS" panose="020B0604020202020204" charset="-122"/>
                <a:ea typeface="JetBrains Mono"/>
              </a:rPr>
              <a:t>CustomWidget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BBB529"/>
                </a:solidFill>
                <a:effectLst/>
                <a:latin typeface="Arial Unicode MS" panose="020B0604020202020204" charset="-122"/>
                <a:ea typeface="JetBrains Mono"/>
              </a:rPr>
              <a:t>@BuilderParam </a:t>
            </a:r>
            <a:r>
              <a:rPr kumimoji="0" lang="zh-CN" altLang="zh-CN" sz="1700" b="0" i="0" u="none" strike="noStrike" cap="none" normalizeH="0" baseline="0" dirty="0">
                <a:ln>
                  <a:noFill/>
                </a:ln>
                <a:solidFill>
                  <a:srgbClr val="FFFFFF"/>
                </a:solidFill>
                <a:effectLst/>
                <a:latin typeface="Arial Unicode MS" panose="020B0604020202020204" charset="-122"/>
                <a:ea typeface="JetBrains Mono"/>
              </a:rPr>
              <a:t>child</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=&gt;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build</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Courier New" panose="02070309020205020404" pitchFamily="49" charset="0"/>
                <a:ea typeface="JetBrains Mono"/>
                <a:cs typeface="Courier New" panose="02070309020205020404" pitchFamily="49" charset="0"/>
              </a:rPr>
              <a:t>原始子组件</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1"</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child</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在这里插入额外的子组件</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AA7DFC"/>
                </a:solidFill>
                <a:effectLst/>
                <a:latin typeface="Courier New" panose="02070309020205020404" pitchFamily="49" charset="0"/>
                <a:ea typeface="JetBrains Mono"/>
                <a:cs typeface="Courier New" panose="02070309020205020404" pitchFamily="49" charset="0"/>
              </a:rPr>
              <a:t>原始子组件</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 2"</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1" i="0" u="none" strike="noStrike" cap="none" normalizeH="0" baseline="0" dirty="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child</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在这里插入额外的子组件</a:t>
            </a:r>
            <a:b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dirty="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dirty="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br>
            <a:r>
              <a:rPr kumimoji="0" lang="zh-CN" altLang="zh-CN" sz="1700" b="0" i="0" u="none" strike="noStrike" cap="none" normalizeH="0" baseline="0" dirty="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br>
            <a:r>
              <a:rPr kumimoji="0" lang="zh-CN" altLang="zh-CN" sz="1700" b="0" i="0" u="none" strike="noStrike" cap="none" normalizeH="0" baseline="0" dirty="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462202" y="1056339"/>
            <a:ext cx="9529548" cy="461665"/>
          </a:xfrm>
          <a:prstGeom prst="rect">
            <a:avLst/>
          </a:prstGeom>
          <a:noFill/>
        </p:spPr>
        <p:txBody>
          <a:bodyPr wrap="square">
            <a:spAutoFit/>
          </a:bodyPr>
          <a:lstStyle/>
          <a:p>
            <a:r>
              <a:rPr lang="en-US" altLang="zh-CN" dirty="0" err="1"/>
              <a:t>CustomWidget</a:t>
            </a:r>
            <a:r>
              <a:rPr lang="en-US" altLang="zh-CN" dirty="0"/>
              <a:t> </a:t>
            </a:r>
            <a:r>
              <a:rPr lang="zh-CN" altLang="en-US" dirty="0"/>
              <a:t>组件添加完占位后，就可以直接给其添加子组件了</a:t>
            </a:r>
            <a:endParaRPr lang="zh-CN" altLang="en-US" dirty="0"/>
          </a:p>
        </p:txBody>
      </p:sp>
      <p:sp>
        <p:nvSpPr>
          <p:cNvPr id="7" name="Rectangle 1"/>
          <p:cNvSpPr>
            <a:spLocks noChangeArrowheads="1"/>
          </p:cNvSpPr>
          <p:nvPr/>
        </p:nvSpPr>
        <p:spPr bwMode="auto">
          <a:xfrm>
            <a:off x="1079595" y="1740563"/>
            <a:ext cx="4295007" cy="480131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1" i="0" u="none" strike="noStrike" cap="none" normalizeH="0" baseline="0">
                <a:ln>
                  <a:noFill/>
                </a:ln>
                <a:solidFill>
                  <a:srgbClr val="E2DA90"/>
                </a:solidFill>
                <a:effectLst/>
                <a:latin typeface="Arial Unicode MS" panose="020B0604020202020204" charset="-122"/>
                <a:ea typeface="JetBrains Mono"/>
              </a:rPr>
              <a:t>import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CustomWidget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from </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"../common/CustomWidget"</a:t>
            </a:r>
            <a:br>
              <a:rPr kumimoji="0" lang="zh-CN" altLang="zh-CN" sz="1700" b="0" i="0" u="none" strike="noStrike" cap="none" normalizeH="0" baseline="0">
                <a:ln>
                  <a:noFill/>
                </a:ln>
                <a:solidFill>
                  <a:srgbClr val="AA7DFC"/>
                </a:solidFill>
                <a:effectLst/>
                <a:latin typeface="Arial Unicode MS" panose="020B0604020202020204" charset="-122"/>
                <a:ea typeface="JetBrains Mono"/>
              </a:rPr>
            </a:br>
            <a:r>
              <a:rPr kumimoji="0" lang="zh-CN" altLang="zh-CN" sz="1700" b="0" i="0" u="none" strike="noStrike" cap="none" normalizeH="0" baseline="0">
                <a:ln>
                  <a:noFill/>
                </a:ln>
                <a:solidFill>
                  <a:srgbClr val="BBB529"/>
                </a:solidFill>
                <a:effectLst/>
                <a:latin typeface="Arial Unicode MS" panose="020B0604020202020204" charset="-122"/>
                <a:ea typeface="JetBrains Mono"/>
              </a:rPr>
              <a:t>@Entry @Component </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struct </a:t>
            </a:r>
            <a:r>
              <a:rPr kumimoji="0" lang="zh-CN" altLang="zh-CN" sz="1700" b="0" i="0" u="none" strike="noStrike" cap="none" normalizeH="0" baseline="0">
                <a:ln>
                  <a:noFill/>
                </a:ln>
                <a:solidFill>
                  <a:srgbClr val="507874"/>
                </a:solidFill>
                <a:effectLst/>
                <a:latin typeface="Arial Unicode MS" panose="020B0604020202020204" charset="-122"/>
                <a:ea typeface="JetBrains Mono"/>
              </a:rPr>
              <a:t>CustomWidgetTest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build</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CustomWidget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使用</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CustomWidget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组件并给它添加了两个子组件</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Text</a:t>
            </a:r>
            <a:br>
              <a:rPr kumimoji="0" lang="zh-CN" altLang="zh-CN" sz="1700" b="0" i="0" u="none" strike="noStrike" cap="none" normalizeH="0" baseline="0">
                <a:ln>
                  <a:noFill/>
                </a:ln>
                <a:solidFill>
                  <a:srgbClr val="808080"/>
                </a:solidFill>
                <a:effectLst/>
                <a:latin typeface="Arial Unicode MS" panose="020B0604020202020204" charset="-122"/>
                <a:ea typeface="JetBrains Mono"/>
              </a:rPr>
            </a:b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添加子组件</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aaa"</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添加子组件</a:t>
            </a:r>
            <a:b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Pink</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添加子组件</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bbb"</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Arial Unicode MS" panose="020B0604020202020204" charset="-122"/>
                <a:ea typeface="JetBrains Mono"/>
              </a:rPr>
              <a:t>// </a:t>
            </a: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添加子组件</a:t>
            </a:r>
            <a:b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br>
            <a:r>
              <a:rPr kumimoji="0" lang="zh-CN" altLang="zh-CN" sz="1700" b="0" i="0" u="none" strike="noStrike" cap="none" normalizeH="0" baseline="0">
                <a:ln>
                  <a:noFill/>
                </a:ln>
                <a:solidFill>
                  <a:srgbClr val="808080"/>
                </a:solidFill>
                <a:effectLst/>
                <a:latin typeface="Courier New" panose="02070309020205020404" pitchFamily="49" charset="0"/>
                <a:ea typeface="JetBrains Mono"/>
                <a:cs typeface="Courier New" panose="02070309020205020404" pitchFamily="49" charset="0"/>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fontSize</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Color</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Pink</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10" name="图片 9"/>
          <p:cNvPicPr>
            <a:picLocks noChangeAspect="1"/>
          </p:cNvPicPr>
          <p:nvPr/>
        </p:nvPicPr>
        <p:blipFill>
          <a:blip r:embed="rId1"/>
          <a:stretch>
            <a:fillRect/>
          </a:stretch>
        </p:blipFill>
        <p:spPr>
          <a:xfrm>
            <a:off x="5596513" y="2123026"/>
            <a:ext cx="6419048" cy="266666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11030" y="2875645"/>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自定义组件插槽</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5658520" y="6367312"/>
            <a:ext cx="1474761" cy="461665"/>
          </a:xfrm>
          <a:prstGeom prst="rect">
            <a:avLst/>
          </a:prstGeom>
          <a:noFill/>
        </p:spPr>
        <p:txBody>
          <a:bodyPr wrap="square">
            <a:spAutoFit/>
          </a:bodyPr>
          <a:lstStyle/>
          <a:p>
            <a:r>
              <a:rPr lang="zh-CN" altLang="en-US" dirty="0"/>
              <a:t>生命周期</a:t>
            </a:r>
            <a:endParaRPr lang="zh-CN" altLang="en-US" dirty="0"/>
          </a:p>
        </p:txBody>
      </p:sp>
      <p:pic>
        <p:nvPicPr>
          <p:cNvPr id="5" name="图片 4"/>
          <p:cNvPicPr>
            <a:picLocks noChangeAspect="1"/>
          </p:cNvPicPr>
          <p:nvPr/>
        </p:nvPicPr>
        <p:blipFill>
          <a:blip r:embed="rId1"/>
          <a:stretch>
            <a:fillRect/>
          </a:stretch>
        </p:blipFill>
        <p:spPr>
          <a:xfrm>
            <a:off x="4362230" y="1049591"/>
            <a:ext cx="4067343" cy="50915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0" name="文本框 9"/>
          <p:cNvSpPr txBox="1"/>
          <p:nvPr/>
        </p:nvSpPr>
        <p:spPr>
          <a:xfrm>
            <a:off x="694606" y="1557586"/>
            <a:ext cx="11233248" cy="4401205"/>
          </a:xfrm>
          <a:prstGeom prst="rect">
            <a:avLst/>
          </a:prstGeom>
          <a:noFill/>
        </p:spPr>
        <p:txBody>
          <a:bodyPr wrap="square">
            <a:spAutoFit/>
          </a:bodyPr>
          <a:lstStyle/>
          <a:p>
            <a:r>
              <a:rPr lang="en-US" altLang="zh-CN" sz="2000" dirty="0"/>
              <a:t>1 </a:t>
            </a:r>
            <a:r>
              <a:rPr lang="zh-CN" altLang="en-US" sz="2000" dirty="0"/>
              <a:t>常用属性设置</a:t>
            </a:r>
            <a:endParaRPr lang="zh-CN" altLang="en-US" sz="2000" dirty="0"/>
          </a:p>
          <a:p>
            <a:pPr lvl="1"/>
            <a:r>
              <a:rPr lang="en-US" altLang="zh-CN" sz="2000" dirty="0"/>
              <a:t>width:</a:t>
            </a:r>
            <a:r>
              <a:rPr lang="zh-CN" altLang="en-US" sz="2000" dirty="0"/>
              <a:t>设置组件自身的宽度，缺省时使用元素自身内容需要的宽度。若子组件的宽度大于父组件的宽度，则会画出父组件的范围。</a:t>
            </a:r>
            <a:endParaRPr lang="zh-CN" altLang="en-US" sz="2000" dirty="0"/>
          </a:p>
          <a:p>
            <a:pPr lvl="1"/>
            <a:r>
              <a:rPr lang="en-US" altLang="zh-CN" sz="2000" dirty="0"/>
              <a:t>height:</a:t>
            </a:r>
            <a:r>
              <a:rPr lang="zh-CN" altLang="en-US" sz="2000" dirty="0"/>
              <a:t>设置组件自身的高度，缺省时使用元素自身内容需要的高度。若子组件的高度大于父组件的高度，则会画出父组件的范围。</a:t>
            </a:r>
            <a:endParaRPr lang="zh-CN" altLang="en-US" sz="2000" dirty="0"/>
          </a:p>
          <a:p>
            <a:pPr lvl="1"/>
            <a:r>
              <a:rPr lang="en-US" altLang="zh-CN" sz="2000" dirty="0"/>
              <a:t>size:</a:t>
            </a:r>
            <a:r>
              <a:rPr lang="zh-CN" altLang="en-US" sz="2000" dirty="0"/>
              <a:t>设置高宽尺寸。</a:t>
            </a:r>
            <a:endParaRPr lang="zh-CN" altLang="en-US" sz="2000" dirty="0"/>
          </a:p>
          <a:p>
            <a:pPr lvl="1"/>
            <a:r>
              <a:rPr lang="en-US" altLang="zh-CN" sz="2000" dirty="0"/>
              <a:t>clip:</a:t>
            </a:r>
            <a:r>
              <a:rPr lang="zh-CN" altLang="en-US" sz="2000" dirty="0"/>
              <a:t>参数为相应类型的组件，按指定的形状对当前组件进行裁剪；参数为</a:t>
            </a:r>
            <a:r>
              <a:rPr lang="en-US" altLang="zh-CN" sz="2000" dirty="0" err="1"/>
              <a:t>boolean</a:t>
            </a:r>
            <a:r>
              <a:rPr lang="zh-CN" altLang="en-US" sz="2000" dirty="0"/>
              <a:t>类型时，设置是否按照父容器边缘轮廓进行裁剪。默认值为</a:t>
            </a:r>
            <a:r>
              <a:rPr lang="en-US" altLang="zh-CN" sz="2000" dirty="0"/>
              <a:t>false</a:t>
            </a:r>
            <a:r>
              <a:rPr lang="zh-CN" altLang="en-US" sz="2000" dirty="0"/>
              <a:t>。</a:t>
            </a:r>
            <a:endParaRPr lang="zh-CN" altLang="en-US" sz="2000" dirty="0"/>
          </a:p>
          <a:p>
            <a:pPr lvl="1"/>
            <a:r>
              <a:rPr lang="en-US" altLang="zh-CN" sz="2000" dirty="0" err="1"/>
              <a:t>backgroundColor</a:t>
            </a:r>
            <a:r>
              <a:rPr lang="en-US" altLang="zh-CN" sz="2000" dirty="0"/>
              <a:t>:</a:t>
            </a:r>
            <a:r>
              <a:rPr lang="zh-CN" altLang="en-US" sz="2000" dirty="0"/>
              <a:t>设置组件的背景色。</a:t>
            </a:r>
            <a:endParaRPr lang="zh-CN" altLang="en-US" sz="2000" dirty="0"/>
          </a:p>
          <a:p>
            <a:pPr lvl="1"/>
            <a:r>
              <a:rPr lang="zh-CN" altLang="en-US" sz="2000" dirty="0"/>
              <a:t>需要注意的是，在设置组件的宽高时，若未指定具体数值，则组件会自动采用其自身内容的宽高。例如，若希望组件充满父组件，可以设置其宽高为”</a:t>
            </a:r>
            <a:r>
              <a:rPr lang="en-US" altLang="zh-CN" sz="2000" dirty="0"/>
              <a:t>100%"</a:t>
            </a:r>
            <a:r>
              <a:rPr lang="zh-CN" altLang="en-US" sz="2000" dirty="0"/>
              <a:t>。此外，当同时设置了</a:t>
            </a:r>
            <a:r>
              <a:rPr lang="en-US" altLang="zh-CN" sz="2000" dirty="0"/>
              <a:t>size</a:t>
            </a:r>
            <a:r>
              <a:rPr lang="zh-CN" altLang="en-US" sz="2000" dirty="0"/>
              <a:t>和</a:t>
            </a:r>
            <a:r>
              <a:rPr lang="en-US" altLang="zh-CN" sz="2000" dirty="0"/>
              <a:t>width/height</a:t>
            </a:r>
            <a:r>
              <a:rPr lang="zh-CN" altLang="en-US" sz="2000" dirty="0"/>
              <a:t>时，组件会以最后设置的值为准。值得注意的是，若子组件的宽高超过了父组件的宽高，子组件会默认绘制出父组件的可视范围。为了避免这种情况，可以使用</a:t>
            </a:r>
            <a:r>
              <a:rPr lang="en-US" altLang="zh-CN" sz="2000" dirty="0"/>
              <a:t>clip(rue)</a:t>
            </a:r>
            <a:r>
              <a:rPr lang="zh-CN" altLang="en-US" sz="2000" dirty="0"/>
              <a:t>方法限制子组件不超出父组件的范围。</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0" name="文本框 9"/>
          <p:cNvSpPr txBox="1"/>
          <p:nvPr/>
        </p:nvSpPr>
        <p:spPr>
          <a:xfrm>
            <a:off x="1198662" y="1075303"/>
            <a:ext cx="10631711" cy="4708981"/>
          </a:xfrm>
          <a:prstGeom prst="rect">
            <a:avLst/>
          </a:prstGeom>
          <a:noFill/>
        </p:spPr>
        <p:txBody>
          <a:bodyPr wrap="square">
            <a:spAutoFit/>
          </a:bodyPr>
          <a:lstStyle/>
          <a:p>
            <a:r>
              <a:rPr lang="en-US" altLang="zh-CN" sz="2000" dirty="0" err="1"/>
              <a:t>aspectRatio</a:t>
            </a:r>
            <a:r>
              <a:rPr lang="en-US" altLang="zh-CN" sz="2000" dirty="0"/>
              <a:t>:</a:t>
            </a:r>
            <a:r>
              <a:rPr lang="zh-CN" altLang="en-US" sz="2000" dirty="0"/>
              <a:t>指定当前组件的宽高比，</a:t>
            </a:r>
            <a:r>
              <a:rPr lang="en-US" altLang="zh-CN" sz="2000" dirty="0" err="1"/>
              <a:t>aspectRatio</a:t>
            </a:r>
            <a:r>
              <a:rPr lang="en-US" altLang="zh-CN" sz="2000" dirty="0"/>
              <a:t>=width/height</a:t>
            </a:r>
            <a:r>
              <a:rPr lang="zh-CN" altLang="en-US" sz="2000" dirty="0"/>
              <a:t>。</a:t>
            </a:r>
            <a:endParaRPr lang="zh-CN" altLang="en-US" sz="2000" dirty="0"/>
          </a:p>
          <a:p>
            <a:r>
              <a:rPr lang="en-US" altLang="zh-CN" sz="2000" dirty="0"/>
              <a:t>padding:</a:t>
            </a:r>
            <a:r>
              <a:rPr lang="zh-CN" altLang="en-US" sz="2000" dirty="0"/>
              <a:t>设置内边距属性。</a:t>
            </a:r>
            <a:endParaRPr lang="zh-CN" altLang="en-US" sz="2000" dirty="0"/>
          </a:p>
          <a:p>
            <a:r>
              <a:rPr lang="en-US" altLang="zh-CN" sz="2000" dirty="0"/>
              <a:t>margin:</a:t>
            </a:r>
            <a:r>
              <a:rPr lang="zh-CN" altLang="en-US" sz="2000" dirty="0"/>
              <a:t>设置外边距属性。</a:t>
            </a:r>
            <a:endParaRPr lang="zh-CN" altLang="en-US" sz="2000" dirty="0"/>
          </a:p>
          <a:p>
            <a:r>
              <a:rPr lang="zh-CN" altLang="en-US" sz="2000" dirty="0"/>
              <a:t>请留意，在设置组件的内边距和外边距时，若只设置了一个值，则该值会同时应用于四个方向的边距。此外，当使用</a:t>
            </a:r>
            <a:r>
              <a:rPr lang="en-US" altLang="zh-CN" sz="2000" dirty="0"/>
              <a:t>Padding</a:t>
            </a:r>
            <a:r>
              <a:rPr lang="zh-CN" altLang="en-US" sz="2000" dirty="0"/>
              <a:t>或</a:t>
            </a:r>
            <a:r>
              <a:rPr lang="en-US" altLang="zh-CN" sz="2000" dirty="0"/>
              <a:t>Margin</a:t>
            </a:r>
            <a:r>
              <a:rPr lang="zh-CN" altLang="en-US" sz="2000" dirty="0"/>
              <a:t>参数类型时，可以单独设置边距。若使用百分比进行设置，则上下左右内外距均以父容器的宽度作为基础值。</a:t>
            </a:r>
            <a:endParaRPr lang="zh-CN" altLang="en-US" sz="2000" dirty="0"/>
          </a:p>
          <a:p>
            <a:r>
              <a:rPr lang="en-US" altLang="zh-CN" sz="2000" dirty="0" err="1"/>
              <a:t>layoutWeight</a:t>
            </a:r>
            <a:r>
              <a:rPr lang="en-US" altLang="zh-CN" sz="2000" dirty="0"/>
              <a:t>:</a:t>
            </a:r>
            <a:r>
              <a:rPr lang="zh-CN" altLang="en-US" sz="2000" dirty="0"/>
              <a:t>在父容器尺寸确定的情况下，若子元素设置了</a:t>
            </a:r>
            <a:r>
              <a:rPr lang="en-US" altLang="zh-CN" sz="2000" dirty="0" err="1"/>
              <a:t>layoutWeight</a:t>
            </a:r>
            <a:r>
              <a:rPr lang="zh-CN" altLang="en-US" sz="2000" dirty="0"/>
              <a:t>属性，则该子元素与其他兄弟元素在主轴尺寸上按照其权重进行分配，而不考虑元素本身的尺寸设置。</a:t>
            </a:r>
            <a:endParaRPr lang="zh-CN" altLang="en-US" sz="2000" dirty="0"/>
          </a:p>
          <a:p>
            <a:r>
              <a:rPr lang="zh-CN" altLang="en-US" sz="2000" dirty="0"/>
              <a:t>这表示该子元素会自适应地占据剩余的空间。需要注意的是，该属性仅在 </a:t>
            </a:r>
            <a:r>
              <a:rPr lang="en-US" altLang="zh-CN" sz="2000" dirty="0"/>
              <a:t>Row/Column/</a:t>
            </a:r>
            <a:endParaRPr lang="en-US" altLang="zh-CN" sz="2000" dirty="0"/>
          </a:p>
          <a:p>
            <a:r>
              <a:rPr lang="en-US" altLang="zh-CN" sz="2000" dirty="0"/>
              <a:t>Flex </a:t>
            </a:r>
            <a:r>
              <a:rPr lang="zh-CN" altLang="en-US" sz="2000" dirty="0"/>
              <a:t>布局中生效。</a:t>
            </a:r>
            <a:endParaRPr lang="zh-CN" altLang="en-US" sz="2000" dirty="0"/>
          </a:p>
          <a:p>
            <a:r>
              <a:rPr lang="en-US" altLang="zh-CN" sz="2000" dirty="0" err="1"/>
              <a:t>constraintSize</a:t>
            </a:r>
            <a:r>
              <a:rPr lang="zh-CN" altLang="en-US" sz="2000" dirty="0"/>
              <a:t>：设置约束尺寸，组件布局时，进行尺寸范围限制。</a:t>
            </a:r>
            <a:r>
              <a:rPr lang="en-US" altLang="zh-CN" sz="2000" dirty="0" err="1"/>
              <a:t>constraintSize</a:t>
            </a:r>
            <a:r>
              <a:rPr lang="en-US" altLang="zh-CN" sz="2000" dirty="0"/>
              <a:t> </a:t>
            </a:r>
            <a:r>
              <a:rPr lang="zh-CN" altLang="en-US" sz="2000" dirty="0"/>
              <a:t>的优先</a:t>
            </a:r>
            <a:endParaRPr lang="zh-CN" altLang="en-US" sz="2000" dirty="0"/>
          </a:p>
          <a:p>
            <a:r>
              <a:rPr lang="zh-CN" altLang="en-US" sz="2000" dirty="0"/>
              <a:t>级高于 </a:t>
            </a:r>
            <a:r>
              <a:rPr lang="en-US" altLang="zh-CN" sz="2000" dirty="0"/>
              <a:t>Width </a:t>
            </a:r>
            <a:r>
              <a:rPr lang="zh-CN" altLang="en-US" sz="2000" dirty="0"/>
              <a:t>和 </a:t>
            </a:r>
            <a:r>
              <a:rPr lang="en-US" altLang="zh-CN" sz="2000" dirty="0"/>
              <a:t>Height</a:t>
            </a:r>
            <a:r>
              <a:rPr lang="zh-CN" altLang="en-US" sz="2000" dirty="0"/>
              <a:t>。若设置的 </a:t>
            </a:r>
            <a:r>
              <a:rPr lang="en-US" altLang="zh-CN" sz="2000" dirty="0" err="1"/>
              <a:t>minWidth</a:t>
            </a:r>
            <a:r>
              <a:rPr lang="en-US" altLang="zh-CN" sz="2000" dirty="0"/>
              <a:t> </a:t>
            </a:r>
            <a:r>
              <a:rPr lang="zh-CN" altLang="en-US" sz="2000" dirty="0"/>
              <a:t>大于 </a:t>
            </a:r>
            <a:r>
              <a:rPr lang="en-US" altLang="zh-CN" sz="2000" dirty="0" err="1"/>
              <a:t>maxWidth</a:t>
            </a:r>
            <a:r>
              <a:rPr lang="zh-CN" altLang="en-US" sz="2000" dirty="0"/>
              <a:t>，则 </a:t>
            </a:r>
            <a:r>
              <a:rPr lang="en-US" altLang="zh-CN" sz="2000" dirty="0" err="1"/>
              <a:t>minWidth</a:t>
            </a:r>
            <a:r>
              <a:rPr lang="en-US" altLang="zh-CN" sz="2000" dirty="0"/>
              <a:t> </a:t>
            </a:r>
            <a:r>
              <a:rPr lang="zh-CN" altLang="en-US" sz="2000" dirty="0"/>
              <a:t>生效，</a:t>
            </a:r>
            <a:r>
              <a:rPr lang="en-US" altLang="zh-CN" sz="2000" dirty="0" err="1"/>
              <a:t>minHeight</a:t>
            </a:r>
            <a:endParaRPr lang="en-US" altLang="zh-CN" sz="2000" dirty="0"/>
          </a:p>
          <a:p>
            <a:r>
              <a:rPr lang="zh-CN" altLang="en-US" sz="2000" dirty="0"/>
              <a:t>与 </a:t>
            </a:r>
            <a:r>
              <a:rPr lang="en-US" altLang="zh-CN" sz="2000" dirty="0" err="1"/>
              <a:t>maxHeight</a:t>
            </a:r>
            <a:r>
              <a:rPr lang="en-US" altLang="zh-CN" sz="2000" dirty="0"/>
              <a:t> </a:t>
            </a:r>
            <a:r>
              <a:rPr lang="zh-CN" altLang="en-US" sz="2000" dirty="0"/>
              <a:t>同理。</a:t>
            </a:r>
            <a:endParaRPr lang="zh-CN" altLang="en-US" sz="2000" dirty="0"/>
          </a:p>
          <a:p>
            <a:r>
              <a:rPr lang="en-US" altLang="zh-CN" sz="2000" dirty="0"/>
              <a:t>align</a:t>
            </a:r>
            <a:r>
              <a:rPr lang="zh-CN" altLang="en-US" sz="2000" dirty="0"/>
              <a:t>：设置元素内容的对齐方式，只有当设置的 </a:t>
            </a:r>
            <a:r>
              <a:rPr lang="en-US" altLang="zh-CN" sz="2000" dirty="0"/>
              <a:t>width </a:t>
            </a:r>
            <a:r>
              <a:rPr lang="zh-CN" altLang="en-US" sz="2000" dirty="0"/>
              <a:t>和 </a:t>
            </a:r>
            <a:r>
              <a:rPr lang="en-US" altLang="zh-CN" sz="2000" dirty="0"/>
              <a:t>height </a:t>
            </a:r>
            <a:r>
              <a:rPr lang="zh-CN" altLang="en-US" sz="2000" dirty="0"/>
              <a:t>大小超过元素本身内容</a:t>
            </a:r>
            <a:endParaRPr lang="zh-CN" altLang="en-US" sz="2000" dirty="0"/>
          </a:p>
          <a:p>
            <a:r>
              <a:rPr lang="zh-CN" altLang="en-US" sz="2000" dirty="0"/>
              <a:t>大小时生效。</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 name="Rectangle 1"/>
          <p:cNvSpPr>
            <a:spLocks noChangeArrowheads="1"/>
          </p:cNvSpPr>
          <p:nvPr/>
        </p:nvSpPr>
        <p:spPr bwMode="auto">
          <a:xfrm>
            <a:off x="910630" y="1125538"/>
            <a:ext cx="2998863" cy="5324535"/>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a:ln>
                  <a:noFill/>
                </a:ln>
                <a:solidFill>
                  <a:srgbClr val="65CCE1"/>
                </a:solidFill>
                <a:effectLst/>
                <a:latin typeface="Arial Unicode MS" panose="020B0604020202020204" charset="-122"/>
                <a:ea typeface="JetBrains Mono"/>
              </a:rPr>
              <a:t>Row</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space</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顶部左对齐</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40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align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TopStart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顶部居中</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40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align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Top</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顶部右对齐</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40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backgroundColor</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"#aabbcc"</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align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Alignment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TopEnd</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1"/>
          <a:stretch>
            <a:fillRect/>
          </a:stretch>
        </p:blipFill>
        <p:spPr>
          <a:xfrm>
            <a:off x="4939365" y="1701602"/>
            <a:ext cx="6829514" cy="326811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6" name="文本框 5"/>
          <p:cNvSpPr txBox="1"/>
          <p:nvPr/>
        </p:nvSpPr>
        <p:spPr>
          <a:xfrm>
            <a:off x="1222884" y="1125538"/>
            <a:ext cx="9169508" cy="4154984"/>
          </a:xfrm>
          <a:prstGeom prst="rect">
            <a:avLst/>
          </a:prstGeom>
          <a:noFill/>
        </p:spPr>
        <p:txBody>
          <a:bodyPr wrap="square">
            <a:spAutoFit/>
          </a:bodyPr>
          <a:lstStyle/>
          <a:p>
            <a:r>
              <a:rPr lang="en-US" altLang="zh-CN" dirty="0"/>
              <a:t>2 </a:t>
            </a:r>
            <a:r>
              <a:rPr lang="zh-CN" altLang="en-US" dirty="0"/>
              <a:t>其他属性</a:t>
            </a:r>
            <a:endParaRPr lang="zh-CN" altLang="en-US" dirty="0"/>
          </a:p>
          <a:p>
            <a:pPr lvl="1"/>
            <a:r>
              <a:rPr lang="en-US" altLang="zh-CN" dirty="0" err="1"/>
              <a:t>OpenHarmony</a:t>
            </a:r>
            <a:r>
              <a:rPr lang="zh-CN" altLang="en-US" dirty="0"/>
              <a:t>还提供其他通用属性，简介如下。</a:t>
            </a:r>
            <a:endParaRPr lang="zh-CN" altLang="en-US" dirty="0"/>
          </a:p>
          <a:p>
            <a:pPr lvl="1"/>
            <a:r>
              <a:rPr lang="en-US" altLang="zh-CN" dirty="0" err="1"/>
              <a:t>markAnchor</a:t>
            </a:r>
            <a:r>
              <a:rPr lang="en-US" altLang="zh-CN" dirty="0"/>
              <a:t>:</a:t>
            </a:r>
            <a:r>
              <a:rPr lang="zh-CN" altLang="en-US" dirty="0"/>
              <a:t>设置元素在位置定位时的锚点，以元素左上角作为基准点进行偏移。通常配合</a:t>
            </a:r>
            <a:r>
              <a:rPr lang="en-US" altLang="zh-CN" dirty="0"/>
              <a:t>position</a:t>
            </a:r>
            <a:r>
              <a:rPr lang="zh-CN" altLang="en-US" dirty="0"/>
              <a:t>和</a:t>
            </a:r>
            <a:r>
              <a:rPr lang="en-US" altLang="zh-CN" dirty="0"/>
              <a:t>offset</a:t>
            </a:r>
            <a:r>
              <a:rPr lang="zh-CN" altLang="en-US" dirty="0"/>
              <a:t>属性使用，单独使用时，效果类似</a:t>
            </a:r>
            <a:r>
              <a:rPr lang="en-US" altLang="zh-CN" dirty="0"/>
              <a:t>offset</a:t>
            </a:r>
            <a:r>
              <a:rPr lang="zh-CN" altLang="en-US" dirty="0"/>
              <a:t>。</a:t>
            </a:r>
            <a:endParaRPr lang="zh-CN" altLang="en-US" dirty="0"/>
          </a:p>
          <a:p>
            <a:pPr lvl="1"/>
            <a:r>
              <a:rPr lang="en-US" altLang="zh-CN" dirty="0"/>
              <a:t>Border:</a:t>
            </a:r>
            <a:r>
              <a:rPr lang="zh-CN" altLang="en-US" dirty="0"/>
              <a:t>统一边框样式设置接口。</a:t>
            </a:r>
            <a:endParaRPr lang="zh-CN" altLang="en-US" dirty="0"/>
          </a:p>
          <a:p>
            <a:pPr lvl="1"/>
            <a:r>
              <a:rPr lang="en-US" altLang="zh-CN" dirty="0" err="1"/>
              <a:t>backgroundlmage</a:t>
            </a:r>
            <a:r>
              <a:rPr lang="en-US" altLang="zh-CN" dirty="0"/>
              <a:t>:</a:t>
            </a:r>
            <a:r>
              <a:rPr lang="zh-CN" altLang="en-US" dirty="0"/>
              <a:t>设置背景图片。</a:t>
            </a:r>
            <a:endParaRPr lang="zh-CN" altLang="en-US" dirty="0"/>
          </a:p>
          <a:p>
            <a:pPr lvl="1"/>
            <a:r>
              <a:rPr lang="en-US" altLang="zh-CN" dirty="0" err="1"/>
              <a:t>backgroundImageSize</a:t>
            </a:r>
            <a:r>
              <a:rPr lang="en-US" altLang="zh-CN" dirty="0"/>
              <a:t>:</a:t>
            </a:r>
            <a:r>
              <a:rPr lang="zh-CN" altLang="en-US" dirty="0"/>
              <a:t>设置背景图像的高度和宽度。当输入为</a:t>
            </a:r>
            <a:r>
              <a:rPr lang="en-US" altLang="zh-CN" dirty="0"/>
              <a:t>(</a:t>
            </a:r>
            <a:r>
              <a:rPr lang="en-US" altLang="zh-CN" dirty="0" err="1"/>
              <a:t>width:Length,height:Length</a:t>
            </a:r>
            <a:r>
              <a:rPr lang="en-US" altLang="zh-CN" dirty="0"/>
              <a:t>}</a:t>
            </a:r>
            <a:r>
              <a:rPr lang="zh-CN" altLang="en-US" dirty="0"/>
              <a:t>对象时，如果只设置一个属性，则第二个属性保持图片原始宽高比进行调整。默认保持原图的比例不变，默认值为</a:t>
            </a:r>
            <a:r>
              <a:rPr lang="en-US" altLang="zh-CN" dirty="0" err="1"/>
              <a:t>ImageSize.Auto</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65077" y="1269554"/>
            <a:ext cx="12025336" cy="4524315"/>
          </a:xfrm>
          <a:prstGeom prst="rect">
            <a:avLst/>
          </a:prstGeom>
          <a:noFill/>
        </p:spPr>
        <p:txBody>
          <a:bodyPr wrap="square">
            <a:spAutoFit/>
          </a:bodyPr>
          <a:lstStyle/>
          <a:p>
            <a:r>
              <a:rPr lang="en-US" altLang="zh-CN" dirty="0" err="1"/>
              <a:t>backgroundlmagePosition</a:t>
            </a:r>
            <a:r>
              <a:rPr lang="en-US" altLang="zh-CN" dirty="0"/>
              <a:t>:</a:t>
            </a:r>
            <a:r>
              <a:rPr lang="zh-CN" altLang="en-US" dirty="0"/>
              <a:t>设置背景图在组件中显示位置，即相对于组件左上角的坐标。</a:t>
            </a:r>
            <a:endParaRPr lang="zh-CN" altLang="en-US" dirty="0"/>
          </a:p>
          <a:p>
            <a:r>
              <a:rPr lang="en-US" altLang="zh-CN" dirty="0" err="1"/>
              <a:t>backgroundBlurStyle</a:t>
            </a:r>
            <a:r>
              <a:rPr lang="en-US" altLang="zh-CN" dirty="0"/>
              <a:t>:</a:t>
            </a:r>
            <a:r>
              <a:rPr lang="zh-CN" altLang="en-US" dirty="0"/>
              <a:t>为当前组件提供一种在背景和内容之间的模糊能力，入参为模糊材质。</a:t>
            </a:r>
            <a:endParaRPr lang="zh-CN" altLang="en-US" dirty="0"/>
          </a:p>
          <a:p>
            <a:r>
              <a:rPr lang="en-US" altLang="zh-CN" dirty="0" err="1"/>
              <a:t>borderStyle</a:t>
            </a:r>
            <a:r>
              <a:rPr lang="en-US" altLang="zh-CN" dirty="0"/>
              <a:t>:</a:t>
            </a:r>
            <a:r>
              <a:rPr lang="zh-CN" altLang="en-US" dirty="0"/>
              <a:t>设置元素的边框样式。</a:t>
            </a:r>
            <a:endParaRPr lang="zh-CN" altLang="en-US" dirty="0"/>
          </a:p>
          <a:p>
            <a:r>
              <a:rPr lang="en-US" altLang="zh-CN" dirty="0" err="1"/>
              <a:t>borderWidth</a:t>
            </a:r>
            <a:r>
              <a:rPr lang="en-US" altLang="zh-CN" dirty="0"/>
              <a:t>:</a:t>
            </a:r>
            <a:r>
              <a:rPr lang="zh-CN" altLang="en-US" dirty="0"/>
              <a:t>设置元素的边框宽度，不支持百分比。</a:t>
            </a:r>
            <a:endParaRPr lang="zh-CN" altLang="en-US" dirty="0"/>
          </a:p>
          <a:p>
            <a:r>
              <a:rPr lang="en-US" altLang="zh-CN" dirty="0" err="1"/>
              <a:t>borderColor</a:t>
            </a:r>
            <a:r>
              <a:rPr lang="en-US" altLang="zh-CN" dirty="0"/>
              <a:t>:</a:t>
            </a:r>
            <a:r>
              <a:rPr lang="zh-CN" altLang="en-US" dirty="0"/>
              <a:t>设置元素的边框颜色，默认值为</a:t>
            </a:r>
            <a:r>
              <a:rPr lang="en-US" altLang="zh-CN" dirty="0"/>
              <a:t>Color Black</a:t>
            </a:r>
            <a:r>
              <a:rPr lang="zh-CN" altLang="en-US" dirty="0"/>
              <a:t>。</a:t>
            </a:r>
            <a:endParaRPr lang="zh-CN" altLang="en-US" dirty="0"/>
          </a:p>
          <a:p>
            <a:r>
              <a:rPr lang="en-US" altLang="zh-CN" dirty="0" err="1"/>
              <a:t>borderRadius</a:t>
            </a:r>
            <a:r>
              <a:rPr lang="en-US" altLang="zh-CN" dirty="0"/>
              <a:t>:</a:t>
            </a:r>
            <a:r>
              <a:rPr lang="zh-CN" altLang="en-US" dirty="0"/>
              <a:t>设置元素的边框圆角半径，不支持百分比。</a:t>
            </a:r>
            <a:endParaRPr lang="zh-CN" altLang="en-US" dirty="0"/>
          </a:p>
          <a:p>
            <a:r>
              <a:rPr lang="en-US" altLang="zh-CN" dirty="0" err="1"/>
              <a:t>borderlmage</a:t>
            </a:r>
            <a:r>
              <a:rPr lang="en-US" altLang="zh-CN" dirty="0"/>
              <a:t>:</a:t>
            </a:r>
            <a:r>
              <a:rPr lang="zh-CN" altLang="en-US" dirty="0"/>
              <a:t>设置图像边框。</a:t>
            </a:r>
            <a:endParaRPr lang="zh-CN" altLang="en-US" dirty="0"/>
          </a:p>
          <a:p>
            <a:r>
              <a:rPr lang="en-US" altLang="zh-CN" dirty="0" err="1"/>
              <a:t>vsibility</a:t>
            </a:r>
            <a:r>
              <a:rPr lang="en-US" altLang="zh-CN" dirty="0"/>
              <a:t>:</a:t>
            </a:r>
            <a:r>
              <a:rPr lang="zh-CN" altLang="en-US" dirty="0"/>
              <a:t>设置组件的显示和隐藏，默认值为</a:t>
            </a:r>
            <a:r>
              <a:rPr lang="en-US" altLang="zh-CN" dirty="0" err="1"/>
              <a:t>Visbiliy.Visible</a:t>
            </a:r>
            <a:r>
              <a:rPr lang="zh-CN" altLang="en-US" dirty="0"/>
              <a:t>。</a:t>
            </a:r>
            <a:endParaRPr lang="zh-CN" altLang="en-US" dirty="0"/>
          </a:p>
          <a:p>
            <a:r>
              <a:rPr lang="en-US" altLang="zh-CN" dirty="0" err="1"/>
              <a:t>linearGradient</a:t>
            </a:r>
            <a:r>
              <a:rPr lang="en-US" altLang="zh-CN" dirty="0"/>
              <a:t>:</a:t>
            </a:r>
            <a:r>
              <a:rPr lang="zh-CN" altLang="en-US" dirty="0"/>
              <a:t>设置组件的渐变样式，参数说明如下：</a:t>
            </a:r>
            <a:endParaRPr lang="zh-CN" altLang="en-US" dirty="0"/>
          </a:p>
          <a:p>
            <a:r>
              <a:rPr lang="en-US" altLang="zh-CN" dirty="0"/>
              <a:t>angle:</a:t>
            </a:r>
            <a:r>
              <a:rPr lang="zh-CN" altLang="en-US" dirty="0"/>
              <a:t>线性渐变的起始角度。</a:t>
            </a:r>
            <a:r>
              <a:rPr lang="en-US" altLang="zh-CN" dirty="0"/>
              <a:t>0</a:t>
            </a:r>
            <a:r>
              <a:rPr lang="zh-CN" altLang="en-US" dirty="0"/>
              <a:t>点方向顺时针旋转为正向角度。默认值为</a:t>
            </a:r>
            <a:r>
              <a:rPr lang="en-US" altLang="zh-CN" dirty="0"/>
              <a:t>180</a:t>
            </a:r>
            <a:r>
              <a:rPr lang="zh-CN" altLang="en-US" dirty="0"/>
              <a:t>。</a:t>
            </a:r>
            <a:endParaRPr lang="zh-CN" altLang="en-US" dirty="0"/>
          </a:p>
          <a:p>
            <a:r>
              <a:rPr lang="en-US" altLang="zh-CN" dirty="0"/>
              <a:t>direction:</a:t>
            </a:r>
            <a:r>
              <a:rPr lang="zh-CN" altLang="en-US" dirty="0"/>
              <a:t>线性渐变的方向，设置</a:t>
            </a:r>
            <a:r>
              <a:rPr lang="en-US" altLang="zh-CN" dirty="0"/>
              <a:t>angle</a:t>
            </a:r>
            <a:r>
              <a:rPr lang="zh-CN" altLang="en-US" dirty="0"/>
              <a:t>后不生效。默认值为</a:t>
            </a:r>
            <a:r>
              <a:rPr lang="en-US" altLang="zh-CN" dirty="0" err="1"/>
              <a:t>GradientDirection.Bottom</a:t>
            </a:r>
            <a:r>
              <a:rPr lang="zh-CN" altLang="en-US" dirty="0"/>
              <a:t>。</a:t>
            </a:r>
            <a:endParaRPr lang="zh-CN" altLang="en-US" dirty="0"/>
          </a:p>
          <a:p>
            <a:r>
              <a:rPr lang="en-US" altLang="zh-CN" dirty="0"/>
              <a:t>colors:</a:t>
            </a:r>
            <a:r>
              <a:rPr lang="zh-CN" altLang="en-US" dirty="0"/>
              <a:t>为渐变的颜色描述。</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82538" y="1485578"/>
            <a:ext cx="12025336" cy="4524315"/>
          </a:xfrm>
          <a:prstGeom prst="rect">
            <a:avLst/>
          </a:prstGeom>
          <a:noFill/>
        </p:spPr>
        <p:txBody>
          <a:bodyPr wrap="square">
            <a:spAutoFit/>
          </a:bodyPr>
          <a:lstStyle/>
          <a:p>
            <a:r>
              <a:rPr lang="en-US" altLang="zh-CN" dirty="0"/>
              <a:t>repeating:</a:t>
            </a:r>
            <a:r>
              <a:rPr lang="zh-CN" altLang="en-US" dirty="0"/>
              <a:t>为渐变的颜色重复着色，默认值为</a:t>
            </a:r>
            <a:r>
              <a:rPr lang="en-US" altLang="zh-CN" dirty="0"/>
              <a:t>false</a:t>
            </a:r>
            <a:r>
              <a:rPr lang="zh-CN" altLang="en-US" dirty="0"/>
              <a:t>。</a:t>
            </a:r>
            <a:endParaRPr lang="zh-CN" altLang="en-US" dirty="0"/>
          </a:p>
          <a:p>
            <a:r>
              <a:rPr lang="en-US" altLang="zh-CN" dirty="0"/>
              <a:t>grayscale:</a:t>
            </a:r>
            <a:r>
              <a:rPr lang="zh-CN" altLang="en-US" dirty="0"/>
              <a:t>该函数为当前组件添加灰度效果。其参数值定义了灰度转换的比例，当参数值为</a:t>
            </a:r>
            <a:r>
              <a:rPr lang="en-US" altLang="zh-CN" dirty="0"/>
              <a:t>1.0</a:t>
            </a:r>
            <a:r>
              <a:rPr lang="zh-CN" altLang="en-US" dirty="0"/>
              <a:t>时，图像将完全转换为灰度图像；当参数值为</a:t>
            </a:r>
            <a:r>
              <a:rPr lang="en-US" altLang="zh-CN" dirty="0"/>
              <a:t>0.0</a:t>
            </a:r>
            <a:r>
              <a:rPr lang="zh-CN" altLang="en-US" dirty="0"/>
              <a:t>时，图像不会发生任何变化；当参数值在</a:t>
            </a:r>
            <a:r>
              <a:rPr lang="en-US" altLang="zh-CN" dirty="0"/>
              <a:t>0.0</a:t>
            </a:r>
            <a:r>
              <a:rPr lang="zh-CN" altLang="en-US" dirty="0"/>
              <a:t>和</a:t>
            </a:r>
            <a:r>
              <a:rPr lang="en-US" altLang="zh-CN" dirty="0"/>
              <a:t>1.0</a:t>
            </a:r>
            <a:r>
              <a:rPr lang="zh-CN" altLang="en-US" dirty="0"/>
              <a:t>之间时，效果呈线性变化。该参数值的单位为百分比。</a:t>
            </a:r>
            <a:endParaRPr lang="zh-CN" altLang="en-US" dirty="0"/>
          </a:p>
          <a:p>
            <a:r>
              <a:rPr lang="en-US" altLang="zh-CN" dirty="0"/>
              <a:t>enabled:</a:t>
            </a:r>
            <a:r>
              <a:rPr lang="zh-CN" altLang="en-US" dirty="0"/>
              <a:t>值为</a:t>
            </a:r>
            <a:r>
              <a:rPr lang="en-US" altLang="zh-CN" dirty="0"/>
              <a:t>true</a:t>
            </a:r>
            <a:r>
              <a:rPr lang="zh-CN" altLang="en-US" dirty="0"/>
              <a:t>表示组件可交互，响应点击等操作。值为</a:t>
            </a:r>
            <a:r>
              <a:rPr lang="en-US" altLang="zh-CN" dirty="0"/>
              <a:t>fake</a:t>
            </a:r>
            <a:r>
              <a:rPr lang="zh-CN" altLang="en-US" dirty="0"/>
              <a:t>表示组件不可交互，不响应点击等操作，默认值为</a:t>
            </a:r>
            <a:r>
              <a:rPr lang="en-US" altLang="zh-CN" dirty="0"/>
              <a:t>true</a:t>
            </a:r>
            <a:r>
              <a:rPr lang="zh-CN" altLang="en-US" dirty="0"/>
              <a:t>。</a:t>
            </a:r>
            <a:endParaRPr lang="zh-CN" altLang="en-US" dirty="0"/>
          </a:p>
          <a:p>
            <a:r>
              <a:rPr lang="en-US" altLang="zh-CN" dirty="0"/>
              <a:t>touchable:</a:t>
            </a:r>
            <a:r>
              <a:rPr lang="zh-CN" altLang="en-US" dirty="0"/>
              <a:t>设置当前组件是否可以响应点击事件、触摸事件等手指交互事件。</a:t>
            </a:r>
            <a:r>
              <a:rPr lang="en-US" altLang="zh-CN" dirty="0"/>
              <a:t>true</a:t>
            </a:r>
            <a:r>
              <a:rPr lang="zh-CN" altLang="en-US" dirty="0"/>
              <a:t>表示可以触摸，</a:t>
            </a:r>
            <a:r>
              <a:rPr lang="en-US" altLang="zh-CN" dirty="0"/>
              <a:t>false</a:t>
            </a:r>
            <a:r>
              <a:rPr lang="zh-CN" altLang="en-US" dirty="0"/>
              <a:t>不可以触摸，默认值为</a:t>
            </a:r>
            <a:r>
              <a:rPr lang="en-US" altLang="zh-CN" dirty="0"/>
              <a:t>true</a:t>
            </a:r>
            <a:r>
              <a:rPr lang="zh-CN" altLang="en-US" dirty="0"/>
              <a:t>。</a:t>
            </a:r>
            <a:endParaRPr lang="zh-CN" altLang="en-US" dirty="0"/>
          </a:p>
          <a:p>
            <a:r>
              <a:rPr lang="en-US" altLang="zh-CN" dirty="0"/>
              <a:t>opacity:</a:t>
            </a:r>
            <a:r>
              <a:rPr lang="zh-CN" altLang="en-US" dirty="0"/>
              <a:t>是指元素的不透明度，取值范围在</a:t>
            </a:r>
            <a:r>
              <a:rPr lang="en-US" altLang="zh-CN" dirty="0"/>
              <a:t>0</a:t>
            </a:r>
            <a:r>
              <a:rPr lang="zh-CN" altLang="en-US" dirty="0"/>
              <a:t>到</a:t>
            </a:r>
            <a:r>
              <a:rPr lang="en-US" altLang="zh-CN" dirty="0"/>
              <a:t>1</a:t>
            </a:r>
            <a:r>
              <a:rPr lang="zh-CN" altLang="en-US" dirty="0"/>
              <a:t>之间。当取值为</a:t>
            </a:r>
            <a:r>
              <a:rPr lang="en-US" altLang="zh-CN" dirty="0"/>
              <a:t>1</a:t>
            </a:r>
            <a:r>
              <a:rPr lang="zh-CN" altLang="en-US" dirty="0"/>
              <a:t>时，元素完全不透明；当取值为</a:t>
            </a:r>
            <a:r>
              <a:rPr lang="en-US" altLang="zh-CN" dirty="0"/>
              <a:t>0</a:t>
            </a:r>
            <a:r>
              <a:rPr lang="zh-CN" altLang="en-US" dirty="0"/>
              <a:t>时，元素完全透明。通过设置元素的</a:t>
            </a:r>
            <a:r>
              <a:rPr lang="en-US" altLang="zh-CN" dirty="0"/>
              <a:t>opacity</a:t>
            </a:r>
            <a:r>
              <a:rPr lang="zh-CN" altLang="en-US" dirty="0"/>
              <a:t>属性，可以实现隐藏组件的效果，但是该组件在布局中仍然占据着相应的空间。需注意的是，组件具备继承其父组件该属性的能力，默认值为</a:t>
            </a:r>
            <a:r>
              <a:rPr lang="en-US" altLang="zh-CN" dirty="0"/>
              <a:t>1</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0" y="1125538"/>
            <a:ext cx="12025336" cy="5262979"/>
          </a:xfrm>
          <a:prstGeom prst="rect">
            <a:avLst/>
          </a:prstGeom>
          <a:noFill/>
        </p:spPr>
        <p:txBody>
          <a:bodyPr wrap="square">
            <a:spAutoFit/>
          </a:bodyPr>
          <a:lstStyle/>
          <a:p>
            <a:r>
              <a:rPr lang="en-US" altLang="zh-CN" dirty="0"/>
              <a:t>opacity:</a:t>
            </a:r>
            <a:r>
              <a:rPr lang="zh-CN" altLang="en-US" dirty="0"/>
              <a:t>是指元素的不透明度，取值范围在</a:t>
            </a:r>
            <a:r>
              <a:rPr lang="en-US" altLang="zh-CN" dirty="0"/>
              <a:t>0</a:t>
            </a:r>
            <a:r>
              <a:rPr lang="zh-CN" altLang="en-US" dirty="0"/>
              <a:t>到</a:t>
            </a:r>
            <a:r>
              <a:rPr lang="en-US" altLang="zh-CN" dirty="0"/>
              <a:t>1</a:t>
            </a:r>
            <a:r>
              <a:rPr lang="zh-CN" altLang="en-US" dirty="0"/>
              <a:t>之间。当取值为</a:t>
            </a:r>
            <a:r>
              <a:rPr lang="en-US" altLang="zh-CN" dirty="0"/>
              <a:t>1</a:t>
            </a:r>
            <a:r>
              <a:rPr lang="zh-CN" altLang="en-US" dirty="0"/>
              <a:t>时，元素完全不透明；当取值为</a:t>
            </a:r>
            <a:r>
              <a:rPr lang="en-US" altLang="zh-CN" dirty="0"/>
              <a:t>0</a:t>
            </a:r>
            <a:r>
              <a:rPr lang="zh-CN" altLang="en-US" dirty="0"/>
              <a:t>时，元素完全透明。通过设置元素的</a:t>
            </a:r>
            <a:r>
              <a:rPr lang="en-US" altLang="zh-CN" dirty="0"/>
              <a:t>opacity</a:t>
            </a:r>
            <a:r>
              <a:rPr lang="zh-CN" altLang="en-US" dirty="0"/>
              <a:t>属性，可以实现隐藏组件的效果，但是该组件在布局中仍然占据着相应的空间。需注意的是，组件具备继承其父组件该属性的能力，默认值为</a:t>
            </a:r>
            <a:r>
              <a:rPr lang="en-US" altLang="zh-CN" dirty="0"/>
              <a:t>1</a:t>
            </a:r>
            <a:r>
              <a:rPr lang="zh-CN" altLang="en-US" dirty="0"/>
              <a:t>。</a:t>
            </a:r>
            <a:endParaRPr lang="zh-CN" altLang="en-US" dirty="0"/>
          </a:p>
          <a:p>
            <a:r>
              <a:rPr lang="en-US" altLang="zh-CN" dirty="0"/>
              <a:t>focusable:</a:t>
            </a:r>
            <a:r>
              <a:rPr lang="zh-CN" altLang="en-US" dirty="0"/>
              <a:t>设置当前组件是否可以获焦，支持焦点控制的组件有</a:t>
            </a:r>
            <a:r>
              <a:rPr lang="en-US" altLang="zh-CN" dirty="0"/>
              <a:t>Button</a:t>
            </a:r>
            <a:r>
              <a:rPr lang="zh-CN" altLang="en-US" dirty="0"/>
              <a:t>、</a:t>
            </a:r>
            <a:r>
              <a:rPr lang="en-US" altLang="zh-CN" dirty="0"/>
              <a:t>Text</a:t>
            </a:r>
            <a:r>
              <a:rPr lang="zh-CN" altLang="en-US" dirty="0"/>
              <a:t>、</a:t>
            </a:r>
            <a:r>
              <a:rPr lang="en-US" altLang="zh-CN" dirty="0"/>
              <a:t>Image</a:t>
            </a:r>
            <a:r>
              <a:rPr lang="zh-CN" altLang="en-US" dirty="0"/>
              <a:t>、</a:t>
            </a:r>
            <a:r>
              <a:rPr lang="en-US" altLang="zh-CN" dirty="0"/>
              <a:t>List</a:t>
            </a:r>
            <a:r>
              <a:rPr lang="zh-CN" altLang="en-US" dirty="0"/>
              <a:t>、</a:t>
            </a:r>
            <a:r>
              <a:rPr lang="en-US" altLang="zh-CN" dirty="0"/>
              <a:t>Grid</a:t>
            </a:r>
            <a:r>
              <a:rPr lang="zh-CN" altLang="en-US" dirty="0"/>
              <a:t>。</a:t>
            </a:r>
            <a:endParaRPr lang="zh-CN" altLang="en-US" dirty="0"/>
          </a:p>
          <a:p>
            <a:r>
              <a:rPr lang="en-US" altLang="zh-CN" dirty="0" err="1"/>
              <a:t>rotute</a:t>
            </a:r>
            <a:r>
              <a:rPr lang="en-US" altLang="zh-CN" dirty="0"/>
              <a:t>:</a:t>
            </a:r>
            <a:r>
              <a:rPr lang="zh-CN" altLang="en-US" dirty="0"/>
              <a:t>旋转。</a:t>
            </a:r>
            <a:endParaRPr lang="zh-CN" altLang="en-US" dirty="0"/>
          </a:p>
          <a:p>
            <a:r>
              <a:rPr lang="en-US" altLang="zh-CN" dirty="0"/>
              <a:t>translate:</a:t>
            </a:r>
            <a:r>
              <a:rPr lang="zh-CN" altLang="en-US" dirty="0"/>
              <a:t>平移。</a:t>
            </a:r>
            <a:endParaRPr lang="zh-CN" altLang="en-US" dirty="0"/>
          </a:p>
          <a:p>
            <a:r>
              <a:rPr lang="en-US" altLang="zh-CN" dirty="0"/>
              <a:t>scale:</a:t>
            </a:r>
            <a:r>
              <a:rPr lang="zh-CN" altLang="en-US" dirty="0"/>
              <a:t>缩放。</a:t>
            </a:r>
            <a:endParaRPr lang="zh-CN" altLang="en-US" dirty="0"/>
          </a:p>
          <a:p>
            <a:r>
              <a:rPr lang="en-US" altLang="zh-CN" dirty="0"/>
              <a:t>direction:</a:t>
            </a:r>
            <a:r>
              <a:rPr lang="zh-CN" altLang="en-US" dirty="0"/>
              <a:t>设置元素水平方向的布局，默认值为</a:t>
            </a:r>
            <a:r>
              <a:rPr lang="en-US" altLang="zh-CN" dirty="0" err="1"/>
              <a:t>Direction.Auto</a:t>
            </a:r>
            <a:r>
              <a:rPr lang="zh-CN" altLang="en-US" dirty="0"/>
              <a:t>。</a:t>
            </a:r>
            <a:endParaRPr lang="zh-CN" altLang="en-US" dirty="0"/>
          </a:p>
          <a:p>
            <a:r>
              <a:rPr lang="en-US" altLang="zh-CN" dirty="0"/>
              <a:t>position:</a:t>
            </a:r>
            <a:r>
              <a:rPr lang="zh-CN" altLang="en-US" dirty="0"/>
              <a:t>绝对定位，设置元素左上角相对于父容器左上角偏移位置。在布局容器中，设置该属性不影响父容器布局，仅在绘制时进行位置调整。</a:t>
            </a:r>
            <a:endParaRPr lang="zh-CN" altLang="en-US" dirty="0"/>
          </a:p>
          <a:p>
            <a:r>
              <a:rPr lang="en-US" altLang="zh-CN" dirty="0"/>
              <a:t>offset:</a:t>
            </a:r>
            <a:r>
              <a:rPr lang="zh-CN" altLang="en-US" dirty="0"/>
              <a:t>相对定位，设置元素相对于自身的偏移量。设置该属性，不影响父容器布局，仅在绘制时进行位置调整。</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文本框 4"/>
          <p:cNvSpPr txBox="1"/>
          <p:nvPr/>
        </p:nvSpPr>
        <p:spPr>
          <a:xfrm>
            <a:off x="815132" y="1413570"/>
            <a:ext cx="10657184" cy="3172663"/>
          </a:xfrm>
          <a:prstGeom prst="rect">
            <a:avLst/>
          </a:prstGeom>
          <a:noFill/>
        </p:spPr>
        <p:txBody>
          <a:bodyPr wrap="square">
            <a:spAutoFit/>
          </a:bodyPr>
          <a:lstStyle/>
          <a:p>
            <a:r>
              <a:rPr lang="en-US" altLang="zh-CN" dirty="0"/>
              <a:t>1 </a:t>
            </a:r>
            <a:r>
              <a:rPr lang="zh-CN" altLang="en-US" dirty="0"/>
              <a:t>点击事件</a:t>
            </a:r>
            <a:endParaRPr lang="zh-CN" altLang="en-US" dirty="0"/>
          </a:p>
          <a:p>
            <a:pPr lvl="1">
              <a:lnSpc>
                <a:spcPct val="150000"/>
              </a:lnSpc>
            </a:pPr>
            <a:r>
              <a:rPr lang="en-US" altLang="zh-CN" dirty="0" err="1"/>
              <a:t>onClick</a:t>
            </a:r>
            <a:r>
              <a:rPr lang="en-US" altLang="zh-CN" dirty="0"/>
              <a:t>:</a:t>
            </a:r>
            <a:r>
              <a:rPr lang="zh-CN" altLang="en-US" dirty="0"/>
              <a:t>点击动作触发该回调，</a:t>
            </a:r>
            <a:r>
              <a:rPr lang="en-US" altLang="zh-CN" dirty="0" err="1"/>
              <a:t>ClickEvent</a:t>
            </a:r>
            <a:r>
              <a:rPr lang="zh-CN" altLang="en-US" dirty="0"/>
              <a:t>对象说明如下。</a:t>
            </a:r>
            <a:endParaRPr lang="zh-CN" altLang="en-US" dirty="0"/>
          </a:p>
          <a:p>
            <a:pPr lvl="1">
              <a:lnSpc>
                <a:spcPct val="150000"/>
              </a:lnSpc>
            </a:pPr>
            <a:r>
              <a:rPr lang="en-US" altLang="zh-CN" dirty="0" err="1"/>
              <a:t>screenX</a:t>
            </a:r>
            <a:r>
              <a:rPr lang="en-US" altLang="zh-CN" dirty="0"/>
              <a:t>:</a:t>
            </a:r>
            <a:r>
              <a:rPr lang="zh-CN" altLang="en-US" dirty="0"/>
              <a:t>点击位置相对于应用窗口左上角的</a:t>
            </a:r>
            <a:r>
              <a:rPr lang="en-US" altLang="zh-CN" dirty="0"/>
              <a:t>x</a:t>
            </a:r>
            <a:r>
              <a:rPr lang="zh-CN" altLang="en-US" dirty="0"/>
              <a:t>坐标。</a:t>
            </a:r>
            <a:endParaRPr lang="zh-CN" altLang="en-US" dirty="0"/>
          </a:p>
          <a:p>
            <a:pPr lvl="1">
              <a:lnSpc>
                <a:spcPct val="150000"/>
              </a:lnSpc>
            </a:pPr>
            <a:r>
              <a:rPr lang="en-US" altLang="zh-CN" dirty="0" err="1"/>
              <a:t>screenY</a:t>
            </a:r>
            <a:r>
              <a:rPr lang="en-US" altLang="zh-CN" dirty="0"/>
              <a:t>:</a:t>
            </a:r>
            <a:r>
              <a:rPr lang="zh-CN" altLang="en-US" dirty="0"/>
              <a:t>点击位置相对于应用窗口左上角的</a:t>
            </a:r>
            <a:r>
              <a:rPr lang="en-US" altLang="zh-CN" dirty="0"/>
              <a:t>y</a:t>
            </a:r>
            <a:r>
              <a:rPr lang="zh-CN" altLang="en-US" dirty="0"/>
              <a:t>坐标。</a:t>
            </a:r>
            <a:endParaRPr lang="zh-CN" altLang="en-US" dirty="0"/>
          </a:p>
          <a:p>
            <a:pPr lvl="1">
              <a:lnSpc>
                <a:spcPct val="150000"/>
              </a:lnSpc>
            </a:pPr>
            <a:r>
              <a:rPr lang="en-US" altLang="zh-CN" dirty="0"/>
              <a:t>x:</a:t>
            </a:r>
            <a:r>
              <a:rPr lang="zh-CN" altLang="en-US" dirty="0"/>
              <a:t>点击位置相对于被点击元素左上角的</a:t>
            </a:r>
            <a:r>
              <a:rPr lang="en-US" altLang="zh-CN" dirty="0"/>
              <a:t>x</a:t>
            </a:r>
            <a:r>
              <a:rPr lang="zh-CN" altLang="en-US" dirty="0"/>
              <a:t>坐标。</a:t>
            </a:r>
            <a:endParaRPr lang="zh-CN" altLang="en-US" dirty="0"/>
          </a:p>
          <a:p>
            <a:pPr lvl="1">
              <a:lnSpc>
                <a:spcPct val="150000"/>
              </a:lnSpc>
            </a:pPr>
            <a:r>
              <a:rPr lang="en-US" altLang="zh-CN" dirty="0"/>
              <a:t>y:</a:t>
            </a:r>
            <a:r>
              <a:rPr lang="zh-CN" altLang="en-US" dirty="0"/>
              <a:t>点击位置相对于被点击元素左上角的</a:t>
            </a:r>
            <a:r>
              <a:rPr lang="en-US" altLang="zh-CN" dirty="0"/>
              <a:t>y</a:t>
            </a:r>
            <a:r>
              <a:rPr lang="zh-CN" altLang="en-US" dirty="0"/>
              <a:t>坐标。</a:t>
            </a:r>
            <a:endParaRPr lang="zh-CN" altLang="en-US" dirty="0"/>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2" name="Rectangle 1"/>
          <p:cNvSpPr>
            <a:spLocks noChangeArrowheads="1"/>
          </p:cNvSpPr>
          <p:nvPr/>
        </p:nvSpPr>
        <p:spPr bwMode="auto">
          <a:xfrm>
            <a:off x="910630" y="1355579"/>
            <a:ext cx="3646935" cy="506292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700" b="0" i="0" u="none" strike="noStrike" cap="none" normalizeH="0" baseline="0">
                <a:ln>
                  <a:noFill/>
                </a:ln>
                <a:solidFill>
                  <a:srgbClr val="BBB529"/>
                </a:solidFill>
                <a:effectLst/>
                <a:latin typeface="Arial Unicode MS" panose="020B0604020202020204" charset="-122"/>
                <a:ea typeface="JetBrains Mono"/>
              </a:rPr>
              <a:t>@Entry </a:t>
            </a:r>
            <a:br>
              <a:rPr kumimoji="0" lang="zh-CN" altLang="zh-CN" sz="1700" b="0" i="0" u="none" strike="noStrike" cap="none" normalizeH="0" baseline="0">
                <a:ln>
                  <a:noFill/>
                </a:ln>
                <a:solidFill>
                  <a:srgbClr val="BBB529"/>
                </a:solidFill>
                <a:effectLst/>
                <a:latin typeface="Arial Unicode MS" panose="020B0604020202020204" charset="-122"/>
                <a:ea typeface="JetBrains Mono"/>
              </a:rPr>
            </a:br>
            <a:r>
              <a:rPr kumimoji="0" lang="zh-CN" altLang="zh-CN" sz="1700" b="0" i="0" u="none" strike="noStrike" cap="none" normalizeH="0" baseline="0">
                <a:ln>
                  <a:noFill/>
                </a:ln>
                <a:solidFill>
                  <a:srgbClr val="BBB529"/>
                </a:solidFill>
                <a:effectLst/>
                <a:latin typeface="Arial Unicode MS" panose="020B0604020202020204" charset="-122"/>
                <a:ea typeface="JetBrains Mono"/>
              </a:rPr>
              <a:t>@Component </a:t>
            </a:r>
            <a:br>
              <a:rPr kumimoji="0" lang="zh-CN" altLang="zh-CN" sz="1700" b="0" i="0" u="none" strike="noStrike" cap="none" normalizeH="0" baseline="0">
                <a:ln>
                  <a:noFill/>
                </a:ln>
                <a:solidFill>
                  <a:srgbClr val="BBB529"/>
                </a:solidFill>
                <a:effectLst/>
                <a:latin typeface="Arial Unicode MS" panose="020B0604020202020204" charset="-122"/>
                <a:ea typeface="JetBrains Mono"/>
              </a:rPr>
            </a:br>
            <a:r>
              <a:rPr kumimoji="0" lang="zh-CN" altLang="zh-CN" sz="1700" b="1" i="0" u="none" strike="noStrike" cap="none" normalizeH="0" baseline="0">
                <a:ln>
                  <a:noFill/>
                </a:ln>
                <a:solidFill>
                  <a:srgbClr val="E2DA90"/>
                </a:solidFill>
                <a:effectLst/>
                <a:latin typeface="Arial Unicode MS" panose="020B0604020202020204" charset="-122"/>
                <a:ea typeface="JetBrains Mono"/>
              </a:rPr>
              <a:t>struct </a:t>
            </a:r>
            <a:r>
              <a:rPr kumimoji="0" lang="zh-CN" altLang="zh-CN" sz="1700" b="0" i="0" u="none" strike="noStrike" cap="none" normalizeH="0" baseline="0">
                <a:ln>
                  <a:noFill/>
                </a:ln>
                <a:solidFill>
                  <a:srgbClr val="507874"/>
                </a:solidFill>
                <a:effectLst/>
                <a:latin typeface="Arial Unicode MS" panose="020B0604020202020204" charset="-122"/>
                <a:ea typeface="JetBrains Mono"/>
              </a:rPr>
              <a:t>Index </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BBB529"/>
                </a:solidFill>
                <a:effectLst/>
                <a:latin typeface="Arial Unicode MS" panose="020B0604020202020204" charset="-122"/>
                <a:ea typeface="JetBrains Mono"/>
              </a:rPr>
              <a:t>@State </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msg</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CC7832"/>
                </a:solidFill>
                <a:effectLst/>
                <a:latin typeface="Arial Unicode MS" panose="020B0604020202020204" charset="-122"/>
                <a:ea typeface="JetBrains Mono"/>
              </a:rPr>
              <a:t>string</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br>
              <a:rPr kumimoji="0" lang="zh-CN" altLang="zh-CN" sz="1700" b="0" i="0" u="none" strike="noStrike" cap="none" normalizeH="0" baseline="0">
                <a:ln>
                  <a:noFill/>
                </a:ln>
                <a:solidFill>
                  <a:srgbClr val="AA7DFC"/>
                </a:solidFill>
                <a:effectLst/>
                <a:latin typeface="Arial Unicode MS" panose="020B0604020202020204" charset="-122"/>
                <a:ea typeface="JetBrains Mono"/>
              </a:rPr>
            </a:br>
            <a:r>
              <a:rPr kumimoji="0" lang="zh-CN" altLang="zh-CN" sz="1700" b="0" i="0" u="none" strike="noStrike" cap="none" normalizeH="0" baseline="0">
                <a:ln>
                  <a:noFill/>
                </a:ln>
                <a:solidFill>
                  <a:srgbClr val="AA7DFC"/>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build</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Column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space</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10</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Button</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点击事件</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onClick</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CC7832"/>
                </a:solidFill>
                <a:effectLst/>
                <a:latin typeface="Arial Unicode MS" panose="020B0604020202020204" charset="-122"/>
                <a:ea typeface="JetBrains Mono"/>
              </a:rPr>
              <a:t>ClickEvent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=&gt;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msg</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相对窗口坐标</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screenX</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screenY</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\n</a:t>
            </a:r>
            <a:r>
              <a:rPr kumimoji="0" lang="zh-CN" altLang="zh-CN" sz="1700" b="0" i="0" u="none" strike="noStrike" cap="none" normalizeH="0" baseline="0">
                <a:ln>
                  <a:noFill/>
                </a:ln>
                <a:solidFill>
                  <a:srgbClr val="AA7DFC"/>
                </a:solidFill>
                <a:effectLst/>
                <a:latin typeface="Courier New" panose="02070309020205020404" pitchFamily="49" charset="0"/>
                <a:ea typeface="JetBrains Mono"/>
                <a:cs typeface="Courier New" panose="02070309020205020404" pitchFamily="49" charset="0"/>
              </a:rPr>
              <a:t>相对元素坐标</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x</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event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y</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Text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1" i="0" u="none" strike="noStrike" cap="none" normalizeH="0" baseline="0">
                <a:ln>
                  <a:noFill/>
                </a:ln>
                <a:solidFill>
                  <a:srgbClr val="E2DA90"/>
                </a:solidFill>
                <a:effectLst/>
                <a:latin typeface="Arial Unicode MS" panose="020B0604020202020204" charset="-122"/>
                <a:ea typeface="JetBrains Mono"/>
              </a:rPr>
              <a:t>this</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msg</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padding</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B3E54C"/>
                </a:solidFill>
                <a:effectLst/>
                <a:latin typeface="Arial Unicode MS" panose="020B0604020202020204" charset="-122"/>
                <a:ea typeface="JetBrains Mono"/>
              </a:rPr>
              <a:t>20</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DB7E9B"/>
                </a:solidFill>
                <a:effectLst/>
                <a:latin typeface="Arial Unicode MS" panose="020B0604020202020204" charset="-122"/>
                <a:ea typeface="JetBrains Mono"/>
              </a:rPr>
              <a:t>    </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65CCE1"/>
                </a:solidFill>
                <a:effectLst/>
                <a:latin typeface="Arial Unicode MS" panose="020B0604020202020204" charset="-122"/>
                <a:ea typeface="JetBrains Mono"/>
              </a:rPr>
              <a:t>size</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width</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FFFFFF"/>
                </a:solidFill>
                <a:effectLst/>
                <a:latin typeface="Arial Unicode MS" panose="020B0604020202020204" charset="-122"/>
                <a:ea typeface="JetBrains Mono"/>
              </a:rPr>
              <a:t>height</a:t>
            </a:r>
            <a:r>
              <a:rPr kumimoji="0" lang="zh-CN" altLang="zh-CN" sz="1700" b="0" i="0" u="none" strike="noStrike" cap="none" normalizeH="0" baseline="0">
                <a:ln>
                  <a:noFill/>
                </a:ln>
                <a:solidFill>
                  <a:srgbClr val="E2DA90"/>
                </a:solidFill>
                <a:effectLst/>
                <a:latin typeface="Arial Unicode MS" panose="020B0604020202020204" charset="-122"/>
                <a:ea typeface="JetBrains Mono"/>
              </a:rPr>
              <a:t>:</a:t>
            </a:r>
            <a:r>
              <a:rPr kumimoji="0" lang="zh-CN" altLang="zh-CN" sz="1700" b="0" i="0" u="none" strike="noStrike" cap="none" normalizeH="0" baseline="0">
                <a:ln>
                  <a:noFill/>
                </a:ln>
                <a:solidFill>
                  <a:srgbClr val="AA7DFC"/>
                </a:solidFill>
                <a:effectLst/>
                <a:latin typeface="Arial Unicode MS" panose="020B0604020202020204" charset="-122"/>
                <a:ea typeface="JetBrains Mono"/>
              </a:rPr>
              <a:t>'100%'</a:t>
            </a: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r>
              <a:rPr kumimoji="0" lang="zh-CN" altLang="zh-CN" sz="1700" b="0" i="0" u="none" strike="noStrike" cap="none" normalizeH="0" baseline="0">
                <a:ln>
                  <a:noFill/>
                </a:ln>
                <a:solidFill>
                  <a:srgbClr val="DB7E9B"/>
                </a:solidFill>
                <a:effectLst/>
                <a:latin typeface="Arial Unicode MS" panose="020B0604020202020204" charset="-122"/>
                <a:ea typeface="JetBrains Mono"/>
              </a:rPr>
              <a:t>)</a:t>
            </a:r>
            <a:br>
              <a:rPr kumimoji="0" lang="zh-CN" altLang="zh-CN" sz="1700" b="0" i="0" u="none" strike="noStrike" cap="none" normalizeH="0" baseline="0">
                <a:ln>
                  <a:noFill/>
                </a:ln>
                <a:solidFill>
                  <a:srgbClr val="DB7E9B"/>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br>
              <a:rPr kumimoji="0" lang="zh-CN" altLang="zh-CN" sz="1700" b="0" i="0" u="none" strike="noStrike" cap="none" normalizeH="0" baseline="0">
                <a:ln>
                  <a:noFill/>
                </a:ln>
                <a:solidFill>
                  <a:srgbClr val="FAA23D"/>
                </a:solidFill>
                <a:effectLst/>
                <a:latin typeface="Arial Unicode MS" panose="020B0604020202020204" charset="-122"/>
                <a:ea typeface="JetBrains Mono"/>
              </a:rPr>
            </a:br>
            <a:r>
              <a:rPr kumimoji="0" lang="zh-CN" altLang="zh-CN" sz="1700" b="0" i="0" u="none" strike="noStrike" cap="none" normalizeH="0" baseline="0">
                <a:ln>
                  <a:noFill/>
                </a:ln>
                <a:solidFill>
                  <a:srgbClr val="FAA23D"/>
                </a:solidFill>
                <a:effectLst/>
                <a:latin typeface="Arial Unicode MS" panose="020B0604020202020204" charset="-122"/>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5591150" y="2425375"/>
            <a:ext cx="5104762" cy="24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5" name="文本框 4"/>
          <p:cNvSpPr txBox="1"/>
          <p:nvPr/>
        </p:nvSpPr>
        <p:spPr>
          <a:xfrm>
            <a:off x="1414686" y="1485578"/>
            <a:ext cx="8807018" cy="2308324"/>
          </a:xfrm>
          <a:prstGeom prst="rect">
            <a:avLst/>
          </a:prstGeom>
          <a:noFill/>
        </p:spPr>
        <p:txBody>
          <a:bodyPr wrap="square">
            <a:spAutoFit/>
          </a:bodyPr>
          <a:lstStyle/>
          <a:p>
            <a:r>
              <a:rPr lang="en-US" altLang="zh-CN" dirty="0"/>
              <a:t>2 </a:t>
            </a:r>
            <a:r>
              <a:rPr lang="zh-CN" altLang="en-US" dirty="0"/>
              <a:t>触摸事件</a:t>
            </a:r>
            <a:endParaRPr lang="en-US" altLang="zh-CN" dirty="0"/>
          </a:p>
          <a:p>
            <a:r>
              <a:rPr lang="en-US" altLang="zh-CN" dirty="0" err="1"/>
              <a:t>onTouch</a:t>
            </a:r>
            <a:r>
              <a:rPr lang="en-US" altLang="zh-CN" dirty="0"/>
              <a:t>:</a:t>
            </a:r>
            <a:r>
              <a:rPr lang="zh-CN" altLang="en-US" dirty="0"/>
              <a:t>手指触摸动作触发该回调，</a:t>
            </a:r>
            <a:r>
              <a:rPr lang="en-US" altLang="zh-CN" dirty="0" err="1"/>
              <a:t>TouchEvent</a:t>
            </a:r>
            <a:r>
              <a:rPr lang="zh-CN" altLang="en-US" dirty="0"/>
              <a:t>对象说明如下：</a:t>
            </a:r>
            <a:endParaRPr lang="zh-CN" altLang="en-US" dirty="0"/>
          </a:p>
          <a:p>
            <a:pPr lvl="1"/>
            <a:r>
              <a:rPr lang="en-US" altLang="zh-CN" dirty="0"/>
              <a:t>type:</a:t>
            </a:r>
            <a:r>
              <a:rPr lang="zh-CN" altLang="en-US" dirty="0"/>
              <a:t>触摸事件的类型，</a:t>
            </a:r>
            <a:r>
              <a:rPr lang="en-US" altLang="zh-CN" dirty="0" err="1"/>
              <a:t>TouchType</a:t>
            </a:r>
            <a:r>
              <a:rPr lang="zh-CN" altLang="en-US" dirty="0"/>
              <a:t>枚举说明见表。</a:t>
            </a:r>
            <a:endParaRPr lang="zh-CN" altLang="en-US" dirty="0"/>
          </a:p>
          <a:p>
            <a:pPr lvl="1"/>
            <a:r>
              <a:rPr lang="en-US" altLang="zh-CN" dirty="0"/>
              <a:t>Touches:</a:t>
            </a:r>
            <a:r>
              <a:rPr lang="zh-CN" altLang="en-US" dirty="0"/>
              <a:t>全部手指信息。</a:t>
            </a:r>
            <a:endParaRPr lang="zh-CN" altLang="en-US" dirty="0"/>
          </a:p>
          <a:p>
            <a:pPr lvl="1"/>
            <a:r>
              <a:rPr lang="en-US" altLang="zh-CN" dirty="0" err="1"/>
              <a:t>changedTouches</a:t>
            </a:r>
            <a:r>
              <a:rPr lang="en-US" altLang="zh-CN" dirty="0"/>
              <a:t>:</a:t>
            </a:r>
            <a:r>
              <a:rPr lang="zh-CN" altLang="en-US" dirty="0"/>
              <a:t>当前发生变化的手指信息。</a:t>
            </a:r>
            <a:endParaRPr lang="zh-CN" altLang="en-US" dirty="0"/>
          </a:p>
          <a:p>
            <a:pPr lvl="1"/>
            <a:r>
              <a:rPr lang="en-US" altLang="zh-CN" dirty="0" err="1"/>
              <a:t>stopPropagation</a:t>
            </a:r>
            <a:r>
              <a:rPr lang="en-US" altLang="zh-CN" dirty="0"/>
              <a:t>:</a:t>
            </a:r>
            <a:r>
              <a:rPr lang="zh-CN" altLang="en-US" dirty="0"/>
              <a:t>阻塞事件冒泡。</a:t>
            </a:r>
            <a:endParaRPr lang="zh-CN" altLang="en-US" dirty="0"/>
          </a:p>
        </p:txBody>
      </p:sp>
      <p:pic>
        <p:nvPicPr>
          <p:cNvPr id="10" name="图片 9"/>
          <p:cNvPicPr>
            <a:picLocks noChangeAspect="1"/>
          </p:cNvPicPr>
          <p:nvPr/>
        </p:nvPicPr>
        <p:blipFill>
          <a:blip r:embed="rId1"/>
          <a:stretch>
            <a:fillRect/>
          </a:stretch>
        </p:blipFill>
        <p:spPr>
          <a:xfrm>
            <a:off x="1707584" y="4293890"/>
            <a:ext cx="8221222" cy="156231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4" name="文本框 3"/>
          <p:cNvSpPr txBox="1"/>
          <p:nvPr/>
        </p:nvSpPr>
        <p:spPr>
          <a:xfrm>
            <a:off x="1208280" y="1701602"/>
            <a:ext cx="10431542" cy="3416320"/>
          </a:xfrm>
          <a:prstGeom prst="rect">
            <a:avLst/>
          </a:prstGeom>
          <a:noFill/>
        </p:spPr>
        <p:txBody>
          <a:bodyPr wrap="square">
            <a:spAutoFit/>
          </a:bodyPr>
          <a:lstStyle/>
          <a:p>
            <a:r>
              <a:rPr lang="en-US" altLang="zh-CN" dirty="0"/>
              <a:t>3 </a:t>
            </a:r>
            <a:r>
              <a:rPr lang="zh-CN" altLang="en-US" dirty="0"/>
              <a:t>拖拽事件</a:t>
            </a:r>
            <a:endParaRPr lang="zh-CN" altLang="en-US" dirty="0"/>
          </a:p>
          <a:p>
            <a:r>
              <a:rPr lang="zh-CN" altLang="en-US" dirty="0"/>
              <a:t>拖拽事件包括</a:t>
            </a:r>
            <a:r>
              <a:rPr lang="en-US" altLang="zh-CN" dirty="0" err="1"/>
              <a:t>dragstart</a:t>
            </a:r>
            <a:r>
              <a:rPr lang="zh-CN" altLang="en-US" dirty="0"/>
              <a:t>、</a:t>
            </a:r>
            <a:r>
              <a:rPr lang="en-US" altLang="zh-CN" dirty="0"/>
              <a:t>drag</a:t>
            </a:r>
            <a:r>
              <a:rPr lang="zh-CN" altLang="en-US" dirty="0"/>
              <a:t>、</a:t>
            </a:r>
            <a:r>
              <a:rPr lang="en-US" altLang="zh-CN" dirty="0" err="1"/>
              <a:t>dagend</a:t>
            </a:r>
            <a:r>
              <a:rPr lang="zh-CN" altLang="en-US" dirty="0"/>
              <a:t>、</a:t>
            </a:r>
            <a:r>
              <a:rPr lang="en-US" altLang="zh-CN" dirty="0" err="1"/>
              <a:t>dragenter</a:t>
            </a:r>
            <a:r>
              <a:rPr lang="zh-CN" altLang="en-US" dirty="0"/>
              <a:t>、</a:t>
            </a:r>
            <a:r>
              <a:rPr lang="en-US" altLang="zh-CN" dirty="0" err="1"/>
              <a:t>dragover</a:t>
            </a:r>
            <a:r>
              <a:rPr lang="zh-CN" altLang="en-US" dirty="0"/>
              <a:t>、</a:t>
            </a:r>
            <a:r>
              <a:rPr lang="en-US" altLang="zh-CN" dirty="0" err="1"/>
              <a:t>dragleave</a:t>
            </a:r>
            <a:r>
              <a:rPr lang="zh-CN" altLang="en-US" dirty="0"/>
              <a:t>、</a:t>
            </a:r>
            <a:r>
              <a:rPr lang="en-US" altLang="zh-CN" dirty="0"/>
              <a:t>drop</a:t>
            </a:r>
            <a:r>
              <a:rPr lang="zh-CN" altLang="en-US" dirty="0"/>
              <a:t>等，开发者可以根据自己的需求选择相应的事件并编写相应的代码逻辑。</a:t>
            </a:r>
            <a:endParaRPr lang="zh-CN" altLang="en-US" dirty="0"/>
          </a:p>
          <a:p>
            <a:pPr lvl="1"/>
            <a:r>
              <a:rPr lang="en-US" altLang="zh-CN" dirty="0" err="1"/>
              <a:t>onDragStart</a:t>
            </a:r>
            <a:r>
              <a:rPr lang="en-US" altLang="zh-CN" dirty="0"/>
              <a:t>:</a:t>
            </a:r>
            <a:r>
              <a:rPr lang="zh-CN" altLang="en-US" dirty="0"/>
              <a:t>第一次拖拽此事件绑定的组件时，触发回调。</a:t>
            </a:r>
            <a:endParaRPr lang="zh-CN" altLang="en-US" dirty="0"/>
          </a:p>
          <a:p>
            <a:pPr lvl="1"/>
            <a:r>
              <a:rPr lang="en-US" altLang="zh-CN" dirty="0" err="1"/>
              <a:t>onDragEnter</a:t>
            </a:r>
            <a:r>
              <a:rPr lang="en-US" altLang="zh-CN" dirty="0"/>
              <a:t>:</a:t>
            </a:r>
            <a:r>
              <a:rPr lang="zh-CN" altLang="en-US" dirty="0"/>
              <a:t>拖拽进入组件范围内时，触发回调。</a:t>
            </a:r>
            <a:endParaRPr lang="zh-CN" altLang="en-US" dirty="0"/>
          </a:p>
          <a:p>
            <a:pPr lvl="1"/>
            <a:r>
              <a:rPr lang="en-US" altLang="zh-CN" dirty="0" err="1"/>
              <a:t>onDragMove</a:t>
            </a:r>
            <a:r>
              <a:rPr lang="en-US" altLang="zh-CN" dirty="0"/>
              <a:t>:</a:t>
            </a:r>
            <a:r>
              <a:rPr lang="zh-CN" altLang="en-US" dirty="0"/>
              <a:t>拖拽在组件范围内移动时，触发回调。</a:t>
            </a:r>
            <a:endParaRPr lang="zh-CN" altLang="en-US" dirty="0"/>
          </a:p>
          <a:p>
            <a:pPr lvl="1"/>
            <a:r>
              <a:rPr lang="en-US" altLang="zh-CN" dirty="0" err="1"/>
              <a:t>onDragLeave</a:t>
            </a:r>
            <a:r>
              <a:rPr lang="en-US" altLang="zh-CN" dirty="0"/>
              <a:t>:</a:t>
            </a:r>
            <a:r>
              <a:rPr lang="zh-CN" altLang="en-US" dirty="0"/>
              <a:t>拖拽离开组件范围内时，触发回调。</a:t>
            </a:r>
            <a:endParaRPr lang="zh-CN" altLang="en-US" dirty="0"/>
          </a:p>
          <a:p>
            <a:pPr lvl="1"/>
            <a:r>
              <a:rPr lang="en-US" altLang="zh-CN" dirty="0" err="1"/>
              <a:t>onDrop</a:t>
            </a:r>
            <a:r>
              <a:rPr lang="en-US" altLang="zh-CN" dirty="0"/>
              <a:t>:</a:t>
            </a:r>
            <a:r>
              <a:rPr lang="zh-CN" altLang="en-US" dirty="0"/>
              <a:t>绑定此事件的组件可作为拖拽释放目标，当在本组件范围内停止拖拽行为时，触发回调。</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4" name="文本框 3"/>
          <p:cNvSpPr txBox="1"/>
          <p:nvPr/>
        </p:nvSpPr>
        <p:spPr>
          <a:xfrm>
            <a:off x="1630710" y="1721634"/>
            <a:ext cx="8590994" cy="3416320"/>
          </a:xfrm>
          <a:prstGeom prst="rect">
            <a:avLst/>
          </a:prstGeom>
          <a:noFill/>
        </p:spPr>
        <p:txBody>
          <a:bodyPr wrap="square">
            <a:spAutoFit/>
          </a:bodyPr>
          <a:lstStyle/>
          <a:p>
            <a:r>
              <a:rPr lang="en-US" altLang="zh-CN" dirty="0"/>
              <a:t>4 </a:t>
            </a:r>
            <a:r>
              <a:rPr lang="zh-CN" altLang="en-US" dirty="0"/>
              <a:t>焦点事件</a:t>
            </a:r>
            <a:endParaRPr lang="zh-CN" altLang="en-US" dirty="0"/>
          </a:p>
          <a:p>
            <a:pPr lvl="1"/>
            <a:r>
              <a:rPr lang="en-US" altLang="zh-CN" dirty="0" err="1"/>
              <a:t>onFocus</a:t>
            </a:r>
            <a:r>
              <a:rPr lang="en-US" altLang="zh-CN" dirty="0"/>
              <a:t>:</a:t>
            </a:r>
            <a:r>
              <a:rPr lang="zh-CN" altLang="en-US" dirty="0"/>
              <a:t>当前组件获取焦点时触发的回调。</a:t>
            </a:r>
            <a:endParaRPr lang="zh-CN" altLang="en-US" dirty="0"/>
          </a:p>
          <a:p>
            <a:pPr lvl="1"/>
            <a:r>
              <a:rPr lang="en-US" altLang="zh-CN" dirty="0" err="1"/>
              <a:t>onBlur</a:t>
            </a:r>
            <a:r>
              <a:rPr lang="en-US" altLang="zh-CN" dirty="0"/>
              <a:t>:</a:t>
            </a:r>
            <a:r>
              <a:rPr lang="zh-CN" altLang="en-US" dirty="0"/>
              <a:t>当前组件失去焦点时触发的回调。</a:t>
            </a:r>
            <a:endParaRPr lang="en-US" altLang="zh-CN" dirty="0"/>
          </a:p>
          <a:p>
            <a:pPr lvl="1"/>
            <a:r>
              <a:rPr lang="en-US" altLang="zh-CN" dirty="0"/>
              <a:t>Button</a:t>
            </a:r>
            <a:r>
              <a:rPr lang="zh-CN" altLang="en-US" dirty="0"/>
              <a:t>、</a:t>
            </a:r>
            <a:r>
              <a:rPr lang="en-US" altLang="zh-CN" dirty="0" err="1"/>
              <a:t>TextInput</a:t>
            </a:r>
            <a:r>
              <a:rPr lang="zh-CN" altLang="en-US" dirty="0"/>
              <a:t>等组件具备默认的交互逻辑，这些组件默认状态下是可获得焦点的。而相对的，</a:t>
            </a:r>
            <a:r>
              <a:rPr lang="en-US" altLang="zh-CN" dirty="0"/>
              <a:t>Text</a:t>
            </a:r>
            <a:r>
              <a:rPr lang="zh-CN" altLang="en-US" dirty="0"/>
              <a:t>、</a:t>
            </a:r>
            <a:r>
              <a:rPr lang="en-US" altLang="zh-CN" dirty="0"/>
              <a:t>Image</a:t>
            </a:r>
            <a:r>
              <a:rPr lang="zh-CN" altLang="en-US" dirty="0"/>
              <a:t>等组件在默认状态下是不可获得焦点的。在不可获得焦点的状态下，无法触发焦点事件，此时需要将</a:t>
            </a:r>
            <a:r>
              <a:rPr lang="en-US" altLang="zh-CN" dirty="0"/>
              <a:t>focusable</a:t>
            </a:r>
            <a:r>
              <a:rPr lang="zh-CN" altLang="en-US" dirty="0"/>
              <a:t>属性设置为</a:t>
            </a:r>
            <a:r>
              <a:rPr lang="en-US" altLang="zh-CN" dirty="0"/>
              <a:t>true,</a:t>
            </a:r>
            <a:r>
              <a:rPr lang="zh-CN" altLang="en-US" dirty="0"/>
              <a:t>方可触发焦点事件。</a:t>
            </a:r>
            <a:endParaRPr lang="zh-CN" altLang="en-US" dirty="0"/>
          </a:p>
          <a:p>
            <a:pPr lvl="1"/>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4" name="文本框 3"/>
          <p:cNvSpPr txBox="1"/>
          <p:nvPr/>
        </p:nvSpPr>
        <p:spPr>
          <a:xfrm>
            <a:off x="1079359" y="1325153"/>
            <a:ext cx="11089232" cy="4154984"/>
          </a:xfrm>
          <a:prstGeom prst="rect">
            <a:avLst/>
          </a:prstGeom>
          <a:noFill/>
        </p:spPr>
        <p:txBody>
          <a:bodyPr wrap="square">
            <a:spAutoFit/>
          </a:bodyPr>
          <a:lstStyle/>
          <a:p>
            <a:r>
              <a:rPr lang="en-US" altLang="zh-CN" dirty="0"/>
              <a:t>5 </a:t>
            </a:r>
            <a:r>
              <a:rPr lang="zh-CN" altLang="en-US" dirty="0"/>
              <a:t>按键事件</a:t>
            </a:r>
            <a:endParaRPr lang="zh-CN" altLang="en-US" dirty="0"/>
          </a:p>
          <a:p>
            <a:pPr lvl="1"/>
            <a:r>
              <a:rPr lang="en-US" altLang="zh-CN" dirty="0" err="1"/>
              <a:t>onKeyEvent</a:t>
            </a:r>
            <a:r>
              <a:rPr lang="en-US" altLang="zh-CN" dirty="0"/>
              <a:t>:</a:t>
            </a:r>
            <a:r>
              <a:rPr lang="zh-CN" altLang="en-US" dirty="0"/>
              <a:t>绑定该方法的组件获焦后，按键动作触发该方法调用。</a:t>
            </a:r>
            <a:endParaRPr lang="zh-CN" altLang="en-US" dirty="0"/>
          </a:p>
          <a:p>
            <a:pPr lvl="1"/>
            <a:r>
              <a:rPr lang="en-US" altLang="zh-CN" dirty="0"/>
              <a:t>type:</a:t>
            </a:r>
            <a:r>
              <a:rPr lang="zh-CN" altLang="en-US" dirty="0"/>
              <a:t>按键的类型，</a:t>
            </a:r>
            <a:r>
              <a:rPr lang="en-US" altLang="zh-CN" dirty="0" err="1"/>
              <a:t>KeyType</a:t>
            </a:r>
            <a:r>
              <a:rPr lang="zh-CN" altLang="en-US" dirty="0"/>
              <a:t>枚举见表。</a:t>
            </a:r>
            <a:endParaRPr lang="zh-CN" altLang="en-US" dirty="0"/>
          </a:p>
          <a:p>
            <a:pPr lvl="1"/>
            <a:r>
              <a:rPr lang="en-US" altLang="zh-CN" dirty="0" err="1"/>
              <a:t>keyCode</a:t>
            </a:r>
            <a:r>
              <a:rPr lang="en-US" altLang="zh-CN" dirty="0"/>
              <a:t>:</a:t>
            </a:r>
            <a:r>
              <a:rPr lang="zh-CN" altLang="en-US" dirty="0"/>
              <a:t>按键的键码。</a:t>
            </a:r>
            <a:endParaRPr lang="zh-CN" altLang="en-US" dirty="0"/>
          </a:p>
          <a:p>
            <a:pPr lvl="1"/>
            <a:r>
              <a:rPr lang="en-US" altLang="zh-CN" dirty="0" err="1"/>
              <a:t>keyText</a:t>
            </a:r>
            <a:r>
              <a:rPr lang="en-US" altLang="zh-CN" dirty="0"/>
              <a:t>:</a:t>
            </a:r>
            <a:r>
              <a:rPr lang="zh-CN" altLang="en-US" dirty="0"/>
              <a:t>按键的键值。</a:t>
            </a:r>
            <a:endParaRPr lang="zh-CN" altLang="en-US" dirty="0"/>
          </a:p>
          <a:p>
            <a:pPr lvl="1"/>
            <a:r>
              <a:rPr lang="en-US" altLang="zh-CN" dirty="0" err="1"/>
              <a:t>keySource</a:t>
            </a:r>
            <a:r>
              <a:rPr lang="en-US" altLang="zh-CN" dirty="0"/>
              <a:t>:</a:t>
            </a:r>
            <a:r>
              <a:rPr lang="zh-CN" altLang="en-US" dirty="0"/>
              <a:t>触发当前按键的输入设备类型，</a:t>
            </a:r>
            <a:r>
              <a:rPr lang="en-US" altLang="zh-CN" dirty="0" err="1"/>
              <a:t>KeySource</a:t>
            </a:r>
            <a:r>
              <a:rPr lang="zh-CN" altLang="en-US" dirty="0"/>
              <a:t>枚举见表。</a:t>
            </a:r>
            <a:endParaRPr lang="zh-CN" altLang="en-US" dirty="0"/>
          </a:p>
          <a:p>
            <a:pPr lvl="1"/>
            <a:r>
              <a:rPr lang="en-US" altLang="zh-CN" dirty="0" err="1"/>
              <a:t>deviceld</a:t>
            </a:r>
            <a:r>
              <a:rPr lang="en-US" altLang="zh-CN" dirty="0"/>
              <a:t>:</a:t>
            </a:r>
            <a:r>
              <a:rPr lang="zh-CN" altLang="en-US" dirty="0"/>
              <a:t>触发当前按键的输入设备</a:t>
            </a:r>
            <a:r>
              <a:rPr lang="en-US" altLang="zh-CN" dirty="0"/>
              <a:t>ID</a:t>
            </a:r>
            <a:r>
              <a:rPr lang="zh-CN" altLang="en-US" dirty="0"/>
              <a:t>。</a:t>
            </a:r>
            <a:endParaRPr lang="zh-CN" altLang="en-US" dirty="0"/>
          </a:p>
          <a:p>
            <a:pPr lvl="1"/>
            <a:r>
              <a:rPr lang="en-US" altLang="zh-CN" dirty="0" err="1"/>
              <a:t>metaKey</a:t>
            </a:r>
            <a:r>
              <a:rPr lang="en-US" altLang="zh-CN" dirty="0"/>
              <a:t>:</a:t>
            </a:r>
            <a:r>
              <a:rPr lang="zh-CN" altLang="en-US" dirty="0"/>
              <a:t>按键发生时元键</a:t>
            </a:r>
            <a:r>
              <a:rPr lang="en-US" altLang="zh-CN" dirty="0"/>
              <a:t>(</a:t>
            </a:r>
            <a:r>
              <a:rPr lang="zh-CN" altLang="en-US" dirty="0"/>
              <a:t>即</a:t>
            </a:r>
            <a:r>
              <a:rPr lang="en-US" altLang="zh-CN" dirty="0"/>
              <a:t>Windows</a:t>
            </a:r>
            <a:r>
              <a:rPr lang="zh-CN" altLang="en-US" dirty="0"/>
              <a:t>键盘的</a:t>
            </a:r>
            <a:r>
              <a:rPr lang="en-US" altLang="zh-CN" dirty="0"/>
              <a:t>WIN</a:t>
            </a:r>
            <a:r>
              <a:rPr lang="zh-CN" altLang="en-US" dirty="0"/>
              <a:t>键、</a:t>
            </a:r>
            <a:r>
              <a:rPr lang="en-US" altLang="zh-CN" dirty="0"/>
              <a:t>Mac</a:t>
            </a:r>
            <a:r>
              <a:rPr lang="zh-CN" altLang="en-US" dirty="0"/>
              <a:t>键盘的</a:t>
            </a:r>
            <a:r>
              <a:rPr lang="en-US" altLang="zh-CN" dirty="0"/>
              <a:t>Command</a:t>
            </a:r>
            <a:r>
              <a:rPr lang="zh-CN" altLang="en-US" dirty="0"/>
              <a:t>键</a:t>
            </a:r>
            <a:r>
              <a:rPr lang="en-US" altLang="zh-CN" dirty="0"/>
              <a:t>)</a:t>
            </a:r>
            <a:r>
              <a:rPr lang="zh-CN" altLang="en-US" dirty="0"/>
              <a:t>的状态，</a:t>
            </a:r>
            <a:r>
              <a:rPr lang="en-US" altLang="zh-CN" dirty="0"/>
              <a:t>1</a:t>
            </a:r>
            <a:r>
              <a:rPr lang="zh-CN" altLang="en-US" dirty="0"/>
              <a:t>表示按压态，</a:t>
            </a:r>
            <a:r>
              <a:rPr lang="en-US" altLang="zh-CN" dirty="0"/>
              <a:t>0</a:t>
            </a:r>
            <a:r>
              <a:rPr lang="zh-CN" altLang="en-US" dirty="0"/>
              <a:t>表示未按压态。</a:t>
            </a:r>
            <a:endParaRPr lang="zh-CN" altLang="en-US" dirty="0"/>
          </a:p>
          <a:p>
            <a:pPr lvl="1"/>
            <a:r>
              <a:rPr lang="en-US" altLang="zh-CN" dirty="0"/>
              <a:t>Timestamp:</a:t>
            </a:r>
            <a:r>
              <a:rPr lang="zh-CN" altLang="en-US" dirty="0"/>
              <a:t>按键发生时的时间戳。</a:t>
            </a:r>
            <a:endParaRPr lang="zh-CN" altLang="en-US" dirty="0"/>
          </a:p>
          <a:p>
            <a:pPr lvl="1"/>
            <a:r>
              <a:rPr lang="en-US" altLang="zh-CN" dirty="0" err="1"/>
              <a:t>stopPropagation</a:t>
            </a:r>
            <a:r>
              <a:rPr lang="en-US" altLang="zh-CN" dirty="0"/>
              <a:t>:</a:t>
            </a:r>
            <a:r>
              <a:rPr lang="zh-CN" altLang="en-US" dirty="0"/>
              <a:t>阻塞事件冒泡传递。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4" name="文本框 3"/>
          <p:cNvSpPr txBox="1"/>
          <p:nvPr/>
        </p:nvSpPr>
        <p:spPr>
          <a:xfrm>
            <a:off x="1079359" y="1325153"/>
            <a:ext cx="11089232" cy="461665"/>
          </a:xfrm>
          <a:prstGeom prst="rect">
            <a:avLst/>
          </a:prstGeom>
          <a:noFill/>
        </p:spPr>
        <p:txBody>
          <a:bodyPr wrap="square">
            <a:spAutoFit/>
          </a:bodyPr>
          <a:lstStyle/>
          <a:p>
            <a:r>
              <a:rPr lang="en-US" altLang="zh-CN" dirty="0"/>
              <a:t>5 </a:t>
            </a:r>
            <a:r>
              <a:rPr lang="zh-CN" altLang="en-US" dirty="0"/>
              <a:t>按键事件</a:t>
            </a:r>
            <a:endParaRPr lang="zh-CN" altLang="en-US" dirty="0"/>
          </a:p>
        </p:txBody>
      </p:sp>
      <p:pic>
        <p:nvPicPr>
          <p:cNvPr id="9" name="图片 8"/>
          <p:cNvPicPr>
            <a:picLocks noChangeAspect="1"/>
          </p:cNvPicPr>
          <p:nvPr/>
        </p:nvPicPr>
        <p:blipFill>
          <a:blip r:embed="rId1"/>
          <a:stretch>
            <a:fillRect/>
          </a:stretch>
        </p:blipFill>
        <p:spPr>
          <a:xfrm>
            <a:off x="1702718" y="2133650"/>
            <a:ext cx="8306959" cy="2743583"/>
          </a:xfrm>
          <a:prstGeom prst="rect">
            <a:avLst/>
          </a:prstGeom>
        </p:spPr>
      </p:pic>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126654" y="1373503"/>
            <a:ext cx="9217024" cy="461665"/>
          </a:xfrm>
          <a:prstGeom prst="rect">
            <a:avLst/>
          </a:prstGeom>
          <a:noFill/>
        </p:spPr>
        <p:txBody>
          <a:bodyPr wrap="square">
            <a:spAutoFit/>
          </a:bodyPr>
          <a:lstStyle/>
          <a:p>
            <a:r>
              <a:rPr lang="en-US" altLang="zh-CN" dirty="0"/>
              <a:t>6 </a:t>
            </a:r>
            <a:r>
              <a:rPr lang="zh-CN" altLang="en-US" dirty="0"/>
              <a:t>鼠标事件</a:t>
            </a:r>
            <a:endParaRPr lang="zh-CN" altLang="en-US" dirty="0"/>
          </a:p>
        </p:txBody>
      </p:sp>
      <p:sp>
        <p:nvSpPr>
          <p:cNvPr id="12" name="文本框 11"/>
          <p:cNvSpPr txBox="1"/>
          <p:nvPr/>
        </p:nvSpPr>
        <p:spPr>
          <a:xfrm>
            <a:off x="1270676" y="1885426"/>
            <a:ext cx="10919737" cy="3785652"/>
          </a:xfrm>
          <a:prstGeom prst="rect">
            <a:avLst/>
          </a:prstGeom>
          <a:noFill/>
        </p:spPr>
        <p:txBody>
          <a:bodyPr wrap="square">
            <a:spAutoFit/>
          </a:bodyPr>
          <a:lstStyle/>
          <a:p>
            <a:r>
              <a:rPr lang="en-US" altLang="zh-CN" dirty="0" err="1"/>
              <a:t>onHover</a:t>
            </a:r>
            <a:r>
              <a:rPr lang="en-US" altLang="zh-CN" dirty="0"/>
              <a:t>:</a:t>
            </a:r>
            <a:r>
              <a:rPr lang="zh-CN" altLang="en-US" dirty="0"/>
              <a:t>鼠标进入或退出组件时触发该回调。</a:t>
            </a:r>
            <a:endParaRPr lang="zh-CN" altLang="en-US" dirty="0"/>
          </a:p>
          <a:p>
            <a:r>
              <a:rPr lang="en-US" altLang="zh-CN" dirty="0" err="1"/>
              <a:t>isHover</a:t>
            </a:r>
            <a:r>
              <a:rPr lang="en-US" altLang="zh-CN" dirty="0"/>
              <a:t>:</a:t>
            </a:r>
            <a:r>
              <a:rPr lang="zh-CN" altLang="en-US" dirty="0"/>
              <a:t>表示鼠标是否悬浮在组件上，鼠标进入时为</a:t>
            </a:r>
            <a:r>
              <a:rPr lang="en-US" altLang="zh-CN" dirty="0"/>
              <a:t>true,</a:t>
            </a:r>
            <a:r>
              <a:rPr lang="zh-CN" altLang="en-US" dirty="0"/>
              <a:t>退出时为</a:t>
            </a:r>
            <a:r>
              <a:rPr lang="en-US" altLang="zh-CN" dirty="0"/>
              <a:t>false</a:t>
            </a:r>
            <a:r>
              <a:rPr lang="zh-CN" altLang="en-US" dirty="0"/>
              <a:t>。</a:t>
            </a:r>
            <a:endParaRPr lang="zh-CN" altLang="en-US" dirty="0"/>
          </a:p>
          <a:p>
            <a:r>
              <a:rPr lang="en-US" altLang="zh-CN" dirty="0" err="1"/>
              <a:t>onMouse</a:t>
            </a:r>
            <a:r>
              <a:rPr lang="en-US" altLang="zh-CN" dirty="0"/>
              <a:t>:</a:t>
            </a:r>
            <a:r>
              <a:rPr lang="zh-CN" altLang="en-US" dirty="0"/>
              <a:t>当前组件被鼠标按键点击时或者鼠标在组件上悬浮移动时，触发该回调，</a:t>
            </a:r>
            <a:r>
              <a:rPr lang="en-US" altLang="zh-CN" dirty="0"/>
              <a:t>event</a:t>
            </a:r>
            <a:r>
              <a:rPr lang="zh-CN" altLang="en-US" dirty="0"/>
              <a:t>返回值包含触发事件时的时间截、鼠标按键、动作、鼠标位置在整个屏幕上的坐标和相对于当前组件的坐标。</a:t>
            </a:r>
            <a:endParaRPr lang="zh-CN" altLang="en-US" dirty="0"/>
          </a:p>
          <a:p>
            <a:r>
              <a:rPr lang="en-US" altLang="zh-CN" dirty="0" err="1"/>
              <a:t>MouseEvent</a:t>
            </a:r>
            <a:r>
              <a:rPr lang="zh-CN" altLang="en-US" dirty="0"/>
              <a:t>对象说明如下。</a:t>
            </a:r>
            <a:endParaRPr lang="zh-CN" altLang="en-US" dirty="0"/>
          </a:p>
          <a:p>
            <a:r>
              <a:rPr lang="en-US" altLang="zh-CN" dirty="0" err="1"/>
              <a:t>screenX</a:t>
            </a:r>
            <a:r>
              <a:rPr lang="en-US" altLang="zh-CN" dirty="0"/>
              <a:t>:</a:t>
            </a:r>
            <a:r>
              <a:rPr lang="zh-CN" altLang="en-US" dirty="0"/>
              <a:t>鼠标位置相对于应用窗口左上角的</a:t>
            </a:r>
            <a:r>
              <a:rPr lang="en-US" altLang="zh-CN" dirty="0"/>
              <a:t>x</a:t>
            </a:r>
            <a:r>
              <a:rPr lang="zh-CN" altLang="en-US" dirty="0"/>
              <a:t>坐标。</a:t>
            </a:r>
            <a:endParaRPr lang="zh-CN" altLang="en-US" dirty="0"/>
          </a:p>
          <a:p>
            <a:r>
              <a:rPr lang="en-US" altLang="zh-CN" dirty="0" err="1"/>
              <a:t>screenY</a:t>
            </a:r>
            <a:r>
              <a:rPr lang="en-US" altLang="zh-CN" dirty="0"/>
              <a:t>:</a:t>
            </a:r>
            <a:r>
              <a:rPr lang="zh-CN" altLang="en-US" dirty="0"/>
              <a:t>鼠标位置相对于应用窗口左上角的</a:t>
            </a:r>
            <a:r>
              <a:rPr lang="en-US" altLang="zh-CN" dirty="0"/>
              <a:t>y</a:t>
            </a:r>
            <a:r>
              <a:rPr lang="zh-CN" altLang="en-US" dirty="0"/>
              <a:t>坐标。</a:t>
            </a:r>
            <a:endParaRPr lang="zh-CN" altLang="en-US" dirty="0"/>
          </a:p>
          <a:p>
            <a:r>
              <a:rPr lang="en-US" altLang="zh-CN" dirty="0"/>
              <a:t>x:</a:t>
            </a:r>
            <a:r>
              <a:rPr lang="zh-CN" altLang="en-US" dirty="0"/>
              <a:t>鼠标位置相对于当前组件左上角的</a:t>
            </a:r>
            <a:r>
              <a:rPr lang="en-US" altLang="zh-CN" dirty="0"/>
              <a:t>x</a:t>
            </a:r>
            <a:r>
              <a:rPr lang="zh-CN" altLang="en-US" dirty="0"/>
              <a:t>坐标。</a:t>
            </a:r>
            <a:endParaRPr lang="zh-CN" altLang="en-US" dirty="0"/>
          </a:p>
          <a:p>
            <a:r>
              <a:rPr lang="en-US" altLang="zh-CN" dirty="0"/>
              <a:t>y:</a:t>
            </a:r>
            <a:r>
              <a:rPr lang="zh-CN" altLang="en-US" dirty="0"/>
              <a:t>鼠标位置相对于当前组件左上角的</a:t>
            </a:r>
            <a:r>
              <a:rPr lang="en-US" altLang="zh-CN" dirty="0"/>
              <a:t>y</a:t>
            </a:r>
            <a:r>
              <a:rPr lang="zh-CN" altLang="en-US" dirty="0"/>
              <a:t>坐标。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342678" y="1322957"/>
            <a:ext cx="10514909" cy="2308324"/>
          </a:xfrm>
          <a:prstGeom prst="rect">
            <a:avLst/>
          </a:prstGeom>
          <a:noFill/>
        </p:spPr>
        <p:txBody>
          <a:bodyPr wrap="square">
            <a:spAutoFit/>
          </a:bodyPr>
          <a:lstStyle/>
          <a:p>
            <a:r>
              <a:rPr lang="en-US" altLang="zh-CN" dirty="0"/>
              <a:t>button:</a:t>
            </a:r>
            <a:r>
              <a:rPr lang="zh-CN" altLang="en-US" dirty="0"/>
              <a:t>鼠标按键，</a:t>
            </a:r>
            <a:r>
              <a:rPr lang="en-US" altLang="zh-CN" dirty="0" err="1"/>
              <a:t>MouseButton</a:t>
            </a:r>
            <a:r>
              <a:rPr lang="zh-CN" altLang="en-US" dirty="0"/>
              <a:t>枚举说明见表。</a:t>
            </a:r>
            <a:endParaRPr lang="zh-CN" altLang="en-US" dirty="0"/>
          </a:p>
          <a:p>
            <a:r>
              <a:rPr lang="en-US" altLang="zh-CN" dirty="0"/>
              <a:t>action:</a:t>
            </a:r>
            <a:r>
              <a:rPr lang="zh-CN" altLang="en-US" dirty="0"/>
              <a:t>鼠标动作，</a:t>
            </a:r>
            <a:r>
              <a:rPr lang="en-US" altLang="zh-CN" dirty="0" err="1"/>
              <a:t>MouseAction</a:t>
            </a:r>
            <a:r>
              <a:rPr lang="zh-CN" altLang="en-US" dirty="0"/>
              <a:t>枚举说明见表。</a:t>
            </a:r>
            <a:endParaRPr lang="zh-CN" altLang="en-US" dirty="0"/>
          </a:p>
          <a:p>
            <a:r>
              <a:rPr lang="en-US" altLang="zh-CN" dirty="0" err="1"/>
              <a:t>stopPropagation</a:t>
            </a:r>
            <a:r>
              <a:rPr lang="en-US" altLang="zh-CN" dirty="0"/>
              <a:t>:</a:t>
            </a:r>
            <a:r>
              <a:rPr lang="zh-CN" altLang="en-US" dirty="0"/>
              <a:t>阻塞事件冒泡。</a:t>
            </a:r>
            <a:endParaRPr lang="zh-CN" altLang="en-US" dirty="0"/>
          </a:p>
          <a:p>
            <a:r>
              <a:rPr lang="en-US" altLang="zh-CN" dirty="0"/>
              <a:t>timestamp:</a:t>
            </a:r>
            <a:r>
              <a:rPr lang="zh-CN" altLang="en-US" dirty="0"/>
              <a:t>事件时间戳，触发事件时距离系统启动的时间间隔，单位</a:t>
            </a:r>
            <a:r>
              <a:rPr lang="en-US" altLang="zh-CN" dirty="0"/>
              <a:t>ns(</a:t>
            </a:r>
            <a:r>
              <a:rPr lang="zh-CN" altLang="en-US" dirty="0"/>
              <a:t>纳秒</a:t>
            </a:r>
            <a:r>
              <a:rPr lang="en-US" altLang="zh-CN" dirty="0"/>
              <a:t>)</a:t>
            </a:r>
            <a:r>
              <a:rPr lang="zh-CN" altLang="en-US" dirty="0"/>
              <a:t>。</a:t>
            </a:r>
            <a:endParaRPr lang="zh-CN" altLang="en-US" dirty="0"/>
          </a:p>
          <a:p>
            <a:r>
              <a:rPr lang="en-US" altLang="zh-CN" dirty="0"/>
              <a:t>target:</a:t>
            </a:r>
            <a:r>
              <a:rPr lang="zh-CN" altLang="en-US" dirty="0"/>
              <a:t>触发手势事件的元素对象显示区域。</a:t>
            </a:r>
            <a:endParaRPr lang="zh-CN" altLang="en-US" dirty="0"/>
          </a:p>
          <a:p>
            <a:r>
              <a:rPr lang="en-US" altLang="zh-CN" dirty="0"/>
              <a:t>source:</a:t>
            </a:r>
            <a:r>
              <a:rPr lang="zh-CN" altLang="en-US" dirty="0"/>
              <a:t>事件输入设备，</a:t>
            </a:r>
            <a:r>
              <a:rPr lang="en-US" altLang="zh-CN" dirty="0" err="1"/>
              <a:t>SourceType</a:t>
            </a:r>
            <a:r>
              <a:rPr lang="zh-CN" altLang="en-US" dirty="0"/>
              <a:t>枚举说明见表。</a:t>
            </a:r>
            <a:endParaRPr lang="zh-CN" altLang="en-US" dirty="0"/>
          </a:p>
        </p:txBody>
      </p:sp>
      <p:pic>
        <p:nvPicPr>
          <p:cNvPr id="9" name="图片 8"/>
          <p:cNvPicPr>
            <a:picLocks noChangeAspect="1"/>
          </p:cNvPicPr>
          <p:nvPr/>
        </p:nvPicPr>
        <p:blipFill>
          <a:blip r:embed="rId1"/>
          <a:srcRect b="60563"/>
          <a:stretch>
            <a:fillRect/>
          </a:stretch>
        </p:blipFill>
        <p:spPr>
          <a:xfrm>
            <a:off x="1630710" y="3861842"/>
            <a:ext cx="8440328" cy="2419406"/>
          </a:xfrm>
          <a:prstGeom prst="rect">
            <a:avLst/>
          </a:prstGeom>
        </p:spPr>
      </p:pic>
      <p:sp>
        <p:nvSpPr>
          <p:cNvPr id="13" name="矩形 12"/>
          <p:cNvSpPr/>
          <p:nvPr/>
        </p:nvSpPr>
        <p:spPr>
          <a:xfrm>
            <a:off x="4367014" y="3888194"/>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67014" y="4609673"/>
            <a:ext cx="864096" cy="360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组件通用信息</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 name="文本框 6"/>
          <p:cNvSpPr txBox="1"/>
          <p:nvPr/>
        </p:nvSpPr>
        <p:spPr>
          <a:xfrm>
            <a:off x="792093" y="891092"/>
            <a:ext cx="6097656" cy="461665"/>
          </a:xfrm>
          <a:prstGeom prst="rect">
            <a:avLst/>
          </a:prstGeom>
          <a:noFill/>
        </p:spPr>
        <p:txBody>
          <a:bodyPr wrap="square">
            <a:spAutoFit/>
          </a:bodyPr>
          <a:lstStyle/>
          <a:p>
            <a:r>
              <a:rPr lang="zh-CN" altLang="en-US" dirty="0"/>
              <a:t>通用事件</a:t>
            </a:r>
            <a:endParaRPr lang="zh-CN" altLang="en-US" dirty="0"/>
          </a:p>
        </p:txBody>
      </p:sp>
      <p:sp>
        <p:nvSpPr>
          <p:cNvPr id="10" name="矩形 9"/>
          <p:cNvSpPr/>
          <p:nvPr/>
        </p:nvSpPr>
        <p:spPr>
          <a:xfrm>
            <a:off x="4583038" y="2220879"/>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39022" y="3505441"/>
            <a:ext cx="792088"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a:srcRect t="40320"/>
          <a:stretch>
            <a:fillRect/>
          </a:stretch>
        </p:blipFill>
        <p:spPr>
          <a:xfrm>
            <a:off x="1225319" y="1701602"/>
            <a:ext cx="9093747" cy="3944817"/>
          </a:xfrm>
          <a:prstGeom prst="rect">
            <a:avLst/>
          </a:prstGeom>
        </p:spPr>
      </p:pic>
      <p:sp>
        <p:nvSpPr>
          <p:cNvPr id="6" name="矩形 5"/>
          <p:cNvSpPr/>
          <p:nvPr/>
        </p:nvSpPr>
        <p:spPr>
          <a:xfrm>
            <a:off x="4186994" y="1764195"/>
            <a:ext cx="864096"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67014" y="3854746"/>
            <a:ext cx="936104" cy="2728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990750" y="1845618"/>
            <a:ext cx="7943750" cy="3357329"/>
          </a:xfrm>
          <a:prstGeom prst="rect">
            <a:avLst/>
          </a:prstGeom>
          <a:noFill/>
        </p:spPr>
        <p:txBody>
          <a:bodyPr wrap="square">
            <a:spAutoFit/>
          </a:bodyPr>
          <a:lstStyle/>
          <a:p>
            <a:pPr algn="just">
              <a:lnSpc>
                <a:spcPct val="150000"/>
              </a:lnSpc>
            </a:pPr>
            <a:r>
              <a:rPr lang="zh-CN" altLang="en-US" dirty="0"/>
              <a:t>我们将学习</a:t>
            </a:r>
            <a:r>
              <a:rPr lang="en-US" altLang="zh-CN" dirty="0" err="1"/>
              <a:t>arkui</a:t>
            </a:r>
            <a:r>
              <a:rPr lang="zh-CN" altLang="en-US" dirty="0"/>
              <a:t>框架</a:t>
            </a:r>
            <a:r>
              <a:rPr lang="en-US" altLang="zh-CN" dirty="0"/>
              <a:t>router</a:t>
            </a:r>
            <a:r>
              <a:rPr lang="zh-CN" altLang="en-US" dirty="0"/>
              <a:t>页面跳转和传值的方法。本章从定义路由、配置路由、跳转页面以及传递参数等方面进行详细讲解，以帮助读者轻松掌握使用该框架进行页面导航的技巧和方法。在后续的内容中，本章进一步介绍</a:t>
            </a:r>
            <a:r>
              <a:rPr lang="en-US" altLang="zh-CN" dirty="0"/>
              <a:t>Navigation</a:t>
            </a:r>
            <a:r>
              <a:rPr lang="zh-CN" altLang="en-US" dirty="0"/>
              <a:t>页面导航的重要性，并讲解使用</a:t>
            </a:r>
            <a:r>
              <a:rPr lang="en-US" altLang="zh-CN" dirty="0" err="1"/>
              <a:t>arkui</a:t>
            </a:r>
            <a:r>
              <a:rPr lang="zh-CN" altLang="en-US" dirty="0"/>
              <a:t>框架实现导航栏的定义、配置和操作按钮的添加等功能。</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文本框 4"/>
          <p:cNvSpPr txBox="1"/>
          <p:nvPr/>
        </p:nvSpPr>
        <p:spPr>
          <a:xfrm>
            <a:off x="838622" y="952014"/>
            <a:ext cx="10945216" cy="1569660"/>
          </a:xfrm>
          <a:prstGeom prst="rect">
            <a:avLst/>
          </a:prstGeom>
          <a:noFill/>
        </p:spPr>
        <p:txBody>
          <a:bodyPr wrap="square">
            <a:spAutoFit/>
          </a:bodyPr>
          <a:lstStyle/>
          <a:p>
            <a:r>
              <a:rPr lang="zh-CN" altLang="en-US" dirty="0"/>
              <a:t>在应用程序开发中，页面跳转可以被分为两种类型：页面内跳转和页面间跳转。页面内跳转指的是在同一</a:t>
            </a:r>
            <a:r>
              <a:rPr lang="en-US" altLang="zh-CN" dirty="0"/>
              <a:t>Ability</a:t>
            </a:r>
            <a:r>
              <a:rPr lang="zh-CN" altLang="en-US" dirty="0"/>
              <a:t>内部进行的页面跳转，可以通过使用</a:t>
            </a:r>
            <a:r>
              <a:rPr lang="en-US" altLang="zh-CN" dirty="0"/>
              <a:t>Router</a:t>
            </a:r>
            <a:r>
              <a:rPr lang="zh-CN" altLang="en-US" dirty="0"/>
              <a:t>或</a:t>
            </a:r>
            <a:r>
              <a:rPr lang="en-US" altLang="zh-CN" dirty="0"/>
              <a:t>Navigator</a:t>
            </a:r>
            <a:r>
              <a:rPr lang="zh-CN" altLang="en-US" dirty="0"/>
              <a:t>来实现。而页面间跳转则是指所跳转的页面属于不同的</a:t>
            </a:r>
            <a:r>
              <a:rPr lang="en-US" altLang="zh-CN" dirty="0"/>
              <a:t>Ability,</a:t>
            </a:r>
            <a:r>
              <a:rPr lang="zh-CN" altLang="en-US" dirty="0"/>
              <a:t>这种跳转需要借助</a:t>
            </a:r>
            <a:r>
              <a:rPr lang="en-US" altLang="zh-CN" dirty="0" err="1"/>
              <a:t>startAbility</a:t>
            </a:r>
            <a:r>
              <a:rPr lang="zh-CN" altLang="en-US" dirty="0"/>
              <a:t>方法来实现。</a:t>
            </a:r>
            <a:endParaRPr lang="zh-CN" altLang="en-US" dirty="0"/>
          </a:p>
        </p:txBody>
      </p:sp>
      <p:pic>
        <p:nvPicPr>
          <p:cNvPr id="7" name="图片 6"/>
          <p:cNvPicPr>
            <a:picLocks noChangeAspect="1"/>
          </p:cNvPicPr>
          <p:nvPr/>
        </p:nvPicPr>
        <p:blipFill>
          <a:blip r:embed="rId1"/>
          <a:srcRect t="2890"/>
          <a:stretch>
            <a:fillRect/>
          </a:stretch>
        </p:blipFill>
        <p:spPr>
          <a:xfrm>
            <a:off x="2206774" y="2521674"/>
            <a:ext cx="7582958" cy="432019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247180" y="1485578"/>
            <a:ext cx="9793088" cy="4154984"/>
          </a:xfrm>
          <a:prstGeom prst="rect">
            <a:avLst/>
          </a:prstGeom>
          <a:noFill/>
        </p:spPr>
        <p:txBody>
          <a:bodyPr wrap="square">
            <a:spAutoFit/>
          </a:bodyPr>
          <a:lstStyle/>
          <a:p>
            <a:r>
              <a:rPr lang="en-US" altLang="zh-CN" dirty="0"/>
              <a:t>1 Router</a:t>
            </a:r>
            <a:r>
              <a:rPr lang="zh-CN" altLang="en-US" dirty="0"/>
              <a:t>定义介绍</a:t>
            </a:r>
            <a:endParaRPr lang="zh-CN" altLang="en-US" dirty="0"/>
          </a:p>
          <a:p>
            <a:pPr lvl="1"/>
            <a:r>
              <a:rPr lang="en-US" altLang="zh-CN" dirty="0" err="1"/>
              <a:t>pushUrl</a:t>
            </a:r>
            <a:r>
              <a:rPr lang="en-US" altLang="zh-CN" dirty="0"/>
              <a:t>:</a:t>
            </a:r>
            <a:r>
              <a:rPr lang="zh-CN" altLang="en-US" dirty="0"/>
              <a:t>跳转到应用内的指定页面，新页面在栈顶位置，页面路由栈支持的最大</a:t>
            </a:r>
            <a:r>
              <a:rPr lang="en-US" altLang="zh-CN" dirty="0"/>
              <a:t>Page</a:t>
            </a:r>
            <a:r>
              <a:rPr lang="zh-CN" altLang="en-US" dirty="0"/>
              <a:t>数量为</a:t>
            </a:r>
            <a:r>
              <a:rPr lang="en-US" altLang="zh-CN" dirty="0"/>
              <a:t>32</a:t>
            </a:r>
            <a:r>
              <a:rPr lang="zh-CN" altLang="en-US" dirty="0"/>
              <a:t>。</a:t>
            </a:r>
            <a:endParaRPr lang="zh-CN" altLang="en-US" dirty="0"/>
          </a:p>
          <a:p>
            <a:pPr lvl="1"/>
            <a:r>
              <a:rPr lang="en-US" altLang="zh-CN" dirty="0" err="1"/>
              <a:t>replaceUrl</a:t>
            </a:r>
            <a:r>
              <a:rPr lang="en-US" altLang="zh-CN" dirty="0"/>
              <a:t>:</a:t>
            </a:r>
            <a:r>
              <a:rPr lang="zh-CN" altLang="en-US" dirty="0"/>
              <a:t>用应用内的某个页面替换当前页面。</a:t>
            </a:r>
            <a:endParaRPr lang="zh-CN" altLang="en-US" dirty="0"/>
          </a:p>
          <a:p>
            <a:pPr lvl="1"/>
            <a:r>
              <a:rPr lang="en-US" altLang="zh-CN" dirty="0"/>
              <a:t>back:</a:t>
            </a:r>
            <a:r>
              <a:rPr lang="zh-CN" altLang="en-US" dirty="0"/>
              <a:t>返回上一页面或指定的页面。</a:t>
            </a:r>
            <a:endParaRPr lang="zh-CN" altLang="en-US" dirty="0"/>
          </a:p>
          <a:p>
            <a:pPr lvl="1"/>
            <a:r>
              <a:rPr lang="en-US" altLang="zh-CN" dirty="0"/>
              <a:t>clear:</a:t>
            </a:r>
            <a:r>
              <a:rPr lang="zh-CN" altLang="en-US" dirty="0"/>
              <a:t>清空页面栈中的所有历史页面，仅保留当前页面作为栈顶页面。</a:t>
            </a:r>
            <a:endParaRPr lang="zh-CN" altLang="en-US" dirty="0"/>
          </a:p>
          <a:p>
            <a:pPr lvl="1"/>
            <a:r>
              <a:rPr lang="en-US" altLang="zh-CN" dirty="0" err="1"/>
              <a:t>getLength</a:t>
            </a:r>
            <a:r>
              <a:rPr lang="en-US" altLang="zh-CN" dirty="0"/>
              <a:t>:</a:t>
            </a:r>
            <a:r>
              <a:rPr lang="zh-CN" altLang="en-US" dirty="0"/>
              <a:t>获取当前在页面栈内的页面数量。</a:t>
            </a:r>
            <a:endParaRPr lang="zh-CN" altLang="en-US" dirty="0"/>
          </a:p>
          <a:p>
            <a:pPr lvl="1"/>
            <a:r>
              <a:rPr lang="en-US" altLang="zh-CN" dirty="0" err="1"/>
              <a:t>getState</a:t>
            </a:r>
            <a:r>
              <a:rPr lang="en-US" altLang="zh-CN" dirty="0"/>
              <a:t>:</a:t>
            </a:r>
            <a:r>
              <a:rPr lang="zh-CN" altLang="en-US" dirty="0"/>
              <a:t>获取当前页面的状态信息。</a:t>
            </a:r>
            <a:endParaRPr lang="en-US" altLang="zh-CN" dirty="0"/>
          </a:p>
          <a:p>
            <a:pPr lvl="1"/>
            <a:r>
              <a:rPr lang="en-US" altLang="zh-CN" dirty="0" err="1"/>
              <a:t>showAlertBeforeBackPage</a:t>
            </a:r>
            <a:r>
              <a:rPr lang="en-US" altLang="zh-CN" dirty="0"/>
              <a:t>:</a:t>
            </a:r>
            <a:r>
              <a:rPr lang="zh-CN" altLang="en-US" dirty="0"/>
              <a:t>开启页面返回询问对话框。</a:t>
            </a:r>
            <a:endParaRPr lang="zh-CN" altLang="en-US" dirty="0"/>
          </a:p>
          <a:p>
            <a:pPr lvl="1"/>
            <a:r>
              <a:rPr lang="en-US" altLang="zh-CN" dirty="0" err="1"/>
              <a:t>hideAlertBeforeBackPage</a:t>
            </a:r>
            <a:r>
              <a:rPr lang="en-US" altLang="zh-CN" dirty="0"/>
              <a:t>:</a:t>
            </a:r>
            <a:r>
              <a:rPr lang="zh-CN" altLang="en-US" dirty="0"/>
              <a:t>禁用页面返回询问对话框。</a:t>
            </a:r>
            <a:endParaRPr lang="zh-CN" altLang="en-US" dirty="0"/>
          </a:p>
          <a:p>
            <a:pPr lvl="1"/>
            <a:r>
              <a:rPr lang="en-US" altLang="zh-CN" dirty="0" err="1"/>
              <a:t>getParams</a:t>
            </a:r>
            <a:r>
              <a:rPr lang="en-US" altLang="zh-CN" dirty="0"/>
              <a:t>:</a:t>
            </a:r>
            <a:r>
              <a:rPr lang="zh-CN" altLang="en-US" dirty="0"/>
              <a:t>获取通过路由传递过来的参数。</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5" name="图片 4"/>
          <p:cNvPicPr>
            <a:picLocks noChangeAspect="1"/>
          </p:cNvPicPr>
          <p:nvPr/>
        </p:nvPicPr>
        <p:blipFill>
          <a:blip r:embed="rId1"/>
          <a:stretch>
            <a:fillRect/>
          </a:stretch>
        </p:blipFill>
        <p:spPr>
          <a:xfrm>
            <a:off x="1285523" y="981522"/>
            <a:ext cx="9619365" cy="5222395"/>
          </a:xfrm>
          <a:prstGeom prst="rect">
            <a:avLst/>
          </a:prstGeom>
        </p:spPr>
      </p:pic>
      <p:sp>
        <p:nvSpPr>
          <p:cNvPr id="7" name="文本框 6"/>
          <p:cNvSpPr txBox="1"/>
          <p:nvPr/>
        </p:nvSpPr>
        <p:spPr>
          <a:xfrm>
            <a:off x="3862958" y="6310114"/>
            <a:ext cx="6096000" cy="461665"/>
          </a:xfrm>
          <a:prstGeom prst="rect">
            <a:avLst/>
          </a:prstGeom>
          <a:noFill/>
        </p:spPr>
        <p:txBody>
          <a:bodyPr wrap="square">
            <a:spAutoFit/>
          </a:bodyPr>
          <a:lstStyle/>
          <a:p>
            <a:r>
              <a:rPr lang="en-US" altLang="zh-CN" dirty="0"/>
              <a:t>Router</a:t>
            </a:r>
            <a:r>
              <a:rPr lang="zh-CN" altLang="en-US" dirty="0"/>
              <a:t>参数对象说明</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342678" y="1413570"/>
            <a:ext cx="9217024" cy="3416320"/>
          </a:xfrm>
          <a:prstGeom prst="rect">
            <a:avLst/>
          </a:prstGeom>
          <a:noFill/>
        </p:spPr>
        <p:txBody>
          <a:bodyPr wrap="square">
            <a:spAutoFit/>
          </a:bodyPr>
          <a:lstStyle/>
          <a:p>
            <a:r>
              <a:rPr lang="en-US" altLang="zh-CN" dirty="0"/>
              <a:t>2 Router</a:t>
            </a:r>
            <a:r>
              <a:rPr lang="zh-CN" altLang="en-US" dirty="0"/>
              <a:t>使用介绍</a:t>
            </a:r>
            <a:endParaRPr lang="zh-CN" altLang="en-US" dirty="0"/>
          </a:p>
          <a:p>
            <a:pPr lvl="1" algn="just"/>
            <a:r>
              <a:rPr lang="en-US" altLang="zh-CN" dirty="0"/>
              <a:t>2.1.</a:t>
            </a:r>
            <a:r>
              <a:rPr lang="zh-CN" altLang="en-US" dirty="0"/>
              <a:t>引入</a:t>
            </a:r>
            <a:r>
              <a:rPr lang="en-US" altLang="zh-CN" dirty="0"/>
              <a:t>Router</a:t>
            </a:r>
            <a:endParaRPr lang="en-US" altLang="zh-CN" dirty="0"/>
          </a:p>
          <a:p>
            <a:pPr lvl="1" algn="just"/>
            <a:r>
              <a:rPr lang="zh-CN" altLang="en-US" dirty="0"/>
              <a:t>使用</a:t>
            </a:r>
            <a:r>
              <a:rPr lang="en-US" altLang="zh-CN" dirty="0"/>
              <a:t>router</a:t>
            </a:r>
            <a:r>
              <a:rPr lang="zh-CN" altLang="en-US" dirty="0"/>
              <a:t>之前，先要引入</a:t>
            </a:r>
            <a:r>
              <a:rPr lang="en-US" altLang="zh-CN" dirty="0"/>
              <a:t>router,</a:t>
            </a:r>
            <a:r>
              <a:rPr lang="zh-CN" altLang="en-US" dirty="0"/>
              <a:t>引入方式如下：</a:t>
            </a:r>
            <a:endParaRPr lang="zh-CN" altLang="en-US" dirty="0"/>
          </a:p>
          <a:p>
            <a:pPr lvl="1" algn="just"/>
            <a:r>
              <a:rPr lang="en-US" altLang="zh-CN" dirty="0"/>
              <a:t>import router from‘@</a:t>
            </a:r>
            <a:r>
              <a:rPr lang="en-US" altLang="zh-CN" dirty="0" err="1"/>
              <a:t>ohos.router</a:t>
            </a:r>
            <a:r>
              <a:rPr lang="en-US" altLang="zh-CN" dirty="0"/>
              <a:t>’</a:t>
            </a:r>
            <a:endParaRPr lang="en-US" altLang="zh-CN" dirty="0"/>
          </a:p>
          <a:p>
            <a:pPr lvl="1" algn="just"/>
            <a:r>
              <a:rPr lang="en-US" altLang="zh-CN" dirty="0"/>
              <a:t>2.2.</a:t>
            </a:r>
            <a:r>
              <a:rPr lang="zh-CN" altLang="en-US" dirty="0"/>
              <a:t>页面跳转及参数传递</a:t>
            </a:r>
            <a:endParaRPr lang="zh-CN" altLang="en-US" dirty="0"/>
          </a:p>
          <a:p>
            <a:pPr lvl="1" algn="just"/>
            <a:r>
              <a:rPr lang="zh-CN" altLang="en-US" dirty="0"/>
              <a:t>页面跳转可使用</a:t>
            </a:r>
            <a:r>
              <a:rPr lang="en-US" altLang="zh-CN" dirty="0" err="1"/>
              <a:t>router.pushUHl</a:t>
            </a:r>
            <a:r>
              <a:rPr lang="zh-CN" altLang="en-US" dirty="0"/>
              <a:t>方法。在通过</a:t>
            </a:r>
            <a:r>
              <a:rPr lang="en-US" altLang="zh-CN" dirty="0"/>
              <a:t>router</a:t>
            </a:r>
            <a:r>
              <a:rPr lang="zh-CN" altLang="en-US" dirty="0"/>
              <a:t>打开新页面时，如果需要传递参数，可以使用</a:t>
            </a:r>
            <a:r>
              <a:rPr lang="en-US" altLang="zh-CN" dirty="0" err="1"/>
              <a:t>RouterOptions</a:t>
            </a:r>
            <a:r>
              <a:rPr lang="zh-CN" altLang="en-US" dirty="0"/>
              <a:t>的</a:t>
            </a:r>
            <a:r>
              <a:rPr lang="en-US" altLang="zh-CN" dirty="0"/>
              <a:t>params</a:t>
            </a:r>
            <a:r>
              <a:rPr lang="zh-CN" altLang="en-US" dirty="0"/>
              <a:t>参数来传递一个对象。接收方可以通过</a:t>
            </a:r>
            <a:r>
              <a:rPr lang="en-US" altLang="zh-CN" dirty="0" err="1"/>
              <a:t>router.getParams</a:t>
            </a:r>
            <a:r>
              <a:rPr lang="en-US" altLang="zh-CN" dirty="0"/>
              <a:t>)</a:t>
            </a:r>
            <a:r>
              <a:rPr lang="zh-CN" altLang="en-US" dirty="0"/>
              <a:t>方法获取传递过来的对象。</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页面跳转</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5" name="图片 4"/>
          <p:cNvPicPr>
            <a:picLocks noChangeAspect="1"/>
          </p:cNvPicPr>
          <p:nvPr/>
        </p:nvPicPr>
        <p:blipFill>
          <a:blip r:embed="rId1"/>
          <a:stretch>
            <a:fillRect/>
          </a:stretch>
        </p:blipFill>
        <p:spPr>
          <a:xfrm>
            <a:off x="13727" y="1492144"/>
            <a:ext cx="3334215" cy="1524213"/>
          </a:xfrm>
          <a:prstGeom prst="rect">
            <a:avLst/>
          </a:prstGeom>
        </p:spPr>
      </p:pic>
      <p:pic>
        <p:nvPicPr>
          <p:cNvPr id="7" name="图片 6"/>
          <p:cNvPicPr>
            <a:picLocks noChangeAspect="1"/>
          </p:cNvPicPr>
          <p:nvPr/>
        </p:nvPicPr>
        <p:blipFill>
          <a:blip r:embed="rId2"/>
          <a:stretch>
            <a:fillRect/>
          </a:stretch>
        </p:blipFill>
        <p:spPr>
          <a:xfrm>
            <a:off x="13727" y="3018083"/>
            <a:ext cx="6163535" cy="2819794"/>
          </a:xfrm>
          <a:prstGeom prst="rect">
            <a:avLst/>
          </a:prstGeom>
        </p:spPr>
      </p:pic>
      <p:pic>
        <p:nvPicPr>
          <p:cNvPr id="9" name="图片 8"/>
          <p:cNvPicPr>
            <a:picLocks noChangeAspect="1"/>
          </p:cNvPicPr>
          <p:nvPr/>
        </p:nvPicPr>
        <p:blipFill>
          <a:blip r:embed="rId3"/>
          <a:stretch>
            <a:fillRect/>
          </a:stretch>
        </p:blipFill>
        <p:spPr>
          <a:xfrm>
            <a:off x="6743278" y="909514"/>
            <a:ext cx="4925112" cy="3762900"/>
          </a:xfrm>
          <a:prstGeom prst="rect">
            <a:avLst/>
          </a:prstGeom>
        </p:spPr>
      </p:pic>
      <p:pic>
        <p:nvPicPr>
          <p:cNvPr id="11" name="图片 10"/>
          <p:cNvPicPr>
            <a:picLocks noChangeAspect="1"/>
          </p:cNvPicPr>
          <p:nvPr/>
        </p:nvPicPr>
        <p:blipFill>
          <a:blip r:embed="rId4"/>
          <a:stretch>
            <a:fillRect/>
          </a:stretch>
        </p:blipFill>
        <p:spPr>
          <a:xfrm>
            <a:off x="6177262" y="4700384"/>
            <a:ext cx="6057143" cy="18380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 name="文本框 3"/>
          <p:cNvSpPr txBox="1"/>
          <p:nvPr/>
        </p:nvSpPr>
        <p:spPr>
          <a:xfrm>
            <a:off x="1630710" y="1721634"/>
            <a:ext cx="9001000" cy="3046988"/>
          </a:xfrm>
          <a:prstGeom prst="rect">
            <a:avLst/>
          </a:prstGeom>
          <a:noFill/>
        </p:spPr>
        <p:txBody>
          <a:bodyPr wrap="square">
            <a:spAutoFit/>
          </a:bodyPr>
          <a:lstStyle/>
          <a:p>
            <a:r>
              <a:rPr lang="en-US" altLang="zh-CN" dirty="0"/>
              <a:t>1 Navigation</a:t>
            </a:r>
            <a:r>
              <a:rPr lang="zh-CN" altLang="en-US" dirty="0"/>
              <a:t>定义介绍</a:t>
            </a:r>
            <a:endParaRPr lang="zh-CN" altLang="en-US" dirty="0"/>
          </a:p>
          <a:p>
            <a:pPr lvl="1"/>
            <a:r>
              <a:rPr lang="zh-CN" altLang="en-US" dirty="0"/>
              <a:t>该组件为路由容器组件，提供路由跳转能力。默认情况下，该组件的导航样式为一个带有返回箭头的标题栏及其子控件组成的组件。</a:t>
            </a:r>
            <a:endParaRPr lang="zh-CN" altLang="en-US" dirty="0"/>
          </a:p>
          <a:p>
            <a:r>
              <a:rPr lang="en-US" altLang="zh-CN" dirty="0"/>
              <a:t>2 Navigation</a:t>
            </a:r>
            <a:r>
              <a:rPr lang="zh-CN" altLang="en-US" dirty="0"/>
              <a:t>属性介绍</a:t>
            </a:r>
            <a:endParaRPr lang="zh-CN" altLang="en-US" dirty="0"/>
          </a:p>
          <a:p>
            <a:pPr lvl="1"/>
            <a:r>
              <a:rPr lang="en-US" altLang="zh-CN" dirty="0"/>
              <a:t>title:</a:t>
            </a:r>
            <a:r>
              <a:rPr lang="zh-CN" altLang="en-US" dirty="0"/>
              <a:t>设置导航栏的标题，当参数类型为</a:t>
            </a:r>
            <a:r>
              <a:rPr lang="en-US" altLang="zh-CN" dirty="0"/>
              <a:t>string</a:t>
            </a:r>
            <a:r>
              <a:rPr lang="zh-CN" altLang="en-US" dirty="0"/>
              <a:t>时，可以直接设置标题，但样式不可修改；当参数为</a:t>
            </a:r>
            <a:r>
              <a:rPr lang="en-US" altLang="zh-CN" dirty="0" err="1"/>
              <a:t>CustomBuilder</a:t>
            </a:r>
            <a:r>
              <a:rPr lang="zh-CN" altLang="en-US" dirty="0"/>
              <a:t>时，可以自定义标题样式。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5" name="文本框 4"/>
          <p:cNvSpPr txBox="1"/>
          <p:nvPr/>
        </p:nvSpPr>
        <p:spPr>
          <a:xfrm>
            <a:off x="1166292" y="981522"/>
            <a:ext cx="9505056" cy="3785652"/>
          </a:xfrm>
          <a:prstGeom prst="rect">
            <a:avLst/>
          </a:prstGeom>
          <a:noFill/>
        </p:spPr>
        <p:txBody>
          <a:bodyPr wrap="square">
            <a:spAutoFit/>
          </a:bodyPr>
          <a:lstStyle/>
          <a:p>
            <a:r>
              <a:rPr lang="en-US" altLang="zh-CN" dirty="0" err="1"/>
              <a:t>subTitle</a:t>
            </a:r>
            <a:r>
              <a:rPr lang="en-US" altLang="zh-CN" dirty="0"/>
              <a:t>:</a:t>
            </a:r>
            <a:r>
              <a:rPr lang="zh-CN" altLang="en-US" dirty="0"/>
              <a:t>设置页面的副标题。</a:t>
            </a:r>
            <a:endParaRPr lang="zh-CN" altLang="en-US" dirty="0"/>
          </a:p>
          <a:p>
            <a:r>
              <a:rPr lang="en-US" altLang="zh-CN" dirty="0" err="1"/>
              <a:t>hideBackButton</a:t>
            </a:r>
            <a:r>
              <a:rPr lang="en-US" altLang="zh-CN" dirty="0"/>
              <a:t>:</a:t>
            </a:r>
            <a:r>
              <a:rPr lang="zh-CN" altLang="en-US" dirty="0"/>
              <a:t>隐藏返回键，若为</a:t>
            </a:r>
            <a:r>
              <a:rPr lang="en-US" altLang="zh-CN" dirty="0"/>
              <a:t>true</a:t>
            </a:r>
            <a:r>
              <a:rPr lang="zh-CN" altLang="en-US" dirty="0"/>
              <a:t>则隐藏返回键，若为</a:t>
            </a:r>
            <a:r>
              <a:rPr lang="en-US" altLang="zh-CN" dirty="0"/>
              <a:t>false</a:t>
            </a:r>
            <a:r>
              <a:rPr lang="zh-CN" altLang="en-US" dirty="0"/>
              <a:t>则显示返回键。默认值为</a:t>
            </a:r>
            <a:r>
              <a:rPr lang="en-US" altLang="zh-CN" dirty="0"/>
              <a:t>false</a:t>
            </a:r>
            <a:r>
              <a:rPr lang="zh-CN" altLang="en-US" dirty="0"/>
              <a:t>。</a:t>
            </a:r>
            <a:endParaRPr lang="zh-CN" altLang="en-US" dirty="0"/>
          </a:p>
          <a:p>
            <a:r>
              <a:rPr lang="en-US" altLang="zh-CN" dirty="0" err="1"/>
              <a:t>toolBar</a:t>
            </a:r>
            <a:r>
              <a:rPr lang="en-US" altLang="zh-CN" dirty="0"/>
              <a:t>:</a:t>
            </a:r>
            <a:r>
              <a:rPr lang="zh-CN" altLang="en-US" dirty="0"/>
              <a:t>设置工具栏内容。当参数类型为</a:t>
            </a:r>
            <a:r>
              <a:rPr lang="en-US" altLang="zh-CN" dirty="0"/>
              <a:t>object</a:t>
            </a:r>
            <a:r>
              <a:rPr lang="zh-CN" altLang="en-US" dirty="0"/>
              <a:t>时，可以直接设置工具栏选项，但样式不支持修改；当参数为</a:t>
            </a:r>
            <a:r>
              <a:rPr lang="en-US" altLang="zh-CN" dirty="0" err="1"/>
              <a:t>CustomBuilder</a:t>
            </a:r>
            <a:r>
              <a:rPr lang="zh-CN" altLang="en-US" dirty="0"/>
              <a:t>时，可以自定义标题栏。</a:t>
            </a:r>
            <a:endParaRPr lang="zh-CN" altLang="en-US" dirty="0"/>
          </a:p>
          <a:p>
            <a:r>
              <a:rPr lang="en-US" altLang="zh-CN" dirty="0" err="1"/>
              <a:t>hideTitleBar</a:t>
            </a:r>
            <a:r>
              <a:rPr lang="en-US" altLang="zh-CN" dirty="0"/>
              <a:t>:</a:t>
            </a:r>
            <a:r>
              <a:rPr lang="zh-CN" altLang="en-US" dirty="0"/>
              <a:t>隐藏标题栏。</a:t>
            </a:r>
            <a:endParaRPr lang="zh-CN" altLang="en-US" dirty="0"/>
          </a:p>
          <a:p>
            <a:r>
              <a:rPr lang="en-US" altLang="zh-CN" dirty="0" err="1"/>
              <a:t>hideToolBar</a:t>
            </a:r>
            <a:r>
              <a:rPr lang="en-US" altLang="zh-CN" dirty="0"/>
              <a:t>:</a:t>
            </a:r>
            <a:r>
              <a:rPr lang="zh-CN" altLang="en-US" dirty="0"/>
              <a:t>隐藏工具栏。</a:t>
            </a:r>
            <a:endParaRPr lang="zh-CN" altLang="en-US" dirty="0"/>
          </a:p>
          <a:p>
            <a:r>
              <a:rPr lang="en-US" altLang="zh-CN" dirty="0"/>
              <a:t>menus:</a:t>
            </a:r>
            <a:r>
              <a:rPr lang="zh-CN" altLang="en-US" dirty="0"/>
              <a:t>设置标题栏右上角的菜单项，参数类型有</a:t>
            </a:r>
            <a:r>
              <a:rPr lang="en-US" altLang="zh-CN" dirty="0" err="1"/>
              <a:t>NavigationMenultem</a:t>
            </a:r>
            <a:r>
              <a:rPr lang="zh-CN" altLang="en-US" dirty="0"/>
              <a:t>和</a:t>
            </a:r>
            <a:r>
              <a:rPr lang="en-US" altLang="zh-CN" dirty="0" err="1"/>
              <a:t>CustomBuilder</a:t>
            </a:r>
            <a:r>
              <a:rPr lang="en-US" altLang="zh-CN" dirty="0"/>
              <a:t>,</a:t>
            </a:r>
            <a:r>
              <a:rPr lang="zh-CN" altLang="en-US" dirty="0"/>
              <a:t>当参数为</a:t>
            </a:r>
            <a:r>
              <a:rPr lang="en-US" altLang="zh-CN" dirty="0" err="1"/>
              <a:t>CustomBuilder</a:t>
            </a:r>
            <a:r>
              <a:rPr lang="zh-CN" altLang="en-US" dirty="0"/>
              <a:t>时可以自定义菜单项。</a:t>
            </a:r>
            <a:endParaRPr lang="zh-CN" altLang="en-US" dirty="0"/>
          </a:p>
        </p:txBody>
      </p:sp>
      <p:sp>
        <p:nvSpPr>
          <p:cNvPr id="6" name="文本框 5"/>
          <p:cNvSpPr txBox="1"/>
          <p:nvPr/>
        </p:nvSpPr>
        <p:spPr>
          <a:xfrm>
            <a:off x="766614" y="4896129"/>
            <a:ext cx="9721080" cy="1200329"/>
          </a:xfrm>
          <a:prstGeom prst="rect">
            <a:avLst/>
          </a:prstGeom>
          <a:noFill/>
        </p:spPr>
        <p:txBody>
          <a:bodyPr wrap="square">
            <a:spAutoFit/>
          </a:bodyPr>
          <a:lstStyle/>
          <a:p>
            <a:r>
              <a:rPr lang="en-US" altLang="zh-CN" dirty="0"/>
              <a:t>3 Navigation</a:t>
            </a:r>
            <a:r>
              <a:rPr lang="zh-CN" altLang="en-US" dirty="0"/>
              <a:t>事件介绍</a:t>
            </a:r>
            <a:endParaRPr lang="zh-CN" altLang="en-US" dirty="0"/>
          </a:p>
          <a:p>
            <a:pPr lvl="1"/>
            <a:r>
              <a:rPr lang="en-US" altLang="zh-CN" dirty="0" err="1"/>
              <a:t>onTitleModeChange</a:t>
            </a:r>
            <a:r>
              <a:rPr lang="en-US" altLang="zh-CN" dirty="0"/>
              <a:t>:</a:t>
            </a:r>
            <a:r>
              <a:rPr lang="zh-CN" altLang="en-US" dirty="0"/>
              <a:t>当</a:t>
            </a:r>
            <a:r>
              <a:rPr lang="en-US" altLang="zh-CN" dirty="0" err="1"/>
              <a:t>titleMode</a:t>
            </a:r>
            <a:r>
              <a:rPr lang="zh-CN" altLang="en-US" dirty="0"/>
              <a:t>为</a:t>
            </a:r>
            <a:r>
              <a:rPr lang="en-US" altLang="zh-CN" dirty="0"/>
              <a:t>Navigation </a:t>
            </a:r>
            <a:r>
              <a:rPr lang="en-US" altLang="zh-CN" dirty="0" err="1"/>
              <a:t>TitleMode.Free</a:t>
            </a:r>
            <a:r>
              <a:rPr lang="zh-CN" altLang="en-US" dirty="0"/>
              <a:t>时，随着可滚动组件的滑动标题栏模式发生变化时触发此回调。</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1198662" y="261442"/>
            <a:ext cx="49450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Navigation</a:t>
            </a:r>
            <a:r>
              <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rPr>
              <a:t>页面导航</a:t>
            </a:r>
            <a:endParaRPr lang="zh-CN" altLang="en-US" b="1" dirty="0">
              <a:solidFill>
                <a:srgbClr val="595959"/>
              </a:solidFill>
              <a:latin typeface="微软雅黑" panose="020B0503020204020204" pitchFamily="34" charset="-122"/>
              <a:ea typeface="微软雅黑" panose="020B0503020204020204" pitchFamily="34" charset="-122"/>
              <a:sym typeface="宋体" panose="02010600030101010101" pitchFamily="2" charset="-122"/>
            </a:endParaRPr>
          </a:p>
        </p:txBody>
      </p:sp>
      <p:pic>
        <p:nvPicPr>
          <p:cNvPr id="5" name="图片 4"/>
          <p:cNvPicPr>
            <a:picLocks noChangeAspect="1"/>
          </p:cNvPicPr>
          <p:nvPr/>
        </p:nvPicPr>
        <p:blipFill>
          <a:blip r:embed="rId1"/>
          <a:stretch>
            <a:fillRect/>
          </a:stretch>
        </p:blipFill>
        <p:spPr>
          <a:xfrm>
            <a:off x="1126654" y="909514"/>
            <a:ext cx="6805997" cy="4240713"/>
          </a:xfrm>
          <a:prstGeom prst="rect">
            <a:avLst/>
          </a:prstGeom>
        </p:spPr>
      </p:pic>
      <p:pic>
        <p:nvPicPr>
          <p:cNvPr id="7" name="图片 6"/>
          <p:cNvPicPr>
            <a:picLocks noChangeAspect="1"/>
          </p:cNvPicPr>
          <p:nvPr/>
        </p:nvPicPr>
        <p:blipFill>
          <a:blip r:embed="rId2"/>
          <a:stretch>
            <a:fillRect/>
          </a:stretch>
        </p:blipFill>
        <p:spPr>
          <a:xfrm>
            <a:off x="1126654" y="5151582"/>
            <a:ext cx="6805997" cy="798492"/>
          </a:xfrm>
          <a:prstGeom prst="rect">
            <a:avLst/>
          </a:prstGeom>
        </p:spPr>
      </p:pic>
      <p:pic>
        <p:nvPicPr>
          <p:cNvPr id="9" name="图片 8"/>
          <p:cNvPicPr>
            <a:picLocks noChangeAspect="1"/>
          </p:cNvPicPr>
          <p:nvPr/>
        </p:nvPicPr>
        <p:blipFill>
          <a:blip r:embed="rId3"/>
          <a:stretch>
            <a:fillRect/>
          </a:stretch>
        </p:blipFill>
        <p:spPr>
          <a:xfrm>
            <a:off x="8039422" y="934556"/>
            <a:ext cx="3885714" cy="499047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ISPRING_RESOURCE_PATHS_HASH_PRESENTER" val="3f15e6573a385e41c33bb97e7105a62faa5c484"/>
  <p:tag name="COMMONDATA" val="eyJoZGlkIjoiNGEzOWY5OWI3NjllYmMyNjdkZDQ2MDY2OWUyMDdmMzYifQ=="/>
  <p:tag name="RESOURCE_RECORD_KEY" val="{&quot;13&quot;:[19951231,472204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16956</Words>
  <Application>WPS 演示</Application>
  <PresentationFormat>自定义</PresentationFormat>
  <Paragraphs>667</Paragraphs>
  <Slides>81</Slides>
  <Notes>71</Notes>
  <HiddenSlides>0</HiddenSlides>
  <MMClips>0</MMClips>
  <ScaleCrop>false</ScaleCrop>
  <HeadingPairs>
    <vt:vector size="6" baseType="variant">
      <vt:variant>
        <vt:lpstr>已用的字体</vt:lpstr>
      </vt:variant>
      <vt:variant>
        <vt:i4>30</vt:i4>
      </vt:variant>
      <vt:variant>
        <vt:lpstr>主题</vt:lpstr>
      </vt:variant>
      <vt:variant>
        <vt:i4>2</vt:i4>
      </vt:variant>
      <vt:variant>
        <vt:lpstr>幻灯片标题</vt:lpstr>
      </vt:variant>
      <vt:variant>
        <vt:i4>81</vt:i4>
      </vt:variant>
    </vt:vector>
  </HeadingPairs>
  <TitlesOfParts>
    <vt:vector size="113" baseType="lpstr">
      <vt:lpstr>Arial</vt:lpstr>
      <vt:lpstr>宋体</vt:lpstr>
      <vt:lpstr>Wingdings</vt:lpstr>
      <vt:lpstr>微软雅黑</vt:lpstr>
      <vt:lpstr>思源黑体 CN Medium</vt:lpstr>
      <vt:lpstr>黑体</vt:lpstr>
      <vt:lpstr>Times New Roman</vt:lpstr>
      <vt:lpstr>Arial Unicode MS</vt:lpstr>
      <vt:lpstr>JetBrains Mono</vt:lpstr>
      <vt:lpstr>PingFang SC</vt:lpstr>
      <vt:lpstr>Courier New</vt:lpstr>
      <vt:lpstr>字魂105号-简雅黑</vt:lpstr>
      <vt:lpstr>Calibri</vt:lpstr>
      <vt:lpstr>FZSSK--GBK1-0</vt:lpstr>
      <vt:lpstr>方正书宋_GBK</vt:lpstr>
      <vt:lpstr>EU-B3</vt:lpstr>
      <vt:lpstr>HarmonyOSHans-Regular</vt:lpstr>
      <vt:lpstr>EU-B3</vt:lpstr>
      <vt:lpstr>FZSSK--GBK1-0</vt:lpstr>
      <vt:lpstr>HarmonyOSHans-Regular</vt:lpstr>
      <vt:lpstr>JetBrains Mono</vt:lpstr>
      <vt:lpstr>PingFang SC</vt:lpstr>
      <vt:lpstr>Wingdings</vt:lpstr>
      <vt:lpstr>思源黑体 CN Medium</vt:lpstr>
      <vt:lpstr>KSOF28334203</vt:lpstr>
      <vt:lpstr>方正宝黑体 简 Medium</vt:lpstr>
      <vt:lpstr>Jetter</vt:lpstr>
      <vt:lpstr>字小魂简雅黑</vt:lpstr>
      <vt:lpstr>方正悦驾黑 GBK L</vt:lpstr>
      <vt:lpstr>华康瘦金体W3</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oldman</cp:lastModifiedBy>
  <cp:revision>1296</cp:revision>
  <dcterms:created xsi:type="dcterms:W3CDTF">2020-11-11T09:29:00Z</dcterms:created>
  <dcterms:modified xsi:type="dcterms:W3CDTF">2026-04-28T02:46:57Z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FAE737CA4AD043D68B80620E2A9F8656_13</vt:lpwstr>
  </property>
</Properties>
</file>