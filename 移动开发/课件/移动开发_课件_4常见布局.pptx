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7" r:id="rId2"/>
  </p:sldMasterIdLst>
  <p:notesMasterIdLst>
    <p:notesMasterId r:id="rId34"/>
  </p:notesMasterIdLst>
  <p:handoutMasterIdLst>
    <p:handoutMasterId r:id="rId35"/>
  </p:handoutMasterIdLst>
  <p:sldIdLst>
    <p:sldId id="557" r:id="rId3"/>
    <p:sldId id="561" r:id="rId4"/>
    <p:sldId id="562" r:id="rId5"/>
    <p:sldId id="564" r:id="rId6"/>
    <p:sldId id="572" r:id="rId7"/>
    <p:sldId id="563" r:id="rId8"/>
    <p:sldId id="573" r:id="rId9"/>
    <p:sldId id="565" r:id="rId10"/>
    <p:sldId id="574" r:id="rId11"/>
    <p:sldId id="575" r:id="rId12"/>
    <p:sldId id="576" r:id="rId13"/>
    <p:sldId id="567" r:id="rId14"/>
    <p:sldId id="566" r:id="rId15"/>
    <p:sldId id="568" r:id="rId16"/>
    <p:sldId id="570" r:id="rId17"/>
    <p:sldId id="569" r:id="rId18"/>
    <p:sldId id="571" r:id="rId19"/>
    <p:sldId id="577" r:id="rId20"/>
    <p:sldId id="578" r:id="rId21"/>
    <p:sldId id="580" r:id="rId22"/>
    <p:sldId id="579" r:id="rId23"/>
    <p:sldId id="581" r:id="rId24"/>
    <p:sldId id="582" r:id="rId25"/>
    <p:sldId id="583" r:id="rId26"/>
    <p:sldId id="584" r:id="rId27"/>
    <p:sldId id="585" r:id="rId28"/>
    <p:sldId id="587" r:id="rId29"/>
    <p:sldId id="586" r:id="rId30"/>
    <p:sldId id="588" r:id="rId31"/>
    <p:sldId id="590" r:id="rId32"/>
    <p:sldId id="591" r:id="rId33"/>
  </p:sldIdLst>
  <p:sldSz cx="12190413" cy="6859588"/>
  <p:notesSz cx="6858000" cy="9144000"/>
  <p:custDataLst>
    <p:tags r:id="rId36"/>
  </p:custDataLst>
  <p:defaultTex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92">
          <p15:clr>
            <a:srgbClr val="A4A3A4"/>
          </p15:clr>
        </p15:guide>
        <p15:guide id="2" pos="256">
          <p15:clr>
            <a:srgbClr val="A4A3A4"/>
          </p15:clr>
        </p15:guide>
        <p15:guide id="3" pos="6658">
          <p15:clr>
            <a:srgbClr val="A4A3A4"/>
          </p15:clr>
        </p15:guide>
      </p15:sldGuideLst>
    </p:ext>
    <p:ext uri="{2D200454-40CA-4A62-9FC3-DE9A4176ACB9}">
      <p15:notesGuideLst xmlns:p15="http://schemas.microsoft.com/office/powerpoint/2012/main">
        <p15:guide id="1" orient="horz" pos="2922">
          <p15:clr>
            <a:srgbClr val="A4A3A4"/>
          </p15:clr>
        </p15:guide>
        <p15:guide id="2" pos="2262">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DF6"/>
    <a:srgbClr val="006BBC"/>
    <a:srgbClr val="0075CC"/>
    <a:srgbClr val="005DA2"/>
    <a:srgbClr val="1369B2"/>
    <a:srgbClr val="595959"/>
    <a:srgbClr val="FAFAFA"/>
    <a:srgbClr val="F2F2F2"/>
    <a:srgbClr val="F5F5F5"/>
    <a:srgbClr val="3992D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69CF1AB2-1976-4502-BF36-3FF5EA218861}" styleName="中度样式 4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130" autoAdjust="0"/>
    <p:restoredTop sz="70796" autoAdjust="0"/>
  </p:normalViewPr>
  <p:slideViewPr>
    <p:cSldViewPr showGuides="1">
      <p:cViewPr varScale="1">
        <p:scale>
          <a:sx n="60" d="100"/>
          <a:sy n="60" d="100"/>
        </p:scale>
        <p:origin x="1498" y="48"/>
      </p:cViewPr>
      <p:guideLst>
        <p:guide orient="horz" pos="2192"/>
        <p:guide pos="256"/>
        <p:guide pos="6658"/>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86" d="100"/>
          <a:sy n="86" d="100"/>
        </p:scale>
        <p:origin x="-3810" y="-90"/>
      </p:cViewPr>
      <p:guideLst>
        <p:guide orient="horz" pos="2922"/>
        <p:guide pos="2262"/>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heme" Target="theme/theme1.xml"/><Relationship Id="rId21" Type="http://schemas.openxmlformats.org/officeDocument/2006/relationships/slide" Target="slides/slide19.xml"/><Relationship Id="rId34"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ags" Target="tags/tag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handoutMaster" Target="handoutMasters/handoutMaster1.xml"/><Relationship Id="rId8" Type="http://schemas.openxmlformats.org/officeDocument/2006/relationships/slide" Target="slides/slide6.xml"/><Relationship Id="rId3"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353A075-29DF-4CAE-8BA7-CDA0ED456C88}" type="datetimeFigureOut">
              <a:rPr lang="zh-CN" altLang="en-US" smtClean="0"/>
              <a:t>2025/3/26</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E3924EE-29F1-4E68-A53A-86CBCBDF827A}" type="slidenum">
              <a:rPr lang="zh-CN" altLang="en-US" smtClean="0"/>
              <a:t>‹#›</a:t>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A2B73EA-EE91-4E33-A9C1-8BF5DD7139A2}" type="datetimeFigureOut">
              <a:rPr lang="zh-CN" altLang="en-US" smtClean="0"/>
              <a:t>2025/3/26</a:t>
            </a:fld>
            <a:endParaRPr lang="zh-CN" altLang="en-US"/>
          </a:p>
        </p:txBody>
      </p:sp>
      <p:sp>
        <p:nvSpPr>
          <p:cNvPr id="4" name="幻灯片图像占位符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392B679-AE23-4750-8FB0-6513430B8953}"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1219200" rtl="0" eaLnBrk="1" latinLnBrk="0" hangingPunct="1">
      <a:defRPr sz="1600" kern="1200">
        <a:solidFill>
          <a:schemeClr val="tx1"/>
        </a:solidFill>
        <a:latin typeface="+mn-lt"/>
        <a:ea typeface="+mn-ea"/>
        <a:cs typeface="+mn-cs"/>
      </a:defRPr>
    </a:lvl1pPr>
    <a:lvl2pPr marL="609600" algn="l" defTabSz="1219200" rtl="0" eaLnBrk="1" latinLnBrk="0" hangingPunct="1">
      <a:defRPr sz="1600" kern="1200">
        <a:solidFill>
          <a:schemeClr val="tx1"/>
        </a:solidFill>
        <a:latin typeface="+mn-lt"/>
        <a:ea typeface="+mn-ea"/>
        <a:cs typeface="+mn-cs"/>
      </a:defRPr>
    </a:lvl2pPr>
    <a:lvl3pPr marL="1219200" algn="l" defTabSz="1219200" rtl="0" eaLnBrk="1" latinLnBrk="0" hangingPunct="1">
      <a:defRPr sz="1600" kern="1200">
        <a:solidFill>
          <a:schemeClr val="tx1"/>
        </a:solidFill>
        <a:latin typeface="+mn-lt"/>
        <a:ea typeface="+mn-ea"/>
        <a:cs typeface="+mn-cs"/>
      </a:defRPr>
    </a:lvl3pPr>
    <a:lvl4pPr marL="1828800" algn="l" defTabSz="1219200" rtl="0" eaLnBrk="1" latinLnBrk="0" hangingPunct="1">
      <a:defRPr sz="1600" kern="1200">
        <a:solidFill>
          <a:schemeClr val="tx1"/>
        </a:solidFill>
        <a:latin typeface="+mn-lt"/>
        <a:ea typeface="+mn-ea"/>
        <a:cs typeface="+mn-cs"/>
      </a:defRPr>
    </a:lvl4pPr>
    <a:lvl5pPr marL="2438400" algn="l" defTabSz="1219200" rtl="0" eaLnBrk="1" latinLnBrk="0" hangingPunct="1">
      <a:defRPr sz="1600" kern="1200">
        <a:solidFill>
          <a:schemeClr val="tx1"/>
        </a:solidFill>
        <a:latin typeface="+mn-lt"/>
        <a:ea typeface="+mn-ea"/>
        <a:cs typeface="+mn-cs"/>
      </a:defRPr>
    </a:lvl5pPr>
    <a:lvl6pPr marL="3048000" algn="l" defTabSz="1219200" rtl="0" eaLnBrk="1" latinLnBrk="0" hangingPunct="1">
      <a:defRPr sz="1600" kern="1200">
        <a:solidFill>
          <a:schemeClr val="tx1"/>
        </a:solidFill>
        <a:latin typeface="+mn-lt"/>
        <a:ea typeface="+mn-ea"/>
        <a:cs typeface="+mn-cs"/>
      </a:defRPr>
    </a:lvl6pPr>
    <a:lvl7pPr marL="3657600" algn="l" defTabSz="1219200" rtl="0" eaLnBrk="1" latinLnBrk="0" hangingPunct="1">
      <a:defRPr sz="1600" kern="1200">
        <a:solidFill>
          <a:schemeClr val="tx1"/>
        </a:solidFill>
        <a:latin typeface="+mn-lt"/>
        <a:ea typeface="+mn-ea"/>
        <a:cs typeface="+mn-cs"/>
      </a:defRPr>
    </a:lvl7pPr>
    <a:lvl8pPr marL="4267200" algn="l" defTabSz="1219200" rtl="0" eaLnBrk="1" latinLnBrk="0" hangingPunct="1">
      <a:defRPr sz="1600" kern="1200">
        <a:solidFill>
          <a:schemeClr val="tx1"/>
        </a:solidFill>
        <a:latin typeface="+mn-lt"/>
        <a:ea typeface="+mn-ea"/>
        <a:cs typeface="+mn-cs"/>
      </a:defRPr>
    </a:lvl8pPr>
    <a:lvl9pPr marL="4876800" algn="l" defTabSz="121920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提供可循的规律</a:t>
            </a:r>
            <a:r>
              <a:rPr lang="en-US" altLang="zh-CN" dirty="0"/>
              <a:t>:</a:t>
            </a:r>
            <a:r>
              <a:rPr lang="zh-CN" altLang="en-US" dirty="0"/>
              <a:t>栅格布局可以为布局提供规律性的结构，解决多尺寸多设备的动态布局问题。通过将页面划分为等宽的列数和行数，可以方便地对页面元素进行定位和排版。</a:t>
            </a:r>
            <a:endParaRPr lang="en-US" altLang="zh-CN" dirty="0"/>
          </a:p>
          <a:p>
            <a:r>
              <a:rPr lang="zh-CN" altLang="en-US" dirty="0"/>
              <a:t>统一的定位标注</a:t>
            </a:r>
            <a:r>
              <a:rPr lang="en-US" altLang="zh-CN" dirty="0"/>
              <a:t>:</a:t>
            </a:r>
            <a:r>
              <a:rPr lang="zh-CN" altLang="en-US" dirty="0"/>
              <a:t>栅格布局可以为系统提供一种统一的定位标注，保证不同设备上各个模块的布局一致性。这可以降低设计和开发的复杂度，提高工作效率。</a:t>
            </a:r>
            <a:endParaRPr lang="en-US" altLang="zh-CN" dirty="0"/>
          </a:p>
          <a:p>
            <a:r>
              <a:rPr lang="zh-CN" altLang="en-US" dirty="0"/>
              <a:t>灵活的间距调整方法</a:t>
            </a:r>
            <a:r>
              <a:rPr lang="en-US" altLang="zh-CN" dirty="0"/>
              <a:t>:</a:t>
            </a:r>
            <a:r>
              <a:rPr lang="zh-CN" altLang="en-US" dirty="0"/>
              <a:t>栅格布局可以提供一种灵活的间距调整方法，满足特殊场景布局调整的需求。通过调整列与列之间和行与行之间的间距，可以控制整个页面的排版效果。</a:t>
            </a:r>
            <a:endParaRPr lang="en-US" altLang="zh-CN" dirty="0"/>
          </a:p>
          <a:p>
            <a:r>
              <a:rPr lang="zh-CN" altLang="en-US" dirty="0"/>
              <a:t>自动换行和自适应</a:t>
            </a:r>
            <a:r>
              <a:rPr lang="en-US" altLang="zh-CN" dirty="0"/>
              <a:t>:</a:t>
            </a:r>
            <a:r>
              <a:rPr lang="zh-CN" altLang="en-US" dirty="0"/>
              <a:t>栅格布局可以完成一对多布局的自动换行和自适应。当页面元素的数量超出了一行或一列的容量时，会自动换到下一行或下一列，并且在不同的设备上自适应排版，使得页面布局更加灵活且适应性强。</a:t>
            </a:r>
          </a:p>
        </p:txBody>
      </p:sp>
      <p:sp>
        <p:nvSpPr>
          <p:cNvPr id="4" name="灯片编号占位符 3"/>
          <p:cNvSpPr>
            <a:spLocks noGrp="1"/>
          </p:cNvSpPr>
          <p:nvPr>
            <p:ph type="sldNum" sz="quarter" idx="5"/>
          </p:nvPr>
        </p:nvSpPr>
        <p:spPr/>
        <p:txBody>
          <a:bodyPr/>
          <a:lstStyle/>
          <a:p>
            <a:fld id="{7392B679-AE23-4750-8FB0-6513430B8953}" type="slidenum">
              <a:rPr lang="zh-CN" altLang="en-US" smtClean="0"/>
              <a:t>27</a:t>
            </a:fld>
            <a:endParaRPr lang="zh-CN" altLang="en-US"/>
          </a:p>
        </p:txBody>
      </p:sp>
    </p:spTree>
    <p:extLst>
      <p:ext uri="{BB962C8B-B14F-4D97-AF65-F5344CB8AC3E}">
        <p14:creationId xmlns:p14="http://schemas.microsoft.com/office/powerpoint/2010/main" val="18664478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① gutter:</a:t>
            </a:r>
            <a:r>
              <a:rPr lang="zh-CN" altLang="en-US" dirty="0"/>
              <a:t>设置子元素之间的间距，决定内容间的紧密程度。</a:t>
            </a:r>
            <a:endParaRPr lang="en-US" altLang="zh-CN" dirty="0"/>
          </a:p>
          <a:p>
            <a:r>
              <a:rPr lang="zh-CN" altLang="en-US" dirty="0"/>
              <a:t>②</a:t>
            </a:r>
            <a:r>
              <a:rPr lang="en-US" altLang="zh-CN" dirty="0"/>
              <a:t>columns:</a:t>
            </a:r>
            <a:r>
              <a:rPr lang="zh-CN" altLang="en-US" dirty="0"/>
              <a:t>栅格布局的主要定位工具，设置栅格布局的总列数，默认为 </a:t>
            </a:r>
            <a:r>
              <a:rPr lang="en-US" altLang="zh-CN" dirty="0"/>
              <a:t>12</a:t>
            </a:r>
            <a:r>
              <a:rPr lang="zh-CN" altLang="en-US" dirty="0"/>
              <a:t>。</a:t>
            </a:r>
            <a:endParaRPr lang="en-US" altLang="zh-CN" dirty="0"/>
          </a:p>
          <a:p>
            <a:r>
              <a:rPr lang="zh-CN" altLang="en-US" dirty="0"/>
              <a:t>③</a:t>
            </a:r>
            <a:r>
              <a:rPr lang="en-US" altLang="zh-CN" dirty="0"/>
              <a:t>Breakpoints:</a:t>
            </a:r>
            <a:r>
              <a:rPr lang="zh-CN" altLang="en-US" dirty="0"/>
              <a:t>以设备宽度为基准，将应用宽度分成了几个不同的区间，即不同的断点。开发者可根据需要在不同的区间下实现不同的页面布局效果。</a:t>
            </a:r>
            <a:r>
              <a:rPr lang="en-US" altLang="zh-CN" dirty="0"/>
              <a:t>Breakpoints</a:t>
            </a:r>
            <a:r>
              <a:rPr lang="zh-CN" altLang="en-US" dirty="0"/>
              <a:t>对象有</a:t>
            </a:r>
            <a:r>
              <a:rPr lang="en-US" altLang="zh-CN" dirty="0"/>
              <a:t>2</a:t>
            </a:r>
            <a:r>
              <a:rPr lang="zh-CN" altLang="en-US" dirty="0"/>
              <a:t>个参数，即 </a:t>
            </a:r>
            <a:r>
              <a:rPr lang="en-US" altLang="zh-CN" dirty="0"/>
              <a:t>Value </a:t>
            </a:r>
            <a:r>
              <a:rPr lang="zh-CN" altLang="en-US" dirty="0"/>
              <a:t>和 </a:t>
            </a:r>
            <a:r>
              <a:rPr lang="en-US" altLang="zh-CN" dirty="0"/>
              <a:t>Reference</a:t>
            </a:r>
            <a:r>
              <a:rPr lang="zh-CN" altLang="en-US" dirty="0"/>
              <a:t>。</a:t>
            </a:r>
            <a:r>
              <a:rPr lang="en-US" altLang="zh-CN" dirty="0"/>
              <a:t>Value </a:t>
            </a:r>
            <a:r>
              <a:rPr lang="zh-CN" altLang="en-US" dirty="0"/>
              <a:t>是设置断点位置的单调递增数组。默认值</a:t>
            </a:r>
            <a:r>
              <a:rPr lang="en-US" altLang="zh-CN" dirty="0"/>
              <a:t>:[“320 </a:t>
            </a:r>
            <a:r>
              <a:rPr lang="en-US" altLang="zh-CN" dirty="0" err="1"/>
              <a:t>vp</a:t>
            </a:r>
            <a:r>
              <a:rPr lang="en-US" altLang="zh-CN" dirty="0"/>
              <a:t>”</a:t>
            </a:r>
            <a:r>
              <a:rPr lang="zh-CN" altLang="en-US" dirty="0"/>
              <a:t>，“</a:t>
            </a:r>
            <a:r>
              <a:rPr lang="en-US" altLang="zh-CN" dirty="0"/>
              <a:t>520vp</a:t>
            </a:r>
            <a:r>
              <a:rPr lang="zh-CN" altLang="en-US" dirty="0"/>
              <a:t>“</a:t>
            </a:r>
            <a:r>
              <a:rPr lang="en-US" altLang="zh-CN" dirty="0"/>
              <a:t>, </a:t>
            </a:r>
            <a:r>
              <a:rPr lang="zh-CN" altLang="en-US" dirty="0"/>
              <a:t>”</a:t>
            </a:r>
            <a:r>
              <a:rPr lang="en-US" altLang="zh-CN" dirty="0"/>
              <a:t>840 </a:t>
            </a:r>
            <a:r>
              <a:rPr lang="en-US" altLang="zh-CN" dirty="0" err="1"/>
              <a:t>vp</a:t>
            </a:r>
            <a:r>
              <a:rPr lang="en-US" altLang="zh-CN" dirty="0"/>
              <a:t>”]</a:t>
            </a:r>
            <a:r>
              <a:rPr lang="zh-CN" altLang="en-US" dirty="0"/>
              <a:t>。</a:t>
            </a:r>
            <a:r>
              <a:rPr lang="en-US" altLang="zh-CN" dirty="0"/>
              <a:t>Reference </a:t>
            </a:r>
            <a:r>
              <a:rPr lang="zh-CN" altLang="en-US" dirty="0"/>
              <a:t>是断点切换参照物。</a:t>
            </a:r>
            <a:r>
              <a:rPr lang="en-US" altLang="zh-CN" dirty="0" err="1"/>
              <a:t>BreakpointsReference.WindowSize</a:t>
            </a:r>
            <a:r>
              <a:rPr lang="en-US" altLang="zh-CN" dirty="0"/>
              <a:t> </a:t>
            </a:r>
            <a:r>
              <a:rPr lang="zh-CN" altLang="en-US" dirty="0"/>
              <a:t>以窗口为参照，</a:t>
            </a:r>
            <a:r>
              <a:rPr lang="en-US" altLang="zh-CN" dirty="0" err="1"/>
              <a:t>BreakpointsReference.ComponentSize</a:t>
            </a:r>
            <a:r>
              <a:rPr lang="en-US" altLang="zh-CN" dirty="0"/>
              <a:t> </a:t>
            </a:r>
            <a:r>
              <a:rPr lang="zh-CN" altLang="en-US" dirty="0"/>
              <a:t>以容器为参照。</a:t>
            </a:r>
            <a:endParaRPr lang="en-US" altLang="zh-CN" dirty="0"/>
          </a:p>
          <a:p>
            <a:r>
              <a:rPr lang="zh-CN" altLang="en-US" dirty="0"/>
              <a:t>④</a:t>
            </a:r>
            <a:r>
              <a:rPr lang="en-US" altLang="zh-CN" dirty="0"/>
              <a:t>direction:</a:t>
            </a:r>
            <a:r>
              <a:rPr lang="zh-CN" altLang="en-US" dirty="0"/>
              <a:t>设置栅格子组件在栅格容器中的排列方向。</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7392B679-AE23-4750-8FB0-6513430B8953}" type="slidenum">
              <a:rPr lang="zh-CN" altLang="en-US" smtClean="0"/>
              <a:t>28</a:t>
            </a:fld>
            <a:endParaRPr lang="zh-CN" altLang="en-US"/>
          </a:p>
        </p:txBody>
      </p:sp>
    </p:spTree>
    <p:extLst>
      <p:ext uri="{BB962C8B-B14F-4D97-AF65-F5344CB8AC3E}">
        <p14:creationId xmlns:p14="http://schemas.microsoft.com/office/powerpoint/2010/main" val="17032623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断点以设备宽度为基准，将应用宽度分成了几个不同的区间，即不同的断点。</a:t>
            </a:r>
            <a:endParaRPr lang="en-US" altLang="zh-CN" dirty="0"/>
          </a:p>
          <a:p>
            <a:r>
              <a:rPr lang="zh-CN" altLang="en-US" dirty="0"/>
              <a:t>开发者根据需求在不同的区间实现不同的页面布局效果。</a:t>
            </a:r>
            <a:endParaRPr lang="en-US" altLang="zh-CN" dirty="0"/>
          </a:p>
          <a:p>
            <a:r>
              <a:rPr lang="zh-CN" altLang="en-US" dirty="0"/>
              <a:t>栅格系统默认断点将设备宽度分为</a:t>
            </a:r>
            <a:r>
              <a:rPr lang="en-US" altLang="zh-CN" dirty="0" err="1"/>
              <a:t>xs</a:t>
            </a:r>
            <a:r>
              <a:rPr lang="zh-CN" altLang="en-US" dirty="0"/>
              <a:t>、</a:t>
            </a:r>
            <a:r>
              <a:rPr lang="en-US" altLang="zh-CN" dirty="0" err="1"/>
              <a:t>sm</a:t>
            </a:r>
            <a:r>
              <a:rPr lang="zh-CN" altLang="en-US" dirty="0"/>
              <a:t>、</a:t>
            </a:r>
            <a:r>
              <a:rPr lang="en-US" altLang="zh-CN" dirty="0"/>
              <a:t>md</a:t>
            </a:r>
            <a:r>
              <a:rPr lang="zh-CN" altLang="en-US" dirty="0"/>
              <a:t>、</a:t>
            </a:r>
            <a:r>
              <a:rPr lang="en-US" altLang="zh-CN" dirty="0"/>
              <a:t>lg </a:t>
            </a:r>
            <a:r>
              <a:rPr lang="zh-CN" altLang="en-US" dirty="0"/>
              <a:t>四类。</a:t>
            </a:r>
            <a:endParaRPr lang="en-US" altLang="zh-CN" dirty="0"/>
          </a:p>
          <a:p>
            <a:r>
              <a:rPr lang="zh-CN" altLang="en-US" dirty="0"/>
              <a:t>在 </a:t>
            </a:r>
            <a:r>
              <a:rPr lang="en-US" altLang="zh-CN" dirty="0" err="1"/>
              <a:t>GridRow</a:t>
            </a:r>
            <a:r>
              <a:rPr lang="zh-CN" altLang="en-US" dirty="0"/>
              <a:t>新栅格组件中，允许开发者使用 </a:t>
            </a:r>
            <a:r>
              <a:rPr lang="en-US" altLang="zh-CN" dirty="0"/>
              <a:t>Breakpoints </a:t>
            </a:r>
            <a:r>
              <a:rPr lang="zh-CN" altLang="en-US" dirty="0"/>
              <a:t>自定义修改断点的取值范围，最多支持</a:t>
            </a:r>
            <a:r>
              <a:rPr lang="en-US" altLang="zh-CN" dirty="0"/>
              <a:t>6</a:t>
            </a:r>
            <a:r>
              <a:rPr lang="zh-CN" altLang="en-US" dirty="0"/>
              <a:t>个断点，除了默认的四个断点外，还可以启用</a:t>
            </a:r>
            <a:r>
              <a:rPr lang="en-US" altLang="zh-CN" dirty="0"/>
              <a:t>x1</a:t>
            </a:r>
            <a:r>
              <a:rPr lang="zh-CN" altLang="en-US" dirty="0"/>
              <a:t>、</a:t>
            </a:r>
            <a:r>
              <a:rPr lang="en-US" altLang="zh-CN" dirty="0"/>
              <a:t>xx1</a:t>
            </a:r>
            <a:r>
              <a:rPr lang="zh-CN" altLang="en-US" dirty="0"/>
              <a:t>两个断点支持六种不同尺寸</a:t>
            </a:r>
            <a:r>
              <a:rPr lang="en-US" altLang="zh-CN" dirty="0"/>
              <a:t>(xs,sm,md,1g,xl,xxl)</a:t>
            </a:r>
            <a:r>
              <a:rPr lang="zh-CN" altLang="en-US" dirty="0"/>
              <a:t>设备的布局设置。尺寸范围如表所示。</a:t>
            </a:r>
          </a:p>
        </p:txBody>
      </p:sp>
      <p:sp>
        <p:nvSpPr>
          <p:cNvPr id="4" name="灯片编号占位符 3"/>
          <p:cNvSpPr>
            <a:spLocks noGrp="1"/>
          </p:cNvSpPr>
          <p:nvPr>
            <p:ph type="sldNum" sz="quarter" idx="5"/>
          </p:nvPr>
        </p:nvSpPr>
        <p:spPr/>
        <p:txBody>
          <a:bodyPr/>
          <a:lstStyle/>
          <a:p>
            <a:fld id="{7392B679-AE23-4750-8FB0-6513430B8953}" type="slidenum">
              <a:rPr lang="zh-CN" altLang="en-US" smtClean="0"/>
              <a:t>29</a:t>
            </a:fld>
            <a:endParaRPr lang="zh-CN" altLang="en-US"/>
          </a:p>
        </p:txBody>
      </p:sp>
    </p:spTree>
    <p:extLst>
      <p:ext uri="{BB962C8B-B14F-4D97-AF65-F5344CB8AC3E}">
        <p14:creationId xmlns:p14="http://schemas.microsoft.com/office/powerpoint/2010/main" val="11433525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断点以设备宽度为基准，将应用宽度分成了几个不同的区间，即不同的断点。</a:t>
            </a:r>
            <a:endParaRPr lang="en-US" altLang="zh-CN" dirty="0"/>
          </a:p>
          <a:p>
            <a:r>
              <a:rPr lang="zh-CN" altLang="en-US" dirty="0"/>
              <a:t>开发者根据需求在不同的区间实现不同的页面布局效果。</a:t>
            </a:r>
            <a:endParaRPr lang="en-US" altLang="zh-CN" dirty="0"/>
          </a:p>
          <a:p>
            <a:r>
              <a:rPr lang="zh-CN" altLang="en-US" dirty="0"/>
              <a:t>栅格系统默认断点将设备宽度分为</a:t>
            </a:r>
            <a:r>
              <a:rPr lang="en-US" altLang="zh-CN" dirty="0" err="1"/>
              <a:t>xs</a:t>
            </a:r>
            <a:r>
              <a:rPr lang="zh-CN" altLang="en-US" dirty="0"/>
              <a:t>、</a:t>
            </a:r>
            <a:r>
              <a:rPr lang="en-US" altLang="zh-CN" dirty="0" err="1"/>
              <a:t>sm</a:t>
            </a:r>
            <a:r>
              <a:rPr lang="zh-CN" altLang="en-US" dirty="0"/>
              <a:t>、</a:t>
            </a:r>
            <a:r>
              <a:rPr lang="en-US" altLang="zh-CN" dirty="0"/>
              <a:t>md</a:t>
            </a:r>
            <a:r>
              <a:rPr lang="zh-CN" altLang="en-US" dirty="0"/>
              <a:t>、</a:t>
            </a:r>
            <a:r>
              <a:rPr lang="en-US" altLang="zh-CN" dirty="0"/>
              <a:t>lg </a:t>
            </a:r>
            <a:r>
              <a:rPr lang="zh-CN" altLang="en-US" dirty="0"/>
              <a:t>四类。</a:t>
            </a:r>
            <a:endParaRPr lang="en-US" altLang="zh-CN" dirty="0"/>
          </a:p>
          <a:p>
            <a:r>
              <a:rPr lang="zh-CN" altLang="en-US" dirty="0"/>
              <a:t>在 </a:t>
            </a:r>
            <a:r>
              <a:rPr lang="en-US" altLang="zh-CN" dirty="0" err="1"/>
              <a:t>GridRow</a:t>
            </a:r>
            <a:r>
              <a:rPr lang="zh-CN" altLang="en-US" dirty="0"/>
              <a:t>新栅格组件中，允许开发者使用 </a:t>
            </a:r>
            <a:r>
              <a:rPr lang="en-US" altLang="zh-CN" dirty="0"/>
              <a:t>Breakpoints </a:t>
            </a:r>
            <a:r>
              <a:rPr lang="zh-CN" altLang="en-US" dirty="0"/>
              <a:t>自定义修改断点的取值范围，最多支持</a:t>
            </a:r>
            <a:r>
              <a:rPr lang="en-US" altLang="zh-CN" dirty="0"/>
              <a:t>6</a:t>
            </a:r>
            <a:r>
              <a:rPr lang="zh-CN" altLang="en-US" dirty="0"/>
              <a:t>个断点，除了默认的四个断点外，还可以启用</a:t>
            </a:r>
            <a:r>
              <a:rPr lang="en-US" altLang="zh-CN" dirty="0"/>
              <a:t>x1</a:t>
            </a:r>
            <a:r>
              <a:rPr lang="zh-CN" altLang="en-US" dirty="0"/>
              <a:t>、</a:t>
            </a:r>
            <a:r>
              <a:rPr lang="en-US" altLang="zh-CN" dirty="0"/>
              <a:t>xx1</a:t>
            </a:r>
            <a:r>
              <a:rPr lang="zh-CN" altLang="en-US" dirty="0"/>
              <a:t>两个断点支持六种不同尺寸</a:t>
            </a:r>
            <a:r>
              <a:rPr lang="en-US" altLang="zh-CN" dirty="0"/>
              <a:t>(xs,sm,md,1g,xl,xxl)</a:t>
            </a:r>
            <a:r>
              <a:rPr lang="zh-CN" altLang="en-US" dirty="0"/>
              <a:t>设备的布局设置。尺寸范围如表所示。</a:t>
            </a:r>
          </a:p>
        </p:txBody>
      </p:sp>
      <p:sp>
        <p:nvSpPr>
          <p:cNvPr id="4" name="灯片编号占位符 3"/>
          <p:cNvSpPr>
            <a:spLocks noGrp="1"/>
          </p:cNvSpPr>
          <p:nvPr>
            <p:ph type="sldNum" sz="quarter" idx="5"/>
          </p:nvPr>
        </p:nvSpPr>
        <p:spPr/>
        <p:txBody>
          <a:bodyPr/>
          <a:lstStyle/>
          <a:p>
            <a:fld id="{7392B679-AE23-4750-8FB0-6513430B8953}" type="slidenum">
              <a:rPr lang="zh-CN" altLang="en-US" smtClean="0"/>
              <a:t>30</a:t>
            </a:fld>
            <a:endParaRPr lang="zh-CN" altLang="en-US"/>
          </a:p>
        </p:txBody>
      </p:sp>
    </p:spTree>
    <p:extLst>
      <p:ext uri="{BB962C8B-B14F-4D97-AF65-F5344CB8AC3E}">
        <p14:creationId xmlns:p14="http://schemas.microsoft.com/office/powerpoint/2010/main" val="34363156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7392B679-AE23-4750-8FB0-6513430B8953}" type="slidenum">
              <a:rPr lang="zh-CN" altLang="en-US" smtClean="0"/>
              <a:t>31</a:t>
            </a:fld>
            <a:endParaRPr lang="zh-CN" altLang="en-US"/>
          </a:p>
        </p:txBody>
      </p:sp>
    </p:spTree>
    <p:extLst>
      <p:ext uri="{BB962C8B-B14F-4D97-AF65-F5344CB8AC3E}">
        <p14:creationId xmlns:p14="http://schemas.microsoft.com/office/powerpoint/2010/main" val="40612970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669777" y="2309308"/>
            <a:ext cx="10850541" cy="899333"/>
          </a:xfrm>
        </p:spPr>
        <p:txBody>
          <a:bodyPr lIns="101600" tIns="38100" rIns="25400" bIns="38100" anchor="t" anchorCtr="0">
            <a:noAutofit/>
          </a:bodyPr>
          <a:lstStyle>
            <a:lvl1pPr algn="ctr">
              <a:defRPr sz="5400" b="0" spc="600">
                <a:effectLst/>
                <a:latin typeface="+mn-ea"/>
                <a:ea typeface="+mn-ea"/>
              </a:defRPr>
            </a:lvl1pPr>
          </a:lstStyle>
          <a:p>
            <a:r>
              <a:rPr lang="zh-CN" altLang="en-US" dirty="0"/>
              <a:t>单击此处编辑标题</a:t>
            </a:r>
          </a:p>
        </p:txBody>
      </p:sp>
      <p:sp>
        <p:nvSpPr>
          <p:cNvPr id="3" name="副标题 2"/>
          <p:cNvSpPr>
            <a:spLocks noGrp="1"/>
          </p:cNvSpPr>
          <p:nvPr>
            <p:ph type="subTitle" idx="1" hasCustomPrompt="1"/>
          </p:nvPr>
        </p:nvSpPr>
        <p:spPr>
          <a:xfrm>
            <a:off x="669820" y="3566185"/>
            <a:ext cx="10850454" cy="801518"/>
          </a:xfrm>
        </p:spPr>
        <p:txBody>
          <a:bodyPr lIns="101600" tIns="38100" rIns="76200" bIns="38100" anchor="ctr" anchorCtr="0">
            <a:noAutofit/>
          </a:bodyPr>
          <a:lstStyle>
            <a:lvl1pPr marL="0" indent="0" algn="ctr" eaLnBrk="1" fontAlgn="auto" latinLnBrk="0" hangingPunct="1">
              <a:lnSpc>
                <a:spcPct val="100000"/>
              </a:lnSpc>
              <a:buNone/>
              <a:defRPr sz="2400" u="none" strike="noStrike" kern="1200" cap="none" spc="200" normalizeH="0" baseline="0">
                <a:solidFill>
                  <a:schemeClr val="tx1"/>
                </a:solidFill>
                <a:uFillTx/>
                <a:latin typeface="+mn-ea"/>
                <a:ea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5365" indent="0" algn="ctr">
              <a:buNone/>
              <a:defRPr sz="1600"/>
            </a:lvl6pPr>
            <a:lvl7pPr marL="2742565" indent="0" algn="ctr">
              <a:buNone/>
              <a:defRPr sz="1600"/>
            </a:lvl7pPr>
            <a:lvl8pPr marL="3199765" indent="0" algn="ctr">
              <a:buNone/>
              <a:defRPr sz="1600"/>
            </a:lvl8pPr>
            <a:lvl9pPr marL="3656965" indent="0" algn="ctr">
              <a:buNone/>
              <a:defRPr sz="1600"/>
            </a:lvl9pPr>
          </a:lstStyle>
          <a:p>
            <a:r>
              <a:rPr lang="zh-CN" altLang="en-US" dirty="0"/>
              <a:t>单击此处编辑副标题</a:t>
            </a:r>
          </a:p>
        </p:txBody>
      </p:sp>
      <p:sp>
        <p:nvSpPr>
          <p:cNvPr id="17" name="页脚占位符 16"/>
          <p:cNvSpPr>
            <a:spLocks noGrp="1"/>
          </p:cNvSpPr>
          <p:nvPr>
            <p:ph type="ftr" sz="quarter" idx="11"/>
          </p:nvPr>
        </p:nvSpPr>
        <p:spPr/>
        <p:txBody>
          <a:bodyPr/>
          <a:lstStyle>
            <a:lvl1pPr>
              <a:defRPr>
                <a:latin typeface="+mn-ea"/>
              </a:defRPr>
            </a:lvl1pPr>
          </a:lstStyle>
          <a:p>
            <a:endParaRPr lang="zh-CN" altLang="en-US" dirty="0"/>
          </a:p>
        </p:txBody>
      </p:sp>
      <p:sp>
        <p:nvSpPr>
          <p:cNvPr id="18" name="灯片编号占位符 17"/>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dirty="0"/>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69777" y="581333"/>
            <a:ext cx="10850541" cy="64812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7" name="文本占位符 6"/>
          <p:cNvSpPr>
            <a:spLocks noGrp="1"/>
          </p:cNvSpPr>
          <p:nvPr>
            <p:ph type="body" idx="1" hasCustomPrompt="1"/>
          </p:nvPr>
        </p:nvSpPr>
        <p:spPr>
          <a:xfrm>
            <a:off x="669820" y="1508404"/>
            <a:ext cx="10850454" cy="4750044"/>
          </a:xfrm>
          <a:prstGeom prst="rect">
            <a:avLst/>
          </a:prstGeom>
        </p:spPr>
        <p:txBody>
          <a:bodyPr vert="horz" lIns="101600" tIns="0" rIns="82550" bIns="0" rtlCol="0">
            <a:normAutofit/>
          </a:bodyPr>
          <a:lstStyle>
            <a:lvl1pPr>
              <a:defRPr sz="2400"/>
            </a:lvl1pPr>
            <a:lvl2pPr>
              <a:defRPr sz="2400"/>
            </a:lvl2pPr>
            <a:lvl3pPr>
              <a:defRPr sz="2400"/>
            </a:lvl3pPr>
            <a:lvl4pPr>
              <a:defRPr sz="2400"/>
            </a:lvl4pPr>
            <a:lvl5pPr>
              <a:defRPr sz="24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endParaRPr lang="zh-CN" altLang="en-US"/>
          </a:p>
        </p:txBody>
      </p:sp>
      <p:sp>
        <p:nvSpPr>
          <p:cNvPr id="4" name="灯片编号占位符 3"/>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5" name="标题 4"/>
          <p:cNvSpPr>
            <a:spLocks noGrp="1"/>
          </p:cNvSpPr>
          <p:nvPr>
            <p:ph type="title" hasCustomPrompt="1"/>
          </p:nvPr>
        </p:nvSpPr>
        <p:spPr>
          <a:xfrm>
            <a:off x="839974" y="727845"/>
            <a:ext cx="3931306" cy="1115266"/>
          </a:xfrm>
        </p:spPr>
        <p:txBody>
          <a:bodyPr anchor="ctr" anchorCtr="0"/>
          <a:lstStyle>
            <a:lvl1pPr>
              <a:defRPr sz="3200">
                <a:latin typeface="+mn-ea"/>
                <a:ea typeface="+mn-ea"/>
              </a:defRPr>
            </a:lvl1pPr>
          </a:lstStyle>
          <a:p>
            <a:r>
              <a:rPr lang="zh-CN" altLang="en-US"/>
              <a:t>单击此处编辑标题</a:t>
            </a:r>
          </a:p>
        </p:txBody>
      </p:sp>
      <p:sp>
        <p:nvSpPr>
          <p:cNvPr id="6" name="内容占位符 5"/>
          <p:cNvSpPr>
            <a:spLocks noGrp="1"/>
          </p:cNvSpPr>
          <p:nvPr>
            <p:ph idx="1" hasCustomPrompt="1"/>
          </p:nvPr>
        </p:nvSpPr>
        <p:spPr>
          <a:xfrm>
            <a:off x="5137617" y="727845"/>
            <a:ext cx="6171235" cy="5404215"/>
          </a:xfrm>
        </p:spPr>
        <p:txBody>
          <a:bodyPr/>
          <a:lstStyle>
            <a:lvl1pPr>
              <a:defRPr sz="2400">
                <a:latin typeface="+mn-ea"/>
                <a:ea typeface="+mn-ea"/>
              </a:defRPr>
            </a:lvl1pPr>
            <a:lvl2pPr marL="457200" indent="0">
              <a:buNone/>
              <a:defRPr sz="2400">
                <a:latin typeface="+mn-ea"/>
                <a:ea typeface="+mn-ea"/>
              </a:defRPr>
            </a:lvl2pPr>
            <a:lvl3pPr>
              <a:defRPr sz="2400">
                <a:latin typeface="+mn-ea"/>
                <a:ea typeface="+mn-ea"/>
              </a:defRPr>
            </a:lvl3pPr>
            <a:lvl4pPr>
              <a:defRPr sz="2400">
                <a:latin typeface="+mn-ea"/>
                <a:ea typeface="+mn-ea"/>
              </a:defRPr>
            </a:lvl4pPr>
            <a:lvl5pPr>
              <a:defRPr sz="2400">
                <a:latin typeface="+mn-ea"/>
                <a:ea typeface="+mn-ea"/>
              </a:defRPr>
            </a:lvl5pPr>
            <a:lvl6pPr>
              <a:defRPr sz="2000"/>
            </a:lvl6pPr>
            <a:lvl7pPr>
              <a:defRPr sz="2000"/>
            </a:lvl7pPr>
            <a:lvl8pPr>
              <a:defRPr sz="2000"/>
            </a:lvl8pPr>
            <a:lvl9pPr>
              <a:defRPr sz="2000"/>
            </a:lvl9pPr>
          </a:lstStyle>
          <a:p>
            <a:pPr lvl="0"/>
            <a:r>
              <a:rPr lang="zh-CN" altLang="en-US"/>
              <a:t>单击此处编辑正文</a:t>
            </a:r>
          </a:p>
        </p:txBody>
      </p:sp>
      <p:sp>
        <p:nvSpPr>
          <p:cNvPr id="7" name="文本占位符 6"/>
          <p:cNvSpPr>
            <a:spLocks noGrp="1"/>
          </p:cNvSpPr>
          <p:nvPr>
            <p:ph type="body" sz="half" idx="2" hasCustomPrompt="1"/>
          </p:nvPr>
        </p:nvSpPr>
        <p:spPr>
          <a:xfrm>
            <a:off x="839974" y="2240060"/>
            <a:ext cx="3931306" cy="3892636"/>
          </a:xfrm>
        </p:spPr>
        <p:txBody>
          <a:bodyPr/>
          <a:lstStyle>
            <a:lvl1pPr marL="342900" indent="-342900">
              <a:buFont typeface="Arial" panose="020B0604020202020204" pitchFamily="34" charset="0"/>
              <a:buChar char="•"/>
              <a:defRPr sz="2400">
                <a:latin typeface="+mn-ea"/>
                <a:ea typeface="+mn-ea"/>
              </a:defRPr>
            </a:lvl1pPr>
            <a:lvl2pPr marL="457200" indent="0">
              <a:buNone/>
              <a:defRPr sz="1400"/>
            </a:lvl2pPr>
            <a:lvl3pPr marL="914400" indent="0">
              <a:buNone/>
              <a:defRPr sz="1200"/>
            </a:lvl3pPr>
            <a:lvl4pPr marL="1371600" indent="0">
              <a:buNone/>
              <a:defRPr sz="1000"/>
            </a:lvl4pPr>
            <a:lvl5pPr marL="1828800" indent="0">
              <a:buNone/>
              <a:defRPr sz="1000"/>
            </a:lvl5pPr>
            <a:lvl6pPr marL="2285365" indent="0">
              <a:buNone/>
              <a:defRPr sz="1000"/>
            </a:lvl6pPr>
            <a:lvl7pPr marL="2742565" indent="0">
              <a:buNone/>
              <a:defRPr sz="1000"/>
            </a:lvl7pPr>
            <a:lvl8pPr marL="3199765" indent="0">
              <a:buNone/>
              <a:defRPr sz="1000"/>
            </a:lvl8pPr>
            <a:lvl9pPr marL="3656965" indent="0">
              <a:buNone/>
              <a:defRPr sz="1000"/>
            </a:lvl9pPr>
          </a:lstStyle>
          <a:p>
            <a:pPr lvl="0"/>
            <a:r>
              <a:rPr lang="zh-CN" altLang="en-US"/>
              <a:t>单击此处编辑正文</a:t>
            </a:r>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p>
          <a:p>
            <a:pPr lvl="0"/>
            <a:r>
              <a:rPr lang="zh-CN" altLang="en-US">
                <a:sym typeface="+mn-ea"/>
              </a:rPr>
              <a:t>单击此处编辑正文</a:t>
            </a:r>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endParaRPr lang="zh-CN" altLang="en-US" dirty="0"/>
          </a:p>
        </p:txBody>
      </p:sp>
      <p:sp>
        <p:nvSpPr>
          <p:cNvPr id="7" name="灯片编号占位符 6"/>
          <p:cNvSpPr>
            <a:spLocks noGrp="1"/>
          </p:cNvSpPr>
          <p:nvPr>
            <p:ph type="sldNum" sz="quarter" idx="12"/>
          </p:nvPr>
        </p:nvSpPr>
        <p:spPr/>
        <p:txBody>
          <a:bodyPr/>
          <a:lstStyle>
            <a:lvl1pPr>
              <a:defRPr>
                <a:latin typeface="+mn-ea"/>
              </a:defRPr>
            </a:lvl1pPr>
          </a:lstStyle>
          <a:p>
            <a:fld id="{FABC47A4-756D-490B-A52F-7D9E2C9FC05F}" type="slidenum">
              <a:rPr lang="zh-CN" altLang="en-US" smtClean="0"/>
              <a:t>‹#›</a:t>
            </a:fld>
            <a:endParaRPr lang="zh-CN" altLang="en-US"/>
          </a:p>
        </p:txBody>
      </p:sp>
      <p:sp>
        <p:nvSpPr>
          <p:cNvPr id="9" name="标题 8"/>
          <p:cNvSpPr>
            <a:spLocks noGrp="1"/>
          </p:cNvSpPr>
          <p:nvPr>
            <p:ph type="title" hasCustomPrompt="1"/>
          </p:nvPr>
        </p:nvSpPr>
        <p:spPr>
          <a:xfrm>
            <a:off x="669820" y="5606183"/>
            <a:ext cx="10850454" cy="558268"/>
          </a:xfrm>
        </p:spPr>
        <p:txBody>
          <a:bodyPr/>
          <a:lstStyle>
            <a:lvl1pPr>
              <a:defRPr b="0">
                <a:latin typeface="+mn-ea"/>
                <a:ea typeface="+mn-ea"/>
              </a:defRPr>
            </a:lvl1pPr>
          </a:lstStyle>
          <a:p>
            <a:r>
              <a:rPr lang="zh-CN" altLang="en-US"/>
              <a:t>单击此处编辑正文</a:t>
            </a:r>
          </a:p>
        </p:txBody>
      </p:sp>
      <p:sp>
        <p:nvSpPr>
          <p:cNvPr id="8" name="内容占位符 7"/>
          <p:cNvSpPr>
            <a:spLocks noGrp="1"/>
          </p:cNvSpPr>
          <p:nvPr>
            <p:ph idx="1" hasCustomPrompt="1"/>
          </p:nvPr>
        </p:nvSpPr>
        <p:spPr>
          <a:xfrm>
            <a:off x="669820" y="641469"/>
            <a:ext cx="10850454" cy="4556969"/>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457200" marR="0" lvl="1"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7" name="内容占位符 6"/>
          <p:cNvSpPr>
            <a:spLocks noGrp="1"/>
          </p:cNvSpPr>
          <p:nvPr>
            <p:ph idx="1" hasCustomPrompt="1"/>
          </p:nvPr>
        </p:nvSpPr>
        <p:spPr>
          <a:xfrm>
            <a:off x="0" y="0"/>
            <a:ext cx="12194539" cy="686943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457200" marR="0" lvl="1"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2" name="内容占位符 1"/>
          <p:cNvSpPr>
            <a:spLocks noGrp="1"/>
          </p:cNvSpPr>
          <p:nvPr>
            <p:ph sz="half" idx="2" hasCustomPrompt="1"/>
          </p:nvPr>
        </p:nvSpPr>
        <p:spPr>
          <a:xfrm>
            <a:off x="467922" y="565255"/>
            <a:ext cx="5399196" cy="572876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
        <p:nvSpPr>
          <p:cNvPr id="6" name="内容占位符 5"/>
          <p:cNvSpPr>
            <a:spLocks noGrp="1"/>
          </p:cNvSpPr>
          <p:nvPr>
            <p:ph sz="half" idx="13" hasCustomPrompt="1"/>
          </p:nvPr>
        </p:nvSpPr>
        <p:spPr>
          <a:xfrm>
            <a:off x="6286787" y="565255"/>
            <a:ext cx="5399196" cy="572876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2" name="标题 1"/>
          <p:cNvSpPr>
            <a:spLocks noGrp="1"/>
          </p:cNvSpPr>
          <p:nvPr>
            <p:ph type="title" hasCustomPrompt="1"/>
          </p:nvPr>
        </p:nvSpPr>
        <p:spPr>
          <a:xfrm>
            <a:off x="669777" y="623706"/>
            <a:ext cx="10850541" cy="899333"/>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32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dirty="0"/>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dirty="0"/>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2" name="组合 41"/>
          <p:cNvGrpSpPr/>
          <p:nvPr userDrawn="1"/>
        </p:nvGrpSpPr>
        <p:grpSpPr>
          <a:xfrm>
            <a:off x="0" y="2202951"/>
            <a:ext cx="12190413" cy="2420263"/>
            <a:chOff x="170694" y="177982"/>
            <a:chExt cx="3936004" cy="781165"/>
          </a:xfrm>
        </p:grpSpPr>
        <p:sp>
          <p:nvSpPr>
            <p:cNvPr id="44" name="等腰三角形 43"/>
            <p:cNvSpPr/>
            <p:nvPr/>
          </p:nvSpPr>
          <p:spPr>
            <a:xfrm>
              <a:off x="1233863" y="177982"/>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5" name="等腰三角形 44"/>
            <p:cNvSpPr/>
            <p:nvPr/>
          </p:nvSpPr>
          <p:spPr>
            <a:xfrm flipV="1">
              <a:off x="200258" y="602633"/>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6" name="矩形 45"/>
            <p:cNvSpPr/>
            <p:nvPr/>
          </p:nvSpPr>
          <p:spPr>
            <a:xfrm>
              <a:off x="170694" y="261768"/>
              <a:ext cx="3936004" cy="61198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7" name="平行四边形 46"/>
            <p:cNvSpPr/>
            <p:nvPr/>
          </p:nvSpPr>
          <p:spPr>
            <a:xfrm>
              <a:off x="376965" y="178257"/>
              <a:ext cx="1036076" cy="779005"/>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8" name="文本框 6"/>
            <p:cNvSpPr txBox="1"/>
            <p:nvPr/>
          </p:nvSpPr>
          <p:spPr>
            <a:xfrm>
              <a:off x="619911" y="284178"/>
              <a:ext cx="650908" cy="553578"/>
            </a:xfrm>
            <a:prstGeom prst="rect">
              <a:avLst/>
            </a:prstGeom>
            <a:noFill/>
          </p:spPr>
          <p:txBody>
            <a:bodyPr wrap="square" lIns="68580" tIns="34290" rIns="68580" bIns="34290" rtlCol="0">
              <a:spAutoFit/>
            </a:bodyPr>
            <a:lstStyle/>
            <a:p>
              <a:endParaRPr lang="zh-CN" altLang="en-US" sz="10700" dirty="0">
                <a:solidFill>
                  <a:schemeClr val="bg1">
                    <a:lumMod val="9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7" name="组合 6"/>
          <p:cNvGrpSpPr/>
          <p:nvPr userDrawn="1"/>
        </p:nvGrpSpPr>
        <p:grpSpPr>
          <a:xfrm>
            <a:off x="7919172" y="1700153"/>
            <a:ext cx="575989" cy="577246"/>
            <a:chOff x="6084168" y="1274820"/>
            <a:chExt cx="432048" cy="432834"/>
          </a:xfrm>
        </p:grpSpPr>
        <p:sp>
          <p:nvSpPr>
            <p:cNvPr id="14"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9"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8" name="组合 7"/>
          <p:cNvGrpSpPr/>
          <p:nvPr userDrawn="1"/>
        </p:nvGrpSpPr>
        <p:grpSpPr>
          <a:xfrm>
            <a:off x="6191205" y="1700678"/>
            <a:ext cx="575989" cy="576197"/>
            <a:chOff x="4788024" y="1275213"/>
            <a:chExt cx="432048" cy="432048"/>
          </a:xfrm>
        </p:grpSpPr>
        <p:sp>
          <p:nvSpPr>
            <p:cNvPr id="17"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9" name="组合 8"/>
          <p:cNvGrpSpPr/>
          <p:nvPr userDrawn="1"/>
        </p:nvGrpSpPr>
        <p:grpSpPr>
          <a:xfrm>
            <a:off x="7055189" y="1700153"/>
            <a:ext cx="577036" cy="577246"/>
            <a:chOff x="5436096" y="1274820"/>
            <a:chExt cx="432833" cy="432834"/>
          </a:xfrm>
        </p:grpSpPr>
        <p:sp>
          <p:nvSpPr>
            <p:cNvPr id="25"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1"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0" name="组合 9"/>
          <p:cNvGrpSpPr/>
          <p:nvPr userDrawn="1"/>
        </p:nvGrpSpPr>
        <p:grpSpPr>
          <a:xfrm>
            <a:off x="4463238" y="1700153"/>
            <a:ext cx="577036" cy="577246"/>
            <a:chOff x="3491880" y="1274820"/>
            <a:chExt cx="432833" cy="432834"/>
          </a:xfrm>
        </p:grpSpPr>
        <p:sp>
          <p:nvSpPr>
            <p:cNvPr id="11"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2"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5327222" y="1700153"/>
            <a:ext cx="577036" cy="577246"/>
            <a:chOff x="4139952" y="1274820"/>
            <a:chExt cx="432833" cy="432834"/>
          </a:xfrm>
        </p:grpSpPr>
        <p:sp>
          <p:nvSpPr>
            <p:cNvPr id="24"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pic>
        <p:nvPicPr>
          <p:cNvPr id="4" name="图片 3" descr="河大logo"/>
          <p:cNvPicPr>
            <a:picLocks noChangeAspect="1"/>
          </p:cNvPicPr>
          <p:nvPr userDrawn="1"/>
        </p:nvPicPr>
        <p:blipFill>
          <a:blip r:embed="rId2" cstate="print"/>
          <a:stretch>
            <a:fillRect/>
          </a:stretch>
        </p:blipFill>
        <p:spPr>
          <a:xfrm>
            <a:off x="632460" y="476630"/>
            <a:ext cx="2207762" cy="64440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chemeClr val="bg1"/>
        </a:solidFill>
        <a:effectLst/>
      </p:bgPr>
    </p:bg>
    <p:spTree>
      <p:nvGrpSpPr>
        <p:cNvPr id="1" name=""/>
        <p:cNvGrpSpPr/>
        <p:nvPr/>
      </p:nvGrpSpPr>
      <p:grpSpPr>
        <a:xfrm>
          <a:off x="0" y="0"/>
          <a:ext cx="0" cy="0"/>
          <a:chOff x="0" y="0"/>
          <a:chExt cx="0" cy="0"/>
        </a:xfrm>
      </p:grpSpPr>
      <p:cxnSp>
        <p:nvCxnSpPr>
          <p:cNvPr id="7" name="直接连接符 6"/>
          <p:cNvCxnSpPr/>
          <p:nvPr userDrawn="1"/>
        </p:nvCxnSpPr>
        <p:spPr>
          <a:xfrm>
            <a:off x="1007304" y="834057"/>
            <a:ext cx="104638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6" name="矩形 5"/>
          <p:cNvSpPr/>
          <p:nvPr userDrawn="1"/>
        </p:nvSpPr>
        <p:spPr>
          <a:xfrm>
            <a:off x="0" y="6794447"/>
            <a:ext cx="10631710" cy="84639"/>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userDrawn="1"/>
        </p:nvSpPr>
        <p:spPr>
          <a:xfrm>
            <a:off x="10703717" y="6794446"/>
            <a:ext cx="1486695" cy="84639"/>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descr="三个三角"/>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2255" y="103505"/>
            <a:ext cx="779145" cy="617855"/>
          </a:xfrm>
          <a:prstGeom prst="rect">
            <a:avLst/>
          </a:prstGeom>
        </p:spPr>
      </p:pic>
      <p:pic>
        <p:nvPicPr>
          <p:cNvPr id="4" name="图片 3" descr="河大logo"/>
          <p:cNvPicPr>
            <a:picLocks noChangeAspect="1"/>
          </p:cNvPicPr>
          <p:nvPr userDrawn="1"/>
        </p:nvPicPr>
        <p:blipFill>
          <a:blip r:embed="rId4" cstate="print"/>
          <a:srcRect r="69715"/>
          <a:stretch>
            <a:fillRect/>
          </a:stretch>
        </p:blipFill>
        <p:spPr>
          <a:xfrm>
            <a:off x="10875010" y="132080"/>
            <a:ext cx="611505" cy="58928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2959" y="4407922"/>
            <a:ext cx="10361851" cy="1362390"/>
          </a:xfrm>
        </p:spPr>
        <p:txBody>
          <a:bodyPr anchor="t"/>
          <a:lstStyle>
            <a:lvl1pPr algn="l">
              <a:defRPr sz="5300" b="1" cap="all"/>
            </a:lvl1pPr>
          </a:lstStyle>
          <a:p>
            <a:r>
              <a:rPr lang="zh-CN" altLang="en-US"/>
              <a:t>单击此处编辑母版标题样式</a:t>
            </a:r>
          </a:p>
        </p:txBody>
      </p:sp>
      <p:sp>
        <p:nvSpPr>
          <p:cNvPr id="3" name="文本占位符 2"/>
          <p:cNvSpPr>
            <a:spLocks noGrp="1"/>
          </p:cNvSpPr>
          <p:nvPr>
            <p:ph type="body" idx="1"/>
          </p:nvPr>
        </p:nvSpPr>
        <p:spPr>
          <a:xfrm>
            <a:off x="962959" y="2907386"/>
            <a:ext cx="10361851" cy="1500534"/>
          </a:xfrm>
        </p:spPr>
        <p:txBody>
          <a:bodyPr anchor="b"/>
          <a:lstStyle>
            <a:lvl1pPr marL="0" indent="0">
              <a:buNone/>
              <a:defRPr sz="2700">
                <a:solidFill>
                  <a:schemeClr val="tx1">
                    <a:tint val="75000"/>
                  </a:schemeClr>
                </a:solidFill>
              </a:defRPr>
            </a:lvl1pPr>
            <a:lvl2pPr marL="609600" indent="0">
              <a:buNone/>
              <a:defRPr sz="2400">
                <a:solidFill>
                  <a:schemeClr val="tx1">
                    <a:tint val="75000"/>
                  </a:schemeClr>
                </a:solidFill>
              </a:defRPr>
            </a:lvl2pPr>
            <a:lvl3pPr marL="1219200" indent="0">
              <a:buNone/>
              <a:defRPr sz="2100">
                <a:solidFill>
                  <a:schemeClr val="tx1">
                    <a:tint val="75000"/>
                  </a:schemeClr>
                </a:solidFill>
              </a:defRPr>
            </a:lvl3pPr>
            <a:lvl4pPr marL="1828800" indent="0">
              <a:buNone/>
              <a:defRPr sz="1900">
                <a:solidFill>
                  <a:schemeClr val="tx1">
                    <a:tint val="75000"/>
                  </a:schemeClr>
                </a:solidFill>
              </a:defRPr>
            </a:lvl4pPr>
            <a:lvl5pPr marL="2438400" indent="0">
              <a:buNone/>
              <a:defRPr sz="1900">
                <a:solidFill>
                  <a:schemeClr val="tx1">
                    <a:tint val="75000"/>
                  </a:schemeClr>
                </a:solidFill>
              </a:defRPr>
            </a:lvl5pPr>
            <a:lvl6pPr marL="3048000" indent="0">
              <a:buNone/>
              <a:defRPr sz="1900">
                <a:solidFill>
                  <a:schemeClr val="tx1">
                    <a:tint val="75000"/>
                  </a:schemeClr>
                </a:solidFill>
              </a:defRPr>
            </a:lvl6pPr>
            <a:lvl7pPr marL="3657600" indent="0">
              <a:buNone/>
              <a:defRPr sz="1900">
                <a:solidFill>
                  <a:schemeClr val="tx1">
                    <a:tint val="75000"/>
                  </a:schemeClr>
                </a:solidFill>
              </a:defRPr>
            </a:lvl7pPr>
            <a:lvl8pPr marL="4267200" indent="0">
              <a:buNone/>
              <a:defRPr sz="1900">
                <a:solidFill>
                  <a:schemeClr val="tx1">
                    <a:tint val="75000"/>
                  </a:schemeClr>
                </a:solidFill>
              </a:defRPr>
            </a:lvl8pPr>
            <a:lvl9pPr marL="4876800" indent="0">
              <a:buNone/>
              <a:defRPr sz="19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2025/3/26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521"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6793"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2025/3/26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521" y="1535469"/>
            <a:ext cx="5386216"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p>
        </p:txBody>
      </p:sp>
      <p:sp>
        <p:nvSpPr>
          <p:cNvPr id="4" name="内容占位符 3"/>
          <p:cNvSpPr>
            <a:spLocks noGrp="1"/>
          </p:cNvSpPr>
          <p:nvPr>
            <p:ph sz="half" idx="2"/>
          </p:nvPr>
        </p:nvSpPr>
        <p:spPr>
          <a:xfrm>
            <a:off x="609521" y="2175378"/>
            <a:ext cx="5386216"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2562" y="1535469"/>
            <a:ext cx="5388332"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p>
        </p:txBody>
      </p:sp>
      <p:sp>
        <p:nvSpPr>
          <p:cNvPr id="6" name="内容占位符 5"/>
          <p:cNvSpPr>
            <a:spLocks noGrp="1"/>
          </p:cNvSpPr>
          <p:nvPr>
            <p:ph sz="quarter" idx="4"/>
          </p:nvPr>
        </p:nvSpPr>
        <p:spPr>
          <a:xfrm>
            <a:off x="6192562" y="2175378"/>
            <a:ext cx="5388332"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530820CF-B880-4189-942D-D702A7CBA730}" type="datetimeFigureOut">
              <a:rPr lang="zh-CN" altLang="en-US" smtClean="0"/>
              <a:t>2025/3/26</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30820CF-B880-4189-942D-D702A7CBA730}" type="datetimeFigureOut">
              <a:rPr lang="zh-CN" altLang="en-US" smtClean="0"/>
              <a:t>2025/3/26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t>2025/3/26</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
        <p:nvSpPr>
          <p:cNvPr id="8" name="等腰三角形 7"/>
          <p:cNvSpPr/>
          <p:nvPr userDrawn="1"/>
        </p:nvSpPr>
        <p:spPr>
          <a:xfrm flipH="1" flipV="1">
            <a:off x="-767029" y="-29126"/>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flipH="1" flipV="1">
            <a:off x="1413539" y="0"/>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userDrawn="1"/>
        </p:nvSpPr>
        <p:spPr>
          <a:xfrm>
            <a:off x="6085438" y="4298493"/>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299248" y="4024505"/>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椭圆 1"/>
          <p:cNvSpPr/>
          <p:nvPr userDrawn="1"/>
        </p:nvSpPr>
        <p:spPr>
          <a:xfrm>
            <a:off x="9983383" y="4024505"/>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descr="南门线稿x4222222"/>
          <p:cNvPicPr>
            <a:picLocks noChangeAspect="1"/>
          </p:cNvPicPr>
          <p:nvPr userDrawn="1"/>
        </p:nvPicPr>
        <p:blipFill>
          <a:blip r:embed="rId2" cstate="print"/>
          <a:stretch>
            <a:fillRect/>
          </a:stretch>
        </p:blipFill>
        <p:spPr>
          <a:xfrm>
            <a:off x="1414780" y="4149725"/>
            <a:ext cx="9155430" cy="2318385"/>
          </a:xfrm>
          <a:prstGeom prst="rect">
            <a:avLst/>
          </a:prstGeom>
        </p:spPr>
      </p:pic>
      <p:pic>
        <p:nvPicPr>
          <p:cNvPr id="5" name="图片 4" descr="河大logo"/>
          <p:cNvPicPr>
            <a:picLocks noChangeAspect="1"/>
          </p:cNvPicPr>
          <p:nvPr userDrawn="1"/>
        </p:nvPicPr>
        <p:blipFill>
          <a:blip r:embed="rId3" cstate="print"/>
          <a:stretch>
            <a:fillRect/>
          </a:stretch>
        </p:blipFill>
        <p:spPr>
          <a:xfrm>
            <a:off x="632460" y="476630"/>
            <a:ext cx="2207762" cy="64440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cxnSp>
        <p:nvCxnSpPr>
          <p:cNvPr id="8" name="直接连接符 7"/>
          <p:cNvCxnSpPr/>
          <p:nvPr userDrawn="1"/>
        </p:nvCxnSpPr>
        <p:spPr>
          <a:xfrm>
            <a:off x="984634" y="1413103"/>
            <a:ext cx="10198475"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9" name="组合 8"/>
          <p:cNvGrpSpPr/>
          <p:nvPr userDrawn="1"/>
        </p:nvGrpSpPr>
        <p:grpSpPr>
          <a:xfrm>
            <a:off x="10607120" y="654595"/>
            <a:ext cx="575989" cy="577246"/>
            <a:chOff x="6084168" y="1274820"/>
            <a:chExt cx="432048" cy="432834"/>
          </a:xfrm>
        </p:grpSpPr>
        <p:sp>
          <p:nvSpPr>
            <p:cNvPr id="10"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1"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8879153" y="655120"/>
            <a:ext cx="575989" cy="576197"/>
            <a:chOff x="4788024" y="1275213"/>
            <a:chExt cx="432048" cy="432048"/>
          </a:xfrm>
        </p:grpSpPr>
        <p:sp>
          <p:nvSpPr>
            <p:cNvPr id="13"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4"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5" name="组合 14"/>
          <p:cNvGrpSpPr/>
          <p:nvPr userDrawn="1"/>
        </p:nvGrpSpPr>
        <p:grpSpPr>
          <a:xfrm>
            <a:off x="9743137" y="654595"/>
            <a:ext cx="577036" cy="577246"/>
            <a:chOff x="5436096" y="1274820"/>
            <a:chExt cx="432833" cy="432834"/>
          </a:xfrm>
        </p:grpSpPr>
        <p:sp>
          <p:nvSpPr>
            <p:cNvPr id="16"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7"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8" name="组合 17"/>
          <p:cNvGrpSpPr/>
          <p:nvPr userDrawn="1"/>
        </p:nvGrpSpPr>
        <p:grpSpPr>
          <a:xfrm>
            <a:off x="7151187" y="654595"/>
            <a:ext cx="577036" cy="577246"/>
            <a:chOff x="3491880" y="1274820"/>
            <a:chExt cx="432833" cy="432834"/>
          </a:xfrm>
        </p:grpSpPr>
        <p:sp>
          <p:nvSpPr>
            <p:cNvPr id="19"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21" name="组合 20"/>
          <p:cNvGrpSpPr/>
          <p:nvPr userDrawn="1"/>
        </p:nvGrpSpPr>
        <p:grpSpPr>
          <a:xfrm>
            <a:off x="8015170" y="654595"/>
            <a:ext cx="577036" cy="577246"/>
            <a:chOff x="4139952" y="1274820"/>
            <a:chExt cx="432833" cy="432834"/>
          </a:xfrm>
        </p:grpSpPr>
        <p:sp>
          <p:nvSpPr>
            <p:cNvPr id="22"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pic>
        <p:nvPicPr>
          <p:cNvPr id="16" name="图片 1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222998" y="3789834"/>
            <a:ext cx="3952633" cy="616956"/>
          </a:xfrm>
          <a:prstGeom prst="rect">
            <a:avLst/>
          </a:prstGeom>
        </p:spPr>
      </p:pic>
      <p:sp>
        <p:nvSpPr>
          <p:cNvPr id="4" name="日期占位符 3"/>
          <p:cNvSpPr>
            <a:spLocks noGrp="1"/>
          </p:cNvSpPr>
          <p:nvPr>
            <p:ph type="dt" sz="half" idx="10"/>
          </p:nvPr>
        </p:nvSpPr>
        <p:spPr/>
        <p:txBody>
          <a:bodyPr/>
          <a:lstStyle/>
          <a:p>
            <a:fld id="{530820CF-B880-4189-942D-D702A7CBA730}" type="datetimeFigureOut">
              <a:rPr lang="zh-CN" altLang="en-US" smtClean="0"/>
              <a:t>2025/3/26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40" name="等腰三角形 39"/>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等腰三角形 6"/>
          <p:cNvSpPr/>
          <p:nvPr userDrawn="1"/>
        </p:nvSpPr>
        <p:spPr>
          <a:xfrm flipH="1" flipV="1">
            <a:off x="-766394" y="-28491"/>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等腰三角形 7"/>
          <p:cNvSpPr/>
          <p:nvPr userDrawn="1"/>
        </p:nvSpPr>
        <p:spPr>
          <a:xfrm flipH="1" flipV="1">
            <a:off x="1414174" y="635"/>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a:off x="6086073" y="4299128"/>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308773" y="3437345"/>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椭圆 9"/>
          <p:cNvSpPr/>
          <p:nvPr userDrawn="1"/>
        </p:nvSpPr>
        <p:spPr>
          <a:xfrm>
            <a:off x="10011958" y="3437345"/>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descr="寄语(1)"/>
          <p:cNvPicPr>
            <a:picLocks noChangeAspect="1"/>
          </p:cNvPicPr>
          <p:nvPr userDrawn="1"/>
        </p:nvPicPr>
        <p:blipFill>
          <a:blip r:embed="rId3"/>
          <a:srcRect l="114" t="60287" r="-114" b="572"/>
          <a:stretch>
            <a:fillRect/>
          </a:stretch>
        </p:blipFill>
        <p:spPr>
          <a:xfrm>
            <a:off x="2480310" y="2508250"/>
            <a:ext cx="7532370" cy="165798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8049" y="274702"/>
            <a:ext cx="2742843" cy="585288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521" y="274702"/>
            <a:ext cx="8025355" cy="585288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2025/3/26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3" Type="http://schemas.openxmlformats.org/officeDocument/2006/relationships/slideLayout" Target="../slideLayouts/slideLayout11.xml"/><Relationship Id="rId7" Type="http://schemas.openxmlformats.org/officeDocument/2006/relationships/slideLayout" Target="../slideLayouts/slideLayout15.xml"/><Relationship Id="rId12" Type="http://schemas.openxmlformats.org/officeDocument/2006/relationships/theme" Target="../theme/theme2.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5" Type="http://schemas.openxmlformats.org/officeDocument/2006/relationships/slideLayout" Target="../slideLayouts/slideLayout13.xml"/><Relationship Id="rId10" Type="http://schemas.openxmlformats.org/officeDocument/2006/relationships/slideLayout" Target="../slideLayouts/slideLayout18.xml"/><Relationship Id="rId4" Type="http://schemas.openxmlformats.org/officeDocument/2006/relationships/slideLayout" Target="../slideLayouts/slideLayout12.xml"/><Relationship Id="rId9"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879605" y="6351009"/>
            <a:ext cx="2699578" cy="316859"/>
          </a:xfrm>
          <a:prstGeom prst="rect">
            <a:avLst/>
          </a:prstGeom>
        </p:spPr>
        <p:txBody>
          <a:bodyPr vert="horz" lIns="91440" tIns="45720" rIns="91440" bIns="45720" rtlCol="0" anchor="ctr">
            <a:normAutofit/>
          </a:bodyPr>
          <a:lstStyle>
            <a:lvl1pPr algn="l">
              <a:defRPr sz="1200">
                <a:solidFill>
                  <a:schemeClr val="tx1">
                    <a:tint val="75000"/>
                  </a:schemeClr>
                </a:solidFill>
                <a:latin typeface="+mn-ea"/>
              </a:defRPr>
            </a:lvl1pPr>
          </a:lstStyle>
          <a:p>
            <a:fld id="{760FBDFE-C587-4B4C-A407-44438C67B59E}" type="datetimeFigureOut">
              <a:rPr lang="zh-CN" altLang="en-US" smtClean="0"/>
              <a:t>2025/3/26</a:t>
            </a:fld>
            <a:endParaRPr lang="zh-CN" altLang="en-US"/>
          </a:p>
        </p:txBody>
      </p:sp>
      <p:sp>
        <p:nvSpPr>
          <p:cNvPr id="5" name="页脚占位符 4"/>
          <p:cNvSpPr>
            <a:spLocks noGrp="1"/>
          </p:cNvSpPr>
          <p:nvPr>
            <p:ph type="ftr" sz="quarter" idx="3"/>
          </p:nvPr>
        </p:nvSpPr>
        <p:spPr>
          <a:xfrm>
            <a:off x="4115357" y="6351009"/>
            <a:ext cx="3959381" cy="316859"/>
          </a:xfrm>
          <a:prstGeom prst="rect">
            <a:avLst/>
          </a:prstGeom>
        </p:spPr>
        <p:txBody>
          <a:bodyPr vert="horz" lIns="91440" tIns="45720" rIns="91440" bIns="45720" rtlCol="0" anchor="ctr">
            <a:normAutofit/>
          </a:bodyPr>
          <a:lstStyle>
            <a:lvl1pPr algn="ctr">
              <a:defRPr sz="1200">
                <a:solidFill>
                  <a:schemeClr val="tx1">
                    <a:tint val="75000"/>
                  </a:schemeClr>
                </a:solidFill>
                <a:latin typeface="+mn-ea"/>
              </a:defRPr>
            </a:lvl1pPr>
          </a:lstStyle>
          <a:p>
            <a:endParaRPr lang="zh-CN" altLang="en-US" dirty="0"/>
          </a:p>
        </p:txBody>
      </p:sp>
      <p:sp>
        <p:nvSpPr>
          <p:cNvPr id="6" name="灯片编号占位符 5"/>
          <p:cNvSpPr>
            <a:spLocks noGrp="1"/>
          </p:cNvSpPr>
          <p:nvPr>
            <p:ph type="sldNum" sz="quarter" idx="4"/>
          </p:nvPr>
        </p:nvSpPr>
        <p:spPr>
          <a:xfrm>
            <a:off x="8609254" y="6351009"/>
            <a:ext cx="2699578" cy="316859"/>
          </a:xfrm>
          <a:prstGeom prst="rect">
            <a:avLst/>
          </a:prstGeom>
        </p:spPr>
        <p:txBody>
          <a:bodyPr vert="horz" lIns="91440" tIns="45720" rIns="91440" bIns="45720" rtlCol="0" anchor="ctr">
            <a:normAutofit/>
          </a:bodyPr>
          <a:lstStyle>
            <a:lvl1pPr algn="r">
              <a:defRPr sz="1200">
                <a:solidFill>
                  <a:schemeClr val="tx1">
                    <a:tint val="75000"/>
                  </a:schemeClr>
                </a:solidFill>
                <a:latin typeface="+mn-ea"/>
              </a:defRPr>
            </a:lvl1pPr>
          </a:lstStyle>
          <a:p>
            <a:fld id="{49AE70B2-8BF9-45C0-BB95-33D1B9D3A854}" type="slidenum">
              <a:rPr lang="zh-CN" altLang="en-US" smtClean="0"/>
              <a:t>‹#›</a:t>
            </a:fld>
            <a:endParaRPr lang="zh-CN" altLang="en-US" dirty="0"/>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标题 7"/>
          <p:cNvSpPr>
            <a:spLocks noGrp="1"/>
          </p:cNvSpPr>
          <p:nvPr>
            <p:ph type="title"/>
          </p:nvPr>
        </p:nvSpPr>
        <p:spPr>
          <a:xfrm>
            <a:off x="669777" y="581333"/>
            <a:ext cx="10850541" cy="64812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9" name="文本占位符 8"/>
          <p:cNvSpPr>
            <a:spLocks noGrp="1"/>
          </p:cNvSpPr>
          <p:nvPr>
            <p:ph type="body" idx="1"/>
          </p:nvPr>
        </p:nvSpPr>
        <p:spPr>
          <a:xfrm>
            <a:off x="669820" y="1508404"/>
            <a:ext cx="10850454" cy="4750044"/>
          </a:xfrm>
          <a:prstGeom prst="rect">
            <a:avLst/>
          </a:prstGeom>
        </p:spPr>
        <p:txBody>
          <a:bodyPr vert="horz" lIns="101600" tIns="0" rIns="82550" bIns="0" rtlCol="0">
            <a:normAutofit/>
          </a:bodyPr>
          <a:lstStyle>
            <a:lvl1pPr>
              <a:defRPr sz="2400"/>
            </a:lvl1pPr>
            <a:lvl2pPr>
              <a:defRPr sz="2400"/>
            </a:lvl2pPr>
            <a:lvl3pPr>
              <a:defRPr sz="2400"/>
            </a:lvl3pPr>
            <a:lvl4pPr>
              <a:defRPr sz="2400"/>
            </a:lvl4pPr>
            <a:lvl5pPr>
              <a:defRPr sz="24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mc:AlternateContent xmlns:mc="http://schemas.openxmlformats.org/markup-compatibility/2006" xmlns:p14="http://schemas.microsoft.com/office/powerpoint/2010/main">
    <mc:Choice Requires="p14">
      <p:transition p14:dur="10"/>
    </mc:Choice>
    <mc:Fallback xmlns="">
      <p:transition/>
    </mc:Fallback>
  </mc:AlternateContent>
  <p:txStyles>
    <p:titleStyle>
      <a:lvl1pPr algn="l" defTabSz="914400" rtl="0" eaLnBrk="1" fontAlgn="auto" latinLnBrk="0" hangingPunct="1">
        <a:lnSpc>
          <a:spcPct val="100000"/>
        </a:lnSpc>
        <a:spcBef>
          <a:spcPct val="0"/>
        </a:spcBef>
        <a:buNone/>
        <a:defRPr sz="2800" b="1" u="none" strike="noStrike" kern="1200" cap="none" spc="200" normalizeH="0">
          <a:solidFill>
            <a:schemeClr val="tx1"/>
          </a:solidFill>
          <a:uFillTx/>
          <a:latin typeface="+mn-ea"/>
          <a:ea typeface="+mn-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mn-ea"/>
          <a:ea typeface="+mn-ea"/>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4pPr>
      <a:lvl5pPr marL="2056765"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5pPr>
      <a:lvl6pPr marL="25139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1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3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5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5365" algn="l" defTabSz="914400" rtl="0" eaLnBrk="1" latinLnBrk="0" hangingPunct="1">
        <a:defRPr sz="1800" kern="1200">
          <a:solidFill>
            <a:schemeClr val="tx1"/>
          </a:solidFill>
          <a:latin typeface="+mn-lt"/>
          <a:ea typeface="+mn-ea"/>
          <a:cs typeface="+mn-cs"/>
        </a:defRPr>
      </a:lvl6pPr>
      <a:lvl7pPr marL="2742565" algn="l" defTabSz="914400" rtl="0" eaLnBrk="1" latinLnBrk="0" hangingPunct="1">
        <a:defRPr sz="1800" kern="1200">
          <a:solidFill>
            <a:schemeClr val="tx1"/>
          </a:solidFill>
          <a:latin typeface="+mn-lt"/>
          <a:ea typeface="+mn-ea"/>
          <a:cs typeface="+mn-cs"/>
        </a:defRPr>
      </a:lvl7pPr>
      <a:lvl8pPr marL="3199765" algn="l" defTabSz="914400" rtl="0" eaLnBrk="1" latinLnBrk="0" hangingPunct="1">
        <a:defRPr sz="1800" kern="1200">
          <a:solidFill>
            <a:schemeClr val="tx1"/>
          </a:solidFill>
          <a:latin typeface="+mn-lt"/>
          <a:ea typeface="+mn-ea"/>
          <a:cs typeface="+mn-cs"/>
        </a:defRPr>
      </a:lvl8pPr>
      <a:lvl9pPr marL="3656965"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521" y="274702"/>
            <a:ext cx="10971372" cy="1143265"/>
          </a:xfrm>
          <a:prstGeom prst="rect">
            <a:avLst/>
          </a:prstGeom>
        </p:spPr>
        <p:txBody>
          <a:bodyPr vert="horz" lIns="121917" tIns="60958" rIns="121917" bIns="60958" rtlCol="0" anchor="ctr">
            <a:normAutofit/>
          </a:bodyPr>
          <a:lstStyle/>
          <a:p>
            <a:r>
              <a:rPr lang="zh-CN" altLang="en-US"/>
              <a:t>单击此处编辑母版标题样式</a:t>
            </a:r>
          </a:p>
        </p:txBody>
      </p:sp>
      <p:sp>
        <p:nvSpPr>
          <p:cNvPr id="3" name="文本占位符 2"/>
          <p:cNvSpPr>
            <a:spLocks noGrp="1"/>
          </p:cNvSpPr>
          <p:nvPr>
            <p:ph type="body" idx="1"/>
          </p:nvPr>
        </p:nvSpPr>
        <p:spPr>
          <a:xfrm>
            <a:off x="609521" y="1600572"/>
            <a:ext cx="10971372" cy="4527011"/>
          </a:xfrm>
          <a:prstGeom prst="rect">
            <a:avLst/>
          </a:prstGeom>
        </p:spPr>
        <p:txBody>
          <a:bodyPr vert="horz" lIns="121917" tIns="60958" rIns="121917" bIns="60958"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521" y="6357822"/>
            <a:ext cx="2844430" cy="365210"/>
          </a:xfrm>
          <a:prstGeom prst="rect">
            <a:avLst/>
          </a:prstGeom>
        </p:spPr>
        <p:txBody>
          <a:bodyPr vert="horz" lIns="121917" tIns="60958" rIns="121917" bIns="60958" rtlCol="0" anchor="ctr"/>
          <a:lstStyle>
            <a:lvl1pPr algn="l">
              <a:defRPr sz="1600">
                <a:solidFill>
                  <a:schemeClr val="tx1">
                    <a:tint val="75000"/>
                  </a:schemeClr>
                </a:solidFill>
              </a:defRPr>
            </a:lvl1pPr>
          </a:lstStyle>
          <a:p>
            <a:fld id="{530820CF-B880-4189-942D-D702A7CBA730}" type="datetimeFigureOut">
              <a:rPr lang="zh-CN" altLang="en-US" smtClean="0"/>
              <a:t>2025/3/26</a:t>
            </a:fld>
            <a:endParaRPr lang="zh-CN" altLang="en-US"/>
          </a:p>
        </p:txBody>
      </p:sp>
      <p:sp>
        <p:nvSpPr>
          <p:cNvPr id="5" name="页脚占位符 4"/>
          <p:cNvSpPr>
            <a:spLocks noGrp="1"/>
          </p:cNvSpPr>
          <p:nvPr>
            <p:ph type="ftr" sz="quarter" idx="3"/>
          </p:nvPr>
        </p:nvSpPr>
        <p:spPr>
          <a:xfrm>
            <a:off x="4165058" y="6357822"/>
            <a:ext cx="3860297" cy="365210"/>
          </a:xfrm>
          <a:prstGeom prst="rect">
            <a:avLst/>
          </a:prstGeom>
        </p:spPr>
        <p:txBody>
          <a:bodyPr vert="horz" lIns="121917" tIns="60958" rIns="121917" bIns="60958" rtlCol="0" anchor="ctr"/>
          <a:lstStyle>
            <a:lvl1pPr algn="ctr">
              <a:defRPr sz="16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6463" y="6357822"/>
            <a:ext cx="2844430" cy="365210"/>
          </a:xfrm>
          <a:prstGeom prst="rect">
            <a:avLst/>
          </a:prstGeom>
        </p:spPr>
        <p:txBody>
          <a:bodyPr vert="horz" lIns="121917" tIns="60958" rIns="121917" bIns="60958" rtlCol="0" anchor="ctr"/>
          <a:lstStyle>
            <a:lvl1pPr algn="r">
              <a:defRPr sz="1600">
                <a:solidFill>
                  <a:schemeClr val="tx1">
                    <a:tint val="75000"/>
                  </a:schemeClr>
                </a:solidFill>
              </a:defRPr>
            </a:lvl1pPr>
          </a:lstStyle>
          <a:p>
            <a:fld id="{0C913308-F349-4B6D-A68A-DD1791B4A57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Lst>
  <mc:AlternateContent xmlns:mc="http://schemas.openxmlformats.org/markup-compatibility/2006" xmlns:p14="http://schemas.microsoft.com/office/powerpoint/2010/main">
    <mc:Choice Requires="p14">
      <p:transition p14:dur="10"/>
    </mc:Choice>
    <mc:Fallback xmlns="">
      <p:transition/>
    </mc:Fallback>
  </mc:AlternateContent>
  <p:txStyles>
    <p:titleStyle>
      <a:lvl1pPr algn="ctr" defTabSz="1219200" rtl="0" eaLnBrk="1" latinLnBrk="0" hangingPunct="1">
        <a:spcBef>
          <a:spcPct val="0"/>
        </a:spcBef>
        <a:buNone/>
        <a:defRPr sz="5900" kern="1200">
          <a:solidFill>
            <a:schemeClr val="tx1"/>
          </a:solidFill>
          <a:latin typeface="+mj-lt"/>
          <a:ea typeface="+mj-ea"/>
          <a:cs typeface="+mj-cs"/>
        </a:defRPr>
      </a:lvl1pPr>
    </p:titleStyle>
    <p:bodyStyle>
      <a:lvl1pPr marL="457200" indent="-457200" algn="l" defTabSz="1219200" rtl="0" eaLnBrk="1" latinLnBrk="0" hangingPunct="1">
        <a:spcBef>
          <a:spcPct val="20000"/>
        </a:spcBef>
        <a:buFont typeface="Arial" panose="020B060402020202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2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hyperlink" Target="file:///D:\Harmony\DevEco%20Studio\plugins\openharmony\ohos-info-center-view\zh-cn_topic_0000001714626589.html" TargetMode="Externa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630680" y="1773555"/>
            <a:ext cx="8716010" cy="768350"/>
          </a:xfrm>
          <a:prstGeom prst="rect">
            <a:avLst/>
          </a:prstGeom>
          <a:noFill/>
        </p:spPr>
        <p:txBody>
          <a:bodyPr wrap="square" rtlCol="0" anchor="t">
            <a:spAutoFit/>
          </a:bodyPr>
          <a:lstStyle/>
          <a:p>
            <a:pPr algn="ctr"/>
            <a:r>
              <a:rPr sz="4400" dirty="0">
                <a:solidFill>
                  <a:schemeClr val="accent1"/>
                </a:solidFill>
                <a:effectLst>
                  <a:outerShdw blurRad="38100" dist="25400" dir="5400000" algn="ctr" rotWithShape="0">
                    <a:srgbClr val="6E747A">
                      <a:alpha val="43000"/>
                    </a:srgbClr>
                  </a:outerShdw>
                </a:effectLst>
                <a:cs typeface="+mn-ea"/>
                <a:sym typeface="思源黑体 CN Medium" panose="020B0600000000000000" pitchFamily="34" charset="-122"/>
              </a:rPr>
              <a:t>第</a:t>
            </a:r>
            <a:r>
              <a:rPr lang="en-US" altLang="zh-CN" sz="4400" dirty="0">
                <a:solidFill>
                  <a:schemeClr val="accent1"/>
                </a:solidFill>
                <a:effectLst>
                  <a:outerShdw blurRad="38100" dist="25400" dir="5400000" algn="ctr" rotWithShape="0">
                    <a:srgbClr val="6E747A">
                      <a:alpha val="43000"/>
                    </a:srgbClr>
                  </a:outerShdw>
                </a:effectLst>
                <a:cs typeface="+mn-ea"/>
                <a:sym typeface="思源黑体 CN Medium" panose="020B0600000000000000" pitchFamily="34" charset="-122"/>
              </a:rPr>
              <a:t>3</a:t>
            </a:r>
            <a:r>
              <a:rPr sz="4400" dirty="0">
                <a:solidFill>
                  <a:schemeClr val="accent1"/>
                </a:solidFill>
                <a:effectLst>
                  <a:outerShdw blurRad="38100" dist="25400" dir="5400000" algn="ctr" rotWithShape="0">
                    <a:srgbClr val="6E747A">
                      <a:alpha val="43000"/>
                    </a:srgbClr>
                  </a:outerShdw>
                </a:effectLst>
                <a:cs typeface="+mn-ea"/>
                <a:sym typeface="思源黑体 CN Medium" panose="020B0600000000000000" pitchFamily="34" charset="-122"/>
              </a:rPr>
              <a:t>章</a:t>
            </a:r>
            <a:r>
              <a:rPr lang="en-US" altLang="zh-CN" sz="4400" dirty="0">
                <a:solidFill>
                  <a:schemeClr val="accent1"/>
                </a:solidFill>
                <a:effectLst>
                  <a:outerShdw blurRad="38100" dist="25400" dir="5400000" algn="ctr" rotWithShape="0">
                    <a:srgbClr val="6E747A">
                      <a:alpha val="43000"/>
                    </a:srgbClr>
                  </a:outerShdw>
                </a:effectLst>
                <a:cs typeface="+mn-ea"/>
                <a:sym typeface="思源黑体 CN Medium" panose="020B0600000000000000" pitchFamily="34" charset="-122"/>
              </a:rPr>
              <a:t> </a:t>
            </a:r>
            <a:r>
              <a:rPr lang="zh-CN" altLang="en-US" sz="4400" dirty="0">
                <a:solidFill>
                  <a:schemeClr val="accent1"/>
                </a:solidFill>
                <a:effectLst>
                  <a:outerShdw blurRad="38100" dist="25400" dir="5400000" algn="ctr" rotWithShape="0">
                    <a:srgbClr val="6E747A">
                      <a:alpha val="43000"/>
                    </a:srgbClr>
                  </a:outerShdw>
                </a:effectLst>
                <a:cs typeface="+mn-ea"/>
                <a:sym typeface="思源黑体 CN Medium" panose="020B0600000000000000" pitchFamily="34" charset="-122"/>
              </a:rPr>
              <a:t>常见布局</a:t>
            </a:r>
            <a:r>
              <a:rPr lang="en-US" altLang="zh-CN" sz="4400" dirty="0">
                <a:solidFill>
                  <a:schemeClr val="accent1"/>
                </a:solidFill>
                <a:effectLst>
                  <a:outerShdw blurRad="38100" dist="25400" dir="5400000" algn="ctr" rotWithShape="0">
                    <a:srgbClr val="6E747A">
                      <a:alpha val="43000"/>
                    </a:srgbClr>
                  </a:outerShdw>
                </a:effectLst>
                <a:cs typeface="+mn-ea"/>
                <a:sym typeface="思源黑体 CN Medium" panose="020B0600000000000000" pitchFamily="34" charset="-122"/>
              </a:rPr>
              <a:t>-1</a:t>
            </a:r>
            <a:endParaRPr lang="zh-CN" altLang="en-US" sz="4400" dirty="0">
              <a:solidFill>
                <a:schemeClr val="accent1"/>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cs typeface="+mn-ea"/>
              <a:sym typeface="思源黑体 CN Medium" panose="020B0600000000000000" pitchFamily="34" charset="-122"/>
            </a:endParaRPr>
          </a:p>
        </p:txBody>
      </p:sp>
      <p:sp>
        <p:nvSpPr>
          <p:cNvPr id="3" name="文本框 2"/>
          <p:cNvSpPr txBox="1"/>
          <p:nvPr/>
        </p:nvSpPr>
        <p:spPr>
          <a:xfrm>
            <a:off x="2854960" y="2925445"/>
            <a:ext cx="6096000" cy="415498"/>
          </a:xfrm>
          <a:prstGeom prst="rect">
            <a:avLst/>
          </a:prstGeom>
          <a:noFill/>
        </p:spPr>
        <p:txBody>
          <a:bodyPr wrap="square" rtlCol="0" anchor="t">
            <a:spAutoFit/>
          </a:bodyPr>
          <a:lstStyle/>
          <a:p>
            <a:pPr algn="ctr" defTabSz="685800">
              <a:spcBef>
                <a:spcPts val="1950"/>
              </a:spcBef>
            </a:pPr>
            <a:r>
              <a:rPr lang="zh-CN" altLang="en-US" sz="2100" b="1" dirty="0">
                <a:solidFill>
                  <a:srgbClr val="163F6D"/>
                </a:solidFill>
                <a:latin typeface="微软雅黑" panose="020B0503020204020204" pitchFamily="34" charset="-122"/>
                <a:ea typeface="微软雅黑" panose="020B0503020204020204" pitchFamily="34" charset="-122"/>
                <a:cs typeface="Arial" panose="020B0604020202020204" pitchFamily="34" charset="0"/>
                <a:sym typeface="+mn-ea"/>
              </a:rPr>
              <a:t>软件学院 </a:t>
            </a:r>
            <a:endParaRPr lang="en-US" altLang="zh-CN" sz="2100" b="1" dirty="0">
              <a:solidFill>
                <a:srgbClr val="163F6D"/>
              </a:solidFill>
              <a:latin typeface="微软雅黑" panose="020B0503020204020204" pitchFamily="34" charset="-122"/>
              <a:ea typeface="微软雅黑" panose="020B0503020204020204" pitchFamily="34" charset="-122"/>
              <a:cs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6"/>
          <p:cNvSpPr>
            <a:spLocks noChangeArrowheads="1"/>
          </p:cNvSpPr>
          <p:nvPr/>
        </p:nvSpPr>
        <p:spPr bwMode="auto">
          <a:xfrm>
            <a:off x="1198662" y="1125538"/>
            <a:ext cx="9286788" cy="5060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indent="-342900">
              <a:spcBef>
                <a:spcPts val="2400"/>
              </a:spcBef>
              <a:buFont typeface="Wingdings" panose="05000000000000000000" pitchFamily="2" charset="2"/>
              <a:buChar char="l"/>
            </a:pP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容器组件 </a:t>
            </a:r>
            <a:r>
              <a:rPr lang="en-US"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vs </a:t>
            </a: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一般组件</a:t>
            </a:r>
            <a:endParaRPr lang="en-US"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mn-ea"/>
            </a:endParaRPr>
          </a:p>
          <a:p>
            <a:pPr marL="342900" indent="-342900">
              <a:spcBef>
                <a:spcPts val="2400"/>
              </a:spcBef>
              <a:buFont typeface="Wingdings" panose="05000000000000000000" pitchFamily="2" charset="2"/>
              <a:buChar char="l"/>
            </a:pP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容器组件是一种特殊的组件。</a:t>
            </a:r>
            <a:endParaRPr lang="en-US"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mn-ea"/>
            </a:endParaRPr>
          </a:p>
          <a:p>
            <a:pPr marL="342900" indent="-342900">
              <a:spcBef>
                <a:spcPts val="2400"/>
              </a:spcBef>
              <a:buFont typeface="Wingdings" panose="05000000000000000000" pitchFamily="2" charset="2"/>
              <a:buChar char="l"/>
            </a:pP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容器组件可以包含其他组件，并按一定规律布局。</a:t>
            </a:r>
            <a:endParaRPr lang="en-US"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mn-ea"/>
            </a:endParaRPr>
          </a:p>
          <a:p>
            <a:pPr marL="952500" lvl="1" indent="-342900">
              <a:spcBef>
                <a:spcPts val="2400"/>
              </a:spcBef>
              <a:buFont typeface="Wingdings" panose="05000000000000000000" pitchFamily="2" charset="2"/>
              <a:buChar char="u"/>
            </a:pPr>
            <a:r>
              <a:rPr lang="zh-CN" altLang="en-US" sz="1800" dirty="0">
                <a:solidFill>
                  <a:schemeClr val="tx1">
                    <a:lumMod val="85000"/>
                    <a:lumOff val="15000"/>
                  </a:schemeClr>
                </a:solidFill>
                <a:latin typeface="微软雅黑" panose="020B0503020204020204" pitchFamily="34" charset="-122"/>
                <a:ea typeface="微软雅黑" panose="020B0503020204020204" pitchFamily="34" charset="-122"/>
                <a:cs typeface="+mn-ea"/>
              </a:rPr>
              <a:t>容器组件中可以包含一般组件，也可以包含容器组件</a:t>
            </a:r>
            <a:endParaRPr lang="en-US" altLang="zh-CN" sz="1800" dirty="0">
              <a:solidFill>
                <a:schemeClr val="tx1">
                  <a:lumMod val="85000"/>
                  <a:lumOff val="15000"/>
                </a:schemeClr>
              </a:solidFill>
              <a:latin typeface="微软雅黑" panose="020B0503020204020204" pitchFamily="34" charset="-122"/>
              <a:ea typeface="微软雅黑" panose="020B0503020204020204" pitchFamily="34" charset="-122"/>
              <a:cs typeface="+mn-ea"/>
            </a:endParaRPr>
          </a:p>
          <a:p>
            <a:pPr marL="952500" lvl="1" indent="-342900">
              <a:spcBef>
                <a:spcPts val="2400"/>
              </a:spcBef>
              <a:buFont typeface="Wingdings" panose="05000000000000000000" pitchFamily="2" charset="2"/>
              <a:buChar char="u"/>
            </a:pPr>
            <a:r>
              <a:rPr lang="en-US" altLang="zh-CN" sz="1800" dirty="0">
                <a:solidFill>
                  <a:schemeClr val="tx1">
                    <a:lumMod val="85000"/>
                    <a:lumOff val="15000"/>
                  </a:schemeClr>
                </a:solidFill>
                <a:latin typeface="微软雅黑" panose="020B0503020204020204" pitchFamily="34" charset="-122"/>
                <a:ea typeface="微软雅黑" panose="020B0503020204020204" pitchFamily="34" charset="-122"/>
                <a:cs typeface="+mn-ea"/>
              </a:rPr>
              <a:t>Row</a:t>
            </a:r>
            <a:r>
              <a:rPr lang="zh-CN" altLang="en-US" sz="1800" dirty="0">
                <a:solidFill>
                  <a:schemeClr val="tx1">
                    <a:lumMod val="85000"/>
                    <a:lumOff val="15000"/>
                  </a:schemeClr>
                </a:solidFill>
                <a:latin typeface="微软雅黑" panose="020B0503020204020204" pitchFamily="34" charset="-122"/>
                <a:ea typeface="微软雅黑" panose="020B0503020204020204" pitchFamily="34" charset="-122"/>
                <a:cs typeface="+mn-ea"/>
              </a:rPr>
              <a:t>：表示沿垂直方向布局的容器</a:t>
            </a:r>
            <a:endParaRPr lang="en-US" altLang="zh-CN" sz="1800" dirty="0">
              <a:solidFill>
                <a:schemeClr val="tx1">
                  <a:lumMod val="85000"/>
                  <a:lumOff val="15000"/>
                </a:schemeClr>
              </a:solidFill>
              <a:latin typeface="微软雅黑" panose="020B0503020204020204" pitchFamily="34" charset="-122"/>
              <a:ea typeface="微软雅黑" panose="020B0503020204020204" pitchFamily="34" charset="-122"/>
              <a:cs typeface="+mn-ea"/>
            </a:endParaRPr>
          </a:p>
          <a:p>
            <a:pPr marL="952500" lvl="1" indent="-342900">
              <a:spcBef>
                <a:spcPts val="2400"/>
              </a:spcBef>
              <a:buFont typeface="Wingdings" panose="05000000000000000000" pitchFamily="2" charset="2"/>
              <a:buChar char="u"/>
            </a:pPr>
            <a:r>
              <a:rPr lang="en-US" altLang="zh-CN" sz="1800" dirty="0">
                <a:solidFill>
                  <a:schemeClr val="tx1">
                    <a:lumMod val="85000"/>
                    <a:lumOff val="15000"/>
                  </a:schemeClr>
                </a:solidFill>
                <a:latin typeface="微软雅黑" panose="020B0503020204020204" pitchFamily="34" charset="-122"/>
                <a:ea typeface="微软雅黑" panose="020B0503020204020204" pitchFamily="34" charset="-122"/>
                <a:cs typeface="+mn-ea"/>
              </a:rPr>
              <a:t>Column</a:t>
            </a:r>
            <a:r>
              <a:rPr lang="zh-CN" altLang="en-US" sz="1800" dirty="0">
                <a:solidFill>
                  <a:schemeClr val="tx1">
                    <a:lumMod val="85000"/>
                    <a:lumOff val="15000"/>
                  </a:schemeClr>
                </a:solidFill>
                <a:latin typeface="微软雅黑" panose="020B0503020204020204" pitchFamily="34" charset="-122"/>
                <a:ea typeface="微软雅黑" panose="020B0503020204020204" pitchFamily="34" charset="-122"/>
                <a:cs typeface="+mn-ea"/>
              </a:rPr>
              <a:t>：表示沿水平方向布局的容器</a:t>
            </a:r>
            <a:endParaRPr lang="en-US" altLang="zh-CN" sz="1800" dirty="0">
              <a:solidFill>
                <a:schemeClr val="tx1">
                  <a:lumMod val="85000"/>
                  <a:lumOff val="15000"/>
                </a:schemeClr>
              </a:solidFill>
              <a:latin typeface="微软雅黑" panose="020B0503020204020204" pitchFamily="34" charset="-122"/>
              <a:ea typeface="微软雅黑" panose="020B0503020204020204" pitchFamily="34" charset="-122"/>
              <a:cs typeface="+mn-ea"/>
            </a:endParaRPr>
          </a:p>
          <a:p>
            <a:pPr marL="952500" lvl="1" indent="-342900">
              <a:spcBef>
                <a:spcPts val="2400"/>
              </a:spcBef>
              <a:buFont typeface="Wingdings" panose="05000000000000000000" pitchFamily="2" charset="2"/>
              <a:buChar char="u"/>
            </a:pPr>
            <a:r>
              <a:rPr lang="en-US" altLang="zh-CN" sz="1800" dirty="0">
                <a:solidFill>
                  <a:schemeClr val="tx1">
                    <a:lumMod val="85000"/>
                    <a:lumOff val="15000"/>
                  </a:schemeClr>
                </a:solidFill>
                <a:latin typeface="微软雅黑" panose="020B0503020204020204" pitchFamily="34" charset="-122"/>
                <a:ea typeface="微软雅黑" panose="020B0503020204020204" pitchFamily="34" charset="-122"/>
                <a:cs typeface="+mn-ea"/>
              </a:rPr>
              <a:t>Flex</a:t>
            </a:r>
            <a:r>
              <a:rPr lang="zh-CN" altLang="en-US" sz="1800" dirty="0">
                <a:solidFill>
                  <a:schemeClr val="tx1">
                    <a:lumMod val="85000"/>
                    <a:lumOff val="15000"/>
                  </a:schemeClr>
                </a:solidFill>
                <a:latin typeface="微软雅黑" panose="020B0503020204020204" pitchFamily="34" charset="-122"/>
                <a:ea typeface="微软雅黑" panose="020B0503020204020204" pitchFamily="34" charset="-122"/>
                <a:cs typeface="+mn-ea"/>
              </a:rPr>
              <a:t>（弹性布局）：可以通过</a:t>
            </a:r>
            <a:r>
              <a:rPr lang="en-US" altLang="zh-CN" sz="1800" dirty="0">
                <a:solidFill>
                  <a:schemeClr val="tx1">
                    <a:lumMod val="85000"/>
                    <a:lumOff val="15000"/>
                  </a:schemeClr>
                </a:solidFill>
                <a:latin typeface="微软雅黑" panose="020B0503020204020204" pitchFamily="34" charset="-122"/>
                <a:ea typeface="微软雅黑" panose="020B0503020204020204" pitchFamily="34" charset="-122"/>
                <a:cs typeface="+mn-ea"/>
              </a:rPr>
              <a:t>direction</a:t>
            </a:r>
            <a:r>
              <a:rPr lang="zh-CN" altLang="en-US" sz="1800" dirty="0">
                <a:solidFill>
                  <a:schemeClr val="tx1">
                    <a:lumMod val="85000"/>
                    <a:lumOff val="15000"/>
                  </a:schemeClr>
                </a:solidFill>
                <a:latin typeface="微软雅黑" panose="020B0503020204020204" pitchFamily="34" charset="-122"/>
                <a:ea typeface="微软雅黑" panose="020B0503020204020204" pitchFamily="34" charset="-122"/>
                <a:cs typeface="+mn-ea"/>
              </a:rPr>
              <a:t>参数改变主轴的方向</a:t>
            </a:r>
            <a:endParaRPr lang="en-US" altLang="zh-CN" sz="1800" dirty="0">
              <a:solidFill>
                <a:schemeClr val="tx1">
                  <a:lumMod val="85000"/>
                  <a:lumOff val="15000"/>
                </a:schemeClr>
              </a:solidFill>
              <a:latin typeface="微软雅黑" panose="020B0503020204020204" pitchFamily="34" charset="-122"/>
              <a:ea typeface="微软雅黑" panose="020B0503020204020204" pitchFamily="34" charset="-122"/>
              <a:cs typeface="+mn-ea"/>
            </a:endParaRPr>
          </a:p>
          <a:p>
            <a:pPr marL="952500" lvl="1" indent="-342900">
              <a:lnSpc>
                <a:spcPct val="150000"/>
              </a:lnSpc>
              <a:spcBef>
                <a:spcPts val="2400"/>
              </a:spcBef>
              <a:buFont typeface="Wingdings" panose="05000000000000000000" pitchFamily="2" charset="2"/>
              <a:buChar char="u"/>
            </a:pPr>
            <a:r>
              <a:rPr lang="en-US" altLang="zh-CN" sz="1800" dirty="0">
                <a:solidFill>
                  <a:schemeClr val="tx1">
                    <a:lumMod val="85000"/>
                    <a:lumOff val="15000"/>
                  </a:schemeClr>
                </a:solidFill>
                <a:latin typeface="微软雅黑" panose="020B0503020204020204" pitchFamily="34" charset="-122"/>
                <a:ea typeface="微软雅黑" panose="020B0503020204020204" pitchFamily="34" charset="-122"/>
                <a:cs typeface="+mn-ea"/>
              </a:rPr>
              <a:t>Stack</a:t>
            </a:r>
            <a:r>
              <a:rPr lang="zh-CN" altLang="en-US" sz="1800" dirty="0">
                <a:solidFill>
                  <a:schemeClr val="tx1">
                    <a:lumMod val="85000"/>
                    <a:lumOff val="15000"/>
                  </a:schemeClr>
                </a:solidFill>
                <a:latin typeface="微软雅黑" panose="020B0503020204020204" pitchFamily="34" charset="-122"/>
                <a:ea typeface="微软雅黑" panose="020B0503020204020204" pitchFamily="34" charset="-122"/>
                <a:cs typeface="+mn-ea"/>
              </a:rPr>
              <a:t>： 容器中没有明确的主轴与交叉轴，通过设置 </a:t>
            </a:r>
            <a:r>
              <a:rPr lang="en-US" altLang="zh-CN" sz="1800" dirty="0" err="1">
                <a:solidFill>
                  <a:schemeClr val="tx1">
                    <a:lumMod val="85000"/>
                    <a:lumOff val="15000"/>
                  </a:schemeClr>
                </a:solidFill>
                <a:latin typeface="微软雅黑" panose="020B0503020204020204" pitchFamily="34" charset="-122"/>
                <a:ea typeface="微软雅黑" panose="020B0503020204020204" pitchFamily="34" charset="-122"/>
                <a:cs typeface="+mn-ea"/>
              </a:rPr>
              <a:t>alignContent</a:t>
            </a:r>
            <a:r>
              <a:rPr lang="zh-CN" altLang="en-US" sz="1800" dirty="0">
                <a:solidFill>
                  <a:schemeClr val="tx1">
                    <a:lumMod val="85000"/>
                    <a:lumOff val="15000"/>
                  </a:schemeClr>
                </a:solidFill>
                <a:latin typeface="微软雅黑" panose="020B0503020204020204" pitchFamily="34" charset="-122"/>
                <a:ea typeface="微软雅黑" panose="020B0503020204020204" pitchFamily="34" charset="-122"/>
                <a:cs typeface="+mn-ea"/>
              </a:rPr>
              <a:t>参数来改变容器内组件的对齐方式</a:t>
            </a:r>
            <a:endParaRPr lang="en-US" altLang="zh-CN" sz="1800" dirty="0">
              <a:solidFill>
                <a:schemeClr val="tx1">
                  <a:lumMod val="85000"/>
                  <a:lumOff val="15000"/>
                </a:schemeClr>
              </a:solidFill>
              <a:latin typeface="微软雅黑" panose="020B0503020204020204" pitchFamily="34" charset="-122"/>
              <a:ea typeface="微软雅黑" panose="020B0503020204020204" pitchFamily="34" charset="-122"/>
              <a:cs typeface="+mn-ea"/>
            </a:endParaRPr>
          </a:p>
        </p:txBody>
      </p:sp>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容器组件</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6"/>
          <p:cNvSpPr>
            <a:spLocks noChangeArrowheads="1"/>
          </p:cNvSpPr>
          <p:nvPr/>
        </p:nvSpPr>
        <p:spPr bwMode="auto">
          <a:xfrm>
            <a:off x="1198662" y="1125538"/>
            <a:ext cx="9286788" cy="3939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indent="-342900">
              <a:spcBef>
                <a:spcPts val="2400"/>
              </a:spcBef>
              <a:buFont typeface="Wingdings" panose="05000000000000000000" pitchFamily="2" charset="2"/>
              <a:buChar char="l"/>
            </a:pP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布局容器中，默认存在两个轴</a:t>
            </a:r>
            <a:endParaRPr lang="en-US"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mn-ea"/>
            </a:endParaRPr>
          </a:p>
          <a:p>
            <a:pPr marL="952500" lvl="1" indent="-342900">
              <a:spcBef>
                <a:spcPts val="2400"/>
              </a:spcBef>
              <a:buFont typeface="Wingdings" panose="05000000000000000000" pitchFamily="2" charset="2"/>
              <a:buChar char="u"/>
            </a:pPr>
            <a:r>
              <a:rPr lang="zh-CN" altLang="en-US" sz="1800" dirty="0">
                <a:solidFill>
                  <a:schemeClr val="tx1">
                    <a:lumMod val="85000"/>
                    <a:lumOff val="15000"/>
                  </a:schemeClr>
                </a:solidFill>
                <a:latin typeface="微软雅黑" panose="020B0503020204020204" pitchFamily="34" charset="-122"/>
                <a:ea typeface="微软雅黑" panose="020B0503020204020204" pitchFamily="34" charset="-122"/>
                <a:cs typeface="+mn-ea"/>
              </a:rPr>
              <a:t>主轴</a:t>
            </a:r>
            <a:endParaRPr lang="en-US" altLang="zh-CN" sz="1800" dirty="0">
              <a:solidFill>
                <a:schemeClr val="tx1">
                  <a:lumMod val="85000"/>
                  <a:lumOff val="15000"/>
                </a:schemeClr>
              </a:solidFill>
              <a:latin typeface="微软雅黑" panose="020B0503020204020204" pitchFamily="34" charset="-122"/>
              <a:ea typeface="微软雅黑" panose="020B0503020204020204" pitchFamily="34" charset="-122"/>
              <a:cs typeface="+mn-ea"/>
            </a:endParaRPr>
          </a:p>
          <a:p>
            <a:pPr marL="952500" lvl="1" indent="-342900">
              <a:spcBef>
                <a:spcPts val="2400"/>
              </a:spcBef>
              <a:buFont typeface="Wingdings" panose="05000000000000000000" pitchFamily="2" charset="2"/>
              <a:buChar char="u"/>
            </a:pPr>
            <a:r>
              <a:rPr lang="zh-CN" altLang="en-US" sz="1800" dirty="0">
                <a:solidFill>
                  <a:schemeClr val="tx1">
                    <a:lumMod val="85000"/>
                    <a:lumOff val="15000"/>
                  </a:schemeClr>
                </a:solidFill>
                <a:latin typeface="微软雅黑" panose="020B0503020204020204" pitchFamily="34" charset="-122"/>
                <a:ea typeface="微软雅黑" panose="020B0503020204020204" pitchFamily="34" charset="-122"/>
                <a:cs typeface="+mn-ea"/>
              </a:rPr>
              <a:t>交叉轴</a:t>
            </a:r>
            <a:endParaRPr lang="en-US" altLang="zh-CN" sz="1800" dirty="0">
              <a:solidFill>
                <a:schemeClr val="tx1">
                  <a:lumMod val="85000"/>
                  <a:lumOff val="15000"/>
                </a:schemeClr>
              </a:solidFill>
              <a:latin typeface="微软雅黑" panose="020B0503020204020204" pitchFamily="34" charset="-122"/>
              <a:ea typeface="微软雅黑" panose="020B0503020204020204" pitchFamily="34" charset="-122"/>
              <a:cs typeface="+mn-ea"/>
            </a:endParaRPr>
          </a:p>
          <a:p>
            <a:pPr marL="952500" lvl="1" indent="-342900">
              <a:spcBef>
                <a:spcPts val="2400"/>
              </a:spcBef>
              <a:buFont typeface="Wingdings" panose="05000000000000000000" pitchFamily="2" charset="2"/>
              <a:buChar char="u"/>
            </a:pPr>
            <a:endParaRPr lang="en-US" altLang="zh-CN" sz="1800" dirty="0">
              <a:solidFill>
                <a:schemeClr val="tx1">
                  <a:lumMod val="85000"/>
                  <a:lumOff val="15000"/>
                </a:schemeClr>
              </a:solidFill>
              <a:latin typeface="微软雅黑" panose="020B0503020204020204" pitchFamily="34" charset="-122"/>
              <a:ea typeface="微软雅黑" panose="020B0503020204020204" pitchFamily="34" charset="-122"/>
              <a:cs typeface="+mn-ea"/>
            </a:endParaRPr>
          </a:p>
          <a:p>
            <a:pPr marL="952500" lvl="1" indent="-342900">
              <a:spcBef>
                <a:spcPts val="2400"/>
              </a:spcBef>
              <a:buFont typeface="Wingdings" panose="05000000000000000000" pitchFamily="2" charset="2"/>
              <a:buChar char="u"/>
            </a:pPr>
            <a:r>
              <a:rPr lang="zh-CN" altLang="en-US" sz="1800" dirty="0">
                <a:solidFill>
                  <a:schemeClr val="tx1">
                    <a:lumMod val="85000"/>
                    <a:lumOff val="15000"/>
                  </a:schemeClr>
                </a:solidFill>
                <a:latin typeface="微软雅黑" panose="020B0503020204020204" pitchFamily="34" charset="-122"/>
                <a:ea typeface="微软雅黑" panose="020B0503020204020204" pitchFamily="34" charset="-122"/>
                <a:cs typeface="+mn-ea"/>
              </a:rPr>
              <a:t>主轴和交叉轴互相垂直</a:t>
            </a:r>
            <a:endParaRPr lang="en-US" altLang="zh-CN" sz="1800" dirty="0">
              <a:solidFill>
                <a:schemeClr val="tx1">
                  <a:lumMod val="85000"/>
                  <a:lumOff val="15000"/>
                </a:schemeClr>
              </a:solidFill>
              <a:latin typeface="微软雅黑" panose="020B0503020204020204" pitchFamily="34" charset="-122"/>
              <a:ea typeface="微软雅黑" panose="020B0503020204020204" pitchFamily="34" charset="-122"/>
              <a:cs typeface="+mn-ea"/>
            </a:endParaRPr>
          </a:p>
          <a:p>
            <a:pPr marL="952500" lvl="1" indent="-342900">
              <a:spcBef>
                <a:spcPts val="2400"/>
              </a:spcBef>
              <a:buFont typeface="Wingdings" panose="05000000000000000000" pitchFamily="2" charset="2"/>
              <a:buChar char="u"/>
            </a:pPr>
            <a:r>
              <a:rPr lang="en-US" altLang="zh-CN" sz="1800" dirty="0">
                <a:solidFill>
                  <a:schemeClr val="tx1">
                    <a:lumMod val="85000"/>
                    <a:lumOff val="15000"/>
                  </a:schemeClr>
                </a:solidFill>
                <a:latin typeface="微软雅黑" panose="020B0503020204020204" pitchFamily="34" charset="-122"/>
                <a:ea typeface="微软雅黑" panose="020B0503020204020204" pitchFamily="34" charset="-122"/>
                <a:cs typeface="+mn-ea"/>
              </a:rPr>
              <a:t>Stack</a:t>
            </a:r>
            <a:r>
              <a:rPr lang="zh-CN" altLang="en-US" sz="1800" dirty="0">
                <a:solidFill>
                  <a:schemeClr val="tx1">
                    <a:lumMod val="85000"/>
                    <a:lumOff val="15000"/>
                  </a:schemeClr>
                </a:solidFill>
                <a:latin typeface="微软雅黑" panose="020B0503020204020204" pitchFamily="34" charset="-122"/>
                <a:ea typeface="微软雅黑" panose="020B0503020204020204" pitchFamily="34" charset="-122"/>
                <a:cs typeface="+mn-ea"/>
              </a:rPr>
              <a:t>比较特殊，它没有明确的主轴与交叉轴</a:t>
            </a:r>
          </a:p>
          <a:p>
            <a:pPr marL="342900" indent="-342900">
              <a:spcBef>
                <a:spcPts val="2400"/>
              </a:spcBef>
              <a:buFont typeface="Wingdings" panose="05000000000000000000" pitchFamily="2" charset="2"/>
              <a:buChar char="l"/>
            </a:pPr>
            <a:endParaRPr lang="en-US"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mn-ea"/>
            </a:endParaRPr>
          </a:p>
        </p:txBody>
      </p:sp>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主轴和交叉轴</a:t>
            </a:r>
          </a:p>
        </p:txBody>
      </p:sp>
    </p:spTree>
    <p:extLst>
      <p:ext uri="{BB962C8B-B14F-4D97-AF65-F5344CB8AC3E}">
        <p14:creationId xmlns:p14="http://schemas.microsoft.com/office/powerpoint/2010/main" val="263980470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6"/>
          <p:cNvSpPr>
            <a:spLocks noChangeArrowheads="1"/>
          </p:cNvSpPr>
          <p:nvPr/>
        </p:nvSpPr>
        <p:spPr bwMode="auto">
          <a:xfrm>
            <a:off x="910631" y="1125538"/>
            <a:ext cx="4896544" cy="4062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indent="-342900">
              <a:spcBef>
                <a:spcPts val="2400"/>
              </a:spcBef>
              <a:buFont typeface="Wingdings" panose="05000000000000000000" pitchFamily="2" charset="2"/>
              <a:buChar char="l"/>
            </a:pPr>
            <a:endParaRPr lang="en-US"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mn-ea"/>
            </a:endParaRPr>
          </a:p>
          <a:p>
            <a:pPr marL="342900" indent="-342900">
              <a:spcBef>
                <a:spcPts val="2400"/>
              </a:spcBef>
              <a:buFont typeface="Wingdings" panose="05000000000000000000" pitchFamily="2" charset="2"/>
              <a:buChar char="l"/>
            </a:pP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主轴为水平方向，交叉轴为垂直方向。</a:t>
            </a:r>
            <a:endParaRPr lang="en-US"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mn-ea"/>
            </a:endParaRPr>
          </a:p>
          <a:p>
            <a:pPr marL="342900" indent="-342900">
              <a:spcBef>
                <a:spcPts val="2400"/>
              </a:spcBef>
              <a:buFont typeface="Wingdings" panose="05000000000000000000" pitchFamily="2" charset="2"/>
              <a:buChar char="l"/>
            </a:pPr>
            <a:endParaRPr lang="en-US"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mn-ea"/>
            </a:endParaRPr>
          </a:p>
          <a:p>
            <a:pPr>
              <a:spcBef>
                <a:spcPts val="2400"/>
              </a:spcBef>
            </a:pPr>
            <a:endParaRPr lang="en-US"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mn-ea"/>
            </a:endParaRPr>
          </a:p>
          <a:p>
            <a:pPr>
              <a:spcBef>
                <a:spcPts val="2400"/>
              </a:spcBef>
            </a:pPr>
            <a:endParaRPr lang="en-US"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mn-ea"/>
            </a:endParaRPr>
          </a:p>
          <a:p>
            <a:pPr marL="342900" indent="-342900">
              <a:spcBef>
                <a:spcPts val="2400"/>
              </a:spcBef>
              <a:buFont typeface="Wingdings" panose="05000000000000000000" pitchFamily="2" charset="2"/>
              <a:buChar char="l"/>
            </a:pP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可选参数：</a:t>
            </a:r>
            <a:endParaRPr lang="en-US" altLang="zh-CN" sz="1800" dirty="0">
              <a:solidFill>
                <a:schemeClr val="tx1">
                  <a:lumMod val="85000"/>
                  <a:lumOff val="15000"/>
                </a:schemeClr>
              </a:solidFill>
              <a:latin typeface="微软雅黑" panose="020B0503020204020204" pitchFamily="34" charset="-122"/>
              <a:ea typeface="微软雅黑" panose="020B0503020204020204" pitchFamily="34" charset="-122"/>
              <a:cs typeface="+mn-ea"/>
            </a:endParaRPr>
          </a:p>
          <a:p>
            <a:pPr marL="952500" lvl="1" indent="-342900">
              <a:spcBef>
                <a:spcPts val="2400"/>
              </a:spcBef>
              <a:buFont typeface="Wingdings" panose="05000000000000000000" pitchFamily="2" charset="2"/>
              <a:buChar char="u"/>
            </a:pPr>
            <a:r>
              <a:rPr lang="en-US" altLang="zh-CN" sz="1800" dirty="0">
                <a:solidFill>
                  <a:srgbClr val="008DF6"/>
                </a:solidFill>
                <a:latin typeface="微软雅黑" panose="020B0503020204020204" pitchFamily="34" charset="-122"/>
                <a:ea typeface="微软雅黑" panose="020B0503020204020204" pitchFamily="34" charset="-122"/>
                <a:cs typeface="+mn-ea"/>
              </a:rPr>
              <a:t>space</a:t>
            </a:r>
            <a:r>
              <a:rPr lang="en-US" altLang="zh-CN" sz="1800" dirty="0">
                <a:solidFill>
                  <a:schemeClr val="tx1">
                    <a:lumMod val="85000"/>
                    <a:lumOff val="15000"/>
                  </a:schemeClr>
                </a:solidFill>
                <a:latin typeface="微软雅黑" panose="020B0503020204020204" pitchFamily="34" charset="-122"/>
                <a:ea typeface="微软雅黑" panose="020B0503020204020204" pitchFamily="34" charset="-122"/>
                <a:cs typeface="+mn-ea"/>
              </a:rPr>
              <a:t>: </a:t>
            </a:r>
            <a:r>
              <a:rPr lang="zh-CN" altLang="en-US" sz="1800" dirty="0">
                <a:solidFill>
                  <a:schemeClr val="tx1">
                    <a:lumMod val="85000"/>
                    <a:lumOff val="15000"/>
                  </a:schemeClr>
                </a:solidFill>
                <a:latin typeface="微软雅黑" panose="020B0503020204020204" pitchFamily="34" charset="-122"/>
                <a:ea typeface="微软雅黑" panose="020B0503020204020204" pitchFamily="34" charset="-122"/>
                <a:cs typeface="+mn-ea"/>
              </a:rPr>
              <a:t>子组件的主轴方向上的间距</a:t>
            </a:r>
            <a:endParaRPr lang="en-US" altLang="zh-CN" sz="1800" dirty="0">
              <a:solidFill>
                <a:schemeClr val="tx1">
                  <a:lumMod val="85000"/>
                  <a:lumOff val="15000"/>
                </a:schemeClr>
              </a:solidFill>
              <a:latin typeface="微软雅黑" panose="020B0503020204020204" pitchFamily="34" charset="-122"/>
              <a:ea typeface="微软雅黑" panose="020B0503020204020204" pitchFamily="34" charset="-122"/>
              <a:cs typeface="+mn-ea"/>
            </a:endParaRPr>
          </a:p>
        </p:txBody>
      </p:sp>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Row</a:t>
            </a:r>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（水平布局）</a:t>
            </a:r>
          </a:p>
        </p:txBody>
      </p:sp>
      <p:pic>
        <p:nvPicPr>
          <p:cNvPr id="3" name="图片 2">
            <a:extLst>
              <a:ext uri="{FF2B5EF4-FFF2-40B4-BE49-F238E27FC236}">
                <a16:creationId xmlns:a16="http://schemas.microsoft.com/office/drawing/2014/main" id="{33FE0C15-4C5D-4684-944A-0BF429D6017E}"/>
              </a:ext>
            </a:extLst>
          </p:cNvPr>
          <p:cNvPicPr>
            <a:picLocks noChangeAspect="1"/>
          </p:cNvPicPr>
          <p:nvPr/>
        </p:nvPicPr>
        <p:blipFill>
          <a:blip r:embed="rId2"/>
          <a:stretch>
            <a:fillRect/>
          </a:stretch>
        </p:blipFill>
        <p:spPr>
          <a:xfrm>
            <a:off x="6023198" y="981522"/>
            <a:ext cx="4035321" cy="2520280"/>
          </a:xfrm>
          <a:prstGeom prst="rect">
            <a:avLst/>
          </a:prstGeom>
        </p:spPr>
      </p:pic>
      <p:pic>
        <p:nvPicPr>
          <p:cNvPr id="4" name="图片 3">
            <a:extLst>
              <a:ext uri="{FF2B5EF4-FFF2-40B4-BE49-F238E27FC236}">
                <a16:creationId xmlns:a16="http://schemas.microsoft.com/office/drawing/2014/main" id="{0FC28B62-50BA-4FDE-AFDE-DF0E0D1446E7}"/>
              </a:ext>
            </a:extLst>
          </p:cNvPr>
          <p:cNvPicPr>
            <a:picLocks noChangeAspect="1"/>
          </p:cNvPicPr>
          <p:nvPr/>
        </p:nvPicPr>
        <p:blipFill>
          <a:blip r:embed="rId3"/>
          <a:stretch>
            <a:fillRect/>
          </a:stretch>
        </p:blipFill>
        <p:spPr>
          <a:xfrm>
            <a:off x="5663158" y="4173776"/>
            <a:ext cx="5495925" cy="2028825"/>
          </a:xfrm>
          <a:prstGeom prst="rect">
            <a:avLst/>
          </a:prstGeom>
        </p:spPr>
      </p:pic>
    </p:spTree>
    <p:extLst>
      <p:ext uri="{BB962C8B-B14F-4D97-AF65-F5344CB8AC3E}">
        <p14:creationId xmlns:p14="http://schemas.microsoft.com/office/powerpoint/2010/main" val="353411540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6"/>
          <p:cNvSpPr>
            <a:spLocks noChangeArrowheads="1"/>
          </p:cNvSpPr>
          <p:nvPr/>
        </p:nvSpPr>
        <p:spPr bwMode="auto">
          <a:xfrm>
            <a:off x="610853" y="1108076"/>
            <a:ext cx="6120680" cy="26468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indent="-342900">
              <a:spcBef>
                <a:spcPts val="2400"/>
              </a:spcBef>
              <a:buFont typeface="Wingdings" panose="05000000000000000000" pitchFamily="2" charset="2"/>
              <a:buChar char="l"/>
            </a:pP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主要属性</a:t>
            </a:r>
            <a:endParaRPr lang="en-US"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mn-ea"/>
            </a:endParaRPr>
          </a:p>
          <a:p>
            <a:pPr marL="952500" lvl="1" indent="-342900">
              <a:spcBef>
                <a:spcPts val="2400"/>
              </a:spcBef>
              <a:buFont typeface="Wingdings" panose="05000000000000000000" pitchFamily="2" charset="2"/>
              <a:buChar char="u"/>
            </a:pPr>
            <a:r>
              <a:rPr lang="en-US" altLang="zh-CN" sz="1800" dirty="0">
                <a:solidFill>
                  <a:srgbClr val="008DF6"/>
                </a:solidFill>
                <a:latin typeface="微软雅黑" panose="020B0503020204020204" pitchFamily="34" charset="-122"/>
                <a:ea typeface="微软雅黑" panose="020B0503020204020204" pitchFamily="34" charset="-122"/>
                <a:cs typeface="+mn-ea"/>
              </a:rPr>
              <a:t>alignItems</a:t>
            </a:r>
            <a:r>
              <a:rPr lang="en-US" altLang="zh-CN" sz="1800" dirty="0">
                <a:solidFill>
                  <a:schemeClr val="tx1">
                    <a:lumMod val="85000"/>
                    <a:lumOff val="15000"/>
                  </a:schemeClr>
                </a:solidFill>
                <a:latin typeface="微软雅黑" panose="020B0503020204020204" pitchFamily="34" charset="-122"/>
                <a:ea typeface="微软雅黑" panose="020B0503020204020204" pitchFamily="34" charset="-122"/>
                <a:cs typeface="+mn-ea"/>
              </a:rPr>
              <a:t>: </a:t>
            </a:r>
            <a:r>
              <a:rPr lang="zh-CN" altLang="en-US" sz="1800" dirty="0">
                <a:solidFill>
                  <a:schemeClr val="tx1">
                    <a:lumMod val="85000"/>
                    <a:lumOff val="15000"/>
                  </a:schemeClr>
                </a:solidFill>
                <a:latin typeface="微软雅黑" panose="020B0503020204020204" pitchFamily="34" charset="-122"/>
                <a:ea typeface="微软雅黑" panose="020B0503020204020204" pitchFamily="34" charset="-122"/>
                <a:cs typeface="+mn-ea"/>
              </a:rPr>
              <a:t>子组件在交叉轴方向的对齐方式</a:t>
            </a:r>
            <a:endParaRPr lang="en-US" altLang="zh-CN" sz="1800" dirty="0">
              <a:solidFill>
                <a:schemeClr val="tx1">
                  <a:lumMod val="85000"/>
                  <a:lumOff val="15000"/>
                </a:schemeClr>
              </a:solidFill>
              <a:latin typeface="微软雅黑" panose="020B0503020204020204" pitchFamily="34" charset="-122"/>
              <a:ea typeface="微软雅黑" panose="020B0503020204020204" pitchFamily="34" charset="-122"/>
              <a:cs typeface="+mn-ea"/>
            </a:endParaRPr>
          </a:p>
          <a:p>
            <a:pPr marL="1562100" lvl="2" indent="-342900">
              <a:spcBef>
                <a:spcPts val="2400"/>
              </a:spcBef>
              <a:buFont typeface="Wingdings" panose="05000000000000000000" pitchFamily="2" charset="2"/>
              <a:buChar char="l"/>
            </a:pPr>
            <a:r>
              <a:rPr lang="en-US" altLang="zh-CN" sz="1600" dirty="0">
                <a:solidFill>
                  <a:srgbClr val="008DF6"/>
                </a:solidFill>
                <a:latin typeface="微软雅黑" panose="020B0503020204020204" pitchFamily="34" charset="-122"/>
                <a:ea typeface="微软雅黑" panose="020B0503020204020204" pitchFamily="34" charset="-122"/>
                <a:cs typeface="+mn-ea"/>
              </a:rPr>
              <a:t>VerticalAlign.Top</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cs typeface="+mn-ea"/>
              </a:rPr>
              <a:t>：顶部对齐</a:t>
            </a:r>
            <a:endParaRPr lang="en-US" altLang="zh-CN" sz="1600" dirty="0">
              <a:solidFill>
                <a:schemeClr val="tx1">
                  <a:lumMod val="85000"/>
                  <a:lumOff val="15000"/>
                </a:schemeClr>
              </a:solidFill>
              <a:latin typeface="微软雅黑" panose="020B0503020204020204" pitchFamily="34" charset="-122"/>
              <a:ea typeface="微软雅黑" panose="020B0503020204020204" pitchFamily="34" charset="-122"/>
              <a:cs typeface="+mn-ea"/>
            </a:endParaRPr>
          </a:p>
          <a:p>
            <a:pPr marL="1562100" lvl="2" indent="-342900">
              <a:spcBef>
                <a:spcPts val="2400"/>
              </a:spcBef>
              <a:buFont typeface="Wingdings" panose="05000000000000000000" pitchFamily="2" charset="2"/>
              <a:buChar char="l"/>
            </a:pPr>
            <a:r>
              <a:rPr lang="en-US" altLang="zh-CN" sz="1600" dirty="0">
                <a:solidFill>
                  <a:srgbClr val="008DF6"/>
                </a:solidFill>
                <a:latin typeface="微软雅黑" panose="020B0503020204020204" pitchFamily="34" charset="-122"/>
                <a:ea typeface="微软雅黑" panose="020B0503020204020204" pitchFamily="34" charset="-122"/>
                <a:cs typeface="+mn-ea"/>
              </a:rPr>
              <a:t>VerticalAlign.Center</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cs typeface="+mn-ea"/>
              </a:rPr>
              <a:t>：居中对齐</a:t>
            </a:r>
            <a:endParaRPr lang="en-US" altLang="zh-CN" sz="1600" dirty="0">
              <a:solidFill>
                <a:schemeClr val="tx1">
                  <a:lumMod val="85000"/>
                  <a:lumOff val="15000"/>
                </a:schemeClr>
              </a:solidFill>
              <a:latin typeface="微软雅黑" panose="020B0503020204020204" pitchFamily="34" charset="-122"/>
              <a:ea typeface="微软雅黑" panose="020B0503020204020204" pitchFamily="34" charset="-122"/>
              <a:cs typeface="+mn-ea"/>
            </a:endParaRPr>
          </a:p>
          <a:p>
            <a:pPr marL="1562100" lvl="2" indent="-342900">
              <a:spcBef>
                <a:spcPts val="2400"/>
              </a:spcBef>
              <a:buFont typeface="Wingdings" panose="05000000000000000000" pitchFamily="2" charset="2"/>
              <a:buChar char="l"/>
            </a:pPr>
            <a:r>
              <a:rPr lang="en-US" altLang="zh-CN" sz="1600" dirty="0">
                <a:solidFill>
                  <a:srgbClr val="008DF6"/>
                </a:solidFill>
                <a:latin typeface="微软雅黑" panose="020B0503020204020204" pitchFamily="34" charset="-122"/>
                <a:ea typeface="微软雅黑" panose="020B0503020204020204" pitchFamily="34" charset="-122"/>
                <a:cs typeface="+mn-ea"/>
              </a:rPr>
              <a:t>VerticalAlign.Bottom</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cs typeface="+mn-ea"/>
              </a:rPr>
              <a:t>：底部对齐</a:t>
            </a:r>
            <a:endParaRPr lang="en-US" altLang="zh-CN" sz="1600" dirty="0">
              <a:solidFill>
                <a:schemeClr val="tx1">
                  <a:lumMod val="85000"/>
                  <a:lumOff val="15000"/>
                </a:schemeClr>
              </a:solidFill>
              <a:latin typeface="微软雅黑" panose="020B0503020204020204" pitchFamily="34" charset="-122"/>
              <a:ea typeface="微软雅黑" panose="020B0503020204020204" pitchFamily="34" charset="-122"/>
              <a:cs typeface="+mn-ea"/>
            </a:endParaRPr>
          </a:p>
        </p:txBody>
      </p:sp>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Row</a:t>
            </a:r>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（水平布局）</a:t>
            </a:r>
          </a:p>
        </p:txBody>
      </p:sp>
      <p:pic>
        <p:nvPicPr>
          <p:cNvPr id="5" name="图片 4">
            <a:extLst>
              <a:ext uri="{FF2B5EF4-FFF2-40B4-BE49-F238E27FC236}">
                <a16:creationId xmlns:a16="http://schemas.microsoft.com/office/drawing/2014/main" id="{63B78ABD-8949-45E9-AD38-3401735AD897}"/>
              </a:ext>
            </a:extLst>
          </p:cNvPr>
          <p:cNvPicPr>
            <a:picLocks noChangeAspect="1"/>
          </p:cNvPicPr>
          <p:nvPr/>
        </p:nvPicPr>
        <p:blipFill>
          <a:blip r:embed="rId2"/>
          <a:stretch>
            <a:fillRect/>
          </a:stretch>
        </p:blipFill>
        <p:spPr>
          <a:xfrm>
            <a:off x="6338453" y="1341562"/>
            <a:ext cx="5184576" cy="3004213"/>
          </a:xfrm>
          <a:prstGeom prst="rect">
            <a:avLst/>
          </a:prstGeom>
        </p:spPr>
      </p:pic>
      <p:pic>
        <p:nvPicPr>
          <p:cNvPr id="6" name="图片 5">
            <a:extLst>
              <a:ext uri="{FF2B5EF4-FFF2-40B4-BE49-F238E27FC236}">
                <a16:creationId xmlns:a16="http://schemas.microsoft.com/office/drawing/2014/main" id="{B63BE167-7423-40AC-983F-9D19C6750463}"/>
              </a:ext>
            </a:extLst>
          </p:cNvPr>
          <p:cNvPicPr>
            <a:picLocks noChangeAspect="1"/>
          </p:cNvPicPr>
          <p:nvPr/>
        </p:nvPicPr>
        <p:blipFill>
          <a:blip r:embed="rId3"/>
          <a:stretch>
            <a:fillRect/>
          </a:stretch>
        </p:blipFill>
        <p:spPr>
          <a:xfrm>
            <a:off x="1486694" y="4653930"/>
            <a:ext cx="9519101" cy="1442821"/>
          </a:xfrm>
          <a:prstGeom prst="rect">
            <a:avLst/>
          </a:prstGeom>
        </p:spPr>
      </p:pic>
    </p:spTree>
    <p:extLst>
      <p:ext uri="{BB962C8B-B14F-4D97-AF65-F5344CB8AC3E}">
        <p14:creationId xmlns:p14="http://schemas.microsoft.com/office/powerpoint/2010/main" val="66344988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6"/>
          <p:cNvSpPr>
            <a:spLocks noChangeArrowheads="1"/>
          </p:cNvSpPr>
          <p:nvPr/>
        </p:nvSpPr>
        <p:spPr bwMode="auto">
          <a:xfrm>
            <a:off x="1198662" y="1125538"/>
            <a:ext cx="9286788" cy="5447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952500" lvl="1" indent="-342900">
              <a:spcBef>
                <a:spcPts val="2400"/>
              </a:spcBef>
              <a:buFont typeface="Wingdings" panose="05000000000000000000" pitchFamily="2" charset="2"/>
              <a:buChar char="u"/>
            </a:pPr>
            <a:r>
              <a:rPr lang="en-US" altLang="zh-CN" sz="1800" dirty="0">
                <a:solidFill>
                  <a:srgbClr val="008DF6"/>
                </a:solidFill>
                <a:latin typeface="微软雅黑" panose="020B0503020204020204" pitchFamily="34" charset="-122"/>
                <a:ea typeface="微软雅黑" panose="020B0503020204020204" pitchFamily="34" charset="-122"/>
                <a:cs typeface="+mn-ea"/>
              </a:rPr>
              <a:t>justifyContent</a:t>
            </a:r>
            <a:r>
              <a:rPr lang="en-US" altLang="zh-CN" sz="1800" dirty="0">
                <a:solidFill>
                  <a:schemeClr val="tx1">
                    <a:lumMod val="85000"/>
                    <a:lumOff val="15000"/>
                  </a:schemeClr>
                </a:solidFill>
                <a:latin typeface="微软雅黑" panose="020B0503020204020204" pitchFamily="34" charset="-122"/>
                <a:ea typeface="微软雅黑" panose="020B0503020204020204" pitchFamily="34" charset="-122"/>
                <a:cs typeface="+mn-ea"/>
              </a:rPr>
              <a:t>: </a:t>
            </a:r>
            <a:r>
              <a:rPr lang="zh-CN" altLang="en-US" sz="1800" dirty="0">
                <a:solidFill>
                  <a:schemeClr val="tx1">
                    <a:lumMod val="85000"/>
                    <a:lumOff val="15000"/>
                  </a:schemeClr>
                </a:solidFill>
                <a:latin typeface="微软雅黑" panose="020B0503020204020204" pitchFamily="34" charset="-122"/>
                <a:ea typeface="微软雅黑" panose="020B0503020204020204" pitchFamily="34" charset="-122"/>
                <a:cs typeface="+mn-ea"/>
              </a:rPr>
              <a:t>子组件在主轴方向的对齐方式</a:t>
            </a:r>
            <a:endParaRPr lang="en-US" altLang="zh-CN" sz="1800" dirty="0">
              <a:solidFill>
                <a:schemeClr val="tx1">
                  <a:lumMod val="85000"/>
                  <a:lumOff val="15000"/>
                </a:schemeClr>
              </a:solidFill>
              <a:latin typeface="微软雅黑" panose="020B0503020204020204" pitchFamily="34" charset="-122"/>
              <a:ea typeface="微软雅黑" panose="020B0503020204020204" pitchFamily="34" charset="-122"/>
              <a:cs typeface="+mn-ea"/>
            </a:endParaRPr>
          </a:p>
          <a:p>
            <a:pPr marL="1562100" lvl="2" indent="-342900">
              <a:spcBef>
                <a:spcPts val="2400"/>
              </a:spcBef>
              <a:buFont typeface="Wingdings" panose="05000000000000000000" pitchFamily="2" charset="2"/>
              <a:buChar char="l"/>
            </a:pPr>
            <a:r>
              <a:rPr lang="en-US" altLang="zh-CN" sz="1600" dirty="0">
                <a:solidFill>
                  <a:srgbClr val="008DF6"/>
                </a:solidFill>
                <a:latin typeface="微软雅黑" panose="020B0503020204020204" pitchFamily="34" charset="-122"/>
                <a:ea typeface="微软雅黑" panose="020B0503020204020204" pitchFamily="34" charset="-122"/>
                <a:cs typeface="+mn-ea"/>
              </a:rPr>
              <a:t>FlexAlign.Start</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cs typeface="+mn-ea"/>
              </a:rPr>
              <a:t>：左对齐</a:t>
            </a:r>
            <a:endParaRPr lang="en-US" altLang="zh-CN" sz="1600" dirty="0">
              <a:solidFill>
                <a:schemeClr val="tx1">
                  <a:lumMod val="85000"/>
                  <a:lumOff val="15000"/>
                </a:schemeClr>
              </a:solidFill>
              <a:latin typeface="微软雅黑" panose="020B0503020204020204" pitchFamily="34" charset="-122"/>
              <a:ea typeface="微软雅黑" panose="020B0503020204020204" pitchFamily="34" charset="-122"/>
              <a:cs typeface="+mn-ea"/>
            </a:endParaRPr>
          </a:p>
          <a:p>
            <a:pPr marL="1562100" lvl="2" indent="-342900">
              <a:spcBef>
                <a:spcPts val="2400"/>
              </a:spcBef>
              <a:buFont typeface="Wingdings" panose="05000000000000000000" pitchFamily="2" charset="2"/>
              <a:buChar char="l"/>
            </a:pPr>
            <a:r>
              <a:rPr lang="en-US" altLang="zh-CN" sz="1600" dirty="0">
                <a:solidFill>
                  <a:srgbClr val="008DF6"/>
                </a:solidFill>
                <a:latin typeface="微软雅黑" panose="020B0503020204020204" pitchFamily="34" charset="-122"/>
                <a:ea typeface="微软雅黑" panose="020B0503020204020204" pitchFamily="34" charset="-122"/>
                <a:cs typeface="+mn-ea"/>
              </a:rPr>
              <a:t>FlexAlign.Center</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cs typeface="+mn-ea"/>
              </a:rPr>
              <a:t>：居中对齐</a:t>
            </a:r>
            <a:endParaRPr lang="en-US" altLang="zh-CN" sz="1600" dirty="0">
              <a:solidFill>
                <a:schemeClr val="tx1">
                  <a:lumMod val="85000"/>
                  <a:lumOff val="15000"/>
                </a:schemeClr>
              </a:solidFill>
              <a:latin typeface="微软雅黑" panose="020B0503020204020204" pitchFamily="34" charset="-122"/>
              <a:ea typeface="微软雅黑" panose="020B0503020204020204" pitchFamily="34" charset="-122"/>
              <a:cs typeface="+mn-ea"/>
            </a:endParaRPr>
          </a:p>
          <a:p>
            <a:pPr marL="1562100" lvl="2" indent="-342900">
              <a:spcBef>
                <a:spcPts val="2400"/>
              </a:spcBef>
              <a:buFont typeface="Wingdings" panose="05000000000000000000" pitchFamily="2" charset="2"/>
              <a:buChar char="l"/>
            </a:pPr>
            <a:r>
              <a:rPr lang="en-US" altLang="zh-CN" sz="1600" dirty="0">
                <a:solidFill>
                  <a:srgbClr val="008DF6"/>
                </a:solidFill>
                <a:latin typeface="微软雅黑" panose="020B0503020204020204" pitchFamily="34" charset="-122"/>
                <a:ea typeface="微软雅黑" panose="020B0503020204020204" pitchFamily="34" charset="-122"/>
                <a:cs typeface="+mn-ea"/>
              </a:rPr>
              <a:t>FlexAlign.End</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cs typeface="+mn-ea"/>
              </a:rPr>
              <a:t>：右对齐</a:t>
            </a:r>
            <a:endParaRPr lang="en-US" altLang="zh-CN" sz="1600" dirty="0">
              <a:solidFill>
                <a:schemeClr val="tx1">
                  <a:lumMod val="85000"/>
                  <a:lumOff val="15000"/>
                </a:schemeClr>
              </a:solidFill>
              <a:latin typeface="微软雅黑" panose="020B0503020204020204" pitchFamily="34" charset="-122"/>
              <a:ea typeface="微软雅黑" panose="020B0503020204020204" pitchFamily="34" charset="-122"/>
              <a:cs typeface="+mn-ea"/>
            </a:endParaRPr>
          </a:p>
          <a:p>
            <a:pPr marL="1562100" lvl="2" indent="-342900">
              <a:spcBef>
                <a:spcPts val="2400"/>
              </a:spcBef>
              <a:buFont typeface="Wingdings" panose="05000000000000000000" pitchFamily="2" charset="2"/>
              <a:buChar char="l"/>
            </a:pPr>
            <a:r>
              <a:rPr lang="en-US" altLang="zh-CN" sz="1600" dirty="0">
                <a:solidFill>
                  <a:srgbClr val="008DF6"/>
                </a:solidFill>
                <a:latin typeface="微软雅黑" panose="020B0503020204020204" pitchFamily="34" charset="-122"/>
                <a:ea typeface="微软雅黑" panose="020B0503020204020204" pitchFamily="34" charset="-122"/>
                <a:cs typeface="+mn-ea"/>
              </a:rPr>
              <a:t>FlexAlign.SpaceBetween</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cs typeface="+mn-ea"/>
              </a:rPr>
              <a:t>：两端对齐</a:t>
            </a:r>
            <a:endParaRPr lang="en-US" altLang="zh-CN" sz="1600" dirty="0">
              <a:solidFill>
                <a:schemeClr val="tx1">
                  <a:lumMod val="85000"/>
                  <a:lumOff val="15000"/>
                </a:schemeClr>
              </a:solidFill>
              <a:latin typeface="微软雅黑" panose="020B0503020204020204" pitchFamily="34" charset="-122"/>
              <a:ea typeface="微软雅黑" panose="020B0503020204020204" pitchFamily="34" charset="-122"/>
              <a:cs typeface="+mn-ea"/>
            </a:endParaRPr>
          </a:p>
          <a:p>
            <a:pPr marL="1562100" lvl="2" indent="-342900">
              <a:spcBef>
                <a:spcPts val="2400"/>
              </a:spcBef>
              <a:buFont typeface="Wingdings" panose="05000000000000000000" pitchFamily="2" charset="2"/>
              <a:buChar char="l"/>
            </a:pPr>
            <a:r>
              <a:rPr lang="en-US" altLang="zh-CN" sz="1600" dirty="0">
                <a:solidFill>
                  <a:srgbClr val="008DF6"/>
                </a:solidFill>
                <a:latin typeface="微软雅黑" panose="020B0503020204020204" pitchFamily="34" charset="-122"/>
                <a:ea typeface="微软雅黑" panose="020B0503020204020204" pitchFamily="34" charset="-122"/>
                <a:cs typeface="+mn-ea"/>
              </a:rPr>
              <a:t>FlexAlign. SpaceAround</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cs typeface="+mn-ea"/>
              </a:rPr>
              <a:t>：不均分对齐。首位两端间距为中间组件间距的一半</a:t>
            </a:r>
            <a:endParaRPr lang="en-US" altLang="zh-CN" sz="1600" dirty="0">
              <a:solidFill>
                <a:schemeClr val="tx1">
                  <a:lumMod val="85000"/>
                  <a:lumOff val="15000"/>
                </a:schemeClr>
              </a:solidFill>
              <a:latin typeface="微软雅黑" panose="020B0503020204020204" pitchFamily="34" charset="-122"/>
              <a:ea typeface="微软雅黑" panose="020B0503020204020204" pitchFamily="34" charset="-122"/>
              <a:cs typeface="+mn-ea"/>
            </a:endParaRPr>
          </a:p>
          <a:p>
            <a:pPr marL="1562100" lvl="2" indent="-342900">
              <a:spcBef>
                <a:spcPts val="2400"/>
              </a:spcBef>
              <a:buFont typeface="Wingdings" panose="05000000000000000000" pitchFamily="2" charset="2"/>
              <a:buChar char="l"/>
            </a:pPr>
            <a:r>
              <a:rPr lang="en-US" altLang="zh-CN" sz="1600" dirty="0">
                <a:solidFill>
                  <a:srgbClr val="008DF6"/>
                </a:solidFill>
                <a:latin typeface="微软雅黑" panose="020B0503020204020204" pitchFamily="34" charset="-122"/>
                <a:ea typeface="微软雅黑" panose="020B0503020204020204" pitchFamily="34" charset="-122"/>
                <a:cs typeface="+mn-ea"/>
              </a:rPr>
              <a:t>FlexAlign. SpaceEvenly</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cs typeface="+mn-ea"/>
              </a:rPr>
              <a:t>：均分对齐</a:t>
            </a:r>
            <a:endParaRPr lang="en-US" altLang="zh-CN" sz="1600" dirty="0">
              <a:solidFill>
                <a:schemeClr val="tx1">
                  <a:lumMod val="85000"/>
                  <a:lumOff val="15000"/>
                </a:schemeClr>
              </a:solidFill>
              <a:latin typeface="微软雅黑" panose="020B0503020204020204" pitchFamily="34" charset="-122"/>
              <a:ea typeface="微软雅黑" panose="020B0503020204020204" pitchFamily="34" charset="-122"/>
              <a:cs typeface="+mn-ea"/>
            </a:endParaRPr>
          </a:p>
          <a:p>
            <a:pPr marL="1562100" lvl="2" indent="-342900">
              <a:spcBef>
                <a:spcPts val="2400"/>
              </a:spcBef>
              <a:buFont typeface="Wingdings" panose="05000000000000000000" pitchFamily="2" charset="2"/>
              <a:buChar char="l"/>
            </a:pPr>
            <a:endParaRPr lang="en-US" altLang="zh-CN" sz="1600" dirty="0">
              <a:solidFill>
                <a:schemeClr val="tx1">
                  <a:lumMod val="85000"/>
                  <a:lumOff val="15000"/>
                </a:schemeClr>
              </a:solidFill>
              <a:latin typeface="微软雅黑" panose="020B0503020204020204" pitchFamily="34" charset="-122"/>
              <a:ea typeface="微软雅黑" panose="020B0503020204020204" pitchFamily="34" charset="-122"/>
              <a:cs typeface="+mn-ea"/>
            </a:endParaRPr>
          </a:p>
          <a:p>
            <a:pPr marL="1562100" lvl="2" indent="-342900">
              <a:spcBef>
                <a:spcPts val="2400"/>
              </a:spcBef>
              <a:buFont typeface="Wingdings" panose="05000000000000000000" pitchFamily="2" charset="2"/>
              <a:buChar char="l"/>
            </a:pP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cs typeface="+mn-ea"/>
              </a:rPr>
              <a:t>使用后三种时，</a:t>
            </a:r>
            <a:r>
              <a:rPr lang="en-US" altLang="zh-CN" sz="1600" dirty="0">
                <a:solidFill>
                  <a:schemeClr val="tx1">
                    <a:lumMod val="85000"/>
                    <a:lumOff val="15000"/>
                  </a:schemeClr>
                </a:solidFill>
                <a:latin typeface="微软雅黑" panose="020B0503020204020204" pitchFamily="34" charset="-122"/>
                <a:ea typeface="微软雅黑" panose="020B0503020204020204" pitchFamily="34" charset="-122"/>
                <a:cs typeface="+mn-ea"/>
              </a:rPr>
              <a:t>space</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cs typeface="+mn-ea"/>
              </a:rPr>
              <a:t>参数不再起作用</a:t>
            </a:r>
            <a:endParaRPr lang="zh-CN" altLang="en-US" sz="1800" dirty="0">
              <a:solidFill>
                <a:schemeClr val="tx1">
                  <a:lumMod val="85000"/>
                  <a:lumOff val="15000"/>
                </a:schemeClr>
              </a:solidFill>
              <a:latin typeface="微软雅黑" panose="020B0503020204020204" pitchFamily="34" charset="-122"/>
              <a:ea typeface="微软雅黑" panose="020B0503020204020204" pitchFamily="34" charset="-122"/>
              <a:cs typeface="+mn-ea"/>
            </a:endParaRPr>
          </a:p>
          <a:p>
            <a:pPr marL="342900" indent="-342900">
              <a:spcBef>
                <a:spcPts val="2400"/>
              </a:spcBef>
              <a:buFont typeface="Wingdings" panose="05000000000000000000" pitchFamily="2" charset="2"/>
              <a:buChar char="l"/>
            </a:pPr>
            <a:endParaRPr lang="en-US"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mn-ea"/>
            </a:endParaRPr>
          </a:p>
        </p:txBody>
      </p:sp>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Row</a:t>
            </a:r>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（水平布局）</a:t>
            </a:r>
          </a:p>
        </p:txBody>
      </p:sp>
    </p:spTree>
    <p:extLst>
      <p:ext uri="{BB962C8B-B14F-4D97-AF65-F5344CB8AC3E}">
        <p14:creationId xmlns:p14="http://schemas.microsoft.com/office/powerpoint/2010/main" val="220082823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Row</a:t>
            </a:r>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（水平布局）</a:t>
            </a:r>
          </a:p>
        </p:txBody>
      </p:sp>
      <p:pic>
        <p:nvPicPr>
          <p:cNvPr id="3" name="图片 2">
            <a:extLst>
              <a:ext uri="{FF2B5EF4-FFF2-40B4-BE49-F238E27FC236}">
                <a16:creationId xmlns:a16="http://schemas.microsoft.com/office/drawing/2014/main" id="{FB3B4683-89FA-4998-9933-789E2DEF5609}"/>
              </a:ext>
            </a:extLst>
          </p:cNvPr>
          <p:cNvPicPr>
            <a:picLocks noChangeAspect="1"/>
          </p:cNvPicPr>
          <p:nvPr/>
        </p:nvPicPr>
        <p:blipFill>
          <a:blip r:embed="rId2"/>
          <a:stretch>
            <a:fillRect/>
          </a:stretch>
        </p:blipFill>
        <p:spPr>
          <a:xfrm>
            <a:off x="1666714" y="3153710"/>
            <a:ext cx="8856984" cy="3445316"/>
          </a:xfrm>
          <a:prstGeom prst="rect">
            <a:avLst/>
          </a:prstGeom>
        </p:spPr>
      </p:pic>
      <p:pic>
        <p:nvPicPr>
          <p:cNvPr id="4" name="图片 3">
            <a:extLst>
              <a:ext uri="{FF2B5EF4-FFF2-40B4-BE49-F238E27FC236}">
                <a16:creationId xmlns:a16="http://schemas.microsoft.com/office/drawing/2014/main" id="{A32A1C5A-8CAE-4225-9370-FC9BA1D572DD}"/>
              </a:ext>
            </a:extLst>
          </p:cNvPr>
          <p:cNvPicPr>
            <a:picLocks noChangeAspect="1"/>
          </p:cNvPicPr>
          <p:nvPr/>
        </p:nvPicPr>
        <p:blipFill>
          <a:blip r:embed="rId3"/>
          <a:stretch>
            <a:fillRect/>
          </a:stretch>
        </p:blipFill>
        <p:spPr>
          <a:xfrm>
            <a:off x="2520056" y="1053530"/>
            <a:ext cx="7247335" cy="1820826"/>
          </a:xfrm>
          <a:prstGeom prst="rect">
            <a:avLst/>
          </a:prstGeom>
        </p:spPr>
      </p:pic>
    </p:spTree>
    <p:extLst>
      <p:ext uri="{BB962C8B-B14F-4D97-AF65-F5344CB8AC3E}">
        <p14:creationId xmlns:p14="http://schemas.microsoft.com/office/powerpoint/2010/main" val="384915555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6"/>
          <p:cNvSpPr>
            <a:spLocks noChangeArrowheads="1"/>
          </p:cNvSpPr>
          <p:nvPr/>
        </p:nvSpPr>
        <p:spPr bwMode="auto">
          <a:xfrm>
            <a:off x="1198662" y="1125538"/>
            <a:ext cx="1000911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indent="-342900">
              <a:spcBef>
                <a:spcPts val="2400"/>
              </a:spcBef>
              <a:buFont typeface="Wingdings" panose="05000000000000000000" pitchFamily="2" charset="2"/>
              <a:buChar char="l"/>
            </a:pP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主轴为垂直方向，交叉轴为水平方向。</a:t>
            </a:r>
            <a:endParaRPr lang="en-US"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mn-ea"/>
            </a:endParaRPr>
          </a:p>
        </p:txBody>
      </p:sp>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Column</a:t>
            </a:r>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（垂直布局）</a:t>
            </a:r>
          </a:p>
        </p:txBody>
      </p:sp>
      <p:pic>
        <p:nvPicPr>
          <p:cNvPr id="3" name="图片 2">
            <a:extLst>
              <a:ext uri="{FF2B5EF4-FFF2-40B4-BE49-F238E27FC236}">
                <a16:creationId xmlns:a16="http://schemas.microsoft.com/office/drawing/2014/main" id="{AB9788E2-9988-455E-B436-40F4AC9FAEFD}"/>
              </a:ext>
            </a:extLst>
          </p:cNvPr>
          <p:cNvPicPr>
            <a:picLocks noChangeAspect="1"/>
          </p:cNvPicPr>
          <p:nvPr/>
        </p:nvPicPr>
        <p:blipFill>
          <a:blip r:embed="rId2"/>
          <a:stretch>
            <a:fillRect/>
          </a:stretch>
        </p:blipFill>
        <p:spPr>
          <a:xfrm>
            <a:off x="3502918" y="1917626"/>
            <a:ext cx="4033062" cy="3567485"/>
          </a:xfrm>
          <a:prstGeom prst="rect">
            <a:avLst/>
          </a:prstGeom>
        </p:spPr>
      </p:pic>
    </p:spTree>
    <p:extLst>
      <p:ext uri="{BB962C8B-B14F-4D97-AF65-F5344CB8AC3E}">
        <p14:creationId xmlns:p14="http://schemas.microsoft.com/office/powerpoint/2010/main" val="118789560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6"/>
          <p:cNvSpPr>
            <a:spLocks noChangeArrowheads="1"/>
          </p:cNvSpPr>
          <p:nvPr/>
        </p:nvSpPr>
        <p:spPr bwMode="auto">
          <a:xfrm>
            <a:off x="1198662" y="1125538"/>
            <a:ext cx="10009112" cy="984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indent="-342900">
              <a:spcBef>
                <a:spcPts val="2400"/>
              </a:spcBef>
              <a:buFont typeface="Wingdings" panose="05000000000000000000" pitchFamily="2" charset="2"/>
              <a:buChar char="l"/>
            </a:pP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可选参数：</a:t>
            </a:r>
            <a:endParaRPr lang="en-US" altLang="zh-CN" sz="1800" dirty="0">
              <a:solidFill>
                <a:schemeClr val="tx1">
                  <a:lumMod val="85000"/>
                  <a:lumOff val="15000"/>
                </a:schemeClr>
              </a:solidFill>
              <a:latin typeface="微软雅黑" panose="020B0503020204020204" pitchFamily="34" charset="-122"/>
              <a:ea typeface="微软雅黑" panose="020B0503020204020204" pitchFamily="34" charset="-122"/>
              <a:cs typeface="+mn-ea"/>
            </a:endParaRPr>
          </a:p>
          <a:p>
            <a:pPr marL="952500" lvl="1" indent="-342900">
              <a:spcBef>
                <a:spcPts val="2400"/>
              </a:spcBef>
              <a:buFont typeface="Wingdings" panose="05000000000000000000" pitchFamily="2" charset="2"/>
              <a:buChar char="u"/>
            </a:pPr>
            <a:r>
              <a:rPr lang="en-US" altLang="zh-CN" sz="1800" dirty="0">
                <a:solidFill>
                  <a:srgbClr val="008DF6"/>
                </a:solidFill>
                <a:latin typeface="微软雅黑" panose="020B0503020204020204" pitchFamily="34" charset="-122"/>
                <a:ea typeface="微软雅黑" panose="020B0503020204020204" pitchFamily="34" charset="-122"/>
                <a:cs typeface="+mn-ea"/>
              </a:rPr>
              <a:t>space</a:t>
            </a:r>
            <a:r>
              <a:rPr lang="en-US" altLang="zh-CN" sz="1800" dirty="0">
                <a:solidFill>
                  <a:schemeClr val="tx1">
                    <a:lumMod val="85000"/>
                    <a:lumOff val="15000"/>
                  </a:schemeClr>
                </a:solidFill>
                <a:latin typeface="微软雅黑" panose="020B0503020204020204" pitchFamily="34" charset="-122"/>
                <a:ea typeface="微软雅黑" panose="020B0503020204020204" pitchFamily="34" charset="-122"/>
                <a:cs typeface="+mn-ea"/>
              </a:rPr>
              <a:t>: </a:t>
            </a:r>
            <a:r>
              <a:rPr lang="zh-CN" altLang="en-US" sz="1800" dirty="0">
                <a:solidFill>
                  <a:schemeClr val="tx1">
                    <a:lumMod val="85000"/>
                    <a:lumOff val="15000"/>
                  </a:schemeClr>
                </a:solidFill>
                <a:latin typeface="微软雅黑" panose="020B0503020204020204" pitchFamily="34" charset="-122"/>
                <a:ea typeface="微软雅黑" panose="020B0503020204020204" pitchFamily="34" charset="-122"/>
                <a:cs typeface="+mn-ea"/>
              </a:rPr>
              <a:t>子组件的主轴方向上的间距</a:t>
            </a:r>
            <a:endParaRPr lang="en-US" altLang="zh-CN" sz="1800" dirty="0">
              <a:solidFill>
                <a:schemeClr val="tx1">
                  <a:lumMod val="85000"/>
                  <a:lumOff val="15000"/>
                </a:schemeClr>
              </a:solidFill>
              <a:latin typeface="微软雅黑" panose="020B0503020204020204" pitchFamily="34" charset="-122"/>
              <a:ea typeface="微软雅黑" panose="020B0503020204020204" pitchFamily="34" charset="-122"/>
              <a:cs typeface="+mn-ea"/>
            </a:endParaRPr>
          </a:p>
        </p:txBody>
      </p:sp>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Column</a:t>
            </a:r>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（垂直布局）</a:t>
            </a:r>
          </a:p>
        </p:txBody>
      </p:sp>
      <p:pic>
        <p:nvPicPr>
          <p:cNvPr id="4" name="图片 3">
            <a:extLst>
              <a:ext uri="{FF2B5EF4-FFF2-40B4-BE49-F238E27FC236}">
                <a16:creationId xmlns:a16="http://schemas.microsoft.com/office/drawing/2014/main" id="{89065106-339C-4797-85ED-3825EE2C31B6}"/>
              </a:ext>
            </a:extLst>
          </p:cNvPr>
          <p:cNvPicPr>
            <a:picLocks noChangeAspect="1"/>
          </p:cNvPicPr>
          <p:nvPr/>
        </p:nvPicPr>
        <p:blipFill>
          <a:blip r:embed="rId2"/>
          <a:stretch>
            <a:fillRect/>
          </a:stretch>
        </p:blipFill>
        <p:spPr>
          <a:xfrm>
            <a:off x="3430910" y="2205658"/>
            <a:ext cx="4050153" cy="4125575"/>
          </a:xfrm>
          <a:prstGeom prst="rect">
            <a:avLst/>
          </a:prstGeom>
        </p:spPr>
      </p:pic>
    </p:spTree>
    <p:extLst>
      <p:ext uri="{BB962C8B-B14F-4D97-AF65-F5344CB8AC3E}">
        <p14:creationId xmlns:p14="http://schemas.microsoft.com/office/powerpoint/2010/main" val="351252827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6"/>
          <p:cNvSpPr>
            <a:spLocks noChangeArrowheads="1"/>
          </p:cNvSpPr>
          <p:nvPr/>
        </p:nvSpPr>
        <p:spPr bwMode="auto">
          <a:xfrm>
            <a:off x="1198662" y="1125538"/>
            <a:ext cx="10009112" cy="26468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indent="-342900">
              <a:spcBef>
                <a:spcPts val="2400"/>
              </a:spcBef>
              <a:buFont typeface="Wingdings" panose="05000000000000000000" pitchFamily="2" charset="2"/>
              <a:buChar char="l"/>
            </a:pP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主要属性</a:t>
            </a:r>
            <a:endParaRPr lang="en-US"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mn-ea"/>
            </a:endParaRPr>
          </a:p>
          <a:p>
            <a:pPr marL="952500" lvl="1" indent="-342900">
              <a:spcBef>
                <a:spcPts val="2400"/>
              </a:spcBef>
              <a:buFont typeface="Wingdings" panose="05000000000000000000" pitchFamily="2" charset="2"/>
              <a:buChar char="u"/>
            </a:pPr>
            <a:r>
              <a:rPr lang="en-US" altLang="zh-CN" sz="1800" dirty="0">
                <a:solidFill>
                  <a:srgbClr val="008DF6"/>
                </a:solidFill>
                <a:latin typeface="微软雅黑" panose="020B0503020204020204" pitchFamily="34" charset="-122"/>
                <a:ea typeface="微软雅黑" panose="020B0503020204020204" pitchFamily="34" charset="-122"/>
                <a:cs typeface="+mn-ea"/>
              </a:rPr>
              <a:t>alignItems</a:t>
            </a:r>
            <a:r>
              <a:rPr lang="en-US" altLang="zh-CN" sz="1800" dirty="0">
                <a:solidFill>
                  <a:schemeClr val="tx1">
                    <a:lumMod val="85000"/>
                    <a:lumOff val="15000"/>
                  </a:schemeClr>
                </a:solidFill>
                <a:latin typeface="微软雅黑" panose="020B0503020204020204" pitchFamily="34" charset="-122"/>
                <a:ea typeface="微软雅黑" panose="020B0503020204020204" pitchFamily="34" charset="-122"/>
                <a:cs typeface="+mn-ea"/>
              </a:rPr>
              <a:t>: </a:t>
            </a:r>
            <a:r>
              <a:rPr lang="zh-CN" altLang="en-US" sz="1800" dirty="0">
                <a:solidFill>
                  <a:schemeClr val="tx1">
                    <a:lumMod val="85000"/>
                    <a:lumOff val="15000"/>
                  </a:schemeClr>
                </a:solidFill>
                <a:latin typeface="微软雅黑" panose="020B0503020204020204" pitchFamily="34" charset="-122"/>
                <a:ea typeface="微软雅黑" panose="020B0503020204020204" pitchFamily="34" charset="-122"/>
                <a:cs typeface="+mn-ea"/>
              </a:rPr>
              <a:t>子组件在交叉轴方向的对齐方式</a:t>
            </a:r>
            <a:endParaRPr lang="en-US" altLang="zh-CN" sz="1800" dirty="0">
              <a:solidFill>
                <a:schemeClr val="tx1">
                  <a:lumMod val="85000"/>
                  <a:lumOff val="15000"/>
                </a:schemeClr>
              </a:solidFill>
              <a:latin typeface="微软雅黑" panose="020B0503020204020204" pitchFamily="34" charset="-122"/>
              <a:ea typeface="微软雅黑" panose="020B0503020204020204" pitchFamily="34" charset="-122"/>
              <a:cs typeface="+mn-ea"/>
            </a:endParaRPr>
          </a:p>
          <a:p>
            <a:pPr marL="1562100" lvl="2" indent="-342900">
              <a:spcBef>
                <a:spcPts val="2400"/>
              </a:spcBef>
              <a:buFont typeface="Wingdings" panose="05000000000000000000" pitchFamily="2" charset="2"/>
              <a:buChar char="l"/>
            </a:pPr>
            <a:r>
              <a:rPr lang="en-US" altLang="zh-CN" sz="1600" dirty="0">
                <a:solidFill>
                  <a:srgbClr val="008DF6"/>
                </a:solidFill>
                <a:latin typeface="微软雅黑" panose="020B0503020204020204" pitchFamily="34" charset="-122"/>
                <a:ea typeface="微软雅黑" panose="020B0503020204020204" pitchFamily="34" charset="-122"/>
                <a:cs typeface="+mn-ea"/>
              </a:rPr>
              <a:t>HorizontalAlign. Start</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cs typeface="+mn-ea"/>
              </a:rPr>
              <a:t>：左对齐</a:t>
            </a:r>
            <a:endParaRPr lang="en-US" altLang="zh-CN" sz="1600" dirty="0">
              <a:solidFill>
                <a:schemeClr val="tx1">
                  <a:lumMod val="85000"/>
                  <a:lumOff val="15000"/>
                </a:schemeClr>
              </a:solidFill>
              <a:latin typeface="微软雅黑" panose="020B0503020204020204" pitchFamily="34" charset="-122"/>
              <a:ea typeface="微软雅黑" panose="020B0503020204020204" pitchFamily="34" charset="-122"/>
              <a:cs typeface="+mn-ea"/>
            </a:endParaRPr>
          </a:p>
          <a:p>
            <a:pPr marL="1562100" lvl="2" indent="-342900">
              <a:spcBef>
                <a:spcPts val="2400"/>
              </a:spcBef>
              <a:buFont typeface="Wingdings" panose="05000000000000000000" pitchFamily="2" charset="2"/>
              <a:buChar char="l"/>
            </a:pPr>
            <a:r>
              <a:rPr lang="en-US" altLang="zh-CN" sz="1600" dirty="0" err="1">
                <a:solidFill>
                  <a:srgbClr val="008DF6"/>
                </a:solidFill>
                <a:latin typeface="微软雅黑" panose="020B0503020204020204" pitchFamily="34" charset="-122"/>
                <a:ea typeface="微软雅黑" panose="020B0503020204020204" pitchFamily="34" charset="-122"/>
                <a:cs typeface="+mn-ea"/>
              </a:rPr>
              <a:t>HorizontalAlign.Center</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cs typeface="+mn-ea"/>
              </a:rPr>
              <a:t>：居中对齐</a:t>
            </a:r>
            <a:endParaRPr lang="en-US" altLang="zh-CN" sz="1600" dirty="0">
              <a:solidFill>
                <a:schemeClr val="tx1">
                  <a:lumMod val="85000"/>
                  <a:lumOff val="15000"/>
                </a:schemeClr>
              </a:solidFill>
              <a:latin typeface="微软雅黑" panose="020B0503020204020204" pitchFamily="34" charset="-122"/>
              <a:ea typeface="微软雅黑" panose="020B0503020204020204" pitchFamily="34" charset="-122"/>
              <a:cs typeface="+mn-ea"/>
            </a:endParaRPr>
          </a:p>
          <a:p>
            <a:pPr marL="1562100" lvl="2" indent="-342900">
              <a:spcBef>
                <a:spcPts val="2400"/>
              </a:spcBef>
              <a:buFont typeface="Wingdings" panose="05000000000000000000" pitchFamily="2" charset="2"/>
              <a:buChar char="l"/>
            </a:pPr>
            <a:r>
              <a:rPr lang="en-US" altLang="zh-CN" sz="1600" dirty="0">
                <a:solidFill>
                  <a:srgbClr val="008DF6"/>
                </a:solidFill>
                <a:latin typeface="微软雅黑" panose="020B0503020204020204" pitchFamily="34" charset="-122"/>
                <a:ea typeface="微软雅黑" panose="020B0503020204020204" pitchFamily="34" charset="-122"/>
                <a:cs typeface="+mn-ea"/>
              </a:rPr>
              <a:t>HorizontalAlign. End</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cs typeface="+mn-ea"/>
              </a:rPr>
              <a:t>：右对齐</a:t>
            </a:r>
            <a:endParaRPr lang="en-US" altLang="zh-CN" sz="1600" dirty="0">
              <a:solidFill>
                <a:schemeClr val="tx1">
                  <a:lumMod val="85000"/>
                  <a:lumOff val="15000"/>
                </a:schemeClr>
              </a:solidFill>
              <a:latin typeface="微软雅黑" panose="020B0503020204020204" pitchFamily="34" charset="-122"/>
              <a:ea typeface="微软雅黑" panose="020B0503020204020204" pitchFamily="34" charset="-122"/>
              <a:cs typeface="+mn-ea"/>
            </a:endParaRPr>
          </a:p>
        </p:txBody>
      </p:sp>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Column</a:t>
            </a:r>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（垂直布局）</a:t>
            </a:r>
          </a:p>
        </p:txBody>
      </p:sp>
      <p:pic>
        <p:nvPicPr>
          <p:cNvPr id="5" name="图片 4">
            <a:extLst>
              <a:ext uri="{FF2B5EF4-FFF2-40B4-BE49-F238E27FC236}">
                <a16:creationId xmlns:a16="http://schemas.microsoft.com/office/drawing/2014/main" id="{3803800B-4D11-4626-AB80-E5B0D203AD3D}"/>
              </a:ext>
            </a:extLst>
          </p:cNvPr>
          <p:cNvPicPr>
            <a:picLocks noChangeAspect="1"/>
          </p:cNvPicPr>
          <p:nvPr/>
        </p:nvPicPr>
        <p:blipFill>
          <a:blip r:embed="rId2"/>
          <a:stretch>
            <a:fillRect/>
          </a:stretch>
        </p:blipFill>
        <p:spPr>
          <a:xfrm>
            <a:off x="1702718" y="4398997"/>
            <a:ext cx="8784976" cy="1305015"/>
          </a:xfrm>
          <a:prstGeom prst="rect">
            <a:avLst/>
          </a:prstGeom>
        </p:spPr>
      </p:pic>
    </p:spTree>
    <p:extLst>
      <p:ext uri="{BB962C8B-B14F-4D97-AF65-F5344CB8AC3E}">
        <p14:creationId xmlns:p14="http://schemas.microsoft.com/office/powerpoint/2010/main" val="328056641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Column</a:t>
            </a:r>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（垂直布局）</a:t>
            </a:r>
          </a:p>
        </p:txBody>
      </p:sp>
      <p:pic>
        <p:nvPicPr>
          <p:cNvPr id="4" name="图片 3">
            <a:extLst>
              <a:ext uri="{FF2B5EF4-FFF2-40B4-BE49-F238E27FC236}">
                <a16:creationId xmlns:a16="http://schemas.microsoft.com/office/drawing/2014/main" id="{882A8876-60C3-4BCF-858C-5F83AC7668A0}"/>
              </a:ext>
            </a:extLst>
          </p:cNvPr>
          <p:cNvPicPr>
            <a:picLocks noChangeAspect="1"/>
          </p:cNvPicPr>
          <p:nvPr/>
        </p:nvPicPr>
        <p:blipFill>
          <a:blip r:embed="rId2"/>
          <a:stretch>
            <a:fillRect/>
          </a:stretch>
        </p:blipFill>
        <p:spPr>
          <a:xfrm>
            <a:off x="910630" y="2349674"/>
            <a:ext cx="6959592" cy="3813302"/>
          </a:xfrm>
          <a:prstGeom prst="rect">
            <a:avLst/>
          </a:prstGeom>
        </p:spPr>
      </p:pic>
      <p:sp>
        <p:nvSpPr>
          <p:cNvPr id="8" name="矩形 6">
            <a:extLst>
              <a:ext uri="{FF2B5EF4-FFF2-40B4-BE49-F238E27FC236}">
                <a16:creationId xmlns:a16="http://schemas.microsoft.com/office/drawing/2014/main" id="{05412B44-1DB5-4C1E-A109-358658407C45}"/>
              </a:ext>
            </a:extLst>
          </p:cNvPr>
          <p:cNvSpPr>
            <a:spLocks noChangeArrowheads="1"/>
          </p:cNvSpPr>
          <p:nvPr/>
        </p:nvSpPr>
        <p:spPr bwMode="auto">
          <a:xfrm>
            <a:off x="1198662" y="909514"/>
            <a:ext cx="10009112" cy="984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indent="-342900">
              <a:spcBef>
                <a:spcPts val="2400"/>
              </a:spcBef>
              <a:buFont typeface="Wingdings" panose="05000000000000000000" pitchFamily="2" charset="2"/>
              <a:buChar char="l"/>
            </a:pP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主要属性</a:t>
            </a:r>
            <a:endParaRPr lang="en-US"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mn-ea"/>
            </a:endParaRPr>
          </a:p>
          <a:p>
            <a:pPr marL="952500" lvl="1" indent="-342900">
              <a:spcBef>
                <a:spcPts val="2400"/>
              </a:spcBef>
              <a:buFont typeface="Wingdings" panose="05000000000000000000" pitchFamily="2" charset="2"/>
              <a:buChar char="u"/>
            </a:pPr>
            <a:r>
              <a:rPr lang="en-US" altLang="zh-CN" sz="1800" dirty="0" err="1">
                <a:solidFill>
                  <a:srgbClr val="008DF6"/>
                </a:solidFill>
                <a:latin typeface="微软雅黑" panose="020B0503020204020204" pitchFamily="34" charset="-122"/>
                <a:ea typeface="微软雅黑" panose="020B0503020204020204" pitchFamily="34" charset="-122"/>
                <a:cs typeface="+mn-ea"/>
              </a:rPr>
              <a:t>justifyContent</a:t>
            </a:r>
            <a:r>
              <a:rPr lang="en-US" altLang="zh-CN" sz="1800" dirty="0">
                <a:solidFill>
                  <a:srgbClr val="008DF6"/>
                </a:solidFill>
                <a:latin typeface="微软雅黑" panose="020B0503020204020204" pitchFamily="34" charset="-122"/>
                <a:ea typeface="微软雅黑" panose="020B0503020204020204" pitchFamily="34" charset="-122"/>
                <a:cs typeface="+mn-ea"/>
              </a:rPr>
              <a:t>: </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cs typeface="+mn-ea"/>
              </a:rPr>
              <a:t>设置子组件在主轴方向上的对齐方式。</a:t>
            </a:r>
          </a:p>
        </p:txBody>
      </p:sp>
      <p:sp>
        <p:nvSpPr>
          <p:cNvPr id="9" name="矩形 6">
            <a:extLst>
              <a:ext uri="{FF2B5EF4-FFF2-40B4-BE49-F238E27FC236}">
                <a16:creationId xmlns:a16="http://schemas.microsoft.com/office/drawing/2014/main" id="{C5BC3015-1E79-47E2-B80A-88F6F3156574}"/>
              </a:ext>
            </a:extLst>
          </p:cNvPr>
          <p:cNvSpPr>
            <a:spLocks noChangeArrowheads="1"/>
          </p:cNvSpPr>
          <p:nvPr/>
        </p:nvSpPr>
        <p:spPr bwMode="auto">
          <a:xfrm>
            <a:off x="7967414" y="3573810"/>
            <a:ext cx="3744416"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indent="-342900">
              <a:spcBef>
                <a:spcPts val="2400"/>
              </a:spcBef>
              <a:buFont typeface="Wingdings" panose="05000000000000000000" pitchFamily="2" charset="2"/>
              <a:buChar char="l"/>
            </a:pPr>
            <a:r>
              <a:rPr lang="zh-CN" altLang="en-US" sz="2000" b="1" dirty="0">
                <a:solidFill>
                  <a:srgbClr val="FF0000"/>
                </a:solidFill>
                <a:latin typeface="微软雅黑" panose="020B0503020204020204" pitchFamily="34" charset="-122"/>
                <a:ea typeface="微软雅黑" panose="020B0503020204020204" pitchFamily="34" charset="-122"/>
                <a:cs typeface="+mn-ea"/>
              </a:rPr>
              <a:t>注意：</a:t>
            </a:r>
            <a:r>
              <a:rPr lang="en-US"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Column </a:t>
            </a: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设置 </a:t>
            </a:r>
            <a:r>
              <a:rPr lang="en-US"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space </a:t>
            </a: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参数，</a:t>
            </a:r>
            <a:r>
              <a:rPr lang="en-US" altLang="zh-CN" sz="1800" dirty="0" err="1">
                <a:solidFill>
                  <a:srgbClr val="008DF6"/>
                </a:solidFill>
                <a:latin typeface="微软雅黑" panose="020B0503020204020204" pitchFamily="34" charset="-122"/>
                <a:ea typeface="微软雅黑" panose="020B0503020204020204" pitchFamily="34" charset="-122"/>
                <a:cs typeface="+mn-ea"/>
              </a:rPr>
              <a:t>justifyContent</a:t>
            </a:r>
            <a:r>
              <a:rPr lang="en-US" altLang="zh-CN" sz="1800" dirty="0">
                <a:solidFill>
                  <a:srgbClr val="008DF6"/>
                </a:solidFill>
                <a:latin typeface="微软雅黑" panose="020B0503020204020204" pitchFamily="34" charset="-122"/>
                <a:ea typeface="微软雅黑" panose="020B0503020204020204" pitchFamily="34" charset="-122"/>
                <a:cs typeface="+mn-ea"/>
              </a:rPr>
              <a:t> </a:t>
            </a: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参数不起作用</a:t>
            </a:r>
            <a:endParaRPr lang="zh-CN" altLang="en-US" sz="1800" dirty="0">
              <a:solidFill>
                <a:srgbClr val="008DF6"/>
              </a:solidFill>
              <a:latin typeface="微软雅黑" panose="020B0503020204020204" pitchFamily="34" charset="-122"/>
              <a:ea typeface="微软雅黑" panose="020B0503020204020204" pitchFamily="34" charset="-122"/>
              <a:cs typeface="+mn-ea"/>
            </a:endParaRPr>
          </a:p>
        </p:txBody>
      </p:sp>
    </p:spTree>
    <p:extLst>
      <p:ext uri="{BB962C8B-B14F-4D97-AF65-F5344CB8AC3E}">
        <p14:creationId xmlns:p14="http://schemas.microsoft.com/office/powerpoint/2010/main" val="233011989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6"/>
          <p:cNvSpPr>
            <a:spLocks noChangeArrowheads="1"/>
          </p:cNvSpPr>
          <p:nvPr/>
        </p:nvSpPr>
        <p:spPr bwMode="auto">
          <a:xfrm>
            <a:off x="1198662" y="1125538"/>
            <a:ext cx="10729192" cy="5632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indent="-342900">
              <a:spcBef>
                <a:spcPts val="2400"/>
              </a:spcBef>
              <a:buFont typeface="Wingdings" panose="05000000000000000000" pitchFamily="2" charset="2"/>
              <a:buChar char="l"/>
            </a:pP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可以定义主轴方向。</a:t>
            </a:r>
            <a:endParaRPr lang="en-US"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mn-ea"/>
            </a:endParaRPr>
          </a:p>
          <a:p>
            <a:pPr marL="342900" indent="-342900">
              <a:spcBef>
                <a:spcPts val="2400"/>
              </a:spcBef>
              <a:buFont typeface="Wingdings" panose="05000000000000000000" pitchFamily="2" charset="2"/>
              <a:buChar char="l"/>
            </a:pP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参数配置：</a:t>
            </a:r>
            <a:endParaRPr lang="en-US"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mn-ea"/>
            </a:endParaRPr>
          </a:p>
          <a:p>
            <a:pPr marL="342900" indent="-342900">
              <a:spcBef>
                <a:spcPts val="2400"/>
              </a:spcBef>
              <a:buFont typeface="Wingdings" panose="05000000000000000000" pitchFamily="2" charset="2"/>
              <a:buChar char="l"/>
            </a:pPr>
            <a:endParaRPr lang="en-US"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mn-ea"/>
            </a:endParaRPr>
          </a:p>
          <a:p>
            <a:pPr marL="342900" indent="-342900">
              <a:spcBef>
                <a:spcPts val="2400"/>
              </a:spcBef>
              <a:buFont typeface="Wingdings" panose="05000000000000000000" pitchFamily="2" charset="2"/>
              <a:buChar char="l"/>
            </a:pPr>
            <a:endParaRPr lang="en-US"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mn-ea"/>
            </a:endParaRPr>
          </a:p>
          <a:p>
            <a:pPr marL="342900" indent="-342900">
              <a:spcBef>
                <a:spcPts val="2400"/>
              </a:spcBef>
              <a:buFont typeface="Wingdings" panose="05000000000000000000" pitchFamily="2" charset="2"/>
              <a:buChar char="l"/>
            </a:pPr>
            <a:endParaRPr lang="en-US"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mn-ea"/>
            </a:endParaRPr>
          </a:p>
          <a:p>
            <a:pPr marL="342900" indent="-342900">
              <a:spcBef>
                <a:spcPts val="2400"/>
              </a:spcBef>
              <a:buFont typeface="Wingdings" panose="05000000000000000000" pitchFamily="2" charset="2"/>
              <a:buChar char="l"/>
            </a:pPr>
            <a:endParaRPr lang="en-US"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mn-ea"/>
            </a:endParaRPr>
          </a:p>
          <a:p>
            <a:pPr marL="342900" indent="-342900">
              <a:spcBef>
                <a:spcPts val="2400"/>
              </a:spcBef>
              <a:buFont typeface="Wingdings" panose="05000000000000000000" pitchFamily="2" charset="2"/>
              <a:buChar char="l"/>
            </a:pPr>
            <a:endParaRPr lang="en-US"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mn-ea"/>
            </a:endParaRPr>
          </a:p>
          <a:p>
            <a:pPr marL="342900" indent="-342900">
              <a:spcBef>
                <a:spcPts val="2400"/>
              </a:spcBef>
              <a:buFont typeface="Wingdings" panose="05000000000000000000" pitchFamily="2" charset="2"/>
              <a:buChar char="l"/>
            </a:pPr>
            <a:r>
              <a:rPr lang="zh-CN" altLang="en-US" sz="2000" dirty="0">
                <a:solidFill>
                  <a:srgbClr val="FF0000"/>
                </a:solidFill>
                <a:latin typeface="微软雅黑" panose="020B0503020204020204" pitchFamily="34" charset="-122"/>
                <a:ea typeface="微软雅黑" panose="020B0503020204020204" pitchFamily="34" charset="-122"/>
                <a:cs typeface="+mn-ea"/>
              </a:rPr>
              <a:t>注意：</a:t>
            </a:r>
            <a:r>
              <a:rPr lang="en-US"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Flex</a:t>
            </a: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组件在渲染时存在二次布局过程。在对性能有严格要求的场景下建议使用</a:t>
            </a:r>
            <a:r>
              <a:rPr lang="en-US"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Column</a:t>
            </a: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a:t>
            </a:r>
            <a:r>
              <a:rPr lang="en-US"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Row</a:t>
            </a: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代替。</a:t>
            </a:r>
            <a:endParaRPr lang="en-US"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mn-ea"/>
            </a:endParaRPr>
          </a:p>
          <a:p>
            <a:pPr marL="342900" indent="-342900">
              <a:spcBef>
                <a:spcPts val="2400"/>
              </a:spcBef>
              <a:buFont typeface="Wingdings" panose="05000000000000000000" pitchFamily="2" charset="2"/>
              <a:buChar char="l"/>
            </a:pP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具体细节见</a:t>
            </a:r>
            <a:r>
              <a:rPr lang="en-US"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API Reference</a:t>
            </a:r>
          </a:p>
        </p:txBody>
      </p:sp>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Flex</a:t>
            </a:r>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（弹性布局）</a:t>
            </a:r>
          </a:p>
        </p:txBody>
      </p:sp>
      <p:graphicFrame>
        <p:nvGraphicFramePr>
          <p:cNvPr id="3" name="表格 2"/>
          <p:cNvGraphicFramePr>
            <a:graphicFrameLocks noGrp="1"/>
          </p:cNvGraphicFramePr>
          <p:nvPr>
            <p:extLst>
              <p:ext uri="{D42A27DB-BD31-4B8C-83A1-F6EECF244321}">
                <p14:modId xmlns:p14="http://schemas.microsoft.com/office/powerpoint/2010/main" val="3150069267"/>
              </p:ext>
            </p:extLst>
          </p:nvPr>
        </p:nvGraphicFramePr>
        <p:xfrm>
          <a:off x="1414686" y="2349674"/>
          <a:ext cx="10297145" cy="2800859"/>
        </p:xfrm>
        <a:graphic>
          <a:graphicData uri="http://schemas.openxmlformats.org/drawingml/2006/table">
            <a:tbl>
              <a:tblPr>
                <a:tableStyleId>{69CF1AB2-1976-4502-BF36-3FF5EA218861}</a:tableStyleId>
              </a:tblPr>
              <a:tblGrid>
                <a:gridCol w="1296144">
                  <a:extLst>
                    <a:ext uri="{9D8B030D-6E8A-4147-A177-3AD203B41FA5}">
                      <a16:colId xmlns:a16="http://schemas.microsoft.com/office/drawing/2014/main" val="2696598508"/>
                    </a:ext>
                  </a:extLst>
                </a:gridCol>
                <a:gridCol w="1152128">
                  <a:extLst>
                    <a:ext uri="{9D8B030D-6E8A-4147-A177-3AD203B41FA5}">
                      <a16:colId xmlns:a16="http://schemas.microsoft.com/office/drawing/2014/main" val="651168944"/>
                    </a:ext>
                  </a:extLst>
                </a:gridCol>
                <a:gridCol w="648072">
                  <a:extLst>
                    <a:ext uri="{9D8B030D-6E8A-4147-A177-3AD203B41FA5}">
                      <a16:colId xmlns:a16="http://schemas.microsoft.com/office/drawing/2014/main" val="826274347"/>
                    </a:ext>
                  </a:extLst>
                </a:gridCol>
                <a:gridCol w="1656184">
                  <a:extLst>
                    <a:ext uri="{9D8B030D-6E8A-4147-A177-3AD203B41FA5}">
                      <a16:colId xmlns:a16="http://schemas.microsoft.com/office/drawing/2014/main" val="1089203805"/>
                    </a:ext>
                  </a:extLst>
                </a:gridCol>
                <a:gridCol w="5544617">
                  <a:extLst>
                    <a:ext uri="{9D8B030D-6E8A-4147-A177-3AD203B41FA5}">
                      <a16:colId xmlns:a16="http://schemas.microsoft.com/office/drawing/2014/main" val="1330886895"/>
                    </a:ext>
                  </a:extLst>
                </a:gridCol>
              </a:tblGrid>
              <a:tr h="167474">
                <a:tc>
                  <a:txBody>
                    <a:bodyPr/>
                    <a:lstStyle/>
                    <a:p>
                      <a:pPr algn="l"/>
                      <a:r>
                        <a:rPr lang="zh-CN" altLang="en-US" sz="1200">
                          <a:effectLst/>
                        </a:rPr>
                        <a:t>参数名</a:t>
                      </a:r>
                      <a:endParaRPr lang="zh-CN" altLang="en-US" sz="1200" b="1">
                        <a:effectLst/>
                      </a:endParaRPr>
                    </a:p>
                  </a:txBody>
                  <a:tcPr marL="53083" marR="53083" marT="24500" marB="24500">
                    <a:solidFill>
                      <a:srgbClr val="00B0F0"/>
                    </a:solidFill>
                  </a:tcPr>
                </a:tc>
                <a:tc>
                  <a:txBody>
                    <a:bodyPr/>
                    <a:lstStyle/>
                    <a:p>
                      <a:pPr algn="l"/>
                      <a:r>
                        <a:rPr lang="zh-CN" altLang="en-US" sz="1200">
                          <a:effectLst/>
                        </a:rPr>
                        <a:t>参数类型</a:t>
                      </a:r>
                      <a:endParaRPr lang="zh-CN" altLang="en-US" sz="1200" b="1">
                        <a:effectLst/>
                      </a:endParaRPr>
                    </a:p>
                  </a:txBody>
                  <a:tcPr marL="53083" marR="53083" marT="24500" marB="24500">
                    <a:solidFill>
                      <a:srgbClr val="00B0F0"/>
                    </a:solidFill>
                  </a:tcPr>
                </a:tc>
                <a:tc>
                  <a:txBody>
                    <a:bodyPr/>
                    <a:lstStyle/>
                    <a:p>
                      <a:pPr algn="l"/>
                      <a:r>
                        <a:rPr lang="zh-CN" altLang="en-US" sz="1200">
                          <a:effectLst/>
                        </a:rPr>
                        <a:t>必填</a:t>
                      </a:r>
                      <a:endParaRPr lang="zh-CN" altLang="en-US" sz="1200" b="1">
                        <a:effectLst/>
                      </a:endParaRPr>
                    </a:p>
                  </a:txBody>
                  <a:tcPr marL="53083" marR="53083" marT="24500" marB="24500">
                    <a:solidFill>
                      <a:srgbClr val="00B0F0"/>
                    </a:solidFill>
                  </a:tcPr>
                </a:tc>
                <a:tc>
                  <a:txBody>
                    <a:bodyPr/>
                    <a:lstStyle/>
                    <a:p>
                      <a:pPr algn="l"/>
                      <a:r>
                        <a:rPr lang="zh-CN" altLang="en-US" sz="1200">
                          <a:effectLst/>
                        </a:rPr>
                        <a:t>默认值</a:t>
                      </a:r>
                      <a:endParaRPr lang="zh-CN" altLang="en-US" sz="1200" b="1">
                        <a:effectLst/>
                      </a:endParaRPr>
                    </a:p>
                  </a:txBody>
                  <a:tcPr marL="53083" marR="53083" marT="24500" marB="24500">
                    <a:solidFill>
                      <a:srgbClr val="00B0F0"/>
                    </a:solidFill>
                  </a:tcPr>
                </a:tc>
                <a:tc>
                  <a:txBody>
                    <a:bodyPr/>
                    <a:lstStyle/>
                    <a:p>
                      <a:pPr algn="l"/>
                      <a:r>
                        <a:rPr lang="zh-CN" altLang="en-US" sz="1200" dirty="0">
                          <a:effectLst/>
                        </a:rPr>
                        <a:t>参数描述</a:t>
                      </a:r>
                      <a:endParaRPr lang="zh-CN" altLang="en-US" sz="1200" b="1" dirty="0">
                        <a:effectLst/>
                      </a:endParaRPr>
                    </a:p>
                  </a:txBody>
                  <a:tcPr marL="53083" marR="53083" marT="24500" marB="24500">
                    <a:solidFill>
                      <a:srgbClr val="00B0F0"/>
                    </a:solidFill>
                  </a:tcPr>
                </a:tc>
                <a:extLst>
                  <a:ext uri="{0D108BD9-81ED-4DB2-BD59-A6C34878D82A}">
                    <a16:rowId xmlns:a16="http://schemas.microsoft.com/office/drawing/2014/main" val="3358887530"/>
                  </a:ext>
                </a:extLst>
              </a:tr>
              <a:tr h="416192">
                <a:tc>
                  <a:txBody>
                    <a:bodyPr/>
                    <a:lstStyle/>
                    <a:p>
                      <a:r>
                        <a:rPr lang="en-US" sz="1200" dirty="0">
                          <a:effectLst/>
                        </a:rPr>
                        <a:t>direction</a:t>
                      </a:r>
                    </a:p>
                  </a:txBody>
                  <a:tcPr marL="53083" marR="53083" marT="24500" marB="24500"/>
                </a:tc>
                <a:tc>
                  <a:txBody>
                    <a:bodyPr/>
                    <a:lstStyle/>
                    <a:p>
                      <a:r>
                        <a:rPr lang="en-US" sz="1200" u="none" strike="noStrike">
                          <a:effectLst/>
                          <a:hlinkClick r:id="rId2" action="ppaction://hlinkfile"/>
                        </a:rPr>
                        <a:t>FlexDirection</a:t>
                      </a:r>
                      <a:endParaRPr lang="en-US" sz="1200">
                        <a:effectLst/>
                      </a:endParaRPr>
                    </a:p>
                  </a:txBody>
                  <a:tcPr marL="53083" marR="53083" marT="24500" marB="24500"/>
                </a:tc>
                <a:tc>
                  <a:txBody>
                    <a:bodyPr/>
                    <a:lstStyle/>
                    <a:p>
                      <a:r>
                        <a:rPr lang="zh-CN" altLang="en-US" sz="1200">
                          <a:effectLst/>
                        </a:rPr>
                        <a:t>否</a:t>
                      </a:r>
                    </a:p>
                  </a:txBody>
                  <a:tcPr marL="53083" marR="53083" marT="24500" marB="24500"/>
                </a:tc>
                <a:tc>
                  <a:txBody>
                    <a:bodyPr/>
                    <a:lstStyle/>
                    <a:p>
                      <a:r>
                        <a:rPr lang="en-US" sz="1200" dirty="0">
                          <a:effectLst/>
                        </a:rPr>
                        <a:t>FlexDirection.Row</a:t>
                      </a:r>
                    </a:p>
                  </a:txBody>
                  <a:tcPr marL="53083" marR="53083" marT="24500" marB="24500"/>
                </a:tc>
                <a:tc>
                  <a:txBody>
                    <a:bodyPr/>
                    <a:lstStyle/>
                    <a:p>
                      <a:r>
                        <a:rPr lang="zh-CN" altLang="en-US" sz="1200">
                          <a:effectLst/>
                        </a:rPr>
                        <a:t>子组件在</a:t>
                      </a:r>
                      <a:r>
                        <a:rPr lang="en-US" sz="1200">
                          <a:effectLst/>
                        </a:rPr>
                        <a:t>Flex</a:t>
                      </a:r>
                      <a:r>
                        <a:rPr lang="zh-CN" altLang="en-US" sz="1200">
                          <a:effectLst/>
                        </a:rPr>
                        <a:t>容器上排列的方向，即主轴的方向。</a:t>
                      </a:r>
                    </a:p>
                  </a:txBody>
                  <a:tcPr marL="53083" marR="53083" marT="24500" marB="24500"/>
                </a:tc>
                <a:extLst>
                  <a:ext uri="{0D108BD9-81ED-4DB2-BD59-A6C34878D82A}">
                    <a16:rowId xmlns:a16="http://schemas.microsoft.com/office/drawing/2014/main" val="3177512496"/>
                  </a:ext>
                </a:extLst>
              </a:tr>
              <a:tr h="658008">
                <a:tc>
                  <a:txBody>
                    <a:bodyPr/>
                    <a:lstStyle/>
                    <a:p>
                      <a:r>
                        <a:rPr lang="en-US" sz="1200">
                          <a:effectLst/>
                        </a:rPr>
                        <a:t>wrap</a:t>
                      </a:r>
                    </a:p>
                  </a:txBody>
                  <a:tcPr marL="53083" marR="53083" marT="24500" marB="24500"/>
                </a:tc>
                <a:tc>
                  <a:txBody>
                    <a:bodyPr/>
                    <a:lstStyle/>
                    <a:p>
                      <a:r>
                        <a:rPr lang="en-US" sz="1200" u="none" strike="noStrike">
                          <a:effectLst/>
                          <a:hlinkClick r:id="rId2" action="ppaction://hlinkfile"/>
                        </a:rPr>
                        <a:t>FlexWrap</a:t>
                      </a:r>
                      <a:endParaRPr lang="en-US" sz="1200">
                        <a:effectLst/>
                      </a:endParaRPr>
                    </a:p>
                  </a:txBody>
                  <a:tcPr marL="53083" marR="53083" marT="24500" marB="24500"/>
                </a:tc>
                <a:tc>
                  <a:txBody>
                    <a:bodyPr/>
                    <a:lstStyle/>
                    <a:p>
                      <a:r>
                        <a:rPr lang="zh-CN" altLang="en-US" sz="1200" dirty="0">
                          <a:effectLst/>
                        </a:rPr>
                        <a:t>否</a:t>
                      </a:r>
                    </a:p>
                  </a:txBody>
                  <a:tcPr marL="53083" marR="53083" marT="24500" marB="24500"/>
                </a:tc>
                <a:tc>
                  <a:txBody>
                    <a:bodyPr/>
                    <a:lstStyle/>
                    <a:p>
                      <a:r>
                        <a:rPr lang="en-US" sz="1200" dirty="0">
                          <a:effectLst/>
                        </a:rPr>
                        <a:t>FlexWrap.NoWrap</a:t>
                      </a:r>
                    </a:p>
                  </a:txBody>
                  <a:tcPr marL="53083" marR="53083" marT="24500" marB="24500"/>
                </a:tc>
                <a:tc>
                  <a:txBody>
                    <a:bodyPr/>
                    <a:lstStyle/>
                    <a:p>
                      <a:r>
                        <a:rPr lang="en-US" sz="1200">
                          <a:effectLst/>
                        </a:rPr>
                        <a:t>Flex</a:t>
                      </a:r>
                      <a:r>
                        <a:rPr lang="zh-CN" altLang="en-US" sz="1200">
                          <a:effectLst/>
                        </a:rPr>
                        <a:t>容器是单行</a:t>
                      </a:r>
                      <a:r>
                        <a:rPr lang="en-US" altLang="zh-CN" sz="1200">
                          <a:effectLst/>
                        </a:rPr>
                        <a:t>/</a:t>
                      </a:r>
                      <a:r>
                        <a:rPr lang="zh-CN" altLang="en-US" sz="1200">
                          <a:effectLst/>
                        </a:rPr>
                        <a:t>列还是多行</a:t>
                      </a:r>
                      <a:r>
                        <a:rPr lang="en-US" altLang="zh-CN" sz="1200">
                          <a:effectLst/>
                        </a:rPr>
                        <a:t>/</a:t>
                      </a:r>
                      <a:r>
                        <a:rPr lang="zh-CN" altLang="en-US" sz="1200">
                          <a:effectLst/>
                        </a:rPr>
                        <a:t>列排列。</a:t>
                      </a:r>
                    </a:p>
                    <a:p>
                      <a:r>
                        <a:rPr lang="zh-CN" altLang="en-US" sz="1200">
                          <a:effectLst/>
                        </a:rPr>
                        <a:t>说明：</a:t>
                      </a:r>
                    </a:p>
                    <a:p>
                      <a:r>
                        <a:rPr lang="zh-CN" altLang="en-US" sz="1200">
                          <a:effectLst/>
                        </a:rPr>
                        <a:t>在多行布局时，通过交叉轴方向，确认新行堆叠方向。</a:t>
                      </a:r>
                    </a:p>
                  </a:txBody>
                  <a:tcPr marL="53083" marR="53083" marT="24500" marB="24500"/>
                </a:tc>
                <a:extLst>
                  <a:ext uri="{0D108BD9-81ED-4DB2-BD59-A6C34878D82A}">
                    <a16:rowId xmlns:a16="http://schemas.microsoft.com/office/drawing/2014/main" val="2123021569"/>
                  </a:ext>
                </a:extLst>
              </a:tr>
              <a:tr h="422672">
                <a:tc>
                  <a:txBody>
                    <a:bodyPr/>
                    <a:lstStyle/>
                    <a:p>
                      <a:r>
                        <a:rPr lang="en-US" sz="1200">
                          <a:effectLst/>
                        </a:rPr>
                        <a:t>justifyContent</a:t>
                      </a:r>
                    </a:p>
                  </a:txBody>
                  <a:tcPr marL="53083" marR="53083" marT="24500" marB="24500"/>
                </a:tc>
                <a:tc>
                  <a:txBody>
                    <a:bodyPr/>
                    <a:lstStyle/>
                    <a:p>
                      <a:r>
                        <a:rPr lang="en-US" sz="1200" u="none" strike="noStrike">
                          <a:effectLst/>
                          <a:hlinkClick r:id="rId2" action="ppaction://hlinkfile"/>
                        </a:rPr>
                        <a:t>FlexAlign</a:t>
                      </a:r>
                      <a:endParaRPr lang="en-US" sz="1200">
                        <a:effectLst/>
                      </a:endParaRPr>
                    </a:p>
                  </a:txBody>
                  <a:tcPr marL="53083" marR="53083" marT="24500" marB="24500"/>
                </a:tc>
                <a:tc>
                  <a:txBody>
                    <a:bodyPr/>
                    <a:lstStyle/>
                    <a:p>
                      <a:r>
                        <a:rPr lang="zh-CN" altLang="en-US" sz="1200">
                          <a:effectLst/>
                        </a:rPr>
                        <a:t>否</a:t>
                      </a:r>
                    </a:p>
                  </a:txBody>
                  <a:tcPr marL="53083" marR="53083" marT="24500" marB="24500"/>
                </a:tc>
                <a:tc>
                  <a:txBody>
                    <a:bodyPr/>
                    <a:lstStyle/>
                    <a:p>
                      <a:r>
                        <a:rPr lang="en-US" sz="1200" dirty="0" err="1">
                          <a:effectLst/>
                        </a:rPr>
                        <a:t>FlexAlign.Start</a:t>
                      </a:r>
                      <a:endParaRPr lang="en-US" sz="1200" dirty="0">
                        <a:effectLst/>
                      </a:endParaRPr>
                    </a:p>
                  </a:txBody>
                  <a:tcPr marL="53083" marR="53083" marT="24500" marB="24500"/>
                </a:tc>
                <a:tc>
                  <a:txBody>
                    <a:bodyPr/>
                    <a:lstStyle/>
                    <a:p>
                      <a:r>
                        <a:rPr lang="zh-CN" altLang="en-US" sz="1200">
                          <a:effectLst/>
                        </a:rPr>
                        <a:t>所有子组件在</a:t>
                      </a:r>
                      <a:r>
                        <a:rPr lang="en-US" sz="1200">
                          <a:effectLst/>
                        </a:rPr>
                        <a:t>Flex</a:t>
                      </a:r>
                      <a:r>
                        <a:rPr lang="zh-CN" altLang="en-US" sz="1200">
                          <a:effectLst/>
                        </a:rPr>
                        <a:t>容器主轴上的对齐格式。</a:t>
                      </a:r>
                    </a:p>
                  </a:txBody>
                  <a:tcPr marL="53083" marR="53083" marT="24500" marB="24500"/>
                </a:tc>
                <a:extLst>
                  <a:ext uri="{0D108BD9-81ED-4DB2-BD59-A6C34878D82A}">
                    <a16:rowId xmlns:a16="http://schemas.microsoft.com/office/drawing/2014/main" val="2157438522"/>
                  </a:ext>
                </a:extLst>
              </a:tr>
              <a:tr h="431488">
                <a:tc>
                  <a:txBody>
                    <a:bodyPr/>
                    <a:lstStyle/>
                    <a:p>
                      <a:r>
                        <a:rPr lang="en-US" sz="1200">
                          <a:effectLst/>
                        </a:rPr>
                        <a:t>alignItems</a:t>
                      </a:r>
                    </a:p>
                  </a:txBody>
                  <a:tcPr marL="53083" marR="53083" marT="24500" marB="24500"/>
                </a:tc>
                <a:tc>
                  <a:txBody>
                    <a:bodyPr/>
                    <a:lstStyle/>
                    <a:p>
                      <a:r>
                        <a:rPr lang="en-US" sz="1200" u="none" strike="noStrike">
                          <a:effectLst/>
                          <a:hlinkClick r:id="rId2" action="ppaction://hlinkfile"/>
                        </a:rPr>
                        <a:t>ItemAlign</a:t>
                      </a:r>
                      <a:endParaRPr lang="en-US" sz="1200">
                        <a:effectLst/>
                      </a:endParaRPr>
                    </a:p>
                  </a:txBody>
                  <a:tcPr marL="53083" marR="53083" marT="24500" marB="24500"/>
                </a:tc>
                <a:tc>
                  <a:txBody>
                    <a:bodyPr/>
                    <a:lstStyle/>
                    <a:p>
                      <a:r>
                        <a:rPr lang="zh-CN" altLang="en-US" sz="1200">
                          <a:effectLst/>
                        </a:rPr>
                        <a:t>否</a:t>
                      </a:r>
                    </a:p>
                  </a:txBody>
                  <a:tcPr marL="53083" marR="53083" marT="24500" marB="24500"/>
                </a:tc>
                <a:tc>
                  <a:txBody>
                    <a:bodyPr/>
                    <a:lstStyle/>
                    <a:p>
                      <a:r>
                        <a:rPr lang="en-US" sz="1200">
                          <a:effectLst/>
                        </a:rPr>
                        <a:t>ItemAlign.Start</a:t>
                      </a:r>
                    </a:p>
                  </a:txBody>
                  <a:tcPr marL="53083" marR="53083" marT="24500" marB="24500"/>
                </a:tc>
                <a:tc>
                  <a:txBody>
                    <a:bodyPr/>
                    <a:lstStyle/>
                    <a:p>
                      <a:r>
                        <a:rPr lang="zh-CN" altLang="en-US" sz="1200">
                          <a:effectLst/>
                        </a:rPr>
                        <a:t>所有子组件在</a:t>
                      </a:r>
                      <a:r>
                        <a:rPr lang="en-US" sz="1200">
                          <a:effectLst/>
                        </a:rPr>
                        <a:t>Flex</a:t>
                      </a:r>
                      <a:r>
                        <a:rPr lang="zh-CN" altLang="en-US" sz="1200">
                          <a:effectLst/>
                        </a:rPr>
                        <a:t>容器交叉轴上的对齐格式。</a:t>
                      </a:r>
                    </a:p>
                  </a:txBody>
                  <a:tcPr marL="53083" marR="53083" marT="24500" marB="24500"/>
                </a:tc>
                <a:extLst>
                  <a:ext uri="{0D108BD9-81ED-4DB2-BD59-A6C34878D82A}">
                    <a16:rowId xmlns:a16="http://schemas.microsoft.com/office/drawing/2014/main" val="1282929406"/>
                  </a:ext>
                </a:extLst>
              </a:tr>
              <a:tr h="640619">
                <a:tc>
                  <a:txBody>
                    <a:bodyPr/>
                    <a:lstStyle/>
                    <a:p>
                      <a:r>
                        <a:rPr lang="en-US" sz="1200">
                          <a:effectLst/>
                        </a:rPr>
                        <a:t>alignContent</a:t>
                      </a:r>
                    </a:p>
                  </a:txBody>
                  <a:tcPr marL="53083" marR="53083" marT="24500" marB="24500"/>
                </a:tc>
                <a:tc>
                  <a:txBody>
                    <a:bodyPr/>
                    <a:lstStyle/>
                    <a:p>
                      <a:r>
                        <a:rPr lang="en-US" sz="1200" u="none" strike="noStrike">
                          <a:effectLst/>
                          <a:hlinkClick r:id="rId2" action="ppaction://hlinkfile"/>
                        </a:rPr>
                        <a:t>FlexAlign</a:t>
                      </a:r>
                      <a:endParaRPr lang="en-US" sz="1200">
                        <a:effectLst/>
                      </a:endParaRPr>
                    </a:p>
                  </a:txBody>
                  <a:tcPr marL="53083" marR="53083" marT="24500" marB="24500"/>
                </a:tc>
                <a:tc>
                  <a:txBody>
                    <a:bodyPr/>
                    <a:lstStyle/>
                    <a:p>
                      <a:r>
                        <a:rPr lang="zh-CN" altLang="en-US" sz="1200">
                          <a:effectLst/>
                        </a:rPr>
                        <a:t>否</a:t>
                      </a:r>
                    </a:p>
                  </a:txBody>
                  <a:tcPr marL="53083" marR="53083" marT="24500" marB="24500"/>
                </a:tc>
                <a:tc>
                  <a:txBody>
                    <a:bodyPr/>
                    <a:lstStyle/>
                    <a:p>
                      <a:r>
                        <a:rPr lang="en-US" sz="1200" dirty="0" err="1">
                          <a:effectLst/>
                        </a:rPr>
                        <a:t>FlexAlign.Start</a:t>
                      </a:r>
                      <a:endParaRPr lang="en-US" sz="1200" dirty="0">
                        <a:effectLst/>
                      </a:endParaRPr>
                    </a:p>
                  </a:txBody>
                  <a:tcPr marL="53083" marR="53083" marT="24500" marB="24500"/>
                </a:tc>
                <a:tc>
                  <a:txBody>
                    <a:bodyPr/>
                    <a:lstStyle/>
                    <a:p>
                      <a:r>
                        <a:rPr lang="zh-CN" altLang="en-US" sz="1200" dirty="0">
                          <a:effectLst/>
                        </a:rPr>
                        <a:t>交叉轴中有额外的空间时，多行内容的对齐方式。仅在</a:t>
                      </a:r>
                      <a:r>
                        <a:rPr lang="en-US" sz="1200" dirty="0">
                          <a:effectLst/>
                        </a:rPr>
                        <a:t>wrap</a:t>
                      </a:r>
                      <a:r>
                        <a:rPr lang="zh-CN" altLang="en-US" sz="1200" dirty="0">
                          <a:effectLst/>
                        </a:rPr>
                        <a:t>为</a:t>
                      </a:r>
                      <a:r>
                        <a:rPr lang="en-US" sz="1200" dirty="0">
                          <a:effectLst/>
                        </a:rPr>
                        <a:t>Wrap</a:t>
                      </a:r>
                      <a:r>
                        <a:rPr lang="zh-CN" altLang="en-US" sz="1200" dirty="0">
                          <a:effectLst/>
                        </a:rPr>
                        <a:t>或</a:t>
                      </a:r>
                      <a:r>
                        <a:rPr lang="en-US" sz="1200" dirty="0">
                          <a:effectLst/>
                        </a:rPr>
                        <a:t>WrapReverse</a:t>
                      </a:r>
                      <a:r>
                        <a:rPr lang="zh-CN" altLang="en-US" sz="1200" dirty="0">
                          <a:effectLst/>
                        </a:rPr>
                        <a:t>下生效。</a:t>
                      </a:r>
                    </a:p>
                  </a:txBody>
                  <a:tcPr marL="53083" marR="53083" marT="24500" marB="24500"/>
                </a:tc>
                <a:extLst>
                  <a:ext uri="{0D108BD9-81ED-4DB2-BD59-A6C34878D82A}">
                    <a16:rowId xmlns:a16="http://schemas.microsoft.com/office/drawing/2014/main" val="4232668278"/>
                  </a:ext>
                </a:extLst>
              </a:tr>
            </a:tbl>
          </a:graphicData>
        </a:graphic>
      </p:graphicFrame>
    </p:spTree>
    <p:extLst>
      <p:ext uri="{BB962C8B-B14F-4D97-AF65-F5344CB8AC3E}">
        <p14:creationId xmlns:p14="http://schemas.microsoft.com/office/powerpoint/2010/main" val="347833550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API Reference</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pic>
        <p:nvPicPr>
          <p:cNvPr id="4" name="图片 3"/>
          <p:cNvPicPr>
            <a:picLocks noChangeAspect="1"/>
          </p:cNvPicPr>
          <p:nvPr/>
        </p:nvPicPr>
        <p:blipFill>
          <a:blip r:embed="rId2"/>
          <a:stretch>
            <a:fillRect/>
          </a:stretch>
        </p:blipFill>
        <p:spPr>
          <a:xfrm>
            <a:off x="1126654" y="856585"/>
            <a:ext cx="9577064" cy="5719635"/>
          </a:xfrm>
          <a:prstGeom prst="rect">
            <a:avLst/>
          </a:prstGeom>
        </p:spPr>
      </p:pic>
      <p:sp>
        <p:nvSpPr>
          <p:cNvPr id="5" name="文本框 4"/>
          <p:cNvSpPr txBox="1"/>
          <p:nvPr/>
        </p:nvSpPr>
        <p:spPr>
          <a:xfrm>
            <a:off x="262558" y="3001921"/>
            <a:ext cx="1008112" cy="276999"/>
          </a:xfrm>
          <a:prstGeom prst="rect">
            <a:avLst/>
          </a:prstGeom>
          <a:noFill/>
          <a:ln>
            <a:solidFill>
              <a:srgbClr val="008DF6"/>
            </a:solidFill>
          </a:ln>
        </p:spPr>
        <p:txBody>
          <a:bodyPr wrap="square" rtlCol="0">
            <a:spAutoFit/>
          </a:bodyPr>
          <a:lstStyle/>
          <a:p>
            <a:r>
              <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rPr>
              <a:t>1. </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鼠标悬停</a:t>
            </a:r>
          </a:p>
        </p:txBody>
      </p:sp>
      <p:cxnSp>
        <p:nvCxnSpPr>
          <p:cNvPr id="8" name="直接箭头连接符 7"/>
          <p:cNvCxnSpPr>
            <a:stCxn id="5" idx="3"/>
          </p:cNvCxnSpPr>
          <p:nvPr/>
        </p:nvCxnSpPr>
        <p:spPr>
          <a:xfrm>
            <a:off x="1270670" y="3140421"/>
            <a:ext cx="1224136" cy="13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文本框 10"/>
          <p:cNvSpPr txBox="1"/>
          <p:nvPr/>
        </p:nvSpPr>
        <p:spPr>
          <a:xfrm>
            <a:off x="258822" y="4581321"/>
            <a:ext cx="1008112" cy="276999"/>
          </a:xfrm>
          <a:prstGeom prst="rect">
            <a:avLst/>
          </a:prstGeom>
          <a:noFill/>
          <a:ln>
            <a:solidFill>
              <a:srgbClr val="008DF6"/>
            </a:solidFill>
          </a:ln>
        </p:spPr>
        <p:txBody>
          <a:bodyPr wrap="square" rtlCol="0">
            <a:spAutoFit/>
          </a:bodyPr>
          <a:lstStyle/>
          <a:p>
            <a:r>
              <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rPr>
              <a:t>2. </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a:t>
            </a:r>
          </a:p>
        </p:txBody>
      </p:sp>
      <p:cxnSp>
        <p:nvCxnSpPr>
          <p:cNvPr id="13" name="直接箭头连接符 12"/>
          <p:cNvCxnSpPr>
            <a:stCxn id="11" idx="3"/>
          </p:cNvCxnSpPr>
          <p:nvPr/>
        </p:nvCxnSpPr>
        <p:spPr>
          <a:xfrm flipV="1">
            <a:off x="1266934" y="4442823"/>
            <a:ext cx="2307992" cy="2769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文本框 14"/>
          <p:cNvSpPr txBox="1"/>
          <p:nvPr/>
        </p:nvSpPr>
        <p:spPr>
          <a:xfrm>
            <a:off x="11063758" y="3274745"/>
            <a:ext cx="1008112" cy="646331"/>
          </a:xfrm>
          <a:prstGeom prst="rect">
            <a:avLst/>
          </a:prstGeom>
          <a:noFill/>
          <a:ln>
            <a:solidFill>
              <a:srgbClr val="008DF6"/>
            </a:solidFill>
          </a:ln>
        </p:spPr>
        <p:txBody>
          <a:bodyPr wrap="square" rtlCol="0">
            <a:spAutoFit/>
          </a:bodyPr>
          <a:lstStyle/>
          <a:p>
            <a:r>
              <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rPr>
              <a:t>3. API Reference</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窗口查看</a:t>
            </a:r>
          </a:p>
        </p:txBody>
      </p:sp>
      <p:cxnSp>
        <p:nvCxnSpPr>
          <p:cNvPr id="17" name="直接箭头连接符 16"/>
          <p:cNvCxnSpPr>
            <a:stCxn id="15" idx="1"/>
          </p:cNvCxnSpPr>
          <p:nvPr/>
        </p:nvCxnSpPr>
        <p:spPr>
          <a:xfrm flipH="1" flipV="1">
            <a:off x="10631710" y="2349675"/>
            <a:ext cx="432048" cy="12482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3147964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6"/>
          <p:cNvSpPr>
            <a:spLocks noChangeArrowheads="1"/>
          </p:cNvSpPr>
          <p:nvPr/>
        </p:nvSpPr>
        <p:spPr bwMode="auto">
          <a:xfrm>
            <a:off x="1198662" y="1125538"/>
            <a:ext cx="10009112" cy="52937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indent="-342900">
              <a:spcBef>
                <a:spcPts val="2400"/>
              </a:spcBef>
              <a:buFont typeface="Wingdings" panose="05000000000000000000" pitchFamily="2" charset="2"/>
              <a:buChar char="l"/>
            </a:pP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没有明确的主轴与交叉轴</a:t>
            </a:r>
            <a:endParaRPr lang="en-US"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mn-ea"/>
            </a:endParaRPr>
          </a:p>
          <a:p>
            <a:pPr marL="342900" indent="-342900">
              <a:spcBef>
                <a:spcPts val="2400"/>
              </a:spcBef>
              <a:buFont typeface="Wingdings" panose="05000000000000000000" pitchFamily="2" charset="2"/>
              <a:buChar char="l"/>
            </a:pP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把子组件按照设置的对齐方式顺序依次堆叠。默认后一个组件放在前一个组件上面。</a:t>
            </a:r>
            <a:endParaRPr lang="en-US"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mn-ea"/>
            </a:endParaRPr>
          </a:p>
          <a:p>
            <a:pPr marL="342900" indent="-342900">
              <a:spcBef>
                <a:spcPts val="2400"/>
              </a:spcBef>
              <a:buFont typeface="Wingdings" panose="05000000000000000000" pitchFamily="2" charset="2"/>
              <a:buChar char="l"/>
            </a:pPr>
            <a:endPar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cs typeface="+mn-ea"/>
            </a:endParaRPr>
          </a:p>
          <a:p>
            <a:pPr marL="342900" indent="-342900">
              <a:spcBef>
                <a:spcPts val="2400"/>
              </a:spcBef>
              <a:buFont typeface="Wingdings" panose="05000000000000000000" pitchFamily="2" charset="2"/>
              <a:buChar char="l"/>
            </a:pPr>
            <a:r>
              <a:rPr lang="zh-CN" altLang="en-US" sz="1800" dirty="0">
                <a:solidFill>
                  <a:schemeClr val="tx1">
                    <a:lumMod val="85000"/>
                    <a:lumOff val="15000"/>
                  </a:schemeClr>
                </a:solidFill>
                <a:latin typeface="微软雅黑" panose="020B0503020204020204" pitchFamily="34" charset="-122"/>
                <a:ea typeface="微软雅黑" panose="020B0503020204020204" pitchFamily="34" charset="-122"/>
                <a:cs typeface="+mn-ea"/>
              </a:rPr>
              <a:t>在</a:t>
            </a:r>
            <a:r>
              <a:rPr lang="en-US" altLang="zh-CN" sz="1800" dirty="0">
                <a:solidFill>
                  <a:schemeClr val="tx1">
                    <a:lumMod val="85000"/>
                    <a:lumOff val="15000"/>
                  </a:schemeClr>
                </a:solidFill>
                <a:latin typeface="微软雅黑" panose="020B0503020204020204" pitchFamily="34" charset="-122"/>
                <a:ea typeface="微软雅黑" panose="020B0503020204020204" pitchFamily="34" charset="-122"/>
                <a:cs typeface="+mn-ea"/>
              </a:rPr>
              <a:t>Stack</a:t>
            </a:r>
            <a:r>
              <a:rPr lang="zh-CN" altLang="en-US" sz="1800" dirty="0">
                <a:solidFill>
                  <a:schemeClr val="tx1">
                    <a:lumMod val="85000"/>
                    <a:lumOff val="15000"/>
                  </a:schemeClr>
                </a:solidFill>
                <a:latin typeface="微软雅黑" panose="020B0503020204020204" pitchFamily="34" charset="-122"/>
                <a:ea typeface="微软雅黑" panose="020B0503020204020204" pitchFamily="34" charset="-122"/>
                <a:cs typeface="+mn-ea"/>
              </a:rPr>
              <a:t>布局下，子组件的</a:t>
            </a:r>
            <a:r>
              <a:rPr lang="en-US" altLang="zh-CN" sz="1800" dirty="0">
                <a:solidFill>
                  <a:schemeClr val="tx1">
                    <a:lumMod val="85000"/>
                    <a:lumOff val="15000"/>
                  </a:schemeClr>
                </a:solidFill>
                <a:latin typeface="微软雅黑" panose="020B0503020204020204" pitchFamily="34" charset="-122"/>
                <a:ea typeface="微软雅黑" panose="020B0503020204020204" pitchFamily="34" charset="-122"/>
                <a:cs typeface="+mn-ea"/>
              </a:rPr>
              <a:t>zIndex</a:t>
            </a:r>
            <a:r>
              <a:rPr lang="zh-CN" altLang="en-US" sz="1800" dirty="0">
                <a:solidFill>
                  <a:schemeClr val="tx1">
                    <a:lumMod val="85000"/>
                    <a:lumOff val="15000"/>
                  </a:schemeClr>
                </a:solidFill>
                <a:latin typeface="微软雅黑" panose="020B0503020204020204" pitchFamily="34" charset="-122"/>
                <a:ea typeface="微软雅黑" panose="020B0503020204020204" pitchFamily="34" charset="-122"/>
                <a:cs typeface="+mn-ea"/>
              </a:rPr>
              <a:t>属性生效。可以通过</a:t>
            </a:r>
            <a:r>
              <a:rPr lang="en-US" altLang="zh-CN" sz="1800" dirty="0">
                <a:solidFill>
                  <a:schemeClr val="tx1">
                    <a:lumMod val="85000"/>
                    <a:lumOff val="15000"/>
                  </a:schemeClr>
                </a:solidFill>
                <a:latin typeface="微软雅黑" panose="020B0503020204020204" pitchFamily="34" charset="-122"/>
                <a:ea typeface="微软雅黑" panose="020B0503020204020204" pitchFamily="34" charset="-122"/>
                <a:cs typeface="+mn-ea"/>
              </a:rPr>
              <a:t>zIndex</a:t>
            </a:r>
            <a:r>
              <a:rPr lang="zh-CN" altLang="en-US" sz="1800" dirty="0">
                <a:solidFill>
                  <a:schemeClr val="tx1">
                    <a:lumMod val="85000"/>
                    <a:lumOff val="15000"/>
                  </a:schemeClr>
                </a:solidFill>
                <a:latin typeface="微软雅黑" panose="020B0503020204020204" pitchFamily="34" charset="-122"/>
                <a:ea typeface="微软雅黑" panose="020B0503020204020204" pitchFamily="34" charset="-122"/>
                <a:cs typeface="+mn-ea"/>
              </a:rPr>
              <a:t>属性设置堆叠顺序，</a:t>
            </a:r>
            <a:r>
              <a:rPr lang="en-US" altLang="zh-CN" sz="1800" dirty="0">
                <a:solidFill>
                  <a:schemeClr val="tx1">
                    <a:lumMod val="85000"/>
                    <a:lumOff val="15000"/>
                  </a:schemeClr>
                </a:solidFill>
                <a:latin typeface="微软雅黑" panose="020B0503020204020204" pitchFamily="34" charset="-122"/>
                <a:ea typeface="微软雅黑" panose="020B0503020204020204" pitchFamily="34" charset="-122"/>
                <a:cs typeface="+mn-ea"/>
              </a:rPr>
              <a:t>zIndex</a:t>
            </a:r>
            <a:r>
              <a:rPr lang="zh-CN" altLang="en-US" sz="1800" dirty="0">
                <a:solidFill>
                  <a:schemeClr val="tx1">
                    <a:lumMod val="85000"/>
                    <a:lumOff val="15000"/>
                  </a:schemeClr>
                </a:solidFill>
                <a:latin typeface="微软雅黑" panose="020B0503020204020204" pitchFamily="34" charset="-122"/>
                <a:ea typeface="微软雅黑" panose="020B0503020204020204" pitchFamily="34" charset="-122"/>
                <a:cs typeface="+mn-ea"/>
              </a:rPr>
              <a:t>值越大，组件越在上层。</a:t>
            </a:r>
            <a:endParaRPr lang="en-US" altLang="zh-CN" sz="1800" dirty="0">
              <a:solidFill>
                <a:schemeClr val="tx1">
                  <a:lumMod val="85000"/>
                  <a:lumOff val="15000"/>
                </a:schemeClr>
              </a:solidFill>
              <a:latin typeface="微软雅黑" panose="020B0503020204020204" pitchFamily="34" charset="-122"/>
              <a:ea typeface="微软雅黑" panose="020B0503020204020204" pitchFamily="34" charset="-122"/>
              <a:cs typeface="+mn-ea"/>
            </a:endParaRPr>
          </a:p>
          <a:p>
            <a:pPr marL="952500" lvl="1" indent="-342900">
              <a:spcBef>
                <a:spcPts val="2400"/>
              </a:spcBef>
              <a:buFont typeface="Wingdings" panose="05000000000000000000" pitchFamily="2" charset="2"/>
              <a:buChar char="u"/>
            </a:pPr>
            <a:r>
              <a:rPr lang="en-US" altLang="zh-CN" sz="1600" dirty="0">
                <a:solidFill>
                  <a:schemeClr val="tx1">
                    <a:lumMod val="85000"/>
                    <a:lumOff val="15000"/>
                  </a:schemeClr>
                </a:solidFill>
                <a:latin typeface="微软雅黑" panose="020B0503020204020204" pitchFamily="34" charset="-122"/>
                <a:ea typeface="微软雅黑" panose="020B0503020204020204" pitchFamily="34" charset="-122"/>
                <a:cs typeface="+mn-ea"/>
              </a:rPr>
              <a:t>Eg. </a:t>
            </a:r>
          </a:p>
          <a:p>
            <a:pPr marL="952500" lvl="1" indent="-342900">
              <a:spcBef>
                <a:spcPts val="2400"/>
              </a:spcBef>
              <a:buFont typeface="Wingdings" panose="05000000000000000000" pitchFamily="2" charset="2"/>
              <a:buChar char="u"/>
            </a:pPr>
            <a:endParaRPr lang="en-US" altLang="zh-CN" sz="1600" dirty="0">
              <a:solidFill>
                <a:schemeClr val="tx1">
                  <a:lumMod val="85000"/>
                  <a:lumOff val="15000"/>
                </a:schemeClr>
              </a:solidFill>
              <a:latin typeface="微软雅黑" panose="020B0503020204020204" pitchFamily="34" charset="-122"/>
              <a:ea typeface="微软雅黑" panose="020B0503020204020204" pitchFamily="34" charset="-122"/>
              <a:cs typeface="+mn-ea"/>
            </a:endParaRPr>
          </a:p>
          <a:p>
            <a:pPr marL="952500" lvl="1" indent="-342900">
              <a:spcBef>
                <a:spcPts val="2400"/>
              </a:spcBef>
              <a:buFont typeface="Wingdings" panose="05000000000000000000" pitchFamily="2" charset="2"/>
              <a:buChar char="u"/>
            </a:pPr>
            <a:endParaRPr lang="en-US" altLang="zh-CN" sz="1600" dirty="0">
              <a:solidFill>
                <a:schemeClr val="tx1">
                  <a:lumMod val="85000"/>
                  <a:lumOff val="15000"/>
                </a:schemeClr>
              </a:solidFill>
              <a:latin typeface="微软雅黑" panose="020B0503020204020204" pitchFamily="34" charset="-122"/>
              <a:ea typeface="微软雅黑" panose="020B0503020204020204" pitchFamily="34" charset="-122"/>
              <a:cs typeface="+mn-ea"/>
            </a:endParaRPr>
          </a:p>
          <a:p>
            <a:pPr marL="952500" lvl="1" indent="-342900">
              <a:spcBef>
                <a:spcPts val="2400"/>
              </a:spcBef>
              <a:buFont typeface="Wingdings" panose="05000000000000000000" pitchFamily="2" charset="2"/>
              <a:buChar char="u"/>
            </a:pPr>
            <a:endParaRPr lang="en-US" altLang="zh-CN" sz="1600" dirty="0">
              <a:solidFill>
                <a:schemeClr val="tx1">
                  <a:lumMod val="85000"/>
                  <a:lumOff val="15000"/>
                </a:schemeClr>
              </a:solidFill>
              <a:latin typeface="微软雅黑" panose="020B0503020204020204" pitchFamily="34" charset="-122"/>
              <a:ea typeface="微软雅黑" panose="020B0503020204020204" pitchFamily="34" charset="-122"/>
              <a:cs typeface="+mn-ea"/>
            </a:endParaRPr>
          </a:p>
          <a:p>
            <a:pPr marL="342900" indent="-342900">
              <a:spcBef>
                <a:spcPts val="2400"/>
              </a:spcBef>
              <a:buFont typeface="Wingdings" panose="05000000000000000000" pitchFamily="2" charset="2"/>
              <a:buChar char="l"/>
            </a:pPr>
            <a:r>
              <a:rPr lang="zh-CN" altLang="en-US" sz="1800" dirty="0">
                <a:solidFill>
                  <a:schemeClr val="tx1">
                    <a:lumMod val="85000"/>
                    <a:lumOff val="15000"/>
                  </a:schemeClr>
                </a:solidFill>
                <a:latin typeface="微软雅黑" panose="020B0503020204020204" pitchFamily="34" charset="-122"/>
                <a:ea typeface="微软雅黑" panose="020B0503020204020204" pitchFamily="34" charset="-122"/>
                <a:cs typeface="+mn-ea"/>
              </a:rPr>
              <a:t>具体细节见</a:t>
            </a:r>
            <a:r>
              <a:rPr lang="en-US" altLang="zh-CN" sz="1800" dirty="0">
                <a:solidFill>
                  <a:schemeClr val="tx1">
                    <a:lumMod val="85000"/>
                    <a:lumOff val="15000"/>
                  </a:schemeClr>
                </a:solidFill>
                <a:latin typeface="微软雅黑" panose="020B0503020204020204" pitchFamily="34" charset="-122"/>
                <a:ea typeface="微软雅黑" panose="020B0503020204020204" pitchFamily="34" charset="-122"/>
                <a:cs typeface="+mn-ea"/>
              </a:rPr>
              <a:t>API Reference</a:t>
            </a:r>
          </a:p>
        </p:txBody>
      </p:sp>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Stack</a:t>
            </a:r>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（堆叠布局）</a:t>
            </a:r>
          </a:p>
        </p:txBody>
      </p:sp>
      <p:sp>
        <p:nvSpPr>
          <p:cNvPr id="5" name="文本框 4"/>
          <p:cNvSpPr txBox="1"/>
          <p:nvPr/>
        </p:nvSpPr>
        <p:spPr>
          <a:xfrm>
            <a:off x="622598" y="4653930"/>
            <a:ext cx="184731" cy="276999"/>
          </a:xfrm>
          <a:prstGeom prst="rect">
            <a:avLst/>
          </a:prstGeom>
          <a:noFill/>
        </p:spPr>
        <p:txBody>
          <a:bodyPr wrap="none" rtlCol="0">
            <a:spAutoFit/>
          </a:bodyPr>
          <a:lstStyle/>
          <a:p>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pic>
        <p:nvPicPr>
          <p:cNvPr id="9" name="图片 8"/>
          <p:cNvPicPr>
            <a:picLocks noChangeAspect="1"/>
          </p:cNvPicPr>
          <p:nvPr/>
        </p:nvPicPr>
        <p:blipFill>
          <a:blip r:embed="rId2"/>
          <a:stretch>
            <a:fillRect/>
          </a:stretch>
        </p:blipFill>
        <p:spPr>
          <a:xfrm>
            <a:off x="8111430" y="4616261"/>
            <a:ext cx="2905125" cy="1362075"/>
          </a:xfrm>
          <a:prstGeom prst="rect">
            <a:avLst/>
          </a:prstGeom>
        </p:spPr>
      </p:pic>
      <p:sp>
        <p:nvSpPr>
          <p:cNvPr id="10" name="Rectangle 2"/>
          <p:cNvSpPr>
            <a:spLocks noChangeArrowheads="1"/>
          </p:cNvSpPr>
          <p:nvPr/>
        </p:nvSpPr>
        <p:spPr bwMode="auto">
          <a:xfrm>
            <a:off x="1873310" y="4765614"/>
            <a:ext cx="6237648" cy="101566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200" b="0" i="0" u="none" strike="noStrike" cap="none" normalizeH="0" baseline="0" dirty="0">
                <a:ln>
                  <a:noFill/>
                </a:ln>
                <a:solidFill>
                  <a:srgbClr val="00A99E"/>
                </a:solidFill>
                <a:effectLst/>
                <a:latin typeface="Arial Unicode MS"/>
                <a:ea typeface="JetBrains Mono"/>
              </a:rPr>
              <a:t>Stack</a:t>
            </a:r>
            <a:r>
              <a:rPr kumimoji="0" lang="zh-CN" altLang="zh-CN" sz="1200" b="0" i="0" u="none" strike="noStrike" cap="none" normalizeH="0" baseline="0" dirty="0">
                <a:ln>
                  <a:noFill/>
                </a:ln>
                <a:solidFill>
                  <a:srgbClr val="6C71C4"/>
                </a:solidFill>
                <a:effectLst/>
                <a:latin typeface="Arial Unicode MS"/>
                <a:ea typeface="JetBrains Mono"/>
              </a:rPr>
              <a:t>() </a:t>
            </a:r>
            <a:r>
              <a:rPr kumimoji="0" lang="zh-CN" altLang="zh-CN" sz="1200" b="0" i="0" u="none" strike="noStrike" cap="none" normalizeH="0" baseline="0" dirty="0">
                <a:ln>
                  <a:noFill/>
                </a:ln>
                <a:solidFill>
                  <a:srgbClr val="E986CD"/>
                </a:solidFill>
                <a:effectLst/>
                <a:latin typeface="Arial Unicode MS"/>
                <a:ea typeface="JetBrains Mono"/>
              </a:rPr>
              <a:t>{</a:t>
            </a:r>
            <a:br>
              <a:rPr kumimoji="0" lang="zh-CN" altLang="zh-CN" sz="1200" b="0" i="0" u="none" strike="noStrike" cap="none" normalizeH="0" baseline="0" dirty="0">
                <a:ln>
                  <a:noFill/>
                </a:ln>
                <a:solidFill>
                  <a:srgbClr val="E986CD"/>
                </a:solidFill>
                <a:effectLst/>
                <a:latin typeface="Arial Unicode MS"/>
                <a:ea typeface="JetBrains Mono"/>
              </a:rPr>
            </a:br>
            <a:r>
              <a:rPr kumimoji="0" lang="zh-CN" altLang="zh-CN" sz="1200" b="0" i="0" u="none" strike="noStrike" cap="none" normalizeH="0" baseline="0" dirty="0">
                <a:ln>
                  <a:noFill/>
                </a:ln>
                <a:solidFill>
                  <a:srgbClr val="E986CD"/>
                </a:solidFill>
                <a:effectLst/>
                <a:latin typeface="Arial Unicode MS"/>
                <a:ea typeface="JetBrains Mono"/>
              </a:rPr>
              <a:t>  </a:t>
            </a:r>
            <a:r>
              <a:rPr kumimoji="0" lang="en-US" altLang="zh-CN" sz="1200" b="0" i="0" u="none" strike="noStrike" cap="none" normalizeH="0" baseline="0" dirty="0">
                <a:ln>
                  <a:noFill/>
                </a:ln>
                <a:solidFill>
                  <a:srgbClr val="E986CD"/>
                </a:solidFill>
                <a:effectLst/>
                <a:latin typeface="Arial Unicode MS"/>
                <a:ea typeface="JetBrains Mono"/>
              </a:rPr>
              <a:t>  </a:t>
            </a:r>
            <a:r>
              <a:rPr kumimoji="0" lang="zh-CN" altLang="zh-CN" sz="1200" b="0" i="0" u="none" strike="noStrike" cap="none" normalizeH="0" baseline="0" dirty="0">
                <a:ln>
                  <a:noFill/>
                </a:ln>
                <a:solidFill>
                  <a:srgbClr val="00A99E"/>
                </a:solidFill>
                <a:effectLst/>
                <a:latin typeface="Arial Unicode MS"/>
                <a:ea typeface="JetBrains Mono"/>
              </a:rPr>
              <a:t>Text</a:t>
            </a:r>
            <a:r>
              <a:rPr kumimoji="0" lang="zh-CN" altLang="zh-CN" sz="1200" b="0" i="0" u="none" strike="noStrike" cap="none" normalizeH="0" baseline="0" dirty="0">
                <a:ln>
                  <a:noFill/>
                </a:ln>
                <a:solidFill>
                  <a:srgbClr val="6C71C4"/>
                </a:solidFill>
                <a:effectLst/>
                <a:latin typeface="Arial Unicode MS"/>
                <a:ea typeface="JetBrains Mono"/>
              </a:rPr>
              <a:t>(</a:t>
            </a:r>
            <a:r>
              <a:rPr kumimoji="0" lang="zh-CN" altLang="zh-CN" sz="1200" b="0" i="0" u="none" strike="noStrike" cap="none" normalizeH="0" baseline="0" dirty="0">
                <a:ln>
                  <a:noFill/>
                </a:ln>
                <a:solidFill>
                  <a:srgbClr val="653170"/>
                </a:solidFill>
                <a:effectLst/>
                <a:latin typeface="Arial Unicode MS"/>
                <a:ea typeface="JetBrains Mono"/>
              </a:rPr>
              <a:t>'1'</a:t>
            </a:r>
            <a:r>
              <a:rPr kumimoji="0" lang="zh-CN" altLang="zh-CN" sz="1200" b="0" i="0" u="none" strike="noStrike" cap="none" normalizeH="0" baseline="0" dirty="0">
                <a:ln>
                  <a:noFill/>
                </a:ln>
                <a:solidFill>
                  <a:srgbClr val="6C71C4"/>
                </a:solidFill>
                <a:effectLst/>
                <a:latin typeface="Arial Unicode MS"/>
                <a:ea typeface="JetBrains Mono"/>
              </a:rPr>
              <a:t>)</a:t>
            </a:r>
            <a:r>
              <a:rPr kumimoji="0" lang="zh-CN" altLang="zh-CN" sz="1200" b="0" i="0" u="none" strike="noStrike" cap="none" normalizeH="0" baseline="0" dirty="0">
                <a:ln>
                  <a:noFill/>
                </a:ln>
                <a:solidFill>
                  <a:srgbClr val="859801"/>
                </a:solidFill>
                <a:effectLst/>
                <a:latin typeface="Arial Unicode MS"/>
                <a:ea typeface="JetBrains Mono"/>
              </a:rPr>
              <a:t>.</a:t>
            </a:r>
            <a:r>
              <a:rPr kumimoji="0" lang="zh-CN" altLang="zh-CN" sz="1200" b="0" i="0" u="none" strike="noStrike" cap="none" normalizeH="0" baseline="0" dirty="0">
                <a:ln>
                  <a:noFill/>
                </a:ln>
                <a:solidFill>
                  <a:srgbClr val="00A99E"/>
                </a:solidFill>
                <a:effectLst/>
                <a:latin typeface="Arial Unicode MS"/>
                <a:ea typeface="JetBrains Mono"/>
              </a:rPr>
              <a:t>width</a:t>
            </a:r>
            <a:r>
              <a:rPr kumimoji="0" lang="zh-CN" altLang="zh-CN" sz="1200" b="0" i="0" u="none" strike="noStrike" cap="none" normalizeH="0" baseline="0" dirty="0">
                <a:ln>
                  <a:noFill/>
                </a:ln>
                <a:solidFill>
                  <a:srgbClr val="6C71C4"/>
                </a:solidFill>
                <a:effectLst/>
                <a:latin typeface="Arial Unicode MS"/>
                <a:ea typeface="JetBrains Mono"/>
              </a:rPr>
              <a:t>(</a:t>
            </a:r>
            <a:r>
              <a:rPr kumimoji="0" lang="zh-CN" altLang="zh-CN" sz="1200" b="0" i="0" u="none" strike="noStrike" cap="none" normalizeH="0" baseline="0" dirty="0">
                <a:ln>
                  <a:noFill/>
                </a:ln>
                <a:solidFill>
                  <a:srgbClr val="653170"/>
                </a:solidFill>
                <a:effectLst/>
                <a:latin typeface="Arial Unicode MS"/>
                <a:ea typeface="JetBrains Mono"/>
              </a:rPr>
              <a:t>'50%'</a:t>
            </a:r>
            <a:r>
              <a:rPr kumimoji="0" lang="zh-CN" altLang="zh-CN" sz="1200" b="0" i="0" u="none" strike="noStrike" cap="none" normalizeH="0" baseline="0" dirty="0">
                <a:ln>
                  <a:noFill/>
                </a:ln>
                <a:solidFill>
                  <a:srgbClr val="6C71C4"/>
                </a:solidFill>
                <a:effectLst/>
                <a:latin typeface="Arial Unicode MS"/>
                <a:ea typeface="JetBrains Mono"/>
              </a:rPr>
              <a:t>)</a:t>
            </a:r>
            <a:r>
              <a:rPr kumimoji="0" lang="zh-CN" altLang="zh-CN" sz="1200" b="0" i="0" u="none" strike="noStrike" cap="none" normalizeH="0" baseline="0" dirty="0">
                <a:ln>
                  <a:noFill/>
                </a:ln>
                <a:solidFill>
                  <a:srgbClr val="859801"/>
                </a:solidFill>
                <a:effectLst/>
                <a:latin typeface="Arial Unicode MS"/>
                <a:ea typeface="JetBrains Mono"/>
              </a:rPr>
              <a:t>.</a:t>
            </a:r>
            <a:r>
              <a:rPr kumimoji="0" lang="zh-CN" altLang="zh-CN" sz="1200" b="0" i="0" u="none" strike="noStrike" cap="none" normalizeH="0" baseline="0" dirty="0">
                <a:ln>
                  <a:noFill/>
                </a:ln>
                <a:solidFill>
                  <a:srgbClr val="00A99E"/>
                </a:solidFill>
                <a:effectLst/>
                <a:latin typeface="Arial Unicode MS"/>
                <a:ea typeface="JetBrains Mono"/>
              </a:rPr>
              <a:t>height</a:t>
            </a:r>
            <a:r>
              <a:rPr kumimoji="0" lang="zh-CN" altLang="zh-CN" sz="1200" b="0" i="0" u="none" strike="noStrike" cap="none" normalizeH="0" baseline="0" dirty="0">
                <a:ln>
                  <a:noFill/>
                </a:ln>
                <a:solidFill>
                  <a:srgbClr val="6C71C4"/>
                </a:solidFill>
                <a:effectLst/>
                <a:latin typeface="Arial Unicode MS"/>
                <a:ea typeface="JetBrains Mono"/>
              </a:rPr>
              <a:t>(</a:t>
            </a:r>
            <a:r>
              <a:rPr kumimoji="0" lang="zh-CN" altLang="zh-CN" sz="1200" b="0" i="0" u="none" strike="noStrike" cap="none" normalizeH="0" baseline="0" dirty="0">
                <a:ln>
                  <a:noFill/>
                </a:ln>
                <a:solidFill>
                  <a:srgbClr val="653170"/>
                </a:solidFill>
                <a:effectLst/>
                <a:latin typeface="Arial Unicode MS"/>
                <a:ea typeface="JetBrains Mono"/>
              </a:rPr>
              <a:t>"50%"</a:t>
            </a:r>
            <a:r>
              <a:rPr kumimoji="0" lang="zh-CN" altLang="zh-CN" sz="1200" b="0" i="0" u="none" strike="noStrike" cap="none" normalizeH="0" baseline="0" dirty="0">
                <a:ln>
                  <a:noFill/>
                </a:ln>
                <a:solidFill>
                  <a:srgbClr val="6C71C4"/>
                </a:solidFill>
                <a:effectLst/>
                <a:latin typeface="Arial Unicode MS"/>
                <a:ea typeface="JetBrains Mono"/>
              </a:rPr>
              <a:t>)</a:t>
            </a:r>
            <a:r>
              <a:rPr kumimoji="0" lang="zh-CN" altLang="zh-CN" sz="1200" b="0" i="0" u="none" strike="noStrike" cap="none" normalizeH="0" baseline="0" dirty="0">
                <a:ln>
                  <a:noFill/>
                </a:ln>
                <a:solidFill>
                  <a:srgbClr val="859801"/>
                </a:solidFill>
                <a:effectLst/>
                <a:latin typeface="Arial Unicode MS"/>
                <a:ea typeface="JetBrains Mono"/>
              </a:rPr>
              <a:t>.</a:t>
            </a:r>
            <a:r>
              <a:rPr kumimoji="0" lang="zh-CN" altLang="zh-CN" sz="1200" b="0" i="0" u="none" strike="noStrike" cap="none" normalizeH="0" baseline="0" dirty="0">
                <a:ln>
                  <a:noFill/>
                </a:ln>
                <a:solidFill>
                  <a:srgbClr val="00A99E"/>
                </a:solidFill>
                <a:effectLst/>
                <a:latin typeface="Arial Unicode MS"/>
                <a:ea typeface="JetBrains Mono"/>
              </a:rPr>
              <a:t>backgroundColor</a:t>
            </a:r>
            <a:r>
              <a:rPr kumimoji="0" lang="zh-CN" altLang="zh-CN" sz="1200" b="0" i="0" u="none" strike="noStrike" cap="none" normalizeH="0" baseline="0" dirty="0">
                <a:ln>
                  <a:noFill/>
                </a:ln>
                <a:solidFill>
                  <a:srgbClr val="6C71C4"/>
                </a:solidFill>
                <a:effectLst/>
                <a:latin typeface="Arial Unicode MS"/>
                <a:ea typeface="JetBrains Mono"/>
              </a:rPr>
              <a:t>(0xF5DEB3)</a:t>
            </a:r>
            <a:r>
              <a:rPr kumimoji="0" lang="zh-CN" altLang="zh-CN" sz="1200" b="0" i="0" u="none" strike="noStrike" cap="none" normalizeH="0" baseline="0" dirty="0">
                <a:ln>
                  <a:noFill/>
                </a:ln>
                <a:solidFill>
                  <a:srgbClr val="859801"/>
                </a:solidFill>
                <a:effectLst/>
                <a:latin typeface="Arial Unicode MS"/>
                <a:ea typeface="JetBrains Mono"/>
              </a:rPr>
              <a:t>.</a:t>
            </a:r>
            <a:r>
              <a:rPr kumimoji="0" lang="zh-CN" altLang="zh-CN" sz="1200" b="0" i="0" u="none" strike="noStrike" cap="none" normalizeH="0" baseline="0" dirty="0">
                <a:ln>
                  <a:noFill/>
                </a:ln>
                <a:solidFill>
                  <a:srgbClr val="00A99E"/>
                </a:solidFill>
                <a:effectLst/>
                <a:latin typeface="Arial Unicode MS"/>
                <a:ea typeface="JetBrains Mono"/>
              </a:rPr>
              <a:t>zIndex</a:t>
            </a:r>
            <a:r>
              <a:rPr kumimoji="0" lang="zh-CN" altLang="zh-CN" sz="1200" b="0" i="0" u="none" strike="noStrike" cap="none" normalizeH="0" baseline="0" dirty="0">
                <a:ln>
                  <a:noFill/>
                </a:ln>
                <a:solidFill>
                  <a:srgbClr val="6C71C4"/>
                </a:solidFill>
                <a:effectLst/>
                <a:latin typeface="Arial Unicode MS"/>
                <a:ea typeface="JetBrains Mono"/>
              </a:rPr>
              <a:t>(</a:t>
            </a:r>
            <a:r>
              <a:rPr kumimoji="0" lang="zh-CN" altLang="zh-CN" sz="1200" b="0" i="0" u="none" strike="noStrike" cap="none" normalizeH="0" baseline="0" dirty="0">
                <a:ln>
                  <a:noFill/>
                </a:ln>
                <a:solidFill>
                  <a:srgbClr val="FF9170"/>
                </a:solidFill>
                <a:effectLst/>
                <a:latin typeface="Arial Unicode MS"/>
                <a:ea typeface="JetBrains Mono"/>
              </a:rPr>
              <a:t>1</a:t>
            </a:r>
            <a:r>
              <a:rPr kumimoji="0" lang="zh-CN" altLang="zh-CN" sz="1200" b="0" i="0" u="none" strike="noStrike" cap="none" normalizeH="0" baseline="0" dirty="0">
                <a:ln>
                  <a:noFill/>
                </a:ln>
                <a:solidFill>
                  <a:srgbClr val="6C71C4"/>
                </a:solidFill>
                <a:effectLst/>
                <a:latin typeface="Arial Unicode MS"/>
                <a:ea typeface="JetBrains Mono"/>
              </a:rPr>
              <a:t>)</a:t>
            </a:r>
            <a:br>
              <a:rPr kumimoji="0" lang="zh-CN" altLang="zh-CN" sz="1200" b="0" i="0" u="none" strike="noStrike" cap="none" normalizeH="0" baseline="0" dirty="0">
                <a:ln>
                  <a:noFill/>
                </a:ln>
                <a:solidFill>
                  <a:srgbClr val="6C71C4"/>
                </a:solidFill>
                <a:effectLst/>
                <a:latin typeface="Arial Unicode MS"/>
                <a:ea typeface="JetBrains Mono"/>
              </a:rPr>
            </a:br>
            <a:r>
              <a:rPr kumimoji="0" lang="zh-CN" altLang="zh-CN" sz="1200" b="0" i="0" u="none" strike="noStrike" cap="none" normalizeH="0" baseline="0" dirty="0">
                <a:ln>
                  <a:noFill/>
                </a:ln>
                <a:solidFill>
                  <a:srgbClr val="6C71C4"/>
                </a:solidFill>
                <a:effectLst/>
                <a:latin typeface="Arial Unicode MS"/>
                <a:ea typeface="JetBrains Mono"/>
              </a:rPr>
              <a:t>  </a:t>
            </a:r>
            <a:r>
              <a:rPr kumimoji="0" lang="en-US" altLang="zh-CN" sz="1200" b="0" i="0" u="none" strike="noStrike" cap="none" normalizeH="0" baseline="0" dirty="0">
                <a:ln>
                  <a:noFill/>
                </a:ln>
                <a:solidFill>
                  <a:srgbClr val="6C71C4"/>
                </a:solidFill>
                <a:effectLst/>
                <a:latin typeface="Arial Unicode MS"/>
                <a:ea typeface="JetBrains Mono"/>
              </a:rPr>
              <a:t>  </a:t>
            </a:r>
            <a:r>
              <a:rPr kumimoji="0" lang="zh-CN" altLang="zh-CN" sz="1200" b="0" i="0" u="none" strike="noStrike" cap="none" normalizeH="0" baseline="0" dirty="0">
                <a:ln>
                  <a:noFill/>
                </a:ln>
                <a:solidFill>
                  <a:srgbClr val="00A99E"/>
                </a:solidFill>
                <a:effectLst/>
                <a:latin typeface="Arial Unicode MS"/>
                <a:ea typeface="JetBrains Mono"/>
              </a:rPr>
              <a:t>Text</a:t>
            </a:r>
            <a:r>
              <a:rPr kumimoji="0" lang="zh-CN" altLang="zh-CN" sz="1200" b="0" i="0" u="none" strike="noStrike" cap="none" normalizeH="0" baseline="0" dirty="0">
                <a:ln>
                  <a:noFill/>
                </a:ln>
                <a:solidFill>
                  <a:srgbClr val="6C71C4"/>
                </a:solidFill>
                <a:effectLst/>
                <a:latin typeface="Arial Unicode MS"/>
                <a:ea typeface="JetBrains Mono"/>
              </a:rPr>
              <a:t>(</a:t>
            </a:r>
            <a:r>
              <a:rPr kumimoji="0" lang="zh-CN" altLang="zh-CN" sz="1200" b="0" i="0" u="none" strike="noStrike" cap="none" normalizeH="0" baseline="0" dirty="0">
                <a:ln>
                  <a:noFill/>
                </a:ln>
                <a:solidFill>
                  <a:srgbClr val="653170"/>
                </a:solidFill>
                <a:effectLst/>
                <a:latin typeface="Arial Unicode MS"/>
                <a:ea typeface="JetBrains Mono"/>
              </a:rPr>
              <a:t>'3'</a:t>
            </a:r>
            <a:r>
              <a:rPr kumimoji="0" lang="zh-CN" altLang="zh-CN" sz="1200" b="0" i="0" u="none" strike="noStrike" cap="none" normalizeH="0" baseline="0" dirty="0">
                <a:ln>
                  <a:noFill/>
                </a:ln>
                <a:solidFill>
                  <a:srgbClr val="6C71C4"/>
                </a:solidFill>
                <a:effectLst/>
                <a:latin typeface="Arial Unicode MS"/>
                <a:ea typeface="JetBrains Mono"/>
              </a:rPr>
              <a:t>)</a:t>
            </a:r>
            <a:r>
              <a:rPr kumimoji="0" lang="zh-CN" altLang="zh-CN" sz="1200" b="0" i="0" u="none" strike="noStrike" cap="none" normalizeH="0" baseline="0" dirty="0">
                <a:ln>
                  <a:noFill/>
                </a:ln>
                <a:solidFill>
                  <a:srgbClr val="859801"/>
                </a:solidFill>
                <a:effectLst/>
                <a:latin typeface="Arial Unicode MS"/>
                <a:ea typeface="JetBrains Mono"/>
              </a:rPr>
              <a:t>.</a:t>
            </a:r>
            <a:r>
              <a:rPr kumimoji="0" lang="zh-CN" altLang="zh-CN" sz="1200" b="0" i="0" u="none" strike="noStrike" cap="none" normalizeH="0" baseline="0" dirty="0">
                <a:ln>
                  <a:noFill/>
                </a:ln>
                <a:solidFill>
                  <a:srgbClr val="00A99E"/>
                </a:solidFill>
                <a:effectLst/>
                <a:latin typeface="Arial Unicode MS"/>
                <a:ea typeface="JetBrains Mono"/>
              </a:rPr>
              <a:t>width</a:t>
            </a:r>
            <a:r>
              <a:rPr kumimoji="0" lang="zh-CN" altLang="zh-CN" sz="1200" b="0" i="0" u="none" strike="noStrike" cap="none" normalizeH="0" baseline="0" dirty="0">
                <a:ln>
                  <a:noFill/>
                </a:ln>
                <a:solidFill>
                  <a:srgbClr val="6C71C4"/>
                </a:solidFill>
                <a:effectLst/>
                <a:latin typeface="Arial Unicode MS"/>
                <a:ea typeface="JetBrains Mono"/>
              </a:rPr>
              <a:t>(</a:t>
            </a:r>
            <a:r>
              <a:rPr kumimoji="0" lang="zh-CN" altLang="zh-CN" sz="1200" b="0" i="0" u="none" strike="noStrike" cap="none" normalizeH="0" baseline="0" dirty="0">
                <a:ln>
                  <a:noFill/>
                </a:ln>
                <a:solidFill>
                  <a:srgbClr val="653170"/>
                </a:solidFill>
                <a:effectLst/>
                <a:latin typeface="Arial Unicode MS"/>
                <a:ea typeface="JetBrains Mono"/>
              </a:rPr>
              <a:t>'20%'</a:t>
            </a:r>
            <a:r>
              <a:rPr kumimoji="0" lang="zh-CN" altLang="zh-CN" sz="1200" b="0" i="0" u="none" strike="noStrike" cap="none" normalizeH="0" baseline="0" dirty="0">
                <a:ln>
                  <a:noFill/>
                </a:ln>
                <a:solidFill>
                  <a:srgbClr val="6C71C4"/>
                </a:solidFill>
                <a:effectLst/>
                <a:latin typeface="Arial Unicode MS"/>
                <a:ea typeface="JetBrains Mono"/>
              </a:rPr>
              <a:t>)</a:t>
            </a:r>
            <a:r>
              <a:rPr kumimoji="0" lang="zh-CN" altLang="zh-CN" sz="1200" b="0" i="0" u="none" strike="noStrike" cap="none" normalizeH="0" baseline="0" dirty="0">
                <a:ln>
                  <a:noFill/>
                </a:ln>
                <a:solidFill>
                  <a:srgbClr val="859801"/>
                </a:solidFill>
                <a:effectLst/>
                <a:latin typeface="Arial Unicode MS"/>
                <a:ea typeface="JetBrains Mono"/>
              </a:rPr>
              <a:t>.</a:t>
            </a:r>
            <a:r>
              <a:rPr kumimoji="0" lang="zh-CN" altLang="zh-CN" sz="1200" b="0" i="0" u="none" strike="noStrike" cap="none" normalizeH="0" baseline="0" dirty="0">
                <a:ln>
                  <a:noFill/>
                </a:ln>
                <a:solidFill>
                  <a:srgbClr val="00A99E"/>
                </a:solidFill>
                <a:effectLst/>
                <a:latin typeface="Arial Unicode MS"/>
                <a:ea typeface="JetBrains Mono"/>
              </a:rPr>
              <a:t>height</a:t>
            </a:r>
            <a:r>
              <a:rPr kumimoji="0" lang="zh-CN" altLang="zh-CN" sz="1200" b="0" i="0" u="none" strike="noStrike" cap="none" normalizeH="0" baseline="0" dirty="0">
                <a:ln>
                  <a:noFill/>
                </a:ln>
                <a:solidFill>
                  <a:srgbClr val="6C71C4"/>
                </a:solidFill>
                <a:effectLst/>
                <a:latin typeface="Arial Unicode MS"/>
                <a:ea typeface="JetBrains Mono"/>
              </a:rPr>
              <a:t>(</a:t>
            </a:r>
            <a:r>
              <a:rPr kumimoji="0" lang="zh-CN" altLang="zh-CN" sz="1200" b="0" i="0" u="none" strike="noStrike" cap="none" normalizeH="0" baseline="0" dirty="0">
                <a:ln>
                  <a:noFill/>
                </a:ln>
                <a:solidFill>
                  <a:srgbClr val="653170"/>
                </a:solidFill>
                <a:effectLst/>
                <a:latin typeface="Arial Unicode MS"/>
                <a:ea typeface="JetBrains Mono"/>
              </a:rPr>
              <a:t>"20%"</a:t>
            </a:r>
            <a:r>
              <a:rPr kumimoji="0" lang="zh-CN" altLang="zh-CN" sz="1200" b="0" i="0" u="none" strike="noStrike" cap="none" normalizeH="0" baseline="0" dirty="0">
                <a:ln>
                  <a:noFill/>
                </a:ln>
                <a:solidFill>
                  <a:srgbClr val="6C71C4"/>
                </a:solidFill>
                <a:effectLst/>
                <a:latin typeface="Arial Unicode MS"/>
                <a:ea typeface="JetBrains Mono"/>
              </a:rPr>
              <a:t>)</a:t>
            </a:r>
            <a:r>
              <a:rPr kumimoji="0" lang="zh-CN" altLang="zh-CN" sz="1200" b="0" i="0" u="none" strike="noStrike" cap="none" normalizeH="0" baseline="0" dirty="0">
                <a:ln>
                  <a:noFill/>
                </a:ln>
                <a:solidFill>
                  <a:srgbClr val="859801"/>
                </a:solidFill>
                <a:effectLst/>
                <a:latin typeface="Arial Unicode MS"/>
                <a:ea typeface="JetBrains Mono"/>
              </a:rPr>
              <a:t>.</a:t>
            </a:r>
            <a:r>
              <a:rPr kumimoji="0" lang="zh-CN" altLang="zh-CN" sz="1200" b="0" i="0" u="none" strike="noStrike" cap="none" normalizeH="0" baseline="0" dirty="0">
                <a:ln>
                  <a:noFill/>
                </a:ln>
                <a:solidFill>
                  <a:srgbClr val="00A99E"/>
                </a:solidFill>
                <a:effectLst/>
                <a:latin typeface="Arial Unicode MS"/>
                <a:ea typeface="JetBrains Mono"/>
              </a:rPr>
              <a:t>backgroundColor</a:t>
            </a:r>
            <a:r>
              <a:rPr kumimoji="0" lang="zh-CN" altLang="zh-CN" sz="1200" b="0" i="0" u="none" strike="noStrike" cap="none" normalizeH="0" baseline="0" dirty="0">
                <a:ln>
                  <a:noFill/>
                </a:ln>
                <a:solidFill>
                  <a:srgbClr val="6C71C4"/>
                </a:solidFill>
                <a:effectLst/>
                <a:latin typeface="Arial Unicode MS"/>
                <a:ea typeface="JetBrains Mono"/>
              </a:rPr>
              <a:t>(0xF5fEB3)</a:t>
            </a:r>
            <a:r>
              <a:rPr kumimoji="0" lang="zh-CN" altLang="zh-CN" sz="1200" b="0" i="0" u="none" strike="noStrike" cap="none" normalizeH="0" baseline="0" dirty="0">
                <a:ln>
                  <a:noFill/>
                </a:ln>
                <a:solidFill>
                  <a:srgbClr val="859801"/>
                </a:solidFill>
                <a:effectLst/>
                <a:latin typeface="Arial Unicode MS"/>
                <a:ea typeface="JetBrains Mono"/>
              </a:rPr>
              <a:t>.</a:t>
            </a:r>
            <a:r>
              <a:rPr kumimoji="0" lang="zh-CN" altLang="zh-CN" sz="1200" b="0" i="0" u="none" strike="noStrike" cap="none" normalizeH="0" baseline="0" dirty="0">
                <a:ln>
                  <a:noFill/>
                </a:ln>
                <a:solidFill>
                  <a:srgbClr val="00A99E"/>
                </a:solidFill>
                <a:effectLst/>
                <a:latin typeface="Arial Unicode MS"/>
                <a:ea typeface="JetBrains Mono"/>
              </a:rPr>
              <a:t>zIndex</a:t>
            </a:r>
            <a:r>
              <a:rPr kumimoji="0" lang="zh-CN" altLang="zh-CN" sz="1200" b="0" i="0" u="none" strike="noStrike" cap="none" normalizeH="0" baseline="0" dirty="0">
                <a:ln>
                  <a:noFill/>
                </a:ln>
                <a:solidFill>
                  <a:srgbClr val="6C71C4"/>
                </a:solidFill>
                <a:effectLst/>
                <a:latin typeface="Arial Unicode MS"/>
                <a:ea typeface="JetBrains Mono"/>
              </a:rPr>
              <a:t>(</a:t>
            </a:r>
            <a:r>
              <a:rPr kumimoji="0" lang="zh-CN" altLang="zh-CN" sz="1200" b="0" i="0" u="none" strike="noStrike" cap="none" normalizeH="0" baseline="0" dirty="0">
                <a:ln>
                  <a:noFill/>
                </a:ln>
                <a:solidFill>
                  <a:srgbClr val="FF9170"/>
                </a:solidFill>
                <a:effectLst/>
                <a:latin typeface="Arial Unicode MS"/>
                <a:ea typeface="JetBrains Mono"/>
              </a:rPr>
              <a:t>3</a:t>
            </a:r>
            <a:r>
              <a:rPr kumimoji="0" lang="zh-CN" altLang="zh-CN" sz="1200" b="0" i="0" u="none" strike="noStrike" cap="none" normalizeH="0" baseline="0" dirty="0">
                <a:ln>
                  <a:noFill/>
                </a:ln>
                <a:solidFill>
                  <a:srgbClr val="6C71C4"/>
                </a:solidFill>
                <a:effectLst/>
                <a:latin typeface="Arial Unicode MS"/>
                <a:ea typeface="JetBrains Mono"/>
              </a:rPr>
              <a:t>)</a:t>
            </a:r>
            <a:br>
              <a:rPr kumimoji="0" lang="zh-CN" altLang="zh-CN" sz="1200" b="0" i="0" u="none" strike="noStrike" cap="none" normalizeH="0" baseline="0" dirty="0">
                <a:ln>
                  <a:noFill/>
                </a:ln>
                <a:solidFill>
                  <a:srgbClr val="6C71C4"/>
                </a:solidFill>
                <a:effectLst/>
                <a:latin typeface="Arial Unicode MS"/>
                <a:ea typeface="JetBrains Mono"/>
              </a:rPr>
            </a:br>
            <a:r>
              <a:rPr kumimoji="0" lang="zh-CN" altLang="zh-CN" sz="1200" b="0" i="0" u="none" strike="noStrike" cap="none" normalizeH="0" baseline="0" dirty="0">
                <a:ln>
                  <a:noFill/>
                </a:ln>
                <a:solidFill>
                  <a:srgbClr val="6C71C4"/>
                </a:solidFill>
                <a:effectLst/>
                <a:latin typeface="Arial Unicode MS"/>
                <a:ea typeface="JetBrains Mono"/>
              </a:rPr>
              <a:t>  </a:t>
            </a:r>
            <a:r>
              <a:rPr kumimoji="0" lang="en-US" altLang="zh-CN" sz="1200" b="0" i="0" u="none" strike="noStrike" cap="none" normalizeH="0" baseline="0" dirty="0">
                <a:ln>
                  <a:noFill/>
                </a:ln>
                <a:solidFill>
                  <a:srgbClr val="6C71C4"/>
                </a:solidFill>
                <a:effectLst/>
                <a:latin typeface="Arial Unicode MS"/>
                <a:ea typeface="JetBrains Mono"/>
              </a:rPr>
              <a:t>  </a:t>
            </a:r>
            <a:r>
              <a:rPr kumimoji="0" lang="zh-CN" altLang="zh-CN" sz="1200" b="0" i="0" u="none" strike="noStrike" cap="none" normalizeH="0" baseline="0" dirty="0">
                <a:ln>
                  <a:noFill/>
                </a:ln>
                <a:solidFill>
                  <a:srgbClr val="00A99E"/>
                </a:solidFill>
                <a:effectLst/>
                <a:latin typeface="Arial Unicode MS"/>
                <a:ea typeface="JetBrains Mono"/>
              </a:rPr>
              <a:t>Text</a:t>
            </a:r>
            <a:r>
              <a:rPr kumimoji="0" lang="zh-CN" altLang="zh-CN" sz="1200" b="0" i="0" u="none" strike="noStrike" cap="none" normalizeH="0" baseline="0" dirty="0">
                <a:ln>
                  <a:noFill/>
                </a:ln>
                <a:solidFill>
                  <a:srgbClr val="6C71C4"/>
                </a:solidFill>
                <a:effectLst/>
                <a:latin typeface="Arial Unicode MS"/>
                <a:ea typeface="JetBrains Mono"/>
              </a:rPr>
              <a:t>(</a:t>
            </a:r>
            <a:r>
              <a:rPr kumimoji="0" lang="zh-CN" altLang="zh-CN" sz="1200" b="0" i="0" u="none" strike="noStrike" cap="none" normalizeH="0" baseline="0" dirty="0">
                <a:ln>
                  <a:noFill/>
                </a:ln>
                <a:solidFill>
                  <a:srgbClr val="653170"/>
                </a:solidFill>
                <a:effectLst/>
                <a:latin typeface="Arial Unicode MS"/>
                <a:ea typeface="JetBrains Mono"/>
              </a:rPr>
              <a:t>'2'</a:t>
            </a:r>
            <a:r>
              <a:rPr kumimoji="0" lang="zh-CN" altLang="zh-CN" sz="1200" b="0" i="0" u="none" strike="noStrike" cap="none" normalizeH="0" baseline="0" dirty="0">
                <a:ln>
                  <a:noFill/>
                </a:ln>
                <a:solidFill>
                  <a:srgbClr val="6C71C4"/>
                </a:solidFill>
                <a:effectLst/>
                <a:latin typeface="Arial Unicode MS"/>
                <a:ea typeface="JetBrains Mono"/>
              </a:rPr>
              <a:t>)</a:t>
            </a:r>
            <a:r>
              <a:rPr kumimoji="0" lang="zh-CN" altLang="zh-CN" sz="1200" b="0" i="0" u="none" strike="noStrike" cap="none" normalizeH="0" baseline="0" dirty="0">
                <a:ln>
                  <a:noFill/>
                </a:ln>
                <a:solidFill>
                  <a:srgbClr val="859801"/>
                </a:solidFill>
                <a:effectLst/>
                <a:latin typeface="Arial Unicode MS"/>
                <a:ea typeface="JetBrains Mono"/>
              </a:rPr>
              <a:t>.</a:t>
            </a:r>
            <a:r>
              <a:rPr kumimoji="0" lang="zh-CN" altLang="zh-CN" sz="1200" b="0" i="0" u="none" strike="noStrike" cap="none" normalizeH="0" baseline="0" dirty="0">
                <a:ln>
                  <a:noFill/>
                </a:ln>
                <a:solidFill>
                  <a:srgbClr val="00A99E"/>
                </a:solidFill>
                <a:effectLst/>
                <a:latin typeface="Arial Unicode MS"/>
                <a:ea typeface="JetBrains Mono"/>
              </a:rPr>
              <a:t>width</a:t>
            </a:r>
            <a:r>
              <a:rPr kumimoji="0" lang="zh-CN" altLang="zh-CN" sz="1200" b="0" i="0" u="none" strike="noStrike" cap="none" normalizeH="0" baseline="0" dirty="0">
                <a:ln>
                  <a:noFill/>
                </a:ln>
                <a:solidFill>
                  <a:srgbClr val="6C71C4"/>
                </a:solidFill>
                <a:effectLst/>
                <a:latin typeface="Arial Unicode MS"/>
                <a:ea typeface="JetBrains Mono"/>
              </a:rPr>
              <a:t>(</a:t>
            </a:r>
            <a:r>
              <a:rPr kumimoji="0" lang="zh-CN" altLang="zh-CN" sz="1200" b="0" i="0" u="none" strike="noStrike" cap="none" normalizeH="0" baseline="0" dirty="0">
                <a:ln>
                  <a:noFill/>
                </a:ln>
                <a:solidFill>
                  <a:srgbClr val="653170"/>
                </a:solidFill>
                <a:effectLst/>
                <a:latin typeface="Arial Unicode MS"/>
                <a:ea typeface="JetBrains Mono"/>
              </a:rPr>
              <a:t>'30%'</a:t>
            </a:r>
            <a:r>
              <a:rPr kumimoji="0" lang="zh-CN" altLang="zh-CN" sz="1200" b="0" i="0" u="none" strike="noStrike" cap="none" normalizeH="0" baseline="0" dirty="0">
                <a:ln>
                  <a:noFill/>
                </a:ln>
                <a:solidFill>
                  <a:srgbClr val="6C71C4"/>
                </a:solidFill>
                <a:effectLst/>
                <a:latin typeface="Arial Unicode MS"/>
                <a:ea typeface="JetBrains Mono"/>
              </a:rPr>
              <a:t>)</a:t>
            </a:r>
            <a:r>
              <a:rPr kumimoji="0" lang="zh-CN" altLang="zh-CN" sz="1200" b="0" i="0" u="none" strike="noStrike" cap="none" normalizeH="0" baseline="0" dirty="0">
                <a:ln>
                  <a:noFill/>
                </a:ln>
                <a:solidFill>
                  <a:srgbClr val="859801"/>
                </a:solidFill>
                <a:effectLst/>
                <a:latin typeface="Arial Unicode MS"/>
                <a:ea typeface="JetBrains Mono"/>
              </a:rPr>
              <a:t>.</a:t>
            </a:r>
            <a:r>
              <a:rPr kumimoji="0" lang="zh-CN" altLang="zh-CN" sz="1200" b="0" i="0" u="none" strike="noStrike" cap="none" normalizeH="0" baseline="0" dirty="0">
                <a:ln>
                  <a:noFill/>
                </a:ln>
                <a:solidFill>
                  <a:srgbClr val="00A99E"/>
                </a:solidFill>
                <a:effectLst/>
                <a:latin typeface="Arial Unicode MS"/>
                <a:ea typeface="JetBrains Mono"/>
              </a:rPr>
              <a:t>height</a:t>
            </a:r>
            <a:r>
              <a:rPr kumimoji="0" lang="zh-CN" altLang="zh-CN" sz="1200" b="0" i="0" u="none" strike="noStrike" cap="none" normalizeH="0" baseline="0" dirty="0">
                <a:ln>
                  <a:noFill/>
                </a:ln>
                <a:solidFill>
                  <a:srgbClr val="6C71C4"/>
                </a:solidFill>
                <a:effectLst/>
                <a:latin typeface="Arial Unicode MS"/>
                <a:ea typeface="JetBrains Mono"/>
              </a:rPr>
              <a:t>(</a:t>
            </a:r>
            <a:r>
              <a:rPr kumimoji="0" lang="zh-CN" altLang="zh-CN" sz="1200" b="0" i="0" u="none" strike="noStrike" cap="none" normalizeH="0" baseline="0" dirty="0">
                <a:ln>
                  <a:noFill/>
                </a:ln>
                <a:solidFill>
                  <a:srgbClr val="653170"/>
                </a:solidFill>
                <a:effectLst/>
                <a:latin typeface="Arial Unicode MS"/>
                <a:ea typeface="JetBrains Mono"/>
              </a:rPr>
              <a:t>"30%"</a:t>
            </a:r>
            <a:r>
              <a:rPr kumimoji="0" lang="zh-CN" altLang="zh-CN" sz="1200" b="0" i="0" u="none" strike="noStrike" cap="none" normalizeH="0" baseline="0" dirty="0">
                <a:ln>
                  <a:noFill/>
                </a:ln>
                <a:solidFill>
                  <a:srgbClr val="6C71C4"/>
                </a:solidFill>
                <a:effectLst/>
                <a:latin typeface="Arial Unicode MS"/>
                <a:ea typeface="JetBrains Mono"/>
              </a:rPr>
              <a:t>)</a:t>
            </a:r>
            <a:r>
              <a:rPr kumimoji="0" lang="zh-CN" altLang="zh-CN" sz="1200" b="0" i="0" u="none" strike="noStrike" cap="none" normalizeH="0" baseline="0" dirty="0">
                <a:ln>
                  <a:noFill/>
                </a:ln>
                <a:solidFill>
                  <a:srgbClr val="859801"/>
                </a:solidFill>
                <a:effectLst/>
                <a:latin typeface="Arial Unicode MS"/>
                <a:ea typeface="JetBrains Mono"/>
              </a:rPr>
              <a:t>.</a:t>
            </a:r>
            <a:r>
              <a:rPr kumimoji="0" lang="zh-CN" altLang="zh-CN" sz="1200" b="0" i="0" u="none" strike="noStrike" cap="none" normalizeH="0" baseline="0" dirty="0">
                <a:ln>
                  <a:noFill/>
                </a:ln>
                <a:solidFill>
                  <a:srgbClr val="00A99E"/>
                </a:solidFill>
                <a:effectLst/>
                <a:latin typeface="Arial Unicode MS"/>
                <a:ea typeface="JetBrains Mono"/>
              </a:rPr>
              <a:t>backgroundColor</a:t>
            </a:r>
            <a:r>
              <a:rPr kumimoji="0" lang="zh-CN" altLang="zh-CN" sz="1200" b="0" i="0" u="none" strike="noStrike" cap="none" normalizeH="0" baseline="0" dirty="0">
                <a:ln>
                  <a:noFill/>
                </a:ln>
                <a:solidFill>
                  <a:srgbClr val="6C71C4"/>
                </a:solidFill>
                <a:effectLst/>
                <a:latin typeface="Arial Unicode MS"/>
                <a:ea typeface="JetBrains Mono"/>
              </a:rPr>
              <a:t>(0xD2B48C)</a:t>
            </a:r>
            <a:r>
              <a:rPr kumimoji="0" lang="zh-CN" altLang="zh-CN" sz="1200" b="0" i="0" u="none" strike="noStrike" cap="none" normalizeH="0" baseline="0" dirty="0">
                <a:ln>
                  <a:noFill/>
                </a:ln>
                <a:solidFill>
                  <a:srgbClr val="859801"/>
                </a:solidFill>
                <a:effectLst/>
                <a:latin typeface="Arial Unicode MS"/>
                <a:ea typeface="JetBrains Mono"/>
              </a:rPr>
              <a:t>.</a:t>
            </a:r>
            <a:r>
              <a:rPr kumimoji="0" lang="zh-CN" altLang="zh-CN" sz="1200" b="0" i="0" u="none" strike="noStrike" cap="none" normalizeH="0" baseline="0" dirty="0">
                <a:ln>
                  <a:noFill/>
                </a:ln>
                <a:solidFill>
                  <a:srgbClr val="00A99E"/>
                </a:solidFill>
                <a:effectLst/>
                <a:latin typeface="Arial Unicode MS"/>
                <a:ea typeface="JetBrains Mono"/>
              </a:rPr>
              <a:t>zIndex</a:t>
            </a:r>
            <a:r>
              <a:rPr kumimoji="0" lang="zh-CN" altLang="zh-CN" sz="1200" b="0" i="0" u="none" strike="noStrike" cap="none" normalizeH="0" baseline="0" dirty="0">
                <a:ln>
                  <a:noFill/>
                </a:ln>
                <a:solidFill>
                  <a:srgbClr val="6C71C4"/>
                </a:solidFill>
                <a:effectLst/>
                <a:latin typeface="Arial Unicode MS"/>
                <a:ea typeface="JetBrains Mono"/>
              </a:rPr>
              <a:t>(</a:t>
            </a:r>
            <a:r>
              <a:rPr kumimoji="0" lang="zh-CN" altLang="zh-CN" sz="1200" b="0" i="0" u="none" strike="noStrike" cap="none" normalizeH="0" baseline="0" dirty="0">
                <a:ln>
                  <a:noFill/>
                </a:ln>
                <a:solidFill>
                  <a:srgbClr val="FF9170"/>
                </a:solidFill>
                <a:effectLst/>
                <a:latin typeface="Arial Unicode MS"/>
                <a:ea typeface="JetBrains Mono"/>
              </a:rPr>
              <a:t>2</a:t>
            </a:r>
            <a:r>
              <a:rPr kumimoji="0" lang="zh-CN" altLang="zh-CN" sz="1200" b="0" i="0" u="none" strike="noStrike" cap="none" normalizeH="0" baseline="0" dirty="0">
                <a:ln>
                  <a:noFill/>
                </a:ln>
                <a:solidFill>
                  <a:srgbClr val="6C71C4"/>
                </a:solidFill>
                <a:effectLst/>
                <a:latin typeface="Arial Unicode MS"/>
                <a:ea typeface="JetBrains Mono"/>
              </a:rPr>
              <a:t>)</a:t>
            </a:r>
            <a:br>
              <a:rPr kumimoji="0" lang="zh-CN" altLang="zh-CN" sz="1200" b="0" i="0" u="none" strike="noStrike" cap="none" normalizeH="0" baseline="0" dirty="0">
                <a:ln>
                  <a:noFill/>
                </a:ln>
                <a:solidFill>
                  <a:srgbClr val="6C71C4"/>
                </a:solidFill>
                <a:effectLst/>
                <a:latin typeface="Arial Unicode MS"/>
                <a:ea typeface="JetBrains Mono"/>
              </a:rPr>
            </a:br>
            <a:r>
              <a:rPr kumimoji="0" lang="zh-CN" altLang="zh-CN" sz="1200" b="0" i="0" u="none" strike="noStrike" cap="none" normalizeH="0" baseline="0" dirty="0">
                <a:ln>
                  <a:noFill/>
                </a:ln>
                <a:solidFill>
                  <a:srgbClr val="E986CD"/>
                </a:solidFill>
                <a:effectLst/>
                <a:latin typeface="Arial Unicode MS"/>
                <a:ea typeface="JetBrains Mono"/>
              </a:rPr>
              <a:t>}</a:t>
            </a:r>
            <a:endParaRPr kumimoji="0" lang="zh-CN" altLang="zh-CN" sz="2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22415851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6"/>
          <p:cNvSpPr>
            <a:spLocks noChangeArrowheads="1"/>
          </p:cNvSpPr>
          <p:nvPr/>
        </p:nvSpPr>
        <p:spPr bwMode="auto">
          <a:xfrm>
            <a:off x="1198662" y="1125538"/>
            <a:ext cx="10009112" cy="5493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indent="-342900">
              <a:spcBef>
                <a:spcPts val="2400"/>
              </a:spcBef>
              <a:buFont typeface="Wingdings" panose="05000000000000000000" pitchFamily="2" charset="2"/>
              <a:buChar char="l"/>
            </a:pPr>
            <a:r>
              <a:rPr lang="zh-CN" altLang="en-US" sz="1800" dirty="0">
                <a:solidFill>
                  <a:schemeClr val="tx1">
                    <a:lumMod val="85000"/>
                    <a:lumOff val="15000"/>
                  </a:schemeClr>
                </a:solidFill>
                <a:latin typeface="微软雅黑" panose="020B0503020204020204" pitchFamily="34" charset="-122"/>
                <a:ea typeface="微软雅黑" panose="020B0503020204020204" pitchFamily="34" charset="-122"/>
                <a:cs typeface="+mn-ea"/>
              </a:rPr>
              <a:t>通过</a:t>
            </a:r>
            <a:r>
              <a:rPr lang="en-US" altLang="zh-CN" sz="1800" dirty="0">
                <a:solidFill>
                  <a:schemeClr val="tx1">
                    <a:lumMod val="85000"/>
                    <a:lumOff val="15000"/>
                  </a:schemeClr>
                </a:solidFill>
                <a:latin typeface="微软雅黑" panose="020B0503020204020204" pitchFamily="34" charset="-122"/>
                <a:ea typeface="微软雅黑" panose="020B0503020204020204" pitchFamily="34" charset="-122"/>
                <a:cs typeface="+mn-ea"/>
              </a:rPr>
              <a:t>alignRules</a:t>
            </a:r>
            <a:r>
              <a:rPr lang="zh-CN" altLang="en-US" sz="1800" dirty="0">
                <a:solidFill>
                  <a:schemeClr val="tx1">
                    <a:lumMod val="85000"/>
                    <a:lumOff val="15000"/>
                  </a:schemeClr>
                </a:solidFill>
                <a:latin typeface="微软雅黑" panose="020B0503020204020204" pitchFamily="34" charset="-122"/>
                <a:ea typeface="微软雅黑" panose="020B0503020204020204" pitchFamily="34" charset="-122"/>
                <a:cs typeface="+mn-ea"/>
              </a:rPr>
              <a:t>设置子组件的位置和大小：</a:t>
            </a:r>
            <a:endParaRPr lang="en-US" altLang="zh-CN" sz="1800" dirty="0">
              <a:solidFill>
                <a:schemeClr val="tx1">
                  <a:lumMod val="85000"/>
                  <a:lumOff val="15000"/>
                </a:schemeClr>
              </a:solidFill>
              <a:latin typeface="微软雅黑" panose="020B0503020204020204" pitchFamily="34" charset="-122"/>
              <a:ea typeface="微软雅黑" panose="020B0503020204020204" pitchFamily="34" charset="-122"/>
              <a:cs typeface="+mn-ea"/>
            </a:endParaRPr>
          </a:p>
          <a:p>
            <a:pPr marL="952500" lvl="1" indent="-342900">
              <a:spcBef>
                <a:spcPts val="2400"/>
              </a:spcBef>
              <a:buFont typeface="Wingdings" panose="05000000000000000000" pitchFamily="2" charset="2"/>
              <a:buChar char="u"/>
            </a:pP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cs typeface="+mn-ea"/>
              </a:rPr>
              <a:t>容器内子组件区分水平方向，垂直方向：</a:t>
            </a:r>
          </a:p>
          <a:p>
            <a:pPr marL="1562100" lvl="2" indent="-342900">
              <a:spcBef>
                <a:spcPts val="2400"/>
              </a:spcBef>
              <a:buFont typeface="Wingdings" panose="05000000000000000000" pitchFamily="2" charset="2"/>
              <a:buChar char="l"/>
            </a:pP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cs typeface="+mn-ea"/>
              </a:rPr>
              <a:t>水平方向可设置</a:t>
            </a:r>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cs typeface="+mn-ea"/>
              </a:rPr>
              <a:t>left</a:t>
            </a: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cs typeface="+mn-ea"/>
              </a:rPr>
              <a:t>， </a:t>
            </a:r>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cs typeface="+mn-ea"/>
              </a:rPr>
              <a:t>middle</a:t>
            </a: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cs typeface="+mn-ea"/>
              </a:rPr>
              <a:t>， </a:t>
            </a:r>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cs typeface="+mn-ea"/>
              </a:rPr>
              <a:t>right</a:t>
            </a:r>
            <a:endPar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cs typeface="+mn-ea"/>
            </a:endParaRPr>
          </a:p>
          <a:p>
            <a:pPr marL="1562100" lvl="2" indent="-342900">
              <a:spcBef>
                <a:spcPts val="2400"/>
              </a:spcBef>
              <a:buFont typeface="Wingdings" panose="05000000000000000000" pitchFamily="2" charset="2"/>
              <a:buChar char="l"/>
            </a:pP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cs typeface="+mn-ea"/>
              </a:rPr>
              <a:t>垂直方向可设置</a:t>
            </a:r>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cs typeface="+mn-ea"/>
              </a:rPr>
              <a:t>top</a:t>
            </a: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cs typeface="+mn-ea"/>
              </a:rPr>
              <a:t>， </a:t>
            </a:r>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cs typeface="+mn-ea"/>
              </a:rPr>
              <a:t>center</a:t>
            </a: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cs typeface="+mn-ea"/>
              </a:rPr>
              <a:t>， </a:t>
            </a:r>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cs typeface="+mn-ea"/>
              </a:rPr>
              <a:t>bottom</a:t>
            </a:r>
            <a:endPar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cs typeface="+mn-ea"/>
            </a:endParaRPr>
          </a:p>
          <a:p>
            <a:pPr marL="952500" lvl="1" indent="-342900">
              <a:spcBef>
                <a:spcPts val="2400"/>
              </a:spcBef>
              <a:buFont typeface="Wingdings" panose="05000000000000000000" pitchFamily="2" charset="2"/>
              <a:buChar char="u"/>
            </a:pP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cs typeface="+mn-ea"/>
              </a:rPr>
              <a:t>子组件可以将容器或者其他子组件设为锚点：</a:t>
            </a:r>
          </a:p>
          <a:p>
            <a:pPr marL="1562100" lvl="2" indent="-342900">
              <a:spcBef>
                <a:spcPts val="2400"/>
              </a:spcBef>
              <a:buFont typeface="Wingdings" panose="05000000000000000000" pitchFamily="2" charset="2"/>
              <a:buChar char="l"/>
            </a:pP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cs typeface="+mn-ea"/>
              </a:rPr>
              <a:t>参与相对布局的容器内组件</a:t>
            </a:r>
            <a:r>
              <a:rPr lang="zh-CN" altLang="en-US" sz="1400" dirty="0">
                <a:solidFill>
                  <a:srgbClr val="FF0000"/>
                </a:solidFill>
                <a:latin typeface="微软雅黑" panose="020B0503020204020204" pitchFamily="34" charset="-122"/>
                <a:ea typeface="微软雅黑" panose="020B0503020204020204" pitchFamily="34" charset="-122"/>
                <a:cs typeface="+mn-ea"/>
              </a:rPr>
              <a:t>必须设置</a:t>
            </a:r>
            <a:r>
              <a:rPr lang="en-US" altLang="zh-CN" sz="1400" dirty="0">
                <a:solidFill>
                  <a:srgbClr val="FF0000"/>
                </a:solidFill>
                <a:latin typeface="微软雅黑" panose="020B0503020204020204" pitchFamily="34" charset="-122"/>
                <a:ea typeface="微软雅黑" panose="020B0503020204020204" pitchFamily="34" charset="-122"/>
                <a:cs typeface="+mn-ea"/>
              </a:rPr>
              <a:t>id</a:t>
            </a: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cs typeface="+mn-ea"/>
              </a:rPr>
              <a:t>，不设置</a:t>
            </a:r>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cs typeface="+mn-ea"/>
              </a:rPr>
              <a:t>id</a:t>
            </a: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cs typeface="+mn-ea"/>
              </a:rPr>
              <a:t>的组件不显示，容器</a:t>
            </a:r>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cs typeface="+mn-ea"/>
              </a:rPr>
              <a:t>id</a:t>
            </a: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cs typeface="+mn-ea"/>
              </a:rPr>
              <a:t>固定为</a:t>
            </a:r>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cs typeface="+mn-ea"/>
              </a:rPr>
              <a:t>__container__</a:t>
            </a: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cs typeface="+mn-ea"/>
              </a:rPr>
              <a:t>。</a:t>
            </a:r>
          </a:p>
          <a:p>
            <a:pPr marL="1562100" lvl="2" indent="-342900">
              <a:spcBef>
                <a:spcPts val="2400"/>
              </a:spcBef>
              <a:buFont typeface="Wingdings" panose="05000000000000000000" pitchFamily="2" charset="2"/>
              <a:buChar char="l"/>
            </a:pP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cs typeface="+mn-ea"/>
              </a:rPr>
              <a:t>此子组件某一方向上的三个位置可以将容器或其他子组件的同方向三个位置为锚点。如果同方向上设置两个以上锚点，水平方向以</a:t>
            </a:r>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cs typeface="+mn-ea"/>
              </a:rPr>
              <a:t>Start</a:t>
            </a: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cs typeface="+mn-ea"/>
              </a:rPr>
              <a:t>和</a:t>
            </a:r>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cs typeface="+mn-ea"/>
              </a:rPr>
              <a:t>Center</a:t>
            </a: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cs typeface="+mn-ea"/>
              </a:rPr>
              <a:t>为准，垂直方向以</a:t>
            </a:r>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cs typeface="+mn-ea"/>
              </a:rPr>
              <a:t>Top</a:t>
            </a: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cs typeface="+mn-ea"/>
              </a:rPr>
              <a:t>和</a:t>
            </a:r>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cs typeface="+mn-ea"/>
              </a:rPr>
              <a:t>Center</a:t>
            </a: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cs typeface="+mn-ea"/>
              </a:rPr>
              <a:t>为准。</a:t>
            </a:r>
            <a:endPar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cs typeface="+mn-ea"/>
            </a:endParaRPr>
          </a:p>
          <a:p>
            <a:pPr marL="2171700" lvl="3" indent="-342900">
              <a:spcBef>
                <a:spcPts val="1800"/>
              </a:spcBef>
              <a:buFont typeface="Wingdings" panose="05000000000000000000" pitchFamily="2" charset="2"/>
              <a:buChar char="l"/>
            </a:pP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cs typeface="+mn-ea"/>
              </a:rPr>
              <a:t>不建议在同方向上设置三个位置属性</a:t>
            </a:r>
          </a:p>
          <a:p>
            <a:pPr marL="1562100" lvl="2" indent="-342900">
              <a:spcBef>
                <a:spcPts val="2400"/>
              </a:spcBef>
              <a:buFont typeface="Wingdings" panose="05000000000000000000" pitchFamily="2" charset="2"/>
              <a:buChar char="l"/>
            </a:pP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cs typeface="+mn-ea"/>
              </a:rPr>
              <a:t>子组件某个方向上设置两个或以上</a:t>
            </a:r>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cs typeface="+mn-ea"/>
              </a:rPr>
              <a:t>alignRules</a:t>
            </a: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cs typeface="+mn-ea"/>
              </a:rPr>
              <a:t>时，可以决定组件的宽度</a:t>
            </a:r>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cs typeface="+mn-ea"/>
              </a:rPr>
              <a:t>/</a:t>
            </a: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cs typeface="+mn-ea"/>
              </a:rPr>
              <a:t>高度。此时</a:t>
            </a:r>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cs typeface="+mn-ea"/>
              </a:rPr>
              <a:t>height</a:t>
            </a: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cs typeface="+mn-ea"/>
              </a:rPr>
              <a:t>和</a:t>
            </a:r>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cs typeface="+mn-ea"/>
              </a:rPr>
              <a:t>width</a:t>
            </a: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cs typeface="+mn-ea"/>
              </a:rPr>
              <a:t>属性设置无效。</a:t>
            </a:r>
          </a:p>
          <a:p>
            <a:pPr marL="1562100" lvl="2" indent="-342900">
              <a:spcBef>
                <a:spcPts val="2400"/>
              </a:spcBef>
              <a:buFont typeface="Wingdings" panose="05000000000000000000" pitchFamily="2" charset="2"/>
              <a:buChar char="l"/>
            </a:pP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cs typeface="+mn-ea"/>
              </a:rPr>
              <a:t>对齐后需要额外偏移可设置子组件的</a:t>
            </a:r>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cs typeface="+mn-ea"/>
              </a:rPr>
              <a:t>offset</a:t>
            </a: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cs typeface="+mn-ea"/>
              </a:rPr>
              <a:t>属性。</a:t>
            </a:r>
            <a:endPar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cs typeface="+mn-ea"/>
            </a:endParaRPr>
          </a:p>
        </p:txBody>
      </p:sp>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RelativeContainer</a:t>
            </a:r>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（相对布局）</a:t>
            </a:r>
          </a:p>
        </p:txBody>
      </p:sp>
      <p:sp>
        <p:nvSpPr>
          <p:cNvPr id="5" name="文本框 4"/>
          <p:cNvSpPr txBox="1"/>
          <p:nvPr/>
        </p:nvSpPr>
        <p:spPr>
          <a:xfrm>
            <a:off x="622598" y="4653930"/>
            <a:ext cx="184731" cy="276999"/>
          </a:xfrm>
          <a:prstGeom prst="rect">
            <a:avLst/>
          </a:prstGeom>
          <a:noFill/>
        </p:spPr>
        <p:txBody>
          <a:bodyPr wrap="none" rtlCol="0">
            <a:spAutoFit/>
          </a:bodyPr>
          <a:lstStyle/>
          <a:p>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03962004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6"/>
          <p:cNvSpPr>
            <a:spLocks noChangeArrowheads="1"/>
          </p:cNvSpPr>
          <p:nvPr/>
        </p:nvSpPr>
        <p:spPr bwMode="auto">
          <a:xfrm>
            <a:off x="1198662" y="1125538"/>
            <a:ext cx="10009112" cy="35086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952500" lvl="1" indent="-342900">
              <a:spcBef>
                <a:spcPts val="2400"/>
              </a:spcBef>
              <a:buFont typeface="Wingdings" panose="05000000000000000000" pitchFamily="2" charset="2"/>
              <a:buChar char="u"/>
            </a:pP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cs typeface="+mn-ea"/>
              </a:rPr>
              <a:t>特殊情况</a:t>
            </a:r>
          </a:p>
          <a:p>
            <a:pPr marL="1562100" lvl="2" indent="-342900">
              <a:spcBef>
                <a:spcPts val="2400"/>
              </a:spcBef>
              <a:buFont typeface="Wingdings" panose="05000000000000000000" pitchFamily="2" charset="2"/>
              <a:buChar char="l"/>
            </a:pP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cs typeface="+mn-ea"/>
              </a:rPr>
              <a:t>互相依赖，环形依赖时容器内子组件全部不绘制。</a:t>
            </a:r>
          </a:p>
          <a:p>
            <a:pPr marL="1562100" lvl="2" indent="-342900">
              <a:spcBef>
                <a:spcPts val="2400"/>
              </a:spcBef>
              <a:buFont typeface="Wingdings" panose="05000000000000000000" pitchFamily="2" charset="2"/>
              <a:buChar char="l"/>
            </a:pP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cs typeface="+mn-ea"/>
              </a:rPr>
              <a:t>同方向上两个以上位置设置锚点但锚点位置逆序时此子组件大小为</a:t>
            </a:r>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cs typeface="+mn-ea"/>
              </a:rPr>
              <a:t>0</a:t>
            </a: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cs typeface="+mn-ea"/>
              </a:rPr>
              <a:t>，即不绘制。</a:t>
            </a:r>
            <a:endPar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cs typeface="+mn-ea"/>
            </a:endParaRPr>
          </a:p>
          <a:p>
            <a:pPr marL="952500" lvl="1" indent="-342900">
              <a:spcBef>
                <a:spcPts val="2400"/>
              </a:spcBef>
              <a:buFont typeface="Wingdings" panose="05000000000000000000" pitchFamily="2" charset="2"/>
              <a:buChar char="u"/>
            </a:pPr>
            <a:endPar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cs typeface="+mn-ea"/>
            </a:endParaRPr>
          </a:p>
          <a:p>
            <a:pPr marL="952500" lvl="1" indent="-342900">
              <a:spcBef>
                <a:spcPts val="2400"/>
              </a:spcBef>
              <a:buFont typeface="Wingdings" panose="05000000000000000000" pitchFamily="2" charset="2"/>
              <a:buChar char="u"/>
            </a:pPr>
            <a:endPar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cs typeface="+mn-ea"/>
            </a:endParaRPr>
          </a:p>
          <a:p>
            <a:pPr marL="952500" lvl="1" indent="-342900">
              <a:spcBef>
                <a:spcPts val="2400"/>
              </a:spcBef>
              <a:buFont typeface="Wingdings" panose="05000000000000000000" pitchFamily="2" charset="2"/>
              <a:buChar char="u"/>
            </a:pPr>
            <a:endPar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cs typeface="+mn-ea"/>
            </a:endParaRPr>
          </a:p>
          <a:p>
            <a:pPr marL="342900" indent="-342900">
              <a:spcBef>
                <a:spcPts val="2400"/>
              </a:spcBef>
              <a:buFont typeface="Wingdings" panose="05000000000000000000" pitchFamily="2" charset="2"/>
              <a:buChar char="l"/>
            </a:pP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cs typeface="+mn-ea"/>
              </a:rPr>
              <a:t>具体例子见</a:t>
            </a:r>
            <a:r>
              <a:rPr lang="en-US" altLang="zh-CN" sz="1600" dirty="0">
                <a:solidFill>
                  <a:schemeClr val="tx1">
                    <a:lumMod val="85000"/>
                    <a:lumOff val="15000"/>
                  </a:schemeClr>
                </a:solidFill>
                <a:latin typeface="微软雅黑" panose="020B0503020204020204" pitchFamily="34" charset="-122"/>
                <a:ea typeface="微软雅黑" panose="020B0503020204020204" pitchFamily="34" charset="-122"/>
                <a:cs typeface="+mn-ea"/>
              </a:rPr>
              <a:t>API Reference</a:t>
            </a:r>
          </a:p>
        </p:txBody>
      </p:sp>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RelativeContainer</a:t>
            </a:r>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（相对布局）</a:t>
            </a:r>
          </a:p>
        </p:txBody>
      </p:sp>
      <p:sp>
        <p:nvSpPr>
          <p:cNvPr id="5" name="文本框 4"/>
          <p:cNvSpPr txBox="1"/>
          <p:nvPr/>
        </p:nvSpPr>
        <p:spPr>
          <a:xfrm>
            <a:off x="622598" y="4653930"/>
            <a:ext cx="184731" cy="276999"/>
          </a:xfrm>
          <a:prstGeom prst="rect">
            <a:avLst/>
          </a:prstGeom>
          <a:noFill/>
        </p:spPr>
        <p:txBody>
          <a:bodyPr wrap="none" rtlCol="0">
            <a:spAutoFit/>
          </a:bodyPr>
          <a:lstStyle/>
          <a:p>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89817975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b="1" dirty="0" err="1">
                <a:solidFill>
                  <a:srgbClr val="595959"/>
                </a:solidFill>
                <a:latin typeface="微软雅黑" panose="020B0503020204020204" pitchFamily="34" charset="-122"/>
                <a:ea typeface="微软雅黑" panose="020B0503020204020204" pitchFamily="34" charset="-122"/>
                <a:sym typeface="宋体" panose="02010600030101010101" pitchFamily="2" charset="-122"/>
              </a:rPr>
              <a:t>Grid&amp;Griditem</a:t>
            </a:r>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（网格布局）</a:t>
            </a:r>
          </a:p>
        </p:txBody>
      </p:sp>
      <p:sp>
        <p:nvSpPr>
          <p:cNvPr id="5" name="文本框 4"/>
          <p:cNvSpPr txBox="1"/>
          <p:nvPr/>
        </p:nvSpPr>
        <p:spPr>
          <a:xfrm>
            <a:off x="622598" y="4653930"/>
            <a:ext cx="184731" cy="276999"/>
          </a:xfrm>
          <a:prstGeom prst="rect">
            <a:avLst/>
          </a:prstGeom>
          <a:noFill/>
        </p:spPr>
        <p:txBody>
          <a:bodyPr wrap="none" rtlCol="0">
            <a:spAutoFit/>
          </a:bodyPr>
          <a:lstStyle/>
          <a:p>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6" name="矩形 6">
            <a:extLst>
              <a:ext uri="{FF2B5EF4-FFF2-40B4-BE49-F238E27FC236}">
                <a16:creationId xmlns:a16="http://schemas.microsoft.com/office/drawing/2014/main" id="{2B77D47F-41F1-4081-BE6B-C8A463966BCC}"/>
              </a:ext>
            </a:extLst>
          </p:cNvPr>
          <p:cNvSpPr>
            <a:spLocks noChangeArrowheads="1"/>
          </p:cNvSpPr>
          <p:nvPr/>
        </p:nvSpPr>
        <p:spPr bwMode="auto">
          <a:xfrm>
            <a:off x="1198662" y="1125538"/>
            <a:ext cx="10009112" cy="34317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indent="-342900">
              <a:lnSpc>
                <a:spcPct val="150000"/>
              </a:lnSpc>
              <a:spcBef>
                <a:spcPts val="2400"/>
              </a:spcBef>
              <a:buFont typeface="Wingdings" panose="05000000000000000000" pitchFamily="2" charset="2"/>
              <a:buChar char="l"/>
            </a:pPr>
            <a:r>
              <a:rPr lang="zh-CN" altLang="en-US" sz="2000" dirty="0">
                <a:solidFill>
                  <a:srgbClr val="008DF6"/>
                </a:solidFill>
                <a:latin typeface="微软雅黑" panose="020B0503020204020204" pitchFamily="34" charset="-122"/>
                <a:ea typeface="微软雅黑" panose="020B0503020204020204" pitchFamily="34" charset="-122"/>
                <a:cs typeface="+mn-ea"/>
              </a:rPr>
              <a:t>网格布局：</a:t>
            </a:r>
            <a:r>
              <a:rPr lang="zh-CN" altLang="en-US" sz="1800" dirty="0">
                <a:solidFill>
                  <a:schemeClr val="tx1">
                    <a:lumMod val="85000"/>
                    <a:lumOff val="15000"/>
                  </a:schemeClr>
                </a:solidFill>
                <a:latin typeface="微软雅黑" panose="020B0503020204020204" pitchFamily="34" charset="-122"/>
                <a:ea typeface="微软雅黑" panose="020B0503020204020204" pitchFamily="34" charset="-122"/>
                <a:cs typeface="+mn-ea"/>
              </a:rPr>
              <a:t>基于“行”和“列”分割的单元格所组成的布局方式，通过指定“项所在的单元格，实现各种各样的页面布局。</a:t>
            </a:r>
            <a:endParaRPr lang="en-US" altLang="zh-CN" sz="1800" dirty="0">
              <a:solidFill>
                <a:schemeClr val="tx1">
                  <a:lumMod val="85000"/>
                  <a:lumOff val="15000"/>
                </a:schemeClr>
              </a:solidFill>
              <a:latin typeface="微软雅黑" panose="020B0503020204020204" pitchFamily="34" charset="-122"/>
              <a:ea typeface="微软雅黑" panose="020B0503020204020204" pitchFamily="34" charset="-122"/>
              <a:cs typeface="+mn-ea"/>
            </a:endParaRPr>
          </a:p>
          <a:p>
            <a:pPr marL="342900" indent="-342900">
              <a:spcBef>
                <a:spcPts val="2400"/>
              </a:spcBef>
              <a:buFont typeface="Wingdings" panose="05000000000000000000" pitchFamily="2" charset="2"/>
              <a:buChar char="l"/>
            </a:pPr>
            <a:r>
              <a:rPr lang="zh-CN" altLang="en-US" sz="2000" dirty="0">
                <a:solidFill>
                  <a:srgbClr val="008DF6"/>
                </a:solidFill>
                <a:latin typeface="微软雅黑" panose="020B0503020204020204" pitchFamily="34" charset="-122"/>
                <a:ea typeface="微软雅黑" panose="020B0503020204020204" pitchFamily="34" charset="-122"/>
                <a:cs typeface="+mn-ea"/>
              </a:rPr>
              <a:t>特点：</a:t>
            </a:r>
            <a:endParaRPr lang="en-US" altLang="zh-CN" sz="2000" dirty="0">
              <a:solidFill>
                <a:srgbClr val="008DF6"/>
              </a:solidFill>
              <a:latin typeface="微软雅黑" panose="020B0503020204020204" pitchFamily="34" charset="-122"/>
              <a:ea typeface="微软雅黑" panose="020B0503020204020204" pitchFamily="34" charset="-122"/>
              <a:cs typeface="+mn-ea"/>
            </a:endParaRPr>
          </a:p>
          <a:p>
            <a:pPr marL="952500" lvl="1" indent="-342900">
              <a:spcBef>
                <a:spcPts val="2400"/>
              </a:spcBef>
              <a:buFont typeface="Wingdings" panose="05000000000000000000" pitchFamily="2" charset="2"/>
              <a:buChar char="Ø"/>
            </a:pP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相较于传统的布局方式，网格布局具有较强的页面均分能力和子组件占比控制能力。</a:t>
            </a:r>
            <a:endParaRPr lang="en-US"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mn-ea"/>
            </a:endParaRPr>
          </a:p>
          <a:p>
            <a:pPr marL="952500" lvl="1" indent="-342900">
              <a:spcBef>
                <a:spcPts val="2400"/>
              </a:spcBef>
              <a:buFont typeface="Wingdings" panose="05000000000000000000" pitchFamily="2" charset="2"/>
              <a:buChar char="Ø"/>
            </a:pP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一种重要的自适应布局方式，广泛应用于</a:t>
            </a:r>
            <a:r>
              <a:rPr lang="zh-CN" altLang="en-US" sz="2000" dirty="0">
                <a:solidFill>
                  <a:srgbClr val="006BBC"/>
                </a:solidFill>
                <a:latin typeface="微软雅黑" panose="020B0503020204020204" pitchFamily="34" charset="-122"/>
                <a:ea typeface="微软雅黑" panose="020B0503020204020204" pitchFamily="34" charset="-122"/>
                <a:cs typeface="+mn-ea"/>
              </a:rPr>
              <a:t>九宫格图片展示</a:t>
            </a: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a:t>
            </a:r>
            <a:r>
              <a:rPr lang="zh-CN" altLang="en-US" sz="2000" dirty="0">
                <a:solidFill>
                  <a:srgbClr val="006BBC"/>
                </a:solidFill>
                <a:latin typeface="微软雅黑" panose="020B0503020204020204" pitchFamily="34" charset="-122"/>
                <a:ea typeface="微软雅黑" panose="020B0503020204020204" pitchFamily="34" charset="-122"/>
                <a:cs typeface="+mn-ea"/>
              </a:rPr>
              <a:t>日历</a:t>
            </a: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a:t>
            </a:r>
            <a:r>
              <a:rPr lang="zh-CN" altLang="en-US" sz="2000" dirty="0">
                <a:solidFill>
                  <a:srgbClr val="006BBC"/>
                </a:solidFill>
                <a:latin typeface="微软雅黑" panose="020B0503020204020204" pitchFamily="34" charset="-122"/>
                <a:ea typeface="微软雅黑" panose="020B0503020204020204" pitchFamily="34" charset="-122"/>
                <a:cs typeface="+mn-ea"/>
              </a:rPr>
              <a:t>计算器等</a:t>
            </a: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应用场景中。</a:t>
            </a:r>
            <a:endParaRPr lang="en-US"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mn-ea"/>
            </a:endParaRPr>
          </a:p>
        </p:txBody>
      </p:sp>
    </p:spTree>
    <p:extLst>
      <p:ext uri="{BB962C8B-B14F-4D97-AF65-F5344CB8AC3E}">
        <p14:creationId xmlns:p14="http://schemas.microsoft.com/office/powerpoint/2010/main" val="76305510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b="1" dirty="0" err="1">
                <a:solidFill>
                  <a:srgbClr val="595959"/>
                </a:solidFill>
                <a:latin typeface="微软雅黑" panose="020B0503020204020204" pitchFamily="34" charset="-122"/>
                <a:ea typeface="微软雅黑" panose="020B0503020204020204" pitchFamily="34" charset="-122"/>
                <a:sym typeface="宋体" panose="02010600030101010101" pitchFamily="2" charset="-122"/>
              </a:rPr>
              <a:t>Grid&amp;Griditem</a:t>
            </a:r>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（网格布局）</a:t>
            </a:r>
          </a:p>
        </p:txBody>
      </p:sp>
      <p:sp>
        <p:nvSpPr>
          <p:cNvPr id="5" name="文本框 4"/>
          <p:cNvSpPr txBox="1"/>
          <p:nvPr/>
        </p:nvSpPr>
        <p:spPr>
          <a:xfrm>
            <a:off x="622598" y="4653930"/>
            <a:ext cx="184731" cy="276999"/>
          </a:xfrm>
          <a:prstGeom prst="rect">
            <a:avLst/>
          </a:prstGeom>
          <a:noFill/>
        </p:spPr>
        <p:txBody>
          <a:bodyPr wrap="none" rtlCol="0">
            <a:spAutoFit/>
          </a:bodyPr>
          <a:lstStyle/>
          <a:p>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6" name="矩形 6">
            <a:extLst>
              <a:ext uri="{FF2B5EF4-FFF2-40B4-BE49-F238E27FC236}">
                <a16:creationId xmlns:a16="http://schemas.microsoft.com/office/drawing/2014/main" id="{2B77D47F-41F1-4081-BE6B-C8A463966BCC}"/>
              </a:ext>
            </a:extLst>
          </p:cNvPr>
          <p:cNvSpPr>
            <a:spLocks noChangeArrowheads="1"/>
          </p:cNvSpPr>
          <p:nvPr/>
        </p:nvSpPr>
        <p:spPr bwMode="auto">
          <a:xfrm>
            <a:off x="982638" y="1917475"/>
            <a:ext cx="5544616" cy="27364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285750" indent="-285750">
              <a:lnSpc>
                <a:spcPct val="150000"/>
              </a:lnSpc>
              <a:spcBef>
                <a:spcPts val="2400"/>
              </a:spcBef>
              <a:buFont typeface="Wingdings" panose="05000000000000000000" pitchFamily="2" charset="2"/>
              <a:buChar char="u"/>
            </a:pPr>
            <a:r>
              <a:rPr lang="en-US" altLang="zh-CN" sz="1800" dirty="0">
                <a:solidFill>
                  <a:schemeClr val="tx1">
                    <a:lumMod val="85000"/>
                    <a:lumOff val="15000"/>
                  </a:schemeClr>
                </a:solidFill>
                <a:latin typeface="微软雅黑" panose="020B0503020204020204" pitchFamily="34" charset="-122"/>
                <a:ea typeface="微软雅黑" panose="020B0503020204020204" pitchFamily="34" charset="-122"/>
                <a:cs typeface="+mn-ea"/>
              </a:rPr>
              <a:t>Grid</a:t>
            </a:r>
            <a:r>
              <a:rPr lang="zh-CN" altLang="en-US" sz="1800" dirty="0">
                <a:solidFill>
                  <a:schemeClr val="tx1">
                    <a:lumMod val="85000"/>
                    <a:lumOff val="15000"/>
                  </a:schemeClr>
                </a:solidFill>
                <a:latin typeface="微软雅黑" panose="020B0503020204020204" pitchFamily="34" charset="-122"/>
                <a:ea typeface="微软雅黑" panose="020B0503020204020204" pitchFamily="34" charset="-122"/>
                <a:cs typeface="+mn-ea"/>
              </a:rPr>
              <a:t>组件用于设置网格布局相关参数，包括行数、列数、单元格大小等</a:t>
            </a:r>
            <a:r>
              <a:rPr lang="en-US" altLang="zh-CN" sz="1800" dirty="0">
                <a:solidFill>
                  <a:schemeClr val="tx1">
                    <a:lumMod val="85000"/>
                    <a:lumOff val="15000"/>
                  </a:schemeClr>
                </a:solidFill>
                <a:latin typeface="微软雅黑" panose="020B0503020204020204" pitchFamily="34" charset="-122"/>
                <a:ea typeface="微软雅黑" panose="020B0503020204020204" pitchFamily="34" charset="-122"/>
                <a:cs typeface="+mn-ea"/>
              </a:rPr>
              <a:t>;</a:t>
            </a:r>
          </a:p>
          <a:p>
            <a:pPr marL="285750" indent="-285750">
              <a:lnSpc>
                <a:spcPct val="150000"/>
              </a:lnSpc>
              <a:spcBef>
                <a:spcPts val="2400"/>
              </a:spcBef>
              <a:buFont typeface="Wingdings" panose="05000000000000000000" pitchFamily="2" charset="2"/>
              <a:buChar char="u"/>
            </a:pPr>
            <a:r>
              <a:rPr lang="en-US" altLang="zh-CN" sz="1800" dirty="0" err="1">
                <a:solidFill>
                  <a:schemeClr val="tx1">
                    <a:lumMod val="85000"/>
                    <a:lumOff val="15000"/>
                  </a:schemeClr>
                </a:solidFill>
                <a:latin typeface="微软雅黑" panose="020B0503020204020204" pitchFamily="34" charset="-122"/>
                <a:ea typeface="微软雅黑" panose="020B0503020204020204" pitchFamily="34" charset="-122"/>
                <a:cs typeface="+mn-ea"/>
              </a:rPr>
              <a:t>GridItem</a:t>
            </a:r>
            <a:r>
              <a:rPr lang="en-US" altLang="zh-CN" sz="1800" dirty="0">
                <a:solidFill>
                  <a:schemeClr val="tx1">
                    <a:lumMod val="85000"/>
                    <a:lumOff val="15000"/>
                  </a:schemeClr>
                </a:solidFill>
                <a:latin typeface="微软雅黑" panose="020B0503020204020204" pitchFamily="34" charset="-122"/>
                <a:ea typeface="微软雅黑" panose="020B0503020204020204" pitchFamily="34" charset="-122"/>
                <a:cs typeface="+mn-ea"/>
              </a:rPr>
              <a:t> </a:t>
            </a:r>
            <a:r>
              <a:rPr lang="zh-CN" altLang="en-US" sz="1800" dirty="0">
                <a:solidFill>
                  <a:schemeClr val="tx1">
                    <a:lumMod val="85000"/>
                    <a:lumOff val="15000"/>
                  </a:schemeClr>
                </a:solidFill>
                <a:latin typeface="微软雅黑" panose="020B0503020204020204" pitchFamily="34" charset="-122"/>
                <a:ea typeface="微软雅黑" panose="020B0503020204020204" pitchFamily="34" charset="-122"/>
                <a:cs typeface="+mn-ea"/>
              </a:rPr>
              <a:t>则用于定义子组件的相关特征，例如子组件所在的单元格、占据的行列数等；</a:t>
            </a:r>
            <a:endParaRPr lang="en-US" altLang="zh-CN" sz="1800" dirty="0">
              <a:solidFill>
                <a:schemeClr val="tx1">
                  <a:lumMod val="85000"/>
                  <a:lumOff val="15000"/>
                </a:schemeClr>
              </a:solidFill>
              <a:latin typeface="微软雅黑" panose="020B0503020204020204" pitchFamily="34" charset="-122"/>
              <a:ea typeface="微软雅黑" panose="020B0503020204020204" pitchFamily="34" charset="-122"/>
              <a:cs typeface="+mn-ea"/>
            </a:endParaRPr>
          </a:p>
          <a:p>
            <a:pPr marL="285750" indent="-285750">
              <a:lnSpc>
                <a:spcPct val="150000"/>
              </a:lnSpc>
              <a:spcBef>
                <a:spcPts val="2400"/>
              </a:spcBef>
              <a:buFont typeface="Wingdings" panose="05000000000000000000" pitchFamily="2" charset="2"/>
              <a:buChar char="u"/>
            </a:pPr>
            <a:r>
              <a:rPr lang="en-US" altLang="zh-CN" sz="1800" dirty="0">
                <a:solidFill>
                  <a:schemeClr val="tx1">
                    <a:lumMod val="85000"/>
                    <a:lumOff val="15000"/>
                  </a:schemeClr>
                </a:solidFill>
                <a:latin typeface="微软雅黑" panose="020B0503020204020204" pitchFamily="34" charset="-122"/>
                <a:ea typeface="微软雅黑" panose="020B0503020204020204" pitchFamily="34" charset="-122"/>
                <a:cs typeface="+mn-ea"/>
              </a:rPr>
              <a:t>Grid</a:t>
            </a:r>
            <a:r>
              <a:rPr lang="zh-CN" altLang="en-US" sz="1800" dirty="0">
                <a:solidFill>
                  <a:schemeClr val="tx1">
                    <a:lumMod val="85000"/>
                    <a:lumOff val="15000"/>
                  </a:schemeClr>
                </a:solidFill>
                <a:latin typeface="微软雅黑" panose="020B0503020204020204" pitchFamily="34" charset="-122"/>
                <a:ea typeface="微软雅黑" panose="020B0503020204020204" pitchFamily="34" charset="-122"/>
                <a:cs typeface="+mn-ea"/>
              </a:rPr>
              <a:t>与 </a:t>
            </a:r>
            <a:r>
              <a:rPr lang="en-US" altLang="zh-CN" sz="1800" dirty="0" err="1">
                <a:solidFill>
                  <a:schemeClr val="tx1">
                    <a:lumMod val="85000"/>
                    <a:lumOff val="15000"/>
                  </a:schemeClr>
                </a:solidFill>
                <a:latin typeface="微软雅黑" panose="020B0503020204020204" pitchFamily="34" charset="-122"/>
                <a:ea typeface="微软雅黑" panose="020B0503020204020204" pitchFamily="34" charset="-122"/>
                <a:cs typeface="+mn-ea"/>
              </a:rPr>
              <a:t>Gridtem</a:t>
            </a:r>
            <a:r>
              <a:rPr lang="en-US" altLang="zh-CN" sz="1800" dirty="0">
                <a:solidFill>
                  <a:schemeClr val="tx1">
                    <a:lumMod val="85000"/>
                    <a:lumOff val="15000"/>
                  </a:schemeClr>
                </a:solidFill>
                <a:latin typeface="微软雅黑" panose="020B0503020204020204" pitchFamily="34" charset="-122"/>
                <a:ea typeface="微软雅黑" panose="020B0503020204020204" pitchFamily="34" charset="-122"/>
                <a:cs typeface="+mn-ea"/>
              </a:rPr>
              <a:t> </a:t>
            </a:r>
            <a:r>
              <a:rPr lang="zh-CN" altLang="en-US" sz="1800" dirty="0">
                <a:solidFill>
                  <a:schemeClr val="tx1">
                    <a:lumMod val="85000"/>
                    <a:lumOff val="15000"/>
                  </a:schemeClr>
                </a:solidFill>
                <a:latin typeface="微软雅黑" panose="020B0503020204020204" pitchFamily="34" charset="-122"/>
                <a:ea typeface="微软雅黑" panose="020B0503020204020204" pitchFamily="34" charset="-122"/>
                <a:cs typeface="+mn-ea"/>
              </a:rPr>
              <a:t>组件的关系如所示。</a:t>
            </a:r>
            <a:endParaRPr lang="en-US" altLang="zh-CN" sz="1800" dirty="0">
              <a:solidFill>
                <a:schemeClr val="tx1">
                  <a:lumMod val="85000"/>
                  <a:lumOff val="15000"/>
                </a:schemeClr>
              </a:solidFill>
              <a:latin typeface="微软雅黑" panose="020B0503020204020204" pitchFamily="34" charset="-122"/>
              <a:ea typeface="微软雅黑" panose="020B0503020204020204" pitchFamily="34" charset="-122"/>
              <a:cs typeface="+mn-ea"/>
            </a:endParaRPr>
          </a:p>
        </p:txBody>
      </p:sp>
      <p:pic>
        <p:nvPicPr>
          <p:cNvPr id="2" name="图片 1">
            <a:extLst>
              <a:ext uri="{FF2B5EF4-FFF2-40B4-BE49-F238E27FC236}">
                <a16:creationId xmlns:a16="http://schemas.microsoft.com/office/drawing/2014/main" id="{15B274B8-9C7B-4BA2-BA46-9FACD042695D}"/>
              </a:ext>
            </a:extLst>
          </p:cNvPr>
          <p:cNvPicPr>
            <a:picLocks noChangeAspect="1"/>
          </p:cNvPicPr>
          <p:nvPr/>
        </p:nvPicPr>
        <p:blipFill>
          <a:blip r:embed="rId2"/>
          <a:stretch>
            <a:fillRect/>
          </a:stretch>
        </p:blipFill>
        <p:spPr>
          <a:xfrm>
            <a:off x="7319342" y="1413570"/>
            <a:ext cx="3672408" cy="4564011"/>
          </a:xfrm>
          <a:prstGeom prst="rect">
            <a:avLst/>
          </a:prstGeom>
        </p:spPr>
      </p:pic>
    </p:spTree>
    <p:extLst>
      <p:ext uri="{BB962C8B-B14F-4D97-AF65-F5344CB8AC3E}">
        <p14:creationId xmlns:p14="http://schemas.microsoft.com/office/powerpoint/2010/main" val="410030413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b="1" dirty="0" err="1">
                <a:solidFill>
                  <a:srgbClr val="595959"/>
                </a:solidFill>
                <a:latin typeface="微软雅黑" panose="020B0503020204020204" pitchFamily="34" charset="-122"/>
                <a:ea typeface="微软雅黑" panose="020B0503020204020204" pitchFamily="34" charset="-122"/>
                <a:sym typeface="宋体" panose="02010600030101010101" pitchFamily="2" charset="-122"/>
              </a:rPr>
              <a:t>Grid&amp;Griditem</a:t>
            </a:r>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（网格布局）</a:t>
            </a:r>
          </a:p>
        </p:txBody>
      </p:sp>
      <p:sp>
        <p:nvSpPr>
          <p:cNvPr id="5" name="文本框 4"/>
          <p:cNvSpPr txBox="1"/>
          <p:nvPr/>
        </p:nvSpPr>
        <p:spPr>
          <a:xfrm>
            <a:off x="622598" y="4653930"/>
            <a:ext cx="184731" cy="276999"/>
          </a:xfrm>
          <a:prstGeom prst="rect">
            <a:avLst/>
          </a:prstGeom>
          <a:noFill/>
        </p:spPr>
        <p:txBody>
          <a:bodyPr wrap="none" rtlCol="0">
            <a:spAutoFit/>
          </a:bodyPr>
          <a:lstStyle/>
          <a:p>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6" name="矩形 6">
            <a:extLst>
              <a:ext uri="{FF2B5EF4-FFF2-40B4-BE49-F238E27FC236}">
                <a16:creationId xmlns:a16="http://schemas.microsoft.com/office/drawing/2014/main" id="{2B77D47F-41F1-4081-BE6B-C8A463966BCC}"/>
              </a:ext>
            </a:extLst>
          </p:cNvPr>
          <p:cNvSpPr>
            <a:spLocks noChangeArrowheads="1"/>
          </p:cNvSpPr>
          <p:nvPr/>
        </p:nvSpPr>
        <p:spPr bwMode="auto">
          <a:xfrm>
            <a:off x="1198662" y="1125538"/>
            <a:ext cx="10009112" cy="15976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285750" indent="-285750">
              <a:lnSpc>
                <a:spcPct val="150000"/>
              </a:lnSpc>
              <a:spcBef>
                <a:spcPts val="2400"/>
              </a:spcBef>
              <a:buFont typeface="Wingdings" panose="05000000000000000000" pitchFamily="2" charset="2"/>
              <a:buChar char="Ø"/>
            </a:pPr>
            <a:r>
              <a:rPr lang="zh-CN" altLang="en-US" sz="1800" dirty="0">
                <a:solidFill>
                  <a:schemeClr val="tx1">
                    <a:lumMod val="85000"/>
                    <a:lumOff val="15000"/>
                  </a:schemeClr>
                </a:solidFill>
                <a:latin typeface="微软雅黑" panose="020B0503020204020204" pitchFamily="34" charset="-122"/>
                <a:ea typeface="微软雅黑" panose="020B0503020204020204" pitchFamily="34" charset="-122"/>
                <a:cs typeface="+mn-ea"/>
              </a:rPr>
              <a:t>此外，</a:t>
            </a:r>
            <a:r>
              <a:rPr lang="en-US" altLang="zh-CN" sz="1800" dirty="0">
                <a:solidFill>
                  <a:schemeClr val="tx1">
                    <a:lumMod val="85000"/>
                    <a:lumOff val="15000"/>
                  </a:schemeClr>
                </a:solidFill>
                <a:latin typeface="微软雅黑" panose="020B0503020204020204" pitchFamily="34" charset="-122"/>
                <a:ea typeface="微软雅黑" panose="020B0503020204020204" pitchFamily="34" charset="-122"/>
                <a:cs typeface="+mn-ea"/>
              </a:rPr>
              <a:t>Grid </a:t>
            </a:r>
            <a:r>
              <a:rPr lang="zh-CN" altLang="en-US" sz="1800" dirty="0">
                <a:solidFill>
                  <a:schemeClr val="tx1">
                    <a:lumMod val="85000"/>
                    <a:lumOff val="15000"/>
                  </a:schemeClr>
                </a:solidFill>
                <a:latin typeface="微软雅黑" panose="020B0503020204020204" pitchFamily="34" charset="-122"/>
                <a:ea typeface="微软雅黑" panose="020B0503020204020204" pitchFamily="34" charset="-122"/>
                <a:cs typeface="+mn-ea"/>
              </a:rPr>
              <a:t>组件还支持使用条件渲染、循环渲染、懒加载等方式生成子组件，提高开发效率。</a:t>
            </a:r>
            <a:endParaRPr lang="en-US" altLang="zh-CN" sz="1800" dirty="0">
              <a:solidFill>
                <a:schemeClr val="tx1">
                  <a:lumMod val="85000"/>
                  <a:lumOff val="15000"/>
                </a:schemeClr>
              </a:solidFill>
              <a:latin typeface="微软雅黑" panose="020B0503020204020204" pitchFamily="34" charset="-122"/>
              <a:ea typeface="微软雅黑" panose="020B0503020204020204" pitchFamily="34" charset="-122"/>
              <a:cs typeface="+mn-ea"/>
            </a:endParaRPr>
          </a:p>
          <a:p>
            <a:pPr marL="285750" indent="-285750">
              <a:lnSpc>
                <a:spcPct val="150000"/>
              </a:lnSpc>
              <a:spcBef>
                <a:spcPts val="2400"/>
              </a:spcBef>
              <a:buFont typeface="Wingdings" panose="05000000000000000000" pitchFamily="2" charset="2"/>
              <a:buChar char="Ø"/>
            </a:pPr>
            <a:r>
              <a:rPr lang="zh-CN" altLang="en-US" sz="1800" dirty="0">
                <a:solidFill>
                  <a:schemeClr val="tx1">
                    <a:lumMod val="85000"/>
                    <a:lumOff val="15000"/>
                  </a:schemeClr>
                </a:solidFill>
                <a:latin typeface="微软雅黑" panose="020B0503020204020204" pitchFamily="34" charset="-122"/>
                <a:ea typeface="微软雅黑" panose="020B0503020204020204" pitchFamily="34" charset="-122"/>
                <a:cs typeface="+mn-ea"/>
              </a:rPr>
              <a:t>网格布局是一种实用的布局方式，</a:t>
            </a:r>
            <a:r>
              <a:rPr lang="en-US" altLang="zh-CN" sz="1800" dirty="0" err="1">
                <a:solidFill>
                  <a:schemeClr val="tx1">
                    <a:lumMod val="85000"/>
                    <a:lumOff val="15000"/>
                  </a:schemeClr>
                </a:solidFill>
                <a:latin typeface="微软雅黑" panose="020B0503020204020204" pitchFamily="34" charset="-122"/>
                <a:ea typeface="微软雅黑" panose="020B0503020204020204" pitchFamily="34" charset="-122"/>
                <a:cs typeface="+mn-ea"/>
              </a:rPr>
              <a:t>ArkUI</a:t>
            </a:r>
            <a:r>
              <a:rPr lang="zh-CN" altLang="en-US" sz="1800" dirty="0">
                <a:solidFill>
                  <a:schemeClr val="tx1">
                    <a:lumMod val="85000"/>
                    <a:lumOff val="15000"/>
                  </a:schemeClr>
                </a:solidFill>
                <a:latin typeface="微软雅黑" panose="020B0503020204020204" pitchFamily="34" charset="-122"/>
                <a:ea typeface="微软雅黑" panose="020B0503020204020204" pitchFamily="34" charset="-122"/>
                <a:cs typeface="+mn-ea"/>
              </a:rPr>
              <a:t>提供了完善的网格布局组件，帮助开发者更加轻松地实现自适应布局。</a:t>
            </a:r>
            <a:endParaRPr lang="en-US" altLang="zh-CN" sz="1800" dirty="0">
              <a:solidFill>
                <a:schemeClr val="tx1">
                  <a:lumMod val="85000"/>
                  <a:lumOff val="15000"/>
                </a:schemeClr>
              </a:solidFill>
              <a:latin typeface="微软雅黑" panose="020B0503020204020204" pitchFamily="34" charset="-122"/>
              <a:ea typeface="微软雅黑" panose="020B0503020204020204" pitchFamily="34" charset="-122"/>
              <a:cs typeface="+mn-ea"/>
            </a:endParaRPr>
          </a:p>
        </p:txBody>
      </p:sp>
    </p:spTree>
    <p:extLst>
      <p:ext uri="{BB962C8B-B14F-4D97-AF65-F5344CB8AC3E}">
        <p14:creationId xmlns:p14="http://schemas.microsoft.com/office/powerpoint/2010/main" val="357563120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b="1" dirty="0" err="1">
                <a:solidFill>
                  <a:srgbClr val="595959"/>
                </a:solidFill>
                <a:latin typeface="微软雅黑" panose="020B0503020204020204" pitchFamily="34" charset="-122"/>
                <a:ea typeface="微软雅黑" panose="020B0503020204020204" pitchFamily="34" charset="-122"/>
                <a:sym typeface="宋体" panose="02010600030101010101" pitchFamily="2" charset="-122"/>
              </a:rPr>
              <a:t>Grid&amp;Griditem</a:t>
            </a:r>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（网格布局）</a:t>
            </a:r>
          </a:p>
        </p:txBody>
      </p:sp>
      <p:sp>
        <p:nvSpPr>
          <p:cNvPr id="5" name="文本框 4"/>
          <p:cNvSpPr txBox="1"/>
          <p:nvPr/>
        </p:nvSpPr>
        <p:spPr>
          <a:xfrm>
            <a:off x="622598" y="4653930"/>
            <a:ext cx="184731" cy="276999"/>
          </a:xfrm>
          <a:prstGeom prst="rect">
            <a:avLst/>
          </a:prstGeom>
          <a:noFill/>
        </p:spPr>
        <p:txBody>
          <a:bodyPr wrap="none" rtlCol="0">
            <a:spAutoFit/>
          </a:bodyPr>
          <a:lstStyle/>
          <a:p>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6" name="矩形 6">
            <a:extLst>
              <a:ext uri="{FF2B5EF4-FFF2-40B4-BE49-F238E27FC236}">
                <a16:creationId xmlns:a16="http://schemas.microsoft.com/office/drawing/2014/main" id="{2B77D47F-41F1-4081-BE6B-C8A463966BCC}"/>
              </a:ext>
            </a:extLst>
          </p:cNvPr>
          <p:cNvSpPr>
            <a:spLocks noChangeArrowheads="1"/>
          </p:cNvSpPr>
          <p:nvPr/>
        </p:nvSpPr>
        <p:spPr bwMode="auto">
          <a:xfrm>
            <a:off x="1198662" y="1125538"/>
            <a:ext cx="8208912" cy="5357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indent="-342900">
              <a:lnSpc>
                <a:spcPct val="150000"/>
              </a:lnSpc>
              <a:spcBef>
                <a:spcPts val="2400"/>
              </a:spcBef>
              <a:buFont typeface="Wingdings" panose="05000000000000000000" pitchFamily="2" charset="2"/>
              <a:buChar char="l"/>
            </a:pPr>
            <a:r>
              <a:rPr lang="en-US" altLang="zh-CN" sz="2000" dirty="0">
                <a:solidFill>
                  <a:srgbClr val="008DF6"/>
                </a:solidFill>
                <a:latin typeface="微软雅黑" panose="020B0503020204020204" pitchFamily="34" charset="-122"/>
                <a:ea typeface="微软雅黑" panose="020B0503020204020204" pitchFamily="34" charset="-122"/>
                <a:cs typeface="+mn-ea"/>
              </a:rPr>
              <a:t>Grid </a:t>
            </a:r>
            <a:r>
              <a:rPr lang="zh-CN" altLang="en-US" sz="2000" dirty="0">
                <a:solidFill>
                  <a:srgbClr val="008DF6"/>
                </a:solidFill>
                <a:latin typeface="微软雅黑" panose="020B0503020204020204" pitchFamily="34" charset="-122"/>
                <a:ea typeface="微软雅黑" panose="020B0503020204020204" pitchFamily="34" charset="-122"/>
                <a:cs typeface="+mn-ea"/>
              </a:rPr>
              <a:t>属性介绍：</a:t>
            </a:r>
            <a:r>
              <a:rPr lang="zh-CN" altLang="en-US" sz="1800" dirty="0">
                <a:latin typeface="微软雅黑" panose="020B0503020204020204" pitchFamily="34" charset="-122"/>
                <a:ea typeface="微软雅黑" panose="020B0503020204020204" pitchFamily="34" charset="-122"/>
                <a:cs typeface="+mn-ea"/>
              </a:rPr>
              <a:t>除支持通用属性外，</a:t>
            </a:r>
            <a:r>
              <a:rPr lang="en-US" altLang="zh-CN" sz="1800" dirty="0">
                <a:latin typeface="微软雅黑" panose="020B0503020204020204" pitchFamily="34" charset="-122"/>
                <a:ea typeface="微软雅黑" panose="020B0503020204020204" pitchFamily="34" charset="-122"/>
                <a:cs typeface="+mn-ea"/>
              </a:rPr>
              <a:t>Grid </a:t>
            </a:r>
            <a:r>
              <a:rPr lang="zh-CN" altLang="en-US" sz="1800" dirty="0">
                <a:latin typeface="微软雅黑" panose="020B0503020204020204" pitchFamily="34" charset="-122"/>
                <a:ea typeface="微软雅黑" panose="020B0503020204020204" pitchFamily="34" charset="-122"/>
                <a:cs typeface="+mn-ea"/>
              </a:rPr>
              <a:t>还支持以下属性</a:t>
            </a:r>
            <a:endParaRPr lang="en-US" altLang="zh-CN" sz="1800" dirty="0">
              <a:latin typeface="微软雅黑" panose="020B0503020204020204" pitchFamily="34" charset="-122"/>
              <a:ea typeface="微软雅黑" panose="020B0503020204020204" pitchFamily="34" charset="-122"/>
              <a:cs typeface="+mn-ea"/>
            </a:endParaRPr>
          </a:p>
          <a:p>
            <a:pPr marL="952500" lvl="1" indent="-342900">
              <a:lnSpc>
                <a:spcPct val="150000"/>
              </a:lnSpc>
              <a:spcBef>
                <a:spcPts val="800"/>
              </a:spcBef>
              <a:buFont typeface="Wingdings" panose="05000000000000000000" pitchFamily="2" charset="2"/>
              <a:buChar char="Ø"/>
            </a:pPr>
            <a:r>
              <a:rPr lang="en-US" altLang="zh-CN" sz="2000" dirty="0" err="1">
                <a:solidFill>
                  <a:srgbClr val="008DF6"/>
                </a:solidFill>
                <a:latin typeface="微软雅黑" panose="020B0503020204020204" pitchFamily="34" charset="-122"/>
                <a:ea typeface="微软雅黑" panose="020B0503020204020204" pitchFamily="34" charset="-122"/>
                <a:cs typeface="+mn-ea"/>
              </a:rPr>
              <a:t>columnsTemplate</a:t>
            </a:r>
            <a:r>
              <a:rPr lang="en-US" altLang="zh-CN" sz="1800" dirty="0">
                <a:latin typeface="微软雅黑" panose="020B0503020204020204" pitchFamily="34" charset="-122"/>
                <a:ea typeface="微软雅黑" panose="020B0503020204020204" pitchFamily="34" charset="-122"/>
                <a:cs typeface="+mn-ea"/>
              </a:rPr>
              <a:t>: </a:t>
            </a:r>
            <a:r>
              <a:rPr lang="zh-CN" altLang="en-US" sz="1800" dirty="0">
                <a:latin typeface="微软雅黑" panose="020B0503020204020204" pitchFamily="34" charset="-122"/>
                <a:ea typeface="微软雅黑" panose="020B0503020204020204" pitchFamily="34" charset="-122"/>
                <a:cs typeface="+mn-ea"/>
              </a:rPr>
              <a:t>设置当前网格布局列的数量，不设置时默认</a:t>
            </a:r>
            <a:r>
              <a:rPr lang="en-US" altLang="zh-CN" sz="1800" dirty="0">
                <a:latin typeface="微软雅黑" panose="020B0503020204020204" pitchFamily="34" charset="-122"/>
                <a:ea typeface="微软雅黑" panose="020B0503020204020204" pitchFamily="34" charset="-122"/>
                <a:cs typeface="+mn-ea"/>
              </a:rPr>
              <a:t>1</a:t>
            </a:r>
            <a:r>
              <a:rPr lang="zh-CN" altLang="en-US" sz="1800" dirty="0">
                <a:latin typeface="微软雅黑" panose="020B0503020204020204" pitchFamily="34" charset="-122"/>
                <a:ea typeface="微软雅黑" panose="020B0503020204020204" pitchFamily="34" charset="-122"/>
                <a:cs typeface="+mn-ea"/>
              </a:rPr>
              <a:t>列。例如，“</a:t>
            </a:r>
            <a:r>
              <a:rPr lang="en-US" altLang="zh-CN" sz="1800" dirty="0">
                <a:latin typeface="微软雅黑" panose="020B0503020204020204" pitchFamily="34" charset="-122"/>
                <a:ea typeface="微软雅黑" panose="020B0503020204020204" pitchFamily="34" charset="-122"/>
                <a:cs typeface="+mn-ea"/>
              </a:rPr>
              <a:t>1fr 1fr2fr”</a:t>
            </a:r>
            <a:r>
              <a:rPr lang="zh-CN" altLang="en-US" sz="1800" dirty="0">
                <a:latin typeface="微软雅黑" panose="020B0503020204020204" pitchFamily="34" charset="-122"/>
                <a:ea typeface="微软雅黑" panose="020B0503020204020204" pitchFamily="34" charset="-122"/>
                <a:cs typeface="+mn-ea"/>
              </a:rPr>
              <a:t>是将父组件分</a:t>
            </a:r>
            <a:r>
              <a:rPr lang="en-US" altLang="zh-CN" sz="1800" dirty="0">
                <a:latin typeface="微软雅黑" panose="020B0503020204020204" pitchFamily="34" charset="-122"/>
                <a:ea typeface="微软雅黑" panose="020B0503020204020204" pitchFamily="34" charset="-122"/>
                <a:cs typeface="+mn-ea"/>
              </a:rPr>
              <a:t>3</a:t>
            </a:r>
            <a:r>
              <a:rPr lang="zh-CN" altLang="en-US" sz="1800" dirty="0">
                <a:latin typeface="微软雅黑" panose="020B0503020204020204" pitchFamily="34" charset="-122"/>
                <a:ea typeface="微软雅黑" panose="020B0503020204020204" pitchFamily="34" charset="-122"/>
                <a:cs typeface="+mn-ea"/>
              </a:rPr>
              <a:t>列，将父组件允许的宽分为</a:t>
            </a:r>
            <a:r>
              <a:rPr lang="en-US" altLang="zh-CN" sz="1800" dirty="0">
                <a:latin typeface="微软雅黑" panose="020B0503020204020204" pitchFamily="34" charset="-122"/>
                <a:ea typeface="微软雅黑" panose="020B0503020204020204" pitchFamily="34" charset="-122"/>
                <a:cs typeface="+mn-ea"/>
              </a:rPr>
              <a:t>4</a:t>
            </a:r>
            <a:r>
              <a:rPr lang="zh-CN" altLang="en-US" sz="1800" dirty="0">
                <a:latin typeface="微软雅黑" panose="020B0503020204020204" pitchFamily="34" charset="-122"/>
                <a:ea typeface="微软雅黑" panose="020B0503020204020204" pitchFamily="34" charset="-122"/>
                <a:cs typeface="+mn-ea"/>
              </a:rPr>
              <a:t>等份，第一列占</a:t>
            </a:r>
            <a:r>
              <a:rPr lang="en-US" altLang="zh-CN" sz="1800" dirty="0">
                <a:latin typeface="微软雅黑" panose="020B0503020204020204" pitchFamily="34" charset="-122"/>
                <a:ea typeface="微软雅黑" panose="020B0503020204020204" pitchFamily="34" charset="-122"/>
                <a:cs typeface="+mn-ea"/>
              </a:rPr>
              <a:t>1</a:t>
            </a:r>
            <a:r>
              <a:rPr lang="zh-CN" altLang="en-US" sz="1800" dirty="0">
                <a:latin typeface="微软雅黑" panose="020B0503020204020204" pitchFamily="34" charset="-122"/>
                <a:ea typeface="微软雅黑" panose="020B0503020204020204" pitchFamily="34" charset="-122"/>
                <a:cs typeface="+mn-ea"/>
              </a:rPr>
              <a:t>份，第二列占</a:t>
            </a:r>
            <a:r>
              <a:rPr lang="en-US" altLang="zh-CN" sz="1800" dirty="0">
                <a:latin typeface="微软雅黑" panose="020B0503020204020204" pitchFamily="34" charset="-122"/>
                <a:ea typeface="微软雅黑" panose="020B0503020204020204" pitchFamily="34" charset="-122"/>
                <a:cs typeface="+mn-ea"/>
              </a:rPr>
              <a:t>1</a:t>
            </a:r>
            <a:r>
              <a:rPr lang="zh-CN" altLang="en-US" sz="1800" dirty="0">
                <a:latin typeface="微软雅黑" panose="020B0503020204020204" pitchFamily="34" charset="-122"/>
                <a:ea typeface="微软雅黑" panose="020B0503020204020204" pitchFamily="34" charset="-122"/>
                <a:cs typeface="+mn-ea"/>
              </a:rPr>
              <a:t>份，第三列占</a:t>
            </a:r>
            <a:r>
              <a:rPr lang="en-US" altLang="zh-CN" sz="1800" dirty="0">
                <a:latin typeface="微软雅黑" panose="020B0503020204020204" pitchFamily="34" charset="-122"/>
                <a:ea typeface="微软雅黑" panose="020B0503020204020204" pitchFamily="34" charset="-122"/>
                <a:cs typeface="+mn-ea"/>
              </a:rPr>
              <a:t>2</a:t>
            </a:r>
            <a:r>
              <a:rPr lang="zh-CN" altLang="en-US" sz="1800" dirty="0">
                <a:latin typeface="微软雅黑" panose="020B0503020204020204" pitchFamily="34" charset="-122"/>
                <a:ea typeface="微软雅黑" panose="020B0503020204020204" pitchFamily="34" charset="-122"/>
                <a:cs typeface="+mn-ea"/>
              </a:rPr>
              <a:t>份。</a:t>
            </a:r>
            <a:endParaRPr lang="en-US" altLang="zh-CN" sz="1800" dirty="0">
              <a:latin typeface="微软雅黑" panose="020B0503020204020204" pitchFamily="34" charset="-122"/>
              <a:ea typeface="微软雅黑" panose="020B0503020204020204" pitchFamily="34" charset="-122"/>
              <a:cs typeface="+mn-ea"/>
            </a:endParaRPr>
          </a:p>
          <a:p>
            <a:pPr marL="952500" lvl="1" indent="-342900">
              <a:lnSpc>
                <a:spcPct val="150000"/>
              </a:lnSpc>
              <a:spcBef>
                <a:spcPts val="800"/>
              </a:spcBef>
              <a:buFont typeface="Wingdings" panose="05000000000000000000" pitchFamily="2" charset="2"/>
              <a:buChar char="Ø"/>
            </a:pPr>
            <a:r>
              <a:rPr lang="en-US" altLang="zh-CN" sz="2000" dirty="0" err="1">
                <a:solidFill>
                  <a:srgbClr val="008DF6"/>
                </a:solidFill>
                <a:latin typeface="微软雅黑" panose="020B0503020204020204" pitchFamily="34" charset="-122"/>
                <a:ea typeface="微软雅黑" panose="020B0503020204020204" pitchFamily="34" charset="-122"/>
                <a:cs typeface="+mn-ea"/>
              </a:rPr>
              <a:t>rowsTemplate</a:t>
            </a:r>
            <a:r>
              <a:rPr lang="en-US" altLang="zh-CN" sz="1800" dirty="0">
                <a:latin typeface="微软雅黑" panose="020B0503020204020204" pitchFamily="34" charset="-122"/>
                <a:ea typeface="微软雅黑" panose="020B0503020204020204" pitchFamily="34" charset="-122"/>
                <a:cs typeface="+mn-ea"/>
              </a:rPr>
              <a:t>: </a:t>
            </a:r>
            <a:r>
              <a:rPr lang="zh-CN" altLang="en-US" sz="1800" dirty="0">
                <a:latin typeface="微软雅黑" panose="020B0503020204020204" pitchFamily="34" charset="-122"/>
                <a:ea typeface="微软雅黑" panose="020B0503020204020204" pitchFamily="34" charset="-122"/>
                <a:cs typeface="+mn-ea"/>
              </a:rPr>
              <a:t>设置当前网格布局行的数量，不设置时默认</a:t>
            </a:r>
            <a:r>
              <a:rPr lang="en-US" altLang="zh-CN" sz="1800" dirty="0">
                <a:latin typeface="微软雅黑" panose="020B0503020204020204" pitchFamily="34" charset="-122"/>
                <a:ea typeface="微软雅黑" panose="020B0503020204020204" pitchFamily="34" charset="-122"/>
                <a:cs typeface="+mn-ea"/>
              </a:rPr>
              <a:t>1</a:t>
            </a:r>
            <a:r>
              <a:rPr lang="zh-CN" altLang="en-US" sz="1800" dirty="0">
                <a:latin typeface="微软雅黑" panose="020B0503020204020204" pitchFamily="34" charset="-122"/>
                <a:ea typeface="微软雅黑" panose="020B0503020204020204" pitchFamily="34" charset="-122"/>
                <a:cs typeface="+mn-ea"/>
              </a:rPr>
              <a:t>行。例如，“</a:t>
            </a:r>
            <a:r>
              <a:rPr lang="en-US" altLang="zh-CN" sz="1800" dirty="0">
                <a:latin typeface="微软雅黑" panose="020B0503020204020204" pitchFamily="34" charset="-122"/>
                <a:ea typeface="微软雅黑" panose="020B0503020204020204" pitchFamily="34" charset="-122"/>
                <a:cs typeface="+mn-ea"/>
              </a:rPr>
              <a:t>1fr </a:t>
            </a:r>
            <a:r>
              <a:rPr lang="en-US" altLang="zh-CN" sz="1800" dirty="0" err="1">
                <a:latin typeface="微软雅黑" panose="020B0503020204020204" pitchFamily="34" charset="-122"/>
                <a:ea typeface="微软雅黑" panose="020B0503020204020204" pitchFamily="34" charset="-122"/>
                <a:cs typeface="+mn-ea"/>
              </a:rPr>
              <a:t>1fr</a:t>
            </a:r>
            <a:r>
              <a:rPr lang="en-US" altLang="zh-CN" sz="1800" dirty="0">
                <a:latin typeface="微软雅黑" panose="020B0503020204020204" pitchFamily="34" charset="-122"/>
                <a:ea typeface="微软雅黑" panose="020B0503020204020204" pitchFamily="34" charset="-122"/>
                <a:cs typeface="+mn-ea"/>
              </a:rPr>
              <a:t> 2fr”</a:t>
            </a:r>
            <a:r>
              <a:rPr lang="zh-CN" altLang="en-US" sz="1800" dirty="0">
                <a:latin typeface="微软雅黑" panose="020B0503020204020204" pitchFamily="34" charset="-122"/>
                <a:ea typeface="微软雅黑" panose="020B0503020204020204" pitchFamily="34" charset="-122"/>
                <a:cs typeface="+mn-ea"/>
              </a:rPr>
              <a:t>是将父组件分</a:t>
            </a:r>
            <a:r>
              <a:rPr lang="en-US" altLang="zh-CN" sz="1800" dirty="0">
                <a:latin typeface="微软雅黑" panose="020B0503020204020204" pitchFamily="34" charset="-122"/>
                <a:ea typeface="微软雅黑" panose="020B0503020204020204" pitchFamily="34" charset="-122"/>
                <a:cs typeface="+mn-ea"/>
              </a:rPr>
              <a:t>3</a:t>
            </a:r>
            <a:r>
              <a:rPr lang="zh-CN" altLang="en-US" sz="1800" dirty="0">
                <a:latin typeface="微软雅黑" panose="020B0503020204020204" pitchFamily="34" charset="-122"/>
                <a:ea typeface="微软雅黑" panose="020B0503020204020204" pitchFamily="34" charset="-122"/>
                <a:cs typeface="+mn-ea"/>
              </a:rPr>
              <a:t>行，将父组件允许的高分为</a:t>
            </a:r>
            <a:r>
              <a:rPr lang="en-US" altLang="zh-CN" sz="1800" dirty="0">
                <a:latin typeface="微软雅黑" panose="020B0503020204020204" pitchFamily="34" charset="-122"/>
                <a:ea typeface="微软雅黑" panose="020B0503020204020204" pitchFamily="34" charset="-122"/>
                <a:cs typeface="+mn-ea"/>
              </a:rPr>
              <a:t>4</a:t>
            </a:r>
            <a:r>
              <a:rPr lang="zh-CN" altLang="en-US" sz="1800" dirty="0">
                <a:latin typeface="微软雅黑" panose="020B0503020204020204" pitchFamily="34" charset="-122"/>
                <a:ea typeface="微软雅黑" panose="020B0503020204020204" pitchFamily="34" charset="-122"/>
                <a:cs typeface="+mn-ea"/>
              </a:rPr>
              <a:t>等份，第一行占</a:t>
            </a:r>
            <a:r>
              <a:rPr lang="en-US" altLang="zh-CN" sz="1800" dirty="0">
                <a:latin typeface="微软雅黑" panose="020B0503020204020204" pitchFamily="34" charset="-122"/>
                <a:ea typeface="微软雅黑" panose="020B0503020204020204" pitchFamily="34" charset="-122"/>
                <a:cs typeface="+mn-ea"/>
              </a:rPr>
              <a:t>1</a:t>
            </a:r>
            <a:r>
              <a:rPr lang="zh-CN" altLang="en-US" sz="1800" dirty="0">
                <a:latin typeface="微软雅黑" panose="020B0503020204020204" pitchFamily="34" charset="-122"/>
                <a:ea typeface="微软雅黑" panose="020B0503020204020204" pitchFamily="34" charset="-122"/>
                <a:cs typeface="+mn-ea"/>
              </a:rPr>
              <a:t>份，第二行占</a:t>
            </a:r>
            <a:r>
              <a:rPr lang="en-US" altLang="zh-CN" sz="1800" dirty="0">
                <a:latin typeface="微软雅黑" panose="020B0503020204020204" pitchFamily="34" charset="-122"/>
                <a:ea typeface="微软雅黑" panose="020B0503020204020204" pitchFamily="34" charset="-122"/>
                <a:cs typeface="+mn-ea"/>
              </a:rPr>
              <a:t>1</a:t>
            </a:r>
            <a:r>
              <a:rPr lang="zh-CN" altLang="en-US" sz="1800" dirty="0">
                <a:latin typeface="微软雅黑" panose="020B0503020204020204" pitchFamily="34" charset="-122"/>
                <a:ea typeface="微软雅黑" panose="020B0503020204020204" pitchFamily="34" charset="-122"/>
                <a:cs typeface="+mn-ea"/>
              </a:rPr>
              <a:t>份，第三行占</a:t>
            </a:r>
            <a:r>
              <a:rPr lang="en-US" altLang="zh-CN" sz="1800" dirty="0">
                <a:latin typeface="微软雅黑" panose="020B0503020204020204" pitchFamily="34" charset="-122"/>
                <a:ea typeface="微软雅黑" panose="020B0503020204020204" pitchFamily="34" charset="-122"/>
                <a:cs typeface="+mn-ea"/>
              </a:rPr>
              <a:t>2</a:t>
            </a:r>
            <a:r>
              <a:rPr lang="zh-CN" altLang="en-US" sz="1800" dirty="0">
                <a:latin typeface="微软雅黑" panose="020B0503020204020204" pitchFamily="34" charset="-122"/>
                <a:ea typeface="微软雅黑" panose="020B0503020204020204" pitchFamily="34" charset="-122"/>
                <a:cs typeface="+mn-ea"/>
              </a:rPr>
              <a:t>份。设置列与列的间距。默认值为</a:t>
            </a:r>
            <a:r>
              <a:rPr lang="en-US" altLang="zh-CN" sz="1800" dirty="0">
                <a:latin typeface="微软雅黑" panose="020B0503020204020204" pitchFamily="34" charset="-122"/>
                <a:ea typeface="微软雅黑" panose="020B0503020204020204" pitchFamily="34" charset="-122"/>
                <a:cs typeface="+mn-ea"/>
              </a:rPr>
              <a:t>0</a:t>
            </a:r>
          </a:p>
          <a:p>
            <a:pPr marL="952500" lvl="1" indent="-342900">
              <a:lnSpc>
                <a:spcPct val="150000"/>
              </a:lnSpc>
              <a:spcBef>
                <a:spcPts val="800"/>
              </a:spcBef>
              <a:buFont typeface="Wingdings" panose="05000000000000000000" pitchFamily="2" charset="2"/>
              <a:buChar char="Ø"/>
            </a:pPr>
            <a:r>
              <a:rPr lang="en-US" altLang="zh-CN" sz="2000" dirty="0" err="1">
                <a:solidFill>
                  <a:srgbClr val="008DF6"/>
                </a:solidFill>
                <a:latin typeface="微软雅黑" panose="020B0503020204020204" pitchFamily="34" charset="-122"/>
                <a:ea typeface="微软雅黑" panose="020B0503020204020204" pitchFamily="34" charset="-122"/>
                <a:cs typeface="+mn-ea"/>
              </a:rPr>
              <a:t>rowsGap</a:t>
            </a:r>
            <a:r>
              <a:rPr lang="en-US" altLang="zh-CN" sz="1800" dirty="0">
                <a:latin typeface="微软雅黑" panose="020B0503020204020204" pitchFamily="34" charset="-122"/>
                <a:ea typeface="微软雅黑" panose="020B0503020204020204" pitchFamily="34" charset="-122"/>
                <a:cs typeface="+mn-ea"/>
              </a:rPr>
              <a:t>: </a:t>
            </a:r>
            <a:r>
              <a:rPr lang="zh-CN" altLang="en-US" sz="1800" dirty="0">
                <a:latin typeface="微软雅黑" panose="020B0503020204020204" pitchFamily="34" charset="-122"/>
                <a:ea typeface="微软雅黑" panose="020B0503020204020204" pitchFamily="34" charset="-122"/>
                <a:cs typeface="+mn-ea"/>
              </a:rPr>
              <a:t>设置行与行的间距。默认值为 </a:t>
            </a:r>
            <a:r>
              <a:rPr lang="en-US" altLang="zh-CN" sz="1800" dirty="0">
                <a:latin typeface="微软雅黑" panose="020B0503020204020204" pitchFamily="34" charset="-122"/>
                <a:ea typeface="微软雅黑" panose="020B0503020204020204" pitchFamily="34" charset="-122"/>
                <a:cs typeface="+mn-ea"/>
              </a:rPr>
              <a:t>0</a:t>
            </a:r>
            <a:r>
              <a:rPr lang="zh-CN" altLang="en-US" sz="1800" dirty="0">
                <a:latin typeface="微软雅黑" panose="020B0503020204020204" pitchFamily="34" charset="-122"/>
                <a:ea typeface="微软雅黑" panose="020B0503020204020204" pitchFamily="34" charset="-122"/>
                <a:cs typeface="+mn-ea"/>
              </a:rPr>
              <a:t>。</a:t>
            </a:r>
            <a:endParaRPr lang="en-US" altLang="zh-CN" sz="1800" dirty="0">
              <a:latin typeface="微软雅黑" panose="020B0503020204020204" pitchFamily="34" charset="-122"/>
              <a:ea typeface="微软雅黑" panose="020B0503020204020204" pitchFamily="34" charset="-122"/>
              <a:cs typeface="+mn-ea"/>
            </a:endParaRPr>
          </a:p>
          <a:p>
            <a:pPr marL="952500" lvl="1" indent="-342900">
              <a:lnSpc>
                <a:spcPct val="150000"/>
              </a:lnSpc>
              <a:spcBef>
                <a:spcPts val="800"/>
              </a:spcBef>
              <a:buFont typeface="Wingdings" panose="05000000000000000000" pitchFamily="2" charset="2"/>
              <a:buChar char="Ø"/>
            </a:pPr>
            <a:r>
              <a:rPr lang="en-US" altLang="zh-CN" sz="2000" dirty="0" err="1">
                <a:solidFill>
                  <a:srgbClr val="008DF6"/>
                </a:solidFill>
                <a:latin typeface="微软雅黑" panose="020B0503020204020204" pitchFamily="34" charset="-122"/>
                <a:ea typeface="微软雅黑" panose="020B0503020204020204" pitchFamily="34" charset="-122"/>
                <a:cs typeface="+mn-ea"/>
              </a:rPr>
              <a:t>scrollBar</a:t>
            </a:r>
            <a:r>
              <a:rPr lang="en-US" altLang="zh-CN" sz="1800" dirty="0">
                <a:latin typeface="微软雅黑" panose="020B0503020204020204" pitchFamily="34" charset="-122"/>
                <a:ea typeface="微软雅黑" panose="020B0503020204020204" pitchFamily="34" charset="-122"/>
                <a:cs typeface="+mn-ea"/>
              </a:rPr>
              <a:t>: </a:t>
            </a:r>
            <a:r>
              <a:rPr lang="zh-CN" altLang="en-US" sz="1800" dirty="0">
                <a:latin typeface="微软雅黑" panose="020B0503020204020204" pitchFamily="34" charset="-122"/>
                <a:ea typeface="微软雅黑" panose="020B0503020204020204" pitchFamily="34" charset="-122"/>
                <a:cs typeface="+mn-ea"/>
              </a:rPr>
              <a:t>设置滚动条状态。默认值为</a:t>
            </a:r>
            <a:r>
              <a:rPr lang="en-US" altLang="zh-CN" sz="1800" dirty="0" err="1">
                <a:latin typeface="微软雅黑" panose="020B0503020204020204" pitchFamily="34" charset="-122"/>
                <a:ea typeface="微软雅黑" panose="020B0503020204020204" pitchFamily="34" charset="-122"/>
                <a:cs typeface="+mn-ea"/>
              </a:rPr>
              <a:t>BarState.Off</a:t>
            </a:r>
            <a:r>
              <a:rPr lang="zh-CN" altLang="en-US" sz="1800" dirty="0">
                <a:latin typeface="微软雅黑" panose="020B0503020204020204" pitchFamily="34" charset="-122"/>
                <a:ea typeface="微软雅黑" panose="020B0503020204020204" pitchFamily="34" charset="-122"/>
                <a:cs typeface="+mn-ea"/>
              </a:rPr>
              <a:t>。</a:t>
            </a:r>
            <a:endParaRPr lang="en-US" altLang="zh-CN" sz="1800" dirty="0">
              <a:latin typeface="微软雅黑" panose="020B0503020204020204" pitchFamily="34" charset="-122"/>
              <a:ea typeface="微软雅黑" panose="020B0503020204020204" pitchFamily="34" charset="-122"/>
              <a:cs typeface="+mn-ea"/>
            </a:endParaRPr>
          </a:p>
          <a:p>
            <a:pPr marL="952500" lvl="1" indent="-342900">
              <a:lnSpc>
                <a:spcPct val="150000"/>
              </a:lnSpc>
              <a:spcBef>
                <a:spcPts val="800"/>
              </a:spcBef>
              <a:buFont typeface="Wingdings" panose="05000000000000000000" pitchFamily="2" charset="2"/>
              <a:buChar char="Ø"/>
            </a:pPr>
            <a:r>
              <a:rPr lang="en-US" altLang="zh-CN" sz="2000" dirty="0" err="1">
                <a:solidFill>
                  <a:srgbClr val="008DF6"/>
                </a:solidFill>
                <a:latin typeface="微软雅黑" panose="020B0503020204020204" pitchFamily="34" charset="-122"/>
                <a:ea typeface="微软雅黑" panose="020B0503020204020204" pitchFamily="34" charset="-122"/>
                <a:cs typeface="+mn-ea"/>
              </a:rPr>
              <a:t>cachedCount</a:t>
            </a:r>
            <a:r>
              <a:rPr lang="en-US" altLang="zh-CN" sz="2000" dirty="0">
                <a:solidFill>
                  <a:srgbClr val="008DF6"/>
                </a:solidFill>
                <a:latin typeface="微软雅黑" panose="020B0503020204020204" pitchFamily="34" charset="-122"/>
                <a:ea typeface="微软雅黑" panose="020B0503020204020204" pitchFamily="34" charset="-122"/>
                <a:cs typeface="+mn-ea"/>
              </a:rPr>
              <a:t>: </a:t>
            </a:r>
            <a:r>
              <a:rPr lang="zh-CN" altLang="en-US" sz="1800" dirty="0">
                <a:latin typeface="微软雅黑" panose="020B0503020204020204" pitchFamily="34" charset="-122"/>
                <a:ea typeface="微软雅黑" panose="020B0503020204020204" pitchFamily="34" charset="-122"/>
                <a:cs typeface="+mn-ea"/>
              </a:rPr>
              <a:t>设置预加载的</a:t>
            </a:r>
            <a:r>
              <a:rPr lang="en-US" altLang="zh-CN" sz="1800" dirty="0" err="1">
                <a:latin typeface="微软雅黑" panose="020B0503020204020204" pitchFamily="34" charset="-122"/>
                <a:ea typeface="微软雅黑" panose="020B0503020204020204" pitchFamily="34" charset="-122"/>
                <a:cs typeface="+mn-ea"/>
              </a:rPr>
              <a:t>GridItem</a:t>
            </a:r>
            <a:r>
              <a:rPr lang="zh-CN" altLang="en-US" sz="1800" dirty="0">
                <a:latin typeface="微软雅黑" panose="020B0503020204020204" pitchFamily="34" charset="-122"/>
                <a:ea typeface="微软雅黑" panose="020B0503020204020204" pitchFamily="34" charset="-122"/>
                <a:cs typeface="+mn-ea"/>
              </a:rPr>
              <a:t>的数量。默认值为</a:t>
            </a:r>
            <a:r>
              <a:rPr lang="en-US" altLang="zh-CN" sz="1800" dirty="0">
                <a:latin typeface="微软雅黑" panose="020B0503020204020204" pitchFamily="34" charset="-122"/>
                <a:ea typeface="微软雅黑" panose="020B0503020204020204" pitchFamily="34" charset="-122"/>
                <a:cs typeface="+mn-ea"/>
              </a:rPr>
              <a:t>1</a:t>
            </a:r>
            <a:r>
              <a:rPr lang="zh-CN" altLang="en-US" sz="1800" dirty="0">
                <a:latin typeface="微软雅黑" panose="020B0503020204020204" pitchFamily="34" charset="-122"/>
                <a:ea typeface="微软雅黑" panose="020B0503020204020204" pitchFamily="34" charset="-122"/>
                <a:cs typeface="+mn-ea"/>
              </a:rPr>
              <a:t>。</a:t>
            </a:r>
            <a:endParaRPr lang="en-US" altLang="zh-CN" sz="1800" dirty="0">
              <a:latin typeface="微软雅黑" panose="020B0503020204020204" pitchFamily="34" charset="-122"/>
              <a:ea typeface="微软雅黑" panose="020B0503020204020204" pitchFamily="34" charset="-122"/>
              <a:cs typeface="+mn-ea"/>
            </a:endParaRPr>
          </a:p>
        </p:txBody>
      </p:sp>
    </p:spTree>
    <p:extLst>
      <p:ext uri="{BB962C8B-B14F-4D97-AF65-F5344CB8AC3E}">
        <p14:creationId xmlns:p14="http://schemas.microsoft.com/office/powerpoint/2010/main" val="283955296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b="1" dirty="0" err="1">
                <a:solidFill>
                  <a:srgbClr val="595959"/>
                </a:solidFill>
                <a:latin typeface="微软雅黑" panose="020B0503020204020204" pitchFamily="34" charset="-122"/>
                <a:ea typeface="微软雅黑" panose="020B0503020204020204" pitchFamily="34" charset="-122"/>
                <a:sym typeface="宋体" panose="02010600030101010101" pitchFamily="2" charset="-122"/>
              </a:rPr>
              <a:t>Grid&amp;Griditem</a:t>
            </a:r>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（网格布局）</a:t>
            </a:r>
          </a:p>
        </p:txBody>
      </p:sp>
      <p:sp>
        <p:nvSpPr>
          <p:cNvPr id="5" name="文本框 4"/>
          <p:cNvSpPr txBox="1"/>
          <p:nvPr/>
        </p:nvSpPr>
        <p:spPr>
          <a:xfrm>
            <a:off x="622598" y="4653930"/>
            <a:ext cx="184731" cy="276999"/>
          </a:xfrm>
          <a:prstGeom prst="rect">
            <a:avLst/>
          </a:prstGeom>
          <a:noFill/>
        </p:spPr>
        <p:txBody>
          <a:bodyPr wrap="none" rtlCol="0">
            <a:spAutoFit/>
          </a:bodyPr>
          <a:lstStyle/>
          <a:p>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6" name="矩形 6">
            <a:extLst>
              <a:ext uri="{FF2B5EF4-FFF2-40B4-BE49-F238E27FC236}">
                <a16:creationId xmlns:a16="http://schemas.microsoft.com/office/drawing/2014/main" id="{2B77D47F-41F1-4081-BE6B-C8A463966BCC}"/>
              </a:ext>
            </a:extLst>
          </p:cNvPr>
          <p:cNvSpPr>
            <a:spLocks noChangeArrowheads="1"/>
          </p:cNvSpPr>
          <p:nvPr/>
        </p:nvSpPr>
        <p:spPr bwMode="auto">
          <a:xfrm>
            <a:off x="1198662" y="1125538"/>
            <a:ext cx="10081120" cy="45369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indent="-342900">
              <a:lnSpc>
                <a:spcPct val="150000"/>
              </a:lnSpc>
              <a:spcBef>
                <a:spcPts val="2400"/>
              </a:spcBef>
              <a:buFont typeface="Wingdings" panose="05000000000000000000" pitchFamily="2" charset="2"/>
              <a:buChar char="l"/>
            </a:pPr>
            <a:r>
              <a:rPr lang="en-US" altLang="zh-CN" sz="2000" dirty="0">
                <a:solidFill>
                  <a:srgbClr val="008DF6"/>
                </a:solidFill>
                <a:latin typeface="微软雅黑" panose="020B0503020204020204" pitchFamily="34" charset="-122"/>
                <a:ea typeface="微软雅黑" panose="020B0503020204020204" pitchFamily="34" charset="-122"/>
                <a:cs typeface="+mn-ea"/>
              </a:rPr>
              <a:t>Grid </a:t>
            </a:r>
            <a:r>
              <a:rPr lang="zh-CN" altLang="en-US" sz="2000" dirty="0">
                <a:solidFill>
                  <a:srgbClr val="008DF6"/>
                </a:solidFill>
                <a:latin typeface="微软雅黑" panose="020B0503020204020204" pitchFamily="34" charset="-122"/>
                <a:ea typeface="微软雅黑" panose="020B0503020204020204" pitchFamily="34" charset="-122"/>
                <a:cs typeface="+mn-ea"/>
              </a:rPr>
              <a:t>属性介绍：</a:t>
            </a:r>
            <a:r>
              <a:rPr lang="zh-CN" altLang="en-US" sz="1800" dirty="0">
                <a:latin typeface="微软雅黑" panose="020B0503020204020204" pitchFamily="34" charset="-122"/>
                <a:ea typeface="微软雅黑" panose="020B0503020204020204" pitchFamily="34" charset="-122"/>
                <a:cs typeface="+mn-ea"/>
              </a:rPr>
              <a:t>除支持通用属性外，</a:t>
            </a:r>
            <a:r>
              <a:rPr lang="en-US" altLang="zh-CN" sz="1800" dirty="0">
                <a:latin typeface="微软雅黑" panose="020B0503020204020204" pitchFamily="34" charset="-122"/>
                <a:ea typeface="微软雅黑" panose="020B0503020204020204" pitchFamily="34" charset="-122"/>
                <a:cs typeface="+mn-ea"/>
              </a:rPr>
              <a:t>Grid </a:t>
            </a:r>
            <a:r>
              <a:rPr lang="zh-CN" altLang="en-US" sz="1800" dirty="0">
                <a:latin typeface="微软雅黑" panose="020B0503020204020204" pitchFamily="34" charset="-122"/>
                <a:ea typeface="微软雅黑" panose="020B0503020204020204" pitchFamily="34" charset="-122"/>
                <a:cs typeface="+mn-ea"/>
              </a:rPr>
              <a:t>还支持以下属性</a:t>
            </a:r>
          </a:p>
          <a:p>
            <a:pPr marL="952500" lvl="1" indent="-342900">
              <a:lnSpc>
                <a:spcPct val="150000"/>
              </a:lnSpc>
              <a:spcBef>
                <a:spcPts val="800"/>
              </a:spcBef>
              <a:buFont typeface="Wingdings" panose="05000000000000000000" pitchFamily="2" charset="2"/>
              <a:buChar char="Ø"/>
            </a:pPr>
            <a:r>
              <a:rPr lang="en-US" altLang="zh-CN" sz="2000" dirty="0" err="1">
                <a:solidFill>
                  <a:srgbClr val="008DF6"/>
                </a:solidFill>
                <a:latin typeface="微软雅黑" panose="020B0503020204020204" pitchFamily="34" charset="-122"/>
                <a:ea typeface="微软雅黑" panose="020B0503020204020204" pitchFamily="34" charset="-122"/>
                <a:cs typeface="+mn-ea"/>
              </a:rPr>
              <a:t>layoutDirection</a:t>
            </a:r>
            <a:r>
              <a:rPr lang="en-US" altLang="zh-CN" sz="1800" dirty="0">
                <a:latin typeface="微软雅黑" panose="020B0503020204020204" pitchFamily="34" charset="-122"/>
                <a:ea typeface="微软雅黑" panose="020B0503020204020204" pitchFamily="34" charset="-122"/>
                <a:cs typeface="+mn-ea"/>
              </a:rPr>
              <a:t>:</a:t>
            </a:r>
            <a:r>
              <a:rPr lang="en-US" altLang="zh-CN" sz="2000" dirty="0">
                <a:solidFill>
                  <a:srgbClr val="008DF6"/>
                </a:solidFill>
                <a:latin typeface="微软雅黑" panose="020B0503020204020204" pitchFamily="34" charset="-122"/>
                <a:ea typeface="微软雅黑" panose="020B0503020204020204" pitchFamily="34" charset="-122"/>
                <a:cs typeface="+mn-ea"/>
              </a:rPr>
              <a:t> </a:t>
            </a:r>
            <a:r>
              <a:rPr lang="zh-CN" altLang="en-US" sz="1800" dirty="0">
                <a:latin typeface="微软雅黑" panose="020B0503020204020204" pitchFamily="34" charset="-122"/>
                <a:ea typeface="微软雅黑" panose="020B0503020204020204" pitchFamily="34" charset="-122"/>
                <a:cs typeface="+mn-ea"/>
              </a:rPr>
              <a:t>设置布局的主轴方向。默认值为 </a:t>
            </a:r>
            <a:r>
              <a:rPr lang="en-US" altLang="zh-CN" sz="1800" dirty="0" err="1">
                <a:latin typeface="微软雅黑" panose="020B0503020204020204" pitchFamily="34" charset="-122"/>
                <a:ea typeface="微软雅黑" panose="020B0503020204020204" pitchFamily="34" charset="-122"/>
                <a:cs typeface="+mn-ea"/>
              </a:rPr>
              <a:t>GridDirection.Row</a:t>
            </a:r>
            <a:r>
              <a:rPr lang="zh-CN" altLang="en-US" sz="1800" dirty="0">
                <a:latin typeface="微软雅黑" panose="020B0503020204020204" pitchFamily="34" charset="-122"/>
                <a:ea typeface="微软雅黑" panose="020B0503020204020204" pitchFamily="34" charset="-122"/>
                <a:cs typeface="+mn-ea"/>
              </a:rPr>
              <a:t>。</a:t>
            </a:r>
            <a:endParaRPr lang="en-US" altLang="zh-CN" sz="1800" dirty="0">
              <a:latin typeface="微软雅黑" panose="020B0503020204020204" pitchFamily="34" charset="-122"/>
              <a:ea typeface="微软雅黑" panose="020B0503020204020204" pitchFamily="34" charset="-122"/>
              <a:cs typeface="+mn-ea"/>
            </a:endParaRPr>
          </a:p>
          <a:p>
            <a:pPr marL="952500" lvl="1" indent="-342900">
              <a:lnSpc>
                <a:spcPct val="150000"/>
              </a:lnSpc>
              <a:spcBef>
                <a:spcPts val="800"/>
              </a:spcBef>
              <a:buFont typeface="Wingdings" panose="05000000000000000000" pitchFamily="2" charset="2"/>
              <a:buChar char="Ø"/>
            </a:pPr>
            <a:endParaRPr lang="en-US" altLang="zh-CN" sz="1800" dirty="0">
              <a:latin typeface="微软雅黑" panose="020B0503020204020204" pitchFamily="34" charset="-122"/>
              <a:ea typeface="微软雅黑" panose="020B0503020204020204" pitchFamily="34" charset="-122"/>
              <a:cs typeface="+mn-ea"/>
            </a:endParaRPr>
          </a:p>
          <a:p>
            <a:pPr marL="952500" lvl="1" indent="-342900">
              <a:lnSpc>
                <a:spcPct val="150000"/>
              </a:lnSpc>
              <a:spcBef>
                <a:spcPts val="800"/>
              </a:spcBef>
              <a:buFont typeface="Wingdings" panose="05000000000000000000" pitchFamily="2" charset="2"/>
              <a:buChar char="Ø"/>
            </a:pPr>
            <a:endParaRPr lang="en-US" altLang="zh-CN" sz="1800" dirty="0">
              <a:latin typeface="微软雅黑" panose="020B0503020204020204" pitchFamily="34" charset="-122"/>
              <a:ea typeface="微软雅黑" panose="020B0503020204020204" pitchFamily="34" charset="-122"/>
              <a:cs typeface="+mn-ea"/>
            </a:endParaRPr>
          </a:p>
          <a:p>
            <a:pPr marL="952500" lvl="1" indent="-342900">
              <a:lnSpc>
                <a:spcPct val="150000"/>
              </a:lnSpc>
              <a:spcBef>
                <a:spcPts val="800"/>
              </a:spcBef>
              <a:buFont typeface="Wingdings" panose="05000000000000000000" pitchFamily="2" charset="2"/>
              <a:buChar char="Ø"/>
            </a:pPr>
            <a:endParaRPr lang="en-US" altLang="zh-CN" sz="1800" dirty="0">
              <a:latin typeface="微软雅黑" panose="020B0503020204020204" pitchFamily="34" charset="-122"/>
              <a:ea typeface="微软雅黑" panose="020B0503020204020204" pitchFamily="34" charset="-122"/>
              <a:cs typeface="+mn-ea"/>
            </a:endParaRPr>
          </a:p>
          <a:p>
            <a:pPr marL="952500" lvl="1" indent="-342900">
              <a:lnSpc>
                <a:spcPct val="150000"/>
              </a:lnSpc>
              <a:spcBef>
                <a:spcPts val="800"/>
              </a:spcBef>
              <a:buFont typeface="Wingdings" panose="05000000000000000000" pitchFamily="2" charset="2"/>
              <a:buChar char="Ø"/>
            </a:pPr>
            <a:endParaRPr lang="en-US" altLang="zh-CN" sz="1800" dirty="0">
              <a:latin typeface="微软雅黑" panose="020B0503020204020204" pitchFamily="34" charset="-122"/>
              <a:ea typeface="微软雅黑" panose="020B0503020204020204" pitchFamily="34" charset="-122"/>
              <a:cs typeface="+mn-ea"/>
            </a:endParaRPr>
          </a:p>
          <a:p>
            <a:pPr marL="952500" lvl="1" indent="-342900">
              <a:lnSpc>
                <a:spcPct val="150000"/>
              </a:lnSpc>
              <a:spcBef>
                <a:spcPts val="800"/>
              </a:spcBef>
              <a:buFont typeface="Wingdings" panose="05000000000000000000" pitchFamily="2" charset="2"/>
              <a:buChar char="Ø"/>
            </a:pPr>
            <a:r>
              <a:rPr lang="en-US" altLang="zh-CN" sz="2000" dirty="0" err="1">
                <a:solidFill>
                  <a:srgbClr val="008DF6"/>
                </a:solidFill>
                <a:latin typeface="微软雅黑" panose="020B0503020204020204" pitchFamily="34" charset="-122"/>
                <a:ea typeface="微软雅黑" panose="020B0503020204020204" pitchFamily="34" charset="-122"/>
                <a:cs typeface="+mn-ea"/>
              </a:rPr>
              <a:t>maxCount</a:t>
            </a:r>
            <a:r>
              <a:rPr lang="en-US" altLang="zh-CN" sz="1800" dirty="0">
                <a:latin typeface="微软雅黑" panose="020B0503020204020204" pitchFamily="34" charset="-122"/>
                <a:ea typeface="微软雅黑" panose="020B0503020204020204" pitchFamily="34" charset="-122"/>
                <a:cs typeface="+mn-ea"/>
              </a:rPr>
              <a:t>: </a:t>
            </a:r>
            <a:r>
              <a:rPr lang="zh-CN" altLang="en-US" sz="1800" dirty="0">
                <a:latin typeface="微软雅黑" panose="020B0503020204020204" pitchFamily="34" charset="-122"/>
                <a:ea typeface="微软雅黑" panose="020B0503020204020204" pitchFamily="34" charset="-122"/>
                <a:cs typeface="+mn-ea"/>
              </a:rPr>
              <a:t>当 </a:t>
            </a:r>
            <a:r>
              <a:rPr lang="en-US" altLang="zh-CN" sz="1800" dirty="0" err="1">
                <a:latin typeface="微软雅黑" panose="020B0503020204020204" pitchFamily="34" charset="-122"/>
                <a:ea typeface="微软雅黑" panose="020B0503020204020204" pitchFamily="34" charset="-122"/>
                <a:cs typeface="+mn-ea"/>
              </a:rPr>
              <a:t>layoutDirection</a:t>
            </a:r>
            <a:r>
              <a:rPr lang="en-US" altLang="zh-CN" sz="1800" dirty="0">
                <a:latin typeface="微软雅黑" panose="020B0503020204020204" pitchFamily="34" charset="-122"/>
                <a:ea typeface="微软雅黑" panose="020B0503020204020204" pitchFamily="34" charset="-122"/>
                <a:cs typeface="+mn-ea"/>
              </a:rPr>
              <a:t> </a:t>
            </a:r>
            <a:r>
              <a:rPr lang="zh-CN" altLang="en-US" sz="1800" dirty="0">
                <a:latin typeface="微软雅黑" panose="020B0503020204020204" pitchFamily="34" charset="-122"/>
                <a:ea typeface="微软雅黑" panose="020B0503020204020204" pitchFamily="34" charset="-122"/>
                <a:cs typeface="+mn-ea"/>
              </a:rPr>
              <a:t>是 </a:t>
            </a:r>
            <a:r>
              <a:rPr lang="en-US" altLang="zh-CN" sz="1800" dirty="0">
                <a:latin typeface="微软雅黑" panose="020B0503020204020204" pitchFamily="34" charset="-122"/>
                <a:ea typeface="微软雅黑" panose="020B0503020204020204" pitchFamily="34" charset="-122"/>
                <a:cs typeface="+mn-ea"/>
              </a:rPr>
              <a:t>Row/</a:t>
            </a:r>
            <a:r>
              <a:rPr lang="en-US" altLang="zh-CN" sz="1800" dirty="0" err="1">
                <a:latin typeface="微软雅黑" panose="020B0503020204020204" pitchFamily="34" charset="-122"/>
                <a:ea typeface="微软雅黑" panose="020B0503020204020204" pitchFamily="34" charset="-122"/>
                <a:cs typeface="+mn-ea"/>
              </a:rPr>
              <a:t>RowReverse</a:t>
            </a:r>
            <a:r>
              <a:rPr lang="en-US" altLang="zh-CN" sz="1800" dirty="0">
                <a:latin typeface="微软雅黑" panose="020B0503020204020204" pitchFamily="34" charset="-122"/>
                <a:ea typeface="微软雅黑" panose="020B0503020204020204" pitchFamily="34" charset="-122"/>
                <a:cs typeface="+mn-ea"/>
              </a:rPr>
              <a:t> </a:t>
            </a:r>
            <a:r>
              <a:rPr lang="zh-CN" altLang="en-US" sz="1800" dirty="0">
                <a:latin typeface="微软雅黑" panose="020B0503020204020204" pitchFamily="34" charset="-122"/>
                <a:ea typeface="微软雅黑" panose="020B0503020204020204" pitchFamily="34" charset="-122"/>
                <a:cs typeface="+mn-ea"/>
              </a:rPr>
              <a:t>时，表示可显示的最大列数。当 </a:t>
            </a:r>
            <a:r>
              <a:rPr lang="en-US" altLang="zh-CN" sz="1800" dirty="0" err="1">
                <a:latin typeface="微软雅黑" panose="020B0503020204020204" pitchFamily="34" charset="-122"/>
                <a:ea typeface="微软雅黑" panose="020B0503020204020204" pitchFamily="34" charset="-122"/>
                <a:cs typeface="+mn-ea"/>
              </a:rPr>
              <a:t>layoutDirection</a:t>
            </a:r>
            <a:r>
              <a:rPr lang="en-US" altLang="zh-CN" sz="1800" dirty="0">
                <a:latin typeface="微软雅黑" panose="020B0503020204020204" pitchFamily="34" charset="-122"/>
                <a:ea typeface="微软雅黑" panose="020B0503020204020204" pitchFamily="34" charset="-122"/>
                <a:cs typeface="+mn-ea"/>
              </a:rPr>
              <a:t> </a:t>
            </a:r>
            <a:r>
              <a:rPr lang="zh-CN" altLang="en-US" sz="1800" dirty="0">
                <a:latin typeface="微软雅黑" panose="020B0503020204020204" pitchFamily="34" charset="-122"/>
                <a:ea typeface="微软雅黑" panose="020B0503020204020204" pitchFamily="34" charset="-122"/>
                <a:cs typeface="+mn-ea"/>
              </a:rPr>
              <a:t>是 </a:t>
            </a:r>
            <a:r>
              <a:rPr lang="en-US" altLang="zh-CN" sz="1800" dirty="0">
                <a:latin typeface="微软雅黑" panose="020B0503020204020204" pitchFamily="34" charset="-122"/>
                <a:ea typeface="微软雅黑" panose="020B0503020204020204" pitchFamily="34" charset="-122"/>
                <a:cs typeface="+mn-ea"/>
              </a:rPr>
              <a:t>Column/</a:t>
            </a:r>
            <a:r>
              <a:rPr lang="en-US" altLang="zh-CN" sz="1800" dirty="0" err="1">
                <a:latin typeface="微软雅黑" panose="020B0503020204020204" pitchFamily="34" charset="-122"/>
                <a:ea typeface="微软雅黑" panose="020B0503020204020204" pitchFamily="34" charset="-122"/>
                <a:cs typeface="+mn-ea"/>
              </a:rPr>
              <a:t>ColimnReverse</a:t>
            </a:r>
            <a:r>
              <a:rPr lang="en-US" altLang="zh-CN" sz="1800" dirty="0">
                <a:latin typeface="微软雅黑" panose="020B0503020204020204" pitchFamily="34" charset="-122"/>
                <a:ea typeface="微软雅黑" panose="020B0503020204020204" pitchFamily="34" charset="-122"/>
                <a:cs typeface="+mn-ea"/>
              </a:rPr>
              <a:t> </a:t>
            </a:r>
            <a:r>
              <a:rPr lang="zh-CN" altLang="en-US" sz="1800" dirty="0">
                <a:latin typeface="微软雅黑" panose="020B0503020204020204" pitchFamily="34" charset="-122"/>
                <a:ea typeface="微软雅黑" panose="020B0503020204020204" pitchFamily="34" charset="-122"/>
                <a:cs typeface="+mn-ea"/>
              </a:rPr>
              <a:t>时，表示可显示的最大行数。默认值为 </a:t>
            </a:r>
            <a:r>
              <a:rPr lang="en-US" altLang="zh-CN" sz="1800" dirty="0">
                <a:latin typeface="微软雅黑" panose="020B0503020204020204" pitchFamily="34" charset="-122"/>
                <a:ea typeface="微软雅黑" panose="020B0503020204020204" pitchFamily="34" charset="-122"/>
                <a:cs typeface="+mn-ea"/>
              </a:rPr>
              <a:t>Infinity</a:t>
            </a:r>
            <a:r>
              <a:rPr lang="zh-CN" altLang="en-US" sz="1800" dirty="0">
                <a:latin typeface="微软雅黑" panose="020B0503020204020204" pitchFamily="34" charset="-122"/>
                <a:ea typeface="微软雅黑" panose="020B0503020204020204" pitchFamily="34" charset="-122"/>
                <a:cs typeface="+mn-ea"/>
              </a:rPr>
              <a:t>。</a:t>
            </a:r>
            <a:endParaRPr lang="en-US" altLang="zh-CN" sz="1800" dirty="0">
              <a:latin typeface="微软雅黑" panose="020B0503020204020204" pitchFamily="34" charset="-122"/>
              <a:ea typeface="微软雅黑" panose="020B0503020204020204" pitchFamily="34" charset="-122"/>
              <a:cs typeface="+mn-ea"/>
            </a:endParaRPr>
          </a:p>
        </p:txBody>
      </p:sp>
      <p:pic>
        <p:nvPicPr>
          <p:cNvPr id="2" name="图片 1">
            <a:extLst>
              <a:ext uri="{FF2B5EF4-FFF2-40B4-BE49-F238E27FC236}">
                <a16:creationId xmlns:a16="http://schemas.microsoft.com/office/drawing/2014/main" id="{D0A47A7B-2C64-4CDB-90D1-E7BDE1594459}"/>
              </a:ext>
            </a:extLst>
          </p:cNvPr>
          <p:cNvPicPr>
            <a:picLocks noChangeAspect="1"/>
          </p:cNvPicPr>
          <p:nvPr/>
        </p:nvPicPr>
        <p:blipFill>
          <a:blip r:embed="rId2"/>
          <a:stretch>
            <a:fillRect/>
          </a:stretch>
        </p:blipFill>
        <p:spPr>
          <a:xfrm>
            <a:off x="1671512" y="2349674"/>
            <a:ext cx="8847388" cy="1613506"/>
          </a:xfrm>
          <a:prstGeom prst="rect">
            <a:avLst/>
          </a:prstGeom>
        </p:spPr>
      </p:pic>
    </p:spTree>
    <p:extLst>
      <p:ext uri="{BB962C8B-B14F-4D97-AF65-F5344CB8AC3E}">
        <p14:creationId xmlns:p14="http://schemas.microsoft.com/office/powerpoint/2010/main" val="60178187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b="1" dirty="0" err="1">
                <a:solidFill>
                  <a:srgbClr val="595959"/>
                </a:solidFill>
                <a:latin typeface="微软雅黑" panose="020B0503020204020204" pitchFamily="34" charset="-122"/>
                <a:ea typeface="微软雅黑" panose="020B0503020204020204" pitchFamily="34" charset="-122"/>
                <a:sym typeface="宋体" panose="02010600030101010101" pitchFamily="2" charset="-122"/>
              </a:rPr>
              <a:t>Grid&amp;Griditem</a:t>
            </a:r>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（网格布局）</a:t>
            </a:r>
          </a:p>
        </p:txBody>
      </p:sp>
      <p:sp>
        <p:nvSpPr>
          <p:cNvPr id="5" name="文本框 4"/>
          <p:cNvSpPr txBox="1"/>
          <p:nvPr/>
        </p:nvSpPr>
        <p:spPr>
          <a:xfrm>
            <a:off x="622598" y="4653930"/>
            <a:ext cx="184731" cy="276999"/>
          </a:xfrm>
          <a:prstGeom prst="rect">
            <a:avLst/>
          </a:prstGeom>
          <a:noFill/>
        </p:spPr>
        <p:txBody>
          <a:bodyPr wrap="none" rtlCol="0">
            <a:spAutoFit/>
          </a:bodyPr>
          <a:lstStyle/>
          <a:p>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6" name="矩形 6">
            <a:extLst>
              <a:ext uri="{FF2B5EF4-FFF2-40B4-BE49-F238E27FC236}">
                <a16:creationId xmlns:a16="http://schemas.microsoft.com/office/drawing/2014/main" id="{2B77D47F-41F1-4081-BE6B-C8A463966BCC}"/>
              </a:ext>
            </a:extLst>
          </p:cNvPr>
          <p:cNvSpPr>
            <a:spLocks noChangeArrowheads="1"/>
          </p:cNvSpPr>
          <p:nvPr/>
        </p:nvSpPr>
        <p:spPr bwMode="auto">
          <a:xfrm>
            <a:off x="1198662" y="1125538"/>
            <a:ext cx="10081120" cy="38598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indent="-342900">
              <a:lnSpc>
                <a:spcPct val="150000"/>
              </a:lnSpc>
              <a:spcBef>
                <a:spcPts val="2400"/>
              </a:spcBef>
              <a:buFont typeface="Wingdings" panose="05000000000000000000" pitchFamily="2" charset="2"/>
              <a:buChar char="l"/>
            </a:pPr>
            <a:r>
              <a:rPr lang="en-US" altLang="zh-CN" sz="2000" dirty="0">
                <a:solidFill>
                  <a:srgbClr val="008DF6"/>
                </a:solidFill>
                <a:latin typeface="微软雅黑" panose="020B0503020204020204" pitchFamily="34" charset="-122"/>
                <a:ea typeface="微软雅黑" panose="020B0503020204020204" pitchFamily="34" charset="-122"/>
                <a:cs typeface="+mn-ea"/>
              </a:rPr>
              <a:t>Grid </a:t>
            </a:r>
            <a:r>
              <a:rPr lang="zh-CN" altLang="en-US" sz="2000" dirty="0">
                <a:solidFill>
                  <a:srgbClr val="008DF6"/>
                </a:solidFill>
                <a:latin typeface="微软雅黑" panose="020B0503020204020204" pitchFamily="34" charset="-122"/>
                <a:ea typeface="微软雅黑" panose="020B0503020204020204" pitchFamily="34" charset="-122"/>
                <a:cs typeface="+mn-ea"/>
              </a:rPr>
              <a:t>属性介绍：</a:t>
            </a:r>
            <a:r>
              <a:rPr lang="zh-CN" altLang="en-US" sz="1800" dirty="0">
                <a:latin typeface="微软雅黑" panose="020B0503020204020204" pitchFamily="34" charset="-122"/>
                <a:ea typeface="微软雅黑" panose="020B0503020204020204" pitchFamily="34" charset="-122"/>
                <a:cs typeface="+mn-ea"/>
              </a:rPr>
              <a:t>除支持通用属性外，</a:t>
            </a:r>
            <a:r>
              <a:rPr lang="en-US" altLang="zh-CN" sz="1800" dirty="0">
                <a:latin typeface="微软雅黑" panose="020B0503020204020204" pitchFamily="34" charset="-122"/>
                <a:ea typeface="微软雅黑" panose="020B0503020204020204" pitchFamily="34" charset="-122"/>
                <a:cs typeface="+mn-ea"/>
              </a:rPr>
              <a:t>Grid </a:t>
            </a:r>
            <a:r>
              <a:rPr lang="zh-CN" altLang="en-US" sz="1800" dirty="0">
                <a:latin typeface="微软雅黑" panose="020B0503020204020204" pitchFamily="34" charset="-122"/>
                <a:ea typeface="微软雅黑" panose="020B0503020204020204" pitchFamily="34" charset="-122"/>
                <a:cs typeface="+mn-ea"/>
              </a:rPr>
              <a:t>还支持以下属性</a:t>
            </a:r>
          </a:p>
          <a:p>
            <a:pPr marL="952500" lvl="1" indent="-342900">
              <a:lnSpc>
                <a:spcPct val="150000"/>
              </a:lnSpc>
              <a:spcBef>
                <a:spcPts val="800"/>
              </a:spcBef>
              <a:buFont typeface="Wingdings" panose="05000000000000000000" pitchFamily="2" charset="2"/>
              <a:buChar char="Ø"/>
            </a:pPr>
            <a:r>
              <a:rPr lang="en-US" altLang="zh-CN" sz="2000" dirty="0" err="1">
                <a:solidFill>
                  <a:srgbClr val="008DF6"/>
                </a:solidFill>
                <a:latin typeface="微软雅黑" panose="020B0503020204020204" pitchFamily="34" charset="-122"/>
                <a:ea typeface="微软雅黑" panose="020B0503020204020204" pitchFamily="34" charset="-122"/>
                <a:cs typeface="+mn-ea"/>
              </a:rPr>
              <a:t>maxCount</a:t>
            </a:r>
            <a:r>
              <a:rPr lang="en-US" altLang="zh-CN" sz="1800" dirty="0">
                <a:latin typeface="微软雅黑" panose="020B0503020204020204" pitchFamily="34" charset="-122"/>
                <a:ea typeface="微软雅黑" panose="020B0503020204020204" pitchFamily="34" charset="-122"/>
                <a:cs typeface="+mn-ea"/>
              </a:rPr>
              <a:t>: </a:t>
            </a:r>
            <a:r>
              <a:rPr lang="zh-CN" altLang="en-US" sz="1800" dirty="0">
                <a:latin typeface="微软雅黑" panose="020B0503020204020204" pitchFamily="34" charset="-122"/>
                <a:ea typeface="微软雅黑" panose="020B0503020204020204" pitchFamily="34" charset="-122"/>
                <a:cs typeface="+mn-ea"/>
              </a:rPr>
              <a:t>当 </a:t>
            </a:r>
            <a:r>
              <a:rPr lang="en-US" altLang="zh-CN" sz="1800" dirty="0" err="1">
                <a:latin typeface="微软雅黑" panose="020B0503020204020204" pitchFamily="34" charset="-122"/>
                <a:ea typeface="微软雅黑" panose="020B0503020204020204" pitchFamily="34" charset="-122"/>
                <a:cs typeface="+mn-ea"/>
              </a:rPr>
              <a:t>layoutDirection</a:t>
            </a:r>
            <a:r>
              <a:rPr lang="en-US" altLang="zh-CN" sz="1800" dirty="0">
                <a:latin typeface="微软雅黑" panose="020B0503020204020204" pitchFamily="34" charset="-122"/>
                <a:ea typeface="微软雅黑" panose="020B0503020204020204" pitchFamily="34" charset="-122"/>
                <a:cs typeface="+mn-ea"/>
              </a:rPr>
              <a:t> </a:t>
            </a:r>
            <a:r>
              <a:rPr lang="zh-CN" altLang="en-US" sz="1800" dirty="0">
                <a:latin typeface="微软雅黑" panose="020B0503020204020204" pitchFamily="34" charset="-122"/>
                <a:ea typeface="微软雅黑" panose="020B0503020204020204" pitchFamily="34" charset="-122"/>
                <a:cs typeface="+mn-ea"/>
              </a:rPr>
              <a:t>是 </a:t>
            </a:r>
            <a:r>
              <a:rPr lang="en-US" altLang="zh-CN" sz="1800" dirty="0">
                <a:latin typeface="微软雅黑" panose="020B0503020204020204" pitchFamily="34" charset="-122"/>
                <a:ea typeface="微软雅黑" panose="020B0503020204020204" pitchFamily="34" charset="-122"/>
                <a:cs typeface="+mn-ea"/>
              </a:rPr>
              <a:t>Row/</a:t>
            </a:r>
            <a:r>
              <a:rPr lang="en-US" altLang="zh-CN" sz="1800" dirty="0" err="1">
                <a:latin typeface="微软雅黑" panose="020B0503020204020204" pitchFamily="34" charset="-122"/>
                <a:ea typeface="微软雅黑" panose="020B0503020204020204" pitchFamily="34" charset="-122"/>
                <a:cs typeface="+mn-ea"/>
              </a:rPr>
              <a:t>RowReverse</a:t>
            </a:r>
            <a:r>
              <a:rPr lang="en-US" altLang="zh-CN" sz="1800" dirty="0">
                <a:latin typeface="微软雅黑" panose="020B0503020204020204" pitchFamily="34" charset="-122"/>
                <a:ea typeface="微软雅黑" panose="020B0503020204020204" pitchFamily="34" charset="-122"/>
                <a:cs typeface="+mn-ea"/>
              </a:rPr>
              <a:t> </a:t>
            </a:r>
            <a:r>
              <a:rPr lang="zh-CN" altLang="en-US" sz="1800" dirty="0">
                <a:latin typeface="微软雅黑" panose="020B0503020204020204" pitchFamily="34" charset="-122"/>
                <a:ea typeface="微软雅黑" panose="020B0503020204020204" pitchFamily="34" charset="-122"/>
                <a:cs typeface="+mn-ea"/>
              </a:rPr>
              <a:t>时，表示可显示的最大列数。当 </a:t>
            </a:r>
            <a:r>
              <a:rPr lang="en-US" altLang="zh-CN" sz="1800" dirty="0" err="1">
                <a:latin typeface="微软雅黑" panose="020B0503020204020204" pitchFamily="34" charset="-122"/>
                <a:ea typeface="微软雅黑" panose="020B0503020204020204" pitchFamily="34" charset="-122"/>
                <a:cs typeface="+mn-ea"/>
              </a:rPr>
              <a:t>layoutDirection</a:t>
            </a:r>
            <a:r>
              <a:rPr lang="en-US" altLang="zh-CN" sz="1800" dirty="0">
                <a:latin typeface="微软雅黑" panose="020B0503020204020204" pitchFamily="34" charset="-122"/>
                <a:ea typeface="微软雅黑" panose="020B0503020204020204" pitchFamily="34" charset="-122"/>
                <a:cs typeface="+mn-ea"/>
              </a:rPr>
              <a:t> </a:t>
            </a:r>
            <a:r>
              <a:rPr lang="zh-CN" altLang="en-US" sz="1800" dirty="0">
                <a:latin typeface="微软雅黑" panose="020B0503020204020204" pitchFamily="34" charset="-122"/>
                <a:ea typeface="微软雅黑" panose="020B0503020204020204" pitchFamily="34" charset="-122"/>
                <a:cs typeface="+mn-ea"/>
              </a:rPr>
              <a:t>是 </a:t>
            </a:r>
            <a:r>
              <a:rPr lang="en-US" altLang="zh-CN" sz="1800" dirty="0">
                <a:latin typeface="微软雅黑" panose="020B0503020204020204" pitchFamily="34" charset="-122"/>
                <a:ea typeface="微软雅黑" panose="020B0503020204020204" pitchFamily="34" charset="-122"/>
                <a:cs typeface="+mn-ea"/>
              </a:rPr>
              <a:t>Column/</a:t>
            </a:r>
            <a:r>
              <a:rPr lang="en-US" altLang="zh-CN" sz="1800" dirty="0" err="1">
                <a:latin typeface="微软雅黑" panose="020B0503020204020204" pitchFamily="34" charset="-122"/>
                <a:ea typeface="微软雅黑" panose="020B0503020204020204" pitchFamily="34" charset="-122"/>
                <a:cs typeface="+mn-ea"/>
              </a:rPr>
              <a:t>ColimnReverse</a:t>
            </a:r>
            <a:r>
              <a:rPr lang="en-US" altLang="zh-CN" sz="1800" dirty="0">
                <a:latin typeface="微软雅黑" panose="020B0503020204020204" pitchFamily="34" charset="-122"/>
                <a:ea typeface="微软雅黑" panose="020B0503020204020204" pitchFamily="34" charset="-122"/>
                <a:cs typeface="+mn-ea"/>
              </a:rPr>
              <a:t> </a:t>
            </a:r>
            <a:r>
              <a:rPr lang="zh-CN" altLang="en-US" sz="1800" dirty="0">
                <a:latin typeface="微软雅黑" panose="020B0503020204020204" pitchFamily="34" charset="-122"/>
                <a:ea typeface="微软雅黑" panose="020B0503020204020204" pitchFamily="34" charset="-122"/>
                <a:cs typeface="+mn-ea"/>
              </a:rPr>
              <a:t>时，表示可显示的最大行数。默认值为 </a:t>
            </a:r>
            <a:r>
              <a:rPr lang="en-US" altLang="zh-CN" sz="1800" dirty="0">
                <a:latin typeface="微软雅黑" panose="020B0503020204020204" pitchFamily="34" charset="-122"/>
                <a:ea typeface="微软雅黑" panose="020B0503020204020204" pitchFamily="34" charset="-122"/>
                <a:cs typeface="+mn-ea"/>
              </a:rPr>
              <a:t>Infinity</a:t>
            </a:r>
            <a:r>
              <a:rPr lang="zh-CN" altLang="en-US" sz="1800" dirty="0">
                <a:latin typeface="微软雅黑" panose="020B0503020204020204" pitchFamily="34" charset="-122"/>
                <a:ea typeface="微软雅黑" panose="020B0503020204020204" pitchFamily="34" charset="-122"/>
                <a:cs typeface="+mn-ea"/>
              </a:rPr>
              <a:t>。</a:t>
            </a:r>
            <a:endParaRPr lang="en-US" altLang="zh-CN" sz="1800" dirty="0">
              <a:latin typeface="微软雅黑" panose="020B0503020204020204" pitchFamily="34" charset="-122"/>
              <a:ea typeface="微软雅黑" panose="020B0503020204020204" pitchFamily="34" charset="-122"/>
              <a:cs typeface="+mn-ea"/>
            </a:endParaRPr>
          </a:p>
          <a:p>
            <a:pPr marL="952500" lvl="1" indent="-342900">
              <a:lnSpc>
                <a:spcPct val="150000"/>
              </a:lnSpc>
              <a:spcBef>
                <a:spcPts val="800"/>
              </a:spcBef>
              <a:buFont typeface="Wingdings" panose="05000000000000000000" pitchFamily="2" charset="2"/>
              <a:buChar char="Ø"/>
            </a:pPr>
            <a:r>
              <a:rPr lang="en-US" altLang="zh-CN" sz="2000" dirty="0" err="1">
                <a:solidFill>
                  <a:srgbClr val="008DF6"/>
                </a:solidFill>
                <a:latin typeface="微软雅黑" panose="020B0503020204020204" pitchFamily="34" charset="-122"/>
                <a:ea typeface="微软雅黑" panose="020B0503020204020204" pitchFamily="34" charset="-122"/>
                <a:cs typeface="+mn-ea"/>
              </a:rPr>
              <a:t>minCount</a:t>
            </a:r>
            <a:r>
              <a:rPr lang="en-US" altLang="zh-CN" sz="1800" dirty="0">
                <a:latin typeface="微软雅黑" panose="020B0503020204020204" pitchFamily="34" charset="-122"/>
                <a:ea typeface="微软雅黑" panose="020B0503020204020204" pitchFamily="34" charset="-122"/>
                <a:cs typeface="+mn-ea"/>
              </a:rPr>
              <a:t>: </a:t>
            </a:r>
            <a:r>
              <a:rPr lang="zh-CN" altLang="en-US" sz="1800" dirty="0">
                <a:latin typeface="微软雅黑" panose="020B0503020204020204" pitchFamily="34" charset="-122"/>
                <a:ea typeface="微软雅黑" panose="020B0503020204020204" pitchFamily="34" charset="-122"/>
                <a:cs typeface="+mn-ea"/>
              </a:rPr>
              <a:t>当</a:t>
            </a:r>
            <a:r>
              <a:rPr lang="en-US" altLang="zh-CN" sz="1800" dirty="0" err="1">
                <a:latin typeface="微软雅黑" panose="020B0503020204020204" pitchFamily="34" charset="-122"/>
                <a:ea typeface="微软雅黑" panose="020B0503020204020204" pitchFamily="34" charset="-122"/>
                <a:cs typeface="+mn-ea"/>
              </a:rPr>
              <a:t>layoutDirection</a:t>
            </a:r>
            <a:r>
              <a:rPr lang="zh-CN" altLang="en-US" sz="1800" dirty="0">
                <a:latin typeface="微软雅黑" panose="020B0503020204020204" pitchFamily="34" charset="-122"/>
                <a:ea typeface="微软雅黑" panose="020B0503020204020204" pitchFamily="34" charset="-122"/>
                <a:cs typeface="+mn-ea"/>
              </a:rPr>
              <a:t>是 </a:t>
            </a:r>
            <a:r>
              <a:rPr lang="en-US" altLang="zh-CN" sz="1800" dirty="0">
                <a:latin typeface="微软雅黑" panose="020B0503020204020204" pitchFamily="34" charset="-122"/>
                <a:ea typeface="微软雅黑" panose="020B0503020204020204" pitchFamily="34" charset="-122"/>
                <a:cs typeface="+mn-ea"/>
              </a:rPr>
              <a:t>Row/</a:t>
            </a:r>
            <a:r>
              <a:rPr lang="en-US" altLang="zh-CN" sz="1800" dirty="0" err="1">
                <a:latin typeface="微软雅黑" panose="020B0503020204020204" pitchFamily="34" charset="-122"/>
                <a:ea typeface="微软雅黑" panose="020B0503020204020204" pitchFamily="34" charset="-122"/>
                <a:cs typeface="+mn-ea"/>
              </a:rPr>
              <a:t>RowReverse</a:t>
            </a:r>
            <a:r>
              <a:rPr lang="en-US" altLang="zh-CN" sz="1800" dirty="0">
                <a:latin typeface="微软雅黑" panose="020B0503020204020204" pitchFamily="34" charset="-122"/>
                <a:ea typeface="微软雅黑" panose="020B0503020204020204" pitchFamily="34" charset="-122"/>
                <a:cs typeface="+mn-ea"/>
              </a:rPr>
              <a:t> </a:t>
            </a:r>
            <a:r>
              <a:rPr lang="zh-CN" altLang="en-US" sz="1800" dirty="0">
                <a:latin typeface="微软雅黑" panose="020B0503020204020204" pitchFamily="34" charset="-122"/>
                <a:ea typeface="微软雅黑" panose="020B0503020204020204" pitchFamily="34" charset="-122"/>
                <a:cs typeface="+mn-ea"/>
              </a:rPr>
              <a:t>时，表示可显示的最小列数。当</a:t>
            </a:r>
            <a:r>
              <a:rPr lang="en-US" altLang="zh-CN" sz="1800" dirty="0">
                <a:latin typeface="微软雅黑" panose="020B0503020204020204" pitchFamily="34" charset="-122"/>
                <a:ea typeface="微软雅黑" panose="020B0503020204020204" pitchFamily="34" charset="-122"/>
                <a:cs typeface="+mn-ea"/>
              </a:rPr>
              <a:t>lay-</a:t>
            </a:r>
            <a:r>
              <a:rPr lang="en-US" altLang="zh-CN" sz="1800" dirty="0" err="1">
                <a:latin typeface="微软雅黑" panose="020B0503020204020204" pitchFamily="34" charset="-122"/>
                <a:ea typeface="微软雅黑" panose="020B0503020204020204" pitchFamily="34" charset="-122"/>
                <a:cs typeface="+mn-ea"/>
              </a:rPr>
              <a:t>outDirection</a:t>
            </a:r>
            <a:r>
              <a:rPr lang="zh-CN" altLang="en-US" sz="1800" dirty="0">
                <a:latin typeface="微软雅黑" panose="020B0503020204020204" pitchFamily="34" charset="-122"/>
                <a:ea typeface="微软雅黑" panose="020B0503020204020204" pitchFamily="34" charset="-122"/>
                <a:cs typeface="+mn-ea"/>
              </a:rPr>
              <a:t>是 </a:t>
            </a:r>
            <a:r>
              <a:rPr lang="en-US" altLang="zh-CN" sz="1800" dirty="0">
                <a:latin typeface="微软雅黑" panose="020B0503020204020204" pitchFamily="34" charset="-122"/>
                <a:ea typeface="微软雅黑" panose="020B0503020204020204" pitchFamily="34" charset="-122"/>
                <a:cs typeface="+mn-ea"/>
              </a:rPr>
              <a:t>Column/</a:t>
            </a:r>
            <a:r>
              <a:rPr lang="en-US" altLang="zh-CN" sz="1800" dirty="0" err="1">
                <a:latin typeface="微软雅黑" panose="020B0503020204020204" pitchFamily="34" charset="-122"/>
                <a:ea typeface="微软雅黑" panose="020B0503020204020204" pitchFamily="34" charset="-122"/>
                <a:cs typeface="+mn-ea"/>
              </a:rPr>
              <a:t>ColumnReverse</a:t>
            </a:r>
            <a:r>
              <a:rPr lang="en-US" altLang="zh-CN" sz="1800" dirty="0">
                <a:latin typeface="微软雅黑" panose="020B0503020204020204" pitchFamily="34" charset="-122"/>
                <a:ea typeface="微软雅黑" panose="020B0503020204020204" pitchFamily="34" charset="-122"/>
                <a:cs typeface="+mn-ea"/>
              </a:rPr>
              <a:t> </a:t>
            </a:r>
            <a:r>
              <a:rPr lang="zh-CN" altLang="en-US" sz="1800" dirty="0">
                <a:latin typeface="微软雅黑" panose="020B0503020204020204" pitchFamily="34" charset="-122"/>
                <a:ea typeface="微软雅黑" panose="020B0503020204020204" pitchFamily="34" charset="-122"/>
                <a:cs typeface="+mn-ea"/>
              </a:rPr>
              <a:t>时，表示可显示的最小行数。默认值为 </a:t>
            </a:r>
            <a:r>
              <a:rPr lang="en-US" altLang="zh-CN" sz="1800" dirty="0">
                <a:latin typeface="微软雅黑" panose="020B0503020204020204" pitchFamily="34" charset="-122"/>
                <a:ea typeface="微软雅黑" panose="020B0503020204020204" pitchFamily="34" charset="-122"/>
                <a:cs typeface="+mn-ea"/>
              </a:rPr>
              <a:t>1</a:t>
            </a:r>
          </a:p>
          <a:p>
            <a:pPr marL="952500" lvl="1" indent="-342900">
              <a:lnSpc>
                <a:spcPct val="150000"/>
              </a:lnSpc>
              <a:spcBef>
                <a:spcPts val="800"/>
              </a:spcBef>
              <a:buFont typeface="Wingdings" panose="05000000000000000000" pitchFamily="2" charset="2"/>
              <a:buChar char="Ø"/>
            </a:pPr>
            <a:r>
              <a:rPr lang="en-US" altLang="zh-CN" sz="2000" dirty="0" err="1">
                <a:solidFill>
                  <a:srgbClr val="008DF6"/>
                </a:solidFill>
                <a:latin typeface="微软雅黑" panose="020B0503020204020204" pitchFamily="34" charset="-122"/>
                <a:ea typeface="微软雅黑" panose="020B0503020204020204" pitchFamily="34" charset="-122"/>
                <a:cs typeface="+mn-ea"/>
              </a:rPr>
              <a:t>cellLength</a:t>
            </a:r>
            <a:r>
              <a:rPr lang="en-US" altLang="zh-CN" sz="1800" dirty="0">
                <a:latin typeface="微软雅黑" panose="020B0503020204020204" pitchFamily="34" charset="-122"/>
                <a:ea typeface="微软雅黑" panose="020B0503020204020204" pitchFamily="34" charset="-122"/>
                <a:cs typeface="+mn-ea"/>
              </a:rPr>
              <a:t>: </a:t>
            </a:r>
            <a:r>
              <a:rPr lang="zh-CN" altLang="en-US" sz="1800" dirty="0">
                <a:latin typeface="微软雅黑" panose="020B0503020204020204" pitchFamily="34" charset="-122"/>
                <a:ea typeface="微软雅黑" panose="020B0503020204020204" pitchFamily="34" charset="-122"/>
                <a:cs typeface="+mn-ea"/>
              </a:rPr>
              <a:t>当</a:t>
            </a:r>
            <a:r>
              <a:rPr lang="en-US" altLang="zh-CN" sz="1800" dirty="0" err="1">
                <a:latin typeface="微软雅黑" panose="020B0503020204020204" pitchFamily="34" charset="-122"/>
                <a:ea typeface="微软雅黑" panose="020B0503020204020204" pitchFamily="34" charset="-122"/>
                <a:cs typeface="+mn-ea"/>
              </a:rPr>
              <a:t>layoutDirection</a:t>
            </a:r>
            <a:r>
              <a:rPr lang="zh-CN" altLang="en-US" sz="1800" dirty="0">
                <a:latin typeface="微软雅黑" panose="020B0503020204020204" pitchFamily="34" charset="-122"/>
                <a:ea typeface="微软雅黑" panose="020B0503020204020204" pitchFamily="34" charset="-122"/>
                <a:cs typeface="+mn-ea"/>
              </a:rPr>
              <a:t>是</a:t>
            </a:r>
            <a:r>
              <a:rPr lang="en-US" altLang="zh-CN" sz="1800" dirty="0">
                <a:latin typeface="微软雅黑" panose="020B0503020204020204" pitchFamily="34" charset="-122"/>
                <a:ea typeface="微软雅黑" panose="020B0503020204020204" pitchFamily="34" charset="-122"/>
                <a:cs typeface="+mn-ea"/>
              </a:rPr>
              <a:t>Row/</a:t>
            </a:r>
            <a:r>
              <a:rPr lang="en-US" altLang="zh-CN" sz="1800" dirty="0" err="1">
                <a:latin typeface="微软雅黑" panose="020B0503020204020204" pitchFamily="34" charset="-122"/>
                <a:ea typeface="微软雅黑" panose="020B0503020204020204" pitchFamily="34" charset="-122"/>
                <a:cs typeface="+mn-ea"/>
              </a:rPr>
              <a:t>RowReverse</a:t>
            </a:r>
            <a:r>
              <a:rPr lang="en-US" altLang="zh-CN" sz="1800" dirty="0">
                <a:latin typeface="微软雅黑" panose="020B0503020204020204" pitchFamily="34" charset="-122"/>
                <a:ea typeface="微软雅黑" panose="020B0503020204020204" pitchFamily="34" charset="-122"/>
                <a:cs typeface="+mn-ea"/>
              </a:rPr>
              <a:t> </a:t>
            </a:r>
            <a:r>
              <a:rPr lang="zh-CN" altLang="en-US" sz="1800" dirty="0">
                <a:latin typeface="微软雅黑" panose="020B0503020204020204" pitchFamily="34" charset="-122"/>
                <a:ea typeface="微软雅黑" panose="020B0503020204020204" pitchFamily="34" charset="-122"/>
                <a:cs typeface="+mn-ea"/>
              </a:rPr>
              <a:t>时，表示一行的高度。当 </a:t>
            </a:r>
            <a:r>
              <a:rPr lang="en-US" altLang="zh-CN" sz="1800" dirty="0" err="1">
                <a:latin typeface="微软雅黑" panose="020B0503020204020204" pitchFamily="34" charset="-122"/>
                <a:ea typeface="微软雅黑" panose="020B0503020204020204" pitchFamily="34" charset="-122"/>
                <a:cs typeface="+mn-ea"/>
              </a:rPr>
              <a:t>layoutDirec-tion</a:t>
            </a:r>
            <a:r>
              <a:rPr lang="en-US" altLang="zh-CN" sz="1800" dirty="0">
                <a:latin typeface="微软雅黑" panose="020B0503020204020204" pitchFamily="34" charset="-122"/>
                <a:ea typeface="微软雅黑" panose="020B0503020204020204" pitchFamily="34" charset="-122"/>
                <a:cs typeface="+mn-ea"/>
              </a:rPr>
              <a:t> </a:t>
            </a:r>
            <a:r>
              <a:rPr lang="zh-CN" altLang="en-US" sz="1800" dirty="0">
                <a:latin typeface="微软雅黑" panose="020B0503020204020204" pitchFamily="34" charset="-122"/>
                <a:ea typeface="微软雅黑" panose="020B0503020204020204" pitchFamily="34" charset="-122"/>
                <a:cs typeface="+mn-ea"/>
              </a:rPr>
              <a:t>是 </a:t>
            </a:r>
            <a:r>
              <a:rPr lang="en-US" altLang="zh-CN" sz="1800" dirty="0">
                <a:latin typeface="微软雅黑" panose="020B0503020204020204" pitchFamily="34" charset="-122"/>
                <a:ea typeface="微软雅黑" panose="020B0503020204020204" pitchFamily="34" charset="-122"/>
                <a:cs typeface="+mn-ea"/>
              </a:rPr>
              <a:t>Column/</a:t>
            </a:r>
            <a:r>
              <a:rPr lang="en-US" altLang="zh-CN" sz="1800" dirty="0" err="1">
                <a:latin typeface="微软雅黑" panose="020B0503020204020204" pitchFamily="34" charset="-122"/>
                <a:ea typeface="微软雅黑" panose="020B0503020204020204" pitchFamily="34" charset="-122"/>
                <a:cs typeface="+mn-ea"/>
              </a:rPr>
              <a:t>ColumnReverse</a:t>
            </a:r>
            <a:r>
              <a:rPr lang="en-US" altLang="zh-CN" sz="1800" dirty="0">
                <a:latin typeface="微软雅黑" panose="020B0503020204020204" pitchFamily="34" charset="-122"/>
                <a:ea typeface="微软雅黑" panose="020B0503020204020204" pitchFamily="34" charset="-122"/>
                <a:cs typeface="+mn-ea"/>
              </a:rPr>
              <a:t> </a:t>
            </a:r>
            <a:r>
              <a:rPr lang="zh-CN" altLang="en-US" sz="1800" dirty="0">
                <a:latin typeface="微软雅黑" panose="020B0503020204020204" pitchFamily="34" charset="-122"/>
                <a:ea typeface="微软雅黑" panose="020B0503020204020204" pitchFamily="34" charset="-122"/>
                <a:cs typeface="+mn-ea"/>
              </a:rPr>
              <a:t>时，表示一列的宽度。默认值为 </a:t>
            </a:r>
            <a:r>
              <a:rPr lang="en-US" altLang="zh-CN" sz="1800" dirty="0">
                <a:latin typeface="微软雅黑" panose="020B0503020204020204" pitchFamily="34" charset="-122"/>
                <a:ea typeface="微软雅黑" panose="020B0503020204020204" pitchFamily="34" charset="-122"/>
                <a:cs typeface="+mn-ea"/>
              </a:rPr>
              <a:t>0</a:t>
            </a:r>
            <a:r>
              <a:rPr lang="zh-CN" altLang="en-US" sz="1800" dirty="0">
                <a:latin typeface="微软雅黑" panose="020B0503020204020204" pitchFamily="34" charset="-122"/>
                <a:ea typeface="微软雅黑" panose="020B0503020204020204" pitchFamily="34" charset="-122"/>
                <a:cs typeface="+mn-ea"/>
              </a:rPr>
              <a:t>。</a:t>
            </a:r>
            <a:endParaRPr lang="en-US" altLang="zh-CN" sz="1800" dirty="0">
              <a:latin typeface="微软雅黑" panose="020B0503020204020204" pitchFamily="34" charset="-122"/>
              <a:ea typeface="微软雅黑" panose="020B0503020204020204" pitchFamily="34" charset="-122"/>
              <a:cs typeface="+mn-ea"/>
            </a:endParaRPr>
          </a:p>
        </p:txBody>
      </p:sp>
    </p:spTree>
    <p:extLst>
      <p:ext uri="{BB962C8B-B14F-4D97-AF65-F5344CB8AC3E}">
        <p14:creationId xmlns:p14="http://schemas.microsoft.com/office/powerpoint/2010/main" val="23648284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b="1" dirty="0" err="1">
                <a:solidFill>
                  <a:srgbClr val="595959"/>
                </a:solidFill>
                <a:latin typeface="微软雅黑" panose="020B0503020204020204" pitchFamily="34" charset="-122"/>
                <a:ea typeface="微软雅黑" panose="020B0503020204020204" pitchFamily="34" charset="-122"/>
                <a:sym typeface="宋体" panose="02010600030101010101" pitchFamily="2" charset="-122"/>
              </a:rPr>
              <a:t>Grid&amp;Griditem</a:t>
            </a:r>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（网格布局）</a:t>
            </a:r>
          </a:p>
        </p:txBody>
      </p:sp>
      <p:sp>
        <p:nvSpPr>
          <p:cNvPr id="5" name="文本框 4"/>
          <p:cNvSpPr txBox="1"/>
          <p:nvPr/>
        </p:nvSpPr>
        <p:spPr>
          <a:xfrm>
            <a:off x="622598" y="4653930"/>
            <a:ext cx="184731" cy="276999"/>
          </a:xfrm>
          <a:prstGeom prst="rect">
            <a:avLst/>
          </a:prstGeom>
          <a:noFill/>
        </p:spPr>
        <p:txBody>
          <a:bodyPr wrap="none" rtlCol="0">
            <a:spAutoFit/>
          </a:bodyPr>
          <a:lstStyle/>
          <a:p>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6" name="矩形 6">
            <a:extLst>
              <a:ext uri="{FF2B5EF4-FFF2-40B4-BE49-F238E27FC236}">
                <a16:creationId xmlns:a16="http://schemas.microsoft.com/office/drawing/2014/main" id="{2B77D47F-41F1-4081-BE6B-C8A463966BCC}"/>
              </a:ext>
            </a:extLst>
          </p:cNvPr>
          <p:cNvSpPr>
            <a:spLocks noChangeArrowheads="1"/>
          </p:cNvSpPr>
          <p:nvPr/>
        </p:nvSpPr>
        <p:spPr bwMode="auto">
          <a:xfrm>
            <a:off x="1198662" y="1125538"/>
            <a:ext cx="10081120" cy="499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indent="-342900">
              <a:lnSpc>
                <a:spcPct val="150000"/>
              </a:lnSpc>
              <a:spcBef>
                <a:spcPts val="2400"/>
              </a:spcBef>
              <a:buFont typeface="Wingdings" panose="05000000000000000000" pitchFamily="2" charset="2"/>
              <a:buChar char="l"/>
            </a:pPr>
            <a:r>
              <a:rPr lang="en-US" altLang="zh-CN" sz="2000" dirty="0">
                <a:solidFill>
                  <a:srgbClr val="008DF6"/>
                </a:solidFill>
                <a:latin typeface="微软雅黑" panose="020B0503020204020204" pitchFamily="34" charset="-122"/>
                <a:ea typeface="微软雅黑" panose="020B0503020204020204" pitchFamily="34" charset="-122"/>
                <a:cs typeface="+mn-ea"/>
              </a:rPr>
              <a:t>Grid </a:t>
            </a:r>
            <a:r>
              <a:rPr lang="zh-CN" altLang="en-US" sz="2000" dirty="0">
                <a:solidFill>
                  <a:srgbClr val="008DF6"/>
                </a:solidFill>
                <a:latin typeface="微软雅黑" panose="020B0503020204020204" pitchFamily="34" charset="-122"/>
                <a:ea typeface="微软雅黑" panose="020B0503020204020204" pitchFamily="34" charset="-122"/>
                <a:cs typeface="+mn-ea"/>
              </a:rPr>
              <a:t>事件介绍：</a:t>
            </a:r>
            <a:r>
              <a:rPr lang="zh-CN" altLang="en-US" sz="1800" dirty="0">
                <a:latin typeface="微软雅黑" panose="020B0503020204020204" pitchFamily="34" charset="-122"/>
                <a:ea typeface="微软雅黑" panose="020B0503020204020204" pitchFamily="34" charset="-122"/>
                <a:cs typeface="+mn-ea"/>
              </a:rPr>
              <a:t>除支持通用事件外，</a:t>
            </a:r>
            <a:r>
              <a:rPr lang="en-US" altLang="zh-CN" sz="1800" dirty="0">
                <a:latin typeface="微软雅黑" panose="020B0503020204020204" pitchFamily="34" charset="-122"/>
                <a:ea typeface="微软雅黑" panose="020B0503020204020204" pitchFamily="34" charset="-122"/>
                <a:cs typeface="+mn-ea"/>
              </a:rPr>
              <a:t>Grid </a:t>
            </a:r>
            <a:r>
              <a:rPr lang="zh-CN" altLang="en-US" sz="1800" dirty="0">
                <a:latin typeface="微软雅黑" panose="020B0503020204020204" pitchFamily="34" charset="-122"/>
                <a:ea typeface="微软雅黑" panose="020B0503020204020204" pitchFamily="34" charset="-122"/>
                <a:cs typeface="+mn-ea"/>
              </a:rPr>
              <a:t>还支持以下事件</a:t>
            </a:r>
          </a:p>
        </p:txBody>
      </p:sp>
      <p:pic>
        <p:nvPicPr>
          <p:cNvPr id="2" name="图片 1">
            <a:extLst>
              <a:ext uri="{FF2B5EF4-FFF2-40B4-BE49-F238E27FC236}">
                <a16:creationId xmlns:a16="http://schemas.microsoft.com/office/drawing/2014/main" id="{C5D0B3FA-9746-4F20-9910-58C97FCBF8FC}"/>
              </a:ext>
            </a:extLst>
          </p:cNvPr>
          <p:cNvPicPr>
            <a:picLocks noChangeAspect="1"/>
          </p:cNvPicPr>
          <p:nvPr/>
        </p:nvPicPr>
        <p:blipFill>
          <a:blip r:embed="rId2"/>
          <a:stretch>
            <a:fillRect/>
          </a:stretch>
        </p:blipFill>
        <p:spPr>
          <a:xfrm>
            <a:off x="2278782" y="1773610"/>
            <a:ext cx="7391351" cy="1864729"/>
          </a:xfrm>
          <a:prstGeom prst="rect">
            <a:avLst/>
          </a:prstGeom>
        </p:spPr>
      </p:pic>
      <p:pic>
        <p:nvPicPr>
          <p:cNvPr id="4" name="图片 3">
            <a:extLst>
              <a:ext uri="{FF2B5EF4-FFF2-40B4-BE49-F238E27FC236}">
                <a16:creationId xmlns:a16="http://schemas.microsoft.com/office/drawing/2014/main" id="{DD81A59E-4C97-4E1C-A187-981CB2EA8FA0}"/>
              </a:ext>
            </a:extLst>
          </p:cNvPr>
          <p:cNvPicPr>
            <a:picLocks noChangeAspect="1"/>
          </p:cNvPicPr>
          <p:nvPr/>
        </p:nvPicPr>
        <p:blipFill>
          <a:blip r:embed="rId3"/>
          <a:stretch>
            <a:fillRect/>
          </a:stretch>
        </p:blipFill>
        <p:spPr>
          <a:xfrm>
            <a:off x="2285673" y="3638339"/>
            <a:ext cx="7384460" cy="2912308"/>
          </a:xfrm>
          <a:prstGeom prst="rect">
            <a:avLst/>
          </a:prstGeom>
        </p:spPr>
      </p:pic>
    </p:spTree>
    <p:extLst>
      <p:ext uri="{BB962C8B-B14F-4D97-AF65-F5344CB8AC3E}">
        <p14:creationId xmlns:p14="http://schemas.microsoft.com/office/powerpoint/2010/main" val="274337311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b="1" dirty="0" err="1">
                <a:solidFill>
                  <a:srgbClr val="595959"/>
                </a:solidFill>
                <a:latin typeface="微软雅黑" panose="020B0503020204020204" pitchFamily="34" charset="-122"/>
                <a:ea typeface="微软雅黑" panose="020B0503020204020204" pitchFamily="34" charset="-122"/>
                <a:sym typeface="宋体" panose="02010600030101010101" pitchFamily="2" charset="-122"/>
              </a:rPr>
              <a:t>Grid&amp;Griditem</a:t>
            </a:r>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（网格布局）</a:t>
            </a:r>
          </a:p>
        </p:txBody>
      </p:sp>
      <p:sp>
        <p:nvSpPr>
          <p:cNvPr id="5" name="文本框 4"/>
          <p:cNvSpPr txBox="1"/>
          <p:nvPr/>
        </p:nvSpPr>
        <p:spPr>
          <a:xfrm>
            <a:off x="622598" y="4653930"/>
            <a:ext cx="184731" cy="276999"/>
          </a:xfrm>
          <a:prstGeom prst="rect">
            <a:avLst/>
          </a:prstGeom>
          <a:noFill/>
        </p:spPr>
        <p:txBody>
          <a:bodyPr wrap="none" rtlCol="0">
            <a:spAutoFit/>
          </a:bodyPr>
          <a:lstStyle/>
          <a:p>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6" name="矩形 6">
            <a:extLst>
              <a:ext uri="{FF2B5EF4-FFF2-40B4-BE49-F238E27FC236}">
                <a16:creationId xmlns:a16="http://schemas.microsoft.com/office/drawing/2014/main" id="{2B77D47F-41F1-4081-BE6B-C8A463966BCC}"/>
              </a:ext>
            </a:extLst>
          </p:cNvPr>
          <p:cNvSpPr>
            <a:spLocks noChangeArrowheads="1"/>
          </p:cNvSpPr>
          <p:nvPr/>
        </p:nvSpPr>
        <p:spPr bwMode="auto">
          <a:xfrm>
            <a:off x="1126654" y="1125538"/>
            <a:ext cx="10441161" cy="4306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indent="-342900">
              <a:lnSpc>
                <a:spcPct val="150000"/>
              </a:lnSpc>
              <a:spcBef>
                <a:spcPts val="2400"/>
              </a:spcBef>
              <a:buFont typeface="Wingdings" panose="05000000000000000000" pitchFamily="2" charset="2"/>
              <a:buChar char="l"/>
            </a:pPr>
            <a:r>
              <a:rPr lang="en-US" altLang="zh-CN" sz="2000" dirty="0" err="1">
                <a:solidFill>
                  <a:srgbClr val="008DF6"/>
                </a:solidFill>
                <a:latin typeface="微软雅黑" panose="020B0503020204020204" pitchFamily="34" charset="-122"/>
                <a:ea typeface="微软雅黑" panose="020B0503020204020204" pitchFamily="34" charset="-122"/>
                <a:cs typeface="+mn-ea"/>
              </a:rPr>
              <a:t>GridItem</a:t>
            </a:r>
            <a:r>
              <a:rPr lang="en-US" altLang="zh-CN" sz="2000" dirty="0">
                <a:solidFill>
                  <a:srgbClr val="008DF6"/>
                </a:solidFill>
                <a:latin typeface="微软雅黑" panose="020B0503020204020204" pitchFamily="34" charset="-122"/>
                <a:ea typeface="微软雅黑" panose="020B0503020204020204" pitchFamily="34" charset="-122"/>
                <a:cs typeface="+mn-ea"/>
              </a:rPr>
              <a:t> </a:t>
            </a:r>
            <a:r>
              <a:rPr lang="zh-CN" altLang="en-US" sz="2000" dirty="0">
                <a:solidFill>
                  <a:srgbClr val="008DF6"/>
                </a:solidFill>
                <a:latin typeface="微软雅黑" panose="020B0503020204020204" pitchFamily="34" charset="-122"/>
                <a:ea typeface="微软雅黑" panose="020B0503020204020204" pitchFamily="34" charset="-122"/>
                <a:cs typeface="+mn-ea"/>
              </a:rPr>
              <a:t>属性介绍：</a:t>
            </a:r>
            <a:endParaRPr lang="zh-CN" altLang="en-US" sz="1800" dirty="0">
              <a:latin typeface="微软雅黑" panose="020B0503020204020204" pitchFamily="34" charset="-122"/>
              <a:ea typeface="微软雅黑" panose="020B0503020204020204" pitchFamily="34" charset="-122"/>
              <a:cs typeface="+mn-ea"/>
            </a:endParaRPr>
          </a:p>
          <a:p>
            <a:pPr marL="952500" lvl="1" indent="-342900">
              <a:lnSpc>
                <a:spcPct val="150000"/>
              </a:lnSpc>
              <a:spcBef>
                <a:spcPts val="800"/>
              </a:spcBef>
              <a:buFont typeface="Wingdings" panose="05000000000000000000" pitchFamily="2" charset="2"/>
              <a:buChar char="Ø"/>
            </a:pPr>
            <a:r>
              <a:rPr lang="en-US" altLang="zh-CN" sz="2000" dirty="0" err="1">
                <a:solidFill>
                  <a:srgbClr val="008DF6"/>
                </a:solidFill>
                <a:latin typeface="微软雅黑" panose="020B0503020204020204" pitchFamily="34" charset="-122"/>
                <a:ea typeface="微软雅黑" panose="020B0503020204020204" pitchFamily="34" charset="-122"/>
                <a:cs typeface="+mn-ea"/>
              </a:rPr>
              <a:t>rowStart</a:t>
            </a:r>
            <a:r>
              <a:rPr lang="en-US" altLang="zh-CN" sz="1800" dirty="0">
                <a:latin typeface="微软雅黑" panose="020B0503020204020204" pitchFamily="34" charset="-122"/>
                <a:ea typeface="微软雅黑" panose="020B0503020204020204" pitchFamily="34" charset="-122"/>
                <a:cs typeface="+mn-ea"/>
              </a:rPr>
              <a:t>: </a:t>
            </a:r>
            <a:r>
              <a:rPr lang="zh-CN" altLang="en-US" sz="1800" dirty="0">
                <a:latin typeface="微软雅黑" panose="020B0503020204020204" pitchFamily="34" charset="-122"/>
                <a:ea typeface="微软雅黑" panose="020B0503020204020204" pitchFamily="34" charset="-122"/>
                <a:cs typeface="+mn-ea"/>
              </a:rPr>
              <a:t>指定当前元素起始行号。</a:t>
            </a:r>
            <a:endParaRPr lang="en-US" altLang="zh-CN" sz="1800" dirty="0">
              <a:latin typeface="微软雅黑" panose="020B0503020204020204" pitchFamily="34" charset="-122"/>
              <a:ea typeface="微软雅黑" panose="020B0503020204020204" pitchFamily="34" charset="-122"/>
              <a:cs typeface="+mn-ea"/>
            </a:endParaRPr>
          </a:p>
          <a:p>
            <a:pPr marL="952500" lvl="1" indent="-342900">
              <a:lnSpc>
                <a:spcPct val="150000"/>
              </a:lnSpc>
              <a:spcBef>
                <a:spcPts val="800"/>
              </a:spcBef>
              <a:buFont typeface="Wingdings" panose="05000000000000000000" pitchFamily="2" charset="2"/>
              <a:buChar char="Ø"/>
            </a:pPr>
            <a:r>
              <a:rPr lang="en-US" altLang="zh-CN" sz="2000" dirty="0" err="1">
                <a:solidFill>
                  <a:srgbClr val="008DF6"/>
                </a:solidFill>
                <a:latin typeface="微软雅黑" panose="020B0503020204020204" pitchFamily="34" charset="-122"/>
                <a:ea typeface="微软雅黑" panose="020B0503020204020204" pitchFamily="34" charset="-122"/>
                <a:cs typeface="+mn-ea"/>
              </a:rPr>
              <a:t>rowEnd</a:t>
            </a:r>
            <a:r>
              <a:rPr lang="en-US" altLang="zh-CN" sz="1800" dirty="0">
                <a:latin typeface="微软雅黑" panose="020B0503020204020204" pitchFamily="34" charset="-122"/>
                <a:ea typeface="微软雅黑" panose="020B0503020204020204" pitchFamily="34" charset="-122"/>
                <a:cs typeface="+mn-ea"/>
              </a:rPr>
              <a:t>:</a:t>
            </a:r>
            <a:r>
              <a:rPr lang="zh-CN" altLang="en-US" sz="1800" dirty="0">
                <a:latin typeface="微软雅黑" panose="020B0503020204020204" pitchFamily="34" charset="-122"/>
                <a:ea typeface="微软雅黑" panose="020B0503020204020204" pitchFamily="34" charset="-122"/>
                <a:cs typeface="+mn-ea"/>
              </a:rPr>
              <a:t>指定当前元素终点行号。</a:t>
            </a:r>
            <a:endParaRPr lang="en-US" altLang="zh-CN" sz="1800" dirty="0">
              <a:latin typeface="微软雅黑" panose="020B0503020204020204" pitchFamily="34" charset="-122"/>
              <a:ea typeface="微软雅黑" panose="020B0503020204020204" pitchFamily="34" charset="-122"/>
              <a:cs typeface="+mn-ea"/>
            </a:endParaRPr>
          </a:p>
          <a:p>
            <a:pPr marL="952500" lvl="1" indent="-342900">
              <a:lnSpc>
                <a:spcPct val="150000"/>
              </a:lnSpc>
              <a:spcBef>
                <a:spcPts val="800"/>
              </a:spcBef>
              <a:buFont typeface="Wingdings" panose="05000000000000000000" pitchFamily="2" charset="2"/>
              <a:buChar char="Ø"/>
            </a:pPr>
            <a:r>
              <a:rPr lang="en-US" altLang="zh-CN" sz="2000" dirty="0" err="1">
                <a:solidFill>
                  <a:srgbClr val="008DF6"/>
                </a:solidFill>
                <a:latin typeface="微软雅黑" panose="020B0503020204020204" pitchFamily="34" charset="-122"/>
                <a:ea typeface="微软雅黑" panose="020B0503020204020204" pitchFamily="34" charset="-122"/>
                <a:cs typeface="+mn-ea"/>
              </a:rPr>
              <a:t>columnStart</a:t>
            </a:r>
            <a:r>
              <a:rPr lang="en-US" altLang="zh-CN" sz="1800" dirty="0">
                <a:latin typeface="微软雅黑" panose="020B0503020204020204" pitchFamily="34" charset="-122"/>
                <a:ea typeface="微软雅黑" panose="020B0503020204020204" pitchFamily="34" charset="-122"/>
                <a:cs typeface="+mn-ea"/>
              </a:rPr>
              <a:t>: </a:t>
            </a:r>
            <a:r>
              <a:rPr lang="zh-CN" altLang="en-US" sz="1800" dirty="0">
                <a:latin typeface="微软雅黑" panose="020B0503020204020204" pitchFamily="34" charset="-122"/>
                <a:ea typeface="微软雅黑" panose="020B0503020204020204" pitchFamily="34" charset="-122"/>
                <a:cs typeface="+mn-ea"/>
              </a:rPr>
              <a:t>指定当前元素起始列号。</a:t>
            </a:r>
            <a:endParaRPr lang="en-US" altLang="zh-CN" sz="1800" dirty="0">
              <a:latin typeface="微软雅黑" panose="020B0503020204020204" pitchFamily="34" charset="-122"/>
              <a:ea typeface="微软雅黑" panose="020B0503020204020204" pitchFamily="34" charset="-122"/>
              <a:cs typeface="+mn-ea"/>
            </a:endParaRPr>
          </a:p>
          <a:p>
            <a:pPr marL="952500" lvl="1" indent="-342900">
              <a:lnSpc>
                <a:spcPct val="150000"/>
              </a:lnSpc>
              <a:spcBef>
                <a:spcPts val="800"/>
              </a:spcBef>
              <a:buFont typeface="Wingdings" panose="05000000000000000000" pitchFamily="2" charset="2"/>
              <a:buChar char="Ø"/>
            </a:pPr>
            <a:r>
              <a:rPr lang="en-US" altLang="zh-CN" sz="2000" dirty="0" err="1">
                <a:solidFill>
                  <a:srgbClr val="008DF6"/>
                </a:solidFill>
                <a:latin typeface="微软雅黑" panose="020B0503020204020204" pitchFamily="34" charset="-122"/>
                <a:ea typeface="微软雅黑" panose="020B0503020204020204" pitchFamily="34" charset="-122"/>
                <a:cs typeface="+mn-ea"/>
              </a:rPr>
              <a:t>columnEnd</a:t>
            </a:r>
            <a:r>
              <a:rPr lang="en-US" altLang="zh-CN" sz="1800" dirty="0">
                <a:latin typeface="微软雅黑" panose="020B0503020204020204" pitchFamily="34" charset="-122"/>
                <a:ea typeface="微软雅黑" panose="020B0503020204020204" pitchFamily="34" charset="-122"/>
                <a:cs typeface="+mn-ea"/>
              </a:rPr>
              <a:t>.</a:t>
            </a:r>
            <a:r>
              <a:rPr lang="zh-CN" altLang="en-US" sz="1800" dirty="0">
                <a:latin typeface="微软雅黑" panose="020B0503020204020204" pitchFamily="34" charset="-122"/>
                <a:ea typeface="微软雅黑" panose="020B0503020204020204" pitchFamily="34" charset="-122"/>
                <a:cs typeface="+mn-ea"/>
              </a:rPr>
              <a:t>指定当前元素终点列号。</a:t>
            </a:r>
            <a:endParaRPr lang="en-US" altLang="zh-CN" sz="1800" dirty="0">
              <a:latin typeface="微软雅黑" panose="020B0503020204020204" pitchFamily="34" charset="-122"/>
              <a:ea typeface="微软雅黑" panose="020B0503020204020204" pitchFamily="34" charset="-122"/>
              <a:cs typeface="+mn-ea"/>
            </a:endParaRPr>
          </a:p>
          <a:p>
            <a:pPr marL="952500" lvl="1" indent="-342900">
              <a:lnSpc>
                <a:spcPct val="150000"/>
              </a:lnSpc>
              <a:spcBef>
                <a:spcPts val="800"/>
              </a:spcBef>
              <a:buFont typeface="Wingdings" panose="05000000000000000000" pitchFamily="2" charset="2"/>
              <a:buChar char="Ø"/>
            </a:pPr>
            <a:r>
              <a:rPr lang="en-US" altLang="zh-CN" sz="2000" dirty="0" err="1">
                <a:solidFill>
                  <a:srgbClr val="008DF6"/>
                </a:solidFill>
                <a:latin typeface="微软雅黑" panose="020B0503020204020204" pitchFamily="34" charset="-122"/>
                <a:ea typeface="微软雅黑" panose="020B0503020204020204" pitchFamily="34" charset="-122"/>
                <a:cs typeface="+mn-ea"/>
              </a:rPr>
              <a:t>forceRebuild</a:t>
            </a:r>
            <a:r>
              <a:rPr lang="en-US" altLang="zh-CN" sz="1800" dirty="0">
                <a:latin typeface="微软雅黑" panose="020B0503020204020204" pitchFamily="34" charset="-122"/>
                <a:ea typeface="微软雅黑" panose="020B0503020204020204" pitchFamily="34" charset="-122"/>
                <a:cs typeface="+mn-ea"/>
              </a:rPr>
              <a:t>:</a:t>
            </a:r>
            <a:r>
              <a:rPr lang="zh-CN" altLang="en-US" sz="1800" dirty="0">
                <a:latin typeface="微软雅黑" panose="020B0503020204020204" pitchFamily="34" charset="-122"/>
                <a:ea typeface="微软雅黑" panose="020B0503020204020204" pitchFamily="34" charset="-122"/>
                <a:cs typeface="+mn-ea"/>
              </a:rPr>
              <a:t>设置在触发组件 </a:t>
            </a:r>
            <a:r>
              <a:rPr lang="en-US" altLang="zh-CN" sz="1800" dirty="0">
                <a:latin typeface="微软雅黑" panose="020B0503020204020204" pitchFamily="34" charset="-122"/>
                <a:ea typeface="微软雅黑" panose="020B0503020204020204" pitchFamily="34" charset="-122"/>
                <a:cs typeface="+mn-ea"/>
              </a:rPr>
              <a:t>build </a:t>
            </a:r>
            <a:r>
              <a:rPr lang="zh-CN" altLang="en-US" sz="1800" dirty="0">
                <a:latin typeface="微软雅黑" panose="020B0503020204020204" pitchFamily="34" charset="-122"/>
                <a:ea typeface="微软雅黑" panose="020B0503020204020204" pitchFamily="34" charset="-122"/>
                <a:cs typeface="+mn-ea"/>
              </a:rPr>
              <a:t>时是否重新创建此节点。默认值为 </a:t>
            </a:r>
            <a:r>
              <a:rPr lang="en-US" altLang="zh-CN" sz="1800" dirty="0">
                <a:latin typeface="微软雅黑" panose="020B0503020204020204" pitchFamily="34" charset="-122"/>
                <a:ea typeface="微软雅黑" panose="020B0503020204020204" pitchFamily="34" charset="-122"/>
                <a:cs typeface="+mn-ea"/>
              </a:rPr>
              <a:t>false</a:t>
            </a:r>
          </a:p>
          <a:p>
            <a:pPr marL="952500" lvl="1" indent="-342900">
              <a:lnSpc>
                <a:spcPct val="150000"/>
              </a:lnSpc>
              <a:spcBef>
                <a:spcPts val="800"/>
              </a:spcBef>
              <a:buFont typeface="Wingdings" panose="05000000000000000000" pitchFamily="2" charset="2"/>
              <a:buChar char="Ø"/>
            </a:pPr>
            <a:r>
              <a:rPr lang="en-US" altLang="zh-CN" sz="2000" dirty="0">
                <a:solidFill>
                  <a:srgbClr val="008DF6"/>
                </a:solidFill>
                <a:latin typeface="微软雅黑" panose="020B0503020204020204" pitchFamily="34" charset="-122"/>
                <a:ea typeface="微软雅黑" panose="020B0503020204020204" pitchFamily="34" charset="-122"/>
                <a:cs typeface="+mn-ea"/>
              </a:rPr>
              <a:t>Selectable</a:t>
            </a:r>
            <a:r>
              <a:rPr lang="en-US" altLang="zh-CN" sz="1800" dirty="0">
                <a:latin typeface="微软雅黑" panose="020B0503020204020204" pitchFamily="34" charset="-122"/>
                <a:ea typeface="微软雅黑" panose="020B0503020204020204" pitchFamily="34" charset="-122"/>
                <a:cs typeface="+mn-ea"/>
              </a:rPr>
              <a:t>: </a:t>
            </a:r>
            <a:r>
              <a:rPr lang="zh-CN" altLang="en-US" sz="1800" dirty="0">
                <a:latin typeface="微软雅黑" panose="020B0503020204020204" pitchFamily="34" charset="-122"/>
                <a:ea typeface="微软雅黑" panose="020B0503020204020204" pitchFamily="34" charset="-122"/>
                <a:cs typeface="+mn-ea"/>
              </a:rPr>
              <a:t>当前 </a:t>
            </a:r>
            <a:r>
              <a:rPr lang="en-US" altLang="zh-CN" sz="1800" dirty="0" err="1">
                <a:latin typeface="微软雅黑" panose="020B0503020204020204" pitchFamily="34" charset="-122"/>
                <a:ea typeface="微软雅黑" panose="020B0503020204020204" pitchFamily="34" charset="-122"/>
                <a:cs typeface="+mn-ea"/>
              </a:rPr>
              <a:t>GridItem</a:t>
            </a:r>
            <a:r>
              <a:rPr lang="en-US" altLang="zh-CN" sz="1800" dirty="0">
                <a:latin typeface="微软雅黑" panose="020B0503020204020204" pitchFamily="34" charset="-122"/>
                <a:ea typeface="微软雅黑" panose="020B0503020204020204" pitchFamily="34" charset="-122"/>
                <a:cs typeface="+mn-ea"/>
              </a:rPr>
              <a:t> </a:t>
            </a:r>
            <a:r>
              <a:rPr lang="zh-CN" altLang="en-US" sz="1800" dirty="0">
                <a:latin typeface="微软雅黑" panose="020B0503020204020204" pitchFamily="34" charset="-122"/>
                <a:ea typeface="微软雅黑" panose="020B0503020204020204" pitchFamily="34" charset="-122"/>
                <a:cs typeface="+mn-ea"/>
              </a:rPr>
              <a:t>元素是否可以被鼠标框选。默认值为 </a:t>
            </a:r>
            <a:r>
              <a:rPr lang="en-US" altLang="zh-CN" sz="1800" dirty="0">
                <a:latin typeface="微软雅黑" panose="020B0503020204020204" pitchFamily="34" charset="-122"/>
                <a:ea typeface="微软雅黑" panose="020B0503020204020204" pitchFamily="34" charset="-122"/>
                <a:cs typeface="+mn-ea"/>
              </a:rPr>
              <a:t>true</a:t>
            </a:r>
            <a:r>
              <a:rPr lang="zh-CN" altLang="en-US" sz="1800" dirty="0">
                <a:latin typeface="微软雅黑" panose="020B0503020204020204" pitchFamily="34" charset="-122"/>
                <a:ea typeface="微软雅黑" panose="020B0503020204020204" pitchFamily="34" charset="-122"/>
                <a:cs typeface="+mn-ea"/>
              </a:rPr>
              <a:t>。注意，外层 </a:t>
            </a:r>
            <a:r>
              <a:rPr lang="en-US" altLang="zh-CN" sz="1800" dirty="0">
                <a:latin typeface="微软雅黑" panose="020B0503020204020204" pitchFamily="34" charset="-122"/>
                <a:ea typeface="微软雅黑" panose="020B0503020204020204" pitchFamily="34" charset="-122"/>
                <a:cs typeface="+mn-ea"/>
              </a:rPr>
              <a:t>Grid</a:t>
            </a:r>
            <a:r>
              <a:rPr lang="zh-CN" altLang="en-US" sz="1800" dirty="0">
                <a:latin typeface="微软雅黑" panose="020B0503020204020204" pitchFamily="34" charset="-122"/>
                <a:ea typeface="微软雅黑" panose="020B0503020204020204" pitchFamily="34" charset="-122"/>
                <a:cs typeface="+mn-ea"/>
              </a:rPr>
              <a:t>容器的鼠标框选开启时，</a:t>
            </a:r>
            <a:r>
              <a:rPr lang="en-US" altLang="zh-CN" sz="1800" dirty="0" err="1">
                <a:latin typeface="微软雅黑" panose="020B0503020204020204" pitchFamily="34" charset="-122"/>
                <a:ea typeface="微软雅黑" panose="020B0503020204020204" pitchFamily="34" charset="-122"/>
                <a:cs typeface="+mn-ea"/>
              </a:rPr>
              <a:t>GridItem</a:t>
            </a:r>
            <a:r>
              <a:rPr lang="zh-CN" altLang="en-US" sz="1800" dirty="0">
                <a:latin typeface="微软雅黑" panose="020B0503020204020204" pitchFamily="34" charset="-122"/>
                <a:ea typeface="微软雅黑" panose="020B0503020204020204" pitchFamily="34" charset="-122"/>
                <a:cs typeface="+mn-ea"/>
              </a:rPr>
              <a:t>的框选才生效。</a:t>
            </a:r>
            <a:endParaRPr lang="en-US" altLang="zh-CN" sz="1800" dirty="0">
              <a:latin typeface="微软雅黑" panose="020B0503020204020204" pitchFamily="34" charset="-122"/>
              <a:ea typeface="微软雅黑" panose="020B0503020204020204" pitchFamily="34" charset="-122"/>
              <a:cs typeface="+mn-ea"/>
            </a:endParaRPr>
          </a:p>
        </p:txBody>
      </p:sp>
    </p:spTree>
    <p:extLst>
      <p:ext uri="{BB962C8B-B14F-4D97-AF65-F5344CB8AC3E}">
        <p14:creationId xmlns:p14="http://schemas.microsoft.com/office/powerpoint/2010/main" val="7227400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b="1" dirty="0" err="1">
                <a:solidFill>
                  <a:srgbClr val="595959"/>
                </a:solidFill>
                <a:latin typeface="微软雅黑" panose="020B0503020204020204" pitchFamily="34" charset="-122"/>
                <a:ea typeface="微软雅黑" panose="020B0503020204020204" pitchFamily="34" charset="-122"/>
                <a:sym typeface="宋体" panose="02010600030101010101" pitchFamily="2" charset="-122"/>
              </a:rPr>
              <a:t>Grid&amp;Griditem</a:t>
            </a:r>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（网格布局）</a:t>
            </a:r>
          </a:p>
        </p:txBody>
      </p:sp>
      <p:sp>
        <p:nvSpPr>
          <p:cNvPr id="5" name="文本框 4"/>
          <p:cNvSpPr txBox="1"/>
          <p:nvPr/>
        </p:nvSpPr>
        <p:spPr>
          <a:xfrm>
            <a:off x="622598" y="4653930"/>
            <a:ext cx="184731" cy="276999"/>
          </a:xfrm>
          <a:prstGeom prst="rect">
            <a:avLst/>
          </a:prstGeom>
          <a:noFill/>
        </p:spPr>
        <p:txBody>
          <a:bodyPr wrap="none" rtlCol="0">
            <a:spAutoFit/>
          </a:bodyPr>
          <a:lstStyle/>
          <a:p>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6" name="矩形 6">
            <a:extLst>
              <a:ext uri="{FF2B5EF4-FFF2-40B4-BE49-F238E27FC236}">
                <a16:creationId xmlns:a16="http://schemas.microsoft.com/office/drawing/2014/main" id="{2B77D47F-41F1-4081-BE6B-C8A463966BCC}"/>
              </a:ext>
            </a:extLst>
          </p:cNvPr>
          <p:cNvSpPr>
            <a:spLocks noChangeArrowheads="1"/>
          </p:cNvSpPr>
          <p:nvPr/>
        </p:nvSpPr>
        <p:spPr bwMode="auto">
          <a:xfrm>
            <a:off x="1342677" y="1125538"/>
            <a:ext cx="9721081" cy="3564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indent="-342900">
              <a:lnSpc>
                <a:spcPct val="150000"/>
              </a:lnSpc>
              <a:spcBef>
                <a:spcPts val="2400"/>
              </a:spcBef>
              <a:buFont typeface="Wingdings" panose="05000000000000000000" pitchFamily="2" charset="2"/>
              <a:buChar char="l"/>
            </a:pPr>
            <a:r>
              <a:rPr lang="en-US" altLang="zh-CN" sz="2000" dirty="0" err="1">
                <a:solidFill>
                  <a:srgbClr val="008DF6"/>
                </a:solidFill>
                <a:latin typeface="微软雅黑" panose="020B0503020204020204" pitchFamily="34" charset="-122"/>
                <a:ea typeface="微软雅黑" panose="020B0503020204020204" pitchFamily="34" charset="-122"/>
                <a:cs typeface="+mn-ea"/>
              </a:rPr>
              <a:t>GridItem</a:t>
            </a:r>
            <a:r>
              <a:rPr lang="en-US" altLang="zh-CN" sz="2000" dirty="0">
                <a:solidFill>
                  <a:srgbClr val="008DF6"/>
                </a:solidFill>
                <a:latin typeface="微软雅黑" panose="020B0503020204020204" pitchFamily="34" charset="-122"/>
                <a:ea typeface="微软雅黑" panose="020B0503020204020204" pitchFamily="34" charset="-122"/>
                <a:cs typeface="+mn-ea"/>
              </a:rPr>
              <a:t> </a:t>
            </a:r>
            <a:r>
              <a:rPr lang="zh-CN" altLang="en-US" sz="2000" dirty="0">
                <a:solidFill>
                  <a:srgbClr val="008DF6"/>
                </a:solidFill>
                <a:latin typeface="微软雅黑" panose="020B0503020204020204" pitchFamily="34" charset="-122"/>
                <a:ea typeface="微软雅黑" panose="020B0503020204020204" pitchFamily="34" charset="-122"/>
                <a:cs typeface="+mn-ea"/>
              </a:rPr>
              <a:t>事件介绍：</a:t>
            </a:r>
            <a:endParaRPr lang="zh-CN" altLang="en-US" sz="1800" dirty="0">
              <a:latin typeface="微软雅黑" panose="020B0503020204020204" pitchFamily="34" charset="-122"/>
              <a:ea typeface="微软雅黑" panose="020B0503020204020204" pitchFamily="34" charset="-122"/>
              <a:cs typeface="+mn-ea"/>
            </a:endParaRPr>
          </a:p>
          <a:p>
            <a:pPr marL="952500" lvl="1" indent="-342900">
              <a:lnSpc>
                <a:spcPct val="250000"/>
              </a:lnSpc>
              <a:spcBef>
                <a:spcPts val="800"/>
              </a:spcBef>
              <a:buFont typeface="Wingdings" panose="05000000000000000000" pitchFamily="2" charset="2"/>
              <a:buChar char="Ø"/>
            </a:pPr>
            <a:r>
              <a:rPr lang="en-US" altLang="zh-CN" sz="2000" dirty="0" err="1">
                <a:solidFill>
                  <a:srgbClr val="008DF6"/>
                </a:solidFill>
                <a:latin typeface="微软雅黑" panose="020B0503020204020204" pitchFamily="34" charset="-122"/>
                <a:ea typeface="微软雅黑" panose="020B0503020204020204" pitchFamily="34" charset="-122"/>
                <a:cs typeface="+mn-ea"/>
              </a:rPr>
              <a:t>onSelect</a:t>
            </a:r>
            <a:r>
              <a:rPr lang="en-US" altLang="zh-CN" sz="2000" dirty="0">
                <a:solidFill>
                  <a:srgbClr val="008DF6"/>
                </a:solidFill>
                <a:latin typeface="微软雅黑" panose="020B0503020204020204" pitchFamily="34" charset="-122"/>
                <a:ea typeface="微软雅黑" panose="020B0503020204020204" pitchFamily="34" charset="-122"/>
                <a:cs typeface="+mn-ea"/>
              </a:rPr>
              <a:t>(event:(</a:t>
            </a:r>
            <a:r>
              <a:rPr lang="en-US" altLang="zh-CN" sz="2000" dirty="0" err="1">
                <a:solidFill>
                  <a:srgbClr val="008DF6"/>
                </a:solidFill>
                <a:latin typeface="微软雅黑" panose="020B0503020204020204" pitchFamily="34" charset="-122"/>
                <a:ea typeface="微软雅黑" panose="020B0503020204020204" pitchFamily="34" charset="-122"/>
                <a:cs typeface="+mn-ea"/>
              </a:rPr>
              <a:t>isSelected</a:t>
            </a:r>
            <a:r>
              <a:rPr lang="en-US" altLang="zh-CN" sz="2000" dirty="0">
                <a:solidFill>
                  <a:srgbClr val="008DF6"/>
                </a:solidFill>
                <a:latin typeface="微软雅黑" panose="020B0503020204020204" pitchFamily="34" charset="-122"/>
                <a:ea typeface="微软雅黑" panose="020B0503020204020204" pitchFamily="34" charset="-122"/>
                <a:cs typeface="+mn-ea"/>
              </a:rPr>
              <a:t>: </a:t>
            </a:r>
            <a:r>
              <a:rPr lang="en-US" altLang="zh-CN" sz="2000" dirty="0" err="1">
                <a:solidFill>
                  <a:srgbClr val="008DF6"/>
                </a:solidFill>
                <a:latin typeface="微软雅黑" panose="020B0503020204020204" pitchFamily="34" charset="-122"/>
                <a:ea typeface="微软雅黑" panose="020B0503020204020204" pitchFamily="34" charset="-122"/>
                <a:cs typeface="+mn-ea"/>
              </a:rPr>
              <a:t>boolean</a:t>
            </a:r>
            <a:r>
              <a:rPr lang="en-US" altLang="zh-CN" sz="2000" dirty="0">
                <a:solidFill>
                  <a:srgbClr val="008DF6"/>
                </a:solidFill>
                <a:latin typeface="微软雅黑" panose="020B0503020204020204" pitchFamily="34" charset="-122"/>
                <a:ea typeface="微软雅黑" panose="020B0503020204020204" pitchFamily="34" charset="-122"/>
                <a:cs typeface="+mn-ea"/>
              </a:rPr>
              <a:t>)=&gt;void): </a:t>
            </a:r>
            <a:r>
              <a:rPr lang="en-US" altLang="zh-CN" sz="1800" dirty="0" err="1">
                <a:latin typeface="微软雅黑" panose="020B0503020204020204" pitchFamily="34" charset="-122"/>
                <a:ea typeface="微软雅黑" panose="020B0503020204020204" pitchFamily="34" charset="-122"/>
                <a:cs typeface="+mn-ea"/>
              </a:rPr>
              <a:t>GridItem</a:t>
            </a:r>
            <a:r>
              <a:rPr lang="en-US" altLang="zh-CN" sz="1800" dirty="0">
                <a:latin typeface="微软雅黑" panose="020B0503020204020204" pitchFamily="34" charset="-122"/>
                <a:ea typeface="微软雅黑" panose="020B0503020204020204" pitchFamily="34" charset="-122"/>
                <a:cs typeface="+mn-ea"/>
              </a:rPr>
              <a:t> </a:t>
            </a:r>
            <a:r>
              <a:rPr lang="zh-CN" altLang="en-US" sz="1800" dirty="0">
                <a:latin typeface="微软雅黑" panose="020B0503020204020204" pitchFamily="34" charset="-122"/>
                <a:ea typeface="微软雅黑" panose="020B0503020204020204" pitchFamily="34" charset="-122"/>
                <a:cs typeface="+mn-ea"/>
              </a:rPr>
              <a:t>元素被鼠标框选的状态改变时触发回调。</a:t>
            </a:r>
            <a:endParaRPr lang="en-US" altLang="zh-CN" sz="1800" dirty="0">
              <a:latin typeface="微软雅黑" panose="020B0503020204020204" pitchFamily="34" charset="-122"/>
              <a:ea typeface="微软雅黑" panose="020B0503020204020204" pitchFamily="34" charset="-122"/>
              <a:cs typeface="+mn-ea"/>
            </a:endParaRPr>
          </a:p>
          <a:p>
            <a:pPr marL="952500" lvl="1" indent="-342900">
              <a:lnSpc>
                <a:spcPct val="250000"/>
              </a:lnSpc>
              <a:spcBef>
                <a:spcPts val="800"/>
              </a:spcBef>
              <a:buFont typeface="Wingdings" panose="05000000000000000000" pitchFamily="2" charset="2"/>
              <a:buChar char="Ø"/>
            </a:pPr>
            <a:r>
              <a:rPr lang="en-US" altLang="zh-CN" sz="2000" dirty="0" err="1">
                <a:solidFill>
                  <a:srgbClr val="008DF6"/>
                </a:solidFill>
                <a:latin typeface="微软雅黑" panose="020B0503020204020204" pitchFamily="34" charset="-122"/>
                <a:ea typeface="微软雅黑" panose="020B0503020204020204" pitchFamily="34" charset="-122"/>
                <a:cs typeface="+mn-ea"/>
              </a:rPr>
              <a:t>isSelected</a:t>
            </a:r>
            <a:r>
              <a:rPr lang="en-US" altLang="zh-CN" sz="2000" dirty="0">
                <a:solidFill>
                  <a:srgbClr val="008DF6"/>
                </a:solidFill>
                <a:latin typeface="微软雅黑" panose="020B0503020204020204" pitchFamily="34" charset="-122"/>
                <a:ea typeface="微软雅黑" panose="020B0503020204020204" pitchFamily="34" charset="-122"/>
                <a:cs typeface="+mn-ea"/>
              </a:rPr>
              <a:t>: </a:t>
            </a:r>
            <a:r>
              <a:rPr lang="zh-CN" altLang="en-US" sz="1800" dirty="0">
                <a:latin typeface="微软雅黑" panose="020B0503020204020204" pitchFamily="34" charset="-122"/>
                <a:ea typeface="微软雅黑" panose="020B0503020204020204" pitchFamily="34" charset="-122"/>
                <a:cs typeface="+mn-ea"/>
              </a:rPr>
              <a:t>进入鼠标框选范围即被选中返回 </a:t>
            </a:r>
            <a:r>
              <a:rPr lang="en-US" altLang="zh-CN" sz="1800" dirty="0" err="1">
                <a:latin typeface="微软雅黑" panose="020B0503020204020204" pitchFamily="34" charset="-122"/>
                <a:ea typeface="微软雅黑" panose="020B0503020204020204" pitchFamily="34" charset="-122"/>
                <a:cs typeface="+mn-ea"/>
              </a:rPr>
              <a:t>tue</a:t>
            </a:r>
            <a:r>
              <a:rPr lang="zh-CN" altLang="en-US" sz="1800" dirty="0">
                <a:latin typeface="微软雅黑" panose="020B0503020204020204" pitchFamily="34" charset="-122"/>
                <a:ea typeface="微软雅黑" panose="020B0503020204020204" pitchFamily="34" charset="-122"/>
                <a:cs typeface="+mn-ea"/>
              </a:rPr>
              <a:t>，移出鼠标框选范围即未被选中返回 </a:t>
            </a:r>
            <a:r>
              <a:rPr lang="en-US" altLang="zh-CN" sz="1800" dirty="0">
                <a:latin typeface="微软雅黑" panose="020B0503020204020204" pitchFamily="34" charset="-122"/>
                <a:ea typeface="微软雅黑" panose="020B0503020204020204" pitchFamily="34" charset="-122"/>
                <a:cs typeface="+mn-ea"/>
              </a:rPr>
              <a:t>false</a:t>
            </a:r>
            <a:r>
              <a:rPr lang="zh-CN" altLang="en-US" sz="1800" dirty="0">
                <a:latin typeface="微软雅黑" panose="020B0503020204020204" pitchFamily="34" charset="-122"/>
                <a:ea typeface="微软雅黑" panose="020B0503020204020204" pitchFamily="34" charset="-122"/>
                <a:cs typeface="+mn-ea"/>
              </a:rPr>
              <a:t>。</a:t>
            </a:r>
            <a:endParaRPr lang="en-US" altLang="zh-CN" sz="1800" dirty="0">
              <a:latin typeface="微软雅黑" panose="020B0503020204020204" pitchFamily="34" charset="-122"/>
              <a:ea typeface="微软雅黑" panose="020B0503020204020204" pitchFamily="34" charset="-122"/>
              <a:cs typeface="+mn-ea"/>
            </a:endParaRPr>
          </a:p>
        </p:txBody>
      </p:sp>
    </p:spTree>
    <p:extLst>
      <p:ext uri="{BB962C8B-B14F-4D97-AF65-F5344CB8AC3E}">
        <p14:creationId xmlns:p14="http://schemas.microsoft.com/office/powerpoint/2010/main" val="165119484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b="1" dirty="0" err="1">
                <a:solidFill>
                  <a:srgbClr val="595959"/>
                </a:solidFill>
                <a:latin typeface="微软雅黑" panose="020B0503020204020204" pitchFamily="34" charset="-122"/>
                <a:ea typeface="微软雅黑" panose="020B0503020204020204" pitchFamily="34" charset="-122"/>
                <a:sym typeface="宋体" panose="02010600030101010101" pitchFamily="2" charset="-122"/>
              </a:rPr>
              <a:t>Grid&amp;Griditem</a:t>
            </a:r>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（网格布局）</a:t>
            </a:r>
          </a:p>
        </p:txBody>
      </p:sp>
      <p:sp>
        <p:nvSpPr>
          <p:cNvPr id="5" name="文本框 4"/>
          <p:cNvSpPr txBox="1"/>
          <p:nvPr/>
        </p:nvSpPr>
        <p:spPr>
          <a:xfrm>
            <a:off x="622598" y="4653930"/>
            <a:ext cx="184731" cy="276999"/>
          </a:xfrm>
          <a:prstGeom prst="rect">
            <a:avLst/>
          </a:prstGeom>
          <a:noFill/>
        </p:spPr>
        <p:txBody>
          <a:bodyPr wrap="none" rtlCol="0">
            <a:spAutoFit/>
          </a:bodyPr>
          <a:lstStyle/>
          <a:p>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6" name="矩形 6">
            <a:extLst>
              <a:ext uri="{FF2B5EF4-FFF2-40B4-BE49-F238E27FC236}">
                <a16:creationId xmlns:a16="http://schemas.microsoft.com/office/drawing/2014/main" id="{2B77D47F-41F1-4081-BE6B-C8A463966BCC}"/>
              </a:ext>
            </a:extLst>
          </p:cNvPr>
          <p:cNvSpPr>
            <a:spLocks noChangeArrowheads="1"/>
          </p:cNvSpPr>
          <p:nvPr/>
        </p:nvSpPr>
        <p:spPr bwMode="auto">
          <a:xfrm>
            <a:off x="1342677" y="1125538"/>
            <a:ext cx="9721081" cy="5106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indent="-342900">
              <a:lnSpc>
                <a:spcPct val="150000"/>
              </a:lnSpc>
              <a:spcBef>
                <a:spcPts val="2400"/>
              </a:spcBef>
              <a:buFont typeface="Wingdings" panose="05000000000000000000" pitchFamily="2" charset="2"/>
              <a:buChar char="l"/>
            </a:pPr>
            <a:r>
              <a:rPr lang="zh-CN" altLang="en-US" sz="2000" dirty="0">
                <a:solidFill>
                  <a:srgbClr val="008DF6"/>
                </a:solidFill>
                <a:latin typeface="微软雅黑" panose="020B0503020204020204" pitchFamily="34" charset="-122"/>
                <a:ea typeface="微软雅黑" panose="020B0503020204020204" pitchFamily="34" charset="-122"/>
                <a:cs typeface="+mn-ea"/>
              </a:rPr>
              <a:t>循环渲染：</a:t>
            </a:r>
            <a:r>
              <a:rPr lang="zh-CN" altLang="en-US" sz="1800" dirty="0">
                <a:latin typeface="微软雅黑" panose="020B0503020204020204" pitchFamily="34" charset="-122"/>
                <a:ea typeface="微软雅黑" panose="020B0503020204020204" pitchFamily="34" charset="-122"/>
                <a:cs typeface="+mn-ea"/>
              </a:rPr>
              <a:t>通过循环渲染</a:t>
            </a:r>
            <a:r>
              <a:rPr lang="en-US" altLang="zh-CN" sz="1800" dirty="0">
                <a:latin typeface="微软雅黑" panose="020B0503020204020204" pitchFamily="34" charset="-122"/>
                <a:ea typeface="微软雅黑" panose="020B0503020204020204" pitchFamily="34" charset="-122"/>
                <a:cs typeface="+mn-ea"/>
              </a:rPr>
              <a:t>(</a:t>
            </a:r>
            <a:r>
              <a:rPr lang="en-US" altLang="zh-CN" sz="1800" dirty="0" err="1">
                <a:latin typeface="微软雅黑" panose="020B0503020204020204" pitchFamily="34" charset="-122"/>
                <a:ea typeface="微软雅黑" panose="020B0503020204020204" pitchFamily="34" charset="-122"/>
                <a:cs typeface="+mn-ea"/>
              </a:rPr>
              <a:t>ForEach</a:t>
            </a:r>
            <a:r>
              <a:rPr lang="en-US" altLang="zh-CN" sz="1800" dirty="0">
                <a:latin typeface="微软雅黑" panose="020B0503020204020204" pitchFamily="34" charset="-122"/>
                <a:ea typeface="微软雅黑" panose="020B0503020204020204" pitchFamily="34" charset="-122"/>
                <a:cs typeface="+mn-ea"/>
              </a:rPr>
              <a:t>)</a:t>
            </a:r>
            <a:r>
              <a:rPr lang="zh-CN" altLang="en-US" sz="1800" dirty="0">
                <a:latin typeface="微软雅黑" panose="020B0503020204020204" pitchFamily="34" charset="-122"/>
                <a:ea typeface="微软雅黑" panose="020B0503020204020204" pitchFamily="34" charset="-122"/>
                <a:cs typeface="+mn-ea"/>
              </a:rPr>
              <a:t>从数组中获取数据，并为每个数据项创建相应的组件，可降低代码复杂度，参数介绍如下。</a:t>
            </a:r>
          </a:p>
          <a:p>
            <a:pPr marL="952500" lvl="1" indent="-342900">
              <a:lnSpc>
                <a:spcPct val="150000"/>
              </a:lnSpc>
              <a:spcBef>
                <a:spcPts val="800"/>
              </a:spcBef>
              <a:buFont typeface="Wingdings" panose="05000000000000000000" pitchFamily="2" charset="2"/>
              <a:buChar char="Ø"/>
            </a:pPr>
            <a:r>
              <a:rPr lang="en-US" altLang="zh-CN" sz="2000" dirty="0" err="1">
                <a:solidFill>
                  <a:srgbClr val="008DF6"/>
                </a:solidFill>
                <a:latin typeface="微软雅黑" panose="020B0503020204020204" pitchFamily="34" charset="-122"/>
                <a:ea typeface="微软雅黑" panose="020B0503020204020204" pitchFamily="34" charset="-122"/>
                <a:cs typeface="+mn-ea"/>
              </a:rPr>
              <a:t>anr</a:t>
            </a:r>
            <a:r>
              <a:rPr lang="en-US" altLang="zh-CN" sz="2000" dirty="0">
                <a:solidFill>
                  <a:srgbClr val="008DF6"/>
                </a:solidFill>
                <a:latin typeface="微软雅黑" panose="020B0503020204020204" pitchFamily="34" charset="-122"/>
                <a:ea typeface="微软雅黑" panose="020B0503020204020204" pitchFamily="34" charset="-122"/>
                <a:cs typeface="+mn-ea"/>
              </a:rPr>
              <a:t>: </a:t>
            </a:r>
            <a:r>
              <a:rPr lang="zh-CN" altLang="en-US" sz="1800" dirty="0">
                <a:latin typeface="微软雅黑" panose="020B0503020204020204" pitchFamily="34" charset="-122"/>
                <a:ea typeface="微软雅黑" panose="020B0503020204020204" pitchFamily="34" charset="-122"/>
                <a:cs typeface="+mn-ea"/>
              </a:rPr>
              <a:t>必须是数组，允许设置为空数组，空数组场景下将不会创建子组件。同时允许设置返回值为数组类型的函数。</a:t>
            </a:r>
            <a:endParaRPr lang="en-US" altLang="zh-CN" sz="1800" dirty="0">
              <a:latin typeface="微软雅黑" panose="020B0503020204020204" pitchFamily="34" charset="-122"/>
              <a:ea typeface="微软雅黑" panose="020B0503020204020204" pitchFamily="34" charset="-122"/>
              <a:cs typeface="+mn-ea"/>
            </a:endParaRPr>
          </a:p>
          <a:p>
            <a:pPr marL="952500" lvl="1" indent="-342900">
              <a:lnSpc>
                <a:spcPct val="150000"/>
              </a:lnSpc>
              <a:spcBef>
                <a:spcPts val="800"/>
              </a:spcBef>
              <a:buFont typeface="Wingdings" panose="05000000000000000000" pitchFamily="2" charset="2"/>
              <a:buChar char="Ø"/>
            </a:pPr>
            <a:r>
              <a:rPr lang="en-US" altLang="zh-CN" sz="2000" dirty="0" err="1">
                <a:solidFill>
                  <a:srgbClr val="008DF6"/>
                </a:solidFill>
                <a:latin typeface="微软雅黑" panose="020B0503020204020204" pitchFamily="34" charset="-122"/>
                <a:ea typeface="微软雅黑" panose="020B0503020204020204" pitchFamily="34" charset="-122"/>
                <a:cs typeface="+mn-ea"/>
              </a:rPr>
              <a:t>itemGenerator</a:t>
            </a:r>
            <a:r>
              <a:rPr lang="en-US" altLang="zh-CN" sz="2000" dirty="0">
                <a:solidFill>
                  <a:srgbClr val="008DF6"/>
                </a:solidFill>
                <a:latin typeface="微软雅黑" panose="020B0503020204020204" pitchFamily="34" charset="-122"/>
                <a:ea typeface="微软雅黑" panose="020B0503020204020204" pitchFamily="34" charset="-122"/>
                <a:cs typeface="+mn-ea"/>
              </a:rPr>
              <a:t>: </a:t>
            </a:r>
            <a:r>
              <a:rPr lang="zh-CN" altLang="en-US" sz="1800" dirty="0">
                <a:latin typeface="微软雅黑" panose="020B0503020204020204" pitchFamily="34" charset="-122"/>
                <a:ea typeface="微软雅黑" panose="020B0503020204020204" pitchFamily="34" charset="-122"/>
                <a:cs typeface="+mn-ea"/>
              </a:rPr>
              <a:t>生成子组件的 </a:t>
            </a:r>
            <a:r>
              <a:rPr lang="en-US" altLang="zh-CN" sz="1800" dirty="0">
                <a:latin typeface="微软雅黑" panose="020B0503020204020204" pitchFamily="34" charset="-122"/>
                <a:ea typeface="微软雅黑" panose="020B0503020204020204" pitchFamily="34" charset="-122"/>
                <a:cs typeface="+mn-ea"/>
              </a:rPr>
              <a:t>lambda </a:t>
            </a:r>
            <a:r>
              <a:rPr lang="zh-CN" altLang="en-US" sz="1800" dirty="0">
                <a:latin typeface="微软雅黑" panose="020B0503020204020204" pitchFamily="34" charset="-122"/>
                <a:ea typeface="微软雅黑" panose="020B0503020204020204" pitchFamily="34" charset="-122"/>
                <a:cs typeface="+mn-ea"/>
              </a:rPr>
              <a:t>兩数，为数组中的每一个数据项创建一个或多个子组件，单个子组件或子组件列表必须包括在大括号中。</a:t>
            </a:r>
            <a:endParaRPr lang="en-US" altLang="zh-CN" sz="1800" dirty="0">
              <a:latin typeface="微软雅黑" panose="020B0503020204020204" pitchFamily="34" charset="-122"/>
              <a:ea typeface="微软雅黑" panose="020B0503020204020204" pitchFamily="34" charset="-122"/>
              <a:cs typeface="+mn-ea"/>
            </a:endParaRPr>
          </a:p>
          <a:p>
            <a:pPr marL="952500" lvl="1" indent="-342900">
              <a:lnSpc>
                <a:spcPct val="150000"/>
              </a:lnSpc>
              <a:spcBef>
                <a:spcPts val="800"/>
              </a:spcBef>
              <a:buFont typeface="Wingdings" panose="05000000000000000000" pitchFamily="2" charset="2"/>
              <a:buChar char="Ø"/>
            </a:pPr>
            <a:r>
              <a:rPr lang="en-US" altLang="zh-CN" sz="2000" dirty="0" err="1">
                <a:solidFill>
                  <a:srgbClr val="008DF6"/>
                </a:solidFill>
                <a:latin typeface="微软雅黑" panose="020B0503020204020204" pitchFamily="34" charset="-122"/>
                <a:ea typeface="微软雅黑" panose="020B0503020204020204" pitchFamily="34" charset="-122"/>
                <a:cs typeface="+mn-ea"/>
              </a:rPr>
              <a:t>keyGenerator</a:t>
            </a:r>
            <a:r>
              <a:rPr lang="en-US" altLang="zh-CN" sz="2000" dirty="0">
                <a:solidFill>
                  <a:srgbClr val="008DF6"/>
                </a:solidFill>
                <a:latin typeface="微软雅黑" panose="020B0503020204020204" pitchFamily="34" charset="-122"/>
                <a:ea typeface="微软雅黑" panose="020B0503020204020204" pitchFamily="34" charset="-122"/>
                <a:cs typeface="+mn-ea"/>
              </a:rPr>
              <a:t>: </a:t>
            </a:r>
            <a:r>
              <a:rPr lang="zh-CN" altLang="en-US" sz="1800" dirty="0">
                <a:latin typeface="微软雅黑" panose="020B0503020204020204" pitchFamily="34" charset="-122"/>
                <a:ea typeface="微软雅黑" panose="020B0503020204020204" pitchFamily="34" charset="-122"/>
                <a:cs typeface="+mn-ea"/>
              </a:rPr>
              <a:t>匿名函数，用于给数组中的每一个数据项生成唯一旦固定的键值。当数据项在数组中的位置更改时，其键值不得更改</a:t>
            </a:r>
            <a:r>
              <a:rPr lang="en-US" altLang="zh-CN" sz="1800" dirty="0">
                <a:latin typeface="微软雅黑" panose="020B0503020204020204" pitchFamily="34" charset="-122"/>
                <a:ea typeface="微软雅黑" panose="020B0503020204020204" pitchFamily="34" charset="-122"/>
                <a:cs typeface="+mn-ea"/>
              </a:rPr>
              <a:t>;</a:t>
            </a:r>
            <a:r>
              <a:rPr lang="zh-CN" altLang="en-US" sz="1800" dirty="0">
                <a:latin typeface="微软雅黑" panose="020B0503020204020204" pitchFamily="34" charset="-122"/>
                <a:ea typeface="微软雅黑" panose="020B0503020204020204" pitchFamily="34" charset="-122"/>
                <a:cs typeface="+mn-ea"/>
              </a:rPr>
              <a:t>当数组中的数据项被新项替换时，被替换项的键值和新项的键值必须不同。键值生成器的功能是可选的，但是，为了使开发框架能够更好地识别数组更改，提高性能，建议提供键值生成器。将数组反向时，如果没有提供键值生成器，那么 </a:t>
            </a:r>
            <a:r>
              <a:rPr lang="en-US" altLang="zh-CN" sz="1800" dirty="0" err="1">
                <a:latin typeface="微软雅黑" panose="020B0503020204020204" pitchFamily="34" charset="-122"/>
                <a:ea typeface="微软雅黑" panose="020B0503020204020204" pitchFamily="34" charset="-122"/>
                <a:cs typeface="+mn-ea"/>
              </a:rPr>
              <a:t>ForEach</a:t>
            </a:r>
            <a:r>
              <a:rPr lang="en-US" altLang="zh-CN" sz="1800" dirty="0">
                <a:latin typeface="微软雅黑" panose="020B0503020204020204" pitchFamily="34" charset="-122"/>
                <a:ea typeface="微软雅黑" panose="020B0503020204020204" pitchFamily="34" charset="-122"/>
                <a:cs typeface="+mn-ea"/>
              </a:rPr>
              <a:t> </a:t>
            </a:r>
            <a:r>
              <a:rPr lang="zh-CN" altLang="en-US" sz="1800" dirty="0">
                <a:latin typeface="微软雅黑" panose="020B0503020204020204" pitchFamily="34" charset="-122"/>
                <a:ea typeface="微软雅黑" panose="020B0503020204020204" pitchFamily="34" charset="-122"/>
                <a:cs typeface="+mn-ea"/>
              </a:rPr>
              <a:t>中的所有节点都将重建。</a:t>
            </a:r>
            <a:endParaRPr lang="en-US" altLang="zh-CN" sz="1800" dirty="0">
              <a:latin typeface="微软雅黑" panose="020B0503020204020204" pitchFamily="34" charset="-122"/>
              <a:ea typeface="微软雅黑" panose="020B0503020204020204" pitchFamily="34" charset="-122"/>
              <a:cs typeface="+mn-ea"/>
            </a:endParaRPr>
          </a:p>
        </p:txBody>
      </p:sp>
    </p:spTree>
    <p:extLst>
      <p:ext uri="{BB962C8B-B14F-4D97-AF65-F5344CB8AC3E}">
        <p14:creationId xmlns:p14="http://schemas.microsoft.com/office/powerpoint/2010/main" val="247262548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b="1" dirty="0" err="1">
                <a:solidFill>
                  <a:srgbClr val="595959"/>
                </a:solidFill>
                <a:latin typeface="微软雅黑" panose="020B0503020204020204" pitchFamily="34" charset="-122"/>
                <a:ea typeface="微软雅黑" panose="020B0503020204020204" pitchFamily="34" charset="-122"/>
                <a:sym typeface="宋体" panose="02010600030101010101" pitchFamily="2" charset="-122"/>
              </a:rPr>
              <a:t>GridRow&amp;GridCol</a:t>
            </a:r>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（栅格布局）</a:t>
            </a:r>
          </a:p>
        </p:txBody>
      </p:sp>
      <p:sp>
        <p:nvSpPr>
          <p:cNvPr id="5" name="文本框 4"/>
          <p:cNvSpPr txBox="1"/>
          <p:nvPr/>
        </p:nvSpPr>
        <p:spPr>
          <a:xfrm>
            <a:off x="622598" y="4653930"/>
            <a:ext cx="184731" cy="276999"/>
          </a:xfrm>
          <a:prstGeom prst="rect">
            <a:avLst/>
          </a:prstGeom>
          <a:noFill/>
        </p:spPr>
        <p:txBody>
          <a:bodyPr wrap="none" rtlCol="0">
            <a:spAutoFit/>
          </a:bodyPr>
          <a:lstStyle/>
          <a:p>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6" name="矩形 6">
            <a:extLst>
              <a:ext uri="{FF2B5EF4-FFF2-40B4-BE49-F238E27FC236}">
                <a16:creationId xmlns:a16="http://schemas.microsoft.com/office/drawing/2014/main" id="{2B77D47F-41F1-4081-BE6B-C8A463966BCC}"/>
              </a:ext>
            </a:extLst>
          </p:cNvPr>
          <p:cNvSpPr>
            <a:spLocks noChangeArrowheads="1"/>
          </p:cNvSpPr>
          <p:nvPr/>
        </p:nvSpPr>
        <p:spPr bwMode="auto">
          <a:xfrm>
            <a:off x="1198662" y="1125538"/>
            <a:ext cx="10009112" cy="507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indent="-342900">
              <a:lnSpc>
                <a:spcPct val="150000"/>
              </a:lnSpc>
              <a:spcBef>
                <a:spcPts val="2400"/>
              </a:spcBef>
              <a:buFont typeface="Wingdings" panose="05000000000000000000" pitchFamily="2" charset="2"/>
              <a:buChar char="l"/>
            </a:pPr>
            <a:r>
              <a:rPr lang="zh-CN" altLang="en-US" sz="2000" dirty="0">
                <a:solidFill>
                  <a:srgbClr val="008DF6"/>
                </a:solidFill>
                <a:latin typeface="微软雅黑" panose="020B0503020204020204" pitchFamily="34" charset="-122"/>
                <a:ea typeface="微软雅黑" panose="020B0503020204020204" pitchFamily="34" charset="-122"/>
                <a:cs typeface="+mn-ea"/>
              </a:rPr>
              <a:t>栅格布局：</a:t>
            </a:r>
            <a:r>
              <a:rPr lang="zh-CN" altLang="en-US" sz="1800" dirty="0">
                <a:solidFill>
                  <a:schemeClr val="tx1">
                    <a:lumMod val="85000"/>
                    <a:lumOff val="15000"/>
                  </a:schemeClr>
                </a:solidFill>
                <a:latin typeface="微软雅黑" panose="020B0503020204020204" pitchFamily="34" charset="-122"/>
                <a:ea typeface="微软雅黑" panose="020B0503020204020204" pitchFamily="34" charset="-122"/>
                <a:cs typeface="+mn-ea"/>
              </a:rPr>
              <a:t>一种通用的辅助定位工具，对移动设备的界面设计有较好的借鉴作用。</a:t>
            </a:r>
            <a:endParaRPr lang="en-US" altLang="zh-CN" sz="1800" dirty="0">
              <a:solidFill>
                <a:schemeClr val="tx1">
                  <a:lumMod val="85000"/>
                  <a:lumOff val="15000"/>
                </a:schemeClr>
              </a:solidFill>
              <a:latin typeface="微软雅黑" panose="020B0503020204020204" pitchFamily="34" charset="-122"/>
              <a:ea typeface="微软雅黑" panose="020B0503020204020204" pitchFamily="34" charset="-122"/>
              <a:cs typeface="+mn-ea"/>
            </a:endParaRPr>
          </a:p>
          <a:p>
            <a:pPr marL="342900" indent="-342900">
              <a:lnSpc>
                <a:spcPct val="150000"/>
              </a:lnSpc>
              <a:spcBef>
                <a:spcPts val="2400"/>
              </a:spcBef>
              <a:buFont typeface="Wingdings" panose="05000000000000000000" pitchFamily="2" charset="2"/>
              <a:buChar char="l"/>
            </a:pPr>
            <a:r>
              <a:rPr lang="zh-CN" altLang="en-US" sz="2000" dirty="0">
                <a:solidFill>
                  <a:srgbClr val="008DF6"/>
                </a:solidFill>
                <a:latin typeface="微软雅黑" panose="020B0503020204020204" pitchFamily="34" charset="-122"/>
                <a:ea typeface="微软雅黑" panose="020B0503020204020204" pitchFamily="34" charset="-122"/>
                <a:cs typeface="+mn-ea"/>
              </a:rPr>
              <a:t>优势：</a:t>
            </a:r>
            <a:endParaRPr lang="en-US" altLang="zh-CN" sz="2000" dirty="0">
              <a:solidFill>
                <a:srgbClr val="008DF6"/>
              </a:solidFill>
              <a:latin typeface="微软雅黑" panose="020B0503020204020204" pitchFamily="34" charset="-122"/>
              <a:ea typeface="微软雅黑" panose="020B0503020204020204" pitchFamily="34" charset="-122"/>
              <a:cs typeface="+mn-ea"/>
            </a:endParaRPr>
          </a:p>
          <a:p>
            <a:pPr marL="952500" lvl="1" indent="-342900">
              <a:spcBef>
                <a:spcPts val="2400"/>
              </a:spcBef>
              <a:buFont typeface="Wingdings" panose="05000000000000000000" pitchFamily="2" charset="2"/>
              <a:buChar char="Ø"/>
            </a:pPr>
            <a:r>
              <a:rPr lang="zh-CN" altLang="en-US" sz="2000" dirty="0">
                <a:solidFill>
                  <a:srgbClr val="7030A0"/>
                </a:solidFill>
                <a:latin typeface="微软雅黑" panose="020B0503020204020204" pitchFamily="34" charset="-122"/>
                <a:ea typeface="微软雅黑" panose="020B0503020204020204" pitchFamily="34" charset="-122"/>
                <a:cs typeface="+mn-ea"/>
              </a:rPr>
              <a:t>提供可循的规律</a:t>
            </a:r>
            <a:endParaRPr lang="en-US" altLang="zh-CN" sz="2000" dirty="0">
              <a:solidFill>
                <a:srgbClr val="7030A0"/>
              </a:solidFill>
              <a:latin typeface="微软雅黑" panose="020B0503020204020204" pitchFamily="34" charset="-122"/>
              <a:ea typeface="微软雅黑" panose="020B0503020204020204" pitchFamily="34" charset="-122"/>
              <a:cs typeface="+mn-ea"/>
            </a:endParaRPr>
          </a:p>
          <a:p>
            <a:pPr marL="952500" lvl="1" indent="-342900">
              <a:spcBef>
                <a:spcPts val="2400"/>
              </a:spcBef>
              <a:buFont typeface="Wingdings" panose="05000000000000000000" pitchFamily="2" charset="2"/>
              <a:buChar char="Ø"/>
            </a:pPr>
            <a:r>
              <a:rPr lang="zh-CN" altLang="en-US" sz="2000" dirty="0">
                <a:solidFill>
                  <a:srgbClr val="7030A0"/>
                </a:solidFill>
              </a:rPr>
              <a:t>统一的定位标注</a:t>
            </a:r>
            <a:endParaRPr lang="en-US" altLang="zh-CN" sz="2000" dirty="0">
              <a:solidFill>
                <a:srgbClr val="7030A0"/>
              </a:solidFill>
            </a:endParaRPr>
          </a:p>
          <a:p>
            <a:pPr marL="952500" lvl="1" indent="-342900">
              <a:spcBef>
                <a:spcPts val="2400"/>
              </a:spcBef>
              <a:buFont typeface="Wingdings" panose="05000000000000000000" pitchFamily="2" charset="2"/>
              <a:buChar char="Ø"/>
            </a:pPr>
            <a:r>
              <a:rPr lang="zh-CN" altLang="en-US" sz="2000" dirty="0">
                <a:solidFill>
                  <a:srgbClr val="7030A0"/>
                </a:solidFill>
              </a:rPr>
              <a:t>灵活的间距调整方法</a:t>
            </a:r>
            <a:endParaRPr lang="en-US" altLang="zh-CN" sz="2000" dirty="0">
              <a:solidFill>
                <a:srgbClr val="7030A0"/>
              </a:solidFill>
            </a:endParaRPr>
          </a:p>
          <a:p>
            <a:pPr marL="952500" lvl="1" indent="-342900">
              <a:spcBef>
                <a:spcPts val="2400"/>
              </a:spcBef>
              <a:buFont typeface="Wingdings" panose="05000000000000000000" pitchFamily="2" charset="2"/>
              <a:buChar char="Ø"/>
            </a:pPr>
            <a:r>
              <a:rPr lang="zh-CN" altLang="en-US" sz="2000" dirty="0">
                <a:solidFill>
                  <a:srgbClr val="7030A0"/>
                </a:solidFill>
              </a:rPr>
              <a:t>自动换行和自适应</a:t>
            </a:r>
            <a:endParaRPr lang="en-US" altLang="zh-CN" sz="2000" dirty="0">
              <a:solidFill>
                <a:srgbClr val="7030A0"/>
              </a:solidFill>
            </a:endParaRPr>
          </a:p>
          <a:p>
            <a:pPr marL="952500" lvl="1" indent="-342900">
              <a:spcBef>
                <a:spcPts val="2400"/>
              </a:spcBef>
              <a:buFont typeface="Wingdings" panose="05000000000000000000" pitchFamily="2" charset="2"/>
              <a:buChar char="Ø"/>
            </a:pPr>
            <a:endParaRPr lang="en-US" altLang="zh-CN" sz="2000" dirty="0"/>
          </a:p>
          <a:p>
            <a:pPr marL="952500" lvl="1" indent="-342900">
              <a:spcBef>
                <a:spcPts val="2400"/>
              </a:spcBef>
              <a:buFont typeface="Wingdings" panose="05000000000000000000" pitchFamily="2" charset="2"/>
              <a:buChar char="Ø"/>
            </a:pPr>
            <a:endParaRPr lang="en-US"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mn-ea"/>
            </a:endParaRPr>
          </a:p>
        </p:txBody>
      </p:sp>
    </p:spTree>
    <p:extLst>
      <p:ext uri="{BB962C8B-B14F-4D97-AF65-F5344CB8AC3E}">
        <p14:creationId xmlns:p14="http://schemas.microsoft.com/office/powerpoint/2010/main" val="156062233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b="1" dirty="0" err="1">
                <a:solidFill>
                  <a:srgbClr val="595959"/>
                </a:solidFill>
                <a:latin typeface="微软雅黑" panose="020B0503020204020204" pitchFamily="34" charset="-122"/>
                <a:ea typeface="微软雅黑" panose="020B0503020204020204" pitchFamily="34" charset="-122"/>
                <a:sym typeface="宋体" panose="02010600030101010101" pitchFamily="2" charset="-122"/>
              </a:rPr>
              <a:t>GridRow&amp;GridCol</a:t>
            </a:r>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（栅格布局）</a:t>
            </a:r>
          </a:p>
        </p:txBody>
      </p:sp>
      <p:sp>
        <p:nvSpPr>
          <p:cNvPr id="5" name="文本框 4"/>
          <p:cNvSpPr txBox="1"/>
          <p:nvPr/>
        </p:nvSpPr>
        <p:spPr>
          <a:xfrm>
            <a:off x="622598" y="4653930"/>
            <a:ext cx="184731" cy="276999"/>
          </a:xfrm>
          <a:prstGeom prst="rect">
            <a:avLst/>
          </a:prstGeom>
          <a:noFill/>
        </p:spPr>
        <p:txBody>
          <a:bodyPr wrap="none" rtlCol="0">
            <a:spAutoFit/>
          </a:bodyPr>
          <a:lstStyle/>
          <a:p>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6" name="矩形 6">
            <a:extLst>
              <a:ext uri="{FF2B5EF4-FFF2-40B4-BE49-F238E27FC236}">
                <a16:creationId xmlns:a16="http://schemas.microsoft.com/office/drawing/2014/main" id="{2B77D47F-41F1-4081-BE6B-C8A463966BCC}"/>
              </a:ext>
            </a:extLst>
          </p:cNvPr>
          <p:cNvSpPr>
            <a:spLocks noChangeArrowheads="1"/>
          </p:cNvSpPr>
          <p:nvPr/>
        </p:nvSpPr>
        <p:spPr bwMode="auto">
          <a:xfrm>
            <a:off x="1342677" y="1125538"/>
            <a:ext cx="9721081" cy="39930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spcBef>
                <a:spcPts val="2400"/>
              </a:spcBef>
            </a:pPr>
            <a:r>
              <a:rPr lang="en-US" altLang="zh-CN" sz="2000" dirty="0" err="1">
                <a:latin typeface="微软雅黑" panose="020B0503020204020204" pitchFamily="34" charset="-122"/>
                <a:ea typeface="微软雅黑" panose="020B0503020204020204" pitchFamily="34" charset="-122"/>
                <a:cs typeface="+mn-ea"/>
              </a:rPr>
              <a:t>GridRow</a:t>
            </a:r>
            <a:r>
              <a:rPr lang="en-US" altLang="zh-CN" sz="2000" dirty="0">
                <a:latin typeface="微软雅黑" panose="020B0503020204020204" pitchFamily="34" charset="-122"/>
                <a:ea typeface="微软雅黑" panose="020B0503020204020204" pitchFamily="34" charset="-122"/>
                <a:cs typeface="+mn-ea"/>
              </a:rPr>
              <a:t> </a:t>
            </a:r>
            <a:r>
              <a:rPr lang="zh-CN" altLang="en-US" sz="2000" dirty="0">
                <a:latin typeface="微软雅黑" panose="020B0503020204020204" pitchFamily="34" charset="-122"/>
                <a:ea typeface="微软雅黑" panose="020B0503020204020204" pitchFamily="34" charset="-122"/>
                <a:cs typeface="+mn-ea"/>
              </a:rPr>
              <a:t>为栅格容器组件，需与栅格子组件 </a:t>
            </a:r>
            <a:r>
              <a:rPr lang="en-US" altLang="zh-CN" sz="2000" dirty="0" err="1">
                <a:latin typeface="微软雅黑" panose="020B0503020204020204" pitchFamily="34" charset="-122"/>
                <a:ea typeface="微软雅黑" panose="020B0503020204020204" pitchFamily="34" charset="-122"/>
                <a:cs typeface="+mn-ea"/>
              </a:rPr>
              <a:t>GridCol</a:t>
            </a:r>
            <a:r>
              <a:rPr lang="zh-CN" altLang="en-US" sz="2000" dirty="0">
                <a:latin typeface="微软雅黑" panose="020B0503020204020204" pitchFamily="34" charset="-122"/>
                <a:ea typeface="微软雅黑" panose="020B0503020204020204" pitchFamily="34" charset="-122"/>
                <a:cs typeface="+mn-ea"/>
              </a:rPr>
              <a:t>在栅格布局场景中联合使用。</a:t>
            </a:r>
            <a:endParaRPr lang="en-US" altLang="zh-CN" sz="2000" dirty="0">
              <a:latin typeface="微软雅黑" panose="020B0503020204020204" pitchFamily="34" charset="-122"/>
              <a:ea typeface="微软雅黑" panose="020B0503020204020204" pitchFamily="34" charset="-122"/>
              <a:cs typeface="+mn-ea"/>
            </a:endParaRPr>
          </a:p>
          <a:p>
            <a:pPr marL="342900" indent="-342900">
              <a:lnSpc>
                <a:spcPct val="150000"/>
              </a:lnSpc>
              <a:spcBef>
                <a:spcPts val="2400"/>
              </a:spcBef>
              <a:buFont typeface="Wingdings" panose="05000000000000000000" pitchFamily="2" charset="2"/>
              <a:buChar char="l"/>
            </a:pPr>
            <a:r>
              <a:rPr lang="en-US" altLang="zh-CN" sz="2000" dirty="0" err="1">
                <a:solidFill>
                  <a:srgbClr val="008DF6"/>
                </a:solidFill>
                <a:latin typeface="微软雅黑" panose="020B0503020204020204" pitchFamily="34" charset="-122"/>
                <a:ea typeface="微软雅黑" panose="020B0503020204020204" pitchFamily="34" charset="-122"/>
                <a:cs typeface="+mn-ea"/>
              </a:rPr>
              <a:t>GridRow</a:t>
            </a:r>
            <a:r>
              <a:rPr lang="zh-CN" altLang="en-US" sz="2000" dirty="0">
                <a:solidFill>
                  <a:srgbClr val="008DF6"/>
                </a:solidFill>
                <a:latin typeface="微软雅黑" panose="020B0503020204020204" pitchFamily="34" charset="-122"/>
                <a:ea typeface="微软雅黑" panose="020B0503020204020204" pitchFamily="34" charset="-122"/>
                <a:cs typeface="+mn-ea"/>
              </a:rPr>
              <a:t>构造参数：</a:t>
            </a:r>
            <a:r>
              <a:rPr lang="zh-CN" altLang="en-US" sz="1800" dirty="0">
                <a:latin typeface="微软雅黑" panose="020B0503020204020204" pitchFamily="34" charset="-122"/>
                <a:ea typeface="微软雅黑" panose="020B0503020204020204" pitchFamily="34" charset="-122"/>
                <a:cs typeface="+mn-ea"/>
              </a:rPr>
              <a:t>参数 </a:t>
            </a:r>
            <a:r>
              <a:rPr lang="en-US" altLang="zh-CN" sz="1800" dirty="0" err="1">
                <a:latin typeface="微软雅黑" panose="020B0503020204020204" pitchFamily="34" charset="-122"/>
                <a:ea typeface="微软雅黑" panose="020B0503020204020204" pitchFamily="34" charset="-122"/>
                <a:cs typeface="+mn-ea"/>
              </a:rPr>
              <a:t>GridRowOptions</a:t>
            </a:r>
            <a:r>
              <a:rPr lang="en-US" altLang="zh-CN" sz="1800" dirty="0">
                <a:latin typeface="微软雅黑" panose="020B0503020204020204" pitchFamily="34" charset="-122"/>
                <a:ea typeface="微软雅黑" panose="020B0503020204020204" pitchFamily="34" charset="-122"/>
                <a:cs typeface="+mn-ea"/>
              </a:rPr>
              <a:t> </a:t>
            </a:r>
            <a:r>
              <a:rPr lang="zh-CN" altLang="en-US" sz="1800" dirty="0">
                <a:latin typeface="微软雅黑" panose="020B0503020204020204" pitchFamily="34" charset="-122"/>
                <a:ea typeface="微软雅黑" panose="020B0503020204020204" pitchFamily="34" charset="-122"/>
                <a:cs typeface="+mn-ea"/>
              </a:rPr>
              <a:t>属性如下</a:t>
            </a:r>
            <a:r>
              <a:rPr lang="en-US" altLang="zh-CN" sz="1800" dirty="0">
                <a:latin typeface="微软雅黑" panose="020B0503020204020204" pitchFamily="34" charset="-122"/>
                <a:ea typeface="微软雅黑" panose="020B0503020204020204" pitchFamily="34" charset="-122"/>
                <a:cs typeface="+mn-ea"/>
              </a:rPr>
              <a:t> </a:t>
            </a:r>
            <a:r>
              <a:rPr lang="zh-CN" altLang="en-US" sz="1800" dirty="0">
                <a:latin typeface="微软雅黑" panose="020B0503020204020204" pitchFamily="34" charset="-122"/>
                <a:ea typeface="微软雅黑" panose="020B0503020204020204" pitchFamily="34" charset="-122"/>
                <a:cs typeface="+mn-ea"/>
              </a:rPr>
              <a:t>。</a:t>
            </a:r>
          </a:p>
          <a:p>
            <a:pPr marL="952500" lvl="1" indent="-342900">
              <a:lnSpc>
                <a:spcPct val="150000"/>
              </a:lnSpc>
              <a:spcBef>
                <a:spcPts val="800"/>
              </a:spcBef>
              <a:buFont typeface="Wingdings" panose="05000000000000000000" pitchFamily="2" charset="2"/>
              <a:buChar char="Ø"/>
            </a:pPr>
            <a:r>
              <a:rPr lang="en-US" altLang="zh-CN" sz="2000" dirty="0">
                <a:solidFill>
                  <a:srgbClr val="008DF6"/>
                </a:solidFill>
                <a:latin typeface="微软雅黑" panose="020B0503020204020204" pitchFamily="34" charset="-122"/>
                <a:ea typeface="微软雅黑" panose="020B0503020204020204" pitchFamily="34" charset="-122"/>
                <a:cs typeface="+mn-ea"/>
              </a:rPr>
              <a:t>gutter: </a:t>
            </a:r>
            <a:r>
              <a:rPr lang="zh-CN" altLang="en-US" sz="2000" dirty="0"/>
              <a:t>设置子元素之间的间距，决定内容间的紧密程度</a:t>
            </a:r>
            <a:endParaRPr lang="en-US" altLang="zh-CN" sz="2000" dirty="0"/>
          </a:p>
          <a:p>
            <a:pPr marL="952500" lvl="1" indent="-342900">
              <a:lnSpc>
                <a:spcPct val="150000"/>
              </a:lnSpc>
              <a:spcBef>
                <a:spcPts val="800"/>
              </a:spcBef>
              <a:buFont typeface="Wingdings" panose="05000000000000000000" pitchFamily="2" charset="2"/>
              <a:buChar char="Ø"/>
            </a:pPr>
            <a:r>
              <a:rPr lang="en-US" altLang="zh-CN" sz="2000" dirty="0">
                <a:solidFill>
                  <a:srgbClr val="008DF6"/>
                </a:solidFill>
                <a:latin typeface="微软雅黑" panose="020B0503020204020204" pitchFamily="34" charset="-122"/>
                <a:ea typeface="微软雅黑" panose="020B0503020204020204" pitchFamily="34" charset="-122"/>
                <a:cs typeface="+mn-ea"/>
              </a:rPr>
              <a:t>columns: </a:t>
            </a:r>
            <a:r>
              <a:rPr lang="zh-CN" altLang="en-US" sz="2000" dirty="0"/>
              <a:t>栅格布局的主要定位工具，设置栅格布局的总列数，默认为 </a:t>
            </a:r>
            <a:r>
              <a:rPr lang="en-US" altLang="zh-CN" sz="2000" dirty="0"/>
              <a:t>12</a:t>
            </a:r>
            <a:r>
              <a:rPr lang="zh-CN" altLang="en-US" sz="2000" dirty="0"/>
              <a:t>。</a:t>
            </a:r>
            <a:endParaRPr lang="en-US" altLang="zh-CN" sz="2000" dirty="0"/>
          </a:p>
          <a:p>
            <a:pPr marL="952500" lvl="1" indent="-342900">
              <a:lnSpc>
                <a:spcPct val="150000"/>
              </a:lnSpc>
              <a:spcBef>
                <a:spcPts val="800"/>
              </a:spcBef>
              <a:buFont typeface="Wingdings" panose="05000000000000000000" pitchFamily="2" charset="2"/>
              <a:buChar char="Ø"/>
            </a:pPr>
            <a:r>
              <a:rPr lang="en-US" altLang="zh-CN" sz="2000" dirty="0"/>
              <a:t> </a:t>
            </a:r>
            <a:r>
              <a:rPr lang="en-US" altLang="zh-CN" sz="2000" dirty="0">
                <a:solidFill>
                  <a:srgbClr val="008DF6"/>
                </a:solidFill>
                <a:latin typeface="微软雅黑" panose="020B0503020204020204" pitchFamily="34" charset="-122"/>
                <a:ea typeface="微软雅黑" panose="020B0503020204020204" pitchFamily="34" charset="-122"/>
                <a:cs typeface="+mn-ea"/>
              </a:rPr>
              <a:t>Breakpoints: </a:t>
            </a:r>
            <a:r>
              <a:rPr lang="zh-CN" altLang="en-US" sz="2000" dirty="0"/>
              <a:t>以设备宽度为基准，将应用宽度分成了几个不同的区间，即不同的断点。</a:t>
            </a:r>
            <a:endParaRPr lang="en-US" altLang="zh-CN" sz="2000" dirty="0"/>
          </a:p>
          <a:p>
            <a:pPr marL="952500" lvl="1" indent="-342900">
              <a:lnSpc>
                <a:spcPct val="150000"/>
              </a:lnSpc>
              <a:spcBef>
                <a:spcPts val="800"/>
              </a:spcBef>
              <a:buFont typeface="Wingdings" panose="05000000000000000000" pitchFamily="2" charset="2"/>
              <a:buChar char="Ø"/>
            </a:pPr>
            <a:r>
              <a:rPr lang="en-US" altLang="zh-CN" sz="2000" dirty="0">
                <a:solidFill>
                  <a:srgbClr val="008DF6"/>
                </a:solidFill>
                <a:latin typeface="微软雅黑" panose="020B0503020204020204" pitchFamily="34" charset="-122"/>
                <a:ea typeface="微软雅黑" panose="020B0503020204020204" pitchFamily="34" charset="-122"/>
                <a:cs typeface="+mn-ea"/>
              </a:rPr>
              <a:t>direction: </a:t>
            </a:r>
            <a:r>
              <a:rPr lang="zh-CN" altLang="en-US" sz="2000" dirty="0"/>
              <a:t>设置栅格子组件在栅格容器中的排列方向。</a:t>
            </a:r>
            <a:endParaRPr lang="en-US" altLang="zh-CN" sz="2000" dirty="0"/>
          </a:p>
        </p:txBody>
      </p:sp>
    </p:spTree>
    <p:extLst>
      <p:ext uri="{BB962C8B-B14F-4D97-AF65-F5344CB8AC3E}">
        <p14:creationId xmlns:p14="http://schemas.microsoft.com/office/powerpoint/2010/main" val="92543132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b="1" dirty="0" err="1">
                <a:solidFill>
                  <a:srgbClr val="595959"/>
                </a:solidFill>
                <a:latin typeface="微软雅黑" panose="020B0503020204020204" pitchFamily="34" charset="-122"/>
                <a:ea typeface="微软雅黑" panose="020B0503020204020204" pitchFamily="34" charset="-122"/>
                <a:sym typeface="宋体" panose="02010600030101010101" pitchFamily="2" charset="-122"/>
              </a:rPr>
              <a:t>GridRow&amp;GridCol</a:t>
            </a:r>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（栅格布局）</a:t>
            </a:r>
          </a:p>
        </p:txBody>
      </p:sp>
      <p:sp>
        <p:nvSpPr>
          <p:cNvPr id="5" name="文本框 4"/>
          <p:cNvSpPr txBox="1"/>
          <p:nvPr/>
        </p:nvSpPr>
        <p:spPr>
          <a:xfrm>
            <a:off x="622598" y="4653930"/>
            <a:ext cx="184731" cy="276999"/>
          </a:xfrm>
          <a:prstGeom prst="rect">
            <a:avLst/>
          </a:prstGeom>
          <a:noFill/>
        </p:spPr>
        <p:txBody>
          <a:bodyPr wrap="none" rtlCol="0">
            <a:spAutoFit/>
          </a:bodyPr>
          <a:lstStyle/>
          <a:p>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6" name="矩形 6">
            <a:extLst>
              <a:ext uri="{FF2B5EF4-FFF2-40B4-BE49-F238E27FC236}">
                <a16:creationId xmlns:a16="http://schemas.microsoft.com/office/drawing/2014/main" id="{2B77D47F-41F1-4081-BE6B-C8A463966BCC}"/>
              </a:ext>
            </a:extLst>
          </p:cNvPr>
          <p:cNvSpPr>
            <a:spLocks noChangeArrowheads="1"/>
          </p:cNvSpPr>
          <p:nvPr/>
        </p:nvSpPr>
        <p:spPr bwMode="auto">
          <a:xfrm>
            <a:off x="1342677" y="1125538"/>
            <a:ext cx="9721081" cy="4711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indent="-342900">
              <a:lnSpc>
                <a:spcPct val="150000"/>
              </a:lnSpc>
              <a:spcBef>
                <a:spcPts val="2400"/>
              </a:spcBef>
              <a:buFont typeface="Wingdings" panose="05000000000000000000" pitchFamily="2" charset="2"/>
              <a:buChar char="l"/>
            </a:pPr>
            <a:r>
              <a:rPr lang="zh-CN" altLang="en-US" sz="2000" dirty="0">
                <a:solidFill>
                  <a:srgbClr val="008DF6"/>
                </a:solidFill>
                <a:latin typeface="微软雅黑" panose="020B0503020204020204" pitchFamily="34" charset="-122"/>
                <a:ea typeface="微软雅黑" panose="020B0503020204020204" pitchFamily="34" charset="-122"/>
                <a:cs typeface="+mn-ea"/>
              </a:rPr>
              <a:t>栅格系统断点</a:t>
            </a:r>
            <a:r>
              <a:rPr lang="zh-CN" altLang="en-US" sz="1800" dirty="0">
                <a:latin typeface="微软雅黑" panose="020B0503020204020204" pitchFamily="34" charset="-122"/>
                <a:ea typeface="微软雅黑" panose="020B0503020204020204" pitchFamily="34" charset="-122"/>
                <a:cs typeface="+mn-ea"/>
              </a:rPr>
              <a:t>：</a:t>
            </a:r>
            <a:r>
              <a:rPr lang="zh-CN" altLang="en-US" sz="2000" dirty="0"/>
              <a:t>断点以设备宽度为基准，将应用宽度分成了几个不同的区间，即不同的断点。</a:t>
            </a:r>
          </a:p>
          <a:p>
            <a:pPr marL="952500" lvl="1" indent="-342900">
              <a:lnSpc>
                <a:spcPct val="150000"/>
              </a:lnSpc>
              <a:spcBef>
                <a:spcPts val="800"/>
              </a:spcBef>
              <a:buFont typeface="Wingdings" panose="05000000000000000000" pitchFamily="2" charset="2"/>
              <a:buChar char="Ø"/>
            </a:pPr>
            <a:r>
              <a:rPr lang="zh-CN" altLang="en-US" sz="2000" dirty="0"/>
              <a:t>开发者根据需求在不同的区间实现不同的页面布局效果。</a:t>
            </a:r>
          </a:p>
          <a:p>
            <a:pPr marL="952500" lvl="1" indent="-342900">
              <a:lnSpc>
                <a:spcPct val="150000"/>
              </a:lnSpc>
              <a:spcBef>
                <a:spcPts val="800"/>
              </a:spcBef>
              <a:buFont typeface="Wingdings" panose="05000000000000000000" pitchFamily="2" charset="2"/>
              <a:buChar char="Ø"/>
            </a:pPr>
            <a:r>
              <a:rPr lang="zh-CN" altLang="en-US" sz="2000" dirty="0"/>
              <a:t>栅格系统默认断点将设备宽度分为</a:t>
            </a:r>
            <a:r>
              <a:rPr lang="en-US" altLang="zh-CN" sz="2000" dirty="0" err="1"/>
              <a:t>xs</a:t>
            </a:r>
            <a:r>
              <a:rPr lang="zh-CN" altLang="en-US" sz="2000" dirty="0"/>
              <a:t>、</a:t>
            </a:r>
            <a:r>
              <a:rPr lang="en-US" altLang="zh-CN" sz="2000" dirty="0" err="1"/>
              <a:t>sm</a:t>
            </a:r>
            <a:r>
              <a:rPr lang="zh-CN" altLang="en-US" sz="2000" dirty="0"/>
              <a:t>、</a:t>
            </a:r>
            <a:r>
              <a:rPr lang="en-US" altLang="zh-CN" sz="2000" dirty="0"/>
              <a:t>md</a:t>
            </a:r>
            <a:r>
              <a:rPr lang="zh-CN" altLang="en-US" sz="2000" dirty="0"/>
              <a:t>、</a:t>
            </a:r>
            <a:r>
              <a:rPr lang="en-US" altLang="zh-CN" sz="2000" dirty="0"/>
              <a:t>lg </a:t>
            </a:r>
            <a:r>
              <a:rPr lang="zh-CN" altLang="en-US" sz="2000" dirty="0"/>
              <a:t>四类。</a:t>
            </a:r>
          </a:p>
          <a:p>
            <a:pPr marL="952500" lvl="1" indent="-342900">
              <a:lnSpc>
                <a:spcPct val="150000"/>
              </a:lnSpc>
              <a:spcBef>
                <a:spcPts val="800"/>
              </a:spcBef>
              <a:buFont typeface="Wingdings" panose="05000000000000000000" pitchFamily="2" charset="2"/>
              <a:buChar char="Ø"/>
            </a:pPr>
            <a:r>
              <a:rPr lang="zh-CN" altLang="en-US" sz="2000" dirty="0"/>
              <a:t>在 </a:t>
            </a:r>
            <a:r>
              <a:rPr lang="en-US" altLang="zh-CN" sz="2000" dirty="0" err="1"/>
              <a:t>GridRow</a:t>
            </a:r>
            <a:r>
              <a:rPr lang="zh-CN" altLang="en-US" sz="2000" dirty="0"/>
              <a:t>新栅格组件中，允许开发者使用 </a:t>
            </a:r>
            <a:r>
              <a:rPr lang="en-US" altLang="zh-CN" sz="2000" dirty="0"/>
              <a:t>Breakpoints </a:t>
            </a:r>
            <a:r>
              <a:rPr lang="zh-CN" altLang="en-US" sz="2000" dirty="0"/>
              <a:t>自定义修改断点的取值范围，最多支持</a:t>
            </a:r>
            <a:r>
              <a:rPr lang="en-US" altLang="zh-CN" sz="2000" dirty="0"/>
              <a:t>6</a:t>
            </a:r>
            <a:r>
              <a:rPr lang="zh-CN" altLang="en-US" sz="2000" dirty="0"/>
              <a:t>个断点。</a:t>
            </a:r>
            <a:endParaRPr lang="en-US" altLang="zh-CN" sz="2000" dirty="0"/>
          </a:p>
          <a:p>
            <a:pPr marL="952500" lvl="1" indent="-342900">
              <a:lnSpc>
                <a:spcPct val="150000"/>
              </a:lnSpc>
              <a:spcBef>
                <a:spcPts val="800"/>
              </a:spcBef>
              <a:buFont typeface="Wingdings" panose="05000000000000000000" pitchFamily="2" charset="2"/>
              <a:buChar char="Ø"/>
            </a:pPr>
            <a:r>
              <a:rPr lang="zh-CN" altLang="en-US" sz="2000" dirty="0"/>
              <a:t>除了默认的四个断点外，还可以启用</a:t>
            </a:r>
            <a:r>
              <a:rPr lang="en-US" altLang="zh-CN" sz="2000" dirty="0"/>
              <a:t>x1</a:t>
            </a:r>
            <a:r>
              <a:rPr lang="zh-CN" altLang="en-US" sz="2000" dirty="0"/>
              <a:t>、</a:t>
            </a:r>
            <a:r>
              <a:rPr lang="en-US" altLang="zh-CN" sz="2000" dirty="0"/>
              <a:t>xx1</a:t>
            </a:r>
            <a:r>
              <a:rPr lang="zh-CN" altLang="en-US" sz="2000" dirty="0"/>
              <a:t>两个断点支持六种不同尺寸</a:t>
            </a:r>
            <a:r>
              <a:rPr lang="en-US" altLang="zh-CN" sz="2000" dirty="0"/>
              <a:t>(</a:t>
            </a:r>
            <a:r>
              <a:rPr lang="en-US" altLang="zh-CN" sz="2000" dirty="0" err="1"/>
              <a:t>xs</a:t>
            </a:r>
            <a:r>
              <a:rPr lang="en-US" altLang="zh-CN" sz="2000" dirty="0"/>
              <a:t>, </a:t>
            </a:r>
            <a:r>
              <a:rPr lang="en-US" altLang="zh-CN" sz="2000" dirty="0" err="1"/>
              <a:t>sm</a:t>
            </a:r>
            <a:r>
              <a:rPr lang="en-US" altLang="zh-CN" sz="2000" dirty="0"/>
              <a:t>, md, lg, xl, </a:t>
            </a:r>
            <a:r>
              <a:rPr lang="en-US" altLang="zh-CN" sz="2000" dirty="0" err="1"/>
              <a:t>xxl</a:t>
            </a:r>
            <a:r>
              <a:rPr lang="en-US" altLang="zh-CN" sz="2000" dirty="0"/>
              <a:t>)</a:t>
            </a:r>
            <a:r>
              <a:rPr lang="zh-CN" altLang="en-US" sz="2000" dirty="0"/>
              <a:t>设备的布局设置。</a:t>
            </a:r>
            <a:endParaRPr lang="en-US" altLang="zh-CN" sz="2000" dirty="0"/>
          </a:p>
          <a:p>
            <a:pPr lvl="1">
              <a:lnSpc>
                <a:spcPct val="150000"/>
              </a:lnSpc>
              <a:spcBef>
                <a:spcPts val="800"/>
              </a:spcBef>
            </a:pPr>
            <a:endParaRPr lang="en-US" altLang="zh-CN" sz="2000" dirty="0"/>
          </a:p>
        </p:txBody>
      </p:sp>
    </p:spTree>
    <p:extLst>
      <p:ext uri="{BB962C8B-B14F-4D97-AF65-F5344CB8AC3E}">
        <p14:creationId xmlns:p14="http://schemas.microsoft.com/office/powerpoint/2010/main" val="293178530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b="1" dirty="0" err="1">
                <a:solidFill>
                  <a:srgbClr val="595959"/>
                </a:solidFill>
                <a:latin typeface="微软雅黑" panose="020B0503020204020204" pitchFamily="34" charset="-122"/>
                <a:ea typeface="微软雅黑" panose="020B0503020204020204" pitchFamily="34" charset="-122"/>
                <a:sym typeface="宋体" panose="02010600030101010101" pitchFamily="2" charset="-122"/>
              </a:rPr>
              <a:t>GridRow&amp;GridCol</a:t>
            </a:r>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（栅格布局）</a:t>
            </a:r>
          </a:p>
        </p:txBody>
      </p:sp>
      <p:sp>
        <p:nvSpPr>
          <p:cNvPr id="5" name="文本框 4"/>
          <p:cNvSpPr txBox="1"/>
          <p:nvPr/>
        </p:nvSpPr>
        <p:spPr>
          <a:xfrm>
            <a:off x="622598" y="4653930"/>
            <a:ext cx="184731" cy="276999"/>
          </a:xfrm>
          <a:prstGeom prst="rect">
            <a:avLst/>
          </a:prstGeom>
          <a:noFill/>
        </p:spPr>
        <p:txBody>
          <a:bodyPr wrap="none" rtlCol="0">
            <a:spAutoFit/>
          </a:bodyPr>
          <a:lstStyle/>
          <a:p>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6" name="矩形 6">
            <a:extLst>
              <a:ext uri="{FF2B5EF4-FFF2-40B4-BE49-F238E27FC236}">
                <a16:creationId xmlns:a16="http://schemas.microsoft.com/office/drawing/2014/main" id="{2B77D47F-41F1-4081-BE6B-C8A463966BCC}"/>
              </a:ext>
            </a:extLst>
          </p:cNvPr>
          <p:cNvSpPr>
            <a:spLocks noChangeArrowheads="1"/>
          </p:cNvSpPr>
          <p:nvPr/>
        </p:nvSpPr>
        <p:spPr bwMode="auto">
          <a:xfrm>
            <a:off x="1342677" y="1125538"/>
            <a:ext cx="9721081" cy="504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indent="-342900">
              <a:lnSpc>
                <a:spcPct val="150000"/>
              </a:lnSpc>
              <a:spcBef>
                <a:spcPts val="2400"/>
              </a:spcBef>
              <a:buFont typeface="Wingdings" panose="05000000000000000000" pitchFamily="2" charset="2"/>
              <a:buChar char="l"/>
            </a:pPr>
            <a:r>
              <a:rPr lang="zh-CN" altLang="en-US" sz="2000" dirty="0">
                <a:solidFill>
                  <a:srgbClr val="008DF6"/>
                </a:solidFill>
                <a:latin typeface="微软雅黑" panose="020B0503020204020204" pitchFamily="34" charset="-122"/>
                <a:ea typeface="微软雅黑" panose="020B0503020204020204" pitchFamily="34" charset="-122"/>
                <a:cs typeface="+mn-ea"/>
              </a:rPr>
              <a:t>栅格系统断点</a:t>
            </a:r>
            <a:endParaRPr lang="zh-CN" altLang="en-US" sz="2000" dirty="0"/>
          </a:p>
        </p:txBody>
      </p:sp>
      <p:pic>
        <p:nvPicPr>
          <p:cNvPr id="2" name="图片 1">
            <a:extLst>
              <a:ext uri="{FF2B5EF4-FFF2-40B4-BE49-F238E27FC236}">
                <a16:creationId xmlns:a16="http://schemas.microsoft.com/office/drawing/2014/main" id="{8A2F1F63-8416-4E67-BFD7-CDC1077102FE}"/>
              </a:ext>
            </a:extLst>
          </p:cNvPr>
          <p:cNvPicPr>
            <a:picLocks noChangeAspect="1"/>
          </p:cNvPicPr>
          <p:nvPr/>
        </p:nvPicPr>
        <p:blipFill>
          <a:blip r:embed="rId3"/>
          <a:stretch>
            <a:fillRect/>
          </a:stretch>
        </p:blipFill>
        <p:spPr>
          <a:xfrm>
            <a:off x="1000617" y="2046301"/>
            <a:ext cx="10405200" cy="2607629"/>
          </a:xfrm>
          <a:prstGeom prst="rect">
            <a:avLst/>
          </a:prstGeom>
        </p:spPr>
      </p:pic>
      <p:sp>
        <p:nvSpPr>
          <p:cNvPr id="3" name="矩形 2">
            <a:extLst>
              <a:ext uri="{FF2B5EF4-FFF2-40B4-BE49-F238E27FC236}">
                <a16:creationId xmlns:a16="http://schemas.microsoft.com/office/drawing/2014/main" id="{C116FC84-2778-4B96-9FD1-CC846515D6F9}"/>
              </a:ext>
            </a:extLst>
          </p:cNvPr>
          <p:cNvSpPr/>
          <p:nvPr/>
        </p:nvSpPr>
        <p:spPr>
          <a:xfrm>
            <a:off x="1486694" y="5333940"/>
            <a:ext cx="8640960" cy="400110"/>
          </a:xfrm>
          <a:prstGeom prst="rect">
            <a:avLst/>
          </a:prstGeom>
        </p:spPr>
        <p:txBody>
          <a:bodyPr wrap="square">
            <a:spAutoFit/>
          </a:bodyPr>
          <a:lstStyle/>
          <a:p>
            <a:pPr marL="342900" indent="-342900">
              <a:buFont typeface="Wingdings" panose="05000000000000000000" pitchFamily="2" charset="2"/>
              <a:buChar char="u"/>
            </a:pPr>
            <a:r>
              <a:rPr lang="zh-CN" altLang="en-US" sz="2000" dirty="0">
                <a:solidFill>
                  <a:srgbClr val="FF0000"/>
                </a:solidFill>
                <a:latin typeface="微软雅黑" panose="020B0503020204020204" pitchFamily="34" charset="-122"/>
                <a:ea typeface="微软雅黑" panose="020B0503020204020204" pitchFamily="34" charset="-122"/>
                <a:cs typeface="+mn-ea"/>
              </a:rPr>
              <a:t>注意：</a:t>
            </a:r>
            <a:r>
              <a:rPr lang="zh-CN" altLang="en-US" sz="2000" dirty="0">
                <a:latin typeface="微软雅黑" panose="020B0503020204020204" pitchFamily="34" charset="-122"/>
                <a:ea typeface="微软雅黑" panose="020B0503020204020204" pitchFamily="34" charset="-122"/>
                <a:cs typeface="+mn-ea"/>
              </a:rPr>
              <a:t>栅格子组件，必须作为栅格容器组件</a:t>
            </a:r>
            <a:r>
              <a:rPr lang="en-US" altLang="zh-CN" sz="2000" dirty="0">
                <a:latin typeface="微软雅黑" panose="020B0503020204020204" pitchFamily="34" charset="-122"/>
                <a:ea typeface="微软雅黑" panose="020B0503020204020204" pitchFamily="34" charset="-122"/>
                <a:cs typeface="+mn-ea"/>
              </a:rPr>
              <a:t>(</a:t>
            </a:r>
            <a:r>
              <a:rPr lang="en-US" altLang="zh-CN" sz="2000" dirty="0" err="1">
                <a:latin typeface="微软雅黑" panose="020B0503020204020204" pitchFamily="34" charset="-122"/>
                <a:ea typeface="微软雅黑" panose="020B0503020204020204" pitchFamily="34" charset="-122"/>
                <a:cs typeface="+mn-ea"/>
              </a:rPr>
              <a:t>GridRow</a:t>
            </a:r>
            <a:r>
              <a:rPr lang="en-US" altLang="zh-CN" sz="2000" dirty="0">
                <a:latin typeface="微软雅黑" panose="020B0503020204020204" pitchFamily="34" charset="-122"/>
                <a:ea typeface="微软雅黑" panose="020B0503020204020204" pitchFamily="34" charset="-122"/>
                <a:cs typeface="+mn-ea"/>
              </a:rPr>
              <a:t>)</a:t>
            </a:r>
            <a:r>
              <a:rPr lang="zh-CN" altLang="en-US" sz="2000" dirty="0">
                <a:latin typeface="微软雅黑" panose="020B0503020204020204" pitchFamily="34" charset="-122"/>
                <a:ea typeface="微软雅黑" panose="020B0503020204020204" pitchFamily="34" charset="-122"/>
                <a:cs typeface="+mn-ea"/>
              </a:rPr>
              <a:t>的子组件使用。</a:t>
            </a:r>
          </a:p>
        </p:txBody>
      </p:sp>
    </p:spTree>
    <p:extLst>
      <p:ext uri="{BB962C8B-B14F-4D97-AF65-F5344CB8AC3E}">
        <p14:creationId xmlns:p14="http://schemas.microsoft.com/office/powerpoint/2010/main" val="407365372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b="1" dirty="0" err="1">
                <a:solidFill>
                  <a:srgbClr val="595959"/>
                </a:solidFill>
                <a:latin typeface="微软雅黑" panose="020B0503020204020204" pitchFamily="34" charset="-122"/>
                <a:ea typeface="微软雅黑" panose="020B0503020204020204" pitchFamily="34" charset="-122"/>
                <a:sym typeface="宋体" panose="02010600030101010101" pitchFamily="2" charset="-122"/>
              </a:rPr>
              <a:t>Grid&amp;Griditem</a:t>
            </a:r>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（网格布局）</a:t>
            </a:r>
          </a:p>
        </p:txBody>
      </p:sp>
      <p:sp>
        <p:nvSpPr>
          <p:cNvPr id="5" name="文本框 4"/>
          <p:cNvSpPr txBox="1"/>
          <p:nvPr/>
        </p:nvSpPr>
        <p:spPr>
          <a:xfrm>
            <a:off x="622598" y="4653930"/>
            <a:ext cx="184731" cy="276999"/>
          </a:xfrm>
          <a:prstGeom prst="rect">
            <a:avLst/>
          </a:prstGeom>
          <a:noFill/>
        </p:spPr>
        <p:txBody>
          <a:bodyPr wrap="none" rtlCol="0">
            <a:spAutoFit/>
          </a:bodyPr>
          <a:lstStyle/>
          <a:p>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6" name="矩形 6">
            <a:extLst>
              <a:ext uri="{FF2B5EF4-FFF2-40B4-BE49-F238E27FC236}">
                <a16:creationId xmlns:a16="http://schemas.microsoft.com/office/drawing/2014/main" id="{2B77D47F-41F1-4081-BE6B-C8A463966BCC}"/>
              </a:ext>
            </a:extLst>
          </p:cNvPr>
          <p:cNvSpPr>
            <a:spLocks noChangeArrowheads="1"/>
          </p:cNvSpPr>
          <p:nvPr/>
        </p:nvSpPr>
        <p:spPr bwMode="auto">
          <a:xfrm>
            <a:off x="1126654" y="1125538"/>
            <a:ext cx="10441161" cy="21923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indent="-342900">
              <a:lnSpc>
                <a:spcPct val="150000"/>
              </a:lnSpc>
              <a:spcBef>
                <a:spcPts val="2400"/>
              </a:spcBef>
              <a:buFont typeface="Wingdings" panose="05000000000000000000" pitchFamily="2" charset="2"/>
              <a:buChar char="l"/>
            </a:pPr>
            <a:r>
              <a:rPr lang="en-US" altLang="zh-CN" sz="2000" dirty="0" err="1">
                <a:solidFill>
                  <a:srgbClr val="008DF6"/>
                </a:solidFill>
                <a:latin typeface="微软雅黑" panose="020B0503020204020204" pitchFamily="34" charset="-122"/>
                <a:ea typeface="微软雅黑" panose="020B0503020204020204" pitchFamily="34" charset="-122"/>
                <a:cs typeface="+mn-ea"/>
              </a:rPr>
              <a:t>GridCol</a:t>
            </a:r>
            <a:r>
              <a:rPr lang="en-US" altLang="zh-CN" sz="2000" dirty="0">
                <a:solidFill>
                  <a:srgbClr val="008DF6"/>
                </a:solidFill>
                <a:latin typeface="微软雅黑" panose="020B0503020204020204" pitchFamily="34" charset="-122"/>
                <a:ea typeface="微软雅黑" panose="020B0503020204020204" pitchFamily="34" charset="-122"/>
                <a:cs typeface="+mn-ea"/>
              </a:rPr>
              <a:t> </a:t>
            </a:r>
            <a:r>
              <a:rPr lang="zh-CN" altLang="en-US" sz="2000" dirty="0">
                <a:solidFill>
                  <a:srgbClr val="008DF6"/>
                </a:solidFill>
                <a:latin typeface="微软雅黑" panose="020B0503020204020204" pitchFamily="34" charset="-122"/>
                <a:ea typeface="微软雅黑" panose="020B0503020204020204" pitchFamily="34" charset="-122"/>
                <a:cs typeface="+mn-ea"/>
              </a:rPr>
              <a:t>属性介绍：</a:t>
            </a:r>
            <a:endParaRPr lang="zh-CN" altLang="en-US" sz="1800" dirty="0">
              <a:latin typeface="微软雅黑" panose="020B0503020204020204" pitchFamily="34" charset="-122"/>
              <a:ea typeface="微软雅黑" panose="020B0503020204020204" pitchFamily="34" charset="-122"/>
              <a:cs typeface="+mn-ea"/>
            </a:endParaRPr>
          </a:p>
          <a:p>
            <a:pPr marL="952500" lvl="1" indent="-342900">
              <a:lnSpc>
                <a:spcPct val="150000"/>
              </a:lnSpc>
              <a:spcBef>
                <a:spcPts val="800"/>
              </a:spcBef>
              <a:buFont typeface="Wingdings" panose="05000000000000000000" pitchFamily="2" charset="2"/>
              <a:buChar char="Ø"/>
            </a:pPr>
            <a:r>
              <a:rPr lang="en-US" altLang="zh-CN" sz="2000" dirty="0">
                <a:solidFill>
                  <a:srgbClr val="008DF6"/>
                </a:solidFill>
                <a:latin typeface="微软雅黑" panose="020B0503020204020204" pitchFamily="34" charset="-122"/>
                <a:ea typeface="微软雅黑" panose="020B0503020204020204" pitchFamily="34" charset="-122"/>
                <a:cs typeface="+mn-ea"/>
              </a:rPr>
              <a:t>span: </a:t>
            </a:r>
            <a:r>
              <a:rPr lang="zh-CN" altLang="en-US" sz="1800" dirty="0">
                <a:latin typeface="微软雅黑" panose="020B0503020204020204" pitchFamily="34" charset="-122"/>
                <a:ea typeface="微软雅黑" panose="020B0503020204020204" pitchFamily="34" charset="-122"/>
                <a:cs typeface="+mn-ea"/>
              </a:rPr>
              <a:t>占用列数。</a:t>
            </a:r>
            <a:r>
              <a:rPr lang="en-US" altLang="zh-CN" sz="1800" dirty="0">
                <a:latin typeface="微软雅黑" panose="020B0503020204020204" pitchFamily="34" charset="-122"/>
                <a:ea typeface="微软雅黑" panose="020B0503020204020204" pitchFamily="34" charset="-122"/>
                <a:cs typeface="+mn-ea"/>
              </a:rPr>
              <a:t>span</a:t>
            </a:r>
            <a:r>
              <a:rPr lang="zh-CN" altLang="en-US" sz="1800" dirty="0">
                <a:latin typeface="微软雅黑" panose="020B0503020204020204" pitchFamily="34" charset="-122"/>
                <a:ea typeface="微软雅黑" panose="020B0503020204020204" pitchFamily="34" charset="-122"/>
                <a:cs typeface="+mn-ea"/>
              </a:rPr>
              <a:t>为</a:t>
            </a:r>
            <a:r>
              <a:rPr lang="en-US" altLang="zh-CN" sz="1800" dirty="0">
                <a:latin typeface="微软雅黑" panose="020B0503020204020204" pitchFamily="34" charset="-122"/>
                <a:ea typeface="微软雅黑" panose="020B0503020204020204" pitchFamily="34" charset="-122"/>
                <a:cs typeface="+mn-ea"/>
              </a:rPr>
              <a:t>0</a:t>
            </a:r>
            <a:r>
              <a:rPr lang="zh-CN" altLang="en-US" sz="1800" dirty="0">
                <a:latin typeface="微软雅黑" panose="020B0503020204020204" pitchFamily="34" charset="-122"/>
                <a:ea typeface="微软雅黑" panose="020B0503020204020204" pitchFamily="34" charset="-122"/>
                <a:cs typeface="+mn-ea"/>
              </a:rPr>
              <a:t>表示该元素不参与布局计算，即不会被染。默认值为</a:t>
            </a:r>
            <a:r>
              <a:rPr lang="en-US" altLang="zh-CN" sz="1800" dirty="0">
                <a:latin typeface="微软雅黑" panose="020B0503020204020204" pitchFamily="34" charset="-122"/>
                <a:ea typeface="微软雅黑" panose="020B0503020204020204" pitchFamily="34" charset="-122"/>
                <a:cs typeface="+mn-ea"/>
              </a:rPr>
              <a:t>1</a:t>
            </a:r>
            <a:r>
              <a:rPr lang="zh-CN" altLang="en-US" sz="1800" dirty="0">
                <a:latin typeface="微软雅黑" panose="020B0503020204020204" pitchFamily="34" charset="-122"/>
                <a:ea typeface="微软雅黑" panose="020B0503020204020204" pitchFamily="34" charset="-122"/>
                <a:cs typeface="+mn-ea"/>
              </a:rPr>
              <a:t>。</a:t>
            </a:r>
            <a:endParaRPr lang="en-US" altLang="zh-CN" sz="1800" dirty="0">
              <a:latin typeface="微软雅黑" panose="020B0503020204020204" pitchFamily="34" charset="-122"/>
              <a:ea typeface="微软雅黑" panose="020B0503020204020204" pitchFamily="34" charset="-122"/>
              <a:cs typeface="+mn-ea"/>
            </a:endParaRPr>
          </a:p>
          <a:p>
            <a:pPr marL="952500" lvl="1" indent="-342900">
              <a:lnSpc>
                <a:spcPct val="150000"/>
              </a:lnSpc>
              <a:spcBef>
                <a:spcPts val="800"/>
              </a:spcBef>
              <a:buFont typeface="Wingdings" panose="05000000000000000000" pitchFamily="2" charset="2"/>
              <a:buChar char="Ø"/>
            </a:pPr>
            <a:r>
              <a:rPr lang="en-US" altLang="zh-CN" sz="2000" dirty="0">
                <a:solidFill>
                  <a:srgbClr val="008DF6"/>
                </a:solidFill>
                <a:latin typeface="微软雅黑" panose="020B0503020204020204" pitchFamily="34" charset="-122"/>
                <a:ea typeface="微软雅黑" panose="020B0503020204020204" pitchFamily="34" charset="-122"/>
                <a:cs typeface="+mn-ea"/>
              </a:rPr>
              <a:t>offset: </a:t>
            </a:r>
            <a:r>
              <a:rPr lang="zh-CN" altLang="en-US" sz="1800" dirty="0">
                <a:latin typeface="微软雅黑" panose="020B0503020204020204" pitchFamily="34" charset="-122"/>
                <a:ea typeface="微软雅黑" panose="020B0503020204020204" pitchFamily="34" charset="-122"/>
                <a:cs typeface="+mn-ea"/>
              </a:rPr>
              <a:t>相对于前一个栅格子组件偏移的列数。默认值为 </a:t>
            </a:r>
            <a:r>
              <a:rPr lang="en-US" altLang="zh-CN" sz="1800" dirty="0">
                <a:latin typeface="微软雅黑" panose="020B0503020204020204" pitchFamily="34" charset="-122"/>
                <a:ea typeface="微软雅黑" panose="020B0503020204020204" pitchFamily="34" charset="-122"/>
                <a:cs typeface="+mn-ea"/>
              </a:rPr>
              <a:t>0</a:t>
            </a:r>
            <a:r>
              <a:rPr lang="zh-CN" altLang="en-US" sz="1800" dirty="0">
                <a:latin typeface="微软雅黑" panose="020B0503020204020204" pitchFamily="34" charset="-122"/>
                <a:ea typeface="微软雅黑" panose="020B0503020204020204" pitchFamily="34" charset="-122"/>
                <a:cs typeface="+mn-ea"/>
              </a:rPr>
              <a:t>。</a:t>
            </a:r>
            <a:r>
              <a:rPr lang="en-US" altLang="zh-CN" sz="1800" dirty="0">
                <a:latin typeface="微软雅黑" panose="020B0503020204020204" pitchFamily="34" charset="-122"/>
                <a:ea typeface="微软雅黑" panose="020B0503020204020204" pitchFamily="34" charset="-122"/>
                <a:cs typeface="+mn-ea"/>
              </a:rPr>
              <a:t>]</a:t>
            </a:r>
          </a:p>
          <a:p>
            <a:pPr marL="952500" lvl="1" indent="-342900">
              <a:lnSpc>
                <a:spcPct val="150000"/>
              </a:lnSpc>
              <a:spcBef>
                <a:spcPts val="800"/>
              </a:spcBef>
              <a:buFont typeface="Wingdings" panose="05000000000000000000" pitchFamily="2" charset="2"/>
              <a:buChar char="Ø"/>
            </a:pPr>
            <a:r>
              <a:rPr lang="en-US" altLang="zh-CN" sz="2000" dirty="0">
                <a:solidFill>
                  <a:srgbClr val="008DF6"/>
                </a:solidFill>
                <a:latin typeface="微软雅黑" panose="020B0503020204020204" pitchFamily="34" charset="-122"/>
                <a:ea typeface="微软雅黑" panose="020B0503020204020204" pitchFamily="34" charset="-122"/>
                <a:cs typeface="+mn-ea"/>
              </a:rPr>
              <a:t>order:</a:t>
            </a:r>
            <a:r>
              <a:rPr lang="zh-CN" altLang="en-US" sz="1800" dirty="0">
                <a:latin typeface="微软雅黑" panose="020B0503020204020204" pitchFamily="34" charset="-122"/>
                <a:ea typeface="微软雅黑" panose="020B0503020204020204" pitchFamily="34" charset="-122"/>
                <a:cs typeface="+mn-ea"/>
              </a:rPr>
              <a:t>元素的序号，根据栅格子组件的序号，从小到大对栅格子组件排序。默认值为 </a:t>
            </a:r>
            <a:r>
              <a:rPr lang="en-US" altLang="zh-CN" sz="1800" dirty="0">
                <a:latin typeface="微软雅黑" panose="020B0503020204020204" pitchFamily="34" charset="-122"/>
                <a:ea typeface="微软雅黑" panose="020B0503020204020204" pitchFamily="34" charset="-122"/>
                <a:cs typeface="+mn-ea"/>
              </a:rPr>
              <a:t>0</a:t>
            </a:r>
            <a:r>
              <a:rPr lang="zh-CN" altLang="en-US" sz="1800" dirty="0">
                <a:latin typeface="微软雅黑" panose="020B0503020204020204" pitchFamily="34" charset="-122"/>
                <a:ea typeface="微软雅黑" panose="020B0503020204020204" pitchFamily="34" charset="-122"/>
                <a:cs typeface="+mn-ea"/>
              </a:rPr>
              <a:t>。</a:t>
            </a:r>
            <a:endParaRPr lang="en-US" altLang="zh-CN" sz="1800" dirty="0">
              <a:latin typeface="微软雅黑" panose="020B0503020204020204" pitchFamily="34" charset="-122"/>
              <a:ea typeface="微软雅黑" panose="020B0503020204020204" pitchFamily="34" charset="-122"/>
              <a:cs typeface="+mn-ea"/>
            </a:endParaRPr>
          </a:p>
        </p:txBody>
      </p:sp>
    </p:spTree>
    <p:extLst>
      <p:ext uri="{BB962C8B-B14F-4D97-AF65-F5344CB8AC3E}">
        <p14:creationId xmlns:p14="http://schemas.microsoft.com/office/powerpoint/2010/main" val="227560790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PRESENTER" val="3f15e6573a385e41c33bb97e7105a62faa5c484"/>
  <p:tag name="COMMONDATA" val="eyJoZGlkIjoiNGEzOWY5OWI3NjllYmMyNjdkZDQ2MDY2OWUyMDdmMzYifQ=="/>
  <p:tag name="RESOURCE_RECORD_KEY" val="{&quot;13&quot;:[19951231,4722044]}"/>
</p:tagLst>
</file>

<file path=ppt/theme/theme1.xml><?xml version="1.0" encoding="utf-8"?>
<a:theme xmlns:a="http://schemas.openxmlformats.org/drawingml/2006/main" name="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自定义 237">
      <a:dk1>
        <a:sysClr val="windowText" lastClr="000000"/>
      </a:dk1>
      <a:lt1>
        <a:sysClr val="window" lastClr="FFFFFF"/>
      </a:lt1>
      <a:dk2>
        <a:srgbClr val="1F497D"/>
      </a:dk2>
      <a:lt2>
        <a:srgbClr val="EEECE1"/>
      </a:lt2>
      <a:accent1>
        <a:srgbClr val="005DA2"/>
      </a:accent1>
      <a:accent2>
        <a:srgbClr val="C4C7CB"/>
      </a:accent2>
      <a:accent3>
        <a:srgbClr val="7F7F7F"/>
      </a:accent3>
      <a:accent4>
        <a:srgbClr val="7F7F7F"/>
      </a:accent4>
      <a:accent5>
        <a:srgbClr val="7F7F7F"/>
      </a:accent5>
      <a:accent6>
        <a:srgbClr val="7F7F7F"/>
      </a:accent6>
      <a:hlink>
        <a:srgbClr val="17365D"/>
      </a:hlink>
      <a:folHlink>
        <a:srgbClr val="548DD4"/>
      </a:folHlink>
    </a:clrScheme>
    <a:fontScheme name="ud0ofpxa">
      <a:majorFont>
        <a:latin typeface="字魂105号-简雅黑"/>
        <a:ea typeface="字魂105号-简雅黑"/>
        <a:cs typeface=""/>
      </a:majorFont>
      <a:minorFont>
        <a:latin typeface="字魂105号-简雅黑"/>
        <a:ea typeface="字魂105号-简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defRPr sz="1200" dirty="0" smtClean="0">
            <a:solidFill>
              <a:schemeClr val="tx1">
                <a:lumMod val="75000"/>
                <a:lumOff val="25000"/>
              </a:schemeClr>
            </a:solidFill>
            <a:latin typeface="微软雅黑" panose="020B0503020204020204" pitchFamily="34" charset="-122"/>
            <a:ea typeface="微软雅黑"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557</TotalTime>
  <Words>3053</Words>
  <Application>Microsoft Office PowerPoint</Application>
  <PresentationFormat>自定义</PresentationFormat>
  <Paragraphs>234</Paragraphs>
  <Slides>31</Slides>
  <Notes>5</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31</vt:i4>
      </vt:variant>
    </vt:vector>
  </HeadingPairs>
  <TitlesOfParts>
    <vt:vector size="42" baseType="lpstr">
      <vt:lpstr>Arial Unicode MS</vt:lpstr>
      <vt:lpstr>JetBrains Mono</vt:lpstr>
      <vt:lpstr>思源黑体 CN Medium</vt:lpstr>
      <vt:lpstr>宋体</vt:lpstr>
      <vt:lpstr>微软雅黑</vt:lpstr>
      <vt:lpstr>字魂105号-简雅黑</vt:lpstr>
      <vt:lpstr>Arial</vt:lpstr>
      <vt:lpstr>Calibri</vt:lpstr>
      <vt:lpstr>Wingdings</vt:lpstr>
      <vt:lpstr>webwppDefTheme</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蓝白商务述职报告工作总结ppt模板</dc:title>
  <dc:creator>常董</dc:creator>
  <cp:lastModifiedBy>lvhehe</cp:lastModifiedBy>
  <cp:revision>1120</cp:revision>
  <dcterms:created xsi:type="dcterms:W3CDTF">2020-11-11T09:29:00Z</dcterms:created>
  <dcterms:modified xsi:type="dcterms:W3CDTF">2025-03-26T07:38:30Z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2052-11.1.0.10009</vt:lpwstr>
  </property>
  <property fmtid="{D5CDD505-2E9C-101B-9397-08002B2CF9AE}" pid="3" name="ICV">
    <vt:lpwstr>FAE737CA4AD043D68B80620E2A9F8656_13</vt:lpwstr>
  </property>
</Properties>
</file>