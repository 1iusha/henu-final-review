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9" r:id="rId4"/>
  </p:sldMasterIdLst>
  <p:notesMasterIdLst>
    <p:notesMasterId r:id="rId21"/>
  </p:notesMasterIdLst>
  <p:handoutMasterIdLst>
    <p:handoutMasterId r:id="rId86"/>
  </p:handoutMasterIdLst>
  <p:sldIdLst>
    <p:sldId id="557" r:id="rId5"/>
    <p:sldId id="592" r:id="rId6"/>
    <p:sldId id="561" r:id="rId7"/>
    <p:sldId id="593" r:id="rId8"/>
    <p:sldId id="594" r:id="rId9"/>
    <p:sldId id="595" r:id="rId10"/>
    <p:sldId id="596" r:id="rId11"/>
    <p:sldId id="597" r:id="rId12"/>
    <p:sldId id="598" r:id="rId13"/>
    <p:sldId id="599" r:id="rId14"/>
    <p:sldId id="600" r:id="rId15"/>
    <p:sldId id="601" r:id="rId16"/>
    <p:sldId id="602" r:id="rId17"/>
    <p:sldId id="603" r:id="rId18"/>
    <p:sldId id="604" r:id="rId19"/>
    <p:sldId id="659" r:id="rId20"/>
    <p:sldId id="605" r:id="rId22"/>
    <p:sldId id="606" r:id="rId23"/>
    <p:sldId id="661" r:id="rId24"/>
    <p:sldId id="607" r:id="rId25"/>
    <p:sldId id="608" r:id="rId26"/>
    <p:sldId id="609" r:id="rId27"/>
    <p:sldId id="610" r:id="rId28"/>
    <p:sldId id="611" r:id="rId29"/>
    <p:sldId id="612" r:id="rId30"/>
    <p:sldId id="656" r:id="rId31"/>
    <p:sldId id="614" r:id="rId32"/>
    <p:sldId id="613" r:id="rId33"/>
    <p:sldId id="615" r:id="rId34"/>
    <p:sldId id="616" r:id="rId35"/>
    <p:sldId id="617" r:id="rId36"/>
    <p:sldId id="618" r:id="rId37"/>
    <p:sldId id="619" r:id="rId38"/>
    <p:sldId id="620" r:id="rId39"/>
    <p:sldId id="622" r:id="rId40"/>
    <p:sldId id="621" r:id="rId41"/>
    <p:sldId id="623" r:id="rId42"/>
    <p:sldId id="657" r:id="rId43"/>
    <p:sldId id="658" r:id="rId44"/>
    <p:sldId id="624" r:id="rId45"/>
    <p:sldId id="625" r:id="rId46"/>
    <p:sldId id="626" r:id="rId47"/>
    <p:sldId id="627" r:id="rId48"/>
    <p:sldId id="628" r:id="rId49"/>
    <p:sldId id="629" r:id="rId50"/>
    <p:sldId id="630" r:id="rId51"/>
    <p:sldId id="632" r:id="rId52"/>
    <p:sldId id="633" r:id="rId53"/>
    <p:sldId id="631" r:id="rId54"/>
    <p:sldId id="634" r:id="rId55"/>
    <p:sldId id="637" r:id="rId56"/>
    <p:sldId id="636" r:id="rId57"/>
    <p:sldId id="635" r:id="rId58"/>
    <p:sldId id="638" r:id="rId59"/>
    <p:sldId id="639" r:id="rId60"/>
    <p:sldId id="640" r:id="rId61"/>
    <p:sldId id="650" r:id="rId62"/>
    <p:sldId id="651" r:id="rId63"/>
    <p:sldId id="655" r:id="rId64"/>
    <p:sldId id="662" r:id="rId65"/>
    <p:sldId id="663" r:id="rId66"/>
    <p:sldId id="664" r:id="rId67"/>
    <p:sldId id="665" r:id="rId68"/>
    <p:sldId id="682" r:id="rId69"/>
    <p:sldId id="667" r:id="rId70"/>
    <p:sldId id="683" r:id="rId71"/>
    <p:sldId id="669" r:id="rId72"/>
    <p:sldId id="686" r:id="rId73"/>
    <p:sldId id="671" r:id="rId74"/>
    <p:sldId id="687" r:id="rId75"/>
    <p:sldId id="673" r:id="rId76"/>
    <p:sldId id="688" r:id="rId77"/>
    <p:sldId id="675" r:id="rId78"/>
    <p:sldId id="689" r:id="rId79"/>
    <p:sldId id="677" r:id="rId80"/>
    <p:sldId id="684" r:id="rId81"/>
    <p:sldId id="679" r:id="rId82"/>
    <p:sldId id="690" r:id="rId83"/>
    <p:sldId id="691" r:id="rId84"/>
    <p:sldId id="641" r:id="rId85"/>
  </p:sldIdLst>
  <p:sldSz cx="12190095" cy="6859270"/>
  <p:notesSz cx="6858000" cy="9144000"/>
  <p:custDataLst>
    <p:tags r:id="rId90"/>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256" userDrawn="1">
          <p15:clr>
            <a:srgbClr val="A4A3A4"/>
          </p15:clr>
        </p15:guide>
        <p15:guide id="3" pos="66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CC"/>
    <a:srgbClr val="006BBC"/>
    <a:srgbClr val="3992DB"/>
    <a:srgbClr val="008DF6"/>
    <a:srgbClr val="005DA2"/>
    <a:srgbClr val="1369B2"/>
    <a:srgbClr val="595959"/>
    <a:srgbClr val="FAFAFA"/>
    <a:srgbClr val="F2F2F2"/>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0" autoAdjust="0"/>
    <p:restoredTop sz="90265" autoAdjust="0"/>
  </p:normalViewPr>
  <p:slideViewPr>
    <p:cSldViewPr showGuides="1">
      <p:cViewPr varScale="1">
        <p:scale>
          <a:sx n="77" d="100"/>
          <a:sy n="77" d="100"/>
        </p:scale>
        <p:origin x="494" y="58"/>
      </p:cViewPr>
      <p:guideLst>
        <p:guide orient="horz" pos="2192"/>
        <p:guide pos="256"/>
        <p:guide pos="6658"/>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922"/>
        <p:guide pos="2262"/>
      </p:guideLst>
    </p:cSldViewPr>
  </p:notesViewPr>
  <p:gridSpacing cx="72008" cy="72008"/>
</p:viewPr>
</file>

<file path=ppt/_rels/presentation.xml.rels><?xml version="1.0" encoding="UTF-8" standalone="yes"?>
<Relationships xmlns="http://schemas.openxmlformats.org/package/2006/relationships"><Relationship Id="rId90" Type="http://schemas.openxmlformats.org/officeDocument/2006/relationships/tags" Target="tags/tag64.xml"/><Relationship Id="rId9" Type="http://schemas.openxmlformats.org/officeDocument/2006/relationships/slide" Target="slides/slide5.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handoutMaster" Target="handoutMasters/handoutMaster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notesMaster" Target="notesMasters/notesMaster1.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52500" lvl="1" indent="-342900">
              <a:spcBef>
                <a:spcPts val="20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举例而言，借助 </a:t>
            </a:r>
            <a:r>
              <a:rPr lang="en-US" altLang="zh-CN" sz="2000" dirty="0">
                <a:latin typeface="Times New Roman" panose="02020603050405020304" pitchFamily="18" charset="0"/>
                <a:cs typeface="Times New Roman" panose="02020603050405020304" pitchFamily="18" charset="0"/>
              </a:rPr>
              <a:t>Button</a:t>
            </a:r>
            <a:r>
              <a:rPr lang="zh-CN" altLang="en-US" sz="2000" dirty="0">
                <a:latin typeface="Times New Roman" panose="02020603050405020304" pitchFamily="18" charset="0"/>
                <a:cs typeface="Times New Roman" panose="02020603050405020304" pitchFamily="18" charset="0"/>
              </a:rPr>
              <a:t>组件的容器特性，开发者可以在 </a:t>
            </a:r>
            <a:r>
              <a:rPr lang="en-US" altLang="zh-CN" sz="2000" dirty="0">
                <a:latin typeface="Times New Roman" panose="02020603050405020304" pitchFamily="18" charset="0"/>
                <a:cs typeface="Times New Roman" panose="02020603050405020304" pitchFamily="18" charset="0"/>
              </a:rPr>
              <a:t>Button </a:t>
            </a:r>
            <a:r>
              <a:rPr lang="zh-CN" altLang="en-US" sz="2000" dirty="0">
                <a:latin typeface="Times New Roman" panose="02020603050405020304" pitchFamily="18" charset="0"/>
                <a:cs typeface="Times New Roman" panose="02020603050405020304" pitchFamily="18" charset="0"/>
              </a:rPr>
              <a:t>组件中嵌套</a:t>
            </a:r>
            <a:r>
              <a:rPr lang="en-US" altLang="zh-CN" sz="2000" dirty="0">
                <a:latin typeface="Times New Roman" panose="02020603050405020304" pitchFamily="18" charset="0"/>
                <a:cs typeface="Times New Roman" panose="02020603050405020304" pitchFamily="18" charset="0"/>
              </a:rPr>
              <a:t>Image </a:t>
            </a:r>
            <a:r>
              <a:rPr lang="zh-CN" altLang="en-US" sz="2000" dirty="0">
                <a:latin typeface="Times New Roman" panose="02020603050405020304" pitchFamily="18" charset="0"/>
                <a:cs typeface="Times New Roman" panose="02020603050405020304" pitchFamily="18" charset="0"/>
              </a:rPr>
              <a:t>组件，从而实现视觉上更加优美的 </a:t>
            </a:r>
            <a:r>
              <a:rPr lang="en-US" altLang="zh-CN" sz="2000" dirty="0">
                <a:latin typeface="Times New Roman" panose="02020603050405020304" pitchFamily="18" charset="0"/>
                <a:cs typeface="Times New Roman" panose="02020603050405020304" pitchFamily="18" charset="0"/>
              </a:rPr>
              <a:t>Button</a:t>
            </a:r>
            <a:r>
              <a:rPr lang="zh-CN" altLang="en-US" sz="2000" dirty="0">
                <a:latin typeface="Times New Roman" panose="02020603050405020304" pitchFamily="18" charset="0"/>
                <a:cs typeface="Times New Roman" panose="02020603050405020304" pitchFamily="18" charset="0"/>
              </a:rPr>
              <a:t>样式，或者嵌套布局组件，以进一步增强 </a:t>
            </a:r>
            <a:r>
              <a:rPr lang="en-US" altLang="zh-CN" sz="2000" dirty="0">
                <a:latin typeface="Times New Roman" panose="02020603050405020304" pitchFamily="18" charset="0"/>
                <a:cs typeface="Times New Roman" panose="02020603050405020304" pitchFamily="18" charset="0"/>
              </a:rPr>
              <a:t>Button </a:t>
            </a:r>
            <a:r>
              <a:rPr lang="zh-CN" altLang="en-US" sz="2000" dirty="0">
                <a:latin typeface="Times New Roman" panose="02020603050405020304" pitchFamily="18" charset="0"/>
                <a:cs typeface="Times New Roman" panose="02020603050405020304" pitchFamily="18" charset="0"/>
              </a:rPr>
              <a:t>的交互效果。</a:t>
            </a:r>
            <a:endParaRPr lang="en-US" altLang="zh-CN" sz="2000" dirty="0">
              <a:latin typeface="Times New Roman" panose="02020603050405020304" pitchFamily="18" charset="0"/>
              <a:cs typeface="Times New Roman" panose="02020603050405020304" pitchFamily="18" charset="0"/>
            </a:endParaRPr>
          </a:p>
          <a:p>
            <a:pPr marL="952500" lvl="1" indent="-342900">
              <a:spcBef>
                <a:spcPts val="20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此外，</a:t>
            </a:r>
            <a:r>
              <a:rPr lang="en-US" altLang="zh-CN" sz="2000" dirty="0">
                <a:latin typeface="Times New Roman" panose="02020603050405020304" pitchFamily="18" charset="0"/>
                <a:cs typeface="Times New Roman" panose="02020603050405020304" pitchFamily="18" charset="0"/>
              </a:rPr>
              <a:t>Button </a:t>
            </a:r>
            <a:r>
              <a:rPr lang="zh-CN" altLang="en-US" sz="2000" dirty="0">
                <a:latin typeface="Times New Roman" panose="02020603050405020304" pitchFamily="18" charset="0"/>
                <a:cs typeface="Times New Roman" panose="02020603050405020304" pitchFamily="18" charset="0"/>
              </a:rPr>
              <a:t>组件的容器特性还允许开发者嵌套其他自定义组件以实现更加丰富的功能和交互效果。</a:t>
            </a:r>
            <a:endParaRPr lang="en-US" altLang="zh-CN" sz="2000" dirty="0">
              <a:latin typeface="Times New Roman" panose="02020603050405020304" pitchFamily="18" charset="0"/>
              <a:cs typeface="Times New Roman" panose="02020603050405020304" pitchFamily="18" charset="0"/>
            </a:endParaRPr>
          </a:p>
          <a:p>
            <a:pPr marL="952500" lvl="1" indent="-342900">
              <a:spcBef>
                <a:spcPts val="20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总体而言，</a:t>
            </a:r>
            <a:r>
              <a:rPr lang="en-US" altLang="zh-CN" sz="2000" dirty="0">
                <a:latin typeface="Times New Roman" panose="02020603050405020304" pitchFamily="18" charset="0"/>
                <a:cs typeface="Times New Roman" panose="02020603050405020304" pitchFamily="18" charset="0"/>
              </a:rPr>
              <a:t>Button</a:t>
            </a:r>
            <a:r>
              <a:rPr lang="zh-CN" altLang="en-US" sz="2000" dirty="0">
                <a:latin typeface="Times New Roman" panose="02020603050405020304" pitchFamily="18" charset="0"/>
                <a:cs typeface="Times New Roman" panose="02020603050405020304" pitchFamily="18" charset="0"/>
              </a:rPr>
              <a:t>组件的容器特性为开发者提供了更加灵活和多样化的开发方式，可在不同场景下满足不同需求。</a:t>
            </a:r>
            <a:endParaRPr lang="zh-CN" altLang="en-US" sz="20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795A699-AB68-4A20-99FB-6F69DC266D45}" type="slidenum">
              <a:rPr lang="zh-CN" altLang="en-US" smtClean="0"/>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slideLayout" Target="../slideLayouts/slideLayout27.xml"/><Relationship Id="rId7" Type="http://schemas.openxmlformats.org/officeDocument/2006/relationships/slideLayout" Target="../slideLayouts/slideLayout26.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 Type="http://schemas.openxmlformats.org/officeDocument/2006/relationships/slideLayout" Target="../slideLayouts/slideLayout21.xml"/><Relationship Id="rId12" Type="http://schemas.openxmlformats.org/officeDocument/2006/relationships/theme" Target="../theme/theme3.xml"/><Relationship Id="rId11" Type="http://schemas.openxmlformats.org/officeDocument/2006/relationships/slideLayout" Target="../slideLayouts/slideLayout30.xml"/><Relationship Id="rId10" Type="http://schemas.openxmlformats.org/officeDocument/2006/relationships/slideLayout" Target="../slideLayouts/slideLayout29.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5.xml"/><Relationship Id="rId4" Type="http://schemas.openxmlformats.org/officeDocument/2006/relationships/image" Target="../media/image19.png"/><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2.png"/><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image" Target="../media/image34.png"/><Relationship Id="rId2" Type="http://schemas.openxmlformats.org/officeDocument/2006/relationships/tags" Target="../tags/tag5.xml"/><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6.png"/><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9.png"/><Relationship Id="rId1"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5.xml"/><Relationship Id="rId4" Type="http://schemas.openxmlformats.org/officeDocument/2006/relationships/image" Target="../media/image19.pn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5.xml"/><Relationship Id="rId4" Type="http://schemas.openxmlformats.org/officeDocument/2006/relationships/image" Target="../media/image28.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0.png"/><Relationship Id="rId1" Type="http://schemas.openxmlformats.org/officeDocument/2006/relationships/image" Target="../media/image4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1.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3.png"/><Relationship Id="rId1"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6.png"/></Relationships>
</file>

<file path=ppt/slides/_rels/slide57.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5.xml"/><Relationship Id="rId5" Type="http://schemas.openxmlformats.org/officeDocument/2006/relationships/image" Target="../media/image57.png"/><Relationship Id="rId4" Type="http://schemas.openxmlformats.org/officeDocument/2006/relationships/image" Target="../media/image19.png"/><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58.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5.xml"/><Relationship Id="rId4" Type="http://schemas.openxmlformats.org/officeDocument/2006/relationships/image" Target="../media/image28.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5.xml"/><Relationship Id="rId5" Type="http://schemas.openxmlformats.org/officeDocument/2006/relationships/image" Target="../media/image28.png"/><Relationship Id="rId4" Type="http://schemas.openxmlformats.org/officeDocument/2006/relationships/image" Target="../media/image19.png"/><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60.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8" Type="http://schemas.openxmlformats.org/officeDocument/2006/relationships/notesSlide" Target="../notesSlides/notesSlide12.xml"/><Relationship Id="rId37" Type="http://schemas.openxmlformats.org/officeDocument/2006/relationships/slideLayout" Target="../slideLayouts/slideLayout9.xml"/><Relationship Id="rId36" Type="http://schemas.openxmlformats.org/officeDocument/2006/relationships/tags" Target="../tags/tag50.xml"/><Relationship Id="rId35" Type="http://schemas.openxmlformats.org/officeDocument/2006/relationships/tags" Target="../tags/tag49.xml"/><Relationship Id="rId34" Type="http://schemas.openxmlformats.org/officeDocument/2006/relationships/tags" Target="../tags/tag48.xml"/><Relationship Id="rId33" Type="http://schemas.openxmlformats.org/officeDocument/2006/relationships/tags" Target="../tags/tag47.xml"/><Relationship Id="rId32" Type="http://schemas.openxmlformats.org/officeDocument/2006/relationships/tags" Target="../tags/tag46.xml"/><Relationship Id="rId31" Type="http://schemas.openxmlformats.org/officeDocument/2006/relationships/tags" Target="../tags/tag45.xml"/><Relationship Id="rId30" Type="http://schemas.openxmlformats.org/officeDocument/2006/relationships/tags" Target="../tags/tag44.xml"/><Relationship Id="rId3" Type="http://schemas.openxmlformats.org/officeDocument/2006/relationships/tags" Target="../tags/tag17.xml"/><Relationship Id="rId29" Type="http://schemas.openxmlformats.org/officeDocument/2006/relationships/tags" Target="../tags/tag43.xml"/><Relationship Id="rId28" Type="http://schemas.openxmlformats.org/officeDocument/2006/relationships/tags" Target="../tags/tag42.xml"/><Relationship Id="rId27" Type="http://schemas.openxmlformats.org/officeDocument/2006/relationships/tags" Target="../tags/tag41.xml"/><Relationship Id="rId26" Type="http://schemas.openxmlformats.org/officeDocument/2006/relationships/tags" Target="../tags/tag40.xml"/><Relationship Id="rId25" Type="http://schemas.openxmlformats.org/officeDocument/2006/relationships/tags" Target="../tags/tag39.xml"/><Relationship Id="rId24" Type="http://schemas.openxmlformats.org/officeDocument/2006/relationships/tags" Target="../tags/tag38.xml"/><Relationship Id="rId23" Type="http://schemas.openxmlformats.org/officeDocument/2006/relationships/tags" Target="../tags/tag37.xml"/><Relationship Id="rId22" Type="http://schemas.openxmlformats.org/officeDocument/2006/relationships/tags" Target="../tags/tag36.xml"/><Relationship Id="rId21" Type="http://schemas.openxmlformats.org/officeDocument/2006/relationships/tags" Target="../tags/tag35.xml"/><Relationship Id="rId20" Type="http://schemas.openxmlformats.org/officeDocument/2006/relationships/tags" Target="../tags/tag34.xml"/><Relationship Id="rId2" Type="http://schemas.openxmlformats.org/officeDocument/2006/relationships/tags" Target="../tags/tag16.xml"/><Relationship Id="rId19" Type="http://schemas.openxmlformats.org/officeDocument/2006/relationships/tags" Target="../tags/tag33.xml"/><Relationship Id="rId18" Type="http://schemas.openxmlformats.org/officeDocument/2006/relationships/tags" Target="../tags/tag32.xml"/><Relationship Id="rId17" Type="http://schemas.openxmlformats.org/officeDocument/2006/relationships/tags" Target="../tags/tag31.xml"/><Relationship Id="rId16" Type="http://schemas.openxmlformats.org/officeDocument/2006/relationships/tags" Target="../tags/tag30.xml"/><Relationship Id="rId15" Type="http://schemas.openxmlformats.org/officeDocument/2006/relationships/tags" Target="../tags/tag29.xml"/><Relationship Id="rId14" Type="http://schemas.openxmlformats.org/officeDocument/2006/relationships/tags" Target="../tags/tag28.xml"/><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5.xml"/></Relationships>
</file>

<file path=ppt/slides/_rels/slide61.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5.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5.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56.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5.xml"/><Relationship Id="rId2" Type="http://schemas.openxmlformats.org/officeDocument/2006/relationships/image" Target="../media/image60.png"/><Relationship Id="rId1" Type="http://schemas.openxmlformats.org/officeDocument/2006/relationships/image" Target="../media/image28.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9.xml"/><Relationship Id="rId1" Type="http://schemas.openxmlformats.org/officeDocument/2006/relationships/tags" Target="../tags/tag57.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image" Target="../media/image63.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9.xml"/><Relationship Id="rId1" Type="http://schemas.openxmlformats.org/officeDocument/2006/relationships/tags" Target="../tags/tag58.xml"/></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5.xml"/><Relationship Id="rId2" Type="http://schemas.openxmlformats.org/officeDocument/2006/relationships/image" Target="../media/image64.png"/><Relationship Id="rId1" Type="http://schemas.openxmlformats.org/officeDocument/2006/relationships/image" Target="../media/image28.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9.xml"/><Relationship Id="rId1" Type="http://schemas.openxmlformats.org/officeDocument/2006/relationships/tags" Target="../tags/tag59.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5.xml"/><Relationship Id="rId2" Type="http://schemas.openxmlformats.org/officeDocument/2006/relationships/image" Target="../media/image65.png"/><Relationship Id="rId1" Type="http://schemas.openxmlformats.org/officeDocument/2006/relationships/image" Target="../media/image28.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9.xml"/><Relationship Id="rId1" Type="http://schemas.openxmlformats.org/officeDocument/2006/relationships/tags" Target="../tags/tag60.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5.xml"/><Relationship Id="rId2" Type="http://schemas.openxmlformats.org/officeDocument/2006/relationships/image" Target="../media/image66.png"/><Relationship Id="rId1" Type="http://schemas.openxmlformats.org/officeDocument/2006/relationships/image" Target="../media/image28.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9.xml"/><Relationship Id="rId1" Type="http://schemas.openxmlformats.org/officeDocument/2006/relationships/tags" Target="../tags/tag61.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5.xml"/><Relationship Id="rId2" Type="http://schemas.openxmlformats.org/officeDocument/2006/relationships/image" Target="../media/image67.png"/><Relationship Id="rId1" Type="http://schemas.openxmlformats.org/officeDocument/2006/relationships/image" Target="../media/image28.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9.xml"/><Relationship Id="rId1" Type="http://schemas.openxmlformats.org/officeDocument/2006/relationships/tags" Target="../tags/tag62.xml"/></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5.xml"/><Relationship Id="rId2" Type="http://schemas.openxmlformats.org/officeDocument/2006/relationships/image" Target="../media/image68.png"/><Relationship Id="rId1" Type="http://schemas.openxmlformats.org/officeDocument/2006/relationships/image" Target="../media/image28.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9.xml"/><Relationship Id="rId1" Type="http://schemas.openxmlformats.org/officeDocument/2006/relationships/tags" Target="../tags/tag63.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5.xml"/><Relationship Id="rId2" Type="http://schemas.openxmlformats.org/officeDocument/2006/relationships/image" Target="../media/image68.png"/><Relationship Id="rId1" Type="http://schemas.openxmlformats.org/officeDocument/2006/relationships/image" Target="../media/image2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30680" y="1773555"/>
            <a:ext cx="8716010" cy="768350"/>
          </a:xfrm>
          <a:prstGeom prst="rect">
            <a:avLst/>
          </a:prstGeom>
          <a:noFill/>
        </p:spPr>
        <p:txBody>
          <a:bodyPr wrap="square" rtlCol="0" anchor="t">
            <a:spAutoFit/>
          </a:bodyPr>
          <a:lstStyle/>
          <a:p>
            <a:pPr algn="ctr"/>
            <a:r>
              <a:rPr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第</a:t>
            </a:r>
            <a:r>
              <a:rPr lang="zh-CN" altLang="en-US"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五</a:t>
            </a:r>
            <a:r>
              <a:rPr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章</a:t>
            </a:r>
            <a:r>
              <a:rPr lang="en-US" altLang="zh-CN"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 </a:t>
            </a:r>
            <a:r>
              <a:rPr lang="zh-CN" altLang="en-US"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基础组件</a:t>
            </a:r>
            <a:endParaRPr lang="zh-CN" altLang="en-US" sz="440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3" name="文本框 2"/>
          <p:cNvSpPr txBox="1"/>
          <p:nvPr/>
        </p:nvSpPr>
        <p:spPr>
          <a:xfrm>
            <a:off x="2854960" y="2925445"/>
            <a:ext cx="6096000" cy="414020"/>
          </a:xfrm>
          <a:prstGeom prst="rect">
            <a:avLst/>
          </a:prstGeom>
          <a:noFill/>
        </p:spPr>
        <p:txBody>
          <a:bodyPr wrap="square" rtlCol="0" anchor="t">
            <a:spAutoFit/>
          </a:bodyPr>
          <a:lstStyle/>
          <a:p>
            <a:pPr algn="ctr" defTabSz="685800">
              <a:spcBef>
                <a:spcPts val="1950"/>
              </a:spcBef>
            </a:pPr>
            <a:r>
              <a:rPr lang="zh-CN" altLang="en-US"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软件学院</a:t>
            </a:r>
            <a:r>
              <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2100" b="1">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刘俊男 </a:t>
            </a:r>
            <a:endPar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9286788" cy="2807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主要介绍了</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OpenHarmony</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中常用的基础组件如</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spcBef>
                <a:spcPts val="2400"/>
              </a:spcBef>
              <a:buFont typeface="Wingdings" panose="05000000000000000000" pitchFamily="2" charset="2"/>
              <a:buChar char="Ø"/>
            </a:pPr>
            <a:r>
              <a:rPr lang="zh-CN" altLang="en-US" sz="2000" dirty="0">
                <a:solidFill>
                  <a:srgbClr val="0075CC"/>
                </a:solidFill>
                <a:latin typeface="微软雅黑" panose="020B0503020204020204" pitchFamily="34" charset="-122"/>
                <a:ea typeface="微软雅黑" panose="020B0503020204020204" pitchFamily="34" charset="-122"/>
                <a:cs typeface="+mn-ea"/>
              </a:rPr>
              <a:t>输入框、单选框、复选框、下拉框</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等。</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介绍通过这些基础组件实现和用户交互的方法，如</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457200" indent="-457200">
              <a:lnSpc>
                <a:spcPct val="150000"/>
              </a:lnSpc>
              <a:spcBef>
                <a:spcPts val="2400"/>
              </a:spcBef>
              <a:buFont typeface="Wingdings" panose="05000000000000000000" pitchFamily="2" charset="2"/>
              <a:buChar char="Ø"/>
            </a:pPr>
            <a:r>
              <a:rPr lang="zh-CN" altLang="en-US" sz="2000" dirty="0">
                <a:solidFill>
                  <a:srgbClr val="0075CC"/>
                </a:solidFill>
                <a:latin typeface="微软雅黑" panose="020B0503020204020204" pitchFamily="34" charset="-122"/>
                <a:ea typeface="微软雅黑" panose="020B0503020204020204" pitchFamily="34" charset="-122"/>
                <a:cs typeface="+mn-ea"/>
              </a:rPr>
              <a:t>获取用户输入的数据、响应用户的选择</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等。</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基础组件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756084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文本</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(Text)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组件：主要作用是在用户界面上展示一段文本信息。</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2400"/>
              </a:spcBef>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Text(content?: </a:t>
            </a:r>
            <a:r>
              <a:rPr lang="en-US" altLang="zh-CN" sz="28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String|Resource</a:t>
            </a: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spcBef>
                <a:spcPts val="2400"/>
              </a:spcBef>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content: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文本内容。包含子组件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Span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时不生效，显示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Span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内容。</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430910" y="3285778"/>
            <a:ext cx="3672408" cy="2800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a:ea typeface="JetBrains Mono"/>
              </a:rPr>
              <a:t>@Entry</a:t>
            </a:r>
            <a:br>
              <a:rPr kumimoji="0" lang="zh-CN" altLang="zh-CN" sz="1600" b="0" i="0" u="none" strike="noStrike" cap="none" normalizeH="0" baseline="0" dirty="0">
                <a:ln>
                  <a:noFill/>
                </a:ln>
                <a:solidFill>
                  <a:srgbClr val="808000"/>
                </a:solidFill>
                <a:effectLst/>
                <a:latin typeface="Arial Unicode MS"/>
                <a:ea typeface="JetBrains Mono"/>
              </a:rPr>
            </a:br>
            <a:r>
              <a:rPr kumimoji="0" lang="zh-CN" altLang="zh-CN" sz="1600" b="0" i="0" u="none" strike="noStrike" cap="none" normalizeH="0" baseline="0" dirty="0">
                <a:ln>
                  <a:noFill/>
                </a:ln>
                <a:solidFill>
                  <a:srgbClr val="808000"/>
                </a:solidFill>
                <a:effectLst/>
                <a:latin typeface="Arial Unicode MS"/>
                <a:ea typeface="JetBrains Mono"/>
              </a:rPr>
              <a:t>@Component</a:t>
            </a:r>
            <a:br>
              <a:rPr kumimoji="0" lang="zh-CN" altLang="zh-CN" sz="1600" b="0" i="0" u="none" strike="noStrike" cap="none" normalizeH="0" baseline="0" dirty="0">
                <a:ln>
                  <a:noFill/>
                </a:ln>
                <a:solidFill>
                  <a:srgbClr val="808000"/>
                </a:solidFill>
                <a:effectLst/>
                <a:latin typeface="Arial Unicode MS"/>
                <a:ea typeface="JetBrains Mono"/>
              </a:rPr>
            </a:br>
            <a:r>
              <a:rPr kumimoji="0" lang="zh-CN" altLang="zh-CN" sz="1600" b="1" i="0" u="none" strike="noStrike" cap="none" normalizeH="0" baseline="0" dirty="0">
                <a:ln>
                  <a:noFill/>
                </a:ln>
                <a:solidFill>
                  <a:srgbClr val="859801"/>
                </a:solidFill>
                <a:effectLst/>
                <a:latin typeface="Arial Unicode MS"/>
                <a:ea typeface="JetBrains Mono"/>
              </a:rPr>
              <a:t>struct </a:t>
            </a:r>
            <a:r>
              <a:rPr kumimoji="0" lang="zh-CN" altLang="zh-CN" sz="1600" b="0" i="0" u="none" strike="noStrike" cap="none" normalizeH="0" baseline="0" dirty="0">
                <a:ln>
                  <a:noFill/>
                </a:ln>
                <a:solidFill>
                  <a:srgbClr val="507874"/>
                </a:solidFill>
                <a:effectLst/>
                <a:latin typeface="Arial Unicode MS"/>
                <a:ea typeface="JetBrains Mono"/>
              </a:rPr>
              <a:t>Index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build</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Column</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我是</a:t>
            </a:r>
            <a:r>
              <a:rPr kumimoji="0" lang="zh-CN" altLang="zh-CN" sz="1600" b="0" i="0" u="none" strike="noStrike" cap="none" normalizeH="0" baseline="0" dirty="0">
                <a:ln>
                  <a:noFill/>
                </a:ln>
                <a:solidFill>
                  <a:srgbClr val="653170"/>
                </a:solidFill>
                <a:effectLst/>
                <a:latin typeface="Arial Unicode MS"/>
                <a:ea typeface="JetBrains Mono"/>
              </a:rPr>
              <a:t>Text'</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Span</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我是</a:t>
            </a:r>
            <a:r>
              <a:rPr kumimoji="0" lang="zh-CN" altLang="zh-CN" sz="1600" b="0" i="0" u="none" strike="noStrike" cap="none" normalizeH="0" baseline="0" dirty="0">
                <a:ln>
                  <a:noFill/>
                </a:ln>
                <a:solidFill>
                  <a:srgbClr val="653170"/>
                </a:solidFill>
                <a:effectLst/>
                <a:latin typeface="Arial Unicode MS"/>
                <a:ea typeface="JetBrains Mono"/>
              </a:rPr>
              <a:t>Span'</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padding</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FF9170"/>
                </a:solidFill>
                <a:effectLst/>
                <a:latin typeface="Arial Unicode MS"/>
                <a:ea typeface="JetBrains Mono"/>
              </a:rPr>
              <a:t>100</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borderWidth</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FF9170"/>
                </a:solidFill>
                <a:effectLst/>
                <a:latin typeface="Arial Unicode MS"/>
                <a:ea typeface="JetBrains Mono"/>
              </a:rPr>
              <a:t>10</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width</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'100%'</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height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'100%'</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1"/>
          <a:stretch>
            <a:fillRect/>
          </a:stretch>
        </p:blipFill>
        <p:spPr>
          <a:xfrm>
            <a:off x="8903518" y="1120161"/>
            <a:ext cx="2448272" cy="532888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012431" y="981522"/>
            <a:ext cx="10081120" cy="1668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属性介绍</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123950" lvl="1" indent="-514350">
              <a:lnSpc>
                <a:spcPct val="150000"/>
              </a:lnSpc>
              <a:spcBef>
                <a:spcPts val="2400"/>
              </a:spcBef>
              <a:buFont typeface="Wingdings" panose="05000000000000000000" pitchFamily="2" charset="2"/>
              <a:buChar char="Ø"/>
            </a:pPr>
            <a:r>
              <a:rPr lang="en-US" altLang="zh-CN"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textAlign</a:t>
            </a: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设置文本水平方向对齐方式，只有</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Text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组件本身的宽度大于文本内容长度时，</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textAlign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属性才起作用。默认值为</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TextAlign.Start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Rectangle 1"/>
          <p:cNvSpPr>
            <a:spLocks noChangeArrowheads="1"/>
          </p:cNvSpPr>
          <p:nvPr/>
        </p:nvSpPr>
        <p:spPr bwMode="auto">
          <a:xfrm>
            <a:off x="982638" y="3213770"/>
            <a:ext cx="7496814"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a:ea typeface="JetBrains Mono"/>
              </a:rPr>
              <a:t>@Entry</a:t>
            </a:r>
            <a:br>
              <a:rPr kumimoji="0" lang="zh-CN" altLang="zh-CN" sz="1600" b="0" i="0" u="none" strike="noStrike" cap="none" normalizeH="0" baseline="0" dirty="0">
                <a:ln>
                  <a:noFill/>
                </a:ln>
                <a:solidFill>
                  <a:srgbClr val="808000"/>
                </a:solidFill>
                <a:effectLst/>
                <a:latin typeface="Arial Unicode MS"/>
                <a:ea typeface="JetBrains Mono"/>
              </a:rPr>
            </a:br>
            <a:r>
              <a:rPr kumimoji="0" lang="zh-CN" altLang="zh-CN" sz="1600" b="0" i="0" u="none" strike="noStrike" cap="none" normalizeH="0" baseline="0" dirty="0">
                <a:ln>
                  <a:noFill/>
                </a:ln>
                <a:solidFill>
                  <a:srgbClr val="808000"/>
                </a:solidFill>
                <a:effectLst/>
                <a:latin typeface="Arial Unicode MS"/>
                <a:ea typeface="JetBrains Mono"/>
              </a:rPr>
              <a:t>@Component</a:t>
            </a:r>
            <a:br>
              <a:rPr kumimoji="0" lang="zh-CN" altLang="zh-CN" sz="1600" b="0" i="0" u="none" strike="noStrike" cap="none" normalizeH="0" baseline="0" dirty="0">
                <a:ln>
                  <a:noFill/>
                </a:ln>
                <a:solidFill>
                  <a:srgbClr val="808000"/>
                </a:solidFill>
                <a:effectLst/>
                <a:latin typeface="Arial Unicode MS"/>
                <a:ea typeface="JetBrains Mono"/>
              </a:rPr>
            </a:b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Index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Column</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Text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默认对齐</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Text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左对齐</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i="0" u="none" strike="noStrike" cap="none" normalizeH="0" baseline="0" dirty="0">
                <a:ln>
                  <a:noFill/>
                </a:ln>
                <a:solidFill>
                  <a:srgbClr val="00A99E"/>
                </a:solidFill>
                <a:effectLst/>
                <a:latin typeface="Arial Unicode MS"/>
                <a:ea typeface="JetBrains Mono"/>
              </a:rPr>
              <a:t>textAlign</a:t>
            </a:r>
            <a:r>
              <a:rPr kumimoji="0" lang="zh-CN" altLang="zh-CN" sz="2000" i="0" u="none" strike="noStrike" cap="none" normalizeH="0" baseline="0" dirty="0">
                <a:ln>
                  <a:noFill/>
                </a:ln>
                <a:solidFill>
                  <a:srgbClr val="6C71C4"/>
                </a:solidFill>
                <a:effectLst/>
                <a:latin typeface="Arial Unicode MS"/>
                <a:ea typeface="JetBrains Mono"/>
              </a:rPr>
              <a:t>(</a:t>
            </a:r>
            <a:r>
              <a:rPr kumimoji="0" lang="zh-CN" altLang="zh-CN" sz="2000" i="0" u="none" strike="noStrike" cap="none" normalizeH="0" baseline="0" dirty="0">
                <a:ln>
                  <a:noFill/>
                </a:ln>
                <a:solidFill>
                  <a:srgbClr val="11408E"/>
                </a:solidFill>
                <a:effectLst/>
                <a:latin typeface="Arial Unicode MS"/>
                <a:ea typeface="JetBrains Mono"/>
              </a:rPr>
              <a:t>TextAlign</a:t>
            </a:r>
            <a:r>
              <a:rPr kumimoji="0" lang="zh-CN" altLang="zh-CN" sz="2000" i="0" u="none" strike="noStrike" cap="none" normalizeH="0" baseline="0" dirty="0">
                <a:ln>
                  <a:noFill/>
                </a:ln>
                <a:solidFill>
                  <a:srgbClr val="859801"/>
                </a:solidFill>
                <a:effectLst/>
                <a:latin typeface="Arial Unicode MS"/>
                <a:ea typeface="JetBrains Mono"/>
              </a:rPr>
              <a:t>.</a:t>
            </a:r>
            <a:r>
              <a:rPr kumimoji="0" lang="zh-CN" altLang="zh-CN" sz="2000" i="0" u="none" strike="noStrike" cap="none" normalizeH="0" baseline="0" dirty="0">
                <a:ln>
                  <a:noFill/>
                </a:ln>
                <a:solidFill>
                  <a:srgbClr val="11408E"/>
                </a:solidFill>
                <a:effectLst/>
                <a:latin typeface="Arial Unicode MS"/>
                <a:ea typeface="JetBrains Mono"/>
              </a:rPr>
              <a:t>Start</a:t>
            </a:r>
            <a:r>
              <a:rPr kumimoji="0" lang="zh-CN" altLang="zh-CN" sz="2000" i="0" u="none" strike="noStrike" cap="none" normalizeH="0" baseline="0" dirty="0">
                <a:ln>
                  <a:noFill/>
                </a:ln>
                <a:solidFill>
                  <a:srgbClr val="6C71C4"/>
                </a:solidFill>
                <a:effectLst/>
                <a:latin typeface="Arial Unicode MS"/>
                <a:ea typeface="JetBrains Mono"/>
              </a:rPr>
              <a:t>)</a:t>
            </a:r>
            <a:r>
              <a:rPr kumimoji="0" lang="zh-CN" altLang="zh-CN" sz="200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Text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居中对齐</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textAlign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TextAlign</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Center</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Text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右对齐</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textAlign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TextAlign</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End</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8" name="图片 7"/>
          <p:cNvPicPr>
            <a:picLocks noChangeAspect="1"/>
          </p:cNvPicPr>
          <p:nvPr/>
        </p:nvPicPr>
        <p:blipFill>
          <a:blip r:embed="rId1"/>
          <a:stretch>
            <a:fillRect/>
          </a:stretch>
        </p:blipFill>
        <p:spPr>
          <a:xfrm>
            <a:off x="7751390" y="2781722"/>
            <a:ext cx="4103566" cy="226287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1008112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属性介绍</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123950" lvl="1" indent="-514350">
              <a:spcBef>
                <a:spcPts val="2400"/>
              </a:spcBef>
              <a:buFont typeface="Wingdings" panose="05000000000000000000" pitchFamily="2" charset="2"/>
              <a:buChar char="Ø"/>
            </a:pP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align</a:t>
            </a: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可用于控制文本段落在垂直和水平方向上的九种位置，例如</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4" name="图片 3"/>
          <p:cNvPicPr>
            <a:picLocks noChangeAspect="1"/>
          </p:cNvPicPr>
          <p:nvPr/>
        </p:nvPicPr>
        <p:blipFill>
          <a:blip r:embed="rId1"/>
          <a:stretch>
            <a:fillRect/>
          </a:stretch>
        </p:blipFill>
        <p:spPr>
          <a:xfrm>
            <a:off x="3671193" y="3141762"/>
            <a:ext cx="4895850" cy="2114550"/>
          </a:xfrm>
          <a:prstGeom prst="rect">
            <a:avLst/>
          </a:prstGeom>
        </p:spPr>
      </p:pic>
      <p:sp>
        <p:nvSpPr>
          <p:cNvPr id="6" name="Rectangle 1"/>
          <p:cNvSpPr>
            <a:spLocks noChangeArrowheads="1"/>
          </p:cNvSpPr>
          <p:nvPr/>
        </p:nvSpPr>
        <p:spPr bwMode="auto">
          <a:xfrm>
            <a:off x="2998862" y="2349674"/>
            <a:ext cx="4176464"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A99E"/>
                </a:solidFill>
                <a:effectLst/>
                <a:latin typeface="Arial Unicode MS"/>
                <a:ea typeface="JetBrains Mono"/>
              </a:rPr>
              <a:t>.</a:t>
            </a:r>
            <a:r>
              <a:rPr kumimoji="0" lang="zh-CN" altLang="zh-CN" b="0" i="0" u="none" strike="noStrike" cap="none" normalizeH="0" baseline="0" dirty="0">
                <a:ln>
                  <a:noFill/>
                </a:ln>
                <a:solidFill>
                  <a:srgbClr val="00A99E"/>
                </a:solidFill>
                <a:effectLst/>
                <a:latin typeface="Arial Unicode MS"/>
                <a:ea typeface="JetBrains Mono"/>
              </a:rPr>
              <a:t>align</a:t>
            </a:r>
            <a:r>
              <a:rPr kumimoji="0" lang="zh-CN" altLang="zh-CN" b="0" i="0" u="none" strike="noStrike" cap="none" normalizeH="0" baseline="0" dirty="0">
                <a:ln>
                  <a:noFill/>
                </a:ln>
                <a:solidFill>
                  <a:srgbClr val="6C71C4"/>
                </a:solidFill>
                <a:effectLst/>
                <a:latin typeface="Arial Unicode MS"/>
                <a:ea typeface="JetBrains Mono"/>
              </a:rPr>
              <a:t>(</a:t>
            </a:r>
            <a:r>
              <a:rPr kumimoji="0" lang="zh-CN" altLang="zh-CN" b="0" i="0" u="none" strike="noStrike" cap="none" normalizeH="0" baseline="0" dirty="0">
                <a:ln>
                  <a:noFill/>
                </a:ln>
                <a:solidFill>
                  <a:srgbClr val="11408E"/>
                </a:solidFill>
                <a:effectLst/>
                <a:latin typeface="Arial Unicode MS"/>
                <a:ea typeface="JetBrains Mono"/>
              </a:rPr>
              <a:t>Alignment</a:t>
            </a:r>
            <a:r>
              <a:rPr kumimoji="0" lang="zh-CN" altLang="zh-CN" b="0" i="0" u="none" strike="noStrike" cap="none" normalizeH="0" baseline="0" dirty="0">
                <a:ln>
                  <a:noFill/>
                </a:ln>
                <a:solidFill>
                  <a:srgbClr val="859801"/>
                </a:solidFill>
                <a:effectLst/>
                <a:latin typeface="Arial Unicode MS"/>
                <a:ea typeface="JetBrains Mono"/>
              </a:rPr>
              <a:t>.</a:t>
            </a:r>
            <a:r>
              <a:rPr kumimoji="0" lang="zh-CN" altLang="zh-CN" b="0" i="0" u="none" strike="noStrike" cap="none" normalizeH="0" baseline="0" dirty="0">
                <a:ln>
                  <a:noFill/>
                </a:ln>
                <a:solidFill>
                  <a:srgbClr val="11408E"/>
                </a:solidFill>
                <a:effectLst/>
                <a:latin typeface="Arial Unicode MS"/>
                <a:ea typeface="JetBrains Mono"/>
              </a:rPr>
              <a:t>Start</a:t>
            </a:r>
            <a:r>
              <a:rPr kumimoji="0" lang="zh-CN" altLang="zh-CN" b="0" i="0" u="none" strike="noStrike" cap="none" normalizeH="0" baseline="0" dirty="0">
                <a:ln>
                  <a:noFill/>
                </a:ln>
                <a:solidFill>
                  <a:srgbClr val="6C71C4"/>
                </a:solidFill>
                <a:effectLst/>
                <a:latin typeface="Arial Unicode MS"/>
                <a:ea typeface="JetBrains Mono"/>
              </a:rPr>
              <a:t>)</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9" name="矩形 8"/>
          <p:cNvSpPr/>
          <p:nvPr/>
        </p:nvSpPr>
        <p:spPr>
          <a:xfrm>
            <a:off x="1054646" y="5663714"/>
            <a:ext cx="10297144" cy="961097"/>
          </a:xfrm>
          <a:prstGeom prst="rect">
            <a:avLst/>
          </a:prstGeom>
        </p:spPr>
        <p:txBody>
          <a:bodyPr wrap="square">
            <a:spAutoFit/>
          </a:bodyPr>
          <a:lstStyle/>
          <a:p>
            <a:pPr>
              <a:lnSpc>
                <a:spcPct val="150000"/>
              </a:lnSpc>
            </a:pPr>
            <a:r>
              <a:rPr lang="zh-CN" altLang="en-US"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注意</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：对齐</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align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textAlign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属性都能设置文字对齐方向，对齐方式</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align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比</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textAlign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优先级高，同时设置时</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textAlign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失效。</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46634" y="1053530"/>
            <a:ext cx="10297144" cy="2130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属性介绍</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123950" lvl="1" indent="-514350">
              <a:lnSpc>
                <a:spcPct val="150000"/>
              </a:lnSpc>
              <a:spcBef>
                <a:spcPts val="2400"/>
              </a:spcBef>
              <a:buFont typeface="Wingdings" panose="05000000000000000000" pitchFamily="2" charset="2"/>
              <a:buChar char="Ø"/>
            </a:pPr>
            <a:r>
              <a:rPr lang="en-US" altLang="zh-CN"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textOverfow</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当文本内容较多，超出了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Text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组件宽度时，可以使用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textOverflow</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设置文本截取方式，注意需配合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maxLines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使用，单独设置不生效。</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maxLines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用于设置文本显示最大行数，默认值为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Imnfnity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无穷</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Rectangle 1"/>
          <p:cNvSpPr>
            <a:spLocks noChangeArrowheads="1"/>
          </p:cNvSpPr>
          <p:nvPr/>
        </p:nvSpPr>
        <p:spPr bwMode="auto">
          <a:xfrm>
            <a:off x="982638" y="1197546"/>
            <a:ext cx="6192688" cy="50167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r>
              <a:rPr kumimoji="0" lang="zh-CN" altLang="zh-CN" sz="1600" b="0" i="0" u="none" strike="noStrike" cap="none" normalizeH="0" baseline="0" dirty="0">
                <a:ln>
                  <a:noFill/>
                </a:ln>
                <a:solidFill>
                  <a:srgbClr val="808000"/>
                </a:solidFill>
                <a:effectLst/>
                <a:latin typeface="Arial Unicode MS"/>
                <a:ea typeface="JetBrains Mono"/>
              </a:rPr>
              <a:t>@Entry @Component </a:t>
            </a:r>
            <a:r>
              <a:rPr kumimoji="0" lang="zh-CN" altLang="zh-CN" sz="1600" b="1" i="0" u="none" strike="noStrike" cap="none" normalizeH="0" baseline="0" dirty="0">
                <a:ln>
                  <a:noFill/>
                </a:ln>
                <a:solidFill>
                  <a:srgbClr val="859801"/>
                </a:solidFill>
                <a:effectLst/>
                <a:latin typeface="Arial Unicode MS"/>
                <a:ea typeface="JetBrains Mono"/>
              </a:rPr>
              <a:t>struct </a:t>
            </a:r>
            <a:r>
              <a:rPr kumimoji="0" lang="zh-CN" altLang="zh-CN" sz="1600" b="0" i="0" u="none" strike="noStrike" cap="none" normalizeH="0" baseline="0" dirty="0">
                <a:ln>
                  <a:noFill/>
                </a:ln>
                <a:solidFill>
                  <a:srgbClr val="507874"/>
                </a:solidFill>
                <a:effectLst/>
                <a:latin typeface="Arial Unicode MS"/>
                <a:ea typeface="JetBrains Mono"/>
              </a:rPr>
              <a:t>Test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build</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Column</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space</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FF9170"/>
                </a:solidFill>
                <a:effectLst/>
                <a:latin typeface="Arial Unicode MS"/>
                <a:ea typeface="JetBrains Mono"/>
              </a:rPr>
              <a:t>5</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en-US"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Hello, OpenHarmony, Hello, OpenHarmony, Hello, OpenHarmony, Hello, OpenHarmony</a:t>
            </a:r>
            <a:r>
              <a:rPr kumimoji="0" lang="zh-CN" altLang="en-US"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backgroundColor</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Color</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Grey</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en-US"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Hello, OpenHarmony, Hello, OpenHarmony, Hello, OpenHarmony, Hello, OpenHarmony</a:t>
            </a:r>
            <a:r>
              <a:rPr kumimoji="0" lang="zh-CN" altLang="en-US"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margin</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top</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FF9170"/>
                </a:solidFill>
                <a:effectLst/>
                <a:latin typeface="Arial Unicode MS"/>
                <a:ea typeface="JetBrains Mono"/>
              </a:rPr>
              <a:t>10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maxLines</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FF9170"/>
                </a:solidFill>
                <a:effectLst/>
                <a:latin typeface="Arial Unicode MS"/>
                <a:ea typeface="JetBrains Mono"/>
              </a:rPr>
              <a:t>1</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textOverflow</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overflow</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TextOverflow</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Ellipsis</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1" u="none" strike="noStrike" cap="none" normalizeH="0" baseline="0" dirty="0">
                <a:ln>
                  <a:noFill/>
                </a:ln>
                <a:solidFill>
                  <a:srgbClr val="808080"/>
                </a:solidFill>
                <a:effectLst/>
                <a:latin typeface="Arial Unicode MS"/>
                <a:ea typeface="JetBrains Mono"/>
              </a:rPr>
              <a:t>//</a:t>
            </a:r>
            <a:r>
              <a:rPr kumimoji="0" lang="zh-CN" altLang="zh-CN" sz="1600" b="0" i="1"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省略号代替</a:t>
            </a:r>
            <a:r>
              <a:rPr kumimoji="0" lang="zh-CN" altLang="zh-CN" sz="1600" b="0" i="1" u="none" strike="noStrike" cap="none" normalizeH="0" baseline="0" dirty="0">
                <a:ln>
                  <a:noFill/>
                </a:ln>
                <a:solidFill>
                  <a:srgbClr val="808080"/>
                </a:solidFill>
                <a:effectLst/>
                <a:latin typeface="Arial Unicode MS"/>
                <a:ea typeface="JetBrains Mono"/>
              </a:rPr>
              <a:t>backgroundColor(Color.Orange)</a:t>
            </a:r>
            <a:br>
              <a:rPr kumimoji="0" lang="zh-CN" altLang="zh-CN" sz="1600" b="0" i="1" u="none" strike="noStrike" cap="none" normalizeH="0" baseline="0" dirty="0">
                <a:ln>
                  <a:noFill/>
                </a:ln>
                <a:solidFill>
                  <a:srgbClr val="808080"/>
                </a:solidFill>
                <a:effectLst/>
                <a:latin typeface="Arial Unicode MS"/>
                <a:ea typeface="JetBrains Mono"/>
              </a:rPr>
            </a:br>
            <a:r>
              <a:rPr kumimoji="0" lang="zh-CN" altLang="zh-CN" sz="1600" b="0" i="1" u="none" strike="noStrike" cap="none" normalizeH="0" baseline="0" dirty="0">
                <a:ln>
                  <a:noFill/>
                </a:ln>
                <a:solidFill>
                  <a:srgbClr val="808080"/>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en-US"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Hello, OpenHarmony, Hello, OpenHarmony, Hello, OpenHarmony, Hello, OpenHarmony</a:t>
            </a:r>
            <a:r>
              <a:rPr kumimoji="0" lang="zh-CN" altLang="en-US"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margin</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top</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FF9170"/>
                </a:solidFill>
                <a:effectLst/>
                <a:latin typeface="Arial Unicode MS"/>
                <a:ea typeface="JetBrains Mono"/>
              </a:rPr>
              <a:t>10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maxLines</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FF9170"/>
                </a:solidFill>
                <a:effectLst/>
                <a:latin typeface="Arial Unicode MS"/>
                <a:ea typeface="JetBrains Mono"/>
              </a:rPr>
              <a:t>1</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textOverflow</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overflow</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TextOverflow</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Clip</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r>
              <a:rPr lang="zh-CN" altLang="zh-CN" sz="1600" i="1" dirty="0">
                <a:solidFill>
                  <a:srgbClr val="808080"/>
                </a:solidFill>
                <a:latin typeface="Arial Unicode MS"/>
                <a:ea typeface="JetBrains Mono"/>
              </a:rPr>
              <a:t> </a:t>
            </a:r>
            <a:r>
              <a:rPr lang="zh-CN" altLang="zh-CN" sz="1600" i="1">
                <a:solidFill>
                  <a:srgbClr val="808080"/>
                </a:solidFill>
                <a:latin typeface="Arial Unicode MS"/>
                <a:ea typeface="JetBrains Mono"/>
              </a:rPr>
              <a:t>//</a:t>
            </a:r>
            <a:r>
              <a:rPr lang="zh-CN" altLang="en-US" sz="1600" i="1">
                <a:solidFill>
                  <a:srgbClr val="808080"/>
                </a:solidFill>
                <a:latin typeface="Arial Unicode MS"/>
                <a:ea typeface="JetBrains Mono"/>
              </a:rPr>
              <a:t>直接</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backgroundColor</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Color</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Orange</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alignItems</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HorizontalAlign</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Start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3" name="图片 2"/>
          <p:cNvPicPr>
            <a:picLocks noChangeAspect="1"/>
          </p:cNvPicPr>
          <p:nvPr/>
        </p:nvPicPr>
        <p:blipFill>
          <a:blip r:embed="rId1"/>
          <a:stretch>
            <a:fillRect/>
          </a:stretch>
        </p:blipFill>
        <p:spPr>
          <a:xfrm>
            <a:off x="7184946" y="1773610"/>
            <a:ext cx="4238625" cy="2971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46634" y="1053530"/>
            <a:ext cx="10297144" cy="15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属性介绍</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123950" lvl="1" indent="-514350">
              <a:lnSpc>
                <a:spcPct val="150000"/>
              </a:lnSpc>
              <a:spcBef>
                <a:spcPts val="2400"/>
              </a:spcBef>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属性设置文本的样式，比如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fontSize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fontColor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fontStyle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fontWeight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分别设置文字的大小、颜色、样式和粗细。</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414686" y="3213770"/>
            <a:ext cx="5040560" cy="31393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808000"/>
                </a:solidFill>
                <a:effectLst/>
                <a:latin typeface="Arial Unicode MS"/>
                <a:ea typeface="JetBrains Mono"/>
              </a:rPr>
              <a:t>@Entry</a:t>
            </a:r>
            <a:br>
              <a:rPr kumimoji="0" lang="zh-CN" altLang="zh-CN" sz="1800" b="0" i="0" u="none" strike="noStrike" cap="none" normalizeH="0" baseline="0" dirty="0">
                <a:ln>
                  <a:noFill/>
                </a:ln>
                <a:solidFill>
                  <a:srgbClr val="808000"/>
                </a:solidFill>
                <a:effectLst/>
                <a:latin typeface="Arial Unicode MS"/>
                <a:ea typeface="JetBrains Mono"/>
              </a:rPr>
            </a:br>
            <a:r>
              <a:rPr kumimoji="0" lang="zh-CN" altLang="zh-CN" sz="1800" b="0" i="0" u="none" strike="noStrike" cap="none" normalizeH="0" baseline="0" dirty="0">
                <a:ln>
                  <a:noFill/>
                </a:ln>
                <a:solidFill>
                  <a:srgbClr val="808000"/>
                </a:solidFill>
                <a:effectLst/>
                <a:latin typeface="Arial Unicode MS"/>
                <a:ea typeface="JetBrains Mono"/>
              </a:rPr>
              <a:t>@Component</a:t>
            </a:r>
            <a:br>
              <a:rPr kumimoji="0" lang="zh-CN" altLang="zh-CN" sz="1800" b="0" i="0" u="none" strike="noStrike" cap="none" normalizeH="0" baseline="0" dirty="0">
                <a:ln>
                  <a:noFill/>
                </a:ln>
                <a:solidFill>
                  <a:srgbClr val="808000"/>
                </a:solidFill>
                <a:effectLst/>
                <a:latin typeface="Arial Unicode MS"/>
                <a:ea typeface="JetBrains Mono"/>
              </a:rPr>
            </a:br>
            <a:r>
              <a:rPr kumimoji="0" lang="zh-CN" altLang="zh-CN" sz="1800" b="1" i="0" u="none" strike="noStrike" cap="none" normalizeH="0" baseline="0" dirty="0">
                <a:ln>
                  <a:noFill/>
                </a:ln>
                <a:solidFill>
                  <a:srgbClr val="859801"/>
                </a:solidFill>
                <a:effectLst/>
                <a:latin typeface="Arial Unicode MS"/>
                <a:ea typeface="JetBrains Mono"/>
              </a:rPr>
              <a:t>struct </a:t>
            </a:r>
            <a:r>
              <a:rPr kumimoji="0" lang="zh-CN" altLang="zh-CN" sz="1800" b="0" i="0" u="none" strike="noStrike" cap="none" normalizeH="0" baseline="0" dirty="0">
                <a:ln>
                  <a:noFill/>
                </a:ln>
                <a:solidFill>
                  <a:srgbClr val="507874"/>
                </a:solidFill>
                <a:effectLst/>
                <a:latin typeface="Arial Unicode MS"/>
                <a:ea typeface="JetBrains Mono"/>
              </a:rPr>
              <a:t>Index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build</a:t>
            </a: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Row</a:t>
            </a: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Text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绿色</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fontColor</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Color</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Green</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fontSize</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FF9170"/>
                </a:solidFill>
                <a:effectLst/>
                <a:latin typeface="Arial Unicode MS"/>
                <a:ea typeface="JetBrains Mono"/>
              </a:rPr>
              <a:t>100</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fontStyle</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FontStyle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Italic</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fontWeight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FontWeight</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Bold</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r>
              <a:rPr lang="zh-CN" altLang="zh-CN" sz="1800" dirty="0">
                <a:solidFill>
                  <a:srgbClr val="E986CD"/>
                </a:solidFill>
                <a:latin typeface="Arial Unicode MS"/>
              </a:rPr>
              <a:t>}</a:t>
            </a:r>
            <a:endParaRPr lang="zh-CN" altLang="zh-CN" sz="1800" dirty="0">
              <a:solidFill>
                <a:srgbClr val="E986CD"/>
              </a:solidFill>
              <a:latin typeface="Arial Unicode MS"/>
            </a:endParaRPr>
          </a:p>
        </p:txBody>
      </p:sp>
      <p:pic>
        <p:nvPicPr>
          <p:cNvPr id="4" name="图片 3"/>
          <p:cNvPicPr>
            <a:picLocks noChangeAspect="1"/>
          </p:cNvPicPr>
          <p:nvPr/>
        </p:nvPicPr>
        <p:blipFill>
          <a:blip r:embed="rId1"/>
          <a:stretch>
            <a:fillRect/>
          </a:stretch>
        </p:blipFill>
        <p:spPr>
          <a:xfrm>
            <a:off x="6383238" y="3429794"/>
            <a:ext cx="4210050" cy="2057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942091"/>
            <a:ext cx="10945216" cy="4899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decoration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设置文本装饰线样式以及颜色，其中包含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type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color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两个参数。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type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用于设置装饰线样式的参数类型</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TextDecorationType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。而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color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则为装饰线颜色的可选参数。</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1123950" lvl="1" indent="-514350">
              <a:lnSpc>
                <a:spcPct val="150000"/>
              </a:lnSpc>
              <a:spcBef>
                <a:spcPts val="2400"/>
              </a:spcBef>
              <a:buFont typeface="Wingdings" panose="05000000000000000000" pitchFamily="2" charset="2"/>
              <a:buChar char="Ø"/>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5" name="图片 4"/>
          <p:cNvPicPr>
            <a:picLocks noChangeAspect="1"/>
          </p:cNvPicPr>
          <p:nvPr/>
        </p:nvPicPr>
        <p:blipFill>
          <a:blip r:embed="rId1"/>
          <a:stretch>
            <a:fillRect/>
          </a:stretch>
        </p:blipFill>
        <p:spPr>
          <a:xfrm>
            <a:off x="1702718" y="2561275"/>
            <a:ext cx="9134557" cy="16615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942091"/>
            <a:ext cx="10945216" cy="5116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spcBef>
                <a:spcPts val="2400"/>
              </a:spcBef>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属性可以组合使用，以创建出更加丰富多彩的文本样式。</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774726" y="1064113"/>
            <a:ext cx="7200799" cy="32932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a:ea typeface="JetBrains Mono"/>
              </a:rPr>
              <a:t>@Entry</a:t>
            </a:r>
            <a:br>
              <a:rPr kumimoji="0" lang="zh-CN" altLang="zh-CN" sz="1600" b="0" i="0" u="none" strike="noStrike" cap="none" normalizeH="0" baseline="0" dirty="0">
                <a:ln>
                  <a:noFill/>
                </a:ln>
                <a:solidFill>
                  <a:srgbClr val="808000"/>
                </a:solidFill>
                <a:effectLst/>
                <a:latin typeface="Arial Unicode MS"/>
                <a:ea typeface="JetBrains Mono"/>
              </a:rPr>
            </a:br>
            <a:r>
              <a:rPr kumimoji="0" lang="zh-CN" altLang="zh-CN" sz="1600" b="0" i="0" u="none" strike="noStrike" cap="none" normalizeH="0" baseline="0" dirty="0">
                <a:ln>
                  <a:noFill/>
                </a:ln>
                <a:solidFill>
                  <a:srgbClr val="808000"/>
                </a:solidFill>
                <a:effectLst/>
                <a:latin typeface="Arial Unicode MS"/>
                <a:ea typeface="JetBrains Mono"/>
              </a:rPr>
              <a:t>@Component</a:t>
            </a:r>
            <a:br>
              <a:rPr kumimoji="0" lang="zh-CN" altLang="zh-CN" sz="1600" b="0" i="0" u="none" strike="noStrike" cap="none" normalizeH="0" baseline="0" dirty="0">
                <a:ln>
                  <a:noFill/>
                </a:ln>
                <a:solidFill>
                  <a:srgbClr val="808000"/>
                </a:solidFill>
                <a:effectLst/>
                <a:latin typeface="Arial Unicode MS"/>
                <a:ea typeface="JetBrains Mono"/>
              </a:rPr>
            </a:br>
            <a:r>
              <a:rPr kumimoji="0" lang="zh-CN" altLang="zh-CN" sz="1600" b="1" i="0" u="none" strike="noStrike" cap="none" normalizeH="0" baseline="0" dirty="0">
                <a:ln>
                  <a:noFill/>
                </a:ln>
                <a:solidFill>
                  <a:srgbClr val="859801"/>
                </a:solidFill>
                <a:effectLst/>
                <a:latin typeface="Arial Unicode MS"/>
                <a:ea typeface="JetBrains Mono"/>
              </a:rPr>
              <a:t>struct </a:t>
            </a:r>
            <a:r>
              <a:rPr kumimoji="0" lang="zh-CN" altLang="zh-CN" sz="1600" b="0" i="0" u="none" strike="noStrike" cap="none" normalizeH="0" baseline="0" dirty="0">
                <a:ln>
                  <a:noFill/>
                </a:ln>
                <a:solidFill>
                  <a:srgbClr val="507874"/>
                </a:solidFill>
                <a:effectLst/>
                <a:latin typeface="Arial Unicode MS"/>
                <a:ea typeface="JetBrains Mono"/>
              </a:rPr>
              <a:t>Index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build</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Row</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绿色</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fontColor</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Color</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Green</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fontSize</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FF9170"/>
                </a:solidFill>
                <a:effectLst/>
                <a:latin typeface="Arial Unicode MS"/>
                <a:ea typeface="JetBrains Mono"/>
              </a:rPr>
              <a:t>100</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fontStyle</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FontStyle</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Italic</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fontWeight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FontWeight</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Bold</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1" u="none" strike="noStrike" cap="none" normalizeH="0" baseline="0" dirty="0">
                <a:ln>
                  <a:noFill/>
                </a:ln>
                <a:solidFill>
                  <a:srgbClr val="808080"/>
                </a:solidFill>
                <a:effectLst/>
                <a:latin typeface="Arial Unicode MS"/>
                <a:ea typeface="JetBrains Mono"/>
              </a:rPr>
            </a:br>
            <a:r>
              <a:rPr kumimoji="0" lang="zh-CN" altLang="zh-CN" sz="1600" b="0" i="1" u="none" strike="noStrike" cap="none" normalizeH="0" baseline="0" dirty="0">
                <a:ln>
                  <a:noFill/>
                </a:ln>
                <a:solidFill>
                  <a:srgbClr val="808080"/>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decoration</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type</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TextDecorationType</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Underline</a:t>
            </a:r>
            <a:r>
              <a:rPr kumimoji="0" lang="zh-CN" altLang="zh-CN" sz="1600" b="0" i="0" u="none" strike="noStrike" cap="none" normalizeH="0" baseline="0" dirty="0">
                <a:ln>
                  <a:noFill/>
                </a:ln>
                <a:solidFill>
                  <a:srgbClr val="859801"/>
                </a:solidFill>
                <a:effectLst/>
                <a:latin typeface="Arial Unicode MS"/>
                <a:ea typeface="JetBrains Mono"/>
              </a:rPr>
              <a:t>, </a:t>
            </a:r>
            <a:br>
              <a:rPr kumimoji="0" lang="zh-CN" altLang="zh-CN" sz="1600" b="0" i="0" u="none" strike="noStrike" cap="none" normalizeH="0" baseline="0" dirty="0">
                <a:ln>
                  <a:noFill/>
                </a:ln>
                <a:solidFill>
                  <a:srgbClr val="859801"/>
                </a:solidFill>
                <a:effectLst/>
                <a:latin typeface="Arial Unicode MS"/>
                <a:ea typeface="JetBrains Mono"/>
              </a:rPr>
            </a:b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color</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Color</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Orange</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1"/>
          <a:stretch>
            <a:fillRect/>
          </a:stretch>
        </p:blipFill>
        <p:spPr>
          <a:xfrm>
            <a:off x="7175326" y="1341562"/>
            <a:ext cx="4181475" cy="18954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57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TextCase</a:t>
            </a: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设置文本大小写，默认值为</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TextCase.NormaltextCase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3" name="图片 2"/>
          <p:cNvPicPr>
            <a:picLocks noChangeAspect="1"/>
          </p:cNvPicPr>
          <p:nvPr/>
        </p:nvPicPr>
        <p:blipFill>
          <a:blip r:embed="rId1"/>
          <a:stretch>
            <a:fillRect/>
          </a:stretch>
        </p:blipFill>
        <p:spPr>
          <a:xfrm>
            <a:off x="1357411" y="2349674"/>
            <a:ext cx="9572625" cy="16954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57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TextCase</a:t>
            </a: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设置文本大小写，默认值为</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TextCase.NormaltextCase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Rectangle 1"/>
          <p:cNvSpPr>
            <a:spLocks noChangeArrowheads="1"/>
          </p:cNvSpPr>
          <p:nvPr/>
        </p:nvSpPr>
        <p:spPr bwMode="auto">
          <a:xfrm>
            <a:off x="1630710" y="2277666"/>
            <a:ext cx="4885925" cy="3477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a:t>
            </a:r>
            <a:br>
              <a:rPr kumimoji="0" lang="zh-CN" altLang="zh-CN" sz="2000" b="0" i="0" u="none" strike="noStrike" cap="none" normalizeH="0" baseline="0" dirty="0">
                <a:ln>
                  <a:noFill/>
                </a:ln>
                <a:solidFill>
                  <a:srgbClr val="808000"/>
                </a:solidFill>
                <a:effectLst/>
                <a:latin typeface="Arial Unicode MS"/>
                <a:ea typeface="JetBrains Mono"/>
              </a:rPr>
            </a:br>
            <a:r>
              <a:rPr kumimoji="0" lang="zh-CN" altLang="zh-CN" sz="2000" b="0" i="0" u="none" strike="noStrike" cap="none" normalizeH="0" baseline="0" dirty="0">
                <a:ln>
                  <a:noFill/>
                </a:ln>
                <a:solidFill>
                  <a:srgbClr val="808000"/>
                </a:solidFill>
                <a:effectLst/>
                <a:latin typeface="Arial Unicode MS"/>
                <a:ea typeface="JetBrains Mono"/>
              </a:rPr>
              <a:t>@Component</a:t>
            </a:r>
            <a:br>
              <a:rPr kumimoji="0" lang="zh-CN" altLang="zh-CN" sz="2000" b="0" i="0" u="none" strike="noStrike" cap="none" normalizeH="0" baseline="0" dirty="0">
                <a:ln>
                  <a:noFill/>
                </a:ln>
                <a:solidFill>
                  <a:srgbClr val="808000"/>
                </a:solidFill>
                <a:effectLst/>
                <a:latin typeface="Arial Unicode MS"/>
                <a:ea typeface="JetBrains Mono"/>
              </a:rPr>
            </a:b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Index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Row</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Text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'aBcDeFg'</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fontSize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60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textCase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TextCase</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LowerCase</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1"/>
          <a:stretch>
            <a:fillRect/>
          </a:stretch>
        </p:blipFill>
        <p:spPr>
          <a:xfrm>
            <a:off x="6671270" y="2421682"/>
            <a:ext cx="4295775" cy="21431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961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本垂直显示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:Text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组件设置文本垂直显示时，字体大小和组件宽度一致即可，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保证每行只能容纳一个字体，不用设置高度。</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438945" y="3069754"/>
            <a:ext cx="4464495"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Column</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Text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开源鸿蒙</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fontSize</a:t>
            </a:r>
            <a:r>
              <a:rPr kumimoji="0" lang="zh-CN" altLang="zh-CN" sz="2000" b="0" i="0" u="none" strike="noStrike" cap="none" normalizeH="0" baseline="0" dirty="0">
                <a:ln>
                  <a:noFill/>
                </a:ln>
                <a:solidFill>
                  <a:srgbClr val="6C71C4"/>
                </a:solidFill>
                <a:effectLst/>
                <a:latin typeface="Arial Unicode MS"/>
                <a:ea typeface="JetBrains Mono"/>
              </a:rPr>
              <a:t>(</a:t>
            </a:r>
            <a:r>
              <a:rPr kumimoji="0" lang="en-US" altLang="zh-CN" sz="2000" b="0" i="0" u="none" strike="noStrike" cap="none" normalizeH="0" baseline="0" dirty="0">
                <a:ln>
                  <a:noFill/>
                </a:ln>
                <a:solidFill>
                  <a:srgbClr val="FF9170"/>
                </a:solidFill>
                <a:effectLst/>
                <a:latin typeface="Arial Unicode MS"/>
                <a:ea typeface="JetBrains Mono"/>
              </a:rPr>
              <a:t>50</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en-US" altLang="zh-CN" sz="2000" b="0" i="0" u="none" strike="noStrike" cap="none" normalizeH="0" baseline="0" dirty="0">
                <a:ln>
                  <a:noFill/>
                </a:ln>
                <a:solidFill>
                  <a:srgbClr val="FF9170"/>
                </a:solidFill>
                <a:effectLst/>
                <a:latin typeface="Arial Unicode MS"/>
                <a:ea typeface="JetBrains Mono"/>
              </a:rPr>
              <a:t>50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alignItems</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HorizontalAlign</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Start</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8" name="图片 7"/>
          <p:cNvPicPr>
            <a:picLocks noChangeAspect="1"/>
          </p:cNvPicPr>
          <p:nvPr/>
        </p:nvPicPr>
        <p:blipFill>
          <a:blip r:embed="rId1"/>
          <a:stretch>
            <a:fillRect/>
          </a:stretch>
        </p:blipFill>
        <p:spPr>
          <a:xfrm>
            <a:off x="6743278" y="2532772"/>
            <a:ext cx="4400550" cy="33147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4346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组件被设计用于输入单行文本，并对输入事件做出响应。</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lnSpc>
                <a:spcPct val="150000"/>
              </a:lnSpc>
              <a:spcBef>
                <a:spcPts val="2400"/>
              </a:spcBef>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其应用范围广泛在登录账号、发送消息等场景中均可使用。</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lnSpc>
                <a:spcPct val="150000"/>
              </a:lnSpc>
              <a:spcBef>
                <a:spcPts val="2400"/>
              </a:spcBef>
              <a:buFont typeface="Wingdings" panose="05000000000000000000" pitchFamily="2" charset="2"/>
              <a:buChar char="Ø"/>
            </a:pP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组件同样支持文本样式的设置。</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lnSpc>
                <a:spcPct val="150000"/>
              </a:lnSpc>
              <a:spcBef>
                <a:spcPts val="2400"/>
              </a:spcBef>
              <a:buFont typeface="Wingdings" panose="05000000000000000000" pitchFamily="2" charset="2"/>
              <a:buChar char="Ø"/>
            </a:pP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ArkUI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开发框架提供了</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种类型的输入框，即</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TextArea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p"/>
            </a:pP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仅支持单行输人，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p"/>
            </a:pP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TextArea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支持多行输入。</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TextInput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2807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sz="20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TextInput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可接收参数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TextInputOptions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，其对象说明如下：</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n"/>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text: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设置输入框的初始显示文本，不设置时显示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placeholder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的内容。</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n"/>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placeholder: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设置无输入时的提示文本，当不设置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text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时，显示该文本。</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n"/>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controller: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控制器。</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TextInput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414686" y="4581922"/>
            <a:ext cx="5832648" cy="181588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a:ea typeface="JetBrains Mono"/>
              </a:rPr>
              <a:t>@Entry @Component </a:t>
            </a:r>
            <a:r>
              <a:rPr kumimoji="0" lang="zh-CN" altLang="zh-CN" sz="1600" b="1" i="0" u="none" strike="noStrike" cap="none" normalizeH="0" baseline="0" dirty="0">
                <a:ln>
                  <a:noFill/>
                </a:ln>
                <a:solidFill>
                  <a:srgbClr val="859801"/>
                </a:solidFill>
                <a:effectLst/>
                <a:latin typeface="Arial Unicode MS"/>
                <a:ea typeface="JetBrains Mono"/>
              </a:rPr>
              <a:t>struct </a:t>
            </a:r>
            <a:r>
              <a:rPr kumimoji="0" lang="zh-CN" altLang="zh-CN" sz="1600" b="0" i="0" u="none" strike="noStrike" cap="none" normalizeH="0" baseline="0" dirty="0">
                <a:ln>
                  <a:noFill/>
                </a:ln>
                <a:solidFill>
                  <a:srgbClr val="507874"/>
                </a:solidFill>
                <a:effectLst/>
                <a:latin typeface="Arial Unicode MS"/>
                <a:ea typeface="JetBrains Mono"/>
              </a:rPr>
              <a:t>Test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build</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Column</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TextInput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placeholder</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请输入账号</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text</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输入姓名</a:t>
            </a:r>
            <a:r>
              <a:rPr kumimoji="0" lang="zh-CN" altLang="zh-CN" sz="1600" b="0" i="0" u="none" strike="noStrike" cap="none" normalizeH="0" baseline="0" dirty="0">
                <a:ln>
                  <a:noFill/>
                </a:ln>
                <a:solidFill>
                  <a:srgbClr val="653170"/>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1"/>
          <a:stretch>
            <a:fillRect/>
          </a:stretch>
        </p:blipFill>
        <p:spPr>
          <a:xfrm>
            <a:off x="7213305" y="4221882"/>
            <a:ext cx="4295775" cy="16002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输入框组件</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TextInput</a:t>
            </a:r>
            <a:endPar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2" name="组合 11"/>
          <p:cNvGrpSpPr/>
          <p:nvPr/>
        </p:nvGrpSpPr>
        <p:grpSpPr>
          <a:xfrm>
            <a:off x="479549" y="1626034"/>
            <a:ext cx="10796287" cy="643325"/>
            <a:chOff x="361420" y="710838"/>
            <a:chExt cx="7758114" cy="482569"/>
          </a:xfrm>
        </p:grpSpPr>
        <p:sp>
          <p:nvSpPr>
            <p:cNvPr id="6" name="文本框 5"/>
            <p:cNvSpPr txBox="1"/>
            <p:nvPr/>
          </p:nvSpPr>
          <p:spPr>
            <a:xfrm>
              <a:off x="512119" y="769606"/>
              <a:ext cx="7446548" cy="364865"/>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单行文本输入框组件</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TextInput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，用于输入文字。</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61420" y="710838"/>
              <a:ext cx="7758114" cy="48256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1" name="组合 10"/>
          <p:cNvGrpSpPr/>
          <p:nvPr/>
        </p:nvGrpSpPr>
        <p:grpSpPr>
          <a:xfrm>
            <a:off x="479549" y="2833715"/>
            <a:ext cx="10796289" cy="3090002"/>
            <a:chOff x="452851" y="3487905"/>
            <a:chExt cx="8098482" cy="2317864"/>
          </a:xfrm>
        </p:grpSpPr>
        <p:sp>
          <p:nvSpPr>
            <p:cNvPr id="8" name="圆角矩形 55"/>
            <p:cNvSpPr/>
            <p:nvPr>
              <p:custDataLst>
                <p:tags r:id="rId2"/>
              </p:custDataLst>
            </p:nvPr>
          </p:nvSpPr>
          <p:spPr>
            <a:xfrm>
              <a:off x="452851" y="3487905"/>
              <a:ext cx="8098482" cy="231786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452852" y="3639873"/>
              <a:ext cx="8098480" cy="1280360"/>
            </a:xfrm>
            <a:prstGeom prst="rect">
              <a:avLst/>
            </a:prstGeom>
            <a:noFill/>
          </p:spPr>
          <p:txBody>
            <a:bodyPr wrap="square">
              <a:spAutoFit/>
            </a:bodyPr>
            <a:lstStyle/>
            <a:p>
              <a:pPr marL="408940" marR="63500">
                <a:lnSpc>
                  <a:spcPts val="1100"/>
                </a:lnSpc>
                <a:spcBef>
                  <a:spcPts val="600"/>
                </a:spcBef>
                <a:spcAft>
                  <a:spcPts val="600"/>
                </a:spcAft>
                <a:tabLst>
                  <a:tab pos="180340" algn="l"/>
                  <a:tab pos="408940" algn="l"/>
                </a:tabLst>
              </a:pP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TextInput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placeholder</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请输入账户</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设置无输入时的提示文本</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text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设置输入框当前的文本内容</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type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InputType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Normal</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设置输入框类型</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onChange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value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000080"/>
                  </a:solidFill>
                  <a:effectLst/>
                  <a:latin typeface="Consolas" panose="020B0609020204030204" pitchFamily="49" charset="0"/>
                  <a:ea typeface="宋体" panose="02010600030101010101" pitchFamily="2" charset="-122"/>
                  <a:cs typeface="宋体" panose="02010600030101010101" pitchFamily="2" charset="-122"/>
                </a:rPr>
                <a:t>string</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=&gt;</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输入内容发生变化时，触发该回调，</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value</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就是输入的内容</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p:txBody>
        </p:sp>
      </p:grpSp>
      <p:pic>
        <p:nvPicPr>
          <p:cNvPr id="7" name="图片 6" descr="537278f7a07fdbada666bdacf26f64b1"/>
          <p:cNvPicPr>
            <a:picLocks noChangeAspect="1"/>
          </p:cNvPicPr>
          <p:nvPr>
            <p:custDataLst>
              <p:tags r:id="rId3"/>
            </p:custDataLst>
          </p:nvPr>
        </p:nvPicPr>
        <p:blipFill>
          <a:blip r:embed="rId4"/>
          <a:stretch>
            <a:fillRect/>
          </a:stretch>
        </p:blipFill>
        <p:spPr>
          <a:xfrm>
            <a:off x="8846271" y="2500820"/>
            <a:ext cx="8202555" cy="5655661"/>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11"/>
                                        </p:tgtEl>
                                        <p:attrNameLst>
                                          <p:attrName>style.visibility</p:attrName>
                                        </p:attrNameLst>
                                      </p:cBhvr>
                                      <p:to>
                                        <p:strVal val="visible"/>
                                      </p:to>
                                    </p:set>
                                    <p:animEffect transition="in" filter="wedge">
                                      <p:cBhvr>
                                        <p:cTn id="15" dur="1000"/>
                                        <p:tgtEl>
                                          <p:spTgt spid="11"/>
                                        </p:tgtEl>
                                      </p:cBhvr>
                                    </p:animEffect>
                                  </p:childTnLst>
                                </p:cTn>
                              </p:par>
                              <p:par>
                                <p:cTn id="16" presetID="42"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053530"/>
            <a:ext cx="10729192" cy="1837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sz="20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TextInput</a:t>
            </a:r>
            <a:r>
              <a:rPr lang="zh-CN" altLang="en-US"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属性</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placeholder</a:t>
            </a:r>
            <a:r>
              <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使用输入框时，往往会有一些提示文字。例如登录账号的时候会有“请输人账号”这样的文本提示</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当用户输人内容之后，提示文本就会消失，这种提示功能使用</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placeholder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属性就可以轻松地实现。还可以使用 </a:t>
            </a:r>
            <a:r>
              <a:rPr lang="en-US" altLang="zh-CN" sz="20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placeholderColor</a:t>
            </a: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placeholderFont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分别设置提示文本的颜色和样式。</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TextInput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Rectangle 1"/>
          <p:cNvSpPr>
            <a:spLocks noChangeArrowheads="1"/>
          </p:cNvSpPr>
          <p:nvPr/>
        </p:nvSpPr>
        <p:spPr bwMode="auto">
          <a:xfrm>
            <a:off x="1228697" y="3121134"/>
            <a:ext cx="5472607" cy="32008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000" b="0" i="0" u="none" strike="noStrike" cap="none" normalizeH="0" baseline="0" dirty="0">
                <a:ln>
                  <a:noFill/>
                </a:ln>
                <a:solidFill>
                  <a:srgbClr val="000000"/>
                </a:solidFill>
                <a:effectLst/>
                <a:latin typeface="Arial Unicode MS"/>
                <a:ea typeface="JetBrains Mono"/>
              </a:rPr>
            </a:br>
            <a:r>
              <a:rPr kumimoji="0" lang="zh-CN" altLang="zh-CN" sz="1600" b="0" i="0" u="none" strike="noStrike" cap="none" normalizeH="0" baseline="0" dirty="0">
                <a:ln>
                  <a:noFill/>
                </a:ln>
                <a:solidFill>
                  <a:srgbClr val="808000"/>
                </a:solidFill>
                <a:effectLst/>
                <a:latin typeface="Arial Unicode MS"/>
                <a:ea typeface="JetBrains Mono"/>
              </a:rPr>
              <a:t>@Entry @Component </a:t>
            </a:r>
            <a:r>
              <a:rPr kumimoji="0" lang="zh-CN" altLang="zh-CN" sz="1600" b="1" i="0" u="none" strike="noStrike" cap="none" normalizeH="0" baseline="0" dirty="0">
                <a:ln>
                  <a:noFill/>
                </a:ln>
                <a:solidFill>
                  <a:srgbClr val="859801"/>
                </a:solidFill>
                <a:effectLst/>
                <a:latin typeface="Arial Unicode MS"/>
                <a:ea typeface="JetBrains Mono"/>
              </a:rPr>
              <a:t>struct </a:t>
            </a:r>
            <a:r>
              <a:rPr kumimoji="0" lang="zh-CN" altLang="zh-CN" sz="1600" b="0" i="0" u="none" strike="noStrike" cap="none" normalizeH="0" baseline="0" dirty="0">
                <a:ln>
                  <a:noFill/>
                </a:ln>
                <a:solidFill>
                  <a:srgbClr val="507874"/>
                </a:solidFill>
                <a:effectLst/>
                <a:latin typeface="Arial Unicode MS"/>
                <a:ea typeface="JetBrains Mono"/>
              </a:rPr>
              <a:t>Test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build</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Column</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TextInput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placeholder</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请输入账号</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placeholderColor</a:t>
            </a:r>
            <a:r>
              <a:rPr kumimoji="0" lang="zh-CN" altLang="zh-CN" sz="1600" b="0" i="0" u="none" strike="noStrike" cap="none" normalizeH="0" baseline="0" dirty="0">
                <a:ln>
                  <a:noFill/>
                </a:ln>
                <a:solidFill>
                  <a:srgbClr val="6C71C4"/>
                </a:solidFill>
                <a:effectLst/>
                <a:latin typeface="Arial Unicode MS"/>
                <a:ea typeface="JetBrains Mono"/>
              </a:rPr>
              <a:t>(0x999999)</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placeholderFont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size</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FF9170"/>
                </a:solidFill>
                <a:effectLst/>
                <a:latin typeface="Arial Unicode MS"/>
                <a:ea typeface="JetBrains Mono"/>
              </a:rPr>
              <a:t>20</a:t>
            </a:r>
            <a:r>
              <a:rPr kumimoji="0" lang="zh-CN" altLang="zh-CN" sz="1600" b="0" i="0" u="none" strike="noStrike" cap="none" normalizeH="0" baseline="0" dirty="0">
                <a:ln>
                  <a:noFill/>
                </a:ln>
                <a:solidFill>
                  <a:srgbClr val="859801"/>
                </a:solidFill>
                <a:effectLst/>
                <a:latin typeface="Arial Unicode MS"/>
                <a:ea typeface="JetBrains Mono"/>
              </a:rPr>
              <a:t>,</a:t>
            </a:r>
            <a:br>
              <a:rPr kumimoji="0" lang="zh-CN" altLang="zh-CN" sz="1600" b="0" i="0" u="none" strike="noStrike" cap="none" normalizeH="0" baseline="0" dirty="0">
                <a:ln>
                  <a:noFill/>
                </a:ln>
                <a:solidFill>
                  <a:srgbClr val="859801"/>
                </a:solidFill>
                <a:effectLst/>
                <a:latin typeface="Arial Unicode MS"/>
                <a:ea typeface="JetBrains Mono"/>
              </a:rPr>
            </a:b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weight</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FontWeight</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Medium</a:t>
            </a:r>
            <a:r>
              <a:rPr kumimoji="0" lang="zh-CN" altLang="zh-CN" sz="1600" b="0" i="0" u="none" strike="noStrike" cap="none" normalizeH="0" baseline="0" dirty="0">
                <a:ln>
                  <a:noFill/>
                </a:ln>
                <a:solidFill>
                  <a:srgbClr val="859801"/>
                </a:solidFill>
                <a:effectLst/>
                <a:latin typeface="Arial Unicode MS"/>
                <a:ea typeface="JetBrains Mono"/>
              </a:rPr>
              <a:t>,</a:t>
            </a:r>
            <a:br>
              <a:rPr kumimoji="0" lang="zh-CN" altLang="zh-CN" sz="1600" b="0" i="0" u="none" strike="noStrike" cap="none" normalizeH="0" baseline="0" dirty="0">
                <a:ln>
                  <a:noFill/>
                </a:ln>
                <a:solidFill>
                  <a:srgbClr val="859801"/>
                </a:solidFill>
                <a:effectLst/>
                <a:latin typeface="Arial Unicode MS"/>
                <a:ea typeface="JetBrains Mono"/>
              </a:rPr>
            </a:b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family</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653170"/>
                </a:solidFill>
                <a:effectLst/>
                <a:latin typeface="Arial Unicode MS"/>
                <a:ea typeface="JetBrains Mono"/>
              </a:rPr>
              <a:t>"cursive"</a:t>
            </a:r>
            <a:r>
              <a:rPr kumimoji="0" lang="zh-CN" altLang="zh-CN" sz="1600" b="0" i="0" u="none" strike="noStrike" cap="none" normalizeH="0" baseline="0" dirty="0">
                <a:ln>
                  <a:noFill/>
                </a:ln>
                <a:solidFill>
                  <a:srgbClr val="859801"/>
                </a:solidFill>
                <a:effectLst/>
                <a:latin typeface="Arial Unicode MS"/>
                <a:ea typeface="JetBrains Mono"/>
              </a:rPr>
              <a:t>,</a:t>
            </a:r>
            <a:br>
              <a:rPr kumimoji="0" lang="zh-CN" altLang="zh-CN" sz="1600" b="0" i="0" u="none" strike="noStrike" cap="none" normalizeH="0" baseline="0" dirty="0">
                <a:ln>
                  <a:noFill/>
                </a:ln>
                <a:solidFill>
                  <a:srgbClr val="859801"/>
                </a:solidFill>
                <a:effectLst/>
                <a:latin typeface="Arial Unicode MS"/>
                <a:ea typeface="JetBrains Mono"/>
              </a:rPr>
            </a:b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style</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FontStyle</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Italic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8" name="图片 7"/>
          <p:cNvPicPr>
            <a:picLocks noChangeAspect="1"/>
          </p:cNvPicPr>
          <p:nvPr/>
        </p:nvPicPr>
        <p:blipFill>
          <a:blip r:embed="rId1"/>
          <a:stretch>
            <a:fillRect/>
          </a:stretch>
        </p:blipFill>
        <p:spPr>
          <a:xfrm>
            <a:off x="6383238" y="4610398"/>
            <a:ext cx="3894721" cy="838104"/>
          </a:xfrm>
          <a:prstGeom prst="rect">
            <a:avLst/>
          </a:prstGeom>
        </p:spPr>
      </p:pic>
      <p:pic>
        <p:nvPicPr>
          <p:cNvPr id="9" name="图片 8"/>
          <p:cNvPicPr>
            <a:picLocks noChangeAspect="1"/>
          </p:cNvPicPr>
          <p:nvPr/>
        </p:nvPicPr>
        <p:blipFill>
          <a:blip r:embed="rId2"/>
          <a:stretch>
            <a:fillRect/>
          </a:stretch>
        </p:blipFill>
        <p:spPr>
          <a:xfrm>
            <a:off x="6527254" y="3342542"/>
            <a:ext cx="3613046" cy="84896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961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sz="20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TextInputController</a:t>
            </a: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光标控制器，可以使用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TextInputController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动态设置光标位置。例如，使用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TextlnputController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caretPosition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方法，将光标移动到了第二个字符后。</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TextInput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Rectangle 1"/>
          <p:cNvSpPr>
            <a:spLocks noChangeArrowheads="1"/>
          </p:cNvSpPr>
          <p:nvPr/>
        </p:nvSpPr>
        <p:spPr bwMode="auto">
          <a:xfrm>
            <a:off x="1198662" y="2997746"/>
            <a:ext cx="6384951" cy="2800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a:ea typeface="JetBrains Mono"/>
              </a:rPr>
              <a:t>@Entry @Component </a:t>
            </a:r>
            <a:r>
              <a:rPr kumimoji="0" lang="zh-CN" altLang="zh-CN" sz="1600" b="1" i="0" u="none" strike="noStrike" cap="none" normalizeH="0" baseline="0" dirty="0">
                <a:ln>
                  <a:noFill/>
                </a:ln>
                <a:solidFill>
                  <a:srgbClr val="859801"/>
                </a:solidFill>
                <a:effectLst/>
                <a:latin typeface="Arial Unicode MS"/>
                <a:ea typeface="JetBrains Mono"/>
              </a:rPr>
              <a:t>struct </a:t>
            </a:r>
            <a:r>
              <a:rPr kumimoji="0" lang="zh-CN" altLang="zh-CN" sz="1600" b="0" i="0" u="none" strike="noStrike" cap="none" normalizeH="0" baseline="0" dirty="0">
                <a:ln>
                  <a:noFill/>
                </a:ln>
                <a:solidFill>
                  <a:srgbClr val="507874"/>
                </a:solidFill>
                <a:effectLst/>
                <a:latin typeface="Arial Unicode MS"/>
                <a:ea typeface="JetBrains Mono"/>
              </a:rPr>
              <a:t>TextInputDemo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controller</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000080"/>
                </a:solidFill>
                <a:effectLst/>
                <a:latin typeface="Arial Unicode MS"/>
                <a:ea typeface="JetBrains Mono"/>
              </a:rPr>
              <a:t>TextInputController </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1" i="0" u="none" strike="noStrike" cap="none" normalizeH="0" baseline="0" dirty="0">
                <a:ln>
                  <a:noFill/>
                </a:ln>
                <a:solidFill>
                  <a:srgbClr val="859801"/>
                </a:solidFill>
                <a:effectLst/>
                <a:latin typeface="Arial Unicode MS"/>
                <a:ea typeface="JetBrains Mono"/>
              </a:rPr>
              <a:t>new </a:t>
            </a:r>
            <a:r>
              <a:rPr kumimoji="0" lang="zh-CN" altLang="zh-CN" sz="1600" b="0" i="0" u="none" strike="noStrike" cap="none" normalizeH="0" baseline="0" dirty="0">
                <a:ln>
                  <a:noFill/>
                </a:ln>
                <a:solidFill>
                  <a:srgbClr val="00A99E"/>
                </a:solidFill>
                <a:effectLst/>
                <a:latin typeface="Arial Unicode MS"/>
                <a:ea typeface="JetBrains Mono"/>
              </a:rPr>
              <a:t>TextInputController</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build</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Column</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TextInput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controller</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1" i="0" u="none" strike="noStrike" cap="none" normalizeH="0" baseline="0" dirty="0">
                <a:ln>
                  <a:noFill/>
                </a:ln>
                <a:solidFill>
                  <a:srgbClr val="859801"/>
                </a:solidFill>
                <a:effectLst/>
                <a:latin typeface="Arial Unicode MS"/>
                <a:ea typeface="JetBrains Mono"/>
              </a:rPr>
              <a:t>this</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controller</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Button</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设置光标位置</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onClick</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859801"/>
                </a:solidFill>
                <a:effectLst/>
                <a:latin typeface="Arial Unicode MS"/>
                <a:ea typeface="JetBrains Mono"/>
              </a:rPr>
              <a:t>=&gt;</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1" i="0" u="none" strike="noStrike" cap="none" normalizeH="0" baseline="0" dirty="0">
                <a:ln>
                  <a:noFill/>
                </a:ln>
                <a:solidFill>
                  <a:srgbClr val="859801"/>
                </a:solidFill>
                <a:effectLst/>
                <a:latin typeface="Arial Unicode MS"/>
                <a:ea typeface="JetBrains Mono"/>
              </a:rPr>
              <a:t>this</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controller</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caretPosition</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FF9170"/>
                </a:solidFill>
                <a:effectLst/>
                <a:latin typeface="Arial Unicode MS"/>
                <a:ea typeface="JetBrains Mono"/>
              </a:rPr>
              <a:t>3</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height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Arial Unicode MS"/>
                <a:ea typeface="JetBrains Mono"/>
              </a:rPr>
              <a:t>"100%"</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backgroundColor</a:t>
            </a:r>
            <a:r>
              <a:rPr kumimoji="0" lang="zh-CN" altLang="zh-CN" sz="1600" b="0" i="0" u="none" strike="noStrike" cap="none" normalizeH="0" baseline="0" dirty="0">
                <a:ln>
                  <a:noFill/>
                </a:ln>
                <a:solidFill>
                  <a:srgbClr val="6C71C4"/>
                </a:solidFill>
                <a:effectLst/>
                <a:latin typeface="Arial Unicode MS"/>
                <a:ea typeface="JetBrains Mono"/>
              </a:rPr>
              <a:t>(0xE6F2FD)</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6743278" y="3721854"/>
            <a:ext cx="4400550" cy="13525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88347" y="101300"/>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输入类型</a:t>
            </a:r>
            <a:endPar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4" name="组合 3"/>
          <p:cNvGrpSpPr/>
          <p:nvPr/>
        </p:nvGrpSpPr>
        <p:grpSpPr>
          <a:xfrm>
            <a:off x="305862" y="1198430"/>
            <a:ext cx="6923149" cy="3518218"/>
            <a:chOff x="643019" y="1290533"/>
            <a:chExt cx="5193173" cy="2639076"/>
          </a:xfrm>
        </p:grpSpPr>
        <p:sp>
          <p:nvSpPr>
            <p:cNvPr id="5" name="文本框 4"/>
            <p:cNvSpPr txBox="1"/>
            <p:nvPr/>
          </p:nvSpPr>
          <p:spPr>
            <a:xfrm>
              <a:off x="741410" y="1788054"/>
              <a:ext cx="4955128" cy="2141555"/>
            </a:xfrm>
            <a:prstGeom prst="rect">
              <a:avLst/>
            </a:prstGeom>
            <a:noFill/>
          </p:spPr>
          <p:txBody>
            <a:bodyPr wrap="square" lIns="91397" tIns="45699" rIns="91397" bIns="45699" rtlCol="0">
              <a:spAutoFit/>
            </a:bodyPr>
            <a:lstStyle/>
            <a:p>
              <a:pPr marL="342900" lvl="0" indent="-34290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InputType.Normal：基本输入模式。</a:t>
              </a:r>
              <a:endPar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lvl="0">
                <a:lnSpc>
                  <a:spcPct val="120000"/>
                </a:lnSpc>
              </a:pPr>
              <a:r>
                <a:rPr lang="en-US" altLang="zh-CN" sz="2135">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支持输入数字、字母、下划线、空格、特殊字符；</a:t>
              </a: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342900" lvl="0" indent="-34290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InputType.Password：密码输入模式；</a:t>
              </a: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342900" lvl="0" indent="-34290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InputType.Email：邮箱地址输入模式；</a:t>
              </a: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342900" lvl="0" indent="-34290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InputType.Number：纯数字输入模式；</a:t>
              </a:r>
              <a:endPar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342900" indent="-342900">
                <a:lnSpc>
                  <a:spcPct val="120000"/>
                </a:lnSpc>
                <a:buFont typeface="Wingdings" panose="05000000000000000000" pitchFamily="2" charset="2"/>
                <a:buChar char=""/>
              </a:pP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InputType.PhoneNumber</a:t>
              </a:r>
              <a:r>
                <a:rPr lang="zh-CN" altLang="zh-CN" sz="2135" kern="100">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：电话号码输入模式。</a:t>
              </a:r>
              <a:endParaRPr lang="zh-CN" altLang="en-US" sz="2135">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lvl="0">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7" name="组合 6"/>
            <p:cNvGrpSpPr/>
            <p:nvPr/>
          </p:nvGrpSpPr>
          <p:grpSpPr>
            <a:xfrm>
              <a:off x="643019" y="1290533"/>
              <a:ext cx="5193173" cy="2580829"/>
              <a:chOff x="828791" y="1692437"/>
              <a:chExt cx="5193173" cy="2580829"/>
            </a:xfrm>
          </p:grpSpPr>
          <p:sp>
            <p:nvSpPr>
              <p:cNvPr id="10" name="圆角矩形 3"/>
              <p:cNvSpPr/>
              <p:nvPr/>
            </p:nvSpPr>
            <p:spPr>
              <a:xfrm>
                <a:off x="927182" y="1692437"/>
                <a:ext cx="2227580" cy="39846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圆角矩形 54"/>
              <p:cNvSpPr/>
              <p:nvPr/>
            </p:nvSpPr>
            <p:spPr>
              <a:xfrm>
                <a:off x="828791" y="1905348"/>
                <a:ext cx="5193173" cy="2367918"/>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Text2"/>
              <p:cNvSpPr txBox="1"/>
              <p:nvPr/>
            </p:nvSpPr>
            <p:spPr>
              <a:xfrm>
                <a:off x="1164945" y="1692438"/>
                <a:ext cx="1989817"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InputType</a:t>
                </a:r>
                <a:endParaRPr lang="en-US" altLang="zh-CN" sz="3200" b="1">
                  <a:solidFill>
                    <a:schemeClr val="accent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pic>
        <p:nvPicPr>
          <p:cNvPr id="17" name="图片 16"/>
          <p:cNvPicPr>
            <a:picLocks noChangeAspect="1"/>
          </p:cNvPicPr>
          <p:nvPr/>
        </p:nvPicPr>
        <p:blipFill>
          <a:blip r:embed="rId1"/>
          <a:stretch>
            <a:fillRect/>
          </a:stretch>
        </p:blipFill>
        <p:spPr>
          <a:xfrm>
            <a:off x="7823292" y="924084"/>
            <a:ext cx="2692118" cy="931236"/>
          </a:xfrm>
          <a:prstGeom prst="rect">
            <a:avLst/>
          </a:prstGeom>
        </p:spPr>
      </p:pic>
      <p:pic>
        <p:nvPicPr>
          <p:cNvPr id="19" name="图片 18"/>
          <p:cNvPicPr>
            <a:picLocks noChangeAspect="1"/>
          </p:cNvPicPr>
          <p:nvPr/>
        </p:nvPicPr>
        <p:blipFill>
          <a:blip r:embed="rId2"/>
          <a:stretch>
            <a:fillRect/>
          </a:stretch>
        </p:blipFill>
        <p:spPr>
          <a:xfrm>
            <a:off x="7789473" y="2050565"/>
            <a:ext cx="2666721" cy="821181"/>
          </a:xfrm>
          <a:prstGeom prst="rect">
            <a:avLst/>
          </a:prstGeom>
        </p:spPr>
      </p:pic>
      <p:pic>
        <p:nvPicPr>
          <p:cNvPr id="21" name="图片 20"/>
          <p:cNvPicPr>
            <a:picLocks noChangeAspect="1"/>
          </p:cNvPicPr>
          <p:nvPr/>
        </p:nvPicPr>
        <p:blipFill>
          <a:blip r:embed="rId3"/>
          <a:stretch>
            <a:fillRect/>
          </a:stretch>
        </p:blipFill>
        <p:spPr>
          <a:xfrm>
            <a:off x="7789473" y="3120982"/>
            <a:ext cx="2666721" cy="931236"/>
          </a:xfrm>
          <a:prstGeom prst="rect">
            <a:avLst/>
          </a:prstGeom>
        </p:spPr>
      </p:pic>
      <p:pic>
        <p:nvPicPr>
          <p:cNvPr id="23" name="图片 22"/>
          <p:cNvPicPr>
            <a:picLocks noChangeAspect="1"/>
          </p:cNvPicPr>
          <p:nvPr/>
        </p:nvPicPr>
        <p:blipFill>
          <a:blip r:embed="rId4"/>
          <a:stretch>
            <a:fillRect/>
          </a:stretch>
        </p:blipFill>
        <p:spPr>
          <a:xfrm>
            <a:off x="7771819" y="4348205"/>
            <a:ext cx="2684375" cy="829646"/>
          </a:xfrm>
          <a:prstGeom prst="rect">
            <a:avLst/>
          </a:prstGeom>
        </p:spPr>
      </p:pic>
      <p:pic>
        <p:nvPicPr>
          <p:cNvPr id="25" name="图片 24"/>
          <p:cNvPicPr>
            <a:picLocks noChangeAspect="1"/>
          </p:cNvPicPr>
          <p:nvPr/>
        </p:nvPicPr>
        <p:blipFill>
          <a:blip r:embed="rId5"/>
          <a:stretch>
            <a:fillRect/>
          </a:stretch>
        </p:blipFill>
        <p:spPr>
          <a:xfrm>
            <a:off x="7771819" y="5458305"/>
            <a:ext cx="2684375" cy="871976"/>
          </a:xfrm>
          <a:prstGeom prst="rect">
            <a:avLst/>
          </a:prstGeom>
        </p:spPr>
      </p:pic>
      <p:pic>
        <p:nvPicPr>
          <p:cNvPr id="26" name="图片 25"/>
          <p:cNvPicPr>
            <a:picLocks noChangeAspect="1"/>
          </p:cNvPicPr>
          <p:nvPr/>
        </p:nvPicPr>
        <p:blipFill>
          <a:blip r:embed="rId6"/>
          <a:stretch>
            <a:fillRect/>
          </a:stretch>
        </p:blipFill>
        <p:spPr>
          <a:xfrm>
            <a:off x="4752292" y="4939986"/>
            <a:ext cx="1823408" cy="1638092"/>
          </a:xfrm>
          <a:prstGeom prst="rect">
            <a:avLst/>
          </a:prstGeom>
        </p:spPr>
      </p:pic>
      <p:sp>
        <p:nvSpPr>
          <p:cNvPr id="27" name="ïsḷîde"/>
          <p:cNvSpPr/>
          <p:nvPr/>
        </p:nvSpPr>
        <p:spPr>
          <a:xfrm>
            <a:off x="2221679" y="5262122"/>
            <a:ext cx="2216127" cy="503832"/>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25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4"/>
                                        </p:tgtEl>
                                        <p:attrNameLst>
                                          <p:attrName>style.visibility</p:attrName>
                                        </p:attrNameLst>
                                      </p:cBhvr>
                                      <p:to>
                                        <p:strVal val="visible"/>
                                      </p:to>
                                    </p:set>
                                    <p:animEffect transition="in" filter="wedge">
                                      <p:cBhvr>
                                        <p:cTn id="11" dur="1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17"/>
                                        </p:tgtEl>
                                        <p:attrNameLst>
                                          <p:attrName>style.visibility</p:attrName>
                                        </p:attrNameLst>
                                      </p:cBhvr>
                                      <p:to>
                                        <p:strVal val="visible"/>
                                      </p:to>
                                    </p:set>
                                    <p:animEffect transition="in" filter="wedge">
                                      <p:cBhvr>
                                        <p:cTn id="16" dur="10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9"/>
                                        </p:tgtEl>
                                        <p:attrNameLst>
                                          <p:attrName>style.visibility</p:attrName>
                                        </p:attrNameLst>
                                      </p:cBhvr>
                                      <p:to>
                                        <p:strVal val="visible"/>
                                      </p:to>
                                    </p:set>
                                    <p:animEffect transition="in" filter="wedge">
                                      <p:cBhvr>
                                        <p:cTn id="21" dur="10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20" presetClass="entr" presetSubtype="0" fill="hold" nodeType="clickEffect">
                                  <p:stCondLst>
                                    <p:cond delay="0"/>
                                  </p:stCondLst>
                                  <p:childTnLst>
                                    <p:set>
                                      <p:cBhvr>
                                        <p:cTn id="25" dur="1000" fill="hold">
                                          <p:stCondLst>
                                            <p:cond delay="0"/>
                                          </p:stCondLst>
                                        </p:cTn>
                                        <p:tgtEl>
                                          <p:spTgt spid="21"/>
                                        </p:tgtEl>
                                        <p:attrNameLst>
                                          <p:attrName>style.visibility</p:attrName>
                                        </p:attrNameLst>
                                      </p:cBhvr>
                                      <p:to>
                                        <p:strVal val="visible"/>
                                      </p:to>
                                    </p:set>
                                    <p:animEffect transition="in" filter="wedge">
                                      <p:cBhvr>
                                        <p:cTn id="26" dur="10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20" presetClass="entr" presetSubtype="0" fill="hold" nodeType="clickEffect">
                                  <p:stCondLst>
                                    <p:cond delay="0"/>
                                  </p:stCondLst>
                                  <p:childTnLst>
                                    <p:set>
                                      <p:cBhvr>
                                        <p:cTn id="30" dur="1000" fill="hold">
                                          <p:stCondLst>
                                            <p:cond delay="0"/>
                                          </p:stCondLst>
                                        </p:cTn>
                                        <p:tgtEl>
                                          <p:spTgt spid="23"/>
                                        </p:tgtEl>
                                        <p:attrNameLst>
                                          <p:attrName>style.visibility</p:attrName>
                                        </p:attrNameLst>
                                      </p:cBhvr>
                                      <p:to>
                                        <p:strVal val="visible"/>
                                      </p:to>
                                    </p:set>
                                    <p:animEffect transition="in" filter="wedge">
                                      <p:cBhvr>
                                        <p:cTn id="31" dur="10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20" presetClass="entr" presetSubtype="0" fill="hold" nodeType="clickEffect">
                                  <p:stCondLst>
                                    <p:cond delay="0"/>
                                  </p:stCondLst>
                                  <p:childTnLst>
                                    <p:set>
                                      <p:cBhvr>
                                        <p:cTn id="35" dur="1000" fill="hold">
                                          <p:stCondLst>
                                            <p:cond delay="0"/>
                                          </p:stCondLst>
                                        </p:cTn>
                                        <p:tgtEl>
                                          <p:spTgt spid="25"/>
                                        </p:tgtEl>
                                        <p:attrNameLst>
                                          <p:attrName>style.visibility</p:attrName>
                                        </p:attrNameLst>
                                      </p:cBhvr>
                                      <p:to>
                                        <p:strVal val="visible"/>
                                      </p:to>
                                    </p:set>
                                    <p:animEffect transition="in" filter="wedge">
                                      <p:cBhvr>
                                        <p:cTn id="36" dur="10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down)">
                                      <p:cBhvr>
                                        <p:cTn id="41" dur="500"/>
                                        <p:tgtEl>
                                          <p:spTgt spid="27"/>
                                        </p:tgtEl>
                                      </p:cBhvr>
                                    </p:animEffect>
                                  </p:childTnLst>
                                </p:cTn>
                              </p:par>
                              <p:par>
                                <p:cTn id="42" presetID="22" presetClass="entr" presetSubtype="4"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down)">
                                      <p:cBhvr>
                                        <p:cTn id="4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7"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57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type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设置输人框的类型，默认值为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InputType.Normal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TextInput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3" name="图片 2"/>
          <p:cNvPicPr>
            <a:picLocks noChangeAspect="1"/>
          </p:cNvPicPr>
          <p:nvPr/>
        </p:nvPicPr>
        <p:blipFill>
          <a:blip r:embed="rId1"/>
          <a:stretch>
            <a:fillRect/>
          </a:stretch>
        </p:blipFill>
        <p:spPr>
          <a:xfrm>
            <a:off x="1970018" y="2565698"/>
            <a:ext cx="8538407" cy="230599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499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例如</a:t>
            </a:r>
            <a:r>
              <a:rPr lang="zh-CN" altLang="zh-CN" sz="2000" dirty="0">
                <a:latin typeface="Arial Unicode MS"/>
                <a:ea typeface="JetBrains Mono"/>
              </a:rPr>
              <a:t>InputType.Number </a:t>
            </a:r>
            <a:r>
              <a:rPr lang="zh-CN" altLang="en-US" sz="2000" dirty="0">
                <a:latin typeface="Arial Unicode MS"/>
                <a:ea typeface="JetBrains Mono"/>
              </a:rPr>
              <a:t>，只能输入数字</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TextInput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Rectangle 1"/>
          <p:cNvSpPr>
            <a:spLocks noChangeArrowheads="1"/>
          </p:cNvSpPr>
          <p:nvPr/>
        </p:nvSpPr>
        <p:spPr bwMode="auto">
          <a:xfrm>
            <a:off x="1270670" y="2493690"/>
            <a:ext cx="7386442"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Column</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TextInput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placeholder</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请输入账号</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text</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输入姓名</a:t>
            </a:r>
            <a:r>
              <a:rPr kumimoji="0" lang="zh-CN" altLang="zh-CN" sz="2000" b="0" i="0" u="none" strike="noStrike" cap="none" normalizeH="0" baseline="0" dirty="0">
                <a:ln>
                  <a:noFill/>
                </a:ln>
                <a:solidFill>
                  <a:srgbClr val="653170"/>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type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InputType</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Number</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1"/>
          <a:stretch>
            <a:fillRect/>
          </a:stretch>
        </p:blipFill>
        <p:spPr>
          <a:xfrm>
            <a:off x="7319342" y="4149874"/>
            <a:ext cx="3343275" cy="12858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105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en-US" altLang="zh-CN"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enterKeyType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用于设置输入法回车键类型，主要控制回车键的显示样式。默认值为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EnterKeyType.Done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TextInput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5" name="图片 4"/>
          <p:cNvPicPr>
            <a:picLocks noChangeAspect="1"/>
          </p:cNvPicPr>
          <p:nvPr/>
        </p:nvPicPr>
        <p:blipFill>
          <a:blip r:embed="rId1"/>
          <a:stretch>
            <a:fillRect/>
          </a:stretch>
        </p:blipFill>
        <p:spPr>
          <a:xfrm>
            <a:off x="1546957" y="2434757"/>
            <a:ext cx="4248472" cy="1990074"/>
          </a:xfrm>
          <a:prstGeom prst="rect">
            <a:avLst/>
          </a:prstGeom>
        </p:spPr>
      </p:pic>
      <p:pic>
        <p:nvPicPr>
          <p:cNvPr id="6" name="图片 5"/>
          <p:cNvPicPr>
            <a:picLocks noChangeAspect="1"/>
          </p:cNvPicPr>
          <p:nvPr/>
        </p:nvPicPr>
        <p:blipFill>
          <a:blip r:embed="rId2"/>
          <a:stretch>
            <a:fillRect/>
          </a:stretch>
        </p:blipFill>
        <p:spPr>
          <a:xfrm>
            <a:off x="1918742" y="4797946"/>
            <a:ext cx="6972300" cy="13239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TextInput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414686" y="3486683"/>
            <a:ext cx="5112567"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a:ea typeface="JetBrains Mono"/>
              </a:rPr>
              <a:t>@Entry @Component </a:t>
            </a:r>
            <a:r>
              <a:rPr kumimoji="0" lang="zh-CN" altLang="zh-CN" sz="1600" b="1" i="0" u="none" strike="noStrike" cap="none" normalizeH="0" baseline="0" dirty="0">
                <a:ln>
                  <a:noFill/>
                </a:ln>
                <a:solidFill>
                  <a:srgbClr val="859801"/>
                </a:solidFill>
                <a:effectLst/>
                <a:latin typeface="Arial Unicode MS"/>
                <a:ea typeface="JetBrains Mono"/>
              </a:rPr>
              <a:t>struct </a:t>
            </a:r>
            <a:r>
              <a:rPr kumimoji="0" lang="zh-CN" altLang="zh-CN" sz="1600" b="0" i="0" u="none" strike="noStrike" cap="none" normalizeH="0" baseline="0" dirty="0">
                <a:ln>
                  <a:noFill/>
                </a:ln>
                <a:solidFill>
                  <a:srgbClr val="507874"/>
                </a:solidFill>
                <a:effectLst/>
                <a:latin typeface="Arial Unicode MS"/>
                <a:ea typeface="JetBrains Mono"/>
              </a:rPr>
              <a:t>Test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build</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Column</a:t>
            </a: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00A99E"/>
                </a:solidFill>
                <a:effectLst/>
                <a:latin typeface="Arial Unicode MS"/>
                <a:ea typeface="JetBrains Mono"/>
              </a:rPr>
              <a:t>TextInput</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E986CD"/>
                </a:solidFill>
                <a:effectLst/>
                <a:latin typeface="Arial Unicode MS"/>
                <a:ea typeface="JetBrains Mono"/>
              </a:rPr>
              <a:t>{ </a:t>
            </a:r>
            <a:r>
              <a:rPr kumimoji="0" lang="zh-CN" altLang="zh-CN" sz="1600" b="0" i="0" u="none" strike="noStrike" cap="none" normalizeH="0" baseline="0" dirty="0">
                <a:ln>
                  <a:noFill/>
                </a:ln>
                <a:solidFill>
                  <a:srgbClr val="11408E"/>
                </a:solidFill>
                <a:effectLst/>
                <a:latin typeface="Arial Unicode MS"/>
                <a:ea typeface="JetBrains Mono"/>
              </a:rPr>
              <a:t>placeholder</a:t>
            </a:r>
            <a:r>
              <a:rPr kumimoji="0" lang="zh-CN" altLang="zh-CN" sz="1600" b="0" i="0" u="none" strike="noStrike" cap="none" normalizeH="0" baseline="0" dirty="0">
                <a:ln>
                  <a:noFill/>
                </a:ln>
                <a:solidFill>
                  <a:srgbClr val="859801"/>
                </a:solidFill>
                <a:effectLst/>
                <a:latin typeface="Arial Unicode MS"/>
                <a:ea typeface="JetBrains Mono"/>
              </a:rPr>
              <a:t>: </a:t>
            </a:r>
            <a:r>
              <a:rPr kumimoji="0" lang="zh-CN" altLang="zh-CN" sz="1600" b="0" i="0" u="none" strike="noStrike" cap="none" normalizeH="0" baseline="0" dirty="0">
                <a:ln>
                  <a:noFill/>
                </a:ln>
                <a:solidFill>
                  <a:srgbClr val="653170"/>
                </a:solidFill>
                <a:effectLst/>
                <a:latin typeface="Arial Unicode MS"/>
                <a:ea typeface="JetBrains Mono"/>
              </a:rPr>
              <a:t>"</a:t>
            </a:r>
            <a:r>
              <a:rPr kumimoji="0" lang="zh-CN" altLang="zh-CN" sz="16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请输入账号</a:t>
            </a:r>
            <a:r>
              <a:rPr kumimoji="0" lang="zh-CN" altLang="zh-CN" sz="1600" b="0" i="0" u="none" strike="noStrike" cap="none" normalizeH="0" baseline="0" dirty="0">
                <a:ln>
                  <a:noFill/>
                </a:ln>
                <a:solidFill>
                  <a:srgbClr val="653170"/>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type</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InputType</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Number</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maxLength</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FF9170"/>
                </a:solidFill>
                <a:effectLst/>
                <a:latin typeface="Arial Unicode MS"/>
                <a:ea typeface="JetBrains Mono"/>
              </a:rPr>
              <a:t>5</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00A99E"/>
                </a:solidFill>
                <a:effectLst/>
                <a:latin typeface="Arial Unicode MS"/>
                <a:ea typeface="JetBrains Mono"/>
              </a:rPr>
              <a:t>caretColor</a:t>
            </a:r>
            <a:r>
              <a:rPr kumimoji="0" lang="zh-CN" altLang="zh-CN" sz="1600" b="0" i="0" u="none" strike="noStrike" cap="none" normalizeH="0" baseline="0" dirty="0">
                <a:ln>
                  <a:noFill/>
                </a:ln>
                <a:solidFill>
                  <a:srgbClr val="6C71C4"/>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Color</a:t>
            </a:r>
            <a:r>
              <a:rPr kumimoji="0" lang="zh-CN" altLang="zh-CN" sz="1600" b="0" i="0" u="none" strike="noStrike" cap="none" normalizeH="0" baseline="0" dirty="0">
                <a:ln>
                  <a:noFill/>
                </a:ln>
                <a:solidFill>
                  <a:srgbClr val="859801"/>
                </a:solidFill>
                <a:effectLst/>
                <a:latin typeface="Arial Unicode MS"/>
                <a:ea typeface="JetBrains Mono"/>
              </a:rPr>
              <a:t>.</a:t>
            </a:r>
            <a:r>
              <a:rPr kumimoji="0" lang="zh-CN" altLang="zh-CN" sz="1600" b="0" i="0" u="none" strike="noStrike" cap="none" normalizeH="0" baseline="0" dirty="0">
                <a:ln>
                  <a:noFill/>
                </a:ln>
                <a:solidFill>
                  <a:srgbClr val="11408E"/>
                </a:solidFill>
                <a:effectLst/>
                <a:latin typeface="Arial Unicode MS"/>
                <a:ea typeface="JetBrains Mono"/>
              </a:rPr>
              <a:t>Red</a:t>
            </a:r>
            <a:r>
              <a:rPr kumimoji="0" lang="zh-CN" altLang="zh-CN" sz="1600" b="0" i="0" u="none" strike="noStrike" cap="none" normalizeH="0" baseline="0" dirty="0">
                <a:ln>
                  <a:noFill/>
                </a:ln>
                <a:solidFill>
                  <a:srgbClr val="6C71C4"/>
                </a:solidFill>
                <a:effectLst/>
                <a:latin typeface="Arial Unicode MS"/>
                <a:ea typeface="JetBrains Mono"/>
              </a:rPr>
              <a:t>)</a:t>
            </a:r>
            <a:br>
              <a:rPr kumimoji="0" lang="zh-CN" altLang="zh-CN" sz="1600" b="0" i="0" u="none" strike="noStrike" cap="none" normalizeH="0" baseline="0" dirty="0">
                <a:ln>
                  <a:noFill/>
                </a:ln>
                <a:solidFill>
                  <a:srgbClr val="6C71C4"/>
                </a:solidFill>
                <a:effectLst/>
                <a:latin typeface="Arial Unicode MS"/>
                <a:ea typeface="JetBrains Mono"/>
              </a:rPr>
            </a:br>
            <a:r>
              <a:rPr kumimoji="0" lang="zh-CN" altLang="zh-CN" sz="1600" b="0" i="0" u="none" strike="noStrike" cap="none" normalizeH="0" baseline="0" dirty="0">
                <a:ln>
                  <a:noFill/>
                </a:ln>
                <a:solidFill>
                  <a:srgbClr val="6C71C4"/>
                </a:solidFill>
                <a:effectLst/>
                <a:latin typeface="Arial Unicode MS"/>
                <a:ea typeface="JetBrains Mono"/>
              </a:rPr>
              <a:t>    </a:t>
            </a:r>
            <a:r>
              <a:rPr kumimoji="0" lang="zh-CN" altLang="zh-CN" sz="1600" b="0" i="0" u="none" strike="noStrike" cap="none" normalizeH="0" baseline="0" dirty="0">
                <a:ln>
                  <a:noFill/>
                </a:ln>
                <a:solidFill>
                  <a:srgbClr val="E986CD"/>
                </a:solidFill>
                <a:effectLst/>
                <a:latin typeface="Arial Unicode MS"/>
                <a:ea typeface="JetBrains Mono"/>
              </a:rPr>
              <a:t>}</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  }</a:t>
            </a:r>
            <a:br>
              <a:rPr kumimoji="0" lang="zh-CN" altLang="zh-CN" sz="1600" b="0" i="0" u="none" strike="noStrike" cap="none" normalizeH="0" baseline="0" dirty="0">
                <a:ln>
                  <a:noFill/>
                </a:ln>
                <a:solidFill>
                  <a:srgbClr val="E986CD"/>
                </a:solidFill>
                <a:effectLst/>
                <a:latin typeface="Arial Unicode MS"/>
                <a:ea typeface="JetBrains Mono"/>
              </a:rPr>
            </a:br>
            <a:r>
              <a:rPr kumimoji="0" lang="zh-CN" altLang="zh-CN" sz="1600" b="0" i="0" u="none" strike="noStrike" cap="none" normalizeH="0" baseline="0" dirty="0">
                <a:ln>
                  <a:noFill/>
                </a:ln>
                <a:solidFill>
                  <a:srgbClr val="E986CD"/>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1"/>
          <a:stretch>
            <a:fillRect/>
          </a:stretch>
        </p:blipFill>
        <p:spPr>
          <a:xfrm>
            <a:off x="6671270" y="4135305"/>
            <a:ext cx="3286125" cy="628650"/>
          </a:xfrm>
          <a:prstGeom prst="rect">
            <a:avLst/>
          </a:prstGeom>
        </p:spPr>
      </p:pic>
      <p:sp>
        <p:nvSpPr>
          <p:cNvPr id="8" name="矩形 7"/>
          <p:cNvSpPr/>
          <p:nvPr/>
        </p:nvSpPr>
        <p:spPr>
          <a:xfrm>
            <a:off x="1054646" y="1125538"/>
            <a:ext cx="8352928" cy="1133965"/>
          </a:xfrm>
          <a:prstGeom prst="rect">
            <a:avLst/>
          </a:prstGeom>
        </p:spPr>
        <p:txBody>
          <a:bodyPr wrap="square">
            <a:spAutoFit/>
          </a:bodyPr>
          <a:lstStyle/>
          <a:p>
            <a:pPr>
              <a:lnSpc>
                <a:spcPct val="150000"/>
              </a:lnSpc>
            </a:pPr>
            <a:r>
              <a:rPr lang="en-US" altLang="zh-CN"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maxLength</a:t>
            </a: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设置输人框允许输人多少字符</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caretColor</a:t>
            </a: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设置光标的颜色</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66614" y="1197546"/>
            <a:ext cx="10945216"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Ø"/>
            </a:pP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TextArea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Textlnput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是常见的输人框控件，它们广泛应用于用户输入文本、数字、密码等信息的场景。</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TextArea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相对于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而言，具有输入多行文本的特性，因此在需要用户输入较多文字的场景下，具有更好的应用效果。</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这两个控件的属性基本相同，例如宽度、高度、字体、字号等，同时也支持文本的自动换行，以及剪切、复制、粘贴等常见操作。</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然而，</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TextArea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TextInput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的基础上增加了正则表达式输入验证的功能。正则表达式是一种强大的匹配规则语言，可以用于验证用户输入的合法性，例如邮箱、手机号、密码等。</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通过使用正则表达式输入验证，可以有效地减少用户输入错误的情况，提高输人数据的准确性和完整性，从而提高系统的稳定性和安全性。因此，在某些需要输入验证的场景下，</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TextArea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相较于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Textlmput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更加实用和可靠。</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文本组件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TextArea</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了解</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Checkbox</a:t>
            </a: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复选框</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可选参数 </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p"/>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CheckboxOptions</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name</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复选框名称</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group</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设置复选框的组</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p"/>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支持通用属性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select: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设置是否被选中，默认值为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false</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selectColor</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设置复选框选中状态下的颜色</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p"/>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事件</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onChange</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当选中状态发生变化时，触发该回调，监听用户选择的变化</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5015086" y="1773610"/>
            <a:ext cx="5832648"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Checkbox</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options</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name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string</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group</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string</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多选框组件</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CheckBox</a:t>
            </a:r>
            <a:endPar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2" name="组合 11"/>
          <p:cNvGrpSpPr/>
          <p:nvPr/>
        </p:nvGrpSpPr>
        <p:grpSpPr>
          <a:xfrm>
            <a:off x="543898" y="1097767"/>
            <a:ext cx="3276700" cy="3701867"/>
            <a:chOff x="346450" y="505732"/>
            <a:chExt cx="2354607" cy="2776834"/>
          </a:xfrm>
        </p:grpSpPr>
        <p:sp>
          <p:nvSpPr>
            <p:cNvPr id="6" name="文本框 5"/>
            <p:cNvSpPr txBox="1"/>
            <p:nvPr/>
          </p:nvSpPr>
          <p:spPr>
            <a:xfrm>
              <a:off x="494547" y="693211"/>
              <a:ext cx="2058413" cy="2438781"/>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多选框组件</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CheckBox</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，通常用于某选项的打开或关闭。当选中状态发生变化时，触发</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onChange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回调；回调的</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value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为</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true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时表示已选中，</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value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为</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false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时表示未选中。</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46450" y="505732"/>
              <a:ext cx="2354607" cy="277683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1" name="组合 10"/>
          <p:cNvGrpSpPr/>
          <p:nvPr/>
        </p:nvGrpSpPr>
        <p:grpSpPr>
          <a:xfrm>
            <a:off x="3947057" y="919238"/>
            <a:ext cx="8115466" cy="5811099"/>
            <a:chOff x="2962454" y="3353987"/>
            <a:chExt cx="6087551" cy="4359005"/>
          </a:xfrm>
        </p:grpSpPr>
        <p:sp>
          <p:nvSpPr>
            <p:cNvPr id="8" name="圆角矩形 55"/>
            <p:cNvSpPr/>
            <p:nvPr>
              <p:custDataLst>
                <p:tags r:id="rId2"/>
              </p:custDataLst>
            </p:nvPr>
          </p:nvSpPr>
          <p:spPr>
            <a:xfrm>
              <a:off x="2962454" y="3353987"/>
              <a:ext cx="6087551" cy="4359005"/>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3022189" y="3416714"/>
              <a:ext cx="5955477" cy="3345226"/>
            </a:xfrm>
            <a:prstGeom prst="rect">
              <a:avLst/>
            </a:prstGeom>
            <a:noFill/>
          </p:spPr>
          <p:txBody>
            <a:bodyPr wrap="square">
              <a:spAutoFit/>
            </a:bodyPr>
            <a:lstStyle/>
            <a:p>
              <a:pPr marL="408940" marR="63500">
                <a:lnSpc>
                  <a:spcPts val="1100"/>
                </a:lnSpc>
                <a:spcBef>
                  <a:spcPts val="600"/>
                </a:spcBef>
                <a:spcAft>
                  <a:spcPts val="600"/>
                </a:spcAft>
                <a:tabLst>
                  <a:tab pos="180340" algn="l"/>
                  <a:tab pos="408940" algn="l"/>
                </a:tabLst>
              </a:pP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Row</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Checkbox</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name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阅读</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group</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‘checkboxGroup‘</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select</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b="1">
                  <a:solidFill>
                    <a:srgbClr val="859801"/>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默认选中</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selectedColor</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(0xed6f21)</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onChange</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value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000080"/>
                  </a:solidFill>
                  <a:effectLst/>
                  <a:latin typeface="Consolas" panose="020B0609020204030204" pitchFamily="49" charset="0"/>
                  <a:ea typeface="宋体" panose="02010600030101010101" pitchFamily="2" charset="-122"/>
                  <a:cs typeface="宋体" panose="02010600030101010101" pitchFamily="2" charset="-122"/>
                </a:rPr>
                <a:t>boolean</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=&gt; </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事件处理</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console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info</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阅读</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 change is'</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value</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Checkbox</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name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运动</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group</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'checkboxGroup'</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select</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b="1">
                  <a:solidFill>
                    <a:srgbClr val="859801"/>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selectedColor</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(0x39a2db)</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onChange</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value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000080"/>
                  </a:solidFill>
                  <a:effectLst/>
                  <a:latin typeface="Consolas" panose="020B0609020204030204" pitchFamily="49" charset="0"/>
                  <a:ea typeface="宋体" panose="02010600030101010101" pitchFamily="2" charset="-122"/>
                  <a:cs typeface="宋体" panose="02010600030101010101" pitchFamily="2" charset="-122"/>
                </a:rPr>
                <a:t>boolean</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=&gt; </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console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rPr>
                <a:t>info</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运动</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 change is'</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value</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r>
                <a:rPr lang="en-US" altLang="zh-CN" sz="2135" kern="100">
                  <a:solidFill>
                    <a:srgbClr val="E986CD"/>
                  </a:solidFill>
                  <a:effectLst/>
                  <a:latin typeface="Times New Roman" panose="02020603050405020304" pitchFamily="18" charset="0"/>
                  <a:ea typeface="宋体" panose="02010600030101010101" pitchFamily="2"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pic>
        <p:nvPicPr>
          <p:cNvPr id="7" name="图片 6"/>
          <p:cNvPicPr>
            <a:picLocks noChangeAspect="1"/>
          </p:cNvPicPr>
          <p:nvPr/>
        </p:nvPicPr>
        <p:blipFill>
          <a:blip r:embed="rId3"/>
          <a:stretch>
            <a:fillRect/>
          </a:stretch>
        </p:blipFill>
        <p:spPr>
          <a:xfrm>
            <a:off x="281903" y="5269943"/>
            <a:ext cx="3538695" cy="931236"/>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7"/>
                                        </p:tgtEl>
                                        <p:attrNameLst>
                                          <p:attrName>style.visibility</p:attrName>
                                        </p:attrNameLst>
                                      </p:cBhvr>
                                      <p:to>
                                        <p:strVal val="visible"/>
                                      </p:to>
                                    </p:set>
                                    <p:animEffect transition="in" filter="wedge">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fill="hold" nodeType="clickEffect">
                                  <p:stCondLst>
                                    <p:cond delay="0"/>
                                  </p:stCondLst>
                                  <p:childTnLst>
                                    <p:set>
                                      <p:cBhvr>
                                        <p:cTn id="19" dur="1000" fill="hold">
                                          <p:stCondLst>
                                            <p:cond delay="0"/>
                                          </p:stCondLst>
                                        </p:cTn>
                                        <p:tgtEl>
                                          <p:spTgt spid="11"/>
                                        </p:tgtEl>
                                        <p:attrNameLst>
                                          <p:attrName>style.visibility</p:attrName>
                                        </p:attrNameLst>
                                      </p:cBhvr>
                                      <p:to>
                                        <p:strVal val="visible"/>
                                      </p:to>
                                    </p:set>
                                    <p:animEffect transition="in" filter="wedge">
                                      <p:cBhvr>
                                        <p:cTn id="2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838622" y="1060706"/>
            <a:ext cx="7056783" cy="52014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r>
              <a:rPr kumimoji="0" lang="zh-CN" altLang="zh-CN" sz="2000" b="0" i="0" u="none" strike="noStrike" cap="none" normalizeH="0" baseline="0" dirty="0">
                <a:ln>
                  <a:noFill/>
                </a:ln>
                <a:solidFill>
                  <a:srgbClr val="808000"/>
                </a:solidFill>
                <a:effectLst/>
                <a:latin typeface="Times New Roman" panose="02020603050405020304" pitchFamily="18" charset="0"/>
                <a:ea typeface="JetBrains Mono"/>
                <a:cs typeface="Times New Roman" panose="02020603050405020304" pitchFamily="18" charset="0"/>
              </a:rPr>
              <a:t>@Entry @Component</a:t>
            </a:r>
            <a:br>
              <a:rPr kumimoji="0" lang="zh-CN" altLang="zh-CN" sz="2000" b="0" i="0" u="none" strike="noStrike" cap="none" normalizeH="0" baseline="0" dirty="0">
                <a:ln>
                  <a:noFill/>
                </a:ln>
                <a:solidFill>
                  <a:srgbClr val="808000"/>
                </a:solidFill>
                <a:effectLst/>
                <a:latin typeface="Times New Roman" panose="02020603050405020304" pitchFamily="18" charset="0"/>
                <a:ea typeface="JetBrains Mono"/>
                <a:cs typeface="Times New Roman" panose="02020603050405020304" pitchFamily="18" charset="0"/>
              </a:rPr>
            </a:br>
            <a:r>
              <a:rPr kumimoji="0" lang="zh-CN" altLang="zh-CN" sz="2000" b="1"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struct </a:t>
            </a:r>
            <a:r>
              <a:rPr kumimoji="0" lang="zh-CN" altLang="zh-CN" sz="2000" b="0" i="0" u="none" strike="noStrike" cap="none" normalizeH="0" baseline="0" dirty="0">
                <a:ln>
                  <a:noFill/>
                </a:ln>
                <a:solidFill>
                  <a:srgbClr val="507874"/>
                </a:solidFill>
                <a:effectLst/>
                <a:latin typeface="Times New Roman" panose="02020603050405020304" pitchFamily="18" charset="0"/>
                <a:ea typeface="JetBrains Mono"/>
                <a:cs typeface="Times New Roman" panose="02020603050405020304" pitchFamily="18" charset="0"/>
              </a:rPr>
              <a:t>CheckboxExample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build</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Row</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Checkbox</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name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en-US"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checkbox1</a:t>
            </a:r>
            <a:r>
              <a:rPr kumimoji="0" lang="zh-CN" altLang="en-US"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group</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en-US"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checkboxGroup</a:t>
            </a:r>
            <a:r>
              <a:rPr kumimoji="0" lang="zh-CN" altLang="en-US"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select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1"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true</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selectedColor</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(0xed6f21)</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onChange</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value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000080"/>
                </a:solidFill>
                <a:effectLst/>
                <a:latin typeface="Times New Roman" panose="02020603050405020304" pitchFamily="18" charset="0"/>
                <a:ea typeface="JetBrains Mono"/>
                <a:cs typeface="Times New Roman" panose="02020603050405020304" pitchFamily="18" charset="0"/>
              </a:rPr>
              <a:t>boolean</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=&gt;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console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info</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en-US"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Checkbox1 change is</a:t>
            </a:r>
            <a:r>
              <a:rPr kumimoji="0" lang="zh-CN" altLang="en-US"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value</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en-US"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lang="zh-CN" altLang="en-US" sz="1400" dirty="0">
                <a:solidFill>
                  <a:srgbClr val="6C71C4"/>
                </a:solidFill>
                <a:latin typeface="Times New Roman" panose="02020603050405020304" pitchFamily="18" charset="0"/>
                <a:ea typeface="JetBrains Mono"/>
                <a:cs typeface="Times New Roman" panose="02020603050405020304" pitchFamily="18" charset="0"/>
              </a:rPr>
              <a:t>在日志中打印</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Checkbox</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name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'checkbox2'</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group</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'checkboxGroup'</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select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1"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false</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selectedColor</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(0x39a2db)</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onChange</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value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000080"/>
                </a:solidFill>
                <a:effectLst/>
                <a:latin typeface="Times New Roman" panose="02020603050405020304" pitchFamily="18" charset="0"/>
                <a:ea typeface="JetBrains Mono"/>
                <a:cs typeface="Times New Roman" panose="02020603050405020304" pitchFamily="18" charset="0"/>
              </a:rPr>
              <a:t>boolean</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=&gt;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b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console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info</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53170"/>
                </a:solidFill>
                <a:effectLst/>
                <a:latin typeface="Times New Roman" panose="02020603050405020304" pitchFamily="18" charset="0"/>
                <a:ea typeface="JetBrains Mono"/>
                <a:cs typeface="Times New Roman" panose="02020603050405020304" pitchFamily="18" charset="0"/>
              </a:rPr>
              <a:t>'Checkbox2 change is'</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value</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lang="en-US" altLang="zh-CN" sz="3200" dirty="0">
                <a:solidFill>
                  <a:srgbClr val="6C71C4"/>
                </a:solidFill>
                <a:latin typeface="Times New Roman" panose="02020603050405020304" pitchFamily="18" charset="0"/>
                <a:ea typeface="JetBrains Mono"/>
                <a:cs typeface="Times New Roman" panose="02020603050405020304" pitchFamily="18" charset="0"/>
              </a:rPr>
              <a:t> </a:t>
            </a:r>
            <a:r>
              <a:rPr lang="en-US" altLang="zh-CN" sz="1400" dirty="0">
                <a:solidFill>
                  <a:srgbClr val="6C71C4"/>
                </a:solidFill>
                <a:latin typeface="Times New Roman" panose="02020603050405020304" pitchFamily="18" charset="0"/>
                <a:ea typeface="JetBrains Mono"/>
                <a:cs typeface="Times New Roman" panose="02020603050405020304" pitchFamily="18" charset="0"/>
              </a:rPr>
              <a:t>//</a:t>
            </a:r>
            <a:r>
              <a:rPr lang="zh-CN" altLang="en-US" sz="1400" dirty="0">
                <a:solidFill>
                  <a:srgbClr val="6C71C4"/>
                </a:solidFill>
                <a:latin typeface="Times New Roman" panose="02020603050405020304" pitchFamily="18" charset="0"/>
                <a:ea typeface="JetBrains Mono"/>
                <a:cs typeface="Times New Roman" panose="02020603050405020304" pitchFamily="18" charset="0"/>
              </a:rPr>
              <a:t>在日志中打印</a:t>
            </a:r>
            <a:b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b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7679382" y="1125538"/>
            <a:ext cx="4057650" cy="1257300"/>
          </a:xfrm>
          <a:prstGeom prst="rect">
            <a:avLst/>
          </a:prstGeom>
        </p:spPr>
      </p:pic>
      <p:pic>
        <p:nvPicPr>
          <p:cNvPr id="5" name="图片 4"/>
          <p:cNvPicPr>
            <a:picLocks noChangeAspect="1"/>
          </p:cNvPicPr>
          <p:nvPr/>
        </p:nvPicPr>
        <p:blipFill>
          <a:blip r:embed="rId2"/>
          <a:stretch>
            <a:fillRect/>
          </a:stretch>
        </p:blipFill>
        <p:spPr>
          <a:xfrm>
            <a:off x="7679382" y="2869821"/>
            <a:ext cx="3895725" cy="14287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10081120"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CheckboxGroup</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构造参数 </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group</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组名称，创建多选框群组，可以控制群组内的</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全选或者不全选，相同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group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CheckboxGroup</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为同一群组。</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lnSpc>
                <a:spcPct val="150000"/>
              </a:lnSpc>
              <a:spcBef>
                <a:spcPts val="2400"/>
              </a:spcBef>
              <a:buFont typeface="Wingdings" panose="05000000000000000000" pitchFamily="2" charset="2"/>
              <a:buChar char="p"/>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CheckboxGroup</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selectA1l</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设置复选框组是否全选。若同组的</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Checkbox</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显式设置 </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select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，则 </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Checkbox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的优先级高。</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lnSpc>
                <a:spcPct val="150000"/>
              </a:lnSpc>
              <a:spcBef>
                <a:spcPts val="2400"/>
              </a:spcBef>
              <a:buFont typeface="Wingdings" panose="05000000000000000000" pitchFamily="2" charset="2"/>
              <a:buChar char="p"/>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CheckboxGroup</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事件</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onChange</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CheckboxGroup</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的选中状态或群组内的</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的选中状态发生变化时，触发回调。</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10081120" cy="265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CheckboxGroupReesult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对象说明</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CheckboxGroupResult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回调参数类型定义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names</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群组内所有被选中的多选框名称</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lnSpc>
                <a:spcPct val="150000"/>
              </a:lnSpc>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status</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选中状态。</a:t>
            </a: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SelectStatus</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具体描述见</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3" name="图片 2"/>
          <p:cNvPicPr>
            <a:picLocks noChangeAspect="1"/>
          </p:cNvPicPr>
          <p:nvPr/>
        </p:nvPicPr>
        <p:blipFill>
          <a:blip r:embed="rId1"/>
          <a:stretch>
            <a:fillRect/>
          </a:stretch>
        </p:blipFill>
        <p:spPr>
          <a:xfrm>
            <a:off x="1990750" y="4245761"/>
            <a:ext cx="8543925" cy="19812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446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Radio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单选框</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Radio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单选框是常见的用户交互选择项，</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通常用于让用户在多个选项中选择个</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当用户点击单选框时，它会被选中并显示一个圆形标记，表示用户已经做出了选择。</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p"/>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相比于复选框，</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Radio</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单选框只允许用户选择一个选项，因此更适用于需要用户做出单一选择的情况。</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p"/>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在设计界面时，我们可以通过设置单选框的文本标签和选中状态来让用户清晰地了解每个选项的含义和当前选择的选项。</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p"/>
            </a:pP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Radio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定义</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l"/>
            </a:pP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value: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当前单选框的值</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group:</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当前单选框的所属群组名称</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p"/>
            </a:pP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Radio</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marL="952500" lvl="1" indent="-342900">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checked: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设置单选框的初始选中状态，默认为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false</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p"/>
            </a:pP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Radio</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事件</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marL="952500" lvl="1" indent="-342900">
              <a:spcBef>
                <a:spcPts val="24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onChange</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单选框选中状态改变时触发回调</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a:spcBef>
                <a:spcPts val="2400"/>
              </a:spcBef>
            </a:pP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9" name="Rectangle 1"/>
          <p:cNvSpPr>
            <a:spLocks noChangeArrowheads="1"/>
          </p:cNvSpPr>
          <p:nvPr/>
        </p:nvSpPr>
        <p:spPr bwMode="auto">
          <a:xfrm>
            <a:off x="3430910" y="1701602"/>
            <a:ext cx="4968552"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r>
              <a:rPr lang="en-US" altLang="zh-CN" sz="2000" dirty="0">
                <a:solidFill>
                  <a:srgbClr val="00A99E"/>
                </a:solidFill>
                <a:latin typeface="Times New Roman" panose="02020603050405020304" pitchFamily="18" charset="0"/>
                <a:cs typeface="Times New Roman" panose="02020603050405020304" pitchFamily="18" charset="0"/>
              </a:rPr>
              <a:t>Radio</a:t>
            </a:r>
            <a:r>
              <a:rPr lang="en-US" altLang="zh-CN" sz="2000" dirty="0">
                <a:latin typeface="Times New Roman" panose="02020603050405020304" pitchFamily="18" charset="0"/>
                <a:cs typeface="Times New Roman" panose="02020603050405020304" pitchFamily="18" charset="0"/>
              </a:rPr>
              <a:t>(</a:t>
            </a:r>
            <a:r>
              <a:rPr lang="en-US" altLang="zh-CN" sz="2000" dirty="0">
                <a:solidFill>
                  <a:srgbClr val="11408E"/>
                </a:solidFill>
                <a:latin typeface="Times New Roman" panose="02020603050405020304" pitchFamily="18" charset="0"/>
                <a:cs typeface="Times New Roman" panose="02020603050405020304" pitchFamily="18" charset="0"/>
              </a:rPr>
              <a:t>options</a:t>
            </a:r>
            <a:r>
              <a:rPr lang="en-US" altLang="zh-CN" sz="2000" dirty="0">
                <a:latin typeface="Times New Roman" panose="02020603050405020304" pitchFamily="18" charset="0"/>
                <a:cs typeface="Times New Roman" panose="02020603050405020304" pitchFamily="18" charset="0"/>
              </a:rPr>
              <a:t>: {</a:t>
            </a:r>
            <a:r>
              <a:rPr lang="en-US" altLang="zh-CN" sz="2000" dirty="0">
                <a:solidFill>
                  <a:srgbClr val="11408E"/>
                </a:solidFill>
                <a:latin typeface="Times New Roman" panose="02020603050405020304" pitchFamily="18" charset="0"/>
                <a:cs typeface="Times New Roman" panose="02020603050405020304" pitchFamily="18" charset="0"/>
              </a:rPr>
              <a:t>value</a:t>
            </a:r>
            <a:r>
              <a:rPr lang="en-US" altLang="zh-CN" sz="2000" dirty="0">
                <a:latin typeface="Times New Roman" panose="02020603050405020304" pitchFamily="18" charset="0"/>
                <a:cs typeface="Times New Roman" panose="02020603050405020304" pitchFamily="18" charset="0"/>
              </a:rPr>
              <a:t>: </a:t>
            </a:r>
            <a:r>
              <a:rPr lang="en-US" altLang="zh-CN" sz="2000" dirty="0">
                <a:solidFill>
                  <a:srgbClr val="11408E"/>
                </a:solidFill>
                <a:latin typeface="Times New Roman" panose="02020603050405020304" pitchFamily="18" charset="0"/>
                <a:cs typeface="Times New Roman" panose="02020603050405020304" pitchFamily="18" charset="0"/>
              </a:rPr>
              <a:t>string</a:t>
            </a:r>
            <a:r>
              <a:rPr lang="en-US" altLang="zh-CN" sz="2000" dirty="0">
                <a:latin typeface="Times New Roman" panose="02020603050405020304" pitchFamily="18" charset="0"/>
                <a:cs typeface="Times New Roman" panose="02020603050405020304" pitchFamily="18" charset="0"/>
              </a:rPr>
              <a:t>, </a:t>
            </a:r>
            <a:r>
              <a:rPr lang="en-US" altLang="zh-CN" sz="2000" dirty="0">
                <a:solidFill>
                  <a:srgbClr val="11408E"/>
                </a:solidFill>
                <a:latin typeface="Times New Roman" panose="02020603050405020304" pitchFamily="18" charset="0"/>
                <a:cs typeface="Times New Roman" panose="02020603050405020304" pitchFamily="18" charset="0"/>
              </a:rPr>
              <a:t>group</a:t>
            </a:r>
            <a:r>
              <a:rPr lang="en-US" altLang="zh-CN" sz="2000" dirty="0">
                <a:latin typeface="Times New Roman" panose="02020603050405020304" pitchFamily="18" charset="0"/>
                <a:cs typeface="Times New Roman" panose="02020603050405020304" pitchFamily="18" charset="0"/>
              </a:rPr>
              <a:t>: </a:t>
            </a:r>
            <a:r>
              <a:rPr lang="en-US" altLang="zh-CN" sz="2000" dirty="0">
                <a:solidFill>
                  <a:srgbClr val="11408E"/>
                </a:solidFill>
                <a:latin typeface="Times New Roman" panose="02020603050405020304" pitchFamily="18" charset="0"/>
                <a:cs typeface="Times New Roman" panose="02020603050405020304" pitchFamily="18" charset="0"/>
              </a:rPr>
              <a:t>string</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198662" y="1352596"/>
            <a:ext cx="6624736" cy="42473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808000"/>
                </a:solidFill>
                <a:effectLst/>
                <a:latin typeface="Arial Unicode MS"/>
                <a:ea typeface="JetBrains Mono"/>
              </a:rPr>
              <a:t>@Entry </a:t>
            </a:r>
            <a:endParaRPr kumimoji="0" lang="en-US" altLang="zh-CN" sz="1800" b="0" i="0" u="none" strike="noStrike" cap="none" normalizeH="0" baseline="0" dirty="0">
              <a:ln>
                <a:noFill/>
              </a:ln>
              <a:solidFill>
                <a:srgbClr val="808000"/>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808000"/>
                </a:solidFill>
                <a:effectLst/>
                <a:latin typeface="Arial Unicode MS"/>
                <a:ea typeface="JetBrains Mono"/>
              </a:rPr>
              <a:t>@Component </a:t>
            </a:r>
            <a:endParaRPr kumimoji="0" lang="en-US" altLang="zh-CN" sz="1800" b="0" i="0" u="none" strike="noStrike" cap="none" normalizeH="0" baseline="0" dirty="0">
              <a:ln>
                <a:noFill/>
              </a:ln>
              <a:solidFill>
                <a:srgbClr val="808000"/>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859801"/>
                </a:solidFill>
                <a:effectLst/>
                <a:latin typeface="Arial Unicode MS"/>
                <a:ea typeface="JetBrains Mono"/>
              </a:rPr>
              <a:t>struct </a:t>
            </a:r>
            <a:r>
              <a:rPr kumimoji="0" lang="zh-CN" altLang="zh-CN" sz="1800" b="0" i="0" u="none" strike="noStrike" cap="none" normalizeH="0" baseline="0" dirty="0">
                <a:ln>
                  <a:noFill/>
                </a:ln>
                <a:solidFill>
                  <a:srgbClr val="507874"/>
                </a:solidFill>
                <a:effectLst/>
                <a:latin typeface="Arial Unicode MS"/>
                <a:ea typeface="JetBrains Mono"/>
              </a:rPr>
              <a:t>Test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build</a:t>
            </a: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Column</a:t>
            </a: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Radio</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value</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653170"/>
                </a:solidFill>
                <a:effectLst/>
                <a:latin typeface="Arial Unicode MS"/>
                <a:ea typeface="JetBrains Mono"/>
              </a:rPr>
              <a:t>'Radio1'</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group</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653170"/>
                </a:solidFill>
                <a:effectLst/>
                <a:latin typeface="Arial Unicode MS"/>
                <a:ea typeface="JetBrains Mono"/>
              </a:rPr>
              <a:t>'radioGroup'</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checked</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1" i="0" u="none" strike="noStrike" cap="none" normalizeH="0" baseline="0" dirty="0">
                <a:ln>
                  <a:noFill/>
                </a:ln>
                <a:solidFill>
                  <a:srgbClr val="859801"/>
                </a:solidFill>
                <a:effectLst/>
                <a:latin typeface="Arial Unicode MS"/>
                <a:ea typeface="JetBrains Mono"/>
              </a:rPr>
              <a:t>false</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onChange</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isChecked</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000080"/>
                </a:solidFill>
                <a:effectLst/>
                <a:latin typeface="Arial Unicode MS"/>
                <a:ea typeface="JetBrains Mono"/>
              </a:rPr>
              <a:t>Boolean</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=&gt;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1" i="0" u="none" strike="noStrike" cap="none" normalizeH="0" baseline="0" dirty="0">
                <a:ln>
                  <a:noFill/>
                </a:ln>
                <a:solidFill>
                  <a:srgbClr val="859801"/>
                </a:solidFill>
                <a:effectLst/>
                <a:latin typeface="Arial Unicode MS"/>
                <a:ea typeface="JetBrains Mono"/>
              </a:rPr>
              <a:t>if</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isChecked</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console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log</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点击成功</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1" u="none" strike="noStrike" cap="none" normalizeH="0" baseline="0" dirty="0">
                <a:ln>
                  <a:noFill/>
                </a:ln>
                <a:solidFill>
                  <a:srgbClr val="808080"/>
                </a:solidFill>
                <a:effectLst/>
                <a:latin typeface="Arial Unicode MS"/>
                <a:ea typeface="JetBrains Mono"/>
              </a:rPr>
              <a:t>//</a:t>
            </a:r>
            <a:r>
              <a:rPr kumimoji="0" lang="zh-CN" altLang="zh-CN" sz="1800" b="0" i="1"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在日志中打印点击成功</a:t>
            </a:r>
            <a:br>
              <a:rPr kumimoji="0" lang="zh-CN" altLang="zh-CN" sz="1800" b="0" i="1"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800" b="0" i="1"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Radio</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value</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653170"/>
                </a:solidFill>
                <a:effectLst/>
                <a:latin typeface="Arial Unicode MS"/>
                <a:ea typeface="JetBrains Mono"/>
              </a:rPr>
              <a:t>'Radio2'</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group</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653170"/>
                </a:solidFill>
                <a:effectLst/>
                <a:latin typeface="Arial Unicode MS"/>
                <a:ea typeface="JetBrains Mono"/>
              </a:rPr>
              <a:t>'radioGroup'</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checked</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1" i="0" u="none" strike="noStrike" cap="none" normalizeH="0" baseline="0" dirty="0">
                <a:ln>
                  <a:noFill/>
                </a:ln>
                <a:solidFill>
                  <a:srgbClr val="859801"/>
                </a:solidFill>
                <a:effectLst/>
                <a:latin typeface="Arial Unicode MS"/>
                <a:ea typeface="JetBrains Mono"/>
              </a:rPr>
              <a:t>true</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1"/>
          <a:stretch>
            <a:fillRect/>
          </a:stretch>
        </p:blipFill>
        <p:spPr>
          <a:xfrm>
            <a:off x="7247334" y="1485578"/>
            <a:ext cx="3886200" cy="1638300"/>
          </a:xfrm>
          <a:prstGeom prst="rect">
            <a:avLst/>
          </a:prstGeom>
        </p:spPr>
      </p:pic>
      <p:pic>
        <p:nvPicPr>
          <p:cNvPr id="6" name="图片 5"/>
          <p:cNvPicPr>
            <a:picLocks noChangeAspect="1"/>
          </p:cNvPicPr>
          <p:nvPr/>
        </p:nvPicPr>
        <p:blipFill>
          <a:blip r:embed="rId2"/>
          <a:stretch>
            <a:fillRect/>
          </a:stretch>
        </p:blipFill>
        <p:spPr>
          <a:xfrm>
            <a:off x="7314009" y="4365898"/>
            <a:ext cx="375285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Select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下拉选择菜单</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常见的用户界面元素，通常用于让用户在多个选项之间进行选择</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通常包含一个可点击的下拉箭头，当用户点击箭头时，会展开一个下拉列表，其中包含多个选项</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用户可以通过单击选项来进行选择</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p"/>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下拉选择菜单通常用于网页表单、设置面板和其他需要用户进行选择的场景中</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p"/>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优点：可以节省屏幕空间，并且用户可以轻松地在多个选项之间进行选择，而不必在页面上滚动或搜索</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p"/>
            </a:pP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Select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定义</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l"/>
            </a:pP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构造参数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SelectOption</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u"/>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value: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下拉选项内容</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u"/>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group:</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下拉选项图片</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p"/>
            </a:pP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Select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marL="952500" lvl="1" indent="-342900">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selected: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设置下拉菜单初始选择项的索引，第一项的索引为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value: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设置下拉按钮本身的文本显示</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font: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设置下拉按钮本身的文本样式</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9" name="Rectangle 1"/>
          <p:cNvSpPr>
            <a:spLocks noChangeArrowheads="1"/>
          </p:cNvSpPr>
          <p:nvPr/>
        </p:nvSpPr>
        <p:spPr bwMode="auto">
          <a:xfrm>
            <a:off x="3430910" y="1629594"/>
            <a:ext cx="4968552"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r>
              <a:rPr lang="en-US" altLang="zh-CN" sz="2000" dirty="0">
                <a:solidFill>
                  <a:srgbClr val="00A99E"/>
                </a:solidFill>
                <a:latin typeface="Times New Roman" panose="02020603050405020304" pitchFamily="18" charset="0"/>
                <a:cs typeface="Times New Roman" panose="02020603050405020304" pitchFamily="18" charset="0"/>
              </a:rPr>
              <a:t>Select</a:t>
            </a:r>
            <a:r>
              <a:rPr lang="en-US" altLang="zh-CN" sz="2000" dirty="0">
                <a:latin typeface="Times New Roman" panose="02020603050405020304" pitchFamily="18" charset="0"/>
                <a:cs typeface="Times New Roman" panose="02020603050405020304" pitchFamily="18" charset="0"/>
              </a:rPr>
              <a:t>(</a:t>
            </a:r>
            <a:r>
              <a:rPr lang="en-US" altLang="zh-CN" sz="2000" dirty="0">
                <a:solidFill>
                  <a:srgbClr val="11408E"/>
                </a:solidFill>
                <a:latin typeface="Times New Roman" panose="02020603050405020304" pitchFamily="18" charset="0"/>
                <a:cs typeface="Times New Roman" panose="02020603050405020304" pitchFamily="18" charset="0"/>
              </a:rPr>
              <a:t>options</a:t>
            </a:r>
            <a:r>
              <a:rPr lang="en-US" altLang="zh-CN" sz="2000" dirty="0">
                <a:latin typeface="Times New Roman" panose="02020603050405020304" pitchFamily="18" charset="0"/>
                <a:cs typeface="Times New Roman" panose="02020603050405020304" pitchFamily="18" charset="0"/>
              </a:rPr>
              <a:t>: </a:t>
            </a:r>
            <a:r>
              <a:rPr lang="en-US" altLang="zh-CN" sz="2000" dirty="0">
                <a:solidFill>
                  <a:srgbClr val="11408E"/>
                </a:solidFill>
                <a:latin typeface="Times New Roman" panose="02020603050405020304" pitchFamily="18" charset="0"/>
                <a:cs typeface="Times New Roman" panose="02020603050405020304" pitchFamily="18" charset="0"/>
              </a:rPr>
              <a:t>Array</a:t>
            </a:r>
            <a:r>
              <a:rPr lang="en-US" altLang="zh-CN" sz="2000" dirty="0">
                <a:latin typeface="Times New Roman" panose="02020603050405020304" pitchFamily="18" charset="0"/>
                <a:cs typeface="Times New Roman" panose="02020603050405020304" pitchFamily="18" charset="0"/>
              </a:rPr>
              <a:t>&lt;</a:t>
            </a:r>
            <a:r>
              <a:rPr lang="en-US" altLang="zh-CN" sz="2000" dirty="0" err="1">
                <a:solidFill>
                  <a:srgbClr val="11408E"/>
                </a:solidFill>
                <a:latin typeface="Times New Roman" panose="02020603050405020304" pitchFamily="18" charset="0"/>
                <a:cs typeface="Times New Roman" panose="02020603050405020304" pitchFamily="18" charset="0"/>
              </a:rPr>
              <a:t>SelectOption</a:t>
            </a:r>
            <a:r>
              <a:rPr lang="en-US" altLang="zh-CN" sz="2000" dirty="0">
                <a:latin typeface="Times New Roman" panose="02020603050405020304" pitchFamily="18" charset="0"/>
                <a:cs typeface="Times New Roman" panose="02020603050405020304" pitchFamily="18" charset="0"/>
              </a:rPr>
              <a:t>&gt;)</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558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p"/>
            </a:pP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Select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marL="952500" lvl="1" indent="-342900">
              <a:spcBef>
                <a:spcPts val="20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fontColor</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设置下拉按钮本身的文本颜色</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selectedOptionBgColor</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设置下拉菜单选中项的背景色</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selectedOptionFont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设置下拉菜单选中项的文本样式</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selectedOptionFontColor</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设置下拉菜单选中项的文本颜色</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optionBgColor</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设置下拉菜单项的背景色</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optionFont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设置下拉菜单项的文本样式</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optionFontColor</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设置下拉菜单项的文本颜色</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p"/>
            </a:pPr>
            <a:r>
              <a:rPr lang="en-US" altLang="zh-CN" sz="20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Select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事件</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marL="952500" lvl="1" indent="-342900">
              <a:spcBef>
                <a:spcPts val="24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onSelect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下拉菜单选中某一项的回调</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选择组件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160247" y="1341562"/>
            <a:ext cx="7272808"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808000"/>
                </a:solidFill>
                <a:effectLst/>
                <a:latin typeface="Arial Unicode MS"/>
                <a:ea typeface="JetBrains Mono"/>
              </a:rPr>
              <a:t>@Entry</a:t>
            </a:r>
            <a:br>
              <a:rPr kumimoji="0" lang="zh-CN" altLang="zh-CN" sz="1800" b="0" i="0" u="none" strike="noStrike" cap="none" normalizeH="0" baseline="0" dirty="0">
                <a:ln>
                  <a:noFill/>
                </a:ln>
                <a:solidFill>
                  <a:srgbClr val="808000"/>
                </a:solidFill>
                <a:effectLst/>
                <a:latin typeface="Arial Unicode MS"/>
                <a:ea typeface="JetBrains Mono"/>
              </a:rPr>
            </a:br>
            <a:r>
              <a:rPr kumimoji="0" lang="zh-CN" altLang="zh-CN" sz="1800" b="0" i="0" u="none" strike="noStrike" cap="none" normalizeH="0" baseline="0" dirty="0">
                <a:ln>
                  <a:noFill/>
                </a:ln>
                <a:solidFill>
                  <a:srgbClr val="808000"/>
                </a:solidFill>
                <a:effectLst/>
                <a:latin typeface="Arial Unicode MS"/>
                <a:ea typeface="JetBrains Mono"/>
              </a:rPr>
              <a:t>@Component </a:t>
            </a:r>
            <a:r>
              <a:rPr kumimoji="0" lang="zh-CN" altLang="zh-CN" sz="1800" b="1" i="0" u="none" strike="noStrike" cap="none" normalizeH="0" baseline="0" dirty="0">
                <a:ln>
                  <a:noFill/>
                </a:ln>
                <a:solidFill>
                  <a:srgbClr val="859801"/>
                </a:solidFill>
                <a:effectLst/>
                <a:latin typeface="Arial Unicode MS"/>
                <a:ea typeface="JetBrains Mono"/>
              </a:rPr>
              <a:t>struct </a:t>
            </a:r>
            <a:r>
              <a:rPr kumimoji="0" lang="zh-CN" altLang="zh-CN" sz="1800" b="0" i="0" u="none" strike="noStrike" cap="none" normalizeH="0" baseline="0" dirty="0">
                <a:ln>
                  <a:noFill/>
                </a:ln>
                <a:solidFill>
                  <a:srgbClr val="507874"/>
                </a:solidFill>
                <a:effectLst/>
                <a:latin typeface="Arial Unicode MS"/>
                <a:ea typeface="JetBrains Mono"/>
              </a:rPr>
              <a:t>SelectTest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build</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Row</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Select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value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大一</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icon</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$r</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"app.media.icon"</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a:t>
            </a:r>
            <a:br>
              <a:rPr kumimoji="0" lang="zh-CN" altLang="zh-CN" sz="1800" b="0" i="0" u="none" strike="noStrike" cap="none" normalizeH="0" baseline="0" dirty="0">
                <a:ln>
                  <a:noFill/>
                </a:ln>
                <a:solidFill>
                  <a:srgbClr val="859801"/>
                </a:solidFill>
                <a:effectLst/>
                <a:latin typeface="Arial Unicode MS"/>
                <a:ea typeface="JetBrains Mono"/>
              </a:rPr>
            </a:b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value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大二</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icon</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$r</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"app.media.icon"</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a:t>
            </a:r>
            <a:br>
              <a:rPr kumimoji="0" lang="zh-CN" altLang="zh-CN" sz="1800" b="0" i="0" u="none" strike="noStrike" cap="none" normalizeH="0" baseline="0" dirty="0">
                <a:ln>
                  <a:noFill/>
                </a:ln>
                <a:solidFill>
                  <a:srgbClr val="859801"/>
                </a:solidFill>
                <a:effectLst/>
                <a:latin typeface="Arial Unicode MS"/>
                <a:ea typeface="JetBrains Mono"/>
              </a:rPr>
            </a:b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value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大三</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icon</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$r</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"app.media.icon"</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a:t>
            </a:r>
            <a:br>
              <a:rPr kumimoji="0" lang="zh-CN" altLang="zh-CN" sz="1800" b="0" i="0" u="none" strike="noStrike" cap="none" normalizeH="0" baseline="0" dirty="0">
                <a:ln>
                  <a:noFill/>
                </a:ln>
                <a:solidFill>
                  <a:srgbClr val="859801"/>
                </a:solidFill>
                <a:effectLst/>
                <a:latin typeface="Arial Unicode MS"/>
                <a:ea typeface="JetBrains Mono"/>
              </a:rPr>
            </a:b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value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大四</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icon</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$r</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"app.media.icon"</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value</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请选择</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1" u="none" strike="noStrike" cap="none" normalizeH="0" baseline="0" dirty="0">
                <a:ln>
                  <a:noFill/>
                </a:ln>
                <a:solidFill>
                  <a:srgbClr val="808080"/>
                </a:solidFill>
                <a:effectLst/>
                <a:latin typeface="Arial Unicode MS"/>
                <a:ea typeface="JetBrains Mono"/>
              </a:rPr>
              <a:t>//</a:t>
            </a:r>
            <a:r>
              <a:rPr kumimoji="0" lang="zh-CN" altLang="zh-CN" sz="1800" b="0" i="1"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下拉选项的提示语</a:t>
            </a:r>
            <a:br>
              <a:rPr kumimoji="0" lang="zh-CN" altLang="zh-CN" sz="1800" b="0" i="1"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800" b="0" i="1"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en-US" altLang="zh-CN" sz="1800" b="0" i="1"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onSelect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index</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0080"/>
                </a:solidFill>
                <a:effectLst/>
                <a:latin typeface="Arial Unicode MS"/>
                <a:ea typeface="JetBrains Mono"/>
              </a:rPr>
              <a:t>number</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value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0080"/>
                </a:solidFill>
                <a:effectLst/>
                <a:latin typeface="Arial Unicode MS"/>
                <a:ea typeface="JetBrains Mono"/>
              </a:rPr>
              <a:t>string</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=&gt;</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console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log</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"Select:" </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index</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value</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width</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"100%"</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height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"100%"</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alignItems</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VerticalAlign</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Top</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1"/>
          <a:stretch>
            <a:fillRect/>
          </a:stretch>
        </p:blipFill>
        <p:spPr>
          <a:xfrm>
            <a:off x="8183438" y="2061642"/>
            <a:ext cx="3114675" cy="21526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10225136"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按钮组件是一种非常实用的组件，它可以在各种应用场景中使用。</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在用户界面设计中按钮组件通常被用来</a:t>
            </a:r>
            <a:r>
              <a:rPr lang="zh-CN" altLang="en-US" sz="2000" dirty="0">
                <a:solidFill>
                  <a:srgbClr val="008DF6"/>
                </a:solidFill>
                <a:latin typeface="Times New Roman" panose="02020603050405020304" pitchFamily="18" charset="0"/>
                <a:ea typeface="微软雅黑" panose="020B0503020204020204" pitchFamily="34" charset="-122"/>
                <a:cs typeface="Times New Roman" panose="02020603050405020304" pitchFamily="18" charset="0"/>
              </a:rPr>
              <a:t>触发某些操作</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或者</a:t>
            </a:r>
            <a:r>
              <a:rPr lang="zh-CN" altLang="en-US" sz="2000" dirty="0">
                <a:solidFill>
                  <a:srgbClr val="008DF6"/>
                </a:solidFill>
                <a:latin typeface="Times New Roman" panose="02020603050405020304" pitchFamily="18" charset="0"/>
                <a:ea typeface="微软雅黑" panose="020B0503020204020204" pitchFamily="34" charset="-122"/>
                <a:cs typeface="Times New Roman" panose="02020603050405020304" pitchFamily="18" charset="0"/>
              </a:rPr>
              <a:t>跳转到其他页面</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由于按钮组件的使用频率非常高，因此在设计时需要考虑其使用的便捷性以及外观的美感。</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在</a:t>
            </a:r>
            <a:r>
              <a:rPr lang="zh-CN" altLang="en-US" sz="20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外观方面</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，按钮组件通常有三种不同的形状</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rgbClr val="008DF6"/>
                </a:solidFill>
                <a:latin typeface="Times New Roman" panose="02020603050405020304" pitchFamily="18" charset="0"/>
                <a:ea typeface="微软雅黑" panose="020B0503020204020204" pitchFamily="34" charset="-122"/>
                <a:cs typeface="Times New Roman" panose="02020603050405020304" pitchFamily="18" charset="0"/>
              </a:rPr>
              <a:t>矩形圆角按钮</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rgbClr val="008DF6"/>
                </a:solidFill>
                <a:latin typeface="Times New Roman" panose="02020603050405020304" pitchFamily="18" charset="0"/>
                <a:ea typeface="微软雅黑" panose="020B0503020204020204" pitchFamily="34" charset="-122"/>
                <a:cs typeface="Times New Roman" panose="02020603050405020304" pitchFamily="18" charset="0"/>
              </a:rPr>
              <a:t>胶囊型按钮</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2000" dirty="0">
                <a:solidFill>
                  <a:srgbClr val="008DF6"/>
                </a:solidFill>
                <a:latin typeface="Times New Roman" panose="02020603050405020304" pitchFamily="18" charset="0"/>
                <a:ea typeface="微软雅黑" panose="020B0503020204020204" pitchFamily="34" charset="-122"/>
                <a:cs typeface="Times New Roman" panose="02020603050405020304" pitchFamily="18" charset="0"/>
              </a:rPr>
              <a:t>圆形按钮</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。这些不同的形状可以根据具体的设计需求进行选择。</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按钮组件还可以添加一个子组件，以实现不同的展示样式。例如，可以在按钮上添加一个图标或者文字，以便用户更加清晰地了解按钮的功能。</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按钮组件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-Button</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按钮组件</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Button</a:t>
            </a:r>
            <a:endPar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2" name="组合 11"/>
          <p:cNvGrpSpPr/>
          <p:nvPr/>
        </p:nvGrpSpPr>
        <p:grpSpPr>
          <a:xfrm>
            <a:off x="479549" y="1626034"/>
            <a:ext cx="10796287" cy="643325"/>
            <a:chOff x="361420" y="710838"/>
            <a:chExt cx="7758114" cy="482569"/>
          </a:xfrm>
        </p:grpSpPr>
        <p:sp>
          <p:nvSpPr>
            <p:cNvPr id="6" name="文本框 5"/>
            <p:cNvSpPr txBox="1"/>
            <p:nvPr/>
          </p:nvSpPr>
          <p:spPr>
            <a:xfrm>
              <a:off x="512119" y="769606"/>
              <a:ext cx="7446548" cy="364865"/>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按钮组件，可快速创建不同样式的按钮，使用属性</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.type()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描述按钮样式。</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61420" y="710838"/>
              <a:ext cx="7758114" cy="48256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1" name="组合 10"/>
          <p:cNvGrpSpPr/>
          <p:nvPr/>
        </p:nvGrpSpPr>
        <p:grpSpPr>
          <a:xfrm>
            <a:off x="357657" y="2833715"/>
            <a:ext cx="11352886" cy="3058822"/>
            <a:chOff x="361418" y="3487905"/>
            <a:chExt cx="8515995" cy="2294475"/>
          </a:xfrm>
        </p:grpSpPr>
        <p:sp>
          <p:nvSpPr>
            <p:cNvPr id="8" name="圆角矩形 55"/>
            <p:cNvSpPr/>
            <p:nvPr>
              <p:custDataLst>
                <p:tags r:id="rId2"/>
              </p:custDataLst>
            </p:nvPr>
          </p:nvSpPr>
          <p:spPr>
            <a:xfrm>
              <a:off x="361418" y="3487905"/>
              <a:ext cx="8515995" cy="227713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452852" y="3639873"/>
              <a:ext cx="7912214" cy="2142507"/>
            </a:xfrm>
            <a:prstGeom prst="rect">
              <a:avLst/>
            </a:prstGeom>
            <a:noFill/>
          </p:spPr>
          <p:txBody>
            <a:bodyPr wrap="square">
              <a:spAutoFit/>
            </a:bodyPr>
            <a:lstStyle/>
            <a:p>
              <a:pPr marL="408940" marR="63500">
                <a:lnSpc>
                  <a:spcPct val="120000"/>
                </a:lnSpc>
                <a:tabLst>
                  <a:tab pos="180340" algn="l"/>
                  <a:tab pos="408940" algn="l"/>
                </a:tabLst>
              </a:pP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Button</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65317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登录</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type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ButtonType</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Normal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描述按钮显示样式</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按钮按下时是否开启按压态显示效果</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当设置为</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false</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时</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按压效果关闭</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stateEffect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true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onClick</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事件处理</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008DD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todo</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008DD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pic>
        <p:nvPicPr>
          <p:cNvPr id="4" name="图片 3" descr="537278f7a07fdbada666bdacf26f64b1"/>
          <p:cNvPicPr>
            <a:picLocks noChangeAspect="1"/>
          </p:cNvPicPr>
          <p:nvPr>
            <p:custDataLst>
              <p:tags r:id="rId3"/>
            </p:custDataLst>
          </p:nvPr>
        </p:nvPicPr>
        <p:blipFill>
          <a:blip r:embed="rId4"/>
          <a:stretch>
            <a:fillRect/>
          </a:stretch>
        </p:blipFill>
        <p:spPr>
          <a:xfrm>
            <a:off x="8789573" y="2405404"/>
            <a:ext cx="8202555" cy="5655661"/>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11"/>
                                        </p:tgtEl>
                                        <p:attrNameLst>
                                          <p:attrName>style.visibility</p:attrName>
                                        </p:attrNameLst>
                                      </p:cBhvr>
                                      <p:to>
                                        <p:strVal val="visible"/>
                                      </p:to>
                                    </p:set>
                                    <p:animEffect transition="in" filter="wedge">
                                      <p:cBhvr>
                                        <p:cTn id="15" dur="1000"/>
                                        <p:tgtEl>
                                          <p:spTgt spid="11"/>
                                        </p:tgtEl>
                                      </p:cBhvr>
                                    </p:animEffect>
                                  </p:childTnLst>
                                </p:cTn>
                              </p:par>
                              <p:par>
                                <p:cTn id="16" presetID="42"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88347" y="101300"/>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按钮类型</a:t>
            </a:r>
            <a:endPar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4" name="组合 3"/>
          <p:cNvGrpSpPr/>
          <p:nvPr/>
        </p:nvGrpSpPr>
        <p:grpSpPr>
          <a:xfrm>
            <a:off x="660225" y="2178488"/>
            <a:ext cx="6736973" cy="2728278"/>
            <a:chOff x="643019" y="1290533"/>
            <a:chExt cx="5053519" cy="2046528"/>
          </a:xfrm>
        </p:grpSpPr>
        <p:sp>
          <p:nvSpPr>
            <p:cNvPr id="5" name="文本框 4"/>
            <p:cNvSpPr txBox="1"/>
            <p:nvPr/>
          </p:nvSpPr>
          <p:spPr>
            <a:xfrm>
              <a:off x="741410" y="1788054"/>
              <a:ext cx="4955128" cy="1549007"/>
            </a:xfrm>
            <a:prstGeom prst="rect">
              <a:avLst/>
            </a:prstGeom>
            <a:noFill/>
          </p:spPr>
          <p:txBody>
            <a:bodyPr wrap="square" lIns="91397" tIns="45699" rIns="91397" bIns="45699" rtlCol="0">
              <a:spAutoFit/>
            </a:bodyPr>
            <a:lstStyle/>
            <a:p>
              <a:pPr marL="342900" lvl="0" indent="-34290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Normal</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普通按钮（默认不带圆角）</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342900" lvl="0" indent="-34290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Capsule</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胶囊型按钮（圆角默认为高度的一半）；</a:t>
              </a: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342900" lvl="0" indent="-34290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Circle </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：圆形按钮</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lvl="0">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7" name="组合 6"/>
            <p:cNvGrpSpPr/>
            <p:nvPr/>
          </p:nvGrpSpPr>
          <p:grpSpPr>
            <a:xfrm>
              <a:off x="643019" y="1290533"/>
              <a:ext cx="5053519" cy="1877013"/>
              <a:chOff x="828791" y="1692437"/>
              <a:chExt cx="5053519" cy="1877013"/>
            </a:xfrm>
          </p:grpSpPr>
          <p:sp>
            <p:nvSpPr>
              <p:cNvPr id="10" name="圆角矩形 3"/>
              <p:cNvSpPr/>
              <p:nvPr/>
            </p:nvSpPr>
            <p:spPr>
              <a:xfrm>
                <a:off x="927182" y="1692437"/>
                <a:ext cx="2227580" cy="39846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圆角矩形 54"/>
              <p:cNvSpPr/>
              <p:nvPr/>
            </p:nvSpPr>
            <p:spPr>
              <a:xfrm>
                <a:off x="828791" y="1905347"/>
                <a:ext cx="5053519" cy="166410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Text2"/>
              <p:cNvSpPr txBox="1"/>
              <p:nvPr/>
            </p:nvSpPr>
            <p:spPr>
              <a:xfrm>
                <a:off x="1164945" y="1692438"/>
                <a:ext cx="1989817"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ButtonType</a:t>
                </a:r>
                <a:endParaRPr lang="en-US" altLang="zh-CN" sz="3200" b="1">
                  <a:solidFill>
                    <a:schemeClr val="accent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pic>
        <p:nvPicPr>
          <p:cNvPr id="6" name="图片 5"/>
          <p:cNvPicPr>
            <a:picLocks noChangeAspect="1"/>
          </p:cNvPicPr>
          <p:nvPr/>
        </p:nvPicPr>
        <p:blipFill>
          <a:blip r:embed="rId1"/>
          <a:stretch>
            <a:fillRect/>
          </a:stretch>
        </p:blipFill>
        <p:spPr>
          <a:xfrm>
            <a:off x="8150920" y="1383617"/>
            <a:ext cx="3103655" cy="1278332"/>
          </a:xfrm>
          <a:prstGeom prst="rect">
            <a:avLst/>
          </a:prstGeom>
        </p:spPr>
      </p:pic>
      <p:pic>
        <p:nvPicPr>
          <p:cNvPr id="9" name="图片 8"/>
          <p:cNvPicPr>
            <a:picLocks noChangeAspect="1"/>
          </p:cNvPicPr>
          <p:nvPr/>
        </p:nvPicPr>
        <p:blipFill>
          <a:blip r:embed="rId2"/>
          <a:stretch>
            <a:fillRect/>
          </a:stretch>
        </p:blipFill>
        <p:spPr>
          <a:xfrm>
            <a:off x="8150921" y="3089609"/>
            <a:ext cx="3225461" cy="1193675"/>
          </a:xfrm>
          <a:prstGeom prst="rect">
            <a:avLst/>
          </a:prstGeom>
        </p:spPr>
      </p:pic>
      <p:pic>
        <p:nvPicPr>
          <p:cNvPr id="12" name="图片 11"/>
          <p:cNvPicPr>
            <a:picLocks noChangeAspect="1"/>
          </p:cNvPicPr>
          <p:nvPr/>
        </p:nvPicPr>
        <p:blipFill>
          <a:blip r:embed="rId3"/>
          <a:stretch>
            <a:fillRect/>
          </a:stretch>
        </p:blipFill>
        <p:spPr>
          <a:xfrm>
            <a:off x="8218648" y="4680781"/>
            <a:ext cx="3157735" cy="1075153"/>
          </a:xfrm>
          <a:prstGeom prst="rect">
            <a:avLst/>
          </a:prstGeom>
        </p:spPr>
      </p:pic>
      <p:pic>
        <p:nvPicPr>
          <p:cNvPr id="15" name="图片 14"/>
          <p:cNvPicPr>
            <a:picLocks noChangeAspect="1"/>
          </p:cNvPicPr>
          <p:nvPr/>
        </p:nvPicPr>
        <p:blipFill>
          <a:blip r:embed="rId4"/>
          <a:stretch>
            <a:fillRect/>
          </a:stretch>
        </p:blipFill>
        <p:spPr>
          <a:xfrm>
            <a:off x="5278579" y="4963325"/>
            <a:ext cx="1823408" cy="1638092"/>
          </a:xfrm>
          <a:prstGeom prst="rect">
            <a:avLst/>
          </a:prstGeom>
        </p:spPr>
      </p:pic>
      <p:sp>
        <p:nvSpPr>
          <p:cNvPr id="16" name="ïsḷîde"/>
          <p:cNvSpPr/>
          <p:nvPr/>
        </p:nvSpPr>
        <p:spPr>
          <a:xfrm>
            <a:off x="2747967" y="5285461"/>
            <a:ext cx="2216127" cy="503832"/>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25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4"/>
                                        </p:tgtEl>
                                        <p:attrNameLst>
                                          <p:attrName>style.visibility</p:attrName>
                                        </p:attrNameLst>
                                      </p:cBhvr>
                                      <p:to>
                                        <p:strVal val="visible"/>
                                      </p:to>
                                    </p:set>
                                    <p:animEffect transition="in" filter="wedge">
                                      <p:cBhvr>
                                        <p:cTn id="11" dur="1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6"/>
                                        </p:tgtEl>
                                        <p:attrNameLst>
                                          <p:attrName>style.visibility</p:attrName>
                                        </p:attrNameLst>
                                      </p:cBhvr>
                                      <p:to>
                                        <p:strVal val="visible"/>
                                      </p:to>
                                    </p:set>
                                    <p:animEffect transition="in" filter="wedge">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9"/>
                                        </p:tgtEl>
                                        <p:attrNameLst>
                                          <p:attrName>style.visibility</p:attrName>
                                        </p:attrNameLst>
                                      </p:cBhvr>
                                      <p:to>
                                        <p:strVal val="visible"/>
                                      </p:to>
                                    </p:set>
                                    <p:animEffect transition="in" filter="wedge">
                                      <p:cBhvr>
                                        <p:cTn id="21" dur="10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0" presetClass="entr" presetSubtype="0" fill="hold" nodeType="clickEffect">
                                  <p:stCondLst>
                                    <p:cond delay="0"/>
                                  </p:stCondLst>
                                  <p:childTnLst>
                                    <p:set>
                                      <p:cBhvr>
                                        <p:cTn id="25" dur="1000" fill="hold">
                                          <p:stCondLst>
                                            <p:cond delay="0"/>
                                          </p:stCondLst>
                                        </p:cTn>
                                        <p:tgtEl>
                                          <p:spTgt spid="12"/>
                                        </p:tgtEl>
                                        <p:attrNameLst>
                                          <p:attrName>style.visibility</p:attrName>
                                        </p:attrNameLst>
                                      </p:cBhvr>
                                      <p:to>
                                        <p:strVal val="visible"/>
                                      </p:to>
                                    </p:set>
                                    <p:animEffect transition="in" filter="wedge">
                                      <p:cBhvr>
                                        <p:cTn id="26" dur="10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par>
                                <p:cTn id="32" presetID="22" presetClass="entr" presetSubtype="4"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down)">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756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按钮组件</a:t>
            </a: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Button</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按钮组件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-Button</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Rectangle 1"/>
          <p:cNvSpPr>
            <a:spLocks noChangeArrowheads="1"/>
          </p:cNvSpPr>
          <p:nvPr/>
        </p:nvSpPr>
        <p:spPr bwMode="auto">
          <a:xfrm>
            <a:off x="2066731" y="2094895"/>
            <a:ext cx="8056949"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Button</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label</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string</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options</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type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ButtonType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stateEffect</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boolean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矩形 5"/>
          <p:cNvSpPr/>
          <p:nvPr/>
        </p:nvSpPr>
        <p:spPr>
          <a:xfrm>
            <a:off x="1198662" y="2869134"/>
            <a:ext cx="6552728" cy="3631763"/>
          </a:xfrm>
          <a:prstGeom prst="rect">
            <a:avLst/>
          </a:prstGeom>
        </p:spPr>
        <p:txBody>
          <a:bodyPr wrap="square">
            <a:spAutoFit/>
          </a:bodyPr>
          <a:lstStyle/>
          <a:p>
            <a:pPr marL="342900" indent="-342900">
              <a:spcBef>
                <a:spcPts val="20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label</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用于设置按钮文本</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0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options</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主要设置按钮的外观风格。默认效果</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type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为胶囊型按钮风格，开启切换效果。除非特意要实现矩形按钮或圆形按钮的效果，否则，建议不设置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options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options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也由两个可选参数组成。</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l"/>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type</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Buton</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按钮的显示样式，默认值为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ButtonType.Capsule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。具体见表 。</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l"/>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stateEffect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按钮按下时是否开启按压态显示效果，当设置为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时，按压效果关闭。默认值为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7751390" y="4221882"/>
            <a:ext cx="3966769" cy="16967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756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按钮组件</a:t>
            </a: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Button</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按钮组件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-Button</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Rectangle 1"/>
          <p:cNvSpPr>
            <a:spLocks noChangeArrowheads="1"/>
          </p:cNvSpPr>
          <p:nvPr/>
        </p:nvSpPr>
        <p:spPr bwMode="auto">
          <a:xfrm>
            <a:off x="2066731" y="2094895"/>
            <a:ext cx="8056949"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Button</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label</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string</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options</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type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ButtonType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stateEffect</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boolean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矩形 5"/>
          <p:cNvSpPr/>
          <p:nvPr/>
        </p:nvSpPr>
        <p:spPr>
          <a:xfrm>
            <a:off x="1198662" y="2869134"/>
            <a:ext cx="6552728" cy="3631763"/>
          </a:xfrm>
          <a:prstGeom prst="rect">
            <a:avLst/>
          </a:prstGeom>
        </p:spPr>
        <p:txBody>
          <a:bodyPr wrap="square">
            <a:spAutoFit/>
          </a:bodyPr>
          <a:lstStyle/>
          <a:p>
            <a:pPr marL="342900" indent="-342900">
              <a:spcBef>
                <a:spcPts val="20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label</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用于设置按钮文本</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spcBef>
                <a:spcPts val="20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options</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主要设置按钮的外观风格。默认效果</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type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为胶囊型按钮风格，开启切换效果。除非特意要实现矩形按钮或圆形按钮的效果，否则，建议不设置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options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options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也由两个可选参数组成。</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l"/>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type</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Buton</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按钮的显示样式，默认值为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ButtonType.Capsule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。具体见表 。</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spcBef>
                <a:spcPts val="2000"/>
              </a:spcBef>
              <a:buFont typeface="Wingdings" panose="05000000000000000000" pitchFamily="2" charset="2"/>
              <a:buChar char="l"/>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stateEffect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按钮按下时是否开启按压态显示效果，当设置为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时，按压效果关闭。默认值为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7751390" y="4221882"/>
            <a:ext cx="3966769" cy="16967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756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按钮组件</a:t>
            </a: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Button</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按钮组件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-Button</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Rectangle 1"/>
          <p:cNvSpPr>
            <a:spLocks noChangeArrowheads="1"/>
          </p:cNvSpPr>
          <p:nvPr/>
        </p:nvSpPr>
        <p:spPr bwMode="auto">
          <a:xfrm>
            <a:off x="2066731" y="2094895"/>
            <a:ext cx="8056949"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Button</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label</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string</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options</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type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ButtonType</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stateEffect</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boolean </a:t>
            </a:r>
            <a:r>
              <a:rPr kumimoji="0" lang="zh-CN" altLang="zh-CN" sz="2000" b="0" i="0" u="none" strike="noStrike" cap="none" normalizeH="0" baseline="0" dirty="0">
                <a:ln>
                  <a:noFill/>
                </a:ln>
                <a:solidFill>
                  <a:srgbClr val="E986CD"/>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1486694" y="3285778"/>
            <a:ext cx="6552728" cy="25853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r>
              <a:rPr kumimoji="0" lang="zh-CN" altLang="zh-CN" sz="1800" b="0" i="0" u="none" strike="noStrike" cap="none" normalizeH="0" baseline="0" dirty="0">
                <a:ln>
                  <a:noFill/>
                </a:ln>
                <a:solidFill>
                  <a:srgbClr val="808000"/>
                </a:solidFill>
                <a:effectLst/>
                <a:latin typeface="Arial Unicode MS"/>
                <a:ea typeface="JetBrains Mono"/>
              </a:rPr>
              <a:t>@Entry @Component </a:t>
            </a:r>
            <a:r>
              <a:rPr kumimoji="0" lang="zh-CN" altLang="zh-CN" sz="1800" b="1" i="0" u="none" strike="noStrike" cap="none" normalizeH="0" baseline="0" dirty="0">
                <a:ln>
                  <a:noFill/>
                </a:ln>
                <a:solidFill>
                  <a:srgbClr val="859801"/>
                </a:solidFill>
                <a:effectLst/>
                <a:latin typeface="Arial Unicode MS"/>
                <a:ea typeface="JetBrains Mono"/>
              </a:rPr>
              <a:t>struct </a:t>
            </a:r>
            <a:r>
              <a:rPr kumimoji="0" lang="zh-CN" altLang="zh-CN" sz="1800" b="0" i="0" u="none" strike="noStrike" cap="none" normalizeH="0" baseline="0" dirty="0">
                <a:ln>
                  <a:noFill/>
                </a:ln>
                <a:solidFill>
                  <a:srgbClr val="507874"/>
                </a:solidFill>
                <a:effectLst/>
                <a:latin typeface="Arial Unicode MS"/>
                <a:ea typeface="JetBrains Mono"/>
              </a:rPr>
              <a:t>Test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build</a:t>
            </a: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Button</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'Ok'</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type</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ButtonType</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11408E"/>
                </a:solidFill>
                <a:effectLst/>
                <a:latin typeface="Arial Unicode MS"/>
                <a:ea typeface="JetBrains Mono"/>
              </a:rPr>
              <a:t>Normal</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stateEffect</a:t>
            </a: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1" i="0" u="none" strike="noStrike" cap="none" normalizeH="0" baseline="0" dirty="0">
                <a:ln>
                  <a:noFill/>
                </a:ln>
                <a:solidFill>
                  <a:srgbClr val="859801"/>
                </a:solidFill>
                <a:effectLst/>
                <a:latin typeface="Arial Unicode MS"/>
                <a:ea typeface="JetBrains Mono"/>
              </a:rPr>
              <a:t>true </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borderRadius</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FF9170"/>
                </a:solidFill>
                <a:effectLst/>
                <a:latin typeface="Arial Unicode MS"/>
                <a:ea typeface="JetBrains Mono"/>
              </a:rPr>
              <a:t>8</a:t>
            </a:r>
            <a:r>
              <a:rPr kumimoji="0" lang="zh-CN" altLang="zh-CN" sz="1800" b="0" i="0" u="none" strike="noStrike" cap="none" normalizeH="0" baseline="0" dirty="0">
                <a:ln>
                  <a:noFill/>
                </a:ln>
                <a:solidFill>
                  <a:srgbClr val="6C71C4"/>
                </a:solidFill>
                <a:effectLst/>
                <a:latin typeface="Arial Unicode MS"/>
                <a:ea typeface="JetBrains Mono"/>
              </a:rPr>
              <a:t>)</a:t>
            </a:r>
            <a:r>
              <a:rPr kumimoji="0" lang="en-US" altLang="zh-CN" sz="1800" b="0" i="0" u="none" strike="noStrike" cap="none" normalizeH="0" baseline="0" dirty="0">
                <a:ln>
                  <a:noFill/>
                </a:ln>
                <a:solidFill>
                  <a:srgbClr val="6C71C4"/>
                </a:solidFill>
                <a:effectLst/>
                <a:latin typeface="Arial Unicode MS"/>
                <a:ea typeface="JetBrains Mono"/>
              </a:rPr>
              <a:t>  //</a:t>
            </a:r>
            <a:r>
              <a:rPr lang="zh-CN" altLang="en-US" sz="1800" dirty="0">
                <a:solidFill>
                  <a:srgbClr val="6C71C4"/>
                </a:solidFill>
                <a:latin typeface="Arial Unicode MS"/>
                <a:ea typeface="JetBrains Mono"/>
              </a:rPr>
              <a:t>设置元素的边框圆角半径</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backgroundColor</a:t>
            </a:r>
            <a:r>
              <a:rPr kumimoji="0" lang="zh-CN" altLang="zh-CN" sz="1800" b="0" i="0" u="none" strike="noStrike" cap="none" normalizeH="0" baseline="0" dirty="0">
                <a:ln>
                  <a:noFill/>
                </a:ln>
                <a:solidFill>
                  <a:srgbClr val="6C71C4"/>
                </a:solidFill>
                <a:effectLst/>
                <a:latin typeface="Arial Unicode MS"/>
                <a:ea typeface="JetBrains Mono"/>
              </a:rPr>
              <a:t>(0x317aff)</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width</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FF9170"/>
                </a:solidFill>
                <a:effectLst/>
                <a:latin typeface="Arial Unicode MS"/>
                <a:ea typeface="JetBrains Mono"/>
              </a:rPr>
              <a:t>90</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height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FF9170"/>
                </a:solidFill>
                <a:effectLst/>
                <a:latin typeface="Arial Unicode MS"/>
                <a:ea typeface="JetBrains Mono"/>
              </a:rPr>
              <a:t>40</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1"/>
          <a:stretch>
            <a:fillRect/>
          </a:stretch>
        </p:blipFill>
        <p:spPr>
          <a:xfrm>
            <a:off x="8255446" y="3141762"/>
            <a:ext cx="3067050" cy="20669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1029714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Button</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事件：通过绑定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Button</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 </a:t>
            </a:r>
            <a:r>
              <a:rPr lang="en-US" altLang="zh-CN" sz="2000" b="1"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onClick</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事件实现，当用户点击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Button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时，系统会回调执行</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onClick</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方法，并触发其中的逻辑代码。</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按钮组件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-Button</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163047" y="2709714"/>
            <a:ext cx="7045968" cy="3477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Button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en-US"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Ok</a:t>
            </a:r>
            <a:r>
              <a:rPr kumimoji="0" lang="zh-CN" altLang="en-US"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type</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ButtonType</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Normal</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stateEffect</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1" i="0" u="none" strike="noStrike" cap="none" normalizeH="0" baseline="0" dirty="0">
                <a:ln>
                  <a:noFill/>
                </a:ln>
                <a:solidFill>
                  <a:srgbClr val="859801"/>
                </a:solidFill>
                <a:effectLst/>
                <a:latin typeface="Arial Unicode MS"/>
                <a:ea typeface="JetBrains Mono"/>
              </a:rPr>
              <a:t>true </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backgroundColor</a:t>
            </a:r>
            <a:r>
              <a:rPr kumimoji="0" lang="zh-CN" altLang="zh-CN" sz="2000" b="0" i="0" u="none" strike="noStrike" cap="none" normalizeH="0" baseline="0" dirty="0">
                <a:ln>
                  <a:noFill/>
                </a:ln>
                <a:solidFill>
                  <a:srgbClr val="6C71C4"/>
                </a:solidFill>
                <a:effectLst/>
                <a:latin typeface="Arial Unicode MS"/>
                <a:ea typeface="JetBrains Mono"/>
              </a:rPr>
              <a:t>(0x317aff)</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90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height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40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onClick</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=&gt;</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console</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log</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en-US"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按钮触发</a:t>
            </a:r>
            <a:r>
              <a:rPr kumimoji="0" lang="zh-CN" altLang="en-US"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r>
              <a:rPr kumimoji="0" lang="en-US" altLang="zh-CN" sz="2000" b="0" i="0" u="none" strike="noStrike" cap="none" normalizeH="0" baseline="0" dirty="0">
                <a:ln>
                  <a:noFill/>
                </a:ln>
                <a:solidFill>
                  <a:srgbClr val="6C71C4"/>
                </a:solidFill>
                <a:effectLst/>
                <a:latin typeface="Arial Unicode MS"/>
                <a:ea typeface="JetBrains Mono"/>
              </a:rPr>
              <a:t>//</a:t>
            </a:r>
            <a:r>
              <a:rPr kumimoji="0" lang="zh-CN" altLang="en-US" sz="2000" b="0" i="0" u="none" strike="noStrike" cap="none" normalizeH="0" baseline="0" dirty="0">
                <a:ln>
                  <a:noFill/>
                </a:ln>
                <a:solidFill>
                  <a:srgbClr val="6C71C4"/>
                </a:solidFill>
                <a:effectLst/>
                <a:latin typeface="Arial Unicode MS"/>
                <a:ea typeface="JetBrains Mono"/>
              </a:rPr>
              <a:t>日志中打印</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102971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Button</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自定义样式：</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按钮组件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-Button</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矩形 3"/>
          <p:cNvSpPr/>
          <p:nvPr/>
        </p:nvSpPr>
        <p:spPr>
          <a:xfrm>
            <a:off x="838622" y="1917626"/>
            <a:ext cx="10225136" cy="707886"/>
          </a:xfrm>
          <a:prstGeom prst="rect">
            <a:avLst/>
          </a:prstGeom>
        </p:spPr>
        <p:txBody>
          <a:bodyPr wrap="square">
            <a:spAutoFit/>
          </a:bodyPr>
          <a:lstStyle/>
          <a:p>
            <a:pPr marL="952500" lvl="1" indent="-342900">
              <a:spcBef>
                <a:spcPts val="2000"/>
              </a:spcBef>
              <a:buFont typeface="Wingdings" panose="05000000000000000000" pitchFamily="2" charset="2"/>
              <a:buChar char="Ø"/>
            </a:pPr>
            <a:r>
              <a:rPr lang="en-US" altLang="zh-CN" sz="2000" dirty="0">
                <a:solidFill>
                  <a:srgbClr val="3992DB"/>
                </a:solidFill>
                <a:latin typeface="Times New Roman" panose="02020603050405020304" pitchFamily="18" charset="0"/>
                <a:cs typeface="Times New Roman" panose="02020603050405020304" pitchFamily="18" charset="0"/>
              </a:rPr>
              <a:t>Button</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组件的容器特性赋予其嵌套其他组件的能力，进而实现更加灵活和多样化的</a:t>
            </a:r>
            <a:r>
              <a:rPr lang="en-US" altLang="zh-CN" sz="2000" dirty="0">
                <a:latin typeface="Times New Roman" panose="02020603050405020304" pitchFamily="18" charset="0"/>
                <a:cs typeface="Times New Roman" panose="02020603050405020304" pitchFamily="18" charset="0"/>
              </a:rPr>
              <a:t>Button</a:t>
            </a:r>
            <a:r>
              <a:rPr lang="zh-CN" altLang="en-US" sz="2000" dirty="0">
                <a:latin typeface="Times New Roman" panose="02020603050405020304" pitchFamily="18" charset="0"/>
                <a:cs typeface="Times New Roman" panose="02020603050405020304" pitchFamily="18" charset="0"/>
              </a:rPr>
              <a:t>开发策略。例如，例如通过</a:t>
            </a:r>
            <a:r>
              <a:rPr lang="en-US" altLang="zh-CN" sz="2000" dirty="0" err="1">
                <a:solidFill>
                  <a:srgbClr val="3992DB"/>
                </a:solidFill>
                <a:latin typeface="Times New Roman" panose="02020603050405020304" pitchFamily="18" charset="0"/>
                <a:cs typeface="Times New Roman" panose="02020603050405020304" pitchFamily="18" charset="0"/>
              </a:rPr>
              <a:t>borderRadius</a:t>
            </a:r>
            <a:r>
              <a:rPr lang="zh-CN" altLang="en-US" sz="2000" dirty="0">
                <a:latin typeface="Times New Roman" panose="02020603050405020304" pitchFamily="18" charset="0"/>
                <a:cs typeface="Times New Roman" panose="02020603050405020304" pitchFamily="18" charset="0"/>
              </a:rPr>
              <a:t>属性设置按钮的边框弧度</a:t>
            </a:r>
            <a:endParaRPr lang="en-US" altLang="zh-CN" sz="2000"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1414686" y="3861842"/>
            <a:ext cx="6172139"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Button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自定义组件</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type</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ButtonType</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Normal </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borderRadius</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20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height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40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8039422" y="3439505"/>
            <a:ext cx="3124200" cy="1524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102971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Button</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Text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子组件：</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按钮组件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-Button</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矩形 3"/>
          <p:cNvSpPr/>
          <p:nvPr/>
        </p:nvSpPr>
        <p:spPr>
          <a:xfrm>
            <a:off x="838622" y="1917626"/>
            <a:ext cx="10225136" cy="400110"/>
          </a:xfrm>
          <a:prstGeom prst="rect">
            <a:avLst/>
          </a:prstGeom>
        </p:spPr>
        <p:txBody>
          <a:bodyPr wrap="square">
            <a:spAutoFit/>
          </a:bodyPr>
          <a:lstStyle/>
          <a:p>
            <a:pPr marL="952500" lvl="1" indent="-342900">
              <a:spcBef>
                <a:spcPts val="20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通过设置 </a:t>
            </a:r>
            <a:r>
              <a:rPr lang="en-US" altLang="zh-CN" sz="2000" dirty="0">
                <a:solidFill>
                  <a:srgbClr val="3992DB"/>
                </a:solidFill>
                <a:latin typeface="Times New Roman" panose="02020603050405020304" pitchFamily="18" charset="0"/>
                <a:cs typeface="Times New Roman" panose="02020603050405020304" pitchFamily="18" charset="0"/>
              </a:rPr>
              <a:t>Button </a:t>
            </a:r>
            <a:r>
              <a:rPr lang="zh-CN" altLang="en-US" sz="2000" dirty="0">
                <a:latin typeface="Times New Roman" panose="02020603050405020304" pitchFamily="18" charset="0"/>
                <a:cs typeface="Times New Roman" panose="02020603050405020304" pitchFamily="18" charset="0"/>
              </a:rPr>
              <a:t>的</a:t>
            </a:r>
            <a:r>
              <a:rPr lang="en-US" altLang="zh-CN" sz="2000" dirty="0">
                <a:latin typeface="Times New Roman" panose="02020603050405020304" pitchFamily="18" charset="0"/>
                <a:cs typeface="Times New Roman" panose="02020603050405020304" pitchFamily="18" charset="0"/>
              </a:rPr>
              <a:t>Text</a:t>
            </a:r>
            <a:r>
              <a:rPr lang="zh-CN" altLang="en-US" sz="2000" dirty="0">
                <a:latin typeface="Times New Roman" panose="02020603050405020304" pitchFamily="18" charset="0"/>
                <a:cs typeface="Times New Roman" panose="02020603050405020304" pitchFamily="18" charset="0"/>
              </a:rPr>
              <a:t>子组件达到文本修改的效果</a:t>
            </a:r>
            <a:endParaRPr lang="en-US" altLang="zh-CN" sz="20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1558702" y="3110692"/>
            <a:ext cx="4902748"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Button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type</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ButtonType</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Normal </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Text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Courier New" panose="02070309020205020404" pitchFamily="49" charset="0"/>
                <a:ea typeface="JetBrains Mono"/>
                <a:cs typeface="Courier New" panose="02070309020205020404" pitchFamily="49" charset="0"/>
              </a:rPr>
              <a:t>文本组件</a:t>
            </a:r>
            <a:r>
              <a:rPr kumimoji="0" lang="zh-CN" altLang="zh-CN" sz="2000" b="0" i="0" u="none" strike="noStrike" cap="none" normalizeH="0" baseline="0" dirty="0">
                <a:ln>
                  <a:noFill/>
                </a:ln>
                <a:solidFill>
                  <a:srgbClr val="653170"/>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fontColor</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Color</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Orange</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fontSize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80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8" name="图片 7"/>
          <p:cNvPicPr>
            <a:picLocks noChangeAspect="1"/>
          </p:cNvPicPr>
          <p:nvPr/>
        </p:nvPicPr>
        <p:blipFill>
          <a:blip r:embed="rId1"/>
          <a:stretch>
            <a:fillRect/>
          </a:stretch>
        </p:blipFill>
        <p:spPr>
          <a:xfrm>
            <a:off x="6887294" y="3285778"/>
            <a:ext cx="3152775" cy="13811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197546"/>
            <a:ext cx="102971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Button</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子组件：</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按钮组件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-Button</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矩形 3"/>
          <p:cNvSpPr/>
          <p:nvPr/>
        </p:nvSpPr>
        <p:spPr>
          <a:xfrm>
            <a:off x="838622" y="1917626"/>
            <a:ext cx="10225136" cy="400110"/>
          </a:xfrm>
          <a:prstGeom prst="rect">
            <a:avLst/>
          </a:prstGeom>
        </p:spPr>
        <p:txBody>
          <a:bodyPr wrap="square">
            <a:spAutoFit/>
          </a:bodyPr>
          <a:lstStyle/>
          <a:p>
            <a:pPr marL="952500" lvl="1" indent="-342900">
              <a:spcBef>
                <a:spcPts val="20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通过设置 </a:t>
            </a:r>
            <a:r>
              <a:rPr lang="en-US" altLang="zh-CN" sz="2000" dirty="0">
                <a:solidFill>
                  <a:srgbClr val="3992DB"/>
                </a:solidFill>
                <a:latin typeface="Times New Roman" panose="02020603050405020304" pitchFamily="18" charset="0"/>
                <a:cs typeface="Times New Roman" panose="02020603050405020304" pitchFamily="18" charset="0"/>
              </a:rPr>
              <a:t>Button </a:t>
            </a:r>
            <a:r>
              <a:rPr lang="zh-CN" altLang="en-US" sz="2000" dirty="0">
                <a:latin typeface="Times New Roman" panose="02020603050405020304" pitchFamily="18" charset="0"/>
                <a:cs typeface="Times New Roman" panose="02020603050405020304" pitchFamily="18" charset="0"/>
              </a:rPr>
              <a:t>的</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latin typeface="Times New Roman" panose="02020603050405020304" pitchFamily="18" charset="0"/>
                <a:cs typeface="Times New Roman" panose="02020603050405020304" pitchFamily="18" charset="0"/>
              </a:rPr>
              <a:t>子组件达到图片修改的效果</a:t>
            </a:r>
            <a:endParaRPr lang="en-US" altLang="zh-CN" sz="20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1126654" y="3305522"/>
            <a:ext cx="6633996"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Button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type</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ButtonType</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Normal</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0" i="0" u="none" strike="noStrike" cap="none" normalizeH="0" baseline="0" dirty="0">
                <a:ln>
                  <a:noFill/>
                </a:ln>
                <a:solidFill>
                  <a:srgbClr val="11408E"/>
                </a:solidFill>
                <a:effectLst/>
                <a:latin typeface="Arial Unicode MS"/>
                <a:ea typeface="JetBrains Mono"/>
              </a:rPr>
              <a:t>stateEffect</a:t>
            </a:r>
            <a:r>
              <a:rPr kumimoji="0" lang="zh-CN" altLang="zh-CN" sz="2000" b="0" i="0" u="none" strike="noStrike" cap="none" normalizeH="0" baseline="0" dirty="0">
                <a:ln>
                  <a:noFill/>
                </a:ln>
                <a:solidFill>
                  <a:srgbClr val="859801"/>
                </a:solidFill>
                <a:effectLst/>
                <a:latin typeface="Arial Unicode MS"/>
                <a:ea typeface="JetBrains Mono"/>
              </a:rPr>
              <a:t>: </a:t>
            </a:r>
            <a:r>
              <a:rPr kumimoji="0" lang="zh-CN" altLang="zh-CN" sz="2000" b="1" i="0" u="none" strike="noStrike" cap="none" normalizeH="0" baseline="0" dirty="0">
                <a:ln>
                  <a:noFill/>
                </a:ln>
                <a:solidFill>
                  <a:srgbClr val="859801"/>
                </a:solidFill>
                <a:effectLst/>
                <a:latin typeface="Arial Unicode MS"/>
                <a:ea typeface="JetBrains Mono"/>
              </a:rPr>
              <a:t>true </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Image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$r</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"app.media.app_icon"</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30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height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30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9" name="图片 8"/>
          <p:cNvPicPr>
            <a:picLocks noChangeAspect="1"/>
          </p:cNvPicPr>
          <p:nvPr/>
        </p:nvPicPr>
        <p:blipFill>
          <a:blip r:embed="rId1"/>
          <a:stretch>
            <a:fillRect/>
          </a:stretch>
        </p:blipFill>
        <p:spPr>
          <a:xfrm>
            <a:off x="8111430" y="3069754"/>
            <a:ext cx="3038475" cy="17240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054646" y="1053530"/>
            <a:ext cx="10081120" cy="5116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lnSpc>
                <a:spcPct val="150000"/>
              </a:lnSpc>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在移动应用开发领域，</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组件是一种广泛使用的工具，因为图片作为一种直观生动的表现形式，能够更好地吸引用户的关注。</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lnSpc>
                <a:spcPct val="150000"/>
              </a:lnSpc>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1mage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组件，开发者可以将各种图片展示在应用中，例如应用的</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logo</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、产品图片、用户头像等。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lnSpc>
                <a:spcPct val="150000"/>
              </a:lnSpc>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展示图片非常简单，只需在组件中指定图片的地址、宽和高，即可控制图片的大小和位置，让其展示更加美观。</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952500" lvl="1" indent="-342900">
              <a:lnSpc>
                <a:spcPct val="150000"/>
              </a:lnSpc>
              <a:spcBef>
                <a:spcPts val="2400"/>
              </a:spcBef>
              <a:buFont typeface="Wingdings" panose="05000000000000000000" pitchFamily="2" charset="2"/>
              <a:buChar char="Ø"/>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此外</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组件还支持从内存、本地和网络加载图片，以满足不同场景下的需求。但需要注意的是，若从网络加载图片，需申请网络访问权限，以确保用户授权后进行网络加载操作。</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src</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必选参数，设置要加载的图片资源，支持从本地、网络和内存中加载图片。支持的图片格式包括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png</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jpg</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bmp</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svg</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gif</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lvl="1">
              <a:spcBef>
                <a:spcPts val="2400"/>
              </a:spcBef>
            </a:pPr>
            <a:r>
              <a:rPr lang="en-US" altLang="zh-CN" sz="2000" dirty="0">
                <a:solidFill>
                  <a:srgbClr val="11408E"/>
                </a:solidFill>
                <a:latin typeface="Times New Roman" panose="02020603050405020304" pitchFamily="18" charset="0"/>
                <a:cs typeface="Times New Roman" panose="02020603050405020304" pitchFamily="18" charset="0"/>
              </a:rPr>
              <a:t>1</a:t>
            </a:r>
            <a:r>
              <a:rPr lang="zh-CN" altLang="en-US" sz="2000" dirty="0">
                <a:solidFill>
                  <a:srgbClr val="11408E"/>
                </a:solidFill>
                <a:latin typeface="Times New Roman" panose="02020603050405020304" pitchFamily="18" charset="0"/>
                <a:cs typeface="Times New Roman" panose="02020603050405020304" pitchFamily="18" charset="0"/>
              </a:rPr>
              <a:t>）本地资源：</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创建文件夹，将本地图片放入</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ets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文件夹下的任意位置</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700893"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lang="en-US" altLang="zh-CN" sz="2000" dirty="0">
              <a:solidFill>
                <a:srgbClr val="00A99E"/>
              </a:solidFill>
              <a:latin typeface="Times New Roman" panose="02020603050405020304" pitchFamily="18" charset="0"/>
              <a:ea typeface="JetBrains Mono"/>
              <a:cs typeface="Times New Roman" panose="02020603050405020304" pitchFamily="18" charset="0"/>
            </a:endParaRPr>
          </a:p>
        </p:txBody>
      </p:sp>
      <p:sp>
        <p:nvSpPr>
          <p:cNvPr id="4" name="Rectangle 1"/>
          <p:cNvSpPr>
            <a:spLocks noChangeArrowheads="1"/>
          </p:cNvSpPr>
          <p:nvPr/>
        </p:nvSpPr>
        <p:spPr bwMode="auto">
          <a:xfrm>
            <a:off x="3515047"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A99E"/>
                </a:solidFill>
                <a:effectLst/>
                <a:latin typeface="Times New Roman" panose="02020603050405020304" pitchFamily="18" charset="0"/>
                <a:ea typeface="JetBrains Mono"/>
                <a:cs typeface="Times New Roman" panose="02020603050405020304" pitchFamily="18" charset="0"/>
              </a:rPr>
              <a:t>Image</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src</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string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Resource </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 </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media</a:t>
            </a:r>
            <a:r>
              <a:rPr kumimoji="0" lang="zh-CN" altLang="zh-CN" sz="2000" b="0" i="0" u="none" strike="noStrike" cap="none" normalizeH="0" baseline="0" dirty="0">
                <a:ln>
                  <a:noFill/>
                </a:ln>
                <a:solidFill>
                  <a:srgbClr val="859801"/>
                </a:solidFill>
                <a:effectLst/>
                <a:latin typeface="Times New Roman" panose="02020603050405020304" pitchFamily="18" charset="0"/>
                <a:ea typeface="JetBrains Mono"/>
                <a:cs typeface="Times New Roman" panose="02020603050405020304" pitchFamily="18" charset="0"/>
              </a:rPr>
              <a:t>.</a:t>
            </a:r>
            <a:r>
              <a:rPr kumimoji="0" lang="zh-CN" altLang="zh-CN" sz="2000" b="0" i="0" u="none" strike="noStrike" cap="none" normalizeH="0" baseline="0" dirty="0">
                <a:ln>
                  <a:noFill/>
                </a:ln>
                <a:solidFill>
                  <a:srgbClr val="11408E"/>
                </a:solidFill>
                <a:effectLst/>
                <a:latin typeface="Times New Roman" panose="02020603050405020304" pitchFamily="18" charset="0"/>
                <a:ea typeface="JetBrains Mono"/>
                <a:cs typeface="Times New Roman" panose="02020603050405020304" pitchFamily="18" charset="0"/>
              </a:rPr>
              <a:t>PixelMap</a:t>
            </a:r>
            <a:r>
              <a:rPr kumimoji="0" lang="zh-CN" altLang="zh-CN" sz="2000" b="0" i="0" u="none" strike="noStrike" cap="none" normalizeH="0" baseline="0" dirty="0">
                <a:ln>
                  <a:noFill/>
                </a:ln>
                <a:solidFill>
                  <a:srgbClr val="6C71C4"/>
                </a:solidFill>
                <a:effectLst/>
                <a:latin typeface="Times New Roman" panose="02020603050405020304" pitchFamily="18" charset="0"/>
                <a:ea typeface="JetBrains Mono"/>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1"/>
          <p:cNvSpPr>
            <a:spLocks noChangeArrowheads="1"/>
          </p:cNvSpPr>
          <p:nvPr/>
        </p:nvSpPr>
        <p:spPr bwMode="auto">
          <a:xfrm>
            <a:off x="1558701" y="3645818"/>
            <a:ext cx="4464496"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Column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Image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"image/test.jpg"</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height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9" name="图片 8"/>
          <p:cNvPicPr>
            <a:picLocks noChangeAspect="1"/>
          </p:cNvPicPr>
          <p:nvPr/>
        </p:nvPicPr>
        <p:blipFill>
          <a:blip r:embed="rId1"/>
          <a:stretch>
            <a:fillRect/>
          </a:stretch>
        </p:blipFill>
        <p:spPr>
          <a:xfrm>
            <a:off x="7507512" y="5002326"/>
            <a:ext cx="3124200" cy="1485900"/>
          </a:xfrm>
          <a:prstGeom prst="rect">
            <a:avLst/>
          </a:prstGeom>
        </p:spPr>
      </p:pic>
      <p:pic>
        <p:nvPicPr>
          <p:cNvPr id="10" name="图片 9"/>
          <p:cNvPicPr>
            <a:picLocks noChangeAspect="1"/>
          </p:cNvPicPr>
          <p:nvPr/>
        </p:nvPicPr>
        <p:blipFill>
          <a:blip r:embed="rId2"/>
          <a:stretch>
            <a:fillRect/>
          </a:stretch>
        </p:blipFill>
        <p:spPr>
          <a:xfrm>
            <a:off x="7507512" y="3087139"/>
            <a:ext cx="2981325"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96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a:lnSpc>
                <a:spcPct val="150000"/>
              </a:lnSpc>
              <a:spcBef>
                <a:spcPts val="2400"/>
              </a:spcBef>
            </a:pPr>
            <a:r>
              <a:rPr lang="en-US" altLang="zh-CN" sz="2000" dirty="0">
                <a:solidFill>
                  <a:srgbClr val="11408E"/>
                </a:solidFill>
                <a:latin typeface="Times New Roman" panose="02020603050405020304" pitchFamily="18" charset="0"/>
                <a:cs typeface="Times New Roman" panose="02020603050405020304" pitchFamily="18" charset="0"/>
              </a:rPr>
              <a:t>2</a:t>
            </a:r>
            <a:r>
              <a:rPr lang="zh-CN" altLang="en-US" sz="2000" dirty="0">
                <a:solidFill>
                  <a:srgbClr val="11408E"/>
                </a:solidFill>
                <a:latin typeface="Times New Roman" panose="02020603050405020304" pitchFamily="18" charset="0"/>
                <a:cs typeface="Times New Roman" panose="02020603050405020304" pitchFamily="18" charset="0"/>
              </a:rPr>
              <a:t>）</a:t>
            </a:r>
            <a:r>
              <a:rPr lang="en-US" altLang="zh-CN" sz="2000" dirty="0">
                <a:solidFill>
                  <a:srgbClr val="11408E"/>
                </a:solidFill>
                <a:latin typeface="Times New Roman" panose="02020603050405020304" pitchFamily="18" charset="0"/>
                <a:cs typeface="Times New Roman" panose="02020603050405020304" pitchFamily="18" charset="0"/>
              </a:rPr>
              <a:t>Resource</a:t>
            </a:r>
            <a:r>
              <a:rPr lang="zh-CN" altLang="en-US" sz="2000" dirty="0">
                <a:solidFill>
                  <a:srgbClr val="242728"/>
                </a:solidFill>
                <a:latin typeface="Times New Roman" panose="02020603050405020304" pitchFamily="18" charset="0"/>
                <a:cs typeface="Times New Roman" panose="02020603050405020304" pitchFamily="18" charset="0"/>
              </a:rPr>
              <a:t>资源：使用资源格式可以跨包</a:t>
            </a:r>
            <a:r>
              <a:rPr lang="en-US" altLang="zh-CN" sz="2000" dirty="0">
                <a:solidFill>
                  <a:srgbClr val="242728"/>
                </a:solidFill>
                <a:latin typeface="Times New Roman" panose="02020603050405020304" pitchFamily="18" charset="0"/>
                <a:cs typeface="Times New Roman" panose="02020603050405020304" pitchFamily="18" charset="0"/>
              </a:rPr>
              <a:t>/</a:t>
            </a:r>
            <a:r>
              <a:rPr lang="zh-CN" altLang="en-US" sz="2000" dirty="0">
                <a:solidFill>
                  <a:srgbClr val="242728"/>
                </a:solidFill>
                <a:latin typeface="Times New Roman" panose="02020603050405020304" pitchFamily="18" charset="0"/>
                <a:cs typeface="Times New Roman" panose="02020603050405020304" pitchFamily="18" charset="0"/>
              </a:rPr>
              <a:t>跨模块引入图片，</a:t>
            </a:r>
            <a:r>
              <a:rPr lang="en-US" altLang="zh-CN" sz="2000" dirty="0">
                <a:solidFill>
                  <a:srgbClr val="242728"/>
                </a:solidFill>
                <a:latin typeface="Times New Roman" panose="02020603050405020304" pitchFamily="18" charset="0"/>
                <a:cs typeface="Times New Roman" panose="02020603050405020304" pitchFamily="18" charset="0"/>
              </a:rPr>
              <a:t>resources</a:t>
            </a:r>
            <a:r>
              <a:rPr lang="zh-CN" altLang="en-US" sz="2000" dirty="0">
                <a:solidFill>
                  <a:srgbClr val="242728"/>
                </a:solidFill>
                <a:latin typeface="Times New Roman" panose="02020603050405020304" pitchFamily="18" charset="0"/>
                <a:cs typeface="Times New Roman" panose="02020603050405020304" pitchFamily="18" charset="0"/>
              </a:rPr>
              <a:t>文件夹下的图片都可以通过</a:t>
            </a:r>
            <a:r>
              <a:rPr lang="en-US" altLang="zh-CN" sz="2000" dirty="0">
                <a:solidFill>
                  <a:srgbClr val="00A99E"/>
                </a:solidFill>
                <a:latin typeface="Arial Unicode MS"/>
              </a:rPr>
              <a:t>$r</a:t>
            </a:r>
            <a:r>
              <a:rPr lang="zh-CN" altLang="en-US" sz="2000" dirty="0">
                <a:solidFill>
                  <a:srgbClr val="242728"/>
                </a:solidFill>
                <a:latin typeface="Times New Roman" panose="02020603050405020304" pitchFamily="18" charset="0"/>
                <a:cs typeface="Times New Roman" panose="02020603050405020304" pitchFamily="18" charset="0"/>
              </a:rPr>
              <a:t>资源接口读取到并转换到</a:t>
            </a:r>
            <a:r>
              <a:rPr lang="en-US" altLang="zh-CN" sz="2000" dirty="0">
                <a:solidFill>
                  <a:srgbClr val="242728"/>
                </a:solidFill>
                <a:latin typeface="Times New Roman" panose="02020603050405020304" pitchFamily="18" charset="0"/>
                <a:cs typeface="Times New Roman" panose="02020603050405020304" pitchFamily="18" charset="0"/>
              </a:rPr>
              <a:t>Resource</a:t>
            </a:r>
            <a:r>
              <a:rPr lang="zh-CN" altLang="en-US" sz="2000" dirty="0">
                <a:solidFill>
                  <a:srgbClr val="242728"/>
                </a:solidFill>
                <a:latin typeface="Times New Roman" panose="02020603050405020304" pitchFamily="18" charset="0"/>
                <a:cs typeface="Times New Roman" panose="02020603050405020304" pitchFamily="18" charset="0"/>
              </a:rPr>
              <a:t>格式。</a:t>
            </a:r>
            <a:endParaRPr lang="zh-CN" altLang="en-US" sz="2000" dirty="0">
              <a:solidFill>
                <a:srgbClr val="242728"/>
              </a:solidFill>
              <a:latin typeface="Times New Roman" panose="02020603050405020304" pitchFamily="18" charset="0"/>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Rectangle 2"/>
          <p:cNvSpPr>
            <a:spLocks noChangeArrowheads="1"/>
          </p:cNvSpPr>
          <p:nvPr/>
        </p:nvSpPr>
        <p:spPr bwMode="auto">
          <a:xfrm>
            <a:off x="1630710" y="2851404"/>
            <a:ext cx="4238661"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Column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Image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$r</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"app.media.app_icon"</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height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6671270" y="3092657"/>
            <a:ext cx="3267075" cy="17430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499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a:lnSpc>
                <a:spcPct val="150000"/>
              </a:lnSpc>
              <a:spcBef>
                <a:spcPts val="2400"/>
              </a:spcBef>
            </a:pPr>
            <a:r>
              <a:rPr lang="en-US" altLang="zh-CN" sz="2000" dirty="0">
                <a:solidFill>
                  <a:srgbClr val="11408E"/>
                </a:solidFill>
                <a:latin typeface="Times New Roman" panose="02020603050405020304" pitchFamily="18" charset="0"/>
                <a:cs typeface="Times New Roman" panose="02020603050405020304" pitchFamily="18" charset="0"/>
              </a:rPr>
              <a:t>3</a:t>
            </a:r>
            <a:r>
              <a:rPr lang="zh-CN" altLang="en-US" sz="2000" dirty="0">
                <a:solidFill>
                  <a:srgbClr val="11408E"/>
                </a:solidFill>
                <a:latin typeface="Times New Roman" panose="02020603050405020304" pitchFamily="18" charset="0"/>
                <a:cs typeface="Times New Roman" panose="02020603050405020304" pitchFamily="18" charset="0"/>
              </a:rPr>
              <a:t>）网络资源</a:t>
            </a:r>
            <a:r>
              <a:rPr lang="zh-CN" altLang="en-US" sz="2000" dirty="0">
                <a:solidFill>
                  <a:srgbClr val="242728"/>
                </a:solidFill>
                <a:latin typeface="Times New Roman" panose="02020603050405020304" pitchFamily="18" charset="0"/>
                <a:cs typeface="Times New Roman" panose="02020603050405020304" pitchFamily="18" charset="0"/>
              </a:rPr>
              <a:t>：引入网络图片需申请权限</a:t>
            </a:r>
            <a:r>
              <a:rPr lang="en-US" altLang="zh-CN" sz="2000" dirty="0" err="1">
                <a:solidFill>
                  <a:srgbClr val="242728"/>
                </a:solidFill>
                <a:latin typeface="Times New Roman" panose="02020603050405020304" pitchFamily="18" charset="0"/>
                <a:cs typeface="Times New Roman" panose="02020603050405020304" pitchFamily="18" charset="0"/>
              </a:rPr>
              <a:t>ohos.permission.INTERNET</a:t>
            </a:r>
            <a:r>
              <a:rPr lang="zh-CN" altLang="en-US" sz="2000" dirty="0">
                <a:solidFill>
                  <a:srgbClr val="242728"/>
                </a:solidFill>
                <a:latin typeface="Times New Roman" panose="02020603050405020304" pitchFamily="18" charset="0"/>
                <a:cs typeface="Times New Roman" panose="02020603050405020304" pitchFamily="18" charset="0"/>
              </a:rPr>
              <a:t>。</a:t>
            </a:r>
            <a:endParaRPr lang="zh-CN" altLang="en-US" sz="2000" dirty="0">
              <a:solidFill>
                <a:srgbClr val="242728"/>
              </a:solidFill>
              <a:latin typeface="Times New Roman" panose="02020603050405020304" pitchFamily="18" charset="0"/>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4" name="图片 3"/>
          <p:cNvPicPr>
            <a:picLocks noChangeAspect="1"/>
          </p:cNvPicPr>
          <p:nvPr/>
        </p:nvPicPr>
        <p:blipFill>
          <a:blip r:embed="rId1"/>
          <a:stretch>
            <a:fillRect/>
          </a:stretch>
        </p:blipFill>
        <p:spPr>
          <a:xfrm>
            <a:off x="2775173" y="2133650"/>
            <a:ext cx="6496050" cy="1600200"/>
          </a:xfrm>
          <a:prstGeom prst="rect">
            <a:avLst/>
          </a:prstGeom>
        </p:spPr>
      </p:pic>
      <p:pic>
        <p:nvPicPr>
          <p:cNvPr id="8" name="图片 7"/>
          <p:cNvPicPr>
            <a:picLocks noChangeAspect="1"/>
          </p:cNvPicPr>
          <p:nvPr/>
        </p:nvPicPr>
        <p:blipFill>
          <a:blip r:embed="rId2"/>
          <a:stretch>
            <a:fillRect/>
          </a:stretch>
        </p:blipFill>
        <p:spPr>
          <a:xfrm>
            <a:off x="3671193" y="4149874"/>
            <a:ext cx="4629150" cy="15811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renderMode</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设置图片的渲染模式。默认值为</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ImageRenderMode.Original</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alt: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加载时显示的占位图，支持本地图片。</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matchTextDirection</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设置图片是否跟随系统语言方向，在</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RTL</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语言环境下显示镜像翻转效果，默认值为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fillOriginalSize</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图片组件尺寸未设置时，其显示尺寸是否跟随图源尺寸，默认值为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false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fillColor</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填充颜色。设置的填充颜色会覆盖在图片上，仅对</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svg</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图源生效，设置后会替换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svg</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图片的</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fill</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颜色。</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700893"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lang="en-US" altLang="zh-CN" sz="2000" dirty="0">
              <a:solidFill>
                <a:srgbClr val="00A99E"/>
              </a:solidFill>
              <a:latin typeface="Times New Roman" panose="02020603050405020304" pitchFamily="18" charset="0"/>
              <a:ea typeface="JetBrains Mono"/>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77150" y="1053530"/>
            <a:ext cx="10333148" cy="537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0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objectFit</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设置图片的缩放类型。当</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组件大小和图片大小不同时指定图片的放缩类型。默认值为 </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ImageFit.Cover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。具体描述见表 。</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lvl="2">
              <a:spcBef>
                <a:spcPts val="2000"/>
              </a:spcBef>
            </a:pPr>
            <a:endPar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000"/>
              </a:spcBef>
              <a:buFont typeface="Wingdings" panose="05000000000000000000" pitchFamily="2" charset="2"/>
              <a:buChar char="Ø"/>
            </a:pPr>
            <a:endPar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0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objectRepeat</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当图片小于组件大小时，设置图片的重复样式。默认值为</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ImageRepeat.NoRepeat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0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autoResize</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是否需要在图片解码过程中对图源做</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resize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操作。该操作会根据显示区域的尺寸决定用于绘制的图源尺寸，有利于减少内存占用。默认值为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700893"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lang="en-US" altLang="zh-CN" sz="2000" dirty="0">
              <a:solidFill>
                <a:srgbClr val="00A99E"/>
              </a:solidFill>
              <a:latin typeface="Times New Roman" panose="02020603050405020304" pitchFamily="18" charset="0"/>
              <a:ea typeface="JetBrains Mono"/>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2782838" y="2458195"/>
            <a:ext cx="7451947" cy="194319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renderMode</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设置图片的渲染模式。默认值为</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ImageRenderMode.Original</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interpolation: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设置图片的插值效果，即减轻低清晰度图片在放大显示的时候出现的锯齿问题，仅针对图片放大插值。默认值为</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ImageInterpolation.None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sourceSize</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指定图片解码大小，让原始图片被解码为指定大小的图片。数字类型的单位是 </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px</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syncload</a:t>
            </a: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设置是否同步加载图片，默认是异步加载。同步加载时阻塞</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UI</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线程，不会显示占位图。</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a:solidFill>
                  <a:srgbClr val="3992DB"/>
                </a:solidFill>
                <a:latin typeface="Times New Roman" panose="02020603050405020304" pitchFamily="18" charset="0"/>
                <a:ea typeface="微软雅黑" panose="020B0503020204020204" pitchFamily="34" charset="-122"/>
                <a:cs typeface="Times New Roman" panose="02020603050405020304" pitchFamily="18" charset="0"/>
              </a:rPr>
              <a:t>overlay: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在当前组件上，增加遮罩文本。</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700893"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lang="en-US" altLang="zh-CN" sz="2000" dirty="0">
              <a:solidFill>
                <a:srgbClr val="00A99E"/>
              </a:solidFill>
              <a:latin typeface="Times New Roman" panose="02020603050405020304" pitchFamily="18" charset="0"/>
              <a:ea typeface="JetBrains Mono"/>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lvl="1">
              <a:spcBef>
                <a:spcPts val="2400"/>
              </a:spcBef>
            </a:pP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例如，指定图片解码大小。</a:t>
            </a:r>
            <a:endPar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700893"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lang="en-US" altLang="zh-CN" sz="2000" dirty="0">
              <a:solidFill>
                <a:srgbClr val="00A99E"/>
              </a:solidFill>
              <a:latin typeface="Times New Roman" panose="02020603050405020304" pitchFamily="18" charset="0"/>
              <a:ea typeface="JetBrains Mono"/>
              <a:cs typeface="Times New Roman" panose="02020603050405020304" pitchFamily="18" charset="0"/>
            </a:endParaRPr>
          </a:p>
        </p:txBody>
      </p:sp>
      <p:sp>
        <p:nvSpPr>
          <p:cNvPr id="4" name="Rectangle 1"/>
          <p:cNvSpPr>
            <a:spLocks noChangeArrowheads="1"/>
          </p:cNvSpPr>
          <p:nvPr/>
        </p:nvSpPr>
        <p:spPr bwMode="auto">
          <a:xfrm>
            <a:off x="1486694" y="2421682"/>
            <a:ext cx="3781869" cy="31393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808000"/>
                </a:solidFill>
                <a:effectLst/>
                <a:latin typeface="Arial Unicode MS"/>
                <a:ea typeface="JetBrains Mono"/>
              </a:rPr>
              <a:t>@Entry @Component </a:t>
            </a:r>
            <a:r>
              <a:rPr kumimoji="0" lang="zh-CN" altLang="zh-CN" sz="1800" b="1" i="0" u="none" strike="noStrike" cap="none" normalizeH="0" baseline="0" dirty="0">
                <a:ln>
                  <a:noFill/>
                </a:ln>
                <a:solidFill>
                  <a:srgbClr val="859801"/>
                </a:solidFill>
                <a:effectLst/>
                <a:latin typeface="Arial Unicode MS"/>
                <a:ea typeface="JetBrains Mono"/>
              </a:rPr>
              <a:t>struct </a:t>
            </a:r>
            <a:r>
              <a:rPr kumimoji="0" lang="zh-CN" altLang="zh-CN" sz="1800" b="0" i="0" u="none" strike="noStrike" cap="none" normalizeH="0" baseline="0" dirty="0">
                <a:ln>
                  <a:noFill/>
                </a:ln>
                <a:solidFill>
                  <a:srgbClr val="507874"/>
                </a:solidFill>
                <a:effectLst/>
                <a:latin typeface="Arial Unicode MS"/>
                <a:ea typeface="JetBrains Mono"/>
              </a:rPr>
              <a:t>Test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build</a:t>
            </a: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Column</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00A99E"/>
                </a:solidFill>
                <a:effectLst/>
                <a:latin typeface="Arial Unicode MS"/>
                <a:ea typeface="JetBrains Mono"/>
              </a:rPr>
              <a:t>Image</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en-US"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53170"/>
                </a:solidFill>
                <a:effectLst/>
                <a:latin typeface="Arial Unicode MS"/>
                <a:ea typeface="JetBrains Mono"/>
              </a:rPr>
              <a:t>image/test.jpg</a:t>
            </a:r>
            <a:r>
              <a:rPr kumimoji="0" lang="zh-CN" altLang="en-US" sz="1800" b="0" i="0" u="none" strike="noStrike" cap="none" normalizeH="0" baseline="0" dirty="0">
                <a:ln>
                  <a:noFill/>
                </a:ln>
                <a:solidFill>
                  <a:srgbClr val="653170"/>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width</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FF9170"/>
                </a:solidFill>
                <a:effectLst/>
                <a:latin typeface="Arial Unicode MS"/>
                <a:ea typeface="JetBrains Mono"/>
              </a:rPr>
              <a:t>100</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height</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FF9170"/>
                </a:solidFill>
                <a:effectLst/>
                <a:latin typeface="Arial Unicode MS"/>
                <a:ea typeface="JetBrains Mono"/>
              </a:rPr>
              <a:t>100</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00A99E"/>
                </a:solidFill>
                <a:effectLst/>
                <a:latin typeface="Arial Unicode MS"/>
                <a:ea typeface="JetBrains Mono"/>
              </a:rPr>
              <a:t>sourceSize</a:t>
            </a:r>
            <a:r>
              <a:rPr kumimoji="0" lang="zh-CN" altLang="zh-CN" sz="1800" b="0" i="0" u="none" strike="noStrike" cap="none" normalizeH="0" baseline="0" dirty="0">
                <a:ln>
                  <a:noFill/>
                </a:ln>
                <a:solidFill>
                  <a:srgbClr val="6C71C4"/>
                </a:solidFill>
                <a:effectLst/>
                <a:latin typeface="Arial Unicode MS"/>
                <a:ea typeface="JetBrains Mono"/>
              </a:rPr>
              <a:t>(</a:t>
            </a:r>
            <a:r>
              <a:rPr kumimoji="0" lang="zh-CN" altLang="zh-CN" sz="1800" b="0" i="0" u="none" strike="noStrike" cap="none" normalizeH="0" baseline="0" dirty="0">
                <a:ln>
                  <a:noFill/>
                </a:ln>
                <a:solidFill>
                  <a:srgbClr val="E986CD"/>
                </a:solidFill>
                <a:effectLst/>
                <a:latin typeface="Arial Unicode MS"/>
                <a:ea typeface="JetBrains Mono"/>
              </a:rPr>
              <a:t>{</a:t>
            </a:r>
            <a:br>
              <a:rPr kumimoji="0" lang="zh-CN" altLang="zh-CN" sz="1800" b="0" i="0" u="none" strike="noStrike" cap="none" normalizeH="0" baseline="0" dirty="0">
                <a:ln>
                  <a:noFill/>
                </a:ln>
                <a:solidFill>
                  <a:srgbClr val="E986CD"/>
                </a:solidFill>
                <a:effectLst/>
                <a:latin typeface="Arial Unicode MS"/>
                <a:ea typeface="JetBrains Mono"/>
              </a:rPr>
            </a:br>
            <a:r>
              <a:rPr kumimoji="0" lang="zh-CN" altLang="zh-CN" sz="1800" b="0" i="0" u="none" strike="noStrike" cap="none" normalizeH="0" baseline="0" dirty="0">
                <a:ln>
                  <a:noFill/>
                </a:ln>
                <a:solidFill>
                  <a:srgbClr val="E986CD"/>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width</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FF9170"/>
                </a:solidFill>
                <a:effectLst/>
                <a:latin typeface="Arial Unicode MS"/>
                <a:ea typeface="JetBrains Mono"/>
              </a:rPr>
              <a:t>10</a:t>
            </a:r>
            <a:r>
              <a:rPr kumimoji="0" lang="zh-CN" altLang="zh-CN" sz="1800" b="0" i="0" u="none" strike="noStrike" cap="none" normalizeH="0" baseline="0" dirty="0">
                <a:ln>
                  <a:noFill/>
                </a:ln>
                <a:solidFill>
                  <a:srgbClr val="859801"/>
                </a:solidFill>
                <a:effectLst/>
                <a:latin typeface="Arial Unicode MS"/>
                <a:ea typeface="JetBrains Mono"/>
              </a:rPr>
              <a:t>,</a:t>
            </a:r>
            <a:br>
              <a:rPr kumimoji="0" lang="zh-CN" altLang="zh-CN" sz="1800" b="0" i="0" u="none" strike="noStrike" cap="none" normalizeH="0" baseline="0" dirty="0">
                <a:ln>
                  <a:noFill/>
                </a:ln>
                <a:solidFill>
                  <a:srgbClr val="859801"/>
                </a:solidFill>
                <a:effectLst/>
                <a:latin typeface="Arial Unicode MS"/>
                <a:ea typeface="JetBrains Mono"/>
              </a:rPr>
            </a:br>
            <a:r>
              <a:rPr kumimoji="0" lang="zh-CN" altLang="zh-CN" sz="1800" b="0" i="0" u="none" strike="noStrike" cap="none" normalizeH="0" baseline="0" dirty="0">
                <a:ln>
                  <a:noFill/>
                </a:ln>
                <a:solidFill>
                  <a:srgbClr val="859801"/>
                </a:solidFill>
                <a:effectLst/>
                <a:latin typeface="Arial Unicode MS"/>
                <a:ea typeface="JetBrains Mono"/>
              </a:rPr>
              <a:t>          </a:t>
            </a:r>
            <a:r>
              <a:rPr kumimoji="0" lang="zh-CN" altLang="zh-CN" sz="1800" b="0" i="0" u="none" strike="noStrike" cap="none" normalizeH="0" baseline="0" dirty="0">
                <a:ln>
                  <a:noFill/>
                </a:ln>
                <a:solidFill>
                  <a:srgbClr val="11408E"/>
                </a:solidFill>
                <a:effectLst/>
                <a:latin typeface="Arial Unicode MS"/>
                <a:ea typeface="JetBrains Mono"/>
              </a:rPr>
              <a:t>height</a:t>
            </a:r>
            <a:r>
              <a:rPr kumimoji="0" lang="zh-CN" altLang="zh-CN" sz="1800" b="0" i="0" u="none" strike="noStrike" cap="none" normalizeH="0" baseline="0" dirty="0">
                <a:ln>
                  <a:noFill/>
                </a:ln>
                <a:solidFill>
                  <a:srgbClr val="859801"/>
                </a:solidFill>
                <a:effectLst/>
                <a:latin typeface="Arial Unicode MS"/>
                <a:ea typeface="JetBrains Mono"/>
              </a:rPr>
              <a:t>:</a:t>
            </a:r>
            <a:r>
              <a:rPr kumimoji="0" lang="zh-CN" altLang="zh-CN" sz="1800" b="0" i="0" u="none" strike="noStrike" cap="none" normalizeH="0" baseline="0" dirty="0">
                <a:ln>
                  <a:noFill/>
                </a:ln>
                <a:solidFill>
                  <a:srgbClr val="FF9170"/>
                </a:solidFill>
                <a:effectLst/>
                <a:latin typeface="Arial Unicode MS"/>
                <a:ea typeface="JetBrains Mono"/>
              </a:rPr>
              <a:t>10</a:t>
            </a:r>
            <a:r>
              <a:rPr lang="en-US" altLang="zh-CN" sz="1800" dirty="0">
                <a:solidFill>
                  <a:srgbClr val="FF9170"/>
                </a:solidFill>
                <a:latin typeface="Arial Unicode MS"/>
                <a:ea typeface="JetBrains Mono"/>
              </a:rPr>
              <a:t>,</a:t>
            </a:r>
            <a:br>
              <a:rPr kumimoji="0" lang="zh-CN" altLang="zh-CN" sz="1800" b="0" i="0" u="none" strike="noStrike" cap="none" normalizeH="0" baseline="0" dirty="0">
                <a:ln>
                  <a:noFill/>
                </a:ln>
                <a:solidFill>
                  <a:srgbClr val="FF9170"/>
                </a:solidFill>
                <a:effectLst/>
                <a:latin typeface="Arial Unicode MS"/>
                <a:ea typeface="JetBrains Mono"/>
              </a:rPr>
            </a:br>
            <a:r>
              <a:rPr kumimoji="0" lang="zh-CN" altLang="zh-CN" sz="1800" b="0" i="0" u="none" strike="noStrike" cap="none" normalizeH="0" baseline="0" dirty="0">
                <a:ln>
                  <a:noFill/>
                </a:ln>
                <a:solidFill>
                  <a:srgbClr val="FF9170"/>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r>
              <a:rPr kumimoji="0" lang="zh-CN" altLang="zh-CN" sz="1800" b="0" i="0" u="none" strike="noStrike" cap="none" normalizeH="0" baseline="0" dirty="0">
                <a:ln>
                  <a:noFill/>
                </a:ln>
                <a:solidFill>
                  <a:srgbClr val="6C71C4"/>
                </a:solidFill>
                <a:effectLst/>
                <a:latin typeface="Arial Unicode MS"/>
                <a:ea typeface="JetBrains Mono"/>
              </a:rPr>
              <a:t>)</a:t>
            </a:r>
            <a:br>
              <a:rPr kumimoji="0" lang="zh-CN" altLang="zh-CN" sz="1800" b="0" i="0" u="none" strike="noStrike" cap="none" normalizeH="0" baseline="0" dirty="0">
                <a:ln>
                  <a:noFill/>
                </a:ln>
                <a:solidFill>
                  <a:srgbClr val="6C71C4"/>
                </a:solidFill>
                <a:effectLst/>
                <a:latin typeface="Arial Unicode MS"/>
                <a:ea typeface="JetBrains Mono"/>
              </a:rPr>
            </a:br>
            <a:r>
              <a:rPr kumimoji="0" lang="zh-CN" altLang="zh-CN" sz="1800" b="0" i="0" u="none" strike="noStrike" cap="none" normalizeH="0" baseline="0" dirty="0">
                <a:ln>
                  <a:noFill/>
                </a:ln>
                <a:solidFill>
                  <a:srgbClr val="6C71C4"/>
                </a:solidFill>
                <a:effectLst/>
                <a:latin typeface="Arial Unicode MS"/>
                <a:ea typeface="JetBrains Mono"/>
              </a:rPr>
              <a:t>    </a:t>
            </a:r>
            <a:r>
              <a:rPr kumimoji="0" lang="zh-CN" altLang="zh-CN" sz="1800" b="0" i="0" u="none" strike="noStrike" cap="none" normalizeH="0" baseline="0" dirty="0">
                <a:ln>
                  <a:noFill/>
                </a:ln>
                <a:solidFill>
                  <a:srgbClr val="E986CD"/>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1"/>
          <a:stretch>
            <a:fillRect/>
          </a:stretch>
        </p:blipFill>
        <p:spPr>
          <a:xfrm>
            <a:off x="6936338" y="2299306"/>
            <a:ext cx="3038475" cy="15144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4375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事件</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1562100" lvl="2" indent="-342900">
              <a:spcBef>
                <a:spcPts val="2400"/>
              </a:spcBef>
              <a:buFont typeface="Wingdings" panose="05000000000000000000" pitchFamily="2" charset="2"/>
              <a:buChar char="Ø"/>
            </a:pPr>
            <a:r>
              <a:rPr lang="en-US" altLang="zh-CN" sz="2000" dirty="0" err="1">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onComplete</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图片成功加载时触发该回调，返回成功加载的图片尺寸。</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171700" lvl="3" indent="-342900">
              <a:spcBef>
                <a:spcPts val="1000"/>
              </a:spcBef>
              <a:buFont typeface="Wingdings" panose="05000000000000000000" pitchFamily="2" charset="2"/>
              <a:buChar char="u"/>
            </a:pPr>
            <a:r>
              <a:rPr lang="en-US" altLang="zh-CN" sz="2000" dirty="0">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width</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图片的宽，单位为像素。</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171700" lvl="3" indent="-342900">
              <a:spcBef>
                <a:spcPts val="1000"/>
              </a:spcBef>
              <a:buFont typeface="Wingdings" panose="05000000000000000000" pitchFamily="2" charset="2"/>
              <a:buChar char="u"/>
            </a:pPr>
            <a:r>
              <a:rPr lang="en-US" altLang="zh-CN" sz="2000" dirty="0">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height: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图片的高，单位为像素。</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171700" lvl="3" indent="-342900">
              <a:spcBef>
                <a:spcPts val="1000"/>
              </a:spcBef>
              <a:buFont typeface="Wingdings" panose="05000000000000000000" pitchFamily="2" charset="2"/>
              <a:buChar char="u"/>
            </a:pPr>
            <a:r>
              <a:rPr lang="en-US" altLang="zh-CN" sz="2000" dirty="0" err="1">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componentWidth</a:t>
            </a:r>
            <a:r>
              <a:rPr lang="en-US" altLang="zh-CN" sz="2000" dirty="0">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组件的宽，单位为像素。</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171700" lvl="3" indent="-342900">
              <a:spcBef>
                <a:spcPts val="1000"/>
              </a:spcBef>
              <a:buFont typeface="Wingdings" panose="05000000000000000000" pitchFamily="2" charset="2"/>
              <a:buChar char="u"/>
            </a:pPr>
            <a:r>
              <a:rPr lang="en-US" altLang="zh-CN" sz="2000" dirty="0" err="1">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componentHeight</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组件的高，单位为像素。</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171700" lvl="3" indent="-342900">
              <a:spcBef>
                <a:spcPts val="1000"/>
              </a:spcBef>
              <a:buFont typeface="Wingdings" panose="05000000000000000000" pitchFamily="2" charset="2"/>
              <a:buChar char="u"/>
            </a:pPr>
            <a:r>
              <a:rPr lang="en-US" altLang="zh-CN" sz="2000" dirty="0" err="1">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loadingStatus</a:t>
            </a:r>
            <a:r>
              <a:rPr lang="en-US" altLang="zh-CN" sz="2000" dirty="0">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图片加载成功的状态。</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171700" lvl="3" indent="-342900">
              <a:spcBef>
                <a:spcPts val="1000"/>
              </a:spcBef>
              <a:buFont typeface="Wingdings" panose="05000000000000000000" pitchFamily="2" charset="2"/>
              <a:buChar char="u"/>
            </a:pPr>
            <a:r>
              <a:rPr lang="en-US" altLang="zh-CN" sz="2000" dirty="0" err="1">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onError</a:t>
            </a:r>
            <a:r>
              <a:rPr lang="en-US" altLang="zh-CN" sz="2000" dirty="0">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图片加载出现异常时触发该回调。</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171700" lvl="3" indent="-342900">
              <a:spcBef>
                <a:spcPts val="1000"/>
              </a:spcBef>
              <a:buFont typeface="Wingdings" panose="05000000000000000000" pitchFamily="2" charset="2"/>
              <a:buChar char="u"/>
            </a:pPr>
            <a:r>
              <a:rPr lang="en-US" altLang="zh-CN" sz="2000" dirty="0" err="1">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onFinish</a:t>
            </a:r>
            <a:r>
              <a:rPr lang="en-US" altLang="zh-CN" sz="2000" dirty="0">
                <a:solidFill>
                  <a:srgbClr val="006BB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当加载的源文件为带动效的</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svg</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图片时，当</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svg</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动效播放完成时会触发这个回调；若为无限循环动效，则不会触发这个回调。</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700893"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lang="en-US" altLang="zh-CN" sz="2000" dirty="0">
              <a:solidFill>
                <a:srgbClr val="00A99E"/>
              </a:solidFill>
              <a:latin typeface="Times New Roman" panose="02020603050405020304" pitchFamily="18" charset="0"/>
              <a:ea typeface="JetBrains Mono"/>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1053530"/>
            <a:ext cx="1008112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p"/>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Image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事件</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lvl="1">
              <a:spcBef>
                <a:spcPts val="2400"/>
              </a:spcBef>
            </a:pP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例如打印返回图片的宽</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700893"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lang="en-US" altLang="zh-CN" sz="2000" dirty="0">
              <a:solidFill>
                <a:srgbClr val="00A99E"/>
              </a:solidFill>
              <a:latin typeface="Times New Roman" panose="02020603050405020304" pitchFamily="18" charset="0"/>
              <a:ea typeface="JetBrains Mono"/>
              <a:cs typeface="Times New Roman" panose="02020603050405020304" pitchFamily="18" charset="0"/>
            </a:endParaRPr>
          </a:p>
        </p:txBody>
      </p:sp>
      <p:sp>
        <p:nvSpPr>
          <p:cNvPr id="4" name="Rectangle 1"/>
          <p:cNvSpPr>
            <a:spLocks noChangeArrowheads="1"/>
          </p:cNvSpPr>
          <p:nvPr/>
        </p:nvSpPr>
        <p:spPr bwMode="auto">
          <a:xfrm>
            <a:off x="1226739" y="2493690"/>
            <a:ext cx="6264696"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808000"/>
                </a:solidFill>
                <a:effectLst/>
                <a:latin typeface="Arial Unicode MS"/>
                <a:ea typeface="JetBrains Mono"/>
              </a:rPr>
              <a:t>@Entry @Component </a:t>
            </a:r>
            <a:r>
              <a:rPr kumimoji="0" lang="zh-CN" altLang="zh-CN" sz="2000" b="1" i="0" u="none" strike="noStrike" cap="none" normalizeH="0" baseline="0" dirty="0">
                <a:ln>
                  <a:noFill/>
                </a:ln>
                <a:solidFill>
                  <a:srgbClr val="859801"/>
                </a:solidFill>
                <a:effectLst/>
                <a:latin typeface="Arial Unicode MS"/>
                <a:ea typeface="JetBrains Mono"/>
              </a:rPr>
              <a:t>struct </a:t>
            </a:r>
            <a:r>
              <a:rPr kumimoji="0" lang="zh-CN" altLang="zh-CN" sz="2000" b="0" i="0" u="none" strike="noStrike" cap="none" normalizeH="0" baseline="0" dirty="0">
                <a:ln>
                  <a:noFill/>
                </a:ln>
                <a:solidFill>
                  <a:srgbClr val="507874"/>
                </a:solidFill>
                <a:effectLst/>
                <a:latin typeface="Arial Unicode MS"/>
                <a:ea typeface="JetBrains Mono"/>
              </a:rPr>
              <a:t>Test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build</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Column</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a:t>
            </a:r>
            <a:br>
              <a:rPr kumimoji="0" lang="zh-CN" altLang="zh-CN" sz="2000" b="0" i="0" u="none" strike="noStrike" cap="none" normalizeH="0" baseline="0" dirty="0">
                <a:ln>
                  <a:noFill/>
                </a:ln>
                <a:solidFill>
                  <a:srgbClr val="E986CD"/>
                </a:solidFill>
                <a:effectLst/>
                <a:latin typeface="Arial Unicode MS"/>
                <a:ea typeface="JetBrains Mono"/>
              </a:rPr>
            </a:br>
            <a:r>
              <a:rPr kumimoji="0" lang="zh-CN" altLang="zh-CN" sz="2000" b="0" i="0" u="none" strike="noStrike" cap="none" normalizeH="0" baseline="0" dirty="0">
                <a:ln>
                  <a:noFill/>
                </a:ln>
                <a:solidFill>
                  <a:srgbClr val="E986CD"/>
                </a:solidFill>
                <a:effectLst/>
                <a:latin typeface="Arial Unicode MS"/>
                <a:ea typeface="JetBrains Mono"/>
              </a:rPr>
              <a:t>    </a:t>
            </a:r>
            <a:r>
              <a:rPr kumimoji="0" lang="zh-CN" altLang="zh-CN" sz="2000" b="0" i="0" u="none" strike="noStrike" cap="none" normalizeH="0" baseline="0" dirty="0">
                <a:ln>
                  <a:noFill/>
                </a:ln>
                <a:solidFill>
                  <a:srgbClr val="00A99E"/>
                </a:solidFill>
                <a:effectLst/>
                <a:latin typeface="Arial Unicode MS"/>
                <a:ea typeface="JetBrains Mono"/>
              </a:rPr>
              <a:t>Image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653170"/>
                </a:solidFill>
                <a:effectLst/>
                <a:latin typeface="Arial Unicode MS"/>
                <a:ea typeface="JetBrains Mono"/>
              </a:rPr>
              <a:t>"image/test.jpg"</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height</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FF9170"/>
                </a:solidFill>
                <a:effectLst/>
                <a:latin typeface="Arial Unicode MS"/>
                <a:ea typeface="JetBrains Mono"/>
              </a:rPr>
              <a:t>100</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onComplete</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msg</a:t>
            </a: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859801"/>
                </a:solidFill>
                <a:effectLst/>
                <a:latin typeface="Arial Unicode MS"/>
                <a:ea typeface="JetBrains Mono"/>
              </a:rPr>
              <a:t>=&gt;</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console</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00A99E"/>
                </a:solidFill>
                <a:effectLst/>
                <a:latin typeface="Arial Unicode MS"/>
                <a:ea typeface="JetBrains Mono"/>
              </a:rPr>
              <a:t>log</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msg</a:t>
            </a:r>
            <a:r>
              <a:rPr kumimoji="0" lang="zh-CN" altLang="zh-CN" sz="2000" b="0" i="0" u="none" strike="noStrike" cap="none" normalizeH="0" baseline="0" dirty="0">
                <a:ln>
                  <a:noFill/>
                </a:ln>
                <a:solidFill>
                  <a:srgbClr val="859801"/>
                </a:solidFill>
                <a:effectLst/>
                <a:latin typeface="Arial Unicode MS"/>
                <a:ea typeface="JetBrains Mono"/>
              </a:rPr>
              <a:t>.</a:t>
            </a:r>
            <a:r>
              <a:rPr kumimoji="0" lang="zh-CN" altLang="zh-CN" sz="2000" b="0" i="0" u="none" strike="noStrike" cap="none" normalizeH="0" baseline="0" dirty="0">
                <a:ln>
                  <a:noFill/>
                </a:ln>
                <a:solidFill>
                  <a:srgbClr val="11408E"/>
                </a:solidFill>
                <a:effectLst/>
                <a:latin typeface="Arial Unicode MS"/>
                <a:ea typeface="JetBrains Mono"/>
              </a:rPr>
              <a:t>width</a:t>
            </a:r>
            <a:r>
              <a:rPr kumimoji="0" lang="zh-CN" altLang="zh-CN" sz="2000" b="0" i="0" u="none" strike="noStrike" cap="none" normalizeH="0" baseline="0" dirty="0">
                <a:ln>
                  <a:noFill/>
                </a:ln>
                <a:solidFill>
                  <a:srgbClr val="6C71C4"/>
                </a:solidFill>
                <a:effectLst/>
                <a:latin typeface="Arial Unicode MS"/>
                <a:ea typeface="JetBrains Mono"/>
              </a:rPr>
              <a:t>)</a:t>
            </a:r>
            <a:r>
              <a:rPr kumimoji="0" lang="zh-CN" altLang="zh-CN" sz="2000" b="0" i="0" u="none" strike="noStrike" cap="none" normalizeH="0" baseline="0" dirty="0">
                <a:ln>
                  <a:noFill/>
                </a:ln>
                <a:solidFill>
                  <a:srgbClr val="E986CD"/>
                </a:solidFill>
                <a:effectLst/>
                <a:latin typeface="Arial Unicode MS"/>
                <a:ea typeface="JetBrains Mono"/>
              </a:rPr>
              <a:t>}</a:t>
            </a:r>
            <a:r>
              <a:rPr kumimoji="0" lang="zh-CN" altLang="zh-CN" sz="2000" b="0" i="0" u="none" strike="noStrike" cap="none" normalizeH="0" baseline="0" dirty="0">
                <a:ln>
                  <a:noFill/>
                </a:ln>
                <a:solidFill>
                  <a:srgbClr val="6C71C4"/>
                </a:solidFill>
                <a:effectLst/>
                <a:latin typeface="Arial Unicode MS"/>
                <a:ea typeface="JetBrains Mono"/>
              </a:rPr>
              <a:t>)</a:t>
            </a:r>
            <a:br>
              <a:rPr kumimoji="0" lang="zh-CN" altLang="zh-CN" sz="2000" b="0" i="0" u="none" strike="noStrike" cap="none" normalizeH="0" baseline="0" dirty="0">
                <a:ln>
                  <a:noFill/>
                </a:ln>
                <a:solidFill>
                  <a:srgbClr val="6C71C4"/>
                </a:solidFill>
                <a:effectLst/>
                <a:latin typeface="Arial Unicode MS"/>
                <a:ea typeface="JetBrains Mono"/>
              </a:rPr>
            </a:br>
            <a:br>
              <a:rPr kumimoji="0" lang="zh-CN" altLang="zh-CN" sz="2000" b="0" i="0" u="none" strike="noStrike" cap="none" normalizeH="0" baseline="0" dirty="0">
                <a:ln>
                  <a:noFill/>
                </a:ln>
                <a:solidFill>
                  <a:srgbClr val="6C71C4"/>
                </a:solidFill>
                <a:effectLst/>
                <a:latin typeface="Arial Unicode MS"/>
                <a:ea typeface="JetBrains Mono"/>
              </a:rPr>
            </a:br>
            <a:r>
              <a:rPr kumimoji="0" lang="zh-CN" altLang="zh-CN" sz="2000" b="0" i="0" u="none" strike="noStrike" cap="none" normalizeH="0" baseline="0" dirty="0">
                <a:ln>
                  <a:noFill/>
                </a:ln>
                <a:solidFill>
                  <a:srgbClr val="6C71C4"/>
                </a:solidFill>
                <a:effectLst/>
                <a:latin typeface="Arial Unicode MS"/>
                <a:ea typeface="JetBrains Mono"/>
              </a:rPr>
              <a:t>    </a:t>
            </a:r>
            <a:r>
              <a:rPr kumimoji="0" lang="zh-CN" altLang="zh-CN" sz="2000" b="0" i="0" u="none" strike="noStrike" cap="none" normalizeH="0" baseline="0" dirty="0">
                <a:ln>
                  <a:noFill/>
                </a:ln>
                <a:solidFill>
                  <a:srgbClr val="E986CD"/>
                </a:solidFill>
                <a:effectLst/>
                <a:latin typeface="Arial Unicode MS"/>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1"/>
          <a:stretch>
            <a:fillRect/>
          </a:stretch>
        </p:blipFill>
        <p:spPr>
          <a:xfrm>
            <a:off x="7491435" y="3381926"/>
            <a:ext cx="3086100" cy="5429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开关组件</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Toggle</a:t>
            </a:r>
            <a:endPar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2" name="组合 11"/>
          <p:cNvGrpSpPr/>
          <p:nvPr/>
        </p:nvGrpSpPr>
        <p:grpSpPr>
          <a:xfrm>
            <a:off x="418604" y="894097"/>
            <a:ext cx="11352885" cy="1511308"/>
            <a:chOff x="361420" y="710838"/>
            <a:chExt cx="7766260" cy="1133658"/>
          </a:xfrm>
        </p:grpSpPr>
        <p:sp>
          <p:nvSpPr>
            <p:cNvPr id="6" name="文本框 5"/>
            <p:cNvSpPr txBox="1"/>
            <p:nvPr/>
          </p:nvSpPr>
          <p:spPr>
            <a:xfrm>
              <a:off x="512119" y="769606"/>
              <a:ext cx="7446548" cy="957412"/>
            </a:xfrm>
            <a:prstGeom prst="rect">
              <a:avLst/>
            </a:prstGeom>
            <a:noFill/>
          </p:spPr>
          <p:txBody>
            <a:bodyPr wrap="square">
              <a:spAutoFit/>
            </a:bodyPr>
            <a:lstStyle/>
            <a:p>
              <a:pPr>
                <a:lnSpc>
                  <a:spcPct val="120000"/>
                </a:lnSpc>
              </a:pP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Toggle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组件提供勾选框样式、状态按钮样式及开关样式；开关的样式用枚举</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ToggleType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来描述；开关状态切换时触发</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onChange()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事件，回调的</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isOn</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为</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true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时，代表状态从关切换为开，</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isOn</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为</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false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时，代表状态从开切换为关。</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61420" y="710838"/>
              <a:ext cx="7766260" cy="1133658"/>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1" name="组合 10"/>
          <p:cNvGrpSpPr/>
          <p:nvPr/>
        </p:nvGrpSpPr>
        <p:grpSpPr>
          <a:xfrm>
            <a:off x="171539" y="2474422"/>
            <a:ext cx="11599950" cy="4436109"/>
            <a:chOff x="176091" y="2755616"/>
            <a:chExt cx="8701322" cy="3327602"/>
          </a:xfrm>
        </p:grpSpPr>
        <p:sp>
          <p:nvSpPr>
            <p:cNvPr id="8" name="圆角矩形 55"/>
            <p:cNvSpPr/>
            <p:nvPr>
              <p:custDataLst>
                <p:tags r:id="rId2"/>
              </p:custDataLst>
            </p:nvPr>
          </p:nvSpPr>
          <p:spPr>
            <a:xfrm>
              <a:off x="361419" y="2762612"/>
              <a:ext cx="8515994" cy="320042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176091" y="2755616"/>
              <a:ext cx="8515993" cy="3327602"/>
            </a:xfrm>
            <a:prstGeom prst="rect">
              <a:avLst/>
            </a:prstGeom>
            <a:noFill/>
          </p:spPr>
          <p:txBody>
            <a:bodyPr wrap="square">
              <a:spAutoFit/>
            </a:bodyPr>
            <a:lstStyle/>
            <a:p>
              <a:pPr marL="408940" marR="63500">
                <a:lnSpc>
                  <a:spcPct val="120000"/>
                </a:lnSpc>
                <a:tabLst>
                  <a:tab pos="180340" algn="l"/>
                  <a:tab pos="408940" algn="l"/>
                </a:tabLst>
              </a:pP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Toggle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type</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ToggleType</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Switch</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开关样式</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isOn</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false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开关的状态</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当</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开关样式为</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Button</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时，才可以使用子组件</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//{Text('Toggle</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开关</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').fontColor('#ff5990cb').fontSize(12)}</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selectedColor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'#007DFF'</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设置组件打开状态的背景颜色</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设置</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Switch</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类型的圆形滑块颜色</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仅对</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type</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为</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ToggleType.Switch</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生效</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switchPointColor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'#ffefb1b1'</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onChange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isOn</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boolean</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开关事件</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console</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info</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65317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开关状态</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isOn</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width</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"30%"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height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30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pic>
        <p:nvPicPr>
          <p:cNvPr id="4" name="图片 3" descr="537278f7a07fdbada666bdacf26f64b1"/>
          <p:cNvPicPr>
            <a:picLocks noChangeAspect="1"/>
          </p:cNvPicPr>
          <p:nvPr>
            <p:custDataLst>
              <p:tags r:id="rId3"/>
            </p:custDataLst>
          </p:nvPr>
        </p:nvPicPr>
        <p:blipFill>
          <a:blip r:embed="rId4"/>
          <a:stretch>
            <a:fillRect/>
          </a:stretch>
        </p:blipFill>
        <p:spPr>
          <a:xfrm>
            <a:off x="8789573" y="2405404"/>
            <a:ext cx="8202555" cy="5655661"/>
          </a:xfrm>
          <a:prstGeom prst="rect">
            <a:avLst/>
          </a:prstGeom>
        </p:spPr>
      </p:pic>
      <p:pic>
        <p:nvPicPr>
          <p:cNvPr id="5" name="图片 4"/>
          <p:cNvPicPr>
            <a:picLocks noChangeAspect="1"/>
          </p:cNvPicPr>
          <p:nvPr/>
        </p:nvPicPr>
        <p:blipFill>
          <a:blip r:embed="rId5"/>
          <a:stretch>
            <a:fillRect/>
          </a:stretch>
        </p:blipFill>
        <p:spPr>
          <a:xfrm>
            <a:off x="7445328" y="2714817"/>
            <a:ext cx="4207492" cy="584139"/>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5"/>
                                        </p:tgtEl>
                                        <p:attrNameLst>
                                          <p:attrName>style.visibility</p:attrName>
                                        </p:attrNameLst>
                                      </p:cBhvr>
                                      <p:to>
                                        <p:strVal val="visible"/>
                                      </p:to>
                                    </p:set>
                                    <p:animEffect transition="in" filter="wedge">
                                      <p:cBhvr>
                                        <p:cTn id="15" dur="1000"/>
                                        <p:tgtEl>
                                          <p:spTgt spid="5"/>
                                        </p:tgtEl>
                                      </p:cBhvr>
                                    </p:animEffect>
                                  </p:childTnLst>
                                </p:cTn>
                              </p:par>
                            </p:childTnLst>
                          </p:cTn>
                        </p:par>
                        <p:par>
                          <p:cTn id="16" fill="hold">
                            <p:stCondLst>
                              <p:cond delay="3000"/>
                            </p:stCondLst>
                            <p:childTnLst>
                              <p:par>
                                <p:cTn id="17" presetID="20" presetClass="entr" presetSubtype="0" fill="hold" nodeType="afterEffect">
                                  <p:stCondLst>
                                    <p:cond delay="0"/>
                                  </p:stCondLst>
                                  <p:childTnLst>
                                    <p:set>
                                      <p:cBhvr>
                                        <p:cTn id="18" dur="1000" fill="hold">
                                          <p:stCondLst>
                                            <p:cond delay="0"/>
                                          </p:stCondLst>
                                        </p:cTn>
                                        <p:tgtEl>
                                          <p:spTgt spid="11"/>
                                        </p:tgtEl>
                                        <p:attrNameLst>
                                          <p:attrName>style.visibility</p:attrName>
                                        </p:attrNameLst>
                                      </p:cBhvr>
                                      <p:to>
                                        <p:strVal val="visible"/>
                                      </p:to>
                                    </p:set>
                                    <p:animEffect transition="in" filter="wedge">
                                      <p:cBhvr>
                                        <p:cTn id="19" dur="1000"/>
                                        <p:tgtEl>
                                          <p:spTgt spid="11"/>
                                        </p:tgtEl>
                                      </p:cBhvr>
                                    </p:animEffect>
                                  </p:childTnLst>
                                </p:cTn>
                              </p:par>
                              <p:par>
                                <p:cTn id="20" presetID="42"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88347" y="101300"/>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开关类型</a:t>
            </a:r>
            <a:endPar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4" name="组合 3"/>
          <p:cNvGrpSpPr/>
          <p:nvPr/>
        </p:nvGrpSpPr>
        <p:grpSpPr>
          <a:xfrm>
            <a:off x="337807" y="2178488"/>
            <a:ext cx="6605805" cy="2585325"/>
            <a:chOff x="401168" y="1290533"/>
            <a:chExt cx="4955128" cy="1939297"/>
          </a:xfrm>
        </p:grpSpPr>
        <p:sp>
          <p:nvSpPr>
            <p:cNvPr id="5" name="文本框 4"/>
            <p:cNvSpPr txBox="1"/>
            <p:nvPr/>
          </p:nvSpPr>
          <p:spPr>
            <a:xfrm>
              <a:off x="401168" y="1901905"/>
              <a:ext cx="4955128" cy="1252733"/>
            </a:xfrm>
            <a:prstGeom prst="rect">
              <a:avLst/>
            </a:prstGeom>
            <a:noFill/>
          </p:spPr>
          <p:txBody>
            <a:bodyPr wrap="square" lIns="91397" tIns="45699" rIns="91397" bIns="45699" rtlCol="0">
              <a:spAutoFit/>
            </a:bodyPr>
            <a:lstStyle/>
            <a:p>
              <a:pPr marL="742950" lvl="1" indent="-28575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ToggleType.</a:t>
              </a:r>
              <a:r>
                <a:rPr lang="en-US" altLang="zh-CN" sz="2135">
                  <a:solidFill>
                    <a:srgbClr val="00000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Checkbox</a:t>
              </a:r>
              <a:r>
                <a:rPr lang="zh-CN" altLang="zh-CN" sz="2135">
                  <a:solidFill>
                    <a:srgbClr val="000000"/>
                  </a:solidFill>
                  <a:effectLst/>
                  <a:latin typeface="思源黑体" panose="020B0400000000000000" pitchFamily="34" charset="-122"/>
                  <a:ea typeface="思源黑体" panose="020B0400000000000000" pitchFamily="34" charset="-122"/>
                  <a:cs typeface="Segoe UI" panose="020B0502040204020203" pitchFamily="34" charset="0"/>
                  <a:sym typeface="思源黑体" panose="020B0400000000000000" pitchFamily="34" charset="-122"/>
                </a:rPr>
                <a:t>：提供单选框样式；</a:t>
              </a:r>
              <a:endParaRPr lang="en-US" altLang="zh-CN" sz="2135">
                <a:solidFill>
                  <a:srgbClr val="000000"/>
                </a:solidFill>
                <a:effectLst/>
                <a:latin typeface="思源黑体" panose="020B0400000000000000" pitchFamily="34" charset="-122"/>
                <a:ea typeface="思源黑体" panose="020B0400000000000000" pitchFamily="34" charset="-122"/>
                <a:cs typeface="Segoe UI" panose="020B0502040204020203" pitchFamily="34" charset="0"/>
                <a:sym typeface="思源黑体" panose="020B0400000000000000" pitchFamily="34" charset="-122"/>
              </a:endParaRPr>
            </a:p>
            <a:p>
              <a:pPr marL="742950" lvl="1" indent="-285750">
                <a:lnSpc>
                  <a:spcPct val="120000"/>
                </a:lnSpc>
                <a:buFont typeface="Wingdings" panose="05000000000000000000" pitchFamily="2" charset="2"/>
                <a:buChar char=""/>
              </a:pP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ToggleType.Switch</a:t>
              </a:r>
              <a:r>
                <a:rPr lang="zh-CN" altLang="zh-CN" sz="2135" kern="100">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：提供开关样式</a:t>
              </a:r>
              <a:endParaRPr lang="en-US" altLang="zh-CN" sz="2135" kern="100">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a:p>
              <a:pPr marL="742950" lvl="1" indent="-285750">
                <a:lnSpc>
                  <a:spcPct val="120000"/>
                </a:lnSpc>
                <a:buFont typeface="Wingdings" panose="05000000000000000000" pitchFamily="2" charset="2"/>
                <a:buChar char=""/>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ToggleType.Button</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effectLst/>
                  <a:latin typeface="思源黑体" panose="020B0400000000000000" pitchFamily="34" charset="-122"/>
                  <a:ea typeface="思源黑体" panose="020B0400000000000000" pitchFamily="34" charset="-122"/>
                  <a:cs typeface="Segoe UI" panose="020B0502040204020203" pitchFamily="34" charset="0"/>
                  <a:sym typeface="思源黑体" panose="020B0400000000000000" pitchFamily="34" charset="-122"/>
                </a:rPr>
                <a:t>提供状态按钮样式</a:t>
              </a:r>
              <a:r>
                <a:rPr lang="zh-CN" altLang="en-US" sz="2135">
                  <a:effectLst/>
                  <a:latin typeface="思源黑体" panose="020B0400000000000000" pitchFamily="34" charset="-122"/>
                  <a:ea typeface="思源黑体" panose="020B0400000000000000" pitchFamily="34" charset="-122"/>
                  <a:cs typeface="Segoe UI" panose="020B0502040204020203" pitchFamily="34" charset="0"/>
                  <a:sym typeface="思源黑体" panose="020B0400000000000000" pitchFamily="34" charset="-122"/>
                </a:rPr>
                <a:t>。</a:t>
              </a:r>
              <a:endParaRPr lang="en-US" altLang="zh-CN" sz="2135">
                <a:effectLst/>
                <a:latin typeface="思源黑体" panose="020B0400000000000000" pitchFamily="34" charset="-122"/>
                <a:ea typeface="思源黑体" panose="020B0400000000000000" pitchFamily="34" charset="-122"/>
                <a:cs typeface="Segoe UI" panose="020B0502040204020203" pitchFamily="34" charset="0"/>
                <a:sym typeface="思源黑体" panose="020B0400000000000000" pitchFamily="34" charset="-122"/>
              </a:endParaRPr>
            </a:p>
            <a:p>
              <a:pPr lvl="1">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7" name="组合 6"/>
            <p:cNvGrpSpPr/>
            <p:nvPr/>
          </p:nvGrpSpPr>
          <p:grpSpPr>
            <a:xfrm>
              <a:off x="643019" y="1290533"/>
              <a:ext cx="4555219" cy="1939297"/>
              <a:chOff x="828791" y="1692437"/>
              <a:chExt cx="4555219" cy="1939297"/>
            </a:xfrm>
          </p:grpSpPr>
          <p:sp>
            <p:nvSpPr>
              <p:cNvPr id="10" name="圆角矩形 3"/>
              <p:cNvSpPr/>
              <p:nvPr/>
            </p:nvSpPr>
            <p:spPr>
              <a:xfrm>
                <a:off x="927182" y="1692437"/>
                <a:ext cx="2227580" cy="39846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圆角矩形 54"/>
              <p:cNvSpPr/>
              <p:nvPr/>
            </p:nvSpPr>
            <p:spPr>
              <a:xfrm>
                <a:off x="828791" y="1905347"/>
                <a:ext cx="4555219" cy="172638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Text2"/>
              <p:cNvSpPr txBox="1"/>
              <p:nvPr/>
            </p:nvSpPr>
            <p:spPr>
              <a:xfrm>
                <a:off x="1164945" y="1692438"/>
                <a:ext cx="1989817"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ToggleType</a:t>
                </a:r>
                <a:endParaRPr lang="en-US" altLang="zh-CN" sz="3200" b="1">
                  <a:solidFill>
                    <a:schemeClr val="accent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pic>
        <p:nvPicPr>
          <p:cNvPr id="8" name="图片 7"/>
          <p:cNvPicPr>
            <a:picLocks noChangeAspect="1"/>
          </p:cNvPicPr>
          <p:nvPr/>
        </p:nvPicPr>
        <p:blipFill>
          <a:blip r:embed="rId1"/>
          <a:stretch>
            <a:fillRect/>
          </a:stretch>
        </p:blipFill>
        <p:spPr>
          <a:xfrm>
            <a:off x="7489003" y="2845496"/>
            <a:ext cx="4207492" cy="584139"/>
          </a:xfrm>
          <a:prstGeom prst="rect">
            <a:avLst/>
          </a:prstGeom>
        </p:spPr>
      </p:pic>
      <p:pic>
        <p:nvPicPr>
          <p:cNvPr id="15" name="图片 14"/>
          <p:cNvPicPr>
            <a:picLocks noChangeAspect="1"/>
          </p:cNvPicPr>
          <p:nvPr/>
        </p:nvPicPr>
        <p:blipFill>
          <a:blip r:embed="rId2"/>
          <a:stretch>
            <a:fillRect/>
          </a:stretch>
        </p:blipFill>
        <p:spPr>
          <a:xfrm>
            <a:off x="7573660" y="1869719"/>
            <a:ext cx="4122834" cy="592605"/>
          </a:xfrm>
          <a:prstGeom prst="rect">
            <a:avLst/>
          </a:prstGeom>
        </p:spPr>
      </p:pic>
      <p:pic>
        <p:nvPicPr>
          <p:cNvPr id="17" name="图片 16"/>
          <p:cNvPicPr>
            <a:picLocks noChangeAspect="1"/>
          </p:cNvPicPr>
          <p:nvPr/>
        </p:nvPicPr>
        <p:blipFill>
          <a:blip r:embed="rId3"/>
          <a:stretch>
            <a:fillRect/>
          </a:stretch>
        </p:blipFill>
        <p:spPr>
          <a:xfrm>
            <a:off x="7060657" y="3861368"/>
            <a:ext cx="4791631" cy="1396854"/>
          </a:xfrm>
          <a:prstGeom prst="rect">
            <a:avLst/>
          </a:prstGeom>
        </p:spPr>
      </p:pic>
      <p:pic>
        <p:nvPicPr>
          <p:cNvPr id="18" name="图片 17"/>
          <p:cNvPicPr>
            <a:picLocks noChangeAspect="1"/>
          </p:cNvPicPr>
          <p:nvPr/>
        </p:nvPicPr>
        <p:blipFill>
          <a:blip r:embed="rId4"/>
          <a:stretch>
            <a:fillRect/>
          </a:stretch>
        </p:blipFill>
        <p:spPr>
          <a:xfrm>
            <a:off x="4909493" y="5047646"/>
            <a:ext cx="1823408" cy="1638092"/>
          </a:xfrm>
          <a:prstGeom prst="rect">
            <a:avLst/>
          </a:prstGeom>
        </p:spPr>
      </p:pic>
      <p:sp>
        <p:nvSpPr>
          <p:cNvPr id="19" name="ïsḷîde"/>
          <p:cNvSpPr/>
          <p:nvPr/>
        </p:nvSpPr>
        <p:spPr>
          <a:xfrm>
            <a:off x="2378880" y="5369782"/>
            <a:ext cx="2216127" cy="503832"/>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25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4"/>
                                        </p:tgtEl>
                                        <p:attrNameLst>
                                          <p:attrName>style.visibility</p:attrName>
                                        </p:attrNameLst>
                                      </p:cBhvr>
                                      <p:to>
                                        <p:strVal val="visible"/>
                                      </p:to>
                                    </p:set>
                                    <p:animEffect transition="in" filter="wedge">
                                      <p:cBhvr>
                                        <p:cTn id="11" dur="1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15"/>
                                        </p:tgtEl>
                                        <p:attrNameLst>
                                          <p:attrName>style.visibility</p:attrName>
                                        </p:attrNameLst>
                                      </p:cBhvr>
                                      <p:to>
                                        <p:strVal val="visible"/>
                                      </p:to>
                                    </p:set>
                                    <p:animEffect transition="in" filter="wedge">
                                      <p:cBhvr>
                                        <p:cTn id="16" dur="10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8"/>
                                        </p:tgtEl>
                                        <p:attrNameLst>
                                          <p:attrName>style.visibility</p:attrName>
                                        </p:attrNameLst>
                                      </p:cBhvr>
                                      <p:to>
                                        <p:strVal val="visible"/>
                                      </p:to>
                                    </p:set>
                                    <p:animEffect transition="in" filter="wedge">
                                      <p:cBhvr>
                                        <p:cTn id="21" dur="1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0" presetClass="entr" presetSubtype="0" fill="hold" nodeType="clickEffect">
                                  <p:stCondLst>
                                    <p:cond delay="0"/>
                                  </p:stCondLst>
                                  <p:childTnLst>
                                    <p:set>
                                      <p:cBhvr>
                                        <p:cTn id="25" dur="1000" fill="hold">
                                          <p:stCondLst>
                                            <p:cond delay="0"/>
                                          </p:stCondLst>
                                        </p:cTn>
                                        <p:tgtEl>
                                          <p:spTgt spid="17"/>
                                        </p:tgtEl>
                                        <p:attrNameLst>
                                          <p:attrName>style.visibility</p:attrName>
                                        </p:attrNameLst>
                                      </p:cBhvr>
                                      <p:to>
                                        <p:strVal val="visible"/>
                                      </p:to>
                                    </p:set>
                                    <p:animEffect transition="in" filter="wedge">
                                      <p:cBhvr>
                                        <p:cTn id="26" dur="10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down)">
                                      <p:cBhvr>
                                        <p:cTn id="31" dur="500"/>
                                        <p:tgtEl>
                                          <p:spTgt spid="19"/>
                                        </p:tgtEl>
                                      </p:cBhvr>
                                    </p:animEffect>
                                  </p:childTnLst>
                                </p:cTn>
                              </p:par>
                              <p:par>
                                <p:cTn id="32" presetID="22" presetClass="entr" presetSubtype="4"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消息提示模块</a:t>
            </a:r>
            <a:endPar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2" name="组合 11"/>
          <p:cNvGrpSpPr/>
          <p:nvPr/>
        </p:nvGrpSpPr>
        <p:grpSpPr>
          <a:xfrm>
            <a:off x="472474" y="1159043"/>
            <a:ext cx="10753753" cy="1185343"/>
            <a:chOff x="356336" y="360540"/>
            <a:chExt cx="7727549" cy="889146"/>
          </a:xfrm>
        </p:grpSpPr>
        <p:sp>
          <p:nvSpPr>
            <p:cNvPr id="6" name="文本框 5"/>
            <p:cNvSpPr txBox="1"/>
            <p:nvPr/>
          </p:nvSpPr>
          <p:spPr>
            <a:xfrm>
              <a:off x="427985" y="360540"/>
              <a:ext cx="7446548" cy="661138"/>
            </a:xfrm>
            <a:prstGeom prst="rect">
              <a:avLst/>
            </a:prstGeom>
            <a:noFill/>
          </p:spPr>
          <p:txBody>
            <a:bodyPr wrap="square">
              <a:spAutoFit/>
            </a:bodyPr>
            <a:lstStyle/>
            <a:p>
              <a:pPr>
                <a:lnSpc>
                  <a:spcPct val="120000"/>
                </a:lnSpc>
              </a:pP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@ohos.promptAction (</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弹窗</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是</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ArkTS</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提供的</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API</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，用于创建并显示文本提示框，一般称为消息提示模块，使用时先导入模块，再使用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showToast()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创建并显示文本提示框。</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56336" y="385043"/>
              <a:ext cx="7727549" cy="86464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1" name="组合 10"/>
          <p:cNvGrpSpPr/>
          <p:nvPr/>
        </p:nvGrpSpPr>
        <p:grpSpPr>
          <a:xfrm>
            <a:off x="357657" y="2833715"/>
            <a:ext cx="11352886" cy="3035711"/>
            <a:chOff x="361418" y="3487905"/>
            <a:chExt cx="8515995" cy="2277139"/>
          </a:xfrm>
        </p:grpSpPr>
        <p:sp>
          <p:nvSpPr>
            <p:cNvPr id="8" name="圆角矩形 55"/>
            <p:cNvSpPr/>
            <p:nvPr>
              <p:custDataLst>
                <p:tags r:id="rId2"/>
              </p:custDataLst>
            </p:nvPr>
          </p:nvSpPr>
          <p:spPr>
            <a:xfrm>
              <a:off x="361418" y="3487905"/>
              <a:ext cx="8515995" cy="227713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452852" y="3639873"/>
              <a:ext cx="7912214" cy="1846233"/>
            </a:xfrm>
            <a:prstGeom prst="rect">
              <a:avLst/>
            </a:prstGeom>
            <a:noFill/>
          </p:spPr>
          <p:txBody>
            <a:bodyPr wrap="square">
              <a:spAutoFit/>
            </a:bodyPr>
            <a:lstStyle/>
            <a:p>
              <a:pPr marL="48260" marR="63500" indent="-48260">
                <a:lnSpc>
                  <a:spcPct val="120000"/>
                </a:lnSpc>
                <a:tabLst>
                  <a:tab pos="180340" algn="l"/>
                  <a:tab pos="408940" algn="l"/>
                </a:tabLst>
              </a:pP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import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promptAction </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from </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'@ohos.promptAction'</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导入模块</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promptAction</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showToast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message</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65317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提示的消息内容</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提示内容</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duration</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1000</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消息显示时长为</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秒</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bottom</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50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消息提示框距离底部</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50</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pic>
        <p:nvPicPr>
          <p:cNvPr id="4" name="图片 3" descr="537278f7a07fdbada666bdacf26f64b1"/>
          <p:cNvPicPr>
            <a:picLocks noChangeAspect="1"/>
          </p:cNvPicPr>
          <p:nvPr>
            <p:custDataLst>
              <p:tags r:id="rId3"/>
            </p:custDataLst>
          </p:nvPr>
        </p:nvPicPr>
        <p:blipFill>
          <a:blip r:embed="rId4"/>
          <a:stretch>
            <a:fillRect/>
          </a:stretch>
        </p:blipFill>
        <p:spPr>
          <a:xfrm>
            <a:off x="8789573" y="2405404"/>
            <a:ext cx="8202555" cy="5655661"/>
          </a:xfrm>
          <a:prstGeom prst="rect">
            <a:avLst/>
          </a:prstGeom>
        </p:spPr>
      </p:pic>
      <p:pic>
        <p:nvPicPr>
          <p:cNvPr id="5" name="图片 4"/>
          <p:cNvPicPr>
            <a:picLocks noChangeAspect="1"/>
          </p:cNvPicPr>
          <p:nvPr/>
        </p:nvPicPr>
        <p:blipFill>
          <a:blip r:embed="rId5"/>
          <a:stretch>
            <a:fillRect/>
          </a:stretch>
        </p:blipFill>
        <p:spPr>
          <a:xfrm>
            <a:off x="6779250" y="5039902"/>
            <a:ext cx="1823408" cy="1638092"/>
          </a:xfrm>
          <a:prstGeom prst="rect">
            <a:avLst/>
          </a:prstGeom>
        </p:spPr>
      </p:pic>
      <p:sp>
        <p:nvSpPr>
          <p:cNvPr id="7" name="ïsḷîde"/>
          <p:cNvSpPr/>
          <p:nvPr/>
        </p:nvSpPr>
        <p:spPr>
          <a:xfrm>
            <a:off x="4248637" y="5362038"/>
            <a:ext cx="2216127" cy="503832"/>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25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11"/>
                                        </p:tgtEl>
                                        <p:attrNameLst>
                                          <p:attrName>style.visibility</p:attrName>
                                        </p:attrNameLst>
                                      </p:cBhvr>
                                      <p:to>
                                        <p:strVal val="visible"/>
                                      </p:to>
                                    </p:set>
                                    <p:animEffect transition="in" filter="wedge">
                                      <p:cBhvr>
                                        <p:cTn id="15" dur="1000"/>
                                        <p:tgtEl>
                                          <p:spTgt spid="11"/>
                                        </p:tgtEl>
                                      </p:cBhvr>
                                    </p:animEffect>
                                  </p:childTnLst>
                                </p:cTn>
                              </p:par>
                              <p:par>
                                <p:cTn id="16" presetID="42"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par>
                                <p:cTn id="26" presetID="22" presetClass="entr" presetSubtype="4"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646805" y="2600325"/>
            <a:ext cx="6668770" cy="186372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a:t>
            </a:r>
            <a:r>
              <a:rPr lang="en-US" altLang="zh-CN"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 </a:t>
            </a:r>
            <a:r>
              <a:rPr lang="zh-CN" altLang="en-US"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使用交互类组件开发登录页</a:t>
            </a:r>
            <a:endParaRPr lang="en-US" altLang="zh-CN" sz="4800" b="1" dirty="0">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2" name="文本框 1"/>
          <p:cNvSpPr txBox="1"/>
          <p:nvPr/>
        </p:nvSpPr>
        <p:spPr>
          <a:xfrm>
            <a:off x="3214370" y="470535"/>
            <a:ext cx="8330565" cy="68199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3200">
                <a:solidFill>
                  <a:schemeClr val="tx1">
                    <a:lumMod val="75000"/>
                    <a:lumOff val="2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项目</a:t>
            </a:r>
            <a:r>
              <a:rPr lang="en-US" altLang="zh-CN" sz="3200">
                <a:solidFill>
                  <a:schemeClr val="tx1">
                    <a:lumMod val="75000"/>
                    <a:lumOff val="2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 </a:t>
            </a:r>
            <a:r>
              <a:rPr lang="zh-CN" altLang="en-US" sz="3200">
                <a:solidFill>
                  <a:schemeClr val="tx1">
                    <a:lumMod val="75000"/>
                    <a:lumOff val="2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走近</a:t>
            </a:r>
            <a:r>
              <a:rPr lang="en-US" altLang="zh-CN" sz="3200">
                <a:solidFill>
                  <a:schemeClr val="tx1">
                    <a:lumMod val="75000"/>
                    <a:lumOff val="2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ArkTS</a:t>
            </a:r>
            <a:r>
              <a:rPr lang="zh-CN" altLang="en-US" sz="3200">
                <a:solidFill>
                  <a:schemeClr val="tx1">
                    <a:lumMod val="75000"/>
                    <a:lumOff val="2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声明式开发</a:t>
            </a:r>
            <a:r>
              <a:rPr lang="en-US" altLang="zh-CN" sz="3200">
                <a:solidFill>
                  <a:schemeClr val="tx1">
                    <a:lumMod val="75000"/>
                    <a:lumOff val="2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  Project2_Task4</a:t>
            </a:r>
            <a:endParaRPr lang="en-US" altLang="zh-CN" sz="3200">
              <a:solidFill>
                <a:schemeClr val="tx1">
                  <a:lumMod val="75000"/>
                  <a:lumOff val="2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9" name="Freeform 359"/>
          <p:cNvSpPr/>
          <p:nvPr/>
        </p:nvSpPr>
        <p:spPr>
          <a:xfrm>
            <a:off x="410220" y="3580974"/>
            <a:ext cx="1086104" cy="801668"/>
          </a:xfrm>
          <a:custGeom>
            <a:avLst/>
            <a:gdLst/>
            <a:ahLst/>
            <a:cxnLst>
              <a:cxn ang="0">
                <a:pos x="wd2" y="hd2"/>
              </a:cxn>
              <a:cxn ang="5400000">
                <a:pos x="wd2" y="hd2"/>
              </a:cxn>
              <a:cxn ang="10800000">
                <a:pos x="wd2" y="hd2"/>
              </a:cxn>
              <a:cxn ang="16200000">
                <a:pos x="wd2" y="hd2"/>
              </a:cxn>
            </a:cxnLst>
            <a:rect l="0" t="0" r="r" b="b"/>
            <a:pathLst>
              <a:path w="21600" h="21600" extrusionOk="0">
                <a:moveTo>
                  <a:pt x="15632" y="21600"/>
                </a:moveTo>
                <a:cubicBezTo>
                  <a:pt x="5258" y="21600"/>
                  <a:pt x="5258" y="21600"/>
                  <a:pt x="5258" y="21600"/>
                </a:cubicBezTo>
                <a:cubicBezTo>
                  <a:pt x="3837" y="21600"/>
                  <a:pt x="2558" y="20815"/>
                  <a:pt x="1563" y="19440"/>
                </a:cubicBezTo>
                <a:cubicBezTo>
                  <a:pt x="568" y="18065"/>
                  <a:pt x="0" y="16102"/>
                  <a:pt x="0" y="14138"/>
                </a:cubicBezTo>
                <a:cubicBezTo>
                  <a:pt x="0" y="11782"/>
                  <a:pt x="853" y="9425"/>
                  <a:pt x="2274" y="8051"/>
                </a:cubicBezTo>
                <a:cubicBezTo>
                  <a:pt x="2274" y="8051"/>
                  <a:pt x="2274" y="7855"/>
                  <a:pt x="2274" y="7855"/>
                </a:cubicBezTo>
                <a:cubicBezTo>
                  <a:pt x="2274" y="4713"/>
                  <a:pt x="4121" y="2356"/>
                  <a:pt x="6253" y="2356"/>
                </a:cubicBezTo>
                <a:cubicBezTo>
                  <a:pt x="6821" y="2356"/>
                  <a:pt x="7389" y="2356"/>
                  <a:pt x="7816" y="2749"/>
                </a:cubicBezTo>
                <a:cubicBezTo>
                  <a:pt x="8953" y="982"/>
                  <a:pt x="10658" y="0"/>
                  <a:pt x="12363" y="0"/>
                </a:cubicBezTo>
                <a:cubicBezTo>
                  <a:pt x="13784" y="0"/>
                  <a:pt x="15205" y="589"/>
                  <a:pt x="16342" y="1767"/>
                </a:cubicBezTo>
                <a:cubicBezTo>
                  <a:pt x="17195" y="2749"/>
                  <a:pt x="18047" y="4124"/>
                  <a:pt x="18474" y="5695"/>
                </a:cubicBezTo>
                <a:cubicBezTo>
                  <a:pt x="20321" y="7265"/>
                  <a:pt x="21600" y="10015"/>
                  <a:pt x="21600" y="13156"/>
                </a:cubicBezTo>
                <a:cubicBezTo>
                  <a:pt x="21600" y="15316"/>
                  <a:pt x="20889" y="17476"/>
                  <a:pt x="19895" y="19047"/>
                </a:cubicBezTo>
                <a:cubicBezTo>
                  <a:pt x="18758" y="20618"/>
                  <a:pt x="17195" y="21600"/>
                  <a:pt x="15632" y="21600"/>
                </a:cubicBez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0" name="组合 4563"/>
          <p:cNvGrpSpPr/>
          <p:nvPr/>
        </p:nvGrpSpPr>
        <p:grpSpPr>
          <a:xfrm>
            <a:off x="2135282" y="5204567"/>
            <a:ext cx="1077638" cy="778812"/>
            <a:chOff x="164400" y="439344"/>
            <a:chExt cx="1425746" cy="986402"/>
          </a:xfrm>
        </p:grpSpPr>
        <p:sp>
          <p:nvSpPr>
            <p:cNvPr id="11" name="Freeform 4387"/>
            <p:cNvSpPr/>
            <p:nvPr>
              <p:custDataLst>
                <p:tags r:id="rId1"/>
              </p:custDataLst>
            </p:nvPr>
          </p:nvSpPr>
          <p:spPr>
            <a:xfrm>
              <a:off x="493200" y="547054"/>
              <a:ext cx="1096946" cy="878692"/>
            </a:xfrm>
            <a:custGeom>
              <a:avLst/>
              <a:gdLst/>
              <a:ahLst/>
              <a:cxnLst>
                <a:cxn ang="0">
                  <a:pos x="wd2" y="hd2"/>
                </a:cxn>
                <a:cxn ang="5400000">
                  <a:pos x="wd2" y="hd2"/>
                </a:cxn>
                <a:cxn ang="10800000">
                  <a:pos x="wd2" y="hd2"/>
                </a:cxn>
                <a:cxn ang="16200000">
                  <a:pos x="wd2" y="hd2"/>
                </a:cxn>
              </a:cxnLst>
              <a:rect l="0" t="0" r="r" b="b"/>
              <a:pathLst>
                <a:path w="21600" h="21600" extrusionOk="0">
                  <a:moveTo>
                    <a:pt x="6480" y="0"/>
                  </a:moveTo>
                  <a:cubicBezTo>
                    <a:pt x="15120" y="0"/>
                    <a:pt x="15120" y="0"/>
                    <a:pt x="15120" y="0"/>
                  </a:cubicBezTo>
                  <a:cubicBezTo>
                    <a:pt x="18697" y="0"/>
                    <a:pt x="21600" y="3628"/>
                    <a:pt x="21600" y="8100"/>
                  </a:cubicBezTo>
                  <a:cubicBezTo>
                    <a:pt x="21600" y="12572"/>
                    <a:pt x="18697" y="16200"/>
                    <a:pt x="15120" y="16200"/>
                  </a:cubicBezTo>
                  <a:cubicBezTo>
                    <a:pt x="15120" y="21600"/>
                    <a:pt x="15120" y="21600"/>
                    <a:pt x="15120" y="21600"/>
                  </a:cubicBezTo>
                  <a:cubicBezTo>
                    <a:pt x="10800" y="16200"/>
                    <a:pt x="10800" y="16200"/>
                    <a:pt x="10800" y="16200"/>
                  </a:cubicBezTo>
                  <a:cubicBezTo>
                    <a:pt x="6480" y="16200"/>
                    <a:pt x="6480" y="16200"/>
                    <a:pt x="6480" y="16200"/>
                  </a:cubicBezTo>
                  <a:cubicBezTo>
                    <a:pt x="2902" y="16200"/>
                    <a:pt x="0" y="12572"/>
                    <a:pt x="0" y="8100"/>
                  </a:cubicBezTo>
                  <a:cubicBezTo>
                    <a:pt x="0" y="3628"/>
                    <a:pt x="2902" y="0"/>
                    <a:pt x="6480" y="0"/>
                  </a:cubicBezTo>
                </a:path>
              </a:pathLst>
            </a:custGeom>
            <a:solidFill>
              <a:srgbClr val="566CD3"/>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 name="Freeform 4388"/>
            <p:cNvSpPr/>
            <p:nvPr>
              <p:custDataLst>
                <p:tags r:id="rId2"/>
              </p:custDataLst>
            </p:nvPr>
          </p:nvSpPr>
          <p:spPr>
            <a:xfrm>
              <a:off x="164400" y="439344"/>
              <a:ext cx="1096946" cy="875858"/>
            </a:xfrm>
            <a:custGeom>
              <a:avLst/>
              <a:gdLst/>
              <a:ahLst/>
              <a:cxnLst>
                <a:cxn ang="0">
                  <a:pos x="wd2" y="hd2"/>
                </a:cxn>
                <a:cxn ang="5400000">
                  <a:pos x="wd2" y="hd2"/>
                </a:cxn>
                <a:cxn ang="10800000">
                  <a:pos x="wd2" y="hd2"/>
                </a:cxn>
                <a:cxn ang="16200000">
                  <a:pos x="wd2" y="hd2"/>
                </a:cxn>
              </a:cxnLst>
              <a:rect l="0" t="0" r="r" b="b"/>
              <a:pathLst>
                <a:path w="21600" h="21600" extrusionOk="0">
                  <a:moveTo>
                    <a:pt x="15120" y="0"/>
                  </a:moveTo>
                  <a:cubicBezTo>
                    <a:pt x="6480" y="0"/>
                    <a:pt x="6480" y="0"/>
                    <a:pt x="6480" y="0"/>
                  </a:cubicBezTo>
                  <a:cubicBezTo>
                    <a:pt x="2902" y="0"/>
                    <a:pt x="0" y="3628"/>
                    <a:pt x="0" y="8100"/>
                  </a:cubicBezTo>
                  <a:cubicBezTo>
                    <a:pt x="0" y="12572"/>
                    <a:pt x="2902" y="16200"/>
                    <a:pt x="6480" y="16200"/>
                  </a:cubicBezTo>
                  <a:cubicBezTo>
                    <a:pt x="6480" y="21600"/>
                    <a:pt x="6480" y="21600"/>
                    <a:pt x="6480" y="21600"/>
                  </a:cubicBezTo>
                  <a:cubicBezTo>
                    <a:pt x="10800" y="16200"/>
                    <a:pt x="10800" y="16200"/>
                    <a:pt x="10800" y="16200"/>
                  </a:cubicBezTo>
                  <a:cubicBezTo>
                    <a:pt x="15120" y="16200"/>
                    <a:pt x="15120" y="16200"/>
                    <a:pt x="15120" y="16200"/>
                  </a:cubicBezTo>
                  <a:cubicBezTo>
                    <a:pt x="18697" y="16200"/>
                    <a:pt x="21600" y="12572"/>
                    <a:pt x="21600" y="8100"/>
                  </a:cubicBezTo>
                  <a:cubicBezTo>
                    <a:pt x="21600" y="3628"/>
                    <a:pt x="18697" y="0"/>
                    <a:pt x="15120" y="0"/>
                  </a:cubicBezTo>
                </a:path>
              </a:pathLst>
            </a:custGeom>
            <a:solidFill>
              <a:srgbClr val="B9B8F1"/>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Freeform 4389"/>
            <p:cNvSpPr/>
            <p:nvPr>
              <p:custDataLst>
                <p:tags r:id="rId3"/>
              </p:custDataLst>
            </p:nvPr>
          </p:nvSpPr>
          <p:spPr>
            <a:xfrm>
              <a:off x="651931" y="549890"/>
              <a:ext cx="637760" cy="626423"/>
            </a:xfrm>
            <a:custGeom>
              <a:avLst/>
              <a:gdLst/>
              <a:ahLst/>
              <a:cxnLst>
                <a:cxn ang="0">
                  <a:pos x="wd2" y="hd2"/>
                </a:cxn>
                <a:cxn ang="5400000">
                  <a:pos x="wd2" y="hd2"/>
                </a:cxn>
                <a:cxn ang="10800000">
                  <a:pos x="wd2" y="hd2"/>
                </a:cxn>
                <a:cxn ang="16200000">
                  <a:pos x="wd2" y="hd2"/>
                </a:cxn>
              </a:cxnLst>
              <a:rect l="0" t="0" r="r" b="b"/>
              <a:pathLst>
                <a:path w="21600" h="21600" extrusionOk="0">
                  <a:moveTo>
                    <a:pt x="17884" y="0"/>
                  </a:moveTo>
                  <a:cubicBezTo>
                    <a:pt x="19568" y="1948"/>
                    <a:pt x="20613" y="4485"/>
                    <a:pt x="20671" y="7318"/>
                  </a:cubicBezTo>
                  <a:cubicBezTo>
                    <a:pt x="20671" y="7318"/>
                    <a:pt x="20671" y="7318"/>
                    <a:pt x="20671" y="7318"/>
                  </a:cubicBezTo>
                  <a:cubicBezTo>
                    <a:pt x="20671" y="7318"/>
                    <a:pt x="20671" y="7318"/>
                    <a:pt x="20671" y="7377"/>
                  </a:cubicBezTo>
                  <a:cubicBezTo>
                    <a:pt x="20671" y="7377"/>
                    <a:pt x="20671" y="7377"/>
                    <a:pt x="20671" y="7377"/>
                  </a:cubicBezTo>
                  <a:cubicBezTo>
                    <a:pt x="20671" y="7377"/>
                    <a:pt x="20671" y="7377"/>
                    <a:pt x="20671" y="7377"/>
                  </a:cubicBezTo>
                  <a:cubicBezTo>
                    <a:pt x="20671" y="7377"/>
                    <a:pt x="20671" y="7377"/>
                    <a:pt x="20671" y="7377"/>
                  </a:cubicBezTo>
                  <a:cubicBezTo>
                    <a:pt x="20671" y="7377"/>
                    <a:pt x="20671" y="7436"/>
                    <a:pt x="20671" y="7436"/>
                  </a:cubicBezTo>
                  <a:cubicBezTo>
                    <a:pt x="20671" y="7436"/>
                    <a:pt x="20671" y="7436"/>
                    <a:pt x="20671" y="7436"/>
                  </a:cubicBezTo>
                  <a:cubicBezTo>
                    <a:pt x="20671" y="7436"/>
                    <a:pt x="20671" y="7436"/>
                    <a:pt x="20671" y="7436"/>
                  </a:cubicBezTo>
                  <a:cubicBezTo>
                    <a:pt x="20671" y="7436"/>
                    <a:pt x="20671" y="7436"/>
                    <a:pt x="20671" y="7436"/>
                  </a:cubicBezTo>
                  <a:cubicBezTo>
                    <a:pt x="20671" y="7495"/>
                    <a:pt x="20671" y="7495"/>
                    <a:pt x="20671" y="7495"/>
                  </a:cubicBezTo>
                  <a:cubicBezTo>
                    <a:pt x="20671" y="7495"/>
                    <a:pt x="20671" y="7495"/>
                    <a:pt x="20671" y="7495"/>
                  </a:cubicBezTo>
                  <a:cubicBezTo>
                    <a:pt x="20671" y="7495"/>
                    <a:pt x="20671" y="7495"/>
                    <a:pt x="20671" y="7495"/>
                  </a:cubicBezTo>
                  <a:cubicBezTo>
                    <a:pt x="20671" y="7495"/>
                    <a:pt x="20671" y="7495"/>
                    <a:pt x="20671" y="7495"/>
                  </a:cubicBezTo>
                  <a:cubicBezTo>
                    <a:pt x="20671" y="13751"/>
                    <a:pt x="15677" y="18826"/>
                    <a:pt x="9523" y="18826"/>
                  </a:cubicBezTo>
                  <a:cubicBezTo>
                    <a:pt x="2090" y="18826"/>
                    <a:pt x="2090" y="18826"/>
                    <a:pt x="2090" y="18826"/>
                  </a:cubicBezTo>
                  <a:cubicBezTo>
                    <a:pt x="0" y="20951"/>
                    <a:pt x="0" y="20951"/>
                    <a:pt x="0" y="20951"/>
                  </a:cubicBezTo>
                  <a:cubicBezTo>
                    <a:pt x="406" y="21187"/>
                    <a:pt x="813" y="21423"/>
                    <a:pt x="1219" y="21600"/>
                  </a:cubicBezTo>
                  <a:cubicBezTo>
                    <a:pt x="3019" y="19770"/>
                    <a:pt x="3019" y="19770"/>
                    <a:pt x="3019" y="19770"/>
                  </a:cubicBezTo>
                  <a:cubicBezTo>
                    <a:pt x="10452" y="19770"/>
                    <a:pt x="10452" y="19770"/>
                    <a:pt x="10452" y="19770"/>
                  </a:cubicBezTo>
                  <a:cubicBezTo>
                    <a:pt x="16606" y="19770"/>
                    <a:pt x="21600" y="14695"/>
                    <a:pt x="21600" y="8439"/>
                  </a:cubicBezTo>
                  <a:cubicBezTo>
                    <a:pt x="21600" y="5075"/>
                    <a:pt x="20148" y="2066"/>
                    <a:pt x="17884" y="0"/>
                  </a:cubicBezTo>
                </a:path>
              </a:pathLst>
            </a:custGeom>
            <a:solidFill>
              <a:srgbClr val="A5A3A5"/>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 name="Freeform 4390"/>
            <p:cNvSpPr/>
            <p:nvPr>
              <p:custDataLst>
                <p:tags r:id="rId4"/>
              </p:custDataLst>
            </p:nvPr>
          </p:nvSpPr>
          <p:spPr>
            <a:xfrm>
              <a:off x="714290" y="547054"/>
              <a:ext cx="547056" cy="549892"/>
            </a:xfrm>
            <a:custGeom>
              <a:avLst/>
              <a:gdLst/>
              <a:ahLst/>
              <a:cxnLst>
                <a:cxn ang="0">
                  <a:pos x="wd2" y="hd2"/>
                </a:cxn>
                <a:cxn ang="5400000">
                  <a:pos x="wd2" y="hd2"/>
                </a:cxn>
                <a:cxn ang="10800000">
                  <a:pos x="wd2" y="hd2"/>
                </a:cxn>
                <a:cxn ang="16200000">
                  <a:pos x="wd2" y="hd2"/>
                </a:cxn>
              </a:cxnLst>
              <a:rect l="0" t="0" r="r" b="b"/>
              <a:pathLst>
                <a:path w="21600" h="21600" extrusionOk="0">
                  <a:moveTo>
                    <a:pt x="21600" y="8640"/>
                  </a:moveTo>
                  <a:cubicBezTo>
                    <a:pt x="21600" y="15795"/>
                    <a:pt x="15795" y="21600"/>
                    <a:pt x="8640" y="21600"/>
                  </a:cubicBezTo>
                  <a:cubicBezTo>
                    <a:pt x="0" y="21600"/>
                    <a:pt x="0" y="21600"/>
                    <a:pt x="0" y="21600"/>
                  </a:cubicBezTo>
                  <a:cubicBezTo>
                    <a:pt x="8640" y="21600"/>
                    <a:pt x="8640" y="21600"/>
                    <a:pt x="8640" y="21600"/>
                  </a:cubicBezTo>
                  <a:cubicBezTo>
                    <a:pt x="15795" y="21600"/>
                    <a:pt x="21600" y="15795"/>
                    <a:pt x="21600" y="8640"/>
                  </a:cubicBezTo>
                  <a:cubicBezTo>
                    <a:pt x="21600" y="8640"/>
                    <a:pt x="21600" y="8640"/>
                    <a:pt x="21600" y="8640"/>
                  </a:cubicBezTo>
                  <a:moveTo>
                    <a:pt x="21600" y="8572"/>
                  </a:moveTo>
                  <a:cubicBezTo>
                    <a:pt x="21600" y="8640"/>
                    <a:pt x="21600" y="8640"/>
                    <a:pt x="21600" y="8640"/>
                  </a:cubicBezTo>
                  <a:cubicBezTo>
                    <a:pt x="21600" y="8640"/>
                    <a:pt x="21600" y="8640"/>
                    <a:pt x="21600" y="8572"/>
                  </a:cubicBezTo>
                  <a:moveTo>
                    <a:pt x="21600" y="8572"/>
                  </a:moveTo>
                  <a:cubicBezTo>
                    <a:pt x="21600" y="8572"/>
                    <a:pt x="21600" y="8572"/>
                    <a:pt x="21600" y="8572"/>
                  </a:cubicBezTo>
                  <a:cubicBezTo>
                    <a:pt x="21600" y="8572"/>
                    <a:pt x="21600" y="8572"/>
                    <a:pt x="21600" y="8572"/>
                  </a:cubicBezTo>
                  <a:moveTo>
                    <a:pt x="21600" y="8505"/>
                  </a:moveTo>
                  <a:cubicBezTo>
                    <a:pt x="21600" y="8505"/>
                    <a:pt x="21600" y="8572"/>
                    <a:pt x="21600" y="8572"/>
                  </a:cubicBezTo>
                  <a:cubicBezTo>
                    <a:pt x="21600" y="8572"/>
                    <a:pt x="21600" y="8505"/>
                    <a:pt x="21600" y="8505"/>
                  </a:cubicBezTo>
                  <a:moveTo>
                    <a:pt x="21600" y="8505"/>
                  </a:moveTo>
                  <a:cubicBezTo>
                    <a:pt x="21600" y="8505"/>
                    <a:pt x="21600" y="8505"/>
                    <a:pt x="21600" y="8505"/>
                  </a:cubicBezTo>
                  <a:cubicBezTo>
                    <a:pt x="21600" y="8505"/>
                    <a:pt x="21600" y="8505"/>
                    <a:pt x="21600" y="8505"/>
                  </a:cubicBezTo>
                  <a:moveTo>
                    <a:pt x="21600" y="8438"/>
                  </a:moveTo>
                  <a:cubicBezTo>
                    <a:pt x="21600" y="8438"/>
                    <a:pt x="21600" y="8438"/>
                    <a:pt x="21600" y="8505"/>
                  </a:cubicBezTo>
                  <a:cubicBezTo>
                    <a:pt x="21600" y="8438"/>
                    <a:pt x="21600" y="8438"/>
                    <a:pt x="21600" y="8438"/>
                  </a:cubicBezTo>
                  <a:moveTo>
                    <a:pt x="18360" y="0"/>
                  </a:moveTo>
                  <a:cubicBezTo>
                    <a:pt x="20317" y="2295"/>
                    <a:pt x="21533" y="5197"/>
                    <a:pt x="21600" y="8438"/>
                  </a:cubicBezTo>
                  <a:cubicBezTo>
                    <a:pt x="21533" y="5197"/>
                    <a:pt x="20317" y="2295"/>
                    <a:pt x="18360" y="67"/>
                  </a:cubicBezTo>
                  <a:cubicBezTo>
                    <a:pt x="18360" y="67"/>
                    <a:pt x="18360" y="67"/>
                    <a:pt x="18360" y="0"/>
                  </a:cubicBezTo>
                </a:path>
              </a:pathLst>
            </a:custGeom>
            <a:solidFill>
              <a:srgbClr val="D6D5D6"/>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5" name="Freeform 4391"/>
            <p:cNvGrpSpPr/>
            <p:nvPr/>
          </p:nvGrpSpPr>
          <p:grpSpPr>
            <a:xfrm>
              <a:off x="1165027" y="547054"/>
              <a:ext cx="25401" cy="1"/>
              <a:chOff x="0" y="0"/>
              <a:chExt cx="25400" cy="0"/>
            </a:xfrm>
          </p:grpSpPr>
          <p:sp>
            <p:nvSpPr>
              <p:cNvPr id="16" name="线条"/>
              <p:cNvSpPr/>
              <p:nvPr>
                <p:custDataLst>
                  <p:tags r:id="rId5"/>
                </p:custDataLst>
              </p:nvPr>
            </p:nvSpPr>
            <p:spPr>
              <a:xfrm>
                <a:off x="0" y="0"/>
                <a:ext cx="25400" cy="0"/>
              </a:xfrm>
              <a:prstGeom prst="line">
                <a:avLst/>
              </a:prstGeom>
              <a:no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 name="线条"/>
              <p:cNvSpPr/>
              <p:nvPr>
                <p:custDataLst>
                  <p:tags r:id="rId6"/>
                </p:custDataLst>
              </p:nvPr>
            </p:nvSpPr>
            <p:spPr>
              <a:xfrm flipH="1" flipV="1">
                <a:off x="0" y="-1"/>
                <a:ext cx="25400" cy="1"/>
              </a:xfrm>
              <a:prstGeom prst="line">
                <a:avLst/>
              </a:prstGeom>
              <a:no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grpSp>
        <p:nvGrpSpPr>
          <p:cNvPr id="18" name="组合 17"/>
          <p:cNvGrpSpPr/>
          <p:nvPr/>
        </p:nvGrpSpPr>
        <p:grpSpPr>
          <a:xfrm>
            <a:off x="8193058" y="4270944"/>
            <a:ext cx="3118633" cy="2871445"/>
            <a:chOff x="7198886" y="1925853"/>
            <a:chExt cx="3667225" cy="3232489"/>
          </a:xfrm>
        </p:grpSpPr>
        <p:grpSp>
          <p:nvGrpSpPr>
            <p:cNvPr id="19" name="组合 18"/>
            <p:cNvGrpSpPr/>
            <p:nvPr/>
          </p:nvGrpSpPr>
          <p:grpSpPr>
            <a:xfrm>
              <a:off x="7198886" y="1925853"/>
              <a:ext cx="3667225" cy="3232489"/>
              <a:chOff x="6944627" y="-461747"/>
              <a:chExt cx="3667225" cy="3232489"/>
            </a:xfrm>
          </p:grpSpPr>
          <p:sp>
            <p:nvSpPr>
              <p:cNvPr id="39" name="梯形 38"/>
              <p:cNvSpPr/>
              <p:nvPr>
                <p:custDataLst>
                  <p:tags r:id="rId7"/>
                </p:custDataLst>
              </p:nvPr>
            </p:nvSpPr>
            <p:spPr>
              <a:xfrm>
                <a:off x="8152597" y="2026296"/>
                <a:ext cx="1251284" cy="668690"/>
              </a:xfrm>
              <a:prstGeom prst="trapezoid">
                <a:avLst>
                  <a:gd name="adj" fmla="val 278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矩形: 圆顶角 39"/>
              <p:cNvSpPr/>
              <p:nvPr>
                <p:custDataLst>
                  <p:tags r:id="rId8"/>
                </p:custDataLst>
              </p:nvPr>
            </p:nvSpPr>
            <p:spPr>
              <a:xfrm>
                <a:off x="6944627" y="-461747"/>
                <a:ext cx="3667225" cy="2357924"/>
              </a:xfrm>
              <a:prstGeom prst="round2SameRect">
                <a:avLst>
                  <a:gd name="adj1" fmla="val 4421"/>
                  <a:gd name="adj2" fmla="val 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1" name="矩形: 圆角 40"/>
              <p:cNvSpPr/>
              <p:nvPr>
                <p:custDataLst>
                  <p:tags r:id="rId9"/>
                </p:custDataLst>
              </p:nvPr>
            </p:nvSpPr>
            <p:spPr>
              <a:xfrm>
                <a:off x="7034655" y="-339212"/>
                <a:ext cx="3489159" cy="2143344"/>
              </a:xfrm>
              <a:prstGeom prst="roundRect">
                <a:avLst>
                  <a:gd name="adj" fmla="val 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矩形: 圆顶角 41"/>
              <p:cNvSpPr/>
              <p:nvPr>
                <p:custDataLst>
                  <p:tags r:id="rId10"/>
                </p:custDataLst>
              </p:nvPr>
            </p:nvSpPr>
            <p:spPr>
              <a:xfrm flipV="1">
                <a:off x="6944627" y="1896177"/>
                <a:ext cx="3667225" cy="247167"/>
              </a:xfrm>
              <a:prstGeom prst="round2SameRect">
                <a:avLst>
                  <a:gd name="adj1" fmla="val 22505"/>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3" name="矩形: 圆顶角 42"/>
              <p:cNvSpPr/>
              <p:nvPr>
                <p:custDataLst>
                  <p:tags r:id="rId11"/>
                </p:custDataLst>
              </p:nvPr>
            </p:nvSpPr>
            <p:spPr>
              <a:xfrm>
                <a:off x="7883312" y="2619230"/>
                <a:ext cx="1789854" cy="151512"/>
              </a:xfrm>
              <a:prstGeom prst="round2SameRect">
                <a:avLst>
                  <a:gd name="adj1" fmla="val 50000"/>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20" name="组合 19"/>
            <p:cNvGrpSpPr/>
            <p:nvPr/>
          </p:nvGrpSpPr>
          <p:grpSpPr>
            <a:xfrm>
              <a:off x="9399108" y="2305903"/>
              <a:ext cx="1167319" cy="1610083"/>
              <a:chOff x="1954302" y="3582658"/>
              <a:chExt cx="1762124" cy="2248484"/>
            </a:xfrm>
          </p:grpSpPr>
          <p:sp>
            <p:nvSpPr>
              <p:cNvPr id="32" name="矩形 31"/>
              <p:cNvSpPr/>
              <p:nvPr>
                <p:custDataLst>
                  <p:tags r:id="rId12"/>
                </p:custDataLst>
              </p:nvPr>
            </p:nvSpPr>
            <p:spPr>
              <a:xfrm>
                <a:off x="1954302" y="5785423"/>
                <a:ext cx="1762124" cy="45719"/>
              </a:xfrm>
              <a:prstGeom prst="rect">
                <a:avLst/>
              </a:prstGeom>
              <a:solidFill>
                <a:srgbClr val="FF8A31"/>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33" name="组合 32"/>
              <p:cNvGrpSpPr/>
              <p:nvPr/>
            </p:nvGrpSpPr>
            <p:grpSpPr>
              <a:xfrm>
                <a:off x="2149249" y="4203097"/>
                <a:ext cx="1319349" cy="1540927"/>
                <a:chOff x="2234438" y="3860441"/>
                <a:chExt cx="1413592" cy="1989653"/>
              </a:xfrm>
            </p:grpSpPr>
            <p:sp>
              <p:nvSpPr>
                <p:cNvPr id="35" name="矩形 34"/>
                <p:cNvSpPr/>
                <p:nvPr>
                  <p:custDataLst>
                    <p:tags r:id="rId13"/>
                  </p:custDataLst>
                </p:nvPr>
              </p:nvSpPr>
              <p:spPr>
                <a:xfrm>
                  <a:off x="2234438" y="4346829"/>
                  <a:ext cx="249509" cy="1503265"/>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矩形 35"/>
                <p:cNvSpPr/>
                <p:nvPr>
                  <p:custDataLst>
                    <p:tags r:id="rId14"/>
                  </p:custDataLst>
                </p:nvPr>
              </p:nvSpPr>
              <p:spPr>
                <a:xfrm>
                  <a:off x="2628779" y="4008806"/>
                  <a:ext cx="249509" cy="1841288"/>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7" name="矩形 36"/>
                <p:cNvSpPr/>
                <p:nvPr>
                  <p:custDataLst>
                    <p:tags r:id="rId15"/>
                  </p:custDataLst>
                </p:nvPr>
              </p:nvSpPr>
              <p:spPr>
                <a:xfrm>
                  <a:off x="3025842" y="4249315"/>
                  <a:ext cx="249509" cy="1600779"/>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8" name="矩形 37"/>
                <p:cNvSpPr/>
                <p:nvPr>
                  <p:custDataLst>
                    <p:tags r:id="rId16"/>
                  </p:custDataLst>
                </p:nvPr>
              </p:nvSpPr>
              <p:spPr>
                <a:xfrm>
                  <a:off x="3398521" y="3860441"/>
                  <a:ext cx="249509" cy="1989653"/>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sp>
            <p:nvSpPr>
              <p:cNvPr id="34" name="任意多边形: 形状 33"/>
              <p:cNvSpPr/>
              <p:nvPr>
                <p:custDataLst>
                  <p:tags r:id="rId17"/>
                </p:custDataLst>
              </p:nvPr>
            </p:nvSpPr>
            <p:spPr>
              <a:xfrm>
                <a:off x="2179460" y="3582658"/>
                <a:ext cx="1289139" cy="557765"/>
              </a:xfrm>
              <a:custGeom>
                <a:avLst/>
                <a:gdLst>
                  <a:gd name="connsiteX0" fmla="*/ 0 w 1075266"/>
                  <a:gd name="connsiteY0" fmla="*/ 474134 h 474134"/>
                  <a:gd name="connsiteX1" fmla="*/ 351366 w 1075266"/>
                  <a:gd name="connsiteY1" fmla="*/ 114300 h 474134"/>
                  <a:gd name="connsiteX2" fmla="*/ 715433 w 1075266"/>
                  <a:gd name="connsiteY2" fmla="*/ 321734 h 474134"/>
                  <a:gd name="connsiteX3" fmla="*/ 1075266 w 1075266"/>
                  <a:gd name="connsiteY3" fmla="*/ 0 h 474134"/>
                </a:gdLst>
                <a:ahLst/>
                <a:cxnLst>
                  <a:cxn ang="0">
                    <a:pos x="connsiteX0" y="connsiteY0"/>
                  </a:cxn>
                  <a:cxn ang="0">
                    <a:pos x="connsiteX1" y="connsiteY1"/>
                  </a:cxn>
                  <a:cxn ang="0">
                    <a:pos x="connsiteX2" y="connsiteY2"/>
                  </a:cxn>
                  <a:cxn ang="0">
                    <a:pos x="connsiteX3" y="connsiteY3"/>
                  </a:cxn>
                </a:cxnLst>
                <a:rect l="l" t="t" r="r" b="b"/>
                <a:pathLst>
                  <a:path w="1075266" h="474134">
                    <a:moveTo>
                      <a:pt x="0" y="474134"/>
                    </a:moveTo>
                    <a:lnTo>
                      <a:pt x="351366" y="114300"/>
                    </a:lnTo>
                    <a:lnTo>
                      <a:pt x="715433" y="321734"/>
                    </a:lnTo>
                    <a:lnTo>
                      <a:pt x="1075266" y="0"/>
                    </a:lnTo>
                  </a:path>
                </a:pathLst>
              </a:custGeom>
              <a:noFill/>
              <a:ln w="50800">
                <a:solidFill>
                  <a:srgbClr val="1D41D5"/>
                </a:solidFill>
                <a:headEnd type="none"/>
                <a:tailEnd type="stealth"/>
              </a:ln>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21" name="组合 20"/>
            <p:cNvGrpSpPr/>
            <p:nvPr/>
          </p:nvGrpSpPr>
          <p:grpSpPr>
            <a:xfrm>
              <a:off x="7490345" y="2354346"/>
              <a:ext cx="1579687" cy="1578525"/>
              <a:chOff x="7490345" y="2333046"/>
              <a:chExt cx="1579687" cy="1578525"/>
            </a:xfrm>
          </p:grpSpPr>
          <p:sp>
            <p:nvSpPr>
              <p:cNvPr id="22" name="矩形 21"/>
              <p:cNvSpPr/>
              <p:nvPr>
                <p:custDataLst>
                  <p:tags r:id="rId18"/>
                </p:custDataLst>
              </p:nvPr>
            </p:nvSpPr>
            <p:spPr>
              <a:xfrm>
                <a:off x="7490346" y="2333046"/>
                <a:ext cx="964679" cy="966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3" name="矩形 22"/>
              <p:cNvSpPr/>
              <p:nvPr>
                <p:custDataLst>
                  <p:tags r:id="rId19"/>
                </p:custDataLst>
              </p:nvPr>
            </p:nvSpPr>
            <p:spPr>
              <a:xfrm>
                <a:off x="7490345" y="2559810"/>
                <a:ext cx="1535787"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4" name="矩形 23"/>
              <p:cNvSpPr/>
              <p:nvPr>
                <p:custDataLst>
                  <p:tags r:id="rId20"/>
                </p:custDataLst>
              </p:nvPr>
            </p:nvSpPr>
            <p:spPr>
              <a:xfrm>
                <a:off x="7490346" y="2726783"/>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5" name="矩形 24"/>
              <p:cNvSpPr/>
              <p:nvPr>
                <p:custDataLst>
                  <p:tags r:id="rId21"/>
                </p:custDataLst>
              </p:nvPr>
            </p:nvSpPr>
            <p:spPr>
              <a:xfrm>
                <a:off x="7490346" y="2893756"/>
                <a:ext cx="13403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6" name="矩形 25"/>
              <p:cNvSpPr/>
              <p:nvPr>
                <p:custDataLst>
                  <p:tags r:id="rId22"/>
                </p:custDataLst>
              </p:nvPr>
            </p:nvSpPr>
            <p:spPr>
              <a:xfrm>
                <a:off x="7490346" y="3060729"/>
                <a:ext cx="1103344"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7" name="矩形 26"/>
              <p:cNvSpPr/>
              <p:nvPr>
                <p:custDataLst>
                  <p:tags r:id="rId23"/>
                </p:custDataLst>
              </p:nvPr>
            </p:nvSpPr>
            <p:spPr>
              <a:xfrm>
                <a:off x="7490346" y="3227702"/>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8" name="矩形 27"/>
              <p:cNvSpPr/>
              <p:nvPr>
                <p:custDataLst>
                  <p:tags r:id="rId24"/>
                </p:custDataLst>
              </p:nvPr>
            </p:nvSpPr>
            <p:spPr>
              <a:xfrm>
                <a:off x="7490346" y="3453938"/>
                <a:ext cx="647225" cy="1178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9" name="矩形 28"/>
              <p:cNvSpPr/>
              <p:nvPr>
                <p:custDataLst>
                  <p:tags r:id="rId25"/>
                </p:custDataLst>
              </p:nvPr>
            </p:nvSpPr>
            <p:spPr>
              <a:xfrm>
                <a:off x="8317252" y="3453938"/>
                <a:ext cx="208681" cy="1178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0" name="矩形 29"/>
              <p:cNvSpPr/>
              <p:nvPr>
                <p:custDataLst>
                  <p:tags r:id="rId26"/>
                </p:custDataLst>
              </p:nvPr>
            </p:nvSpPr>
            <p:spPr>
              <a:xfrm>
                <a:off x="7490346" y="3680987"/>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矩形 30"/>
              <p:cNvSpPr/>
              <p:nvPr>
                <p:custDataLst>
                  <p:tags r:id="rId27"/>
                </p:custDataLst>
              </p:nvPr>
            </p:nvSpPr>
            <p:spPr>
              <a:xfrm>
                <a:off x="7490345" y="3842085"/>
                <a:ext cx="1579687" cy="6948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grpSp>
        <p:nvGrpSpPr>
          <p:cNvPr id="45" name="组合 44"/>
          <p:cNvGrpSpPr/>
          <p:nvPr/>
        </p:nvGrpSpPr>
        <p:grpSpPr>
          <a:xfrm>
            <a:off x="7129513" y="4880448"/>
            <a:ext cx="1086104" cy="1934331"/>
            <a:chOff x="6734340" y="3532686"/>
            <a:chExt cx="1277118" cy="2177415"/>
          </a:xfrm>
        </p:grpSpPr>
        <p:sp>
          <p:nvSpPr>
            <p:cNvPr id="46" name="任意多边形: 形状 45"/>
            <p:cNvSpPr/>
            <p:nvPr>
              <p:custDataLst>
                <p:tags r:id="rId28"/>
              </p:custDataLst>
            </p:nvPr>
          </p:nvSpPr>
          <p:spPr>
            <a:xfrm>
              <a:off x="6734340" y="3532686"/>
              <a:ext cx="1277118" cy="2177415"/>
            </a:xfrm>
            <a:custGeom>
              <a:avLst/>
              <a:gdLst>
                <a:gd name="connsiteX0" fmla="*/ 125879 w 1277118"/>
                <a:gd name="connsiteY0" fmla="*/ 0 h 2177415"/>
                <a:gd name="connsiteX1" fmla="*/ 1148165 w 1277118"/>
                <a:gd name="connsiteY1" fmla="*/ 0 h 2177415"/>
                <a:gd name="connsiteX2" fmla="*/ 1277118 w 1277118"/>
                <a:gd name="connsiteY2" fmla="*/ 128940 h 2177415"/>
                <a:gd name="connsiteX3" fmla="*/ 1277118 w 1277118"/>
                <a:gd name="connsiteY3" fmla="*/ 175410 h 2177415"/>
                <a:gd name="connsiteX4" fmla="*/ 1277118 w 1277118"/>
                <a:gd name="connsiteY4" fmla="*/ 205986 h 2177415"/>
                <a:gd name="connsiteX5" fmla="*/ 1277118 w 1277118"/>
                <a:gd name="connsiteY5" fmla="*/ 209241 h 2177415"/>
                <a:gd name="connsiteX6" fmla="*/ 1277118 w 1277118"/>
                <a:gd name="connsiteY6" fmla="*/ 319283 h 2177415"/>
                <a:gd name="connsiteX7" fmla="*/ 1277118 w 1277118"/>
                <a:gd name="connsiteY7" fmla="*/ 1858132 h 2177415"/>
                <a:gd name="connsiteX8" fmla="*/ 1277118 w 1277118"/>
                <a:gd name="connsiteY8" fmla="*/ 1904603 h 2177415"/>
                <a:gd name="connsiteX9" fmla="*/ 1277118 w 1277118"/>
                <a:gd name="connsiteY9" fmla="*/ 1918945 h 2177415"/>
                <a:gd name="connsiteX10" fmla="*/ 1277118 w 1277118"/>
                <a:gd name="connsiteY10" fmla="*/ 1938433 h 2177415"/>
                <a:gd name="connsiteX11" fmla="*/ 1277118 w 1277118"/>
                <a:gd name="connsiteY11" fmla="*/ 2048475 h 2177415"/>
                <a:gd name="connsiteX12" fmla="*/ 1148165 w 1277118"/>
                <a:gd name="connsiteY12" fmla="*/ 2177415 h 2177415"/>
                <a:gd name="connsiteX13" fmla="*/ 125879 w 1277118"/>
                <a:gd name="connsiteY13" fmla="*/ 2177415 h 2177415"/>
                <a:gd name="connsiteX14" fmla="*/ 0 w 1277118"/>
                <a:gd name="connsiteY14" fmla="*/ 2048475 h 2177415"/>
                <a:gd name="connsiteX15" fmla="*/ 0 w 1277118"/>
                <a:gd name="connsiteY15" fmla="*/ 1920960 h 2177415"/>
                <a:gd name="connsiteX16" fmla="*/ 0 w 1277118"/>
                <a:gd name="connsiteY16" fmla="*/ 1918945 h 2177415"/>
                <a:gd name="connsiteX17" fmla="*/ 0 w 1277118"/>
                <a:gd name="connsiteY17" fmla="*/ 1858132 h 2177415"/>
                <a:gd name="connsiteX18" fmla="*/ 0 w 1277118"/>
                <a:gd name="connsiteY18" fmla="*/ 319283 h 2177415"/>
                <a:gd name="connsiteX19" fmla="*/ 0 w 1277118"/>
                <a:gd name="connsiteY19" fmla="*/ 238982 h 2177415"/>
                <a:gd name="connsiteX20" fmla="*/ 0 w 1277118"/>
                <a:gd name="connsiteY20" fmla="*/ 205986 h 2177415"/>
                <a:gd name="connsiteX21" fmla="*/ 0 w 1277118"/>
                <a:gd name="connsiteY21" fmla="*/ 191768 h 2177415"/>
                <a:gd name="connsiteX22" fmla="*/ 0 w 1277118"/>
                <a:gd name="connsiteY22" fmla="*/ 128940 h 2177415"/>
                <a:gd name="connsiteX23" fmla="*/ 125879 w 1277118"/>
                <a:gd name="connsiteY23" fmla="*/ 0 h 217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77118" h="2177415">
                  <a:moveTo>
                    <a:pt x="125879" y="0"/>
                  </a:moveTo>
                  <a:cubicBezTo>
                    <a:pt x="125879" y="0"/>
                    <a:pt x="125879" y="0"/>
                    <a:pt x="1148165" y="0"/>
                  </a:cubicBezTo>
                  <a:cubicBezTo>
                    <a:pt x="1218761" y="0"/>
                    <a:pt x="1277118" y="58328"/>
                    <a:pt x="1277118" y="128940"/>
                  </a:cubicBezTo>
                  <a:cubicBezTo>
                    <a:pt x="1277118" y="128940"/>
                    <a:pt x="1277118" y="128940"/>
                    <a:pt x="1277118" y="175410"/>
                  </a:cubicBezTo>
                  <a:lnTo>
                    <a:pt x="1277118" y="205986"/>
                  </a:lnTo>
                  <a:lnTo>
                    <a:pt x="1277118" y="209241"/>
                  </a:lnTo>
                  <a:cubicBezTo>
                    <a:pt x="1277118" y="236008"/>
                    <a:pt x="1277118" y="271697"/>
                    <a:pt x="1277118" y="319283"/>
                  </a:cubicBezTo>
                  <a:lnTo>
                    <a:pt x="1277118" y="1858132"/>
                  </a:lnTo>
                  <a:cubicBezTo>
                    <a:pt x="1277118" y="1858132"/>
                    <a:pt x="1277118" y="1858132"/>
                    <a:pt x="1277118" y="1904603"/>
                  </a:cubicBezTo>
                  <a:lnTo>
                    <a:pt x="1277118" y="1918945"/>
                  </a:lnTo>
                  <a:lnTo>
                    <a:pt x="1277118" y="1938433"/>
                  </a:lnTo>
                  <a:cubicBezTo>
                    <a:pt x="1277118" y="1965200"/>
                    <a:pt x="1277118" y="2000889"/>
                    <a:pt x="1277118" y="2048475"/>
                  </a:cubicBezTo>
                  <a:cubicBezTo>
                    <a:pt x="1277118" y="2119087"/>
                    <a:pt x="1218761" y="2177415"/>
                    <a:pt x="1148165" y="2177415"/>
                  </a:cubicBezTo>
                  <a:cubicBezTo>
                    <a:pt x="1148165" y="2177415"/>
                    <a:pt x="1148165" y="2177415"/>
                    <a:pt x="125879" y="2177415"/>
                  </a:cubicBezTo>
                  <a:cubicBezTo>
                    <a:pt x="55283" y="2177415"/>
                    <a:pt x="0" y="2119087"/>
                    <a:pt x="0" y="2048475"/>
                  </a:cubicBezTo>
                  <a:cubicBezTo>
                    <a:pt x="0" y="2048475"/>
                    <a:pt x="0" y="2048475"/>
                    <a:pt x="0" y="1920960"/>
                  </a:cubicBezTo>
                  <a:lnTo>
                    <a:pt x="0" y="1918945"/>
                  </a:lnTo>
                  <a:lnTo>
                    <a:pt x="0" y="1858132"/>
                  </a:lnTo>
                  <a:lnTo>
                    <a:pt x="0" y="319283"/>
                  </a:lnTo>
                  <a:cubicBezTo>
                    <a:pt x="0" y="319283"/>
                    <a:pt x="0" y="319283"/>
                    <a:pt x="0" y="238982"/>
                  </a:cubicBezTo>
                  <a:lnTo>
                    <a:pt x="0" y="205986"/>
                  </a:lnTo>
                  <a:lnTo>
                    <a:pt x="0" y="191768"/>
                  </a:lnTo>
                  <a:cubicBezTo>
                    <a:pt x="0" y="173552"/>
                    <a:pt x="0" y="152733"/>
                    <a:pt x="0" y="128940"/>
                  </a:cubicBezTo>
                  <a:cubicBezTo>
                    <a:pt x="0" y="58328"/>
                    <a:pt x="55283" y="0"/>
                    <a:pt x="125879" y="0"/>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sz="3200">
                <a:solidFill>
                  <a:schemeClr val="lt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7" name="Rectangle 4361"/>
            <p:cNvSpPr/>
            <p:nvPr>
              <p:custDataLst>
                <p:tags r:id="rId29"/>
              </p:custDataLst>
            </p:nvPr>
          </p:nvSpPr>
          <p:spPr>
            <a:xfrm>
              <a:off x="6805291" y="3634807"/>
              <a:ext cx="1130145" cy="1952609"/>
            </a:xfrm>
            <a:prstGeom prst="rect">
              <a:avLst/>
            </a:prstGeom>
            <a:solidFill>
              <a:schemeClr val="bg1">
                <a:lumMod val="95000"/>
              </a:schemeClr>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8" name="Freeform 4377"/>
            <p:cNvSpPr/>
            <p:nvPr>
              <p:custDataLst>
                <p:tags r:id="rId30"/>
              </p:custDataLst>
            </p:nvPr>
          </p:nvSpPr>
          <p:spPr>
            <a:xfrm>
              <a:off x="6876242"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00" y="21600"/>
                    <a:pt x="16114" y="21600"/>
                  </a:cubicBezTo>
                  <a:cubicBezTo>
                    <a:pt x="5486" y="21600"/>
                    <a:pt x="5486" y="21600"/>
                    <a:pt x="5486" y="21600"/>
                  </a:cubicBezTo>
                  <a:cubicBezTo>
                    <a:pt x="2400" y="21600"/>
                    <a:pt x="0" y="19200"/>
                    <a:pt x="0" y="16114"/>
                  </a:cubicBezTo>
                  <a:cubicBezTo>
                    <a:pt x="0" y="5486"/>
                    <a:pt x="0" y="5486"/>
                    <a:pt x="0" y="5486"/>
                  </a:cubicBezTo>
                  <a:cubicBezTo>
                    <a:pt x="0" y="2400"/>
                    <a:pt x="2400" y="0"/>
                    <a:pt x="5486" y="0"/>
                  </a:cubicBezTo>
                  <a:cubicBezTo>
                    <a:pt x="16114" y="0"/>
                    <a:pt x="16114" y="0"/>
                    <a:pt x="16114" y="0"/>
                  </a:cubicBezTo>
                  <a:cubicBezTo>
                    <a:pt x="192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9" name="Freeform 4378"/>
            <p:cNvSpPr/>
            <p:nvPr>
              <p:custDataLst>
                <p:tags r:id="rId31"/>
              </p:custDataLst>
            </p:nvPr>
          </p:nvSpPr>
          <p:spPr>
            <a:xfrm>
              <a:off x="7139774" y="5324927"/>
              <a:ext cx="197649"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37" y="21600"/>
                    <a:pt x="16200" y="21600"/>
                  </a:cubicBezTo>
                  <a:cubicBezTo>
                    <a:pt x="5400" y="21600"/>
                    <a:pt x="5400" y="21600"/>
                    <a:pt x="5400" y="21600"/>
                  </a:cubicBezTo>
                  <a:cubicBezTo>
                    <a:pt x="2700" y="21600"/>
                    <a:pt x="0" y="19200"/>
                    <a:pt x="0" y="16114"/>
                  </a:cubicBezTo>
                  <a:cubicBezTo>
                    <a:pt x="0" y="5486"/>
                    <a:pt x="0" y="5486"/>
                    <a:pt x="0" y="5486"/>
                  </a:cubicBezTo>
                  <a:cubicBezTo>
                    <a:pt x="0" y="2400"/>
                    <a:pt x="2700" y="0"/>
                    <a:pt x="5400" y="0"/>
                  </a:cubicBezTo>
                  <a:cubicBezTo>
                    <a:pt x="16200" y="0"/>
                    <a:pt x="16200" y="0"/>
                    <a:pt x="16200" y="0"/>
                  </a:cubicBezTo>
                  <a:cubicBezTo>
                    <a:pt x="19237"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0" name="Freeform 4379"/>
            <p:cNvSpPr/>
            <p:nvPr>
              <p:custDataLst>
                <p:tags r:id="rId32"/>
              </p:custDataLst>
            </p:nvPr>
          </p:nvSpPr>
          <p:spPr>
            <a:xfrm>
              <a:off x="7408372"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8900" y="21600"/>
                    <a:pt x="16200" y="21600"/>
                  </a:cubicBezTo>
                  <a:cubicBezTo>
                    <a:pt x="5400" y="21600"/>
                    <a:pt x="5400" y="21600"/>
                    <a:pt x="5400" y="21600"/>
                  </a:cubicBezTo>
                  <a:cubicBezTo>
                    <a:pt x="2362" y="21600"/>
                    <a:pt x="0" y="19200"/>
                    <a:pt x="0" y="16114"/>
                  </a:cubicBezTo>
                  <a:cubicBezTo>
                    <a:pt x="0" y="5486"/>
                    <a:pt x="0" y="5486"/>
                    <a:pt x="0" y="5486"/>
                  </a:cubicBezTo>
                  <a:cubicBezTo>
                    <a:pt x="0" y="2400"/>
                    <a:pt x="2362" y="0"/>
                    <a:pt x="5400" y="0"/>
                  </a:cubicBezTo>
                  <a:cubicBezTo>
                    <a:pt x="16200" y="0"/>
                    <a:pt x="16200" y="0"/>
                    <a:pt x="16200" y="0"/>
                  </a:cubicBezTo>
                  <a:cubicBezTo>
                    <a:pt x="189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1" name="Freeform 4380"/>
            <p:cNvSpPr/>
            <p:nvPr>
              <p:custDataLst>
                <p:tags r:id="rId33"/>
              </p:custDataLst>
            </p:nvPr>
          </p:nvSpPr>
          <p:spPr>
            <a:xfrm>
              <a:off x="7671903"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00" y="21600"/>
                    <a:pt x="16114" y="21600"/>
                  </a:cubicBezTo>
                  <a:cubicBezTo>
                    <a:pt x="5486" y="21600"/>
                    <a:pt x="5486" y="21600"/>
                    <a:pt x="5486" y="21600"/>
                  </a:cubicBezTo>
                  <a:cubicBezTo>
                    <a:pt x="2400" y="21600"/>
                    <a:pt x="0" y="19200"/>
                    <a:pt x="0" y="16114"/>
                  </a:cubicBezTo>
                  <a:cubicBezTo>
                    <a:pt x="0" y="5486"/>
                    <a:pt x="0" y="5486"/>
                    <a:pt x="0" y="5486"/>
                  </a:cubicBezTo>
                  <a:cubicBezTo>
                    <a:pt x="0" y="2400"/>
                    <a:pt x="2400" y="0"/>
                    <a:pt x="5486" y="0"/>
                  </a:cubicBezTo>
                  <a:cubicBezTo>
                    <a:pt x="16114" y="0"/>
                    <a:pt x="16114" y="0"/>
                    <a:pt x="16114" y="0"/>
                  </a:cubicBezTo>
                  <a:cubicBezTo>
                    <a:pt x="192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57" name="组合 56"/>
          <p:cNvGrpSpPr/>
          <p:nvPr/>
        </p:nvGrpSpPr>
        <p:grpSpPr>
          <a:xfrm>
            <a:off x="10792467" y="5771002"/>
            <a:ext cx="1307896" cy="980287"/>
            <a:chOff x="11332293" y="4413896"/>
            <a:chExt cx="484965" cy="348128"/>
          </a:xfrm>
        </p:grpSpPr>
        <p:sp>
          <p:nvSpPr>
            <p:cNvPr id="58" name="Freeform 376"/>
            <p:cNvSpPr/>
            <p:nvPr>
              <p:custDataLst>
                <p:tags r:id="rId34"/>
              </p:custDataLst>
            </p:nvPr>
          </p:nvSpPr>
          <p:spPr>
            <a:xfrm>
              <a:off x="11511388" y="4669457"/>
              <a:ext cx="126775" cy="92567"/>
            </a:xfrm>
            <a:custGeom>
              <a:avLst/>
              <a:gdLst/>
              <a:ahLst/>
              <a:cxnLst>
                <a:cxn ang="0">
                  <a:pos x="wd2" y="hd2"/>
                </a:cxn>
                <a:cxn ang="5400000">
                  <a:pos x="wd2" y="hd2"/>
                </a:cxn>
                <a:cxn ang="10800000">
                  <a:pos x="wd2" y="hd2"/>
                </a:cxn>
                <a:cxn ang="16200000">
                  <a:pos x="wd2" y="hd2"/>
                </a:cxn>
              </a:cxnLst>
              <a:rect l="0" t="0" r="r" b="b"/>
              <a:pathLst>
                <a:path w="21600" h="21600" extrusionOk="0">
                  <a:moveTo>
                    <a:pt x="0" y="5959"/>
                  </a:moveTo>
                  <a:cubicBezTo>
                    <a:pt x="10800" y="21600"/>
                    <a:pt x="10800" y="21600"/>
                    <a:pt x="10800" y="21600"/>
                  </a:cubicBezTo>
                  <a:cubicBezTo>
                    <a:pt x="21600" y="5959"/>
                    <a:pt x="21600" y="5959"/>
                    <a:pt x="21600" y="5959"/>
                  </a:cubicBezTo>
                  <a:cubicBezTo>
                    <a:pt x="18900" y="2234"/>
                    <a:pt x="15120" y="0"/>
                    <a:pt x="10800" y="0"/>
                  </a:cubicBezTo>
                  <a:cubicBezTo>
                    <a:pt x="6480" y="0"/>
                    <a:pt x="2700" y="2234"/>
                    <a:pt x="0" y="5959"/>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9" name="Freeform 377"/>
            <p:cNvSpPr/>
            <p:nvPr>
              <p:custDataLst>
                <p:tags r:id="rId35"/>
              </p:custDataLst>
            </p:nvPr>
          </p:nvSpPr>
          <p:spPr>
            <a:xfrm>
              <a:off x="11422846" y="4542683"/>
              <a:ext cx="305870" cy="114702"/>
            </a:xfrm>
            <a:custGeom>
              <a:avLst/>
              <a:gdLst/>
              <a:ahLst/>
              <a:cxnLst>
                <a:cxn ang="0">
                  <a:pos x="wd2" y="hd2"/>
                </a:cxn>
                <a:cxn ang="5400000">
                  <a:pos x="wd2" y="hd2"/>
                </a:cxn>
                <a:cxn ang="10800000">
                  <a:pos x="wd2" y="hd2"/>
                </a:cxn>
                <a:cxn ang="16200000">
                  <a:pos x="wd2" y="hd2"/>
                </a:cxn>
              </a:cxnLst>
              <a:rect l="0" t="0" r="r" b="b"/>
              <a:pathLst>
                <a:path w="21600" h="21600" extrusionOk="0">
                  <a:moveTo>
                    <a:pt x="0" y="11400"/>
                  </a:moveTo>
                  <a:cubicBezTo>
                    <a:pt x="3600" y="21600"/>
                    <a:pt x="3600" y="21600"/>
                    <a:pt x="3600" y="21600"/>
                  </a:cubicBezTo>
                  <a:cubicBezTo>
                    <a:pt x="5625" y="16800"/>
                    <a:pt x="8100" y="13800"/>
                    <a:pt x="10800" y="13800"/>
                  </a:cubicBezTo>
                  <a:cubicBezTo>
                    <a:pt x="13500" y="13800"/>
                    <a:pt x="15975" y="16800"/>
                    <a:pt x="18000" y="21600"/>
                  </a:cubicBezTo>
                  <a:cubicBezTo>
                    <a:pt x="21600" y="11400"/>
                    <a:pt x="21600" y="11400"/>
                    <a:pt x="21600" y="11400"/>
                  </a:cubicBezTo>
                  <a:cubicBezTo>
                    <a:pt x="18675" y="4200"/>
                    <a:pt x="15075" y="0"/>
                    <a:pt x="10800" y="0"/>
                  </a:cubicBezTo>
                  <a:cubicBezTo>
                    <a:pt x="6525" y="0"/>
                    <a:pt x="2925" y="4200"/>
                    <a:pt x="0" y="11400"/>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0" name="Freeform 378"/>
            <p:cNvSpPr/>
            <p:nvPr>
              <p:custDataLst>
                <p:tags r:id="rId36"/>
              </p:custDataLst>
            </p:nvPr>
          </p:nvSpPr>
          <p:spPr>
            <a:xfrm>
              <a:off x="11332293" y="4413896"/>
              <a:ext cx="484965" cy="15092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6679" y="0"/>
                    <a:pt x="2842" y="5055"/>
                    <a:pt x="0" y="13787"/>
                  </a:cubicBezTo>
                  <a:cubicBezTo>
                    <a:pt x="2274" y="21600"/>
                    <a:pt x="2274" y="21600"/>
                    <a:pt x="2274" y="21600"/>
                  </a:cubicBezTo>
                  <a:cubicBezTo>
                    <a:pt x="3411" y="18383"/>
                    <a:pt x="4689" y="15626"/>
                    <a:pt x="5968" y="13787"/>
                  </a:cubicBezTo>
                  <a:cubicBezTo>
                    <a:pt x="7532" y="11489"/>
                    <a:pt x="9095" y="10570"/>
                    <a:pt x="10800" y="10570"/>
                  </a:cubicBezTo>
                  <a:cubicBezTo>
                    <a:pt x="12505" y="10570"/>
                    <a:pt x="14068" y="11489"/>
                    <a:pt x="15632" y="13787"/>
                  </a:cubicBezTo>
                  <a:cubicBezTo>
                    <a:pt x="16911" y="15626"/>
                    <a:pt x="18189" y="18383"/>
                    <a:pt x="19326" y="21600"/>
                  </a:cubicBezTo>
                  <a:cubicBezTo>
                    <a:pt x="21600" y="13787"/>
                    <a:pt x="21600" y="13787"/>
                    <a:pt x="21600" y="13787"/>
                  </a:cubicBezTo>
                  <a:cubicBezTo>
                    <a:pt x="18758" y="5055"/>
                    <a:pt x="14921" y="0"/>
                    <a:pt x="10800" y="0"/>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p:cTn id="23" dur="500" fill="hold"/>
                                        <p:tgtEl>
                                          <p:spTgt spid="57"/>
                                        </p:tgtEl>
                                        <p:attrNameLst>
                                          <p:attrName>ppt_w</p:attrName>
                                        </p:attrNameLst>
                                      </p:cBhvr>
                                      <p:tavLst>
                                        <p:tav tm="0">
                                          <p:val>
                                            <p:fltVal val="0"/>
                                          </p:val>
                                        </p:tav>
                                        <p:tav tm="100000">
                                          <p:val>
                                            <p:strVal val="#ppt_w"/>
                                          </p:val>
                                        </p:tav>
                                      </p:tavLst>
                                    </p:anim>
                                    <p:anim calcmode="lin" valueType="num">
                                      <p:cBhvr>
                                        <p:cTn id="24" dur="500" fill="hold"/>
                                        <p:tgtEl>
                                          <p:spTgt spid="57"/>
                                        </p:tgtEl>
                                        <p:attrNameLst>
                                          <p:attrName>ppt_h</p:attrName>
                                        </p:attrNameLst>
                                      </p:cBhvr>
                                      <p:tavLst>
                                        <p:tav tm="0">
                                          <p:val>
                                            <p:strVal val="#ppt_h"/>
                                          </p:val>
                                        </p:tav>
                                        <p:tav tm="100000">
                                          <p:val>
                                            <p:strVal val="#ppt_h"/>
                                          </p:val>
                                        </p:tav>
                                      </p:tavLst>
                                    </p:anim>
                                  </p:childTnLst>
                                </p:cTn>
                              </p:par>
                              <p:par>
                                <p:cTn id="25" presetID="3" presetClass="entr" presetSubtype="10" fill="hold" grpId="0" nodeType="withEffect">
                                  <p:stCondLst>
                                    <p:cond delay="0"/>
                                  </p:stCondLst>
                                  <p:iterate type="lt">
                                    <p:tmPct val="20000"/>
                                  </p:iterate>
                                  <p:childTnLst>
                                    <p:set>
                                      <p:cBhvr>
                                        <p:cTn id="26" dur="1" fill="hold">
                                          <p:stCondLst>
                                            <p:cond delay="0"/>
                                          </p:stCondLst>
                                        </p:cTn>
                                        <p:tgtEl>
                                          <p:spTgt spid="2">
                                            <p:txEl>
                                              <p:pRg st="0" end="0"/>
                                            </p:txEl>
                                          </p:spTgt>
                                        </p:tgtEl>
                                        <p:attrNameLst>
                                          <p:attrName>style.visibility</p:attrName>
                                        </p:attrNameLst>
                                      </p:cBhvr>
                                      <p:to>
                                        <p:strVal val="visible"/>
                                      </p:to>
                                    </p:set>
                                    <p:animEffect transition="in" filter="blinds(horizontal)">
                                      <p:cBhvr>
                                        <p:cTn id="27" dur="500"/>
                                        <p:tgtEl>
                                          <p:spTgt spid="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iterate type="lt">
                                    <p:tmPct val="20000"/>
                                  </p:iterate>
                                  <p:childTnLst>
                                    <p:set>
                                      <p:cBhvr>
                                        <p:cTn id="31" dur="1" fill="hold">
                                          <p:stCondLst>
                                            <p:cond delay="0"/>
                                          </p:stCondLst>
                                        </p:cTn>
                                        <p:tgtEl>
                                          <p:spTgt spid="7">
                                            <p:txEl>
                                              <p:pRg st="0" end="0"/>
                                            </p:txEl>
                                          </p:spTgt>
                                        </p:tgtEl>
                                        <p:attrNameLst>
                                          <p:attrName>style.visibility</p:attrName>
                                        </p:attrNameLst>
                                      </p:cBhvr>
                                      <p:to>
                                        <p:strVal val="visible"/>
                                      </p:to>
                                    </p:set>
                                    <p:animEffect transition="in" filter="blinds(horizontal)">
                                      <p:cBhvr>
                                        <p:cTn id="3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 grpId="0" build="p"/>
      <p:bldP spid="9"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1199563" y="2197081"/>
            <a:ext cx="4528927" cy="317719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 name="矩形 2"/>
          <p:cNvSpPr/>
          <p:nvPr/>
        </p:nvSpPr>
        <p:spPr>
          <a:xfrm>
            <a:off x="944096" y="152679"/>
            <a:ext cx="6746671"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完成任务达成的技能目标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圆角矩形 3"/>
          <p:cNvSpPr/>
          <p:nvPr/>
        </p:nvSpPr>
        <p:spPr>
          <a:xfrm>
            <a:off x="1236050" y="1877980"/>
            <a:ext cx="2969643" cy="55363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 name="椭圆 5"/>
          <p:cNvSpPr/>
          <p:nvPr/>
        </p:nvSpPr>
        <p:spPr>
          <a:xfrm>
            <a:off x="662844" y="1665923"/>
            <a:ext cx="959850" cy="959850"/>
          </a:xfrm>
          <a:prstGeom prst="ellipse">
            <a:avLst/>
          </a:prstGeom>
          <a:solidFill>
            <a:schemeClr val="bg1">
              <a:lumMod val="95000"/>
            </a:schemeClr>
          </a:solid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rPr>
              <a:t>01</a:t>
            </a:r>
            <a:endPar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空心弧 7"/>
          <p:cNvSpPr/>
          <p:nvPr/>
        </p:nvSpPr>
        <p:spPr>
          <a:xfrm rot="1740000">
            <a:off x="485628" y="1482465"/>
            <a:ext cx="1439775" cy="1439775"/>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 name="Text2"/>
          <p:cNvSpPr txBox="1"/>
          <p:nvPr/>
        </p:nvSpPr>
        <p:spPr>
          <a:xfrm>
            <a:off x="1663448" y="1922846"/>
            <a:ext cx="2443945" cy="508767"/>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任务描述</a:t>
            </a:r>
            <a:r>
              <a:rPr lang="en-US" altLang="zh-CN" sz="3200" b="1">
                <a:solidFill>
                  <a:schemeClr val="accent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endParaRPr lang="en-US" altLang="zh-CN" sz="3200" b="1">
              <a:solidFill>
                <a:schemeClr val="accent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sp>
        <p:nvSpPr>
          <p:cNvPr id="56" name="圆角矩形 55"/>
          <p:cNvSpPr/>
          <p:nvPr>
            <p:custDataLst>
              <p:tags r:id="rId1"/>
            </p:custDataLst>
          </p:nvPr>
        </p:nvSpPr>
        <p:spPr>
          <a:xfrm>
            <a:off x="6977894" y="2151833"/>
            <a:ext cx="4985321" cy="322244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2" name="圆角矩形 61"/>
          <p:cNvSpPr/>
          <p:nvPr>
            <p:custDataLst>
              <p:tags r:id="rId2"/>
            </p:custDataLst>
          </p:nvPr>
        </p:nvSpPr>
        <p:spPr>
          <a:xfrm>
            <a:off x="6978741" y="1880942"/>
            <a:ext cx="2969643" cy="55363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3" name="椭圆 62"/>
          <p:cNvSpPr/>
          <p:nvPr>
            <p:custDataLst>
              <p:tags r:id="rId3"/>
            </p:custDataLst>
          </p:nvPr>
        </p:nvSpPr>
        <p:spPr>
          <a:xfrm>
            <a:off x="6503836" y="1665923"/>
            <a:ext cx="959850" cy="959850"/>
          </a:xfrm>
          <a:prstGeom prst="ellipse">
            <a:avLst/>
          </a:prstGeom>
          <a:solidFill>
            <a:schemeClr val="bg1">
              <a:lumMod val="95000"/>
            </a:schemeClr>
          </a:solid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rPr>
              <a:t>02</a:t>
            </a:r>
            <a:endPar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4" name="空心弧 63"/>
          <p:cNvSpPr/>
          <p:nvPr>
            <p:custDataLst>
              <p:tags r:id="rId4"/>
            </p:custDataLst>
          </p:nvPr>
        </p:nvSpPr>
        <p:spPr>
          <a:xfrm rot="1740000">
            <a:off x="6263960" y="1437217"/>
            <a:ext cx="1439775" cy="1439775"/>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5" name="Text2"/>
          <p:cNvSpPr txBox="1"/>
          <p:nvPr>
            <p:custDataLst>
              <p:tags r:id="rId5"/>
            </p:custDataLst>
          </p:nvPr>
        </p:nvSpPr>
        <p:spPr>
          <a:xfrm>
            <a:off x="7462450" y="1890921"/>
            <a:ext cx="2247637" cy="55363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技能目标</a:t>
            </a:r>
            <a:r>
              <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sp>
        <p:nvSpPr>
          <p:cNvPr id="5" name="文本框 4"/>
          <p:cNvSpPr txBox="1"/>
          <p:nvPr/>
        </p:nvSpPr>
        <p:spPr>
          <a:xfrm>
            <a:off x="1681731" y="2537064"/>
            <a:ext cx="3824682" cy="1671320"/>
          </a:xfrm>
          <a:prstGeom prst="rect">
            <a:avLst/>
          </a:prstGeom>
          <a:noFill/>
        </p:spPr>
        <p:txBody>
          <a:bodyPr wrap="square" rtlCol="0">
            <a:spAutoFit/>
          </a:bodyPr>
          <a:lstStyle/>
          <a:p>
            <a:pPr>
              <a:lnSpc>
                <a:spcPct val="120000"/>
              </a:lnSpc>
              <a:defRPr/>
            </a:pPr>
            <a:r>
              <a:rPr lang="zh-CN" altLang="en-US"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本任务讲解登录页的设计和开发过程，使用输入组件、按钮组件、开关组件和提示框模块，完成登录页的开发。</a:t>
            </a:r>
            <a:endParaRPr lang="en-US" altLang="zh-CN" sz="2135" kern="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nvGrpSpPr>
          <p:cNvPr id="11" name="组合 10"/>
          <p:cNvGrpSpPr/>
          <p:nvPr/>
        </p:nvGrpSpPr>
        <p:grpSpPr>
          <a:xfrm>
            <a:off x="7093213" y="2556697"/>
            <a:ext cx="4214048" cy="435965"/>
            <a:chOff x="3644" y="2232"/>
            <a:chExt cx="4978" cy="515"/>
          </a:xfrm>
        </p:grpSpPr>
        <p:sp>
          <p:nvSpPr>
            <p:cNvPr id="12" name="文本框 11"/>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能正确设置输入组件的属性</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3" name="椭圆 12"/>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14" name="组合 13"/>
          <p:cNvGrpSpPr/>
          <p:nvPr/>
        </p:nvGrpSpPr>
        <p:grpSpPr>
          <a:xfrm>
            <a:off x="7101678" y="3009615"/>
            <a:ext cx="4642395" cy="781351"/>
            <a:chOff x="3644" y="3228"/>
            <a:chExt cx="5484" cy="923"/>
          </a:xfrm>
        </p:grpSpPr>
        <p:sp>
          <p:nvSpPr>
            <p:cNvPr id="15" name="文本框 14"/>
            <p:cNvSpPr txBox="1"/>
            <p:nvPr/>
          </p:nvSpPr>
          <p:spPr>
            <a:xfrm>
              <a:off x="4098" y="3228"/>
              <a:ext cx="5030" cy="923"/>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能使用合适的按钮组件并处理按钮的事件</a:t>
              </a:r>
              <a:endPar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6" name="椭圆 15"/>
            <p:cNvSpPr/>
            <p:nvPr/>
          </p:nvSpPr>
          <p:spPr>
            <a:xfrm>
              <a:off x="3644" y="3332"/>
              <a:ext cx="431" cy="42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18" name="组合 17"/>
          <p:cNvGrpSpPr/>
          <p:nvPr/>
        </p:nvGrpSpPr>
        <p:grpSpPr>
          <a:xfrm>
            <a:off x="7101678" y="3726061"/>
            <a:ext cx="4443459" cy="435965"/>
            <a:chOff x="3644" y="4164"/>
            <a:chExt cx="5249" cy="515"/>
          </a:xfrm>
        </p:grpSpPr>
        <p:sp>
          <p:nvSpPr>
            <p:cNvPr id="19" name="文本框 18"/>
            <p:cNvSpPr txBox="1"/>
            <p:nvPr/>
          </p:nvSpPr>
          <p:spPr>
            <a:xfrm>
              <a:off x="4098" y="4164"/>
              <a:ext cx="4795"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能使用开关组件并处理开关的事件</a:t>
              </a:r>
              <a:endPar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0" name="椭圆 19"/>
            <p:cNvSpPr/>
            <p:nvPr/>
          </p:nvSpPr>
          <p:spPr>
            <a:xfrm>
              <a:off x="3644" y="4227"/>
              <a:ext cx="431" cy="41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3</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21" name="组合 20"/>
          <p:cNvGrpSpPr/>
          <p:nvPr/>
        </p:nvGrpSpPr>
        <p:grpSpPr>
          <a:xfrm>
            <a:off x="7093213" y="4247503"/>
            <a:ext cx="6476835" cy="435965"/>
            <a:chOff x="3644" y="5256"/>
            <a:chExt cx="7651" cy="515"/>
          </a:xfrm>
        </p:grpSpPr>
        <p:sp>
          <p:nvSpPr>
            <p:cNvPr id="22" name="文本框 21"/>
            <p:cNvSpPr txBox="1"/>
            <p:nvPr/>
          </p:nvSpPr>
          <p:spPr>
            <a:xfrm>
              <a:off x="4098" y="5256"/>
              <a:ext cx="7197"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能正确导入消息提示模块并完成消息提示</a:t>
              </a:r>
              <a:endPar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3" name="椭圆 22"/>
            <p:cNvSpPr/>
            <p:nvPr/>
          </p:nvSpPr>
          <p:spPr>
            <a:xfrm>
              <a:off x="3644" y="5319"/>
              <a:ext cx="431" cy="389"/>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4</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7" name="组合 6"/>
          <p:cNvGrpSpPr/>
          <p:nvPr/>
        </p:nvGrpSpPr>
        <p:grpSpPr>
          <a:xfrm>
            <a:off x="7093213" y="4721442"/>
            <a:ext cx="6476835" cy="435965"/>
            <a:chOff x="3644" y="5256"/>
            <a:chExt cx="7651" cy="515"/>
          </a:xfrm>
        </p:grpSpPr>
        <p:sp>
          <p:nvSpPr>
            <p:cNvPr id="9" name="文本框 8"/>
            <p:cNvSpPr txBox="1"/>
            <p:nvPr/>
          </p:nvSpPr>
          <p:spPr>
            <a:xfrm>
              <a:off x="4098" y="5256"/>
              <a:ext cx="7197"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能完成登录页面的开发</a:t>
              </a:r>
              <a:endPar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0" name="椭圆 9"/>
            <p:cNvSpPr/>
            <p:nvPr/>
          </p:nvSpPr>
          <p:spPr>
            <a:xfrm>
              <a:off x="3644" y="5319"/>
              <a:ext cx="431" cy="389"/>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5</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par>
                                <p:cTn id="9" presetID="21" presetClass="entr" presetSubtype="1" fill="hold" grpId="0" nodeType="withEffect">
                                  <p:stCondLst>
                                    <p:cond delay="200"/>
                                  </p:stCondLst>
                                  <p:childTnLst>
                                    <p:set>
                                      <p:cBhvr>
                                        <p:cTn id="10" dur="1000" fill="hold">
                                          <p:stCondLst>
                                            <p:cond delay="0"/>
                                          </p:stCondLst>
                                        </p:cTn>
                                        <p:tgtEl>
                                          <p:spTgt spid="6"/>
                                        </p:tgtEl>
                                        <p:attrNameLst>
                                          <p:attrName>style.visibility</p:attrName>
                                        </p:attrNameLst>
                                      </p:cBhvr>
                                      <p:to>
                                        <p:strVal val="visible"/>
                                      </p:to>
                                    </p:set>
                                    <p:animEffect transition="in" filter="wheel(1)">
                                      <p:cBhvr>
                                        <p:cTn id="11" dur="1000"/>
                                        <p:tgtEl>
                                          <p:spTgt spid="6"/>
                                        </p:tgtEl>
                                      </p:cBhvr>
                                    </p:animEffect>
                                  </p:childTnLst>
                                </p:cTn>
                              </p:par>
                              <p:par>
                                <p:cTn id="12" presetID="21" presetClass="entr" presetSubtype="1" fill="hold" grpId="0" nodeType="withEffect">
                                  <p:stCondLst>
                                    <p:cond delay="200"/>
                                  </p:stCondLst>
                                  <p:childTnLst>
                                    <p:set>
                                      <p:cBhvr>
                                        <p:cTn id="13" dur="1000" fill="hold">
                                          <p:stCondLst>
                                            <p:cond delay="0"/>
                                          </p:stCondLst>
                                        </p:cTn>
                                        <p:tgtEl>
                                          <p:spTgt spid="8"/>
                                        </p:tgtEl>
                                        <p:attrNameLst>
                                          <p:attrName>style.visibility</p:attrName>
                                        </p:attrNameLst>
                                      </p:cBhvr>
                                      <p:to>
                                        <p:strVal val="visible"/>
                                      </p:to>
                                    </p:set>
                                    <p:animEffect transition="in" filter="wheel(1)">
                                      <p:cBhvr>
                                        <p:cTn id="14" dur="1000"/>
                                        <p:tgtEl>
                                          <p:spTgt spid="8"/>
                                        </p:tgtEl>
                                      </p:cBhvr>
                                    </p:animEffect>
                                  </p:childTnLst>
                                </p:cTn>
                              </p:par>
                              <p:par>
                                <p:cTn id="15" presetID="17" presetClass="entr" presetSubtype="8" fill="hold" grpId="0" nodeType="withEffect">
                                  <p:stCondLst>
                                    <p:cond delay="0"/>
                                  </p:stCondLst>
                                  <p:childTnLst>
                                    <p:set>
                                      <p:cBhvr additive="base">
                                        <p:cTn id="16" dur="500"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anim calcmode="lin" valueType="num">
                                      <p:cBhvr additive="base">
                                        <p:cTn id="19" dur="500" fill="hold"/>
                                        <p:tgtEl>
                                          <p:spTgt spid="4"/>
                                        </p:tgtEl>
                                        <p:attrNameLst>
                                          <p:attrName>ppt_w</p:attrName>
                                        </p:attrNameLst>
                                      </p:cBhvr>
                                      <p:tavLst>
                                        <p:tav tm="0">
                                          <p:val>
                                            <p:fltVal val="0"/>
                                          </p:val>
                                        </p:tav>
                                        <p:tav tm="100000">
                                          <p:val>
                                            <p:strVal val="#ppt_w"/>
                                          </p:val>
                                        </p:tav>
                                      </p:tavLst>
                                    </p:anim>
                                    <p:anim calcmode="lin" valueType="num">
                                      <p:cBhvr additive="base">
                                        <p:cTn id="20" dur="500" fill="hold"/>
                                        <p:tgtEl>
                                          <p:spTgt spid="4"/>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iterate type="lt">
                                    <p:tmPct val="20000"/>
                                  </p:iterate>
                                  <p:childTnLst>
                                    <p:set>
                                      <p:cBhvr>
                                        <p:cTn id="22" dur="1" fill="hold">
                                          <p:stCondLst>
                                            <p:cond delay="0"/>
                                          </p:stCondLst>
                                        </p:cTn>
                                        <p:tgtEl>
                                          <p:spTgt spid="2">
                                            <p:txEl>
                                              <p:pRg st="0" end="0"/>
                                            </p:txEl>
                                          </p:spTgt>
                                        </p:tgtEl>
                                        <p:attrNameLst>
                                          <p:attrName>style.visibility</p:attrName>
                                        </p:attrNameLst>
                                      </p:cBhvr>
                                      <p:to>
                                        <p:strVal val="visible"/>
                                      </p:to>
                                    </p:set>
                                    <p:anim calcmode="lin" valueType="num">
                                      <p:cBhvr>
                                        <p:cTn id="23"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2">
                                            <p:txEl>
                                              <p:pRg st="0" end="0"/>
                                            </p:txEl>
                                          </p:spTgt>
                                        </p:tgtEl>
                                        <p:attrNameLst>
                                          <p:attrName>ppt_h</p:attrName>
                                        </p:attrNameLst>
                                      </p:cBhvr>
                                      <p:tavLst>
                                        <p:tav tm="0">
                                          <p:val>
                                            <p:strVal val="#ppt_h"/>
                                          </p:val>
                                        </p:tav>
                                        <p:tav tm="100000">
                                          <p:val>
                                            <p:strVal val="#ppt_h"/>
                                          </p:val>
                                        </p:tav>
                                      </p:tavLst>
                                    </p:anim>
                                  </p:childTnLst>
                                </p:cTn>
                              </p:par>
                              <p:par>
                                <p:cTn id="25" presetID="20" presetClass="entr" presetSubtype="0" fill="hold" grpId="0" nodeType="withEffect">
                                  <p:stCondLst>
                                    <p:cond delay="0"/>
                                  </p:stCondLst>
                                  <p:childTnLst>
                                    <p:set>
                                      <p:cBhvr>
                                        <p:cTn id="26" dur="1000" fill="hold">
                                          <p:stCondLst>
                                            <p:cond delay="0"/>
                                          </p:stCondLst>
                                        </p:cTn>
                                        <p:tgtEl>
                                          <p:spTgt spid="55"/>
                                        </p:tgtEl>
                                        <p:attrNameLst>
                                          <p:attrName>style.visibility</p:attrName>
                                        </p:attrNameLst>
                                      </p:cBhvr>
                                      <p:to>
                                        <p:strVal val="visible"/>
                                      </p:to>
                                    </p:set>
                                    <p:animEffect transition="in" filter="wedge">
                                      <p:cBhvr>
                                        <p:cTn id="27" dur="1000"/>
                                        <p:tgtEl>
                                          <p:spTgt spid="55"/>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p:cTn id="30"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31"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32" dur="10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000" fill="hold">
                                          <p:stCondLst>
                                            <p:cond delay="0"/>
                                          </p:stCondLst>
                                        </p:cTn>
                                        <p:tgtEl>
                                          <p:spTgt spid="63"/>
                                        </p:tgtEl>
                                        <p:attrNameLst>
                                          <p:attrName>style.visibility</p:attrName>
                                        </p:attrNameLst>
                                      </p:cBhvr>
                                      <p:to>
                                        <p:strVal val="visible"/>
                                      </p:to>
                                    </p:set>
                                    <p:animEffect transition="in" filter="wheel(1)">
                                      <p:cBhvr>
                                        <p:cTn id="37" dur="1000"/>
                                        <p:tgtEl>
                                          <p:spTgt spid="63"/>
                                        </p:tgtEl>
                                      </p:cBhvr>
                                    </p:animEffect>
                                  </p:childTnLst>
                                </p:cTn>
                              </p:par>
                            </p:childTnLst>
                          </p:cTn>
                        </p:par>
                        <p:par>
                          <p:cTn id="38" fill="hold">
                            <p:stCondLst>
                              <p:cond delay="1000"/>
                            </p:stCondLst>
                            <p:childTnLst>
                              <p:par>
                                <p:cTn id="39" presetID="21" presetClass="entr" presetSubtype="1" fill="hold" grpId="0" nodeType="afterEffect">
                                  <p:stCondLst>
                                    <p:cond delay="0"/>
                                  </p:stCondLst>
                                  <p:childTnLst>
                                    <p:set>
                                      <p:cBhvr>
                                        <p:cTn id="40" dur="1000" fill="hold">
                                          <p:stCondLst>
                                            <p:cond delay="0"/>
                                          </p:stCondLst>
                                        </p:cTn>
                                        <p:tgtEl>
                                          <p:spTgt spid="64"/>
                                        </p:tgtEl>
                                        <p:attrNameLst>
                                          <p:attrName>style.visibility</p:attrName>
                                        </p:attrNameLst>
                                      </p:cBhvr>
                                      <p:to>
                                        <p:strVal val="visible"/>
                                      </p:to>
                                    </p:set>
                                    <p:animEffect transition="in" filter="wheel(1)">
                                      <p:cBhvr>
                                        <p:cTn id="41" dur="1000"/>
                                        <p:tgtEl>
                                          <p:spTgt spid="64"/>
                                        </p:tgtEl>
                                      </p:cBhvr>
                                    </p:animEffect>
                                  </p:childTnLst>
                                </p:cTn>
                              </p:par>
                              <p:par>
                                <p:cTn id="42" presetID="17" presetClass="entr" presetSubtype="8" fill="hold" grpId="0" nodeType="withEffect">
                                  <p:stCondLst>
                                    <p:cond delay="0"/>
                                  </p:stCondLst>
                                  <p:childTnLst>
                                    <p:set>
                                      <p:cBhvr additive="base">
                                        <p:cTn id="43" dur="500" fill="hold">
                                          <p:stCondLst>
                                            <p:cond delay="0"/>
                                          </p:stCondLst>
                                        </p:cTn>
                                        <p:tgtEl>
                                          <p:spTgt spid="62"/>
                                        </p:tgtEl>
                                        <p:attrNameLst>
                                          <p:attrName>style.visibility</p:attrName>
                                        </p:attrNameLst>
                                      </p:cBhvr>
                                      <p:to>
                                        <p:strVal val="visible"/>
                                      </p:to>
                                    </p:set>
                                    <p:anim calcmode="lin" valueType="num">
                                      <p:cBhvr additive="base">
                                        <p:cTn id="44" dur="500" fill="hold"/>
                                        <p:tgtEl>
                                          <p:spTgt spid="62"/>
                                        </p:tgtEl>
                                        <p:attrNameLst>
                                          <p:attrName>ppt_x</p:attrName>
                                        </p:attrNameLst>
                                      </p:cBhvr>
                                      <p:tavLst>
                                        <p:tav tm="0">
                                          <p:val>
                                            <p:strVal val="#ppt_x-#ppt_w/2"/>
                                          </p:val>
                                        </p:tav>
                                        <p:tav tm="100000">
                                          <p:val>
                                            <p:strVal val="#ppt_x"/>
                                          </p:val>
                                        </p:tav>
                                      </p:tavLst>
                                    </p:anim>
                                    <p:anim calcmode="lin" valueType="num">
                                      <p:cBhvr additive="base">
                                        <p:cTn id="45" dur="500" fill="hold"/>
                                        <p:tgtEl>
                                          <p:spTgt spid="62"/>
                                        </p:tgtEl>
                                        <p:attrNameLst>
                                          <p:attrName>ppt_y</p:attrName>
                                        </p:attrNameLst>
                                      </p:cBhvr>
                                      <p:tavLst>
                                        <p:tav tm="0">
                                          <p:val>
                                            <p:strVal val="#ppt_y"/>
                                          </p:val>
                                        </p:tav>
                                        <p:tav tm="100000">
                                          <p:val>
                                            <p:strVal val="#ppt_y"/>
                                          </p:val>
                                        </p:tav>
                                      </p:tavLst>
                                    </p:anim>
                                    <p:anim calcmode="lin" valueType="num">
                                      <p:cBhvr additive="base">
                                        <p:cTn id="46" dur="500" fill="hold"/>
                                        <p:tgtEl>
                                          <p:spTgt spid="62"/>
                                        </p:tgtEl>
                                        <p:attrNameLst>
                                          <p:attrName>ppt_w</p:attrName>
                                        </p:attrNameLst>
                                      </p:cBhvr>
                                      <p:tavLst>
                                        <p:tav tm="0">
                                          <p:val>
                                            <p:fltVal val="0"/>
                                          </p:val>
                                        </p:tav>
                                        <p:tav tm="100000">
                                          <p:val>
                                            <p:strVal val="#ppt_w"/>
                                          </p:val>
                                        </p:tav>
                                      </p:tavLst>
                                    </p:anim>
                                    <p:anim calcmode="lin" valueType="num">
                                      <p:cBhvr additive="base">
                                        <p:cTn id="47" dur="500" fill="hold"/>
                                        <p:tgtEl>
                                          <p:spTgt spid="62"/>
                                        </p:tgtEl>
                                        <p:attrNameLst>
                                          <p:attrName>ppt_h</p:attrName>
                                        </p:attrNameLst>
                                      </p:cBhvr>
                                      <p:tavLst>
                                        <p:tav tm="0">
                                          <p:val>
                                            <p:strVal val="#ppt_h"/>
                                          </p:val>
                                        </p:tav>
                                        <p:tav tm="100000">
                                          <p:val>
                                            <p:strVal val="#ppt_h"/>
                                          </p:val>
                                        </p:tav>
                                      </p:tavLst>
                                    </p:anim>
                                  </p:childTnLst>
                                </p:cTn>
                              </p:par>
                              <p:par>
                                <p:cTn id="48" presetID="17" presetClass="entr" presetSubtype="10" fill="hold" nodeType="withEffect">
                                  <p:stCondLst>
                                    <p:cond delay="0"/>
                                  </p:stCondLst>
                                  <p:iterate type="lt">
                                    <p:tmPct val="20000"/>
                                  </p:iterate>
                                  <p:childTnLst>
                                    <p:set>
                                      <p:cBhvr>
                                        <p:cTn id="49" dur="1" fill="hold">
                                          <p:stCondLst>
                                            <p:cond delay="0"/>
                                          </p:stCondLst>
                                        </p:cTn>
                                        <p:tgtEl>
                                          <p:spTgt spid="65">
                                            <p:txEl>
                                              <p:pRg st="0" end="0"/>
                                            </p:txEl>
                                          </p:spTgt>
                                        </p:tgtEl>
                                        <p:attrNameLst>
                                          <p:attrName>style.visibility</p:attrName>
                                        </p:attrNameLst>
                                      </p:cBhvr>
                                      <p:to>
                                        <p:strVal val="visible"/>
                                      </p:to>
                                    </p:set>
                                    <p:anim calcmode="lin" valueType="num">
                                      <p:cBhvr>
                                        <p:cTn id="50" dur="500" fill="hold"/>
                                        <p:tgtEl>
                                          <p:spTgt spid="65">
                                            <p:txEl>
                                              <p:pRg st="0" end="0"/>
                                            </p:txEl>
                                          </p:spTgt>
                                        </p:tgtEl>
                                        <p:attrNameLst>
                                          <p:attrName>ppt_w</p:attrName>
                                        </p:attrNameLst>
                                      </p:cBhvr>
                                      <p:tavLst>
                                        <p:tav tm="0">
                                          <p:val>
                                            <p:fltVal val="0"/>
                                          </p:val>
                                        </p:tav>
                                        <p:tav tm="100000">
                                          <p:val>
                                            <p:strVal val="#ppt_w"/>
                                          </p:val>
                                        </p:tav>
                                      </p:tavLst>
                                    </p:anim>
                                    <p:anim calcmode="lin" valueType="num">
                                      <p:cBhvr>
                                        <p:cTn id="51" dur="500" fill="hold"/>
                                        <p:tgtEl>
                                          <p:spTgt spid="65">
                                            <p:txEl>
                                              <p:pRg st="0" end="0"/>
                                            </p:txEl>
                                          </p:spTgt>
                                        </p:tgtEl>
                                        <p:attrNameLst>
                                          <p:attrName>ppt_h</p:attrName>
                                        </p:attrNameLst>
                                      </p:cBhvr>
                                      <p:tavLst>
                                        <p:tav tm="0">
                                          <p:val>
                                            <p:strVal val="#ppt_h"/>
                                          </p:val>
                                        </p:tav>
                                        <p:tav tm="100000">
                                          <p:val>
                                            <p:strVal val="#ppt_h"/>
                                          </p:val>
                                        </p:tav>
                                      </p:tavLst>
                                    </p:anim>
                                  </p:childTnLst>
                                </p:cTn>
                              </p:par>
                            </p:childTnLst>
                          </p:cTn>
                        </p:par>
                        <p:par>
                          <p:cTn id="52" fill="hold">
                            <p:stCondLst>
                              <p:cond delay="2000"/>
                            </p:stCondLst>
                            <p:childTnLst>
                              <p:par>
                                <p:cTn id="53" presetID="20" presetClass="entr" presetSubtype="0" fill="hold" grpId="0" nodeType="afterEffect">
                                  <p:stCondLst>
                                    <p:cond delay="0"/>
                                  </p:stCondLst>
                                  <p:childTnLst>
                                    <p:set>
                                      <p:cBhvr>
                                        <p:cTn id="54" dur="1000" fill="hold">
                                          <p:stCondLst>
                                            <p:cond delay="0"/>
                                          </p:stCondLst>
                                        </p:cTn>
                                        <p:tgtEl>
                                          <p:spTgt spid="56"/>
                                        </p:tgtEl>
                                        <p:attrNameLst>
                                          <p:attrName>style.visibility</p:attrName>
                                        </p:attrNameLst>
                                      </p:cBhvr>
                                      <p:to>
                                        <p:strVal val="visible"/>
                                      </p:to>
                                    </p:set>
                                    <p:animEffect transition="in" filter="wedge">
                                      <p:cBhvr>
                                        <p:cTn id="55" dur="10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2" decel="100000"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500" fill="hold"/>
                                        <p:tgtEl>
                                          <p:spTgt spid="11"/>
                                        </p:tgtEl>
                                        <p:attrNameLst>
                                          <p:attrName>ppt_x</p:attrName>
                                        </p:attrNameLst>
                                      </p:cBhvr>
                                      <p:tavLst>
                                        <p:tav tm="0">
                                          <p:val>
                                            <p:strVal val="1+#ppt_w/2"/>
                                          </p:val>
                                        </p:tav>
                                        <p:tav tm="100000">
                                          <p:val>
                                            <p:strVal val="#ppt_x"/>
                                          </p:val>
                                        </p:tav>
                                      </p:tavLst>
                                    </p:anim>
                                    <p:anim calcmode="lin" valueType="num">
                                      <p:cBhvr additive="base">
                                        <p:cTn id="61"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decel="100000" fill="hold" nodeType="clickEffect">
                                  <p:stCondLst>
                                    <p:cond delay="0"/>
                                  </p:stCondLst>
                                  <p:childTnLst>
                                    <p:set>
                                      <p:cBhvr>
                                        <p:cTn id="65" dur="1" fill="hold">
                                          <p:stCondLst>
                                            <p:cond delay="0"/>
                                          </p:stCondLst>
                                        </p:cTn>
                                        <p:tgtEl>
                                          <p:spTgt spid="14"/>
                                        </p:tgtEl>
                                        <p:attrNameLst>
                                          <p:attrName>style.visibility</p:attrName>
                                        </p:attrNameLst>
                                      </p:cBhvr>
                                      <p:to>
                                        <p:strVal val="visible"/>
                                      </p:to>
                                    </p:set>
                                    <p:anim calcmode="lin" valueType="num">
                                      <p:cBhvr additive="base">
                                        <p:cTn id="66" dur="500" fill="hold"/>
                                        <p:tgtEl>
                                          <p:spTgt spid="14"/>
                                        </p:tgtEl>
                                        <p:attrNameLst>
                                          <p:attrName>ppt_x</p:attrName>
                                        </p:attrNameLst>
                                      </p:cBhvr>
                                      <p:tavLst>
                                        <p:tav tm="0">
                                          <p:val>
                                            <p:strVal val="1+#ppt_w/2"/>
                                          </p:val>
                                        </p:tav>
                                        <p:tav tm="100000">
                                          <p:val>
                                            <p:strVal val="#ppt_x"/>
                                          </p:val>
                                        </p:tav>
                                      </p:tavLst>
                                    </p:anim>
                                    <p:anim calcmode="lin" valueType="num">
                                      <p:cBhvr additive="base">
                                        <p:cTn id="67"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2" decel="100000" fill="hold" nodeType="click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1+#ppt_w/2"/>
                                          </p:val>
                                        </p:tav>
                                        <p:tav tm="100000">
                                          <p:val>
                                            <p:strVal val="#ppt_x"/>
                                          </p:val>
                                        </p:tav>
                                      </p:tavLst>
                                    </p:anim>
                                    <p:anim calcmode="lin" valueType="num">
                                      <p:cBhvr additive="base">
                                        <p:cTn id="73"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2" decel="100000" fill="hold" nodeType="clickEffect">
                                  <p:stCondLst>
                                    <p:cond delay="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00" fill="hold"/>
                                        <p:tgtEl>
                                          <p:spTgt spid="21"/>
                                        </p:tgtEl>
                                        <p:attrNameLst>
                                          <p:attrName>ppt_x</p:attrName>
                                        </p:attrNameLst>
                                      </p:cBhvr>
                                      <p:tavLst>
                                        <p:tav tm="0">
                                          <p:val>
                                            <p:strVal val="1+#ppt_w/2"/>
                                          </p:val>
                                        </p:tav>
                                        <p:tav tm="100000">
                                          <p:val>
                                            <p:strVal val="#ppt_x"/>
                                          </p:val>
                                        </p:tav>
                                      </p:tavLst>
                                    </p:anim>
                                    <p:anim calcmode="lin" valueType="num">
                                      <p:cBhvr additive="base">
                                        <p:cTn id="79"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2" decel="100000" fill="hold" nodeType="clickEffect">
                                  <p:stCondLst>
                                    <p:cond delay="0"/>
                                  </p:stCondLst>
                                  <p:childTnLst>
                                    <p:set>
                                      <p:cBhvr>
                                        <p:cTn id="83" dur="1" fill="hold">
                                          <p:stCondLst>
                                            <p:cond delay="0"/>
                                          </p:stCondLst>
                                        </p:cTn>
                                        <p:tgtEl>
                                          <p:spTgt spid="7"/>
                                        </p:tgtEl>
                                        <p:attrNameLst>
                                          <p:attrName>style.visibility</p:attrName>
                                        </p:attrNameLst>
                                      </p:cBhvr>
                                      <p:to>
                                        <p:strVal val="visible"/>
                                      </p:to>
                                    </p:set>
                                    <p:anim calcmode="lin" valueType="num">
                                      <p:cBhvr additive="base">
                                        <p:cTn id="84" dur="500" fill="hold"/>
                                        <p:tgtEl>
                                          <p:spTgt spid="7"/>
                                        </p:tgtEl>
                                        <p:attrNameLst>
                                          <p:attrName>ppt_x</p:attrName>
                                        </p:attrNameLst>
                                      </p:cBhvr>
                                      <p:tavLst>
                                        <p:tav tm="0">
                                          <p:val>
                                            <p:strVal val="1+#ppt_w/2"/>
                                          </p:val>
                                        </p:tav>
                                        <p:tav tm="100000">
                                          <p:val>
                                            <p:strVal val="#ppt_x"/>
                                          </p:val>
                                        </p:tav>
                                      </p:tavLst>
                                    </p:anim>
                                    <p:anim calcmode="lin" valueType="num">
                                      <p:cBhvr additive="base">
                                        <p:cTn id="85"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P spid="3" grpId="0"/>
      <p:bldP spid="4" grpId="0" bldLvl="0" animBg="1"/>
      <p:bldP spid="6" grpId="0" bldLvl="0" animBg="1"/>
      <p:bldP spid="8" grpId="0" bldLvl="0" animBg="1"/>
      <p:bldP spid="56" grpId="0" bldLvl="0" animBg="1"/>
      <p:bldP spid="62" grpId="0" bldLvl="0" animBg="1"/>
      <p:bldP spid="63" grpId="0" bldLvl="0" animBg="1"/>
      <p:bldP spid="64" grpId="0" bldLvl="0" animBg="1"/>
      <p:bldP spid="5"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48849" y="152820"/>
            <a:ext cx="6295901"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任务实施步骤</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9" name="组合 18"/>
          <p:cNvGrpSpPr/>
          <p:nvPr/>
        </p:nvGrpSpPr>
        <p:grpSpPr>
          <a:xfrm>
            <a:off x="748104" y="1444720"/>
            <a:ext cx="10519915" cy="4175557"/>
            <a:chOff x="669925" y="1108214"/>
            <a:chExt cx="10521559" cy="4176209"/>
          </a:xfrm>
        </p:grpSpPr>
        <p:sp>
          <p:nvSpPr>
            <p:cNvPr id="21" name="išļídé"/>
            <p:cNvSpPr/>
            <p:nvPr/>
          </p:nvSpPr>
          <p:spPr bwMode="auto">
            <a:xfrm>
              <a:off x="669925" y="1700809"/>
              <a:ext cx="9794527" cy="3583614"/>
            </a:xfrm>
            <a:custGeom>
              <a:avLst/>
              <a:gdLst>
                <a:gd name="T0" fmla="*/ 0 w 2828"/>
                <a:gd name="T1" fmla="*/ 856 h 1032"/>
                <a:gd name="T2" fmla="*/ 660 w 2828"/>
                <a:gd name="T3" fmla="*/ 540 h 1032"/>
                <a:gd name="T4" fmla="*/ 1232 w 2828"/>
                <a:gd name="T5" fmla="*/ 720 h 1032"/>
                <a:gd name="T6" fmla="*/ 1772 w 2828"/>
                <a:gd name="T7" fmla="*/ 320 h 1032"/>
                <a:gd name="T8" fmla="*/ 2315 w 2828"/>
                <a:gd name="T9" fmla="*/ 479 h 1032"/>
                <a:gd name="T10" fmla="*/ 2828 w 2828"/>
                <a:gd name="T11" fmla="*/ 0 h 1032"/>
              </a:gdLst>
              <a:ahLst/>
              <a:cxnLst>
                <a:cxn ang="0">
                  <a:pos x="T0" y="T1"/>
                </a:cxn>
                <a:cxn ang="0">
                  <a:pos x="T2" y="T3"/>
                </a:cxn>
                <a:cxn ang="0">
                  <a:pos x="T4" y="T5"/>
                </a:cxn>
                <a:cxn ang="0">
                  <a:pos x="T6" y="T7"/>
                </a:cxn>
                <a:cxn ang="0">
                  <a:pos x="T8" y="T9"/>
                </a:cxn>
                <a:cxn ang="0">
                  <a:pos x="T10" y="T11"/>
                </a:cxn>
              </a:cxnLst>
              <a:rect l="0" t="0" r="r" b="b"/>
              <a:pathLst>
                <a:path w="2828" h="1032">
                  <a:moveTo>
                    <a:pt x="0" y="856"/>
                  </a:moveTo>
                  <a:cubicBezTo>
                    <a:pt x="420" y="1032"/>
                    <a:pt x="464" y="536"/>
                    <a:pt x="660" y="540"/>
                  </a:cubicBezTo>
                  <a:cubicBezTo>
                    <a:pt x="856" y="544"/>
                    <a:pt x="976" y="736"/>
                    <a:pt x="1232" y="720"/>
                  </a:cubicBezTo>
                  <a:cubicBezTo>
                    <a:pt x="1488" y="704"/>
                    <a:pt x="1508" y="352"/>
                    <a:pt x="1772" y="320"/>
                  </a:cubicBezTo>
                  <a:cubicBezTo>
                    <a:pt x="2036" y="288"/>
                    <a:pt x="2063" y="491"/>
                    <a:pt x="2315" y="479"/>
                  </a:cubicBezTo>
                  <a:cubicBezTo>
                    <a:pt x="2567" y="467"/>
                    <a:pt x="2572" y="84"/>
                    <a:pt x="2828" y="0"/>
                  </a:cubicBezTo>
                </a:path>
              </a:pathLst>
            </a:custGeom>
            <a:noFill/>
            <a:ln w="15875" cap="flat">
              <a:solidFill>
                <a:schemeClr val="tx1"/>
              </a:solidFill>
              <a:prstDash val="dash"/>
              <a:miter lim="800000"/>
            </a:ln>
          </p:spPr>
          <p:txBody>
            <a:bodyPr vert="horz" wrap="square" lIns="109710" tIns="54855" rIns="109710" bIns="54855" numCol="1" anchor="t" anchorCtr="0" compatLnSpc="1"/>
            <a:lstStyle/>
            <a:p>
              <a:pPr>
                <a:lnSpc>
                  <a:spcPct val="120000"/>
                </a:lnSpc>
              </a:pPr>
              <a:endParaRPr lang="en-US" sz="2160" dirty="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7" name="iśľíḑé"/>
            <p:cNvSpPr/>
            <p:nvPr/>
          </p:nvSpPr>
          <p:spPr bwMode="auto">
            <a:xfrm>
              <a:off x="2616440" y="3258380"/>
              <a:ext cx="777020" cy="724217"/>
            </a:xfrm>
            <a:prstGeom prst="ellipse">
              <a:avLst/>
            </a:prstGeom>
            <a:solidFill>
              <a:srgbClr val="A5A5E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8" name="íṧļiḑé"/>
            <p:cNvSpPr/>
            <p:nvPr/>
          </p:nvSpPr>
          <p:spPr>
            <a:xfrm>
              <a:off x="2873120" y="3452092"/>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481" y="12956"/>
                  </a:moveTo>
                  <a:cubicBezTo>
                    <a:pt x="17070" y="12258"/>
                    <a:pt x="16576" y="11533"/>
                    <a:pt x="16011" y="10795"/>
                  </a:cubicBezTo>
                  <a:cubicBezTo>
                    <a:pt x="16573" y="10063"/>
                    <a:pt x="17072" y="9339"/>
                    <a:pt x="17481" y="8644"/>
                  </a:cubicBezTo>
                  <a:cubicBezTo>
                    <a:pt x="19410" y="9181"/>
                    <a:pt x="20618" y="9948"/>
                    <a:pt x="20618" y="10800"/>
                  </a:cubicBezTo>
                  <a:cubicBezTo>
                    <a:pt x="20618" y="11652"/>
                    <a:pt x="19410" y="12419"/>
                    <a:pt x="17481" y="12956"/>
                  </a:cubicBezTo>
                  <a:moveTo>
                    <a:pt x="17742" y="17743"/>
                  </a:moveTo>
                  <a:cubicBezTo>
                    <a:pt x="17140" y="18345"/>
                    <a:pt x="15740" y="18028"/>
                    <a:pt x="13996" y="17045"/>
                  </a:cubicBezTo>
                  <a:cubicBezTo>
                    <a:pt x="14198" y="16261"/>
                    <a:pt x="14365" y="15406"/>
                    <a:pt x="14487" y="14488"/>
                  </a:cubicBezTo>
                  <a:cubicBezTo>
                    <a:pt x="15405" y="14366"/>
                    <a:pt x="16261" y="14198"/>
                    <a:pt x="17044" y="13996"/>
                  </a:cubicBezTo>
                  <a:cubicBezTo>
                    <a:pt x="18028" y="15740"/>
                    <a:pt x="18345" y="17140"/>
                    <a:pt x="17742" y="17743"/>
                  </a:cubicBezTo>
                  <a:moveTo>
                    <a:pt x="15404" y="11561"/>
                  </a:moveTo>
                  <a:cubicBezTo>
                    <a:pt x="15837" y="12119"/>
                    <a:pt x="16219" y="12662"/>
                    <a:pt x="16554" y="13185"/>
                  </a:cubicBezTo>
                  <a:cubicBezTo>
                    <a:pt x="15950" y="13317"/>
                    <a:pt x="15295" y="13429"/>
                    <a:pt x="14597" y="13517"/>
                  </a:cubicBezTo>
                  <a:cubicBezTo>
                    <a:pt x="14631" y="13155"/>
                    <a:pt x="14655" y="12784"/>
                    <a:pt x="14677" y="12409"/>
                  </a:cubicBezTo>
                  <a:cubicBezTo>
                    <a:pt x="14930" y="12127"/>
                    <a:pt x="15170" y="11844"/>
                    <a:pt x="15404" y="11561"/>
                  </a:cubicBezTo>
                  <a:moveTo>
                    <a:pt x="15402" y="10032"/>
                  </a:moveTo>
                  <a:cubicBezTo>
                    <a:pt x="15170" y="9752"/>
                    <a:pt x="14928" y="9471"/>
                    <a:pt x="14677" y="9191"/>
                  </a:cubicBezTo>
                  <a:cubicBezTo>
                    <a:pt x="14655" y="8817"/>
                    <a:pt x="14631" y="8445"/>
                    <a:pt x="14597" y="8084"/>
                  </a:cubicBezTo>
                  <a:cubicBezTo>
                    <a:pt x="15295" y="8171"/>
                    <a:pt x="15950" y="8283"/>
                    <a:pt x="16554" y="8415"/>
                  </a:cubicBezTo>
                  <a:cubicBezTo>
                    <a:pt x="16221" y="8935"/>
                    <a:pt x="15832" y="9478"/>
                    <a:pt x="15402" y="10032"/>
                  </a:cubicBezTo>
                  <a:moveTo>
                    <a:pt x="17742" y="3857"/>
                  </a:moveTo>
                  <a:cubicBezTo>
                    <a:pt x="18345" y="4460"/>
                    <a:pt x="18028" y="5860"/>
                    <a:pt x="17044" y="7604"/>
                  </a:cubicBezTo>
                  <a:cubicBezTo>
                    <a:pt x="16261" y="7402"/>
                    <a:pt x="15405" y="7234"/>
                    <a:pt x="14487" y="7112"/>
                  </a:cubicBezTo>
                  <a:cubicBezTo>
                    <a:pt x="14365" y="6194"/>
                    <a:pt x="14198" y="5339"/>
                    <a:pt x="13996" y="4555"/>
                  </a:cubicBezTo>
                  <a:cubicBezTo>
                    <a:pt x="15740" y="3572"/>
                    <a:pt x="17140" y="3255"/>
                    <a:pt x="17742" y="3857"/>
                  </a:cubicBezTo>
                  <a:moveTo>
                    <a:pt x="13718" y="12012"/>
                  </a:moveTo>
                  <a:cubicBezTo>
                    <a:pt x="13448" y="12303"/>
                    <a:pt x="13172" y="12593"/>
                    <a:pt x="12882" y="12883"/>
                  </a:cubicBezTo>
                  <a:cubicBezTo>
                    <a:pt x="12593" y="13172"/>
                    <a:pt x="12303" y="13449"/>
                    <a:pt x="12012" y="13719"/>
                  </a:cubicBezTo>
                  <a:cubicBezTo>
                    <a:pt x="11614" y="13733"/>
                    <a:pt x="11212" y="13745"/>
                    <a:pt x="10800" y="13745"/>
                  </a:cubicBezTo>
                  <a:cubicBezTo>
                    <a:pt x="10387" y="13745"/>
                    <a:pt x="9985" y="13733"/>
                    <a:pt x="9587" y="13719"/>
                  </a:cubicBezTo>
                  <a:cubicBezTo>
                    <a:pt x="9297" y="13449"/>
                    <a:pt x="9006" y="13172"/>
                    <a:pt x="8717" y="12883"/>
                  </a:cubicBezTo>
                  <a:cubicBezTo>
                    <a:pt x="8428" y="12593"/>
                    <a:pt x="8152" y="12303"/>
                    <a:pt x="7881" y="12012"/>
                  </a:cubicBezTo>
                  <a:cubicBezTo>
                    <a:pt x="7866" y="11614"/>
                    <a:pt x="7855" y="11212"/>
                    <a:pt x="7855" y="10800"/>
                  </a:cubicBezTo>
                  <a:cubicBezTo>
                    <a:pt x="7855" y="10388"/>
                    <a:pt x="7866" y="9986"/>
                    <a:pt x="7881" y="9587"/>
                  </a:cubicBezTo>
                  <a:cubicBezTo>
                    <a:pt x="8152" y="9297"/>
                    <a:pt x="8428" y="9007"/>
                    <a:pt x="8717" y="8717"/>
                  </a:cubicBezTo>
                  <a:cubicBezTo>
                    <a:pt x="9006" y="8428"/>
                    <a:pt x="9297" y="8151"/>
                    <a:pt x="9587" y="7881"/>
                  </a:cubicBezTo>
                  <a:cubicBezTo>
                    <a:pt x="9985" y="7867"/>
                    <a:pt x="10387" y="7855"/>
                    <a:pt x="10800" y="7855"/>
                  </a:cubicBezTo>
                  <a:cubicBezTo>
                    <a:pt x="11212" y="7855"/>
                    <a:pt x="11614" y="7867"/>
                    <a:pt x="12012" y="7881"/>
                  </a:cubicBezTo>
                  <a:cubicBezTo>
                    <a:pt x="12303" y="8151"/>
                    <a:pt x="12593" y="8428"/>
                    <a:pt x="12882" y="8717"/>
                  </a:cubicBezTo>
                  <a:cubicBezTo>
                    <a:pt x="13172" y="9007"/>
                    <a:pt x="13448" y="9297"/>
                    <a:pt x="13718" y="9587"/>
                  </a:cubicBezTo>
                  <a:cubicBezTo>
                    <a:pt x="13733" y="9986"/>
                    <a:pt x="13745" y="10388"/>
                    <a:pt x="13745" y="10800"/>
                  </a:cubicBezTo>
                  <a:cubicBezTo>
                    <a:pt x="13745" y="11212"/>
                    <a:pt x="13733" y="11614"/>
                    <a:pt x="13718" y="12012"/>
                  </a:cubicBezTo>
                  <a:moveTo>
                    <a:pt x="13185" y="16555"/>
                  </a:moveTo>
                  <a:cubicBezTo>
                    <a:pt x="12662" y="16219"/>
                    <a:pt x="12120" y="15837"/>
                    <a:pt x="11561" y="15404"/>
                  </a:cubicBezTo>
                  <a:cubicBezTo>
                    <a:pt x="11844" y="15170"/>
                    <a:pt x="12127" y="14931"/>
                    <a:pt x="12409" y="14677"/>
                  </a:cubicBezTo>
                  <a:cubicBezTo>
                    <a:pt x="12783" y="14655"/>
                    <a:pt x="13155" y="14631"/>
                    <a:pt x="13517" y="14597"/>
                  </a:cubicBezTo>
                  <a:cubicBezTo>
                    <a:pt x="13429" y="15295"/>
                    <a:pt x="13316" y="15950"/>
                    <a:pt x="13185" y="16555"/>
                  </a:cubicBezTo>
                  <a:moveTo>
                    <a:pt x="10800" y="20618"/>
                  </a:moveTo>
                  <a:cubicBezTo>
                    <a:pt x="9948" y="20618"/>
                    <a:pt x="9181" y="19410"/>
                    <a:pt x="8643" y="17481"/>
                  </a:cubicBezTo>
                  <a:cubicBezTo>
                    <a:pt x="9339" y="17072"/>
                    <a:pt x="10062" y="16573"/>
                    <a:pt x="10795" y="16011"/>
                  </a:cubicBezTo>
                  <a:cubicBezTo>
                    <a:pt x="11532" y="16576"/>
                    <a:pt x="12258" y="17070"/>
                    <a:pt x="12957" y="17481"/>
                  </a:cubicBezTo>
                  <a:cubicBezTo>
                    <a:pt x="12419" y="19410"/>
                    <a:pt x="11652" y="20618"/>
                    <a:pt x="10800" y="20618"/>
                  </a:cubicBezTo>
                  <a:moveTo>
                    <a:pt x="8083" y="14597"/>
                  </a:moveTo>
                  <a:cubicBezTo>
                    <a:pt x="8445" y="14631"/>
                    <a:pt x="8816" y="14655"/>
                    <a:pt x="9190" y="14677"/>
                  </a:cubicBezTo>
                  <a:cubicBezTo>
                    <a:pt x="9471" y="14929"/>
                    <a:pt x="9751" y="15170"/>
                    <a:pt x="10032" y="15403"/>
                  </a:cubicBezTo>
                  <a:cubicBezTo>
                    <a:pt x="9478" y="15832"/>
                    <a:pt x="8935" y="16221"/>
                    <a:pt x="8415" y="16555"/>
                  </a:cubicBezTo>
                  <a:cubicBezTo>
                    <a:pt x="8283" y="15950"/>
                    <a:pt x="8171" y="15295"/>
                    <a:pt x="8083" y="14597"/>
                  </a:cubicBezTo>
                  <a:moveTo>
                    <a:pt x="8415" y="5045"/>
                  </a:moveTo>
                  <a:cubicBezTo>
                    <a:pt x="8938" y="5381"/>
                    <a:pt x="9480" y="5762"/>
                    <a:pt x="10038" y="6196"/>
                  </a:cubicBezTo>
                  <a:cubicBezTo>
                    <a:pt x="9756" y="6430"/>
                    <a:pt x="9473" y="6670"/>
                    <a:pt x="9190" y="6924"/>
                  </a:cubicBezTo>
                  <a:cubicBezTo>
                    <a:pt x="8816" y="6945"/>
                    <a:pt x="8445" y="6969"/>
                    <a:pt x="8083" y="7003"/>
                  </a:cubicBezTo>
                  <a:cubicBezTo>
                    <a:pt x="8171" y="6305"/>
                    <a:pt x="8283" y="5650"/>
                    <a:pt x="8415" y="5045"/>
                  </a:cubicBezTo>
                  <a:moveTo>
                    <a:pt x="10800" y="982"/>
                  </a:moveTo>
                  <a:cubicBezTo>
                    <a:pt x="11652" y="982"/>
                    <a:pt x="12419" y="2191"/>
                    <a:pt x="12957" y="4119"/>
                  </a:cubicBezTo>
                  <a:cubicBezTo>
                    <a:pt x="12261" y="4528"/>
                    <a:pt x="11537" y="5027"/>
                    <a:pt x="10804" y="5589"/>
                  </a:cubicBezTo>
                  <a:cubicBezTo>
                    <a:pt x="10067" y="5024"/>
                    <a:pt x="9341" y="4530"/>
                    <a:pt x="8643" y="4119"/>
                  </a:cubicBezTo>
                  <a:cubicBezTo>
                    <a:pt x="9181" y="2191"/>
                    <a:pt x="9948" y="982"/>
                    <a:pt x="10800" y="982"/>
                  </a:cubicBezTo>
                  <a:moveTo>
                    <a:pt x="13517" y="7003"/>
                  </a:moveTo>
                  <a:cubicBezTo>
                    <a:pt x="13155" y="6969"/>
                    <a:pt x="12783" y="6945"/>
                    <a:pt x="12409" y="6924"/>
                  </a:cubicBezTo>
                  <a:cubicBezTo>
                    <a:pt x="12129" y="6671"/>
                    <a:pt x="11848" y="6430"/>
                    <a:pt x="11568" y="6198"/>
                  </a:cubicBezTo>
                  <a:cubicBezTo>
                    <a:pt x="12122" y="5768"/>
                    <a:pt x="12665" y="5379"/>
                    <a:pt x="13185" y="5045"/>
                  </a:cubicBezTo>
                  <a:cubicBezTo>
                    <a:pt x="13316" y="5650"/>
                    <a:pt x="13429" y="6305"/>
                    <a:pt x="13517" y="7003"/>
                  </a:cubicBezTo>
                  <a:moveTo>
                    <a:pt x="7112" y="7112"/>
                  </a:moveTo>
                  <a:cubicBezTo>
                    <a:pt x="6194" y="7234"/>
                    <a:pt x="5339" y="7402"/>
                    <a:pt x="4555" y="7604"/>
                  </a:cubicBezTo>
                  <a:cubicBezTo>
                    <a:pt x="3572" y="5860"/>
                    <a:pt x="3255" y="4460"/>
                    <a:pt x="3858" y="3857"/>
                  </a:cubicBezTo>
                  <a:cubicBezTo>
                    <a:pt x="4460" y="3255"/>
                    <a:pt x="5860" y="3572"/>
                    <a:pt x="7604" y="4555"/>
                  </a:cubicBezTo>
                  <a:cubicBezTo>
                    <a:pt x="7402" y="5339"/>
                    <a:pt x="7234" y="6194"/>
                    <a:pt x="7112" y="7112"/>
                  </a:cubicBezTo>
                  <a:moveTo>
                    <a:pt x="3858" y="17743"/>
                  </a:moveTo>
                  <a:cubicBezTo>
                    <a:pt x="3255" y="17140"/>
                    <a:pt x="3572" y="15740"/>
                    <a:pt x="4555" y="13996"/>
                  </a:cubicBezTo>
                  <a:cubicBezTo>
                    <a:pt x="5339" y="14198"/>
                    <a:pt x="6194" y="14366"/>
                    <a:pt x="7112" y="14488"/>
                  </a:cubicBezTo>
                  <a:cubicBezTo>
                    <a:pt x="7234" y="15406"/>
                    <a:pt x="7402" y="16261"/>
                    <a:pt x="7604" y="17045"/>
                  </a:cubicBezTo>
                  <a:cubicBezTo>
                    <a:pt x="5860" y="18028"/>
                    <a:pt x="4460" y="18345"/>
                    <a:pt x="3858" y="17743"/>
                  </a:cubicBezTo>
                  <a:moveTo>
                    <a:pt x="7003" y="13517"/>
                  </a:moveTo>
                  <a:cubicBezTo>
                    <a:pt x="6305" y="13429"/>
                    <a:pt x="5650" y="13317"/>
                    <a:pt x="5045" y="13185"/>
                  </a:cubicBezTo>
                  <a:cubicBezTo>
                    <a:pt x="5379" y="12665"/>
                    <a:pt x="5768" y="12122"/>
                    <a:pt x="6197" y="11568"/>
                  </a:cubicBezTo>
                  <a:cubicBezTo>
                    <a:pt x="6429" y="11848"/>
                    <a:pt x="6671" y="12129"/>
                    <a:pt x="6923" y="12409"/>
                  </a:cubicBezTo>
                  <a:cubicBezTo>
                    <a:pt x="6944" y="12784"/>
                    <a:pt x="6968" y="13155"/>
                    <a:pt x="7003" y="13517"/>
                  </a:cubicBezTo>
                  <a:moveTo>
                    <a:pt x="6923" y="9191"/>
                  </a:moveTo>
                  <a:cubicBezTo>
                    <a:pt x="6669" y="9473"/>
                    <a:pt x="6429" y="9756"/>
                    <a:pt x="6196" y="10039"/>
                  </a:cubicBezTo>
                  <a:cubicBezTo>
                    <a:pt x="5763" y="9481"/>
                    <a:pt x="5381" y="8938"/>
                    <a:pt x="5045" y="8415"/>
                  </a:cubicBezTo>
                  <a:cubicBezTo>
                    <a:pt x="5650" y="8283"/>
                    <a:pt x="6305" y="8171"/>
                    <a:pt x="7003" y="8084"/>
                  </a:cubicBezTo>
                  <a:cubicBezTo>
                    <a:pt x="6968" y="8445"/>
                    <a:pt x="6944" y="8816"/>
                    <a:pt x="6923" y="9191"/>
                  </a:cubicBezTo>
                  <a:moveTo>
                    <a:pt x="982" y="10800"/>
                  </a:moveTo>
                  <a:cubicBezTo>
                    <a:pt x="982" y="9948"/>
                    <a:pt x="2190" y="9181"/>
                    <a:pt x="4119" y="8644"/>
                  </a:cubicBezTo>
                  <a:cubicBezTo>
                    <a:pt x="4530" y="9342"/>
                    <a:pt x="5023" y="10067"/>
                    <a:pt x="5588" y="10805"/>
                  </a:cubicBezTo>
                  <a:cubicBezTo>
                    <a:pt x="5027" y="11537"/>
                    <a:pt x="4528" y="12262"/>
                    <a:pt x="4119" y="12956"/>
                  </a:cubicBezTo>
                  <a:cubicBezTo>
                    <a:pt x="2190" y="12419"/>
                    <a:pt x="982" y="11652"/>
                    <a:pt x="982" y="10800"/>
                  </a:cubicBezTo>
                  <a:moveTo>
                    <a:pt x="21600" y="10800"/>
                  </a:moveTo>
                  <a:cubicBezTo>
                    <a:pt x="21600" y="9624"/>
                    <a:pt x="20173" y="8571"/>
                    <a:pt x="17918" y="7853"/>
                  </a:cubicBezTo>
                  <a:cubicBezTo>
                    <a:pt x="19002" y="5750"/>
                    <a:pt x="19269" y="3995"/>
                    <a:pt x="18437" y="3163"/>
                  </a:cubicBezTo>
                  <a:cubicBezTo>
                    <a:pt x="17605" y="2332"/>
                    <a:pt x="15850" y="2598"/>
                    <a:pt x="13748" y="3682"/>
                  </a:cubicBezTo>
                  <a:cubicBezTo>
                    <a:pt x="13029" y="1427"/>
                    <a:pt x="11976" y="0"/>
                    <a:pt x="10800" y="0"/>
                  </a:cubicBezTo>
                  <a:cubicBezTo>
                    <a:pt x="9623" y="0"/>
                    <a:pt x="8571" y="1427"/>
                    <a:pt x="7852" y="3682"/>
                  </a:cubicBezTo>
                  <a:cubicBezTo>
                    <a:pt x="5750" y="2598"/>
                    <a:pt x="3995" y="2332"/>
                    <a:pt x="3163" y="3163"/>
                  </a:cubicBezTo>
                  <a:cubicBezTo>
                    <a:pt x="2331" y="3995"/>
                    <a:pt x="2598" y="5750"/>
                    <a:pt x="3682" y="7853"/>
                  </a:cubicBezTo>
                  <a:cubicBezTo>
                    <a:pt x="1426" y="8571"/>
                    <a:pt x="0" y="9624"/>
                    <a:pt x="0" y="10800"/>
                  </a:cubicBezTo>
                  <a:cubicBezTo>
                    <a:pt x="0" y="11976"/>
                    <a:pt x="1426" y="13029"/>
                    <a:pt x="3682" y="13748"/>
                  </a:cubicBezTo>
                  <a:cubicBezTo>
                    <a:pt x="2598" y="15851"/>
                    <a:pt x="2331" y="17605"/>
                    <a:pt x="3163" y="18437"/>
                  </a:cubicBezTo>
                  <a:cubicBezTo>
                    <a:pt x="3995" y="19268"/>
                    <a:pt x="5750" y="19002"/>
                    <a:pt x="7852" y="17918"/>
                  </a:cubicBezTo>
                  <a:cubicBezTo>
                    <a:pt x="8571" y="20173"/>
                    <a:pt x="9623" y="21600"/>
                    <a:pt x="10800" y="21600"/>
                  </a:cubicBezTo>
                  <a:cubicBezTo>
                    <a:pt x="11976" y="21600"/>
                    <a:pt x="13029" y="20173"/>
                    <a:pt x="13748" y="17918"/>
                  </a:cubicBezTo>
                  <a:cubicBezTo>
                    <a:pt x="15850" y="19002"/>
                    <a:pt x="17605" y="19268"/>
                    <a:pt x="18437" y="18437"/>
                  </a:cubicBezTo>
                  <a:cubicBezTo>
                    <a:pt x="19269" y="17605"/>
                    <a:pt x="19002" y="15851"/>
                    <a:pt x="17918" y="13748"/>
                  </a:cubicBezTo>
                  <a:cubicBezTo>
                    <a:pt x="20173" y="13029"/>
                    <a:pt x="21600" y="11976"/>
                    <a:pt x="21600" y="10800"/>
                  </a:cubicBezTo>
                  <a:moveTo>
                    <a:pt x="10800" y="9818"/>
                  </a:moveTo>
                  <a:cubicBezTo>
                    <a:pt x="10258" y="9818"/>
                    <a:pt x="9818" y="10258"/>
                    <a:pt x="9818" y="10800"/>
                  </a:cubicBezTo>
                  <a:cubicBezTo>
                    <a:pt x="9818" y="11342"/>
                    <a:pt x="10258" y="11782"/>
                    <a:pt x="10800" y="11782"/>
                  </a:cubicBezTo>
                  <a:cubicBezTo>
                    <a:pt x="11342" y="11782"/>
                    <a:pt x="11782" y="11342"/>
                    <a:pt x="11782" y="10800"/>
                  </a:cubicBezTo>
                  <a:cubicBezTo>
                    <a:pt x="11782" y="10258"/>
                    <a:pt x="11342" y="9818"/>
                    <a:pt x="10800" y="9818"/>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9" name="îṥḻîďe"/>
            <p:cNvSpPr/>
            <p:nvPr/>
          </p:nvSpPr>
          <p:spPr bwMode="auto">
            <a:xfrm>
              <a:off x="4522343" y="3825624"/>
              <a:ext cx="777020" cy="774892"/>
            </a:xfrm>
            <a:prstGeom prst="ellipse">
              <a:avLst/>
            </a:prstGeom>
            <a:solidFill>
              <a:schemeClr val="accent1"/>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0" name="íšļîḍé"/>
            <p:cNvSpPr/>
            <p:nvPr/>
          </p:nvSpPr>
          <p:spPr>
            <a:xfrm>
              <a:off x="4804357" y="4096502"/>
              <a:ext cx="236448" cy="236449"/>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1964"/>
                  </a:lnTo>
                  <a:lnTo>
                    <a:pt x="20618" y="1964"/>
                  </a:lnTo>
                  <a:cubicBezTo>
                    <a:pt x="20618" y="1964"/>
                    <a:pt x="20618" y="2945"/>
                    <a:pt x="20618" y="2945"/>
                  </a:cubicBezTo>
                  <a:close/>
                  <a:moveTo>
                    <a:pt x="19636" y="15709"/>
                  </a:moveTo>
                  <a:lnTo>
                    <a:pt x="1964" y="15709"/>
                  </a:lnTo>
                  <a:lnTo>
                    <a:pt x="1964" y="3927"/>
                  </a:lnTo>
                  <a:lnTo>
                    <a:pt x="19636" y="3927"/>
                  </a:lnTo>
                  <a:cubicBezTo>
                    <a:pt x="19636" y="3927"/>
                    <a:pt x="19636" y="15709"/>
                    <a:pt x="19636" y="15709"/>
                  </a:cubicBezTo>
                  <a:close/>
                  <a:moveTo>
                    <a:pt x="20618" y="982"/>
                  </a:moveTo>
                  <a:lnTo>
                    <a:pt x="11782" y="982"/>
                  </a:lnTo>
                  <a:cubicBezTo>
                    <a:pt x="11782" y="440"/>
                    <a:pt x="11342" y="0"/>
                    <a:pt x="10800" y="0"/>
                  </a:cubicBezTo>
                  <a:cubicBezTo>
                    <a:pt x="10257" y="0"/>
                    <a:pt x="9818" y="440"/>
                    <a:pt x="9818" y="982"/>
                  </a:cubicBezTo>
                  <a:lnTo>
                    <a:pt x="982" y="982"/>
                  </a:lnTo>
                  <a:cubicBezTo>
                    <a:pt x="439" y="982"/>
                    <a:pt x="0" y="1422"/>
                    <a:pt x="0" y="1964"/>
                  </a:cubicBezTo>
                  <a:lnTo>
                    <a:pt x="0" y="2945"/>
                  </a:lnTo>
                  <a:cubicBezTo>
                    <a:pt x="0" y="3488"/>
                    <a:pt x="439" y="3927"/>
                    <a:pt x="982" y="3927"/>
                  </a:cubicBezTo>
                  <a:lnTo>
                    <a:pt x="982" y="15709"/>
                  </a:lnTo>
                  <a:cubicBezTo>
                    <a:pt x="982" y="16252"/>
                    <a:pt x="1421" y="16691"/>
                    <a:pt x="1964" y="16691"/>
                  </a:cubicBezTo>
                  <a:lnTo>
                    <a:pt x="10309" y="16691"/>
                  </a:lnTo>
                  <a:lnTo>
                    <a:pt x="10309" y="17960"/>
                  </a:lnTo>
                  <a:lnTo>
                    <a:pt x="7507" y="20762"/>
                  </a:lnTo>
                  <a:cubicBezTo>
                    <a:pt x="7419" y="20851"/>
                    <a:pt x="7364" y="20974"/>
                    <a:pt x="7364" y="21109"/>
                  </a:cubicBezTo>
                  <a:cubicBezTo>
                    <a:pt x="7364" y="21380"/>
                    <a:pt x="7583" y="21600"/>
                    <a:pt x="7855" y="21600"/>
                  </a:cubicBezTo>
                  <a:cubicBezTo>
                    <a:pt x="7990" y="21600"/>
                    <a:pt x="8113" y="21545"/>
                    <a:pt x="8202" y="21456"/>
                  </a:cubicBezTo>
                  <a:lnTo>
                    <a:pt x="10800" y="18858"/>
                  </a:lnTo>
                  <a:lnTo>
                    <a:pt x="13398" y="21456"/>
                  </a:lnTo>
                  <a:cubicBezTo>
                    <a:pt x="13488" y="21545"/>
                    <a:pt x="13610" y="21600"/>
                    <a:pt x="13745" y="21600"/>
                  </a:cubicBezTo>
                  <a:cubicBezTo>
                    <a:pt x="14017" y="21600"/>
                    <a:pt x="14236" y="21380"/>
                    <a:pt x="14236" y="21109"/>
                  </a:cubicBezTo>
                  <a:cubicBezTo>
                    <a:pt x="14236" y="20974"/>
                    <a:pt x="14182" y="20851"/>
                    <a:pt x="14093" y="20762"/>
                  </a:cubicBezTo>
                  <a:lnTo>
                    <a:pt x="11291" y="17960"/>
                  </a:lnTo>
                  <a:lnTo>
                    <a:pt x="11291" y="16691"/>
                  </a:lnTo>
                  <a:lnTo>
                    <a:pt x="19636" y="16691"/>
                  </a:lnTo>
                  <a:cubicBezTo>
                    <a:pt x="20178" y="16691"/>
                    <a:pt x="20618" y="16252"/>
                    <a:pt x="20618" y="15709"/>
                  </a:cubicBezTo>
                  <a:lnTo>
                    <a:pt x="20618" y="3927"/>
                  </a:lnTo>
                  <a:cubicBezTo>
                    <a:pt x="21160" y="3927"/>
                    <a:pt x="21600" y="3488"/>
                    <a:pt x="21600" y="2945"/>
                  </a:cubicBezTo>
                  <a:lnTo>
                    <a:pt x="21600" y="1964"/>
                  </a:lnTo>
                  <a:cubicBezTo>
                    <a:pt x="21600" y="1422"/>
                    <a:pt x="21160" y="982"/>
                    <a:pt x="20618" y="982"/>
                  </a:cubicBezTo>
                  <a:moveTo>
                    <a:pt x="16200" y="5891"/>
                  </a:moveTo>
                  <a:cubicBezTo>
                    <a:pt x="16471" y="5891"/>
                    <a:pt x="16691" y="6111"/>
                    <a:pt x="16691" y="6382"/>
                  </a:cubicBezTo>
                  <a:cubicBezTo>
                    <a:pt x="16691" y="6653"/>
                    <a:pt x="16471" y="6873"/>
                    <a:pt x="16200" y="6873"/>
                  </a:cubicBezTo>
                  <a:cubicBezTo>
                    <a:pt x="15929" y="6873"/>
                    <a:pt x="15709" y="6653"/>
                    <a:pt x="15709" y="6382"/>
                  </a:cubicBezTo>
                  <a:cubicBezTo>
                    <a:pt x="15709" y="6111"/>
                    <a:pt x="15929" y="5891"/>
                    <a:pt x="16200" y="5891"/>
                  </a:cubicBezTo>
                  <a:moveTo>
                    <a:pt x="16200" y="7855"/>
                  </a:moveTo>
                  <a:cubicBezTo>
                    <a:pt x="17013" y="7855"/>
                    <a:pt x="17673" y="7196"/>
                    <a:pt x="17673" y="6382"/>
                  </a:cubicBezTo>
                  <a:cubicBezTo>
                    <a:pt x="17673" y="5569"/>
                    <a:pt x="17013" y="4909"/>
                    <a:pt x="16200" y="4909"/>
                  </a:cubicBezTo>
                  <a:cubicBezTo>
                    <a:pt x="15387" y="4909"/>
                    <a:pt x="14727" y="5569"/>
                    <a:pt x="14727" y="6382"/>
                  </a:cubicBezTo>
                  <a:cubicBezTo>
                    <a:pt x="14727" y="7196"/>
                    <a:pt x="15387" y="7855"/>
                    <a:pt x="16200" y="7855"/>
                  </a:cubicBezTo>
                  <a:moveTo>
                    <a:pt x="8422" y="8135"/>
                  </a:moveTo>
                  <a:lnTo>
                    <a:pt x="11926" y="11638"/>
                  </a:lnTo>
                  <a:cubicBezTo>
                    <a:pt x="12015" y="11727"/>
                    <a:pt x="12138" y="11782"/>
                    <a:pt x="12273" y="11782"/>
                  </a:cubicBezTo>
                  <a:cubicBezTo>
                    <a:pt x="12408" y="11782"/>
                    <a:pt x="12531" y="11727"/>
                    <a:pt x="12620" y="11638"/>
                  </a:cubicBezTo>
                  <a:lnTo>
                    <a:pt x="14183" y="10075"/>
                  </a:lnTo>
                  <a:lnTo>
                    <a:pt x="16200" y="12764"/>
                  </a:lnTo>
                  <a:lnTo>
                    <a:pt x="5336" y="12764"/>
                  </a:lnTo>
                  <a:cubicBezTo>
                    <a:pt x="5336" y="12764"/>
                    <a:pt x="8422" y="8135"/>
                    <a:pt x="8422" y="8135"/>
                  </a:cubicBezTo>
                  <a:close/>
                  <a:moveTo>
                    <a:pt x="4418" y="13745"/>
                  </a:moveTo>
                  <a:lnTo>
                    <a:pt x="17182" y="13745"/>
                  </a:lnTo>
                  <a:cubicBezTo>
                    <a:pt x="17453" y="13745"/>
                    <a:pt x="17673" y="13526"/>
                    <a:pt x="17673" y="13255"/>
                  </a:cubicBezTo>
                  <a:cubicBezTo>
                    <a:pt x="17673" y="13144"/>
                    <a:pt x="17630" y="13047"/>
                    <a:pt x="17568" y="12965"/>
                  </a:cubicBezTo>
                  <a:lnTo>
                    <a:pt x="17575" y="12960"/>
                  </a:lnTo>
                  <a:lnTo>
                    <a:pt x="14629" y="9033"/>
                  </a:lnTo>
                  <a:lnTo>
                    <a:pt x="14622" y="9038"/>
                  </a:lnTo>
                  <a:cubicBezTo>
                    <a:pt x="14533" y="8919"/>
                    <a:pt x="14397" y="8836"/>
                    <a:pt x="14236" y="8836"/>
                  </a:cubicBezTo>
                  <a:cubicBezTo>
                    <a:pt x="14101" y="8836"/>
                    <a:pt x="13978" y="8891"/>
                    <a:pt x="13889" y="8980"/>
                  </a:cubicBezTo>
                  <a:lnTo>
                    <a:pt x="12273" y="10597"/>
                  </a:lnTo>
                  <a:lnTo>
                    <a:pt x="8693" y="7017"/>
                  </a:lnTo>
                  <a:cubicBezTo>
                    <a:pt x="8604" y="6928"/>
                    <a:pt x="8481" y="6873"/>
                    <a:pt x="8345" y="6873"/>
                  </a:cubicBezTo>
                  <a:cubicBezTo>
                    <a:pt x="8175" y="6873"/>
                    <a:pt x="8033" y="6965"/>
                    <a:pt x="7945" y="7097"/>
                  </a:cubicBezTo>
                  <a:lnTo>
                    <a:pt x="7937" y="7091"/>
                  </a:lnTo>
                  <a:lnTo>
                    <a:pt x="4010" y="12982"/>
                  </a:lnTo>
                  <a:lnTo>
                    <a:pt x="4017" y="12988"/>
                  </a:lnTo>
                  <a:cubicBezTo>
                    <a:pt x="3965" y="13066"/>
                    <a:pt x="3927" y="13154"/>
                    <a:pt x="3927" y="13255"/>
                  </a:cubicBezTo>
                  <a:cubicBezTo>
                    <a:pt x="3927" y="13526"/>
                    <a:pt x="4147" y="13745"/>
                    <a:pt x="4418" y="13745"/>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îşḷíďé"/>
            <p:cNvSpPr/>
            <p:nvPr/>
          </p:nvSpPr>
          <p:spPr bwMode="auto">
            <a:xfrm>
              <a:off x="6465051" y="2514529"/>
              <a:ext cx="687758" cy="685872"/>
            </a:xfrm>
            <a:prstGeom prst="ellipse">
              <a:avLst/>
            </a:prstGeom>
            <a:solidFill>
              <a:srgbClr val="0A5AB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2" name="îS1îḋe"/>
            <p:cNvSpPr/>
            <p:nvPr/>
          </p:nvSpPr>
          <p:spPr>
            <a:xfrm>
              <a:off x="6677173" y="26929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8280" y="18579"/>
                  </a:moveTo>
                  <a:cubicBezTo>
                    <a:pt x="20323" y="16614"/>
                    <a:pt x="21600" y="13859"/>
                    <a:pt x="21600" y="10800"/>
                  </a:cubicBezTo>
                  <a:cubicBezTo>
                    <a:pt x="21600" y="4835"/>
                    <a:pt x="16764" y="0"/>
                    <a:pt x="10800" y="0"/>
                  </a:cubicBezTo>
                  <a:cubicBezTo>
                    <a:pt x="4836" y="0"/>
                    <a:pt x="0" y="4835"/>
                    <a:pt x="0" y="10800"/>
                  </a:cubicBezTo>
                  <a:cubicBezTo>
                    <a:pt x="0" y="13859"/>
                    <a:pt x="1277" y="16614"/>
                    <a:pt x="3320" y="18579"/>
                  </a:cubicBezTo>
                  <a:lnTo>
                    <a:pt x="2107" y="20762"/>
                  </a:lnTo>
                  <a:cubicBezTo>
                    <a:pt x="2019" y="20851"/>
                    <a:pt x="1964" y="20974"/>
                    <a:pt x="1964" y="21109"/>
                  </a:cubicBezTo>
                  <a:cubicBezTo>
                    <a:pt x="1964" y="21380"/>
                    <a:pt x="2184" y="21600"/>
                    <a:pt x="2455" y="21600"/>
                  </a:cubicBezTo>
                  <a:cubicBezTo>
                    <a:pt x="2590" y="21600"/>
                    <a:pt x="2713" y="21545"/>
                    <a:pt x="2802" y="21456"/>
                  </a:cubicBezTo>
                  <a:cubicBezTo>
                    <a:pt x="2858" y="21400"/>
                    <a:pt x="2894" y="21327"/>
                    <a:pt x="2917" y="21248"/>
                  </a:cubicBezTo>
                  <a:lnTo>
                    <a:pt x="4044" y="19219"/>
                  </a:lnTo>
                  <a:cubicBezTo>
                    <a:pt x="5895" y="20706"/>
                    <a:pt x="8242" y="21600"/>
                    <a:pt x="10800" y="21600"/>
                  </a:cubicBezTo>
                  <a:cubicBezTo>
                    <a:pt x="13358" y="21600"/>
                    <a:pt x="15705" y="20706"/>
                    <a:pt x="17555" y="19219"/>
                  </a:cubicBezTo>
                  <a:lnTo>
                    <a:pt x="18683" y="21248"/>
                  </a:lnTo>
                  <a:cubicBezTo>
                    <a:pt x="18743" y="21450"/>
                    <a:pt x="18923" y="21600"/>
                    <a:pt x="19145" y="21600"/>
                  </a:cubicBezTo>
                  <a:cubicBezTo>
                    <a:pt x="19416" y="21600"/>
                    <a:pt x="19636" y="21380"/>
                    <a:pt x="19636" y="21109"/>
                  </a:cubicBezTo>
                  <a:cubicBezTo>
                    <a:pt x="19636" y="20974"/>
                    <a:pt x="19581" y="20851"/>
                    <a:pt x="19493" y="20762"/>
                  </a:cubicBezTo>
                  <a:cubicBezTo>
                    <a:pt x="19493" y="20762"/>
                    <a:pt x="18280" y="18579"/>
                    <a:pt x="18280" y="18579"/>
                  </a:cubicBezTo>
                  <a:close/>
                  <a:moveTo>
                    <a:pt x="10800" y="16691"/>
                  </a:moveTo>
                  <a:cubicBezTo>
                    <a:pt x="7547" y="16691"/>
                    <a:pt x="4909" y="14053"/>
                    <a:pt x="4909" y="10800"/>
                  </a:cubicBezTo>
                  <a:cubicBezTo>
                    <a:pt x="4909" y="7547"/>
                    <a:pt x="7547" y="4909"/>
                    <a:pt x="10800" y="4909"/>
                  </a:cubicBezTo>
                  <a:cubicBezTo>
                    <a:pt x="14053" y="4909"/>
                    <a:pt x="16691" y="7547"/>
                    <a:pt x="16691" y="10800"/>
                  </a:cubicBezTo>
                  <a:cubicBezTo>
                    <a:pt x="16691" y="14053"/>
                    <a:pt x="14053" y="16691"/>
                    <a:pt x="10800" y="16691"/>
                  </a:cubicBezTo>
                  <a:moveTo>
                    <a:pt x="10800" y="3927"/>
                  </a:moveTo>
                  <a:cubicBezTo>
                    <a:pt x="7004" y="3927"/>
                    <a:pt x="3927" y="7004"/>
                    <a:pt x="3927" y="10800"/>
                  </a:cubicBezTo>
                  <a:cubicBezTo>
                    <a:pt x="3927" y="14596"/>
                    <a:pt x="7004" y="17673"/>
                    <a:pt x="10800" y="17673"/>
                  </a:cubicBezTo>
                  <a:cubicBezTo>
                    <a:pt x="14596" y="17673"/>
                    <a:pt x="17673" y="14596"/>
                    <a:pt x="17673" y="10800"/>
                  </a:cubicBezTo>
                  <a:cubicBezTo>
                    <a:pt x="17673" y="7004"/>
                    <a:pt x="14596" y="3927"/>
                    <a:pt x="10800" y="3927"/>
                  </a:cubicBezTo>
                  <a:moveTo>
                    <a:pt x="10800" y="12764"/>
                  </a:moveTo>
                  <a:cubicBezTo>
                    <a:pt x="9716" y="12764"/>
                    <a:pt x="8836" y="11884"/>
                    <a:pt x="8836" y="10800"/>
                  </a:cubicBezTo>
                  <a:cubicBezTo>
                    <a:pt x="8836" y="9716"/>
                    <a:pt x="9716" y="8836"/>
                    <a:pt x="10800" y="8836"/>
                  </a:cubicBezTo>
                  <a:cubicBezTo>
                    <a:pt x="11884" y="8836"/>
                    <a:pt x="12764" y="9716"/>
                    <a:pt x="12764" y="10800"/>
                  </a:cubicBezTo>
                  <a:cubicBezTo>
                    <a:pt x="12764" y="11884"/>
                    <a:pt x="11884" y="12764"/>
                    <a:pt x="10800" y="12764"/>
                  </a:cubicBezTo>
                  <a:moveTo>
                    <a:pt x="10800" y="7855"/>
                  </a:moveTo>
                  <a:cubicBezTo>
                    <a:pt x="9173" y="7855"/>
                    <a:pt x="7855" y="9173"/>
                    <a:pt x="7855" y="10800"/>
                  </a:cubicBezTo>
                  <a:cubicBezTo>
                    <a:pt x="7855" y="12427"/>
                    <a:pt x="9173" y="13745"/>
                    <a:pt x="10800" y="13745"/>
                  </a:cubicBezTo>
                  <a:cubicBezTo>
                    <a:pt x="12427" y="13745"/>
                    <a:pt x="13745" y="12427"/>
                    <a:pt x="13745" y="10800"/>
                  </a:cubicBezTo>
                  <a:cubicBezTo>
                    <a:pt x="13745" y="9173"/>
                    <a:pt x="12427" y="7855"/>
                    <a:pt x="10800" y="7855"/>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5" name="îṥḻîḋe"/>
            <p:cNvSpPr/>
            <p:nvPr/>
          </p:nvSpPr>
          <p:spPr bwMode="auto">
            <a:xfrm>
              <a:off x="8343900" y="3021574"/>
              <a:ext cx="726206" cy="724216"/>
            </a:xfrm>
            <a:prstGeom prst="ellipse">
              <a:avLst/>
            </a:prstGeom>
            <a:solidFill>
              <a:srgbClr val="A5A5E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íṥlïḍê"/>
            <p:cNvSpPr/>
            <p:nvPr/>
          </p:nvSpPr>
          <p:spPr>
            <a:xfrm>
              <a:off x="8567338" y="324401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7" name="ïṥḻíde"/>
            <p:cNvSpPr/>
            <p:nvPr/>
          </p:nvSpPr>
          <p:spPr>
            <a:xfrm rot="816452">
              <a:off x="10423986" y="1108214"/>
              <a:ext cx="767498" cy="76749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accent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iṥḻïḓé"/>
            <p:cNvSpPr/>
            <p:nvPr/>
          </p:nvSpPr>
          <p:spPr bwMode="auto">
            <a:xfrm>
              <a:off x="1182445" y="4358759"/>
              <a:ext cx="777020" cy="774892"/>
            </a:xfrm>
            <a:prstGeom prst="ellipse">
              <a:avLst/>
            </a:prstGeom>
            <a:solidFill>
              <a:srgbClr val="00B0F0"/>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ïsḻiḑè"/>
            <p:cNvSpPr/>
            <p:nvPr/>
          </p:nvSpPr>
          <p:spPr>
            <a:xfrm>
              <a:off x="1416280" y="4600517"/>
              <a:ext cx="309352" cy="331184"/>
            </a:xfrm>
            <a:custGeom>
              <a:avLst/>
              <a:gdLst>
                <a:gd name="connsiteX0" fmla="*/ 482620 w 607097"/>
                <a:gd name="connsiteY0" fmla="*/ 381169 h 606722"/>
                <a:gd name="connsiteX1" fmla="*/ 496768 w 607097"/>
                <a:gd name="connsiteY1" fmla="*/ 381169 h 606722"/>
                <a:gd name="connsiteX2" fmla="*/ 510916 w 607097"/>
                <a:gd name="connsiteY2" fmla="*/ 395381 h 606722"/>
                <a:gd name="connsiteX3" fmla="*/ 510916 w 607097"/>
                <a:gd name="connsiteY3" fmla="*/ 409505 h 606722"/>
                <a:gd name="connsiteX4" fmla="*/ 503887 w 607097"/>
                <a:gd name="connsiteY4" fmla="*/ 412525 h 606722"/>
                <a:gd name="connsiteX5" fmla="*/ 496768 w 607097"/>
                <a:gd name="connsiteY5" fmla="*/ 409505 h 606722"/>
                <a:gd name="connsiteX6" fmla="*/ 482620 w 607097"/>
                <a:gd name="connsiteY6" fmla="*/ 395381 h 606722"/>
                <a:gd name="connsiteX7" fmla="*/ 482620 w 607097"/>
                <a:gd name="connsiteY7" fmla="*/ 381169 h 606722"/>
                <a:gd name="connsiteX8" fmla="*/ 546398 w 607097"/>
                <a:gd name="connsiteY8" fmla="*/ 242745 h 606722"/>
                <a:gd name="connsiteX9" fmla="*/ 566606 w 607097"/>
                <a:gd name="connsiteY9" fmla="*/ 242745 h 606722"/>
                <a:gd name="connsiteX10" fmla="*/ 576754 w 607097"/>
                <a:gd name="connsiteY10" fmla="*/ 252756 h 606722"/>
                <a:gd name="connsiteX11" fmla="*/ 566606 w 607097"/>
                <a:gd name="connsiteY11" fmla="*/ 262856 h 606722"/>
                <a:gd name="connsiteX12" fmla="*/ 546398 w 607097"/>
                <a:gd name="connsiteY12" fmla="*/ 262856 h 606722"/>
                <a:gd name="connsiteX13" fmla="*/ 536249 w 607097"/>
                <a:gd name="connsiteY13" fmla="*/ 252756 h 606722"/>
                <a:gd name="connsiteX14" fmla="*/ 546398 w 607097"/>
                <a:gd name="connsiteY14" fmla="*/ 242745 h 606722"/>
                <a:gd name="connsiteX15" fmla="*/ 353968 w 607097"/>
                <a:gd name="connsiteY15" fmla="*/ 101120 h 606722"/>
                <a:gd name="connsiteX16" fmla="*/ 364118 w 607097"/>
                <a:gd name="connsiteY16" fmla="*/ 111251 h 606722"/>
                <a:gd name="connsiteX17" fmla="*/ 364118 w 607097"/>
                <a:gd name="connsiteY17" fmla="*/ 242683 h 606722"/>
                <a:gd name="connsiteX18" fmla="*/ 424838 w 607097"/>
                <a:gd name="connsiteY18" fmla="*/ 242683 h 606722"/>
                <a:gd name="connsiteX19" fmla="*/ 434988 w 607097"/>
                <a:gd name="connsiteY19" fmla="*/ 252725 h 606722"/>
                <a:gd name="connsiteX20" fmla="*/ 424838 w 607097"/>
                <a:gd name="connsiteY20" fmla="*/ 262856 h 606722"/>
                <a:gd name="connsiteX21" fmla="*/ 353968 w 607097"/>
                <a:gd name="connsiteY21" fmla="*/ 262856 h 606722"/>
                <a:gd name="connsiteX22" fmla="*/ 343818 w 607097"/>
                <a:gd name="connsiteY22" fmla="*/ 252725 h 606722"/>
                <a:gd name="connsiteX23" fmla="*/ 343818 w 607097"/>
                <a:gd name="connsiteY23" fmla="*/ 111251 h 606722"/>
                <a:gd name="connsiteX24" fmla="*/ 353968 w 607097"/>
                <a:gd name="connsiteY24" fmla="*/ 101120 h 606722"/>
                <a:gd name="connsiteX25" fmla="*/ 496768 w 607097"/>
                <a:gd name="connsiteY25" fmla="*/ 96101 h 606722"/>
                <a:gd name="connsiteX26" fmla="*/ 510916 w 607097"/>
                <a:gd name="connsiteY26" fmla="*/ 96101 h 606722"/>
                <a:gd name="connsiteX27" fmla="*/ 510916 w 607097"/>
                <a:gd name="connsiteY27" fmla="*/ 110217 h 606722"/>
                <a:gd name="connsiteX28" fmla="*/ 496768 w 607097"/>
                <a:gd name="connsiteY28" fmla="*/ 124334 h 606722"/>
                <a:gd name="connsiteX29" fmla="*/ 489650 w 607097"/>
                <a:gd name="connsiteY29" fmla="*/ 127441 h 606722"/>
                <a:gd name="connsiteX30" fmla="*/ 482620 w 607097"/>
                <a:gd name="connsiteY30" fmla="*/ 124334 h 606722"/>
                <a:gd name="connsiteX31" fmla="*/ 482620 w 607097"/>
                <a:gd name="connsiteY31" fmla="*/ 110217 h 606722"/>
                <a:gd name="connsiteX32" fmla="*/ 196955 w 607097"/>
                <a:gd name="connsiteY32" fmla="*/ 96101 h 606722"/>
                <a:gd name="connsiteX33" fmla="*/ 211110 w 607097"/>
                <a:gd name="connsiteY33" fmla="*/ 96101 h 606722"/>
                <a:gd name="connsiteX34" fmla="*/ 225355 w 607097"/>
                <a:gd name="connsiteY34" fmla="*/ 110217 h 606722"/>
                <a:gd name="connsiteX35" fmla="*/ 225355 w 607097"/>
                <a:gd name="connsiteY35" fmla="*/ 124334 h 606722"/>
                <a:gd name="connsiteX36" fmla="*/ 218233 w 607097"/>
                <a:gd name="connsiteY36" fmla="*/ 127441 h 606722"/>
                <a:gd name="connsiteX37" fmla="*/ 211110 w 607097"/>
                <a:gd name="connsiteY37" fmla="*/ 124334 h 606722"/>
                <a:gd name="connsiteX38" fmla="*/ 196955 w 607097"/>
                <a:gd name="connsiteY38" fmla="*/ 110217 h 606722"/>
                <a:gd name="connsiteX39" fmla="*/ 196955 w 607097"/>
                <a:gd name="connsiteY39" fmla="*/ 96101 h 606722"/>
                <a:gd name="connsiteX40" fmla="*/ 103963 w 607097"/>
                <a:gd name="connsiteY40" fmla="*/ 81761 h 606722"/>
                <a:gd name="connsiteX41" fmla="*/ 87598 w 607097"/>
                <a:gd name="connsiteY41" fmla="*/ 90026 h 606722"/>
                <a:gd name="connsiteX42" fmla="*/ 62322 w 607097"/>
                <a:gd name="connsiteY42" fmla="*/ 115266 h 606722"/>
                <a:gd name="connsiteX43" fmla="*/ 34998 w 607097"/>
                <a:gd name="connsiteY43" fmla="*/ 265902 h 606722"/>
                <a:gd name="connsiteX44" fmla="*/ 75494 w 607097"/>
                <a:gd name="connsiteY44" fmla="*/ 322602 h 606722"/>
                <a:gd name="connsiteX45" fmla="*/ 283044 w 607097"/>
                <a:gd name="connsiteY45" fmla="*/ 530826 h 606722"/>
                <a:gd name="connsiteX46" fmla="*/ 327634 w 607097"/>
                <a:gd name="connsiteY46" fmla="*/ 565219 h 606722"/>
                <a:gd name="connsiteX47" fmla="*/ 490684 w 607097"/>
                <a:gd name="connsiteY47" fmla="*/ 545046 h 606722"/>
                <a:gd name="connsiteX48" fmla="*/ 515960 w 607097"/>
                <a:gd name="connsiteY48" fmla="*/ 519717 h 606722"/>
                <a:gd name="connsiteX49" fmla="*/ 521033 w 607097"/>
                <a:gd name="connsiteY49" fmla="*/ 485324 h 606722"/>
                <a:gd name="connsiteX50" fmla="*/ 434969 w 607097"/>
                <a:gd name="connsiteY50" fmla="*/ 411561 h 606722"/>
                <a:gd name="connsiteX51" fmla="*/ 414321 w 607097"/>
                <a:gd name="connsiteY51" fmla="*/ 406318 h 606722"/>
                <a:gd name="connsiteX52" fmla="*/ 413698 w 607097"/>
                <a:gd name="connsiteY52" fmla="*/ 406496 h 606722"/>
                <a:gd name="connsiteX53" fmla="*/ 405599 w 607097"/>
                <a:gd name="connsiteY53" fmla="*/ 413605 h 606722"/>
                <a:gd name="connsiteX54" fmla="*/ 404620 w 607097"/>
                <a:gd name="connsiteY54" fmla="*/ 414583 h 606722"/>
                <a:gd name="connsiteX55" fmla="*/ 373202 w 607097"/>
                <a:gd name="connsiteY55" fmla="*/ 447910 h 606722"/>
                <a:gd name="connsiteX56" fmla="*/ 349528 w 607097"/>
                <a:gd name="connsiteY56" fmla="*/ 459552 h 606722"/>
                <a:gd name="connsiteX57" fmla="*/ 405599 w 607097"/>
                <a:gd name="connsiteY57" fmla="*/ 475282 h 606722"/>
                <a:gd name="connsiteX58" fmla="*/ 414677 w 607097"/>
                <a:gd name="connsiteY58" fmla="*/ 486391 h 606722"/>
                <a:gd name="connsiteX59" fmla="*/ 404620 w 607097"/>
                <a:gd name="connsiteY59" fmla="*/ 495456 h 606722"/>
                <a:gd name="connsiteX60" fmla="*/ 403552 w 607097"/>
                <a:gd name="connsiteY60" fmla="*/ 495456 h 606722"/>
                <a:gd name="connsiteX61" fmla="*/ 287138 w 607097"/>
                <a:gd name="connsiteY61" fmla="*/ 441866 h 606722"/>
                <a:gd name="connsiteX62" fmla="*/ 286426 w 607097"/>
                <a:gd name="connsiteY62" fmla="*/ 441067 h 606722"/>
                <a:gd name="connsiteX63" fmla="*/ 284112 w 607097"/>
                <a:gd name="connsiteY63" fmla="*/ 438845 h 606722"/>
                <a:gd name="connsiteX64" fmla="*/ 176777 w 607097"/>
                <a:gd name="connsiteY64" fmla="*/ 331666 h 606722"/>
                <a:gd name="connsiteX65" fmla="*/ 111895 w 607097"/>
                <a:gd name="connsiteY65" fmla="*/ 213379 h 606722"/>
                <a:gd name="connsiteX66" fmla="*/ 121062 w 607097"/>
                <a:gd name="connsiteY66" fmla="*/ 202270 h 606722"/>
                <a:gd name="connsiteX67" fmla="*/ 132188 w 607097"/>
                <a:gd name="connsiteY67" fmla="*/ 211335 h 606722"/>
                <a:gd name="connsiteX68" fmla="*/ 146428 w 607097"/>
                <a:gd name="connsiteY68" fmla="*/ 259325 h 606722"/>
                <a:gd name="connsiteX69" fmla="*/ 158532 w 607097"/>
                <a:gd name="connsiteY69" fmla="*/ 233553 h 606722"/>
                <a:gd name="connsiteX70" fmla="*/ 191907 w 607097"/>
                <a:gd name="connsiteY70" fmla="*/ 202270 h 606722"/>
                <a:gd name="connsiteX71" fmla="*/ 192975 w 607097"/>
                <a:gd name="connsiteY71" fmla="*/ 201204 h 606722"/>
                <a:gd name="connsiteX72" fmla="*/ 200006 w 607097"/>
                <a:gd name="connsiteY72" fmla="*/ 193117 h 606722"/>
                <a:gd name="connsiteX73" fmla="*/ 194933 w 607097"/>
                <a:gd name="connsiteY73" fmla="*/ 170899 h 606722"/>
                <a:gd name="connsiteX74" fmla="*/ 121062 w 607097"/>
                <a:gd name="connsiteY74" fmla="*/ 84961 h 606722"/>
                <a:gd name="connsiteX75" fmla="*/ 103963 w 607097"/>
                <a:gd name="connsiteY75" fmla="*/ 81761 h 606722"/>
                <a:gd name="connsiteX76" fmla="*/ 353980 w 607097"/>
                <a:gd name="connsiteY76" fmla="*/ 30273 h 606722"/>
                <a:gd name="connsiteX77" fmla="*/ 364141 w 607097"/>
                <a:gd name="connsiteY77" fmla="*/ 40422 h 606722"/>
                <a:gd name="connsiteX78" fmla="*/ 364141 w 607097"/>
                <a:gd name="connsiteY78" fmla="*/ 60719 h 606722"/>
                <a:gd name="connsiteX79" fmla="*/ 353980 w 607097"/>
                <a:gd name="connsiteY79" fmla="*/ 70778 h 606722"/>
                <a:gd name="connsiteX80" fmla="*/ 343818 w 607097"/>
                <a:gd name="connsiteY80" fmla="*/ 60719 h 606722"/>
                <a:gd name="connsiteX81" fmla="*/ 343818 w 607097"/>
                <a:gd name="connsiteY81" fmla="*/ 40422 h 606722"/>
                <a:gd name="connsiteX82" fmla="*/ 353980 w 607097"/>
                <a:gd name="connsiteY82" fmla="*/ 30273 h 606722"/>
                <a:gd name="connsiteX83" fmla="*/ 353978 w 607097"/>
                <a:gd name="connsiteY83" fmla="*/ 20263 h 606722"/>
                <a:gd name="connsiteX84" fmla="*/ 174819 w 607097"/>
                <a:gd name="connsiteY84" fmla="*/ 104957 h 606722"/>
                <a:gd name="connsiteX85" fmla="*/ 214246 w 607097"/>
                <a:gd name="connsiteY85" fmla="*/ 160768 h 606722"/>
                <a:gd name="connsiteX86" fmla="*/ 221278 w 607097"/>
                <a:gd name="connsiteY86" fmla="*/ 198182 h 606722"/>
                <a:gd name="connsiteX87" fmla="*/ 215938 w 607097"/>
                <a:gd name="connsiteY87" fmla="*/ 209025 h 606722"/>
                <a:gd name="connsiteX88" fmla="*/ 210152 w 607097"/>
                <a:gd name="connsiteY88" fmla="*/ 215157 h 606722"/>
                <a:gd name="connsiteX89" fmla="*/ 206147 w 607097"/>
                <a:gd name="connsiteY89" fmla="*/ 218445 h 606722"/>
                <a:gd name="connsiteX90" fmla="*/ 176777 w 607097"/>
                <a:gd name="connsiteY90" fmla="*/ 244662 h 606722"/>
                <a:gd name="connsiteX91" fmla="*/ 182829 w 607097"/>
                <a:gd name="connsiteY91" fmla="*/ 308382 h 606722"/>
                <a:gd name="connsiteX92" fmla="*/ 189504 w 607097"/>
                <a:gd name="connsiteY92" fmla="*/ 315136 h 606722"/>
                <a:gd name="connsiteX93" fmla="*/ 189949 w 607097"/>
                <a:gd name="connsiteY93" fmla="*/ 315492 h 606722"/>
                <a:gd name="connsiteX94" fmla="*/ 191640 w 607097"/>
                <a:gd name="connsiteY94" fmla="*/ 317269 h 606722"/>
                <a:gd name="connsiteX95" fmla="*/ 298263 w 607097"/>
                <a:gd name="connsiteY95" fmla="*/ 424714 h 606722"/>
                <a:gd name="connsiteX96" fmla="*/ 362077 w 607097"/>
                <a:gd name="connsiteY96" fmla="*/ 430758 h 606722"/>
                <a:gd name="connsiteX97" fmla="*/ 388422 w 607097"/>
                <a:gd name="connsiteY97" fmla="*/ 401430 h 606722"/>
                <a:gd name="connsiteX98" fmla="*/ 408625 w 607097"/>
                <a:gd name="connsiteY98" fmla="*/ 386233 h 606722"/>
                <a:gd name="connsiteX99" fmla="*/ 419661 w 607097"/>
                <a:gd name="connsiteY99" fmla="*/ 384900 h 606722"/>
                <a:gd name="connsiteX100" fmla="*/ 446094 w 607097"/>
                <a:gd name="connsiteY100" fmla="*/ 392365 h 606722"/>
                <a:gd name="connsiteX101" fmla="*/ 501987 w 607097"/>
                <a:gd name="connsiteY101" fmla="*/ 431646 h 606722"/>
                <a:gd name="connsiteX102" fmla="*/ 586894 w 607097"/>
                <a:gd name="connsiteY102" fmla="*/ 252749 h 606722"/>
                <a:gd name="connsiteX103" fmla="*/ 353978 w 607097"/>
                <a:gd name="connsiteY103" fmla="*/ 20263 h 606722"/>
                <a:gd name="connsiteX104" fmla="*/ 353978 w 607097"/>
                <a:gd name="connsiteY104" fmla="*/ 0 h 606722"/>
                <a:gd name="connsiteX105" fmla="*/ 607097 w 607097"/>
                <a:gd name="connsiteY105" fmla="*/ 252749 h 606722"/>
                <a:gd name="connsiteX106" fmla="*/ 517384 w 607097"/>
                <a:gd name="connsiteY106" fmla="*/ 445421 h 606722"/>
                <a:gd name="connsiteX107" fmla="*/ 540257 w 607097"/>
                <a:gd name="connsiteY107" fmla="*/ 474215 h 606722"/>
                <a:gd name="connsiteX108" fmla="*/ 531179 w 607097"/>
                <a:gd name="connsiteY108" fmla="*/ 532870 h 606722"/>
                <a:gd name="connsiteX109" fmla="*/ 505814 w 607097"/>
                <a:gd name="connsiteY109" fmla="*/ 559176 h 606722"/>
                <a:gd name="connsiteX110" fmla="*/ 401505 w 607097"/>
                <a:gd name="connsiteY110" fmla="*/ 606722 h 606722"/>
                <a:gd name="connsiteX111" fmla="*/ 318556 w 607097"/>
                <a:gd name="connsiteY111" fmla="*/ 582460 h 606722"/>
                <a:gd name="connsiteX112" fmla="*/ 268893 w 607097"/>
                <a:gd name="connsiteY112" fmla="*/ 543979 h 606722"/>
                <a:gd name="connsiteX113" fmla="*/ 61343 w 607097"/>
                <a:gd name="connsiteY113" fmla="*/ 336732 h 606722"/>
                <a:gd name="connsiteX114" fmla="*/ 16753 w 607097"/>
                <a:gd name="connsiteY114" fmla="*/ 275056 h 606722"/>
                <a:gd name="connsiteX115" fmla="*/ 48171 w 607097"/>
                <a:gd name="connsiteY115" fmla="*/ 101135 h 606722"/>
                <a:gd name="connsiteX116" fmla="*/ 73447 w 607097"/>
                <a:gd name="connsiteY116" fmla="*/ 75807 h 606722"/>
                <a:gd name="connsiteX117" fmla="*/ 132188 w 607097"/>
                <a:gd name="connsiteY117" fmla="*/ 66742 h 606722"/>
                <a:gd name="connsiteX118" fmla="*/ 160757 w 607097"/>
                <a:gd name="connsiteY118" fmla="*/ 89315 h 606722"/>
                <a:gd name="connsiteX119" fmla="*/ 353978 w 607097"/>
                <a:gd name="connsiteY11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7097" h="606722">
                  <a:moveTo>
                    <a:pt x="482620" y="381169"/>
                  </a:moveTo>
                  <a:cubicBezTo>
                    <a:pt x="486624" y="377172"/>
                    <a:pt x="492675" y="377172"/>
                    <a:pt x="496768" y="381169"/>
                  </a:cubicBezTo>
                  <a:lnTo>
                    <a:pt x="510916" y="395381"/>
                  </a:lnTo>
                  <a:cubicBezTo>
                    <a:pt x="515009" y="399379"/>
                    <a:pt x="515009" y="405419"/>
                    <a:pt x="510916" y="409505"/>
                  </a:cubicBezTo>
                  <a:cubicBezTo>
                    <a:pt x="509937" y="412525"/>
                    <a:pt x="506912" y="412525"/>
                    <a:pt x="503887" y="412525"/>
                  </a:cubicBezTo>
                  <a:cubicBezTo>
                    <a:pt x="500861" y="412525"/>
                    <a:pt x="498815" y="411548"/>
                    <a:pt x="496768" y="409505"/>
                  </a:cubicBezTo>
                  <a:lnTo>
                    <a:pt x="482620" y="395381"/>
                  </a:lnTo>
                  <a:cubicBezTo>
                    <a:pt x="478527" y="391295"/>
                    <a:pt x="478527" y="385255"/>
                    <a:pt x="482620" y="381169"/>
                  </a:cubicBezTo>
                  <a:close/>
                  <a:moveTo>
                    <a:pt x="546398" y="242745"/>
                  </a:moveTo>
                  <a:lnTo>
                    <a:pt x="566606" y="242745"/>
                  </a:lnTo>
                  <a:cubicBezTo>
                    <a:pt x="572659" y="242745"/>
                    <a:pt x="576754" y="246732"/>
                    <a:pt x="576754" y="252756"/>
                  </a:cubicBezTo>
                  <a:cubicBezTo>
                    <a:pt x="576754" y="258869"/>
                    <a:pt x="572659" y="262856"/>
                    <a:pt x="566606" y="262856"/>
                  </a:cubicBezTo>
                  <a:lnTo>
                    <a:pt x="546398" y="262856"/>
                  </a:lnTo>
                  <a:cubicBezTo>
                    <a:pt x="540255" y="262856"/>
                    <a:pt x="536249" y="258869"/>
                    <a:pt x="536249" y="252756"/>
                  </a:cubicBezTo>
                  <a:cubicBezTo>
                    <a:pt x="536249" y="246732"/>
                    <a:pt x="540255" y="242745"/>
                    <a:pt x="546398" y="242745"/>
                  </a:cubicBezTo>
                  <a:close/>
                  <a:moveTo>
                    <a:pt x="353968" y="101120"/>
                  </a:moveTo>
                  <a:cubicBezTo>
                    <a:pt x="360022" y="101120"/>
                    <a:pt x="364118" y="105119"/>
                    <a:pt x="364118" y="111251"/>
                  </a:cubicBezTo>
                  <a:lnTo>
                    <a:pt x="364118" y="242683"/>
                  </a:lnTo>
                  <a:lnTo>
                    <a:pt x="424838" y="242683"/>
                  </a:lnTo>
                  <a:cubicBezTo>
                    <a:pt x="430893" y="242683"/>
                    <a:pt x="434988" y="246682"/>
                    <a:pt x="434988" y="252725"/>
                  </a:cubicBezTo>
                  <a:cubicBezTo>
                    <a:pt x="434988" y="258857"/>
                    <a:pt x="430893" y="262856"/>
                    <a:pt x="424838" y="262856"/>
                  </a:cubicBezTo>
                  <a:lnTo>
                    <a:pt x="353968" y="262856"/>
                  </a:lnTo>
                  <a:cubicBezTo>
                    <a:pt x="347825" y="262856"/>
                    <a:pt x="343818" y="258857"/>
                    <a:pt x="343818" y="252725"/>
                  </a:cubicBezTo>
                  <a:lnTo>
                    <a:pt x="343818" y="111251"/>
                  </a:lnTo>
                  <a:cubicBezTo>
                    <a:pt x="343818" y="105119"/>
                    <a:pt x="347825" y="101120"/>
                    <a:pt x="353968" y="101120"/>
                  </a:cubicBezTo>
                  <a:close/>
                  <a:moveTo>
                    <a:pt x="496768" y="96101"/>
                  </a:moveTo>
                  <a:cubicBezTo>
                    <a:pt x="500861" y="92017"/>
                    <a:pt x="506912" y="92017"/>
                    <a:pt x="510916" y="96101"/>
                  </a:cubicBezTo>
                  <a:cubicBezTo>
                    <a:pt x="515009" y="100096"/>
                    <a:pt x="515009" y="106222"/>
                    <a:pt x="510916" y="110217"/>
                  </a:cubicBezTo>
                  <a:lnTo>
                    <a:pt x="496768" y="124334"/>
                  </a:lnTo>
                  <a:cubicBezTo>
                    <a:pt x="494722" y="126376"/>
                    <a:pt x="492675" y="127441"/>
                    <a:pt x="489650" y="127441"/>
                  </a:cubicBezTo>
                  <a:cubicBezTo>
                    <a:pt x="486624" y="127441"/>
                    <a:pt x="484578" y="126376"/>
                    <a:pt x="482620" y="124334"/>
                  </a:cubicBezTo>
                  <a:cubicBezTo>
                    <a:pt x="478527" y="120338"/>
                    <a:pt x="478527" y="114301"/>
                    <a:pt x="482620" y="110217"/>
                  </a:cubicBezTo>
                  <a:close/>
                  <a:moveTo>
                    <a:pt x="196955" y="96101"/>
                  </a:moveTo>
                  <a:cubicBezTo>
                    <a:pt x="201050" y="92017"/>
                    <a:pt x="207104" y="92017"/>
                    <a:pt x="211110" y="96101"/>
                  </a:cubicBezTo>
                  <a:lnTo>
                    <a:pt x="225355" y="110217"/>
                  </a:lnTo>
                  <a:cubicBezTo>
                    <a:pt x="229361" y="114301"/>
                    <a:pt x="229361" y="120338"/>
                    <a:pt x="225355" y="124334"/>
                  </a:cubicBezTo>
                  <a:cubicBezTo>
                    <a:pt x="223307" y="126376"/>
                    <a:pt x="220280" y="127441"/>
                    <a:pt x="218233" y="127441"/>
                  </a:cubicBezTo>
                  <a:cubicBezTo>
                    <a:pt x="215206" y="127441"/>
                    <a:pt x="213158" y="126376"/>
                    <a:pt x="211110" y="124334"/>
                  </a:cubicBezTo>
                  <a:lnTo>
                    <a:pt x="196955" y="110217"/>
                  </a:lnTo>
                  <a:cubicBezTo>
                    <a:pt x="192949" y="106222"/>
                    <a:pt x="192949" y="100096"/>
                    <a:pt x="196955" y="96101"/>
                  </a:cubicBezTo>
                  <a:close/>
                  <a:moveTo>
                    <a:pt x="103963" y="81761"/>
                  </a:moveTo>
                  <a:cubicBezTo>
                    <a:pt x="98011" y="82650"/>
                    <a:pt x="92182" y="85449"/>
                    <a:pt x="87598" y="90026"/>
                  </a:cubicBezTo>
                  <a:lnTo>
                    <a:pt x="62322" y="115266"/>
                  </a:lnTo>
                  <a:cubicBezTo>
                    <a:pt x="17732" y="159790"/>
                    <a:pt x="8654" y="209291"/>
                    <a:pt x="34998" y="265902"/>
                  </a:cubicBezTo>
                  <a:cubicBezTo>
                    <a:pt x="44077" y="285187"/>
                    <a:pt x="57249" y="304383"/>
                    <a:pt x="75494" y="322602"/>
                  </a:cubicBezTo>
                  <a:lnTo>
                    <a:pt x="283044" y="530826"/>
                  </a:lnTo>
                  <a:cubicBezTo>
                    <a:pt x="297284" y="545046"/>
                    <a:pt x="312415" y="557132"/>
                    <a:pt x="327634" y="565219"/>
                  </a:cubicBezTo>
                  <a:cubicBezTo>
                    <a:pt x="389401" y="599612"/>
                    <a:pt x="443068" y="592503"/>
                    <a:pt x="490684" y="545046"/>
                  </a:cubicBezTo>
                  <a:lnTo>
                    <a:pt x="515960" y="519717"/>
                  </a:lnTo>
                  <a:cubicBezTo>
                    <a:pt x="525127" y="510653"/>
                    <a:pt x="527085" y="496433"/>
                    <a:pt x="521033" y="485324"/>
                  </a:cubicBezTo>
                  <a:cubicBezTo>
                    <a:pt x="503856" y="451998"/>
                    <a:pt x="434969" y="411561"/>
                    <a:pt x="434969" y="411561"/>
                  </a:cubicBezTo>
                  <a:cubicBezTo>
                    <a:pt x="427582" y="407829"/>
                    <a:pt x="420195" y="405874"/>
                    <a:pt x="414321" y="406318"/>
                  </a:cubicBezTo>
                  <a:cubicBezTo>
                    <a:pt x="414143" y="406318"/>
                    <a:pt x="413876" y="406407"/>
                    <a:pt x="413698" y="406496"/>
                  </a:cubicBezTo>
                  <a:cubicBezTo>
                    <a:pt x="409604" y="407473"/>
                    <a:pt x="407646" y="409517"/>
                    <a:pt x="405599" y="413605"/>
                  </a:cubicBezTo>
                  <a:lnTo>
                    <a:pt x="404620" y="414583"/>
                  </a:lnTo>
                  <a:cubicBezTo>
                    <a:pt x="397500" y="423648"/>
                    <a:pt x="380323" y="443910"/>
                    <a:pt x="373202" y="447910"/>
                  </a:cubicBezTo>
                  <a:cubicBezTo>
                    <a:pt x="365548" y="453242"/>
                    <a:pt x="357538" y="457152"/>
                    <a:pt x="349528" y="459552"/>
                  </a:cubicBezTo>
                  <a:cubicBezTo>
                    <a:pt x="365281" y="466839"/>
                    <a:pt x="384328" y="473149"/>
                    <a:pt x="405599" y="475282"/>
                  </a:cubicBezTo>
                  <a:cubicBezTo>
                    <a:pt x="410672" y="476259"/>
                    <a:pt x="414677" y="480259"/>
                    <a:pt x="414677" y="486391"/>
                  </a:cubicBezTo>
                  <a:cubicBezTo>
                    <a:pt x="413698" y="491456"/>
                    <a:pt x="409604" y="495456"/>
                    <a:pt x="404620" y="495456"/>
                  </a:cubicBezTo>
                  <a:lnTo>
                    <a:pt x="403552" y="495456"/>
                  </a:lnTo>
                  <a:cubicBezTo>
                    <a:pt x="333686" y="488346"/>
                    <a:pt x="288117" y="443910"/>
                    <a:pt x="287138" y="441866"/>
                  </a:cubicBezTo>
                  <a:cubicBezTo>
                    <a:pt x="286871" y="441600"/>
                    <a:pt x="286604" y="441333"/>
                    <a:pt x="286426" y="441067"/>
                  </a:cubicBezTo>
                  <a:cubicBezTo>
                    <a:pt x="285625" y="440356"/>
                    <a:pt x="284824" y="439645"/>
                    <a:pt x="284112" y="438845"/>
                  </a:cubicBezTo>
                  <a:lnTo>
                    <a:pt x="176777" y="331666"/>
                  </a:lnTo>
                  <a:cubicBezTo>
                    <a:pt x="174730" y="329622"/>
                    <a:pt x="119015" y="284120"/>
                    <a:pt x="111895" y="213379"/>
                  </a:cubicBezTo>
                  <a:cubicBezTo>
                    <a:pt x="110916" y="208314"/>
                    <a:pt x="115010" y="203248"/>
                    <a:pt x="121062" y="202270"/>
                  </a:cubicBezTo>
                  <a:cubicBezTo>
                    <a:pt x="127115" y="201204"/>
                    <a:pt x="131209" y="205292"/>
                    <a:pt x="132188" y="211335"/>
                  </a:cubicBezTo>
                  <a:cubicBezTo>
                    <a:pt x="133968" y="229109"/>
                    <a:pt x="139486" y="245284"/>
                    <a:pt x="146428" y="259325"/>
                  </a:cubicBezTo>
                  <a:cubicBezTo>
                    <a:pt x="148653" y="250794"/>
                    <a:pt x="152658" y="242262"/>
                    <a:pt x="158532" y="233553"/>
                  </a:cubicBezTo>
                  <a:cubicBezTo>
                    <a:pt x="162537" y="227510"/>
                    <a:pt x="183808" y="210358"/>
                    <a:pt x="191907" y="202270"/>
                  </a:cubicBezTo>
                  <a:lnTo>
                    <a:pt x="192975" y="201204"/>
                  </a:lnTo>
                  <a:cubicBezTo>
                    <a:pt x="196980" y="199160"/>
                    <a:pt x="199027" y="196138"/>
                    <a:pt x="200006" y="193117"/>
                  </a:cubicBezTo>
                  <a:cubicBezTo>
                    <a:pt x="202053" y="187073"/>
                    <a:pt x="200006" y="178986"/>
                    <a:pt x="194933" y="170899"/>
                  </a:cubicBezTo>
                  <a:cubicBezTo>
                    <a:pt x="194933" y="169832"/>
                    <a:pt x="154438" y="102113"/>
                    <a:pt x="121062" y="84961"/>
                  </a:cubicBezTo>
                  <a:cubicBezTo>
                    <a:pt x="115989" y="81895"/>
                    <a:pt x="109915" y="80873"/>
                    <a:pt x="103963" y="81761"/>
                  </a:cubicBezTo>
                  <a:close/>
                  <a:moveTo>
                    <a:pt x="353980" y="30273"/>
                  </a:moveTo>
                  <a:cubicBezTo>
                    <a:pt x="360041" y="30273"/>
                    <a:pt x="364141" y="34368"/>
                    <a:pt x="364141" y="40422"/>
                  </a:cubicBezTo>
                  <a:lnTo>
                    <a:pt x="364141" y="60719"/>
                  </a:lnTo>
                  <a:cubicBezTo>
                    <a:pt x="364141" y="66772"/>
                    <a:pt x="360041" y="70778"/>
                    <a:pt x="353980" y="70778"/>
                  </a:cubicBezTo>
                  <a:cubicBezTo>
                    <a:pt x="347829" y="70778"/>
                    <a:pt x="343818" y="66772"/>
                    <a:pt x="343818" y="60719"/>
                  </a:cubicBezTo>
                  <a:lnTo>
                    <a:pt x="343818" y="40422"/>
                  </a:lnTo>
                  <a:cubicBezTo>
                    <a:pt x="343818" y="34368"/>
                    <a:pt x="347829" y="30273"/>
                    <a:pt x="353980" y="30273"/>
                  </a:cubicBezTo>
                  <a:close/>
                  <a:moveTo>
                    <a:pt x="353978" y="20263"/>
                  </a:moveTo>
                  <a:cubicBezTo>
                    <a:pt x="284112" y="20263"/>
                    <a:pt x="219409" y="50479"/>
                    <a:pt x="174819" y="104957"/>
                  </a:cubicBezTo>
                  <a:cubicBezTo>
                    <a:pt x="196446" y="130818"/>
                    <a:pt x="212911" y="158901"/>
                    <a:pt x="214246" y="160768"/>
                  </a:cubicBezTo>
                  <a:cubicBezTo>
                    <a:pt x="221278" y="173920"/>
                    <a:pt x="224304" y="187073"/>
                    <a:pt x="221278" y="198182"/>
                  </a:cubicBezTo>
                  <a:cubicBezTo>
                    <a:pt x="220299" y="202093"/>
                    <a:pt x="218430" y="205736"/>
                    <a:pt x="215938" y="209025"/>
                  </a:cubicBezTo>
                  <a:cubicBezTo>
                    <a:pt x="214336" y="211335"/>
                    <a:pt x="212466" y="213379"/>
                    <a:pt x="210152" y="215157"/>
                  </a:cubicBezTo>
                  <a:cubicBezTo>
                    <a:pt x="208906" y="216312"/>
                    <a:pt x="207482" y="217378"/>
                    <a:pt x="206147" y="218445"/>
                  </a:cubicBezTo>
                  <a:cubicBezTo>
                    <a:pt x="193954" y="228487"/>
                    <a:pt x="179803" y="241640"/>
                    <a:pt x="176777" y="244662"/>
                  </a:cubicBezTo>
                  <a:cubicBezTo>
                    <a:pt x="160579" y="269012"/>
                    <a:pt x="162537" y="287142"/>
                    <a:pt x="182829" y="308382"/>
                  </a:cubicBezTo>
                  <a:lnTo>
                    <a:pt x="189504" y="315136"/>
                  </a:lnTo>
                  <a:cubicBezTo>
                    <a:pt x="189771" y="315403"/>
                    <a:pt x="189949" y="315492"/>
                    <a:pt x="189949" y="315492"/>
                  </a:cubicBezTo>
                  <a:cubicBezTo>
                    <a:pt x="190572" y="316025"/>
                    <a:pt x="191195" y="316647"/>
                    <a:pt x="191640" y="317269"/>
                  </a:cubicBezTo>
                  <a:lnTo>
                    <a:pt x="298263" y="424714"/>
                  </a:lnTo>
                  <a:cubicBezTo>
                    <a:pt x="318556" y="444888"/>
                    <a:pt x="337780" y="446932"/>
                    <a:pt x="362077" y="430758"/>
                  </a:cubicBezTo>
                  <a:cubicBezTo>
                    <a:pt x="365103" y="428713"/>
                    <a:pt x="378275" y="414583"/>
                    <a:pt x="388422" y="401430"/>
                  </a:cubicBezTo>
                  <a:cubicBezTo>
                    <a:pt x="393406" y="393343"/>
                    <a:pt x="400526" y="388277"/>
                    <a:pt x="408625" y="386233"/>
                  </a:cubicBezTo>
                  <a:cubicBezTo>
                    <a:pt x="412096" y="385344"/>
                    <a:pt x="415834" y="384900"/>
                    <a:pt x="419661" y="384900"/>
                  </a:cubicBezTo>
                  <a:cubicBezTo>
                    <a:pt x="428294" y="384989"/>
                    <a:pt x="437728" y="387477"/>
                    <a:pt x="446094" y="392365"/>
                  </a:cubicBezTo>
                  <a:cubicBezTo>
                    <a:pt x="447963" y="393609"/>
                    <a:pt x="476088" y="410051"/>
                    <a:pt x="501987" y="431646"/>
                  </a:cubicBezTo>
                  <a:cubicBezTo>
                    <a:pt x="556545" y="387122"/>
                    <a:pt x="586894" y="322513"/>
                    <a:pt x="586894" y="252749"/>
                  </a:cubicBezTo>
                  <a:cubicBezTo>
                    <a:pt x="586894" y="124330"/>
                    <a:pt x="482585" y="20263"/>
                    <a:pt x="353978" y="20263"/>
                  </a:cubicBezTo>
                  <a:close/>
                  <a:moveTo>
                    <a:pt x="353978" y="0"/>
                  </a:moveTo>
                  <a:cubicBezTo>
                    <a:pt x="493710" y="0"/>
                    <a:pt x="607097" y="113222"/>
                    <a:pt x="607097" y="252749"/>
                  </a:cubicBezTo>
                  <a:cubicBezTo>
                    <a:pt x="607097" y="327578"/>
                    <a:pt x="574345" y="397786"/>
                    <a:pt x="517384" y="445421"/>
                  </a:cubicBezTo>
                  <a:cubicBezTo>
                    <a:pt x="526907" y="454753"/>
                    <a:pt x="535184" y="464617"/>
                    <a:pt x="540257" y="474215"/>
                  </a:cubicBezTo>
                  <a:cubicBezTo>
                    <a:pt x="550403" y="493412"/>
                    <a:pt x="547377" y="517673"/>
                    <a:pt x="531179" y="532870"/>
                  </a:cubicBezTo>
                  <a:lnTo>
                    <a:pt x="505814" y="559176"/>
                  </a:lnTo>
                  <a:cubicBezTo>
                    <a:pt x="474486" y="590548"/>
                    <a:pt x="438974" y="606722"/>
                    <a:pt x="401505" y="606722"/>
                  </a:cubicBezTo>
                  <a:cubicBezTo>
                    <a:pt x="375249" y="606722"/>
                    <a:pt x="346858" y="598635"/>
                    <a:pt x="318556" y="582460"/>
                  </a:cubicBezTo>
                  <a:cubicBezTo>
                    <a:pt x="301289" y="573307"/>
                    <a:pt x="285091" y="560154"/>
                    <a:pt x="268893" y="543979"/>
                  </a:cubicBezTo>
                  <a:lnTo>
                    <a:pt x="61343" y="336732"/>
                  </a:lnTo>
                  <a:cubicBezTo>
                    <a:pt x="42030" y="317536"/>
                    <a:pt x="26899" y="296296"/>
                    <a:pt x="16753" y="275056"/>
                  </a:cubicBezTo>
                  <a:cubicBezTo>
                    <a:pt x="-13596" y="210358"/>
                    <a:pt x="-2471" y="151703"/>
                    <a:pt x="48171" y="101135"/>
                  </a:cubicBezTo>
                  <a:lnTo>
                    <a:pt x="73447" y="75807"/>
                  </a:lnTo>
                  <a:cubicBezTo>
                    <a:pt x="88666" y="60699"/>
                    <a:pt x="112963" y="56611"/>
                    <a:pt x="132188" y="66742"/>
                  </a:cubicBezTo>
                  <a:cubicBezTo>
                    <a:pt x="141711" y="71719"/>
                    <a:pt x="151412" y="79895"/>
                    <a:pt x="160757" y="89315"/>
                  </a:cubicBezTo>
                  <a:cubicBezTo>
                    <a:pt x="209173" y="32971"/>
                    <a:pt x="278772" y="0"/>
                    <a:pt x="353978" y="0"/>
                  </a:cubicBezTo>
                  <a:close/>
                </a:path>
              </a:pathLst>
            </a:custGeom>
            <a:solidFill>
              <a:schemeClr val="bg1"/>
            </a:solidFill>
            <a:ln w="12700">
              <a:miter lim="400000"/>
            </a:ln>
          </p:spPr>
          <p:txBody>
            <a:bodyPr lIns="22851" tIns="22851" rIns="22851" bIns="22851"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grpSp>
      <p:sp>
        <p:nvSpPr>
          <p:cNvPr id="44" name="文本框 43"/>
          <p:cNvSpPr txBox="1"/>
          <p:nvPr/>
        </p:nvSpPr>
        <p:spPr>
          <a:xfrm>
            <a:off x="870682" y="4318655"/>
            <a:ext cx="773430" cy="1806504"/>
          </a:xfrm>
          <a:prstGeom prst="rect">
            <a:avLst/>
          </a:prstGeom>
          <a:noFill/>
        </p:spPr>
        <p:txBody>
          <a:bodyPr vert="eaVert" wrap="square" rtlCol="0">
            <a:spAutoFit/>
          </a:bodyPr>
          <a:lstStyle/>
          <a:p>
            <a:pPr algn="dist">
              <a:lnSpc>
                <a:spcPct val="120000"/>
              </a:lnSpc>
            </a:pPr>
            <a:r>
              <a:rPr lang="en-US" altLang="zh-CN" sz="3200">
                <a:solidFill>
                  <a:schemeClr val="bg1">
                    <a:lumMod val="65000"/>
                  </a:schemeClr>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STEPS</a:t>
            </a:r>
            <a:endParaRPr lang="en-US" altLang="zh-CN" sz="3200">
              <a:solidFill>
                <a:schemeClr val="bg1">
                  <a:lumMod val="65000"/>
                </a:schemeClr>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45" name="组合 44"/>
          <p:cNvGrpSpPr/>
          <p:nvPr/>
        </p:nvGrpSpPr>
        <p:grpSpPr>
          <a:xfrm>
            <a:off x="96610" y="4428780"/>
            <a:ext cx="888862" cy="1266629"/>
            <a:chOff x="4848640" y="2234522"/>
            <a:chExt cx="666751" cy="950120"/>
          </a:xfrm>
        </p:grpSpPr>
        <p:sp>
          <p:nvSpPr>
            <p:cNvPr id="46" name="Freeform 50"/>
            <p:cNvSpPr/>
            <p:nvPr/>
          </p:nvSpPr>
          <p:spPr bwMode="auto">
            <a:xfrm>
              <a:off x="4848640" y="2764351"/>
              <a:ext cx="296466" cy="420291"/>
            </a:xfrm>
            <a:custGeom>
              <a:avLst/>
              <a:gdLst>
                <a:gd name="T0" fmla="*/ 7 w 104"/>
                <a:gd name="T1" fmla="*/ 122 h 148"/>
                <a:gd name="T2" fmla="*/ 7 w 104"/>
                <a:gd name="T3" fmla="*/ 123 h 148"/>
                <a:gd name="T4" fmla="*/ 7 w 104"/>
                <a:gd name="T5" fmla="*/ 128 h 148"/>
                <a:gd name="T6" fmla="*/ 0 w 104"/>
                <a:gd name="T7" fmla="*/ 138 h 148"/>
                <a:gd name="T8" fmla="*/ 10 w 104"/>
                <a:gd name="T9" fmla="*/ 148 h 148"/>
                <a:gd name="T10" fmla="*/ 20 w 104"/>
                <a:gd name="T11" fmla="*/ 138 h 148"/>
                <a:gd name="T12" fmla="*/ 14 w 104"/>
                <a:gd name="T13" fmla="*/ 129 h 148"/>
                <a:gd name="T14" fmla="*/ 14 w 104"/>
                <a:gd name="T15" fmla="*/ 125 h 148"/>
                <a:gd name="T16" fmla="*/ 46 w 104"/>
                <a:gd name="T17" fmla="*/ 114 h 148"/>
                <a:gd name="T18" fmla="*/ 48 w 104"/>
                <a:gd name="T19" fmla="*/ 128 h 148"/>
                <a:gd name="T20" fmla="*/ 41 w 104"/>
                <a:gd name="T21" fmla="*/ 138 h 148"/>
                <a:gd name="T22" fmla="*/ 51 w 104"/>
                <a:gd name="T23" fmla="*/ 148 h 148"/>
                <a:gd name="T24" fmla="*/ 61 w 104"/>
                <a:gd name="T25" fmla="*/ 138 h 148"/>
                <a:gd name="T26" fmla="*/ 56 w 104"/>
                <a:gd name="T27" fmla="*/ 129 h 148"/>
                <a:gd name="T28" fmla="*/ 57 w 104"/>
                <a:gd name="T29" fmla="*/ 114 h 148"/>
                <a:gd name="T30" fmla="*/ 83 w 104"/>
                <a:gd name="T31" fmla="*/ 120 h 148"/>
                <a:gd name="T32" fmla="*/ 89 w 104"/>
                <a:gd name="T33" fmla="*/ 124 h 148"/>
                <a:gd name="T34" fmla="*/ 89 w 104"/>
                <a:gd name="T35" fmla="*/ 125 h 148"/>
                <a:gd name="T36" fmla="*/ 89 w 104"/>
                <a:gd name="T37" fmla="*/ 129 h 148"/>
                <a:gd name="T38" fmla="*/ 83 w 104"/>
                <a:gd name="T39" fmla="*/ 138 h 148"/>
                <a:gd name="T40" fmla="*/ 93 w 104"/>
                <a:gd name="T41" fmla="*/ 148 h 148"/>
                <a:gd name="T42" fmla="*/ 104 w 104"/>
                <a:gd name="T43" fmla="*/ 138 h 148"/>
                <a:gd name="T44" fmla="*/ 97 w 104"/>
                <a:gd name="T45" fmla="*/ 128 h 148"/>
                <a:gd name="T46" fmla="*/ 97 w 104"/>
                <a:gd name="T47" fmla="*/ 123 h 148"/>
                <a:gd name="T48" fmla="*/ 96 w 104"/>
                <a:gd name="T49" fmla="*/ 122 h 148"/>
                <a:gd name="T50" fmla="*/ 58 w 104"/>
                <a:gd name="T51" fmla="*/ 107 h 148"/>
                <a:gd name="T52" fmla="*/ 60 w 104"/>
                <a:gd name="T53" fmla="*/ 92 h 148"/>
                <a:gd name="T54" fmla="*/ 88 w 104"/>
                <a:gd name="T55" fmla="*/ 92 h 148"/>
                <a:gd name="T56" fmla="*/ 98 w 104"/>
                <a:gd name="T57" fmla="*/ 83 h 148"/>
                <a:gd name="T58" fmla="*/ 88 w 104"/>
                <a:gd name="T59" fmla="*/ 73 h 148"/>
                <a:gd name="T60" fmla="*/ 24 w 104"/>
                <a:gd name="T61" fmla="*/ 73 h 148"/>
                <a:gd name="T62" fmla="*/ 20 w 104"/>
                <a:gd name="T63" fmla="*/ 9 h 148"/>
                <a:gd name="T64" fmla="*/ 10 w 104"/>
                <a:gd name="T65" fmla="*/ 0 h 148"/>
                <a:gd name="T66" fmla="*/ 1 w 104"/>
                <a:gd name="T67" fmla="*/ 10 h 148"/>
                <a:gd name="T68" fmla="*/ 1 w 104"/>
                <a:gd name="T69" fmla="*/ 10 h 148"/>
                <a:gd name="T70" fmla="*/ 6 w 104"/>
                <a:gd name="T71" fmla="*/ 83 h 148"/>
                <a:gd name="T72" fmla="*/ 15 w 104"/>
                <a:gd name="T73" fmla="*/ 92 h 148"/>
                <a:gd name="T74" fmla="*/ 44 w 104"/>
                <a:gd name="T75" fmla="*/ 92 h 148"/>
                <a:gd name="T76" fmla="*/ 46 w 104"/>
                <a:gd name="T77" fmla="*/ 107 h 148"/>
                <a:gd name="T78" fmla="*/ 7 w 104"/>
                <a:gd name="T79" fmla="*/ 1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4" h="148">
                  <a:moveTo>
                    <a:pt x="7" y="122"/>
                  </a:moveTo>
                  <a:cubicBezTo>
                    <a:pt x="7" y="123"/>
                    <a:pt x="7" y="123"/>
                    <a:pt x="7" y="123"/>
                  </a:cubicBezTo>
                  <a:cubicBezTo>
                    <a:pt x="7" y="128"/>
                    <a:pt x="7" y="128"/>
                    <a:pt x="7" y="128"/>
                  </a:cubicBezTo>
                  <a:cubicBezTo>
                    <a:pt x="3" y="130"/>
                    <a:pt x="0" y="133"/>
                    <a:pt x="0" y="138"/>
                  </a:cubicBezTo>
                  <a:cubicBezTo>
                    <a:pt x="0" y="144"/>
                    <a:pt x="4" y="148"/>
                    <a:pt x="10" y="148"/>
                  </a:cubicBezTo>
                  <a:cubicBezTo>
                    <a:pt x="15" y="148"/>
                    <a:pt x="20" y="144"/>
                    <a:pt x="20" y="138"/>
                  </a:cubicBezTo>
                  <a:cubicBezTo>
                    <a:pt x="20" y="134"/>
                    <a:pt x="18" y="130"/>
                    <a:pt x="14" y="129"/>
                  </a:cubicBezTo>
                  <a:cubicBezTo>
                    <a:pt x="14" y="125"/>
                    <a:pt x="14" y="125"/>
                    <a:pt x="14" y="125"/>
                  </a:cubicBezTo>
                  <a:cubicBezTo>
                    <a:pt x="16" y="123"/>
                    <a:pt x="24" y="116"/>
                    <a:pt x="46" y="114"/>
                  </a:cubicBezTo>
                  <a:cubicBezTo>
                    <a:pt x="48" y="128"/>
                    <a:pt x="48" y="128"/>
                    <a:pt x="48" y="128"/>
                  </a:cubicBezTo>
                  <a:cubicBezTo>
                    <a:pt x="44" y="130"/>
                    <a:pt x="41" y="134"/>
                    <a:pt x="41" y="138"/>
                  </a:cubicBezTo>
                  <a:cubicBezTo>
                    <a:pt x="41" y="144"/>
                    <a:pt x="46" y="148"/>
                    <a:pt x="51" y="148"/>
                  </a:cubicBezTo>
                  <a:cubicBezTo>
                    <a:pt x="57" y="148"/>
                    <a:pt x="61" y="144"/>
                    <a:pt x="61" y="138"/>
                  </a:cubicBezTo>
                  <a:cubicBezTo>
                    <a:pt x="61" y="134"/>
                    <a:pt x="59" y="131"/>
                    <a:pt x="56" y="129"/>
                  </a:cubicBezTo>
                  <a:cubicBezTo>
                    <a:pt x="57" y="114"/>
                    <a:pt x="57" y="114"/>
                    <a:pt x="57" y="114"/>
                  </a:cubicBezTo>
                  <a:cubicBezTo>
                    <a:pt x="70" y="115"/>
                    <a:pt x="78" y="118"/>
                    <a:pt x="83" y="120"/>
                  </a:cubicBezTo>
                  <a:cubicBezTo>
                    <a:pt x="86" y="122"/>
                    <a:pt x="88" y="123"/>
                    <a:pt x="89" y="124"/>
                  </a:cubicBezTo>
                  <a:cubicBezTo>
                    <a:pt x="89" y="125"/>
                    <a:pt x="89" y="125"/>
                    <a:pt x="89" y="125"/>
                  </a:cubicBezTo>
                  <a:cubicBezTo>
                    <a:pt x="89" y="129"/>
                    <a:pt x="89" y="129"/>
                    <a:pt x="89" y="129"/>
                  </a:cubicBezTo>
                  <a:cubicBezTo>
                    <a:pt x="86" y="130"/>
                    <a:pt x="83" y="134"/>
                    <a:pt x="83" y="138"/>
                  </a:cubicBezTo>
                  <a:cubicBezTo>
                    <a:pt x="83" y="144"/>
                    <a:pt x="88" y="148"/>
                    <a:pt x="93" y="148"/>
                  </a:cubicBezTo>
                  <a:cubicBezTo>
                    <a:pt x="99" y="148"/>
                    <a:pt x="104" y="144"/>
                    <a:pt x="104" y="138"/>
                  </a:cubicBezTo>
                  <a:cubicBezTo>
                    <a:pt x="104" y="134"/>
                    <a:pt x="101" y="130"/>
                    <a:pt x="97" y="128"/>
                  </a:cubicBezTo>
                  <a:cubicBezTo>
                    <a:pt x="97" y="123"/>
                    <a:pt x="97" y="123"/>
                    <a:pt x="97" y="123"/>
                  </a:cubicBezTo>
                  <a:cubicBezTo>
                    <a:pt x="96" y="122"/>
                    <a:pt x="96" y="122"/>
                    <a:pt x="96" y="122"/>
                  </a:cubicBezTo>
                  <a:cubicBezTo>
                    <a:pt x="96" y="121"/>
                    <a:pt x="88" y="108"/>
                    <a:pt x="58" y="107"/>
                  </a:cubicBezTo>
                  <a:cubicBezTo>
                    <a:pt x="60" y="92"/>
                    <a:pt x="60" y="92"/>
                    <a:pt x="60" y="92"/>
                  </a:cubicBezTo>
                  <a:cubicBezTo>
                    <a:pt x="88" y="92"/>
                    <a:pt x="88" y="92"/>
                    <a:pt x="88" y="92"/>
                  </a:cubicBezTo>
                  <a:cubicBezTo>
                    <a:pt x="94" y="92"/>
                    <a:pt x="98" y="88"/>
                    <a:pt x="98" y="83"/>
                  </a:cubicBezTo>
                  <a:cubicBezTo>
                    <a:pt x="98" y="77"/>
                    <a:pt x="94" y="73"/>
                    <a:pt x="88" y="73"/>
                  </a:cubicBezTo>
                  <a:cubicBezTo>
                    <a:pt x="24" y="73"/>
                    <a:pt x="24" y="73"/>
                    <a:pt x="24" y="73"/>
                  </a:cubicBezTo>
                  <a:cubicBezTo>
                    <a:pt x="20" y="9"/>
                    <a:pt x="20" y="9"/>
                    <a:pt x="20" y="9"/>
                  </a:cubicBezTo>
                  <a:cubicBezTo>
                    <a:pt x="20" y="4"/>
                    <a:pt x="15" y="0"/>
                    <a:pt x="10" y="0"/>
                  </a:cubicBezTo>
                  <a:cubicBezTo>
                    <a:pt x="5" y="0"/>
                    <a:pt x="1" y="5"/>
                    <a:pt x="1" y="10"/>
                  </a:cubicBezTo>
                  <a:cubicBezTo>
                    <a:pt x="1" y="10"/>
                    <a:pt x="1" y="10"/>
                    <a:pt x="1" y="10"/>
                  </a:cubicBezTo>
                  <a:cubicBezTo>
                    <a:pt x="6" y="83"/>
                    <a:pt x="6" y="83"/>
                    <a:pt x="6" y="83"/>
                  </a:cubicBezTo>
                  <a:cubicBezTo>
                    <a:pt x="6" y="88"/>
                    <a:pt x="10" y="92"/>
                    <a:pt x="15" y="92"/>
                  </a:cubicBezTo>
                  <a:cubicBezTo>
                    <a:pt x="44" y="92"/>
                    <a:pt x="44" y="92"/>
                    <a:pt x="44" y="92"/>
                  </a:cubicBezTo>
                  <a:cubicBezTo>
                    <a:pt x="46" y="107"/>
                    <a:pt x="46" y="107"/>
                    <a:pt x="46" y="107"/>
                  </a:cubicBezTo>
                  <a:cubicBezTo>
                    <a:pt x="16" y="108"/>
                    <a:pt x="8" y="121"/>
                    <a:pt x="7" y="122"/>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7" name="Oval 51"/>
            <p:cNvSpPr>
              <a:spLocks noChangeArrowheads="1"/>
            </p:cNvSpPr>
            <p:nvPr/>
          </p:nvSpPr>
          <p:spPr bwMode="auto">
            <a:xfrm>
              <a:off x="4968894" y="2435738"/>
              <a:ext cx="159544" cy="158354"/>
            </a:xfrm>
            <a:prstGeom prst="ellipse">
              <a:avLst/>
            </a:pr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8" name="Freeform 52"/>
            <p:cNvSpPr/>
            <p:nvPr/>
          </p:nvSpPr>
          <p:spPr bwMode="auto">
            <a:xfrm>
              <a:off x="4968894" y="2628619"/>
              <a:ext cx="319088" cy="116681"/>
            </a:xfrm>
            <a:custGeom>
              <a:avLst/>
              <a:gdLst>
                <a:gd name="T0" fmla="*/ 29 w 112"/>
                <a:gd name="T1" fmla="*/ 10 h 41"/>
                <a:gd name="T2" fmla="*/ 20 w 112"/>
                <a:gd name="T3" fmla="*/ 6 h 41"/>
                <a:gd name="T4" fmla="*/ 18 w 112"/>
                <a:gd name="T5" fmla="*/ 4 h 41"/>
                <a:gd name="T6" fmla="*/ 18 w 112"/>
                <a:gd name="T7" fmla="*/ 4 h 41"/>
                <a:gd name="T8" fmla="*/ 18 w 112"/>
                <a:gd name="T9" fmla="*/ 4 h 41"/>
                <a:gd name="T10" fmla="*/ 4 w 112"/>
                <a:gd name="T11" fmla="*/ 5 h 41"/>
                <a:gd name="T12" fmla="*/ 5 w 112"/>
                <a:gd name="T13" fmla="*/ 19 h 41"/>
                <a:gd name="T14" fmla="*/ 5 w 112"/>
                <a:gd name="T15" fmla="*/ 19 h 41"/>
                <a:gd name="T16" fmla="*/ 21 w 112"/>
                <a:gd name="T17" fmla="*/ 29 h 41"/>
                <a:gd name="T18" fmla="*/ 21 w 112"/>
                <a:gd name="T19" fmla="*/ 29 h 41"/>
                <a:gd name="T20" fmla="*/ 103 w 112"/>
                <a:gd name="T21" fmla="*/ 35 h 41"/>
                <a:gd name="T22" fmla="*/ 112 w 112"/>
                <a:gd name="T23" fmla="*/ 24 h 41"/>
                <a:gd name="T24" fmla="*/ 100 w 112"/>
                <a:gd name="T25" fmla="*/ 16 h 41"/>
                <a:gd name="T26" fmla="*/ 29 w 112"/>
                <a:gd name="T27"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41">
                  <a:moveTo>
                    <a:pt x="29" y="10"/>
                  </a:moveTo>
                  <a:cubicBezTo>
                    <a:pt x="25" y="8"/>
                    <a:pt x="22" y="7"/>
                    <a:pt x="20" y="6"/>
                  </a:cubicBezTo>
                  <a:cubicBezTo>
                    <a:pt x="19" y="5"/>
                    <a:pt x="18" y="5"/>
                    <a:pt x="18" y="4"/>
                  </a:cubicBezTo>
                  <a:cubicBezTo>
                    <a:pt x="18" y="4"/>
                    <a:pt x="18" y="4"/>
                    <a:pt x="18" y="4"/>
                  </a:cubicBezTo>
                  <a:cubicBezTo>
                    <a:pt x="18" y="4"/>
                    <a:pt x="18" y="4"/>
                    <a:pt x="18" y="4"/>
                  </a:cubicBezTo>
                  <a:cubicBezTo>
                    <a:pt x="14" y="0"/>
                    <a:pt x="7" y="1"/>
                    <a:pt x="4" y="5"/>
                  </a:cubicBezTo>
                  <a:cubicBezTo>
                    <a:pt x="0" y="9"/>
                    <a:pt x="0" y="15"/>
                    <a:pt x="5" y="19"/>
                  </a:cubicBezTo>
                  <a:cubicBezTo>
                    <a:pt x="5" y="19"/>
                    <a:pt x="5" y="19"/>
                    <a:pt x="5" y="19"/>
                  </a:cubicBezTo>
                  <a:cubicBezTo>
                    <a:pt x="5" y="20"/>
                    <a:pt x="10" y="24"/>
                    <a:pt x="21" y="29"/>
                  </a:cubicBezTo>
                  <a:cubicBezTo>
                    <a:pt x="21" y="29"/>
                    <a:pt x="21" y="29"/>
                    <a:pt x="21" y="29"/>
                  </a:cubicBezTo>
                  <a:cubicBezTo>
                    <a:pt x="37" y="35"/>
                    <a:pt x="63" y="41"/>
                    <a:pt x="103" y="35"/>
                  </a:cubicBezTo>
                  <a:cubicBezTo>
                    <a:pt x="109" y="35"/>
                    <a:pt x="112" y="30"/>
                    <a:pt x="112" y="24"/>
                  </a:cubicBezTo>
                  <a:cubicBezTo>
                    <a:pt x="111" y="19"/>
                    <a:pt x="106" y="15"/>
                    <a:pt x="100" y="16"/>
                  </a:cubicBezTo>
                  <a:cubicBezTo>
                    <a:pt x="64" y="21"/>
                    <a:pt x="41" y="15"/>
                    <a:pt x="29" y="10"/>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9" name="Freeform 54"/>
            <p:cNvSpPr/>
            <p:nvPr/>
          </p:nvSpPr>
          <p:spPr bwMode="auto">
            <a:xfrm>
              <a:off x="4917696" y="2589328"/>
              <a:ext cx="364331" cy="569119"/>
            </a:xfrm>
            <a:custGeom>
              <a:avLst/>
              <a:gdLst>
                <a:gd name="T0" fmla="*/ 115 w 128"/>
                <a:gd name="T1" fmla="*/ 111 h 201"/>
                <a:gd name="T2" fmla="*/ 100 w 128"/>
                <a:gd name="T3" fmla="*/ 98 h 201"/>
                <a:gd name="T4" fmla="*/ 58 w 128"/>
                <a:gd name="T5" fmla="*/ 98 h 201"/>
                <a:gd name="T6" fmla="*/ 57 w 128"/>
                <a:gd name="T7" fmla="*/ 91 h 201"/>
                <a:gd name="T8" fmla="*/ 52 w 128"/>
                <a:gd name="T9" fmla="*/ 49 h 201"/>
                <a:gd name="T10" fmla="*/ 38 w 128"/>
                <a:gd name="T11" fmla="*/ 44 h 201"/>
                <a:gd name="T12" fmla="*/ 21 w 128"/>
                <a:gd name="T13" fmla="*/ 34 h 201"/>
                <a:gd name="T14" fmla="*/ 20 w 128"/>
                <a:gd name="T15" fmla="*/ 18 h 201"/>
                <a:gd name="T16" fmla="*/ 29 w 128"/>
                <a:gd name="T17" fmla="*/ 14 h 201"/>
                <a:gd name="T18" fmla="*/ 37 w 128"/>
                <a:gd name="T19" fmla="*/ 17 h 201"/>
                <a:gd name="T20" fmla="*/ 39 w 128"/>
                <a:gd name="T21" fmla="*/ 18 h 201"/>
                <a:gd name="T22" fmla="*/ 48 w 128"/>
                <a:gd name="T23" fmla="*/ 22 h 201"/>
                <a:gd name="T24" fmla="*/ 52 w 128"/>
                <a:gd name="T25" fmla="*/ 24 h 201"/>
                <a:gd name="T26" fmla="*/ 48 w 128"/>
                <a:gd name="T27" fmla="*/ 15 h 201"/>
                <a:gd name="T28" fmla="*/ 41 w 128"/>
                <a:gd name="T29" fmla="*/ 8 h 201"/>
                <a:gd name="T30" fmla="*/ 40 w 128"/>
                <a:gd name="T31" fmla="*/ 7 h 201"/>
                <a:gd name="T32" fmla="*/ 35 w 128"/>
                <a:gd name="T33" fmla="*/ 4 h 201"/>
                <a:gd name="T34" fmla="*/ 3 w 128"/>
                <a:gd name="T35" fmla="*/ 31 h 201"/>
                <a:gd name="T36" fmla="*/ 9 w 128"/>
                <a:gd name="T37" fmla="*/ 106 h 201"/>
                <a:gd name="T38" fmla="*/ 34 w 128"/>
                <a:gd name="T39" fmla="*/ 129 h 201"/>
                <a:gd name="T40" fmla="*/ 34 w 128"/>
                <a:gd name="T41" fmla="*/ 129 h 201"/>
                <a:gd name="T42" fmla="*/ 37 w 128"/>
                <a:gd name="T43" fmla="*/ 129 h 201"/>
                <a:gd name="T44" fmla="*/ 87 w 128"/>
                <a:gd name="T45" fmla="*/ 129 h 201"/>
                <a:gd name="T46" fmla="*/ 96 w 128"/>
                <a:gd name="T47" fmla="*/ 188 h 201"/>
                <a:gd name="T48" fmla="*/ 111 w 128"/>
                <a:gd name="T49" fmla="*/ 201 h 201"/>
                <a:gd name="T50" fmla="*/ 114 w 128"/>
                <a:gd name="T51" fmla="*/ 201 h 201"/>
                <a:gd name="T52" fmla="*/ 127 w 128"/>
                <a:gd name="T53" fmla="*/ 183 h 201"/>
                <a:gd name="T54" fmla="*/ 115 w 128"/>
                <a:gd name="T55" fmla="*/ 11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 h="201">
                  <a:moveTo>
                    <a:pt x="115" y="111"/>
                  </a:moveTo>
                  <a:cubicBezTo>
                    <a:pt x="114" y="104"/>
                    <a:pt x="108" y="98"/>
                    <a:pt x="100" y="98"/>
                  </a:cubicBezTo>
                  <a:cubicBezTo>
                    <a:pt x="58" y="98"/>
                    <a:pt x="58" y="98"/>
                    <a:pt x="58" y="98"/>
                  </a:cubicBezTo>
                  <a:cubicBezTo>
                    <a:pt x="58" y="96"/>
                    <a:pt x="58" y="93"/>
                    <a:pt x="57" y="91"/>
                  </a:cubicBezTo>
                  <a:cubicBezTo>
                    <a:pt x="53" y="78"/>
                    <a:pt x="51" y="63"/>
                    <a:pt x="52" y="49"/>
                  </a:cubicBezTo>
                  <a:cubicBezTo>
                    <a:pt x="46" y="47"/>
                    <a:pt x="42" y="46"/>
                    <a:pt x="38" y="44"/>
                  </a:cubicBezTo>
                  <a:cubicBezTo>
                    <a:pt x="28" y="40"/>
                    <a:pt x="22" y="35"/>
                    <a:pt x="21" y="34"/>
                  </a:cubicBezTo>
                  <a:cubicBezTo>
                    <a:pt x="16" y="30"/>
                    <a:pt x="16" y="22"/>
                    <a:pt x="20" y="18"/>
                  </a:cubicBezTo>
                  <a:cubicBezTo>
                    <a:pt x="22" y="15"/>
                    <a:pt x="26" y="14"/>
                    <a:pt x="29" y="14"/>
                  </a:cubicBezTo>
                  <a:cubicBezTo>
                    <a:pt x="32" y="14"/>
                    <a:pt x="35" y="15"/>
                    <a:pt x="37" y="17"/>
                  </a:cubicBezTo>
                  <a:cubicBezTo>
                    <a:pt x="38" y="17"/>
                    <a:pt x="38" y="17"/>
                    <a:pt x="39" y="18"/>
                  </a:cubicBezTo>
                  <a:cubicBezTo>
                    <a:pt x="41" y="19"/>
                    <a:pt x="44" y="21"/>
                    <a:pt x="48" y="22"/>
                  </a:cubicBezTo>
                  <a:cubicBezTo>
                    <a:pt x="49" y="23"/>
                    <a:pt x="51" y="24"/>
                    <a:pt x="52" y="24"/>
                  </a:cubicBezTo>
                  <a:cubicBezTo>
                    <a:pt x="51" y="20"/>
                    <a:pt x="50" y="18"/>
                    <a:pt x="48" y="15"/>
                  </a:cubicBezTo>
                  <a:cubicBezTo>
                    <a:pt x="48" y="15"/>
                    <a:pt x="43" y="9"/>
                    <a:pt x="41" y="8"/>
                  </a:cubicBezTo>
                  <a:cubicBezTo>
                    <a:pt x="41" y="8"/>
                    <a:pt x="40" y="7"/>
                    <a:pt x="40" y="7"/>
                  </a:cubicBezTo>
                  <a:cubicBezTo>
                    <a:pt x="38" y="6"/>
                    <a:pt x="36" y="5"/>
                    <a:pt x="35" y="4"/>
                  </a:cubicBezTo>
                  <a:cubicBezTo>
                    <a:pt x="22" y="0"/>
                    <a:pt x="6" y="11"/>
                    <a:pt x="3" y="31"/>
                  </a:cubicBezTo>
                  <a:cubicBezTo>
                    <a:pt x="0" y="56"/>
                    <a:pt x="2" y="82"/>
                    <a:pt x="9" y="106"/>
                  </a:cubicBezTo>
                  <a:cubicBezTo>
                    <a:pt x="13" y="119"/>
                    <a:pt x="24" y="128"/>
                    <a:pt x="34" y="129"/>
                  </a:cubicBezTo>
                  <a:cubicBezTo>
                    <a:pt x="34" y="129"/>
                    <a:pt x="34" y="129"/>
                    <a:pt x="34" y="129"/>
                  </a:cubicBezTo>
                  <a:cubicBezTo>
                    <a:pt x="35" y="129"/>
                    <a:pt x="36" y="129"/>
                    <a:pt x="37" y="129"/>
                  </a:cubicBezTo>
                  <a:cubicBezTo>
                    <a:pt x="87" y="129"/>
                    <a:pt x="87" y="129"/>
                    <a:pt x="87" y="129"/>
                  </a:cubicBezTo>
                  <a:cubicBezTo>
                    <a:pt x="96" y="188"/>
                    <a:pt x="96" y="188"/>
                    <a:pt x="96" y="188"/>
                  </a:cubicBezTo>
                  <a:cubicBezTo>
                    <a:pt x="97" y="196"/>
                    <a:pt x="104" y="201"/>
                    <a:pt x="111" y="201"/>
                  </a:cubicBezTo>
                  <a:cubicBezTo>
                    <a:pt x="112" y="201"/>
                    <a:pt x="113" y="201"/>
                    <a:pt x="114" y="201"/>
                  </a:cubicBezTo>
                  <a:cubicBezTo>
                    <a:pt x="122" y="200"/>
                    <a:pt x="128" y="192"/>
                    <a:pt x="127" y="183"/>
                  </a:cubicBezTo>
                  <a:lnTo>
                    <a:pt x="115" y="111"/>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0" name="Freeform 55"/>
            <p:cNvSpPr/>
            <p:nvPr/>
          </p:nvSpPr>
          <p:spPr bwMode="auto">
            <a:xfrm>
              <a:off x="5068906" y="2628619"/>
              <a:ext cx="221456" cy="47625"/>
            </a:xfrm>
            <a:custGeom>
              <a:avLst/>
              <a:gdLst>
                <a:gd name="T0" fmla="*/ 38 w 78"/>
                <a:gd name="T1" fmla="*/ 16 h 17"/>
                <a:gd name="T2" fmla="*/ 65 w 78"/>
                <a:gd name="T3" fmla="*/ 14 h 17"/>
                <a:gd name="T4" fmla="*/ 67 w 78"/>
                <a:gd name="T5" fmla="*/ 14 h 17"/>
                <a:gd name="T6" fmla="*/ 75 w 78"/>
                <a:gd name="T7" fmla="*/ 17 h 17"/>
                <a:gd name="T8" fmla="*/ 77 w 78"/>
                <a:gd name="T9" fmla="*/ 8 h 17"/>
                <a:gd name="T10" fmla="*/ 64 w 78"/>
                <a:gd name="T11" fmla="*/ 2 h 17"/>
                <a:gd name="T12" fmla="*/ 0 w 78"/>
                <a:gd name="T13" fmla="*/ 10 h 17"/>
                <a:gd name="T14" fmla="*/ 38 w 78"/>
                <a:gd name="T15" fmla="*/ 16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17">
                  <a:moveTo>
                    <a:pt x="38" y="16"/>
                  </a:moveTo>
                  <a:cubicBezTo>
                    <a:pt x="46" y="16"/>
                    <a:pt x="55" y="15"/>
                    <a:pt x="65" y="14"/>
                  </a:cubicBezTo>
                  <a:cubicBezTo>
                    <a:pt x="66" y="14"/>
                    <a:pt x="66" y="14"/>
                    <a:pt x="67" y="14"/>
                  </a:cubicBezTo>
                  <a:cubicBezTo>
                    <a:pt x="70" y="14"/>
                    <a:pt x="73" y="15"/>
                    <a:pt x="75" y="17"/>
                  </a:cubicBezTo>
                  <a:cubicBezTo>
                    <a:pt x="77" y="15"/>
                    <a:pt x="78" y="11"/>
                    <a:pt x="77" y="8"/>
                  </a:cubicBezTo>
                  <a:cubicBezTo>
                    <a:pt x="75" y="3"/>
                    <a:pt x="69" y="0"/>
                    <a:pt x="64" y="2"/>
                  </a:cubicBezTo>
                  <a:cubicBezTo>
                    <a:pt x="35" y="11"/>
                    <a:pt x="14" y="12"/>
                    <a:pt x="0" y="10"/>
                  </a:cubicBezTo>
                  <a:cubicBezTo>
                    <a:pt x="11" y="14"/>
                    <a:pt x="24" y="16"/>
                    <a:pt x="38" y="16"/>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1" name="Freeform 56"/>
            <p:cNvSpPr>
              <a:spLocks noEditPoints="1"/>
            </p:cNvSpPr>
            <p:nvPr/>
          </p:nvSpPr>
          <p:spPr bwMode="auto">
            <a:xfrm>
              <a:off x="5122484" y="2234522"/>
              <a:ext cx="302419" cy="263129"/>
            </a:xfrm>
            <a:custGeom>
              <a:avLst/>
              <a:gdLst>
                <a:gd name="T0" fmla="*/ 21 w 106"/>
                <a:gd name="T1" fmla="*/ 93 h 93"/>
                <a:gd name="T2" fmla="*/ 20 w 106"/>
                <a:gd name="T3" fmla="*/ 91 h 93"/>
                <a:gd name="T4" fmla="*/ 20 w 106"/>
                <a:gd name="T5" fmla="*/ 91 h 93"/>
                <a:gd name="T6" fmla="*/ 20 w 106"/>
                <a:gd name="T7" fmla="*/ 91 h 93"/>
                <a:gd name="T8" fmla="*/ 20 w 106"/>
                <a:gd name="T9" fmla="*/ 77 h 93"/>
                <a:gd name="T10" fmla="*/ 19 w 106"/>
                <a:gd name="T11" fmla="*/ 77 h 93"/>
                <a:gd name="T12" fmla="*/ 0 w 106"/>
                <a:gd name="T13" fmla="*/ 43 h 93"/>
                <a:gd name="T14" fmla="*/ 56 w 106"/>
                <a:gd name="T15" fmla="*/ 1 h 93"/>
                <a:gd name="T16" fmla="*/ 105 w 106"/>
                <a:gd name="T17" fmla="*/ 45 h 93"/>
                <a:gd name="T18" fmla="*/ 55 w 106"/>
                <a:gd name="T19" fmla="*/ 88 h 93"/>
                <a:gd name="T20" fmla="*/ 37 w 106"/>
                <a:gd name="T21" fmla="*/ 85 h 93"/>
                <a:gd name="T22" fmla="*/ 37 w 106"/>
                <a:gd name="T23" fmla="*/ 85 h 93"/>
                <a:gd name="T24" fmla="*/ 22 w 106"/>
                <a:gd name="T25" fmla="*/ 93 h 93"/>
                <a:gd name="T26" fmla="*/ 22 w 106"/>
                <a:gd name="T27" fmla="*/ 93 h 93"/>
                <a:gd name="T28" fmla="*/ 21 w 106"/>
                <a:gd name="T29" fmla="*/ 93 h 93"/>
                <a:gd name="T30" fmla="*/ 56 w 106"/>
                <a:gd name="T31" fmla="*/ 5 h 93"/>
                <a:gd name="T32" fmla="*/ 4 w 106"/>
                <a:gd name="T33" fmla="*/ 43 h 93"/>
                <a:gd name="T34" fmla="*/ 23 w 106"/>
                <a:gd name="T35" fmla="*/ 75 h 93"/>
                <a:gd name="T36" fmla="*/ 24 w 106"/>
                <a:gd name="T37" fmla="*/ 76 h 93"/>
                <a:gd name="T38" fmla="*/ 23 w 106"/>
                <a:gd name="T39" fmla="*/ 88 h 93"/>
                <a:gd name="T40" fmla="*/ 35 w 106"/>
                <a:gd name="T41" fmla="*/ 81 h 93"/>
                <a:gd name="T42" fmla="*/ 36 w 106"/>
                <a:gd name="T43" fmla="*/ 81 h 93"/>
                <a:gd name="T44" fmla="*/ 37 w 106"/>
                <a:gd name="T45" fmla="*/ 81 h 93"/>
                <a:gd name="T46" fmla="*/ 55 w 106"/>
                <a:gd name="T47" fmla="*/ 84 h 93"/>
                <a:gd name="T48" fmla="*/ 102 w 106"/>
                <a:gd name="T49" fmla="*/ 45 h 93"/>
                <a:gd name="T50" fmla="*/ 56 w 106"/>
                <a:gd name="T51" fmla="*/ 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 h="93">
                  <a:moveTo>
                    <a:pt x="21" y="93"/>
                  </a:moveTo>
                  <a:cubicBezTo>
                    <a:pt x="20" y="93"/>
                    <a:pt x="20" y="92"/>
                    <a:pt x="20" y="91"/>
                  </a:cubicBezTo>
                  <a:cubicBezTo>
                    <a:pt x="20" y="91"/>
                    <a:pt x="20" y="91"/>
                    <a:pt x="20" y="91"/>
                  </a:cubicBezTo>
                  <a:cubicBezTo>
                    <a:pt x="20" y="91"/>
                    <a:pt x="20" y="91"/>
                    <a:pt x="20" y="91"/>
                  </a:cubicBezTo>
                  <a:cubicBezTo>
                    <a:pt x="20" y="77"/>
                    <a:pt x="20" y="77"/>
                    <a:pt x="20" y="77"/>
                  </a:cubicBezTo>
                  <a:cubicBezTo>
                    <a:pt x="19" y="77"/>
                    <a:pt x="19" y="77"/>
                    <a:pt x="19" y="77"/>
                  </a:cubicBezTo>
                  <a:cubicBezTo>
                    <a:pt x="7" y="68"/>
                    <a:pt x="0" y="56"/>
                    <a:pt x="0" y="43"/>
                  </a:cubicBezTo>
                  <a:cubicBezTo>
                    <a:pt x="1" y="19"/>
                    <a:pt x="25" y="0"/>
                    <a:pt x="56" y="1"/>
                  </a:cubicBezTo>
                  <a:cubicBezTo>
                    <a:pt x="85" y="1"/>
                    <a:pt x="106" y="20"/>
                    <a:pt x="105" y="45"/>
                  </a:cubicBezTo>
                  <a:cubicBezTo>
                    <a:pt x="105" y="71"/>
                    <a:pt x="84" y="88"/>
                    <a:pt x="55" y="88"/>
                  </a:cubicBezTo>
                  <a:cubicBezTo>
                    <a:pt x="49" y="88"/>
                    <a:pt x="43" y="87"/>
                    <a:pt x="37" y="85"/>
                  </a:cubicBezTo>
                  <a:cubicBezTo>
                    <a:pt x="37" y="85"/>
                    <a:pt x="37" y="85"/>
                    <a:pt x="37" y="85"/>
                  </a:cubicBezTo>
                  <a:cubicBezTo>
                    <a:pt x="22" y="93"/>
                    <a:pt x="22" y="93"/>
                    <a:pt x="22" y="93"/>
                  </a:cubicBezTo>
                  <a:cubicBezTo>
                    <a:pt x="22" y="93"/>
                    <a:pt x="22" y="93"/>
                    <a:pt x="22" y="93"/>
                  </a:cubicBezTo>
                  <a:lnTo>
                    <a:pt x="21" y="93"/>
                  </a:lnTo>
                  <a:close/>
                  <a:moveTo>
                    <a:pt x="56" y="5"/>
                  </a:moveTo>
                  <a:cubicBezTo>
                    <a:pt x="28" y="4"/>
                    <a:pt x="4" y="22"/>
                    <a:pt x="4" y="43"/>
                  </a:cubicBezTo>
                  <a:cubicBezTo>
                    <a:pt x="4" y="56"/>
                    <a:pt x="11" y="67"/>
                    <a:pt x="23" y="75"/>
                  </a:cubicBezTo>
                  <a:cubicBezTo>
                    <a:pt x="23" y="75"/>
                    <a:pt x="24" y="76"/>
                    <a:pt x="24" y="76"/>
                  </a:cubicBezTo>
                  <a:cubicBezTo>
                    <a:pt x="23" y="88"/>
                    <a:pt x="23" y="88"/>
                    <a:pt x="23" y="88"/>
                  </a:cubicBezTo>
                  <a:cubicBezTo>
                    <a:pt x="35" y="81"/>
                    <a:pt x="35" y="81"/>
                    <a:pt x="35" y="81"/>
                  </a:cubicBezTo>
                  <a:cubicBezTo>
                    <a:pt x="36" y="81"/>
                    <a:pt x="36" y="81"/>
                    <a:pt x="36" y="81"/>
                  </a:cubicBezTo>
                  <a:cubicBezTo>
                    <a:pt x="37" y="81"/>
                    <a:pt x="37" y="81"/>
                    <a:pt x="37" y="81"/>
                  </a:cubicBezTo>
                  <a:cubicBezTo>
                    <a:pt x="43" y="83"/>
                    <a:pt x="49" y="84"/>
                    <a:pt x="55" y="84"/>
                  </a:cubicBezTo>
                  <a:cubicBezTo>
                    <a:pt x="82" y="84"/>
                    <a:pt x="101" y="68"/>
                    <a:pt x="102" y="45"/>
                  </a:cubicBezTo>
                  <a:cubicBezTo>
                    <a:pt x="102" y="22"/>
                    <a:pt x="83" y="5"/>
                    <a:pt x="56" y="5"/>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2" name="Rectangle 57"/>
            <p:cNvSpPr>
              <a:spLocks noChangeArrowheads="1"/>
            </p:cNvSpPr>
            <p:nvPr/>
          </p:nvSpPr>
          <p:spPr bwMode="auto">
            <a:xfrm>
              <a:off x="5239165" y="2722679"/>
              <a:ext cx="126206" cy="16669"/>
            </a:xfrm>
            <a:prstGeom prst="rect">
              <a:avLst/>
            </a:prstGeom>
            <a:solidFill>
              <a:srgbClr val="566C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3" name="Freeform 59"/>
            <p:cNvSpPr/>
            <p:nvPr/>
          </p:nvSpPr>
          <p:spPr bwMode="auto">
            <a:xfrm>
              <a:off x="5376087" y="2911988"/>
              <a:ext cx="139304" cy="266700"/>
            </a:xfrm>
            <a:custGeom>
              <a:avLst/>
              <a:gdLst>
                <a:gd name="T0" fmla="*/ 5 w 49"/>
                <a:gd name="T1" fmla="*/ 94 h 94"/>
                <a:gd name="T2" fmla="*/ 44 w 49"/>
                <a:gd name="T3" fmla="*/ 94 h 94"/>
                <a:gd name="T4" fmla="*/ 49 w 49"/>
                <a:gd name="T5" fmla="*/ 84 h 94"/>
                <a:gd name="T6" fmla="*/ 49 w 49"/>
                <a:gd name="T7" fmla="*/ 12 h 94"/>
                <a:gd name="T8" fmla="*/ 37 w 49"/>
                <a:gd name="T9" fmla="*/ 0 h 94"/>
                <a:gd name="T10" fmla="*/ 12 w 49"/>
                <a:gd name="T11" fmla="*/ 0 h 94"/>
                <a:gd name="T12" fmla="*/ 0 w 49"/>
                <a:gd name="T13" fmla="*/ 12 h 94"/>
                <a:gd name="T14" fmla="*/ 0 w 49"/>
                <a:gd name="T15" fmla="*/ 84 h 94"/>
                <a:gd name="T16" fmla="*/ 5 w 49"/>
                <a:gd name="T1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94">
                  <a:moveTo>
                    <a:pt x="5" y="94"/>
                  </a:moveTo>
                  <a:cubicBezTo>
                    <a:pt x="44" y="94"/>
                    <a:pt x="44" y="94"/>
                    <a:pt x="44" y="94"/>
                  </a:cubicBezTo>
                  <a:cubicBezTo>
                    <a:pt x="47" y="92"/>
                    <a:pt x="49" y="88"/>
                    <a:pt x="49" y="84"/>
                  </a:cubicBezTo>
                  <a:cubicBezTo>
                    <a:pt x="49" y="12"/>
                    <a:pt x="49" y="12"/>
                    <a:pt x="49" y="12"/>
                  </a:cubicBezTo>
                  <a:cubicBezTo>
                    <a:pt x="49" y="5"/>
                    <a:pt x="44" y="0"/>
                    <a:pt x="37" y="0"/>
                  </a:cubicBezTo>
                  <a:cubicBezTo>
                    <a:pt x="12" y="0"/>
                    <a:pt x="12" y="0"/>
                    <a:pt x="12" y="0"/>
                  </a:cubicBezTo>
                  <a:cubicBezTo>
                    <a:pt x="5" y="0"/>
                    <a:pt x="0" y="5"/>
                    <a:pt x="0" y="12"/>
                  </a:cubicBezTo>
                  <a:cubicBezTo>
                    <a:pt x="0" y="84"/>
                    <a:pt x="0" y="84"/>
                    <a:pt x="0" y="84"/>
                  </a:cubicBezTo>
                  <a:cubicBezTo>
                    <a:pt x="0" y="88"/>
                    <a:pt x="2" y="92"/>
                    <a:pt x="5" y="94"/>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4" name="Freeform 60"/>
            <p:cNvSpPr/>
            <p:nvPr/>
          </p:nvSpPr>
          <p:spPr bwMode="auto">
            <a:xfrm>
              <a:off x="5433237" y="2472647"/>
              <a:ext cx="34529" cy="252413"/>
            </a:xfrm>
            <a:custGeom>
              <a:avLst/>
              <a:gdLst>
                <a:gd name="T0" fmla="*/ 0 w 29"/>
                <a:gd name="T1" fmla="*/ 0 h 212"/>
                <a:gd name="T2" fmla="*/ 0 w 29"/>
                <a:gd name="T3" fmla="*/ 167 h 212"/>
                <a:gd name="T4" fmla="*/ 14 w 29"/>
                <a:gd name="T5" fmla="*/ 167 h 212"/>
                <a:gd name="T6" fmla="*/ 14 w 29"/>
                <a:gd name="T7" fmla="*/ 212 h 212"/>
                <a:gd name="T8" fmla="*/ 29 w 29"/>
                <a:gd name="T9" fmla="*/ 212 h 212"/>
                <a:gd name="T10" fmla="*/ 29 w 29"/>
                <a:gd name="T11" fmla="*/ 167 h 212"/>
                <a:gd name="T12" fmla="*/ 29 w 29"/>
                <a:gd name="T13" fmla="*/ 121 h 212"/>
                <a:gd name="T14" fmla="*/ 29 w 29"/>
                <a:gd name="T15" fmla="*/ 0 h 212"/>
                <a:gd name="T16" fmla="*/ 0 w 29"/>
                <a:gd name="T1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12">
                  <a:moveTo>
                    <a:pt x="0" y="0"/>
                  </a:moveTo>
                  <a:lnTo>
                    <a:pt x="0" y="167"/>
                  </a:lnTo>
                  <a:lnTo>
                    <a:pt x="14" y="167"/>
                  </a:lnTo>
                  <a:lnTo>
                    <a:pt x="14" y="212"/>
                  </a:lnTo>
                  <a:lnTo>
                    <a:pt x="29" y="212"/>
                  </a:lnTo>
                  <a:lnTo>
                    <a:pt x="29" y="167"/>
                  </a:lnTo>
                  <a:lnTo>
                    <a:pt x="29" y="121"/>
                  </a:lnTo>
                  <a:lnTo>
                    <a:pt x="29" y="0"/>
                  </a:lnTo>
                  <a:lnTo>
                    <a:pt x="0" y="0"/>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5" name="Freeform 62"/>
            <p:cNvSpPr>
              <a:spLocks noEditPoints="1"/>
            </p:cNvSpPr>
            <p:nvPr/>
          </p:nvSpPr>
          <p:spPr bwMode="auto">
            <a:xfrm>
              <a:off x="5179634" y="2319057"/>
              <a:ext cx="110729" cy="114300"/>
            </a:xfrm>
            <a:custGeom>
              <a:avLst/>
              <a:gdLst>
                <a:gd name="T0" fmla="*/ 22 w 39"/>
                <a:gd name="T1" fmla="*/ 4 h 40"/>
                <a:gd name="T2" fmla="*/ 27 w 39"/>
                <a:gd name="T3" fmla="*/ 8 h 40"/>
                <a:gd name="T4" fmla="*/ 29 w 39"/>
                <a:gd name="T5" fmla="*/ 7 h 40"/>
                <a:gd name="T6" fmla="*/ 32 w 39"/>
                <a:gd name="T7" fmla="*/ 9 h 40"/>
                <a:gd name="T8" fmla="*/ 31 w 39"/>
                <a:gd name="T9" fmla="*/ 12 h 40"/>
                <a:gd name="T10" fmla="*/ 35 w 39"/>
                <a:gd name="T11" fmla="*/ 17 h 40"/>
                <a:gd name="T12" fmla="*/ 36 w 39"/>
                <a:gd name="T13" fmla="*/ 21 h 40"/>
                <a:gd name="T14" fmla="*/ 33 w 39"/>
                <a:gd name="T15" fmla="*/ 23 h 40"/>
                <a:gd name="T16" fmla="*/ 32 w 39"/>
                <a:gd name="T17" fmla="*/ 29 h 40"/>
                <a:gd name="T18" fmla="*/ 30 w 39"/>
                <a:gd name="T19" fmla="*/ 33 h 40"/>
                <a:gd name="T20" fmla="*/ 28 w 39"/>
                <a:gd name="T21" fmla="*/ 33 h 40"/>
                <a:gd name="T22" fmla="*/ 22 w 39"/>
                <a:gd name="T23" fmla="*/ 34 h 40"/>
                <a:gd name="T24" fmla="*/ 21 w 39"/>
                <a:gd name="T25" fmla="*/ 37 h 40"/>
                <a:gd name="T26" fmla="*/ 16 w 39"/>
                <a:gd name="T27" fmla="*/ 35 h 40"/>
                <a:gd name="T28" fmla="*/ 12 w 39"/>
                <a:gd name="T29" fmla="*/ 32 h 40"/>
                <a:gd name="T30" fmla="*/ 9 w 39"/>
                <a:gd name="T31" fmla="*/ 33 h 40"/>
                <a:gd name="T32" fmla="*/ 6 w 39"/>
                <a:gd name="T33" fmla="*/ 31 h 40"/>
                <a:gd name="T34" fmla="*/ 8 w 39"/>
                <a:gd name="T35" fmla="*/ 28 h 40"/>
                <a:gd name="T36" fmla="*/ 4 w 39"/>
                <a:gd name="T37" fmla="*/ 23 h 40"/>
                <a:gd name="T38" fmla="*/ 2 w 39"/>
                <a:gd name="T39" fmla="*/ 19 h 40"/>
                <a:gd name="T40" fmla="*/ 6 w 39"/>
                <a:gd name="T41" fmla="*/ 17 h 40"/>
                <a:gd name="T42" fmla="*/ 6 w 39"/>
                <a:gd name="T43" fmla="*/ 11 h 40"/>
                <a:gd name="T44" fmla="*/ 8 w 39"/>
                <a:gd name="T45" fmla="*/ 7 h 40"/>
                <a:gd name="T46" fmla="*/ 10 w 39"/>
                <a:gd name="T47" fmla="*/ 7 h 40"/>
                <a:gd name="T48" fmla="*/ 16 w 39"/>
                <a:gd name="T49" fmla="*/ 6 h 40"/>
                <a:gd name="T50" fmla="*/ 18 w 39"/>
                <a:gd name="T51" fmla="*/ 3 h 40"/>
                <a:gd name="T52" fmla="*/ 21 w 39"/>
                <a:gd name="T53" fmla="*/ 0 h 40"/>
                <a:gd name="T54" fmla="*/ 14 w 39"/>
                <a:gd name="T55" fmla="*/ 4 h 40"/>
                <a:gd name="T56" fmla="*/ 9 w 39"/>
                <a:gd name="T57" fmla="*/ 4 h 40"/>
                <a:gd name="T58" fmla="*/ 4 w 39"/>
                <a:gd name="T59" fmla="*/ 7 h 40"/>
                <a:gd name="T60" fmla="*/ 4 w 39"/>
                <a:gd name="T61" fmla="*/ 13 h 40"/>
                <a:gd name="T62" fmla="*/ 0 w 39"/>
                <a:gd name="T63" fmla="*/ 19 h 40"/>
                <a:gd name="T64" fmla="*/ 3 w 39"/>
                <a:gd name="T65" fmla="*/ 26 h 40"/>
                <a:gd name="T66" fmla="*/ 3 w 39"/>
                <a:gd name="T67" fmla="*/ 30 h 40"/>
                <a:gd name="T68" fmla="*/ 6 w 39"/>
                <a:gd name="T69" fmla="*/ 35 h 40"/>
                <a:gd name="T70" fmla="*/ 12 w 39"/>
                <a:gd name="T71" fmla="*/ 35 h 40"/>
                <a:gd name="T72" fmla="*/ 18 w 39"/>
                <a:gd name="T73" fmla="*/ 40 h 40"/>
                <a:gd name="T74" fmla="*/ 25 w 39"/>
                <a:gd name="T75" fmla="*/ 36 h 40"/>
                <a:gd name="T76" fmla="*/ 29 w 39"/>
                <a:gd name="T77" fmla="*/ 36 h 40"/>
                <a:gd name="T78" fmla="*/ 34 w 39"/>
                <a:gd name="T79" fmla="*/ 33 h 40"/>
                <a:gd name="T80" fmla="*/ 34 w 39"/>
                <a:gd name="T81" fmla="*/ 27 h 40"/>
                <a:gd name="T82" fmla="*/ 39 w 39"/>
                <a:gd name="T83" fmla="*/ 21 h 40"/>
                <a:gd name="T84" fmla="*/ 35 w 39"/>
                <a:gd name="T85" fmla="*/ 14 h 40"/>
                <a:gd name="T86" fmla="*/ 35 w 39"/>
                <a:gd name="T87" fmla="*/ 10 h 40"/>
                <a:gd name="T88" fmla="*/ 32 w 39"/>
                <a:gd name="T89" fmla="*/ 5 h 40"/>
                <a:gd name="T90" fmla="*/ 27 w 39"/>
                <a:gd name="T91" fmla="*/ 5 h 40"/>
                <a:gd name="T92" fmla="*/ 21 w 39"/>
                <a:gd name="T9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9" h="40">
                  <a:moveTo>
                    <a:pt x="21" y="3"/>
                  </a:moveTo>
                  <a:cubicBezTo>
                    <a:pt x="21" y="3"/>
                    <a:pt x="22" y="4"/>
                    <a:pt x="22" y="4"/>
                  </a:cubicBezTo>
                  <a:cubicBezTo>
                    <a:pt x="22" y="6"/>
                    <a:pt x="22" y="6"/>
                    <a:pt x="22" y="6"/>
                  </a:cubicBezTo>
                  <a:cubicBezTo>
                    <a:pt x="24" y="7"/>
                    <a:pt x="26" y="7"/>
                    <a:pt x="27" y="8"/>
                  </a:cubicBezTo>
                  <a:cubicBezTo>
                    <a:pt x="28" y="7"/>
                    <a:pt x="28" y="7"/>
                    <a:pt x="28" y="7"/>
                  </a:cubicBezTo>
                  <a:cubicBezTo>
                    <a:pt x="28" y="7"/>
                    <a:pt x="29" y="7"/>
                    <a:pt x="29" y="7"/>
                  </a:cubicBezTo>
                  <a:cubicBezTo>
                    <a:pt x="30" y="7"/>
                    <a:pt x="30" y="7"/>
                    <a:pt x="30" y="7"/>
                  </a:cubicBezTo>
                  <a:cubicBezTo>
                    <a:pt x="32" y="9"/>
                    <a:pt x="32" y="9"/>
                    <a:pt x="32" y="9"/>
                  </a:cubicBezTo>
                  <a:cubicBezTo>
                    <a:pt x="33" y="10"/>
                    <a:pt x="33" y="10"/>
                    <a:pt x="32" y="11"/>
                  </a:cubicBezTo>
                  <a:cubicBezTo>
                    <a:pt x="31" y="12"/>
                    <a:pt x="31" y="12"/>
                    <a:pt x="31" y="12"/>
                  </a:cubicBezTo>
                  <a:cubicBezTo>
                    <a:pt x="32" y="14"/>
                    <a:pt x="33" y="15"/>
                    <a:pt x="33" y="17"/>
                  </a:cubicBezTo>
                  <a:cubicBezTo>
                    <a:pt x="35" y="17"/>
                    <a:pt x="35" y="17"/>
                    <a:pt x="35" y="17"/>
                  </a:cubicBezTo>
                  <a:cubicBezTo>
                    <a:pt x="35" y="17"/>
                    <a:pt x="36" y="18"/>
                    <a:pt x="36" y="19"/>
                  </a:cubicBezTo>
                  <a:cubicBezTo>
                    <a:pt x="36" y="21"/>
                    <a:pt x="36" y="21"/>
                    <a:pt x="36" y="21"/>
                  </a:cubicBezTo>
                  <a:cubicBezTo>
                    <a:pt x="36" y="22"/>
                    <a:pt x="35" y="23"/>
                    <a:pt x="35" y="23"/>
                  </a:cubicBezTo>
                  <a:cubicBezTo>
                    <a:pt x="33" y="23"/>
                    <a:pt x="33" y="23"/>
                    <a:pt x="33" y="23"/>
                  </a:cubicBezTo>
                  <a:cubicBezTo>
                    <a:pt x="33" y="25"/>
                    <a:pt x="32" y="26"/>
                    <a:pt x="31" y="28"/>
                  </a:cubicBezTo>
                  <a:cubicBezTo>
                    <a:pt x="32" y="29"/>
                    <a:pt x="32" y="29"/>
                    <a:pt x="32" y="29"/>
                  </a:cubicBezTo>
                  <a:cubicBezTo>
                    <a:pt x="33" y="29"/>
                    <a:pt x="33" y="30"/>
                    <a:pt x="32" y="31"/>
                  </a:cubicBezTo>
                  <a:cubicBezTo>
                    <a:pt x="30" y="33"/>
                    <a:pt x="30" y="33"/>
                    <a:pt x="30" y="33"/>
                  </a:cubicBezTo>
                  <a:cubicBezTo>
                    <a:pt x="30" y="33"/>
                    <a:pt x="30" y="33"/>
                    <a:pt x="29" y="33"/>
                  </a:cubicBezTo>
                  <a:cubicBezTo>
                    <a:pt x="29" y="33"/>
                    <a:pt x="28" y="33"/>
                    <a:pt x="28" y="33"/>
                  </a:cubicBezTo>
                  <a:cubicBezTo>
                    <a:pt x="27" y="32"/>
                    <a:pt x="27" y="32"/>
                    <a:pt x="27" y="32"/>
                  </a:cubicBezTo>
                  <a:cubicBezTo>
                    <a:pt x="26" y="33"/>
                    <a:pt x="24" y="33"/>
                    <a:pt x="22" y="34"/>
                  </a:cubicBezTo>
                  <a:cubicBezTo>
                    <a:pt x="22" y="35"/>
                    <a:pt x="22" y="35"/>
                    <a:pt x="22" y="35"/>
                  </a:cubicBezTo>
                  <a:cubicBezTo>
                    <a:pt x="22" y="36"/>
                    <a:pt x="21" y="37"/>
                    <a:pt x="21" y="37"/>
                  </a:cubicBezTo>
                  <a:cubicBezTo>
                    <a:pt x="18" y="37"/>
                    <a:pt x="18" y="37"/>
                    <a:pt x="18" y="37"/>
                  </a:cubicBezTo>
                  <a:cubicBezTo>
                    <a:pt x="17" y="37"/>
                    <a:pt x="16" y="36"/>
                    <a:pt x="16" y="35"/>
                  </a:cubicBezTo>
                  <a:cubicBezTo>
                    <a:pt x="16" y="34"/>
                    <a:pt x="16" y="34"/>
                    <a:pt x="16" y="34"/>
                  </a:cubicBezTo>
                  <a:cubicBezTo>
                    <a:pt x="15" y="33"/>
                    <a:pt x="13" y="33"/>
                    <a:pt x="12" y="32"/>
                  </a:cubicBezTo>
                  <a:cubicBezTo>
                    <a:pt x="10" y="33"/>
                    <a:pt x="10" y="33"/>
                    <a:pt x="10" y="33"/>
                  </a:cubicBezTo>
                  <a:cubicBezTo>
                    <a:pt x="10" y="33"/>
                    <a:pt x="10" y="33"/>
                    <a:pt x="9" y="33"/>
                  </a:cubicBezTo>
                  <a:cubicBezTo>
                    <a:pt x="9" y="33"/>
                    <a:pt x="9" y="33"/>
                    <a:pt x="8" y="33"/>
                  </a:cubicBezTo>
                  <a:cubicBezTo>
                    <a:pt x="6" y="31"/>
                    <a:pt x="6" y="31"/>
                    <a:pt x="6" y="31"/>
                  </a:cubicBezTo>
                  <a:cubicBezTo>
                    <a:pt x="6" y="30"/>
                    <a:pt x="6" y="29"/>
                    <a:pt x="6" y="29"/>
                  </a:cubicBezTo>
                  <a:cubicBezTo>
                    <a:pt x="8" y="28"/>
                    <a:pt x="8" y="28"/>
                    <a:pt x="8" y="28"/>
                  </a:cubicBezTo>
                  <a:cubicBezTo>
                    <a:pt x="7" y="26"/>
                    <a:pt x="6" y="25"/>
                    <a:pt x="6" y="23"/>
                  </a:cubicBezTo>
                  <a:cubicBezTo>
                    <a:pt x="4" y="23"/>
                    <a:pt x="4" y="23"/>
                    <a:pt x="4" y="23"/>
                  </a:cubicBezTo>
                  <a:cubicBezTo>
                    <a:pt x="3" y="23"/>
                    <a:pt x="2" y="22"/>
                    <a:pt x="2" y="21"/>
                  </a:cubicBezTo>
                  <a:cubicBezTo>
                    <a:pt x="2" y="19"/>
                    <a:pt x="2" y="19"/>
                    <a:pt x="2" y="19"/>
                  </a:cubicBezTo>
                  <a:cubicBezTo>
                    <a:pt x="2" y="18"/>
                    <a:pt x="3" y="17"/>
                    <a:pt x="4" y="17"/>
                  </a:cubicBezTo>
                  <a:cubicBezTo>
                    <a:pt x="6" y="17"/>
                    <a:pt x="6" y="17"/>
                    <a:pt x="6" y="17"/>
                  </a:cubicBezTo>
                  <a:cubicBezTo>
                    <a:pt x="6" y="15"/>
                    <a:pt x="7" y="14"/>
                    <a:pt x="8" y="12"/>
                  </a:cubicBezTo>
                  <a:cubicBezTo>
                    <a:pt x="6" y="11"/>
                    <a:pt x="6" y="11"/>
                    <a:pt x="6" y="11"/>
                  </a:cubicBezTo>
                  <a:cubicBezTo>
                    <a:pt x="6" y="10"/>
                    <a:pt x="6" y="10"/>
                    <a:pt x="6" y="9"/>
                  </a:cubicBezTo>
                  <a:cubicBezTo>
                    <a:pt x="8" y="7"/>
                    <a:pt x="8" y="7"/>
                    <a:pt x="8" y="7"/>
                  </a:cubicBezTo>
                  <a:cubicBezTo>
                    <a:pt x="9" y="7"/>
                    <a:pt x="9" y="7"/>
                    <a:pt x="9" y="7"/>
                  </a:cubicBezTo>
                  <a:cubicBezTo>
                    <a:pt x="10" y="7"/>
                    <a:pt x="10" y="7"/>
                    <a:pt x="10" y="7"/>
                  </a:cubicBezTo>
                  <a:cubicBezTo>
                    <a:pt x="12" y="8"/>
                    <a:pt x="12" y="8"/>
                    <a:pt x="12" y="8"/>
                  </a:cubicBezTo>
                  <a:cubicBezTo>
                    <a:pt x="13" y="7"/>
                    <a:pt x="15" y="7"/>
                    <a:pt x="16" y="6"/>
                  </a:cubicBezTo>
                  <a:cubicBezTo>
                    <a:pt x="16" y="4"/>
                    <a:pt x="16" y="4"/>
                    <a:pt x="16" y="4"/>
                  </a:cubicBezTo>
                  <a:cubicBezTo>
                    <a:pt x="16" y="4"/>
                    <a:pt x="17" y="3"/>
                    <a:pt x="18" y="3"/>
                  </a:cubicBezTo>
                  <a:cubicBezTo>
                    <a:pt x="21" y="3"/>
                    <a:pt x="21" y="3"/>
                    <a:pt x="21" y="3"/>
                  </a:cubicBezTo>
                  <a:moveTo>
                    <a:pt x="21" y="0"/>
                  </a:moveTo>
                  <a:cubicBezTo>
                    <a:pt x="18" y="0"/>
                    <a:pt x="18" y="0"/>
                    <a:pt x="18" y="0"/>
                  </a:cubicBezTo>
                  <a:cubicBezTo>
                    <a:pt x="16" y="0"/>
                    <a:pt x="14" y="2"/>
                    <a:pt x="14" y="4"/>
                  </a:cubicBezTo>
                  <a:cubicBezTo>
                    <a:pt x="13" y="4"/>
                    <a:pt x="13" y="4"/>
                    <a:pt x="12" y="5"/>
                  </a:cubicBezTo>
                  <a:cubicBezTo>
                    <a:pt x="11" y="4"/>
                    <a:pt x="10" y="4"/>
                    <a:pt x="9" y="4"/>
                  </a:cubicBezTo>
                  <a:cubicBezTo>
                    <a:pt x="8" y="4"/>
                    <a:pt x="7" y="4"/>
                    <a:pt x="6" y="5"/>
                  </a:cubicBezTo>
                  <a:cubicBezTo>
                    <a:pt x="4" y="7"/>
                    <a:pt x="4" y="7"/>
                    <a:pt x="4" y="7"/>
                  </a:cubicBezTo>
                  <a:cubicBezTo>
                    <a:pt x="4" y="8"/>
                    <a:pt x="3" y="9"/>
                    <a:pt x="3" y="10"/>
                  </a:cubicBezTo>
                  <a:cubicBezTo>
                    <a:pt x="3" y="11"/>
                    <a:pt x="4" y="12"/>
                    <a:pt x="4" y="13"/>
                  </a:cubicBezTo>
                  <a:cubicBezTo>
                    <a:pt x="4" y="13"/>
                    <a:pt x="4" y="14"/>
                    <a:pt x="3" y="14"/>
                  </a:cubicBezTo>
                  <a:cubicBezTo>
                    <a:pt x="1" y="15"/>
                    <a:pt x="0" y="16"/>
                    <a:pt x="0" y="19"/>
                  </a:cubicBezTo>
                  <a:cubicBezTo>
                    <a:pt x="0" y="21"/>
                    <a:pt x="0" y="21"/>
                    <a:pt x="0" y="21"/>
                  </a:cubicBezTo>
                  <a:cubicBezTo>
                    <a:pt x="0" y="23"/>
                    <a:pt x="1" y="25"/>
                    <a:pt x="3" y="26"/>
                  </a:cubicBezTo>
                  <a:cubicBezTo>
                    <a:pt x="4" y="26"/>
                    <a:pt x="4" y="27"/>
                    <a:pt x="4" y="27"/>
                  </a:cubicBezTo>
                  <a:cubicBezTo>
                    <a:pt x="4" y="28"/>
                    <a:pt x="3" y="29"/>
                    <a:pt x="3" y="30"/>
                  </a:cubicBezTo>
                  <a:cubicBezTo>
                    <a:pt x="3" y="31"/>
                    <a:pt x="4" y="32"/>
                    <a:pt x="4" y="33"/>
                  </a:cubicBezTo>
                  <a:cubicBezTo>
                    <a:pt x="6" y="35"/>
                    <a:pt x="6" y="35"/>
                    <a:pt x="6" y="35"/>
                  </a:cubicBezTo>
                  <a:cubicBezTo>
                    <a:pt x="7" y="36"/>
                    <a:pt x="8" y="36"/>
                    <a:pt x="9" y="36"/>
                  </a:cubicBezTo>
                  <a:cubicBezTo>
                    <a:pt x="10" y="36"/>
                    <a:pt x="11" y="36"/>
                    <a:pt x="12" y="35"/>
                  </a:cubicBezTo>
                  <a:cubicBezTo>
                    <a:pt x="13" y="35"/>
                    <a:pt x="13" y="36"/>
                    <a:pt x="14" y="36"/>
                  </a:cubicBezTo>
                  <a:cubicBezTo>
                    <a:pt x="14" y="38"/>
                    <a:pt x="16" y="40"/>
                    <a:pt x="18" y="40"/>
                  </a:cubicBezTo>
                  <a:cubicBezTo>
                    <a:pt x="21" y="40"/>
                    <a:pt x="21" y="40"/>
                    <a:pt x="21" y="40"/>
                  </a:cubicBezTo>
                  <a:cubicBezTo>
                    <a:pt x="23" y="40"/>
                    <a:pt x="25" y="38"/>
                    <a:pt x="25" y="36"/>
                  </a:cubicBezTo>
                  <a:cubicBezTo>
                    <a:pt x="25" y="36"/>
                    <a:pt x="26" y="35"/>
                    <a:pt x="27" y="35"/>
                  </a:cubicBezTo>
                  <a:cubicBezTo>
                    <a:pt x="27" y="36"/>
                    <a:pt x="28" y="36"/>
                    <a:pt x="29" y="36"/>
                  </a:cubicBezTo>
                  <a:cubicBezTo>
                    <a:pt x="30" y="36"/>
                    <a:pt x="31" y="36"/>
                    <a:pt x="32" y="35"/>
                  </a:cubicBezTo>
                  <a:cubicBezTo>
                    <a:pt x="34" y="33"/>
                    <a:pt x="34" y="33"/>
                    <a:pt x="34" y="33"/>
                  </a:cubicBezTo>
                  <a:cubicBezTo>
                    <a:pt x="35" y="32"/>
                    <a:pt x="35" y="31"/>
                    <a:pt x="35" y="30"/>
                  </a:cubicBezTo>
                  <a:cubicBezTo>
                    <a:pt x="35" y="29"/>
                    <a:pt x="35" y="28"/>
                    <a:pt x="34" y="27"/>
                  </a:cubicBezTo>
                  <a:cubicBezTo>
                    <a:pt x="35" y="27"/>
                    <a:pt x="35" y="26"/>
                    <a:pt x="35" y="26"/>
                  </a:cubicBezTo>
                  <a:cubicBezTo>
                    <a:pt x="37" y="25"/>
                    <a:pt x="39" y="23"/>
                    <a:pt x="39" y="21"/>
                  </a:cubicBezTo>
                  <a:cubicBezTo>
                    <a:pt x="39" y="19"/>
                    <a:pt x="39" y="19"/>
                    <a:pt x="39" y="19"/>
                  </a:cubicBezTo>
                  <a:cubicBezTo>
                    <a:pt x="39" y="16"/>
                    <a:pt x="37" y="15"/>
                    <a:pt x="35" y="14"/>
                  </a:cubicBezTo>
                  <a:cubicBezTo>
                    <a:pt x="35" y="14"/>
                    <a:pt x="35" y="13"/>
                    <a:pt x="34" y="13"/>
                  </a:cubicBezTo>
                  <a:cubicBezTo>
                    <a:pt x="35" y="12"/>
                    <a:pt x="35" y="11"/>
                    <a:pt x="35" y="10"/>
                  </a:cubicBezTo>
                  <a:cubicBezTo>
                    <a:pt x="35" y="9"/>
                    <a:pt x="35" y="8"/>
                    <a:pt x="34" y="7"/>
                  </a:cubicBezTo>
                  <a:cubicBezTo>
                    <a:pt x="32" y="5"/>
                    <a:pt x="32" y="5"/>
                    <a:pt x="32" y="5"/>
                  </a:cubicBezTo>
                  <a:cubicBezTo>
                    <a:pt x="31" y="4"/>
                    <a:pt x="30" y="4"/>
                    <a:pt x="29" y="4"/>
                  </a:cubicBezTo>
                  <a:cubicBezTo>
                    <a:pt x="28" y="4"/>
                    <a:pt x="27" y="4"/>
                    <a:pt x="27" y="5"/>
                  </a:cubicBezTo>
                  <a:cubicBezTo>
                    <a:pt x="26" y="4"/>
                    <a:pt x="25" y="4"/>
                    <a:pt x="25" y="4"/>
                  </a:cubicBezTo>
                  <a:cubicBezTo>
                    <a:pt x="25" y="2"/>
                    <a:pt x="23" y="0"/>
                    <a:pt x="21" y="0"/>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6" name="Freeform 64"/>
            <p:cNvSpPr>
              <a:spLocks noEditPoints="1"/>
            </p:cNvSpPr>
            <p:nvPr/>
          </p:nvSpPr>
          <p:spPr bwMode="auto">
            <a:xfrm>
              <a:off x="5218925" y="2361919"/>
              <a:ext cx="28575" cy="28575"/>
            </a:xfrm>
            <a:custGeom>
              <a:avLst/>
              <a:gdLst>
                <a:gd name="T0" fmla="*/ 5 w 10"/>
                <a:gd name="T1" fmla="*/ 10 h 10"/>
                <a:gd name="T2" fmla="*/ 0 w 10"/>
                <a:gd name="T3" fmla="*/ 5 h 10"/>
                <a:gd name="T4" fmla="*/ 5 w 10"/>
                <a:gd name="T5" fmla="*/ 0 h 10"/>
                <a:gd name="T6" fmla="*/ 10 w 10"/>
                <a:gd name="T7" fmla="*/ 5 h 10"/>
                <a:gd name="T8" fmla="*/ 5 w 10"/>
                <a:gd name="T9" fmla="*/ 10 h 10"/>
                <a:gd name="T10" fmla="*/ 5 w 10"/>
                <a:gd name="T11" fmla="*/ 1 h 10"/>
                <a:gd name="T12" fmla="*/ 2 w 10"/>
                <a:gd name="T13" fmla="*/ 5 h 10"/>
                <a:gd name="T14" fmla="*/ 5 w 10"/>
                <a:gd name="T15" fmla="*/ 8 h 10"/>
                <a:gd name="T16" fmla="*/ 9 w 10"/>
                <a:gd name="T17" fmla="*/ 5 h 10"/>
                <a:gd name="T18" fmla="*/ 5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10"/>
                  </a:moveTo>
                  <a:cubicBezTo>
                    <a:pt x="3" y="10"/>
                    <a:pt x="0" y="8"/>
                    <a:pt x="0" y="5"/>
                  </a:cubicBezTo>
                  <a:cubicBezTo>
                    <a:pt x="0" y="2"/>
                    <a:pt x="3" y="0"/>
                    <a:pt x="5" y="0"/>
                  </a:cubicBezTo>
                  <a:cubicBezTo>
                    <a:pt x="8" y="0"/>
                    <a:pt x="10" y="2"/>
                    <a:pt x="10" y="5"/>
                  </a:cubicBezTo>
                  <a:cubicBezTo>
                    <a:pt x="10" y="8"/>
                    <a:pt x="8" y="10"/>
                    <a:pt x="5" y="10"/>
                  </a:cubicBezTo>
                  <a:close/>
                  <a:moveTo>
                    <a:pt x="5" y="1"/>
                  </a:moveTo>
                  <a:cubicBezTo>
                    <a:pt x="3" y="1"/>
                    <a:pt x="2" y="3"/>
                    <a:pt x="2" y="5"/>
                  </a:cubicBezTo>
                  <a:cubicBezTo>
                    <a:pt x="2" y="7"/>
                    <a:pt x="3" y="8"/>
                    <a:pt x="5" y="8"/>
                  </a:cubicBezTo>
                  <a:cubicBezTo>
                    <a:pt x="7" y="8"/>
                    <a:pt x="9" y="7"/>
                    <a:pt x="9" y="5"/>
                  </a:cubicBezTo>
                  <a:cubicBezTo>
                    <a:pt x="9" y="3"/>
                    <a:pt x="7" y="1"/>
                    <a:pt x="5" y="1"/>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7" name="Freeform 66"/>
            <p:cNvSpPr>
              <a:spLocks noEditPoints="1"/>
            </p:cNvSpPr>
            <p:nvPr/>
          </p:nvSpPr>
          <p:spPr bwMode="auto">
            <a:xfrm>
              <a:off x="5312984" y="2314294"/>
              <a:ext cx="42863" cy="41672"/>
            </a:xfrm>
            <a:custGeom>
              <a:avLst/>
              <a:gdLst>
                <a:gd name="T0" fmla="*/ 8 w 15"/>
                <a:gd name="T1" fmla="*/ 15 h 15"/>
                <a:gd name="T2" fmla="*/ 0 w 15"/>
                <a:gd name="T3" fmla="*/ 7 h 15"/>
                <a:gd name="T4" fmla="*/ 8 w 15"/>
                <a:gd name="T5" fmla="*/ 0 h 15"/>
                <a:gd name="T6" fmla="*/ 15 w 15"/>
                <a:gd name="T7" fmla="*/ 7 h 15"/>
                <a:gd name="T8" fmla="*/ 8 w 15"/>
                <a:gd name="T9" fmla="*/ 15 h 15"/>
                <a:gd name="T10" fmla="*/ 8 w 15"/>
                <a:gd name="T11" fmla="*/ 1 h 15"/>
                <a:gd name="T12" fmla="*/ 2 w 15"/>
                <a:gd name="T13" fmla="*/ 7 h 15"/>
                <a:gd name="T14" fmla="*/ 8 w 15"/>
                <a:gd name="T15" fmla="*/ 14 h 15"/>
                <a:gd name="T16" fmla="*/ 14 w 15"/>
                <a:gd name="T17" fmla="*/ 7 h 15"/>
                <a:gd name="T18" fmla="*/ 8 w 15"/>
                <a:gd name="T19"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5">
                  <a:moveTo>
                    <a:pt x="8" y="15"/>
                  </a:moveTo>
                  <a:cubicBezTo>
                    <a:pt x="4" y="15"/>
                    <a:pt x="0" y="11"/>
                    <a:pt x="0" y="7"/>
                  </a:cubicBezTo>
                  <a:cubicBezTo>
                    <a:pt x="0" y="3"/>
                    <a:pt x="4" y="0"/>
                    <a:pt x="8" y="0"/>
                  </a:cubicBezTo>
                  <a:cubicBezTo>
                    <a:pt x="12" y="0"/>
                    <a:pt x="15" y="3"/>
                    <a:pt x="15" y="7"/>
                  </a:cubicBezTo>
                  <a:cubicBezTo>
                    <a:pt x="15" y="11"/>
                    <a:pt x="12" y="15"/>
                    <a:pt x="8" y="15"/>
                  </a:cubicBezTo>
                  <a:close/>
                  <a:moveTo>
                    <a:pt x="8" y="1"/>
                  </a:moveTo>
                  <a:cubicBezTo>
                    <a:pt x="4" y="1"/>
                    <a:pt x="2" y="4"/>
                    <a:pt x="2" y="7"/>
                  </a:cubicBezTo>
                  <a:cubicBezTo>
                    <a:pt x="2" y="11"/>
                    <a:pt x="4" y="14"/>
                    <a:pt x="8" y="14"/>
                  </a:cubicBezTo>
                  <a:cubicBezTo>
                    <a:pt x="11" y="14"/>
                    <a:pt x="14" y="11"/>
                    <a:pt x="14" y="7"/>
                  </a:cubicBezTo>
                  <a:cubicBezTo>
                    <a:pt x="14" y="4"/>
                    <a:pt x="11" y="1"/>
                    <a:pt x="8" y="1"/>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8" name="Freeform 58"/>
            <p:cNvSpPr/>
            <p:nvPr/>
          </p:nvSpPr>
          <p:spPr bwMode="auto">
            <a:xfrm>
              <a:off x="5171300" y="2753635"/>
              <a:ext cx="321469" cy="425054"/>
            </a:xfrm>
            <a:custGeom>
              <a:avLst/>
              <a:gdLst>
                <a:gd name="T0" fmla="*/ 71 w 113"/>
                <a:gd name="T1" fmla="*/ 150 h 150"/>
                <a:gd name="T2" fmla="*/ 68 w 113"/>
                <a:gd name="T3" fmla="*/ 140 h 150"/>
                <a:gd name="T4" fmla="*/ 68 w 113"/>
                <a:gd name="T5" fmla="*/ 68 h 150"/>
                <a:gd name="T6" fmla="*/ 84 w 113"/>
                <a:gd name="T7" fmla="*/ 52 h 150"/>
                <a:gd name="T8" fmla="*/ 113 w 113"/>
                <a:gd name="T9" fmla="*/ 52 h 150"/>
                <a:gd name="T10" fmla="*/ 113 w 113"/>
                <a:gd name="T11" fmla="*/ 0 h 150"/>
                <a:gd name="T12" fmla="*/ 6 w 113"/>
                <a:gd name="T13" fmla="*/ 0 h 150"/>
                <a:gd name="T14" fmla="*/ 0 w 113"/>
                <a:gd name="T15" fmla="*/ 6 h 150"/>
                <a:gd name="T16" fmla="*/ 0 w 113"/>
                <a:gd name="T17" fmla="*/ 7 h 150"/>
                <a:gd name="T18" fmla="*/ 6 w 113"/>
                <a:gd name="T19" fmla="*/ 13 h 150"/>
                <a:gd name="T20" fmla="*/ 48 w 113"/>
                <a:gd name="T21" fmla="*/ 13 h 150"/>
                <a:gd name="T22" fmla="*/ 48 w 113"/>
                <a:gd name="T23" fmla="*/ 150 h 150"/>
                <a:gd name="T24" fmla="*/ 71 w 113"/>
                <a:gd name="T25"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50">
                  <a:moveTo>
                    <a:pt x="71" y="150"/>
                  </a:moveTo>
                  <a:cubicBezTo>
                    <a:pt x="69" y="147"/>
                    <a:pt x="68" y="144"/>
                    <a:pt x="68" y="140"/>
                  </a:cubicBezTo>
                  <a:cubicBezTo>
                    <a:pt x="68" y="68"/>
                    <a:pt x="68" y="68"/>
                    <a:pt x="68" y="68"/>
                  </a:cubicBezTo>
                  <a:cubicBezTo>
                    <a:pt x="68" y="59"/>
                    <a:pt x="75" y="52"/>
                    <a:pt x="84" y="52"/>
                  </a:cubicBezTo>
                  <a:cubicBezTo>
                    <a:pt x="113" y="52"/>
                    <a:pt x="113" y="52"/>
                    <a:pt x="113" y="52"/>
                  </a:cubicBezTo>
                  <a:cubicBezTo>
                    <a:pt x="113" y="0"/>
                    <a:pt x="113" y="0"/>
                    <a:pt x="113" y="0"/>
                  </a:cubicBezTo>
                  <a:cubicBezTo>
                    <a:pt x="6" y="0"/>
                    <a:pt x="6" y="0"/>
                    <a:pt x="6" y="0"/>
                  </a:cubicBezTo>
                  <a:cubicBezTo>
                    <a:pt x="3" y="0"/>
                    <a:pt x="0" y="3"/>
                    <a:pt x="0" y="6"/>
                  </a:cubicBezTo>
                  <a:cubicBezTo>
                    <a:pt x="0" y="7"/>
                    <a:pt x="0" y="7"/>
                    <a:pt x="0" y="7"/>
                  </a:cubicBezTo>
                  <a:cubicBezTo>
                    <a:pt x="0" y="10"/>
                    <a:pt x="3" y="13"/>
                    <a:pt x="6" y="13"/>
                  </a:cubicBezTo>
                  <a:cubicBezTo>
                    <a:pt x="48" y="13"/>
                    <a:pt x="48" y="13"/>
                    <a:pt x="48" y="13"/>
                  </a:cubicBezTo>
                  <a:cubicBezTo>
                    <a:pt x="48" y="150"/>
                    <a:pt x="48" y="150"/>
                    <a:pt x="48" y="150"/>
                  </a:cubicBezTo>
                  <a:lnTo>
                    <a:pt x="71" y="150"/>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grpSp>
      <p:grpSp>
        <p:nvGrpSpPr>
          <p:cNvPr id="67" name="组合 66"/>
          <p:cNvGrpSpPr/>
          <p:nvPr/>
        </p:nvGrpSpPr>
        <p:grpSpPr>
          <a:xfrm>
            <a:off x="7649770" y="2119917"/>
            <a:ext cx="4214048" cy="435965"/>
            <a:chOff x="3644" y="2232"/>
            <a:chExt cx="4978" cy="515"/>
          </a:xfrm>
        </p:grpSpPr>
        <p:sp>
          <p:nvSpPr>
            <p:cNvPr id="68" name="文本框 67"/>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实现最外层的背景区</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9" name="椭圆 68"/>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3</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65" name="组合 64"/>
          <p:cNvGrpSpPr/>
          <p:nvPr/>
        </p:nvGrpSpPr>
        <p:grpSpPr>
          <a:xfrm>
            <a:off x="1217212" y="881592"/>
            <a:ext cx="2761041" cy="2686310"/>
            <a:chOff x="913052" y="660419"/>
            <a:chExt cx="2071104" cy="2015047"/>
          </a:xfrm>
        </p:grpSpPr>
        <p:grpSp>
          <p:nvGrpSpPr>
            <p:cNvPr id="25" name="组合 24"/>
            <p:cNvGrpSpPr/>
            <p:nvPr/>
          </p:nvGrpSpPr>
          <p:grpSpPr>
            <a:xfrm>
              <a:off x="1144561" y="2348441"/>
              <a:ext cx="1839595" cy="327025"/>
              <a:chOff x="3644" y="2232"/>
              <a:chExt cx="2897" cy="515"/>
            </a:xfrm>
          </p:grpSpPr>
          <p:sp>
            <p:nvSpPr>
              <p:cNvPr id="38" name="文本框 37"/>
              <p:cNvSpPr txBox="1"/>
              <p:nvPr/>
            </p:nvSpPr>
            <p:spPr>
              <a:xfrm>
                <a:off x="4098" y="2232"/>
                <a:ext cx="2443"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整理工程资源</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9" name="椭圆 38"/>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pic>
          <p:nvPicPr>
            <p:cNvPr id="3" name="图片 2"/>
            <p:cNvPicPr>
              <a:picLocks noChangeAspect="1"/>
            </p:cNvPicPr>
            <p:nvPr/>
          </p:nvPicPr>
          <p:blipFill>
            <a:blip r:embed="rId1"/>
            <a:stretch>
              <a:fillRect/>
            </a:stretch>
          </p:blipFill>
          <p:spPr>
            <a:xfrm>
              <a:off x="913052" y="660419"/>
              <a:ext cx="1983009" cy="1608121"/>
            </a:xfrm>
            <a:prstGeom prst="rect">
              <a:avLst/>
            </a:prstGeom>
          </p:spPr>
        </p:pic>
      </p:grpSp>
      <p:grpSp>
        <p:nvGrpSpPr>
          <p:cNvPr id="13" name="组合 12"/>
          <p:cNvGrpSpPr/>
          <p:nvPr/>
        </p:nvGrpSpPr>
        <p:grpSpPr>
          <a:xfrm>
            <a:off x="2732937" y="4484983"/>
            <a:ext cx="3815330" cy="2208464"/>
            <a:chOff x="1594665" y="3287794"/>
            <a:chExt cx="2861945" cy="1656607"/>
          </a:xfrm>
        </p:grpSpPr>
        <p:grpSp>
          <p:nvGrpSpPr>
            <p:cNvPr id="43" name="组合 42"/>
            <p:cNvGrpSpPr/>
            <p:nvPr/>
          </p:nvGrpSpPr>
          <p:grpSpPr>
            <a:xfrm>
              <a:off x="1594665" y="4617376"/>
              <a:ext cx="2861945" cy="327025"/>
              <a:chOff x="3644" y="2232"/>
              <a:chExt cx="4507" cy="515"/>
            </a:xfrm>
          </p:grpSpPr>
          <p:sp>
            <p:nvSpPr>
              <p:cNvPr id="62" name="文本框 61"/>
              <p:cNvSpPr txBox="1"/>
              <p:nvPr/>
            </p:nvSpPr>
            <p:spPr>
              <a:xfrm>
                <a:off x="4098" y="2232"/>
                <a:ext cx="4053"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设计登录页布局</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3" name="椭圆 62"/>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pic>
          <p:nvPicPr>
            <p:cNvPr id="7" name="图片 6"/>
            <p:cNvPicPr>
              <a:picLocks noChangeAspect="1"/>
            </p:cNvPicPr>
            <p:nvPr/>
          </p:nvPicPr>
          <p:blipFill>
            <a:blip r:embed="rId2"/>
            <a:stretch>
              <a:fillRect/>
            </a:stretch>
          </p:blipFill>
          <p:spPr>
            <a:xfrm>
              <a:off x="2094049" y="3287794"/>
              <a:ext cx="638800" cy="1305255"/>
            </a:xfrm>
            <a:prstGeom prst="rect">
              <a:avLst/>
            </a:prstGeom>
          </p:spPr>
        </p:pic>
      </p:grpSp>
      <p:grpSp>
        <p:nvGrpSpPr>
          <p:cNvPr id="14" name="组合 13"/>
          <p:cNvGrpSpPr/>
          <p:nvPr/>
        </p:nvGrpSpPr>
        <p:grpSpPr>
          <a:xfrm>
            <a:off x="7649770" y="2771918"/>
            <a:ext cx="4214048" cy="435965"/>
            <a:chOff x="3644" y="2232"/>
            <a:chExt cx="4978" cy="515"/>
          </a:xfrm>
        </p:grpSpPr>
        <p:sp>
          <p:nvSpPr>
            <p:cNvPr id="15" name="文本框 14"/>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实现登录功能区的布局设计</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6" name="椭圆 15"/>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4</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17" name="组合 16"/>
          <p:cNvGrpSpPr/>
          <p:nvPr/>
        </p:nvGrpSpPr>
        <p:grpSpPr>
          <a:xfrm>
            <a:off x="7649770" y="3445545"/>
            <a:ext cx="4214048" cy="435965"/>
            <a:chOff x="3644" y="2232"/>
            <a:chExt cx="4978" cy="515"/>
          </a:xfrm>
        </p:grpSpPr>
        <p:sp>
          <p:nvSpPr>
            <p:cNvPr id="18" name="文本框 17"/>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实现用户名</a:t>
              </a:r>
              <a:r>
                <a:rPr lang="en-US" altLang="zh-CN"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a:t>
              </a: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密码的输入区设计</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0" name="椭圆 19"/>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5</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22" name="组合 21"/>
          <p:cNvGrpSpPr/>
          <p:nvPr/>
        </p:nvGrpSpPr>
        <p:grpSpPr>
          <a:xfrm>
            <a:off x="7655692" y="4061334"/>
            <a:ext cx="4214048" cy="435965"/>
            <a:chOff x="3644" y="2232"/>
            <a:chExt cx="4978" cy="515"/>
          </a:xfrm>
        </p:grpSpPr>
        <p:sp>
          <p:nvSpPr>
            <p:cNvPr id="23" name="文本框 22"/>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实现记住密码和登录按钮区的设计</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4" name="椭圆 23"/>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6</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26" name="组合 25"/>
          <p:cNvGrpSpPr/>
          <p:nvPr/>
        </p:nvGrpSpPr>
        <p:grpSpPr>
          <a:xfrm>
            <a:off x="7649770" y="4686021"/>
            <a:ext cx="4214048" cy="435965"/>
            <a:chOff x="3644" y="2232"/>
            <a:chExt cx="4978" cy="515"/>
          </a:xfrm>
        </p:grpSpPr>
        <p:sp>
          <p:nvSpPr>
            <p:cNvPr id="33" name="文本框 32"/>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封装消息弹窗工具类</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4" name="椭圆 33"/>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7</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41" name="组合 40"/>
          <p:cNvGrpSpPr/>
          <p:nvPr/>
        </p:nvGrpSpPr>
        <p:grpSpPr>
          <a:xfrm>
            <a:off x="7688288" y="5255844"/>
            <a:ext cx="4214048" cy="435965"/>
            <a:chOff x="3644" y="2232"/>
            <a:chExt cx="4978" cy="515"/>
          </a:xfrm>
        </p:grpSpPr>
        <p:sp>
          <p:nvSpPr>
            <p:cNvPr id="59" name="文本框 58"/>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处理点击事件</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0" name="椭圆 59"/>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8</a:t>
              </a:r>
              <a:endPar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pic>
        <p:nvPicPr>
          <p:cNvPr id="64" name="图片 63"/>
          <p:cNvPicPr>
            <a:picLocks noChangeAspect="1"/>
          </p:cNvPicPr>
          <p:nvPr/>
        </p:nvPicPr>
        <p:blipFill>
          <a:blip r:embed="rId3"/>
          <a:stretch>
            <a:fillRect/>
          </a:stretch>
        </p:blipFill>
        <p:spPr>
          <a:xfrm>
            <a:off x="5500175" y="822762"/>
            <a:ext cx="1956204" cy="4004973"/>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4*#ppt_w"/>
                                          </p:val>
                                        </p:tav>
                                        <p:tav tm="100000">
                                          <p:val>
                                            <p:strVal val="#ppt_w"/>
                                          </p:val>
                                        </p:tav>
                                      </p:tavLst>
                                    </p:anim>
                                    <p:anim calcmode="lin" valueType="num">
                                      <p:cBhvr>
                                        <p:cTn id="8" dur="500" fill="hold"/>
                                        <p:tgtEl>
                                          <p:spTgt spid="2"/>
                                        </p:tgtEl>
                                        <p:attrNameLst>
                                          <p:attrName>ppt_h</p:attrName>
                                        </p:attrNameLst>
                                      </p:cBhvr>
                                      <p:tavLst>
                                        <p:tav tm="0">
                                          <p:val>
                                            <p:strVal val="4*#ppt_h"/>
                                          </p:val>
                                        </p:tav>
                                        <p:tav tm="100000">
                                          <p:val>
                                            <p:strVal val="#ppt_h"/>
                                          </p:val>
                                        </p:tav>
                                      </p:tavLst>
                                    </p:anim>
                                  </p:childTnLst>
                                </p:cTn>
                              </p:par>
                              <p:par>
                                <p:cTn id="9" presetID="22" presetClass="entr" presetSubtype="8"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10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5"/>
                                        </p:tgtEl>
                                        <p:attrNameLst>
                                          <p:attrName>style.visibility</p:attrName>
                                        </p:attrNameLst>
                                      </p:cBhvr>
                                      <p:to>
                                        <p:strVal val="visible"/>
                                      </p:to>
                                    </p:set>
                                    <p:animEffect transition="in" filter="wipe(down)">
                                      <p:cBhvr>
                                        <p:cTn id="16" dur="500"/>
                                        <p:tgtEl>
                                          <p:spTgt spid="6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wipe(down)">
                                      <p:cBhvr>
                                        <p:cTn id="26" dur="500"/>
                                        <p:tgtEl>
                                          <p:spTgt spid="6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wipe(down)">
                                      <p:cBhvr>
                                        <p:cTn id="31" dur="500"/>
                                        <p:tgtEl>
                                          <p:spTgt spid="6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down)">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down)">
                                      <p:cBhvr>
                                        <p:cTn id="51" dur="500"/>
                                        <p:tgtEl>
                                          <p:spTgt spid="2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down)">
                                      <p:cBhvr>
                                        <p:cTn id="5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006592" y="2781483"/>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5519034" y="3069546"/>
            <a:ext cx="5474538"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整理工程资源</a:t>
            </a:r>
            <a:endPar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文本框 3"/>
          <p:cNvSpPr txBox="1"/>
          <p:nvPr>
            <p:custDataLst>
              <p:tags r:id="rId1"/>
            </p:custDataLst>
          </p:nvPr>
        </p:nvSpPr>
        <p:spPr>
          <a:xfrm>
            <a:off x="3934427" y="28061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01</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790430" y="26143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766195" y="850201"/>
            <a:ext cx="3936933" cy="3345890"/>
            <a:chOff x="714042" y="1245287"/>
            <a:chExt cx="2918173" cy="2584959"/>
          </a:xfrm>
        </p:grpSpPr>
        <p:sp>
          <p:nvSpPr>
            <p:cNvPr id="24" name="文本框 23"/>
            <p:cNvSpPr txBox="1"/>
            <p:nvPr/>
          </p:nvSpPr>
          <p:spPr>
            <a:xfrm>
              <a:off x="790091" y="1291968"/>
              <a:ext cx="2775193" cy="2510822"/>
            </a:xfrm>
            <a:prstGeom prst="rect">
              <a:avLst/>
            </a:prstGeom>
            <a:noFill/>
          </p:spPr>
          <p:txBody>
            <a:bodyPr wrap="square" lIns="91397" tIns="45699" rIns="91397" bIns="45699" rtlCol="0">
              <a:spAutoFit/>
            </a:bodyPr>
            <a:lstStyle/>
            <a:p>
              <a:pPr indent="266700" algn="just">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pages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目录下新建</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Login.ets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页面；将任务需要的图片资源拷贝到</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media</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目录下；在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color.json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中添加任务需要的颜色资源；在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目录下创建</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common/util</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目录，并在该目录下创建</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ToastUtil.ets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文件。</a:t>
              </a:r>
              <a:endParaRPr lang="zh-CN" altLang="en-US" sz="2135"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5" name="圆角矩形 54"/>
            <p:cNvSpPr/>
            <p:nvPr/>
          </p:nvSpPr>
          <p:spPr>
            <a:xfrm>
              <a:off x="714042" y="1245287"/>
              <a:ext cx="2918173" cy="258495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26" name="组合 25"/>
          <p:cNvGrpSpPr/>
          <p:nvPr/>
        </p:nvGrpSpPr>
        <p:grpSpPr>
          <a:xfrm>
            <a:off x="766196" y="4364916"/>
            <a:ext cx="4652320" cy="1942350"/>
            <a:chOff x="602840" y="3657238"/>
            <a:chExt cx="3489785" cy="1456990"/>
          </a:xfrm>
        </p:grpSpPr>
        <p:pic>
          <p:nvPicPr>
            <p:cNvPr id="27" name="图片 26"/>
            <p:cNvPicPr>
              <a:picLocks noChangeAspect="1"/>
            </p:cNvPicPr>
            <p:nvPr/>
          </p:nvPicPr>
          <p:blipFill>
            <a:blip r:embed="rId1"/>
            <a:stretch>
              <a:fillRect/>
            </a:stretch>
          </p:blipFill>
          <p:spPr>
            <a:xfrm>
              <a:off x="2470807" y="3657238"/>
              <a:ext cx="1621818" cy="1456990"/>
            </a:xfrm>
            <a:prstGeom prst="rect">
              <a:avLst/>
            </a:prstGeom>
          </p:spPr>
        </p:pic>
        <p:sp>
          <p:nvSpPr>
            <p:cNvPr id="28"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725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pic>
        <p:nvPicPr>
          <p:cNvPr id="29" name="图片 28"/>
          <p:cNvPicPr>
            <a:picLocks noChangeAspect="1"/>
          </p:cNvPicPr>
          <p:nvPr/>
        </p:nvPicPr>
        <p:blipFill>
          <a:blip r:embed="rId2"/>
          <a:stretch>
            <a:fillRect/>
          </a:stretch>
        </p:blipFill>
        <p:spPr>
          <a:xfrm>
            <a:off x="5653598" y="338493"/>
            <a:ext cx="5972925" cy="4843743"/>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000" fill="hold">
                                          <p:stCondLst>
                                            <p:cond delay="0"/>
                                          </p:stCondLst>
                                        </p:cTn>
                                        <p:tgtEl>
                                          <p:spTgt spid="17"/>
                                        </p:tgtEl>
                                        <p:attrNameLst>
                                          <p:attrName>style.visibility</p:attrName>
                                        </p:attrNameLst>
                                      </p:cBhvr>
                                      <p:to>
                                        <p:strVal val="visible"/>
                                      </p:to>
                                    </p:set>
                                    <p:animEffect transition="in" filter="wedge">
                                      <p:cBhvr>
                                        <p:cTn id="7" dur="1000"/>
                                        <p:tgtEl>
                                          <p:spTgt spid="17"/>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29"/>
                                        </p:tgtEl>
                                        <p:attrNameLst>
                                          <p:attrName>style.visibility</p:attrName>
                                        </p:attrNameLst>
                                      </p:cBhvr>
                                      <p:to>
                                        <p:strVal val="visible"/>
                                      </p:to>
                                    </p:set>
                                    <p:animEffect transition="in" filter="wedge">
                                      <p:cBhvr>
                                        <p:cTn id="11" dur="1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26"/>
                                        </p:tgtEl>
                                        <p:attrNameLst>
                                          <p:attrName>style.visibility</p:attrName>
                                        </p:attrNameLst>
                                      </p:cBhvr>
                                      <p:to>
                                        <p:strVal val="visible"/>
                                      </p:to>
                                    </p:set>
                                    <p:animEffect transition="in" filter="wedge">
                                      <p:cBhvr>
                                        <p:cTn id="16"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078347" y="2853873"/>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5447221" y="3069546"/>
            <a:ext cx="6004186"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设计登录页布局</a:t>
            </a:r>
            <a:endPar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文本框 3"/>
          <p:cNvSpPr txBox="1"/>
          <p:nvPr>
            <p:custDataLst>
              <p:tags r:id="rId1"/>
            </p:custDataLst>
          </p:nvPr>
        </p:nvSpPr>
        <p:spPr>
          <a:xfrm>
            <a:off x="4053807" y="2969364"/>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02</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430385" y="18904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9797" y="1303571"/>
            <a:ext cx="6529377" cy="3182319"/>
            <a:chOff x="714041" y="999572"/>
            <a:chExt cx="4862391" cy="2458584"/>
          </a:xfrm>
        </p:grpSpPr>
        <p:sp>
          <p:nvSpPr>
            <p:cNvPr id="5" name="文本框 4"/>
            <p:cNvSpPr txBox="1"/>
            <p:nvPr/>
          </p:nvSpPr>
          <p:spPr>
            <a:xfrm>
              <a:off x="924703" y="1588107"/>
              <a:ext cx="3990376" cy="1595386"/>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登录页的最外层是用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Row</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布局，设置了一个背景图片；在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Row</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内部嵌套了一个</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Column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布局，用于处理登录功能区；登录功能区有</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Logo</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、用户名和密码输入区、记住密码区和登录按钮区。</a:t>
              </a:r>
              <a:endParaRPr lang="zh-CN" altLang="en-US" sz="2135"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nvGrpSpPr>
            <p:cNvPr id="6" name="组合 5"/>
            <p:cNvGrpSpPr/>
            <p:nvPr/>
          </p:nvGrpSpPr>
          <p:grpSpPr>
            <a:xfrm>
              <a:off x="714041" y="999572"/>
              <a:ext cx="4862391" cy="2458584"/>
              <a:chOff x="899813" y="1401476"/>
              <a:chExt cx="4862391" cy="2458584"/>
            </a:xfrm>
          </p:grpSpPr>
          <p:sp>
            <p:nvSpPr>
              <p:cNvPr id="7" name="圆角矩形 3"/>
              <p:cNvSpPr/>
              <p:nvPr/>
            </p:nvSpPr>
            <p:spPr>
              <a:xfrm>
                <a:off x="899813" y="1436469"/>
                <a:ext cx="4651729"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3" y="1647190"/>
                <a:ext cx="4436210" cy="2212870"/>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110475" y="1401476"/>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组件树</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pic>
        <p:nvPicPr>
          <p:cNvPr id="2" name="图片 1"/>
          <p:cNvPicPr>
            <a:picLocks noChangeAspect="1"/>
          </p:cNvPicPr>
          <p:nvPr/>
        </p:nvPicPr>
        <p:blipFill rotWithShape="1">
          <a:blip r:embed="rId1"/>
          <a:srcRect l="17523"/>
          <a:stretch>
            <a:fillRect/>
          </a:stretch>
        </p:blipFill>
        <p:spPr>
          <a:xfrm>
            <a:off x="7244580" y="1413925"/>
            <a:ext cx="4595896" cy="4306379"/>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wedg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000" fill="hold">
                                          <p:stCondLst>
                                            <p:cond delay="0"/>
                                          </p:stCondLst>
                                        </p:cTn>
                                        <p:tgtEl>
                                          <p:spTgt spid="2"/>
                                        </p:tgtEl>
                                        <p:attrNameLst>
                                          <p:attrName>style.visibility</p:attrName>
                                        </p:attrNameLst>
                                      </p:cBhvr>
                                      <p:to>
                                        <p:strVal val="visible"/>
                                      </p:to>
                                    </p:set>
                                    <p:animEffect transition="in" filter="wedge">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366637" y="270972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5950869" y="2997891"/>
            <a:ext cx="5781407"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实现最外层的背景区</a:t>
            </a:r>
            <a:endPar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文本框 3"/>
          <p:cNvSpPr txBox="1"/>
          <p:nvPr>
            <p:custDataLst>
              <p:tags r:id="rId1"/>
            </p:custDataLst>
          </p:nvPr>
        </p:nvSpPr>
        <p:spPr>
          <a:xfrm>
            <a:off x="4342097" y="282521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03</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718675" y="26143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实现最外层的背景区</a:t>
            </a:r>
            <a:endPar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4" name="组合 3"/>
          <p:cNvGrpSpPr/>
          <p:nvPr/>
        </p:nvGrpSpPr>
        <p:grpSpPr>
          <a:xfrm>
            <a:off x="769796" y="1295702"/>
            <a:ext cx="6387935" cy="2261807"/>
            <a:chOff x="714040" y="993493"/>
            <a:chExt cx="4757060" cy="1747418"/>
          </a:xfrm>
        </p:grpSpPr>
        <p:sp>
          <p:nvSpPr>
            <p:cNvPr id="5" name="文本框 4"/>
            <p:cNvSpPr txBox="1"/>
            <p:nvPr/>
          </p:nvSpPr>
          <p:spPr>
            <a:xfrm>
              <a:off x="924704" y="1601928"/>
              <a:ext cx="3755023" cy="985097"/>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Login.ets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中编写代码，实现登录页面的背景设置。登录页面最外层用一个</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Row</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布局，设置背景图片和宽高属性。</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0" y="993493"/>
              <a:ext cx="4757060" cy="1747418"/>
              <a:chOff x="899812" y="1395397"/>
              <a:chExt cx="4757060" cy="1747418"/>
            </a:xfrm>
          </p:grpSpPr>
          <p:sp>
            <p:nvSpPr>
              <p:cNvPr id="7"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2" y="1647190"/>
                <a:ext cx="4036607" cy="1495625"/>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组件树</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911238" y="3956603"/>
            <a:ext cx="5470234" cy="2296294"/>
            <a:chOff x="673616" y="3421010"/>
            <a:chExt cx="4103317" cy="1722490"/>
          </a:xfrm>
        </p:grpSpPr>
        <p:pic>
          <p:nvPicPr>
            <p:cNvPr id="13" name="图片 12"/>
            <p:cNvPicPr>
              <a:picLocks noChangeAspect="1"/>
            </p:cNvPicPr>
            <p:nvPr/>
          </p:nvPicPr>
          <p:blipFill>
            <a:blip r:embed="rId1"/>
            <a:stretch>
              <a:fillRect/>
            </a:stretch>
          </p:blipFill>
          <p:spPr>
            <a:xfrm>
              <a:off x="2859579" y="3421010"/>
              <a:ext cx="1917354" cy="1722490"/>
            </a:xfrm>
            <a:prstGeom prst="rect">
              <a:avLst/>
            </a:prstGeom>
          </p:spPr>
        </p:pic>
        <p:sp>
          <p:nvSpPr>
            <p:cNvPr id="14"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900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pic>
        <p:nvPicPr>
          <p:cNvPr id="16" name="图片 15"/>
          <p:cNvPicPr>
            <a:picLocks noChangeAspect="1"/>
          </p:cNvPicPr>
          <p:nvPr/>
        </p:nvPicPr>
        <p:blipFill>
          <a:blip r:embed="rId2"/>
          <a:stretch>
            <a:fillRect/>
          </a:stretch>
        </p:blipFill>
        <p:spPr>
          <a:xfrm>
            <a:off x="7157731" y="1044110"/>
            <a:ext cx="4333086" cy="5400243"/>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000" fill="hold">
                                          <p:stCondLst>
                                            <p:cond delay="0"/>
                                          </p:stCondLst>
                                        </p:cTn>
                                        <p:tgtEl>
                                          <p:spTgt spid="12"/>
                                        </p:tgtEl>
                                        <p:attrNameLst>
                                          <p:attrName>style.visibility</p:attrName>
                                        </p:attrNameLst>
                                      </p:cBhvr>
                                      <p:to>
                                        <p:strVal val="visible"/>
                                      </p:to>
                                    </p:set>
                                    <p:animEffect transition="in" filter="wedge">
                                      <p:cBhvr>
                                        <p:cTn id="1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078347" y="2781483"/>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5663214" y="2997891"/>
            <a:ext cx="5781407"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实现登录功能区的布局设计</a:t>
            </a:r>
            <a:endPar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文本框 3"/>
          <p:cNvSpPr txBox="1"/>
          <p:nvPr>
            <p:custDataLst>
              <p:tags r:id="rId1"/>
            </p:custDataLst>
          </p:nvPr>
        </p:nvSpPr>
        <p:spPr>
          <a:xfrm>
            <a:off x="4053807" y="2896974"/>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04</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286875" y="47733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实现登录功能区的布局设计</a:t>
            </a:r>
            <a:endPar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4" name="组合 3"/>
          <p:cNvGrpSpPr/>
          <p:nvPr/>
        </p:nvGrpSpPr>
        <p:grpSpPr>
          <a:xfrm>
            <a:off x="769796" y="1295702"/>
            <a:ext cx="6387935" cy="2261807"/>
            <a:chOff x="714040" y="993493"/>
            <a:chExt cx="4757060" cy="1747418"/>
          </a:xfrm>
        </p:grpSpPr>
        <p:sp>
          <p:nvSpPr>
            <p:cNvPr id="5" name="文本框 4"/>
            <p:cNvSpPr txBox="1"/>
            <p:nvPr/>
          </p:nvSpPr>
          <p:spPr>
            <a:xfrm>
              <a:off x="924704" y="1601928"/>
              <a:ext cx="3755023" cy="985097"/>
            </a:xfrm>
            <a:prstGeom prst="rect">
              <a:avLst/>
            </a:prstGeom>
            <a:noFill/>
          </p:spPr>
          <p:txBody>
            <a:bodyPr wrap="square" lIns="91397" tIns="45699" rIns="91397" bIns="45699" rtlCol="0">
              <a:spAutoFit/>
            </a:bodyPr>
            <a:lstStyle/>
            <a:p>
              <a:pPr indent="266700" algn="just">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在登录功能区的上部是一个</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Logo</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，用户名和密码以及按钮信息放在一个</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Column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布局中。</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0" y="993493"/>
              <a:ext cx="4757060" cy="1747418"/>
              <a:chOff x="899812" y="1395397"/>
              <a:chExt cx="4757060" cy="1747418"/>
            </a:xfrm>
          </p:grpSpPr>
          <p:sp>
            <p:nvSpPr>
              <p:cNvPr id="7"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2" y="1647190"/>
                <a:ext cx="4036607" cy="1495625"/>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组件树</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911238" y="3956603"/>
            <a:ext cx="5470234" cy="2296294"/>
            <a:chOff x="673616" y="3421010"/>
            <a:chExt cx="4103317" cy="1722490"/>
          </a:xfrm>
        </p:grpSpPr>
        <p:pic>
          <p:nvPicPr>
            <p:cNvPr id="13" name="图片 12"/>
            <p:cNvPicPr>
              <a:picLocks noChangeAspect="1"/>
            </p:cNvPicPr>
            <p:nvPr/>
          </p:nvPicPr>
          <p:blipFill>
            <a:blip r:embed="rId1"/>
            <a:stretch>
              <a:fillRect/>
            </a:stretch>
          </p:blipFill>
          <p:spPr>
            <a:xfrm>
              <a:off x="2859579" y="3421010"/>
              <a:ext cx="1917354" cy="1722490"/>
            </a:xfrm>
            <a:prstGeom prst="rect">
              <a:avLst/>
            </a:prstGeom>
          </p:spPr>
        </p:pic>
        <p:sp>
          <p:nvSpPr>
            <p:cNvPr id="14"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900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pic>
        <p:nvPicPr>
          <p:cNvPr id="10" name="图片 9"/>
          <p:cNvPicPr>
            <a:picLocks noChangeAspect="1"/>
          </p:cNvPicPr>
          <p:nvPr/>
        </p:nvPicPr>
        <p:blipFill>
          <a:blip r:embed="rId2"/>
          <a:stretch>
            <a:fillRect/>
          </a:stretch>
        </p:blipFill>
        <p:spPr>
          <a:xfrm>
            <a:off x="6965866" y="895991"/>
            <a:ext cx="4659535" cy="5402462"/>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10"/>
                                        </p:tgtEl>
                                        <p:attrNameLst>
                                          <p:attrName>style.visibility</p:attrName>
                                        </p:attrNameLst>
                                      </p:cBhvr>
                                      <p:to>
                                        <p:strVal val="visible"/>
                                      </p:to>
                                    </p:set>
                                    <p:animEffect transition="in" filter="wedge">
                                      <p:cBhvr>
                                        <p:cTn id="16" dur="1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2"/>
                                        </p:tgtEl>
                                        <p:attrNameLst>
                                          <p:attrName>style.visibility</p:attrName>
                                        </p:attrNameLst>
                                      </p:cBhvr>
                                      <p:to>
                                        <p:strVal val="visible"/>
                                      </p:to>
                                    </p:set>
                                    <p:animEffect transition="in" filter="wedge">
                                      <p:cBhvr>
                                        <p:cTn id="2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222492" y="2637973"/>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5878830" y="2753360"/>
            <a:ext cx="4796790" cy="1280795"/>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实现用户名</a:t>
            </a:r>
            <a:r>
              <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a:t>
            </a: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密码的输入区设计</a:t>
            </a:r>
            <a:endPar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文本框 3"/>
          <p:cNvSpPr txBox="1"/>
          <p:nvPr>
            <p:custDataLst>
              <p:tags r:id="rId1"/>
            </p:custDataLst>
          </p:nvPr>
        </p:nvSpPr>
        <p:spPr>
          <a:xfrm>
            <a:off x="4197952" y="2753464"/>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05</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286875" y="26143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实现用户名</a:t>
            </a:r>
            <a:r>
              <a:rPr lang="en-US" altLang="zh-CN"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a:t>
            </a: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密码的输入区设计</a:t>
            </a:r>
            <a:endPar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4" name="组合 3"/>
          <p:cNvGrpSpPr/>
          <p:nvPr/>
        </p:nvGrpSpPr>
        <p:grpSpPr>
          <a:xfrm>
            <a:off x="769796" y="1295702"/>
            <a:ext cx="6387935" cy="2261807"/>
            <a:chOff x="714040" y="993493"/>
            <a:chExt cx="4757060" cy="1747418"/>
          </a:xfrm>
        </p:grpSpPr>
        <p:sp>
          <p:nvSpPr>
            <p:cNvPr id="5" name="文本框 4"/>
            <p:cNvSpPr txBox="1"/>
            <p:nvPr/>
          </p:nvSpPr>
          <p:spPr>
            <a:xfrm>
              <a:off x="924704" y="1601928"/>
              <a:ext cx="3755023" cy="985097"/>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用户名和密码输入都使用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TextInput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组件，用户名的输入类型为</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Normal</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，密码的输入类型为</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Password</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0" y="993493"/>
              <a:ext cx="4757060" cy="1747418"/>
              <a:chOff x="899812" y="1395397"/>
              <a:chExt cx="4757060" cy="1747418"/>
            </a:xfrm>
          </p:grpSpPr>
          <p:sp>
            <p:nvSpPr>
              <p:cNvPr id="7"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2" y="1647190"/>
                <a:ext cx="4036607" cy="1495625"/>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组件树</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911238" y="3956603"/>
            <a:ext cx="5470234" cy="2296294"/>
            <a:chOff x="673616" y="3421010"/>
            <a:chExt cx="4103317" cy="1722490"/>
          </a:xfrm>
        </p:grpSpPr>
        <p:pic>
          <p:nvPicPr>
            <p:cNvPr id="13" name="图片 12"/>
            <p:cNvPicPr>
              <a:picLocks noChangeAspect="1"/>
            </p:cNvPicPr>
            <p:nvPr/>
          </p:nvPicPr>
          <p:blipFill>
            <a:blip r:embed="rId1"/>
            <a:stretch>
              <a:fillRect/>
            </a:stretch>
          </p:blipFill>
          <p:spPr>
            <a:xfrm>
              <a:off x="2859579" y="3421010"/>
              <a:ext cx="1917354" cy="1722490"/>
            </a:xfrm>
            <a:prstGeom prst="rect">
              <a:avLst/>
            </a:prstGeom>
          </p:spPr>
        </p:pic>
        <p:sp>
          <p:nvSpPr>
            <p:cNvPr id="14"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900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pic>
        <p:nvPicPr>
          <p:cNvPr id="16" name="图片 15"/>
          <p:cNvPicPr>
            <a:picLocks noChangeAspect="1"/>
          </p:cNvPicPr>
          <p:nvPr/>
        </p:nvPicPr>
        <p:blipFill>
          <a:blip r:embed="rId2"/>
          <a:stretch>
            <a:fillRect/>
          </a:stretch>
        </p:blipFill>
        <p:spPr>
          <a:xfrm>
            <a:off x="6703424" y="1348864"/>
            <a:ext cx="4846731" cy="4052567"/>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000" fill="hold">
                                          <p:stCondLst>
                                            <p:cond delay="0"/>
                                          </p:stCondLst>
                                        </p:cTn>
                                        <p:tgtEl>
                                          <p:spTgt spid="12"/>
                                        </p:tgtEl>
                                        <p:attrNameLst>
                                          <p:attrName>style.visibility</p:attrName>
                                        </p:attrNameLst>
                                      </p:cBhvr>
                                      <p:to>
                                        <p:strVal val="visible"/>
                                      </p:to>
                                    </p:set>
                                    <p:animEffect transition="in" filter="wedge">
                                      <p:cBhvr>
                                        <p:cTn id="1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3862447" y="270972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5590824" y="2709601"/>
            <a:ext cx="5781407" cy="1280795"/>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实现记住密码和登录按钮区的设计</a:t>
            </a:r>
            <a:endPar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文本框 3"/>
          <p:cNvSpPr txBox="1"/>
          <p:nvPr>
            <p:custDataLst>
              <p:tags r:id="rId1"/>
            </p:custDataLst>
          </p:nvPr>
        </p:nvSpPr>
        <p:spPr>
          <a:xfrm>
            <a:off x="3837907" y="282521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06</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4222865" y="26143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9796" y="1295702"/>
            <a:ext cx="6387935" cy="2622208"/>
            <a:chOff x="714040" y="993493"/>
            <a:chExt cx="4757060" cy="2025856"/>
          </a:xfrm>
        </p:grpSpPr>
        <p:sp>
          <p:nvSpPr>
            <p:cNvPr id="5" name="文本框 4"/>
            <p:cNvSpPr txBox="1"/>
            <p:nvPr/>
          </p:nvSpPr>
          <p:spPr>
            <a:xfrm>
              <a:off x="924704" y="1601928"/>
              <a:ext cx="3755023" cy="985097"/>
            </a:xfrm>
            <a:prstGeom prst="rect">
              <a:avLst/>
            </a:prstGeom>
            <a:noFill/>
          </p:spPr>
          <p:txBody>
            <a:bodyPr wrap="square" lIns="91397" tIns="45699" rIns="91397" bIns="45699" rtlCol="0">
              <a:spAutoFit/>
            </a:bodyPr>
            <a:lstStyle/>
            <a:p>
              <a:pPr indent="266700" algn="just">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记住密码区用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Row</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组件包裹住</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CheckBox</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组件和</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Text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组件，在水平方向上居末端对齐；登录按钮设置了渐变色属性。</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0" y="993493"/>
              <a:ext cx="4757060" cy="2025856"/>
              <a:chOff x="899812" y="1395397"/>
              <a:chExt cx="4757060" cy="2025856"/>
            </a:xfrm>
          </p:grpSpPr>
          <p:sp>
            <p:nvSpPr>
              <p:cNvPr id="7"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2" y="1647190"/>
                <a:ext cx="4036607" cy="177406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组件树</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911238" y="3956603"/>
            <a:ext cx="5470234" cy="2296294"/>
            <a:chOff x="673616" y="3421010"/>
            <a:chExt cx="4103317" cy="1722490"/>
          </a:xfrm>
        </p:grpSpPr>
        <p:pic>
          <p:nvPicPr>
            <p:cNvPr id="13" name="图片 12"/>
            <p:cNvPicPr>
              <a:picLocks noChangeAspect="1"/>
            </p:cNvPicPr>
            <p:nvPr/>
          </p:nvPicPr>
          <p:blipFill>
            <a:blip r:embed="rId1"/>
            <a:stretch>
              <a:fillRect/>
            </a:stretch>
          </p:blipFill>
          <p:spPr>
            <a:xfrm>
              <a:off x="2859579" y="3421010"/>
              <a:ext cx="1917354" cy="1722490"/>
            </a:xfrm>
            <a:prstGeom prst="rect">
              <a:avLst/>
            </a:prstGeom>
          </p:spPr>
        </p:pic>
        <p:sp>
          <p:nvSpPr>
            <p:cNvPr id="14"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900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pic>
        <p:nvPicPr>
          <p:cNvPr id="16" name="图片 15"/>
          <p:cNvPicPr>
            <a:picLocks noChangeAspect="1"/>
          </p:cNvPicPr>
          <p:nvPr/>
        </p:nvPicPr>
        <p:blipFill>
          <a:blip r:embed="rId2"/>
          <a:stretch>
            <a:fillRect/>
          </a:stretch>
        </p:blipFill>
        <p:spPr>
          <a:xfrm>
            <a:off x="6592959" y="1211920"/>
            <a:ext cx="5022971" cy="4250206"/>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wedg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000" fill="hold">
                                          <p:stCondLst>
                                            <p:cond delay="0"/>
                                          </p:stCondLst>
                                        </p:cTn>
                                        <p:tgtEl>
                                          <p:spTgt spid="12"/>
                                        </p:tgtEl>
                                        <p:attrNameLst>
                                          <p:attrName>style.visibility</p:attrName>
                                        </p:attrNameLst>
                                      </p:cBhvr>
                                      <p:to>
                                        <p:strVal val="visible"/>
                                      </p:to>
                                    </p:set>
                                    <p:animEffect transition="in" filter="wedg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294247" y="2781483"/>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095014" y="3069646"/>
            <a:ext cx="5781407"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封装消息弹窗工具类</a:t>
            </a:r>
            <a:endPar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文本框 3"/>
          <p:cNvSpPr txBox="1"/>
          <p:nvPr>
            <p:custDataLst>
              <p:tags r:id="rId1"/>
            </p:custDataLst>
          </p:nvPr>
        </p:nvSpPr>
        <p:spPr>
          <a:xfrm>
            <a:off x="4150327" y="2853794"/>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07</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906260" y="16682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封装消息弹窗工具类</a:t>
            </a:r>
            <a:endPar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4" name="组合 3"/>
          <p:cNvGrpSpPr/>
          <p:nvPr/>
        </p:nvGrpSpPr>
        <p:grpSpPr>
          <a:xfrm>
            <a:off x="769797" y="1295702"/>
            <a:ext cx="7481094" cy="3050687"/>
            <a:chOff x="714041" y="993493"/>
            <a:chExt cx="5571130" cy="2356889"/>
          </a:xfrm>
        </p:grpSpPr>
        <p:sp>
          <p:nvSpPr>
            <p:cNvPr id="5" name="文本框 4"/>
            <p:cNvSpPr txBox="1"/>
            <p:nvPr/>
          </p:nvSpPr>
          <p:spPr>
            <a:xfrm>
              <a:off x="924704" y="1601928"/>
              <a:ext cx="4987618" cy="1595386"/>
            </a:xfrm>
            <a:prstGeom prst="rect">
              <a:avLst/>
            </a:prstGeom>
            <a:noFill/>
          </p:spPr>
          <p:txBody>
            <a:bodyPr wrap="square" lIns="91397" tIns="45699" rIns="91397" bIns="45699" rtlCol="0">
              <a:spAutoFit/>
            </a:bodyPr>
            <a:lstStyle/>
            <a:p>
              <a:pPr indent="266700" algn="just">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ArkTS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API</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中，有提供了文本的消息弹窗</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'@ohos.promptAction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，使用时需要用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import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进行模块的导入，再利用提供的</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showToast()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方法进行消息弹窗提示，因此可以定义一个工具类</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ToastUtil</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，内部定义一个方法</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show()</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，参数是要显示的消息内容。</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1" y="993493"/>
              <a:ext cx="5571130" cy="2356889"/>
              <a:chOff x="899813" y="1395397"/>
              <a:chExt cx="5571130" cy="2356889"/>
            </a:xfrm>
          </p:grpSpPr>
          <p:sp>
            <p:nvSpPr>
              <p:cNvPr id="7"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3" y="1647189"/>
                <a:ext cx="5571130" cy="210509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ToastUtil</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2499305" y="4346390"/>
            <a:ext cx="5470234" cy="2296294"/>
            <a:chOff x="673616" y="3421010"/>
            <a:chExt cx="4103317" cy="1722490"/>
          </a:xfrm>
        </p:grpSpPr>
        <p:pic>
          <p:nvPicPr>
            <p:cNvPr id="13" name="图片 12"/>
            <p:cNvPicPr>
              <a:picLocks noChangeAspect="1"/>
            </p:cNvPicPr>
            <p:nvPr/>
          </p:nvPicPr>
          <p:blipFill>
            <a:blip r:embed="rId1"/>
            <a:stretch>
              <a:fillRect/>
            </a:stretch>
          </p:blipFill>
          <p:spPr>
            <a:xfrm>
              <a:off x="2859579" y="3421010"/>
              <a:ext cx="1917354" cy="1722490"/>
            </a:xfrm>
            <a:prstGeom prst="rect">
              <a:avLst/>
            </a:prstGeom>
          </p:spPr>
        </p:pic>
        <p:sp>
          <p:nvSpPr>
            <p:cNvPr id="14"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900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pic>
        <p:nvPicPr>
          <p:cNvPr id="10" name="图片 9"/>
          <p:cNvPicPr>
            <a:picLocks noChangeAspect="1"/>
          </p:cNvPicPr>
          <p:nvPr/>
        </p:nvPicPr>
        <p:blipFill>
          <a:blip r:embed="rId2"/>
          <a:stretch>
            <a:fillRect/>
          </a:stretch>
        </p:blipFill>
        <p:spPr>
          <a:xfrm>
            <a:off x="8714697" y="1194822"/>
            <a:ext cx="2684880" cy="5301268"/>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10"/>
                                        </p:tgtEl>
                                        <p:attrNameLst>
                                          <p:attrName>style.visibility</p:attrName>
                                        </p:attrNameLst>
                                      </p:cBhvr>
                                      <p:to>
                                        <p:strVal val="visible"/>
                                      </p:to>
                                    </p:set>
                                    <p:animEffect transition="in" filter="wedge">
                                      <p:cBhvr>
                                        <p:cTn id="16" dur="1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2"/>
                                        </p:tgtEl>
                                        <p:attrNameLst>
                                          <p:attrName>style.visibility</p:attrName>
                                        </p:attrNameLst>
                                      </p:cBhvr>
                                      <p:to>
                                        <p:strVal val="visible"/>
                                      </p:to>
                                    </p:set>
                                    <p:animEffect transition="in" filter="wedge">
                                      <p:cBhvr>
                                        <p:cTn id="2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006592" y="270972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5807359" y="3109651"/>
            <a:ext cx="5781407"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处理点击事件</a:t>
            </a:r>
            <a:endPar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文本框 3"/>
          <p:cNvSpPr txBox="1"/>
          <p:nvPr>
            <p:custDataLst>
              <p:tags r:id="rId1"/>
            </p:custDataLst>
          </p:nvPr>
        </p:nvSpPr>
        <p:spPr>
          <a:xfrm>
            <a:off x="3982052" y="282521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08</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790430" y="40558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38377" y="1269189"/>
            <a:ext cx="7481095" cy="2927658"/>
            <a:chOff x="714041" y="1245285"/>
            <a:chExt cx="5571131" cy="2261839"/>
          </a:xfrm>
        </p:grpSpPr>
        <p:sp>
          <p:nvSpPr>
            <p:cNvPr id="5" name="文本框 4"/>
            <p:cNvSpPr txBox="1"/>
            <p:nvPr/>
          </p:nvSpPr>
          <p:spPr>
            <a:xfrm>
              <a:off x="866406" y="1301450"/>
              <a:ext cx="4987618" cy="2205674"/>
            </a:xfrm>
            <a:prstGeom prst="rect">
              <a:avLst/>
            </a:prstGeom>
            <a:noFill/>
          </p:spPr>
          <p:txBody>
            <a:bodyPr wrap="square" lIns="91397" tIns="45699" rIns="91397" bIns="45699" rtlCol="0">
              <a:spAutoFit/>
            </a:bodyPr>
            <a:p>
              <a:pPr indent="266700" algn="just">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当想获取输入的用户名和密码，想知道记住密码的多选框的状态，都可以通过给组件添加相关的事件来获取；获取到相关信息后，可以使用消息弹窗进行提示。</a:t>
              </a:r>
              <a:endPar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Login.exs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文件的第一行导入消息弹窗工具类，给用户名和密码输入组件、记住密码组件、按钮组件添加事件。</a:t>
              </a:r>
              <a:endPar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sp>
          <p:nvSpPr>
            <p:cNvPr id="8" name="圆角矩形 54"/>
            <p:cNvSpPr/>
            <p:nvPr/>
          </p:nvSpPr>
          <p:spPr>
            <a:xfrm>
              <a:off x="714041" y="1245285"/>
              <a:ext cx="5571131" cy="2198015"/>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2" name="组合 11"/>
          <p:cNvGrpSpPr/>
          <p:nvPr/>
        </p:nvGrpSpPr>
        <p:grpSpPr>
          <a:xfrm>
            <a:off x="3365633" y="4762040"/>
            <a:ext cx="4672487" cy="1528220"/>
            <a:chOff x="673616" y="3421010"/>
            <a:chExt cx="4103317" cy="1722490"/>
          </a:xfrm>
        </p:grpSpPr>
        <p:pic>
          <p:nvPicPr>
            <p:cNvPr id="13" name="图片 12"/>
            <p:cNvPicPr>
              <a:picLocks noChangeAspect="1"/>
            </p:cNvPicPr>
            <p:nvPr/>
          </p:nvPicPr>
          <p:blipFill>
            <a:blip r:embed="rId1"/>
            <a:stretch>
              <a:fillRect/>
            </a:stretch>
          </p:blipFill>
          <p:spPr>
            <a:xfrm>
              <a:off x="2859579" y="3421010"/>
              <a:ext cx="1917354" cy="1722490"/>
            </a:xfrm>
            <a:prstGeom prst="rect">
              <a:avLst/>
            </a:prstGeom>
          </p:spPr>
        </p:pic>
        <p:sp>
          <p:nvSpPr>
            <p:cNvPr id="14"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55000" lnSpcReduction="20000"/>
            </a:bodyPr>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endPar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pic>
        <p:nvPicPr>
          <p:cNvPr id="10" name="图片 9"/>
          <p:cNvPicPr>
            <a:picLocks noChangeAspect="1"/>
          </p:cNvPicPr>
          <p:nvPr/>
        </p:nvPicPr>
        <p:blipFill>
          <a:blip r:embed="rId2"/>
          <a:stretch>
            <a:fillRect/>
          </a:stretch>
        </p:blipFill>
        <p:spPr>
          <a:xfrm>
            <a:off x="8783277" y="842397"/>
            <a:ext cx="2684880" cy="5301268"/>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wedge">
                                      <p:cBhvr>
                                        <p:cTn id="7" dur="1000"/>
                                        <p:tgtEl>
                                          <p:spTgt spid="4"/>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0"/>
                                        </p:tgtEl>
                                        <p:attrNameLst>
                                          <p:attrName>style.visibility</p:attrName>
                                        </p:attrNameLst>
                                      </p:cBhvr>
                                      <p:to>
                                        <p:strVal val="visible"/>
                                      </p:to>
                                    </p:set>
                                    <p:animEffect transition="in" filter="wedge">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12"/>
                                        </p:tgtEl>
                                        <p:attrNameLst>
                                          <p:attrName>style.visibility</p:attrName>
                                        </p:attrNameLst>
                                      </p:cBhvr>
                                      <p:to>
                                        <p:strVal val="visible"/>
                                      </p:to>
                                    </p:set>
                                    <p:animEffect transition="in" filter="wedge">
                                      <p:cBhvr>
                                        <p:cTn id="16"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98360" y="189049"/>
            <a:ext cx="6231695" cy="901559"/>
          </a:xfrm>
          <a:prstGeom prst="rect">
            <a:avLst/>
          </a:prstGeom>
        </p:spPr>
        <p:txBody>
          <a:bodyPr wrap="square" lIns="0" tIns="0" rIns="0" bIns="0">
            <a:noAutofit/>
          </a:bodyPr>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任务小结</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5" name="圆角矩形 54"/>
          <p:cNvSpPr/>
          <p:nvPr/>
        </p:nvSpPr>
        <p:spPr>
          <a:xfrm>
            <a:off x="1455943" y="1774505"/>
            <a:ext cx="10053281" cy="242036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 name="文本框 5"/>
          <p:cNvSpPr txBox="1"/>
          <p:nvPr/>
        </p:nvSpPr>
        <p:spPr>
          <a:xfrm>
            <a:off x="1748138" y="2164427"/>
            <a:ext cx="9570214" cy="1420495"/>
          </a:xfrm>
          <a:prstGeom prst="rect">
            <a:avLst/>
          </a:prstGeom>
          <a:noFill/>
        </p:spPr>
        <p:txBody>
          <a:bodyPr wrap="square">
            <a:spAutoFit/>
          </a:bodyPr>
          <a:p>
            <a:pPr indent="266700" algn="just">
              <a:lnSpc>
                <a:spcPct val="120000"/>
              </a:lnSpc>
            </a:pP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本任务主要讲解输入组件、按钮组件、开关组件和消息提示函数的使用，并综合使用布局和组件，开发了登录页面，处理了按钮的事件。通过本任务，读者可以完整的了解</a:t>
            </a:r>
            <a:r>
              <a:rPr lang="en-US" altLang="zh-CN">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App</a:t>
            </a: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的登录页面的开发过程。</a:t>
            </a:r>
            <a:endPar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000" fill="hold">
                                          <p:stCondLst>
                                            <p:cond delay="0"/>
                                          </p:stCondLst>
                                        </p:cTn>
                                        <p:tgtEl>
                                          <p:spTgt spid="5"/>
                                        </p:tgtEl>
                                        <p:attrNameLst>
                                          <p:attrName>style.visibility</p:attrName>
                                        </p:attrNameLst>
                                      </p:cBhvr>
                                      <p:to>
                                        <p:strVal val="visible"/>
                                      </p:to>
                                    </p:set>
                                    <p:animEffect transition="in" filter="wedg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82638" y="2421682"/>
            <a:ext cx="1008112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algn="ctr">
              <a:spcBef>
                <a:spcPts val="2400"/>
              </a:spcBef>
            </a:pPr>
            <a:r>
              <a:rPr lang="zh-CN" altLang="en-US" sz="8000" dirty="0">
                <a:solidFill>
                  <a:srgbClr val="0075CC"/>
                </a:solidFill>
                <a:latin typeface="华文中宋" panose="02010600040101010101" pitchFamily="2" charset="-122"/>
                <a:ea typeface="华文中宋" panose="02010600040101010101" pitchFamily="2" charset="-122"/>
                <a:cs typeface="Times New Roman" panose="02020603050405020304" pitchFamily="18" charset="0"/>
              </a:rPr>
              <a:t>谢谢聆听</a:t>
            </a:r>
            <a:endParaRPr lang="en-US" altLang="zh-CN" sz="8000" dirty="0">
              <a:solidFill>
                <a:srgbClr val="0075CC"/>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Image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3700893" y="1053530"/>
            <a:ext cx="501630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lang="en-US" altLang="zh-CN" sz="2000" dirty="0">
              <a:solidFill>
                <a:srgbClr val="00A99E"/>
              </a:solidFill>
              <a:latin typeface="Times New Roman" panose="02020603050405020304" pitchFamily="18" charset="0"/>
              <a:ea typeface="JetBrains Mono"/>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PLACING_PICTURE_USER_VIEWPORT" val="{&quot;height&quot;:6593,&quot;width&quot;:9562}"/>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UNIT_PLACING_PICTURE_USER_VIEWPORT" val="{&quot;height&quot;:6593,&quot;width&quot;:9562}"/>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PLACING_PICTURE_USER_VIEWPORT" val="{&quot;height&quot;:6593,&quot;width&quot;:9562}"/>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UNIT_PLACING_PICTURE_USER_VIEWPORT" val="{&quot;height&quot;:6593,&quot;width&quot;:9562}"/>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ISPRING_RESOURCE_PATHS_HASH_PRESENTER" val="3f15e6573a385e41c33bb97e7105a62faa5c484"/>
  <p:tag name="COMMONDATA" val="eyJoZGlkIjoiNGEzOWY5OWI3NjllYmMyNjdkZDQ2MDY2OWUyMDdmMzYifQ=="/>
  <p:tag name="RESOURCE_RECORD_KEY" val="{&quot;13&quot;:[19951231,4722044]}"/>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16322</Words>
  <Application>WPS 演示</Application>
  <PresentationFormat>自定义</PresentationFormat>
  <Paragraphs>686</Paragraphs>
  <Slides>80</Slides>
  <Notes>3</Notes>
  <HiddenSlides>0</HiddenSlides>
  <MMClips>0</MMClips>
  <ScaleCrop>false</ScaleCrop>
  <HeadingPairs>
    <vt:vector size="6" baseType="variant">
      <vt:variant>
        <vt:lpstr>已用的字体</vt:lpstr>
      </vt:variant>
      <vt:variant>
        <vt:i4>22</vt:i4>
      </vt:variant>
      <vt:variant>
        <vt:lpstr>主题</vt:lpstr>
      </vt:variant>
      <vt:variant>
        <vt:i4>3</vt:i4>
      </vt:variant>
      <vt:variant>
        <vt:lpstr>幻灯片标题</vt:lpstr>
      </vt:variant>
      <vt:variant>
        <vt:i4>80</vt:i4>
      </vt:variant>
    </vt:vector>
  </HeadingPairs>
  <TitlesOfParts>
    <vt:vector size="105" baseType="lpstr">
      <vt:lpstr>Arial</vt:lpstr>
      <vt:lpstr>宋体</vt:lpstr>
      <vt:lpstr>Wingdings</vt:lpstr>
      <vt:lpstr>微软雅黑</vt:lpstr>
      <vt:lpstr>思源黑体 CN Medium</vt:lpstr>
      <vt:lpstr>黑体</vt:lpstr>
      <vt:lpstr>Times New Roman</vt:lpstr>
      <vt:lpstr>Arial Unicode MS</vt:lpstr>
      <vt:lpstr>JetBrains Mono</vt:lpstr>
      <vt:lpstr>Courier New</vt:lpstr>
      <vt:lpstr>字魂105号-简雅黑</vt:lpstr>
      <vt:lpstr>Arial Unicode MS</vt:lpstr>
      <vt:lpstr>Calibri</vt:lpstr>
      <vt:lpstr>Segoe Print</vt:lpstr>
      <vt:lpstr>华文中宋</vt:lpstr>
      <vt:lpstr>思源黑体</vt:lpstr>
      <vt:lpstr>思源黑体 Bold</vt:lpstr>
      <vt:lpstr>Consolas</vt:lpstr>
      <vt:lpstr>思源黑体 Regular</vt:lpstr>
      <vt:lpstr>思源黑体 CN Heavy</vt:lpstr>
      <vt:lpstr>Bebas</vt:lpstr>
      <vt:lpstr>Segoe UI</vt:lpstr>
      <vt:lpstr>webwppDefTheme</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刘俊男</cp:lastModifiedBy>
  <cp:revision>1183</cp:revision>
  <dcterms:created xsi:type="dcterms:W3CDTF">2020-11-11T09:29:00Z</dcterms:created>
  <dcterms:modified xsi:type="dcterms:W3CDTF">2025-04-24T02:52:37Z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2F0556CA4A7848F0BBDAD137AE6DBB77_12</vt:lpwstr>
  </property>
</Properties>
</file>